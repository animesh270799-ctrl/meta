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Conceptual framework. 1 Problem: white rust pustules hide under the leaf and are spotted too late to spray. 2 Sense: one drone flight with RGB, multispectral, hyperspectral and thermal sensors, plus field disease scores for training. 3 AI engine: select disease-specific features, fuse the four sensors, classify severity; always tested on unseen plots. 4 Severity map: every plot or grid cell in six classes, from healthy (DI 0) to very high (&gt;50%).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02336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MuDAS-AI · Conceptual Framework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02336" y="6583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3347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drone flight → AI → a disease severity map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02336" y="1188720"/>
            <a:ext cx="2148840" cy="5349240"/>
          </a:xfrm>
          <a:prstGeom prst="roundRect">
            <a:avLst>
              <a:gd name="adj" fmla="val 9362"/>
            </a:avLst>
          </a:prstGeom>
          <a:solidFill>
            <a:srgbClr val="0D1B1F"/>
          </a:solidFill>
          <a:ln w="25400">
            <a:solidFill>
              <a:srgbClr val="1CB8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5216" y="1371600"/>
            <a:ext cx="365760" cy="365760"/>
          </a:xfrm>
          <a:prstGeom prst="ellipse">
            <a:avLst/>
          </a:prstGeom>
          <a:solidFill>
            <a:srgbClr val="1CB8B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85216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42416" y="1371600"/>
            <a:ext cx="146304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679192" y="3634740"/>
            <a:ext cx="246888" cy="457200"/>
          </a:xfrm>
          <a:prstGeom prst="chevron">
            <a:avLst/>
          </a:prstGeom>
          <a:solidFill>
            <a:srgbClr val="1CB8B2"/>
          </a:solidFill>
          <a:ln/>
        </p:spPr>
      </p:sp>
      <p:sp>
        <p:nvSpPr>
          <p:cNvPr id="9" name="Shape 7"/>
          <p:cNvSpPr/>
          <p:nvPr/>
        </p:nvSpPr>
        <p:spPr>
          <a:xfrm>
            <a:off x="3054096" y="1188720"/>
            <a:ext cx="2697480" cy="5349240"/>
          </a:xfrm>
          <a:prstGeom prst="roundRect">
            <a:avLst>
              <a:gd name="adj" fmla="val 7458"/>
            </a:avLst>
          </a:prstGeom>
          <a:solidFill>
            <a:srgbClr val="0D1B1F"/>
          </a:solidFill>
          <a:ln w="25400">
            <a:solidFill>
              <a:srgbClr val="1CB8B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36976" y="1371600"/>
            <a:ext cx="365760" cy="365760"/>
          </a:xfrm>
          <a:prstGeom prst="ellipse">
            <a:avLst/>
          </a:prstGeom>
          <a:solidFill>
            <a:srgbClr val="1CB8B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236976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694176" y="1371600"/>
            <a:ext cx="201168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879592" y="3634740"/>
            <a:ext cx="246888" cy="457200"/>
          </a:xfrm>
          <a:prstGeom prst="chevron">
            <a:avLst/>
          </a:prstGeom>
          <a:solidFill>
            <a:srgbClr val="1CB8B2"/>
          </a:solidFill>
          <a:ln/>
        </p:spPr>
      </p:sp>
      <p:sp>
        <p:nvSpPr>
          <p:cNvPr id="14" name="Shape 12"/>
          <p:cNvSpPr/>
          <p:nvPr/>
        </p:nvSpPr>
        <p:spPr>
          <a:xfrm>
            <a:off x="6254496" y="1188720"/>
            <a:ext cx="2697480" cy="5349240"/>
          </a:xfrm>
          <a:prstGeom prst="roundRect">
            <a:avLst>
              <a:gd name="adj" fmla="val 7458"/>
            </a:avLst>
          </a:prstGeom>
          <a:solidFill>
            <a:srgbClr val="0B2A2D"/>
          </a:solidFill>
          <a:ln w="25400">
            <a:solidFill>
              <a:srgbClr val="1CB8B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37376" y="1371600"/>
            <a:ext cx="365760" cy="365760"/>
          </a:xfrm>
          <a:prstGeom prst="ellipse">
            <a:avLst/>
          </a:prstGeom>
          <a:solidFill>
            <a:srgbClr val="1CB8B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37376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894576" y="1371600"/>
            <a:ext cx="201168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ENGINE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079992" y="3634740"/>
            <a:ext cx="246888" cy="457200"/>
          </a:xfrm>
          <a:prstGeom prst="chevron">
            <a:avLst/>
          </a:prstGeom>
          <a:solidFill>
            <a:srgbClr val="7DBE4B"/>
          </a:solidFill>
          <a:ln/>
        </p:spPr>
      </p:sp>
      <p:sp>
        <p:nvSpPr>
          <p:cNvPr id="19" name="Shape 17"/>
          <p:cNvSpPr/>
          <p:nvPr/>
        </p:nvSpPr>
        <p:spPr>
          <a:xfrm>
            <a:off x="9372600" y="1188720"/>
            <a:ext cx="2414016" cy="5349240"/>
          </a:xfrm>
          <a:prstGeom prst="roundRect">
            <a:avLst>
              <a:gd name="adj" fmla="val 8333"/>
            </a:avLst>
          </a:prstGeom>
          <a:solidFill>
            <a:srgbClr val="0D1B1F"/>
          </a:solidFill>
          <a:ln w="25400">
            <a:solidFill>
              <a:srgbClr val="7DBE4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555480" y="1371600"/>
            <a:ext cx="365760" cy="365760"/>
          </a:xfrm>
          <a:prstGeom prst="ellipse">
            <a:avLst/>
          </a:prstGeom>
          <a:solidFill>
            <a:srgbClr val="7DBE4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55548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0012680" y="1371600"/>
            <a:ext cx="1728216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SEVERITY MAP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76656" y="2148840"/>
            <a:ext cx="713232" cy="1280160"/>
          </a:xfrm>
          <a:custGeom>
            <a:avLst/>
            <a:gdLst/>
            <a:ahLst/>
            <a:cxnLst/>
            <a:rect l="l" t="t" r="r" b="b"/>
            <a:pathLst>
              <a:path w="713232" h="1280160">
                <a:moveTo>
                  <a:pt x="356616" y="0"/>
                </a:moveTo>
                <a:cubicBezTo>
                  <a:pt x="748894" y="192024"/>
                  <a:pt x="713232" y="793699"/>
                  <a:pt x="356616" y="1280160"/>
                </a:cubicBezTo>
                <a:cubicBezTo>
                  <a:pt x="0" y="793699"/>
                  <a:pt x="-35662" y="192024"/>
                  <a:pt x="356616" y="0"/>
                </a:cubicBezTo>
                <a:close/>
              </a:path>
            </a:pathLst>
          </a:custGeom>
          <a:solidFill>
            <a:srgbClr val="5FA83A"/>
          </a:solidFill>
          <a:ln/>
        </p:spPr>
      </p:sp>
      <p:sp>
        <p:nvSpPr>
          <p:cNvPr id="24" name="Shape 22"/>
          <p:cNvSpPr/>
          <p:nvPr/>
        </p:nvSpPr>
        <p:spPr>
          <a:xfrm>
            <a:off x="1033272" y="2203704"/>
            <a:ext cx="914" cy="1170432"/>
          </a:xfrm>
          <a:prstGeom prst="line">
            <a:avLst/>
          </a:prstGeom>
          <a:noFill/>
          <a:ln w="19050">
            <a:solidFill>
              <a:srgbClr val="3D7A2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1248" y="2404872"/>
            <a:ext cx="192024" cy="128016"/>
          </a:xfrm>
          <a:prstGeom prst="line">
            <a:avLst/>
          </a:prstGeom>
          <a:noFill/>
          <a:ln w="12700">
            <a:solidFill>
              <a:srgbClr val="3D7A2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5528" y="2715768"/>
            <a:ext cx="237744" cy="91440"/>
          </a:xfrm>
          <a:prstGeom prst="line">
            <a:avLst/>
          </a:prstGeom>
          <a:noFill/>
          <a:ln w="12700">
            <a:solidFill>
              <a:srgbClr val="3D7A2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1033272" y="2404872"/>
            <a:ext cx="192024" cy="128016"/>
          </a:xfrm>
          <a:prstGeom prst="line">
            <a:avLst/>
          </a:prstGeom>
          <a:noFill/>
          <a:ln w="12700">
            <a:solidFill>
              <a:srgbClr val="3D7A2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1033272" y="2715768"/>
            <a:ext cx="237744" cy="91440"/>
          </a:xfrm>
          <a:prstGeom prst="line">
            <a:avLst/>
          </a:prstGeom>
          <a:noFill/>
          <a:ln w="12700">
            <a:solidFill>
              <a:srgbClr val="3D7A2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2960" y="2651760"/>
            <a:ext cx="128016" cy="128016"/>
          </a:xfrm>
          <a:prstGeom prst="ellipse">
            <a:avLst/>
          </a:prstGeom>
          <a:solidFill>
            <a:srgbClr val="C9D35A"/>
          </a:solidFill>
          <a:ln/>
        </p:spPr>
      </p:sp>
      <p:sp>
        <p:nvSpPr>
          <p:cNvPr id="30" name="Shape 28"/>
          <p:cNvSpPr/>
          <p:nvPr/>
        </p:nvSpPr>
        <p:spPr>
          <a:xfrm>
            <a:off x="1106424" y="2926080"/>
            <a:ext cx="100584" cy="100584"/>
          </a:xfrm>
          <a:prstGeom prst="ellipse">
            <a:avLst/>
          </a:prstGeom>
          <a:solidFill>
            <a:srgbClr val="C9D35A"/>
          </a:solidFill>
          <a:ln/>
        </p:spPr>
      </p:sp>
      <p:sp>
        <p:nvSpPr>
          <p:cNvPr id="31" name="Shape 29"/>
          <p:cNvSpPr/>
          <p:nvPr/>
        </p:nvSpPr>
        <p:spPr>
          <a:xfrm>
            <a:off x="1563624" y="2148840"/>
            <a:ext cx="713232" cy="1280160"/>
          </a:xfrm>
          <a:custGeom>
            <a:avLst/>
            <a:gdLst/>
            <a:ahLst/>
            <a:cxnLst/>
            <a:rect l="l" t="t" r="r" b="b"/>
            <a:pathLst>
              <a:path w="713232" h="1280160">
                <a:moveTo>
                  <a:pt x="356616" y="0"/>
                </a:moveTo>
                <a:cubicBezTo>
                  <a:pt x="748894" y="192024"/>
                  <a:pt x="713232" y="793699"/>
                  <a:pt x="356616" y="1280160"/>
                </a:cubicBezTo>
                <a:cubicBezTo>
                  <a:pt x="0" y="793699"/>
                  <a:pt x="-35662" y="192024"/>
                  <a:pt x="356616" y="0"/>
                </a:cubicBezTo>
                <a:close/>
              </a:path>
            </a:pathLst>
          </a:custGeom>
          <a:solidFill>
            <a:srgbClr val="8FBF6A"/>
          </a:solidFill>
          <a:ln/>
        </p:spPr>
      </p:sp>
      <p:sp>
        <p:nvSpPr>
          <p:cNvPr id="32" name="Shape 30"/>
          <p:cNvSpPr/>
          <p:nvPr/>
        </p:nvSpPr>
        <p:spPr>
          <a:xfrm>
            <a:off x="1920240" y="2203704"/>
            <a:ext cx="914" cy="1170432"/>
          </a:xfrm>
          <a:prstGeom prst="line">
            <a:avLst/>
          </a:prstGeom>
          <a:noFill/>
          <a:ln w="19050">
            <a:solidFill>
              <a:srgbClr val="6E9C4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719072" y="2514600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1792224" y="2606040"/>
            <a:ext cx="73152" cy="7315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1709928" y="2715768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6" name="Shape 34"/>
          <p:cNvSpPr/>
          <p:nvPr/>
        </p:nvSpPr>
        <p:spPr>
          <a:xfrm>
            <a:off x="2020824" y="2478024"/>
            <a:ext cx="73152" cy="7315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7" name="Shape 35"/>
          <p:cNvSpPr/>
          <p:nvPr/>
        </p:nvSpPr>
        <p:spPr>
          <a:xfrm>
            <a:off x="1993392" y="2606040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8" name="Shape 36"/>
          <p:cNvSpPr/>
          <p:nvPr/>
        </p:nvSpPr>
        <p:spPr>
          <a:xfrm>
            <a:off x="2066544" y="2734056"/>
            <a:ext cx="73152" cy="7315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9" name="Shape 37"/>
          <p:cNvSpPr/>
          <p:nvPr/>
        </p:nvSpPr>
        <p:spPr>
          <a:xfrm>
            <a:off x="1764792" y="2898648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0" name="Shape 38"/>
          <p:cNvSpPr/>
          <p:nvPr/>
        </p:nvSpPr>
        <p:spPr>
          <a:xfrm>
            <a:off x="2002536" y="2916936"/>
            <a:ext cx="73152" cy="7315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1892808" y="3063240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2" name="Shape 40"/>
          <p:cNvSpPr/>
          <p:nvPr/>
        </p:nvSpPr>
        <p:spPr>
          <a:xfrm>
            <a:off x="1837944" y="2395728"/>
            <a:ext cx="73152" cy="7315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3" name="Shape 41"/>
          <p:cNvSpPr/>
          <p:nvPr/>
        </p:nvSpPr>
        <p:spPr>
          <a:xfrm>
            <a:off x="1929384" y="2788920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585216" y="3493008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3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1426464" y="3493008"/>
            <a:ext cx="987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3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Underside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539496" y="37947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0E8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Pustules </a:t>
            </a:r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hide under the leaf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1147572" y="4434840"/>
            <a:ext cx="658368" cy="658368"/>
          </a:xfrm>
          <a:prstGeom prst="ellipse">
            <a:avLst/>
          </a:prstGeom>
          <a:ln w="44450">
            <a:solidFill>
              <a:srgbClr val="E0A52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476756" y="4590288"/>
            <a:ext cx="914" cy="192024"/>
          </a:xfrm>
          <a:prstGeom prst="line">
            <a:avLst/>
          </a:prstGeom>
          <a:noFill/>
          <a:ln w="44450">
            <a:solidFill>
              <a:srgbClr val="E0A52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476756" y="4782312"/>
            <a:ext cx="137160" cy="82296"/>
          </a:xfrm>
          <a:prstGeom prst="line">
            <a:avLst/>
          </a:prstGeom>
          <a:noFill/>
          <a:ln w="44450">
            <a:solidFill>
              <a:srgbClr val="E0A526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539496" y="52120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0E8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Spotted </a:t>
            </a:r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 late</a:t>
            </a:r>
            <a:pPr algn="ctr" indent="0" marL="0">
              <a:buNone/>
            </a:pPr>
            <a:r>
              <a:rPr lang="en-US" sz="1300" dirty="0">
                <a:solidFill>
                  <a:srgbClr val="E0E8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to spray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585216" y="5852160"/>
            <a:ext cx="1783080" cy="457200"/>
          </a:xfrm>
          <a:prstGeom prst="roundRect">
            <a:avLst>
              <a:gd name="adj" fmla="val 16000"/>
            </a:avLst>
          </a:prstGeom>
          <a:solidFill>
            <a:srgbClr val="1CB8B2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585216" y="58521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&amp; when to spray?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3305556" y="2487168"/>
            <a:ext cx="2194560" cy="822960"/>
          </a:xfrm>
          <a:prstGeom prst="triangle">
            <a:avLst/>
          </a:prstGeom>
          <a:solidFill>
            <a:srgbClr val="1CB8B2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3506724" y="1947672"/>
            <a:ext cx="548640" cy="73152"/>
          </a:xfrm>
          <a:prstGeom prst="ellipse">
            <a:avLst/>
          </a:prstGeom>
          <a:solidFill>
            <a:srgbClr val="9FB3B6">
              <a:alpha val="5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4750308" y="1947672"/>
            <a:ext cx="548640" cy="73152"/>
          </a:xfrm>
          <a:prstGeom prst="ellipse">
            <a:avLst/>
          </a:prstGeom>
          <a:solidFill>
            <a:srgbClr val="9FB3B6">
              <a:alpha val="50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3140964" y="2057400"/>
            <a:ext cx="731520" cy="100584"/>
          </a:xfrm>
          <a:prstGeom prst="ellipse">
            <a:avLst/>
          </a:prstGeom>
          <a:solidFill>
            <a:srgbClr val="9FB3B6">
              <a:alpha val="70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4933188" y="2057400"/>
            <a:ext cx="731520" cy="100584"/>
          </a:xfrm>
          <a:prstGeom prst="ellipse">
            <a:avLst/>
          </a:prstGeom>
          <a:solidFill>
            <a:srgbClr val="9FB3B6">
              <a:alpha val="70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3762756" y="1993392"/>
            <a:ext cx="36576" cy="146304"/>
          </a:xfrm>
          <a:prstGeom prst="rect">
            <a:avLst/>
          </a:prstGeom>
          <a:solidFill>
            <a:srgbClr val="C3D0D2"/>
          </a:solidFill>
          <a:ln/>
        </p:spPr>
      </p:sp>
      <p:sp>
        <p:nvSpPr>
          <p:cNvPr id="59" name="Shape 57"/>
          <p:cNvSpPr/>
          <p:nvPr/>
        </p:nvSpPr>
        <p:spPr>
          <a:xfrm>
            <a:off x="5006340" y="1993392"/>
            <a:ext cx="36576" cy="146304"/>
          </a:xfrm>
          <a:prstGeom prst="rect">
            <a:avLst/>
          </a:prstGeom>
          <a:solidFill>
            <a:srgbClr val="C3D0D2"/>
          </a:solidFill>
          <a:ln/>
        </p:spPr>
      </p:sp>
      <p:sp>
        <p:nvSpPr>
          <p:cNvPr id="60" name="Shape 58"/>
          <p:cNvSpPr/>
          <p:nvPr/>
        </p:nvSpPr>
        <p:spPr>
          <a:xfrm>
            <a:off x="3488436" y="2103120"/>
            <a:ext cx="45720" cy="128016"/>
          </a:xfrm>
          <a:prstGeom prst="rect">
            <a:avLst/>
          </a:prstGeom>
          <a:solidFill>
            <a:srgbClr val="E0E8E9"/>
          </a:solidFill>
          <a:ln/>
        </p:spPr>
      </p:sp>
      <p:sp>
        <p:nvSpPr>
          <p:cNvPr id="61" name="Shape 59"/>
          <p:cNvSpPr/>
          <p:nvPr/>
        </p:nvSpPr>
        <p:spPr>
          <a:xfrm>
            <a:off x="5271516" y="2103120"/>
            <a:ext cx="45720" cy="128016"/>
          </a:xfrm>
          <a:prstGeom prst="rect">
            <a:avLst/>
          </a:prstGeom>
          <a:solidFill>
            <a:srgbClr val="E0E8E9"/>
          </a:solidFill>
          <a:ln/>
        </p:spPr>
      </p:sp>
      <p:sp>
        <p:nvSpPr>
          <p:cNvPr id="62" name="Shape 60"/>
          <p:cNvSpPr/>
          <p:nvPr/>
        </p:nvSpPr>
        <p:spPr>
          <a:xfrm>
            <a:off x="3506724" y="2221992"/>
            <a:ext cx="621792" cy="100584"/>
          </a:xfrm>
          <a:prstGeom prst="line">
            <a:avLst/>
          </a:prstGeom>
          <a:noFill/>
          <a:ln w="63500">
            <a:solidFill>
              <a:srgbClr val="E0E8E9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flipV="1">
            <a:off x="4677156" y="2221992"/>
            <a:ext cx="621792" cy="100584"/>
          </a:xfrm>
          <a:prstGeom prst="line">
            <a:avLst/>
          </a:prstGeom>
          <a:noFill/>
          <a:ln w="63500">
            <a:solidFill>
              <a:srgbClr val="E0E8E9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781044" y="2139696"/>
            <a:ext cx="365760" cy="146304"/>
          </a:xfrm>
          <a:prstGeom prst="line">
            <a:avLst/>
          </a:prstGeom>
          <a:noFill/>
          <a:ln w="50800">
            <a:solidFill>
              <a:srgbClr val="E0E8E9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flipV="1">
            <a:off x="4658868" y="2139696"/>
            <a:ext cx="365760" cy="146304"/>
          </a:xfrm>
          <a:prstGeom prst="line">
            <a:avLst/>
          </a:prstGeom>
          <a:noFill/>
          <a:ln w="50800">
            <a:solidFill>
              <a:srgbClr val="E0E8E9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037076" y="2212848"/>
            <a:ext cx="731520" cy="246888"/>
          </a:xfrm>
          <a:prstGeom prst="roundRect">
            <a:avLst>
              <a:gd name="adj" fmla="val 37037"/>
            </a:avLst>
          </a:prstGeom>
          <a:solidFill>
            <a:srgbClr val="E0E8E9"/>
          </a:solidFill>
          <a:ln/>
        </p:spPr>
      </p:sp>
      <p:sp>
        <p:nvSpPr>
          <p:cNvPr id="67" name="Shape 65"/>
          <p:cNvSpPr/>
          <p:nvPr/>
        </p:nvSpPr>
        <p:spPr>
          <a:xfrm>
            <a:off x="4165092" y="2267712"/>
            <a:ext cx="475488" cy="54864"/>
          </a:xfrm>
          <a:prstGeom prst="roundRect">
            <a:avLst>
              <a:gd name="adj" fmla="val 50000"/>
            </a:avLst>
          </a:prstGeom>
          <a:solidFill>
            <a:srgbClr val="1CB8B2"/>
          </a:solidFill>
          <a:ln/>
        </p:spPr>
      </p:sp>
      <p:sp>
        <p:nvSpPr>
          <p:cNvPr id="68" name="Shape 66"/>
          <p:cNvSpPr/>
          <p:nvPr/>
        </p:nvSpPr>
        <p:spPr>
          <a:xfrm flipV="1">
            <a:off x="4018788" y="2450592"/>
            <a:ext cx="109728" cy="182880"/>
          </a:xfrm>
          <a:prstGeom prst="line">
            <a:avLst/>
          </a:prstGeom>
          <a:noFill/>
          <a:ln w="38100">
            <a:solidFill>
              <a:srgbClr val="9FB3B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677156" y="2450592"/>
            <a:ext cx="109728" cy="182880"/>
          </a:xfrm>
          <a:prstGeom prst="line">
            <a:avLst/>
          </a:prstGeom>
          <a:noFill/>
          <a:ln w="38100">
            <a:solidFill>
              <a:srgbClr val="9FB3B6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265676" y="2450592"/>
            <a:ext cx="274320" cy="128016"/>
          </a:xfrm>
          <a:prstGeom prst="roundRect">
            <a:avLst>
              <a:gd name="adj" fmla="val 35714"/>
            </a:avLst>
          </a:prstGeom>
          <a:solidFill>
            <a:srgbClr val="9FB3B6"/>
          </a:solidFill>
          <a:ln/>
        </p:spPr>
      </p:sp>
      <p:sp>
        <p:nvSpPr>
          <p:cNvPr id="71" name="Shape 69"/>
          <p:cNvSpPr/>
          <p:nvPr/>
        </p:nvSpPr>
        <p:spPr>
          <a:xfrm>
            <a:off x="4347972" y="2505456"/>
            <a:ext cx="109728" cy="109728"/>
          </a:xfrm>
          <a:prstGeom prst="ellipse">
            <a:avLst/>
          </a:prstGeom>
          <a:solidFill>
            <a:srgbClr val="0D1B1F"/>
          </a:solidFill>
          <a:ln w="25400">
            <a:solidFill>
              <a:srgbClr val="1CB8B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159252" y="3401568"/>
            <a:ext cx="1188720" cy="987552"/>
          </a:xfrm>
          <a:prstGeom prst="roundRect">
            <a:avLst>
              <a:gd name="adj" fmla="val 7407"/>
            </a:avLst>
          </a:prstGeom>
          <a:solidFill>
            <a:srgbClr val="16303A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3159252" y="40965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RGB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3488436" y="3474720"/>
            <a:ext cx="384048" cy="384048"/>
          </a:xfrm>
          <a:prstGeom prst="ellipse">
            <a:avLst/>
          </a:prstGeom>
          <a:solidFill>
            <a:srgbClr val="E5484D">
              <a:alpha val="75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3671316" y="3474720"/>
            <a:ext cx="384048" cy="384048"/>
          </a:xfrm>
          <a:prstGeom prst="ellipse">
            <a:avLst/>
          </a:prstGeom>
          <a:solidFill>
            <a:srgbClr val="3FB950">
              <a:alpha val="75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3579876" y="3657600"/>
            <a:ext cx="384048" cy="384048"/>
          </a:xfrm>
          <a:prstGeom prst="ellipse">
            <a:avLst/>
          </a:prstGeom>
          <a:solidFill>
            <a:srgbClr val="3B82F6">
              <a:alpha val="75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4457700" y="3401568"/>
            <a:ext cx="1188720" cy="987552"/>
          </a:xfrm>
          <a:prstGeom prst="roundRect">
            <a:avLst>
              <a:gd name="adj" fmla="val 7407"/>
            </a:avLst>
          </a:prstGeom>
          <a:solidFill>
            <a:srgbClr val="16303A"/>
          </a:solidFill>
          <a:ln/>
        </p:spPr>
      </p:sp>
      <p:sp>
        <p:nvSpPr>
          <p:cNvPr id="78" name="Text 76"/>
          <p:cNvSpPr txBox="1"/>
          <p:nvPr/>
        </p:nvSpPr>
        <p:spPr>
          <a:xfrm>
            <a:off x="4457700" y="40965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Multispectral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4658868" y="3877056"/>
            <a:ext cx="118872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0" name="Shape 78"/>
          <p:cNvSpPr/>
          <p:nvPr/>
        </p:nvSpPr>
        <p:spPr>
          <a:xfrm>
            <a:off x="4823460" y="3785616"/>
            <a:ext cx="118872" cy="2743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81" name="Shape 79"/>
          <p:cNvSpPr/>
          <p:nvPr/>
        </p:nvSpPr>
        <p:spPr>
          <a:xfrm>
            <a:off x="4988052" y="3904488"/>
            <a:ext cx="118872" cy="155448"/>
          </a:xfrm>
          <a:prstGeom prst="rect">
            <a:avLst/>
          </a:prstGeom>
          <a:solidFill>
            <a:srgbClr val="E5484D"/>
          </a:solidFill>
          <a:ln/>
        </p:spPr>
      </p:sp>
      <p:sp>
        <p:nvSpPr>
          <p:cNvPr id="82" name="Shape 80"/>
          <p:cNvSpPr/>
          <p:nvPr/>
        </p:nvSpPr>
        <p:spPr>
          <a:xfrm>
            <a:off x="5152644" y="3648456"/>
            <a:ext cx="118872" cy="411480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83" name="Shape 81"/>
          <p:cNvSpPr/>
          <p:nvPr/>
        </p:nvSpPr>
        <p:spPr>
          <a:xfrm>
            <a:off x="5317236" y="3511296"/>
            <a:ext cx="118872" cy="548640"/>
          </a:xfrm>
          <a:prstGeom prst="rect">
            <a:avLst/>
          </a:prstGeom>
          <a:solidFill>
            <a:srgbClr val="8E8EA8"/>
          </a:solidFill>
          <a:ln/>
        </p:spPr>
      </p:sp>
      <p:sp>
        <p:nvSpPr>
          <p:cNvPr id="84" name="Shape 82"/>
          <p:cNvSpPr/>
          <p:nvPr/>
        </p:nvSpPr>
        <p:spPr>
          <a:xfrm>
            <a:off x="3159252" y="4498848"/>
            <a:ext cx="1188720" cy="987552"/>
          </a:xfrm>
          <a:prstGeom prst="roundRect">
            <a:avLst>
              <a:gd name="adj" fmla="val 7407"/>
            </a:avLst>
          </a:prstGeom>
          <a:solidFill>
            <a:srgbClr val="16303A"/>
          </a:solidFill>
          <a:ln/>
        </p:spPr>
      </p:sp>
      <p:sp>
        <p:nvSpPr>
          <p:cNvPr id="85" name="Text 83"/>
          <p:cNvSpPr txBox="1"/>
          <p:nvPr/>
        </p:nvSpPr>
        <p:spPr>
          <a:xfrm>
            <a:off x="3159252" y="51937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Hyperspectral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3268980" y="4572000"/>
            <a:ext cx="83515" cy="585216"/>
          </a:xfrm>
          <a:prstGeom prst="rect">
            <a:avLst/>
          </a:prstGeom>
          <a:solidFill>
            <a:srgbClr val="6B3FA0">
              <a:alpha val="55000"/>
            </a:srgbClr>
          </a:solidFill>
          <a:ln/>
        </p:spPr>
      </p:sp>
      <p:sp>
        <p:nvSpPr>
          <p:cNvPr id="87" name="Shape 85"/>
          <p:cNvSpPr/>
          <p:nvPr/>
        </p:nvSpPr>
        <p:spPr>
          <a:xfrm>
            <a:off x="3349752" y="4572000"/>
            <a:ext cx="83515" cy="585216"/>
          </a:xfrm>
          <a:prstGeom prst="rect">
            <a:avLst/>
          </a:prstGeom>
          <a:solidFill>
            <a:srgbClr val="4F55C8">
              <a:alpha val="55000"/>
            </a:srgbClr>
          </a:solidFill>
          <a:ln/>
        </p:spPr>
      </p:sp>
      <p:sp>
        <p:nvSpPr>
          <p:cNvPr id="88" name="Shape 86"/>
          <p:cNvSpPr/>
          <p:nvPr/>
        </p:nvSpPr>
        <p:spPr>
          <a:xfrm>
            <a:off x="3430524" y="4572000"/>
            <a:ext cx="83515" cy="585216"/>
          </a:xfrm>
          <a:prstGeom prst="rect">
            <a:avLst/>
          </a:prstGeom>
          <a:solidFill>
            <a:srgbClr val="3B82F6">
              <a:alpha val="55000"/>
            </a:srgbClr>
          </a:solidFill>
          <a:ln/>
        </p:spPr>
      </p:sp>
      <p:sp>
        <p:nvSpPr>
          <p:cNvPr id="89" name="Shape 87"/>
          <p:cNvSpPr/>
          <p:nvPr/>
        </p:nvSpPr>
        <p:spPr>
          <a:xfrm>
            <a:off x="3511296" y="4572000"/>
            <a:ext cx="83515" cy="585216"/>
          </a:xfrm>
          <a:prstGeom prst="rect">
            <a:avLst/>
          </a:prstGeom>
          <a:solidFill>
            <a:srgbClr val="2FA3A0">
              <a:alpha val="55000"/>
            </a:srgbClr>
          </a:solidFill>
          <a:ln/>
        </p:spPr>
      </p:sp>
      <p:sp>
        <p:nvSpPr>
          <p:cNvPr id="90" name="Shape 88"/>
          <p:cNvSpPr/>
          <p:nvPr/>
        </p:nvSpPr>
        <p:spPr>
          <a:xfrm>
            <a:off x="3592068" y="4572000"/>
            <a:ext cx="83515" cy="585216"/>
          </a:xfrm>
          <a:prstGeom prst="rect">
            <a:avLst/>
          </a:prstGeom>
          <a:solidFill>
            <a:srgbClr val="3FB950">
              <a:alpha val="55000"/>
            </a:srgbClr>
          </a:solidFill>
          <a:ln/>
        </p:spPr>
      </p:sp>
      <p:sp>
        <p:nvSpPr>
          <p:cNvPr id="91" name="Shape 89"/>
          <p:cNvSpPr/>
          <p:nvPr/>
        </p:nvSpPr>
        <p:spPr>
          <a:xfrm>
            <a:off x="3672840" y="4572000"/>
            <a:ext cx="83515" cy="585216"/>
          </a:xfrm>
          <a:prstGeom prst="rect">
            <a:avLst/>
          </a:prstGeom>
          <a:solidFill>
            <a:srgbClr val="9BC53D">
              <a:alpha val="55000"/>
            </a:srgbClr>
          </a:solidFill>
          <a:ln/>
        </p:spPr>
      </p:sp>
      <p:sp>
        <p:nvSpPr>
          <p:cNvPr id="92" name="Shape 90"/>
          <p:cNvSpPr/>
          <p:nvPr/>
        </p:nvSpPr>
        <p:spPr>
          <a:xfrm>
            <a:off x="3753612" y="4572000"/>
            <a:ext cx="83515" cy="585216"/>
          </a:xfrm>
          <a:prstGeom prst="rect">
            <a:avLst/>
          </a:prstGeom>
          <a:solidFill>
            <a:srgbClr val="E8D44D">
              <a:alpha val="55000"/>
            </a:srgbClr>
          </a:solidFill>
          <a:ln/>
        </p:spPr>
      </p:sp>
      <p:sp>
        <p:nvSpPr>
          <p:cNvPr id="93" name="Shape 91"/>
          <p:cNvSpPr/>
          <p:nvPr/>
        </p:nvSpPr>
        <p:spPr>
          <a:xfrm>
            <a:off x="3834384" y="4572000"/>
            <a:ext cx="83515" cy="585216"/>
          </a:xfrm>
          <a:prstGeom prst="rect">
            <a:avLst/>
          </a:prstGeom>
          <a:solidFill>
            <a:srgbClr val="F29A38">
              <a:alpha val="55000"/>
            </a:srgbClr>
          </a:solidFill>
          <a:ln/>
        </p:spPr>
      </p:sp>
      <p:sp>
        <p:nvSpPr>
          <p:cNvPr id="94" name="Shape 92"/>
          <p:cNvSpPr/>
          <p:nvPr/>
        </p:nvSpPr>
        <p:spPr>
          <a:xfrm>
            <a:off x="3915156" y="4572000"/>
            <a:ext cx="83515" cy="585216"/>
          </a:xfrm>
          <a:prstGeom prst="rect">
            <a:avLst/>
          </a:prstGeom>
          <a:solidFill>
            <a:srgbClr val="E5484D">
              <a:alpha val="55000"/>
            </a:srgbClr>
          </a:solidFill>
          <a:ln/>
        </p:spPr>
      </p:sp>
      <p:sp>
        <p:nvSpPr>
          <p:cNvPr id="95" name="Shape 93"/>
          <p:cNvSpPr/>
          <p:nvPr/>
        </p:nvSpPr>
        <p:spPr>
          <a:xfrm>
            <a:off x="3995928" y="4572000"/>
            <a:ext cx="83515" cy="585216"/>
          </a:xfrm>
          <a:prstGeom prst="rect">
            <a:avLst/>
          </a:prstGeom>
          <a:solidFill>
            <a:srgbClr val="A33A3A">
              <a:alpha val="55000"/>
            </a:srgbClr>
          </a:solidFill>
          <a:ln/>
        </p:spPr>
      </p:sp>
      <p:sp>
        <p:nvSpPr>
          <p:cNvPr id="96" name="Shape 94"/>
          <p:cNvSpPr/>
          <p:nvPr/>
        </p:nvSpPr>
        <p:spPr>
          <a:xfrm>
            <a:off x="4076700" y="4572000"/>
            <a:ext cx="83515" cy="585216"/>
          </a:xfrm>
          <a:prstGeom prst="rect">
            <a:avLst/>
          </a:prstGeom>
          <a:solidFill>
            <a:srgbClr val="6E2E35">
              <a:alpha val="55000"/>
            </a:srgbClr>
          </a:solidFill>
          <a:ln/>
        </p:spPr>
      </p:sp>
      <p:sp>
        <p:nvSpPr>
          <p:cNvPr id="97" name="Shape 95"/>
          <p:cNvSpPr/>
          <p:nvPr/>
        </p:nvSpPr>
        <p:spPr>
          <a:xfrm>
            <a:off x="4157472" y="4572000"/>
            <a:ext cx="83515" cy="585216"/>
          </a:xfrm>
          <a:prstGeom prst="rect">
            <a:avLst/>
          </a:prstGeom>
          <a:solidFill>
            <a:srgbClr val="3A3A4A">
              <a:alpha val="55000"/>
            </a:srgbClr>
          </a:solidFill>
          <a:ln/>
        </p:spPr>
      </p:sp>
      <p:sp>
        <p:nvSpPr>
          <p:cNvPr id="98" name="Shape 96"/>
          <p:cNvSpPr/>
          <p:nvPr/>
        </p:nvSpPr>
        <p:spPr>
          <a:xfrm>
            <a:off x="3268980" y="4572000"/>
            <a:ext cx="969264" cy="585216"/>
          </a:xfrm>
          <a:custGeom>
            <a:avLst/>
            <a:gdLst/>
            <a:ahLst/>
            <a:cxnLst/>
            <a:rect l="l" t="t" r="r" b="b"/>
            <a:pathLst>
              <a:path w="969264" h="585216">
                <a:moveTo>
                  <a:pt x="0" y="530352"/>
                </a:moveTo>
                <a:lnTo>
                  <a:pt x="109728" y="512064"/>
                </a:lnTo>
                <a:lnTo>
                  <a:pt x="182880" y="420624"/>
                </a:lnTo>
                <a:lnTo>
                  <a:pt x="237744" y="484632"/>
                </a:lnTo>
                <a:lnTo>
                  <a:pt x="292608" y="530352"/>
                </a:lnTo>
                <a:lnTo>
                  <a:pt x="347472" y="512064"/>
                </a:lnTo>
                <a:lnTo>
                  <a:pt x="402336" y="164592"/>
                </a:lnTo>
                <a:lnTo>
                  <a:pt x="475488" y="82296"/>
                </a:lnTo>
                <a:lnTo>
                  <a:pt x="566928" y="73152"/>
                </a:lnTo>
                <a:lnTo>
                  <a:pt x="612648" y="137160"/>
                </a:lnTo>
                <a:lnTo>
                  <a:pt x="649224" y="100584"/>
                </a:lnTo>
                <a:lnTo>
                  <a:pt x="722376" y="228600"/>
                </a:lnTo>
                <a:lnTo>
                  <a:pt x="758952" y="182880"/>
                </a:lnTo>
                <a:lnTo>
                  <a:pt x="969264" y="274320"/>
                </a:lnTo>
              </a:path>
            </a:pathLst>
          </a:custGeom>
          <a:ln w="31750">
            <a:solidFill>
              <a:srgbClr val="FFFFFF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4457700" y="4498848"/>
            <a:ext cx="1188720" cy="987552"/>
          </a:xfrm>
          <a:prstGeom prst="roundRect">
            <a:avLst>
              <a:gd name="adj" fmla="val 7407"/>
            </a:avLst>
          </a:prstGeom>
          <a:solidFill>
            <a:srgbClr val="16303A"/>
          </a:solidFill>
          <a:ln/>
        </p:spPr>
      </p:sp>
      <p:sp>
        <p:nvSpPr>
          <p:cNvPr id="100" name="Text 98"/>
          <p:cNvSpPr txBox="1"/>
          <p:nvPr/>
        </p:nvSpPr>
        <p:spPr>
          <a:xfrm>
            <a:off x="4457700" y="51937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Thermal</a:t>
            </a:r>
            <a:endParaRPr lang="en-US" sz="1100" dirty="0"/>
          </a:p>
        </p:txBody>
      </p:sp>
      <p:sp>
        <p:nvSpPr>
          <p:cNvPr id="101" name="Shape 99"/>
          <p:cNvSpPr/>
          <p:nvPr/>
        </p:nvSpPr>
        <p:spPr>
          <a:xfrm>
            <a:off x="4567428" y="4572000"/>
            <a:ext cx="969264" cy="585216"/>
          </a:xfrm>
          <a:prstGeom prst="rect">
            <a:avLst/>
          </a:prstGeom>
          <a:solidFill>
            <a:srgbClr val="2B3F9B"/>
          </a:solidFill>
          <a:ln/>
        </p:spPr>
      </p:sp>
      <p:sp>
        <p:nvSpPr>
          <p:cNvPr id="102" name="Shape 100"/>
          <p:cNvSpPr/>
          <p:nvPr/>
        </p:nvSpPr>
        <p:spPr>
          <a:xfrm>
            <a:off x="4658868" y="4590288"/>
            <a:ext cx="548640" cy="548640"/>
          </a:xfrm>
          <a:prstGeom prst="ellipse">
            <a:avLst/>
          </a:prstGeom>
          <a:solidFill>
            <a:srgbClr val="FFB020">
              <a:alpha val="55000"/>
            </a:srgbClr>
          </a:solidFill>
          <a:ln/>
        </p:spPr>
      </p:sp>
      <p:sp>
        <p:nvSpPr>
          <p:cNvPr id="103" name="Shape 101"/>
          <p:cNvSpPr/>
          <p:nvPr/>
        </p:nvSpPr>
        <p:spPr>
          <a:xfrm>
            <a:off x="4786884" y="4718304"/>
            <a:ext cx="292608" cy="292608"/>
          </a:xfrm>
          <a:prstGeom prst="ellipse">
            <a:avLst/>
          </a:prstGeom>
          <a:solidFill>
            <a:srgbClr val="FF3B2F">
              <a:alpha val="85000"/>
            </a:srgbClr>
          </a:solidFill>
          <a:ln/>
        </p:spPr>
      </p:sp>
      <p:sp>
        <p:nvSpPr>
          <p:cNvPr id="104" name="Shape 102"/>
          <p:cNvSpPr/>
          <p:nvPr/>
        </p:nvSpPr>
        <p:spPr>
          <a:xfrm>
            <a:off x="5134356" y="4791456"/>
            <a:ext cx="329184" cy="329184"/>
          </a:xfrm>
          <a:prstGeom prst="ellipse">
            <a:avLst/>
          </a:prstGeom>
          <a:solidFill>
            <a:srgbClr val="FFD84D">
              <a:alpha val="55000"/>
            </a:srgbClr>
          </a:solidFill>
          <a:ln/>
        </p:spPr>
      </p:sp>
      <p:sp>
        <p:nvSpPr>
          <p:cNvPr id="105" name="Text 103"/>
          <p:cNvSpPr txBox="1"/>
          <p:nvPr/>
        </p:nvSpPr>
        <p:spPr>
          <a:xfrm>
            <a:off x="3145536" y="597103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field disease scores for training</a:t>
            </a:r>
            <a:endParaRPr lang="en-US" sz="1100" dirty="0"/>
          </a:p>
        </p:txBody>
      </p:sp>
      <p:sp>
        <p:nvSpPr>
          <p:cNvPr id="106" name="Shape 104"/>
          <p:cNvSpPr/>
          <p:nvPr/>
        </p:nvSpPr>
        <p:spPr>
          <a:xfrm>
            <a:off x="6437376" y="1920240"/>
            <a:ext cx="2331720" cy="1051560"/>
          </a:xfrm>
          <a:prstGeom prst="roundRect">
            <a:avLst>
              <a:gd name="adj" fmla="val 8696"/>
            </a:avLst>
          </a:prstGeom>
          <a:solidFill>
            <a:srgbClr val="133A3E"/>
          </a:solidFill>
          <a:ln/>
        </p:spPr>
      </p:sp>
      <p:sp>
        <p:nvSpPr>
          <p:cNvPr id="107" name="Text 105"/>
          <p:cNvSpPr txBox="1"/>
          <p:nvPr/>
        </p:nvSpPr>
        <p:spPr>
          <a:xfrm>
            <a:off x="6437376" y="266090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B8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disease features</a:t>
            </a:r>
            <a:endParaRPr lang="en-US" sz="1200" dirty="0"/>
          </a:p>
        </p:txBody>
      </p:sp>
      <p:sp>
        <p:nvSpPr>
          <p:cNvPr id="108" name="Shape 106"/>
          <p:cNvSpPr/>
          <p:nvPr/>
        </p:nvSpPr>
        <p:spPr>
          <a:xfrm>
            <a:off x="6574536" y="2029968"/>
            <a:ext cx="566928" cy="3200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9" name="Shape 107"/>
          <p:cNvSpPr/>
          <p:nvPr/>
        </p:nvSpPr>
        <p:spPr>
          <a:xfrm>
            <a:off x="6574536" y="2098548"/>
            <a:ext cx="566928" cy="32004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10" name="Shape 108"/>
          <p:cNvSpPr/>
          <p:nvPr/>
        </p:nvSpPr>
        <p:spPr>
          <a:xfrm>
            <a:off x="6574536" y="2167128"/>
            <a:ext cx="566928" cy="32004"/>
          </a:xfrm>
          <a:prstGeom prst="rect">
            <a:avLst/>
          </a:prstGeom>
          <a:solidFill>
            <a:srgbClr val="E5484D"/>
          </a:solidFill>
          <a:ln/>
        </p:spPr>
      </p:sp>
      <p:sp>
        <p:nvSpPr>
          <p:cNvPr id="111" name="Shape 109"/>
          <p:cNvSpPr/>
          <p:nvPr/>
        </p:nvSpPr>
        <p:spPr>
          <a:xfrm>
            <a:off x="6574536" y="2235708"/>
            <a:ext cx="566928" cy="32004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112" name="Shape 110"/>
          <p:cNvSpPr/>
          <p:nvPr/>
        </p:nvSpPr>
        <p:spPr>
          <a:xfrm>
            <a:off x="6574536" y="2304288"/>
            <a:ext cx="566928" cy="32004"/>
          </a:xfrm>
          <a:prstGeom prst="rect">
            <a:avLst/>
          </a:prstGeom>
          <a:solidFill>
            <a:srgbClr val="8E8EA8"/>
          </a:solidFill>
          <a:ln/>
        </p:spPr>
      </p:sp>
      <p:sp>
        <p:nvSpPr>
          <p:cNvPr id="113" name="Shape 111"/>
          <p:cNvSpPr/>
          <p:nvPr/>
        </p:nvSpPr>
        <p:spPr>
          <a:xfrm>
            <a:off x="6574536" y="2372868"/>
            <a:ext cx="566928" cy="3200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14" name="Shape 112"/>
          <p:cNvSpPr/>
          <p:nvPr/>
        </p:nvSpPr>
        <p:spPr>
          <a:xfrm>
            <a:off x="6574536" y="2441448"/>
            <a:ext cx="566928" cy="3200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5" name="Shape 113"/>
          <p:cNvSpPr/>
          <p:nvPr/>
        </p:nvSpPr>
        <p:spPr>
          <a:xfrm>
            <a:off x="6574536" y="2510028"/>
            <a:ext cx="566928" cy="32004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16" name="Shape 114"/>
          <p:cNvSpPr/>
          <p:nvPr/>
        </p:nvSpPr>
        <p:spPr>
          <a:xfrm>
            <a:off x="7242048" y="1993392"/>
            <a:ext cx="603504" cy="621792"/>
          </a:xfrm>
          <a:custGeom>
            <a:avLst/>
            <a:gdLst/>
            <a:ahLst/>
            <a:cxnLst/>
            <a:rect l="l" t="t" r="r" b="b"/>
            <a:pathLst>
              <a:path w="603504" h="621792">
                <a:moveTo>
                  <a:pt x="0" y="0"/>
                </a:moveTo>
                <a:lnTo>
                  <a:pt x="603504" y="201168"/>
                </a:lnTo>
                <a:lnTo>
                  <a:pt x="603504" y="420624"/>
                </a:lnTo>
                <a:lnTo>
                  <a:pt x="0" y="621792"/>
                </a:lnTo>
                <a:close/>
              </a:path>
            </a:pathLst>
          </a:custGeom>
          <a:solidFill>
            <a:srgbClr val="1CB8B2"/>
          </a:solidFill>
          <a:ln/>
        </p:spPr>
      </p:sp>
      <p:sp>
        <p:nvSpPr>
          <p:cNvPr id="117" name="Shape 115"/>
          <p:cNvSpPr/>
          <p:nvPr/>
        </p:nvSpPr>
        <p:spPr>
          <a:xfrm>
            <a:off x="7955280" y="2194560"/>
            <a:ext cx="594360" cy="457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18" name="Shape 116"/>
          <p:cNvSpPr/>
          <p:nvPr/>
        </p:nvSpPr>
        <p:spPr>
          <a:xfrm>
            <a:off x="7955280" y="2286000"/>
            <a:ext cx="594360" cy="45720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119" name="Shape 117"/>
          <p:cNvSpPr/>
          <p:nvPr/>
        </p:nvSpPr>
        <p:spPr>
          <a:xfrm>
            <a:off x="7955280" y="2377440"/>
            <a:ext cx="594360" cy="45720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20" name="Shape 118"/>
          <p:cNvSpPr/>
          <p:nvPr/>
        </p:nvSpPr>
        <p:spPr>
          <a:xfrm rot="10800000">
            <a:off x="7520940" y="3035808"/>
            <a:ext cx="164592" cy="118872"/>
          </a:xfrm>
          <a:prstGeom prst="triangle">
            <a:avLst/>
          </a:prstGeom>
          <a:solidFill>
            <a:srgbClr val="1CB8B2"/>
          </a:solidFill>
          <a:ln/>
        </p:spPr>
      </p:sp>
      <p:sp>
        <p:nvSpPr>
          <p:cNvPr id="121" name="Shape 119"/>
          <p:cNvSpPr/>
          <p:nvPr/>
        </p:nvSpPr>
        <p:spPr>
          <a:xfrm>
            <a:off x="6437376" y="3291840"/>
            <a:ext cx="2331720" cy="1051560"/>
          </a:xfrm>
          <a:prstGeom prst="roundRect">
            <a:avLst>
              <a:gd name="adj" fmla="val 8696"/>
            </a:avLst>
          </a:prstGeom>
          <a:solidFill>
            <a:srgbClr val="133A3E"/>
          </a:solidFill>
          <a:ln/>
        </p:spPr>
      </p:sp>
      <p:sp>
        <p:nvSpPr>
          <p:cNvPr id="122" name="Text 120"/>
          <p:cNvSpPr txBox="1"/>
          <p:nvPr/>
        </p:nvSpPr>
        <p:spPr>
          <a:xfrm>
            <a:off x="6437376" y="403250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B8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Fuse four sensors</a:t>
            </a:r>
            <a:endParaRPr lang="en-US" sz="1200" dirty="0"/>
          </a:p>
        </p:txBody>
      </p:sp>
      <p:sp>
        <p:nvSpPr>
          <p:cNvPr id="123" name="Shape 121"/>
          <p:cNvSpPr/>
          <p:nvPr/>
        </p:nvSpPr>
        <p:spPr>
          <a:xfrm>
            <a:off x="6574536" y="3383280"/>
            <a:ext cx="1188720" cy="566928"/>
          </a:xfrm>
          <a:custGeom>
            <a:avLst/>
            <a:gdLst/>
            <a:ahLst/>
            <a:cxnLst/>
            <a:rect l="l" t="t" r="r" b="b"/>
            <a:pathLst>
              <a:path w="1188720" h="566928">
                <a:moveTo>
                  <a:pt x="0" y="73152"/>
                </a:moveTo>
                <a:cubicBezTo>
                  <a:pt x="640080" y="73152"/>
                  <a:pt x="685800" y="320040"/>
                  <a:pt x="1188720" y="320040"/>
                </a:cubicBezTo>
              </a:path>
            </a:pathLst>
          </a:custGeom>
          <a:ln w="38100">
            <a:solidFill>
              <a:srgbClr val="E5484D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6574536" y="3383280"/>
            <a:ext cx="1188720" cy="566928"/>
          </a:xfrm>
          <a:custGeom>
            <a:avLst/>
            <a:gdLst/>
            <a:ahLst/>
            <a:cxnLst/>
            <a:rect l="l" t="t" r="r" b="b"/>
            <a:pathLst>
              <a:path w="1188720" h="566928">
                <a:moveTo>
                  <a:pt x="0" y="237744"/>
                </a:moveTo>
                <a:cubicBezTo>
                  <a:pt x="640080" y="237744"/>
                  <a:pt x="685800" y="320040"/>
                  <a:pt x="1188720" y="320040"/>
                </a:cubicBezTo>
              </a:path>
            </a:pathLst>
          </a:custGeom>
          <a:ln w="38100">
            <a:solidFill>
              <a:srgbClr val="3FB950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6574536" y="3383280"/>
            <a:ext cx="1188720" cy="566928"/>
          </a:xfrm>
          <a:custGeom>
            <a:avLst/>
            <a:gdLst/>
            <a:ahLst/>
            <a:cxnLst/>
            <a:rect l="l" t="t" r="r" b="b"/>
            <a:pathLst>
              <a:path w="1188720" h="566928">
                <a:moveTo>
                  <a:pt x="0" y="402336"/>
                </a:moveTo>
                <a:cubicBezTo>
                  <a:pt x="640080" y="402336"/>
                  <a:pt x="685800" y="320040"/>
                  <a:pt x="1188720" y="320040"/>
                </a:cubicBezTo>
              </a:path>
            </a:pathLst>
          </a:custGeom>
          <a:ln w="38100">
            <a:solidFill>
              <a:srgbClr val="8E8EA8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6574536" y="3383280"/>
            <a:ext cx="1188720" cy="566928"/>
          </a:xfrm>
          <a:custGeom>
            <a:avLst/>
            <a:gdLst/>
            <a:ahLst/>
            <a:cxnLst/>
            <a:rect l="l" t="t" r="r" b="b"/>
            <a:pathLst>
              <a:path w="1188720" h="566928">
                <a:moveTo>
                  <a:pt x="0" y="566928"/>
                </a:moveTo>
                <a:cubicBezTo>
                  <a:pt x="640080" y="566928"/>
                  <a:pt x="685800" y="320040"/>
                  <a:pt x="1188720" y="320040"/>
                </a:cubicBezTo>
              </a:path>
            </a:pathLst>
          </a:custGeom>
          <a:ln w="38100">
            <a:solidFill>
              <a:srgbClr val="FFB020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7735824" y="3666744"/>
            <a:ext cx="566928" cy="82296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/>
        </p:spPr>
      </p:sp>
      <p:sp>
        <p:nvSpPr>
          <p:cNvPr id="128" name="Shape 126"/>
          <p:cNvSpPr/>
          <p:nvPr/>
        </p:nvSpPr>
        <p:spPr>
          <a:xfrm>
            <a:off x="8284464" y="3575304"/>
            <a:ext cx="265176" cy="265176"/>
          </a:xfrm>
          <a:prstGeom prst="ellipse">
            <a:avLst/>
          </a:prstGeom>
          <a:solidFill>
            <a:srgbClr val="1CB8B2"/>
          </a:solidFill>
          <a:ln/>
        </p:spPr>
      </p:sp>
      <p:sp>
        <p:nvSpPr>
          <p:cNvPr id="129" name="Shape 127"/>
          <p:cNvSpPr/>
          <p:nvPr/>
        </p:nvSpPr>
        <p:spPr>
          <a:xfrm rot="10800000">
            <a:off x="7520940" y="4407408"/>
            <a:ext cx="164592" cy="118872"/>
          </a:xfrm>
          <a:prstGeom prst="triangle">
            <a:avLst/>
          </a:prstGeom>
          <a:solidFill>
            <a:srgbClr val="1CB8B2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437376" y="4663440"/>
            <a:ext cx="2331720" cy="1051560"/>
          </a:xfrm>
          <a:prstGeom prst="roundRect">
            <a:avLst>
              <a:gd name="adj" fmla="val 8696"/>
            </a:avLst>
          </a:prstGeom>
          <a:solidFill>
            <a:srgbClr val="133A3E"/>
          </a:solidFill>
          <a:ln/>
        </p:spPr>
      </p:sp>
      <p:sp>
        <p:nvSpPr>
          <p:cNvPr id="131" name="Text 129"/>
          <p:cNvSpPr txBox="1"/>
          <p:nvPr/>
        </p:nvSpPr>
        <p:spPr>
          <a:xfrm>
            <a:off x="6437376" y="540410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B8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Classify severity</a:t>
            </a:r>
            <a:endParaRPr lang="en-US" sz="1200" dirty="0"/>
          </a:p>
        </p:txBody>
      </p:sp>
      <p:sp>
        <p:nvSpPr>
          <p:cNvPr id="132" name="Shape 130"/>
          <p:cNvSpPr/>
          <p:nvPr/>
        </p:nvSpPr>
        <p:spPr>
          <a:xfrm flipV="1">
            <a:off x="6821424" y="4809744"/>
            <a:ext cx="301752" cy="237744"/>
          </a:xfrm>
          <a:prstGeom prst="line">
            <a:avLst/>
          </a:prstGeom>
          <a:noFill/>
          <a:ln w="25400">
            <a:solidFill>
              <a:srgbClr val="9FB3B6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7123176" y="4809744"/>
            <a:ext cx="301752" cy="237744"/>
          </a:xfrm>
          <a:prstGeom prst="line">
            <a:avLst/>
          </a:prstGeom>
          <a:noFill/>
          <a:ln w="25400">
            <a:solidFill>
              <a:srgbClr val="9FB3B6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 flipV="1">
            <a:off x="6638544" y="5047488"/>
            <a:ext cx="182880" cy="274320"/>
          </a:xfrm>
          <a:prstGeom prst="line">
            <a:avLst/>
          </a:prstGeom>
          <a:noFill/>
          <a:ln w="25400">
            <a:solidFill>
              <a:srgbClr val="9FB3B6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6821424" y="5047488"/>
            <a:ext cx="164592" cy="274320"/>
          </a:xfrm>
          <a:prstGeom prst="line">
            <a:avLst/>
          </a:prstGeom>
          <a:noFill/>
          <a:ln w="25400">
            <a:solidFill>
              <a:srgbClr val="9FB3B6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 flipV="1">
            <a:off x="7260336" y="5047488"/>
            <a:ext cx="164592" cy="274320"/>
          </a:xfrm>
          <a:prstGeom prst="line">
            <a:avLst/>
          </a:prstGeom>
          <a:noFill/>
          <a:ln w="25400">
            <a:solidFill>
              <a:srgbClr val="9FB3B6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7424928" y="5047488"/>
            <a:ext cx="182880" cy="274320"/>
          </a:xfrm>
          <a:prstGeom prst="line">
            <a:avLst/>
          </a:prstGeom>
          <a:noFill/>
          <a:ln w="25400">
            <a:solidFill>
              <a:srgbClr val="9FB3B6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7040880" y="4727448"/>
            <a:ext cx="164592" cy="164592"/>
          </a:xfrm>
          <a:prstGeom prst="ellipse">
            <a:avLst/>
          </a:prstGeom>
          <a:solidFill>
            <a:srgbClr val="1CB8B2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752844" y="4978908"/>
            <a:ext cx="137160" cy="137160"/>
          </a:xfrm>
          <a:prstGeom prst="ellipse">
            <a:avLst/>
          </a:prstGeom>
          <a:solidFill>
            <a:srgbClr val="1CB8B2"/>
          </a:solidFill>
          <a:ln/>
        </p:spPr>
      </p:sp>
      <p:sp>
        <p:nvSpPr>
          <p:cNvPr id="140" name="Shape 138"/>
          <p:cNvSpPr/>
          <p:nvPr/>
        </p:nvSpPr>
        <p:spPr>
          <a:xfrm>
            <a:off x="7356348" y="4978908"/>
            <a:ext cx="137160" cy="137160"/>
          </a:xfrm>
          <a:prstGeom prst="ellipse">
            <a:avLst/>
          </a:prstGeom>
          <a:solidFill>
            <a:srgbClr val="1CB8B2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583680" y="5266944"/>
            <a:ext cx="109728" cy="109728"/>
          </a:xfrm>
          <a:prstGeom prst="ellipse">
            <a:avLst/>
          </a:prstGeom>
          <a:solidFill>
            <a:srgbClr val="E0E8E9"/>
          </a:solidFill>
          <a:ln/>
        </p:spPr>
      </p:sp>
      <p:sp>
        <p:nvSpPr>
          <p:cNvPr id="142" name="Shape 140"/>
          <p:cNvSpPr/>
          <p:nvPr/>
        </p:nvSpPr>
        <p:spPr>
          <a:xfrm>
            <a:off x="6931152" y="5266944"/>
            <a:ext cx="109728" cy="109728"/>
          </a:xfrm>
          <a:prstGeom prst="ellipse">
            <a:avLst/>
          </a:prstGeom>
          <a:solidFill>
            <a:srgbClr val="E0E8E9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205472" y="5266944"/>
            <a:ext cx="109728" cy="109728"/>
          </a:xfrm>
          <a:prstGeom prst="ellipse">
            <a:avLst/>
          </a:prstGeom>
          <a:solidFill>
            <a:srgbClr val="E0E8E9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552944" y="5266944"/>
            <a:ext cx="109728" cy="109728"/>
          </a:xfrm>
          <a:prstGeom prst="ellipse">
            <a:avLst/>
          </a:prstGeom>
          <a:solidFill>
            <a:srgbClr val="E0E8E9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735824" y="4992624"/>
            <a:ext cx="237744" cy="164592"/>
          </a:xfrm>
          <a:prstGeom prst="rightArrow">
            <a:avLst/>
          </a:prstGeom>
          <a:solidFill>
            <a:srgbClr val="1CB8B2"/>
          </a:solidFill>
          <a:ln/>
        </p:spPr>
      </p:sp>
      <p:sp>
        <p:nvSpPr>
          <p:cNvPr id="146" name="Shape 144"/>
          <p:cNvSpPr/>
          <p:nvPr/>
        </p:nvSpPr>
        <p:spPr>
          <a:xfrm>
            <a:off x="8065008" y="4791456"/>
            <a:ext cx="192024" cy="246888"/>
          </a:xfrm>
          <a:prstGeom prst="roundRect">
            <a:avLst>
              <a:gd name="adj" fmla="val 14286"/>
            </a:avLst>
          </a:prstGeom>
          <a:solidFill>
            <a:srgbClr val="2E7D32"/>
          </a:solidFill>
          <a:ln/>
        </p:spPr>
      </p:sp>
      <p:sp>
        <p:nvSpPr>
          <p:cNvPr id="147" name="Shape 145"/>
          <p:cNvSpPr/>
          <p:nvPr/>
        </p:nvSpPr>
        <p:spPr>
          <a:xfrm>
            <a:off x="8293608" y="4791456"/>
            <a:ext cx="192024" cy="246888"/>
          </a:xfrm>
          <a:prstGeom prst="roundRect">
            <a:avLst>
              <a:gd name="adj" fmla="val 14286"/>
            </a:avLst>
          </a:prstGeom>
          <a:solidFill>
            <a:srgbClr val="7CB342"/>
          </a:solidFill>
          <a:ln/>
        </p:spPr>
      </p:sp>
      <p:sp>
        <p:nvSpPr>
          <p:cNvPr id="148" name="Shape 146"/>
          <p:cNvSpPr/>
          <p:nvPr/>
        </p:nvSpPr>
        <p:spPr>
          <a:xfrm>
            <a:off x="8522208" y="4791456"/>
            <a:ext cx="192024" cy="246888"/>
          </a:xfrm>
          <a:prstGeom prst="roundRect">
            <a:avLst>
              <a:gd name="adj" fmla="val 14286"/>
            </a:avLst>
          </a:prstGeom>
          <a:solidFill>
            <a:srgbClr val="C0CA33"/>
          </a:solidFill>
          <a:ln/>
        </p:spPr>
      </p:sp>
      <p:sp>
        <p:nvSpPr>
          <p:cNvPr id="149" name="Shape 147"/>
          <p:cNvSpPr/>
          <p:nvPr/>
        </p:nvSpPr>
        <p:spPr>
          <a:xfrm>
            <a:off x="8065008" y="5093208"/>
            <a:ext cx="192024" cy="246888"/>
          </a:xfrm>
          <a:prstGeom prst="roundRect">
            <a:avLst>
              <a:gd name="adj" fmla="val 14286"/>
            </a:avLst>
          </a:prstGeom>
          <a:solidFill>
            <a:srgbClr val="FFB020"/>
          </a:solidFill>
          <a:ln/>
        </p:spPr>
      </p:sp>
      <p:sp>
        <p:nvSpPr>
          <p:cNvPr id="150" name="Shape 148"/>
          <p:cNvSpPr/>
          <p:nvPr/>
        </p:nvSpPr>
        <p:spPr>
          <a:xfrm>
            <a:off x="8293608" y="5093208"/>
            <a:ext cx="192024" cy="246888"/>
          </a:xfrm>
          <a:prstGeom prst="roundRect">
            <a:avLst>
              <a:gd name="adj" fmla="val 14286"/>
            </a:avLst>
          </a:prstGeom>
          <a:solidFill>
            <a:srgbClr val="F4511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8522208" y="5093208"/>
            <a:ext cx="192024" cy="246888"/>
          </a:xfrm>
          <a:prstGeom prst="roundRect">
            <a:avLst>
              <a:gd name="adj" fmla="val 14286"/>
            </a:avLst>
          </a:prstGeom>
          <a:solidFill>
            <a:srgbClr val="B71C1C"/>
          </a:solidFill>
          <a:ln/>
        </p:spPr>
      </p:sp>
      <p:sp>
        <p:nvSpPr>
          <p:cNvPr id="152" name="Shape 150"/>
          <p:cNvSpPr/>
          <p:nvPr/>
        </p:nvSpPr>
        <p:spPr>
          <a:xfrm>
            <a:off x="6437376" y="5852160"/>
            <a:ext cx="2331720" cy="457200"/>
          </a:xfrm>
          <a:prstGeom prst="roundRect">
            <a:avLst>
              <a:gd name="adj" fmla="val 16000"/>
            </a:avLst>
          </a:prstGeom>
          <a:solidFill>
            <a:srgbClr val="1CB8B2"/>
          </a:solidFill>
          <a:ln/>
        </p:spPr>
      </p:sp>
      <p:sp>
        <p:nvSpPr>
          <p:cNvPr id="153" name="Text 151"/>
          <p:cNvSpPr txBox="1"/>
          <p:nvPr/>
        </p:nvSpPr>
        <p:spPr>
          <a:xfrm>
            <a:off x="6437376" y="5852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Tested on unseen plots</a:t>
            </a:r>
            <a:endParaRPr lang="en-US" sz="1200" dirty="0"/>
          </a:p>
        </p:txBody>
      </p:sp>
      <p:sp>
        <p:nvSpPr>
          <p:cNvPr id="154" name="Shape 152"/>
          <p:cNvSpPr/>
          <p:nvPr/>
        </p:nvSpPr>
        <p:spPr>
          <a:xfrm>
            <a:off x="9555480" y="1965960"/>
            <a:ext cx="2048256" cy="1719072"/>
          </a:xfrm>
          <a:prstGeom prst="roundRect">
            <a:avLst>
              <a:gd name="adj" fmla="val 5319"/>
            </a:avLst>
          </a:prstGeom>
          <a:solidFill>
            <a:srgbClr val="16303A"/>
          </a:solidFill>
          <a:ln/>
        </p:spPr>
      </p:sp>
      <p:sp>
        <p:nvSpPr>
          <p:cNvPr id="155" name="Shape 153"/>
          <p:cNvSpPr/>
          <p:nvPr/>
        </p:nvSpPr>
        <p:spPr>
          <a:xfrm>
            <a:off x="9669780" y="2075688"/>
            <a:ext cx="265176" cy="274320"/>
          </a:xfrm>
          <a:prstGeom prst="roundRect">
            <a:avLst>
              <a:gd name="adj" fmla="val 10345"/>
            </a:avLst>
          </a:prstGeom>
          <a:solidFill>
            <a:srgbClr val="2E7D32"/>
          </a:solidFill>
          <a:ln/>
        </p:spPr>
      </p:sp>
      <p:sp>
        <p:nvSpPr>
          <p:cNvPr id="156" name="Shape 154"/>
          <p:cNvSpPr/>
          <p:nvPr/>
        </p:nvSpPr>
        <p:spPr>
          <a:xfrm>
            <a:off x="9980676" y="2075688"/>
            <a:ext cx="265176" cy="274320"/>
          </a:xfrm>
          <a:prstGeom prst="roundRect">
            <a:avLst>
              <a:gd name="adj" fmla="val 10345"/>
            </a:avLst>
          </a:prstGeom>
          <a:solidFill>
            <a:srgbClr val="2E7D32"/>
          </a:solidFill>
          <a:ln/>
        </p:spPr>
      </p:sp>
      <p:sp>
        <p:nvSpPr>
          <p:cNvPr id="157" name="Shape 155"/>
          <p:cNvSpPr/>
          <p:nvPr/>
        </p:nvSpPr>
        <p:spPr>
          <a:xfrm>
            <a:off x="10291572" y="2075688"/>
            <a:ext cx="265176" cy="274320"/>
          </a:xfrm>
          <a:prstGeom prst="roundRect">
            <a:avLst>
              <a:gd name="adj" fmla="val 10345"/>
            </a:avLst>
          </a:prstGeom>
          <a:solidFill>
            <a:srgbClr val="7CB342"/>
          </a:solidFill>
          <a:ln/>
        </p:spPr>
      </p:sp>
      <p:sp>
        <p:nvSpPr>
          <p:cNvPr id="158" name="Shape 156"/>
          <p:cNvSpPr/>
          <p:nvPr/>
        </p:nvSpPr>
        <p:spPr>
          <a:xfrm>
            <a:off x="10602468" y="2075688"/>
            <a:ext cx="265176" cy="274320"/>
          </a:xfrm>
          <a:prstGeom prst="roundRect">
            <a:avLst>
              <a:gd name="adj" fmla="val 10345"/>
            </a:avLst>
          </a:prstGeom>
          <a:solidFill>
            <a:srgbClr val="C0CA33"/>
          </a:solidFill>
          <a:ln/>
        </p:spPr>
      </p:sp>
      <p:sp>
        <p:nvSpPr>
          <p:cNvPr id="159" name="Shape 157"/>
          <p:cNvSpPr/>
          <p:nvPr/>
        </p:nvSpPr>
        <p:spPr>
          <a:xfrm>
            <a:off x="10913364" y="2075688"/>
            <a:ext cx="265176" cy="274320"/>
          </a:xfrm>
          <a:prstGeom prst="roundRect">
            <a:avLst>
              <a:gd name="adj" fmla="val 10345"/>
            </a:avLst>
          </a:prstGeom>
          <a:solidFill>
            <a:srgbClr val="FFB020"/>
          </a:solidFill>
          <a:ln/>
        </p:spPr>
      </p:sp>
      <p:sp>
        <p:nvSpPr>
          <p:cNvPr id="160" name="Shape 158"/>
          <p:cNvSpPr/>
          <p:nvPr/>
        </p:nvSpPr>
        <p:spPr>
          <a:xfrm>
            <a:off x="11224260" y="2075688"/>
            <a:ext cx="265176" cy="274320"/>
          </a:xfrm>
          <a:prstGeom prst="roundRect">
            <a:avLst>
              <a:gd name="adj" fmla="val 10345"/>
            </a:avLst>
          </a:prstGeom>
          <a:solidFill>
            <a:srgbClr val="C0CA33"/>
          </a:solidFill>
          <a:ln/>
        </p:spPr>
      </p:sp>
      <p:sp>
        <p:nvSpPr>
          <p:cNvPr id="161" name="Shape 159"/>
          <p:cNvSpPr/>
          <p:nvPr/>
        </p:nvSpPr>
        <p:spPr>
          <a:xfrm>
            <a:off x="9669780" y="2395728"/>
            <a:ext cx="265176" cy="274320"/>
          </a:xfrm>
          <a:prstGeom prst="roundRect">
            <a:avLst>
              <a:gd name="adj" fmla="val 10345"/>
            </a:avLst>
          </a:prstGeom>
          <a:solidFill>
            <a:srgbClr val="2E7D32"/>
          </a:solidFill>
          <a:ln/>
        </p:spPr>
      </p:sp>
      <p:sp>
        <p:nvSpPr>
          <p:cNvPr id="162" name="Shape 160"/>
          <p:cNvSpPr/>
          <p:nvPr/>
        </p:nvSpPr>
        <p:spPr>
          <a:xfrm>
            <a:off x="9980676" y="2395728"/>
            <a:ext cx="265176" cy="274320"/>
          </a:xfrm>
          <a:prstGeom prst="roundRect">
            <a:avLst>
              <a:gd name="adj" fmla="val 10345"/>
            </a:avLst>
          </a:prstGeom>
          <a:solidFill>
            <a:srgbClr val="7CB342"/>
          </a:solidFill>
          <a:ln/>
        </p:spPr>
      </p:sp>
      <p:sp>
        <p:nvSpPr>
          <p:cNvPr id="163" name="Shape 161"/>
          <p:cNvSpPr/>
          <p:nvPr/>
        </p:nvSpPr>
        <p:spPr>
          <a:xfrm>
            <a:off x="10291572" y="2395728"/>
            <a:ext cx="265176" cy="274320"/>
          </a:xfrm>
          <a:prstGeom prst="roundRect">
            <a:avLst>
              <a:gd name="adj" fmla="val 10345"/>
            </a:avLst>
          </a:prstGeom>
          <a:solidFill>
            <a:srgbClr val="C0CA33"/>
          </a:solidFill>
          <a:ln/>
        </p:spPr>
      </p:sp>
      <p:sp>
        <p:nvSpPr>
          <p:cNvPr id="164" name="Shape 162"/>
          <p:cNvSpPr/>
          <p:nvPr/>
        </p:nvSpPr>
        <p:spPr>
          <a:xfrm>
            <a:off x="10602468" y="2395728"/>
            <a:ext cx="265176" cy="274320"/>
          </a:xfrm>
          <a:prstGeom prst="roundRect">
            <a:avLst>
              <a:gd name="adj" fmla="val 10345"/>
            </a:avLst>
          </a:prstGeom>
          <a:solidFill>
            <a:srgbClr val="F4511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10913364" y="2395728"/>
            <a:ext cx="265176" cy="274320"/>
          </a:xfrm>
          <a:prstGeom prst="roundRect">
            <a:avLst>
              <a:gd name="adj" fmla="val 10345"/>
            </a:avLst>
          </a:prstGeom>
          <a:solidFill>
            <a:srgbClr val="B71C1C"/>
          </a:solidFill>
          <a:ln/>
        </p:spPr>
      </p:sp>
      <p:sp>
        <p:nvSpPr>
          <p:cNvPr id="166" name="Shape 164"/>
          <p:cNvSpPr/>
          <p:nvPr/>
        </p:nvSpPr>
        <p:spPr>
          <a:xfrm>
            <a:off x="11224260" y="2395728"/>
            <a:ext cx="265176" cy="274320"/>
          </a:xfrm>
          <a:prstGeom prst="roundRect">
            <a:avLst>
              <a:gd name="adj" fmla="val 10345"/>
            </a:avLst>
          </a:prstGeom>
          <a:solidFill>
            <a:srgbClr val="FFB020"/>
          </a:solidFill>
          <a:ln/>
        </p:spPr>
      </p:sp>
      <p:sp>
        <p:nvSpPr>
          <p:cNvPr id="167" name="Shape 165"/>
          <p:cNvSpPr/>
          <p:nvPr/>
        </p:nvSpPr>
        <p:spPr>
          <a:xfrm>
            <a:off x="9669780" y="2715768"/>
            <a:ext cx="265176" cy="274320"/>
          </a:xfrm>
          <a:prstGeom prst="roundRect">
            <a:avLst>
              <a:gd name="adj" fmla="val 10345"/>
            </a:avLst>
          </a:prstGeom>
          <a:solidFill>
            <a:srgbClr val="2E7D32"/>
          </a:solidFill>
          <a:ln/>
        </p:spPr>
      </p:sp>
      <p:sp>
        <p:nvSpPr>
          <p:cNvPr id="168" name="Shape 166"/>
          <p:cNvSpPr/>
          <p:nvPr/>
        </p:nvSpPr>
        <p:spPr>
          <a:xfrm>
            <a:off x="9980676" y="2715768"/>
            <a:ext cx="265176" cy="274320"/>
          </a:xfrm>
          <a:prstGeom prst="roundRect">
            <a:avLst>
              <a:gd name="adj" fmla="val 10345"/>
            </a:avLst>
          </a:prstGeom>
          <a:solidFill>
            <a:srgbClr val="2E7D32"/>
          </a:solidFill>
          <a:ln/>
        </p:spPr>
      </p:sp>
      <p:sp>
        <p:nvSpPr>
          <p:cNvPr id="169" name="Shape 167"/>
          <p:cNvSpPr/>
          <p:nvPr/>
        </p:nvSpPr>
        <p:spPr>
          <a:xfrm>
            <a:off x="10291572" y="2715768"/>
            <a:ext cx="265176" cy="274320"/>
          </a:xfrm>
          <a:prstGeom prst="roundRect">
            <a:avLst>
              <a:gd name="adj" fmla="val 10345"/>
            </a:avLst>
          </a:prstGeom>
          <a:solidFill>
            <a:srgbClr val="C0CA33"/>
          </a:solidFill>
          <a:ln/>
        </p:spPr>
      </p:sp>
      <p:sp>
        <p:nvSpPr>
          <p:cNvPr id="170" name="Shape 168"/>
          <p:cNvSpPr/>
          <p:nvPr/>
        </p:nvSpPr>
        <p:spPr>
          <a:xfrm>
            <a:off x="10602468" y="2715768"/>
            <a:ext cx="265176" cy="274320"/>
          </a:xfrm>
          <a:prstGeom prst="roundRect">
            <a:avLst>
              <a:gd name="adj" fmla="val 10345"/>
            </a:avLst>
          </a:prstGeom>
          <a:solidFill>
            <a:srgbClr val="FFB020"/>
          </a:solidFill>
          <a:ln/>
        </p:spPr>
      </p:sp>
      <p:sp>
        <p:nvSpPr>
          <p:cNvPr id="171" name="Shape 169"/>
          <p:cNvSpPr/>
          <p:nvPr/>
        </p:nvSpPr>
        <p:spPr>
          <a:xfrm>
            <a:off x="10913364" y="2715768"/>
            <a:ext cx="265176" cy="274320"/>
          </a:xfrm>
          <a:prstGeom prst="roundRect">
            <a:avLst>
              <a:gd name="adj" fmla="val 10345"/>
            </a:avLst>
          </a:prstGeom>
          <a:solidFill>
            <a:srgbClr val="F4511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11224260" y="2715768"/>
            <a:ext cx="265176" cy="274320"/>
          </a:xfrm>
          <a:prstGeom prst="roundRect">
            <a:avLst>
              <a:gd name="adj" fmla="val 10345"/>
            </a:avLst>
          </a:prstGeom>
          <a:solidFill>
            <a:srgbClr val="C0CA33"/>
          </a:solidFill>
          <a:ln/>
        </p:spPr>
      </p:sp>
      <p:sp>
        <p:nvSpPr>
          <p:cNvPr id="173" name="Shape 171"/>
          <p:cNvSpPr/>
          <p:nvPr/>
        </p:nvSpPr>
        <p:spPr>
          <a:xfrm>
            <a:off x="9669780" y="3035808"/>
            <a:ext cx="265176" cy="274320"/>
          </a:xfrm>
          <a:prstGeom prst="roundRect">
            <a:avLst>
              <a:gd name="adj" fmla="val 10345"/>
            </a:avLst>
          </a:prstGeom>
          <a:solidFill>
            <a:srgbClr val="7CB342"/>
          </a:solidFill>
          <a:ln/>
        </p:spPr>
      </p:sp>
      <p:sp>
        <p:nvSpPr>
          <p:cNvPr id="174" name="Shape 172"/>
          <p:cNvSpPr/>
          <p:nvPr/>
        </p:nvSpPr>
        <p:spPr>
          <a:xfrm>
            <a:off x="9980676" y="3035808"/>
            <a:ext cx="265176" cy="274320"/>
          </a:xfrm>
          <a:prstGeom prst="roundRect">
            <a:avLst>
              <a:gd name="adj" fmla="val 10345"/>
            </a:avLst>
          </a:prstGeom>
          <a:solidFill>
            <a:srgbClr val="C0CA33"/>
          </a:solidFill>
          <a:ln/>
        </p:spPr>
      </p:sp>
      <p:sp>
        <p:nvSpPr>
          <p:cNvPr id="175" name="Shape 173"/>
          <p:cNvSpPr/>
          <p:nvPr/>
        </p:nvSpPr>
        <p:spPr>
          <a:xfrm>
            <a:off x="10291572" y="3035808"/>
            <a:ext cx="265176" cy="274320"/>
          </a:xfrm>
          <a:prstGeom prst="roundRect">
            <a:avLst>
              <a:gd name="adj" fmla="val 10345"/>
            </a:avLst>
          </a:prstGeom>
          <a:solidFill>
            <a:srgbClr val="2E7D32"/>
          </a:solidFill>
          <a:ln/>
        </p:spPr>
      </p:sp>
      <p:sp>
        <p:nvSpPr>
          <p:cNvPr id="176" name="Shape 174"/>
          <p:cNvSpPr/>
          <p:nvPr/>
        </p:nvSpPr>
        <p:spPr>
          <a:xfrm>
            <a:off x="10602468" y="3035808"/>
            <a:ext cx="265176" cy="274320"/>
          </a:xfrm>
          <a:prstGeom prst="roundRect">
            <a:avLst>
              <a:gd name="adj" fmla="val 10345"/>
            </a:avLst>
          </a:prstGeom>
          <a:solidFill>
            <a:srgbClr val="7CB342"/>
          </a:solidFill>
          <a:ln/>
        </p:spPr>
      </p:sp>
      <p:sp>
        <p:nvSpPr>
          <p:cNvPr id="177" name="Shape 175"/>
          <p:cNvSpPr/>
          <p:nvPr/>
        </p:nvSpPr>
        <p:spPr>
          <a:xfrm>
            <a:off x="10913364" y="3035808"/>
            <a:ext cx="265176" cy="274320"/>
          </a:xfrm>
          <a:prstGeom prst="roundRect">
            <a:avLst>
              <a:gd name="adj" fmla="val 10345"/>
            </a:avLst>
          </a:prstGeom>
          <a:solidFill>
            <a:srgbClr val="C0CA33"/>
          </a:solidFill>
          <a:ln/>
        </p:spPr>
      </p:sp>
      <p:sp>
        <p:nvSpPr>
          <p:cNvPr id="178" name="Shape 176"/>
          <p:cNvSpPr/>
          <p:nvPr/>
        </p:nvSpPr>
        <p:spPr>
          <a:xfrm>
            <a:off x="11224260" y="3035808"/>
            <a:ext cx="265176" cy="274320"/>
          </a:xfrm>
          <a:prstGeom prst="roundRect">
            <a:avLst>
              <a:gd name="adj" fmla="val 10345"/>
            </a:avLst>
          </a:prstGeom>
          <a:solidFill>
            <a:srgbClr val="7CB342"/>
          </a:solidFill>
          <a:ln/>
        </p:spPr>
      </p:sp>
      <p:sp>
        <p:nvSpPr>
          <p:cNvPr id="179" name="Shape 177"/>
          <p:cNvSpPr/>
          <p:nvPr/>
        </p:nvSpPr>
        <p:spPr>
          <a:xfrm>
            <a:off x="9669780" y="3355848"/>
            <a:ext cx="265176" cy="274320"/>
          </a:xfrm>
          <a:prstGeom prst="roundRect">
            <a:avLst>
              <a:gd name="adj" fmla="val 10345"/>
            </a:avLst>
          </a:prstGeom>
          <a:solidFill>
            <a:srgbClr val="2E7D32"/>
          </a:solidFill>
          <a:ln/>
        </p:spPr>
      </p:sp>
      <p:sp>
        <p:nvSpPr>
          <p:cNvPr id="180" name="Shape 178"/>
          <p:cNvSpPr/>
          <p:nvPr/>
        </p:nvSpPr>
        <p:spPr>
          <a:xfrm>
            <a:off x="9980676" y="3355848"/>
            <a:ext cx="265176" cy="274320"/>
          </a:xfrm>
          <a:prstGeom prst="roundRect">
            <a:avLst>
              <a:gd name="adj" fmla="val 10345"/>
            </a:avLst>
          </a:prstGeom>
          <a:solidFill>
            <a:srgbClr val="2E7D32"/>
          </a:solidFill>
          <a:ln/>
        </p:spPr>
      </p:sp>
      <p:sp>
        <p:nvSpPr>
          <p:cNvPr id="181" name="Shape 179"/>
          <p:cNvSpPr/>
          <p:nvPr/>
        </p:nvSpPr>
        <p:spPr>
          <a:xfrm>
            <a:off x="10291572" y="3355848"/>
            <a:ext cx="265176" cy="274320"/>
          </a:xfrm>
          <a:prstGeom prst="roundRect">
            <a:avLst>
              <a:gd name="adj" fmla="val 10345"/>
            </a:avLst>
          </a:prstGeom>
          <a:solidFill>
            <a:srgbClr val="7CB342"/>
          </a:solidFill>
          <a:ln/>
        </p:spPr>
      </p:sp>
      <p:sp>
        <p:nvSpPr>
          <p:cNvPr id="182" name="Shape 180"/>
          <p:cNvSpPr/>
          <p:nvPr/>
        </p:nvSpPr>
        <p:spPr>
          <a:xfrm>
            <a:off x="10602468" y="3355848"/>
            <a:ext cx="265176" cy="274320"/>
          </a:xfrm>
          <a:prstGeom prst="roundRect">
            <a:avLst>
              <a:gd name="adj" fmla="val 10345"/>
            </a:avLst>
          </a:prstGeom>
          <a:solidFill>
            <a:srgbClr val="7CB342"/>
          </a:solidFill>
          <a:ln/>
        </p:spPr>
      </p:sp>
      <p:sp>
        <p:nvSpPr>
          <p:cNvPr id="183" name="Shape 181"/>
          <p:cNvSpPr/>
          <p:nvPr/>
        </p:nvSpPr>
        <p:spPr>
          <a:xfrm>
            <a:off x="10913364" y="3355848"/>
            <a:ext cx="265176" cy="274320"/>
          </a:xfrm>
          <a:prstGeom prst="roundRect">
            <a:avLst>
              <a:gd name="adj" fmla="val 10345"/>
            </a:avLst>
          </a:prstGeom>
          <a:solidFill>
            <a:srgbClr val="2E7D32"/>
          </a:solidFill>
          <a:ln/>
        </p:spPr>
      </p:sp>
      <p:sp>
        <p:nvSpPr>
          <p:cNvPr id="184" name="Shape 182"/>
          <p:cNvSpPr/>
          <p:nvPr/>
        </p:nvSpPr>
        <p:spPr>
          <a:xfrm>
            <a:off x="11224260" y="3355848"/>
            <a:ext cx="265176" cy="274320"/>
          </a:xfrm>
          <a:prstGeom prst="roundRect">
            <a:avLst>
              <a:gd name="adj" fmla="val 10345"/>
            </a:avLst>
          </a:prstGeom>
          <a:solidFill>
            <a:srgbClr val="2E7D32"/>
          </a:solidFill>
          <a:ln/>
        </p:spPr>
      </p:sp>
      <p:sp>
        <p:nvSpPr>
          <p:cNvPr id="185" name="Shape 183"/>
          <p:cNvSpPr/>
          <p:nvPr/>
        </p:nvSpPr>
        <p:spPr>
          <a:xfrm>
            <a:off x="9601200" y="3922776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2E7D32"/>
          </a:solidFill>
          <a:ln/>
        </p:spPr>
      </p:sp>
      <p:sp>
        <p:nvSpPr>
          <p:cNvPr id="186" name="Text 184"/>
          <p:cNvSpPr txBox="1"/>
          <p:nvPr/>
        </p:nvSpPr>
        <p:spPr>
          <a:xfrm>
            <a:off x="9875520" y="3886200"/>
            <a:ext cx="1728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 </a:t>
            </a:r>
            <a:pPr indent="0" marL="0">
              <a:buNone/>
            </a:pPr>
            <a:r>
              <a:rPr lang="en-US" sz="1200" dirty="0">
                <a:solidFill>
                  <a:srgbClr val="E0E8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Healthy </a:t>
            </a:r>
            <a:pPr indent="0" marL="0">
              <a:buNone/>
            </a:pPr>
            <a:r>
              <a:rPr lang="en-US" sz="1050" dirty="0">
                <a:solidFill>
                  <a:srgbClr val="9FB3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(DI 0)</a:t>
            </a:r>
            <a:endParaRPr lang="en-US" sz="1200" dirty="0"/>
          </a:p>
        </p:txBody>
      </p:sp>
      <p:sp>
        <p:nvSpPr>
          <p:cNvPr id="187" name="Shape 185"/>
          <p:cNvSpPr/>
          <p:nvPr/>
        </p:nvSpPr>
        <p:spPr>
          <a:xfrm>
            <a:off x="9601200" y="4215384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7CB342"/>
          </a:solidFill>
          <a:ln/>
        </p:spPr>
      </p:sp>
      <p:sp>
        <p:nvSpPr>
          <p:cNvPr id="188" name="Text 186"/>
          <p:cNvSpPr txBox="1"/>
          <p:nvPr/>
        </p:nvSpPr>
        <p:spPr>
          <a:xfrm>
            <a:off x="9875520" y="4178808"/>
            <a:ext cx="1728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</a:t>
            </a:r>
            <a:pPr indent="0" marL="0">
              <a:buNone/>
            </a:pPr>
            <a:r>
              <a:rPr lang="en-US" sz="1200" dirty="0">
                <a:solidFill>
                  <a:srgbClr val="E0E8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Very low </a:t>
            </a:r>
            <a:pPr indent="0" marL="0">
              <a:buNone/>
            </a:pPr>
            <a:r>
              <a:rPr lang="en-US" sz="1050" dirty="0">
                <a:solidFill>
                  <a:srgbClr val="9FB3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(1–5%)</a:t>
            </a:r>
            <a:endParaRPr lang="en-US" sz="1200" dirty="0"/>
          </a:p>
        </p:txBody>
      </p:sp>
      <p:sp>
        <p:nvSpPr>
          <p:cNvPr id="189" name="Shape 187"/>
          <p:cNvSpPr/>
          <p:nvPr/>
        </p:nvSpPr>
        <p:spPr>
          <a:xfrm>
            <a:off x="9601200" y="4507992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C0CA33"/>
          </a:solidFill>
          <a:ln/>
        </p:spPr>
      </p:sp>
      <p:sp>
        <p:nvSpPr>
          <p:cNvPr id="190" name="Text 188"/>
          <p:cNvSpPr txBox="1"/>
          <p:nvPr/>
        </p:nvSpPr>
        <p:spPr>
          <a:xfrm>
            <a:off x="9875520" y="4471416"/>
            <a:ext cx="1728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 </a:t>
            </a:r>
            <a:pPr indent="0" marL="0">
              <a:buNone/>
            </a:pPr>
            <a:r>
              <a:rPr lang="en-US" sz="1200" dirty="0">
                <a:solidFill>
                  <a:srgbClr val="E0E8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</a:t>
            </a:r>
            <a:pPr indent="0" marL="0">
              <a:buNone/>
            </a:pPr>
            <a:r>
              <a:rPr lang="en-US" sz="1050" dirty="0">
                <a:solidFill>
                  <a:srgbClr val="9FB3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(6–10%)</a:t>
            </a:r>
            <a:endParaRPr lang="en-US" sz="1200" dirty="0"/>
          </a:p>
        </p:txBody>
      </p:sp>
      <p:sp>
        <p:nvSpPr>
          <p:cNvPr id="191" name="Shape 189"/>
          <p:cNvSpPr/>
          <p:nvPr/>
        </p:nvSpPr>
        <p:spPr>
          <a:xfrm>
            <a:off x="9601200" y="480060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FFB020"/>
          </a:solidFill>
          <a:ln/>
        </p:spPr>
      </p:sp>
      <p:sp>
        <p:nvSpPr>
          <p:cNvPr id="192" name="Text 190"/>
          <p:cNvSpPr txBox="1"/>
          <p:nvPr/>
        </p:nvSpPr>
        <p:spPr>
          <a:xfrm>
            <a:off x="9875520" y="4764024"/>
            <a:ext cx="1728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 </a:t>
            </a:r>
            <a:pPr indent="0" marL="0">
              <a:buNone/>
            </a:pPr>
            <a:r>
              <a:rPr lang="en-US" sz="1200" dirty="0">
                <a:solidFill>
                  <a:srgbClr val="E0E8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Moderate </a:t>
            </a:r>
            <a:pPr indent="0" marL="0">
              <a:buNone/>
            </a:pPr>
            <a:r>
              <a:rPr lang="en-US" sz="1050" dirty="0">
                <a:solidFill>
                  <a:srgbClr val="9FB3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(11–25%)</a:t>
            </a:r>
            <a:endParaRPr lang="en-US" sz="1200" dirty="0"/>
          </a:p>
        </p:txBody>
      </p:sp>
      <p:sp>
        <p:nvSpPr>
          <p:cNvPr id="193" name="Shape 191"/>
          <p:cNvSpPr/>
          <p:nvPr/>
        </p:nvSpPr>
        <p:spPr>
          <a:xfrm>
            <a:off x="9601200" y="509320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F4511E"/>
          </a:solidFill>
          <a:ln/>
        </p:spPr>
      </p:sp>
      <p:sp>
        <p:nvSpPr>
          <p:cNvPr id="194" name="Text 192"/>
          <p:cNvSpPr txBox="1"/>
          <p:nvPr/>
        </p:nvSpPr>
        <p:spPr>
          <a:xfrm>
            <a:off x="9875520" y="5056632"/>
            <a:ext cx="1728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 </a:t>
            </a:r>
            <a:pPr indent="0" marL="0">
              <a:buNone/>
            </a:pPr>
            <a:r>
              <a:rPr lang="en-US" sz="1200" dirty="0">
                <a:solidFill>
                  <a:srgbClr val="E0E8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</a:t>
            </a:r>
            <a:pPr indent="0" marL="0">
              <a:buNone/>
            </a:pPr>
            <a:r>
              <a:rPr lang="en-US" sz="1050" dirty="0">
                <a:solidFill>
                  <a:srgbClr val="9FB3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(26–50%)</a:t>
            </a:r>
            <a:endParaRPr lang="en-US" sz="1200" dirty="0"/>
          </a:p>
        </p:txBody>
      </p:sp>
      <p:sp>
        <p:nvSpPr>
          <p:cNvPr id="195" name="Shape 193"/>
          <p:cNvSpPr/>
          <p:nvPr/>
        </p:nvSpPr>
        <p:spPr>
          <a:xfrm>
            <a:off x="9601200" y="5385816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B71C1C"/>
          </a:solidFill>
          <a:ln/>
        </p:spPr>
      </p:sp>
      <p:sp>
        <p:nvSpPr>
          <p:cNvPr id="196" name="Text 194"/>
          <p:cNvSpPr txBox="1"/>
          <p:nvPr/>
        </p:nvSpPr>
        <p:spPr>
          <a:xfrm>
            <a:off x="9875520" y="5349240"/>
            <a:ext cx="1728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 </a:t>
            </a:r>
            <a:pPr indent="0" marL="0">
              <a:buNone/>
            </a:pPr>
            <a:r>
              <a:rPr lang="en-US" sz="1200" dirty="0">
                <a:solidFill>
                  <a:srgbClr val="E0E8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Very high </a:t>
            </a:r>
            <a:pPr indent="0" marL="0">
              <a:buNone/>
            </a:pPr>
            <a:r>
              <a:rPr lang="en-US" sz="1050" dirty="0">
                <a:solidFill>
                  <a:srgbClr val="9FB3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(&gt;50%)</a:t>
            </a:r>
            <a:endParaRPr lang="en-US" sz="1200" dirty="0"/>
          </a:p>
        </p:txBody>
      </p:sp>
      <p:sp>
        <p:nvSpPr>
          <p:cNvPr id="197" name="Shape 195"/>
          <p:cNvSpPr/>
          <p:nvPr/>
        </p:nvSpPr>
        <p:spPr>
          <a:xfrm>
            <a:off x="9555480" y="5852160"/>
            <a:ext cx="2048256" cy="457200"/>
          </a:xfrm>
          <a:prstGeom prst="roundRect">
            <a:avLst>
              <a:gd name="adj" fmla="val 16000"/>
            </a:avLst>
          </a:prstGeom>
          <a:solidFill>
            <a:srgbClr val="7DBE4B"/>
          </a:solidFill>
          <a:ln/>
        </p:spPr>
      </p:sp>
      <p:sp>
        <p:nvSpPr>
          <p:cNvPr id="198" name="Text 196"/>
          <p:cNvSpPr txBox="1"/>
          <p:nvPr/>
        </p:nvSpPr>
        <p:spPr>
          <a:xfrm>
            <a:off x="9555480" y="5852160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flight → one severity map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MuDAS-AI Conceptual Framework</dc:title>
  <dc:subject>PptxGenJS Presentation</dc:subject>
  <dc:creator>PptxGenJS</dc:creator>
  <cp:lastModifiedBy>PptxGenJS</cp:lastModifiedBy>
  <cp:revision>1</cp:revision>
  <dcterms:created xsi:type="dcterms:W3CDTF">2026-10-07T13:55:14Z</dcterms:created>
  <dcterms:modified xsi:type="dcterms:W3CDTF">2026-10-07T13:55:14Z</dcterms:modified>
</cp:coreProperties>
</file>