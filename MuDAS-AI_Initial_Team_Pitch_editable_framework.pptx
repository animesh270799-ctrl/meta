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60"/>
    <p:restoredTop sz="93617"/>
  </p:normalViewPr>
  <p:slideViewPr>
    <p:cSldViewPr snapToGrid="0">
      <p:cViewPr varScale="1">
        <p:scale>
          <a:sx n="77" d="100"/>
          <a:sy n="77" d="100"/>
        </p:scale>
        <p:origin x="47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9ECB0-08A3-6B49-9192-DE4C9E8A836A}" type="datetimeFigureOut">
              <a:rPr lang="en-DE" smtClean="0"/>
              <a:t>10/07/2026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F6DD5-2610-2547-8B32-C0E8B3B972B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0762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6DD5-2610-2547-8B32-C0E8B3B972BF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87600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92FF-D310-646F-CBEA-B87EDA999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48133-19A2-4975-3ED8-4AAC28771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4E9B4-0778-EDE3-D5CC-79CB01F0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83D6-3516-07C0-0431-2460CC141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056F0-7EC6-9AF5-1180-8068E8B8E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445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86DC-6082-7863-3E50-92FAA7940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95939-3D49-9D89-8C8E-E41F3C6B6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835F4-91C1-A1A0-5ED3-75125F4A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0D2D-2EC0-1E42-CCBF-352E46AA3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91D01-AC41-DC34-0568-E9AD991A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09516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ECBF6-CD82-CFD2-E1AD-F99BACCD1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E4F5C-6848-F7FD-0555-8383565A6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94205-DCC1-9353-A2A9-A8B74115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092E1-355D-0A4C-D8A3-76A33F1B7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E7041-7C41-8EC3-5F7A-7F836C5E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1906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607F-166A-B49C-AF8B-5B0043B6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0BC06-7F16-B0CF-5BA2-3BBE2BC5B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3F72E-17A8-990D-2851-CA22217AF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E2016-ADB1-A5BB-2FA5-04FF9FBF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3B7A4-412D-AE0C-D29E-319BC75BF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B5A36-335F-9EA3-EF13-2A299525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5562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81174-2BED-A143-0866-0D05013E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9778C-BF7F-D676-2E32-31325B1B2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4183D-10A2-26A2-1293-EFEB7BF95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8BE57E-6769-50AC-488A-43E297343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E97E10-7F0E-5345-5BE0-F7409A1F5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F7CF39-7637-EEAB-5BB4-5113D7AC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10/07/2026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46FED-3725-A3E9-6707-577E4EA3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8FB1F0-0482-3EC6-2DBC-DBB2569FB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49019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73944-5A77-32E6-18AE-904745619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839C81-68BD-30D7-A30D-AFBF44FD1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10/07/2026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EC1C6-B88B-0B12-AB09-0D786DBD0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35D7B-AC52-AE97-8576-2D199CEFB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4138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878081-8255-2ADF-D9F6-B8D59DCB3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10/07/2026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272ECF-36F7-F023-F982-B587755F6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FD72E-3975-BE6E-7C88-6023F1280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9160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DD4F-D1B6-5D43-B05A-F7571E1B9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A15EB-5B7A-DD3F-6855-8741D9707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5D399-F3E2-42E1-6A08-958CA6FE2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A5931-7A66-1BE5-DCDD-37417863A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3165B-BA8D-20F7-38F4-6A6089EE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BBEEE-5979-4FA7-3689-4D3FCEF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95506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C2ACB-2B6F-8596-8E01-8A2F0C513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769DEE-9F69-CC4B-2927-EDEA434F0F6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C3C1D-2B1C-7D11-3590-01C610E64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40100-3F20-6EE2-12B8-DCBFED40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B58E9-BCD5-B156-750D-73B91AFE9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700AC-B3D4-F1A4-8A4A-75A6B094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82329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151B-1897-8D67-0ED4-B68960832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50B93-F844-4AD7-980B-C6CC9B850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6521C-163B-D9F5-9841-1274A8AC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6825E-8A56-6B20-B2FD-C4B119CA4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DBEFA-A658-9212-059B-C8AD551E0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57256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A3ED3-8324-B7DF-79CF-AE4F51364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58DF6-8A02-C9A3-1453-7103261D1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7BBB-B035-5BEB-3CC2-30013418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0C6A8-5CDF-A9EA-BBD4-7676B566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4D669-C945-6B82-B1B4-6AA6FFD4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1391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D2F347-172C-10EF-520C-FD89B85F3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EEAC4-75B0-4452-6133-59020CCD1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EA27E-F952-E38E-C0AC-D2F71866B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1A187-2A9E-6042-BB50-9BD847E14183}" type="datetimeFigureOut">
              <a:rPr lang="en-DE" smtClean="0"/>
              <a:t>10/07/2026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FCA67-6A06-CB6F-AF42-56D2FC1CC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FB2F2-A3D1-B2CF-1A5E-A00CE41E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8051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2F77C0-9256-72AB-7F66-AF75438CFC6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0F3C9B-9304-AEB0-B8DD-A07748C19B80}"/>
              </a:ext>
            </a:extLst>
          </p:cNvPr>
          <p:cNvSpPr/>
          <p:nvPr/>
        </p:nvSpPr>
        <p:spPr>
          <a:xfrm>
            <a:off x="870645" y="2782308"/>
            <a:ext cx="7535935" cy="2084660"/>
          </a:xfrm>
          <a:prstGeom prst="roundRect">
            <a:avLst/>
          </a:prstGeom>
          <a:solidFill>
            <a:srgbClr val="000000"/>
          </a:solidFill>
          <a:ln w="1651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2EBBEE-5ABA-61F4-7814-AD603B3CDA5A}"/>
              </a:ext>
            </a:extLst>
          </p:cNvPr>
          <p:cNvSpPr txBox="1"/>
          <p:nvPr/>
        </p:nvSpPr>
        <p:spPr>
          <a:xfrm>
            <a:off x="932688" y="2900000"/>
            <a:ext cx="73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1CB8B2"/>
                </a:solidFill>
                <a:latin typeface="Aptos"/>
              </a:rPr>
              <a:t>Team: MuDAS-AI</a:t>
            </a:r>
          </a:p>
          <a:p>
            <a:pPr algn="l"/>
            <a:r>
              <a:rPr lang="en-US" sz="1400" b="0" i="1" dirty="0">
                <a:solidFill>
                  <a:srgbClr val="E0E8E9"/>
                </a:solidFill>
                <a:latin typeface="Aptos"/>
              </a:rPr>
              <a:t>Multimodal Disease Assessment using Artificial 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AAF01F-5A5D-A83D-CFC1-1B0266C48E27}"/>
              </a:ext>
            </a:extLst>
          </p:cNvPr>
          <p:cNvSpPr txBox="1"/>
          <p:nvPr/>
        </p:nvSpPr>
        <p:spPr>
          <a:xfrm>
            <a:off x="932688" y="3758973"/>
            <a:ext cx="730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E0E8E9"/>
                </a:solidFill>
                <a:latin typeface="Aptos"/>
              </a:rPr>
              <a:t>Thematic Area: </a:t>
            </a:r>
            <a:r>
              <a:rPr lang="en-US" sz="1400" b="1" i="0" dirty="0">
                <a:solidFill>
                  <a:srgbClr val="E0E8E9"/>
                </a:solidFill>
                <a:latin typeface="Aptos"/>
              </a:rPr>
              <a:t>Crop Intelligence and Decision Support</a:t>
            </a:r>
          </a:p>
          <a:p>
            <a:pPr algn="l"/>
            <a:endParaRPr lang="en-US" sz="1400" b="1" i="0" dirty="0">
              <a:solidFill>
                <a:srgbClr val="E0E8E9"/>
              </a:solidFill>
              <a:latin typeface="Aptos"/>
            </a:endParaRPr>
          </a:p>
          <a:p>
            <a:r>
              <a:rPr lang="en-US" sz="1400" b="0" i="0" dirty="0">
                <a:solidFill>
                  <a:srgbClr val="E0E8E9"/>
                </a:solidFill>
                <a:latin typeface="Aptos"/>
              </a:rPr>
              <a:t>Presenter: Animesh Panda, </a:t>
            </a:r>
            <a:r>
              <a:rPr lang="en-IN" sz="1400" dirty="0">
                <a:solidFill>
                  <a:srgbClr val="E0E8E9"/>
                </a:solidFill>
              </a:rPr>
              <a:t>Rabi N Sahoo, Rajeev Ranjan, </a:t>
            </a:r>
            <a:r>
              <a:rPr lang="en-IN" sz="1400" dirty="0" err="1">
                <a:solidFill>
                  <a:srgbClr val="E0E8E9"/>
                </a:solidFill>
              </a:rPr>
              <a:t>Rejith</a:t>
            </a:r>
            <a:r>
              <a:rPr lang="en-IN" sz="1400" dirty="0">
                <a:solidFill>
                  <a:srgbClr val="E0E8E9"/>
                </a:solidFill>
              </a:rPr>
              <a:t> RG, Tarun </a:t>
            </a:r>
            <a:r>
              <a:rPr lang="en-IN" sz="1400" dirty="0" err="1">
                <a:solidFill>
                  <a:srgbClr val="E0E8E9"/>
                </a:solidFill>
              </a:rPr>
              <a:t>Kondraju</a:t>
            </a:r>
            <a:r>
              <a:rPr lang="en-IN" sz="1400" dirty="0">
                <a:solidFill>
                  <a:srgbClr val="E0E8E9"/>
                </a:solidFill>
              </a:rPr>
              <a:t>, Amrita Bhandari</a:t>
            </a:r>
            <a:endParaRPr lang="en-US" sz="1400" b="0" i="0" dirty="0">
              <a:solidFill>
                <a:srgbClr val="E0E8E9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10940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21792" y="1353312"/>
            <a:ext cx="1143000" cy="36576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063240" cy="260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Mustard white rust causes 20–60% yield loss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Pustules form on the leaf underside, hidden from above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Visible signs (chlorosis, staghead) appear after the spray window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Manual scouting is slow, subjective and not scalable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UAV studies use single sensors; no multimodal fusion exists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7D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7DBE4B"/>
                </a:solidFill>
                <a:latin typeface="Aptos"/>
              </a:rPr>
              <a:t>Target user / beneficiary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3063240" cy="260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Small and marginal mustard farmers (1–2 ha)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Rajasthan, MP, UP, Haryana, Gujarat, West Bengal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Reached via drone service providers</a:t>
            </a:r>
            <a:r>
              <a:rPr lang="en-US" sz="1400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and FPOs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Extension: KVKs and state agriculture departments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Unmet need: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when and where to spray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86000"/>
            <a:ext cx="306324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Mustard: &gt;6 Mha, ~27% of India’s oilseed output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Priority crop of NMEO-OS to cut edible-oil imports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Late or blanket spraying: yield loss, cost, chemical load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Drone access is expanding (Kisan Drones, Namo Drone Didi)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2C061-C7A6-C58F-F135-F634D73CD56D}"/>
              </a:ext>
            </a:extLst>
          </p:cNvPr>
          <p:cNvSpPr txBox="1"/>
          <p:nvPr/>
        </p:nvSpPr>
        <p:spPr>
          <a:xfrm>
            <a:off x="552217" y="702302"/>
            <a:ext cx="10619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Farmers need to know when and where to spray before it is too late.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143000" cy="36576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Your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0000"/>
            <a:ext cx="3063240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Using UAV based RGB, multispectral, thermal, hyperspectral data, AI maps every plot / grid into 6 severity classes.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One flight → one geo-referenced disease severity map: decide Skip / Spray / Too late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Workflow: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fly → pre-process </a:t>
            </a:r>
            <a:r>
              <a:rPr lang="en-US" sz="1400" dirty="0">
                <a:solidFill>
                  <a:schemeClr val="bg1"/>
                </a:solidFill>
              </a:rPr>
              <a:t>→  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feature selection → fusion → classify →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7D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7DBE4B"/>
                </a:solidFill>
                <a:latin typeface="Aptos"/>
              </a:rPr>
              <a:t>AI, data &amp;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10000"/>
            <a:ext cx="3063240" cy="2300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Why AI: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fuses weak, non-linear signals of 4 sensors that no single index or human eye can detect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Phase 1: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disease-specific features (ANOVA, JM, ReliefF, Boruta)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Phase 2: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per-sensor VIF/SPA + SFFS → RF, SVM, KNN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Phase 3: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feature-level fusion of all sensors + SFFS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Innovation &amp; interoperability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510000"/>
            <a:ext cx="3063240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First multimodal fusion framework for mustard white rust and </a:t>
            </a:r>
            <a:r>
              <a:rPr lang="en-US" sz="1400" dirty="0">
                <a:solidFill>
                  <a:schemeClr val="bg1"/>
                </a:solidFill>
                <a:latin typeface="Aptos"/>
              </a:rPr>
              <a:t>i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nterpretable features linked to plant physiology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  <a:latin typeface="Aptos"/>
              </a:rPr>
              <a:t>Interested in integrating with the GI-AI4AFS Open Reference Architecture</a:t>
            </a:r>
            <a:endParaRPr lang="en-US" sz="1400" b="0" i="0" dirty="0">
              <a:solidFill>
                <a:schemeClr val="bg1"/>
              </a:solidFill>
              <a:latin typeface="Aptos"/>
            </a:endParaRP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Finds the best model and the cheapest sensor set that is accurate enough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2FEA51-F0A9-A359-4FFE-36FD4770F7C7}"/>
              </a:ext>
            </a:extLst>
          </p:cNvPr>
          <p:cNvSpPr txBox="1"/>
          <p:nvPr/>
        </p:nvSpPr>
        <p:spPr>
          <a:xfrm>
            <a:off x="568021" y="702302"/>
            <a:ext cx="10804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One drone flight, and AI turns it into a disease severity 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143000" cy="36576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1CB8B2"/>
                </a:solidFill>
                <a:latin typeface="Aptos"/>
              </a:rPr>
              <a:t>Potential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063240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Value for farmers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: </a:t>
            </a:r>
            <a:r>
              <a:rPr lang="en-US" sz="1400" dirty="0">
                <a:solidFill>
                  <a:schemeClr val="bg1"/>
                </a:solidFill>
                <a:latin typeface="Aptos"/>
              </a:rPr>
              <a:t>Early detection and t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argeted spraying above the economic threshold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Outcomes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: Expected 15-30% less fungicide, </a:t>
            </a:r>
            <a:r>
              <a:rPr lang="en-US" sz="1400" dirty="0">
                <a:solidFill>
                  <a:schemeClr val="bg1"/>
                </a:solidFill>
                <a:latin typeface="Aptos"/>
              </a:rPr>
              <a:t>a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ction within the spray window protects yield.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Sustainability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: Less chemical load on soil and water. District maps for surveillance, insurance, NMEO-OS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578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7D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7DBE4B"/>
                </a:solidFill>
                <a:latin typeface="Aptos"/>
              </a:rPr>
              <a:t>Feasibility &amp;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00601"/>
            <a:ext cx="3063240" cy="285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dirty="0">
                <a:solidFill>
                  <a:srgbClr val="E0E8E9"/>
                </a:solidFill>
              </a:rPr>
              <a:t>Technical and operational feasibility</a:t>
            </a:r>
            <a:r>
              <a:rPr lang="en-US" sz="1400" dirty="0">
                <a:solidFill>
                  <a:srgbClr val="E0E8E9"/>
                </a:solidFill>
              </a:rPr>
              <a:t>: </a:t>
            </a:r>
            <a:r>
              <a:rPr lang="en-IN" sz="1400" dirty="0">
                <a:solidFill>
                  <a:schemeClr val="bg1"/>
                </a:solidFill>
              </a:rPr>
              <a:t>Availability of commercial drone sensors and lightweight ML models.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dirty="0">
                <a:solidFill>
                  <a:srgbClr val="E0E8E9"/>
                </a:solidFill>
              </a:rPr>
              <a:t>Data, Partners, Resources:</a:t>
            </a:r>
            <a:r>
              <a:rPr lang="en-US" sz="1400" dirty="0">
                <a:solidFill>
                  <a:srgbClr val="E0E8E9"/>
                </a:solidFill>
              </a:rPr>
              <a:t> UAV based images from different sensors, ICAR, KVKs, FPOs, drone service providers</a:t>
            </a:r>
            <a:endParaRPr lang="en-IN" sz="14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dirty="0">
                <a:solidFill>
                  <a:srgbClr val="E0E8E9"/>
                </a:solidFill>
              </a:rPr>
              <a:t>Reused and Rescale</a:t>
            </a:r>
            <a:r>
              <a:rPr lang="en-US" sz="1400" dirty="0">
                <a:solidFill>
                  <a:srgbClr val="E0E8E9"/>
                </a:solidFill>
              </a:rPr>
              <a:t>: </a:t>
            </a:r>
            <a:r>
              <a:rPr lang="en-IN" sz="1400" dirty="0">
                <a:solidFill>
                  <a:schemeClr val="bg1"/>
                </a:solidFill>
              </a:rPr>
              <a:t>Other crops and diseases: same pipeline, new disease specific features and can be applied in wider coverage</a:t>
            </a:r>
            <a:endParaRPr lang="en-US" sz="1400" b="0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2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1CB8B2"/>
                </a:solidFill>
                <a:latin typeface="Aptos"/>
              </a:rPr>
              <a:t>What you will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86000"/>
            <a:ext cx="3063240" cy="199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  <a:latin typeface="Aptos"/>
              </a:rPr>
              <a:t>Pipeline</a:t>
            </a:r>
            <a:r>
              <a:rPr lang="en-US" sz="1400" b="1" i="0" dirty="0">
                <a:solidFill>
                  <a:schemeClr val="bg1"/>
                </a:solidFill>
                <a:latin typeface="Aptos"/>
              </a:rPr>
              <a:t>:</a:t>
            </a:r>
            <a:r>
              <a:rPr lang="en-US" sz="1400" dirty="0">
                <a:solidFill>
                  <a:schemeClr val="bg1"/>
                </a:solidFill>
              </a:rPr>
              <a:t> Image pre processing → disease feature extraction →AI severity classification, comparing single sensors with fusion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Upload drone images and get back a severity map 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Mentoring needs: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cloud deployment, GI-AI4AFS integration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4BCA8D-8AAD-71DD-A7D3-06C1DCDD9F0D}"/>
              </a:ext>
            </a:extLst>
          </p:cNvPr>
          <p:cNvSpPr txBox="1"/>
          <p:nvPr/>
        </p:nvSpPr>
        <p:spPr>
          <a:xfrm>
            <a:off x="524288" y="501488"/>
            <a:ext cx="10814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Targeted spraying saves farmers money and fungicide, and the approach can scale to other regions, crops and diseases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60DBD2-38D8-69D6-C087-64336216373E}"/>
              </a:ext>
            </a:extLst>
          </p:cNvPr>
          <p:cNvSpPr txBox="1"/>
          <p:nvPr/>
        </p:nvSpPr>
        <p:spPr>
          <a:xfrm>
            <a:off x="444775" y="238540"/>
            <a:ext cx="11154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MuDAS</a:t>
            </a:r>
            <a:r>
              <a:rPr lang="en-IN" b="1" dirty="0"/>
              <a:t>-AI · Conceptual Framework</a:t>
            </a:r>
            <a:br>
              <a:rPr lang="en-IN" dirty="0"/>
            </a:br>
            <a:r>
              <a:rPr lang="en-IN" i="1" dirty="0"/>
              <a:t>One drone flight → AI → a disease severity map</a:t>
            </a:r>
            <a:endParaRPr lang="en-IN" dirty="0"/>
          </a:p>
        </p:txBody>
      </p:sp>
      <p:sp>
        <p:nvSpPr>
          <p:cNvPr id="104" name="Shape 2"/>
          <p:cNvSpPr/>
          <p:nvPr/>
        </p:nvSpPr>
        <p:spPr>
          <a:xfrm>
            <a:off x="402336" y="1188720"/>
            <a:ext cx="2148840" cy="5349240"/>
          </a:xfrm>
          <a:prstGeom prst="roundRect">
            <a:avLst>
              <a:gd name="adj" fmla="val 9362"/>
            </a:avLst>
          </a:prstGeom>
          <a:solidFill>
            <a:srgbClr val="0D1B1F"/>
          </a:solidFill>
          <a:ln w="25400">
            <a:solidFill>
              <a:srgbClr val="1CB8B2"/>
            </a:solidFill>
            <a:prstDash val="solid"/>
          </a:ln>
        </p:spPr>
      </p:sp>
      <p:sp>
        <p:nvSpPr>
          <p:cNvPr id="105" name="Shape 3"/>
          <p:cNvSpPr/>
          <p:nvPr/>
        </p:nvSpPr>
        <p:spPr>
          <a:xfrm>
            <a:off x="585216" y="1371600"/>
            <a:ext cx="365760" cy="36576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06" name="Text 4"/>
          <p:cNvSpPr txBox="1"/>
          <p:nvPr/>
        </p:nvSpPr>
        <p:spPr>
          <a:xfrm>
            <a:off x="585216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07" name="Text 5"/>
          <p:cNvSpPr txBox="1"/>
          <p:nvPr/>
        </p:nvSpPr>
        <p:spPr>
          <a:xfrm>
            <a:off x="1042416" y="1371600"/>
            <a:ext cx="14630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500" dirty="0"/>
          </a:p>
        </p:txBody>
      </p:sp>
      <p:sp>
        <p:nvSpPr>
          <p:cNvPr id="108" name="Shape 6"/>
          <p:cNvSpPr/>
          <p:nvPr/>
        </p:nvSpPr>
        <p:spPr>
          <a:xfrm>
            <a:off x="2679192" y="3634740"/>
            <a:ext cx="246888" cy="457200"/>
          </a:xfrm>
          <a:prstGeom prst="chevron">
            <a:avLst/>
          </a:prstGeom>
          <a:solidFill>
            <a:srgbClr val="1CB8B2"/>
          </a:solidFill>
          <a:ln/>
        </p:spPr>
      </p:sp>
      <p:sp>
        <p:nvSpPr>
          <p:cNvPr id="109" name="Shape 7"/>
          <p:cNvSpPr/>
          <p:nvPr/>
        </p:nvSpPr>
        <p:spPr>
          <a:xfrm>
            <a:off x="3054096" y="1188720"/>
            <a:ext cx="2697480" cy="5349240"/>
          </a:xfrm>
          <a:prstGeom prst="roundRect">
            <a:avLst>
              <a:gd name="adj" fmla="val 7458"/>
            </a:avLst>
          </a:prstGeom>
          <a:solidFill>
            <a:srgbClr val="0D1B1F"/>
          </a:solidFill>
          <a:ln w="25400">
            <a:solidFill>
              <a:srgbClr val="1CB8B2"/>
            </a:solidFill>
            <a:prstDash val="solid"/>
          </a:ln>
        </p:spPr>
      </p:sp>
      <p:sp>
        <p:nvSpPr>
          <p:cNvPr id="110" name="Shape 8"/>
          <p:cNvSpPr/>
          <p:nvPr/>
        </p:nvSpPr>
        <p:spPr>
          <a:xfrm>
            <a:off x="3236976" y="1371600"/>
            <a:ext cx="365760" cy="36576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11" name="Text 9"/>
          <p:cNvSpPr txBox="1"/>
          <p:nvPr/>
        </p:nvSpPr>
        <p:spPr>
          <a:xfrm>
            <a:off x="3236976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12" name="Text 10"/>
          <p:cNvSpPr txBox="1"/>
          <p:nvPr/>
        </p:nvSpPr>
        <p:spPr>
          <a:xfrm>
            <a:off x="3694176" y="1371600"/>
            <a:ext cx="20116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SENSE</a:t>
            </a:r>
            <a:endParaRPr lang="en-US" sz="1500" dirty="0"/>
          </a:p>
        </p:txBody>
      </p:sp>
      <p:sp>
        <p:nvSpPr>
          <p:cNvPr id="113" name="Shape 11"/>
          <p:cNvSpPr/>
          <p:nvPr/>
        </p:nvSpPr>
        <p:spPr>
          <a:xfrm>
            <a:off x="5879592" y="3634740"/>
            <a:ext cx="246888" cy="457200"/>
          </a:xfrm>
          <a:prstGeom prst="chevron">
            <a:avLst/>
          </a:prstGeom>
          <a:solidFill>
            <a:srgbClr val="1CB8B2"/>
          </a:solidFill>
          <a:ln/>
        </p:spPr>
      </p:sp>
      <p:sp>
        <p:nvSpPr>
          <p:cNvPr id="114" name="Shape 12"/>
          <p:cNvSpPr/>
          <p:nvPr/>
        </p:nvSpPr>
        <p:spPr>
          <a:xfrm>
            <a:off x="6254496" y="1188720"/>
            <a:ext cx="2697480" cy="5349240"/>
          </a:xfrm>
          <a:prstGeom prst="roundRect">
            <a:avLst>
              <a:gd name="adj" fmla="val 7458"/>
            </a:avLst>
          </a:prstGeom>
          <a:solidFill>
            <a:srgbClr val="0B2A2D"/>
          </a:solidFill>
          <a:ln w="25400">
            <a:solidFill>
              <a:srgbClr val="1CB8B2"/>
            </a:solidFill>
            <a:prstDash val="solid"/>
          </a:ln>
        </p:spPr>
      </p:sp>
      <p:sp>
        <p:nvSpPr>
          <p:cNvPr id="115" name="Shape 13"/>
          <p:cNvSpPr/>
          <p:nvPr/>
        </p:nvSpPr>
        <p:spPr>
          <a:xfrm>
            <a:off x="6437376" y="1371600"/>
            <a:ext cx="365760" cy="36576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16" name="Text 14"/>
          <p:cNvSpPr txBox="1"/>
          <p:nvPr/>
        </p:nvSpPr>
        <p:spPr>
          <a:xfrm>
            <a:off x="6437376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17" name="Text 15"/>
          <p:cNvSpPr txBox="1"/>
          <p:nvPr/>
        </p:nvSpPr>
        <p:spPr>
          <a:xfrm>
            <a:off x="6894576" y="1371600"/>
            <a:ext cx="20116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118" name="Shape 16"/>
          <p:cNvSpPr/>
          <p:nvPr/>
        </p:nvSpPr>
        <p:spPr>
          <a:xfrm>
            <a:off x="9079992" y="3634740"/>
            <a:ext cx="246888" cy="457200"/>
          </a:xfrm>
          <a:prstGeom prst="chevron">
            <a:avLst/>
          </a:prstGeom>
          <a:solidFill>
            <a:srgbClr val="7DBE4B"/>
          </a:solidFill>
          <a:ln/>
        </p:spPr>
      </p:sp>
      <p:sp>
        <p:nvSpPr>
          <p:cNvPr id="119" name="Shape 17"/>
          <p:cNvSpPr/>
          <p:nvPr/>
        </p:nvSpPr>
        <p:spPr>
          <a:xfrm>
            <a:off x="9372600" y="1188720"/>
            <a:ext cx="2414016" cy="5349240"/>
          </a:xfrm>
          <a:prstGeom prst="roundRect">
            <a:avLst>
              <a:gd name="adj" fmla="val 8333"/>
            </a:avLst>
          </a:prstGeom>
          <a:solidFill>
            <a:srgbClr val="0D1B1F"/>
          </a:solidFill>
          <a:ln w="25400">
            <a:solidFill>
              <a:srgbClr val="7DBE4B"/>
            </a:solidFill>
            <a:prstDash val="solid"/>
          </a:ln>
        </p:spPr>
      </p:sp>
      <p:sp>
        <p:nvSpPr>
          <p:cNvPr id="120" name="Shape 18"/>
          <p:cNvSpPr/>
          <p:nvPr/>
        </p:nvSpPr>
        <p:spPr>
          <a:xfrm>
            <a:off x="9555480" y="1371600"/>
            <a:ext cx="365760" cy="365760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121" name="Text 19"/>
          <p:cNvSpPr txBox="1"/>
          <p:nvPr/>
        </p:nvSpPr>
        <p:spPr>
          <a:xfrm>
            <a:off x="95554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22" name="Text 20"/>
          <p:cNvSpPr txBox="1"/>
          <p:nvPr/>
        </p:nvSpPr>
        <p:spPr>
          <a:xfrm>
            <a:off x="10012680" y="1371600"/>
            <a:ext cx="1728216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MAP</a:t>
            </a:r>
            <a:endParaRPr lang="en-US" sz="1500" dirty="0"/>
          </a:p>
        </p:txBody>
      </p:sp>
      <p:sp>
        <p:nvSpPr>
          <p:cNvPr id="123" name="Shape 21"/>
          <p:cNvSpPr/>
          <p:nvPr/>
        </p:nvSpPr>
        <p:spPr>
          <a:xfrm>
            <a:off x="676656" y="2148840"/>
            <a:ext cx="713232" cy="1280160"/>
          </a:xfrm>
          <a:custGeom>
            <a:avLst/>
            <a:gdLst/>
            <a:ahLst/>
            <a:cxnLst/>
            <a:rect l="l" t="t" r="r" b="b"/>
            <a:pathLst>
              <a:path w="713232" h="1280160">
                <a:moveTo>
                  <a:pt x="356616" y="0"/>
                </a:moveTo>
                <a:cubicBezTo>
                  <a:pt x="748894" y="192024"/>
                  <a:pt x="713232" y="793699"/>
                  <a:pt x="356616" y="1280160"/>
                </a:cubicBezTo>
                <a:cubicBezTo>
                  <a:pt x="0" y="793699"/>
                  <a:pt x="-35662" y="192024"/>
                  <a:pt x="356616" y="0"/>
                </a:cubicBezTo>
                <a:close/>
              </a:path>
            </a:pathLst>
          </a:custGeom>
          <a:solidFill>
            <a:srgbClr val="5FA83A"/>
          </a:solidFill>
          <a:ln/>
        </p:spPr>
      </p:sp>
      <p:sp>
        <p:nvSpPr>
          <p:cNvPr id="124" name="Shape 22"/>
          <p:cNvSpPr/>
          <p:nvPr/>
        </p:nvSpPr>
        <p:spPr>
          <a:xfrm>
            <a:off x="1033272" y="2203704"/>
            <a:ext cx="914" cy="1170432"/>
          </a:xfrm>
          <a:prstGeom prst="line">
            <a:avLst/>
          </a:prstGeom>
          <a:noFill/>
          <a:ln w="19050">
            <a:solidFill>
              <a:srgbClr val="3D7A22"/>
            </a:solidFill>
            <a:prstDash val="solid"/>
          </a:ln>
        </p:spPr>
      </p:sp>
      <p:sp>
        <p:nvSpPr>
          <p:cNvPr id="125" name="Shape 23"/>
          <p:cNvSpPr/>
          <p:nvPr/>
        </p:nvSpPr>
        <p:spPr>
          <a:xfrm>
            <a:off x="841248" y="2404872"/>
            <a:ext cx="192024" cy="128016"/>
          </a:xfrm>
          <a:prstGeom prst="line">
            <a:avLst/>
          </a:prstGeom>
          <a:noFill/>
          <a:ln w="12700">
            <a:solidFill>
              <a:srgbClr val="3D7A22"/>
            </a:solidFill>
            <a:prstDash val="solid"/>
          </a:ln>
        </p:spPr>
      </p:sp>
      <p:sp>
        <p:nvSpPr>
          <p:cNvPr id="126" name="Shape 24"/>
          <p:cNvSpPr/>
          <p:nvPr/>
        </p:nvSpPr>
        <p:spPr>
          <a:xfrm>
            <a:off x="795528" y="2715768"/>
            <a:ext cx="237744" cy="91440"/>
          </a:xfrm>
          <a:prstGeom prst="line">
            <a:avLst/>
          </a:prstGeom>
          <a:noFill/>
          <a:ln w="12700">
            <a:solidFill>
              <a:srgbClr val="3D7A22"/>
            </a:solidFill>
            <a:prstDash val="solid"/>
          </a:ln>
        </p:spPr>
      </p:sp>
      <p:sp>
        <p:nvSpPr>
          <p:cNvPr id="127" name="Shape 25"/>
          <p:cNvSpPr/>
          <p:nvPr/>
        </p:nvSpPr>
        <p:spPr>
          <a:xfrm flipV="1">
            <a:off x="1033272" y="2404872"/>
            <a:ext cx="192024" cy="128016"/>
          </a:xfrm>
          <a:prstGeom prst="line">
            <a:avLst/>
          </a:prstGeom>
          <a:noFill/>
          <a:ln w="12700">
            <a:solidFill>
              <a:srgbClr val="3D7A22"/>
            </a:solidFill>
            <a:prstDash val="solid"/>
          </a:ln>
        </p:spPr>
      </p:sp>
      <p:sp>
        <p:nvSpPr>
          <p:cNvPr id="128" name="Shape 26"/>
          <p:cNvSpPr/>
          <p:nvPr/>
        </p:nvSpPr>
        <p:spPr>
          <a:xfrm flipV="1">
            <a:off x="1033272" y="2715768"/>
            <a:ext cx="237744" cy="91440"/>
          </a:xfrm>
          <a:prstGeom prst="line">
            <a:avLst/>
          </a:prstGeom>
          <a:noFill/>
          <a:ln w="12700">
            <a:solidFill>
              <a:srgbClr val="3D7A22"/>
            </a:solidFill>
            <a:prstDash val="solid"/>
          </a:ln>
        </p:spPr>
      </p:sp>
      <p:sp>
        <p:nvSpPr>
          <p:cNvPr id="129" name="Shape 27"/>
          <p:cNvSpPr/>
          <p:nvPr/>
        </p:nvSpPr>
        <p:spPr>
          <a:xfrm>
            <a:off x="822960" y="2651760"/>
            <a:ext cx="128016" cy="128016"/>
          </a:xfrm>
          <a:prstGeom prst="ellipse">
            <a:avLst/>
          </a:prstGeom>
          <a:solidFill>
            <a:srgbClr val="C9D35A"/>
          </a:solidFill>
          <a:ln/>
        </p:spPr>
      </p:sp>
      <p:sp>
        <p:nvSpPr>
          <p:cNvPr id="130" name="Shape 28"/>
          <p:cNvSpPr/>
          <p:nvPr/>
        </p:nvSpPr>
        <p:spPr>
          <a:xfrm>
            <a:off x="1106424" y="2926080"/>
            <a:ext cx="100584" cy="100584"/>
          </a:xfrm>
          <a:prstGeom prst="ellipse">
            <a:avLst/>
          </a:prstGeom>
          <a:solidFill>
            <a:srgbClr val="C9D35A"/>
          </a:solidFill>
          <a:ln/>
        </p:spPr>
      </p:sp>
      <p:sp>
        <p:nvSpPr>
          <p:cNvPr id="131" name="Shape 29"/>
          <p:cNvSpPr/>
          <p:nvPr/>
        </p:nvSpPr>
        <p:spPr>
          <a:xfrm>
            <a:off x="1563624" y="2148840"/>
            <a:ext cx="713232" cy="1280160"/>
          </a:xfrm>
          <a:custGeom>
            <a:avLst/>
            <a:gdLst/>
            <a:ahLst/>
            <a:cxnLst/>
            <a:rect l="l" t="t" r="r" b="b"/>
            <a:pathLst>
              <a:path w="713232" h="1280160">
                <a:moveTo>
                  <a:pt x="356616" y="0"/>
                </a:moveTo>
                <a:cubicBezTo>
                  <a:pt x="748894" y="192024"/>
                  <a:pt x="713232" y="793699"/>
                  <a:pt x="356616" y="1280160"/>
                </a:cubicBezTo>
                <a:cubicBezTo>
                  <a:pt x="0" y="793699"/>
                  <a:pt x="-35662" y="192024"/>
                  <a:pt x="356616" y="0"/>
                </a:cubicBezTo>
                <a:close/>
              </a:path>
            </a:pathLst>
          </a:custGeom>
          <a:solidFill>
            <a:srgbClr val="8FBF6A"/>
          </a:solidFill>
          <a:ln/>
        </p:spPr>
      </p:sp>
      <p:sp>
        <p:nvSpPr>
          <p:cNvPr id="132" name="Shape 30"/>
          <p:cNvSpPr/>
          <p:nvPr/>
        </p:nvSpPr>
        <p:spPr>
          <a:xfrm>
            <a:off x="1920240" y="2203704"/>
            <a:ext cx="914" cy="1170432"/>
          </a:xfrm>
          <a:prstGeom prst="line">
            <a:avLst/>
          </a:prstGeom>
          <a:noFill/>
          <a:ln w="19050">
            <a:solidFill>
              <a:srgbClr val="6E9C4C"/>
            </a:solidFill>
            <a:prstDash val="solid"/>
          </a:ln>
        </p:spPr>
      </p:sp>
      <p:sp>
        <p:nvSpPr>
          <p:cNvPr id="133" name="Shape 31"/>
          <p:cNvSpPr/>
          <p:nvPr/>
        </p:nvSpPr>
        <p:spPr>
          <a:xfrm>
            <a:off x="1719072" y="251460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4" name="Shape 32"/>
          <p:cNvSpPr/>
          <p:nvPr/>
        </p:nvSpPr>
        <p:spPr>
          <a:xfrm>
            <a:off x="1792224" y="2606040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Shape 33"/>
          <p:cNvSpPr/>
          <p:nvPr/>
        </p:nvSpPr>
        <p:spPr>
          <a:xfrm>
            <a:off x="1709928" y="271576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6" name="Shape 34"/>
          <p:cNvSpPr/>
          <p:nvPr/>
        </p:nvSpPr>
        <p:spPr>
          <a:xfrm>
            <a:off x="2020824" y="2478024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7" name="Shape 35"/>
          <p:cNvSpPr/>
          <p:nvPr/>
        </p:nvSpPr>
        <p:spPr>
          <a:xfrm>
            <a:off x="1993392" y="260604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8" name="Shape 36"/>
          <p:cNvSpPr/>
          <p:nvPr/>
        </p:nvSpPr>
        <p:spPr>
          <a:xfrm>
            <a:off x="2066544" y="273405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Shape 37"/>
          <p:cNvSpPr/>
          <p:nvPr/>
        </p:nvSpPr>
        <p:spPr>
          <a:xfrm>
            <a:off x="1764792" y="289864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0" name="Shape 38"/>
          <p:cNvSpPr/>
          <p:nvPr/>
        </p:nvSpPr>
        <p:spPr>
          <a:xfrm>
            <a:off x="2002536" y="291693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1" name="Shape 39"/>
          <p:cNvSpPr/>
          <p:nvPr/>
        </p:nvSpPr>
        <p:spPr>
          <a:xfrm>
            <a:off x="1892808" y="306324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2" name="Shape 40"/>
          <p:cNvSpPr/>
          <p:nvPr/>
        </p:nvSpPr>
        <p:spPr>
          <a:xfrm>
            <a:off x="1837944" y="2395728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3" name="Shape 41"/>
          <p:cNvSpPr/>
          <p:nvPr/>
        </p:nvSpPr>
        <p:spPr>
          <a:xfrm>
            <a:off x="1929384" y="278892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4" name="Text 42"/>
          <p:cNvSpPr txBox="1"/>
          <p:nvPr/>
        </p:nvSpPr>
        <p:spPr>
          <a:xfrm>
            <a:off x="585216" y="3493008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</a:t>
            </a:r>
            <a:endParaRPr lang="en-US" sz="1000" dirty="0"/>
          </a:p>
        </p:txBody>
      </p:sp>
      <p:sp>
        <p:nvSpPr>
          <p:cNvPr id="145" name="Text 43"/>
          <p:cNvSpPr txBox="1"/>
          <p:nvPr/>
        </p:nvSpPr>
        <p:spPr>
          <a:xfrm>
            <a:off x="1426464" y="349300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Underside</a:t>
            </a:r>
            <a:endParaRPr lang="en-US" sz="1000" dirty="0"/>
          </a:p>
        </p:txBody>
      </p:sp>
      <p:sp>
        <p:nvSpPr>
          <p:cNvPr id="146" name="Text 44"/>
          <p:cNvSpPr txBox="1"/>
          <p:nvPr/>
        </p:nvSpPr>
        <p:spPr>
          <a:xfrm>
            <a:off x="539496" y="3794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Pustules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hide under the leaf</a:t>
            </a:r>
            <a:endParaRPr lang="en-US" sz="1300" dirty="0"/>
          </a:p>
        </p:txBody>
      </p:sp>
      <p:sp>
        <p:nvSpPr>
          <p:cNvPr id="147" name="Shape 45"/>
          <p:cNvSpPr/>
          <p:nvPr/>
        </p:nvSpPr>
        <p:spPr>
          <a:xfrm>
            <a:off x="1147572" y="4434840"/>
            <a:ext cx="658368" cy="658368"/>
          </a:xfrm>
          <a:prstGeom prst="ellipse">
            <a:avLst/>
          </a:prstGeom>
          <a:ln w="44450">
            <a:solidFill>
              <a:srgbClr val="E0A526"/>
            </a:solidFill>
            <a:prstDash val="solid"/>
          </a:ln>
        </p:spPr>
      </p:sp>
      <p:sp>
        <p:nvSpPr>
          <p:cNvPr id="148" name="Shape 46"/>
          <p:cNvSpPr/>
          <p:nvPr/>
        </p:nvSpPr>
        <p:spPr>
          <a:xfrm>
            <a:off x="1476756" y="4590288"/>
            <a:ext cx="914" cy="192024"/>
          </a:xfrm>
          <a:prstGeom prst="line">
            <a:avLst/>
          </a:prstGeom>
          <a:noFill/>
          <a:ln w="44450">
            <a:solidFill>
              <a:srgbClr val="E0A526"/>
            </a:solidFill>
            <a:prstDash val="solid"/>
          </a:ln>
        </p:spPr>
      </p:sp>
      <p:sp>
        <p:nvSpPr>
          <p:cNvPr id="149" name="Shape 47"/>
          <p:cNvSpPr/>
          <p:nvPr/>
        </p:nvSpPr>
        <p:spPr>
          <a:xfrm>
            <a:off x="1476756" y="4782312"/>
            <a:ext cx="137160" cy="82296"/>
          </a:xfrm>
          <a:prstGeom prst="line">
            <a:avLst/>
          </a:prstGeom>
          <a:noFill/>
          <a:ln w="44450">
            <a:solidFill>
              <a:srgbClr val="E0A526"/>
            </a:solidFill>
            <a:prstDash val="solid"/>
          </a:ln>
        </p:spPr>
      </p:sp>
      <p:sp>
        <p:nvSpPr>
          <p:cNvPr id="150" name="Text 48"/>
          <p:cNvSpPr txBox="1"/>
          <p:nvPr/>
        </p:nvSpPr>
        <p:spPr>
          <a:xfrm>
            <a:off x="539496" y="5212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Spotted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late</a:t>
            </a:r>
            <a:pPr algn="ctr" indent="0" marL="0">
              <a:buNone/>
            </a:pPr>
            <a:r>
              <a:rPr lang="en-US" sz="13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to spray</a:t>
            </a:r>
            <a:endParaRPr lang="en-US" sz="1300" dirty="0"/>
          </a:p>
        </p:txBody>
      </p:sp>
      <p:sp>
        <p:nvSpPr>
          <p:cNvPr id="151" name="Shape 49"/>
          <p:cNvSpPr/>
          <p:nvPr/>
        </p:nvSpPr>
        <p:spPr>
          <a:xfrm>
            <a:off x="585216" y="585216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1CB8B2"/>
          </a:solidFill>
          <a:ln/>
        </p:spPr>
      </p:sp>
      <p:sp>
        <p:nvSpPr>
          <p:cNvPr id="152" name="Text 50"/>
          <p:cNvSpPr txBox="1"/>
          <p:nvPr/>
        </p:nvSpPr>
        <p:spPr>
          <a:xfrm>
            <a:off x="585216" y="5852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&amp; when to spray?</a:t>
            </a:r>
            <a:endParaRPr lang="en-US" sz="1200" dirty="0"/>
          </a:p>
        </p:txBody>
      </p:sp>
      <p:sp>
        <p:nvSpPr>
          <p:cNvPr id="153" name="Shape 51"/>
          <p:cNvSpPr/>
          <p:nvPr/>
        </p:nvSpPr>
        <p:spPr>
          <a:xfrm>
            <a:off x="3305556" y="2487168"/>
            <a:ext cx="2194560" cy="822960"/>
          </a:xfrm>
          <a:prstGeom prst="triangle">
            <a:avLst/>
          </a:prstGeom>
          <a:solidFill>
            <a:srgbClr val="1CB8B2">
              <a:alpha val="28000"/>
            </a:srgbClr>
          </a:solidFill>
          <a:ln/>
        </p:spPr>
      </p:sp>
      <p:sp>
        <p:nvSpPr>
          <p:cNvPr id="154" name="Shape 52"/>
          <p:cNvSpPr/>
          <p:nvPr/>
        </p:nvSpPr>
        <p:spPr>
          <a:xfrm>
            <a:off x="3506724" y="1947672"/>
            <a:ext cx="548640" cy="73152"/>
          </a:xfrm>
          <a:prstGeom prst="ellipse">
            <a:avLst/>
          </a:prstGeom>
          <a:solidFill>
            <a:srgbClr val="9FB3B6">
              <a:alpha val="50000"/>
            </a:srgbClr>
          </a:solidFill>
          <a:ln/>
        </p:spPr>
      </p:sp>
      <p:sp>
        <p:nvSpPr>
          <p:cNvPr id="155" name="Shape 53"/>
          <p:cNvSpPr/>
          <p:nvPr/>
        </p:nvSpPr>
        <p:spPr>
          <a:xfrm>
            <a:off x="4750308" y="1947672"/>
            <a:ext cx="548640" cy="73152"/>
          </a:xfrm>
          <a:prstGeom prst="ellipse">
            <a:avLst/>
          </a:prstGeom>
          <a:solidFill>
            <a:srgbClr val="9FB3B6">
              <a:alpha val="50000"/>
            </a:srgbClr>
          </a:solidFill>
          <a:ln/>
        </p:spPr>
      </p:sp>
      <p:sp>
        <p:nvSpPr>
          <p:cNvPr id="156" name="Shape 54"/>
          <p:cNvSpPr/>
          <p:nvPr/>
        </p:nvSpPr>
        <p:spPr>
          <a:xfrm>
            <a:off x="3140964" y="2057400"/>
            <a:ext cx="731520" cy="100584"/>
          </a:xfrm>
          <a:prstGeom prst="ellipse">
            <a:avLst/>
          </a:prstGeom>
          <a:solidFill>
            <a:srgbClr val="9FB3B6">
              <a:alpha val="70000"/>
            </a:srgbClr>
          </a:solidFill>
          <a:ln/>
        </p:spPr>
      </p:sp>
      <p:sp>
        <p:nvSpPr>
          <p:cNvPr id="157" name="Shape 55"/>
          <p:cNvSpPr/>
          <p:nvPr/>
        </p:nvSpPr>
        <p:spPr>
          <a:xfrm>
            <a:off x="4933188" y="2057400"/>
            <a:ext cx="731520" cy="100584"/>
          </a:xfrm>
          <a:prstGeom prst="ellipse">
            <a:avLst/>
          </a:prstGeom>
          <a:solidFill>
            <a:srgbClr val="9FB3B6">
              <a:alpha val="70000"/>
            </a:srgbClr>
          </a:solidFill>
          <a:ln/>
        </p:spPr>
      </p:sp>
      <p:sp>
        <p:nvSpPr>
          <p:cNvPr id="158" name="Shape 56"/>
          <p:cNvSpPr/>
          <p:nvPr/>
        </p:nvSpPr>
        <p:spPr>
          <a:xfrm>
            <a:off x="3762756" y="1993392"/>
            <a:ext cx="36576" cy="146304"/>
          </a:xfrm>
          <a:prstGeom prst="rect">
            <a:avLst/>
          </a:prstGeom>
          <a:solidFill>
            <a:srgbClr val="C3D0D2"/>
          </a:solidFill>
          <a:ln/>
        </p:spPr>
      </p:sp>
      <p:sp>
        <p:nvSpPr>
          <p:cNvPr id="159" name="Shape 57"/>
          <p:cNvSpPr/>
          <p:nvPr/>
        </p:nvSpPr>
        <p:spPr>
          <a:xfrm>
            <a:off x="5006340" y="1993392"/>
            <a:ext cx="36576" cy="146304"/>
          </a:xfrm>
          <a:prstGeom prst="rect">
            <a:avLst/>
          </a:prstGeom>
          <a:solidFill>
            <a:srgbClr val="C3D0D2"/>
          </a:solidFill>
          <a:ln/>
        </p:spPr>
      </p:sp>
      <p:sp>
        <p:nvSpPr>
          <p:cNvPr id="160" name="Shape 58"/>
          <p:cNvSpPr/>
          <p:nvPr/>
        </p:nvSpPr>
        <p:spPr>
          <a:xfrm>
            <a:off x="3488436" y="2103120"/>
            <a:ext cx="45720" cy="128016"/>
          </a:xfrm>
          <a:prstGeom prst="rect">
            <a:avLst/>
          </a:prstGeom>
          <a:solidFill>
            <a:srgbClr val="E0E8E9"/>
          </a:solidFill>
          <a:ln/>
        </p:spPr>
      </p:sp>
      <p:sp>
        <p:nvSpPr>
          <p:cNvPr id="161" name="Shape 59"/>
          <p:cNvSpPr/>
          <p:nvPr/>
        </p:nvSpPr>
        <p:spPr>
          <a:xfrm>
            <a:off x="5271516" y="2103120"/>
            <a:ext cx="45720" cy="128016"/>
          </a:xfrm>
          <a:prstGeom prst="rect">
            <a:avLst/>
          </a:prstGeom>
          <a:solidFill>
            <a:srgbClr val="E0E8E9"/>
          </a:solidFill>
          <a:ln/>
        </p:spPr>
      </p:sp>
      <p:sp>
        <p:nvSpPr>
          <p:cNvPr id="162" name="Shape 60"/>
          <p:cNvSpPr/>
          <p:nvPr/>
        </p:nvSpPr>
        <p:spPr>
          <a:xfrm>
            <a:off x="3506724" y="2221992"/>
            <a:ext cx="621792" cy="100584"/>
          </a:xfrm>
          <a:prstGeom prst="line">
            <a:avLst/>
          </a:prstGeom>
          <a:noFill/>
          <a:ln w="63500">
            <a:solidFill>
              <a:srgbClr val="E0E8E9"/>
            </a:solidFill>
            <a:prstDash val="solid"/>
          </a:ln>
        </p:spPr>
      </p:sp>
      <p:sp>
        <p:nvSpPr>
          <p:cNvPr id="163" name="Shape 61"/>
          <p:cNvSpPr/>
          <p:nvPr/>
        </p:nvSpPr>
        <p:spPr>
          <a:xfrm flipV="1">
            <a:off x="4677156" y="2221992"/>
            <a:ext cx="621792" cy="100584"/>
          </a:xfrm>
          <a:prstGeom prst="line">
            <a:avLst/>
          </a:prstGeom>
          <a:noFill/>
          <a:ln w="63500">
            <a:solidFill>
              <a:srgbClr val="E0E8E9"/>
            </a:solidFill>
            <a:prstDash val="solid"/>
          </a:ln>
        </p:spPr>
      </p:sp>
      <p:sp>
        <p:nvSpPr>
          <p:cNvPr id="164" name="Shape 62"/>
          <p:cNvSpPr/>
          <p:nvPr/>
        </p:nvSpPr>
        <p:spPr>
          <a:xfrm>
            <a:off x="3781044" y="2139696"/>
            <a:ext cx="365760" cy="146304"/>
          </a:xfrm>
          <a:prstGeom prst="line">
            <a:avLst/>
          </a:prstGeom>
          <a:noFill/>
          <a:ln w="50800">
            <a:solidFill>
              <a:srgbClr val="E0E8E9"/>
            </a:solidFill>
            <a:prstDash val="solid"/>
          </a:ln>
        </p:spPr>
      </p:sp>
      <p:sp>
        <p:nvSpPr>
          <p:cNvPr id="165" name="Shape 63"/>
          <p:cNvSpPr/>
          <p:nvPr/>
        </p:nvSpPr>
        <p:spPr>
          <a:xfrm flipV="1">
            <a:off x="4658868" y="2139696"/>
            <a:ext cx="365760" cy="146304"/>
          </a:xfrm>
          <a:prstGeom prst="line">
            <a:avLst/>
          </a:prstGeom>
          <a:noFill/>
          <a:ln w="50800">
            <a:solidFill>
              <a:srgbClr val="E0E8E9"/>
            </a:solidFill>
            <a:prstDash val="solid"/>
          </a:ln>
        </p:spPr>
      </p:sp>
      <p:sp>
        <p:nvSpPr>
          <p:cNvPr id="166" name="Shape 64"/>
          <p:cNvSpPr/>
          <p:nvPr/>
        </p:nvSpPr>
        <p:spPr>
          <a:xfrm>
            <a:off x="4037076" y="2212848"/>
            <a:ext cx="731520" cy="246888"/>
          </a:xfrm>
          <a:prstGeom prst="roundRect">
            <a:avLst>
              <a:gd name="adj" fmla="val 37037"/>
            </a:avLst>
          </a:prstGeom>
          <a:solidFill>
            <a:srgbClr val="E0E8E9"/>
          </a:solidFill>
          <a:ln/>
        </p:spPr>
      </p:sp>
      <p:sp>
        <p:nvSpPr>
          <p:cNvPr id="167" name="Shape 65"/>
          <p:cNvSpPr/>
          <p:nvPr/>
        </p:nvSpPr>
        <p:spPr>
          <a:xfrm>
            <a:off x="4165092" y="2267712"/>
            <a:ext cx="475488" cy="54864"/>
          </a:xfrm>
          <a:prstGeom prst="roundRect">
            <a:avLst>
              <a:gd name="adj" fmla="val 50000"/>
            </a:avLst>
          </a:prstGeom>
          <a:solidFill>
            <a:srgbClr val="1CB8B2"/>
          </a:solidFill>
          <a:ln/>
        </p:spPr>
      </p:sp>
      <p:sp>
        <p:nvSpPr>
          <p:cNvPr id="168" name="Shape 66"/>
          <p:cNvSpPr/>
          <p:nvPr/>
        </p:nvSpPr>
        <p:spPr>
          <a:xfrm flipV="1">
            <a:off x="4018788" y="2450592"/>
            <a:ext cx="109728" cy="182880"/>
          </a:xfrm>
          <a:prstGeom prst="line">
            <a:avLst/>
          </a:prstGeom>
          <a:noFill/>
          <a:ln w="38100">
            <a:solidFill>
              <a:srgbClr val="9FB3B6"/>
            </a:solidFill>
            <a:prstDash val="solid"/>
          </a:ln>
        </p:spPr>
      </p:sp>
      <p:sp>
        <p:nvSpPr>
          <p:cNvPr id="169" name="Shape 67"/>
          <p:cNvSpPr/>
          <p:nvPr/>
        </p:nvSpPr>
        <p:spPr>
          <a:xfrm>
            <a:off x="4677156" y="2450592"/>
            <a:ext cx="109728" cy="182880"/>
          </a:xfrm>
          <a:prstGeom prst="line">
            <a:avLst/>
          </a:prstGeom>
          <a:noFill/>
          <a:ln w="38100">
            <a:solidFill>
              <a:srgbClr val="9FB3B6"/>
            </a:solidFill>
            <a:prstDash val="solid"/>
          </a:ln>
        </p:spPr>
      </p:sp>
      <p:sp>
        <p:nvSpPr>
          <p:cNvPr id="170" name="Shape 68"/>
          <p:cNvSpPr/>
          <p:nvPr/>
        </p:nvSpPr>
        <p:spPr>
          <a:xfrm>
            <a:off x="4265676" y="2450592"/>
            <a:ext cx="274320" cy="128016"/>
          </a:xfrm>
          <a:prstGeom prst="roundRect">
            <a:avLst>
              <a:gd name="adj" fmla="val 35714"/>
            </a:avLst>
          </a:prstGeom>
          <a:solidFill>
            <a:srgbClr val="9FB3B6"/>
          </a:solidFill>
          <a:ln/>
        </p:spPr>
      </p:sp>
      <p:sp>
        <p:nvSpPr>
          <p:cNvPr id="171" name="Shape 69"/>
          <p:cNvSpPr/>
          <p:nvPr/>
        </p:nvSpPr>
        <p:spPr>
          <a:xfrm>
            <a:off x="4347972" y="2505456"/>
            <a:ext cx="109728" cy="109728"/>
          </a:xfrm>
          <a:prstGeom prst="ellipse">
            <a:avLst/>
          </a:prstGeom>
          <a:solidFill>
            <a:srgbClr val="0D1B1F"/>
          </a:solidFill>
          <a:ln w="25400">
            <a:solidFill>
              <a:srgbClr val="1CB8B2"/>
            </a:solidFill>
            <a:prstDash val="solid"/>
          </a:ln>
        </p:spPr>
      </p:sp>
      <p:sp>
        <p:nvSpPr>
          <p:cNvPr id="172" name="Shape 70"/>
          <p:cNvSpPr/>
          <p:nvPr/>
        </p:nvSpPr>
        <p:spPr>
          <a:xfrm>
            <a:off x="3159252" y="3401568"/>
            <a:ext cx="1188720" cy="987552"/>
          </a:xfrm>
          <a:prstGeom prst="roundRect">
            <a:avLst>
              <a:gd name="adj" fmla="val 7407"/>
            </a:avLst>
          </a:prstGeom>
          <a:solidFill>
            <a:srgbClr val="16303A"/>
          </a:solidFill>
          <a:ln/>
        </p:spPr>
      </p:sp>
      <p:sp>
        <p:nvSpPr>
          <p:cNvPr id="173" name="Text 71"/>
          <p:cNvSpPr txBox="1"/>
          <p:nvPr/>
        </p:nvSpPr>
        <p:spPr>
          <a:xfrm>
            <a:off x="3159252" y="4096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</a:t>
            </a:r>
            <a:endParaRPr lang="en-US" sz="1100" dirty="0"/>
          </a:p>
        </p:txBody>
      </p:sp>
      <p:sp>
        <p:nvSpPr>
          <p:cNvPr id="174" name="Shape 72"/>
          <p:cNvSpPr/>
          <p:nvPr/>
        </p:nvSpPr>
        <p:spPr>
          <a:xfrm>
            <a:off x="3488436" y="3474720"/>
            <a:ext cx="384048" cy="384048"/>
          </a:xfrm>
          <a:prstGeom prst="ellipse">
            <a:avLst/>
          </a:prstGeom>
          <a:solidFill>
            <a:srgbClr val="E5484D">
              <a:alpha val="75000"/>
            </a:srgbClr>
          </a:solidFill>
          <a:ln/>
        </p:spPr>
      </p:sp>
      <p:sp>
        <p:nvSpPr>
          <p:cNvPr id="175" name="Shape 73"/>
          <p:cNvSpPr/>
          <p:nvPr/>
        </p:nvSpPr>
        <p:spPr>
          <a:xfrm>
            <a:off x="3671316" y="3474720"/>
            <a:ext cx="384048" cy="384048"/>
          </a:xfrm>
          <a:prstGeom prst="ellipse">
            <a:avLst/>
          </a:prstGeom>
          <a:solidFill>
            <a:srgbClr val="3FB950">
              <a:alpha val="75000"/>
            </a:srgbClr>
          </a:solidFill>
          <a:ln/>
        </p:spPr>
      </p:sp>
      <p:sp>
        <p:nvSpPr>
          <p:cNvPr id="176" name="Shape 74"/>
          <p:cNvSpPr/>
          <p:nvPr/>
        </p:nvSpPr>
        <p:spPr>
          <a:xfrm>
            <a:off x="3579876" y="3657600"/>
            <a:ext cx="384048" cy="384048"/>
          </a:xfrm>
          <a:prstGeom prst="ellipse">
            <a:avLst/>
          </a:prstGeom>
          <a:solidFill>
            <a:srgbClr val="3B82F6">
              <a:alpha val="75000"/>
            </a:srgbClr>
          </a:solidFill>
          <a:ln/>
        </p:spPr>
      </p:sp>
      <p:sp>
        <p:nvSpPr>
          <p:cNvPr id="177" name="Shape 75"/>
          <p:cNvSpPr/>
          <p:nvPr/>
        </p:nvSpPr>
        <p:spPr>
          <a:xfrm>
            <a:off x="4457700" y="3401568"/>
            <a:ext cx="1188720" cy="987552"/>
          </a:xfrm>
          <a:prstGeom prst="roundRect">
            <a:avLst>
              <a:gd name="adj" fmla="val 7407"/>
            </a:avLst>
          </a:prstGeom>
          <a:solidFill>
            <a:srgbClr val="16303A"/>
          </a:solidFill>
          <a:ln/>
        </p:spPr>
      </p:sp>
      <p:sp>
        <p:nvSpPr>
          <p:cNvPr id="178" name="Text 76"/>
          <p:cNvSpPr txBox="1"/>
          <p:nvPr/>
        </p:nvSpPr>
        <p:spPr>
          <a:xfrm>
            <a:off x="4457700" y="4096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Multispectral</a:t>
            </a:r>
            <a:endParaRPr lang="en-US" sz="1100" dirty="0"/>
          </a:p>
        </p:txBody>
      </p:sp>
      <p:sp>
        <p:nvSpPr>
          <p:cNvPr id="179" name="Shape 77"/>
          <p:cNvSpPr/>
          <p:nvPr/>
        </p:nvSpPr>
        <p:spPr>
          <a:xfrm>
            <a:off x="4658868" y="3877056"/>
            <a:ext cx="11887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0" name="Shape 78"/>
          <p:cNvSpPr/>
          <p:nvPr/>
        </p:nvSpPr>
        <p:spPr>
          <a:xfrm>
            <a:off x="4823460" y="3785616"/>
            <a:ext cx="118872" cy="2743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1" name="Shape 79"/>
          <p:cNvSpPr/>
          <p:nvPr/>
        </p:nvSpPr>
        <p:spPr>
          <a:xfrm>
            <a:off x="4988052" y="3904488"/>
            <a:ext cx="118872" cy="155448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82" name="Shape 80"/>
          <p:cNvSpPr/>
          <p:nvPr/>
        </p:nvSpPr>
        <p:spPr>
          <a:xfrm>
            <a:off x="5152644" y="3648456"/>
            <a:ext cx="118872" cy="41148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83" name="Shape 81"/>
          <p:cNvSpPr/>
          <p:nvPr/>
        </p:nvSpPr>
        <p:spPr>
          <a:xfrm>
            <a:off x="5317236" y="3511296"/>
            <a:ext cx="118872" cy="548640"/>
          </a:xfrm>
          <a:prstGeom prst="rect">
            <a:avLst/>
          </a:prstGeom>
          <a:solidFill>
            <a:srgbClr val="8E8EA8"/>
          </a:solidFill>
          <a:ln/>
        </p:spPr>
      </p:sp>
      <p:sp>
        <p:nvSpPr>
          <p:cNvPr id="184" name="Shape 82"/>
          <p:cNvSpPr/>
          <p:nvPr/>
        </p:nvSpPr>
        <p:spPr>
          <a:xfrm>
            <a:off x="3159252" y="4498848"/>
            <a:ext cx="1188720" cy="987552"/>
          </a:xfrm>
          <a:prstGeom prst="roundRect">
            <a:avLst>
              <a:gd name="adj" fmla="val 7407"/>
            </a:avLst>
          </a:prstGeom>
          <a:solidFill>
            <a:srgbClr val="16303A"/>
          </a:solidFill>
          <a:ln/>
        </p:spPr>
      </p:sp>
      <p:sp>
        <p:nvSpPr>
          <p:cNvPr id="185" name="Text 83"/>
          <p:cNvSpPr txBox="1"/>
          <p:nvPr/>
        </p:nvSpPr>
        <p:spPr>
          <a:xfrm>
            <a:off x="3159252" y="5193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Hyperspectral</a:t>
            </a:r>
            <a:endParaRPr lang="en-US" sz="1100" dirty="0"/>
          </a:p>
        </p:txBody>
      </p:sp>
      <p:sp>
        <p:nvSpPr>
          <p:cNvPr id="186" name="Shape 84"/>
          <p:cNvSpPr/>
          <p:nvPr/>
        </p:nvSpPr>
        <p:spPr>
          <a:xfrm>
            <a:off x="3268980" y="4572000"/>
            <a:ext cx="83515" cy="585216"/>
          </a:xfrm>
          <a:prstGeom prst="rect">
            <a:avLst/>
          </a:prstGeom>
          <a:solidFill>
            <a:srgbClr val="6B3FA0">
              <a:alpha val="55000"/>
            </a:srgbClr>
          </a:solidFill>
          <a:ln/>
        </p:spPr>
      </p:sp>
      <p:sp>
        <p:nvSpPr>
          <p:cNvPr id="187" name="Shape 85"/>
          <p:cNvSpPr/>
          <p:nvPr/>
        </p:nvSpPr>
        <p:spPr>
          <a:xfrm>
            <a:off x="3349752" y="4572000"/>
            <a:ext cx="83515" cy="585216"/>
          </a:xfrm>
          <a:prstGeom prst="rect">
            <a:avLst/>
          </a:prstGeom>
          <a:solidFill>
            <a:srgbClr val="4F55C8">
              <a:alpha val="55000"/>
            </a:srgbClr>
          </a:solidFill>
          <a:ln/>
        </p:spPr>
      </p:sp>
      <p:sp>
        <p:nvSpPr>
          <p:cNvPr id="188" name="Shape 86"/>
          <p:cNvSpPr/>
          <p:nvPr/>
        </p:nvSpPr>
        <p:spPr>
          <a:xfrm>
            <a:off x="3430524" y="4572000"/>
            <a:ext cx="83515" cy="585216"/>
          </a:xfrm>
          <a:prstGeom prst="rect">
            <a:avLst/>
          </a:prstGeom>
          <a:solidFill>
            <a:srgbClr val="3B82F6">
              <a:alpha val="55000"/>
            </a:srgbClr>
          </a:solidFill>
          <a:ln/>
        </p:spPr>
      </p:sp>
      <p:sp>
        <p:nvSpPr>
          <p:cNvPr id="189" name="Shape 87"/>
          <p:cNvSpPr/>
          <p:nvPr/>
        </p:nvSpPr>
        <p:spPr>
          <a:xfrm>
            <a:off x="3511296" y="4572000"/>
            <a:ext cx="83515" cy="585216"/>
          </a:xfrm>
          <a:prstGeom prst="rect">
            <a:avLst/>
          </a:prstGeom>
          <a:solidFill>
            <a:srgbClr val="2FA3A0">
              <a:alpha val="55000"/>
            </a:srgbClr>
          </a:solidFill>
          <a:ln/>
        </p:spPr>
      </p:sp>
      <p:sp>
        <p:nvSpPr>
          <p:cNvPr id="190" name="Shape 88"/>
          <p:cNvSpPr/>
          <p:nvPr/>
        </p:nvSpPr>
        <p:spPr>
          <a:xfrm>
            <a:off x="3592068" y="4572000"/>
            <a:ext cx="83515" cy="585216"/>
          </a:xfrm>
          <a:prstGeom prst="rect">
            <a:avLst/>
          </a:prstGeom>
          <a:solidFill>
            <a:srgbClr val="3FB950">
              <a:alpha val="55000"/>
            </a:srgbClr>
          </a:solidFill>
          <a:ln/>
        </p:spPr>
      </p:sp>
      <p:sp>
        <p:nvSpPr>
          <p:cNvPr id="191" name="Shape 89"/>
          <p:cNvSpPr/>
          <p:nvPr/>
        </p:nvSpPr>
        <p:spPr>
          <a:xfrm>
            <a:off x="3672840" y="4572000"/>
            <a:ext cx="83515" cy="585216"/>
          </a:xfrm>
          <a:prstGeom prst="rect">
            <a:avLst/>
          </a:prstGeom>
          <a:solidFill>
            <a:srgbClr val="9BC53D">
              <a:alpha val="55000"/>
            </a:srgbClr>
          </a:solidFill>
          <a:ln/>
        </p:spPr>
      </p:sp>
      <p:sp>
        <p:nvSpPr>
          <p:cNvPr id="192" name="Shape 90"/>
          <p:cNvSpPr/>
          <p:nvPr/>
        </p:nvSpPr>
        <p:spPr>
          <a:xfrm>
            <a:off x="3753612" y="4572000"/>
            <a:ext cx="83515" cy="585216"/>
          </a:xfrm>
          <a:prstGeom prst="rect">
            <a:avLst/>
          </a:prstGeom>
          <a:solidFill>
            <a:srgbClr val="E8D44D">
              <a:alpha val="55000"/>
            </a:srgbClr>
          </a:solidFill>
          <a:ln/>
        </p:spPr>
      </p:sp>
      <p:sp>
        <p:nvSpPr>
          <p:cNvPr id="193" name="Shape 91"/>
          <p:cNvSpPr/>
          <p:nvPr/>
        </p:nvSpPr>
        <p:spPr>
          <a:xfrm>
            <a:off x="3834384" y="4572000"/>
            <a:ext cx="83515" cy="585216"/>
          </a:xfrm>
          <a:prstGeom prst="rect">
            <a:avLst/>
          </a:prstGeom>
          <a:solidFill>
            <a:srgbClr val="F29A38">
              <a:alpha val="55000"/>
            </a:srgbClr>
          </a:solidFill>
          <a:ln/>
        </p:spPr>
      </p:sp>
      <p:sp>
        <p:nvSpPr>
          <p:cNvPr id="194" name="Shape 92"/>
          <p:cNvSpPr/>
          <p:nvPr/>
        </p:nvSpPr>
        <p:spPr>
          <a:xfrm>
            <a:off x="3915156" y="4572000"/>
            <a:ext cx="83515" cy="585216"/>
          </a:xfrm>
          <a:prstGeom prst="rect">
            <a:avLst/>
          </a:prstGeom>
          <a:solidFill>
            <a:srgbClr val="E5484D">
              <a:alpha val="55000"/>
            </a:srgbClr>
          </a:solidFill>
          <a:ln/>
        </p:spPr>
      </p:sp>
      <p:sp>
        <p:nvSpPr>
          <p:cNvPr id="195" name="Shape 93"/>
          <p:cNvSpPr/>
          <p:nvPr/>
        </p:nvSpPr>
        <p:spPr>
          <a:xfrm>
            <a:off x="3995928" y="4572000"/>
            <a:ext cx="83515" cy="585216"/>
          </a:xfrm>
          <a:prstGeom prst="rect">
            <a:avLst/>
          </a:prstGeom>
          <a:solidFill>
            <a:srgbClr val="A33A3A">
              <a:alpha val="55000"/>
            </a:srgbClr>
          </a:solidFill>
          <a:ln/>
        </p:spPr>
      </p:sp>
      <p:sp>
        <p:nvSpPr>
          <p:cNvPr id="196" name="Shape 94"/>
          <p:cNvSpPr/>
          <p:nvPr/>
        </p:nvSpPr>
        <p:spPr>
          <a:xfrm>
            <a:off x="4076700" y="4572000"/>
            <a:ext cx="83515" cy="585216"/>
          </a:xfrm>
          <a:prstGeom prst="rect">
            <a:avLst/>
          </a:prstGeom>
          <a:solidFill>
            <a:srgbClr val="6E2E35">
              <a:alpha val="55000"/>
            </a:srgbClr>
          </a:solidFill>
          <a:ln/>
        </p:spPr>
      </p:sp>
      <p:sp>
        <p:nvSpPr>
          <p:cNvPr id="197" name="Shape 95"/>
          <p:cNvSpPr/>
          <p:nvPr/>
        </p:nvSpPr>
        <p:spPr>
          <a:xfrm>
            <a:off x="4157472" y="4572000"/>
            <a:ext cx="83515" cy="585216"/>
          </a:xfrm>
          <a:prstGeom prst="rect">
            <a:avLst/>
          </a:prstGeom>
          <a:solidFill>
            <a:srgbClr val="3A3A4A">
              <a:alpha val="55000"/>
            </a:srgbClr>
          </a:solidFill>
          <a:ln/>
        </p:spPr>
      </p:sp>
      <p:sp>
        <p:nvSpPr>
          <p:cNvPr id="198" name="Shape 96"/>
          <p:cNvSpPr/>
          <p:nvPr/>
        </p:nvSpPr>
        <p:spPr>
          <a:xfrm>
            <a:off x="3268980" y="4572000"/>
            <a:ext cx="969264" cy="585216"/>
          </a:xfrm>
          <a:custGeom>
            <a:avLst/>
            <a:gdLst/>
            <a:ahLst/>
            <a:cxnLst/>
            <a:rect l="l" t="t" r="r" b="b"/>
            <a:pathLst>
              <a:path w="969264" h="585216">
                <a:moveTo>
                  <a:pt x="0" y="530352"/>
                </a:moveTo>
                <a:lnTo>
                  <a:pt x="109728" y="512064"/>
                </a:lnTo>
                <a:lnTo>
                  <a:pt x="182880" y="420624"/>
                </a:lnTo>
                <a:lnTo>
                  <a:pt x="237744" y="484632"/>
                </a:lnTo>
                <a:lnTo>
                  <a:pt x="292608" y="530352"/>
                </a:lnTo>
                <a:lnTo>
                  <a:pt x="347472" y="512064"/>
                </a:lnTo>
                <a:lnTo>
                  <a:pt x="402336" y="164592"/>
                </a:lnTo>
                <a:lnTo>
                  <a:pt x="475488" y="82296"/>
                </a:lnTo>
                <a:lnTo>
                  <a:pt x="566928" y="73152"/>
                </a:lnTo>
                <a:lnTo>
                  <a:pt x="612648" y="137160"/>
                </a:lnTo>
                <a:lnTo>
                  <a:pt x="649224" y="100584"/>
                </a:lnTo>
                <a:lnTo>
                  <a:pt x="722376" y="228600"/>
                </a:lnTo>
                <a:lnTo>
                  <a:pt x="758952" y="182880"/>
                </a:lnTo>
                <a:lnTo>
                  <a:pt x="969264" y="274320"/>
                </a:lnTo>
              </a:path>
            </a:pathLst>
          </a:custGeom>
          <a:ln w="31750">
            <a:solidFill>
              <a:srgbClr val="FFFFFF"/>
            </a:solidFill>
            <a:prstDash val="solid"/>
          </a:ln>
        </p:spPr>
      </p:sp>
      <p:sp>
        <p:nvSpPr>
          <p:cNvPr id="199" name="Shape 97"/>
          <p:cNvSpPr/>
          <p:nvPr/>
        </p:nvSpPr>
        <p:spPr>
          <a:xfrm>
            <a:off x="4457700" y="4498848"/>
            <a:ext cx="1188720" cy="987552"/>
          </a:xfrm>
          <a:prstGeom prst="roundRect">
            <a:avLst>
              <a:gd name="adj" fmla="val 7407"/>
            </a:avLst>
          </a:prstGeom>
          <a:solidFill>
            <a:srgbClr val="16303A"/>
          </a:solidFill>
          <a:ln/>
        </p:spPr>
      </p:sp>
      <p:sp>
        <p:nvSpPr>
          <p:cNvPr id="200" name="Text 98"/>
          <p:cNvSpPr txBox="1"/>
          <p:nvPr/>
        </p:nvSpPr>
        <p:spPr>
          <a:xfrm>
            <a:off x="4457700" y="5193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</a:t>
            </a:r>
            <a:endParaRPr lang="en-US" sz="1100" dirty="0"/>
          </a:p>
        </p:txBody>
      </p:sp>
      <p:sp>
        <p:nvSpPr>
          <p:cNvPr id="201" name="Shape 99"/>
          <p:cNvSpPr/>
          <p:nvPr/>
        </p:nvSpPr>
        <p:spPr>
          <a:xfrm>
            <a:off x="4567428" y="4572000"/>
            <a:ext cx="969264" cy="585216"/>
          </a:xfrm>
          <a:prstGeom prst="rect">
            <a:avLst/>
          </a:prstGeom>
          <a:solidFill>
            <a:srgbClr val="2B3F9B"/>
          </a:solidFill>
          <a:ln/>
        </p:spPr>
      </p:sp>
      <p:sp>
        <p:nvSpPr>
          <p:cNvPr id="202" name="Shape 100"/>
          <p:cNvSpPr/>
          <p:nvPr/>
        </p:nvSpPr>
        <p:spPr>
          <a:xfrm>
            <a:off x="4658868" y="4590288"/>
            <a:ext cx="548640" cy="548640"/>
          </a:xfrm>
          <a:prstGeom prst="ellipse">
            <a:avLst/>
          </a:prstGeom>
          <a:solidFill>
            <a:srgbClr val="FFB020">
              <a:alpha val="55000"/>
            </a:srgbClr>
          </a:solidFill>
          <a:ln/>
        </p:spPr>
      </p:sp>
      <p:sp>
        <p:nvSpPr>
          <p:cNvPr id="203" name="Shape 101"/>
          <p:cNvSpPr/>
          <p:nvPr/>
        </p:nvSpPr>
        <p:spPr>
          <a:xfrm>
            <a:off x="4786884" y="4718304"/>
            <a:ext cx="292608" cy="292608"/>
          </a:xfrm>
          <a:prstGeom prst="ellipse">
            <a:avLst/>
          </a:prstGeom>
          <a:solidFill>
            <a:srgbClr val="FF3B2F">
              <a:alpha val="85000"/>
            </a:srgbClr>
          </a:solidFill>
          <a:ln/>
        </p:spPr>
      </p:sp>
      <p:sp>
        <p:nvSpPr>
          <p:cNvPr id="204" name="Shape 102"/>
          <p:cNvSpPr/>
          <p:nvPr/>
        </p:nvSpPr>
        <p:spPr>
          <a:xfrm>
            <a:off x="5134356" y="4791456"/>
            <a:ext cx="329184" cy="329184"/>
          </a:xfrm>
          <a:prstGeom prst="ellipse">
            <a:avLst/>
          </a:prstGeom>
          <a:solidFill>
            <a:srgbClr val="FFD84D">
              <a:alpha val="55000"/>
            </a:srgbClr>
          </a:solidFill>
          <a:ln/>
        </p:spPr>
      </p:sp>
      <p:sp>
        <p:nvSpPr>
          <p:cNvPr id="205" name="Text 103"/>
          <p:cNvSpPr txBox="1"/>
          <p:nvPr/>
        </p:nvSpPr>
        <p:spPr>
          <a:xfrm>
            <a:off x="3145536" y="59710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field disease scores for training</a:t>
            </a:r>
            <a:endParaRPr lang="en-US" sz="1100" dirty="0"/>
          </a:p>
        </p:txBody>
      </p:sp>
      <p:sp>
        <p:nvSpPr>
          <p:cNvPr id="206" name="Shape 104"/>
          <p:cNvSpPr/>
          <p:nvPr/>
        </p:nvSpPr>
        <p:spPr>
          <a:xfrm>
            <a:off x="6437376" y="192024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133A3E"/>
          </a:solidFill>
          <a:ln/>
        </p:spPr>
      </p:sp>
      <p:sp>
        <p:nvSpPr>
          <p:cNvPr id="207" name="Text 105"/>
          <p:cNvSpPr txBox="1"/>
          <p:nvPr/>
        </p:nvSpPr>
        <p:spPr>
          <a:xfrm>
            <a:off x="6437376" y="2660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disease features</a:t>
            </a:r>
            <a:endParaRPr lang="en-US" sz="1200" dirty="0"/>
          </a:p>
        </p:txBody>
      </p:sp>
      <p:sp>
        <p:nvSpPr>
          <p:cNvPr id="208" name="Shape 106"/>
          <p:cNvSpPr/>
          <p:nvPr/>
        </p:nvSpPr>
        <p:spPr>
          <a:xfrm>
            <a:off x="6574536" y="2029968"/>
            <a:ext cx="566928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9" name="Shape 107"/>
          <p:cNvSpPr/>
          <p:nvPr/>
        </p:nvSpPr>
        <p:spPr>
          <a:xfrm>
            <a:off x="6574536" y="2098548"/>
            <a:ext cx="566928" cy="3200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10" name="Shape 108"/>
          <p:cNvSpPr/>
          <p:nvPr/>
        </p:nvSpPr>
        <p:spPr>
          <a:xfrm>
            <a:off x="6574536" y="2167128"/>
            <a:ext cx="566928" cy="3200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211" name="Shape 109"/>
          <p:cNvSpPr/>
          <p:nvPr/>
        </p:nvSpPr>
        <p:spPr>
          <a:xfrm>
            <a:off x="6574536" y="2235708"/>
            <a:ext cx="566928" cy="32004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12" name="Shape 110"/>
          <p:cNvSpPr/>
          <p:nvPr/>
        </p:nvSpPr>
        <p:spPr>
          <a:xfrm>
            <a:off x="6574536" y="2304288"/>
            <a:ext cx="566928" cy="32004"/>
          </a:xfrm>
          <a:prstGeom prst="rect">
            <a:avLst/>
          </a:prstGeom>
          <a:solidFill>
            <a:srgbClr val="8E8EA8"/>
          </a:solidFill>
          <a:ln/>
        </p:spPr>
      </p:sp>
      <p:sp>
        <p:nvSpPr>
          <p:cNvPr id="213" name="Shape 111"/>
          <p:cNvSpPr/>
          <p:nvPr/>
        </p:nvSpPr>
        <p:spPr>
          <a:xfrm>
            <a:off x="6574536" y="2372868"/>
            <a:ext cx="566928" cy="3200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14" name="Shape 112"/>
          <p:cNvSpPr/>
          <p:nvPr/>
        </p:nvSpPr>
        <p:spPr>
          <a:xfrm>
            <a:off x="6574536" y="2441448"/>
            <a:ext cx="566928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5" name="Shape 113"/>
          <p:cNvSpPr/>
          <p:nvPr/>
        </p:nvSpPr>
        <p:spPr>
          <a:xfrm>
            <a:off x="6574536" y="2510028"/>
            <a:ext cx="566928" cy="3200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16" name="Shape 114"/>
          <p:cNvSpPr/>
          <p:nvPr/>
        </p:nvSpPr>
        <p:spPr>
          <a:xfrm>
            <a:off x="7242048" y="1993392"/>
            <a:ext cx="603504" cy="621792"/>
          </a:xfrm>
          <a:custGeom>
            <a:avLst/>
            <a:gdLst/>
            <a:ahLst/>
            <a:cxnLst/>
            <a:rect l="l" t="t" r="r" b="b"/>
            <a:pathLst>
              <a:path w="603504" h="621792">
                <a:moveTo>
                  <a:pt x="0" y="0"/>
                </a:moveTo>
                <a:lnTo>
                  <a:pt x="603504" y="201168"/>
                </a:lnTo>
                <a:lnTo>
                  <a:pt x="603504" y="420624"/>
                </a:lnTo>
                <a:lnTo>
                  <a:pt x="0" y="621792"/>
                </a:lnTo>
                <a:close/>
              </a:path>
            </a:pathLst>
          </a:custGeom>
          <a:solidFill>
            <a:srgbClr val="1CB8B2"/>
          </a:solidFill>
          <a:ln/>
        </p:spPr>
      </p:sp>
      <p:sp>
        <p:nvSpPr>
          <p:cNvPr id="217" name="Shape 115"/>
          <p:cNvSpPr/>
          <p:nvPr/>
        </p:nvSpPr>
        <p:spPr>
          <a:xfrm>
            <a:off x="7955280" y="2194560"/>
            <a:ext cx="59436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18" name="Shape 116"/>
          <p:cNvSpPr/>
          <p:nvPr/>
        </p:nvSpPr>
        <p:spPr>
          <a:xfrm>
            <a:off x="7955280" y="2286000"/>
            <a:ext cx="594360" cy="4572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19" name="Shape 117"/>
          <p:cNvSpPr/>
          <p:nvPr/>
        </p:nvSpPr>
        <p:spPr>
          <a:xfrm>
            <a:off x="7955280" y="2377440"/>
            <a:ext cx="594360" cy="457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20" name="Shape 118"/>
          <p:cNvSpPr/>
          <p:nvPr/>
        </p:nvSpPr>
        <p:spPr>
          <a:xfrm rot="10800000">
            <a:off x="7520940" y="3035808"/>
            <a:ext cx="164592" cy="118872"/>
          </a:xfrm>
          <a:prstGeom prst="triangle">
            <a:avLst/>
          </a:prstGeom>
          <a:solidFill>
            <a:srgbClr val="1CB8B2"/>
          </a:solidFill>
          <a:ln/>
        </p:spPr>
      </p:sp>
      <p:sp>
        <p:nvSpPr>
          <p:cNvPr id="221" name="Shape 119"/>
          <p:cNvSpPr/>
          <p:nvPr/>
        </p:nvSpPr>
        <p:spPr>
          <a:xfrm>
            <a:off x="6437376" y="329184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133A3E"/>
          </a:solidFill>
          <a:ln/>
        </p:spPr>
      </p:sp>
      <p:sp>
        <p:nvSpPr>
          <p:cNvPr id="222" name="Text 120"/>
          <p:cNvSpPr txBox="1"/>
          <p:nvPr/>
        </p:nvSpPr>
        <p:spPr>
          <a:xfrm>
            <a:off x="6437376" y="40325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Fuse four sensors</a:t>
            </a:r>
            <a:endParaRPr lang="en-US" sz="1200" dirty="0"/>
          </a:p>
        </p:txBody>
      </p:sp>
      <p:sp>
        <p:nvSpPr>
          <p:cNvPr id="223" name="Shape 121"/>
          <p:cNvSpPr/>
          <p:nvPr/>
        </p:nvSpPr>
        <p:spPr>
          <a:xfrm>
            <a:off x="6574536" y="3383280"/>
            <a:ext cx="1188720" cy="566928"/>
          </a:xfrm>
          <a:custGeom>
            <a:avLst/>
            <a:gdLst/>
            <a:ahLst/>
            <a:cxnLst/>
            <a:rect l="l" t="t" r="r" b="b"/>
            <a:pathLst>
              <a:path w="1188720" h="566928">
                <a:moveTo>
                  <a:pt x="0" y="73152"/>
                </a:moveTo>
                <a:cubicBezTo>
                  <a:pt x="640080" y="73152"/>
                  <a:pt x="685800" y="320040"/>
                  <a:pt x="1188720" y="320040"/>
                </a:cubicBezTo>
              </a:path>
            </a:pathLst>
          </a:custGeom>
          <a:ln w="38100">
            <a:solidFill>
              <a:srgbClr val="E5484D"/>
            </a:solidFill>
            <a:prstDash val="solid"/>
          </a:ln>
        </p:spPr>
      </p:sp>
      <p:sp>
        <p:nvSpPr>
          <p:cNvPr id="224" name="Shape 122"/>
          <p:cNvSpPr/>
          <p:nvPr/>
        </p:nvSpPr>
        <p:spPr>
          <a:xfrm>
            <a:off x="6574536" y="3383280"/>
            <a:ext cx="1188720" cy="566928"/>
          </a:xfrm>
          <a:custGeom>
            <a:avLst/>
            <a:gdLst/>
            <a:ahLst/>
            <a:cxnLst/>
            <a:rect l="l" t="t" r="r" b="b"/>
            <a:pathLst>
              <a:path w="1188720" h="566928">
                <a:moveTo>
                  <a:pt x="0" y="237744"/>
                </a:moveTo>
                <a:cubicBezTo>
                  <a:pt x="640080" y="237744"/>
                  <a:pt x="685800" y="320040"/>
                  <a:pt x="1188720" y="320040"/>
                </a:cubicBezTo>
              </a:path>
            </a:pathLst>
          </a:custGeom>
          <a:ln w="38100">
            <a:solidFill>
              <a:srgbClr val="3FB950"/>
            </a:solidFill>
            <a:prstDash val="solid"/>
          </a:ln>
        </p:spPr>
      </p:sp>
      <p:sp>
        <p:nvSpPr>
          <p:cNvPr id="225" name="Shape 123"/>
          <p:cNvSpPr/>
          <p:nvPr/>
        </p:nvSpPr>
        <p:spPr>
          <a:xfrm>
            <a:off x="6574536" y="3383280"/>
            <a:ext cx="1188720" cy="566928"/>
          </a:xfrm>
          <a:custGeom>
            <a:avLst/>
            <a:gdLst/>
            <a:ahLst/>
            <a:cxnLst/>
            <a:rect l="l" t="t" r="r" b="b"/>
            <a:pathLst>
              <a:path w="1188720" h="566928">
                <a:moveTo>
                  <a:pt x="0" y="402336"/>
                </a:moveTo>
                <a:cubicBezTo>
                  <a:pt x="640080" y="402336"/>
                  <a:pt x="685800" y="320040"/>
                  <a:pt x="1188720" y="320040"/>
                </a:cubicBezTo>
              </a:path>
            </a:pathLst>
          </a:custGeom>
          <a:ln w="38100">
            <a:solidFill>
              <a:srgbClr val="8E8EA8"/>
            </a:solidFill>
            <a:prstDash val="solid"/>
          </a:ln>
        </p:spPr>
      </p:sp>
      <p:sp>
        <p:nvSpPr>
          <p:cNvPr id="226" name="Shape 124"/>
          <p:cNvSpPr/>
          <p:nvPr/>
        </p:nvSpPr>
        <p:spPr>
          <a:xfrm>
            <a:off x="6574536" y="3383280"/>
            <a:ext cx="1188720" cy="566928"/>
          </a:xfrm>
          <a:custGeom>
            <a:avLst/>
            <a:gdLst/>
            <a:ahLst/>
            <a:cxnLst/>
            <a:rect l="l" t="t" r="r" b="b"/>
            <a:pathLst>
              <a:path w="1188720" h="566928">
                <a:moveTo>
                  <a:pt x="0" y="566928"/>
                </a:moveTo>
                <a:cubicBezTo>
                  <a:pt x="640080" y="566928"/>
                  <a:pt x="685800" y="320040"/>
                  <a:pt x="1188720" y="320040"/>
                </a:cubicBezTo>
              </a:path>
            </a:pathLst>
          </a:custGeom>
          <a:ln w="38100">
            <a:solidFill>
              <a:srgbClr val="FFB020"/>
            </a:solidFill>
            <a:prstDash val="solid"/>
          </a:ln>
        </p:spPr>
      </p:sp>
      <p:sp>
        <p:nvSpPr>
          <p:cNvPr id="227" name="Shape 125"/>
          <p:cNvSpPr/>
          <p:nvPr/>
        </p:nvSpPr>
        <p:spPr>
          <a:xfrm>
            <a:off x="7735824" y="3666744"/>
            <a:ext cx="566928" cy="82296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</p:sp>
      <p:sp>
        <p:nvSpPr>
          <p:cNvPr id="228" name="Shape 126"/>
          <p:cNvSpPr/>
          <p:nvPr/>
        </p:nvSpPr>
        <p:spPr>
          <a:xfrm>
            <a:off x="8284464" y="3575304"/>
            <a:ext cx="265176" cy="265176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29" name="Shape 127"/>
          <p:cNvSpPr/>
          <p:nvPr/>
        </p:nvSpPr>
        <p:spPr>
          <a:xfrm rot="10800000">
            <a:off x="7520940" y="4407408"/>
            <a:ext cx="164592" cy="118872"/>
          </a:xfrm>
          <a:prstGeom prst="triangle">
            <a:avLst/>
          </a:prstGeom>
          <a:solidFill>
            <a:srgbClr val="1CB8B2"/>
          </a:solidFill>
          <a:ln/>
        </p:spPr>
      </p:sp>
      <p:sp>
        <p:nvSpPr>
          <p:cNvPr id="230" name="Shape 128"/>
          <p:cNvSpPr/>
          <p:nvPr/>
        </p:nvSpPr>
        <p:spPr>
          <a:xfrm>
            <a:off x="6437376" y="466344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133A3E"/>
          </a:solidFill>
          <a:ln/>
        </p:spPr>
      </p:sp>
      <p:sp>
        <p:nvSpPr>
          <p:cNvPr id="231" name="Text 129"/>
          <p:cNvSpPr txBox="1"/>
          <p:nvPr/>
        </p:nvSpPr>
        <p:spPr>
          <a:xfrm>
            <a:off x="6437376" y="5404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severity</a:t>
            </a:r>
            <a:endParaRPr lang="en-US" sz="1200" dirty="0"/>
          </a:p>
        </p:txBody>
      </p:sp>
      <p:sp>
        <p:nvSpPr>
          <p:cNvPr id="232" name="Shape 130"/>
          <p:cNvSpPr/>
          <p:nvPr/>
        </p:nvSpPr>
        <p:spPr>
          <a:xfrm flipV="1">
            <a:off x="6821424" y="4809744"/>
            <a:ext cx="301752" cy="237744"/>
          </a:xfrm>
          <a:prstGeom prst="line">
            <a:avLst/>
          </a:prstGeom>
          <a:noFill/>
          <a:ln w="25400">
            <a:solidFill>
              <a:srgbClr val="9FB3B6"/>
            </a:solidFill>
            <a:prstDash val="solid"/>
          </a:ln>
        </p:spPr>
      </p:sp>
      <p:sp>
        <p:nvSpPr>
          <p:cNvPr id="233" name="Shape 131"/>
          <p:cNvSpPr/>
          <p:nvPr/>
        </p:nvSpPr>
        <p:spPr>
          <a:xfrm>
            <a:off x="7123176" y="4809744"/>
            <a:ext cx="301752" cy="237744"/>
          </a:xfrm>
          <a:prstGeom prst="line">
            <a:avLst/>
          </a:prstGeom>
          <a:noFill/>
          <a:ln w="25400">
            <a:solidFill>
              <a:srgbClr val="9FB3B6"/>
            </a:solidFill>
            <a:prstDash val="solid"/>
          </a:ln>
        </p:spPr>
      </p:sp>
      <p:sp>
        <p:nvSpPr>
          <p:cNvPr id="234" name="Shape 132"/>
          <p:cNvSpPr/>
          <p:nvPr/>
        </p:nvSpPr>
        <p:spPr>
          <a:xfrm flipV="1">
            <a:off x="6638544" y="5047488"/>
            <a:ext cx="182880" cy="274320"/>
          </a:xfrm>
          <a:prstGeom prst="line">
            <a:avLst/>
          </a:prstGeom>
          <a:noFill/>
          <a:ln w="25400">
            <a:solidFill>
              <a:srgbClr val="9FB3B6"/>
            </a:solidFill>
            <a:prstDash val="solid"/>
          </a:ln>
        </p:spPr>
      </p:sp>
      <p:sp>
        <p:nvSpPr>
          <p:cNvPr id="235" name="Shape 133"/>
          <p:cNvSpPr/>
          <p:nvPr/>
        </p:nvSpPr>
        <p:spPr>
          <a:xfrm>
            <a:off x="6821424" y="5047488"/>
            <a:ext cx="164592" cy="274320"/>
          </a:xfrm>
          <a:prstGeom prst="line">
            <a:avLst/>
          </a:prstGeom>
          <a:noFill/>
          <a:ln w="25400">
            <a:solidFill>
              <a:srgbClr val="9FB3B6"/>
            </a:solidFill>
            <a:prstDash val="solid"/>
          </a:ln>
        </p:spPr>
      </p:sp>
      <p:sp>
        <p:nvSpPr>
          <p:cNvPr id="236" name="Shape 134"/>
          <p:cNvSpPr/>
          <p:nvPr/>
        </p:nvSpPr>
        <p:spPr>
          <a:xfrm flipV="1">
            <a:off x="7260336" y="5047488"/>
            <a:ext cx="164592" cy="274320"/>
          </a:xfrm>
          <a:prstGeom prst="line">
            <a:avLst/>
          </a:prstGeom>
          <a:noFill/>
          <a:ln w="25400">
            <a:solidFill>
              <a:srgbClr val="9FB3B6"/>
            </a:solidFill>
            <a:prstDash val="solid"/>
          </a:ln>
        </p:spPr>
      </p:sp>
      <p:sp>
        <p:nvSpPr>
          <p:cNvPr id="237" name="Shape 135"/>
          <p:cNvSpPr/>
          <p:nvPr/>
        </p:nvSpPr>
        <p:spPr>
          <a:xfrm>
            <a:off x="7424928" y="5047488"/>
            <a:ext cx="182880" cy="274320"/>
          </a:xfrm>
          <a:prstGeom prst="line">
            <a:avLst/>
          </a:prstGeom>
          <a:noFill/>
          <a:ln w="25400">
            <a:solidFill>
              <a:srgbClr val="9FB3B6"/>
            </a:solidFill>
            <a:prstDash val="solid"/>
          </a:ln>
        </p:spPr>
      </p:sp>
      <p:sp>
        <p:nvSpPr>
          <p:cNvPr id="238" name="Shape 136"/>
          <p:cNvSpPr/>
          <p:nvPr/>
        </p:nvSpPr>
        <p:spPr>
          <a:xfrm>
            <a:off x="7040880" y="4727448"/>
            <a:ext cx="164592" cy="16459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39" name="Shape 137"/>
          <p:cNvSpPr/>
          <p:nvPr/>
        </p:nvSpPr>
        <p:spPr>
          <a:xfrm>
            <a:off x="6752844" y="4978908"/>
            <a:ext cx="137160" cy="13716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40" name="Shape 138"/>
          <p:cNvSpPr/>
          <p:nvPr/>
        </p:nvSpPr>
        <p:spPr>
          <a:xfrm>
            <a:off x="7356348" y="4978908"/>
            <a:ext cx="137160" cy="13716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41" name="Shape 139"/>
          <p:cNvSpPr/>
          <p:nvPr/>
        </p:nvSpPr>
        <p:spPr>
          <a:xfrm>
            <a:off x="6583680" y="5266944"/>
            <a:ext cx="109728" cy="109728"/>
          </a:xfrm>
          <a:prstGeom prst="ellipse">
            <a:avLst/>
          </a:prstGeom>
          <a:solidFill>
            <a:srgbClr val="E0E8E9"/>
          </a:solidFill>
          <a:ln/>
        </p:spPr>
      </p:sp>
      <p:sp>
        <p:nvSpPr>
          <p:cNvPr id="242" name="Shape 140"/>
          <p:cNvSpPr/>
          <p:nvPr/>
        </p:nvSpPr>
        <p:spPr>
          <a:xfrm>
            <a:off x="6931152" y="5266944"/>
            <a:ext cx="109728" cy="109728"/>
          </a:xfrm>
          <a:prstGeom prst="ellipse">
            <a:avLst/>
          </a:prstGeom>
          <a:solidFill>
            <a:srgbClr val="E0E8E9"/>
          </a:solidFill>
          <a:ln/>
        </p:spPr>
      </p:sp>
      <p:sp>
        <p:nvSpPr>
          <p:cNvPr id="243" name="Shape 141"/>
          <p:cNvSpPr/>
          <p:nvPr/>
        </p:nvSpPr>
        <p:spPr>
          <a:xfrm>
            <a:off x="7205472" y="5266944"/>
            <a:ext cx="109728" cy="109728"/>
          </a:xfrm>
          <a:prstGeom prst="ellipse">
            <a:avLst/>
          </a:prstGeom>
          <a:solidFill>
            <a:srgbClr val="E0E8E9"/>
          </a:solidFill>
          <a:ln/>
        </p:spPr>
      </p:sp>
      <p:sp>
        <p:nvSpPr>
          <p:cNvPr id="244" name="Shape 142"/>
          <p:cNvSpPr/>
          <p:nvPr/>
        </p:nvSpPr>
        <p:spPr>
          <a:xfrm>
            <a:off x="7552944" y="5266944"/>
            <a:ext cx="109728" cy="109728"/>
          </a:xfrm>
          <a:prstGeom prst="ellipse">
            <a:avLst/>
          </a:prstGeom>
          <a:solidFill>
            <a:srgbClr val="E0E8E9"/>
          </a:solidFill>
          <a:ln/>
        </p:spPr>
      </p:sp>
      <p:sp>
        <p:nvSpPr>
          <p:cNvPr id="245" name="Shape 143"/>
          <p:cNvSpPr/>
          <p:nvPr/>
        </p:nvSpPr>
        <p:spPr>
          <a:xfrm>
            <a:off x="7735824" y="4992624"/>
            <a:ext cx="237744" cy="164592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246" name="Shape 144"/>
          <p:cNvSpPr/>
          <p:nvPr/>
        </p:nvSpPr>
        <p:spPr>
          <a:xfrm>
            <a:off x="8065008" y="4791456"/>
            <a:ext cx="192024" cy="246888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</p:sp>
      <p:sp>
        <p:nvSpPr>
          <p:cNvPr id="247" name="Shape 145"/>
          <p:cNvSpPr/>
          <p:nvPr/>
        </p:nvSpPr>
        <p:spPr>
          <a:xfrm>
            <a:off x="8293608" y="4791456"/>
            <a:ext cx="192024" cy="246888"/>
          </a:xfrm>
          <a:prstGeom prst="roundRect">
            <a:avLst>
              <a:gd name="adj" fmla="val 14286"/>
            </a:avLst>
          </a:prstGeom>
          <a:solidFill>
            <a:srgbClr val="7CB342"/>
          </a:solidFill>
          <a:ln/>
        </p:spPr>
      </p:sp>
      <p:sp>
        <p:nvSpPr>
          <p:cNvPr id="248" name="Shape 146"/>
          <p:cNvSpPr/>
          <p:nvPr/>
        </p:nvSpPr>
        <p:spPr>
          <a:xfrm>
            <a:off x="8522208" y="4791456"/>
            <a:ext cx="192024" cy="246888"/>
          </a:xfrm>
          <a:prstGeom prst="roundRect">
            <a:avLst>
              <a:gd name="adj" fmla="val 14286"/>
            </a:avLst>
          </a:prstGeom>
          <a:solidFill>
            <a:srgbClr val="C0CA33"/>
          </a:solidFill>
          <a:ln/>
        </p:spPr>
      </p:sp>
      <p:sp>
        <p:nvSpPr>
          <p:cNvPr id="249" name="Shape 147"/>
          <p:cNvSpPr/>
          <p:nvPr/>
        </p:nvSpPr>
        <p:spPr>
          <a:xfrm>
            <a:off x="8065008" y="5093208"/>
            <a:ext cx="192024" cy="246888"/>
          </a:xfrm>
          <a:prstGeom prst="roundRect">
            <a:avLst>
              <a:gd name="adj" fmla="val 14286"/>
            </a:avLst>
          </a:prstGeom>
          <a:solidFill>
            <a:srgbClr val="FFB020"/>
          </a:solidFill>
          <a:ln/>
        </p:spPr>
      </p:sp>
      <p:sp>
        <p:nvSpPr>
          <p:cNvPr id="250" name="Shape 148"/>
          <p:cNvSpPr/>
          <p:nvPr/>
        </p:nvSpPr>
        <p:spPr>
          <a:xfrm>
            <a:off x="8293608" y="5093208"/>
            <a:ext cx="192024" cy="246888"/>
          </a:xfrm>
          <a:prstGeom prst="roundRect">
            <a:avLst>
              <a:gd name="adj" fmla="val 14286"/>
            </a:avLst>
          </a:prstGeom>
          <a:solidFill>
            <a:srgbClr val="F4511E"/>
          </a:solidFill>
          <a:ln/>
        </p:spPr>
      </p:sp>
      <p:sp>
        <p:nvSpPr>
          <p:cNvPr id="251" name="Shape 149"/>
          <p:cNvSpPr/>
          <p:nvPr/>
        </p:nvSpPr>
        <p:spPr>
          <a:xfrm>
            <a:off x="8522208" y="5093208"/>
            <a:ext cx="192024" cy="246888"/>
          </a:xfrm>
          <a:prstGeom prst="roundRect">
            <a:avLst>
              <a:gd name="adj" fmla="val 14286"/>
            </a:avLst>
          </a:prstGeom>
          <a:solidFill>
            <a:srgbClr val="B71C1C"/>
          </a:solidFill>
          <a:ln/>
        </p:spPr>
      </p:sp>
      <p:sp>
        <p:nvSpPr>
          <p:cNvPr id="252" name="Shape 150"/>
          <p:cNvSpPr/>
          <p:nvPr/>
        </p:nvSpPr>
        <p:spPr>
          <a:xfrm>
            <a:off x="6437376" y="585216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CB8B2"/>
          </a:solidFill>
          <a:ln/>
        </p:spPr>
      </p:sp>
      <p:sp>
        <p:nvSpPr>
          <p:cNvPr id="253" name="Text 151"/>
          <p:cNvSpPr txBox="1"/>
          <p:nvPr/>
        </p:nvSpPr>
        <p:spPr>
          <a:xfrm>
            <a:off x="6437376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on unseen plots</a:t>
            </a:r>
            <a:endParaRPr lang="en-US" sz="1200" dirty="0"/>
          </a:p>
        </p:txBody>
      </p:sp>
      <p:sp>
        <p:nvSpPr>
          <p:cNvPr id="254" name="Shape 152"/>
          <p:cNvSpPr/>
          <p:nvPr/>
        </p:nvSpPr>
        <p:spPr>
          <a:xfrm>
            <a:off x="9555480" y="1965960"/>
            <a:ext cx="2048256" cy="1719072"/>
          </a:xfrm>
          <a:prstGeom prst="roundRect">
            <a:avLst>
              <a:gd name="adj" fmla="val 5319"/>
            </a:avLst>
          </a:prstGeom>
          <a:solidFill>
            <a:srgbClr val="16303A"/>
          </a:solidFill>
          <a:ln/>
        </p:spPr>
      </p:sp>
      <p:sp>
        <p:nvSpPr>
          <p:cNvPr id="255" name="Shape 153"/>
          <p:cNvSpPr/>
          <p:nvPr/>
        </p:nvSpPr>
        <p:spPr>
          <a:xfrm>
            <a:off x="9669780" y="207568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256" name="Shape 154"/>
          <p:cNvSpPr/>
          <p:nvPr/>
        </p:nvSpPr>
        <p:spPr>
          <a:xfrm>
            <a:off x="9980676" y="207568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257" name="Shape 155"/>
          <p:cNvSpPr/>
          <p:nvPr/>
        </p:nvSpPr>
        <p:spPr>
          <a:xfrm>
            <a:off x="10291572" y="207568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7CB342"/>
          </a:solidFill>
          <a:ln/>
        </p:spPr>
      </p:sp>
      <p:sp>
        <p:nvSpPr>
          <p:cNvPr id="258" name="Shape 156"/>
          <p:cNvSpPr/>
          <p:nvPr/>
        </p:nvSpPr>
        <p:spPr>
          <a:xfrm>
            <a:off x="10602468" y="207568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C0CA33"/>
          </a:solidFill>
          <a:ln/>
        </p:spPr>
      </p:sp>
      <p:sp>
        <p:nvSpPr>
          <p:cNvPr id="259" name="Shape 157"/>
          <p:cNvSpPr/>
          <p:nvPr/>
        </p:nvSpPr>
        <p:spPr>
          <a:xfrm>
            <a:off x="10913364" y="207568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FFB020"/>
          </a:solidFill>
          <a:ln/>
        </p:spPr>
      </p:sp>
      <p:sp>
        <p:nvSpPr>
          <p:cNvPr id="260" name="Shape 158"/>
          <p:cNvSpPr/>
          <p:nvPr/>
        </p:nvSpPr>
        <p:spPr>
          <a:xfrm>
            <a:off x="11224260" y="207568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C0CA33"/>
          </a:solidFill>
          <a:ln/>
        </p:spPr>
      </p:sp>
      <p:sp>
        <p:nvSpPr>
          <p:cNvPr id="261" name="Shape 159"/>
          <p:cNvSpPr/>
          <p:nvPr/>
        </p:nvSpPr>
        <p:spPr>
          <a:xfrm>
            <a:off x="9669780" y="239572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262" name="Shape 160"/>
          <p:cNvSpPr/>
          <p:nvPr/>
        </p:nvSpPr>
        <p:spPr>
          <a:xfrm>
            <a:off x="9980676" y="239572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7CB342"/>
          </a:solidFill>
          <a:ln/>
        </p:spPr>
      </p:sp>
      <p:sp>
        <p:nvSpPr>
          <p:cNvPr id="263" name="Shape 161"/>
          <p:cNvSpPr/>
          <p:nvPr/>
        </p:nvSpPr>
        <p:spPr>
          <a:xfrm>
            <a:off x="10291572" y="239572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C0CA33"/>
          </a:solidFill>
          <a:ln/>
        </p:spPr>
      </p:sp>
      <p:sp>
        <p:nvSpPr>
          <p:cNvPr id="264" name="Shape 162"/>
          <p:cNvSpPr/>
          <p:nvPr/>
        </p:nvSpPr>
        <p:spPr>
          <a:xfrm>
            <a:off x="10602468" y="239572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F4511E"/>
          </a:solidFill>
          <a:ln/>
        </p:spPr>
      </p:sp>
      <p:sp>
        <p:nvSpPr>
          <p:cNvPr id="265" name="Shape 163"/>
          <p:cNvSpPr/>
          <p:nvPr/>
        </p:nvSpPr>
        <p:spPr>
          <a:xfrm>
            <a:off x="10913364" y="239572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B71C1C"/>
          </a:solidFill>
          <a:ln/>
        </p:spPr>
      </p:sp>
      <p:sp>
        <p:nvSpPr>
          <p:cNvPr id="266" name="Shape 164"/>
          <p:cNvSpPr/>
          <p:nvPr/>
        </p:nvSpPr>
        <p:spPr>
          <a:xfrm>
            <a:off x="11224260" y="239572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FFB020"/>
          </a:solidFill>
          <a:ln/>
        </p:spPr>
      </p:sp>
      <p:sp>
        <p:nvSpPr>
          <p:cNvPr id="267" name="Shape 165"/>
          <p:cNvSpPr/>
          <p:nvPr/>
        </p:nvSpPr>
        <p:spPr>
          <a:xfrm>
            <a:off x="9669780" y="271576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268" name="Shape 166"/>
          <p:cNvSpPr/>
          <p:nvPr/>
        </p:nvSpPr>
        <p:spPr>
          <a:xfrm>
            <a:off x="9980676" y="271576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269" name="Shape 167"/>
          <p:cNvSpPr/>
          <p:nvPr/>
        </p:nvSpPr>
        <p:spPr>
          <a:xfrm>
            <a:off x="10291572" y="271576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C0CA33"/>
          </a:solidFill>
          <a:ln/>
        </p:spPr>
      </p:sp>
      <p:sp>
        <p:nvSpPr>
          <p:cNvPr id="270" name="Shape 168"/>
          <p:cNvSpPr/>
          <p:nvPr/>
        </p:nvSpPr>
        <p:spPr>
          <a:xfrm>
            <a:off x="10602468" y="271576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FFB020"/>
          </a:solidFill>
          <a:ln/>
        </p:spPr>
      </p:sp>
      <p:sp>
        <p:nvSpPr>
          <p:cNvPr id="271" name="Shape 169"/>
          <p:cNvSpPr/>
          <p:nvPr/>
        </p:nvSpPr>
        <p:spPr>
          <a:xfrm>
            <a:off x="10913364" y="271576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F4511E"/>
          </a:solidFill>
          <a:ln/>
        </p:spPr>
      </p:sp>
      <p:sp>
        <p:nvSpPr>
          <p:cNvPr id="272" name="Shape 170"/>
          <p:cNvSpPr/>
          <p:nvPr/>
        </p:nvSpPr>
        <p:spPr>
          <a:xfrm>
            <a:off x="11224260" y="271576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C0CA33"/>
          </a:solidFill>
          <a:ln/>
        </p:spPr>
      </p:sp>
      <p:sp>
        <p:nvSpPr>
          <p:cNvPr id="273" name="Shape 171"/>
          <p:cNvSpPr/>
          <p:nvPr/>
        </p:nvSpPr>
        <p:spPr>
          <a:xfrm>
            <a:off x="9669780" y="303580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7CB342"/>
          </a:solidFill>
          <a:ln/>
        </p:spPr>
      </p:sp>
      <p:sp>
        <p:nvSpPr>
          <p:cNvPr id="274" name="Shape 172"/>
          <p:cNvSpPr/>
          <p:nvPr/>
        </p:nvSpPr>
        <p:spPr>
          <a:xfrm>
            <a:off x="9980676" y="303580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C0CA33"/>
          </a:solidFill>
          <a:ln/>
        </p:spPr>
      </p:sp>
      <p:sp>
        <p:nvSpPr>
          <p:cNvPr id="275" name="Shape 173"/>
          <p:cNvSpPr/>
          <p:nvPr/>
        </p:nvSpPr>
        <p:spPr>
          <a:xfrm>
            <a:off x="10291572" y="303580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276" name="Shape 174"/>
          <p:cNvSpPr/>
          <p:nvPr/>
        </p:nvSpPr>
        <p:spPr>
          <a:xfrm>
            <a:off x="10602468" y="303580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7CB342"/>
          </a:solidFill>
          <a:ln/>
        </p:spPr>
      </p:sp>
      <p:sp>
        <p:nvSpPr>
          <p:cNvPr id="277" name="Shape 175"/>
          <p:cNvSpPr/>
          <p:nvPr/>
        </p:nvSpPr>
        <p:spPr>
          <a:xfrm>
            <a:off x="10913364" y="303580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C0CA33"/>
          </a:solidFill>
          <a:ln/>
        </p:spPr>
      </p:sp>
      <p:sp>
        <p:nvSpPr>
          <p:cNvPr id="278" name="Shape 176"/>
          <p:cNvSpPr/>
          <p:nvPr/>
        </p:nvSpPr>
        <p:spPr>
          <a:xfrm>
            <a:off x="11224260" y="303580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7CB342"/>
          </a:solidFill>
          <a:ln/>
        </p:spPr>
      </p:sp>
      <p:sp>
        <p:nvSpPr>
          <p:cNvPr id="279" name="Shape 177"/>
          <p:cNvSpPr/>
          <p:nvPr/>
        </p:nvSpPr>
        <p:spPr>
          <a:xfrm>
            <a:off x="9669780" y="335584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280" name="Shape 178"/>
          <p:cNvSpPr/>
          <p:nvPr/>
        </p:nvSpPr>
        <p:spPr>
          <a:xfrm>
            <a:off x="9980676" y="335584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281" name="Shape 179"/>
          <p:cNvSpPr/>
          <p:nvPr/>
        </p:nvSpPr>
        <p:spPr>
          <a:xfrm>
            <a:off x="10291572" y="335584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7CB342"/>
          </a:solidFill>
          <a:ln/>
        </p:spPr>
      </p:sp>
      <p:sp>
        <p:nvSpPr>
          <p:cNvPr id="282" name="Shape 180"/>
          <p:cNvSpPr/>
          <p:nvPr/>
        </p:nvSpPr>
        <p:spPr>
          <a:xfrm>
            <a:off x="10602468" y="335584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7CB342"/>
          </a:solidFill>
          <a:ln/>
        </p:spPr>
      </p:sp>
      <p:sp>
        <p:nvSpPr>
          <p:cNvPr id="283" name="Shape 181"/>
          <p:cNvSpPr/>
          <p:nvPr/>
        </p:nvSpPr>
        <p:spPr>
          <a:xfrm>
            <a:off x="10913364" y="335584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284" name="Shape 182"/>
          <p:cNvSpPr/>
          <p:nvPr/>
        </p:nvSpPr>
        <p:spPr>
          <a:xfrm>
            <a:off x="11224260" y="335584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285" name="Shape 183"/>
          <p:cNvSpPr/>
          <p:nvPr/>
        </p:nvSpPr>
        <p:spPr>
          <a:xfrm>
            <a:off x="9601200" y="392277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</p:sp>
      <p:sp>
        <p:nvSpPr>
          <p:cNvPr id="286" name="Text 184"/>
          <p:cNvSpPr txBox="1"/>
          <p:nvPr/>
        </p:nvSpPr>
        <p:spPr>
          <a:xfrm>
            <a:off x="9875520" y="388620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 </a:t>
            </a:r>
            <a:pPr indent="0" marL="0">
              <a:buNone/>
            </a:pPr>
            <a:r>
              <a:rPr lang="en-US" sz="12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 </a:t>
            </a:r>
            <a:pPr indent="0" marL="0">
              <a:buNone/>
            </a:pPr>
            <a:r>
              <a:rPr lang="en-US" sz="105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(DI 0)</a:t>
            </a:r>
            <a:endParaRPr lang="en-US" sz="1200" dirty="0"/>
          </a:p>
        </p:txBody>
      </p:sp>
      <p:sp>
        <p:nvSpPr>
          <p:cNvPr id="287" name="Shape 185"/>
          <p:cNvSpPr/>
          <p:nvPr/>
        </p:nvSpPr>
        <p:spPr>
          <a:xfrm>
            <a:off x="9601200" y="421538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B342"/>
          </a:solidFill>
          <a:ln/>
        </p:spPr>
      </p:sp>
      <p:sp>
        <p:nvSpPr>
          <p:cNvPr id="288" name="Text 186"/>
          <p:cNvSpPr txBox="1"/>
          <p:nvPr/>
        </p:nvSpPr>
        <p:spPr>
          <a:xfrm>
            <a:off x="9875520" y="417880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</a:t>
            </a:r>
            <a:pPr indent="0" marL="0">
              <a:buNone/>
            </a:pPr>
            <a:r>
              <a:rPr lang="en-US" sz="12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low </a:t>
            </a:r>
            <a:pPr indent="0" marL="0">
              <a:buNone/>
            </a:pPr>
            <a:r>
              <a:rPr lang="en-US" sz="105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(1–5%)</a:t>
            </a:r>
            <a:endParaRPr lang="en-US" sz="1200" dirty="0"/>
          </a:p>
        </p:txBody>
      </p:sp>
      <p:sp>
        <p:nvSpPr>
          <p:cNvPr id="289" name="Shape 187"/>
          <p:cNvSpPr/>
          <p:nvPr/>
        </p:nvSpPr>
        <p:spPr>
          <a:xfrm>
            <a:off x="9601200" y="450799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0CA33"/>
          </a:solidFill>
          <a:ln/>
        </p:spPr>
      </p:sp>
      <p:sp>
        <p:nvSpPr>
          <p:cNvPr id="290" name="Text 188"/>
          <p:cNvSpPr txBox="1"/>
          <p:nvPr/>
        </p:nvSpPr>
        <p:spPr>
          <a:xfrm>
            <a:off x="9875520" y="4471416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</a:t>
            </a:r>
            <a:pPr indent="0" marL="0">
              <a:buNone/>
            </a:pPr>
            <a:r>
              <a:rPr lang="en-US" sz="12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</a:t>
            </a:r>
            <a:pPr indent="0" marL="0">
              <a:buNone/>
            </a:pPr>
            <a:r>
              <a:rPr lang="en-US" sz="105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(6–10%)</a:t>
            </a:r>
            <a:endParaRPr lang="en-US" sz="1200" dirty="0"/>
          </a:p>
        </p:txBody>
      </p:sp>
      <p:sp>
        <p:nvSpPr>
          <p:cNvPr id="291" name="Shape 189"/>
          <p:cNvSpPr/>
          <p:nvPr/>
        </p:nvSpPr>
        <p:spPr>
          <a:xfrm>
            <a:off x="9601200" y="48006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B020"/>
          </a:solidFill>
          <a:ln/>
        </p:spPr>
      </p:sp>
      <p:sp>
        <p:nvSpPr>
          <p:cNvPr id="292" name="Text 190"/>
          <p:cNvSpPr txBox="1"/>
          <p:nvPr/>
        </p:nvSpPr>
        <p:spPr>
          <a:xfrm>
            <a:off x="9875520" y="4764024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</a:t>
            </a:r>
            <a:pPr indent="0" marL="0">
              <a:buNone/>
            </a:pPr>
            <a:r>
              <a:rPr lang="en-US" sz="12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 </a:t>
            </a:r>
            <a:pPr indent="0" marL="0">
              <a:buNone/>
            </a:pPr>
            <a:r>
              <a:rPr lang="en-US" sz="105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(11–25%)</a:t>
            </a:r>
            <a:endParaRPr lang="en-US" sz="1200" dirty="0"/>
          </a:p>
        </p:txBody>
      </p:sp>
      <p:sp>
        <p:nvSpPr>
          <p:cNvPr id="293" name="Shape 191"/>
          <p:cNvSpPr/>
          <p:nvPr/>
        </p:nvSpPr>
        <p:spPr>
          <a:xfrm>
            <a:off x="9601200" y="50932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4511E"/>
          </a:solidFill>
          <a:ln/>
        </p:spPr>
      </p:sp>
      <p:sp>
        <p:nvSpPr>
          <p:cNvPr id="294" name="Text 192"/>
          <p:cNvSpPr txBox="1"/>
          <p:nvPr/>
        </p:nvSpPr>
        <p:spPr>
          <a:xfrm>
            <a:off x="9875520" y="5056632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</a:t>
            </a:r>
            <a:pPr indent="0" marL="0">
              <a:buNone/>
            </a:pPr>
            <a:r>
              <a:rPr lang="en-US" sz="12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</a:t>
            </a:r>
            <a:pPr indent="0" marL="0">
              <a:buNone/>
            </a:pPr>
            <a:r>
              <a:rPr lang="en-US" sz="105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(26–50%)</a:t>
            </a:r>
            <a:endParaRPr lang="en-US" sz="1200" dirty="0"/>
          </a:p>
        </p:txBody>
      </p:sp>
      <p:sp>
        <p:nvSpPr>
          <p:cNvPr id="295" name="Shape 193"/>
          <p:cNvSpPr/>
          <p:nvPr/>
        </p:nvSpPr>
        <p:spPr>
          <a:xfrm>
            <a:off x="9601200" y="538581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B71C1C"/>
          </a:solidFill>
          <a:ln/>
        </p:spPr>
      </p:sp>
      <p:sp>
        <p:nvSpPr>
          <p:cNvPr id="296" name="Text 194"/>
          <p:cNvSpPr txBox="1"/>
          <p:nvPr/>
        </p:nvSpPr>
        <p:spPr>
          <a:xfrm>
            <a:off x="9875520" y="534924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</a:t>
            </a:r>
            <a:pPr indent="0" marL="0">
              <a:buNone/>
            </a:pPr>
            <a:r>
              <a:rPr lang="en-US" sz="12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high </a:t>
            </a:r>
            <a:pPr indent="0" marL="0">
              <a:buNone/>
            </a:pPr>
            <a:r>
              <a:rPr lang="en-US" sz="105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(&gt;50%)</a:t>
            </a:r>
            <a:endParaRPr lang="en-US" sz="1200" dirty="0"/>
          </a:p>
        </p:txBody>
      </p:sp>
      <p:sp>
        <p:nvSpPr>
          <p:cNvPr id="297" name="Shape 195"/>
          <p:cNvSpPr/>
          <p:nvPr/>
        </p:nvSpPr>
        <p:spPr>
          <a:xfrm>
            <a:off x="9555480" y="5852160"/>
            <a:ext cx="2048256" cy="457200"/>
          </a:xfrm>
          <a:prstGeom prst="roundRect">
            <a:avLst>
              <a:gd name="adj" fmla="val 16000"/>
            </a:avLst>
          </a:prstGeom>
          <a:solidFill>
            <a:srgbClr val="7DBE4B"/>
          </a:solidFill>
          <a:ln/>
        </p:spPr>
      </p:sp>
      <p:sp>
        <p:nvSpPr>
          <p:cNvPr id="298" name="Text 196"/>
          <p:cNvSpPr txBox="1"/>
          <p:nvPr/>
        </p:nvSpPr>
        <p:spPr>
          <a:xfrm>
            <a:off x="9555480" y="585216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flight → one severity map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34058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559</Words>
  <Application>Microsoft Office PowerPoint</Application>
  <PresentationFormat>Widescreen</PresentationFormat>
  <Paragraphs>52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chaliganti</dc:creator>
  <cp:lastModifiedBy>A panda</cp:lastModifiedBy>
  <cp:revision>37</cp:revision>
  <dcterms:created xsi:type="dcterms:W3CDTF">2026-10-03T15:49:48Z</dcterms:created>
  <dcterms:modified xsi:type="dcterms:W3CDTF">2026-10-07T12:12:07Z</dcterms:modified>
</cp:coreProperties>
</file>