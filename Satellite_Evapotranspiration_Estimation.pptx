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6e3e72-ed0a-4474-8705-21cd9e6584ea}">
          <p14:sldIdLst>
            <p14:sldId id="256"/>
            <p14:sldId id="257"/>
          </p14:sldIdLst>
        </p14:section>
        <p14:section name="ET fundamentals" id="{d1e8ef45-8e5c-6a88-af56-eb26a6f2d47e}">
          <p14:sldIdLst>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Energy-balance building blocks" id="{bfebd09f-73e5-079f-929f-febb53412446}">
          <p14:sldIdLst>
            <p14:sldId id="275"/>
            <p14:sldId id="276"/>
            <p14:sldId id="277"/>
            <p14:sldId id="278"/>
            <p14:sldId id="279"/>
            <p14:sldId id="280"/>
          </p14:sldIdLst>
        </p14:section>
        <p14:section name="SEBAL and METRIC" id="{7456c77f-51c1-f579-58cf-94d349bbb7b7}">
          <p14:sldIdLst>
            <p14:sldId id="281"/>
            <p14:sldId id="282"/>
            <p14:sldId id="283"/>
            <p14:sldId id="284"/>
            <p14:sldId id="285"/>
            <p14:sldId id="286"/>
            <p14:sldId id="287"/>
            <p14:sldId id="288"/>
            <p14:sldId id="289"/>
            <p14:sldId id="290"/>
          </p14:sldIdLst>
        </p14:section>
        <p14:section name="Contextual, two-source and global models" id="{ad2641a4-c9e5-cff1-f3c0-a243e801500c}">
          <p14:sldIdLst>
            <p14:sldId id="291"/>
            <p14:sldId id="292"/>
            <p14:sldId id="293"/>
            <p14:sldId id="294"/>
            <p14:sldId id="295"/>
            <p14:sldId id="296"/>
            <p14:sldId id="297"/>
            <p14:sldId id="298"/>
            <p14:sldId id="299"/>
            <p14:sldId id="300"/>
          </p14:sldIdLst>
        </p14:section>
        <p14:section name="Scaling: instantaneous to daily and seasonal ET" id="{4ac088e1-2edb-e683-f0f4-79f5cb414def}">
          <p14:sldIdLst>
            <p14:sldId id="301"/>
            <p14:sldId id="302"/>
            <p14:sldId id="303"/>
            <p14:sldId id="304"/>
            <p14:sldId id="305"/>
          </p14:sldIdLst>
        </p14:section>
        <p14:section name="ISRO case study, applications and outlook" id="{87f82545-72cc-1c9a-22b1-cbfe424867f1}">
          <p14:sldIdLst>
            <p14:sldId id="306"/>
            <p14:sldId id="307"/>
            <p14:sldId id="308"/>
            <p14:sldId id="309"/>
            <p14:sldId id="310"/>
            <p14:sldId id="311"/>
            <p14:sldId id="312"/>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evapotranspiration is estimated from satellites. It is built mainly from three papers: the methodology review by Li et al. (2009, Sensors), the original SEBAL formulation by Bastiaanssen et al. (1998, Journal of Hydrology), and the ISRO Space Applications Centre study by Bhattacharya et al. (2010, Journal of Hydrology) that estimated clear-sky ET over India from Kalpana-1. Material on METRIC, SEBS, SSEBop, TSEB, ALEXI and FAO-56 comes from the standard papers listed on the last slide. The focus is on concepts and method,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chain in one picture. A satellite measures reflected sunlight in visible and near-infrared bands and emitted heat in thermal bands. From these we derive surface variables: albedo, vegetation index, leaf area and land surface temperature. These go into an energy-balance model that computes net radiation, soil heat flux and sensible heat, and leaves latent heat (ET) as the remainder. That gives ET at the moment of overpass, which must then be scaled to daily and seasonal totals before it is useful for irrigation, water accounting or drought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section builds the basics that every method uses: the definitions of the different kinds of ET, the surface energy balance, the Penman–Monteith and FAO-56 crop coefficient approach, ground measurement methods used for validation, the satellite inputs, and the families of satellite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Evapotranspiration is evaporation from soil and wet surfaces plus transpiration through stomata. It needs three things: water, energy to vaporise it, and a mechanism to carry vapour away (wind and a vapour pressure deficit). Several related terms come up constantly. Potential ET is what a surface would lose if water were never limiting. Reference ET, ET0, is the FAO-56 standard for a well-watered short grass and depends only on weather. Crop ET under standard conditions, ETc, is Kc times ET0. Actual ET is what really happens after water stress and management; satellites estimate actual ET. A useful conversion: the latent heat of vaporisation is about 2.45 megajoules per kilogram, so 1 millimetre per day of ET equals about 28.4 watts per square metre on a 24-hour average. On the right, ET rises with soil moisture until a critical value; below it ET is water-limited, above it energy-limited.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Transpiration is driven by a gradient of water potential from moist soil, through roots, xylem and leaves, out through the stomata into dry air. Water potential falls from about minus 0.03 megapascals in wet soil to around minus 1.5 in a leaf, and to minus 100 or lower in air at moderate humidity, so the air pulls water out of the plant. Like current in a circuit, the flux equals the vapour pressure difference between the leaf interior and the air divided by stomatal and aerodynamic resistances. Stomata open with light and close with high vapour pressure deficit, high CO2, soil drying and the hormone ABA, so canopy resistance is the plant's control valve. Soil evaporation goes through two stages: an energy-limited first stage while the surface is wet, then a falling-rate stage limited by how fast water reaches the surface. For crops, transpiration is typically more than half of ET at full cover, and separating E from T matters because only T is linked to biomass.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is the one term that appears in both the water balance and the energy balance. In the water balance, precipitation plus irrigation equals ET plus runoff, drainage and the change in storage; on land, ET returns about 60 percent of precipitation to the atmosphere, according to Li et al. In the energy balance, latent heat is the energy carried away by that same water. The Budyko framework puts the two together. On the horizontal axis is the aridity index, potential ET over precipitation; on the vertical, actual ET over precipitation. In humid regions on the left, ET is limited by energy and approaches the potential rate; in arid regions on the right, ET is limited by water and approaches precipitation. Real catchments follow a curve below both limits. This is why satellite ET is so useful for irrigated agriculture in semi-arid India: irrigation pushes ET above what rainfall alone would allow, and the excess is a direct measure of water consumed.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residual satellite method rests on this equation. Net radiation Rn is the energy the surface absorbs: incoming shortwave minus reflected shortwave, plus incoming longwave from the atmosphere minus longwave emitted by the surface. That energy is split into soil heat flux G that warms the ground, sensible heat H that warms the air, and latent heat λE that evaporates water. If we can map Rn, G and H, latent heat is what is left. Photosynthesis, canopy heat storage and horizontal advection are normally neglected; Bhattacharya et al. note that metabolic energy is about 5–6%. Two ratios matter: the Bowen ratio, H over λE, and the evaporative fraction, λE over available energy Rn − G. Evaporative fraction is the key quantity that many methods estimate and that stays nearly constant during a clear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FAO Irrigation and Drainage Paper 56 (Allen, Pereira, Raes and Smith, 1998) is the world standard for crop water requirements. It defines a hypothetical reference crop: a well-watered grass 0.12 metres tall, with a fixed surface resistance of 70 seconds per metre and an albedo of 0.23. Fixing the surface makes reference ET depend only on weather, so it can be compared across places and seasons. The FAO-56 Penman–Monteith equation on the slide comes from the full Penman–Monteith equation with those values inserted: 900 over T plus 273 and 0.34 times wind speed come from the aerodynamic resistance, 208 divided by wind speed at 2 metres. Net radiation is built from solar radiation using the Angstrom equation and a longwave term. When data are missing, FAO-56 allows radiation from temperature range, humidity from minimum temperature, a default wind of 2 metres per second, or the Hargreaves temperature equation, and pan evaporation can be converted with a pan coefficient. Priestley–Taylor, a simpler energy-only form, is used inside several satellite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FAO-56 gives a complete recipe for daily reference ET from standard weather data, and examiners like to ask how each term is obtained. From elevation you get atmospheric pressure and the psychrometric constant. From maximum and minimum temperature you get saturation vapour pressure, using the mean of the values at Tmax and Tmin rather than at mean temperature, and the slope of the vapour pressure curve. Actual vapour pressure comes preferably from dew point, otherwise from relative humidity. Wind measured at any height is converted to 2 metres with a logarithmic profile. Extraterrestrial radiation comes from latitude and day of year; solar radiation from sunshine hours with the Angstrom equation; net shortwave uses albedo 0.23; net longwave uses temperature, humidity and relative cloudiness. Daily soil heat flux is taken as zero. All of these feed the Penman–Monteith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 ET is reference ET multiplied by a crop coefficient that captures how the crop differs from grass in height, albedo, canopy resistance and soil evaporation. FAO-56 describes Kc over the season with four stages: initial, when soil evaporation dominates; development, when Kc rises with ground cover; mid-season, the peak at full cover; and late season, falling as leaves senesce. The table gives FAO-56 values for major Indian crops; the mid and end values are adjusted for wind and humidity when the climate differs from a sub-humid reference. The dual approach splits Kc into basal Kcb for transpiration and Ke for soil evaporation after rain or irrigation. Under water shortage, a stress coefficient Ks reduces ET once root-zone depletion exceeds readily available water, which is a fraction p of total available water. Remote sensing links in two ways: Kcb can be estimated from NDVI or SAVI, and energy-balance ET divided by reference ET gives the actual crop coefficient, including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 crop coefficient separates transpiration from soil evaporation. Basal Kcb represents a crop with a dry soil surface but enough root-zone water. Ke adds evaporation from wet soil after rain or irrigation; it is large right after wetting and falls as the topsoil dries, through a reduction coefficient Kr based on readily and total evaporable water, and it is capped by the energy available and the exposed, wetted soil fraction. Water stress enters through Ks, from a daily root-zone water balance. Depletion increases with ET and decreases with rain, irrigation and capillary rise. Total available water is the difference between field capacity and wilting point over the root depth; readily available water is a fraction p of it, around 0.5 for many crops. While depletion is below RAW, Ks equals one; beyond it, Ks falls linearly to zero at TAW. Irrigation is scheduled when depletion reaches RAW. FAO-56 also adjusts Kc mid and end for climates with wind other than 2 metres per second or minimum humidity other than 45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ET has to be checked against ground measurements, and each method has a different footprint and error. The weighing lysimeter is the only direct measurement: it weighs a soil block, so the change in mass is ET. Eddy covariance measures fast turbulent fluctuations of vertical wind and humidity; its footprint is roughly a hundred times the sensor height, but the measured fluxes usually do not close the energy balance by 10–30%. The Bowen ratio energy balance method measures temperature and humidity gradients and partitions available energy; the Kalpana-1 study used portable Bowen ratio units. Scintillometers measure sensible heat over a path of hundreds of metres to kilometres, closest to a satellite pixel. Soil water balance and sap flow are also used. Li et al. stress that the lack of ground truth at satellite pixel scale is one of the main open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weighing lysimeter is a large tank of soil, often 1 to 3 metres across and 1 to 2 metres deep, set flush with the field and planted with the same crop. It sits on a precise scale, so ET over an hour or a day is the loss of mass not explained by rain, irrigation or drainage. Good lysimeters resolve a few hundredths of a millimetre. The crop inside must match the surrounding field in height and density, otherwise edge and oasis effects bias the result. IARI New Delhi and several Indian agricultural universities operate lysimeters, which are used to derive crop coefficients. The Bowen ratio energy balance method measures air temperature and vapour pressure at two heights above the crop. Assuming heat and vapour are carried by the same eddies, the ratio of their gradients times the psychrometric constant gives the Bowen ratio, and available energy is split accordingly. It is cheap, portable and needs no wind measurements, which is why the SAC team used portable Bowen ratio units at its crop sites; it fails when the Bowen ratio is near minus one, at sunrise and sunset.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Eddy covariance is the standard micrometeorological method for measuring ET, sensible heat and CO2 flux directly. Near the ground, vertical transport happens through turbulent eddies. Each variable is split, by Reynolds decomposition, into a mean and a fluctuation. Over a flat, uniform surface the mean vertical wind is zero, so the net upward flux of water vapour is the time average of the product of the vertical wind fluctuation and the humidity fluctuation, their covariance. If rising air is on average moister than sinking air, there is an upward water flux. The same applies to temperature for sensible heat and to CO2 concentration. This needs a three-dimensional sonic anemometer, which measures the three wind components and sonic temperature, and a fast infrared gas analyser for water vapour and CO2, both sampled 10 to 20 times a second and averaged over 30 minutes. The tower must sit in a uniform field with enough upwind fetch, roughly 100 times the measurement height, and the instrument height is typically about twice the canopy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10 or 20 hertz data go through a standard processing chain before they become fluxes. Spikes and instrument faults are removed. The coordinate system is rotated so that the mean vertical wind is zero, by double rotation or the planar-fit method. The time lag between the sonic and the gas analyser is removed, especially for closed-path systems. Covariances are computed over 30 minutes. Sonic temperature is corrected for humidity, spectral losses from path averaging and sensor separation are corrected, and the Webb–Pearman–Leuning correction accounts for air density changes caused by heat and water fluxes. Quality tests check stationarity and turbulence, night data with low friction velocity are filtered, and gaps are filled, for example by marginal distribution sampling. A footprint model shows which upwind area the flux represents. Finally the energy balance closure is checked: turbulent fluxes usually add up to only 70 to 90 percent of available energy. The gap is often closed by preserving the Bowen ratio. Li et al. note that closure gaps can reach 20 percent even without advection, which limits validation of satellite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never measure ET directly. Optical bands give albedo, vegetation indices, leaf area index, fractional cover, emissivity and roughness. Thermal infrared bands give land surface temperature, which carries the strongest signal: a field that evaporates freely stays cool, and a stressed field heats up. Air temperature, wind speed and humidity still come from weather stations, reanalysis or weather models, and a digital elevation model corrects for slope and altitude. The table lists the thermal sensors used for ET. Landsat and ECOSTRESS give field-scale detail but revisit rarely; MODIS gives daily one-kilometre data; Indian geostationary sensors on Kalpana-1 and INSAT-3D give several images a day at coarse resolution. The planned ISRO–CNES TRISHNA mission is designed specifically for high-resolution thermal monitoring of ET and water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surface temperature is the most important satellite input, so it is worth knowing how it is retrieved. A thermal sensor measures radiance at the top of the atmosphere. Part comes from the surface, emitted according to Planck's law and its emissivity, part is downwelling sky radiance reflected by the surface, and part is emitted by the atmosphere itself, and the surface signal is reduced by atmospheric transmittance. SEBAL's paper writes exactly this equation. Three families of methods invert it. Single-channel methods, used for Landsat band 10, correct one band using water vapour or an atmospheric profile. Split-window methods use two adjacent bands near 11 and 12 micrometres, which are absorbed differently by water vapour, so their difference corrects the atmosphere; MODIS, INSAT-3D and Sentinel-3 use this. Temperature–emissivity separation, used for ASTER and ECOSTRESS, solves for both from several bands. Emissivity is usually estimated from NDVI. Typical accuracy is 1 to 2 kelvin, and view angle can change temperature by up to 5 degrees over sparse canopies.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visible and near-infrared bands supply the other surface parameters. Broadband albedo is a weighted sum of narrow-band surface reflectances, for example Liang's formula for Landsat; SEBAL instead corrects top-of-atmosphere albedo with a path radiance term and two-way transmittance. NDVI and SAVI measure greenness; METRIC estimates LAI from SAVI with an empirical equation, and fractional cover from scaled NDVI. These feed the emissivity, the soil heat flux ratio and the momentum roughness length, which METRIC takes as 0.018 times LAI for crops. The same NDVI drives the vegetation axis of the triangle method, the basal crop coefficient and the canopy fraction seen by a two-source model. The equations in the table are typical forms; coefficients vary by sensor and region and should be checked against local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 et al. (2009) sort remote-sensing ET methods by how much physics they use. Empirical methods regress daily ET on the surface–air temperature difference. Residual energy-balance methods compute Rn, G and H and take λE as the remainder; single-source models treat soil and vegetation as one surface, while two-source models separate them. Contextual methods use the scatter of surface temperature against a vegetation index or albedo within one image to find dry and wet limits. A fourth group drives Penman–Monteith or Priestley–Taylor with satellite inputs, as in the global MODIS MOD16 and GLEAM products, and the crop-coefficient approach uses NDVI-based Kc. Finally, data assimilation merges satellite temperature or soil moisture into a land surface model to give continuous ET. The rest of the deck follows this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full models, this section shows how each term of the energy balance is computed from satellite data. Net radiation and soil heat flux are fairly easy; sensible heat flux is the hard part because it depends on aerodynamic resistance and atmospheric stability. The last slide covers simple thermal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radiation is computed pixel by pixel from albedo, incoming solar radiation, surface emissivity and surface temperature. Albedo is a weighted sum of narrow-band reflectances; incoming solar radiation depends on sun angle, date, elevation and atmospheric transmissivity; surface emissivity can be estimated from NDVI with the Van de Griend and Owe formula, which both SEBAL and the Kalpana-1 study used; atmospheric emissivity comes from air temperature or vapour pressure. Satellite net radiation is accurate to about 5–10 percent. Soil heat flux cannot be seen from space, so it is estimated as a fraction of net radiation. SEBAL's formula makes G/Rn increase with surface temperature and albedo and decrease strongly as NDVI rises because the canopy shades the soil. The figure from Bastiaanssen et al. shows the extinction factor falling as NDVI increases. G at midday is 5 to 50 percent of Rn, but over a whole day it is close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Sensible heat flux is written like Ohm's law: a temperature difference divided by a resistance. The temperature difference is between the aerodynamic surface temperature and air temperature at a reference height, and the resistance depends on wind speed, surface roughness and atmospheric stability. Three problems make this hard. First, satellites see radiometric surface temperature, which differs from the aerodynamic temperature by 2 to 10 degrees over partial canopies; the excess resistance kB⁻¹ is used to correct for it. Second, the required accuracy of the temperature difference is about half a degree, which neither satellite LST nor interpolated air temperature can achieve. Third, the resistance depends on H itself through the Monin–Obukhov length, so it must be solved iteratively, as in the loop on the right. SEBAL usually converges in three or four iterations. These problems are exactly what the hot and cold pixel calibration in SEBAL and METRIC is designed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the surface, wind speed increases with the logarithm of height. Extrapolating the profile downward, wind reaches zero not at the ground but at a height equal to the zero-plane displacement d plus the momentum roughness length z0m. For a crop, d is about two thirds of canopy height and z0m about one eighth. Heat is transferred less efficiently than momentum, because momentum is also carried by pressure forces on leaves while heat must diffuse through the leaf boundary layer, so the effective source of heat sits lower, at z0h. The ratio is expressed as kB inverse, the natural log of z0m over z0h. A value of about 2.3 is common for dense vegetation, but over sparse canopies it can be much larger, and over bare soil even negative. This term is how single-source models patch the difference between the radiometric surface temperature the satellite sees and the aerodynamic temperature the equations need. SEBAL largely sidesteps it, because dT is calibrated at the anchors; two-source models avoid it by modelling soil and canopy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profile holds only in neutral air. On a sunny day the ground heats the air from below, buoyant parcels rise and turbulence is enhanced: the atmosphere is unstable, resistance to heat transfer is lower and fluxes are larger. At night, or over a cool irrigated field with warm air advected over it, the air is stable, turbulence is suppressed and resistance increases. Monin–Obukhov similarity theory describes this with the Obukhov length L, which compares mechanical turbulence from wind shear with buoyant turbulence from heating. L is negative when unstable and positive when stable, and the stability correction functions psi modify the log profile and the resistance. Because L depends on H and friction velocity, which in turn depend on the resistance, SEBAL and METRIC iterate. Hatfield et al. found that ignoring stability can overestimate ET when the canopy–air temperature difference exceeds about 2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oldest satellite approach, from Jackson and colleagues in 1977, relates daily ET directly to daily net radiation and the midday difference between surface and air temperature. B and n are site-specific coefficients that depend on roughness, wind and stability; Carlson linked them to fractional vegetation cover. It assumes daily soil heat flux is zero and that one midday measurement represents the day. Its error is around 1 millimetre per day, but the coefficients do not transfer between regions. The Crop Water Stress Index uses the same signal at field scale: for a given vapour pressure deficit, the canopy–air temperature difference lies between a lower baseline for a fully transpiring crop and an upper limit for a non-transpiring crop. CWSI is the relative position between them, from 0 (no stress) to 1 (full stress). Moran's Water Deficit Index extends this to partial cover using the trapezoid shown in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single-source residual models, which are the most widely used for agriculture. SEBAL, formulated by Bastiaanssen et al. in 1998, and its extension METRIC by Allen et al. in 2007, both avoid the need for accurate absolute surface temperature and air temperature by calibrating the sensible heat flux inside each image using a hot and a cold pixel. SEBS and SSEBop are two related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SEBAL, the Surface Energy Balance Algorithm for Land, was designed to work in heterogeneous terrain with almost no ground data. Its components, in the paper's Figure 1, go from satellite radiances to surface parameters such as albedo, vegetation index and surface temperature, then to the land surface parameterisation, the energy balance fluxes and finally moisture indicators like evaporative fraction. Latent heat is the residual. The key idea is that the image itself contains extremes: a dry pixel where latent heat is zero and a wet pixel where sensible heat is zero. Using these, the near-surface temperature difference is calibrated for that image and time, so there is no need for land-use maps, boundary-layer models or accurate air temperature. The paper lists its advantages and disadvantages in Table 1, summarised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 chart is the SEBAL procedure in the order it is computed. Satellite visible, near-infrared and thermal bands, a digital elevation model, and wind speed and solar radiation from one weather station are the inputs. Step 1 derives albedo, NDVI, LAI, emissivity and surface temperature. Step 2 computes net radiation, step 3 soil heat flux, and step 4 roughness and friction velocity, extrapolating wind to a blending height of 100 to 200 metres where it is assumed uniform. Step 5 selects the hot and cold pixels. Step 6 fits the linear dT–Ts relation through them. Step 7 computes H for every pixel, and step 8 corrects for stability, feeding back to step 6 because the hot pixel's resistance changes. Once H is stable, step 9 gives latent heat as the residual, and step 10 converts it to evaporative fraction, instantaneous ET and daily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SEBAL and METRIC. Instead of computing dT from satellite surface temperature and station air temperature, which would need half-degree accuracy, SEBAL inverts the sensible heat equation at two anchor pixels. At the cold pixel, a well-watered crop or water body, all available energy goes to evaporation, so H is zero and dT is zero. At the hot pixel, dry bare soil, latent heat is zero, so H equals Rn minus G and dT follows from the resistance. A straight line through these two points gives dT for every other pixel from its surface temperature. Bastiaanssen et al. checked the linearity with field data from HAPEX-Sahel in Niger, shown on the right, and from Egypt and China: dT versus T0 is almost perfectly linear, whereas air temperature itself varies little. Because surface temperature is only used to distribute dT, errors in absolute temperature or atmospheric correction largely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whole image is calibrated on two pixels, their selection is the largest source of error in SEBAL and METRIC; Li et al. call it subjective. In practice the choice follows a filtering sequence. Mask cropland first. For the cold pixel, keep the greenest fields, the top few percent of NDVI with LAI of about 3 to 4 or more and an albedo typical of a full crop, then take the coolest of these and check that the surrounding pixels are similar, so the anchor is not a mixed edge pixel. For the hot pixel, take dry bare agricultural soil with low NDVI and high temperature, avoiding roads, buildings, burnt land and wet soil after recent rain; METRIC runs a daily soil water balance to estimate residual evaporation there. Automated methods such as CIMEC, used in EEFlux and OpenET, choose anchors statistically from percentiles of NDVI and temperature. A 1-kelvin shift in the hot pixel temperature can change field ET by several percent, so anchors should be documented and checked against reference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Bastiaanssen et al. plot surface temperature against surface reflectance from Landsat TM over the Qattara Depression in Egypt. On wet to moderately dry land, temperature rises with albedo: drying soil becomes brighter and evaporates less, so it warms. This is the evaporation-controlled branch. Beyond a turning point, evaporation has stopped and brighter surfaces simply absorb less radiation, so they get cooler: the radiation-controlled branch. SEBAL uses pixels on this negative slope, where latent heat is close to zero, to identify dry land and to estimate the area-wide aerodynamic resistance and friction velocity. S-SEBI, by Roerink, Su and Menenti (2000), turns the same picture into a complete method: fit an upper dry edge and a lower wet edge as straight lines in albedo, and the evaporative fraction of any pixel is its relative position between them. It needs no ground data, and unlike SEBAL its extreme temperatures change with albedo. It does assume the atmosphere is the same across the scene. ISRO's Kalpana-1 method in section 5 uses exactly this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Mapping EvapoTranspiration at high Resolution with Internalized Calibration, was developed by Allen, Tasumi and Trezza (2007) from SEBAL for water-rights and irrigation work in Idaho. The energy balance and the dT–Ts calibration are the same. The differences are in how the anchors are set and how ET is extended in time. At the cold pixel, METRIC does not assume H equals zero; it sets ET to 1.05 times the hourly alfalfa reference ET from a weather station, because a well-watered crop can transpire more than the available energy when warm dry air is advected over it. At the hot pixel, a daily soil water balance checks whether residual evaporation from recent rain is still present. Cold pixels are chosen in agricultural fields that look like the alfalfa reference. Daily ET is obtained with the reference ET fraction, ETrF, instead of evaporative fraction, which handles afternoon advection and changing wind and humidity better. METRIC also corrects for slope, aspect and elevation using a 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follows the SEBAL sequence with three practical upgrades. Inputs are Landsat bands, a DEM and hourly data from an agricultural weather station, from which the hourly and daily alfalfa reference ET are computed with the standardised ASCE Penman–Monteith equation. Surface albedo, NDVI, LAI and emissivity are computed, and solar radiation on each pixel uses slope and aspect from the DEM. Surface temperature is adjusted to a common datum elevation with a lapse rate before fitting the dT relation, so mountains do not look like cold pixels. Soil heat flux uses a surface temperature, albedo and NDVI or LAI formula, and roughness comes from LAI or land cover. Wind is taken to 200 metres. The cold pixel is assigned 1.05 times reference ET, and the hot pixel's ET comes from a soil water balance. After the stability iteration, latent heat gives instantaneous ET, the reference ET fraction, daily ET, and through interpolation between images, seasonal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Landsat image gives ET for one day. To get seasonal crop water use, METRIC computes the reference ET fraction, ETrF, for each cloud-free image. ETrF is instantaneous ET divided by the alfalfa reference ET at the same time, and it behaves like a crop coefficient: it is low at sowing, peaks at full cover and falls at senescence. ETrF is interpolated between image dates, usually with a spline, and multiplied by the daily reference ET from the weather station, which carries the day-to-day weather. Summing gives seasonal ET. Cloudy periods simply widen the interpolation gap, and a rain shortly after an image needs a soil-evaporation adjustment. The figure is a synthetic illustration of the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other single-source models are worth knowing. SEBS, the Surface Energy Balance System by Su (2002), does not pick anchor pixels. It computes, for every pixel, the sensible heat at a theoretical dry limit, where latent heat is zero, and at a wet limit, where evaporation is at the potential rate with zero surface resistance, using a Penman–Monteith-type equation. The actual H from similarity theory is placed between these limits to give the relative evaporative fraction. SEBS also computes the heat roughness length dynamically through kB⁻¹ instead of using a fixed value. Its drawbacks are the many input parameters and a complex solution. SSEBop, the operational simplified SSEB by Senay et al. (2013), used by USGS and FEWS NET, goes the other way. It predefines the cold boundary as a fraction of air temperature and the hot–cold temperature difference from clear-sky net radiation for each pixel and day, so ET fraction is a simple temperature ratio multiplied by reference 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methods that use the spread of pixels within an image, the triangle and trapezoid; two-source models that treat soil and canopy separately, with ALEXI and DisALEXI; the global Penman–Monteith and Priestley–Taylor products MOD16, PT-JPL and GLEAM; the vegetation-index crop coefficient method; and data assimilation.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surface temperature is plotted against a vegetation index for many pixels with a full range of soil moisture and cover, the points fill a triangle. The upper edge, the dry edge, is the hottest temperature for each amount of vegetation, where soil moisture is unavailable. The lower edge, the wet edge, is the coolest, evaporating at the potential rate. The two meet at full vegetation cover. Jiang and Islam (1999) used this to scale a Priestley–Taylor coefficient phi from zero at the driest bare soil to 1.26 at the wettest full cover, interpolating linearly within the triangle, so ET can be mapped from satellite data alone. It needs many pixels on flat ground with a wide range of wetness and cover, and the edges are somewhat subjective. Moran et al. (1994) defined a trapezoid of surface minus air temperature against cover, with four vertices computed from Penman–Monteith: well-watered and stressed full cover, saturated and dry bare soil. The Water Deficit Index is one minus actual over potential ET and extends CWSI to partial cover. It needs fewer pixels but more weather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Ts–VI triangle is applied in practice, following Jiang and Islam as summarised by Li et al. First, compute surface temperature and NDVI, often scaled between their minimum and maximum, and remove clouds and water. Plot every pixel. The dry edge is found by taking the maximum temperature in each NDVI bin and fitting a line; the wet edge is the minimum temperature, often taken as nearly flat. Next set the Priestley–Taylor parameter phi: zero at the driest bare-soil corner and 1.26 at the wettest full-cover corner. Along the dry edge, phi increases linearly with NDVI; along the wet edge it is 1.26. Within each NDVI bin, phi is interpolated linearly with temperature between the two edges. Latent heat is phi times available energy times delta over delta plus gamma, and the evaporative fraction is phi times delta over delta plus gamma. Variants include Stisen's non-linear interpolation, day–night temperature differences, and the Temperature Vegetation Dryness Index, which uses the same space as a soil moisture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Single-source models struggle over partial canopies because the radiometric temperature mixes hot soil and cool leaves, so it differs from the aerodynamic temperature. The two-source model of Norman, Kustas and Humes (1995) splits the surface into soil and canopy. The measured radiometric temperature is a fourth-power mix of canopy and soil temperatures, weighted by the fraction of vegetation seen at the view angle, which depends on LAI and clumping. To solve for the two temperatures, TSEB starts by assuming the canopy transpires at the Priestley–Taylor rate with alpha 1.26. That gives canopy H and canopy temperature, then soil temperature from the mix, then soil H through a soil resistance, and soil evaporation as the residual. If soil evaporation comes out negative, the canopy must be stressed, so alpha is reduced and the loop repeated. The resistances can be in series, as drawn, or in parallel. TSEB separates evaporation from transpiration and needs no empirical excess resistance; it needs LAI, canopy height and leaf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 the Atmosphere–Land Exchange Inverse model of Anderson et al. (1997), removes the need for air temperature, one of the weakest inputs. Instead of absolute surface temperature, it uses the rise in radiometric temperature between two geostationary images in the morning, about 1.5 and 5.5 hours after sunrise. A time difference cancels most errors from emissivity and atmospheric correction. TSEB is applied at both times, and the energy partitioning is closed by a simple model of the atmospheric boundary layer: the sensible heat put into the air over the morning must equal the energy needed to grow and warm the boundary layer, as seen in morning radiosondes. A dry pixel warms fast and grows a deep boundary layer; a wet pixel warms slowly. ALEXI runs at 5–10 km over continents with GOES or Meteosat. Its ratio of actual to potential ET gives the Evaporative Stress Index, used for flash-drought monitoring. The figure is a synthetic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ALEXI gives reliable but coarse ET. DisALEXI disaggregates it to field scale. It takes the ALEXI air temperature at the blending height, about 50 metres, as the upper boundary, and runs TSEB with high-resolution surface temperature and LAI from MODIS at 1 kilometre or Landsat at 30 to 100 metres. The air temperature is adjusted until the fine-resolution fluxes, averaged back to the ALEXI pixel, match the ALEXI value. This keeps the fine map consistent with the coarse one. Because Landsat sees each place only every 8 to 16 days, the STARFM fusion method combines frequent MODIS with sharp Landsat to make a daily 30-metre series, as Semmens et al. (2016) did over vineyards. Thermal sharpening, using the finer optical bands to downscale the 100-metre Landsat thermal band to 30 metres, is often applied first. This chain is one of the six models in the OpenET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MOD16, developed by Mu, Heinsch, Zhao and Running (2007) and improved in 2011, is NASA's global MODIS ET product. It does not use surface temperature. Instead it runs the Penman–Monteith equation separately for three components: evaporation of water intercepted on wet leaves, transpiration from dry leaves, and evaporation from the soil. Satellite inputs are MODIS land cover, LAI and FPAR, and albedo; weather comes from the GMAO reanalysis. The key step is the surface conductance for transpiration: a maximum stomatal conductance for each land cover is reduced by multipliers for low minimum temperature and high vapour pressure deficit, and scaled by LAI. Soil evaporation is the potential rate reduced by a moisture constraint based on relative humidity and vapour pressure deficit. The wet fraction of the surface is estimated from relative humidity. Day and night are computed separately and summed. MOD16 provides 8-day ET at 500 metres to 1 kilometre globally. Its weakness is that water stress is only inferred from the atmosphere, so it can miss irrigation and soil-moisture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other global approaches start from Priestley–Taylor potential evaporation and reduce it with stress factors. PT-JPL, by Fisher, Tu and Baldocchi (2008), splits net radiation between canopy and soil and computes canopy transpiration, soil evaporation and interception separately. Each is the Priestley–Taylor rate multiplied by eco-physiological constraints: a green canopy fraction from the ratio of absorbed to intercepted PAR, a temperature constraint peaking at an optimum temperature, a plant moisture constraint from FAPAR relative to its maximum, a soil moisture constraint from relative humidity and VPD, and a wet-surface fraction from relative humidity to the fourth power. It needs no calibration and is one of the algorithms used for NASA's ECOSTRESS. GLEAM, by Miralles et al. (2011), combines Priestley–Taylor with an evaporative stress factor derived from satellite microwave soil moisture and vegetation optical depth, a multi-layer soil water balance driven by precipitation, and the Gash model for rainfall interception. It gives daily ET at 0.25 degrees and links directly to the microwave soil moisture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operational approach combines FAO-56 with optical remote sensing. The basal crop coefficient rises with canopy cover in almost the same way as a vegetation index, so Kcb can be estimated as a linear function of NDVI or SAVI, an idea going back to Bausch and Neale (1987) and reviewed by Pôças et al. (2020). FAO-56 itself gives a cover-based formula, using a density coefficient from effective ground cover and height. Multiplying satellite Kcb by reference ET from a weather station or a gridded product gives crop ET under unstressed conditions, and adding soil evaporation and a stress coefficient from a soil water balance gives actual ET. With Sentinel-2 every five days at 10 metres, this works at field scale even without a thermal band. Its weakness is that NDVI responds to stress slowly, so short-term water stress is missed unless the soil water balance is run; thermal-based energy balance methods detect stress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ET models give snapshots on clear days. Data assimilation fills the gaps by combining observations with a dynamic model. Li et al. describe a data assimilation system as three components: a set of observations, a dynamic model, and an assimilation technique. The model, usually a land surface model such as Noah or CLM, steps forward in time with weather forcing. When an observation arrives, such as land surface temperature, microwave soil moisture or LAI, the model state is corrected in proportion to the relative uncertainty of the model and the observation. Sequential methods like the ensemble Kalman filter update the state at each observation time; variational methods like 4D-Var adjust the model over a whole window to fit all observations. The result is continuous ET, with intermediate variables such as soil moisture and fluxes, at the model's time step and resolution. The cost is computing power and dependence on model structure. Margulis et al. found assimilation slightly better than the triangle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scaling, which every satellite method needs: from the instant of overpass to daily totals, with the assumptions behind each method and a worked numerical example, then to seasonal totals and between spatial resolutions.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polar-orbiting satellite sees a field once, at a fixed local time: about 10:30 for Landsat, Sentinel-2 and MODIS-Terra, and 13:30 for MODIS-Aqua. The energy balance therefore gives latent heat in watts per square metre at that instant, while irrigation and water accounting need millimetres per day. Daily ET is the integral of latent heat over the day divided by the latent heat of vaporisation. Since only one value is known, every method assumes that some ratio stays constant through the day and scales it by a quantity that can be computed for the whole day from weather data. The most common is evaporative fraction. Its justification, called self-preservation, is that on clear days the partition of energy is controlled by slowly changing land surface properties, soil moisture, vegetation and resistances, while radiation and temperature change quickly; Bhattacharya et al. use the same reasoning. The figure shows available energy, latent and sensible heat changing strongly through the day while their ratio stays nearly flat. EF is in fact slightly higher in early morning and late afternoon, so the midday value tends to underestimate daily ET a little; night-time ET adds roughly 10 percent; and clouds or afternoon advection break the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 et al. review three main methods, and geostationary data allow a fourth. The constant evaporative fraction method, from Sugita and Brutsaert, multiplies the instantaneous EF by daily available energy; daily soil heat flux is taken as zero, so daily net radiation is enough. ALEXI multiplies EF by 1.1 to include night-time ET. METRIC holds the reference ET fraction constant and multiplies it by daily alfalfa reference ET from a weather station; because reference ET includes the afternoon rise in vapour pressure deficit and wind, this captures advection better than EF. The sine method of Jackson assumes ET follows the sine-shaped course of solar radiation between sunrise and sunset, so the ratio of daily to instantaneous ET depends only on day length and the time since sunrise. Bhattacharya et al. use a version of the sine method to convert noon available energy to a daytime average, then apply the noon evaporative fraction. Finally, geostationary satellites such as INSAT-3D can sample every half hour and integrate directly, which the SAC authors proposed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complete numerical example for one irrigated wheat pixel, with illustrative but realistic numbers. At the 11:00 overpass, the energy balance gives net radiation 600, soil heat flux 60 and sensible heat 150 watts per square metre, so latent heat is 390 and evaporative fraction 0.72. Converting the instant: 390 divided by 2.45 million joules per kilogram, times 3600 seconds, is 0.57 millimetres per hour. Method 1: daily net radiation is 13.5 megajoules per square metre; with daily soil heat flux zero, daily latent energy is 0.72 times 13.5, or 9.75 megajoules, which divided by 2.45 gives 4.0 millimetres per day. Method 2: the hourly alfalfa reference ET at 11:00 is 0.75 millimetres per hour, so ETrF is 0.76; with daily reference ET of 6.0 millimetres, ET is 4.6 millimetres per day. Method 3: with sunrise at 6:00 and 12 hours of daylight, the overpass is 5 hours after sunrise; the sine factor is 24 over pi times the sine of 75 degrees, about 7.9 hours, so ET is 0.57 times 7.9, about 4.5 millimetres per day. The spread of about 15 percent shows that the choice of scaling method matters, and why METRIC prefers ETrF in advective, semi-arid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scaling problems remain. In time, daily estimates exist only on clear-sky overpass days, so seasonal totals need gap filling: interpolate a slowly varying ratio such as EF, ETrF or an actual Kc between images and multiply by daily reference ET; composite over 8 days as the Kalpana-1 study did; fuse sensors; or use a land surface model with data assimilation, which Li et al. note gives continuous fluxes at higher computing cost. In space, thermal pixels are coarser than optical ones, so the temperature and vegetation inputs do not match unless the thermal band is sharpened. Because the equations are non-linear, averaging inputs and then computing flux is not the same as computing flux and then averaging, especially over heterogeneous fields. And validation needs the footprint to match the pixel, which is why scintillometers or stepwise up-scaling are used. Li et al. list scaling and pixel-scale validation among the main unresolved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section walks through the ISRO Space Applications Centre method for ET over India from Kalpana-1, then looks at error sources and sensitivity, applications, Indian missions and future directions, and closes with a comparison of methods, an end-to-end workflow and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Bhattacharya, Mallick, Patel and Parihar at the Space Applications Centre, Ahmedabad, built the first ET processing chain for India from an Indian geostationary satellite. Kalpana-1's VHRR sensor has visible, water vapour and thermal infrared bands at 74 degrees East. They used the noon slot at 0900 GMT, 2:30 pm local time, and a night slot at 2100 GMT, avoiding early-morning fog and the time when the moon enters the field of view. All bands were resampled to 0.08 degrees. The flow chart from the paper shows the chain: visible planetary albedo gives surface albedo; noon thermal and water vapour bands give land surface temperature and insolation; noon and midnight temperatures give maximum and minimum air temperature through a proxy function; NDVI climatology gives emissivity. Together these give noon available energy, the evaporative fraction comes from the temperature–albedo scatter, and the product gives noon latent heat, then daytime latent heat and daily ET. No ground data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Kalpana-1 VHRR has no red or near-infrared band, NDVI-based triangle methods could not be used from the same platform, so the team used the temperature–albedo space of S-SEBI. In the conceptual figure, surface temperature first rises with albedo along the evaporation-controlled branch up to an inflection point B, then falls along the radiation-controlled branch. The upper line D–C is the dry edge, where latent heat is zero and sensible heat is maximum; the lower line E–F is the wet edge, where sensible heat is zero. For each day, both edges are fitted by regression on albedo classes, and the evaporative fraction of every pixel is its relative position between them. The right panel shows real scatters on five dates over the rabi season, with the fitted edges. The method is simple and needs no ground data, but it fails if the atmosphere varies strongly across India or if wet and dry pixels are missing, and large-scale advection can alter the partitioning at 8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Validating an 8-kilometre pixel directly against a tower is not meaningful, so the study used a two-step approach. First, MODIS-Aqua ET at about 1 kilometre, computed with the same algorithm, was validated against field energy-balance measurements at five 2 by 2 kilometre crop sites: wheat at Ludhiana and Hissar, sorghum at Bijapur, groundnut at Dhenkanal and rice at Nadia, measured with portable Bowen ratio units every 14 days. Second, 8 by 8 MODIS pixels were averaged to the Kalpana-1 grid and compared wall to wall over Indian cropland, using 8-day composites to reduce data gaps. The maps show 8-day ET from both sensors across the rabi season. Results in brief: daily ET errors of 25 to 32 percent, 8-day RMSD of 26 percent with a correlation of 0.80 over nearly 53,000 pixel pairs, and larger errors where fields are heterogeneous. The authors expected INSAT-3D, with 4-kilometre split-window thermal bands and half-hourly data, to improve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satellite ET estimate is better than its inputs. Li et al. summarise typical uncertainties: satellite net radiation 5 to 10 percent, soil heat flux 20 to 30 percent but small at midday, and sensible heat from the bulk transfer equation about 15 to 20 percent, similar to the uncertainty of the ground methods themselves. SEBAL's authors report typical accuracy of about 85 percent at daily and 95 percent at seasonal scale, because random errors partly cancel over time. The Kalpana-1 study ran a one-at-a-time sensitivity analysis: each input was changed by plus or minus 10 percent, or 1 kelvin for surface temperature, and the relative change in each flux recorded. Latent heat was most sensitive to surface temperature and insolation, sensitive to albedo especially for some crops and stages, moderately to air temperature, and hardly at all to NDVI, which only enters through emissivity and soil heat flux. In single-source models with independent air temperature, a 1-kelvin error in dT can change H by tens of watts per square metre; that is why internal calibration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 ET is used in many ways. For irrigation, comparing actual ET with crop water requirement shows where and when fields are under-irrigated, and the ratio of actual to potential ET over a command area measures irrigation adequacy, equity and uniformity. Dividing yield or biomass by ET gives water productivity in kilograms per cubic metre, which FAO's WaPOR portal maps across Africa and the Near East using an energy-balance based model. Drought monitoring uses ET anomalies and the Evaporative Stress Index, which responds faster than vegetation indices and can warn of flash droughts. Crop models and yield forecasts use ET or its stress ratio. Basin water accounting uses ET to quantify consumptive use and groundwater depletion, as irrigated ET above rainfall must come from surface or groundwater. ET maps also calibrate hydrological and land surface models and help detect water-rights violations, the original purpose of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ISRO interview it is worth knowing the Indian context. The Kalpana-1 work at SAC showed that ET could be mapped over India from a geostationary platform. INSAT-3D and 3DR followed, with split-window thermal bands at 4 kilometres and imaging every 15 to 30 minutes, and their land surface temperature and insolation products are distributed through MOSDAC. The planned ISRO–CNES TRISHNA mission will carry a thermal imager with about 57-metre resolution and a revisit of a few days, designed for ET, crop water stress and irrigation monitoring; high-resolution thermal data are the main missing piece for field-scale ET. Soil moisture from microwave missions such as EOS-04 and NISAR can constrain ET models on cloudy days, and the Resourcesat and Sentinel-2 optical sensors give crop coefficients. Internationally, ECOSTRESS, Landsat Next and ESA's LSTM mission are adding thermal capacity. Research directions include ensembles such as OpenET, machine-learning hybrids trained on flux towers, assimilation into land surface models, and using sun-induced fluorescence to estimate 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condenses Li et al.'s comparison with additions for METRIC, SSEBop and the global products. When choosing, think about the scale and the data available. For field-scale irrigation with Landsat and a weather station, METRIC or SEBAL. For data-poor regions, SEBAL, S-SEBI or the triangle, which need little or no ground data. For sparse canopies or separating evaporation and transpiration, TSEB. For continental drought monitoring without air temperature, ALEXI. For global daily products, MOD16, PT-JPL or GLEAM. The bottom row lists the six common problem areas from Li et al.: clouds and revisit, model assumptions, accuracy of land surface variables, sparse weather data, scaling, and validation at pixel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here is the complete workflow you can draw in an interview. Start with data: optical and thermal satellite bands, weather data for reference ET and wind, and a DEM. Pre-process: cloud masking, atmospheric correction, land surface temperature, albedo, NDVI, LAI and emissivity. Choose a model to suit the purpose and data: METRIC or SEBAL for field-scale irrigation with Landsat; S-SEBI or the triangle where ground data are scarce; TSEB for sparse or row crops; ALEXI and DisALEXI for regional drought monitoring; MOD16, PT-JPL or GLEAM when global daily coverage matters. The model gives instantaneous latent heat. Scale to daily with constant EF or ETrF, then to seasonal by interpolating between clear days and multiplying by daily reference ET. Validate with eddy covariance, lysimeters, Bowen ratio or scintillometers, remembering footprint and closure. Finally, deliver products for irrigation, water productivity, drought and water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questions an ISRO interview panel may ask on satellite ET, with one-line answers. Practise expanding each into two or three sentences, and be ready to draw the SEBAL flow chart, the hot and cold pixel line, the Ts–albedo or Ts–NDVI scatter, and the diurnal curves that justify constant evaporative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Satellite evapotranspiration estimation  ·  ISRO interview prep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4.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4.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slideLayout" Target="../slideLayouts/slideLayout4.xml"/><Relationship Id="rId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Satellite-based Evapotranspiration Estimation</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Concepts and methodology: surface energy balance, SEBAL, METRIC, SEBS, triangle methods, TSEB/ALEXI, temporal and spatial scaling, and ISRO's Kalpana-1 approach — for the ISRO interview</a:t>
            </a:r>
            <a:endParaRPr lang="en-US" sz="1800" dirty="0"/>
          </a:p>
        </p:txBody>
      </p:sp>
      <p:sp>
        <p:nvSpPr>
          <p:cNvPr id="4" name="glow"/>
          <p:cNvSpPr/>
          <p:nvPr/>
        </p:nvSpPr>
        <p:spPr>
          <a:xfrm>
            <a:off x="8229600" y="1005840"/>
            <a:ext cx="3291840" cy="3291840"/>
          </a:xfrm>
          <a:prstGeom prst="ellipse">
            <a:avLst/>
          </a:prstGeom>
          <a:solidFill>
            <a:schemeClr val="accent2">
              <a:alpha val="45000"/>
            </a:schemeClr>
          </a:solidFill>
          <a:ln/>
        </p:spPr>
      </p:sp>
      <p:sp>
        <p:nvSpPr>
          <p:cNvPr id="5" name="icon circle"/>
          <p:cNvSpPr/>
          <p:nvPr/>
        </p:nvSpPr>
        <p:spPr>
          <a:xfrm>
            <a:off x="8915400" y="1691640"/>
            <a:ext cx="1920240" cy="1920240"/>
          </a:xfrm>
          <a:prstGeom prst="ellipse">
            <a:avLst/>
          </a:prstGeom>
          <a:solidFill>
            <a:schemeClr val="accent2"/>
          </a:solidFill>
          <a:ln/>
        </p:spPr>
      </p:sp>
      <p:pic>
        <p:nvPicPr>
          <p:cNvPr id="6" name="Image 0" descr="Tint icon">    </p:cNvPr>
          <p:cNvPicPr>
            <a:picLocks noChangeAspect="1"/>
          </p:cNvPicPr>
          <p:nvPr/>
        </p:nvPicPr>
        <p:blipFill>
          <a:blip r:embed="rId1"/>
          <a:stretch>
            <a:fillRect/>
          </a:stretch>
        </p:blipFill>
        <p:spPr>
          <a:xfrm>
            <a:off x="9414662" y="2190902"/>
            <a:ext cx="921715" cy="921715"/>
          </a:xfrm>
          <a:prstGeom prst="rect">
            <a:avLst/>
          </a:prstGeom>
        </p:spPr>
      </p:pic>
      <p:sp>
        <p:nvSpPr>
          <p:cNvPr id="7" name="Text 4"/>
          <p:cNvSpPr txBox="1"/>
          <p:nvPr/>
        </p:nvSpPr>
        <p:spPr>
          <a:xfrm>
            <a:off x="7589520" y="4572000"/>
            <a:ext cx="2194560" cy="548640"/>
          </a:xfrm>
          <a:prstGeom prst="rect">
            <a:avLst/>
          </a:prstGeom>
          <a:noFill/>
          <a:ln/>
        </p:spPr>
        <p:txBody>
          <a:bodyPr wrap="square" lIns="0" tIns="0" rIns="0" bIns="0" rtlCol="0" anchor="ctr"/>
          <a:lstStyle/>
          <a:p>
            <a:pPr algn="ctr" indent="0" marL="0">
              <a:buNone/>
            </a:pPr>
            <a:r>
              <a:rPr lang="en-US" sz="1900" b="1" dirty="0">
                <a:solidFill>
                  <a:schemeClr val="accent3"/>
                </a:solidFill>
                <a:latin typeface="Cambria" pitchFamily="34" charset="0"/>
                <a:ea typeface="Cambria" pitchFamily="34" charset="-122"/>
                <a:cs typeface="Cambria" pitchFamily="34" charset="-120"/>
              </a:rPr>
              <a:t>λE = Rn − G − H</a:t>
            </a:r>
            <a:endParaRPr lang="en-US" sz="1900" dirty="0"/>
          </a:p>
        </p:txBody>
      </p:sp>
      <p:sp>
        <p:nvSpPr>
          <p:cNvPr id="8" name="Text 5"/>
          <p:cNvSpPr txBox="1"/>
          <p:nvPr/>
        </p:nvSpPr>
        <p:spPr>
          <a:xfrm>
            <a:off x="7589520" y="5120640"/>
            <a:ext cx="2194560" cy="548640"/>
          </a:xfrm>
          <a:prstGeom prst="rect">
            <a:avLst/>
          </a:prstGeom>
          <a:noFill/>
          <a:ln/>
        </p:spPr>
        <p:txBody>
          <a:bodyPr wrap="square" lIns="0" tIns="0" rIns="0" bIns="0" rtlCol="0" anchor="ctr"/>
          <a:lstStyle/>
          <a:p>
            <a:pPr algn="ctr" indent="0" marL="0">
              <a:buNone/>
            </a:pPr>
            <a:r>
              <a:rPr lang="en-US" sz="1100" dirty="0">
                <a:solidFill>
                  <a:schemeClr val="bg2"/>
                </a:solidFill>
              </a:rPr>
              <a:t>ET as the residual of the energy balance</a:t>
            </a:r>
            <a:endParaRPr lang="en-US" sz="1100" dirty="0"/>
          </a:p>
        </p:txBody>
      </p:sp>
      <p:sp>
        <p:nvSpPr>
          <p:cNvPr id="9" name="Text 6"/>
          <p:cNvSpPr txBox="1"/>
          <p:nvPr/>
        </p:nvSpPr>
        <p:spPr>
          <a:xfrm>
            <a:off x="9875520" y="4572000"/>
            <a:ext cx="2194560" cy="548640"/>
          </a:xfrm>
          <a:prstGeom prst="rect">
            <a:avLst/>
          </a:prstGeom>
          <a:noFill/>
          <a:ln/>
        </p:spPr>
        <p:txBody>
          <a:bodyPr wrap="square" lIns="0" tIns="0" rIns="0" bIns="0" rtlCol="0" anchor="ctr"/>
          <a:lstStyle/>
          <a:p>
            <a:pPr algn="ctr" indent="0" marL="0">
              <a:buNone/>
            </a:pPr>
            <a:r>
              <a:rPr lang="en-US" sz="1900" b="1" dirty="0">
                <a:solidFill>
                  <a:schemeClr val="accent3"/>
                </a:solidFill>
                <a:latin typeface="Cambria" pitchFamily="34" charset="0"/>
                <a:ea typeface="Cambria" pitchFamily="34" charset="-122"/>
                <a:cs typeface="Cambria" pitchFamily="34" charset="-120"/>
              </a:rPr>
              <a:t>EF ≈ constant</a:t>
            </a:r>
            <a:endParaRPr lang="en-US" sz="1900" dirty="0"/>
          </a:p>
        </p:txBody>
      </p:sp>
      <p:sp>
        <p:nvSpPr>
          <p:cNvPr id="10" name="Text 7"/>
          <p:cNvSpPr txBox="1"/>
          <p:nvPr/>
        </p:nvSpPr>
        <p:spPr>
          <a:xfrm>
            <a:off x="9875520" y="5120640"/>
            <a:ext cx="2194560" cy="548640"/>
          </a:xfrm>
          <a:prstGeom prst="rect">
            <a:avLst/>
          </a:prstGeom>
          <a:noFill/>
          <a:ln/>
        </p:spPr>
        <p:txBody>
          <a:bodyPr wrap="square" lIns="0" tIns="0" rIns="0" bIns="0" rtlCol="0" anchor="ctr"/>
          <a:lstStyle/>
          <a:p>
            <a:pPr algn="ctr" indent="0" marL="0">
              <a:buNone/>
            </a:pPr>
            <a:r>
              <a:rPr lang="en-US" sz="1100" dirty="0">
                <a:solidFill>
                  <a:schemeClr val="bg2"/>
                </a:solidFill>
              </a:rPr>
              <a:t>how one snapshot becomes daily ET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From satellite radiance to crop water use</a:t>
            </a:r>
            <a:endParaRPr lang="en-US" sz="3200" dirty="0"/>
          </a:p>
        </p:txBody>
      </p:sp>
      <p:sp>
        <p:nvSpPr>
          <p:cNvPr id="4" name="diagram box"/>
          <p:cNvSpPr/>
          <p:nvPr/>
        </p:nvSpPr>
        <p:spPr>
          <a:xfrm>
            <a:off x="548640" y="1417320"/>
            <a:ext cx="1691640" cy="1234440"/>
          </a:xfrm>
          <a:prstGeom prst="roundRect">
            <a:avLst>
              <a:gd name="adj" fmla="val 5926"/>
            </a:avLst>
          </a:prstGeom>
          <a:solidFill>
            <a:srgbClr val="3B6EA5"/>
          </a:solidFill>
          <a:ln/>
        </p:spPr>
      </p:sp>
      <p:sp>
        <p:nvSpPr>
          <p:cNvPr id="5" name="Text 2"/>
          <p:cNvSpPr txBox="1"/>
          <p:nvPr/>
        </p:nvSpPr>
        <p:spPr>
          <a:xfrm>
            <a:off x="54864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bg1"/>
                </a:solidFill>
              </a:rPr>
              <a:t>Satellite radiance: VIS · NIR · TIR</a:t>
            </a:r>
            <a:endParaRPr lang="en-US" sz="1150" dirty="0"/>
          </a:p>
        </p:txBody>
      </p:sp>
      <p:sp>
        <p:nvSpPr>
          <p:cNvPr id="6" name="arrow"/>
          <p:cNvSpPr/>
          <p:nvPr/>
        </p:nvSpPr>
        <p:spPr>
          <a:xfrm>
            <a:off x="2249424" y="2029968"/>
            <a:ext cx="164592" cy="0"/>
          </a:xfrm>
          <a:prstGeom prst="line">
            <a:avLst/>
          </a:prstGeom>
          <a:noFill/>
          <a:ln w="28575">
            <a:solidFill>
              <a:srgbClr val="1E2430"/>
            </a:solidFill>
            <a:prstDash val="solid"/>
            <a:tailEnd type="triangle"/>
          </a:ln>
        </p:spPr>
      </p:sp>
      <p:sp>
        <p:nvSpPr>
          <p:cNvPr id="7" name="diagram box"/>
          <p:cNvSpPr/>
          <p:nvPr/>
        </p:nvSpPr>
        <p:spPr>
          <a:xfrm>
            <a:off x="2423160" y="1417320"/>
            <a:ext cx="1691640" cy="1234440"/>
          </a:xfrm>
          <a:prstGeom prst="roundRect">
            <a:avLst>
              <a:gd name="adj" fmla="val 5926"/>
            </a:avLst>
          </a:prstGeom>
          <a:solidFill>
            <a:srgbClr val="2E7D4F"/>
          </a:solidFill>
          <a:ln/>
        </p:spPr>
      </p:sp>
      <p:sp>
        <p:nvSpPr>
          <p:cNvPr id="8" name="Text 5"/>
          <p:cNvSpPr txBox="1"/>
          <p:nvPr/>
        </p:nvSpPr>
        <p:spPr>
          <a:xfrm>
            <a:off x="242316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bg1"/>
                </a:solidFill>
              </a:rPr>
              <a:t>Surface variables: albedo, NDVI, LAI, LST, ε</a:t>
            </a:r>
            <a:endParaRPr lang="en-US" sz="1150" dirty="0"/>
          </a:p>
        </p:txBody>
      </p:sp>
      <p:sp>
        <p:nvSpPr>
          <p:cNvPr id="9" name="arrow"/>
          <p:cNvSpPr/>
          <p:nvPr/>
        </p:nvSpPr>
        <p:spPr>
          <a:xfrm>
            <a:off x="4123944" y="2029968"/>
            <a:ext cx="164592" cy="0"/>
          </a:xfrm>
          <a:prstGeom prst="line">
            <a:avLst/>
          </a:prstGeom>
          <a:noFill/>
          <a:ln w="28575">
            <a:solidFill>
              <a:srgbClr val="1E2430"/>
            </a:solidFill>
            <a:prstDash val="solid"/>
            <a:tailEnd type="triangle"/>
          </a:ln>
        </p:spPr>
      </p:sp>
      <p:sp>
        <p:nvSpPr>
          <p:cNvPr id="10" name="diagram box"/>
          <p:cNvSpPr/>
          <p:nvPr/>
        </p:nvSpPr>
        <p:spPr>
          <a:xfrm>
            <a:off x="4297680" y="1417320"/>
            <a:ext cx="1691640" cy="1234440"/>
          </a:xfrm>
          <a:prstGeom prst="roundRect">
            <a:avLst>
              <a:gd name="adj" fmla="val 5926"/>
            </a:avLst>
          </a:prstGeom>
          <a:solidFill>
            <a:srgbClr val="1B4965"/>
          </a:solidFill>
          <a:ln/>
        </p:spPr>
      </p:sp>
      <p:sp>
        <p:nvSpPr>
          <p:cNvPr id="11" name="Text 8"/>
          <p:cNvSpPr txBox="1"/>
          <p:nvPr/>
        </p:nvSpPr>
        <p:spPr>
          <a:xfrm>
            <a:off x="429768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bg1"/>
                </a:solidFill>
              </a:rPr>
              <a:t>Energy balance: Rn, G, H → λE</a:t>
            </a:r>
            <a:endParaRPr lang="en-US" sz="1150" dirty="0"/>
          </a:p>
        </p:txBody>
      </p:sp>
      <p:sp>
        <p:nvSpPr>
          <p:cNvPr id="12" name="arrow"/>
          <p:cNvSpPr/>
          <p:nvPr/>
        </p:nvSpPr>
        <p:spPr>
          <a:xfrm>
            <a:off x="5998464" y="2029968"/>
            <a:ext cx="164592" cy="0"/>
          </a:xfrm>
          <a:prstGeom prst="line">
            <a:avLst/>
          </a:prstGeom>
          <a:noFill/>
          <a:ln w="28575">
            <a:solidFill>
              <a:srgbClr val="1E2430"/>
            </a:solidFill>
            <a:prstDash val="solid"/>
            <a:tailEnd type="triangle"/>
          </a:ln>
        </p:spPr>
      </p:sp>
      <p:sp>
        <p:nvSpPr>
          <p:cNvPr id="13" name="diagram box"/>
          <p:cNvSpPr/>
          <p:nvPr/>
        </p:nvSpPr>
        <p:spPr>
          <a:xfrm>
            <a:off x="6172200" y="1417320"/>
            <a:ext cx="1691640" cy="1234440"/>
          </a:xfrm>
          <a:prstGeom prst="roundRect">
            <a:avLst>
              <a:gd name="adj" fmla="val 5926"/>
            </a:avLst>
          </a:prstGeom>
          <a:solidFill>
            <a:srgbClr val="6C4F9E"/>
          </a:solidFill>
          <a:ln/>
        </p:spPr>
      </p:sp>
      <p:sp>
        <p:nvSpPr>
          <p:cNvPr id="14" name="Text 11"/>
          <p:cNvSpPr txBox="1"/>
          <p:nvPr/>
        </p:nvSpPr>
        <p:spPr>
          <a:xfrm>
            <a:off x="617220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bg1"/>
                </a:solidFill>
              </a:rPr>
              <a:t>Instantaneous ET at overpass</a:t>
            </a:r>
            <a:endParaRPr lang="en-US" sz="1150" dirty="0"/>
          </a:p>
        </p:txBody>
      </p:sp>
      <p:sp>
        <p:nvSpPr>
          <p:cNvPr id="15" name="arrow"/>
          <p:cNvSpPr/>
          <p:nvPr/>
        </p:nvSpPr>
        <p:spPr>
          <a:xfrm>
            <a:off x="7872984" y="2029968"/>
            <a:ext cx="164592" cy="0"/>
          </a:xfrm>
          <a:prstGeom prst="line">
            <a:avLst/>
          </a:prstGeom>
          <a:noFill/>
          <a:ln w="28575">
            <a:solidFill>
              <a:srgbClr val="1E2430"/>
            </a:solidFill>
            <a:prstDash val="solid"/>
            <a:tailEnd type="triangle"/>
          </a:ln>
        </p:spPr>
      </p:sp>
      <p:sp>
        <p:nvSpPr>
          <p:cNvPr id="16" name="diagram box"/>
          <p:cNvSpPr/>
          <p:nvPr/>
        </p:nvSpPr>
        <p:spPr>
          <a:xfrm>
            <a:off x="8046720" y="1417320"/>
            <a:ext cx="1691640" cy="1234440"/>
          </a:xfrm>
          <a:prstGeom prst="roundRect">
            <a:avLst>
              <a:gd name="adj" fmla="val 5926"/>
            </a:avLst>
          </a:prstGeom>
          <a:solidFill>
            <a:srgbClr val="C0702A"/>
          </a:solidFill>
          <a:ln/>
        </p:spPr>
      </p:sp>
      <p:sp>
        <p:nvSpPr>
          <p:cNvPr id="17" name="Text 14"/>
          <p:cNvSpPr txBox="1"/>
          <p:nvPr/>
        </p:nvSpPr>
        <p:spPr>
          <a:xfrm>
            <a:off x="804672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bg1"/>
                </a:solidFill>
              </a:rPr>
              <a:t>Scaling: daily, seasonal, field to region</a:t>
            </a:r>
            <a:endParaRPr lang="en-US" sz="1150" dirty="0"/>
          </a:p>
        </p:txBody>
      </p:sp>
      <p:sp>
        <p:nvSpPr>
          <p:cNvPr id="18" name="arrow"/>
          <p:cNvSpPr/>
          <p:nvPr/>
        </p:nvSpPr>
        <p:spPr>
          <a:xfrm>
            <a:off x="9747504" y="2029968"/>
            <a:ext cx="164592" cy="0"/>
          </a:xfrm>
          <a:prstGeom prst="line">
            <a:avLst/>
          </a:prstGeom>
          <a:noFill/>
          <a:ln w="28575">
            <a:solidFill>
              <a:srgbClr val="1E2430"/>
            </a:solidFill>
            <a:prstDash val="solid"/>
            <a:tailEnd type="triangle"/>
          </a:ln>
        </p:spPr>
      </p:sp>
      <p:sp>
        <p:nvSpPr>
          <p:cNvPr id="19" name="diagram box"/>
          <p:cNvSpPr/>
          <p:nvPr/>
        </p:nvSpPr>
        <p:spPr>
          <a:xfrm>
            <a:off x="9921240" y="1417320"/>
            <a:ext cx="1691640" cy="1234440"/>
          </a:xfrm>
          <a:prstGeom prst="roundRect">
            <a:avLst>
              <a:gd name="adj" fmla="val 5926"/>
            </a:avLst>
          </a:prstGeom>
          <a:solidFill>
            <a:srgbClr val="EDAE49"/>
          </a:solidFill>
          <a:ln/>
        </p:spPr>
      </p:sp>
      <p:sp>
        <p:nvSpPr>
          <p:cNvPr id="20" name="Text 17"/>
          <p:cNvSpPr txBox="1"/>
          <p:nvPr/>
        </p:nvSpPr>
        <p:spPr>
          <a:xfrm>
            <a:off x="9921240" y="1417320"/>
            <a:ext cx="1691640" cy="1234440"/>
          </a:xfrm>
          <a:prstGeom prst="rect">
            <a:avLst/>
          </a:prstGeom>
          <a:noFill/>
          <a:ln/>
        </p:spPr>
        <p:txBody>
          <a:bodyPr wrap="square" lIns="508" tIns="508" rIns="508" bIns="508" rtlCol="0" anchor="ctr"/>
          <a:lstStyle/>
          <a:p>
            <a:pPr algn="ctr" indent="0" marL="0">
              <a:buNone/>
            </a:pPr>
            <a:r>
              <a:rPr lang="en-US" sz="1150" b="1" dirty="0">
                <a:solidFill>
                  <a:schemeClr val="tx1"/>
                </a:solidFill>
              </a:rPr>
              <a:t>Uses: irrigation, water budget, drought</a:t>
            </a:r>
            <a:endParaRPr lang="en-US" sz="1150" dirty="0"/>
          </a:p>
        </p:txBody>
      </p:sp>
      <p:sp>
        <p:nvSpPr>
          <p:cNvPr id="21" name="Text 18"/>
          <p:cNvSpPr txBox="1"/>
          <p:nvPr/>
        </p:nvSpPr>
        <p:spPr>
          <a:xfrm>
            <a:off x="548640" y="2926080"/>
            <a:ext cx="5486400" cy="365760"/>
          </a:xfrm>
          <a:prstGeom prst="rect">
            <a:avLst/>
          </a:prstGeom>
          <a:noFill/>
          <a:ln/>
        </p:spPr>
        <p:txBody>
          <a:bodyPr wrap="square" lIns="0" tIns="0" rIns="0" bIns="0" rtlCol="0" anchor="ctr"/>
          <a:lstStyle/>
          <a:p>
            <a:pPr algn="l" indent="0" marL="0">
              <a:buNone/>
            </a:pPr>
            <a:r>
              <a:rPr lang="en-US" sz="1500" b="1" dirty="0">
                <a:solidFill>
                  <a:schemeClr val="tx2"/>
                </a:solidFill>
              </a:rPr>
              <a:t>What this deck covers</a:t>
            </a:r>
            <a:endParaRPr lang="en-US" sz="1500" dirty="0"/>
          </a:p>
        </p:txBody>
      </p:sp>
      <p:sp>
        <p:nvSpPr>
          <p:cNvPr id="22" name="card"/>
          <p:cNvSpPr/>
          <p:nvPr/>
        </p:nvSpPr>
        <p:spPr>
          <a:xfrm>
            <a:off x="548640" y="338328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3493008"/>
            <a:ext cx="731520" cy="548640"/>
          </a:xfrm>
          <a:prstGeom prst="rect">
            <a:avLst/>
          </a:prstGeom>
          <a:noFill/>
          <a:ln/>
        </p:spPr>
        <p:txBody>
          <a:bodyPr wrap="square" lIns="0" tIns="0" rIns="0" bIns="0" rtlCol="0" anchor="ctr"/>
          <a:lstStyle/>
          <a:p>
            <a:pPr indent="0" marL="0">
              <a:buNone/>
            </a:pPr>
            <a:r>
              <a:rPr lang="en-US" sz="2600" b="1" dirty="0">
                <a:solidFill>
                  <a:srgbClr val="3B6EA5"/>
                </a:solidFill>
                <a:latin typeface="Cambria" pitchFamily="34" charset="0"/>
                <a:ea typeface="Cambria" pitchFamily="34" charset="-122"/>
                <a:cs typeface="Cambria" pitchFamily="34" charset="-120"/>
              </a:rPr>
              <a:t>01</a:t>
            </a:r>
            <a:endParaRPr lang="en-US" sz="2600" dirty="0"/>
          </a:p>
        </p:txBody>
      </p:sp>
      <p:sp>
        <p:nvSpPr>
          <p:cNvPr id="24" name="Text 21"/>
          <p:cNvSpPr txBox="1"/>
          <p:nvPr/>
        </p:nvSpPr>
        <p:spPr>
          <a:xfrm>
            <a:off x="1417320" y="349300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ET fundamentals</a:t>
            </a:r>
            <a:endParaRPr lang="en-US" sz="1400" dirty="0"/>
          </a:p>
        </p:txBody>
      </p:sp>
      <p:sp>
        <p:nvSpPr>
          <p:cNvPr id="25" name="Text 22"/>
          <p:cNvSpPr txBox="1"/>
          <p:nvPr/>
        </p:nvSpPr>
        <p:spPr>
          <a:xfrm>
            <a:off x="1417320" y="3950208"/>
            <a:ext cx="2587752" cy="658368"/>
          </a:xfrm>
          <a:prstGeom prst="rect">
            <a:avLst/>
          </a:prstGeom>
          <a:noFill/>
          <a:ln/>
        </p:spPr>
        <p:txBody>
          <a:bodyPr wrap="square" lIns="0" tIns="0" rIns="0" bIns="0" rtlCol="0" anchor="t"/>
          <a:lstStyle/>
          <a:p>
            <a:pPr indent="0" marL="0">
              <a:buNone/>
            </a:pPr>
            <a:r>
              <a:rPr lang="en-US" sz="1150" dirty="0">
                <a:solidFill>
                  <a:schemeClr val="tx1"/>
                </a:solidFill>
              </a:rPr>
              <a:t>terms, SPAC, energy balance, FAO-56, eddy covariance and ground methods, LST and optical inputs</a:t>
            </a:r>
            <a:endParaRPr lang="en-US" sz="1150" dirty="0"/>
          </a:p>
        </p:txBody>
      </p:sp>
      <p:sp>
        <p:nvSpPr>
          <p:cNvPr id="26" name="card"/>
          <p:cNvSpPr/>
          <p:nvPr/>
        </p:nvSpPr>
        <p:spPr>
          <a:xfrm>
            <a:off x="4297680" y="338328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27" name="Text 24"/>
          <p:cNvSpPr txBox="1"/>
          <p:nvPr/>
        </p:nvSpPr>
        <p:spPr>
          <a:xfrm>
            <a:off x="4434840" y="3493008"/>
            <a:ext cx="731520" cy="548640"/>
          </a:xfrm>
          <a:prstGeom prst="rect">
            <a:avLst/>
          </a:prstGeom>
          <a:noFill/>
          <a:ln/>
        </p:spPr>
        <p:txBody>
          <a:bodyPr wrap="square" lIns="0" tIns="0" rIns="0" bIns="0" rtlCol="0" anchor="ctr"/>
          <a:lstStyle/>
          <a:p>
            <a:pPr indent="0" marL="0">
              <a:buNone/>
            </a:pPr>
            <a:r>
              <a:rPr lang="en-US" sz="2600" b="1" dirty="0">
                <a:solidFill>
                  <a:srgbClr val="2E7D4F"/>
                </a:solidFill>
                <a:latin typeface="Cambria" pitchFamily="34" charset="0"/>
                <a:ea typeface="Cambria" pitchFamily="34" charset="-122"/>
                <a:cs typeface="Cambria" pitchFamily="34" charset="-120"/>
              </a:rPr>
              <a:t>02</a:t>
            </a:r>
            <a:endParaRPr lang="en-US" sz="2600" dirty="0"/>
          </a:p>
        </p:txBody>
      </p:sp>
      <p:sp>
        <p:nvSpPr>
          <p:cNvPr id="28" name="Text 25"/>
          <p:cNvSpPr txBox="1"/>
          <p:nvPr/>
        </p:nvSpPr>
        <p:spPr>
          <a:xfrm>
            <a:off x="5166360" y="349300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Energy-balance building blocks</a:t>
            </a:r>
            <a:endParaRPr lang="en-US" sz="1400" dirty="0"/>
          </a:p>
        </p:txBody>
      </p:sp>
      <p:sp>
        <p:nvSpPr>
          <p:cNvPr id="29" name="Text 26"/>
          <p:cNvSpPr txBox="1"/>
          <p:nvPr/>
        </p:nvSpPr>
        <p:spPr>
          <a:xfrm>
            <a:off x="5166360" y="3950208"/>
            <a:ext cx="2587752" cy="658368"/>
          </a:xfrm>
          <a:prstGeom prst="rect">
            <a:avLst/>
          </a:prstGeom>
          <a:noFill/>
          <a:ln/>
        </p:spPr>
        <p:txBody>
          <a:bodyPr wrap="square" lIns="0" tIns="0" rIns="0" bIns="0" rtlCol="0" anchor="t"/>
          <a:lstStyle/>
          <a:p>
            <a:pPr indent="0" marL="0">
              <a:buNone/>
            </a:pPr>
            <a:r>
              <a:rPr lang="en-US" sz="1150" dirty="0">
                <a:solidFill>
                  <a:schemeClr val="tx1"/>
                </a:solidFill>
              </a:rPr>
              <a:t>Rn, G, H, roughness, stability; thermal indices</a:t>
            </a:r>
            <a:endParaRPr lang="en-US" sz="1150" dirty="0"/>
          </a:p>
        </p:txBody>
      </p:sp>
      <p:sp>
        <p:nvSpPr>
          <p:cNvPr id="30" name="card"/>
          <p:cNvSpPr/>
          <p:nvPr/>
        </p:nvSpPr>
        <p:spPr>
          <a:xfrm>
            <a:off x="8046720" y="338328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31" name="Text 28"/>
          <p:cNvSpPr txBox="1"/>
          <p:nvPr/>
        </p:nvSpPr>
        <p:spPr>
          <a:xfrm>
            <a:off x="8183880" y="3493008"/>
            <a:ext cx="731520" cy="548640"/>
          </a:xfrm>
          <a:prstGeom prst="rect">
            <a:avLst/>
          </a:prstGeom>
          <a:noFill/>
          <a:ln/>
        </p:spPr>
        <p:txBody>
          <a:bodyPr wrap="square" lIns="0" tIns="0" rIns="0" bIns="0" rtlCol="0" anchor="ctr"/>
          <a:lstStyle/>
          <a:p>
            <a:pPr indent="0" marL="0">
              <a:buNone/>
            </a:pPr>
            <a:r>
              <a:rPr lang="en-US" sz="2600" b="1" dirty="0">
                <a:solidFill>
                  <a:srgbClr val="1B4965"/>
                </a:solidFill>
                <a:latin typeface="Cambria" pitchFamily="34" charset="0"/>
                <a:ea typeface="Cambria" pitchFamily="34" charset="-122"/>
                <a:cs typeface="Cambria" pitchFamily="34" charset="-120"/>
              </a:rPr>
              <a:t>03</a:t>
            </a:r>
            <a:endParaRPr lang="en-US" sz="2600" dirty="0"/>
          </a:p>
        </p:txBody>
      </p:sp>
      <p:sp>
        <p:nvSpPr>
          <p:cNvPr id="32" name="Text 29"/>
          <p:cNvSpPr txBox="1"/>
          <p:nvPr/>
        </p:nvSpPr>
        <p:spPr>
          <a:xfrm>
            <a:off x="8915400" y="349300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SEBAL and METRIC</a:t>
            </a:r>
            <a:endParaRPr lang="en-US" sz="1400" dirty="0"/>
          </a:p>
        </p:txBody>
      </p:sp>
      <p:sp>
        <p:nvSpPr>
          <p:cNvPr id="33" name="Text 30"/>
          <p:cNvSpPr txBox="1"/>
          <p:nvPr/>
        </p:nvSpPr>
        <p:spPr>
          <a:xfrm>
            <a:off x="8915400" y="3950208"/>
            <a:ext cx="2587752" cy="658368"/>
          </a:xfrm>
          <a:prstGeom prst="rect">
            <a:avLst/>
          </a:prstGeom>
          <a:noFill/>
          <a:ln/>
        </p:spPr>
        <p:txBody>
          <a:bodyPr wrap="square" lIns="0" tIns="0" rIns="0" bIns="0" rtlCol="0" anchor="t"/>
          <a:lstStyle/>
          <a:p>
            <a:pPr indent="0" marL="0">
              <a:buNone/>
            </a:pPr>
            <a:r>
              <a:rPr lang="en-US" sz="1150" dirty="0">
                <a:solidFill>
                  <a:schemeClr val="tx1"/>
                </a:solidFill>
              </a:rPr>
              <a:t>hot/cold pixels, flow charts, Ts–albedo, SEBS, SSEBop</a:t>
            </a:r>
            <a:endParaRPr lang="en-US" sz="1150" dirty="0"/>
          </a:p>
        </p:txBody>
      </p:sp>
      <p:sp>
        <p:nvSpPr>
          <p:cNvPr id="34" name="card"/>
          <p:cNvSpPr/>
          <p:nvPr/>
        </p:nvSpPr>
        <p:spPr>
          <a:xfrm>
            <a:off x="548640" y="480060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35" name="Text 32"/>
          <p:cNvSpPr txBox="1"/>
          <p:nvPr/>
        </p:nvSpPr>
        <p:spPr>
          <a:xfrm>
            <a:off x="685800" y="4910328"/>
            <a:ext cx="731520" cy="548640"/>
          </a:xfrm>
          <a:prstGeom prst="rect">
            <a:avLst/>
          </a:prstGeom>
          <a:noFill/>
          <a:ln/>
        </p:spPr>
        <p:txBody>
          <a:bodyPr wrap="square" lIns="0" tIns="0" rIns="0" bIns="0" rtlCol="0" anchor="ctr"/>
          <a:lstStyle/>
          <a:p>
            <a:pPr indent="0" marL="0">
              <a:buNone/>
            </a:pPr>
            <a:r>
              <a:rPr lang="en-US" sz="2600" b="1" dirty="0">
                <a:solidFill>
                  <a:srgbClr val="6C4F9E"/>
                </a:solidFill>
                <a:latin typeface="Cambria" pitchFamily="34" charset="0"/>
                <a:ea typeface="Cambria" pitchFamily="34" charset="-122"/>
                <a:cs typeface="Cambria" pitchFamily="34" charset="-120"/>
              </a:rPr>
              <a:t>04</a:t>
            </a:r>
            <a:endParaRPr lang="en-US" sz="2600" dirty="0"/>
          </a:p>
        </p:txBody>
      </p:sp>
      <p:sp>
        <p:nvSpPr>
          <p:cNvPr id="36" name="Text 33"/>
          <p:cNvSpPr txBox="1"/>
          <p:nvPr/>
        </p:nvSpPr>
        <p:spPr>
          <a:xfrm>
            <a:off x="1417320" y="491032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Contextual, two-source, global</a:t>
            </a:r>
            <a:endParaRPr lang="en-US" sz="1400" dirty="0"/>
          </a:p>
        </p:txBody>
      </p:sp>
      <p:sp>
        <p:nvSpPr>
          <p:cNvPr id="37" name="Text 34"/>
          <p:cNvSpPr txBox="1"/>
          <p:nvPr/>
        </p:nvSpPr>
        <p:spPr>
          <a:xfrm>
            <a:off x="1417320" y="5367528"/>
            <a:ext cx="2587752" cy="658368"/>
          </a:xfrm>
          <a:prstGeom prst="rect">
            <a:avLst/>
          </a:prstGeom>
          <a:noFill/>
          <a:ln/>
        </p:spPr>
        <p:txBody>
          <a:bodyPr wrap="square" lIns="0" tIns="0" rIns="0" bIns="0" rtlCol="0" anchor="t"/>
          <a:lstStyle/>
          <a:p>
            <a:pPr indent="0" marL="0">
              <a:buNone/>
            </a:pPr>
            <a:r>
              <a:rPr lang="en-US" sz="1150" dirty="0">
                <a:solidFill>
                  <a:schemeClr val="tx1"/>
                </a:solidFill>
              </a:rPr>
              <a:t>triangle, TSEB, ALEXI, MOD16, PT-JPL, GLEAM, VI-Kc, assimilation</a:t>
            </a:r>
            <a:endParaRPr lang="en-US" sz="1150" dirty="0"/>
          </a:p>
        </p:txBody>
      </p:sp>
      <p:sp>
        <p:nvSpPr>
          <p:cNvPr id="38" name="card"/>
          <p:cNvSpPr/>
          <p:nvPr/>
        </p:nvSpPr>
        <p:spPr>
          <a:xfrm>
            <a:off x="4297680" y="480060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39" name="Text 36"/>
          <p:cNvSpPr txBox="1"/>
          <p:nvPr/>
        </p:nvSpPr>
        <p:spPr>
          <a:xfrm>
            <a:off x="4434840" y="4910328"/>
            <a:ext cx="731520" cy="548640"/>
          </a:xfrm>
          <a:prstGeom prst="rect">
            <a:avLst/>
          </a:prstGeom>
          <a:noFill/>
          <a:ln/>
        </p:spPr>
        <p:txBody>
          <a:bodyPr wrap="square" lIns="0" tIns="0" rIns="0" bIns="0" rtlCol="0" anchor="ctr"/>
          <a:lstStyle/>
          <a:p>
            <a:pPr indent="0" marL="0">
              <a:buNone/>
            </a:pPr>
            <a:r>
              <a:rPr lang="en-US" sz="2600" b="1" dirty="0">
                <a:solidFill>
                  <a:srgbClr val="C0702A"/>
                </a:solidFill>
                <a:latin typeface="Cambria" pitchFamily="34" charset="0"/>
                <a:ea typeface="Cambria" pitchFamily="34" charset="-122"/>
                <a:cs typeface="Cambria" pitchFamily="34" charset="-120"/>
              </a:rPr>
              <a:t>05</a:t>
            </a:r>
            <a:endParaRPr lang="en-US" sz="2600" dirty="0"/>
          </a:p>
        </p:txBody>
      </p:sp>
      <p:sp>
        <p:nvSpPr>
          <p:cNvPr id="40" name="Text 37"/>
          <p:cNvSpPr txBox="1"/>
          <p:nvPr/>
        </p:nvSpPr>
        <p:spPr>
          <a:xfrm>
            <a:off x="5166360" y="491032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Scaling</a:t>
            </a:r>
            <a:endParaRPr lang="en-US" sz="1400" dirty="0"/>
          </a:p>
        </p:txBody>
      </p:sp>
      <p:sp>
        <p:nvSpPr>
          <p:cNvPr id="41" name="Text 38"/>
          <p:cNvSpPr txBox="1"/>
          <p:nvPr/>
        </p:nvSpPr>
        <p:spPr>
          <a:xfrm>
            <a:off x="5166360" y="5367528"/>
            <a:ext cx="2587752" cy="658368"/>
          </a:xfrm>
          <a:prstGeom prst="rect">
            <a:avLst/>
          </a:prstGeom>
          <a:noFill/>
          <a:ln/>
        </p:spPr>
        <p:txBody>
          <a:bodyPr wrap="square" lIns="0" tIns="0" rIns="0" bIns="0" rtlCol="0" anchor="t"/>
          <a:lstStyle/>
          <a:p>
            <a:pPr indent="0" marL="0">
              <a:buNone/>
            </a:pPr>
            <a:r>
              <a:rPr lang="en-US" sz="1150" dirty="0">
                <a:solidFill>
                  <a:schemeClr val="tx1"/>
                </a:solidFill>
              </a:rPr>
              <a:t>instantaneous → daily (worked example) → seasonal; field ↔ region</a:t>
            </a:r>
            <a:endParaRPr lang="en-US" sz="1150" dirty="0"/>
          </a:p>
        </p:txBody>
      </p:sp>
      <p:sp>
        <p:nvSpPr>
          <p:cNvPr id="42" name="card"/>
          <p:cNvSpPr/>
          <p:nvPr/>
        </p:nvSpPr>
        <p:spPr>
          <a:xfrm>
            <a:off x="8046720" y="480060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43" name="Text 40"/>
          <p:cNvSpPr txBox="1"/>
          <p:nvPr/>
        </p:nvSpPr>
        <p:spPr>
          <a:xfrm>
            <a:off x="8183880" y="4910328"/>
            <a:ext cx="731520" cy="548640"/>
          </a:xfrm>
          <a:prstGeom prst="rect">
            <a:avLst/>
          </a:prstGeom>
          <a:noFill/>
          <a:ln/>
        </p:spPr>
        <p:txBody>
          <a:bodyPr wrap="square" lIns="0" tIns="0" rIns="0" bIns="0" rtlCol="0" anchor="ctr"/>
          <a:lstStyle/>
          <a:p>
            <a:pPr indent="0" marL="0">
              <a:buNone/>
            </a:pPr>
            <a:r>
              <a:rPr lang="en-US" sz="2600" b="1" dirty="0">
                <a:solidFill>
                  <a:srgbClr val="EDAE49"/>
                </a:solidFill>
                <a:latin typeface="Cambria" pitchFamily="34" charset="0"/>
                <a:ea typeface="Cambria" pitchFamily="34" charset="-122"/>
                <a:cs typeface="Cambria" pitchFamily="34" charset="-120"/>
              </a:rPr>
              <a:t>06</a:t>
            </a:r>
            <a:endParaRPr lang="en-US" sz="2600" dirty="0"/>
          </a:p>
        </p:txBody>
      </p:sp>
      <p:sp>
        <p:nvSpPr>
          <p:cNvPr id="44" name="Text 41"/>
          <p:cNvSpPr txBox="1"/>
          <p:nvPr/>
        </p:nvSpPr>
        <p:spPr>
          <a:xfrm>
            <a:off x="8915400" y="4910328"/>
            <a:ext cx="2587752" cy="457200"/>
          </a:xfrm>
          <a:prstGeom prst="rect">
            <a:avLst/>
          </a:prstGeom>
          <a:noFill/>
          <a:ln/>
        </p:spPr>
        <p:txBody>
          <a:bodyPr wrap="square" lIns="0" tIns="0" rIns="0" bIns="0" rtlCol="0" anchor="ctr"/>
          <a:lstStyle/>
          <a:p>
            <a:pPr indent="0" marL="0">
              <a:buNone/>
            </a:pPr>
            <a:r>
              <a:rPr lang="en-US" sz="1400" b="1" dirty="0">
                <a:solidFill>
                  <a:schemeClr val="tx2"/>
                </a:solidFill>
              </a:rPr>
              <a:t>ISRO case and outlook</a:t>
            </a:r>
            <a:endParaRPr lang="en-US" sz="1400" dirty="0"/>
          </a:p>
        </p:txBody>
      </p:sp>
      <p:sp>
        <p:nvSpPr>
          <p:cNvPr id="45" name="Text 42"/>
          <p:cNvSpPr txBox="1"/>
          <p:nvPr/>
        </p:nvSpPr>
        <p:spPr>
          <a:xfrm>
            <a:off x="8915400" y="5367528"/>
            <a:ext cx="2587752" cy="658368"/>
          </a:xfrm>
          <a:prstGeom prst="rect">
            <a:avLst/>
          </a:prstGeom>
          <a:noFill/>
          <a:ln/>
        </p:spPr>
        <p:txBody>
          <a:bodyPr wrap="square" lIns="0" tIns="0" rIns="0" bIns="0" rtlCol="0" anchor="t"/>
          <a:lstStyle/>
          <a:p>
            <a:pPr indent="0" marL="0">
              <a:buNone/>
            </a:pPr>
            <a:r>
              <a:rPr lang="en-US" sz="1150" dirty="0">
                <a:solidFill>
                  <a:schemeClr val="tx1"/>
                </a:solidFill>
              </a:rPr>
              <a:t>Kalpana-1 method, errors, applications, missions, Q&amp;A</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ET fundamentals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What ET is, the energy balance behind it, how it is measured on the ground, and what satellites can contribute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ET concepts and terminology</a:t>
            </a:r>
            <a:endParaRPr lang="en-US" sz="3200" dirty="0"/>
          </a:p>
        </p:txBody>
      </p:sp>
      <p:sp>
        <p:nvSpPr>
          <p:cNvPr id="4" name="card"/>
          <p:cNvSpPr/>
          <p:nvPr/>
        </p:nvSpPr>
        <p:spPr>
          <a:xfrm>
            <a:off x="548640" y="12801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3182112" cy="365760"/>
          </a:xfrm>
          <a:prstGeom prst="rect">
            <a:avLst/>
          </a:prstGeom>
          <a:noFill/>
          <a:ln/>
        </p:spPr>
        <p:txBody>
          <a:bodyPr wrap="square" lIns="0" tIns="0" rIns="0" bIns="0" rtlCol="0" anchor="ctr"/>
          <a:lstStyle/>
          <a:p>
            <a:pPr indent="0" marL="0">
              <a:buNone/>
            </a:pPr>
            <a:r>
              <a:rPr lang="en-US" sz="1500" b="1" dirty="0">
                <a:solidFill>
                  <a:schemeClr val="tx2"/>
                </a:solidFill>
              </a:rPr>
              <a:t>ET = E + T</a:t>
            </a:r>
            <a:endParaRPr lang="en-US" sz="1500" dirty="0"/>
          </a:p>
        </p:txBody>
      </p:sp>
      <p:sp>
        <p:nvSpPr>
          <p:cNvPr id="6" name="Text 3"/>
          <p:cNvSpPr txBox="1"/>
          <p:nvPr/>
        </p:nvSpPr>
        <p:spPr>
          <a:xfrm>
            <a:off x="685800" y="1737360"/>
            <a:ext cx="3182112" cy="768096"/>
          </a:xfrm>
          <a:prstGeom prst="rect">
            <a:avLst/>
          </a:prstGeom>
          <a:noFill/>
          <a:ln/>
        </p:spPr>
        <p:txBody>
          <a:bodyPr wrap="square" lIns="0" tIns="0" rIns="0" bIns="0" rtlCol="0" anchor="t"/>
          <a:lstStyle/>
          <a:p>
            <a:pPr indent="0" marL="0">
              <a:buNone/>
            </a:pPr>
            <a:r>
              <a:rPr lang="en-US" sz="1150" dirty="0">
                <a:solidFill>
                  <a:schemeClr val="tx1"/>
                </a:solidFill>
              </a:rPr>
              <a:t>Evaporation (soil, wet canopy) + transpiration (stomata). ~60% of land precipitation returns as ET</a:t>
            </a:r>
            <a:endParaRPr lang="en-US" sz="1150" dirty="0"/>
          </a:p>
        </p:txBody>
      </p:sp>
      <p:sp>
        <p:nvSpPr>
          <p:cNvPr id="7" name="card"/>
          <p:cNvSpPr/>
          <p:nvPr/>
        </p:nvSpPr>
        <p:spPr>
          <a:xfrm>
            <a:off x="4160520" y="12801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297680" y="1353312"/>
            <a:ext cx="3182112" cy="365760"/>
          </a:xfrm>
          <a:prstGeom prst="rect">
            <a:avLst/>
          </a:prstGeom>
          <a:noFill/>
          <a:ln/>
        </p:spPr>
        <p:txBody>
          <a:bodyPr wrap="square" lIns="0" tIns="0" rIns="0" bIns="0" rtlCol="0" anchor="ctr"/>
          <a:lstStyle/>
          <a:p>
            <a:pPr indent="0" marL="0">
              <a:buNone/>
            </a:pPr>
            <a:r>
              <a:rPr lang="en-US" sz="1500" b="1" dirty="0">
                <a:solidFill>
                  <a:schemeClr val="tx2"/>
                </a:solidFill>
              </a:rPr>
              <a:t>PET</a:t>
            </a:r>
            <a:endParaRPr lang="en-US" sz="1500" dirty="0"/>
          </a:p>
        </p:txBody>
      </p:sp>
      <p:sp>
        <p:nvSpPr>
          <p:cNvPr id="9" name="Text 6"/>
          <p:cNvSpPr txBox="1"/>
          <p:nvPr/>
        </p:nvSpPr>
        <p:spPr>
          <a:xfrm>
            <a:off x="4297680" y="1737360"/>
            <a:ext cx="3182112" cy="768096"/>
          </a:xfrm>
          <a:prstGeom prst="rect">
            <a:avLst/>
          </a:prstGeom>
          <a:noFill/>
          <a:ln/>
        </p:spPr>
        <p:txBody>
          <a:bodyPr wrap="square" lIns="0" tIns="0" rIns="0" bIns="0" rtlCol="0" anchor="t"/>
          <a:lstStyle/>
          <a:p>
            <a:pPr indent="0" marL="0">
              <a:buNone/>
            </a:pPr>
            <a:r>
              <a:rPr lang="en-US" sz="1150" dirty="0">
                <a:solidFill>
                  <a:schemeClr val="tx1"/>
                </a:solidFill>
              </a:rPr>
              <a:t>Potential ET: loss when water is not limiting; set by energy and atmospheric demand</a:t>
            </a:r>
            <a:endParaRPr lang="en-US" sz="1150" dirty="0"/>
          </a:p>
        </p:txBody>
      </p:sp>
      <p:sp>
        <p:nvSpPr>
          <p:cNvPr id="10" name="card"/>
          <p:cNvSpPr/>
          <p:nvPr/>
        </p:nvSpPr>
        <p:spPr>
          <a:xfrm>
            <a:off x="548640" y="26517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685800" y="2724912"/>
            <a:ext cx="3182112" cy="365760"/>
          </a:xfrm>
          <a:prstGeom prst="rect">
            <a:avLst/>
          </a:prstGeom>
          <a:noFill/>
          <a:ln/>
        </p:spPr>
        <p:txBody>
          <a:bodyPr wrap="square" lIns="0" tIns="0" rIns="0" bIns="0" rtlCol="0" anchor="ctr"/>
          <a:lstStyle/>
          <a:p>
            <a:pPr indent="0" marL="0">
              <a:buNone/>
            </a:pPr>
            <a:r>
              <a:rPr lang="en-US" sz="1500" b="1" dirty="0">
                <a:solidFill>
                  <a:schemeClr val="tx2"/>
                </a:solidFill>
              </a:rPr>
              <a:t>ET0 / ETr</a:t>
            </a:r>
            <a:endParaRPr lang="en-US" sz="1500" dirty="0"/>
          </a:p>
        </p:txBody>
      </p:sp>
      <p:sp>
        <p:nvSpPr>
          <p:cNvPr id="12" name="Text 9"/>
          <p:cNvSpPr txBox="1"/>
          <p:nvPr/>
        </p:nvSpPr>
        <p:spPr>
          <a:xfrm>
            <a:off x="685800" y="3108960"/>
            <a:ext cx="3182112" cy="768096"/>
          </a:xfrm>
          <a:prstGeom prst="rect">
            <a:avLst/>
          </a:prstGeom>
          <a:noFill/>
          <a:ln/>
        </p:spPr>
        <p:txBody>
          <a:bodyPr wrap="square" lIns="0" tIns="0" rIns="0" bIns="0" rtlCol="0" anchor="t"/>
          <a:lstStyle/>
          <a:p>
            <a:pPr indent="0" marL="0">
              <a:buNone/>
            </a:pPr>
            <a:r>
              <a:rPr lang="en-US" sz="1150" dirty="0">
                <a:solidFill>
                  <a:schemeClr val="tx1"/>
                </a:solidFill>
              </a:rPr>
              <a:t>Reference ET: FAO-56 grass (ET0) or ASCE alfalfa (ETr); weather only</a:t>
            </a:r>
            <a:endParaRPr lang="en-US" sz="1150" dirty="0"/>
          </a:p>
        </p:txBody>
      </p:sp>
      <p:sp>
        <p:nvSpPr>
          <p:cNvPr id="13" name="card"/>
          <p:cNvSpPr/>
          <p:nvPr/>
        </p:nvSpPr>
        <p:spPr>
          <a:xfrm>
            <a:off x="4160520" y="26517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4297680" y="2724912"/>
            <a:ext cx="3182112" cy="365760"/>
          </a:xfrm>
          <a:prstGeom prst="rect">
            <a:avLst/>
          </a:prstGeom>
          <a:noFill/>
          <a:ln/>
        </p:spPr>
        <p:txBody>
          <a:bodyPr wrap="square" lIns="0" tIns="0" rIns="0" bIns="0" rtlCol="0" anchor="ctr"/>
          <a:lstStyle/>
          <a:p>
            <a:pPr indent="0" marL="0">
              <a:buNone/>
            </a:pPr>
            <a:r>
              <a:rPr lang="en-US" sz="1500" b="1" dirty="0">
                <a:solidFill>
                  <a:schemeClr val="tx2"/>
                </a:solidFill>
              </a:rPr>
              <a:t>ETc = Kc × ET0</a:t>
            </a:r>
            <a:endParaRPr lang="en-US" sz="1500" dirty="0"/>
          </a:p>
        </p:txBody>
      </p:sp>
      <p:sp>
        <p:nvSpPr>
          <p:cNvPr id="15" name="Text 12"/>
          <p:cNvSpPr txBox="1"/>
          <p:nvPr/>
        </p:nvSpPr>
        <p:spPr>
          <a:xfrm>
            <a:off x="4297680" y="3108960"/>
            <a:ext cx="3182112" cy="768096"/>
          </a:xfrm>
          <a:prstGeom prst="rect">
            <a:avLst/>
          </a:prstGeom>
          <a:noFill/>
          <a:ln/>
        </p:spPr>
        <p:txBody>
          <a:bodyPr wrap="square" lIns="0" tIns="0" rIns="0" bIns="0" rtlCol="0" anchor="t"/>
          <a:lstStyle/>
          <a:p>
            <a:pPr indent="0" marL="0">
              <a:buNone/>
            </a:pPr>
            <a:r>
              <a:rPr lang="en-US" sz="1150" dirty="0">
                <a:solidFill>
                  <a:schemeClr val="tx1"/>
                </a:solidFill>
              </a:rPr>
              <a:t>Crop ET under standard (non-stressed) conditions; Kc follows crop stage</a:t>
            </a:r>
            <a:endParaRPr lang="en-US" sz="1150" dirty="0"/>
          </a:p>
        </p:txBody>
      </p:sp>
      <p:sp>
        <p:nvSpPr>
          <p:cNvPr id="16" name="card"/>
          <p:cNvSpPr/>
          <p:nvPr/>
        </p:nvSpPr>
        <p:spPr>
          <a:xfrm>
            <a:off x="548640" y="40233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685800" y="4096512"/>
            <a:ext cx="3182112" cy="365760"/>
          </a:xfrm>
          <a:prstGeom prst="rect">
            <a:avLst/>
          </a:prstGeom>
          <a:noFill/>
          <a:ln/>
        </p:spPr>
        <p:txBody>
          <a:bodyPr wrap="square" lIns="0" tIns="0" rIns="0" bIns="0" rtlCol="0" anchor="ctr"/>
          <a:lstStyle/>
          <a:p>
            <a:pPr indent="0" marL="0">
              <a:buNone/>
            </a:pPr>
            <a:r>
              <a:rPr lang="en-US" sz="1500" b="1" dirty="0">
                <a:solidFill>
                  <a:schemeClr val="accent1"/>
                </a:solidFill>
              </a:rPr>
              <a:t>ETa</a:t>
            </a:r>
            <a:endParaRPr lang="en-US" sz="1500" dirty="0"/>
          </a:p>
        </p:txBody>
      </p:sp>
      <p:sp>
        <p:nvSpPr>
          <p:cNvPr id="18" name="Text 15"/>
          <p:cNvSpPr txBox="1"/>
          <p:nvPr/>
        </p:nvSpPr>
        <p:spPr>
          <a:xfrm>
            <a:off x="685800" y="4480560"/>
            <a:ext cx="3182112" cy="768096"/>
          </a:xfrm>
          <a:prstGeom prst="rect">
            <a:avLst/>
          </a:prstGeom>
          <a:noFill/>
          <a:ln/>
        </p:spPr>
        <p:txBody>
          <a:bodyPr wrap="square" lIns="0" tIns="0" rIns="0" bIns="0" rtlCol="0" anchor="t"/>
          <a:lstStyle/>
          <a:p>
            <a:pPr indent="0" marL="0">
              <a:buNone/>
            </a:pPr>
            <a:r>
              <a:rPr lang="en-US" sz="1150" dirty="0">
                <a:solidFill>
                  <a:schemeClr val="tx1"/>
                </a:solidFill>
              </a:rPr>
              <a:t>Actual ET = Ks × Kc × ET0: includes water stress. </a:t>
            </a:r>
            <a:r>
              <a:rPr lang="en-US" sz="1150" b="1" dirty="0">
                <a:solidFill>
                  <a:schemeClr val="tx1"/>
                </a:solidFill>
              </a:rPr>
              <a:t>Satellites estimate ETa</a:t>
            </a:r>
            <a:endParaRPr lang="en-US" sz="1150" dirty="0"/>
          </a:p>
        </p:txBody>
      </p:sp>
      <p:sp>
        <p:nvSpPr>
          <p:cNvPr id="19" name="card"/>
          <p:cNvSpPr/>
          <p:nvPr/>
        </p:nvSpPr>
        <p:spPr>
          <a:xfrm>
            <a:off x="4160520" y="4023360"/>
            <a:ext cx="345643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4297680" y="4096512"/>
            <a:ext cx="3182112" cy="365760"/>
          </a:xfrm>
          <a:prstGeom prst="rect">
            <a:avLst/>
          </a:prstGeom>
          <a:noFill/>
          <a:ln/>
        </p:spPr>
        <p:txBody>
          <a:bodyPr wrap="square" lIns="0" tIns="0" rIns="0" bIns="0" rtlCol="0" anchor="ctr"/>
          <a:lstStyle/>
          <a:p>
            <a:pPr indent="0" marL="0">
              <a:buNone/>
            </a:pPr>
            <a:r>
              <a:rPr lang="en-US" sz="1500" b="1" dirty="0">
                <a:solidFill>
                  <a:schemeClr val="tx2"/>
                </a:solidFill>
              </a:rPr>
              <a:t>λ ≈ 2.45 MJ kg⁻¹</a:t>
            </a:r>
            <a:endParaRPr lang="en-US" sz="1500" dirty="0"/>
          </a:p>
        </p:txBody>
      </p:sp>
      <p:sp>
        <p:nvSpPr>
          <p:cNvPr id="21" name="Text 18"/>
          <p:cNvSpPr txBox="1"/>
          <p:nvPr/>
        </p:nvSpPr>
        <p:spPr>
          <a:xfrm>
            <a:off x="4297680" y="4480560"/>
            <a:ext cx="3182112" cy="768096"/>
          </a:xfrm>
          <a:prstGeom prst="rect">
            <a:avLst/>
          </a:prstGeom>
          <a:noFill/>
          <a:ln/>
        </p:spPr>
        <p:txBody>
          <a:bodyPr wrap="square" lIns="0" tIns="0" rIns="0" bIns="0" rtlCol="0" anchor="t"/>
          <a:lstStyle/>
          <a:p>
            <a:pPr indent="0" marL="0">
              <a:buNone/>
            </a:pPr>
            <a:r>
              <a:rPr lang="en-US" sz="1150" dirty="0">
                <a:solidFill>
                  <a:schemeClr val="tx1"/>
                </a:solidFill>
              </a:rPr>
              <a:t>1 mm d⁻¹ ≈ 2.45 MJ m⁻² d⁻¹ ≈ 28.4 W m⁻² (24-h mean)</a:t>
            </a:r>
            <a:endParaRPr lang="en-US" sz="1150" dirty="0"/>
          </a:p>
        </p:txBody>
      </p:sp>
      <p:sp>
        <p:nvSpPr>
          <p:cNvPr id="22" name="card"/>
          <p:cNvSpPr/>
          <p:nvPr/>
        </p:nvSpPr>
        <p:spPr>
          <a:xfrm>
            <a:off x="7818120" y="1280160"/>
            <a:ext cx="3822192" cy="4041648"/>
          </a:xfrm>
          <a:prstGeom prst="roundRect">
            <a:avLst>
              <a:gd name="adj" fmla="val 1914"/>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23" name="Text 20"/>
          <p:cNvSpPr txBox="1"/>
          <p:nvPr/>
        </p:nvSpPr>
        <p:spPr>
          <a:xfrm>
            <a:off x="8001000" y="1371600"/>
            <a:ext cx="3474720" cy="320040"/>
          </a:xfrm>
          <a:prstGeom prst="rect">
            <a:avLst/>
          </a:prstGeom>
          <a:noFill/>
          <a:ln/>
        </p:spPr>
        <p:txBody>
          <a:bodyPr wrap="square" lIns="0" tIns="0" rIns="0" bIns="0" rtlCol="0" anchor="ctr"/>
          <a:lstStyle/>
          <a:p>
            <a:pPr algn="l" indent="0" marL="0">
              <a:buNone/>
            </a:pPr>
            <a:r>
              <a:rPr lang="en-US" sz="1300" b="1" dirty="0">
                <a:solidFill>
                  <a:schemeClr val="tx2"/>
                </a:solidFill>
              </a:rPr>
              <a:t>Controls on ET</a:t>
            </a:r>
            <a:endParaRPr lang="en-US" sz="1300" dirty="0"/>
          </a:p>
        </p:txBody>
      </p:sp>
      <p:sp>
        <p:nvSpPr>
          <p:cNvPr id="24" name="arrow"/>
          <p:cNvSpPr/>
          <p:nvPr/>
        </p:nvSpPr>
        <p:spPr>
          <a:xfrm>
            <a:off x="8229600" y="4754880"/>
            <a:ext cx="3291840" cy="0"/>
          </a:xfrm>
          <a:prstGeom prst="line">
            <a:avLst/>
          </a:prstGeom>
          <a:noFill/>
          <a:ln w="19050">
            <a:solidFill>
              <a:srgbClr val="1E2430"/>
            </a:solidFill>
            <a:prstDash val="solid"/>
          </a:ln>
        </p:spPr>
      </p:sp>
      <p:sp>
        <p:nvSpPr>
          <p:cNvPr id="25" name="arrow"/>
          <p:cNvSpPr/>
          <p:nvPr/>
        </p:nvSpPr>
        <p:spPr>
          <a:xfrm flipV="1">
            <a:off x="8229600" y="2011680"/>
            <a:ext cx="0" cy="2743200"/>
          </a:xfrm>
          <a:prstGeom prst="line">
            <a:avLst/>
          </a:prstGeom>
          <a:noFill/>
          <a:ln w="19050">
            <a:solidFill>
              <a:srgbClr val="1E2430"/>
            </a:solidFill>
            <a:prstDash val="solid"/>
          </a:ln>
        </p:spPr>
      </p:sp>
      <p:sp>
        <p:nvSpPr>
          <p:cNvPr id="26" name="arrow"/>
          <p:cNvSpPr/>
          <p:nvPr/>
        </p:nvSpPr>
        <p:spPr>
          <a:xfrm flipV="1">
            <a:off x="8686800" y="2651760"/>
            <a:ext cx="1371600" cy="2011680"/>
          </a:xfrm>
          <a:prstGeom prst="line">
            <a:avLst/>
          </a:prstGeom>
          <a:noFill/>
          <a:ln w="38100">
            <a:solidFill>
              <a:srgbClr val="3B6EA5"/>
            </a:solidFill>
            <a:prstDash val="solid"/>
          </a:ln>
        </p:spPr>
      </p:sp>
      <p:sp>
        <p:nvSpPr>
          <p:cNvPr id="27" name="arrow"/>
          <p:cNvSpPr/>
          <p:nvPr/>
        </p:nvSpPr>
        <p:spPr>
          <a:xfrm>
            <a:off x="10058400" y="2651760"/>
            <a:ext cx="1371600" cy="0"/>
          </a:xfrm>
          <a:prstGeom prst="line">
            <a:avLst/>
          </a:prstGeom>
          <a:noFill/>
          <a:ln w="38100">
            <a:solidFill>
              <a:srgbClr val="3B6EA5"/>
            </a:solidFill>
            <a:prstDash val="solid"/>
          </a:ln>
        </p:spPr>
      </p:sp>
      <p:sp>
        <p:nvSpPr>
          <p:cNvPr id="28" name="arrow"/>
          <p:cNvSpPr/>
          <p:nvPr/>
        </p:nvSpPr>
        <p:spPr>
          <a:xfrm flipV="1">
            <a:off x="10058400" y="2651760"/>
            <a:ext cx="0" cy="2103120"/>
          </a:xfrm>
          <a:prstGeom prst="line">
            <a:avLst/>
          </a:prstGeom>
          <a:noFill/>
          <a:ln w="12700">
            <a:solidFill>
              <a:srgbClr val="5C6B73"/>
            </a:solidFill>
            <a:prstDash val="dash"/>
          </a:ln>
        </p:spPr>
      </p:sp>
      <p:sp>
        <p:nvSpPr>
          <p:cNvPr id="29" name="arrow"/>
          <p:cNvSpPr/>
          <p:nvPr/>
        </p:nvSpPr>
        <p:spPr>
          <a:xfrm flipV="1">
            <a:off x="8686800" y="4663440"/>
            <a:ext cx="0" cy="91440"/>
          </a:xfrm>
          <a:prstGeom prst="line">
            <a:avLst/>
          </a:prstGeom>
          <a:noFill/>
          <a:ln w="12700">
            <a:solidFill>
              <a:srgbClr val="5C6B73"/>
            </a:solidFill>
            <a:prstDash val="dash"/>
          </a:ln>
        </p:spPr>
      </p:sp>
      <p:sp>
        <p:nvSpPr>
          <p:cNvPr id="30" name="Text 27"/>
          <p:cNvSpPr txBox="1"/>
          <p:nvPr/>
        </p:nvSpPr>
        <p:spPr>
          <a:xfrm>
            <a:off x="8503920" y="4782312"/>
            <a:ext cx="457200" cy="274320"/>
          </a:xfrm>
          <a:prstGeom prst="rect">
            <a:avLst/>
          </a:prstGeom>
          <a:noFill/>
          <a:ln/>
        </p:spPr>
        <p:txBody>
          <a:bodyPr wrap="square" lIns="0" tIns="0" rIns="0" bIns="0" rtlCol="0" anchor="ctr"/>
          <a:lstStyle/>
          <a:p>
            <a:pPr algn="ctr" indent="0" marL="0">
              <a:buNone/>
            </a:pPr>
            <a:r>
              <a:rPr lang="en-US" sz="1100" dirty="0">
                <a:solidFill>
                  <a:schemeClr val="tx1"/>
                </a:solidFill>
              </a:rPr>
              <a:t>θ</a:t>
            </a:r>
            <a:r>
              <a:rPr lang="en-US" sz="1100" baseline="-40000" dirty="0">
                <a:solidFill>
                  <a:schemeClr val="tx1"/>
                </a:solidFill>
              </a:rPr>
              <a:t>wp</a:t>
            </a:r>
            <a:endParaRPr lang="en-US" sz="1100" dirty="0"/>
          </a:p>
        </p:txBody>
      </p:sp>
      <p:sp>
        <p:nvSpPr>
          <p:cNvPr id="31" name="Text 28"/>
          <p:cNvSpPr txBox="1"/>
          <p:nvPr/>
        </p:nvSpPr>
        <p:spPr>
          <a:xfrm>
            <a:off x="9829800" y="4782312"/>
            <a:ext cx="548640" cy="274320"/>
          </a:xfrm>
          <a:prstGeom prst="rect">
            <a:avLst/>
          </a:prstGeom>
          <a:noFill/>
          <a:ln/>
        </p:spPr>
        <p:txBody>
          <a:bodyPr wrap="square" lIns="0" tIns="0" rIns="0" bIns="0" rtlCol="0" anchor="ctr"/>
          <a:lstStyle/>
          <a:p>
            <a:pPr algn="ctr" indent="0" marL="0">
              <a:buNone/>
            </a:pPr>
            <a:r>
              <a:rPr lang="en-US" sz="1100" dirty="0">
                <a:solidFill>
                  <a:schemeClr val="tx1"/>
                </a:solidFill>
              </a:rPr>
              <a:t>θ</a:t>
            </a:r>
            <a:r>
              <a:rPr lang="en-US" sz="1100" baseline="-40000" dirty="0">
                <a:solidFill>
                  <a:schemeClr val="tx1"/>
                </a:solidFill>
              </a:rPr>
              <a:t>crit</a:t>
            </a:r>
            <a:endParaRPr lang="en-US" sz="1100" dirty="0"/>
          </a:p>
        </p:txBody>
      </p:sp>
      <p:sp>
        <p:nvSpPr>
          <p:cNvPr id="32" name="Text 29"/>
          <p:cNvSpPr txBox="1"/>
          <p:nvPr/>
        </p:nvSpPr>
        <p:spPr>
          <a:xfrm>
            <a:off x="10424160" y="4782312"/>
            <a:ext cx="1097280" cy="274320"/>
          </a:xfrm>
          <a:prstGeom prst="rect">
            <a:avLst/>
          </a:prstGeom>
          <a:noFill/>
          <a:ln/>
        </p:spPr>
        <p:txBody>
          <a:bodyPr wrap="square" lIns="0" tIns="0" rIns="0" bIns="0" rtlCol="0" anchor="ctr"/>
          <a:lstStyle/>
          <a:p>
            <a:pPr algn="r" indent="0" marL="0">
              <a:buNone/>
            </a:pPr>
            <a:r>
              <a:rPr lang="en-US" sz="1100" dirty="0">
                <a:solidFill>
                  <a:schemeClr val="accent6"/>
                </a:solidFill>
              </a:rPr>
              <a:t>Soil moisture →</a:t>
            </a:r>
            <a:endParaRPr lang="en-US" sz="1100" dirty="0"/>
          </a:p>
        </p:txBody>
      </p:sp>
      <p:sp>
        <p:nvSpPr>
          <p:cNvPr id="33" name="Text 30"/>
          <p:cNvSpPr txBox="1"/>
          <p:nvPr/>
        </p:nvSpPr>
        <p:spPr>
          <a:xfrm>
            <a:off x="7845552" y="2011680"/>
            <a:ext cx="365760" cy="274320"/>
          </a:xfrm>
          <a:prstGeom prst="rect">
            <a:avLst/>
          </a:prstGeom>
          <a:noFill/>
          <a:ln/>
        </p:spPr>
        <p:txBody>
          <a:bodyPr wrap="square" lIns="0" tIns="0" rIns="0" bIns="0" rtlCol="0" anchor="ctr"/>
          <a:lstStyle/>
          <a:p>
            <a:pPr algn="l" indent="0" marL="0">
              <a:buNone/>
            </a:pPr>
            <a:r>
              <a:rPr lang="en-US" sz="1200" b="1" dirty="0">
                <a:solidFill>
                  <a:schemeClr val="tx1"/>
                </a:solidFill>
              </a:rPr>
              <a:t>ET</a:t>
            </a:r>
            <a:endParaRPr lang="en-US" sz="1200" dirty="0"/>
          </a:p>
        </p:txBody>
      </p:sp>
      <p:sp>
        <p:nvSpPr>
          <p:cNvPr id="34" name="Text 31"/>
          <p:cNvSpPr txBox="1"/>
          <p:nvPr/>
        </p:nvSpPr>
        <p:spPr>
          <a:xfrm>
            <a:off x="8458200" y="3200400"/>
            <a:ext cx="1280160" cy="274320"/>
          </a:xfrm>
          <a:prstGeom prst="rect">
            <a:avLst/>
          </a:prstGeom>
          <a:noFill/>
          <a:ln/>
        </p:spPr>
        <p:txBody>
          <a:bodyPr wrap="square" lIns="0" tIns="0" rIns="0" bIns="0" rtlCol="0" anchor="ctr"/>
          <a:lstStyle/>
          <a:p>
            <a:pPr algn="l" indent="0" marL="0">
              <a:buNone/>
            </a:pPr>
            <a:r>
              <a:rPr lang="en-US" sz="1150" b="1" dirty="0">
                <a:solidFill>
                  <a:schemeClr val="accent4"/>
                </a:solidFill>
              </a:rPr>
              <a:t>Water-limited</a:t>
            </a:r>
            <a:endParaRPr lang="en-US" sz="1150" dirty="0"/>
          </a:p>
        </p:txBody>
      </p:sp>
      <p:sp>
        <p:nvSpPr>
          <p:cNvPr id="35" name="Text 32"/>
          <p:cNvSpPr txBox="1"/>
          <p:nvPr/>
        </p:nvSpPr>
        <p:spPr>
          <a:xfrm>
            <a:off x="9921240" y="2240280"/>
            <a:ext cx="1691640" cy="274320"/>
          </a:xfrm>
          <a:prstGeom prst="rect">
            <a:avLst/>
          </a:prstGeom>
          <a:noFill/>
          <a:ln/>
        </p:spPr>
        <p:txBody>
          <a:bodyPr wrap="square" lIns="0" tIns="0" rIns="0" bIns="0" rtlCol="0" anchor="ctr"/>
          <a:lstStyle/>
          <a:p>
            <a:pPr algn="l" indent="0" marL="0">
              <a:buNone/>
            </a:pPr>
            <a:r>
              <a:rPr lang="en-US" sz="1150" b="1" dirty="0">
                <a:solidFill>
                  <a:schemeClr val="accent2"/>
                </a:solidFill>
              </a:rPr>
              <a:t>Energy-limited (≈ PET)</a:t>
            </a:r>
            <a:endParaRPr lang="en-US" sz="1150" dirty="0"/>
          </a:p>
        </p:txBody>
      </p:sp>
      <p:sp>
        <p:nvSpPr>
          <p:cNvPr id="36" name="Text 33"/>
          <p:cNvSpPr txBox="1"/>
          <p:nvPr/>
        </p:nvSpPr>
        <p:spPr>
          <a:xfrm>
            <a:off x="8001000" y="4919472"/>
            <a:ext cx="3520440" cy="365760"/>
          </a:xfrm>
          <a:prstGeom prst="rect">
            <a:avLst/>
          </a:prstGeom>
          <a:noFill/>
          <a:ln/>
        </p:spPr>
        <p:txBody>
          <a:bodyPr wrap="square" lIns="0" tIns="0" rIns="0" bIns="0" rtlCol="0" anchor="ctr"/>
          <a:lstStyle/>
          <a:p>
            <a:pPr algn="l" indent="0" marL="0">
              <a:buNone/>
            </a:pPr>
            <a:r>
              <a:rPr lang="en-US" sz="1050" i="1" dirty="0">
                <a:solidFill>
                  <a:schemeClr val="accent6"/>
                </a:solidFill>
              </a:rPr>
              <a:t>Drivers: Rn, VPD, wind, Ta; soil water; LAI and stomata</a:t>
            </a:r>
            <a:endParaRPr lang="en-US" sz="1050" dirty="0"/>
          </a:p>
        </p:txBody>
      </p:sp>
      <p:sp>
        <p:nvSpPr>
          <p:cNvPr id="37" name="insight"/>
          <p:cNvSpPr/>
          <p:nvPr/>
        </p:nvSpPr>
        <p:spPr>
          <a:xfrm>
            <a:off x="548640" y="5486400"/>
            <a:ext cx="11094415" cy="685800"/>
          </a:xfrm>
          <a:prstGeom prst="roundRect">
            <a:avLst>
              <a:gd name="adj" fmla="val 10667"/>
            </a:avLst>
          </a:prstGeom>
          <a:solidFill>
            <a:schemeClr val="bg2"/>
          </a:solidFill>
          <a:ln/>
        </p:spPr>
      </p:sp>
      <p:sp>
        <p:nvSpPr>
          <p:cNvPr id="38" name="icon circle"/>
          <p:cNvSpPr/>
          <p:nvPr/>
        </p:nvSpPr>
        <p:spPr>
          <a:xfrm>
            <a:off x="685800" y="5591556"/>
            <a:ext cx="475488" cy="475488"/>
          </a:xfrm>
          <a:prstGeom prst="ellipse">
            <a:avLst/>
          </a:prstGeom>
          <a:solidFill>
            <a:schemeClr val="accent3"/>
          </a:solidFill>
          <a:ln/>
        </p:spPr>
      </p:sp>
      <p:pic>
        <p:nvPicPr>
          <p:cNvPr id="39" name="Image 0" descr="Lightbulb icon">    </p:cNvPr>
          <p:cNvPicPr>
            <a:picLocks noChangeAspect="1"/>
          </p:cNvPicPr>
          <p:nvPr/>
        </p:nvPicPr>
        <p:blipFill>
          <a:blip r:embed="rId1"/>
          <a:stretch>
            <a:fillRect/>
          </a:stretch>
        </p:blipFill>
        <p:spPr>
          <a:xfrm>
            <a:off x="809427" y="5715183"/>
            <a:ext cx="228234" cy="228234"/>
          </a:xfrm>
          <a:prstGeom prst="rect">
            <a:avLst/>
          </a:prstGeom>
        </p:spPr>
      </p:pic>
      <p:sp>
        <p:nvSpPr>
          <p:cNvPr id="40" name="Text 36"/>
          <p:cNvSpPr txBox="1"/>
          <p:nvPr/>
        </p:nvSpPr>
        <p:spPr>
          <a:xfrm>
            <a:off x="1325880" y="5522976"/>
            <a:ext cx="10180015" cy="61264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Uses:</a:t>
            </a:r>
            <a:r>
              <a:rPr lang="en-US" sz="1350" dirty="0">
                <a:solidFill>
                  <a:schemeClr val="tx1"/>
                </a:solidFill>
              </a:rPr>
              <a:t> irrigation scheduling, basin water accounting, crop water productivity (yield ÷ ET), drought (ESI = 1 − ET/PET), yield models, climate studies</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ET happens: the soil–plant–atmosphere continuum</a:t>
            </a:r>
            <a:endParaRPr lang="en-US" sz="3200" dirty="0"/>
          </a:p>
        </p:txBody>
      </p:sp>
      <p:sp>
        <p:nvSpPr>
          <p:cNvPr id="4" name="diagram box"/>
          <p:cNvSpPr/>
          <p:nvPr/>
        </p:nvSpPr>
        <p:spPr>
          <a:xfrm>
            <a:off x="548640" y="1371600"/>
            <a:ext cx="1691640" cy="1005840"/>
          </a:xfrm>
          <a:prstGeom prst="roundRect">
            <a:avLst>
              <a:gd name="adj" fmla="val 7273"/>
            </a:avLst>
          </a:prstGeom>
          <a:solidFill>
            <a:srgbClr val="8C5E34"/>
          </a:solidFill>
          <a:ln/>
        </p:spPr>
      </p:sp>
      <p:sp>
        <p:nvSpPr>
          <p:cNvPr id="5" name="Text 2"/>
          <p:cNvSpPr txBox="1"/>
          <p:nvPr/>
        </p:nvSpPr>
        <p:spPr>
          <a:xfrm>
            <a:off x="54864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Soil</a:t>
            </a:r>
            <a:endParaRPr lang="en-US" sz="1400" dirty="0"/>
          </a:p>
          <a:p>
            <a:pPr algn="ctr" indent="0" marL="0">
              <a:buNone/>
            </a:pPr>
            <a:r>
              <a:rPr lang="en-US" sz="1100" b="1" dirty="0">
                <a:solidFill>
                  <a:schemeClr val="bg1"/>
                </a:solidFill>
              </a:rPr>
              <a:t>Ψ ≈ −0.03 MPa</a:t>
            </a:r>
            <a:endParaRPr lang="en-US" sz="1400" dirty="0"/>
          </a:p>
        </p:txBody>
      </p:sp>
      <p:sp>
        <p:nvSpPr>
          <p:cNvPr id="6" name="arrow"/>
          <p:cNvSpPr/>
          <p:nvPr/>
        </p:nvSpPr>
        <p:spPr>
          <a:xfrm>
            <a:off x="2249424" y="1874520"/>
            <a:ext cx="164592" cy="0"/>
          </a:xfrm>
          <a:prstGeom prst="line">
            <a:avLst/>
          </a:prstGeom>
          <a:noFill/>
          <a:ln w="28575">
            <a:solidFill>
              <a:srgbClr val="1E2430"/>
            </a:solidFill>
            <a:prstDash val="solid"/>
            <a:tailEnd type="triangle"/>
          </a:ln>
        </p:spPr>
      </p:sp>
      <p:sp>
        <p:nvSpPr>
          <p:cNvPr id="7" name="diagram box"/>
          <p:cNvSpPr/>
          <p:nvPr/>
        </p:nvSpPr>
        <p:spPr>
          <a:xfrm>
            <a:off x="2423160" y="1371600"/>
            <a:ext cx="1691640" cy="1005840"/>
          </a:xfrm>
          <a:prstGeom prst="roundRect">
            <a:avLst>
              <a:gd name="adj" fmla="val 7273"/>
            </a:avLst>
          </a:prstGeom>
          <a:solidFill>
            <a:srgbClr val="A0522D"/>
          </a:solidFill>
          <a:ln/>
        </p:spPr>
      </p:sp>
      <p:sp>
        <p:nvSpPr>
          <p:cNvPr id="8" name="Text 5"/>
          <p:cNvSpPr txBox="1"/>
          <p:nvPr/>
        </p:nvSpPr>
        <p:spPr>
          <a:xfrm>
            <a:off x="242316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Roots</a:t>
            </a:r>
            <a:endParaRPr lang="en-US" sz="1400" dirty="0"/>
          </a:p>
          <a:p>
            <a:pPr algn="ctr" indent="0" marL="0">
              <a:buNone/>
            </a:pPr>
            <a:r>
              <a:rPr lang="en-US" sz="1100" b="1" dirty="0">
                <a:solidFill>
                  <a:schemeClr val="bg1"/>
                </a:solidFill>
              </a:rPr>
              <a:t>uptake</a:t>
            </a:r>
            <a:endParaRPr lang="en-US" sz="1400" dirty="0"/>
          </a:p>
        </p:txBody>
      </p:sp>
      <p:sp>
        <p:nvSpPr>
          <p:cNvPr id="9" name="arrow"/>
          <p:cNvSpPr/>
          <p:nvPr/>
        </p:nvSpPr>
        <p:spPr>
          <a:xfrm>
            <a:off x="4123944" y="1874520"/>
            <a:ext cx="164592" cy="0"/>
          </a:xfrm>
          <a:prstGeom prst="line">
            <a:avLst/>
          </a:prstGeom>
          <a:noFill/>
          <a:ln w="28575">
            <a:solidFill>
              <a:srgbClr val="1E2430"/>
            </a:solidFill>
            <a:prstDash val="solid"/>
            <a:tailEnd type="triangle"/>
          </a:ln>
        </p:spPr>
      </p:sp>
      <p:sp>
        <p:nvSpPr>
          <p:cNvPr id="10" name="diagram box"/>
          <p:cNvSpPr/>
          <p:nvPr/>
        </p:nvSpPr>
        <p:spPr>
          <a:xfrm>
            <a:off x="4297680" y="1371600"/>
            <a:ext cx="1691640" cy="1005840"/>
          </a:xfrm>
          <a:prstGeom prst="roundRect">
            <a:avLst>
              <a:gd name="adj" fmla="val 7273"/>
            </a:avLst>
          </a:prstGeom>
          <a:solidFill>
            <a:srgbClr val="2E7D4F"/>
          </a:solidFill>
          <a:ln/>
        </p:spPr>
      </p:sp>
      <p:sp>
        <p:nvSpPr>
          <p:cNvPr id="11" name="Text 8"/>
          <p:cNvSpPr txBox="1"/>
          <p:nvPr/>
        </p:nvSpPr>
        <p:spPr>
          <a:xfrm>
            <a:off x="429768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Xylem</a:t>
            </a:r>
            <a:endParaRPr lang="en-US" sz="1400" dirty="0"/>
          </a:p>
          <a:p>
            <a:pPr algn="ctr" indent="0" marL="0">
              <a:buNone/>
            </a:pPr>
            <a:r>
              <a:rPr lang="en-US" sz="1100" b="1" dirty="0">
                <a:solidFill>
                  <a:schemeClr val="bg1"/>
                </a:solidFill>
              </a:rPr>
              <a:t>cohesion–tension</a:t>
            </a:r>
            <a:endParaRPr lang="en-US" sz="1400" dirty="0"/>
          </a:p>
        </p:txBody>
      </p:sp>
      <p:sp>
        <p:nvSpPr>
          <p:cNvPr id="12" name="arrow"/>
          <p:cNvSpPr/>
          <p:nvPr/>
        </p:nvSpPr>
        <p:spPr>
          <a:xfrm>
            <a:off x="5998464" y="1874520"/>
            <a:ext cx="164592" cy="0"/>
          </a:xfrm>
          <a:prstGeom prst="line">
            <a:avLst/>
          </a:prstGeom>
          <a:noFill/>
          <a:ln w="28575">
            <a:solidFill>
              <a:srgbClr val="1E2430"/>
            </a:solidFill>
            <a:prstDash val="solid"/>
            <a:tailEnd type="triangle"/>
          </a:ln>
        </p:spPr>
      </p:sp>
      <p:sp>
        <p:nvSpPr>
          <p:cNvPr id="13" name="diagram box"/>
          <p:cNvSpPr/>
          <p:nvPr/>
        </p:nvSpPr>
        <p:spPr>
          <a:xfrm>
            <a:off x="6172200" y="1371600"/>
            <a:ext cx="1691640" cy="1005840"/>
          </a:xfrm>
          <a:prstGeom prst="roundRect">
            <a:avLst>
              <a:gd name="adj" fmla="val 7273"/>
            </a:avLst>
          </a:prstGeom>
          <a:solidFill>
            <a:srgbClr val="2E7D4F"/>
          </a:solidFill>
          <a:ln/>
        </p:spPr>
      </p:sp>
      <p:sp>
        <p:nvSpPr>
          <p:cNvPr id="14" name="Text 11"/>
          <p:cNvSpPr txBox="1"/>
          <p:nvPr/>
        </p:nvSpPr>
        <p:spPr>
          <a:xfrm>
            <a:off x="617220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Leaf</a:t>
            </a:r>
            <a:endParaRPr lang="en-US" sz="1400" dirty="0"/>
          </a:p>
          <a:p>
            <a:pPr algn="ctr" indent="0" marL="0">
              <a:buNone/>
            </a:pPr>
            <a:r>
              <a:rPr lang="en-US" sz="1100" b="1" dirty="0">
                <a:solidFill>
                  <a:schemeClr val="bg1"/>
                </a:solidFill>
              </a:rPr>
              <a:t>Ψ ≈ −1.5 MPa</a:t>
            </a:r>
            <a:endParaRPr lang="en-US" sz="1400" dirty="0"/>
          </a:p>
        </p:txBody>
      </p:sp>
      <p:sp>
        <p:nvSpPr>
          <p:cNvPr id="15" name="arrow"/>
          <p:cNvSpPr/>
          <p:nvPr/>
        </p:nvSpPr>
        <p:spPr>
          <a:xfrm>
            <a:off x="7872984" y="1874520"/>
            <a:ext cx="164592" cy="0"/>
          </a:xfrm>
          <a:prstGeom prst="line">
            <a:avLst/>
          </a:prstGeom>
          <a:noFill/>
          <a:ln w="28575">
            <a:solidFill>
              <a:srgbClr val="1E2430"/>
            </a:solidFill>
            <a:prstDash val="solid"/>
            <a:tailEnd type="triangle"/>
          </a:ln>
        </p:spPr>
      </p:sp>
      <p:sp>
        <p:nvSpPr>
          <p:cNvPr id="16" name="diagram box"/>
          <p:cNvSpPr/>
          <p:nvPr/>
        </p:nvSpPr>
        <p:spPr>
          <a:xfrm>
            <a:off x="8046720" y="1371600"/>
            <a:ext cx="1691640" cy="1005840"/>
          </a:xfrm>
          <a:prstGeom prst="roundRect">
            <a:avLst>
              <a:gd name="adj" fmla="val 7273"/>
            </a:avLst>
          </a:prstGeom>
          <a:solidFill>
            <a:srgbClr val="1B4965"/>
          </a:solidFill>
          <a:ln/>
        </p:spPr>
      </p:sp>
      <p:sp>
        <p:nvSpPr>
          <p:cNvPr id="17" name="Text 14"/>
          <p:cNvSpPr txBox="1"/>
          <p:nvPr/>
        </p:nvSpPr>
        <p:spPr>
          <a:xfrm>
            <a:off x="804672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Stomata</a:t>
            </a:r>
            <a:endParaRPr lang="en-US" sz="1400" dirty="0"/>
          </a:p>
          <a:p>
            <a:pPr algn="ctr" indent="0" marL="0">
              <a:buNone/>
            </a:pPr>
            <a:r>
              <a:rPr lang="en-US" sz="1100" b="1" dirty="0">
                <a:solidFill>
                  <a:schemeClr val="bg1"/>
                </a:solidFill>
              </a:rPr>
              <a:t>r</a:t>
            </a:r>
            <a:r>
              <a:rPr lang="en-US" sz="1100" b="1" baseline="-40000" dirty="0">
                <a:solidFill>
                  <a:schemeClr val="bg1"/>
                </a:solidFill>
              </a:rPr>
              <a:t>s</a:t>
            </a:r>
            <a:r>
              <a:rPr lang="en-US" sz="1100" b="1" dirty="0">
                <a:solidFill>
                  <a:schemeClr val="bg1"/>
                </a:solidFill>
              </a:rPr>
              <a:t>: control valve</a:t>
            </a:r>
            <a:endParaRPr lang="en-US" sz="1400" dirty="0"/>
          </a:p>
        </p:txBody>
      </p:sp>
      <p:sp>
        <p:nvSpPr>
          <p:cNvPr id="18" name="arrow"/>
          <p:cNvSpPr/>
          <p:nvPr/>
        </p:nvSpPr>
        <p:spPr>
          <a:xfrm>
            <a:off x="9747504" y="1874520"/>
            <a:ext cx="164592" cy="0"/>
          </a:xfrm>
          <a:prstGeom prst="line">
            <a:avLst/>
          </a:prstGeom>
          <a:noFill/>
          <a:ln w="28575">
            <a:solidFill>
              <a:srgbClr val="1E2430"/>
            </a:solidFill>
            <a:prstDash val="solid"/>
            <a:tailEnd type="triangle"/>
          </a:ln>
        </p:spPr>
      </p:sp>
      <p:sp>
        <p:nvSpPr>
          <p:cNvPr id="19" name="diagram box"/>
          <p:cNvSpPr/>
          <p:nvPr/>
        </p:nvSpPr>
        <p:spPr>
          <a:xfrm>
            <a:off x="9921240" y="1371600"/>
            <a:ext cx="1691640" cy="1005840"/>
          </a:xfrm>
          <a:prstGeom prst="roundRect">
            <a:avLst>
              <a:gd name="adj" fmla="val 7273"/>
            </a:avLst>
          </a:prstGeom>
          <a:solidFill>
            <a:srgbClr val="3B6EA5"/>
          </a:solidFill>
          <a:ln/>
        </p:spPr>
      </p:sp>
      <p:sp>
        <p:nvSpPr>
          <p:cNvPr id="20" name="Text 17"/>
          <p:cNvSpPr txBox="1"/>
          <p:nvPr/>
        </p:nvSpPr>
        <p:spPr>
          <a:xfrm>
            <a:off x="9921240" y="1371600"/>
            <a:ext cx="1691640" cy="1005840"/>
          </a:xfrm>
          <a:prstGeom prst="rect">
            <a:avLst/>
          </a:prstGeom>
          <a:noFill/>
          <a:ln/>
        </p:spPr>
        <p:txBody>
          <a:bodyPr wrap="square" lIns="508" tIns="508" rIns="508" bIns="508" rtlCol="0" anchor="ctr"/>
          <a:lstStyle/>
          <a:p>
            <a:pPr algn="ctr" indent="0" marL="0">
              <a:buNone/>
            </a:pPr>
            <a:r>
              <a:rPr lang="en-US" sz="1400" b="1" dirty="0">
                <a:solidFill>
                  <a:schemeClr val="bg1"/>
                </a:solidFill>
              </a:rPr>
              <a:t>Atmosphere</a:t>
            </a:r>
            <a:endParaRPr lang="en-US" sz="1400" dirty="0"/>
          </a:p>
          <a:p>
            <a:pPr algn="ctr" indent="0" marL="0">
              <a:buNone/>
            </a:pPr>
            <a:r>
              <a:rPr lang="en-US" sz="1100" b="1" dirty="0">
                <a:solidFill>
                  <a:schemeClr val="bg1"/>
                </a:solidFill>
              </a:rPr>
              <a:t>Ψ ≈ −100 MPa</a:t>
            </a:r>
            <a:endParaRPr lang="en-US" sz="1400" dirty="0"/>
          </a:p>
        </p:txBody>
      </p:sp>
      <p:sp>
        <p:nvSpPr>
          <p:cNvPr id="21" name="Text 18"/>
          <p:cNvSpPr txBox="1"/>
          <p:nvPr/>
        </p:nvSpPr>
        <p:spPr>
          <a:xfrm>
            <a:off x="548640" y="2468880"/>
            <a:ext cx="7315200" cy="292608"/>
          </a:xfrm>
          <a:prstGeom prst="rect">
            <a:avLst/>
          </a:prstGeom>
          <a:noFill/>
          <a:ln/>
        </p:spPr>
        <p:txBody>
          <a:bodyPr wrap="square" lIns="0" tIns="0" rIns="0" bIns="0" rtlCol="0" anchor="ctr"/>
          <a:lstStyle/>
          <a:p>
            <a:pPr algn="l" indent="0" marL="0">
              <a:buNone/>
            </a:pPr>
            <a:r>
              <a:rPr lang="en-US" sz="1200" i="1" dirty="0">
                <a:solidFill>
                  <a:schemeClr val="accent6"/>
                </a:solidFill>
              </a:rPr>
              <a:t>Water moves down the water-potential gradient →</a:t>
            </a:r>
            <a:endParaRPr lang="en-US" sz="1200" dirty="0"/>
          </a:p>
        </p:txBody>
      </p:sp>
      <p:sp>
        <p:nvSpPr>
          <p:cNvPr id="22" name="card"/>
          <p:cNvSpPr/>
          <p:nvPr/>
        </p:nvSpPr>
        <p:spPr>
          <a:xfrm>
            <a:off x="548640" y="2880360"/>
            <a:ext cx="5486400"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2880360"/>
            <a:ext cx="5212080" cy="731520"/>
          </a:xfrm>
          <a:prstGeom prst="rect">
            <a:avLst/>
          </a:prstGeom>
          <a:noFill/>
          <a:ln/>
        </p:spPr>
        <p:txBody>
          <a:bodyPr wrap="square" lIns="0" tIns="0" rIns="0" bIns="0" rtlCol="0" anchor="ctr"/>
          <a:lstStyle/>
          <a:p>
            <a:pPr algn="ctr" indent="0" marL="0">
              <a:buNone/>
            </a:pPr>
            <a:r>
              <a:rPr lang="en-US" sz="1600" b="1" dirty="0">
                <a:solidFill>
                  <a:schemeClr val="bg1"/>
                </a:solidFill>
              </a:rPr>
              <a:t>T = ρc</a:t>
            </a:r>
            <a:r>
              <a:rPr lang="en-US" sz="1600" b="1" baseline="-40000" dirty="0">
                <a:solidFill>
                  <a:schemeClr val="bg1"/>
                </a:solidFill>
              </a:rPr>
              <a:t>p</a:t>
            </a:r>
            <a:r>
              <a:rPr lang="en-US" sz="1600" b="1" dirty="0">
                <a:solidFill>
                  <a:schemeClr val="bg1"/>
                </a:solidFill>
              </a:rPr>
              <a:t>[e</a:t>
            </a:r>
            <a:r>
              <a:rPr lang="en-US" sz="1600" b="1" baseline="-40000" dirty="0">
                <a:solidFill>
                  <a:schemeClr val="bg1"/>
                </a:solidFill>
              </a:rPr>
              <a:t>s</a:t>
            </a:r>
            <a:r>
              <a:rPr lang="en-US" sz="1600" b="1" dirty="0">
                <a:solidFill>
                  <a:schemeClr val="bg1"/>
                </a:solidFill>
              </a:rPr>
              <a:t>(T</a:t>
            </a:r>
            <a:r>
              <a:rPr lang="en-US" sz="1600" b="1" baseline="-40000" dirty="0">
                <a:solidFill>
                  <a:schemeClr val="bg1"/>
                </a:solidFill>
              </a:rPr>
              <a:t>leaf</a:t>
            </a:r>
            <a:r>
              <a:rPr lang="en-US" sz="1600" b="1" dirty="0">
                <a:solidFill>
                  <a:schemeClr val="bg1"/>
                </a:solidFill>
              </a:rPr>
              <a:t>) − e</a:t>
            </a:r>
            <a:r>
              <a:rPr lang="en-US" sz="1600" b="1" baseline="-40000" dirty="0">
                <a:solidFill>
                  <a:schemeClr val="bg1"/>
                </a:solidFill>
              </a:rPr>
              <a:t>a</a:t>
            </a:r>
            <a:r>
              <a:rPr lang="en-US" sz="1600" b="1" dirty="0">
                <a:solidFill>
                  <a:schemeClr val="bg1"/>
                </a:solidFill>
              </a:rPr>
              <a:t>] / [γλ(r</a:t>
            </a:r>
            <a:r>
              <a:rPr lang="en-US" sz="1600" b="1" baseline="-40000" dirty="0">
                <a:solidFill>
                  <a:schemeClr val="bg1"/>
                </a:solidFill>
              </a:rPr>
              <a:t>s</a:t>
            </a:r>
            <a:r>
              <a:rPr lang="en-US" sz="1600" b="1" dirty="0">
                <a:solidFill>
                  <a:schemeClr val="bg1"/>
                </a:solidFill>
              </a:rPr>
              <a:t> + r</a:t>
            </a:r>
            <a:r>
              <a:rPr lang="en-US" sz="1600" b="1" baseline="-40000" dirty="0">
                <a:solidFill>
                  <a:schemeClr val="bg1"/>
                </a:solidFill>
              </a:rPr>
              <a:t>a</a:t>
            </a:r>
            <a:r>
              <a:rPr lang="en-US" sz="1600" b="1" dirty="0">
                <a:solidFill>
                  <a:schemeClr val="bg1"/>
                </a:solidFill>
              </a:rPr>
              <a:t>)]</a:t>
            </a:r>
            <a:endParaRPr lang="en-US" sz="1600" dirty="0"/>
          </a:p>
        </p:txBody>
      </p:sp>
      <p:sp>
        <p:nvSpPr>
          <p:cNvPr id="24" name="card"/>
          <p:cNvSpPr/>
          <p:nvPr/>
        </p:nvSpPr>
        <p:spPr>
          <a:xfrm>
            <a:off x="548640" y="3749040"/>
            <a:ext cx="5486400" cy="2423160"/>
          </a:xfrm>
          <a:prstGeom prst="roundRect">
            <a:avLst>
              <a:gd name="adj" fmla="val 3019"/>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731520" y="3904488"/>
            <a:ext cx="420624" cy="420624"/>
          </a:xfrm>
          <a:prstGeom prst="ellipse">
            <a:avLst/>
          </a:prstGeom>
          <a:solidFill>
            <a:schemeClr val="accent1"/>
          </a:solidFill>
          <a:ln/>
        </p:spPr>
      </p:sp>
      <p:pic>
        <p:nvPicPr>
          <p:cNvPr id="26" name="Image 0" descr="Leaf icon">    </p:cNvPr>
          <p:cNvPicPr>
            <a:picLocks noChangeAspect="1"/>
          </p:cNvPicPr>
          <p:nvPr/>
        </p:nvPicPr>
        <p:blipFill>
          <a:blip r:embed="rId1"/>
          <a:stretch>
            <a:fillRect/>
          </a:stretch>
        </p:blipFill>
        <p:spPr>
          <a:xfrm>
            <a:off x="840882" y="4013850"/>
            <a:ext cx="201900" cy="201900"/>
          </a:xfrm>
          <a:prstGeom prst="rect">
            <a:avLst/>
          </a:prstGeom>
        </p:spPr>
      </p:pic>
      <p:sp>
        <p:nvSpPr>
          <p:cNvPr id="27" name="Text 23"/>
          <p:cNvSpPr txBox="1"/>
          <p:nvPr/>
        </p:nvSpPr>
        <p:spPr>
          <a:xfrm>
            <a:off x="1261872" y="388620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Stomatal (canopy) control</a:t>
            </a:r>
            <a:endParaRPr lang="en-US" sz="1600" dirty="0"/>
          </a:p>
        </p:txBody>
      </p:sp>
      <p:sp>
        <p:nvSpPr>
          <p:cNvPr id="28" name="Text 24"/>
          <p:cNvSpPr txBox="1"/>
          <p:nvPr/>
        </p:nvSpPr>
        <p:spPr>
          <a:xfrm>
            <a:off x="731520" y="4434840"/>
            <a:ext cx="5120640" cy="16459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Open with light (PAR); close with high VPD, high CO</a:t>
            </a:r>
            <a:r>
              <a:rPr lang="en-US" sz="1250" baseline="-40000" dirty="0">
                <a:solidFill>
                  <a:schemeClr val="tx1"/>
                </a:solidFill>
              </a:rPr>
              <a:t>2</a:t>
            </a:r>
            <a:r>
              <a:rPr lang="en-US" sz="1250" dirty="0">
                <a:solidFill>
                  <a:schemeClr val="tx1"/>
                </a:solidFill>
              </a:rPr>
              <a:t>, soil drying, ABA</a:t>
            </a:r>
            <a:endParaRPr lang="en-US" sz="1250" dirty="0"/>
          </a:p>
          <a:p>
            <a:pPr marL="177800" indent="-177800">
              <a:spcAft>
                <a:spcPts val="400"/>
              </a:spcAft>
              <a:buSzPct val="100000"/>
              <a:buChar char="•"/>
            </a:pPr>
            <a:r>
              <a:rPr lang="en-US" sz="1250" dirty="0">
                <a:solidFill>
                  <a:schemeClr val="tx1"/>
                </a:solidFill>
              </a:rPr>
              <a:t>Canopy resistance r</a:t>
            </a:r>
            <a:r>
              <a:rPr lang="en-US" sz="1250" baseline="-40000" dirty="0">
                <a:solidFill>
                  <a:schemeClr val="tx1"/>
                </a:solidFill>
              </a:rPr>
              <a:t>c</a:t>
            </a:r>
            <a:r>
              <a:rPr lang="en-US" sz="1250" dirty="0">
                <a:solidFill>
                  <a:schemeClr val="tx1"/>
                </a:solidFill>
              </a:rPr>
              <a:t> ≈ r</a:t>
            </a:r>
            <a:r>
              <a:rPr lang="en-US" sz="1250" baseline="-40000" dirty="0">
                <a:solidFill>
                  <a:schemeClr val="tx1"/>
                </a:solidFill>
              </a:rPr>
              <a:t>s,leaf</a:t>
            </a:r>
            <a:r>
              <a:rPr lang="en-US" sz="1250" dirty="0">
                <a:solidFill>
                  <a:schemeClr val="tx1"/>
                </a:solidFill>
              </a:rPr>
              <a:t> / LAI</a:t>
            </a:r>
            <a:r>
              <a:rPr lang="en-US" sz="1250" baseline="-40000" dirty="0">
                <a:solidFill>
                  <a:schemeClr val="tx1"/>
                </a:solidFill>
              </a:rPr>
              <a:t>active</a:t>
            </a:r>
            <a:endParaRPr lang="en-US" sz="1250" dirty="0"/>
          </a:p>
          <a:p>
            <a:pPr marL="177800" indent="-177800">
              <a:spcAft>
                <a:spcPts val="400"/>
              </a:spcAft>
              <a:buSzPct val="100000"/>
              <a:buChar char="•"/>
            </a:pPr>
            <a:r>
              <a:rPr lang="en-US" sz="1250" dirty="0">
                <a:solidFill>
                  <a:schemeClr val="tx1"/>
                </a:solidFill>
              </a:rPr>
              <a:t>FAO-56 grass: r</a:t>
            </a:r>
            <a:r>
              <a:rPr lang="en-US" sz="1250" baseline="-40000" dirty="0">
                <a:solidFill>
                  <a:schemeClr val="tx1"/>
                </a:solidFill>
              </a:rPr>
              <a:t>s</a:t>
            </a:r>
            <a:r>
              <a:rPr lang="en-US" sz="1250" dirty="0">
                <a:solidFill>
                  <a:schemeClr val="tx1"/>
                </a:solidFill>
              </a:rPr>
              <a:t> = 100/(0.5 × 24 × h) ≈ 70 s m⁻¹</a:t>
            </a:r>
            <a:endParaRPr lang="en-US" sz="1250" dirty="0"/>
          </a:p>
        </p:txBody>
      </p:sp>
      <p:sp>
        <p:nvSpPr>
          <p:cNvPr id="29" name="card"/>
          <p:cNvSpPr/>
          <p:nvPr/>
        </p:nvSpPr>
        <p:spPr>
          <a:xfrm>
            <a:off x="6153912" y="2880360"/>
            <a:ext cx="548640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6336792" y="3035808"/>
            <a:ext cx="420624" cy="420624"/>
          </a:xfrm>
          <a:prstGeom prst="ellipse">
            <a:avLst/>
          </a:prstGeom>
          <a:solidFill>
            <a:schemeClr val="accent4"/>
          </a:solidFill>
          <a:ln/>
        </p:spPr>
      </p:sp>
      <p:pic>
        <p:nvPicPr>
          <p:cNvPr id="31" name="Image 1" descr="Water icon">    </p:cNvPr>
          <p:cNvPicPr>
            <a:picLocks noChangeAspect="1"/>
          </p:cNvPicPr>
          <p:nvPr/>
        </p:nvPicPr>
        <p:blipFill>
          <a:blip r:embed="rId2"/>
          <a:stretch>
            <a:fillRect/>
          </a:stretch>
        </p:blipFill>
        <p:spPr>
          <a:xfrm>
            <a:off x="6446154" y="3145170"/>
            <a:ext cx="201900" cy="201900"/>
          </a:xfrm>
          <a:prstGeom prst="rect">
            <a:avLst/>
          </a:prstGeom>
        </p:spPr>
      </p:pic>
      <p:sp>
        <p:nvSpPr>
          <p:cNvPr id="32" name="Text 27"/>
          <p:cNvSpPr txBox="1"/>
          <p:nvPr/>
        </p:nvSpPr>
        <p:spPr>
          <a:xfrm>
            <a:off x="6867144" y="301752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Soil evaporation: two stages</a:t>
            </a:r>
            <a:endParaRPr lang="en-US" sz="1600" dirty="0"/>
          </a:p>
        </p:txBody>
      </p:sp>
      <p:sp>
        <p:nvSpPr>
          <p:cNvPr id="33" name="Text 28"/>
          <p:cNvSpPr txBox="1"/>
          <p:nvPr/>
        </p:nvSpPr>
        <p:spPr>
          <a:xfrm>
            <a:off x="6336792" y="3566160"/>
            <a:ext cx="5120640" cy="8229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Stage 1: wet surface, energy-limited (≈ potential)</a:t>
            </a:r>
            <a:endParaRPr lang="en-US" sz="1250" dirty="0"/>
          </a:p>
          <a:p>
            <a:pPr marL="177800" indent="-177800">
              <a:spcAft>
                <a:spcPts val="400"/>
              </a:spcAft>
              <a:buSzPct val="100000"/>
              <a:buChar char="•"/>
            </a:pPr>
            <a:r>
              <a:rPr lang="en-US" sz="1250" dirty="0">
                <a:solidFill>
                  <a:schemeClr val="tx1"/>
                </a:solidFill>
              </a:rPr>
              <a:t>Stage 2: falling rate, limited by water supply to surface (FAO-56: REW, TEW)</a:t>
            </a:r>
            <a:endParaRPr lang="en-US" sz="1250" dirty="0"/>
          </a:p>
        </p:txBody>
      </p:sp>
      <p:sp>
        <p:nvSpPr>
          <p:cNvPr id="34" name="card"/>
          <p:cNvSpPr/>
          <p:nvPr/>
        </p:nvSpPr>
        <p:spPr>
          <a:xfrm>
            <a:off x="6153912" y="4617720"/>
            <a:ext cx="5486400" cy="1554480"/>
          </a:xfrm>
          <a:prstGeom prst="roundRect">
            <a:avLst>
              <a:gd name="adj" fmla="val 4706"/>
            </a:avLst>
          </a:prstGeom>
          <a:solidFill>
            <a:schemeClr val="bg2"/>
          </a:solidFill>
          <a:ln/>
          <a:effectLst>
            <a:outerShdw sx="100000" sy="100000" kx="0" ky="0" algn="bl" rotWithShape="0" blurRad="76200" dist="25400" dir="5400000">
              <a:srgbClr val="000000">
                <a:alpha val="14000"/>
              </a:srgbClr>
            </a:outerShdw>
          </a:effectLst>
        </p:spPr>
      </p:sp>
      <p:sp>
        <p:nvSpPr>
          <p:cNvPr id="35" name="icon circle"/>
          <p:cNvSpPr/>
          <p:nvPr/>
        </p:nvSpPr>
        <p:spPr>
          <a:xfrm>
            <a:off x="6336792" y="4773168"/>
            <a:ext cx="420624" cy="420624"/>
          </a:xfrm>
          <a:prstGeom prst="ellipse">
            <a:avLst/>
          </a:prstGeom>
          <a:solidFill>
            <a:schemeClr val="accent5"/>
          </a:solidFill>
          <a:ln/>
        </p:spPr>
      </p:sp>
      <p:pic>
        <p:nvPicPr>
          <p:cNvPr id="36" name="Image 2" descr="BalanceScale icon">    </p:cNvPr>
          <p:cNvPicPr>
            <a:picLocks noChangeAspect="1"/>
          </p:cNvPicPr>
          <p:nvPr/>
        </p:nvPicPr>
        <p:blipFill>
          <a:blip r:embed="rId3"/>
          <a:stretch>
            <a:fillRect/>
          </a:stretch>
        </p:blipFill>
        <p:spPr>
          <a:xfrm>
            <a:off x="6446154" y="4882530"/>
            <a:ext cx="201900" cy="201900"/>
          </a:xfrm>
          <a:prstGeom prst="rect">
            <a:avLst/>
          </a:prstGeom>
        </p:spPr>
      </p:pic>
      <p:sp>
        <p:nvSpPr>
          <p:cNvPr id="37" name="Text 31"/>
          <p:cNvSpPr txBox="1"/>
          <p:nvPr/>
        </p:nvSpPr>
        <p:spPr>
          <a:xfrm>
            <a:off x="6867144" y="475488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Why partition E and T?</a:t>
            </a:r>
            <a:endParaRPr lang="en-US" sz="1600" dirty="0"/>
          </a:p>
        </p:txBody>
      </p:sp>
      <p:sp>
        <p:nvSpPr>
          <p:cNvPr id="38" name="Text 32"/>
          <p:cNvSpPr txBox="1"/>
          <p:nvPr/>
        </p:nvSpPr>
        <p:spPr>
          <a:xfrm>
            <a:off x="6336792" y="5303520"/>
            <a:ext cx="5120640" cy="77724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Only T is linked to biomass and yield (water productivity); T/ET rises with LAI; two-source models and sap flow separate them</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ET links the water and energy cycles</a:t>
            </a:r>
            <a:endParaRPr lang="en-US" sz="3200" dirty="0"/>
          </a:p>
        </p:txBody>
      </p:sp>
      <p:sp>
        <p:nvSpPr>
          <p:cNvPr id="4" name="card"/>
          <p:cNvSpPr/>
          <p:nvPr/>
        </p:nvSpPr>
        <p:spPr>
          <a:xfrm>
            <a:off x="548640" y="1280160"/>
            <a:ext cx="5760720" cy="731520"/>
          </a:xfrm>
          <a:prstGeom prst="roundRect">
            <a:avLst>
              <a:gd name="adj" fmla="val 10000"/>
            </a:avLst>
          </a:prstGeom>
          <a:solidFill>
            <a:schemeClr val="accent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486400" cy="731520"/>
          </a:xfrm>
          <a:prstGeom prst="rect">
            <a:avLst/>
          </a:prstGeom>
          <a:noFill/>
          <a:ln/>
        </p:spPr>
        <p:txBody>
          <a:bodyPr wrap="square" lIns="0" tIns="0" rIns="0" bIns="0" rtlCol="0" anchor="ctr"/>
          <a:lstStyle/>
          <a:p>
            <a:pPr algn="ctr" indent="0" marL="0">
              <a:buNone/>
            </a:pPr>
            <a:r>
              <a:rPr lang="en-US" sz="1800" b="1" dirty="0">
                <a:solidFill>
                  <a:schemeClr val="bg1"/>
                </a:solidFill>
              </a:rPr>
              <a:t>Water: P + I = ET + R + D + ΔS</a:t>
            </a:r>
            <a:endParaRPr lang="en-US" sz="1800" dirty="0"/>
          </a:p>
        </p:txBody>
      </p:sp>
      <p:sp>
        <p:nvSpPr>
          <p:cNvPr id="6" name="card"/>
          <p:cNvSpPr/>
          <p:nvPr/>
        </p:nvSpPr>
        <p:spPr>
          <a:xfrm>
            <a:off x="548640" y="2148840"/>
            <a:ext cx="5760720"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7" name="Text 4"/>
          <p:cNvSpPr txBox="1"/>
          <p:nvPr/>
        </p:nvSpPr>
        <p:spPr>
          <a:xfrm>
            <a:off x="685800" y="2148840"/>
            <a:ext cx="5486400" cy="731520"/>
          </a:xfrm>
          <a:prstGeom prst="rect">
            <a:avLst/>
          </a:prstGeom>
          <a:noFill/>
          <a:ln/>
        </p:spPr>
        <p:txBody>
          <a:bodyPr wrap="square" lIns="0" tIns="0" rIns="0" bIns="0" rtlCol="0" anchor="ctr"/>
          <a:lstStyle/>
          <a:p>
            <a:pPr algn="ctr" indent="0" marL="0">
              <a:buNone/>
            </a:pPr>
            <a:r>
              <a:rPr lang="en-US" sz="1800" b="1" dirty="0">
                <a:solidFill>
                  <a:schemeClr val="bg1"/>
                </a:solidFill>
              </a:rPr>
              <a:t>Energy: Rn = λE + H + G</a:t>
            </a:r>
            <a:endParaRPr lang="en-US" sz="1800" dirty="0"/>
          </a:p>
        </p:txBody>
      </p:sp>
      <p:sp>
        <p:nvSpPr>
          <p:cNvPr id="8" name="Text 5"/>
          <p:cNvSpPr txBox="1"/>
          <p:nvPr/>
        </p:nvSpPr>
        <p:spPr>
          <a:xfrm>
            <a:off x="548640" y="3063240"/>
            <a:ext cx="5760720" cy="3108960"/>
          </a:xfrm>
          <a:prstGeom prst="rect">
            <a:avLst/>
          </a:prstGeom>
          <a:noFill/>
          <a:ln/>
        </p:spPr>
        <p:txBody>
          <a:bodyPr wrap="square" lIns="508" tIns="508" rIns="508" bIns="508" rtlCol="0" anchor="t"/>
          <a:lstStyle/>
          <a:p>
            <a:pPr marL="177800" indent="-177800">
              <a:spcAft>
                <a:spcPts val="600"/>
              </a:spcAft>
              <a:buSzPct val="100000"/>
              <a:buChar char="•"/>
            </a:pPr>
            <a:r>
              <a:rPr lang="en-US" sz="1350" dirty="0">
                <a:solidFill>
                  <a:schemeClr val="tx1"/>
                </a:solidFill>
              </a:rPr>
              <a:t>Same water flux, two views: </a:t>
            </a:r>
            <a:r>
              <a:rPr lang="en-US" sz="1350" b="1" dirty="0">
                <a:solidFill>
                  <a:schemeClr val="tx1"/>
                </a:solidFill>
              </a:rPr>
              <a:t>λE (W m⁻²) = λ × ET (kg m⁻² s⁻¹)</a:t>
            </a:r>
            <a:endParaRPr lang="en-US" sz="1350" dirty="0"/>
          </a:p>
          <a:p>
            <a:pPr marL="177800" indent="-177800">
              <a:spcAft>
                <a:spcPts val="600"/>
              </a:spcAft>
              <a:buSzPct val="100000"/>
              <a:buChar char="•"/>
            </a:pPr>
            <a:r>
              <a:rPr lang="en-US" sz="1350" dirty="0">
                <a:solidFill>
                  <a:schemeClr val="tx1"/>
                </a:solidFill>
              </a:rPr>
              <a:t>Land ET ≈ 60% of precipitation; irrigation ≈ 70% of global water withdrawals (Li et al. 2009)</a:t>
            </a:r>
            <a:endParaRPr lang="en-US" sz="1350" dirty="0"/>
          </a:p>
          <a:p>
            <a:pPr marL="177800" indent="-177800">
              <a:spcAft>
                <a:spcPts val="600"/>
              </a:spcAft>
              <a:buSzPct val="100000"/>
              <a:buChar char="•"/>
            </a:pPr>
            <a:r>
              <a:rPr lang="en-US" sz="1350" dirty="0">
                <a:solidFill>
                  <a:schemeClr val="tx1"/>
                </a:solidFill>
              </a:rPr>
              <a:t>ET is the least-measured term of the water cycle → satellites give the spatial pattern</a:t>
            </a:r>
            <a:endParaRPr lang="en-US" sz="1350" dirty="0"/>
          </a:p>
          <a:p>
            <a:pPr marL="177800" indent="-177800">
              <a:spcAft>
                <a:spcPts val="600"/>
              </a:spcAft>
              <a:buSzPct val="100000"/>
              <a:buChar char="•"/>
            </a:pPr>
            <a:r>
              <a:rPr lang="en-US" sz="1350" dirty="0">
                <a:solidFill>
                  <a:schemeClr val="tx1"/>
                </a:solidFill>
              </a:rPr>
              <a:t>Irrigated fields in dry regions: ET &gt; P; consumptive use = ET − effective rainfall</a:t>
            </a:r>
            <a:endParaRPr lang="en-US" sz="1350" dirty="0"/>
          </a:p>
        </p:txBody>
      </p:sp>
      <p:sp>
        <p:nvSpPr>
          <p:cNvPr id="9" name="card"/>
          <p:cNvSpPr/>
          <p:nvPr/>
        </p:nvSpPr>
        <p:spPr>
          <a:xfrm>
            <a:off x="6675120" y="1280160"/>
            <a:ext cx="4965192"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10" name="Text 7"/>
          <p:cNvSpPr txBox="1"/>
          <p:nvPr/>
        </p:nvSpPr>
        <p:spPr>
          <a:xfrm>
            <a:off x="6812280" y="1353312"/>
            <a:ext cx="4572000" cy="320040"/>
          </a:xfrm>
          <a:prstGeom prst="rect">
            <a:avLst/>
          </a:prstGeom>
          <a:noFill/>
          <a:ln/>
        </p:spPr>
        <p:txBody>
          <a:bodyPr wrap="square" lIns="0" tIns="0" rIns="0" bIns="0" rtlCol="0" anchor="ctr"/>
          <a:lstStyle/>
          <a:p>
            <a:pPr algn="l" indent="0" marL="0">
              <a:buNone/>
            </a:pPr>
            <a:r>
              <a:rPr lang="en-US" sz="1300" b="1" dirty="0">
                <a:solidFill>
                  <a:schemeClr val="tx2"/>
                </a:solidFill>
              </a:rPr>
              <a:t>Budyko framework</a:t>
            </a:r>
            <a:endParaRPr lang="en-US" sz="1300" dirty="0"/>
          </a:p>
        </p:txBody>
      </p:sp>
      <p:sp>
        <p:nvSpPr>
          <p:cNvPr id="11" name="arrow"/>
          <p:cNvSpPr/>
          <p:nvPr/>
        </p:nvSpPr>
        <p:spPr>
          <a:xfrm>
            <a:off x="7086600" y="5577840"/>
            <a:ext cx="4206240" cy="0"/>
          </a:xfrm>
          <a:prstGeom prst="line">
            <a:avLst/>
          </a:prstGeom>
          <a:noFill/>
          <a:ln w="19050">
            <a:solidFill>
              <a:srgbClr val="1E2430"/>
            </a:solidFill>
            <a:prstDash val="solid"/>
          </a:ln>
        </p:spPr>
      </p:sp>
      <p:sp>
        <p:nvSpPr>
          <p:cNvPr id="12" name="arrow"/>
          <p:cNvSpPr/>
          <p:nvPr/>
        </p:nvSpPr>
        <p:spPr>
          <a:xfrm flipV="1">
            <a:off x="7086600" y="2011680"/>
            <a:ext cx="0" cy="3566160"/>
          </a:xfrm>
          <a:prstGeom prst="line">
            <a:avLst/>
          </a:prstGeom>
          <a:noFill/>
          <a:ln w="19050">
            <a:solidFill>
              <a:srgbClr val="1E2430"/>
            </a:solidFill>
            <a:prstDash val="solid"/>
          </a:ln>
        </p:spPr>
      </p:sp>
      <p:sp>
        <p:nvSpPr>
          <p:cNvPr id="13" name="arrow"/>
          <p:cNvSpPr/>
          <p:nvPr/>
        </p:nvSpPr>
        <p:spPr>
          <a:xfrm flipV="1">
            <a:off x="7086600" y="2606040"/>
            <a:ext cx="1051560" cy="2971800"/>
          </a:xfrm>
          <a:prstGeom prst="line">
            <a:avLst/>
          </a:prstGeom>
          <a:noFill/>
          <a:ln w="25400">
            <a:solidFill>
              <a:srgbClr val="C0702A"/>
            </a:solidFill>
            <a:prstDash val="dash"/>
          </a:ln>
        </p:spPr>
      </p:sp>
      <p:sp>
        <p:nvSpPr>
          <p:cNvPr id="14" name="arrow"/>
          <p:cNvSpPr/>
          <p:nvPr/>
        </p:nvSpPr>
        <p:spPr>
          <a:xfrm>
            <a:off x="8138160" y="2606040"/>
            <a:ext cx="3154680" cy="0"/>
          </a:xfrm>
          <a:prstGeom prst="line">
            <a:avLst/>
          </a:prstGeom>
          <a:noFill/>
          <a:ln w="25400">
            <a:solidFill>
              <a:srgbClr val="3B6EA5"/>
            </a:solidFill>
            <a:prstDash val="dash"/>
          </a:ln>
        </p:spPr>
      </p:sp>
      <p:sp>
        <p:nvSpPr>
          <p:cNvPr id="15" name="arrow"/>
          <p:cNvSpPr/>
          <p:nvPr/>
        </p:nvSpPr>
        <p:spPr>
          <a:xfrm flipV="1">
            <a:off x="7086600" y="4864608"/>
            <a:ext cx="262890" cy="713232"/>
          </a:xfrm>
          <a:prstGeom prst="line">
            <a:avLst/>
          </a:prstGeom>
          <a:noFill/>
          <a:ln w="38100">
            <a:solidFill>
              <a:srgbClr val="2E7D4F"/>
            </a:solidFill>
            <a:prstDash val="solid"/>
          </a:ln>
        </p:spPr>
      </p:sp>
      <p:sp>
        <p:nvSpPr>
          <p:cNvPr id="16" name="arrow"/>
          <p:cNvSpPr/>
          <p:nvPr/>
        </p:nvSpPr>
        <p:spPr>
          <a:xfrm flipV="1">
            <a:off x="7349490" y="4240530"/>
            <a:ext cx="262890" cy="624078"/>
          </a:xfrm>
          <a:prstGeom prst="line">
            <a:avLst/>
          </a:prstGeom>
          <a:noFill/>
          <a:ln w="38100">
            <a:solidFill>
              <a:srgbClr val="2E7D4F"/>
            </a:solidFill>
            <a:prstDash val="solid"/>
          </a:ln>
        </p:spPr>
      </p:sp>
      <p:sp>
        <p:nvSpPr>
          <p:cNvPr id="17" name="arrow"/>
          <p:cNvSpPr/>
          <p:nvPr/>
        </p:nvSpPr>
        <p:spPr>
          <a:xfrm flipV="1">
            <a:off x="7612380" y="3794760"/>
            <a:ext cx="262890" cy="445770"/>
          </a:xfrm>
          <a:prstGeom prst="line">
            <a:avLst/>
          </a:prstGeom>
          <a:noFill/>
          <a:ln w="38100">
            <a:solidFill>
              <a:srgbClr val="2E7D4F"/>
            </a:solidFill>
            <a:prstDash val="solid"/>
          </a:ln>
        </p:spPr>
      </p:sp>
      <p:sp>
        <p:nvSpPr>
          <p:cNvPr id="18" name="arrow"/>
          <p:cNvSpPr/>
          <p:nvPr/>
        </p:nvSpPr>
        <p:spPr>
          <a:xfrm flipV="1">
            <a:off x="7875270" y="3497580"/>
            <a:ext cx="262890" cy="297180"/>
          </a:xfrm>
          <a:prstGeom prst="line">
            <a:avLst/>
          </a:prstGeom>
          <a:noFill/>
          <a:ln w="38100">
            <a:solidFill>
              <a:srgbClr val="2E7D4F"/>
            </a:solidFill>
            <a:prstDash val="solid"/>
          </a:ln>
        </p:spPr>
      </p:sp>
      <p:sp>
        <p:nvSpPr>
          <p:cNvPr id="19" name="arrow"/>
          <p:cNvSpPr/>
          <p:nvPr/>
        </p:nvSpPr>
        <p:spPr>
          <a:xfrm flipV="1">
            <a:off x="8138160" y="3140964"/>
            <a:ext cx="525780" cy="356616"/>
          </a:xfrm>
          <a:prstGeom prst="line">
            <a:avLst/>
          </a:prstGeom>
          <a:noFill/>
          <a:ln w="38100">
            <a:solidFill>
              <a:srgbClr val="2E7D4F"/>
            </a:solidFill>
            <a:prstDash val="solid"/>
          </a:ln>
        </p:spPr>
      </p:sp>
      <p:sp>
        <p:nvSpPr>
          <p:cNvPr id="20" name="arrow"/>
          <p:cNvSpPr/>
          <p:nvPr/>
        </p:nvSpPr>
        <p:spPr>
          <a:xfrm flipV="1">
            <a:off x="8663940" y="2962656"/>
            <a:ext cx="525780" cy="178308"/>
          </a:xfrm>
          <a:prstGeom prst="line">
            <a:avLst/>
          </a:prstGeom>
          <a:noFill/>
          <a:ln w="38100">
            <a:solidFill>
              <a:srgbClr val="2E7D4F"/>
            </a:solidFill>
            <a:prstDash val="solid"/>
          </a:ln>
        </p:spPr>
      </p:sp>
      <p:sp>
        <p:nvSpPr>
          <p:cNvPr id="21" name="arrow"/>
          <p:cNvSpPr/>
          <p:nvPr/>
        </p:nvSpPr>
        <p:spPr>
          <a:xfrm flipV="1">
            <a:off x="9189720" y="2784348"/>
            <a:ext cx="1051560" cy="178308"/>
          </a:xfrm>
          <a:prstGeom prst="line">
            <a:avLst/>
          </a:prstGeom>
          <a:noFill/>
          <a:ln w="38100">
            <a:solidFill>
              <a:srgbClr val="2E7D4F"/>
            </a:solidFill>
            <a:prstDash val="solid"/>
          </a:ln>
        </p:spPr>
      </p:sp>
      <p:sp>
        <p:nvSpPr>
          <p:cNvPr id="22" name="arrow"/>
          <p:cNvSpPr/>
          <p:nvPr/>
        </p:nvSpPr>
        <p:spPr>
          <a:xfrm flipV="1">
            <a:off x="10241280" y="2724912"/>
            <a:ext cx="1051560" cy="59436"/>
          </a:xfrm>
          <a:prstGeom prst="line">
            <a:avLst/>
          </a:prstGeom>
          <a:noFill/>
          <a:ln w="38100">
            <a:solidFill>
              <a:srgbClr val="2E7D4F"/>
            </a:solidFill>
            <a:prstDash val="solid"/>
          </a:ln>
        </p:spPr>
      </p:sp>
      <p:sp>
        <p:nvSpPr>
          <p:cNvPr id="23" name="Text 20"/>
          <p:cNvSpPr txBox="1"/>
          <p:nvPr/>
        </p:nvSpPr>
        <p:spPr>
          <a:xfrm>
            <a:off x="7139178" y="2249424"/>
            <a:ext cx="2011680" cy="274320"/>
          </a:xfrm>
          <a:prstGeom prst="rect">
            <a:avLst/>
          </a:prstGeom>
          <a:noFill/>
          <a:ln/>
        </p:spPr>
        <p:txBody>
          <a:bodyPr wrap="square" lIns="0" tIns="0" rIns="0" bIns="0" rtlCol="0" anchor="ctr"/>
          <a:lstStyle/>
          <a:p>
            <a:pPr algn="l" indent="0" marL="0">
              <a:buNone/>
            </a:pPr>
            <a:r>
              <a:rPr lang="en-US" sz="1050" b="1" dirty="0">
                <a:solidFill>
                  <a:schemeClr val="accent4"/>
                </a:solidFill>
              </a:rPr>
              <a:t>energy limit ET = PET</a:t>
            </a:r>
            <a:endParaRPr lang="en-US" sz="1050" dirty="0"/>
          </a:p>
        </p:txBody>
      </p:sp>
      <p:sp>
        <p:nvSpPr>
          <p:cNvPr id="24" name="Text 21"/>
          <p:cNvSpPr txBox="1"/>
          <p:nvPr/>
        </p:nvSpPr>
        <p:spPr>
          <a:xfrm>
            <a:off x="9400032" y="2368296"/>
            <a:ext cx="1645920" cy="274320"/>
          </a:xfrm>
          <a:prstGeom prst="rect">
            <a:avLst/>
          </a:prstGeom>
          <a:noFill/>
          <a:ln/>
        </p:spPr>
        <p:txBody>
          <a:bodyPr wrap="square" lIns="0" tIns="0" rIns="0" bIns="0" rtlCol="0" anchor="ctr"/>
          <a:lstStyle/>
          <a:p>
            <a:pPr algn="l" indent="0" marL="0">
              <a:buNone/>
            </a:pPr>
            <a:r>
              <a:rPr lang="en-US" sz="1050" b="1" dirty="0">
                <a:solidFill>
                  <a:schemeClr val="accent2"/>
                </a:solidFill>
              </a:rPr>
              <a:t>water limit ET = P</a:t>
            </a:r>
            <a:endParaRPr lang="en-US" sz="1050" dirty="0"/>
          </a:p>
        </p:txBody>
      </p:sp>
      <p:sp>
        <p:nvSpPr>
          <p:cNvPr id="25" name="Text 22"/>
          <p:cNvSpPr txBox="1"/>
          <p:nvPr/>
        </p:nvSpPr>
        <p:spPr>
          <a:xfrm>
            <a:off x="9505188" y="3140964"/>
            <a:ext cx="1280160" cy="274320"/>
          </a:xfrm>
          <a:prstGeom prst="rect">
            <a:avLst/>
          </a:prstGeom>
          <a:noFill/>
          <a:ln/>
        </p:spPr>
        <p:txBody>
          <a:bodyPr wrap="square" lIns="0" tIns="0" rIns="0" bIns="0" rtlCol="0" anchor="ctr"/>
          <a:lstStyle/>
          <a:p>
            <a:pPr algn="l" indent="0" marL="0">
              <a:buNone/>
            </a:pPr>
            <a:r>
              <a:rPr lang="en-US" sz="1100" b="1" dirty="0">
                <a:solidFill>
                  <a:schemeClr val="accent1"/>
                </a:solidFill>
              </a:rPr>
              <a:t>catchments</a:t>
            </a:r>
            <a:endParaRPr lang="en-US" sz="1100" dirty="0"/>
          </a:p>
        </p:txBody>
      </p:sp>
      <p:sp>
        <p:nvSpPr>
          <p:cNvPr id="26" name="Text 23"/>
          <p:cNvSpPr txBox="1"/>
          <p:nvPr/>
        </p:nvSpPr>
        <p:spPr>
          <a:xfrm>
            <a:off x="7191756" y="5257800"/>
            <a:ext cx="731520" cy="256032"/>
          </a:xfrm>
          <a:prstGeom prst="rect">
            <a:avLst/>
          </a:prstGeom>
          <a:noFill/>
          <a:ln/>
        </p:spPr>
        <p:txBody>
          <a:bodyPr wrap="square" lIns="0" tIns="0" rIns="0" bIns="0" rtlCol="0" anchor="ctr"/>
          <a:lstStyle/>
          <a:p>
            <a:pPr algn="l" indent="0" marL="0">
              <a:buNone/>
            </a:pPr>
            <a:r>
              <a:rPr lang="en-US" sz="1050" i="1" dirty="0">
                <a:solidFill>
                  <a:schemeClr val="accent6"/>
                </a:solidFill>
              </a:rPr>
              <a:t>humid</a:t>
            </a:r>
            <a:endParaRPr lang="en-US" sz="1050" dirty="0"/>
          </a:p>
        </p:txBody>
      </p:sp>
      <p:sp>
        <p:nvSpPr>
          <p:cNvPr id="27" name="Text 24"/>
          <p:cNvSpPr txBox="1"/>
          <p:nvPr/>
        </p:nvSpPr>
        <p:spPr>
          <a:xfrm>
            <a:off x="10661904" y="5257800"/>
            <a:ext cx="548640" cy="256032"/>
          </a:xfrm>
          <a:prstGeom prst="rect">
            <a:avLst/>
          </a:prstGeom>
          <a:noFill/>
          <a:ln/>
        </p:spPr>
        <p:txBody>
          <a:bodyPr wrap="square" lIns="0" tIns="0" rIns="0" bIns="0" rtlCol="0" anchor="ctr"/>
          <a:lstStyle/>
          <a:p>
            <a:pPr algn="l" indent="0" marL="0">
              <a:buNone/>
            </a:pPr>
            <a:r>
              <a:rPr lang="en-US" sz="1050" i="1" dirty="0">
                <a:solidFill>
                  <a:schemeClr val="accent6"/>
                </a:solidFill>
              </a:rPr>
              <a:t>arid</a:t>
            </a:r>
            <a:endParaRPr lang="en-US" sz="1050" dirty="0"/>
          </a:p>
        </p:txBody>
      </p:sp>
      <p:sp>
        <p:nvSpPr>
          <p:cNvPr id="28" name="Text 25"/>
          <p:cNvSpPr txBox="1"/>
          <p:nvPr/>
        </p:nvSpPr>
        <p:spPr>
          <a:xfrm>
            <a:off x="8732520" y="5623560"/>
            <a:ext cx="2560320" cy="274320"/>
          </a:xfrm>
          <a:prstGeom prst="rect">
            <a:avLst/>
          </a:prstGeom>
          <a:noFill/>
          <a:ln/>
        </p:spPr>
        <p:txBody>
          <a:bodyPr wrap="square" lIns="0" tIns="0" rIns="0" bIns="0" rtlCol="0" anchor="ctr"/>
          <a:lstStyle/>
          <a:p>
            <a:pPr algn="r" indent="0" marL="0">
              <a:buNone/>
            </a:pPr>
            <a:r>
              <a:rPr lang="en-US" sz="1100" dirty="0">
                <a:solidFill>
                  <a:schemeClr val="accent6"/>
                </a:solidFill>
              </a:rPr>
              <a:t>Aridity index PET/P →</a:t>
            </a:r>
            <a:endParaRPr lang="en-US" sz="1100" dirty="0"/>
          </a:p>
        </p:txBody>
      </p:sp>
      <p:sp>
        <p:nvSpPr>
          <p:cNvPr id="29" name="Text 26"/>
          <p:cNvSpPr txBox="1"/>
          <p:nvPr/>
        </p:nvSpPr>
        <p:spPr>
          <a:xfrm>
            <a:off x="6583680" y="1965960"/>
            <a:ext cx="548640" cy="274320"/>
          </a:xfrm>
          <a:prstGeom prst="rect">
            <a:avLst/>
          </a:prstGeom>
          <a:noFill/>
          <a:ln/>
        </p:spPr>
        <p:txBody>
          <a:bodyPr wrap="square" lIns="0" tIns="0" rIns="0" bIns="0" rtlCol="0" anchor="ctr"/>
          <a:lstStyle/>
          <a:p>
            <a:pPr algn="l" indent="0" marL="0">
              <a:buNone/>
            </a:pPr>
            <a:r>
              <a:rPr lang="en-US" sz="1100" b="1" dirty="0">
                <a:solidFill>
                  <a:schemeClr val="tx1"/>
                </a:solidFill>
              </a:rPr>
              <a:t>ET/P</a:t>
            </a:r>
            <a:endParaRPr lang="en-US" sz="1100" dirty="0"/>
          </a:p>
        </p:txBody>
      </p:sp>
      <p:sp>
        <p:nvSpPr>
          <p:cNvPr id="30" name="Text 27"/>
          <p:cNvSpPr txBox="1"/>
          <p:nvPr/>
        </p:nvSpPr>
        <p:spPr>
          <a:xfrm>
            <a:off x="6812280" y="2468880"/>
            <a:ext cx="228600" cy="27432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Surface energy balance: the physical basis</a:t>
            </a:r>
            <a:endParaRPr lang="en-US" sz="3200" dirty="0"/>
          </a:p>
        </p:txBody>
      </p:sp>
      <p:sp>
        <p:nvSpPr>
          <p:cNvPr id="4" name="card"/>
          <p:cNvSpPr/>
          <p:nvPr/>
        </p:nvSpPr>
        <p:spPr>
          <a:xfrm>
            <a:off x="548640" y="1280160"/>
            <a:ext cx="576072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soil"/>
          <p:cNvSpPr/>
          <p:nvPr/>
        </p:nvSpPr>
        <p:spPr>
          <a:xfrm>
            <a:off x="731520" y="4617720"/>
            <a:ext cx="5394960" cy="914400"/>
          </a:xfrm>
          <a:prstGeom prst="rect">
            <a:avLst/>
          </a:prstGeom>
          <a:solidFill>
            <a:srgbClr val="B9875A"/>
          </a:solidFill>
          <a:ln/>
        </p:spPr>
      </p:sp>
      <p:sp>
        <p:nvSpPr>
          <p:cNvPr id="6" name="arrow"/>
          <p:cNvSpPr/>
          <p:nvPr/>
        </p:nvSpPr>
        <p:spPr>
          <a:xfrm flipH="1" flipV="1">
            <a:off x="987552" y="4114800"/>
            <a:ext cx="109728" cy="502920"/>
          </a:xfrm>
          <a:prstGeom prst="line">
            <a:avLst/>
          </a:prstGeom>
          <a:noFill/>
          <a:ln w="38100">
            <a:solidFill>
              <a:srgbClr val="2E7D4F"/>
            </a:solidFill>
            <a:prstDash val="solid"/>
          </a:ln>
        </p:spPr>
      </p:sp>
      <p:sp>
        <p:nvSpPr>
          <p:cNvPr id="7" name="arrow"/>
          <p:cNvSpPr/>
          <p:nvPr/>
        </p:nvSpPr>
        <p:spPr>
          <a:xfrm flipV="1">
            <a:off x="1097280" y="4069080"/>
            <a:ext cx="128016" cy="548640"/>
          </a:xfrm>
          <a:prstGeom prst="line">
            <a:avLst/>
          </a:prstGeom>
          <a:noFill/>
          <a:ln w="38100">
            <a:solidFill>
              <a:srgbClr val="2E7D4F"/>
            </a:solidFill>
            <a:prstDash val="solid"/>
          </a:ln>
        </p:spPr>
      </p:sp>
      <p:sp>
        <p:nvSpPr>
          <p:cNvPr id="8" name="arrow"/>
          <p:cNvSpPr/>
          <p:nvPr/>
        </p:nvSpPr>
        <p:spPr>
          <a:xfrm flipV="1">
            <a:off x="1097280" y="3931920"/>
            <a:ext cx="0" cy="685800"/>
          </a:xfrm>
          <a:prstGeom prst="line">
            <a:avLst/>
          </a:prstGeom>
          <a:noFill/>
          <a:ln w="38100">
            <a:solidFill>
              <a:srgbClr val="2E7D4F"/>
            </a:solidFill>
            <a:prstDash val="solid"/>
          </a:ln>
        </p:spPr>
      </p:sp>
      <p:sp>
        <p:nvSpPr>
          <p:cNvPr id="9" name="arrow"/>
          <p:cNvSpPr/>
          <p:nvPr/>
        </p:nvSpPr>
        <p:spPr>
          <a:xfrm flipH="1" flipV="1">
            <a:off x="1554480" y="4114800"/>
            <a:ext cx="109728" cy="502920"/>
          </a:xfrm>
          <a:prstGeom prst="line">
            <a:avLst/>
          </a:prstGeom>
          <a:noFill/>
          <a:ln w="38100">
            <a:solidFill>
              <a:srgbClr val="2E7D4F"/>
            </a:solidFill>
            <a:prstDash val="solid"/>
          </a:ln>
        </p:spPr>
      </p:sp>
      <p:sp>
        <p:nvSpPr>
          <p:cNvPr id="10" name="arrow"/>
          <p:cNvSpPr/>
          <p:nvPr/>
        </p:nvSpPr>
        <p:spPr>
          <a:xfrm flipV="1">
            <a:off x="1664208" y="4069080"/>
            <a:ext cx="128016" cy="548640"/>
          </a:xfrm>
          <a:prstGeom prst="line">
            <a:avLst/>
          </a:prstGeom>
          <a:noFill/>
          <a:ln w="38100">
            <a:solidFill>
              <a:srgbClr val="2E7D4F"/>
            </a:solidFill>
            <a:prstDash val="solid"/>
          </a:ln>
        </p:spPr>
      </p:sp>
      <p:sp>
        <p:nvSpPr>
          <p:cNvPr id="11" name="arrow"/>
          <p:cNvSpPr/>
          <p:nvPr/>
        </p:nvSpPr>
        <p:spPr>
          <a:xfrm flipV="1">
            <a:off x="1664208" y="3931920"/>
            <a:ext cx="0" cy="685800"/>
          </a:xfrm>
          <a:prstGeom prst="line">
            <a:avLst/>
          </a:prstGeom>
          <a:noFill/>
          <a:ln w="38100">
            <a:solidFill>
              <a:srgbClr val="2E7D4F"/>
            </a:solidFill>
            <a:prstDash val="solid"/>
          </a:ln>
        </p:spPr>
      </p:sp>
      <p:sp>
        <p:nvSpPr>
          <p:cNvPr id="12" name="arrow"/>
          <p:cNvSpPr/>
          <p:nvPr/>
        </p:nvSpPr>
        <p:spPr>
          <a:xfrm flipH="1" flipV="1">
            <a:off x="2121408" y="4114800"/>
            <a:ext cx="109728" cy="502920"/>
          </a:xfrm>
          <a:prstGeom prst="line">
            <a:avLst/>
          </a:prstGeom>
          <a:noFill/>
          <a:ln w="38100">
            <a:solidFill>
              <a:srgbClr val="2E7D4F"/>
            </a:solidFill>
            <a:prstDash val="solid"/>
          </a:ln>
        </p:spPr>
      </p:sp>
      <p:sp>
        <p:nvSpPr>
          <p:cNvPr id="13" name="arrow"/>
          <p:cNvSpPr/>
          <p:nvPr/>
        </p:nvSpPr>
        <p:spPr>
          <a:xfrm flipV="1">
            <a:off x="2231136" y="4069080"/>
            <a:ext cx="128016" cy="548640"/>
          </a:xfrm>
          <a:prstGeom prst="line">
            <a:avLst/>
          </a:prstGeom>
          <a:noFill/>
          <a:ln w="38100">
            <a:solidFill>
              <a:srgbClr val="2E7D4F"/>
            </a:solidFill>
            <a:prstDash val="solid"/>
          </a:ln>
        </p:spPr>
      </p:sp>
      <p:sp>
        <p:nvSpPr>
          <p:cNvPr id="14" name="arrow"/>
          <p:cNvSpPr/>
          <p:nvPr/>
        </p:nvSpPr>
        <p:spPr>
          <a:xfrm flipV="1">
            <a:off x="2231136" y="3931920"/>
            <a:ext cx="0" cy="685800"/>
          </a:xfrm>
          <a:prstGeom prst="line">
            <a:avLst/>
          </a:prstGeom>
          <a:noFill/>
          <a:ln w="38100">
            <a:solidFill>
              <a:srgbClr val="2E7D4F"/>
            </a:solidFill>
            <a:prstDash val="solid"/>
          </a:ln>
        </p:spPr>
      </p:sp>
      <p:sp>
        <p:nvSpPr>
          <p:cNvPr id="15" name="arrow"/>
          <p:cNvSpPr/>
          <p:nvPr/>
        </p:nvSpPr>
        <p:spPr>
          <a:xfrm flipH="1" flipV="1">
            <a:off x="2688336" y="4114800"/>
            <a:ext cx="109728" cy="502920"/>
          </a:xfrm>
          <a:prstGeom prst="line">
            <a:avLst/>
          </a:prstGeom>
          <a:noFill/>
          <a:ln w="38100">
            <a:solidFill>
              <a:srgbClr val="2E7D4F"/>
            </a:solidFill>
            <a:prstDash val="solid"/>
          </a:ln>
        </p:spPr>
      </p:sp>
      <p:sp>
        <p:nvSpPr>
          <p:cNvPr id="16" name="arrow"/>
          <p:cNvSpPr/>
          <p:nvPr/>
        </p:nvSpPr>
        <p:spPr>
          <a:xfrm flipV="1">
            <a:off x="2798064" y="4069080"/>
            <a:ext cx="128016" cy="548640"/>
          </a:xfrm>
          <a:prstGeom prst="line">
            <a:avLst/>
          </a:prstGeom>
          <a:noFill/>
          <a:ln w="38100">
            <a:solidFill>
              <a:srgbClr val="2E7D4F"/>
            </a:solidFill>
            <a:prstDash val="solid"/>
          </a:ln>
        </p:spPr>
      </p:sp>
      <p:sp>
        <p:nvSpPr>
          <p:cNvPr id="17" name="arrow"/>
          <p:cNvSpPr/>
          <p:nvPr/>
        </p:nvSpPr>
        <p:spPr>
          <a:xfrm flipV="1">
            <a:off x="2798064" y="3931920"/>
            <a:ext cx="0" cy="685800"/>
          </a:xfrm>
          <a:prstGeom prst="line">
            <a:avLst/>
          </a:prstGeom>
          <a:noFill/>
          <a:ln w="38100">
            <a:solidFill>
              <a:srgbClr val="2E7D4F"/>
            </a:solidFill>
            <a:prstDash val="solid"/>
          </a:ln>
        </p:spPr>
      </p:sp>
      <p:sp>
        <p:nvSpPr>
          <p:cNvPr id="18" name="arrow"/>
          <p:cNvSpPr/>
          <p:nvPr/>
        </p:nvSpPr>
        <p:spPr>
          <a:xfrm flipH="1" flipV="1">
            <a:off x="3255264" y="4114800"/>
            <a:ext cx="109728" cy="502920"/>
          </a:xfrm>
          <a:prstGeom prst="line">
            <a:avLst/>
          </a:prstGeom>
          <a:noFill/>
          <a:ln w="38100">
            <a:solidFill>
              <a:srgbClr val="2E7D4F"/>
            </a:solidFill>
            <a:prstDash val="solid"/>
          </a:ln>
        </p:spPr>
      </p:sp>
      <p:sp>
        <p:nvSpPr>
          <p:cNvPr id="19" name="arrow"/>
          <p:cNvSpPr/>
          <p:nvPr/>
        </p:nvSpPr>
        <p:spPr>
          <a:xfrm flipV="1">
            <a:off x="3364992" y="4069080"/>
            <a:ext cx="128016" cy="548640"/>
          </a:xfrm>
          <a:prstGeom prst="line">
            <a:avLst/>
          </a:prstGeom>
          <a:noFill/>
          <a:ln w="38100">
            <a:solidFill>
              <a:srgbClr val="2E7D4F"/>
            </a:solidFill>
            <a:prstDash val="solid"/>
          </a:ln>
        </p:spPr>
      </p:sp>
      <p:sp>
        <p:nvSpPr>
          <p:cNvPr id="20" name="arrow"/>
          <p:cNvSpPr/>
          <p:nvPr/>
        </p:nvSpPr>
        <p:spPr>
          <a:xfrm flipV="1">
            <a:off x="3364992" y="3931920"/>
            <a:ext cx="0" cy="685800"/>
          </a:xfrm>
          <a:prstGeom prst="line">
            <a:avLst/>
          </a:prstGeom>
          <a:noFill/>
          <a:ln w="38100">
            <a:solidFill>
              <a:srgbClr val="2E7D4F"/>
            </a:solidFill>
            <a:prstDash val="solid"/>
          </a:ln>
        </p:spPr>
      </p:sp>
      <p:sp>
        <p:nvSpPr>
          <p:cNvPr id="21" name="arrow"/>
          <p:cNvSpPr/>
          <p:nvPr/>
        </p:nvSpPr>
        <p:spPr>
          <a:xfrm flipH="1" flipV="1">
            <a:off x="3822192" y="4114800"/>
            <a:ext cx="109728" cy="502920"/>
          </a:xfrm>
          <a:prstGeom prst="line">
            <a:avLst/>
          </a:prstGeom>
          <a:noFill/>
          <a:ln w="38100">
            <a:solidFill>
              <a:srgbClr val="2E7D4F"/>
            </a:solidFill>
            <a:prstDash val="solid"/>
          </a:ln>
        </p:spPr>
      </p:sp>
      <p:sp>
        <p:nvSpPr>
          <p:cNvPr id="22" name="arrow"/>
          <p:cNvSpPr/>
          <p:nvPr/>
        </p:nvSpPr>
        <p:spPr>
          <a:xfrm flipV="1">
            <a:off x="3931920" y="4069080"/>
            <a:ext cx="128016" cy="548640"/>
          </a:xfrm>
          <a:prstGeom prst="line">
            <a:avLst/>
          </a:prstGeom>
          <a:noFill/>
          <a:ln w="38100">
            <a:solidFill>
              <a:srgbClr val="2E7D4F"/>
            </a:solidFill>
            <a:prstDash val="solid"/>
          </a:ln>
        </p:spPr>
      </p:sp>
      <p:sp>
        <p:nvSpPr>
          <p:cNvPr id="23" name="arrow"/>
          <p:cNvSpPr/>
          <p:nvPr/>
        </p:nvSpPr>
        <p:spPr>
          <a:xfrm flipV="1">
            <a:off x="3931920" y="3931920"/>
            <a:ext cx="0" cy="685800"/>
          </a:xfrm>
          <a:prstGeom prst="line">
            <a:avLst/>
          </a:prstGeom>
          <a:noFill/>
          <a:ln w="38100">
            <a:solidFill>
              <a:srgbClr val="2E7D4F"/>
            </a:solidFill>
            <a:prstDash val="solid"/>
          </a:ln>
        </p:spPr>
      </p:sp>
      <p:sp>
        <p:nvSpPr>
          <p:cNvPr id="24" name="arrow"/>
          <p:cNvSpPr/>
          <p:nvPr/>
        </p:nvSpPr>
        <p:spPr>
          <a:xfrm flipH="1" flipV="1">
            <a:off x="4389120" y="4114800"/>
            <a:ext cx="109728" cy="502920"/>
          </a:xfrm>
          <a:prstGeom prst="line">
            <a:avLst/>
          </a:prstGeom>
          <a:noFill/>
          <a:ln w="38100">
            <a:solidFill>
              <a:srgbClr val="2E7D4F"/>
            </a:solidFill>
            <a:prstDash val="solid"/>
          </a:ln>
        </p:spPr>
      </p:sp>
      <p:sp>
        <p:nvSpPr>
          <p:cNvPr id="25" name="arrow"/>
          <p:cNvSpPr/>
          <p:nvPr/>
        </p:nvSpPr>
        <p:spPr>
          <a:xfrm flipV="1">
            <a:off x="4498848" y="4069080"/>
            <a:ext cx="128016" cy="548640"/>
          </a:xfrm>
          <a:prstGeom prst="line">
            <a:avLst/>
          </a:prstGeom>
          <a:noFill/>
          <a:ln w="38100">
            <a:solidFill>
              <a:srgbClr val="2E7D4F"/>
            </a:solidFill>
            <a:prstDash val="solid"/>
          </a:ln>
        </p:spPr>
      </p:sp>
      <p:sp>
        <p:nvSpPr>
          <p:cNvPr id="26" name="arrow"/>
          <p:cNvSpPr/>
          <p:nvPr/>
        </p:nvSpPr>
        <p:spPr>
          <a:xfrm flipV="1">
            <a:off x="4498848" y="3931920"/>
            <a:ext cx="0" cy="685800"/>
          </a:xfrm>
          <a:prstGeom prst="line">
            <a:avLst/>
          </a:prstGeom>
          <a:noFill/>
          <a:ln w="38100">
            <a:solidFill>
              <a:srgbClr val="2E7D4F"/>
            </a:solidFill>
            <a:prstDash val="solid"/>
          </a:ln>
        </p:spPr>
      </p:sp>
      <p:sp>
        <p:nvSpPr>
          <p:cNvPr id="27" name="arrow"/>
          <p:cNvSpPr/>
          <p:nvPr/>
        </p:nvSpPr>
        <p:spPr>
          <a:xfrm flipH="1" flipV="1">
            <a:off x="4956048" y="4114800"/>
            <a:ext cx="109728" cy="502920"/>
          </a:xfrm>
          <a:prstGeom prst="line">
            <a:avLst/>
          </a:prstGeom>
          <a:noFill/>
          <a:ln w="38100">
            <a:solidFill>
              <a:srgbClr val="2E7D4F"/>
            </a:solidFill>
            <a:prstDash val="solid"/>
          </a:ln>
        </p:spPr>
      </p:sp>
      <p:sp>
        <p:nvSpPr>
          <p:cNvPr id="28" name="arrow"/>
          <p:cNvSpPr/>
          <p:nvPr/>
        </p:nvSpPr>
        <p:spPr>
          <a:xfrm flipV="1">
            <a:off x="5065776" y="4069080"/>
            <a:ext cx="128016" cy="548640"/>
          </a:xfrm>
          <a:prstGeom prst="line">
            <a:avLst/>
          </a:prstGeom>
          <a:noFill/>
          <a:ln w="38100">
            <a:solidFill>
              <a:srgbClr val="2E7D4F"/>
            </a:solidFill>
            <a:prstDash val="solid"/>
          </a:ln>
        </p:spPr>
      </p:sp>
      <p:sp>
        <p:nvSpPr>
          <p:cNvPr id="29" name="arrow"/>
          <p:cNvSpPr/>
          <p:nvPr/>
        </p:nvSpPr>
        <p:spPr>
          <a:xfrm flipV="1">
            <a:off x="5065776" y="3931920"/>
            <a:ext cx="0" cy="685800"/>
          </a:xfrm>
          <a:prstGeom prst="line">
            <a:avLst/>
          </a:prstGeom>
          <a:noFill/>
          <a:ln w="38100">
            <a:solidFill>
              <a:srgbClr val="2E7D4F"/>
            </a:solidFill>
            <a:prstDash val="solid"/>
          </a:ln>
        </p:spPr>
      </p:sp>
      <p:sp>
        <p:nvSpPr>
          <p:cNvPr id="30" name="arrow"/>
          <p:cNvSpPr/>
          <p:nvPr/>
        </p:nvSpPr>
        <p:spPr>
          <a:xfrm flipH="1" flipV="1">
            <a:off x="5522976" y="4114800"/>
            <a:ext cx="109728" cy="502920"/>
          </a:xfrm>
          <a:prstGeom prst="line">
            <a:avLst/>
          </a:prstGeom>
          <a:noFill/>
          <a:ln w="38100">
            <a:solidFill>
              <a:srgbClr val="2E7D4F"/>
            </a:solidFill>
            <a:prstDash val="solid"/>
          </a:ln>
        </p:spPr>
      </p:sp>
      <p:sp>
        <p:nvSpPr>
          <p:cNvPr id="31" name="arrow"/>
          <p:cNvSpPr/>
          <p:nvPr/>
        </p:nvSpPr>
        <p:spPr>
          <a:xfrm flipV="1">
            <a:off x="5632704" y="4069080"/>
            <a:ext cx="128016" cy="548640"/>
          </a:xfrm>
          <a:prstGeom prst="line">
            <a:avLst/>
          </a:prstGeom>
          <a:noFill/>
          <a:ln w="38100">
            <a:solidFill>
              <a:srgbClr val="2E7D4F"/>
            </a:solidFill>
            <a:prstDash val="solid"/>
          </a:ln>
        </p:spPr>
      </p:sp>
      <p:sp>
        <p:nvSpPr>
          <p:cNvPr id="32" name="arrow"/>
          <p:cNvSpPr/>
          <p:nvPr/>
        </p:nvSpPr>
        <p:spPr>
          <a:xfrm flipV="1">
            <a:off x="5632704" y="3931920"/>
            <a:ext cx="0" cy="685800"/>
          </a:xfrm>
          <a:prstGeom prst="line">
            <a:avLst/>
          </a:prstGeom>
          <a:noFill/>
          <a:ln w="38100">
            <a:solidFill>
              <a:srgbClr val="2E7D4F"/>
            </a:solidFill>
            <a:prstDash val="solid"/>
          </a:ln>
        </p:spPr>
      </p:sp>
      <p:sp>
        <p:nvSpPr>
          <p:cNvPr id="33" name="sun"/>
          <p:cNvSpPr/>
          <p:nvPr/>
        </p:nvSpPr>
        <p:spPr>
          <a:xfrm>
            <a:off x="868680" y="1463040"/>
            <a:ext cx="685800" cy="685800"/>
          </a:xfrm>
          <a:prstGeom prst="ellipse">
            <a:avLst/>
          </a:prstGeom>
          <a:solidFill>
            <a:srgbClr val="EDAE49"/>
          </a:solidFill>
          <a:ln/>
        </p:spPr>
      </p:sp>
      <p:sp>
        <p:nvSpPr>
          <p:cNvPr id="34" name="arrow"/>
          <p:cNvSpPr/>
          <p:nvPr/>
        </p:nvSpPr>
        <p:spPr>
          <a:xfrm>
            <a:off x="1463040" y="2103120"/>
            <a:ext cx="640080" cy="1645920"/>
          </a:xfrm>
          <a:prstGeom prst="line">
            <a:avLst/>
          </a:prstGeom>
          <a:noFill/>
          <a:ln w="38100">
            <a:solidFill>
              <a:srgbClr val="EDAE49"/>
            </a:solidFill>
            <a:prstDash val="solid"/>
            <a:tailEnd type="triangle"/>
          </a:ln>
        </p:spPr>
      </p:sp>
      <p:sp>
        <p:nvSpPr>
          <p:cNvPr id="35" name="Text 32"/>
          <p:cNvSpPr txBox="1"/>
          <p:nvPr/>
        </p:nvSpPr>
        <p:spPr>
          <a:xfrm>
            <a:off x="1874520" y="2514600"/>
            <a:ext cx="548640" cy="274320"/>
          </a:xfrm>
          <a:prstGeom prst="rect">
            <a:avLst/>
          </a:prstGeom>
          <a:noFill/>
          <a:ln/>
        </p:spPr>
        <p:txBody>
          <a:bodyPr wrap="square" lIns="0" tIns="0" rIns="0" bIns="0" rtlCol="0" anchor="ctr"/>
          <a:lstStyle/>
          <a:p>
            <a:pPr algn="l" indent="0" marL="0">
              <a:buNone/>
            </a:pPr>
            <a:r>
              <a:rPr lang="en-US" sz="1200" b="1" dirty="0">
                <a:solidFill>
                  <a:schemeClr val="tx1"/>
                </a:solidFill>
              </a:rPr>
              <a:t>Rs↓</a:t>
            </a:r>
            <a:endParaRPr lang="en-US" sz="1200" dirty="0"/>
          </a:p>
        </p:txBody>
      </p:sp>
      <p:sp>
        <p:nvSpPr>
          <p:cNvPr id="36" name="arrow"/>
          <p:cNvSpPr/>
          <p:nvPr/>
        </p:nvSpPr>
        <p:spPr>
          <a:xfrm flipV="1">
            <a:off x="2377440" y="2286000"/>
            <a:ext cx="548640" cy="1463040"/>
          </a:xfrm>
          <a:prstGeom prst="line">
            <a:avLst/>
          </a:prstGeom>
          <a:noFill/>
          <a:ln w="31750">
            <a:solidFill>
              <a:srgbClr val="E6C27A"/>
            </a:solidFill>
            <a:prstDash val="dash"/>
            <a:tailEnd type="triangle"/>
          </a:ln>
        </p:spPr>
      </p:sp>
      <p:sp>
        <p:nvSpPr>
          <p:cNvPr id="37" name="Text 34"/>
          <p:cNvSpPr txBox="1"/>
          <p:nvPr/>
        </p:nvSpPr>
        <p:spPr>
          <a:xfrm>
            <a:off x="2743200" y="2606040"/>
            <a:ext cx="640080" cy="274320"/>
          </a:xfrm>
          <a:prstGeom prst="rect">
            <a:avLst/>
          </a:prstGeom>
          <a:noFill/>
          <a:ln/>
        </p:spPr>
        <p:txBody>
          <a:bodyPr wrap="square" lIns="0" tIns="0" rIns="0" bIns="0" rtlCol="0" anchor="ctr"/>
          <a:lstStyle/>
          <a:p>
            <a:pPr algn="l" indent="0" marL="0">
              <a:buNone/>
            </a:pPr>
            <a:r>
              <a:rPr lang="en-US" sz="1200" b="1" dirty="0">
                <a:solidFill>
                  <a:schemeClr val="tx1"/>
                </a:solidFill>
              </a:rPr>
              <a:t>αRs↑</a:t>
            </a:r>
            <a:endParaRPr lang="en-US" sz="1200" dirty="0"/>
          </a:p>
        </p:txBody>
      </p:sp>
      <p:sp>
        <p:nvSpPr>
          <p:cNvPr id="38" name="arrow"/>
          <p:cNvSpPr/>
          <p:nvPr/>
        </p:nvSpPr>
        <p:spPr>
          <a:xfrm>
            <a:off x="3383280" y="2103120"/>
            <a:ext cx="0" cy="1645920"/>
          </a:xfrm>
          <a:prstGeom prst="line">
            <a:avLst/>
          </a:prstGeom>
          <a:noFill/>
          <a:ln w="31750">
            <a:solidFill>
              <a:srgbClr val="C0702A"/>
            </a:solidFill>
            <a:prstDash val="solid"/>
            <a:tailEnd type="triangle"/>
          </a:ln>
        </p:spPr>
      </p:sp>
      <p:sp>
        <p:nvSpPr>
          <p:cNvPr id="39" name="Text 36"/>
          <p:cNvSpPr txBox="1"/>
          <p:nvPr/>
        </p:nvSpPr>
        <p:spPr>
          <a:xfrm>
            <a:off x="3063240" y="2331720"/>
            <a:ext cx="365760" cy="274320"/>
          </a:xfrm>
          <a:prstGeom prst="rect">
            <a:avLst/>
          </a:prstGeom>
          <a:noFill/>
          <a:ln/>
        </p:spPr>
        <p:txBody>
          <a:bodyPr wrap="square" lIns="0" tIns="0" rIns="0" bIns="0" rtlCol="0" anchor="ctr"/>
          <a:lstStyle/>
          <a:p>
            <a:pPr algn="l" indent="0" marL="0">
              <a:buNone/>
            </a:pPr>
            <a:r>
              <a:rPr lang="en-US" sz="1200" b="1" dirty="0">
                <a:solidFill>
                  <a:schemeClr val="tx1"/>
                </a:solidFill>
              </a:rPr>
              <a:t>L↓</a:t>
            </a:r>
            <a:endParaRPr lang="en-US" sz="1200" dirty="0"/>
          </a:p>
        </p:txBody>
      </p:sp>
      <p:sp>
        <p:nvSpPr>
          <p:cNvPr id="40" name="arrow"/>
          <p:cNvSpPr/>
          <p:nvPr/>
        </p:nvSpPr>
        <p:spPr>
          <a:xfrm flipV="1">
            <a:off x="3794760" y="2103120"/>
            <a:ext cx="0" cy="1645920"/>
          </a:xfrm>
          <a:prstGeom prst="line">
            <a:avLst/>
          </a:prstGeom>
          <a:noFill/>
          <a:ln w="31750">
            <a:solidFill>
              <a:srgbClr val="D9A06B"/>
            </a:solidFill>
            <a:prstDash val="dash"/>
            <a:tailEnd type="triangle"/>
          </a:ln>
        </p:spPr>
      </p:sp>
      <p:sp>
        <p:nvSpPr>
          <p:cNvPr id="41" name="Text 38"/>
          <p:cNvSpPr txBox="1"/>
          <p:nvPr/>
        </p:nvSpPr>
        <p:spPr>
          <a:xfrm>
            <a:off x="3886200" y="2148840"/>
            <a:ext cx="1280160" cy="274320"/>
          </a:xfrm>
          <a:prstGeom prst="rect">
            <a:avLst/>
          </a:prstGeom>
          <a:noFill/>
          <a:ln/>
        </p:spPr>
        <p:txBody>
          <a:bodyPr wrap="square" lIns="0" tIns="0" rIns="0" bIns="0" rtlCol="0" anchor="ctr"/>
          <a:lstStyle/>
          <a:p>
            <a:pPr algn="l" indent="0" marL="0">
              <a:buNone/>
            </a:pPr>
            <a:r>
              <a:rPr lang="en-US" sz="1200" b="1" dirty="0">
                <a:solidFill>
                  <a:schemeClr val="tx1"/>
                </a:solidFill>
              </a:rPr>
              <a:t>L↑ = εσT</a:t>
            </a:r>
            <a:r>
              <a:rPr lang="en-US" sz="1200" b="1" baseline="-40000" dirty="0">
                <a:solidFill>
                  <a:schemeClr val="tx1"/>
                </a:solidFill>
              </a:rPr>
              <a:t>s</a:t>
            </a:r>
            <a:r>
              <a:rPr lang="en-US" sz="1200" b="1" baseline="30000" dirty="0">
                <a:solidFill>
                  <a:schemeClr val="tx1"/>
                </a:solidFill>
              </a:rPr>
              <a:t>4</a:t>
            </a:r>
            <a:endParaRPr lang="en-US" sz="1200" dirty="0"/>
          </a:p>
        </p:txBody>
      </p:sp>
      <p:sp>
        <p:nvSpPr>
          <p:cNvPr id="42" name="arrow"/>
          <p:cNvSpPr/>
          <p:nvPr/>
        </p:nvSpPr>
        <p:spPr>
          <a:xfrm flipV="1">
            <a:off x="4709160" y="2697480"/>
            <a:ext cx="0" cy="1097280"/>
          </a:xfrm>
          <a:prstGeom prst="line">
            <a:avLst/>
          </a:prstGeom>
          <a:noFill/>
          <a:ln w="50800">
            <a:solidFill>
              <a:srgbClr val="C0504D"/>
            </a:solidFill>
            <a:prstDash val="solid"/>
            <a:tailEnd type="triangle"/>
          </a:ln>
        </p:spPr>
      </p:sp>
      <p:sp>
        <p:nvSpPr>
          <p:cNvPr id="43" name="Text 40"/>
          <p:cNvSpPr txBox="1"/>
          <p:nvPr/>
        </p:nvSpPr>
        <p:spPr>
          <a:xfrm>
            <a:off x="4828032" y="2880360"/>
            <a:ext cx="365760" cy="320040"/>
          </a:xfrm>
          <a:prstGeom prst="rect">
            <a:avLst/>
          </a:prstGeom>
          <a:noFill/>
          <a:ln/>
        </p:spPr>
        <p:txBody>
          <a:bodyPr wrap="square" lIns="0" tIns="0" rIns="0" bIns="0" rtlCol="0" anchor="ctr"/>
          <a:lstStyle/>
          <a:p>
            <a:pPr algn="l" indent="0" marL="0">
              <a:buNone/>
            </a:pPr>
            <a:r>
              <a:rPr lang="en-US" sz="1500" b="1" dirty="0">
                <a:solidFill>
                  <a:srgbClr val="C0504D"/>
                </a:solidFill>
              </a:rPr>
              <a:t>H</a:t>
            </a:r>
            <a:endParaRPr lang="en-US" sz="1500" dirty="0"/>
          </a:p>
        </p:txBody>
      </p:sp>
      <p:sp>
        <p:nvSpPr>
          <p:cNvPr id="44" name="arrow"/>
          <p:cNvSpPr/>
          <p:nvPr/>
        </p:nvSpPr>
        <p:spPr>
          <a:xfrm flipV="1">
            <a:off x="5440680" y="2697480"/>
            <a:ext cx="0" cy="1097280"/>
          </a:xfrm>
          <a:prstGeom prst="line">
            <a:avLst/>
          </a:prstGeom>
          <a:noFill/>
          <a:ln w="50800">
            <a:solidFill>
              <a:srgbClr val="3B6EA5"/>
            </a:solidFill>
            <a:prstDash val="solid"/>
            <a:tailEnd type="triangle"/>
          </a:ln>
        </p:spPr>
      </p:sp>
      <p:sp>
        <p:nvSpPr>
          <p:cNvPr id="45" name="Text 42"/>
          <p:cNvSpPr txBox="1"/>
          <p:nvPr/>
        </p:nvSpPr>
        <p:spPr>
          <a:xfrm>
            <a:off x="5559552" y="2880360"/>
            <a:ext cx="457200" cy="320040"/>
          </a:xfrm>
          <a:prstGeom prst="rect">
            <a:avLst/>
          </a:prstGeom>
          <a:noFill/>
          <a:ln/>
        </p:spPr>
        <p:txBody>
          <a:bodyPr wrap="square" lIns="0" tIns="0" rIns="0" bIns="0" rtlCol="0" anchor="ctr"/>
          <a:lstStyle/>
          <a:p>
            <a:pPr algn="l" indent="0" marL="0">
              <a:buNone/>
            </a:pPr>
            <a:r>
              <a:rPr lang="en-US" sz="1500" b="1" dirty="0">
                <a:solidFill>
                  <a:schemeClr val="accent2"/>
                </a:solidFill>
              </a:rPr>
              <a:t>λE</a:t>
            </a:r>
            <a:endParaRPr lang="en-US" sz="1500" dirty="0"/>
          </a:p>
        </p:txBody>
      </p:sp>
      <p:sp>
        <p:nvSpPr>
          <p:cNvPr id="46" name="arrow"/>
          <p:cNvSpPr/>
          <p:nvPr/>
        </p:nvSpPr>
        <p:spPr>
          <a:xfrm>
            <a:off x="1463040" y="4709160"/>
            <a:ext cx="0" cy="685800"/>
          </a:xfrm>
          <a:prstGeom prst="line">
            <a:avLst/>
          </a:prstGeom>
          <a:noFill/>
          <a:ln w="50800">
            <a:solidFill>
              <a:srgbClr val="6B4423"/>
            </a:solidFill>
            <a:prstDash val="solid"/>
            <a:tailEnd type="triangle"/>
          </a:ln>
        </p:spPr>
      </p:sp>
      <p:sp>
        <p:nvSpPr>
          <p:cNvPr id="47" name="Text 44"/>
          <p:cNvSpPr txBox="1"/>
          <p:nvPr/>
        </p:nvSpPr>
        <p:spPr>
          <a:xfrm>
            <a:off x="1600200" y="4892040"/>
            <a:ext cx="365760" cy="320040"/>
          </a:xfrm>
          <a:prstGeom prst="rect">
            <a:avLst/>
          </a:prstGeom>
          <a:noFill/>
          <a:ln/>
        </p:spPr>
        <p:txBody>
          <a:bodyPr wrap="square" lIns="0" tIns="0" rIns="0" bIns="0" rtlCol="0" anchor="ctr"/>
          <a:lstStyle/>
          <a:p>
            <a:pPr algn="l" indent="0" marL="0">
              <a:buNone/>
            </a:pPr>
            <a:r>
              <a:rPr lang="en-US" sz="1500" b="1" dirty="0">
                <a:solidFill>
                  <a:schemeClr val="bg1"/>
                </a:solidFill>
              </a:rPr>
              <a:t>G</a:t>
            </a:r>
            <a:endParaRPr lang="en-US" sz="1500" dirty="0"/>
          </a:p>
        </p:txBody>
      </p:sp>
      <p:sp>
        <p:nvSpPr>
          <p:cNvPr id="48" name="Text 45"/>
          <p:cNvSpPr txBox="1"/>
          <p:nvPr/>
        </p:nvSpPr>
        <p:spPr>
          <a:xfrm>
            <a:off x="2194560" y="4892040"/>
            <a:ext cx="3749040" cy="365760"/>
          </a:xfrm>
          <a:prstGeom prst="rect">
            <a:avLst/>
          </a:prstGeom>
          <a:noFill/>
          <a:ln/>
        </p:spPr>
        <p:txBody>
          <a:bodyPr wrap="square" lIns="0" tIns="0" rIns="0" bIns="0" rtlCol="0" anchor="ctr"/>
          <a:lstStyle/>
          <a:p>
            <a:pPr algn="l" indent="0" marL="0">
              <a:buNone/>
            </a:pPr>
            <a:r>
              <a:rPr lang="en-US" sz="1400" b="1" dirty="0">
                <a:solidFill>
                  <a:schemeClr val="bg1"/>
                </a:solidFill>
              </a:rPr>
              <a:t>Rn = (1 − α)Rs↓ + L↓ − L↑</a:t>
            </a:r>
            <a:endParaRPr lang="en-US" sz="1400" dirty="0"/>
          </a:p>
        </p:txBody>
      </p:sp>
      <p:sp>
        <p:nvSpPr>
          <p:cNvPr id="49" name="card"/>
          <p:cNvSpPr/>
          <p:nvPr/>
        </p:nvSpPr>
        <p:spPr>
          <a:xfrm>
            <a:off x="6537960" y="1280160"/>
            <a:ext cx="5102352"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50" name="Text 47"/>
          <p:cNvSpPr txBox="1"/>
          <p:nvPr/>
        </p:nvSpPr>
        <p:spPr>
          <a:xfrm>
            <a:off x="6675120" y="1280160"/>
            <a:ext cx="4828032" cy="777240"/>
          </a:xfrm>
          <a:prstGeom prst="rect">
            <a:avLst/>
          </a:prstGeom>
          <a:noFill/>
          <a:ln/>
        </p:spPr>
        <p:txBody>
          <a:bodyPr wrap="square" lIns="0" tIns="0" rIns="0" bIns="0" rtlCol="0" anchor="ctr"/>
          <a:lstStyle/>
          <a:p>
            <a:pPr algn="ctr" indent="0" marL="0">
              <a:buNone/>
            </a:pPr>
            <a:r>
              <a:rPr lang="en-US" sz="1900" b="1" dirty="0">
                <a:solidFill>
                  <a:schemeClr val="bg1"/>
                </a:solidFill>
              </a:rPr>
              <a:t>Rn = G + H + λE   →   λE = Rn − G − H</a:t>
            </a:r>
            <a:endParaRPr lang="en-US" sz="1900" dirty="0"/>
          </a:p>
        </p:txBody>
      </p:sp>
      <p:sp>
        <p:nvSpPr>
          <p:cNvPr id="51" name="card"/>
          <p:cNvSpPr/>
          <p:nvPr/>
        </p:nvSpPr>
        <p:spPr>
          <a:xfrm>
            <a:off x="6537960" y="2240280"/>
            <a:ext cx="246888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52" name="Text 49"/>
          <p:cNvSpPr txBox="1"/>
          <p:nvPr/>
        </p:nvSpPr>
        <p:spPr>
          <a:xfrm>
            <a:off x="6720840" y="2377440"/>
            <a:ext cx="2148840" cy="365760"/>
          </a:xfrm>
          <a:prstGeom prst="rect">
            <a:avLst/>
          </a:prstGeom>
          <a:noFill/>
          <a:ln/>
        </p:spPr>
        <p:txBody>
          <a:bodyPr wrap="square" lIns="0" tIns="0" rIns="0" bIns="0" rtlCol="0" anchor="ctr"/>
          <a:lstStyle/>
          <a:p>
            <a:pPr indent="0" marL="0">
              <a:buNone/>
            </a:pPr>
            <a:r>
              <a:rPr lang="en-US" sz="1600" b="1" dirty="0">
                <a:solidFill>
                  <a:schemeClr val="tx2"/>
                </a:solidFill>
              </a:rPr>
              <a:t>Bowen ratio</a:t>
            </a:r>
            <a:endParaRPr lang="en-US" sz="1600" dirty="0"/>
          </a:p>
        </p:txBody>
      </p:sp>
      <p:sp>
        <p:nvSpPr>
          <p:cNvPr id="53" name="Text 50"/>
          <p:cNvSpPr txBox="1"/>
          <p:nvPr/>
        </p:nvSpPr>
        <p:spPr>
          <a:xfrm>
            <a:off x="6720840" y="2788920"/>
            <a:ext cx="2103120" cy="960120"/>
          </a:xfrm>
          <a:prstGeom prst="rect">
            <a:avLst/>
          </a:prstGeom>
          <a:noFill/>
          <a:ln/>
        </p:spPr>
        <p:txBody>
          <a:bodyPr wrap="square" lIns="508" tIns="508" rIns="508" bIns="508" rtlCol="0" anchor="t"/>
          <a:lstStyle/>
          <a:p>
            <a:pPr indent="0" marL="0">
              <a:spcAft>
                <a:spcPts val="400"/>
              </a:spcAft>
              <a:buNone/>
            </a:pPr>
            <a:r>
              <a:rPr lang="en-US" sz="1300" b="1" dirty="0">
                <a:solidFill>
                  <a:schemeClr val="tx1"/>
                </a:solidFill>
              </a:rPr>
              <a:t>β = H / λE</a:t>
            </a:r>
            <a:endParaRPr lang="en-US" sz="1300" dirty="0"/>
          </a:p>
          <a:p>
            <a:pPr indent="0" marL="0">
              <a:spcAft>
                <a:spcPts val="400"/>
              </a:spcAft>
              <a:buNone/>
            </a:pPr>
            <a:r>
              <a:rPr lang="en-US" sz="1150" dirty="0">
                <a:solidFill>
                  <a:schemeClr val="tx1"/>
                </a:solidFill>
              </a:rPr>
              <a:t>wet crop β &lt; 0.3; desert β &gt; 5</a:t>
            </a:r>
            <a:endParaRPr lang="en-US" sz="1300" dirty="0"/>
          </a:p>
        </p:txBody>
      </p:sp>
      <p:sp>
        <p:nvSpPr>
          <p:cNvPr id="54" name="card"/>
          <p:cNvSpPr/>
          <p:nvPr/>
        </p:nvSpPr>
        <p:spPr>
          <a:xfrm>
            <a:off x="9171432" y="2240280"/>
            <a:ext cx="2468880"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55" name="Text 52"/>
          <p:cNvSpPr txBox="1"/>
          <p:nvPr/>
        </p:nvSpPr>
        <p:spPr>
          <a:xfrm>
            <a:off x="9354312" y="2377440"/>
            <a:ext cx="2148840" cy="365760"/>
          </a:xfrm>
          <a:prstGeom prst="rect">
            <a:avLst/>
          </a:prstGeom>
          <a:noFill/>
          <a:ln/>
        </p:spPr>
        <p:txBody>
          <a:bodyPr wrap="square" lIns="0" tIns="0" rIns="0" bIns="0" rtlCol="0" anchor="ctr"/>
          <a:lstStyle/>
          <a:p>
            <a:pPr indent="0" marL="0">
              <a:buNone/>
            </a:pPr>
            <a:r>
              <a:rPr lang="en-US" sz="1600" b="1" dirty="0">
                <a:solidFill>
                  <a:schemeClr val="tx2"/>
                </a:solidFill>
              </a:rPr>
              <a:t>Evaporative fraction</a:t>
            </a:r>
            <a:endParaRPr lang="en-US" sz="1600" dirty="0"/>
          </a:p>
        </p:txBody>
      </p:sp>
      <p:sp>
        <p:nvSpPr>
          <p:cNvPr id="56" name="Text 53"/>
          <p:cNvSpPr txBox="1"/>
          <p:nvPr/>
        </p:nvSpPr>
        <p:spPr>
          <a:xfrm>
            <a:off x="9354312" y="2788920"/>
            <a:ext cx="2103120" cy="960120"/>
          </a:xfrm>
          <a:prstGeom prst="rect">
            <a:avLst/>
          </a:prstGeom>
          <a:noFill/>
          <a:ln/>
        </p:spPr>
        <p:txBody>
          <a:bodyPr wrap="square" lIns="508" tIns="508" rIns="508" bIns="508" rtlCol="0" anchor="t"/>
          <a:lstStyle/>
          <a:p>
            <a:pPr indent="0" marL="0">
              <a:spcAft>
                <a:spcPts val="400"/>
              </a:spcAft>
              <a:buNone/>
            </a:pPr>
            <a:r>
              <a:rPr lang="en-US" sz="1250" b="1" dirty="0">
                <a:solidFill>
                  <a:schemeClr val="tx1"/>
                </a:solidFill>
              </a:rPr>
              <a:t>EF = λE / (Rn − G) = 1/(1 + β)</a:t>
            </a:r>
            <a:endParaRPr lang="en-US" sz="1250" dirty="0"/>
          </a:p>
          <a:p>
            <a:pPr indent="0" marL="0">
              <a:spcAft>
                <a:spcPts val="400"/>
              </a:spcAft>
              <a:buNone/>
            </a:pPr>
            <a:r>
              <a:rPr lang="en-US" sz="1150" dirty="0">
                <a:solidFill>
                  <a:schemeClr val="tx1"/>
                </a:solidFill>
              </a:rPr>
              <a:t>0 (dry) → 1 (wet)</a:t>
            </a:r>
            <a:endParaRPr lang="en-US" sz="1250" dirty="0"/>
          </a:p>
        </p:txBody>
      </p:sp>
      <p:sp>
        <p:nvSpPr>
          <p:cNvPr id="57" name="card"/>
          <p:cNvSpPr/>
          <p:nvPr/>
        </p:nvSpPr>
        <p:spPr>
          <a:xfrm>
            <a:off x="6537960" y="4023360"/>
            <a:ext cx="5102352" cy="2148840"/>
          </a:xfrm>
          <a:prstGeom prst="roundRect">
            <a:avLst>
              <a:gd name="adj" fmla="val 3404"/>
            </a:avLst>
          </a:prstGeom>
          <a:solidFill>
            <a:schemeClr val="bg2"/>
          </a:solidFill>
          <a:ln/>
          <a:effectLst>
            <a:outerShdw sx="100000" sy="100000" kx="0" ky="0" algn="bl" rotWithShape="0" blurRad="76200" dist="25400" dir="5400000">
              <a:srgbClr val="000000">
                <a:alpha val="14000"/>
              </a:srgbClr>
            </a:outerShdw>
          </a:effectLst>
        </p:spPr>
      </p:sp>
      <p:sp>
        <p:nvSpPr>
          <p:cNvPr id="58" name="Text 55"/>
          <p:cNvSpPr txBox="1"/>
          <p:nvPr/>
        </p:nvSpPr>
        <p:spPr>
          <a:xfrm>
            <a:off x="6720840" y="4160520"/>
            <a:ext cx="4782312" cy="365760"/>
          </a:xfrm>
          <a:prstGeom prst="rect">
            <a:avLst/>
          </a:prstGeom>
          <a:noFill/>
          <a:ln/>
        </p:spPr>
        <p:txBody>
          <a:bodyPr wrap="square" lIns="0" tIns="0" rIns="0" bIns="0" rtlCol="0" anchor="ctr"/>
          <a:lstStyle/>
          <a:p>
            <a:pPr indent="0" marL="0">
              <a:buNone/>
            </a:pPr>
            <a:r>
              <a:rPr lang="en-US" sz="1600" b="1" dirty="0">
                <a:solidFill>
                  <a:schemeClr val="tx2"/>
                </a:solidFill>
              </a:rPr>
              <a:t>Assumptions in remote-sensing use</a:t>
            </a:r>
            <a:endParaRPr lang="en-US" sz="1600" dirty="0"/>
          </a:p>
        </p:txBody>
      </p:sp>
      <p:sp>
        <p:nvSpPr>
          <p:cNvPr id="59" name="Text 56"/>
          <p:cNvSpPr txBox="1"/>
          <p:nvPr/>
        </p:nvSpPr>
        <p:spPr>
          <a:xfrm>
            <a:off x="6720840" y="4572000"/>
            <a:ext cx="4736592" cy="15087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One-dimensional, vertical fluxes; no horizontal advection</a:t>
            </a:r>
            <a:endParaRPr lang="en-US" sz="1250" dirty="0"/>
          </a:p>
          <a:p>
            <a:pPr marL="177800" indent="-177800">
              <a:spcAft>
                <a:spcPts val="400"/>
              </a:spcAft>
              <a:buSzPct val="100000"/>
              <a:buChar char="•"/>
            </a:pPr>
            <a:r>
              <a:rPr lang="en-US" sz="1250" dirty="0">
                <a:solidFill>
                  <a:schemeClr val="tx1"/>
                </a:solidFill>
              </a:rPr>
              <a:t>Photosynthesis (~5–6%) and canopy storage neglected</a:t>
            </a:r>
            <a:endParaRPr lang="en-US" sz="1250" dirty="0"/>
          </a:p>
          <a:p>
            <a:pPr marL="177800" indent="-177800">
              <a:spcAft>
                <a:spcPts val="400"/>
              </a:spcAft>
              <a:buSzPct val="100000"/>
              <a:buChar char="•"/>
            </a:pPr>
            <a:r>
              <a:rPr lang="en-US" sz="1250" dirty="0">
                <a:solidFill>
                  <a:schemeClr val="tx1"/>
                </a:solidFill>
              </a:rPr>
              <a:t>Instantaneous: valid only at overpass time, clear sky</a:t>
            </a:r>
            <a:endParaRPr lang="en-US" sz="1250" dirty="0"/>
          </a:p>
          <a:p>
            <a:pPr marL="177800" indent="-177800">
              <a:spcAft>
                <a:spcPts val="400"/>
              </a:spcAft>
              <a:buSzPct val="100000"/>
              <a:buChar char="•"/>
            </a:pPr>
            <a:r>
              <a:rPr lang="en-US" sz="1250" dirty="0">
                <a:solidFill>
                  <a:schemeClr val="tx1"/>
                </a:solidFill>
              </a:rPr>
              <a:t>Typical midday G/Rn: 0.05 (dense crop) to 0.5 (dry bare soil)</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FAO-56 Penman–Monteith reference ET (ET0)</a:t>
            </a:r>
            <a:endParaRPr lang="en-US" sz="3200" dirty="0"/>
          </a:p>
        </p:txBody>
      </p:sp>
      <p:sp>
        <p:nvSpPr>
          <p:cNvPr id="4" name="card"/>
          <p:cNvSpPr/>
          <p:nvPr/>
        </p:nvSpPr>
        <p:spPr>
          <a:xfrm>
            <a:off x="548640" y="1280160"/>
            <a:ext cx="11094415" cy="914400"/>
          </a:xfrm>
          <a:prstGeom prst="roundRect">
            <a:avLst>
              <a:gd name="adj" fmla="val 8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10820095" cy="914400"/>
          </a:xfrm>
          <a:prstGeom prst="rect">
            <a:avLst/>
          </a:prstGeom>
          <a:noFill/>
          <a:ln/>
        </p:spPr>
        <p:txBody>
          <a:bodyPr wrap="square" lIns="0" tIns="0" rIns="0" bIns="0" rtlCol="0" anchor="ctr"/>
          <a:lstStyle/>
          <a:p>
            <a:pPr algn="ctr" indent="0" marL="0">
              <a:buNone/>
            </a:pPr>
            <a:r>
              <a:rPr lang="en-US" sz="2000" b="1" dirty="0">
                <a:solidFill>
                  <a:schemeClr val="bg1"/>
                </a:solidFill>
              </a:rPr>
              <a:t>ET</a:t>
            </a:r>
            <a:r>
              <a:rPr lang="en-US" sz="2000" b="1" baseline="-40000" dirty="0">
                <a:solidFill>
                  <a:schemeClr val="bg1"/>
                </a:solidFill>
              </a:rPr>
              <a:t>0</a:t>
            </a:r>
            <a:r>
              <a:rPr lang="en-US" sz="2000" b="1" dirty="0">
                <a:solidFill>
                  <a:schemeClr val="bg1"/>
                </a:solidFill>
              </a:rPr>
              <a:t> = [0.408Δ(R</a:t>
            </a:r>
            <a:r>
              <a:rPr lang="en-US" sz="2000" b="1" baseline="-40000" dirty="0">
                <a:solidFill>
                  <a:schemeClr val="bg1"/>
                </a:solidFill>
              </a:rPr>
              <a:t>n</a:t>
            </a:r>
            <a:r>
              <a:rPr lang="en-US" sz="2000" b="1" dirty="0">
                <a:solidFill>
                  <a:schemeClr val="bg1"/>
                </a:solidFill>
              </a:rPr>
              <a:t> − G) + γ·(900/(T + 273))·u</a:t>
            </a:r>
            <a:r>
              <a:rPr lang="en-US" sz="2000" b="1" baseline="-40000" dirty="0">
                <a:solidFill>
                  <a:schemeClr val="bg1"/>
                </a:solidFill>
              </a:rPr>
              <a:t>2</a:t>
            </a:r>
            <a:r>
              <a:rPr lang="en-US" sz="2000" b="1" dirty="0">
                <a:solidFill>
                  <a:schemeClr val="bg1"/>
                </a:solidFill>
              </a:rPr>
              <a:t>(e</a:t>
            </a:r>
            <a:r>
              <a:rPr lang="en-US" sz="2000" b="1" baseline="-40000" dirty="0">
                <a:solidFill>
                  <a:schemeClr val="bg1"/>
                </a:solidFill>
              </a:rPr>
              <a:t>s</a:t>
            </a:r>
            <a:r>
              <a:rPr lang="en-US" sz="2000" b="1" dirty="0">
                <a:solidFill>
                  <a:schemeClr val="bg1"/>
                </a:solidFill>
              </a:rPr>
              <a:t> − e</a:t>
            </a:r>
            <a:r>
              <a:rPr lang="en-US" sz="2000" b="1" baseline="-40000" dirty="0">
                <a:solidFill>
                  <a:schemeClr val="bg1"/>
                </a:solidFill>
              </a:rPr>
              <a:t>a</a:t>
            </a:r>
            <a:r>
              <a:rPr lang="en-US" sz="2000" b="1" dirty="0">
                <a:solidFill>
                  <a:schemeClr val="bg1"/>
                </a:solidFill>
              </a:rPr>
              <a:t>)]  ÷  [Δ + γ(1 + 0.34u</a:t>
            </a:r>
            <a:r>
              <a:rPr lang="en-US" sz="2000" b="1" baseline="-40000" dirty="0">
                <a:solidFill>
                  <a:schemeClr val="bg1"/>
                </a:solidFill>
              </a:rPr>
              <a:t>2</a:t>
            </a:r>
            <a:r>
              <a:rPr lang="en-US" sz="2000" b="1" dirty="0">
                <a:solidFill>
                  <a:schemeClr val="bg1"/>
                </a:solidFill>
              </a:rPr>
              <a:t>)]</a:t>
            </a:r>
            <a:endParaRPr lang="en-US" sz="2000" dirty="0"/>
          </a:p>
        </p:txBody>
      </p:sp>
      <p:sp>
        <p:nvSpPr>
          <p:cNvPr id="6" name="Text 3"/>
          <p:cNvSpPr txBox="1"/>
          <p:nvPr/>
        </p:nvSpPr>
        <p:spPr>
          <a:xfrm>
            <a:off x="548640" y="2240280"/>
            <a:ext cx="11094415" cy="320040"/>
          </a:xfrm>
          <a:prstGeom prst="rect">
            <a:avLst/>
          </a:prstGeom>
          <a:noFill/>
          <a:ln/>
        </p:spPr>
        <p:txBody>
          <a:bodyPr wrap="square" lIns="0" tIns="0" rIns="0" bIns="0" rtlCol="0" anchor="ctr"/>
          <a:lstStyle/>
          <a:p>
            <a:pPr algn="ctr" indent="0" marL="0">
              <a:buNone/>
            </a:pPr>
            <a:r>
              <a:rPr lang="en-US" sz="1150" i="1" dirty="0">
                <a:solidFill>
                  <a:schemeClr val="accent6"/>
                </a:solidFill>
              </a:rPr>
              <a:t>ET</a:t>
            </a:r>
            <a:r>
              <a:rPr lang="en-US" sz="1150" i="1" baseline="-40000" dirty="0">
                <a:solidFill>
                  <a:schemeClr val="accent6"/>
                </a:solidFill>
              </a:rPr>
              <a:t>0</a:t>
            </a:r>
            <a:r>
              <a:rPr lang="en-US" sz="1150" i="1" dirty="0">
                <a:solidFill>
                  <a:schemeClr val="accent6"/>
                </a:solidFill>
              </a:rPr>
              <a:t> mm d⁻¹ · R</a:t>
            </a:r>
            <a:r>
              <a:rPr lang="en-US" sz="1150" i="1" baseline="-40000" dirty="0">
                <a:solidFill>
                  <a:schemeClr val="accent6"/>
                </a:solidFill>
              </a:rPr>
              <a:t>n</a:t>
            </a:r>
            <a:r>
              <a:rPr lang="en-US" sz="1150" i="1" dirty="0">
                <a:solidFill>
                  <a:schemeClr val="accent6"/>
                </a:solidFill>
              </a:rPr>
              <a:t>, G MJ m⁻² d⁻¹ · T mean air temp. (°C) at 2 m · u</a:t>
            </a:r>
            <a:r>
              <a:rPr lang="en-US" sz="1150" i="1" baseline="-40000" dirty="0">
                <a:solidFill>
                  <a:schemeClr val="accent6"/>
                </a:solidFill>
              </a:rPr>
              <a:t>2</a:t>
            </a:r>
            <a:r>
              <a:rPr lang="en-US" sz="1150" i="1" dirty="0">
                <a:solidFill>
                  <a:schemeClr val="accent6"/>
                </a:solidFill>
              </a:rPr>
              <a:t> wind at 2 m (m s⁻¹) · e</a:t>
            </a:r>
            <a:r>
              <a:rPr lang="en-US" sz="1150" i="1" baseline="-40000" dirty="0">
                <a:solidFill>
                  <a:schemeClr val="accent6"/>
                </a:solidFill>
              </a:rPr>
              <a:t>s</a:t>
            </a:r>
            <a:r>
              <a:rPr lang="en-US" sz="1150" i="1" dirty="0">
                <a:solidFill>
                  <a:schemeClr val="accent6"/>
                </a:solidFill>
              </a:rPr>
              <a:t> − e</a:t>
            </a:r>
            <a:r>
              <a:rPr lang="en-US" sz="1150" i="1" baseline="-40000" dirty="0">
                <a:solidFill>
                  <a:schemeClr val="accent6"/>
                </a:solidFill>
              </a:rPr>
              <a:t>a</a:t>
            </a:r>
            <a:r>
              <a:rPr lang="en-US" sz="1150" i="1" dirty="0">
                <a:solidFill>
                  <a:schemeClr val="accent6"/>
                </a:solidFill>
              </a:rPr>
              <a:t> VPD (kPa) · Δ, γ kPa °C⁻¹</a:t>
            </a:r>
            <a:endParaRPr lang="en-US" sz="1150" dirty="0"/>
          </a:p>
        </p:txBody>
      </p:sp>
      <p:sp>
        <p:nvSpPr>
          <p:cNvPr id="7" name="card"/>
          <p:cNvSpPr/>
          <p:nvPr/>
        </p:nvSpPr>
        <p:spPr>
          <a:xfrm>
            <a:off x="548640" y="2697480"/>
            <a:ext cx="36118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31520" y="2852928"/>
            <a:ext cx="420624" cy="420624"/>
          </a:xfrm>
          <a:prstGeom prst="ellipse">
            <a:avLst/>
          </a:prstGeom>
          <a:solidFill>
            <a:schemeClr val="accent1"/>
          </a:solidFill>
          <a:ln/>
        </p:spPr>
      </p:sp>
      <p:pic>
        <p:nvPicPr>
          <p:cNvPr id="9" name="Image 0" descr="Seedling icon">    </p:cNvPr>
          <p:cNvPicPr>
            <a:picLocks noChangeAspect="1"/>
          </p:cNvPicPr>
          <p:nvPr/>
        </p:nvPicPr>
        <p:blipFill>
          <a:blip r:embed="rId1"/>
          <a:stretch>
            <a:fillRect/>
          </a:stretch>
        </p:blipFill>
        <p:spPr>
          <a:xfrm>
            <a:off x="840882" y="2962290"/>
            <a:ext cx="201900" cy="201900"/>
          </a:xfrm>
          <a:prstGeom prst="rect">
            <a:avLst/>
          </a:prstGeom>
        </p:spPr>
      </p:pic>
      <p:sp>
        <p:nvSpPr>
          <p:cNvPr id="10" name="Text 6"/>
          <p:cNvSpPr txBox="1"/>
          <p:nvPr/>
        </p:nvSpPr>
        <p:spPr>
          <a:xfrm>
            <a:off x="1261872" y="283464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Reference crop</a:t>
            </a:r>
            <a:endParaRPr lang="en-US" sz="1600" dirty="0"/>
          </a:p>
        </p:txBody>
      </p:sp>
      <p:sp>
        <p:nvSpPr>
          <p:cNvPr id="11" name="Text 7"/>
          <p:cNvSpPr txBox="1"/>
          <p:nvPr/>
        </p:nvSpPr>
        <p:spPr>
          <a:xfrm>
            <a:off x="731520" y="3383280"/>
            <a:ext cx="3246120" cy="16002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Hypothetical grass, h = 0.12 m</a:t>
            </a:r>
            <a:endParaRPr lang="en-US" sz="1250" dirty="0"/>
          </a:p>
          <a:p>
            <a:pPr marL="177800" indent="-177800">
              <a:spcAft>
                <a:spcPts val="400"/>
              </a:spcAft>
              <a:buSzPct val="100000"/>
              <a:buChar char="•"/>
            </a:pPr>
            <a:r>
              <a:rPr lang="en-US" sz="1250" dirty="0">
                <a:solidFill>
                  <a:schemeClr val="tx1"/>
                </a:solidFill>
              </a:rPr>
              <a:t>r</a:t>
            </a:r>
            <a:r>
              <a:rPr lang="en-US" sz="1250" baseline="-40000" dirty="0">
                <a:solidFill>
                  <a:schemeClr val="tx1"/>
                </a:solidFill>
              </a:rPr>
              <a:t>s</a:t>
            </a:r>
            <a:r>
              <a:rPr lang="en-US" sz="1250" dirty="0">
                <a:solidFill>
                  <a:schemeClr val="tx1"/>
                </a:solidFill>
              </a:rPr>
              <a:t> = 70 s m⁻¹, albedo 0.23</a:t>
            </a:r>
            <a:endParaRPr lang="en-US" sz="1250" dirty="0"/>
          </a:p>
          <a:p>
            <a:pPr marL="177800" indent="-177800">
              <a:spcAft>
                <a:spcPts val="400"/>
              </a:spcAft>
              <a:buSzPct val="100000"/>
              <a:buChar char="•"/>
            </a:pPr>
            <a:r>
              <a:rPr lang="en-US" sz="1250" dirty="0">
                <a:solidFill>
                  <a:schemeClr val="tx1"/>
                </a:solidFill>
              </a:rPr>
              <a:t>r</a:t>
            </a:r>
            <a:r>
              <a:rPr lang="en-US" sz="1250" baseline="-40000" dirty="0">
                <a:solidFill>
                  <a:schemeClr val="tx1"/>
                </a:solidFill>
              </a:rPr>
              <a:t>a</a:t>
            </a:r>
            <a:r>
              <a:rPr lang="en-US" sz="1250" dirty="0">
                <a:solidFill>
                  <a:schemeClr val="tx1"/>
                </a:solidFill>
              </a:rPr>
              <a:t> = 208/u</a:t>
            </a:r>
            <a:r>
              <a:rPr lang="en-US" sz="1250" baseline="-40000" dirty="0">
                <a:solidFill>
                  <a:schemeClr val="tx1"/>
                </a:solidFill>
              </a:rPr>
              <a:t>2</a:t>
            </a:r>
            <a:r>
              <a:rPr lang="en-US" sz="1250" dirty="0">
                <a:solidFill>
                  <a:schemeClr val="tx1"/>
                </a:solidFill>
              </a:rPr>
              <a:t>; well watered, full cover</a:t>
            </a:r>
            <a:endParaRPr lang="en-US" sz="1250" dirty="0"/>
          </a:p>
          <a:p>
            <a:pPr marL="177800" indent="-177800">
              <a:spcAft>
                <a:spcPts val="400"/>
              </a:spcAft>
              <a:buSzPct val="100000"/>
              <a:buChar char="•"/>
            </a:pPr>
            <a:r>
              <a:rPr lang="en-US" sz="1250" dirty="0">
                <a:solidFill>
                  <a:schemeClr val="tx1"/>
                </a:solidFill>
              </a:rPr>
              <a:t>Depends on </a:t>
            </a:r>
            <a:r>
              <a:rPr lang="en-US" sz="1250" b="1" dirty="0">
                <a:solidFill>
                  <a:schemeClr val="tx1"/>
                </a:solidFill>
              </a:rPr>
              <a:t>weather only</a:t>
            </a:r>
            <a:endParaRPr lang="en-US" sz="1250" dirty="0"/>
          </a:p>
        </p:txBody>
      </p:sp>
      <p:sp>
        <p:nvSpPr>
          <p:cNvPr id="12" name="card"/>
          <p:cNvSpPr/>
          <p:nvPr/>
        </p:nvSpPr>
        <p:spPr>
          <a:xfrm>
            <a:off x="4297680" y="2697480"/>
            <a:ext cx="36118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4480560" y="2852928"/>
            <a:ext cx="420624" cy="420624"/>
          </a:xfrm>
          <a:prstGeom prst="ellipse">
            <a:avLst/>
          </a:prstGeom>
          <a:solidFill>
            <a:schemeClr val="accent3"/>
          </a:solidFill>
          <a:ln/>
        </p:spPr>
      </p:sp>
      <p:pic>
        <p:nvPicPr>
          <p:cNvPr id="14" name="Image 1" descr="Sun icon">    </p:cNvPr>
          <p:cNvPicPr>
            <a:picLocks noChangeAspect="1"/>
          </p:cNvPicPr>
          <p:nvPr/>
        </p:nvPicPr>
        <p:blipFill>
          <a:blip r:embed="rId2"/>
          <a:stretch>
            <a:fillRect/>
          </a:stretch>
        </p:blipFill>
        <p:spPr>
          <a:xfrm>
            <a:off x="4589922" y="2962290"/>
            <a:ext cx="201900" cy="201900"/>
          </a:xfrm>
          <a:prstGeom prst="rect">
            <a:avLst/>
          </a:prstGeom>
        </p:spPr>
      </p:pic>
      <p:sp>
        <p:nvSpPr>
          <p:cNvPr id="15" name="Text 10"/>
          <p:cNvSpPr txBox="1"/>
          <p:nvPr/>
        </p:nvSpPr>
        <p:spPr>
          <a:xfrm>
            <a:off x="5010912" y="283464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Radiation in FAO-56</a:t>
            </a:r>
            <a:endParaRPr lang="en-US" sz="1600" dirty="0"/>
          </a:p>
        </p:txBody>
      </p:sp>
      <p:sp>
        <p:nvSpPr>
          <p:cNvPr id="16" name="Text 11"/>
          <p:cNvSpPr txBox="1"/>
          <p:nvPr/>
        </p:nvSpPr>
        <p:spPr>
          <a:xfrm>
            <a:off x="4480560" y="3383280"/>
            <a:ext cx="3246120" cy="16002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R</a:t>
            </a:r>
            <a:r>
              <a:rPr lang="en-US" sz="1250" baseline="-40000" dirty="0">
                <a:solidFill>
                  <a:schemeClr val="tx1"/>
                </a:solidFill>
              </a:rPr>
              <a:t>s</a:t>
            </a:r>
            <a:r>
              <a:rPr lang="en-US" sz="1250" dirty="0">
                <a:solidFill>
                  <a:schemeClr val="tx1"/>
                </a:solidFill>
              </a:rPr>
              <a:t> = (0.25 + 0.50 n/N) R</a:t>
            </a:r>
            <a:r>
              <a:rPr lang="en-US" sz="1250" baseline="-40000" dirty="0">
                <a:solidFill>
                  <a:schemeClr val="tx1"/>
                </a:solidFill>
              </a:rPr>
              <a:t>a</a:t>
            </a:r>
            <a:r>
              <a:rPr lang="en-US" sz="1250" dirty="0">
                <a:solidFill>
                  <a:schemeClr val="tx1"/>
                </a:solidFill>
              </a:rPr>
              <a:t> (Angstrom)</a:t>
            </a:r>
            <a:endParaRPr lang="en-US" sz="1250" dirty="0"/>
          </a:p>
          <a:p>
            <a:pPr marL="177800" indent="-177800">
              <a:spcAft>
                <a:spcPts val="400"/>
              </a:spcAft>
              <a:buSzPct val="100000"/>
              <a:buChar char="•"/>
            </a:pPr>
            <a:r>
              <a:rPr lang="en-US" sz="1250" dirty="0">
                <a:solidFill>
                  <a:schemeClr val="tx1"/>
                </a:solidFill>
              </a:rPr>
              <a:t>R</a:t>
            </a:r>
            <a:r>
              <a:rPr lang="en-US" sz="1250" baseline="-40000" dirty="0">
                <a:solidFill>
                  <a:schemeClr val="tx1"/>
                </a:solidFill>
              </a:rPr>
              <a:t>ns</a:t>
            </a:r>
            <a:r>
              <a:rPr lang="en-US" sz="1250" dirty="0">
                <a:solidFill>
                  <a:schemeClr val="tx1"/>
                </a:solidFill>
              </a:rPr>
              <a:t> = (1 − 0.23) R</a:t>
            </a:r>
            <a:r>
              <a:rPr lang="en-US" sz="1250" baseline="-40000" dirty="0">
                <a:solidFill>
                  <a:schemeClr val="tx1"/>
                </a:solidFill>
              </a:rPr>
              <a:t>s</a:t>
            </a:r>
            <a:endParaRPr lang="en-US" sz="1250" dirty="0"/>
          </a:p>
          <a:p>
            <a:pPr marL="177800" indent="-177800">
              <a:spcAft>
                <a:spcPts val="400"/>
              </a:spcAft>
              <a:buSzPct val="100000"/>
              <a:buChar char="•"/>
            </a:pPr>
            <a:r>
              <a:rPr lang="en-US" sz="1250" dirty="0">
                <a:solidFill>
                  <a:schemeClr val="tx1"/>
                </a:solidFill>
              </a:rPr>
              <a:t>R</a:t>
            </a:r>
            <a:r>
              <a:rPr lang="en-US" sz="1250" baseline="-40000" dirty="0">
                <a:solidFill>
                  <a:schemeClr val="tx1"/>
                </a:solidFill>
              </a:rPr>
              <a:t>nl</a:t>
            </a:r>
            <a:r>
              <a:rPr lang="en-US" sz="1250" dirty="0">
                <a:solidFill>
                  <a:schemeClr val="tx1"/>
                </a:solidFill>
              </a:rPr>
              <a:t> from T</a:t>
            </a:r>
            <a:r>
              <a:rPr lang="en-US" sz="1250" baseline="-40000" dirty="0">
                <a:solidFill>
                  <a:schemeClr val="tx1"/>
                </a:solidFill>
              </a:rPr>
              <a:t>max</a:t>
            </a:r>
            <a:r>
              <a:rPr lang="en-US" sz="1250" dirty="0">
                <a:solidFill>
                  <a:schemeClr val="tx1"/>
                </a:solidFill>
              </a:rPr>
              <a:t>⁴, T</a:t>
            </a:r>
            <a:r>
              <a:rPr lang="en-US" sz="1250" baseline="-40000" dirty="0">
                <a:solidFill>
                  <a:schemeClr val="tx1"/>
                </a:solidFill>
              </a:rPr>
              <a:t>min</a:t>
            </a:r>
            <a:r>
              <a:rPr lang="en-US" sz="1250" dirty="0">
                <a:solidFill>
                  <a:schemeClr val="tx1"/>
                </a:solidFill>
              </a:rPr>
              <a:t>⁴, e</a:t>
            </a:r>
            <a:r>
              <a:rPr lang="en-US" sz="1250" baseline="-40000" dirty="0">
                <a:solidFill>
                  <a:schemeClr val="tx1"/>
                </a:solidFill>
              </a:rPr>
              <a:t>a</a:t>
            </a:r>
            <a:r>
              <a:rPr lang="en-US" sz="1250" dirty="0">
                <a:solidFill>
                  <a:schemeClr val="tx1"/>
                </a:solidFill>
              </a:rPr>
              <a:t>, R</a:t>
            </a:r>
            <a:r>
              <a:rPr lang="en-US" sz="1250" baseline="-40000" dirty="0">
                <a:solidFill>
                  <a:schemeClr val="tx1"/>
                </a:solidFill>
              </a:rPr>
              <a:t>s</a:t>
            </a:r>
            <a:r>
              <a:rPr lang="en-US" sz="1250" dirty="0">
                <a:solidFill>
                  <a:schemeClr val="tx1"/>
                </a:solidFill>
              </a:rPr>
              <a:t>/R</a:t>
            </a:r>
            <a:r>
              <a:rPr lang="en-US" sz="1250" baseline="-40000" dirty="0">
                <a:solidFill>
                  <a:schemeClr val="tx1"/>
                </a:solidFill>
              </a:rPr>
              <a:t>so</a:t>
            </a:r>
            <a:endParaRPr lang="en-US" sz="1250" dirty="0"/>
          </a:p>
          <a:p>
            <a:pPr marL="177800" indent="-177800">
              <a:spcAft>
                <a:spcPts val="400"/>
              </a:spcAft>
              <a:buSzPct val="100000"/>
              <a:buChar char="•"/>
            </a:pPr>
            <a:r>
              <a:rPr lang="en-US" sz="1250" dirty="0">
                <a:solidFill>
                  <a:schemeClr val="tx1"/>
                </a:solidFill>
              </a:rPr>
              <a:t>R</a:t>
            </a:r>
            <a:r>
              <a:rPr lang="en-US" sz="1250" baseline="-40000" dirty="0">
                <a:solidFill>
                  <a:schemeClr val="tx1"/>
                </a:solidFill>
              </a:rPr>
              <a:t>n</a:t>
            </a:r>
            <a:r>
              <a:rPr lang="en-US" sz="1250" dirty="0">
                <a:solidFill>
                  <a:schemeClr val="tx1"/>
                </a:solidFill>
              </a:rPr>
              <a:t> = R</a:t>
            </a:r>
            <a:r>
              <a:rPr lang="en-US" sz="1250" baseline="-40000" dirty="0">
                <a:solidFill>
                  <a:schemeClr val="tx1"/>
                </a:solidFill>
              </a:rPr>
              <a:t>ns</a:t>
            </a:r>
            <a:r>
              <a:rPr lang="en-US" sz="1250" dirty="0">
                <a:solidFill>
                  <a:schemeClr val="tx1"/>
                </a:solidFill>
              </a:rPr>
              <a:t> − R</a:t>
            </a:r>
            <a:r>
              <a:rPr lang="en-US" sz="1250" baseline="-40000" dirty="0">
                <a:solidFill>
                  <a:schemeClr val="tx1"/>
                </a:solidFill>
              </a:rPr>
              <a:t>nl</a:t>
            </a:r>
            <a:r>
              <a:rPr lang="en-US" sz="1250" dirty="0">
                <a:solidFill>
                  <a:schemeClr val="tx1"/>
                </a:solidFill>
              </a:rPr>
              <a:t>; daily G ≈ 0</a:t>
            </a:r>
            <a:endParaRPr lang="en-US" sz="1250" dirty="0"/>
          </a:p>
        </p:txBody>
      </p:sp>
      <p:sp>
        <p:nvSpPr>
          <p:cNvPr id="17" name="card"/>
          <p:cNvSpPr/>
          <p:nvPr/>
        </p:nvSpPr>
        <p:spPr>
          <a:xfrm>
            <a:off x="8046720" y="2697480"/>
            <a:ext cx="359359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8229600" y="2852928"/>
            <a:ext cx="420624" cy="420624"/>
          </a:xfrm>
          <a:prstGeom prst="ellipse">
            <a:avLst/>
          </a:prstGeom>
          <a:solidFill>
            <a:schemeClr val="accent2"/>
          </a:solidFill>
          <a:ln/>
        </p:spPr>
      </p:sp>
      <p:pic>
        <p:nvPicPr>
          <p:cNvPr id="19" name="Image 2" descr="Cloud icon">    </p:cNvPr>
          <p:cNvPicPr>
            <a:picLocks noChangeAspect="1"/>
          </p:cNvPicPr>
          <p:nvPr/>
        </p:nvPicPr>
        <p:blipFill>
          <a:blip r:embed="rId3"/>
          <a:stretch>
            <a:fillRect/>
          </a:stretch>
        </p:blipFill>
        <p:spPr>
          <a:xfrm>
            <a:off x="8338962" y="2962290"/>
            <a:ext cx="201900" cy="201900"/>
          </a:xfrm>
          <a:prstGeom prst="rect">
            <a:avLst/>
          </a:prstGeom>
        </p:spPr>
      </p:pic>
      <p:sp>
        <p:nvSpPr>
          <p:cNvPr id="20" name="Text 14"/>
          <p:cNvSpPr txBox="1"/>
          <p:nvPr/>
        </p:nvSpPr>
        <p:spPr>
          <a:xfrm>
            <a:off x="8759952" y="2834640"/>
            <a:ext cx="2743200" cy="457200"/>
          </a:xfrm>
          <a:prstGeom prst="rect">
            <a:avLst/>
          </a:prstGeom>
          <a:noFill/>
          <a:ln/>
        </p:spPr>
        <p:txBody>
          <a:bodyPr wrap="square" lIns="0" tIns="0" rIns="0" bIns="0" rtlCol="0" anchor="ctr"/>
          <a:lstStyle/>
          <a:p>
            <a:pPr indent="0" marL="0">
              <a:buNone/>
            </a:pPr>
            <a:r>
              <a:rPr lang="en-US" sz="1600" b="1" dirty="0">
                <a:solidFill>
                  <a:schemeClr val="tx2"/>
                </a:solidFill>
              </a:rPr>
              <a:t>Missing data and alternatives</a:t>
            </a:r>
            <a:endParaRPr lang="en-US" sz="1600" dirty="0"/>
          </a:p>
        </p:txBody>
      </p:sp>
      <p:sp>
        <p:nvSpPr>
          <p:cNvPr id="21" name="Text 15"/>
          <p:cNvSpPr txBox="1"/>
          <p:nvPr/>
        </p:nvSpPr>
        <p:spPr>
          <a:xfrm>
            <a:off x="8229600" y="3383280"/>
            <a:ext cx="3227832" cy="1600200"/>
          </a:xfrm>
          <a:prstGeom prst="rect">
            <a:avLst/>
          </a:prstGeom>
          <a:noFill/>
          <a:ln/>
        </p:spPr>
        <p:txBody>
          <a:bodyPr wrap="square" lIns="508" tIns="508" rIns="508" bIns="508" rtlCol="0" anchor="t"/>
          <a:lstStyle/>
          <a:p>
            <a:pPr marL="177800" indent="-177800">
              <a:spcAft>
                <a:spcPts val="400"/>
              </a:spcAft>
              <a:buSzPct val="100000"/>
              <a:buChar char="•"/>
            </a:pPr>
            <a:r>
              <a:rPr lang="en-US" sz="1150" dirty="0">
                <a:solidFill>
                  <a:schemeClr val="tx1"/>
                </a:solidFill>
              </a:rPr>
              <a:t>Hargreaves: 0.0023(T + 17.8)(T</a:t>
            </a:r>
            <a:r>
              <a:rPr lang="en-US" sz="1150" baseline="-40000" dirty="0">
                <a:solidFill>
                  <a:schemeClr val="tx1"/>
                </a:solidFill>
              </a:rPr>
              <a:t>max</a:t>
            </a:r>
            <a:r>
              <a:rPr lang="en-US" sz="1150" dirty="0">
                <a:solidFill>
                  <a:schemeClr val="tx1"/>
                </a:solidFill>
              </a:rPr>
              <a:t> − T</a:t>
            </a:r>
            <a:r>
              <a:rPr lang="en-US" sz="1150" baseline="-40000" dirty="0">
                <a:solidFill>
                  <a:schemeClr val="tx1"/>
                </a:solidFill>
              </a:rPr>
              <a:t>min</a:t>
            </a:r>
            <a:r>
              <a:rPr lang="en-US" sz="1150" dirty="0">
                <a:solidFill>
                  <a:schemeClr val="tx1"/>
                </a:solidFill>
              </a:rPr>
              <a:t>)</a:t>
            </a:r>
            <a:r>
              <a:rPr lang="en-US" sz="1150" baseline="30000" dirty="0">
                <a:solidFill>
                  <a:schemeClr val="tx1"/>
                </a:solidFill>
              </a:rPr>
              <a:t>0.5</a:t>
            </a:r>
            <a:r>
              <a:rPr lang="en-US" sz="1150" dirty="0">
                <a:solidFill>
                  <a:schemeClr val="tx1"/>
                </a:solidFill>
              </a:rPr>
              <a:t> R</a:t>
            </a:r>
            <a:r>
              <a:rPr lang="en-US" sz="1150" baseline="-40000" dirty="0">
                <a:solidFill>
                  <a:schemeClr val="tx1"/>
                </a:solidFill>
              </a:rPr>
              <a:t>a</a:t>
            </a:r>
            <a:endParaRPr lang="en-US" sz="1150" dirty="0"/>
          </a:p>
          <a:p>
            <a:pPr marL="177800" indent="-177800">
              <a:spcAft>
                <a:spcPts val="400"/>
              </a:spcAft>
              <a:buSzPct val="100000"/>
              <a:buChar char="•"/>
            </a:pPr>
            <a:r>
              <a:rPr lang="en-US" sz="1150" dirty="0">
                <a:solidFill>
                  <a:schemeClr val="tx1"/>
                </a:solidFill>
              </a:rPr>
              <a:t>Pan: ET</a:t>
            </a:r>
            <a:r>
              <a:rPr lang="en-US" sz="1150" baseline="-40000" dirty="0">
                <a:solidFill>
                  <a:schemeClr val="tx1"/>
                </a:solidFill>
              </a:rPr>
              <a:t>0</a:t>
            </a:r>
            <a:r>
              <a:rPr lang="en-US" sz="1150" dirty="0">
                <a:solidFill>
                  <a:schemeClr val="tx1"/>
                </a:solidFill>
              </a:rPr>
              <a:t> = K</a:t>
            </a:r>
            <a:r>
              <a:rPr lang="en-US" sz="1150" baseline="-40000" dirty="0">
                <a:solidFill>
                  <a:schemeClr val="tx1"/>
                </a:solidFill>
              </a:rPr>
              <a:t>p</a:t>
            </a:r>
            <a:r>
              <a:rPr lang="en-US" sz="1150" dirty="0">
                <a:solidFill>
                  <a:schemeClr val="tx1"/>
                </a:solidFill>
              </a:rPr>
              <a:t> × E</a:t>
            </a:r>
            <a:r>
              <a:rPr lang="en-US" sz="1150" baseline="-40000" dirty="0">
                <a:solidFill>
                  <a:schemeClr val="tx1"/>
                </a:solidFill>
              </a:rPr>
              <a:t>pan</a:t>
            </a:r>
            <a:endParaRPr lang="en-US" sz="1150" dirty="0"/>
          </a:p>
          <a:p>
            <a:pPr marL="177800" indent="-177800">
              <a:spcAft>
                <a:spcPts val="400"/>
              </a:spcAft>
              <a:buSzPct val="100000"/>
              <a:buChar char="•"/>
            </a:pPr>
            <a:r>
              <a:rPr lang="en-US" sz="1150" dirty="0">
                <a:solidFill>
                  <a:schemeClr val="tx1"/>
                </a:solidFill>
              </a:rPr>
              <a:t>Priestley–Taylor: λE = 1.26·Δ/(Δ + γ)·(R</a:t>
            </a:r>
            <a:r>
              <a:rPr lang="en-US" sz="1150" baseline="-40000" dirty="0">
                <a:solidFill>
                  <a:schemeClr val="tx1"/>
                </a:solidFill>
              </a:rPr>
              <a:t>n</a:t>
            </a:r>
            <a:r>
              <a:rPr lang="en-US" sz="1150" dirty="0">
                <a:solidFill>
                  <a:schemeClr val="tx1"/>
                </a:solidFill>
              </a:rPr>
              <a:t> − G)</a:t>
            </a:r>
            <a:endParaRPr lang="en-US" sz="1150" dirty="0"/>
          </a:p>
        </p:txBody>
      </p:sp>
      <p:sp>
        <p:nvSpPr>
          <p:cNvPr id="22" name="insight"/>
          <p:cNvSpPr/>
          <p:nvPr/>
        </p:nvSpPr>
        <p:spPr>
          <a:xfrm>
            <a:off x="548640" y="5257800"/>
            <a:ext cx="11094415" cy="868680"/>
          </a:xfrm>
          <a:prstGeom prst="roundRect">
            <a:avLst>
              <a:gd name="adj" fmla="val 8421"/>
            </a:avLst>
          </a:prstGeom>
          <a:solidFill>
            <a:schemeClr val="bg2"/>
          </a:solidFill>
          <a:ln/>
        </p:spPr>
      </p:sp>
      <p:sp>
        <p:nvSpPr>
          <p:cNvPr id="23" name="icon circle"/>
          <p:cNvSpPr/>
          <p:nvPr/>
        </p:nvSpPr>
        <p:spPr>
          <a:xfrm>
            <a:off x="685800" y="5454396"/>
            <a:ext cx="475488" cy="475488"/>
          </a:xfrm>
          <a:prstGeom prst="ellipse">
            <a:avLst/>
          </a:prstGeom>
          <a:solidFill>
            <a:schemeClr val="accent3"/>
          </a:solidFill>
          <a:ln/>
        </p:spPr>
      </p:sp>
      <p:pic>
        <p:nvPicPr>
          <p:cNvPr id="24" name="Image 3" descr="Lightbulb icon">    </p:cNvPr>
          <p:cNvPicPr>
            <a:picLocks noChangeAspect="1"/>
          </p:cNvPicPr>
          <p:nvPr/>
        </p:nvPicPr>
        <p:blipFill>
          <a:blip r:embed="rId4"/>
          <a:stretch>
            <a:fillRect/>
          </a:stretch>
        </p:blipFill>
        <p:spPr>
          <a:xfrm>
            <a:off x="809427" y="5578023"/>
            <a:ext cx="228234" cy="228234"/>
          </a:xfrm>
          <a:prstGeom prst="rect">
            <a:avLst/>
          </a:prstGeom>
        </p:spPr>
      </p:pic>
      <p:sp>
        <p:nvSpPr>
          <p:cNvPr id="25" name="Text 18"/>
          <p:cNvSpPr txBox="1"/>
          <p:nvPr/>
        </p:nvSpPr>
        <p:spPr>
          <a:xfrm>
            <a:off x="1325880" y="5294376"/>
            <a:ext cx="10180015" cy="79552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ET0 vs ETr:</a:t>
            </a:r>
            <a:r>
              <a:rPr lang="en-US" sz="1350" dirty="0">
                <a:solidFill>
                  <a:schemeClr val="tx1"/>
                </a:solidFill>
              </a:rPr>
              <a:t> FAO-56 uses grass (ET0); ASCE uses 0.5 m alfalfa (ETr ≈ 1.2–1.3 × ET0), which METRIC uses to calibrate its cold pixel. Satellite ET divided by ET0 gives an </a:t>
            </a:r>
            <a:r>
              <a:rPr lang="en-US" sz="1350" b="1" dirty="0">
                <a:solidFill>
                  <a:schemeClr val="tx1"/>
                </a:solidFill>
              </a:rPr>
              <a:t>actual Kc map</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Computing ET0 step by step (FAO-56)</a:t>
            </a:r>
            <a:endParaRPr lang="en-US" sz="3200" dirty="0"/>
          </a:p>
        </p:txBody>
      </p:sp>
      <p:sp>
        <p:nvSpPr>
          <p:cNvPr id="4" name="Text 1"/>
          <p:cNvSpPr txBox="1"/>
          <p:nvPr/>
        </p:nvSpPr>
        <p:spPr>
          <a:xfrm>
            <a:off x="548640" y="1234440"/>
            <a:ext cx="2103120" cy="320040"/>
          </a:xfrm>
          <a:prstGeom prst="rect">
            <a:avLst/>
          </a:prstGeom>
          <a:noFill/>
          <a:ln/>
        </p:spPr>
        <p:txBody>
          <a:bodyPr wrap="square" lIns="0" tIns="0" rIns="0" bIns="0" rtlCol="0" anchor="ctr"/>
          <a:lstStyle/>
          <a:p>
            <a:pPr algn="l" indent="0" marL="0">
              <a:buNone/>
            </a:pPr>
            <a:r>
              <a:rPr lang="en-US" sz="1300" b="1" dirty="0">
                <a:solidFill>
                  <a:schemeClr val="tx2"/>
                </a:solidFill>
              </a:rPr>
              <a:t>Inputs</a:t>
            </a:r>
            <a:endParaRPr lang="en-US" sz="1300" dirty="0"/>
          </a:p>
        </p:txBody>
      </p:sp>
      <p:sp>
        <p:nvSpPr>
          <p:cNvPr id="5" name="Text 2"/>
          <p:cNvSpPr txBox="1"/>
          <p:nvPr/>
        </p:nvSpPr>
        <p:spPr>
          <a:xfrm>
            <a:off x="2880360" y="1234440"/>
            <a:ext cx="5943600" cy="320040"/>
          </a:xfrm>
          <a:prstGeom prst="rect">
            <a:avLst/>
          </a:prstGeom>
          <a:noFill/>
          <a:ln/>
        </p:spPr>
        <p:txBody>
          <a:bodyPr wrap="square" lIns="0" tIns="0" rIns="0" bIns="0" rtlCol="0" anchor="ctr"/>
          <a:lstStyle/>
          <a:p>
            <a:pPr algn="l" indent="0" marL="0">
              <a:buNone/>
            </a:pPr>
            <a:r>
              <a:rPr lang="en-US" sz="1300" b="1" dirty="0">
                <a:solidFill>
                  <a:schemeClr val="tx2"/>
                </a:solidFill>
              </a:rPr>
              <a:t>Intermediate (FAO-56 equations)</a:t>
            </a:r>
            <a:endParaRPr lang="en-US" sz="1300" dirty="0"/>
          </a:p>
        </p:txBody>
      </p:sp>
      <p:sp>
        <p:nvSpPr>
          <p:cNvPr id="6" name="diagram box"/>
          <p:cNvSpPr/>
          <p:nvPr/>
        </p:nvSpPr>
        <p:spPr>
          <a:xfrm>
            <a:off x="548640" y="1600200"/>
            <a:ext cx="2103120" cy="658368"/>
          </a:xfrm>
          <a:prstGeom prst="roundRect">
            <a:avLst>
              <a:gd name="adj" fmla="val 11111"/>
            </a:avLst>
          </a:prstGeom>
          <a:solidFill>
            <a:srgbClr val="5C6B73"/>
          </a:solidFill>
          <a:ln/>
        </p:spPr>
      </p:sp>
      <p:sp>
        <p:nvSpPr>
          <p:cNvPr id="7" name="Text 4"/>
          <p:cNvSpPr txBox="1"/>
          <p:nvPr/>
        </p:nvSpPr>
        <p:spPr>
          <a:xfrm>
            <a:off x="548640" y="1600200"/>
            <a:ext cx="2103120" cy="658368"/>
          </a:xfrm>
          <a:prstGeom prst="rect">
            <a:avLst/>
          </a:prstGeom>
          <a:noFill/>
          <a:ln/>
        </p:spPr>
        <p:txBody>
          <a:bodyPr wrap="square" lIns="508" tIns="508" rIns="508" bIns="508" rtlCol="0" anchor="ctr"/>
          <a:lstStyle/>
          <a:p>
            <a:pPr algn="ctr" indent="0" marL="0">
              <a:buNone/>
            </a:pPr>
            <a:r>
              <a:rPr lang="en-US" sz="1200" b="1" dirty="0">
                <a:solidFill>
                  <a:schemeClr val="bg1"/>
                </a:solidFill>
              </a:rPr>
              <a:t>Elevation z</a:t>
            </a:r>
            <a:endParaRPr lang="en-US" sz="1200" dirty="0"/>
          </a:p>
        </p:txBody>
      </p:sp>
      <p:sp>
        <p:nvSpPr>
          <p:cNvPr id="8" name="arrow"/>
          <p:cNvSpPr/>
          <p:nvPr/>
        </p:nvSpPr>
        <p:spPr>
          <a:xfrm>
            <a:off x="2660904" y="1929384"/>
            <a:ext cx="210312" cy="0"/>
          </a:xfrm>
          <a:prstGeom prst="line">
            <a:avLst/>
          </a:prstGeom>
          <a:noFill/>
          <a:ln w="22225">
            <a:solidFill>
              <a:srgbClr val="1E2430"/>
            </a:solidFill>
            <a:prstDash val="solid"/>
            <a:tailEnd type="triangle"/>
          </a:ln>
        </p:spPr>
      </p:sp>
      <p:sp>
        <p:nvSpPr>
          <p:cNvPr id="9" name="diagram box"/>
          <p:cNvSpPr/>
          <p:nvPr/>
        </p:nvSpPr>
        <p:spPr>
          <a:xfrm>
            <a:off x="548640" y="2386584"/>
            <a:ext cx="2103120" cy="658368"/>
          </a:xfrm>
          <a:prstGeom prst="roundRect">
            <a:avLst>
              <a:gd name="adj" fmla="val 11111"/>
            </a:avLst>
          </a:prstGeom>
          <a:solidFill>
            <a:srgbClr val="C0702A"/>
          </a:solidFill>
          <a:ln/>
        </p:spPr>
      </p:sp>
      <p:sp>
        <p:nvSpPr>
          <p:cNvPr id="10" name="Text 7"/>
          <p:cNvSpPr txBox="1"/>
          <p:nvPr/>
        </p:nvSpPr>
        <p:spPr>
          <a:xfrm>
            <a:off x="548640" y="2386584"/>
            <a:ext cx="2103120" cy="658368"/>
          </a:xfrm>
          <a:prstGeom prst="rect">
            <a:avLst/>
          </a:prstGeom>
          <a:noFill/>
          <a:ln/>
        </p:spPr>
        <p:txBody>
          <a:bodyPr wrap="square" lIns="508" tIns="508" rIns="508" bIns="508" rtlCol="0" anchor="ctr"/>
          <a:lstStyle/>
          <a:p>
            <a:pPr algn="ctr" indent="0" marL="0">
              <a:buNone/>
            </a:pPr>
            <a:r>
              <a:rPr lang="en-US" sz="1200" b="1" dirty="0">
                <a:solidFill>
                  <a:schemeClr val="bg1"/>
                </a:solidFill>
              </a:rPr>
              <a:t>T</a:t>
            </a:r>
            <a:r>
              <a:rPr lang="en-US" sz="1200" b="1" baseline="-40000" dirty="0">
                <a:solidFill>
                  <a:schemeClr val="bg1"/>
                </a:solidFill>
              </a:rPr>
              <a:t>max</a:t>
            </a:r>
            <a:r>
              <a:rPr lang="en-US" sz="1200" b="1" dirty="0">
                <a:solidFill>
                  <a:schemeClr val="bg1"/>
                </a:solidFill>
              </a:rPr>
              <a:t>, T</a:t>
            </a:r>
            <a:r>
              <a:rPr lang="en-US" sz="1200" b="1" baseline="-40000" dirty="0">
                <a:solidFill>
                  <a:schemeClr val="bg1"/>
                </a:solidFill>
              </a:rPr>
              <a:t>min</a:t>
            </a:r>
            <a:endParaRPr lang="en-US" sz="1200" dirty="0"/>
          </a:p>
        </p:txBody>
      </p:sp>
      <p:sp>
        <p:nvSpPr>
          <p:cNvPr id="11" name="arrow"/>
          <p:cNvSpPr/>
          <p:nvPr/>
        </p:nvSpPr>
        <p:spPr>
          <a:xfrm>
            <a:off x="2660904" y="2715768"/>
            <a:ext cx="210312" cy="0"/>
          </a:xfrm>
          <a:prstGeom prst="line">
            <a:avLst/>
          </a:prstGeom>
          <a:noFill/>
          <a:ln w="22225">
            <a:solidFill>
              <a:srgbClr val="1E2430"/>
            </a:solidFill>
            <a:prstDash val="solid"/>
            <a:tailEnd type="triangle"/>
          </a:ln>
        </p:spPr>
      </p:sp>
      <p:sp>
        <p:nvSpPr>
          <p:cNvPr id="12" name="diagram box"/>
          <p:cNvSpPr/>
          <p:nvPr/>
        </p:nvSpPr>
        <p:spPr>
          <a:xfrm>
            <a:off x="548640" y="3172968"/>
            <a:ext cx="2103120" cy="658368"/>
          </a:xfrm>
          <a:prstGeom prst="roundRect">
            <a:avLst>
              <a:gd name="adj" fmla="val 11111"/>
            </a:avLst>
          </a:prstGeom>
          <a:solidFill>
            <a:srgbClr val="3B6EA5"/>
          </a:solidFill>
          <a:ln/>
        </p:spPr>
      </p:sp>
      <p:sp>
        <p:nvSpPr>
          <p:cNvPr id="13" name="Text 10"/>
          <p:cNvSpPr txBox="1"/>
          <p:nvPr/>
        </p:nvSpPr>
        <p:spPr>
          <a:xfrm>
            <a:off x="548640" y="3172968"/>
            <a:ext cx="2103120" cy="658368"/>
          </a:xfrm>
          <a:prstGeom prst="rect">
            <a:avLst/>
          </a:prstGeom>
          <a:noFill/>
          <a:ln/>
        </p:spPr>
        <p:txBody>
          <a:bodyPr wrap="square" lIns="508" tIns="508" rIns="508" bIns="508" rtlCol="0" anchor="ctr"/>
          <a:lstStyle/>
          <a:p>
            <a:pPr algn="ctr" indent="0" marL="0">
              <a:buNone/>
            </a:pPr>
            <a:r>
              <a:rPr lang="en-US" sz="1200" b="1" dirty="0">
                <a:solidFill>
                  <a:schemeClr val="bg1"/>
                </a:solidFill>
              </a:rPr>
              <a:t>T</a:t>
            </a:r>
            <a:r>
              <a:rPr lang="en-US" sz="1200" b="1" baseline="-40000" dirty="0">
                <a:solidFill>
                  <a:schemeClr val="bg1"/>
                </a:solidFill>
              </a:rPr>
              <a:t>dew</a:t>
            </a:r>
            <a:r>
              <a:rPr lang="en-US" sz="1200" b="1" dirty="0">
                <a:solidFill>
                  <a:schemeClr val="bg1"/>
                </a:solidFill>
              </a:rPr>
              <a:t> or RH</a:t>
            </a:r>
            <a:endParaRPr lang="en-US" sz="1200" dirty="0"/>
          </a:p>
        </p:txBody>
      </p:sp>
      <p:sp>
        <p:nvSpPr>
          <p:cNvPr id="14" name="arrow"/>
          <p:cNvSpPr/>
          <p:nvPr/>
        </p:nvSpPr>
        <p:spPr>
          <a:xfrm>
            <a:off x="2660904" y="3502152"/>
            <a:ext cx="210312" cy="0"/>
          </a:xfrm>
          <a:prstGeom prst="line">
            <a:avLst/>
          </a:prstGeom>
          <a:noFill/>
          <a:ln w="22225">
            <a:solidFill>
              <a:srgbClr val="1E2430"/>
            </a:solidFill>
            <a:prstDash val="solid"/>
            <a:tailEnd type="triangle"/>
          </a:ln>
        </p:spPr>
      </p:sp>
      <p:sp>
        <p:nvSpPr>
          <p:cNvPr id="15" name="diagram box"/>
          <p:cNvSpPr/>
          <p:nvPr/>
        </p:nvSpPr>
        <p:spPr>
          <a:xfrm>
            <a:off x="548640" y="3959352"/>
            <a:ext cx="2103120" cy="658368"/>
          </a:xfrm>
          <a:prstGeom prst="roundRect">
            <a:avLst>
              <a:gd name="adj" fmla="val 11111"/>
            </a:avLst>
          </a:prstGeom>
          <a:solidFill>
            <a:srgbClr val="6C4F9E"/>
          </a:solidFill>
          <a:ln/>
        </p:spPr>
      </p:sp>
      <p:sp>
        <p:nvSpPr>
          <p:cNvPr id="16" name="Text 13"/>
          <p:cNvSpPr txBox="1"/>
          <p:nvPr/>
        </p:nvSpPr>
        <p:spPr>
          <a:xfrm>
            <a:off x="548640" y="3959352"/>
            <a:ext cx="2103120" cy="658368"/>
          </a:xfrm>
          <a:prstGeom prst="rect">
            <a:avLst/>
          </a:prstGeom>
          <a:noFill/>
          <a:ln/>
        </p:spPr>
        <p:txBody>
          <a:bodyPr wrap="square" lIns="508" tIns="508" rIns="508" bIns="508" rtlCol="0" anchor="ctr"/>
          <a:lstStyle/>
          <a:p>
            <a:pPr algn="ctr" indent="0" marL="0">
              <a:buNone/>
            </a:pPr>
            <a:r>
              <a:rPr lang="en-US" sz="1200" b="1" dirty="0">
                <a:solidFill>
                  <a:schemeClr val="bg1"/>
                </a:solidFill>
              </a:rPr>
              <a:t>Wind u</a:t>
            </a:r>
            <a:r>
              <a:rPr lang="en-US" sz="1200" b="1" baseline="-40000" dirty="0">
                <a:solidFill>
                  <a:schemeClr val="bg1"/>
                </a:solidFill>
              </a:rPr>
              <a:t>z</a:t>
            </a:r>
            <a:r>
              <a:rPr lang="en-US" sz="1200" b="1" dirty="0">
                <a:solidFill>
                  <a:schemeClr val="bg1"/>
                </a:solidFill>
              </a:rPr>
              <a:t> at height z</a:t>
            </a:r>
            <a:endParaRPr lang="en-US" sz="1200" dirty="0"/>
          </a:p>
        </p:txBody>
      </p:sp>
      <p:sp>
        <p:nvSpPr>
          <p:cNvPr id="17" name="arrow"/>
          <p:cNvSpPr/>
          <p:nvPr/>
        </p:nvSpPr>
        <p:spPr>
          <a:xfrm>
            <a:off x="2660904" y="4288536"/>
            <a:ext cx="210312" cy="0"/>
          </a:xfrm>
          <a:prstGeom prst="line">
            <a:avLst/>
          </a:prstGeom>
          <a:noFill/>
          <a:ln w="22225">
            <a:solidFill>
              <a:srgbClr val="1E2430"/>
            </a:solidFill>
            <a:prstDash val="solid"/>
            <a:tailEnd type="triangle"/>
          </a:ln>
        </p:spPr>
      </p:sp>
      <p:sp>
        <p:nvSpPr>
          <p:cNvPr id="18" name="diagram box"/>
          <p:cNvSpPr/>
          <p:nvPr/>
        </p:nvSpPr>
        <p:spPr>
          <a:xfrm>
            <a:off x="548640" y="4745736"/>
            <a:ext cx="2103120" cy="658368"/>
          </a:xfrm>
          <a:prstGeom prst="roundRect">
            <a:avLst>
              <a:gd name="adj" fmla="val 11111"/>
            </a:avLst>
          </a:prstGeom>
          <a:solidFill>
            <a:srgbClr val="EDAE49"/>
          </a:solidFill>
          <a:ln/>
        </p:spPr>
      </p:sp>
      <p:sp>
        <p:nvSpPr>
          <p:cNvPr id="19" name="Text 16"/>
          <p:cNvSpPr txBox="1"/>
          <p:nvPr/>
        </p:nvSpPr>
        <p:spPr>
          <a:xfrm>
            <a:off x="548640" y="4745736"/>
            <a:ext cx="2103120" cy="658368"/>
          </a:xfrm>
          <a:prstGeom prst="rect">
            <a:avLst/>
          </a:prstGeom>
          <a:noFill/>
          <a:ln/>
        </p:spPr>
        <p:txBody>
          <a:bodyPr wrap="square" lIns="508" tIns="508" rIns="508" bIns="508" rtlCol="0" anchor="ctr"/>
          <a:lstStyle/>
          <a:p>
            <a:pPr algn="ctr" indent="0" marL="0">
              <a:buNone/>
            </a:pPr>
            <a:r>
              <a:rPr lang="en-US" sz="1200" b="1" dirty="0">
                <a:solidFill>
                  <a:schemeClr val="tx1"/>
                </a:solidFill>
              </a:rPr>
              <a:t>Sunshine n (or R</a:t>
            </a:r>
            <a:r>
              <a:rPr lang="en-US" sz="1200" b="1" baseline="-40000" dirty="0">
                <a:solidFill>
                  <a:schemeClr val="tx1"/>
                </a:solidFill>
              </a:rPr>
              <a:t>s</a:t>
            </a:r>
            <a:r>
              <a:rPr lang="en-US" sz="1200" b="1" dirty="0">
                <a:solidFill>
                  <a:schemeClr val="tx1"/>
                </a:solidFill>
              </a:rPr>
              <a:t>); latitude, DOY</a:t>
            </a:r>
            <a:endParaRPr lang="en-US" sz="1200" dirty="0"/>
          </a:p>
        </p:txBody>
      </p:sp>
      <p:sp>
        <p:nvSpPr>
          <p:cNvPr id="20" name="arrow"/>
          <p:cNvSpPr/>
          <p:nvPr/>
        </p:nvSpPr>
        <p:spPr>
          <a:xfrm>
            <a:off x="2660904" y="5074920"/>
            <a:ext cx="210312" cy="0"/>
          </a:xfrm>
          <a:prstGeom prst="line">
            <a:avLst/>
          </a:prstGeom>
          <a:noFill/>
          <a:ln w="22225">
            <a:solidFill>
              <a:srgbClr val="1E2430"/>
            </a:solidFill>
            <a:prstDash val="solid"/>
            <a:tailEnd type="triangle"/>
          </a:ln>
        </p:spPr>
      </p:sp>
      <p:sp>
        <p:nvSpPr>
          <p:cNvPr id="21" name="card"/>
          <p:cNvSpPr/>
          <p:nvPr/>
        </p:nvSpPr>
        <p:spPr>
          <a:xfrm>
            <a:off x="2880360" y="1600200"/>
            <a:ext cx="5943600" cy="658368"/>
          </a:xfrm>
          <a:prstGeom prst="roundRect">
            <a:avLst>
              <a:gd name="adj" fmla="val 11111"/>
            </a:avLst>
          </a:prstGeom>
          <a:solidFill>
            <a:schemeClr val="bg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2971800" y="1600200"/>
            <a:ext cx="5760720" cy="658368"/>
          </a:xfrm>
          <a:prstGeom prst="rect">
            <a:avLst/>
          </a:prstGeom>
          <a:noFill/>
          <a:ln/>
        </p:spPr>
        <p:txBody>
          <a:bodyPr wrap="square" lIns="0" tIns="0" rIns="0" bIns="0" rtlCol="0" anchor="ctr"/>
          <a:lstStyle/>
          <a:p>
            <a:pPr indent="0" marL="0">
              <a:buNone/>
            </a:pPr>
            <a:r>
              <a:rPr lang="en-US" sz="1150" dirty="0">
                <a:solidFill>
                  <a:schemeClr val="tx1"/>
                </a:solidFill>
              </a:rPr>
              <a:t>P = 101.3[(293 − 0.0065z)/293]</a:t>
            </a:r>
            <a:r>
              <a:rPr lang="en-US" sz="1150" baseline="30000" dirty="0">
                <a:solidFill>
                  <a:schemeClr val="tx1"/>
                </a:solidFill>
              </a:rPr>
              <a:t>5.26</a:t>
            </a:r>
            <a:r>
              <a:rPr lang="en-US" sz="1150" dirty="0">
                <a:solidFill>
                  <a:schemeClr val="tx1"/>
                </a:solidFill>
              </a:rPr>
              <a:t>;  γ = 0.665×10⁻³P</a:t>
            </a:r>
            <a:endParaRPr lang="en-US" sz="1150" dirty="0"/>
          </a:p>
        </p:txBody>
      </p:sp>
      <p:sp>
        <p:nvSpPr>
          <p:cNvPr id="23" name="arrow"/>
          <p:cNvSpPr/>
          <p:nvPr/>
        </p:nvSpPr>
        <p:spPr>
          <a:xfrm>
            <a:off x="8833104" y="1929384"/>
            <a:ext cx="356616" cy="1636776"/>
          </a:xfrm>
          <a:prstGeom prst="line">
            <a:avLst/>
          </a:prstGeom>
          <a:noFill/>
          <a:ln w="15875">
            <a:solidFill>
              <a:srgbClr val="1E2430"/>
            </a:solidFill>
            <a:prstDash val="solid"/>
            <a:tailEnd type="triangle"/>
          </a:ln>
        </p:spPr>
      </p:sp>
      <p:sp>
        <p:nvSpPr>
          <p:cNvPr id="24" name="card"/>
          <p:cNvSpPr/>
          <p:nvPr/>
        </p:nvSpPr>
        <p:spPr>
          <a:xfrm>
            <a:off x="2880360" y="2386584"/>
            <a:ext cx="5943600" cy="658368"/>
          </a:xfrm>
          <a:prstGeom prst="roundRect">
            <a:avLst>
              <a:gd name="adj" fmla="val 11111"/>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2971800" y="2386584"/>
            <a:ext cx="5760720" cy="658368"/>
          </a:xfrm>
          <a:prstGeom prst="rect">
            <a:avLst/>
          </a:prstGeom>
          <a:noFill/>
          <a:ln/>
        </p:spPr>
        <p:txBody>
          <a:bodyPr wrap="square" lIns="0" tIns="0" rIns="0" bIns="0" rtlCol="0" anchor="ctr"/>
          <a:lstStyle/>
          <a:p>
            <a:pPr indent="0" marL="0">
              <a:buNone/>
            </a:pPr>
            <a:r>
              <a:rPr lang="en-US" sz="1150" dirty="0">
                <a:solidFill>
                  <a:schemeClr val="tx1"/>
                </a:solidFill>
              </a:rPr>
              <a:t>e°(T) = 0.6108·exp(17.27T/(T + 237.3));  e</a:t>
            </a:r>
            <a:r>
              <a:rPr lang="en-US" sz="1150" baseline="-40000" dirty="0">
                <a:solidFill>
                  <a:schemeClr val="tx1"/>
                </a:solidFill>
              </a:rPr>
              <a:t>s</a:t>
            </a:r>
            <a:r>
              <a:rPr lang="en-US" sz="1150" dirty="0">
                <a:solidFill>
                  <a:schemeClr val="tx1"/>
                </a:solidFill>
              </a:rPr>
              <a:t> = [e°(T</a:t>
            </a:r>
            <a:r>
              <a:rPr lang="en-US" sz="1150" baseline="-40000" dirty="0">
                <a:solidFill>
                  <a:schemeClr val="tx1"/>
                </a:solidFill>
              </a:rPr>
              <a:t>max</a:t>
            </a:r>
            <a:r>
              <a:rPr lang="en-US" sz="1150" dirty="0">
                <a:solidFill>
                  <a:schemeClr val="tx1"/>
                </a:solidFill>
              </a:rPr>
              <a:t>) + e°(T</a:t>
            </a:r>
            <a:r>
              <a:rPr lang="en-US" sz="1150" baseline="-40000" dirty="0">
                <a:solidFill>
                  <a:schemeClr val="tx1"/>
                </a:solidFill>
              </a:rPr>
              <a:t>min</a:t>
            </a:r>
            <a:r>
              <a:rPr lang="en-US" sz="1150" dirty="0">
                <a:solidFill>
                  <a:schemeClr val="tx1"/>
                </a:solidFill>
              </a:rPr>
              <a:t>)]/2;  Δ = 4098e°(T)/(T + 237.3)²</a:t>
            </a:r>
            <a:endParaRPr lang="en-US" sz="1150" dirty="0"/>
          </a:p>
        </p:txBody>
      </p:sp>
      <p:sp>
        <p:nvSpPr>
          <p:cNvPr id="26" name="arrow"/>
          <p:cNvSpPr/>
          <p:nvPr/>
        </p:nvSpPr>
        <p:spPr>
          <a:xfrm>
            <a:off x="8833104" y="2715768"/>
            <a:ext cx="356616" cy="850392"/>
          </a:xfrm>
          <a:prstGeom prst="line">
            <a:avLst/>
          </a:prstGeom>
          <a:noFill/>
          <a:ln w="15875">
            <a:solidFill>
              <a:srgbClr val="1E2430"/>
            </a:solidFill>
            <a:prstDash val="solid"/>
            <a:tailEnd type="triangle"/>
          </a:ln>
        </p:spPr>
      </p:sp>
      <p:sp>
        <p:nvSpPr>
          <p:cNvPr id="27" name="card"/>
          <p:cNvSpPr/>
          <p:nvPr/>
        </p:nvSpPr>
        <p:spPr>
          <a:xfrm>
            <a:off x="2880360" y="3172968"/>
            <a:ext cx="5943600" cy="658368"/>
          </a:xfrm>
          <a:prstGeom prst="roundRect">
            <a:avLst>
              <a:gd name="adj" fmla="val 11111"/>
            </a:avLst>
          </a:prstGeom>
          <a:solidFill>
            <a:schemeClr val="bg2"/>
          </a:solidFill>
          <a:ln/>
          <a:effectLst>
            <a:outerShdw sx="100000" sy="100000" kx="0" ky="0" algn="bl" rotWithShape="0" blurRad="76200" dist="25400" dir="5400000">
              <a:srgbClr val="000000">
                <a:alpha val="14000"/>
              </a:srgbClr>
            </a:outerShdw>
          </a:effectLst>
        </p:spPr>
      </p:sp>
      <p:sp>
        <p:nvSpPr>
          <p:cNvPr id="28" name="Text 25"/>
          <p:cNvSpPr txBox="1"/>
          <p:nvPr/>
        </p:nvSpPr>
        <p:spPr>
          <a:xfrm>
            <a:off x="2971800" y="3172968"/>
            <a:ext cx="5760720" cy="658368"/>
          </a:xfrm>
          <a:prstGeom prst="rect">
            <a:avLst/>
          </a:prstGeom>
          <a:noFill/>
          <a:ln/>
        </p:spPr>
        <p:txBody>
          <a:bodyPr wrap="square" lIns="0" tIns="0" rIns="0" bIns="0" rtlCol="0" anchor="ctr"/>
          <a:lstStyle/>
          <a:p>
            <a:pPr indent="0" marL="0">
              <a:buNone/>
            </a:pPr>
            <a:r>
              <a:rPr lang="en-US" sz="1150" dirty="0">
                <a:solidFill>
                  <a:schemeClr val="tx1"/>
                </a:solidFill>
              </a:rPr>
              <a:t>e</a:t>
            </a:r>
            <a:r>
              <a:rPr lang="en-US" sz="1150" baseline="-40000" dirty="0">
                <a:solidFill>
                  <a:schemeClr val="tx1"/>
                </a:solidFill>
              </a:rPr>
              <a:t>a</a:t>
            </a:r>
            <a:r>
              <a:rPr lang="en-US" sz="1150" dirty="0">
                <a:solidFill>
                  <a:schemeClr val="tx1"/>
                </a:solidFill>
              </a:rPr>
              <a:t> = e°(T</a:t>
            </a:r>
            <a:r>
              <a:rPr lang="en-US" sz="1150" baseline="-40000" dirty="0">
                <a:solidFill>
                  <a:schemeClr val="tx1"/>
                </a:solidFill>
              </a:rPr>
              <a:t>dew</a:t>
            </a:r>
            <a:r>
              <a:rPr lang="en-US" sz="1150" dirty="0">
                <a:solidFill>
                  <a:schemeClr val="tx1"/>
                </a:solidFill>
              </a:rPr>
              <a:t>)  or  [e°(T</a:t>
            </a:r>
            <a:r>
              <a:rPr lang="en-US" sz="1150" baseline="-40000" dirty="0">
                <a:solidFill>
                  <a:schemeClr val="tx1"/>
                </a:solidFill>
              </a:rPr>
              <a:t>min</a:t>
            </a:r>
            <a:r>
              <a:rPr lang="en-US" sz="1150" dirty="0">
                <a:solidFill>
                  <a:schemeClr val="tx1"/>
                </a:solidFill>
              </a:rPr>
              <a:t>)RH</a:t>
            </a:r>
            <a:r>
              <a:rPr lang="en-US" sz="1150" baseline="-40000" dirty="0">
                <a:solidFill>
                  <a:schemeClr val="tx1"/>
                </a:solidFill>
              </a:rPr>
              <a:t>max</a:t>
            </a:r>
            <a:r>
              <a:rPr lang="en-US" sz="1150" dirty="0">
                <a:solidFill>
                  <a:schemeClr val="tx1"/>
                </a:solidFill>
              </a:rPr>
              <a:t> + e°(T</a:t>
            </a:r>
            <a:r>
              <a:rPr lang="en-US" sz="1150" baseline="-40000" dirty="0">
                <a:solidFill>
                  <a:schemeClr val="tx1"/>
                </a:solidFill>
              </a:rPr>
              <a:t>max</a:t>
            </a:r>
            <a:r>
              <a:rPr lang="en-US" sz="1150" dirty="0">
                <a:solidFill>
                  <a:schemeClr val="tx1"/>
                </a:solidFill>
              </a:rPr>
              <a:t>)RH</a:t>
            </a:r>
            <a:r>
              <a:rPr lang="en-US" sz="1150" baseline="-40000" dirty="0">
                <a:solidFill>
                  <a:schemeClr val="tx1"/>
                </a:solidFill>
              </a:rPr>
              <a:t>min</a:t>
            </a:r>
            <a:r>
              <a:rPr lang="en-US" sz="1150" dirty="0">
                <a:solidFill>
                  <a:schemeClr val="tx1"/>
                </a:solidFill>
              </a:rPr>
              <a:t>]/200</a:t>
            </a:r>
            <a:endParaRPr lang="en-US" sz="1150" dirty="0"/>
          </a:p>
        </p:txBody>
      </p:sp>
      <p:sp>
        <p:nvSpPr>
          <p:cNvPr id="29" name="arrow"/>
          <p:cNvSpPr/>
          <p:nvPr/>
        </p:nvSpPr>
        <p:spPr>
          <a:xfrm>
            <a:off x="8833104" y="3502152"/>
            <a:ext cx="356616" cy="64008"/>
          </a:xfrm>
          <a:prstGeom prst="line">
            <a:avLst/>
          </a:prstGeom>
          <a:noFill/>
          <a:ln w="15875">
            <a:solidFill>
              <a:srgbClr val="1E2430"/>
            </a:solidFill>
            <a:prstDash val="solid"/>
            <a:tailEnd type="triangle"/>
          </a:ln>
        </p:spPr>
      </p:sp>
      <p:sp>
        <p:nvSpPr>
          <p:cNvPr id="30" name="card"/>
          <p:cNvSpPr/>
          <p:nvPr/>
        </p:nvSpPr>
        <p:spPr>
          <a:xfrm>
            <a:off x="2880360" y="3959352"/>
            <a:ext cx="5943600" cy="658368"/>
          </a:xfrm>
          <a:prstGeom prst="roundRect">
            <a:avLst>
              <a:gd name="adj" fmla="val 11111"/>
            </a:avLst>
          </a:prstGeom>
          <a:solidFill>
            <a:schemeClr val="bg2"/>
          </a:solidFill>
          <a:ln/>
          <a:effectLst>
            <a:outerShdw sx="100000" sy="100000" kx="0" ky="0" algn="bl" rotWithShape="0" blurRad="76200" dist="25400" dir="5400000">
              <a:srgbClr val="000000">
                <a:alpha val="14000"/>
              </a:srgbClr>
            </a:outerShdw>
          </a:effectLst>
        </p:spPr>
      </p:sp>
      <p:sp>
        <p:nvSpPr>
          <p:cNvPr id="31" name="Text 28"/>
          <p:cNvSpPr txBox="1"/>
          <p:nvPr/>
        </p:nvSpPr>
        <p:spPr>
          <a:xfrm>
            <a:off x="2971800" y="3959352"/>
            <a:ext cx="5760720" cy="658368"/>
          </a:xfrm>
          <a:prstGeom prst="rect">
            <a:avLst/>
          </a:prstGeom>
          <a:noFill/>
          <a:ln/>
        </p:spPr>
        <p:txBody>
          <a:bodyPr wrap="square" lIns="0" tIns="0" rIns="0" bIns="0" rtlCol="0" anchor="ctr"/>
          <a:lstStyle/>
          <a:p>
            <a:pPr indent="0" marL="0">
              <a:buNone/>
            </a:pPr>
            <a:r>
              <a:rPr lang="en-US" sz="1150" dirty="0">
                <a:solidFill>
                  <a:schemeClr val="tx1"/>
                </a:solidFill>
              </a:rPr>
              <a:t>u</a:t>
            </a:r>
            <a:r>
              <a:rPr lang="en-US" sz="1150" baseline="-40000" dirty="0">
                <a:solidFill>
                  <a:schemeClr val="tx1"/>
                </a:solidFill>
              </a:rPr>
              <a:t>2</a:t>
            </a:r>
            <a:r>
              <a:rPr lang="en-US" sz="1150" dirty="0">
                <a:solidFill>
                  <a:schemeClr val="tx1"/>
                </a:solidFill>
              </a:rPr>
              <a:t> = u</a:t>
            </a:r>
            <a:r>
              <a:rPr lang="en-US" sz="1150" baseline="-40000" dirty="0">
                <a:solidFill>
                  <a:schemeClr val="tx1"/>
                </a:solidFill>
              </a:rPr>
              <a:t>z</a:t>
            </a:r>
            <a:r>
              <a:rPr lang="en-US" sz="1150" dirty="0">
                <a:solidFill>
                  <a:schemeClr val="tx1"/>
                </a:solidFill>
              </a:rPr>
              <a:t> · 4.87 / ln(67.8z − 5.42)</a:t>
            </a:r>
            <a:endParaRPr lang="en-US" sz="1150" dirty="0"/>
          </a:p>
        </p:txBody>
      </p:sp>
      <p:sp>
        <p:nvSpPr>
          <p:cNvPr id="32" name="arrow"/>
          <p:cNvSpPr/>
          <p:nvPr/>
        </p:nvSpPr>
        <p:spPr>
          <a:xfrm flipV="1">
            <a:off x="8833104" y="3566160"/>
            <a:ext cx="356616" cy="722376"/>
          </a:xfrm>
          <a:prstGeom prst="line">
            <a:avLst/>
          </a:prstGeom>
          <a:noFill/>
          <a:ln w="15875">
            <a:solidFill>
              <a:srgbClr val="1E2430"/>
            </a:solidFill>
            <a:prstDash val="solid"/>
            <a:tailEnd type="triangle"/>
          </a:ln>
        </p:spPr>
      </p:sp>
      <p:sp>
        <p:nvSpPr>
          <p:cNvPr id="33" name="card"/>
          <p:cNvSpPr/>
          <p:nvPr/>
        </p:nvSpPr>
        <p:spPr>
          <a:xfrm>
            <a:off x="2880360" y="4745736"/>
            <a:ext cx="5943600" cy="658368"/>
          </a:xfrm>
          <a:prstGeom prst="roundRect">
            <a:avLst>
              <a:gd name="adj" fmla="val 11111"/>
            </a:avLst>
          </a:prstGeom>
          <a:solidFill>
            <a:schemeClr val="bg2"/>
          </a:solidFill>
          <a:ln/>
          <a:effectLst>
            <a:outerShdw sx="100000" sy="100000" kx="0" ky="0" algn="bl" rotWithShape="0" blurRad="76200" dist="25400" dir="5400000">
              <a:srgbClr val="000000">
                <a:alpha val="14000"/>
              </a:srgbClr>
            </a:outerShdw>
          </a:effectLst>
        </p:spPr>
      </p:sp>
      <p:sp>
        <p:nvSpPr>
          <p:cNvPr id="34" name="Text 31"/>
          <p:cNvSpPr txBox="1"/>
          <p:nvPr/>
        </p:nvSpPr>
        <p:spPr>
          <a:xfrm>
            <a:off x="2971800" y="4745736"/>
            <a:ext cx="5760720" cy="658368"/>
          </a:xfrm>
          <a:prstGeom prst="rect">
            <a:avLst/>
          </a:prstGeom>
          <a:noFill/>
          <a:ln/>
        </p:spPr>
        <p:txBody>
          <a:bodyPr wrap="square" lIns="0" tIns="0" rIns="0" bIns="0" rtlCol="0" anchor="ctr"/>
          <a:lstStyle/>
          <a:p>
            <a:pPr indent="0" marL="0">
              <a:buNone/>
            </a:pPr>
            <a:r>
              <a:rPr lang="en-US" sz="1150" dirty="0">
                <a:solidFill>
                  <a:schemeClr val="tx1"/>
                </a:solidFill>
              </a:rPr>
              <a:t>R</a:t>
            </a:r>
            <a:r>
              <a:rPr lang="en-US" sz="1150" baseline="-40000" dirty="0">
                <a:solidFill>
                  <a:schemeClr val="tx1"/>
                </a:solidFill>
              </a:rPr>
              <a:t>a</a:t>
            </a:r>
            <a:r>
              <a:rPr lang="en-US" sz="1150" dirty="0">
                <a:solidFill>
                  <a:schemeClr val="tx1"/>
                </a:solidFill>
              </a:rPr>
              <a:t>(lat, DOY) → R</a:t>
            </a:r>
            <a:r>
              <a:rPr lang="en-US" sz="1150" baseline="-40000" dirty="0">
                <a:solidFill>
                  <a:schemeClr val="tx1"/>
                </a:solidFill>
              </a:rPr>
              <a:t>s</a:t>
            </a:r>
            <a:r>
              <a:rPr lang="en-US" sz="1150" dirty="0">
                <a:solidFill>
                  <a:schemeClr val="tx1"/>
                </a:solidFill>
              </a:rPr>
              <a:t> = (0.25 + 0.5n/N)R</a:t>
            </a:r>
            <a:r>
              <a:rPr lang="en-US" sz="1150" baseline="-40000" dirty="0">
                <a:solidFill>
                  <a:schemeClr val="tx1"/>
                </a:solidFill>
              </a:rPr>
              <a:t>a</a:t>
            </a:r>
            <a:r>
              <a:rPr lang="en-US" sz="1150" dirty="0">
                <a:solidFill>
                  <a:schemeClr val="tx1"/>
                </a:solidFill>
              </a:rPr>
              <a:t>;  R</a:t>
            </a:r>
            <a:r>
              <a:rPr lang="en-US" sz="1150" baseline="-40000" dirty="0">
                <a:solidFill>
                  <a:schemeClr val="tx1"/>
                </a:solidFill>
              </a:rPr>
              <a:t>so</a:t>
            </a:r>
            <a:r>
              <a:rPr lang="en-US" sz="1150" dirty="0">
                <a:solidFill>
                  <a:schemeClr val="tx1"/>
                </a:solidFill>
              </a:rPr>
              <a:t> = (0.75 + 2×10⁻⁵z)R</a:t>
            </a:r>
            <a:r>
              <a:rPr lang="en-US" sz="1150" baseline="-40000" dirty="0">
                <a:solidFill>
                  <a:schemeClr val="tx1"/>
                </a:solidFill>
              </a:rPr>
              <a:t>a</a:t>
            </a:r>
            <a:r>
              <a:rPr lang="en-US" sz="1150" dirty="0">
                <a:solidFill>
                  <a:schemeClr val="tx1"/>
                </a:solidFill>
              </a:rPr>
              <a:t>;  R</a:t>
            </a:r>
            <a:r>
              <a:rPr lang="en-US" sz="1150" baseline="-40000" dirty="0">
                <a:solidFill>
                  <a:schemeClr val="tx1"/>
                </a:solidFill>
              </a:rPr>
              <a:t>ns</a:t>
            </a:r>
            <a:r>
              <a:rPr lang="en-US" sz="1150" dirty="0">
                <a:solidFill>
                  <a:schemeClr val="tx1"/>
                </a:solidFill>
              </a:rPr>
              <a:t> = 0.77R</a:t>
            </a:r>
            <a:r>
              <a:rPr lang="en-US" sz="1150" baseline="-40000" dirty="0">
                <a:solidFill>
                  <a:schemeClr val="tx1"/>
                </a:solidFill>
              </a:rPr>
              <a:t>s</a:t>
            </a:r>
            <a:endParaRPr lang="en-US" sz="1150" dirty="0"/>
          </a:p>
        </p:txBody>
      </p:sp>
      <p:sp>
        <p:nvSpPr>
          <p:cNvPr id="35" name="arrow"/>
          <p:cNvSpPr/>
          <p:nvPr/>
        </p:nvSpPr>
        <p:spPr>
          <a:xfrm flipV="1">
            <a:off x="8833104" y="3566160"/>
            <a:ext cx="356616" cy="1508760"/>
          </a:xfrm>
          <a:prstGeom prst="line">
            <a:avLst/>
          </a:prstGeom>
          <a:noFill/>
          <a:ln w="15875">
            <a:solidFill>
              <a:srgbClr val="1E2430"/>
            </a:solidFill>
            <a:prstDash val="solid"/>
            <a:tailEnd type="triangle"/>
          </a:ln>
        </p:spPr>
      </p:sp>
      <p:sp>
        <p:nvSpPr>
          <p:cNvPr id="36" name="diagram box"/>
          <p:cNvSpPr/>
          <p:nvPr/>
        </p:nvSpPr>
        <p:spPr>
          <a:xfrm>
            <a:off x="9235440" y="3063240"/>
            <a:ext cx="2404872" cy="1005840"/>
          </a:xfrm>
          <a:prstGeom prst="roundRect">
            <a:avLst>
              <a:gd name="adj" fmla="val 7273"/>
            </a:avLst>
          </a:prstGeom>
          <a:solidFill>
            <a:srgbClr val="2E7D4F"/>
          </a:solidFill>
          <a:ln/>
        </p:spPr>
      </p:sp>
      <p:sp>
        <p:nvSpPr>
          <p:cNvPr id="37" name="Text 34"/>
          <p:cNvSpPr txBox="1"/>
          <p:nvPr/>
        </p:nvSpPr>
        <p:spPr>
          <a:xfrm>
            <a:off x="9235440" y="3063240"/>
            <a:ext cx="2404872" cy="1005840"/>
          </a:xfrm>
          <a:prstGeom prst="rect">
            <a:avLst/>
          </a:prstGeom>
          <a:noFill/>
          <a:ln/>
        </p:spPr>
        <p:txBody>
          <a:bodyPr wrap="square" lIns="508" tIns="508" rIns="508" bIns="508" rtlCol="0" anchor="ctr"/>
          <a:lstStyle/>
          <a:p>
            <a:pPr algn="ctr" indent="0" marL="0">
              <a:buNone/>
            </a:pPr>
            <a:r>
              <a:rPr lang="en-US" sz="2000" b="1" dirty="0">
                <a:solidFill>
                  <a:schemeClr val="bg1"/>
                </a:solidFill>
              </a:rPr>
              <a:t>ET</a:t>
            </a:r>
            <a:r>
              <a:rPr lang="en-US" sz="2000" b="1" baseline="-40000" dirty="0">
                <a:solidFill>
                  <a:schemeClr val="bg1"/>
                </a:solidFill>
              </a:rPr>
              <a:t>0</a:t>
            </a:r>
            <a:endParaRPr lang="en-US" sz="2000" dirty="0"/>
          </a:p>
          <a:p>
            <a:pPr algn="ctr" indent="0" marL="0">
              <a:buNone/>
            </a:pPr>
            <a:r>
              <a:rPr lang="en-US" sz="1150" b="1" dirty="0">
                <a:solidFill>
                  <a:schemeClr val="bg1"/>
                </a:solidFill>
              </a:rPr>
              <a:t>FAO-56 PM (mm d⁻¹)</a:t>
            </a:r>
            <a:endParaRPr lang="en-US" sz="2000" dirty="0"/>
          </a:p>
        </p:txBody>
      </p:sp>
      <p:sp>
        <p:nvSpPr>
          <p:cNvPr id="38" name="card"/>
          <p:cNvSpPr/>
          <p:nvPr/>
        </p:nvSpPr>
        <p:spPr>
          <a:xfrm>
            <a:off x="9235440" y="1600200"/>
            <a:ext cx="2404872"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39" name="Text 36"/>
          <p:cNvSpPr txBox="1"/>
          <p:nvPr/>
        </p:nvSpPr>
        <p:spPr>
          <a:xfrm>
            <a:off x="9418320" y="1737360"/>
            <a:ext cx="2084832" cy="365760"/>
          </a:xfrm>
          <a:prstGeom prst="rect">
            <a:avLst/>
          </a:prstGeom>
          <a:noFill/>
          <a:ln/>
        </p:spPr>
        <p:txBody>
          <a:bodyPr wrap="square" lIns="0" tIns="0" rIns="0" bIns="0" rtlCol="0" anchor="ctr"/>
          <a:lstStyle/>
          <a:p>
            <a:pPr indent="0" marL="0">
              <a:buNone/>
            </a:pPr>
            <a:r>
              <a:rPr lang="en-US" sz="1250" b="1" dirty="0">
                <a:solidFill>
                  <a:schemeClr val="tx2"/>
                </a:solidFill>
              </a:rPr>
              <a:t>Net longwave</a:t>
            </a:r>
            <a:endParaRPr lang="en-US" sz="1250" dirty="0"/>
          </a:p>
        </p:txBody>
      </p:sp>
      <p:sp>
        <p:nvSpPr>
          <p:cNvPr id="40" name="Text 37"/>
          <p:cNvSpPr txBox="1"/>
          <p:nvPr/>
        </p:nvSpPr>
        <p:spPr>
          <a:xfrm>
            <a:off x="9418320" y="2148840"/>
            <a:ext cx="2039112" cy="685800"/>
          </a:xfrm>
          <a:prstGeom prst="rect">
            <a:avLst/>
          </a:prstGeom>
          <a:noFill/>
          <a:ln/>
        </p:spPr>
        <p:txBody>
          <a:bodyPr wrap="square" lIns="508" tIns="508" rIns="508" bIns="508" rtlCol="0" anchor="t"/>
          <a:lstStyle/>
          <a:p>
            <a:pPr indent="0" marL="0">
              <a:spcAft>
                <a:spcPts val="400"/>
              </a:spcAft>
              <a:buNone/>
            </a:pPr>
            <a:r>
              <a:rPr lang="en-US" sz="1050" dirty="0">
                <a:solidFill>
                  <a:schemeClr val="tx1"/>
                </a:solidFill>
              </a:rPr>
              <a:t>R</a:t>
            </a:r>
            <a:r>
              <a:rPr lang="en-US" sz="1050" baseline="-40000" dirty="0">
                <a:solidFill>
                  <a:schemeClr val="tx1"/>
                </a:solidFill>
              </a:rPr>
              <a:t>nl</a:t>
            </a:r>
            <a:r>
              <a:rPr lang="en-US" sz="1050" dirty="0">
                <a:solidFill>
                  <a:schemeClr val="tx1"/>
                </a:solidFill>
              </a:rPr>
              <a:t> = σ[(T</a:t>
            </a:r>
            <a:r>
              <a:rPr lang="en-US" sz="1050" baseline="-40000" dirty="0">
                <a:solidFill>
                  <a:schemeClr val="tx1"/>
                </a:solidFill>
              </a:rPr>
              <a:t>max,K</a:t>
            </a:r>
            <a:r>
              <a:rPr lang="en-US" sz="1050" dirty="0">
                <a:solidFill>
                  <a:schemeClr val="tx1"/>
                </a:solidFill>
              </a:rPr>
              <a:t>⁴ + T</a:t>
            </a:r>
            <a:r>
              <a:rPr lang="en-US" sz="1050" baseline="-40000" dirty="0">
                <a:solidFill>
                  <a:schemeClr val="tx1"/>
                </a:solidFill>
              </a:rPr>
              <a:t>min,K</a:t>
            </a:r>
            <a:r>
              <a:rPr lang="en-US" sz="1050" dirty="0">
                <a:solidFill>
                  <a:schemeClr val="tx1"/>
                </a:solidFill>
              </a:rPr>
              <a:t>⁴)/2](0.34 − 0.14√e</a:t>
            </a:r>
            <a:r>
              <a:rPr lang="en-US" sz="1050" baseline="-40000" dirty="0">
                <a:solidFill>
                  <a:schemeClr val="tx1"/>
                </a:solidFill>
              </a:rPr>
              <a:t>a</a:t>
            </a:r>
            <a:r>
              <a:rPr lang="en-US" sz="1050" dirty="0">
                <a:solidFill>
                  <a:schemeClr val="tx1"/>
                </a:solidFill>
              </a:rPr>
              <a:t>)(1.35R</a:t>
            </a:r>
            <a:r>
              <a:rPr lang="en-US" sz="1050" baseline="-40000" dirty="0">
                <a:solidFill>
                  <a:schemeClr val="tx1"/>
                </a:solidFill>
              </a:rPr>
              <a:t>s</a:t>
            </a:r>
            <a:r>
              <a:rPr lang="en-US" sz="1050" dirty="0">
                <a:solidFill>
                  <a:schemeClr val="tx1"/>
                </a:solidFill>
              </a:rPr>
              <a:t>/R</a:t>
            </a:r>
            <a:r>
              <a:rPr lang="en-US" sz="1050" baseline="-40000" dirty="0">
                <a:solidFill>
                  <a:schemeClr val="tx1"/>
                </a:solidFill>
              </a:rPr>
              <a:t>so</a:t>
            </a:r>
            <a:r>
              <a:rPr lang="en-US" sz="1050" dirty="0">
                <a:solidFill>
                  <a:schemeClr val="tx1"/>
                </a:solidFill>
              </a:rPr>
              <a:t> − 0.35)</a:t>
            </a:r>
            <a:endParaRPr lang="en-US" sz="1050" dirty="0"/>
          </a:p>
        </p:txBody>
      </p:sp>
      <p:sp>
        <p:nvSpPr>
          <p:cNvPr id="41" name="card"/>
          <p:cNvSpPr/>
          <p:nvPr/>
        </p:nvSpPr>
        <p:spPr>
          <a:xfrm>
            <a:off x="9235440" y="4206240"/>
            <a:ext cx="2404872" cy="1234440"/>
          </a:xfrm>
          <a:prstGeom prst="roundRect">
            <a:avLst>
              <a:gd name="adj" fmla="val 5926"/>
            </a:avLst>
          </a:prstGeom>
          <a:solidFill>
            <a:schemeClr val="bg2"/>
          </a:solidFill>
          <a:ln/>
          <a:effectLst>
            <a:outerShdw sx="100000" sy="100000" kx="0" ky="0" algn="bl" rotWithShape="0" blurRad="76200" dist="25400" dir="5400000">
              <a:srgbClr val="000000">
                <a:alpha val="14000"/>
              </a:srgbClr>
            </a:outerShdw>
          </a:effectLst>
        </p:spPr>
      </p:sp>
      <p:sp>
        <p:nvSpPr>
          <p:cNvPr id="42" name="Text 39"/>
          <p:cNvSpPr txBox="1"/>
          <p:nvPr/>
        </p:nvSpPr>
        <p:spPr>
          <a:xfrm>
            <a:off x="9418320" y="4343400"/>
            <a:ext cx="2084832" cy="365760"/>
          </a:xfrm>
          <a:prstGeom prst="rect">
            <a:avLst/>
          </a:prstGeom>
          <a:noFill/>
          <a:ln/>
        </p:spPr>
        <p:txBody>
          <a:bodyPr wrap="square" lIns="0" tIns="0" rIns="0" bIns="0" rtlCol="0" anchor="ctr"/>
          <a:lstStyle/>
          <a:p>
            <a:pPr indent="0" marL="0">
              <a:buNone/>
            </a:pPr>
            <a:r>
              <a:rPr lang="en-US" sz="1250" b="1" dirty="0">
                <a:solidFill>
                  <a:schemeClr val="tx2"/>
                </a:solidFill>
              </a:rPr>
              <a:t>Then</a:t>
            </a:r>
            <a:endParaRPr lang="en-US" sz="1250" dirty="0"/>
          </a:p>
        </p:txBody>
      </p:sp>
      <p:sp>
        <p:nvSpPr>
          <p:cNvPr id="43" name="Text 40"/>
          <p:cNvSpPr txBox="1"/>
          <p:nvPr/>
        </p:nvSpPr>
        <p:spPr>
          <a:xfrm>
            <a:off x="9418320" y="4754880"/>
            <a:ext cx="2039112" cy="594360"/>
          </a:xfrm>
          <a:prstGeom prst="rect">
            <a:avLst/>
          </a:prstGeom>
          <a:noFill/>
          <a:ln/>
        </p:spPr>
        <p:txBody>
          <a:bodyPr wrap="square" lIns="508" tIns="508" rIns="508" bIns="508" rtlCol="0" anchor="t"/>
          <a:lstStyle/>
          <a:p>
            <a:pPr indent="0" marL="0">
              <a:spcAft>
                <a:spcPts val="400"/>
              </a:spcAft>
              <a:buNone/>
            </a:pPr>
            <a:r>
              <a:rPr lang="en-US" sz="1150" dirty="0">
                <a:solidFill>
                  <a:schemeClr val="tx1"/>
                </a:solidFill>
              </a:rPr>
              <a:t>R</a:t>
            </a:r>
            <a:r>
              <a:rPr lang="en-US" sz="1150" baseline="-40000" dirty="0">
                <a:solidFill>
                  <a:schemeClr val="tx1"/>
                </a:solidFill>
              </a:rPr>
              <a:t>n</a:t>
            </a:r>
            <a:r>
              <a:rPr lang="en-US" sz="1150" dirty="0">
                <a:solidFill>
                  <a:schemeClr val="tx1"/>
                </a:solidFill>
              </a:rPr>
              <a:t> = R</a:t>
            </a:r>
            <a:r>
              <a:rPr lang="en-US" sz="1150" baseline="-40000" dirty="0">
                <a:solidFill>
                  <a:schemeClr val="tx1"/>
                </a:solidFill>
              </a:rPr>
              <a:t>ns</a:t>
            </a:r>
            <a:r>
              <a:rPr lang="en-US" sz="1150" dirty="0">
                <a:solidFill>
                  <a:schemeClr val="tx1"/>
                </a:solidFill>
              </a:rPr>
              <a:t> − R</a:t>
            </a:r>
            <a:r>
              <a:rPr lang="en-US" sz="1150" baseline="-40000" dirty="0">
                <a:solidFill>
                  <a:schemeClr val="tx1"/>
                </a:solidFill>
              </a:rPr>
              <a:t>nl</a:t>
            </a:r>
            <a:r>
              <a:rPr lang="en-US" sz="1150" dirty="0">
                <a:solidFill>
                  <a:schemeClr val="tx1"/>
                </a:solidFill>
              </a:rPr>
              <a:t>; G</a:t>
            </a:r>
            <a:r>
              <a:rPr lang="en-US" sz="1150" baseline="-40000" dirty="0">
                <a:solidFill>
                  <a:schemeClr val="tx1"/>
                </a:solidFill>
              </a:rPr>
              <a:t>day</a:t>
            </a:r>
            <a:r>
              <a:rPr lang="en-US" sz="1150" dirty="0">
                <a:solidFill>
                  <a:schemeClr val="tx1"/>
                </a:solidFill>
              </a:rPr>
              <a:t> ≈ 0; insert in PM</a:t>
            </a:r>
            <a:endParaRPr lang="en-US" sz="1150" dirty="0"/>
          </a:p>
        </p:txBody>
      </p:sp>
      <p:sp>
        <p:nvSpPr>
          <p:cNvPr id="44" name="insight"/>
          <p:cNvSpPr/>
          <p:nvPr/>
        </p:nvSpPr>
        <p:spPr>
          <a:xfrm>
            <a:off x="548640" y="5623560"/>
            <a:ext cx="11094415" cy="594360"/>
          </a:xfrm>
          <a:prstGeom prst="roundRect">
            <a:avLst>
              <a:gd name="adj" fmla="val 12308"/>
            </a:avLst>
          </a:prstGeom>
          <a:solidFill>
            <a:schemeClr val="bg2"/>
          </a:solidFill>
          <a:ln/>
        </p:spPr>
      </p:sp>
      <p:sp>
        <p:nvSpPr>
          <p:cNvPr id="45" name="icon circle"/>
          <p:cNvSpPr/>
          <p:nvPr/>
        </p:nvSpPr>
        <p:spPr>
          <a:xfrm>
            <a:off x="685800" y="5682996"/>
            <a:ext cx="475488" cy="475488"/>
          </a:xfrm>
          <a:prstGeom prst="ellipse">
            <a:avLst/>
          </a:prstGeom>
          <a:solidFill>
            <a:schemeClr val="accent3"/>
          </a:solidFill>
          <a:ln/>
        </p:spPr>
      </p:sp>
      <p:pic>
        <p:nvPicPr>
          <p:cNvPr id="46" name="Image 0" descr="Lightbulb icon">    </p:cNvPr>
          <p:cNvPicPr>
            <a:picLocks noChangeAspect="1"/>
          </p:cNvPicPr>
          <p:nvPr/>
        </p:nvPicPr>
        <p:blipFill>
          <a:blip r:embed="rId1"/>
          <a:stretch>
            <a:fillRect/>
          </a:stretch>
        </p:blipFill>
        <p:spPr>
          <a:xfrm>
            <a:off x="809427" y="5806623"/>
            <a:ext cx="228234" cy="228234"/>
          </a:xfrm>
          <a:prstGeom prst="rect">
            <a:avLst/>
          </a:prstGeom>
        </p:spPr>
      </p:pic>
      <p:sp>
        <p:nvSpPr>
          <p:cNvPr id="47" name="Text 43"/>
          <p:cNvSpPr txBox="1"/>
          <p:nvPr/>
        </p:nvSpPr>
        <p:spPr>
          <a:xfrm>
            <a:off x="1325880" y="5660136"/>
            <a:ext cx="10180015" cy="52120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Tips:</a:t>
            </a:r>
            <a:r>
              <a:rPr lang="en-US" sz="1350" dirty="0">
                <a:solidFill>
                  <a:schemeClr val="tx1"/>
                </a:solidFill>
              </a:rPr>
              <a:t> e</a:t>
            </a:r>
            <a:r>
              <a:rPr lang="en-US" sz="1350" baseline="-40000" dirty="0">
                <a:solidFill>
                  <a:schemeClr val="tx1"/>
                </a:solidFill>
              </a:rPr>
              <a:t>s</a:t>
            </a:r>
            <a:r>
              <a:rPr lang="en-US" sz="1350" dirty="0">
                <a:solidFill>
                  <a:schemeClr val="tx1"/>
                </a:solidFill>
              </a:rPr>
              <a:t> uses the mean of e° at T</a:t>
            </a:r>
            <a:r>
              <a:rPr lang="en-US" sz="1350" baseline="-40000" dirty="0">
                <a:solidFill>
                  <a:schemeClr val="tx1"/>
                </a:solidFill>
              </a:rPr>
              <a:t>max</a:t>
            </a:r>
            <a:r>
              <a:rPr lang="en-US" sz="1350" dirty="0">
                <a:solidFill>
                  <a:schemeClr val="tx1"/>
                </a:solidFill>
              </a:rPr>
              <a:t> and T</a:t>
            </a:r>
            <a:r>
              <a:rPr lang="en-US" sz="1350" baseline="-40000" dirty="0">
                <a:solidFill>
                  <a:schemeClr val="tx1"/>
                </a:solidFill>
              </a:rPr>
              <a:t>min</a:t>
            </a:r>
            <a:r>
              <a:rPr lang="en-US" sz="1350" dirty="0">
                <a:solidFill>
                  <a:schemeClr val="tx1"/>
                </a:solidFill>
              </a:rPr>
              <a:t> (non-linear curve) · if data are missing use T-based R</a:t>
            </a:r>
            <a:r>
              <a:rPr lang="en-US" sz="1350" baseline="-40000" dirty="0">
                <a:solidFill>
                  <a:schemeClr val="tx1"/>
                </a:solidFill>
              </a:rPr>
              <a:t>s</a:t>
            </a:r>
            <a:r>
              <a:rPr lang="en-US" sz="1350" dirty="0">
                <a:solidFill>
                  <a:schemeClr val="tx1"/>
                </a:solidFill>
              </a:rPr>
              <a:t> (Hargreaves k</a:t>
            </a:r>
            <a:r>
              <a:rPr lang="en-US" sz="1350" baseline="-40000" dirty="0">
                <a:solidFill>
                  <a:schemeClr val="tx1"/>
                </a:solidFill>
              </a:rPr>
              <a:t>Rs</a:t>
            </a:r>
            <a:r>
              <a:rPr lang="en-US" sz="1350" dirty="0">
                <a:solidFill>
                  <a:schemeClr val="tx1"/>
                </a:solidFill>
              </a:rPr>
              <a:t>), e</a:t>
            </a:r>
            <a:r>
              <a:rPr lang="en-US" sz="1350" baseline="-40000" dirty="0">
                <a:solidFill>
                  <a:schemeClr val="tx1"/>
                </a:solidFill>
              </a:rPr>
              <a:t>a</a:t>
            </a:r>
            <a:r>
              <a:rPr lang="en-US" sz="1350" dirty="0">
                <a:solidFill>
                  <a:schemeClr val="tx1"/>
                </a:solidFill>
              </a:rPr>
              <a:t> from T</a:t>
            </a:r>
            <a:r>
              <a:rPr lang="en-US" sz="1350" baseline="-40000" dirty="0">
                <a:solidFill>
                  <a:schemeClr val="tx1"/>
                </a:solidFill>
              </a:rPr>
              <a:t>min</a:t>
            </a:r>
            <a:r>
              <a:rPr lang="en-US" sz="1350" dirty="0">
                <a:solidFill>
                  <a:schemeClr val="tx1"/>
                </a:solidFill>
              </a:rPr>
              <a:t>, or u</a:t>
            </a:r>
            <a:r>
              <a:rPr lang="en-US" sz="1350" baseline="-40000" dirty="0">
                <a:solidFill>
                  <a:schemeClr val="tx1"/>
                </a:solidFill>
              </a:rPr>
              <a:t>2</a:t>
            </a:r>
            <a:r>
              <a:rPr lang="en-US" sz="1350" dirty="0">
                <a:solidFill>
                  <a:schemeClr val="tx1"/>
                </a:solidFill>
              </a:rPr>
              <a:t> = 2 m s⁻¹ · ET</a:t>
            </a:r>
            <a:r>
              <a:rPr lang="en-US" sz="1350" baseline="-40000" dirty="0">
                <a:solidFill>
                  <a:schemeClr val="tx1"/>
                </a:solidFill>
              </a:rPr>
              <a:t>0</a:t>
            </a:r>
            <a:r>
              <a:rPr lang="en-US" sz="1350" dirty="0">
                <a:solidFill>
                  <a:schemeClr val="tx1"/>
                </a:solidFill>
              </a:rPr>
              <a:t> grids for India come from IMD station or reanalysis data</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FAO-56 crop coefficient and water stress</a:t>
            </a:r>
            <a:endParaRPr lang="en-US" sz="3200" dirty="0"/>
          </a:p>
        </p:txBody>
      </p:sp>
      <p:sp>
        <p:nvSpPr>
          <p:cNvPr id="4" name="card"/>
          <p:cNvSpPr/>
          <p:nvPr/>
        </p:nvSpPr>
        <p:spPr>
          <a:xfrm>
            <a:off x="548640" y="1280160"/>
            <a:ext cx="6400800" cy="4114800"/>
          </a:xfrm>
          <a:prstGeom prst="roundRect">
            <a:avLst>
              <a:gd name="adj" fmla="val 1778"/>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4572000" cy="320040"/>
          </a:xfrm>
          <a:prstGeom prst="rect">
            <a:avLst/>
          </a:prstGeom>
          <a:noFill/>
          <a:ln/>
        </p:spPr>
        <p:txBody>
          <a:bodyPr wrap="square" lIns="0" tIns="0" rIns="0" bIns="0" rtlCol="0" anchor="ctr"/>
          <a:lstStyle/>
          <a:p>
            <a:pPr algn="l" indent="0" marL="0">
              <a:buNone/>
            </a:pPr>
            <a:r>
              <a:rPr lang="en-US" sz="1300" b="1" dirty="0">
                <a:solidFill>
                  <a:schemeClr val="tx2"/>
                </a:solidFill>
              </a:rPr>
              <a:t>Kc curve (single coefficient)</a:t>
            </a:r>
            <a:endParaRPr lang="en-US" sz="1300" dirty="0"/>
          </a:p>
        </p:txBody>
      </p:sp>
      <p:sp>
        <p:nvSpPr>
          <p:cNvPr id="6" name="arrow"/>
          <p:cNvSpPr/>
          <p:nvPr/>
        </p:nvSpPr>
        <p:spPr>
          <a:xfrm>
            <a:off x="1051560" y="4709160"/>
            <a:ext cx="5486400" cy="0"/>
          </a:xfrm>
          <a:prstGeom prst="line">
            <a:avLst/>
          </a:prstGeom>
          <a:noFill/>
          <a:ln w="19050">
            <a:solidFill>
              <a:srgbClr val="1E2430"/>
            </a:solidFill>
            <a:prstDash val="solid"/>
          </a:ln>
        </p:spPr>
      </p:sp>
      <p:sp>
        <p:nvSpPr>
          <p:cNvPr id="7" name="arrow"/>
          <p:cNvSpPr/>
          <p:nvPr/>
        </p:nvSpPr>
        <p:spPr>
          <a:xfrm flipV="1">
            <a:off x="1051560" y="2011680"/>
            <a:ext cx="0" cy="2697480"/>
          </a:xfrm>
          <a:prstGeom prst="line">
            <a:avLst/>
          </a:prstGeom>
          <a:noFill/>
          <a:ln w="19050">
            <a:solidFill>
              <a:srgbClr val="1E2430"/>
            </a:solidFill>
            <a:prstDash val="solid"/>
          </a:ln>
        </p:spPr>
      </p:sp>
      <p:sp>
        <p:nvSpPr>
          <p:cNvPr id="8" name="arrow"/>
          <p:cNvSpPr/>
          <p:nvPr/>
        </p:nvSpPr>
        <p:spPr>
          <a:xfrm>
            <a:off x="1051560" y="4086665"/>
            <a:ext cx="1005840" cy="0"/>
          </a:xfrm>
          <a:prstGeom prst="line">
            <a:avLst/>
          </a:prstGeom>
          <a:noFill/>
          <a:ln w="44450">
            <a:solidFill>
              <a:srgbClr val="2E7D4F"/>
            </a:solidFill>
            <a:prstDash val="solid"/>
          </a:ln>
        </p:spPr>
      </p:sp>
      <p:sp>
        <p:nvSpPr>
          <p:cNvPr id="9" name="arrow"/>
          <p:cNvSpPr/>
          <p:nvPr/>
        </p:nvSpPr>
        <p:spPr>
          <a:xfrm flipV="1">
            <a:off x="2057400" y="2322928"/>
            <a:ext cx="1371600" cy="1763737"/>
          </a:xfrm>
          <a:prstGeom prst="line">
            <a:avLst/>
          </a:prstGeom>
          <a:noFill/>
          <a:ln w="44450">
            <a:solidFill>
              <a:srgbClr val="2E7D4F"/>
            </a:solidFill>
            <a:prstDash val="solid"/>
          </a:ln>
        </p:spPr>
      </p:sp>
      <p:sp>
        <p:nvSpPr>
          <p:cNvPr id="10" name="arrow"/>
          <p:cNvSpPr/>
          <p:nvPr/>
        </p:nvSpPr>
        <p:spPr>
          <a:xfrm>
            <a:off x="3429000" y="2322928"/>
            <a:ext cx="1828800" cy="0"/>
          </a:xfrm>
          <a:prstGeom prst="line">
            <a:avLst/>
          </a:prstGeom>
          <a:noFill/>
          <a:ln w="44450">
            <a:solidFill>
              <a:srgbClr val="2E7D4F"/>
            </a:solidFill>
            <a:prstDash val="solid"/>
          </a:ln>
        </p:spPr>
      </p:sp>
      <p:sp>
        <p:nvSpPr>
          <p:cNvPr id="11" name="arrow"/>
          <p:cNvSpPr/>
          <p:nvPr/>
        </p:nvSpPr>
        <p:spPr>
          <a:xfrm>
            <a:off x="5257800" y="2322928"/>
            <a:ext cx="1188720" cy="1659988"/>
          </a:xfrm>
          <a:prstGeom prst="line">
            <a:avLst/>
          </a:prstGeom>
          <a:noFill/>
          <a:ln w="44450">
            <a:solidFill>
              <a:srgbClr val="2E7D4F"/>
            </a:solidFill>
            <a:prstDash val="solid"/>
          </a:ln>
        </p:spPr>
      </p:sp>
      <p:sp>
        <p:nvSpPr>
          <p:cNvPr id="12" name="arrow"/>
          <p:cNvSpPr/>
          <p:nvPr/>
        </p:nvSpPr>
        <p:spPr>
          <a:xfrm flipV="1">
            <a:off x="2057400" y="2011680"/>
            <a:ext cx="0" cy="2697480"/>
          </a:xfrm>
          <a:prstGeom prst="line">
            <a:avLst/>
          </a:prstGeom>
          <a:noFill/>
          <a:ln w="12700">
            <a:solidFill>
              <a:srgbClr val="5C6B73"/>
            </a:solidFill>
            <a:prstDash val="dash"/>
          </a:ln>
        </p:spPr>
      </p:sp>
      <p:sp>
        <p:nvSpPr>
          <p:cNvPr id="13" name="arrow"/>
          <p:cNvSpPr/>
          <p:nvPr/>
        </p:nvSpPr>
        <p:spPr>
          <a:xfrm flipV="1">
            <a:off x="3429000" y="2011680"/>
            <a:ext cx="0" cy="2697480"/>
          </a:xfrm>
          <a:prstGeom prst="line">
            <a:avLst/>
          </a:prstGeom>
          <a:noFill/>
          <a:ln w="12700">
            <a:solidFill>
              <a:srgbClr val="5C6B73"/>
            </a:solidFill>
            <a:prstDash val="dash"/>
          </a:ln>
        </p:spPr>
      </p:sp>
      <p:sp>
        <p:nvSpPr>
          <p:cNvPr id="14" name="arrow"/>
          <p:cNvSpPr/>
          <p:nvPr/>
        </p:nvSpPr>
        <p:spPr>
          <a:xfrm flipV="1">
            <a:off x="5257800" y="2011680"/>
            <a:ext cx="0" cy="2697480"/>
          </a:xfrm>
          <a:prstGeom prst="line">
            <a:avLst/>
          </a:prstGeom>
          <a:noFill/>
          <a:ln w="12700">
            <a:solidFill>
              <a:srgbClr val="5C6B73"/>
            </a:solidFill>
            <a:prstDash val="dash"/>
          </a:ln>
        </p:spPr>
      </p:sp>
      <p:sp>
        <p:nvSpPr>
          <p:cNvPr id="15" name="Text 12"/>
          <p:cNvSpPr txBox="1"/>
          <p:nvPr/>
        </p:nvSpPr>
        <p:spPr>
          <a:xfrm>
            <a:off x="1051560" y="4754880"/>
            <a:ext cx="1005840" cy="274320"/>
          </a:xfrm>
          <a:prstGeom prst="rect">
            <a:avLst/>
          </a:prstGeom>
          <a:noFill/>
          <a:ln/>
        </p:spPr>
        <p:txBody>
          <a:bodyPr wrap="square" lIns="0" tIns="0" rIns="0" bIns="0" rtlCol="0" anchor="ctr"/>
          <a:lstStyle/>
          <a:p>
            <a:pPr algn="ctr" indent="0" marL="0">
              <a:buNone/>
            </a:pPr>
            <a:r>
              <a:rPr lang="en-US" sz="1100" dirty="0">
                <a:solidFill>
                  <a:schemeClr val="accent6"/>
                </a:solidFill>
              </a:rPr>
              <a:t>Initial</a:t>
            </a:r>
            <a:endParaRPr lang="en-US" sz="1100" dirty="0"/>
          </a:p>
        </p:txBody>
      </p:sp>
      <p:sp>
        <p:nvSpPr>
          <p:cNvPr id="16" name="Text 13"/>
          <p:cNvSpPr txBox="1"/>
          <p:nvPr/>
        </p:nvSpPr>
        <p:spPr>
          <a:xfrm>
            <a:off x="2057400" y="4754880"/>
            <a:ext cx="1371600" cy="274320"/>
          </a:xfrm>
          <a:prstGeom prst="rect">
            <a:avLst/>
          </a:prstGeom>
          <a:noFill/>
          <a:ln/>
        </p:spPr>
        <p:txBody>
          <a:bodyPr wrap="square" lIns="0" tIns="0" rIns="0" bIns="0" rtlCol="0" anchor="ctr"/>
          <a:lstStyle/>
          <a:p>
            <a:pPr algn="ctr" indent="0" marL="0">
              <a:buNone/>
            </a:pPr>
            <a:r>
              <a:rPr lang="en-US" sz="1100" dirty="0">
                <a:solidFill>
                  <a:schemeClr val="accent6"/>
                </a:solidFill>
              </a:rPr>
              <a:t>Development</a:t>
            </a:r>
            <a:endParaRPr lang="en-US" sz="1100" dirty="0"/>
          </a:p>
        </p:txBody>
      </p:sp>
      <p:sp>
        <p:nvSpPr>
          <p:cNvPr id="17" name="Text 14"/>
          <p:cNvSpPr txBox="1"/>
          <p:nvPr/>
        </p:nvSpPr>
        <p:spPr>
          <a:xfrm>
            <a:off x="3429000" y="4754880"/>
            <a:ext cx="1828800" cy="274320"/>
          </a:xfrm>
          <a:prstGeom prst="rect">
            <a:avLst/>
          </a:prstGeom>
          <a:noFill/>
          <a:ln/>
        </p:spPr>
        <p:txBody>
          <a:bodyPr wrap="square" lIns="0" tIns="0" rIns="0" bIns="0" rtlCol="0" anchor="ctr"/>
          <a:lstStyle/>
          <a:p>
            <a:pPr algn="ctr" indent="0" marL="0">
              <a:buNone/>
            </a:pPr>
            <a:r>
              <a:rPr lang="en-US" sz="1100" dirty="0">
                <a:solidFill>
                  <a:schemeClr val="accent6"/>
                </a:solidFill>
              </a:rPr>
              <a:t>Mid-season</a:t>
            </a:r>
            <a:endParaRPr lang="en-US" sz="1100" dirty="0"/>
          </a:p>
        </p:txBody>
      </p:sp>
      <p:sp>
        <p:nvSpPr>
          <p:cNvPr id="18" name="Text 15"/>
          <p:cNvSpPr txBox="1"/>
          <p:nvPr/>
        </p:nvSpPr>
        <p:spPr>
          <a:xfrm>
            <a:off x="5257800" y="4754880"/>
            <a:ext cx="1188720" cy="274320"/>
          </a:xfrm>
          <a:prstGeom prst="rect">
            <a:avLst/>
          </a:prstGeom>
          <a:noFill/>
          <a:ln/>
        </p:spPr>
        <p:txBody>
          <a:bodyPr wrap="square" lIns="0" tIns="0" rIns="0" bIns="0" rtlCol="0" anchor="ctr"/>
          <a:lstStyle/>
          <a:p>
            <a:pPr algn="ctr" indent="0" marL="0">
              <a:buNone/>
            </a:pPr>
            <a:r>
              <a:rPr lang="en-US" sz="1100" dirty="0">
                <a:solidFill>
                  <a:schemeClr val="accent6"/>
                </a:solidFill>
              </a:rPr>
              <a:t>Late</a:t>
            </a:r>
            <a:endParaRPr lang="en-US" sz="1100" dirty="0"/>
          </a:p>
        </p:txBody>
      </p:sp>
      <p:sp>
        <p:nvSpPr>
          <p:cNvPr id="19" name="Text 16"/>
          <p:cNvSpPr txBox="1"/>
          <p:nvPr/>
        </p:nvSpPr>
        <p:spPr>
          <a:xfrm>
            <a:off x="1234440" y="3739193"/>
            <a:ext cx="731520" cy="274320"/>
          </a:xfrm>
          <a:prstGeom prst="rect">
            <a:avLst/>
          </a:prstGeom>
          <a:noFill/>
          <a:ln/>
        </p:spPr>
        <p:txBody>
          <a:bodyPr wrap="square" lIns="0" tIns="0" rIns="0" bIns="0" rtlCol="0" anchor="ctr"/>
          <a:lstStyle/>
          <a:p>
            <a:pPr algn="l" indent="0" marL="0">
              <a:buNone/>
            </a:pPr>
            <a:r>
              <a:rPr lang="en-US" sz="1200" b="1" dirty="0">
                <a:solidFill>
                  <a:schemeClr val="accent1"/>
                </a:solidFill>
              </a:rPr>
              <a:t>Kc</a:t>
            </a:r>
            <a:r>
              <a:rPr lang="en-US" sz="1200" b="1" baseline="-40000" dirty="0">
                <a:solidFill>
                  <a:schemeClr val="accent1"/>
                </a:solidFill>
              </a:rPr>
              <a:t>ini</a:t>
            </a:r>
            <a:endParaRPr lang="en-US" sz="1200" dirty="0"/>
          </a:p>
        </p:txBody>
      </p:sp>
      <p:sp>
        <p:nvSpPr>
          <p:cNvPr id="20" name="Text 17"/>
          <p:cNvSpPr txBox="1"/>
          <p:nvPr/>
        </p:nvSpPr>
        <p:spPr>
          <a:xfrm>
            <a:off x="3977640" y="1975456"/>
            <a:ext cx="731520" cy="274320"/>
          </a:xfrm>
          <a:prstGeom prst="rect">
            <a:avLst/>
          </a:prstGeom>
          <a:noFill/>
          <a:ln/>
        </p:spPr>
        <p:txBody>
          <a:bodyPr wrap="square" lIns="0" tIns="0" rIns="0" bIns="0" rtlCol="0" anchor="ctr"/>
          <a:lstStyle/>
          <a:p>
            <a:pPr algn="l" indent="0" marL="0">
              <a:buNone/>
            </a:pPr>
            <a:r>
              <a:rPr lang="en-US" sz="1200" b="1" dirty="0">
                <a:solidFill>
                  <a:schemeClr val="accent1"/>
                </a:solidFill>
              </a:rPr>
              <a:t>Kc</a:t>
            </a:r>
            <a:r>
              <a:rPr lang="en-US" sz="1200" b="1" baseline="-40000" dirty="0">
                <a:solidFill>
                  <a:schemeClr val="accent1"/>
                </a:solidFill>
              </a:rPr>
              <a:t>mid</a:t>
            </a:r>
            <a:endParaRPr lang="en-US" sz="1200" dirty="0"/>
          </a:p>
        </p:txBody>
      </p:sp>
      <p:sp>
        <p:nvSpPr>
          <p:cNvPr id="21" name="Text 18"/>
          <p:cNvSpPr txBox="1"/>
          <p:nvPr/>
        </p:nvSpPr>
        <p:spPr>
          <a:xfrm>
            <a:off x="5715000" y="3635443"/>
            <a:ext cx="731520" cy="274320"/>
          </a:xfrm>
          <a:prstGeom prst="rect">
            <a:avLst/>
          </a:prstGeom>
          <a:noFill/>
          <a:ln/>
        </p:spPr>
        <p:txBody>
          <a:bodyPr wrap="square" lIns="0" tIns="0" rIns="0" bIns="0" rtlCol="0" anchor="ctr"/>
          <a:lstStyle/>
          <a:p>
            <a:pPr algn="l" indent="0" marL="0">
              <a:buNone/>
            </a:pPr>
            <a:r>
              <a:rPr lang="en-US" sz="1200" b="1" dirty="0">
                <a:solidFill>
                  <a:schemeClr val="accent1"/>
                </a:solidFill>
              </a:rPr>
              <a:t>Kc</a:t>
            </a:r>
            <a:r>
              <a:rPr lang="en-US" sz="1200" b="1" baseline="-40000" dirty="0">
                <a:solidFill>
                  <a:schemeClr val="accent1"/>
                </a:solidFill>
              </a:rPr>
              <a:t>end</a:t>
            </a:r>
            <a:endParaRPr lang="en-US" sz="1200" dirty="0"/>
          </a:p>
        </p:txBody>
      </p:sp>
      <p:sp>
        <p:nvSpPr>
          <p:cNvPr id="22" name="Text 19"/>
          <p:cNvSpPr txBox="1"/>
          <p:nvPr/>
        </p:nvSpPr>
        <p:spPr>
          <a:xfrm>
            <a:off x="640080" y="4581144"/>
            <a:ext cx="347472" cy="256032"/>
          </a:xfrm>
          <a:prstGeom prst="rect">
            <a:avLst/>
          </a:prstGeom>
          <a:noFill/>
          <a:ln/>
        </p:spPr>
        <p:txBody>
          <a:bodyPr wrap="square" lIns="0" tIns="0" rIns="0" bIns="0" rtlCol="0" anchor="ctr"/>
          <a:lstStyle/>
          <a:p>
            <a:pPr algn="r" indent="0" marL="0">
              <a:buNone/>
            </a:pPr>
            <a:r>
              <a:rPr lang="en-US" sz="1000" dirty="0">
                <a:solidFill>
                  <a:schemeClr val="accent6"/>
                </a:solidFill>
              </a:rPr>
              <a:t>0.0</a:t>
            </a:r>
            <a:endParaRPr lang="en-US" sz="1000" dirty="0"/>
          </a:p>
        </p:txBody>
      </p:sp>
      <p:sp>
        <p:nvSpPr>
          <p:cNvPr id="23" name="Text 20"/>
          <p:cNvSpPr txBox="1"/>
          <p:nvPr/>
        </p:nvSpPr>
        <p:spPr>
          <a:xfrm>
            <a:off x="640080" y="3543652"/>
            <a:ext cx="347472" cy="256032"/>
          </a:xfrm>
          <a:prstGeom prst="rect">
            <a:avLst/>
          </a:prstGeom>
          <a:noFill/>
          <a:ln/>
        </p:spPr>
        <p:txBody>
          <a:bodyPr wrap="square" lIns="0" tIns="0" rIns="0" bIns="0" rtlCol="0" anchor="ctr"/>
          <a:lstStyle/>
          <a:p>
            <a:pPr algn="r" indent="0" marL="0">
              <a:buNone/>
            </a:pPr>
            <a:r>
              <a:rPr lang="en-US" sz="1000" dirty="0">
                <a:solidFill>
                  <a:schemeClr val="accent6"/>
                </a:solidFill>
              </a:rPr>
              <a:t>0.5</a:t>
            </a:r>
            <a:endParaRPr lang="en-US" sz="1000" dirty="0"/>
          </a:p>
        </p:txBody>
      </p:sp>
      <p:sp>
        <p:nvSpPr>
          <p:cNvPr id="24" name="Text 21"/>
          <p:cNvSpPr txBox="1"/>
          <p:nvPr/>
        </p:nvSpPr>
        <p:spPr>
          <a:xfrm>
            <a:off x="640080" y="2506159"/>
            <a:ext cx="347472" cy="256032"/>
          </a:xfrm>
          <a:prstGeom prst="rect">
            <a:avLst/>
          </a:prstGeom>
          <a:noFill/>
          <a:ln/>
        </p:spPr>
        <p:txBody>
          <a:bodyPr wrap="square" lIns="0" tIns="0" rIns="0" bIns="0" rtlCol="0" anchor="ctr"/>
          <a:lstStyle/>
          <a:p>
            <a:pPr algn="r" indent="0" marL="0">
              <a:buNone/>
            </a:pPr>
            <a:r>
              <a:rPr lang="en-US" sz="1000" dirty="0">
                <a:solidFill>
                  <a:schemeClr val="accent6"/>
                </a:solidFill>
              </a:rPr>
              <a:t>1.0</a:t>
            </a:r>
            <a:endParaRPr lang="en-US" sz="1000" dirty="0"/>
          </a:p>
        </p:txBody>
      </p:sp>
      <p:sp>
        <p:nvSpPr>
          <p:cNvPr id="25" name="Text 22"/>
          <p:cNvSpPr txBox="1"/>
          <p:nvPr/>
        </p:nvSpPr>
        <p:spPr>
          <a:xfrm>
            <a:off x="612648" y="1737360"/>
            <a:ext cx="365760" cy="256032"/>
          </a:xfrm>
          <a:prstGeom prst="rect">
            <a:avLst/>
          </a:prstGeom>
          <a:noFill/>
          <a:ln/>
        </p:spPr>
        <p:txBody>
          <a:bodyPr wrap="square" lIns="0" tIns="0" rIns="0" bIns="0" rtlCol="0" anchor="ctr"/>
          <a:lstStyle/>
          <a:p>
            <a:pPr algn="l" indent="0" marL="0">
              <a:buNone/>
            </a:pPr>
            <a:r>
              <a:rPr lang="en-US" sz="1200" b="1" dirty="0">
                <a:solidFill>
                  <a:schemeClr val="tx1"/>
                </a:solidFill>
              </a:rPr>
              <a:t>Kc</a:t>
            </a:r>
            <a:endParaRPr lang="en-US" sz="1200" dirty="0"/>
          </a:p>
        </p:txBody>
      </p:sp>
      <p:sp>
        <p:nvSpPr>
          <p:cNvPr id="26" name="Text 23"/>
          <p:cNvSpPr txBox="1"/>
          <p:nvPr/>
        </p:nvSpPr>
        <p:spPr>
          <a:xfrm>
            <a:off x="1097280" y="4159817"/>
            <a:ext cx="1463040" cy="457200"/>
          </a:xfrm>
          <a:prstGeom prst="rect">
            <a:avLst/>
          </a:prstGeom>
          <a:noFill/>
          <a:ln/>
        </p:spPr>
        <p:txBody>
          <a:bodyPr wrap="square" lIns="0" tIns="0" rIns="0" bIns="0" rtlCol="0" anchor="ctr"/>
          <a:lstStyle/>
          <a:p>
            <a:pPr algn="l" indent="0" marL="0">
              <a:buNone/>
            </a:pPr>
            <a:r>
              <a:rPr lang="en-US" sz="1000" i="1" dirty="0">
                <a:solidFill>
                  <a:schemeClr val="accent6"/>
                </a:solidFill>
              </a:rPr>
              <a:t>soil evaporation dominates</a:t>
            </a:r>
            <a:endParaRPr lang="en-US" sz="1000" dirty="0"/>
          </a:p>
        </p:txBody>
      </p:sp>
      <p:sp>
        <p:nvSpPr>
          <p:cNvPr id="27" name="Text 24"/>
          <p:cNvSpPr txBox="1"/>
          <p:nvPr/>
        </p:nvSpPr>
        <p:spPr>
          <a:xfrm>
            <a:off x="685800" y="5029200"/>
            <a:ext cx="6126480" cy="292608"/>
          </a:xfrm>
          <a:prstGeom prst="rect">
            <a:avLst/>
          </a:prstGeom>
          <a:noFill/>
          <a:ln/>
        </p:spPr>
        <p:txBody>
          <a:bodyPr wrap="square" lIns="0" tIns="0" rIns="0" bIns="0" rtlCol="0" anchor="ctr"/>
          <a:lstStyle/>
          <a:p>
            <a:pPr algn="l" indent="0" marL="0">
              <a:buNone/>
            </a:pPr>
            <a:r>
              <a:rPr lang="en-US" sz="1050" i="1" dirty="0">
                <a:solidFill>
                  <a:schemeClr val="accent6"/>
                </a:solidFill>
              </a:rPr>
              <a:t>Shape follows ground cover; values shown: spring wheat (FAO-56 Table 12)</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132320" y="1280160"/>
          <a:ext cx="4507992" cy="914400"/>
        </p:xfrm>
        <a:graphic>
          <a:graphicData uri="http://schemas.openxmlformats.org/drawingml/2006/table">
            <a:tbl>
              <a:tblPr/>
              <a:tblGrid>
                <a:gridCol w="1600200"/>
                <a:gridCol w="868680"/>
                <a:gridCol w="868680"/>
                <a:gridCol w="1170432"/>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Crop</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Kc ini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Kc mid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Kc end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Wheat (spring)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0.25–0.40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Rice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0.90–0.60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Maize (grain)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0.60–0.35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Sugarcane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29" name="card"/>
          <p:cNvSpPr/>
          <p:nvPr/>
        </p:nvSpPr>
        <p:spPr>
          <a:xfrm>
            <a:off x="7132320" y="3291840"/>
            <a:ext cx="4507992"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7315200" y="3447288"/>
            <a:ext cx="420624" cy="420624"/>
          </a:xfrm>
          <a:prstGeom prst="ellipse">
            <a:avLst/>
          </a:prstGeom>
          <a:solidFill>
            <a:schemeClr val="accent2"/>
          </a:solidFill>
          <a:ln/>
        </p:spPr>
      </p:sp>
      <p:pic>
        <p:nvPicPr>
          <p:cNvPr id="31" name="Image 0" descr="Tint icon">    </p:cNvPr>
          <p:cNvPicPr>
            <a:picLocks noChangeAspect="1"/>
          </p:cNvPicPr>
          <p:nvPr/>
        </p:nvPicPr>
        <p:blipFill>
          <a:blip r:embed="rId1"/>
          <a:stretch>
            <a:fillRect/>
          </a:stretch>
        </p:blipFill>
        <p:spPr>
          <a:xfrm>
            <a:off x="7424562" y="3556650"/>
            <a:ext cx="201900" cy="201900"/>
          </a:xfrm>
          <a:prstGeom prst="rect">
            <a:avLst/>
          </a:prstGeom>
        </p:spPr>
      </p:pic>
      <p:sp>
        <p:nvSpPr>
          <p:cNvPr id="32" name="Text 27"/>
          <p:cNvSpPr txBox="1"/>
          <p:nvPr/>
        </p:nvSpPr>
        <p:spPr>
          <a:xfrm>
            <a:off x="7845552" y="3429000"/>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Dual Kc and water stress</a:t>
            </a:r>
            <a:endParaRPr lang="en-US" sz="1600" dirty="0"/>
          </a:p>
        </p:txBody>
      </p:sp>
      <p:sp>
        <p:nvSpPr>
          <p:cNvPr id="33" name="Text 28"/>
          <p:cNvSpPr txBox="1"/>
          <p:nvPr/>
        </p:nvSpPr>
        <p:spPr>
          <a:xfrm>
            <a:off x="7315200" y="3977640"/>
            <a:ext cx="4142232" cy="1325880"/>
          </a:xfrm>
          <a:prstGeom prst="rect">
            <a:avLst/>
          </a:prstGeom>
          <a:noFill/>
          <a:ln/>
        </p:spPr>
        <p:txBody>
          <a:bodyPr wrap="square" lIns="508" tIns="508" rIns="508" bIns="508" rtlCol="0" anchor="t"/>
          <a:lstStyle/>
          <a:p>
            <a:pPr indent="0" marL="0">
              <a:spcAft>
                <a:spcPts val="400"/>
              </a:spcAft>
              <a:buNone/>
            </a:pPr>
            <a:r>
              <a:rPr lang="en-US" sz="1250" b="1" dirty="0">
                <a:solidFill>
                  <a:schemeClr val="tx1"/>
                </a:solidFill>
              </a:rPr>
              <a:t>ETc = (K</a:t>
            </a:r>
            <a:r>
              <a:rPr lang="en-US" sz="1250" b="1" baseline="-40000" dirty="0">
                <a:solidFill>
                  <a:schemeClr val="tx1"/>
                </a:solidFill>
              </a:rPr>
              <a:t>s</a:t>
            </a:r>
            <a:r>
              <a:rPr lang="en-US" sz="1250" b="1" dirty="0">
                <a:solidFill>
                  <a:schemeClr val="tx1"/>
                </a:solidFill>
              </a:rPr>
              <a:t>·K</a:t>
            </a:r>
            <a:r>
              <a:rPr lang="en-US" sz="1250" b="1" baseline="-40000" dirty="0">
                <a:solidFill>
                  <a:schemeClr val="tx1"/>
                </a:solidFill>
              </a:rPr>
              <a:t>cb</a:t>
            </a:r>
            <a:r>
              <a:rPr lang="en-US" sz="1250" b="1" dirty="0">
                <a:solidFill>
                  <a:schemeClr val="tx1"/>
                </a:solidFill>
              </a:rPr>
              <a:t> + K</a:t>
            </a:r>
            <a:r>
              <a:rPr lang="en-US" sz="1250" b="1" baseline="-40000" dirty="0">
                <a:solidFill>
                  <a:schemeClr val="tx1"/>
                </a:solidFill>
              </a:rPr>
              <a:t>e</a:t>
            </a:r>
            <a:r>
              <a:rPr lang="en-US" sz="1250" b="1" dirty="0">
                <a:solidFill>
                  <a:schemeClr val="tx1"/>
                </a:solidFill>
              </a:rPr>
              <a:t>) × ET</a:t>
            </a:r>
            <a:r>
              <a:rPr lang="en-US" sz="1250" b="1" baseline="-40000" dirty="0">
                <a:solidFill>
                  <a:schemeClr val="tx1"/>
                </a:solidFill>
              </a:rPr>
              <a:t>0</a:t>
            </a:r>
            <a:endParaRPr lang="en-US" sz="1250" dirty="0"/>
          </a:p>
          <a:p>
            <a:pPr indent="0" marL="0">
              <a:spcAft>
                <a:spcPts val="400"/>
              </a:spcAft>
              <a:buNone/>
            </a:pPr>
            <a:r>
              <a:rPr lang="en-US" sz="1200" dirty="0">
                <a:solidFill>
                  <a:schemeClr val="tx1"/>
                </a:solidFill>
              </a:rPr>
              <a:t>TAW = 1000(θ</a:t>
            </a:r>
            <a:r>
              <a:rPr lang="en-US" sz="1200" baseline="-40000" dirty="0">
                <a:solidFill>
                  <a:schemeClr val="tx1"/>
                </a:solidFill>
              </a:rPr>
              <a:t>FC</a:t>
            </a:r>
            <a:r>
              <a:rPr lang="en-US" sz="1200" dirty="0">
                <a:solidFill>
                  <a:schemeClr val="tx1"/>
                </a:solidFill>
              </a:rPr>
              <a:t> − θ</a:t>
            </a:r>
            <a:r>
              <a:rPr lang="en-US" sz="1200" baseline="-40000" dirty="0">
                <a:solidFill>
                  <a:schemeClr val="tx1"/>
                </a:solidFill>
              </a:rPr>
              <a:t>WP</a:t>
            </a:r>
            <a:r>
              <a:rPr lang="en-US" sz="1200" dirty="0">
                <a:solidFill>
                  <a:schemeClr val="tx1"/>
                </a:solidFill>
              </a:rPr>
              <a:t>)Z</a:t>
            </a:r>
            <a:r>
              <a:rPr lang="en-US" sz="1200" baseline="-40000" dirty="0">
                <a:solidFill>
                  <a:schemeClr val="tx1"/>
                </a:solidFill>
              </a:rPr>
              <a:t>r</a:t>
            </a:r>
            <a:r>
              <a:rPr lang="en-US" sz="1200" dirty="0">
                <a:solidFill>
                  <a:schemeClr val="tx1"/>
                </a:solidFill>
              </a:rPr>
              <a:t>;  RAW = p·TAW</a:t>
            </a:r>
            <a:endParaRPr lang="en-US" sz="1250" dirty="0"/>
          </a:p>
          <a:p>
            <a:pPr indent="0" marL="0">
              <a:spcAft>
                <a:spcPts val="400"/>
              </a:spcAft>
              <a:buNone/>
            </a:pPr>
            <a:r>
              <a:rPr lang="en-US" sz="1200" dirty="0">
                <a:solidFill>
                  <a:schemeClr val="tx1"/>
                </a:solidFill>
              </a:rPr>
              <a:t>K</a:t>
            </a:r>
            <a:r>
              <a:rPr lang="en-US" sz="1200" baseline="-40000" dirty="0">
                <a:solidFill>
                  <a:schemeClr val="tx1"/>
                </a:solidFill>
              </a:rPr>
              <a:t>s</a:t>
            </a:r>
            <a:r>
              <a:rPr lang="en-US" sz="1200" dirty="0">
                <a:solidFill>
                  <a:schemeClr val="tx1"/>
                </a:solidFill>
              </a:rPr>
              <a:t> = (TAW − D</a:t>
            </a:r>
            <a:r>
              <a:rPr lang="en-US" sz="1200" baseline="-40000" dirty="0">
                <a:solidFill>
                  <a:schemeClr val="tx1"/>
                </a:solidFill>
              </a:rPr>
              <a:t>r</a:t>
            </a:r>
            <a:r>
              <a:rPr lang="en-US" sz="1200" dirty="0">
                <a:solidFill>
                  <a:schemeClr val="tx1"/>
                </a:solidFill>
              </a:rPr>
              <a:t>) / [(1 − p)TAW] when D</a:t>
            </a:r>
            <a:r>
              <a:rPr lang="en-US" sz="1200" baseline="-40000" dirty="0">
                <a:solidFill>
                  <a:schemeClr val="tx1"/>
                </a:solidFill>
              </a:rPr>
              <a:t>r</a:t>
            </a:r>
            <a:r>
              <a:rPr lang="en-US" sz="1200" dirty="0">
                <a:solidFill>
                  <a:schemeClr val="tx1"/>
                </a:solidFill>
              </a:rPr>
              <a:t> &gt; RAW</a:t>
            </a:r>
            <a:endParaRPr lang="en-US" sz="1250" dirty="0"/>
          </a:p>
        </p:txBody>
      </p:sp>
      <p:sp>
        <p:nvSpPr>
          <p:cNvPr id="34" name="insight"/>
          <p:cNvSpPr/>
          <p:nvPr/>
        </p:nvSpPr>
        <p:spPr>
          <a:xfrm>
            <a:off x="548640" y="5532120"/>
            <a:ext cx="11094415" cy="685800"/>
          </a:xfrm>
          <a:prstGeom prst="roundRect">
            <a:avLst>
              <a:gd name="adj" fmla="val 10667"/>
            </a:avLst>
          </a:prstGeom>
          <a:solidFill>
            <a:schemeClr val="bg2"/>
          </a:solidFill>
          <a:ln/>
        </p:spPr>
      </p:sp>
      <p:sp>
        <p:nvSpPr>
          <p:cNvPr id="35" name="icon circle"/>
          <p:cNvSpPr/>
          <p:nvPr/>
        </p:nvSpPr>
        <p:spPr>
          <a:xfrm>
            <a:off x="685800" y="5637276"/>
            <a:ext cx="475488" cy="475488"/>
          </a:xfrm>
          <a:prstGeom prst="ellipse">
            <a:avLst/>
          </a:prstGeom>
          <a:solidFill>
            <a:schemeClr val="accent3"/>
          </a:solidFill>
          <a:ln/>
        </p:spPr>
      </p:sp>
      <p:pic>
        <p:nvPicPr>
          <p:cNvPr id="36" name="Image 1" descr="Lightbulb icon">    </p:cNvPr>
          <p:cNvPicPr>
            <a:picLocks noChangeAspect="1"/>
          </p:cNvPicPr>
          <p:nvPr/>
        </p:nvPicPr>
        <p:blipFill>
          <a:blip r:embed="rId2"/>
          <a:stretch>
            <a:fillRect/>
          </a:stretch>
        </p:blipFill>
        <p:spPr>
          <a:xfrm>
            <a:off x="809427" y="5760903"/>
            <a:ext cx="228234" cy="228234"/>
          </a:xfrm>
          <a:prstGeom prst="rect">
            <a:avLst/>
          </a:prstGeom>
        </p:spPr>
      </p:pic>
      <p:sp>
        <p:nvSpPr>
          <p:cNvPr id="37" name="Text 31"/>
          <p:cNvSpPr txBox="1"/>
          <p:nvPr/>
        </p:nvSpPr>
        <p:spPr>
          <a:xfrm>
            <a:off x="1325880" y="5568696"/>
            <a:ext cx="10180015" cy="61264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Satellite link:</a:t>
            </a:r>
            <a:r>
              <a:rPr lang="en-US" sz="1350" dirty="0">
                <a:solidFill>
                  <a:schemeClr val="tx1"/>
                </a:solidFill>
              </a:rPr>
              <a:t> K</a:t>
            </a:r>
            <a:r>
              <a:rPr lang="en-US" sz="1350" baseline="-40000" dirty="0">
                <a:solidFill>
                  <a:schemeClr val="tx1"/>
                </a:solidFill>
              </a:rPr>
              <a:t>cb</a:t>
            </a:r>
            <a:r>
              <a:rPr lang="en-US" sz="1350" dirty="0">
                <a:solidFill>
                  <a:schemeClr val="tx1"/>
                </a:solidFill>
              </a:rPr>
              <a:t> ≈ linear in NDVI/SAVI (VI-based Kc) · ET</a:t>
            </a:r>
            <a:r>
              <a:rPr lang="en-US" sz="1350" baseline="-40000" dirty="0">
                <a:solidFill>
                  <a:schemeClr val="tx1"/>
                </a:solidFill>
              </a:rPr>
              <a:t>a</a:t>
            </a:r>
            <a:r>
              <a:rPr lang="en-US" sz="1350" dirty="0">
                <a:solidFill>
                  <a:schemeClr val="tx1"/>
                </a:solidFill>
              </a:rPr>
              <a:t>(energy balance)/ET</a:t>
            </a:r>
            <a:r>
              <a:rPr lang="en-US" sz="1350" baseline="-40000" dirty="0">
                <a:solidFill>
                  <a:schemeClr val="tx1"/>
                </a:solidFill>
              </a:rPr>
              <a:t>0</a:t>
            </a:r>
            <a:r>
              <a:rPr lang="en-US" sz="1350" dirty="0">
                <a:solidFill>
                  <a:schemeClr val="tx1"/>
                </a:solidFill>
              </a:rPr>
              <a:t> = actual Kc map · METRIC ETrF is the alfalfa-based Kc; it feeds irrigation scheduling</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FAO-56 dual Kc and root-zone water balance</a:t>
            </a:r>
            <a:endParaRPr lang="en-US" sz="3200" dirty="0"/>
          </a:p>
        </p:txBody>
      </p:sp>
      <p:sp>
        <p:nvSpPr>
          <p:cNvPr id="4" name="card"/>
          <p:cNvSpPr/>
          <p:nvPr/>
        </p:nvSpPr>
        <p:spPr>
          <a:xfrm>
            <a:off x="548640" y="1280160"/>
            <a:ext cx="4572000" cy="4892040"/>
          </a:xfrm>
          <a:prstGeom prst="roundRect">
            <a:avLst>
              <a:gd name="adj" fmla="val 1600"/>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4297680" cy="320040"/>
          </a:xfrm>
          <a:prstGeom prst="rect">
            <a:avLst/>
          </a:prstGeom>
          <a:noFill/>
          <a:ln/>
        </p:spPr>
        <p:txBody>
          <a:bodyPr wrap="square" lIns="0" tIns="0" rIns="0" bIns="0" rtlCol="0" anchor="ctr"/>
          <a:lstStyle/>
          <a:p>
            <a:pPr algn="l" indent="0" marL="0">
              <a:buNone/>
            </a:pPr>
            <a:r>
              <a:rPr lang="en-US" sz="1300" b="1" dirty="0">
                <a:solidFill>
                  <a:schemeClr val="tx2"/>
                </a:solidFill>
              </a:rPr>
              <a:t>Root-zone 'bucket'</a:t>
            </a:r>
            <a:endParaRPr lang="en-US" sz="1300" dirty="0"/>
          </a:p>
        </p:txBody>
      </p:sp>
      <p:sp>
        <p:nvSpPr>
          <p:cNvPr id="6" name="soil water"/>
          <p:cNvSpPr/>
          <p:nvPr/>
        </p:nvSpPr>
        <p:spPr>
          <a:xfrm>
            <a:off x="1371600" y="3291840"/>
            <a:ext cx="2011680" cy="2194560"/>
          </a:xfrm>
          <a:prstGeom prst="rect">
            <a:avLst/>
          </a:prstGeom>
          <a:solidFill>
            <a:srgbClr val="9CC3E6"/>
          </a:solidFill>
          <a:ln/>
        </p:spPr>
      </p:sp>
      <p:sp>
        <p:nvSpPr>
          <p:cNvPr id="7" name="bucket"/>
          <p:cNvSpPr/>
          <p:nvPr/>
        </p:nvSpPr>
        <p:spPr>
          <a:xfrm>
            <a:off x="1371600" y="1920240"/>
            <a:ext cx="2011680" cy="3566160"/>
          </a:xfrm>
          <a:prstGeom prst="rect">
            <a:avLst/>
          </a:prstGeom>
          <a:ln w="25400">
            <a:solidFill>
              <a:srgbClr val="1E2430"/>
            </a:solidFill>
            <a:prstDash val="solid"/>
          </a:ln>
        </p:spPr>
      </p:sp>
      <p:sp>
        <p:nvSpPr>
          <p:cNvPr id="8" name="arrow"/>
          <p:cNvSpPr/>
          <p:nvPr/>
        </p:nvSpPr>
        <p:spPr>
          <a:xfrm>
            <a:off x="1234440" y="2057400"/>
            <a:ext cx="2286000" cy="0"/>
          </a:xfrm>
          <a:prstGeom prst="line">
            <a:avLst/>
          </a:prstGeom>
          <a:noFill/>
          <a:ln w="25400">
            <a:solidFill>
              <a:srgbClr val="3B6EA5"/>
            </a:solidFill>
            <a:prstDash val="dash"/>
          </a:ln>
        </p:spPr>
      </p:sp>
      <p:sp>
        <p:nvSpPr>
          <p:cNvPr id="9" name="Text 6"/>
          <p:cNvSpPr txBox="1"/>
          <p:nvPr/>
        </p:nvSpPr>
        <p:spPr>
          <a:xfrm>
            <a:off x="3566160" y="1920240"/>
            <a:ext cx="1463040" cy="274320"/>
          </a:xfrm>
          <a:prstGeom prst="rect">
            <a:avLst/>
          </a:prstGeom>
          <a:noFill/>
          <a:ln/>
        </p:spPr>
        <p:txBody>
          <a:bodyPr wrap="square" lIns="0" tIns="0" rIns="0" bIns="0" rtlCol="0" anchor="ctr"/>
          <a:lstStyle/>
          <a:p>
            <a:pPr algn="l" indent="0" marL="0">
              <a:buNone/>
            </a:pPr>
            <a:r>
              <a:rPr lang="en-US" sz="1100" b="1" dirty="0">
                <a:solidFill>
                  <a:schemeClr val="accent2"/>
                </a:solidFill>
              </a:rPr>
              <a:t>Field capacity</a:t>
            </a:r>
            <a:endParaRPr lang="en-US" sz="1100" dirty="0"/>
          </a:p>
        </p:txBody>
      </p:sp>
      <p:sp>
        <p:nvSpPr>
          <p:cNvPr id="10" name="arrow"/>
          <p:cNvSpPr/>
          <p:nvPr/>
        </p:nvSpPr>
        <p:spPr>
          <a:xfrm>
            <a:off x="1234440" y="3749040"/>
            <a:ext cx="2286000" cy="0"/>
          </a:xfrm>
          <a:prstGeom prst="line">
            <a:avLst/>
          </a:prstGeom>
          <a:noFill/>
          <a:ln w="25400">
            <a:solidFill>
              <a:srgbClr val="C0702A"/>
            </a:solidFill>
            <a:prstDash val="dash"/>
          </a:ln>
        </p:spPr>
      </p:sp>
      <p:sp>
        <p:nvSpPr>
          <p:cNvPr id="11" name="Text 8"/>
          <p:cNvSpPr txBox="1"/>
          <p:nvPr/>
        </p:nvSpPr>
        <p:spPr>
          <a:xfrm>
            <a:off x="3566160" y="3611880"/>
            <a:ext cx="1463040" cy="274320"/>
          </a:xfrm>
          <a:prstGeom prst="rect">
            <a:avLst/>
          </a:prstGeom>
          <a:noFill/>
          <a:ln/>
        </p:spPr>
        <p:txBody>
          <a:bodyPr wrap="square" lIns="0" tIns="0" rIns="0" bIns="0" rtlCol="0" anchor="ctr"/>
          <a:lstStyle/>
          <a:p>
            <a:pPr algn="l" indent="0" marL="0">
              <a:buNone/>
            </a:pPr>
            <a:r>
              <a:rPr lang="en-US" sz="1100" b="1" dirty="0">
                <a:solidFill>
                  <a:schemeClr val="accent4"/>
                </a:solidFill>
              </a:rPr>
              <a:t>RAW = p·TAW</a:t>
            </a:r>
            <a:endParaRPr lang="en-US" sz="1100" dirty="0"/>
          </a:p>
        </p:txBody>
      </p:sp>
      <p:sp>
        <p:nvSpPr>
          <p:cNvPr id="12" name="arrow"/>
          <p:cNvSpPr/>
          <p:nvPr/>
        </p:nvSpPr>
        <p:spPr>
          <a:xfrm>
            <a:off x="1234440" y="5349240"/>
            <a:ext cx="2286000" cy="0"/>
          </a:xfrm>
          <a:prstGeom prst="line">
            <a:avLst/>
          </a:prstGeom>
          <a:noFill/>
          <a:ln w="25400">
            <a:solidFill>
              <a:srgbClr val="C0504D"/>
            </a:solidFill>
            <a:prstDash val="dash"/>
          </a:ln>
        </p:spPr>
      </p:sp>
      <p:sp>
        <p:nvSpPr>
          <p:cNvPr id="13" name="Text 10"/>
          <p:cNvSpPr txBox="1"/>
          <p:nvPr/>
        </p:nvSpPr>
        <p:spPr>
          <a:xfrm>
            <a:off x="3566160" y="5212080"/>
            <a:ext cx="1463040" cy="274320"/>
          </a:xfrm>
          <a:prstGeom prst="rect">
            <a:avLst/>
          </a:prstGeom>
          <a:noFill/>
          <a:ln/>
        </p:spPr>
        <p:txBody>
          <a:bodyPr wrap="square" lIns="0" tIns="0" rIns="0" bIns="0" rtlCol="0" anchor="ctr"/>
          <a:lstStyle/>
          <a:p>
            <a:pPr algn="l" indent="0" marL="0">
              <a:buNone/>
            </a:pPr>
            <a:r>
              <a:rPr lang="en-US" sz="1100" b="1" dirty="0">
                <a:solidFill>
                  <a:srgbClr val="C0504D"/>
                </a:solidFill>
              </a:rPr>
              <a:t>Wilting point</a:t>
            </a:r>
            <a:endParaRPr lang="en-US" sz="1100" dirty="0"/>
          </a:p>
        </p:txBody>
      </p:sp>
      <p:sp>
        <p:nvSpPr>
          <p:cNvPr id="14" name="arrow"/>
          <p:cNvSpPr/>
          <p:nvPr/>
        </p:nvSpPr>
        <p:spPr>
          <a:xfrm>
            <a:off x="1737360" y="2075688"/>
            <a:ext cx="0" cy="1197864"/>
          </a:xfrm>
          <a:prstGeom prst="line">
            <a:avLst/>
          </a:prstGeom>
          <a:noFill/>
          <a:ln w="19050">
            <a:solidFill>
              <a:srgbClr val="1E2430"/>
            </a:solidFill>
            <a:prstDash val="solid"/>
            <a:headEnd type="triangle"/>
            <a:tailEnd type="triangle"/>
          </a:ln>
        </p:spPr>
      </p:sp>
      <p:sp>
        <p:nvSpPr>
          <p:cNvPr id="15" name="Text 12"/>
          <p:cNvSpPr txBox="1"/>
          <p:nvPr/>
        </p:nvSpPr>
        <p:spPr>
          <a:xfrm>
            <a:off x="1828800" y="2514600"/>
            <a:ext cx="457200" cy="274320"/>
          </a:xfrm>
          <a:prstGeom prst="rect">
            <a:avLst/>
          </a:prstGeom>
          <a:noFill/>
          <a:ln/>
        </p:spPr>
        <p:txBody>
          <a:bodyPr wrap="square" lIns="0" tIns="0" rIns="0" bIns="0" rtlCol="0" anchor="ctr"/>
          <a:lstStyle/>
          <a:p>
            <a:pPr algn="l" indent="0" marL="0">
              <a:buNone/>
            </a:pPr>
            <a:r>
              <a:rPr lang="en-US" sz="1200" b="1" dirty="0">
                <a:solidFill>
                  <a:schemeClr val="tx1"/>
                </a:solidFill>
              </a:rPr>
              <a:t>D</a:t>
            </a:r>
            <a:r>
              <a:rPr lang="en-US" sz="1200" b="1" baseline="-40000" dirty="0">
                <a:solidFill>
                  <a:schemeClr val="tx1"/>
                </a:solidFill>
              </a:rPr>
              <a:t>r</a:t>
            </a:r>
            <a:endParaRPr lang="en-US" sz="1200" dirty="0"/>
          </a:p>
        </p:txBody>
      </p:sp>
      <p:sp>
        <p:nvSpPr>
          <p:cNvPr id="16" name="arrow"/>
          <p:cNvSpPr/>
          <p:nvPr/>
        </p:nvSpPr>
        <p:spPr>
          <a:xfrm>
            <a:off x="1005840" y="2075688"/>
            <a:ext cx="0" cy="3255264"/>
          </a:xfrm>
          <a:prstGeom prst="line">
            <a:avLst/>
          </a:prstGeom>
          <a:noFill/>
          <a:ln w="19050">
            <a:solidFill>
              <a:srgbClr val="1B4965"/>
            </a:solidFill>
            <a:prstDash val="solid"/>
            <a:headEnd type="triangle"/>
            <a:tailEnd type="triangle"/>
          </a:ln>
        </p:spPr>
      </p:sp>
      <p:sp>
        <p:nvSpPr>
          <p:cNvPr id="17" name="Text 14"/>
          <p:cNvSpPr txBox="1"/>
          <p:nvPr/>
        </p:nvSpPr>
        <p:spPr>
          <a:xfrm>
            <a:off x="594360" y="3566160"/>
            <a:ext cx="411480" cy="274320"/>
          </a:xfrm>
          <a:prstGeom prst="rect">
            <a:avLst/>
          </a:prstGeom>
          <a:noFill/>
          <a:ln/>
        </p:spPr>
        <p:txBody>
          <a:bodyPr wrap="square" lIns="0" tIns="0" rIns="0" bIns="0" rtlCol="0" anchor="ctr"/>
          <a:lstStyle/>
          <a:p>
            <a:pPr algn="l" indent="0" marL="0">
              <a:buNone/>
            </a:pPr>
            <a:r>
              <a:rPr lang="en-US" sz="1100" b="1" dirty="0">
                <a:solidFill>
                  <a:schemeClr val="tx2"/>
                </a:solidFill>
              </a:rPr>
              <a:t>TAW</a:t>
            </a:r>
            <a:endParaRPr lang="en-US" sz="1100" dirty="0"/>
          </a:p>
        </p:txBody>
      </p:sp>
      <p:sp>
        <p:nvSpPr>
          <p:cNvPr id="18" name="Text 15"/>
          <p:cNvSpPr txBox="1"/>
          <p:nvPr/>
        </p:nvSpPr>
        <p:spPr>
          <a:xfrm>
            <a:off x="685800" y="5669280"/>
            <a:ext cx="4297680" cy="365760"/>
          </a:xfrm>
          <a:prstGeom prst="rect">
            <a:avLst/>
          </a:prstGeom>
          <a:noFill/>
          <a:ln/>
        </p:spPr>
        <p:txBody>
          <a:bodyPr wrap="square" lIns="0" tIns="0" rIns="0" bIns="0" rtlCol="0" anchor="ctr"/>
          <a:lstStyle/>
          <a:p>
            <a:pPr algn="ctr" indent="0" marL="0">
              <a:buNone/>
            </a:pPr>
            <a:r>
              <a:rPr lang="en-US" sz="1150" i="1" dirty="0">
                <a:solidFill>
                  <a:schemeClr val="accent6"/>
                </a:solidFill>
              </a:rPr>
              <a:t>Ks = 1 while D</a:t>
            </a:r>
            <a:r>
              <a:rPr lang="en-US" sz="1150" i="1" baseline="-40000" dirty="0">
                <a:solidFill>
                  <a:schemeClr val="accent6"/>
                </a:solidFill>
              </a:rPr>
              <a:t>r</a:t>
            </a:r>
            <a:r>
              <a:rPr lang="en-US" sz="1150" i="1" dirty="0">
                <a:solidFill>
                  <a:schemeClr val="accent6"/>
                </a:solidFill>
              </a:rPr>
              <a:t> ≤ RAW; falls to 0 at TAW</a:t>
            </a:r>
            <a:endParaRPr lang="en-US" sz="1150" dirty="0"/>
          </a:p>
        </p:txBody>
      </p:sp>
      <p:sp>
        <p:nvSpPr>
          <p:cNvPr id="19" name="card"/>
          <p:cNvSpPr/>
          <p:nvPr/>
        </p:nvSpPr>
        <p:spPr>
          <a:xfrm>
            <a:off x="5257800" y="1280160"/>
            <a:ext cx="6382512" cy="685800"/>
          </a:xfrm>
          <a:prstGeom prst="roundRect">
            <a:avLst>
              <a:gd name="adj" fmla="val 10667"/>
            </a:avLst>
          </a:prstGeom>
          <a:solidFill>
            <a:schemeClr val="tx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5394960" y="1280160"/>
            <a:ext cx="6108192" cy="685800"/>
          </a:xfrm>
          <a:prstGeom prst="rect">
            <a:avLst/>
          </a:prstGeom>
          <a:noFill/>
          <a:ln/>
        </p:spPr>
        <p:txBody>
          <a:bodyPr wrap="square" lIns="0" tIns="0" rIns="0" bIns="0" rtlCol="0" anchor="ctr"/>
          <a:lstStyle/>
          <a:p>
            <a:pPr algn="ctr" indent="0" marL="0">
              <a:buNone/>
            </a:pPr>
            <a:r>
              <a:rPr lang="en-US" sz="1800" b="1" dirty="0">
                <a:solidFill>
                  <a:schemeClr val="bg1"/>
                </a:solidFill>
              </a:rPr>
              <a:t>ETc</a:t>
            </a:r>
            <a:r>
              <a:rPr lang="en-US" sz="1800" b="1" baseline="-40000" dirty="0">
                <a:solidFill>
                  <a:schemeClr val="bg1"/>
                </a:solidFill>
              </a:rPr>
              <a:t>adj</a:t>
            </a:r>
            <a:r>
              <a:rPr lang="en-US" sz="1800" b="1" dirty="0">
                <a:solidFill>
                  <a:schemeClr val="bg1"/>
                </a:solidFill>
              </a:rPr>
              <a:t> = (K</a:t>
            </a:r>
            <a:r>
              <a:rPr lang="en-US" sz="1800" b="1" baseline="-40000" dirty="0">
                <a:solidFill>
                  <a:schemeClr val="bg1"/>
                </a:solidFill>
              </a:rPr>
              <a:t>s</a:t>
            </a:r>
            <a:r>
              <a:rPr lang="en-US" sz="1800" b="1" dirty="0">
                <a:solidFill>
                  <a:schemeClr val="bg1"/>
                </a:solidFill>
              </a:rPr>
              <a:t>·K</a:t>
            </a:r>
            <a:r>
              <a:rPr lang="en-US" sz="1800" b="1" baseline="-40000" dirty="0">
                <a:solidFill>
                  <a:schemeClr val="bg1"/>
                </a:solidFill>
              </a:rPr>
              <a:t>cb</a:t>
            </a:r>
            <a:r>
              <a:rPr lang="en-US" sz="1800" b="1" dirty="0">
                <a:solidFill>
                  <a:schemeClr val="bg1"/>
                </a:solidFill>
              </a:rPr>
              <a:t> + K</a:t>
            </a:r>
            <a:r>
              <a:rPr lang="en-US" sz="1800" b="1" baseline="-40000" dirty="0">
                <a:solidFill>
                  <a:schemeClr val="bg1"/>
                </a:solidFill>
              </a:rPr>
              <a:t>e</a:t>
            </a:r>
            <a:r>
              <a:rPr lang="en-US" sz="1800" b="1" dirty="0">
                <a:solidFill>
                  <a:schemeClr val="bg1"/>
                </a:solidFill>
              </a:rPr>
              <a:t>) × ET</a:t>
            </a:r>
            <a:r>
              <a:rPr lang="en-US" sz="1800" b="1" baseline="-40000" dirty="0">
                <a:solidFill>
                  <a:schemeClr val="bg1"/>
                </a:solidFill>
              </a:rPr>
              <a:t>0</a:t>
            </a:r>
            <a:endParaRPr lang="en-US" sz="1800" dirty="0"/>
          </a:p>
        </p:txBody>
      </p:sp>
      <p:sp>
        <p:nvSpPr>
          <p:cNvPr id="21" name="card"/>
          <p:cNvSpPr/>
          <p:nvPr/>
        </p:nvSpPr>
        <p:spPr>
          <a:xfrm>
            <a:off x="5257800" y="2103120"/>
            <a:ext cx="3108960"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5440680" y="2240280"/>
            <a:ext cx="2788920" cy="365760"/>
          </a:xfrm>
          <a:prstGeom prst="rect">
            <a:avLst/>
          </a:prstGeom>
          <a:noFill/>
          <a:ln/>
        </p:spPr>
        <p:txBody>
          <a:bodyPr wrap="square" lIns="0" tIns="0" rIns="0" bIns="0" rtlCol="0" anchor="ctr"/>
          <a:lstStyle/>
          <a:p>
            <a:pPr indent="0" marL="0">
              <a:buNone/>
            </a:pPr>
            <a:r>
              <a:rPr lang="en-US" sz="1350" b="1" dirty="0">
                <a:solidFill>
                  <a:schemeClr val="tx2"/>
                </a:solidFill>
              </a:rPr>
              <a:t>Soil evaporation Ke</a:t>
            </a:r>
            <a:endParaRPr lang="en-US" sz="1350" dirty="0"/>
          </a:p>
        </p:txBody>
      </p:sp>
      <p:sp>
        <p:nvSpPr>
          <p:cNvPr id="23" name="Text 20"/>
          <p:cNvSpPr txBox="1"/>
          <p:nvPr/>
        </p:nvSpPr>
        <p:spPr>
          <a:xfrm>
            <a:off x="5440680" y="2651760"/>
            <a:ext cx="2743200" cy="1463040"/>
          </a:xfrm>
          <a:prstGeom prst="rect">
            <a:avLst/>
          </a:prstGeom>
          <a:noFill/>
          <a:ln/>
        </p:spPr>
        <p:txBody>
          <a:bodyPr wrap="square" lIns="508" tIns="508" rIns="508" bIns="508" rtlCol="0" anchor="t"/>
          <a:lstStyle/>
          <a:p>
            <a:pPr indent="0" marL="0">
              <a:spcAft>
                <a:spcPts val="400"/>
              </a:spcAft>
              <a:buNone/>
            </a:pPr>
            <a:r>
              <a:rPr lang="en-US" sz="1150" dirty="0">
                <a:solidFill>
                  <a:schemeClr val="tx1"/>
                </a:solidFill>
              </a:rPr>
              <a:t>K</a:t>
            </a:r>
            <a:r>
              <a:rPr lang="en-US" sz="1150" baseline="-40000" dirty="0">
                <a:solidFill>
                  <a:schemeClr val="tx1"/>
                </a:solidFill>
              </a:rPr>
              <a:t>e</a:t>
            </a:r>
            <a:r>
              <a:rPr lang="en-US" sz="1150" dirty="0">
                <a:solidFill>
                  <a:schemeClr val="tx1"/>
                </a:solidFill>
              </a:rPr>
              <a:t> = K</a:t>
            </a:r>
            <a:r>
              <a:rPr lang="en-US" sz="1150" baseline="-40000" dirty="0">
                <a:solidFill>
                  <a:schemeClr val="tx1"/>
                </a:solidFill>
              </a:rPr>
              <a:t>r</a:t>
            </a:r>
            <a:r>
              <a:rPr lang="en-US" sz="1150" dirty="0">
                <a:solidFill>
                  <a:schemeClr val="tx1"/>
                </a:solidFill>
              </a:rPr>
              <a:t>(K</a:t>
            </a:r>
            <a:r>
              <a:rPr lang="en-US" sz="1150" baseline="-40000" dirty="0">
                <a:solidFill>
                  <a:schemeClr val="tx1"/>
                </a:solidFill>
              </a:rPr>
              <a:t>c,max</a:t>
            </a:r>
            <a:r>
              <a:rPr lang="en-US" sz="1150" dirty="0">
                <a:solidFill>
                  <a:schemeClr val="tx1"/>
                </a:solidFill>
              </a:rPr>
              <a:t> − K</a:t>
            </a:r>
            <a:r>
              <a:rPr lang="en-US" sz="1150" baseline="-40000" dirty="0">
                <a:solidFill>
                  <a:schemeClr val="tx1"/>
                </a:solidFill>
              </a:rPr>
              <a:t>cb</a:t>
            </a:r>
            <a:r>
              <a:rPr lang="en-US" sz="1150" dirty="0">
                <a:solidFill>
                  <a:schemeClr val="tx1"/>
                </a:solidFill>
              </a:rPr>
              <a:t>) ≤ f</a:t>
            </a:r>
            <a:r>
              <a:rPr lang="en-US" sz="1150" baseline="-40000" dirty="0">
                <a:solidFill>
                  <a:schemeClr val="tx1"/>
                </a:solidFill>
              </a:rPr>
              <a:t>ew</a:t>
            </a:r>
            <a:r>
              <a:rPr lang="en-US" sz="1150" dirty="0">
                <a:solidFill>
                  <a:schemeClr val="tx1"/>
                </a:solidFill>
              </a:rPr>
              <a:t>K</a:t>
            </a:r>
            <a:r>
              <a:rPr lang="en-US" sz="1150" baseline="-40000" dirty="0">
                <a:solidFill>
                  <a:schemeClr val="tx1"/>
                </a:solidFill>
              </a:rPr>
              <a:t>c,max</a:t>
            </a:r>
            <a:endParaRPr lang="en-US" sz="1150" dirty="0"/>
          </a:p>
          <a:p>
            <a:pPr indent="0" marL="0">
              <a:spcAft>
                <a:spcPts val="400"/>
              </a:spcAft>
              <a:buNone/>
            </a:pPr>
            <a:r>
              <a:rPr lang="en-US" sz="1150" dirty="0">
                <a:solidFill>
                  <a:schemeClr val="tx1"/>
                </a:solidFill>
              </a:rPr>
              <a:t>K</a:t>
            </a:r>
            <a:r>
              <a:rPr lang="en-US" sz="1150" baseline="-40000" dirty="0">
                <a:solidFill>
                  <a:schemeClr val="tx1"/>
                </a:solidFill>
              </a:rPr>
              <a:t>r</a:t>
            </a:r>
            <a:r>
              <a:rPr lang="en-US" sz="1150" dirty="0">
                <a:solidFill>
                  <a:schemeClr val="tx1"/>
                </a:solidFill>
              </a:rPr>
              <a:t> = 1 until REW evaporated, then falls to 0 at TEW</a:t>
            </a:r>
            <a:endParaRPr lang="en-US" sz="1150" dirty="0"/>
          </a:p>
        </p:txBody>
      </p:sp>
      <p:sp>
        <p:nvSpPr>
          <p:cNvPr id="24" name="card"/>
          <p:cNvSpPr/>
          <p:nvPr/>
        </p:nvSpPr>
        <p:spPr>
          <a:xfrm>
            <a:off x="8531352" y="2103120"/>
            <a:ext cx="3108960"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8714232" y="2240280"/>
            <a:ext cx="2788920" cy="365760"/>
          </a:xfrm>
          <a:prstGeom prst="rect">
            <a:avLst/>
          </a:prstGeom>
          <a:noFill/>
          <a:ln/>
        </p:spPr>
        <p:txBody>
          <a:bodyPr wrap="square" lIns="0" tIns="0" rIns="0" bIns="0" rtlCol="0" anchor="ctr"/>
          <a:lstStyle/>
          <a:p>
            <a:pPr indent="0" marL="0">
              <a:buNone/>
            </a:pPr>
            <a:r>
              <a:rPr lang="en-US" sz="1350" b="1" dirty="0">
                <a:solidFill>
                  <a:schemeClr val="tx2"/>
                </a:solidFill>
              </a:rPr>
              <a:t>Root-zone balance</a:t>
            </a:r>
            <a:endParaRPr lang="en-US" sz="1350" dirty="0"/>
          </a:p>
        </p:txBody>
      </p:sp>
      <p:sp>
        <p:nvSpPr>
          <p:cNvPr id="26" name="Text 23"/>
          <p:cNvSpPr txBox="1"/>
          <p:nvPr/>
        </p:nvSpPr>
        <p:spPr>
          <a:xfrm>
            <a:off x="8714232" y="2651760"/>
            <a:ext cx="2743200" cy="1463040"/>
          </a:xfrm>
          <a:prstGeom prst="rect">
            <a:avLst/>
          </a:prstGeom>
          <a:noFill/>
          <a:ln/>
        </p:spPr>
        <p:txBody>
          <a:bodyPr wrap="square" lIns="508" tIns="508" rIns="508" bIns="508" rtlCol="0" anchor="t"/>
          <a:lstStyle/>
          <a:p>
            <a:pPr indent="0" marL="0">
              <a:spcAft>
                <a:spcPts val="400"/>
              </a:spcAft>
              <a:buNone/>
            </a:pPr>
            <a:r>
              <a:rPr lang="en-US" sz="1150" dirty="0">
                <a:solidFill>
                  <a:schemeClr val="tx1"/>
                </a:solidFill>
              </a:rPr>
              <a:t>D</a:t>
            </a:r>
            <a:r>
              <a:rPr lang="en-US" sz="1150" baseline="-40000" dirty="0">
                <a:solidFill>
                  <a:schemeClr val="tx1"/>
                </a:solidFill>
              </a:rPr>
              <a:t>r,i</a:t>
            </a:r>
            <a:r>
              <a:rPr lang="en-US" sz="1150" dirty="0">
                <a:solidFill>
                  <a:schemeClr val="tx1"/>
                </a:solidFill>
              </a:rPr>
              <a:t> = D</a:t>
            </a:r>
            <a:r>
              <a:rPr lang="en-US" sz="1150" baseline="-40000" dirty="0">
                <a:solidFill>
                  <a:schemeClr val="tx1"/>
                </a:solidFill>
              </a:rPr>
              <a:t>r,i−1</a:t>
            </a:r>
            <a:r>
              <a:rPr lang="en-US" sz="1150" dirty="0">
                <a:solidFill>
                  <a:schemeClr val="tx1"/>
                </a:solidFill>
              </a:rPr>
              <a:t> − (P − RO)</a:t>
            </a:r>
            <a:r>
              <a:rPr lang="en-US" sz="1150" baseline="-40000" dirty="0">
                <a:solidFill>
                  <a:schemeClr val="tx1"/>
                </a:solidFill>
              </a:rPr>
              <a:t>i</a:t>
            </a:r>
            <a:r>
              <a:rPr lang="en-US" sz="1150" dirty="0">
                <a:solidFill>
                  <a:schemeClr val="tx1"/>
                </a:solidFill>
              </a:rPr>
              <a:t> − I</a:t>
            </a:r>
            <a:r>
              <a:rPr lang="en-US" sz="1150" baseline="-40000" dirty="0">
                <a:solidFill>
                  <a:schemeClr val="tx1"/>
                </a:solidFill>
              </a:rPr>
              <a:t>i</a:t>
            </a:r>
            <a:r>
              <a:rPr lang="en-US" sz="1150" dirty="0">
                <a:solidFill>
                  <a:schemeClr val="tx1"/>
                </a:solidFill>
              </a:rPr>
              <a:t> − CR</a:t>
            </a:r>
            <a:r>
              <a:rPr lang="en-US" sz="1150" baseline="-40000" dirty="0">
                <a:solidFill>
                  <a:schemeClr val="tx1"/>
                </a:solidFill>
              </a:rPr>
              <a:t>i</a:t>
            </a:r>
            <a:r>
              <a:rPr lang="en-US" sz="1150" dirty="0">
                <a:solidFill>
                  <a:schemeClr val="tx1"/>
                </a:solidFill>
              </a:rPr>
              <a:t> + ETc</a:t>
            </a:r>
            <a:r>
              <a:rPr lang="en-US" sz="1150" baseline="-40000" dirty="0">
                <a:solidFill>
                  <a:schemeClr val="tx1"/>
                </a:solidFill>
              </a:rPr>
              <a:t>i</a:t>
            </a:r>
            <a:r>
              <a:rPr lang="en-US" sz="1150" dirty="0">
                <a:solidFill>
                  <a:schemeClr val="tx1"/>
                </a:solidFill>
              </a:rPr>
              <a:t> + DP</a:t>
            </a:r>
            <a:r>
              <a:rPr lang="en-US" sz="1150" baseline="-40000" dirty="0">
                <a:solidFill>
                  <a:schemeClr val="tx1"/>
                </a:solidFill>
              </a:rPr>
              <a:t>i</a:t>
            </a:r>
            <a:endParaRPr lang="en-US" sz="1150" dirty="0"/>
          </a:p>
          <a:p>
            <a:pPr indent="0" marL="0">
              <a:spcAft>
                <a:spcPts val="400"/>
              </a:spcAft>
              <a:buNone/>
            </a:pPr>
            <a:r>
              <a:rPr lang="en-US" sz="1150" dirty="0">
                <a:solidFill>
                  <a:schemeClr val="tx1"/>
                </a:solidFill>
              </a:rPr>
              <a:t>TAW = 1000(θ</a:t>
            </a:r>
            <a:r>
              <a:rPr lang="en-US" sz="1150" baseline="-40000" dirty="0">
                <a:solidFill>
                  <a:schemeClr val="tx1"/>
                </a:solidFill>
              </a:rPr>
              <a:t>FC</a:t>
            </a:r>
            <a:r>
              <a:rPr lang="en-US" sz="1150" dirty="0">
                <a:solidFill>
                  <a:schemeClr val="tx1"/>
                </a:solidFill>
              </a:rPr>
              <a:t> − θ</a:t>
            </a:r>
            <a:r>
              <a:rPr lang="en-US" sz="1150" baseline="-40000" dirty="0">
                <a:solidFill>
                  <a:schemeClr val="tx1"/>
                </a:solidFill>
              </a:rPr>
              <a:t>WP</a:t>
            </a:r>
            <a:r>
              <a:rPr lang="en-US" sz="1150" dirty="0">
                <a:solidFill>
                  <a:schemeClr val="tx1"/>
                </a:solidFill>
              </a:rPr>
              <a:t>)Z</a:t>
            </a:r>
            <a:r>
              <a:rPr lang="en-US" sz="1150" baseline="-40000" dirty="0">
                <a:solidFill>
                  <a:schemeClr val="tx1"/>
                </a:solidFill>
              </a:rPr>
              <a:t>r</a:t>
            </a:r>
            <a:endParaRPr lang="en-US" sz="1150" dirty="0"/>
          </a:p>
        </p:txBody>
      </p:sp>
      <p:sp>
        <p:nvSpPr>
          <p:cNvPr id="27" name="card"/>
          <p:cNvSpPr/>
          <p:nvPr/>
        </p:nvSpPr>
        <p:spPr>
          <a:xfrm>
            <a:off x="5257800" y="4343400"/>
            <a:ext cx="31089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8" name="Text 25"/>
          <p:cNvSpPr txBox="1"/>
          <p:nvPr/>
        </p:nvSpPr>
        <p:spPr>
          <a:xfrm>
            <a:off x="5440680" y="4480560"/>
            <a:ext cx="2788920" cy="365760"/>
          </a:xfrm>
          <a:prstGeom prst="rect">
            <a:avLst/>
          </a:prstGeom>
          <a:noFill/>
          <a:ln/>
        </p:spPr>
        <p:txBody>
          <a:bodyPr wrap="square" lIns="0" tIns="0" rIns="0" bIns="0" rtlCol="0" anchor="ctr"/>
          <a:lstStyle/>
          <a:p>
            <a:pPr indent="0" marL="0">
              <a:buNone/>
            </a:pPr>
            <a:r>
              <a:rPr lang="en-US" sz="1350" b="1" dirty="0">
                <a:solidFill>
                  <a:schemeClr val="tx2"/>
                </a:solidFill>
              </a:rPr>
              <a:t>Water stress Ks</a:t>
            </a:r>
            <a:endParaRPr lang="en-US" sz="1350" dirty="0"/>
          </a:p>
        </p:txBody>
      </p:sp>
      <p:sp>
        <p:nvSpPr>
          <p:cNvPr id="29" name="Text 26"/>
          <p:cNvSpPr txBox="1"/>
          <p:nvPr/>
        </p:nvSpPr>
        <p:spPr>
          <a:xfrm>
            <a:off x="5440680" y="4892040"/>
            <a:ext cx="2743200" cy="11887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K</a:t>
            </a:r>
            <a:r>
              <a:rPr lang="en-US" sz="1200" baseline="-40000" dirty="0">
                <a:solidFill>
                  <a:schemeClr val="tx1"/>
                </a:solidFill>
              </a:rPr>
              <a:t>s</a:t>
            </a:r>
            <a:r>
              <a:rPr lang="en-US" sz="1200" dirty="0">
                <a:solidFill>
                  <a:schemeClr val="tx1"/>
                </a:solidFill>
              </a:rPr>
              <a:t> = (TAW − D</a:t>
            </a:r>
            <a:r>
              <a:rPr lang="en-US" sz="1200" baseline="-40000" dirty="0">
                <a:solidFill>
                  <a:schemeClr val="tx1"/>
                </a:solidFill>
              </a:rPr>
              <a:t>r</a:t>
            </a:r>
            <a:r>
              <a:rPr lang="en-US" sz="1200" dirty="0">
                <a:solidFill>
                  <a:schemeClr val="tx1"/>
                </a:solidFill>
              </a:rPr>
              <a:t>) / [(1 − p)TAW]</a:t>
            </a:r>
            <a:endParaRPr lang="en-US" sz="1200" dirty="0"/>
          </a:p>
          <a:p>
            <a:pPr indent="0" marL="0">
              <a:spcAft>
                <a:spcPts val="400"/>
              </a:spcAft>
              <a:buNone/>
            </a:pPr>
            <a:r>
              <a:rPr lang="en-US" sz="1150" dirty="0">
                <a:solidFill>
                  <a:schemeClr val="tx1"/>
                </a:solidFill>
              </a:rPr>
              <a:t>p ≈ 0.5 (wheat 0.55, rice 0.2)</a:t>
            </a:r>
            <a:endParaRPr lang="en-US" sz="1200" dirty="0"/>
          </a:p>
        </p:txBody>
      </p:sp>
      <p:sp>
        <p:nvSpPr>
          <p:cNvPr id="30" name="card"/>
          <p:cNvSpPr/>
          <p:nvPr/>
        </p:nvSpPr>
        <p:spPr>
          <a:xfrm>
            <a:off x="8531352" y="4343400"/>
            <a:ext cx="3108960"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31" name="Text 28"/>
          <p:cNvSpPr txBox="1"/>
          <p:nvPr/>
        </p:nvSpPr>
        <p:spPr>
          <a:xfrm>
            <a:off x="8714232" y="4480560"/>
            <a:ext cx="2788920" cy="365760"/>
          </a:xfrm>
          <a:prstGeom prst="rect">
            <a:avLst/>
          </a:prstGeom>
          <a:noFill/>
          <a:ln/>
        </p:spPr>
        <p:txBody>
          <a:bodyPr wrap="square" lIns="0" tIns="0" rIns="0" bIns="0" rtlCol="0" anchor="ctr"/>
          <a:lstStyle/>
          <a:p>
            <a:pPr indent="0" marL="0">
              <a:buNone/>
            </a:pPr>
            <a:r>
              <a:rPr lang="en-US" sz="1350" b="1" dirty="0">
                <a:solidFill>
                  <a:schemeClr val="tx2"/>
                </a:solidFill>
              </a:rPr>
              <a:t>Climate adjustment</a:t>
            </a:r>
            <a:endParaRPr lang="en-US" sz="1350" dirty="0"/>
          </a:p>
        </p:txBody>
      </p:sp>
      <p:sp>
        <p:nvSpPr>
          <p:cNvPr id="32" name="Text 29"/>
          <p:cNvSpPr txBox="1"/>
          <p:nvPr/>
        </p:nvSpPr>
        <p:spPr>
          <a:xfrm>
            <a:off x="8714232" y="4892040"/>
            <a:ext cx="2743200" cy="1188720"/>
          </a:xfrm>
          <a:prstGeom prst="rect">
            <a:avLst/>
          </a:prstGeom>
          <a:noFill/>
          <a:ln/>
        </p:spPr>
        <p:txBody>
          <a:bodyPr wrap="square" lIns="508" tIns="508" rIns="508" bIns="508" rtlCol="0" anchor="t"/>
          <a:lstStyle/>
          <a:p>
            <a:pPr indent="0" marL="0">
              <a:spcAft>
                <a:spcPts val="400"/>
              </a:spcAft>
              <a:buNone/>
            </a:pPr>
            <a:r>
              <a:rPr lang="en-US" sz="1100" dirty="0">
                <a:solidFill>
                  <a:schemeClr val="tx1"/>
                </a:solidFill>
              </a:rPr>
              <a:t>K</a:t>
            </a:r>
            <a:r>
              <a:rPr lang="en-US" sz="1100" baseline="-40000" dirty="0">
                <a:solidFill>
                  <a:schemeClr val="tx1"/>
                </a:solidFill>
              </a:rPr>
              <a:t>c,mid</a:t>
            </a:r>
            <a:r>
              <a:rPr lang="en-US" sz="1100" dirty="0">
                <a:solidFill>
                  <a:schemeClr val="tx1"/>
                </a:solidFill>
              </a:rPr>
              <a:t> += [0.04(u</a:t>
            </a:r>
            <a:r>
              <a:rPr lang="en-US" sz="1100" baseline="-40000" dirty="0">
                <a:solidFill>
                  <a:schemeClr val="tx1"/>
                </a:solidFill>
              </a:rPr>
              <a:t>2</a:t>
            </a:r>
            <a:r>
              <a:rPr lang="en-US" sz="1100" dirty="0">
                <a:solidFill>
                  <a:schemeClr val="tx1"/>
                </a:solidFill>
              </a:rPr>
              <a:t> − 2) − 0.004(RH</a:t>
            </a:r>
            <a:r>
              <a:rPr lang="en-US" sz="1100" baseline="-40000" dirty="0">
                <a:solidFill>
                  <a:schemeClr val="tx1"/>
                </a:solidFill>
              </a:rPr>
              <a:t>min</a:t>
            </a:r>
            <a:r>
              <a:rPr lang="en-US" sz="1100" dirty="0">
                <a:solidFill>
                  <a:schemeClr val="tx1"/>
                </a:solidFill>
              </a:rPr>
              <a:t> − 45)](h/3)</a:t>
            </a:r>
            <a:r>
              <a:rPr lang="en-US" sz="1100" baseline="30000" dirty="0">
                <a:solidFill>
                  <a:schemeClr val="tx1"/>
                </a:solidFill>
              </a:rPr>
              <a:t>0.3</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Ground ET measurement: the validation standard</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194560"/>
                <a:gridCol w="3840480"/>
                <a:gridCol w="1828800"/>
                <a:gridCol w="3227832"/>
              </a:tblGrid>
              <a:tr h="51206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Principle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Footprint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Weighing lysimeter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Mass change of an isolated soil–crop block</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Point (few m²)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Only direct measure; benchmark (IARI has lysimeters)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Eddy covariance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Covariance of w′ and q′ at 10–20 Hz</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~100 × sensor height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Energy closure gap 10–30%; night errors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Bowen ratio (BREB)</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ΔT, Δe gradients → β; λE = (Rn − G)/(1 + 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Field (100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Simple, portable; fails when β → −1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Scintillometer (LAS)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Refractive-index fluctuations → H along a beam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0.5–5 km path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Matches km pixels (MODIS, INSAT)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Soil water balance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ET = P + I − D − R − ΔS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Field / basin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Weekly scale; drainage uncertain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12064">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Sap flow</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Heat-pulse velocity in stems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Plant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Transpiration only (E/T partition)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insight"/>
          <p:cNvSpPr/>
          <p:nvPr/>
        </p:nvSpPr>
        <p:spPr>
          <a:xfrm>
            <a:off x="548640" y="5120640"/>
            <a:ext cx="11094415" cy="868680"/>
          </a:xfrm>
          <a:prstGeom prst="roundRect">
            <a:avLst>
              <a:gd name="adj" fmla="val 8421"/>
            </a:avLst>
          </a:prstGeom>
          <a:solidFill>
            <a:schemeClr val="bg2"/>
          </a:solidFill>
          <a:ln/>
        </p:spPr>
      </p:sp>
      <p:sp>
        <p:nvSpPr>
          <p:cNvPr id="6" name="icon circle"/>
          <p:cNvSpPr/>
          <p:nvPr/>
        </p:nvSpPr>
        <p:spPr>
          <a:xfrm>
            <a:off x="685800" y="5317236"/>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440863"/>
            <a:ext cx="228234" cy="228234"/>
          </a:xfrm>
          <a:prstGeom prst="rect">
            <a:avLst/>
          </a:prstGeom>
        </p:spPr>
      </p:pic>
      <p:sp>
        <p:nvSpPr>
          <p:cNvPr id="8" name="Text 3"/>
          <p:cNvSpPr txBox="1"/>
          <p:nvPr/>
        </p:nvSpPr>
        <p:spPr>
          <a:xfrm>
            <a:off x="1325880" y="5157216"/>
            <a:ext cx="10180015" cy="79552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Scale mismatch:</a:t>
            </a:r>
            <a:r>
              <a:rPr lang="en-US" sz="1350" dirty="0">
                <a:solidFill>
                  <a:schemeClr val="tx1"/>
                </a:solidFill>
              </a:rPr>
              <a:t> a 30 m Landsat pixel can be checked with a flux tower, but a 1–8 km pixel cannot — hence scintillometers or two-step up-scaling (used in the Kalpana-1 study)</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Lysimeter and Bowen ratio energy balance</a:t>
            </a:r>
            <a:endParaRPr lang="en-US" sz="3200" dirty="0"/>
          </a:p>
        </p:txBody>
      </p:sp>
      <p:sp>
        <p:nvSpPr>
          <p:cNvPr id="4" name="card"/>
          <p:cNvSpPr/>
          <p:nvPr/>
        </p:nvSpPr>
        <p:spPr>
          <a:xfrm>
            <a:off x="548640" y="1280160"/>
            <a:ext cx="548640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5212080" cy="320040"/>
          </a:xfrm>
          <a:prstGeom prst="rect">
            <a:avLst/>
          </a:prstGeom>
          <a:noFill/>
          <a:ln/>
        </p:spPr>
        <p:txBody>
          <a:bodyPr wrap="square" lIns="0" tIns="0" rIns="0" bIns="0" rtlCol="0" anchor="ctr"/>
          <a:lstStyle/>
          <a:p>
            <a:pPr algn="l" indent="0" marL="0">
              <a:buNone/>
            </a:pPr>
            <a:r>
              <a:rPr lang="en-US" sz="1400" b="1" dirty="0">
                <a:solidFill>
                  <a:schemeClr val="tx2"/>
                </a:solidFill>
              </a:rPr>
              <a:t>Weighing lysimeter</a:t>
            </a:r>
            <a:endParaRPr lang="en-US" sz="1400" dirty="0"/>
          </a:p>
        </p:txBody>
      </p:sp>
      <p:sp>
        <p:nvSpPr>
          <p:cNvPr id="6" name="field soil"/>
          <p:cNvSpPr/>
          <p:nvPr/>
        </p:nvSpPr>
        <p:spPr>
          <a:xfrm>
            <a:off x="822960" y="2468880"/>
            <a:ext cx="4937760" cy="1920240"/>
          </a:xfrm>
          <a:prstGeom prst="rect">
            <a:avLst/>
          </a:prstGeom>
          <a:solidFill>
            <a:srgbClr val="D9C3A5"/>
          </a:solidFill>
          <a:ln/>
        </p:spPr>
      </p:sp>
      <p:sp>
        <p:nvSpPr>
          <p:cNvPr id="7" name="lysimeter tank"/>
          <p:cNvSpPr/>
          <p:nvPr/>
        </p:nvSpPr>
        <p:spPr>
          <a:xfrm>
            <a:off x="2286000" y="2468880"/>
            <a:ext cx="2011680" cy="1554480"/>
          </a:xfrm>
          <a:prstGeom prst="rect">
            <a:avLst/>
          </a:prstGeom>
          <a:solidFill>
            <a:srgbClr val="B9875A"/>
          </a:solidFill>
          <a:ln w="25400">
            <a:solidFill>
              <a:srgbClr val="1E2430"/>
            </a:solidFill>
            <a:prstDash val="solid"/>
          </a:ln>
        </p:spPr>
      </p:sp>
      <p:sp>
        <p:nvSpPr>
          <p:cNvPr id="8" name="arrow"/>
          <p:cNvSpPr/>
          <p:nvPr/>
        </p:nvSpPr>
        <p:spPr>
          <a:xfrm flipV="1">
            <a:off x="1005840" y="2011680"/>
            <a:ext cx="0" cy="457200"/>
          </a:xfrm>
          <a:prstGeom prst="line">
            <a:avLst/>
          </a:prstGeom>
          <a:noFill/>
          <a:ln w="38100">
            <a:solidFill>
              <a:srgbClr val="2E7D4F"/>
            </a:solidFill>
            <a:prstDash val="solid"/>
          </a:ln>
        </p:spPr>
      </p:sp>
      <p:sp>
        <p:nvSpPr>
          <p:cNvPr id="9" name="arrow"/>
          <p:cNvSpPr/>
          <p:nvPr/>
        </p:nvSpPr>
        <p:spPr>
          <a:xfrm flipV="1">
            <a:off x="1463040" y="2011680"/>
            <a:ext cx="0" cy="457200"/>
          </a:xfrm>
          <a:prstGeom prst="line">
            <a:avLst/>
          </a:prstGeom>
          <a:noFill/>
          <a:ln w="38100">
            <a:solidFill>
              <a:srgbClr val="2E7D4F"/>
            </a:solidFill>
            <a:prstDash val="solid"/>
          </a:ln>
        </p:spPr>
      </p:sp>
      <p:sp>
        <p:nvSpPr>
          <p:cNvPr id="10" name="arrow"/>
          <p:cNvSpPr/>
          <p:nvPr/>
        </p:nvSpPr>
        <p:spPr>
          <a:xfrm flipV="1">
            <a:off x="1920240" y="2011680"/>
            <a:ext cx="0" cy="457200"/>
          </a:xfrm>
          <a:prstGeom prst="line">
            <a:avLst/>
          </a:prstGeom>
          <a:noFill/>
          <a:ln w="38100">
            <a:solidFill>
              <a:srgbClr val="2E7D4F"/>
            </a:solidFill>
            <a:prstDash val="solid"/>
          </a:ln>
        </p:spPr>
      </p:sp>
      <p:sp>
        <p:nvSpPr>
          <p:cNvPr id="11" name="arrow"/>
          <p:cNvSpPr/>
          <p:nvPr/>
        </p:nvSpPr>
        <p:spPr>
          <a:xfrm flipV="1">
            <a:off x="2377440" y="2011680"/>
            <a:ext cx="0" cy="457200"/>
          </a:xfrm>
          <a:prstGeom prst="line">
            <a:avLst/>
          </a:prstGeom>
          <a:noFill/>
          <a:ln w="38100">
            <a:solidFill>
              <a:srgbClr val="2E7D4F"/>
            </a:solidFill>
            <a:prstDash val="solid"/>
          </a:ln>
        </p:spPr>
      </p:sp>
      <p:sp>
        <p:nvSpPr>
          <p:cNvPr id="12" name="arrow"/>
          <p:cNvSpPr/>
          <p:nvPr/>
        </p:nvSpPr>
        <p:spPr>
          <a:xfrm flipV="1">
            <a:off x="2834640" y="2011680"/>
            <a:ext cx="0" cy="457200"/>
          </a:xfrm>
          <a:prstGeom prst="line">
            <a:avLst/>
          </a:prstGeom>
          <a:noFill/>
          <a:ln w="38100">
            <a:solidFill>
              <a:srgbClr val="2E7D4F"/>
            </a:solidFill>
            <a:prstDash val="solid"/>
          </a:ln>
        </p:spPr>
      </p:sp>
      <p:sp>
        <p:nvSpPr>
          <p:cNvPr id="13" name="arrow"/>
          <p:cNvSpPr/>
          <p:nvPr/>
        </p:nvSpPr>
        <p:spPr>
          <a:xfrm flipV="1">
            <a:off x="3291840" y="2011680"/>
            <a:ext cx="0" cy="457200"/>
          </a:xfrm>
          <a:prstGeom prst="line">
            <a:avLst/>
          </a:prstGeom>
          <a:noFill/>
          <a:ln w="38100">
            <a:solidFill>
              <a:srgbClr val="2E7D4F"/>
            </a:solidFill>
            <a:prstDash val="solid"/>
          </a:ln>
        </p:spPr>
      </p:sp>
      <p:sp>
        <p:nvSpPr>
          <p:cNvPr id="14" name="arrow"/>
          <p:cNvSpPr/>
          <p:nvPr/>
        </p:nvSpPr>
        <p:spPr>
          <a:xfrm flipV="1">
            <a:off x="3749040" y="2011680"/>
            <a:ext cx="0" cy="457200"/>
          </a:xfrm>
          <a:prstGeom prst="line">
            <a:avLst/>
          </a:prstGeom>
          <a:noFill/>
          <a:ln w="38100">
            <a:solidFill>
              <a:srgbClr val="2E7D4F"/>
            </a:solidFill>
            <a:prstDash val="solid"/>
          </a:ln>
        </p:spPr>
      </p:sp>
      <p:sp>
        <p:nvSpPr>
          <p:cNvPr id="15" name="arrow"/>
          <p:cNvSpPr/>
          <p:nvPr/>
        </p:nvSpPr>
        <p:spPr>
          <a:xfrm flipV="1">
            <a:off x="4206240" y="2011680"/>
            <a:ext cx="0" cy="457200"/>
          </a:xfrm>
          <a:prstGeom prst="line">
            <a:avLst/>
          </a:prstGeom>
          <a:noFill/>
          <a:ln w="38100">
            <a:solidFill>
              <a:srgbClr val="2E7D4F"/>
            </a:solidFill>
            <a:prstDash val="solid"/>
          </a:ln>
        </p:spPr>
      </p:sp>
      <p:sp>
        <p:nvSpPr>
          <p:cNvPr id="16" name="arrow"/>
          <p:cNvSpPr/>
          <p:nvPr/>
        </p:nvSpPr>
        <p:spPr>
          <a:xfrm flipV="1">
            <a:off x="4663440" y="2011680"/>
            <a:ext cx="0" cy="457200"/>
          </a:xfrm>
          <a:prstGeom prst="line">
            <a:avLst/>
          </a:prstGeom>
          <a:noFill/>
          <a:ln w="38100">
            <a:solidFill>
              <a:srgbClr val="2E7D4F"/>
            </a:solidFill>
            <a:prstDash val="solid"/>
          </a:ln>
        </p:spPr>
      </p:sp>
      <p:sp>
        <p:nvSpPr>
          <p:cNvPr id="17" name="arrow"/>
          <p:cNvSpPr/>
          <p:nvPr/>
        </p:nvSpPr>
        <p:spPr>
          <a:xfrm flipV="1">
            <a:off x="5120640" y="2011680"/>
            <a:ext cx="0" cy="457200"/>
          </a:xfrm>
          <a:prstGeom prst="line">
            <a:avLst/>
          </a:prstGeom>
          <a:noFill/>
          <a:ln w="38100">
            <a:solidFill>
              <a:srgbClr val="2E7D4F"/>
            </a:solidFill>
            <a:prstDash val="solid"/>
          </a:ln>
        </p:spPr>
      </p:sp>
      <p:sp>
        <p:nvSpPr>
          <p:cNvPr id="18" name="arrow"/>
          <p:cNvSpPr/>
          <p:nvPr/>
        </p:nvSpPr>
        <p:spPr>
          <a:xfrm flipV="1">
            <a:off x="5577840" y="2011680"/>
            <a:ext cx="0" cy="457200"/>
          </a:xfrm>
          <a:prstGeom prst="line">
            <a:avLst/>
          </a:prstGeom>
          <a:noFill/>
          <a:ln w="38100">
            <a:solidFill>
              <a:srgbClr val="2E7D4F"/>
            </a:solidFill>
            <a:prstDash val="solid"/>
          </a:ln>
        </p:spPr>
      </p:sp>
      <p:sp>
        <p:nvSpPr>
          <p:cNvPr id="19" name="load cell"/>
          <p:cNvSpPr/>
          <p:nvPr/>
        </p:nvSpPr>
        <p:spPr>
          <a:xfrm>
            <a:off x="2286000" y="4041648"/>
            <a:ext cx="2011680" cy="182880"/>
          </a:xfrm>
          <a:prstGeom prst="rect">
            <a:avLst/>
          </a:prstGeom>
          <a:solidFill>
            <a:srgbClr val="5C6B73"/>
          </a:solidFill>
          <a:ln/>
        </p:spPr>
      </p:sp>
      <p:sp>
        <p:nvSpPr>
          <p:cNvPr id="20" name="Text 17"/>
          <p:cNvSpPr txBox="1"/>
          <p:nvPr/>
        </p:nvSpPr>
        <p:spPr>
          <a:xfrm>
            <a:off x="4389120" y="3977640"/>
            <a:ext cx="1463040" cy="274320"/>
          </a:xfrm>
          <a:prstGeom prst="rect">
            <a:avLst/>
          </a:prstGeom>
          <a:noFill/>
          <a:ln/>
        </p:spPr>
        <p:txBody>
          <a:bodyPr wrap="square" lIns="0" tIns="0" rIns="0" bIns="0" rtlCol="0" anchor="ctr"/>
          <a:lstStyle/>
          <a:p>
            <a:pPr algn="l" indent="0" marL="0">
              <a:buNone/>
            </a:pPr>
            <a:r>
              <a:rPr lang="en-US" sz="1100" b="1" dirty="0">
                <a:solidFill>
                  <a:schemeClr val="tx1"/>
                </a:solidFill>
              </a:rPr>
              <a:t>load cells / scale</a:t>
            </a:r>
            <a:endParaRPr lang="en-US" sz="1100" dirty="0"/>
          </a:p>
        </p:txBody>
      </p:sp>
      <p:sp>
        <p:nvSpPr>
          <p:cNvPr id="21" name="arrow"/>
          <p:cNvSpPr/>
          <p:nvPr/>
        </p:nvSpPr>
        <p:spPr>
          <a:xfrm>
            <a:off x="3291840" y="4251960"/>
            <a:ext cx="0" cy="411480"/>
          </a:xfrm>
          <a:prstGeom prst="line">
            <a:avLst/>
          </a:prstGeom>
          <a:noFill/>
          <a:ln w="25400">
            <a:solidFill>
              <a:srgbClr val="3B6EA5"/>
            </a:solidFill>
            <a:prstDash val="solid"/>
            <a:tailEnd type="triangle"/>
          </a:ln>
        </p:spPr>
      </p:sp>
      <p:sp>
        <p:nvSpPr>
          <p:cNvPr id="22" name="Text 19"/>
          <p:cNvSpPr txBox="1"/>
          <p:nvPr/>
        </p:nvSpPr>
        <p:spPr>
          <a:xfrm>
            <a:off x="3383280" y="4389120"/>
            <a:ext cx="1188720" cy="274320"/>
          </a:xfrm>
          <a:prstGeom prst="rect">
            <a:avLst/>
          </a:prstGeom>
          <a:noFill/>
          <a:ln/>
        </p:spPr>
        <p:txBody>
          <a:bodyPr wrap="square" lIns="0" tIns="0" rIns="0" bIns="0" rtlCol="0" anchor="ctr"/>
          <a:lstStyle/>
          <a:p>
            <a:pPr algn="l" indent="0" marL="0">
              <a:buNone/>
            </a:pPr>
            <a:r>
              <a:rPr lang="en-US" sz="1100" dirty="0">
                <a:solidFill>
                  <a:schemeClr val="tx1"/>
                </a:solidFill>
              </a:rPr>
              <a:t>drainage D</a:t>
            </a:r>
            <a:endParaRPr lang="en-US" sz="1100" dirty="0"/>
          </a:p>
        </p:txBody>
      </p:sp>
      <p:sp>
        <p:nvSpPr>
          <p:cNvPr id="23" name="arrow"/>
          <p:cNvSpPr/>
          <p:nvPr/>
        </p:nvSpPr>
        <p:spPr>
          <a:xfrm flipV="1">
            <a:off x="2743200" y="1737360"/>
            <a:ext cx="0" cy="228600"/>
          </a:xfrm>
          <a:prstGeom prst="line">
            <a:avLst/>
          </a:prstGeom>
          <a:noFill/>
          <a:ln w="31750">
            <a:solidFill>
              <a:srgbClr val="3B6EA5"/>
            </a:solidFill>
            <a:prstDash val="solid"/>
            <a:tailEnd type="triangle"/>
          </a:ln>
        </p:spPr>
      </p:sp>
      <p:sp>
        <p:nvSpPr>
          <p:cNvPr id="24" name="Text 21"/>
          <p:cNvSpPr txBox="1"/>
          <p:nvPr/>
        </p:nvSpPr>
        <p:spPr>
          <a:xfrm>
            <a:off x="2834640" y="1691640"/>
            <a:ext cx="457200" cy="274320"/>
          </a:xfrm>
          <a:prstGeom prst="rect">
            <a:avLst/>
          </a:prstGeom>
          <a:noFill/>
          <a:ln/>
        </p:spPr>
        <p:txBody>
          <a:bodyPr wrap="square" lIns="0" tIns="0" rIns="0" bIns="0" rtlCol="0" anchor="ctr"/>
          <a:lstStyle/>
          <a:p>
            <a:pPr algn="l" indent="0" marL="0">
              <a:buNone/>
            </a:pPr>
            <a:r>
              <a:rPr lang="en-US" sz="1200" b="1" dirty="0">
                <a:solidFill>
                  <a:schemeClr val="accent2"/>
                </a:solidFill>
              </a:rPr>
              <a:t>ET</a:t>
            </a:r>
            <a:endParaRPr lang="en-US" sz="1200" dirty="0"/>
          </a:p>
        </p:txBody>
      </p:sp>
      <p:sp>
        <p:nvSpPr>
          <p:cNvPr id="25" name="card"/>
          <p:cNvSpPr/>
          <p:nvPr/>
        </p:nvSpPr>
        <p:spPr>
          <a:xfrm>
            <a:off x="822960" y="4846320"/>
            <a:ext cx="4937760" cy="566928"/>
          </a:xfrm>
          <a:prstGeom prst="roundRect">
            <a:avLst>
              <a:gd name="adj" fmla="val 12903"/>
            </a:avLst>
          </a:prstGeom>
          <a:solidFill>
            <a:schemeClr val="accent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960120" y="4846320"/>
            <a:ext cx="4663440" cy="566928"/>
          </a:xfrm>
          <a:prstGeom prst="rect">
            <a:avLst/>
          </a:prstGeom>
          <a:noFill/>
          <a:ln/>
        </p:spPr>
        <p:txBody>
          <a:bodyPr wrap="square" lIns="0" tIns="0" rIns="0" bIns="0" rtlCol="0" anchor="ctr"/>
          <a:lstStyle/>
          <a:p>
            <a:pPr algn="ctr" indent="0" marL="0">
              <a:buNone/>
            </a:pPr>
            <a:r>
              <a:rPr lang="en-US" sz="1500" b="1" dirty="0">
                <a:solidFill>
                  <a:schemeClr val="bg1"/>
                </a:solidFill>
              </a:rPr>
              <a:t>ET = P + I − D − ΔW/(ρ</a:t>
            </a:r>
            <a:r>
              <a:rPr lang="en-US" sz="1500" b="1" baseline="-40000" dirty="0">
                <a:solidFill>
                  <a:schemeClr val="bg1"/>
                </a:solidFill>
              </a:rPr>
              <a:t>w</a:t>
            </a:r>
            <a:r>
              <a:rPr lang="en-US" sz="1500" b="1" dirty="0">
                <a:solidFill>
                  <a:schemeClr val="bg1"/>
                </a:solidFill>
              </a:rPr>
              <a:t>A)</a:t>
            </a:r>
            <a:endParaRPr lang="en-US" sz="1500" dirty="0"/>
          </a:p>
        </p:txBody>
      </p:sp>
      <p:sp>
        <p:nvSpPr>
          <p:cNvPr id="27" name="Text 24"/>
          <p:cNvSpPr txBox="1"/>
          <p:nvPr/>
        </p:nvSpPr>
        <p:spPr>
          <a:xfrm>
            <a:off x="731520" y="5532120"/>
            <a:ext cx="5120640" cy="457200"/>
          </a:xfrm>
          <a:prstGeom prst="rect">
            <a:avLst/>
          </a:prstGeom>
          <a:noFill/>
          <a:ln/>
        </p:spPr>
        <p:txBody>
          <a:bodyPr wrap="square" lIns="0" tIns="0" rIns="0" bIns="0" rtlCol="0" anchor="ctr"/>
          <a:lstStyle/>
          <a:p>
            <a:pPr algn="ctr" indent="0" marL="0">
              <a:buNone/>
            </a:pPr>
            <a:r>
              <a:rPr lang="en-US" sz="1100" i="1" dirty="0">
                <a:solidFill>
                  <a:schemeClr val="accent6"/>
                </a:solidFill>
              </a:rPr>
              <a:t>Direct, 0.01–0.05 mm resolution · point scale · crop inside must match field</a:t>
            </a:r>
            <a:endParaRPr lang="en-US" sz="1100" dirty="0"/>
          </a:p>
        </p:txBody>
      </p:sp>
      <p:sp>
        <p:nvSpPr>
          <p:cNvPr id="28" name="card"/>
          <p:cNvSpPr/>
          <p:nvPr/>
        </p:nvSpPr>
        <p:spPr>
          <a:xfrm>
            <a:off x="6153912" y="1280160"/>
            <a:ext cx="548640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29" name="Text 26"/>
          <p:cNvSpPr txBox="1"/>
          <p:nvPr/>
        </p:nvSpPr>
        <p:spPr>
          <a:xfrm>
            <a:off x="6291072" y="1353312"/>
            <a:ext cx="5212080" cy="320040"/>
          </a:xfrm>
          <a:prstGeom prst="rect">
            <a:avLst/>
          </a:prstGeom>
          <a:noFill/>
          <a:ln/>
        </p:spPr>
        <p:txBody>
          <a:bodyPr wrap="square" lIns="0" tIns="0" rIns="0" bIns="0" rtlCol="0" anchor="ctr"/>
          <a:lstStyle/>
          <a:p>
            <a:pPr algn="l" indent="0" marL="0">
              <a:buNone/>
            </a:pPr>
            <a:r>
              <a:rPr lang="en-US" sz="1400" b="1" dirty="0">
                <a:solidFill>
                  <a:schemeClr val="tx2"/>
                </a:solidFill>
              </a:rPr>
              <a:t>Bowen ratio energy balance (BREB)</a:t>
            </a:r>
            <a:endParaRPr lang="en-US" sz="1400" dirty="0"/>
          </a:p>
        </p:txBody>
      </p:sp>
      <p:sp>
        <p:nvSpPr>
          <p:cNvPr id="30" name="arrow"/>
          <p:cNvSpPr/>
          <p:nvPr/>
        </p:nvSpPr>
        <p:spPr>
          <a:xfrm flipV="1">
            <a:off x="6949440" y="1783080"/>
            <a:ext cx="0" cy="2423160"/>
          </a:xfrm>
          <a:prstGeom prst="line">
            <a:avLst/>
          </a:prstGeom>
          <a:noFill/>
          <a:ln w="38100">
            <a:solidFill>
              <a:srgbClr val="1E2430"/>
            </a:solidFill>
            <a:prstDash val="solid"/>
          </a:ln>
        </p:spPr>
      </p:sp>
      <p:sp>
        <p:nvSpPr>
          <p:cNvPr id="31" name="arrow"/>
          <p:cNvSpPr/>
          <p:nvPr/>
        </p:nvSpPr>
        <p:spPr>
          <a:xfrm flipV="1">
            <a:off x="6400800" y="3794760"/>
            <a:ext cx="0" cy="411480"/>
          </a:xfrm>
          <a:prstGeom prst="line">
            <a:avLst/>
          </a:prstGeom>
          <a:noFill/>
          <a:ln w="38100">
            <a:solidFill>
              <a:srgbClr val="2E7D4F"/>
            </a:solidFill>
            <a:prstDash val="solid"/>
          </a:ln>
        </p:spPr>
      </p:sp>
      <p:sp>
        <p:nvSpPr>
          <p:cNvPr id="32" name="arrow"/>
          <p:cNvSpPr/>
          <p:nvPr/>
        </p:nvSpPr>
        <p:spPr>
          <a:xfrm flipV="1">
            <a:off x="6949440" y="3794760"/>
            <a:ext cx="0" cy="411480"/>
          </a:xfrm>
          <a:prstGeom prst="line">
            <a:avLst/>
          </a:prstGeom>
          <a:noFill/>
          <a:ln w="38100">
            <a:solidFill>
              <a:srgbClr val="2E7D4F"/>
            </a:solidFill>
            <a:prstDash val="solid"/>
          </a:ln>
        </p:spPr>
      </p:sp>
      <p:sp>
        <p:nvSpPr>
          <p:cNvPr id="33" name="arrow"/>
          <p:cNvSpPr/>
          <p:nvPr/>
        </p:nvSpPr>
        <p:spPr>
          <a:xfrm flipV="1">
            <a:off x="7498080" y="3794760"/>
            <a:ext cx="0" cy="411480"/>
          </a:xfrm>
          <a:prstGeom prst="line">
            <a:avLst/>
          </a:prstGeom>
          <a:noFill/>
          <a:ln w="38100">
            <a:solidFill>
              <a:srgbClr val="2E7D4F"/>
            </a:solidFill>
            <a:prstDash val="solid"/>
          </a:ln>
        </p:spPr>
      </p:sp>
      <p:sp>
        <p:nvSpPr>
          <p:cNvPr id="34" name="arrow"/>
          <p:cNvSpPr/>
          <p:nvPr/>
        </p:nvSpPr>
        <p:spPr>
          <a:xfrm flipV="1">
            <a:off x="8046720" y="3794760"/>
            <a:ext cx="0" cy="411480"/>
          </a:xfrm>
          <a:prstGeom prst="line">
            <a:avLst/>
          </a:prstGeom>
          <a:noFill/>
          <a:ln w="38100">
            <a:solidFill>
              <a:srgbClr val="2E7D4F"/>
            </a:solidFill>
            <a:prstDash val="solid"/>
          </a:ln>
        </p:spPr>
      </p:sp>
      <p:sp>
        <p:nvSpPr>
          <p:cNvPr id="35" name="arrow"/>
          <p:cNvSpPr/>
          <p:nvPr/>
        </p:nvSpPr>
        <p:spPr>
          <a:xfrm flipV="1">
            <a:off x="8595360" y="3794760"/>
            <a:ext cx="0" cy="411480"/>
          </a:xfrm>
          <a:prstGeom prst="line">
            <a:avLst/>
          </a:prstGeom>
          <a:noFill/>
          <a:ln w="38100">
            <a:solidFill>
              <a:srgbClr val="2E7D4F"/>
            </a:solidFill>
            <a:prstDash val="solid"/>
          </a:ln>
        </p:spPr>
      </p:sp>
      <p:sp>
        <p:nvSpPr>
          <p:cNvPr id="36" name="arrow"/>
          <p:cNvSpPr/>
          <p:nvPr/>
        </p:nvSpPr>
        <p:spPr>
          <a:xfrm flipV="1">
            <a:off x="9144000" y="3794760"/>
            <a:ext cx="0" cy="411480"/>
          </a:xfrm>
          <a:prstGeom prst="line">
            <a:avLst/>
          </a:prstGeom>
          <a:noFill/>
          <a:ln w="38100">
            <a:solidFill>
              <a:srgbClr val="2E7D4F"/>
            </a:solidFill>
            <a:prstDash val="solid"/>
          </a:ln>
        </p:spPr>
      </p:sp>
      <p:sp>
        <p:nvSpPr>
          <p:cNvPr id="37" name="arrow"/>
          <p:cNvSpPr/>
          <p:nvPr/>
        </p:nvSpPr>
        <p:spPr>
          <a:xfrm flipV="1">
            <a:off x="9692640" y="3794760"/>
            <a:ext cx="0" cy="411480"/>
          </a:xfrm>
          <a:prstGeom prst="line">
            <a:avLst/>
          </a:prstGeom>
          <a:noFill/>
          <a:ln w="38100">
            <a:solidFill>
              <a:srgbClr val="2E7D4F"/>
            </a:solidFill>
            <a:prstDash val="solid"/>
          </a:ln>
        </p:spPr>
      </p:sp>
      <p:sp>
        <p:nvSpPr>
          <p:cNvPr id="38" name="arrow"/>
          <p:cNvSpPr/>
          <p:nvPr/>
        </p:nvSpPr>
        <p:spPr>
          <a:xfrm flipV="1">
            <a:off x="10241280" y="3794760"/>
            <a:ext cx="0" cy="411480"/>
          </a:xfrm>
          <a:prstGeom prst="line">
            <a:avLst/>
          </a:prstGeom>
          <a:noFill/>
          <a:ln w="38100">
            <a:solidFill>
              <a:srgbClr val="2E7D4F"/>
            </a:solidFill>
            <a:prstDash val="solid"/>
          </a:ln>
        </p:spPr>
      </p:sp>
      <p:sp>
        <p:nvSpPr>
          <p:cNvPr id="39" name="arrow"/>
          <p:cNvSpPr/>
          <p:nvPr/>
        </p:nvSpPr>
        <p:spPr>
          <a:xfrm flipV="1">
            <a:off x="10789920" y="3794760"/>
            <a:ext cx="0" cy="411480"/>
          </a:xfrm>
          <a:prstGeom prst="line">
            <a:avLst/>
          </a:prstGeom>
          <a:noFill/>
          <a:ln w="38100">
            <a:solidFill>
              <a:srgbClr val="2E7D4F"/>
            </a:solidFill>
            <a:prstDash val="solid"/>
          </a:ln>
        </p:spPr>
      </p:sp>
      <p:sp>
        <p:nvSpPr>
          <p:cNvPr id="40" name="arrow"/>
          <p:cNvSpPr/>
          <p:nvPr/>
        </p:nvSpPr>
        <p:spPr>
          <a:xfrm>
            <a:off x="6355080" y="4206240"/>
            <a:ext cx="5120640" cy="0"/>
          </a:xfrm>
          <a:prstGeom prst="line">
            <a:avLst/>
          </a:prstGeom>
          <a:noFill/>
          <a:ln w="38100">
            <a:solidFill>
              <a:srgbClr val="8C5E34"/>
            </a:solidFill>
            <a:prstDash val="solid"/>
          </a:ln>
        </p:spPr>
      </p:sp>
      <p:sp>
        <p:nvSpPr>
          <p:cNvPr id="41" name="sensor"/>
          <p:cNvSpPr/>
          <p:nvPr/>
        </p:nvSpPr>
        <p:spPr>
          <a:xfrm>
            <a:off x="6812280" y="2103120"/>
            <a:ext cx="274320" cy="201168"/>
          </a:xfrm>
          <a:prstGeom prst="rect">
            <a:avLst/>
          </a:prstGeom>
          <a:solidFill>
            <a:srgbClr val="C0702A"/>
          </a:solidFill>
          <a:ln/>
        </p:spPr>
      </p:sp>
      <p:sp>
        <p:nvSpPr>
          <p:cNvPr id="42" name="Text 39"/>
          <p:cNvSpPr txBox="1"/>
          <p:nvPr/>
        </p:nvSpPr>
        <p:spPr>
          <a:xfrm>
            <a:off x="7178040" y="2057400"/>
            <a:ext cx="1097280" cy="274320"/>
          </a:xfrm>
          <a:prstGeom prst="rect">
            <a:avLst/>
          </a:prstGeom>
          <a:noFill/>
          <a:ln/>
        </p:spPr>
        <p:txBody>
          <a:bodyPr wrap="square" lIns="0" tIns="0" rIns="0" bIns="0" rtlCol="0" anchor="ctr"/>
          <a:lstStyle/>
          <a:p>
            <a:pPr algn="l" indent="0" marL="0">
              <a:buNone/>
            </a:pPr>
            <a:r>
              <a:rPr lang="en-US" sz="1150" b="1" dirty="0">
                <a:solidFill>
                  <a:schemeClr val="tx1"/>
                </a:solidFill>
              </a:rPr>
              <a:t>T</a:t>
            </a:r>
            <a:r>
              <a:rPr lang="en-US" sz="1150" b="1" baseline="-40000" dirty="0">
                <a:solidFill>
                  <a:schemeClr val="tx1"/>
                </a:solidFill>
              </a:rPr>
              <a:t>2</a:t>
            </a:r>
            <a:r>
              <a:rPr lang="en-US" sz="1150" b="1" dirty="0">
                <a:solidFill>
                  <a:schemeClr val="tx1"/>
                </a:solidFill>
              </a:rPr>
              <a:t>, e</a:t>
            </a:r>
            <a:r>
              <a:rPr lang="en-US" sz="1150" b="1" baseline="-40000" dirty="0">
                <a:solidFill>
                  <a:schemeClr val="tx1"/>
                </a:solidFill>
              </a:rPr>
              <a:t>2</a:t>
            </a:r>
            <a:endParaRPr lang="en-US" sz="1150" dirty="0"/>
          </a:p>
        </p:txBody>
      </p:sp>
      <p:sp>
        <p:nvSpPr>
          <p:cNvPr id="43" name="sensor"/>
          <p:cNvSpPr/>
          <p:nvPr/>
        </p:nvSpPr>
        <p:spPr>
          <a:xfrm>
            <a:off x="6812280" y="3154680"/>
            <a:ext cx="274320" cy="201168"/>
          </a:xfrm>
          <a:prstGeom prst="rect">
            <a:avLst/>
          </a:prstGeom>
          <a:solidFill>
            <a:srgbClr val="C0702A"/>
          </a:solidFill>
          <a:ln/>
        </p:spPr>
      </p:sp>
      <p:sp>
        <p:nvSpPr>
          <p:cNvPr id="44" name="Text 41"/>
          <p:cNvSpPr txBox="1"/>
          <p:nvPr/>
        </p:nvSpPr>
        <p:spPr>
          <a:xfrm>
            <a:off x="7178040" y="3108960"/>
            <a:ext cx="1097280" cy="274320"/>
          </a:xfrm>
          <a:prstGeom prst="rect">
            <a:avLst/>
          </a:prstGeom>
          <a:noFill/>
          <a:ln/>
        </p:spPr>
        <p:txBody>
          <a:bodyPr wrap="square" lIns="0" tIns="0" rIns="0" bIns="0" rtlCol="0" anchor="ctr"/>
          <a:lstStyle/>
          <a:p>
            <a:pPr algn="l" indent="0" marL="0">
              <a:buNone/>
            </a:pPr>
            <a:r>
              <a:rPr lang="en-US" sz="1150" b="1" dirty="0">
                <a:solidFill>
                  <a:schemeClr val="tx1"/>
                </a:solidFill>
              </a:rPr>
              <a:t>T</a:t>
            </a:r>
            <a:r>
              <a:rPr lang="en-US" sz="1150" b="1" baseline="-40000" dirty="0">
                <a:solidFill>
                  <a:schemeClr val="tx1"/>
                </a:solidFill>
              </a:rPr>
              <a:t>1</a:t>
            </a:r>
            <a:r>
              <a:rPr lang="en-US" sz="1150" b="1" dirty="0">
                <a:solidFill>
                  <a:schemeClr val="tx1"/>
                </a:solidFill>
              </a:rPr>
              <a:t>, e</a:t>
            </a:r>
            <a:r>
              <a:rPr lang="en-US" sz="1150" b="1" baseline="-40000" dirty="0">
                <a:solidFill>
                  <a:schemeClr val="tx1"/>
                </a:solidFill>
              </a:rPr>
              <a:t>1</a:t>
            </a:r>
            <a:endParaRPr lang="en-US" sz="1150" dirty="0"/>
          </a:p>
        </p:txBody>
      </p:sp>
      <p:sp>
        <p:nvSpPr>
          <p:cNvPr id="45" name="Text 42"/>
          <p:cNvSpPr txBox="1"/>
          <p:nvPr/>
        </p:nvSpPr>
        <p:spPr>
          <a:xfrm>
            <a:off x="6291072" y="2606040"/>
            <a:ext cx="640080" cy="274320"/>
          </a:xfrm>
          <a:prstGeom prst="rect">
            <a:avLst/>
          </a:prstGeom>
          <a:noFill/>
          <a:ln/>
        </p:spPr>
        <p:txBody>
          <a:bodyPr wrap="square" lIns="0" tIns="0" rIns="0" bIns="0" rtlCol="0" anchor="ctr"/>
          <a:lstStyle/>
          <a:p>
            <a:pPr algn="l" indent="0" marL="0">
              <a:buNone/>
            </a:pPr>
            <a:r>
              <a:rPr lang="en-US" sz="1050" dirty="0">
                <a:solidFill>
                  <a:schemeClr val="accent6"/>
                </a:solidFill>
              </a:rPr>
              <a:t>Δz ≈ 1 m</a:t>
            </a:r>
            <a:endParaRPr lang="en-US" sz="1050" dirty="0"/>
          </a:p>
        </p:txBody>
      </p:sp>
      <p:sp>
        <p:nvSpPr>
          <p:cNvPr id="46" name="Text 43"/>
          <p:cNvSpPr txBox="1"/>
          <p:nvPr/>
        </p:nvSpPr>
        <p:spPr>
          <a:xfrm>
            <a:off x="8503920" y="1874520"/>
            <a:ext cx="3017520" cy="1737360"/>
          </a:xfrm>
          <a:prstGeom prst="rect">
            <a:avLst/>
          </a:prstGeom>
          <a:noFill/>
          <a:ln/>
        </p:spPr>
        <p:txBody>
          <a:bodyPr wrap="square" lIns="508" tIns="508" rIns="508" bIns="508" rtlCol="0" anchor="t"/>
          <a:lstStyle/>
          <a:p>
            <a:pPr indent="0" marL="0">
              <a:spcAft>
                <a:spcPts val="600"/>
              </a:spcAft>
              <a:buNone/>
            </a:pPr>
            <a:r>
              <a:rPr lang="en-US" sz="1500" b="1" dirty="0">
                <a:solidFill>
                  <a:schemeClr val="accent4"/>
                </a:solidFill>
              </a:rPr>
              <a:t>β = γ·ΔT/Δe</a:t>
            </a:r>
            <a:endParaRPr lang="en-US" sz="1500" dirty="0"/>
          </a:p>
          <a:p>
            <a:pPr indent="0" marL="0">
              <a:spcAft>
                <a:spcPts val="600"/>
              </a:spcAft>
              <a:buNone/>
            </a:pPr>
            <a:r>
              <a:rPr lang="en-US" sz="1500" b="1" dirty="0">
                <a:solidFill>
                  <a:schemeClr val="accent2"/>
                </a:solidFill>
              </a:rPr>
              <a:t>λE = (Rn − G)/(1 + β)</a:t>
            </a:r>
            <a:endParaRPr lang="en-US" sz="1500" dirty="0"/>
          </a:p>
          <a:p>
            <a:pPr indent="0" marL="0">
              <a:spcAft>
                <a:spcPts val="600"/>
              </a:spcAft>
              <a:buNone/>
            </a:pPr>
            <a:r>
              <a:rPr lang="en-US" sz="1500" b="1" dirty="0">
                <a:solidFill>
                  <a:schemeClr val="tx1"/>
                </a:solidFill>
              </a:rPr>
              <a:t>H = β·λE</a:t>
            </a:r>
            <a:endParaRPr lang="en-US" sz="1500" dirty="0"/>
          </a:p>
        </p:txBody>
      </p:sp>
      <p:sp>
        <p:nvSpPr>
          <p:cNvPr id="47" name="Text 44"/>
          <p:cNvSpPr txBox="1"/>
          <p:nvPr/>
        </p:nvSpPr>
        <p:spPr>
          <a:xfrm>
            <a:off x="6291072" y="4389120"/>
            <a:ext cx="5212080" cy="173736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Assumes equal eddy diffusivities for heat and vapour (K</a:t>
            </a:r>
            <a:r>
              <a:rPr lang="en-US" sz="1200" baseline="-40000" dirty="0">
                <a:solidFill>
                  <a:schemeClr val="tx1"/>
                </a:solidFill>
              </a:rPr>
              <a:t>h</a:t>
            </a:r>
            <a:r>
              <a:rPr lang="en-US" sz="1200" dirty="0">
                <a:solidFill>
                  <a:schemeClr val="tx1"/>
                </a:solidFill>
              </a:rPr>
              <a:t> = K</a:t>
            </a:r>
            <a:r>
              <a:rPr lang="en-US" sz="1200" baseline="-40000" dirty="0">
                <a:solidFill>
                  <a:schemeClr val="tx1"/>
                </a:solidFill>
              </a:rPr>
              <a:t>w</a:t>
            </a:r>
            <a:r>
              <a:rPr lang="en-US" sz="1200" dirty="0">
                <a:solidFill>
                  <a:schemeClr val="tx1"/>
                </a:solidFill>
              </a:rPr>
              <a:t>)</a:t>
            </a:r>
            <a:endParaRPr lang="en-US" sz="1200" dirty="0"/>
          </a:p>
          <a:p>
            <a:pPr marL="177800" indent="-177800">
              <a:spcAft>
                <a:spcPts val="600"/>
              </a:spcAft>
              <a:buSzPct val="100000"/>
              <a:buChar char="•"/>
            </a:pPr>
            <a:r>
              <a:rPr lang="en-US" sz="1200" dirty="0">
                <a:solidFill>
                  <a:schemeClr val="tx1"/>
                </a:solidFill>
              </a:rPr>
              <a:t>Needs Rn, G and two-level T, e; no wind data</a:t>
            </a:r>
            <a:endParaRPr lang="en-US" sz="1200" dirty="0"/>
          </a:p>
          <a:p>
            <a:pPr marL="177800" indent="-177800">
              <a:spcAft>
                <a:spcPts val="600"/>
              </a:spcAft>
              <a:buSzPct val="100000"/>
              <a:buChar char="•"/>
            </a:pPr>
            <a:r>
              <a:rPr lang="en-US" sz="1200" dirty="0">
                <a:solidFill>
                  <a:schemeClr val="accent4"/>
                </a:solidFill>
              </a:rPr>
              <a:t>Fails near β = −1 (sunrise, sunset) and with advection</a:t>
            </a:r>
            <a:endParaRPr lang="en-US" sz="1200" dirty="0"/>
          </a:p>
          <a:p>
            <a:pPr marL="177800" indent="-177800">
              <a:spcAft>
                <a:spcPts val="600"/>
              </a:spcAft>
              <a:buSzPct val="100000"/>
              <a:buChar char="•"/>
            </a:pPr>
            <a:r>
              <a:rPr lang="en-US" sz="1200" dirty="0">
                <a:solidFill>
                  <a:schemeClr val="tx1"/>
                </a:solidFill>
              </a:rPr>
              <a:t>Used (portable units) at the SAC crop sites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Eddy covariance: principle and instruments</a:t>
            </a:r>
            <a:endParaRPr lang="en-US" sz="3200" dirty="0"/>
          </a:p>
        </p:txBody>
      </p:sp>
      <p:sp>
        <p:nvSpPr>
          <p:cNvPr id="4" name="card"/>
          <p:cNvSpPr/>
          <p:nvPr/>
        </p:nvSpPr>
        <p:spPr>
          <a:xfrm>
            <a:off x="548640" y="1280160"/>
            <a:ext cx="512064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arrow"/>
          <p:cNvSpPr/>
          <p:nvPr/>
        </p:nvSpPr>
        <p:spPr>
          <a:xfrm>
            <a:off x="914400" y="5394960"/>
            <a:ext cx="4480560" cy="0"/>
          </a:xfrm>
          <a:prstGeom prst="line">
            <a:avLst/>
          </a:prstGeom>
          <a:noFill/>
          <a:ln w="38100">
            <a:solidFill>
              <a:srgbClr val="8C5E34"/>
            </a:solidFill>
            <a:prstDash val="solid"/>
          </a:ln>
        </p:spPr>
      </p:sp>
      <p:sp>
        <p:nvSpPr>
          <p:cNvPr id="6" name="arrow"/>
          <p:cNvSpPr/>
          <p:nvPr/>
        </p:nvSpPr>
        <p:spPr>
          <a:xfrm flipV="1">
            <a:off x="1051560" y="4983480"/>
            <a:ext cx="0" cy="411480"/>
          </a:xfrm>
          <a:prstGeom prst="line">
            <a:avLst/>
          </a:prstGeom>
          <a:noFill/>
          <a:ln w="38100">
            <a:solidFill>
              <a:srgbClr val="2E7D4F"/>
            </a:solidFill>
            <a:prstDash val="solid"/>
          </a:ln>
        </p:spPr>
      </p:sp>
      <p:sp>
        <p:nvSpPr>
          <p:cNvPr id="7" name="arrow"/>
          <p:cNvSpPr/>
          <p:nvPr/>
        </p:nvSpPr>
        <p:spPr>
          <a:xfrm flipV="1">
            <a:off x="1490472" y="4983480"/>
            <a:ext cx="0" cy="411480"/>
          </a:xfrm>
          <a:prstGeom prst="line">
            <a:avLst/>
          </a:prstGeom>
          <a:noFill/>
          <a:ln w="38100">
            <a:solidFill>
              <a:srgbClr val="2E7D4F"/>
            </a:solidFill>
            <a:prstDash val="solid"/>
          </a:ln>
        </p:spPr>
      </p:sp>
      <p:sp>
        <p:nvSpPr>
          <p:cNvPr id="8" name="arrow"/>
          <p:cNvSpPr/>
          <p:nvPr/>
        </p:nvSpPr>
        <p:spPr>
          <a:xfrm flipV="1">
            <a:off x="1929384" y="4983480"/>
            <a:ext cx="0" cy="411480"/>
          </a:xfrm>
          <a:prstGeom prst="line">
            <a:avLst/>
          </a:prstGeom>
          <a:noFill/>
          <a:ln w="38100">
            <a:solidFill>
              <a:srgbClr val="2E7D4F"/>
            </a:solidFill>
            <a:prstDash val="solid"/>
          </a:ln>
        </p:spPr>
      </p:sp>
      <p:sp>
        <p:nvSpPr>
          <p:cNvPr id="9" name="arrow"/>
          <p:cNvSpPr/>
          <p:nvPr/>
        </p:nvSpPr>
        <p:spPr>
          <a:xfrm flipV="1">
            <a:off x="2368296" y="4983480"/>
            <a:ext cx="0" cy="411480"/>
          </a:xfrm>
          <a:prstGeom prst="line">
            <a:avLst/>
          </a:prstGeom>
          <a:noFill/>
          <a:ln w="38100">
            <a:solidFill>
              <a:srgbClr val="2E7D4F"/>
            </a:solidFill>
            <a:prstDash val="solid"/>
          </a:ln>
        </p:spPr>
      </p:sp>
      <p:sp>
        <p:nvSpPr>
          <p:cNvPr id="10" name="arrow"/>
          <p:cNvSpPr/>
          <p:nvPr/>
        </p:nvSpPr>
        <p:spPr>
          <a:xfrm flipV="1">
            <a:off x="2807208" y="4983480"/>
            <a:ext cx="0" cy="411480"/>
          </a:xfrm>
          <a:prstGeom prst="line">
            <a:avLst/>
          </a:prstGeom>
          <a:noFill/>
          <a:ln w="38100">
            <a:solidFill>
              <a:srgbClr val="2E7D4F"/>
            </a:solidFill>
            <a:prstDash val="solid"/>
          </a:ln>
        </p:spPr>
      </p:sp>
      <p:sp>
        <p:nvSpPr>
          <p:cNvPr id="11" name="arrow"/>
          <p:cNvSpPr/>
          <p:nvPr/>
        </p:nvSpPr>
        <p:spPr>
          <a:xfrm flipV="1">
            <a:off x="3246120" y="4983480"/>
            <a:ext cx="0" cy="411480"/>
          </a:xfrm>
          <a:prstGeom prst="line">
            <a:avLst/>
          </a:prstGeom>
          <a:noFill/>
          <a:ln w="38100">
            <a:solidFill>
              <a:srgbClr val="2E7D4F"/>
            </a:solidFill>
            <a:prstDash val="solid"/>
          </a:ln>
        </p:spPr>
      </p:sp>
      <p:sp>
        <p:nvSpPr>
          <p:cNvPr id="12" name="arrow"/>
          <p:cNvSpPr/>
          <p:nvPr/>
        </p:nvSpPr>
        <p:spPr>
          <a:xfrm flipV="1">
            <a:off x="3685032" y="4983480"/>
            <a:ext cx="0" cy="411480"/>
          </a:xfrm>
          <a:prstGeom prst="line">
            <a:avLst/>
          </a:prstGeom>
          <a:noFill/>
          <a:ln w="38100">
            <a:solidFill>
              <a:srgbClr val="2E7D4F"/>
            </a:solidFill>
            <a:prstDash val="solid"/>
          </a:ln>
        </p:spPr>
      </p:sp>
      <p:sp>
        <p:nvSpPr>
          <p:cNvPr id="13" name="arrow"/>
          <p:cNvSpPr/>
          <p:nvPr/>
        </p:nvSpPr>
        <p:spPr>
          <a:xfrm flipV="1">
            <a:off x="4123944" y="4983480"/>
            <a:ext cx="0" cy="411480"/>
          </a:xfrm>
          <a:prstGeom prst="line">
            <a:avLst/>
          </a:prstGeom>
          <a:noFill/>
          <a:ln w="38100">
            <a:solidFill>
              <a:srgbClr val="2E7D4F"/>
            </a:solidFill>
            <a:prstDash val="solid"/>
          </a:ln>
        </p:spPr>
      </p:sp>
      <p:sp>
        <p:nvSpPr>
          <p:cNvPr id="14" name="arrow"/>
          <p:cNvSpPr/>
          <p:nvPr/>
        </p:nvSpPr>
        <p:spPr>
          <a:xfrm flipV="1">
            <a:off x="4562856" y="4983480"/>
            <a:ext cx="0" cy="411480"/>
          </a:xfrm>
          <a:prstGeom prst="line">
            <a:avLst/>
          </a:prstGeom>
          <a:noFill/>
          <a:ln w="38100">
            <a:solidFill>
              <a:srgbClr val="2E7D4F"/>
            </a:solidFill>
            <a:prstDash val="solid"/>
          </a:ln>
        </p:spPr>
      </p:sp>
      <p:sp>
        <p:nvSpPr>
          <p:cNvPr id="15" name="arrow"/>
          <p:cNvSpPr/>
          <p:nvPr/>
        </p:nvSpPr>
        <p:spPr>
          <a:xfrm flipV="1">
            <a:off x="5001768" y="4983480"/>
            <a:ext cx="0" cy="411480"/>
          </a:xfrm>
          <a:prstGeom prst="line">
            <a:avLst/>
          </a:prstGeom>
          <a:noFill/>
          <a:ln w="38100">
            <a:solidFill>
              <a:srgbClr val="2E7D4F"/>
            </a:solidFill>
            <a:prstDash val="solid"/>
          </a:ln>
        </p:spPr>
      </p:sp>
      <p:sp>
        <p:nvSpPr>
          <p:cNvPr id="16" name="arrow"/>
          <p:cNvSpPr/>
          <p:nvPr/>
        </p:nvSpPr>
        <p:spPr>
          <a:xfrm flipV="1">
            <a:off x="3108960" y="2103120"/>
            <a:ext cx="0" cy="3291840"/>
          </a:xfrm>
          <a:prstGeom prst="line">
            <a:avLst/>
          </a:prstGeom>
          <a:noFill/>
          <a:ln w="50800">
            <a:solidFill>
              <a:srgbClr val="5C6B73"/>
            </a:solidFill>
            <a:prstDash val="solid"/>
          </a:ln>
        </p:spPr>
      </p:sp>
      <p:sp>
        <p:nvSpPr>
          <p:cNvPr id="17" name="sonic anemometer"/>
          <p:cNvSpPr/>
          <p:nvPr/>
        </p:nvSpPr>
        <p:spPr>
          <a:xfrm>
            <a:off x="2743200" y="1874520"/>
            <a:ext cx="731520" cy="256032"/>
          </a:xfrm>
          <a:prstGeom prst="rect">
            <a:avLst/>
          </a:prstGeom>
          <a:solidFill>
            <a:srgbClr val="1B4965"/>
          </a:solidFill>
          <a:ln/>
        </p:spPr>
      </p:sp>
      <p:sp>
        <p:nvSpPr>
          <p:cNvPr id="18" name="gas analyser"/>
          <p:cNvSpPr/>
          <p:nvPr/>
        </p:nvSpPr>
        <p:spPr>
          <a:xfrm>
            <a:off x="3566160" y="1920240"/>
            <a:ext cx="457200" cy="182880"/>
          </a:xfrm>
          <a:prstGeom prst="rect">
            <a:avLst/>
          </a:prstGeom>
          <a:solidFill>
            <a:srgbClr val="C0702A"/>
          </a:solidFill>
          <a:ln/>
        </p:spPr>
      </p:sp>
      <p:sp>
        <p:nvSpPr>
          <p:cNvPr id="19" name="Text 16"/>
          <p:cNvSpPr txBox="1"/>
          <p:nvPr/>
        </p:nvSpPr>
        <p:spPr>
          <a:xfrm>
            <a:off x="731520" y="1481328"/>
            <a:ext cx="2194560" cy="320040"/>
          </a:xfrm>
          <a:prstGeom prst="rect">
            <a:avLst/>
          </a:prstGeom>
          <a:noFill/>
          <a:ln/>
        </p:spPr>
        <p:txBody>
          <a:bodyPr wrap="square" lIns="0" tIns="0" rIns="0" bIns="0" rtlCol="0" anchor="ctr"/>
          <a:lstStyle/>
          <a:p>
            <a:pPr algn="l" indent="0" marL="0">
              <a:buNone/>
            </a:pPr>
            <a:r>
              <a:rPr lang="en-US" sz="1100" b="1" dirty="0">
                <a:solidFill>
                  <a:schemeClr val="tx2"/>
                </a:solidFill>
              </a:rPr>
              <a:t>3-D sonic (u, v, w, T</a:t>
            </a:r>
            <a:r>
              <a:rPr lang="en-US" sz="1100" b="1" baseline="-40000" dirty="0">
                <a:solidFill>
                  <a:schemeClr val="tx2"/>
                </a:solidFill>
              </a:rPr>
              <a:t>s</a:t>
            </a:r>
            <a:r>
              <a:rPr lang="en-US" sz="1100" b="1" dirty="0">
                <a:solidFill>
                  <a:schemeClr val="tx2"/>
                </a:solidFill>
              </a:rPr>
              <a:t>)</a:t>
            </a:r>
            <a:endParaRPr lang="en-US" sz="1100" dirty="0"/>
          </a:p>
        </p:txBody>
      </p:sp>
      <p:sp>
        <p:nvSpPr>
          <p:cNvPr id="20" name="Text 17"/>
          <p:cNvSpPr txBox="1"/>
          <p:nvPr/>
        </p:nvSpPr>
        <p:spPr>
          <a:xfrm>
            <a:off x="3566160" y="1481328"/>
            <a:ext cx="1828800" cy="320040"/>
          </a:xfrm>
          <a:prstGeom prst="rect">
            <a:avLst/>
          </a:prstGeom>
          <a:noFill/>
          <a:ln/>
        </p:spPr>
        <p:txBody>
          <a:bodyPr wrap="square" lIns="0" tIns="0" rIns="0" bIns="0" rtlCol="0" anchor="ctr"/>
          <a:lstStyle/>
          <a:p>
            <a:pPr algn="l" indent="0" marL="0">
              <a:buNone/>
            </a:pPr>
            <a:r>
              <a:rPr lang="en-US" sz="1100" b="1" dirty="0">
                <a:solidFill>
                  <a:schemeClr val="accent4"/>
                </a:solidFill>
              </a:rPr>
              <a:t>IRGA (q, CO</a:t>
            </a:r>
            <a:r>
              <a:rPr lang="en-US" sz="1100" b="1" baseline="-40000" dirty="0">
                <a:solidFill>
                  <a:schemeClr val="accent4"/>
                </a:solidFill>
              </a:rPr>
              <a:t>2</a:t>
            </a:r>
            <a:r>
              <a:rPr lang="en-US" sz="1100" b="1" dirty="0">
                <a:solidFill>
                  <a:schemeClr val="accent4"/>
                </a:solidFill>
              </a:rPr>
              <a:t>)</a:t>
            </a:r>
            <a:endParaRPr lang="en-US" sz="1100" dirty="0"/>
          </a:p>
        </p:txBody>
      </p:sp>
      <p:sp>
        <p:nvSpPr>
          <p:cNvPr id="21" name="eddy"/>
          <p:cNvSpPr/>
          <p:nvPr/>
        </p:nvSpPr>
        <p:spPr>
          <a:xfrm>
            <a:off x="1645920" y="3108960"/>
            <a:ext cx="822960" cy="617220"/>
          </a:xfrm>
          <a:prstGeom prst="ellipse">
            <a:avLst/>
          </a:prstGeom>
          <a:solidFill>
            <a:srgbClr val="D6E4F0">
              <a:alpha val="80000"/>
            </a:srgbClr>
          </a:solidFill>
          <a:ln w="15875">
            <a:solidFill>
              <a:srgbClr val="3B6EA5"/>
            </a:solidFill>
            <a:prstDash val="solid"/>
          </a:ln>
        </p:spPr>
      </p:sp>
      <p:sp>
        <p:nvSpPr>
          <p:cNvPr id="22" name="eddy"/>
          <p:cNvSpPr/>
          <p:nvPr/>
        </p:nvSpPr>
        <p:spPr>
          <a:xfrm>
            <a:off x="4206240" y="3566160"/>
            <a:ext cx="731520" cy="548640"/>
          </a:xfrm>
          <a:prstGeom prst="ellipse">
            <a:avLst/>
          </a:prstGeom>
          <a:solidFill>
            <a:srgbClr val="CFE3D4">
              <a:alpha val="80000"/>
            </a:srgbClr>
          </a:solidFill>
          <a:ln w="15875">
            <a:solidFill>
              <a:srgbClr val="2E7D4F"/>
            </a:solidFill>
            <a:prstDash val="solid"/>
          </a:ln>
        </p:spPr>
      </p:sp>
      <p:sp>
        <p:nvSpPr>
          <p:cNvPr id="23" name="eddy"/>
          <p:cNvSpPr/>
          <p:nvPr/>
        </p:nvSpPr>
        <p:spPr>
          <a:xfrm>
            <a:off x="2011680" y="4206240"/>
            <a:ext cx="548640" cy="411480"/>
          </a:xfrm>
          <a:prstGeom prst="ellipse">
            <a:avLst/>
          </a:prstGeom>
          <a:solidFill>
            <a:srgbClr val="D6E4F0">
              <a:alpha val="80000"/>
            </a:srgbClr>
          </a:solidFill>
          <a:ln w="15875">
            <a:solidFill>
              <a:srgbClr val="3B6EA5"/>
            </a:solidFill>
            <a:prstDash val="solid"/>
          </a:ln>
        </p:spPr>
      </p:sp>
      <p:sp>
        <p:nvSpPr>
          <p:cNvPr id="24" name="eddy"/>
          <p:cNvSpPr/>
          <p:nvPr/>
        </p:nvSpPr>
        <p:spPr>
          <a:xfrm>
            <a:off x="3291840" y="2743200"/>
            <a:ext cx="457200" cy="342900"/>
          </a:xfrm>
          <a:prstGeom prst="ellipse">
            <a:avLst/>
          </a:prstGeom>
          <a:solidFill>
            <a:srgbClr val="CFE3D4">
              <a:alpha val="80000"/>
            </a:srgbClr>
          </a:solidFill>
          <a:ln w="15875">
            <a:solidFill>
              <a:srgbClr val="2E7D4F"/>
            </a:solidFill>
            <a:prstDash val="solid"/>
          </a:ln>
        </p:spPr>
      </p:sp>
      <p:sp>
        <p:nvSpPr>
          <p:cNvPr id="25" name="arrow"/>
          <p:cNvSpPr/>
          <p:nvPr/>
        </p:nvSpPr>
        <p:spPr>
          <a:xfrm flipV="1">
            <a:off x="2057400" y="2880360"/>
            <a:ext cx="0" cy="868680"/>
          </a:xfrm>
          <a:prstGeom prst="line">
            <a:avLst/>
          </a:prstGeom>
          <a:noFill/>
          <a:ln w="31750">
            <a:solidFill>
              <a:srgbClr val="3B6EA5"/>
            </a:solidFill>
            <a:prstDash val="solid"/>
            <a:tailEnd type="triangle"/>
          </a:ln>
        </p:spPr>
      </p:sp>
      <p:sp>
        <p:nvSpPr>
          <p:cNvPr id="26" name="Text 23"/>
          <p:cNvSpPr txBox="1"/>
          <p:nvPr/>
        </p:nvSpPr>
        <p:spPr>
          <a:xfrm>
            <a:off x="777240" y="2606040"/>
            <a:ext cx="1463040" cy="274320"/>
          </a:xfrm>
          <a:prstGeom prst="rect">
            <a:avLst/>
          </a:prstGeom>
          <a:noFill/>
          <a:ln/>
        </p:spPr>
        <p:txBody>
          <a:bodyPr wrap="square" lIns="0" tIns="0" rIns="0" bIns="0" rtlCol="0" anchor="ctr"/>
          <a:lstStyle/>
          <a:p>
            <a:pPr algn="l" indent="0" marL="0">
              <a:buNone/>
            </a:pPr>
            <a:r>
              <a:rPr lang="en-US" sz="1050" b="1" dirty="0">
                <a:solidFill>
                  <a:schemeClr val="accent2"/>
                </a:solidFill>
              </a:rPr>
              <a:t>w′ &gt; 0, q′ &gt; 0</a:t>
            </a:r>
            <a:endParaRPr lang="en-US" sz="1050" dirty="0"/>
          </a:p>
        </p:txBody>
      </p:sp>
      <p:sp>
        <p:nvSpPr>
          <p:cNvPr id="27" name="arrow"/>
          <p:cNvSpPr/>
          <p:nvPr/>
        </p:nvSpPr>
        <p:spPr>
          <a:xfrm>
            <a:off x="4572000" y="3611880"/>
            <a:ext cx="0" cy="914400"/>
          </a:xfrm>
          <a:prstGeom prst="line">
            <a:avLst/>
          </a:prstGeom>
          <a:noFill/>
          <a:ln w="31750">
            <a:solidFill>
              <a:srgbClr val="2E7D4F"/>
            </a:solidFill>
            <a:prstDash val="solid"/>
            <a:tailEnd type="triangle"/>
          </a:ln>
        </p:spPr>
      </p:sp>
      <p:sp>
        <p:nvSpPr>
          <p:cNvPr id="28" name="Text 25"/>
          <p:cNvSpPr txBox="1"/>
          <p:nvPr/>
        </p:nvSpPr>
        <p:spPr>
          <a:xfrm>
            <a:off x="4023360" y="4572000"/>
            <a:ext cx="1463040" cy="274320"/>
          </a:xfrm>
          <a:prstGeom prst="rect">
            <a:avLst/>
          </a:prstGeom>
          <a:noFill/>
          <a:ln/>
        </p:spPr>
        <p:txBody>
          <a:bodyPr wrap="square" lIns="0" tIns="0" rIns="0" bIns="0" rtlCol="0" anchor="ctr"/>
          <a:lstStyle/>
          <a:p>
            <a:pPr algn="l" indent="0" marL="0">
              <a:buNone/>
            </a:pPr>
            <a:r>
              <a:rPr lang="en-US" sz="1050" b="1" dirty="0">
                <a:solidFill>
                  <a:schemeClr val="accent1"/>
                </a:solidFill>
              </a:rPr>
              <a:t>w′ &lt; 0, q′ &lt; 0</a:t>
            </a:r>
            <a:endParaRPr lang="en-US" sz="1050" dirty="0"/>
          </a:p>
        </p:txBody>
      </p:sp>
      <p:sp>
        <p:nvSpPr>
          <p:cNvPr id="29" name="Text 26"/>
          <p:cNvSpPr txBox="1"/>
          <p:nvPr/>
        </p:nvSpPr>
        <p:spPr>
          <a:xfrm>
            <a:off x="731520" y="5669280"/>
            <a:ext cx="4754880" cy="320040"/>
          </a:xfrm>
          <a:prstGeom prst="rect">
            <a:avLst/>
          </a:prstGeom>
          <a:noFill/>
          <a:ln/>
        </p:spPr>
        <p:txBody>
          <a:bodyPr wrap="square" lIns="0" tIns="0" rIns="0" bIns="0" rtlCol="0" anchor="ctr"/>
          <a:lstStyle/>
          <a:p>
            <a:pPr algn="ctr" indent="0" marL="0">
              <a:buNone/>
            </a:pPr>
            <a:r>
              <a:rPr lang="en-US" sz="1150" i="1" dirty="0">
                <a:solidFill>
                  <a:schemeClr val="accent6"/>
                </a:solidFill>
              </a:rPr>
              <a:t>both give w′q′ &gt; 0 → upward vapour flux</a:t>
            </a:r>
            <a:endParaRPr lang="en-US" sz="1150" dirty="0"/>
          </a:p>
        </p:txBody>
      </p:sp>
      <p:sp>
        <p:nvSpPr>
          <p:cNvPr id="30" name="card"/>
          <p:cNvSpPr/>
          <p:nvPr/>
        </p:nvSpPr>
        <p:spPr>
          <a:xfrm>
            <a:off x="5897880" y="1280160"/>
            <a:ext cx="5742432" cy="640080"/>
          </a:xfrm>
          <a:prstGeom prst="roundRect">
            <a:avLst>
              <a:gd name="adj" fmla="val 11429"/>
            </a:avLst>
          </a:prstGeom>
          <a:solidFill>
            <a:schemeClr val="accent6"/>
          </a:solidFill>
          <a:ln/>
          <a:effectLst>
            <a:outerShdw sx="100000" sy="100000" kx="0" ky="0" algn="bl" rotWithShape="0" blurRad="76200" dist="25400" dir="5400000">
              <a:srgbClr val="000000">
                <a:alpha val="14000"/>
              </a:srgbClr>
            </a:outerShdw>
          </a:effectLst>
        </p:spPr>
      </p:sp>
      <p:sp>
        <p:nvSpPr>
          <p:cNvPr id="31" name="Text 28"/>
          <p:cNvSpPr txBox="1"/>
          <p:nvPr/>
        </p:nvSpPr>
        <p:spPr>
          <a:xfrm>
            <a:off x="6035040" y="1280160"/>
            <a:ext cx="5468112" cy="640080"/>
          </a:xfrm>
          <a:prstGeom prst="rect">
            <a:avLst/>
          </a:prstGeom>
          <a:noFill/>
          <a:ln/>
        </p:spPr>
        <p:txBody>
          <a:bodyPr wrap="square" lIns="0" tIns="0" rIns="0" bIns="0" rtlCol="0" anchor="ctr"/>
          <a:lstStyle/>
          <a:p>
            <a:pPr algn="ctr" indent="0" marL="0">
              <a:buNone/>
            </a:pPr>
            <a:r>
              <a:rPr lang="en-US" sz="1600" b="1" dirty="0">
                <a:solidFill>
                  <a:schemeClr val="bg1"/>
                </a:solidFill>
              </a:rPr>
              <a:t>x = x̄ + x′   (Reynolds decomposition)</a:t>
            </a:r>
            <a:endParaRPr lang="en-US" sz="1600" dirty="0"/>
          </a:p>
        </p:txBody>
      </p:sp>
      <p:sp>
        <p:nvSpPr>
          <p:cNvPr id="32" name="card"/>
          <p:cNvSpPr/>
          <p:nvPr/>
        </p:nvSpPr>
        <p:spPr>
          <a:xfrm>
            <a:off x="5897880" y="2011680"/>
            <a:ext cx="5742432" cy="640080"/>
          </a:xfrm>
          <a:prstGeom prst="roundRect">
            <a:avLst>
              <a:gd name="adj" fmla="val 11429"/>
            </a:avLst>
          </a:prstGeom>
          <a:solidFill>
            <a:schemeClr val="accent2"/>
          </a:solidFill>
          <a:ln/>
          <a:effectLst>
            <a:outerShdw sx="100000" sy="100000" kx="0" ky="0" algn="bl" rotWithShape="0" blurRad="76200" dist="25400" dir="5400000">
              <a:srgbClr val="000000">
                <a:alpha val="14000"/>
              </a:srgbClr>
            </a:outerShdw>
          </a:effectLst>
        </p:spPr>
      </p:sp>
      <p:sp>
        <p:nvSpPr>
          <p:cNvPr id="33" name="Text 30"/>
          <p:cNvSpPr txBox="1"/>
          <p:nvPr/>
        </p:nvSpPr>
        <p:spPr>
          <a:xfrm>
            <a:off x="6035040" y="2011680"/>
            <a:ext cx="5468112" cy="640080"/>
          </a:xfrm>
          <a:prstGeom prst="rect">
            <a:avLst/>
          </a:prstGeom>
          <a:noFill/>
          <a:ln/>
        </p:spPr>
        <p:txBody>
          <a:bodyPr wrap="square" lIns="0" tIns="0" rIns="0" bIns="0" rtlCol="0" anchor="ctr"/>
          <a:lstStyle/>
          <a:p>
            <a:pPr algn="ctr" indent="0" marL="0">
              <a:buNone/>
            </a:pPr>
            <a:r>
              <a:rPr lang="en-US" sz="1600" b="1" dirty="0">
                <a:solidFill>
                  <a:schemeClr val="bg1"/>
                </a:solidFill>
              </a:rPr>
              <a:t>λE = λ·ρ</a:t>
            </a:r>
            <a:r>
              <a:rPr lang="en-US" sz="1600" b="1" baseline="-40000" dirty="0">
                <a:solidFill>
                  <a:schemeClr val="bg1"/>
                </a:solidFill>
              </a:rPr>
              <a:t>a</a:t>
            </a:r>
            <a:r>
              <a:rPr lang="en-US" sz="1600" b="1" dirty="0">
                <a:solidFill>
                  <a:schemeClr val="bg1"/>
                </a:solidFill>
              </a:rPr>
              <a:t>·cov(w′, q′)</a:t>
            </a:r>
            <a:endParaRPr lang="en-US" sz="1600" dirty="0"/>
          </a:p>
        </p:txBody>
      </p:sp>
      <p:sp>
        <p:nvSpPr>
          <p:cNvPr id="34" name="card"/>
          <p:cNvSpPr/>
          <p:nvPr/>
        </p:nvSpPr>
        <p:spPr>
          <a:xfrm>
            <a:off x="5897880" y="2743200"/>
            <a:ext cx="5742432" cy="640080"/>
          </a:xfrm>
          <a:prstGeom prst="roundRect">
            <a:avLst>
              <a:gd name="adj" fmla="val 11429"/>
            </a:avLst>
          </a:prstGeom>
          <a:solidFill>
            <a:schemeClr val="tx2"/>
          </a:solidFill>
          <a:ln/>
          <a:effectLst>
            <a:outerShdw sx="100000" sy="100000" kx="0" ky="0" algn="bl" rotWithShape="0" blurRad="76200" dist="25400" dir="5400000">
              <a:srgbClr val="000000">
                <a:alpha val="14000"/>
              </a:srgbClr>
            </a:outerShdw>
          </a:effectLst>
        </p:spPr>
      </p:sp>
      <p:sp>
        <p:nvSpPr>
          <p:cNvPr id="35" name="Text 32"/>
          <p:cNvSpPr txBox="1"/>
          <p:nvPr/>
        </p:nvSpPr>
        <p:spPr>
          <a:xfrm>
            <a:off x="6035040" y="2743200"/>
            <a:ext cx="5468112" cy="640080"/>
          </a:xfrm>
          <a:prstGeom prst="rect">
            <a:avLst/>
          </a:prstGeom>
          <a:noFill/>
          <a:ln/>
        </p:spPr>
        <p:txBody>
          <a:bodyPr wrap="square" lIns="0" tIns="0" rIns="0" bIns="0" rtlCol="0" anchor="ctr"/>
          <a:lstStyle/>
          <a:p>
            <a:pPr algn="ctr" indent="0" marL="0">
              <a:buNone/>
            </a:pPr>
            <a:r>
              <a:rPr lang="en-US" sz="1600" b="1" dirty="0">
                <a:solidFill>
                  <a:schemeClr val="bg1"/>
                </a:solidFill>
              </a:rPr>
              <a:t>H = ρ</a:t>
            </a:r>
            <a:r>
              <a:rPr lang="en-US" sz="1600" b="1" baseline="-40000" dirty="0">
                <a:solidFill>
                  <a:schemeClr val="bg1"/>
                </a:solidFill>
              </a:rPr>
              <a:t>a</a:t>
            </a:r>
            <a:r>
              <a:rPr lang="en-US" sz="1600" b="1" dirty="0">
                <a:solidFill>
                  <a:schemeClr val="bg1"/>
                </a:solidFill>
              </a:rPr>
              <a:t>c</a:t>
            </a:r>
            <a:r>
              <a:rPr lang="en-US" sz="1600" b="1" baseline="-40000" dirty="0">
                <a:solidFill>
                  <a:schemeClr val="bg1"/>
                </a:solidFill>
              </a:rPr>
              <a:t>p</a:t>
            </a:r>
            <a:r>
              <a:rPr lang="en-US" sz="1600" b="1" dirty="0">
                <a:solidFill>
                  <a:schemeClr val="bg1"/>
                </a:solidFill>
              </a:rPr>
              <a:t>·cov(w′, T′);   F</a:t>
            </a:r>
            <a:r>
              <a:rPr lang="en-US" sz="1600" b="1" baseline="-40000" dirty="0">
                <a:solidFill>
                  <a:schemeClr val="bg1"/>
                </a:solidFill>
              </a:rPr>
              <a:t>c</a:t>
            </a:r>
            <a:r>
              <a:rPr lang="en-US" sz="1600" b="1" dirty="0">
                <a:solidFill>
                  <a:schemeClr val="bg1"/>
                </a:solidFill>
              </a:rPr>
              <a:t> = cov(w′, c′)</a:t>
            </a:r>
            <a:endParaRPr lang="en-US" sz="1600" dirty="0"/>
          </a:p>
        </p:txBody>
      </p:sp>
      <p:sp>
        <p:nvSpPr>
          <p:cNvPr id="36" name="card"/>
          <p:cNvSpPr/>
          <p:nvPr/>
        </p:nvSpPr>
        <p:spPr>
          <a:xfrm>
            <a:off x="5897880" y="3520440"/>
            <a:ext cx="2798064"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37" name="icon circle"/>
          <p:cNvSpPr/>
          <p:nvPr/>
        </p:nvSpPr>
        <p:spPr>
          <a:xfrm>
            <a:off x="6080760" y="3675888"/>
            <a:ext cx="420624" cy="420624"/>
          </a:xfrm>
          <a:prstGeom prst="ellipse">
            <a:avLst/>
          </a:prstGeom>
          <a:solidFill>
            <a:schemeClr val="accent2"/>
          </a:solidFill>
          <a:ln/>
        </p:spPr>
      </p:sp>
      <p:pic>
        <p:nvPicPr>
          <p:cNvPr id="38" name="Image 0" descr="Wind icon">    </p:cNvPr>
          <p:cNvPicPr>
            <a:picLocks noChangeAspect="1"/>
          </p:cNvPicPr>
          <p:nvPr/>
        </p:nvPicPr>
        <p:blipFill>
          <a:blip r:embed="rId1"/>
          <a:stretch>
            <a:fillRect/>
          </a:stretch>
        </p:blipFill>
        <p:spPr>
          <a:xfrm>
            <a:off x="6190122" y="3785250"/>
            <a:ext cx="201900" cy="201900"/>
          </a:xfrm>
          <a:prstGeom prst="rect">
            <a:avLst/>
          </a:prstGeom>
        </p:spPr>
      </p:pic>
      <p:sp>
        <p:nvSpPr>
          <p:cNvPr id="39" name="Text 35"/>
          <p:cNvSpPr txBox="1"/>
          <p:nvPr/>
        </p:nvSpPr>
        <p:spPr>
          <a:xfrm>
            <a:off x="6611112" y="3657600"/>
            <a:ext cx="1947672" cy="457200"/>
          </a:xfrm>
          <a:prstGeom prst="rect">
            <a:avLst/>
          </a:prstGeom>
          <a:noFill/>
          <a:ln/>
        </p:spPr>
        <p:txBody>
          <a:bodyPr wrap="square" lIns="0" tIns="0" rIns="0" bIns="0" rtlCol="0" anchor="ctr"/>
          <a:lstStyle/>
          <a:p>
            <a:pPr indent="0" marL="0">
              <a:buNone/>
            </a:pPr>
            <a:r>
              <a:rPr lang="en-US" sz="1350" b="1" dirty="0">
                <a:solidFill>
                  <a:schemeClr val="tx2"/>
                </a:solidFill>
              </a:rPr>
              <a:t>Set-up</a:t>
            </a:r>
            <a:endParaRPr lang="en-US" sz="1350" dirty="0"/>
          </a:p>
        </p:txBody>
      </p:sp>
      <p:sp>
        <p:nvSpPr>
          <p:cNvPr id="40" name="Text 36"/>
          <p:cNvSpPr txBox="1"/>
          <p:nvPr/>
        </p:nvSpPr>
        <p:spPr>
          <a:xfrm>
            <a:off x="6080760" y="4206240"/>
            <a:ext cx="2432304" cy="187452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Sampling 10–20 Hz</a:t>
            </a:r>
            <a:endParaRPr lang="en-US" sz="1200" dirty="0"/>
          </a:p>
          <a:p>
            <a:pPr marL="177800" indent="-177800">
              <a:spcAft>
                <a:spcPts val="400"/>
              </a:spcAft>
              <a:buSzPct val="100000"/>
              <a:buChar char="•"/>
            </a:pPr>
            <a:r>
              <a:rPr lang="en-US" sz="1200" dirty="0">
                <a:solidFill>
                  <a:schemeClr val="tx1"/>
                </a:solidFill>
              </a:rPr>
              <a:t>Average 30 min</a:t>
            </a:r>
            <a:endParaRPr lang="en-US" sz="1200" dirty="0"/>
          </a:p>
          <a:p>
            <a:pPr marL="177800" indent="-177800">
              <a:spcAft>
                <a:spcPts val="400"/>
              </a:spcAft>
              <a:buSzPct val="100000"/>
              <a:buChar char="•"/>
            </a:pPr>
            <a:r>
              <a:rPr lang="en-US" sz="1200" dirty="0">
                <a:solidFill>
                  <a:schemeClr val="tx1"/>
                </a:solidFill>
              </a:rPr>
              <a:t>Height ≈ 2 × canopy</a:t>
            </a:r>
            <a:endParaRPr lang="en-US" sz="1200" dirty="0"/>
          </a:p>
          <a:p>
            <a:pPr marL="177800" indent="-177800">
              <a:spcAft>
                <a:spcPts val="400"/>
              </a:spcAft>
              <a:buSzPct val="100000"/>
              <a:buChar char="•"/>
            </a:pPr>
            <a:r>
              <a:rPr lang="en-US" sz="1200" dirty="0">
                <a:solidFill>
                  <a:schemeClr val="tx1"/>
                </a:solidFill>
              </a:rPr>
              <a:t>Fetch ≈ 100 × height</a:t>
            </a:r>
            <a:endParaRPr lang="en-US" sz="1200" dirty="0"/>
          </a:p>
        </p:txBody>
      </p:sp>
      <p:sp>
        <p:nvSpPr>
          <p:cNvPr id="41" name="card"/>
          <p:cNvSpPr/>
          <p:nvPr/>
        </p:nvSpPr>
        <p:spPr>
          <a:xfrm>
            <a:off x="8842248" y="3520440"/>
            <a:ext cx="2798064" cy="2651760"/>
          </a:xfrm>
          <a:prstGeom prst="roundRect">
            <a:avLst>
              <a:gd name="adj" fmla="val 2759"/>
            </a:avLst>
          </a:prstGeom>
          <a:solidFill>
            <a:schemeClr val="bg2"/>
          </a:solidFill>
          <a:ln/>
          <a:effectLst>
            <a:outerShdw sx="100000" sy="100000" kx="0" ky="0" algn="bl" rotWithShape="0" blurRad="76200" dist="25400" dir="5400000">
              <a:srgbClr val="000000">
                <a:alpha val="14000"/>
              </a:srgbClr>
            </a:outerShdw>
          </a:effectLst>
        </p:spPr>
      </p:sp>
      <p:sp>
        <p:nvSpPr>
          <p:cNvPr id="42" name="icon circle"/>
          <p:cNvSpPr/>
          <p:nvPr/>
        </p:nvSpPr>
        <p:spPr>
          <a:xfrm>
            <a:off x="9025128" y="3675888"/>
            <a:ext cx="420624" cy="420624"/>
          </a:xfrm>
          <a:prstGeom prst="ellipse">
            <a:avLst/>
          </a:prstGeom>
          <a:solidFill>
            <a:schemeClr val="accent5"/>
          </a:solidFill>
          <a:ln/>
        </p:spPr>
      </p:sp>
      <p:pic>
        <p:nvPicPr>
          <p:cNvPr id="43" name="Image 1" descr="RulerCombined icon">    </p:cNvPr>
          <p:cNvPicPr>
            <a:picLocks noChangeAspect="1"/>
          </p:cNvPicPr>
          <p:nvPr/>
        </p:nvPicPr>
        <p:blipFill>
          <a:blip r:embed="rId2"/>
          <a:stretch>
            <a:fillRect/>
          </a:stretch>
        </p:blipFill>
        <p:spPr>
          <a:xfrm>
            <a:off x="9134490" y="3785250"/>
            <a:ext cx="201900" cy="201900"/>
          </a:xfrm>
          <a:prstGeom prst="rect">
            <a:avLst/>
          </a:prstGeom>
        </p:spPr>
      </p:pic>
      <p:sp>
        <p:nvSpPr>
          <p:cNvPr id="44" name="Text 39"/>
          <p:cNvSpPr txBox="1"/>
          <p:nvPr/>
        </p:nvSpPr>
        <p:spPr>
          <a:xfrm>
            <a:off x="9555480" y="3657600"/>
            <a:ext cx="1947672" cy="457200"/>
          </a:xfrm>
          <a:prstGeom prst="rect">
            <a:avLst/>
          </a:prstGeom>
          <a:noFill/>
          <a:ln/>
        </p:spPr>
        <p:txBody>
          <a:bodyPr wrap="square" lIns="0" tIns="0" rIns="0" bIns="0" rtlCol="0" anchor="ctr"/>
          <a:lstStyle/>
          <a:p>
            <a:pPr indent="0" marL="0">
              <a:buNone/>
            </a:pPr>
            <a:r>
              <a:rPr lang="en-US" sz="1350" b="1" dirty="0">
                <a:solidFill>
                  <a:schemeClr val="tx2"/>
                </a:solidFill>
              </a:rPr>
              <a:t>Assumptions</a:t>
            </a:r>
            <a:endParaRPr lang="en-US" sz="1350" dirty="0"/>
          </a:p>
        </p:txBody>
      </p:sp>
      <p:sp>
        <p:nvSpPr>
          <p:cNvPr id="45" name="Text 40"/>
          <p:cNvSpPr txBox="1"/>
          <p:nvPr/>
        </p:nvSpPr>
        <p:spPr>
          <a:xfrm>
            <a:off x="9025128" y="4206240"/>
            <a:ext cx="2432304" cy="187452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Flat, homogeneous surface</a:t>
            </a:r>
            <a:endParaRPr lang="en-US" sz="1200" dirty="0"/>
          </a:p>
          <a:p>
            <a:pPr marL="177800" indent="-177800">
              <a:spcAft>
                <a:spcPts val="400"/>
              </a:spcAft>
              <a:buSzPct val="100000"/>
              <a:buChar char="•"/>
            </a:pPr>
            <a:r>
              <a:rPr lang="en-US" sz="1200" dirty="0">
                <a:solidFill>
                  <a:schemeClr val="tx1"/>
                </a:solidFill>
              </a:rPr>
              <a:t>w̄ = 0 after rotation</a:t>
            </a:r>
            <a:endParaRPr lang="en-US" sz="1200" dirty="0"/>
          </a:p>
          <a:p>
            <a:pPr marL="177800" indent="-177800">
              <a:spcAft>
                <a:spcPts val="400"/>
              </a:spcAft>
              <a:buSzPct val="100000"/>
              <a:buChar char="•"/>
            </a:pPr>
            <a:r>
              <a:rPr lang="en-US" sz="1200" dirty="0">
                <a:solidFill>
                  <a:schemeClr val="tx1"/>
                </a:solidFill>
              </a:rPr>
              <a:t>Stationary turbulence</a:t>
            </a:r>
            <a:endParaRPr lang="en-US" sz="1200" dirty="0"/>
          </a:p>
          <a:p>
            <a:pPr marL="177800" indent="-177800">
              <a:spcAft>
                <a:spcPts val="400"/>
              </a:spcAft>
              <a:buSzPct val="100000"/>
              <a:buChar char="•"/>
            </a:pPr>
            <a:r>
              <a:rPr lang="en-US" sz="1200" dirty="0">
                <a:solidFill>
                  <a:schemeClr val="tx1"/>
                </a:solidFill>
              </a:rPr>
              <a:t>No advection or storage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Eddy covariance: processing chain, footprint and closure</a:t>
            </a:r>
            <a:endParaRPr lang="en-US" sz="3200" dirty="0"/>
          </a:p>
        </p:txBody>
      </p:sp>
      <p:sp>
        <p:nvSpPr>
          <p:cNvPr id="4" name="diagram box"/>
          <p:cNvSpPr/>
          <p:nvPr/>
        </p:nvSpPr>
        <p:spPr>
          <a:xfrm>
            <a:off x="548640" y="1325880"/>
            <a:ext cx="2514600" cy="960120"/>
          </a:xfrm>
          <a:prstGeom prst="roundRect">
            <a:avLst>
              <a:gd name="adj" fmla="val 7619"/>
            </a:avLst>
          </a:prstGeom>
          <a:solidFill>
            <a:srgbClr val="5C6B73"/>
          </a:solidFill>
          <a:ln/>
        </p:spPr>
      </p:sp>
      <p:sp>
        <p:nvSpPr>
          <p:cNvPr id="5" name="Text 2"/>
          <p:cNvSpPr txBox="1"/>
          <p:nvPr/>
        </p:nvSpPr>
        <p:spPr>
          <a:xfrm>
            <a:off x="548640" y="132588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Raw 10–20 Hz u, v, w, T</a:t>
            </a:r>
            <a:r>
              <a:rPr lang="en-US" sz="1200" b="1" baseline="-40000" dirty="0">
                <a:solidFill>
                  <a:schemeClr val="bg1"/>
                </a:solidFill>
              </a:rPr>
              <a:t>s</a:t>
            </a:r>
            <a:r>
              <a:rPr lang="en-US" sz="1200" b="1" dirty="0">
                <a:solidFill>
                  <a:schemeClr val="bg1"/>
                </a:solidFill>
              </a:rPr>
              <a:t>, q, c</a:t>
            </a:r>
            <a:endParaRPr lang="en-US" sz="1200" dirty="0"/>
          </a:p>
        </p:txBody>
      </p:sp>
      <p:sp>
        <p:nvSpPr>
          <p:cNvPr id="6" name="arrow"/>
          <p:cNvSpPr/>
          <p:nvPr/>
        </p:nvSpPr>
        <p:spPr>
          <a:xfrm>
            <a:off x="3072384" y="1801368"/>
            <a:ext cx="283464" cy="0"/>
          </a:xfrm>
          <a:prstGeom prst="line">
            <a:avLst/>
          </a:prstGeom>
          <a:noFill/>
          <a:ln w="25400">
            <a:solidFill>
              <a:srgbClr val="1E2430"/>
            </a:solidFill>
            <a:prstDash val="solid"/>
            <a:tailEnd type="triangle"/>
          </a:ln>
        </p:spPr>
      </p:sp>
      <p:sp>
        <p:nvSpPr>
          <p:cNvPr id="7" name="diagram box"/>
          <p:cNvSpPr/>
          <p:nvPr/>
        </p:nvSpPr>
        <p:spPr>
          <a:xfrm>
            <a:off x="3364992" y="1325880"/>
            <a:ext cx="2514600" cy="960120"/>
          </a:xfrm>
          <a:prstGeom prst="roundRect">
            <a:avLst>
              <a:gd name="adj" fmla="val 7619"/>
            </a:avLst>
          </a:prstGeom>
          <a:solidFill>
            <a:srgbClr val="1B4965"/>
          </a:solidFill>
          <a:ln/>
        </p:spPr>
      </p:sp>
      <p:sp>
        <p:nvSpPr>
          <p:cNvPr id="8" name="Text 5"/>
          <p:cNvSpPr txBox="1"/>
          <p:nvPr/>
        </p:nvSpPr>
        <p:spPr>
          <a:xfrm>
            <a:off x="3364992" y="132588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Despike, QC flags</a:t>
            </a:r>
            <a:endParaRPr lang="en-US" sz="1200" dirty="0"/>
          </a:p>
        </p:txBody>
      </p:sp>
      <p:sp>
        <p:nvSpPr>
          <p:cNvPr id="9" name="arrow"/>
          <p:cNvSpPr/>
          <p:nvPr/>
        </p:nvSpPr>
        <p:spPr>
          <a:xfrm>
            <a:off x="5888736" y="1801368"/>
            <a:ext cx="283464" cy="0"/>
          </a:xfrm>
          <a:prstGeom prst="line">
            <a:avLst/>
          </a:prstGeom>
          <a:noFill/>
          <a:ln w="25400">
            <a:solidFill>
              <a:srgbClr val="1E2430"/>
            </a:solidFill>
            <a:prstDash val="solid"/>
            <a:tailEnd type="triangle"/>
          </a:ln>
        </p:spPr>
      </p:sp>
      <p:sp>
        <p:nvSpPr>
          <p:cNvPr id="10" name="diagram box"/>
          <p:cNvSpPr/>
          <p:nvPr/>
        </p:nvSpPr>
        <p:spPr>
          <a:xfrm>
            <a:off x="6181344" y="1325880"/>
            <a:ext cx="2514600" cy="960120"/>
          </a:xfrm>
          <a:prstGeom prst="roundRect">
            <a:avLst>
              <a:gd name="adj" fmla="val 7619"/>
            </a:avLst>
          </a:prstGeom>
          <a:solidFill>
            <a:srgbClr val="1B4965"/>
          </a:solidFill>
          <a:ln/>
        </p:spPr>
      </p:sp>
      <p:sp>
        <p:nvSpPr>
          <p:cNvPr id="11" name="Text 8"/>
          <p:cNvSpPr txBox="1"/>
          <p:nvPr/>
        </p:nvSpPr>
        <p:spPr>
          <a:xfrm>
            <a:off x="6181344" y="132588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Coordinate rotation (w̄ = 0): double / planar fit</a:t>
            </a:r>
            <a:endParaRPr lang="en-US" sz="1200" dirty="0"/>
          </a:p>
        </p:txBody>
      </p:sp>
      <p:sp>
        <p:nvSpPr>
          <p:cNvPr id="12" name="arrow"/>
          <p:cNvSpPr/>
          <p:nvPr/>
        </p:nvSpPr>
        <p:spPr>
          <a:xfrm>
            <a:off x="8705088" y="1801368"/>
            <a:ext cx="283464" cy="0"/>
          </a:xfrm>
          <a:prstGeom prst="line">
            <a:avLst/>
          </a:prstGeom>
          <a:noFill/>
          <a:ln w="25400">
            <a:solidFill>
              <a:srgbClr val="1E2430"/>
            </a:solidFill>
            <a:prstDash val="solid"/>
            <a:tailEnd type="triangle"/>
          </a:ln>
        </p:spPr>
      </p:sp>
      <p:sp>
        <p:nvSpPr>
          <p:cNvPr id="13" name="diagram box"/>
          <p:cNvSpPr/>
          <p:nvPr/>
        </p:nvSpPr>
        <p:spPr>
          <a:xfrm>
            <a:off x="8997696" y="1325880"/>
            <a:ext cx="2514600" cy="960120"/>
          </a:xfrm>
          <a:prstGeom prst="roundRect">
            <a:avLst>
              <a:gd name="adj" fmla="val 7619"/>
            </a:avLst>
          </a:prstGeom>
          <a:solidFill>
            <a:srgbClr val="1B4965"/>
          </a:solidFill>
          <a:ln/>
        </p:spPr>
      </p:sp>
      <p:sp>
        <p:nvSpPr>
          <p:cNvPr id="14" name="Text 11"/>
          <p:cNvSpPr txBox="1"/>
          <p:nvPr/>
        </p:nvSpPr>
        <p:spPr>
          <a:xfrm>
            <a:off x="8997696" y="132588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Time-lag removal; 30-min covariances</a:t>
            </a:r>
            <a:endParaRPr lang="en-US" sz="1200" dirty="0"/>
          </a:p>
        </p:txBody>
      </p:sp>
      <p:sp>
        <p:nvSpPr>
          <p:cNvPr id="15" name="diagram box"/>
          <p:cNvSpPr/>
          <p:nvPr/>
        </p:nvSpPr>
        <p:spPr>
          <a:xfrm>
            <a:off x="548640" y="2651760"/>
            <a:ext cx="2514600" cy="960120"/>
          </a:xfrm>
          <a:prstGeom prst="roundRect">
            <a:avLst>
              <a:gd name="adj" fmla="val 7619"/>
            </a:avLst>
          </a:prstGeom>
          <a:solidFill>
            <a:srgbClr val="6C4F9E"/>
          </a:solidFill>
          <a:ln/>
        </p:spPr>
      </p:sp>
      <p:sp>
        <p:nvSpPr>
          <p:cNvPr id="16" name="Text 13"/>
          <p:cNvSpPr txBox="1"/>
          <p:nvPr/>
        </p:nvSpPr>
        <p:spPr>
          <a:xfrm>
            <a:off x="548640" y="265176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Corrections: sonic T, spectral, WPL density</a:t>
            </a:r>
            <a:endParaRPr lang="en-US" sz="1200" dirty="0"/>
          </a:p>
        </p:txBody>
      </p:sp>
      <p:sp>
        <p:nvSpPr>
          <p:cNvPr id="17" name="arrow"/>
          <p:cNvSpPr/>
          <p:nvPr/>
        </p:nvSpPr>
        <p:spPr>
          <a:xfrm>
            <a:off x="3072384" y="3127248"/>
            <a:ext cx="283464" cy="0"/>
          </a:xfrm>
          <a:prstGeom prst="line">
            <a:avLst/>
          </a:prstGeom>
          <a:noFill/>
          <a:ln w="25400">
            <a:solidFill>
              <a:srgbClr val="1E2430"/>
            </a:solidFill>
            <a:prstDash val="solid"/>
            <a:tailEnd type="triangle"/>
          </a:ln>
        </p:spPr>
      </p:sp>
      <p:sp>
        <p:nvSpPr>
          <p:cNvPr id="18" name="diagram box"/>
          <p:cNvSpPr/>
          <p:nvPr/>
        </p:nvSpPr>
        <p:spPr>
          <a:xfrm>
            <a:off x="3364992" y="2651760"/>
            <a:ext cx="2514600" cy="960120"/>
          </a:xfrm>
          <a:prstGeom prst="roundRect">
            <a:avLst>
              <a:gd name="adj" fmla="val 7619"/>
            </a:avLst>
          </a:prstGeom>
          <a:solidFill>
            <a:srgbClr val="6C4F9E"/>
          </a:solidFill>
          <a:ln/>
        </p:spPr>
      </p:sp>
      <p:sp>
        <p:nvSpPr>
          <p:cNvPr id="19" name="Text 16"/>
          <p:cNvSpPr txBox="1"/>
          <p:nvPr/>
        </p:nvSpPr>
        <p:spPr>
          <a:xfrm>
            <a:off x="3364992" y="265176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Stationarity, turbulence tests; u</a:t>
            </a:r>
            <a:r>
              <a:rPr lang="en-US" sz="1200" b="1" baseline="-40000" dirty="0">
                <a:solidFill>
                  <a:schemeClr val="bg1"/>
                </a:solidFill>
              </a:rPr>
              <a:t>*</a:t>
            </a:r>
            <a:r>
              <a:rPr lang="en-US" sz="1200" b="1" dirty="0">
                <a:solidFill>
                  <a:schemeClr val="bg1"/>
                </a:solidFill>
              </a:rPr>
              <a:t> filter</a:t>
            </a:r>
            <a:endParaRPr lang="en-US" sz="1200" dirty="0"/>
          </a:p>
        </p:txBody>
      </p:sp>
      <p:sp>
        <p:nvSpPr>
          <p:cNvPr id="20" name="arrow"/>
          <p:cNvSpPr/>
          <p:nvPr/>
        </p:nvSpPr>
        <p:spPr>
          <a:xfrm>
            <a:off x="5888736" y="3127248"/>
            <a:ext cx="283464" cy="0"/>
          </a:xfrm>
          <a:prstGeom prst="line">
            <a:avLst/>
          </a:prstGeom>
          <a:noFill/>
          <a:ln w="25400">
            <a:solidFill>
              <a:srgbClr val="1E2430"/>
            </a:solidFill>
            <a:prstDash val="solid"/>
            <a:tailEnd type="triangle"/>
          </a:ln>
        </p:spPr>
      </p:sp>
      <p:sp>
        <p:nvSpPr>
          <p:cNvPr id="21" name="diagram box"/>
          <p:cNvSpPr/>
          <p:nvPr/>
        </p:nvSpPr>
        <p:spPr>
          <a:xfrm>
            <a:off x="6181344" y="2651760"/>
            <a:ext cx="2514600" cy="960120"/>
          </a:xfrm>
          <a:prstGeom prst="roundRect">
            <a:avLst>
              <a:gd name="adj" fmla="val 7619"/>
            </a:avLst>
          </a:prstGeom>
          <a:solidFill>
            <a:srgbClr val="2E7D4F"/>
          </a:solidFill>
          <a:ln/>
        </p:spPr>
      </p:sp>
      <p:sp>
        <p:nvSpPr>
          <p:cNvPr id="22" name="Text 19"/>
          <p:cNvSpPr txBox="1"/>
          <p:nvPr/>
        </p:nvSpPr>
        <p:spPr>
          <a:xfrm>
            <a:off x="6181344" y="265176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Gap filling (MDS); footprint; closure check</a:t>
            </a:r>
            <a:endParaRPr lang="en-US" sz="1200" dirty="0"/>
          </a:p>
        </p:txBody>
      </p:sp>
      <p:sp>
        <p:nvSpPr>
          <p:cNvPr id="23" name="arrow"/>
          <p:cNvSpPr/>
          <p:nvPr/>
        </p:nvSpPr>
        <p:spPr>
          <a:xfrm>
            <a:off x="8705088" y="3127248"/>
            <a:ext cx="283464" cy="0"/>
          </a:xfrm>
          <a:prstGeom prst="line">
            <a:avLst/>
          </a:prstGeom>
          <a:noFill/>
          <a:ln w="25400">
            <a:solidFill>
              <a:srgbClr val="1E2430"/>
            </a:solidFill>
            <a:prstDash val="solid"/>
            <a:tailEnd type="triangle"/>
          </a:ln>
        </p:spPr>
      </p:sp>
      <p:sp>
        <p:nvSpPr>
          <p:cNvPr id="24" name="diagram box"/>
          <p:cNvSpPr/>
          <p:nvPr/>
        </p:nvSpPr>
        <p:spPr>
          <a:xfrm>
            <a:off x="8997696" y="2651760"/>
            <a:ext cx="2514600" cy="960120"/>
          </a:xfrm>
          <a:prstGeom prst="roundRect">
            <a:avLst>
              <a:gd name="adj" fmla="val 7619"/>
            </a:avLst>
          </a:prstGeom>
          <a:solidFill>
            <a:srgbClr val="C0702A"/>
          </a:solidFill>
          <a:ln/>
        </p:spPr>
      </p:sp>
      <p:sp>
        <p:nvSpPr>
          <p:cNvPr id="25" name="Text 22"/>
          <p:cNvSpPr txBox="1"/>
          <p:nvPr/>
        </p:nvSpPr>
        <p:spPr>
          <a:xfrm>
            <a:off x="8997696" y="2651760"/>
            <a:ext cx="2514600" cy="960120"/>
          </a:xfrm>
          <a:prstGeom prst="rect">
            <a:avLst/>
          </a:prstGeom>
          <a:noFill/>
          <a:ln/>
        </p:spPr>
        <p:txBody>
          <a:bodyPr wrap="square" lIns="508" tIns="508" rIns="508" bIns="508" rtlCol="0" anchor="ctr"/>
          <a:lstStyle/>
          <a:p>
            <a:pPr algn="ctr" indent="0" marL="0">
              <a:buNone/>
            </a:pPr>
            <a:r>
              <a:rPr lang="en-US" sz="1200" b="1" dirty="0">
                <a:solidFill>
                  <a:schemeClr val="bg1"/>
                </a:solidFill>
              </a:rPr>
              <a:t>Half-hourly / daily λE, H, F</a:t>
            </a:r>
            <a:r>
              <a:rPr lang="en-US" sz="1200" b="1" baseline="-40000" dirty="0">
                <a:solidFill>
                  <a:schemeClr val="bg1"/>
                </a:solidFill>
              </a:rPr>
              <a:t>c</a:t>
            </a:r>
            <a:endParaRPr lang="en-US" sz="1200" dirty="0"/>
          </a:p>
        </p:txBody>
      </p:sp>
      <p:sp>
        <p:nvSpPr>
          <p:cNvPr id="26" name="arrow"/>
          <p:cNvSpPr/>
          <p:nvPr/>
        </p:nvSpPr>
        <p:spPr>
          <a:xfrm>
            <a:off x="10250424" y="2286000"/>
            <a:ext cx="0" cy="182880"/>
          </a:xfrm>
          <a:prstGeom prst="line">
            <a:avLst/>
          </a:prstGeom>
          <a:noFill/>
          <a:ln w="25400">
            <a:solidFill>
              <a:srgbClr val="1E2430"/>
            </a:solidFill>
            <a:prstDash val="solid"/>
          </a:ln>
        </p:spPr>
      </p:sp>
      <p:sp>
        <p:nvSpPr>
          <p:cNvPr id="27" name="arrow"/>
          <p:cNvSpPr/>
          <p:nvPr/>
        </p:nvSpPr>
        <p:spPr>
          <a:xfrm flipH="1">
            <a:off x="1801368" y="2468880"/>
            <a:ext cx="8449056" cy="0"/>
          </a:xfrm>
          <a:prstGeom prst="line">
            <a:avLst/>
          </a:prstGeom>
          <a:noFill/>
          <a:ln w="25400">
            <a:solidFill>
              <a:srgbClr val="1E2430"/>
            </a:solidFill>
            <a:prstDash val="solid"/>
          </a:ln>
        </p:spPr>
      </p:sp>
      <p:sp>
        <p:nvSpPr>
          <p:cNvPr id="28" name="arrow"/>
          <p:cNvSpPr/>
          <p:nvPr/>
        </p:nvSpPr>
        <p:spPr>
          <a:xfrm>
            <a:off x="1801368" y="2468880"/>
            <a:ext cx="0" cy="173736"/>
          </a:xfrm>
          <a:prstGeom prst="line">
            <a:avLst/>
          </a:prstGeom>
          <a:noFill/>
          <a:ln w="25400">
            <a:solidFill>
              <a:srgbClr val="1E2430"/>
            </a:solidFill>
            <a:prstDash val="solid"/>
            <a:tailEnd type="triangle"/>
          </a:ln>
        </p:spPr>
      </p:sp>
      <p:sp>
        <p:nvSpPr>
          <p:cNvPr id="29" name="card"/>
          <p:cNvSpPr/>
          <p:nvPr/>
        </p:nvSpPr>
        <p:spPr>
          <a:xfrm>
            <a:off x="548640" y="3794760"/>
            <a:ext cx="5486400" cy="2377440"/>
          </a:xfrm>
          <a:prstGeom prst="roundRect">
            <a:avLst>
              <a:gd name="adj" fmla="val 3077"/>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30" name="Text 27"/>
          <p:cNvSpPr txBox="1"/>
          <p:nvPr/>
        </p:nvSpPr>
        <p:spPr>
          <a:xfrm>
            <a:off x="685800" y="3858768"/>
            <a:ext cx="2743200" cy="292608"/>
          </a:xfrm>
          <a:prstGeom prst="rect">
            <a:avLst/>
          </a:prstGeom>
          <a:noFill/>
          <a:ln/>
        </p:spPr>
        <p:txBody>
          <a:bodyPr wrap="square" lIns="0" tIns="0" rIns="0" bIns="0" rtlCol="0" anchor="ctr"/>
          <a:lstStyle/>
          <a:p>
            <a:pPr algn="l" indent="0" marL="0">
              <a:buNone/>
            </a:pPr>
            <a:r>
              <a:rPr lang="en-US" sz="1300" b="1" dirty="0">
                <a:solidFill>
                  <a:schemeClr val="tx2"/>
                </a:solidFill>
              </a:rPr>
              <a:t>Flux footprint</a:t>
            </a:r>
            <a:endParaRPr lang="en-US" sz="1300" dirty="0"/>
          </a:p>
        </p:txBody>
      </p:sp>
      <p:sp>
        <p:nvSpPr>
          <p:cNvPr id="31" name="footprint 80%"/>
          <p:cNvSpPr/>
          <p:nvPr/>
        </p:nvSpPr>
        <p:spPr>
          <a:xfrm>
            <a:off x="1097280" y="4526280"/>
            <a:ext cx="3840480" cy="1097280"/>
          </a:xfrm>
          <a:prstGeom prst="ellipse">
            <a:avLst/>
          </a:prstGeom>
          <a:solidFill>
            <a:srgbClr val="D6E4F0"/>
          </a:solidFill>
          <a:ln w="15875">
            <a:solidFill>
              <a:srgbClr val="3B6EA5"/>
            </a:solidFill>
            <a:prstDash val="solid"/>
          </a:ln>
        </p:spPr>
      </p:sp>
      <p:sp>
        <p:nvSpPr>
          <p:cNvPr id="32" name="footprint peak"/>
          <p:cNvSpPr/>
          <p:nvPr/>
        </p:nvSpPr>
        <p:spPr>
          <a:xfrm>
            <a:off x="2926080" y="4800600"/>
            <a:ext cx="1554480" cy="548640"/>
          </a:xfrm>
          <a:prstGeom prst="ellipse">
            <a:avLst/>
          </a:prstGeom>
          <a:solidFill>
            <a:srgbClr val="3B6EA5">
              <a:alpha val="70000"/>
            </a:srgbClr>
          </a:solidFill>
          <a:ln/>
        </p:spPr>
      </p:sp>
      <p:sp>
        <p:nvSpPr>
          <p:cNvPr id="33" name="tower"/>
          <p:cNvSpPr/>
          <p:nvPr/>
        </p:nvSpPr>
        <p:spPr>
          <a:xfrm>
            <a:off x="4983480" y="4965192"/>
            <a:ext cx="219456" cy="219456"/>
          </a:xfrm>
          <a:prstGeom prst="ellipse">
            <a:avLst/>
          </a:prstGeom>
          <a:solidFill>
            <a:srgbClr val="1E2430"/>
          </a:solidFill>
          <a:ln/>
        </p:spPr>
      </p:sp>
      <p:sp>
        <p:nvSpPr>
          <p:cNvPr id="34" name="Text 31"/>
          <p:cNvSpPr txBox="1"/>
          <p:nvPr/>
        </p:nvSpPr>
        <p:spPr>
          <a:xfrm>
            <a:off x="5212080" y="4919472"/>
            <a:ext cx="731520" cy="274320"/>
          </a:xfrm>
          <a:prstGeom prst="rect">
            <a:avLst/>
          </a:prstGeom>
          <a:noFill/>
          <a:ln/>
        </p:spPr>
        <p:txBody>
          <a:bodyPr wrap="square" lIns="0" tIns="0" rIns="0" bIns="0" rtlCol="0" anchor="ctr"/>
          <a:lstStyle/>
          <a:p>
            <a:pPr algn="l" indent="0" marL="0">
              <a:buNone/>
            </a:pPr>
            <a:r>
              <a:rPr lang="en-US" sz="1100" b="1" dirty="0">
                <a:solidFill>
                  <a:schemeClr val="tx1"/>
                </a:solidFill>
              </a:rPr>
              <a:t>tower</a:t>
            </a:r>
            <a:endParaRPr lang="en-US" sz="1100" dirty="0"/>
          </a:p>
        </p:txBody>
      </p:sp>
      <p:sp>
        <p:nvSpPr>
          <p:cNvPr id="35" name="arrow"/>
          <p:cNvSpPr/>
          <p:nvPr/>
        </p:nvSpPr>
        <p:spPr>
          <a:xfrm>
            <a:off x="914400" y="4297680"/>
            <a:ext cx="1371600" cy="0"/>
          </a:xfrm>
          <a:prstGeom prst="line">
            <a:avLst/>
          </a:prstGeom>
          <a:noFill/>
          <a:ln w="25400">
            <a:solidFill>
              <a:srgbClr val="5C6B73"/>
            </a:solidFill>
            <a:prstDash val="solid"/>
            <a:tailEnd type="triangle"/>
          </a:ln>
        </p:spPr>
      </p:sp>
      <p:sp>
        <p:nvSpPr>
          <p:cNvPr id="36" name="Text 33"/>
          <p:cNvSpPr txBox="1"/>
          <p:nvPr/>
        </p:nvSpPr>
        <p:spPr>
          <a:xfrm>
            <a:off x="2377440" y="4178808"/>
            <a:ext cx="640080" cy="256032"/>
          </a:xfrm>
          <a:prstGeom prst="rect">
            <a:avLst/>
          </a:prstGeom>
          <a:noFill/>
          <a:ln/>
        </p:spPr>
        <p:txBody>
          <a:bodyPr wrap="square" lIns="0" tIns="0" rIns="0" bIns="0" rtlCol="0" anchor="ctr"/>
          <a:lstStyle/>
          <a:p>
            <a:pPr algn="l" indent="0" marL="0">
              <a:buNone/>
            </a:pPr>
            <a:r>
              <a:rPr lang="en-US" sz="1050" dirty="0">
                <a:solidFill>
                  <a:schemeClr val="accent6"/>
                </a:solidFill>
              </a:rPr>
              <a:t>wind</a:t>
            </a:r>
            <a:endParaRPr lang="en-US" sz="1050" dirty="0"/>
          </a:p>
        </p:txBody>
      </p:sp>
      <p:sp>
        <p:nvSpPr>
          <p:cNvPr id="37" name="Text 34"/>
          <p:cNvSpPr txBox="1"/>
          <p:nvPr/>
        </p:nvSpPr>
        <p:spPr>
          <a:xfrm>
            <a:off x="685800" y="5715000"/>
            <a:ext cx="5212080" cy="365760"/>
          </a:xfrm>
          <a:prstGeom prst="rect">
            <a:avLst/>
          </a:prstGeom>
          <a:noFill/>
          <a:ln/>
        </p:spPr>
        <p:txBody>
          <a:bodyPr wrap="square" lIns="0" tIns="0" rIns="0" bIns="0" rtlCol="0" anchor="ctr"/>
          <a:lstStyle/>
          <a:p>
            <a:pPr algn="ctr" indent="0" marL="0">
              <a:buNone/>
            </a:pPr>
            <a:r>
              <a:rPr lang="en-US" sz="1100" i="1" dirty="0">
                <a:solidFill>
                  <a:schemeClr val="accent6"/>
                </a:solidFill>
              </a:rPr>
              <a:t>Source area grows with height and stable air; ~100 × height upwind</a:t>
            </a:r>
            <a:endParaRPr lang="en-US" sz="1100" dirty="0"/>
          </a:p>
        </p:txBody>
      </p:sp>
      <p:sp>
        <p:nvSpPr>
          <p:cNvPr id="38" name="card"/>
          <p:cNvSpPr/>
          <p:nvPr/>
        </p:nvSpPr>
        <p:spPr>
          <a:xfrm>
            <a:off x="6153912" y="3794760"/>
            <a:ext cx="548640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39" name="icon circle"/>
          <p:cNvSpPr/>
          <p:nvPr/>
        </p:nvSpPr>
        <p:spPr>
          <a:xfrm>
            <a:off x="6336792" y="3950208"/>
            <a:ext cx="420624" cy="420624"/>
          </a:xfrm>
          <a:prstGeom prst="ellipse">
            <a:avLst/>
          </a:prstGeom>
          <a:solidFill>
            <a:schemeClr val="accent4"/>
          </a:solidFill>
          <a:ln/>
        </p:spPr>
      </p:sp>
      <p:pic>
        <p:nvPicPr>
          <p:cNvPr id="40" name="Image 0" descr="BalanceScale icon">    </p:cNvPr>
          <p:cNvPicPr>
            <a:picLocks noChangeAspect="1"/>
          </p:cNvPicPr>
          <p:nvPr/>
        </p:nvPicPr>
        <p:blipFill>
          <a:blip r:embed="rId1"/>
          <a:stretch>
            <a:fillRect/>
          </a:stretch>
        </p:blipFill>
        <p:spPr>
          <a:xfrm>
            <a:off x="6446154" y="4059570"/>
            <a:ext cx="201900" cy="201900"/>
          </a:xfrm>
          <a:prstGeom prst="rect">
            <a:avLst/>
          </a:prstGeom>
        </p:spPr>
      </p:pic>
      <p:sp>
        <p:nvSpPr>
          <p:cNvPr id="41" name="Text 37"/>
          <p:cNvSpPr txBox="1"/>
          <p:nvPr/>
        </p:nvSpPr>
        <p:spPr>
          <a:xfrm>
            <a:off x="6867144" y="393192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Energy balance closure</a:t>
            </a:r>
            <a:endParaRPr lang="en-US" sz="1600" dirty="0"/>
          </a:p>
        </p:txBody>
      </p:sp>
      <p:sp>
        <p:nvSpPr>
          <p:cNvPr id="42" name="Text 38"/>
          <p:cNvSpPr txBox="1"/>
          <p:nvPr/>
        </p:nvSpPr>
        <p:spPr>
          <a:xfrm>
            <a:off x="6336792" y="4480560"/>
            <a:ext cx="5120640" cy="16002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Closure ratio = (H + λE)/(Rn − G) ≈ 0.7–0.9</a:t>
            </a:r>
            <a:endParaRPr lang="en-US" sz="1250" dirty="0"/>
          </a:p>
          <a:p>
            <a:pPr marL="177800" indent="-177800">
              <a:spcAft>
                <a:spcPts val="400"/>
              </a:spcAft>
              <a:buSzPct val="100000"/>
              <a:buChar char="•"/>
            </a:pPr>
            <a:r>
              <a:rPr lang="en-US" sz="1250" dirty="0">
                <a:solidFill>
                  <a:schemeClr val="tx1"/>
                </a:solidFill>
              </a:rPr>
              <a:t>Causes: large eddies, advection, storage, footprint mismatch with Rn and G sensors</a:t>
            </a:r>
            <a:endParaRPr lang="en-US" sz="1250" dirty="0"/>
          </a:p>
          <a:p>
            <a:pPr marL="177800" indent="-177800">
              <a:spcAft>
                <a:spcPts val="400"/>
              </a:spcAft>
              <a:buSzPct val="100000"/>
              <a:buChar char="•"/>
            </a:pPr>
            <a:r>
              <a:rPr lang="en-US" sz="1250" dirty="0">
                <a:solidFill>
                  <a:schemeClr val="tx1"/>
                </a:solidFill>
              </a:rPr>
              <a:t>Fix: Bowen-ratio-preserving forced closure, or report residual</a:t>
            </a:r>
            <a:endParaRPr lang="en-US" sz="1250" dirty="0"/>
          </a:p>
          <a:p>
            <a:pPr marL="177800" indent="-177800">
              <a:spcAft>
                <a:spcPts val="400"/>
              </a:spcAft>
              <a:buSzPct val="100000"/>
              <a:buChar char="•"/>
            </a:pPr>
            <a:r>
              <a:rPr lang="en-US" sz="1250" dirty="0">
                <a:solidFill>
                  <a:schemeClr val="tx1"/>
                </a:solidFill>
              </a:rPr>
              <a:t>Networks: FLUXNET, AsiaFlux; key for validating satellite ET</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satellites provide for ET</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2103120"/>
                <a:gridCol w="1463040"/>
                <a:gridCol w="1417320"/>
                <a:gridCol w="1783080"/>
              </a:tblGrid>
              <a:tr h="5029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Sensor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TIR pixel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Revisit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Typical ET use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Landsat 8/9 TIRS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100 m (→ 30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16 d (8 d pair)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 ET: SEBAL, METRIC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ASTER / ECOSTRESS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90 m / 70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irregular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Research, diurnal sampling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MODIS Terra/Aqua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1–2 per day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MOD16, SEBS, triangle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Kalpana-1 VHRR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8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30 min–3 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Indian regional ET (SAC)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INSAT-3D/3DR Imager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4 km (split TIR)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15–30 min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LST, ET, ALEXI-type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TRISHNA (ISRO–CNES)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~57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 days (planned)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Field-scale ET, water stress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card"/>
          <p:cNvSpPr/>
          <p:nvPr/>
        </p:nvSpPr>
        <p:spPr>
          <a:xfrm>
            <a:off x="7498080" y="1280160"/>
            <a:ext cx="4142232" cy="3767328"/>
          </a:xfrm>
          <a:prstGeom prst="roundRect">
            <a:avLst>
              <a:gd name="adj" fmla="val 1942"/>
            </a:avLst>
          </a:prstGeom>
          <a:solidFill>
            <a:schemeClr val="bg2"/>
          </a:solidFill>
          <a:ln/>
          <a:effectLst>
            <a:outerShdw sx="100000" sy="100000" kx="0" ky="0" algn="bl" rotWithShape="0" blurRad="76200" dist="25400" dir="5400000">
              <a:srgbClr val="000000">
                <a:alpha val="14000"/>
              </a:srgbClr>
            </a:outerShdw>
          </a:effectLst>
        </p:spPr>
      </p:sp>
      <p:sp>
        <p:nvSpPr>
          <p:cNvPr id="6" name="icon circle"/>
          <p:cNvSpPr/>
          <p:nvPr/>
        </p:nvSpPr>
        <p:spPr>
          <a:xfrm>
            <a:off x="7680960" y="1435608"/>
            <a:ext cx="420624" cy="420624"/>
          </a:xfrm>
          <a:prstGeom prst="ellipse">
            <a:avLst/>
          </a:prstGeom>
          <a:solidFill>
            <a:schemeClr val="accent2"/>
          </a:solidFill>
          <a:ln/>
        </p:spPr>
      </p:sp>
      <p:pic>
        <p:nvPicPr>
          <p:cNvPr id="7" name="Image 0" descr="Satellite icon">    </p:cNvPr>
          <p:cNvPicPr>
            <a:picLocks noChangeAspect="1"/>
          </p:cNvPicPr>
          <p:nvPr/>
        </p:nvPicPr>
        <p:blipFill>
          <a:blip r:embed="rId1"/>
          <a:stretch>
            <a:fillRect/>
          </a:stretch>
        </p:blipFill>
        <p:spPr>
          <a:xfrm>
            <a:off x="7790322" y="1544970"/>
            <a:ext cx="201900" cy="201900"/>
          </a:xfrm>
          <a:prstGeom prst="rect">
            <a:avLst/>
          </a:prstGeom>
        </p:spPr>
      </p:pic>
      <p:sp>
        <p:nvSpPr>
          <p:cNvPr id="8" name="Text 3"/>
          <p:cNvSpPr txBox="1"/>
          <p:nvPr/>
        </p:nvSpPr>
        <p:spPr>
          <a:xfrm>
            <a:off x="8211312" y="141732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Inputs and where they come from</a:t>
            </a:r>
            <a:endParaRPr lang="en-US" sz="1600" dirty="0"/>
          </a:p>
        </p:txBody>
      </p:sp>
      <p:sp>
        <p:nvSpPr>
          <p:cNvPr id="9" name="Text 4"/>
          <p:cNvSpPr txBox="1"/>
          <p:nvPr/>
        </p:nvSpPr>
        <p:spPr>
          <a:xfrm>
            <a:off x="7680960" y="1965960"/>
            <a:ext cx="3776472" cy="2990088"/>
          </a:xfrm>
          <a:prstGeom prst="rect">
            <a:avLst/>
          </a:prstGeom>
          <a:noFill/>
          <a:ln/>
        </p:spPr>
        <p:txBody>
          <a:bodyPr wrap="square" lIns="508" tIns="508" rIns="508" bIns="508" rtlCol="0" anchor="t"/>
          <a:lstStyle/>
          <a:p>
            <a:pPr marL="177800" indent="-177800">
              <a:spcAft>
                <a:spcPts val="400"/>
              </a:spcAft>
              <a:buSzPct val="100000"/>
              <a:buChar char="•"/>
            </a:pPr>
            <a:r>
              <a:rPr lang="en-US" sz="1250" b="1" dirty="0">
                <a:solidFill>
                  <a:schemeClr val="tx1"/>
                </a:solidFill>
              </a:rPr>
              <a:t>VIS/NIR:</a:t>
            </a:r>
            <a:r>
              <a:rPr lang="en-US" sz="1250" dirty="0">
                <a:solidFill>
                  <a:schemeClr val="tx1"/>
                </a:solidFill>
              </a:rPr>
              <a:t> albedo, NDVI, LAI, f</a:t>
            </a:r>
            <a:r>
              <a:rPr lang="en-US" sz="1250" baseline="-40000" dirty="0">
                <a:solidFill>
                  <a:schemeClr val="tx1"/>
                </a:solidFill>
              </a:rPr>
              <a:t>c</a:t>
            </a:r>
            <a:r>
              <a:rPr lang="en-US" sz="1250" dirty="0">
                <a:solidFill>
                  <a:schemeClr val="tx1"/>
                </a:solidFill>
              </a:rPr>
              <a:t>, z</a:t>
            </a:r>
            <a:r>
              <a:rPr lang="en-US" sz="1250" baseline="-40000" dirty="0">
                <a:solidFill>
                  <a:schemeClr val="tx1"/>
                </a:solidFill>
              </a:rPr>
              <a:t>0m</a:t>
            </a:r>
            <a:r>
              <a:rPr lang="en-US" sz="1250" dirty="0">
                <a:solidFill>
                  <a:schemeClr val="tx1"/>
                </a:solidFill>
              </a:rPr>
              <a:t>, ε</a:t>
            </a:r>
            <a:endParaRPr lang="en-US" sz="1250" dirty="0"/>
          </a:p>
          <a:p>
            <a:pPr marL="177800" indent="-177800">
              <a:spcAft>
                <a:spcPts val="400"/>
              </a:spcAft>
              <a:buSzPct val="100000"/>
              <a:buChar char="•"/>
            </a:pPr>
            <a:r>
              <a:rPr lang="en-US" sz="1250" b="1" dirty="0">
                <a:solidFill>
                  <a:schemeClr val="tx1"/>
                </a:solidFill>
              </a:rPr>
              <a:t>TIR:</a:t>
            </a:r>
            <a:r>
              <a:rPr lang="en-US" sz="1250" dirty="0">
                <a:solidFill>
                  <a:schemeClr val="tx1"/>
                </a:solidFill>
              </a:rPr>
              <a:t> LST by split-window or single-channel (needs ε, water vapour)</a:t>
            </a:r>
            <a:endParaRPr lang="en-US" sz="1250" dirty="0"/>
          </a:p>
          <a:p>
            <a:pPr marL="177800" indent="-177800">
              <a:spcAft>
                <a:spcPts val="400"/>
              </a:spcAft>
              <a:buSzPct val="100000"/>
              <a:buChar char="•"/>
            </a:pPr>
            <a:r>
              <a:rPr lang="en-US" sz="1250" b="1" dirty="0">
                <a:solidFill>
                  <a:schemeClr val="tx1"/>
                </a:solidFill>
              </a:rPr>
              <a:t>Weather:</a:t>
            </a:r>
            <a:r>
              <a:rPr lang="en-US" sz="1250" dirty="0">
                <a:solidFill>
                  <a:schemeClr val="tx1"/>
                </a:solidFill>
              </a:rPr>
              <a:t> T</a:t>
            </a:r>
            <a:r>
              <a:rPr lang="en-US" sz="1250" baseline="-40000" dirty="0">
                <a:solidFill>
                  <a:schemeClr val="tx1"/>
                </a:solidFill>
              </a:rPr>
              <a:t>a</a:t>
            </a:r>
            <a:r>
              <a:rPr lang="en-US" sz="1250" dirty="0">
                <a:solidFill>
                  <a:schemeClr val="tx1"/>
                </a:solidFill>
              </a:rPr>
              <a:t>, u, e</a:t>
            </a:r>
            <a:r>
              <a:rPr lang="en-US" sz="1250" baseline="-40000" dirty="0">
                <a:solidFill>
                  <a:schemeClr val="tx1"/>
                </a:solidFill>
              </a:rPr>
              <a:t>a</a:t>
            </a:r>
            <a:r>
              <a:rPr lang="en-US" sz="1250" dirty="0">
                <a:solidFill>
                  <a:schemeClr val="tx1"/>
                </a:solidFill>
              </a:rPr>
              <a:t>, Rs from stations, reanalysis, NWP</a:t>
            </a:r>
            <a:endParaRPr lang="en-US" sz="1250" dirty="0"/>
          </a:p>
          <a:p>
            <a:pPr marL="177800" indent="-177800">
              <a:spcAft>
                <a:spcPts val="400"/>
              </a:spcAft>
              <a:buSzPct val="100000"/>
              <a:buChar char="•"/>
            </a:pPr>
            <a:r>
              <a:rPr lang="en-US" sz="1250" b="1" dirty="0">
                <a:solidFill>
                  <a:schemeClr val="tx1"/>
                </a:solidFill>
              </a:rPr>
              <a:t>DEM:</a:t>
            </a:r>
            <a:r>
              <a:rPr lang="en-US" sz="1250" dirty="0">
                <a:solidFill>
                  <a:schemeClr val="tx1"/>
                </a:solidFill>
              </a:rPr>
              <a:t> slope, aspect, lapse-rate correction</a:t>
            </a:r>
            <a:endParaRPr lang="en-US" sz="1250" dirty="0"/>
          </a:p>
          <a:p>
            <a:pPr marL="177800" indent="-177800">
              <a:spcAft>
                <a:spcPts val="400"/>
              </a:spcAft>
              <a:buSzPct val="100000"/>
              <a:buChar char="•"/>
            </a:pPr>
            <a:r>
              <a:rPr lang="en-US" sz="1250" b="1" dirty="0">
                <a:solidFill>
                  <a:schemeClr val="tx1"/>
                </a:solidFill>
              </a:rPr>
              <a:t>Land cover:</a:t>
            </a:r>
            <a:r>
              <a:rPr lang="en-US" sz="1250" dirty="0">
                <a:solidFill>
                  <a:schemeClr val="tx1"/>
                </a:solidFill>
              </a:rPr>
              <a:t> masks, roughness, crop type</a:t>
            </a:r>
            <a:endParaRPr lang="en-US" sz="1250" dirty="0"/>
          </a:p>
        </p:txBody>
      </p:sp>
      <p:sp>
        <p:nvSpPr>
          <p:cNvPr id="10" name="insight"/>
          <p:cNvSpPr/>
          <p:nvPr/>
        </p:nvSpPr>
        <p:spPr>
          <a:xfrm>
            <a:off x="548640" y="5212080"/>
            <a:ext cx="11094415" cy="868680"/>
          </a:xfrm>
          <a:prstGeom prst="roundRect">
            <a:avLst>
              <a:gd name="adj" fmla="val 8421"/>
            </a:avLst>
          </a:prstGeom>
          <a:solidFill>
            <a:schemeClr val="bg2"/>
          </a:solidFill>
          <a:ln/>
        </p:spPr>
      </p:sp>
      <p:sp>
        <p:nvSpPr>
          <p:cNvPr id="11" name="icon circle"/>
          <p:cNvSpPr/>
          <p:nvPr/>
        </p:nvSpPr>
        <p:spPr>
          <a:xfrm>
            <a:off x="685800" y="5408676"/>
            <a:ext cx="475488" cy="475488"/>
          </a:xfrm>
          <a:prstGeom prst="ellipse">
            <a:avLst/>
          </a:prstGeom>
          <a:solidFill>
            <a:schemeClr val="accent3"/>
          </a:solidFill>
          <a:ln/>
        </p:spPr>
      </p:sp>
      <p:pic>
        <p:nvPicPr>
          <p:cNvPr id="12" name="Image 1" descr="Lightbulb icon">    </p:cNvPr>
          <p:cNvPicPr>
            <a:picLocks noChangeAspect="1"/>
          </p:cNvPicPr>
          <p:nvPr/>
        </p:nvPicPr>
        <p:blipFill>
          <a:blip r:embed="rId2"/>
          <a:stretch>
            <a:fillRect/>
          </a:stretch>
        </p:blipFill>
        <p:spPr>
          <a:xfrm>
            <a:off x="809427" y="5532303"/>
            <a:ext cx="228234" cy="228234"/>
          </a:xfrm>
          <a:prstGeom prst="rect">
            <a:avLst/>
          </a:prstGeom>
        </p:spPr>
      </p:pic>
      <p:sp>
        <p:nvSpPr>
          <p:cNvPr id="13" name="Text 7"/>
          <p:cNvSpPr txBox="1"/>
          <p:nvPr/>
        </p:nvSpPr>
        <p:spPr>
          <a:xfrm>
            <a:off x="1325880" y="5248656"/>
            <a:ext cx="10180015" cy="79552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Why LST is the key variable:</a:t>
            </a:r>
            <a:r>
              <a:rPr lang="en-US" sz="1350" dirty="0">
                <a:solidFill>
                  <a:schemeClr val="tx1"/>
                </a:solidFill>
              </a:rPr>
              <a:t> evaporation cools the surface, so for the same energy input a wet crop is several degrees cooler than a stressed one — thermal data turn this contrast into H and λE</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Land surface temperature from thermal infrared</a:t>
            </a:r>
            <a:endParaRPr lang="en-US" sz="3200" dirty="0"/>
          </a:p>
        </p:txBody>
      </p:sp>
      <p:sp>
        <p:nvSpPr>
          <p:cNvPr id="4" name="card"/>
          <p:cNvSpPr/>
          <p:nvPr/>
        </p:nvSpPr>
        <p:spPr>
          <a:xfrm>
            <a:off x="548640" y="1280160"/>
            <a:ext cx="11094415"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10820095" cy="777240"/>
          </a:xfrm>
          <a:prstGeom prst="rect">
            <a:avLst/>
          </a:prstGeom>
          <a:noFill/>
          <a:ln/>
        </p:spPr>
        <p:txBody>
          <a:bodyPr wrap="square" lIns="0" tIns="0" rIns="0" bIns="0" rtlCol="0" anchor="ctr"/>
          <a:lstStyle/>
          <a:p>
            <a:pPr algn="ctr" indent="0" marL="0">
              <a:buNone/>
            </a:pPr>
            <a:r>
              <a:rPr lang="en-US" sz="2000" b="1" dirty="0">
                <a:solidFill>
                  <a:schemeClr val="bg1"/>
                </a:solidFill>
              </a:rPr>
              <a:t>L</a:t>
            </a:r>
            <a:r>
              <a:rPr lang="en-US" sz="2000" b="1" baseline="-40000" dirty="0">
                <a:solidFill>
                  <a:schemeClr val="bg1"/>
                </a:solidFill>
              </a:rPr>
              <a:t>sensor</a:t>
            </a:r>
            <a:r>
              <a:rPr lang="en-US" sz="2000" b="1" dirty="0">
                <a:solidFill>
                  <a:schemeClr val="bg1"/>
                </a:solidFill>
              </a:rPr>
              <a:t> = τ·[ε·B(T</a:t>
            </a:r>
            <a:r>
              <a:rPr lang="en-US" sz="2000" b="1" baseline="-40000" dirty="0">
                <a:solidFill>
                  <a:schemeClr val="bg1"/>
                </a:solidFill>
              </a:rPr>
              <a:t>s</a:t>
            </a:r>
            <a:r>
              <a:rPr lang="en-US" sz="2000" b="1" dirty="0">
                <a:solidFill>
                  <a:schemeClr val="bg1"/>
                </a:solidFill>
              </a:rPr>
              <a:t>) + (1 − ε)·L↓] + L↑</a:t>
            </a:r>
            <a:endParaRPr lang="en-US" sz="2000" dirty="0"/>
          </a:p>
        </p:txBody>
      </p:sp>
      <p:sp>
        <p:nvSpPr>
          <p:cNvPr id="6" name="Text 3"/>
          <p:cNvSpPr txBox="1"/>
          <p:nvPr/>
        </p:nvSpPr>
        <p:spPr>
          <a:xfrm>
            <a:off x="548640" y="2103120"/>
            <a:ext cx="11094415" cy="292608"/>
          </a:xfrm>
          <a:prstGeom prst="rect">
            <a:avLst/>
          </a:prstGeom>
          <a:noFill/>
          <a:ln/>
        </p:spPr>
        <p:txBody>
          <a:bodyPr wrap="square" lIns="0" tIns="0" rIns="0" bIns="0" rtlCol="0" anchor="ctr"/>
          <a:lstStyle/>
          <a:p>
            <a:pPr algn="ctr" indent="0" marL="0">
              <a:buNone/>
            </a:pPr>
            <a:r>
              <a:rPr lang="en-US" sz="1150" i="1" dirty="0">
                <a:solidFill>
                  <a:schemeClr val="accent6"/>
                </a:solidFill>
              </a:rPr>
              <a:t>B Planck function · τ atmospheric transmittance · L↓ downwelling sky radiance · L↑ path radiance (SEBAL eq. 4)</a:t>
            </a:r>
            <a:endParaRPr lang="en-US" sz="1150" dirty="0"/>
          </a:p>
        </p:txBody>
      </p:sp>
      <p:sp>
        <p:nvSpPr>
          <p:cNvPr id="7" name="card"/>
          <p:cNvSpPr/>
          <p:nvPr/>
        </p:nvSpPr>
        <p:spPr>
          <a:xfrm>
            <a:off x="548640" y="2560320"/>
            <a:ext cx="36118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31520" y="2715768"/>
            <a:ext cx="420624" cy="420624"/>
          </a:xfrm>
          <a:prstGeom prst="ellipse">
            <a:avLst/>
          </a:prstGeom>
          <a:solidFill>
            <a:schemeClr val="accent4"/>
          </a:solidFill>
          <a:ln/>
        </p:spPr>
      </p:sp>
      <p:pic>
        <p:nvPicPr>
          <p:cNvPr id="9" name="Image 0" descr="ThermometerHalf icon">    </p:cNvPr>
          <p:cNvPicPr>
            <a:picLocks noChangeAspect="1"/>
          </p:cNvPicPr>
          <p:nvPr/>
        </p:nvPicPr>
        <p:blipFill>
          <a:blip r:embed="rId1"/>
          <a:stretch>
            <a:fillRect/>
          </a:stretch>
        </p:blipFill>
        <p:spPr>
          <a:xfrm>
            <a:off x="840882" y="2825130"/>
            <a:ext cx="201900" cy="201900"/>
          </a:xfrm>
          <a:prstGeom prst="rect">
            <a:avLst/>
          </a:prstGeom>
        </p:spPr>
      </p:pic>
      <p:sp>
        <p:nvSpPr>
          <p:cNvPr id="10" name="Text 6"/>
          <p:cNvSpPr txBox="1"/>
          <p:nvPr/>
        </p:nvSpPr>
        <p:spPr>
          <a:xfrm>
            <a:off x="1261872" y="269748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Single-channel</a:t>
            </a:r>
            <a:endParaRPr lang="en-US" sz="1600" dirty="0"/>
          </a:p>
        </p:txBody>
      </p:sp>
      <p:sp>
        <p:nvSpPr>
          <p:cNvPr id="11" name="Text 7"/>
          <p:cNvSpPr txBox="1"/>
          <p:nvPr/>
        </p:nvSpPr>
        <p:spPr>
          <a:xfrm>
            <a:off x="731520" y="3246120"/>
            <a:ext cx="3246120" cy="160020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One TIR band + water vapour or profile (MODTRAN)</a:t>
            </a:r>
            <a:endParaRPr lang="en-US" sz="1200" dirty="0"/>
          </a:p>
          <a:p>
            <a:pPr marL="177800" indent="-177800">
              <a:spcAft>
                <a:spcPts val="400"/>
              </a:spcAft>
              <a:buSzPct val="100000"/>
              <a:buChar char="•"/>
            </a:pPr>
            <a:r>
              <a:rPr lang="en-US" sz="1200" dirty="0">
                <a:solidFill>
                  <a:schemeClr val="tx1"/>
                </a:solidFill>
              </a:rPr>
              <a:t>Landsat 8/9 band 10</a:t>
            </a:r>
            <a:endParaRPr lang="en-US" sz="1200" dirty="0"/>
          </a:p>
          <a:p>
            <a:pPr marL="177800" indent="-177800">
              <a:spcAft>
                <a:spcPts val="400"/>
              </a:spcAft>
              <a:buSzPct val="100000"/>
              <a:buChar char="•"/>
            </a:pPr>
            <a:r>
              <a:rPr lang="en-US" sz="1200" dirty="0">
                <a:solidFill>
                  <a:schemeClr val="accent4"/>
                </a:solidFill>
              </a:rPr>
              <a:t>Needs good atmospheric data</a:t>
            </a:r>
            <a:endParaRPr lang="en-US" sz="1200" dirty="0"/>
          </a:p>
        </p:txBody>
      </p:sp>
      <p:sp>
        <p:nvSpPr>
          <p:cNvPr id="12" name="card"/>
          <p:cNvSpPr/>
          <p:nvPr/>
        </p:nvSpPr>
        <p:spPr>
          <a:xfrm>
            <a:off x="4297680" y="2560320"/>
            <a:ext cx="36118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4480560" y="2715768"/>
            <a:ext cx="420624" cy="420624"/>
          </a:xfrm>
          <a:prstGeom prst="ellipse">
            <a:avLst/>
          </a:prstGeom>
          <a:solidFill>
            <a:schemeClr val="accent2"/>
          </a:solidFill>
          <a:ln/>
        </p:spPr>
      </p:sp>
      <p:pic>
        <p:nvPicPr>
          <p:cNvPr id="14" name="Image 1" descr="Satellite icon">    </p:cNvPr>
          <p:cNvPicPr>
            <a:picLocks noChangeAspect="1"/>
          </p:cNvPicPr>
          <p:nvPr/>
        </p:nvPicPr>
        <p:blipFill>
          <a:blip r:embed="rId2"/>
          <a:stretch>
            <a:fillRect/>
          </a:stretch>
        </p:blipFill>
        <p:spPr>
          <a:xfrm>
            <a:off x="4589922" y="2825130"/>
            <a:ext cx="201900" cy="201900"/>
          </a:xfrm>
          <a:prstGeom prst="rect">
            <a:avLst/>
          </a:prstGeom>
        </p:spPr>
      </p:pic>
      <p:sp>
        <p:nvSpPr>
          <p:cNvPr id="15" name="Text 10"/>
          <p:cNvSpPr txBox="1"/>
          <p:nvPr/>
        </p:nvSpPr>
        <p:spPr>
          <a:xfrm>
            <a:off x="5010912" y="269748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Split-window</a:t>
            </a:r>
            <a:endParaRPr lang="en-US" sz="1600" dirty="0"/>
          </a:p>
        </p:txBody>
      </p:sp>
      <p:sp>
        <p:nvSpPr>
          <p:cNvPr id="16" name="Text 11"/>
          <p:cNvSpPr txBox="1"/>
          <p:nvPr/>
        </p:nvSpPr>
        <p:spPr>
          <a:xfrm>
            <a:off x="4480560" y="3246120"/>
            <a:ext cx="3246120" cy="160020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T</a:t>
            </a:r>
            <a:r>
              <a:rPr lang="en-US" sz="1200" baseline="-40000" dirty="0">
                <a:solidFill>
                  <a:schemeClr val="tx1"/>
                </a:solidFill>
              </a:rPr>
              <a:t>s</a:t>
            </a:r>
            <a:r>
              <a:rPr lang="en-US" sz="1200" dirty="0">
                <a:solidFill>
                  <a:schemeClr val="tx1"/>
                </a:solidFill>
              </a:rPr>
              <a:t> = T</a:t>
            </a:r>
            <a:r>
              <a:rPr lang="en-US" sz="1200" baseline="-40000" dirty="0">
                <a:solidFill>
                  <a:schemeClr val="tx1"/>
                </a:solidFill>
              </a:rPr>
              <a:t>11</a:t>
            </a:r>
            <a:r>
              <a:rPr lang="en-US" sz="1200" dirty="0">
                <a:solidFill>
                  <a:schemeClr val="tx1"/>
                </a:solidFill>
              </a:rPr>
              <a:t> + a(T</a:t>
            </a:r>
            <a:r>
              <a:rPr lang="en-US" sz="1200" baseline="-40000" dirty="0">
                <a:solidFill>
                  <a:schemeClr val="tx1"/>
                </a:solidFill>
              </a:rPr>
              <a:t>11</a:t>
            </a:r>
            <a:r>
              <a:rPr lang="en-US" sz="1200" dirty="0">
                <a:solidFill>
                  <a:schemeClr val="tx1"/>
                </a:solidFill>
              </a:rPr>
              <a:t> − T</a:t>
            </a:r>
            <a:r>
              <a:rPr lang="en-US" sz="1200" baseline="-40000" dirty="0">
                <a:solidFill>
                  <a:schemeClr val="tx1"/>
                </a:solidFill>
              </a:rPr>
              <a:t>12</a:t>
            </a:r>
            <a:r>
              <a:rPr lang="en-US" sz="1200" dirty="0">
                <a:solidFill>
                  <a:schemeClr val="tx1"/>
                </a:solidFill>
              </a:rPr>
              <a:t>) + b, coefficients depend on ε, water vapour</a:t>
            </a:r>
            <a:endParaRPr lang="en-US" sz="1200" dirty="0"/>
          </a:p>
          <a:p>
            <a:pPr marL="177800" indent="-177800">
              <a:spcAft>
                <a:spcPts val="400"/>
              </a:spcAft>
              <a:buSzPct val="100000"/>
              <a:buChar char="•"/>
            </a:pPr>
            <a:r>
              <a:rPr lang="en-US" sz="1200" dirty="0">
                <a:solidFill>
                  <a:schemeClr val="tx1"/>
                </a:solidFill>
              </a:rPr>
              <a:t>MODIS, INSAT-3D/3DR, Sentinel-3</a:t>
            </a:r>
            <a:endParaRPr lang="en-US" sz="1200" dirty="0"/>
          </a:p>
        </p:txBody>
      </p:sp>
      <p:sp>
        <p:nvSpPr>
          <p:cNvPr id="17" name="card"/>
          <p:cNvSpPr/>
          <p:nvPr/>
        </p:nvSpPr>
        <p:spPr>
          <a:xfrm>
            <a:off x="8046720" y="2560320"/>
            <a:ext cx="359359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8229600" y="2715768"/>
            <a:ext cx="420624" cy="420624"/>
          </a:xfrm>
          <a:prstGeom prst="ellipse">
            <a:avLst/>
          </a:prstGeom>
          <a:solidFill>
            <a:schemeClr val="accent5"/>
          </a:solidFill>
          <a:ln/>
        </p:spPr>
      </p:sp>
      <p:pic>
        <p:nvPicPr>
          <p:cNvPr id="19" name="Image 2" descr="LayerGroup icon">    </p:cNvPr>
          <p:cNvPicPr>
            <a:picLocks noChangeAspect="1"/>
          </p:cNvPicPr>
          <p:nvPr/>
        </p:nvPicPr>
        <p:blipFill>
          <a:blip r:embed="rId3"/>
          <a:stretch>
            <a:fillRect/>
          </a:stretch>
        </p:blipFill>
        <p:spPr>
          <a:xfrm>
            <a:off x="8338962" y="2825130"/>
            <a:ext cx="201900" cy="201900"/>
          </a:xfrm>
          <a:prstGeom prst="rect">
            <a:avLst/>
          </a:prstGeom>
        </p:spPr>
      </p:pic>
      <p:sp>
        <p:nvSpPr>
          <p:cNvPr id="20" name="Text 14"/>
          <p:cNvSpPr txBox="1"/>
          <p:nvPr/>
        </p:nvSpPr>
        <p:spPr>
          <a:xfrm>
            <a:off x="8759952" y="2697480"/>
            <a:ext cx="2743200" cy="457200"/>
          </a:xfrm>
          <a:prstGeom prst="rect">
            <a:avLst/>
          </a:prstGeom>
          <a:noFill/>
          <a:ln/>
        </p:spPr>
        <p:txBody>
          <a:bodyPr wrap="square" lIns="0" tIns="0" rIns="0" bIns="0" rtlCol="0" anchor="ctr"/>
          <a:lstStyle/>
          <a:p>
            <a:pPr indent="0" marL="0">
              <a:buNone/>
            </a:pPr>
            <a:r>
              <a:rPr lang="en-US" sz="1600" b="1" dirty="0">
                <a:solidFill>
                  <a:schemeClr val="tx2"/>
                </a:solidFill>
              </a:rPr>
              <a:t>Temperature–emissivity separation</a:t>
            </a:r>
            <a:endParaRPr lang="en-US" sz="1600" dirty="0"/>
          </a:p>
        </p:txBody>
      </p:sp>
      <p:sp>
        <p:nvSpPr>
          <p:cNvPr id="21" name="Text 15"/>
          <p:cNvSpPr txBox="1"/>
          <p:nvPr/>
        </p:nvSpPr>
        <p:spPr>
          <a:xfrm>
            <a:off x="8229600" y="3246120"/>
            <a:ext cx="3227832" cy="160020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Multi-band TIR solves T</a:t>
            </a:r>
            <a:r>
              <a:rPr lang="en-US" sz="1200" baseline="-40000" dirty="0">
                <a:solidFill>
                  <a:schemeClr val="tx1"/>
                </a:solidFill>
              </a:rPr>
              <a:t>s</a:t>
            </a:r>
            <a:r>
              <a:rPr lang="en-US" sz="1200" dirty="0">
                <a:solidFill>
                  <a:schemeClr val="tx1"/>
                </a:solidFill>
              </a:rPr>
              <a:t> and ε together</a:t>
            </a:r>
            <a:endParaRPr lang="en-US" sz="1200" dirty="0"/>
          </a:p>
          <a:p>
            <a:pPr marL="177800" indent="-177800">
              <a:spcAft>
                <a:spcPts val="400"/>
              </a:spcAft>
              <a:buSzPct val="100000"/>
              <a:buChar char="•"/>
            </a:pPr>
            <a:r>
              <a:rPr lang="en-US" sz="1200" dirty="0">
                <a:solidFill>
                  <a:schemeClr val="tx1"/>
                </a:solidFill>
              </a:rPr>
              <a:t>ASTER, ECOSTRESS</a:t>
            </a:r>
            <a:endParaRPr lang="en-US" sz="1200" dirty="0"/>
          </a:p>
          <a:p>
            <a:pPr marL="177800" indent="-177800">
              <a:spcAft>
                <a:spcPts val="400"/>
              </a:spcAft>
              <a:buSzPct val="100000"/>
              <a:buChar char="•"/>
            </a:pPr>
            <a:r>
              <a:rPr lang="en-US" sz="1200" dirty="0">
                <a:solidFill>
                  <a:schemeClr val="tx1"/>
                </a:solidFill>
              </a:rPr>
              <a:t>Good over bare soil and rocks</a:t>
            </a:r>
            <a:endParaRPr lang="en-US" sz="1200" dirty="0"/>
          </a:p>
        </p:txBody>
      </p:sp>
      <p:sp>
        <p:nvSpPr>
          <p:cNvPr id="22" name="card"/>
          <p:cNvSpPr/>
          <p:nvPr/>
        </p:nvSpPr>
        <p:spPr>
          <a:xfrm>
            <a:off x="548640" y="5074920"/>
            <a:ext cx="5486400"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23" name="Text 17"/>
          <p:cNvSpPr txBox="1"/>
          <p:nvPr/>
        </p:nvSpPr>
        <p:spPr>
          <a:xfrm>
            <a:off x="731520" y="5212080"/>
            <a:ext cx="5166360" cy="365760"/>
          </a:xfrm>
          <a:prstGeom prst="rect">
            <a:avLst/>
          </a:prstGeom>
          <a:noFill/>
          <a:ln/>
        </p:spPr>
        <p:txBody>
          <a:bodyPr wrap="square" lIns="0" tIns="0" rIns="0" bIns="0" rtlCol="0" anchor="ctr"/>
          <a:lstStyle/>
          <a:p>
            <a:pPr indent="0" marL="0">
              <a:buNone/>
            </a:pPr>
            <a:r>
              <a:rPr lang="en-US" sz="1300" b="1" dirty="0">
                <a:solidFill>
                  <a:schemeClr val="tx2"/>
                </a:solidFill>
              </a:rPr>
              <a:t>Emissivity from NDVI</a:t>
            </a:r>
            <a:endParaRPr lang="en-US" sz="1300" dirty="0"/>
          </a:p>
        </p:txBody>
      </p:sp>
      <p:sp>
        <p:nvSpPr>
          <p:cNvPr id="24" name="Text 18"/>
          <p:cNvSpPr txBox="1"/>
          <p:nvPr/>
        </p:nvSpPr>
        <p:spPr>
          <a:xfrm>
            <a:off x="731520" y="5623560"/>
            <a:ext cx="5120640" cy="457200"/>
          </a:xfrm>
          <a:prstGeom prst="rect">
            <a:avLst/>
          </a:prstGeom>
          <a:noFill/>
          <a:ln/>
        </p:spPr>
        <p:txBody>
          <a:bodyPr wrap="square" lIns="508" tIns="508" rIns="508" bIns="508" rtlCol="0" anchor="t"/>
          <a:lstStyle/>
          <a:p>
            <a:pPr indent="0" marL="0">
              <a:spcAft>
                <a:spcPts val="400"/>
              </a:spcAft>
              <a:buNone/>
            </a:pPr>
            <a:r>
              <a:rPr lang="en-US" sz="1150" dirty="0">
                <a:solidFill>
                  <a:schemeClr val="tx1"/>
                </a:solidFill>
              </a:rPr>
              <a:t>ε = ε</a:t>
            </a:r>
            <a:r>
              <a:rPr lang="en-US" sz="1150" baseline="-40000" dirty="0">
                <a:solidFill>
                  <a:schemeClr val="tx1"/>
                </a:solidFill>
              </a:rPr>
              <a:t>v</a:t>
            </a:r>
            <a:r>
              <a:rPr lang="en-US" sz="1150" dirty="0">
                <a:solidFill>
                  <a:schemeClr val="tx1"/>
                </a:solidFill>
              </a:rPr>
              <a:t>P</a:t>
            </a:r>
            <a:r>
              <a:rPr lang="en-US" sz="1150" baseline="-40000" dirty="0">
                <a:solidFill>
                  <a:schemeClr val="tx1"/>
                </a:solidFill>
              </a:rPr>
              <a:t>v</a:t>
            </a:r>
            <a:r>
              <a:rPr lang="en-US" sz="1150" dirty="0">
                <a:solidFill>
                  <a:schemeClr val="tx1"/>
                </a:solidFill>
              </a:rPr>
              <a:t> + ε</a:t>
            </a:r>
            <a:r>
              <a:rPr lang="en-US" sz="1150" baseline="-40000" dirty="0">
                <a:solidFill>
                  <a:schemeClr val="tx1"/>
                </a:solidFill>
              </a:rPr>
              <a:t>s</a:t>
            </a:r>
            <a:r>
              <a:rPr lang="en-US" sz="1150" dirty="0">
                <a:solidFill>
                  <a:schemeClr val="tx1"/>
                </a:solidFill>
              </a:rPr>
              <a:t>(1 − P</a:t>
            </a:r>
            <a:r>
              <a:rPr lang="en-US" sz="1150" baseline="-40000" dirty="0">
                <a:solidFill>
                  <a:schemeClr val="tx1"/>
                </a:solidFill>
              </a:rPr>
              <a:t>v</a:t>
            </a:r>
            <a:r>
              <a:rPr lang="en-US" sz="1150" dirty="0">
                <a:solidFill>
                  <a:schemeClr val="tx1"/>
                </a:solidFill>
              </a:rPr>
              <a:t>); P</a:t>
            </a:r>
            <a:r>
              <a:rPr lang="en-US" sz="1150" baseline="-40000" dirty="0">
                <a:solidFill>
                  <a:schemeClr val="tx1"/>
                </a:solidFill>
              </a:rPr>
              <a:t>v</a:t>
            </a:r>
            <a:r>
              <a:rPr lang="en-US" sz="1150" dirty="0">
                <a:solidFill>
                  <a:schemeClr val="tx1"/>
                </a:solidFill>
              </a:rPr>
              <a:t> = [(NDVI − NDVI</a:t>
            </a:r>
            <a:r>
              <a:rPr lang="en-US" sz="1150" baseline="-40000" dirty="0">
                <a:solidFill>
                  <a:schemeClr val="tx1"/>
                </a:solidFill>
              </a:rPr>
              <a:t>s</a:t>
            </a:r>
            <a:r>
              <a:rPr lang="en-US" sz="1150" dirty="0">
                <a:solidFill>
                  <a:schemeClr val="tx1"/>
                </a:solidFill>
              </a:rPr>
              <a:t>)/(NDVI</a:t>
            </a:r>
            <a:r>
              <a:rPr lang="en-US" sz="1150" baseline="-40000" dirty="0">
                <a:solidFill>
                  <a:schemeClr val="tx1"/>
                </a:solidFill>
              </a:rPr>
              <a:t>v</a:t>
            </a:r>
            <a:r>
              <a:rPr lang="en-US" sz="1150" dirty="0">
                <a:solidFill>
                  <a:schemeClr val="tx1"/>
                </a:solidFill>
              </a:rPr>
              <a:t> − NDVI</a:t>
            </a:r>
            <a:r>
              <a:rPr lang="en-US" sz="1150" baseline="-40000" dirty="0">
                <a:solidFill>
                  <a:schemeClr val="tx1"/>
                </a:solidFill>
              </a:rPr>
              <a:t>s</a:t>
            </a:r>
            <a:r>
              <a:rPr lang="en-US" sz="1150" dirty="0">
                <a:solidFill>
                  <a:schemeClr val="tx1"/>
                </a:solidFill>
              </a:rPr>
              <a:t>)]²</a:t>
            </a:r>
            <a:endParaRPr lang="en-US" sz="1150" dirty="0"/>
          </a:p>
        </p:txBody>
      </p:sp>
      <p:sp>
        <p:nvSpPr>
          <p:cNvPr id="25" name="card"/>
          <p:cNvSpPr/>
          <p:nvPr/>
        </p:nvSpPr>
        <p:spPr>
          <a:xfrm>
            <a:off x="6153912" y="5074920"/>
            <a:ext cx="5486400"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26" name="Text 20"/>
          <p:cNvSpPr txBox="1"/>
          <p:nvPr/>
        </p:nvSpPr>
        <p:spPr>
          <a:xfrm>
            <a:off x="6336792" y="5212080"/>
            <a:ext cx="5166360" cy="365760"/>
          </a:xfrm>
          <a:prstGeom prst="rect">
            <a:avLst/>
          </a:prstGeom>
          <a:noFill/>
          <a:ln/>
        </p:spPr>
        <p:txBody>
          <a:bodyPr wrap="square" lIns="0" tIns="0" rIns="0" bIns="0" rtlCol="0" anchor="ctr"/>
          <a:lstStyle/>
          <a:p>
            <a:pPr indent="0" marL="0">
              <a:buNone/>
            </a:pPr>
            <a:r>
              <a:rPr lang="en-US" sz="1300" b="1" dirty="0">
                <a:solidFill>
                  <a:schemeClr val="tx2"/>
                </a:solidFill>
              </a:rPr>
              <a:t>Accuracy and caveats</a:t>
            </a:r>
            <a:endParaRPr lang="en-US" sz="1300" dirty="0"/>
          </a:p>
        </p:txBody>
      </p:sp>
      <p:sp>
        <p:nvSpPr>
          <p:cNvPr id="27" name="Text 21"/>
          <p:cNvSpPr txBox="1"/>
          <p:nvPr/>
        </p:nvSpPr>
        <p:spPr>
          <a:xfrm>
            <a:off x="6336792" y="5623560"/>
            <a:ext cx="5120640" cy="457200"/>
          </a:xfrm>
          <a:prstGeom prst="rect">
            <a:avLst/>
          </a:prstGeom>
          <a:noFill/>
          <a:ln/>
        </p:spPr>
        <p:txBody>
          <a:bodyPr wrap="square" lIns="508" tIns="508" rIns="508" bIns="508" rtlCol="0" anchor="t"/>
          <a:lstStyle/>
          <a:p>
            <a:pPr indent="0" marL="0">
              <a:spcAft>
                <a:spcPts val="400"/>
              </a:spcAft>
              <a:buNone/>
            </a:pPr>
            <a:r>
              <a:rPr lang="en-US" sz="1150" dirty="0">
                <a:solidFill>
                  <a:schemeClr val="tx1"/>
                </a:solidFill>
              </a:rPr>
              <a:t>1–2 K; 1% ε error ≈ 0.5–0.7 K; view angle up to 5 K (Li 2009); clouds block TIR</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Optical inputs: albedo, NDVI, LAI, cover and roughness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011680"/>
                <a:gridCol w="6126480"/>
                <a:gridCol w="2953512"/>
              </a:tblGrid>
              <a:tr h="47548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Typical equation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Broadband albedo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Landsat (Liang 2001): α = 0.356ρ</a:t>
                      </a:r>
                      <a:r>
                        <a:rPr lang="en-US" sz="1150" baseline="-40000" dirty="0">
                          <a:solidFill>
                            <a:schemeClr val="tx1"/>
                          </a:solidFill>
                          <a:latin typeface="Calibri" pitchFamily="34" charset="0"/>
                          <a:ea typeface="Calibri" pitchFamily="34" charset="-122"/>
                          <a:cs typeface="Calibri" pitchFamily="34" charset="-120"/>
                        </a:rPr>
                        <a:t>1</a:t>
                      </a:r>
                      <a:r>
                        <a:rPr lang="en-US" sz="1150" dirty="0">
                          <a:solidFill>
                            <a:schemeClr val="tx1"/>
                          </a:solidFill>
                          <a:latin typeface="Calibri" pitchFamily="34" charset="0"/>
                          <a:ea typeface="Calibri" pitchFamily="34" charset="-122"/>
                          <a:cs typeface="Calibri" pitchFamily="34" charset="-120"/>
                        </a:rPr>
                        <a:t> + 0.130ρ</a:t>
                      </a:r>
                      <a:r>
                        <a:rPr lang="en-US" sz="1150" baseline="-40000" dirty="0">
                          <a:solidFill>
                            <a:schemeClr val="tx1"/>
                          </a:solidFill>
                          <a:latin typeface="Calibri" pitchFamily="34" charset="0"/>
                          <a:ea typeface="Calibri" pitchFamily="34" charset="-122"/>
                          <a:cs typeface="Calibri" pitchFamily="34" charset="-120"/>
                        </a:rPr>
                        <a:t>3</a:t>
                      </a:r>
                      <a:r>
                        <a:rPr lang="en-US" sz="1150" dirty="0">
                          <a:solidFill>
                            <a:schemeClr val="tx1"/>
                          </a:solidFill>
                          <a:latin typeface="Calibri" pitchFamily="34" charset="0"/>
                          <a:ea typeface="Calibri" pitchFamily="34" charset="-122"/>
                          <a:cs typeface="Calibri" pitchFamily="34" charset="-120"/>
                        </a:rPr>
                        <a:t> + 0.373ρ</a:t>
                      </a:r>
                      <a:r>
                        <a:rPr lang="en-US" sz="1150" baseline="-40000" dirty="0">
                          <a:solidFill>
                            <a:schemeClr val="tx1"/>
                          </a:solidFill>
                          <a:latin typeface="Calibri" pitchFamily="34" charset="0"/>
                          <a:ea typeface="Calibri" pitchFamily="34" charset="-122"/>
                          <a:cs typeface="Calibri" pitchFamily="34" charset="-120"/>
                        </a:rPr>
                        <a:t>4</a:t>
                      </a:r>
                      <a:r>
                        <a:rPr lang="en-US" sz="1150" dirty="0">
                          <a:solidFill>
                            <a:schemeClr val="tx1"/>
                          </a:solidFill>
                          <a:latin typeface="Calibri" pitchFamily="34" charset="0"/>
                          <a:ea typeface="Calibri" pitchFamily="34" charset="-122"/>
                          <a:cs typeface="Calibri" pitchFamily="34" charset="-120"/>
                        </a:rPr>
                        <a:t> + 0.085ρ</a:t>
                      </a:r>
                      <a:r>
                        <a:rPr lang="en-US" sz="1150" baseline="-40000" dirty="0">
                          <a:solidFill>
                            <a:schemeClr val="tx1"/>
                          </a:solidFill>
                          <a:latin typeface="Calibri" pitchFamily="34" charset="0"/>
                          <a:ea typeface="Calibri" pitchFamily="34" charset="-122"/>
                          <a:cs typeface="Calibri" pitchFamily="34" charset="-120"/>
                        </a:rPr>
                        <a:t>5</a:t>
                      </a:r>
                      <a:r>
                        <a:rPr lang="en-US" sz="1150" dirty="0">
                          <a:solidFill>
                            <a:schemeClr val="tx1"/>
                          </a:solidFill>
                          <a:latin typeface="Calibri" pitchFamily="34" charset="0"/>
                          <a:ea typeface="Calibri" pitchFamily="34" charset="-122"/>
                          <a:cs typeface="Calibri" pitchFamily="34" charset="-120"/>
                        </a:rPr>
                        <a:t> + 0.072ρ</a:t>
                      </a:r>
                      <a:r>
                        <a:rPr lang="en-US" sz="1150" baseline="-40000" dirty="0">
                          <a:solidFill>
                            <a:schemeClr val="tx1"/>
                          </a:solidFill>
                          <a:latin typeface="Calibri" pitchFamily="34" charset="0"/>
                          <a:ea typeface="Calibri" pitchFamily="34" charset="-122"/>
                          <a:cs typeface="Calibri" pitchFamily="34" charset="-120"/>
                        </a:rPr>
                        <a:t>7</a:t>
                      </a:r>
                      <a:r>
                        <a:rPr lang="en-US" sz="1150" dirty="0">
                          <a:solidFill>
                            <a:schemeClr val="tx1"/>
                          </a:solidFill>
                          <a:latin typeface="Calibri" pitchFamily="34" charset="0"/>
                          <a:ea typeface="Calibri" pitchFamily="34" charset="-122"/>
                          <a:cs typeface="Calibri" pitchFamily="34" charset="-120"/>
                        </a:rPr>
                        <a:t> − 0.0018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Rn, G/Rn, S-SEBI, Kalpana-1 EF</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TOA → surface (SEBAL)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α = (α</a:t>
                      </a:r>
                      <a:r>
                        <a:rPr lang="en-US" sz="1150" baseline="-40000" dirty="0">
                          <a:solidFill>
                            <a:schemeClr val="tx1"/>
                          </a:solidFill>
                          <a:latin typeface="Calibri" pitchFamily="34" charset="0"/>
                          <a:ea typeface="Calibri" pitchFamily="34" charset="-122"/>
                          <a:cs typeface="Calibri" pitchFamily="34" charset="-120"/>
                        </a:rPr>
                        <a:t>toa</a:t>
                      </a:r>
                      <a:r>
                        <a:rPr lang="en-US" sz="1150" dirty="0">
                          <a:solidFill>
                            <a:schemeClr val="tx1"/>
                          </a:solidFill>
                          <a:latin typeface="Calibri" pitchFamily="34" charset="0"/>
                          <a:ea typeface="Calibri" pitchFamily="34" charset="-122"/>
                          <a:cs typeface="Calibri" pitchFamily="34" charset="-120"/>
                        </a:rPr>
                        <a:t> − α</a:t>
                      </a:r>
                      <a:r>
                        <a:rPr lang="en-US" sz="1150" baseline="-40000" dirty="0">
                          <a:solidFill>
                            <a:schemeClr val="tx1"/>
                          </a:solidFill>
                          <a:latin typeface="Calibri" pitchFamily="34" charset="0"/>
                          <a:ea typeface="Calibri" pitchFamily="34" charset="-122"/>
                          <a:cs typeface="Calibri" pitchFamily="34" charset="-120"/>
                        </a:rPr>
                        <a:t>path</a:t>
                      </a:r>
                      <a:r>
                        <a:rPr lang="en-US" sz="1150" dirty="0">
                          <a:solidFill>
                            <a:schemeClr val="tx1"/>
                          </a:solidFill>
                          <a:latin typeface="Calibri" pitchFamily="34" charset="0"/>
                          <a:ea typeface="Calibri" pitchFamily="34" charset="-122"/>
                          <a:cs typeface="Calibri" pitchFamily="34" charset="-120"/>
                        </a:rPr>
                        <a:t>) / τ</a:t>
                      </a:r>
                      <a:r>
                        <a:rPr lang="en-US" sz="1150" baseline="-40000" dirty="0">
                          <a:solidFill>
                            <a:schemeClr val="tx1"/>
                          </a:solidFill>
                          <a:latin typeface="Calibri" pitchFamily="34" charset="0"/>
                          <a:ea typeface="Calibri" pitchFamily="34" charset="-122"/>
                          <a:cs typeface="Calibri" pitchFamily="34" charset="-120"/>
                        </a:rPr>
                        <a:t>sw</a:t>
                      </a:r>
                      <a:r>
                        <a:rPr lang="en-US" sz="1150" dirty="0">
                          <a:solidFill>
                            <a:schemeClr val="tx1"/>
                          </a:solidFill>
                          <a:latin typeface="Calibri" pitchFamily="34" charset="0"/>
                          <a:ea typeface="Calibri" pitchFamily="34" charset="-122"/>
                          <a:cs typeface="Calibri" pitchFamily="34" charset="-120"/>
                        </a:rPr>
                        <a:t>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Albedo without radiative transfer model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NDVI, SAVI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(ρ</a:t>
                      </a:r>
                      <a:r>
                        <a:rPr lang="en-US" sz="1150" baseline="-40000" dirty="0">
                          <a:solidFill>
                            <a:schemeClr val="tx1"/>
                          </a:solidFill>
                          <a:latin typeface="Calibri" pitchFamily="34" charset="0"/>
                          <a:ea typeface="Calibri" pitchFamily="34" charset="-122"/>
                          <a:cs typeface="Calibri" pitchFamily="34" charset="-120"/>
                        </a:rPr>
                        <a:t>NIR</a:t>
                      </a:r>
                      <a:r>
                        <a:rPr lang="en-US" sz="1150" dirty="0">
                          <a:solidFill>
                            <a:schemeClr val="tx1"/>
                          </a:solidFill>
                          <a:latin typeface="Calibri" pitchFamily="34" charset="0"/>
                          <a:ea typeface="Calibri" pitchFamily="34" charset="-122"/>
                          <a:cs typeface="Calibri" pitchFamily="34" charset="-120"/>
                        </a:rPr>
                        <a:t> − ρ</a:t>
                      </a:r>
                      <a:r>
                        <a:rPr lang="en-US" sz="1150" baseline="-40000" dirty="0">
                          <a:solidFill>
                            <a:schemeClr val="tx1"/>
                          </a:solidFill>
                          <a:latin typeface="Calibri" pitchFamily="34" charset="0"/>
                          <a:ea typeface="Calibri" pitchFamily="34" charset="-122"/>
                          <a:cs typeface="Calibri" pitchFamily="34" charset="-120"/>
                        </a:rPr>
                        <a:t>R</a:t>
                      </a:r>
                      <a:r>
                        <a:rPr lang="en-US" sz="1150" dirty="0">
                          <a:solidFill>
                            <a:schemeClr val="tx1"/>
                          </a:solidFill>
                          <a:latin typeface="Calibri" pitchFamily="34" charset="0"/>
                          <a:ea typeface="Calibri" pitchFamily="34" charset="-122"/>
                          <a:cs typeface="Calibri" pitchFamily="34" charset="-120"/>
                        </a:rPr>
                        <a:t>)/(ρ</a:t>
                      </a:r>
                      <a:r>
                        <a:rPr lang="en-US" sz="1150" baseline="-40000" dirty="0">
                          <a:solidFill>
                            <a:schemeClr val="tx1"/>
                          </a:solidFill>
                          <a:latin typeface="Calibri" pitchFamily="34" charset="0"/>
                          <a:ea typeface="Calibri" pitchFamily="34" charset="-122"/>
                          <a:cs typeface="Calibri" pitchFamily="34" charset="-120"/>
                        </a:rPr>
                        <a:t>NIR</a:t>
                      </a:r>
                      <a:r>
                        <a:rPr lang="en-US" sz="1150" dirty="0">
                          <a:solidFill>
                            <a:schemeClr val="tx1"/>
                          </a:solidFill>
                          <a:latin typeface="Calibri" pitchFamily="34" charset="0"/>
                          <a:ea typeface="Calibri" pitchFamily="34" charset="-122"/>
                          <a:cs typeface="Calibri" pitchFamily="34" charset="-120"/>
                        </a:rPr>
                        <a:t> + ρ</a:t>
                      </a:r>
                      <a:r>
                        <a:rPr lang="en-US" sz="1150" baseline="-40000" dirty="0">
                          <a:solidFill>
                            <a:schemeClr val="tx1"/>
                          </a:solidFill>
                          <a:latin typeface="Calibri" pitchFamily="34" charset="0"/>
                          <a:ea typeface="Calibri" pitchFamily="34" charset="-122"/>
                          <a:cs typeface="Calibri" pitchFamily="34" charset="-120"/>
                        </a:rPr>
                        <a:t>R</a:t>
                      </a:r>
                      <a:r>
                        <a:rPr lang="en-US" sz="1150" dirty="0">
                          <a:solidFill>
                            <a:schemeClr val="tx1"/>
                          </a:solidFill>
                          <a:latin typeface="Calibri" pitchFamily="34" charset="0"/>
                          <a:ea typeface="Calibri" pitchFamily="34" charset="-122"/>
                          <a:cs typeface="Calibri" pitchFamily="34" charset="-120"/>
                        </a:rPr>
                        <a:t>);  SAVI with L = 0.5</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Cover, ε, G, triangle, Kcb</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LAI (METRIC)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LAI = −ln[(0.69 − SAVI)/0.59] / 0.91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z</a:t>
                      </a:r>
                      <a:r>
                        <a:rPr lang="en-US" sz="1150" baseline="-40000" dirty="0">
                          <a:solidFill>
                            <a:schemeClr val="tx1"/>
                          </a:solidFill>
                          <a:latin typeface="Calibri" pitchFamily="34" charset="0"/>
                          <a:ea typeface="Calibri" pitchFamily="34" charset="-122"/>
                          <a:cs typeface="Calibri" pitchFamily="34" charset="-120"/>
                        </a:rPr>
                        <a:t>0m</a:t>
                      </a:r>
                      <a:r>
                        <a:rPr lang="en-US" sz="1150" dirty="0">
                          <a:solidFill>
                            <a:schemeClr val="tx1"/>
                          </a:solidFill>
                          <a:latin typeface="Calibri" pitchFamily="34" charset="0"/>
                          <a:ea typeface="Calibri" pitchFamily="34" charset="-122"/>
                          <a:cs typeface="Calibri" pitchFamily="34" charset="-120"/>
                        </a:rPr>
                        <a:t>, ε, TSEB canopy fraction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Fractional cover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a:t>
                      </a:r>
                      <a:r>
                        <a:rPr lang="en-US" sz="1150" baseline="-40000" dirty="0">
                          <a:solidFill>
                            <a:schemeClr val="tx1"/>
                          </a:solidFill>
                          <a:latin typeface="Calibri" pitchFamily="34" charset="0"/>
                          <a:ea typeface="Calibri" pitchFamily="34" charset="-122"/>
                          <a:cs typeface="Calibri" pitchFamily="34" charset="-120"/>
                        </a:rPr>
                        <a:t>c</a:t>
                      </a:r>
                      <a:r>
                        <a:rPr lang="en-US" sz="1150" dirty="0">
                          <a:solidFill>
                            <a:schemeClr val="tx1"/>
                          </a:solidFill>
                          <a:latin typeface="Calibri" pitchFamily="34" charset="0"/>
                          <a:ea typeface="Calibri" pitchFamily="34" charset="-122"/>
                          <a:cs typeface="Calibri" pitchFamily="34" charset="-120"/>
                        </a:rPr>
                        <a:t> = [(NDVI − NDVI</a:t>
                      </a:r>
                      <a:r>
                        <a:rPr lang="en-US" sz="1150" baseline="-40000" dirty="0">
                          <a:solidFill>
                            <a:schemeClr val="tx1"/>
                          </a:solidFill>
                          <a:latin typeface="Calibri" pitchFamily="34" charset="0"/>
                          <a:ea typeface="Calibri" pitchFamily="34" charset="-122"/>
                          <a:cs typeface="Calibri" pitchFamily="34" charset="-120"/>
                        </a:rPr>
                        <a:t>min</a:t>
                      </a:r>
                      <a:r>
                        <a:rPr lang="en-US" sz="1150" dirty="0">
                          <a:solidFill>
                            <a:schemeClr val="tx1"/>
                          </a:solidFill>
                          <a:latin typeface="Calibri" pitchFamily="34" charset="0"/>
                          <a:ea typeface="Calibri" pitchFamily="34" charset="-122"/>
                          <a:cs typeface="Calibri" pitchFamily="34" charset="-120"/>
                        </a:rPr>
                        <a:t>)/(NDVI</a:t>
                      </a:r>
                      <a:r>
                        <a:rPr lang="en-US" sz="1150" baseline="-40000" dirty="0">
                          <a:solidFill>
                            <a:schemeClr val="tx1"/>
                          </a:solidFill>
                          <a:latin typeface="Calibri" pitchFamily="34" charset="0"/>
                          <a:ea typeface="Calibri" pitchFamily="34" charset="-122"/>
                          <a:cs typeface="Calibri" pitchFamily="34" charset="-120"/>
                        </a:rPr>
                        <a:t>max</a:t>
                      </a:r>
                      <a:r>
                        <a:rPr lang="en-US" sz="1150" dirty="0">
                          <a:solidFill>
                            <a:schemeClr val="tx1"/>
                          </a:solidFill>
                          <a:latin typeface="Calibri" pitchFamily="34" charset="0"/>
                          <a:ea typeface="Calibri" pitchFamily="34" charset="-122"/>
                          <a:cs typeface="Calibri" pitchFamily="34" charset="-120"/>
                        </a:rPr>
                        <a:t> − NDVI</a:t>
                      </a:r>
                      <a:r>
                        <a:rPr lang="en-US" sz="1150" baseline="-40000" dirty="0">
                          <a:solidFill>
                            <a:schemeClr val="tx1"/>
                          </a:solidFill>
                          <a:latin typeface="Calibri" pitchFamily="34" charset="0"/>
                          <a:ea typeface="Calibri" pitchFamily="34" charset="-122"/>
                          <a:cs typeface="Calibri" pitchFamily="34" charset="-120"/>
                        </a:rPr>
                        <a:t>min</a:t>
                      </a:r>
                      <a:r>
                        <a:rPr lang="en-US" sz="1150" dirty="0">
                          <a:solidFill>
                            <a:schemeClr val="tx1"/>
                          </a:solidFill>
                          <a:latin typeface="Calibri" pitchFamily="34" charset="0"/>
                          <a:ea typeface="Calibri" pitchFamily="34" charset="-122"/>
                          <a:cs typeface="Calibri" pitchFamily="34" charset="-120"/>
                        </a:rPr>
                        <a:t>)]²</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TSEB, Kd in FAO-56, ε</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Roughness z</a:t>
                      </a:r>
                      <a:r>
                        <a:rPr lang="en-US" sz="1150" b="1" baseline="-40000" dirty="0">
                          <a:solidFill>
                            <a:schemeClr val="tx2"/>
                          </a:solidFill>
                          <a:latin typeface="Calibri" pitchFamily="34" charset="0"/>
                          <a:ea typeface="Calibri" pitchFamily="34" charset="-122"/>
                          <a:cs typeface="Calibri" pitchFamily="34" charset="-120"/>
                        </a:rPr>
                        <a:t>0m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0.018·LAI (METRIC crops) or exp(a + b·NDVI) (SEBAL)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a:t>
                      </a:r>
                      <a:r>
                        <a:rPr lang="en-US" sz="1150" baseline="-40000" dirty="0">
                          <a:solidFill>
                            <a:schemeClr val="tx1"/>
                          </a:solidFill>
                          <a:latin typeface="Calibri" pitchFamily="34" charset="0"/>
                          <a:ea typeface="Calibri" pitchFamily="34" charset="-122"/>
                          <a:cs typeface="Calibri" pitchFamily="34" charset="-120"/>
                        </a:rPr>
                        <a:t>ah</a:t>
                      </a:r>
                      <a:r>
                        <a:rPr lang="en-US" sz="1150" dirty="0">
                          <a:solidFill>
                            <a:schemeClr val="tx1"/>
                          </a:solidFill>
                          <a:latin typeface="Calibri" pitchFamily="34" charset="0"/>
                          <a:ea typeface="Calibri" pitchFamily="34" charset="-122"/>
                          <a:cs typeface="Calibri" pitchFamily="34" charset="-120"/>
                        </a:rPr>
                        <a:t>, u</a:t>
                      </a:r>
                      <a:r>
                        <a:rPr lang="en-US" sz="1150" baseline="-400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7548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Broadband ε</a:t>
                      </a:r>
                      <a:r>
                        <a:rPr lang="en-US" sz="1150" b="1" baseline="-40000" dirty="0">
                          <a:solidFill>
                            <a:schemeClr val="tx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0.95 + 0.01·LAI (METRIC) or 1.009 + 0.047 ln NDVI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Longwave 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insight"/>
          <p:cNvSpPr/>
          <p:nvPr/>
        </p:nvSpPr>
        <p:spPr>
          <a:xfrm>
            <a:off x="548640" y="5577840"/>
            <a:ext cx="11094415" cy="640080"/>
          </a:xfrm>
          <a:prstGeom prst="roundRect">
            <a:avLst>
              <a:gd name="adj" fmla="val 11429"/>
            </a:avLst>
          </a:prstGeom>
          <a:solidFill>
            <a:schemeClr val="bg2"/>
          </a:solidFill>
          <a:ln/>
        </p:spPr>
      </p:sp>
      <p:sp>
        <p:nvSpPr>
          <p:cNvPr id="6" name="icon circle"/>
          <p:cNvSpPr/>
          <p:nvPr/>
        </p:nvSpPr>
        <p:spPr>
          <a:xfrm>
            <a:off x="685800" y="5660136"/>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783763"/>
            <a:ext cx="228234" cy="228234"/>
          </a:xfrm>
          <a:prstGeom prst="rect">
            <a:avLst/>
          </a:prstGeom>
        </p:spPr>
      </p:pic>
      <p:sp>
        <p:nvSpPr>
          <p:cNvPr id="8" name="Text 3"/>
          <p:cNvSpPr txBox="1"/>
          <p:nvPr/>
        </p:nvSpPr>
        <p:spPr>
          <a:xfrm>
            <a:off x="1325880" y="5614416"/>
            <a:ext cx="10180015" cy="56692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Scale mismatch:</a:t>
            </a:r>
            <a:r>
              <a:rPr lang="en-US" sz="1350" dirty="0">
                <a:solidFill>
                  <a:schemeClr val="tx1"/>
                </a:solidFill>
              </a:rPr>
              <a:t> optical bands are 10–30 m but thermal bands 60–1000 m, so T</a:t>
            </a:r>
            <a:r>
              <a:rPr lang="en-US" sz="1350" baseline="-40000" dirty="0">
                <a:solidFill>
                  <a:schemeClr val="tx1"/>
                </a:solidFill>
              </a:rPr>
              <a:t>s</a:t>
            </a:r>
            <a:r>
              <a:rPr lang="en-US" sz="1350" dirty="0">
                <a:solidFill>
                  <a:schemeClr val="tx1"/>
                </a:solidFill>
              </a:rPr>
              <a:t> and NDVI describe different areas unless the thermal band is sharpened (section 5)</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Families of satellite ET methods</a:t>
            </a:r>
            <a:endParaRPr lang="en-US" sz="3200" dirty="0"/>
          </a:p>
        </p:txBody>
      </p:sp>
      <p:sp>
        <p:nvSpPr>
          <p:cNvPr id="4" name="diagram box"/>
          <p:cNvSpPr/>
          <p:nvPr/>
        </p:nvSpPr>
        <p:spPr>
          <a:xfrm>
            <a:off x="4270248" y="1234440"/>
            <a:ext cx="3657600" cy="548640"/>
          </a:xfrm>
          <a:prstGeom prst="roundRect">
            <a:avLst>
              <a:gd name="adj" fmla="val 13333"/>
            </a:avLst>
          </a:prstGeom>
          <a:solidFill>
            <a:srgbClr val="1B4965"/>
          </a:solidFill>
          <a:ln/>
        </p:spPr>
      </p:sp>
      <p:sp>
        <p:nvSpPr>
          <p:cNvPr id="5" name="Text 2"/>
          <p:cNvSpPr txBox="1"/>
          <p:nvPr/>
        </p:nvSpPr>
        <p:spPr>
          <a:xfrm>
            <a:off x="4270248" y="1234440"/>
            <a:ext cx="3657600" cy="548640"/>
          </a:xfrm>
          <a:prstGeom prst="rect">
            <a:avLst/>
          </a:prstGeom>
          <a:noFill/>
          <a:ln/>
        </p:spPr>
        <p:txBody>
          <a:bodyPr wrap="square" lIns="508" tIns="508" rIns="508" bIns="508" rtlCol="0" anchor="ctr"/>
          <a:lstStyle/>
          <a:p>
            <a:pPr algn="ctr" indent="0" marL="0">
              <a:buNone/>
            </a:pPr>
            <a:r>
              <a:rPr lang="en-US" sz="1500" b="1" dirty="0">
                <a:solidFill>
                  <a:schemeClr val="bg1"/>
                </a:solidFill>
              </a:rPr>
              <a:t>Remote-sensing ET methods</a:t>
            </a:r>
            <a:endParaRPr lang="en-US" sz="1500" dirty="0"/>
          </a:p>
        </p:txBody>
      </p:sp>
      <p:sp>
        <p:nvSpPr>
          <p:cNvPr id="6" name="arrow"/>
          <p:cNvSpPr/>
          <p:nvPr/>
        </p:nvSpPr>
        <p:spPr>
          <a:xfrm>
            <a:off x="6099048" y="1783080"/>
            <a:ext cx="0" cy="228600"/>
          </a:xfrm>
          <a:prstGeom prst="line">
            <a:avLst/>
          </a:prstGeom>
          <a:noFill/>
          <a:ln w="19050">
            <a:solidFill>
              <a:srgbClr val="1E2430"/>
            </a:solidFill>
            <a:prstDash val="solid"/>
          </a:ln>
        </p:spPr>
      </p:sp>
      <p:sp>
        <p:nvSpPr>
          <p:cNvPr id="7" name="arrow"/>
          <p:cNvSpPr/>
          <p:nvPr/>
        </p:nvSpPr>
        <p:spPr>
          <a:xfrm>
            <a:off x="1645920" y="2011680"/>
            <a:ext cx="9034272" cy="0"/>
          </a:xfrm>
          <a:prstGeom prst="line">
            <a:avLst/>
          </a:prstGeom>
          <a:noFill/>
          <a:ln w="19050">
            <a:solidFill>
              <a:srgbClr val="1E2430"/>
            </a:solidFill>
            <a:prstDash val="solid"/>
          </a:ln>
        </p:spPr>
      </p:sp>
      <p:sp>
        <p:nvSpPr>
          <p:cNvPr id="8" name="arrow"/>
          <p:cNvSpPr/>
          <p:nvPr/>
        </p:nvSpPr>
        <p:spPr>
          <a:xfrm>
            <a:off x="1645920" y="2011680"/>
            <a:ext cx="0" cy="182880"/>
          </a:xfrm>
          <a:prstGeom prst="line">
            <a:avLst/>
          </a:prstGeom>
          <a:noFill/>
          <a:ln w="19050">
            <a:solidFill>
              <a:srgbClr val="1E2430"/>
            </a:solidFill>
            <a:prstDash val="solid"/>
          </a:ln>
        </p:spPr>
      </p:sp>
      <p:sp>
        <p:nvSpPr>
          <p:cNvPr id="9" name="diagram box"/>
          <p:cNvSpPr/>
          <p:nvPr/>
        </p:nvSpPr>
        <p:spPr>
          <a:xfrm>
            <a:off x="548640" y="2194560"/>
            <a:ext cx="2148840" cy="685800"/>
          </a:xfrm>
          <a:prstGeom prst="roundRect">
            <a:avLst>
              <a:gd name="adj" fmla="val 10667"/>
            </a:avLst>
          </a:prstGeom>
          <a:solidFill>
            <a:srgbClr val="5C6B73"/>
          </a:solidFill>
          <a:ln/>
        </p:spPr>
      </p:sp>
      <p:sp>
        <p:nvSpPr>
          <p:cNvPr id="10" name="Text 7"/>
          <p:cNvSpPr txBox="1"/>
          <p:nvPr/>
        </p:nvSpPr>
        <p:spPr>
          <a:xfrm>
            <a:off x="548640" y="2194560"/>
            <a:ext cx="2148840" cy="685800"/>
          </a:xfrm>
          <a:prstGeom prst="rect">
            <a:avLst/>
          </a:prstGeom>
          <a:noFill/>
          <a:ln/>
        </p:spPr>
        <p:txBody>
          <a:bodyPr wrap="square" lIns="508" tIns="508" rIns="508" bIns="508" rtlCol="0" anchor="ctr"/>
          <a:lstStyle/>
          <a:p>
            <a:pPr algn="ctr" indent="0" marL="0">
              <a:buNone/>
            </a:pPr>
            <a:r>
              <a:rPr lang="en-US" sz="1300" b="1" dirty="0">
                <a:solidFill>
                  <a:schemeClr val="bg1"/>
                </a:solidFill>
              </a:rPr>
              <a:t>Empirical</a:t>
            </a:r>
            <a:endParaRPr lang="en-US" sz="1300" dirty="0"/>
          </a:p>
        </p:txBody>
      </p:sp>
      <p:sp>
        <p:nvSpPr>
          <p:cNvPr id="11" name="card"/>
          <p:cNvSpPr/>
          <p:nvPr/>
        </p:nvSpPr>
        <p:spPr>
          <a:xfrm>
            <a:off x="548640" y="2971800"/>
            <a:ext cx="2148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12" name="Text 9"/>
          <p:cNvSpPr txBox="1"/>
          <p:nvPr/>
        </p:nvSpPr>
        <p:spPr>
          <a:xfrm>
            <a:off x="640080" y="3044952"/>
            <a:ext cx="1965960" cy="192024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Jackson: ET</a:t>
            </a:r>
            <a:r>
              <a:rPr lang="en-US" sz="1300" baseline="-40000" dirty="0">
                <a:solidFill>
                  <a:schemeClr val="tx1"/>
                </a:solidFill>
              </a:rPr>
              <a:t>d</a:t>
            </a:r>
            <a:r>
              <a:rPr lang="en-US" sz="1300" dirty="0">
                <a:solidFill>
                  <a:schemeClr val="tx1"/>
                </a:solidFill>
              </a:rPr>
              <a:t> = Rn</a:t>
            </a:r>
            <a:r>
              <a:rPr lang="en-US" sz="1300" baseline="-40000" dirty="0">
                <a:solidFill>
                  <a:schemeClr val="tx1"/>
                </a:solidFill>
              </a:rPr>
              <a:t>d</a:t>
            </a:r>
            <a:r>
              <a:rPr lang="en-US" sz="1300" dirty="0">
                <a:solidFill>
                  <a:schemeClr val="tx1"/>
                </a:solidFill>
              </a:rPr>
              <a:t> − B(Ts − Ta)</a:t>
            </a:r>
            <a:r>
              <a:rPr lang="en-US" sz="1300" baseline="30000" dirty="0">
                <a:solidFill>
                  <a:schemeClr val="tx1"/>
                </a:solidFill>
              </a:rPr>
              <a:t>n</a:t>
            </a:r>
            <a:r>
              <a:rPr lang="en-US" sz="1300" dirty="0">
                <a:solidFill>
                  <a:schemeClr val="tx1"/>
                </a:solidFill>
              </a:rPr>
              <a:t>; VI regression; machine learning</a:t>
            </a:r>
            <a:endParaRPr lang="en-US" sz="1300" dirty="0"/>
          </a:p>
        </p:txBody>
      </p:sp>
      <p:sp>
        <p:nvSpPr>
          <p:cNvPr id="13" name="arrow"/>
          <p:cNvSpPr/>
          <p:nvPr/>
        </p:nvSpPr>
        <p:spPr>
          <a:xfrm>
            <a:off x="3904488" y="2011680"/>
            <a:ext cx="0" cy="182880"/>
          </a:xfrm>
          <a:prstGeom prst="line">
            <a:avLst/>
          </a:prstGeom>
          <a:noFill/>
          <a:ln w="19050">
            <a:solidFill>
              <a:srgbClr val="1E2430"/>
            </a:solidFill>
            <a:prstDash val="solid"/>
          </a:ln>
        </p:spPr>
      </p:sp>
      <p:sp>
        <p:nvSpPr>
          <p:cNvPr id="14" name="diagram box"/>
          <p:cNvSpPr/>
          <p:nvPr/>
        </p:nvSpPr>
        <p:spPr>
          <a:xfrm>
            <a:off x="2807208" y="2194560"/>
            <a:ext cx="2148840" cy="685800"/>
          </a:xfrm>
          <a:prstGeom prst="roundRect">
            <a:avLst>
              <a:gd name="adj" fmla="val 10667"/>
            </a:avLst>
          </a:prstGeom>
          <a:solidFill>
            <a:srgbClr val="1B4965"/>
          </a:solidFill>
          <a:ln/>
        </p:spPr>
      </p:sp>
      <p:sp>
        <p:nvSpPr>
          <p:cNvPr id="15" name="Text 12"/>
          <p:cNvSpPr txBox="1"/>
          <p:nvPr/>
        </p:nvSpPr>
        <p:spPr>
          <a:xfrm>
            <a:off x="2807208" y="2194560"/>
            <a:ext cx="2148840" cy="685800"/>
          </a:xfrm>
          <a:prstGeom prst="rect">
            <a:avLst/>
          </a:prstGeom>
          <a:noFill/>
          <a:ln/>
        </p:spPr>
        <p:txBody>
          <a:bodyPr wrap="square" lIns="508" tIns="508" rIns="508" bIns="508" rtlCol="0" anchor="ctr"/>
          <a:lstStyle/>
          <a:p>
            <a:pPr algn="ctr" indent="0" marL="0">
              <a:buNone/>
            </a:pPr>
            <a:r>
              <a:rPr lang="en-US" sz="1300" b="1" dirty="0">
                <a:solidFill>
                  <a:schemeClr val="bg1"/>
                </a:solidFill>
              </a:rPr>
              <a:t>Residual energy balance</a:t>
            </a:r>
            <a:endParaRPr lang="en-US" sz="1300" dirty="0"/>
          </a:p>
        </p:txBody>
      </p:sp>
      <p:sp>
        <p:nvSpPr>
          <p:cNvPr id="16" name="card"/>
          <p:cNvSpPr/>
          <p:nvPr/>
        </p:nvSpPr>
        <p:spPr>
          <a:xfrm>
            <a:off x="2807208" y="2971800"/>
            <a:ext cx="2148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2898648" y="3044952"/>
            <a:ext cx="1965960" cy="192024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Single-source: SEBI, SEBAL, METRIC, SEBS, S-SEBI, SSEBop</a:t>
            </a:r>
            <a:endParaRPr lang="en-US" sz="1300" dirty="0"/>
          </a:p>
          <a:p>
            <a:pPr indent="0" marL="0">
              <a:spcAft>
                <a:spcPts val="600"/>
              </a:spcAft>
              <a:buNone/>
            </a:pPr>
            <a:r>
              <a:rPr lang="en-US" sz="1300" dirty="0">
                <a:solidFill>
                  <a:schemeClr val="tx1"/>
                </a:solidFill>
              </a:rPr>
              <a:t>Two-source: TSEB, ALEXI, DisALEXI</a:t>
            </a:r>
            <a:endParaRPr lang="en-US" sz="1300" dirty="0"/>
          </a:p>
        </p:txBody>
      </p:sp>
      <p:sp>
        <p:nvSpPr>
          <p:cNvPr id="18" name="arrow"/>
          <p:cNvSpPr/>
          <p:nvPr/>
        </p:nvSpPr>
        <p:spPr>
          <a:xfrm>
            <a:off x="6163056" y="2011680"/>
            <a:ext cx="0" cy="182880"/>
          </a:xfrm>
          <a:prstGeom prst="line">
            <a:avLst/>
          </a:prstGeom>
          <a:noFill/>
          <a:ln w="19050">
            <a:solidFill>
              <a:srgbClr val="1E2430"/>
            </a:solidFill>
            <a:prstDash val="solid"/>
          </a:ln>
        </p:spPr>
      </p:sp>
      <p:sp>
        <p:nvSpPr>
          <p:cNvPr id="19" name="diagram box"/>
          <p:cNvSpPr/>
          <p:nvPr/>
        </p:nvSpPr>
        <p:spPr>
          <a:xfrm>
            <a:off x="5065776" y="2194560"/>
            <a:ext cx="2148840" cy="685800"/>
          </a:xfrm>
          <a:prstGeom prst="roundRect">
            <a:avLst>
              <a:gd name="adj" fmla="val 10667"/>
            </a:avLst>
          </a:prstGeom>
          <a:solidFill>
            <a:srgbClr val="6C4F9E"/>
          </a:solidFill>
          <a:ln/>
        </p:spPr>
      </p:sp>
      <p:sp>
        <p:nvSpPr>
          <p:cNvPr id="20" name="Text 17"/>
          <p:cNvSpPr txBox="1"/>
          <p:nvPr/>
        </p:nvSpPr>
        <p:spPr>
          <a:xfrm>
            <a:off x="5065776" y="2194560"/>
            <a:ext cx="2148840" cy="685800"/>
          </a:xfrm>
          <a:prstGeom prst="rect">
            <a:avLst/>
          </a:prstGeom>
          <a:noFill/>
          <a:ln/>
        </p:spPr>
        <p:txBody>
          <a:bodyPr wrap="square" lIns="508" tIns="508" rIns="508" bIns="508" rtlCol="0" anchor="ctr"/>
          <a:lstStyle/>
          <a:p>
            <a:pPr algn="ctr" indent="0" marL="0">
              <a:buNone/>
            </a:pPr>
            <a:r>
              <a:rPr lang="en-US" sz="1300" b="1" dirty="0">
                <a:solidFill>
                  <a:schemeClr val="bg1"/>
                </a:solidFill>
              </a:rPr>
              <a:t>Contextual space</a:t>
            </a:r>
            <a:endParaRPr lang="en-US" sz="1300" dirty="0"/>
          </a:p>
        </p:txBody>
      </p:sp>
      <p:sp>
        <p:nvSpPr>
          <p:cNvPr id="21" name="card"/>
          <p:cNvSpPr/>
          <p:nvPr/>
        </p:nvSpPr>
        <p:spPr>
          <a:xfrm>
            <a:off x="5065776" y="2971800"/>
            <a:ext cx="2148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5157216" y="3044952"/>
            <a:ext cx="1965960" cy="192024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Ts–VI triangle (Jiang &amp; Islam), trapezoid / WDI (Moran), Ts–albedo (S-SEBI)</a:t>
            </a:r>
            <a:endParaRPr lang="en-US" sz="1300" dirty="0"/>
          </a:p>
        </p:txBody>
      </p:sp>
      <p:sp>
        <p:nvSpPr>
          <p:cNvPr id="23" name="arrow"/>
          <p:cNvSpPr/>
          <p:nvPr/>
        </p:nvSpPr>
        <p:spPr>
          <a:xfrm>
            <a:off x="8421624" y="2011680"/>
            <a:ext cx="0" cy="182880"/>
          </a:xfrm>
          <a:prstGeom prst="line">
            <a:avLst/>
          </a:prstGeom>
          <a:noFill/>
          <a:ln w="19050">
            <a:solidFill>
              <a:srgbClr val="1E2430"/>
            </a:solidFill>
            <a:prstDash val="solid"/>
          </a:ln>
        </p:spPr>
      </p:sp>
      <p:sp>
        <p:nvSpPr>
          <p:cNvPr id="24" name="diagram box"/>
          <p:cNvSpPr/>
          <p:nvPr/>
        </p:nvSpPr>
        <p:spPr>
          <a:xfrm>
            <a:off x="7324344" y="2194560"/>
            <a:ext cx="2148840" cy="685800"/>
          </a:xfrm>
          <a:prstGeom prst="roundRect">
            <a:avLst>
              <a:gd name="adj" fmla="val 10667"/>
            </a:avLst>
          </a:prstGeom>
          <a:solidFill>
            <a:srgbClr val="2E7D4F"/>
          </a:solidFill>
          <a:ln/>
        </p:spPr>
      </p:sp>
      <p:sp>
        <p:nvSpPr>
          <p:cNvPr id="25" name="Text 22"/>
          <p:cNvSpPr txBox="1"/>
          <p:nvPr/>
        </p:nvSpPr>
        <p:spPr>
          <a:xfrm>
            <a:off x="7324344" y="2194560"/>
            <a:ext cx="2148840" cy="685800"/>
          </a:xfrm>
          <a:prstGeom prst="rect">
            <a:avLst/>
          </a:prstGeom>
          <a:noFill/>
          <a:ln/>
        </p:spPr>
        <p:txBody>
          <a:bodyPr wrap="square" lIns="508" tIns="508" rIns="508" bIns="508" rtlCol="0" anchor="ctr"/>
          <a:lstStyle/>
          <a:p>
            <a:pPr algn="ctr" indent="0" marL="0">
              <a:buNone/>
            </a:pPr>
            <a:r>
              <a:rPr lang="en-US" sz="1300" b="1" dirty="0">
                <a:solidFill>
                  <a:schemeClr val="bg1"/>
                </a:solidFill>
              </a:rPr>
              <a:t>PM / PT with RS inputs</a:t>
            </a:r>
            <a:endParaRPr lang="en-US" sz="1300" dirty="0"/>
          </a:p>
        </p:txBody>
      </p:sp>
      <p:sp>
        <p:nvSpPr>
          <p:cNvPr id="26" name="card"/>
          <p:cNvSpPr/>
          <p:nvPr/>
        </p:nvSpPr>
        <p:spPr>
          <a:xfrm>
            <a:off x="7324344" y="2971800"/>
            <a:ext cx="2148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27" name="Text 24"/>
          <p:cNvSpPr txBox="1"/>
          <p:nvPr/>
        </p:nvSpPr>
        <p:spPr>
          <a:xfrm>
            <a:off x="7415784" y="3044952"/>
            <a:ext cx="1965960" cy="192024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MOD16 (PM), PT-JPL, GLEAM; VI-based Kc × ET0</a:t>
            </a:r>
            <a:endParaRPr lang="en-US" sz="1300" dirty="0"/>
          </a:p>
        </p:txBody>
      </p:sp>
      <p:sp>
        <p:nvSpPr>
          <p:cNvPr id="28" name="arrow"/>
          <p:cNvSpPr/>
          <p:nvPr/>
        </p:nvSpPr>
        <p:spPr>
          <a:xfrm>
            <a:off x="10680192" y="2011680"/>
            <a:ext cx="0" cy="182880"/>
          </a:xfrm>
          <a:prstGeom prst="line">
            <a:avLst/>
          </a:prstGeom>
          <a:noFill/>
          <a:ln w="19050">
            <a:solidFill>
              <a:srgbClr val="1E2430"/>
            </a:solidFill>
            <a:prstDash val="solid"/>
          </a:ln>
        </p:spPr>
      </p:sp>
      <p:sp>
        <p:nvSpPr>
          <p:cNvPr id="29" name="diagram box"/>
          <p:cNvSpPr/>
          <p:nvPr/>
        </p:nvSpPr>
        <p:spPr>
          <a:xfrm>
            <a:off x="9582912" y="2194560"/>
            <a:ext cx="2148840" cy="685800"/>
          </a:xfrm>
          <a:prstGeom prst="roundRect">
            <a:avLst>
              <a:gd name="adj" fmla="val 10667"/>
            </a:avLst>
          </a:prstGeom>
          <a:solidFill>
            <a:srgbClr val="C0702A"/>
          </a:solidFill>
          <a:ln/>
        </p:spPr>
      </p:sp>
      <p:sp>
        <p:nvSpPr>
          <p:cNvPr id="30" name="Text 27"/>
          <p:cNvSpPr txBox="1"/>
          <p:nvPr/>
        </p:nvSpPr>
        <p:spPr>
          <a:xfrm>
            <a:off x="9582912" y="2194560"/>
            <a:ext cx="2148840" cy="685800"/>
          </a:xfrm>
          <a:prstGeom prst="rect">
            <a:avLst/>
          </a:prstGeom>
          <a:noFill/>
          <a:ln/>
        </p:spPr>
        <p:txBody>
          <a:bodyPr wrap="square" lIns="508" tIns="508" rIns="508" bIns="508" rtlCol="0" anchor="ctr"/>
          <a:lstStyle/>
          <a:p>
            <a:pPr algn="ctr" indent="0" marL="0">
              <a:buNone/>
            </a:pPr>
            <a:r>
              <a:rPr lang="en-US" sz="1300" b="1" dirty="0">
                <a:solidFill>
                  <a:schemeClr val="bg1"/>
                </a:solidFill>
              </a:rPr>
              <a:t>Data assimilation</a:t>
            </a:r>
            <a:endParaRPr lang="en-US" sz="1300" dirty="0"/>
          </a:p>
        </p:txBody>
      </p:sp>
      <p:sp>
        <p:nvSpPr>
          <p:cNvPr id="31" name="card"/>
          <p:cNvSpPr/>
          <p:nvPr/>
        </p:nvSpPr>
        <p:spPr>
          <a:xfrm>
            <a:off x="9582912" y="2971800"/>
            <a:ext cx="2148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32" name="Text 29"/>
          <p:cNvSpPr txBox="1"/>
          <p:nvPr/>
        </p:nvSpPr>
        <p:spPr>
          <a:xfrm>
            <a:off x="9674352" y="3044952"/>
            <a:ext cx="1965960" cy="1920240"/>
          </a:xfrm>
          <a:prstGeom prst="rect">
            <a:avLst/>
          </a:prstGeom>
          <a:noFill/>
          <a:ln/>
        </p:spPr>
        <p:txBody>
          <a:bodyPr wrap="square" lIns="508" tIns="508" rIns="508" bIns="508" rtlCol="0" anchor="t"/>
          <a:lstStyle/>
          <a:p>
            <a:pPr indent="0" marL="0">
              <a:spcAft>
                <a:spcPts val="600"/>
              </a:spcAft>
              <a:buNone/>
            </a:pPr>
            <a:r>
              <a:rPr lang="en-US" sz="1300" dirty="0">
                <a:solidFill>
                  <a:schemeClr val="tx1"/>
                </a:solidFill>
              </a:rPr>
              <a:t>Land surface model + LST / soil moisture via EnKF or 4D-Var</a:t>
            </a:r>
            <a:endParaRPr lang="en-US" sz="1300" dirty="0"/>
          </a:p>
        </p:txBody>
      </p:sp>
      <p:sp>
        <p:nvSpPr>
          <p:cNvPr id="33" name="tag"/>
          <p:cNvSpPr/>
          <p:nvPr/>
        </p:nvSpPr>
        <p:spPr>
          <a:xfrm>
            <a:off x="548640" y="5138928"/>
            <a:ext cx="2148840" cy="292608"/>
          </a:xfrm>
          <a:prstGeom prst="roundRect">
            <a:avLst>
              <a:gd name="adj" fmla="val 50000"/>
            </a:avLst>
          </a:prstGeom>
          <a:solidFill>
            <a:srgbClr val="5C6B73"/>
          </a:solidFill>
          <a:ln/>
        </p:spPr>
      </p:sp>
      <p:sp>
        <p:nvSpPr>
          <p:cNvPr id="34" name="Text 31"/>
          <p:cNvSpPr txBox="1"/>
          <p:nvPr/>
        </p:nvSpPr>
        <p:spPr>
          <a:xfrm>
            <a:off x="548640" y="5138928"/>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simple, site-specific</a:t>
            </a:r>
            <a:endParaRPr lang="en-US" sz="1100" dirty="0"/>
          </a:p>
        </p:txBody>
      </p:sp>
      <p:sp>
        <p:nvSpPr>
          <p:cNvPr id="35" name="tag"/>
          <p:cNvSpPr/>
          <p:nvPr/>
        </p:nvSpPr>
        <p:spPr>
          <a:xfrm>
            <a:off x="2807208" y="5138928"/>
            <a:ext cx="2148840" cy="292608"/>
          </a:xfrm>
          <a:prstGeom prst="roundRect">
            <a:avLst>
              <a:gd name="adj" fmla="val 50000"/>
            </a:avLst>
          </a:prstGeom>
          <a:solidFill>
            <a:srgbClr val="1B4965"/>
          </a:solidFill>
          <a:ln/>
        </p:spPr>
      </p:sp>
      <p:sp>
        <p:nvSpPr>
          <p:cNvPr id="36" name="Text 33"/>
          <p:cNvSpPr txBox="1"/>
          <p:nvPr/>
        </p:nvSpPr>
        <p:spPr>
          <a:xfrm>
            <a:off x="2807208" y="5138928"/>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physical, needs anchors or met data</a:t>
            </a:r>
            <a:endParaRPr lang="en-US" sz="1100" dirty="0"/>
          </a:p>
        </p:txBody>
      </p:sp>
      <p:sp>
        <p:nvSpPr>
          <p:cNvPr id="37" name="tag"/>
          <p:cNvSpPr/>
          <p:nvPr/>
        </p:nvSpPr>
        <p:spPr>
          <a:xfrm>
            <a:off x="5065776" y="5138928"/>
            <a:ext cx="2148840" cy="292608"/>
          </a:xfrm>
          <a:prstGeom prst="roundRect">
            <a:avLst>
              <a:gd name="adj" fmla="val 50000"/>
            </a:avLst>
          </a:prstGeom>
          <a:solidFill>
            <a:srgbClr val="6C4F9E"/>
          </a:solidFill>
          <a:ln/>
        </p:spPr>
      </p:sp>
      <p:sp>
        <p:nvSpPr>
          <p:cNvPr id="38" name="Text 35"/>
          <p:cNvSpPr txBox="1"/>
          <p:nvPr/>
        </p:nvSpPr>
        <p:spPr>
          <a:xfrm>
            <a:off x="5065776" y="5138928"/>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image-only, needs wet &amp; dry pixels</a:t>
            </a:r>
            <a:endParaRPr lang="en-US" sz="1100" dirty="0"/>
          </a:p>
        </p:txBody>
      </p:sp>
      <p:sp>
        <p:nvSpPr>
          <p:cNvPr id="39" name="tag"/>
          <p:cNvSpPr/>
          <p:nvPr/>
        </p:nvSpPr>
        <p:spPr>
          <a:xfrm>
            <a:off x="7324344" y="5138928"/>
            <a:ext cx="2148840" cy="292608"/>
          </a:xfrm>
          <a:prstGeom prst="roundRect">
            <a:avLst>
              <a:gd name="adj" fmla="val 50000"/>
            </a:avLst>
          </a:prstGeom>
          <a:solidFill>
            <a:srgbClr val="2E7D4F"/>
          </a:solidFill>
          <a:ln/>
        </p:spPr>
      </p:sp>
      <p:sp>
        <p:nvSpPr>
          <p:cNvPr id="40" name="Text 37"/>
          <p:cNvSpPr txBox="1"/>
          <p:nvPr/>
        </p:nvSpPr>
        <p:spPr>
          <a:xfrm>
            <a:off x="7324344" y="5138928"/>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global, daily, coarse</a:t>
            </a:r>
            <a:endParaRPr lang="en-US" sz="1100" dirty="0"/>
          </a:p>
        </p:txBody>
      </p:sp>
      <p:sp>
        <p:nvSpPr>
          <p:cNvPr id="41" name="tag"/>
          <p:cNvSpPr/>
          <p:nvPr/>
        </p:nvSpPr>
        <p:spPr>
          <a:xfrm>
            <a:off x="9582912" y="5138928"/>
            <a:ext cx="2148840" cy="292608"/>
          </a:xfrm>
          <a:prstGeom prst="roundRect">
            <a:avLst>
              <a:gd name="adj" fmla="val 50000"/>
            </a:avLst>
          </a:prstGeom>
          <a:solidFill>
            <a:srgbClr val="C0702A"/>
          </a:solidFill>
          <a:ln/>
        </p:spPr>
      </p:sp>
      <p:sp>
        <p:nvSpPr>
          <p:cNvPr id="42" name="Text 39"/>
          <p:cNvSpPr txBox="1"/>
          <p:nvPr/>
        </p:nvSpPr>
        <p:spPr>
          <a:xfrm>
            <a:off x="9582912" y="5138928"/>
            <a:ext cx="2148840" cy="292608"/>
          </a:xfrm>
          <a:prstGeom prst="rect">
            <a:avLst/>
          </a:prstGeom>
          <a:noFill/>
          <a:ln/>
        </p:spPr>
        <p:txBody>
          <a:bodyPr wrap="square" lIns="0" tIns="0" rIns="0" bIns="0" rtlCol="0" anchor="ctr"/>
          <a:lstStyle/>
          <a:p>
            <a:pPr algn="ctr" indent="0" marL="0">
              <a:buNone/>
            </a:pPr>
            <a:r>
              <a:rPr lang="en-US" sz="1100" b="1" dirty="0">
                <a:solidFill>
                  <a:schemeClr val="bg1"/>
                </a:solidFill>
              </a:rPr>
              <a:t>continuous, compute-heavy</a:t>
            </a:r>
            <a:endParaRPr lang="en-US" sz="1100" dirty="0"/>
          </a:p>
        </p:txBody>
      </p:sp>
      <p:sp>
        <p:nvSpPr>
          <p:cNvPr id="43" name="insight"/>
          <p:cNvSpPr/>
          <p:nvPr/>
        </p:nvSpPr>
        <p:spPr>
          <a:xfrm>
            <a:off x="548640" y="5559552"/>
            <a:ext cx="11094415" cy="658368"/>
          </a:xfrm>
          <a:prstGeom prst="roundRect">
            <a:avLst>
              <a:gd name="adj" fmla="val 11111"/>
            </a:avLst>
          </a:prstGeom>
          <a:solidFill>
            <a:schemeClr val="bg2"/>
          </a:solidFill>
          <a:ln/>
        </p:spPr>
      </p:sp>
      <p:sp>
        <p:nvSpPr>
          <p:cNvPr id="44" name="icon circle"/>
          <p:cNvSpPr/>
          <p:nvPr/>
        </p:nvSpPr>
        <p:spPr>
          <a:xfrm>
            <a:off x="685800" y="5650992"/>
            <a:ext cx="475488" cy="475488"/>
          </a:xfrm>
          <a:prstGeom prst="ellipse">
            <a:avLst/>
          </a:prstGeom>
          <a:solidFill>
            <a:schemeClr val="accent3"/>
          </a:solidFill>
          <a:ln/>
        </p:spPr>
      </p:sp>
      <p:pic>
        <p:nvPicPr>
          <p:cNvPr id="45" name="Image 0" descr="Lightbulb icon">    </p:cNvPr>
          <p:cNvPicPr>
            <a:picLocks noChangeAspect="1"/>
          </p:cNvPicPr>
          <p:nvPr/>
        </p:nvPicPr>
        <p:blipFill>
          <a:blip r:embed="rId1"/>
          <a:stretch>
            <a:fillRect/>
          </a:stretch>
        </p:blipFill>
        <p:spPr>
          <a:xfrm>
            <a:off x="809427" y="5774619"/>
            <a:ext cx="228234" cy="228234"/>
          </a:xfrm>
          <a:prstGeom prst="rect">
            <a:avLst/>
          </a:prstGeom>
        </p:spPr>
      </p:pic>
      <p:sp>
        <p:nvSpPr>
          <p:cNvPr id="46" name="Text 42"/>
          <p:cNvSpPr txBox="1"/>
          <p:nvPr/>
        </p:nvSpPr>
        <p:spPr>
          <a:xfrm>
            <a:off x="1325880" y="5596128"/>
            <a:ext cx="10180015" cy="585216"/>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Single-source vs two-source:</a:t>
            </a:r>
            <a:r>
              <a:rPr lang="en-US" sz="1350" dirty="0">
                <a:solidFill>
                  <a:schemeClr val="tx1"/>
                </a:solidFill>
              </a:rPr>
              <a:t> single-source is simpler and fine over dense crops; two-source is needed over sparse or row crops, where soil and canopy temperatures differ by up to 10 °C</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Energy-balance building blocks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each term — net radiation, soil heat flux and sensible heat — is computed from satellite data, and simple thermal indices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Net radiation and soil heat flux</a:t>
            </a:r>
            <a:endParaRPr lang="en-US" sz="3200" dirty="0"/>
          </a:p>
        </p:txBody>
      </p:sp>
      <p:sp>
        <p:nvSpPr>
          <p:cNvPr id="4" name="card"/>
          <p:cNvSpPr/>
          <p:nvPr/>
        </p:nvSpPr>
        <p:spPr>
          <a:xfrm>
            <a:off x="548640" y="1280160"/>
            <a:ext cx="6035040"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760720" cy="777240"/>
          </a:xfrm>
          <a:prstGeom prst="rect">
            <a:avLst/>
          </a:prstGeom>
          <a:noFill/>
          <a:ln/>
        </p:spPr>
        <p:txBody>
          <a:bodyPr wrap="square" lIns="0" tIns="0" rIns="0" bIns="0" rtlCol="0" anchor="ctr"/>
          <a:lstStyle/>
          <a:p>
            <a:pPr algn="ctr" indent="0" marL="0">
              <a:buNone/>
            </a:pPr>
            <a:r>
              <a:rPr lang="en-US" sz="1800" b="1" dirty="0">
                <a:solidFill>
                  <a:schemeClr val="bg1"/>
                </a:solidFill>
              </a:rPr>
              <a:t>Rn = (1 − α)Rs↓ + ε</a:t>
            </a:r>
            <a:r>
              <a:rPr lang="en-US" sz="1800" b="1" baseline="-40000" dirty="0">
                <a:solidFill>
                  <a:schemeClr val="bg1"/>
                </a:solidFill>
              </a:rPr>
              <a:t>a</a:t>
            </a:r>
            <a:r>
              <a:rPr lang="en-US" sz="1800" b="1" dirty="0">
                <a:solidFill>
                  <a:schemeClr val="bg1"/>
                </a:solidFill>
              </a:rPr>
              <a:t>σT</a:t>
            </a:r>
            <a:r>
              <a:rPr lang="en-US" sz="1800" b="1" baseline="-40000" dirty="0">
                <a:solidFill>
                  <a:schemeClr val="bg1"/>
                </a:solidFill>
              </a:rPr>
              <a:t>a</a:t>
            </a:r>
            <a:r>
              <a:rPr lang="en-US" sz="1800" b="1" baseline="30000" dirty="0">
                <a:solidFill>
                  <a:schemeClr val="bg1"/>
                </a:solidFill>
              </a:rPr>
              <a:t>4</a:t>
            </a:r>
            <a:r>
              <a:rPr lang="en-US" sz="1800" b="1" dirty="0">
                <a:solidFill>
                  <a:schemeClr val="bg1"/>
                </a:solidFill>
              </a:rPr>
              <a:t> − ε</a:t>
            </a:r>
            <a:r>
              <a:rPr lang="en-US" sz="1800" b="1" baseline="-40000" dirty="0">
                <a:solidFill>
                  <a:schemeClr val="bg1"/>
                </a:solidFill>
              </a:rPr>
              <a:t>s</a:t>
            </a:r>
            <a:r>
              <a:rPr lang="en-US" sz="1800" b="1" dirty="0">
                <a:solidFill>
                  <a:schemeClr val="bg1"/>
                </a:solidFill>
              </a:rPr>
              <a:t>σT</a:t>
            </a:r>
            <a:r>
              <a:rPr lang="en-US" sz="1800" b="1" baseline="-40000" dirty="0">
                <a:solidFill>
                  <a:schemeClr val="bg1"/>
                </a:solidFill>
              </a:rPr>
              <a:t>s</a:t>
            </a:r>
            <a:r>
              <a:rPr lang="en-US" sz="1800" b="1" baseline="30000" dirty="0">
                <a:solidFill>
                  <a:schemeClr val="bg1"/>
                </a:solidFill>
              </a:rPr>
              <a:t>4</a:t>
            </a:r>
            <a:endParaRPr lang="en-US" sz="1800" dirty="0"/>
          </a:p>
        </p:txBody>
      </p:sp>
      <p:sp>
        <p:nvSpPr>
          <p:cNvPr id="6" name="Text 3"/>
          <p:cNvSpPr txBox="1"/>
          <p:nvPr/>
        </p:nvSpPr>
        <p:spPr>
          <a:xfrm>
            <a:off x="548640" y="2148840"/>
            <a:ext cx="6035040" cy="1737360"/>
          </a:xfrm>
          <a:prstGeom prst="rect">
            <a:avLst/>
          </a:prstGeom>
          <a:noFill/>
          <a:ln/>
        </p:spPr>
        <p:txBody>
          <a:bodyPr wrap="square" lIns="508" tIns="508" rIns="508" bIns="508" rtlCol="0" anchor="t"/>
          <a:lstStyle/>
          <a:p>
            <a:pPr marL="177800" indent="-177800">
              <a:spcAft>
                <a:spcPts val="600"/>
              </a:spcAft>
              <a:buSzPct val="100000"/>
              <a:buChar char="•"/>
            </a:pPr>
            <a:r>
              <a:rPr lang="en-US" sz="1300" b="1" dirty="0">
                <a:solidFill>
                  <a:schemeClr val="tx1"/>
                </a:solidFill>
              </a:rPr>
              <a:t>α:</a:t>
            </a:r>
            <a:r>
              <a:rPr lang="en-US" sz="1300" dirty="0">
                <a:solidFill>
                  <a:schemeClr val="tx1"/>
                </a:solidFill>
              </a:rPr>
              <a:t> broadband albedo from weighted narrow bands (atmospherically corrected)</a:t>
            </a:r>
            <a:endParaRPr lang="en-US" sz="1300" dirty="0"/>
          </a:p>
          <a:p>
            <a:pPr marL="177800" indent="-177800">
              <a:spcAft>
                <a:spcPts val="600"/>
              </a:spcAft>
              <a:buSzPct val="100000"/>
              <a:buChar char="•"/>
            </a:pPr>
            <a:r>
              <a:rPr lang="en-US" sz="1300" b="1" dirty="0">
                <a:solidFill>
                  <a:schemeClr val="tx1"/>
                </a:solidFill>
              </a:rPr>
              <a:t>Rs↓:</a:t>
            </a:r>
            <a:r>
              <a:rPr lang="en-US" sz="1300" dirty="0">
                <a:solidFill>
                  <a:schemeClr val="tx1"/>
                </a:solidFill>
              </a:rPr>
              <a:t> solar constant × cos θ</a:t>
            </a:r>
            <a:r>
              <a:rPr lang="en-US" sz="1300" baseline="-40000" dirty="0">
                <a:solidFill>
                  <a:schemeClr val="tx1"/>
                </a:solidFill>
              </a:rPr>
              <a:t>z</a:t>
            </a:r>
            <a:r>
              <a:rPr lang="en-US" sz="1300" dirty="0">
                <a:solidFill>
                  <a:schemeClr val="tx1"/>
                </a:solidFill>
              </a:rPr>
              <a:t> × transmissivity τ</a:t>
            </a:r>
            <a:r>
              <a:rPr lang="en-US" sz="1300" baseline="-40000" dirty="0">
                <a:solidFill>
                  <a:schemeClr val="tx1"/>
                </a:solidFill>
              </a:rPr>
              <a:t>sw</a:t>
            </a:r>
            <a:endParaRPr lang="en-US" sz="1300" dirty="0"/>
          </a:p>
          <a:p>
            <a:pPr marL="177800" indent="-177800">
              <a:spcAft>
                <a:spcPts val="600"/>
              </a:spcAft>
              <a:buSzPct val="100000"/>
              <a:buChar char="•"/>
            </a:pPr>
            <a:r>
              <a:rPr lang="en-US" sz="1300" b="1" dirty="0">
                <a:solidFill>
                  <a:schemeClr val="tx1"/>
                </a:solidFill>
              </a:rPr>
              <a:t>ε</a:t>
            </a:r>
            <a:r>
              <a:rPr lang="en-US" sz="1300" b="1" baseline="-40000" dirty="0">
                <a:solidFill>
                  <a:schemeClr val="tx1"/>
                </a:solidFill>
              </a:rPr>
              <a:t>s</a:t>
            </a:r>
            <a:r>
              <a:rPr lang="en-US" sz="1300" b="1" dirty="0">
                <a:solidFill>
                  <a:schemeClr val="tx1"/>
                </a:solidFill>
              </a:rPr>
              <a:t> = 1.009 + 0.047 ln NDVI</a:t>
            </a:r>
            <a:r>
              <a:rPr lang="en-US" sz="1300" dirty="0">
                <a:solidFill>
                  <a:schemeClr val="tx1"/>
                </a:solidFill>
              </a:rPr>
              <a:t> (Van de Griend &amp; Owe; used by SEBAL and Kalpana-1)</a:t>
            </a:r>
            <a:endParaRPr lang="en-US" sz="1300" dirty="0"/>
          </a:p>
          <a:p>
            <a:pPr marL="177800" indent="-177800">
              <a:spcAft>
                <a:spcPts val="600"/>
              </a:spcAft>
              <a:buSzPct val="100000"/>
              <a:buChar char="•"/>
            </a:pPr>
            <a:r>
              <a:rPr lang="en-US" sz="1300" b="1" dirty="0">
                <a:solidFill>
                  <a:schemeClr val="tx1"/>
                </a:solidFill>
              </a:rPr>
              <a:t>ε</a:t>
            </a:r>
            <a:r>
              <a:rPr lang="en-US" sz="1300" b="1" baseline="-40000" dirty="0">
                <a:solidFill>
                  <a:schemeClr val="tx1"/>
                </a:solidFill>
              </a:rPr>
              <a:t>a</a:t>
            </a:r>
            <a:r>
              <a:rPr lang="en-US" sz="1300" b="1" dirty="0">
                <a:solidFill>
                  <a:schemeClr val="tx1"/>
                </a:solidFill>
              </a:rPr>
              <a:t>:</a:t>
            </a:r>
            <a:r>
              <a:rPr lang="en-US" sz="1300" dirty="0">
                <a:solidFill>
                  <a:schemeClr val="tx1"/>
                </a:solidFill>
              </a:rPr>
              <a:t> from T</a:t>
            </a:r>
            <a:r>
              <a:rPr lang="en-US" sz="1300" baseline="-40000" dirty="0">
                <a:solidFill>
                  <a:schemeClr val="tx1"/>
                </a:solidFill>
              </a:rPr>
              <a:t>a</a:t>
            </a:r>
            <a:r>
              <a:rPr lang="en-US" sz="1300" dirty="0">
                <a:solidFill>
                  <a:schemeClr val="tx1"/>
                </a:solidFill>
              </a:rPr>
              <a:t> or vapour pressure; accuracy of Rn ≈ 5–10%</a:t>
            </a:r>
            <a:endParaRPr lang="en-US" sz="1300" dirty="0"/>
          </a:p>
        </p:txBody>
      </p:sp>
      <p:sp>
        <p:nvSpPr>
          <p:cNvPr id="7" name="card"/>
          <p:cNvSpPr/>
          <p:nvPr/>
        </p:nvSpPr>
        <p:spPr>
          <a:xfrm>
            <a:off x="548640" y="3931920"/>
            <a:ext cx="6035040" cy="777240"/>
          </a:xfrm>
          <a:prstGeom prst="roundRect">
            <a:avLst>
              <a:gd name="adj" fmla="val 9412"/>
            </a:avLst>
          </a:prstGeom>
          <a:solidFill>
            <a:schemeClr val="accent4"/>
          </a:solidFill>
          <a:ln/>
          <a:effectLst>
            <a:outerShdw sx="100000" sy="100000" kx="0" ky="0" algn="bl" rotWithShape="0" blurRad="76200" dist="25400" dir="5400000">
              <a:srgbClr val="000000">
                <a:alpha val="14000"/>
              </a:srgbClr>
            </a:outerShdw>
          </a:effectLst>
        </p:spPr>
      </p:sp>
      <p:sp>
        <p:nvSpPr>
          <p:cNvPr id="8" name="Text 5"/>
          <p:cNvSpPr txBox="1"/>
          <p:nvPr/>
        </p:nvSpPr>
        <p:spPr>
          <a:xfrm>
            <a:off x="685800" y="3931920"/>
            <a:ext cx="5760720" cy="777240"/>
          </a:xfrm>
          <a:prstGeom prst="rect">
            <a:avLst/>
          </a:prstGeom>
          <a:noFill/>
          <a:ln/>
        </p:spPr>
        <p:txBody>
          <a:bodyPr wrap="square" lIns="0" tIns="0" rIns="0" bIns="0" rtlCol="0" anchor="ctr"/>
          <a:lstStyle/>
          <a:p>
            <a:pPr algn="ctr" indent="0" marL="0">
              <a:buNone/>
            </a:pPr>
            <a:r>
              <a:rPr lang="en-US" sz="1600" b="1" dirty="0">
                <a:solidFill>
                  <a:schemeClr val="bg1"/>
                </a:solidFill>
              </a:rPr>
              <a:t>G/Rn = (T</a:t>
            </a:r>
            <a:r>
              <a:rPr lang="en-US" sz="1600" b="1" baseline="-40000" dirty="0">
                <a:solidFill>
                  <a:schemeClr val="bg1"/>
                </a:solidFill>
              </a:rPr>
              <a:t>s</a:t>
            </a:r>
            <a:r>
              <a:rPr lang="en-US" sz="1600" b="1" dirty="0">
                <a:solidFill>
                  <a:schemeClr val="bg1"/>
                </a:solidFill>
              </a:rPr>
              <a:t>/α)(0.0032α + 0.0062α²)(1 − 0.978 NDVI⁴)</a:t>
            </a:r>
            <a:endParaRPr lang="en-US" sz="1600" dirty="0"/>
          </a:p>
        </p:txBody>
      </p:sp>
      <p:sp>
        <p:nvSpPr>
          <p:cNvPr id="9" name="Text 6"/>
          <p:cNvSpPr txBox="1"/>
          <p:nvPr/>
        </p:nvSpPr>
        <p:spPr>
          <a:xfrm>
            <a:off x="548640" y="4800600"/>
            <a:ext cx="6035040" cy="914400"/>
          </a:xfrm>
          <a:prstGeom prst="rect">
            <a:avLst/>
          </a:prstGeom>
          <a:noFill/>
          <a:ln/>
        </p:spPr>
        <p:txBody>
          <a:bodyPr wrap="square" lIns="508" tIns="508" rIns="508" bIns="508" rtlCol="0" anchor="t"/>
          <a:lstStyle/>
          <a:p>
            <a:pPr marL="177800" indent="-177800">
              <a:spcAft>
                <a:spcPts val="600"/>
              </a:spcAft>
              <a:buSzPct val="100000"/>
              <a:buChar char="•"/>
            </a:pPr>
            <a:r>
              <a:rPr lang="en-US" sz="1300" dirty="0">
                <a:solidFill>
                  <a:schemeClr val="tx1"/>
                </a:solidFill>
              </a:rPr>
              <a:t>G/Rn ≈ 0.05 (full canopy, wet soil) to 0.5 (dry bare soil)</a:t>
            </a:r>
            <a:endParaRPr lang="en-US" sz="1300" dirty="0"/>
          </a:p>
          <a:p>
            <a:pPr marL="177800" indent="-177800">
              <a:spcAft>
                <a:spcPts val="600"/>
              </a:spcAft>
              <a:buSzPct val="100000"/>
              <a:buChar char="•"/>
            </a:pPr>
            <a:r>
              <a:rPr lang="en-US" sz="1300" dirty="0">
                <a:solidFill>
                  <a:schemeClr val="tx1"/>
                </a:solidFill>
              </a:rPr>
              <a:t>Errors 20–30%, but G is small at midday; </a:t>
            </a:r>
            <a:r>
              <a:rPr lang="en-US" sz="1300" b="1" dirty="0">
                <a:solidFill>
                  <a:schemeClr val="tx1"/>
                </a:solidFill>
              </a:rPr>
              <a:t>daily G ≈ 0</a:t>
            </a:r>
            <a:endParaRPr lang="en-US" sz="1300" dirty="0"/>
          </a:p>
        </p:txBody>
      </p:sp>
      <p:sp>
        <p:nvSpPr>
          <p:cNvPr id="10" name="figure frame"/>
          <p:cNvSpPr/>
          <p:nvPr/>
        </p:nvSpPr>
        <p:spPr>
          <a:xfrm>
            <a:off x="6812280" y="1280160"/>
            <a:ext cx="4828032" cy="2788920"/>
          </a:xfrm>
          <a:prstGeom prst="roundRect">
            <a:avLst>
              <a:gd name="adj" fmla="val 196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1" name="Image 0" descr="SEBAL Fig. 3: soil heat flux fraction Γ falls with NDVI (canopy extinction) — Bastiaanssen et al. 1998">    </p:cNvPr>
          <p:cNvPicPr>
            <a:picLocks noChangeAspect="1"/>
          </p:cNvPicPr>
          <p:nvPr/>
        </p:nvPicPr>
        <p:blipFill>
          <a:blip r:embed="rId1"/>
          <a:stretch>
            <a:fillRect/>
          </a:stretch>
        </p:blipFill>
        <p:spPr>
          <a:xfrm>
            <a:off x="6903720" y="1628591"/>
            <a:ext cx="4645152" cy="2092058"/>
          </a:xfrm>
          <a:prstGeom prst="rect">
            <a:avLst/>
          </a:prstGeom>
        </p:spPr>
      </p:pic>
      <p:sp>
        <p:nvSpPr>
          <p:cNvPr id="12" name="Text 8"/>
          <p:cNvSpPr txBox="1"/>
          <p:nvPr/>
        </p:nvSpPr>
        <p:spPr>
          <a:xfrm>
            <a:off x="6812280" y="4114800"/>
            <a:ext cx="4828032" cy="457200"/>
          </a:xfrm>
          <a:prstGeom prst="rect">
            <a:avLst/>
          </a:prstGeom>
          <a:noFill/>
          <a:ln/>
        </p:spPr>
        <p:txBody>
          <a:bodyPr wrap="square" lIns="0" tIns="0" rIns="0" bIns="0" rtlCol="0" anchor="t"/>
          <a:lstStyle/>
          <a:p>
            <a:pPr indent="0" marL="0">
              <a:buNone/>
            </a:pPr>
            <a:r>
              <a:rPr lang="en-US" sz="1100" i="1" dirty="0">
                <a:solidFill>
                  <a:schemeClr val="accent6"/>
                </a:solidFill>
              </a:rPr>
              <a:t>SEBAL Fig. 3: soil heat flux fraction Γ falls with NDVI (canopy extinction) — Bastiaanssen et al. 1998</a:t>
            </a:r>
            <a:endParaRPr lang="en-US" sz="1100" dirty="0"/>
          </a:p>
        </p:txBody>
      </p:sp>
      <p:sp>
        <p:nvSpPr>
          <p:cNvPr id="13" name="card"/>
          <p:cNvSpPr/>
          <p:nvPr/>
        </p:nvSpPr>
        <p:spPr>
          <a:xfrm>
            <a:off x="6812280" y="4754880"/>
            <a:ext cx="482803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4" name="Text 10"/>
          <p:cNvSpPr txBox="1"/>
          <p:nvPr/>
        </p:nvSpPr>
        <p:spPr>
          <a:xfrm>
            <a:off x="6995160" y="4892040"/>
            <a:ext cx="4507992" cy="365760"/>
          </a:xfrm>
          <a:prstGeom prst="rect">
            <a:avLst/>
          </a:prstGeom>
          <a:noFill/>
          <a:ln/>
        </p:spPr>
        <p:txBody>
          <a:bodyPr wrap="square" lIns="0" tIns="0" rIns="0" bIns="0" rtlCol="0" anchor="ctr"/>
          <a:lstStyle/>
          <a:p>
            <a:pPr indent="0" marL="0">
              <a:buNone/>
            </a:pPr>
            <a:r>
              <a:rPr lang="en-US" sz="1400" b="1" dirty="0">
                <a:solidFill>
                  <a:schemeClr val="tx2"/>
                </a:solidFill>
              </a:rPr>
              <a:t>Physical meaning</a:t>
            </a:r>
            <a:endParaRPr lang="en-US" sz="1400" dirty="0"/>
          </a:p>
        </p:txBody>
      </p:sp>
      <p:sp>
        <p:nvSpPr>
          <p:cNvPr id="15" name="Text 11"/>
          <p:cNvSpPr txBox="1"/>
          <p:nvPr/>
        </p:nvSpPr>
        <p:spPr>
          <a:xfrm>
            <a:off x="6995160" y="5303520"/>
            <a:ext cx="4462272" cy="7772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Bare, hot, bright soil conducts more heat down; a dense canopy intercepts radiation so little reaches the soil</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Sensible heat flux: the hardest term</a:t>
            </a:r>
            <a:endParaRPr lang="en-US" sz="3200" dirty="0"/>
          </a:p>
        </p:txBody>
      </p:sp>
      <p:sp>
        <p:nvSpPr>
          <p:cNvPr id="4" name="card"/>
          <p:cNvSpPr/>
          <p:nvPr/>
        </p:nvSpPr>
        <p:spPr>
          <a:xfrm>
            <a:off x="548640" y="1280160"/>
            <a:ext cx="5943600"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669280" cy="777240"/>
          </a:xfrm>
          <a:prstGeom prst="rect">
            <a:avLst/>
          </a:prstGeom>
          <a:noFill/>
          <a:ln/>
        </p:spPr>
        <p:txBody>
          <a:bodyPr wrap="square" lIns="0" tIns="0" rIns="0" bIns="0" rtlCol="0" anchor="ctr"/>
          <a:lstStyle/>
          <a:p>
            <a:pPr algn="ctr" indent="0" marL="0">
              <a:buNone/>
            </a:pPr>
            <a:r>
              <a:rPr lang="en-US" sz="1800" b="1" dirty="0">
                <a:solidFill>
                  <a:schemeClr val="bg1"/>
                </a:solidFill>
              </a:rPr>
              <a:t>H = ρ</a:t>
            </a:r>
            <a:r>
              <a:rPr lang="en-US" sz="1800" b="1" baseline="-40000" dirty="0">
                <a:solidFill>
                  <a:schemeClr val="bg1"/>
                </a:solidFill>
              </a:rPr>
              <a:t>a</a:t>
            </a:r>
            <a:r>
              <a:rPr lang="en-US" sz="1800" b="1" dirty="0">
                <a:solidFill>
                  <a:schemeClr val="bg1"/>
                </a:solidFill>
              </a:rPr>
              <a:t>c</a:t>
            </a:r>
            <a:r>
              <a:rPr lang="en-US" sz="1800" b="1" baseline="-40000" dirty="0">
                <a:solidFill>
                  <a:schemeClr val="bg1"/>
                </a:solidFill>
              </a:rPr>
              <a:t>p</a:t>
            </a:r>
            <a:r>
              <a:rPr lang="en-US" sz="1800" b="1" dirty="0">
                <a:solidFill>
                  <a:schemeClr val="bg1"/>
                </a:solidFill>
              </a:rPr>
              <a:t>(T</a:t>
            </a:r>
            <a:r>
              <a:rPr lang="en-US" sz="1800" b="1" baseline="-40000" dirty="0">
                <a:solidFill>
                  <a:schemeClr val="bg1"/>
                </a:solidFill>
              </a:rPr>
              <a:t>aero</a:t>
            </a:r>
            <a:r>
              <a:rPr lang="en-US" sz="1800" b="1" dirty="0">
                <a:solidFill>
                  <a:schemeClr val="bg1"/>
                </a:solidFill>
              </a:rPr>
              <a:t> − T</a:t>
            </a:r>
            <a:r>
              <a:rPr lang="en-US" sz="1800" b="1" baseline="-40000" dirty="0">
                <a:solidFill>
                  <a:schemeClr val="bg1"/>
                </a:solidFill>
              </a:rPr>
              <a:t>a</a:t>
            </a:r>
            <a:r>
              <a:rPr lang="en-US" sz="1800" b="1" dirty="0">
                <a:solidFill>
                  <a:schemeClr val="bg1"/>
                </a:solidFill>
              </a:rPr>
              <a:t>) / r</a:t>
            </a:r>
            <a:r>
              <a:rPr lang="en-US" sz="1800" b="1" baseline="-40000" dirty="0">
                <a:solidFill>
                  <a:schemeClr val="bg1"/>
                </a:solidFill>
              </a:rPr>
              <a:t>ah</a:t>
            </a:r>
            <a:r>
              <a:rPr lang="en-US" sz="1800" b="1" dirty="0">
                <a:solidFill>
                  <a:schemeClr val="bg1"/>
                </a:solidFill>
              </a:rPr>
              <a:t> = ρ</a:t>
            </a:r>
            <a:r>
              <a:rPr lang="en-US" sz="1800" b="1" baseline="-40000" dirty="0">
                <a:solidFill>
                  <a:schemeClr val="bg1"/>
                </a:solidFill>
              </a:rPr>
              <a:t>a</a:t>
            </a:r>
            <a:r>
              <a:rPr lang="en-US" sz="1800" b="1" dirty="0">
                <a:solidFill>
                  <a:schemeClr val="bg1"/>
                </a:solidFill>
              </a:rPr>
              <a:t>c</a:t>
            </a:r>
            <a:r>
              <a:rPr lang="en-US" sz="1800" b="1" baseline="-40000" dirty="0">
                <a:solidFill>
                  <a:schemeClr val="bg1"/>
                </a:solidFill>
              </a:rPr>
              <a:t>p</a:t>
            </a:r>
            <a:r>
              <a:rPr lang="en-US" sz="1800" b="1" dirty="0">
                <a:solidFill>
                  <a:schemeClr val="bg1"/>
                </a:solidFill>
              </a:rPr>
              <a:t> dT / r</a:t>
            </a:r>
            <a:r>
              <a:rPr lang="en-US" sz="1800" b="1" baseline="-40000" dirty="0">
                <a:solidFill>
                  <a:schemeClr val="bg1"/>
                </a:solidFill>
              </a:rPr>
              <a:t>ah</a:t>
            </a:r>
            <a:endParaRPr lang="en-US" sz="1800" dirty="0"/>
          </a:p>
        </p:txBody>
      </p:sp>
      <p:sp>
        <p:nvSpPr>
          <p:cNvPr id="6" name="card"/>
          <p:cNvSpPr/>
          <p:nvPr/>
        </p:nvSpPr>
        <p:spPr>
          <a:xfrm>
            <a:off x="548640" y="2176272"/>
            <a:ext cx="5943600" cy="777240"/>
          </a:xfrm>
          <a:prstGeom prst="roundRect">
            <a:avLst>
              <a:gd name="adj" fmla="val 9412"/>
            </a:avLst>
          </a:prstGeom>
          <a:solidFill>
            <a:schemeClr val="accent2"/>
          </a:solidFill>
          <a:ln/>
          <a:effectLst>
            <a:outerShdw sx="100000" sy="100000" kx="0" ky="0" algn="bl" rotWithShape="0" blurRad="76200" dist="25400" dir="5400000">
              <a:srgbClr val="000000">
                <a:alpha val="14000"/>
              </a:srgbClr>
            </a:outerShdw>
          </a:effectLst>
        </p:spPr>
      </p:sp>
      <p:sp>
        <p:nvSpPr>
          <p:cNvPr id="7" name="Text 4"/>
          <p:cNvSpPr txBox="1"/>
          <p:nvPr/>
        </p:nvSpPr>
        <p:spPr>
          <a:xfrm>
            <a:off x="685800" y="2176272"/>
            <a:ext cx="5669280" cy="777240"/>
          </a:xfrm>
          <a:prstGeom prst="rect">
            <a:avLst/>
          </a:prstGeom>
          <a:noFill/>
          <a:ln/>
        </p:spPr>
        <p:txBody>
          <a:bodyPr wrap="square" lIns="0" tIns="0" rIns="0" bIns="0" rtlCol="0" anchor="ctr"/>
          <a:lstStyle/>
          <a:p>
            <a:pPr algn="ctr" indent="0" marL="0">
              <a:buNone/>
            </a:pPr>
            <a:r>
              <a:rPr lang="en-US" sz="1700" b="1" dirty="0">
                <a:solidFill>
                  <a:schemeClr val="bg1"/>
                </a:solidFill>
              </a:rPr>
              <a:t>r</a:t>
            </a:r>
            <a:r>
              <a:rPr lang="en-US" sz="1700" b="1" baseline="-40000" dirty="0">
                <a:solidFill>
                  <a:schemeClr val="bg1"/>
                </a:solidFill>
              </a:rPr>
              <a:t>ah</a:t>
            </a:r>
            <a:r>
              <a:rPr lang="en-US" sz="1700" b="1" dirty="0">
                <a:solidFill>
                  <a:schemeClr val="bg1"/>
                </a:solidFill>
              </a:rPr>
              <a:t> = [ln((z − d)/z</a:t>
            </a:r>
            <a:r>
              <a:rPr lang="en-US" sz="1700" b="1" baseline="-40000" dirty="0">
                <a:solidFill>
                  <a:schemeClr val="bg1"/>
                </a:solidFill>
              </a:rPr>
              <a:t>0h</a:t>
            </a:r>
            <a:r>
              <a:rPr lang="en-US" sz="1700" b="1" dirty="0">
                <a:solidFill>
                  <a:schemeClr val="bg1"/>
                </a:solidFill>
              </a:rPr>
              <a:t>) − ψ</a:t>
            </a:r>
            <a:r>
              <a:rPr lang="en-US" sz="1700" b="1" baseline="-40000" dirty="0">
                <a:solidFill>
                  <a:schemeClr val="bg1"/>
                </a:solidFill>
              </a:rPr>
              <a:t>h</a:t>
            </a:r>
            <a:r>
              <a:rPr lang="en-US" sz="1700" b="1" dirty="0">
                <a:solidFill>
                  <a:schemeClr val="bg1"/>
                </a:solidFill>
              </a:rPr>
              <a:t>] / (k u</a:t>
            </a:r>
            <a:r>
              <a:rPr lang="en-US" sz="1700" b="1" baseline="-40000" dirty="0">
                <a:solidFill>
                  <a:schemeClr val="bg1"/>
                </a:solidFill>
              </a:rPr>
              <a:t>*</a:t>
            </a:r>
            <a:r>
              <a:rPr lang="en-US" sz="1700" b="1" dirty="0">
                <a:solidFill>
                  <a:schemeClr val="bg1"/>
                </a:solidFill>
              </a:rPr>
              <a:t>)</a:t>
            </a:r>
            <a:endParaRPr lang="en-US" sz="1700" dirty="0"/>
          </a:p>
        </p:txBody>
      </p:sp>
      <p:sp>
        <p:nvSpPr>
          <p:cNvPr id="8" name="Text 5"/>
          <p:cNvSpPr txBox="1"/>
          <p:nvPr/>
        </p:nvSpPr>
        <p:spPr>
          <a:xfrm>
            <a:off x="548640" y="3108960"/>
            <a:ext cx="5943600" cy="3017520"/>
          </a:xfrm>
          <a:prstGeom prst="rect">
            <a:avLst/>
          </a:prstGeom>
          <a:noFill/>
          <a:ln/>
        </p:spPr>
        <p:txBody>
          <a:bodyPr wrap="square" lIns="508" tIns="508" rIns="508" bIns="508" rtlCol="0" anchor="t"/>
          <a:lstStyle/>
          <a:p>
            <a:pPr marL="177800" indent="-177800">
              <a:spcAft>
                <a:spcPts val="600"/>
              </a:spcAft>
              <a:buSzPct val="100000"/>
              <a:buChar char="•"/>
            </a:pPr>
            <a:r>
              <a:rPr lang="en-US" sz="1300" b="1" dirty="0">
                <a:solidFill>
                  <a:schemeClr val="tx1"/>
                </a:solidFill>
              </a:rPr>
              <a:t>Roughness:</a:t>
            </a:r>
            <a:r>
              <a:rPr lang="en-US" sz="1300" dirty="0">
                <a:solidFill>
                  <a:schemeClr val="tx1"/>
                </a:solidFill>
              </a:rPr>
              <a:t> z</a:t>
            </a:r>
            <a:r>
              <a:rPr lang="en-US" sz="1300" baseline="-40000" dirty="0">
                <a:solidFill>
                  <a:schemeClr val="tx1"/>
                </a:solidFill>
              </a:rPr>
              <a:t>0m</a:t>
            </a:r>
            <a:r>
              <a:rPr lang="en-US" sz="1300" dirty="0">
                <a:solidFill>
                  <a:schemeClr val="tx1"/>
                </a:solidFill>
              </a:rPr>
              <a:t> ≈ 0.12 h or exp(a + b·NDVI); d ≈ 0.67 h</a:t>
            </a:r>
            <a:endParaRPr lang="en-US" sz="1300" dirty="0"/>
          </a:p>
          <a:p>
            <a:pPr marL="177800" indent="-177800">
              <a:spcAft>
                <a:spcPts val="600"/>
              </a:spcAft>
              <a:buSzPct val="100000"/>
              <a:buChar char="•"/>
            </a:pPr>
            <a:r>
              <a:rPr lang="en-US" sz="1300" b="1" dirty="0">
                <a:solidFill>
                  <a:schemeClr val="tx1"/>
                </a:solidFill>
              </a:rPr>
              <a:t>Excess resistance:</a:t>
            </a:r>
            <a:r>
              <a:rPr lang="en-US" sz="1300" dirty="0">
                <a:solidFill>
                  <a:schemeClr val="tx1"/>
                </a:solidFill>
              </a:rPr>
              <a:t> kB⁻¹ = ln(z</a:t>
            </a:r>
            <a:r>
              <a:rPr lang="en-US" sz="1300" baseline="-40000" dirty="0">
                <a:solidFill>
                  <a:schemeClr val="tx1"/>
                </a:solidFill>
              </a:rPr>
              <a:t>0m</a:t>
            </a:r>
            <a:r>
              <a:rPr lang="en-US" sz="1300" dirty="0">
                <a:solidFill>
                  <a:schemeClr val="tx1"/>
                </a:solidFill>
              </a:rPr>
              <a:t>/z</a:t>
            </a:r>
            <a:r>
              <a:rPr lang="en-US" sz="1300" baseline="-40000" dirty="0">
                <a:solidFill>
                  <a:schemeClr val="tx1"/>
                </a:solidFill>
              </a:rPr>
              <a:t>0h</a:t>
            </a:r>
            <a:r>
              <a:rPr lang="en-US" sz="1300" dirty="0">
                <a:solidFill>
                  <a:schemeClr val="tx1"/>
                </a:solidFill>
              </a:rPr>
              <a:t>) ≈ 2.3 (single-source)</a:t>
            </a:r>
            <a:endParaRPr lang="en-US" sz="1300" dirty="0"/>
          </a:p>
          <a:p>
            <a:pPr marL="177800" indent="-177800">
              <a:spcAft>
                <a:spcPts val="600"/>
              </a:spcAft>
              <a:buSzPct val="100000"/>
              <a:buChar char="•"/>
            </a:pPr>
            <a:r>
              <a:rPr lang="en-US" sz="1300" b="1" dirty="0">
                <a:solidFill>
                  <a:schemeClr val="tx1"/>
                </a:solidFill>
              </a:rPr>
              <a:t>Stability:</a:t>
            </a:r>
            <a:r>
              <a:rPr lang="en-US" sz="1300" dirty="0">
                <a:solidFill>
                  <a:schemeClr val="tx1"/>
                </a:solidFill>
              </a:rPr>
              <a:t> Monin–Obukhov L = −ρc</a:t>
            </a:r>
            <a:r>
              <a:rPr lang="en-US" sz="1300" baseline="-40000" dirty="0">
                <a:solidFill>
                  <a:schemeClr val="tx1"/>
                </a:solidFill>
              </a:rPr>
              <a:t>p</a:t>
            </a:r>
            <a:r>
              <a:rPr lang="en-US" sz="1300" dirty="0">
                <a:solidFill>
                  <a:schemeClr val="tx1"/>
                </a:solidFill>
              </a:rPr>
              <a:t>u</a:t>
            </a:r>
            <a:r>
              <a:rPr lang="en-US" sz="1300" baseline="-40000" dirty="0">
                <a:solidFill>
                  <a:schemeClr val="tx1"/>
                </a:solidFill>
              </a:rPr>
              <a:t>*</a:t>
            </a:r>
            <a:r>
              <a:rPr lang="en-US" sz="1300" dirty="0">
                <a:solidFill>
                  <a:schemeClr val="tx1"/>
                </a:solidFill>
              </a:rPr>
              <a:t>³T</a:t>
            </a:r>
            <a:r>
              <a:rPr lang="en-US" sz="1300" baseline="-40000" dirty="0">
                <a:solidFill>
                  <a:schemeClr val="tx1"/>
                </a:solidFill>
              </a:rPr>
              <a:t>a</a:t>
            </a:r>
            <a:r>
              <a:rPr lang="en-US" sz="1300" dirty="0">
                <a:solidFill>
                  <a:schemeClr val="tx1"/>
                </a:solidFill>
              </a:rPr>
              <a:t>/(kgH); L &lt; 0 unstable (day)</a:t>
            </a:r>
            <a:endParaRPr lang="en-US" sz="1300" dirty="0"/>
          </a:p>
          <a:p>
            <a:pPr marL="177800" indent="-177800">
              <a:spcAft>
                <a:spcPts val="600"/>
              </a:spcAft>
              <a:buSzPct val="100000"/>
              <a:buChar char="•"/>
            </a:pPr>
            <a:r>
              <a:rPr lang="en-US" sz="1300" b="1" dirty="0">
                <a:solidFill>
                  <a:schemeClr val="accent4"/>
                </a:solidFill>
              </a:rPr>
              <a:t>Problem 1:</a:t>
            </a:r>
            <a:r>
              <a:rPr lang="en-US" sz="1300" dirty="0">
                <a:solidFill>
                  <a:schemeClr val="accent4"/>
                </a:solidFill>
              </a:rPr>
              <a:t> T</a:t>
            </a:r>
            <a:r>
              <a:rPr lang="en-US" sz="1300" baseline="-40000" dirty="0">
                <a:solidFill>
                  <a:schemeClr val="accent4"/>
                </a:solidFill>
              </a:rPr>
              <a:t>aero</a:t>
            </a:r>
            <a:r>
              <a:rPr lang="en-US" sz="1300" dirty="0">
                <a:solidFill>
                  <a:schemeClr val="accent4"/>
                </a:solidFill>
              </a:rPr>
              <a:t> ≠ T</a:t>
            </a:r>
            <a:r>
              <a:rPr lang="en-US" sz="1300" baseline="-40000" dirty="0">
                <a:solidFill>
                  <a:schemeClr val="accent4"/>
                </a:solidFill>
              </a:rPr>
              <a:t>s</a:t>
            </a:r>
            <a:r>
              <a:rPr lang="en-US" sz="1300" dirty="0">
                <a:solidFill>
                  <a:schemeClr val="accent4"/>
                </a:solidFill>
              </a:rPr>
              <a:t> (2–10 °C over partial cover)</a:t>
            </a:r>
            <a:endParaRPr lang="en-US" sz="1300" dirty="0"/>
          </a:p>
          <a:p>
            <a:pPr marL="177800" indent="-177800">
              <a:spcAft>
                <a:spcPts val="600"/>
              </a:spcAft>
              <a:buSzPct val="100000"/>
              <a:buChar char="•"/>
            </a:pPr>
            <a:r>
              <a:rPr lang="en-US" sz="1300" b="1" dirty="0">
                <a:solidFill>
                  <a:schemeClr val="accent4"/>
                </a:solidFill>
              </a:rPr>
              <a:t>Problem 2:</a:t>
            </a:r>
            <a:r>
              <a:rPr lang="en-US" sz="1300" dirty="0">
                <a:solidFill>
                  <a:schemeClr val="accent4"/>
                </a:solidFill>
              </a:rPr>
              <a:t> dT needed to ~0.5 K; T</a:t>
            </a:r>
            <a:r>
              <a:rPr lang="en-US" sz="1300" baseline="-40000" dirty="0">
                <a:solidFill>
                  <a:schemeClr val="accent4"/>
                </a:solidFill>
              </a:rPr>
              <a:t>a</a:t>
            </a:r>
            <a:r>
              <a:rPr lang="en-US" sz="1300" dirty="0">
                <a:solidFill>
                  <a:schemeClr val="accent4"/>
                </a:solidFill>
              </a:rPr>
              <a:t> interpolated from sparse stations</a:t>
            </a:r>
            <a:endParaRPr lang="en-US" sz="1300" dirty="0"/>
          </a:p>
        </p:txBody>
      </p:sp>
      <p:sp>
        <p:nvSpPr>
          <p:cNvPr id="9" name="card"/>
          <p:cNvSpPr/>
          <p:nvPr/>
        </p:nvSpPr>
        <p:spPr>
          <a:xfrm>
            <a:off x="6675120" y="1280160"/>
            <a:ext cx="4965192"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10" name="Text 7"/>
          <p:cNvSpPr txBox="1"/>
          <p:nvPr/>
        </p:nvSpPr>
        <p:spPr>
          <a:xfrm>
            <a:off x="6812280" y="1353312"/>
            <a:ext cx="4663440" cy="320040"/>
          </a:xfrm>
          <a:prstGeom prst="rect">
            <a:avLst/>
          </a:prstGeom>
          <a:noFill/>
          <a:ln/>
        </p:spPr>
        <p:txBody>
          <a:bodyPr wrap="square" lIns="0" tIns="0" rIns="0" bIns="0" rtlCol="0" anchor="ctr"/>
          <a:lstStyle/>
          <a:p>
            <a:pPr algn="l" indent="0" marL="0">
              <a:buNone/>
            </a:pPr>
            <a:r>
              <a:rPr lang="en-US" sz="1300" b="1" dirty="0">
                <a:solidFill>
                  <a:schemeClr val="tx2"/>
                </a:solidFill>
              </a:rPr>
              <a:t>Stability iteration (SEBAL)</a:t>
            </a:r>
            <a:endParaRPr lang="en-US" sz="1300" dirty="0"/>
          </a:p>
        </p:txBody>
      </p:sp>
      <p:sp>
        <p:nvSpPr>
          <p:cNvPr id="11" name="diagram box"/>
          <p:cNvSpPr/>
          <p:nvPr/>
        </p:nvSpPr>
        <p:spPr>
          <a:xfrm>
            <a:off x="6949440" y="1783080"/>
            <a:ext cx="2743200" cy="621792"/>
          </a:xfrm>
          <a:prstGeom prst="roundRect">
            <a:avLst>
              <a:gd name="adj" fmla="val 11765"/>
            </a:avLst>
          </a:prstGeom>
          <a:solidFill>
            <a:srgbClr val="5C6B73"/>
          </a:solidFill>
          <a:ln/>
        </p:spPr>
      </p:sp>
      <p:sp>
        <p:nvSpPr>
          <p:cNvPr id="12" name="Text 9"/>
          <p:cNvSpPr txBox="1"/>
          <p:nvPr/>
        </p:nvSpPr>
        <p:spPr>
          <a:xfrm>
            <a:off x="6949440" y="1783080"/>
            <a:ext cx="274320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Start: neutral, ψ = 0</a:t>
            </a:r>
            <a:endParaRPr lang="en-US" sz="1200" dirty="0"/>
          </a:p>
        </p:txBody>
      </p:sp>
      <p:sp>
        <p:nvSpPr>
          <p:cNvPr id="13" name="arrow"/>
          <p:cNvSpPr/>
          <p:nvPr/>
        </p:nvSpPr>
        <p:spPr>
          <a:xfrm>
            <a:off x="8321040" y="2414016"/>
            <a:ext cx="0" cy="201168"/>
          </a:xfrm>
          <a:prstGeom prst="line">
            <a:avLst/>
          </a:prstGeom>
          <a:noFill/>
          <a:ln w="25400">
            <a:solidFill>
              <a:srgbClr val="1E2430"/>
            </a:solidFill>
            <a:prstDash val="solid"/>
            <a:tailEnd type="triangle"/>
          </a:ln>
        </p:spPr>
      </p:sp>
      <p:sp>
        <p:nvSpPr>
          <p:cNvPr id="14" name="diagram box"/>
          <p:cNvSpPr/>
          <p:nvPr/>
        </p:nvSpPr>
        <p:spPr>
          <a:xfrm>
            <a:off x="6949440" y="2624328"/>
            <a:ext cx="2743200" cy="621792"/>
          </a:xfrm>
          <a:prstGeom prst="roundRect">
            <a:avLst>
              <a:gd name="adj" fmla="val 11765"/>
            </a:avLst>
          </a:prstGeom>
          <a:solidFill>
            <a:srgbClr val="3B6EA5"/>
          </a:solidFill>
          <a:ln/>
        </p:spPr>
      </p:sp>
      <p:sp>
        <p:nvSpPr>
          <p:cNvPr id="15" name="Text 12"/>
          <p:cNvSpPr txBox="1"/>
          <p:nvPr/>
        </p:nvSpPr>
        <p:spPr>
          <a:xfrm>
            <a:off x="6949440" y="2624328"/>
            <a:ext cx="274320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u</a:t>
            </a:r>
            <a:r>
              <a:rPr lang="en-US" sz="1200" b="1" baseline="-40000" dirty="0">
                <a:solidFill>
                  <a:schemeClr val="bg1"/>
                </a:solidFill>
              </a:rPr>
              <a:t>*</a:t>
            </a:r>
            <a:r>
              <a:rPr lang="en-US" sz="1200" b="1" dirty="0">
                <a:solidFill>
                  <a:schemeClr val="bg1"/>
                </a:solidFill>
              </a:rPr>
              <a:t> from wind at blending height (100–200 m)</a:t>
            </a:r>
            <a:endParaRPr lang="en-US" sz="1200" dirty="0"/>
          </a:p>
        </p:txBody>
      </p:sp>
      <p:sp>
        <p:nvSpPr>
          <p:cNvPr id="16" name="arrow"/>
          <p:cNvSpPr/>
          <p:nvPr/>
        </p:nvSpPr>
        <p:spPr>
          <a:xfrm>
            <a:off x="8321040" y="3255264"/>
            <a:ext cx="0" cy="201168"/>
          </a:xfrm>
          <a:prstGeom prst="line">
            <a:avLst/>
          </a:prstGeom>
          <a:noFill/>
          <a:ln w="25400">
            <a:solidFill>
              <a:srgbClr val="1E2430"/>
            </a:solidFill>
            <a:prstDash val="solid"/>
            <a:tailEnd type="triangle"/>
          </a:ln>
        </p:spPr>
      </p:sp>
      <p:sp>
        <p:nvSpPr>
          <p:cNvPr id="17" name="diagram box"/>
          <p:cNvSpPr/>
          <p:nvPr/>
        </p:nvSpPr>
        <p:spPr>
          <a:xfrm>
            <a:off x="6949440" y="3465576"/>
            <a:ext cx="2743200" cy="621792"/>
          </a:xfrm>
          <a:prstGeom prst="roundRect">
            <a:avLst>
              <a:gd name="adj" fmla="val 11765"/>
            </a:avLst>
          </a:prstGeom>
          <a:solidFill>
            <a:srgbClr val="3B6EA5"/>
          </a:solidFill>
          <a:ln/>
        </p:spPr>
      </p:sp>
      <p:sp>
        <p:nvSpPr>
          <p:cNvPr id="18" name="Text 15"/>
          <p:cNvSpPr txBox="1"/>
          <p:nvPr/>
        </p:nvSpPr>
        <p:spPr>
          <a:xfrm>
            <a:off x="6949440" y="3465576"/>
            <a:ext cx="274320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r</a:t>
            </a:r>
            <a:r>
              <a:rPr lang="en-US" sz="1200" b="1" baseline="-40000" dirty="0">
                <a:solidFill>
                  <a:schemeClr val="bg1"/>
                </a:solidFill>
              </a:rPr>
              <a:t>ah</a:t>
            </a:r>
            <a:r>
              <a:rPr lang="en-US" sz="1200" b="1" dirty="0">
                <a:solidFill>
                  <a:schemeClr val="bg1"/>
                </a:solidFill>
              </a:rPr>
              <a:t> from u</a:t>
            </a:r>
            <a:r>
              <a:rPr lang="en-US" sz="1200" b="1" baseline="-40000" dirty="0">
                <a:solidFill>
                  <a:schemeClr val="bg1"/>
                </a:solidFill>
              </a:rPr>
              <a:t>*</a:t>
            </a:r>
            <a:r>
              <a:rPr lang="en-US" sz="1200" b="1" dirty="0">
                <a:solidFill>
                  <a:schemeClr val="bg1"/>
                </a:solidFill>
              </a:rPr>
              <a:t>, z</a:t>
            </a:r>
            <a:r>
              <a:rPr lang="en-US" sz="1200" b="1" baseline="-40000" dirty="0">
                <a:solidFill>
                  <a:schemeClr val="bg1"/>
                </a:solidFill>
              </a:rPr>
              <a:t>0h</a:t>
            </a:r>
            <a:endParaRPr lang="en-US" sz="1200" dirty="0"/>
          </a:p>
        </p:txBody>
      </p:sp>
      <p:sp>
        <p:nvSpPr>
          <p:cNvPr id="19" name="arrow"/>
          <p:cNvSpPr/>
          <p:nvPr/>
        </p:nvSpPr>
        <p:spPr>
          <a:xfrm>
            <a:off x="8321040" y="4096512"/>
            <a:ext cx="0" cy="201168"/>
          </a:xfrm>
          <a:prstGeom prst="line">
            <a:avLst/>
          </a:prstGeom>
          <a:noFill/>
          <a:ln w="25400">
            <a:solidFill>
              <a:srgbClr val="1E2430"/>
            </a:solidFill>
            <a:prstDash val="solid"/>
            <a:tailEnd type="triangle"/>
          </a:ln>
        </p:spPr>
      </p:sp>
      <p:sp>
        <p:nvSpPr>
          <p:cNvPr id="20" name="diagram box"/>
          <p:cNvSpPr/>
          <p:nvPr/>
        </p:nvSpPr>
        <p:spPr>
          <a:xfrm>
            <a:off x="6949440" y="4306824"/>
            <a:ext cx="2743200" cy="621792"/>
          </a:xfrm>
          <a:prstGeom prst="roundRect">
            <a:avLst>
              <a:gd name="adj" fmla="val 11765"/>
            </a:avLst>
          </a:prstGeom>
          <a:solidFill>
            <a:srgbClr val="1B4965"/>
          </a:solidFill>
          <a:ln/>
        </p:spPr>
      </p:sp>
      <p:sp>
        <p:nvSpPr>
          <p:cNvPr id="21" name="Text 18"/>
          <p:cNvSpPr txBox="1"/>
          <p:nvPr/>
        </p:nvSpPr>
        <p:spPr>
          <a:xfrm>
            <a:off x="6949440" y="4306824"/>
            <a:ext cx="274320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H = ρc</a:t>
            </a:r>
            <a:r>
              <a:rPr lang="en-US" sz="1200" b="1" baseline="-40000" dirty="0">
                <a:solidFill>
                  <a:schemeClr val="bg1"/>
                </a:solidFill>
              </a:rPr>
              <a:t>p</a:t>
            </a:r>
            <a:r>
              <a:rPr lang="en-US" sz="1200" b="1" dirty="0">
                <a:solidFill>
                  <a:schemeClr val="bg1"/>
                </a:solidFill>
              </a:rPr>
              <a:t>dT / r</a:t>
            </a:r>
            <a:r>
              <a:rPr lang="en-US" sz="1200" b="1" baseline="-40000" dirty="0">
                <a:solidFill>
                  <a:schemeClr val="bg1"/>
                </a:solidFill>
              </a:rPr>
              <a:t>ah</a:t>
            </a:r>
            <a:endParaRPr lang="en-US" sz="1200" dirty="0"/>
          </a:p>
        </p:txBody>
      </p:sp>
      <p:sp>
        <p:nvSpPr>
          <p:cNvPr id="22" name="arrow"/>
          <p:cNvSpPr/>
          <p:nvPr/>
        </p:nvSpPr>
        <p:spPr>
          <a:xfrm>
            <a:off x="8321040" y="4937760"/>
            <a:ext cx="0" cy="201168"/>
          </a:xfrm>
          <a:prstGeom prst="line">
            <a:avLst/>
          </a:prstGeom>
          <a:noFill/>
          <a:ln w="25400">
            <a:solidFill>
              <a:srgbClr val="1E2430"/>
            </a:solidFill>
            <a:prstDash val="solid"/>
            <a:tailEnd type="triangle"/>
          </a:ln>
        </p:spPr>
      </p:sp>
      <p:sp>
        <p:nvSpPr>
          <p:cNvPr id="23" name="diagram box"/>
          <p:cNvSpPr/>
          <p:nvPr/>
        </p:nvSpPr>
        <p:spPr>
          <a:xfrm>
            <a:off x="6949440" y="5148072"/>
            <a:ext cx="2743200" cy="621792"/>
          </a:xfrm>
          <a:prstGeom prst="roundRect">
            <a:avLst>
              <a:gd name="adj" fmla="val 11765"/>
            </a:avLst>
          </a:prstGeom>
          <a:solidFill>
            <a:srgbClr val="6C4F9E"/>
          </a:solidFill>
          <a:ln/>
        </p:spPr>
      </p:sp>
      <p:sp>
        <p:nvSpPr>
          <p:cNvPr id="24" name="Text 21"/>
          <p:cNvSpPr txBox="1"/>
          <p:nvPr/>
        </p:nvSpPr>
        <p:spPr>
          <a:xfrm>
            <a:off x="6949440" y="5148072"/>
            <a:ext cx="2743200" cy="621792"/>
          </a:xfrm>
          <a:prstGeom prst="rect">
            <a:avLst/>
          </a:prstGeom>
          <a:noFill/>
          <a:ln/>
        </p:spPr>
        <p:txBody>
          <a:bodyPr wrap="square" lIns="508" tIns="508" rIns="508" bIns="508" rtlCol="0" anchor="ctr"/>
          <a:lstStyle/>
          <a:p>
            <a:pPr algn="ctr" indent="0" marL="0">
              <a:buNone/>
            </a:pPr>
            <a:r>
              <a:rPr lang="en-US" sz="1200" b="1" dirty="0">
                <a:solidFill>
                  <a:schemeClr val="bg1"/>
                </a:solidFill>
              </a:rPr>
              <a:t>L from u</a:t>
            </a:r>
            <a:r>
              <a:rPr lang="en-US" sz="1200" b="1" baseline="-40000" dirty="0">
                <a:solidFill>
                  <a:schemeClr val="bg1"/>
                </a:solidFill>
              </a:rPr>
              <a:t>*</a:t>
            </a:r>
            <a:r>
              <a:rPr lang="en-US" sz="1200" b="1" dirty="0">
                <a:solidFill>
                  <a:schemeClr val="bg1"/>
                </a:solidFill>
              </a:rPr>
              <a:t>, H → ψ</a:t>
            </a:r>
            <a:r>
              <a:rPr lang="en-US" sz="1200" b="1" baseline="-40000" dirty="0">
                <a:solidFill>
                  <a:schemeClr val="bg1"/>
                </a:solidFill>
              </a:rPr>
              <a:t>m</a:t>
            </a:r>
            <a:r>
              <a:rPr lang="en-US" sz="1200" b="1" dirty="0">
                <a:solidFill>
                  <a:schemeClr val="bg1"/>
                </a:solidFill>
              </a:rPr>
              <a:t>, ψ</a:t>
            </a:r>
            <a:r>
              <a:rPr lang="en-US" sz="1200" b="1" baseline="-40000" dirty="0">
                <a:solidFill>
                  <a:schemeClr val="bg1"/>
                </a:solidFill>
              </a:rPr>
              <a:t>h</a:t>
            </a:r>
            <a:endParaRPr lang="en-US" sz="1200" dirty="0"/>
          </a:p>
        </p:txBody>
      </p:sp>
      <p:sp>
        <p:nvSpPr>
          <p:cNvPr id="25" name="arrow"/>
          <p:cNvSpPr/>
          <p:nvPr/>
        </p:nvSpPr>
        <p:spPr>
          <a:xfrm>
            <a:off x="9692640" y="5458968"/>
            <a:ext cx="502920" cy="0"/>
          </a:xfrm>
          <a:prstGeom prst="line">
            <a:avLst/>
          </a:prstGeom>
          <a:noFill/>
          <a:ln w="25400">
            <a:solidFill>
              <a:srgbClr val="C0702A"/>
            </a:solidFill>
            <a:prstDash val="solid"/>
          </a:ln>
        </p:spPr>
      </p:sp>
      <p:sp>
        <p:nvSpPr>
          <p:cNvPr id="26" name="arrow"/>
          <p:cNvSpPr/>
          <p:nvPr/>
        </p:nvSpPr>
        <p:spPr>
          <a:xfrm flipV="1">
            <a:off x="10195560" y="2935224"/>
            <a:ext cx="0" cy="2523744"/>
          </a:xfrm>
          <a:prstGeom prst="line">
            <a:avLst/>
          </a:prstGeom>
          <a:noFill/>
          <a:ln w="25400">
            <a:solidFill>
              <a:srgbClr val="C0702A"/>
            </a:solidFill>
            <a:prstDash val="solid"/>
          </a:ln>
        </p:spPr>
      </p:sp>
      <p:sp>
        <p:nvSpPr>
          <p:cNvPr id="27" name="arrow"/>
          <p:cNvSpPr/>
          <p:nvPr/>
        </p:nvSpPr>
        <p:spPr>
          <a:xfrm flipH="1">
            <a:off x="9701784" y="2935224"/>
            <a:ext cx="493776" cy="0"/>
          </a:xfrm>
          <a:prstGeom prst="line">
            <a:avLst/>
          </a:prstGeom>
          <a:noFill/>
          <a:ln w="25400">
            <a:solidFill>
              <a:srgbClr val="C0702A"/>
            </a:solidFill>
            <a:prstDash val="solid"/>
            <a:tailEnd type="triangle"/>
          </a:ln>
        </p:spPr>
      </p:sp>
      <p:sp>
        <p:nvSpPr>
          <p:cNvPr id="28" name="Text 25"/>
          <p:cNvSpPr txBox="1"/>
          <p:nvPr/>
        </p:nvSpPr>
        <p:spPr>
          <a:xfrm>
            <a:off x="10259568" y="3291840"/>
            <a:ext cx="1325880" cy="640080"/>
          </a:xfrm>
          <a:prstGeom prst="rect">
            <a:avLst/>
          </a:prstGeom>
          <a:noFill/>
          <a:ln/>
        </p:spPr>
        <p:txBody>
          <a:bodyPr wrap="square" lIns="0" tIns="0" rIns="0" bIns="0" rtlCol="0" anchor="ctr"/>
          <a:lstStyle/>
          <a:p>
            <a:pPr algn="l" indent="0" marL="0">
              <a:buNone/>
            </a:pPr>
            <a:r>
              <a:rPr lang="en-US" sz="1100" b="1" dirty="0">
                <a:solidFill>
                  <a:schemeClr val="accent4"/>
                </a:solidFill>
              </a:rPr>
              <a:t>repeat 3–4× until H stable</a:t>
            </a:r>
            <a:endParaRPr lang="en-US" sz="1100" dirty="0"/>
          </a:p>
        </p:txBody>
      </p:sp>
      <p:sp>
        <p:nvSpPr>
          <p:cNvPr id="29" name="Text 26"/>
          <p:cNvSpPr txBox="1"/>
          <p:nvPr/>
        </p:nvSpPr>
        <p:spPr>
          <a:xfrm>
            <a:off x="6812280" y="5760720"/>
            <a:ext cx="4709160" cy="320040"/>
          </a:xfrm>
          <a:prstGeom prst="rect">
            <a:avLst/>
          </a:prstGeom>
          <a:noFill/>
          <a:ln/>
        </p:spPr>
        <p:txBody>
          <a:bodyPr wrap="square" lIns="0" tIns="0" rIns="0" bIns="0" rtlCol="0" anchor="ctr"/>
          <a:lstStyle/>
          <a:p>
            <a:pPr algn="ctr" indent="0" marL="0">
              <a:buNone/>
            </a:pPr>
            <a:r>
              <a:rPr lang="en-US" sz="1100" i="1" dirty="0">
                <a:solidFill>
                  <a:schemeClr val="accent6"/>
                </a:solidFill>
              </a:rPr>
              <a:t>Unstable daytime → ψ &gt; 0 → lower r</a:t>
            </a:r>
            <a:r>
              <a:rPr lang="en-US" sz="1100" i="1" baseline="-40000" dirty="0">
                <a:solidFill>
                  <a:schemeClr val="accent6"/>
                </a:solidFill>
              </a:rPr>
              <a:t>ah</a:t>
            </a:r>
            <a:r>
              <a:rPr lang="en-US" sz="1100" i="1" dirty="0">
                <a:solidFill>
                  <a:schemeClr val="accent6"/>
                </a:solidFill>
              </a:rPr>
              <a:t> → larger H</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Wind profile, roughness and the kB⁻¹ problem</a:t>
            </a:r>
            <a:endParaRPr lang="en-US" sz="3200" dirty="0"/>
          </a:p>
        </p:txBody>
      </p:sp>
      <p:sp>
        <p:nvSpPr>
          <p:cNvPr id="4" name="card"/>
          <p:cNvSpPr/>
          <p:nvPr/>
        </p:nvSpPr>
        <p:spPr>
          <a:xfrm>
            <a:off x="548640" y="1280160"/>
            <a:ext cx="512064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4754880" cy="320040"/>
          </a:xfrm>
          <a:prstGeom prst="rect">
            <a:avLst/>
          </a:prstGeom>
          <a:noFill/>
          <a:ln/>
        </p:spPr>
        <p:txBody>
          <a:bodyPr wrap="square" lIns="0" tIns="0" rIns="0" bIns="0" rtlCol="0" anchor="ctr"/>
          <a:lstStyle/>
          <a:p>
            <a:pPr algn="l" indent="0" marL="0">
              <a:buNone/>
            </a:pPr>
            <a:r>
              <a:rPr lang="en-US" sz="1300" b="1" dirty="0">
                <a:solidFill>
                  <a:schemeClr val="tx2"/>
                </a:solidFill>
              </a:rPr>
              <a:t>Logarithmic wind profile</a:t>
            </a:r>
            <a:endParaRPr lang="en-US" sz="1300" dirty="0"/>
          </a:p>
        </p:txBody>
      </p:sp>
      <p:sp>
        <p:nvSpPr>
          <p:cNvPr id="6" name="arrow"/>
          <p:cNvSpPr/>
          <p:nvPr/>
        </p:nvSpPr>
        <p:spPr>
          <a:xfrm>
            <a:off x="1280160" y="5669280"/>
            <a:ext cx="4023360" cy="0"/>
          </a:xfrm>
          <a:prstGeom prst="line">
            <a:avLst/>
          </a:prstGeom>
          <a:noFill/>
          <a:ln w="19050">
            <a:solidFill>
              <a:srgbClr val="1E2430"/>
            </a:solidFill>
            <a:prstDash val="solid"/>
          </a:ln>
        </p:spPr>
      </p:sp>
      <p:sp>
        <p:nvSpPr>
          <p:cNvPr id="7" name="arrow"/>
          <p:cNvSpPr/>
          <p:nvPr/>
        </p:nvSpPr>
        <p:spPr>
          <a:xfrm flipV="1">
            <a:off x="1280160" y="1737360"/>
            <a:ext cx="0" cy="3931920"/>
          </a:xfrm>
          <a:prstGeom prst="line">
            <a:avLst/>
          </a:prstGeom>
          <a:noFill/>
          <a:ln w="19050">
            <a:solidFill>
              <a:srgbClr val="1E2430"/>
            </a:solidFill>
            <a:prstDash val="solid"/>
          </a:ln>
        </p:spPr>
      </p:sp>
      <p:sp>
        <p:nvSpPr>
          <p:cNvPr id="8" name="arrow"/>
          <p:cNvSpPr/>
          <p:nvPr/>
        </p:nvSpPr>
        <p:spPr>
          <a:xfrm flipV="1">
            <a:off x="1463040" y="4480560"/>
            <a:ext cx="0" cy="1188720"/>
          </a:xfrm>
          <a:prstGeom prst="line">
            <a:avLst/>
          </a:prstGeom>
          <a:noFill/>
          <a:ln w="38100">
            <a:solidFill>
              <a:srgbClr val="2E7D4F"/>
            </a:solidFill>
            <a:prstDash val="solid"/>
          </a:ln>
        </p:spPr>
      </p:sp>
      <p:sp>
        <p:nvSpPr>
          <p:cNvPr id="9" name="arrow"/>
          <p:cNvSpPr/>
          <p:nvPr/>
        </p:nvSpPr>
        <p:spPr>
          <a:xfrm flipV="1">
            <a:off x="2011680" y="4480560"/>
            <a:ext cx="0" cy="1188720"/>
          </a:xfrm>
          <a:prstGeom prst="line">
            <a:avLst/>
          </a:prstGeom>
          <a:noFill/>
          <a:ln w="38100">
            <a:solidFill>
              <a:srgbClr val="2E7D4F"/>
            </a:solidFill>
            <a:prstDash val="solid"/>
          </a:ln>
        </p:spPr>
      </p:sp>
      <p:sp>
        <p:nvSpPr>
          <p:cNvPr id="10" name="arrow"/>
          <p:cNvSpPr/>
          <p:nvPr/>
        </p:nvSpPr>
        <p:spPr>
          <a:xfrm flipV="1">
            <a:off x="2560320" y="4480560"/>
            <a:ext cx="0" cy="1188720"/>
          </a:xfrm>
          <a:prstGeom prst="line">
            <a:avLst/>
          </a:prstGeom>
          <a:noFill/>
          <a:ln w="38100">
            <a:solidFill>
              <a:srgbClr val="2E7D4F"/>
            </a:solidFill>
            <a:prstDash val="solid"/>
          </a:ln>
        </p:spPr>
      </p:sp>
      <p:sp>
        <p:nvSpPr>
          <p:cNvPr id="11" name="arrow"/>
          <p:cNvSpPr/>
          <p:nvPr/>
        </p:nvSpPr>
        <p:spPr>
          <a:xfrm flipV="1">
            <a:off x="3108960" y="4480560"/>
            <a:ext cx="0" cy="1188720"/>
          </a:xfrm>
          <a:prstGeom prst="line">
            <a:avLst/>
          </a:prstGeom>
          <a:noFill/>
          <a:ln w="38100">
            <a:solidFill>
              <a:srgbClr val="2E7D4F"/>
            </a:solidFill>
            <a:prstDash val="solid"/>
          </a:ln>
        </p:spPr>
      </p:sp>
      <p:sp>
        <p:nvSpPr>
          <p:cNvPr id="12" name="arrow"/>
          <p:cNvSpPr/>
          <p:nvPr/>
        </p:nvSpPr>
        <p:spPr>
          <a:xfrm flipV="1">
            <a:off x="3657600" y="4480560"/>
            <a:ext cx="0" cy="1188720"/>
          </a:xfrm>
          <a:prstGeom prst="line">
            <a:avLst/>
          </a:prstGeom>
          <a:noFill/>
          <a:ln w="38100">
            <a:solidFill>
              <a:srgbClr val="2E7D4F"/>
            </a:solidFill>
            <a:prstDash val="solid"/>
          </a:ln>
        </p:spPr>
      </p:sp>
      <p:sp>
        <p:nvSpPr>
          <p:cNvPr id="13" name="arrow"/>
          <p:cNvSpPr/>
          <p:nvPr/>
        </p:nvSpPr>
        <p:spPr>
          <a:xfrm flipV="1">
            <a:off x="4206240" y="4480560"/>
            <a:ext cx="0" cy="1188720"/>
          </a:xfrm>
          <a:prstGeom prst="line">
            <a:avLst/>
          </a:prstGeom>
          <a:noFill/>
          <a:ln w="38100">
            <a:solidFill>
              <a:srgbClr val="2E7D4F"/>
            </a:solidFill>
            <a:prstDash val="solid"/>
          </a:ln>
        </p:spPr>
      </p:sp>
      <p:sp>
        <p:nvSpPr>
          <p:cNvPr id="14" name="arrow"/>
          <p:cNvSpPr/>
          <p:nvPr/>
        </p:nvSpPr>
        <p:spPr>
          <a:xfrm flipV="1">
            <a:off x="4754880" y="4480560"/>
            <a:ext cx="0" cy="1188720"/>
          </a:xfrm>
          <a:prstGeom prst="line">
            <a:avLst/>
          </a:prstGeom>
          <a:noFill/>
          <a:ln w="38100">
            <a:solidFill>
              <a:srgbClr val="2E7D4F"/>
            </a:solidFill>
            <a:prstDash val="solid"/>
          </a:ln>
        </p:spPr>
      </p:sp>
      <p:sp>
        <p:nvSpPr>
          <p:cNvPr id="15" name="arrow"/>
          <p:cNvSpPr/>
          <p:nvPr/>
        </p:nvSpPr>
        <p:spPr>
          <a:xfrm>
            <a:off x="1280160" y="4873752"/>
            <a:ext cx="4023360" cy="0"/>
          </a:xfrm>
          <a:prstGeom prst="line">
            <a:avLst/>
          </a:prstGeom>
          <a:noFill/>
          <a:ln w="12700">
            <a:solidFill>
              <a:srgbClr val="5C6B73"/>
            </a:solidFill>
            <a:prstDash val="dash"/>
          </a:ln>
        </p:spPr>
      </p:sp>
      <p:sp>
        <p:nvSpPr>
          <p:cNvPr id="16" name="Text 13"/>
          <p:cNvSpPr txBox="1"/>
          <p:nvPr/>
        </p:nvSpPr>
        <p:spPr>
          <a:xfrm>
            <a:off x="4389120" y="4892040"/>
            <a:ext cx="914400" cy="256032"/>
          </a:xfrm>
          <a:prstGeom prst="rect">
            <a:avLst/>
          </a:prstGeom>
          <a:noFill/>
          <a:ln/>
        </p:spPr>
        <p:txBody>
          <a:bodyPr wrap="square" lIns="0" tIns="0" rIns="0" bIns="0" rtlCol="0" anchor="ctr"/>
          <a:lstStyle/>
          <a:p>
            <a:pPr algn="l" indent="0" marL="0">
              <a:buNone/>
            </a:pPr>
            <a:r>
              <a:rPr lang="en-US" sz="1050" dirty="0">
                <a:solidFill>
                  <a:schemeClr val="accent6"/>
                </a:solidFill>
              </a:rPr>
              <a:t>d ≈ 0.67h</a:t>
            </a:r>
            <a:endParaRPr lang="en-US" sz="1050" dirty="0"/>
          </a:p>
        </p:txBody>
      </p:sp>
      <p:sp>
        <p:nvSpPr>
          <p:cNvPr id="17" name="arrow"/>
          <p:cNvSpPr/>
          <p:nvPr/>
        </p:nvSpPr>
        <p:spPr>
          <a:xfrm>
            <a:off x="1280160" y="4709160"/>
            <a:ext cx="4023360" cy="0"/>
          </a:xfrm>
          <a:prstGeom prst="line">
            <a:avLst/>
          </a:prstGeom>
          <a:noFill/>
          <a:ln w="15875">
            <a:solidFill>
              <a:srgbClr val="C0702A"/>
            </a:solidFill>
            <a:prstDash val="dash"/>
          </a:ln>
        </p:spPr>
      </p:sp>
      <p:sp>
        <p:nvSpPr>
          <p:cNvPr id="18" name="Text 15"/>
          <p:cNvSpPr txBox="1"/>
          <p:nvPr/>
        </p:nvSpPr>
        <p:spPr>
          <a:xfrm>
            <a:off x="3840480" y="4434840"/>
            <a:ext cx="1463040" cy="256032"/>
          </a:xfrm>
          <a:prstGeom prst="rect">
            <a:avLst/>
          </a:prstGeom>
          <a:noFill/>
          <a:ln/>
        </p:spPr>
        <p:txBody>
          <a:bodyPr wrap="square" lIns="0" tIns="0" rIns="0" bIns="0" rtlCol="0" anchor="ctr"/>
          <a:lstStyle/>
          <a:p>
            <a:pPr algn="l" indent="0" marL="0">
              <a:buNone/>
            </a:pPr>
            <a:r>
              <a:rPr lang="en-US" sz="1050" b="1" dirty="0">
                <a:solidFill>
                  <a:schemeClr val="accent4"/>
                </a:solidFill>
              </a:rPr>
              <a:t>d + z</a:t>
            </a:r>
            <a:r>
              <a:rPr lang="en-US" sz="1050" b="1" baseline="-40000" dirty="0">
                <a:solidFill>
                  <a:schemeClr val="accent4"/>
                </a:solidFill>
              </a:rPr>
              <a:t>0m</a:t>
            </a:r>
            <a:r>
              <a:rPr lang="en-US" sz="1050" b="1" dirty="0">
                <a:solidFill>
                  <a:schemeClr val="accent4"/>
                </a:solidFill>
              </a:rPr>
              <a:t>: u = 0</a:t>
            </a:r>
            <a:endParaRPr lang="en-US" sz="1050" dirty="0"/>
          </a:p>
        </p:txBody>
      </p:sp>
      <p:sp>
        <p:nvSpPr>
          <p:cNvPr id="19" name="arrow"/>
          <p:cNvSpPr/>
          <p:nvPr/>
        </p:nvSpPr>
        <p:spPr>
          <a:xfrm flipV="1">
            <a:off x="1280160" y="4480560"/>
            <a:ext cx="548640" cy="228600"/>
          </a:xfrm>
          <a:prstGeom prst="line">
            <a:avLst/>
          </a:prstGeom>
          <a:noFill/>
          <a:ln w="38100">
            <a:solidFill>
              <a:srgbClr val="3B6EA5"/>
            </a:solidFill>
            <a:prstDash val="solid"/>
          </a:ln>
        </p:spPr>
      </p:sp>
      <p:sp>
        <p:nvSpPr>
          <p:cNvPr id="20" name="arrow"/>
          <p:cNvSpPr/>
          <p:nvPr/>
        </p:nvSpPr>
        <p:spPr>
          <a:xfrm flipV="1">
            <a:off x="1828800" y="4069080"/>
            <a:ext cx="640080" cy="411480"/>
          </a:xfrm>
          <a:prstGeom prst="line">
            <a:avLst/>
          </a:prstGeom>
          <a:noFill/>
          <a:ln w="38100">
            <a:solidFill>
              <a:srgbClr val="3B6EA5"/>
            </a:solidFill>
            <a:prstDash val="solid"/>
          </a:ln>
        </p:spPr>
      </p:sp>
      <p:sp>
        <p:nvSpPr>
          <p:cNvPr id="21" name="arrow"/>
          <p:cNvSpPr/>
          <p:nvPr/>
        </p:nvSpPr>
        <p:spPr>
          <a:xfrm flipV="1">
            <a:off x="2468880" y="3429000"/>
            <a:ext cx="548640" cy="640080"/>
          </a:xfrm>
          <a:prstGeom prst="line">
            <a:avLst/>
          </a:prstGeom>
          <a:noFill/>
          <a:ln w="38100">
            <a:solidFill>
              <a:srgbClr val="3B6EA5"/>
            </a:solidFill>
            <a:prstDash val="solid"/>
          </a:ln>
        </p:spPr>
      </p:sp>
      <p:sp>
        <p:nvSpPr>
          <p:cNvPr id="22" name="arrow"/>
          <p:cNvSpPr/>
          <p:nvPr/>
        </p:nvSpPr>
        <p:spPr>
          <a:xfrm flipV="1">
            <a:off x="3017520" y="2697480"/>
            <a:ext cx="457200" cy="731520"/>
          </a:xfrm>
          <a:prstGeom prst="line">
            <a:avLst/>
          </a:prstGeom>
          <a:noFill/>
          <a:ln w="38100">
            <a:solidFill>
              <a:srgbClr val="3B6EA5"/>
            </a:solidFill>
            <a:prstDash val="solid"/>
          </a:ln>
        </p:spPr>
      </p:sp>
      <p:sp>
        <p:nvSpPr>
          <p:cNvPr id="23" name="arrow"/>
          <p:cNvSpPr/>
          <p:nvPr/>
        </p:nvSpPr>
        <p:spPr>
          <a:xfrm flipV="1">
            <a:off x="3474720" y="1965960"/>
            <a:ext cx="365760" cy="731520"/>
          </a:xfrm>
          <a:prstGeom prst="line">
            <a:avLst/>
          </a:prstGeom>
          <a:noFill/>
          <a:ln w="38100">
            <a:solidFill>
              <a:srgbClr val="3B6EA5"/>
            </a:solidFill>
            <a:prstDash val="solid"/>
          </a:ln>
        </p:spPr>
      </p:sp>
      <p:sp>
        <p:nvSpPr>
          <p:cNvPr id="24" name="Text 21"/>
          <p:cNvSpPr txBox="1"/>
          <p:nvPr/>
        </p:nvSpPr>
        <p:spPr>
          <a:xfrm>
            <a:off x="3886200" y="1874520"/>
            <a:ext cx="548640" cy="274320"/>
          </a:xfrm>
          <a:prstGeom prst="rect">
            <a:avLst/>
          </a:prstGeom>
          <a:noFill/>
          <a:ln/>
        </p:spPr>
        <p:txBody>
          <a:bodyPr wrap="square" lIns="0" tIns="0" rIns="0" bIns="0" rtlCol="0" anchor="ctr"/>
          <a:lstStyle/>
          <a:p>
            <a:pPr algn="l" indent="0" marL="0">
              <a:buNone/>
            </a:pPr>
            <a:r>
              <a:rPr lang="en-US" sz="1200" b="1" dirty="0">
                <a:solidFill>
                  <a:schemeClr val="accent2"/>
                </a:solidFill>
              </a:rPr>
              <a:t>u(z)</a:t>
            </a:r>
            <a:endParaRPr lang="en-US" sz="1200" dirty="0"/>
          </a:p>
        </p:txBody>
      </p:sp>
      <p:sp>
        <p:nvSpPr>
          <p:cNvPr id="25" name="Text 22"/>
          <p:cNvSpPr txBox="1"/>
          <p:nvPr/>
        </p:nvSpPr>
        <p:spPr>
          <a:xfrm>
            <a:off x="4023360" y="5696712"/>
            <a:ext cx="1280160" cy="256032"/>
          </a:xfrm>
          <a:prstGeom prst="rect">
            <a:avLst/>
          </a:prstGeom>
          <a:noFill/>
          <a:ln/>
        </p:spPr>
        <p:txBody>
          <a:bodyPr wrap="square" lIns="0" tIns="0" rIns="0" bIns="0" rtlCol="0" anchor="ctr"/>
          <a:lstStyle/>
          <a:p>
            <a:pPr algn="r" indent="0" marL="0">
              <a:buNone/>
            </a:pPr>
            <a:r>
              <a:rPr lang="en-US" sz="1050" dirty="0">
                <a:solidFill>
                  <a:schemeClr val="accent6"/>
                </a:solidFill>
              </a:rPr>
              <a:t>wind speed →</a:t>
            </a:r>
            <a:endParaRPr lang="en-US" sz="1050" dirty="0"/>
          </a:p>
        </p:txBody>
      </p:sp>
      <p:sp>
        <p:nvSpPr>
          <p:cNvPr id="26" name="Text 23"/>
          <p:cNvSpPr txBox="1"/>
          <p:nvPr/>
        </p:nvSpPr>
        <p:spPr>
          <a:xfrm>
            <a:off x="1005840" y="1691640"/>
            <a:ext cx="274320" cy="274320"/>
          </a:xfrm>
          <a:prstGeom prst="rect">
            <a:avLst/>
          </a:prstGeom>
          <a:noFill/>
          <a:ln/>
        </p:spPr>
        <p:txBody>
          <a:bodyPr wrap="square" lIns="0" tIns="0" rIns="0" bIns="0" rtlCol="0" anchor="ctr"/>
          <a:lstStyle/>
          <a:p>
            <a:pPr algn="l" indent="0" marL="0">
              <a:buNone/>
            </a:pPr>
            <a:r>
              <a:rPr lang="en-US" sz="1200" b="1" dirty="0">
                <a:solidFill>
                  <a:schemeClr val="tx1"/>
                </a:solidFill>
              </a:rPr>
              <a:t>z</a:t>
            </a:r>
            <a:endParaRPr lang="en-US" sz="1200" dirty="0"/>
          </a:p>
        </p:txBody>
      </p:sp>
      <p:sp>
        <p:nvSpPr>
          <p:cNvPr id="27" name="Text 24"/>
          <p:cNvSpPr txBox="1"/>
          <p:nvPr/>
        </p:nvSpPr>
        <p:spPr>
          <a:xfrm>
            <a:off x="4937760" y="4251960"/>
            <a:ext cx="914400" cy="256032"/>
          </a:xfrm>
          <a:prstGeom prst="rect">
            <a:avLst/>
          </a:prstGeom>
          <a:noFill/>
          <a:ln/>
        </p:spPr>
        <p:txBody>
          <a:bodyPr wrap="square" lIns="0" tIns="0" rIns="0" bIns="0" rtlCol="0" anchor="ctr"/>
          <a:lstStyle/>
          <a:p>
            <a:pPr algn="l" indent="0" marL="0">
              <a:buNone/>
            </a:pPr>
            <a:r>
              <a:rPr lang="en-US" sz="1050" dirty="0">
                <a:solidFill>
                  <a:schemeClr val="accent1"/>
                </a:solidFill>
              </a:rPr>
              <a:t>canopy h</a:t>
            </a:r>
            <a:endParaRPr lang="en-US" sz="1050" dirty="0"/>
          </a:p>
        </p:txBody>
      </p:sp>
      <p:sp>
        <p:nvSpPr>
          <p:cNvPr id="28" name="card"/>
          <p:cNvSpPr/>
          <p:nvPr/>
        </p:nvSpPr>
        <p:spPr>
          <a:xfrm>
            <a:off x="5897880" y="1280160"/>
            <a:ext cx="5742432"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6035040" y="1280160"/>
            <a:ext cx="5468112" cy="731520"/>
          </a:xfrm>
          <a:prstGeom prst="rect">
            <a:avLst/>
          </a:prstGeom>
          <a:noFill/>
          <a:ln/>
        </p:spPr>
        <p:txBody>
          <a:bodyPr wrap="square" lIns="0" tIns="0" rIns="0" bIns="0" rtlCol="0" anchor="ctr"/>
          <a:lstStyle/>
          <a:p>
            <a:pPr algn="ctr" indent="0" marL="0">
              <a:buNone/>
            </a:pPr>
            <a:r>
              <a:rPr lang="en-US" sz="1600" b="1" dirty="0">
                <a:solidFill>
                  <a:schemeClr val="bg1"/>
                </a:solidFill>
              </a:rPr>
              <a:t>u(z) = (u</a:t>
            </a:r>
            <a:r>
              <a:rPr lang="en-US" sz="1600" b="1" baseline="-40000" dirty="0">
                <a:solidFill>
                  <a:schemeClr val="bg1"/>
                </a:solidFill>
              </a:rPr>
              <a:t>*</a:t>
            </a:r>
            <a:r>
              <a:rPr lang="en-US" sz="1600" b="1" dirty="0">
                <a:solidFill>
                  <a:schemeClr val="bg1"/>
                </a:solidFill>
              </a:rPr>
              <a:t>/k)·[ln((z − d)/z</a:t>
            </a:r>
            <a:r>
              <a:rPr lang="en-US" sz="1600" b="1" baseline="-40000" dirty="0">
                <a:solidFill>
                  <a:schemeClr val="bg1"/>
                </a:solidFill>
              </a:rPr>
              <a:t>0m</a:t>
            </a:r>
            <a:r>
              <a:rPr lang="en-US" sz="1600" b="1" dirty="0">
                <a:solidFill>
                  <a:schemeClr val="bg1"/>
                </a:solidFill>
              </a:rPr>
              <a:t>) − ψ</a:t>
            </a:r>
            <a:r>
              <a:rPr lang="en-US" sz="1600" b="1" baseline="-40000" dirty="0">
                <a:solidFill>
                  <a:schemeClr val="bg1"/>
                </a:solidFill>
              </a:rPr>
              <a:t>m</a:t>
            </a:r>
            <a:r>
              <a:rPr lang="en-US" sz="1600" b="1" dirty="0">
                <a:solidFill>
                  <a:schemeClr val="bg1"/>
                </a:solidFill>
              </a:rPr>
              <a:t>],  k = 0.41</a:t>
            </a:r>
            <a:endParaRPr lang="en-US" sz="1600" dirty="0"/>
          </a:p>
        </p:txBody>
      </p:sp>
      <p:sp>
        <p:nvSpPr>
          <p:cNvPr id="30" name="card"/>
          <p:cNvSpPr/>
          <p:nvPr/>
        </p:nvSpPr>
        <p:spPr>
          <a:xfrm>
            <a:off x="5897880" y="2148840"/>
            <a:ext cx="2798064"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31" name="Text 28"/>
          <p:cNvSpPr txBox="1"/>
          <p:nvPr/>
        </p:nvSpPr>
        <p:spPr>
          <a:xfrm>
            <a:off x="6080760" y="2286000"/>
            <a:ext cx="2478024" cy="365760"/>
          </a:xfrm>
          <a:prstGeom prst="rect">
            <a:avLst/>
          </a:prstGeom>
          <a:noFill/>
          <a:ln/>
        </p:spPr>
        <p:txBody>
          <a:bodyPr wrap="square" lIns="0" tIns="0" rIns="0" bIns="0" rtlCol="0" anchor="ctr"/>
          <a:lstStyle/>
          <a:p>
            <a:pPr indent="0" marL="0">
              <a:buNone/>
            </a:pPr>
            <a:r>
              <a:rPr lang="en-US" sz="1350" b="1" dirty="0">
                <a:solidFill>
                  <a:schemeClr val="tx2"/>
                </a:solidFill>
              </a:rPr>
              <a:t>Momentum</a:t>
            </a:r>
            <a:endParaRPr lang="en-US" sz="1350" dirty="0"/>
          </a:p>
        </p:txBody>
      </p:sp>
      <p:sp>
        <p:nvSpPr>
          <p:cNvPr id="32" name="Text 29"/>
          <p:cNvSpPr txBox="1"/>
          <p:nvPr/>
        </p:nvSpPr>
        <p:spPr>
          <a:xfrm>
            <a:off x="6080760" y="2697480"/>
            <a:ext cx="2432304" cy="14173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d ≈ 0.67h</a:t>
            </a:r>
            <a:endParaRPr lang="en-US" sz="1200" dirty="0"/>
          </a:p>
          <a:p>
            <a:pPr indent="0" marL="0">
              <a:spcAft>
                <a:spcPts val="400"/>
              </a:spcAft>
              <a:buNone/>
            </a:pPr>
            <a:r>
              <a:rPr lang="en-US" sz="1200" dirty="0">
                <a:solidFill>
                  <a:schemeClr val="tx1"/>
                </a:solidFill>
              </a:rPr>
              <a:t>z</a:t>
            </a:r>
            <a:r>
              <a:rPr lang="en-US" sz="1200" baseline="-40000" dirty="0">
                <a:solidFill>
                  <a:schemeClr val="tx1"/>
                </a:solidFill>
              </a:rPr>
              <a:t>0m</a:t>
            </a:r>
            <a:r>
              <a:rPr lang="en-US" sz="1200" dirty="0">
                <a:solidFill>
                  <a:schemeClr val="tx1"/>
                </a:solidFill>
              </a:rPr>
              <a:t> ≈ 0.123h (FAO-56)</a:t>
            </a:r>
            <a:endParaRPr lang="en-US" sz="1200" dirty="0"/>
          </a:p>
          <a:p>
            <a:pPr indent="0" marL="0">
              <a:spcAft>
                <a:spcPts val="400"/>
              </a:spcAft>
              <a:buNone/>
            </a:pPr>
            <a:r>
              <a:rPr lang="en-US" sz="1200" dirty="0">
                <a:solidFill>
                  <a:schemeClr val="tx1"/>
                </a:solidFill>
              </a:rPr>
              <a:t>from NDVI, LAI or land cover</a:t>
            </a:r>
            <a:endParaRPr lang="en-US" sz="1200" dirty="0"/>
          </a:p>
        </p:txBody>
      </p:sp>
      <p:sp>
        <p:nvSpPr>
          <p:cNvPr id="33" name="card"/>
          <p:cNvSpPr/>
          <p:nvPr/>
        </p:nvSpPr>
        <p:spPr>
          <a:xfrm>
            <a:off x="8842248" y="2148840"/>
            <a:ext cx="2798064"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34" name="Text 31"/>
          <p:cNvSpPr txBox="1"/>
          <p:nvPr/>
        </p:nvSpPr>
        <p:spPr>
          <a:xfrm>
            <a:off x="9025128" y="2286000"/>
            <a:ext cx="2478024" cy="365760"/>
          </a:xfrm>
          <a:prstGeom prst="rect">
            <a:avLst/>
          </a:prstGeom>
          <a:noFill/>
          <a:ln/>
        </p:spPr>
        <p:txBody>
          <a:bodyPr wrap="square" lIns="0" tIns="0" rIns="0" bIns="0" rtlCol="0" anchor="ctr"/>
          <a:lstStyle/>
          <a:p>
            <a:pPr indent="0" marL="0">
              <a:buNone/>
            </a:pPr>
            <a:r>
              <a:rPr lang="en-US" sz="1350" b="1" dirty="0">
                <a:solidFill>
                  <a:schemeClr val="tx2"/>
                </a:solidFill>
              </a:rPr>
              <a:t>Heat</a:t>
            </a:r>
            <a:endParaRPr lang="en-US" sz="1350" dirty="0"/>
          </a:p>
        </p:txBody>
      </p:sp>
      <p:sp>
        <p:nvSpPr>
          <p:cNvPr id="35" name="Text 32"/>
          <p:cNvSpPr txBox="1"/>
          <p:nvPr/>
        </p:nvSpPr>
        <p:spPr>
          <a:xfrm>
            <a:off x="9025128" y="2697480"/>
            <a:ext cx="2432304" cy="14173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z</a:t>
            </a:r>
            <a:r>
              <a:rPr lang="en-US" sz="1200" baseline="-40000" dirty="0">
                <a:solidFill>
                  <a:schemeClr val="tx1"/>
                </a:solidFill>
              </a:rPr>
              <a:t>0h</a:t>
            </a:r>
            <a:r>
              <a:rPr lang="en-US" sz="1200" dirty="0">
                <a:solidFill>
                  <a:schemeClr val="tx1"/>
                </a:solidFill>
              </a:rPr>
              <a:t> ≈ 0.1·z</a:t>
            </a:r>
            <a:r>
              <a:rPr lang="en-US" sz="1200" baseline="-40000" dirty="0">
                <a:solidFill>
                  <a:schemeClr val="tx1"/>
                </a:solidFill>
              </a:rPr>
              <a:t>0m</a:t>
            </a:r>
            <a:endParaRPr lang="en-US" sz="1200" dirty="0"/>
          </a:p>
          <a:p>
            <a:pPr indent="0" marL="0">
              <a:spcAft>
                <a:spcPts val="400"/>
              </a:spcAft>
              <a:buNone/>
            </a:pPr>
            <a:r>
              <a:rPr lang="en-US" sz="1200" b="1" dirty="0">
                <a:solidFill>
                  <a:schemeClr val="tx1"/>
                </a:solidFill>
              </a:rPr>
              <a:t>kB⁻¹ = ln(z</a:t>
            </a:r>
            <a:r>
              <a:rPr lang="en-US" sz="1200" b="1" baseline="-40000" dirty="0">
                <a:solidFill>
                  <a:schemeClr val="tx1"/>
                </a:solidFill>
              </a:rPr>
              <a:t>0m</a:t>
            </a:r>
            <a:r>
              <a:rPr lang="en-US" sz="1200" b="1" dirty="0">
                <a:solidFill>
                  <a:schemeClr val="tx1"/>
                </a:solidFill>
              </a:rPr>
              <a:t>/z</a:t>
            </a:r>
            <a:r>
              <a:rPr lang="en-US" sz="1200" b="1" baseline="-40000" dirty="0">
                <a:solidFill>
                  <a:schemeClr val="tx1"/>
                </a:solidFill>
              </a:rPr>
              <a:t>0h</a:t>
            </a:r>
            <a:r>
              <a:rPr lang="en-US" sz="1200" b="1" dirty="0">
                <a:solidFill>
                  <a:schemeClr val="tx1"/>
                </a:solidFill>
              </a:rPr>
              <a:t>)</a:t>
            </a:r>
            <a:endParaRPr lang="en-US" sz="1200" dirty="0"/>
          </a:p>
          <a:p>
            <a:pPr indent="0" marL="0">
              <a:spcAft>
                <a:spcPts val="400"/>
              </a:spcAft>
              <a:buNone/>
            </a:pPr>
            <a:r>
              <a:rPr lang="en-US" sz="1200" dirty="0">
                <a:solidFill>
                  <a:schemeClr val="tx1"/>
                </a:solidFill>
              </a:rPr>
              <a:t>≈ 2.3 dense crops; ≫ 2 sparse; &lt; 0 bare soil</a:t>
            </a:r>
            <a:endParaRPr lang="en-US" sz="1200" dirty="0"/>
          </a:p>
        </p:txBody>
      </p:sp>
      <p:sp>
        <p:nvSpPr>
          <p:cNvPr id="36" name="card"/>
          <p:cNvSpPr/>
          <p:nvPr/>
        </p:nvSpPr>
        <p:spPr>
          <a:xfrm>
            <a:off x="5897880" y="4343400"/>
            <a:ext cx="574243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37" name="icon circle"/>
          <p:cNvSpPr/>
          <p:nvPr/>
        </p:nvSpPr>
        <p:spPr>
          <a:xfrm>
            <a:off x="6080760" y="4498848"/>
            <a:ext cx="420624" cy="420624"/>
          </a:xfrm>
          <a:prstGeom prst="ellipse">
            <a:avLst/>
          </a:prstGeom>
          <a:solidFill>
            <a:schemeClr val="accent2"/>
          </a:solidFill>
          <a:ln/>
        </p:spPr>
      </p:sp>
      <p:pic>
        <p:nvPicPr>
          <p:cNvPr id="38" name="Image 0" descr="Wind icon">    </p:cNvPr>
          <p:cNvPicPr>
            <a:picLocks noChangeAspect="1"/>
          </p:cNvPicPr>
          <p:nvPr/>
        </p:nvPicPr>
        <p:blipFill>
          <a:blip r:embed="rId1"/>
          <a:stretch>
            <a:fillRect/>
          </a:stretch>
        </p:blipFill>
        <p:spPr>
          <a:xfrm>
            <a:off x="6190122" y="4608210"/>
            <a:ext cx="201900" cy="201900"/>
          </a:xfrm>
          <a:prstGeom prst="rect">
            <a:avLst/>
          </a:prstGeom>
        </p:spPr>
      </p:pic>
      <p:sp>
        <p:nvSpPr>
          <p:cNvPr id="39" name="Text 35"/>
          <p:cNvSpPr txBox="1"/>
          <p:nvPr/>
        </p:nvSpPr>
        <p:spPr>
          <a:xfrm>
            <a:off x="6611112" y="4480560"/>
            <a:ext cx="4892040" cy="457200"/>
          </a:xfrm>
          <a:prstGeom prst="rect">
            <a:avLst/>
          </a:prstGeom>
          <a:noFill/>
          <a:ln/>
        </p:spPr>
        <p:txBody>
          <a:bodyPr wrap="square" lIns="0" tIns="0" rIns="0" bIns="0" rtlCol="0" anchor="ctr"/>
          <a:lstStyle/>
          <a:p>
            <a:pPr indent="0" marL="0">
              <a:buNone/>
            </a:pPr>
            <a:r>
              <a:rPr lang="en-US" sz="1350" b="1" dirty="0">
                <a:solidFill>
                  <a:schemeClr val="tx2"/>
                </a:solidFill>
              </a:rPr>
              <a:t>Why it matters</a:t>
            </a:r>
            <a:endParaRPr lang="en-US" sz="1350" dirty="0"/>
          </a:p>
        </p:txBody>
      </p:sp>
      <p:sp>
        <p:nvSpPr>
          <p:cNvPr id="40" name="Text 36"/>
          <p:cNvSpPr txBox="1"/>
          <p:nvPr/>
        </p:nvSpPr>
        <p:spPr>
          <a:xfrm>
            <a:off x="6080760" y="5029200"/>
            <a:ext cx="5376672" cy="105156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T</a:t>
            </a:r>
            <a:r>
              <a:rPr lang="en-US" sz="1200" baseline="-40000" dirty="0">
                <a:solidFill>
                  <a:schemeClr val="tx1"/>
                </a:solidFill>
              </a:rPr>
              <a:t>aero</a:t>
            </a:r>
            <a:r>
              <a:rPr lang="en-US" sz="1200" dirty="0">
                <a:solidFill>
                  <a:schemeClr val="tx1"/>
                </a:solidFill>
              </a:rPr>
              <a:t> ≠ T</a:t>
            </a:r>
            <a:r>
              <a:rPr lang="en-US" sz="1200" baseline="-40000" dirty="0">
                <a:solidFill>
                  <a:schemeClr val="tx1"/>
                </a:solidFill>
              </a:rPr>
              <a:t>rad</a:t>
            </a:r>
            <a:r>
              <a:rPr lang="en-US" sz="1200" dirty="0">
                <a:solidFill>
                  <a:schemeClr val="tx1"/>
                </a:solidFill>
              </a:rPr>
              <a:t>: kB⁻¹ absorbs the difference in single-source models</a:t>
            </a:r>
            <a:endParaRPr lang="en-US" sz="1200" dirty="0"/>
          </a:p>
          <a:p>
            <a:pPr marL="177800" indent="-177800">
              <a:spcAft>
                <a:spcPts val="400"/>
              </a:spcAft>
              <a:buSzPct val="100000"/>
              <a:buChar char="•"/>
            </a:pPr>
            <a:r>
              <a:rPr lang="en-US" sz="1200" dirty="0">
                <a:solidFill>
                  <a:schemeClr val="tx1"/>
                </a:solidFill>
              </a:rPr>
              <a:t>SEBAL: dT calibrated at anchors → kB⁻¹ = 2.3 adequate; SEBS: dynamic kB⁻¹; TSEB: not needed</a:t>
            </a:r>
            <a:endParaRPr lang="en-US" sz="1200" dirty="0"/>
          </a:p>
          <a:p>
            <a:pPr marL="177800" indent="-177800">
              <a:spcAft>
                <a:spcPts val="400"/>
              </a:spcAft>
              <a:buSzPct val="100000"/>
              <a:buChar char="•"/>
            </a:pPr>
            <a:r>
              <a:rPr lang="en-US" sz="1200" dirty="0">
                <a:solidFill>
                  <a:schemeClr val="tx1"/>
                </a:solidFill>
              </a:rPr>
              <a:t>Blending height 100–200 m: wind assumed uniform over the scene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Atmospheric stability: Monin–Obukhov similarity</a:t>
            </a:r>
            <a:endParaRPr lang="en-US" sz="3200" dirty="0"/>
          </a:p>
        </p:txBody>
      </p:sp>
      <p:sp>
        <p:nvSpPr>
          <p:cNvPr id="4" name="card"/>
          <p:cNvSpPr/>
          <p:nvPr/>
        </p:nvSpPr>
        <p:spPr>
          <a:xfrm>
            <a:off x="548640" y="1280160"/>
            <a:ext cx="5760720" cy="731520"/>
          </a:xfrm>
          <a:prstGeom prst="roundRect">
            <a:avLst>
              <a:gd name="adj" fmla="val 10000"/>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486400" cy="731520"/>
          </a:xfrm>
          <a:prstGeom prst="rect">
            <a:avLst/>
          </a:prstGeom>
          <a:noFill/>
          <a:ln/>
        </p:spPr>
        <p:txBody>
          <a:bodyPr wrap="square" lIns="0" tIns="0" rIns="0" bIns="0" rtlCol="0" anchor="ctr"/>
          <a:lstStyle/>
          <a:p>
            <a:pPr algn="ctr" indent="0" marL="0">
              <a:buNone/>
            </a:pPr>
            <a:r>
              <a:rPr lang="en-US" sz="1800" b="1" dirty="0">
                <a:solidFill>
                  <a:schemeClr val="bg1"/>
                </a:solidFill>
              </a:rPr>
              <a:t>L = −ρ</a:t>
            </a:r>
            <a:r>
              <a:rPr lang="en-US" sz="1800" b="1" baseline="-40000" dirty="0">
                <a:solidFill>
                  <a:schemeClr val="bg1"/>
                </a:solidFill>
              </a:rPr>
              <a:t>a</a:t>
            </a:r>
            <a:r>
              <a:rPr lang="en-US" sz="1800" b="1" dirty="0">
                <a:solidFill>
                  <a:schemeClr val="bg1"/>
                </a:solidFill>
              </a:rPr>
              <a:t>c</a:t>
            </a:r>
            <a:r>
              <a:rPr lang="en-US" sz="1800" b="1" baseline="-40000" dirty="0">
                <a:solidFill>
                  <a:schemeClr val="bg1"/>
                </a:solidFill>
              </a:rPr>
              <a:t>p</a:t>
            </a:r>
            <a:r>
              <a:rPr lang="en-US" sz="1800" b="1" dirty="0">
                <a:solidFill>
                  <a:schemeClr val="bg1"/>
                </a:solidFill>
              </a:rPr>
              <a:t>u</a:t>
            </a:r>
            <a:r>
              <a:rPr lang="en-US" sz="1800" b="1" baseline="-40000" dirty="0">
                <a:solidFill>
                  <a:schemeClr val="bg1"/>
                </a:solidFill>
              </a:rPr>
              <a:t>*</a:t>
            </a:r>
            <a:r>
              <a:rPr lang="en-US" sz="1800" b="1" dirty="0">
                <a:solidFill>
                  <a:schemeClr val="bg1"/>
                </a:solidFill>
              </a:rPr>
              <a:t>³T</a:t>
            </a:r>
            <a:r>
              <a:rPr lang="en-US" sz="1800" b="1" baseline="-40000" dirty="0">
                <a:solidFill>
                  <a:schemeClr val="bg1"/>
                </a:solidFill>
              </a:rPr>
              <a:t>a</a:t>
            </a:r>
            <a:r>
              <a:rPr lang="en-US" sz="1800" b="1" dirty="0">
                <a:solidFill>
                  <a:schemeClr val="bg1"/>
                </a:solidFill>
              </a:rPr>
              <a:t> / (k·g·H)</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760720" cy="914400"/>
        </p:xfrm>
        <a:graphic>
          <a:graphicData uri="http://schemas.openxmlformats.org/drawingml/2006/table">
            <a:tbl>
              <a:tblPr/>
              <a:tblGrid>
                <a:gridCol w="1051560"/>
                <a:gridCol w="1188720"/>
                <a:gridCol w="2240280"/>
                <a:gridCol w="1280160"/>
              </a:tblGrid>
              <a:tr h="4572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 ζ = z/L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Typical case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Effect on resistance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Unstable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 &lt; 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Sunny day, dry warm surface (H &gt; 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 lower, larger fluxes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Neutral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 → ∞, ψ = 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Overcast, windy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log profile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100" b="1" dirty="0">
                          <a:solidFill>
                            <a:schemeClr val="tx2"/>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 &gt; 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Night; irrigated field under advection (H &lt; 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 higher, damped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7" name="card"/>
          <p:cNvSpPr/>
          <p:nvPr/>
        </p:nvSpPr>
        <p:spPr>
          <a:xfrm>
            <a:off x="6492240" y="1280160"/>
            <a:ext cx="5148072" cy="2697480"/>
          </a:xfrm>
          <a:prstGeom prst="roundRect">
            <a:avLst>
              <a:gd name="adj" fmla="val 2712"/>
            </a:avLst>
          </a:prstGeom>
          <a:solidFill>
            <a:schemeClr val="bg2"/>
          </a:solidFill>
          <a:ln/>
          <a:effectLst>
            <a:outerShdw sx="100000" sy="100000" kx="0" ky="0" algn="bl" rotWithShape="0" blurRad="76200" dist="25400" dir="5400000">
              <a:srgbClr val="000000">
                <a:alpha val="14000"/>
              </a:srgbClr>
            </a:outerShdw>
          </a:effectLst>
        </p:spPr>
      </p:sp>
      <p:sp>
        <p:nvSpPr>
          <p:cNvPr id="8" name="Text 4"/>
          <p:cNvSpPr txBox="1"/>
          <p:nvPr/>
        </p:nvSpPr>
        <p:spPr>
          <a:xfrm>
            <a:off x="6675120" y="1417320"/>
            <a:ext cx="4828032" cy="365760"/>
          </a:xfrm>
          <a:prstGeom prst="rect">
            <a:avLst/>
          </a:prstGeom>
          <a:noFill/>
          <a:ln/>
        </p:spPr>
        <p:txBody>
          <a:bodyPr wrap="square" lIns="0" tIns="0" rIns="0" bIns="0" rtlCol="0" anchor="ctr"/>
          <a:lstStyle/>
          <a:p>
            <a:pPr indent="0" marL="0">
              <a:buNone/>
            </a:pPr>
            <a:r>
              <a:rPr lang="en-US" sz="1350" b="1" dirty="0">
                <a:solidFill>
                  <a:schemeClr val="tx2"/>
                </a:solidFill>
              </a:rPr>
              <a:t>Stability functions (unstable)</a:t>
            </a:r>
            <a:endParaRPr lang="en-US" sz="1350" dirty="0"/>
          </a:p>
        </p:txBody>
      </p:sp>
      <p:sp>
        <p:nvSpPr>
          <p:cNvPr id="9" name="Text 5"/>
          <p:cNvSpPr txBox="1"/>
          <p:nvPr/>
        </p:nvSpPr>
        <p:spPr>
          <a:xfrm>
            <a:off x="6675120" y="1828800"/>
            <a:ext cx="4782312" cy="2057400"/>
          </a:xfrm>
          <a:prstGeom prst="rect">
            <a:avLst/>
          </a:prstGeom>
          <a:noFill/>
          <a:ln/>
        </p:spPr>
        <p:txBody>
          <a:bodyPr wrap="square" lIns="508" tIns="508" rIns="508" bIns="508" rtlCol="0" anchor="t"/>
          <a:lstStyle/>
          <a:p>
            <a:pPr indent="0" marL="0">
              <a:spcAft>
                <a:spcPts val="400"/>
              </a:spcAft>
              <a:buNone/>
            </a:pPr>
            <a:r>
              <a:rPr lang="en-US" sz="1250" b="1" dirty="0">
                <a:solidFill>
                  <a:schemeClr val="tx1"/>
                </a:solidFill>
              </a:rPr>
              <a:t>x = (1 − 16 z/L)</a:t>
            </a:r>
            <a:r>
              <a:rPr lang="en-US" sz="1250" b="1" baseline="30000" dirty="0">
                <a:solidFill>
                  <a:schemeClr val="tx1"/>
                </a:solidFill>
              </a:rPr>
              <a:t>0.25</a:t>
            </a:r>
            <a:endParaRPr lang="en-US" sz="1250" dirty="0"/>
          </a:p>
          <a:p>
            <a:pPr indent="0" marL="0">
              <a:spcAft>
                <a:spcPts val="400"/>
              </a:spcAft>
              <a:buNone/>
            </a:pPr>
            <a:r>
              <a:rPr lang="en-US" sz="1200" dirty="0">
                <a:solidFill>
                  <a:schemeClr val="tx1"/>
                </a:solidFill>
              </a:rPr>
              <a:t>ψ</a:t>
            </a:r>
            <a:r>
              <a:rPr lang="en-US" sz="1200" baseline="-40000" dirty="0">
                <a:solidFill>
                  <a:schemeClr val="tx1"/>
                </a:solidFill>
              </a:rPr>
              <a:t>m</a:t>
            </a:r>
            <a:r>
              <a:rPr lang="en-US" sz="1200" dirty="0">
                <a:solidFill>
                  <a:schemeClr val="tx1"/>
                </a:solidFill>
              </a:rPr>
              <a:t> = 2 ln[(1 + x)/2] + ln[(1 + x²)/2] − 2 arctan x + π/2</a:t>
            </a:r>
            <a:endParaRPr lang="en-US" sz="1250" dirty="0"/>
          </a:p>
          <a:p>
            <a:pPr indent="0" marL="0">
              <a:spcAft>
                <a:spcPts val="400"/>
              </a:spcAft>
              <a:buNone/>
            </a:pPr>
            <a:r>
              <a:rPr lang="en-US" sz="1200" dirty="0">
                <a:solidFill>
                  <a:schemeClr val="tx1"/>
                </a:solidFill>
              </a:rPr>
              <a:t>ψ</a:t>
            </a:r>
            <a:r>
              <a:rPr lang="en-US" sz="1200" baseline="-40000" dirty="0">
                <a:solidFill>
                  <a:schemeClr val="tx1"/>
                </a:solidFill>
              </a:rPr>
              <a:t>h</a:t>
            </a:r>
            <a:r>
              <a:rPr lang="en-US" sz="1200" dirty="0">
                <a:solidFill>
                  <a:schemeClr val="tx1"/>
                </a:solidFill>
              </a:rPr>
              <a:t> = 2 ln[(1 + x²)/2]</a:t>
            </a:r>
            <a:endParaRPr lang="en-US" sz="1250" dirty="0"/>
          </a:p>
          <a:p>
            <a:pPr indent="0" marL="0">
              <a:spcAft>
                <a:spcPts val="400"/>
              </a:spcAft>
              <a:buNone/>
            </a:pPr>
            <a:r>
              <a:rPr lang="en-US" sz="1200" dirty="0">
                <a:solidFill>
                  <a:schemeClr val="tx1"/>
                </a:solidFill>
              </a:rPr>
              <a:t>Stable: ψ</a:t>
            </a:r>
            <a:r>
              <a:rPr lang="en-US" sz="1200" baseline="-40000" dirty="0">
                <a:solidFill>
                  <a:schemeClr val="tx1"/>
                </a:solidFill>
              </a:rPr>
              <a:t>m</a:t>
            </a:r>
            <a:r>
              <a:rPr lang="en-US" sz="1200" dirty="0">
                <a:solidFill>
                  <a:schemeClr val="tx1"/>
                </a:solidFill>
              </a:rPr>
              <a:t> = ψ</a:t>
            </a:r>
            <a:r>
              <a:rPr lang="en-US" sz="1200" baseline="-40000" dirty="0">
                <a:solidFill>
                  <a:schemeClr val="tx1"/>
                </a:solidFill>
              </a:rPr>
              <a:t>h</a:t>
            </a:r>
            <a:r>
              <a:rPr lang="en-US" sz="1200" dirty="0">
                <a:solidFill>
                  <a:schemeClr val="tx1"/>
                </a:solidFill>
              </a:rPr>
              <a:t> = −5 z/L</a:t>
            </a:r>
            <a:endParaRPr lang="en-US" sz="1250" dirty="0"/>
          </a:p>
        </p:txBody>
      </p:sp>
      <p:sp>
        <p:nvSpPr>
          <p:cNvPr id="10" name="card"/>
          <p:cNvSpPr/>
          <p:nvPr/>
        </p:nvSpPr>
        <p:spPr>
          <a:xfrm>
            <a:off x="548640" y="4434840"/>
            <a:ext cx="5760720"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731520" y="4590288"/>
            <a:ext cx="420624" cy="420624"/>
          </a:xfrm>
          <a:prstGeom prst="ellipse">
            <a:avLst/>
          </a:prstGeom>
          <a:solidFill>
            <a:schemeClr val="accent5"/>
          </a:solidFill>
          <a:ln/>
        </p:spPr>
      </p:sp>
      <p:pic>
        <p:nvPicPr>
          <p:cNvPr id="12" name="Image 0" descr="Cogs icon">    </p:cNvPr>
          <p:cNvPicPr>
            <a:picLocks noChangeAspect="1"/>
          </p:cNvPicPr>
          <p:nvPr/>
        </p:nvPicPr>
        <p:blipFill>
          <a:blip r:embed="rId1"/>
          <a:stretch>
            <a:fillRect/>
          </a:stretch>
        </p:blipFill>
        <p:spPr>
          <a:xfrm>
            <a:off x="840882" y="4699650"/>
            <a:ext cx="201900" cy="201900"/>
          </a:xfrm>
          <a:prstGeom prst="rect">
            <a:avLst/>
          </a:prstGeom>
        </p:spPr>
      </p:pic>
      <p:sp>
        <p:nvSpPr>
          <p:cNvPr id="13" name="Text 8"/>
          <p:cNvSpPr txBox="1"/>
          <p:nvPr/>
        </p:nvSpPr>
        <p:spPr>
          <a:xfrm>
            <a:off x="1261872" y="4572000"/>
            <a:ext cx="4910328" cy="457200"/>
          </a:xfrm>
          <a:prstGeom prst="rect">
            <a:avLst/>
          </a:prstGeom>
          <a:noFill/>
          <a:ln/>
        </p:spPr>
        <p:txBody>
          <a:bodyPr wrap="square" lIns="0" tIns="0" rIns="0" bIns="0" rtlCol="0" anchor="ctr"/>
          <a:lstStyle/>
          <a:p>
            <a:pPr indent="0" marL="0">
              <a:buNone/>
            </a:pPr>
            <a:r>
              <a:rPr lang="en-US" sz="1600" b="1" dirty="0">
                <a:solidFill>
                  <a:schemeClr val="tx2"/>
                </a:solidFill>
              </a:rPr>
              <a:t>In SEBAL / METRIC</a:t>
            </a:r>
            <a:endParaRPr lang="en-US" sz="1600" dirty="0"/>
          </a:p>
        </p:txBody>
      </p:sp>
      <p:sp>
        <p:nvSpPr>
          <p:cNvPr id="14" name="Text 9"/>
          <p:cNvSpPr txBox="1"/>
          <p:nvPr/>
        </p:nvSpPr>
        <p:spPr>
          <a:xfrm>
            <a:off x="731520" y="5120640"/>
            <a:ext cx="5394960" cy="96012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Start neutral → compute H → L → ψ → new u</a:t>
            </a:r>
            <a:r>
              <a:rPr lang="en-US" sz="1250" baseline="-40000" dirty="0">
                <a:solidFill>
                  <a:schemeClr val="tx1"/>
                </a:solidFill>
              </a:rPr>
              <a:t>*</a:t>
            </a:r>
            <a:r>
              <a:rPr lang="en-US" sz="1250" dirty="0">
                <a:solidFill>
                  <a:schemeClr val="tx1"/>
                </a:solidFill>
              </a:rPr>
              <a:t>, r</a:t>
            </a:r>
            <a:r>
              <a:rPr lang="en-US" sz="1250" baseline="-40000" dirty="0">
                <a:solidFill>
                  <a:schemeClr val="tx1"/>
                </a:solidFill>
              </a:rPr>
              <a:t>ah</a:t>
            </a:r>
            <a:r>
              <a:rPr lang="en-US" sz="1250" dirty="0">
                <a:solidFill>
                  <a:schemeClr val="tx1"/>
                </a:solidFill>
              </a:rPr>
              <a:t> → repeat</a:t>
            </a:r>
            <a:endParaRPr lang="en-US" sz="1250" dirty="0"/>
          </a:p>
          <a:p>
            <a:pPr marL="177800" indent="-177800">
              <a:spcAft>
                <a:spcPts val="400"/>
              </a:spcAft>
              <a:buSzPct val="100000"/>
              <a:buChar char="•"/>
            </a:pPr>
            <a:r>
              <a:rPr lang="en-US" sz="1250" dirty="0">
                <a:solidFill>
                  <a:schemeClr val="tx1"/>
                </a:solidFill>
              </a:rPr>
              <a:t>Converges in 3–4 loops; hot pixel dT updated each loop</a:t>
            </a:r>
            <a:endParaRPr lang="en-US" sz="1250" dirty="0"/>
          </a:p>
          <a:p>
            <a:pPr marL="177800" indent="-177800">
              <a:spcAft>
                <a:spcPts val="400"/>
              </a:spcAft>
              <a:buSzPct val="100000"/>
              <a:buChar char="•"/>
            </a:pPr>
            <a:r>
              <a:rPr lang="en-US" sz="1250" dirty="0">
                <a:solidFill>
                  <a:schemeClr val="tx1"/>
                </a:solidFill>
              </a:rPr>
              <a:t>Ignoring stability over-estimates ET when |T</a:t>
            </a:r>
            <a:r>
              <a:rPr lang="en-US" sz="1250" baseline="-40000" dirty="0">
                <a:solidFill>
                  <a:schemeClr val="tx1"/>
                </a:solidFill>
              </a:rPr>
              <a:t>c</a:t>
            </a:r>
            <a:r>
              <a:rPr lang="en-US" sz="1250" dirty="0">
                <a:solidFill>
                  <a:schemeClr val="tx1"/>
                </a:solidFill>
              </a:rPr>
              <a:t> − T</a:t>
            </a:r>
            <a:r>
              <a:rPr lang="en-US" sz="1250" baseline="-40000" dirty="0">
                <a:solidFill>
                  <a:schemeClr val="tx1"/>
                </a:solidFill>
              </a:rPr>
              <a:t>a</a:t>
            </a:r>
            <a:r>
              <a:rPr lang="en-US" sz="1250" dirty="0">
                <a:solidFill>
                  <a:schemeClr val="tx1"/>
                </a:solidFill>
              </a:rPr>
              <a:t>| &gt; 2 °C (Hatfield)</a:t>
            </a:r>
            <a:endParaRPr lang="en-US" sz="1250" dirty="0"/>
          </a:p>
        </p:txBody>
      </p:sp>
      <p:sp>
        <p:nvSpPr>
          <p:cNvPr id="15" name="card"/>
          <p:cNvSpPr/>
          <p:nvPr/>
        </p:nvSpPr>
        <p:spPr>
          <a:xfrm>
            <a:off x="6492240" y="4114800"/>
            <a:ext cx="5148072"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6675120" y="4270248"/>
            <a:ext cx="420624" cy="420624"/>
          </a:xfrm>
          <a:prstGeom prst="ellipse">
            <a:avLst/>
          </a:prstGeom>
          <a:solidFill>
            <a:schemeClr val="accent3"/>
          </a:solidFill>
          <a:ln/>
        </p:spPr>
      </p:sp>
      <p:pic>
        <p:nvPicPr>
          <p:cNvPr id="17" name="Image 1" descr="Sun icon">    </p:cNvPr>
          <p:cNvPicPr>
            <a:picLocks noChangeAspect="1"/>
          </p:cNvPicPr>
          <p:nvPr/>
        </p:nvPicPr>
        <p:blipFill>
          <a:blip r:embed="rId2"/>
          <a:stretch>
            <a:fillRect/>
          </a:stretch>
        </p:blipFill>
        <p:spPr>
          <a:xfrm>
            <a:off x="6784482" y="4379610"/>
            <a:ext cx="201900" cy="201900"/>
          </a:xfrm>
          <a:prstGeom prst="rect">
            <a:avLst/>
          </a:prstGeom>
        </p:spPr>
      </p:pic>
      <p:sp>
        <p:nvSpPr>
          <p:cNvPr id="18" name="Text 12"/>
          <p:cNvSpPr txBox="1"/>
          <p:nvPr/>
        </p:nvSpPr>
        <p:spPr>
          <a:xfrm>
            <a:off x="7205472" y="4251960"/>
            <a:ext cx="4297680" cy="457200"/>
          </a:xfrm>
          <a:prstGeom prst="rect">
            <a:avLst/>
          </a:prstGeom>
          <a:noFill/>
          <a:ln/>
        </p:spPr>
        <p:txBody>
          <a:bodyPr wrap="square" lIns="0" tIns="0" rIns="0" bIns="0" rtlCol="0" anchor="ctr"/>
          <a:lstStyle/>
          <a:p>
            <a:pPr indent="0" marL="0">
              <a:buNone/>
            </a:pPr>
            <a:r>
              <a:rPr lang="en-US" sz="1600" b="1" dirty="0">
                <a:solidFill>
                  <a:schemeClr val="tx2"/>
                </a:solidFill>
              </a:rPr>
              <a:t>Physical picture</a:t>
            </a:r>
            <a:endParaRPr lang="en-US" sz="1600" dirty="0"/>
          </a:p>
        </p:txBody>
      </p:sp>
      <p:sp>
        <p:nvSpPr>
          <p:cNvPr id="19" name="Text 13"/>
          <p:cNvSpPr txBox="1"/>
          <p:nvPr/>
        </p:nvSpPr>
        <p:spPr>
          <a:xfrm>
            <a:off x="6675120" y="4800600"/>
            <a:ext cx="4782312" cy="128016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Mechanical turbulence (shear, u</a:t>
            </a:r>
            <a:r>
              <a:rPr lang="en-US" sz="1250" baseline="-40000" dirty="0">
                <a:solidFill>
                  <a:schemeClr val="tx1"/>
                </a:solidFill>
              </a:rPr>
              <a:t>*</a:t>
            </a:r>
            <a:r>
              <a:rPr lang="en-US" sz="1250" dirty="0">
                <a:solidFill>
                  <a:schemeClr val="tx1"/>
                </a:solidFill>
              </a:rPr>
              <a:t>) vs buoyancy (H)</a:t>
            </a:r>
            <a:endParaRPr lang="en-US" sz="1250" dirty="0"/>
          </a:p>
          <a:p>
            <a:pPr marL="177800" indent="-177800">
              <a:spcAft>
                <a:spcPts val="400"/>
              </a:spcAft>
              <a:buSzPct val="100000"/>
              <a:buChar char="•"/>
            </a:pPr>
            <a:r>
              <a:rPr lang="en-US" sz="1250" dirty="0">
                <a:solidFill>
                  <a:schemeClr val="tx1"/>
                </a:solidFill>
              </a:rPr>
              <a:t>|L| = height where buoyancy equals shear production</a:t>
            </a:r>
            <a:endParaRPr lang="en-US" sz="1250" dirty="0"/>
          </a:p>
          <a:p>
            <a:pPr marL="177800" indent="-177800">
              <a:spcAft>
                <a:spcPts val="400"/>
              </a:spcAft>
              <a:buSzPct val="100000"/>
              <a:buChar char="•"/>
            </a:pPr>
            <a:r>
              <a:rPr lang="en-US" sz="1250" dirty="0">
                <a:solidFill>
                  <a:schemeClr val="tx1"/>
                </a:solidFill>
              </a:rPr>
              <a:t>Midday crops: usually unstable, −ζ ~ 0.1–1</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Thermal indices: simplified Ts − Ta method and CWSI</a:t>
            </a:r>
            <a:endParaRPr lang="en-US" sz="3200" dirty="0"/>
          </a:p>
        </p:txBody>
      </p:sp>
      <p:sp>
        <p:nvSpPr>
          <p:cNvPr id="4" name="card"/>
          <p:cNvSpPr/>
          <p:nvPr/>
        </p:nvSpPr>
        <p:spPr>
          <a:xfrm>
            <a:off x="548640" y="1280160"/>
            <a:ext cx="5760720" cy="822960"/>
          </a:xfrm>
          <a:prstGeom prst="roundRect">
            <a:avLst>
              <a:gd name="adj" fmla="val 8889"/>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280160"/>
            <a:ext cx="5486400" cy="822960"/>
          </a:xfrm>
          <a:prstGeom prst="rect">
            <a:avLst/>
          </a:prstGeom>
          <a:noFill/>
          <a:ln/>
        </p:spPr>
        <p:txBody>
          <a:bodyPr wrap="square" lIns="0" tIns="0" rIns="0" bIns="0" rtlCol="0" anchor="ctr"/>
          <a:lstStyle/>
          <a:p>
            <a:pPr algn="ctr" indent="0" marL="0">
              <a:buNone/>
            </a:pPr>
            <a:r>
              <a:rPr lang="en-US" sz="2000" b="1" dirty="0">
                <a:solidFill>
                  <a:schemeClr val="bg1"/>
                </a:solidFill>
              </a:rPr>
              <a:t>λE</a:t>
            </a:r>
            <a:r>
              <a:rPr lang="en-US" sz="2000" b="1" baseline="-40000" dirty="0">
                <a:solidFill>
                  <a:schemeClr val="bg1"/>
                </a:solidFill>
              </a:rPr>
              <a:t>d</a:t>
            </a:r>
            <a:r>
              <a:rPr lang="en-US" sz="2000" b="1" dirty="0">
                <a:solidFill>
                  <a:schemeClr val="bg1"/>
                </a:solidFill>
              </a:rPr>
              <a:t> = Rn</a:t>
            </a:r>
            <a:r>
              <a:rPr lang="en-US" sz="2000" b="1" baseline="-40000" dirty="0">
                <a:solidFill>
                  <a:schemeClr val="bg1"/>
                </a:solidFill>
              </a:rPr>
              <a:t>d</a:t>
            </a:r>
            <a:r>
              <a:rPr lang="en-US" sz="2000" b="1" dirty="0">
                <a:solidFill>
                  <a:schemeClr val="bg1"/>
                </a:solidFill>
              </a:rPr>
              <a:t> − B (T</a:t>
            </a:r>
            <a:r>
              <a:rPr lang="en-US" sz="2000" b="1" baseline="-40000" dirty="0">
                <a:solidFill>
                  <a:schemeClr val="bg1"/>
                </a:solidFill>
              </a:rPr>
              <a:t>s</a:t>
            </a:r>
            <a:r>
              <a:rPr lang="en-US" sz="2000" b="1" dirty="0">
                <a:solidFill>
                  <a:schemeClr val="bg1"/>
                </a:solidFill>
              </a:rPr>
              <a:t> − T</a:t>
            </a:r>
            <a:r>
              <a:rPr lang="en-US" sz="2000" b="1" baseline="-40000" dirty="0">
                <a:solidFill>
                  <a:schemeClr val="bg1"/>
                </a:solidFill>
              </a:rPr>
              <a:t>a</a:t>
            </a:r>
            <a:r>
              <a:rPr lang="en-US" sz="2000" b="1" dirty="0">
                <a:solidFill>
                  <a:schemeClr val="bg1"/>
                </a:solidFill>
              </a:rPr>
              <a:t>)</a:t>
            </a:r>
            <a:r>
              <a:rPr lang="en-US" sz="2000" b="1" baseline="30000" dirty="0">
                <a:solidFill>
                  <a:schemeClr val="bg1"/>
                </a:solidFill>
              </a:rPr>
              <a:t>n</a:t>
            </a:r>
            <a:endParaRPr lang="en-US" sz="2000" dirty="0"/>
          </a:p>
        </p:txBody>
      </p:sp>
      <p:sp>
        <p:nvSpPr>
          <p:cNvPr id="6" name="Text 3"/>
          <p:cNvSpPr txBox="1"/>
          <p:nvPr/>
        </p:nvSpPr>
        <p:spPr>
          <a:xfrm>
            <a:off x="548640" y="2240280"/>
            <a:ext cx="5760720" cy="1828800"/>
          </a:xfrm>
          <a:prstGeom prst="rect">
            <a:avLst/>
          </a:prstGeom>
          <a:noFill/>
          <a:ln/>
        </p:spPr>
        <p:txBody>
          <a:bodyPr wrap="square" lIns="508" tIns="508" rIns="508" bIns="508" rtlCol="0" anchor="t"/>
          <a:lstStyle/>
          <a:p>
            <a:pPr marL="177800" indent="-177800">
              <a:spcAft>
                <a:spcPts val="600"/>
              </a:spcAft>
              <a:buSzPct val="100000"/>
              <a:buChar char="•"/>
            </a:pPr>
            <a:r>
              <a:rPr lang="en-US" sz="1300" dirty="0">
                <a:solidFill>
                  <a:schemeClr val="tx1"/>
                </a:solidFill>
              </a:rPr>
              <a:t>Jackson et al. (1977), irrigated wheat: B = 0.064, n = 1</a:t>
            </a:r>
            <a:endParaRPr lang="en-US" sz="1300" dirty="0"/>
          </a:p>
          <a:p>
            <a:pPr marL="177800" indent="-177800">
              <a:spcAft>
                <a:spcPts val="600"/>
              </a:spcAft>
              <a:buSzPct val="100000"/>
              <a:buChar char="•"/>
            </a:pPr>
            <a:r>
              <a:rPr lang="en-US" sz="1300" dirty="0">
                <a:solidFill>
                  <a:schemeClr val="tx1"/>
                </a:solidFill>
              </a:rPr>
              <a:t>B, n depend on roughness, wind, stability, fractional cover (Carlson)</a:t>
            </a:r>
            <a:endParaRPr lang="en-US" sz="1300" dirty="0"/>
          </a:p>
          <a:p>
            <a:pPr marL="177800" indent="-177800">
              <a:spcAft>
                <a:spcPts val="600"/>
              </a:spcAft>
              <a:buSzPct val="100000"/>
              <a:buChar char="•"/>
            </a:pPr>
            <a:r>
              <a:rPr lang="en-US" sz="1300" dirty="0">
                <a:solidFill>
                  <a:schemeClr val="tx1"/>
                </a:solidFill>
              </a:rPr>
              <a:t>Assumes daily G ≈ 0 and midday H represents the day</a:t>
            </a:r>
            <a:endParaRPr lang="en-US" sz="1300" dirty="0"/>
          </a:p>
          <a:p>
            <a:pPr marL="177800" indent="-177800">
              <a:spcAft>
                <a:spcPts val="600"/>
              </a:spcAft>
              <a:buSzPct val="100000"/>
              <a:buChar char="•"/>
            </a:pPr>
            <a:r>
              <a:rPr lang="en-US" sz="1300" dirty="0">
                <a:solidFill>
                  <a:schemeClr val="tx1"/>
                </a:solidFill>
              </a:rPr>
              <a:t>Simple; ~1 mm d⁻¹ error; </a:t>
            </a:r>
            <a:r>
              <a:rPr lang="en-US" sz="1300" b="1" dirty="0">
                <a:solidFill>
                  <a:schemeClr val="tx1"/>
                </a:solidFill>
              </a:rPr>
              <a:t>site-specific coefficients</a:t>
            </a:r>
            <a:endParaRPr lang="en-US" sz="1300" dirty="0"/>
          </a:p>
        </p:txBody>
      </p:sp>
      <p:sp>
        <p:nvSpPr>
          <p:cNvPr id="7" name="card"/>
          <p:cNvSpPr/>
          <p:nvPr/>
        </p:nvSpPr>
        <p:spPr>
          <a:xfrm>
            <a:off x="548640" y="4160520"/>
            <a:ext cx="5760720" cy="822960"/>
          </a:xfrm>
          <a:prstGeom prst="roundRect">
            <a:avLst>
              <a:gd name="adj" fmla="val 8889"/>
            </a:avLst>
          </a:prstGeom>
          <a:solidFill>
            <a:schemeClr val="accent4"/>
          </a:solidFill>
          <a:ln/>
          <a:effectLst>
            <a:outerShdw sx="100000" sy="100000" kx="0" ky="0" algn="bl" rotWithShape="0" blurRad="76200" dist="25400" dir="5400000">
              <a:srgbClr val="000000">
                <a:alpha val="14000"/>
              </a:srgbClr>
            </a:outerShdw>
          </a:effectLst>
        </p:spPr>
      </p:sp>
      <p:sp>
        <p:nvSpPr>
          <p:cNvPr id="8" name="Text 5"/>
          <p:cNvSpPr txBox="1"/>
          <p:nvPr/>
        </p:nvSpPr>
        <p:spPr>
          <a:xfrm>
            <a:off x="685800" y="4160520"/>
            <a:ext cx="5486400" cy="822960"/>
          </a:xfrm>
          <a:prstGeom prst="rect">
            <a:avLst/>
          </a:prstGeom>
          <a:noFill/>
          <a:ln/>
        </p:spPr>
        <p:txBody>
          <a:bodyPr wrap="square" lIns="0" tIns="0" rIns="0" bIns="0" rtlCol="0" anchor="ctr"/>
          <a:lstStyle/>
          <a:p>
            <a:pPr algn="ctr" indent="0" marL="0">
              <a:buNone/>
            </a:pPr>
            <a:r>
              <a:rPr lang="en-US" sz="1600" b="1" dirty="0">
                <a:solidFill>
                  <a:schemeClr val="bg1"/>
                </a:solidFill>
              </a:rPr>
              <a:t>CWSI = [(T</a:t>
            </a:r>
            <a:r>
              <a:rPr lang="en-US" sz="1600" b="1" baseline="-40000" dirty="0">
                <a:solidFill>
                  <a:schemeClr val="bg1"/>
                </a:solidFill>
              </a:rPr>
              <a:t>c</a:t>
            </a:r>
            <a:r>
              <a:rPr lang="en-US" sz="1600" b="1" dirty="0">
                <a:solidFill>
                  <a:schemeClr val="bg1"/>
                </a:solidFill>
              </a:rPr>
              <a:t> − T</a:t>
            </a:r>
            <a:r>
              <a:rPr lang="en-US" sz="1600" b="1" baseline="-40000" dirty="0">
                <a:solidFill>
                  <a:schemeClr val="bg1"/>
                </a:solidFill>
              </a:rPr>
              <a:t>a</a:t>
            </a:r>
            <a:r>
              <a:rPr lang="en-US" sz="1600" b="1" dirty="0">
                <a:solidFill>
                  <a:schemeClr val="bg1"/>
                </a:solidFill>
              </a:rPr>
              <a:t>) − LL] / (UL − LL) = 1 − ET/PET</a:t>
            </a:r>
            <a:endParaRPr lang="en-US" sz="1600" dirty="0"/>
          </a:p>
        </p:txBody>
      </p:sp>
      <p:sp>
        <p:nvSpPr>
          <p:cNvPr id="9" name="Text 6"/>
          <p:cNvSpPr txBox="1"/>
          <p:nvPr/>
        </p:nvSpPr>
        <p:spPr>
          <a:xfrm>
            <a:off x="548640" y="5074920"/>
            <a:ext cx="5760720" cy="914400"/>
          </a:xfrm>
          <a:prstGeom prst="rect">
            <a:avLst/>
          </a:prstGeom>
          <a:noFill/>
          <a:ln/>
        </p:spPr>
        <p:txBody>
          <a:bodyPr wrap="square" lIns="508" tIns="508" rIns="508" bIns="508" rtlCol="0" anchor="t"/>
          <a:lstStyle/>
          <a:p>
            <a:pPr marL="177800" indent="-177800">
              <a:spcAft>
                <a:spcPts val="600"/>
              </a:spcAft>
              <a:buSzPct val="100000"/>
              <a:buChar char="•"/>
            </a:pPr>
            <a:r>
              <a:rPr lang="en-US" sz="1300" dirty="0">
                <a:solidFill>
                  <a:schemeClr val="tx1"/>
                </a:solidFill>
              </a:rPr>
              <a:t>LL: non-water-stressed baseline; UL: non-transpiring canopy</a:t>
            </a:r>
            <a:endParaRPr lang="en-US" sz="1300" dirty="0"/>
          </a:p>
          <a:p>
            <a:pPr marL="177800" indent="-177800">
              <a:spcAft>
                <a:spcPts val="600"/>
              </a:spcAft>
              <a:buSzPct val="100000"/>
              <a:buChar char="•"/>
            </a:pPr>
            <a:r>
              <a:rPr lang="en-US" sz="1300" dirty="0">
                <a:solidFill>
                  <a:schemeClr val="tx1"/>
                </a:solidFill>
              </a:rPr>
              <a:t>Full cover only → WDI (trapezoid) for partial cover</a:t>
            </a:r>
            <a:endParaRPr lang="en-US" sz="1300" dirty="0"/>
          </a:p>
        </p:txBody>
      </p:sp>
      <p:sp>
        <p:nvSpPr>
          <p:cNvPr id="10" name="card"/>
          <p:cNvSpPr/>
          <p:nvPr/>
        </p:nvSpPr>
        <p:spPr>
          <a:xfrm>
            <a:off x="6675120" y="1280160"/>
            <a:ext cx="4965192"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11" name="Text 8"/>
          <p:cNvSpPr txBox="1"/>
          <p:nvPr/>
        </p:nvSpPr>
        <p:spPr>
          <a:xfrm>
            <a:off x="6812280" y="1353312"/>
            <a:ext cx="4572000" cy="320040"/>
          </a:xfrm>
          <a:prstGeom prst="rect">
            <a:avLst/>
          </a:prstGeom>
          <a:noFill/>
          <a:ln/>
        </p:spPr>
        <p:txBody>
          <a:bodyPr wrap="square" lIns="0" tIns="0" rIns="0" bIns="0" rtlCol="0" anchor="ctr"/>
          <a:lstStyle/>
          <a:p>
            <a:pPr algn="l" indent="0" marL="0">
              <a:buNone/>
            </a:pPr>
            <a:r>
              <a:rPr lang="en-US" sz="1300" b="1" dirty="0">
                <a:solidFill>
                  <a:schemeClr val="tx2"/>
                </a:solidFill>
              </a:rPr>
              <a:t>CWSI concept</a:t>
            </a:r>
            <a:endParaRPr lang="en-US" sz="1300" dirty="0"/>
          </a:p>
        </p:txBody>
      </p:sp>
      <p:sp>
        <p:nvSpPr>
          <p:cNvPr id="12" name="arrow"/>
          <p:cNvSpPr/>
          <p:nvPr/>
        </p:nvSpPr>
        <p:spPr>
          <a:xfrm>
            <a:off x="7269480" y="5394960"/>
            <a:ext cx="4023360" cy="0"/>
          </a:xfrm>
          <a:prstGeom prst="line">
            <a:avLst/>
          </a:prstGeom>
          <a:noFill/>
          <a:ln w="19050">
            <a:solidFill>
              <a:srgbClr val="1E2430"/>
            </a:solidFill>
            <a:prstDash val="solid"/>
          </a:ln>
        </p:spPr>
      </p:sp>
      <p:sp>
        <p:nvSpPr>
          <p:cNvPr id="13" name="arrow"/>
          <p:cNvSpPr/>
          <p:nvPr/>
        </p:nvSpPr>
        <p:spPr>
          <a:xfrm flipV="1">
            <a:off x="7269480" y="1737360"/>
            <a:ext cx="0" cy="3657600"/>
          </a:xfrm>
          <a:prstGeom prst="line">
            <a:avLst/>
          </a:prstGeom>
          <a:noFill/>
          <a:ln w="19050">
            <a:solidFill>
              <a:srgbClr val="1E2430"/>
            </a:solidFill>
            <a:prstDash val="solid"/>
          </a:ln>
        </p:spPr>
      </p:sp>
      <p:sp>
        <p:nvSpPr>
          <p:cNvPr id="14" name="arrow"/>
          <p:cNvSpPr/>
          <p:nvPr/>
        </p:nvSpPr>
        <p:spPr>
          <a:xfrm>
            <a:off x="7269480" y="4206240"/>
            <a:ext cx="4023360" cy="0"/>
          </a:xfrm>
          <a:prstGeom prst="line">
            <a:avLst/>
          </a:prstGeom>
          <a:noFill/>
          <a:ln w="12700">
            <a:solidFill>
              <a:srgbClr val="5C6B73"/>
            </a:solidFill>
            <a:prstDash val="dash"/>
          </a:ln>
        </p:spPr>
      </p:sp>
      <p:sp>
        <p:nvSpPr>
          <p:cNvPr id="15" name="Text 12"/>
          <p:cNvSpPr txBox="1"/>
          <p:nvPr/>
        </p:nvSpPr>
        <p:spPr>
          <a:xfrm>
            <a:off x="10012680" y="3913632"/>
            <a:ext cx="1280160" cy="274320"/>
          </a:xfrm>
          <a:prstGeom prst="rect">
            <a:avLst/>
          </a:prstGeom>
          <a:noFill/>
          <a:ln/>
        </p:spPr>
        <p:txBody>
          <a:bodyPr wrap="square" lIns="0" tIns="0" rIns="0" bIns="0" rtlCol="0" anchor="ctr"/>
          <a:lstStyle/>
          <a:p>
            <a:pPr algn="l" indent="0" marL="0">
              <a:buNone/>
            </a:pPr>
            <a:r>
              <a:rPr lang="en-US" sz="1050" dirty="0">
                <a:solidFill>
                  <a:schemeClr val="accent6"/>
                </a:solidFill>
              </a:rPr>
              <a:t>T</a:t>
            </a:r>
            <a:r>
              <a:rPr lang="en-US" sz="1050" baseline="-40000" dirty="0">
                <a:solidFill>
                  <a:schemeClr val="accent6"/>
                </a:solidFill>
              </a:rPr>
              <a:t>c</a:t>
            </a:r>
            <a:r>
              <a:rPr lang="en-US" sz="1050" dirty="0">
                <a:solidFill>
                  <a:schemeClr val="accent6"/>
                </a:solidFill>
              </a:rPr>
              <a:t> − T</a:t>
            </a:r>
            <a:r>
              <a:rPr lang="en-US" sz="1050" baseline="-40000" dirty="0">
                <a:solidFill>
                  <a:schemeClr val="accent6"/>
                </a:solidFill>
              </a:rPr>
              <a:t>a</a:t>
            </a:r>
            <a:r>
              <a:rPr lang="en-US" sz="1050" dirty="0">
                <a:solidFill>
                  <a:schemeClr val="accent6"/>
                </a:solidFill>
              </a:rPr>
              <a:t> = 0</a:t>
            </a:r>
            <a:endParaRPr lang="en-US" sz="1050" dirty="0"/>
          </a:p>
        </p:txBody>
      </p:sp>
      <p:sp>
        <p:nvSpPr>
          <p:cNvPr id="16" name="arrow"/>
          <p:cNvSpPr/>
          <p:nvPr/>
        </p:nvSpPr>
        <p:spPr>
          <a:xfrm>
            <a:off x="7269480" y="2286000"/>
            <a:ext cx="4023360" cy="0"/>
          </a:xfrm>
          <a:prstGeom prst="line">
            <a:avLst/>
          </a:prstGeom>
          <a:noFill/>
          <a:ln w="38100">
            <a:solidFill>
              <a:srgbClr val="C0702A"/>
            </a:solidFill>
            <a:prstDash val="solid"/>
          </a:ln>
        </p:spPr>
      </p:sp>
      <p:sp>
        <p:nvSpPr>
          <p:cNvPr id="17" name="Text 14"/>
          <p:cNvSpPr txBox="1"/>
          <p:nvPr/>
        </p:nvSpPr>
        <p:spPr>
          <a:xfrm>
            <a:off x="7818120" y="1965960"/>
            <a:ext cx="3017520" cy="274320"/>
          </a:xfrm>
          <a:prstGeom prst="rect">
            <a:avLst/>
          </a:prstGeom>
          <a:noFill/>
          <a:ln/>
        </p:spPr>
        <p:txBody>
          <a:bodyPr wrap="square" lIns="0" tIns="0" rIns="0" bIns="0" rtlCol="0" anchor="ctr"/>
          <a:lstStyle/>
          <a:p>
            <a:pPr algn="l" indent="0" marL="0">
              <a:buNone/>
            </a:pPr>
            <a:r>
              <a:rPr lang="en-US" sz="1150" b="1" dirty="0">
                <a:solidFill>
                  <a:schemeClr val="accent4"/>
                </a:solidFill>
              </a:rPr>
              <a:t>Upper limit (no transpiration)</a:t>
            </a:r>
            <a:endParaRPr lang="en-US" sz="1150" dirty="0"/>
          </a:p>
        </p:txBody>
      </p:sp>
      <p:sp>
        <p:nvSpPr>
          <p:cNvPr id="18" name="arrow"/>
          <p:cNvSpPr/>
          <p:nvPr/>
        </p:nvSpPr>
        <p:spPr>
          <a:xfrm>
            <a:off x="7452360" y="3840480"/>
            <a:ext cx="3749040" cy="1325880"/>
          </a:xfrm>
          <a:prstGeom prst="line">
            <a:avLst/>
          </a:prstGeom>
          <a:noFill/>
          <a:ln w="38100">
            <a:solidFill>
              <a:srgbClr val="2E7D4F"/>
            </a:solidFill>
            <a:prstDash val="solid"/>
          </a:ln>
        </p:spPr>
      </p:sp>
      <p:sp>
        <p:nvSpPr>
          <p:cNvPr id="19" name="Text 16"/>
          <p:cNvSpPr txBox="1"/>
          <p:nvPr/>
        </p:nvSpPr>
        <p:spPr>
          <a:xfrm>
            <a:off x="8412480" y="4828032"/>
            <a:ext cx="2926080" cy="274320"/>
          </a:xfrm>
          <a:prstGeom prst="rect">
            <a:avLst/>
          </a:prstGeom>
          <a:noFill/>
          <a:ln/>
        </p:spPr>
        <p:txBody>
          <a:bodyPr wrap="square" lIns="0" tIns="0" rIns="0" bIns="0" rtlCol="0" anchor="ctr"/>
          <a:lstStyle/>
          <a:p>
            <a:pPr algn="l" indent="0" marL="0">
              <a:buNone/>
            </a:pPr>
            <a:r>
              <a:rPr lang="en-US" sz="1150" b="1" dirty="0">
                <a:solidFill>
                  <a:schemeClr val="accent1"/>
                </a:solidFill>
              </a:rPr>
              <a:t>Lower baseline (well watered)</a:t>
            </a:r>
            <a:endParaRPr lang="en-US" sz="1150" dirty="0"/>
          </a:p>
        </p:txBody>
      </p:sp>
      <p:sp>
        <p:nvSpPr>
          <p:cNvPr id="20" name="crop point"/>
          <p:cNvSpPr/>
          <p:nvPr/>
        </p:nvSpPr>
        <p:spPr>
          <a:xfrm>
            <a:off x="9555480" y="2971800"/>
            <a:ext cx="182880" cy="182880"/>
          </a:xfrm>
          <a:prstGeom prst="ellipse">
            <a:avLst/>
          </a:prstGeom>
          <a:solidFill>
            <a:srgbClr val="1B4965"/>
          </a:solidFill>
          <a:ln/>
        </p:spPr>
      </p:sp>
      <p:sp>
        <p:nvSpPr>
          <p:cNvPr id="21" name="arrow"/>
          <p:cNvSpPr/>
          <p:nvPr/>
        </p:nvSpPr>
        <p:spPr>
          <a:xfrm>
            <a:off x="9646920" y="2304288"/>
            <a:ext cx="0" cy="2313432"/>
          </a:xfrm>
          <a:prstGeom prst="line">
            <a:avLst/>
          </a:prstGeom>
          <a:noFill/>
          <a:ln w="15875">
            <a:solidFill>
              <a:srgbClr val="1B4965"/>
            </a:solidFill>
            <a:prstDash val="dash"/>
          </a:ln>
        </p:spPr>
      </p:sp>
      <p:sp>
        <p:nvSpPr>
          <p:cNvPr id="22" name="Text 19"/>
          <p:cNvSpPr txBox="1"/>
          <p:nvPr/>
        </p:nvSpPr>
        <p:spPr>
          <a:xfrm>
            <a:off x="9756648" y="2907792"/>
            <a:ext cx="548640" cy="274320"/>
          </a:xfrm>
          <a:prstGeom prst="rect">
            <a:avLst/>
          </a:prstGeom>
          <a:noFill/>
          <a:ln/>
        </p:spPr>
        <p:txBody>
          <a:bodyPr wrap="square" lIns="0" tIns="0" rIns="0" bIns="0" rtlCol="0" anchor="ctr"/>
          <a:lstStyle/>
          <a:p>
            <a:pPr algn="l" indent="0" marL="0">
              <a:buNone/>
            </a:pPr>
            <a:r>
              <a:rPr lang="en-US" sz="1100" b="1" dirty="0">
                <a:solidFill>
                  <a:schemeClr val="tx2"/>
                </a:solidFill>
              </a:rPr>
              <a:t>crop</a:t>
            </a:r>
            <a:endParaRPr lang="en-US" sz="1100" dirty="0"/>
          </a:p>
        </p:txBody>
      </p:sp>
      <p:sp>
        <p:nvSpPr>
          <p:cNvPr id="23" name="Text 20"/>
          <p:cNvSpPr txBox="1"/>
          <p:nvPr/>
        </p:nvSpPr>
        <p:spPr>
          <a:xfrm>
            <a:off x="9829800" y="5440680"/>
            <a:ext cx="1463040" cy="274320"/>
          </a:xfrm>
          <a:prstGeom prst="rect">
            <a:avLst/>
          </a:prstGeom>
          <a:noFill/>
          <a:ln/>
        </p:spPr>
        <p:txBody>
          <a:bodyPr wrap="square" lIns="0" tIns="0" rIns="0" bIns="0" rtlCol="0" anchor="ctr"/>
          <a:lstStyle/>
          <a:p>
            <a:pPr algn="r" indent="0" marL="0">
              <a:buNone/>
            </a:pPr>
            <a:r>
              <a:rPr lang="en-US" sz="1100" dirty="0">
                <a:solidFill>
                  <a:schemeClr val="accent6"/>
                </a:solidFill>
              </a:rPr>
              <a:t>VPD (kPa) →</a:t>
            </a:r>
            <a:endParaRPr lang="en-US" sz="1100" dirty="0"/>
          </a:p>
        </p:txBody>
      </p:sp>
      <p:sp>
        <p:nvSpPr>
          <p:cNvPr id="24" name="Text 21"/>
          <p:cNvSpPr txBox="1"/>
          <p:nvPr/>
        </p:nvSpPr>
        <p:spPr>
          <a:xfrm>
            <a:off x="6766560" y="1691640"/>
            <a:ext cx="1097280" cy="274320"/>
          </a:xfrm>
          <a:prstGeom prst="rect">
            <a:avLst/>
          </a:prstGeom>
          <a:noFill/>
          <a:ln/>
        </p:spPr>
        <p:txBody>
          <a:bodyPr wrap="square" lIns="0" tIns="0" rIns="0" bIns="0" rtlCol="0" anchor="ctr"/>
          <a:lstStyle/>
          <a:p>
            <a:pPr algn="l" indent="0" marL="0">
              <a:buNone/>
            </a:pPr>
            <a:r>
              <a:rPr lang="en-US" sz="1100" b="1" dirty="0">
                <a:solidFill>
                  <a:schemeClr val="tx1"/>
                </a:solidFill>
              </a:rPr>
              <a:t>T</a:t>
            </a:r>
            <a:r>
              <a:rPr lang="en-US" sz="1100" b="1" baseline="-40000" dirty="0">
                <a:solidFill>
                  <a:schemeClr val="tx1"/>
                </a:solidFill>
              </a:rPr>
              <a:t>c</a:t>
            </a:r>
            <a:r>
              <a:rPr lang="en-US" sz="1100" b="1" dirty="0">
                <a:solidFill>
                  <a:schemeClr val="tx1"/>
                </a:solidFill>
              </a:rPr>
              <a:t> − T</a:t>
            </a:r>
            <a:r>
              <a:rPr lang="en-US" sz="1100" b="1" baseline="-40000" dirty="0">
                <a:solidFill>
                  <a:schemeClr val="tx1"/>
                </a:solidFill>
              </a:rPr>
              <a:t>a</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SEBAL and METRIC</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Single-source residual models calibrated internally with hot and cold pixels; plus SEBS and SSEBop</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SEBAL: concept and assumptions</a:t>
            </a:r>
            <a:endParaRPr lang="en-US" sz="3200" dirty="0"/>
          </a:p>
        </p:txBody>
      </p:sp>
      <p:sp>
        <p:nvSpPr>
          <p:cNvPr id="4" name="figure frame"/>
          <p:cNvSpPr/>
          <p:nvPr/>
        </p:nvSpPr>
        <p:spPr>
          <a:xfrm>
            <a:off x="548640" y="1280160"/>
            <a:ext cx="6400800" cy="2514600"/>
          </a:xfrm>
          <a:prstGeom prst="roundRect">
            <a:avLst>
              <a:gd name="adj" fmla="val 218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SEBAL Fig. 1: radiances → surface parameters → land-surface parameterisation → energy balance → moisture indicators (Bastiaanssen et al. 1998)">    </p:cNvPr>
          <p:cNvPicPr>
            <a:picLocks noChangeAspect="1"/>
          </p:cNvPicPr>
          <p:nvPr/>
        </p:nvPicPr>
        <p:blipFill>
          <a:blip r:embed="rId1"/>
          <a:stretch>
            <a:fillRect/>
          </a:stretch>
        </p:blipFill>
        <p:spPr>
          <a:xfrm>
            <a:off x="1014852" y="1371600"/>
            <a:ext cx="5468377" cy="2331720"/>
          </a:xfrm>
          <a:prstGeom prst="rect">
            <a:avLst/>
          </a:prstGeom>
        </p:spPr>
      </p:pic>
      <p:sp>
        <p:nvSpPr>
          <p:cNvPr id="6" name="Text 2"/>
          <p:cNvSpPr txBox="1"/>
          <p:nvPr/>
        </p:nvSpPr>
        <p:spPr>
          <a:xfrm>
            <a:off x="548640" y="3840480"/>
            <a:ext cx="6400800" cy="457200"/>
          </a:xfrm>
          <a:prstGeom prst="rect">
            <a:avLst/>
          </a:prstGeom>
          <a:noFill/>
          <a:ln/>
        </p:spPr>
        <p:txBody>
          <a:bodyPr wrap="square" lIns="0" tIns="0" rIns="0" bIns="0" rtlCol="0" anchor="t"/>
          <a:lstStyle/>
          <a:p>
            <a:pPr indent="0" marL="0">
              <a:buNone/>
            </a:pPr>
            <a:r>
              <a:rPr lang="en-US" sz="1100" i="1" dirty="0">
                <a:solidFill>
                  <a:schemeClr val="accent6"/>
                </a:solidFill>
              </a:rPr>
              <a:t>SEBAL Fig. 1: radiances → surface parameters → land-surface parameterisation → energy balance → moisture indicators (Bastiaanssen et al. 1998)</a:t>
            </a:r>
            <a:endParaRPr lang="en-US" sz="1100" dirty="0"/>
          </a:p>
        </p:txBody>
      </p:sp>
      <p:sp>
        <p:nvSpPr>
          <p:cNvPr id="7" name="card"/>
          <p:cNvSpPr/>
          <p:nvPr/>
        </p:nvSpPr>
        <p:spPr>
          <a:xfrm>
            <a:off x="7132320" y="1280160"/>
            <a:ext cx="4507992"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315200" y="1435608"/>
            <a:ext cx="420624" cy="420624"/>
          </a:xfrm>
          <a:prstGeom prst="ellipse">
            <a:avLst/>
          </a:prstGeom>
          <a:solidFill>
            <a:schemeClr val="accent3"/>
          </a:solidFill>
          <a:ln/>
        </p:spPr>
      </p:sp>
      <p:pic>
        <p:nvPicPr>
          <p:cNvPr id="9" name="Image 1" descr="Lightbulb icon">    </p:cNvPr>
          <p:cNvPicPr>
            <a:picLocks noChangeAspect="1"/>
          </p:cNvPicPr>
          <p:nvPr/>
        </p:nvPicPr>
        <p:blipFill>
          <a:blip r:embed="rId2"/>
          <a:stretch>
            <a:fillRect/>
          </a:stretch>
        </p:blipFill>
        <p:spPr>
          <a:xfrm>
            <a:off x="7424562" y="1544970"/>
            <a:ext cx="201900" cy="201900"/>
          </a:xfrm>
          <a:prstGeom prst="rect">
            <a:avLst/>
          </a:prstGeom>
        </p:spPr>
      </p:pic>
      <p:sp>
        <p:nvSpPr>
          <p:cNvPr id="10" name="Text 5"/>
          <p:cNvSpPr txBox="1"/>
          <p:nvPr/>
        </p:nvSpPr>
        <p:spPr>
          <a:xfrm>
            <a:off x="7845552" y="1417320"/>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Key ideas</a:t>
            </a:r>
            <a:endParaRPr lang="en-US" sz="1600" dirty="0"/>
          </a:p>
        </p:txBody>
      </p:sp>
      <p:sp>
        <p:nvSpPr>
          <p:cNvPr id="11" name="Text 6"/>
          <p:cNvSpPr txBox="1"/>
          <p:nvPr/>
        </p:nvSpPr>
        <p:spPr>
          <a:xfrm>
            <a:off x="7315200" y="1965960"/>
            <a:ext cx="4142232" cy="22402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λE is the </a:t>
            </a:r>
            <a:r>
              <a:rPr lang="en-US" sz="1250" b="1" dirty="0">
                <a:solidFill>
                  <a:schemeClr val="tx1"/>
                </a:solidFill>
              </a:rPr>
              <a:t>residual</a:t>
            </a:r>
            <a:r>
              <a:rPr lang="en-US" sz="1250" dirty="0">
                <a:solidFill>
                  <a:schemeClr val="tx1"/>
                </a:solidFill>
              </a:rPr>
              <a:t> of the instantaneous energy balance</a:t>
            </a:r>
            <a:endParaRPr lang="en-US" sz="1250" dirty="0"/>
          </a:p>
          <a:p>
            <a:pPr marL="177800" indent="-177800">
              <a:spcAft>
                <a:spcPts val="400"/>
              </a:spcAft>
              <a:buSzPct val="100000"/>
              <a:buChar char="•"/>
            </a:pPr>
            <a:r>
              <a:rPr lang="en-US" sz="1250" dirty="0">
                <a:solidFill>
                  <a:schemeClr val="tx1"/>
                </a:solidFill>
              </a:rPr>
              <a:t>Inputs: T</a:t>
            </a:r>
            <a:r>
              <a:rPr lang="en-US" sz="1250" baseline="-40000" dirty="0">
                <a:solidFill>
                  <a:schemeClr val="tx1"/>
                </a:solidFill>
              </a:rPr>
              <a:t>0</a:t>
            </a:r>
            <a:r>
              <a:rPr lang="en-US" sz="1250" dirty="0">
                <a:solidFill>
                  <a:schemeClr val="tx1"/>
                </a:solidFill>
              </a:rPr>
              <a:t>, surface reflectance r</a:t>
            </a:r>
            <a:r>
              <a:rPr lang="en-US" sz="1250" baseline="-40000" dirty="0">
                <a:solidFill>
                  <a:schemeClr val="tx1"/>
                </a:solidFill>
              </a:rPr>
              <a:t>0</a:t>
            </a:r>
            <a:r>
              <a:rPr lang="en-US" sz="1250" dirty="0">
                <a:solidFill>
                  <a:schemeClr val="tx1"/>
                </a:solidFill>
              </a:rPr>
              <a:t>, NDVI + few field data (Rs transmittance, vegetation height, wind)</a:t>
            </a:r>
            <a:endParaRPr lang="en-US" sz="1250" dirty="0"/>
          </a:p>
          <a:p>
            <a:pPr marL="177800" indent="-177800">
              <a:spcAft>
                <a:spcPts val="400"/>
              </a:spcAft>
              <a:buSzPct val="100000"/>
              <a:buChar char="•"/>
            </a:pPr>
            <a:r>
              <a:rPr lang="en-US" sz="1250" b="1" dirty="0">
                <a:solidFill>
                  <a:schemeClr val="tx1"/>
                </a:solidFill>
              </a:rPr>
              <a:t>Hot pixel</a:t>
            </a:r>
            <a:r>
              <a:rPr lang="en-US" sz="1250" dirty="0">
                <a:solidFill>
                  <a:schemeClr val="tx1"/>
                </a:solidFill>
              </a:rPr>
              <a:t> (λE = 0) and </a:t>
            </a:r>
            <a:r>
              <a:rPr lang="en-US" sz="1250" b="1" dirty="0">
                <a:solidFill>
                  <a:schemeClr val="tx1"/>
                </a:solidFill>
              </a:rPr>
              <a:t>cold pixel</a:t>
            </a:r>
            <a:r>
              <a:rPr lang="en-US" sz="1250" dirty="0">
                <a:solidFill>
                  <a:schemeClr val="tx1"/>
                </a:solidFill>
              </a:rPr>
              <a:t> (H = 0) anchor H</a:t>
            </a:r>
            <a:endParaRPr lang="en-US" sz="1250" dirty="0"/>
          </a:p>
          <a:p>
            <a:pPr marL="177800" indent="-177800">
              <a:spcAft>
                <a:spcPts val="400"/>
              </a:spcAft>
              <a:buSzPct val="100000"/>
              <a:buChar char="•"/>
            </a:pPr>
            <a:r>
              <a:rPr lang="en-US" sz="1250" dirty="0">
                <a:solidFill>
                  <a:schemeClr val="tx1"/>
                </a:solidFill>
              </a:rPr>
              <a:t>Works from metres to kilometres; any VIS–NIR–TIR sensor</a:t>
            </a:r>
            <a:endParaRPr lang="en-US" sz="1250" dirty="0"/>
          </a:p>
        </p:txBody>
      </p:sp>
      <p:sp>
        <p:nvSpPr>
          <p:cNvPr id="12" name="card"/>
          <p:cNvSpPr/>
          <p:nvPr/>
        </p:nvSpPr>
        <p:spPr>
          <a:xfrm>
            <a:off x="548640" y="4526280"/>
            <a:ext cx="548640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731520" y="4681728"/>
            <a:ext cx="420624" cy="420624"/>
          </a:xfrm>
          <a:prstGeom prst="ellipse">
            <a:avLst/>
          </a:prstGeom>
          <a:solidFill>
            <a:schemeClr val="accent1"/>
          </a:solidFill>
          <a:ln/>
        </p:spPr>
      </p:sp>
      <p:pic>
        <p:nvPicPr>
          <p:cNvPr id="14" name="Image 2" descr="Check icon">    </p:cNvPr>
          <p:cNvPicPr>
            <a:picLocks noChangeAspect="1"/>
          </p:cNvPicPr>
          <p:nvPr/>
        </p:nvPicPr>
        <p:blipFill>
          <a:blip r:embed="rId3"/>
          <a:stretch>
            <a:fillRect/>
          </a:stretch>
        </p:blipFill>
        <p:spPr>
          <a:xfrm>
            <a:off x="840882" y="4791090"/>
            <a:ext cx="201900" cy="201900"/>
          </a:xfrm>
          <a:prstGeom prst="rect">
            <a:avLst/>
          </a:prstGeom>
        </p:spPr>
      </p:pic>
      <p:sp>
        <p:nvSpPr>
          <p:cNvPr id="15" name="Text 9"/>
          <p:cNvSpPr txBox="1"/>
          <p:nvPr/>
        </p:nvSpPr>
        <p:spPr>
          <a:xfrm>
            <a:off x="1261872" y="466344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Advantages</a:t>
            </a:r>
            <a:endParaRPr lang="en-US" sz="1600" dirty="0"/>
          </a:p>
        </p:txBody>
      </p:sp>
      <p:sp>
        <p:nvSpPr>
          <p:cNvPr id="16" name="Text 10"/>
          <p:cNvSpPr txBox="1"/>
          <p:nvPr/>
        </p:nvSpPr>
        <p:spPr>
          <a:xfrm>
            <a:off x="731520" y="5212080"/>
            <a:ext cx="5120640" cy="86868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Minimal ground data · physical concept, any climate · no land-use classification · no PBL or hydrology model · modular</a:t>
            </a:r>
            <a:endParaRPr lang="en-US" sz="1250" dirty="0"/>
          </a:p>
        </p:txBody>
      </p:sp>
      <p:sp>
        <p:nvSpPr>
          <p:cNvPr id="17" name="card"/>
          <p:cNvSpPr/>
          <p:nvPr/>
        </p:nvSpPr>
        <p:spPr>
          <a:xfrm>
            <a:off x="6153912" y="4526280"/>
            <a:ext cx="5486400" cy="1645920"/>
          </a:xfrm>
          <a:prstGeom prst="roundRect">
            <a:avLst>
              <a:gd name="adj" fmla="val 4444"/>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6336792" y="4681728"/>
            <a:ext cx="420624" cy="420624"/>
          </a:xfrm>
          <a:prstGeom prst="ellipse">
            <a:avLst/>
          </a:prstGeom>
          <a:solidFill>
            <a:schemeClr val="accent4"/>
          </a:solidFill>
          <a:ln/>
        </p:spPr>
      </p:sp>
      <p:pic>
        <p:nvPicPr>
          <p:cNvPr id="19" name="Image 3" descr="ExclamationTriangle icon">    </p:cNvPr>
          <p:cNvPicPr>
            <a:picLocks noChangeAspect="1"/>
          </p:cNvPicPr>
          <p:nvPr/>
        </p:nvPicPr>
        <p:blipFill>
          <a:blip r:embed="rId4"/>
          <a:stretch>
            <a:fillRect/>
          </a:stretch>
        </p:blipFill>
        <p:spPr>
          <a:xfrm>
            <a:off x="6446154" y="4791090"/>
            <a:ext cx="201900" cy="201900"/>
          </a:xfrm>
          <a:prstGeom prst="rect">
            <a:avLst/>
          </a:prstGeom>
        </p:spPr>
      </p:pic>
      <p:sp>
        <p:nvSpPr>
          <p:cNvPr id="20" name="Text 13"/>
          <p:cNvSpPr txBox="1"/>
          <p:nvPr/>
        </p:nvSpPr>
        <p:spPr>
          <a:xfrm>
            <a:off x="6867144" y="4663440"/>
            <a:ext cx="4636008" cy="457200"/>
          </a:xfrm>
          <a:prstGeom prst="rect">
            <a:avLst/>
          </a:prstGeom>
          <a:noFill/>
          <a:ln/>
        </p:spPr>
        <p:txBody>
          <a:bodyPr wrap="square" lIns="0" tIns="0" rIns="0" bIns="0" rtlCol="0" anchor="ctr"/>
          <a:lstStyle/>
          <a:p>
            <a:pPr indent="0" marL="0">
              <a:buNone/>
            </a:pPr>
            <a:r>
              <a:rPr lang="en-US" sz="1600" b="1" dirty="0">
                <a:solidFill>
                  <a:schemeClr val="tx2"/>
                </a:solidFill>
              </a:rPr>
              <a:t>Disadvantages</a:t>
            </a:r>
            <a:endParaRPr lang="en-US" sz="1600" dirty="0"/>
          </a:p>
        </p:txBody>
      </p:sp>
      <p:sp>
        <p:nvSpPr>
          <p:cNvPr id="21" name="Text 14"/>
          <p:cNvSpPr txBox="1"/>
          <p:nvPr/>
        </p:nvSpPr>
        <p:spPr>
          <a:xfrm>
            <a:off x="6336792" y="5212080"/>
            <a:ext cx="5120640" cy="86868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Clear sky only · needs both dry and wet pixels in the scene · roughness poorly described · flat terrain (no slope correction) · subjective pixel choice</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SEBAL step by step</a:t>
            </a:r>
            <a:endParaRPr lang="en-US" sz="3200" dirty="0"/>
          </a:p>
        </p:txBody>
      </p:sp>
      <p:sp>
        <p:nvSpPr>
          <p:cNvPr id="4" name="Text 1"/>
          <p:cNvSpPr txBox="1"/>
          <p:nvPr/>
        </p:nvSpPr>
        <p:spPr>
          <a:xfrm>
            <a:off x="548640" y="1234440"/>
            <a:ext cx="2011680" cy="320040"/>
          </a:xfrm>
          <a:prstGeom prst="rect">
            <a:avLst/>
          </a:prstGeom>
          <a:noFill/>
          <a:ln/>
        </p:spPr>
        <p:txBody>
          <a:bodyPr wrap="square" lIns="0" tIns="0" rIns="0" bIns="0" rtlCol="0" anchor="ctr"/>
          <a:lstStyle/>
          <a:p>
            <a:pPr algn="l" indent="0" marL="0">
              <a:buNone/>
            </a:pPr>
            <a:r>
              <a:rPr lang="en-US" sz="1300" b="1" dirty="0">
                <a:solidFill>
                  <a:schemeClr val="tx2"/>
                </a:solidFill>
              </a:rPr>
              <a:t>Inputs</a:t>
            </a:r>
            <a:endParaRPr lang="en-US" sz="1300" dirty="0"/>
          </a:p>
        </p:txBody>
      </p:sp>
      <p:sp>
        <p:nvSpPr>
          <p:cNvPr id="5" name="diagram box"/>
          <p:cNvSpPr/>
          <p:nvPr/>
        </p:nvSpPr>
        <p:spPr>
          <a:xfrm>
            <a:off x="548640" y="1600200"/>
            <a:ext cx="2011680" cy="777240"/>
          </a:xfrm>
          <a:prstGeom prst="roundRect">
            <a:avLst>
              <a:gd name="adj" fmla="val 9412"/>
            </a:avLst>
          </a:prstGeom>
          <a:solidFill>
            <a:srgbClr val="3B6EA5"/>
          </a:solidFill>
          <a:ln/>
        </p:spPr>
      </p:sp>
      <p:sp>
        <p:nvSpPr>
          <p:cNvPr id="6" name="Text 3"/>
          <p:cNvSpPr txBox="1"/>
          <p:nvPr/>
        </p:nvSpPr>
        <p:spPr>
          <a:xfrm>
            <a:off x="548640" y="1600200"/>
            <a:ext cx="201168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Landsat / MODIS VIS–NIR</a:t>
            </a:r>
            <a:endParaRPr lang="en-US" sz="1200" dirty="0"/>
          </a:p>
        </p:txBody>
      </p:sp>
      <p:sp>
        <p:nvSpPr>
          <p:cNvPr id="7" name="diagram box"/>
          <p:cNvSpPr/>
          <p:nvPr/>
        </p:nvSpPr>
        <p:spPr>
          <a:xfrm>
            <a:off x="548640" y="2560320"/>
            <a:ext cx="2011680" cy="777240"/>
          </a:xfrm>
          <a:prstGeom prst="roundRect">
            <a:avLst>
              <a:gd name="adj" fmla="val 9412"/>
            </a:avLst>
          </a:prstGeom>
          <a:solidFill>
            <a:srgbClr val="C0702A"/>
          </a:solidFill>
          <a:ln/>
        </p:spPr>
      </p:sp>
      <p:sp>
        <p:nvSpPr>
          <p:cNvPr id="8" name="Text 5"/>
          <p:cNvSpPr txBox="1"/>
          <p:nvPr/>
        </p:nvSpPr>
        <p:spPr>
          <a:xfrm>
            <a:off x="548640" y="2560320"/>
            <a:ext cx="201168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Thermal band → T</a:t>
            </a:r>
            <a:r>
              <a:rPr lang="en-US" sz="1200" b="1" baseline="-40000" dirty="0">
                <a:solidFill>
                  <a:schemeClr val="bg1"/>
                </a:solidFill>
              </a:rPr>
              <a:t>s</a:t>
            </a:r>
            <a:endParaRPr lang="en-US" sz="1200" dirty="0"/>
          </a:p>
        </p:txBody>
      </p:sp>
      <p:sp>
        <p:nvSpPr>
          <p:cNvPr id="9" name="diagram box"/>
          <p:cNvSpPr/>
          <p:nvPr/>
        </p:nvSpPr>
        <p:spPr>
          <a:xfrm>
            <a:off x="548640" y="3520440"/>
            <a:ext cx="2011680" cy="777240"/>
          </a:xfrm>
          <a:prstGeom prst="roundRect">
            <a:avLst>
              <a:gd name="adj" fmla="val 9412"/>
            </a:avLst>
          </a:prstGeom>
          <a:solidFill>
            <a:srgbClr val="5C6B73"/>
          </a:solidFill>
          <a:ln/>
        </p:spPr>
      </p:sp>
      <p:sp>
        <p:nvSpPr>
          <p:cNvPr id="10" name="Text 7"/>
          <p:cNvSpPr txBox="1"/>
          <p:nvPr/>
        </p:nvSpPr>
        <p:spPr>
          <a:xfrm>
            <a:off x="548640" y="3520440"/>
            <a:ext cx="201168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DEM</a:t>
            </a:r>
            <a:endParaRPr lang="en-US" sz="1200" dirty="0"/>
          </a:p>
        </p:txBody>
      </p:sp>
      <p:sp>
        <p:nvSpPr>
          <p:cNvPr id="11" name="diagram box"/>
          <p:cNvSpPr/>
          <p:nvPr/>
        </p:nvSpPr>
        <p:spPr>
          <a:xfrm>
            <a:off x="548640" y="4480560"/>
            <a:ext cx="2011680" cy="777240"/>
          </a:xfrm>
          <a:prstGeom prst="roundRect">
            <a:avLst>
              <a:gd name="adj" fmla="val 9412"/>
            </a:avLst>
          </a:prstGeom>
          <a:solidFill>
            <a:srgbClr val="2E7D4F"/>
          </a:solidFill>
          <a:ln/>
        </p:spPr>
      </p:sp>
      <p:sp>
        <p:nvSpPr>
          <p:cNvPr id="12" name="Text 9"/>
          <p:cNvSpPr txBox="1"/>
          <p:nvPr/>
        </p:nvSpPr>
        <p:spPr>
          <a:xfrm>
            <a:off x="548640" y="4480560"/>
            <a:ext cx="2011680" cy="777240"/>
          </a:xfrm>
          <a:prstGeom prst="rect">
            <a:avLst/>
          </a:prstGeom>
          <a:noFill/>
          <a:ln/>
        </p:spPr>
        <p:txBody>
          <a:bodyPr wrap="square" lIns="508" tIns="508" rIns="508" bIns="508" rtlCol="0" anchor="ctr"/>
          <a:lstStyle/>
          <a:p>
            <a:pPr algn="ctr" indent="0" marL="0">
              <a:buNone/>
            </a:pPr>
            <a:r>
              <a:rPr lang="en-US" sz="1200" b="1" dirty="0">
                <a:solidFill>
                  <a:schemeClr val="bg1"/>
                </a:solidFill>
              </a:rPr>
              <a:t>Weather station: u, Rs</a:t>
            </a:r>
            <a:endParaRPr lang="en-US" sz="1200" dirty="0"/>
          </a:p>
        </p:txBody>
      </p:sp>
      <p:sp>
        <p:nvSpPr>
          <p:cNvPr id="13" name="arrow"/>
          <p:cNvSpPr/>
          <p:nvPr/>
        </p:nvSpPr>
        <p:spPr>
          <a:xfrm>
            <a:off x="2560320" y="1984248"/>
            <a:ext cx="228600" cy="0"/>
          </a:xfrm>
          <a:prstGeom prst="line">
            <a:avLst/>
          </a:prstGeom>
          <a:noFill/>
          <a:ln w="19050">
            <a:solidFill>
              <a:srgbClr val="1E2430"/>
            </a:solidFill>
            <a:prstDash val="solid"/>
          </a:ln>
        </p:spPr>
      </p:sp>
      <p:sp>
        <p:nvSpPr>
          <p:cNvPr id="14" name="arrow"/>
          <p:cNvSpPr/>
          <p:nvPr/>
        </p:nvSpPr>
        <p:spPr>
          <a:xfrm>
            <a:off x="2560320" y="2944368"/>
            <a:ext cx="228600" cy="0"/>
          </a:xfrm>
          <a:prstGeom prst="line">
            <a:avLst/>
          </a:prstGeom>
          <a:noFill/>
          <a:ln w="19050">
            <a:solidFill>
              <a:srgbClr val="1E2430"/>
            </a:solidFill>
            <a:prstDash val="solid"/>
          </a:ln>
        </p:spPr>
      </p:sp>
      <p:sp>
        <p:nvSpPr>
          <p:cNvPr id="15" name="arrow"/>
          <p:cNvSpPr/>
          <p:nvPr/>
        </p:nvSpPr>
        <p:spPr>
          <a:xfrm>
            <a:off x="2560320" y="3904488"/>
            <a:ext cx="228600" cy="0"/>
          </a:xfrm>
          <a:prstGeom prst="line">
            <a:avLst/>
          </a:prstGeom>
          <a:noFill/>
          <a:ln w="19050">
            <a:solidFill>
              <a:srgbClr val="1E2430"/>
            </a:solidFill>
            <a:prstDash val="solid"/>
          </a:ln>
        </p:spPr>
      </p:sp>
      <p:sp>
        <p:nvSpPr>
          <p:cNvPr id="16" name="arrow"/>
          <p:cNvSpPr/>
          <p:nvPr/>
        </p:nvSpPr>
        <p:spPr>
          <a:xfrm>
            <a:off x="2560320" y="4864608"/>
            <a:ext cx="228600" cy="0"/>
          </a:xfrm>
          <a:prstGeom prst="line">
            <a:avLst/>
          </a:prstGeom>
          <a:noFill/>
          <a:ln w="19050">
            <a:solidFill>
              <a:srgbClr val="1E2430"/>
            </a:solidFill>
            <a:prstDash val="solid"/>
          </a:ln>
        </p:spPr>
      </p:sp>
      <p:sp>
        <p:nvSpPr>
          <p:cNvPr id="17" name="arrow"/>
          <p:cNvSpPr/>
          <p:nvPr/>
        </p:nvSpPr>
        <p:spPr>
          <a:xfrm>
            <a:off x="2788920" y="1984248"/>
            <a:ext cx="0" cy="2880360"/>
          </a:xfrm>
          <a:prstGeom prst="line">
            <a:avLst/>
          </a:prstGeom>
          <a:noFill/>
          <a:ln w="19050">
            <a:solidFill>
              <a:srgbClr val="1E2430"/>
            </a:solidFill>
            <a:prstDash val="solid"/>
          </a:ln>
        </p:spPr>
      </p:sp>
      <p:sp>
        <p:nvSpPr>
          <p:cNvPr id="18" name="arrow"/>
          <p:cNvSpPr/>
          <p:nvPr/>
        </p:nvSpPr>
        <p:spPr>
          <a:xfrm>
            <a:off x="2788920" y="1984248"/>
            <a:ext cx="274320" cy="0"/>
          </a:xfrm>
          <a:prstGeom prst="line">
            <a:avLst/>
          </a:prstGeom>
          <a:noFill/>
          <a:ln w="19050">
            <a:solidFill>
              <a:srgbClr val="1E2430"/>
            </a:solidFill>
            <a:prstDash val="solid"/>
            <a:tailEnd type="triangle"/>
          </a:ln>
        </p:spPr>
      </p:sp>
      <p:sp>
        <p:nvSpPr>
          <p:cNvPr id="19" name="diagram box"/>
          <p:cNvSpPr/>
          <p:nvPr/>
        </p:nvSpPr>
        <p:spPr>
          <a:xfrm>
            <a:off x="3063240" y="1554480"/>
            <a:ext cx="1554480" cy="960120"/>
          </a:xfrm>
          <a:prstGeom prst="roundRect">
            <a:avLst>
              <a:gd name="adj" fmla="val 7619"/>
            </a:avLst>
          </a:prstGeom>
          <a:solidFill>
            <a:srgbClr val="3B6EA5"/>
          </a:solidFill>
          <a:ln/>
        </p:spPr>
      </p:sp>
      <p:sp>
        <p:nvSpPr>
          <p:cNvPr id="20" name="Text 17"/>
          <p:cNvSpPr txBox="1"/>
          <p:nvPr/>
        </p:nvSpPr>
        <p:spPr>
          <a:xfrm>
            <a:off x="3063240" y="155448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1  Surface parameters: α, NDVI, LAI, ε, T</a:t>
            </a:r>
            <a:r>
              <a:rPr lang="en-US" sz="1150" b="1" baseline="-40000" dirty="0">
                <a:solidFill>
                  <a:schemeClr val="bg1"/>
                </a:solidFill>
              </a:rPr>
              <a:t>s</a:t>
            </a:r>
            <a:endParaRPr lang="en-US" sz="1150" dirty="0"/>
          </a:p>
        </p:txBody>
      </p:sp>
      <p:sp>
        <p:nvSpPr>
          <p:cNvPr id="21" name="arrow"/>
          <p:cNvSpPr/>
          <p:nvPr/>
        </p:nvSpPr>
        <p:spPr>
          <a:xfrm>
            <a:off x="4617720" y="2034540"/>
            <a:ext cx="137160" cy="0"/>
          </a:xfrm>
          <a:prstGeom prst="line">
            <a:avLst/>
          </a:prstGeom>
          <a:noFill/>
          <a:ln w="25400">
            <a:solidFill>
              <a:srgbClr val="1E2430"/>
            </a:solidFill>
            <a:prstDash val="solid"/>
            <a:tailEnd type="triangle"/>
          </a:ln>
        </p:spPr>
      </p:sp>
      <p:sp>
        <p:nvSpPr>
          <p:cNvPr id="22" name="diagram box"/>
          <p:cNvSpPr/>
          <p:nvPr/>
        </p:nvSpPr>
        <p:spPr>
          <a:xfrm>
            <a:off x="4754880" y="1554480"/>
            <a:ext cx="1554480" cy="960120"/>
          </a:xfrm>
          <a:prstGeom prst="roundRect">
            <a:avLst>
              <a:gd name="adj" fmla="val 7619"/>
            </a:avLst>
          </a:prstGeom>
          <a:solidFill>
            <a:srgbClr val="1B4965"/>
          </a:solidFill>
          <a:ln/>
        </p:spPr>
      </p:sp>
      <p:sp>
        <p:nvSpPr>
          <p:cNvPr id="23" name="Text 20"/>
          <p:cNvSpPr txBox="1"/>
          <p:nvPr/>
        </p:nvSpPr>
        <p:spPr>
          <a:xfrm>
            <a:off x="4754880" y="155448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2  Net radiation Rn</a:t>
            </a:r>
            <a:endParaRPr lang="en-US" sz="1150" dirty="0"/>
          </a:p>
        </p:txBody>
      </p:sp>
      <p:sp>
        <p:nvSpPr>
          <p:cNvPr id="24" name="arrow"/>
          <p:cNvSpPr/>
          <p:nvPr/>
        </p:nvSpPr>
        <p:spPr>
          <a:xfrm>
            <a:off x="6309360" y="2034540"/>
            <a:ext cx="137160" cy="0"/>
          </a:xfrm>
          <a:prstGeom prst="line">
            <a:avLst/>
          </a:prstGeom>
          <a:noFill/>
          <a:ln w="25400">
            <a:solidFill>
              <a:srgbClr val="1E2430"/>
            </a:solidFill>
            <a:prstDash val="solid"/>
            <a:tailEnd type="triangle"/>
          </a:ln>
        </p:spPr>
      </p:sp>
      <p:sp>
        <p:nvSpPr>
          <p:cNvPr id="25" name="diagram box"/>
          <p:cNvSpPr/>
          <p:nvPr/>
        </p:nvSpPr>
        <p:spPr>
          <a:xfrm>
            <a:off x="6446520" y="1554480"/>
            <a:ext cx="1554480" cy="960120"/>
          </a:xfrm>
          <a:prstGeom prst="roundRect">
            <a:avLst>
              <a:gd name="adj" fmla="val 7619"/>
            </a:avLst>
          </a:prstGeom>
          <a:solidFill>
            <a:srgbClr val="1B4965"/>
          </a:solidFill>
          <a:ln/>
        </p:spPr>
      </p:sp>
      <p:sp>
        <p:nvSpPr>
          <p:cNvPr id="26" name="Text 23"/>
          <p:cNvSpPr txBox="1"/>
          <p:nvPr/>
        </p:nvSpPr>
        <p:spPr>
          <a:xfrm>
            <a:off x="6446520" y="155448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3  Soil heat flux G</a:t>
            </a:r>
            <a:endParaRPr lang="en-US" sz="1150" dirty="0"/>
          </a:p>
        </p:txBody>
      </p:sp>
      <p:sp>
        <p:nvSpPr>
          <p:cNvPr id="27" name="arrow"/>
          <p:cNvSpPr/>
          <p:nvPr/>
        </p:nvSpPr>
        <p:spPr>
          <a:xfrm>
            <a:off x="8001000" y="2034540"/>
            <a:ext cx="137160" cy="0"/>
          </a:xfrm>
          <a:prstGeom prst="line">
            <a:avLst/>
          </a:prstGeom>
          <a:noFill/>
          <a:ln w="25400">
            <a:solidFill>
              <a:srgbClr val="1E2430"/>
            </a:solidFill>
            <a:prstDash val="solid"/>
            <a:tailEnd type="triangle"/>
          </a:ln>
        </p:spPr>
      </p:sp>
      <p:sp>
        <p:nvSpPr>
          <p:cNvPr id="28" name="diagram box"/>
          <p:cNvSpPr/>
          <p:nvPr/>
        </p:nvSpPr>
        <p:spPr>
          <a:xfrm>
            <a:off x="8138160" y="1554480"/>
            <a:ext cx="1554480" cy="960120"/>
          </a:xfrm>
          <a:prstGeom prst="roundRect">
            <a:avLst>
              <a:gd name="adj" fmla="val 7619"/>
            </a:avLst>
          </a:prstGeom>
          <a:solidFill>
            <a:srgbClr val="1B4965"/>
          </a:solidFill>
          <a:ln/>
        </p:spPr>
      </p:sp>
      <p:sp>
        <p:nvSpPr>
          <p:cNvPr id="29" name="Text 26"/>
          <p:cNvSpPr txBox="1"/>
          <p:nvPr/>
        </p:nvSpPr>
        <p:spPr>
          <a:xfrm>
            <a:off x="8138160" y="155448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4  z</a:t>
            </a:r>
            <a:r>
              <a:rPr lang="en-US" sz="1150" b="1" baseline="-40000" dirty="0">
                <a:solidFill>
                  <a:schemeClr val="bg1"/>
                </a:solidFill>
              </a:rPr>
              <a:t>0m</a:t>
            </a:r>
            <a:r>
              <a:rPr lang="en-US" sz="1150" b="1" dirty="0">
                <a:solidFill>
                  <a:schemeClr val="bg1"/>
                </a:solidFill>
              </a:rPr>
              <a:t>, u</a:t>
            </a:r>
            <a:r>
              <a:rPr lang="en-US" sz="1150" b="1" baseline="-40000" dirty="0">
                <a:solidFill>
                  <a:schemeClr val="bg1"/>
                </a:solidFill>
              </a:rPr>
              <a:t>*</a:t>
            </a:r>
            <a:r>
              <a:rPr lang="en-US" sz="1150" b="1" dirty="0">
                <a:solidFill>
                  <a:schemeClr val="bg1"/>
                </a:solidFill>
              </a:rPr>
              <a:t>, wind at 200 m</a:t>
            </a:r>
            <a:endParaRPr lang="en-US" sz="1150" dirty="0"/>
          </a:p>
        </p:txBody>
      </p:sp>
      <p:sp>
        <p:nvSpPr>
          <p:cNvPr id="30" name="arrow"/>
          <p:cNvSpPr/>
          <p:nvPr/>
        </p:nvSpPr>
        <p:spPr>
          <a:xfrm>
            <a:off x="9692640" y="2034540"/>
            <a:ext cx="137160" cy="0"/>
          </a:xfrm>
          <a:prstGeom prst="line">
            <a:avLst/>
          </a:prstGeom>
          <a:noFill/>
          <a:ln w="25400">
            <a:solidFill>
              <a:srgbClr val="1E2430"/>
            </a:solidFill>
            <a:prstDash val="solid"/>
            <a:tailEnd type="triangle"/>
          </a:ln>
        </p:spPr>
      </p:sp>
      <p:sp>
        <p:nvSpPr>
          <p:cNvPr id="31" name="diagram box"/>
          <p:cNvSpPr/>
          <p:nvPr/>
        </p:nvSpPr>
        <p:spPr>
          <a:xfrm>
            <a:off x="9829800" y="1554480"/>
            <a:ext cx="1554480" cy="960120"/>
          </a:xfrm>
          <a:prstGeom prst="roundRect">
            <a:avLst>
              <a:gd name="adj" fmla="val 7619"/>
            </a:avLst>
          </a:prstGeom>
          <a:solidFill>
            <a:srgbClr val="C0702A"/>
          </a:solidFill>
          <a:ln/>
        </p:spPr>
      </p:sp>
      <p:sp>
        <p:nvSpPr>
          <p:cNvPr id="32" name="Text 29"/>
          <p:cNvSpPr txBox="1"/>
          <p:nvPr/>
        </p:nvSpPr>
        <p:spPr>
          <a:xfrm>
            <a:off x="9829800" y="155448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5  Select hot &amp; cold pixels</a:t>
            </a:r>
            <a:endParaRPr lang="en-US" sz="1150" dirty="0"/>
          </a:p>
        </p:txBody>
      </p:sp>
      <p:sp>
        <p:nvSpPr>
          <p:cNvPr id="33" name="diagram box"/>
          <p:cNvSpPr/>
          <p:nvPr/>
        </p:nvSpPr>
        <p:spPr>
          <a:xfrm>
            <a:off x="9829800" y="3429000"/>
            <a:ext cx="1554480" cy="960120"/>
          </a:xfrm>
          <a:prstGeom prst="roundRect">
            <a:avLst>
              <a:gd name="adj" fmla="val 7619"/>
            </a:avLst>
          </a:prstGeom>
          <a:solidFill>
            <a:srgbClr val="C0702A"/>
          </a:solidFill>
          <a:ln/>
        </p:spPr>
      </p:sp>
      <p:sp>
        <p:nvSpPr>
          <p:cNvPr id="34" name="Text 31"/>
          <p:cNvSpPr txBox="1"/>
          <p:nvPr/>
        </p:nvSpPr>
        <p:spPr>
          <a:xfrm>
            <a:off x="9829800" y="342900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6  Fit dT = a + b·T</a:t>
            </a:r>
            <a:r>
              <a:rPr lang="en-US" sz="1150" b="1" baseline="-40000" dirty="0">
                <a:solidFill>
                  <a:schemeClr val="bg1"/>
                </a:solidFill>
              </a:rPr>
              <a:t>s</a:t>
            </a:r>
            <a:endParaRPr lang="en-US" sz="1150" dirty="0"/>
          </a:p>
        </p:txBody>
      </p:sp>
      <p:sp>
        <p:nvSpPr>
          <p:cNvPr id="35" name="arrow"/>
          <p:cNvSpPr/>
          <p:nvPr/>
        </p:nvSpPr>
        <p:spPr>
          <a:xfrm flipH="1">
            <a:off x="9692640" y="3909060"/>
            <a:ext cx="137160" cy="0"/>
          </a:xfrm>
          <a:prstGeom prst="line">
            <a:avLst/>
          </a:prstGeom>
          <a:noFill/>
          <a:ln w="25400">
            <a:solidFill>
              <a:srgbClr val="1E2430"/>
            </a:solidFill>
            <a:prstDash val="solid"/>
            <a:tailEnd type="triangle"/>
          </a:ln>
        </p:spPr>
      </p:sp>
      <p:sp>
        <p:nvSpPr>
          <p:cNvPr id="36" name="diagram box"/>
          <p:cNvSpPr/>
          <p:nvPr/>
        </p:nvSpPr>
        <p:spPr>
          <a:xfrm>
            <a:off x="8138160" y="3429000"/>
            <a:ext cx="1554480" cy="960120"/>
          </a:xfrm>
          <a:prstGeom prst="roundRect">
            <a:avLst>
              <a:gd name="adj" fmla="val 7619"/>
            </a:avLst>
          </a:prstGeom>
          <a:solidFill>
            <a:srgbClr val="1B4965"/>
          </a:solidFill>
          <a:ln/>
        </p:spPr>
      </p:sp>
      <p:sp>
        <p:nvSpPr>
          <p:cNvPr id="37" name="Text 34"/>
          <p:cNvSpPr txBox="1"/>
          <p:nvPr/>
        </p:nvSpPr>
        <p:spPr>
          <a:xfrm>
            <a:off x="8138160" y="342900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7  H = ρc</a:t>
            </a:r>
            <a:r>
              <a:rPr lang="en-US" sz="1150" b="1" baseline="-40000" dirty="0">
                <a:solidFill>
                  <a:schemeClr val="bg1"/>
                </a:solidFill>
              </a:rPr>
              <a:t>p</a:t>
            </a:r>
            <a:r>
              <a:rPr lang="en-US" sz="1150" b="1" dirty="0">
                <a:solidFill>
                  <a:schemeClr val="bg1"/>
                </a:solidFill>
              </a:rPr>
              <a:t>dT / r</a:t>
            </a:r>
            <a:r>
              <a:rPr lang="en-US" sz="1150" b="1" baseline="-40000" dirty="0">
                <a:solidFill>
                  <a:schemeClr val="bg1"/>
                </a:solidFill>
              </a:rPr>
              <a:t>ah</a:t>
            </a:r>
            <a:endParaRPr lang="en-US" sz="1150" dirty="0"/>
          </a:p>
        </p:txBody>
      </p:sp>
      <p:sp>
        <p:nvSpPr>
          <p:cNvPr id="38" name="arrow"/>
          <p:cNvSpPr/>
          <p:nvPr/>
        </p:nvSpPr>
        <p:spPr>
          <a:xfrm flipH="1">
            <a:off x="8001000" y="3909060"/>
            <a:ext cx="137160" cy="0"/>
          </a:xfrm>
          <a:prstGeom prst="line">
            <a:avLst/>
          </a:prstGeom>
          <a:noFill/>
          <a:ln w="25400">
            <a:solidFill>
              <a:srgbClr val="1E2430"/>
            </a:solidFill>
            <a:prstDash val="solid"/>
            <a:tailEnd type="triangle"/>
          </a:ln>
        </p:spPr>
      </p:sp>
      <p:sp>
        <p:nvSpPr>
          <p:cNvPr id="39" name="diagram box"/>
          <p:cNvSpPr/>
          <p:nvPr/>
        </p:nvSpPr>
        <p:spPr>
          <a:xfrm>
            <a:off x="6446520" y="3429000"/>
            <a:ext cx="1554480" cy="960120"/>
          </a:xfrm>
          <a:prstGeom prst="roundRect">
            <a:avLst>
              <a:gd name="adj" fmla="val 7619"/>
            </a:avLst>
          </a:prstGeom>
          <a:solidFill>
            <a:srgbClr val="6C4F9E"/>
          </a:solidFill>
          <a:ln/>
        </p:spPr>
      </p:sp>
      <p:sp>
        <p:nvSpPr>
          <p:cNvPr id="40" name="Text 37"/>
          <p:cNvSpPr txBox="1"/>
          <p:nvPr/>
        </p:nvSpPr>
        <p:spPr>
          <a:xfrm>
            <a:off x="6446520" y="342900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8  Stability correction (ψ, L)</a:t>
            </a:r>
            <a:endParaRPr lang="en-US" sz="1150" dirty="0"/>
          </a:p>
        </p:txBody>
      </p:sp>
      <p:sp>
        <p:nvSpPr>
          <p:cNvPr id="41" name="arrow"/>
          <p:cNvSpPr/>
          <p:nvPr/>
        </p:nvSpPr>
        <p:spPr>
          <a:xfrm flipH="1">
            <a:off x="6309360" y="3909060"/>
            <a:ext cx="137160" cy="0"/>
          </a:xfrm>
          <a:prstGeom prst="line">
            <a:avLst/>
          </a:prstGeom>
          <a:noFill/>
          <a:ln w="25400">
            <a:solidFill>
              <a:srgbClr val="1E2430"/>
            </a:solidFill>
            <a:prstDash val="solid"/>
            <a:tailEnd type="triangle"/>
          </a:ln>
        </p:spPr>
      </p:sp>
      <p:sp>
        <p:nvSpPr>
          <p:cNvPr id="42" name="diagram box"/>
          <p:cNvSpPr/>
          <p:nvPr/>
        </p:nvSpPr>
        <p:spPr>
          <a:xfrm>
            <a:off x="4754880" y="3429000"/>
            <a:ext cx="1554480" cy="960120"/>
          </a:xfrm>
          <a:prstGeom prst="roundRect">
            <a:avLst>
              <a:gd name="adj" fmla="val 7619"/>
            </a:avLst>
          </a:prstGeom>
          <a:solidFill>
            <a:srgbClr val="2E7D4F"/>
          </a:solidFill>
          <a:ln/>
        </p:spPr>
      </p:sp>
      <p:sp>
        <p:nvSpPr>
          <p:cNvPr id="43" name="Text 40"/>
          <p:cNvSpPr txBox="1"/>
          <p:nvPr/>
        </p:nvSpPr>
        <p:spPr>
          <a:xfrm>
            <a:off x="4754880" y="342900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9  λE = Rn − G − H</a:t>
            </a:r>
            <a:endParaRPr lang="en-US" sz="1150" dirty="0"/>
          </a:p>
        </p:txBody>
      </p:sp>
      <p:sp>
        <p:nvSpPr>
          <p:cNvPr id="44" name="arrow"/>
          <p:cNvSpPr/>
          <p:nvPr/>
        </p:nvSpPr>
        <p:spPr>
          <a:xfrm flipH="1">
            <a:off x="4617720" y="3909060"/>
            <a:ext cx="137160" cy="0"/>
          </a:xfrm>
          <a:prstGeom prst="line">
            <a:avLst/>
          </a:prstGeom>
          <a:noFill/>
          <a:ln w="25400">
            <a:solidFill>
              <a:srgbClr val="1E2430"/>
            </a:solidFill>
            <a:prstDash val="solid"/>
            <a:tailEnd type="triangle"/>
          </a:ln>
        </p:spPr>
      </p:sp>
      <p:sp>
        <p:nvSpPr>
          <p:cNvPr id="45" name="diagram box"/>
          <p:cNvSpPr/>
          <p:nvPr/>
        </p:nvSpPr>
        <p:spPr>
          <a:xfrm>
            <a:off x="3063240" y="3429000"/>
            <a:ext cx="1554480" cy="960120"/>
          </a:xfrm>
          <a:prstGeom prst="roundRect">
            <a:avLst>
              <a:gd name="adj" fmla="val 7619"/>
            </a:avLst>
          </a:prstGeom>
          <a:solidFill>
            <a:srgbClr val="2E7D4F"/>
          </a:solidFill>
          <a:ln/>
        </p:spPr>
      </p:sp>
      <p:sp>
        <p:nvSpPr>
          <p:cNvPr id="46" name="Text 43"/>
          <p:cNvSpPr txBox="1"/>
          <p:nvPr/>
        </p:nvSpPr>
        <p:spPr>
          <a:xfrm>
            <a:off x="3063240" y="3429000"/>
            <a:ext cx="155448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10  EF, ET</a:t>
            </a:r>
            <a:r>
              <a:rPr lang="en-US" sz="1150" b="1" baseline="-40000" dirty="0">
                <a:solidFill>
                  <a:schemeClr val="bg1"/>
                </a:solidFill>
              </a:rPr>
              <a:t>inst</a:t>
            </a:r>
            <a:r>
              <a:rPr lang="en-US" sz="1150" b="1" dirty="0">
                <a:solidFill>
                  <a:schemeClr val="bg1"/>
                </a:solidFill>
              </a:rPr>
              <a:t>, ET</a:t>
            </a:r>
            <a:r>
              <a:rPr lang="en-US" sz="1150" b="1" baseline="-40000" dirty="0">
                <a:solidFill>
                  <a:schemeClr val="bg1"/>
                </a:solidFill>
              </a:rPr>
              <a:t>24</a:t>
            </a:r>
            <a:endParaRPr lang="en-US" sz="1150" dirty="0"/>
          </a:p>
        </p:txBody>
      </p:sp>
      <p:sp>
        <p:nvSpPr>
          <p:cNvPr id="47" name="arrow"/>
          <p:cNvSpPr/>
          <p:nvPr/>
        </p:nvSpPr>
        <p:spPr>
          <a:xfrm>
            <a:off x="10607040" y="2514600"/>
            <a:ext cx="0" cy="905256"/>
          </a:xfrm>
          <a:prstGeom prst="line">
            <a:avLst/>
          </a:prstGeom>
          <a:noFill/>
          <a:ln w="25400">
            <a:solidFill>
              <a:srgbClr val="1E2430"/>
            </a:solidFill>
            <a:prstDash val="solid"/>
            <a:tailEnd type="triangle"/>
          </a:ln>
        </p:spPr>
      </p:sp>
      <p:sp>
        <p:nvSpPr>
          <p:cNvPr id="48" name="arrow"/>
          <p:cNvSpPr/>
          <p:nvPr/>
        </p:nvSpPr>
        <p:spPr>
          <a:xfrm>
            <a:off x="7223760" y="4389120"/>
            <a:ext cx="0" cy="274320"/>
          </a:xfrm>
          <a:prstGeom prst="line">
            <a:avLst/>
          </a:prstGeom>
          <a:noFill/>
          <a:ln w="25400">
            <a:solidFill>
              <a:srgbClr val="C0702A"/>
            </a:solidFill>
            <a:prstDash val="dash"/>
          </a:ln>
        </p:spPr>
      </p:sp>
      <p:sp>
        <p:nvSpPr>
          <p:cNvPr id="49" name="arrow"/>
          <p:cNvSpPr/>
          <p:nvPr/>
        </p:nvSpPr>
        <p:spPr>
          <a:xfrm>
            <a:off x="7223760" y="4663440"/>
            <a:ext cx="3383280" cy="0"/>
          </a:xfrm>
          <a:prstGeom prst="line">
            <a:avLst/>
          </a:prstGeom>
          <a:noFill/>
          <a:ln w="25400">
            <a:solidFill>
              <a:srgbClr val="C0702A"/>
            </a:solidFill>
            <a:prstDash val="dash"/>
          </a:ln>
        </p:spPr>
      </p:sp>
      <p:sp>
        <p:nvSpPr>
          <p:cNvPr id="50" name="arrow"/>
          <p:cNvSpPr/>
          <p:nvPr/>
        </p:nvSpPr>
        <p:spPr>
          <a:xfrm flipV="1">
            <a:off x="10607040" y="4398264"/>
            <a:ext cx="0" cy="265176"/>
          </a:xfrm>
          <a:prstGeom prst="line">
            <a:avLst/>
          </a:prstGeom>
          <a:noFill/>
          <a:ln w="25400">
            <a:solidFill>
              <a:srgbClr val="C0702A"/>
            </a:solidFill>
            <a:prstDash val="dash"/>
            <a:tailEnd type="triangle"/>
          </a:ln>
        </p:spPr>
      </p:sp>
      <p:sp>
        <p:nvSpPr>
          <p:cNvPr id="51" name="Text 48"/>
          <p:cNvSpPr txBox="1"/>
          <p:nvPr/>
        </p:nvSpPr>
        <p:spPr>
          <a:xfrm>
            <a:off x="7315200" y="4681728"/>
            <a:ext cx="3291840" cy="292608"/>
          </a:xfrm>
          <a:prstGeom prst="rect">
            <a:avLst/>
          </a:prstGeom>
          <a:noFill/>
          <a:ln/>
        </p:spPr>
        <p:txBody>
          <a:bodyPr wrap="square" lIns="0" tIns="0" rIns="0" bIns="0" rtlCol="0" anchor="ctr"/>
          <a:lstStyle/>
          <a:p>
            <a:pPr algn="l" indent="0" marL="0">
              <a:buNone/>
            </a:pPr>
            <a:r>
              <a:rPr lang="en-US" sz="1100" b="1" dirty="0">
                <a:solidFill>
                  <a:schemeClr val="accent4"/>
                </a:solidFill>
              </a:rPr>
              <a:t>iterate until H converges (3–4 loops)</a:t>
            </a:r>
            <a:endParaRPr lang="en-US" sz="1100" dirty="0"/>
          </a:p>
        </p:txBody>
      </p:sp>
      <p:sp>
        <p:nvSpPr>
          <p:cNvPr id="52" name="card"/>
          <p:cNvSpPr/>
          <p:nvPr/>
        </p:nvSpPr>
        <p:spPr>
          <a:xfrm>
            <a:off x="3063240" y="5166360"/>
            <a:ext cx="8321040" cy="1005840"/>
          </a:xfrm>
          <a:prstGeom prst="roundRect">
            <a:avLst>
              <a:gd name="adj" fmla="val 7273"/>
            </a:avLst>
          </a:prstGeom>
          <a:solidFill>
            <a:schemeClr val="bg2"/>
          </a:solidFill>
          <a:ln/>
          <a:effectLst>
            <a:outerShdw sx="100000" sy="100000" kx="0" ky="0" algn="bl" rotWithShape="0" blurRad="76200" dist="25400" dir="5400000">
              <a:srgbClr val="000000">
                <a:alpha val="14000"/>
              </a:srgbClr>
            </a:outerShdw>
          </a:effectLst>
        </p:spPr>
      </p:sp>
      <p:sp>
        <p:nvSpPr>
          <p:cNvPr id="53" name="Text 50"/>
          <p:cNvSpPr txBox="1"/>
          <p:nvPr/>
        </p:nvSpPr>
        <p:spPr>
          <a:xfrm>
            <a:off x="3246120" y="5303520"/>
            <a:ext cx="8001000" cy="365760"/>
          </a:xfrm>
          <a:prstGeom prst="rect">
            <a:avLst/>
          </a:prstGeom>
          <a:noFill/>
          <a:ln/>
        </p:spPr>
        <p:txBody>
          <a:bodyPr wrap="square" lIns="0" tIns="0" rIns="0" bIns="0" rtlCol="0" anchor="ctr"/>
          <a:lstStyle/>
          <a:p>
            <a:pPr indent="0" marL="0">
              <a:buNone/>
            </a:pPr>
            <a:r>
              <a:rPr lang="en-US" sz="1350" b="1" dirty="0">
                <a:solidFill>
                  <a:schemeClr val="tx2"/>
                </a:solidFill>
              </a:rPr>
              <a:t>Outputs</a:t>
            </a:r>
            <a:endParaRPr lang="en-US" sz="1350" dirty="0"/>
          </a:p>
        </p:txBody>
      </p:sp>
      <p:sp>
        <p:nvSpPr>
          <p:cNvPr id="54" name="Text 51"/>
          <p:cNvSpPr txBox="1"/>
          <p:nvPr/>
        </p:nvSpPr>
        <p:spPr>
          <a:xfrm>
            <a:off x="3246120" y="5715000"/>
            <a:ext cx="7955280" cy="36576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Maps of Rn, G, H, λE, EF, instantaneous and daily ET; also crop coefficient (ET/ET0), water productivity, irrigation performance</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Hot and cold pixels: the dT–Ts calibration</a:t>
            </a:r>
            <a:endParaRPr lang="en-US" sz="3200" dirty="0"/>
          </a:p>
        </p:txBody>
      </p:sp>
      <p:sp>
        <p:nvSpPr>
          <p:cNvPr id="4" name="card"/>
          <p:cNvSpPr/>
          <p:nvPr/>
        </p:nvSpPr>
        <p:spPr>
          <a:xfrm>
            <a:off x="548640" y="1280160"/>
            <a:ext cx="3291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35608"/>
            <a:ext cx="420624" cy="420624"/>
          </a:xfrm>
          <a:prstGeom prst="ellipse">
            <a:avLst/>
          </a:prstGeom>
          <a:solidFill>
            <a:schemeClr val="accent2"/>
          </a:solidFill>
          <a:ln/>
        </p:spPr>
      </p:sp>
      <p:pic>
        <p:nvPicPr>
          <p:cNvPr id="6" name="Image 0" descr="Tint icon">    </p:cNvPr>
          <p:cNvPicPr>
            <a:picLocks noChangeAspect="1"/>
          </p:cNvPicPr>
          <p:nvPr/>
        </p:nvPicPr>
        <p:blipFill>
          <a:blip r:embed="rId1"/>
          <a:stretch>
            <a:fillRect/>
          </a:stretch>
        </p:blipFill>
        <p:spPr>
          <a:xfrm>
            <a:off x="840882" y="1544970"/>
            <a:ext cx="201900" cy="201900"/>
          </a:xfrm>
          <a:prstGeom prst="rect">
            <a:avLst/>
          </a:prstGeom>
        </p:spPr>
      </p:pic>
      <p:sp>
        <p:nvSpPr>
          <p:cNvPr id="7" name="Text 3"/>
          <p:cNvSpPr txBox="1"/>
          <p:nvPr/>
        </p:nvSpPr>
        <p:spPr>
          <a:xfrm>
            <a:off x="1261872" y="1417320"/>
            <a:ext cx="2441448" cy="457200"/>
          </a:xfrm>
          <a:prstGeom prst="rect">
            <a:avLst/>
          </a:prstGeom>
          <a:noFill/>
          <a:ln/>
        </p:spPr>
        <p:txBody>
          <a:bodyPr wrap="square" lIns="0" tIns="0" rIns="0" bIns="0" rtlCol="0" anchor="ctr"/>
          <a:lstStyle/>
          <a:p>
            <a:pPr indent="0" marL="0">
              <a:buNone/>
            </a:pPr>
            <a:r>
              <a:rPr lang="en-US" sz="1600" b="1" dirty="0">
                <a:solidFill>
                  <a:schemeClr val="tx2"/>
                </a:solidFill>
              </a:rPr>
              <a:t>Cold (wet) pixel</a:t>
            </a:r>
            <a:endParaRPr lang="en-US" sz="1600" dirty="0"/>
          </a:p>
        </p:txBody>
      </p:sp>
      <p:sp>
        <p:nvSpPr>
          <p:cNvPr id="8" name="Text 4"/>
          <p:cNvSpPr txBox="1"/>
          <p:nvPr/>
        </p:nvSpPr>
        <p:spPr>
          <a:xfrm>
            <a:off x="731520" y="1965960"/>
            <a:ext cx="2926080" cy="12801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Irrigated full-cover crop or water; low T</a:t>
            </a:r>
            <a:r>
              <a:rPr lang="en-US" sz="1200" baseline="-40000" dirty="0">
                <a:solidFill>
                  <a:schemeClr val="tx1"/>
                </a:solidFill>
              </a:rPr>
              <a:t>s</a:t>
            </a:r>
            <a:r>
              <a:rPr lang="en-US" sz="1200" dirty="0">
                <a:solidFill>
                  <a:schemeClr val="tx1"/>
                </a:solidFill>
              </a:rPr>
              <a:t>, high NDVI</a:t>
            </a:r>
            <a:endParaRPr lang="en-US" sz="1200" dirty="0"/>
          </a:p>
          <a:p>
            <a:pPr indent="0" marL="0">
              <a:spcAft>
                <a:spcPts val="400"/>
              </a:spcAft>
              <a:buNone/>
            </a:pPr>
            <a:r>
              <a:rPr lang="en-US" sz="1250" dirty="0">
                <a:solidFill>
                  <a:schemeClr val="tx1"/>
                </a:solidFill>
              </a:rPr>
              <a:t>H ≈ 0 → </a:t>
            </a:r>
            <a:r>
              <a:rPr lang="en-US" sz="1250" b="1" dirty="0">
                <a:solidFill>
                  <a:schemeClr val="tx1"/>
                </a:solidFill>
              </a:rPr>
              <a:t>dT</a:t>
            </a:r>
            <a:r>
              <a:rPr lang="en-US" sz="1250" b="1" baseline="-40000" dirty="0">
                <a:solidFill>
                  <a:schemeClr val="tx1"/>
                </a:solidFill>
              </a:rPr>
              <a:t>cold</a:t>
            </a:r>
            <a:r>
              <a:rPr lang="en-US" sz="1250" b="1" dirty="0">
                <a:solidFill>
                  <a:schemeClr val="tx1"/>
                </a:solidFill>
              </a:rPr>
              <a:t> = 0</a:t>
            </a:r>
            <a:endParaRPr lang="en-US" sz="1200" dirty="0"/>
          </a:p>
          <a:p>
            <a:pPr indent="0" marL="0">
              <a:spcAft>
                <a:spcPts val="400"/>
              </a:spcAft>
              <a:buNone/>
            </a:pPr>
            <a:r>
              <a:rPr lang="en-US" sz="1200" dirty="0">
                <a:solidFill>
                  <a:schemeClr val="accent6"/>
                </a:solidFill>
              </a:rPr>
              <a:t>METRIC: λE = 1.05 ETr·λ</a:t>
            </a:r>
            <a:endParaRPr lang="en-US" sz="1200" dirty="0"/>
          </a:p>
        </p:txBody>
      </p:sp>
      <p:sp>
        <p:nvSpPr>
          <p:cNvPr id="9" name="card"/>
          <p:cNvSpPr/>
          <p:nvPr/>
        </p:nvSpPr>
        <p:spPr>
          <a:xfrm>
            <a:off x="3977640" y="1280160"/>
            <a:ext cx="3291840" cy="2057400"/>
          </a:xfrm>
          <a:prstGeom prst="roundRect">
            <a:avLst>
              <a:gd name="adj" fmla="val 3556"/>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160520" y="1435608"/>
            <a:ext cx="420624" cy="420624"/>
          </a:xfrm>
          <a:prstGeom prst="ellipse">
            <a:avLst/>
          </a:prstGeom>
          <a:solidFill>
            <a:schemeClr val="accent4"/>
          </a:solidFill>
          <a:ln/>
        </p:spPr>
      </p:sp>
      <p:pic>
        <p:nvPicPr>
          <p:cNvPr id="11" name="Image 1" descr="ThermometerHalf icon">    </p:cNvPr>
          <p:cNvPicPr>
            <a:picLocks noChangeAspect="1"/>
          </p:cNvPicPr>
          <p:nvPr/>
        </p:nvPicPr>
        <p:blipFill>
          <a:blip r:embed="rId2"/>
          <a:stretch>
            <a:fillRect/>
          </a:stretch>
        </p:blipFill>
        <p:spPr>
          <a:xfrm>
            <a:off x="4269882" y="1544970"/>
            <a:ext cx="201900" cy="201900"/>
          </a:xfrm>
          <a:prstGeom prst="rect">
            <a:avLst/>
          </a:prstGeom>
        </p:spPr>
      </p:pic>
      <p:sp>
        <p:nvSpPr>
          <p:cNvPr id="12" name="Text 7"/>
          <p:cNvSpPr txBox="1"/>
          <p:nvPr/>
        </p:nvSpPr>
        <p:spPr>
          <a:xfrm>
            <a:off x="4690872" y="1417320"/>
            <a:ext cx="2441448" cy="457200"/>
          </a:xfrm>
          <a:prstGeom prst="rect">
            <a:avLst/>
          </a:prstGeom>
          <a:noFill/>
          <a:ln/>
        </p:spPr>
        <p:txBody>
          <a:bodyPr wrap="square" lIns="0" tIns="0" rIns="0" bIns="0" rtlCol="0" anchor="ctr"/>
          <a:lstStyle/>
          <a:p>
            <a:pPr indent="0" marL="0">
              <a:buNone/>
            </a:pPr>
            <a:r>
              <a:rPr lang="en-US" sz="1600" b="1" dirty="0">
                <a:solidFill>
                  <a:schemeClr val="tx2"/>
                </a:solidFill>
              </a:rPr>
              <a:t>Hot (dry) pixel</a:t>
            </a:r>
            <a:endParaRPr lang="en-US" sz="1600" dirty="0"/>
          </a:p>
        </p:txBody>
      </p:sp>
      <p:sp>
        <p:nvSpPr>
          <p:cNvPr id="13" name="Text 8"/>
          <p:cNvSpPr txBox="1"/>
          <p:nvPr/>
        </p:nvSpPr>
        <p:spPr>
          <a:xfrm>
            <a:off x="4160520" y="1965960"/>
            <a:ext cx="2926080" cy="12801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Dry bare fallow; high T</a:t>
            </a:r>
            <a:r>
              <a:rPr lang="en-US" sz="1200" baseline="-40000" dirty="0">
                <a:solidFill>
                  <a:schemeClr val="tx1"/>
                </a:solidFill>
              </a:rPr>
              <a:t>s</a:t>
            </a:r>
            <a:r>
              <a:rPr lang="en-US" sz="1200" dirty="0">
                <a:solidFill>
                  <a:schemeClr val="tx1"/>
                </a:solidFill>
              </a:rPr>
              <a:t>, low NDVI</a:t>
            </a:r>
            <a:endParaRPr lang="en-US" sz="1200" dirty="0"/>
          </a:p>
          <a:p>
            <a:pPr indent="0" marL="0">
              <a:spcAft>
                <a:spcPts val="400"/>
              </a:spcAft>
              <a:buNone/>
            </a:pPr>
            <a:r>
              <a:rPr lang="en-US" sz="1250" dirty="0">
                <a:solidFill>
                  <a:schemeClr val="tx1"/>
                </a:solidFill>
              </a:rPr>
              <a:t>λE ≈ 0 → H = Rn − G</a:t>
            </a:r>
            <a:endParaRPr lang="en-US" sz="1200" dirty="0"/>
          </a:p>
          <a:p>
            <a:pPr indent="0" marL="0">
              <a:spcAft>
                <a:spcPts val="400"/>
              </a:spcAft>
              <a:buNone/>
            </a:pPr>
            <a:r>
              <a:rPr lang="en-US" sz="1250" b="1" dirty="0">
                <a:solidFill>
                  <a:schemeClr val="tx1"/>
                </a:solidFill>
              </a:rPr>
              <a:t>dT</a:t>
            </a:r>
            <a:r>
              <a:rPr lang="en-US" sz="1250" b="1" baseline="-40000" dirty="0">
                <a:solidFill>
                  <a:schemeClr val="tx1"/>
                </a:solidFill>
              </a:rPr>
              <a:t>hot</a:t>
            </a:r>
            <a:r>
              <a:rPr lang="en-US" sz="1250" b="1" dirty="0">
                <a:solidFill>
                  <a:schemeClr val="tx1"/>
                </a:solidFill>
              </a:rPr>
              <a:t> = H·r</a:t>
            </a:r>
            <a:r>
              <a:rPr lang="en-US" sz="1250" b="1" baseline="-40000" dirty="0">
                <a:solidFill>
                  <a:schemeClr val="tx1"/>
                </a:solidFill>
              </a:rPr>
              <a:t>ah</a:t>
            </a:r>
            <a:r>
              <a:rPr lang="en-US" sz="1250" b="1" dirty="0">
                <a:solidFill>
                  <a:schemeClr val="tx1"/>
                </a:solidFill>
              </a:rPr>
              <a:t>/(ρc</a:t>
            </a:r>
            <a:r>
              <a:rPr lang="en-US" sz="1250" b="1" baseline="-40000" dirty="0">
                <a:solidFill>
                  <a:schemeClr val="tx1"/>
                </a:solidFill>
              </a:rPr>
              <a:t>p</a:t>
            </a:r>
            <a:r>
              <a:rPr lang="en-US" sz="1250" b="1" dirty="0">
                <a:solidFill>
                  <a:schemeClr val="tx1"/>
                </a:solidFill>
              </a:rPr>
              <a:t>)</a:t>
            </a:r>
            <a:endParaRPr lang="en-US" sz="1200" dirty="0"/>
          </a:p>
        </p:txBody>
      </p:sp>
      <p:sp>
        <p:nvSpPr>
          <p:cNvPr id="14" name="card"/>
          <p:cNvSpPr/>
          <p:nvPr/>
        </p:nvSpPr>
        <p:spPr>
          <a:xfrm>
            <a:off x="548640" y="3520440"/>
            <a:ext cx="6720840" cy="2651760"/>
          </a:xfrm>
          <a:prstGeom prst="roundRect">
            <a:avLst>
              <a:gd name="adj" fmla="val 2759"/>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15" name="arrow"/>
          <p:cNvSpPr/>
          <p:nvPr/>
        </p:nvSpPr>
        <p:spPr>
          <a:xfrm>
            <a:off x="1097280" y="5989320"/>
            <a:ext cx="5669280" cy="0"/>
          </a:xfrm>
          <a:prstGeom prst="line">
            <a:avLst/>
          </a:prstGeom>
          <a:noFill/>
          <a:ln w="19050">
            <a:solidFill>
              <a:srgbClr val="1E2430"/>
            </a:solidFill>
            <a:prstDash val="solid"/>
          </a:ln>
        </p:spPr>
      </p:sp>
      <p:sp>
        <p:nvSpPr>
          <p:cNvPr id="16" name="arrow"/>
          <p:cNvSpPr/>
          <p:nvPr/>
        </p:nvSpPr>
        <p:spPr>
          <a:xfrm flipV="1">
            <a:off x="1097280" y="3794760"/>
            <a:ext cx="0" cy="2194560"/>
          </a:xfrm>
          <a:prstGeom prst="line">
            <a:avLst/>
          </a:prstGeom>
          <a:noFill/>
          <a:ln w="19050">
            <a:solidFill>
              <a:srgbClr val="1E2430"/>
            </a:solidFill>
            <a:prstDash val="solid"/>
          </a:ln>
        </p:spPr>
      </p:sp>
      <p:sp>
        <p:nvSpPr>
          <p:cNvPr id="17" name="arrow"/>
          <p:cNvSpPr/>
          <p:nvPr/>
        </p:nvSpPr>
        <p:spPr>
          <a:xfrm flipV="1">
            <a:off x="1828800" y="4114800"/>
            <a:ext cx="4389120" cy="1645920"/>
          </a:xfrm>
          <a:prstGeom prst="line">
            <a:avLst/>
          </a:prstGeom>
          <a:noFill/>
          <a:ln w="38100">
            <a:solidFill>
              <a:srgbClr val="1B4965"/>
            </a:solidFill>
            <a:prstDash val="solid"/>
          </a:ln>
        </p:spPr>
      </p:sp>
      <p:sp>
        <p:nvSpPr>
          <p:cNvPr id="18" name="cold pixel"/>
          <p:cNvSpPr/>
          <p:nvPr/>
        </p:nvSpPr>
        <p:spPr>
          <a:xfrm>
            <a:off x="1709928" y="5641848"/>
            <a:ext cx="237744" cy="237744"/>
          </a:xfrm>
          <a:prstGeom prst="ellipse">
            <a:avLst/>
          </a:prstGeom>
          <a:solidFill>
            <a:srgbClr val="3B6EA5"/>
          </a:solidFill>
          <a:ln w="19050">
            <a:solidFill>
              <a:srgbClr val="FFFFFF"/>
            </a:solidFill>
            <a:prstDash val="solid"/>
          </a:ln>
        </p:spPr>
      </p:sp>
      <p:sp>
        <p:nvSpPr>
          <p:cNvPr id="19" name="hot pixel"/>
          <p:cNvSpPr/>
          <p:nvPr/>
        </p:nvSpPr>
        <p:spPr>
          <a:xfrm>
            <a:off x="6099048" y="3995928"/>
            <a:ext cx="237744" cy="237744"/>
          </a:xfrm>
          <a:prstGeom prst="ellipse">
            <a:avLst/>
          </a:prstGeom>
          <a:solidFill>
            <a:srgbClr val="C0702A"/>
          </a:solidFill>
          <a:ln w="19050">
            <a:solidFill>
              <a:srgbClr val="FFFFFF"/>
            </a:solidFill>
            <a:prstDash val="solid"/>
          </a:ln>
        </p:spPr>
      </p:sp>
      <p:sp>
        <p:nvSpPr>
          <p:cNvPr id="20" name="Text 15"/>
          <p:cNvSpPr txBox="1"/>
          <p:nvPr/>
        </p:nvSpPr>
        <p:spPr>
          <a:xfrm>
            <a:off x="2011680" y="5422392"/>
            <a:ext cx="1645920" cy="274320"/>
          </a:xfrm>
          <a:prstGeom prst="rect">
            <a:avLst/>
          </a:prstGeom>
          <a:noFill/>
          <a:ln/>
        </p:spPr>
        <p:txBody>
          <a:bodyPr wrap="square" lIns="0" tIns="0" rIns="0" bIns="0" rtlCol="0" anchor="ctr"/>
          <a:lstStyle/>
          <a:p>
            <a:pPr algn="l" indent="0" marL="0">
              <a:buNone/>
            </a:pPr>
            <a:r>
              <a:rPr lang="en-US" sz="1150" b="1" dirty="0">
                <a:solidFill>
                  <a:schemeClr val="accent2"/>
                </a:solidFill>
              </a:rPr>
              <a:t>cold: (T</a:t>
            </a:r>
            <a:r>
              <a:rPr lang="en-US" sz="1150" b="1" baseline="-40000" dirty="0">
                <a:solidFill>
                  <a:schemeClr val="accent2"/>
                </a:solidFill>
              </a:rPr>
              <a:t>cold</a:t>
            </a:r>
            <a:r>
              <a:rPr lang="en-US" sz="1150" b="1" dirty="0">
                <a:solidFill>
                  <a:schemeClr val="accent2"/>
                </a:solidFill>
              </a:rPr>
              <a:t>, 0)</a:t>
            </a:r>
            <a:endParaRPr lang="en-US" sz="1150" dirty="0"/>
          </a:p>
        </p:txBody>
      </p:sp>
      <p:sp>
        <p:nvSpPr>
          <p:cNvPr id="21" name="Text 16"/>
          <p:cNvSpPr txBox="1"/>
          <p:nvPr/>
        </p:nvSpPr>
        <p:spPr>
          <a:xfrm>
            <a:off x="4206240" y="3931920"/>
            <a:ext cx="1828800" cy="274320"/>
          </a:xfrm>
          <a:prstGeom prst="rect">
            <a:avLst/>
          </a:prstGeom>
          <a:noFill/>
          <a:ln/>
        </p:spPr>
        <p:txBody>
          <a:bodyPr wrap="square" lIns="0" tIns="0" rIns="0" bIns="0" rtlCol="0" anchor="ctr"/>
          <a:lstStyle/>
          <a:p>
            <a:pPr algn="r" indent="0" marL="0">
              <a:buNone/>
            </a:pPr>
            <a:r>
              <a:rPr lang="en-US" sz="1150" b="1" dirty="0">
                <a:solidFill>
                  <a:schemeClr val="accent4"/>
                </a:solidFill>
              </a:rPr>
              <a:t>hot: (T</a:t>
            </a:r>
            <a:r>
              <a:rPr lang="en-US" sz="1150" b="1" baseline="-40000" dirty="0">
                <a:solidFill>
                  <a:schemeClr val="accent4"/>
                </a:solidFill>
              </a:rPr>
              <a:t>hot</a:t>
            </a:r>
            <a:r>
              <a:rPr lang="en-US" sz="1150" b="1" dirty="0">
                <a:solidFill>
                  <a:schemeClr val="accent4"/>
                </a:solidFill>
              </a:rPr>
              <a:t>, dT</a:t>
            </a:r>
            <a:r>
              <a:rPr lang="en-US" sz="1150" b="1" baseline="-40000" dirty="0">
                <a:solidFill>
                  <a:schemeClr val="accent4"/>
                </a:solidFill>
              </a:rPr>
              <a:t>hot</a:t>
            </a:r>
            <a:r>
              <a:rPr lang="en-US" sz="1150" b="1" dirty="0">
                <a:solidFill>
                  <a:schemeClr val="accent4"/>
                </a:solidFill>
              </a:rPr>
              <a:t>)</a:t>
            </a:r>
            <a:endParaRPr lang="en-US" sz="1150" dirty="0"/>
          </a:p>
        </p:txBody>
      </p:sp>
      <p:sp>
        <p:nvSpPr>
          <p:cNvPr id="22" name="Text 17"/>
          <p:cNvSpPr txBox="1"/>
          <p:nvPr/>
        </p:nvSpPr>
        <p:spPr>
          <a:xfrm>
            <a:off x="3383280" y="4572000"/>
            <a:ext cx="1554480" cy="274320"/>
          </a:xfrm>
          <a:prstGeom prst="rect">
            <a:avLst/>
          </a:prstGeom>
          <a:noFill/>
          <a:ln/>
        </p:spPr>
        <p:txBody>
          <a:bodyPr wrap="square" lIns="0" tIns="0" rIns="0" bIns="0" rtlCol="0" anchor="ctr"/>
          <a:lstStyle/>
          <a:p>
            <a:pPr algn="l" indent="0" marL="0">
              <a:buNone/>
            </a:pPr>
            <a:r>
              <a:rPr lang="en-US" sz="1300" b="1" dirty="0">
                <a:solidFill>
                  <a:schemeClr val="tx2"/>
                </a:solidFill>
              </a:rPr>
              <a:t>dT = a + b·T</a:t>
            </a:r>
            <a:r>
              <a:rPr lang="en-US" sz="1300" b="1" baseline="-40000" dirty="0">
                <a:solidFill>
                  <a:schemeClr val="tx2"/>
                </a:solidFill>
              </a:rPr>
              <a:t>s</a:t>
            </a:r>
            <a:endParaRPr lang="en-US" sz="1300" dirty="0"/>
          </a:p>
        </p:txBody>
      </p:sp>
      <p:sp>
        <p:nvSpPr>
          <p:cNvPr id="23" name="Text 18"/>
          <p:cNvSpPr txBox="1"/>
          <p:nvPr/>
        </p:nvSpPr>
        <p:spPr>
          <a:xfrm>
            <a:off x="6035040" y="6007608"/>
            <a:ext cx="731520" cy="256032"/>
          </a:xfrm>
          <a:prstGeom prst="rect">
            <a:avLst/>
          </a:prstGeom>
          <a:noFill/>
          <a:ln/>
        </p:spPr>
        <p:txBody>
          <a:bodyPr wrap="square" lIns="0" tIns="0" rIns="0" bIns="0" rtlCol="0" anchor="ctr"/>
          <a:lstStyle/>
          <a:p>
            <a:pPr algn="r" indent="0" marL="0">
              <a:buNone/>
            </a:pPr>
            <a:r>
              <a:rPr lang="en-US" sz="1100" dirty="0">
                <a:solidFill>
                  <a:schemeClr val="accent6"/>
                </a:solidFill>
              </a:rPr>
              <a:t>T</a:t>
            </a:r>
            <a:r>
              <a:rPr lang="en-US" sz="1100" baseline="-40000" dirty="0">
                <a:solidFill>
                  <a:schemeClr val="accent6"/>
                </a:solidFill>
              </a:rPr>
              <a:t>s</a:t>
            </a:r>
            <a:r>
              <a:rPr lang="en-US" sz="1100" dirty="0">
                <a:solidFill>
                  <a:schemeClr val="accent6"/>
                </a:solidFill>
              </a:rPr>
              <a:t> →</a:t>
            </a:r>
            <a:endParaRPr lang="en-US" sz="1100" dirty="0"/>
          </a:p>
        </p:txBody>
      </p:sp>
      <p:sp>
        <p:nvSpPr>
          <p:cNvPr id="24" name="Text 19"/>
          <p:cNvSpPr txBox="1"/>
          <p:nvPr/>
        </p:nvSpPr>
        <p:spPr>
          <a:xfrm>
            <a:off x="685800" y="3749040"/>
            <a:ext cx="365760" cy="274320"/>
          </a:xfrm>
          <a:prstGeom prst="rect">
            <a:avLst/>
          </a:prstGeom>
          <a:noFill/>
          <a:ln/>
        </p:spPr>
        <p:txBody>
          <a:bodyPr wrap="square" lIns="0" tIns="0" rIns="0" bIns="0" rtlCol="0" anchor="ctr"/>
          <a:lstStyle/>
          <a:p>
            <a:pPr algn="l" indent="0" marL="0">
              <a:buNone/>
            </a:pPr>
            <a:r>
              <a:rPr lang="en-US" sz="1200" b="1" dirty="0">
                <a:solidFill>
                  <a:schemeClr val="tx1"/>
                </a:solidFill>
              </a:rPr>
              <a:t>dT</a:t>
            </a:r>
            <a:endParaRPr lang="en-US" sz="1200" dirty="0"/>
          </a:p>
        </p:txBody>
      </p:sp>
      <p:sp>
        <p:nvSpPr>
          <p:cNvPr id="25" name="figure frame"/>
          <p:cNvSpPr/>
          <p:nvPr/>
        </p:nvSpPr>
        <p:spPr>
          <a:xfrm>
            <a:off x="7452360" y="1280160"/>
            <a:ext cx="4187952" cy="2240280"/>
          </a:xfrm>
          <a:prstGeom prst="roundRect">
            <a:avLst>
              <a:gd name="adj" fmla="val 2449"/>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26" name="Image 2" descr="SEBAL Fig. 5 (HAPEX-Sahel): δT_{a} vs T_{0} is linear (R² 0.99), T_{a} vs T_{0} is not">    </p:cNvPr>
          <p:cNvPicPr>
            <a:picLocks noChangeAspect="1"/>
          </p:cNvPicPr>
          <p:nvPr/>
        </p:nvPicPr>
        <p:blipFill>
          <a:blip r:embed="rId3"/>
          <a:stretch>
            <a:fillRect/>
          </a:stretch>
        </p:blipFill>
        <p:spPr>
          <a:xfrm>
            <a:off x="7543800" y="1638258"/>
            <a:ext cx="4005072" cy="1524085"/>
          </a:xfrm>
          <a:prstGeom prst="rect">
            <a:avLst/>
          </a:prstGeom>
        </p:spPr>
      </p:pic>
      <p:sp>
        <p:nvSpPr>
          <p:cNvPr id="27" name="Text 21"/>
          <p:cNvSpPr txBox="1"/>
          <p:nvPr/>
        </p:nvSpPr>
        <p:spPr>
          <a:xfrm>
            <a:off x="7452360" y="3566160"/>
            <a:ext cx="4187952" cy="457200"/>
          </a:xfrm>
          <a:prstGeom prst="rect">
            <a:avLst/>
          </a:prstGeom>
          <a:noFill/>
          <a:ln/>
        </p:spPr>
        <p:txBody>
          <a:bodyPr wrap="square" lIns="0" tIns="0" rIns="0" bIns="0" rtlCol="0" anchor="t"/>
          <a:lstStyle/>
          <a:p>
            <a:pPr indent="0" marL="0">
              <a:buNone/>
            </a:pPr>
            <a:r>
              <a:rPr lang="en-US" sz="1100" i="1" dirty="0">
                <a:solidFill>
                  <a:schemeClr val="accent6"/>
                </a:solidFill>
              </a:rPr>
              <a:t>SEBAL Fig. 5 (HAPEX-Sahel): δT</a:t>
            </a:r>
            <a:r>
              <a:rPr lang="en-US" sz="1100" i="1" baseline="-40000" dirty="0">
                <a:solidFill>
                  <a:schemeClr val="accent6"/>
                </a:solidFill>
              </a:rPr>
              <a:t>a</a:t>
            </a:r>
            <a:r>
              <a:rPr lang="en-US" sz="1100" i="1" dirty="0">
                <a:solidFill>
                  <a:schemeClr val="accent6"/>
                </a:solidFill>
              </a:rPr>
              <a:t> vs T</a:t>
            </a:r>
            <a:r>
              <a:rPr lang="en-US" sz="1100" i="1" baseline="-40000" dirty="0">
                <a:solidFill>
                  <a:schemeClr val="accent6"/>
                </a:solidFill>
              </a:rPr>
              <a:t>0</a:t>
            </a:r>
            <a:r>
              <a:rPr lang="en-US" sz="1100" i="1" dirty="0">
                <a:solidFill>
                  <a:schemeClr val="accent6"/>
                </a:solidFill>
              </a:rPr>
              <a:t> is linear (R² 0.99), T</a:t>
            </a:r>
            <a:r>
              <a:rPr lang="en-US" sz="1100" i="1" baseline="-40000" dirty="0">
                <a:solidFill>
                  <a:schemeClr val="accent6"/>
                </a:solidFill>
              </a:rPr>
              <a:t>a</a:t>
            </a:r>
            <a:r>
              <a:rPr lang="en-US" sz="1100" i="1" dirty="0">
                <a:solidFill>
                  <a:schemeClr val="accent6"/>
                </a:solidFill>
              </a:rPr>
              <a:t> vs T</a:t>
            </a:r>
            <a:r>
              <a:rPr lang="en-US" sz="1100" i="1" baseline="-40000" dirty="0">
                <a:solidFill>
                  <a:schemeClr val="accent6"/>
                </a:solidFill>
              </a:rPr>
              <a:t>0</a:t>
            </a:r>
            <a:r>
              <a:rPr lang="en-US" sz="1100" i="1" dirty="0">
                <a:solidFill>
                  <a:schemeClr val="accent6"/>
                </a:solidFill>
              </a:rPr>
              <a:t> is not</a:t>
            </a:r>
            <a:endParaRPr lang="en-US" sz="1100" dirty="0"/>
          </a:p>
        </p:txBody>
      </p:sp>
      <p:sp>
        <p:nvSpPr>
          <p:cNvPr id="28" name="card"/>
          <p:cNvSpPr/>
          <p:nvPr/>
        </p:nvSpPr>
        <p:spPr>
          <a:xfrm>
            <a:off x="7452360" y="4206240"/>
            <a:ext cx="4187952"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29" name="Text 23"/>
          <p:cNvSpPr txBox="1"/>
          <p:nvPr/>
        </p:nvSpPr>
        <p:spPr>
          <a:xfrm>
            <a:off x="7635240" y="4343400"/>
            <a:ext cx="3867912" cy="365760"/>
          </a:xfrm>
          <a:prstGeom prst="rect">
            <a:avLst/>
          </a:prstGeom>
          <a:noFill/>
          <a:ln/>
        </p:spPr>
        <p:txBody>
          <a:bodyPr wrap="square" lIns="0" tIns="0" rIns="0" bIns="0" rtlCol="0" anchor="ctr"/>
          <a:lstStyle/>
          <a:p>
            <a:pPr indent="0" marL="0">
              <a:buNone/>
            </a:pPr>
            <a:r>
              <a:rPr lang="en-US" sz="1400" b="1" dirty="0">
                <a:solidFill>
                  <a:schemeClr val="tx2"/>
                </a:solidFill>
              </a:rPr>
              <a:t>Why it works</a:t>
            </a:r>
            <a:endParaRPr lang="en-US" sz="1400" dirty="0"/>
          </a:p>
        </p:txBody>
      </p:sp>
      <p:sp>
        <p:nvSpPr>
          <p:cNvPr id="30" name="Text 24"/>
          <p:cNvSpPr txBox="1"/>
          <p:nvPr/>
        </p:nvSpPr>
        <p:spPr>
          <a:xfrm>
            <a:off x="7635240" y="4754880"/>
            <a:ext cx="3822192" cy="132588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T</a:t>
            </a:r>
            <a:r>
              <a:rPr lang="en-US" sz="1200" baseline="-40000" dirty="0">
                <a:solidFill>
                  <a:schemeClr val="tx1"/>
                </a:solidFill>
              </a:rPr>
              <a:t>s</a:t>
            </a:r>
            <a:r>
              <a:rPr lang="en-US" sz="1200" dirty="0">
                <a:solidFill>
                  <a:schemeClr val="tx1"/>
                </a:solidFill>
              </a:rPr>
              <a:t> only </a:t>
            </a:r>
            <a:r>
              <a:rPr lang="en-US" sz="1200" i="1" dirty="0">
                <a:solidFill>
                  <a:schemeClr val="tx1"/>
                </a:solidFill>
              </a:rPr>
              <a:t>distributes</a:t>
            </a:r>
            <a:r>
              <a:rPr lang="en-US" sz="1200" dirty="0">
                <a:solidFill>
                  <a:schemeClr val="tx1"/>
                </a:solidFill>
              </a:rPr>
              <a:t> dT; H is anchored at both ends</a:t>
            </a:r>
            <a:endParaRPr lang="en-US" sz="1200" dirty="0"/>
          </a:p>
          <a:p>
            <a:pPr marL="177800" indent="-177800">
              <a:spcAft>
                <a:spcPts val="400"/>
              </a:spcAft>
              <a:buSzPct val="100000"/>
              <a:buChar char="•"/>
            </a:pPr>
            <a:r>
              <a:rPr lang="en-US" sz="1200" dirty="0">
                <a:solidFill>
                  <a:schemeClr val="tx1"/>
                </a:solidFill>
              </a:rPr>
              <a:t>No need for accurate T</a:t>
            </a:r>
            <a:r>
              <a:rPr lang="en-US" sz="1200" baseline="-40000" dirty="0">
                <a:solidFill>
                  <a:schemeClr val="tx1"/>
                </a:solidFill>
              </a:rPr>
              <a:t>a</a:t>
            </a:r>
            <a:r>
              <a:rPr lang="en-US" sz="1200" dirty="0">
                <a:solidFill>
                  <a:schemeClr val="tx1"/>
                </a:solidFill>
              </a:rPr>
              <a:t>, emissivity or atmospheric correction</a:t>
            </a:r>
            <a:endParaRPr lang="en-US" sz="1200" dirty="0"/>
          </a:p>
          <a:p>
            <a:pPr marL="177800" indent="-177800">
              <a:spcAft>
                <a:spcPts val="400"/>
              </a:spcAft>
              <a:buSzPct val="100000"/>
              <a:buChar char="•"/>
            </a:pPr>
            <a:r>
              <a:rPr lang="en-US" sz="1200" dirty="0">
                <a:solidFill>
                  <a:schemeClr val="accent4"/>
                </a:solidFill>
              </a:rPr>
              <a:t>Pixel choice is the main source of error</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Selecting hot and cold pixels in practice</a:t>
            </a:r>
            <a:endParaRPr lang="en-US" sz="3200" dirty="0"/>
          </a:p>
        </p:txBody>
      </p:sp>
      <p:sp>
        <p:nvSpPr>
          <p:cNvPr id="4" name="step number"/>
          <p:cNvSpPr/>
          <p:nvPr/>
        </p:nvSpPr>
        <p:spPr>
          <a:xfrm>
            <a:off x="548640" y="1508760"/>
            <a:ext cx="384048" cy="384048"/>
          </a:xfrm>
          <a:prstGeom prst="ellipse">
            <a:avLst/>
          </a:prstGeom>
          <a:solidFill>
            <a:srgbClr val="1B4965"/>
          </a:solidFill>
          <a:ln/>
        </p:spPr>
      </p:sp>
      <p:sp>
        <p:nvSpPr>
          <p:cNvPr id="5" name="Text 2"/>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25880"/>
            <a:ext cx="5897880" cy="704088"/>
          </a:xfrm>
          <a:prstGeom prst="rect">
            <a:avLst/>
          </a:prstGeom>
          <a:noFill/>
          <a:ln/>
        </p:spPr>
        <p:txBody>
          <a:bodyPr wrap="square" lIns="0" tIns="0" rIns="0" bIns="0" rtlCol="0" anchor="ctr"/>
          <a:lstStyle/>
          <a:p>
            <a:pPr indent="0" marL="0">
              <a:buNone/>
            </a:pPr>
            <a:r>
              <a:rPr lang="en-US" sz="1300" dirty="0">
                <a:solidFill>
                  <a:schemeClr val="tx1"/>
                </a:solidFill>
              </a:rPr>
              <a:t>Mask cropland; remove clouds, water, urban</a:t>
            </a:r>
            <a:endParaRPr lang="en-US" sz="1300" dirty="0"/>
          </a:p>
        </p:txBody>
      </p:sp>
      <p:sp>
        <p:nvSpPr>
          <p:cNvPr id="7" name="step number"/>
          <p:cNvSpPr/>
          <p:nvPr/>
        </p:nvSpPr>
        <p:spPr>
          <a:xfrm>
            <a:off x="548640" y="2258568"/>
            <a:ext cx="384048" cy="384048"/>
          </a:xfrm>
          <a:prstGeom prst="ellipse">
            <a:avLst/>
          </a:prstGeom>
          <a:solidFill>
            <a:srgbClr val="1B4965"/>
          </a:solidFill>
          <a:ln/>
        </p:spPr>
      </p:sp>
      <p:sp>
        <p:nvSpPr>
          <p:cNvPr id="8" name="Text 5"/>
          <p:cNvSpPr txBox="1"/>
          <p:nvPr/>
        </p:nvSpPr>
        <p:spPr>
          <a:xfrm>
            <a:off x="548640" y="22585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75688"/>
            <a:ext cx="5897880" cy="704088"/>
          </a:xfrm>
          <a:prstGeom prst="rect">
            <a:avLst/>
          </a:prstGeom>
          <a:noFill/>
          <a:ln/>
        </p:spPr>
        <p:txBody>
          <a:bodyPr wrap="square" lIns="0" tIns="0" rIns="0" bIns="0" rtlCol="0" anchor="ctr"/>
          <a:lstStyle/>
          <a:p>
            <a:pPr indent="0" marL="0">
              <a:buNone/>
            </a:pPr>
            <a:r>
              <a:rPr lang="en-US" sz="1300" dirty="0">
                <a:solidFill>
                  <a:schemeClr val="tx1"/>
                </a:solidFill>
              </a:rPr>
              <a:t>Cold candidates: NDVI top ~5%, LAI ≥ 3–4, α 0.18–0.25</a:t>
            </a:r>
            <a:endParaRPr lang="en-US" sz="1300" dirty="0"/>
          </a:p>
        </p:txBody>
      </p:sp>
      <p:sp>
        <p:nvSpPr>
          <p:cNvPr id="10" name="step number"/>
          <p:cNvSpPr/>
          <p:nvPr/>
        </p:nvSpPr>
        <p:spPr>
          <a:xfrm>
            <a:off x="548640" y="3008376"/>
            <a:ext cx="384048" cy="384048"/>
          </a:xfrm>
          <a:prstGeom prst="ellipse">
            <a:avLst/>
          </a:prstGeom>
          <a:solidFill>
            <a:srgbClr val="1B4965"/>
          </a:solidFill>
          <a:ln/>
        </p:spPr>
      </p:sp>
      <p:sp>
        <p:nvSpPr>
          <p:cNvPr id="11" name="Text 8"/>
          <p:cNvSpPr txBox="1"/>
          <p:nvPr/>
        </p:nvSpPr>
        <p:spPr>
          <a:xfrm>
            <a:off x="548640" y="30083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825496"/>
            <a:ext cx="5897880" cy="704088"/>
          </a:xfrm>
          <a:prstGeom prst="rect">
            <a:avLst/>
          </a:prstGeom>
          <a:noFill/>
          <a:ln/>
        </p:spPr>
        <p:txBody>
          <a:bodyPr wrap="square" lIns="0" tIns="0" rIns="0" bIns="0" rtlCol="0" anchor="ctr"/>
          <a:lstStyle/>
          <a:p>
            <a:pPr indent="0" marL="0">
              <a:buNone/>
            </a:pPr>
            <a:r>
              <a:rPr lang="en-US" sz="1300" dirty="0">
                <a:solidFill>
                  <a:schemeClr val="tx1"/>
                </a:solidFill>
              </a:rPr>
              <a:t>Coldest T</a:t>
            </a:r>
            <a:r>
              <a:rPr lang="en-US" sz="1300" baseline="-40000" dirty="0">
                <a:solidFill>
                  <a:schemeClr val="tx1"/>
                </a:solidFill>
              </a:rPr>
              <a:t>s</a:t>
            </a:r>
            <a:r>
              <a:rPr lang="en-US" sz="1300" dirty="0">
                <a:solidFill>
                  <a:schemeClr val="tx1"/>
                </a:solidFill>
              </a:rPr>
              <a:t> among them; homogeneous 3 × 3 window</a:t>
            </a:r>
            <a:endParaRPr lang="en-US" sz="1300" dirty="0"/>
          </a:p>
        </p:txBody>
      </p:sp>
      <p:sp>
        <p:nvSpPr>
          <p:cNvPr id="13" name="step number"/>
          <p:cNvSpPr/>
          <p:nvPr/>
        </p:nvSpPr>
        <p:spPr>
          <a:xfrm>
            <a:off x="548640" y="3758184"/>
            <a:ext cx="384048" cy="384048"/>
          </a:xfrm>
          <a:prstGeom prst="ellipse">
            <a:avLst/>
          </a:prstGeom>
          <a:solidFill>
            <a:srgbClr val="1B4965"/>
          </a:solidFill>
          <a:ln/>
        </p:spPr>
      </p:sp>
      <p:sp>
        <p:nvSpPr>
          <p:cNvPr id="14" name="Text 11"/>
          <p:cNvSpPr txBox="1"/>
          <p:nvPr/>
        </p:nvSpPr>
        <p:spPr>
          <a:xfrm>
            <a:off x="548640" y="37581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575304"/>
            <a:ext cx="5897880" cy="704088"/>
          </a:xfrm>
          <a:prstGeom prst="rect">
            <a:avLst/>
          </a:prstGeom>
          <a:noFill/>
          <a:ln/>
        </p:spPr>
        <p:txBody>
          <a:bodyPr wrap="square" lIns="0" tIns="0" rIns="0" bIns="0" rtlCol="0" anchor="ctr"/>
          <a:lstStyle/>
          <a:p>
            <a:pPr indent="0" marL="0">
              <a:buNone/>
            </a:pPr>
            <a:r>
              <a:rPr lang="en-US" sz="1300" dirty="0">
                <a:solidFill>
                  <a:schemeClr val="tx1"/>
                </a:solidFill>
              </a:rPr>
              <a:t>Hot candidates: NDVI &lt; 0.2, bare dry soil, high T</a:t>
            </a:r>
            <a:r>
              <a:rPr lang="en-US" sz="1300" baseline="-40000" dirty="0">
                <a:solidFill>
                  <a:schemeClr val="tx1"/>
                </a:solidFill>
              </a:rPr>
              <a:t>s</a:t>
            </a:r>
            <a:endParaRPr lang="en-US" sz="1300" dirty="0"/>
          </a:p>
        </p:txBody>
      </p:sp>
      <p:sp>
        <p:nvSpPr>
          <p:cNvPr id="16" name="step number"/>
          <p:cNvSpPr/>
          <p:nvPr/>
        </p:nvSpPr>
        <p:spPr>
          <a:xfrm>
            <a:off x="548640" y="4507992"/>
            <a:ext cx="384048" cy="384048"/>
          </a:xfrm>
          <a:prstGeom prst="ellipse">
            <a:avLst/>
          </a:prstGeom>
          <a:solidFill>
            <a:srgbClr val="1B4965"/>
          </a:solidFill>
          <a:ln/>
        </p:spPr>
      </p:sp>
      <p:sp>
        <p:nvSpPr>
          <p:cNvPr id="17" name="Text 14"/>
          <p:cNvSpPr txBox="1"/>
          <p:nvPr/>
        </p:nvSpPr>
        <p:spPr>
          <a:xfrm>
            <a:off x="548640" y="45079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325112"/>
            <a:ext cx="5897880" cy="704088"/>
          </a:xfrm>
          <a:prstGeom prst="rect">
            <a:avLst/>
          </a:prstGeom>
          <a:noFill/>
          <a:ln/>
        </p:spPr>
        <p:txBody>
          <a:bodyPr wrap="square" lIns="0" tIns="0" rIns="0" bIns="0" rtlCol="0" anchor="ctr"/>
          <a:lstStyle/>
          <a:p>
            <a:pPr indent="0" marL="0">
              <a:buNone/>
            </a:pPr>
            <a:r>
              <a:rPr lang="en-US" sz="1300" dirty="0">
                <a:solidFill>
                  <a:schemeClr val="tx1"/>
                </a:solidFill>
              </a:rPr>
              <a:t>Check: no recent rain (soil water balance), not roads or burnt land</a:t>
            </a:r>
            <a:endParaRPr lang="en-US" sz="1300" dirty="0"/>
          </a:p>
        </p:txBody>
      </p:sp>
      <p:sp>
        <p:nvSpPr>
          <p:cNvPr id="19" name="step number"/>
          <p:cNvSpPr/>
          <p:nvPr/>
        </p:nvSpPr>
        <p:spPr>
          <a:xfrm>
            <a:off x="548640" y="5257800"/>
            <a:ext cx="384048" cy="384048"/>
          </a:xfrm>
          <a:prstGeom prst="ellipse">
            <a:avLst/>
          </a:prstGeom>
          <a:solidFill>
            <a:srgbClr val="1B4965"/>
          </a:solidFill>
          <a:ln/>
        </p:spPr>
      </p:sp>
      <p:sp>
        <p:nvSpPr>
          <p:cNvPr id="20" name="Text 17"/>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5074920"/>
            <a:ext cx="5897880" cy="704088"/>
          </a:xfrm>
          <a:prstGeom prst="rect">
            <a:avLst/>
          </a:prstGeom>
          <a:noFill/>
          <a:ln/>
        </p:spPr>
        <p:txBody>
          <a:bodyPr wrap="square" lIns="0" tIns="0" rIns="0" bIns="0" rtlCol="0" anchor="ctr"/>
          <a:lstStyle/>
          <a:p>
            <a:pPr indent="0" marL="0">
              <a:buNone/>
            </a:pPr>
            <a:r>
              <a:rPr lang="en-US" sz="1300" dirty="0">
                <a:solidFill>
                  <a:schemeClr val="tx1"/>
                </a:solidFill>
              </a:rPr>
              <a:t>Fix dT</a:t>
            </a:r>
            <a:r>
              <a:rPr lang="en-US" sz="1300" baseline="-40000" dirty="0">
                <a:solidFill>
                  <a:schemeClr val="tx1"/>
                </a:solidFill>
              </a:rPr>
              <a:t>cold</a:t>
            </a:r>
            <a:r>
              <a:rPr lang="en-US" sz="1300" dirty="0">
                <a:solidFill>
                  <a:schemeClr val="tx1"/>
                </a:solidFill>
              </a:rPr>
              <a:t>, dT</a:t>
            </a:r>
            <a:r>
              <a:rPr lang="en-US" sz="1300" baseline="-40000" dirty="0">
                <a:solidFill>
                  <a:schemeClr val="tx1"/>
                </a:solidFill>
              </a:rPr>
              <a:t>hot</a:t>
            </a:r>
            <a:r>
              <a:rPr lang="en-US" sz="1300" dirty="0">
                <a:solidFill>
                  <a:schemeClr val="tx1"/>
                </a:solidFill>
              </a:rPr>
              <a:t> → a, b; check ET</a:t>
            </a:r>
            <a:r>
              <a:rPr lang="en-US" sz="1300" baseline="-40000" dirty="0">
                <a:solidFill>
                  <a:schemeClr val="tx1"/>
                </a:solidFill>
              </a:rPr>
              <a:t>cold</a:t>
            </a:r>
            <a:r>
              <a:rPr lang="en-US" sz="1300" dirty="0">
                <a:solidFill>
                  <a:schemeClr val="tx1"/>
                </a:solidFill>
              </a:rPr>
              <a:t> ≈ 1.05 ETr</a:t>
            </a:r>
            <a:endParaRPr lang="en-US" sz="1300" dirty="0"/>
          </a:p>
        </p:txBody>
      </p:sp>
      <p:sp>
        <p:nvSpPr>
          <p:cNvPr id="22" name="card"/>
          <p:cNvSpPr/>
          <p:nvPr/>
        </p:nvSpPr>
        <p:spPr>
          <a:xfrm>
            <a:off x="7178040" y="1280160"/>
            <a:ext cx="4462272"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7360920" y="1435608"/>
            <a:ext cx="420624" cy="420624"/>
          </a:xfrm>
          <a:prstGeom prst="ellipse">
            <a:avLst/>
          </a:prstGeom>
          <a:solidFill>
            <a:schemeClr val="accent2"/>
          </a:solidFill>
          <a:ln/>
        </p:spPr>
      </p:sp>
      <p:pic>
        <p:nvPicPr>
          <p:cNvPr id="24" name="Image 0" descr="Tint icon">    </p:cNvPr>
          <p:cNvPicPr>
            <a:picLocks noChangeAspect="1"/>
          </p:cNvPicPr>
          <p:nvPr/>
        </p:nvPicPr>
        <p:blipFill>
          <a:blip r:embed="rId1"/>
          <a:stretch>
            <a:fillRect/>
          </a:stretch>
        </p:blipFill>
        <p:spPr>
          <a:xfrm>
            <a:off x="7470282" y="1544970"/>
            <a:ext cx="201900" cy="201900"/>
          </a:xfrm>
          <a:prstGeom prst="rect">
            <a:avLst/>
          </a:prstGeom>
        </p:spPr>
      </p:pic>
      <p:sp>
        <p:nvSpPr>
          <p:cNvPr id="25" name="Text 21"/>
          <p:cNvSpPr txBox="1"/>
          <p:nvPr/>
        </p:nvSpPr>
        <p:spPr>
          <a:xfrm>
            <a:off x="7891272" y="1417320"/>
            <a:ext cx="3611880" cy="457200"/>
          </a:xfrm>
          <a:prstGeom prst="rect">
            <a:avLst/>
          </a:prstGeom>
          <a:noFill/>
          <a:ln/>
        </p:spPr>
        <p:txBody>
          <a:bodyPr wrap="square" lIns="0" tIns="0" rIns="0" bIns="0" rtlCol="0" anchor="ctr"/>
          <a:lstStyle/>
          <a:p>
            <a:pPr indent="0" marL="0">
              <a:buNone/>
            </a:pPr>
            <a:r>
              <a:rPr lang="en-US" sz="1400" b="1" dirty="0">
                <a:solidFill>
                  <a:schemeClr val="tx2"/>
                </a:solidFill>
              </a:rPr>
              <a:t>Good cold pixel</a:t>
            </a:r>
            <a:endParaRPr lang="en-US" sz="1400" dirty="0"/>
          </a:p>
        </p:txBody>
      </p:sp>
      <p:sp>
        <p:nvSpPr>
          <p:cNvPr id="26" name="Text 22"/>
          <p:cNvSpPr txBox="1"/>
          <p:nvPr/>
        </p:nvSpPr>
        <p:spPr>
          <a:xfrm>
            <a:off x="7360920" y="1965960"/>
            <a:ext cx="4096512" cy="14630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Irrigated, full-cover crop resembling alfalfa or grass reference</a:t>
            </a:r>
            <a:endParaRPr lang="en-US" sz="1200" dirty="0"/>
          </a:p>
          <a:p>
            <a:pPr marL="177800" indent="-177800">
              <a:spcAft>
                <a:spcPts val="400"/>
              </a:spcAft>
              <a:buSzPct val="100000"/>
              <a:buChar char="•"/>
            </a:pPr>
            <a:r>
              <a:rPr lang="en-US" sz="1200" dirty="0">
                <a:solidFill>
                  <a:schemeClr val="tx1"/>
                </a:solidFill>
              </a:rPr>
              <a:t>Not a water body in METRIC (different G and albedo)</a:t>
            </a:r>
            <a:endParaRPr lang="en-US" sz="1200" dirty="0"/>
          </a:p>
        </p:txBody>
      </p:sp>
      <p:sp>
        <p:nvSpPr>
          <p:cNvPr id="27" name="card"/>
          <p:cNvSpPr/>
          <p:nvPr/>
        </p:nvSpPr>
        <p:spPr>
          <a:xfrm>
            <a:off x="7178040" y="3657600"/>
            <a:ext cx="4462272" cy="1828800"/>
          </a:xfrm>
          <a:prstGeom prst="roundRect">
            <a:avLst>
              <a:gd name="adj" fmla="val 4000"/>
            </a:avLst>
          </a:prstGeom>
          <a:solidFill>
            <a:schemeClr val="bg2"/>
          </a:solidFill>
          <a:ln/>
          <a:effectLst>
            <a:outerShdw sx="100000" sy="100000" kx="0" ky="0" algn="bl" rotWithShape="0" blurRad="76200" dist="25400" dir="5400000">
              <a:srgbClr val="000000">
                <a:alpha val="14000"/>
              </a:srgbClr>
            </a:outerShdw>
          </a:effectLst>
        </p:spPr>
      </p:sp>
      <p:sp>
        <p:nvSpPr>
          <p:cNvPr id="28" name="icon circle"/>
          <p:cNvSpPr/>
          <p:nvPr/>
        </p:nvSpPr>
        <p:spPr>
          <a:xfrm>
            <a:off x="7360920" y="3813048"/>
            <a:ext cx="420624" cy="420624"/>
          </a:xfrm>
          <a:prstGeom prst="ellipse">
            <a:avLst/>
          </a:prstGeom>
          <a:solidFill>
            <a:schemeClr val="accent4"/>
          </a:solidFill>
          <a:ln/>
        </p:spPr>
      </p:sp>
      <p:pic>
        <p:nvPicPr>
          <p:cNvPr id="29" name="Image 1" descr="ThermometerHalf icon">    </p:cNvPr>
          <p:cNvPicPr>
            <a:picLocks noChangeAspect="1"/>
          </p:cNvPicPr>
          <p:nvPr/>
        </p:nvPicPr>
        <p:blipFill>
          <a:blip r:embed="rId2"/>
          <a:stretch>
            <a:fillRect/>
          </a:stretch>
        </p:blipFill>
        <p:spPr>
          <a:xfrm>
            <a:off x="7470282" y="3922410"/>
            <a:ext cx="201900" cy="201900"/>
          </a:xfrm>
          <a:prstGeom prst="rect">
            <a:avLst/>
          </a:prstGeom>
        </p:spPr>
      </p:pic>
      <p:sp>
        <p:nvSpPr>
          <p:cNvPr id="30" name="Text 25"/>
          <p:cNvSpPr txBox="1"/>
          <p:nvPr/>
        </p:nvSpPr>
        <p:spPr>
          <a:xfrm>
            <a:off x="7891272" y="3794760"/>
            <a:ext cx="3611880" cy="457200"/>
          </a:xfrm>
          <a:prstGeom prst="rect">
            <a:avLst/>
          </a:prstGeom>
          <a:noFill/>
          <a:ln/>
        </p:spPr>
        <p:txBody>
          <a:bodyPr wrap="square" lIns="0" tIns="0" rIns="0" bIns="0" rtlCol="0" anchor="ctr"/>
          <a:lstStyle/>
          <a:p>
            <a:pPr indent="0" marL="0">
              <a:buNone/>
            </a:pPr>
            <a:r>
              <a:rPr lang="en-US" sz="1400" b="1" dirty="0">
                <a:solidFill>
                  <a:schemeClr val="tx2"/>
                </a:solidFill>
              </a:rPr>
              <a:t>Good hot pixel</a:t>
            </a:r>
            <a:endParaRPr lang="en-US" sz="1400" dirty="0"/>
          </a:p>
        </p:txBody>
      </p:sp>
      <p:sp>
        <p:nvSpPr>
          <p:cNvPr id="31" name="Text 26"/>
          <p:cNvSpPr txBox="1"/>
          <p:nvPr/>
        </p:nvSpPr>
        <p:spPr>
          <a:xfrm>
            <a:off x="7360920" y="4343400"/>
            <a:ext cx="4096512" cy="105156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Bare fallow field, dry for several days; λE ≈ 0 (or soil-water-balance value)</a:t>
            </a:r>
            <a:endParaRPr lang="en-US" sz="1200" dirty="0"/>
          </a:p>
        </p:txBody>
      </p:sp>
      <p:sp>
        <p:nvSpPr>
          <p:cNvPr id="32" name="insight"/>
          <p:cNvSpPr/>
          <p:nvPr/>
        </p:nvSpPr>
        <p:spPr>
          <a:xfrm>
            <a:off x="7178040" y="5577840"/>
            <a:ext cx="4462272" cy="594360"/>
          </a:xfrm>
          <a:prstGeom prst="roundRect">
            <a:avLst>
              <a:gd name="adj" fmla="val 12308"/>
            </a:avLst>
          </a:prstGeom>
          <a:solidFill>
            <a:schemeClr val="bg2"/>
          </a:solidFill>
          <a:ln/>
        </p:spPr>
      </p:sp>
      <p:sp>
        <p:nvSpPr>
          <p:cNvPr id="33" name="icon circle"/>
          <p:cNvSpPr/>
          <p:nvPr/>
        </p:nvSpPr>
        <p:spPr>
          <a:xfrm>
            <a:off x="7315200" y="5637276"/>
            <a:ext cx="475488" cy="475488"/>
          </a:xfrm>
          <a:prstGeom prst="ellipse">
            <a:avLst/>
          </a:prstGeom>
          <a:solidFill>
            <a:schemeClr val="accent3"/>
          </a:solidFill>
          <a:ln/>
        </p:spPr>
      </p:sp>
      <p:pic>
        <p:nvPicPr>
          <p:cNvPr id="34" name="Image 2" descr="Lightbulb icon">    </p:cNvPr>
          <p:cNvPicPr>
            <a:picLocks noChangeAspect="1"/>
          </p:cNvPicPr>
          <p:nvPr/>
        </p:nvPicPr>
        <p:blipFill>
          <a:blip r:embed="rId3"/>
          <a:stretch>
            <a:fillRect/>
          </a:stretch>
        </p:blipFill>
        <p:spPr>
          <a:xfrm>
            <a:off x="7438827" y="5760903"/>
            <a:ext cx="228234" cy="228234"/>
          </a:xfrm>
          <a:prstGeom prst="rect">
            <a:avLst/>
          </a:prstGeom>
        </p:spPr>
      </p:pic>
      <p:sp>
        <p:nvSpPr>
          <p:cNvPr id="35" name="Text 29"/>
          <p:cNvSpPr txBox="1"/>
          <p:nvPr/>
        </p:nvSpPr>
        <p:spPr>
          <a:xfrm>
            <a:off x="7955280" y="5614416"/>
            <a:ext cx="3547872" cy="52120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Automation:</a:t>
            </a:r>
            <a:r>
              <a:rPr lang="en-US" sz="1350" dirty="0">
                <a:solidFill>
                  <a:schemeClr val="tx1"/>
                </a:solidFill>
              </a:rPr>
              <a:t> CIMEC picks anchors from NDVI/T</a:t>
            </a:r>
            <a:r>
              <a:rPr lang="en-US" sz="1350" baseline="-40000" dirty="0">
                <a:solidFill>
                  <a:schemeClr val="tx1"/>
                </a:solidFill>
              </a:rPr>
              <a:t>s</a:t>
            </a:r>
            <a:r>
              <a:rPr lang="en-US" sz="1350" dirty="0">
                <a:solidFill>
                  <a:schemeClr val="tx1"/>
                </a:solidFill>
              </a:rPr>
              <a:t> percentiles (EEFlux, OpenET)</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Surface temperature–albedo space: SEBAL and S-SEBI</a:t>
            </a:r>
            <a:endParaRPr lang="en-US" sz="3200" dirty="0"/>
          </a:p>
        </p:txBody>
      </p:sp>
      <p:sp>
        <p:nvSpPr>
          <p:cNvPr id="4" name="figure frame"/>
          <p:cNvSpPr/>
          <p:nvPr/>
        </p:nvSpPr>
        <p:spPr>
          <a:xfrm>
            <a:off x="548640" y="1280160"/>
            <a:ext cx="6400800" cy="2194560"/>
          </a:xfrm>
          <a:prstGeom prst="roundRect">
            <a:avLst>
              <a:gd name="adj" fmla="val 250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SEBAL Fig. 4: T_{0}–r_{0} from Landsat TM, Qattara Depression (Bastiaanssen et al. 1998)">    </p:cNvPr>
          <p:cNvPicPr>
            <a:picLocks noChangeAspect="1"/>
          </p:cNvPicPr>
          <p:nvPr/>
        </p:nvPicPr>
        <p:blipFill>
          <a:blip r:embed="rId1"/>
          <a:stretch>
            <a:fillRect/>
          </a:stretch>
        </p:blipFill>
        <p:spPr>
          <a:xfrm>
            <a:off x="731520" y="1371600"/>
            <a:ext cx="6035040" cy="2011680"/>
          </a:xfrm>
          <a:prstGeom prst="rect">
            <a:avLst/>
          </a:prstGeom>
        </p:spPr>
      </p:pic>
      <p:sp>
        <p:nvSpPr>
          <p:cNvPr id="6" name="Text 2"/>
          <p:cNvSpPr txBox="1"/>
          <p:nvPr/>
        </p:nvSpPr>
        <p:spPr>
          <a:xfrm>
            <a:off x="548640" y="3520440"/>
            <a:ext cx="6400800" cy="365760"/>
          </a:xfrm>
          <a:prstGeom prst="rect">
            <a:avLst/>
          </a:prstGeom>
          <a:noFill/>
          <a:ln/>
        </p:spPr>
        <p:txBody>
          <a:bodyPr wrap="square" lIns="0" tIns="0" rIns="0" bIns="0" rtlCol="0" anchor="t"/>
          <a:lstStyle/>
          <a:p>
            <a:pPr indent="0" marL="0">
              <a:buNone/>
            </a:pPr>
            <a:r>
              <a:rPr lang="en-US" sz="1100" i="1" dirty="0">
                <a:solidFill>
                  <a:schemeClr val="accent6"/>
                </a:solidFill>
              </a:rPr>
              <a:t>SEBAL Fig. 4: T</a:t>
            </a:r>
            <a:r>
              <a:rPr lang="en-US" sz="1100" i="1" baseline="-40000" dirty="0">
                <a:solidFill>
                  <a:schemeClr val="accent6"/>
                </a:solidFill>
              </a:rPr>
              <a:t>0</a:t>
            </a:r>
            <a:r>
              <a:rPr lang="en-US" sz="1100" i="1" dirty="0">
                <a:solidFill>
                  <a:schemeClr val="accent6"/>
                </a:solidFill>
              </a:rPr>
              <a:t>–r</a:t>
            </a:r>
            <a:r>
              <a:rPr lang="en-US" sz="1100" i="1" baseline="-40000" dirty="0">
                <a:solidFill>
                  <a:schemeClr val="accent6"/>
                </a:solidFill>
              </a:rPr>
              <a:t>0</a:t>
            </a:r>
            <a:r>
              <a:rPr lang="en-US" sz="1100" i="1" dirty="0">
                <a:solidFill>
                  <a:schemeClr val="accent6"/>
                </a:solidFill>
              </a:rPr>
              <a:t> from Landsat TM, Qattara Depression (Bastiaanssen et al. 1998)</a:t>
            </a:r>
            <a:endParaRPr lang="en-US" sz="1100" dirty="0"/>
          </a:p>
        </p:txBody>
      </p:sp>
      <p:sp>
        <p:nvSpPr>
          <p:cNvPr id="7" name="card"/>
          <p:cNvSpPr/>
          <p:nvPr/>
        </p:nvSpPr>
        <p:spPr>
          <a:xfrm>
            <a:off x="548640" y="4069080"/>
            <a:ext cx="3127248"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8" name="Text 4"/>
          <p:cNvSpPr txBox="1"/>
          <p:nvPr/>
        </p:nvSpPr>
        <p:spPr>
          <a:xfrm>
            <a:off x="731520" y="4206240"/>
            <a:ext cx="2807208" cy="365760"/>
          </a:xfrm>
          <a:prstGeom prst="rect">
            <a:avLst/>
          </a:prstGeom>
          <a:noFill/>
          <a:ln/>
        </p:spPr>
        <p:txBody>
          <a:bodyPr wrap="square" lIns="0" tIns="0" rIns="0" bIns="0" rtlCol="0" anchor="ctr"/>
          <a:lstStyle/>
          <a:p>
            <a:pPr indent="0" marL="0">
              <a:buNone/>
            </a:pPr>
            <a:r>
              <a:rPr lang="en-US" sz="1400" b="1" dirty="0">
                <a:solidFill>
                  <a:schemeClr val="accent1"/>
                </a:solidFill>
              </a:rPr>
              <a:t>Evaporation-controlled</a:t>
            </a:r>
            <a:endParaRPr lang="en-US" sz="1400" dirty="0"/>
          </a:p>
        </p:txBody>
      </p:sp>
      <p:sp>
        <p:nvSpPr>
          <p:cNvPr id="9" name="Text 5"/>
          <p:cNvSpPr txBox="1"/>
          <p:nvPr/>
        </p:nvSpPr>
        <p:spPr>
          <a:xfrm>
            <a:off x="731520" y="4617720"/>
            <a:ext cx="2761488" cy="14630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T</a:t>
            </a:r>
            <a:r>
              <a:rPr lang="en-US" sz="1200" baseline="-40000" dirty="0">
                <a:solidFill>
                  <a:schemeClr val="tx1"/>
                </a:solidFill>
              </a:rPr>
              <a:t>0</a:t>
            </a:r>
            <a:r>
              <a:rPr lang="en-US" sz="1200" dirty="0">
                <a:solidFill>
                  <a:schemeClr val="tx1"/>
                </a:solidFill>
              </a:rPr>
              <a:t> rises with r</a:t>
            </a:r>
            <a:r>
              <a:rPr lang="en-US" sz="1200" baseline="-40000" dirty="0">
                <a:solidFill>
                  <a:schemeClr val="tx1"/>
                </a:solidFill>
              </a:rPr>
              <a:t>0</a:t>
            </a:r>
            <a:r>
              <a:rPr lang="en-US" sz="1200" dirty="0">
                <a:solidFill>
                  <a:schemeClr val="tx1"/>
                </a:solidFill>
              </a:rPr>
              <a:t>: drying soil brightens and warms</a:t>
            </a:r>
            <a:endParaRPr lang="en-US" sz="1200" dirty="0"/>
          </a:p>
          <a:p>
            <a:pPr marL="177800" indent="-177800">
              <a:spcAft>
                <a:spcPts val="400"/>
              </a:spcAft>
              <a:buSzPct val="100000"/>
              <a:buChar char="•"/>
            </a:pPr>
            <a:r>
              <a:rPr lang="en-US" sz="1200" dirty="0">
                <a:solidFill>
                  <a:schemeClr val="tx1"/>
                </a:solidFill>
              </a:rPr>
              <a:t>Wet edge: λE = Rn − G, H = 0</a:t>
            </a:r>
            <a:endParaRPr lang="en-US" sz="1200" dirty="0"/>
          </a:p>
        </p:txBody>
      </p:sp>
      <p:sp>
        <p:nvSpPr>
          <p:cNvPr id="10" name="card"/>
          <p:cNvSpPr/>
          <p:nvPr/>
        </p:nvSpPr>
        <p:spPr>
          <a:xfrm>
            <a:off x="3822192" y="4069080"/>
            <a:ext cx="3127248" cy="210312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1" name="Text 7"/>
          <p:cNvSpPr txBox="1"/>
          <p:nvPr/>
        </p:nvSpPr>
        <p:spPr>
          <a:xfrm>
            <a:off x="4005072" y="4206240"/>
            <a:ext cx="2807208" cy="365760"/>
          </a:xfrm>
          <a:prstGeom prst="rect">
            <a:avLst/>
          </a:prstGeom>
          <a:noFill/>
          <a:ln/>
        </p:spPr>
        <p:txBody>
          <a:bodyPr wrap="square" lIns="0" tIns="0" rIns="0" bIns="0" rtlCol="0" anchor="ctr"/>
          <a:lstStyle/>
          <a:p>
            <a:pPr indent="0" marL="0">
              <a:buNone/>
            </a:pPr>
            <a:r>
              <a:rPr lang="en-US" sz="1400" b="1" dirty="0">
                <a:solidFill>
                  <a:schemeClr val="accent4"/>
                </a:solidFill>
              </a:rPr>
              <a:t>Radiation-controlled</a:t>
            </a:r>
            <a:endParaRPr lang="en-US" sz="1400" dirty="0"/>
          </a:p>
        </p:txBody>
      </p:sp>
      <p:sp>
        <p:nvSpPr>
          <p:cNvPr id="12" name="Text 8"/>
          <p:cNvSpPr txBox="1"/>
          <p:nvPr/>
        </p:nvSpPr>
        <p:spPr>
          <a:xfrm>
            <a:off x="4005072" y="4617720"/>
            <a:ext cx="2761488" cy="146304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T</a:t>
            </a:r>
            <a:r>
              <a:rPr lang="en-US" sz="1200" baseline="-40000" dirty="0">
                <a:solidFill>
                  <a:schemeClr val="tx1"/>
                </a:solidFill>
              </a:rPr>
              <a:t>0</a:t>
            </a:r>
            <a:r>
              <a:rPr lang="en-US" sz="1200" dirty="0">
                <a:solidFill>
                  <a:schemeClr val="tx1"/>
                </a:solidFill>
              </a:rPr>
              <a:t> falls with r</a:t>
            </a:r>
            <a:r>
              <a:rPr lang="en-US" sz="1200" baseline="-40000" dirty="0">
                <a:solidFill>
                  <a:schemeClr val="tx1"/>
                </a:solidFill>
              </a:rPr>
              <a:t>0</a:t>
            </a:r>
            <a:r>
              <a:rPr lang="en-US" sz="1200" dirty="0">
                <a:solidFill>
                  <a:schemeClr val="tx1"/>
                </a:solidFill>
              </a:rPr>
              <a:t>: λE ≈ 0, H = Rn − G</a:t>
            </a:r>
            <a:endParaRPr lang="en-US" sz="1200" dirty="0"/>
          </a:p>
          <a:p>
            <a:pPr marL="177800" indent="-177800">
              <a:spcAft>
                <a:spcPts val="400"/>
              </a:spcAft>
              <a:buSzPct val="100000"/>
              <a:buChar char="•"/>
            </a:pPr>
            <a:r>
              <a:rPr lang="en-US" sz="1200" dirty="0">
                <a:solidFill>
                  <a:schemeClr val="tx1"/>
                </a:solidFill>
              </a:rPr>
              <a:t>SEBAL: dry pixels → area-effective r</a:t>
            </a:r>
            <a:r>
              <a:rPr lang="en-US" sz="1200" baseline="-40000" dirty="0">
                <a:solidFill>
                  <a:schemeClr val="tx1"/>
                </a:solidFill>
              </a:rPr>
              <a:t>ah</a:t>
            </a:r>
            <a:r>
              <a:rPr lang="en-US" sz="1200" dirty="0">
                <a:solidFill>
                  <a:schemeClr val="tx1"/>
                </a:solidFill>
              </a:rPr>
              <a:t>, u</a:t>
            </a:r>
            <a:r>
              <a:rPr lang="en-US" sz="1200" baseline="-40000" dirty="0">
                <a:solidFill>
                  <a:schemeClr val="tx1"/>
                </a:solidFill>
              </a:rPr>
              <a:t>*</a:t>
            </a:r>
            <a:endParaRPr lang="en-US" sz="1200" dirty="0"/>
          </a:p>
        </p:txBody>
      </p:sp>
      <p:sp>
        <p:nvSpPr>
          <p:cNvPr id="13" name="figure frame"/>
          <p:cNvSpPr/>
          <p:nvPr/>
        </p:nvSpPr>
        <p:spPr>
          <a:xfrm>
            <a:off x="7178040" y="1280160"/>
            <a:ext cx="4462272" cy="2359152"/>
          </a:xfrm>
          <a:prstGeom prst="roundRect">
            <a:avLst>
              <a:gd name="adj" fmla="val 2326"/>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14" name="Image 1" descr="S-SEBI concept (Li et al. 2009, Fig. 1, after Roerink et al. 2000)">    </p:cNvPr>
          <p:cNvPicPr>
            <a:picLocks noChangeAspect="1"/>
          </p:cNvPicPr>
          <p:nvPr/>
        </p:nvPicPr>
        <p:blipFill>
          <a:blip r:embed="rId2"/>
          <a:stretch>
            <a:fillRect/>
          </a:stretch>
        </p:blipFill>
        <p:spPr>
          <a:xfrm>
            <a:off x="8037109" y="1371600"/>
            <a:ext cx="2744133" cy="2176272"/>
          </a:xfrm>
          <a:prstGeom prst="rect">
            <a:avLst/>
          </a:prstGeom>
        </p:spPr>
      </p:pic>
      <p:sp>
        <p:nvSpPr>
          <p:cNvPr id="15" name="Text 10"/>
          <p:cNvSpPr txBox="1"/>
          <p:nvPr/>
        </p:nvSpPr>
        <p:spPr>
          <a:xfrm>
            <a:off x="7178040" y="3685032"/>
            <a:ext cx="4462272" cy="338328"/>
          </a:xfrm>
          <a:prstGeom prst="rect">
            <a:avLst/>
          </a:prstGeom>
          <a:noFill/>
          <a:ln/>
        </p:spPr>
        <p:txBody>
          <a:bodyPr wrap="square" lIns="0" tIns="0" rIns="0" bIns="0" rtlCol="0" anchor="t"/>
          <a:lstStyle/>
          <a:p>
            <a:pPr indent="0" marL="0">
              <a:buNone/>
            </a:pPr>
            <a:r>
              <a:rPr lang="en-US" sz="1100" i="1" dirty="0">
                <a:solidFill>
                  <a:schemeClr val="accent6"/>
                </a:solidFill>
              </a:rPr>
              <a:t>S-SEBI concept (Li et al. 2009, Fig. 1, after Roerink et al. 2000)</a:t>
            </a:r>
            <a:endParaRPr lang="en-US" sz="1100" dirty="0"/>
          </a:p>
        </p:txBody>
      </p:sp>
      <p:sp>
        <p:nvSpPr>
          <p:cNvPr id="16" name="card"/>
          <p:cNvSpPr/>
          <p:nvPr/>
        </p:nvSpPr>
        <p:spPr>
          <a:xfrm>
            <a:off x="7178040" y="4160520"/>
            <a:ext cx="4462272" cy="658368"/>
          </a:xfrm>
          <a:prstGeom prst="roundRect">
            <a:avLst>
              <a:gd name="adj" fmla="val 11111"/>
            </a:avLst>
          </a:prstGeom>
          <a:solidFill>
            <a:schemeClr val="tx2"/>
          </a:solidFill>
          <a:ln/>
          <a:effectLst>
            <a:outerShdw sx="100000" sy="100000" kx="0" ky="0" algn="bl" rotWithShape="0" blurRad="76200" dist="25400" dir="5400000">
              <a:srgbClr val="000000">
                <a:alpha val="14000"/>
              </a:srgbClr>
            </a:outerShdw>
          </a:effectLst>
        </p:spPr>
      </p:sp>
      <p:sp>
        <p:nvSpPr>
          <p:cNvPr id="17" name="Text 12"/>
          <p:cNvSpPr txBox="1"/>
          <p:nvPr/>
        </p:nvSpPr>
        <p:spPr>
          <a:xfrm>
            <a:off x="7315200" y="4160520"/>
            <a:ext cx="4187952" cy="658368"/>
          </a:xfrm>
          <a:prstGeom prst="rect">
            <a:avLst/>
          </a:prstGeom>
          <a:noFill/>
          <a:ln/>
        </p:spPr>
        <p:txBody>
          <a:bodyPr wrap="square" lIns="0" tIns="0" rIns="0" bIns="0" rtlCol="0" anchor="ctr"/>
          <a:lstStyle/>
          <a:p>
            <a:pPr algn="ctr" indent="0" marL="0">
              <a:buNone/>
            </a:pPr>
            <a:r>
              <a:rPr lang="en-US" sz="1700" b="1" dirty="0">
                <a:solidFill>
                  <a:schemeClr val="bg1"/>
                </a:solidFill>
              </a:rPr>
              <a:t>EF = (T</a:t>
            </a:r>
            <a:r>
              <a:rPr lang="en-US" sz="1700" b="1" baseline="-40000" dirty="0">
                <a:solidFill>
                  <a:schemeClr val="bg1"/>
                </a:solidFill>
              </a:rPr>
              <a:t>H</a:t>
            </a:r>
            <a:r>
              <a:rPr lang="en-US" sz="1700" b="1" dirty="0">
                <a:solidFill>
                  <a:schemeClr val="bg1"/>
                </a:solidFill>
              </a:rPr>
              <a:t> − T</a:t>
            </a:r>
            <a:r>
              <a:rPr lang="en-US" sz="1700" b="1" baseline="-40000" dirty="0">
                <a:solidFill>
                  <a:schemeClr val="bg1"/>
                </a:solidFill>
              </a:rPr>
              <a:t>s</a:t>
            </a:r>
            <a:r>
              <a:rPr lang="en-US" sz="1700" b="1" dirty="0">
                <a:solidFill>
                  <a:schemeClr val="bg1"/>
                </a:solidFill>
              </a:rPr>
              <a:t>) / (T</a:t>
            </a:r>
            <a:r>
              <a:rPr lang="en-US" sz="1700" b="1" baseline="-40000" dirty="0">
                <a:solidFill>
                  <a:schemeClr val="bg1"/>
                </a:solidFill>
              </a:rPr>
              <a:t>H</a:t>
            </a:r>
            <a:r>
              <a:rPr lang="en-US" sz="1700" b="1" dirty="0">
                <a:solidFill>
                  <a:schemeClr val="bg1"/>
                </a:solidFill>
              </a:rPr>
              <a:t> − T</a:t>
            </a:r>
            <a:r>
              <a:rPr lang="en-US" sz="1700" b="1" baseline="-40000" dirty="0">
                <a:solidFill>
                  <a:schemeClr val="bg1"/>
                </a:solidFill>
              </a:rPr>
              <a:t>λE</a:t>
            </a:r>
            <a:r>
              <a:rPr lang="en-US" sz="1700" b="1" dirty="0">
                <a:solidFill>
                  <a:schemeClr val="bg1"/>
                </a:solidFill>
              </a:rPr>
              <a:t>)</a:t>
            </a:r>
            <a:endParaRPr lang="en-US" sz="1700" dirty="0"/>
          </a:p>
        </p:txBody>
      </p:sp>
      <p:sp>
        <p:nvSpPr>
          <p:cNvPr id="18" name="Text 13"/>
          <p:cNvSpPr txBox="1"/>
          <p:nvPr/>
        </p:nvSpPr>
        <p:spPr>
          <a:xfrm>
            <a:off x="7178040" y="4910328"/>
            <a:ext cx="4462272" cy="128016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T</a:t>
            </a:r>
            <a:r>
              <a:rPr lang="en-US" sz="1200" baseline="-40000" dirty="0">
                <a:solidFill>
                  <a:schemeClr val="tx1"/>
                </a:solidFill>
              </a:rPr>
              <a:t>H</a:t>
            </a:r>
            <a:r>
              <a:rPr lang="en-US" sz="1200" dirty="0">
                <a:solidFill>
                  <a:schemeClr val="tx1"/>
                </a:solidFill>
              </a:rPr>
              <a:t> = a</a:t>
            </a:r>
            <a:r>
              <a:rPr lang="en-US" sz="1200" baseline="-40000" dirty="0">
                <a:solidFill>
                  <a:schemeClr val="tx1"/>
                </a:solidFill>
              </a:rPr>
              <a:t>H</a:t>
            </a:r>
            <a:r>
              <a:rPr lang="en-US" sz="1200" dirty="0">
                <a:solidFill>
                  <a:schemeClr val="tx1"/>
                </a:solidFill>
              </a:rPr>
              <a:t> + b</a:t>
            </a:r>
            <a:r>
              <a:rPr lang="en-US" sz="1200" baseline="-40000" dirty="0">
                <a:solidFill>
                  <a:schemeClr val="tx1"/>
                </a:solidFill>
              </a:rPr>
              <a:t>H</a:t>
            </a:r>
            <a:r>
              <a:rPr lang="en-US" sz="1200" dirty="0">
                <a:solidFill>
                  <a:schemeClr val="tx1"/>
                </a:solidFill>
              </a:rPr>
              <a:t>α (dry edge), T</a:t>
            </a:r>
            <a:r>
              <a:rPr lang="en-US" sz="1200" baseline="-40000" dirty="0">
                <a:solidFill>
                  <a:schemeClr val="tx1"/>
                </a:solidFill>
              </a:rPr>
              <a:t>λE</a:t>
            </a:r>
            <a:r>
              <a:rPr lang="en-US" sz="1200" dirty="0">
                <a:solidFill>
                  <a:schemeClr val="tx1"/>
                </a:solidFill>
              </a:rPr>
              <a:t> = a</a:t>
            </a:r>
            <a:r>
              <a:rPr lang="en-US" sz="1200" baseline="-40000" dirty="0">
                <a:solidFill>
                  <a:schemeClr val="tx1"/>
                </a:solidFill>
              </a:rPr>
              <a:t>λE</a:t>
            </a:r>
            <a:r>
              <a:rPr lang="en-US" sz="1200" dirty="0">
                <a:solidFill>
                  <a:schemeClr val="tx1"/>
                </a:solidFill>
              </a:rPr>
              <a:t> + b</a:t>
            </a:r>
            <a:r>
              <a:rPr lang="en-US" sz="1200" baseline="-40000" dirty="0">
                <a:solidFill>
                  <a:schemeClr val="tx1"/>
                </a:solidFill>
              </a:rPr>
              <a:t>λE</a:t>
            </a:r>
            <a:r>
              <a:rPr lang="en-US" sz="1200" dirty="0">
                <a:solidFill>
                  <a:schemeClr val="tx1"/>
                </a:solidFill>
              </a:rPr>
              <a:t>α (wet edge), fitted to the scatter</a:t>
            </a:r>
            <a:endParaRPr lang="en-US" sz="1200" dirty="0"/>
          </a:p>
          <a:p>
            <a:pPr marL="177800" indent="-177800">
              <a:spcAft>
                <a:spcPts val="600"/>
              </a:spcAft>
              <a:buSzPct val="100000"/>
              <a:buChar char="•"/>
            </a:pPr>
            <a:r>
              <a:rPr lang="en-US" sz="1200" dirty="0">
                <a:solidFill>
                  <a:schemeClr val="tx1"/>
                </a:solidFill>
              </a:rPr>
              <a:t>No ground data; extremes vary with albedo</a:t>
            </a:r>
            <a:endParaRPr lang="en-US" sz="1200" dirty="0"/>
          </a:p>
          <a:p>
            <a:pPr marL="177800" indent="-177800">
              <a:spcAft>
                <a:spcPts val="600"/>
              </a:spcAft>
              <a:buSzPct val="100000"/>
              <a:buChar char="•"/>
            </a:pPr>
            <a:r>
              <a:rPr lang="en-US" sz="1200" dirty="0">
                <a:solidFill>
                  <a:schemeClr val="accent4"/>
                </a:solidFill>
              </a:rPr>
              <a:t>Needs uniform atmosphere and both extremes in the scene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METRIC: SEBAL adapted for agriculture</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828800"/>
                <a:gridCol w="4572000"/>
                <a:gridCol w="4690872"/>
              </a:tblGrid>
              <a:tr h="420624">
                <a:tc>
                  <a:txBody>
                    <a:bodyPr/>
                    <a:lstStyle/>
                    <a:p>
                      <a:pPr indent="0" marL="0">
                        <a:buNone/>
                      </a:pP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SEBAL (Bastiaanssen 1998)</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METRIC (Allen et al. 2007)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Cold pixel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 = 0, λE = Rn − G (water body or wet crop)</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ET = 1.05 × ETr (alfalfa reference, weather station)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Hot pixel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λE = 0, H = Rn − 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λE from daily soil water balance (residual evaporation)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Pixel choice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Hydrological extremes in scene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Agricultural fields resembling alfalfa reference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Weather data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Minimal (wind, Rs transmittance)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Hourly weather station: ETr, wind, humidity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Daily scaling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Constant EF: ET</a:t>
                      </a:r>
                      <a:r>
                        <a:rPr lang="en-US" sz="1150" baseline="-40000" dirty="0">
                          <a:solidFill>
                            <a:schemeClr val="tx1"/>
                          </a:solidFill>
                          <a:latin typeface="Calibri" pitchFamily="34" charset="0"/>
                          <a:ea typeface="Calibri" pitchFamily="34" charset="-122"/>
                          <a:cs typeface="Calibri" pitchFamily="34" charset="-120"/>
                        </a:rPr>
                        <a:t>24</a:t>
                      </a:r>
                      <a:r>
                        <a:rPr lang="en-US" sz="1150" dirty="0">
                          <a:solidFill>
                            <a:schemeClr val="tx1"/>
                          </a:solidFill>
                          <a:latin typeface="Calibri" pitchFamily="34" charset="0"/>
                          <a:ea typeface="Calibri" pitchFamily="34" charset="-122"/>
                          <a:cs typeface="Calibri" pitchFamily="34" charset="-120"/>
                        </a:rPr>
                        <a:t> = EF × Rn</a:t>
                      </a:r>
                      <a:r>
                        <a:rPr lang="en-US" sz="1150" baseline="-40000" dirty="0">
                          <a:solidFill>
                            <a:schemeClr val="tx1"/>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Constant ETrF: ET</a:t>
                      </a:r>
                      <a:r>
                        <a:rPr lang="en-US" sz="1150" baseline="-40000" dirty="0">
                          <a:solidFill>
                            <a:schemeClr val="tx1"/>
                          </a:solidFill>
                          <a:latin typeface="Calibri" pitchFamily="34" charset="0"/>
                          <a:ea typeface="Calibri" pitchFamily="34" charset="-122"/>
                          <a:cs typeface="Calibri" pitchFamily="34" charset="-120"/>
                        </a:rPr>
                        <a:t>24</a:t>
                      </a:r>
                      <a:r>
                        <a:rPr lang="en-US" sz="1150" dirty="0">
                          <a:solidFill>
                            <a:schemeClr val="tx1"/>
                          </a:solidFill>
                          <a:latin typeface="Calibri" pitchFamily="34" charset="0"/>
                          <a:ea typeface="Calibri" pitchFamily="34" charset="-122"/>
                          <a:cs typeface="Calibri" pitchFamily="34" charset="-120"/>
                        </a:rPr>
                        <a:t> = ETrF × ETr</a:t>
                      </a:r>
                      <a:r>
                        <a:rPr lang="en-US" sz="1150" baseline="-40000" dirty="0">
                          <a:solidFill>
                            <a:schemeClr val="tx1"/>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Terrain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Flat surfaces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DEM slope, aspect, lapse-rate corrections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Typical use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Basins, any climate, data-poor regions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Field-scale water rights, irrigation (Landsat 30 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insight"/>
          <p:cNvSpPr/>
          <p:nvPr/>
        </p:nvSpPr>
        <p:spPr>
          <a:xfrm>
            <a:off x="548640" y="5257800"/>
            <a:ext cx="11094415" cy="914400"/>
          </a:xfrm>
          <a:prstGeom prst="roundRect">
            <a:avLst>
              <a:gd name="adj" fmla="val 8000"/>
            </a:avLst>
          </a:prstGeom>
          <a:solidFill>
            <a:schemeClr val="bg2"/>
          </a:solidFill>
          <a:ln/>
        </p:spPr>
      </p:sp>
      <p:sp>
        <p:nvSpPr>
          <p:cNvPr id="6" name="icon circle"/>
          <p:cNvSpPr/>
          <p:nvPr/>
        </p:nvSpPr>
        <p:spPr>
          <a:xfrm>
            <a:off x="685800" y="5477256"/>
            <a:ext cx="475488" cy="475488"/>
          </a:xfrm>
          <a:prstGeom prst="ellipse">
            <a:avLst/>
          </a:prstGeom>
          <a:solidFill>
            <a:schemeClr val="accent3"/>
          </a:solidFill>
          <a:ln/>
        </p:spPr>
      </p:sp>
      <p:pic>
        <p:nvPicPr>
          <p:cNvPr id="7" name="Image 0" descr="Lightbulb icon">    </p:cNvPr>
          <p:cNvPicPr>
            <a:picLocks noChangeAspect="1"/>
          </p:cNvPicPr>
          <p:nvPr/>
        </p:nvPicPr>
        <p:blipFill>
          <a:blip r:embed="rId1"/>
          <a:stretch>
            <a:fillRect/>
          </a:stretch>
        </p:blipFill>
        <p:spPr>
          <a:xfrm>
            <a:off x="809427" y="5600883"/>
            <a:ext cx="228234" cy="228234"/>
          </a:xfrm>
          <a:prstGeom prst="rect">
            <a:avLst/>
          </a:prstGeom>
        </p:spPr>
      </p:pic>
      <p:sp>
        <p:nvSpPr>
          <p:cNvPr id="8" name="Text 3"/>
          <p:cNvSpPr txBox="1"/>
          <p:nvPr/>
        </p:nvSpPr>
        <p:spPr>
          <a:xfrm>
            <a:off x="1325880" y="5294376"/>
            <a:ext cx="10180015" cy="84124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Why 1.05 ETr?</a:t>
            </a:r>
            <a:r>
              <a:rPr lang="en-US" sz="1350" dirty="0">
                <a:solidFill>
                  <a:schemeClr val="tx1"/>
                </a:solidFill>
              </a:rPr>
              <a:t> In arid irrigated areas, warm dry air advected over a wet field supplies extra energy, so λE can exceed Rn − G (H &lt; 0). Tying the cold pixel to ETr captures this </a:t>
            </a:r>
            <a:r>
              <a:rPr lang="en-US" sz="1350" b="1" dirty="0">
                <a:solidFill>
                  <a:schemeClr val="tx1"/>
                </a:solidFill>
              </a:rPr>
              <a:t>oasis effect</a:t>
            </a:r>
            <a:r>
              <a:rPr lang="en-US" sz="1350" dirty="0">
                <a:solidFill>
                  <a:schemeClr val="tx1"/>
                </a:solidFill>
              </a:rPr>
              <a:t> and makes METRIC ET consistent with FAO/ASCE Kc</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METRIC step by step</a:t>
            </a:r>
            <a:endParaRPr lang="en-US" sz="3200" dirty="0"/>
          </a:p>
        </p:txBody>
      </p:sp>
      <p:sp>
        <p:nvSpPr>
          <p:cNvPr id="4" name="Text 1"/>
          <p:cNvSpPr txBox="1"/>
          <p:nvPr/>
        </p:nvSpPr>
        <p:spPr>
          <a:xfrm>
            <a:off x="548640" y="1234440"/>
            <a:ext cx="2103120" cy="320040"/>
          </a:xfrm>
          <a:prstGeom prst="rect">
            <a:avLst/>
          </a:prstGeom>
          <a:noFill/>
          <a:ln/>
        </p:spPr>
        <p:txBody>
          <a:bodyPr wrap="square" lIns="0" tIns="0" rIns="0" bIns="0" rtlCol="0" anchor="ctr"/>
          <a:lstStyle/>
          <a:p>
            <a:pPr algn="l" indent="0" marL="0">
              <a:buNone/>
            </a:pPr>
            <a:r>
              <a:rPr lang="en-US" sz="1300" b="1" dirty="0">
                <a:solidFill>
                  <a:schemeClr val="tx2"/>
                </a:solidFill>
              </a:rPr>
              <a:t>Inputs</a:t>
            </a:r>
            <a:endParaRPr lang="en-US" sz="1300" dirty="0"/>
          </a:p>
        </p:txBody>
      </p:sp>
      <p:sp>
        <p:nvSpPr>
          <p:cNvPr id="5" name="diagram box"/>
          <p:cNvSpPr/>
          <p:nvPr/>
        </p:nvSpPr>
        <p:spPr>
          <a:xfrm>
            <a:off x="548640" y="1600200"/>
            <a:ext cx="1691640" cy="914400"/>
          </a:xfrm>
          <a:prstGeom prst="roundRect">
            <a:avLst>
              <a:gd name="adj" fmla="val 8000"/>
            </a:avLst>
          </a:prstGeom>
          <a:solidFill>
            <a:srgbClr val="3B6EA5"/>
          </a:solidFill>
          <a:ln/>
        </p:spPr>
      </p:sp>
      <p:sp>
        <p:nvSpPr>
          <p:cNvPr id="6" name="Text 3"/>
          <p:cNvSpPr txBox="1"/>
          <p:nvPr/>
        </p:nvSpPr>
        <p:spPr>
          <a:xfrm>
            <a:off x="548640" y="1600200"/>
            <a:ext cx="1691640" cy="914400"/>
          </a:xfrm>
          <a:prstGeom prst="rect">
            <a:avLst/>
          </a:prstGeom>
          <a:noFill/>
          <a:ln/>
        </p:spPr>
        <p:txBody>
          <a:bodyPr wrap="square" lIns="508" tIns="508" rIns="508" bIns="508" rtlCol="0" anchor="ctr"/>
          <a:lstStyle/>
          <a:p>
            <a:pPr algn="ctr" indent="0" marL="0">
              <a:buNone/>
            </a:pPr>
            <a:r>
              <a:rPr lang="en-US" sz="1150" b="1" dirty="0">
                <a:solidFill>
                  <a:schemeClr val="bg1"/>
                </a:solidFill>
              </a:rPr>
              <a:t>Landsat VIS–NIR–TIR</a:t>
            </a:r>
            <a:endParaRPr lang="en-US" sz="1150" dirty="0"/>
          </a:p>
        </p:txBody>
      </p:sp>
      <p:sp>
        <p:nvSpPr>
          <p:cNvPr id="7" name="arrow"/>
          <p:cNvSpPr/>
          <p:nvPr/>
        </p:nvSpPr>
        <p:spPr>
          <a:xfrm>
            <a:off x="2249424" y="2057400"/>
            <a:ext cx="237744" cy="0"/>
          </a:xfrm>
          <a:prstGeom prst="line">
            <a:avLst/>
          </a:prstGeom>
          <a:noFill/>
          <a:ln w="19050">
            <a:solidFill>
              <a:srgbClr val="1E2430"/>
            </a:solidFill>
            <a:prstDash val="solid"/>
            <a:tailEnd type="triangle"/>
          </a:ln>
        </p:spPr>
      </p:sp>
      <p:sp>
        <p:nvSpPr>
          <p:cNvPr id="8" name="diagram box"/>
          <p:cNvSpPr/>
          <p:nvPr/>
        </p:nvSpPr>
        <p:spPr>
          <a:xfrm>
            <a:off x="548640" y="2743200"/>
            <a:ext cx="1691640" cy="914400"/>
          </a:xfrm>
          <a:prstGeom prst="roundRect">
            <a:avLst>
              <a:gd name="adj" fmla="val 8000"/>
            </a:avLst>
          </a:prstGeom>
          <a:solidFill>
            <a:srgbClr val="5C6B73"/>
          </a:solidFill>
          <a:ln/>
        </p:spPr>
      </p:sp>
      <p:sp>
        <p:nvSpPr>
          <p:cNvPr id="9" name="Text 6"/>
          <p:cNvSpPr txBox="1"/>
          <p:nvPr/>
        </p:nvSpPr>
        <p:spPr>
          <a:xfrm>
            <a:off x="548640" y="2743200"/>
            <a:ext cx="1691640" cy="914400"/>
          </a:xfrm>
          <a:prstGeom prst="rect">
            <a:avLst/>
          </a:prstGeom>
          <a:noFill/>
          <a:ln/>
        </p:spPr>
        <p:txBody>
          <a:bodyPr wrap="square" lIns="508" tIns="508" rIns="508" bIns="508" rtlCol="0" anchor="ctr"/>
          <a:lstStyle/>
          <a:p>
            <a:pPr algn="ctr" indent="0" marL="0">
              <a:buNone/>
            </a:pPr>
            <a:r>
              <a:rPr lang="en-US" sz="1150" b="1" dirty="0">
                <a:solidFill>
                  <a:schemeClr val="bg1"/>
                </a:solidFill>
              </a:rPr>
              <a:t>DEM: slope, aspect, z</a:t>
            </a:r>
            <a:endParaRPr lang="en-US" sz="1150" dirty="0"/>
          </a:p>
        </p:txBody>
      </p:sp>
      <p:sp>
        <p:nvSpPr>
          <p:cNvPr id="10" name="arrow"/>
          <p:cNvSpPr/>
          <p:nvPr/>
        </p:nvSpPr>
        <p:spPr>
          <a:xfrm>
            <a:off x="2249424" y="3200400"/>
            <a:ext cx="237744" cy="0"/>
          </a:xfrm>
          <a:prstGeom prst="line">
            <a:avLst/>
          </a:prstGeom>
          <a:noFill/>
          <a:ln w="19050">
            <a:solidFill>
              <a:srgbClr val="1E2430"/>
            </a:solidFill>
            <a:prstDash val="solid"/>
            <a:tailEnd type="triangle"/>
          </a:ln>
        </p:spPr>
      </p:sp>
      <p:sp>
        <p:nvSpPr>
          <p:cNvPr id="11" name="diagram box"/>
          <p:cNvSpPr/>
          <p:nvPr/>
        </p:nvSpPr>
        <p:spPr>
          <a:xfrm>
            <a:off x="548640" y="3886200"/>
            <a:ext cx="1691640" cy="914400"/>
          </a:xfrm>
          <a:prstGeom prst="roundRect">
            <a:avLst>
              <a:gd name="adj" fmla="val 8000"/>
            </a:avLst>
          </a:prstGeom>
          <a:solidFill>
            <a:srgbClr val="2E7D4F"/>
          </a:solidFill>
          <a:ln/>
        </p:spPr>
      </p:sp>
      <p:sp>
        <p:nvSpPr>
          <p:cNvPr id="12" name="Text 9"/>
          <p:cNvSpPr txBox="1"/>
          <p:nvPr/>
        </p:nvSpPr>
        <p:spPr>
          <a:xfrm>
            <a:off x="548640" y="3886200"/>
            <a:ext cx="1691640" cy="914400"/>
          </a:xfrm>
          <a:prstGeom prst="rect">
            <a:avLst/>
          </a:prstGeom>
          <a:noFill/>
          <a:ln/>
        </p:spPr>
        <p:txBody>
          <a:bodyPr wrap="square" lIns="508" tIns="508" rIns="508" bIns="508" rtlCol="0" anchor="ctr"/>
          <a:lstStyle/>
          <a:p>
            <a:pPr algn="ctr" indent="0" marL="0">
              <a:buNone/>
            </a:pPr>
            <a:r>
              <a:rPr lang="en-US" sz="1150" b="1" dirty="0">
                <a:solidFill>
                  <a:schemeClr val="bg1"/>
                </a:solidFill>
              </a:rPr>
              <a:t>Hourly weather → ETr (ASCE PM)</a:t>
            </a:r>
            <a:endParaRPr lang="en-US" sz="1150" dirty="0"/>
          </a:p>
        </p:txBody>
      </p:sp>
      <p:sp>
        <p:nvSpPr>
          <p:cNvPr id="13" name="arrow"/>
          <p:cNvSpPr/>
          <p:nvPr/>
        </p:nvSpPr>
        <p:spPr>
          <a:xfrm>
            <a:off x="2249424" y="4343400"/>
            <a:ext cx="237744" cy="0"/>
          </a:xfrm>
          <a:prstGeom prst="line">
            <a:avLst/>
          </a:prstGeom>
          <a:noFill/>
          <a:ln w="19050">
            <a:solidFill>
              <a:srgbClr val="1E2430"/>
            </a:solidFill>
            <a:prstDash val="solid"/>
            <a:tailEnd type="triangle"/>
          </a:ln>
        </p:spPr>
      </p:sp>
      <p:sp>
        <p:nvSpPr>
          <p:cNvPr id="14" name="arrow"/>
          <p:cNvSpPr/>
          <p:nvPr/>
        </p:nvSpPr>
        <p:spPr>
          <a:xfrm>
            <a:off x="2487168" y="2057400"/>
            <a:ext cx="0" cy="2286000"/>
          </a:xfrm>
          <a:prstGeom prst="line">
            <a:avLst/>
          </a:prstGeom>
          <a:noFill/>
          <a:ln w="19050">
            <a:solidFill>
              <a:srgbClr val="1E2430"/>
            </a:solidFill>
            <a:prstDash val="solid"/>
          </a:ln>
        </p:spPr>
      </p:sp>
      <p:sp>
        <p:nvSpPr>
          <p:cNvPr id="15" name="arrow"/>
          <p:cNvSpPr/>
          <p:nvPr/>
        </p:nvSpPr>
        <p:spPr>
          <a:xfrm>
            <a:off x="2487168" y="2057400"/>
            <a:ext cx="18288" cy="0"/>
          </a:xfrm>
          <a:prstGeom prst="line">
            <a:avLst/>
          </a:prstGeom>
          <a:noFill/>
          <a:ln w="19050">
            <a:solidFill>
              <a:srgbClr val="1E2430"/>
            </a:solidFill>
            <a:prstDash val="solid"/>
            <a:tailEnd type="triangle"/>
          </a:ln>
        </p:spPr>
      </p:sp>
      <p:sp>
        <p:nvSpPr>
          <p:cNvPr id="16" name="diagram box"/>
          <p:cNvSpPr/>
          <p:nvPr/>
        </p:nvSpPr>
        <p:spPr>
          <a:xfrm>
            <a:off x="2514600" y="1554480"/>
            <a:ext cx="1691640" cy="960120"/>
          </a:xfrm>
          <a:prstGeom prst="roundRect">
            <a:avLst>
              <a:gd name="adj" fmla="val 7619"/>
            </a:avLst>
          </a:prstGeom>
          <a:solidFill>
            <a:srgbClr val="3B6EA5"/>
          </a:solidFill>
          <a:ln/>
        </p:spPr>
      </p:sp>
      <p:sp>
        <p:nvSpPr>
          <p:cNvPr id="17" name="Text 14"/>
          <p:cNvSpPr txBox="1"/>
          <p:nvPr/>
        </p:nvSpPr>
        <p:spPr>
          <a:xfrm>
            <a:off x="2514600" y="155448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1  α (terrain-corrected), NDVI, LAI, ε</a:t>
            </a:r>
            <a:endParaRPr lang="en-US" sz="1150" dirty="0"/>
          </a:p>
        </p:txBody>
      </p:sp>
      <p:sp>
        <p:nvSpPr>
          <p:cNvPr id="18" name="arrow"/>
          <p:cNvSpPr/>
          <p:nvPr/>
        </p:nvSpPr>
        <p:spPr>
          <a:xfrm>
            <a:off x="4206240" y="2034540"/>
            <a:ext cx="109728" cy="0"/>
          </a:xfrm>
          <a:prstGeom prst="line">
            <a:avLst/>
          </a:prstGeom>
          <a:noFill/>
          <a:ln w="25400">
            <a:solidFill>
              <a:srgbClr val="1E2430"/>
            </a:solidFill>
            <a:prstDash val="solid"/>
            <a:tailEnd type="triangle"/>
          </a:ln>
        </p:spPr>
      </p:sp>
      <p:sp>
        <p:nvSpPr>
          <p:cNvPr id="19" name="diagram box"/>
          <p:cNvSpPr/>
          <p:nvPr/>
        </p:nvSpPr>
        <p:spPr>
          <a:xfrm>
            <a:off x="4315968" y="1554480"/>
            <a:ext cx="1691640" cy="960120"/>
          </a:xfrm>
          <a:prstGeom prst="roundRect">
            <a:avLst>
              <a:gd name="adj" fmla="val 7619"/>
            </a:avLst>
          </a:prstGeom>
          <a:solidFill>
            <a:srgbClr val="C0702A"/>
          </a:solidFill>
          <a:ln/>
        </p:spPr>
      </p:sp>
      <p:sp>
        <p:nvSpPr>
          <p:cNvPr id="20" name="Text 17"/>
          <p:cNvSpPr txBox="1"/>
          <p:nvPr/>
        </p:nvSpPr>
        <p:spPr>
          <a:xfrm>
            <a:off x="4315968" y="155448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2  T</a:t>
            </a:r>
            <a:r>
              <a:rPr lang="en-US" sz="1150" b="1" baseline="-40000" dirty="0">
                <a:solidFill>
                  <a:schemeClr val="bg1"/>
                </a:solidFill>
              </a:rPr>
              <a:t>s</a:t>
            </a:r>
            <a:r>
              <a:rPr lang="en-US" sz="1150" b="1" dirty="0">
                <a:solidFill>
                  <a:schemeClr val="bg1"/>
                </a:solidFill>
              </a:rPr>
              <a:t>; lapse-rate T</a:t>
            </a:r>
            <a:r>
              <a:rPr lang="en-US" sz="1150" b="1" baseline="-40000" dirty="0">
                <a:solidFill>
                  <a:schemeClr val="bg1"/>
                </a:solidFill>
              </a:rPr>
              <a:t>s,datum</a:t>
            </a:r>
            <a:endParaRPr lang="en-US" sz="1150" dirty="0"/>
          </a:p>
        </p:txBody>
      </p:sp>
      <p:sp>
        <p:nvSpPr>
          <p:cNvPr id="21" name="arrow"/>
          <p:cNvSpPr/>
          <p:nvPr/>
        </p:nvSpPr>
        <p:spPr>
          <a:xfrm>
            <a:off x="6007608" y="2034540"/>
            <a:ext cx="109728" cy="0"/>
          </a:xfrm>
          <a:prstGeom prst="line">
            <a:avLst/>
          </a:prstGeom>
          <a:noFill/>
          <a:ln w="25400">
            <a:solidFill>
              <a:srgbClr val="1E2430"/>
            </a:solidFill>
            <a:prstDash val="solid"/>
            <a:tailEnd type="triangle"/>
          </a:ln>
        </p:spPr>
      </p:sp>
      <p:sp>
        <p:nvSpPr>
          <p:cNvPr id="22" name="diagram box"/>
          <p:cNvSpPr/>
          <p:nvPr/>
        </p:nvSpPr>
        <p:spPr>
          <a:xfrm>
            <a:off x="6117336" y="1554480"/>
            <a:ext cx="1691640" cy="960120"/>
          </a:xfrm>
          <a:prstGeom prst="roundRect">
            <a:avLst>
              <a:gd name="adj" fmla="val 7619"/>
            </a:avLst>
          </a:prstGeom>
          <a:solidFill>
            <a:srgbClr val="1B4965"/>
          </a:solidFill>
          <a:ln/>
        </p:spPr>
      </p:sp>
      <p:sp>
        <p:nvSpPr>
          <p:cNvPr id="23" name="Text 20"/>
          <p:cNvSpPr txBox="1"/>
          <p:nvPr/>
        </p:nvSpPr>
        <p:spPr>
          <a:xfrm>
            <a:off x="6117336" y="155448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3  Rn with slope/aspect</a:t>
            </a:r>
            <a:endParaRPr lang="en-US" sz="1150" dirty="0"/>
          </a:p>
        </p:txBody>
      </p:sp>
      <p:sp>
        <p:nvSpPr>
          <p:cNvPr id="24" name="arrow"/>
          <p:cNvSpPr/>
          <p:nvPr/>
        </p:nvSpPr>
        <p:spPr>
          <a:xfrm>
            <a:off x="7808976" y="2034540"/>
            <a:ext cx="109728" cy="0"/>
          </a:xfrm>
          <a:prstGeom prst="line">
            <a:avLst/>
          </a:prstGeom>
          <a:noFill/>
          <a:ln w="25400">
            <a:solidFill>
              <a:srgbClr val="1E2430"/>
            </a:solidFill>
            <a:prstDash val="solid"/>
            <a:tailEnd type="triangle"/>
          </a:ln>
        </p:spPr>
      </p:sp>
      <p:sp>
        <p:nvSpPr>
          <p:cNvPr id="25" name="diagram box"/>
          <p:cNvSpPr/>
          <p:nvPr/>
        </p:nvSpPr>
        <p:spPr>
          <a:xfrm>
            <a:off x="7918704" y="1554480"/>
            <a:ext cx="1691640" cy="960120"/>
          </a:xfrm>
          <a:prstGeom prst="roundRect">
            <a:avLst>
              <a:gd name="adj" fmla="val 7619"/>
            </a:avLst>
          </a:prstGeom>
          <a:solidFill>
            <a:srgbClr val="1B4965"/>
          </a:solidFill>
          <a:ln/>
        </p:spPr>
      </p:sp>
      <p:sp>
        <p:nvSpPr>
          <p:cNvPr id="26" name="Text 23"/>
          <p:cNvSpPr txBox="1"/>
          <p:nvPr/>
        </p:nvSpPr>
        <p:spPr>
          <a:xfrm>
            <a:off x="7918704" y="155448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4  G = f(T</a:t>
            </a:r>
            <a:r>
              <a:rPr lang="en-US" sz="1150" b="1" baseline="-40000" dirty="0">
                <a:solidFill>
                  <a:schemeClr val="bg1"/>
                </a:solidFill>
              </a:rPr>
              <a:t>s</a:t>
            </a:r>
            <a:r>
              <a:rPr lang="en-US" sz="1150" b="1" dirty="0">
                <a:solidFill>
                  <a:schemeClr val="bg1"/>
                </a:solidFill>
              </a:rPr>
              <a:t>, α, NDVI)</a:t>
            </a:r>
            <a:endParaRPr lang="en-US" sz="1150" dirty="0"/>
          </a:p>
        </p:txBody>
      </p:sp>
      <p:sp>
        <p:nvSpPr>
          <p:cNvPr id="27" name="arrow"/>
          <p:cNvSpPr/>
          <p:nvPr/>
        </p:nvSpPr>
        <p:spPr>
          <a:xfrm>
            <a:off x="9610344" y="2034540"/>
            <a:ext cx="109728" cy="0"/>
          </a:xfrm>
          <a:prstGeom prst="line">
            <a:avLst/>
          </a:prstGeom>
          <a:noFill/>
          <a:ln w="25400">
            <a:solidFill>
              <a:srgbClr val="1E2430"/>
            </a:solidFill>
            <a:prstDash val="solid"/>
            <a:tailEnd type="triangle"/>
          </a:ln>
        </p:spPr>
      </p:sp>
      <p:sp>
        <p:nvSpPr>
          <p:cNvPr id="28" name="diagram box"/>
          <p:cNvSpPr/>
          <p:nvPr/>
        </p:nvSpPr>
        <p:spPr>
          <a:xfrm>
            <a:off x="9720072" y="1554480"/>
            <a:ext cx="1691640" cy="960120"/>
          </a:xfrm>
          <a:prstGeom prst="roundRect">
            <a:avLst>
              <a:gd name="adj" fmla="val 7619"/>
            </a:avLst>
          </a:prstGeom>
          <a:solidFill>
            <a:srgbClr val="1B4965"/>
          </a:solidFill>
          <a:ln/>
        </p:spPr>
      </p:sp>
      <p:sp>
        <p:nvSpPr>
          <p:cNvPr id="29" name="Text 26"/>
          <p:cNvSpPr txBox="1"/>
          <p:nvPr/>
        </p:nvSpPr>
        <p:spPr>
          <a:xfrm>
            <a:off x="9720072" y="155448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5  z</a:t>
            </a:r>
            <a:r>
              <a:rPr lang="en-US" sz="1150" b="1" baseline="-40000" dirty="0">
                <a:solidFill>
                  <a:schemeClr val="bg1"/>
                </a:solidFill>
              </a:rPr>
              <a:t>0m</a:t>
            </a:r>
            <a:r>
              <a:rPr lang="en-US" sz="1150" b="1" dirty="0">
                <a:solidFill>
                  <a:schemeClr val="bg1"/>
                </a:solidFill>
              </a:rPr>
              <a:t> from LAI; u at 200 m</a:t>
            </a:r>
            <a:endParaRPr lang="en-US" sz="1150" dirty="0"/>
          </a:p>
        </p:txBody>
      </p:sp>
      <p:sp>
        <p:nvSpPr>
          <p:cNvPr id="30" name="diagram box"/>
          <p:cNvSpPr/>
          <p:nvPr/>
        </p:nvSpPr>
        <p:spPr>
          <a:xfrm>
            <a:off x="9720072" y="3291840"/>
            <a:ext cx="1691640" cy="960120"/>
          </a:xfrm>
          <a:prstGeom prst="roundRect">
            <a:avLst>
              <a:gd name="adj" fmla="val 7619"/>
            </a:avLst>
          </a:prstGeom>
          <a:solidFill>
            <a:srgbClr val="C0702A"/>
          </a:solidFill>
          <a:ln/>
        </p:spPr>
      </p:sp>
      <p:sp>
        <p:nvSpPr>
          <p:cNvPr id="31" name="Text 28"/>
          <p:cNvSpPr txBox="1"/>
          <p:nvPr/>
        </p:nvSpPr>
        <p:spPr>
          <a:xfrm>
            <a:off x="9720072" y="329184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6  Cold: ET = 1.05 ETr;  hot: soil water balance</a:t>
            </a:r>
            <a:endParaRPr lang="en-US" sz="1150" dirty="0"/>
          </a:p>
        </p:txBody>
      </p:sp>
      <p:sp>
        <p:nvSpPr>
          <p:cNvPr id="32" name="arrow"/>
          <p:cNvSpPr/>
          <p:nvPr/>
        </p:nvSpPr>
        <p:spPr>
          <a:xfrm flipH="1">
            <a:off x="9610344" y="3771900"/>
            <a:ext cx="109728" cy="0"/>
          </a:xfrm>
          <a:prstGeom prst="line">
            <a:avLst/>
          </a:prstGeom>
          <a:noFill/>
          <a:ln w="25400">
            <a:solidFill>
              <a:srgbClr val="1E2430"/>
            </a:solidFill>
            <a:prstDash val="solid"/>
            <a:tailEnd type="triangle"/>
          </a:ln>
        </p:spPr>
      </p:sp>
      <p:sp>
        <p:nvSpPr>
          <p:cNvPr id="33" name="diagram box"/>
          <p:cNvSpPr/>
          <p:nvPr/>
        </p:nvSpPr>
        <p:spPr>
          <a:xfrm>
            <a:off x="7918704" y="3291840"/>
            <a:ext cx="1691640" cy="960120"/>
          </a:xfrm>
          <a:prstGeom prst="roundRect">
            <a:avLst>
              <a:gd name="adj" fmla="val 7619"/>
            </a:avLst>
          </a:prstGeom>
          <a:solidFill>
            <a:srgbClr val="C0702A"/>
          </a:solidFill>
          <a:ln/>
        </p:spPr>
      </p:sp>
      <p:sp>
        <p:nvSpPr>
          <p:cNvPr id="34" name="Text 31"/>
          <p:cNvSpPr txBox="1"/>
          <p:nvPr/>
        </p:nvSpPr>
        <p:spPr>
          <a:xfrm>
            <a:off x="7918704" y="329184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7  dT = a + b·T</a:t>
            </a:r>
            <a:r>
              <a:rPr lang="en-US" sz="1150" b="1" baseline="-40000" dirty="0">
                <a:solidFill>
                  <a:schemeClr val="bg1"/>
                </a:solidFill>
              </a:rPr>
              <a:t>s,datum</a:t>
            </a:r>
            <a:endParaRPr lang="en-US" sz="1150" dirty="0"/>
          </a:p>
        </p:txBody>
      </p:sp>
      <p:sp>
        <p:nvSpPr>
          <p:cNvPr id="35" name="arrow"/>
          <p:cNvSpPr/>
          <p:nvPr/>
        </p:nvSpPr>
        <p:spPr>
          <a:xfrm flipH="1">
            <a:off x="7808976" y="3771900"/>
            <a:ext cx="109728" cy="0"/>
          </a:xfrm>
          <a:prstGeom prst="line">
            <a:avLst/>
          </a:prstGeom>
          <a:noFill/>
          <a:ln w="25400">
            <a:solidFill>
              <a:srgbClr val="1E2430"/>
            </a:solidFill>
            <a:prstDash val="solid"/>
            <a:tailEnd type="triangle"/>
          </a:ln>
        </p:spPr>
      </p:sp>
      <p:sp>
        <p:nvSpPr>
          <p:cNvPr id="36" name="diagram box"/>
          <p:cNvSpPr/>
          <p:nvPr/>
        </p:nvSpPr>
        <p:spPr>
          <a:xfrm>
            <a:off x="6117336" y="3291840"/>
            <a:ext cx="1691640" cy="960120"/>
          </a:xfrm>
          <a:prstGeom prst="roundRect">
            <a:avLst>
              <a:gd name="adj" fmla="val 7619"/>
            </a:avLst>
          </a:prstGeom>
          <a:solidFill>
            <a:srgbClr val="6C4F9E"/>
          </a:solidFill>
          <a:ln/>
        </p:spPr>
      </p:sp>
      <p:sp>
        <p:nvSpPr>
          <p:cNvPr id="37" name="Text 34"/>
          <p:cNvSpPr txBox="1"/>
          <p:nvPr/>
        </p:nvSpPr>
        <p:spPr>
          <a:xfrm>
            <a:off x="6117336" y="329184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8  H with stability iteration</a:t>
            </a:r>
            <a:endParaRPr lang="en-US" sz="1150" dirty="0"/>
          </a:p>
        </p:txBody>
      </p:sp>
      <p:sp>
        <p:nvSpPr>
          <p:cNvPr id="38" name="arrow"/>
          <p:cNvSpPr/>
          <p:nvPr/>
        </p:nvSpPr>
        <p:spPr>
          <a:xfrm flipH="1">
            <a:off x="6007608" y="3771900"/>
            <a:ext cx="109728" cy="0"/>
          </a:xfrm>
          <a:prstGeom prst="line">
            <a:avLst/>
          </a:prstGeom>
          <a:noFill/>
          <a:ln w="25400">
            <a:solidFill>
              <a:srgbClr val="1E2430"/>
            </a:solidFill>
            <a:prstDash val="solid"/>
            <a:tailEnd type="triangle"/>
          </a:ln>
        </p:spPr>
      </p:sp>
      <p:sp>
        <p:nvSpPr>
          <p:cNvPr id="39" name="diagram box"/>
          <p:cNvSpPr/>
          <p:nvPr/>
        </p:nvSpPr>
        <p:spPr>
          <a:xfrm>
            <a:off x="4315968" y="3291840"/>
            <a:ext cx="1691640" cy="960120"/>
          </a:xfrm>
          <a:prstGeom prst="roundRect">
            <a:avLst>
              <a:gd name="adj" fmla="val 7619"/>
            </a:avLst>
          </a:prstGeom>
          <a:solidFill>
            <a:srgbClr val="2E7D4F"/>
          </a:solidFill>
          <a:ln/>
        </p:spPr>
      </p:sp>
      <p:sp>
        <p:nvSpPr>
          <p:cNvPr id="40" name="Text 37"/>
          <p:cNvSpPr txBox="1"/>
          <p:nvPr/>
        </p:nvSpPr>
        <p:spPr>
          <a:xfrm>
            <a:off x="4315968" y="329184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9  λE → ET</a:t>
            </a:r>
            <a:r>
              <a:rPr lang="en-US" sz="1150" b="1" baseline="-40000" dirty="0">
                <a:solidFill>
                  <a:schemeClr val="bg1"/>
                </a:solidFill>
              </a:rPr>
              <a:t>inst</a:t>
            </a:r>
            <a:r>
              <a:rPr lang="en-US" sz="1150" b="1" dirty="0">
                <a:solidFill>
                  <a:schemeClr val="bg1"/>
                </a:solidFill>
              </a:rPr>
              <a:t> → ETrF</a:t>
            </a:r>
            <a:endParaRPr lang="en-US" sz="1150" dirty="0"/>
          </a:p>
        </p:txBody>
      </p:sp>
      <p:sp>
        <p:nvSpPr>
          <p:cNvPr id="41" name="arrow"/>
          <p:cNvSpPr/>
          <p:nvPr/>
        </p:nvSpPr>
        <p:spPr>
          <a:xfrm flipH="1">
            <a:off x="4206240" y="3771900"/>
            <a:ext cx="109728" cy="0"/>
          </a:xfrm>
          <a:prstGeom prst="line">
            <a:avLst/>
          </a:prstGeom>
          <a:noFill/>
          <a:ln w="25400">
            <a:solidFill>
              <a:srgbClr val="1E2430"/>
            </a:solidFill>
            <a:prstDash val="solid"/>
            <a:tailEnd type="triangle"/>
          </a:ln>
        </p:spPr>
      </p:sp>
      <p:sp>
        <p:nvSpPr>
          <p:cNvPr id="42" name="diagram box"/>
          <p:cNvSpPr/>
          <p:nvPr/>
        </p:nvSpPr>
        <p:spPr>
          <a:xfrm>
            <a:off x="2514600" y="3291840"/>
            <a:ext cx="1691640" cy="960120"/>
          </a:xfrm>
          <a:prstGeom prst="roundRect">
            <a:avLst>
              <a:gd name="adj" fmla="val 7619"/>
            </a:avLst>
          </a:prstGeom>
          <a:solidFill>
            <a:srgbClr val="2E7D4F"/>
          </a:solidFill>
          <a:ln/>
        </p:spPr>
      </p:sp>
      <p:sp>
        <p:nvSpPr>
          <p:cNvPr id="43" name="Text 40"/>
          <p:cNvSpPr txBox="1"/>
          <p:nvPr/>
        </p:nvSpPr>
        <p:spPr>
          <a:xfrm>
            <a:off x="2514600" y="3291840"/>
            <a:ext cx="1691640" cy="960120"/>
          </a:xfrm>
          <a:prstGeom prst="rect">
            <a:avLst/>
          </a:prstGeom>
          <a:noFill/>
          <a:ln/>
        </p:spPr>
        <p:txBody>
          <a:bodyPr wrap="square" lIns="508" tIns="508" rIns="508" bIns="508" rtlCol="0" anchor="ctr"/>
          <a:lstStyle/>
          <a:p>
            <a:pPr algn="ctr" indent="0" marL="0">
              <a:buNone/>
            </a:pPr>
            <a:r>
              <a:rPr lang="en-US" sz="1150" b="1" dirty="0">
                <a:solidFill>
                  <a:schemeClr val="bg1"/>
                </a:solidFill>
              </a:rPr>
              <a:t>10  ET</a:t>
            </a:r>
            <a:r>
              <a:rPr lang="en-US" sz="1150" b="1" baseline="-40000" dirty="0">
                <a:solidFill>
                  <a:schemeClr val="bg1"/>
                </a:solidFill>
              </a:rPr>
              <a:t>24</a:t>
            </a:r>
            <a:r>
              <a:rPr lang="en-US" sz="1150" b="1" dirty="0">
                <a:solidFill>
                  <a:schemeClr val="bg1"/>
                </a:solidFill>
              </a:rPr>
              <a:t> = ETrF × ETr</a:t>
            </a:r>
            <a:r>
              <a:rPr lang="en-US" sz="1150" b="1" baseline="-40000" dirty="0">
                <a:solidFill>
                  <a:schemeClr val="bg1"/>
                </a:solidFill>
              </a:rPr>
              <a:t>24</a:t>
            </a:r>
            <a:r>
              <a:rPr lang="en-US" sz="1150" b="1" dirty="0">
                <a:solidFill>
                  <a:schemeClr val="bg1"/>
                </a:solidFill>
              </a:rPr>
              <a:t>; seasonal</a:t>
            </a:r>
            <a:endParaRPr lang="en-US" sz="1150" dirty="0"/>
          </a:p>
        </p:txBody>
      </p:sp>
      <p:sp>
        <p:nvSpPr>
          <p:cNvPr id="44" name="arrow"/>
          <p:cNvSpPr/>
          <p:nvPr/>
        </p:nvSpPr>
        <p:spPr>
          <a:xfrm>
            <a:off x="10565892" y="2514600"/>
            <a:ext cx="0" cy="768096"/>
          </a:xfrm>
          <a:prstGeom prst="line">
            <a:avLst/>
          </a:prstGeom>
          <a:noFill/>
          <a:ln w="25400">
            <a:solidFill>
              <a:srgbClr val="1E2430"/>
            </a:solidFill>
            <a:prstDash val="solid"/>
            <a:tailEnd type="triangle"/>
          </a:ln>
        </p:spPr>
      </p:sp>
      <p:sp>
        <p:nvSpPr>
          <p:cNvPr id="45" name="arrow"/>
          <p:cNvSpPr/>
          <p:nvPr/>
        </p:nvSpPr>
        <p:spPr>
          <a:xfrm>
            <a:off x="6963156" y="4251960"/>
            <a:ext cx="0" cy="256032"/>
          </a:xfrm>
          <a:prstGeom prst="line">
            <a:avLst/>
          </a:prstGeom>
          <a:noFill/>
          <a:ln w="25400">
            <a:solidFill>
              <a:srgbClr val="C0702A"/>
            </a:solidFill>
            <a:prstDash val="dash"/>
          </a:ln>
        </p:spPr>
      </p:sp>
      <p:sp>
        <p:nvSpPr>
          <p:cNvPr id="46" name="arrow"/>
          <p:cNvSpPr/>
          <p:nvPr/>
        </p:nvSpPr>
        <p:spPr>
          <a:xfrm>
            <a:off x="6963156" y="4507992"/>
            <a:ext cx="1801368" cy="0"/>
          </a:xfrm>
          <a:prstGeom prst="line">
            <a:avLst/>
          </a:prstGeom>
          <a:noFill/>
          <a:ln w="25400">
            <a:solidFill>
              <a:srgbClr val="C0702A"/>
            </a:solidFill>
            <a:prstDash val="dash"/>
          </a:ln>
        </p:spPr>
      </p:sp>
      <p:sp>
        <p:nvSpPr>
          <p:cNvPr id="47" name="arrow"/>
          <p:cNvSpPr/>
          <p:nvPr/>
        </p:nvSpPr>
        <p:spPr>
          <a:xfrm flipV="1">
            <a:off x="8764524" y="4261104"/>
            <a:ext cx="0" cy="246888"/>
          </a:xfrm>
          <a:prstGeom prst="line">
            <a:avLst/>
          </a:prstGeom>
          <a:noFill/>
          <a:ln w="25400">
            <a:solidFill>
              <a:srgbClr val="C0702A"/>
            </a:solidFill>
            <a:prstDash val="dash"/>
            <a:tailEnd type="triangle"/>
          </a:ln>
        </p:spPr>
      </p:sp>
      <p:sp>
        <p:nvSpPr>
          <p:cNvPr id="48" name="Text 45"/>
          <p:cNvSpPr txBox="1"/>
          <p:nvPr/>
        </p:nvSpPr>
        <p:spPr>
          <a:xfrm>
            <a:off x="7054596" y="4489704"/>
            <a:ext cx="822960" cy="274320"/>
          </a:xfrm>
          <a:prstGeom prst="rect">
            <a:avLst/>
          </a:prstGeom>
          <a:noFill/>
          <a:ln/>
        </p:spPr>
        <p:txBody>
          <a:bodyPr wrap="square" lIns="0" tIns="0" rIns="0" bIns="0" rtlCol="0" anchor="ctr"/>
          <a:lstStyle/>
          <a:p>
            <a:pPr algn="l" indent="0" marL="0">
              <a:buNone/>
            </a:pPr>
            <a:r>
              <a:rPr lang="en-US" sz="1100" b="1" dirty="0">
                <a:solidFill>
                  <a:schemeClr val="accent4"/>
                </a:solidFill>
              </a:rPr>
              <a:t>iterate</a:t>
            </a:r>
            <a:endParaRPr lang="en-US" sz="1100" dirty="0"/>
          </a:p>
        </p:txBody>
      </p:sp>
      <p:sp>
        <p:nvSpPr>
          <p:cNvPr id="49" name="card"/>
          <p:cNvSpPr/>
          <p:nvPr/>
        </p:nvSpPr>
        <p:spPr>
          <a:xfrm>
            <a:off x="548640" y="489204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50" name="Text 47"/>
          <p:cNvSpPr txBox="1"/>
          <p:nvPr/>
        </p:nvSpPr>
        <p:spPr>
          <a:xfrm>
            <a:off x="731520" y="5029200"/>
            <a:ext cx="3227832" cy="365760"/>
          </a:xfrm>
          <a:prstGeom prst="rect">
            <a:avLst/>
          </a:prstGeom>
          <a:noFill/>
          <a:ln/>
        </p:spPr>
        <p:txBody>
          <a:bodyPr wrap="square" lIns="0" tIns="0" rIns="0" bIns="0" rtlCol="0" anchor="ctr"/>
          <a:lstStyle/>
          <a:p>
            <a:pPr indent="0" marL="0">
              <a:buNone/>
            </a:pPr>
            <a:r>
              <a:rPr lang="en-US" sz="1350" b="1" dirty="0">
                <a:solidFill>
                  <a:schemeClr val="accent6"/>
                </a:solidFill>
              </a:rPr>
              <a:t>Terrain</a:t>
            </a:r>
            <a:endParaRPr lang="en-US" sz="1350" dirty="0"/>
          </a:p>
        </p:txBody>
      </p:sp>
      <p:sp>
        <p:nvSpPr>
          <p:cNvPr id="51" name="Text 48"/>
          <p:cNvSpPr txBox="1"/>
          <p:nvPr/>
        </p:nvSpPr>
        <p:spPr>
          <a:xfrm>
            <a:off x="731520" y="5440680"/>
            <a:ext cx="3182112"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Rs on slopes; lapse-rate datum T</a:t>
            </a:r>
            <a:r>
              <a:rPr lang="en-US" sz="1200" baseline="-40000" dirty="0">
                <a:solidFill>
                  <a:schemeClr val="tx1"/>
                </a:solidFill>
              </a:rPr>
              <a:t>s</a:t>
            </a:r>
            <a:endParaRPr lang="en-US" sz="1200" dirty="0"/>
          </a:p>
        </p:txBody>
      </p:sp>
      <p:sp>
        <p:nvSpPr>
          <p:cNvPr id="52" name="card"/>
          <p:cNvSpPr/>
          <p:nvPr/>
        </p:nvSpPr>
        <p:spPr>
          <a:xfrm>
            <a:off x="4297680" y="489204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53" name="Text 50"/>
          <p:cNvSpPr txBox="1"/>
          <p:nvPr/>
        </p:nvSpPr>
        <p:spPr>
          <a:xfrm>
            <a:off x="4480560" y="5029200"/>
            <a:ext cx="3227832" cy="365760"/>
          </a:xfrm>
          <a:prstGeom prst="rect">
            <a:avLst/>
          </a:prstGeom>
          <a:noFill/>
          <a:ln/>
        </p:spPr>
        <p:txBody>
          <a:bodyPr wrap="square" lIns="0" tIns="0" rIns="0" bIns="0" rtlCol="0" anchor="ctr"/>
          <a:lstStyle/>
          <a:p>
            <a:pPr indent="0" marL="0">
              <a:buNone/>
            </a:pPr>
            <a:r>
              <a:rPr lang="en-US" sz="1350" b="1" dirty="0">
                <a:solidFill>
                  <a:schemeClr val="accent4"/>
                </a:solidFill>
              </a:rPr>
              <a:t>Anchors</a:t>
            </a:r>
            <a:endParaRPr lang="en-US" sz="1350" dirty="0"/>
          </a:p>
        </p:txBody>
      </p:sp>
      <p:sp>
        <p:nvSpPr>
          <p:cNvPr id="54" name="Text 51"/>
          <p:cNvSpPr txBox="1"/>
          <p:nvPr/>
        </p:nvSpPr>
        <p:spPr>
          <a:xfrm>
            <a:off x="4480560" y="5440680"/>
            <a:ext cx="3182112"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Tied to ETr: consistent with FAO/ASCE Kc</a:t>
            </a:r>
            <a:endParaRPr lang="en-US" sz="1200" dirty="0"/>
          </a:p>
        </p:txBody>
      </p:sp>
      <p:sp>
        <p:nvSpPr>
          <p:cNvPr id="55" name="card"/>
          <p:cNvSpPr/>
          <p:nvPr/>
        </p:nvSpPr>
        <p:spPr>
          <a:xfrm>
            <a:off x="8046720" y="4892040"/>
            <a:ext cx="3547872"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56" name="Text 53"/>
          <p:cNvSpPr txBox="1"/>
          <p:nvPr/>
        </p:nvSpPr>
        <p:spPr>
          <a:xfrm>
            <a:off x="8229600" y="5029200"/>
            <a:ext cx="3227832" cy="365760"/>
          </a:xfrm>
          <a:prstGeom prst="rect">
            <a:avLst/>
          </a:prstGeom>
          <a:noFill/>
          <a:ln/>
        </p:spPr>
        <p:txBody>
          <a:bodyPr wrap="square" lIns="0" tIns="0" rIns="0" bIns="0" rtlCol="0" anchor="ctr"/>
          <a:lstStyle/>
          <a:p>
            <a:pPr indent="0" marL="0">
              <a:buNone/>
            </a:pPr>
            <a:r>
              <a:rPr lang="en-US" sz="1350" b="1" dirty="0">
                <a:solidFill>
                  <a:schemeClr val="accent1"/>
                </a:solidFill>
              </a:rPr>
              <a:t>Time</a:t>
            </a:r>
            <a:endParaRPr lang="en-US" sz="1350" dirty="0"/>
          </a:p>
        </p:txBody>
      </p:sp>
      <p:sp>
        <p:nvSpPr>
          <p:cNvPr id="57" name="Text 54"/>
          <p:cNvSpPr txBox="1"/>
          <p:nvPr/>
        </p:nvSpPr>
        <p:spPr>
          <a:xfrm>
            <a:off x="8229600" y="5440680"/>
            <a:ext cx="3182112"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ETrF interpolation between images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METRIC: from image dates to seasonal ET</a:t>
            </a:r>
            <a:endParaRPr lang="en-US" sz="3200" dirty="0"/>
          </a:p>
        </p:txBody>
      </p:sp>
      <p:sp>
        <p:nvSpPr>
          <p:cNvPr id="4" name="figure frame"/>
          <p:cNvSpPr/>
          <p:nvPr/>
        </p:nvSpPr>
        <p:spPr>
          <a:xfrm>
            <a:off x="548640" y="1280160"/>
            <a:ext cx="6309360" cy="4507992"/>
          </a:xfrm>
          <a:prstGeom prst="roundRect">
            <a:avLst>
              <a:gd name="adj" fmla="val 121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Illustrative: ETrF at image dates (top), interpolated and multiplied by daily ETr (bottom)">    </p:cNvPr>
          <p:cNvPicPr>
            <a:picLocks noChangeAspect="1"/>
          </p:cNvPicPr>
          <p:nvPr/>
        </p:nvPicPr>
        <p:blipFill>
          <a:blip r:embed="rId1"/>
          <a:stretch>
            <a:fillRect/>
          </a:stretch>
        </p:blipFill>
        <p:spPr>
          <a:xfrm>
            <a:off x="640080" y="1442187"/>
            <a:ext cx="6126480" cy="4183938"/>
          </a:xfrm>
          <a:prstGeom prst="rect">
            <a:avLst/>
          </a:prstGeom>
        </p:spPr>
      </p:pic>
      <p:sp>
        <p:nvSpPr>
          <p:cNvPr id="6" name="Text 2"/>
          <p:cNvSpPr txBox="1"/>
          <p:nvPr/>
        </p:nvSpPr>
        <p:spPr>
          <a:xfrm>
            <a:off x="548640" y="5833872"/>
            <a:ext cx="6309360" cy="338328"/>
          </a:xfrm>
          <a:prstGeom prst="rect">
            <a:avLst/>
          </a:prstGeom>
          <a:noFill/>
          <a:ln/>
        </p:spPr>
        <p:txBody>
          <a:bodyPr wrap="square" lIns="0" tIns="0" rIns="0" bIns="0" rtlCol="0" anchor="t"/>
          <a:lstStyle/>
          <a:p>
            <a:pPr indent="0" marL="0">
              <a:buNone/>
            </a:pPr>
            <a:r>
              <a:rPr lang="en-US" sz="1100" i="1" dirty="0">
                <a:solidFill>
                  <a:schemeClr val="accent6"/>
                </a:solidFill>
              </a:rPr>
              <a:t>Illustrative: ETrF at image dates (top), interpolated and multiplied by daily ETr (bottom)</a:t>
            </a:r>
            <a:endParaRPr lang="en-US" sz="1100" dirty="0"/>
          </a:p>
        </p:txBody>
      </p:sp>
      <p:sp>
        <p:nvSpPr>
          <p:cNvPr id="7" name="step number"/>
          <p:cNvSpPr/>
          <p:nvPr/>
        </p:nvSpPr>
        <p:spPr>
          <a:xfrm>
            <a:off x="7086600" y="1490472"/>
            <a:ext cx="384048" cy="384048"/>
          </a:xfrm>
          <a:prstGeom prst="ellipse">
            <a:avLst/>
          </a:prstGeom>
          <a:solidFill>
            <a:srgbClr val="2E7D4F"/>
          </a:solidFill>
          <a:ln/>
        </p:spPr>
      </p:sp>
      <p:sp>
        <p:nvSpPr>
          <p:cNvPr id="8" name="Text 4"/>
          <p:cNvSpPr txBox="1"/>
          <p:nvPr/>
        </p:nvSpPr>
        <p:spPr>
          <a:xfrm>
            <a:off x="7086600" y="1490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5"/>
          <p:cNvSpPr txBox="1"/>
          <p:nvPr/>
        </p:nvSpPr>
        <p:spPr>
          <a:xfrm>
            <a:off x="7589520" y="1325880"/>
            <a:ext cx="4050792" cy="667512"/>
          </a:xfrm>
          <a:prstGeom prst="rect">
            <a:avLst/>
          </a:prstGeom>
          <a:noFill/>
          <a:ln/>
        </p:spPr>
        <p:txBody>
          <a:bodyPr wrap="square" lIns="0" tIns="0" rIns="0" bIns="0" rtlCol="0" anchor="ctr"/>
          <a:lstStyle/>
          <a:p>
            <a:pPr indent="0" marL="0">
              <a:buNone/>
            </a:pPr>
            <a:r>
              <a:rPr lang="en-US" sz="1250" dirty="0">
                <a:solidFill>
                  <a:schemeClr val="tx1"/>
                </a:solidFill>
              </a:rPr>
              <a:t>Run the energy balance for each clear Landsat image</a:t>
            </a:r>
            <a:endParaRPr lang="en-US" sz="1250" dirty="0"/>
          </a:p>
        </p:txBody>
      </p:sp>
      <p:sp>
        <p:nvSpPr>
          <p:cNvPr id="10" name="step number"/>
          <p:cNvSpPr/>
          <p:nvPr/>
        </p:nvSpPr>
        <p:spPr>
          <a:xfrm>
            <a:off x="7086600" y="2203704"/>
            <a:ext cx="384048" cy="384048"/>
          </a:xfrm>
          <a:prstGeom prst="ellipse">
            <a:avLst/>
          </a:prstGeom>
          <a:solidFill>
            <a:srgbClr val="2E7D4F"/>
          </a:solidFill>
          <a:ln/>
        </p:spPr>
      </p:sp>
      <p:sp>
        <p:nvSpPr>
          <p:cNvPr id="11" name="Text 7"/>
          <p:cNvSpPr txBox="1"/>
          <p:nvPr/>
        </p:nvSpPr>
        <p:spPr>
          <a:xfrm>
            <a:off x="7086600" y="22037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8"/>
          <p:cNvSpPr txBox="1"/>
          <p:nvPr/>
        </p:nvSpPr>
        <p:spPr>
          <a:xfrm>
            <a:off x="7589520" y="2039112"/>
            <a:ext cx="4050792" cy="667512"/>
          </a:xfrm>
          <a:prstGeom prst="rect">
            <a:avLst/>
          </a:prstGeom>
          <a:noFill/>
          <a:ln/>
        </p:spPr>
        <p:txBody>
          <a:bodyPr wrap="square" lIns="0" tIns="0" rIns="0" bIns="0" rtlCol="0" anchor="ctr"/>
          <a:lstStyle/>
          <a:p>
            <a:pPr indent="0" marL="0">
              <a:buNone/>
            </a:pPr>
            <a:r>
              <a:rPr lang="en-US" sz="1250" dirty="0">
                <a:solidFill>
                  <a:schemeClr val="tx1"/>
                </a:solidFill>
              </a:rPr>
              <a:t>ET</a:t>
            </a:r>
            <a:r>
              <a:rPr lang="en-US" sz="1250" baseline="-40000" dirty="0">
                <a:solidFill>
                  <a:schemeClr val="tx1"/>
                </a:solidFill>
              </a:rPr>
              <a:t>inst</a:t>
            </a:r>
            <a:r>
              <a:rPr lang="en-US" sz="1250" dirty="0">
                <a:solidFill>
                  <a:schemeClr val="tx1"/>
                </a:solidFill>
              </a:rPr>
              <a:t> = 3600·λE / (λ·ρ</a:t>
            </a:r>
            <a:r>
              <a:rPr lang="en-US" sz="1250" baseline="-40000" dirty="0">
                <a:solidFill>
                  <a:schemeClr val="tx1"/>
                </a:solidFill>
              </a:rPr>
              <a:t>w</a:t>
            </a:r>
            <a:r>
              <a:rPr lang="en-US" sz="1250" dirty="0">
                <a:solidFill>
                  <a:schemeClr val="tx1"/>
                </a:solidFill>
              </a:rPr>
              <a:t>) (mm h⁻¹)</a:t>
            </a:r>
            <a:endParaRPr lang="en-US" sz="1250" dirty="0"/>
          </a:p>
        </p:txBody>
      </p:sp>
      <p:sp>
        <p:nvSpPr>
          <p:cNvPr id="13" name="step number"/>
          <p:cNvSpPr/>
          <p:nvPr/>
        </p:nvSpPr>
        <p:spPr>
          <a:xfrm>
            <a:off x="7086600" y="2916936"/>
            <a:ext cx="384048" cy="384048"/>
          </a:xfrm>
          <a:prstGeom prst="ellipse">
            <a:avLst/>
          </a:prstGeom>
          <a:solidFill>
            <a:srgbClr val="2E7D4F"/>
          </a:solidFill>
          <a:ln/>
        </p:spPr>
      </p:sp>
      <p:sp>
        <p:nvSpPr>
          <p:cNvPr id="14" name="Text 10"/>
          <p:cNvSpPr txBox="1"/>
          <p:nvPr/>
        </p:nvSpPr>
        <p:spPr>
          <a:xfrm>
            <a:off x="7086600"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1"/>
          <p:cNvSpPr txBox="1"/>
          <p:nvPr/>
        </p:nvSpPr>
        <p:spPr>
          <a:xfrm>
            <a:off x="7589520" y="2752344"/>
            <a:ext cx="4050792" cy="667512"/>
          </a:xfrm>
          <a:prstGeom prst="rect">
            <a:avLst/>
          </a:prstGeom>
          <a:noFill/>
          <a:ln/>
        </p:spPr>
        <p:txBody>
          <a:bodyPr wrap="square" lIns="0" tIns="0" rIns="0" bIns="0" rtlCol="0" anchor="ctr"/>
          <a:lstStyle/>
          <a:p>
            <a:pPr indent="0" marL="0">
              <a:buNone/>
            </a:pPr>
            <a:r>
              <a:rPr lang="en-US" sz="1250" dirty="0">
                <a:solidFill>
                  <a:schemeClr val="tx1"/>
                </a:solidFill>
              </a:rPr>
              <a:t>ETrF = ET</a:t>
            </a:r>
            <a:r>
              <a:rPr lang="en-US" sz="1250" baseline="-40000" dirty="0">
                <a:solidFill>
                  <a:schemeClr val="tx1"/>
                </a:solidFill>
              </a:rPr>
              <a:t>inst</a:t>
            </a:r>
            <a:r>
              <a:rPr lang="en-US" sz="1250" dirty="0">
                <a:solidFill>
                  <a:schemeClr val="tx1"/>
                </a:solidFill>
              </a:rPr>
              <a:t> / ETr</a:t>
            </a:r>
            <a:r>
              <a:rPr lang="en-US" sz="1250" baseline="-40000" dirty="0">
                <a:solidFill>
                  <a:schemeClr val="tx1"/>
                </a:solidFill>
              </a:rPr>
              <a:t>inst</a:t>
            </a:r>
            <a:r>
              <a:rPr lang="en-US" sz="1250" dirty="0">
                <a:solidFill>
                  <a:schemeClr val="tx1"/>
                </a:solidFill>
              </a:rPr>
              <a:t> (behaves like Kc)</a:t>
            </a:r>
            <a:endParaRPr lang="en-US" sz="1250" dirty="0"/>
          </a:p>
        </p:txBody>
      </p:sp>
      <p:sp>
        <p:nvSpPr>
          <p:cNvPr id="16" name="step number"/>
          <p:cNvSpPr/>
          <p:nvPr/>
        </p:nvSpPr>
        <p:spPr>
          <a:xfrm>
            <a:off x="7086600" y="3630168"/>
            <a:ext cx="384048" cy="384048"/>
          </a:xfrm>
          <a:prstGeom prst="ellipse">
            <a:avLst/>
          </a:prstGeom>
          <a:solidFill>
            <a:srgbClr val="2E7D4F"/>
          </a:solidFill>
          <a:ln/>
        </p:spPr>
      </p:sp>
      <p:sp>
        <p:nvSpPr>
          <p:cNvPr id="17" name="Text 13"/>
          <p:cNvSpPr txBox="1"/>
          <p:nvPr/>
        </p:nvSpPr>
        <p:spPr>
          <a:xfrm>
            <a:off x="7086600" y="36301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4"/>
          <p:cNvSpPr txBox="1"/>
          <p:nvPr/>
        </p:nvSpPr>
        <p:spPr>
          <a:xfrm>
            <a:off x="7589520" y="3465576"/>
            <a:ext cx="4050792" cy="667512"/>
          </a:xfrm>
          <a:prstGeom prst="rect">
            <a:avLst/>
          </a:prstGeom>
          <a:noFill/>
          <a:ln/>
        </p:spPr>
        <p:txBody>
          <a:bodyPr wrap="square" lIns="0" tIns="0" rIns="0" bIns="0" rtlCol="0" anchor="ctr"/>
          <a:lstStyle/>
          <a:p>
            <a:pPr indent="0" marL="0">
              <a:buNone/>
            </a:pPr>
            <a:r>
              <a:rPr lang="en-US" sz="1250" dirty="0">
                <a:solidFill>
                  <a:schemeClr val="tx1"/>
                </a:solidFill>
              </a:rPr>
              <a:t>ET</a:t>
            </a:r>
            <a:r>
              <a:rPr lang="en-US" sz="1250" baseline="-40000" dirty="0">
                <a:solidFill>
                  <a:schemeClr val="tx1"/>
                </a:solidFill>
              </a:rPr>
              <a:t>24</a:t>
            </a:r>
            <a:r>
              <a:rPr lang="en-US" sz="1250" dirty="0">
                <a:solidFill>
                  <a:schemeClr val="tx1"/>
                </a:solidFill>
              </a:rPr>
              <a:t> = C</a:t>
            </a:r>
            <a:r>
              <a:rPr lang="en-US" sz="1250" baseline="-40000" dirty="0">
                <a:solidFill>
                  <a:schemeClr val="tx1"/>
                </a:solidFill>
              </a:rPr>
              <a:t>rad</a:t>
            </a:r>
            <a:r>
              <a:rPr lang="en-US" sz="1250" dirty="0">
                <a:solidFill>
                  <a:schemeClr val="tx1"/>
                </a:solidFill>
              </a:rPr>
              <a:t> × ETrF × ETr</a:t>
            </a:r>
            <a:r>
              <a:rPr lang="en-US" sz="1250" baseline="-40000" dirty="0">
                <a:solidFill>
                  <a:schemeClr val="tx1"/>
                </a:solidFill>
              </a:rPr>
              <a:t>24</a:t>
            </a:r>
            <a:r>
              <a:rPr lang="en-US" sz="1250" dirty="0">
                <a:solidFill>
                  <a:schemeClr val="tx1"/>
                </a:solidFill>
              </a:rPr>
              <a:t> (C</a:t>
            </a:r>
            <a:r>
              <a:rPr lang="en-US" sz="1250" baseline="-40000" dirty="0">
                <a:solidFill>
                  <a:schemeClr val="tx1"/>
                </a:solidFill>
              </a:rPr>
              <a:t>rad</a:t>
            </a:r>
            <a:r>
              <a:rPr lang="en-US" sz="1250" dirty="0">
                <a:solidFill>
                  <a:schemeClr val="tx1"/>
                </a:solidFill>
              </a:rPr>
              <a:t> = slope correction)</a:t>
            </a:r>
            <a:endParaRPr lang="en-US" sz="1250" dirty="0"/>
          </a:p>
        </p:txBody>
      </p:sp>
      <p:sp>
        <p:nvSpPr>
          <p:cNvPr id="19" name="step number"/>
          <p:cNvSpPr/>
          <p:nvPr/>
        </p:nvSpPr>
        <p:spPr>
          <a:xfrm>
            <a:off x="7086600" y="4343400"/>
            <a:ext cx="384048" cy="384048"/>
          </a:xfrm>
          <a:prstGeom prst="ellipse">
            <a:avLst/>
          </a:prstGeom>
          <a:solidFill>
            <a:srgbClr val="2E7D4F"/>
          </a:solidFill>
          <a:ln/>
        </p:spPr>
      </p:sp>
      <p:sp>
        <p:nvSpPr>
          <p:cNvPr id="20" name="Text 16"/>
          <p:cNvSpPr txBox="1"/>
          <p:nvPr/>
        </p:nvSpPr>
        <p:spPr>
          <a:xfrm>
            <a:off x="7086600" y="4343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7"/>
          <p:cNvSpPr txBox="1"/>
          <p:nvPr/>
        </p:nvSpPr>
        <p:spPr>
          <a:xfrm>
            <a:off x="7589520" y="4178808"/>
            <a:ext cx="4050792" cy="667512"/>
          </a:xfrm>
          <a:prstGeom prst="rect">
            <a:avLst/>
          </a:prstGeom>
          <a:noFill/>
          <a:ln/>
        </p:spPr>
        <p:txBody>
          <a:bodyPr wrap="square" lIns="0" tIns="0" rIns="0" bIns="0" rtlCol="0" anchor="ctr"/>
          <a:lstStyle/>
          <a:p>
            <a:pPr indent="0" marL="0">
              <a:buNone/>
            </a:pPr>
            <a:r>
              <a:rPr lang="en-US" sz="1250" dirty="0">
                <a:solidFill>
                  <a:schemeClr val="tx1"/>
                </a:solidFill>
              </a:rPr>
              <a:t>Interpolate ETrF between images (spline); fill cloud gaps</a:t>
            </a:r>
            <a:endParaRPr lang="en-US" sz="1250" dirty="0"/>
          </a:p>
        </p:txBody>
      </p:sp>
      <p:sp>
        <p:nvSpPr>
          <p:cNvPr id="22" name="step number"/>
          <p:cNvSpPr/>
          <p:nvPr/>
        </p:nvSpPr>
        <p:spPr>
          <a:xfrm>
            <a:off x="7086600" y="5056632"/>
            <a:ext cx="384048" cy="384048"/>
          </a:xfrm>
          <a:prstGeom prst="ellipse">
            <a:avLst/>
          </a:prstGeom>
          <a:solidFill>
            <a:srgbClr val="2E7D4F"/>
          </a:solidFill>
          <a:ln/>
        </p:spPr>
      </p:sp>
      <p:sp>
        <p:nvSpPr>
          <p:cNvPr id="23" name="Text 19"/>
          <p:cNvSpPr txBox="1"/>
          <p:nvPr/>
        </p:nvSpPr>
        <p:spPr>
          <a:xfrm>
            <a:off x="7086600" y="5056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Text 20"/>
          <p:cNvSpPr txBox="1"/>
          <p:nvPr/>
        </p:nvSpPr>
        <p:spPr>
          <a:xfrm>
            <a:off x="7589520" y="4892040"/>
            <a:ext cx="4050792" cy="667512"/>
          </a:xfrm>
          <a:prstGeom prst="rect">
            <a:avLst/>
          </a:prstGeom>
          <a:noFill/>
          <a:ln/>
        </p:spPr>
        <p:txBody>
          <a:bodyPr wrap="square" lIns="0" tIns="0" rIns="0" bIns="0" rtlCol="0" anchor="ctr"/>
          <a:lstStyle/>
          <a:p>
            <a:pPr indent="0" marL="0">
              <a:buNone/>
            </a:pPr>
            <a:r>
              <a:rPr lang="en-US" sz="1250" dirty="0">
                <a:solidFill>
                  <a:schemeClr val="tx1"/>
                </a:solidFill>
              </a:rPr>
              <a:t>Seasonal ET = Σ ETrF(t) × ETr(t)</a:t>
            </a:r>
            <a:endParaRPr lang="en-US" sz="1250" dirty="0"/>
          </a:p>
        </p:txBody>
      </p:sp>
      <p:sp>
        <p:nvSpPr>
          <p:cNvPr id="25" name="insight"/>
          <p:cNvSpPr/>
          <p:nvPr/>
        </p:nvSpPr>
        <p:spPr>
          <a:xfrm>
            <a:off x="7086600" y="5623560"/>
            <a:ext cx="4553712" cy="548640"/>
          </a:xfrm>
          <a:prstGeom prst="roundRect">
            <a:avLst>
              <a:gd name="adj" fmla="val 13333"/>
            </a:avLst>
          </a:prstGeom>
          <a:solidFill>
            <a:schemeClr val="bg2"/>
          </a:solidFill>
          <a:ln/>
        </p:spPr>
      </p:sp>
      <p:sp>
        <p:nvSpPr>
          <p:cNvPr id="26" name="icon circle"/>
          <p:cNvSpPr/>
          <p:nvPr/>
        </p:nvSpPr>
        <p:spPr>
          <a:xfrm>
            <a:off x="7223760" y="5660136"/>
            <a:ext cx="475488" cy="475488"/>
          </a:xfrm>
          <a:prstGeom prst="ellipse">
            <a:avLst/>
          </a:prstGeom>
          <a:solidFill>
            <a:schemeClr val="accent3"/>
          </a:solidFill>
          <a:ln/>
        </p:spPr>
      </p:sp>
      <p:pic>
        <p:nvPicPr>
          <p:cNvPr id="27" name="Image 1" descr="Lightbulb icon">    </p:cNvPr>
          <p:cNvPicPr>
            <a:picLocks noChangeAspect="1"/>
          </p:cNvPicPr>
          <p:nvPr/>
        </p:nvPicPr>
        <p:blipFill>
          <a:blip r:embed="rId2"/>
          <a:stretch>
            <a:fillRect/>
          </a:stretch>
        </p:blipFill>
        <p:spPr>
          <a:xfrm>
            <a:off x="7347387" y="5783763"/>
            <a:ext cx="228234" cy="228234"/>
          </a:xfrm>
          <a:prstGeom prst="rect">
            <a:avLst/>
          </a:prstGeom>
        </p:spPr>
      </p:pic>
      <p:sp>
        <p:nvSpPr>
          <p:cNvPr id="28" name="Text 23"/>
          <p:cNvSpPr txBox="1"/>
          <p:nvPr/>
        </p:nvSpPr>
        <p:spPr>
          <a:xfrm>
            <a:off x="7863840" y="5660136"/>
            <a:ext cx="3639312" cy="47548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Weather between images enters through </a:t>
            </a:r>
            <a:r>
              <a:rPr lang="en-US" sz="1350" b="1" dirty="0">
                <a:solidFill>
                  <a:schemeClr val="tx1"/>
                </a:solidFill>
              </a:rPr>
              <a:t>ETr</a:t>
            </a:r>
            <a:r>
              <a:rPr lang="en-US" sz="1350" dirty="0">
                <a:solidFill>
                  <a:schemeClr val="tx1"/>
                </a:solidFill>
              </a:rPr>
              <a:t>, crop development through </a:t>
            </a:r>
            <a:r>
              <a:rPr lang="en-US" sz="1350" b="1" dirty="0">
                <a:solidFill>
                  <a:schemeClr val="tx1"/>
                </a:solidFill>
              </a:rPr>
              <a:t>ETrF</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Other single-source models: SEBS and SSEBop</a:t>
            </a:r>
            <a:endParaRPr lang="en-US" sz="3200" dirty="0"/>
          </a:p>
        </p:txBody>
      </p:sp>
      <p:sp>
        <p:nvSpPr>
          <p:cNvPr id="4" name="card"/>
          <p:cNvSpPr/>
          <p:nvPr/>
        </p:nvSpPr>
        <p:spPr>
          <a:xfrm>
            <a:off x="548640" y="1280160"/>
            <a:ext cx="5486400" cy="4892040"/>
          </a:xfrm>
          <a:prstGeom prst="roundRect">
            <a:avLst>
              <a:gd name="adj" fmla="val 1495"/>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371600"/>
            <a:ext cx="5120640" cy="411480"/>
          </a:xfrm>
          <a:prstGeom prst="rect">
            <a:avLst/>
          </a:prstGeom>
          <a:noFill/>
          <a:ln/>
        </p:spPr>
        <p:txBody>
          <a:bodyPr wrap="square" lIns="0" tIns="0" rIns="0" bIns="0" rtlCol="0" anchor="ctr"/>
          <a:lstStyle/>
          <a:p>
            <a:pPr algn="l" indent="0" marL="0">
              <a:buNone/>
            </a:pPr>
            <a:r>
              <a:rPr lang="en-US" sz="1700" b="1" dirty="0">
                <a:solidFill>
                  <a:schemeClr val="tx2"/>
                </a:solidFill>
              </a:rPr>
              <a:t>SEBS (Su 2002)</a:t>
            </a:r>
            <a:endParaRPr lang="en-US" sz="1700" dirty="0"/>
          </a:p>
        </p:txBody>
      </p:sp>
      <p:sp>
        <p:nvSpPr>
          <p:cNvPr id="6" name="Text 3"/>
          <p:cNvSpPr txBox="1"/>
          <p:nvPr/>
        </p:nvSpPr>
        <p:spPr>
          <a:xfrm>
            <a:off x="731520" y="1874520"/>
            <a:ext cx="5120640" cy="4206240"/>
          </a:xfrm>
          <a:prstGeom prst="rect">
            <a:avLst/>
          </a:prstGeom>
          <a:noFill/>
          <a:ln/>
        </p:spPr>
        <p:txBody>
          <a:bodyPr wrap="square" lIns="508" tIns="508" rIns="508" bIns="508" rtlCol="0" anchor="t"/>
          <a:lstStyle/>
          <a:p>
            <a:pPr indent="0" marL="0">
              <a:spcAft>
                <a:spcPts val="600"/>
              </a:spcAft>
              <a:buNone/>
            </a:pPr>
            <a:r>
              <a:rPr lang="en-US" sz="1300" b="1" dirty="0">
                <a:solidFill>
                  <a:schemeClr val="tx1"/>
                </a:solidFill>
              </a:rPr>
              <a:t>H</a:t>
            </a:r>
            <a:r>
              <a:rPr lang="en-US" sz="1300" b="1" baseline="-40000" dirty="0">
                <a:solidFill>
                  <a:schemeClr val="tx1"/>
                </a:solidFill>
              </a:rPr>
              <a:t>dry</a:t>
            </a:r>
            <a:r>
              <a:rPr lang="en-US" sz="1300" b="1" dirty="0">
                <a:solidFill>
                  <a:schemeClr val="tx1"/>
                </a:solidFill>
              </a:rPr>
              <a:t> = Rn − G  (λE = 0)</a:t>
            </a:r>
            <a:endParaRPr lang="en-US" sz="1300" dirty="0"/>
          </a:p>
          <a:p>
            <a:pPr indent="0" marL="0">
              <a:spcAft>
                <a:spcPts val="600"/>
              </a:spcAft>
              <a:buNone/>
            </a:pPr>
            <a:r>
              <a:rPr lang="en-US" sz="1300" b="1" dirty="0">
                <a:solidFill>
                  <a:schemeClr val="tx1"/>
                </a:solidFill>
              </a:rPr>
              <a:t>H</a:t>
            </a:r>
            <a:r>
              <a:rPr lang="en-US" sz="1300" b="1" baseline="-40000" dirty="0">
                <a:solidFill>
                  <a:schemeClr val="tx1"/>
                </a:solidFill>
              </a:rPr>
              <a:t>wet</a:t>
            </a:r>
            <a:r>
              <a:rPr lang="en-US" sz="1300" b="1" dirty="0">
                <a:solidFill>
                  <a:schemeClr val="tx1"/>
                </a:solidFill>
              </a:rPr>
              <a:t>: Penman–Monteith with r</a:t>
            </a:r>
            <a:r>
              <a:rPr lang="en-US" sz="1300" b="1" baseline="-40000" dirty="0">
                <a:solidFill>
                  <a:schemeClr val="tx1"/>
                </a:solidFill>
              </a:rPr>
              <a:t>s</a:t>
            </a:r>
            <a:r>
              <a:rPr lang="en-US" sz="1300" b="1" dirty="0">
                <a:solidFill>
                  <a:schemeClr val="tx1"/>
                </a:solidFill>
              </a:rPr>
              <a:t> = 0  (λE potential)</a:t>
            </a:r>
            <a:endParaRPr lang="en-US" sz="1300" dirty="0"/>
          </a:p>
          <a:p>
            <a:pPr indent="0" marL="0">
              <a:spcAft>
                <a:spcPts val="600"/>
              </a:spcAft>
              <a:buNone/>
            </a:pPr>
            <a:r>
              <a:rPr lang="en-US" sz="1300" b="1" dirty="0">
                <a:solidFill>
                  <a:schemeClr val="accent2"/>
                </a:solidFill>
              </a:rPr>
              <a:t>EF</a:t>
            </a:r>
            <a:r>
              <a:rPr lang="en-US" sz="1300" b="1" baseline="-40000" dirty="0">
                <a:solidFill>
                  <a:schemeClr val="accent2"/>
                </a:solidFill>
              </a:rPr>
              <a:t>r</a:t>
            </a:r>
            <a:r>
              <a:rPr lang="en-US" sz="1300" b="1" dirty="0">
                <a:solidFill>
                  <a:schemeClr val="accent2"/>
                </a:solidFill>
              </a:rPr>
              <a:t> = 1 − (H − H</a:t>
            </a:r>
            <a:r>
              <a:rPr lang="en-US" sz="1300" b="1" baseline="-40000" dirty="0">
                <a:solidFill>
                  <a:schemeClr val="accent2"/>
                </a:solidFill>
              </a:rPr>
              <a:t>wet</a:t>
            </a:r>
            <a:r>
              <a:rPr lang="en-US" sz="1300" b="1" dirty="0">
                <a:solidFill>
                  <a:schemeClr val="accent2"/>
                </a:solidFill>
              </a:rPr>
              <a:t>) / (H</a:t>
            </a:r>
            <a:r>
              <a:rPr lang="en-US" sz="1300" b="1" baseline="-40000" dirty="0">
                <a:solidFill>
                  <a:schemeClr val="accent2"/>
                </a:solidFill>
              </a:rPr>
              <a:t>dry</a:t>
            </a:r>
            <a:r>
              <a:rPr lang="en-US" sz="1300" b="1" dirty="0">
                <a:solidFill>
                  <a:schemeClr val="accent2"/>
                </a:solidFill>
              </a:rPr>
              <a:t> − H</a:t>
            </a:r>
            <a:r>
              <a:rPr lang="en-US" sz="1300" b="1" baseline="-40000" dirty="0">
                <a:solidFill>
                  <a:schemeClr val="accent2"/>
                </a:solidFill>
              </a:rPr>
              <a:t>wet</a:t>
            </a:r>
            <a:r>
              <a:rPr lang="en-US" sz="1300" b="1" dirty="0">
                <a:solidFill>
                  <a:schemeClr val="accent2"/>
                </a:solidFill>
              </a:rPr>
              <a:t>)</a:t>
            </a:r>
            <a:endParaRPr lang="en-US" sz="1300" dirty="0"/>
          </a:p>
          <a:p>
            <a:pPr indent="0" marL="0">
              <a:spcAft>
                <a:spcPts val="600"/>
              </a:spcAft>
              <a:buNone/>
            </a:pPr>
            <a:r>
              <a:rPr lang="en-US" sz="1300" b="1" dirty="0">
                <a:solidFill>
                  <a:schemeClr val="accent2"/>
                </a:solidFill>
              </a:rPr>
              <a:t>EF = EF</a:t>
            </a:r>
            <a:r>
              <a:rPr lang="en-US" sz="1300" b="1" baseline="-40000" dirty="0">
                <a:solidFill>
                  <a:schemeClr val="accent2"/>
                </a:solidFill>
              </a:rPr>
              <a:t>r</a:t>
            </a:r>
            <a:r>
              <a:rPr lang="en-US" sz="1300" b="1" dirty="0">
                <a:solidFill>
                  <a:schemeClr val="accent2"/>
                </a:solidFill>
              </a:rPr>
              <a:t> · λE</a:t>
            </a:r>
            <a:r>
              <a:rPr lang="en-US" sz="1300" b="1" baseline="-40000" dirty="0">
                <a:solidFill>
                  <a:schemeClr val="accent2"/>
                </a:solidFill>
              </a:rPr>
              <a:t>wet</a:t>
            </a:r>
            <a:r>
              <a:rPr lang="en-US" sz="1300" b="1" dirty="0">
                <a:solidFill>
                  <a:schemeClr val="accent2"/>
                </a:solidFill>
              </a:rPr>
              <a:t> / (Rn − G)</a:t>
            </a:r>
            <a:endParaRPr lang="en-US" sz="1300" dirty="0"/>
          </a:p>
          <a:p>
            <a:pPr marL="177800" indent="-177800">
              <a:spcAft>
                <a:spcPts val="600"/>
              </a:spcAft>
              <a:buSzPct val="100000"/>
              <a:buChar char="•"/>
            </a:pPr>
            <a:r>
              <a:rPr lang="en-US" sz="1300" dirty="0">
                <a:solidFill>
                  <a:schemeClr val="tx1"/>
                </a:solidFill>
              </a:rPr>
              <a:t>Physical dry and wet limits per pixel (no anchor pixels)</a:t>
            </a:r>
            <a:endParaRPr lang="en-US" sz="1300" dirty="0"/>
          </a:p>
          <a:p>
            <a:pPr marL="177800" indent="-177800">
              <a:spcAft>
                <a:spcPts val="600"/>
              </a:spcAft>
              <a:buSzPct val="100000"/>
              <a:buChar char="•"/>
            </a:pPr>
            <a:r>
              <a:rPr lang="en-US" sz="1300" dirty="0">
                <a:solidFill>
                  <a:schemeClr val="tx1"/>
                </a:solidFill>
              </a:rPr>
              <a:t>Dynamic kB⁻¹ for heat roughness; PBL (BAS) + surface-layer (MOST) similarity</a:t>
            </a:r>
            <a:endParaRPr lang="en-US" sz="1300" dirty="0"/>
          </a:p>
          <a:p>
            <a:pPr marL="177800" indent="-177800">
              <a:spcAft>
                <a:spcPts val="600"/>
              </a:spcAft>
              <a:buSzPct val="100000"/>
              <a:buChar char="•"/>
            </a:pPr>
            <a:r>
              <a:rPr lang="en-US" sz="1300" dirty="0">
                <a:solidFill>
                  <a:schemeClr val="accent4"/>
                </a:solidFill>
              </a:rPr>
              <a:t>Accuracy ~10–15% in field tests; many inputs, complex</a:t>
            </a:r>
            <a:endParaRPr lang="en-US" sz="1300" dirty="0"/>
          </a:p>
        </p:txBody>
      </p:sp>
      <p:sp>
        <p:nvSpPr>
          <p:cNvPr id="7" name="card"/>
          <p:cNvSpPr/>
          <p:nvPr/>
        </p:nvSpPr>
        <p:spPr>
          <a:xfrm>
            <a:off x="6153912" y="1280160"/>
            <a:ext cx="5486400" cy="4892040"/>
          </a:xfrm>
          <a:prstGeom prst="roundRect">
            <a:avLst>
              <a:gd name="adj" fmla="val 1495"/>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6336792" y="1371600"/>
            <a:ext cx="5120640" cy="411480"/>
          </a:xfrm>
          <a:prstGeom prst="rect">
            <a:avLst/>
          </a:prstGeom>
          <a:noFill/>
          <a:ln/>
        </p:spPr>
        <p:txBody>
          <a:bodyPr wrap="square" lIns="0" tIns="0" rIns="0" bIns="0" rtlCol="0" anchor="ctr"/>
          <a:lstStyle/>
          <a:p>
            <a:pPr algn="l" indent="0" marL="0">
              <a:buNone/>
            </a:pPr>
            <a:r>
              <a:rPr lang="en-US" sz="1700" b="1" dirty="0">
                <a:solidFill>
                  <a:schemeClr val="tx2"/>
                </a:solidFill>
              </a:rPr>
              <a:t>SSEBop (Senay et al. 2013)</a:t>
            </a:r>
            <a:endParaRPr lang="en-US" sz="1700" dirty="0"/>
          </a:p>
        </p:txBody>
      </p:sp>
      <p:sp>
        <p:nvSpPr>
          <p:cNvPr id="9" name="Text 6"/>
          <p:cNvSpPr txBox="1"/>
          <p:nvPr/>
        </p:nvSpPr>
        <p:spPr>
          <a:xfrm>
            <a:off x="6336792" y="1874520"/>
            <a:ext cx="5120640" cy="4206240"/>
          </a:xfrm>
          <a:prstGeom prst="rect">
            <a:avLst/>
          </a:prstGeom>
          <a:noFill/>
          <a:ln/>
        </p:spPr>
        <p:txBody>
          <a:bodyPr wrap="square" lIns="508" tIns="508" rIns="508" bIns="508" rtlCol="0" anchor="t"/>
          <a:lstStyle/>
          <a:p>
            <a:pPr indent="0" marL="0">
              <a:spcAft>
                <a:spcPts val="600"/>
              </a:spcAft>
              <a:buNone/>
            </a:pPr>
            <a:r>
              <a:rPr lang="en-US" sz="1300" b="1" dirty="0">
                <a:solidFill>
                  <a:schemeClr val="tx1"/>
                </a:solidFill>
              </a:rPr>
              <a:t>T</a:t>
            </a:r>
            <a:r>
              <a:rPr lang="en-US" sz="1300" b="1" baseline="-40000" dirty="0">
                <a:solidFill>
                  <a:schemeClr val="tx1"/>
                </a:solidFill>
              </a:rPr>
              <a:t>c</a:t>
            </a:r>
            <a:r>
              <a:rPr lang="en-US" sz="1300" b="1" dirty="0">
                <a:solidFill>
                  <a:schemeClr val="tx1"/>
                </a:solidFill>
              </a:rPr>
              <a:t> = c × T</a:t>
            </a:r>
            <a:r>
              <a:rPr lang="en-US" sz="1300" b="1" baseline="-40000" dirty="0">
                <a:solidFill>
                  <a:schemeClr val="tx1"/>
                </a:solidFill>
              </a:rPr>
              <a:t>a,max</a:t>
            </a:r>
            <a:r>
              <a:rPr lang="en-US" sz="1300" b="1" dirty="0">
                <a:solidFill>
                  <a:schemeClr val="tx1"/>
                </a:solidFill>
              </a:rPr>
              <a:t>  (cold boundary)</a:t>
            </a:r>
            <a:endParaRPr lang="en-US" sz="1300" dirty="0"/>
          </a:p>
          <a:p>
            <a:pPr indent="0" marL="0">
              <a:spcAft>
                <a:spcPts val="600"/>
              </a:spcAft>
              <a:buNone/>
            </a:pPr>
            <a:r>
              <a:rPr lang="en-US" sz="1300" b="1" dirty="0">
                <a:solidFill>
                  <a:schemeClr val="tx1"/>
                </a:solidFill>
              </a:rPr>
              <a:t>dT = Rn</a:t>
            </a:r>
            <a:r>
              <a:rPr lang="en-US" sz="1300" b="1" baseline="-40000" dirty="0">
                <a:solidFill>
                  <a:schemeClr val="tx1"/>
                </a:solidFill>
              </a:rPr>
              <a:t>clear</a:t>
            </a:r>
            <a:r>
              <a:rPr lang="en-US" sz="1300" b="1" dirty="0">
                <a:solidFill>
                  <a:schemeClr val="tx1"/>
                </a:solidFill>
              </a:rPr>
              <a:t>·r</a:t>
            </a:r>
            <a:r>
              <a:rPr lang="en-US" sz="1300" b="1" baseline="-40000" dirty="0">
                <a:solidFill>
                  <a:schemeClr val="tx1"/>
                </a:solidFill>
              </a:rPr>
              <a:t>ah</a:t>
            </a:r>
            <a:r>
              <a:rPr lang="en-US" sz="1300" b="1" dirty="0">
                <a:solidFill>
                  <a:schemeClr val="tx1"/>
                </a:solidFill>
              </a:rPr>
              <a:t>/(ρc</a:t>
            </a:r>
            <a:r>
              <a:rPr lang="en-US" sz="1300" b="1" baseline="-40000" dirty="0">
                <a:solidFill>
                  <a:schemeClr val="tx1"/>
                </a:solidFill>
              </a:rPr>
              <a:t>p</a:t>
            </a:r>
            <a:r>
              <a:rPr lang="en-US" sz="1300" b="1" dirty="0">
                <a:solidFill>
                  <a:schemeClr val="tx1"/>
                </a:solidFill>
              </a:rPr>
              <a:t>); T</a:t>
            </a:r>
            <a:r>
              <a:rPr lang="en-US" sz="1300" b="1" baseline="-40000" dirty="0">
                <a:solidFill>
                  <a:schemeClr val="tx1"/>
                </a:solidFill>
              </a:rPr>
              <a:t>h</a:t>
            </a:r>
            <a:r>
              <a:rPr lang="en-US" sz="1300" b="1" dirty="0">
                <a:solidFill>
                  <a:schemeClr val="tx1"/>
                </a:solidFill>
              </a:rPr>
              <a:t> = T</a:t>
            </a:r>
            <a:r>
              <a:rPr lang="en-US" sz="1300" b="1" baseline="-40000" dirty="0">
                <a:solidFill>
                  <a:schemeClr val="tx1"/>
                </a:solidFill>
              </a:rPr>
              <a:t>c</a:t>
            </a:r>
            <a:r>
              <a:rPr lang="en-US" sz="1300" b="1" dirty="0">
                <a:solidFill>
                  <a:schemeClr val="tx1"/>
                </a:solidFill>
              </a:rPr>
              <a:t> + dT</a:t>
            </a:r>
            <a:endParaRPr lang="en-US" sz="1300" dirty="0"/>
          </a:p>
          <a:p>
            <a:pPr indent="0" marL="0">
              <a:spcAft>
                <a:spcPts val="600"/>
              </a:spcAft>
              <a:buNone/>
            </a:pPr>
            <a:r>
              <a:rPr lang="en-US" sz="1300" b="1" dirty="0">
                <a:solidFill>
                  <a:schemeClr val="accent1"/>
                </a:solidFill>
              </a:rPr>
              <a:t>ETf = (T</a:t>
            </a:r>
            <a:r>
              <a:rPr lang="en-US" sz="1300" b="1" baseline="-40000" dirty="0">
                <a:solidFill>
                  <a:schemeClr val="accent1"/>
                </a:solidFill>
              </a:rPr>
              <a:t>h</a:t>
            </a:r>
            <a:r>
              <a:rPr lang="en-US" sz="1300" b="1" dirty="0">
                <a:solidFill>
                  <a:schemeClr val="accent1"/>
                </a:solidFill>
              </a:rPr>
              <a:t> − T</a:t>
            </a:r>
            <a:r>
              <a:rPr lang="en-US" sz="1300" b="1" baseline="-40000" dirty="0">
                <a:solidFill>
                  <a:schemeClr val="accent1"/>
                </a:solidFill>
              </a:rPr>
              <a:t>s</a:t>
            </a:r>
            <a:r>
              <a:rPr lang="en-US" sz="1300" b="1" dirty="0">
                <a:solidFill>
                  <a:schemeClr val="accent1"/>
                </a:solidFill>
              </a:rPr>
              <a:t>) / dT</a:t>
            </a:r>
            <a:endParaRPr lang="en-US" sz="1300" dirty="0"/>
          </a:p>
          <a:p>
            <a:pPr indent="0" marL="0">
              <a:spcAft>
                <a:spcPts val="600"/>
              </a:spcAft>
              <a:buNone/>
            </a:pPr>
            <a:r>
              <a:rPr lang="en-US" sz="1300" b="1" dirty="0">
                <a:solidFill>
                  <a:schemeClr val="accent1"/>
                </a:solidFill>
              </a:rPr>
              <a:t>ET</a:t>
            </a:r>
            <a:r>
              <a:rPr lang="en-US" sz="1300" b="1" baseline="-40000" dirty="0">
                <a:solidFill>
                  <a:schemeClr val="accent1"/>
                </a:solidFill>
              </a:rPr>
              <a:t>a</a:t>
            </a:r>
            <a:r>
              <a:rPr lang="en-US" sz="1300" b="1" dirty="0">
                <a:solidFill>
                  <a:schemeClr val="accent1"/>
                </a:solidFill>
              </a:rPr>
              <a:t> = ETf × k × ET</a:t>
            </a:r>
            <a:r>
              <a:rPr lang="en-US" sz="1300" b="1" baseline="-40000" dirty="0">
                <a:solidFill>
                  <a:schemeClr val="accent1"/>
                </a:solidFill>
              </a:rPr>
              <a:t>0</a:t>
            </a:r>
            <a:endParaRPr lang="en-US" sz="1300" dirty="0"/>
          </a:p>
          <a:p>
            <a:pPr marL="177800" indent="-177800">
              <a:spcAft>
                <a:spcPts val="600"/>
              </a:spcAft>
              <a:buSzPct val="100000"/>
              <a:buChar char="•"/>
            </a:pPr>
            <a:r>
              <a:rPr lang="en-US" sz="1300" dirty="0">
                <a:solidFill>
                  <a:schemeClr val="tx1"/>
                </a:solidFill>
              </a:rPr>
              <a:t>Predefined boundaries: no pixel picking, no H iteration</a:t>
            </a:r>
            <a:endParaRPr lang="en-US" sz="1300" dirty="0"/>
          </a:p>
          <a:p>
            <a:pPr marL="177800" indent="-177800">
              <a:spcAft>
                <a:spcPts val="600"/>
              </a:spcAft>
              <a:buSzPct val="100000"/>
              <a:buChar char="•"/>
            </a:pPr>
            <a:r>
              <a:rPr lang="en-US" sz="1300" dirty="0">
                <a:solidFill>
                  <a:schemeClr val="tx1"/>
                </a:solidFill>
              </a:rPr>
              <a:t>Few inputs (LST, T</a:t>
            </a:r>
            <a:r>
              <a:rPr lang="en-US" sz="1300" baseline="-40000" dirty="0">
                <a:solidFill>
                  <a:schemeClr val="tx1"/>
                </a:solidFill>
              </a:rPr>
              <a:t>a</a:t>
            </a:r>
            <a:r>
              <a:rPr lang="en-US" sz="1300" dirty="0">
                <a:solidFill>
                  <a:schemeClr val="tx1"/>
                </a:solidFill>
              </a:rPr>
              <a:t>, ET</a:t>
            </a:r>
            <a:r>
              <a:rPr lang="en-US" sz="1300" baseline="-40000" dirty="0">
                <a:solidFill>
                  <a:schemeClr val="tx1"/>
                </a:solidFill>
              </a:rPr>
              <a:t>0</a:t>
            </a:r>
            <a:r>
              <a:rPr lang="en-US" sz="1300" dirty="0">
                <a:solidFill>
                  <a:schemeClr val="tx1"/>
                </a:solidFill>
              </a:rPr>
              <a:t>); operational for MODIS, Landsat (USGS, FEWS NET)</a:t>
            </a:r>
            <a:endParaRPr lang="en-US" sz="1300" dirty="0"/>
          </a:p>
          <a:p>
            <a:pPr marL="177800" indent="-177800">
              <a:spcAft>
                <a:spcPts val="600"/>
              </a:spcAft>
              <a:buSzPct val="100000"/>
              <a:buChar char="•"/>
            </a:pPr>
            <a:r>
              <a:rPr lang="en-US" sz="1300" dirty="0">
                <a:solidFill>
                  <a:schemeClr val="accent4"/>
                </a:solidFill>
              </a:rPr>
              <a:t>Simplified physics; relies on accurate T</a:t>
            </a:r>
            <a:r>
              <a:rPr lang="en-US" sz="1300" baseline="-40000" dirty="0">
                <a:solidFill>
                  <a:schemeClr val="accent4"/>
                </a:solidFill>
              </a:rPr>
              <a:t>a</a:t>
            </a:r>
            <a:r>
              <a:rPr lang="en-US" sz="1300" dirty="0">
                <a:solidFill>
                  <a:schemeClr val="accent4"/>
                </a:solidFill>
              </a:rPr>
              <a:t> and ET</a:t>
            </a:r>
            <a:r>
              <a:rPr lang="en-US" sz="1300" baseline="-40000" dirty="0">
                <a:solidFill>
                  <a:schemeClr val="accent4"/>
                </a:solidFill>
              </a:rPr>
              <a:t>0</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Contextual, two-source and global models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Triangle and trapezoid, TSEB, ALEXI/DisALEXI, MOD16, PT-JPL, GLEAM, VI-based Kc and data assimilation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Ts–VI triangle and trapezoid</a:t>
            </a:r>
            <a:endParaRPr lang="en-US" sz="3200" dirty="0"/>
          </a:p>
        </p:txBody>
      </p:sp>
      <p:sp>
        <p:nvSpPr>
          <p:cNvPr id="4" name="figure frame"/>
          <p:cNvSpPr/>
          <p:nvPr/>
        </p:nvSpPr>
        <p:spPr>
          <a:xfrm>
            <a:off x="548640" y="1280160"/>
            <a:ext cx="5486400" cy="2715768"/>
          </a:xfrm>
          <a:prstGeom prst="roundRect">
            <a:avLst>
              <a:gd name="adj" fmla="val 202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Ts–VI triangle (Li et al. 2009, Fig. 2)">    </p:cNvPr>
          <p:cNvPicPr>
            <a:picLocks noChangeAspect="1"/>
          </p:cNvPicPr>
          <p:nvPr/>
        </p:nvPicPr>
        <p:blipFill>
          <a:blip r:embed="rId1"/>
          <a:stretch>
            <a:fillRect/>
          </a:stretch>
        </p:blipFill>
        <p:spPr>
          <a:xfrm>
            <a:off x="824002" y="1371600"/>
            <a:ext cx="4935676" cy="2532888"/>
          </a:xfrm>
          <a:prstGeom prst="rect">
            <a:avLst/>
          </a:prstGeom>
        </p:spPr>
      </p:pic>
      <p:sp>
        <p:nvSpPr>
          <p:cNvPr id="6" name="Text 2"/>
          <p:cNvSpPr txBox="1"/>
          <p:nvPr/>
        </p:nvSpPr>
        <p:spPr>
          <a:xfrm>
            <a:off x="548640" y="4041648"/>
            <a:ext cx="5486400" cy="301752"/>
          </a:xfrm>
          <a:prstGeom prst="rect">
            <a:avLst/>
          </a:prstGeom>
          <a:noFill/>
          <a:ln/>
        </p:spPr>
        <p:txBody>
          <a:bodyPr wrap="square" lIns="0" tIns="0" rIns="0" bIns="0" rtlCol="0" anchor="t"/>
          <a:lstStyle/>
          <a:p>
            <a:pPr indent="0" marL="0">
              <a:buNone/>
            </a:pPr>
            <a:r>
              <a:rPr lang="en-US" sz="1100" i="1" dirty="0">
                <a:solidFill>
                  <a:schemeClr val="accent6"/>
                </a:solidFill>
              </a:rPr>
              <a:t>Ts–VI triangle (Li et al. 2009, Fig. 2)</a:t>
            </a:r>
            <a:endParaRPr lang="en-US" sz="1100" dirty="0"/>
          </a:p>
        </p:txBody>
      </p:sp>
      <p:sp>
        <p:nvSpPr>
          <p:cNvPr id="7" name="figure frame"/>
          <p:cNvSpPr/>
          <p:nvPr/>
        </p:nvSpPr>
        <p:spPr>
          <a:xfrm>
            <a:off x="6153912" y="1280160"/>
            <a:ext cx="5486400" cy="2715768"/>
          </a:xfrm>
          <a:prstGeom prst="roundRect">
            <a:avLst>
              <a:gd name="adj" fmla="val 2020"/>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Ts–Ta vs fractional cover trapezoid (Li et al. 2009, Fig. 3, after Moran 1994)">    </p:cNvPr>
          <p:cNvPicPr>
            <a:picLocks noChangeAspect="1"/>
          </p:cNvPicPr>
          <p:nvPr/>
        </p:nvPicPr>
        <p:blipFill>
          <a:blip r:embed="rId2"/>
          <a:stretch>
            <a:fillRect/>
          </a:stretch>
        </p:blipFill>
        <p:spPr>
          <a:xfrm>
            <a:off x="6842499" y="1371600"/>
            <a:ext cx="4109226" cy="2532888"/>
          </a:xfrm>
          <a:prstGeom prst="rect">
            <a:avLst/>
          </a:prstGeom>
        </p:spPr>
      </p:pic>
      <p:sp>
        <p:nvSpPr>
          <p:cNvPr id="9" name="Text 4"/>
          <p:cNvSpPr txBox="1"/>
          <p:nvPr/>
        </p:nvSpPr>
        <p:spPr>
          <a:xfrm>
            <a:off x="6153912" y="4041648"/>
            <a:ext cx="5486400" cy="301752"/>
          </a:xfrm>
          <a:prstGeom prst="rect">
            <a:avLst/>
          </a:prstGeom>
          <a:noFill/>
          <a:ln/>
        </p:spPr>
        <p:txBody>
          <a:bodyPr wrap="square" lIns="0" tIns="0" rIns="0" bIns="0" rtlCol="0" anchor="t"/>
          <a:lstStyle/>
          <a:p>
            <a:pPr indent="0" marL="0">
              <a:buNone/>
            </a:pPr>
            <a:r>
              <a:rPr lang="en-US" sz="1100" i="1" dirty="0">
                <a:solidFill>
                  <a:schemeClr val="accent6"/>
                </a:solidFill>
              </a:rPr>
              <a:t>Ts–Ta vs fractional cover trapezoid (Li et al. 2009, Fig. 3, after Moran 1994)</a:t>
            </a:r>
            <a:endParaRPr lang="en-US" sz="1100" dirty="0"/>
          </a:p>
        </p:txBody>
      </p:sp>
      <p:sp>
        <p:nvSpPr>
          <p:cNvPr id="10" name="card"/>
          <p:cNvSpPr/>
          <p:nvPr/>
        </p:nvSpPr>
        <p:spPr>
          <a:xfrm>
            <a:off x="548640" y="4480560"/>
            <a:ext cx="5486400" cy="640080"/>
          </a:xfrm>
          <a:prstGeom prst="roundRect">
            <a:avLst>
              <a:gd name="adj" fmla="val 11429"/>
            </a:avLst>
          </a:prstGeom>
          <a:solidFill>
            <a:schemeClr val="tx2"/>
          </a:solidFill>
          <a:ln/>
          <a:effectLst>
            <a:outerShdw sx="100000" sy="100000" kx="0" ky="0" algn="bl" rotWithShape="0" blurRad="76200" dist="25400" dir="5400000">
              <a:srgbClr val="000000">
                <a:alpha val="14000"/>
              </a:srgbClr>
            </a:outerShdw>
          </a:effectLst>
        </p:spPr>
      </p:sp>
      <p:sp>
        <p:nvSpPr>
          <p:cNvPr id="11" name="Text 6"/>
          <p:cNvSpPr txBox="1"/>
          <p:nvPr/>
        </p:nvSpPr>
        <p:spPr>
          <a:xfrm>
            <a:off x="685800" y="4480560"/>
            <a:ext cx="5212080" cy="640080"/>
          </a:xfrm>
          <a:prstGeom prst="rect">
            <a:avLst/>
          </a:prstGeom>
          <a:noFill/>
          <a:ln/>
        </p:spPr>
        <p:txBody>
          <a:bodyPr wrap="square" lIns="0" tIns="0" rIns="0" bIns="0" rtlCol="0" anchor="ctr"/>
          <a:lstStyle/>
          <a:p>
            <a:pPr algn="ctr" indent="0" marL="0">
              <a:buNone/>
            </a:pPr>
            <a:r>
              <a:rPr lang="en-US" sz="1400" b="1" dirty="0">
                <a:solidFill>
                  <a:schemeClr val="bg1"/>
                </a:solidFill>
              </a:rPr>
              <a:t>λE = φ·(Rn − G)·Δ/(Δ + γ),  φ: 0 (dry edge) → 1.26 (wet edge)</a:t>
            </a:r>
            <a:endParaRPr lang="en-US" sz="1400" dirty="0"/>
          </a:p>
        </p:txBody>
      </p:sp>
      <p:sp>
        <p:nvSpPr>
          <p:cNvPr id="12" name="Text 7"/>
          <p:cNvSpPr txBox="1"/>
          <p:nvPr/>
        </p:nvSpPr>
        <p:spPr>
          <a:xfrm>
            <a:off x="548640" y="5212080"/>
            <a:ext cx="5486400" cy="960120"/>
          </a:xfrm>
          <a:prstGeom prst="rect">
            <a:avLst/>
          </a:prstGeom>
          <a:noFill/>
          <a:ln/>
        </p:spPr>
        <p:txBody>
          <a:bodyPr wrap="square" lIns="508" tIns="508" rIns="508" bIns="508" rtlCol="0" anchor="t"/>
          <a:lstStyle/>
          <a:p>
            <a:pPr marL="177800" indent="-177800">
              <a:spcAft>
                <a:spcPts val="600"/>
              </a:spcAft>
              <a:buSzPct val="100000"/>
              <a:buChar char="•"/>
            </a:pPr>
            <a:r>
              <a:rPr lang="en-US" sz="1250" dirty="0">
                <a:solidFill>
                  <a:schemeClr val="tx1"/>
                </a:solidFill>
              </a:rPr>
              <a:t>Image-only, insensitive to atmospheric correction</a:t>
            </a:r>
            <a:endParaRPr lang="en-US" sz="1250" dirty="0"/>
          </a:p>
          <a:p>
            <a:pPr marL="177800" indent="-177800">
              <a:spcAft>
                <a:spcPts val="600"/>
              </a:spcAft>
              <a:buSzPct val="100000"/>
              <a:buChar char="•"/>
            </a:pPr>
            <a:r>
              <a:rPr lang="en-US" sz="1250" dirty="0">
                <a:solidFill>
                  <a:schemeClr val="accent4"/>
                </a:solidFill>
              </a:rPr>
              <a:t>Needs full range of wetness and cover; subjective edges</a:t>
            </a:r>
            <a:endParaRPr lang="en-US" sz="1250" dirty="0"/>
          </a:p>
        </p:txBody>
      </p:sp>
      <p:sp>
        <p:nvSpPr>
          <p:cNvPr id="13" name="card"/>
          <p:cNvSpPr/>
          <p:nvPr/>
        </p:nvSpPr>
        <p:spPr>
          <a:xfrm>
            <a:off x="6153912" y="4480560"/>
            <a:ext cx="5486400" cy="640080"/>
          </a:xfrm>
          <a:prstGeom prst="roundRect">
            <a:avLst>
              <a:gd name="adj" fmla="val 11429"/>
            </a:avLst>
          </a:prstGeom>
          <a:solidFill>
            <a:schemeClr val="accent4"/>
          </a:solidFill>
          <a:ln/>
          <a:effectLst>
            <a:outerShdw sx="100000" sy="100000" kx="0" ky="0" algn="bl" rotWithShape="0" blurRad="76200" dist="25400" dir="5400000">
              <a:srgbClr val="000000">
                <a:alpha val="14000"/>
              </a:srgbClr>
            </a:outerShdw>
          </a:effectLst>
        </p:spPr>
      </p:sp>
      <p:sp>
        <p:nvSpPr>
          <p:cNvPr id="14" name="Text 9"/>
          <p:cNvSpPr txBox="1"/>
          <p:nvPr/>
        </p:nvSpPr>
        <p:spPr>
          <a:xfrm>
            <a:off x="6291072" y="4480560"/>
            <a:ext cx="5212080" cy="640080"/>
          </a:xfrm>
          <a:prstGeom prst="rect">
            <a:avLst/>
          </a:prstGeom>
          <a:noFill/>
          <a:ln/>
        </p:spPr>
        <p:txBody>
          <a:bodyPr wrap="square" lIns="0" tIns="0" rIns="0" bIns="0" rtlCol="0" anchor="ctr"/>
          <a:lstStyle/>
          <a:p>
            <a:pPr algn="ctr" indent="0" marL="0">
              <a:buNone/>
            </a:pPr>
            <a:r>
              <a:rPr lang="en-US" sz="1200" b="1" dirty="0">
                <a:solidFill>
                  <a:schemeClr val="bg1"/>
                </a:solidFill>
              </a:rPr>
              <a:t>WDI = 1 − λE/λE</a:t>
            </a:r>
            <a:r>
              <a:rPr lang="en-US" sz="1200" b="1" baseline="-40000" dirty="0">
                <a:solidFill>
                  <a:schemeClr val="bg1"/>
                </a:solidFill>
              </a:rPr>
              <a:t>p</a:t>
            </a:r>
            <a:r>
              <a:rPr lang="en-US" sz="1200" b="1" dirty="0">
                <a:solidFill>
                  <a:schemeClr val="bg1"/>
                </a:solidFill>
              </a:rPr>
              <a:t> = [(T</a:t>
            </a:r>
            <a:r>
              <a:rPr lang="en-US" sz="1200" b="1" baseline="-40000" dirty="0">
                <a:solidFill>
                  <a:schemeClr val="bg1"/>
                </a:solidFill>
              </a:rPr>
              <a:t>s</a:t>
            </a:r>
            <a:r>
              <a:rPr lang="en-US" sz="1200" b="1" dirty="0">
                <a:solidFill>
                  <a:schemeClr val="bg1"/>
                </a:solidFill>
              </a:rPr>
              <a:t>−T</a:t>
            </a:r>
            <a:r>
              <a:rPr lang="en-US" sz="1200" b="1" baseline="-40000" dirty="0">
                <a:solidFill>
                  <a:schemeClr val="bg1"/>
                </a:solidFill>
              </a:rPr>
              <a:t>a</a:t>
            </a:r>
            <a:r>
              <a:rPr lang="en-US" sz="1200" b="1" dirty="0">
                <a:solidFill>
                  <a:schemeClr val="bg1"/>
                </a:solidFill>
              </a:rPr>
              <a:t>) − (T</a:t>
            </a:r>
            <a:r>
              <a:rPr lang="en-US" sz="1200" b="1" baseline="-40000" dirty="0">
                <a:solidFill>
                  <a:schemeClr val="bg1"/>
                </a:solidFill>
              </a:rPr>
              <a:t>s</a:t>
            </a:r>
            <a:r>
              <a:rPr lang="en-US" sz="1200" b="1" dirty="0">
                <a:solidFill>
                  <a:schemeClr val="bg1"/>
                </a:solidFill>
              </a:rPr>
              <a:t>−T</a:t>
            </a:r>
            <a:r>
              <a:rPr lang="en-US" sz="1200" b="1" baseline="-40000" dirty="0">
                <a:solidFill>
                  <a:schemeClr val="bg1"/>
                </a:solidFill>
              </a:rPr>
              <a:t>a</a:t>
            </a:r>
            <a:r>
              <a:rPr lang="en-US" sz="1200" b="1" dirty="0">
                <a:solidFill>
                  <a:schemeClr val="bg1"/>
                </a:solidFill>
              </a:rPr>
              <a:t>)</a:t>
            </a:r>
            <a:r>
              <a:rPr lang="en-US" sz="1200" b="1" baseline="-40000" dirty="0">
                <a:solidFill>
                  <a:schemeClr val="bg1"/>
                </a:solidFill>
              </a:rPr>
              <a:t>min</a:t>
            </a:r>
            <a:r>
              <a:rPr lang="en-US" sz="1200" b="1" dirty="0">
                <a:solidFill>
                  <a:schemeClr val="bg1"/>
                </a:solidFill>
              </a:rPr>
              <a:t>] / [(T</a:t>
            </a:r>
            <a:r>
              <a:rPr lang="en-US" sz="1200" b="1" baseline="-40000" dirty="0">
                <a:solidFill>
                  <a:schemeClr val="bg1"/>
                </a:solidFill>
              </a:rPr>
              <a:t>s</a:t>
            </a:r>
            <a:r>
              <a:rPr lang="en-US" sz="1200" b="1" dirty="0">
                <a:solidFill>
                  <a:schemeClr val="bg1"/>
                </a:solidFill>
              </a:rPr>
              <a:t>−T</a:t>
            </a:r>
            <a:r>
              <a:rPr lang="en-US" sz="1200" b="1" baseline="-40000" dirty="0">
                <a:solidFill>
                  <a:schemeClr val="bg1"/>
                </a:solidFill>
              </a:rPr>
              <a:t>a</a:t>
            </a:r>
            <a:r>
              <a:rPr lang="en-US" sz="1200" b="1" dirty="0">
                <a:solidFill>
                  <a:schemeClr val="bg1"/>
                </a:solidFill>
              </a:rPr>
              <a:t>)</a:t>
            </a:r>
            <a:r>
              <a:rPr lang="en-US" sz="1200" b="1" baseline="-40000" dirty="0">
                <a:solidFill>
                  <a:schemeClr val="bg1"/>
                </a:solidFill>
              </a:rPr>
              <a:t>max</a:t>
            </a:r>
            <a:r>
              <a:rPr lang="en-US" sz="1200" b="1" dirty="0">
                <a:solidFill>
                  <a:schemeClr val="bg1"/>
                </a:solidFill>
              </a:rPr>
              <a:t> − (T</a:t>
            </a:r>
            <a:r>
              <a:rPr lang="en-US" sz="1200" b="1" baseline="-40000" dirty="0">
                <a:solidFill>
                  <a:schemeClr val="bg1"/>
                </a:solidFill>
              </a:rPr>
              <a:t>s</a:t>
            </a:r>
            <a:r>
              <a:rPr lang="en-US" sz="1200" b="1" dirty="0">
                <a:solidFill>
                  <a:schemeClr val="bg1"/>
                </a:solidFill>
              </a:rPr>
              <a:t>−T</a:t>
            </a:r>
            <a:r>
              <a:rPr lang="en-US" sz="1200" b="1" baseline="-40000" dirty="0">
                <a:solidFill>
                  <a:schemeClr val="bg1"/>
                </a:solidFill>
              </a:rPr>
              <a:t>a</a:t>
            </a:r>
            <a:r>
              <a:rPr lang="en-US" sz="1200" b="1" dirty="0">
                <a:solidFill>
                  <a:schemeClr val="bg1"/>
                </a:solidFill>
              </a:rPr>
              <a:t>)</a:t>
            </a:r>
            <a:r>
              <a:rPr lang="en-US" sz="1200" b="1" baseline="-40000" dirty="0">
                <a:solidFill>
                  <a:schemeClr val="bg1"/>
                </a:solidFill>
              </a:rPr>
              <a:t>min</a:t>
            </a:r>
            <a:r>
              <a:rPr lang="en-US" sz="1200" b="1" dirty="0">
                <a:solidFill>
                  <a:schemeClr val="bg1"/>
                </a:solidFill>
              </a:rPr>
              <a:t>]</a:t>
            </a:r>
            <a:endParaRPr lang="en-US" sz="1200" dirty="0"/>
          </a:p>
        </p:txBody>
      </p:sp>
      <p:sp>
        <p:nvSpPr>
          <p:cNvPr id="15" name="Text 10"/>
          <p:cNvSpPr txBox="1"/>
          <p:nvPr/>
        </p:nvSpPr>
        <p:spPr>
          <a:xfrm>
            <a:off x="6153912" y="5212080"/>
            <a:ext cx="5486400" cy="960120"/>
          </a:xfrm>
          <a:prstGeom prst="rect">
            <a:avLst/>
          </a:prstGeom>
          <a:noFill/>
          <a:ln/>
        </p:spPr>
        <p:txBody>
          <a:bodyPr wrap="square" lIns="508" tIns="508" rIns="508" bIns="508" rtlCol="0" anchor="t"/>
          <a:lstStyle/>
          <a:p>
            <a:pPr marL="177800" indent="-177800">
              <a:spcAft>
                <a:spcPts val="600"/>
              </a:spcAft>
              <a:buSzPct val="100000"/>
              <a:buChar char="•"/>
            </a:pPr>
            <a:r>
              <a:rPr lang="en-US" sz="1250" dirty="0">
                <a:solidFill>
                  <a:schemeClr val="tx1"/>
                </a:solidFill>
              </a:rPr>
              <a:t>Four vertices from Penman–Monteith: CWSI for partial cover</a:t>
            </a:r>
            <a:endParaRPr lang="en-US" sz="1250" dirty="0"/>
          </a:p>
          <a:p>
            <a:pPr marL="177800" indent="-177800">
              <a:spcAft>
                <a:spcPts val="600"/>
              </a:spcAft>
              <a:buSzPct val="100000"/>
              <a:buChar char="•"/>
            </a:pPr>
            <a:r>
              <a:rPr lang="en-US" sz="1250" dirty="0">
                <a:solidFill>
                  <a:schemeClr val="accent4"/>
                </a:solidFill>
              </a:rPr>
              <a:t>Fewer pixels needed, but more ground weather data</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Triangle method step by step</a:t>
            </a:r>
            <a:endParaRPr lang="en-US" sz="3200" dirty="0"/>
          </a:p>
        </p:txBody>
      </p:sp>
      <p:sp>
        <p:nvSpPr>
          <p:cNvPr id="4" name="step number"/>
          <p:cNvSpPr/>
          <p:nvPr/>
        </p:nvSpPr>
        <p:spPr>
          <a:xfrm>
            <a:off x="548640" y="1499616"/>
            <a:ext cx="384048" cy="384048"/>
          </a:xfrm>
          <a:prstGeom prst="ellipse">
            <a:avLst/>
          </a:prstGeom>
          <a:solidFill>
            <a:srgbClr val="6C4F9E"/>
          </a:solidFill>
          <a:ln/>
        </p:spPr>
      </p:sp>
      <p:sp>
        <p:nvSpPr>
          <p:cNvPr id="5" name="Text 2"/>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25880"/>
            <a:ext cx="5897880" cy="685800"/>
          </a:xfrm>
          <a:prstGeom prst="rect">
            <a:avLst/>
          </a:prstGeom>
          <a:noFill/>
          <a:ln/>
        </p:spPr>
        <p:txBody>
          <a:bodyPr wrap="square" lIns="0" tIns="0" rIns="0" bIns="0" rtlCol="0" anchor="ctr"/>
          <a:lstStyle/>
          <a:p>
            <a:pPr indent="0" marL="0">
              <a:buNone/>
            </a:pPr>
            <a:r>
              <a:rPr lang="en-US" sz="1250" dirty="0">
                <a:solidFill>
                  <a:schemeClr val="tx1"/>
                </a:solidFill>
              </a:rPr>
              <a:t>Compute T</a:t>
            </a:r>
            <a:r>
              <a:rPr lang="en-US" sz="1250" baseline="-40000" dirty="0">
                <a:solidFill>
                  <a:schemeClr val="tx1"/>
                </a:solidFill>
              </a:rPr>
              <a:t>s</a:t>
            </a:r>
            <a:r>
              <a:rPr lang="en-US" sz="1250" dirty="0">
                <a:solidFill>
                  <a:schemeClr val="tx1"/>
                </a:solidFill>
              </a:rPr>
              <a:t> and NDVI (or scaled NDVI</a:t>
            </a:r>
            <a:r>
              <a:rPr lang="en-US" sz="1250" i="1" dirty="0">
                <a:solidFill>
                  <a:schemeClr val="tx1"/>
                </a:solidFill>
              </a:rPr>
              <a:t>, f</a:t>
            </a:r>
            <a:r>
              <a:rPr lang="en-US" sz="1250" i="1" baseline="-40000" dirty="0">
                <a:solidFill>
                  <a:schemeClr val="tx1"/>
                </a:solidFill>
              </a:rPr>
              <a:t>c</a:t>
            </a:r>
            <a:r>
              <a:rPr lang="en-US" sz="1250" i="1" dirty="0">
                <a:solidFill>
                  <a:schemeClr val="tx1"/>
                </a:solidFill>
              </a:rPr>
              <a:t>); mask cloud and water</a:t>
            </a:r>
            <a:endParaRPr lang="en-US" sz="1250" dirty="0"/>
          </a:p>
        </p:txBody>
      </p:sp>
      <p:sp>
        <p:nvSpPr>
          <p:cNvPr id="7" name="step number"/>
          <p:cNvSpPr/>
          <p:nvPr/>
        </p:nvSpPr>
        <p:spPr>
          <a:xfrm>
            <a:off x="548640" y="2231136"/>
            <a:ext cx="384048" cy="384048"/>
          </a:xfrm>
          <a:prstGeom prst="ellipse">
            <a:avLst/>
          </a:prstGeom>
          <a:solidFill>
            <a:srgbClr val="6C4F9E"/>
          </a:solidFill>
          <a:ln/>
        </p:spPr>
      </p:sp>
      <p:sp>
        <p:nvSpPr>
          <p:cNvPr id="8" name="Text 5"/>
          <p:cNvSpPr txBox="1"/>
          <p:nvPr/>
        </p:nvSpPr>
        <p:spPr>
          <a:xfrm>
            <a:off x="548640" y="22311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57400"/>
            <a:ext cx="5897880" cy="685800"/>
          </a:xfrm>
          <a:prstGeom prst="rect">
            <a:avLst/>
          </a:prstGeom>
          <a:noFill/>
          <a:ln/>
        </p:spPr>
        <p:txBody>
          <a:bodyPr wrap="square" lIns="0" tIns="0" rIns="0" bIns="0" rtlCol="0" anchor="ctr"/>
          <a:lstStyle/>
          <a:p>
            <a:pPr indent="0" marL="0">
              <a:buNone/>
            </a:pPr>
            <a:r>
              <a:rPr lang="en-US" sz="1250" dirty="0">
                <a:solidFill>
                  <a:schemeClr val="tx1"/>
                </a:solidFill>
              </a:rPr>
              <a:t>Scatter all pixels; fit dry edge (max T</a:t>
            </a:r>
            <a:r>
              <a:rPr lang="en-US" sz="1250" baseline="-40000" dirty="0">
                <a:solidFill>
                  <a:schemeClr val="tx1"/>
                </a:solidFill>
              </a:rPr>
              <a:t>s</a:t>
            </a:r>
            <a:r>
              <a:rPr lang="en-US" sz="1250" dirty="0">
                <a:solidFill>
                  <a:schemeClr val="tx1"/>
                </a:solidFill>
              </a:rPr>
              <a:t> per NDVI bin) and wet edge (min T</a:t>
            </a:r>
            <a:r>
              <a:rPr lang="en-US" sz="1250" baseline="-40000" dirty="0">
                <a:solidFill>
                  <a:schemeClr val="tx1"/>
                </a:solidFill>
              </a:rPr>
              <a:t>s</a:t>
            </a:r>
            <a:r>
              <a:rPr lang="en-US" sz="1250" dirty="0">
                <a:solidFill>
                  <a:schemeClr val="tx1"/>
                </a:solidFill>
              </a:rPr>
              <a:t>)</a:t>
            </a:r>
            <a:endParaRPr lang="en-US" sz="1250" dirty="0"/>
          </a:p>
        </p:txBody>
      </p:sp>
      <p:sp>
        <p:nvSpPr>
          <p:cNvPr id="10" name="step number"/>
          <p:cNvSpPr/>
          <p:nvPr/>
        </p:nvSpPr>
        <p:spPr>
          <a:xfrm>
            <a:off x="548640" y="2962656"/>
            <a:ext cx="384048" cy="384048"/>
          </a:xfrm>
          <a:prstGeom prst="ellipse">
            <a:avLst/>
          </a:prstGeom>
          <a:solidFill>
            <a:srgbClr val="6C4F9E"/>
          </a:solidFill>
          <a:ln/>
        </p:spPr>
      </p:sp>
      <p:sp>
        <p:nvSpPr>
          <p:cNvPr id="11" name="Text 8"/>
          <p:cNvSpPr txBox="1"/>
          <p:nvPr/>
        </p:nvSpPr>
        <p:spPr>
          <a:xfrm>
            <a:off x="548640" y="29626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788920"/>
            <a:ext cx="5897880" cy="685800"/>
          </a:xfrm>
          <a:prstGeom prst="rect">
            <a:avLst/>
          </a:prstGeom>
          <a:noFill/>
          <a:ln/>
        </p:spPr>
        <p:txBody>
          <a:bodyPr wrap="square" lIns="0" tIns="0" rIns="0" bIns="0" rtlCol="0" anchor="ctr"/>
          <a:lstStyle/>
          <a:p>
            <a:pPr indent="0" marL="0">
              <a:buNone/>
            </a:pPr>
            <a:r>
              <a:rPr lang="en-US" sz="1250" dirty="0">
                <a:solidFill>
                  <a:schemeClr val="tx1"/>
                </a:solidFill>
              </a:rPr>
              <a:t>Set φ</a:t>
            </a:r>
            <a:r>
              <a:rPr lang="en-US" sz="1250" baseline="-40000" dirty="0">
                <a:solidFill>
                  <a:schemeClr val="tx1"/>
                </a:solidFill>
              </a:rPr>
              <a:t>min</a:t>
            </a:r>
            <a:r>
              <a:rPr lang="en-US" sz="1250" dirty="0">
                <a:solidFill>
                  <a:schemeClr val="tx1"/>
                </a:solidFill>
              </a:rPr>
              <a:t> = 0 at driest bare soil, φ</a:t>
            </a:r>
            <a:r>
              <a:rPr lang="en-US" sz="1250" baseline="-40000" dirty="0">
                <a:solidFill>
                  <a:schemeClr val="tx1"/>
                </a:solidFill>
              </a:rPr>
              <a:t>max</a:t>
            </a:r>
            <a:r>
              <a:rPr lang="en-US" sz="1250" dirty="0">
                <a:solidFill>
                  <a:schemeClr val="tx1"/>
                </a:solidFill>
              </a:rPr>
              <a:t> = 1.26 at wettest full cover</a:t>
            </a:r>
            <a:endParaRPr lang="en-US" sz="1250" dirty="0"/>
          </a:p>
        </p:txBody>
      </p:sp>
      <p:sp>
        <p:nvSpPr>
          <p:cNvPr id="13" name="step number"/>
          <p:cNvSpPr/>
          <p:nvPr/>
        </p:nvSpPr>
        <p:spPr>
          <a:xfrm>
            <a:off x="548640" y="3694176"/>
            <a:ext cx="384048" cy="384048"/>
          </a:xfrm>
          <a:prstGeom prst="ellipse">
            <a:avLst/>
          </a:prstGeom>
          <a:solidFill>
            <a:srgbClr val="6C4F9E"/>
          </a:solidFill>
          <a:ln/>
        </p:spPr>
      </p:sp>
      <p:sp>
        <p:nvSpPr>
          <p:cNvPr id="14" name="Text 11"/>
          <p:cNvSpPr txBox="1"/>
          <p:nvPr/>
        </p:nvSpPr>
        <p:spPr>
          <a:xfrm>
            <a:off x="548640"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520440"/>
            <a:ext cx="5897880" cy="685800"/>
          </a:xfrm>
          <a:prstGeom prst="rect">
            <a:avLst/>
          </a:prstGeom>
          <a:noFill/>
          <a:ln/>
        </p:spPr>
        <p:txBody>
          <a:bodyPr wrap="square" lIns="0" tIns="0" rIns="0" bIns="0" rtlCol="0" anchor="ctr"/>
          <a:lstStyle/>
          <a:p>
            <a:pPr indent="0" marL="0">
              <a:buNone/>
            </a:pPr>
            <a:r>
              <a:rPr lang="en-US" sz="1250" dirty="0">
                <a:solidFill>
                  <a:schemeClr val="tx1"/>
                </a:solidFill>
              </a:rPr>
              <a:t>φ on dry edge rises linearly with NDVI; φ on wet edge = 1.26</a:t>
            </a:r>
            <a:endParaRPr lang="en-US" sz="1250" dirty="0"/>
          </a:p>
        </p:txBody>
      </p:sp>
      <p:sp>
        <p:nvSpPr>
          <p:cNvPr id="16" name="step number"/>
          <p:cNvSpPr/>
          <p:nvPr/>
        </p:nvSpPr>
        <p:spPr>
          <a:xfrm>
            <a:off x="548640" y="4425696"/>
            <a:ext cx="384048" cy="384048"/>
          </a:xfrm>
          <a:prstGeom prst="ellipse">
            <a:avLst/>
          </a:prstGeom>
          <a:solidFill>
            <a:srgbClr val="6C4F9E"/>
          </a:solidFill>
          <a:ln/>
        </p:spPr>
      </p:sp>
      <p:sp>
        <p:nvSpPr>
          <p:cNvPr id="17" name="Text 14"/>
          <p:cNvSpPr txBox="1"/>
          <p:nvPr/>
        </p:nvSpPr>
        <p:spPr>
          <a:xfrm>
            <a:off x="548640" y="4425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251960"/>
            <a:ext cx="5897880" cy="685800"/>
          </a:xfrm>
          <a:prstGeom prst="rect">
            <a:avLst/>
          </a:prstGeom>
          <a:noFill/>
          <a:ln/>
        </p:spPr>
        <p:txBody>
          <a:bodyPr wrap="square" lIns="0" tIns="0" rIns="0" bIns="0" rtlCol="0" anchor="ctr"/>
          <a:lstStyle/>
          <a:p>
            <a:pPr indent="0" marL="0">
              <a:buNone/>
            </a:pPr>
            <a:r>
              <a:rPr lang="en-US" sz="1250" dirty="0">
                <a:solidFill>
                  <a:schemeClr val="tx1"/>
                </a:solidFill>
              </a:rPr>
              <a:t>Each pixel: interpolate φ linearly with T</a:t>
            </a:r>
            <a:r>
              <a:rPr lang="en-US" sz="1250" baseline="-40000" dirty="0">
                <a:solidFill>
                  <a:schemeClr val="tx1"/>
                </a:solidFill>
              </a:rPr>
              <a:t>s</a:t>
            </a:r>
            <a:r>
              <a:rPr lang="en-US" sz="1250" dirty="0">
                <a:solidFill>
                  <a:schemeClr val="tx1"/>
                </a:solidFill>
              </a:rPr>
              <a:t> between edges in its NDVI bin</a:t>
            </a:r>
            <a:endParaRPr lang="en-US" sz="1250" dirty="0"/>
          </a:p>
        </p:txBody>
      </p:sp>
      <p:sp>
        <p:nvSpPr>
          <p:cNvPr id="19" name="step number"/>
          <p:cNvSpPr/>
          <p:nvPr/>
        </p:nvSpPr>
        <p:spPr>
          <a:xfrm>
            <a:off x="548640" y="5157216"/>
            <a:ext cx="384048" cy="384048"/>
          </a:xfrm>
          <a:prstGeom prst="ellipse">
            <a:avLst/>
          </a:prstGeom>
          <a:solidFill>
            <a:srgbClr val="6C4F9E"/>
          </a:solidFill>
          <a:ln/>
        </p:spPr>
      </p:sp>
      <p:sp>
        <p:nvSpPr>
          <p:cNvPr id="20" name="Text 17"/>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4983480"/>
            <a:ext cx="5897880" cy="685800"/>
          </a:xfrm>
          <a:prstGeom prst="rect">
            <a:avLst/>
          </a:prstGeom>
          <a:noFill/>
          <a:ln/>
        </p:spPr>
        <p:txBody>
          <a:bodyPr wrap="square" lIns="0" tIns="0" rIns="0" bIns="0" rtlCol="0" anchor="ctr"/>
          <a:lstStyle/>
          <a:p>
            <a:pPr indent="0" marL="0">
              <a:buNone/>
            </a:pPr>
            <a:r>
              <a:rPr lang="en-US" sz="1250" dirty="0">
                <a:solidFill>
                  <a:schemeClr val="tx1"/>
                </a:solidFill>
              </a:rPr>
              <a:t>λE = φ(Rn − G)·Δ/(Δ + γ);  EF = φ·Δ/(Δ + γ)</a:t>
            </a:r>
            <a:endParaRPr lang="en-US" sz="1250" dirty="0"/>
          </a:p>
        </p:txBody>
      </p:sp>
      <p:sp>
        <p:nvSpPr>
          <p:cNvPr id="22" name="card"/>
          <p:cNvSpPr/>
          <p:nvPr/>
        </p:nvSpPr>
        <p:spPr>
          <a:xfrm>
            <a:off x="7178040" y="1280160"/>
            <a:ext cx="4462272" cy="4206240"/>
          </a:xfrm>
          <a:prstGeom prst="roundRect">
            <a:avLst>
              <a:gd name="adj" fmla="val 1739"/>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23" name="Text 20"/>
          <p:cNvSpPr txBox="1"/>
          <p:nvPr/>
        </p:nvSpPr>
        <p:spPr>
          <a:xfrm>
            <a:off x="7315200" y="1353312"/>
            <a:ext cx="4114800" cy="320040"/>
          </a:xfrm>
          <a:prstGeom prst="rect">
            <a:avLst/>
          </a:prstGeom>
          <a:noFill/>
          <a:ln/>
        </p:spPr>
        <p:txBody>
          <a:bodyPr wrap="square" lIns="0" tIns="0" rIns="0" bIns="0" rtlCol="0" anchor="ctr"/>
          <a:lstStyle/>
          <a:p>
            <a:pPr algn="l" indent="0" marL="0">
              <a:buNone/>
            </a:pPr>
            <a:r>
              <a:rPr lang="en-US" sz="1300" b="1" dirty="0">
                <a:solidFill>
                  <a:schemeClr val="tx2"/>
                </a:solidFill>
              </a:rPr>
              <a:t>φ interpolation</a:t>
            </a:r>
            <a:endParaRPr lang="en-US" sz="1300" dirty="0"/>
          </a:p>
        </p:txBody>
      </p:sp>
      <p:sp>
        <p:nvSpPr>
          <p:cNvPr id="24" name="arrow"/>
          <p:cNvSpPr/>
          <p:nvPr/>
        </p:nvSpPr>
        <p:spPr>
          <a:xfrm>
            <a:off x="7543800" y="4937760"/>
            <a:ext cx="3749040" cy="0"/>
          </a:xfrm>
          <a:prstGeom prst="line">
            <a:avLst/>
          </a:prstGeom>
          <a:noFill/>
          <a:ln w="19050">
            <a:solidFill>
              <a:srgbClr val="1E2430"/>
            </a:solidFill>
            <a:prstDash val="solid"/>
          </a:ln>
        </p:spPr>
      </p:sp>
      <p:sp>
        <p:nvSpPr>
          <p:cNvPr id="25" name="arrow"/>
          <p:cNvSpPr/>
          <p:nvPr/>
        </p:nvSpPr>
        <p:spPr>
          <a:xfrm flipV="1">
            <a:off x="7543800" y="1645920"/>
            <a:ext cx="0" cy="3291840"/>
          </a:xfrm>
          <a:prstGeom prst="line">
            <a:avLst/>
          </a:prstGeom>
          <a:noFill/>
          <a:ln w="19050">
            <a:solidFill>
              <a:srgbClr val="1E2430"/>
            </a:solidFill>
            <a:prstDash val="solid"/>
          </a:ln>
        </p:spPr>
      </p:sp>
      <p:sp>
        <p:nvSpPr>
          <p:cNvPr id="26" name="arrow"/>
          <p:cNvSpPr/>
          <p:nvPr/>
        </p:nvSpPr>
        <p:spPr>
          <a:xfrm>
            <a:off x="7680960" y="2011680"/>
            <a:ext cx="3337560" cy="2286000"/>
          </a:xfrm>
          <a:prstGeom prst="line">
            <a:avLst/>
          </a:prstGeom>
          <a:noFill/>
          <a:ln w="38100">
            <a:solidFill>
              <a:srgbClr val="C0702A"/>
            </a:solidFill>
            <a:prstDash val="solid"/>
          </a:ln>
        </p:spPr>
      </p:sp>
      <p:sp>
        <p:nvSpPr>
          <p:cNvPr id="27" name="arrow"/>
          <p:cNvSpPr/>
          <p:nvPr/>
        </p:nvSpPr>
        <p:spPr>
          <a:xfrm flipV="1">
            <a:off x="7680960" y="4297680"/>
            <a:ext cx="3337560" cy="137160"/>
          </a:xfrm>
          <a:prstGeom prst="line">
            <a:avLst/>
          </a:prstGeom>
          <a:noFill/>
          <a:ln w="38100">
            <a:solidFill>
              <a:srgbClr val="3B6EA5"/>
            </a:solidFill>
            <a:prstDash val="solid"/>
          </a:ln>
        </p:spPr>
      </p:sp>
      <p:sp>
        <p:nvSpPr>
          <p:cNvPr id="28" name="arrow"/>
          <p:cNvSpPr/>
          <p:nvPr/>
        </p:nvSpPr>
        <p:spPr>
          <a:xfrm>
            <a:off x="9281160" y="3108960"/>
            <a:ext cx="0" cy="1261872"/>
          </a:xfrm>
          <a:prstGeom prst="line">
            <a:avLst/>
          </a:prstGeom>
          <a:noFill/>
          <a:ln w="25400">
            <a:solidFill>
              <a:srgbClr val="6C4F9E"/>
            </a:solidFill>
            <a:prstDash val="dash"/>
          </a:ln>
        </p:spPr>
      </p:sp>
      <p:sp>
        <p:nvSpPr>
          <p:cNvPr id="29" name="Text 26"/>
          <p:cNvSpPr txBox="1"/>
          <p:nvPr/>
        </p:nvSpPr>
        <p:spPr>
          <a:xfrm>
            <a:off x="8823960" y="2103120"/>
            <a:ext cx="2377440" cy="274320"/>
          </a:xfrm>
          <a:prstGeom prst="rect">
            <a:avLst/>
          </a:prstGeom>
          <a:noFill/>
          <a:ln/>
        </p:spPr>
        <p:txBody>
          <a:bodyPr wrap="square" lIns="0" tIns="0" rIns="0" bIns="0" rtlCol="0" anchor="ctr"/>
          <a:lstStyle/>
          <a:p>
            <a:pPr algn="l" indent="0" marL="0">
              <a:buNone/>
            </a:pPr>
            <a:r>
              <a:rPr lang="en-US" sz="1100" b="1" dirty="0">
                <a:solidFill>
                  <a:schemeClr val="accent4"/>
                </a:solidFill>
              </a:rPr>
              <a:t>dry edge φ: 0 → 1.26</a:t>
            </a:r>
            <a:endParaRPr lang="en-US" sz="1100" dirty="0"/>
          </a:p>
        </p:txBody>
      </p:sp>
      <p:sp>
        <p:nvSpPr>
          <p:cNvPr id="30" name="Text 27"/>
          <p:cNvSpPr txBox="1"/>
          <p:nvPr/>
        </p:nvSpPr>
        <p:spPr>
          <a:xfrm>
            <a:off x="8458200" y="4526280"/>
            <a:ext cx="2011680" cy="274320"/>
          </a:xfrm>
          <a:prstGeom prst="rect">
            <a:avLst/>
          </a:prstGeom>
          <a:noFill/>
          <a:ln/>
        </p:spPr>
        <p:txBody>
          <a:bodyPr wrap="square" lIns="0" tIns="0" rIns="0" bIns="0" rtlCol="0" anchor="ctr"/>
          <a:lstStyle/>
          <a:p>
            <a:pPr algn="l" indent="0" marL="0">
              <a:buNone/>
            </a:pPr>
            <a:r>
              <a:rPr lang="en-US" sz="1100" b="1" dirty="0">
                <a:solidFill>
                  <a:schemeClr val="accent2"/>
                </a:solidFill>
              </a:rPr>
              <a:t>wet edge φ = 1.26</a:t>
            </a:r>
            <a:endParaRPr lang="en-US" sz="1100" dirty="0"/>
          </a:p>
        </p:txBody>
      </p:sp>
      <p:sp>
        <p:nvSpPr>
          <p:cNvPr id="31" name="Text 28"/>
          <p:cNvSpPr txBox="1"/>
          <p:nvPr/>
        </p:nvSpPr>
        <p:spPr>
          <a:xfrm>
            <a:off x="8961120" y="2788920"/>
            <a:ext cx="914400" cy="274320"/>
          </a:xfrm>
          <a:prstGeom prst="rect">
            <a:avLst/>
          </a:prstGeom>
          <a:noFill/>
          <a:ln/>
        </p:spPr>
        <p:txBody>
          <a:bodyPr wrap="square" lIns="0" tIns="0" rIns="0" bIns="0" rtlCol="0" anchor="ctr"/>
          <a:lstStyle/>
          <a:p>
            <a:pPr algn="l" indent="0" marL="0">
              <a:buNone/>
            </a:pPr>
            <a:r>
              <a:rPr lang="en-US" sz="1050" dirty="0">
                <a:solidFill>
                  <a:schemeClr val="accent5"/>
                </a:solidFill>
              </a:rPr>
              <a:t>NDVI bin</a:t>
            </a:r>
            <a:endParaRPr lang="en-US" sz="1050" dirty="0"/>
          </a:p>
        </p:txBody>
      </p:sp>
      <p:sp>
        <p:nvSpPr>
          <p:cNvPr id="32" name="pixel"/>
          <p:cNvSpPr/>
          <p:nvPr/>
        </p:nvSpPr>
        <p:spPr>
          <a:xfrm>
            <a:off x="9208008" y="3611880"/>
            <a:ext cx="146304" cy="146304"/>
          </a:xfrm>
          <a:prstGeom prst="ellipse">
            <a:avLst/>
          </a:prstGeom>
          <a:solidFill>
            <a:srgbClr val="1B4965"/>
          </a:solidFill>
          <a:ln/>
        </p:spPr>
      </p:sp>
      <p:sp>
        <p:nvSpPr>
          <p:cNvPr id="33" name="Text 30"/>
          <p:cNvSpPr txBox="1"/>
          <p:nvPr/>
        </p:nvSpPr>
        <p:spPr>
          <a:xfrm>
            <a:off x="9372600" y="3520440"/>
            <a:ext cx="1463040" cy="274320"/>
          </a:xfrm>
          <a:prstGeom prst="rect">
            <a:avLst/>
          </a:prstGeom>
          <a:noFill/>
          <a:ln/>
        </p:spPr>
        <p:txBody>
          <a:bodyPr wrap="square" lIns="0" tIns="0" rIns="0" bIns="0" rtlCol="0" anchor="ctr"/>
          <a:lstStyle/>
          <a:p>
            <a:pPr algn="l" indent="0" marL="0">
              <a:buNone/>
            </a:pPr>
            <a:r>
              <a:rPr lang="en-US" sz="1050" b="1" dirty="0">
                <a:solidFill>
                  <a:schemeClr val="tx1"/>
                </a:solidFill>
              </a:rPr>
              <a:t>pixel: φ by T</a:t>
            </a:r>
            <a:r>
              <a:rPr lang="en-US" sz="1050" b="1" baseline="-40000" dirty="0">
                <a:solidFill>
                  <a:schemeClr val="tx1"/>
                </a:solidFill>
              </a:rPr>
              <a:t>s</a:t>
            </a:r>
            <a:endParaRPr lang="en-US" sz="1050" dirty="0"/>
          </a:p>
        </p:txBody>
      </p:sp>
      <p:sp>
        <p:nvSpPr>
          <p:cNvPr id="34" name="Text 31"/>
          <p:cNvSpPr txBox="1"/>
          <p:nvPr/>
        </p:nvSpPr>
        <p:spPr>
          <a:xfrm>
            <a:off x="10469880" y="4965192"/>
            <a:ext cx="822960" cy="256032"/>
          </a:xfrm>
          <a:prstGeom prst="rect">
            <a:avLst/>
          </a:prstGeom>
          <a:noFill/>
          <a:ln/>
        </p:spPr>
        <p:txBody>
          <a:bodyPr wrap="square" lIns="0" tIns="0" rIns="0" bIns="0" rtlCol="0" anchor="ctr"/>
          <a:lstStyle/>
          <a:p>
            <a:pPr algn="r" indent="0" marL="0">
              <a:buNone/>
            </a:pPr>
            <a:r>
              <a:rPr lang="en-US" sz="1050" dirty="0">
                <a:solidFill>
                  <a:schemeClr val="accent6"/>
                </a:solidFill>
              </a:rPr>
              <a:t>NDVI →</a:t>
            </a:r>
            <a:endParaRPr lang="en-US" sz="1050" dirty="0"/>
          </a:p>
        </p:txBody>
      </p:sp>
      <p:sp>
        <p:nvSpPr>
          <p:cNvPr id="35" name="Text 32"/>
          <p:cNvSpPr txBox="1"/>
          <p:nvPr/>
        </p:nvSpPr>
        <p:spPr>
          <a:xfrm>
            <a:off x="7223760" y="1600200"/>
            <a:ext cx="320040" cy="274320"/>
          </a:xfrm>
          <a:prstGeom prst="rect">
            <a:avLst/>
          </a:prstGeom>
          <a:noFill/>
          <a:ln/>
        </p:spPr>
        <p:txBody>
          <a:bodyPr wrap="square" lIns="0" tIns="0" rIns="0" bIns="0" rtlCol="0" anchor="ctr"/>
          <a:lstStyle/>
          <a:p>
            <a:pPr algn="l" indent="0" marL="0">
              <a:buNone/>
            </a:pPr>
            <a:r>
              <a:rPr lang="en-US" sz="1100" b="1" dirty="0">
                <a:solidFill>
                  <a:schemeClr val="tx1"/>
                </a:solidFill>
              </a:rPr>
              <a:t>T</a:t>
            </a:r>
            <a:r>
              <a:rPr lang="en-US" sz="1100" b="1" baseline="-40000" dirty="0">
                <a:solidFill>
                  <a:schemeClr val="tx1"/>
                </a:solidFill>
              </a:rPr>
              <a:t>s</a:t>
            </a:r>
            <a:endParaRPr lang="en-US" sz="1100" dirty="0"/>
          </a:p>
        </p:txBody>
      </p:sp>
      <p:sp>
        <p:nvSpPr>
          <p:cNvPr id="36" name="insight"/>
          <p:cNvSpPr/>
          <p:nvPr/>
        </p:nvSpPr>
        <p:spPr>
          <a:xfrm>
            <a:off x="7178040" y="5577840"/>
            <a:ext cx="4462272" cy="594360"/>
          </a:xfrm>
          <a:prstGeom prst="roundRect">
            <a:avLst>
              <a:gd name="adj" fmla="val 12308"/>
            </a:avLst>
          </a:prstGeom>
          <a:solidFill>
            <a:schemeClr val="bg2"/>
          </a:solidFill>
          <a:ln/>
        </p:spPr>
      </p:sp>
      <p:sp>
        <p:nvSpPr>
          <p:cNvPr id="37" name="icon circle"/>
          <p:cNvSpPr/>
          <p:nvPr/>
        </p:nvSpPr>
        <p:spPr>
          <a:xfrm>
            <a:off x="7315200" y="5637276"/>
            <a:ext cx="475488" cy="475488"/>
          </a:xfrm>
          <a:prstGeom prst="ellipse">
            <a:avLst/>
          </a:prstGeom>
          <a:solidFill>
            <a:schemeClr val="accent3"/>
          </a:solidFill>
          <a:ln/>
        </p:spPr>
      </p:sp>
      <p:pic>
        <p:nvPicPr>
          <p:cNvPr id="38" name="Image 0" descr="Lightbulb icon">    </p:cNvPr>
          <p:cNvPicPr>
            <a:picLocks noChangeAspect="1"/>
          </p:cNvPicPr>
          <p:nvPr/>
        </p:nvPicPr>
        <p:blipFill>
          <a:blip r:embed="rId1"/>
          <a:stretch>
            <a:fillRect/>
          </a:stretch>
        </p:blipFill>
        <p:spPr>
          <a:xfrm>
            <a:off x="7438827" y="5760903"/>
            <a:ext cx="228234" cy="228234"/>
          </a:xfrm>
          <a:prstGeom prst="rect">
            <a:avLst/>
          </a:prstGeom>
        </p:spPr>
      </p:pic>
      <p:sp>
        <p:nvSpPr>
          <p:cNvPr id="39" name="Text 35"/>
          <p:cNvSpPr txBox="1"/>
          <p:nvPr/>
        </p:nvSpPr>
        <p:spPr>
          <a:xfrm>
            <a:off x="7955280" y="5614416"/>
            <a:ext cx="3547872" cy="52120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TVDI</a:t>
            </a:r>
            <a:r>
              <a:rPr lang="en-US" sz="1350" dirty="0">
                <a:solidFill>
                  <a:schemeClr val="tx1"/>
                </a:solidFill>
              </a:rPr>
              <a:t> = (T</a:t>
            </a:r>
            <a:r>
              <a:rPr lang="en-US" sz="1350" baseline="-40000" dirty="0">
                <a:solidFill>
                  <a:schemeClr val="tx1"/>
                </a:solidFill>
              </a:rPr>
              <a:t>s</a:t>
            </a:r>
            <a:r>
              <a:rPr lang="en-US" sz="1350" dirty="0">
                <a:solidFill>
                  <a:schemeClr val="tx1"/>
                </a:solidFill>
              </a:rPr>
              <a:t> − T</a:t>
            </a:r>
            <a:r>
              <a:rPr lang="en-US" sz="1350" baseline="-40000" dirty="0">
                <a:solidFill>
                  <a:schemeClr val="tx1"/>
                </a:solidFill>
              </a:rPr>
              <a:t>s,min</a:t>
            </a:r>
            <a:r>
              <a:rPr lang="en-US" sz="1350" dirty="0">
                <a:solidFill>
                  <a:schemeClr val="tx1"/>
                </a:solidFill>
              </a:rPr>
              <a:t>)/(T</a:t>
            </a:r>
            <a:r>
              <a:rPr lang="en-US" sz="1350" baseline="-40000" dirty="0">
                <a:solidFill>
                  <a:schemeClr val="tx1"/>
                </a:solidFill>
              </a:rPr>
              <a:t>s,max</a:t>
            </a:r>
            <a:r>
              <a:rPr lang="en-US" sz="1350" dirty="0">
                <a:solidFill>
                  <a:schemeClr val="tx1"/>
                </a:solidFill>
              </a:rPr>
              <a:t> − T</a:t>
            </a:r>
            <a:r>
              <a:rPr lang="en-US" sz="1350" baseline="-40000" dirty="0">
                <a:solidFill>
                  <a:schemeClr val="tx1"/>
                </a:solidFill>
              </a:rPr>
              <a:t>s,min</a:t>
            </a:r>
            <a:r>
              <a:rPr lang="en-US" sz="1350" dirty="0">
                <a:solidFill>
                  <a:schemeClr val="tx1"/>
                </a:solidFill>
              </a:rPr>
              <a:t>): soil moisture index</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Two-source energy balance (TSEB)</a:t>
            </a:r>
            <a:endParaRPr lang="en-US" sz="3200" dirty="0"/>
          </a:p>
        </p:txBody>
      </p:sp>
      <p:sp>
        <p:nvSpPr>
          <p:cNvPr id="4" name="card"/>
          <p:cNvSpPr/>
          <p:nvPr/>
        </p:nvSpPr>
        <p:spPr>
          <a:xfrm>
            <a:off x="548640" y="1280160"/>
            <a:ext cx="512064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4846320" cy="320040"/>
          </a:xfrm>
          <a:prstGeom prst="rect">
            <a:avLst/>
          </a:prstGeom>
          <a:noFill/>
          <a:ln/>
        </p:spPr>
        <p:txBody>
          <a:bodyPr wrap="square" lIns="0" tIns="0" rIns="0" bIns="0" rtlCol="0" anchor="ctr"/>
          <a:lstStyle/>
          <a:p>
            <a:pPr algn="l" indent="0" marL="0">
              <a:buNone/>
            </a:pPr>
            <a:r>
              <a:rPr lang="en-US" sz="1300" b="1" dirty="0">
                <a:solidFill>
                  <a:schemeClr val="tx2"/>
                </a:solidFill>
              </a:rPr>
              <a:t>Series resistance network</a:t>
            </a:r>
            <a:endParaRPr lang="en-US" sz="1300" dirty="0"/>
          </a:p>
        </p:txBody>
      </p:sp>
      <p:sp>
        <p:nvSpPr>
          <p:cNvPr id="6" name="diagram box"/>
          <p:cNvSpPr/>
          <p:nvPr/>
        </p:nvSpPr>
        <p:spPr>
          <a:xfrm>
            <a:off x="2286000" y="1783080"/>
            <a:ext cx="1645920" cy="502920"/>
          </a:xfrm>
          <a:prstGeom prst="roundRect">
            <a:avLst>
              <a:gd name="adj" fmla="val 14545"/>
            </a:avLst>
          </a:prstGeom>
          <a:solidFill>
            <a:srgbClr val="1B4965"/>
          </a:solidFill>
          <a:ln/>
        </p:spPr>
      </p:sp>
      <p:sp>
        <p:nvSpPr>
          <p:cNvPr id="7" name="Text 4"/>
          <p:cNvSpPr txBox="1"/>
          <p:nvPr/>
        </p:nvSpPr>
        <p:spPr>
          <a:xfrm>
            <a:off x="2286000" y="1783080"/>
            <a:ext cx="164592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T</a:t>
            </a:r>
            <a:r>
              <a:rPr lang="en-US" sz="1200" b="1" baseline="-40000" dirty="0">
                <a:solidFill>
                  <a:schemeClr val="bg1"/>
                </a:solidFill>
              </a:rPr>
              <a:t>a</a:t>
            </a:r>
            <a:r>
              <a:rPr lang="en-US" sz="1200" b="1" dirty="0">
                <a:solidFill>
                  <a:schemeClr val="bg1"/>
                </a:solidFill>
              </a:rPr>
              <a:t> (ref. height)</a:t>
            </a:r>
            <a:endParaRPr lang="en-US" sz="1200" dirty="0"/>
          </a:p>
        </p:txBody>
      </p:sp>
      <p:sp>
        <p:nvSpPr>
          <p:cNvPr id="8" name="arrow"/>
          <p:cNvSpPr/>
          <p:nvPr/>
        </p:nvSpPr>
        <p:spPr>
          <a:xfrm>
            <a:off x="3108960" y="2286000"/>
            <a:ext cx="0" cy="640080"/>
          </a:xfrm>
          <a:prstGeom prst="line">
            <a:avLst/>
          </a:prstGeom>
          <a:noFill/>
          <a:ln w="25400">
            <a:solidFill>
              <a:srgbClr val="1E2430"/>
            </a:solidFill>
            <a:prstDash val="solid"/>
          </a:ln>
        </p:spPr>
      </p:sp>
      <p:sp>
        <p:nvSpPr>
          <p:cNvPr id="9" name="Text 6"/>
          <p:cNvSpPr txBox="1"/>
          <p:nvPr/>
        </p:nvSpPr>
        <p:spPr>
          <a:xfrm>
            <a:off x="3200400" y="2450592"/>
            <a:ext cx="457200" cy="274320"/>
          </a:xfrm>
          <a:prstGeom prst="rect">
            <a:avLst/>
          </a:prstGeom>
          <a:noFill/>
          <a:ln/>
        </p:spPr>
        <p:txBody>
          <a:bodyPr wrap="square" lIns="0" tIns="0" rIns="0" bIns="0" rtlCol="0" anchor="ctr"/>
          <a:lstStyle/>
          <a:p>
            <a:pPr algn="l" indent="0" marL="0">
              <a:buNone/>
            </a:pPr>
            <a:r>
              <a:rPr lang="en-US" sz="1200" b="1" dirty="0">
                <a:solidFill>
                  <a:schemeClr val="tx1"/>
                </a:solidFill>
              </a:rPr>
              <a:t>r</a:t>
            </a:r>
            <a:r>
              <a:rPr lang="en-US" sz="1200" b="1" baseline="-40000" dirty="0">
                <a:solidFill>
                  <a:schemeClr val="tx1"/>
                </a:solidFill>
              </a:rPr>
              <a:t>a</a:t>
            </a:r>
            <a:endParaRPr lang="en-US" sz="1200" dirty="0"/>
          </a:p>
        </p:txBody>
      </p:sp>
      <p:sp>
        <p:nvSpPr>
          <p:cNvPr id="10" name="diagram box"/>
          <p:cNvSpPr/>
          <p:nvPr/>
        </p:nvSpPr>
        <p:spPr>
          <a:xfrm>
            <a:off x="2286000" y="2926080"/>
            <a:ext cx="1645920" cy="502920"/>
          </a:xfrm>
          <a:prstGeom prst="roundRect">
            <a:avLst>
              <a:gd name="adj" fmla="val 14545"/>
            </a:avLst>
          </a:prstGeom>
          <a:solidFill>
            <a:srgbClr val="3B6EA5"/>
          </a:solidFill>
          <a:ln/>
        </p:spPr>
      </p:sp>
      <p:sp>
        <p:nvSpPr>
          <p:cNvPr id="11" name="Text 8"/>
          <p:cNvSpPr txBox="1"/>
          <p:nvPr/>
        </p:nvSpPr>
        <p:spPr>
          <a:xfrm>
            <a:off x="2286000" y="2926080"/>
            <a:ext cx="1645920" cy="502920"/>
          </a:xfrm>
          <a:prstGeom prst="rect">
            <a:avLst/>
          </a:prstGeom>
          <a:noFill/>
          <a:ln/>
        </p:spPr>
        <p:txBody>
          <a:bodyPr wrap="square" lIns="508" tIns="508" rIns="508" bIns="508" rtlCol="0" anchor="ctr"/>
          <a:lstStyle/>
          <a:p>
            <a:pPr algn="ctr" indent="0" marL="0">
              <a:buNone/>
            </a:pPr>
            <a:r>
              <a:rPr lang="en-US" sz="1200" b="1" dirty="0">
                <a:solidFill>
                  <a:schemeClr val="bg1"/>
                </a:solidFill>
              </a:rPr>
              <a:t>T</a:t>
            </a:r>
            <a:r>
              <a:rPr lang="en-US" sz="1200" b="1" baseline="-40000" dirty="0">
                <a:solidFill>
                  <a:schemeClr val="bg1"/>
                </a:solidFill>
              </a:rPr>
              <a:t>ac</a:t>
            </a:r>
            <a:r>
              <a:rPr lang="en-US" sz="1200" b="1" dirty="0">
                <a:solidFill>
                  <a:schemeClr val="bg1"/>
                </a:solidFill>
              </a:rPr>
              <a:t> (canopy air)</a:t>
            </a:r>
            <a:endParaRPr lang="en-US" sz="1200" dirty="0"/>
          </a:p>
        </p:txBody>
      </p:sp>
      <p:sp>
        <p:nvSpPr>
          <p:cNvPr id="12" name="arrow"/>
          <p:cNvSpPr/>
          <p:nvPr/>
        </p:nvSpPr>
        <p:spPr>
          <a:xfrm flipH="1">
            <a:off x="1554480" y="3429000"/>
            <a:ext cx="1097280" cy="777240"/>
          </a:xfrm>
          <a:prstGeom prst="line">
            <a:avLst/>
          </a:prstGeom>
          <a:noFill/>
          <a:ln w="25400">
            <a:solidFill>
              <a:srgbClr val="1E2430"/>
            </a:solidFill>
            <a:prstDash val="solid"/>
          </a:ln>
        </p:spPr>
      </p:sp>
      <p:sp>
        <p:nvSpPr>
          <p:cNvPr id="13" name="arrow"/>
          <p:cNvSpPr/>
          <p:nvPr/>
        </p:nvSpPr>
        <p:spPr>
          <a:xfrm>
            <a:off x="3566160" y="3429000"/>
            <a:ext cx="1097280" cy="777240"/>
          </a:xfrm>
          <a:prstGeom prst="line">
            <a:avLst/>
          </a:prstGeom>
          <a:noFill/>
          <a:ln w="25400">
            <a:solidFill>
              <a:srgbClr val="1E2430"/>
            </a:solidFill>
            <a:prstDash val="solid"/>
          </a:ln>
        </p:spPr>
      </p:sp>
      <p:sp>
        <p:nvSpPr>
          <p:cNvPr id="14" name="Text 11"/>
          <p:cNvSpPr txBox="1"/>
          <p:nvPr/>
        </p:nvSpPr>
        <p:spPr>
          <a:xfrm>
            <a:off x="1874520" y="3611880"/>
            <a:ext cx="457200" cy="274320"/>
          </a:xfrm>
          <a:prstGeom prst="rect">
            <a:avLst/>
          </a:prstGeom>
          <a:noFill/>
          <a:ln/>
        </p:spPr>
        <p:txBody>
          <a:bodyPr wrap="square" lIns="0" tIns="0" rIns="0" bIns="0" rtlCol="0" anchor="ctr"/>
          <a:lstStyle/>
          <a:p>
            <a:pPr algn="l" indent="0" marL="0">
              <a:buNone/>
            </a:pPr>
            <a:r>
              <a:rPr lang="en-US" sz="1200" b="1" dirty="0">
                <a:solidFill>
                  <a:schemeClr val="tx1"/>
                </a:solidFill>
              </a:rPr>
              <a:t>r</a:t>
            </a:r>
            <a:r>
              <a:rPr lang="en-US" sz="1200" b="1" baseline="-40000" dirty="0">
                <a:solidFill>
                  <a:schemeClr val="tx1"/>
                </a:solidFill>
              </a:rPr>
              <a:t>x</a:t>
            </a:r>
            <a:endParaRPr lang="en-US" sz="1200" dirty="0"/>
          </a:p>
        </p:txBody>
      </p:sp>
      <p:sp>
        <p:nvSpPr>
          <p:cNvPr id="15" name="Text 12"/>
          <p:cNvSpPr txBox="1"/>
          <p:nvPr/>
        </p:nvSpPr>
        <p:spPr>
          <a:xfrm>
            <a:off x="4069080" y="3611880"/>
            <a:ext cx="457200" cy="274320"/>
          </a:xfrm>
          <a:prstGeom prst="rect">
            <a:avLst/>
          </a:prstGeom>
          <a:noFill/>
          <a:ln/>
        </p:spPr>
        <p:txBody>
          <a:bodyPr wrap="square" lIns="0" tIns="0" rIns="0" bIns="0" rtlCol="0" anchor="ctr"/>
          <a:lstStyle/>
          <a:p>
            <a:pPr algn="l" indent="0" marL="0">
              <a:buNone/>
            </a:pPr>
            <a:r>
              <a:rPr lang="en-US" sz="1200" b="1" dirty="0">
                <a:solidFill>
                  <a:schemeClr val="tx1"/>
                </a:solidFill>
              </a:rPr>
              <a:t>r</a:t>
            </a:r>
            <a:r>
              <a:rPr lang="en-US" sz="1200" b="1" baseline="-40000" dirty="0">
                <a:solidFill>
                  <a:schemeClr val="tx1"/>
                </a:solidFill>
              </a:rPr>
              <a:t>s</a:t>
            </a:r>
            <a:endParaRPr lang="en-US" sz="1200" dirty="0"/>
          </a:p>
        </p:txBody>
      </p:sp>
      <p:sp>
        <p:nvSpPr>
          <p:cNvPr id="16" name="diagram box"/>
          <p:cNvSpPr/>
          <p:nvPr/>
        </p:nvSpPr>
        <p:spPr>
          <a:xfrm>
            <a:off x="777240" y="4206240"/>
            <a:ext cx="1645920" cy="548640"/>
          </a:xfrm>
          <a:prstGeom prst="roundRect">
            <a:avLst>
              <a:gd name="adj" fmla="val 13333"/>
            </a:avLst>
          </a:prstGeom>
          <a:solidFill>
            <a:srgbClr val="2E7D4F"/>
          </a:solidFill>
          <a:ln/>
        </p:spPr>
      </p:sp>
      <p:sp>
        <p:nvSpPr>
          <p:cNvPr id="17" name="Text 14"/>
          <p:cNvSpPr txBox="1"/>
          <p:nvPr/>
        </p:nvSpPr>
        <p:spPr>
          <a:xfrm>
            <a:off x="777240" y="4206240"/>
            <a:ext cx="1645920" cy="548640"/>
          </a:xfrm>
          <a:prstGeom prst="rect">
            <a:avLst/>
          </a:prstGeom>
          <a:noFill/>
          <a:ln/>
        </p:spPr>
        <p:txBody>
          <a:bodyPr wrap="square" lIns="508" tIns="508" rIns="508" bIns="508" rtlCol="0" anchor="ctr"/>
          <a:lstStyle/>
          <a:p>
            <a:pPr algn="ctr" indent="0" marL="0">
              <a:buNone/>
            </a:pPr>
            <a:r>
              <a:rPr lang="en-US" sz="1150" b="1" dirty="0">
                <a:solidFill>
                  <a:schemeClr val="bg1"/>
                </a:solidFill>
              </a:rPr>
              <a:t>T</a:t>
            </a:r>
            <a:r>
              <a:rPr lang="en-US" sz="1150" b="1" baseline="-40000" dirty="0">
                <a:solidFill>
                  <a:schemeClr val="bg1"/>
                </a:solidFill>
              </a:rPr>
              <a:t>c</a:t>
            </a:r>
            <a:r>
              <a:rPr lang="en-US" sz="1150" b="1" dirty="0">
                <a:solidFill>
                  <a:schemeClr val="bg1"/>
                </a:solidFill>
              </a:rPr>
              <a:t> canopy → H</a:t>
            </a:r>
            <a:r>
              <a:rPr lang="en-US" sz="1150" b="1" baseline="-40000" dirty="0">
                <a:solidFill>
                  <a:schemeClr val="bg1"/>
                </a:solidFill>
              </a:rPr>
              <a:t>c</a:t>
            </a:r>
            <a:r>
              <a:rPr lang="en-US" sz="1150" b="1" dirty="0">
                <a:solidFill>
                  <a:schemeClr val="bg1"/>
                </a:solidFill>
              </a:rPr>
              <a:t>, λE</a:t>
            </a:r>
            <a:r>
              <a:rPr lang="en-US" sz="1150" b="1" baseline="-40000" dirty="0">
                <a:solidFill>
                  <a:schemeClr val="bg1"/>
                </a:solidFill>
              </a:rPr>
              <a:t>c</a:t>
            </a:r>
            <a:endParaRPr lang="en-US" sz="1150" dirty="0"/>
          </a:p>
        </p:txBody>
      </p:sp>
      <p:sp>
        <p:nvSpPr>
          <p:cNvPr id="18" name="diagram box"/>
          <p:cNvSpPr/>
          <p:nvPr/>
        </p:nvSpPr>
        <p:spPr>
          <a:xfrm>
            <a:off x="3794760" y="4206240"/>
            <a:ext cx="1645920" cy="548640"/>
          </a:xfrm>
          <a:prstGeom prst="roundRect">
            <a:avLst>
              <a:gd name="adj" fmla="val 13333"/>
            </a:avLst>
          </a:prstGeom>
          <a:solidFill>
            <a:srgbClr val="8C5E34"/>
          </a:solidFill>
          <a:ln/>
        </p:spPr>
      </p:sp>
      <p:sp>
        <p:nvSpPr>
          <p:cNvPr id="19" name="Text 16"/>
          <p:cNvSpPr txBox="1"/>
          <p:nvPr/>
        </p:nvSpPr>
        <p:spPr>
          <a:xfrm>
            <a:off x="3794760" y="4206240"/>
            <a:ext cx="1645920" cy="548640"/>
          </a:xfrm>
          <a:prstGeom prst="rect">
            <a:avLst/>
          </a:prstGeom>
          <a:noFill/>
          <a:ln/>
        </p:spPr>
        <p:txBody>
          <a:bodyPr wrap="square" lIns="508" tIns="508" rIns="508" bIns="508" rtlCol="0" anchor="ctr"/>
          <a:lstStyle/>
          <a:p>
            <a:pPr algn="ctr" indent="0" marL="0">
              <a:buNone/>
            </a:pPr>
            <a:r>
              <a:rPr lang="en-US" sz="1150" b="1" dirty="0">
                <a:solidFill>
                  <a:schemeClr val="bg1"/>
                </a:solidFill>
              </a:rPr>
              <a:t>T</a:t>
            </a:r>
            <a:r>
              <a:rPr lang="en-US" sz="1150" b="1" baseline="-40000" dirty="0">
                <a:solidFill>
                  <a:schemeClr val="bg1"/>
                </a:solidFill>
              </a:rPr>
              <a:t>soil</a:t>
            </a:r>
            <a:r>
              <a:rPr lang="en-US" sz="1150" b="1" dirty="0">
                <a:solidFill>
                  <a:schemeClr val="bg1"/>
                </a:solidFill>
              </a:rPr>
              <a:t> → H</a:t>
            </a:r>
            <a:r>
              <a:rPr lang="en-US" sz="1150" b="1" baseline="-40000" dirty="0">
                <a:solidFill>
                  <a:schemeClr val="bg1"/>
                </a:solidFill>
              </a:rPr>
              <a:t>s</a:t>
            </a:r>
            <a:r>
              <a:rPr lang="en-US" sz="1150" b="1" dirty="0">
                <a:solidFill>
                  <a:schemeClr val="bg1"/>
                </a:solidFill>
              </a:rPr>
              <a:t>, λE</a:t>
            </a:r>
            <a:r>
              <a:rPr lang="en-US" sz="1150" b="1" baseline="-40000" dirty="0">
                <a:solidFill>
                  <a:schemeClr val="bg1"/>
                </a:solidFill>
              </a:rPr>
              <a:t>s</a:t>
            </a:r>
            <a:endParaRPr lang="en-US" sz="1150" dirty="0"/>
          </a:p>
        </p:txBody>
      </p:sp>
      <p:sp>
        <p:nvSpPr>
          <p:cNvPr id="20" name="Text 17"/>
          <p:cNvSpPr txBox="1"/>
          <p:nvPr/>
        </p:nvSpPr>
        <p:spPr>
          <a:xfrm>
            <a:off x="685800" y="4937760"/>
            <a:ext cx="4846320" cy="320040"/>
          </a:xfrm>
          <a:prstGeom prst="rect">
            <a:avLst/>
          </a:prstGeom>
          <a:noFill/>
          <a:ln/>
        </p:spPr>
        <p:txBody>
          <a:bodyPr wrap="square" lIns="0" tIns="0" rIns="0" bIns="0" rtlCol="0" anchor="ctr"/>
          <a:lstStyle/>
          <a:p>
            <a:pPr algn="ctr" indent="0" marL="0">
              <a:buNone/>
            </a:pPr>
            <a:r>
              <a:rPr lang="en-US" sz="1300" b="1" dirty="0">
                <a:solidFill>
                  <a:schemeClr val="tx2"/>
                </a:solidFill>
              </a:rPr>
              <a:t>H = H</a:t>
            </a:r>
            <a:r>
              <a:rPr lang="en-US" sz="1300" b="1" baseline="-40000" dirty="0">
                <a:solidFill>
                  <a:schemeClr val="tx2"/>
                </a:solidFill>
              </a:rPr>
              <a:t>c</a:t>
            </a:r>
            <a:r>
              <a:rPr lang="en-US" sz="1300" b="1" dirty="0">
                <a:solidFill>
                  <a:schemeClr val="tx2"/>
                </a:solidFill>
              </a:rPr>
              <a:t> + H</a:t>
            </a:r>
            <a:r>
              <a:rPr lang="en-US" sz="1300" b="1" baseline="-40000" dirty="0">
                <a:solidFill>
                  <a:schemeClr val="tx2"/>
                </a:solidFill>
              </a:rPr>
              <a:t>s</a:t>
            </a:r>
            <a:r>
              <a:rPr lang="en-US" sz="1300" b="1" dirty="0">
                <a:solidFill>
                  <a:schemeClr val="tx2"/>
                </a:solidFill>
              </a:rPr>
              <a:t>; λE = λE</a:t>
            </a:r>
            <a:r>
              <a:rPr lang="en-US" sz="1300" b="1" baseline="-40000" dirty="0">
                <a:solidFill>
                  <a:schemeClr val="tx2"/>
                </a:solidFill>
              </a:rPr>
              <a:t>c</a:t>
            </a:r>
            <a:r>
              <a:rPr lang="en-US" sz="1300" b="1" dirty="0">
                <a:solidFill>
                  <a:schemeClr val="tx2"/>
                </a:solidFill>
              </a:rPr>
              <a:t> + λE</a:t>
            </a:r>
            <a:r>
              <a:rPr lang="en-US" sz="1300" b="1" baseline="-40000" dirty="0">
                <a:solidFill>
                  <a:schemeClr val="tx2"/>
                </a:solidFill>
              </a:rPr>
              <a:t>s</a:t>
            </a:r>
            <a:endParaRPr lang="en-US" sz="1300" dirty="0"/>
          </a:p>
        </p:txBody>
      </p:sp>
      <p:sp>
        <p:nvSpPr>
          <p:cNvPr id="21" name="Text 18"/>
          <p:cNvSpPr txBox="1"/>
          <p:nvPr/>
        </p:nvSpPr>
        <p:spPr>
          <a:xfrm>
            <a:off x="685800" y="5303520"/>
            <a:ext cx="4846320" cy="320040"/>
          </a:xfrm>
          <a:prstGeom prst="rect">
            <a:avLst/>
          </a:prstGeom>
          <a:noFill/>
          <a:ln/>
        </p:spPr>
        <p:txBody>
          <a:bodyPr wrap="square" lIns="0" tIns="0" rIns="0" bIns="0" rtlCol="0" anchor="ctr"/>
          <a:lstStyle/>
          <a:p>
            <a:pPr algn="ctr" indent="0" marL="0">
              <a:buNone/>
            </a:pPr>
            <a:r>
              <a:rPr lang="en-US" sz="1300" b="1" dirty="0">
                <a:solidFill>
                  <a:schemeClr val="accent4"/>
                </a:solidFill>
              </a:rPr>
              <a:t>T</a:t>
            </a:r>
            <a:r>
              <a:rPr lang="en-US" sz="1300" b="1" baseline="-40000" dirty="0">
                <a:solidFill>
                  <a:schemeClr val="accent4"/>
                </a:solidFill>
              </a:rPr>
              <a:t>RAD</a:t>
            </a:r>
            <a:r>
              <a:rPr lang="en-US" sz="1300" b="1" dirty="0">
                <a:solidFill>
                  <a:schemeClr val="accent4"/>
                </a:solidFill>
              </a:rPr>
              <a:t>(θ)⁴ = f(θ)·T</a:t>
            </a:r>
            <a:r>
              <a:rPr lang="en-US" sz="1300" b="1" baseline="-40000" dirty="0">
                <a:solidFill>
                  <a:schemeClr val="accent4"/>
                </a:solidFill>
              </a:rPr>
              <a:t>c</a:t>
            </a:r>
            <a:r>
              <a:rPr lang="en-US" sz="1300" b="1" dirty="0">
                <a:solidFill>
                  <a:schemeClr val="accent4"/>
                </a:solidFill>
              </a:rPr>
              <a:t>⁴ + [1 − f(θ)]·T</a:t>
            </a:r>
            <a:r>
              <a:rPr lang="en-US" sz="1300" b="1" baseline="-40000" dirty="0">
                <a:solidFill>
                  <a:schemeClr val="accent4"/>
                </a:solidFill>
              </a:rPr>
              <a:t>soil</a:t>
            </a:r>
            <a:r>
              <a:rPr lang="en-US" sz="1300" b="1" dirty="0">
                <a:solidFill>
                  <a:schemeClr val="accent4"/>
                </a:solidFill>
              </a:rPr>
              <a:t>⁴</a:t>
            </a:r>
            <a:endParaRPr lang="en-US" sz="1300" dirty="0"/>
          </a:p>
        </p:txBody>
      </p:sp>
      <p:sp>
        <p:nvSpPr>
          <p:cNvPr id="22" name="Text 19"/>
          <p:cNvSpPr txBox="1"/>
          <p:nvPr/>
        </p:nvSpPr>
        <p:spPr>
          <a:xfrm>
            <a:off x="685800" y="5669280"/>
            <a:ext cx="4846320" cy="320040"/>
          </a:xfrm>
          <a:prstGeom prst="rect">
            <a:avLst/>
          </a:prstGeom>
          <a:noFill/>
          <a:ln/>
        </p:spPr>
        <p:txBody>
          <a:bodyPr wrap="square" lIns="0" tIns="0" rIns="0" bIns="0" rtlCol="0" anchor="ctr"/>
          <a:lstStyle/>
          <a:p>
            <a:pPr algn="ctr" indent="0" marL="0">
              <a:buNone/>
            </a:pPr>
            <a:r>
              <a:rPr lang="en-US" sz="1200" dirty="0">
                <a:solidFill>
                  <a:schemeClr val="accent6"/>
                </a:solidFill>
              </a:rPr>
              <a:t>f(θ) = 1 − exp(−0.5·Ω·LAI / cos θ)</a:t>
            </a:r>
            <a:endParaRPr lang="en-US" sz="1200" dirty="0"/>
          </a:p>
        </p:txBody>
      </p:sp>
      <p:sp>
        <p:nvSpPr>
          <p:cNvPr id="23" name="Text 20"/>
          <p:cNvSpPr txBox="1"/>
          <p:nvPr/>
        </p:nvSpPr>
        <p:spPr>
          <a:xfrm>
            <a:off x="5897880" y="1280160"/>
            <a:ext cx="5486400" cy="320040"/>
          </a:xfrm>
          <a:prstGeom prst="rect">
            <a:avLst/>
          </a:prstGeom>
          <a:noFill/>
          <a:ln/>
        </p:spPr>
        <p:txBody>
          <a:bodyPr wrap="square" lIns="0" tIns="0" rIns="0" bIns="0" rtlCol="0" anchor="ctr"/>
          <a:lstStyle/>
          <a:p>
            <a:pPr algn="l" indent="0" marL="0">
              <a:buNone/>
            </a:pPr>
            <a:r>
              <a:rPr lang="en-US" sz="1400" b="1" dirty="0">
                <a:solidFill>
                  <a:schemeClr val="tx2"/>
                </a:solidFill>
              </a:rPr>
              <a:t>Solution steps</a:t>
            </a:r>
            <a:endParaRPr lang="en-US" sz="1400" dirty="0"/>
          </a:p>
        </p:txBody>
      </p:sp>
      <p:sp>
        <p:nvSpPr>
          <p:cNvPr id="24" name="step number"/>
          <p:cNvSpPr/>
          <p:nvPr/>
        </p:nvSpPr>
        <p:spPr>
          <a:xfrm>
            <a:off x="5897880" y="1783080"/>
            <a:ext cx="384048" cy="384048"/>
          </a:xfrm>
          <a:prstGeom prst="ellipse">
            <a:avLst/>
          </a:prstGeom>
          <a:solidFill>
            <a:srgbClr val="6C4F9E"/>
          </a:solidFill>
          <a:ln/>
        </p:spPr>
      </p:sp>
      <p:sp>
        <p:nvSpPr>
          <p:cNvPr id="25" name="Text 22"/>
          <p:cNvSpPr txBox="1"/>
          <p:nvPr/>
        </p:nvSpPr>
        <p:spPr>
          <a:xfrm>
            <a:off x="5897880" y="17830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6" name="Text 23"/>
          <p:cNvSpPr txBox="1"/>
          <p:nvPr/>
        </p:nvSpPr>
        <p:spPr>
          <a:xfrm>
            <a:off x="6400800" y="1645920"/>
            <a:ext cx="5239512" cy="612648"/>
          </a:xfrm>
          <a:prstGeom prst="rect">
            <a:avLst/>
          </a:prstGeom>
          <a:noFill/>
          <a:ln/>
        </p:spPr>
        <p:txBody>
          <a:bodyPr wrap="square" lIns="0" tIns="0" rIns="0" bIns="0" rtlCol="0" anchor="ctr"/>
          <a:lstStyle/>
          <a:p>
            <a:pPr indent="0" marL="0">
              <a:buNone/>
            </a:pPr>
            <a:r>
              <a:rPr lang="en-US" sz="1250" dirty="0">
                <a:solidFill>
                  <a:schemeClr val="tx1"/>
                </a:solidFill>
              </a:rPr>
              <a:t>Partition Rn into Rn</a:t>
            </a:r>
            <a:r>
              <a:rPr lang="en-US" sz="1250" baseline="-40000" dirty="0">
                <a:solidFill>
                  <a:schemeClr val="tx1"/>
                </a:solidFill>
              </a:rPr>
              <a:t>c</a:t>
            </a:r>
            <a:r>
              <a:rPr lang="en-US" sz="1250" dirty="0">
                <a:solidFill>
                  <a:schemeClr val="tx1"/>
                </a:solidFill>
              </a:rPr>
              <a:t> and Rn</a:t>
            </a:r>
            <a:r>
              <a:rPr lang="en-US" sz="1250" baseline="-40000" dirty="0">
                <a:solidFill>
                  <a:schemeClr val="tx1"/>
                </a:solidFill>
              </a:rPr>
              <a:t>s</a:t>
            </a:r>
            <a:r>
              <a:rPr lang="en-US" sz="1250" dirty="0">
                <a:solidFill>
                  <a:schemeClr val="tx1"/>
                </a:solidFill>
              </a:rPr>
              <a:t> using LAI (Beer's law)</a:t>
            </a:r>
            <a:endParaRPr lang="en-US" sz="1250" dirty="0"/>
          </a:p>
        </p:txBody>
      </p:sp>
      <p:sp>
        <p:nvSpPr>
          <p:cNvPr id="27" name="step number"/>
          <p:cNvSpPr/>
          <p:nvPr/>
        </p:nvSpPr>
        <p:spPr>
          <a:xfrm>
            <a:off x="5897880" y="2441448"/>
            <a:ext cx="384048" cy="384048"/>
          </a:xfrm>
          <a:prstGeom prst="ellipse">
            <a:avLst/>
          </a:prstGeom>
          <a:solidFill>
            <a:srgbClr val="6C4F9E"/>
          </a:solidFill>
          <a:ln/>
        </p:spPr>
      </p:sp>
      <p:sp>
        <p:nvSpPr>
          <p:cNvPr id="28" name="Text 25"/>
          <p:cNvSpPr txBox="1"/>
          <p:nvPr/>
        </p:nvSpPr>
        <p:spPr>
          <a:xfrm>
            <a:off x="5897880" y="2441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6"/>
          <p:cNvSpPr txBox="1"/>
          <p:nvPr/>
        </p:nvSpPr>
        <p:spPr>
          <a:xfrm>
            <a:off x="6400800" y="2304288"/>
            <a:ext cx="5239512" cy="612648"/>
          </a:xfrm>
          <a:prstGeom prst="rect">
            <a:avLst/>
          </a:prstGeom>
          <a:noFill/>
          <a:ln/>
        </p:spPr>
        <p:txBody>
          <a:bodyPr wrap="square" lIns="0" tIns="0" rIns="0" bIns="0" rtlCol="0" anchor="ctr"/>
          <a:lstStyle/>
          <a:p>
            <a:pPr indent="0" marL="0">
              <a:buNone/>
            </a:pPr>
            <a:r>
              <a:rPr lang="en-US" sz="1250" dirty="0">
                <a:solidFill>
                  <a:schemeClr val="tx1"/>
                </a:solidFill>
              </a:rPr>
              <a:t>First guess: λE</a:t>
            </a:r>
            <a:r>
              <a:rPr lang="en-US" sz="1250" baseline="-40000" dirty="0">
                <a:solidFill>
                  <a:schemeClr val="tx1"/>
                </a:solidFill>
              </a:rPr>
              <a:t>c</a:t>
            </a:r>
            <a:r>
              <a:rPr lang="en-US" sz="1250" dirty="0">
                <a:solidFill>
                  <a:schemeClr val="tx1"/>
                </a:solidFill>
              </a:rPr>
              <a:t> = 1.26·f</a:t>
            </a:r>
            <a:r>
              <a:rPr lang="en-US" sz="1250" baseline="-40000" dirty="0">
                <a:solidFill>
                  <a:schemeClr val="tx1"/>
                </a:solidFill>
              </a:rPr>
              <a:t>g</a:t>
            </a:r>
            <a:r>
              <a:rPr lang="en-US" sz="1250" dirty="0">
                <a:solidFill>
                  <a:schemeClr val="tx1"/>
                </a:solidFill>
              </a:rPr>
              <a:t>·Δ/(Δ + γ)·Rn</a:t>
            </a:r>
            <a:r>
              <a:rPr lang="en-US" sz="1250" baseline="-40000" dirty="0">
                <a:solidFill>
                  <a:schemeClr val="tx1"/>
                </a:solidFill>
              </a:rPr>
              <a:t>c</a:t>
            </a:r>
            <a:r>
              <a:rPr lang="en-US" sz="1250" dirty="0">
                <a:solidFill>
                  <a:schemeClr val="tx1"/>
                </a:solidFill>
              </a:rPr>
              <a:t> (Priestley–Taylor)</a:t>
            </a:r>
            <a:endParaRPr lang="en-US" sz="1250" dirty="0"/>
          </a:p>
        </p:txBody>
      </p:sp>
      <p:sp>
        <p:nvSpPr>
          <p:cNvPr id="30" name="step number"/>
          <p:cNvSpPr/>
          <p:nvPr/>
        </p:nvSpPr>
        <p:spPr>
          <a:xfrm>
            <a:off x="5897880" y="3099816"/>
            <a:ext cx="384048" cy="384048"/>
          </a:xfrm>
          <a:prstGeom prst="ellipse">
            <a:avLst/>
          </a:prstGeom>
          <a:solidFill>
            <a:srgbClr val="6C4F9E"/>
          </a:solidFill>
          <a:ln/>
        </p:spPr>
      </p:sp>
      <p:sp>
        <p:nvSpPr>
          <p:cNvPr id="31" name="Text 28"/>
          <p:cNvSpPr txBox="1"/>
          <p:nvPr/>
        </p:nvSpPr>
        <p:spPr>
          <a:xfrm>
            <a:off x="5897880" y="30998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2" name="Text 29"/>
          <p:cNvSpPr txBox="1"/>
          <p:nvPr/>
        </p:nvSpPr>
        <p:spPr>
          <a:xfrm>
            <a:off x="6400800" y="2962656"/>
            <a:ext cx="5239512" cy="612648"/>
          </a:xfrm>
          <a:prstGeom prst="rect">
            <a:avLst/>
          </a:prstGeom>
          <a:noFill/>
          <a:ln/>
        </p:spPr>
        <p:txBody>
          <a:bodyPr wrap="square" lIns="0" tIns="0" rIns="0" bIns="0" rtlCol="0" anchor="ctr"/>
          <a:lstStyle/>
          <a:p>
            <a:pPr indent="0" marL="0">
              <a:buNone/>
            </a:pPr>
            <a:r>
              <a:rPr lang="en-US" sz="1250" dirty="0">
                <a:solidFill>
                  <a:schemeClr val="tx1"/>
                </a:solidFill>
              </a:rPr>
              <a:t>H</a:t>
            </a:r>
            <a:r>
              <a:rPr lang="en-US" sz="1250" baseline="-40000" dirty="0">
                <a:solidFill>
                  <a:schemeClr val="tx1"/>
                </a:solidFill>
              </a:rPr>
              <a:t>c</a:t>
            </a:r>
            <a:r>
              <a:rPr lang="en-US" sz="1250" dirty="0">
                <a:solidFill>
                  <a:schemeClr val="tx1"/>
                </a:solidFill>
              </a:rPr>
              <a:t> = Rn</a:t>
            </a:r>
            <a:r>
              <a:rPr lang="en-US" sz="1250" baseline="-40000" dirty="0">
                <a:solidFill>
                  <a:schemeClr val="tx1"/>
                </a:solidFill>
              </a:rPr>
              <a:t>c</a:t>
            </a:r>
            <a:r>
              <a:rPr lang="en-US" sz="1250" dirty="0">
                <a:solidFill>
                  <a:schemeClr val="tx1"/>
                </a:solidFill>
              </a:rPr>
              <a:t> − λE</a:t>
            </a:r>
            <a:r>
              <a:rPr lang="en-US" sz="1250" baseline="-40000" dirty="0">
                <a:solidFill>
                  <a:schemeClr val="tx1"/>
                </a:solidFill>
              </a:rPr>
              <a:t>c</a:t>
            </a:r>
            <a:r>
              <a:rPr lang="en-US" sz="1250" dirty="0">
                <a:solidFill>
                  <a:schemeClr val="tx1"/>
                </a:solidFill>
              </a:rPr>
              <a:t> → T</a:t>
            </a:r>
            <a:r>
              <a:rPr lang="en-US" sz="1250" baseline="-40000" dirty="0">
                <a:solidFill>
                  <a:schemeClr val="tx1"/>
                </a:solidFill>
              </a:rPr>
              <a:t>c</a:t>
            </a:r>
            <a:endParaRPr lang="en-US" sz="1250" dirty="0"/>
          </a:p>
        </p:txBody>
      </p:sp>
      <p:sp>
        <p:nvSpPr>
          <p:cNvPr id="33" name="step number"/>
          <p:cNvSpPr/>
          <p:nvPr/>
        </p:nvSpPr>
        <p:spPr>
          <a:xfrm>
            <a:off x="5897880" y="3758184"/>
            <a:ext cx="384048" cy="384048"/>
          </a:xfrm>
          <a:prstGeom prst="ellipse">
            <a:avLst/>
          </a:prstGeom>
          <a:solidFill>
            <a:srgbClr val="6C4F9E"/>
          </a:solidFill>
          <a:ln/>
        </p:spPr>
      </p:sp>
      <p:sp>
        <p:nvSpPr>
          <p:cNvPr id="34" name="Text 31"/>
          <p:cNvSpPr txBox="1"/>
          <p:nvPr/>
        </p:nvSpPr>
        <p:spPr>
          <a:xfrm>
            <a:off x="5897880" y="37581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5" name="Text 32"/>
          <p:cNvSpPr txBox="1"/>
          <p:nvPr/>
        </p:nvSpPr>
        <p:spPr>
          <a:xfrm>
            <a:off x="6400800" y="3621024"/>
            <a:ext cx="5239512" cy="612648"/>
          </a:xfrm>
          <a:prstGeom prst="rect">
            <a:avLst/>
          </a:prstGeom>
          <a:noFill/>
          <a:ln/>
        </p:spPr>
        <p:txBody>
          <a:bodyPr wrap="square" lIns="0" tIns="0" rIns="0" bIns="0" rtlCol="0" anchor="ctr"/>
          <a:lstStyle/>
          <a:p>
            <a:pPr indent="0" marL="0">
              <a:buNone/>
            </a:pPr>
            <a:r>
              <a:rPr lang="en-US" sz="1250" dirty="0">
                <a:solidFill>
                  <a:schemeClr val="tx1"/>
                </a:solidFill>
              </a:rPr>
              <a:t>T</a:t>
            </a:r>
            <a:r>
              <a:rPr lang="en-US" sz="1250" baseline="-40000" dirty="0">
                <a:solidFill>
                  <a:schemeClr val="tx1"/>
                </a:solidFill>
              </a:rPr>
              <a:t>soil</a:t>
            </a:r>
            <a:r>
              <a:rPr lang="en-US" sz="1250" dirty="0">
                <a:solidFill>
                  <a:schemeClr val="tx1"/>
                </a:solidFill>
              </a:rPr>
              <a:t> from T</a:t>
            </a:r>
            <a:r>
              <a:rPr lang="en-US" sz="1250" baseline="-40000" dirty="0">
                <a:solidFill>
                  <a:schemeClr val="tx1"/>
                </a:solidFill>
              </a:rPr>
              <a:t>RAD</a:t>
            </a:r>
            <a:r>
              <a:rPr lang="en-US" sz="1250" dirty="0">
                <a:solidFill>
                  <a:schemeClr val="tx1"/>
                </a:solidFill>
              </a:rPr>
              <a:t> and T</a:t>
            </a:r>
            <a:r>
              <a:rPr lang="en-US" sz="1250" baseline="-40000" dirty="0">
                <a:solidFill>
                  <a:schemeClr val="tx1"/>
                </a:solidFill>
              </a:rPr>
              <a:t>c</a:t>
            </a:r>
            <a:r>
              <a:rPr lang="en-US" sz="1250" dirty="0">
                <a:solidFill>
                  <a:schemeClr val="tx1"/>
                </a:solidFill>
              </a:rPr>
              <a:t>; H</a:t>
            </a:r>
            <a:r>
              <a:rPr lang="en-US" sz="1250" baseline="-40000" dirty="0">
                <a:solidFill>
                  <a:schemeClr val="tx1"/>
                </a:solidFill>
              </a:rPr>
              <a:t>s</a:t>
            </a:r>
            <a:r>
              <a:rPr lang="en-US" sz="1250" dirty="0">
                <a:solidFill>
                  <a:schemeClr val="tx1"/>
                </a:solidFill>
              </a:rPr>
              <a:t> through soil resistance</a:t>
            </a:r>
            <a:endParaRPr lang="en-US" sz="1250" dirty="0"/>
          </a:p>
        </p:txBody>
      </p:sp>
      <p:sp>
        <p:nvSpPr>
          <p:cNvPr id="36" name="step number"/>
          <p:cNvSpPr/>
          <p:nvPr/>
        </p:nvSpPr>
        <p:spPr>
          <a:xfrm>
            <a:off x="5897880" y="4416552"/>
            <a:ext cx="384048" cy="384048"/>
          </a:xfrm>
          <a:prstGeom prst="ellipse">
            <a:avLst/>
          </a:prstGeom>
          <a:solidFill>
            <a:srgbClr val="6C4F9E"/>
          </a:solidFill>
          <a:ln/>
        </p:spPr>
      </p:sp>
      <p:sp>
        <p:nvSpPr>
          <p:cNvPr id="37" name="Text 34"/>
          <p:cNvSpPr txBox="1"/>
          <p:nvPr/>
        </p:nvSpPr>
        <p:spPr>
          <a:xfrm>
            <a:off x="5897880" y="44165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8" name="Text 35"/>
          <p:cNvSpPr txBox="1"/>
          <p:nvPr/>
        </p:nvSpPr>
        <p:spPr>
          <a:xfrm>
            <a:off x="6400800" y="4279392"/>
            <a:ext cx="5239512" cy="612648"/>
          </a:xfrm>
          <a:prstGeom prst="rect">
            <a:avLst/>
          </a:prstGeom>
          <a:noFill/>
          <a:ln/>
        </p:spPr>
        <p:txBody>
          <a:bodyPr wrap="square" lIns="0" tIns="0" rIns="0" bIns="0" rtlCol="0" anchor="ctr"/>
          <a:lstStyle/>
          <a:p>
            <a:pPr indent="0" marL="0">
              <a:buNone/>
            </a:pPr>
            <a:r>
              <a:rPr lang="en-US" sz="1250" dirty="0">
                <a:solidFill>
                  <a:schemeClr val="tx1"/>
                </a:solidFill>
              </a:rPr>
              <a:t>λE</a:t>
            </a:r>
            <a:r>
              <a:rPr lang="en-US" sz="1250" baseline="-40000" dirty="0">
                <a:solidFill>
                  <a:schemeClr val="tx1"/>
                </a:solidFill>
              </a:rPr>
              <a:t>s</a:t>
            </a:r>
            <a:r>
              <a:rPr lang="en-US" sz="1250" dirty="0">
                <a:solidFill>
                  <a:schemeClr val="tx1"/>
                </a:solidFill>
              </a:rPr>
              <a:t> = Rn</a:t>
            </a:r>
            <a:r>
              <a:rPr lang="en-US" sz="1250" baseline="-40000" dirty="0">
                <a:solidFill>
                  <a:schemeClr val="tx1"/>
                </a:solidFill>
              </a:rPr>
              <a:t>s</a:t>
            </a:r>
            <a:r>
              <a:rPr lang="en-US" sz="1250" dirty="0">
                <a:solidFill>
                  <a:schemeClr val="tx1"/>
                </a:solidFill>
              </a:rPr>
              <a:t> − G − H</a:t>
            </a:r>
            <a:r>
              <a:rPr lang="en-US" sz="1250" baseline="-40000" dirty="0">
                <a:solidFill>
                  <a:schemeClr val="tx1"/>
                </a:solidFill>
              </a:rPr>
              <a:t>s</a:t>
            </a:r>
            <a:r>
              <a:rPr lang="en-US" sz="1250" dirty="0">
                <a:solidFill>
                  <a:schemeClr val="tx1"/>
                </a:solidFill>
              </a:rPr>
              <a:t>; if λE</a:t>
            </a:r>
            <a:r>
              <a:rPr lang="en-US" sz="1250" baseline="-40000" dirty="0">
                <a:solidFill>
                  <a:schemeClr val="tx1"/>
                </a:solidFill>
              </a:rPr>
              <a:t>s</a:t>
            </a:r>
            <a:r>
              <a:rPr lang="en-US" sz="1250" dirty="0">
                <a:solidFill>
                  <a:schemeClr val="tx1"/>
                </a:solidFill>
              </a:rPr>
              <a:t> &lt; 0 → reduce α (stress), repeat</a:t>
            </a:r>
            <a:endParaRPr lang="en-US" sz="1250" dirty="0"/>
          </a:p>
        </p:txBody>
      </p:sp>
      <p:sp>
        <p:nvSpPr>
          <p:cNvPr id="39" name="card"/>
          <p:cNvSpPr/>
          <p:nvPr/>
        </p:nvSpPr>
        <p:spPr>
          <a:xfrm>
            <a:off x="5897880" y="5029200"/>
            <a:ext cx="5742432" cy="1143000"/>
          </a:xfrm>
          <a:prstGeom prst="roundRect">
            <a:avLst>
              <a:gd name="adj" fmla="val 6400"/>
            </a:avLst>
          </a:prstGeom>
          <a:solidFill>
            <a:schemeClr val="bg2"/>
          </a:solidFill>
          <a:ln/>
          <a:effectLst>
            <a:outerShdw sx="100000" sy="100000" kx="0" ky="0" algn="bl" rotWithShape="0" blurRad="76200" dist="25400" dir="5400000">
              <a:srgbClr val="000000">
                <a:alpha val="14000"/>
              </a:srgbClr>
            </a:outerShdw>
          </a:effectLst>
        </p:spPr>
      </p:sp>
      <p:sp>
        <p:nvSpPr>
          <p:cNvPr id="40" name="icon circle"/>
          <p:cNvSpPr/>
          <p:nvPr/>
        </p:nvSpPr>
        <p:spPr>
          <a:xfrm>
            <a:off x="6080760" y="5184648"/>
            <a:ext cx="420624" cy="420624"/>
          </a:xfrm>
          <a:prstGeom prst="ellipse">
            <a:avLst/>
          </a:prstGeom>
          <a:solidFill>
            <a:schemeClr val="accent1"/>
          </a:solidFill>
          <a:ln/>
        </p:spPr>
      </p:sp>
      <p:pic>
        <p:nvPicPr>
          <p:cNvPr id="41" name="Image 0" descr="Leaf icon">    </p:cNvPr>
          <p:cNvPicPr>
            <a:picLocks noChangeAspect="1"/>
          </p:cNvPicPr>
          <p:nvPr/>
        </p:nvPicPr>
        <p:blipFill>
          <a:blip r:embed="rId1"/>
          <a:stretch>
            <a:fillRect/>
          </a:stretch>
        </p:blipFill>
        <p:spPr>
          <a:xfrm>
            <a:off x="6190122" y="5294010"/>
            <a:ext cx="201900" cy="201900"/>
          </a:xfrm>
          <a:prstGeom prst="rect">
            <a:avLst/>
          </a:prstGeom>
        </p:spPr>
      </p:pic>
      <p:sp>
        <p:nvSpPr>
          <p:cNvPr id="42" name="Text 38"/>
          <p:cNvSpPr txBox="1"/>
          <p:nvPr/>
        </p:nvSpPr>
        <p:spPr>
          <a:xfrm>
            <a:off x="6611112" y="5166360"/>
            <a:ext cx="4892040" cy="457200"/>
          </a:xfrm>
          <a:prstGeom prst="rect">
            <a:avLst/>
          </a:prstGeom>
          <a:noFill/>
          <a:ln/>
        </p:spPr>
        <p:txBody>
          <a:bodyPr wrap="square" lIns="0" tIns="0" rIns="0" bIns="0" rtlCol="0" anchor="ctr"/>
          <a:lstStyle/>
          <a:p>
            <a:pPr indent="0" marL="0">
              <a:buNone/>
            </a:pPr>
            <a:r>
              <a:rPr lang="en-US" sz="1350" b="1" dirty="0">
                <a:solidFill>
                  <a:schemeClr val="tx2"/>
                </a:solidFill>
              </a:rPr>
              <a:t>Why two sources</a:t>
            </a:r>
            <a:endParaRPr lang="en-US" sz="1350" dirty="0"/>
          </a:p>
        </p:txBody>
      </p:sp>
      <p:sp>
        <p:nvSpPr>
          <p:cNvPr id="43" name="Text 39"/>
          <p:cNvSpPr txBox="1"/>
          <p:nvPr/>
        </p:nvSpPr>
        <p:spPr>
          <a:xfrm>
            <a:off x="6080760" y="5715000"/>
            <a:ext cx="5376672" cy="3657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Partial and row crops · separates E and T · view-angle effects · no empirical kB⁻¹ · basis of ALEXI</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ALEXI: using the morning temperature rise</a:t>
            </a:r>
            <a:endParaRPr lang="en-US" sz="3200" dirty="0"/>
          </a:p>
        </p:txBody>
      </p:sp>
      <p:sp>
        <p:nvSpPr>
          <p:cNvPr id="4" name="figure frame"/>
          <p:cNvSpPr/>
          <p:nvPr/>
        </p:nvSpPr>
        <p:spPr>
          <a:xfrm>
            <a:off x="548640" y="1280160"/>
            <a:ext cx="6766560" cy="2926080"/>
          </a:xfrm>
          <a:prstGeom prst="roundRect">
            <a:avLst>
              <a:gd name="adj" fmla="val 187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Illustrative: a dry pixel heats faster and grows a deeper boundary layer between t₁ and t₂">    </p:cNvPr>
          <p:cNvPicPr>
            <a:picLocks noChangeAspect="1"/>
          </p:cNvPicPr>
          <p:nvPr/>
        </p:nvPicPr>
        <p:blipFill>
          <a:blip r:embed="rId1"/>
          <a:stretch>
            <a:fillRect/>
          </a:stretch>
        </p:blipFill>
        <p:spPr>
          <a:xfrm>
            <a:off x="927463" y="1371600"/>
            <a:ext cx="6008914" cy="2743200"/>
          </a:xfrm>
          <a:prstGeom prst="rect">
            <a:avLst/>
          </a:prstGeom>
        </p:spPr>
      </p:pic>
      <p:sp>
        <p:nvSpPr>
          <p:cNvPr id="6" name="Text 2"/>
          <p:cNvSpPr txBox="1"/>
          <p:nvPr/>
        </p:nvSpPr>
        <p:spPr>
          <a:xfrm>
            <a:off x="548640" y="4251960"/>
            <a:ext cx="6766560" cy="320040"/>
          </a:xfrm>
          <a:prstGeom prst="rect">
            <a:avLst/>
          </a:prstGeom>
          <a:noFill/>
          <a:ln/>
        </p:spPr>
        <p:txBody>
          <a:bodyPr wrap="square" lIns="0" tIns="0" rIns="0" bIns="0" rtlCol="0" anchor="t"/>
          <a:lstStyle/>
          <a:p>
            <a:pPr indent="0" marL="0">
              <a:buNone/>
            </a:pPr>
            <a:r>
              <a:rPr lang="en-US" sz="1100" i="1" dirty="0">
                <a:solidFill>
                  <a:schemeClr val="accent6"/>
                </a:solidFill>
              </a:rPr>
              <a:t>Illustrative: a dry pixel heats faster and grows a deeper boundary layer between t₁ and t₂</a:t>
            </a:r>
            <a:endParaRPr lang="en-US" sz="1100" dirty="0"/>
          </a:p>
        </p:txBody>
      </p:sp>
      <p:sp>
        <p:nvSpPr>
          <p:cNvPr id="7" name="card"/>
          <p:cNvSpPr/>
          <p:nvPr/>
        </p:nvSpPr>
        <p:spPr>
          <a:xfrm>
            <a:off x="7498080" y="1280160"/>
            <a:ext cx="4142232"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680960" y="1435608"/>
            <a:ext cx="420624" cy="420624"/>
          </a:xfrm>
          <a:prstGeom prst="ellipse">
            <a:avLst/>
          </a:prstGeom>
          <a:solidFill>
            <a:schemeClr val="accent5"/>
          </a:solidFill>
          <a:ln/>
        </p:spPr>
      </p:sp>
      <p:pic>
        <p:nvPicPr>
          <p:cNvPr id="9" name="Image 1" descr="Clock icon">    </p:cNvPr>
          <p:cNvPicPr>
            <a:picLocks noChangeAspect="1"/>
          </p:cNvPicPr>
          <p:nvPr/>
        </p:nvPicPr>
        <p:blipFill>
          <a:blip r:embed="rId2"/>
          <a:stretch>
            <a:fillRect/>
          </a:stretch>
        </p:blipFill>
        <p:spPr>
          <a:xfrm>
            <a:off x="7790322" y="1544970"/>
            <a:ext cx="201900" cy="201900"/>
          </a:xfrm>
          <a:prstGeom prst="rect">
            <a:avLst/>
          </a:prstGeom>
        </p:spPr>
      </p:pic>
      <p:sp>
        <p:nvSpPr>
          <p:cNvPr id="10" name="Text 5"/>
          <p:cNvSpPr txBox="1"/>
          <p:nvPr/>
        </p:nvSpPr>
        <p:spPr>
          <a:xfrm>
            <a:off x="8211312" y="141732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How it closes the balance</a:t>
            </a:r>
            <a:endParaRPr lang="en-US" sz="1600" dirty="0"/>
          </a:p>
        </p:txBody>
      </p:sp>
      <p:sp>
        <p:nvSpPr>
          <p:cNvPr id="11" name="Text 6"/>
          <p:cNvSpPr txBox="1"/>
          <p:nvPr/>
        </p:nvSpPr>
        <p:spPr>
          <a:xfrm>
            <a:off x="7680960" y="1965960"/>
            <a:ext cx="3776472" cy="25146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ΔT</a:t>
            </a:r>
            <a:r>
              <a:rPr lang="en-US" sz="1250" baseline="-40000" dirty="0">
                <a:solidFill>
                  <a:schemeClr val="tx1"/>
                </a:solidFill>
              </a:rPr>
              <a:t>RAD</a:t>
            </a:r>
            <a:r>
              <a:rPr lang="en-US" sz="1250" dirty="0">
                <a:solidFill>
                  <a:schemeClr val="tx1"/>
                </a:solidFill>
              </a:rPr>
              <a:t> between t₁ ≈ 1.5 h and t₂ ≈ 5.5 h after sunrise</a:t>
            </a:r>
            <a:endParaRPr lang="en-US" sz="1250" dirty="0"/>
          </a:p>
          <a:p>
            <a:pPr marL="177800" indent="-177800">
              <a:spcAft>
                <a:spcPts val="400"/>
              </a:spcAft>
              <a:buSzPct val="100000"/>
              <a:buChar char="•"/>
            </a:pPr>
            <a:r>
              <a:rPr lang="en-US" sz="1250" dirty="0">
                <a:solidFill>
                  <a:schemeClr val="tx1"/>
                </a:solidFill>
              </a:rPr>
              <a:t>TSEB at both times → time-integrated H</a:t>
            </a:r>
            <a:endParaRPr lang="en-US" sz="1250" dirty="0"/>
          </a:p>
          <a:p>
            <a:pPr marL="177800" indent="-177800">
              <a:spcAft>
                <a:spcPts val="400"/>
              </a:spcAft>
              <a:buSzPct val="100000"/>
              <a:buChar char="•"/>
            </a:pPr>
            <a:r>
              <a:rPr lang="en-US" sz="1250" dirty="0">
                <a:solidFill>
                  <a:schemeClr val="tx1"/>
                </a:solidFill>
              </a:rPr>
              <a:t>Slab ABL model: ∫H dt = growth and warming of the ABL (morning sounding)</a:t>
            </a:r>
            <a:endParaRPr lang="en-US" sz="1250" dirty="0"/>
          </a:p>
          <a:p>
            <a:pPr marL="177800" indent="-177800">
              <a:spcAft>
                <a:spcPts val="400"/>
              </a:spcAft>
              <a:buSzPct val="100000"/>
              <a:buChar char="•"/>
            </a:pPr>
            <a:r>
              <a:rPr lang="en-US" sz="1250" dirty="0">
                <a:solidFill>
                  <a:schemeClr val="tx1"/>
                </a:solidFill>
              </a:rPr>
              <a:t>Air temperature becomes an output, not an input</a:t>
            </a:r>
            <a:endParaRPr lang="en-US" sz="1250" dirty="0"/>
          </a:p>
        </p:txBody>
      </p:sp>
      <p:sp>
        <p:nvSpPr>
          <p:cNvPr id="12" name="card"/>
          <p:cNvSpPr/>
          <p:nvPr/>
        </p:nvSpPr>
        <p:spPr>
          <a:xfrm>
            <a:off x="548640" y="4754880"/>
            <a:ext cx="365760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731520" y="4910328"/>
            <a:ext cx="420624" cy="420624"/>
          </a:xfrm>
          <a:prstGeom prst="ellipse">
            <a:avLst/>
          </a:prstGeom>
          <a:solidFill>
            <a:schemeClr val="accent1"/>
          </a:solidFill>
          <a:ln/>
        </p:spPr>
      </p:sp>
      <p:pic>
        <p:nvPicPr>
          <p:cNvPr id="14" name="Image 2" descr="Check icon">    </p:cNvPr>
          <p:cNvPicPr>
            <a:picLocks noChangeAspect="1"/>
          </p:cNvPicPr>
          <p:nvPr/>
        </p:nvPicPr>
        <p:blipFill>
          <a:blip r:embed="rId3"/>
          <a:stretch>
            <a:fillRect/>
          </a:stretch>
        </p:blipFill>
        <p:spPr>
          <a:xfrm>
            <a:off x="840882" y="5019690"/>
            <a:ext cx="201900" cy="201900"/>
          </a:xfrm>
          <a:prstGeom prst="rect">
            <a:avLst/>
          </a:prstGeom>
        </p:spPr>
      </p:pic>
      <p:sp>
        <p:nvSpPr>
          <p:cNvPr id="15" name="Text 9"/>
          <p:cNvSpPr txBox="1"/>
          <p:nvPr/>
        </p:nvSpPr>
        <p:spPr>
          <a:xfrm>
            <a:off x="1261872" y="4892040"/>
            <a:ext cx="2807208" cy="457200"/>
          </a:xfrm>
          <a:prstGeom prst="rect">
            <a:avLst/>
          </a:prstGeom>
          <a:noFill/>
          <a:ln/>
        </p:spPr>
        <p:txBody>
          <a:bodyPr wrap="square" lIns="0" tIns="0" rIns="0" bIns="0" rtlCol="0" anchor="ctr"/>
          <a:lstStyle/>
          <a:p>
            <a:pPr indent="0" marL="0">
              <a:buNone/>
            </a:pPr>
            <a:r>
              <a:rPr lang="en-US" sz="1350" b="1" dirty="0">
                <a:solidFill>
                  <a:schemeClr val="tx2"/>
                </a:solidFill>
              </a:rPr>
              <a:t>Strengths</a:t>
            </a:r>
            <a:endParaRPr lang="en-US" sz="1350" dirty="0"/>
          </a:p>
        </p:txBody>
      </p:sp>
      <p:sp>
        <p:nvSpPr>
          <p:cNvPr id="16" name="Text 10"/>
          <p:cNvSpPr txBox="1"/>
          <p:nvPr/>
        </p:nvSpPr>
        <p:spPr>
          <a:xfrm>
            <a:off x="731520" y="5440680"/>
            <a:ext cx="3291840"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No T</a:t>
            </a:r>
            <a:r>
              <a:rPr lang="en-US" sz="1200" baseline="-40000" dirty="0">
                <a:solidFill>
                  <a:schemeClr val="tx1"/>
                </a:solidFill>
              </a:rPr>
              <a:t>a</a:t>
            </a:r>
            <a:r>
              <a:rPr lang="en-US" sz="1200" dirty="0">
                <a:solidFill>
                  <a:schemeClr val="tx1"/>
                </a:solidFill>
              </a:rPr>
              <a:t>; time difference cancels ε and atmospheric errors</a:t>
            </a:r>
            <a:endParaRPr lang="en-US" sz="1200" dirty="0"/>
          </a:p>
        </p:txBody>
      </p:sp>
      <p:sp>
        <p:nvSpPr>
          <p:cNvPr id="17" name="card"/>
          <p:cNvSpPr/>
          <p:nvPr/>
        </p:nvSpPr>
        <p:spPr>
          <a:xfrm>
            <a:off x="4325112" y="4754880"/>
            <a:ext cx="365760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4507992" y="4910328"/>
            <a:ext cx="420624" cy="420624"/>
          </a:xfrm>
          <a:prstGeom prst="ellipse">
            <a:avLst/>
          </a:prstGeom>
          <a:solidFill>
            <a:schemeClr val="accent4"/>
          </a:solidFill>
          <a:ln/>
        </p:spPr>
      </p:sp>
      <p:pic>
        <p:nvPicPr>
          <p:cNvPr id="19" name="Image 3" descr="ExclamationTriangle icon">    </p:cNvPr>
          <p:cNvPicPr>
            <a:picLocks noChangeAspect="1"/>
          </p:cNvPicPr>
          <p:nvPr/>
        </p:nvPicPr>
        <p:blipFill>
          <a:blip r:embed="rId4"/>
          <a:stretch>
            <a:fillRect/>
          </a:stretch>
        </p:blipFill>
        <p:spPr>
          <a:xfrm>
            <a:off x="4617354" y="5019690"/>
            <a:ext cx="201900" cy="201900"/>
          </a:xfrm>
          <a:prstGeom prst="rect">
            <a:avLst/>
          </a:prstGeom>
        </p:spPr>
      </p:pic>
      <p:sp>
        <p:nvSpPr>
          <p:cNvPr id="20" name="Text 13"/>
          <p:cNvSpPr txBox="1"/>
          <p:nvPr/>
        </p:nvSpPr>
        <p:spPr>
          <a:xfrm>
            <a:off x="5038344" y="4892040"/>
            <a:ext cx="2807208" cy="457200"/>
          </a:xfrm>
          <a:prstGeom prst="rect">
            <a:avLst/>
          </a:prstGeom>
          <a:noFill/>
          <a:ln/>
        </p:spPr>
        <p:txBody>
          <a:bodyPr wrap="square" lIns="0" tIns="0" rIns="0" bIns="0" rtlCol="0" anchor="ctr"/>
          <a:lstStyle/>
          <a:p>
            <a:pPr indent="0" marL="0">
              <a:buNone/>
            </a:pPr>
            <a:r>
              <a:rPr lang="en-US" sz="1350" b="1" dirty="0">
                <a:solidFill>
                  <a:schemeClr val="tx2"/>
                </a:solidFill>
              </a:rPr>
              <a:t>Limits</a:t>
            </a:r>
            <a:endParaRPr lang="en-US" sz="1350" dirty="0"/>
          </a:p>
        </p:txBody>
      </p:sp>
      <p:sp>
        <p:nvSpPr>
          <p:cNvPr id="21" name="Text 14"/>
          <p:cNvSpPr txBox="1"/>
          <p:nvPr/>
        </p:nvSpPr>
        <p:spPr>
          <a:xfrm>
            <a:off x="4507992" y="5440680"/>
            <a:ext cx="3291840"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Geostationary only; 5–10 km; clear mornings; poor at high latitudes</a:t>
            </a:r>
            <a:endParaRPr lang="en-US" sz="1200" dirty="0"/>
          </a:p>
        </p:txBody>
      </p:sp>
      <p:sp>
        <p:nvSpPr>
          <p:cNvPr id="22" name="card"/>
          <p:cNvSpPr/>
          <p:nvPr/>
        </p:nvSpPr>
        <p:spPr>
          <a:xfrm>
            <a:off x="8101584" y="4754880"/>
            <a:ext cx="3538728"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8284464" y="4910328"/>
            <a:ext cx="420624" cy="420624"/>
          </a:xfrm>
          <a:prstGeom prst="ellipse">
            <a:avLst/>
          </a:prstGeom>
          <a:solidFill>
            <a:schemeClr val="accent2"/>
          </a:solidFill>
          <a:ln/>
        </p:spPr>
      </p:sp>
      <p:pic>
        <p:nvPicPr>
          <p:cNvPr id="24" name="Image 4" descr="GlobeAsia icon">    </p:cNvPr>
          <p:cNvPicPr>
            <a:picLocks noChangeAspect="1"/>
          </p:cNvPicPr>
          <p:nvPr/>
        </p:nvPicPr>
        <p:blipFill>
          <a:blip r:embed="rId5"/>
          <a:stretch>
            <a:fillRect/>
          </a:stretch>
        </p:blipFill>
        <p:spPr>
          <a:xfrm>
            <a:off x="8393826" y="5019690"/>
            <a:ext cx="201900" cy="201900"/>
          </a:xfrm>
          <a:prstGeom prst="rect">
            <a:avLst/>
          </a:prstGeom>
        </p:spPr>
      </p:pic>
      <p:sp>
        <p:nvSpPr>
          <p:cNvPr id="25" name="Text 17"/>
          <p:cNvSpPr txBox="1"/>
          <p:nvPr/>
        </p:nvSpPr>
        <p:spPr>
          <a:xfrm>
            <a:off x="8814816" y="4892040"/>
            <a:ext cx="2688336" cy="457200"/>
          </a:xfrm>
          <a:prstGeom prst="rect">
            <a:avLst/>
          </a:prstGeom>
          <a:noFill/>
          <a:ln/>
        </p:spPr>
        <p:txBody>
          <a:bodyPr wrap="square" lIns="0" tIns="0" rIns="0" bIns="0" rtlCol="0" anchor="ctr"/>
          <a:lstStyle/>
          <a:p>
            <a:pPr indent="0" marL="0">
              <a:buNone/>
            </a:pPr>
            <a:r>
              <a:rPr lang="en-US" sz="1350" b="1" dirty="0">
                <a:solidFill>
                  <a:schemeClr val="tx2"/>
                </a:solidFill>
              </a:rPr>
              <a:t>Product</a:t>
            </a:r>
            <a:endParaRPr lang="en-US" sz="1350" dirty="0"/>
          </a:p>
        </p:txBody>
      </p:sp>
      <p:sp>
        <p:nvSpPr>
          <p:cNvPr id="26" name="Text 18"/>
          <p:cNvSpPr txBox="1"/>
          <p:nvPr/>
        </p:nvSpPr>
        <p:spPr>
          <a:xfrm>
            <a:off x="8284464" y="5440680"/>
            <a:ext cx="3172968"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ESI = 1 − ET/PET for drought (US, global)</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DisALEXI and data fusion: from continent to field</a:t>
            </a:r>
            <a:endParaRPr lang="en-US" sz="3200" dirty="0"/>
          </a:p>
        </p:txBody>
      </p:sp>
      <p:sp>
        <p:nvSpPr>
          <p:cNvPr id="4" name="diagram box"/>
          <p:cNvSpPr/>
          <p:nvPr/>
        </p:nvSpPr>
        <p:spPr>
          <a:xfrm>
            <a:off x="548640" y="1417320"/>
            <a:ext cx="2057400" cy="1234440"/>
          </a:xfrm>
          <a:prstGeom prst="roundRect">
            <a:avLst>
              <a:gd name="adj" fmla="val 5926"/>
            </a:avLst>
          </a:prstGeom>
          <a:solidFill>
            <a:srgbClr val="1B4965"/>
          </a:solidFill>
          <a:ln/>
        </p:spPr>
      </p:sp>
      <p:sp>
        <p:nvSpPr>
          <p:cNvPr id="5" name="Text 2"/>
          <p:cNvSpPr txBox="1"/>
          <p:nvPr/>
        </p:nvSpPr>
        <p:spPr>
          <a:xfrm>
            <a:off x="548640" y="1417320"/>
            <a:ext cx="2057400" cy="1234440"/>
          </a:xfrm>
          <a:prstGeom prst="rect">
            <a:avLst/>
          </a:prstGeom>
          <a:noFill/>
          <a:ln/>
        </p:spPr>
        <p:txBody>
          <a:bodyPr wrap="square" lIns="508" tIns="508" rIns="508" bIns="508" rtlCol="0" anchor="ctr"/>
          <a:lstStyle/>
          <a:p>
            <a:pPr algn="ctr" indent="0" marL="0">
              <a:buNone/>
            </a:pPr>
            <a:r>
              <a:rPr lang="en-US" sz="1250" b="1" dirty="0">
                <a:solidFill>
                  <a:schemeClr val="bg1"/>
                </a:solidFill>
              </a:rPr>
              <a:t>GOES / Meteosat</a:t>
            </a:r>
            <a:endParaRPr lang="en-US" sz="1250" dirty="0"/>
          </a:p>
          <a:p>
            <a:pPr algn="ctr" indent="0" marL="0">
              <a:buNone/>
            </a:pPr>
            <a:r>
              <a:rPr lang="en-US" sz="1250" b="1" dirty="0">
                <a:solidFill>
                  <a:schemeClr val="bg1"/>
                </a:solidFill>
              </a:rPr>
              <a:t>morning ΔT</a:t>
            </a:r>
            <a:r>
              <a:rPr lang="en-US" sz="1250" b="1" baseline="-40000" dirty="0">
                <a:solidFill>
                  <a:schemeClr val="bg1"/>
                </a:solidFill>
              </a:rPr>
              <a:t>RAD</a:t>
            </a:r>
            <a:endParaRPr lang="en-US" sz="1250" dirty="0"/>
          </a:p>
        </p:txBody>
      </p:sp>
      <p:sp>
        <p:nvSpPr>
          <p:cNvPr id="6" name="arrow"/>
          <p:cNvSpPr/>
          <p:nvPr/>
        </p:nvSpPr>
        <p:spPr>
          <a:xfrm>
            <a:off x="2615184" y="2029968"/>
            <a:ext cx="182880" cy="0"/>
          </a:xfrm>
          <a:prstGeom prst="line">
            <a:avLst/>
          </a:prstGeom>
          <a:noFill/>
          <a:ln w="28575">
            <a:solidFill>
              <a:srgbClr val="1E2430"/>
            </a:solidFill>
            <a:prstDash val="solid"/>
            <a:tailEnd type="triangle"/>
          </a:ln>
        </p:spPr>
      </p:sp>
      <p:sp>
        <p:nvSpPr>
          <p:cNvPr id="7" name="diagram box"/>
          <p:cNvSpPr/>
          <p:nvPr/>
        </p:nvSpPr>
        <p:spPr>
          <a:xfrm>
            <a:off x="2807208" y="1417320"/>
            <a:ext cx="2057400" cy="1234440"/>
          </a:xfrm>
          <a:prstGeom prst="roundRect">
            <a:avLst>
              <a:gd name="adj" fmla="val 5926"/>
            </a:avLst>
          </a:prstGeom>
          <a:solidFill>
            <a:srgbClr val="6C4F9E"/>
          </a:solidFill>
          <a:ln/>
        </p:spPr>
      </p:sp>
      <p:sp>
        <p:nvSpPr>
          <p:cNvPr id="8" name="Text 5"/>
          <p:cNvSpPr txBox="1"/>
          <p:nvPr/>
        </p:nvSpPr>
        <p:spPr>
          <a:xfrm>
            <a:off x="2807208" y="1417320"/>
            <a:ext cx="2057400" cy="1234440"/>
          </a:xfrm>
          <a:prstGeom prst="rect">
            <a:avLst/>
          </a:prstGeom>
          <a:noFill/>
          <a:ln/>
        </p:spPr>
        <p:txBody>
          <a:bodyPr wrap="square" lIns="508" tIns="508" rIns="508" bIns="508" rtlCol="0" anchor="ctr"/>
          <a:lstStyle/>
          <a:p>
            <a:pPr algn="ctr" indent="0" marL="0">
              <a:buNone/>
            </a:pPr>
            <a:r>
              <a:rPr lang="en-US" sz="1250" b="1" dirty="0">
                <a:solidFill>
                  <a:schemeClr val="bg1"/>
                </a:solidFill>
              </a:rPr>
              <a:t>ALEXI</a:t>
            </a:r>
            <a:endParaRPr lang="en-US" sz="1250" dirty="0"/>
          </a:p>
          <a:p>
            <a:pPr algn="ctr" indent="0" marL="0">
              <a:buNone/>
            </a:pPr>
            <a:r>
              <a:rPr lang="en-US" sz="1250" b="1" dirty="0">
                <a:solidFill>
                  <a:schemeClr val="bg1"/>
                </a:solidFill>
              </a:rPr>
              <a:t>ET, T</a:t>
            </a:r>
            <a:r>
              <a:rPr lang="en-US" sz="1250" b="1" baseline="-40000" dirty="0">
                <a:solidFill>
                  <a:schemeClr val="bg1"/>
                </a:solidFill>
              </a:rPr>
              <a:t>a</a:t>
            </a:r>
            <a:r>
              <a:rPr lang="en-US" sz="1250" b="1" dirty="0">
                <a:solidFill>
                  <a:schemeClr val="bg1"/>
                </a:solidFill>
              </a:rPr>
              <a:t> at 5–10 km</a:t>
            </a:r>
            <a:endParaRPr lang="en-US" sz="1250" dirty="0"/>
          </a:p>
        </p:txBody>
      </p:sp>
      <p:sp>
        <p:nvSpPr>
          <p:cNvPr id="9" name="arrow"/>
          <p:cNvSpPr/>
          <p:nvPr/>
        </p:nvSpPr>
        <p:spPr>
          <a:xfrm>
            <a:off x="4873752" y="2029968"/>
            <a:ext cx="182880" cy="0"/>
          </a:xfrm>
          <a:prstGeom prst="line">
            <a:avLst/>
          </a:prstGeom>
          <a:noFill/>
          <a:ln w="28575">
            <a:solidFill>
              <a:srgbClr val="1E2430"/>
            </a:solidFill>
            <a:prstDash val="solid"/>
            <a:tailEnd type="triangle"/>
          </a:ln>
        </p:spPr>
      </p:sp>
      <p:sp>
        <p:nvSpPr>
          <p:cNvPr id="10" name="diagram box"/>
          <p:cNvSpPr/>
          <p:nvPr/>
        </p:nvSpPr>
        <p:spPr>
          <a:xfrm>
            <a:off x="5065776" y="1417320"/>
            <a:ext cx="2057400" cy="1234440"/>
          </a:xfrm>
          <a:prstGeom prst="roundRect">
            <a:avLst>
              <a:gd name="adj" fmla="val 5926"/>
            </a:avLst>
          </a:prstGeom>
          <a:solidFill>
            <a:srgbClr val="2E7D4F"/>
          </a:solidFill>
          <a:ln/>
        </p:spPr>
      </p:sp>
      <p:sp>
        <p:nvSpPr>
          <p:cNvPr id="11" name="Text 8"/>
          <p:cNvSpPr txBox="1"/>
          <p:nvPr/>
        </p:nvSpPr>
        <p:spPr>
          <a:xfrm>
            <a:off x="5065776" y="1417320"/>
            <a:ext cx="2057400" cy="1234440"/>
          </a:xfrm>
          <a:prstGeom prst="rect">
            <a:avLst/>
          </a:prstGeom>
          <a:noFill/>
          <a:ln/>
        </p:spPr>
        <p:txBody>
          <a:bodyPr wrap="square" lIns="508" tIns="508" rIns="508" bIns="508" rtlCol="0" anchor="ctr"/>
          <a:lstStyle/>
          <a:p>
            <a:pPr algn="ctr" indent="0" marL="0">
              <a:buNone/>
            </a:pPr>
            <a:r>
              <a:rPr lang="en-US" sz="1250" b="1" dirty="0">
                <a:solidFill>
                  <a:schemeClr val="bg1"/>
                </a:solidFill>
              </a:rPr>
              <a:t>DisALEXI</a:t>
            </a:r>
            <a:endParaRPr lang="en-US" sz="1250" dirty="0"/>
          </a:p>
          <a:p>
            <a:pPr algn="ctr" indent="0" marL="0">
              <a:buNone/>
            </a:pPr>
            <a:r>
              <a:rPr lang="en-US" sz="1250" b="1" dirty="0">
                <a:solidFill>
                  <a:schemeClr val="bg1"/>
                </a:solidFill>
              </a:rPr>
              <a:t>TSEB with MODIS / Landsat T</a:t>
            </a:r>
            <a:r>
              <a:rPr lang="en-US" sz="1250" b="1" baseline="-40000" dirty="0">
                <a:solidFill>
                  <a:schemeClr val="bg1"/>
                </a:solidFill>
              </a:rPr>
              <a:t>s</a:t>
            </a:r>
            <a:r>
              <a:rPr lang="en-US" sz="1250" b="1" dirty="0">
                <a:solidFill>
                  <a:schemeClr val="bg1"/>
                </a:solidFill>
              </a:rPr>
              <a:t>, LAI</a:t>
            </a:r>
            <a:endParaRPr lang="en-US" sz="1250" dirty="0"/>
          </a:p>
        </p:txBody>
      </p:sp>
      <p:sp>
        <p:nvSpPr>
          <p:cNvPr id="12" name="arrow"/>
          <p:cNvSpPr/>
          <p:nvPr/>
        </p:nvSpPr>
        <p:spPr>
          <a:xfrm>
            <a:off x="7132320" y="2029968"/>
            <a:ext cx="182880" cy="0"/>
          </a:xfrm>
          <a:prstGeom prst="line">
            <a:avLst/>
          </a:prstGeom>
          <a:noFill/>
          <a:ln w="28575">
            <a:solidFill>
              <a:srgbClr val="1E2430"/>
            </a:solidFill>
            <a:prstDash val="solid"/>
            <a:tailEnd type="triangle"/>
          </a:ln>
        </p:spPr>
      </p:sp>
      <p:sp>
        <p:nvSpPr>
          <p:cNvPr id="13" name="diagram box"/>
          <p:cNvSpPr/>
          <p:nvPr/>
        </p:nvSpPr>
        <p:spPr>
          <a:xfrm>
            <a:off x="7324344" y="1417320"/>
            <a:ext cx="2057400" cy="1234440"/>
          </a:xfrm>
          <a:prstGeom prst="roundRect">
            <a:avLst>
              <a:gd name="adj" fmla="val 5926"/>
            </a:avLst>
          </a:prstGeom>
          <a:solidFill>
            <a:srgbClr val="3B6EA5"/>
          </a:solidFill>
          <a:ln/>
        </p:spPr>
      </p:sp>
      <p:sp>
        <p:nvSpPr>
          <p:cNvPr id="14" name="Text 11"/>
          <p:cNvSpPr txBox="1"/>
          <p:nvPr/>
        </p:nvSpPr>
        <p:spPr>
          <a:xfrm>
            <a:off x="7324344" y="1417320"/>
            <a:ext cx="2057400" cy="1234440"/>
          </a:xfrm>
          <a:prstGeom prst="rect">
            <a:avLst/>
          </a:prstGeom>
          <a:noFill/>
          <a:ln/>
        </p:spPr>
        <p:txBody>
          <a:bodyPr wrap="square" lIns="508" tIns="508" rIns="508" bIns="508" rtlCol="0" anchor="ctr"/>
          <a:lstStyle/>
          <a:p>
            <a:pPr algn="ctr" indent="0" marL="0">
              <a:buNone/>
            </a:pPr>
            <a:r>
              <a:rPr lang="en-US" sz="1250" b="1" dirty="0">
                <a:solidFill>
                  <a:schemeClr val="bg1"/>
                </a:solidFill>
              </a:rPr>
              <a:t>STARFM fusion</a:t>
            </a:r>
            <a:endParaRPr lang="en-US" sz="1250" dirty="0"/>
          </a:p>
          <a:p>
            <a:pPr algn="ctr" indent="0" marL="0">
              <a:buNone/>
            </a:pPr>
            <a:r>
              <a:rPr lang="en-US" sz="1250" b="1" dirty="0">
                <a:solidFill>
                  <a:schemeClr val="bg1"/>
                </a:solidFill>
              </a:rPr>
              <a:t>Landsat + MODIS</a:t>
            </a:r>
            <a:endParaRPr lang="en-US" sz="1250" dirty="0"/>
          </a:p>
        </p:txBody>
      </p:sp>
      <p:sp>
        <p:nvSpPr>
          <p:cNvPr id="15" name="arrow"/>
          <p:cNvSpPr/>
          <p:nvPr/>
        </p:nvSpPr>
        <p:spPr>
          <a:xfrm>
            <a:off x="9390888" y="2029968"/>
            <a:ext cx="182880" cy="0"/>
          </a:xfrm>
          <a:prstGeom prst="line">
            <a:avLst/>
          </a:prstGeom>
          <a:noFill/>
          <a:ln w="28575">
            <a:solidFill>
              <a:srgbClr val="1E2430"/>
            </a:solidFill>
            <a:prstDash val="solid"/>
            <a:tailEnd type="triangle"/>
          </a:ln>
        </p:spPr>
      </p:sp>
      <p:sp>
        <p:nvSpPr>
          <p:cNvPr id="16" name="diagram box"/>
          <p:cNvSpPr/>
          <p:nvPr/>
        </p:nvSpPr>
        <p:spPr>
          <a:xfrm>
            <a:off x="9582912" y="1417320"/>
            <a:ext cx="2057400" cy="1234440"/>
          </a:xfrm>
          <a:prstGeom prst="roundRect">
            <a:avLst>
              <a:gd name="adj" fmla="val 5926"/>
            </a:avLst>
          </a:prstGeom>
          <a:solidFill>
            <a:srgbClr val="C0702A"/>
          </a:solidFill>
          <a:ln/>
        </p:spPr>
      </p:sp>
      <p:sp>
        <p:nvSpPr>
          <p:cNvPr id="17" name="Text 14"/>
          <p:cNvSpPr txBox="1"/>
          <p:nvPr/>
        </p:nvSpPr>
        <p:spPr>
          <a:xfrm>
            <a:off x="9582912" y="1417320"/>
            <a:ext cx="2057400" cy="1234440"/>
          </a:xfrm>
          <a:prstGeom prst="rect">
            <a:avLst/>
          </a:prstGeom>
          <a:noFill/>
          <a:ln/>
        </p:spPr>
        <p:txBody>
          <a:bodyPr wrap="square" lIns="508" tIns="508" rIns="508" bIns="508" rtlCol="0" anchor="ctr"/>
          <a:lstStyle/>
          <a:p>
            <a:pPr algn="ctr" indent="0" marL="0">
              <a:buNone/>
            </a:pPr>
            <a:r>
              <a:rPr lang="en-US" sz="1250" b="1" dirty="0">
                <a:solidFill>
                  <a:schemeClr val="bg1"/>
                </a:solidFill>
              </a:rPr>
              <a:t>Daily ET at 30 m</a:t>
            </a:r>
            <a:endParaRPr lang="en-US" sz="1250" dirty="0"/>
          </a:p>
          <a:p>
            <a:pPr algn="ctr" indent="0" marL="0">
              <a:buNone/>
            </a:pPr>
            <a:r>
              <a:rPr lang="en-US" sz="1250" b="1" dirty="0">
                <a:solidFill>
                  <a:schemeClr val="bg1"/>
                </a:solidFill>
              </a:rPr>
              <a:t>(field scale)</a:t>
            </a:r>
            <a:endParaRPr lang="en-US" sz="1250" dirty="0"/>
          </a:p>
        </p:txBody>
      </p:sp>
      <p:sp>
        <p:nvSpPr>
          <p:cNvPr id="18" name="arrow"/>
          <p:cNvSpPr/>
          <p:nvPr/>
        </p:nvSpPr>
        <p:spPr>
          <a:xfrm>
            <a:off x="6089904" y="2651760"/>
            <a:ext cx="0" cy="411480"/>
          </a:xfrm>
          <a:prstGeom prst="line">
            <a:avLst/>
          </a:prstGeom>
          <a:noFill/>
          <a:ln w="25400">
            <a:solidFill>
              <a:srgbClr val="C0702A"/>
            </a:solidFill>
            <a:prstDash val="dash"/>
          </a:ln>
        </p:spPr>
      </p:sp>
      <p:sp>
        <p:nvSpPr>
          <p:cNvPr id="19" name="arrow"/>
          <p:cNvSpPr/>
          <p:nvPr/>
        </p:nvSpPr>
        <p:spPr>
          <a:xfrm flipH="1">
            <a:off x="3831336" y="3063240"/>
            <a:ext cx="2258568" cy="0"/>
          </a:xfrm>
          <a:prstGeom prst="line">
            <a:avLst/>
          </a:prstGeom>
          <a:noFill/>
          <a:ln w="25400">
            <a:solidFill>
              <a:srgbClr val="C0702A"/>
            </a:solidFill>
            <a:prstDash val="dash"/>
          </a:ln>
        </p:spPr>
      </p:sp>
      <p:sp>
        <p:nvSpPr>
          <p:cNvPr id="20" name="arrow"/>
          <p:cNvSpPr/>
          <p:nvPr/>
        </p:nvSpPr>
        <p:spPr>
          <a:xfrm flipV="1">
            <a:off x="3831336" y="2660904"/>
            <a:ext cx="0" cy="402336"/>
          </a:xfrm>
          <a:prstGeom prst="line">
            <a:avLst/>
          </a:prstGeom>
          <a:noFill/>
          <a:ln w="25400">
            <a:solidFill>
              <a:srgbClr val="C0702A"/>
            </a:solidFill>
            <a:prstDash val="dash"/>
            <a:tailEnd type="triangle"/>
          </a:ln>
        </p:spPr>
      </p:sp>
      <p:sp>
        <p:nvSpPr>
          <p:cNvPr id="21" name="Text 18"/>
          <p:cNvSpPr txBox="1"/>
          <p:nvPr/>
        </p:nvSpPr>
        <p:spPr>
          <a:xfrm>
            <a:off x="3995928" y="3090672"/>
            <a:ext cx="4114800" cy="292608"/>
          </a:xfrm>
          <a:prstGeom prst="rect">
            <a:avLst/>
          </a:prstGeom>
          <a:noFill/>
          <a:ln/>
        </p:spPr>
        <p:txBody>
          <a:bodyPr wrap="square" lIns="0" tIns="0" rIns="0" bIns="0" rtlCol="0" anchor="ctr"/>
          <a:lstStyle/>
          <a:p>
            <a:pPr algn="l" indent="0" marL="0">
              <a:buNone/>
            </a:pPr>
            <a:r>
              <a:rPr lang="en-US" sz="1150" b="1" dirty="0">
                <a:solidFill>
                  <a:schemeClr val="accent4"/>
                </a:solidFill>
              </a:rPr>
              <a:t>adjust T</a:t>
            </a:r>
            <a:r>
              <a:rPr lang="en-US" sz="1150" b="1" baseline="-40000" dirty="0">
                <a:solidFill>
                  <a:schemeClr val="accent4"/>
                </a:solidFill>
              </a:rPr>
              <a:t>a</a:t>
            </a:r>
            <a:r>
              <a:rPr lang="en-US" sz="1150" b="1" dirty="0">
                <a:solidFill>
                  <a:schemeClr val="accent4"/>
                </a:solidFill>
              </a:rPr>
              <a:t> until fine-scale ET averages to the ALEXI value</a:t>
            </a:r>
            <a:endParaRPr lang="en-US" sz="1150" dirty="0"/>
          </a:p>
        </p:txBody>
      </p:sp>
      <p:sp>
        <p:nvSpPr>
          <p:cNvPr id="22" name="card"/>
          <p:cNvSpPr/>
          <p:nvPr/>
        </p:nvSpPr>
        <p:spPr>
          <a:xfrm>
            <a:off x="548640" y="3611880"/>
            <a:ext cx="3611880" cy="2560320"/>
          </a:xfrm>
          <a:prstGeom prst="roundRect">
            <a:avLst>
              <a:gd name="adj" fmla="val 2857"/>
            </a:avLst>
          </a:prstGeom>
          <a:solidFill>
            <a:schemeClr val="bg2"/>
          </a:solidFill>
          <a:ln/>
          <a:effectLst>
            <a:outerShdw sx="100000" sy="100000" kx="0" ky="0" algn="bl" rotWithShape="0" blurRad="76200" dist="25400" dir="5400000">
              <a:srgbClr val="000000">
                <a:alpha val="14000"/>
              </a:srgbClr>
            </a:outerShdw>
          </a:effectLst>
        </p:spPr>
      </p:sp>
      <p:sp>
        <p:nvSpPr>
          <p:cNvPr id="23" name="icon circle"/>
          <p:cNvSpPr/>
          <p:nvPr/>
        </p:nvSpPr>
        <p:spPr>
          <a:xfrm>
            <a:off x="731520" y="3767328"/>
            <a:ext cx="420624" cy="420624"/>
          </a:xfrm>
          <a:prstGeom prst="ellipse">
            <a:avLst/>
          </a:prstGeom>
          <a:solidFill>
            <a:schemeClr val="accent1"/>
          </a:solidFill>
          <a:ln/>
        </p:spPr>
      </p:sp>
      <p:pic>
        <p:nvPicPr>
          <p:cNvPr id="24" name="Image 0" descr="LayerGroup icon">    </p:cNvPr>
          <p:cNvPicPr>
            <a:picLocks noChangeAspect="1"/>
          </p:cNvPicPr>
          <p:nvPr/>
        </p:nvPicPr>
        <p:blipFill>
          <a:blip r:embed="rId1"/>
          <a:stretch>
            <a:fillRect/>
          </a:stretch>
        </p:blipFill>
        <p:spPr>
          <a:xfrm>
            <a:off x="840882" y="3876690"/>
            <a:ext cx="201900" cy="201900"/>
          </a:xfrm>
          <a:prstGeom prst="rect">
            <a:avLst/>
          </a:prstGeom>
        </p:spPr>
      </p:pic>
      <p:sp>
        <p:nvSpPr>
          <p:cNvPr id="25" name="Text 21"/>
          <p:cNvSpPr txBox="1"/>
          <p:nvPr/>
        </p:nvSpPr>
        <p:spPr>
          <a:xfrm>
            <a:off x="1261872" y="374904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DisALEXI</a:t>
            </a:r>
            <a:endParaRPr lang="en-US" sz="1600" dirty="0"/>
          </a:p>
        </p:txBody>
      </p:sp>
      <p:sp>
        <p:nvSpPr>
          <p:cNvPr id="26" name="Text 22"/>
          <p:cNvSpPr txBox="1"/>
          <p:nvPr/>
        </p:nvSpPr>
        <p:spPr>
          <a:xfrm>
            <a:off x="731520" y="4297680"/>
            <a:ext cx="3246120" cy="17830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ALEXI T</a:t>
            </a:r>
            <a:r>
              <a:rPr lang="en-US" sz="1250" baseline="-40000" dirty="0">
                <a:solidFill>
                  <a:schemeClr val="tx1"/>
                </a:solidFill>
              </a:rPr>
              <a:t>a</a:t>
            </a:r>
            <a:r>
              <a:rPr lang="en-US" sz="1250" dirty="0">
                <a:solidFill>
                  <a:schemeClr val="tx1"/>
                </a:solidFill>
              </a:rPr>
              <a:t> at blending height (~50 m) as boundary</a:t>
            </a:r>
            <a:endParaRPr lang="en-US" sz="1250" dirty="0"/>
          </a:p>
          <a:p>
            <a:pPr marL="177800" indent="-177800">
              <a:spcAft>
                <a:spcPts val="400"/>
              </a:spcAft>
              <a:buSzPct val="100000"/>
              <a:buChar char="•"/>
            </a:pPr>
            <a:r>
              <a:rPr lang="en-US" sz="1250" dirty="0">
                <a:solidFill>
                  <a:schemeClr val="tx1"/>
                </a:solidFill>
              </a:rPr>
              <a:t>TSEB on each fine pixel</a:t>
            </a:r>
            <a:endParaRPr lang="en-US" sz="1250" dirty="0"/>
          </a:p>
          <a:p>
            <a:pPr marL="177800" indent="-177800">
              <a:spcAft>
                <a:spcPts val="400"/>
              </a:spcAft>
              <a:buSzPct val="100000"/>
              <a:buChar char="•"/>
            </a:pPr>
            <a:r>
              <a:rPr lang="en-US" sz="1250" dirty="0">
                <a:solidFill>
                  <a:schemeClr val="tx1"/>
                </a:solidFill>
              </a:rPr>
              <a:t>Mass-conserving: aggregate = ALEXI</a:t>
            </a:r>
            <a:endParaRPr lang="en-US" sz="1250" dirty="0"/>
          </a:p>
        </p:txBody>
      </p:sp>
      <p:sp>
        <p:nvSpPr>
          <p:cNvPr id="27" name="card"/>
          <p:cNvSpPr/>
          <p:nvPr/>
        </p:nvSpPr>
        <p:spPr>
          <a:xfrm>
            <a:off x="4297680" y="3611880"/>
            <a:ext cx="3611880" cy="2560320"/>
          </a:xfrm>
          <a:prstGeom prst="roundRect">
            <a:avLst>
              <a:gd name="adj" fmla="val 2857"/>
            </a:avLst>
          </a:prstGeom>
          <a:solidFill>
            <a:schemeClr val="bg2"/>
          </a:solidFill>
          <a:ln/>
          <a:effectLst>
            <a:outerShdw sx="100000" sy="100000" kx="0" ky="0" algn="bl" rotWithShape="0" blurRad="76200" dist="25400" dir="5400000">
              <a:srgbClr val="000000">
                <a:alpha val="14000"/>
              </a:srgbClr>
            </a:outerShdw>
          </a:effectLst>
        </p:spPr>
      </p:sp>
      <p:sp>
        <p:nvSpPr>
          <p:cNvPr id="28" name="icon circle"/>
          <p:cNvSpPr/>
          <p:nvPr/>
        </p:nvSpPr>
        <p:spPr>
          <a:xfrm>
            <a:off x="4480560" y="3767328"/>
            <a:ext cx="420624" cy="420624"/>
          </a:xfrm>
          <a:prstGeom prst="ellipse">
            <a:avLst/>
          </a:prstGeom>
          <a:solidFill>
            <a:schemeClr val="accent4"/>
          </a:solidFill>
          <a:ln/>
        </p:spPr>
      </p:sp>
      <p:pic>
        <p:nvPicPr>
          <p:cNvPr id="29" name="Image 1" descr="ThermometerHalf icon">    </p:cNvPr>
          <p:cNvPicPr>
            <a:picLocks noChangeAspect="1"/>
          </p:cNvPicPr>
          <p:nvPr/>
        </p:nvPicPr>
        <p:blipFill>
          <a:blip r:embed="rId2"/>
          <a:stretch>
            <a:fillRect/>
          </a:stretch>
        </p:blipFill>
        <p:spPr>
          <a:xfrm>
            <a:off x="4589922" y="3876690"/>
            <a:ext cx="201900" cy="201900"/>
          </a:xfrm>
          <a:prstGeom prst="rect">
            <a:avLst/>
          </a:prstGeom>
        </p:spPr>
      </p:pic>
      <p:sp>
        <p:nvSpPr>
          <p:cNvPr id="30" name="Text 25"/>
          <p:cNvSpPr txBox="1"/>
          <p:nvPr/>
        </p:nvSpPr>
        <p:spPr>
          <a:xfrm>
            <a:off x="5010912" y="3749040"/>
            <a:ext cx="2761488" cy="457200"/>
          </a:xfrm>
          <a:prstGeom prst="rect">
            <a:avLst/>
          </a:prstGeom>
          <a:noFill/>
          <a:ln/>
        </p:spPr>
        <p:txBody>
          <a:bodyPr wrap="square" lIns="0" tIns="0" rIns="0" bIns="0" rtlCol="0" anchor="ctr"/>
          <a:lstStyle/>
          <a:p>
            <a:pPr indent="0" marL="0">
              <a:buNone/>
            </a:pPr>
            <a:r>
              <a:rPr lang="en-US" sz="1600" b="1" dirty="0">
                <a:solidFill>
                  <a:schemeClr val="tx2"/>
                </a:solidFill>
              </a:rPr>
              <a:t>Thermal sharpening</a:t>
            </a:r>
            <a:endParaRPr lang="en-US" sz="1600" dirty="0"/>
          </a:p>
        </p:txBody>
      </p:sp>
      <p:sp>
        <p:nvSpPr>
          <p:cNvPr id="31" name="Text 26"/>
          <p:cNvSpPr txBox="1"/>
          <p:nvPr/>
        </p:nvSpPr>
        <p:spPr>
          <a:xfrm>
            <a:off x="4480560" y="4297680"/>
            <a:ext cx="3246120" cy="17830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Landsat TIR 100 m → 30 m</a:t>
            </a:r>
            <a:endParaRPr lang="en-US" sz="1250" dirty="0"/>
          </a:p>
          <a:p>
            <a:pPr marL="177800" indent="-177800">
              <a:spcAft>
                <a:spcPts val="400"/>
              </a:spcAft>
              <a:buSzPct val="100000"/>
              <a:buChar char="•"/>
            </a:pPr>
            <a:r>
              <a:rPr lang="en-US" sz="1250" dirty="0">
                <a:solidFill>
                  <a:schemeClr val="tx1"/>
                </a:solidFill>
              </a:rPr>
              <a:t>Regress T</a:t>
            </a:r>
            <a:r>
              <a:rPr lang="en-US" sz="1250" baseline="-40000" dirty="0">
                <a:solidFill>
                  <a:schemeClr val="tx1"/>
                </a:solidFill>
              </a:rPr>
              <a:t>s</a:t>
            </a:r>
            <a:r>
              <a:rPr lang="en-US" sz="1250" dirty="0">
                <a:solidFill>
                  <a:schemeClr val="tx1"/>
                </a:solidFill>
              </a:rPr>
              <a:t> on NDVI / reflectance at coarse scale, apply at fine scale (DisTrad, TsHARP)</a:t>
            </a:r>
            <a:endParaRPr lang="en-US" sz="1250" dirty="0"/>
          </a:p>
        </p:txBody>
      </p:sp>
      <p:sp>
        <p:nvSpPr>
          <p:cNvPr id="32" name="card"/>
          <p:cNvSpPr/>
          <p:nvPr/>
        </p:nvSpPr>
        <p:spPr>
          <a:xfrm>
            <a:off x="8046720" y="3611880"/>
            <a:ext cx="3593592" cy="2560320"/>
          </a:xfrm>
          <a:prstGeom prst="roundRect">
            <a:avLst>
              <a:gd name="adj" fmla="val 2857"/>
            </a:avLst>
          </a:prstGeom>
          <a:solidFill>
            <a:schemeClr val="bg2"/>
          </a:solidFill>
          <a:ln/>
          <a:effectLst>
            <a:outerShdw sx="100000" sy="100000" kx="0" ky="0" algn="bl" rotWithShape="0" blurRad="76200" dist="25400" dir="5400000">
              <a:srgbClr val="000000">
                <a:alpha val="14000"/>
              </a:srgbClr>
            </a:outerShdw>
          </a:effectLst>
        </p:spPr>
      </p:sp>
      <p:sp>
        <p:nvSpPr>
          <p:cNvPr id="33" name="icon circle"/>
          <p:cNvSpPr/>
          <p:nvPr/>
        </p:nvSpPr>
        <p:spPr>
          <a:xfrm>
            <a:off x="8229600" y="3767328"/>
            <a:ext cx="420624" cy="420624"/>
          </a:xfrm>
          <a:prstGeom prst="ellipse">
            <a:avLst/>
          </a:prstGeom>
          <a:solidFill>
            <a:schemeClr val="accent2"/>
          </a:solidFill>
          <a:ln/>
        </p:spPr>
      </p:sp>
      <p:pic>
        <p:nvPicPr>
          <p:cNvPr id="34" name="Image 2" descr="ProjectDiagram icon">    </p:cNvPr>
          <p:cNvPicPr>
            <a:picLocks noChangeAspect="1"/>
          </p:cNvPicPr>
          <p:nvPr/>
        </p:nvPicPr>
        <p:blipFill>
          <a:blip r:embed="rId3"/>
          <a:stretch>
            <a:fillRect/>
          </a:stretch>
        </p:blipFill>
        <p:spPr>
          <a:xfrm>
            <a:off x="8338962" y="3876690"/>
            <a:ext cx="201900" cy="201900"/>
          </a:xfrm>
          <a:prstGeom prst="rect">
            <a:avLst/>
          </a:prstGeom>
        </p:spPr>
      </p:pic>
      <p:sp>
        <p:nvSpPr>
          <p:cNvPr id="35" name="Text 29"/>
          <p:cNvSpPr txBox="1"/>
          <p:nvPr/>
        </p:nvSpPr>
        <p:spPr>
          <a:xfrm>
            <a:off x="8759952" y="3749040"/>
            <a:ext cx="2743200" cy="457200"/>
          </a:xfrm>
          <a:prstGeom prst="rect">
            <a:avLst/>
          </a:prstGeom>
          <a:noFill/>
          <a:ln/>
        </p:spPr>
        <p:txBody>
          <a:bodyPr wrap="square" lIns="0" tIns="0" rIns="0" bIns="0" rtlCol="0" anchor="ctr"/>
          <a:lstStyle/>
          <a:p>
            <a:pPr indent="0" marL="0">
              <a:buNone/>
            </a:pPr>
            <a:r>
              <a:rPr lang="en-US" sz="1600" b="1" dirty="0">
                <a:solidFill>
                  <a:schemeClr val="tx2"/>
                </a:solidFill>
              </a:rPr>
              <a:t>Fusion and ensembles</a:t>
            </a:r>
            <a:endParaRPr lang="en-US" sz="1600" dirty="0"/>
          </a:p>
        </p:txBody>
      </p:sp>
      <p:sp>
        <p:nvSpPr>
          <p:cNvPr id="36" name="Text 30"/>
          <p:cNvSpPr txBox="1"/>
          <p:nvPr/>
        </p:nvSpPr>
        <p:spPr>
          <a:xfrm>
            <a:off x="8229600" y="4297680"/>
            <a:ext cx="3227832" cy="178308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STARFM: MODIS timing + Landsat detail → daily 30 m</a:t>
            </a:r>
            <a:endParaRPr lang="en-US" sz="1250" dirty="0"/>
          </a:p>
          <a:p>
            <a:pPr marL="177800" indent="-177800">
              <a:spcAft>
                <a:spcPts val="400"/>
              </a:spcAft>
              <a:buSzPct val="100000"/>
              <a:buChar char="•"/>
            </a:pPr>
            <a:r>
              <a:rPr lang="en-US" sz="1250" dirty="0">
                <a:solidFill>
                  <a:schemeClr val="tx1"/>
                </a:solidFill>
              </a:rPr>
              <a:t>OpenET: ensemble of SEBAL, METRIC, SSEBop, DisALEXI, PT-JPL, SIMS</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MOD16: Penman–Monteith with MODIS inputs</a:t>
            </a:r>
            <a:endParaRPr lang="en-US" sz="3200" dirty="0"/>
          </a:p>
        </p:txBody>
      </p:sp>
      <p:sp>
        <p:nvSpPr>
          <p:cNvPr id="4" name="diagram box"/>
          <p:cNvSpPr/>
          <p:nvPr/>
        </p:nvSpPr>
        <p:spPr>
          <a:xfrm>
            <a:off x="4270248" y="1280160"/>
            <a:ext cx="3657600" cy="594360"/>
          </a:xfrm>
          <a:prstGeom prst="roundRect">
            <a:avLst>
              <a:gd name="adj" fmla="val 12308"/>
            </a:avLst>
          </a:prstGeom>
          <a:solidFill>
            <a:srgbClr val="1B4965"/>
          </a:solidFill>
          <a:ln/>
        </p:spPr>
      </p:sp>
      <p:sp>
        <p:nvSpPr>
          <p:cNvPr id="5" name="Text 2"/>
          <p:cNvSpPr txBox="1"/>
          <p:nvPr/>
        </p:nvSpPr>
        <p:spPr>
          <a:xfrm>
            <a:off x="4270248" y="1280160"/>
            <a:ext cx="3657600" cy="594360"/>
          </a:xfrm>
          <a:prstGeom prst="rect">
            <a:avLst/>
          </a:prstGeom>
          <a:noFill/>
          <a:ln/>
        </p:spPr>
        <p:txBody>
          <a:bodyPr wrap="square" lIns="508" tIns="508" rIns="508" bIns="508" rtlCol="0" anchor="ctr"/>
          <a:lstStyle/>
          <a:p>
            <a:pPr algn="ctr" indent="0" marL="0">
              <a:buNone/>
            </a:pPr>
            <a:r>
              <a:rPr lang="en-US" sz="1300" b="1" dirty="0">
                <a:solidFill>
                  <a:schemeClr val="bg1"/>
                </a:solidFill>
              </a:rPr>
              <a:t>MOD16 ET = λE</a:t>
            </a:r>
            <a:r>
              <a:rPr lang="en-US" sz="1300" b="1" baseline="-40000" dirty="0">
                <a:solidFill>
                  <a:schemeClr val="bg1"/>
                </a:solidFill>
              </a:rPr>
              <a:t>wet canopy</a:t>
            </a:r>
            <a:r>
              <a:rPr lang="en-US" sz="1300" b="1" dirty="0">
                <a:solidFill>
                  <a:schemeClr val="bg1"/>
                </a:solidFill>
              </a:rPr>
              <a:t> + λE</a:t>
            </a:r>
            <a:r>
              <a:rPr lang="en-US" sz="1300" b="1" baseline="-40000" dirty="0">
                <a:solidFill>
                  <a:schemeClr val="bg1"/>
                </a:solidFill>
              </a:rPr>
              <a:t>transpiration</a:t>
            </a:r>
            <a:r>
              <a:rPr lang="en-US" sz="1300" b="1" dirty="0">
                <a:solidFill>
                  <a:schemeClr val="bg1"/>
                </a:solidFill>
              </a:rPr>
              <a:t> + λE</a:t>
            </a:r>
            <a:r>
              <a:rPr lang="en-US" sz="1300" b="1" baseline="-40000" dirty="0">
                <a:solidFill>
                  <a:schemeClr val="bg1"/>
                </a:solidFill>
              </a:rPr>
              <a:t>soil</a:t>
            </a:r>
            <a:endParaRPr lang="en-US" sz="1300" dirty="0"/>
          </a:p>
        </p:txBody>
      </p:sp>
      <p:sp>
        <p:nvSpPr>
          <p:cNvPr id="6" name="arrow"/>
          <p:cNvSpPr/>
          <p:nvPr/>
        </p:nvSpPr>
        <p:spPr>
          <a:xfrm>
            <a:off x="6099048" y="1874520"/>
            <a:ext cx="0" cy="228600"/>
          </a:xfrm>
          <a:prstGeom prst="line">
            <a:avLst/>
          </a:prstGeom>
          <a:noFill/>
          <a:ln w="19050">
            <a:solidFill>
              <a:srgbClr val="1E2430"/>
            </a:solidFill>
            <a:prstDash val="solid"/>
          </a:ln>
        </p:spPr>
      </p:sp>
      <p:sp>
        <p:nvSpPr>
          <p:cNvPr id="7" name="arrow"/>
          <p:cNvSpPr/>
          <p:nvPr/>
        </p:nvSpPr>
        <p:spPr>
          <a:xfrm>
            <a:off x="2377440" y="2103120"/>
            <a:ext cx="7434072" cy="0"/>
          </a:xfrm>
          <a:prstGeom prst="line">
            <a:avLst/>
          </a:prstGeom>
          <a:noFill/>
          <a:ln w="19050">
            <a:solidFill>
              <a:srgbClr val="1E2430"/>
            </a:solidFill>
            <a:prstDash val="solid"/>
          </a:ln>
        </p:spPr>
      </p:sp>
      <p:sp>
        <p:nvSpPr>
          <p:cNvPr id="8" name="arrow"/>
          <p:cNvSpPr/>
          <p:nvPr/>
        </p:nvSpPr>
        <p:spPr>
          <a:xfrm>
            <a:off x="2322576" y="2103120"/>
            <a:ext cx="0" cy="182880"/>
          </a:xfrm>
          <a:prstGeom prst="line">
            <a:avLst/>
          </a:prstGeom>
          <a:noFill/>
          <a:ln w="19050">
            <a:solidFill>
              <a:srgbClr val="1E2430"/>
            </a:solidFill>
            <a:prstDash val="solid"/>
          </a:ln>
        </p:spPr>
      </p:sp>
      <p:sp>
        <p:nvSpPr>
          <p:cNvPr id="9" name="diagram box"/>
          <p:cNvSpPr/>
          <p:nvPr/>
        </p:nvSpPr>
        <p:spPr>
          <a:xfrm>
            <a:off x="548640" y="2286000"/>
            <a:ext cx="3547872" cy="594360"/>
          </a:xfrm>
          <a:prstGeom prst="roundRect">
            <a:avLst>
              <a:gd name="adj" fmla="val 12308"/>
            </a:avLst>
          </a:prstGeom>
          <a:solidFill>
            <a:srgbClr val="3B6EA5"/>
          </a:solidFill>
          <a:ln/>
        </p:spPr>
      </p:sp>
      <p:sp>
        <p:nvSpPr>
          <p:cNvPr id="10" name="Text 7"/>
          <p:cNvSpPr txBox="1"/>
          <p:nvPr/>
        </p:nvSpPr>
        <p:spPr>
          <a:xfrm>
            <a:off x="548640" y="2286000"/>
            <a:ext cx="3547872" cy="594360"/>
          </a:xfrm>
          <a:prstGeom prst="rect">
            <a:avLst/>
          </a:prstGeom>
          <a:noFill/>
          <a:ln/>
        </p:spPr>
        <p:txBody>
          <a:bodyPr wrap="square" lIns="508" tIns="508" rIns="508" bIns="508" rtlCol="0" anchor="ctr"/>
          <a:lstStyle/>
          <a:p>
            <a:pPr algn="ctr" indent="0" marL="0">
              <a:buNone/>
            </a:pPr>
            <a:r>
              <a:rPr lang="en-US" sz="1350" b="1" dirty="0">
                <a:solidFill>
                  <a:schemeClr val="bg1"/>
                </a:solidFill>
              </a:rPr>
              <a:t>Wet canopy evaporation</a:t>
            </a:r>
            <a:endParaRPr lang="en-US" sz="1350" dirty="0"/>
          </a:p>
        </p:txBody>
      </p:sp>
      <p:sp>
        <p:nvSpPr>
          <p:cNvPr id="11" name="card"/>
          <p:cNvSpPr/>
          <p:nvPr/>
        </p:nvSpPr>
        <p:spPr>
          <a:xfrm>
            <a:off x="548640" y="2971800"/>
            <a:ext cx="354787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12" name="Text 9"/>
          <p:cNvSpPr txBox="1"/>
          <p:nvPr/>
        </p:nvSpPr>
        <p:spPr>
          <a:xfrm>
            <a:off x="658368" y="3044952"/>
            <a:ext cx="3328416" cy="155448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Fraction wet F</a:t>
            </a:r>
            <a:r>
              <a:rPr lang="en-US" sz="1200" baseline="-40000" dirty="0">
                <a:solidFill>
                  <a:schemeClr val="tx1"/>
                </a:solidFill>
              </a:rPr>
              <a:t>wet</a:t>
            </a:r>
            <a:r>
              <a:rPr lang="en-US" sz="1200" dirty="0">
                <a:solidFill>
                  <a:schemeClr val="tx1"/>
                </a:solidFill>
              </a:rPr>
              <a:t> = RH⁴ (RH &gt; 70%)</a:t>
            </a:r>
            <a:endParaRPr lang="en-US" sz="1200" dirty="0"/>
          </a:p>
          <a:p>
            <a:pPr marL="177800" indent="-177800">
              <a:spcAft>
                <a:spcPts val="600"/>
              </a:spcAft>
              <a:buSzPct val="100000"/>
              <a:buChar char="•"/>
            </a:pPr>
            <a:r>
              <a:rPr lang="en-US" sz="1200" dirty="0">
                <a:solidFill>
                  <a:schemeClr val="tx1"/>
                </a:solidFill>
              </a:rPr>
              <a:t>PM with aerodynamic + wet-surface resistances</a:t>
            </a:r>
            <a:endParaRPr lang="en-US" sz="1200" dirty="0"/>
          </a:p>
        </p:txBody>
      </p:sp>
      <p:sp>
        <p:nvSpPr>
          <p:cNvPr id="13" name="arrow"/>
          <p:cNvSpPr/>
          <p:nvPr/>
        </p:nvSpPr>
        <p:spPr>
          <a:xfrm>
            <a:off x="6071616" y="2103120"/>
            <a:ext cx="0" cy="182880"/>
          </a:xfrm>
          <a:prstGeom prst="line">
            <a:avLst/>
          </a:prstGeom>
          <a:noFill/>
          <a:ln w="19050">
            <a:solidFill>
              <a:srgbClr val="1E2430"/>
            </a:solidFill>
            <a:prstDash val="solid"/>
          </a:ln>
        </p:spPr>
      </p:sp>
      <p:sp>
        <p:nvSpPr>
          <p:cNvPr id="14" name="diagram box"/>
          <p:cNvSpPr/>
          <p:nvPr/>
        </p:nvSpPr>
        <p:spPr>
          <a:xfrm>
            <a:off x="4297680" y="2286000"/>
            <a:ext cx="3547872" cy="594360"/>
          </a:xfrm>
          <a:prstGeom prst="roundRect">
            <a:avLst>
              <a:gd name="adj" fmla="val 12308"/>
            </a:avLst>
          </a:prstGeom>
          <a:solidFill>
            <a:srgbClr val="2E7D4F"/>
          </a:solidFill>
          <a:ln/>
        </p:spPr>
      </p:sp>
      <p:sp>
        <p:nvSpPr>
          <p:cNvPr id="15" name="Text 12"/>
          <p:cNvSpPr txBox="1"/>
          <p:nvPr/>
        </p:nvSpPr>
        <p:spPr>
          <a:xfrm>
            <a:off x="4297680" y="2286000"/>
            <a:ext cx="3547872" cy="594360"/>
          </a:xfrm>
          <a:prstGeom prst="rect">
            <a:avLst/>
          </a:prstGeom>
          <a:noFill/>
          <a:ln/>
        </p:spPr>
        <p:txBody>
          <a:bodyPr wrap="square" lIns="508" tIns="508" rIns="508" bIns="508" rtlCol="0" anchor="ctr"/>
          <a:lstStyle/>
          <a:p>
            <a:pPr algn="ctr" indent="0" marL="0">
              <a:buNone/>
            </a:pPr>
            <a:r>
              <a:rPr lang="en-US" sz="1350" b="1" dirty="0">
                <a:solidFill>
                  <a:schemeClr val="bg1"/>
                </a:solidFill>
              </a:rPr>
              <a:t>Transpiration</a:t>
            </a:r>
            <a:endParaRPr lang="en-US" sz="1350" dirty="0"/>
          </a:p>
        </p:txBody>
      </p:sp>
      <p:sp>
        <p:nvSpPr>
          <p:cNvPr id="16" name="card"/>
          <p:cNvSpPr/>
          <p:nvPr/>
        </p:nvSpPr>
        <p:spPr>
          <a:xfrm>
            <a:off x="4297680" y="2971800"/>
            <a:ext cx="354787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4407408" y="3044952"/>
            <a:ext cx="3328416" cy="155448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G</a:t>
            </a:r>
            <a:r>
              <a:rPr lang="en-US" sz="1200" baseline="-40000" dirty="0">
                <a:solidFill>
                  <a:schemeClr val="tx1"/>
                </a:solidFill>
              </a:rPr>
              <a:t>s</a:t>
            </a:r>
            <a:r>
              <a:rPr lang="en-US" sz="1200" dirty="0">
                <a:solidFill>
                  <a:schemeClr val="tx1"/>
                </a:solidFill>
              </a:rPr>
              <a:t> = C</a:t>
            </a:r>
            <a:r>
              <a:rPr lang="en-US" sz="1200" baseline="-40000" dirty="0">
                <a:solidFill>
                  <a:schemeClr val="tx1"/>
                </a:solidFill>
              </a:rPr>
              <a:t>L</a:t>
            </a:r>
            <a:r>
              <a:rPr lang="en-US" sz="1200" dirty="0">
                <a:solidFill>
                  <a:schemeClr val="tx1"/>
                </a:solidFill>
              </a:rPr>
              <a:t>·m(T</a:t>
            </a:r>
            <a:r>
              <a:rPr lang="en-US" sz="1200" baseline="-40000" dirty="0">
                <a:solidFill>
                  <a:schemeClr val="tx1"/>
                </a:solidFill>
              </a:rPr>
              <a:t>min</a:t>
            </a:r>
            <a:r>
              <a:rPr lang="en-US" sz="1200" dirty="0">
                <a:solidFill>
                  <a:schemeClr val="tx1"/>
                </a:solidFill>
              </a:rPr>
              <a:t>)·m(VPD)·LAI</a:t>
            </a:r>
            <a:endParaRPr lang="en-US" sz="1200" dirty="0"/>
          </a:p>
          <a:p>
            <a:pPr marL="177800" indent="-177800">
              <a:spcAft>
                <a:spcPts val="600"/>
              </a:spcAft>
              <a:buSzPct val="100000"/>
              <a:buChar char="•"/>
            </a:pPr>
            <a:r>
              <a:rPr lang="en-US" sz="1200" dirty="0">
                <a:solidFill>
                  <a:schemeClr val="tx1"/>
                </a:solidFill>
              </a:rPr>
              <a:t>C</a:t>
            </a:r>
            <a:r>
              <a:rPr lang="en-US" sz="1200" baseline="-40000" dirty="0">
                <a:solidFill>
                  <a:schemeClr val="tx1"/>
                </a:solidFill>
              </a:rPr>
              <a:t>L</a:t>
            </a:r>
            <a:r>
              <a:rPr lang="en-US" sz="1200" dirty="0">
                <a:solidFill>
                  <a:schemeClr val="tx1"/>
                </a:solidFill>
              </a:rPr>
              <a:t>: max stomatal conductance per biome</a:t>
            </a:r>
            <a:endParaRPr lang="en-US" sz="1200" dirty="0"/>
          </a:p>
          <a:p>
            <a:pPr marL="177800" indent="-177800">
              <a:spcAft>
                <a:spcPts val="600"/>
              </a:spcAft>
              <a:buSzPct val="100000"/>
              <a:buChar char="•"/>
            </a:pPr>
            <a:r>
              <a:rPr lang="en-US" sz="1200" dirty="0">
                <a:solidFill>
                  <a:schemeClr val="tx1"/>
                </a:solidFill>
              </a:rPr>
              <a:t>PM for dry canopy fraction</a:t>
            </a:r>
            <a:endParaRPr lang="en-US" sz="1200" dirty="0"/>
          </a:p>
        </p:txBody>
      </p:sp>
      <p:sp>
        <p:nvSpPr>
          <p:cNvPr id="18" name="arrow"/>
          <p:cNvSpPr/>
          <p:nvPr/>
        </p:nvSpPr>
        <p:spPr>
          <a:xfrm>
            <a:off x="9820656" y="2103120"/>
            <a:ext cx="0" cy="182880"/>
          </a:xfrm>
          <a:prstGeom prst="line">
            <a:avLst/>
          </a:prstGeom>
          <a:noFill/>
          <a:ln w="19050">
            <a:solidFill>
              <a:srgbClr val="1E2430"/>
            </a:solidFill>
            <a:prstDash val="solid"/>
          </a:ln>
        </p:spPr>
      </p:sp>
      <p:sp>
        <p:nvSpPr>
          <p:cNvPr id="19" name="diagram box"/>
          <p:cNvSpPr/>
          <p:nvPr/>
        </p:nvSpPr>
        <p:spPr>
          <a:xfrm>
            <a:off x="8046720" y="2286000"/>
            <a:ext cx="3547872" cy="594360"/>
          </a:xfrm>
          <a:prstGeom prst="roundRect">
            <a:avLst>
              <a:gd name="adj" fmla="val 12308"/>
            </a:avLst>
          </a:prstGeom>
          <a:solidFill>
            <a:srgbClr val="C0702A"/>
          </a:solidFill>
          <a:ln/>
        </p:spPr>
      </p:sp>
      <p:sp>
        <p:nvSpPr>
          <p:cNvPr id="20" name="Text 17"/>
          <p:cNvSpPr txBox="1"/>
          <p:nvPr/>
        </p:nvSpPr>
        <p:spPr>
          <a:xfrm>
            <a:off x="8046720" y="2286000"/>
            <a:ext cx="3547872" cy="594360"/>
          </a:xfrm>
          <a:prstGeom prst="rect">
            <a:avLst/>
          </a:prstGeom>
          <a:noFill/>
          <a:ln/>
        </p:spPr>
        <p:txBody>
          <a:bodyPr wrap="square" lIns="508" tIns="508" rIns="508" bIns="508" rtlCol="0" anchor="ctr"/>
          <a:lstStyle/>
          <a:p>
            <a:pPr algn="ctr" indent="0" marL="0">
              <a:buNone/>
            </a:pPr>
            <a:r>
              <a:rPr lang="en-US" sz="1350" b="1" dirty="0">
                <a:solidFill>
                  <a:schemeClr val="bg1"/>
                </a:solidFill>
              </a:rPr>
              <a:t>Soil evaporation</a:t>
            </a:r>
            <a:endParaRPr lang="en-US" sz="1350" dirty="0"/>
          </a:p>
        </p:txBody>
      </p:sp>
      <p:sp>
        <p:nvSpPr>
          <p:cNvPr id="21" name="card"/>
          <p:cNvSpPr/>
          <p:nvPr/>
        </p:nvSpPr>
        <p:spPr>
          <a:xfrm>
            <a:off x="8046720" y="2971800"/>
            <a:ext cx="354787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22" name="Text 19"/>
          <p:cNvSpPr txBox="1"/>
          <p:nvPr/>
        </p:nvSpPr>
        <p:spPr>
          <a:xfrm>
            <a:off x="8156448" y="3044952"/>
            <a:ext cx="3328416" cy="155448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Potential (PM) × (RH/100)</a:t>
            </a:r>
            <a:r>
              <a:rPr lang="en-US" sz="1200" baseline="30000" dirty="0">
                <a:solidFill>
                  <a:schemeClr val="tx1"/>
                </a:solidFill>
              </a:rPr>
              <a:t>VPD/β</a:t>
            </a:r>
            <a:endParaRPr lang="en-US" sz="1200" dirty="0"/>
          </a:p>
          <a:p>
            <a:pPr marL="177800" indent="-177800">
              <a:spcAft>
                <a:spcPts val="600"/>
              </a:spcAft>
              <a:buSzPct val="100000"/>
              <a:buChar char="•"/>
            </a:pPr>
            <a:r>
              <a:rPr lang="en-US" sz="1200" dirty="0">
                <a:solidFill>
                  <a:schemeClr val="tx1"/>
                </a:solidFill>
              </a:rPr>
              <a:t>Wet and saturated soil fractions</a:t>
            </a:r>
            <a:endParaRPr lang="en-US" sz="1200" dirty="0"/>
          </a:p>
        </p:txBody>
      </p:sp>
      <p:sp>
        <p:nvSpPr>
          <p:cNvPr id="23" name="card"/>
          <p:cNvSpPr/>
          <p:nvPr/>
        </p:nvSpPr>
        <p:spPr>
          <a:xfrm>
            <a:off x="548640" y="4846320"/>
            <a:ext cx="3657600"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731520" y="5001768"/>
            <a:ext cx="420624" cy="420624"/>
          </a:xfrm>
          <a:prstGeom prst="ellipse">
            <a:avLst/>
          </a:prstGeom>
          <a:solidFill>
            <a:schemeClr val="accent2"/>
          </a:solidFill>
          <a:ln/>
        </p:spPr>
      </p:sp>
      <p:pic>
        <p:nvPicPr>
          <p:cNvPr id="25" name="Image 0" descr="Satellite icon">    </p:cNvPr>
          <p:cNvPicPr>
            <a:picLocks noChangeAspect="1"/>
          </p:cNvPicPr>
          <p:nvPr/>
        </p:nvPicPr>
        <p:blipFill>
          <a:blip r:embed="rId1"/>
          <a:stretch>
            <a:fillRect/>
          </a:stretch>
        </p:blipFill>
        <p:spPr>
          <a:xfrm>
            <a:off x="840882" y="5111130"/>
            <a:ext cx="201900" cy="201900"/>
          </a:xfrm>
          <a:prstGeom prst="rect">
            <a:avLst/>
          </a:prstGeom>
        </p:spPr>
      </p:pic>
      <p:sp>
        <p:nvSpPr>
          <p:cNvPr id="26" name="Text 22"/>
          <p:cNvSpPr txBox="1"/>
          <p:nvPr/>
        </p:nvSpPr>
        <p:spPr>
          <a:xfrm>
            <a:off x="1261872" y="4983480"/>
            <a:ext cx="2807208" cy="457200"/>
          </a:xfrm>
          <a:prstGeom prst="rect">
            <a:avLst/>
          </a:prstGeom>
          <a:noFill/>
          <a:ln/>
        </p:spPr>
        <p:txBody>
          <a:bodyPr wrap="square" lIns="0" tIns="0" rIns="0" bIns="0" rtlCol="0" anchor="ctr"/>
          <a:lstStyle/>
          <a:p>
            <a:pPr indent="0" marL="0">
              <a:buNone/>
            </a:pPr>
            <a:r>
              <a:rPr lang="en-US" sz="1350" b="1" dirty="0">
                <a:solidFill>
                  <a:schemeClr val="tx2"/>
                </a:solidFill>
              </a:rPr>
              <a:t>Inputs</a:t>
            </a:r>
            <a:endParaRPr lang="en-US" sz="1350" dirty="0"/>
          </a:p>
        </p:txBody>
      </p:sp>
      <p:sp>
        <p:nvSpPr>
          <p:cNvPr id="27" name="Text 23"/>
          <p:cNvSpPr txBox="1"/>
          <p:nvPr/>
        </p:nvSpPr>
        <p:spPr>
          <a:xfrm>
            <a:off x="731520" y="5532120"/>
            <a:ext cx="3291840" cy="5486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MODIS land cover, LAI/FPAR, albedo + GMAO T, VPD, Rs</a:t>
            </a:r>
            <a:endParaRPr lang="en-US" sz="1200" dirty="0"/>
          </a:p>
        </p:txBody>
      </p:sp>
      <p:sp>
        <p:nvSpPr>
          <p:cNvPr id="28" name="card"/>
          <p:cNvSpPr/>
          <p:nvPr/>
        </p:nvSpPr>
        <p:spPr>
          <a:xfrm>
            <a:off x="4325112" y="4846320"/>
            <a:ext cx="3657600"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4507992" y="5001768"/>
            <a:ext cx="420624" cy="420624"/>
          </a:xfrm>
          <a:prstGeom prst="ellipse">
            <a:avLst/>
          </a:prstGeom>
          <a:solidFill>
            <a:schemeClr val="accent1"/>
          </a:solidFill>
          <a:ln/>
        </p:spPr>
      </p:sp>
      <p:pic>
        <p:nvPicPr>
          <p:cNvPr id="30" name="Image 1" descr="GlobeAsia icon">    </p:cNvPr>
          <p:cNvPicPr>
            <a:picLocks noChangeAspect="1"/>
          </p:cNvPicPr>
          <p:nvPr/>
        </p:nvPicPr>
        <p:blipFill>
          <a:blip r:embed="rId2"/>
          <a:stretch>
            <a:fillRect/>
          </a:stretch>
        </p:blipFill>
        <p:spPr>
          <a:xfrm>
            <a:off x="4617354" y="5111130"/>
            <a:ext cx="201900" cy="201900"/>
          </a:xfrm>
          <a:prstGeom prst="rect">
            <a:avLst/>
          </a:prstGeom>
        </p:spPr>
      </p:pic>
      <p:sp>
        <p:nvSpPr>
          <p:cNvPr id="31" name="Text 26"/>
          <p:cNvSpPr txBox="1"/>
          <p:nvPr/>
        </p:nvSpPr>
        <p:spPr>
          <a:xfrm>
            <a:off x="5038344" y="4983480"/>
            <a:ext cx="2807208" cy="457200"/>
          </a:xfrm>
          <a:prstGeom prst="rect">
            <a:avLst/>
          </a:prstGeom>
          <a:noFill/>
          <a:ln/>
        </p:spPr>
        <p:txBody>
          <a:bodyPr wrap="square" lIns="0" tIns="0" rIns="0" bIns="0" rtlCol="0" anchor="ctr"/>
          <a:lstStyle/>
          <a:p>
            <a:pPr indent="0" marL="0">
              <a:buNone/>
            </a:pPr>
            <a:r>
              <a:rPr lang="en-US" sz="1350" b="1" dirty="0">
                <a:solidFill>
                  <a:schemeClr val="tx2"/>
                </a:solidFill>
              </a:rPr>
              <a:t>Output</a:t>
            </a:r>
            <a:endParaRPr lang="en-US" sz="1350" dirty="0"/>
          </a:p>
        </p:txBody>
      </p:sp>
      <p:sp>
        <p:nvSpPr>
          <p:cNvPr id="32" name="Text 27"/>
          <p:cNvSpPr txBox="1"/>
          <p:nvPr/>
        </p:nvSpPr>
        <p:spPr>
          <a:xfrm>
            <a:off x="4507992" y="5532120"/>
            <a:ext cx="3291840" cy="5486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8-day, 500 m–1 km, global (day + night summed)</a:t>
            </a:r>
            <a:endParaRPr lang="en-US" sz="1200" dirty="0"/>
          </a:p>
        </p:txBody>
      </p:sp>
      <p:sp>
        <p:nvSpPr>
          <p:cNvPr id="33" name="card"/>
          <p:cNvSpPr/>
          <p:nvPr/>
        </p:nvSpPr>
        <p:spPr>
          <a:xfrm>
            <a:off x="8101584" y="4846320"/>
            <a:ext cx="3538728"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34" name="icon circle"/>
          <p:cNvSpPr/>
          <p:nvPr/>
        </p:nvSpPr>
        <p:spPr>
          <a:xfrm>
            <a:off x="8284464" y="5001768"/>
            <a:ext cx="420624" cy="420624"/>
          </a:xfrm>
          <a:prstGeom prst="ellipse">
            <a:avLst/>
          </a:prstGeom>
          <a:solidFill>
            <a:schemeClr val="accent4"/>
          </a:solidFill>
          <a:ln/>
        </p:spPr>
      </p:sp>
      <p:pic>
        <p:nvPicPr>
          <p:cNvPr id="35" name="Image 2" descr="ExclamationTriangle icon">    </p:cNvPr>
          <p:cNvPicPr>
            <a:picLocks noChangeAspect="1"/>
          </p:cNvPicPr>
          <p:nvPr/>
        </p:nvPicPr>
        <p:blipFill>
          <a:blip r:embed="rId3"/>
          <a:stretch>
            <a:fillRect/>
          </a:stretch>
        </p:blipFill>
        <p:spPr>
          <a:xfrm>
            <a:off x="8393826" y="5111130"/>
            <a:ext cx="201900" cy="201900"/>
          </a:xfrm>
          <a:prstGeom prst="rect">
            <a:avLst/>
          </a:prstGeom>
        </p:spPr>
      </p:pic>
      <p:sp>
        <p:nvSpPr>
          <p:cNvPr id="36" name="Text 30"/>
          <p:cNvSpPr txBox="1"/>
          <p:nvPr/>
        </p:nvSpPr>
        <p:spPr>
          <a:xfrm>
            <a:off x="8814816" y="4983480"/>
            <a:ext cx="2688336" cy="457200"/>
          </a:xfrm>
          <a:prstGeom prst="rect">
            <a:avLst/>
          </a:prstGeom>
          <a:noFill/>
          <a:ln/>
        </p:spPr>
        <p:txBody>
          <a:bodyPr wrap="square" lIns="0" tIns="0" rIns="0" bIns="0" rtlCol="0" anchor="ctr"/>
          <a:lstStyle/>
          <a:p>
            <a:pPr indent="0" marL="0">
              <a:buNone/>
            </a:pPr>
            <a:r>
              <a:rPr lang="en-US" sz="1350" b="1" dirty="0">
                <a:solidFill>
                  <a:schemeClr val="tx2"/>
                </a:solidFill>
              </a:rPr>
              <a:t>Limitation</a:t>
            </a:r>
            <a:endParaRPr lang="en-US" sz="1350" dirty="0"/>
          </a:p>
        </p:txBody>
      </p:sp>
      <p:sp>
        <p:nvSpPr>
          <p:cNvPr id="37" name="Text 31"/>
          <p:cNvSpPr txBox="1"/>
          <p:nvPr/>
        </p:nvSpPr>
        <p:spPr>
          <a:xfrm>
            <a:off x="8284464" y="5532120"/>
            <a:ext cx="3172968" cy="5486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No LST: misses irrigation and soil water stress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PT-JPL and GLEAM: Priestley–Taylor based products</a:t>
            </a:r>
            <a:endParaRPr lang="en-US" sz="3200" dirty="0"/>
          </a:p>
        </p:txBody>
      </p:sp>
      <p:sp>
        <p:nvSpPr>
          <p:cNvPr id="4" name="card"/>
          <p:cNvSpPr/>
          <p:nvPr/>
        </p:nvSpPr>
        <p:spPr>
          <a:xfrm>
            <a:off x="548640" y="1280160"/>
            <a:ext cx="5486400" cy="4892040"/>
          </a:xfrm>
          <a:prstGeom prst="roundRect">
            <a:avLst>
              <a:gd name="adj" fmla="val 1495"/>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371600"/>
            <a:ext cx="5120640" cy="411480"/>
          </a:xfrm>
          <a:prstGeom prst="rect">
            <a:avLst/>
          </a:prstGeom>
          <a:noFill/>
          <a:ln/>
        </p:spPr>
        <p:txBody>
          <a:bodyPr wrap="square" lIns="0" tIns="0" rIns="0" bIns="0" rtlCol="0" anchor="ctr"/>
          <a:lstStyle/>
          <a:p>
            <a:pPr algn="l" indent="0" marL="0">
              <a:buNone/>
            </a:pPr>
            <a:r>
              <a:rPr lang="en-US" sz="1700" b="1" dirty="0">
                <a:solidFill>
                  <a:schemeClr val="tx2"/>
                </a:solidFill>
              </a:rPr>
              <a:t>PT-JPL (Fisher et al. 2008)</a:t>
            </a:r>
            <a:endParaRPr lang="en-US" sz="1700" dirty="0"/>
          </a:p>
        </p:txBody>
      </p:sp>
      <p:sp>
        <p:nvSpPr>
          <p:cNvPr id="6" name="Text 3"/>
          <p:cNvSpPr txBox="1"/>
          <p:nvPr/>
        </p:nvSpPr>
        <p:spPr>
          <a:xfrm>
            <a:off x="731520" y="1874520"/>
            <a:ext cx="5120640" cy="4206240"/>
          </a:xfrm>
          <a:prstGeom prst="rect">
            <a:avLst/>
          </a:prstGeom>
          <a:noFill/>
          <a:ln/>
        </p:spPr>
        <p:txBody>
          <a:bodyPr wrap="square" lIns="508" tIns="508" rIns="508" bIns="508" rtlCol="0" anchor="t"/>
          <a:lstStyle/>
          <a:p>
            <a:pPr indent="0" marL="0">
              <a:spcAft>
                <a:spcPts val="900"/>
              </a:spcAft>
              <a:buNone/>
            </a:pPr>
            <a:r>
              <a:rPr lang="en-US" sz="1400" b="1" dirty="0">
                <a:solidFill>
                  <a:schemeClr val="tx1"/>
                </a:solidFill>
              </a:rPr>
              <a:t>λE = λE</a:t>
            </a:r>
            <a:r>
              <a:rPr lang="en-US" sz="1400" b="1" baseline="-40000" dirty="0">
                <a:solidFill>
                  <a:schemeClr val="tx1"/>
                </a:solidFill>
              </a:rPr>
              <a:t>c</a:t>
            </a:r>
            <a:r>
              <a:rPr lang="en-US" sz="1400" b="1" dirty="0">
                <a:solidFill>
                  <a:schemeClr val="tx1"/>
                </a:solidFill>
              </a:rPr>
              <a:t> + λE</a:t>
            </a:r>
            <a:r>
              <a:rPr lang="en-US" sz="1400" b="1" baseline="-40000" dirty="0">
                <a:solidFill>
                  <a:schemeClr val="tx1"/>
                </a:solidFill>
              </a:rPr>
              <a:t>s</a:t>
            </a:r>
            <a:r>
              <a:rPr lang="en-US" sz="1400" b="1" dirty="0">
                <a:solidFill>
                  <a:schemeClr val="tx1"/>
                </a:solidFill>
              </a:rPr>
              <a:t> + λE</a:t>
            </a:r>
            <a:r>
              <a:rPr lang="en-US" sz="1400" b="1" baseline="-40000" dirty="0">
                <a:solidFill>
                  <a:schemeClr val="tx1"/>
                </a:solidFill>
              </a:rPr>
              <a:t>i</a:t>
            </a:r>
            <a:endParaRPr lang="en-US" sz="1400" dirty="0"/>
          </a:p>
          <a:p>
            <a:pPr indent="0" marL="0">
              <a:spcAft>
                <a:spcPts val="900"/>
              </a:spcAft>
              <a:buNone/>
            </a:pPr>
            <a:r>
              <a:rPr lang="en-US" sz="1250" b="1" dirty="0">
                <a:solidFill>
                  <a:schemeClr val="accent1"/>
                </a:solidFill>
              </a:rPr>
              <a:t>λE</a:t>
            </a:r>
            <a:r>
              <a:rPr lang="en-US" sz="1250" b="1" baseline="-40000" dirty="0">
                <a:solidFill>
                  <a:schemeClr val="accent1"/>
                </a:solidFill>
              </a:rPr>
              <a:t>c</a:t>
            </a:r>
            <a:r>
              <a:rPr lang="en-US" sz="1250" b="1" dirty="0">
                <a:solidFill>
                  <a:schemeClr val="accent1"/>
                </a:solidFill>
              </a:rPr>
              <a:t> = (1 − f</a:t>
            </a:r>
            <a:r>
              <a:rPr lang="en-US" sz="1250" b="1" baseline="-40000" dirty="0">
                <a:solidFill>
                  <a:schemeClr val="accent1"/>
                </a:solidFill>
              </a:rPr>
              <a:t>wet</a:t>
            </a:r>
            <a:r>
              <a:rPr lang="en-US" sz="1250" b="1" dirty="0">
                <a:solidFill>
                  <a:schemeClr val="accent1"/>
                </a:solidFill>
              </a:rPr>
              <a:t>) f</a:t>
            </a:r>
            <a:r>
              <a:rPr lang="en-US" sz="1250" b="1" baseline="-40000" dirty="0">
                <a:solidFill>
                  <a:schemeClr val="accent1"/>
                </a:solidFill>
              </a:rPr>
              <a:t>g</a:t>
            </a:r>
            <a:r>
              <a:rPr lang="en-US" sz="1250" b="1" dirty="0">
                <a:solidFill>
                  <a:schemeClr val="accent1"/>
                </a:solidFill>
              </a:rPr>
              <a:t> f</a:t>
            </a:r>
            <a:r>
              <a:rPr lang="en-US" sz="1250" b="1" baseline="-40000" dirty="0">
                <a:solidFill>
                  <a:schemeClr val="accent1"/>
                </a:solidFill>
              </a:rPr>
              <a:t>T</a:t>
            </a:r>
            <a:r>
              <a:rPr lang="en-US" sz="1250" b="1" dirty="0">
                <a:solidFill>
                  <a:schemeClr val="accent1"/>
                </a:solidFill>
              </a:rPr>
              <a:t> f</a:t>
            </a:r>
            <a:r>
              <a:rPr lang="en-US" sz="1250" b="1" baseline="-40000" dirty="0">
                <a:solidFill>
                  <a:schemeClr val="accent1"/>
                </a:solidFill>
              </a:rPr>
              <a:t>M</a:t>
            </a:r>
            <a:r>
              <a:rPr lang="en-US" sz="1250" b="1" dirty="0">
                <a:solidFill>
                  <a:schemeClr val="accent1"/>
                </a:solidFill>
              </a:rPr>
              <a:t> · α·Δ/(Δ + γ)·Rn</a:t>
            </a:r>
            <a:r>
              <a:rPr lang="en-US" sz="1250" b="1" baseline="-40000" dirty="0">
                <a:solidFill>
                  <a:schemeClr val="accent1"/>
                </a:solidFill>
              </a:rPr>
              <a:t>c</a:t>
            </a:r>
            <a:endParaRPr lang="en-US" sz="1400" dirty="0"/>
          </a:p>
          <a:p>
            <a:pPr indent="0" marL="0">
              <a:spcAft>
                <a:spcPts val="900"/>
              </a:spcAft>
              <a:buNone/>
            </a:pPr>
            <a:r>
              <a:rPr lang="en-US" sz="1250" b="1" dirty="0">
                <a:solidFill>
                  <a:schemeClr val="accent4"/>
                </a:solidFill>
              </a:rPr>
              <a:t>λE</a:t>
            </a:r>
            <a:r>
              <a:rPr lang="en-US" sz="1250" b="1" baseline="-40000" dirty="0">
                <a:solidFill>
                  <a:schemeClr val="accent4"/>
                </a:solidFill>
              </a:rPr>
              <a:t>s</a:t>
            </a:r>
            <a:r>
              <a:rPr lang="en-US" sz="1250" b="1" dirty="0">
                <a:solidFill>
                  <a:schemeClr val="accent4"/>
                </a:solidFill>
              </a:rPr>
              <a:t> = [f</a:t>
            </a:r>
            <a:r>
              <a:rPr lang="en-US" sz="1250" b="1" baseline="-40000" dirty="0">
                <a:solidFill>
                  <a:schemeClr val="accent4"/>
                </a:solidFill>
              </a:rPr>
              <a:t>wet</a:t>
            </a:r>
            <a:r>
              <a:rPr lang="en-US" sz="1250" b="1" dirty="0">
                <a:solidFill>
                  <a:schemeClr val="accent4"/>
                </a:solidFill>
              </a:rPr>
              <a:t> + f</a:t>
            </a:r>
            <a:r>
              <a:rPr lang="en-US" sz="1250" b="1" baseline="-40000" dirty="0">
                <a:solidFill>
                  <a:schemeClr val="accent4"/>
                </a:solidFill>
              </a:rPr>
              <a:t>SM</a:t>
            </a:r>
            <a:r>
              <a:rPr lang="en-US" sz="1250" b="1" dirty="0">
                <a:solidFill>
                  <a:schemeClr val="accent4"/>
                </a:solidFill>
              </a:rPr>
              <a:t>(1 − f</a:t>
            </a:r>
            <a:r>
              <a:rPr lang="en-US" sz="1250" b="1" baseline="-40000" dirty="0">
                <a:solidFill>
                  <a:schemeClr val="accent4"/>
                </a:solidFill>
              </a:rPr>
              <a:t>wet</a:t>
            </a:r>
            <a:r>
              <a:rPr lang="en-US" sz="1250" b="1" dirty="0">
                <a:solidFill>
                  <a:schemeClr val="accent4"/>
                </a:solidFill>
              </a:rPr>
              <a:t>)] · α·Δ/(Δ + γ)·(Rn</a:t>
            </a:r>
            <a:r>
              <a:rPr lang="en-US" sz="1250" b="1" baseline="-40000" dirty="0">
                <a:solidFill>
                  <a:schemeClr val="accent4"/>
                </a:solidFill>
              </a:rPr>
              <a:t>s</a:t>
            </a:r>
            <a:r>
              <a:rPr lang="en-US" sz="1250" b="1" dirty="0">
                <a:solidFill>
                  <a:schemeClr val="accent4"/>
                </a:solidFill>
              </a:rPr>
              <a:t> − G)</a:t>
            </a:r>
            <a:endParaRPr lang="en-US" sz="1400" dirty="0"/>
          </a:p>
          <a:p>
            <a:pPr marL="177800" indent="-177800">
              <a:spcAft>
                <a:spcPts val="900"/>
              </a:spcAft>
              <a:buSzPct val="100000"/>
              <a:buChar char="•"/>
            </a:pPr>
            <a:r>
              <a:rPr lang="en-US" sz="1300" dirty="0">
                <a:solidFill>
                  <a:schemeClr val="tx1"/>
                </a:solidFill>
              </a:rPr>
              <a:t>f</a:t>
            </a:r>
            <a:r>
              <a:rPr lang="en-US" sz="1300" baseline="-40000" dirty="0">
                <a:solidFill>
                  <a:schemeClr val="tx1"/>
                </a:solidFill>
              </a:rPr>
              <a:t>g</a:t>
            </a:r>
            <a:r>
              <a:rPr lang="en-US" sz="1300" dirty="0">
                <a:solidFill>
                  <a:schemeClr val="tx1"/>
                </a:solidFill>
              </a:rPr>
              <a:t> = fAPAR/fIPAR (green fraction); f</a:t>
            </a:r>
            <a:r>
              <a:rPr lang="en-US" sz="1300" baseline="-40000" dirty="0">
                <a:solidFill>
                  <a:schemeClr val="tx1"/>
                </a:solidFill>
              </a:rPr>
              <a:t>T</a:t>
            </a:r>
            <a:r>
              <a:rPr lang="en-US" sz="1300" dirty="0">
                <a:solidFill>
                  <a:schemeClr val="tx1"/>
                </a:solidFill>
              </a:rPr>
              <a:t> temperature optimum; f</a:t>
            </a:r>
            <a:r>
              <a:rPr lang="en-US" sz="1300" baseline="-40000" dirty="0">
                <a:solidFill>
                  <a:schemeClr val="tx1"/>
                </a:solidFill>
              </a:rPr>
              <a:t>M</a:t>
            </a:r>
            <a:r>
              <a:rPr lang="en-US" sz="1300" dirty="0">
                <a:solidFill>
                  <a:schemeClr val="tx1"/>
                </a:solidFill>
              </a:rPr>
              <a:t> = fAPAR/fAPAR</a:t>
            </a:r>
            <a:r>
              <a:rPr lang="en-US" sz="1300" baseline="-40000" dirty="0">
                <a:solidFill>
                  <a:schemeClr val="tx1"/>
                </a:solidFill>
              </a:rPr>
              <a:t>max</a:t>
            </a:r>
            <a:endParaRPr lang="en-US" sz="1400" dirty="0"/>
          </a:p>
          <a:p>
            <a:pPr marL="177800" indent="-177800">
              <a:spcAft>
                <a:spcPts val="900"/>
              </a:spcAft>
              <a:buSzPct val="100000"/>
              <a:buChar char="•"/>
            </a:pPr>
            <a:r>
              <a:rPr lang="en-US" sz="1300" dirty="0">
                <a:solidFill>
                  <a:schemeClr val="tx1"/>
                </a:solidFill>
              </a:rPr>
              <a:t>f</a:t>
            </a:r>
            <a:r>
              <a:rPr lang="en-US" sz="1300" baseline="-40000" dirty="0">
                <a:solidFill>
                  <a:schemeClr val="tx1"/>
                </a:solidFill>
              </a:rPr>
              <a:t>SM</a:t>
            </a:r>
            <a:r>
              <a:rPr lang="en-US" sz="1300" dirty="0">
                <a:solidFill>
                  <a:schemeClr val="tx1"/>
                </a:solidFill>
              </a:rPr>
              <a:t> = RH</a:t>
            </a:r>
            <a:r>
              <a:rPr lang="en-US" sz="1300" baseline="30000" dirty="0">
                <a:solidFill>
                  <a:schemeClr val="tx1"/>
                </a:solidFill>
              </a:rPr>
              <a:t>VPD/β</a:t>
            </a:r>
            <a:r>
              <a:rPr lang="en-US" sz="1300" dirty="0">
                <a:solidFill>
                  <a:schemeClr val="tx1"/>
                </a:solidFill>
              </a:rPr>
              <a:t>;  f</a:t>
            </a:r>
            <a:r>
              <a:rPr lang="en-US" sz="1300" baseline="-40000" dirty="0">
                <a:solidFill>
                  <a:schemeClr val="tx1"/>
                </a:solidFill>
              </a:rPr>
              <a:t>wet</a:t>
            </a:r>
            <a:r>
              <a:rPr lang="en-US" sz="1300" dirty="0">
                <a:solidFill>
                  <a:schemeClr val="tx1"/>
                </a:solidFill>
              </a:rPr>
              <a:t> = RH⁴</a:t>
            </a:r>
            <a:endParaRPr lang="en-US" sz="1400" dirty="0"/>
          </a:p>
          <a:p>
            <a:pPr marL="177800" indent="-177800">
              <a:spcAft>
                <a:spcPts val="900"/>
              </a:spcAft>
              <a:buSzPct val="100000"/>
              <a:buChar char="•"/>
            </a:pPr>
            <a:r>
              <a:rPr lang="en-US" sz="1300" dirty="0">
                <a:solidFill>
                  <a:schemeClr val="tx1"/>
                </a:solidFill>
              </a:rPr>
              <a:t>Three components: canopy transpiration, soil evaporation, interception</a:t>
            </a:r>
            <a:endParaRPr lang="en-US" sz="1400" dirty="0"/>
          </a:p>
          <a:p>
            <a:pPr marL="177800" indent="-177800">
              <a:spcAft>
                <a:spcPts val="900"/>
              </a:spcAft>
              <a:buSzPct val="100000"/>
              <a:buChar char="•"/>
            </a:pPr>
            <a:r>
              <a:rPr lang="en-US" sz="1300" dirty="0">
                <a:solidFill>
                  <a:schemeClr val="tx1"/>
                </a:solidFill>
              </a:rPr>
              <a:t>No calibration; used for ECOSTRESS (70 m)</a:t>
            </a:r>
            <a:endParaRPr lang="en-US" sz="1400" dirty="0"/>
          </a:p>
        </p:txBody>
      </p:sp>
      <p:sp>
        <p:nvSpPr>
          <p:cNvPr id="7" name="card"/>
          <p:cNvSpPr/>
          <p:nvPr/>
        </p:nvSpPr>
        <p:spPr>
          <a:xfrm>
            <a:off x="6153912" y="1280160"/>
            <a:ext cx="5486400" cy="4892040"/>
          </a:xfrm>
          <a:prstGeom prst="roundRect">
            <a:avLst>
              <a:gd name="adj" fmla="val 1495"/>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6336792" y="1371600"/>
            <a:ext cx="5120640" cy="411480"/>
          </a:xfrm>
          <a:prstGeom prst="rect">
            <a:avLst/>
          </a:prstGeom>
          <a:noFill/>
          <a:ln/>
        </p:spPr>
        <p:txBody>
          <a:bodyPr wrap="square" lIns="0" tIns="0" rIns="0" bIns="0" rtlCol="0" anchor="ctr"/>
          <a:lstStyle/>
          <a:p>
            <a:pPr algn="l" indent="0" marL="0">
              <a:buNone/>
            </a:pPr>
            <a:r>
              <a:rPr lang="en-US" sz="1700" b="1" dirty="0">
                <a:solidFill>
                  <a:schemeClr val="tx2"/>
                </a:solidFill>
              </a:rPr>
              <a:t>GLEAM (Miralles et al. 2011)</a:t>
            </a:r>
            <a:endParaRPr lang="en-US" sz="1700" dirty="0"/>
          </a:p>
        </p:txBody>
      </p:sp>
      <p:sp>
        <p:nvSpPr>
          <p:cNvPr id="9" name="Text 6"/>
          <p:cNvSpPr txBox="1"/>
          <p:nvPr/>
        </p:nvSpPr>
        <p:spPr>
          <a:xfrm>
            <a:off x="6336792" y="1874520"/>
            <a:ext cx="5120640" cy="4206240"/>
          </a:xfrm>
          <a:prstGeom prst="rect">
            <a:avLst/>
          </a:prstGeom>
          <a:noFill/>
          <a:ln/>
        </p:spPr>
        <p:txBody>
          <a:bodyPr wrap="square" lIns="508" tIns="508" rIns="508" bIns="508" rtlCol="0" anchor="t"/>
          <a:lstStyle/>
          <a:p>
            <a:pPr indent="0" marL="0">
              <a:spcAft>
                <a:spcPts val="900"/>
              </a:spcAft>
              <a:buNone/>
            </a:pPr>
            <a:r>
              <a:rPr lang="en-US" sz="1400" b="1" dirty="0">
                <a:solidFill>
                  <a:schemeClr val="tx1"/>
                </a:solidFill>
              </a:rPr>
              <a:t>E = S × E</a:t>
            </a:r>
            <a:r>
              <a:rPr lang="en-US" sz="1400" b="1" baseline="-40000" dirty="0">
                <a:solidFill>
                  <a:schemeClr val="tx1"/>
                </a:solidFill>
              </a:rPr>
              <a:t>p</a:t>
            </a:r>
            <a:r>
              <a:rPr lang="en-US" sz="1400" b="1" dirty="0">
                <a:solidFill>
                  <a:schemeClr val="tx1"/>
                </a:solidFill>
              </a:rPr>
              <a:t> + E</a:t>
            </a:r>
            <a:r>
              <a:rPr lang="en-US" sz="1400" b="1" baseline="-40000" dirty="0">
                <a:solidFill>
                  <a:schemeClr val="tx1"/>
                </a:solidFill>
              </a:rPr>
              <a:t>i</a:t>
            </a:r>
            <a:endParaRPr lang="en-US" sz="1400" dirty="0"/>
          </a:p>
          <a:p>
            <a:pPr marL="177800" indent="-177800">
              <a:spcAft>
                <a:spcPts val="900"/>
              </a:spcAft>
              <a:buSzPct val="100000"/>
              <a:buChar char="•"/>
            </a:pPr>
            <a:r>
              <a:rPr lang="en-US" sz="1250" dirty="0">
                <a:solidFill>
                  <a:schemeClr val="tx1"/>
                </a:solidFill>
              </a:rPr>
              <a:t>E</a:t>
            </a:r>
            <a:r>
              <a:rPr lang="en-US" sz="1250" baseline="-40000" dirty="0">
                <a:solidFill>
                  <a:schemeClr val="tx1"/>
                </a:solidFill>
              </a:rPr>
              <a:t>p</a:t>
            </a:r>
            <a:r>
              <a:rPr lang="en-US" sz="1250" dirty="0">
                <a:solidFill>
                  <a:schemeClr val="tx1"/>
                </a:solidFill>
              </a:rPr>
              <a:t>: Priestley–Taylor potential evaporation</a:t>
            </a:r>
            <a:endParaRPr lang="en-US" sz="1400" dirty="0"/>
          </a:p>
          <a:p>
            <a:pPr marL="177800" indent="-177800">
              <a:spcAft>
                <a:spcPts val="900"/>
              </a:spcAft>
              <a:buSzPct val="100000"/>
              <a:buChar char="•"/>
            </a:pPr>
            <a:r>
              <a:rPr lang="en-US" sz="1250" dirty="0">
                <a:solidFill>
                  <a:schemeClr val="tx1"/>
                </a:solidFill>
              </a:rPr>
              <a:t>S: evaporative stress from microwave soil moisture and vegetation optical depth</a:t>
            </a:r>
            <a:endParaRPr lang="en-US" sz="1400" dirty="0"/>
          </a:p>
          <a:p>
            <a:pPr marL="177800" indent="-177800">
              <a:spcAft>
                <a:spcPts val="900"/>
              </a:spcAft>
              <a:buSzPct val="100000"/>
              <a:buChar char="•"/>
            </a:pPr>
            <a:r>
              <a:rPr lang="en-US" sz="1250" dirty="0">
                <a:solidFill>
                  <a:schemeClr val="tx1"/>
                </a:solidFill>
              </a:rPr>
              <a:t>Multi-layer soil water balance driven by precipitation; assimilates satellite SM</a:t>
            </a:r>
            <a:endParaRPr lang="en-US" sz="1400" dirty="0"/>
          </a:p>
          <a:p>
            <a:pPr marL="177800" indent="-177800">
              <a:spcAft>
                <a:spcPts val="900"/>
              </a:spcAft>
              <a:buSzPct val="100000"/>
              <a:buChar char="•"/>
            </a:pPr>
            <a:r>
              <a:rPr lang="en-US" sz="1250" dirty="0">
                <a:solidFill>
                  <a:schemeClr val="tx1"/>
                </a:solidFill>
              </a:rPr>
              <a:t>E</a:t>
            </a:r>
            <a:r>
              <a:rPr lang="en-US" sz="1250" baseline="-40000" dirty="0">
                <a:solidFill>
                  <a:schemeClr val="tx1"/>
                </a:solidFill>
              </a:rPr>
              <a:t>i</a:t>
            </a:r>
            <a:r>
              <a:rPr lang="en-US" sz="1250" dirty="0">
                <a:solidFill>
                  <a:schemeClr val="tx1"/>
                </a:solidFill>
              </a:rPr>
              <a:t>: rainfall interception (Gash model)</a:t>
            </a:r>
            <a:endParaRPr lang="en-US" sz="1400" dirty="0"/>
          </a:p>
          <a:p>
            <a:pPr marL="177800" indent="-177800">
              <a:spcAft>
                <a:spcPts val="900"/>
              </a:spcAft>
              <a:buSzPct val="100000"/>
              <a:buChar char="•"/>
            </a:pPr>
            <a:r>
              <a:rPr lang="en-US" sz="1250" dirty="0">
                <a:solidFill>
                  <a:schemeClr val="tx1"/>
                </a:solidFill>
              </a:rPr>
              <a:t>Daily, 0.25°, global; partitions E, T, interception</a:t>
            </a:r>
            <a:endParaRPr lang="en-US" sz="1400" dirty="0"/>
          </a:p>
          <a:p>
            <a:pPr marL="177800" indent="-177800">
              <a:spcAft>
                <a:spcPts val="900"/>
              </a:spcAft>
              <a:buSzPct val="100000"/>
              <a:buChar char="•"/>
            </a:pPr>
            <a:r>
              <a:rPr lang="en-US" sz="1250" dirty="0">
                <a:solidFill>
                  <a:schemeClr val="accent2"/>
                </a:solidFill>
              </a:rPr>
              <a:t>Link: microwave soil moisture (SMOS, AMSR, SMAP)</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VI-based crop coefficient method</a:t>
            </a:r>
            <a:endParaRPr lang="en-US" sz="3200" dirty="0"/>
          </a:p>
        </p:txBody>
      </p:sp>
      <p:sp>
        <p:nvSpPr>
          <p:cNvPr id="4" name="diagram box"/>
          <p:cNvSpPr/>
          <p:nvPr/>
        </p:nvSpPr>
        <p:spPr>
          <a:xfrm>
            <a:off x="548640" y="1371600"/>
            <a:ext cx="2057400" cy="1097280"/>
          </a:xfrm>
          <a:prstGeom prst="roundRect">
            <a:avLst>
              <a:gd name="adj" fmla="val 6667"/>
            </a:avLst>
          </a:prstGeom>
          <a:solidFill>
            <a:srgbClr val="2E7D4F"/>
          </a:solidFill>
          <a:ln/>
        </p:spPr>
      </p:sp>
      <p:sp>
        <p:nvSpPr>
          <p:cNvPr id="5" name="Text 2"/>
          <p:cNvSpPr txBox="1"/>
          <p:nvPr/>
        </p:nvSpPr>
        <p:spPr>
          <a:xfrm>
            <a:off x="548640" y="1371600"/>
            <a:ext cx="2057400" cy="1097280"/>
          </a:xfrm>
          <a:prstGeom prst="rect">
            <a:avLst/>
          </a:prstGeom>
          <a:noFill/>
          <a:ln/>
        </p:spPr>
        <p:txBody>
          <a:bodyPr wrap="square" lIns="508" tIns="508" rIns="508" bIns="508" rtlCol="0" anchor="ctr"/>
          <a:lstStyle/>
          <a:p>
            <a:pPr algn="ctr" indent="0" marL="0">
              <a:buNone/>
            </a:pPr>
            <a:r>
              <a:rPr lang="en-US" sz="1250" b="1" dirty="0">
                <a:solidFill>
                  <a:schemeClr val="bg1"/>
                </a:solidFill>
              </a:rPr>
              <a:t>Sentinel-2 / Landsat NDVI (5–16 d, 10–30 m)</a:t>
            </a:r>
            <a:endParaRPr lang="en-US" sz="1250" dirty="0"/>
          </a:p>
        </p:txBody>
      </p:sp>
      <p:sp>
        <p:nvSpPr>
          <p:cNvPr id="6" name="arrow"/>
          <p:cNvSpPr/>
          <p:nvPr/>
        </p:nvSpPr>
        <p:spPr>
          <a:xfrm>
            <a:off x="2615184" y="1920240"/>
            <a:ext cx="182880" cy="0"/>
          </a:xfrm>
          <a:prstGeom prst="line">
            <a:avLst/>
          </a:prstGeom>
          <a:noFill/>
          <a:ln w="28575">
            <a:solidFill>
              <a:srgbClr val="1E2430"/>
            </a:solidFill>
            <a:prstDash val="solid"/>
            <a:tailEnd type="triangle"/>
          </a:ln>
        </p:spPr>
      </p:sp>
      <p:sp>
        <p:nvSpPr>
          <p:cNvPr id="7" name="diagram box"/>
          <p:cNvSpPr/>
          <p:nvPr/>
        </p:nvSpPr>
        <p:spPr>
          <a:xfrm>
            <a:off x="2807208" y="1371600"/>
            <a:ext cx="2057400" cy="1097280"/>
          </a:xfrm>
          <a:prstGeom prst="roundRect">
            <a:avLst>
              <a:gd name="adj" fmla="val 6667"/>
            </a:avLst>
          </a:prstGeom>
          <a:solidFill>
            <a:srgbClr val="2E7D4F"/>
          </a:solidFill>
          <a:ln/>
        </p:spPr>
      </p:sp>
      <p:sp>
        <p:nvSpPr>
          <p:cNvPr id="8" name="Text 5"/>
          <p:cNvSpPr txBox="1"/>
          <p:nvPr/>
        </p:nvSpPr>
        <p:spPr>
          <a:xfrm>
            <a:off x="2807208" y="1371600"/>
            <a:ext cx="2057400" cy="1097280"/>
          </a:xfrm>
          <a:prstGeom prst="rect">
            <a:avLst/>
          </a:prstGeom>
          <a:noFill/>
          <a:ln/>
        </p:spPr>
        <p:txBody>
          <a:bodyPr wrap="square" lIns="508" tIns="508" rIns="508" bIns="508" rtlCol="0" anchor="ctr"/>
          <a:lstStyle/>
          <a:p>
            <a:pPr algn="ctr" indent="0" marL="0">
              <a:buNone/>
            </a:pPr>
            <a:r>
              <a:rPr lang="en-US" sz="1250" b="1" dirty="0">
                <a:solidFill>
                  <a:schemeClr val="bg1"/>
                </a:solidFill>
              </a:rPr>
              <a:t>K</a:t>
            </a:r>
            <a:r>
              <a:rPr lang="en-US" sz="1250" b="1" baseline="-40000" dirty="0">
                <a:solidFill>
                  <a:schemeClr val="bg1"/>
                </a:solidFill>
              </a:rPr>
              <a:t>cb</a:t>
            </a:r>
            <a:r>
              <a:rPr lang="en-US" sz="1250" b="1" dirty="0">
                <a:solidFill>
                  <a:schemeClr val="bg1"/>
                </a:solidFill>
              </a:rPr>
              <a:t> = a·NDVI + b  (or SAVI, f</a:t>
            </a:r>
            <a:r>
              <a:rPr lang="en-US" sz="1250" b="1" baseline="-40000" dirty="0">
                <a:solidFill>
                  <a:schemeClr val="bg1"/>
                </a:solidFill>
              </a:rPr>
              <a:t>c</a:t>
            </a:r>
            <a:r>
              <a:rPr lang="en-US" sz="1250" b="1" dirty="0">
                <a:solidFill>
                  <a:schemeClr val="bg1"/>
                </a:solidFill>
              </a:rPr>
              <a:t>)</a:t>
            </a:r>
            <a:endParaRPr lang="en-US" sz="1250" dirty="0"/>
          </a:p>
        </p:txBody>
      </p:sp>
      <p:sp>
        <p:nvSpPr>
          <p:cNvPr id="9" name="arrow"/>
          <p:cNvSpPr/>
          <p:nvPr/>
        </p:nvSpPr>
        <p:spPr>
          <a:xfrm>
            <a:off x="4873752" y="1920240"/>
            <a:ext cx="182880" cy="0"/>
          </a:xfrm>
          <a:prstGeom prst="line">
            <a:avLst/>
          </a:prstGeom>
          <a:noFill/>
          <a:ln w="28575">
            <a:solidFill>
              <a:srgbClr val="1E2430"/>
            </a:solidFill>
            <a:prstDash val="solid"/>
            <a:tailEnd type="triangle"/>
          </a:ln>
        </p:spPr>
      </p:sp>
      <p:sp>
        <p:nvSpPr>
          <p:cNvPr id="10" name="diagram box"/>
          <p:cNvSpPr/>
          <p:nvPr/>
        </p:nvSpPr>
        <p:spPr>
          <a:xfrm>
            <a:off x="5065776" y="1371600"/>
            <a:ext cx="2057400" cy="1097280"/>
          </a:xfrm>
          <a:prstGeom prst="roundRect">
            <a:avLst>
              <a:gd name="adj" fmla="val 6667"/>
            </a:avLst>
          </a:prstGeom>
          <a:solidFill>
            <a:srgbClr val="3B6EA5"/>
          </a:solidFill>
          <a:ln/>
        </p:spPr>
      </p:sp>
      <p:sp>
        <p:nvSpPr>
          <p:cNvPr id="11" name="Text 8"/>
          <p:cNvSpPr txBox="1"/>
          <p:nvPr/>
        </p:nvSpPr>
        <p:spPr>
          <a:xfrm>
            <a:off x="5065776" y="1371600"/>
            <a:ext cx="2057400" cy="1097280"/>
          </a:xfrm>
          <a:prstGeom prst="rect">
            <a:avLst/>
          </a:prstGeom>
          <a:noFill/>
          <a:ln/>
        </p:spPr>
        <p:txBody>
          <a:bodyPr wrap="square" lIns="508" tIns="508" rIns="508" bIns="508" rtlCol="0" anchor="ctr"/>
          <a:lstStyle/>
          <a:p>
            <a:pPr algn="ctr" indent="0" marL="0">
              <a:buNone/>
            </a:pPr>
            <a:r>
              <a:rPr lang="en-US" sz="1250" b="1" dirty="0">
                <a:solidFill>
                  <a:schemeClr val="bg1"/>
                </a:solidFill>
              </a:rPr>
              <a:t>× ET</a:t>
            </a:r>
            <a:r>
              <a:rPr lang="en-US" sz="1250" b="1" baseline="-40000" dirty="0">
                <a:solidFill>
                  <a:schemeClr val="bg1"/>
                </a:solidFill>
              </a:rPr>
              <a:t>0</a:t>
            </a:r>
            <a:r>
              <a:rPr lang="en-US" sz="1250" b="1" dirty="0">
                <a:solidFill>
                  <a:schemeClr val="bg1"/>
                </a:solidFill>
              </a:rPr>
              <a:t> (station or gridded)</a:t>
            </a:r>
            <a:endParaRPr lang="en-US" sz="1250" dirty="0"/>
          </a:p>
        </p:txBody>
      </p:sp>
      <p:sp>
        <p:nvSpPr>
          <p:cNvPr id="12" name="arrow"/>
          <p:cNvSpPr/>
          <p:nvPr/>
        </p:nvSpPr>
        <p:spPr>
          <a:xfrm>
            <a:off x="7132320" y="1920240"/>
            <a:ext cx="182880" cy="0"/>
          </a:xfrm>
          <a:prstGeom prst="line">
            <a:avLst/>
          </a:prstGeom>
          <a:noFill/>
          <a:ln w="28575">
            <a:solidFill>
              <a:srgbClr val="1E2430"/>
            </a:solidFill>
            <a:prstDash val="solid"/>
            <a:tailEnd type="triangle"/>
          </a:ln>
        </p:spPr>
      </p:sp>
      <p:sp>
        <p:nvSpPr>
          <p:cNvPr id="13" name="diagram box"/>
          <p:cNvSpPr/>
          <p:nvPr/>
        </p:nvSpPr>
        <p:spPr>
          <a:xfrm>
            <a:off x="7324344" y="1371600"/>
            <a:ext cx="2057400" cy="1097280"/>
          </a:xfrm>
          <a:prstGeom prst="roundRect">
            <a:avLst>
              <a:gd name="adj" fmla="val 6667"/>
            </a:avLst>
          </a:prstGeom>
          <a:solidFill>
            <a:srgbClr val="1B4965"/>
          </a:solidFill>
          <a:ln/>
        </p:spPr>
      </p:sp>
      <p:sp>
        <p:nvSpPr>
          <p:cNvPr id="14" name="Text 11"/>
          <p:cNvSpPr txBox="1"/>
          <p:nvPr/>
        </p:nvSpPr>
        <p:spPr>
          <a:xfrm>
            <a:off x="7324344" y="1371600"/>
            <a:ext cx="2057400" cy="1097280"/>
          </a:xfrm>
          <a:prstGeom prst="rect">
            <a:avLst/>
          </a:prstGeom>
          <a:noFill/>
          <a:ln/>
        </p:spPr>
        <p:txBody>
          <a:bodyPr wrap="square" lIns="508" tIns="508" rIns="508" bIns="508" rtlCol="0" anchor="ctr"/>
          <a:lstStyle/>
          <a:p>
            <a:pPr algn="ctr" indent="0" marL="0">
              <a:buNone/>
            </a:pPr>
            <a:r>
              <a:rPr lang="en-US" sz="1250" b="1" dirty="0">
                <a:solidFill>
                  <a:schemeClr val="bg1"/>
                </a:solidFill>
              </a:rPr>
              <a:t>+ K</a:t>
            </a:r>
            <a:r>
              <a:rPr lang="en-US" sz="1250" b="1" baseline="-40000" dirty="0">
                <a:solidFill>
                  <a:schemeClr val="bg1"/>
                </a:solidFill>
              </a:rPr>
              <a:t>e</a:t>
            </a:r>
            <a:r>
              <a:rPr lang="en-US" sz="1250" b="1" dirty="0">
                <a:solidFill>
                  <a:schemeClr val="bg1"/>
                </a:solidFill>
              </a:rPr>
              <a:t> and × K</a:t>
            </a:r>
            <a:r>
              <a:rPr lang="en-US" sz="1250" b="1" baseline="-40000" dirty="0">
                <a:solidFill>
                  <a:schemeClr val="bg1"/>
                </a:solidFill>
              </a:rPr>
              <a:t>s</a:t>
            </a:r>
            <a:r>
              <a:rPr lang="en-US" sz="1250" b="1" dirty="0">
                <a:solidFill>
                  <a:schemeClr val="bg1"/>
                </a:solidFill>
              </a:rPr>
              <a:t> from soil water balance</a:t>
            </a:r>
            <a:endParaRPr lang="en-US" sz="1250" dirty="0"/>
          </a:p>
        </p:txBody>
      </p:sp>
      <p:sp>
        <p:nvSpPr>
          <p:cNvPr id="15" name="arrow"/>
          <p:cNvSpPr/>
          <p:nvPr/>
        </p:nvSpPr>
        <p:spPr>
          <a:xfrm>
            <a:off x="9390888" y="1920240"/>
            <a:ext cx="182880" cy="0"/>
          </a:xfrm>
          <a:prstGeom prst="line">
            <a:avLst/>
          </a:prstGeom>
          <a:noFill/>
          <a:ln w="28575">
            <a:solidFill>
              <a:srgbClr val="1E2430"/>
            </a:solidFill>
            <a:prstDash val="solid"/>
            <a:tailEnd type="triangle"/>
          </a:ln>
        </p:spPr>
      </p:sp>
      <p:sp>
        <p:nvSpPr>
          <p:cNvPr id="16" name="diagram box"/>
          <p:cNvSpPr/>
          <p:nvPr/>
        </p:nvSpPr>
        <p:spPr>
          <a:xfrm>
            <a:off x="9582912" y="1371600"/>
            <a:ext cx="2057400" cy="1097280"/>
          </a:xfrm>
          <a:prstGeom prst="roundRect">
            <a:avLst>
              <a:gd name="adj" fmla="val 6667"/>
            </a:avLst>
          </a:prstGeom>
          <a:solidFill>
            <a:srgbClr val="C0702A"/>
          </a:solidFill>
          <a:ln/>
        </p:spPr>
      </p:sp>
      <p:sp>
        <p:nvSpPr>
          <p:cNvPr id="17" name="Text 14"/>
          <p:cNvSpPr txBox="1"/>
          <p:nvPr/>
        </p:nvSpPr>
        <p:spPr>
          <a:xfrm>
            <a:off x="9582912" y="1371600"/>
            <a:ext cx="2057400" cy="1097280"/>
          </a:xfrm>
          <a:prstGeom prst="rect">
            <a:avLst/>
          </a:prstGeom>
          <a:noFill/>
          <a:ln/>
        </p:spPr>
        <p:txBody>
          <a:bodyPr wrap="square" lIns="508" tIns="508" rIns="508" bIns="508" rtlCol="0" anchor="ctr"/>
          <a:lstStyle/>
          <a:p>
            <a:pPr algn="ctr" indent="0" marL="0">
              <a:buNone/>
            </a:pPr>
            <a:r>
              <a:rPr lang="en-US" sz="1250" b="1" dirty="0">
                <a:solidFill>
                  <a:schemeClr val="bg1"/>
                </a:solidFill>
              </a:rPr>
              <a:t>ETc</a:t>
            </a:r>
            <a:r>
              <a:rPr lang="en-US" sz="1250" b="1" baseline="-40000" dirty="0">
                <a:solidFill>
                  <a:schemeClr val="bg1"/>
                </a:solidFill>
              </a:rPr>
              <a:t>adj</a:t>
            </a:r>
            <a:r>
              <a:rPr lang="en-US" sz="1250" b="1" dirty="0">
                <a:solidFill>
                  <a:schemeClr val="bg1"/>
                </a:solidFill>
              </a:rPr>
              <a:t>: field-scale crop ET</a:t>
            </a:r>
            <a:endParaRPr lang="en-US" sz="1250" dirty="0"/>
          </a:p>
        </p:txBody>
      </p:sp>
      <p:sp>
        <p:nvSpPr>
          <p:cNvPr id="18" name="card"/>
          <p:cNvSpPr/>
          <p:nvPr/>
        </p:nvSpPr>
        <p:spPr>
          <a:xfrm>
            <a:off x="548640" y="2743200"/>
            <a:ext cx="5486400" cy="685800"/>
          </a:xfrm>
          <a:prstGeom prst="roundRect">
            <a:avLst>
              <a:gd name="adj" fmla="val 10667"/>
            </a:avLst>
          </a:prstGeom>
          <a:solidFill>
            <a:schemeClr val="tx2"/>
          </a:solidFill>
          <a:ln/>
          <a:effectLst>
            <a:outerShdw sx="100000" sy="100000" kx="0" ky="0" algn="bl" rotWithShape="0" blurRad="76200" dist="25400" dir="5400000">
              <a:srgbClr val="000000">
                <a:alpha val="14000"/>
              </a:srgbClr>
            </a:outerShdw>
          </a:effectLst>
        </p:spPr>
      </p:sp>
      <p:sp>
        <p:nvSpPr>
          <p:cNvPr id="19" name="Text 16"/>
          <p:cNvSpPr txBox="1"/>
          <p:nvPr/>
        </p:nvSpPr>
        <p:spPr>
          <a:xfrm>
            <a:off x="685800" y="2743200"/>
            <a:ext cx="5212080" cy="685800"/>
          </a:xfrm>
          <a:prstGeom prst="rect">
            <a:avLst/>
          </a:prstGeom>
          <a:noFill/>
          <a:ln/>
        </p:spPr>
        <p:txBody>
          <a:bodyPr wrap="square" lIns="0" tIns="0" rIns="0" bIns="0" rtlCol="0" anchor="ctr"/>
          <a:lstStyle/>
          <a:p>
            <a:pPr algn="ctr" indent="0" marL="0">
              <a:buNone/>
            </a:pPr>
            <a:r>
              <a:rPr lang="en-US" sz="1400" b="1" dirty="0">
                <a:solidFill>
                  <a:schemeClr val="bg1"/>
                </a:solidFill>
              </a:rPr>
              <a:t>FAO-56: K</a:t>
            </a:r>
            <a:r>
              <a:rPr lang="en-US" sz="1400" b="1" baseline="-40000" dirty="0">
                <a:solidFill>
                  <a:schemeClr val="bg1"/>
                </a:solidFill>
              </a:rPr>
              <a:t>cb</a:t>
            </a:r>
            <a:r>
              <a:rPr lang="en-US" sz="1400" b="1" dirty="0">
                <a:solidFill>
                  <a:schemeClr val="bg1"/>
                </a:solidFill>
              </a:rPr>
              <a:t> = K</a:t>
            </a:r>
            <a:r>
              <a:rPr lang="en-US" sz="1400" b="1" baseline="-40000" dirty="0">
                <a:solidFill>
                  <a:schemeClr val="bg1"/>
                </a:solidFill>
              </a:rPr>
              <a:t>c,min</a:t>
            </a:r>
            <a:r>
              <a:rPr lang="en-US" sz="1400" b="1" dirty="0">
                <a:solidFill>
                  <a:schemeClr val="bg1"/>
                </a:solidFill>
              </a:rPr>
              <a:t> + K</a:t>
            </a:r>
            <a:r>
              <a:rPr lang="en-US" sz="1400" b="1" baseline="-40000" dirty="0">
                <a:solidFill>
                  <a:schemeClr val="bg1"/>
                </a:solidFill>
              </a:rPr>
              <a:t>d</a:t>
            </a:r>
            <a:r>
              <a:rPr lang="en-US" sz="1400" b="1" dirty="0">
                <a:solidFill>
                  <a:schemeClr val="bg1"/>
                </a:solidFill>
              </a:rPr>
              <a:t>(K</a:t>
            </a:r>
            <a:r>
              <a:rPr lang="en-US" sz="1400" b="1" baseline="-40000" dirty="0">
                <a:solidFill>
                  <a:schemeClr val="bg1"/>
                </a:solidFill>
              </a:rPr>
              <a:t>cb,full</a:t>
            </a:r>
            <a:r>
              <a:rPr lang="en-US" sz="1400" b="1" dirty="0">
                <a:solidFill>
                  <a:schemeClr val="bg1"/>
                </a:solidFill>
              </a:rPr>
              <a:t> − K</a:t>
            </a:r>
            <a:r>
              <a:rPr lang="en-US" sz="1400" b="1" baseline="-40000" dirty="0">
                <a:solidFill>
                  <a:schemeClr val="bg1"/>
                </a:solidFill>
              </a:rPr>
              <a:t>c,min</a:t>
            </a:r>
            <a:r>
              <a:rPr lang="en-US" sz="1400" b="1" dirty="0">
                <a:solidFill>
                  <a:schemeClr val="bg1"/>
                </a:solidFill>
              </a:rPr>
              <a:t>)</a:t>
            </a:r>
            <a:endParaRPr lang="en-US" sz="1400" dirty="0"/>
          </a:p>
        </p:txBody>
      </p:sp>
      <p:sp>
        <p:nvSpPr>
          <p:cNvPr id="20" name="Text 17"/>
          <p:cNvSpPr txBox="1"/>
          <p:nvPr/>
        </p:nvSpPr>
        <p:spPr>
          <a:xfrm>
            <a:off x="548640" y="3520440"/>
            <a:ext cx="5486400" cy="1188720"/>
          </a:xfrm>
          <a:prstGeom prst="rect">
            <a:avLst/>
          </a:prstGeom>
          <a:noFill/>
          <a:ln/>
        </p:spPr>
        <p:txBody>
          <a:bodyPr wrap="square" lIns="508" tIns="508" rIns="508" bIns="508" rtlCol="0" anchor="t"/>
          <a:lstStyle/>
          <a:p>
            <a:pPr marL="177800" indent="-177800">
              <a:spcAft>
                <a:spcPts val="600"/>
              </a:spcAft>
              <a:buSzPct val="100000"/>
              <a:buChar char="•"/>
            </a:pPr>
            <a:r>
              <a:rPr lang="en-US" sz="1250" dirty="0">
                <a:solidFill>
                  <a:schemeClr val="tx1"/>
                </a:solidFill>
              </a:rPr>
              <a:t>K</a:t>
            </a:r>
            <a:r>
              <a:rPr lang="en-US" sz="1250" baseline="-40000" dirty="0">
                <a:solidFill>
                  <a:schemeClr val="tx1"/>
                </a:solidFill>
              </a:rPr>
              <a:t>d</a:t>
            </a:r>
            <a:r>
              <a:rPr lang="en-US" sz="1250" dirty="0">
                <a:solidFill>
                  <a:schemeClr val="tx1"/>
                </a:solidFill>
              </a:rPr>
              <a:t> = min(1, M</a:t>
            </a:r>
            <a:r>
              <a:rPr lang="en-US" sz="1250" baseline="-40000" dirty="0">
                <a:solidFill>
                  <a:schemeClr val="tx1"/>
                </a:solidFill>
              </a:rPr>
              <a:t>L</a:t>
            </a:r>
            <a:r>
              <a:rPr lang="en-US" sz="1250" dirty="0">
                <a:solidFill>
                  <a:schemeClr val="tx1"/>
                </a:solidFill>
              </a:rPr>
              <a:t>·f</a:t>
            </a:r>
            <a:r>
              <a:rPr lang="en-US" sz="1250" baseline="-40000" dirty="0">
                <a:solidFill>
                  <a:schemeClr val="tx1"/>
                </a:solidFill>
              </a:rPr>
              <a:t>c,eff</a:t>
            </a:r>
            <a:r>
              <a:rPr lang="en-US" sz="1250" dirty="0">
                <a:solidFill>
                  <a:schemeClr val="tx1"/>
                </a:solidFill>
              </a:rPr>
              <a:t>, f</a:t>
            </a:r>
            <a:r>
              <a:rPr lang="en-US" sz="1250" baseline="-40000" dirty="0">
                <a:solidFill>
                  <a:schemeClr val="tx1"/>
                </a:solidFill>
              </a:rPr>
              <a:t>c,eff</a:t>
            </a:r>
            <a:r>
              <a:rPr lang="en-US" sz="1250" baseline="30000" dirty="0">
                <a:solidFill>
                  <a:schemeClr val="tx1"/>
                </a:solidFill>
              </a:rPr>
              <a:t>1/(1 + h)</a:t>
            </a:r>
            <a:r>
              <a:rPr lang="en-US" sz="1250" dirty="0">
                <a:solidFill>
                  <a:schemeClr val="tx1"/>
                </a:solidFill>
              </a:rPr>
              <a:t>) — density coefficient</a:t>
            </a:r>
            <a:endParaRPr lang="en-US" sz="1250" dirty="0"/>
          </a:p>
          <a:p>
            <a:pPr marL="177800" indent="-177800">
              <a:spcAft>
                <a:spcPts val="600"/>
              </a:spcAft>
              <a:buSzPct val="100000"/>
              <a:buChar char="•"/>
            </a:pPr>
            <a:r>
              <a:rPr lang="en-US" sz="1250" dirty="0">
                <a:solidFill>
                  <a:schemeClr val="tx1"/>
                </a:solidFill>
              </a:rPr>
              <a:t>Kcb–NDVI relations are crop- and sensor-specific: calibrate with lysimeter or flux data</a:t>
            </a:r>
            <a:endParaRPr lang="en-US" sz="1250" dirty="0"/>
          </a:p>
        </p:txBody>
      </p:sp>
      <p:sp>
        <p:nvSpPr>
          <p:cNvPr id="21" name="card"/>
          <p:cNvSpPr/>
          <p:nvPr/>
        </p:nvSpPr>
        <p:spPr>
          <a:xfrm>
            <a:off x="6153912" y="2743200"/>
            <a:ext cx="2670048"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6336792" y="2898648"/>
            <a:ext cx="420624" cy="420624"/>
          </a:xfrm>
          <a:prstGeom prst="ellipse">
            <a:avLst/>
          </a:prstGeom>
          <a:solidFill>
            <a:schemeClr val="accent1"/>
          </a:solidFill>
          <a:ln/>
        </p:spPr>
      </p:sp>
      <p:pic>
        <p:nvPicPr>
          <p:cNvPr id="23" name="Image 0" descr="Check icon">    </p:cNvPr>
          <p:cNvPicPr>
            <a:picLocks noChangeAspect="1"/>
          </p:cNvPicPr>
          <p:nvPr/>
        </p:nvPicPr>
        <p:blipFill>
          <a:blip r:embed="rId1"/>
          <a:stretch>
            <a:fillRect/>
          </a:stretch>
        </p:blipFill>
        <p:spPr>
          <a:xfrm>
            <a:off x="6446154" y="3008010"/>
            <a:ext cx="201900" cy="201900"/>
          </a:xfrm>
          <a:prstGeom prst="rect">
            <a:avLst/>
          </a:prstGeom>
        </p:spPr>
      </p:pic>
      <p:sp>
        <p:nvSpPr>
          <p:cNvPr id="24" name="Text 20"/>
          <p:cNvSpPr txBox="1"/>
          <p:nvPr/>
        </p:nvSpPr>
        <p:spPr>
          <a:xfrm>
            <a:off x="6867144" y="2880360"/>
            <a:ext cx="1819656" cy="457200"/>
          </a:xfrm>
          <a:prstGeom prst="rect">
            <a:avLst/>
          </a:prstGeom>
          <a:noFill/>
          <a:ln/>
        </p:spPr>
        <p:txBody>
          <a:bodyPr wrap="square" lIns="0" tIns="0" rIns="0" bIns="0" rtlCol="0" anchor="ctr"/>
          <a:lstStyle/>
          <a:p>
            <a:pPr indent="0" marL="0">
              <a:buNone/>
            </a:pPr>
            <a:r>
              <a:rPr lang="en-US" sz="1350" b="1" dirty="0">
                <a:solidFill>
                  <a:schemeClr val="tx2"/>
                </a:solidFill>
              </a:rPr>
              <a:t>Strengths</a:t>
            </a:r>
            <a:endParaRPr lang="en-US" sz="1350" dirty="0"/>
          </a:p>
        </p:txBody>
      </p:sp>
      <p:sp>
        <p:nvSpPr>
          <p:cNvPr id="25" name="Text 21"/>
          <p:cNvSpPr txBox="1"/>
          <p:nvPr/>
        </p:nvSpPr>
        <p:spPr>
          <a:xfrm>
            <a:off x="6336792" y="3429000"/>
            <a:ext cx="2304288" cy="11887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Optical only; 10 m; frequent; simple; irrigation advisories</a:t>
            </a:r>
            <a:endParaRPr lang="en-US" sz="1200" dirty="0"/>
          </a:p>
        </p:txBody>
      </p:sp>
      <p:sp>
        <p:nvSpPr>
          <p:cNvPr id="26" name="card"/>
          <p:cNvSpPr/>
          <p:nvPr/>
        </p:nvSpPr>
        <p:spPr>
          <a:xfrm>
            <a:off x="8970264" y="2743200"/>
            <a:ext cx="2670048"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27" name="icon circle"/>
          <p:cNvSpPr/>
          <p:nvPr/>
        </p:nvSpPr>
        <p:spPr>
          <a:xfrm>
            <a:off x="9153144" y="2898648"/>
            <a:ext cx="420624" cy="420624"/>
          </a:xfrm>
          <a:prstGeom prst="ellipse">
            <a:avLst/>
          </a:prstGeom>
          <a:solidFill>
            <a:schemeClr val="accent4"/>
          </a:solidFill>
          <a:ln/>
        </p:spPr>
      </p:sp>
      <p:pic>
        <p:nvPicPr>
          <p:cNvPr id="28" name="Image 1" descr="ExclamationTriangle icon">    </p:cNvPr>
          <p:cNvPicPr>
            <a:picLocks noChangeAspect="1"/>
          </p:cNvPicPr>
          <p:nvPr/>
        </p:nvPicPr>
        <p:blipFill>
          <a:blip r:embed="rId2"/>
          <a:stretch>
            <a:fillRect/>
          </a:stretch>
        </p:blipFill>
        <p:spPr>
          <a:xfrm>
            <a:off x="9262506" y="3008010"/>
            <a:ext cx="201900" cy="201900"/>
          </a:xfrm>
          <a:prstGeom prst="rect">
            <a:avLst/>
          </a:prstGeom>
        </p:spPr>
      </p:pic>
      <p:sp>
        <p:nvSpPr>
          <p:cNvPr id="29" name="Text 24"/>
          <p:cNvSpPr txBox="1"/>
          <p:nvPr/>
        </p:nvSpPr>
        <p:spPr>
          <a:xfrm>
            <a:off x="9683496" y="2880360"/>
            <a:ext cx="1819656" cy="457200"/>
          </a:xfrm>
          <a:prstGeom prst="rect">
            <a:avLst/>
          </a:prstGeom>
          <a:noFill/>
          <a:ln/>
        </p:spPr>
        <p:txBody>
          <a:bodyPr wrap="square" lIns="0" tIns="0" rIns="0" bIns="0" rtlCol="0" anchor="ctr"/>
          <a:lstStyle/>
          <a:p>
            <a:pPr indent="0" marL="0">
              <a:buNone/>
            </a:pPr>
            <a:r>
              <a:rPr lang="en-US" sz="1350" b="1" dirty="0">
                <a:solidFill>
                  <a:schemeClr val="tx2"/>
                </a:solidFill>
              </a:rPr>
              <a:t>Limits</a:t>
            </a:r>
            <a:endParaRPr lang="en-US" sz="1350" dirty="0"/>
          </a:p>
        </p:txBody>
      </p:sp>
      <p:sp>
        <p:nvSpPr>
          <p:cNvPr id="30" name="Text 25"/>
          <p:cNvSpPr txBox="1"/>
          <p:nvPr/>
        </p:nvSpPr>
        <p:spPr>
          <a:xfrm>
            <a:off x="9153144" y="3429000"/>
            <a:ext cx="2304288" cy="11887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Gives potential crop ET; stress missed without water balance or thermal data</a:t>
            </a:r>
            <a:endParaRPr lang="en-US" sz="1200" dirty="0"/>
          </a:p>
        </p:txBody>
      </p:sp>
      <p:sp>
        <p:nvSpPr>
          <p:cNvPr id="31" name="insight"/>
          <p:cNvSpPr/>
          <p:nvPr/>
        </p:nvSpPr>
        <p:spPr>
          <a:xfrm>
            <a:off x="548640" y="4937760"/>
            <a:ext cx="11094415" cy="914400"/>
          </a:xfrm>
          <a:prstGeom prst="roundRect">
            <a:avLst>
              <a:gd name="adj" fmla="val 8000"/>
            </a:avLst>
          </a:prstGeom>
          <a:solidFill>
            <a:schemeClr val="bg2"/>
          </a:solidFill>
          <a:ln/>
        </p:spPr>
      </p:sp>
      <p:sp>
        <p:nvSpPr>
          <p:cNvPr id="32" name="icon circle"/>
          <p:cNvSpPr/>
          <p:nvPr/>
        </p:nvSpPr>
        <p:spPr>
          <a:xfrm>
            <a:off x="685800" y="5157216"/>
            <a:ext cx="475488" cy="475488"/>
          </a:xfrm>
          <a:prstGeom prst="ellipse">
            <a:avLst/>
          </a:prstGeom>
          <a:solidFill>
            <a:schemeClr val="accent3"/>
          </a:solidFill>
          <a:ln/>
        </p:spPr>
      </p:sp>
      <p:pic>
        <p:nvPicPr>
          <p:cNvPr id="33" name="Image 2" descr="Lightbulb icon">    </p:cNvPr>
          <p:cNvPicPr>
            <a:picLocks noChangeAspect="1"/>
          </p:cNvPicPr>
          <p:nvPr/>
        </p:nvPicPr>
        <p:blipFill>
          <a:blip r:embed="rId3"/>
          <a:stretch>
            <a:fillRect/>
          </a:stretch>
        </p:blipFill>
        <p:spPr>
          <a:xfrm>
            <a:off x="809427" y="5280843"/>
            <a:ext cx="228234" cy="228234"/>
          </a:xfrm>
          <a:prstGeom prst="rect">
            <a:avLst/>
          </a:prstGeom>
        </p:spPr>
      </p:pic>
      <p:sp>
        <p:nvSpPr>
          <p:cNvPr id="34" name="Text 28"/>
          <p:cNvSpPr txBox="1"/>
          <p:nvPr/>
        </p:nvSpPr>
        <p:spPr>
          <a:xfrm>
            <a:off x="1325880" y="4974336"/>
            <a:ext cx="10180015" cy="84124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Thermal vs optical:</a:t>
            </a:r>
            <a:r>
              <a:rPr lang="en-US" sz="1350" dirty="0">
                <a:solidFill>
                  <a:schemeClr val="tx1"/>
                </a:solidFill>
              </a:rPr>
              <a:t> NDVI lags water stress by days to weeks, LST responds within hours — combining a VI-Kc water balance with thermal ET (e.g. METRIC ETrF) gives the best irrigation information</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Data assimilation for continuous ET</a:t>
            </a:r>
            <a:endParaRPr lang="en-US" sz="3200" dirty="0"/>
          </a:p>
        </p:txBody>
      </p:sp>
      <p:sp>
        <p:nvSpPr>
          <p:cNvPr id="4" name="card"/>
          <p:cNvSpPr/>
          <p:nvPr/>
        </p:nvSpPr>
        <p:spPr>
          <a:xfrm>
            <a:off x="548640" y="1280160"/>
            <a:ext cx="5303520" cy="4892040"/>
          </a:xfrm>
          <a:prstGeom prst="roundRect">
            <a:avLst>
              <a:gd name="adj" fmla="val 1495"/>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5" name="Text 2"/>
          <p:cNvSpPr txBox="1"/>
          <p:nvPr/>
        </p:nvSpPr>
        <p:spPr>
          <a:xfrm>
            <a:off x="685800" y="1353312"/>
            <a:ext cx="5029200" cy="320040"/>
          </a:xfrm>
          <a:prstGeom prst="rect">
            <a:avLst/>
          </a:prstGeom>
          <a:noFill/>
          <a:ln/>
        </p:spPr>
        <p:txBody>
          <a:bodyPr wrap="square" lIns="0" tIns="0" rIns="0" bIns="0" rtlCol="0" anchor="ctr"/>
          <a:lstStyle/>
          <a:p>
            <a:pPr algn="l" indent="0" marL="0">
              <a:buNone/>
            </a:pPr>
            <a:r>
              <a:rPr lang="en-US" sz="1300" b="1" dirty="0">
                <a:solidFill>
                  <a:schemeClr val="tx2"/>
                </a:solidFill>
              </a:rPr>
              <a:t>Assimilation cycle</a:t>
            </a:r>
            <a:endParaRPr lang="en-US" sz="1300" dirty="0"/>
          </a:p>
        </p:txBody>
      </p:sp>
      <p:sp>
        <p:nvSpPr>
          <p:cNvPr id="6" name="diagram box"/>
          <p:cNvSpPr/>
          <p:nvPr/>
        </p:nvSpPr>
        <p:spPr>
          <a:xfrm>
            <a:off x="1920240" y="1783080"/>
            <a:ext cx="2560320" cy="822960"/>
          </a:xfrm>
          <a:prstGeom prst="roundRect">
            <a:avLst>
              <a:gd name="adj" fmla="val 8889"/>
            </a:avLst>
          </a:prstGeom>
          <a:solidFill>
            <a:srgbClr val="1B4965"/>
          </a:solidFill>
          <a:ln/>
        </p:spPr>
      </p:sp>
      <p:sp>
        <p:nvSpPr>
          <p:cNvPr id="7" name="Text 4"/>
          <p:cNvSpPr txBox="1"/>
          <p:nvPr/>
        </p:nvSpPr>
        <p:spPr>
          <a:xfrm>
            <a:off x="1920240" y="1783080"/>
            <a:ext cx="2560320" cy="822960"/>
          </a:xfrm>
          <a:prstGeom prst="rect">
            <a:avLst/>
          </a:prstGeom>
          <a:noFill/>
          <a:ln/>
        </p:spPr>
        <p:txBody>
          <a:bodyPr wrap="square" lIns="508" tIns="508" rIns="508" bIns="508" rtlCol="0" anchor="ctr"/>
          <a:lstStyle/>
          <a:p>
            <a:pPr algn="ctr" indent="0" marL="0">
              <a:buNone/>
            </a:pPr>
            <a:r>
              <a:rPr lang="en-US" sz="1200" b="1" dirty="0">
                <a:solidFill>
                  <a:schemeClr val="bg1"/>
                </a:solidFill>
              </a:rPr>
              <a:t>Model forecast (LSM: Noah, CLM)</a:t>
            </a:r>
            <a:endParaRPr lang="en-US" sz="1200" dirty="0"/>
          </a:p>
        </p:txBody>
      </p:sp>
      <p:sp>
        <p:nvSpPr>
          <p:cNvPr id="8" name="diagram box"/>
          <p:cNvSpPr/>
          <p:nvPr/>
        </p:nvSpPr>
        <p:spPr>
          <a:xfrm>
            <a:off x="3749040" y="3291840"/>
            <a:ext cx="1920240" cy="822960"/>
          </a:xfrm>
          <a:prstGeom prst="roundRect">
            <a:avLst>
              <a:gd name="adj" fmla="val 8889"/>
            </a:avLst>
          </a:prstGeom>
          <a:solidFill>
            <a:srgbClr val="C0702A"/>
          </a:solidFill>
          <a:ln/>
        </p:spPr>
      </p:sp>
      <p:sp>
        <p:nvSpPr>
          <p:cNvPr id="9" name="Text 6"/>
          <p:cNvSpPr txBox="1"/>
          <p:nvPr/>
        </p:nvSpPr>
        <p:spPr>
          <a:xfrm>
            <a:off x="3749040" y="3291840"/>
            <a:ext cx="1920240" cy="822960"/>
          </a:xfrm>
          <a:prstGeom prst="rect">
            <a:avLst/>
          </a:prstGeom>
          <a:noFill/>
          <a:ln/>
        </p:spPr>
        <p:txBody>
          <a:bodyPr wrap="square" lIns="508" tIns="508" rIns="508" bIns="508" rtlCol="0" anchor="ctr"/>
          <a:lstStyle/>
          <a:p>
            <a:pPr algn="ctr" indent="0" marL="0">
              <a:buNone/>
            </a:pPr>
            <a:r>
              <a:rPr lang="en-US" sz="1200" b="1" dirty="0">
                <a:solidFill>
                  <a:schemeClr val="bg1"/>
                </a:solidFill>
              </a:rPr>
              <a:t>Observation: LST, SM, LAI</a:t>
            </a:r>
            <a:endParaRPr lang="en-US" sz="1200" dirty="0"/>
          </a:p>
        </p:txBody>
      </p:sp>
      <p:sp>
        <p:nvSpPr>
          <p:cNvPr id="10" name="diagram box"/>
          <p:cNvSpPr/>
          <p:nvPr/>
        </p:nvSpPr>
        <p:spPr>
          <a:xfrm>
            <a:off x="1920240" y="4800600"/>
            <a:ext cx="2560320" cy="822960"/>
          </a:xfrm>
          <a:prstGeom prst="roundRect">
            <a:avLst>
              <a:gd name="adj" fmla="val 8889"/>
            </a:avLst>
          </a:prstGeom>
          <a:solidFill>
            <a:srgbClr val="6C4F9E"/>
          </a:solidFill>
          <a:ln/>
        </p:spPr>
      </p:sp>
      <p:sp>
        <p:nvSpPr>
          <p:cNvPr id="11" name="Text 8"/>
          <p:cNvSpPr txBox="1"/>
          <p:nvPr/>
        </p:nvSpPr>
        <p:spPr>
          <a:xfrm>
            <a:off x="1920240" y="4800600"/>
            <a:ext cx="2560320" cy="822960"/>
          </a:xfrm>
          <a:prstGeom prst="rect">
            <a:avLst/>
          </a:prstGeom>
          <a:noFill/>
          <a:ln/>
        </p:spPr>
        <p:txBody>
          <a:bodyPr wrap="square" lIns="508" tIns="508" rIns="508" bIns="508" rtlCol="0" anchor="ctr"/>
          <a:lstStyle/>
          <a:p>
            <a:pPr algn="ctr" indent="0" marL="0">
              <a:buNone/>
            </a:pPr>
            <a:r>
              <a:rPr lang="en-US" sz="1200" b="1" dirty="0">
                <a:solidFill>
                  <a:schemeClr val="bg1"/>
                </a:solidFill>
              </a:rPr>
              <a:t>Update / analysis (EnKF, 4D-Var)</a:t>
            </a:r>
            <a:endParaRPr lang="en-US" sz="1200" dirty="0"/>
          </a:p>
        </p:txBody>
      </p:sp>
      <p:sp>
        <p:nvSpPr>
          <p:cNvPr id="12" name="diagram box"/>
          <p:cNvSpPr/>
          <p:nvPr/>
        </p:nvSpPr>
        <p:spPr>
          <a:xfrm>
            <a:off x="457200" y="3291840"/>
            <a:ext cx="1920240" cy="822960"/>
          </a:xfrm>
          <a:prstGeom prst="roundRect">
            <a:avLst>
              <a:gd name="adj" fmla="val 8889"/>
            </a:avLst>
          </a:prstGeom>
          <a:solidFill>
            <a:srgbClr val="5C6B73"/>
          </a:solidFill>
          <a:ln/>
        </p:spPr>
      </p:sp>
      <p:sp>
        <p:nvSpPr>
          <p:cNvPr id="13" name="Text 10"/>
          <p:cNvSpPr txBox="1"/>
          <p:nvPr/>
        </p:nvSpPr>
        <p:spPr>
          <a:xfrm>
            <a:off x="457200" y="3291840"/>
            <a:ext cx="1920240" cy="822960"/>
          </a:xfrm>
          <a:prstGeom prst="rect">
            <a:avLst/>
          </a:prstGeom>
          <a:noFill/>
          <a:ln/>
        </p:spPr>
        <p:txBody>
          <a:bodyPr wrap="square" lIns="508" tIns="508" rIns="508" bIns="508" rtlCol="0" anchor="ctr"/>
          <a:lstStyle/>
          <a:p>
            <a:pPr algn="ctr" indent="0" marL="0">
              <a:buNone/>
            </a:pPr>
            <a:r>
              <a:rPr lang="en-US" sz="1200" b="1" dirty="0">
                <a:solidFill>
                  <a:schemeClr val="bg1"/>
                </a:solidFill>
              </a:rPr>
              <a:t>Forcing: rain, Rs, T, u</a:t>
            </a:r>
            <a:endParaRPr lang="en-US" sz="1200" dirty="0"/>
          </a:p>
        </p:txBody>
      </p:sp>
      <p:sp>
        <p:nvSpPr>
          <p:cNvPr id="14" name="arrow"/>
          <p:cNvSpPr/>
          <p:nvPr/>
        </p:nvSpPr>
        <p:spPr>
          <a:xfrm>
            <a:off x="4114800" y="2606040"/>
            <a:ext cx="365760" cy="667512"/>
          </a:xfrm>
          <a:prstGeom prst="line">
            <a:avLst/>
          </a:prstGeom>
          <a:noFill/>
          <a:ln w="25400">
            <a:solidFill>
              <a:srgbClr val="1E2430"/>
            </a:solidFill>
            <a:prstDash val="solid"/>
            <a:tailEnd type="triangle"/>
          </a:ln>
        </p:spPr>
      </p:sp>
      <p:sp>
        <p:nvSpPr>
          <p:cNvPr id="15" name="arrow"/>
          <p:cNvSpPr/>
          <p:nvPr/>
        </p:nvSpPr>
        <p:spPr>
          <a:xfrm flipH="1">
            <a:off x="4114800" y="4123944"/>
            <a:ext cx="365760" cy="658368"/>
          </a:xfrm>
          <a:prstGeom prst="line">
            <a:avLst/>
          </a:prstGeom>
          <a:noFill/>
          <a:ln w="25400">
            <a:solidFill>
              <a:srgbClr val="1E2430"/>
            </a:solidFill>
            <a:prstDash val="solid"/>
            <a:tailEnd type="triangle"/>
          </a:ln>
        </p:spPr>
      </p:sp>
      <p:sp>
        <p:nvSpPr>
          <p:cNvPr id="16" name="arrow"/>
          <p:cNvSpPr/>
          <p:nvPr/>
        </p:nvSpPr>
        <p:spPr>
          <a:xfrm flipH="1" flipV="1">
            <a:off x="1463040" y="4142232"/>
            <a:ext cx="731520" cy="640080"/>
          </a:xfrm>
          <a:prstGeom prst="line">
            <a:avLst/>
          </a:prstGeom>
          <a:noFill/>
          <a:ln w="25400">
            <a:solidFill>
              <a:srgbClr val="1E2430"/>
            </a:solidFill>
            <a:prstDash val="solid"/>
            <a:tailEnd type="triangle"/>
          </a:ln>
        </p:spPr>
      </p:sp>
      <p:sp>
        <p:nvSpPr>
          <p:cNvPr id="17" name="arrow"/>
          <p:cNvSpPr/>
          <p:nvPr/>
        </p:nvSpPr>
        <p:spPr>
          <a:xfrm flipV="1">
            <a:off x="1463040" y="2624328"/>
            <a:ext cx="731520" cy="649224"/>
          </a:xfrm>
          <a:prstGeom prst="line">
            <a:avLst/>
          </a:prstGeom>
          <a:noFill/>
          <a:ln w="25400">
            <a:solidFill>
              <a:srgbClr val="1E2430"/>
            </a:solidFill>
            <a:prstDash val="solid"/>
            <a:tailEnd type="triangle"/>
          </a:ln>
        </p:spPr>
      </p:sp>
      <p:sp>
        <p:nvSpPr>
          <p:cNvPr id="18" name="Text 15"/>
          <p:cNvSpPr txBox="1"/>
          <p:nvPr/>
        </p:nvSpPr>
        <p:spPr>
          <a:xfrm>
            <a:off x="685800" y="5669280"/>
            <a:ext cx="5029200" cy="320040"/>
          </a:xfrm>
          <a:prstGeom prst="rect">
            <a:avLst/>
          </a:prstGeom>
          <a:noFill/>
          <a:ln/>
        </p:spPr>
        <p:txBody>
          <a:bodyPr wrap="square" lIns="0" tIns="0" rIns="0" bIns="0" rtlCol="0" anchor="ctr"/>
          <a:lstStyle/>
          <a:p>
            <a:pPr algn="ctr" indent="0" marL="0">
              <a:buNone/>
            </a:pPr>
            <a:r>
              <a:rPr lang="en-US" sz="1150" i="1" dirty="0">
                <a:solidFill>
                  <a:schemeClr val="accent6"/>
                </a:solidFill>
              </a:rPr>
              <a:t>continuous ET, soil moisture, fluxes</a:t>
            </a:r>
            <a:endParaRPr lang="en-US" sz="1150" dirty="0"/>
          </a:p>
        </p:txBody>
      </p:sp>
      <p:sp>
        <p:nvSpPr>
          <p:cNvPr id="19" name="card"/>
          <p:cNvSpPr/>
          <p:nvPr/>
        </p:nvSpPr>
        <p:spPr>
          <a:xfrm>
            <a:off x="6035040" y="1280160"/>
            <a:ext cx="56052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217920" y="1435608"/>
            <a:ext cx="420624" cy="420624"/>
          </a:xfrm>
          <a:prstGeom prst="ellipse">
            <a:avLst/>
          </a:prstGeom>
          <a:solidFill>
            <a:schemeClr val="accent5"/>
          </a:solidFill>
          <a:ln/>
        </p:spPr>
      </p:sp>
      <p:pic>
        <p:nvPicPr>
          <p:cNvPr id="21" name="Image 0" descr="Clock icon">    </p:cNvPr>
          <p:cNvPicPr>
            <a:picLocks noChangeAspect="1"/>
          </p:cNvPicPr>
          <p:nvPr/>
        </p:nvPicPr>
        <p:blipFill>
          <a:blip r:embed="rId1"/>
          <a:stretch>
            <a:fillRect/>
          </a:stretch>
        </p:blipFill>
        <p:spPr>
          <a:xfrm>
            <a:off x="6327282" y="1544970"/>
            <a:ext cx="201900" cy="201900"/>
          </a:xfrm>
          <a:prstGeom prst="rect">
            <a:avLst/>
          </a:prstGeom>
        </p:spPr>
      </p:pic>
      <p:sp>
        <p:nvSpPr>
          <p:cNvPr id="22" name="Text 18"/>
          <p:cNvSpPr txBox="1"/>
          <p:nvPr/>
        </p:nvSpPr>
        <p:spPr>
          <a:xfrm>
            <a:off x="6748272" y="1417320"/>
            <a:ext cx="4754880" cy="457200"/>
          </a:xfrm>
          <a:prstGeom prst="rect">
            <a:avLst/>
          </a:prstGeom>
          <a:noFill/>
          <a:ln/>
        </p:spPr>
        <p:txBody>
          <a:bodyPr wrap="square" lIns="0" tIns="0" rIns="0" bIns="0" rtlCol="0" anchor="ctr"/>
          <a:lstStyle/>
          <a:p>
            <a:pPr indent="0" marL="0">
              <a:buNone/>
            </a:pPr>
            <a:r>
              <a:rPr lang="en-US" sz="1400" b="1" dirty="0">
                <a:solidFill>
                  <a:schemeClr val="tx2"/>
                </a:solidFill>
              </a:rPr>
              <a:t>Sequential</a:t>
            </a:r>
            <a:endParaRPr lang="en-US" sz="1400" dirty="0"/>
          </a:p>
        </p:txBody>
      </p:sp>
      <p:sp>
        <p:nvSpPr>
          <p:cNvPr id="23" name="Text 19"/>
          <p:cNvSpPr txBox="1"/>
          <p:nvPr/>
        </p:nvSpPr>
        <p:spPr>
          <a:xfrm>
            <a:off x="6217920" y="1965960"/>
            <a:ext cx="5239512" cy="82296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EnKF, optimal interpolation, particle filter: update state when each observation arrives</a:t>
            </a:r>
            <a:endParaRPr lang="en-US" sz="1250" dirty="0"/>
          </a:p>
        </p:txBody>
      </p:sp>
      <p:sp>
        <p:nvSpPr>
          <p:cNvPr id="24" name="card"/>
          <p:cNvSpPr/>
          <p:nvPr/>
        </p:nvSpPr>
        <p:spPr>
          <a:xfrm>
            <a:off x="6035040" y="3017520"/>
            <a:ext cx="56052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6217920" y="3172968"/>
            <a:ext cx="420624" cy="420624"/>
          </a:xfrm>
          <a:prstGeom prst="ellipse">
            <a:avLst/>
          </a:prstGeom>
          <a:solidFill>
            <a:schemeClr val="accent2"/>
          </a:solidFill>
          <a:ln/>
        </p:spPr>
      </p:sp>
      <p:pic>
        <p:nvPicPr>
          <p:cNvPr id="26" name="Image 1" descr="ChartLine icon">    </p:cNvPr>
          <p:cNvPicPr>
            <a:picLocks noChangeAspect="1"/>
          </p:cNvPicPr>
          <p:nvPr/>
        </p:nvPicPr>
        <p:blipFill>
          <a:blip r:embed="rId2"/>
          <a:stretch>
            <a:fillRect/>
          </a:stretch>
        </p:blipFill>
        <p:spPr>
          <a:xfrm>
            <a:off x="6327282" y="3282330"/>
            <a:ext cx="201900" cy="201900"/>
          </a:xfrm>
          <a:prstGeom prst="rect">
            <a:avLst/>
          </a:prstGeom>
        </p:spPr>
      </p:pic>
      <p:sp>
        <p:nvSpPr>
          <p:cNvPr id="27" name="Text 22"/>
          <p:cNvSpPr txBox="1"/>
          <p:nvPr/>
        </p:nvSpPr>
        <p:spPr>
          <a:xfrm>
            <a:off x="6748272" y="3154680"/>
            <a:ext cx="4754880" cy="457200"/>
          </a:xfrm>
          <a:prstGeom prst="rect">
            <a:avLst/>
          </a:prstGeom>
          <a:noFill/>
          <a:ln/>
        </p:spPr>
        <p:txBody>
          <a:bodyPr wrap="square" lIns="0" tIns="0" rIns="0" bIns="0" rtlCol="0" anchor="ctr"/>
          <a:lstStyle/>
          <a:p>
            <a:pPr indent="0" marL="0">
              <a:buNone/>
            </a:pPr>
            <a:r>
              <a:rPr lang="en-US" sz="1400" b="1" dirty="0">
                <a:solidFill>
                  <a:schemeClr val="tx2"/>
                </a:solidFill>
              </a:rPr>
              <a:t>Variational</a:t>
            </a:r>
            <a:endParaRPr lang="en-US" sz="1400" dirty="0"/>
          </a:p>
        </p:txBody>
      </p:sp>
      <p:sp>
        <p:nvSpPr>
          <p:cNvPr id="28" name="Text 23"/>
          <p:cNvSpPr txBox="1"/>
          <p:nvPr/>
        </p:nvSpPr>
        <p:spPr>
          <a:xfrm>
            <a:off x="6217920" y="3703320"/>
            <a:ext cx="5239512" cy="82296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3D/4D-Var: adjust model over a window to fit all observations (retrospective)</a:t>
            </a:r>
            <a:endParaRPr lang="en-US" sz="1250" dirty="0"/>
          </a:p>
        </p:txBody>
      </p:sp>
      <p:sp>
        <p:nvSpPr>
          <p:cNvPr id="29" name="card"/>
          <p:cNvSpPr/>
          <p:nvPr/>
        </p:nvSpPr>
        <p:spPr>
          <a:xfrm>
            <a:off x="6035040" y="4754880"/>
            <a:ext cx="5605272"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6217920" y="4910328"/>
            <a:ext cx="420624" cy="420624"/>
          </a:xfrm>
          <a:prstGeom prst="ellipse">
            <a:avLst/>
          </a:prstGeom>
          <a:solidFill>
            <a:schemeClr val="accent4"/>
          </a:solidFill>
          <a:ln/>
        </p:spPr>
      </p:sp>
      <p:pic>
        <p:nvPicPr>
          <p:cNvPr id="31" name="Image 2" descr="BalanceScale icon">    </p:cNvPr>
          <p:cNvPicPr>
            <a:picLocks noChangeAspect="1"/>
          </p:cNvPicPr>
          <p:nvPr/>
        </p:nvPicPr>
        <p:blipFill>
          <a:blip r:embed="rId3"/>
          <a:stretch>
            <a:fillRect/>
          </a:stretch>
        </p:blipFill>
        <p:spPr>
          <a:xfrm>
            <a:off x="6327282" y="5019690"/>
            <a:ext cx="201900" cy="201900"/>
          </a:xfrm>
          <a:prstGeom prst="rect">
            <a:avLst/>
          </a:prstGeom>
        </p:spPr>
      </p:pic>
      <p:sp>
        <p:nvSpPr>
          <p:cNvPr id="32" name="Text 26"/>
          <p:cNvSpPr txBox="1"/>
          <p:nvPr/>
        </p:nvSpPr>
        <p:spPr>
          <a:xfrm>
            <a:off x="6748272" y="4892040"/>
            <a:ext cx="4754880" cy="457200"/>
          </a:xfrm>
          <a:prstGeom prst="rect">
            <a:avLst/>
          </a:prstGeom>
          <a:noFill/>
          <a:ln/>
        </p:spPr>
        <p:txBody>
          <a:bodyPr wrap="square" lIns="0" tIns="0" rIns="0" bIns="0" rtlCol="0" anchor="ctr"/>
          <a:lstStyle/>
          <a:p>
            <a:pPr indent="0" marL="0">
              <a:buNone/>
            </a:pPr>
            <a:r>
              <a:rPr lang="en-US" sz="1350" b="1" dirty="0">
                <a:solidFill>
                  <a:schemeClr val="tx2"/>
                </a:solidFill>
              </a:rPr>
              <a:t>Pros and cons (Li et al. 2009)</a:t>
            </a:r>
            <a:endParaRPr lang="en-US" sz="1350" dirty="0"/>
          </a:p>
        </p:txBody>
      </p:sp>
      <p:sp>
        <p:nvSpPr>
          <p:cNvPr id="33" name="Text 27"/>
          <p:cNvSpPr txBox="1"/>
          <p:nvPr/>
        </p:nvSpPr>
        <p:spPr>
          <a:xfrm>
            <a:off x="6217920" y="5440680"/>
            <a:ext cx="5239512" cy="6400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Continuous in time and space, merges sensors · computationally demanding, model-dependent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Scaling: instantaneous to daily and seasonal ET</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one satellite snapshot becomes daily and seasonal ET, with a worked example; spatial scaling between field and region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Instantaneous to daily ET: why and on what assumption</a:t>
            </a:r>
            <a:endParaRPr lang="en-US" sz="3200" dirty="0"/>
          </a:p>
        </p:txBody>
      </p:sp>
      <p:sp>
        <p:nvSpPr>
          <p:cNvPr id="4" name="figure frame"/>
          <p:cNvSpPr/>
          <p:nvPr/>
        </p:nvSpPr>
        <p:spPr>
          <a:xfrm>
            <a:off x="548640" y="1280160"/>
            <a:ext cx="6172200" cy="4507992"/>
          </a:xfrm>
          <a:prstGeom prst="roundRect">
            <a:avLst>
              <a:gd name="adj" fmla="val 1217"/>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Illustrative: fluxes vary strongly, EF ≈ constant on a clear day; dashed lines = overpass times">    </p:cNvPr>
          <p:cNvPicPr>
            <a:picLocks noChangeAspect="1"/>
          </p:cNvPicPr>
          <p:nvPr/>
        </p:nvPicPr>
        <p:blipFill>
          <a:blip r:embed="rId1"/>
          <a:stretch>
            <a:fillRect/>
          </a:stretch>
        </p:blipFill>
        <p:spPr>
          <a:xfrm>
            <a:off x="640080" y="1489022"/>
            <a:ext cx="5989320" cy="4090267"/>
          </a:xfrm>
          <a:prstGeom prst="rect">
            <a:avLst/>
          </a:prstGeom>
        </p:spPr>
      </p:pic>
      <p:sp>
        <p:nvSpPr>
          <p:cNvPr id="6" name="Text 2"/>
          <p:cNvSpPr txBox="1"/>
          <p:nvPr/>
        </p:nvSpPr>
        <p:spPr>
          <a:xfrm>
            <a:off x="548640" y="5833872"/>
            <a:ext cx="6172200" cy="338328"/>
          </a:xfrm>
          <a:prstGeom prst="rect">
            <a:avLst/>
          </a:prstGeom>
          <a:noFill/>
          <a:ln/>
        </p:spPr>
        <p:txBody>
          <a:bodyPr wrap="square" lIns="0" tIns="0" rIns="0" bIns="0" rtlCol="0" anchor="t"/>
          <a:lstStyle/>
          <a:p>
            <a:pPr indent="0" marL="0">
              <a:buNone/>
            </a:pPr>
            <a:r>
              <a:rPr lang="en-US" sz="1100" i="1" dirty="0">
                <a:solidFill>
                  <a:schemeClr val="accent6"/>
                </a:solidFill>
              </a:rPr>
              <a:t>Illustrative: fluxes vary strongly, EF ≈ constant on a clear day; dashed lines = overpass times</a:t>
            </a:r>
            <a:endParaRPr lang="en-US" sz="1100" dirty="0"/>
          </a:p>
        </p:txBody>
      </p:sp>
      <p:sp>
        <p:nvSpPr>
          <p:cNvPr id="7" name="card"/>
          <p:cNvSpPr/>
          <p:nvPr/>
        </p:nvSpPr>
        <p:spPr>
          <a:xfrm>
            <a:off x="6903720" y="1280160"/>
            <a:ext cx="4736592" cy="777240"/>
          </a:xfrm>
          <a:prstGeom prst="roundRect">
            <a:avLst>
              <a:gd name="adj" fmla="val 9412"/>
            </a:avLst>
          </a:prstGeom>
          <a:solidFill>
            <a:schemeClr val="tx2"/>
          </a:solidFill>
          <a:ln/>
          <a:effectLst>
            <a:outerShdw sx="100000" sy="100000" kx="0" ky="0" algn="bl" rotWithShape="0" blurRad="76200" dist="25400" dir="5400000">
              <a:srgbClr val="000000">
                <a:alpha val="14000"/>
              </a:srgbClr>
            </a:outerShdw>
          </a:effectLst>
        </p:spPr>
      </p:sp>
      <p:sp>
        <p:nvSpPr>
          <p:cNvPr id="8" name="Text 4"/>
          <p:cNvSpPr txBox="1"/>
          <p:nvPr/>
        </p:nvSpPr>
        <p:spPr>
          <a:xfrm>
            <a:off x="7040880" y="1280160"/>
            <a:ext cx="4462272" cy="777240"/>
          </a:xfrm>
          <a:prstGeom prst="rect">
            <a:avLst/>
          </a:prstGeom>
          <a:noFill/>
          <a:ln/>
        </p:spPr>
        <p:txBody>
          <a:bodyPr wrap="square" lIns="0" tIns="0" rIns="0" bIns="0" rtlCol="0" anchor="ctr"/>
          <a:lstStyle/>
          <a:p>
            <a:pPr algn="ctr" indent="0" marL="0">
              <a:buNone/>
            </a:pPr>
            <a:r>
              <a:rPr lang="en-US" sz="1800" b="1" dirty="0">
                <a:solidFill>
                  <a:schemeClr val="bg1"/>
                </a:solidFill>
              </a:rPr>
              <a:t>ET</a:t>
            </a:r>
            <a:r>
              <a:rPr lang="en-US" sz="1800" b="1" baseline="-40000" dirty="0">
                <a:solidFill>
                  <a:schemeClr val="bg1"/>
                </a:solidFill>
              </a:rPr>
              <a:t>24</a:t>
            </a:r>
            <a:r>
              <a:rPr lang="en-US" sz="1800" b="1" dirty="0">
                <a:solidFill>
                  <a:schemeClr val="bg1"/>
                </a:solidFill>
              </a:rPr>
              <a:t> = (1/λ) ∫ λE(t) dt</a:t>
            </a:r>
            <a:endParaRPr lang="en-US" sz="1800" dirty="0"/>
          </a:p>
        </p:txBody>
      </p:sp>
      <p:sp>
        <p:nvSpPr>
          <p:cNvPr id="9" name="card"/>
          <p:cNvSpPr/>
          <p:nvPr/>
        </p:nvSpPr>
        <p:spPr>
          <a:xfrm>
            <a:off x="6903720" y="2194560"/>
            <a:ext cx="4736592" cy="1965960"/>
          </a:xfrm>
          <a:prstGeom prst="roundRect">
            <a:avLst>
              <a:gd name="adj" fmla="val 3721"/>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7086600" y="2350008"/>
            <a:ext cx="420624" cy="420624"/>
          </a:xfrm>
          <a:prstGeom prst="ellipse">
            <a:avLst/>
          </a:prstGeom>
          <a:solidFill>
            <a:schemeClr val="accent5"/>
          </a:solidFill>
          <a:ln/>
        </p:spPr>
      </p:sp>
      <p:pic>
        <p:nvPicPr>
          <p:cNvPr id="11" name="Image 1" descr="Clock icon">    </p:cNvPr>
          <p:cNvPicPr>
            <a:picLocks noChangeAspect="1"/>
          </p:cNvPicPr>
          <p:nvPr/>
        </p:nvPicPr>
        <p:blipFill>
          <a:blip r:embed="rId2"/>
          <a:stretch>
            <a:fillRect/>
          </a:stretch>
        </p:blipFill>
        <p:spPr>
          <a:xfrm>
            <a:off x="7195962" y="2459370"/>
            <a:ext cx="201900" cy="201900"/>
          </a:xfrm>
          <a:prstGeom prst="rect">
            <a:avLst/>
          </a:prstGeom>
        </p:spPr>
      </p:pic>
      <p:sp>
        <p:nvSpPr>
          <p:cNvPr id="12" name="Text 7"/>
          <p:cNvSpPr txBox="1"/>
          <p:nvPr/>
        </p:nvSpPr>
        <p:spPr>
          <a:xfrm>
            <a:off x="7616952" y="2331720"/>
            <a:ext cx="3886200" cy="457200"/>
          </a:xfrm>
          <a:prstGeom prst="rect">
            <a:avLst/>
          </a:prstGeom>
          <a:noFill/>
          <a:ln/>
        </p:spPr>
        <p:txBody>
          <a:bodyPr wrap="square" lIns="0" tIns="0" rIns="0" bIns="0" rtlCol="0" anchor="ctr"/>
          <a:lstStyle/>
          <a:p>
            <a:pPr indent="0" marL="0">
              <a:buNone/>
            </a:pPr>
            <a:r>
              <a:rPr lang="en-US" sz="1350" b="1" dirty="0">
                <a:solidFill>
                  <a:schemeClr val="tx2"/>
                </a:solidFill>
              </a:rPr>
              <a:t>Self-preservation</a:t>
            </a:r>
            <a:endParaRPr lang="en-US" sz="1350" dirty="0"/>
          </a:p>
        </p:txBody>
      </p:sp>
      <p:sp>
        <p:nvSpPr>
          <p:cNvPr id="13" name="Text 8"/>
          <p:cNvSpPr txBox="1"/>
          <p:nvPr/>
        </p:nvSpPr>
        <p:spPr>
          <a:xfrm>
            <a:off x="7086600" y="2880360"/>
            <a:ext cx="4370832" cy="118872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Energy partitioning set by slow variables (soil moisture, LAI, r</a:t>
            </a:r>
            <a:r>
              <a:rPr lang="en-US" sz="1200" baseline="-40000" dirty="0">
                <a:solidFill>
                  <a:schemeClr val="tx1"/>
                </a:solidFill>
              </a:rPr>
              <a:t>s</a:t>
            </a:r>
            <a:r>
              <a:rPr lang="en-US" sz="1200" dirty="0">
                <a:solidFill>
                  <a:schemeClr val="tx1"/>
                </a:solidFill>
              </a:rPr>
              <a:t>); Rn and T</a:t>
            </a:r>
            <a:r>
              <a:rPr lang="en-US" sz="1200" baseline="-40000" dirty="0">
                <a:solidFill>
                  <a:schemeClr val="tx1"/>
                </a:solidFill>
              </a:rPr>
              <a:t>s</a:t>
            </a:r>
            <a:r>
              <a:rPr lang="en-US" sz="1200" dirty="0">
                <a:solidFill>
                  <a:schemeClr val="tx1"/>
                </a:solidFill>
              </a:rPr>
              <a:t> change fast</a:t>
            </a:r>
            <a:endParaRPr lang="en-US" sz="1200" dirty="0"/>
          </a:p>
          <a:p>
            <a:pPr marL="177800" indent="-177800">
              <a:spcAft>
                <a:spcPts val="400"/>
              </a:spcAft>
              <a:buSzPct val="100000"/>
              <a:buChar char="•"/>
            </a:pPr>
            <a:r>
              <a:rPr lang="en-US" sz="1200" dirty="0">
                <a:solidFill>
                  <a:schemeClr val="tx1"/>
                </a:solidFill>
              </a:rPr>
              <a:t>Midday vs daily EF: r² = 0.89 on clear days (Hapex-Mobilhy, in Li 2009)</a:t>
            </a:r>
            <a:endParaRPr lang="en-US" sz="1200" dirty="0"/>
          </a:p>
        </p:txBody>
      </p:sp>
      <p:sp>
        <p:nvSpPr>
          <p:cNvPr id="14" name="card"/>
          <p:cNvSpPr/>
          <p:nvPr/>
        </p:nvSpPr>
        <p:spPr>
          <a:xfrm>
            <a:off x="6903720" y="4297680"/>
            <a:ext cx="4736592" cy="1874520"/>
          </a:xfrm>
          <a:prstGeom prst="roundRect">
            <a:avLst>
              <a:gd name="adj" fmla="val 3902"/>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086600" y="4453128"/>
            <a:ext cx="420624" cy="420624"/>
          </a:xfrm>
          <a:prstGeom prst="ellipse">
            <a:avLst/>
          </a:prstGeom>
          <a:solidFill>
            <a:schemeClr val="accent4"/>
          </a:solidFill>
          <a:ln/>
        </p:spPr>
      </p:sp>
      <p:pic>
        <p:nvPicPr>
          <p:cNvPr id="16" name="Image 2" descr="ExclamationTriangle icon">    </p:cNvPr>
          <p:cNvPicPr>
            <a:picLocks noChangeAspect="1"/>
          </p:cNvPicPr>
          <p:nvPr/>
        </p:nvPicPr>
        <p:blipFill>
          <a:blip r:embed="rId3"/>
          <a:stretch>
            <a:fillRect/>
          </a:stretch>
        </p:blipFill>
        <p:spPr>
          <a:xfrm>
            <a:off x="7195962" y="4562490"/>
            <a:ext cx="201900" cy="201900"/>
          </a:xfrm>
          <a:prstGeom prst="rect">
            <a:avLst/>
          </a:prstGeom>
        </p:spPr>
      </p:pic>
      <p:sp>
        <p:nvSpPr>
          <p:cNvPr id="17" name="Text 11"/>
          <p:cNvSpPr txBox="1"/>
          <p:nvPr/>
        </p:nvSpPr>
        <p:spPr>
          <a:xfrm>
            <a:off x="7616952" y="4434840"/>
            <a:ext cx="3886200" cy="457200"/>
          </a:xfrm>
          <a:prstGeom prst="rect">
            <a:avLst/>
          </a:prstGeom>
          <a:noFill/>
          <a:ln/>
        </p:spPr>
        <p:txBody>
          <a:bodyPr wrap="square" lIns="0" tIns="0" rIns="0" bIns="0" rtlCol="0" anchor="ctr"/>
          <a:lstStyle/>
          <a:p>
            <a:pPr indent="0" marL="0">
              <a:buNone/>
            </a:pPr>
            <a:r>
              <a:rPr lang="en-US" sz="1350" b="1" dirty="0">
                <a:solidFill>
                  <a:schemeClr val="tx2"/>
                </a:solidFill>
              </a:rPr>
              <a:t>Where it fails</a:t>
            </a:r>
            <a:endParaRPr lang="en-US" sz="1350" dirty="0"/>
          </a:p>
        </p:txBody>
      </p:sp>
      <p:sp>
        <p:nvSpPr>
          <p:cNvPr id="18" name="Text 12"/>
          <p:cNvSpPr txBox="1"/>
          <p:nvPr/>
        </p:nvSpPr>
        <p:spPr>
          <a:xfrm>
            <a:off x="7086600" y="4983480"/>
            <a:ext cx="4370832" cy="1097280"/>
          </a:xfrm>
          <a:prstGeom prst="rect">
            <a:avLst/>
          </a:prstGeom>
          <a:noFill/>
          <a:ln/>
        </p:spPr>
        <p:txBody>
          <a:bodyPr wrap="square" lIns="508" tIns="508" rIns="508" bIns="508" rtlCol="0" anchor="t"/>
          <a:lstStyle/>
          <a:p>
            <a:pPr marL="177800" indent="-177800">
              <a:spcAft>
                <a:spcPts val="400"/>
              </a:spcAft>
              <a:buSzPct val="100000"/>
              <a:buChar char="•"/>
            </a:pPr>
            <a:r>
              <a:rPr lang="en-US" sz="1200" dirty="0">
                <a:solidFill>
                  <a:schemeClr val="tx1"/>
                </a:solidFill>
              </a:rPr>
              <a:t>EF concave: midday EF slightly low → daily ET under-estimated</a:t>
            </a:r>
            <a:endParaRPr lang="en-US" sz="1200" dirty="0"/>
          </a:p>
          <a:p>
            <a:pPr marL="177800" indent="-177800">
              <a:spcAft>
                <a:spcPts val="400"/>
              </a:spcAft>
              <a:buSzPct val="100000"/>
              <a:buChar char="•"/>
            </a:pPr>
            <a:r>
              <a:rPr lang="en-US" sz="1200" dirty="0">
                <a:solidFill>
                  <a:schemeClr val="tx1"/>
                </a:solidFill>
              </a:rPr>
              <a:t>Night ET ≈ 10% of daily; afternoon advection in arid areas; clouds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Instantaneous to daily ET: the four methods</a:t>
            </a:r>
            <a:endParaRPr lang="en-US" sz="3200" dirty="0"/>
          </a:p>
        </p:txBody>
      </p:sp>
      <p:sp>
        <p:nvSpPr>
          <p:cNvPr id="4" name="card"/>
          <p:cNvSpPr/>
          <p:nvPr/>
        </p:nvSpPr>
        <p:spPr>
          <a:xfrm>
            <a:off x="548640" y="1280160"/>
            <a:ext cx="548640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5" name="accent bar"/>
          <p:cNvSpPr/>
          <p:nvPr/>
        </p:nvSpPr>
        <p:spPr>
          <a:xfrm>
            <a:off x="548640" y="1280160"/>
            <a:ext cx="91440" cy="2331720"/>
          </a:xfrm>
          <a:prstGeom prst="rect">
            <a:avLst/>
          </a:prstGeom>
          <a:solidFill>
            <a:srgbClr val="2E7D4F"/>
          </a:solidFill>
          <a:ln/>
        </p:spPr>
      </p:sp>
      <p:sp>
        <p:nvSpPr>
          <p:cNvPr id="6" name="Text 3"/>
          <p:cNvSpPr txBox="1"/>
          <p:nvPr/>
        </p:nvSpPr>
        <p:spPr>
          <a:xfrm>
            <a:off x="777240" y="1353312"/>
            <a:ext cx="5120640" cy="411480"/>
          </a:xfrm>
          <a:prstGeom prst="rect">
            <a:avLst/>
          </a:prstGeom>
          <a:noFill/>
          <a:ln/>
        </p:spPr>
        <p:txBody>
          <a:bodyPr wrap="square" lIns="0" tIns="0" rIns="0" bIns="0" rtlCol="0" anchor="ctr"/>
          <a:lstStyle/>
          <a:p>
            <a:pPr indent="0" marL="0">
              <a:buNone/>
            </a:pPr>
            <a:r>
              <a:rPr lang="en-US" sz="1450" b="1" dirty="0">
                <a:solidFill>
                  <a:schemeClr val="tx2"/>
                </a:solidFill>
              </a:rPr>
              <a:t>1  Constant EF (Sugita &amp; Brutsaert 1991)</a:t>
            </a:r>
            <a:endParaRPr lang="en-US" sz="1450" dirty="0"/>
          </a:p>
        </p:txBody>
      </p:sp>
      <p:sp>
        <p:nvSpPr>
          <p:cNvPr id="7" name="Text 4"/>
          <p:cNvSpPr txBox="1"/>
          <p:nvPr/>
        </p:nvSpPr>
        <p:spPr>
          <a:xfrm>
            <a:off x="777240" y="1828800"/>
            <a:ext cx="5120640" cy="502920"/>
          </a:xfrm>
          <a:prstGeom prst="rect">
            <a:avLst/>
          </a:prstGeom>
          <a:noFill/>
          <a:ln/>
        </p:spPr>
        <p:txBody>
          <a:bodyPr wrap="square" lIns="0" tIns="0" rIns="0" bIns="0" rtlCol="0" anchor="ctr"/>
          <a:lstStyle/>
          <a:p>
            <a:pPr indent="0" marL="0">
              <a:buNone/>
            </a:pPr>
            <a:r>
              <a:rPr lang="en-US" sz="1300" b="1" dirty="0">
                <a:solidFill>
                  <a:schemeClr val="tx1"/>
                </a:solidFill>
              </a:rPr>
              <a:t>EF</a:t>
            </a:r>
            <a:r>
              <a:rPr lang="en-US" sz="1300" b="1" baseline="-40000" dirty="0">
                <a:solidFill>
                  <a:schemeClr val="tx1"/>
                </a:solidFill>
              </a:rPr>
              <a:t>i</a:t>
            </a:r>
            <a:r>
              <a:rPr lang="en-US" sz="1300" b="1" dirty="0">
                <a:solidFill>
                  <a:schemeClr val="tx1"/>
                </a:solidFill>
              </a:rPr>
              <a:t> = λE</a:t>
            </a:r>
            <a:r>
              <a:rPr lang="en-US" sz="1300" b="1" baseline="-40000" dirty="0">
                <a:solidFill>
                  <a:schemeClr val="tx1"/>
                </a:solidFill>
              </a:rPr>
              <a:t>i</a:t>
            </a:r>
            <a:r>
              <a:rPr lang="en-US" sz="1300" b="1" dirty="0">
                <a:solidFill>
                  <a:schemeClr val="tx1"/>
                </a:solidFill>
              </a:rPr>
              <a:t> / (Rn − G)</a:t>
            </a:r>
            <a:r>
              <a:rPr lang="en-US" sz="1300" b="1" baseline="-40000" dirty="0">
                <a:solidFill>
                  <a:schemeClr val="tx1"/>
                </a:solidFill>
              </a:rPr>
              <a:t>i</a:t>
            </a:r>
            <a:endParaRPr lang="en-US" sz="1300" dirty="0"/>
          </a:p>
        </p:txBody>
      </p:sp>
      <p:sp>
        <p:nvSpPr>
          <p:cNvPr id="8" name="Text 5"/>
          <p:cNvSpPr txBox="1"/>
          <p:nvPr/>
        </p:nvSpPr>
        <p:spPr>
          <a:xfrm>
            <a:off x="777240" y="2377440"/>
            <a:ext cx="5120640" cy="548640"/>
          </a:xfrm>
          <a:prstGeom prst="rect">
            <a:avLst/>
          </a:prstGeom>
          <a:noFill/>
          <a:ln/>
        </p:spPr>
        <p:txBody>
          <a:bodyPr wrap="square" lIns="0" tIns="0" rIns="0" bIns="0" rtlCol="0" anchor="ctr"/>
          <a:lstStyle/>
          <a:p>
            <a:pPr indent="0" marL="0">
              <a:buNone/>
            </a:pPr>
            <a:r>
              <a:rPr lang="en-US" sz="1300" b="1" dirty="0">
                <a:solidFill>
                  <a:srgbClr val="1B4965"/>
                </a:solidFill>
              </a:rPr>
              <a:t>λE</a:t>
            </a:r>
            <a:r>
              <a:rPr lang="en-US" sz="1300" b="1" baseline="-40000" dirty="0">
                <a:solidFill>
                  <a:srgbClr val="1B4965"/>
                </a:solidFill>
              </a:rPr>
              <a:t>24</a:t>
            </a:r>
            <a:r>
              <a:rPr lang="en-US" sz="1300" b="1" dirty="0">
                <a:solidFill>
                  <a:srgbClr val="1B4965"/>
                </a:solidFill>
              </a:rPr>
              <a:t> = EF</a:t>
            </a:r>
            <a:r>
              <a:rPr lang="en-US" sz="1300" b="1" baseline="-40000" dirty="0">
                <a:solidFill>
                  <a:srgbClr val="1B4965"/>
                </a:solidFill>
              </a:rPr>
              <a:t>i</a:t>
            </a:r>
            <a:r>
              <a:rPr lang="en-US" sz="1300" b="1" dirty="0">
                <a:solidFill>
                  <a:srgbClr val="1B4965"/>
                </a:solidFill>
              </a:rPr>
              <a:t> × Rn</a:t>
            </a:r>
            <a:r>
              <a:rPr lang="en-US" sz="1300" b="1" baseline="-40000" dirty="0">
                <a:solidFill>
                  <a:srgbClr val="1B4965"/>
                </a:solidFill>
              </a:rPr>
              <a:t>24</a:t>
            </a:r>
            <a:r>
              <a:rPr lang="en-US" sz="1300" b="1" dirty="0">
                <a:solidFill>
                  <a:srgbClr val="1B4965"/>
                </a:solidFill>
              </a:rPr>
              <a:t>  (G</a:t>
            </a:r>
            <a:r>
              <a:rPr lang="en-US" sz="1300" b="1" baseline="-40000" dirty="0">
                <a:solidFill>
                  <a:srgbClr val="1B4965"/>
                </a:solidFill>
              </a:rPr>
              <a:t>24</a:t>
            </a:r>
            <a:r>
              <a:rPr lang="en-US" sz="1300" b="1" dirty="0">
                <a:solidFill>
                  <a:srgbClr val="1B4965"/>
                </a:solidFill>
              </a:rPr>
              <a:t> ≈ 0);  ALEXI: × 1.1 for night</a:t>
            </a:r>
            <a:endParaRPr lang="en-US" sz="1300" dirty="0"/>
          </a:p>
        </p:txBody>
      </p:sp>
      <p:sp>
        <p:nvSpPr>
          <p:cNvPr id="9" name="Text 6"/>
          <p:cNvSpPr txBox="1"/>
          <p:nvPr/>
        </p:nvSpPr>
        <p:spPr>
          <a:xfrm>
            <a:off x="777240" y="3017520"/>
            <a:ext cx="5120640" cy="457200"/>
          </a:xfrm>
          <a:prstGeom prst="rect">
            <a:avLst/>
          </a:prstGeom>
          <a:noFill/>
          <a:ln/>
        </p:spPr>
        <p:txBody>
          <a:bodyPr wrap="square" lIns="0" tIns="0" rIns="0" bIns="0" rtlCol="0" anchor="ctr"/>
          <a:lstStyle/>
          <a:p>
            <a:pPr indent="0" marL="0">
              <a:buNone/>
            </a:pPr>
            <a:r>
              <a:rPr lang="en-US" sz="1150" i="1" dirty="0">
                <a:solidFill>
                  <a:schemeClr val="accent6"/>
                </a:solidFill>
              </a:rPr>
              <a:t>Used in: SEBAL, SEBS, S-SEBI, triangle</a:t>
            </a:r>
            <a:endParaRPr lang="en-US" sz="1150" dirty="0"/>
          </a:p>
        </p:txBody>
      </p:sp>
      <p:sp>
        <p:nvSpPr>
          <p:cNvPr id="10" name="card"/>
          <p:cNvSpPr/>
          <p:nvPr/>
        </p:nvSpPr>
        <p:spPr>
          <a:xfrm>
            <a:off x="6153912" y="1280160"/>
            <a:ext cx="548640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1" name="accent bar"/>
          <p:cNvSpPr/>
          <p:nvPr/>
        </p:nvSpPr>
        <p:spPr>
          <a:xfrm>
            <a:off x="6153912" y="1280160"/>
            <a:ext cx="91440" cy="2331720"/>
          </a:xfrm>
          <a:prstGeom prst="rect">
            <a:avLst/>
          </a:prstGeom>
          <a:solidFill>
            <a:srgbClr val="6C4F9E"/>
          </a:solidFill>
          <a:ln/>
        </p:spPr>
      </p:sp>
      <p:sp>
        <p:nvSpPr>
          <p:cNvPr id="12" name="Text 9"/>
          <p:cNvSpPr txBox="1"/>
          <p:nvPr/>
        </p:nvSpPr>
        <p:spPr>
          <a:xfrm>
            <a:off x="6382512" y="1353312"/>
            <a:ext cx="5120640" cy="411480"/>
          </a:xfrm>
          <a:prstGeom prst="rect">
            <a:avLst/>
          </a:prstGeom>
          <a:noFill/>
          <a:ln/>
        </p:spPr>
        <p:txBody>
          <a:bodyPr wrap="square" lIns="0" tIns="0" rIns="0" bIns="0" rtlCol="0" anchor="ctr"/>
          <a:lstStyle/>
          <a:p>
            <a:pPr indent="0" marL="0">
              <a:buNone/>
            </a:pPr>
            <a:r>
              <a:rPr lang="en-US" sz="1450" b="1" dirty="0">
                <a:solidFill>
                  <a:schemeClr val="tx2"/>
                </a:solidFill>
              </a:rPr>
              <a:t>2  Constant ETrF (METRIC, Allen 2007)</a:t>
            </a:r>
            <a:endParaRPr lang="en-US" sz="1450" dirty="0"/>
          </a:p>
        </p:txBody>
      </p:sp>
      <p:sp>
        <p:nvSpPr>
          <p:cNvPr id="13" name="Text 10"/>
          <p:cNvSpPr txBox="1"/>
          <p:nvPr/>
        </p:nvSpPr>
        <p:spPr>
          <a:xfrm>
            <a:off x="6382512" y="1828800"/>
            <a:ext cx="5120640" cy="502920"/>
          </a:xfrm>
          <a:prstGeom prst="rect">
            <a:avLst/>
          </a:prstGeom>
          <a:noFill/>
          <a:ln/>
        </p:spPr>
        <p:txBody>
          <a:bodyPr wrap="square" lIns="0" tIns="0" rIns="0" bIns="0" rtlCol="0" anchor="ctr"/>
          <a:lstStyle/>
          <a:p>
            <a:pPr indent="0" marL="0">
              <a:buNone/>
            </a:pPr>
            <a:r>
              <a:rPr lang="en-US" sz="1300" b="1" dirty="0">
                <a:solidFill>
                  <a:schemeClr val="tx1"/>
                </a:solidFill>
              </a:rPr>
              <a:t>ETrF = ET</a:t>
            </a:r>
            <a:r>
              <a:rPr lang="en-US" sz="1300" b="1" baseline="-40000" dirty="0">
                <a:solidFill>
                  <a:schemeClr val="tx1"/>
                </a:solidFill>
              </a:rPr>
              <a:t>inst</a:t>
            </a:r>
            <a:r>
              <a:rPr lang="en-US" sz="1300" b="1" dirty="0">
                <a:solidFill>
                  <a:schemeClr val="tx1"/>
                </a:solidFill>
              </a:rPr>
              <a:t> / ETr</a:t>
            </a:r>
            <a:r>
              <a:rPr lang="en-US" sz="1300" b="1" baseline="-40000" dirty="0">
                <a:solidFill>
                  <a:schemeClr val="tx1"/>
                </a:solidFill>
              </a:rPr>
              <a:t>inst</a:t>
            </a:r>
            <a:endParaRPr lang="en-US" sz="1300" dirty="0"/>
          </a:p>
        </p:txBody>
      </p:sp>
      <p:sp>
        <p:nvSpPr>
          <p:cNvPr id="14" name="Text 11"/>
          <p:cNvSpPr txBox="1"/>
          <p:nvPr/>
        </p:nvSpPr>
        <p:spPr>
          <a:xfrm>
            <a:off x="6382512" y="2377440"/>
            <a:ext cx="5120640" cy="548640"/>
          </a:xfrm>
          <a:prstGeom prst="rect">
            <a:avLst/>
          </a:prstGeom>
          <a:noFill/>
          <a:ln/>
        </p:spPr>
        <p:txBody>
          <a:bodyPr wrap="square" lIns="0" tIns="0" rIns="0" bIns="0" rtlCol="0" anchor="ctr"/>
          <a:lstStyle/>
          <a:p>
            <a:pPr indent="0" marL="0">
              <a:buNone/>
            </a:pPr>
            <a:r>
              <a:rPr lang="en-US" sz="1300" b="1" dirty="0">
                <a:solidFill>
                  <a:srgbClr val="1B4965"/>
                </a:solidFill>
              </a:rPr>
              <a:t>ET</a:t>
            </a:r>
            <a:r>
              <a:rPr lang="en-US" sz="1300" b="1" baseline="-40000" dirty="0">
                <a:solidFill>
                  <a:srgbClr val="1B4965"/>
                </a:solidFill>
              </a:rPr>
              <a:t>24</a:t>
            </a:r>
            <a:r>
              <a:rPr lang="en-US" sz="1300" b="1" dirty="0">
                <a:solidFill>
                  <a:srgbClr val="1B4965"/>
                </a:solidFill>
              </a:rPr>
              <a:t> = C</a:t>
            </a:r>
            <a:r>
              <a:rPr lang="en-US" sz="1300" b="1" baseline="-40000" dirty="0">
                <a:solidFill>
                  <a:srgbClr val="1B4965"/>
                </a:solidFill>
              </a:rPr>
              <a:t>rad</a:t>
            </a:r>
            <a:r>
              <a:rPr lang="en-US" sz="1300" b="1" dirty="0">
                <a:solidFill>
                  <a:srgbClr val="1B4965"/>
                </a:solidFill>
              </a:rPr>
              <a:t> × ETrF × ETr</a:t>
            </a:r>
            <a:r>
              <a:rPr lang="en-US" sz="1300" b="1" baseline="-40000" dirty="0">
                <a:solidFill>
                  <a:srgbClr val="1B4965"/>
                </a:solidFill>
              </a:rPr>
              <a:t>24</a:t>
            </a:r>
            <a:endParaRPr lang="en-US" sz="1300" dirty="0"/>
          </a:p>
        </p:txBody>
      </p:sp>
      <p:sp>
        <p:nvSpPr>
          <p:cNvPr id="15" name="Text 12"/>
          <p:cNvSpPr txBox="1"/>
          <p:nvPr/>
        </p:nvSpPr>
        <p:spPr>
          <a:xfrm>
            <a:off x="6382512" y="3017520"/>
            <a:ext cx="5120640" cy="457200"/>
          </a:xfrm>
          <a:prstGeom prst="rect">
            <a:avLst/>
          </a:prstGeom>
          <a:noFill/>
          <a:ln/>
        </p:spPr>
        <p:txBody>
          <a:bodyPr wrap="square" lIns="0" tIns="0" rIns="0" bIns="0" rtlCol="0" anchor="ctr"/>
          <a:lstStyle/>
          <a:p>
            <a:pPr indent="0" marL="0">
              <a:buNone/>
            </a:pPr>
            <a:r>
              <a:rPr lang="en-US" sz="1150" i="1" dirty="0">
                <a:solidFill>
                  <a:schemeClr val="accent6"/>
                </a:solidFill>
              </a:rPr>
              <a:t>Used in: METRIC; handles advection and wind</a:t>
            </a:r>
            <a:endParaRPr lang="en-US" sz="1150" dirty="0"/>
          </a:p>
        </p:txBody>
      </p:sp>
      <p:sp>
        <p:nvSpPr>
          <p:cNvPr id="16" name="card"/>
          <p:cNvSpPr/>
          <p:nvPr/>
        </p:nvSpPr>
        <p:spPr>
          <a:xfrm>
            <a:off x="548640" y="3767328"/>
            <a:ext cx="548640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7" name="accent bar"/>
          <p:cNvSpPr/>
          <p:nvPr/>
        </p:nvSpPr>
        <p:spPr>
          <a:xfrm>
            <a:off x="548640" y="3767328"/>
            <a:ext cx="91440" cy="2331720"/>
          </a:xfrm>
          <a:prstGeom prst="rect">
            <a:avLst/>
          </a:prstGeom>
          <a:solidFill>
            <a:srgbClr val="3B6EA5"/>
          </a:solidFill>
          <a:ln/>
        </p:spPr>
      </p:sp>
      <p:sp>
        <p:nvSpPr>
          <p:cNvPr id="18" name="Text 15"/>
          <p:cNvSpPr txBox="1"/>
          <p:nvPr/>
        </p:nvSpPr>
        <p:spPr>
          <a:xfrm>
            <a:off x="777240" y="3840480"/>
            <a:ext cx="5120640" cy="411480"/>
          </a:xfrm>
          <a:prstGeom prst="rect">
            <a:avLst/>
          </a:prstGeom>
          <a:noFill/>
          <a:ln/>
        </p:spPr>
        <p:txBody>
          <a:bodyPr wrap="square" lIns="0" tIns="0" rIns="0" bIns="0" rtlCol="0" anchor="ctr"/>
          <a:lstStyle/>
          <a:p>
            <a:pPr indent="0" marL="0">
              <a:buNone/>
            </a:pPr>
            <a:r>
              <a:rPr lang="en-US" sz="1450" b="1" dirty="0">
                <a:solidFill>
                  <a:schemeClr val="tx2"/>
                </a:solidFill>
              </a:rPr>
              <a:t>3  Sine function (Jackson 1983)</a:t>
            </a:r>
            <a:endParaRPr lang="en-US" sz="1450" dirty="0"/>
          </a:p>
        </p:txBody>
      </p:sp>
      <p:sp>
        <p:nvSpPr>
          <p:cNvPr id="19" name="Text 16"/>
          <p:cNvSpPr txBox="1"/>
          <p:nvPr/>
        </p:nvSpPr>
        <p:spPr>
          <a:xfrm>
            <a:off x="777240" y="4315968"/>
            <a:ext cx="5120640" cy="502920"/>
          </a:xfrm>
          <a:prstGeom prst="rect">
            <a:avLst/>
          </a:prstGeom>
          <a:noFill/>
          <a:ln/>
        </p:spPr>
        <p:txBody>
          <a:bodyPr wrap="square" lIns="0" tIns="0" rIns="0" bIns="0" rtlCol="0" anchor="ctr"/>
          <a:lstStyle/>
          <a:p>
            <a:pPr indent="0" marL="0">
              <a:buNone/>
            </a:pPr>
            <a:r>
              <a:rPr lang="en-US" sz="1300" b="1" dirty="0">
                <a:solidFill>
                  <a:schemeClr val="tx1"/>
                </a:solidFill>
              </a:rPr>
              <a:t>ET</a:t>
            </a:r>
            <a:r>
              <a:rPr lang="en-US" sz="1300" b="1" baseline="-40000" dirty="0">
                <a:solidFill>
                  <a:schemeClr val="tx1"/>
                </a:solidFill>
              </a:rPr>
              <a:t>d</a:t>
            </a:r>
            <a:r>
              <a:rPr lang="en-US" sz="1300" b="1" dirty="0">
                <a:solidFill>
                  <a:schemeClr val="tx1"/>
                </a:solidFill>
              </a:rPr>
              <a:t> / ET</a:t>
            </a:r>
            <a:r>
              <a:rPr lang="en-US" sz="1300" b="1" baseline="-40000" dirty="0">
                <a:solidFill>
                  <a:schemeClr val="tx1"/>
                </a:solidFill>
              </a:rPr>
              <a:t>i</a:t>
            </a:r>
            <a:r>
              <a:rPr lang="en-US" sz="1300" b="1" dirty="0">
                <a:solidFill>
                  <a:schemeClr val="tx1"/>
                </a:solidFill>
              </a:rPr>
              <a:t> = 2N / [π·sin(πt/N)]</a:t>
            </a:r>
            <a:endParaRPr lang="en-US" sz="1300" dirty="0"/>
          </a:p>
        </p:txBody>
      </p:sp>
      <p:sp>
        <p:nvSpPr>
          <p:cNvPr id="20" name="Text 17"/>
          <p:cNvSpPr txBox="1"/>
          <p:nvPr/>
        </p:nvSpPr>
        <p:spPr>
          <a:xfrm>
            <a:off x="777240" y="4864608"/>
            <a:ext cx="5120640" cy="548640"/>
          </a:xfrm>
          <a:prstGeom prst="rect">
            <a:avLst/>
          </a:prstGeom>
          <a:noFill/>
          <a:ln/>
        </p:spPr>
        <p:txBody>
          <a:bodyPr wrap="square" lIns="0" tIns="0" rIns="0" bIns="0" rtlCol="0" anchor="ctr"/>
          <a:lstStyle/>
          <a:p>
            <a:pPr indent="0" marL="0">
              <a:buNone/>
            </a:pPr>
            <a:r>
              <a:rPr lang="en-US" sz="1300" b="1" dirty="0">
                <a:solidFill>
                  <a:srgbClr val="1B4965"/>
                </a:solidFill>
              </a:rPr>
              <a:t>N = day length (h), t = hours since sunrise</a:t>
            </a:r>
            <a:endParaRPr lang="en-US" sz="1300" dirty="0"/>
          </a:p>
        </p:txBody>
      </p:sp>
      <p:sp>
        <p:nvSpPr>
          <p:cNvPr id="21" name="Text 18"/>
          <p:cNvSpPr txBox="1"/>
          <p:nvPr/>
        </p:nvSpPr>
        <p:spPr>
          <a:xfrm>
            <a:off x="777240" y="5504688"/>
            <a:ext cx="5120640" cy="457200"/>
          </a:xfrm>
          <a:prstGeom prst="rect">
            <a:avLst/>
          </a:prstGeom>
          <a:noFill/>
          <a:ln/>
        </p:spPr>
        <p:txBody>
          <a:bodyPr wrap="square" lIns="0" tIns="0" rIns="0" bIns="0" rtlCol="0" anchor="ctr"/>
          <a:lstStyle/>
          <a:p>
            <a:pPr indent="0" marL="0">
              <a:buNone/>
            </a:pPr>
            <a:r>
              <a:rPr lang="en-US" sz="1150" i="1" dirty="0">
                <a:solidFill>
                  <a:schemeClr val="accent6"/>
                </a:solidFill>
              </a:rPr>
              <a:t>Used in: Clear days; MODIS, Landsat</a:t>
            </a:r>
            <a:endParaRPr lang="en-US" sz="1150" dirty="0"/>
          </a:p>
        </p:txBody>
      </p:sp>
      <p:sp>
        <p:nvSpPr>
          <p:cNvPr id="22" name="card"/>
          <p:cNvSpPr/>
          <p:nvPr/>
        </p:nvSpPr>
        <p:spPr>
          <a:xfrm>
            <a:off x="6153912" y="3767328"/>
            <a:ext cx="548640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3" name="accent bar"/>
          <p:cNvSpPr/>
          <p:nvPr/>
        </p:nvSpPr>
        <p:spPr>
          <a:xfrm>
            <a:off x="6153912" y="3767328"/>
            <a:ext cx="91440" cy="2331720"/>
          </a:xfrm>
          <a:prstGeom prst="rect">
            <a:avLst/>
          </a:prstGeom>
          <a:solidFill>
            <a:srgbClr val="C0702A"/>
          </a:solidFill>
          <a:ln/>
        </p:spPr>
      </p:sp>
      <p:sp>
        <p:nvSpPr>
          <p:cNvPr id="24" name="Text 21"/>
          <p:cNvSpPr txBox="1"/>
          <p:nvPr/>
        </p:nvSpPr>
        <p:spPr>
          <a:xfrm>
            <a:off x="6382512" y="3840480"/>
            <a:ext cx="5120640" cy="411480"/>
          </a:xfrm>
          <a:prstGeom prst="rect">
            <a:avLst/>
          </a:prstGeom>
          <a:noFill/>
          <a:ln/>
        </p:spPr>
        <p:txBody>
          <a:bodyPr wrap="square" lIns="0" tIns="0" rIns="0" bIns="0" rtlCol="0" anchor="ctr"/>
          <a:lstStyle/>
          <a:p>
            <a:pPr indent="0" marL="0">
              <a:buNone/>
            </a:pPr>
            <a:r>
              <a:rPr lang="en-US" sz="1450" b="1" dirty="0">
                <a:solidFill>
                  <a:schemeClr val="tx2"/>
                </a:solidFill>
              </a:rPr>
              <a:t>4  Geostationary integration</a:t>
            </a:r>
            <a:endParaRPr lang="en-US" sz="1450" dirty="0"/>
          </a:p>
        </p:txBody>
      </p:sp>
      <p:sp>
        <p:nvSpPr>
          <p:cNvPr id="25" name="Text 22"/>
          <p:cNvSpPr txBox="1"/>
          <p:nvPr/>
        </p:nvSpPr>
        <p:spPr>
          <a:xfrm>
            <a:off x="6382512" y="4315968"/>
            <a:ext cx="5120640" cy="502920"/>
          </a:xfrm>
          <a:prstGeom prst="rect">
            <a:avLst/>
          </a:prstGeom>
          <a:noFill/>
          <a:ln/>
        </p:spPr>
        <p:txBody>
          <a:bodyPr wrap="square" lIns="0" tIns="0" rIns="0" bIns="0" rtlCol="0" anchor="ctr"/>
          <a:lstStyle/>
          <a:p>
            <a:pPr indent="0" marL="0">
              <a:buNone/>
            </a:pPr>
            <a:r>
              <a:rPr lang="en-US" sz="1300" b="1" dirty="0">
                <a:solidFill>
                  <a:schemeClr val="tx1"/>
                </a:solidFill>
              </a:rPr>
              <a:t>Λ</a:t>
            </a:r>
            <a:r>
              <a:rPr lang="en-US" sz="1300" b="1" baseline="-40000" dirty="0">
                <a:solidFill>
                  <a:schemeClr val="tx1"/>
                </a:solidFill>
              </a:rPr>
              <a:t>d</a:t>
            </a:r>
            <a:r>
              <a:rPr lang="en-US" sz="1300" b="1" dirty="0">
                <a:solidFill>
                  <a:schemeClr val="tx1"/>
                </a:solidFill>
              </a:rPr>
              <a:t> ≈ Λ</a:t>
            </a:r>
            <a:r>
              <a:rPr lang="en-US" sz="1300" b="1" baseline="-40000" dirty="0">
                <a:solidFill>
                  <a:schemeClr val="tx1"/>
                </a:solidFill>
              </a:rPr>
              <a:t>noon</a:t>
            </a:r>
            <a:r>
              <a:rPr lang="en-US" sz="1300" b="1" dirty="0">
                <a:solidFill>
                  <a:schemeClr val="tx1"/>
                </a:solidFill>
              </a:rPr>
              <a:t>;  Q</a:t>
            </a:r>
            <a:r>
              <a:rPr lang="en-US" sz="1300" b="1" baseline="-40000" dirty="0">
                <a:solidFill>
                  <a:schemeClr val="tx1"/>
                </a:solidFill>
              </a:rPr>
              <a:t>d</a:t>
            </a:r>
            <a:r>
              <a:rPr lang="en-US" sz="1300" b="1" dirty="0">
                <a:solidFill>
                  <a:schemeClr val="tx1"/>
                </a:solidFill>
              </a:rPr>
              <a:t> = 2Q</a:t>
            </a:r>
            <a:r>
              <a:rPr lang="en-US" sz="1300" b="1" baseline="-40000" dirty="0">
                <a:solidFill>
                  <a:schemeClr val="tx1"/>
                </a:solidFill>
              </a:rPr>
              <a:t>noon</a:t>
            </a:r>
            <a:r>
              <a:rPr lang="en-US" sz="1300" b="1" dirty="0">
                <a:solidFill>
                  <a:schemeClr val="tx1"/>
                </a:solidFill>
              </a:rPr>
              <a:t> / [π·sin(π(t</a:t>
            </a:r>
            <a:r>
              <a:rPr lang="en-US" sz="1300" b="1" baseline="-40000" dirty="0">
                <a:solidFill>
                  <a:schemeClr val="tx1"/>
                </a:solidFill>
              </a:rPr>
              <a:t>sat</a:t>
            </a:r>
            <a:r>
              <a:rPr lang="en-US" sz="1300" b="1" dirty="0">
                <a:solidFill>
                  <a:schemeClr val="tx1"/>
                </a:solidFill>
              </a:rPr>
              <a:t> − t</a:t>
            </a:r>
            <a:r>
              <a:rPr lang="en-US" sz="1300" b="1" baseline="-40000" dirty="0">
                <a:solidFill>
                  <a:schemeClr val="tx1"/>
                </a:solidFill>
              </a:rPr>
              <a:t>rise</a:t>
            </a:r>
            <a:r>
              <a:rPr lang="en-US" sz="1300" b="1" dirty="0">
                <a:solidFill>
                  <a:schemeClr val="tx1"/>
                </a:solidFill>
              </a:rPr>
              <a:t>)/(t</a:t>
            </a:r>
            <a:r>
              <a:rPr lang="en-US" sz="1300" b="1" baseline="-40000" dirty="0">
                <a:solidFill>
                  <a:schemeClr val="tx1"/>
                </a:solidFill>
              </a:rPr>
              <a:t>set</a:t>
            </a:r>
            <a:r>
              <a:rPr lang="en-US" sz="1300" b="1" dirty="0">
                <a:solidFill>
                  <a:schemeClr val="tx1"/>
                </a:solidFill>
              </a:rPr>
              <a:t> − t</a:t>
            </a:r>
            <a:r>
              <a:rPr lang="en-US" sz="1300" b="1" baseline="-40000" dirty="0">
                <a:solidFill>
                  <a:schemeClr val="tx1"/>
                </a:solidFill>
              </a:rPr>
              <a:t>rise</a:t>
            </a:r>
            <a:r>
              <a:rPr lang="en-US" sz="1300" b="1" dirty="0">
                <a:solidFill>
                  <a:schemeClr val="tx1"/>
                </a:solidFill>
              </a:rPr>
              <a:t>))]</a:t>
            </a:r>
            <a:endParaRPr lang="en-US" sz="1300" dirty="0"/>
          </a:p>
        </p:txBody>
      </p:sp>
      <p:sp>
        <p:nvSpPr>
          <p:cNvPr id="26" name="Text 23"/>
          <p:cNvSpPr txBox="1"/>
          <p:nvPr/>
        </p:nvSpPr>
        <p:spPr>
          <a:xfrm>
            <a:off x="6382512" y="4864608"/>
            <a:ext cx="5120640" cy="548640"/>
          </a:xfrm>
          <a:prstGeom prst="rect">
            <a:avLst/>
          </a:prstGeom>
          <a:noFill/>
          <a:ln/>
        </p:spPr>
        <p:txBody>
          <a:bodyPr wrap="square" lIns="0" tIns="0" rIns="0" bIns="0" rtlCol="0" anchor="ctr"/>
          <a:lstStyle/>
          <a:p>
            <a:pPr indent="0" marL="0">
              <a:buNone/>
            </a:pPr>
            <a:r>
              <a:rPr lang="en-US" sz="1300" b="1" dirty="0">
                <a:solidFill>
                  <a:srgbClr val="1B4965"/>
                </a:solidFill>
              </a:rPr>
              <a:t>or sum half-hourly λE (INSAT-3D)</a:t>
            </a:r>
            <a:endParaRPr lang="en-US" sz="1300" dirty="0"/>
          </a:p>
        </p:txBody>
      </p:sp>
      <p:sp>
        <p:nvSpPr>
          <p:cNvPr id="27" name="Text 24"/>
          <p:cNvSpPr txBox="1"/>
          <p:nvPr/>
        </p:nvSpPr>
        <p:spPr>
          <a:xfrm>
            <a:off x="6382512" y="5504688"/>
            <a:ext cx="5120640" cy="457200"/>
          </a:xfrm>
          <a:prstGeom prst="rect">
            <a:avLst/>
          </a:prstGeom>
          <a:noFill/>
          <a:ln/>
        </p:spPr>
        <p:txBody>
          <a:bodyPr wrap="square" lIns="0" tIns="0" rIns="0" bIns="0" rtlCol="0" anchor="ctr"/>
          <a:lstStyle/>
          <a:p>
            <a:pPr indent="0" marL="0">
              <a:buNone/>
            </a:pPr>
            <a:r>
              <a:rPr lang="en-US" sz="1150" i="1" dirty="0">
                <a:solidFill>
                  <a:schemeClr val="accent6"/>
                </a:solidFill>
              </a:rPr>
              <a:t>Used in: Kalpana-1 (SAC); ALEXI</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Worked example: from a Landsat snapshot to mm per day</a:t>
            </a:r>
            <a:endParaRPr lang="en-US" sz="3200" dirty="0"/>
          </a:p>
        </p:txBody>
      </p:sp>
      <p:sp>
        <p:nvSpPr>
          <p:cNvPr id="4" name="card"/>
          <p:cNvSpPr/>
          <p:nvPr/>
        </p:nvSpPr>
        <p:spPr>
          <a:xfrm>
            <a:off x="548640" y="1280160"/>
            <a:ext cx="3657600" cy="4892040"/>
          </a:xfrm>
          <a:prstGeom prst="roundRect">
            <a:avLst>
              <a:gd name="adj" fmla="val 2000"/>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371600"/>
            <a:ext cx="3291840" cy="365760"/>
          </a:xfrm>
          <a:prstGeom prst="rect">
            <a:avLst/>
          </a:prstGeom>
          <a:noFill/>
          <a:ln/>
        </p:spPr>
        <p:txBody>
          <a:bodyPr wrap="square" lIns="0" tIns="0" rIns="0" bIns="0" rtlCol="0" anchor="ctr"/>
          <a:lstStyle/>
          <a:p>
            <a:pPr algn="l" indent="0" marL="0">
              <a:buNone/>
            </a:pPr>
            <a:r>
              <a:rPr lang="en-US" sz="1500" b="1" dirty="0">
                <a:solidFill>
                  <a:schemeClr val="tx2"/>
                </a:solidFill>
              </a:rPr>
              <a:t>At overpass (11:00)</a:t>
            </a:r>
            <a:endParaRPr lang="en-US" sz="1500" dirty="0"/>
          </a:p>
        </p:txBody>
      </p:sp>
      <p:sp>
        <p:nvSpPr>
          <p:cNvPr id="6" name="Text 3"/>
          <p:cNvSpPr txBox="1"/>
          <p:nvPr/>
        </p:nvSpPr>
        <p:spPr>
          <a:xfrm>
            <a:off x="731520" y="1828800"/>
            <a:ext cx="3291840" cy="4206240"/>
          </a:xfrm>
          <a:prstGeom prst="rect">
            <a:avLst/>
          </a:prstGeom>
          <a:noFill/>
          <a:ln/>
        </p:spPr>
        <p:txBody>
          <a:bodyPr wrap="square" lIns="508" tIns="508" rIns="508" bIns="508" rtlCol="0" anchor="t"/>
          <a:lstStyle/>
          <a:p>
            <a:pPr indent="0" marL="0">
              <a:spcAft>
                <a:spcPts val="800"/>
              </a:spcAft>
              <a:buNone/>
            </a:pPr>
            <a:r>
              <a:rPr lang="en-US" sz="1400" dirty="0">
                <a:solidFill>
                  <a:schemeClr val="tx1"/>
                </a:solidFill>
              </a:rPr>
              <a:t>Rn = 600 W m⁻²</a:t>
            </a:r>
            <a:endParaRPr lang="en-US" sz="1400" dirty="0"/>
          </a:p>
          <a:p>
            <a:pPr indent="0" marL="0">
              <a:spcAft>
                <a:spcPts val="800"/>
              </a:spcAft>
              <a:buNone/>
            </a:pPr>
            <a:r>
              <a:rPr lang="en-US" sz="1400" dirty="0">
                <a:solidFill>
                  <a:schemeClr val="tx1"/>
                </a:solidFill>
              </a:rPr>
              <a:t>G = 60 W m⁻²</a:t>
            </a:r>
            <a:endParaRPr lang="en-US" sz="1400" dirty="0"/>
          </a:p>
          <a:p>
            <a:pPr indent="0" marL="0">
              <a:spcAft>
                <a:spcPts val="800"/>
              </a:spcAft>
              <a:buNone/>
            </a:pPr>
            <a:r>
              <a:rPr lang="en-US" sz="1400" dirty="0">
                <a:solidFill>
                  <a:schemeClr val="tx1"/>
                </a:solidFill>
              </a:rPr>
              <a:t>H = 150 W m⁻²</a:t>
            </a:r>
            <a:endParaRPr lang="en-US" sz="1400" dirty="0"/>
          </a:p>
          <a:p>
            <a:pPr indent="0" marL="0">
              <a:spcAft>
                <a:spcPts val="800"/>
              </a:spcAft>
              <a:buNone/>
            </a:pPr>
            <a:r>
              <a:rPr lang="en-US" sz="1400" dirty="0">
                <a:solidFill>
                  <a:schemeClr val="tx1"/>
                </a:solidFill>
              </a:rPr>
              <a:t>λE = 600 − 60 − 150 = </a:t>
            </a:r>
            <a:r>
              <a:rPr lang="en-US" sz="1400" b="1" dirty="0">
                <a:solidFill>
                  <a:schemeClr val="tx1"/>
                </a:solidFill>
              </a:rPr>
              <a:t>390 W m⁻²</a:t>
            </a:r>
            <a:endParaRPr lang="en-US" sz="1400" dirty="0"/>
          </a:p>
          <a:p>
            <a:pPr indent="0" marL="0">
              <a:spcAft>
                <a:spcPts val="800"/>
              </a:spcAft>
              <a:buNone/>
            </a:pPr>
            <a:r>
              <a:rPr lang="en-US" sz="1400" dirty="0">
                <a:solidFill>
                  <a:schemeClr val="accent1"/>
                </a:solidFill>
              </a:rPr>
              <a:t>EF = 390 / 540 = </a:t>
            </a:r>
            <a:r>
              <a:rPr lang="en-US" sz="1400" b="1" dirty="0">
                <a:solidFill>
                  <a:schemeClr val="accent1"/>
                </a:solidFill>
              </a:rPr>
              <a:t>0.72</a:t>
            </a:r>
            <a:endParaRPr lang="en-US" sz="1400" dirty="0"/>
          </a:p>
          <a:p>
            <a:pPr indent="0" marL="0">
              <a:spcAft>
                <a:spcPts val="800"/>
              </a:spcAft>
              <a:buNone/>
            </a:pPr>
            <a:r>
              <a:rPr lang="en-US" sz="1300" dirty="0">
                <a:solidFill>
                  <a:schemeClr val="tx1"/>
                </a:solidFill>
              </a:rPr>
              <a:t>ET</a:t>
            </a:r>
            <a:r>
              <a:rPr lang="en-US" sz="1300" baseline="-40000" dirty="0">
                <a:solidFill>
                  <a:schemeClr val="tx1"/>
                </a:solidFill>
              </a:rPr>
              <a:t>inst</a:t>
            </a:r>
            <a:r>
              <a:rPr lang="en-US" sz="1300" dirty="0">
                <a:solidFill>
                  <a:schemeClr val="tx1"/>
                </a:solidFill>
              </a:rPr>
              <a:t> = 390 × 3600 / 2.45×10⁶</a:t>
            </a:r>
            <a:endParaRPr lang="en-US" sz="1400" dirty="0"/>
          </a:p>
          <a:p>
            <a:pPr indent="0" marL="0">
              <a:spcAft>
                <a:spcPts val="800"/>
              </a:spcAft>
              <a:buNone/>
            </a:pPr>
            <a:r>
              <a:rPr lang="en-US" sz="1400" dirty="0">
                <a:solidFill>
                  <a:schemeClr val="accent2"/>
                </a:solidFill>
              </a:rPr>
              <a:t>= </a:t>
            </a:r>
            <a:r>
              <a:rPr lang="en-US" sz="1400" b="1" dirty="0">
                <a:solidFill>
                  <a:schemeClr val="accent2"/>
                </a:solidFill>
              </a:rPr>
              <a:t>0.57 mm h⁻¹</a:t>
            </a:r>
            <a:endParaRPr lang="en-US" sz="1400" dirty="0"/>
          </a:p>
        </p:txBody>
      </p:sp>
      <p:sp>
        <p:nvSpPr>
          <p:cNvPr id="7" name="card"/>
          <p:cNvSpPr/>
          <p:nvPr/>
        </p:nvSpPr>
        <p:spPr>
          <a:xfrm>
            <a:off x="4343400" y="1280160"/>
            <a:ext cx="729691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8" name="accent bar"/>
          <p:cNvSpPr/>
          <p:nvPr/>
        </p:nvSpPr>
        <p:spPr>
          <a:xfrm>
            <a:off x="4343400" y="1280160"/>
            <a:ext cx="91440" cy="1261872"/>
          </a:xfrm>
          <a:prstGeom prst="rect">
            <a:avLst/>
          </a:prstGeom>
          <a:solidFill>
            <a:srgbClr val="2E7D4F"/>
          </a:solidFill>
          <a:ln/>
        </p:spPr>
      </p:sp>
      <p:sp>
        <p:nvSpPr>
          <p:cNvPr id="9" name="Text 6"/>
          <p:cNvSpPr txBox="1"/>
          <p:nvPr/>
        </p:nvSpPr>
        <p:spPr>
          <a:xfrm>
            <a:off x="4572000" y="1335024"/>
            <a:ext cx="2926080" cy="365760"/>
          </a:xfrm>
          <a:prstGeom prst="rect">
            <a:avLst/>
          </a:prstGeom>
          <a:noFill/>
          <a:ln/>
        </p:spPr>
        <p:txBody>
          <a:bodyPr wrap="square" lIns="0" tIns="0" rIns="0" bIns="0" rtlCol="0" anchor="ctr"/>
          <a:lstStyle/>
          <a:p>
            <a:pPr indent="0" marL="0">
              <a:buNone/>
            </a:pPr>
            <a:r>
              <a:rPr lang="en-US" sz="1400" b="1" dirty="0">
                <a:solidFill>
                  <a:schemeClr val="tx2"/>
                </a:solidFill>
              </a:rPr>
              <a:t>Method 1: constant EF</a:t>
            </a:r>
            <a:endParaRPr lang="en-US" sz="1400" dirty="0"/>
          </a:p>
        </p:txBody>
      </p:sp>
      <p:sp>
        <p:nvSpPr>
          <p:cNvPr id="10" name="Text 7"/>
          <p:cNvSpPr txBox="1"/>
          <p:nvPr/>
        </p:nvSpPr>
        <p:spPr>
          <a:xfrm>
            <a:off x="4572000" y="1737360"/>
            <a:ext cx="4206240" cy="777240"/>
          </a:xfrm>
          <a:prstGeom prst="rect">
            <a:avLst/>
          </a:prstGeom>
          <a:noFill/>
          <a:ln/>
        </p:spPr>
        <p:txBody>
          <a:bodyPr wrap="square" lIns="508" tIns="508" rIns="508" bIns="508" rtlCol="0" anchor="t"/>
          <a:lstStyle/>
          <a:p>
            <a:pPr indent="0" marL="0">
              <a:spcAft>
                <a:spcPts val="200"/>
              </a:spcAft>
              <a:buNone/>
            </a:pPr>
            <a:r>
              <a:rPr lang="en-US" sz="1200" dirty="0">
                <a:solidFill>
                  <a:schemeClr val="tx1"/>
                </a:solidFill>
              </a:rPr>
              <a:t>Rn</a:t>
            </a:r>
            <a:r>
              <a:rPr lang="en-US" sz="1200" baseline="-40000" dirty="0">
                <a:solidFill>
                  <a:schemeClr val="tx1"/>
                </a:solidFill>
              </a:rPr>
              <a:t>24</a:t>
            </a:r>
            <a:r>
              <a:rPr lang="en-US" sz="1200" dirty="0">
                <a:solidFill>
                  <a:schemeClr val="tx1"/>
                </a:solidFill>
              </a:rPr>
              <a:t> = 13.5 MJ m⁻² d⁻¹, G</a:t>
            </a:r>
            <a:r>
              <a:rPr lang="en-US" sz="1200" baseline="-40000" dirty="0">
                <a:solidFill>
                  <a:schemeClr val="tx1"/>
                </a:solidFill>
              </a:rPr>
              <a:t>24</a:t>
            </a:r>
            <a:r>
              <a:rPr lang="en-US" sz="1200" dirty="0">
                <a:solidFill>
                  <a:schemeClr val="tx1"/>
                </a:solidFill>
              </a:rPr>
              <a:t> ≈ 0</a:t>
            </a:r>
            <a:endParaRPr lang="en-US" sz="1200" dirty="0"/>
          </a:p>
          <a:p>
            <a:pPr indent="0" marL="0">
              <a:spcAft>
                <a:spcPts val="200"/>
              </a:spcAft>
              <a:buNone/>
            </a:pPr>
            <a:r>
              <a:rPr lang="en-US" sz="1200" dirty="0">
                <a:solidFill>
                  <a:schemeClr val="tx1"/>
                </a:solidFill>
              </a:rPr>
              <a:t>λE</a:t>
            </a:r>
            <a:r>
              <a:rPr lang="en-US" sz="1200" baseline="-40000" dirty="0">
                <a:solidFill>
                  <a:schemeClr val="tx1"/>
                </a:solidFill>
              </a:rPr>
              <a:t>24</a:t>
            </a:r>
            <a:r>
              <a:rPr lang="en-US" sz="1200" dirty="0">
                <a:solidFill>
                  <a:schemeClr val="tx1"/>
                </a:solidFill>
              </a:rPr>
              <a:t> = 0.72 × 13.5 = 9.75 MJ m⁻² d⁻¹</a:t>
            </a:r>
            <a:endParaRPr lang="en-US" sz="1200" dirty="0"/>
          </a:p>
        </p:txBody>
      </p:sp>
      <p:sp>
        <p:nvSpPr>
          <p:cNvPr id="11" name="Text 8"/>
          <p:cNvSpPr txBox="1"/>
          <p:nvPr/>
        </p:nvSpPr>
        <p:spPr>
          <a:xfrm>
            <a:off x="8823960" y="1645920"/>
            <a:ext cx="2743200" cy="731520"/>
          </a:xfrm>
          <a:prstGeom prst="rect">
            <a:avLst/>
          </a:prstGeom>
          <a:noFill/>
          <a:ln/>
        </p:spPr>
        <p:txBody>
          <a:bodyPr wrap="square" lIns="0" tIns="0" rIns="0" bIns="0" rtlCol="0" anchor="ctr"/>
          <a:lstStyle/>
          <a:p>
            <a:pPr indent="0" marL="0">
              <a:buNone/>
            </a:pPr>
            <a:r>
              <a:rPr lang="en-US" sz="1500" dirty="0">
                <a:solidFill>
                  <a:schemeClr val="tx1"/>
                </a:solidFill>
              </a:rPr>
              <a:t>ET</a:t>
            </a:r>
            <a:r>
              <a:rPr lang="en-US" sz="1500" baseline="-40000" dirty="0">
                <a:solidFill>
                  <a:schemeClr val="tx1"/>
                </a:solidFill>
              </a:rPr>
              <a:t>24</a:t>
            </a:r>
            <a:r>
              <a:rPr lang="en-US" sz="1500" dirty="0">
                <a:solidFill>
                  <a:schemeClr val="tx1"/>
                </a:solidFill>
              </a:rPr>
              <a:t> = 9.75 / 2.45 = </a:t>
            </a:r>
            <a:r>
              <a:rPr lang="en-US" sz="1500" b="1" dirty="0">
                <a:solidFill>
                  <a:schemeClr val="tx1"/>
                </a:solidFill>
              </a:rPr>
              <a:t>4.0 mm d⁻¹</a:t>
            </a:r>
            <a:endParaRPr lang="en-US" sz="1500" dirty="0"/>
          </a:p>
        </p:txBody>
      </p:sp>
      <p:sp>
        <p:nvSpPr>
          <p:cNvPr id="12" name="card"/>
          <p:cNvSpPr/>
          <p:nvPr/>
        </p:nvSpPr>
        <p:spPr>
          <a:xfrm>
            <a:off x="4343400" y="2651760"/>
            <a:ext cx="729691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13" name="accent bar"/>
          <p:cNvSpPr/>
          <p:nvPr/>
        </p:nvSpPr>
        <p:spPr>
          <a:xfrm>
            <a:off x="4343400" y="2651760"/>
            <a:ext cx="91440" cy="1261872"/>
          </a:xfrm>
          <a:prstGeom prst="rect">
            <a:avLst/>
          </a:prstGeom>
          <a:solidFill>
            <a:srgbClr val="6C4F9E"/>
          </a:solidFill>
          <a:ln/>
        </p:spPr>
      </p:sp>
      <p:sp>
        <p:nvSpPr>
          <p:cNvPr id="14" name="Text 11"/>
          <p:cNvSpPr txBox="1"/>
          <p:nvPr/>
        </p:nvSpPr>
        <p:spPr>
          <a:xfrm>
            <a:off x="4572000" y="2706624"/>
            <a:ext cx="2926080" cy="365760"/>
          </a:xfrm>
          <a:prstGeom prst="rect">
            <a:avLst/>
          </a:prstGeom>
          <a:noFill/>
          <a:ln/>
        </p:spPr>
        <p:txBody>
          <a:bodyPr wrap="square" lIns="0" tIns="0" rIns="0" bIns="0" rtlCol="0" anchor="ctr"/>
          <a:lstStyle/>
          <a:p>
            <a:pPr indent="0" marL="0">
              <a:buNone/>
            </a:pPr>
            <a:r>
              <a:rPr lang="en-US" sz="1400" b="1" dirty="0">
                <a:solidFill>
                  <a:schemeClr val="tx2"/>
                </a:solidFill>
              </a:rPr>
              <a:t>Method 2: constant ETrF</a:t>
            </a:r>
            <a:endParaRPr lang="en-US" sz="1400" dirty="0"/>
          </a:p>
        </p:txBody>
      </p:sp>
      <p:sp>
        <p:nvSpPr>
          <p:cNvPr id="15" name="Text 12"/>
          <p:cNvSpPr txBox="1"/>
          <p:nvPr/>
        </p:nvSpPr>
        <p:spPr>
          <a:xfrm>
            <a:off x="4572000" y="3108960"/>
            <a:ext cx="4206240" cy="777240"/>
          </a:xfrm>
          <a:prstGeom prst="rect">
            <a:avLst/>
          </a:prstGeom>
          <a:noFill/>
          <a:ln/>
        </p:spPr>
        <p:txBody>
          <a:bodyPr wrap="square" lIns="508" tIns="508" rIns="508" bIns="508" rtlCol="0" anchor="t"/>
          <a:lstStyle/>
          <a:p>
            <a:pPr indent="0" marL="0">
              <a:spcAft>
                <a:spcPts val="200"/>
              </a:spcAft>
              <a:buNone/>
            </a:pPr>
            <a:r>
              <a:rPr lang="en-US" sz="1200" dirty="0">
                <a:solidFill>
                  <a:schemeClr val="tx1"/>
                </a:solidFill>
              </a:rPr>
              <a:t>ETr</a:t>
            </a:r>
            <a:r>
              <a:rPr lang="en-US" sz="1200" baseline="-40000" dirty="0">
                <a:solidFill>
                  <a:schemeClr val="tx1"/>
                </a:solidFill>
              </a:rPr>
              <a:t>inst</a:t>
            </a:r>
            <a:r>
              <a:rPr lang="en-US" sz="1200" dirty="0">
                <a:solidFill>
                  <a:schemeClr val="tx1"/>
                </a:solidFill>
              </a:rPr>
              <a:t> = 0.75 mm h⁻¹ → ETrF = 0.57/0.75 = 0.76</a:t>
            </a:r>
            <a:endParaRPr lang="en-US" sz="1200" dirty="0"/>
          </a:p>
          <a:p>
            <a:pPr indent="0" marL="0">
              <a:spcAft>
                <a:spcPts val="200"/>
              </a:spcAft>
              <a:buNone/>
            </a:pPr>
            <a:r>
              <a:rPr lang="en-US" sz="1200" dirty="0">
                <a:solidFill>
                  <a:schemeClr val="tx1"/>
                </a:solidFill>
              </a:rPr>
              <a:t>ETr</a:t>
            </a:r>
            <a:r>
              <a:rPr lang="en-US" sz="1200" baseline="-40000" dirty="0">
                <a:solidFill>
                  <a:schemeClr val="tx1"/>
                </a:solidFill>
              </a:rPr>
              <a:t>24</a:t>
            </a:r>
            <a:r>
              <a:rPr lang="en-US" sz="1200" dirty="0">
                <a:solidFill>
                  <a:schemeClr val="tx1"/>
                </a:solidFill>
              </a:rPr>
              <a:t> = 6.0 mm d⁻¹</a:t>
            </a:r>
            <a:endParaRPr lang="en-US" sz="1200" dirty="0"/>
          </a:p>
        </p:txBody>
      </p:sp>
      <p:sp>
        <p:nvSpPr>
          <p:cNvPr id="16" name="Text 13"/>
          <p:cNvSpPr txBox="1"/>
          <p:nvPr/>
        </p:nvSpPr>
        <p:spPr>
          <a:xfrm>
            <a:off x="8823960" y="3017520"/>
            <a:ext cx="2743200" cy="731520"/>
          </a:xfrm>
          <a:prstGeom prst="rect">
            <a:avLst/>
          </a:prstGeom>
          <a:noFill/>
          <a:ln/>
        </p:spPr>
        <p:txBody>
          <a:bodyPr wrap="square" lIns="0" tIns="0" rIns="0" bIns="0" rtlCol="0" anchor="ctr"/>
          <a:lstStyle/>
          <a:p>
            <a:pPr indent="0" marL="0">
              <a:buNone/>
            </a:pPr>
            <a:r>
              <a:rPr lang="en-US" sz="1500" dirty="0">
                <a:solidFill>
                  <a:schemeClr val="tx1"/>
                </a:solidFill>
              </a:rPr>
              <a:t>ET</a:t>
            </a:r>
            <a:r>
              <a:rPr lang="en-US" sz="1500" baseline="-40000" dirty="0">
                <a:solidFill>
                  <a:schemeClr val="tx1"/>
                </a:solidFill>
              </a:rPr>
              <a:t>24</a:t>
            </a:r>
            <a:r>
              <a:rPr lang="en-US" sz="1500" dirty="0">
                <a:solidFill>
                  <a:schemeClr val="tx1"/>
                </a:solidFill>
              </a:rPr>
              <a:t> = 0.76 × 6.0 = </a:t>
            </a:r>
            <a:r>
              <a:rPr lang="en-US" sz="1500" b="1" dirty="0">
                <a:solidFill>
                  <a:schemeClr val="tx1"/>
                </a:solidFill>
              </a:rPr>
              <a:t>4.6 mm d⁻¹</a:t>
            </a:r>
            <a:endParaRPr lang="en-US" sz="1500" dirty="0"/>
          </a:p>
        </p:txBody>
      </p:sp>
      <p:sp>
        <p:nvSpPr>
          <p:cNvPr id="17" name="card"/>
          <p:cNvSpPr/>
          <p:nvPr/>
        </p:nvSpPr>
        <p:spPr>
          <a:xfrm>
            <a:off x="4343400" y="4023360"/>
            <a:ext cx="7296912" cy="1261872"/>
          </a:xfrm>
          <a:prstGeom prst="roundRect">
            <a:avLst>
              <a:gd name="adj" fmla="val 5797"/>
            </a:avLst>
          </a:prstGeom>
          <a:solidFill>
            <a:schemeClr val="bg2"/>
          </a:solidFill>
          <a:ln/>
          <a:effectLst>
            <a:outerShdw sx="100000" sy="100000" kx="0" ky="0" algn="bl" rotWithShape="0" blurRad="76200" dist="25400" dir="5400000">
              <a:srgbClr val="000000">
                <a:alpha val="14000"/>
              </a:srgbClr>
            </a:outerShdw>
          </a:effectLst>
        </p:spPr>
      </p:sp>
      <p:sp>
        <p:nvSpPr>
          <p:cNvPr id="18" name="accent bar"/>
          <p:cNvSpPr/>
          <p:nvPr/>
        </p:nvSpPr>
        <p:spPr>
          <a:xfrm>
            <a:off x="4343400" y="4023360"/>
            <a:ext cx="91440" cy="1261872"/>
          </a:xfrm>
          <a:prstGeom prst="rect">
            <a:avLst/>
          </a:prstGeom>
          <a:solidFill>
            <a:srgbClr val="3B6EA5"/>
          </a:solidFill>
          <a:ln/>
        </p:spPr>
      </p:sp>
      <p:sp>
        <p:nvSpPr>
          <p:cNvPr id="19" name="Text 16"/>
          <p:cNvSpPr txBox="1"/>
          <p:nvPr/>
        </p:nvSpPr>
        <p:spPr>
          <a:xfrm>
            <a:off x="4572000" y="4078224"/>
            <a:ext cx="2926080" cy="365760"/>
          </a:xfrm>
          <a:prstGeom prst="rect">
            <a:avLst/>
          </a:prstGeom>
          <a:noFill/>
          <a:ln/>
        </p:spPr>
        <p:txBody>
          <a:bodyPr wrap="square" lIns="0" tIns="0" rIns="0" bIns="0" rtlCol="0" anchor="ctr"/>
          <a:lstStyle/>
          <a:p>
            <a:pPr indent="0" marL="0">
              <a:buNone/>
            </a:pPr>
            <a:r>
              <a:rPr lang="en-US" sz="1400" b="1" dirty="0">
                <a:solidFill>
                  <a:schemeClr val="tx2"/>
                </a:solidFill>
              </a:rPr>
              <a:t>Method 3: sine function</a:t>
            </a:r>
            <a:endParaRPr lang="en-US" sz="1400" dirty="0"/>
          </a:p>
        </p:txBody>
      </p:sp>
      <p:sp>
        <p:nvSpPr>
          <p:cNvPr id="20" name="Text 17"/>
          <p:cNvSpPr txBox="1"/>
          <p:nvPr/>
        </p:nvSpPr>
        <p:spPr>
          <a:xfrm>
            <a:off x="4572000" y="4480560"/>
            <a:ext cx="4206240" cy="777240"/>
          </a:xfrm>
          <a:prstGeom prst="rect">
            <a:avLst/>
          </a:prstGeom>
          <a:noFill/>
          <a:ln/>
        </p:spPr>
        <p:txBody>
          <a:bodyPr wrap="square" lIns="508" tIns="508" rIns="508" bIns="508" rtlCol="0" anchor="t"/>
          <a:lstStyle/>
          <a:p>
            <a:pPr indent="0" marL="0">
              <a:spcAft>
                <a:spcPts val="200"/>
              </a:spcAft>
              <a:buNone/>
            </a:pPr>
            <a:r>
              <a:rPr lang="en-US" sz="1200" dirty="0">
                <a:solidFill>
                  <a:schemeClr val="tx1"/>
                </a:solidFill>
              </a:rPr>
              <a:t>N = 12 h, t = 5 h → 2N/[π sin(5π/12)] = 7.9 h</a:t>
            </a:r>
            <a:endParaRPr lang="en-US" sz="1200" dirty="0"/>
          </a:p>
          <a:p>
            <a:pPr indent="0" marL="0">
              <a:spcAft>
                <a:spcPts val="200"/>
              </a:spcAft>
              <a:buNone/>
            </a:pPr>
            <a:r>
              <a:rPr lang="en-US" sz="1200" dirty="0">
                <a:solidFill>
                  <a:schemeClr val="tx1"/>
                </a:solidFill>
              </a:rPr>
              <a:t>ET</a:t>
            </a:r>
            <a:r>
              <a:rPr lang="en-US" sz="1200" baseline="-40000" dirty="0">
                <a:solidFill>
                  <a:schemeClr val="tx1"/>
                </a:solidFill>
              </a:rPr>
              <a:t>d</a:t>
            </a:r>
            <a:r>
              <a:rPr lang="en-US" sz="1200" dirty="0">
                <a:solidFill>
                  <a:schemeClr val="tx1"/>
                </a:solidFill>
              </a:rPr>
              <a:t> = 0.57 × 7.9</a:t>
            </a:r>
            <a:endParaRPr lang="en-US" sz="1200" dirty="0"/>
          </a:p>
        </p:txBody>
      </p:sp>
      <p:sp>
        <p:nvSpPr>
          <p:cNvPr id="21" name="Text 18"/>
          <p:cNvSpPr txBox="1"/>
          <p:nvPr/>
        </p:nvSpPr>
        <p:spPr>
          <a:xfrm>
            <a:off x="8823960" y="4389120"/>
            <a:ext cx="2743200" cy="731520"/>
          </a:xfrm>
          <a:prstGeom prst="rect">
            <a:avLst/>
          </a:prstGeom>
          <a:noFill/>
          <a:ln/>
        </p:spPr>
        <p:txBody>
          <a:bodyPr wrap="square" lIns="0" tIns="0" rIns="0" bIns="0" rtlCol="0" anchor="ctr"/>
          <a:lstStyle/>
          <a:p>
            <a:pPr indent="0" marL="0">
              <a:buNone/>
            </a:pPr>
            <a:r>
              <a:rPr lang="en-US" sz="1500" dirty="0">
                <a:solidFill>
                  <a:schemeClr val="tx1"/>
                </a:solidFill>
              </a:rPr>
              <a:t>ET</a:t>
            </a:r>
            <a:r>
              <a:rPr lang="en-US" sz="1500" baseline="-40000" dirty="0">
                <a:solidFill>
                  <a:schemeClr val="tx1"/>
                </a:solidFill>
              </a:rPr>
              <a:t>d</a:t>
            </a:r>
            <a:r>
              <a:rPr lang="en-US" sz="1500" dirty="0">
                <a:solidFill>
                  <a:schemeClr val="tx1"/>
                </a:solidFill>
              </a:rPr>
              <a:t> ≈ </a:t>
            </a:r>
            <a:r>
              <a:rPr lang="en-US" sz="1500" b="1" dirty="0">
                <a:solidFill>
                  <a:schemeClr val="tx1"/>
                </a:solidFill>
              </a:rPr>
              <a:t>4.5 mm d⁻¹</a:t>
            </a:r>
            <a:r>
              <a:rPr lang="en-US" sz="1500" dirty="0">
                <a:solidFill>
                  <a:schemeClr val="tx1"/>
                </a:solidFill>
              </a:rPr>
              <a:t> (daytime)</a:t>
            </a:r>
            <a:endParaRPr lang="en-US" sz="1500" dirty="0"/>
          </a:p>
        </p:txBody>
      </p:sp>
      <p:sp>
        <p:nvSpPr>
          <p:cNvPr id="22" name="insight"/>
          <p:cNvSpPr/>
          <p:nvPr/>
        </p:nvSpPr>
        <p:spPr>
          <a:xfrm>
            <a:off x="4343400" y="5440680"/>
            <a:ext cx="7296912" cy="731520"/>
          </a:xfrm>
          <a:prstGeom prst="roundRect">
            <a:avLst>
              <a:gd name="adj" fmla="val 10000"/>
            </a:avLst>
          </a:prstGeom>
          <a:solidFill>
            <a:schemeClr val="bg2"/>
          </a:solidFill>
          <a:ln/>
        </p:spPr>
      </p:sp>
      <p:sp>
        <p:nvSpPr>
          <p:cNvPr id="23" name="icon circle"/>
          <p:cNvSpPr/>
          <p:nvPr/>
        </p:nvSpPr>
        <p:spPr>
          <a:xfrm>
            <a:off x="4480560" y="5568696"/>
            <a:ext cx="475488" cy="475488"/>
          </a:xfrm>
          <a:prstGeom prst="ellipse">
            <a:avLst/>
          </a:prstGeom>
          <a:solidFill>
            <a:schemeClr val="accent3"/>
          </a:solidFill>
          <a:ln/>
        </p:spPr>
      </p:sp>
      <p:pic>
        <p:nvPicPr>
          <p:cNvPr id="24" name="Image 0" descr="Lightbulb icon">    </p:cNvPr>
          <p:cNvPicPr>
            <a:picLocks noChangeAspect="1"/>
          </p:cNvPicPr>
          <p:nvPr/>
        </p:nvPicPr>
        <p:blipFill>
          <a:blip r:embed="rId1"/>
          <a:stretch>
            <a:fillRect/>
          </a:stretch>
        </p:blipFill>
        <p:spPr>
          <a:xfrm>
            <a:off x="4604187" y="5692323"/>
            <a:ext cx="228234" cy="228234"/>
          </a:xfrm>
          <a:prstGeom prst="rect">
            <a:avLst/>
          </a:prstGeom>
        </p:spPr>
      </p:pic>
      <p:sp>
        <p:nvSpPr>
          <p:cNvPr id="25" name="Text 21"/>
          <p:cNvSpPr txBox="1"/>
          <p:nvPr/>
        </p:nvSpPr>
        <p:spPr>
          <a:xfrm>
            <a:off x="5120640" y="5477256"/>
            <a:ext cx="6382512" cy="658368"/>
          </a:xfrm>
          <a:prstGeom prst="rect">
            <a:avLst/>
          </a:prstGeom>
          <a:noFill/>
          <a:ln/>
        </p:spPr>
        <p:txBody>
          <a:bodyPr wrap="square" lIns="508" tIns="508" rIns="508" bIns="508" rtlCol="0" anchor="ctr"/>
          <a:lstStyle/>
          <a:p>
            <a:pPr indent="0" marL="0">
              <a:spcAft>
                <a:spcPts val="600"/>
              </a:spcAft>
              <a:buNone/>
            </a:pPr>
            <a:r>
              <a:rPr lang="en-US" sz="1350" dirty="0">
                <a:solidFill>
                  <a:schemeClr val="tx1"/>
                </a:solidFill>
              </a:rPr>
              <a:t>Methods differ by ~15%: EF misses afternoon demand; ETrF captures advection. Useful constants: λ = 2.45 MJ kg⁻¹; 1 mm d⁻¹ ≈ 28.4 W m⁻²</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Seasonal gap filling and spatial scaling</a:t>
            </a:r>
            <a:endParaRPr lang="en-US" sz="3200" dirty="0"/>
          </a:p>
        </p:txBody>
      </p:sp>
      <p:sp>
        <p:nvSpPr>
          <p:cNvPr id="4" name="card"/>
          <p:cNvSpPr/>
          <p:nvPr/>
        </p:nvSpPr>
        <p:spPr>
          <a:xfrm>
            <a:off x="548640" y="1280160"/>
            <a:ext cx="3749040" cy="4892040"/>
          </a:xfrm>
          <a:prstGeom prst="roundRect">
            <a:avLst>
              <a:gd name="adj" fmla="val 1951"/>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35608"/>
            <a:ext cx="420624" cy="420624"/>
          </a:xfrm>
          <a:prstGeom prst="ellipse">
            <a:avLst/>
          </a:prstGeom>
          <a:solidFill>
            <a:schemeClr val="accent5"/>
          </a:solidFill>
          <a:ln/>
        </p:spPr>
      </p:sp>
      <p:pic>
        <p:nvPicPr>
          <p:cNvPr id="6" name="Image 0" descr="Clock icon">    </p:cNvPr>
          <p:cNvPicPr>
            <a:picLocks noChangeAspect="1"/>
          </p:cNvPicPr>
          <p:nvPr/>
        </p:nvPicPr>
        <p:blipFill>
          <a:blip r:embed="rId1"/>
          <a:stretch>
            <a:fillRect/>
          </a:stretch>
        </p:blipFill>
        <p:spPr>
          <a:xfrm>
            <a:off x="840882" y="1544970"/>
            <a:ext cx="201900" cy="201900"/>
          </a:xfrm>
          <a:prstGeom prst="rect">
            <a:avLst/>
          </a:prstGeom>
        </p:spPr>
      </p:pic>
      <p:sp>
        <p:nvSpPr>
          <p:cNvPr id="7" name="Text 3"/>
          <p:cNvSpPr txBox="1"/>
          <p:nvPr/>
        </p:nvSpPr>
        <p:spPr>
          <a:xfrm>
            <a:off x="1261872" y="1417320"/>
            <a:ext cx="2898648" cy="457200"/>
          </a:xfrm>
          <a:prstGeom prst="rect">
            <a:avLst/>
          </a:prstGeom>
          <a:noFill/>
          <a:ln/>
        </p:spPr>
        <p:txBody>
          <a:bodyPr wrap="square" lIns="0" tIns="0" rIns="0" bIns="0" rtlCol="0" anchor="ctr"/>
          <a:lstStyle/>
          <a:p>
            <a:pPr indent="0" marL="0">
              <a:buNone/>
            </a:pPr>
            <a:r>
              <a:rPr lang="en-US" sz="1600" b="1" dirty="0">
                <a:solidFill>
                  <a:schemeClr val="tx2"/>
                </a:solidFill>
              </a:rPr>
              <a:t>Time: daily → seasonal</a:t>
            </a:r>
            <a:endParaRPr lang="en-US" sz="1600" dirty="0"/>
          </a:p>
        </p:txBody>
      </p:sp>
      <p:sp>
        <p:nvSpPr>
          <p:cNvPr id="8" name="Text 4"/>
          <p:cNvSpPr txBox="1"/>
          <p:nvPr/>
        </p:nvSpPr>
        <p:spPr>
          <a:xfrm>
            <a:off x="731520" y="1965960"/>
            <a:ext cx="3383280" cy="41148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Interpolate EF, ETrF or Kc</a:t>
            </a:r>
            <a:r>
              <a:rPr lang="en-US" sz="1250" baseline="-40000" dirty="0">
                <a:solidFill>
                  <a:schemeClr val="tx1"/>
                </a:solidFill>
              </a:rPr>
              <a:t>act</a:t>
            </a:r>
            <a:r>
              <a:rPr lang="en-US" sz="1250" dirty="0">
                <a:solidFill>
                  <a:schemeClr val="tx1"/>
                </a:solidFill>
              </a:rPr>
              <a:t> between clear images × daily ET</a:t>
            </a:r>
            <a:r>
              <a:rPr lang="en-US" sz="1250" baseline="-40000" dirty="0">
                <a:solidFill>
                  <a:schemeClr val="tx1"/>
                </a:solidFill>
              </a:rPr>
              <a:t>0</a:t>
            </a:r>
            <a:endParaRPr lang="en-US" sz="1250" dirty="0"/>
          </a:p>
          <a:p>
            <a:pPr marL="177800" indent="-177800">
              <a:spcAft>
                <a:spcPts val="400"/>
              </a:spcAft>
              <a:buSzPct val="100000"/>
              <a:buChar char="•"/>
            </a:pPr>
            <a:r>
              <a:rPr lang="en-US" sz="1250" dirty="0">
                <a:solidFill>
                  <a:schemeClr val="tx1"/>
                </a:solidFill>
              </a:rPr>
              <a:t>Composite (8-day Kalpana-1, MODIS)</a:t>
            </a:r>
            <a:endParaRPr lang="en-US" sz="1250" dirty="0"/>
          </a:p>
          <a:p>
            <a:pPr marL="177800" indent="-177800">
              <a:spcAft>
                <a:spcPts val="400"/>
              </a:spcAft>
              <a:buSzPct val="100000"/>
              <a:buChar char="•"/>
            </a:pPr>
            <a:r>
              <a:rPr lang="en-US" sz="1250" dirty="0">
                <a:solidFill>
                  <a:schemeClr val="tx1"/>
                </a:solidFill>
              </a:rPr>
              <a:t>Fusion (STARFM), geostationary frequency</a:t>
            </a:r>
            <a:endParaRPr lang="en-US" sz="1250" dirty="0"/>
          </a:p>
          <a:p>
            <a:pPr marL="177800" indent="-177800">
              <a:spcAft>
                <a:spcPts val="400"/>
              </a:spcAft>
              <a:buSzPct val="100000"/>
              <a:buChar char="•"/>
            </a:pPr>
            <a:r>
              <a:rPr lang="en-US" sz="1250" dirty="0">
                <a:solidFill>
                  <a:schemeClr val="tx1"/>
                </a:solidFill>
              </a:rPr>
              <a:t>Microwave soil moisture and LSM data assimilation (EnKF) for cloudy days</a:t>
            </a:r>
            <a:endParaRPr lang="en-US" sz="1250" dirty="0"/>
          </a:p>
        </p:txBody>
      </p:sp>
      <p:sp>
        <p:nvSpPr>
          <p:cNvPr id="9" name="card"/>
          <p:cNvSpPr/>
          <p:nvPr/>
        </p:nvSpPr>
        <p:spPr>
          <a:xfrm>
            <a:off x="4434840" y="1280160"/>
            <a:ext cx="3337560" cy="4892040"/>
          </a:xfrm>
          <a:prstGeom prst="roundRect">
            <a:avLst>
              <a:gd name="adj" fmla="val 2192"/>
            </a:avLst>
          </a:prstGeom>
          <a:solidFill>
            <a:schemeClr val="bg1"/>
          </a:solidFill>
          <a:ln w="15875">
            <a:solidFill>
              <a:schemeClr val="bg2"/>
            </a:solidFill>
            <a:prstDash val="solid"/>
          </a:ln>
          <a:effectLst>
            <a:outerShdw sx="100000" sy="100000" kx="0" ky="0" algn="bl" rotWithShape="0" blurRad="76200" dist="25400" dir="5400000">
              <a:srgbClr val="000000">
                <a:alpha val="14000"/>
              </a:srgbClr>
            </a:outerShdw>
          </a:effectLst>
        </p:spPr>
      </p:sp>
      <p:sp>
        <p:nvSpPr>
          <p:cNvPr id="10" name="Text 6"/>
          <p:cNvSpPr txBox="1"/>
          <p:nvPr/>
        </p:nvSpPr>
        <p:spPr>
          <a:xfrm>
            <a:off x="4572000" y="1353312"/>
            <a:ext cx="3108960" cy="320040"/>
          </a:xfrm>
          <a:prstGeom prst="rect">
            <a:avLst/>
          </a:prstGeom>
          <a:noFill/>
          <a:ln/>
        </p:spPr>
        <p:txBody>
          <a:bodyPr wrap="square" lIns="0" tIns="0" rIns="0" bIns="0" rtlCol="0" anchor="ctr"/>
          <a:lstStyle/>
          <a:p>
            <a:pPr algn="l" indent="0" marL="0">
              <a:buNone/>
            </a:pPr>
            <a:r>
              <a:rPr lang="en-US" sz="1300" b="1" dirty="0">
                <a:solidFill>
                  <a:schemeClr val="tx2"/>
                </a:solidFill>
              </a:rPr>
              <a:t>Nested pixel scales</a:t>
            </a:r>
            <a:endParaRPr lang="en-US" sz="1300" dirty="0"/>
          </a:p>
        </p:txBody>
      </p:sp>
      <p:sp>
        <p:nvSpPr>
          <p:cNvPr id="11" name="8 km pixel"/>
          <p:cNvSpPr/>
          <p:nvPr/>
        </p:nvSpPr>
        <p:spPr>
          <a:xfrm>
            <a:off x="4800600" y="1874520"/>
            <a:ext cx="2606040" cy="2606040"/>
          </a:xfrm>
          <a:prstGeom prst="rect">
            <a:avLst/>
          </a:prstGeom>
          <a:solidFill>
            <a:srgbClr val="F3E7D9"/>
          </a:solidFill>
          <a:ln w="25400">
            <a:solidFill>
              <a:srgbClr val="C0702A"/>
            </a:solidFill>
            <a:prstDash val="solid"/>
          </a:ln>
        </p:spPr>
      </p:sp>
      <p:sp>
        <p:nvSpPr>
          <p:cNvPr id="12" name="arrow"/>
          <p:cNvSpPr/>
          <p:nvPr/>
        </p:nvSpPr>
        <p:spPr>
          <a:xfrm>
            <a:off x="5452110" y="1874520"/>
            <a:ext cx="0" cy="2606040"/>
          </a:xfrm>
          <a:prstGeom prst="line">
            <a:avLst/>
          </a:prstGeom>
          <a:noFill/>
          <a:ln w="9525">
            <a:solidFill>
              <a:srgbClr val="D9B48F"/>
            </a:solidFill>
            <a:prstDash val="solid"/>
          </a:ln>
        </p:spPr>
      </p:sp>
      <p:sp>
        <p:nvSpPr>
          <p:cNvPr id="13" name="arrow"/>
          <p:cNvSpPr/>
          <p:nvPr/>
        </p:nvSpPr>
        <p:spPr>
          <a:xfrm>
            <a:off x="4800600" y="2526030"/>
            <a:ext cx="2606040" cy="0"/>
          </a:xfrm>
          <a:prstGeom prst="line">
            <a:avLst/>
          </a:prstGeom>
          <a:noFill/>
          <a:ln w="9525">
            <a:solidFill>
              <a:srgbClr val="D9B48F"/>
            </a:solidFill>
            <a:prstDash val="solid"/>
          </a:ln>
        </p:spPr>
      </p:sp>
      <p:sp>
        <p:nvSpPr>
          <p:cNvPr id="14" name="arrow"/>
          <p:cNvSpPr/>
          <p:nvPr/>
        </p:nvSpPr>
        <p:spPr>
          <a:xfrm>
            <a:off x="6103620" y="1874520"/>
            <a:ext cx="0" cy="2606040"/>
          </a:xfrm>
          <a:prstGeom prst="line">
            <a:avLst/>
          </a:prstGeom>
          <a:noFill/>
          <a:ln w="9525">
            <a:solidFill>
              <a:srgbClr val="D9B48F"/>
            </a:solidFill>
            <a:prstDash val="solid"/>
          </a:ln>
        </p:spPr>
      </p:sp>
      <p:sp>
        <p:nvSpPr>
          <p:cNvPr id="15" name="arrow"/>
          <p:cNvSpPr/>
          <p:nvPr/>
        </p:nvSpPr>
        <p:spPr>
          <a:xfrm>
            <a:off x="4800600" y="3177540"/>
            <a:ext cx="2606040" cy="0"/>
          </a:xfrm>
          <a:prstGeom prst="line">
            <a:avLst/>
          </a:prstGeom>
          <a:noFill/>
          <a:ln w="9525">
            <a:solidFill>
              <a:srgbClr val="D9B48F"/>
            </a:solidFill>
            <a:prstDash val="solid"/>
          </a:ln>
        </p:spPr>
      </p:sp>
      <p:sp>
        <p:nvSpPr>
          <p:cNvPr id="16" name="arrow"/>
          <p:cNvSpPr/>
          <p:nvPr/>
        </p:nvSpPr>
        <p:spPr>
          <a:xfrm>
            <a:off x="6755130" y="1874520"/>
            <a:ext cx="0" cy="2606040"/>
          </a:xfrm>
          <a:prstGeom prst="line">
            <a:avLst/>
          </a:prstGeom>
          <a:noFill/>
          <a:ln w="9525">
            <a:solidFill>
              <a:srgbClr val="D9B48F"/>
            </a:solidFill>
            <a:prstDash val="solid"/>
          </a:ln>
        </p:spPr>
      </p:sp>
      <p:sp>
        <p:nvSpPr>
          <p:cNvPr id="17" name="arrow"/>
          <p:cNvSpPr/>
          <p:nvPr/>
        </p:nvSpPr>
        <p:spPr>
          <a:xfrm>
            <a:off x="4800600" y="3829050"/>
            <a:ext cx="2606040" cy="0"/>
          </a:xfrm>
          <a:prstGeom prst="line">
            <a:avLst/>
          </a:prstGeom>
          <a:noFill/>
          <a:ln w="9525">
            <a:solidFill>
              <a:srgbClr val="D9B48F"/>
            </a:solidFill>
            <a:prstDash val="solid"/>
          </a:ln>
        </p:spPr>
      </p:sp>
      <p:sp>
        <p:nvSpPr>
          <p:cNvPr id="18" name="1 km pixel"/>
          <p:cNvSpPr/>
          <p:nvPr/>
        </p:nvSpPr>
        <p:spPr>
          <a:xfrm>
            <a:off x="4800600" y="1874520"/>
            <a:ext cx="651510" cy="651510"/>
          </a:xfrm>
          <a:prstGeom prst="rect">
            <a:avLst/>
          </a:prstGeom>
          <a:solidFill>
            <a:srgbClr val="CFE3D4"/>
          </a:solidFill>
          <a:ln w="25400">
            <a:solidFill>
              <a:srgbClr val="2E7D4F"/>
            </a:solidFill>
            <a:prstDash val="solid"/>
          </a:ln>
        </p:spPr>
      </p:sp>
      <p:sp>
        <p:nvSpPr>
          <p:cNvPr id="19" name="arrow"/>
          <p:cNvSpPr/>
          <p:nvPr/>
        </p:nvSpPr>
        <p:spPr>
          <a:xfrm>
            <a:off x="4963363" y="1874520"/>
            <a:ext cx="0" cy="651510"/>
          </a:xfrm>
          <a:prstGeom prst="line">
            <a:avLst/>
          </a:prstGeom>
          <a:noFill/>
          <a:ln w="6350">
            <a:solidFill>
              <a:srgbClr val="2E7D4F"/>
            </a:solidFill>
            <a:prstDash val="solid"/>
          </a:ln>
        </p:spPr>
      </p:sp>
      <p:sp>
        <p:nvSpPr>
          <p:cNvPr id="20" name="arrow"/>
          <p:cNvSpPr/>
          <p:nvPr/>
        </p:nvSpPr>
        <p:spPr>
          <a:xfrm>
            <a:off x="4800600" y="2037283"/>
            <a:ext cx="651510" cy="0"/>
          </a:xfrm>
          <a:prstGeom prst="line">
            <a:avLst/>
          </a:prstGeom>
          <a:noFill/>
          <a:ln w="6350">
            <a:solidFill>
              <a:srgbClr val="2E7D4F"/>
            </a:solidFill>
            <a:prstDash val="solid"/>
          </a:ln>
        </p:spPr>
      </p:sp>
      <p:sp>
        <p:nvSpPr>
          <p:cNvPr id="21" name="arrow"/>
          <p:cNvSpPr/>
          <p:nvPr/>
        </p:nvSpPr>
        <p:spPr>
          <a:xfrm>
            <a:off x="5126126" y="1874520"/>
            <a:ext cx="0" cy="651510"/>
          </a:xfrm>
          <a:prstGeom prst="line">
            <a:avLst/>
          </a:prstGeom>
          <a:noFill/>
          <a:ln w="6350">
            <a:solidFill>
              <a:srgbClr val="2E7D4F"/>
            </a:solidFill>
            <a:prstDash val="solid"/>
          </a:ln>
        </p:spPr>
      </p:sp>
      <p:sp>
        <p:nvSpPr>
          <p:cNvPr id="22" name="arrow"/>
          <p:cNvSpPr/>
          <p:nvPr/>
        </p:nvSpPr>
        <p:spPr>
          <a:xfrm>
            <a:off x="4800600" y="2200046"/>
            <a:ext cx="651510" cy="0"/>
          </a:xfrm>
          <a:prstGeom prst="line">
            <a:avLst/>
          </a:prstGeom>
          <a:noFill/>
          <a:ln w="6350">
            <a:solidFill>
              <a:srgbClr val="2E7D4F"/>
            </a:solidFill>
            <a:prstDash val="solid"/>
          </a:ln>
        </p:spPr>
      </p:sp>
      <p:sp>
        <p:nvSpPr>
          <p:cNvPr id="23" name="arrow"/>
          <p:cNvSpPr/>
          <p:nvPr/>
        </p:nvSpPr>
        <p:spPr>
          <a:xfrm>
            <a:off x="5288890" y="1874520"/>
            <a:ext cx="0" cy="651510"/>
          </a:xfrm>
          <a:prstGeom prst="line">
            <a:avLst/>
          </a:prstGeom>
          <a:noFill/>
          <a:ln w="6350">
            <a:solidFill>
              <a:srgbClr val="2E7D4F"/>
            </a:solidFill>
            <a:prstDash val="solid"/>
          </a:ln>
        </p:spPr>
      </p:sp>
      <p:sp>
        <p:nvSpPr>
          <p:cNvPr id="24" name="arrow"/>
          <p:cNvSpPr/>
          <p:nvPr/>
        </p:nvSpPr>
        <p:spPr>
          <a:xfrm>
            <a:off x="4800600" y="2362810"/>
            <a:ext cx="651510" cy="0"/>
          </a:xfrm>
          <a:prstGeom prst="line">
            <a:avLst/>
          </a:prstGeom>
          <a:noFill/>
          <a:ln w="6350">
            <a:solidFill>
              <a:srgbClr val="2E7D4F"/>
            </a:solidFill>
            <a:prstDash val="solid"/>
          </a:ln>
        </p:spPr>
      </p:sp>
      <p:sp>
        <p:nvSpPr>
          <p:cNvPr id="25" name="Text 21"/>
          <p:cNvSpPr txBox="1"/>
          <p:nvPr/>
        </p:nvSpPr>
        <p:spPr>
          <a:xfrm>
            <a:off x="4572000" y="4572000"/>
            <a:ext cx="3108960" cy="320040"/>
          </a:xfrm>
          <a:prstGeom prst="rect">
            <a:avLst/>
          </a:prstGeom>
          <a:noFill/>
          <a:ln/>
        </p:spPr>
        <p:txBody>
          <a:bodyPr wrap="square" lIns="0" tIns="0" rIns="0" bIns="0" rtlCol="0" anchor="ctr"/>
          <a:lstStyle/>
          <a:p>
            <a:pPr algn="l" indent="0" marL="0">
              <a:buNone/>
            </a:pPr>
            <a:r>
              <a:rPr lang="en-US" sz="1150" b="1" dirty="0">
                <a:solidFill>
                  <a:schemeClr val="accent1"/>
                </a:solidFill>
              </a:rPr>
              <a:t>30 m (Landsat): flux tower, lysimeter</a:t>
            </a:r>
            <a:endParaRPr lang="en-US" sz="1150" dirty="0"/>
          </a:p>
        </p:txBody>
      </p:sp>
      <p:sp>
        <p:nvSpPr>
          <p:cNvPr id="26" name="Text 22"/>
          <p:cNvSpPr txBox="1"/>
          <p:nvPr/>
        </p:nvSpPr>
        <p:spPr>
          <a:xfrm>
            <a:off x="4572000" y="4892040"/>
            <a:ext cx="3108960" cy="320040"/>
          </a:xfrm>
          <a:prstGeom prst="rect">
            <a:avLst/>
          </a:prstGeom>
          <a:noFill/>
          <a:ln/>
        </p:spPr>
        <p:txBody>
          <a:bodyPr wrap="square" lIns="0" tIns="0" rIns="0" bIns="0" rtlCol="0" anchor="ctr"/>
          <a:lstStyle/>
          <a:p>
            <a:pPr algn="l" indent="0" marL="0">
              <a:buNone/>
            </a:pPr>
            <a:r>
              <a:rPr lang="en-US" sz="1150" b="1" dirty="0">
                <a:solidFill>
                  <a:schemeClr val="accent1"/>
                </a:solidFill>
              </a:rPr>
              <a:t>1 km (MODIS): scintillometer</a:t>
            </a:r>
            <a:endParaRPr lang="en-US" sz="1150" dirty="0"/>
          </a:p>
        </p:txBody>
      </p:sp>
      <p:sp>
        <p:nvSpPr>
          <p:cNvPr id="27" name="Text 23"/>
          <p:cNvSpPr txBox="1"/>
          <p:nvPr/>
        </p:nvSpPr>
        <p:spPr>
          <a:xfrm>
            <a:off x="4572000" y="5212080"/>
            <a:ext cx="3108960" cy="320040"/>
          </a:xfrm>
          <a:prstGeom prst="rect">
            <a:avLst/>
          </a:prstGeom>
          <a:noFill/>
          <a:ln/>
        </p:spPr>
        <p:txBody>
          <a:bodyPr wrap="square" lIns="0" tIns="0" rIns="0" bIns="0" rtlCol="0" anchor="ctr"/>
          <a:lstStyle/>
          <a:p>
            <a:pPr algn="l" indent="0" marL="0">
              <a:buNone/>
            </a:pPr>
            <a:r>
              <a:rPr lang="en-US" sz="1150" b="1" dirty="0">
                <a:solidFill>
                  <a:schemeClr val="accent4"/>
                </a:solidFill>
              </a:rPr>
              <a:t>8 km (Kalpana-1): aggregate 8 × 8 MODIS</a:t>
            </a:r>
            <a:endParaRPr lang="en-US" sz="1150" dirty="0"/>
          </a:p>
        </p:txBody>
      </p:sp>
      <p:sp>
        <p:nvSpPr>
          <p:cNvPr id="28" name="Text 24"/>
          <p:cNvSpPr txBox="1"/>
          <p:nvPr/>
        </p:nvSpPr>
        <p:spPr>
          <a:xfrm>
            <a:off x="4572000" y="5577840"/>
            <a:ext cx="3108960" cy="411480"/>
          </a:xfrm>
          <a:prstGeom prst="rect">
            <a:avLst/>
          </a:prstGeom>
          <a:noFill/>
          <a:ln/>
        </p:spPr>
        <p:txBody>
          <a:bodyPr wrap="square" lIns="0" tIns="0" rIns="0" bIns="0" rtlCol="0" anchor="ctr"/>
          <a:lstStyle/>
          <a:p>
            <a:pPr algn="ctr" indent="0" marL="0">
              <a:buNone/>
            </a:pPr>
            <a:r>
              <a:rPr lang="en-US" sz="1300" b="1" dirty="0">
                <a:solidFill>
                  <a:schemeClr val="tx2"/>
                </a:solidFill>
              </a:rPr>
              <a:t>f(mean input) ≠ mean f(input)</a:t>
            </a:r>
            <a:endParaRPr lang="en-US" sz="1300" dirty="0"/>
          </a:p>
        </p:txBody>
      </p:sp>
      <p:sp>
        <p:nvSpPr>
          <p:cNvPr id="29" name="card"/>
          <p:cNvSpPr/>
          <p:nvPr/>
        </p:nvSpPr>
        <p:spPr>
          <a:xfrm>
            <a:off x="7909560" y="1280160"/>
            <a:ext cx="3730752" cy="4892040"/>
          </a:xfrm>
          <a:prstGeom prst="roundRect">
            <a:avLst>
              <a:gd name="adj" fmla="val 1961"/>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092440" y="1435608"/>
            <a:ext cx="420624" cy="420624"/>
          </a:xfrm>
          <a:prstGeom prst="ellipse">
            <a:avLst/>
          </a:prstGeom>
          <a:solidFill>
            <a:schemeClr val="accent4"/>
          </a:solidFill>
          <a:ln/>
        </p:spPr>
      </p:sp>
      <p:pic>
        <p:nvPicPr>
          <p:cNvPr id="31" name="Image 1" descr="MapMarkedAlt icon">    </p:cNvPr>
          <p:cNvPicPr>
            <a:picLocks noChangeAspect="1"/>
          </p:cNvPicPr>
          <p:nvPr/>
        </p:nvPicPr>
        <p:blipFill>
          <a:blip r:embed="rId2"/>
          <a:stretch>
            <a:fillRect/>
          </a:stretch>
        </p:blipFill>
        <p:spPr>
          <a:xfrm>
            <a:off x="8201802" y="1544970"/>
            <a:ext cx="201900" cy="201900"/>
          </a:xfrm>
          <a:prstGeom prst="rect">
            <a:avLst/>
          </a:prstGeom>
        </p:spPr>
      </p:pic>
      <p:sp>
        <p:nvSpPr>
          <p:cNvPr id="32" name="Text 27"/>
          <p:cNvSpPr txBox="1"/>
          <p:nvPr/>
        </p:nvSpPr>
        <p:spPr>
          <a:xfrm>
            <a:off x="8622792" y="1417320"/>
            <a:ext cx="2880360" cy="457200"/>
          </a:xfrm>
          <a:prstGeom prst="rect">
            <a:avLst/>
          </a:prstGeom>
          <a:noFill/>
          <a:ln/>
        </p:spPr>
        <p:txBody>
          <a:bodyPr wrap="square" lIns="0" tIns="0" rIns="0" bIns="0" rtlCol="0" anchor="ctr"/>
          <a:lstStyle/>
          <a:p>
            <a:pPr indent="0" marL="0">
              <a:buNone/>
            </a:pPr>
            <a:r>
              <a:rPr lang="en-US" sz="1600" b="1" dirty="0">
                <a:solidFill>
                  <a:schemeClr val="tx2"/>
                </a:solidFill>
              </a:rPr>
              <a:t>Space: field ↔ region</a:t>
            </a:r>
            <a:endParaRPr lang="en-US" sz="1600" dirty="0"/>
          </a:p>
        </p:txBody>
      </p:sp>
      <p:sp>
        <p:nvSpPr>
          <p:cNvPr id="33" name="Text 28"/>
          <p:cNvSpPr txBox="1"/>
          <p:nvPr/>
        </p:nvSpPr>
        <p:spPr>
          <a:xfrm>
            <a:off x="8092440" y="1965960"/>
            <a:ext cx="3364992" cy="411480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TIR coarser than VNIR → </a:t>
            </a:r>
            <a:r>
              <a:rPr lang="en-US" sz="1250" b="1" dirty="0">
                <a:solidFill>
                  <a:schemeClr val="tx1"/>
                </a:solidFill>
              </a:rPr>
              <a:t>thermal sharpening</a:t>
            </a:r>
            <a:endParaRPr lang="en-US" sz="1250" dirty="0"/>
          </a:p>
          <a:p>
            <a:pPr marL="177800" indent="-177800">
              <a:spcAft>
                <a:spcPts val="400"/>
              </a:spcAft>
              <a:buSzPct val="100000"/>
              <a:buChar char="•"/>
            </a:pPr>
            <a:r>
              <a:rPr lang="en-US" sz="1250" dirty="0">
                <a:solidFill>
                  <a:schemeClr val="tx1"/>
                </a:solidFill>
              </a:rPr>
              <a:t>Non-linear models: aggregation errors grow with heterogeneity</a:t>
            </a:r>
            <a:endParaRPr lang="en-US" sz="1250" dirty="0"/>
          </a:p>
          <a:p>
            <a:pPr marL="177800" indent="-177800">
              <a:spcAft>
                <a:spcPts val="400"/>
              </a:spcAft>
              <a:buSzPct val="100000"/>
              <a:buChar char="•"/>
            </a:pPr>
            <a:r>
              <a:rPr lang="en-US" sz="1250" dirty="0">
                <a:solidFill>
                  <a:schemeClr val="tx1"/>
                </a:solidFill>
              </a:rPr>
              <a:t>Up-scaling (aggregate fine ET) vs downscaling (DisALEXI)</a:t>
            </a:r>
            <a:endParaRPr lang="en-US" sz="1250" dirty="0"/>
          </a:p>
          <a:p>
            <a:pPr marL="177800" indent="-177800">
              <a:spcAft>
                <a:spcPts val="400"/>
              </a:spcAft>
              <a:buSzPct val="100000"/>
              <a:buChar char="•"/>
            </a:pPr>
            <a:r>
              <a:rPr lang="en-US" sz="1250" dirty="0">
                <a:solidFill>
                  <a:schemeClr val="tx1"/>
                </a:solidFill>
              </a:rPr>
              <a:t>Validation: match footprint to pixel; two-step up-scaling</a:t>
            </a:r>
            <a:endParaRPr lang="en-US" sz="12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ISRO case study, applications and outlook</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Kalpana-1 ET over India (SAC, ISRO), error sources, uses of satellite ET, Indian missions, and a method comparison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ISRO case: Kalpana-1 ET over India — processing flow</a:t>
            </a:r>
            <a:endParaRPr lang="en-US" sz="3200" dirty="0"/>
          </a:p>
        </p:txBody>
      </p:sp>
      <p:sp>
        <p:nvSpPr>
          <p:cNvPr id="4" name="figure frame"/>
          <p:cNvSpPr/>
          <p:nvPr/>
        </p:nvSpPr>
        <p:spPr>
          <a:xfrm>
            <a:off x="548640" y="1280160"/>
            <a:ext cx="6949440" cy="4526280"/>
          </a:xfrm>
          <a:prstGeom prst="roundRect">
            <a:avLst>
              <a:gd name="adj" fmla="val 1212"/>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1: ET processing chain for Kalpana-1 VHRR (Bhattacharya et al. 2010, SAC-ISRO)">    </p:cNvPr>
          <p:cNvPicPr>
            <a:picLocks noChangeAspect="1"/>
          </p:cNvPicPr>
          <p:nvPr/>
        </p:nvPicPr>
        <p:blipFill>
          <a:blip r:embed="rId1"/>
          <a:stretch>
            <a:fillRect/>
          </a:stretch>
        </p:blipFill>
        <p:spPr>
          <a:xfrm>
            <a:off x="640080" y="1393440"/>
            <a:ext cx="6766560" cy="4299720"/>
          </a:xfrm>
          <a:prstGeom prst="rect">
            <a:avLst/>
          </a:prstGeom>
        </p:spPr>
      </p:pic>
      <p:sp>
        <p:nvSpPr>
          <p:cNvPr id="6" name="Text 2"/>
          <p:cNvSpPr txBox="1"/>
          <p:nvPr/>
        </p:nvSpPr>
        <p:spPr>
          <a:xfrm>
            <a:off x="548640" y="5852160"/>
            <a:ext cx="6949440" cy="320040"/>
          </a:xfrm>
          <a:prstGeom prst="rect">
            <a:avLst/>
          </a:prstGeom>
          <a:noFill/>
          <a:ln/>
        </p:spPr>
        <p:txBody>
          <a:bodyPr wrap="square" lIns="0" tIns="0" rIns="0" bIns="0" rtlCol="0" anchor="t"/>
          <a:lstStyle/>
          <a:p>
            <a:pPr indent="0" marL="0">
              <a:buNone/>
            </a:pPr>
            <a:r>
              <a:rPr lang="en-US" sz="1100" i="1" dirty="0">
                <a:solidFill>
                  <a:schemeClr val="accent6"/>
                </a:solidFill>
              </a:rPr>
              <a:t>Fig. 1: ET processing chain for Kalpana-1 VHRR (Bhattacharya et al. 2010, SAC-ISRO)</a:t>
            </a:r>
            <a:endParaRPr lang="en-US" sz="1100" dirty="0"/>
          </a:p>
        </p:txBody>
      </p:sp>
      <p:sp>
        <p:nvSpPr>
          <p:cNvPr id="7" name="card"/>
          <p:cNvSpPr/>
          <p:nvPr/>
        </p:nvSpPr>
        <p:spPr>
          <a:xfrm>
            <a:off x="7680960" y="1280160"/>
            <a:ext cx="3959352" cy="4892040"/>
          </a:xfrm>
          <a:prstGeom prst="roundRect">
            <a:avLst>
              <a:gd name="adj" fmla="val 1848"/>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863840" y="1435608"/>
            <a:ext cx="420624" cy="420624"/>
          </a:xfrm>
          <a:prstGeom prst="ellipse">
            <a:avLst/>
          </a:prstGeom>
          <a:solidFill>
            <a:schemeClr val="accent2"/>
          </a:solidFill>
          <a:ln/>
        </p:spPr>
      </p:sp>
      <p:pic>
        <p:nvPicPr>
          <p:cNvPr id="9" name="Image 1" descr="Satellite icon">    </p:cNvPr>
          <p:cNvPicPr>
            <a:picLocks noChangeAspect="1"/>
          </p:cNvPicPr>
          <p:nvPr/>
        </p:nvPicPr>
        <p:blipFill>
          <a:blip r:embed="rId2"/>
          <a:stretch>
            <a:fillRect/>
          </a:stretch>
        </p:blipFill>
        <p:spPr>
          <a:xfrm>
            <a:off x="7973202" y="1544970"/>
            <a:ext cx="201900" cy="201900"/>
          </a:xfrm>
          <a:prstGeom prst="rect">
            <a:avLst/>
          </a:prstGeom>
        </p:spPr>
      </p:pic>
      <p:sp>
        <p:nvSpPr>
          <p:cNvPr id="10" name="Text 5"/>
          <p:cNvSpPr txBox="1"/>
          <p:nvPr/>
        </p:nvSpPr>
        <p:spPr>
          <a:xfrm>
            <a:off x="8394192" y="1417320"/>
            <a:ext cx="3108960" cy="457200"/>
          </a:xfrm>
          <a:prstGeom prst="rect">
            <a:avLst/>
          </a:prstGeom>
          <a:noFill/>
          <a:ln/>
        </p:spPr>
        <p:txBody>
          <a:bodyPr wrap="square" lIns="0" tIns="0" rIns="0" bIns="0" rtlCol="0" anchor="ctr"/>
          <a:lstStyle/>
          <a:p>
            <a:pPr indent="0" marL="0">
              <a:buNone/>
            </a:pPr>
            <a:r>
              <a:rPr lang="en-US" sz="1600" b="1" dirty="0">
                <a:solidFill>
                  <a:schemeClr val="tx2"/>
                </a:solidFill>
              </a:rPr>
              <a:t>Method summary</a:t>
            </a:r>
            <a:endParaRPr lang="en-US" sz="1600" dirty="0"/>
          </a:p>
        </p:txBody>
      </p:sp>
      <p:sp>
        <p:nvSpPr>
          <p:cNvPr id="11" name="Text 6"/>
          <p:cNvSpPr txBox="1"/>
          <p:nvPr/>
        </p:nvSpPr>
        <p:spPr>
          <a:xfrm>
            <a:off x="7863840" y="1965960"/>
            <a:ext cx="3593592" cy="4114800"/>
          </a:xfrm>
          <a:prstGeom prst="rect">
            <a:avLst/>
          </a:prstGeom>
          <a:noFill/>
          <a:ln/>
        </p:spPr>
        <p:txBody>
          <a:bodyPr wrap="square" lIns="508" tIns="508" rIns="508" bIns="508" rtlCol="0" anchor="t"/>
          <a:lstStyle/>
          <a:p>
            <a:pPr marL="177800" indent="-177800">
              <a:spcAft>
                <a:spcPts val="400"/>
              </a:spcAft>
              <a:buSzPct val="100000"/>
              <a:buChar char="•"/>
            </a:pPr>
            <a:r>
              <a:rPr lang="en-US" sz="1200" b="1" dirty="0">
                <a:solidFill>
                  <a:schemeClr val="tx1"/>
                </a:solidFill>
              </a:rPr>
              <a:t>Sensor:</a:t>
            </a:r>
            <a:r>
              <a:rPr lang="en-US" sz="1200" dirty="0">
                <a:solidFill>
                  <a:schemeClr val="tx1"/>
                </a:solidFill>
              </a:rPr>
              <a:t> Kalpana-1 VHRR (VIS, WV, TIR), 74°E</a:t>
            </a:r>
            <a:endParaRPr lang="en-US" sz="1200" dirty="0"/>
          </a:p>
          <a:p>
            <a:pPr marL="177800" indent="-177800">
              <a:spcAft>
                <a:spcPts val="400"/>
              </a:spcAft>
              <a:buSzPct val="100000"/>
              <a:buChar char="•"/>
            </a:pPr>
            <a:r>
              <a:rPr lang="en-US" sz="1200" b="1" dirty="0">
                <a:solidFill>
                  <a:schemeClr val="tx1"/>
                </a:solidFill>
              </a:rPr>
              <a:t>Slots:</a:t>
            </a:r>
            <a:r>
              <a:rPr lang="en-US" sz="1200" dirty="0">
                <a:solidFill>
                  <a:schemeClr val="tx1"/>
                </a:solidFill>
              </a:rPr>
              <a:t> 0900 GMT noon (14:30 IST) and 2100 GMT night; rabi 2005–06</a:t>
            </a:r>
            <a:endParaRPr lang="en-US" sz="1200" dirty="0"/>
          </a:p>
          <a:p>
            <a:pPr marL="177800" indent="-177800">
              <a:spcAft>
                <a:spcPts val="400"/>
              </a:spcAft>
              <a:buSzPct val="100000"/>
              <a:buChar char="•"/>
            </a:pPr>
            <a:r>
              <a:rPr lang="en-US" sz="1200" b="1" dirty="0">
                <a:solidFill>
                  <a:schemeClr val="tx1"/>
                </a:solidFill>
              </a:rPr>
              <a:t>Grid:</a:t>
            </a:r>
            <a:r>
              <a:rPr lang="en-US" sz="1200" dirty="0">
                <a:solidFill>
                  <a:schemeClr val="tx1"/>
                </a:solidFill>
              </a:rPr>
              <a:t> 0.08° (~8 km)</a:t>
            </a:r>
            <a:endParaRPr lang="en-US" sz="1200" dirty="0"/>
          </a:p>
          <a:p>
            <a:pPr marL="177800" indent="-177800">
              <a:spcAft>
                <a:spcPts val="400"/>
              </a:spcAft>
              <a:buSzPct val="100000"/>
              <a:buChar char="•"/>
            </a:pPr>
            <a:r>
              <a:rPr lang="en-US" sz="1200" b="1" dirty="0">
                <a:solidFill>
                  <a:schemeClr val="tx1"/>
                </a:solidFill>
              </a:rPr>
              <a:t>Q</a:t>
            </a:r>
            <a:r>
              <a:rPr lang="en-US" sz="1200" b="1" baseline="-40000" dirty="0">
                <a:solidFill>
                  <a:schemeClr val="tx1"/>
                </a:solidFill>
              </a:rPr>
              <a:t>noon</a:t>
            </a:r>
            <a:r>
              <a:rPr lang="en-US" sz="1200" dirty="0">
                <a:solidFill>
                  <a:schemeClr val="tx1"/>
                </a:solidFill>
              </a:rPr>
              <a:t> = Rn</a:t>
            </a:r>
            <a:r>
              <a:rPr lang="en-US" sz="1200" baseline="-40000" dirty="0">
                <a:solidFill>
                  <a:schemeClr val="tx1"/>
                </a:solidFill>
              </a:rPr>
              <a:t>noon</a:t>
            </a:r>
            <a:r>
              <a:rPr lang="en-US" sz="1200" dirty="0">
                <a:solidFill>
                  <a:schemeClr val="tx1"/>
                </a:solidFill>
              </a:rPr>
              <a:t> − G</a:t>
            </a:r>
            <a:r>
              <a:rPr lang="en-US" sz="1200" baseline="-40000" dirty="0">
                <a:solidFill>
                  <a:schemeClr val="tx1"/>
                </a:solidFill>
              </a:rPr>
              <a:t>noon</a:t>
            </a:r>
            <a:r>
              <a:rPr lang="en-US" sz="1200" dirty="0">
                <a:solidFill>
                  <a:schemeClr val="tx1"/>
                </a:solidFill>
              </a:rPr>
              <a:t> (G as SEBAL)</a:t>
            </a:r>
            <a:endParaRPr lang="en-US" sz="1200" dirty="0"/>
          </a:p>
          <a:p>
            <a:pPr marL="177800" indent="-177800">
              <a:spcAft>
                <a:spcPts val="400"/>
              </a:spcAft>
              <a:buSzPct val="100000"/>
              <a:buChar char="•"/>
            </a:pPr>
            <a:r>
              <a:rPr lang="en-US" sz="1200" b="1" dirty="0">
                <a:solidFill>
                  <a:schemeClr val="tx1"/>
                </a:solidFill>
              </a:rPr>
              <a:t>T</a:t>
            </a:r>
            <a:r>
              <a:rPr lang="en-US" sz="1200" b="1" baseline="-40000" dirty="0">
                <a:solidFill>
                  <a:schemeClr val="tx1"/>
                </a:solidFill>
              </a:rPr>
              <a:t>a</a:t>
            </a:r>
            <a:r>
              <a:rPr lang="en-US" sz="1200" b="1" dirty="0">
                <a:solidFill>
                  <a:schemeClr val="tx1"/>
                </a:solidFill>
              </a:rPr>
              <a:t>:</a:t>
            </a:r>
            <a:r>
              <a:rPr lang="en-US" sz="1200" dirty="0">
                <a:solidFill>
                  <a:schemeClr val="tx1"/>
                </a:solidFill>
              </a:rPr>
              <a:t> from noon–midnight temperatures via proxy function</a:t>
            </a:r>
            <a:endParaRPr lang="en-US" sz="1200" dirty="0"/>
          </a:p>
          <a:p>
            <a:pPr marL="177800" indent="-177800">
              <a:spcAft>
                <a:spcPts val="400"/>
              </a:spcAft>
              <a:buSzPct val="100000"/>
              <a:buChar char="•"/>
            </a:pPr>
            <a:r>
              <a:rPr lang="en-US" sz="1200" b="1" dirty="0">
                <a:solidFill>
                  <a:schemeClr val="tx1"/>
                </a:solidFill>
              </a:rPr>
              <a:t>λE</a:t>
            </a:r>
            <a:r>
              <a:rPr lang="en-US" sz="1200" b="1" baseline="-40000" dirty="0">
                <a:solidFill>
                  <a:schemeClr val="tx1"/>
                </a:solidFill>
              </a:rPr>
              <a:t>noon</a:t>
            </a:r>
            <a:r>
              <a:rPr lang="en-US" sz="1200" dirty="0">
                <a:solidFill>
                  <a:schemeClr val="tx1"/>
                </a:solidFill>
              </a:rPr>
              <a:t> = Q</a:t>
            </a:r>
            <a:r>
              <a:rPr lang="en-US" sz="1200" baseline="-40000" dirty="0">
                <a:solidFill>
                  <a:schemeClr val="tx1"/>
                </a:solidFill>
              </a:rPr>
              <a:t>noon</a:t>
            </a:r>
            <a:r>
              <a:rPr lang="en-US" sz="1200" dirty="0">
                <a:solidFill>
                  <a:schemeClr val="tx1"/>
                </a:solidFill>
              </a:rPr>
              <a:t> × Λ</a:t>
            </a:r>
            <a:r>
              <a:rPr lang="en-US" sz="1200" baseline="-40000" dirty="0">
                <a:solidFill>
                  <a:schemeClr val="tx1"/>
                </a:solidFill>
              </a:rPr>
              <a:t>noon</a:t>
            </a:r>
            <a:endParaRPr lang="en-US" sz="1200" dirty="0"/>
          </a:p>
          <a:p>
            <a:pPr marL="177800" indent="-177800">
              <a:spcAft>
                <a:spcPts val="400"/>
              </a:spcAft>
              <a:buSzPct val="100000"/>
              <a:buChar char="•"/>
            </a:pPr>
            <a:r>
              <a:rPr lang="en-US" sz="1200" b="1" dirty="0">
                <a:solidFill>
                  <a:schemeClr val="tx1"/>
                </a:solidFill>
              </a:rPr>
              <a:t>Daily:</a:t>
            </a:r>
            <a:r>
              <a:rPr lang="en-US" sz="1200" dirty="0">
                <a:solidFill>
                  <a:schemeClr val="tx1"/>
                </a:solidFill>
              </a:rPr>
              <a:t> Λ</a:t>
            </a:r>
            <a:r>
              <a:rPr lang="en-US" sz="1200" baseline="-40000" dirty="0">
                <a:solidFill>
                  <a:schemeClr val="tx1"/>
                </a:solidFill>
              </a:rPr>
              <a:t>d</a:t>
            </a:r>
            <a:r>
              <a:rPr lang="en-US" sz="1200" dirty="0">
                <a:solidFill>
                  <a:schemeClr val="tx1"/>
                </a:solidFill>
              </a:rPr>
              <a:t> ≈ Λ</a:t>
            </a:r>
            <a:r>
              <a:rPr lang="en-US" sz="1200" baseline="-40000" dirty="0">
                <a:solidFill>
                  <a:schemeClr val="tx1"/>
                </a:solidFill>
              </a:rPr>
              <a:t>noon</a:t>
            </a:r>
            <a:r>
              <a:rPr lang="en-US" sz="1200" dirty="0">
                <a:solidFill>
                  <a:schemeClr val="tx1"/>
                </a:solidFill>
              </a:rPr>
              <a:t>; sine-scaled Q</a:t>
            </a:r>
            <a:r>
              <a:rPr lang="en-US" sz="1200" baseline="-40000" dirty="0">
                <a:solidFill>
                  <a:schemeClr val="tx1"/>
                </a:solidFill>
              </a:rPr>
              <a:t>d</a:t>
            </a:r>
            <a:endParaRPr lang="en-US" sz="1200" dirty="0"/>
          </a:p>
          <a:p>
            <a:pPr marL="177800" indent="-177800">
              <a:spcAft>
                <a:spcPts val="400"/>
              </a:spcAft>
              <a:buSzPct val="100000"/>
              <a:buChar char="•"/>
            </a:pPr>
            <a:r>
              <a:rPr lang="en-US" sz="1200" dirty="0">
                <a:solidFill>
                  <a:schemeClr val="accent1"/>
                </a:solidFill>
              </a:rPr>
              <a:t>No in-situ inputs required</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Kalpana-1: evaporative fraction from Ts–albedo space</a:t>
            </a:r>
            <a:endParaRPr lang="en-US" sz="3200" dirty="0"/>
          </a:p>
        </p:txBody>
      </p:sp>
      <p:sp>
        <p:nvSpPr>
          <p:cNvPr id="4" name="figure frame"/>
          <p:cNvSpPr/>
          <p:nvPr/>
        </p:nvSpPr>
        <p:spPr>
          <a:xfrm>
            <a:off x="548640" y="1280160"/>
            <a:ext cx="4846320" cy="2852928"/>
          </a:xfrm>
          <a:prstGeom prst="roundRect">
            <a:avLst>
              <a:gd name="adj" fmla="val 192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2: conceptual Ts–albedo space (Bhattacharya et al. 2010)">    </p:cNvPr>
          <p:cNvPicPr>
            <a:picLocks noChangeAspect="1"/>
          </p:cNvPicPr>
          <p:nvPr/>
        </p:nvPicPr>
        <p:blipFill>
          <a:blip r:embed="rId1"/>
          <a:stretch>
            <a:fillRect/>
          </a:stretch>
        </p:blipFill>
        <p:spPr>
          <a:xfrm>
            <a:off x="895953" y="1371600"/>
            <a:ext cx="4151693" cy="2670048"/>
          </a:xfrm>
          <a:prstGeom prst="rect">
            <a:avLst/>
          </a:prstGeom>
        </p:spPr>
      </p:pic>
      <p:sp>
        <p:nvSpPr>
          <p:cNvPr id="6" name="Text 2"/>
          <p:cNvSpPr txBox="1"/>
          <p:nvPr/>
        </p:nvSpPr>
        <p:spPr>
          <a:xfrm>
            <a:off x="548640" y="4178808"/>
            <a:ext cx="4846320" cy="301752"/>
          </a:xfrm>
          <a:prstGeom prst="rect">
            <a:avLst/>
          </a:prstGeom>
          <a:noFill/>
          <a:ln/>
        </p:spPr>
        <p:txBody>
          <a:bodyPr wrap="square" lIns="0" tIns="0" rIns="0" bIns="0" rtlCol="0" anchor="t"/>
          <a:lstStyle/>
          <a:p>
            <a:pPr indent="0" marL="0">
              <a:buNone/>
            </a:pPr>
            <a:r>
              <a:rPr lang="en-US" sz="1100" i="1" dirty="0">
                <a:solidFill>
                  <a:schemeClr val="accent6"/>
                </a:solidFill>
              </a:rPr>
              <a:t>Fig. 2: conceptual Ts–albedo space (Bhattacharya et al. 2010)</a:t>
            </a:r>
            <a:endParaRPr lang="en-US" sz="1100" dirty="0"/>
          </a:p>
        </p:txBody>
      </p:sp>
      <p:sp>
        <p:nvSpPr>
          <p:cNvPr id="7" name="figure frame"/>
          <p:cNvSpPr/>
          <p:nvPr/>
        </p:nvSpPr>
        <p:spPr>
          <a:xfrm>
            <a:off x="5532120" y="1280160"/>
            <a:ext cx="6108192" cy="3264408"/>
          </a:xfrm>
          <a:prstGeom prst="roundRect">
            <a:avLst>
              <a:gd name="adj" fmla="val 1681"/>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8" name="Image 1" descr="Fig. 3: daily Ts–albedo scatters with fitted dry and wet edges, rabi 2005–06">    </p:cNvPr>
          <p:cNvPicPr>
            <a:picLocks noChangeAspect="1"/>
          </p:cNvPicPr>
          <p:nvPr/>
        </p:nvPicPr>
        <p:blipFill>
          <a:blip r:embed="rId2"/>
          <a:stretch>
            <a:fillRect/>
          </a:stretch>
        </p:blipFill>
        <p:spPr>
          <a:xfrm>
            <a:off x="6246369" y="1371600"/>
            <a:ext cx="4679693" cy="3081528"/>
          </a:xfrm>
          <a:prstGeom prst="rect">
            <a:avLst/>
          </a:prstGeom>
        </p:spPr>
      </p:pic>
      <p:sp>
        <p:nvSpPr>
          <p:cNvPr id="9" name="Text 4"/>
          <p:cNvSpPr txBox="1"/>
          <p:nvPr/>
        </p:nvSpPr>
        <p:spPr>
          <a:xfrm>
            <a:off x="5532120" y="4590288"/>
            <a:ext cx="6108192" cy="301752"/>
          </a:xfrm>
          <a:prstGeom prst="rect">
            <a:avLst/>
          </a:prstGeom>
          <a:noFill/>
          <a:ln/>
        </p:spPr>
        <p:txBody>
          <a:bodyPr wrap="square" lIns="0" tIns="0" rIns="0" bIns="0" rtlCol="0" anchor="t"/>
          <a:lstStyle/>
          <a:p>
            <a:pPr indent="0" marL="0">
              <a:buNone/>
            </a:pPr>
            <a:r>
              <a:rPr lang="en-US" sz="1100" i="1" dirty="0">
                <a:solidFill>
                  <a:schemeClr val="accent6"/>
                </a:solidFill>
              </a:rPr>
              <a:t>Fig. 3: daily Ts–albedo scatters with fitted dry and wet edges, rabi 2005–06</a:t>
            </a:r>
            <a:endParaRPr lang="en-US" sz="1100" dirty="0"/>
          </a:p>
        </p:txBody>
      </p:sp>
      <p:sp>
        <p:nvSpPr>
          <p:cNvPr id="10" name="card"/>
          <p:cNvSpPr/>
          <p:nvPr/>
        </p:nvSpPr>
        <p:spPr>
          <a:xfrm>
            <a:off x="548640" y="4617720"/>
            <a:ext cx="4846320" cy="640080"/>
          </a:xfrm>
          <a:prstGeom prst="roundRect">
            <a:avLst>
              <a:gd name="adj" fmla="val 11429"/>
            </a:avLst>
          </a:prstGeom>
          <a:solidFill>
            <a:schemeClr val="tx2"/>
          </a:solidFill>
          <a:ln/>
          <a:effectLst>
            <a:outerShdw sx="100000" sy="100000" kx="0" ky="0" algn="bl" rotWithShape="0" blurRad="76200" dist="25400" dir="5400000">
              <a:srgbClr val="000000">
                <a:alpha val="14000"/>
              </a:srgbClr>
            </a:outerShdw>
          </a:effectLst>
        </p:spPr>
      </p:sp>
      <p:sp>
        <p:nvSpPr>
          <p:cNvPr id="11" name="Text 6"/>
          <p:cNvSpPr txBox="1"/>
          <p:nvPr/>
        </p:nvSpPr>
        <p:spPr>
          <a:xfrm>
            <a:off x="685800" y="4617720"/>
            <a:ext cx="4572000" cy="640080"/>
          </a:xfrm>
          <a:prstGeom prst="rect">
            <a:avLst/>
          </a:prstGeom>
          <a:noFill/>
          <a:ln/>
        </p:spPr>
        <p:txBody>
          <a:bodyPr wrap="square" lIns="0" tIns="0" rIns="0" bIns="0" rtlCol="0" anchor="ctr"/>
          <a:lstStyle/>
          <a:p>
            <a:pPr algn="ctr" indent="0" marL="0">
              <a:buNone/>
            </a:pPr>
            <a:r>
              <a:rPr lang="en-US" sz="1500" b="1" dirty="0">
                <a:solidFill>
                  <a:schemeClr val="bg1"/>
                </a:solidFill>
              </a:rPr>
              <a:t>Λ = λE/(H + λE) = (T</a:t>
            </a:r>
            <a:r>
              <a:rPr lang="en-US" sz="1500" b="1" baseline="-40000" dirty="0">
                <a:solidFill>
                  <a:schemeClr val="bg1"/>
                </a:solidFill>
              </a:rPr>
              <a:t>H</a:t>
            </a:r>
            <a:r>
              <a:rPr lang="en-US" sz="1500" b="1" dirty="0">
                <a:solidFill>
                  <a:schemeClr val="bg1"/>
                </a:solidFill>
              </a:rPr>
              <a:t> − T</a:t>
            </a:r>
            <a:r>
              <a:rPr lang="en-US" sz="1500" b="1" baseline="-40000" dirty="0">
                <a:solidFill>
                  <a:schemeClr val="bg1"/>
                </a:solidFill>
              </a:rPr>
              <a:t>s</a:t>
            </a:r>
            <a:r>
              <a:rPr lang="en-US" sz="1500" b="1" dirty="0">
                <a:solidFill>
                  <a:schemeClr val="bg1"/>
                </a:solidFill>
              </a:rPr>
              <a:t>) / (T</a:t>
            </a:r>
            <a:r>
              <a:rPr lang="en-US" sz="1500" b="1" baseline="-40000" dirty="0">
                <a:solidFill>
                  <a:schemeClr val="bg1"/>
                </a:solidFill>
              </a:rPr>
              <a:t>H</a:t>
            </a:r>
            <a:r>
              <a:rPr lang="en-US" sz="1500" b="1" dirty="0">
                <a:solidFill>
                  <a:schemeClr val="bg1"/>
                </a:solidFill>
              </a:rPr>
              <a:t> − T</a:t>
            </a:r>
            <a:r>
              <a:rPr lang="en-US" sz="1500" b="1" baseline="-40000" dirty="0">
                <a:solidFill>
                  <a:schemeClr val="bg1"/>
                </a:solidFill>
              </a:rPr>
              <a:t>λE</a:t>
            </a:r>
            <a:r>
              <a:rPr lang="en-US" sz="1500" b="1" dirty="0">
                <a:solidFill>
                  <a:schemeClr val="bg1"/>
                </a:solidFill>
              </a:rPr>
              <a:t>)</a:t>
            </a:r>
            <a:endParaRPr lang="en-US" sz="1500" dirty="0"/>
          </a:p>
        </p:txBody>
      </p:sp>
      <p:sp>
        <p:nvSpPr>
          <p:cNvPr id="12" name="Text 7"/>
          <p:cNvSpPr txBox="1"/>
          <p:nvPr/>
        </p:nvSpPr>
        <p:spPr>
          <a:xfrm>
            <a:off x="548640" y="5349240"/>
            <a:ext cx="4846320" cy="822960"/>
          </a:xfrm>
          <a:prstGeom prst="rect">
            <a:avLst/>
          </a:prstGeom>
          <a:noFill/>
          <a:ln/>
        </p:spPr>
        <p:txBody>
          <a:bodyPr wrap="square" lIns="508" tIns="508" rIns="508" bIns="508" rtlCol="0" anchor="t"/>
          <a:lstStyle/>
          <a:p>
            <a:pPr marL="177800" indent="-177800">
              <a:spcAft>
                <a:spcPts val="600"/>
              </a:spcAft>
              <a:buSzPct val="100000"/>
              <a:buChar char="•"/>
            </a:pPr>
            <a:r>
              <a:rPr lang="en-US" sz="1200" dirty="0">
                <a:solidFill>
                  <a:schemeClr val="tx1"/>
                </a:solidFill>
              </a:rPr>
              <a:t>T</a:t>
            </a:r>
            <a:r>
              <a:rPr lang="en-US" sz="1200" baseline="-40000" dirty="0">
                <a:solidFill>
                  <a:schemeClr val="tx1"/>
                </a:solidFill>
              </a:rPr>
              <a:t>H</a:t>
            </a:r>
            <a:r>
              <a:rPr lang="en-US" sz="1200" dirty="0">
                <a:solidFill>
                  <a:schemeClr val="tx1"/>
                </a:solidFill>
              </a:rPr>
              <a:t>, T</a:t>
            </a:r>
            <a:r>
              <a:rPr lang="en-US" sz="1200" baseline="-40000" dirty="0">
                <a:solidFill>
                  <a:schemeClr val="tx1"/>
                </a:solidFill>
              </a:rPr>
              <a:t>λE</a:t>
            </a:r>
            <a:r>
              <a:rPr lang="en-US" sz="1200" dirty="0">
                <a:solidFill>
                  <a:schemeClr val="tx1"/>
                </a:solidFill>
              </a:rPr>
              <a:t>: dry and wet edges, linear in albedo, fitted each day</a:t>
            </a:r>
            <a:endParaRPr lang="en-US" sz="1200" dirty="0"/>
          </a:p>
          <a:p>
            <a:pPr marL="177800" indent="-177800">
              <a:spcAft>
                <a:spcPts val="600"/>
              </a:spcAft>
              <a:buSzPct val="100000"/>
              <a:buChar char="•"/>
            </a:pPr>
            <a:r>
              <a:rPr lang="en-US" sz="1200" dirty="0">
                <a:solidFill>
                  <a:schemeClr val="tx1"/>
                </a:solidFill>
              </a:rPr>
              <a:t>Why albedo, not NDVI: VHRR has no red/NIR band</a:t>
            </a:r>
            <a:endParaRPr lang="en-US" sz="1200" dirty="0"/>
          </a:p>
        </p:txBody>
      </p:sp>
      <p:sp>
        <p:nvSpPr>
          <p:cNvPr id="13" name="card"/>
          <p:cNvSpPr/>
          <p:nvPr/>
        </p:nvSpPr>
        <p:spPr>
          <a:xfrm>
            <a:off x="5532120" y="5029200"/>
            <a:ext cx="6108192" cy="1143000"/>
          </a:xfrm>
          <a:prstGeom prst="roundRect">
            <a:avLst>
              <a:gd name="adj" fmla="val 6400"/>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5715000" y="5184648"/>
            <a:ext cx="420624" cy="420624"/>
          </a:xfrm>
          <a:prstGeom prst="ellipse">
            <a:avLst/>
          </a:prstGeom>
          <a:solidFill>
            <a:schemeClr val="accent4"/>
          </a:solidFill>
          <a:ln/>
        </p:spPr>
      </p:sp>
      <p:pic>
        <p:nvPicPr>
          <p:cNvPr id="15" name="Image 2" descr="ExclamationTriangle icon">    </p:cNvPr>
          <p:cNvPicPr>
            <a:picLocks noChangeAspect="1"/>
          </p:cNvPicPr>
          <p:nvPr/>
        </p:nvPicPr>
        <p:blipFill>
          <a:blip r:embed="rId3"/>
          <a:stretch>
            <a:fillRect/>
          </a:stretch>
        </p:blipFill>
        <p:spPr>
          <a:xfrm>
            <a:off x="5824362" y="5294010"/>
            <a:ext cx="201900" cy="201900"/>
          </a:xfrm>
          <a:prstGeom prst="rect">
            <a:avLst/>
          </a:prstGeom>
        </p:spPr>
      </p:pic>
      <p:sp>
        <p:nvSpPr>
          <p:cNvPr id="16" name="Text 10"/>
          <p:cNvSpPr txBox="1"/>
          <p:nvPr/>
        </p:nvSpPr>
        <p:spPr>
          <a:xfrm>
            <a:off x="6245352" y="5166360"/>
            <a:ext cx="5257800" cy="457200"/>
          </a:xfrm>
          <a:prstGeom prst="rect">
            <a:avLst/>
          </a:prstGeom>
          <a:noFill/>
          <a:ln/>
        </p:spPr>
        <p:txBody>
          <a:bodyPr wrap="square" lIns="0" tIns="0" rIns="0" bIns="0" rtlCol="0" anchor="ctr"/>
          <a:lstStyle/>
          <a:p>
            <a:pPr indent="0" marL="0">
              <a:buNone/>
            </a:pPr>
            <a:r>
              <a:rPr lang="en-US" sz="1350" b="1" dirty="0">
                <a:solidFill>
                  <a:schemeClr val="tx2"/>
                </a:solidFill>
              </a:rPr>
              <a:t>Limitations (from the paper)</a:t>
            </a:r>
            <a:endParaRPr lang="en-US" sz="1350" dirty="0"/>
          </a:p>
        </p:txBody>
      </p:sp>
      <p:sp>
        <p:nvSpPr>
          <p:cNvPr id="17" name="Text 11"/>
          <p:cNvSpPr txBox="1"/>
          <p:nvPr/>
        </p:nvSpPr>
        <p:spPr>
          <a:xfrm>
            <a:off x="5715000" y="5715000"/>
            <a:ext cx="5742432" cy="3657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Varying atmosphere across the domain · needs wet and dry pixels · advection at coarse scale · error grows with heterogeneity</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Kalpana-1: two-step validation and ET maps</a:t>
            </a:r>
            <a:endParaRPr lang="en-US" sz="3200" dirty="0"/>
          </a:p>
        </p:txBody>
      </p:sp>
      <p:sp>
        <p:nvSpPr>
          <p:cNvPr id="4" name="figure frame"/>
          <p:cNvSpPr/>
          <p:nvPr/>
        </p:nvSpPr>
        <p:spPr>
          <a:xfrm>
            <a:off x="548640" y="1280160"/>
            <a:ext cx="6949440" cy="3108960"/>
          </a:xfrm>
          <a:prstGeom prst="roundRect">
            <a:avLst>
              <a:gd name="adj" fmla="val 1765"/>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Fig. 9: 8-day ET (mm d⁻¹) from Kalpana-1 (top) and aggregated MODIS-Aqua (bottom), Nov 2005 – Mar 2006">    </p:cNvPr>
          <p:cNvPicPr>
            <a:picLocks noChangeAspect="1"/>
          </p:cNvPicPr>
          <p:nvPr/>
        </p:nvPicPr>
        <p:blipFill>
          <a:blip r:embed="rId1"/>
          <a:stretch>
            <a:fillRect/>
          </a:stretch>
        </p:blipFill>
        <p:spPr>
          <a:xfrm>
            <a:off x="798521" y="1371600"/>
            <a:ext cx="6449678" cy="2926080"/>
          </a:xfrm>
          <a:prstGeom prst="rect">
            <a:avLst/>
          </a:prstGeom>
        </p:spPr>
      </p:pic>
      <p:sp>
        <p:nvSpPr>
          <p:cNvPr id="6" name="Text 2"/>
          <p:cNvSpPr txBox="1"/>
          <p:nvPr/>
        </p:nvSpPr>
        <p:spPr>
          <a:xfrm>
            <a:off x="548640" y="4434840"/>
            <a:ext cx="6949440" cy="365760"/>
          </a:xfrm>
          <a:prstGeom prst="rect">
            <a:avLst/>
          </a:prstGeom>
          <a:noFill/>
          <a:ln/>
        </p:spPr>
        <p:txBody>
          <a:bodyPr wrap="square" lIns="0" tIns="0" rIns="0" bIns="0" rtlCol="0" anchor="t"/>
          <a:lstStyle/>
          <a:p>
            <a:pPr indent="0" marL="0">
              <a:buNone/>
            </a:pPr>
            <a:r>
              <a:rPr lang="en-US" sz="1100" i="1" dirty="0">
                <a:solidFill>
                  <a:schemeClr val="accent6"/>
                </a:solidFill>
              </a:rPr>
              <a:t>Fig. 9: 8-day ET (mm d⁻¹) from Kalpana-1 (top) and aggregated MODIS-Aqua (bottom), Nov 2005 – Mar 2006</a:t>
            </a:r>
            <a:endParaRPr lang="en-US" sz="1100" dirty="0"/>
          </a:p>
        </p:txBody>
      </p:sp>
      <p:sp>
        <p:nvSpPr>
          <p:cNvPr id="7" name="diagram box"/>
          <p:cNvSpPr/>
          <p:nvPr/>
        </p:nvSpPr>
        <p:spPr>
          <a:xfrm>
            <a:off x="7680960" y="1280160"/>
            <a:ext cx="1005840" cy="1051560"/>
          </a:xfrm>
          <a:prstGeom prst="roundRect">
            <a:avLst>
              <a:gd name="adj" fmla="val 7273"/>
            </a:avLst>
          </a:prstGeom>
          <a:solidFill>
            <a:srgbClr val="2E7D4F"/>
          </a:solidFill>
          <a:ln/>
        </p:spPr>
      </p:sp>
      <p:sp>
        <p:nvSpPr>
          <p:cNvPr id="8" name="Text 4"/>
          <p:cNvSpPr txBox="1"/>
          <p:nvPr/>
        </p:nvSpPr>
        <p:spPr>
          <a:xfrm>
            <a:off x="7680960" y="1280160"/>
            <a:ext cx="100584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Step 1</a:t>
            </a:r>
            <a:endParaRPr lang="en-US" sz="1400" dirty="0"/>
          </a:p>
        </p:txBody>
      </p:sp>
      <p:sp>
        <p:nvSpPr>
          <p:cNvPr id="9" name="card"/>
          <p:cNvSpPr/>
          <p:nvPr/>
        </p:nvSpPr>
        <p:spPr>
          <a:xfrm>
            <a:off x="8778240" y="1280160"/>
            <a:ext cx="2862072"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0" name="Text 6"/>
          <p:cNvSpPr txBox="1"/>
          <p:nvPr/>
        </p:nvSpPr>
        <p:spPr>
          <a:xfrm>
            <a:off x="8887968" y="1353312"/>
            <a:ext cx="2670048" cy="914400"/>
          </a:xfrm>
          <a:prstGeom prst="rect">
            <a:avLst/>
          </a:prstGeom>
          <a:noFill/>
          <a:ln/>
        </p:spPr>
        <p:txBody>
          <a:bodyPr wrap="square" lIns="508" tIns="508" rIns="508" bIns="508" rtlCol="0" anchor="ctr"/>
          <a:lstStyle/>
          <a:p>
            <a:pPr indent="0" marL="0">
              <a:spcAft>
                <a:spcPts val="600"/>
              </a:spcAft>
              <a:buNone/>
            </a:pPr>
            <a:r>
              <a:rPr lang="en-US" sz="1200" dirty="0">
                <a:solidFill>
                  <a:schemeClr val="tx1"/>
                </a:solidFill>
              </a:rPr>
              <a:t>In situ (5 crop sites, Bowen ratio) → validate MODIS-Aqua ET at 0.01°</a:t>
            </a:r>
            <a:endParaRPr lang="en-US" sz="1200" dirty="0"/>
          </a:p>
        </p:txBody>
      </p:sp>
      <p:sp>
        <p:nvSpPr>
          <p:cNvPr id="11" name="diagram box"/>
          <p:cNvSpPr/>
          <p:nvPr/>
        </p:nvSpPr>
        <p:spPr>
          <a:xfrm>
            <a:off x="7680960" y="2487168"/>
            <a:ext cx="1005840" cy="1051560"/>
          </a:xfrm>
          <a:prstGeom prst="roundRect">
            <a:avLst>
              <a:gd name="adj" fmla="val 7273"/>
            </a:avLst>
          </a:prstGeom>
          <a:solidFill>
            <a:srgbClr val="3B6EA5"/>
          </a:solidFill>
          <a:ln/>
        </p:spPr>
      </p:sp>
      <p:sp>
        <p:nvSpPr>
          <p:cNvPr id="12" name="Text 8"/>
          <p:cNvSpPr txBox="1"/>
          <p:nvPr/>
        </p:nvSpPr>
        <p:spPr>
          <a:xfrm>
            <a:off x="7680960" y="2487168"/>
            <a:ext cx="100584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Step 2</a:t>
            </a:r>
            <a:endParaRPr lang="en-US" sz="1400" dirty="0"/>
          </a:p>
        </p:txBody>
      </p:sp>
      <p:sp>
        <p:nvSpPr>
          <p:cNvPr id="13" name="card"/>
          <p:cNvSpPr/>
          <p:nvPr/>
        </p:nvSpPr>
        <p:spPr>
          <a:xfrm>
            <a:off x="8778240" y="2487168"/>
            <a:ext cx="2862072"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4" name="Text 10"/>
          <p:cNvSpPr txBox="1"/>
          <p:nvPr/>
        </p:nvSpPr>
        <p:spPr>
          <a:xfrm>
            <a:off x="8887968" y="2560320"/>
            <a:ext cx="2670048" cy="914400"/>
          </a:xfrm>
          <a:prstGeom prst="rect">
            <a:avLst/>
          </a:prstGeom>
          <a:noFill/>
          <a:ln/>
        </p:spPr>
        <p:txBody>
          <a:bodyPr wrap="square" lIns="508" tIns="508" rIns="508" bIns="508" rtlCol="0" anchor="ctr"/>
          <a:lstStyle/>
          <a:p>
            <a:pPr indent="0" marL="0">
              <a:spcAft>
                <a:spcPts val="600"/>
              </a:spcAft>
              <a:buNone/>
            </a:pPr>
            <a:r>
              <a:rPr lang="en-US" sz="1200" dirty="0">
                <a:solidFill>
                  <a:schemeClr val="tx1"/>
                </a:solidFill>
              </a:rPr>
              <a:t>Aggregate 8 × 8 MODIS → 0.08°; compare with Kalpana-1 over Indian cropland</a:t>
            </a:r>
            <a:endParaRPr lang="en-US" sz="1200" dirty="0"/>
          </a:p>
        </p:txBody>
      </p:sp>
      <p:sp>
        <p:nvSpPr>
          <p:cNvPr id="15" name="Text 11"/>
          <p:cNvSpPr txBox="1"/>
          <p:nvPr/>
        </p:nvSpPr>
        <p:spPr>
          <a:xfrm>
            <a:off x="7680960" y="3749040"/>
            <a:ext cx="3959352" cy="594360"/>
          </a:xfrm>
          <a:prstGeom prst="rect">
            <a:avLst/>
          </a:prstGeom>
          <a:noFill/>
          <a:ln/>
        </p:spPr>
        <p:txBody>
          <a:bodyPr wrap="square" lIns="0" tIns="0" rIns="0" bIns="0" rtlCol="0" anchor="ctr"/>
          <a:lstStyle/>
          <a:p>
            <a:pPr algn="l" indent="0" marL="0">
              <a:buNone/>
            </a:pPr>
            <a:r>
              <a:rPr lang="en-US" sz="1150" i="1" dirty="0">
                <a:solidFill>
                  <a:schemeClr val="accent6"/>
                </a:solidFill>
              </a:rPr>
              <a:t>Sites: wheat (Ludhiana, Hissar), sorghum (Bijapur), groundnut (Dhenkanal), rice (Nadia)</a:t>
            </a:r>
            <a:endParaRPr lang="en-US" sz="1150" dirty="0"/>
          </a:p>
        </p:txBody>
      </p:sp>
      <p:sp>
        <p:nvSpPr>
          <p:cNvPr id="16" name="card"/>
          <p:cNvSpPr/>
          <p:nvPr/>
        </p:nvSpPr>
        <p:spPr>
          <a:xfrm>
            <a:off x="548640" y="5029200"/>
            <a:ext cx="219456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17" name="Text 13"/>
          <p:cNvSpPr txBox="1"/>
          <p:nvPr/>
        </p:nvSpPr>
        <p:spPr>
          <a:xfrm>
            <a:off x="548640" y="5102352"/>
            <a:ext cx="21945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Cambria" pitchFamily="34" charset="0"/>
                <a:ea typeface="Cambria" pitchFamily="34" charset="-122"/>
                <a:cs typeface="Cambria" pitchFamily="34" charset="-120"/>
              </a:rPr>
              <a:t>25–32%</a:t>
            </a:r>
            <a:endParaRPr lang="en-US" sz="2400" dirty="0"/>
          </a:p>
        </p:txBody>
      </p:sp>
      <p:sp>
        <p:nvSpPr>
          <p:cNvPr id="18" name="Text 14"/>
          <p:cNvSpPr txBox="1"/>
          <p:nvPr/>
        </p:nvSpPr>
        <p:spPr>
          <a:xfrm>
            <a:off x="640080" y="5632704"/>
            <a:ext cx="2011680" cy="384048"/>
          </a:xfrm>
          <a:prstGeom prst="rect">
            <a:avLst/>
          </a:prstGeom>
          <a:noFill/>
          <a:ln/>
        </p:spPr>
        <p:txBody>
          <a:bodyPr wrap="square" lIns="0" tIns="0" rIns="0" bIns="0" rtlCol="0" anchor="t"/>
          <a:lstStyle/>
          <a:p>
            <a:pPr algn="ctr" indent="0" marL="0">
              <a:buNone/>
            </a:pPr>
            <a:r>
              <a:rPr lang="en-US" sz="1100" dirty="0">
                <a:solidFill>
                  <a:schemeClr val="accent6"/>
                </a:solidFill>
              </a:rPr>
              <a:t>daily ET error vs field</a:t>
            </a:r>
            <a:endParaRPr lang="en-US" sz="1100" dirty="0"/>
          </a:p>
        </p:txBody>
      </p:sp>
      <p:sp>
        <p:nvSpPr>
          <p:cNvPr id="19" name="card"/>
          <p:cNvSpPr/>
          <p:nvPr/>
        </p:nvSpPr>
        <p:spPr>
          <a:xfrm>
            <a:off x="2880360" y="5029200"/>
            <a:ext cx="219456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20" name="Text 16"/>
          <p:cNvSpPr txBox="1"/>
          <p:nvPr/>
        </p:nvSpPr>
        <p:spPr>
          <a:xfrm>
            <a:off x="2880360" y="5102352"/>
            <a:ext cx="21945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r = 0.80</a:t>
            </a:r>
            <a:endParaRPr lang="en-US" sz="2400" dirty="0"/>
          </a:p>
        </p:txBody>
      </p:sp>
      <p:sp>
        <p:nvSpPr>
          <p:cNvPr id="21" name="Text 17"/>
          <p:cNvSpPr txBox="1"/>
          <p:nvPr/>
        </p:nvSpPr>
        <p:spPr>
          <a:xfrm>
            <a:off x="2971800" y="5632704"/>
            <a:ext cx="2011680" cy="384048"/>
          </a:xfrm>
          <a:prstGeom prst="rect">
            <a:avLst/>
          </a:prstGeom>
          <a:noFill/>
          <a:ln/>
        </p:spPr>
        <p:txBody>
          <a:bodyPr wrap="square" lIns="0" tIns="0" rIns="0" bIns="0" rtlCol="0" anchor="t"/>
          <a:lstStyle/>
          <a:p>
            <a:pPr algn="ctr" indent="0" marL="0">
              <a:buNone/>
            </a:pPr>
            <a:r>
              <a:rPr lang="en-US" sz="1100" dirty="0">
                <a:solidFill>
                  <a:schemeClr val="accent6"/>
                </a:solidFill>
              </a:rPr>
              <a:t>8-day ET vs MODIS (n = 52,853); RMSD 26%</a:t>
            </a:r>
            <a:endParaRPr lang="en-US" sz="1100" dirty="0"/>
          </a:p>
        </p:txBody>
      </p:sp>
      <p:sp>
        <p:nvSpPr>
          <p:cNvPr id="22" name="card"/>
          <p:cNvSpPr/>
          <p:nvPr/>
        </p:nvSpPr>
        <p:spPr>
          <a:xfrm>
            <a:off x="5212080" y="5029200"/>
            <a:ext cx="2286000" cy="1051560"/>
          </a:xfrm>
          <a:prstGeom prst="roundRect">
            <a:avLst>
              <a:gd name="adj" fmla="val 6957"/>
            </a:avLst>
          </a:prstGeom>
          <a:solidFill>
            <a:schemeClr val="bg2"/>
          </a:solidFill>
          <a:ln/>
          <a:effectLst>
            <a:outerShdw sx="100000" sy="100000" kx="0" ky="0" algn="bl" rotWithShape="0" blurRad="76200" dist="25400" dir="5400000">
              <a:srgbClr val="000000">
                <a:alpha val="14000"/>
              </a:srgbClr>
            </a:outerShdw>
          </a:effectLst>
        </p:spPr>
      </p:sp>
      <p:sp>
        <p:nvSpPr>
          <p:cNvPr id="23" name="Text 19"/>
          <p:cNvSpPr txBox="1"/>
          <p:nvPr/>
        </p:nvSpPr>
        <p:spPr>
          <a:xfrm>
            <a:off x="5212080" y="5102352"/>
            <a:ext cx="228600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 heterogeneity</a:t>
            </a:r>
            <a:endParaRPr lang="en-US" sz="2400" dirty="0"/>
          </a:p>
        </p:txBody>
      </p:sp>
      <p:sp>
        <p:nvSpPr>
          <p:cNvPr id="24" name="Text 20"/>
          <p:cNvSpPr txBox="1"/>
          <p:nvPr/>
        </p:nvSpPr>
        <p:spPr>
          <a:xfrm>
            <a:off x="5303520" y="5632704"/>
            <a:ext cx="2103120" cy="384048"/>
          </a:xfrm>
          <a:prstGeom prst="rect">
            <a:avLst/>
          </a:prstGeom>
          <a:noFill/>
          <a:ln/>
        </p:spPr>
        <p:txBody>
          <a:bodyPr wrap="square" lIns="0" tIns="0" rIns="0" bIns="0" rtlCol="0" anchor="t"/>
          <a:lstStyle/>
          <a:p>
            <a:pPr algn="ctr" indent="0" marL="0">
              <a:buNone/>
            </a:pPr>
            <a:r>
              <a:rPr lang="en-US" sz="1100" dirty="0">
                <a:solidFill>
                  <a:schemeClr val="accent6"/>
                </a:solidFill>
              </a:rPr>
              <a:t>error grows with partial cover</a:t>
            </a:r>
            <a:endParaRPr lang="en-US" sz="1100" dirty="0"/>
          </a:p>
        </p:txBody>
      </p:sp>
      <p:sp>
        <p:nvSpPr>
          <p:cNvPr id="25" name="card"/>
          <p:cNvSpPr/>
          <p:nvPr/>
        </p:nvSpPr>
        <p:spPr>
          <a:xfrm>
            <a:off x="7680960" y="4434840"/>
            <a:ext cx="3959352"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26" name="icon circle"/>
          <p:cNvSpPr/>
          <p:nvPr/>
        </p:nvSpPr>
        <p:spPr>
          <a:xfrm>
            <a:off x="7863840" y="4590288"/>
            <a:ext cx="420624" cy="420624"/>
          </a:xfrm>
          <a:prstGeom prst="ellipse">
            <a:avLst/>
          </a:prstGeom>
          <a:solidFill>
            <a:schemeClr val="accent5"/>
          </a:solidFill>
          <a:ln/>
        </p:spPr>
      </p:sp>
      <p:pic>
        <p:nvPicPr>
          <p:cNvPr id="27" name="Image 1" descr="ChartLine icon">    </p:cNvPr>
          <p:cNvPicPr>
            <a:picLocks noChangeAspect="1"/>
          </p:cNvPicPr>
          <p:nvPr/>
        </p:nvPicPr>
        <p:blipFill>
          <a:blip r:embed="rId2"/>
          <a:stretch>
            <a:fillRect/>
          </a:stretch>
        </p:blipFill>
        <p:spPr>
          <a:xfrm>
            <a:off x="7973202" y="4699650"/>
            <a:ext cx="201900" cy="201900"/>
          </a:xfrm>
          <a:prstGeom prst="rect">
            <a:avLst/>
          </a:prstGeom>
        </p:spPr>
      </p:pic>
      <p:sp>
        <p:nvSpPr>
          <p:cNvPr id="28" name="Text 23"/>
          <p:cNvSpPr txBox="1"/>
          <p:nvPr/>
        </p:nvSpPr>
        <p:spPr>
          <a:xfrm>
            <a:off x="8394192" y="4572000"/>
            <a:ext cx="3108960" cy="457200"/>
          </a:xfrm>
          <a:prstGeom prst="rect">
            <a:avLst/>
          </a:prstGeom>
          <a:noFill/>
          <a:ln/>
        </p:spPr>
        <p:txBody>
          <a:bodyPr wrap="square" lIns="0" tIns="0" rIns="0" bIns="0" rtlCol="0" anchor="ctr"/>
          <a:lstStyle/>
          <a:p>
            <a:pPr indent="0" marL="0">
              <a:buNone/>
            </a:pPr>
            <a:r>
              <a:rPr lang="en-US" sz="1350" b="1" dirty="0">
                <a:solidFill>
                  <a:schemeClr val="tx2"/>
                </a:solidFill>
              </a:rPr>
              <a:t>Next steps (authors)</a:t>
            </a:r>
            <a:endParaRPr lang="en-US" sz="1350" dirty="0"/>
          </a:p>
        </p:txBody>
      </p:sp>
      <p:sp>
        <p:nvSpPr>
          <p:cNvPr id="29" name="Text 24"/>
          <p:cNvSpPr txBox="1"/>
          <p:nvPr/>
        </p:nvSpPr>
        <p:spPr>
          <a:xfrm>
            <a:off x="7863840" y="5120640"/>
            <a:ext cx="3593592" cy="9601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INSAT-3D: 4 km split-window TIR, half-hourly → daily integral; two-source for sparse canopies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Error sources and sensitivity</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2011680"/>
                <a:gridCol w="2011680"/>
                <a:gridCol w="2011680"/>
              </a:tblGrid>
              <a:tr h="50292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Typical uncertainty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Net radiation Rn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5–10%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albedo, LST, ε, Rs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Soil heat flux 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20–30%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small at midday; ≈ 0 daily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Sensible heat 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15–20%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t>
                      </a:r>
                      <a:r>
                        <a:rPr lang="en-US" sz="1200" baseline="-40000" dirty="0">
                          <a:solidFill>
                            <a:schemeClr val="tx1"/>
                          </a:solidFill>
                          <a:latin typeface="Calibri" pitchFamily="34" charset="0"/>
                          <a:ea typeface="Calibri" pitchFamily="34" charset="-122"/>
                          <a:cs typeface="Calibri" pitchFamily="34" charset="-120"/>
                        </a:rPr>
                        <a:t>ah</a:t>
                      </a:r>
                      <a:r>
                        <a:rPr lang="en-US" sz="1200" dirty="0">
                          <a:solidFill>
                            <a:schemeClr val="tx1"/>
                          </a:solidFill>
                          <a:latin typeface="Calibri" pitchFamily="34" charset="0"/>
                          <a:ea typeface="Calibri" pitchFamily="34" charset="-122"/>
                          <a:cs typeface="Calibri" pitchFamily="34" charset="-120"/>
                        </a:rPr>
                        <a:t>, dT; ~ground-method error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EC closure (truth)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10–30%</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limits validation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SEBAL ET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~85% daily, ~95% seasonal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Bastiaanssen; Li 2009</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Kalpana-1 ET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25–32% daily; 26% 8-day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coarse, heterogeneous pixels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card"/>
          <p:cNvSpPr/>
          <p:nvPr/>
        </p:nvSpPr>
        <p:spPr>
          <a:xfrm>
            <a:off x="6812280" y="1280160"/>
            <a:ext cx="4828032" cy="685800"/>
          </a:xfrm>
          <a:prstGeom prst="roundRect">
            <a:avLst>
              <a:gd name="adj" fmla="val 10667"/>
            </a:avLst>
          </a:prstGeom>
          <a:solidFill>
            <a:schemeClr val="accent6"/>
          </a:solidFill>
          <a:ln/>
          <a:effectLst>
            <a:outerShdw sx="100000" sy="100000" kx="0" ky="0" algn="bl" rotWithShape="0" blurRad="76200" dist="25400" dir="5400000">
              <a:srgbClr val="000000">
                <a:alpha val="14000"/>
              </a:srgbClr>
            </a:outerShdw>
          </a:effectLst>
        </p:spPr>
      </p:sp>
      <p:sp>
        <p:nvSpPr>
          <p:cNvPr id="6" name="Text 2"/>
          <p:cNvSpPr txBox="1"/>
          <p:nvPr/>
        </p:nvSpPr>
        <p:spPr>
          <a:xfrm>
            <a:off x="6949440" y="1280160"/>
            <a:ext cx="4553712" cy="685800"/>
          </a:xfrm>
          <a:prstGeom prst="rect">
            <a:avLst/>
          </a:prstGeom>
          <a:noFill/>
          <a:ln/>
        </p:spPr>
        <p:txBody>
          <a:bodyPr wrap="square" lIns="0" tIns="0" rIns="0" bIns="0" rtlCol="0" anchor="ctr"/>
          <a:lstStyle/>
          <a:p>
            <a:pPr algn="ctr" indent="0" marL="0">
              <a:buNone/>
            </a:pPr>
            <a:r>
              <a:rPr lang="en-US" sz="1400" b="1" dirty="0">
                <a:solidFill>
                  <a:schemeClr val="bg1"/>
                </a:solidFill>
              </a:rPr>
              <a:t>S</a:t>
            </a:r>
            <a:r>
              <a:rPr lang="en-US" sz="1400" b="1" baseline="-40000" dirty="0">
                <a:solidFill>
                  <a:schemeClr val="bg1"/>
                </a:solidFill>
              </a:rPr>
              <a:t>v</a:t>
            </a:r>
            <a:r>
              <a:rPr lang="en-US" sz="1400" b="1" dirty="0">
                <a:solidFill>
                  <a:schemeClr val="bg1"/>
                </a:solidFill>
              </a:rPr>
              <a:t> = |(f</a:t>
            </a:r>
            <a:r>
              <a:rPr lang="en-US" sz="1400" b="1" baseline="-40000" dirty="0">
                <a:solidFill>
                  <a:schemeClr val="bg1"/>
                </a:solidFill>
              </a:rPr>
              <a:t>x+</a:t>
            </a:r>
            <a:r>
              <a:rPr lang="en-US" sz="1400" b="1" dirty="0">
                <a:solidFill>
                  <a:schemeClr val="bg1"/>
                </a:solidFill>
              </a:rPr>
              <a:t> − f</a:t>
            </a:r>
            <a:r>
              <a:rPr lang="en-US" sz="1400" b="1" baseline="-40000" dirty="0">
                <a:solidFill>
                  <a:schemeClr val="bg1"/>
                </a:solidFill>
              </a:rPr>
              <a:t>x−</a:t>
            </a:r>
            <a:r>
              <a:rPr lang="en-US" sz="1400" b="1" dirty="0">
                <a:solidFill>
                  <a:schemeClr val="bg1"/>
                </a:solidFill>
              </a:rPr>
              <a:t>) / f</a:t>
            </a:r>
            <a:r>
              <a:rPr lang="en-US" sz="1400" b="1" baseline="-40000" dirty="0">
                <a:solidFill>
                  <a:schemeClr val="bg1"/>
                </a:solidFill>
              </a:rPr>
              <a:t>r</a:t>
            </a:r>
            <a:r>
              <a:rPr lang="en-US" sz="1400" b="1" dirty="0">
                <a:solidFill>
                  <a:schemeClr val="bg1"/>
                </a:solidFill>
              </a:rPr>
              <a:t>|  (Bhattacharya et al. 2010)</a:t>
            </a:r>
            <a:endParaRPr lang="en-US" sz="1400" dirty="0"/>
          </a:p>
        </p:txBody>
      </p:sp>
      <p:sp>
        <p:nvSpPr>
          <p:cNvPr id="7" name="Text 3"/>
          <p:cNvSpPr txBox="1"/>
          <p:nvPr/>
        </p:nvSpPr>
        <p:spPr>
          <a:xfrm>
            <a:off x="6812280" y="2057400"/>
            <a:ext cx="4828032" cy="320040"/>
          </a:xfrm>
          <a:prstGeom prst="rect">
            <a:avLst/>
          </a:prstGeom>
          <a:noFill/>
          <a:ln/>
        </p:spPr>
        <p:txBody>
          <a:bodyPr wrap="square" lIns="0" tIns="0" rIns="0" bIns="0" rtlCol="0" anchor="ctr"/>
          <a:lstStyle/>
          <a:p>
            <a:pPr algn="l" indent="0" marL="0">
              <a:buNone/>
            </a:pPr>
            <a:r>
              <a:rPr lang="en-US" sz="1250" b="1" dirty="0">
                <a:solidFill>
                  <a:schemeClr val="tx2"/>
                </a:solidFill>
              </a:rPr>
              <a:t>Sensitivity of λE (Kalpana-1, ±10% inputs; ±1 K for T</a:t>
            </a:r>
            <a:r>
              <a:rPr lang="en-US" sz="1250" b="1" baseline="-40000" dirty="0">
                <a:solidFill>
                  <a:schemeClr val="tx2"/>
                </a:solidFill>
              </a:rPr>
              <a:t>s</a:t>
            </a:r>
            <a:r>
              <a:rPr lang="en-US" sz="1250" b="1" dirty="0">
                <a:solidFill>
                  <a:schemeClr val="tx2"/>
                </a:solidFill>
              </a:rPr>
              <a:t>)</a:t>
            </a:r>
            <a:endParaRPr lang="en-US" sz="1250" dirty="0"/>
          </a:p>
        </p:txBody>
      </p:sp>
      <p:sp>
        <p:nvSpPr>
          <p:cNvPr id="8" name="Text 4"/>
          <p:cNvSpPr txBox="1"/>
          <p:nvPr/>
        </p:nvSpPr>
        <p:spPr>
          <a:xfrm>
            <a:off x="6812280" y="2514600"/>
            <a:ext cx="1371600" cy="365760"/>
          </a:xfrm>
          <a:prstGeom prst="rect">
            <a:avLst/>
          </a:prstGeom>
          <a:noFill/>
          <a:ln/>
        </p:spPr>
        <p:txBody>
          <a:bodyPr wrap="square" lIns="0" tIns="0" rIns="0" bIns="0" rtlCol="0" anchor="ctr"/>
          <a:lstStyle/>
          <a:p>
            <a:pPr algn="l" indent="0" marL="0">
              <a:buNone/>
            </a:pPr>
            <a:r>
              <a:rPr lang="en-US" sz="1200" b="1" dirty="0">
                <a:solidFill>
                  <a:schemeClr val="tx1"/>
                </a:solidFill>
              </a:rPr>
              <a:t>T</a:t>
            </a:r>
            <a:r>
              <a:rPr lang="en-US" sz="1200" b="1" baseline="-40000" dirty="0">
                <a:solidFill>
                  <a:schemeClr val="tx1"/>
                </a:solidFill>
              </a:rPr>
              <a:t>s</a:t>
            </a:r>
            <a:r>
              <a:rPr lang="en-US" sz="1200" b="1" dirty="0">
                <a:solidFill>
                  <a:schemeClr val="tx1"/>
                </a:solidFill>
              </a:rPr>
              <a:t> (±1 K)</a:t>
            </a:r>
            <a:endParaRPr lang="en-US" sz="1200" dirty="0"/>
          </a:p>
        </p:txBody>
      </p:sp>
      <p:sp>
        <p:nvSpPr>
          <p:cNvPr id="9" name="track"/>
          <p:cNvSpPr/>
          <p:nvPr/>
        </p:nvSpPr>
        <p:spPr>
          <a:xfrm>
            <a:off x="8229600" y="2587752"/>
            <a:ext cx="2377440" cy="219456"/>
          </a:xfrm>
          <a:prstGeom prst="rect">
            <a:avLst/>
          </a:prstGeom>
          <a:solidFill>
            <a:srgbClr val="EEF1F4"/>
          </a:solidFill>
          <a:ln/>
        </p:spPr>
      </p:sp>
      <p:sp>
        <p:nvSpPr>
          <p:cNvPr id="10" name="range bar"/>
          <p:cNvSpPr/>
          <p:nvPr/>
        </p:nvSpPr>
        <p:spPr>
          <a:xfrm>
            <a:off x="8562442" y="2587752"/>
            <a:ext cx="737006" cy="219456"/>
          </a:xfrm>
          <a:prstGeom prst="rect">
            <a:avLst/>
          </a:prstGeom>
          <a:solidFill>
            <a:srgbClr val="C0702A"/>
          </a:solidFill>
          <a:ln/>
        </p:spPr>
      </p:sp>
      <p:sp>
        <p:nvSpPr>
          <p:cNvPr id="11" name="Text 7"/>
          <p:cNvSpPr txBox="1"/>
          <p:nvPr/>
        </p:nvSpPr>
        <p:spPr>
          <a:xfrm>
            <a:off x="10680192" y="2532888"/>
            <a:ext cx="960120" cy="320040"/>
          </a:xfrm>
          <a:prstGeom prst="rect">
            <a:avLst/>
          </a:prstGeom>
          <a:noFill/>
          <a:ln/>
        </p:spPr>
        <p:txBody>
          <a:bodyPr wrap="square" lIns="0" tIns="0" rIns="0" bIns="0" rtlCol="0" anchor="ctr"/>
          <a:lstStyle/>
          <a:p>
            <a:pPr algn="l" indent="0" marL="0">
              <a:buNone/>
            </a:pPr>
            <a:r>
              <a:rPr lang="en-US" sz="1050" dirty="0">
                <a:solidFill>
                  <a:schemeClr val="accent6"/>
                </a:solidFill>
              </a:rPr>
              <a:t>0.14–0.45</a:t>
            </a:r>
            <a:endParaRPr lang="en-US" sz="1050" dirty="0"/>
          </a:p>
        </p:txBody>
      </p:sp>
      <p:sp>
        <p:nvSpPr>
          <p:cNvPr id="12" name="Text 8"/>
          <p:cNvSpPr txBox="1"/>
          <p:nvPr/>
        </p:nvSpPr>
        <p:spPr>
          <a:xfrm>
            <a:off x="6812280" y="3081528"/>
            <a:ext cx="1371600" cy="365760"/>
          </a:xfrm>
          <a:prstGeom prst="rect">
            <a:avLst/>
          </a:prstGeom>
          <a:noFill/>
          <a:ln/>
        </p:spPr>
        <p:txBody>
          <a:bodyPr wrap="square" lIns="0" tIns="0" rIns="0" bIns="0" rtlCol="0" anchor="ctr"/>
          <a:lstStyle/>
          <a:p>
            <a:pPr algn="l" indent="0" marL="0">
              <a:buNone/>
            </a:pPr>
            <a:r>
              <a:rPr lang="en-US" sz="1200" b="1" dirty="0">
                <a:solidFill>
                  <a:schemeClr val="tx1"/>
                </a:solidFill>
              </a:rPr>
              <a:t>Insolation R</a:t>
            </a:r>
            <a:r>
              <a:rPr lang="en-US" sz="1200" b="1" baseline="-40000" dirty="0">
                <a:solidFill>
                  <a:schemeClr val="tx1"/>
                </a:solidFill>
              </a:rPr>
              <a:t>s</a:t>
            </a:r>
            <a:endParaRPr lang="en-US" sz="1200" dirty="0"/>
          </a:p>
        </p:txBody>
      </p:sp>
      <p:sp>
        <p:nvSpPr>
          <p:cNvPr id="13" name="track"/>
          <p:cNvSpPr/>
          <p:nvPr/>
        </p:nvSpPr>
        <p:spPr>
          <a:xfrm>
            <a:off x="8229600" y="3154680"/>
            <a:ext cx="2377440" cy="219456"/>
          </a:xfrm>
          <a:prstGeom prst="rect">
            <a:avLst/>
          </a:prstGeom>
          <a:solidFill>
            <a:srgbClr val="EEF1F4"/>
          </a:solidFill>
          <a:ln/>
        </p:spPr>
      </p:sp>
      <p:sp>
        <p:nvSpPr>
          <p:cNvPr id="14" name="range bar"/>
          <p:cNvSpPr/>
          <p:nvPr/>
        </p:nvSpPr>
        <p:spPr>
          <a:xfrm>
            <a:off x="8752637" y="3154680"/>
            <a:ext cx="190195" cy="219456"/>
          </a:xfrm>
          <a:prstGeom prst="rect">
            <a:avLst/>
          </a:prstGeom>
          <a:solidFill>
            <a:srgbClr val="EDAE49"/>
          </a:solidFill>
          <a:ln/>
        </p:spPr>
      </p:sp>
      <p:sp>
        <p:nvSpPr>
          <p:cNvPr id="15" name="Text 11"/>
          <p:cNvSpPr txBox="1"/>
          <p:nvPr/>
        </p:nvSpPr>
        <p:spPr>
          <a:xfrm>
            <a:off x="10680192" y="3099816"/>
            <a:ext cx="960120" cy="320040"/>
          </a:xfrm>
          <a:prstGeom prst="rect">
            <a:avLst/>
          </a:prstGeom>
          <a:noFill/>
          <a:ln/>
        </p:spPr>
        <p:txBody>
          <a:bodyPr wrap="square" lIns="0" tIns="0" rIns="0" bIns="0" rtlCol="0" anchor="ctr"/>
          <a:lstStyle/>
          <a:p>
            <a:pPr algn="l" indent="0" marL="0">
              <a:buNone/>
            </a:pPr>
            <a:r>
              <a:rPr lang="en-US" sz="1050" dirty="0">
                <a:solidFill>
                  <a:schemeClr val="accent6"/>
                </a:solidFill>
              </a:rPr>
              <a:t>0.22–0.30</a:t>
            </a:r>
            <a:endParaRPr lang="en-US" sz="1050" dirty="0"/>
          </a:p>
        </p:txBody>
      </p:sp>
      <p:sp>
        <p:nvSpPr>
          <p:cNvPr id="16" name="Text 12"/>
          <p:cNvSpPr txBox="1"/>
          <p:nvPr/>
        </p:nvSpPr>
        <p:spPr>
          <a:xfrm>
            <a:off x="6812280" y="3648456"/>
            <a:ext cx="1371600" cy="365760"/>
          </a:xfrm>
          <a:prstGeom prst="rect">
            <a:avLst/>
          </a:prstGeom>
          <a:noFill/>
          <a:ln/>
        </p:spPr>
        <p:txBody>
          <a:bodyPr wrap="square" lIns="0" tIns="0" rIns="0" bIns="0" rtlCol="0" anchor="ctr"/>
          <a:lstStyle/>
          <a:p>
            <a:pPr algn="l" indent="0" marL="0">
              <a:buNone/>
            </a:pPr>
            <a:r>
              <a:rPr lang="en-US" sz="1200" b="1" dirty="0">
                <a:solidFill>
                  <a:schemeClr val="tx1"/>
                </a:solidFill>
              </a:rPr>
              <a:t>Albedo</a:t>
            </a:r>
            <a:endParaRPr lang="en-US" sz="1200" dirty="0"/>
          </a:p>
        </p:txBody>
      </p:sp>
      <p:sp>
        <p:nvSpPr>
          <p:cNvPr id="17" name="track"/>
          <p:cNvSpPr/>
          <p:nvPr/>
        </p:nvSpPr>
        <p:spPr>
          <a:xfrm>
            <a:off x="8229600" y="3721608"/>
            <a:ext cx="2377440" cy="219456"/>
          </a:xfrm>
          <a:prstGeom prst="rect">
            <a:avLst/>
          </a:prstGeom>
          <a:solidFill>
            <a:srgbClr val="EEF1F4"/>
          </a:solidFill>
          <a:ln/>
        </p:spPr>
      </p:sp>
      <p:sp>
        <p:nvSpPr>
          <p:cNvPr id="18" name="range bar"/>
          <p:cNvSpPr/>
          <p:nvPr/>
        </p:nvSpPr>
        <p:spPr>
          <a:xfrm>
            <a:off x="8396021" y="3721608"/>
            <a:ext cx="2211019" cy="219456"/>
          </a:xfrm>
          <a:prstGeom prst="rect">
            <a:avLst/>
          </a:prstGeom>
          <a:solidFill>
            <a:srgbClr val="3B6EA5"/>
          </a:solidFill>
          <a:ln/>
        </p:spPr>
      </p:sp>
      <p:sp>
        <p:nvSpPr>
          <p:cNvPr id="19" name="Text 15"/>
          <p:cNvSpPr txBox="1"/>
          <p:nvPr/>
        </p:nvSpPr>
        <p:spPr>
          <a:xfrm>
            <a:off x="10680192" y="3666744"/>
            <a:ext cx="960120" cy="320040"/>
          </a:xfrm>
          <a:prstGeom prst="rect">
            <a:avLst/>
          </a:prstGeom>
          <a:noFill/>
          <a:ln/>
        </p:spPr>
        <p:txBody>
          <a:bodyPr wrap="square" lIns="0" tIns="0" rIns="0" bIns="0" rtlCol="0" anchor="ctr"/>
          <a:lstStyle/>
          <a:p>
            <a:pPr algn="l" indent="0" marL="0">
              <a:buNone/>
            </a:pPr>
            <a:r>
              <a:rPr lang="en-US" sz="1050" dirty="0">
                <a:solidFill>
                  <a:schemeClr val="accent6"/>
                </a:solidFill>
              </a:rPr>
              <a:t>0.07 to &gt;1</a:t>
            </a:r>
            <a:endParaRPr lang="en-US" sz="1050" dirty="0"/>
          </a:p>
        </p:txBody>
      </p:sp>
      <p:sp>
        <p:nvSpPr>
          <p:cNvPr id="20" name="Text 16"/>
          <p:cNvSpPr txBox="1"/>
          <p:nvPr/>
        </p:nvSpPr>
        <p:spPr>
          <a:xfrm>
            <a:off x="6812280" y="4215384"/>
            <a:ext cx="1371600" cy="365760"/>
          </a:xfrm>
          <a:prstGeom prst="rect">
            <a:avLst/>
          </a:prstGeom>
          <a:noFill/>
          <a:ln/>
        </p:spPr>
        <p:txBody>
          <a:bodyPr wrap="square" lIns="0" tIns="0" rIns="0" bIns="0" rtlCol="0" anchor="ctr"/>
          <a:lstStyle/>
          <a:p>
            <a:pPr algn="l" indent="0" marL="0">
              <a:buNone/>
            </a:pPr>
            <a:r>
              <a:rPr lang="en-US" sz="1200" b="1" dirty="0">
                <a:solidFill>
                  <a:schemeClr val="tx1"/>
                </a:solidFill>
              </a:rPr>
              <a:t>T</a:t>
            </a:r>
            <a:r>
              <a:rPr lang="en-US" sz="1200" b="1" baseline="-40000" dirty="0">
                <a:solidFill>
                  <a:schemeClr val="tx1"/>
                </a:solidFill>
              </a:rPr>
              <a:t>a</a:t>
            </a:r>
            <a:endParaRPr lang="en-US" sz="1200" dirty="0"/>
          </a:p>
        </p:txBody>
      </p:sp>
      <p:sp>
        <p:nvSpPr>
          <p:cNvPr id="21" name="track"/>
          <p:cNvSpPr/>
          <p:nvPr/>
        </p:nvSpPr>
        <p:spPr>
          <a:xfrm>
            <a:off x="8229600" y="4288536"/>
            <a:ext cx="2377440" cy="219456"/>
          </a:xfrm>
          <a:prstGeom prst="rect">
            <a:avLst/>
          </a:prstGeom>
          <a:solidFill>
            <a:srgbClr val="EEF1F4"/>
          </a:solidFill>
          <a:ln/>
        </p:spPr>
      </p:sp>
      <p:sp>
        <p:nvSpPr>
          <p:cNvPr id="22" name="range bar"/>
          <p:cNvSpPr/>
          <p:nvPr/>
        </p:nvSpPr>
        <p:spPr>
          <a:xfrm>
            <a:off x="8396021" y="4288536"/>
            <a:ext cx="166421" cy="219456"/>
          </a:xfrm>
          <a:prstGeom prst="rect">
            <a:avLst/>
          </a:prstGeom>
          <a:solidFill>
            <a:srgbClr val="6C4F9E"/>
          </a:solidFill>
          <a:ln/>
        </p:spPr>
      </p:sp>
      <p:sp>
        <p:nvSpPr>
          <p:cNvPr id="23" name="Text 19"/>
          <p:cNvSpPr txBox="1"/>
          <p:nvPr/>
        </p:nvSpPr>
        <p:spPr>
          <a:xfrm>
            <a:off x="10680192" y="4233672"/>
            <a:ext cx="960120" cy="320040"/>
          </a:xfrm>
          <a:prstGeom prst="rect">
            <a:avLst/>
          </a:prstGeom>
          <a:noFill/>
          <a:ln/>
        </p:spPr>
        <p:txBody>
          <a:bodyPr wrap="square" lIns="0" tIns="0" rIns="0" bIns="0" rtlCol="0" anchor="ctr"/>
          <a:lstStyle/>
          <a:p>
            <a:pPr algn="l" indent="0" marL="0">
              <a:buNone/>
            </a:pPr>
            <a:r>
              <a:rPr lang="en-US" sz="1050" dirty="0">
                <a:solidFill>
                  <a:schemeClr val="accent6"/>
                </a:solidFill>
              </a:rPr>
              <a:t>0.07–0.14</a:t>
            </a:r>
            <a:endParaRPr lang="en-US" sz="1050" dirty="0"/>
          </a:p>
        </p:txBody>
      </p:sp>
      <p:sp>
        <p:nvSpPr>
          <p:cNvPr id="24" name="Text 20"/>
          <p:cNvSpPr txBox="1"/>
          <p:nvPr/>
        </p:nvSpPr>
        <p:spPr>
          <a:xfrm>
            <a:off x="6812280" y="4782312"/>
            <a:ext cx="1371600" cy="365760"/>
          </a:xfrm>
          <a:prstGeom prst="rect">
            <a:avLst/>
          </a:prstGeom>
          <a:noFill/>
          <a:ln/>
        </p:spPr>
        <p:txBody>
          <a:bodyPr wrap="square" lIns="0" tIns="0" rIns="0" bIns="0" rtlCol="0" anchor="ctr"/>
          <a:lstStyle/>
          <a:p>
            <a:pPr algn="l" indent="0" marL="0">
              <a:buNone/>
            </a:pPr>
            <a:r>
              <a:rPr lang="en-US" sz="1200" b="1" dirty="0">
                <a:solidFill>
                  <a:schemeClr val="tx1"/>
                </a:solidFill>
              </a:rPr>
              <a:t>NDVI</a:t>
            </a:r>
            <a:endParaRPr lang="en-US" sz="1200" dirty="0"/>
          </a:p>
        </p:txBody>
      </p:sp>
      <p:sp>
        <p:nvSpPr>
          <p:cNvPr id="25" name="track"/>
          <p:cNvSpPr/>
          <p:nvPr/>
        </p:nvSpPr>
        <p:spPr>
          <a:xfrm>
            <a:off x="8229600" y="4855464"/>
            <a:ext cx="2377440" cy="219456"/>
          </a:xfrm>
          <a:prstGeom prst="rect">
            <a:avLst/>
          </a:prstGeom>
          <a:solidFill>
            <a:srgbClr val="EEF1F4"/>
          </a:solidFill>
          <a:ln/>
        </p:spPr>
      </p:sp>
      <p:sp>
        <p:nvSpPr>
          <p:cNvPr id="26" name="range bar"/>
          <p:cNvSpPr/>
          <p:nvPr/>
        </p:nvSpPr>
        <p:spPr>
          <a:xfrm>
            <a:off x="8229600" y="4855464"/>
            <a:ext cx="118872" cy="219456"/>
          </a:xfrm>
          <a:prstGeom prst="rect">
            <a:avLst/>
          </a:prstGeom>
          <a:solidFill>
            <a:srgbClr val="2E7D4F"/>
          </a:solidFill>
          <a:ln/>
        </p:spPr>
      </p:sp>
      <p:sp>
        <p:nvSpPr>
          <p:cNvPr id="27" name="Text 23"/>
          <p:cNvSpPr txBox="1"/>
          <p:nvPr/>
        </p:nvSpPr>
        <p:spPr>
          <a:xfrm>
            <a:off x="10680192" y="4800600"/>
            <a:ext cx="960120" cy="320040"/>
          </a:xfrm>
          <a:prstGeom prst="rect">
            <a:avLst/>
          </a:prstGeom>
          <a:noFill/>
          <a:ln/>
        </p:spPr>
        <p:txBody>
          <a:bodyPr wrap="square" lIns="0" tIns="0" rIns="0" bIns="0" rtlCol="0" anchor="ctr"/>
          <a:lstStyle/>
          <a:p>
            <a:pPr algn="l" indent="0" marL="0">
              <a:buNone/>
            </a:pPr>
            <a:r>
              <a:rPr lang="en-US" sz="1050" dirty="0">
                <a:solidFill>
                  <a:schemeClr val="accent6"/>
                </a:solidFill>
              </a:rPr>
              <a:t>0.00–0.05</a:t>
            </a:r>
            <a:endParaRPr lang="en-US" sz="1050" dirty="0"/>
          </a:p>
        </p:txBody>
      </p:sp>
      <p:sp>
        <p:nvSpPr>
          <p:cNvPr id="28" name="Text 24"/>
          <p:cNvSpPr txBox="1"/>
          <p:nvPr/>
        </p:nvSpPr>
        <p:spPr>
          <a:xfrm>
            <a:off x="6812280" y="5394960"/>
            <a:ext cx="4828032" cy="292608"/>
          </a:xfrm>
          <a:prstGeom prst="rect">
            <a:avLst/>
          </a:prstGeom>
          <a:noFill/>
          <a:ln/>
        </p:spPr>
        <p:txBody>
          <a:bodyPr wrap="square" lIns="0" tIns="0" rIns="0" bIns="0" rtlCol="0" anchor="ctr"/>
          <a:lstStyle/>
          <a:p>
            <a:pPr algn="l" indent="0" marL="0">
              <a:buNone/>
            </a:pPr>
            <a:r>
              <a:rPr lang="en-US" sz="1050" i="1" dirty="0">
                <a:solidFill>
                  <a:schemeClr val="accent6"/>
                </a:solidFill>
              </a:rPr>
              <a:t>Bars: range of S</a:t>
            </a:r>
            <a:r>
              <a:rPr lang="en-US" sz="1050" i="1" baseline="-40000" dirty="0">
                <a:solidFill>
                  <a:schemeClr val="accent6"/>
                </a:solidFill>
              </a:rPr>
              <a:t>v</a:t>
            </a:r>
            <a:r>
              <a:rPr lang="en-US" sz="1050" i="1" dirty="0">
                <a:solidFill>
                  <a:schemeClr val="accent6"/>
                </a:solidFill>
              </a:rPr>
              <a:t>(λE) across 5 crops and 3 stages (Table 5); scale 0–1</a:t>
            </a:r>
            <a:endParaRPr lang="en-US" sz="1050" dirty="0"/>
          </a:p>
        </p:txBody>
      </p:sp>
      <p:sp>
        <p:nvSpPr>
          <p:cNvPr id="29" name="insight"/>
          <p:cNvSpPr/>
          <p:nvPr/>
        </p:nvSpPr>
        <p:spPr>
          <a:xfrm>
            <a:off x="548640" y="5349240"/>
            <a:ext cx="6035040" cy="822960"/>
          </a:xfrm>
          <a:prstGeom prst="roundRect">
            <a:avLst>
              <a:gd name="adj" fmla="val 8889"/>
            </a:avLst>
          </a:prstGeom>
          <a:solidFill>
            <a:schemeClr val="bg2"/>
          </a:solidFill>
          <a:ln/>
        </p:spPr>
      </p:sp>
      <p:sp>
        <p:nvSpPr>
          <p:cNvPr id="30" name="icon circle"/>
          <p:cNvSpPr/>
          <p:nvPr/>
        </p:nvSpPr>
        <p:spPr>
          <a:xfrm>
            <a:off x="685800" y="5522976"/>
            <a:ext cx="475488" cy="475488"/>
          </a:xfrm>
          <a:prstGeom prst="ellipse">
            <a:avLst/>
          </a:prstGeom>
          <a:solidFill>
            <a:schemeClr val="accent3"/>
          </a:solidFill>
          <a:ln/>
        </p:spPr>
      </p:sp>
      <p:pic>
        <p:nvPicPr>
          <p:cNvPr id="31" name="Image 0" descr="Lightbulb icon">    </p:cNvPr>
          <p:cNvPicPr>
            <a:picLocks noChangeAspect="1"/>
          </p:cNvPicPr>
          <p:nvPr/>
        </p:nvPicPr>
        <p:blipFill>
          <a:blip r:embed="rId1"/>
          <a:stretch>
            <a:fillRect/>
          </a:stretch>
        </p:blipFill>
        <p:spPr>
          <a:xfrm>
            <a:off x="809427" y="5646603"/>
            <a:ext cx="228234" cy="228234"/>
          </a:xfrm>
          <a:prstGeom prst="rect">
            <a:avLst/>
          </a:prstGeom>
        </p:spPr>
      </p:pic>
      <p:sp>
        <p:nvSpPr>
          <p:cNvPr id="32" name="Text 27"/>
          <p:cNvSpPr txBox="1"/>
          <p:nvPr/>
        </p:nvSpPr>
        <p:spPr>
          <a:xfrm>
            <a:off x="1325880" y="5385816"/>
            <a:ext cx="5120640" cy="74980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Takeaway:</a:t>
            </a:r>
            <a:r>
              <a:rPr lang="en-US" sz="1350" dirty="0">
                <a:solidFill>
                  <a:schemeClr val="tx1"/>
                </a:solidFill>
              </a:rPr>
              <a:t> LST and radiation dominate; anchors (SEBAL/METRIC) and time differences (ALEXI) tame these errors</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Applications of satellite ET in agriculture</a:t>
            </a:r>
            <a:endParaRPr lang="en-US" sz="3200" dirty="0"/>
          </a:p>
        </p:txBody>
      </p:sp>
      <p:sp>
        <p:nvSpPr>
          <p:cNvPr id="4" name="card"/>
          <p:cNvSpPr/>
          <p:nvPr/>
        </p:nvSpPr>
        <p:spPr>
          <a:xfrm>
            <a:off x="548640" y="132588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481328"/>
            <a:ext cx="420624" cy="420624"/>
          </a:xfrm>
          <a:prstGeom prst="ellipse">
            <a:avLst/>
          </a:prstGeom>
          <a:solidFill>
            <a:srgbClr val="3B6EA5"/>
          </a:solidFill>
          <a:ln/>
        </p:spPr>
      </p:sp>
      <p:pic>
        <p:nvPicPr>
          <p:cNvPr id="6" name="Image 0" descr="Tint icon">    </p:cNvPr>
          <p:cNvPicPr>
            <a:picLocks noChangeAspect="1"/>
          </p:cNvPicPr>
          <p:nvPr/>
        </p:nvPicPr>
        <p:blipFill>
          <a:blip r:embed="rId1"/>
          <a:stretch>
            <a:fillRect/>
          </a:stretch>
        </p:blipFill>
        <p:spPr>
          <a:xfrm>
            <a:off x="840882" y="1590690"/>
            <a:ext cx="201900" cy="201900"/>
          </a:xfrm>
          <a:prstGeom prst="rect">
            <a:avLst/>
          </a:prstGeom>
        </p:spPr>
      </p:pic>
      <p:sp>
        <p:nvSpPr>
          <p:cNvPr id="7" name="Text 3"/>
          <p:cNvSpPr txBox="1"/>
          <p:nvPr/>
        </p:nvSpPr>
        <p:spPr>
          <a:xfrm>
            <a:off x="1261872" y="146304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Irrigation scheduling</a:t>
            </a:r>
            <a:endParaRPr lang="en-US" sz="1450" dirty="0"/>
          </a:p>
        </p:txBody>
      </p:sp>
      <p:sp>
        <p:nvSpPr>
          <p:cNvPr id="8" name="Text 4"/>
          <p:cNvSpPr txBox="1"/>
          <p:nvPr/>
        </p:nvSpPr>
        <p:spPr>
          <a:xfrm>
            <a:off x="731520" y="201168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ETa vs ETc deficit; advisories with ET0 forecasts</a:t>
            </a:r>
            <a:endParaRPr lang="en-US" sz="1250" dirty="0"/>
          </a:p>
        </p:txBody>
      </p:sp>
      <p:sp>
        <p:nvSpPr>
          <p:cNvPr id="9" name="card"/>
          <p:cNvSpPr/>
          <p:nvPr/>
        </p:nvSpPr>
        <p:spPr>
          <a:xfrm>
            <a:off x="4297680" y="132588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481328"/>
            <a:ext cx="420624" cy="420624"/>
          </a:xfrm>
          <a:prstGeom prst="ellipse">
            <a:avLst/>
          </a:prstGeom>
          <a:solidFill>
            <a:srgbClr val="1B4965"/>
          </a:solidFill>
          <a:ln/>
        </p:spPr>
      </p:sp>
      <p:pic>
        <p:nvPicPr>
          <p:cNvPr id="11" name="Image 1" descr="MapMarkedAlt icon">    </p:cNvPr>
          <p:cNvPicPr>
            <a:picLocks noChangeAspect="1"/>
          </p:cNvPicPr>
          <p:nvPr/>
        </p:nvPicPr>
        <p:blipFill>
          <a:blip r:embed="rId2"/>
          <a:stretch>
            <a:fillRect/>
          </a:stretch>
        </p:blipFill>
        <p:spPr>
          <a:xfrm>
            <a:off x="4589922" y="1590690"/>
            <a:ext cx="201900" cy="201900"/>
          </a:xfrm>
          <a:prstGeom prst="rect">
            <a:avLst/>
          </a:prstGeom>
        </p:spPr>
      </p:pic>
      <p:sp>
        <p:nvSpPr>
          <p:cNvPr id="12" name="Text 7"/>
          <p:cNvSpPr txBox="1"/>
          <p:nvPr/>
        </p:nvSpPr>
        <p:spPr>
          <a:xfrm>
            <a:off x="5010912" y="146304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Irrigation performance</a:t>
            </a:r>
            <a:endParaRPr lang="en-US" sz="1450" dirty="0"/>
          </a:p>
        </p:txBody>
      </p:sp>
      <p:sp>
        <p:nvSpPr>
          <p:cNvPr id="13" name="Text 8"/>
          <p:cNvSpPr txBox="1"/>
          <p:nvPr/>
        </p:nvSpPr>
        <p:spPr>
          <a:xfrm>
            <a:off x="4480560" y="201168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Relative ET = ETa/ETp: adequacy, equity, uniformity in commands</a:t>
            </a:r>
            <a:endParaRPr lang="en-US" sz="1250" dirty="0"/>
          </a:p>
        </p:txBody>
      </p:sp>
      <p:sp>
        <p:nvSpPr>
          <p:cNvPr id="14" name="card"/>
          <p:cNvSpPr/>
          <p:nvPr/>
        </p:nvSpPr>
        <p:spPr>
          <a:xfrm>
            <a:off x="8046720" y="132588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481328"/>
            <a:ext cx="420624" cy="420624"/>
          </a:xfrm>
          <a:prstGeom prst="ellipse">
            <a:avLst/>
          </a:prstGeom>
          <a:solidFill>
            <a:srgbClr val="2E7D4F"/>
          </a:solidFill>
          <a:ln/>
        </p:spPr>
      </p:sp>
      <p:pic>
        <p:nvPicPr>
          <p:cNvPr id="16" name="Image 2" descr="Seedling icon">    </p:cNvPr>
          <p:cNvPicPr>
            <a:picLocks noChangeAspect="1"/>
          </p:cNvPicPr>
          <p:nvPr/>
        </p:nvPicPr>
        <p:blipFill>
          <a:blip r:embed="rId3"/>
          <a:stretch>
            <a:fillRect/>
          </a:stretch>
        </p:blipFill>
        <p:spPr>
          <a:xfrm>
            <a:off x="8338962" y="1590690"/>
            <a:ext cx="201900" cy="201900"/>
          </a:xfrm>
          <a:prstGeom prst="rect">
            <a:avLst/>
          </a:prstGeom>
        </p:spPr>
      </p:pic>
      <p:sp>
        <p:nvSpPr>
          <p:cNvPr id="17" name="Text 11"/>
          <p:cNvSpPr txBox="1"/>
          <p:nvPr/>
        </p:nvSpPr>
        <p:spPr>
          <a:xfrm>
            <a:off x="8759952" y="146304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Water productivity</a:t>
            </a:r>
            <a:endParaRPr lang="en-US" sz="1450" dirty="0"/>
          </a:p>
        </p:txBody>
      </p:sp>
      <p:sp>
        <p:nvSpPr>
          <p:cNvPr id="18" name="Text 12"/>
          <p:cNvSpPr txBox="1"/>
          <p:nvPr/>
        </p:nvSpPr>
        <p:spPr>
          <a:xfrm>
            <a:off x="8229600" y="201168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WP = yield / ET (kg m⁻³); FAO WaPOR</a:t>
            </a:r>
            <a:endParaRPr lang="en-US" sz="1250" dirty="0"/>
          </a:p>
        </p:txBody>
      </p:sp>
      <p:sp>
        <p:nvSpPr>
          <p:cNvPr id="19" name="card"/>
          <p:cNvSpPr/>
          <p:nvPr/>
        </p:nvSpPr>
        <p:spPr>
          <a:xfrm>
            <a:off x="548640" y="342900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584448"/>
            <a:ext cx="420624" cy="420624"/>
          </a:xfrm>
          <a:prstGeom prst="ellipse">
            <a:avLst/>
          </a:prstGeom>
          <a:solidFill>
            <a:srgbClr val="C0702A"/>
          </a:solidFill>
          <a:ln/>
        </p:spPr>
      </p:sp>
      <p:pic>
        <p:nvPicPr>
          <p:cNvPr id="21" name="Image 3" descr="ThermometerHalf icon">    </p:cNvPr>
          <p:cNvPicPr>
            <a:picLocks noChangeAspect="1"/>
          </p:cNvPicPr>
          <p:nvPr/>
        </p:nvPicPr>
        <p:blipFill>
          <a:blip r:embed="rId4"/>
          <a:stretch>
            <a:fillRect/>
          </a:stretch>
        </p:blipFill>
        <p:spPr>
          <a:xfrm>
            <a:off x="840882" y="3693810"/>
            <a:ext cx="201900" cy="201900"/>
          </a:xfrm>
          <a:prstGeom prst="rect">
            <a:avLst/>
          </a:prstGeom>
        </p:spPr>
      </p:pic>
      <p:sp>
        <p:nvSpPr>
          <p:cNvPr id="22" name="Text 15"/>
          <p:cNvSpPr txBox="1"/>
          <p:nvPr/>
        </p:nvSpPr>
        <p:spPr>
          <a:xfrm>
            <a:off x="1261872" y="356616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Drought monitoring</a:t>
            </a:r>
            <a:endParaRPr lang="en-US" sz="1450" dirty="0"/>
          </a:p>
        </p:txBody>
      </p:sp>
      <p:sp>
        <p:nvSpPr>
          <p:cNvPr id="23" name="Text 16"/>
          <p:cNvSpPr txBox="1"/>
          <p:nvPr/>
        </p:nvSpPr>
        <p:spPr>
          <a:xfrm>
            <a:off x="731520" y="411480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ESI = 1 − ET/PET; ET anomalies; flash drought</a:t>
            </a:r>
            <a:endParaRPr lang="en-US" sz="1250" dirty="0"/>
          </a:p>
        </p:txBody>
      </p:sp>
      <p:sp>
        <p:nvSpPr>
          <p:cNvPr id="24" name="card"/>
          <p:cNvSpPr/>
          <p:nvPr/>
        </p:nvSpPr>
        <p:spPr>
          <a:xfrm>
            <a:off x="4297680" y="342900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4480560" y="3584448"/>
            <a:ext cx="420624" cy="420624"/>
          </a:xfrm>
          <a:prstGeom prst="ellipse">
            <a:avLst/>
          </a:prstGeom>
          <a:solidFill>
            <a:srgbClr val="6C4F9E"/>
          </a:solidFill>
          <a:ln/>
        </p:spPr>
      </p:sp>
      <p:pic>
        <p:nvPicPr>
          <p:cNvPr id="26" name="Image 4" descr="ChartLine icon">    </p:cNvPr>
          <p:cNvPicPr>
            <a:picLocks noChangeAspect="1"/>
          </p:cNvPicPr>
          <p:nvPr/>
        </p:nvPicPr>
        <p:blipFill>
          <a:blip r:embed="rId5"/>
          <a:stretch>
            <a:fillRect/>
          </a:stretch>
        </p:blipFill>
        <p:spPr>
          <a:xfrm>
            <a:off x="4589922" y="3693810"/>
            <a:ext cx="201900" cy="201900"/>
          </a:xfrm>
          <a:prstGeom prst="rect">
            <a:avLst/>
          </a:prstGeom>
        </p:spPr>
      </p:pic>
      <p:sp>
        <p:nvSpPr>
          <p:cNvPr id="27" name="Text 19"/>
          <p:cNvSpPr txBox="1"/>
          <p:nvPr/>
        </p:nvSpPr>
        <p:spPr>
          <a:xfrm>
            <a:off x="5010912" y="356616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Yield forecasting</a:t>
            </a:r>
            <a:endParaRPr lang="en-US" sz="1450" dirty="0"/>
          </a:p>
        </p:txBody>
      </p:sp>
      <p:sp>
        <p:nvSpPr>
          <p:cNvPr id="28" name="Text 20"/>
          <p:cNvSpPr txBox="1"/>
          <p:nvPr/>
        </p:nvSpPr>
        <p:spPr>
          <a:xfrm>
            <a:off x="4480560" y="411480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ET/PET stress in crop models; water-limited yield</a:t>
            </a:r>
            <a:endParaRPr lang="en-US" sz="1250" dirty="0"/>
          </a:p>
        </p:txBody>
      </p:sp>
      <p:sp>
        <p:nvSpPr>
          <p:cNvPr id="29" name="card"/>
          <p:cNvSpPr/>
          <p:nvPr/>
        </p:nvSpPr>
        <p:spPr>
          <a:xfrm>
            <a:off x="8046720" y="3429000"/>
            <a:ext cx="3547872" cy="1920240"/>
          </a:xfrm>
          <a:prstGeom prst="roundRect">
            <a:avLst>
              <a:gd name="adj" fmla="val 3810"/>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8229600" y="3584448"/>
            <a:ext cx="420624" cy="420624"/>
          </a:xfrm>
          <a:prstGeom prst="ellipse">
            <a:avLst/>
          </a:prstGeom>
          <a:solidFill>
            <a:srgbClr val="5C6B73"/>
          </a:solidFill>
          <a:ln/>
        </p:spPr>
      </p:sp>
      <p:pic>
        <p:nvPicPr>
          <p:cNvPr id="31" name="Image 5" descr="Water icon">    </p:cNvPr>
          <p:cNvPicPr>
            <a:picLocks noChangeAspect="1"/>
          </p:cNvPicPr>
          <p:nvPr/>
        </p:nvPicPr>
        <p:blipFill>
          <a:blip r:embed="rId6"/>
          <a:stretch>
            <a:fillRect/>
          </a:stretch>
        </p:blipFill>
        <p:spPr>
          <a:xfrm>
            <a:off x="8338962" y="3693810"/>
            <a:ext cx="201900" cy="201900"/>
          </a:xfrm>
          <a:prstGeom prst="rect">
            <a:avLst/>
          </a:prstGeom>
        </p:spPr>
      </p:pic>
      <p:sp>
        <p:nvSpPr>
          <p:cNvPr id="32" name="Text 23"/>
          <p:cNvSpPr txBox="1"/>
          <p:nvPr/>
        </p:nvSpPr>
        <p:spPr>
          <a:xfrm>
            <a:off x="8759952" y="3566160"/>
            <a:ext cx="2697480" cy="457200"/>
          </a:xfrm>
          <a:prstGeom prst="rect">
            <a:avLst/>
          </a:prstGeom>
          <a:noFill/>
          <a:ln/>
        </p:spPr>
        <p:txBody>
          <a:bodyPr wrap="square" lIns="0" tIns="0" rIns="0" bIns="0" rtlCol="0" anchor="ctr"/>
          <a:lstStyle/>
          <a:p>
            <a:pPr indent="0" marL="0">
              <a:buNone/>
            </a:pPr>
            <a:r>
              <a:rPr lang="en-US" sz="1450" b="1" dirty="0">
                <a:solidFill>
                  <a:schemeClr val="tx2"/>
                </a:solidFill>
              </a:rPr>
              <a:t>Water accounting</a:t>
            </a:r>
            <a:endParaRPr lang="en-US" sz="1450" dirty="0"/>
          </a:p>
        </p:txBody>
      </p:sp>
      <p:sp>
        <p:nvSpPr>
          <p:cNvPr id="33" name="Text 24"/>
          <p:cNvSpPr txBox="1"/>
          <p:nvPr/>
        </p:nvSpPr>
        <p:spPr>
          <a:xfrm>
            <a:off x="8229600" y="4114800"/>
            <a:ext cx="3182112" cy="1143000"/>
          </a:xfrm>
          <a:prstGeom prst="rect">
            <a:avLst/>
          </a:prstGeom>
          <a:noFill/>
          <a:ln/>
        </p:spPr>
        <p:txBody>
          <a:bodyPr wrap="square" lIns="508" tIns="508" rIns="508" bIns="508" rtlCol="0" anchor="t"/>
          <a:lstStyle/>
          <a:p>
            <a:pPr indent="0" marL="0">
              <a:spcAft>
                <a:spcPts val="400"/>
              </a:spcAft>
              <a:buNone/>
            </a:pPr>
            <a:r>
              <a:rPr lang="en-US" sz="1250" dirty="0">
                <a:solidFill>
                  <a:schemeClr val="tx1"/>
                </a:solidFill>
              </a:rPr>
              <a:t>Consumptive use, groundwater depletion, basin budgets (WA+)</a:t>
            </a:r>
            <a:endParaRPr lang="en-US" sz="1250" dirty="0"/>
          </a:p>
        </p:txBody>
      </p:sp>
      <p:sp>
        <p:nvSpPr>
          <p:cNvPr id="34" name="insight"/>
          <p:cNvSpPr/>
          <p:nvPr/>
        </p:nvSpPr>
        <p:spPr>
          <a:xfrm>
            <a:off x="548640" y="5577840"/>
            <a:ext cx="11094415" cy="594360"/>
          </a:xfrm>
          <a:prstGeom prst="roundRect">
            <a:avLst>
              <a:gd name="adj" fmla="val 12308"/>
            </a:avLst>
          </a:prstGeom>
          <a:solidFill>
            <a:schemeClr val="bg2"/>
          </a:solidFill>
          <a:ln/>
        </p:spPr>
      </p:sp>
      <p:sp>
        <p:nvSpPr>
          <p:cNvPr id="35" name="icon circle"/>
          <p:cNvSpPr/>
          <p:nvPr/>
        </p:nvSpPr>
        <p:spPr>
          <a:xfrm>
            <a:off x="685800" y="5637276"/>
            <a:ext cx="475488" cy="475488"/>
          </a:xfrm>
          <a:prstGeom prst="ellipse">
            <a:avLst/>
          </a:prstGeom>
          <a:solidFill>
            <a:schemeClr val="accent3"/>
          </a:solidFill>
          <a:ln/>
        </p:spPr>
      </p:sp>
      <p:pic>
        <p:nvPicPr>
          <p:cNvPr id="36" name="Image 6" descr="Lightbulb icon">    </p:cNvPr>
          <p:cNvPicPr>
            <a:picLocks noChangeAspect="1"/>
          </p:cNvPicPr>
          <p:nvPr/>
        </p:nvPicPr>
        <p:blipFill>
          <a:blip r:embed="rId7"/>
          <a:stretch>
            <a:fillRect/>
          </a:stretch>
        </p:blipFill>
        <p:spPr>
          <a:xfrm>
            <a:off x="809427" y="5760903"/>
            <a:ext cx="228234" cy="228234"/>
          </a:xfrm>
          <a:prstGeom prst="rect">
            <a:avLst/>
          </a:prstGeom>
        </p:spPr>
      </p:pic>
      <p:sp>
        <p:nvSpPr>
          <p:cNvPr id="37" name="Text 27"/>
          <p:cNvSpPr txBox="1"/>
          <p:nvPr/>
        </p:nvSpPr>
        <p:spPr>
          <a:xfrm>
            <a:off x="1325880" y="5614416"/>
            <a:ext cx="10180015" cy="52120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Indian relevance:</a:t>
            </a:r>
            <a:r>
              <a:rPr lang="en-US" sz="1350" dirty="0">
                <a:solidFill>
                  <a:schemeClr val="tx1"/>
                </a:solidFill>
              </a:rPr>
              <a:t> canal command assessment, groundwater-stressed Punjab–Haryana, crop water budgets for FASAL-type forecasts and drought declaration</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Indian missions and future directions</a:t>
            </a:r>
            <a:endParaRPr lang="en-US" sz="3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2834640"/>
                <a:gridCol w="3931920"/>
              </a:tblGrid>
              <a:tr h="54864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Mission / sensor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Relevance to ET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Kalpana-1 VHRR (2002–2017)</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First Indian geostationary ET (SAC, 8 km)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INSAT-3D / 3DR Imager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 km split-window LST, insolation; 15–30 min (MOSDAC)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TRISHNA (ISRO–CNES, planned)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~57 m TIR, few-day revisit: field-scale ET, water stress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EOS-04 RISAT-1A, NISAR</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Microwave soil moisture: cloudy-day constraint, GLEAM-type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Resourcesat LISS/AWiFS, Sentinel-2</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NDVI → Kcb; land cover; albedo</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ECOSTRESS, Landsat Next, LSTM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International high-resolution thermal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card"/>
          <p:cNvSpPr/>
          <p:nvPr/>
        </p:nvSpPr>
        <p:spPr>
          <a:xfrm>
            <a:off x="7498080" y="1280160"/>
            <a:ext cx="4142232" cy="3840480"/>
          </a:xfrm>
          <a:prstGeom prst="roundRect">
            <a:avLst>
              <a:gd name="adj" fmla="val 1905"/>
            </a:avLst>
          </a:prstGeom>
          <a:solidFill>
            <a:schemeClr val="bg2"/>
          </a:solidFill>
          <a:ln/>
          <a:effectLst>
            <a:outerShdw sx="100000" sy="100000" kx="0" ky="0" algn="bl" rotWithShape="0" blurRad="76200" dist="25400" dir="5400000">
              <a:srgbClr val="000000">
                <a:alpha val="14000"/>
              </a:srgbClr>
            </a:outerShdw>
          </a:effectLst>
        </p:spPr>
      </p:sp>
      <p:sp>
        <p:nvSpPr>
          <p:cNvPr id="6" name="icon circle"/>
          <p:cNvSpPr/>
          <p:nvPr/>
        </p:nvSpPr>
        <p:spPr>
          <a:xfrm>
            <a:off x="7680960" y="1435608"/>
            <a:ext cx="420624" cy="420624"/>
          </a:xfrm>
          <a:prstGeom prst="ellipse">
            <a:avLst/>
          </a:prstGeom>
          <a:solidFill>
            <a:schemeClr val="accent2"/>
          </a:solidFill>
          <a:ln/>
        </p:spPr>
      </p:sp>
      <p:pic>
        <p:nvPicPr>
          <p:cNvPr id="7" name="Image 0" descr="Satellite icon">    </p:cNvPr>
          <p:cNvPicPr>
            <a:picLocks noChangeAspect="1"/>
          </p:cNvPicPr>
          <p:nvPr/>
        </p:nvPicPr>
        <p:blipFill>
          <a:blip r:embed="rId1"/>
          <a:stretch>
            <a:fillRect/>
          </a:stretch>
        </p:blipFill>
        <p:spPr>
          <a:xfrm>
            <a:off x="7790322" y="1544970"/>
            <a:ext cx="201900" cy="201900"/>
          </a:xfrm>
          <a:prstGeom prst="rect">
            <a:avLst/>
          </a:prstGeom>
        </p:spPr>
      </p:pic>
      <p:sp>
        <p:nvSpPr>
          <p:cNvPr id="8" name="Text 3"/>
          <p:cNvSpPr txBox="1"/>
          <p:nvPr/>
        </p:nvSpPr>
        <p:spPr>
          <a:xfrm>
            <a:off x="8211312" y="141732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Future directions</a:t>
            </a:r>
            <a:endParaRPr lang="en-US" sz="1600" dirty="0"/>
          </a:p>
        </p:txBody>
      </p:sp>
      <p:sp>
        <p:nvSpPr>
          <p:cNvPr id="9" name="Text 4"/>
          <p:cNvSpPr txBox="1"/>
          <p:nvPr/>
        </p:nvSpPr>
        <p:spPr>
          <a:xfrm>
            <a:off x="7680960" y="1965960"/>
            <a:ext cx="3776472" cy="3063240"/>
          </a:xfrm>
          <a:prstGeom prst="rect">
            <a:avLst/>
          </a:prstGeom>
          <a:noFill/>
          <a:ln/>
        </p:spPr>
        <p:txBody>
          <a:bodyPr wrap="square" lIns="508" tIns="508" rIns="508" bIns="508" rtlCol="0" anchor="t"/>
          <a:lstStyle/>
          <a:p>
            <a:pPr marL="177800" indent="-177800">
              <a:spcAft>
                <a:spcPts val="400"/>
              </a:spcAft>
              <a:buSzPct val="100000"/>
              <a:buChar char="•"/>
            </a:pPr>
            <a:r>
              <a:rPr lang="en-US" sz="1250" dirty="0">
                <a:solidFill>
                  <a:schemeClr val="tx1"/>
                </a:solidFill>
              </a:rPr>
              <a:t>Ensembles (OpenET) to reduce model spread</a:t>
            </a:r>
            <a:endParaRPr lang="en-US" sz="1250" dirty="0"/>
          </a:p>
          <a:p>
            <a:pPr marL="177800" indent="-177800">
              <a:spcAft>
                <a:spcPts val="400"/>
              </a:spcAft>
              <a:buSzPct val="100000"/>
              <a:buChar char="•"/>
            </a:pPr>
            <a:r>
              <a:rPr lang="en-US" sz="1250" dirty="0">
                <a:solidFill>
                  <a:schemeClr val="tx1"/>
                </a:solidFill>
              </a:rPr>
              <a:t>Machine-learning hybrids trained on flux towers (FLUXCOM)</a:t>
            </a:r>
            <a:endParaRPr lang="en-US" sz="1250" dirty="0"/>
          </a:p>
          <a:p>
            <a:pPr marL="177800" indent="-177800">
              <a:spcAft>
                <a:spcPts val="400"/>
              </a:spcAft>
              <a:buSzPct val="100000"/>
              <a:buChar char="•"/>
            </a:pPr>
            <a:r>
              <a:rPr lang="en-US" sz="1250" dirty="0">
                <a:solidFill>
                  <a:schemeClr val="tx1"/>
                </a:solidFill>
              </a:rPr>
              <a:t>Assimilation of LST + soil moisture into land surface models</a:t>
            </a:r>
            <a:endParaRPr lang="en-US" sz="1250" dirty="0"/>
          </a:p>
          <a:p>
            <a:pPr marL="177800" indent="-177800">
              <a:spcAft>
                <a:spcPts val="400"/>
              </a:spcAft>
              <a:buSzPct val="100000"/>
              <a:buChar char="•"/>
            </a:pPr>
            <a:r>
              <a:rPr lang="en-US" sz="1250" dirty="0">
                <a:solidFill>
                  <a:schemeClr val="tx1"/>
                </a:solidFill>
              </a:rPr>
              <a:t>SIF for transpiration and E/T partitioning</a:t>
            </a:r>
            <a:endParaRPr lang="en-US" sz="1250" dirty="0"/>
          </a:p>
          <a:p>
            <a:pPr marL="177800" indent="-177800">
              <a:spcAft>
                <a:spcPts val="400"/>
              </a:spcAft>
              <a:buSzPct val="100000"/>
              <a:buChar char="•"/>
            </a:pPr>
            <a:r>
              <a:rPr lang="en-US" sz="1250" dirty="0">
                <a:solidFill>
                  <a:schemeClr val="tx1"/>
                </a:solidFill>
              </a:rPr>
              <a:t>All-weather ET with microwave LST and soil moisture</a:t>
            </a:r>
            <a:endParaRPr lang="en-US" sz="1250" dirty="0"/>
          </a:p>
        </p:txBody>
      </p:sp>
      <p:sp>
        <p:nvSpPr>
          <p:cNvPr id="10" name="insight"/>
          <p:cNvSpPr/>
          <p:nvPr/>
        </p:nvSpPr>
        <p:spPr>
          <a:xfrm>
            <a:off x="548640" y="5303520"/>
            <a:ext cx="11094415" cy="868680"/>
          </a:xfrm>
          <a:prstGeom prst="roundRect">
            <a:avLst>
              <a:gd name="adj" fmla="val 8421"/>
            </a:avLst>
          </a:prstGeom>
          <a:solidFill>
            <a:schemeClr val="bg2"/>
          </a:solidFill>
          <a:ln/>
        </p:spPr>
      </p:sp>
      <p:sp>
        <p:nvSpPr>
          <p:cNvPr id="11" name="icon circle"/>
          <p:cNvSpPr/>
          <p:nvPr/>
        </p:nvSpPr>
        <p:spPr>
          <a:xfrm>
            <a:off x="685800" y="5500116"/>
            <a:ext cx="475488" cy="475488"/>
          </a:xfrm>
          <a:prstGeom prst="ellipse">
            <a:avLst/>
          </a:prstGeom>
          <a:solidFill>
            <a:schemeClr val="accent3"/>
          </a:solidFill>
          <a:ln/>
        </p:spPr>
      </p:sp>
      <p:pic>
        <p:nvPicPr>
          <p:cNvPr id="12" name="Image 1" descr="Lightbulb icon">    </p:cNvPr>
          <p:cNvPicPr>
            <a:picLocks noChangeAspect="1"/>
          </p:cNvPicPr>
          <p:nvPr/>
        </p:nvPicPr>
        <p:blipFill>
          <a:blip r:embed="rId2"/>
          <a:stretch>
            <a:fillRect/>
          </a:stretch>
        </p:blipFill>
        <p:spPr>
          <a:xfrm>
            <a:off x="809427" y="5623743"/>
            <a:ext cx="228234" cy="228234"/>
          </a:xfrm>
          <a:prstGeom prst="rect">
            <a:avLst/>
          </a:prstGeom>
        </p:spPr>
      </p:pic>
      <p:sp>
        <p:nvSpPr>
          <p:cNvPr id="13" name="Text 7"/>
          <p:cNvSpPr txBox="1"/>
          <p:nvPr/>
        </p:nvSpPr>
        <p:spPr>
          <a:xfrm>
            <a:off x="1325880" y="5340096"/>
            <a:ext cx="10180015" cy="795528"/>
          </a:xfrm>
          <a:prstGeom prst="rect">
            <a:avLst/>
          </a:prstGeom>
          <a:noFill/>
          <a:ln/>
        </p:spPr>
        <p:txBody>
          <a:bodyPr wrap="square" lIns="508" tIns="508" rIns="508" bIns="508" rtlCol="0" anchor="ctr"/>
          <a:lstStyle/>
          <a:p>
            <a:pPr indent="0" marL="0">
              <a:spcAft>
                <a:spcPts val="600"/>
              </a:spcAft>
              <a:buNone/>
            </a:pPr>
            <a:r>
              <a:rPr lang="en-US" sz="1350" b="1" dirty="0">
                <a:solidFill>
                  <a:schemeClr val="tx1"/>
                </a:solidFill>
              </a:rPr>
              <a:t>Key gap:</a:t>
            </a:r>
            <a:r>
              <a:rPr lang="en-US" sz="1350" dirty="0">
                <a:solidFill>
                  <a:schemeClr val="tx1"/>
                </a:solidFill>
              </a:rPr>
              <a:t> frequent, high-resolution thermal data — TRISHNA is designed to fill it for Indian agriculture</a:t>
            </a:r>
            <a:endParaRPr lang="en-US" sz="13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Comparing methods and their limitations</a:t>
            </a:r>
            <a:endParaRPr lang="en-US" sz="3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240280"/>
                <a:gridCol w="1600200"/>
                <a:gridCol w="2240280"/>
                <a:gridCol w="2514600"/>
                <a:gridCol w="2496312"/>
              </a:tblGrid>
              <a:tr h="42976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Key inputs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Strength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Simplified Ts − 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Empirical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Rn</a:t>
                      </a:r>
                      <a:r>
                        <a:rPr lang="en-US" sz="1150" baseline="-40000" dirty="0">
                          <a:solidFill>
                            <a:schemeClr val="tx1"/>
                          </a:solidFill>
                          <a:latin typeface="Calibri" pitchFamily="34" charset="0"/>
                          <a:ea typeface="Calibri" pitchFamily="34" charset="-122"/>
                          <a:cs typeface="Calibri" pitchFamily="34" charset="-120"/>
                        </a:rPr>
                        <a:t>d</a:t>
                      </a:r>
                      <a:r>
                        <a:rPr lang="en-US" sz="1150" dirty="0">
                          <a:solidFill>
                            <a:schemeClr val="tx1"/>
                          </a:solidFill>
                          <a:latin typeface="Calibri" pitchFamily="34" charset="0"/>
                          <a:ea typeface="Calibri" pitchFamily="34" charset="-122"/>
                          <a:cs typeface="Calibri" pitchFamily="34" charset="-120"/>
                        </a:rPr>
                        <a:t>, 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T</a:t>
                      </a:r>
                      <a:r>
                        <a:rPr lang="en-US" sz="1150" baseline="-40000" dirty="0">
                          <a:solidFill>
                            <a:schemeClr val="tx1"/>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Very simple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Site-specific B, 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Ts–VI triangle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Contextual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VI, Rn − G</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No ground data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Needs full wetness range; edges subjective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SEBAL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Single-source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α, NDVI, u</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Internal calibration; minimal data</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Anchor choice; flat terrain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Single-source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 hourly ETr, DEM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Advection; slope; field scale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Anchor choice; needs weather station</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SEBS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Single-source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LAI, T</a:t>
                      </a:r>
                      <a:r>
                        <a:rPr lang="en-US" sz="1150" baseline="-40000" dirty="0">
                          <a:solidFill>
                            <a:schemeClr val="tx1"/>
                          </a:solidFill>
                          <a:latin typeface="Calibri" pitchFamily="34" charset="0"/>
                          <a:ea typeface="Calibri" pitchFamily="34" charset="-122"/>
                          <a:cs typeface="Calibri" pitchFamily="34" charset="-120"/>
                        </a:rPr>
                        <a:t>a</a:t>
                      </a:r>
                      <a:r>
                        <a:rPr lang="en-US" sz="1150" dirty="0">
                          <a:solidFill>
                            <a:schemeClr val="tx1"/>
                          </a:solidFill>
                          <a:latin typeface="Calibri" pitchFamily="34" charset="0"/>
                          <a:ea typeface="Calibri" pitchFamily="34" charset="-122"/>
                          <a:cs typeface="Calibri" pitchFamily="34" charset="-120"/>
                        </a:rPr>
                        <a:t>, u, RH</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Physical limits; dynamic kB⁻¹</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Many parameters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S-SEBI / Kalpana-1</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Contextual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s</a:t>
                      </a:r>
                      <a:r>
                        <a:rPr lang="en-US" sz="1150" dirty="0">
                          <a:solidFill>
                            <a:schemeClr val="tx1"/>
                          </a:solidFill>
                          <a:latin typeface="Calibri" pitchFamily="34" charset="0"/>
                          <a:ea typeface="Calibri" pitchFamily="34" charset="-122"/>
                          <a:cs typeface="Calibri" pitchFamily="34" charset="-120"/>
                        </a:rPr>
                        <a:t>, α</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Image only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Uniform atmosphere; extremes needed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TSEB</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Two-source</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a:t>
                      </a:r>
                      <a:r>
                        <a:rPr lang="en-US" sz="1150" baseline="-40000" dirty="0">
                          <a:solidFill>
                            <a:schemeClr val="tx1"/>
                          </a:solidFill>
                          <a:latin typeface="Calibri" pitchFamily="34" charset="0"/>
                          <a:ea typeface="Calibri" pitchFamily="34" charset="-122"/>
                          <a:cs typeface="Calibri" pitchFamily="34" charset="-120"/>
                        </a:rPr>
                        <a:t>RAD</a:t>
                      </a:r>
                      <a:r>
                        <a:rPr lang="en-US" sz="1150" dirty="0">
                          <a:solidFill>
                            <a:schemeClr val="tx1"/>
                          </a:solidFill>
                          <a:latin typeface="Calibri" pitchFamily="34" charset="0"/>
                          <a:ea typeface="Calibri" pitchFamily="34" charset="-122"/>
                          <a:cs typeface="Calibri" pitchFamily="34" charset="-120"/>
                        </a:rPr>
                        <a:t>(θ), LAI, h, T</a:t>
                      </a:r>
                      <a:r>
                        <a:rPr lang="en-US" sz="1150" baseline="-40000" dirty="0">
                          <a:solidFill>
                            <a:schemeClr val="tx1"/>
                          </a:solidFill>
                          <a:latin typeface="Calibri" pitchFamily="34" charset="0"/>
                          <a:ea typeface="Calibri" pitchFamily="34" charset="-122"/>
                          <a:cs typeface="Calibri" pitchFamily="34" charset="-120"/>
                        </a:rPr>
                        <a:t>a</a:t>
                      </a:r>
                      <a:r>
                        <a:rPr lang="en-US" sz="1150" dirty="0">
                          <a:solidFill>
                            <a:schemeClr val="tx1"/>
                          </a:solidFill>
                          <a:latin typeface="Calibri" pitchFamily="34" charset="0"/>
                          <a:ea typeface="Calibri" pitchFamily="34" charset="-122"/>
                          <a:cs typeface="Calibri" pitchFamily="34" charset="-120"/>
                        </a:rPr>
                        <a:t>, u</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Sparse crops; E/T split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More inputs; component temps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ALEXI / DisALEXI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Two-source + ABL</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ΔT</a:t>
                      </a:r>
                      <a:r>
                        <a:rPr lang="en-US" sz="1150" baseline="-40000" dirty="0">
                          <a:solidFill>
                            <a:schemeClr val="tx1"/>
                          </a:solidFill>
                          <a:latin typeface="Calibri" pitchFamily="34" charset="0"/>
                          <a:ea typeface="Calibri" pitchFamily="34" charset="-122"/>
                          <a:cs typeface="Calibri" pitchFamily="34" charset="-120"/>
                        </a:rPr>
                        <a:t>RAD</a:t>
                      </a:r>
                      <a:r>
                        <a:rPr lang="en-US" sz="1150" dirty="0">
                          <a:solidFill>
                            <a:schemeClr val="tx1"/>
                          </a:solidFill>
                          <a:latin typeface="Calibri" pitchFamily="34" charset="0"/>
                          <a:ea typeface="Calibri" pitchFamily="34" charset="-122"/>
                          <a:cs typeface="Calibri" pitchFamily="34" charset="-120"/>
                        </a:rPr>
                        <a:t> (geo), LAI</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No T</a:t>
                      </a:r>
                      <a:r>
                        <a:rPr lang="en-US" sz="1150" baseline="-40000" dirty="0">
                          <a:solidFill>
                            <a:schemeClr val="tx1"/>
                          </a:solidFill>
                          <a:latin typeface="Calibri" pitchFamily="34" charset="0"/>
                          <a:ea typeface="Calibri" pitchFamily="34" charset="-122"/>
                          <a:cs typeface="Calibri" pitchFamily="34" charset="-120"/>
                        </a:rPr>
                        <a:t>a</a:t>
                      </a:r>
                      <a:r>
                        <a:rPr lang="en-US" sz="1150" dirty="0">
                          <a:solidFill>
                            <a:schemeClr val="tx1"/>
                          </a:solidFill>
                          <a:latin typeface="Calibri" pitchFamily="34" charset="0"/>
                          <a:ea typeface="Calibri" pitchFamily="34" charset="-122"/>
                          <a:cs typeface="Calibri" pitchFamily="34" charset="-120"/>
                        </a:rPr>
                        <a:t>; robust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Geostationary; coarse; clear sky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29768">
                <a:tc>
                  <a:txBody>
                    <a:bodyPr/>
                    <a:lstStyle/>
                    <a:p>
                      <a:pPr indent="0" marL="0">
                        <a:buNone/>
                      </a:pPr>
                      <a:r>
                        <a:rPr lang="en-US" sz="1150" b="1" dirty="0">
                          <a:solidFill>
                            <a:schemeClr val="tx2"/>
                          </a:solidFill>
                          <a:latin typeface="Calibri" pitchFamily="34" charset="0"/>
                          <a:ea typeface="Calibri" pitchFamily="34" charset="-122"/>
                          <a:cs typeface="Calibri" pitchFamily="34" charset="-120"/>
                        </a:rPr>
                        <a:t>MOD16 / PT-JPL / GLEAM</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PM / PT</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LAI, Rn, met reanalysis</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Global, daily</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Coarse; stress parameterised</a:t>
                      </a:r>
                      <a:endParaRPr lang="en-US" sz="1200" dirty="0">
                        <a:latin typeface="Calibri" charset="0"/>
                        <a:ea typeface="Calibri" charset="0"/>
                        <a:cs typeface="Calibri" charset="0"/>
                      </a:endParaRPr>
                    </a:p>
                  </a:txBody>
                  <a:tcPr marL="63500" marR="63500" marT="38100" marB="38100"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788152"/>
            <a:ext cx="2697480" cy="320040"/>
          </a:xfrm>
          <a:prstGeom prst="rect">
            <a:avLst/>
          </a:prstGeom>
          <a:noFill/>
          <a:ln/>
        </p:spPr>
        <p:txBody>
          <a:bodyPr wrap="square" lIns="0" tIns="0" rIns="0" bIns="0" rtlCol="0" anchor="ctr"/>
          <a:lstStyle/>
          <a:p>
            <a:pPr algn="l" indent="0" marL="0">
              <a:buNone/>
            </a:pPr>
            <a:r>
              <a:rPr lang="en-US" sz="1250" b="1" dirty="0">
                <a:solidFill>
                  <a:schemeClr val="tx2"/>
                </a:solidFill>
              </a:rPr>
              <a:t>Common problems (Li et al. 2009):</a:t>
            </a:r>
            <a:endParaRPr lang="en-US" sz="1250" dirty="0"/>
          </a:p>
        </p:txBody>
      </p:sp>
      <p:sp>
        <p:nvSpPr>
          <p:cNvPr id="6" name="tag"/>
          <p:cNvSpPr/>
          <p:nvPr/>
        </p:nvSpPr>
        <p:spPr>
          <a:xfrm>
            <a:off x="3291840" y="5806440"/>
            <a:ext cx="1353312" cy="292608"/>
          </a:xfrm>
          <a:prstGeom prst="roundRect">
            <a:avLst>
              <a:gd name="adj" fmla="val 50000"/>
            </a:avLst>
          </a:prstGeom>
          <a:solidFill>
            <a:srgbClr val="3B6EA5"/>
          </a:solidFill>
          <a:ln/>
        </p:spPr>
      </p:sp>
      <p:sp>
        <p:nvSpPr>
          <p:cNvPr id="7" name="Text 3"/>
          <p:cNvSpPr txBox="1"/>
          <p:nvPr/>
        </p:nvSpPr>
        <p:spPr>
          <a:xfrm>
            <a:off x="3291840"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Clouds, revisit</a:t>
            </a:r>
            <a:endParaRPr lang="en-US" sz="1100" dirty="0"/>
          </a:p>
        </p:txBody>
      </p:sp>
      <p:sp>
        <p:nvSpPr>
          <p:cNvPr id="8" name="tag"/>
          <p:cNvSpPr/>
          <p:nvPr/>
        </p:nvSpPr>
        <p:spPr>
          <a:xfrm>
            <a:off x="4690872" y="5806440"/>
            <a:ext cx="1353312" cy="292608"/>
          </a:xfrm>
          <a:prstGeom prst="roundRect">
            <a:avLst>
              <a:gd name="adj" fmla="val 50000"/>
            </a:avLst>
          </a:prstGeom>
          <a:solidFill>
            <a:srgbClr val="1B4965"/>
          </a:solidFill>
          <a:ln/>
        </p:spPr>
      </p:sp>
      <p:sp>
        <p:nvSpPr>
          <p:cNvPr id="9" name="Text 5"/>
          <p:cNvSpPr txBox="1"/>
          <p:nvPr/>
        </p:nvSpPr>
        <p:spPr>
          <a:xfrm>
            <a:off x="4690872"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Model assumptions</a:t>
            </a:r>
            <a:endParaRPr lang="en-US" sz="1100" dirty="0"/>
          </a:p>
        </p:txBody>
      </p:sp>
      <p:sp>
        <p:nvSpPr>
          <p:cNvPr id="10" name="tag"/>
          <p:cNvSpPr/>
          <p:nvPr/>
        </p:nvSpPr>
        <p:spPr>
          <a:xfrm>
            <a:off x="6089904" y="5806440"/>
            <a:ext cx="1353312" cy="292608"/>
          </a:xfrm>
          <a:prstGeom prst="roundRect">
            <a:avLst>
              <a:gd name="adj" fmla="val 50000"/>
            </a:avLst>
          </a:prstGeom>
          <a:solidFill>
            <a:srgbClr val="C0702A"/>
          </a:solidFill>
          <a:ln/>
        </p:spPr>
      </p:sp>
      <p:sp>
        <p:nvSpPr>
          <p:cNvPr id="11" name="Text 7"/>
          <p:cNvSpPr txBox="1"/>
          <p:nvPr/>
        </p:nvSpPr>
        <p:spPr>
          <a:xfrm>
            <a:off x="6089904"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LST, ε accuracy</a:t>
            </a:r>
            <a:endParaRPr lang="en-US" sz="1100" dirty="0"/>
          </a:p>
        </p:txBody>
      </p:sp>
      <p:sp>
        <p:nvSpPr>
          <p:cNvPr id="12" name="tag"/>
          <p:cNvSpPr/>
          <p:nvPr/>
        </p:nvSpPr>
        <p:spPr>
          <a:xfrm>
            <a:off x="7488936" y="5806440"/>
            <a:ext cx="1353312" cy="292608"/>
          </a:xfrm>
          <a:prstGeom prst="roundRect">
            <a:avLst>
              <a:gd name="adj" fmla="val 50000"/>
            </a:avLst>
          </a:prstGeom>
          <a:solidFill>
            <a:srgbClr val="6C4F9E"/>
          </a:solidFill>
          <a:ln/>
        </p:spPr>
      </p:sp>
      <p:sp>
        <p:nvSpPr>
          <p:cNvPr id="13" name="Text 9"/>
          <p:cNvSpPr txBox="1"/>
          <p:nvPr/>
        </p:nvSpPr>
        <p:spPr>
          <a:xfrm>
            <a:off x="7488936"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Sparse met data</a:t>
            </a:r>
            <a:endParaRPr lang="en-US" sz="1100" dirty="0"/>
          </a:p>
        </p:txBody>
      </p:sp>
      <p:sp>
        <p:nvSpPr>
          <p:cNvPr id="14" name="tag"/>
          <p:cNvSpPr/>
          <p:nvPr/>
        </p:nvSpPr>
        <p:spPr>
          <a:xfrm>
            <a:off x="8887968" y="5806440"/>
            <a:ext cx="1353312" cy="292608"/>
          </a:xfrm>
          <a:prstGeom prst="roundRect">
            <a:avLst>
              <a:gd name="adj" fmla="val 50000"/>
            </a:avLst>
          </a:prstGeom>
          <a:solidFill>
            <a:srgbClr val="2E7D4F"/>
          </a:solidFill>
          <a:ln/>
        </p:spPr>
      </p:sp>
      <p:sp>
        <p:nvSpPr>
          <p:cNvPr id="15" name="Text 11"/>
          <p:cNvSpPr txBox="1"/>
          <p:nvPr/>
        </p:nvSpPr>
        <p:spPr>
          <a:xfrm>
            <a:off x="8887968"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Scale effects</a:t>
            </a:r>
            <a:endParaRPr lang="en-US" sz="1100" dirty="0"/>
          </a:p>
        </p:txBody>
      </p:sp>
      <p:sp>
        <p:nvSpPr>
          <p:cNvPr id="16" name="tag"/>
          <p:cNvSpPr/>
          <p:nvPr/>
        </p:nvSpPr>
        <p:spPr>
          <a:xfrm>
            <a:off x="10287000" y="5806440"/>
            <a:ext cx="1353312" cy="292608"/>
          </a:xfrm>
          <a:prstGeom prst="roundRect">
            <a:avLst>
              <a:gd name="adj" fmla="val 50000"/>
            </a:avLst>
          </a:prstGeom>
          <a:solidFill>
            <a:srgbClr val="5C6B73"/>
          </a:solidFill>
          <a:ln/>
        </p:spPr>
      </p:sp>
      <p:sp>
        <p:nvSpPr>
          <p:cNvPr id="17" name="Text 13"/>
          <p:cNvSpPr txBox="1"/>
          <p:nvPr/>
        </p:nvSpPr>
        <p:spPr>
          <a:xfrm>
            <a:off x="10287000" y="5806440"/>
            <a:ext cx="1353312" cy="292608"/>
          </a:xfrm>
          <a:prstGeom prst="rect">
            <a:avLst/>
          </a:prstGeom>
          <a:noFill/>
          <a:ln/>
        </p:spPr>
        <p:txBody>
          <a:bodyPr wrap="square" lIns="0" tIns="0" rIns="0" bIns="0" rtlCol="0" anchor="ctr"/>
          <a:lstStyle/>
          <a:p>
            <a:pPr algn="ctr" indent="0" marL="0">
              <a:buNone/>
            </a:pPr>
            <a:r>
              <a:rPr lang="en-US" sz="1100" b="1" dirty="0">
                <a:solidFill>
                  <a:schemeClr val="bg1"/>
                </a:solidFill>
              </a:rPr>
              <a:t>Pixel validation</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End-to-end workflow and choosing a model</a:t>
            </a:r>
            <a:endParaRPr lang="en-US" sz="3200" dirty="0"/>
          </a:p>
        </p:txBody>
      </p:sp>
      <p:sp>
        <p:nvSpPr>
          <p:cNvPr id="4" name="diagram box"/>
          <p:cNvSpPr/>
          <p:nvPr/>
        </p:nvSpPr>
        <p:spPr>
          <a:xfrm>
            <a:off x="548640" y="1325880"/>
            <a:ext cx="2542032" cy="1325880"/>
          </a:xfrm>
          <a:prstGeom prst="roundRect">
            <a:avLst>
              <a:gd name="adj" fmla="val 5517"/>
            </a:avLst>
          </a:prstGeom>
          <a:solidFill>
            <a:srgbClr val="3B6EA5"/>
          </a:solidFill>
          <a:ln/>
        </p:spPr>
      </p:sp>
      <p:sp>
        <p:nvSpPr>
          <p:cNvPr id="5" name="Text 2"/>
          <p:cNvSpPr txBox="1"/>
          <p:nvPr/>
        </p:nvSpPr>
        <p:spPr>
          <a:xfrm>
            <a:off x="548640" y="13258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Data</a:t>
            </a:r>
            <a:endParaRPr lang="en-US" sz="1400" dirty="0"/>
          </a:p>
          <a:p>
            <a:pPr algn="ctr" indent="0" marL="0">
              <a:buNone/>
            </a:pPr>
            <a:r>
              <a:rPr lang="en-US" sz="1100" b="1" dirty="0">
                <a:solidFill>
                  <a:schemeClr val="bg1"/>
                </a:solidFill>
              </a:rPr>
              <a:t>VNIR, TIR, weather (ET0, u), DEM</a:t>
            </a:r>
            <a:endParaRPr lang="en-US" sz="1400" dirty="0"/>
          </a:p>
        </p:txBody>
      </p:sp>
      <p:sp>
        <p:nvSpPr>
          <p:cNvPr id="6" name="arrow"/>
          <p:cNvSpPr/>
          <p:nvPr/>
        </p:nvSpPr>
        <p:spPr>
          <a:xfrm>
            <a:off x="3099816" y="1984248"/>
            <a:ext cx="256032" cy="0"/>
          </a:xfrm>
          <a:prstGeom prst="line">
            <a:avLst/>
          </a:prstGeom>
          <a:noFill/>
          <a:ln w="28575">
            <a:solidFill>
              <a:srgbClr val="1E2430"/>
            </a:solidFill>
            <a:prstDash val="solid"/>
            <a:tailEnd type="triangle"/>
          </a:ln>
        </p:spPr>
      </p:sp>
      <p:sp>
        <p:nvSpPr>
          <p:cNvPr id="7" name="diagram box"/>
          <p:cNvSpPr/>
          <p:nvPr/>
        </p:nvSpPr>
        <p:spPr>
          <a:xfrm>
            <a:off x="3364992" y="1325880"/>
            <a:ext cx="2542032" cy="1325880"/>
          </a:xfrm>
          <a:prstGeom prst="roundRect">
            <a:avLst>
              <a:gd name="adj" fmla="val 5517"/>
            </a:avLst>
          </a:prstGeom>
          <a:solidFill>
            <a:srgbClr val="1B4965"/>
          </a:solidFill>
          <a:ln/>
        </p:spPr>
      </p:sp>
      <p:sp>
        <p:nvSpPr>
          <p:cNvPr id="8" name="Text 5"/>
          <p:cNvSpPr txBox="1"/>
          <p:nvPr/>
        </p:nvSpPr>
        <p:spPr>
          <a:xfrm>
            <a:off x="3364992" y="13258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Pre-processing</a:t>
            </a:r>
            <a:endParaRPr lang="en-US" sz="1400" dirty="0"/>
          </a:p>
          <a:p>
            <a:pPr algn="ctr" indent="0" marL="0">
              <a:buNone/>
            </a:pPr>
            <a:r>
              <a:rPr lang="en-US" sz="1100" b="1" dirty="0">
                <a:solidFill>
                  <a:schemeClr val="bg1"/>
                </a:solidFill>
              </a:rPr>
              <a:t>cloud mask, atmos. correction, LST, α, NDVI, LAI, ε</a:t>
            </a:r>
            <a:endParaRPr lang="en-US" sz="1400" dirty="0"/>
          </a:p>
        </p:txBody>
      </p:sp>
      <p:sp>
        <p:nvSpPr>
          <p:cNvPr id="9" name="arrow"/>
          <p:cNvSpPr/>
          <p:nvPr/>
        </p:nvSpPr>
        <p:spPr>
          <a:xfrm>
            <a:off x="5916168" y="1984248"/>
            <a:ext cx="256032" cy="0"/>
          </a:xfrm>
          <a:prstGeom prst="line">
            <a:avLst/>
          </a:prstGeom>
          <a:noFill/>
          <a:ln w="28575">
            <a:solidFill>
              <a:srgbClr val="1E2430"/>
            </a:solidFill>
            <a:prstDash val="solid"/>
            <a:tailEnd type="triangle"/>
          </a:ln>
        </p:spPr>
      </p:sp>
      <p:sp>
        <p:nvSpPr>
          <p:cNvPr id="10" name="diagram box"/>
          <p:cNvSpPr/>
          <p:nvPr/>
        </p:nvSpPr>
        <p:spPr>
          <a:xfrm>
            <a:off x="6181344" y="1325880"/>
            <a:ext cx="2542032" cy="1325880"/>
          </a:xfrm>
          <a:prstGeom prst="roundRect">
            <a:avLst>
              <a:gd name="adj" fmla="val 5517"/>
            </a:avLst>
          </a:prstGeom>
          <a:solidFill>
            <a:srgbClr val="6C4F9E"/>
          </a:solidFill>
          <a:ln/>
        </p:spPr>
      </p:sp>
      <p:sp>
        <p:nvSpPr>
          <p:cNvPr id="11" name="Text 8"/>
          <p:cNvSpPr txBox="1"/>
          <p:nvPr/>
        </p:nvSpPr>
        <p:spPr>
          <a:xfrm>
            <a:off x="6181344" y="13258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Model</a:t>
            </a:r>
            <a:endParaRPr lang="en-US" sz="1400" dirty="0"/>
          </a:p>
          <a:p>
            <a:pPr algn="ctr" indent="0" marL="0">
              <a:buNone/>
            </a:pPr>
            <a:r>
              <a:rPr lang="en-US" sz="1100" b="1" dirty="0">
                <a:solidFill>
                  <a:schemeClr val="bg1"/>
                </a:solidFill>
              </a:rPr>
              <a:t>SEBAL / METRIC / SEBS / S-SEBI / TSEB / ALEXI / PM-PT</a:t>
            </a:r>
            <a:endParaRPr lang="en-US" sz="1400" dirty="0"/>
          </a:p>
        </p:txBody>
      </p:sp>
      <p:sp>
        <p:nvSpPr>
          <p:cNvPr id="12" name="arrow"/>
          <p:cNvSpPr/>
          <p:nvPr/>
        </p:nvSpPr>
        <p:spPr>
          <a:xfrm>
            <a:off x="8732520" y="1984248"/>
            <a:ext cx="256032" cy="0"/>
          </a:xfrm>
          <a:prstGeom prst="line">
            <a:avLst/>
          </a:prstGeom>
          <a:noFill/>
          <a:ln w="28575">
            <a:solidFill>
              <a:srgbClr val="1E2430"/>
            </a:solidFill>
            <a:prstDash val="solid"/>
            <a:tailEnd type="triangle"/>
          </a:ln>
        </p:spPr>
      </p:sp>
      <p:sp>
        <p:nvSpPr>
          <p:cNvPr id="13" name="diagram box"/>
          <p:cNvSpPr/>
          <p:nvPr/>
        </p:nvSpPr>
        <p:spPr>
          <a:xfrm>
            <a:off x="8997696" y="1325880"/>
            <a:ext cx="2542032" cy="1325880"/>
          </a:xfrm>
          <a:prstGeom prst="roundRect">
            <a:avLst>
              <a:gd name="adj" fmla="val 5517"/>
            </a:avLst>
          </a:prstGeom>
          <a:solidFill>
            <a:srgbClr val="2E7D4F"/>
          </a:solidFill>
          <a:ln/>
        </p:spPr>
      </p:sp>
      <p:sp>
        <p:nvSpPr>
          <p:cNvPr id="14" name="Text 11"/>
          <p:cNvSpPr txBox="1"/>
          <p:nvPr/>
        </p:nvSpPr>
        <p:spPr>
          <a:xfrm>
            <a:off x="8997696" y="13258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Instantaneous λE</a:t>
            </a:r>
            <a:endParaRPr lang="en-US" sz="1400" dirty="0"/>
          </a:p>
          <a:p>
            <a:pPr algn="ctr" indent="0" marL="0">
              <a:buNone/>
            </a:pPr>
            <a:r>
              <a:rPr lang="en-US" sz="1100" b="1" dirty="0">
                <a:solidFill>
                  <a:schemeClr val="bg1"/>
                </a:solidFill>
              </a:rPr>
              <a:t>λE = Rn − G − H or EF × (Rn − G)</a:t>
            </a:r>
            <a:endParaRPr lang="en-US" sz="1400" dirty="0"/>
          </a:p>
        </p:txBody>
      </p:sp>
      <p:sp>
        <p:nvSpPr>
          <p:cNvPr id="15" name="diagram box"/>
          <p:cNvSpPr/>
          <p:nvPr/>
        </p:nvSpPr>
        <p:spPr>
          <a:xfrm>
            <a:off x="548640" y="2926080"/>
            <a:ext cx="2542032" cy="1325880"/>
          </a:xfrm>
          <a:prstGeom prst="roundRect">
            <a:avLst>
              <a:gd name="adj" fmla="val 5517"/>
            </a:avLst>
          </a:prstGeom>
          <a:solidFill>
            <a:srgbClr val="C0702A"/>
          </a:solidFill>
          <a:ln/>
        </p:spPr>
      </p:sp>
      <p:sp>
        <p:nvSpPr>
          <p:cNvPr id="16" name="Text 13"/>
          <p:cNvSpPr txBox="1"/>
          <p:nvPr/>
        </p:nvSpPr>
        <p:spPr>
          <a:xfrm>
            <a:off x="548640" y="29260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Daily ET</a:t>
            </a:r>
            <a:endParaRPr lang="en-US" sz="1400" dirty="0"/>
          </a:p>
          <a:p>
            <a:pPr algn="ctr" indent="0" marL="0">
              <a:buNone/>
            </a:pPr>
            <a:r>
              <a:rPr lang="en-US" sz="1100" b="1" dirty="0">
                <a:solidFill>
                  <a:schemeClr val="bg1"/>
                </a:solidFill>
              </a:rPr>
              <a:t>constant EF or ETrF; sine; geostationary</a:t>
            </a:r>
            <a:endParaRPr lang="en-US" sz="1400" dirty="0"/>
          </a:p>
        </p:txBody>
      </p:sp>
      <p:sp>
        <p:nvSpPr>
          <p:cNvPr id="17" name="arrow"/>
          <p:cNvSpPr/>
          <p:nvPr/>
        </p:nvSpPr>
        <p:spPr>
          <a:xfrm>
            <a:off x="3099816" y="3584448"/>
            <a:ext cx="256032" cy="0"/>
          </a:xfrm>
          <a:prstGeom prst="line">
            <a:avLst/>
          </a:prstGeom>
          <a:noFill/>
          <a:ln w="28575">
            <a:solidFill>
              <a:srgbClr val="1E2430"/>
            </a:solidFill>
            <a:prstDash val="solid"/>
            <a:tailEnd type="triangle"/>
          </a:ln>
        </p:spPr>
      </p:sp>
      <p:sp>
        <p:nvSpPr>
          <p:cNvPr id="18" name="diagram box"/>
          <p:cNvSpPr/>
          <p:nvPr/>
        </p:nvSpPr>
        <p:spPr>
          <a:xfrm>
            <a:off x="3364992" y="2926080"/>
            <a:ext cx="2542032" cy="1325880"/>
          </a:xfrm>
          <a:prstGeom prst="roundRect">
            <a:avLst>
              <a:gd name="adj" fmla="val 5517"/>
            </a:avLst>
          </a:prstGeom>
          <a:solidFill>
            <a:srgbClr val="EDAE49"/>
          </a:solidFill>
          <a:ln/>
        </p:spPr>
      </p:sp>
      <p:sp>
        <p:nvSpPr>
          <p:cNvPr id="19" name="Text 16"/>
          <p:cNvSpPr txBox="1"/>
          <p:nvPr/>
        </p:nvSpPr>
        <p:spPr>
          <a:xfrm>
            <a:off x="3364992" y="2926080"/>
            <a:ext cx="2542032" cy="1325880"/>
          </a:xfrm>
          <a:prstGeom prst="rect">
            <a:avLst/>
          </a:prstGeom>
          <a:noFill/>
          <a:ln/>
        </p:spPr>
        <p:txBody>
          <a:bodyPr wrap="square" lIns="508" tIns="508" rIns="508" bIns="508" rtlCol="0" anchor="ctr"/>
          <a:lstStyle/>
          <a:p>
            <a:pPr algn="ctr" indent="0" marL="0">
              <a:buNone/>
            </a:pPr>
            <a:r>
              <a:rPr lang="en-US" sz="1400" b="1" dirty="0">
                <a:solidFill>
                  <a:schemeClr val="tx1"/>
                </a:solidFill>
              </a:rPr>
              <a:t>Seasonal ET</a:t>
            </a:r>
            <a:endParaRPr lang="en-US" sz="1400" dirty="0"/>
          </a:p>
          <a:p>
            <a:pPr algn="ctr" indent="0" marL="0">
              <a:buNone/>
            </a:pPr>
            <a:r>
              <a:rPr lang="en-US" sz="1100" b="1" dirty="0">
                <a:solidFill>
                  <a:schemeClr val="tx1"/>
                </a:solidFill>
              </a:rPr>
              <a:t>interpolate EF/ETrF/Kc × daily ET0</a:t>
            </a:r>
            <a:endParaRPr lang="en-US" sz="1400" dirty="0"/>
          </a:p>
        </p:txBody>
      </p:sp>
      <p:sp>
        <p:nvSpPr>
          <p:cNvPr id="20" name="arrow"/>
          <p:cNvSpPr/>
          <p:nvPr/>
        </p:nvSpPr>
        <p:spPr>
          <a:xfrm>
            <a:off x="5916168" y="3584448"/>
            <a:ext cx="256032" cy="0"/>
          </a:xfrm>
          <a:prstGeom prst="line">
            <a:avLst/>
          </a:prstGeom>
          <a:noFill/>
          <a:ln w="28575">
            <a:solidFill>
              <a:srgbClr val="1E2430"/>
            </a:solidFill>
            <a:prstDash val="solid"/>
            <a:tailEnd type="triangle"/>
          </a:ln>
        </p:spPr>
      </p:sp>
      <p:sp>
        <p:nvSpPr>
          <p:cNvPr id="21" name="diagram box"/>
          <p:cNvSpPr/>
          <p:nvPr/>
        </p:nvSpPr>
        <p:spPr>
          <a:xfrm>
            <a:off x="6181344" y="2926080"/>
            <a:ext cx="2542032" cy="1325880"/>
          </a:xfrm>
          <a:prstGeom prst="roundRect">
            <a:avLst>
              <a:gd name="adj" fmla="val 5517"/>
            </a:avLst>
          </a:prstGeom>
          <a:solidFill>
            <a:srgbClr val="5C6B73"/>
          </a:solidFill>
          <a:ln/>
        </p:spPr>
      </p:sp>
      <p:sp>
        <p:nvSpPr>
          <p:cNvPr id="22" name="Text 19"/>
          <p:cNvSpPr txBox="1"/>
          <p:nvPr/>
        </p:nvSpPr>
        <p:spPr>
          <a:xfrm>
            <a:off x="6181344" y="29260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Validation</a:t>
            </a:r>
            <a:endParaRPr lang="en-US" sz="1400" dirty="0"/>
          </a:p>
          <a:p>
            <a:pPr algn="ctr" indent="0" marL="0">
              <a:buNone/>
            </a:pPr>
            <a:r>
              <a:rPr lang="en-US" sz="1100" b="1" dirty="0">
                <a:solidFill>
                  <a:schemeClr val="bg1"/>
                </a:solidFill>
              </a:rPr>
              <a:t>EC, lysimeter, BREB, LAS; footprint, closure</a:t>
            </a:r>
            <a:endParaRPr lang="en-US" sz="1400" dirty="0"/>
          </a:p>
        </p:txBody>
      </p:sp>
      <p:sp>
        <p:nvSpPr>
          <p:cNvPr id="23" name="arrow"/>
          <p:cNvSpPr/>
          <p:nvPr/>
        </p:nvSpPr>
        <p:spPr>
          <a:xfrm>
            <a:off x="8732520" y="3584448"/>
            <a:ext cx="256032" cy="0"/>
          </a:xfrm>
          <a:prstGeom prst="line">
            <a:avLst/>
          </a:prstGeom>
          <a:noFill/>
          <a:ln w="28575">
            <a:solidFill>
              <a:srgbClr val="1E2430"/>
            </a:solidFill>
            <a:prstDash val="solid"/>
            <a:tailEnd type="triangle"/>
          </a:ln>
        </p:spPr>
      </p:sp>
      <p:sp>
        <p:nvSpPr>
          <p:cNvPr id="24" name="diagram box"/>
          <p:cNvSpPr/>
          <p:nvPr/>
        </p:nvSpPr>
        <p:spPr>
          <a:xfrm>
            <a:off x="8997696" y="2926080"/>
            <a:ext cx="2542032" cy="1325880"/>
          </a:xfrm>
          <a:prstGeom prst="roundRect">
            <a:avLst>
              <a:gd name="adj" fmla="val 5517"/>
            </a:avLst>
          </a:prstGeom>
          <a:solidFill>
            <a:srgbClr val="1F7A5A"/>
          </a:solidFill>
          <a:ln/>
        </p:spPr>
      </p:sp>
      <p:sp>
        <p:nvSpPr>
          <p:cNvPr id="25" name="Text 22"/>
          <p:cNvSpPr txBox="1"/>
          <p:nvPr/>
        </p:nvSpPr>
        <p:spPr>
          <a:xfrm>
            <a:off x="8997696" y="2926080"/>
            <a:ext cx="2542032" cy="1325880"/>
          </a:xfrm>
          <a:prstGeom prst="rect">
            <a:avLst/>
          </a:prstGeom>
          <a:noFill/>
          <a:ln/>
        </p:spPr>
        <p:txBody>
          <a:bodyPr wrap="square" lIns="508" tIns="508" rIns="508" bIns="508" rtlCol="0" anchor="ctr"/>
          <a:lstStyle/>
          <a:p>
            <a:pPr algn="ctr" indent="0" marL="0">
              <a:buNone/>
            </a:pPr>
            <a:r>
              <a:rPr lang="en-US" sz="1400" b="1" dirty="0">
                <a:solidFill>
                  <a:schemeClr val="bg1"/>
                </a:solidFill>
              </a:rPr>
              <a:t>Products</a:t>
            </a:r>
            <a:endParaRPr lang="en-US" sz="1400" dirty="0"/>
          </a:p>
          <a:p>
            <a:pPr algn="ctr" indent="0" marL="0">
              <a:buNone/>
            </a:pPr>
            <a:r>
              <a:rPr lang="en-US" sz="1100" b="1" dirty="0">
                <a:solidFill>
                  <a:schemeClr val="bg1"/>
                </a:solidFill>
              </a:rPr>
              <a:t>irrigation, WP, drought, water accounting</a:t>
            </a:r>
            <a:endParaRPr lang="en-US" sz="1400" dirty="0"/>
          </a:p>
        </p:txBody>
      </p:sp>
      <p:sp>
        <p:nvSpPr>
          <p:cNvPr id="26" name="arrow"/>
          <p:cNvSpPr/>
          <p:nvPr/>
        </p:nvSpPr>
        <p:spPr>
          <a:xfrm>
            <a:off x="10268712" y="2651760"/>
            <a:ext cx="0" cy="137160"/>
          </a:xfrm>
          <a:prstGeom prst="line">
            <a:avLst/>
          </a:prstGeom>
          <a:noFill/>
          <a:ln w="25400">
            <a:solidFill>
              <a:srgbClr val="1E2430"/>
            </a:solidFill>
            <a:prstDash val="solid"/>
          </a:ln>
        </p:spPr>
      </p:sp>
      <p:sp>
        <p:nvSpPr>
          <p:cNvPr id="27" name="arrow"/>
          <p:cNvSpPr/>
          <p:nvPr/>
        </p:nvSpPr>
        <p:spPr>
          <a:xfrm flipH="1">
            <a:off x="1819656" y="2788920"/>
            <a:ext cx="8449056" cy="0"/>
          </a:xfrm>
          <a:prstGeom prst="line">
            <a:avLst/>
          </a:prstGeom>
          <a:noFill/>
          <a:ln w="25400">
            <a:solidFill>
              <a:srgbClr val="1E2430"/>
            </a:solidFill>
            <a:prstDash val="solid"/>
          </a:ln>
        </p:spPr>
      </p:sp>
      <p:sp>
        <p:nvSpPr>
          <p:cNvPr id="28" name="arrow"/>
          <p:cNvSpPr/>
          <p:nvPr/>
        </p:nvSpPr>
        <p:spPr>
          <a:xfrm>
            <a:off x="1819656" y="2788920"/>
            <a:ext cx="0" cy="128016"/>
          </a:xfrm>
          <a:prstGeom prst="line">
            <a:avLst/>
          </a:prstGeom>
          <a:noFill/>
          <a:ln w="25400">
            <a:solidFill>
              <a:srgbClr val="1E2430"/>
            </a:solidFill>
            <a:prstDash val="solid"/>
            <a:tailEnd type="triangle"/>
          </a:ln>
        </p:spPr>
      </p:sp>
      <p:sp>
        <p:nvSpPr>
          <p:cNvPr id="29" name="Text 26"/>
          <p:cNvSpPr txBox="1"/>
          <p:nvPr/>
        </p:nvSpPr>
        <p:spPr>
          <a:xfrm>
            <a:off x="548640" y="4526280"/>
            <a:ext cx="2743200" cy="347472"/>
          </a:xfrm>
          <a:prstGeom prst="rect">
            <a:avLst/>
          </a:prstGeom>
          <a:noFill/>
          <a:ln/>
        </p:spPr>
        <p:txBody>
          <a:bodyPr wrap="square" lIns="0" tIns="0" rIns="0" bIns="0" rtlCol="0" anchor="ctr"/>
          <a:lstStyle/>
          <a:p>
            <a:pPr algn="l" indent="0" marL="0">
              <a:buNone/>
            </a:pPr>
            <a:r>
              <a:rPr lang="en-US" sz="1400" b="1" dirty="0">
                <a:solidFill>
                  <a:schemeClr val="tx2"/>
                </a:solidFill>
              </a:rPr>
              <a:t>Which model?</a:t>
            </a:r>
            <a:endParaRPr lang="en-US" sz="1400" dirty="0"/>
          </a:p>
        </p:txBody>
      </p:sp>
      <p:sp>
        <p:nvSpPr>
          <p:cNvPr id="30" name="card"/>
          <p:cNvSpPr/>
          <p:nvPr/>
        </p:nvSpPr>
        <p:spPr>
          <a:xfrm>
            <a:off x="548640" y="4937760"/>
            <a:ext cx="3547872" cy="548640"/>
          </a:xfrm>
          <a:prstGeom prst="roundRect">
            <a:avLst>
              <a:gd name="adj" fmla="val 13333"/>
            </a:avLst>
          </a:prstGeom>
          <a:solidFill>
            <a:schemeClr val="bg2"/>
          </a:solidFill>
          <a:ln/>
        </p:spPr>
      </p:sp>
      <p:sp>
        <p:nvSpPr>
          <p:cNvPr id="31" name="Text 28"/>
          <p:cNvSpPr txBox="1"/>
          <p:nvPr/>
        </p:nvSpPr>
        <p:spPr>
          <a:xfrm>
            <a:off x="658368" y="4937760"/>
            <a:ext cx="3383280" cy="548640"/>
          </a:xfrm>
          <a:prstGeom prst="rect">
            <a:avLst/>
          </a:prstGeom>
          <a:noFill/>
          <a:ln/>
        </p:spPr>
        <p:txBody>
          <a:bodyPr wrap="square" lIns="0" tIns="0" rIns="0" bIns="0" rtlCol="0" anchor="ctr"/>
          <a:lstStyle/>
          <a:p>
            <a:pPr indent="0" marL="0">
              <a:buNone/>
            </a:pPr>
            <a:r>
              <a:rPr lang="en-US" sz="1150" dirty="0">
                <a:solidFill>
                  <a:schemeClr val="tx1"/>
                </a:solidFill>
              </a:rPr>
              <a:t>Field irrigation, Landsat + weather station → </a:t>
            </a:r>
            <a:r>
              <a:rPr lang="en-US" sz="1150" b="1" dirty="0">
                <a:solidFill>
                  <a:schemeClr val="tx1"/>
                </a:solidFill>
              </a:rPr>
              <a:t>METRIC / SEBAL</a:t>
            </a:r>
            <a:endParaRPr lang="en-US" sz="1150" dirty="0"/>
          </a:p>
        </p:txBody>
      </p:sp>
      <p:sp>
        <p:nvSpPr>
          <p:cNvPr id="32" name="card"/>
          <p:cNvSpPr/>
          <p:nvPr/>
        </p:nvSpPr>
        <p:spPr>
          <a:xfrm>
            <a:off x="4297680" y="4937760"/>
            <a:ext cx="3547872" cy="548640"/>
          </a:xfrm>
          <a:prstGeom prst="roundRect">
            <a:avLst>
              <a:gd name="adj" fmla="val 13333"/>
            </a:avLst>
          </a:prstGeom>
          <a:solidFill>
            <a:schemeClr val="bg2"/>
          </a:solidFill>
          <a:ln/>
        </p:spPr>
      </p:sp>
      <p:sp>
        <p:nvSpPr>
          <p:cNvPr id="33" name="Text 30"/>
          <p:cNvSpPr txBox="1"/>
          <p:nvPr/>
        </p:nvSpPr>
        <p:spPr>
          <a:xfrm>
            <a:off x="4407408" y="4937760"/>
            <a:ext cx="3383280" cy="548640"/>
          </a:xfrm>
          <a:prstGeom prst="rect">
            <a:avLst/>
          </a:prstGeom>
          <a:noFill/>
          <a:ln/>
        </p:spPr>
        <p:txBody>
          <a:bodyPr wrap="square" lIns="0" tIns="0" rIns="0" bIns="0" rtlCol="0" anchor="ctr"/>
          <a:lstStyle/>
          <a:p>
            <a:pPr indent="0" marL="0">
              <a:buNone/>
            </a:pPr>
            <a:r>
              <a:rPr lang="en-US" sz="1150" dirty="0">
                <a:solidFill>
                  <a:schemeClr val="tx1"/>
                </a:solidFill>
              </a:rPr>
              <a:t>Little ground data → </a:t>
            </a:r>
            <a:r>
              <a:rPr lang="en-US" sz="1150" b="1" dirty="0">
                <a:solidFill>
                  <a:schemeClr val="tx1"/>
                </a:solidFill>
              </a:rPr>
              <a:t>S-SEBI, triangle, SEBAL</a:t>
            </a:r>
            <a:endParaRPr lang="en-US" sz="1150" dirty="0"/>
          </a:p>
        </p:txBody>
      </p:sp>
      <p:sp>
        <p:nvSpPr>
          <p:cNvPr id="34" name="card"/>
          <p:cNvSpPr/>
          <p:nvPr/>
        </p:nvSpPr>
        <p:spPr>
          <a:xfrm>
            <a:off x="8046720" y="4937760"/>
            <a:ext cx="3547872" cy="548640"/>
          </a:xfrm>
          <a:prstGeom prst="roundRect">
            <a:avLst>
              <a:gd name="adj" fmla="val 13333"/>
            </a:avLst>
          </a:prstGeom>
          <a:solidFill>
            <a:schemeClr val="bg2"/>
          </a:solidFill>
          <a:ln/>
        </p:spPr>
      </p:sp>
      <p:sp>
        <p:nvSpPr>
          <p:cNvPr id="35" name="Text 32"/>
          <p:cNvSpPr txBox="1"/>
          <p:nvPr/>
        </p:nvSpPr>
        <p:spPr>
          <a:xfrm>
            <a:off x="8156448" y="4937760"/>
            <a:ext cx="3383280" cy="548640"/>
          </a:xfrm>
          <a:prstGeom prst="rect">
            <a:avLst/>
          </a:prstGeom>
          <a:noFill/>
          <a:ln/>
        </p:spPr>
        <p:txBody>
          <a:bodyPr wrap="square" lIns="0" tIns="0" rIns="0" bIns="0" rtlCol="0" anchor="ctr"/>
          <a:lstStyle/>
          <a:p>
            <a:pPr indent="0" marL="0">
              <a:buNone/>
            </a:pPr>
            <a:r>
              <a:rPr lang="en-US" sz="1150" dirty="0">
                <a:solidFill>
                  <a:schemeClr val="tx1"/>
                </a:solidFill>
              </a:rPr>
              <a:t>Sparse or row crops; E/T split → </a:t>
            </a:r>
            <a:r>
              <a:rPr lang="en-US" sz="1150" b="1" dirty="0">
                <a:solidFill>
                  <a:schemeClr val="tx1"/>
                </a:solidFill>
              </a:rPr>
              <a:t>TSEB</a:t>
            </a:r>
            <a:endParaRPr lang="en-US" sz="1150" dirty="0"/>
          </a:p>
        </p:txBody>
      </p:sp>
      <p:sp>
        <p:nvSpPr>
          <p:cNvPr id="36" name="card"/>
          <p:cNvSpPr/>
          <p:nvPr/>
        </p:nvSpPr>
        <p:spPr>
          <a:xfrm>
            <a:off x="548640" y="5577840"/>
            <a:ext cx="3547872" cy="548640"/>
          </a:xfrm>
          <a:prstGeom prst="roundRect">
            <a:avLst>
              <a:gd name="adj" fmla="val 13333"/>
            </a:avLst>
          </a:prstGeom>
          <a:solidFill>
            <a:schemeClr val="bg2"/>
          </a:solidFill>
          <a:ln/>
        </p:spPr>
      </p:sp>
      <p:sp>
        <p:nvSpPr>
          <p:cNvPr id="37" name="Text 34"/>
          <p:cNvSpPr txBox="1"/>
          <p:nvPr/>
        </p:nvSpPr>
        <p:spPr>
          <a:xfrm>
            <a:off x="658368" y="5577840"/>
            <a:ext cx="3383280" cy="548640"/>
          </a:xfrm>
          <a:prstGeom prst="rect">
            <a:avLst/>
          </a:prstGeom>
          <a:noFill/>
          <a:ln/>
        </p:spPr>
        <p:txBody>
          <a:bodyPr wrap="square" lIns="0" tIns="0" rIns="0" bIns="0" rtlCol="0" anchor="ctr"/>
          <a:lstStyle/>
          <a:p>
            <a:pPr indent="0" marL="0">
              <a:buNone/>
            </a:pPr>
            <a:r>
              <a:rPr lang="en-US" sz="1150" dirty="0">
                <a:solidFill>
                  <a:schemeClr val="tx1"/>
                </a:solidFill>
              </a:rPr>
              <a:t>Regional drought, no T</a:t>
            </a:r>
            <a:r>
              <a:rPr lang="en-US" sz="1150" baseline="-40000" dirty="0">
                <a:solidFill>
                  <a:schemeClr val="tx1"/>
                </a:solidFill>
              </a:rPr>
              <a:t>a</a:t>
            </a:r>
            <a:r>
              <a:rPr lang="en-US" sz="1150" dirty="0">
                <a:solidFill>
                  <a:schemeClr val="tx1"/>
                </a:solidFill>
              </a:rPr>
              <a:t> → </a:t>
            </a:r>
            <a:r>
              <a:rPr lang="en-US" sz="1150" b="1" dirty="0">
                <a:solidFill>
                  <a:schemeClr val="tx1"/>
                </a:solidFill>
              </a:rPr>
              <a:t>ALEXI / DisALEXI</a:t>
            </a:r>
            <a:endParaRPr lang="en-US" sz="1150" dirty="0"/>
          </a:p>
        </p:txBody>
      </p:sp>
      <p:sp>
        <p:nvSpPr>
          <p:cNvPr id="38" name="card"/>
          <p:cNvSpPr/>
          <p:nvPr/>
        </p:nvSpPr>
        <p:spPr>
          <a:xfrm>
            <a:off x="4297680" y="5577840"/>
            <a:ext cx="3547872" cy="548640"/>
          </a:xfrm>
          <a:prstGeom prst="roundRect">
            <a:avLst>
              <a:gd name="adj" fmla="val 13333"/>
            </a:avLst>
          </a:prstGeom>
          <a:solidFill>
            <a:schemeClr val="bg2"/>
          </a:solidFill>
          <a:ln/>
        </p:spPr>
      </p:sp>
      <p:sp>
        <p:nvSpPr>
          <p:cNvPr id="39" name="Text 36"/>
          <p:cNvSpPr txBox="1"/>
          <p:nvPr/>
        </p:nvSpPr>
        <p:spPr>
          <a:xfrm>
            <a:off x="4407408" y="5577840"/>
            <a:ext cx="3383280" cy="548640"/>
          </a:xfrm>
          <a:prstGeom prst="rect">
            <a:avLst/>
          </a:prstGeom>
          <a:noFill/>
          <a:ln/>
        </p:spPr>
        <p:txBody>
          <a:bodyPr wrap="square" lIns="0" tIns="0" rIns="0" bIns="0" rtlCol="0" anchor="ctr"/>
          <a:lstStyle/>
          <a:p>
            <a:pPr indent="0" marL="0">
              <a:buNone/>
            </a:pPr>
            <a:r>
              <a:rPr lang="en-US" sz="1150" dirty="0">
                <a:solidFill>
                  <a:schemeClr val="tx1"/>
                </a:solidFill>
              </a:rPr>
              <a:t>Global, daily → </a:t>
            </a:r>
            <a:r>
              <a:rPr lang="en-US" sz="1150" b="1" dirty="0">
                <a:solidFill>
                  <a:schemeClr val="tx1"/>
                </a:solidFill>
              </a:rPr>
              <a:t>MOD16, PT-JPL, GLEAM</a:t>
            </a:r>
            <a:endParaRPr lang="en-US" sz="1150" dirty="0"/>
          </a:p>
        </p:txBody>
      </p:sp>
      <p:sp>
        <p:nvSpPr>
          <p:cNvPr id="40" name="card"/>
          <p:cNvSpPr/>
          <p:nvPr/>
        </p:nvSpPr>
        <p:spPr>
          <a:xfrm>
            <a:off x="8046720" y="5577840"/>
            <a:ext cx="3547872" cy="548640"/>
          </a:xfrm>
          <a:prstGeom prst="roundRect">
            <a:avLst>
              <a:gd name="adj" fmla="val 13333"/>
            </a:avLst>
          </a:prstGeom>
          <a:solidFill>
            <a:schemeClr val="bg2"/>
          </a:solidFill>
          <a:ln/>
        </p:spPr>
      </p:sp>
      <p:sp>
        <p:nvSpPr>
          <p:cNvPr id="41" name="Text 38"/>
          <p:cNvSpPr txBox="1"/>
          <p:nvPr/>
        </p:nvSpPr>
        <p:spPr>
          <a:xfrm>
            <a:off x="8156448" y="5577840"/>
            <a:ext cx="3383280" cy="548640"/>
          </a:xfrm>
          <a:prstGeom prst="rect">
            <a:avLst/>
          </a:prstGeom>
          <a:noFill/>
          <a:ln/>
        </p:spPr>
        <p:txBody>
          <a:bodyPr wrap="square" lIns="0" tIns="0" rIns="0" bIns="0" rtlCol="0" anchor="ctr"/>
          <a:lstStyle/>
          <a:p>
            <a:pPr indent="0" marL="0">
              <a:buNone/>
            </a:pPr>
            <a:r>
              <a:rPr lang="en-US" sz="1150" dirty="0">
                <a:solidFill>
                  <a:schemeClr val="tx1"/>
                </a:solidFill>
              </a:rPr>
              <a:t>Optical only, 10 m → </a:t>
            </a:r>
            <a:r>
              <a:rPr lang="en-US" sz="1150" b="1" dirty="0">
                <a:solidFill>
                  <a:schemeClr val="tx1"/>
                </a:solidFill>
              </a:rPr>
              <a:t>VI-Kc + water balance</a:t>
            </a:r>
            <a:endParaRPr lang="en-US" sz="115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Interview questions: quick answers</a:t>
            </a:r>
            <a:endParaRPr lang="en-US" sz="3200" dirty="0"/>
          </a:p>
        </p:txBody>
      </p:sp>
      <p:sp>
        <p:nvSpPr>
          <p:cNvPr id="4" name="card"/>
          <p:cNvSpPr/>
          <p:nvPr/>
        </p:nvSpPr>
        <p:spPr>
          <a:xfrm>
            <a:off x="54864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Why is ET a residual?</a:t>
            </a:r>
            <a:endParaRPr lang="en-US" sz="1300" dirty="0"/>
          </a:p>
        </p:txBody>
      </p:sp>
      <p:sp>
        <p:nvSpPr>
          <p:cNvPr id="6" name="Text 3"/>
          <p:cNvSpPr txBox="1"/>
          <p:nvPr/>
        </p:nvSpPr>
        <p:spPr>
          <a:xfrm>
            <a:off x="68580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H and G can be modelled from T</a:t>
            </a:r>
            <a:r>
              <a:rPr lang="en-US" sz="1150" b="1" baseline="-40000" dirty="0">
                <a:solidFill>
                  <a:schemeClr val="accent1"/>
                </a:solidFill>
              </a:rPr>
              <a:t>s</a:t>
            </a:r>
            <a:r>
              <a:rPr lang="en-US" sz="1150" b="1" dirty="0">
                <a:solidFill>
                  <a:schemeClr val="accent1"/>
                </a:solidFill>
              </a:rPr>
              <a:t> and NDVI; λE = Rn − G − H</a:t>
            </a:r>
            <a:endParaRPr lang="en-US" sz="1150" dirty="0"/>
          </a:p>
        </p:txBody>
      </p:sp>
      <p:sp>
        <p:nvSpPr>
          <p:cNvPr id="7" name="card"/>
          <p:cNvSpPr/>
          <p:nvPr/>
        </p:nvSpPr>
        <p:spPr>
          <a:xfrm>
            <a:off x="429768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43484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How does eddy covariance work?</a:t>
            </a:r>
            <a:endParaRPr lang="en-US" sz="1300" dirty="0"/>
          </a:p>
        </p:txBody>
      </p:sp>
      <p:sp>
        <p:nvSpPr>
          <p:cNvPr id="9" name="Text 6"/>
          <p:cNvSpPr txBox="1"/>
          <p:nvPr/>
        </p:nvSpPr>
        <p:spPr>
          <a:xfrm>
            <a:off x="443484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λE = λρ·cov(w′, q′): sonic + IRGA at 10–20 Hz, 30-min averages</a:t>
            </a:r>
            <a:endParaRPr lang="en-US" sz="1150" dirty="0"/>
          </a:p>
        </p:txBody>
      </p:sp>
      <p:sp>
        <p:nvSpPr>
          <p:cNvPr id="10" name="card"/>
          <p:cNvSpPr/>
          <p:nvPr/>
        </p:nvSpPr>
        <p:spPr>
          <a:xfrm>
            <a:off x="8046720" y="1280160"/>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183880" y="1335024"/>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ET0 vs ETc vs ETa?</a:t>
            </a:r>
            <a:endParaRPr lang="en-US" sz="1300" dirty="0"/>
          </a:p>
        </p:txBody>
      </p:sp>
      <p:sp>
        <p:nvSpPr>
          <p:cNvPr id="12" name="Text 9"/>
          <p:cNvSpPr txBox="1"/>
          <p:nvPr/>
        </p:nvSpPr>
        <p:spPr>
          <a:xfrm>
            <a:off x="8183880" y="1682496"/>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Weather-only reference · Kc × ET0 · actual with stress (Ks)</a:t>
            </a:r>
            <a:endParaRPr lang="en-US" sz="1150" dirty="0"/>
          </a:p>
        </p:txBody>
      </p:sp>
      <p:sp>
        <p:nvSpPr>
          <p:cNvPr id="13" name="card"/>
          <p:cNvSpPr/>
          <p:nvPr/>
        </p:nvSpPr>
        <p:spPr>
          <a:xfrm>
            <a:off x="54864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8580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Hot and cold pixel?</a:t>
            </a:r>
            <a:endParaRPr lang="en-US" sz="1300" dirty="0"/>
          </a:p>
        </p:txBody>
      </p:sp>
      <p:sp>
        <p:nvSpPr>
          <p:cNvPr id="15" name="Text 12"/>
          <p:cNvSpPr txBox="1"/>
          <p:nvPr/>
        </p:nvSpPr>
        <p:spPr>
          <a:xfrm>
            <a:off x="68580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λE = 0 and H = 0 anchors; fix dT = a + bT</a:t>
            </a:r>
            <a:r>
              <a:rPr lang="en-US" sz="1150" b="1" baseline="-40000" dirty="0">
                <a:solidFill>
                  <a:schemeClr val="accent1"/>
                </a:solidFill>
              </a:rPr>
              <a:t>s</a:t>
            </a:r>
            <a:r>
              <a:rPr lang="en-US" sz="1150" b="1" dirty="0">
                <a:solidFill>
                  <a:schemeClr val="accent1"/>
                </a:solidFill>
              </a:rPr>
              <a:t>, avoid T</a:t>
            </a:r>
            <a:r>
              <a:rPr lang="en-US" sz="1150" b="1" baseline="-40000" dirty="0">
                <a:solidFill>
                  <a:schemeClr val="accent1"/>
                </a:solidFill>
              </a:rPr>
              <a:t>a</a:t>
            </a:r>
            <a:r>
              <a:rPr lang="en-US" sz="1150" b="1" dirty="0">
                <a:solidFill>
                  <a:schemeClr val="accent1"/>
                </a:solidFill>
              </a:rPr>
              <a:t> errors</a:t>
            </a:r>
            <a:endParaRPr lang="en-US" sz="1150" dirty="0"/>
          </a:p>
        </p:txBody>
      </p:sp>
      <p:sp>
        <p:nvSpPr>
          <p:cNvPr id="16" name="card"/>
          <p:cNvSpPr/>
          <p:nvPr/>
        </p:nvSpPr>
        <p:spPr>
          <a:xfrm>
            <a:off x="429768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443484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SEBAL vs METRIC?</a:t>
            </a:r>
            <a:endParaRPr lang="en-US" sz="1300" dirty="0"/>
          </a:p>
        </p:txBody>
      </p:sp>
      <p:sp>
        <p:nvSpPr>
          <p:cNvPr id="18" name="Text 15"/>
          <p:cNvSpPr txBox="1"/>
          <p:nvPr/>
        </p:nvSpPr>
        <p:spPr>
          <a:xfrm>
            <a:off x="443484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METRIC: cold pixel = 1.05 ETr, ETrF scaling, slope correction</a:t>
            </a:r>
            <a:endParaRPr lang="en-US" sz="1150" dirty="0"/>
          </a:p>
        </p:txBody>
      </p:sp>
      <p:sp>
        <p:nvSpPr>
          <p:cNvPr id="19" name="card"/>
          <p:cNvSpPr/>
          <p:nvPr/>
        </p:nvSpPr>
        <p:spPr>
          <a:xfrm>
            <a:off x="8046720" y="2578608"/>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8183880" y="2633472"/>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Instant to daily?</a:t>
            </a:r>
            <a:endParaRPr lang="en-US" sz="1300" dirty="0"/>
          </a:p>
        </p:txBody>
      </p:sp>
      <p:sp>
        <p:nvSpPr>
          <p:cNvPr id="21" name="Text 18"/>
          <p:cNvSpPr txBox="1"/>
          <p:nvPr/>
        </p:nvSpPr>
        <p:spPr>
          <a:xfrm>
            <a:off x="8183880" y="2980944"/>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Constant EF (self-preservation), sine function, or constant ETrF</a:t>
            </a:r>
            <a:endParaRPr lang="en-US" sz="1150" dirty="0"/>
          </a:p>
        </p:txBody>
      </p:sp>
      <p:sp>
        <p:nvSpPr>
          <p:cNvPr id="22" name="card"/>
          <p:cNvSpPr/>
          <p:nvPr/>
        </p:nvSpPr>
        <p:spPr>
          <a:xfrm>
            <a:off x="54864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One- vs two-source?</a:t>
            </a:r>
            <a:endParaRPr lang="en-US" sz="1300" dirty="0"/>
          </a:p>
        </p:txBody>
      </p:sp>
      <p:sp>
        <p:nvSpPr>
          <p:cNvPr id="24" name="Text 21"/>
          <p:cNvSpPr txBox="1"/>
          <p:nvPr/>
        </p:nvSpPr>
        <p:spPr>
          <a:xfrm>
            <a:off x="68580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Two-source separates soil and canopy: sparse crops, E/T split</a:t>
            </a:r>
            <a:endParaRPr lang="en-US" sz="1150" dirty="0"/>
          </a:p>
        </p:txBody>
      </p:sp>
      <p:sp>
        <p:nvSpPr>
          <p:cNvPr id="25" name="card"/>
          <p:cNvSpPr/>
          <p:nvPr/>
        </p:nvSpPr>
        <p:spPr>
          <a:xfrm>
            <a:off x="429768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443484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What does ALEXI add?</a:t>
            </a:r>
            <a:endParaRPr lang="en-US" sz="1300" dirty="0"/>
          </a:p>
        </p:txBody>
      </p:sp>
      <p:sp>
        <p:nvSpPr>
          <p:cNvPr id="27" name="Text 24"/>
          <p:cNvSpPr txBox="1"/>
          <p:nvPr/>
        </p:nvSpPr>
        <p:spPr>
          <a:xfrm>
            <a:off x="443484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Morning ΔT from geostationary + ABL closure: no T</a:t>
            </a:r>
            <a:r>
              <a:rPr lang="en-US" sz="1150" b="1" baseline="-40000" dirty="0">
                <a:solidFill>
                  <a:schemeClr val="accent1"/>
                </a:solidFill>
              </a:rPr>
              <a:t>a</a:t>
            </a:r>
            <a:r>
              <a:rPr lang="en-US" sz="1150" b="1" dirty="0">
                <a:solidFill>
                  <a:schemeClr val="accent1"/>
                </a:solidFill>
              </a:rPr>
              <a:t> needed</a:t>
            </a:r>
            <a:endParaRPr lang="en-US" sz="1150" dirty="0"/>
          </a:p>
        </p:txBody>
      </p:sp>
      <p:sp>
        <p:nvSpPr>
          <p:cNvPr id="28" name="card"/>
          <p:cNvSpPr/>
          <p:nvPr/>
        </p:nvSpPr>
        <p:spPr>
          <a:xfrm>
            <a:off x="8046720" y="3877056"/>
            <a:ext cx="354787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8183880" y="3931920"/>
            <a:ext cx="3273552" cy="329184"/>
          </a:xfrm>
          <a:prstGeom prst="rect">
            <a:avLst/>
          </a:prstGeom>
          <a:noFill/>
          <a:ln/>
        </p:spPr>
        <p:txBody>
          <a:bodyPr wrap="square" lIns="0" tIns="0" rIns="0" bIns="0" rtlCol="0" anchor="ctr"/>
          <a:lstStyle/>
          <a:p>
            <a:pPr indent="0" marL="0">
              <a:buNone/>
            </a:pPr>
            <a:r>
              <a:rPr lang="en-US" sz="1300" b="1" dirty="0">
                <a:solidFill>
                  <a:schemeClr val="tx2"/>
                </a:solidFill>
              </a:rPr>
              <a:t>Q. Indian satellite ET?</a:t>
            </a:r>
            <a:endParaRPr lang="en-US" sz="1300" dirty="0"/>
          </a:p>
        </p:txBody>
      </p:sp>
      <p:sp>
        <p:nvSpPr>
          <p:cNvPr id="30" name="Text 27"/>
          <p:cNvSpPr txBox="1"/>
          <p:nvPr/>
        </p:nvSpPr>
        <p:spPr>
          <a:xfrm>
            <a:off x="8183880" y="4279392"/>
            <a:ext cx="3273552" cy="749808"/>
          </a:xfrm>
          <a:prstGeom prst="rect">
            <a:avLst/>
          </a:prstGeom>
          <a:noFill/>
          <a:ln/>
        </p:spPr>
        <p:txBody>
          <a:bodyPr wrap="square" lIns="0" tIns="0" rIns="0" bIns="0" rtlCol="0" anchor="t"/>
          <a:lstStyle/>
          <a:p>
            <a:pPr indent="0" marL="0">
              <a:buNone/>
            </a:pPr>
            <a:r>
              <a:rPr lang="en-US" sz="1150" b="1" dirty="0">
                <a:solidFill>
                  <a:schemeClr val="accent1"/>
                </a:solidFill>
              </a:rPr>
              <a:t>→ Kalpana-1 Ts–albedo EF at 8 km (SAC); INSAT-3D; TRISHNA next</a:t>
            </a:r>
            <a:endParaRPr lang="en-US" sz="1150" dirty="0"/>
          </a:p>
        </p:txBody>
      </p:sp>
      <p:sp>
        <p:nvSpPr>
          <p:cNvPr id="31" name="card"/>
          <p:cNvSpPr/>
          <p:nvPr/>
        </p:nvSpPr>
        <p:spPr>
          <a:xfrm>
            <a:off x="548640" y="5257800"/>
            <a:ext cx="11094415" cy="914400"/>
          </a:xfrm>
          <a:prstGeom prst="roundRect">
            <a:avLst>
              <a:gd name="adj" fmla="val 8000"/>
            </a:avLst>
          </a:prstGeom>
          <a:solidFill>
            <a:schemeClr val="tx2"/>
          </a:solidFill>
          <a:ln/>
          <a:effectLst>
            <a:outerShdw sx="100000" sy="100000" kx="0" ky="0" algn="bl" rotWithShape="0" blurRad="76200" dist="25400" dir="5400000">
              <a:srgbClr val="000000">
                <a:alpha val="14000"/>
              </a:srgbClr>
            </a:outerShdw>
          </a:effectLst>
        </p:spPr>
      </p:sp>
      <p:sp>
        <p:nvSpPr>
          <p:cNvPr id="32" name="icon circle"/>
          <p:cNvSpPr/>
          <p:nvPr/>
        </p:nvSpPr>
        <p:spPr>
          <a:xfrm>
            <a:off x="685800" y="5477256"/>
            <a:ext cx="475488" cy="475488"/>
          </a:xfrm>
          <a:prstGeom prst="ellipse">
            <a:avLst/>
          </a:prstGeom>
          <a:solidFill>
            <a:schemeClr val="accent3"/>
          </a:solidFill>
          <a:ln/>
        </p:spPr>
      </p:sp>
      <p:pic>
        <p:nvPicPr>
          <p:cNvPr id="33" name="Image 0" descr="BookOpen icon">    </p:cNvPr>
          <p:cNvPicPr>
            <a:picLocks noChangeAspect="1"/>
          </p:cNvPicPr>
          <p:nvPr/>
        </p:nvPicPr>
        <p:blipFill>
          <a:blip r:embed="rId1"/>
          <a:stretch>
            <a:fillRect/>
          </a:stretch>
        </p:blipFill>
        <p:spPr>
          <a:xfrm>
            <a:off x="809427" y="5600883"/>
            <a:ext cx="228234" cy="228234"/>
          </a:xfrm>
          <a:prstGeom prst="rect">
            <a:avLst/>
          </a:prstGeom>
        </p:spPr>
      </p:pic>
      <p:sp>
        <p:nvSpPr>
          <p:cNvPr id="34" name="Text 30"/>
          <p:cNvSpPr txBox="1"/>
          <p:nvPr/>
        </p:nvSpPr>
        <p:spPr>
          <a:xfrm>
            <a:off x="1325880" y="5303520"/>
            <a:ext cx="10180015" cy="822960"/>
          </a:xfrm>
          <a:prstGeom prst="rect">
            <a:avLst/>
          </a:prstGeom>
          <a:noFill/>
          <a:ln/>
        </p:spPr>
        <p:txBody>
          <a:bodyPr wrap="square" lIns="508" tIns="508" rIns="508" bIns="508" rtlCol="0" anchor="ctr"/>
          <a:lstStyle/>
          <a:p>
            <a:pPr indent="0" marL="0">
              <a:spcAft>
                <a:spcPts val="600"/>
              </a:spcAft>
              <a:buNone/>
            </a:pPr>
            <a:r>
              <a:rPr lang="en-US" sz="1200" b="1" dirty="0">
                <a:solidFill>
                  <a:schemeClr val="bg1"/>
                </a:solidFill>
              </a:rPr>
              <a:t>Read:</a:t>
            </a:r>
            <a:r>
              <a:rPr lang="en-US" sz="1200" dirty="0">
                <a:solidFill>
                  <a:schemeClr val="bg1"/>
                </a:solidFill>
              </a:rPr>
              <a:t> Li et al. 2009 (review) · Bastiaanssen et al. 1998 (SEBAL) · Bhattacharya et al. 2010 (Kalpana-1, SAC) · Allen et al. 1998 (FAO-56) · Allen et al. 2007 (METRIC) · Su 2002 (SEBS) · Norman et al. 1995 (TSEB) · Anderson et al. 1997 (ALEXI) · Mu et al. 2011 (MOD16) · Baldocchi 2003 (eddy covariance)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60</a:t>
            </a:fld>
            <a:endParaRPr lang="en-US"/>
          </a:p>
        </p:txBody>
      </p:sp>
    </p:spTree>
  </p:cSld>
  <p:clrMapOvr>
    <a:masterClrMapping/>
  </p:clrMapOvr>
</p:sld>
</file>

<file path=ppt/theme/theme1.xml><?xml version="1.0" encoding="utf-8"?>
<a:theme xmlns:a="http://schemas.openxmlformats.org/drawingml/2006/main" name="Satellite Evapotranspiration">
  <a:themeElements>
    <a:clrScheme name="Satellite Evapotranspiration">
      <a:dk1>
        <a:srgbClr val="1E2430"/>
      </a:dk1>
      <a:lt1>
        <a:srgbClr val="FFFFFF"/>
      </a:lt1>
      <a:dk2>
        <a:srgbClr val="1B4965"/>
      </a:dk2>
      <a:lt2>
        <a:srgbClr val="EDF2F7"/>
      </a:lt2>
      <a:accent1>
        <a:srgbClr val="2E7D4F"/>
      </a:accent1>
      <a:accent2>
        <a:srgbClr val="3B6EA5"/>
      </a:accent2>
      <a:accent3>
        <a:srgbClr val="EDAE49"/>
      </a:accent3>
      <a:accent4>
        <a:srgbClr val="C0702A"/>
      </a:accent4>
      <a:accent5>
        <a:srgbClr val="6C4F9E"/>
      </a:accent5>
      <a:accent6>
        <a:srgbClr val="5C6B73"/>
      </a:accent6>
      <a:hlink>
        <a:srgbClr val="2E86AB"/>
      </a:hlink>
      <a:folHlink>
        <a:srgbClr val="6C4F9E"/>
      </a:folHlink>
    </a:clrScheme>
    <a:fontScheme name="Satellite Evapotranspir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Satellite-based Evapotranspiration Estimation</dc:title>
  <dc:subject>Energy balance, SEBAL, METRIC, ALEXI, scaling and Kalpana-1 ET; ISRO interview</dc:subject>
  <dc:creator>Animesh</dc:creator>
  <cp:lastModifiedBy>Animesh</cp:lastModifiedBy>
  <cp:revision>1</cp:revision>
  <dcterms:created xsi:type="dcterms:W3CDTF">2026-10-30T19:16:35Z</dcterms:created>
  <dcterms:modified xsi:type="dcterms:W3CDTF">2026-10-30T19:16:35Z</dcterms:modified>
</cp:coreProperties>
</file>