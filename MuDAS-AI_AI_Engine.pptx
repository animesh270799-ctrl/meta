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engine, in three phases. Input: plot-level features from each sensor (RGB colour and texture, multispectral vegetation indices, hyperspectral bands and indices, thermal canopy temperature), with field Disease Index scores as labels. Phase 1: keep only disease-specific features, using ANOVA or Kruskal-Wallis, JM distance, ReliefF, and Boruta with Random Forest importance. Phase 2: for each sensor, remove redundant features (VIF, SPA), choose the best subset (SFFS) and train Random Forest, SVM and KNN. Phase 3: join the selected features of all four sensors (feature-level fusion), select again with SFFS and classify. Output: one of six severity classes per plot, always tested on plots the model has never seen (nested, plot-grouped cross-validation).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MuDAS-AI · AI Engine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932688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47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four sensors to six severity classes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21792" y="1371600"/>
            <a:ext cx="1143000" cy="36576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737360"/>
            <a:ext cx="1856232" cy="3154680"/>
          </a:xfrm>
          <a:prstGeom prst="roundRect">
            <a:avLst>
              <a:gd name="adj" fmla="val 6897"/>
            </a:avLst>
          </a:prstGeom>
          <a:solidFill>
            <a:srgbClr val="F4F9F9"/>
          </a:solidFill>
          <a:ln/>
        </p:spPr>
      </p:sp>
      <p:sp>
        <p:nvSpPr>
          <p:cNvPr id="6" name="Shape 4"/>
          <p:cNvSpPr/>
          <p:nvPr/>
        </p:nvSpPr>
        <p:spPr>
          <a:xfrm>
            <a:off x="2903220" y="1737360"/>
            <a:ext cx="1856232" cy="3154680"/>
          </a:xfrm>
          <a:prstGeom prst="roundRect">
            <a:avLst>
              <a:gd name="adj" fmla="val 6897"/>
            </a:avLst>
          </a:prstGeom>
          <a:solidFill>
            <a:srgbClr val="F4F9F9"/>
          </a:solidFill>
          <a:ln/>
        </p:spPr>
      </p:sp>
      <p:sp>
        <p:nvSpPr>
          <p:cNvPr id="7" name="Shape 5"/>
          <p:cNvSpPr/>
          <p:nvPr/>
        </p:nvSpPr>
        <p:spPr>
          <a:xfrm>
            <a:off x="5166360" y="1737360"/>
            <a:ext cx="1856232" cy="3154680"/>
          </a:xfrm>
          <a:prstGeom prst="roundRect">
            <a:avLst>
              <a:gd name="adj" fmla="val 6897"/>
            </a:avLst>
          </a:prstGeom>
          <a:solidFill>
            <a:srgbClr val="F4F9F9"/>
          </a:solidFill>
          <a:ln/>
        </p:spPr>
      </p:sp>
      <p:sp>
        <p:nvSpPr>
          <p:cNvPr id="8" name="Shape 6"/>
          <p:cNvSpPr/>
          <p:nvPr/>
        </p:nvSpPr>
        <p:spPr>
          <a:xfrm>
            <a:off x="7429500" y="1737360"/>
            <a:ext cx="1856232" cy="3154680"/>
          </a:xfrm>
          <a:prstGeom prst="roundRect">
            <a:avLst>
              <a:gd name="adj" fmla="val 6897"/>
            </a:avLst>
          </a:prstGeom>
          <a:solidFill>
            <a:srgbClr val="F4F9F9"/>
          </a:solidFill>
          <a:ln/>
        </p:spPr>
      </p:sp>
      <p:sp>
        <p:nvSpPr>
          <p:cNvPr id="9" name="Shape 7"/>
          <p:cNvSpPr/>
          <p:nvPr/>
        </p:nvSpPr>
        <p:spPr>
          <a:xfrm>
            <a:off x="9683496" y="1737360"/>
            <a:ext cx="1856232" cy="3154680"/>
          </a:xfrm>
          <a:prstGeom prst="roundRect">
            <a:avLst>
              <a:gd name="adj" fmla="val 6897"/>
            </a:avLst>
          </a:prstGeom>
          <a:solidFill>
            <a:srgbClr val="F4F9F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2267712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267712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22677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Colour, texture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" y="2651760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22B45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2651760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6517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Veg. indices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3035808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8E5BD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303580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0358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Bands, indices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7240" y="3419856"/>
            <a:ext cx="658368" cy="256032"/>
          </a:xfrm>
          <a:prstGeom prst="roundRect">
            <a:avLst>
              <a:gd name="adj" fmla="val 21429"/>
            </a:avLst>
          </a:prstGeom>
          <a:solidFill>
            <a:srgbClr val="E5484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419856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Thermal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41985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Canopy temp.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" y="3950208"/>
            <a:ext cx="1581912" cy="292608"/>
          </a:xfrm>
          <a:prstGeom prst="roundRect">
            <a:avLst>
              <a:gd name="adj" fmla="val 50000"/>
            </a:avLst>
          </a:prstGeom>
          <a:solidFill>
            <a:srgbClr val="E8F3DD"/>
          </a:solidFill>
          <a:ln w="12700">
            <a:solidFill>
              <a:srgbClr val="7DBE4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395020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Field DI (labels)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86100" y="2404872"/>
            <a:ext cx="82296" cy="841248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25" name="Shape 23"/>
          <p:cNvSpPr/>
          <p:nvPr/>
        </p:nvSpPr>
        <p:spPr>
          <a:xfrm>
            <a:off x="3209544" y="2478024"/>
            <a:ext cx="82296" cy="768096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26" name="Shape 24"/>
          <p:cNvSpPr/>
          <p:nvPr/>
        </p:nvSpPr>
        <p:spPr>
          <a:xfrm>
            <a:off x="3332988" y="2551176"/>
            <a:ext cx="82296" cy="694944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27" name="Shape 25"/>
          <p:cNvSpPr/>
          <p:nvPr/>
        </p:nvSpPr>
        <p:spPr>
          <a:xfrm>
            <a:off x="3456432" y="2642616"/>
            <a:ext cx="82296" cy="603504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28" name="Shape 26"/>
          <p:cNvSpPr/>
          <p:nvPr/>
        </p:nvSpPr>
        <p:spPr>
          <a:xfrm>
            <a:off x="3579876" y="2715768"/>
            <a:ext cx="82296" cy="530352"/>
          </a:xfrm>
          <a:prstGeom prst="rect">
            <a:avLst/>
          </a:prstGeom>
          <a:solidFill>
            <a:srgbClr val="1CB8B2"/>
          </a:solidFill>
          <a:ln/>
        </p:spPr>
      </p:sp>
      <p:sp>
        <p:nvSpPr>
          <p:cNvPr id="29" name="Shape 27"/>
          <p:cNvSpPr/>
          <p:nvPr/>
        </p:nvSpPr>
        <p:spPr>
          <a:xfrm>
            <a:off x="3703320" y="2843784"/>
            <a:ext cx="82296" cy="402336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30" name="Shape 28"/>
          <p:cNvSpPr/>
          <p:nvPr/>
        </p:nvSpPr>
        <p:spPr>
          <a:xfrm>
            <a:off x="3826764" y="2916936"/>
            <a:ext cx="82296" cy="329184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31" name="Shape 29"/>
          <p:cNvSpPr/>
          <p:nvPr/>
        </p:nvSpPr>
        <p:spPr>
          <a:xfrm>
            <a:off x="3950208" y="2971800"/>
            <a:ext cx="82296" cy="274320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32" name="Shape 30"/>
          <p:cNvSpPr/>
          <p:nvPr/>
        </p:nvSpPr>
        <p:spPr>
          <a:xfrm>
            <a:off x="4073652" y="3026664"/>
            <a:ext cx="82296" cy="219456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33" name="Shape 31"/>
          <p:cNvSpPr/>
          <p:nvPr/>
        </p:nvSpPr>
        <p:spPr>
          <a:xfrm>
            <a:off x="4197096" y="3072384"/>
            <a:ext cx="82296" cy="173736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34" name="Shape 32"/>
          <p:cNvSpPr/>
          <p:nvPr/>
        </p:nvSpPr>
        <p:spPr>
          <a:xfrm>
            <a:off x="4320540" y="3108960"/>
            <a:ext cx="82296" cy="137160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35" name="Shape 33"/>
          <p:cNvSpPr/>
          <p:nvPr/>
        </p:nvSpPr>
        <p:spPr>
          <a:xfrm>
            <a:off x="4443984" y="3145536"/>
            <a:ext cx="82296" cy="100584"/>
          </a:xfrm>
          <a:prstGeom prst="rect">
            <a:avLst/>
          </a:prstGeom>
          <a:solidFill>
            <a:srgbClr val="C9D3D5"/>
          </a:solidFill>
          <a:ln/>
        </p:spPr>
      </p:sp>
      <p:sp>
        <p:nvSpPr>
          <p:cNvPr id="36" name="Shape 34"/>
          <p:cNvSpPr/>
          <p:nvPr/>
        </p:nvSpPr>
        <p:spPr>
          <a:xfrm>
            <a:off x="3040380" y="3246120"/>
            <a:ext cx="1581912" cy="914"/>
          </a:xfrm>
          <a:prstGeom prst="line">
            <a:avLst/>
          </a:prstGeom>
          <a:noFill/>
          <a:ln w="12700">
            <a:solidFill>
              <a:srgbClr val="0D1B1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40380" y="2788920"/>
            <a:ext cx="1581912" cy="914"/>
          </a:xfrm>
          <a:prstGeom prst="line">
            <a:avLst/>
          </a:prstGeom>
          <a:noFill/>
          <a:ln w="19050">
            <a:solidFill>
              <a:srgbClr val="E0A526"/>
            </a:solidFill>
            <a:prstDash val="dash"/>
          </a:ln>
        </p:spPr>
      </p:sp>
      <p:sp>
        <p:nvSpPr>
          <p:cNvPr id="38" name="Text 36"/>
          <p:cNvSpPr txBox="1"/>
          <p:nvPr/>
        </p:nvSpPr>
        <p:spPr>
          <a:xfrm>
            <a:off x="4183380" y="258775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C08A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022092" y="3493008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3022092" y="349300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ANOVA / KW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854196" y="3493008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54196" y="3493008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JM distance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022092" y="384048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022092" y="3840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ReliefF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854196" y="3840480"/>
            <a:ext cx="7863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854196" y="38404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Boruta + RF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285232" y="22402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285232" y="22402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VIF / SPA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35040" y="2313432"/>
            <a:ext cx="128016" cy="109728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50" name="Shape 48"/>
          <p:cNvSpPr/>
          <p:nvPr/>
        </p:nvSpPr>
        <p:spPr>
          <a:xfrm>
            <a:off x="6190488" y="224028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190488" y="2240280"/>
            <a:ext cx="713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SFFS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85232" y="2651760"/>
            <a:ext cx="1618488" cy="493776"/>
          </a:xfrm>
          <a:prstGeom prst="roundRect">
            <a:avLst>
              <a:gd name="adj" fmla="val 12963"/>
            </a:avLst>
          </a:prstGeom>
          <a:solidFill>
            <a:srgbClr val="E3F1EF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007608" y="2651760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 flipV="1">
            <a:off x="5422392" y="2743200"/>
            <a:ext cx="82296" cy="155448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04688" y="2743200"/>
            <a:ext cx="82296" cy="155448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5385816" y="2898648"/>
            <a:ext cx="36576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422392" y="2898648"/>
            <a:ext cx="36576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5550408" y="2898648"/>
            <a:ext cx="36576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586984" y="2898648"/>
            <a:ext cx="36576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68112" y="2706624"/>
            <a:ext cx="73152" cy="7315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61" name="Shape 59"/>
          <p:cNvSpPr/>
          <p:nvPr/>
        </p:nvSpPr>
        <p:spPr>
          <a:xfrm>
            <a:off x="5393131" y="2869387"/>
            <a:ext cx="58522" cy="5852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62" name="Shape 60"/>
          <p:cNvSpPr/>
          <p:nvPr/>
        </p:nvSpPr>
        <p:spPr>
          <a:xfrm>
            <a:off x="5557723" y="2869387"/>
            <a:ext cx="58522" cy="5852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63" name="Shape 61"/>
          <p:cNvSpPr/>
          <p:nvPr/>
        </p:nvSpPr>
        <p:spPr>
          <a:xfrm>
            <a:off x="5362956" y="3022092"/>
            <a:ext cx="45720" cy="45720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64" name="Shape 62"/>
          <p:cNvSpPr/>
          <p:nvPr/>
        </p:nvSpPr>
        <p:spPr>
          <a:xfrm>
            <a:off x="5436108" y="3022092"/>
            <a:ext cx="45720" cy="45720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65" name="Shape 63"/>
          <p:cNvSpPr/>
          <p:nvPr/>
        </p:nvSpPr>
        <p:spPr>
          <a:xfrm>
            <a:off x="5527548" y="3022092"/>
            <a:ext cx="45720" cy="45720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66" name="Shape 64"/>
          <p:cNvSpPr/>
          <p:nvPr/>
        </p:nvSpPr>
        <p:spPr>
          <a:xfrm>
            <a:off x="5600700" y="3022092"/>
            <a:ext cx="45720" cy="45720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67" name="Shape 65"/>
          <p:cNvSpPr/>
          <p:nvPr/>
        </p:nvSpPr>
        <p:spPr>
          <a:xfrm flipV="1">
            <a:off x="5715000" y="2743200"/>
            <a:ext cx="82296" cy="155448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797296" y="2743200"/>
            <a:ext cx="82296" cy="155448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5678424" y="2898648"/>
            <a:ext cx="36576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715000" y="2898648"/>
            <a:ext cx="36576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flipV="1">
            <a:off x="5843016" y="2898648"/>
            <a:ext cx="36576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879592" y="2898648"/>
            <a:ext cx="36576" cy="146304"/>
          </a:xfrm>
          <a:prstGeom prst="line">
            <a:avLst/>
          </a:prstGeom>
          <a:noFill/>
          <a:ln w="12700">
            <a:solidFill>
              <a:srgbClr val="8FA3A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760720" y="2706624"/>
            <a:ext cx="73152" cy="7315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74" name="Shape 72"/>
          <p:cNvSpPr/>
          <p:nvPr/>
        </p:nvSpPr>
        <p:spPr>
          <a:xfrm>
            <a:off x="5685739" y="2869387"/>
            <a:ext cx="58522" cy="5852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75" name="Shape 73"/>
          <p:cNvSpPr/>
          <p:nvPr/>
        </p:nvSpPr>
        <p:spPr>
          <a:xfrm>
            <a:off x="5850331" y="2869387"/>
            <a:ext cx="58522" cy="58522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76" name="Shape 74"/>
          <p:cNvSpPr/>
          <p:nvPr/>
        </p:nvSpPr>
        <p:spPr>
          <a:xfrm>
            <a:off x="5655564" y="3022092"/>
            <a:ext cx="45720" cy="45720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77" name="Shape 75"/>
          <p:cNvSpPr/>
          <p:nvPr/>
        </p:nvSpPr>
        <p:spPr>
          <a:xfrm>
            <a:off x="5728716" y="3022092"/>
            <a:ext cx="45720" cy="45720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78" name="Shape 76"/>
          <p:cNvSpPr/>
          <p:nvPr/>
        </p:nvSpPr>
        <p:spPr>
          <a:xfrm>
            <a:off x="5820156" y="3022092"/>
            <a:ext cx="45720" cy="45720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79" name="Shape 77"/>
          <p:cNvSpPr/>
          <p:nvPr/>
        </p:nvSpPr>
        <p:spPr>
          <a:xfrm>
            <a:off x="5893308" y="3022092"/>
            <a:ext cx="45720" cy="45720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80" name="Shape 78"/>
          <p:cNvSpPr/>
          <p:nvPr/>
        </p:nvSpPr>
        <p:spPr>
          <a:xfrm>
            <a:off x="5285232" y="3218688"/>
            <a:ext cx="1618488" cy="493776"/>
          </a:xfrm>
          <a:prstGeom prst="roundRect">
            <a:avLst>
              <a:gd name="adj" fmla="val 12963"/>
            </a:avLst>
          </a:prstGeom>
          <a:solidFill>
            <a:srgbClr val="E3F1EF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6007608" y="3218688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 flipV="1">
            <a:off x="5440680" y="3282696"/>
            <a:ext cx="438912" cy="384048"/>
          </a:xfrm>
          <a:prstGeom prst="line">
            <a:avLst/>
          </a:prstGeom>
          <a:noFill/>
          <a:ln w="19050">
            <a:solidFill>
              <a:srgbClr val="1F2D3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5367528" y="3255264"/>
            <a:ext cx="402336" cy="347472"/>
          </a:xfrm>
          <a:prstGeom prst="line">
            <a:avLst/>
          </a:prstGeom>
          <a:noFill/>
          <a:ln w="12700">
            <a:solidFill>
              <a:srgbClr val="8FA3A6"/>
            </a:solidFill>
            <a:prstDash val="dash"/>
          </a:ln>
        </p:spPr>
      </p:sp>
      <p:sp>
        <p:nvSpPr>
          <p:cNvPr id="84" name="Shape 82"/>
          <p:cNvSpPr/>
          <p:nvPr/>
        </p:nvSpPr>
        <p:spPr>
          <a:xfrm flipV="1">
            <a:off x="5532120" y="3337560"/>
            <a:ext cx="402336" cy="347472"/>
          </a:xfrm>
          <a:prstGeom prst="line">
            <a:avLst/>
          </a:prstGeom>
          <a:noFill/>
          <a:ln w="12700">
            <a:solidFill>
              <a:srgbClr val="8FA3A6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5385816" y="3310128"/>
            <a:ext cx="54864" cy="548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6" name="Shape 84"/>
          <p:cNvSpPr/>
          <p:nvPr/>
        </p:nvSpPr>
        <p:spPr>
          <a:xfrm>
            <a:off x="5468112" y="3374136"/>
            <a:ext cx="54864" cy="548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7" name="Shape 85"/>
          <p:cNvSpPr/>
          <p:nvPr/>
        </p:nvSpPr>
        <p:spPr>
          <a:xfrm>
            <a:off x="5394960" y="3438144"/>
            <a:ext cx="54864" cy="548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8" name="Shape 86"/>
          <p:cNvSpPr/>
          <p:nvPr/>
        </p:nvSpPr>
        <p:spPr>
          <a:xfrm>
            <a:off x="5541264" y="3282696"/>
            <a:ext cx="54864" cy="548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9" name="Shape 87"/>
          <p:cNvSpPr/>
          <p:nvPr/>
        </p:nvSpPr>
        <p:spPr>
          <a:xfrm>
            <a:off x="5724144" y="3566160"/>
            <a:ext cx="54864" cy="5486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0" name="Shape 88"/>
          <p:cNvSpPr/>
          <p:nvPr/>
        </p:nvSpPr>
        <p:spPr>
          <a:xfrm>
            <a:off x="5815584" y="3493008"/>
            <a:ext cx="54864" cy="5486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1" name="Shape 89"/>
          <p:cNvSpPr/>
          <p:nvPr/>
        </p:nvSpPr>
        <p:spPr>
          <a:xfrm>
            <a:off x="5852160" y="3602736"/>
            <a:ext cx="54864" cy="5486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2" name="Shape 90"/>
          <p:cNvSpPr/>
          <p:nvPr/>
        </p:nvSpPr>
        <p:spPr>
          <a:xfrm>
            <a:off x="5669280" y="3621024"/>
            <a:ext cx="54864" cy="5486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93" name="Shape 91"/>
          <p:cNvSpPr/>
          <p:nvPr/>
        </p:nvSpPr>
        <p:spPr>
          <a:xfrm>
            <a:off x="5285232" y="3785616"/>
            <a:ext cx="1618488" cy="493776"/>
          </a:xfrm>
          <a:prstGeom prst="roundRect">
            <a:avLst>
              <a:gd name="adj" fmla="val 12963"/>
            </a:avLst>
          </a:prstGeom>
          <a:solidFill>
            <a:srgbClr val="E3F1EF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6007608" y="3785616"/>
            <a:ext cx="914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KNN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5495544" y="3867912"/>
            <a:ext cx="329184" cy="329184"/>
          </a:xfrm>
          <a:prstGeom prst="ellipse">
            <a:avLst/>
          </a:prstGeom>
          <a:ln w="15875">
            <a:solidFill>
              <a:srgbClr val="1CB8B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559552" y="3941064"/>
            <a:ext cx="54864" cy="548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7" name="Shape 95"/>
          <p:cNvSpPr/>
          <p:nvPr/>
        </p:nvSpPr>
        <p:spPr>
          <a:xfrm>
            <a:off x="5715000" y="3959352"/>
            <a:ext cx="54864" cy="548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8" name="Shape 96"/>
          <p:cNvSpPr/>
          <p:nvPr/>
        </p:nvSpPr>
        <p:spPr>
          <a:xfrm>
            <a:off x="5650992" y="4096512"/>
            <a:ext cx="54864" cy="548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99" name="Shape 97"/>
          <p:cNvSpPr/>
          <p:nvPr/>
        </p:nvSpPr>
        <p:spPr>
          <a:xfrm>
            <a:off x="5385816" y="4114800"/>
            <a:ext cx="54864" cy="5486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00" name="Shape 98"/>
          <p:cNvSpPr/>
          <p:nvPr/>
        </p:nvSpPr>
        <p:spPr>
          <a:xfrm>
            <a:off x="5870448" y="3858768"/>
            <a:ext cx="54864" cy="5486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01" name="Shape 99"/>
          <p:cNvSpPr/>
          <p:nvPr/>
        </p:nvSpPr>
        <p:spPr>
          <a:xfrm>
            <a:off x="5879592" y="4123944"/>
            <a:ext cx="54864" cy="5486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618988" y="3991356"/>
            <a:ext cx="82296" cy="82296"/>
          </a:xfrm>
          <a:prstGeom prst="ellipse">
            <a:avLst/>
          </a:prstGeom>
          <a:solidFill>
            <a:srgbClr val="1F2D30"/>
          </a:solidFill>
          <a:ln/>
        </p:spPr>
      </p:sp>
      <p:sp>
        <p:nvSpPr>
          <p:cNvPr id="103" name="Shape 101"/>
          <p:cNvSpPr/>
          <p:nvPr/>
        </p:nvSpPr>
        <p:spPr>
          <a:xfrm>
            <a:off x="7539228" y="2286000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3B82F6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7539228" y="2286000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8014716" y="2286000"/>
            <a:ext cx="438912" cy="987552"/>
          </a:xfrm>
          <a:custGeom>
            <a:avLst/>
            <a:gdLst/>
            <a:ahLst/>
            <a:cxnLst/>
            <a:rect l="l" t="t" r="r" b="b"/>
            <a:pathLst>
              <a:path w="438912" h="987552">
                <a:moveTo>
                  <a:pt x="0" y="109728"/>
                </a:moveTo>
                <a:cubicBezTo>
                  <a:pt x="256032" y="109728"/>
                  <a:pt x="182880" y="548640"/>
                  <a:pt x="438912" y="548640"/>
                </a:cubicBezTo>
              </a:path>
            </a:pathLst>
          </a:custGeom>
          <a:ln w="25400">
            <a:solidFill>
              <a:srgbClr val="3B82F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539228" y="2578608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22B455"/>
          </a:solidFill>
          <a:ln/>
        </p:spPr>
      </p:sp>
      <p:sp>
        <p:nvSpPr>
          <p:cNvPr id="107" name="Text 105"/>
          <p:cNvSpPr txBox="1"/>
          <p:nvPr/>
        </p:nvSpPr>
        <p:spPr>
          <a:xfrm>
            <a:off x="7539228" y="2578608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8014716" y="2286000"/>
            <a:ext cx="438912" cy="987552"/>
          </a:xfrm>
          <a:custGeom>
            <a:avLst/>
            <a:gdLst/>
            <a:ahLst/>
            <a:cxnLst/>
            <a:rect l="l" t="t" r="r" b="b"/>
            <a:pathLst>
              <a:path w="438912" h="987552">
                <a:moveTo>
                  <a:pt x="0" y="402336"/>
                </a:moveTo>
                <a:cubicBezTo>
                  <a:pt x="256032" y="402336"/>
                  <a:pt x="182880" y="548640"/>
                  <a:pt x="438912" y="548640"/>
                </a:cubicBezTo>
              </a:path>
            </a:pathLst>
          </a:custGeom>
          <a:ln w="25400">
            <a:solidFill>
              <a:srgbClr val="22B455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7539228" y="2871216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8E5BD6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7539228" y="2871216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HS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8014716" y="2286000"/>
            <a:ext cx="438912" cy="987552"/>
          </a:xfrm>
          <a:custGeom>
            <a:avLst/>
            <a:gdLst/>
            <a:ahLst/>
            <a:cxnLst/>
            <a:rect l="l" t="t" r="r" b="b"/>
            <a:pathLst>
              <a:path w="438912" h="987552">
                <a:moveTo>
                  <a:pt x="0" y="694944"/>
                </a:moveTo>
                <a:cubicBezTo>
                  <a:pt x="256032" y="694944"/>
                  <a:pt x="182880" y="548640"/>
                  <a:pt x="438912" y="548640"/>
                </a:cubicBezTo>
              </a:path>
            </a:pathLst>
          </a:custGeom>
          <a:ln w="25400">
            <a:solidFill>
              <a:srgbClr val="8E5BD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539228" y="3163824"/>
            <a:ext cx="475488" cy="219456"/>
          </a:xfrm>
          <a:prstGeom prst="roundRect">
            <a:avLst>
              <a:gd name="adj" fmla="val 20833"/>
            </a:avLst>
          </a:prstGeom>
          <a:solidFill>
            <a:srgbClr val="E5484D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7539228" y="3163824"/>
            <a:ext cx="475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TIR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8014716" y="2286000"/>
            <a:ext cx="438912" cy="987552"/>
          </a:xfrm>
          <a:custGeom>
            <a:avLst/>
            <a:gdLst/>
            <a:ahLst/>
            <a:cxnLst/>
            <a:rect l="l" t="t" r="r" b="b"/>
            <a:pathLst>
              <a:path w="438912" h="987552">
                <a:moveTo>
                  <a:pt x="0" y="987552"/>
                </a:moveTo>
                <a:cubicBezTo>
                  <a:pt x="256032" y="987552"/>
                  <a:pt x="182880" y="548640"/>
                  <a:pt x="438912" y="548640"/>
                </a:cubicBezTo>
              </a:path>
            </a:pathLst>
          </a:custGeom>
          <a:ln w="25400">
            <a:solidFill>
              <a:srgbClr val="E5484D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462772" y="2514600"/>
            <a:ext cx="164592" cy="1554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6" name="Shape 114"/>
          <p:cNvSpPr/>
          <p:nvPr/>
        </p:nvSpPr>
        <p:spPr>
          <a:xfrm>
            <a:off x="8462772" y="2670048"/>
            <a:ext cx="164592" cy="155448"/>
          </a:xfrm>
          <a:prstGeom prst="rect">
            <a:avLst/>
          </a:prstGeom>
          <a:solidFill>
            <a:srgbClr val="22B455"/>
          </a:solidFill>
          <a:ln/>
        </p:spPr>
      </p:sp>
      <p:sp>
        <p:nvSpPr>
          <p:cNvPr id="117" name="Shape 115"/>
          <p:cNvSpPr/>
          <p:nvPr/>
        </p:nvSpPr>
        <p:spPr>
          <a:xfrm>
            <a:off x="8462772" y="2825496"/>
            <a:ext cx="164592" cy="155448"/>
          </a:xfrm>
          <a:prstGeom prst="rect">
            <a:avLst/>
          </a:prstGeom>
          <a:solidFill>
            <a:srgbClr val="8E5BD6"/>
          </a:solidFill>
          <a:ln/>
        </p:spPr>
      </p:sp>
      <p:sp>
        <p:nvSpPr>
          <p:cNvPr id="118" name="Shape 116"/>
          <p:cNvSpPr/>
          <p:nvPr/>
        </p:nvSpPr>
        <p:spPr>
          <a:xfrm>
            <a:off x="8462772" y="2980944"/>
            <a:ext cx="164592" cy="155448"/>
          </a:xfrm>
          <a:prstGeom prst="rect">
            <a:avLst/>
          </a:prstGeom>
          <a:solidFill>
            <a:srgbClr val="E5484D"/>
          </a:solidFill>
          <a:ln/>
        </p:spPr>
      </p:sp>
      <p:sp>
        <p:nvSpPr>
          <p:cNvPr id="119" name="Shape 117"/>
          <p:cNvSpPr/>
          <p:nvPr/>
        </p:nvSpPr>
        <p:spPr>
          <a:xfrm>
            <a:off x="8663940" y="2779776"/>
            <a:ext cx="146304" cy="109728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120" name="Shape 118"/>
          <p:cNvSpPr/>
          <p:nvPr/>
        </p:nvSpPr>
        <p:spPr>
          <a:xfrm>
            <a:off x="8828532" y="2665476"/>
            <a:ext cx="338328" cy="33832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21" name="Text 119"/>
          <p:cNvSpPr txBox="1"/>
          <p:nvPr/>
        </p:nvSpPr>
        <p:spPr>
          <a:xfrm>
            <a:off x="8828532" y="2665476"/>
            <a:ext cx="33832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7548372" y="3566160"/>
            <a:ext cx="1618488" cy="274320"/>
          </a:xfrm>
          <a:prstGeom prst="roundRect">
            <a:avLst>
              <a:gd name="adj" fmla="val 50000"/>
            </a:avLst>
          </a:prstGeom>
          <a:solidFill>
            <a:srgbClr val="E3F1EF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7548372" y="356616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Feature-level fusion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7548372" y="3931920"/>
            <a:ext cx="161848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CB8B2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7548372" y="3931920"/>
            <a:ext cx="161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SFFS → RF · SVM · KNN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9866376" y="2286000"/>
            <a:ext cx="603504" cy="603504"/>
          </a:xfrm>
          <a:prstGeom prst="roundRect">
            <a:avLst>
              <a:gd name="adj" fmla="val 7576"/>
            </a:avLst>
          </a:prstGeom>
          <a:solidFill>
            <a:srgbClr val="8FBF6A"/>
          </a:solidFill>
          <a:ln/>
        </p:spPr>
      </p:sp>
      <p:sp>
        <p:nvSpPr>
          <p:cNvPr id="127" name="Shape 125"/>
          <p:cNvSpPr/>
          <p:nvPr/>
        </p:nvSpPr>
        <p:spPr>
          <a:xfrm>
            <a:off x="9930384" y="235000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8" name="Shape 126"/>
          <p:cNvSpPr/>
          <p:nvPr/>
        </p:nvSpPr>
        <p:spPr>
          <a:xfrm>
            <a:off x="10067544" y="2350008"/>
            <a:ext cx="73152" cy="73152"/>
          </a:xfrm>
          <a:prstGeom prst="ellipse">
            <a:avLst/>
          </a:prstGeom>
          <a:solidFill>
            <a:srgbClr val="5FA83A"/>
          </a:solidFill>
          <a:ln/>
        </p:spPr>
      </p:sp>
      <p:sp>
        <p:nvSpPr>
          <p:cNvPr id="129" name="Shape 127"/>
          <p:cNvSpPr/>
          <p:nvPr/>
        </p:nvSpPr>
        <p:spPr>
          <a:xfrm>
            <a:off x="10204704" y="2350008"/>
            <a:ext cx="73152" cy="73152"/>
          </a:xfrm>
          <a:prstGeom prst="ellipse">
            <a:avLst/>
          </a:prstGeom>
          <a:solidFill>
            <a:srgbClr val="5FA83A"/>
          </a:solidFill>
          <a:ln/>
        </p:spPr>
      </p:sp>
      <p:sp>
        <p:nvSpPr>
          <p:cNvPr id="130" name="Shape 128"/>
          <p:cNvSpPr/>
          <p:nvPr/>
        </p:nvSpPr>
        <p:spPr>
          <a:xfrm>
            <a:off x="10341864" y="235000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1" name="Shape 129"/>
          <p:cNvSpPr/>
          <p:nvPr/>
        </p:nvSpPr>
        <p:spPr>
          <a:xfrm>
            <a:off x="9930384" y="2487168"/>
            <a:ext cx="73152" cy="73152"/>
          </a:xfrm>
          <a:prstGeom prst="ellipse">
            <a:avLst/>
          </a:prstGeom>
          <a:solidFill>
            <a:srgbClr val="5FA83A"/>
          </a:solidFill>
          <a:ln/>
        </p:spPr>
      </p:sp>
      <p:sp>
        <p:nvSpPr>
          <p:cNvPr id="132" name="Shape 130"/>
          <p:cNvSpPr/>
          <p:nvPr/>
        </p:nvSpPr>
        <p:spPr>
          <a:xfrm>
            <a:off x="10067544" y="2487168"/>
            <a:ext cx="73152" cy="73152"/>
          </a:xfrm>
          <a:prstGeom prst="ellipse">
            <a:avLst/>
          </a:prstGeom>
          <a:solidFill>
            <a:srgbClr val="5FA83A"/>
          </a:solidFill>
          <a:ln/>
        </p:spPr>
      </p:sp>
      <p:sp>
        <p:nvSpPr>
          <p:cNvPr id="133" name="Shape 131"/>
          <p:cNvSpPr/>
          <p:nvPr/>
        </p:nvSpPr>
        <p:spPr>
          <a:xfrm>
            <a:off x="10204704" y="248716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0341864" y="2487168"/>
            <a:ext cx="73152" cy="73152"/>
          </a:xfrm>
          <a:prstGeom prst="ellipse">
            <a:avLst/>
          </a:prstGeom>
          <a:solidFill>
            <a:srgbClr val="5FA83A"/>
          </a:solidFill>
          <a:ln/>
        </p:spPr>
      </p:sp>
      <p:sp>
        <p:nvSpPr>
          <p:cNvPr id="135" name="Shape 133"/>
          <p:cNvSpPr/>
          <p:nvPr/>
        </p:nvSpPr>
        <p:spPr>
          <a:xfrm>
            <a:off x="9930384" y="2624328"/>
            <a:ext cx="73152" cy="73152"/>
          </a:xfrm>
          <a:prstGeom prst="ellipse">
            <a:avLst/>
          </a:prstGeom>
          <a:solidFill>
            <a:srgbClr val="5FA83A"/>
          </a:solidFill>
          <a:ln/>
        </p:spPr>
      </p:sp>
      <p:sp>
        <p:nvSpPr>
          <p:cNvPr id="136" name="Shape 134"/>
          <p:cNvSpPr/>
          <p:nvPr/>
        </p:nvSpPr>
        <p:spPr>
          <a:xfrm>
            <a:off x="10067544" y="262432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7" name="Shape 135"/>
          <p:cNvSpPr/>
          <p:nvPr/>
        </p:nvSpPr>
        <p:spPr>
          <a:xfrm>
            <a:off x="10204704" y="2624328"/>
            <a:ext cx="73152" cy="73152"/>
          </a:xfrm>
          <a:prstGeom prst="ellipse">
            <a:avLst/>
          </a:prstGeom>
          <a:solidFill>
            <a:srgbClr val="5FA83A"/>
          </a:solidFill>
          <a:ln/>
        </p:spPr>
      </p:sp>
      <p:sp>
        <p:nvSpPr>
          <p:cNvPr id="138" name="Shape 136"/>
          <p:cNvSpPr/>
          <p:nvPr/>
        </p:nvSpPr>
        <p:spPr>
          <a:xfrm>
            <a:off x="10341864" y="2624328"/>
            <a:ext cx="73152" cy="73152"/>
          </a:xfrm>
          <a:prstGeom prst="ellipse">
            <a:avLst/>
          </a:prstGeom>
          <a:solidFill>
            <a:srgbClr val="5FA83A"/>
          </a:solidFill>
          <a:ln/>
        </p:spPr>
      </p:sp>
      <p:sp>
        <p:nvSpPr>
          <p:cNvPr id="139" name="Shape 137"/>
          <p:cNvSpPr/>
          <p:nvPr/>
        </p:nvSpPr>
        <p:spPr>
          <a:xfrm>
            <a:off x="9930384" y="276148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0" name="Shape 138"/>
          <p:cNvSpPr/>
          <p:nvPr/>
        </p:nvSpPr>
        <p:spPr>
          <a:xfrm>
            <a:off x="10067544" y="2761488"/>
            <a:ext cx="73152" cy="73152"/>
          </a:xfrm>
          <a:prstGeom prst="ellipse">
            <a:avLst/>
          </a:prstGeom>
          <a:solidFill>
            <a:srgbClr val="5FA83A"/>
          </a:solidFill>
          <a:ln/>
        </p:spPr>
      </p:sp>
      <p:sp>
        <p:nvSpPr>
          <p:cNvPr id="141" name="Shape 139"/>
          <p:cNvSpPr/>
          <p:nvPr/>
        </p:nvSpPr>
        <p:spPr>
          <a:xfrm>
            <a:off x="10204704" y="2761488"/>
            <a:ext cx="73152" cy="73152"/>
          </a:xfrm>
          <a:prstGeom prst="ellipse">
            <a:avLst/>
          </a:prstGeom>
          <a:solidFill>
            <a:srgbClr val="5FA83A"/>
          </a:solidFill>
          <a:ln/>
        </p:spPr>
      </p:sp>
      <p:sp>
        <p:nvSpPr>
          <p:cNvPr id="142" name="Shape 140"/>
          <p:cNvSpPr/>
          <p:nvPr/>
        </p:nvSpPr>
        <p:spPr>
          <a:xfrm>
            <a:off x="10341864" y="2761488"/>
            <a:ext cx="73152" cy="731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3" name="Shape 141"/>
          <p:cNvSpPr/>
          <p:nvPr/>
        </p:nvSpPr>
        <p:spPr>
          <a:xfrm>
            <a:off x="10543032" y="2514600"/>
            <a:ext cx="201168" cy="146304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144" name="Shape 142"/>
          <p:cNvSpPr/>
          <p:nvPr/>
        </p:nvSpPr>
        <p:spPr>
          <a:xfrm>
            <a:off x="10780776" y="2331720"/>
            <a:ext cx="621792" cy="329184"/>
          </a:xfrm>
          <a:prstGeom prst="roundRect">
            <a:avLst>
              <a:gd name="adj" fmla="val 16667"/>
            </a:avLst>
          </a:prstGeom>
          <a:solidFill>
            <a:srgbClr val="FFB020"/>
          </a:solidFill>
          <a:ln/>
        </p:spPr>
      </p:sp>
      <p:sp>
        <p:nvSpPr>
          <p:cNvPr id="145" name="Text 143"/>
          <p:cNvSpPr txBox="1"/>
          <p:nvPr/>
        </p:nvSpPr>
        <p:spPr>
          <a:xfrm>
            <a:off x="10780776" y="2331720"/>
            <a:ext cx="621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 3</a:t>
            </a:r>
            <a:endParaRPr lang="en-US" sz="1050" dirty="0"/>
          </a:p>
        </p:txBody>
      </p:sp>
      <p:sp>
        <p:nvSpPr>
          <p:cNvPr id="146" name="Text 144"/>
          <p:cNvSpPr txBox="1"/>
          <p:nvPr/>
        </p:nvSpPr>
        <p:spPr>
          <a:xfrm>
            <a:off x="10780776" y="267919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Moderate</a:t>
            </a:r>
            <a:endParaRPr lang="en-US" sz="850" dirty="0"/>
          </a:p>
        </p:txBody>
      </p:sp>
      <p:sp>
        <p:nvSpPr>
          <p:cNvPr id="147" name="Shape 145"/>
          <p:cNvSpPr/>
          <p:nvPr/>
        </p:nvSpPr>
        <p:spPr>
          <a:xfrm>
            <a:off x="9866376" y="3200400"/>
            <a:ext cx="248412" cy="182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8" name="Text 146"/>
          <p:cNvSpPr txBox="1"/>
          <p:nvPr/>
        </p:nvSpPr>
        <p:spPr>
          <a:xfrm>
            <a:off x="9866376" y="3410712"/>
            <a:ext cx="2484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149" name="Shape 147"/>
          <p:cNvSpPr/>
          <p:nvPr/>
        </p:nvSpPr>
        <p:spPr>
          <a:xfrm>
            <a:off x="10114788" y="3200400"/>
            <a:ext cx="248412" cy="182880"/>
          </a:xfrm>
          <a:prstGeom prst="rect">
            <a:avLst/>
          </a:prstGeom>
          <a:solidFill>
            <a:srgbClr val="7CB342"/>
          </a:solidFill>
          <a:ln/>
        </p:spPr>
      </p:sp>
      <p:sp>
        <p:nvSpPr>
          <p:cNvPr id="150" name="Text 148"/>
          <p:cNvSpPr txBox="1"/>
          <p:nvPr/>
        </p:nvSpPr>
        <p:spPr>
          <a:xfrm>
            <a:off x="10114788" y="3410712"/>
            <a:ext cx="2484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51" name="Shape 149"/>
          <p:cNvSpPr/>
          <p:nvPr/>
        </p:nvSpPr>
        <p:spPr>
          <a:xfrm>
            <a:off x="10363200" y="3200400"/>
            <a:ext cx="248412" cy="182880"/>
          </a:xfrm>
          <a:prstGeom prst="rect">
            <a:avLst/>
          </a:prstGeom>
          <a:solidFill>
            <a:srgbClr val="C0CA33"/>
          </a:solidFill>
          <a:ln/>
        </p:spPr>
      </p:sp>
      <p:sp>
        <p:nvSpPr>
          <p:cNvPr id="152" name="Text 150"/>
          <p:cNvSpPr txBox="1"/>
          <p:nvPr/>
        </p:nvSpPr>
        <p:spPr>
          <a:xfrm>
            <a:off x="10363200" y="3410712"/>
            <a:ext cx="2484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10611612" y="3200400"/>
            <a:ext cx="248412" cy="182880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10611612" y="3410712"/>
            <a:ext cx="2484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155" name="Shape 153"/>
          <p:cNvSpPr/>
          <p:nvPr/>
        </p:nvSpPr>
        <p:spPr>
          <a:xfrm>
            <a:off x="10860024" y="3200400"/>
            <a:ext cx="248412" cy="182880"/>
          </a:xfrm>
          <a:prstGeom prst="rect">
            <a:avLst/>
          </a:prstGeom>
          <a:solidFill>
            <a:srgbClr val="F4511E"/>
          </a:solidFill>
          <a:ln/>
        </p:spPr>
      </p:sp>
      <p:sp>
        <p:nvSpPr>
          <p:cNvPr id="156" name="Text 154"/>
          <p:cNvSpPr txBox="1"/>
          <p:nvPr/>
        </p:nvSpPr>
        <p:spPr>
          <a:xfrm>
            <a:off x="10860024" y="3410712"/>
            <a:ext cx="2484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11108436" y="3200400"/>
            <a:ext cx="248412" cy="182880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158" name="Text 156"/>
          <p:cNvSpPr txBox="1"/>
          <p:nvPr/>
        </p:nvSpPr>
        <p:spPr>
          <a:xfrm>
            <a:off x="11108436" y="3410712"/>
            <a:ext cx="2484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159" name="Shape 157"/>
          <p:cNvSpPr/>
          <p:nvPr/>
        </p:nvSpPr>
        <p:spPr>
          <a:xfrm rot="10800000">
            <a:off x="10671810" y="3081528"/>
            <a:ext cx="128016" cy="91440"/>
          </a:xfrm>
          <a:prstGeom prst="triangle">
            <a:avLst/>
          </a:prstGeom>
          <a:solidFill>
            <a:srgbClr val="0D1B1F"/>
          </a:solidFill>
          <a:ln/>
        </p:spPr>
      </p:sp>
      <p:sp>
        <p:nvSpPr>
          <p:cNvPr id="160" name="Shape 158"/>
          <p:cNvSpPr/>
          <p:nvPr/>
        </p:nvSpPr>
        <p:spPr>
          <a:xfrm>
            <a:off x="9802368" y="3794760"/>
            <a:ext cx="1618488" cy="292608"/>
          </a:xfrm>
          <a:prstGeom prst="roundRect">
            <a:avLst>
              <a:gd name="adj" fmla="val 50000"/>
            </a:avLst>
          </a:prstGeom>
          <a:solidFill>
            <a:srgbClr val="1CB8B2"/>
          </a:solidFill>
          <a:ln/>
        </p:spPr>
      </p:sp>
      <p:sp>
        <p:nvSpPr>
          <p:cNvPr id="161" name="Text 159"/>
          <p:cNvSpPr txBox="1"/>
          <p:nvPr/>
        </p:nvSpPr>
        <p:spPr>
          <a:xfrm>
            <a:off x="9802368" y="3794760"/>
            <a:ext cx="1618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on unseen plots</a:t>
            </a:r>
            <a:endParaRPr lang="en-US" sz="950" dirty="0"/>
          </a:p>
        </p:txBody>
      </p:sp>
      <p:sp>
        <p:nvSpPr>
          <p:cNvPr id="162" name="Text 160"/>
          <p:cNvSpPr txBox="1"/>
          <p:nvPr/>
        </p:nvSpPr>
        <p:spPr>
          <a:xfrm>
            <a:off x="9683496" y="4114800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nested, plot-grouped CV</a:t>
            </a:r>
            <a:endParaRPr lang="en-US" sz="850" dirty="0"/>
          </a:p>
        </p:txBody>
      </p:sp>
      <p:sp>
        <p:nvSpPr>
          <p:cNvPr id="163" name="Shape 161"/>
          <p:cNvSpPr/>
          <p:nvPr/>
        </p:nvSpPr>
        <p:spPr>
          <a:xfrm>
            <a:off x="640080" y="1737360"/>
            <a:ext cx="1856232" cy="3154680"/>
          </a:xfrm>
          <a:prstGeom prst="roundRect">
            <a:avLst>
              <a:gd name="adj" fmla="val 6897"/>
            </a:avLst>
          </a:prstGeom>
          <a:ln w="25400">
            <a:solidFill>
              <a:srgbClr val="1CB8B2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731520" y="1828800"/>
            <a:ext cx="246888" cy="24688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731520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66" name="Text 164"/>
          <p:cNvSpPr txBox="1"/>
          <p:nvPr/>
        </p:nvSpPr>
        <p:spPr>
          <a:xfrm>
            <a:off x="1051560" y="18288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50" dirty="0"/>
          </a:p>
        </p:txBody>
      </p:sp>
      <p:sp>
        <p:nvSpPr>
          <p:cNvPr id="167" name="Text 165"/>
          <p:cNvSpPr txBox="1"/>
          <p:nvPr/>
        </p:nvSpPr>
        <p:spPr>
          <a:xfrm>
            <a:off x="640080" y="45262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features</a:t>
            </a:r>
            <a:endParaRPr lang="en-US" sz="1250" dirty="0"/>
          </a:p>
        </p:txBody>
      </p:sp>
      <p:sp>
        <p:nvSpPr>
          <p:cNvPr id="168" name="Shape 166"/>
          <p:cNvSpPr/>
          <p:nvPr/>
        </p:nvSpPr>
        <p:spPr>
          <a:xfrm>
            <a:off x="2560320" y="3159252"/>
            <a:ext cx="274320" cy="310896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169" name="Shape 167"/>
          <p:cNvSpPr/>
          <p:nvPr/>
        </p:nvSpPr>
        <p:spPr>
          <a:xfrm>
            <a:off x="2903220" y="1737360"/>
            <a:ext cx="1856232" cy="3154680"/>
          </a:xfrm>
          <a:prstGeom prst="roundRect">
            <a:avLst>
              <a:gd name="adj" fmla="val 6897"/>
            </a:avLst>
          </a:prstGeom>
          <a:ln w="25400">
            <a:solidFill>
              <a:srgbClr val="7DBE4B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2994660" y="1828800"/>
            <a:ext cx="246888" cy="246888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2994660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72" name="Text 170"/>
          <p:cNvSpPr txBox="1"/>
          <p:nvPr/>
        </p:nvSpPr>
        <p:spPr>
          <a:xfrm>
            <a:off x="3314700" y="18288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9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950" dirty="0"/>
          </a:p>
        </p:txBody>
      </p:sp>
      <p:sp>
        <p:nvSpPr>
          <p:cNvPr id="173" name="Text 171"/>
          <p:cNvSpPr txBox="1"/>
          <p:nvPr/>
        </p:nvSpPr>
        <p:spPr>
          <a:xfrm>
            <a:off x="2903220" y="45262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Disease features</a:t>
            </a:r>
            <a:endParaRPr lang="en-US" sz="1250" dirty="0"/>
          </a:p>
        </p:txBody>
      </p:sp>
      <p:sp>
        <p:nvSpPr>
          <p:cNvPr id="174" name="Shape 172"/>
          <p:cNvSpPr/>
          <p:nvPr/>
        </p:nvSpPr>
        <p:spPr>
          <a:xfrm>
            <a:off x="4823460" y="3159252"/>
            <a:ext cx="274320" cy="310896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175" name="Shape 173"/>
          <p:cNvSpPr/>
          <p:nvPr/>
        </p:nvSpPr>
        <p:spPr>
          <a:xfrm>
            <a:off x="5166360" y="1737360"/>
            <a:ext cx="1856232" cy="3154680"/>
          </a:xfrm>
          <a:prstGeom prst="roundRect">
            <a:avLst>
              <a:gd name="adj" fmla="val 6897"/>
            </a:avLst>
          </a:prstGeom>
          <a:ln w="25400">
            <a:solidFill>
              <a:srgbClr val="1CB8B2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5257800" y="1828800"/>
            <a:ext cx="246888" cy="24688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5257800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8" name="Text 176"/>
          <p:cNvSpPr txBox="1"/>
          <p:nvPr/>
        </p:nvSpPr>
        <p:spPr>
          <a:xfrm>
            <a:off x="5577840" y="18288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950" dirty="0"/>
          </a:p>
        </p:txBody>
      </p:sp>
      <p:sp>
        <p:nvSpPr>
          <p:cNvPr id="179" name="Text 177"/>
          <p:cNvSpPr txBox="1"/>
          <p:nvPr/>
        </p:nvSpPr>
        <p:spPr>
          <a:xfrm>
            <a:off x="5166360" y="45262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per sensor</a:t>
            </a:r>
            <a:endParaRPr lang="en-US" sz="1250" dirty="0"/>
          </a:p>
        </p:txBody>
      </p:sp>
      <p:sp>
        <p:nvSpPr>
          <p:cNvPr id="180" name="Shape 178"/>
          <p:cNvSpPr/>
          <p:nvPr/>
        </p:nvSpPr>
        <p:spPr>
          <a:xfrm>
            <a:off x="7086600" y="3159252"/>
            <a:ext cx="274320" cy="310896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181" name="Shape 179"/>
          <p:cNvSpPr/>
          <p:nvPr/>
        </p:nvSpPr>
        <p:spPr>
          <a:xfrm>
            <a:off x="7429500" y="1737360"/>
            <a:ext cx="1856232" cy="3154680"/>
          </a:xfrm>
          <a:prstGeom prst="roundRect">
            <a:avLst>
              <a:gd name="adj" fmla="val 6897"/>
            </a:avLst>
          </a:prstGeom>
          <a:ln w="25400">
            <a:solidFill>
              <a:srgbClr val="7DBE4B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520940" y="1828800"/>
            <a:ext cx="246888" cy="246888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183" name="Text 181"/>
          <p:cNvSpPr txBox="1"/>
          <p:nvPr/>
        </p:nvSpPr>
        <p:spPr>
          <a:xfrm>
            <a:off x="7520940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84" name="Text 182"/>
          <p:cNvSpPr txBox="1"/>
          <p:nvPr/>
        </p:nvSpPr>
        <p:spPr>
          <a:xfrm>
            <a:off x="7840980" y="18288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E9A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950" dirty="0"/>
          </a:p>
        </p:txBody>
      </p:sp>
      <p:sp>
        <p:nvSpPr>
          <p:cNvPr id="185" name="Text 183"/>
          <p:cNvSpPr txBox="1"/>
          <p:nvPr/>
        </p:nvSpPr>
        <p:spPr>
          <a:xfrm>
            <a:off x="7429500" y="45262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fusion</a:t>
            </a:r>
            <a:endParaRPr lang="en-US" sz="1250" dirty="0"/>
          </a:p>
        </p:txBody>
      </p:sp>
      <p:sp>
        <p:nvSpPr>
          <p:cNvPr id="186" name="Shape 184"/>
          <p:cNvSpPr/>
          <p:nvPr/>
        </p:nvSpPr>
        <p:spPr>
          <a:xfrm>
            <a:off x="9349740" y="3159252"/>
            <a:ext cx="274320" cy="310896"/>
          </a:xfrm>
          <a:prstGeom prst="rightArrow">
            <a:avLst/>
          </a:prstGeom>
          <a:solidFill>
            <a:srgbClr val="1CB8B2"/>
          </a:solidFill>
          <a:ln/>
        </p:spPr>
      </p:sp>
      <p:sp>
        <p:nvSpPr>
          <p:cNvPr id="187" name="Shape 185"/>
          <p:cNvSpPr/>
          <p:nvPr/>
        </p:nvSpPr>
        <p:spPr>
          <a:xfrm>
            <a:off x="9683496" y="1737360"/>
            <a:ext cx="1856232" cy="3154680"/>
          </a:xfrm>
          <a:prstGeom prst="roundRect">
            <a:avLst>
              <a:gd name="adj" fmla="val 6897"/>
            </a:avLst>
          </a:prstGeom>
          <a:ln w="25400">
            <a:solidFill>
              <a:srgbClr val="1CB8B2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9774936" y="1828800"/>
            <a:ext cx="246888" cy="24688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89" name="Text 187"/>
          <p:cNvSpPr txBox="1"/>
          <p:nvPr/>
        </p:nvSpPr>
        <p:spPr>
          <a:xfrm>
            <a:off x="9774936" y="1828800"/>
            <a:ext cx="2468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190" name="Text 188"/>
          <p:cNvSpPr txBox="1"/>
          <p:nvPr/>
        </p:nvSpPr>
        <p:spPr>
          <a:xfrm>
            <a:off x="10094976" y="1828800"/>
            <a:ext cx="1188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38A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50" dirty="0"/>
          </a:p>
        </p:txBody>
      </p:sp>
      <p:sp>
        <p:nvSpPr>
          <p:cNvPr id="191" name="Text 189"/>
          <p:cNvSpPr txBox="1"/>
          <p:nvPr/>
        </p:nvSpPr>
        <p:spPr>
          <a:xfrm>
            <a:off x="9683496" y="452628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class</a:t>
            </a:r>
            <a:endParaRPr lang="en-US" sz="1250" dirty="0"/>
          </a:p>
        </p:txBody>
      </p:sp>
      <p:sp>
        <p:nvSpPr>
          <p:cNvPr id="192" name="Shape 190"/>
          <p:cNvSpPr/>
          <p:nvPr/>
        </p:nvSpPr>
        <p:spPr>
          <a:xfrm>
            <a:off x="676656" y="5394960"/>
            <a:ext cx="566928" cy="56692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193" name="Shape 191"/>
          <p:cNvSpPr/>
          <p:nvPr/>
        </p:nvSpPr>
        <p:spPr>
          <a:xfrm>
            <a:off x="758952" y="5586984"/>
            <a:ext cx="164592" cy="365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4" name="Shape 192"/>
          <p:cNvSpPr/>
          <p:nvPr/>
        </p:nvSpPr>
        <p:spPr>
          <a:xfrm>
            <a:off x="996696" y="5586984"/>
            <a:ext cx="164592" cy="365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5" name="Shape 193"/>
          <p:cNvSpPr/>
          <p:nvPr/>
        </p:nvSpPr>
        <p:spPr>
          <a:xfrm>
            <a:off x="841248" y="5623560"/>
            <a:ext cx="64008" cy="5486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flipV="1">
            <a:off x="1014984" y="5623560"/>
            <a:ext cx="64008" cy="54864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877824" y="5650992"/>
            <a:ext cx="164592" cy="73152"/>
          </a:xfrm>
          <a:prstGeom prst="roundRect">
            <a:avLst>
              <a:gd name="adj" fmla="val 37500"/>
            </a:avLst>
          </a:prstGeom>
          <a:solidFill>
            <a:srgbClr val="FFFFFF"/>
          </a:solidFill>
          <a:ln/>
        </p:spPr>
      </p:sp>
      <p:sp>
        <p:nvSpPr>
          <p:cNvPr id="198" name="Shape 196"/>
          <p:cNvSpPr/>
          <p:nvPr/>
        </p:nvSpPr>
        <p:spPr>
          <a:xfrm>
            <a:off x="928116" y="5733288"/>
            <a:ext cx="64008" cy="6400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9" name="Shape 197"/>
          <p:cNvSpPr/>
          <p:nvPr/>
        </p:nvSpPr>
        <p:spPr>
          <a:xfrm flipV="1">
            <a:off x="813816" y="5788152"/>
            <a:ext cx="54864" cy="457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51560" y="5788152"/>
            <a:ext cx="54864" cy="4572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1371600" y="53949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flight, four sensors</a:t>
            </a:r>
            <a:endParaRPr lang="en-US" sz="1300" dirty="0"/>
          </a:p>
        </p:txBody>
      </p:sp>
      <p:sp>
        <p:nvSpPr>
          <p:cNvPr id="202" name="Shape 200"/>
          <p:cNvSpPr/>
          <p:nvPr/>
        </p:nvSpPr>
        <p:spPr>
          <a:xfrm>
            <a:off x="2939796" y="5394960"/>
            <a:ext cx="566928" cy="566928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03" name="Shape 201"/>
          <p:cNvSpPr/>
          <p:nvPr/>
        </p:nvSpPr>
        <p:spPr>
          <a:xfrm rot="2100000">
            <a:off x="3122676" y="5504688"/>
            <a:ext cx="201168" cy="347472"/>
          </a:xfrm>
          <a:custGeom>
            <a:avLst/>
            <a:gdLst/>
            <a:ahLst/>
            <a:cxnLst/>
            <a:rect l="l" t="t" r="r" b="b"/>
            <a:pathLst>
              <a:path w="201168" h="347472">
                <a:moveTo>
                  <a:pt x="100584" y="0"/>
                </a:moveTo>
                <a:cubicBezTo>
                  <a:pt x="211226" y="52121"/>
                  <a:pt x="201168" y="215433"/>
                  <a:pt x="100584" y="347472"/>
                </a:cubicBezTo>
                <a:cubicBezTo>
                  <a:pt x="0" y="215433"/>
                  <a:pt x="-10058" y="52121"/>
                  <a:pt x="100584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4" name="Text 202"/>
          <p:cNvSpPr txBox="1"/>
          <p:nvPr/>
        </p:nvSpPr>
        <p:spPr>
          <a:xfrm>
            <a:off x="3634740" y="53949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Interpretable features</a:t>
            </a:r>
            <a:endParaRPr lang="en-US" sz="1300" dirty="0"/>
          </a:p>
        </p:txBody>
      </p:sp>
      <p:sp>
        <p:nvSpPr>
          <p:cNvPr id="205" name="Shape 203"/>
          <p:cNvSpPr/>
          <p:nvPr/>
        </p:nvSpPr>
        <p:spPr>
          <a:xfrm>
            <a:off x="5202936" y="5394960"/>
            <a:ext cx="566928" cy="56692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06" name="Shape 204"/>
          <p:cNvSpPr/>
          <p:nvPr/>
        </p:nvSpPr>
        <p:spPr>
          <a:xfrm>
            <a:off x="5321808" y="5513832"/>
            <a:ext cx="329184" cy="320040"/>
          </a:xfrm>
          <a:prstGeom prst="star5">
            <a:avLst/>
          </a:prstGeom>
          <a:solidFill>
            <a:srgbClr val="FFFFFF"/>
          </a:solidFill>
          <a:ln/>
        </p:spPr>
      </p:sp>
      <p:sp>
        <p:nvSpPr>
          <p:cNvPr id="207" name="Text 205"/>
          <p:cNvSpPr txBox="1"/>
          <p:nvPr/>
        </p:nvSpPr>
        <p:spPr>
          <a:xfrm>
            <a:off x="5897880" y="53949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sensor set</a:t>
            </a:r>
            <a:endParaRPr lang="en-US" sz="1300" dirty="0"/>
          </a:p>
        </p:txBody>
      </p:sp>
      <p:sp>
        <p:nvSpPr>
          <p:cNvPr id="208" name="Shape 206"/>
          <p:cNvSpPr/>
          <p:nvPr/>
        </p:nvSpPr>
        <p:spPr>
          <a:xfrm>
            <a:off x="7466076" y="5394960"/>
            <a:ext cx="566928" cy="566928"/>
          </a:xfrm>
          <a:prstGeom prst="ellipse">
            <a:avLst/>
          </a:prstGeom>
          <a:solidFill>
            <a:srgbClr val="7DBE4B"/>
          </a:solidFill>
          <a:ln/>
        </p:spPr>
      </p:sp>
      <p:sp>
        <p:nvSpPr>
          <p:cNvPr id="209" name="Shape 207"/>
          <p:cNvSpPr/>
          <p:nvPr/>
        </p:nvSpPr>
        <p:spPr>
          <a:xfrm>
            <a:off x="7584948" y="5568696"/>
            <a:ext cx="182880" cy="109728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7584948" y="5678424"/>
            <a:ext cx="182880" cy="914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flipV="1">
            <a:off x="7584948" y="5678424"/>
            <a:ext cx="182880" cy="109728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7749540" y="5605272"/>
            <a:ext cx="182880" cy="146304"/>
          </a:xfrm>
          <a:prstGeom prst="rightArrow">
            <a:avLst/>
          </a:prstGeom>
          <a:solidFill>
            <a:srgbClr val="FFFFFF"/>
          </a:solidFill>
          <a:ln/>
        </p:spPr>
      </p:sp>
      <p:sp>
        <p:nvSpPr>
          <p:cNvPr id="213" name="Text 211"/>
          <p:cNvSpPr txBox="1"/>
          <p:nvPr/>
        </p:nvSpPr>
        <p:spPr>
          <a:xfrm>
            <a:off x="8161020" y="53949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Complementary sensors</a:t>
            </a:r>
            <a:endParaRPr lang="en-US" sz="1300" dirty="0"/>
          </a:p>
        </p:txBody>
      </p:sp>
      <p:sp>
        <p:nvSpPr>
          <p:cNvPr id="214" name="Shape 212"/>
          <p:cNvSpPr/>
          <p:nvPr/>
        </p:nvSpPr>
        <p:spPr>
          <a:xfrm>
            <a:off x="9720072" y="5394960"/>
            <a:ext cx="566928" cy="566928"/>
          </a:xfrm>
          <a:prstGeom prst="ellipse">
            <a:avLst/>
          </a:prstGeom>
          <a:solidFill>
            <a:srgbClr val="1CB8B2"/>
          </a:solidFill>
          <a:ln/>
        </p:spPr>
      </p:sp>
      <p:sp>
        <p:nvSpPr>
          <p:cNvPr id="215" name="Shape 213"/>
          <p:cNvSpPr/>
          <p:nvPr/>
        </p:nvSpPr>
        <p:spPr>
          <a:xfrm>
            <a:off x="9875520" y="5522976"/>
            <a:ext cx="256032" cy="310896"/>
          </a:xfrm>
          <a:custGeom>
            <a:avLst/>
            <a:gdLst/>
            <a:ahLst/>
            <a:cxnLst/>
            <a:rect l="l" t="t" r="r" b="b"/>
            <a:pathLst>
              <a:path w="256032" h="310896">
                <a:moveTo>
                  <a:pt x="128016" y="0"/>
                </a:moveTo>
                <a:lnTo>
                  <a:pt x="256032" y="49743"/>
                </a:lnTo>
                <a:lnTo>
                  <a:pt x="256032" y="155448"/>
                </a:lnTo>
                <a:cubicBezTo>
                  <a:pt x="256032" y="242499"/>
                  <a:pt x="192024" y="289133"/>
                  <a:pt x="128016" y="310896"/>
                </a:cubicBezTo>
                <a:cubicBezTo>
                  <a:pt x="64008" y="289133"/>
                  <a:pt x="0" y="242499"/>
                  <a:pt x="0" y="155448"/>
                </a:cubicBezTo>
                <a:lnTo>
                  <a:pt x="0" y="4974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6" name="Shape 214"/>
          <p:cNvSpPr/>
          <p:nvPr/>
        </p:nvSpPr>
        <p:spPr>
          <a:xfrm>
            <a:off x="9939528" y="5678424"/>
            <a:ext cx="45720" cy="54864"/>
          </a:xfrm>
          <a:prstGeom prst="line">
            <a:avLst/>
          </a:prstGeom>
          <a:noFill/>
          <a:ln w="31750">
            <a:solidFill>
              <a:srgbClr val="1CB8B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flipV="1">
            <a:off x="9985248" y="5623560"/>
            <a:ext cx="82296" cy="109728"/>
          </a:xfrm>
          <a:prstGeom prst="line">
            <a:avLst/>
          </a:prstGeom>
          <a:noFill/>
          <a:ln w="31750">
            <a:solidFill>
              <a:srgbClr val="1CB8B2"/>
            </a:solidFill>
            <a:prstDash val="solid"/>
          </a:ln>
        </p:spPr>
      </p:sp>
      <p:sp>
        <p:nvSpPr>
          <p:cNvPr id="218" name="Text 216"/>
          <p:cNvSpPr txBox="1"/>
          <p:nvPr/>
        </p:nvSpPr>
        <p:spPr>
          <a:xfrm>
            <a:off x="10415016" y="5394960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Tested on unseen plots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MuDAS-AI AI Engine</dc:title>
  <dc:subject>PptxGenJS Presentation</dc:subject>
  <dc:creator>PptxGenJS</dc:creator>
  <cp:lastModifiedBy>PptxGenJS</cp:lastModifiedBy>
  <cp:revision>1</cp:revision>
  <dcterms:created xsi:type="dcterms:W3CDTF">2026-10-07T14:08:30Z</dcterms:created>
  <dcterms:modified xsi:type="dcterms:W3CDTF">2026-10-07T14:08:30Z</dcterms:modified>
</cp:coreProperties>
</file>