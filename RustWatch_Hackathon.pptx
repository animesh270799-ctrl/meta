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2522a1d-07c2-aff2-56d9-6c66515f8fbd}">
          <p14:sldIdLst>
            <p14:sldId id="256"/>
            <p14:sldId id="257"/>
            <p14:sldId id="258"/>
            <p14:sldId id="259"/>
            <p14:sldId id="260"/>
          </p14:sldIdLst>
        </p14:section>
        <p14:section name="Methodology" id="{7eaae4d2-4ff9-c565-29c3-919f7c184fc6}">
          <p14:sldIdLst>
            <p14:sldId id="261"/>
            <p14:sldId id="262"/>
            <p14:sldId id="263"/>
            <p14:sldId id="264"/>
          </p14:sldIdLst>
        </p14:section>
        <p14:section name="Feature Pipeline" id="{89d49e31-b488-af05-daae-b32c451f6e21}">
          <p14:sldIdLst>
            <p14:sldId id="265"/>
            <p14:sldId id="266"/>
            <p14:sldId id="267"/>
            <p14:sldId id="268"/>
            <p14:sldId id="269"/>
          </p14:sldIdLst>
        </p14:section>
        <p14:section name="Classification" id="{accf59b6-650e-ad36-9965-12d9f0545913}">
          <p14:sldIdLst>
            <p14:sldId id="270"/>
            <p14:sldId id="271"/>
            <p14:sldId id="272"/>
          </p14:sldIdLst>
        </p14:section>
        <p14:section name="Validation &amp; Impact" id="{f5f5b5d6-de9f-a59a-3fd1-db7b73e70fe5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team. This is RustWatch — our solution to detect and map white rust severity in Indian mustard using AI-powered drone sensing with multi-sensor fusion.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White rust is caused by Albugo candida. Key problem: pustules on lower leaf surface are invisible from above. By the time you see staghead, yield loss is locked in. 20-60% losses. Latent period 9-12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Mustard is India's most important oilseed crop. NMEO-OS priority. White rust is the biggest biotic threat. No operational drone-based system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clear research gaps: 1) existing work focuses on visible symptoms, 2) no multimodal framework for mustard, 3) sensor fusion not well understood for severity discrimination.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RustWatch has 4 stages: multi-sensor data in, AI processing with feature fusion, severity map out, spray prescription as action. Key innovation is disease-specific feature selection and fusion.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the entire pipeline. Objective 1 extracts disease-specific features from each sensor. Objective 2 fuses them and classifies severity. The output is a spray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UAV sensors plus ground-truth ASD. Each captures different disease dimension. RGB for structure, MS for pigments, HS for biochemistry, Thermal for physiology.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Factorial RBD at IARI. 3 varieties with different susceptibility. 4 inoculation timings to create a range of disease severity. 48 plots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truth uses a 0-6 rating scale. Disease index formula combines all ratings. We classify into 6 severity classes (0-5) for the ML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sensor produces different features. RGB gives texture, MS gives vegetation indices, HS gives detailed spectral features, Thermal gives temperature parameters. 50+ total features per plot.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shows the scientific basis for our feature selection. Each feature type captures a different aspect of disease response. This gives judges confidence in the scientific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selection pipeline: 50+ features narrowed through statistical screening, separability analysis, VIF for multicollinearity, and SFFS. Output: Disease-Specific Features per sensor.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slide. Feature-level fusion concatenates disease-specific features from all 4 sensors, reduces redundancy, and selects the optimal combination. Key advantage: data-efficient, works with 48 plots.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from literature shows fusion consistently beats single-sensor approaches. Feng et al. saw 15% improvement. We apply the same principle to white rust in mustard.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ML models: RF, SVM, KNN. Both classification (6 severity classes) and regression (continuous DI). 5-fold cross-validation. Comprehensive metrics for model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shows severity map (color-coded by class), right shows the spray prescription derived from it. The output is actionable — spray/monitor/skip for each zone.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compare 4 single-sensor baselines against 4 fusion combinations. Each is tested with RF, SVM, KNN. This answers: does fusion actually help for white rust?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Three-tier validation: controlled experiment at IARI, cross-site at IIRMR Bharatpur, and real farmers fields. Tests robustness across genotypes, environments, and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Impact: reduced fungicide, early intervention, objective assessment. Scalable to other crops and diseases. Roadmap from hackathon to pilot deployment. SDG aligned.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judges. Summarize: RustWatch uses multi-sensor UAV data with feature-level fusion to detect and map white rust severity. Actionable spray prescriptions for farmers.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DA9C4"/>
                </a:solidFill>
              </a:rPr>
              <a:t>RustWatch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3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4A843"/>
                </a:solidFill>
              </a:rPr>
              <a:t>RUSTWATCH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AI-Powered Multimodal UAV Sensing for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White Rust Severity Mapping in Mustard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3657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3474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A9C4"/>
                </a:solidFill>
              </a:rPr>
              <a:t>Animesh Panda  |  Ph.D. Agricultural Physics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DA9C4"/>
                </a:solidFill>
              </a:rPr>
              <a:t>ICAR - Indian Agricultural Research Institute, New Delhi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</a:rPr>
              <a:t>Challenge 2: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Crop Intelligence and Decision Support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120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FAO  |  ITU  |  IFAD  |  WFP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International Hackathon on AI for Agri-Food Systems  | 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White Rust: The Invisible Threat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6949440" cy="2560320"/>
          </a:xfrm>
          <a:prstGeom prst="roundRect">
            <a:avLst>
              <a:gd name="adj" fmla="val 3571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B2545"/>
                </a:solidFill>
              </a:rPr>
              <a:t>Albugo candida</a:t>
            </a:r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 — the #1 disease of Indian mustard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08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Pustules form on the </a:t>
            </a:r>
            <a:pPr indent="0" marL="0">
              <a:buNone/>
            </a:pPr>
            <a:r>
              <a:rPr lang="en-US" sz="1400" b="1" dirty="0">
                <a:solidFill>
                  <a:srgbClr val="C1272D"/>
                </a:solidFill>
              </a:rPr>
              <a:t>lower leaf surface (abaxial)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Invisible from above until severe canopy damage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By staghead formation, yield loss is already locked in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272D"/>
                </a:solidFill>
              </a:rPr>
              <a:t>Manual scouting: slow, subjective, too late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100584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</a:rPr>
              <a:t>Disease Progression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15087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0" y="150876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Early Infection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(Abaxial pustules)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1755648"/>
            <a:ext cx="256032" cy="18288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66960" y="150876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C1272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966960" y="1508760"/>
            <a:ext cx="1554480" cy="6400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Severe Stage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(Staghead)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A9C4"/>
                </a:solidFill>
              </a:rPr>
              <a:t>Invisible from UAV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996696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A9C4"/>
                </a:solidFill>
              </a:rPr>
              <a:t>Too late to act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112471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31920"/>
            <a:ext cx="112471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C127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0233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1272D"/>
                </a:solidFill>
              </a:rPr>
              <a:t>20 – 60%</a:t>
            </a:r>
            <a:endParaRPr lang="en-US" sz="54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212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Yield loss from white rust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Favourable conditions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4480560"/>
          <a:ext cx="2926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</a:rPr>
                        <a:t>Temperature</a:t>
                      </a:r>
                      <a:endParaRPr lang="en-US" sz="1000" dirty="0"/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12 – 24 °C</a:t>
                      </a:r>
                      <a:endParaRPr lang="en-US" sz="1000" dirty="0"/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</a:rPr>
                        <a:t>Morning RH</a:t>
                      </a:r>
                      <a:endParaRPr lang="en-US" sz="1000" dirty="0"/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&gt; 97%</a:t>
                      </a:r>
                      <a:endParaRPr lang="en-US" sz="1000" dirty="0"/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</a:rPr>
                        <a:t>Afternoon RH</a:t>
                      </a:r>
                      <a:endParaRPr lang="en-US" sz="1000" dirty="0"/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&gt; 40%</a:t>
                      </a:r>
                      <a:endParaRPr lang="en-US" sz="1000" dirty="0"/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545"/>
                          </a:solidFill>
                        </a:rPr>
                        <a:t>Latent period</a:t>
                      </a:r>
                      <a:endParaRPr lang="en-US" sz="1000" dirty="0"/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9 – 12 days</a:t>
                      </a:r>
                      <a:endParaRPr lang="en-US" sz="1000" dirty="0"/>
                    </a:p>
                  </a:txBody>
                  <a:tcPr marL="5080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8412480" y="4114800"/>
            <a:ext cx="3017520" cy="1645920"/>
          </a:xfrm>
          <a:prstGeom prst="rect">
            <a:avLst/>
          </a:prstGeom>
          <a:noFill/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Biotrophic oomycete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Obligation parasite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Oospores survive 20+ years in soil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B8D"/>
                </a:solidFill>
              </a:rPr>
              <a:t>Kumar &amp; Kalha, 2005; Chattopadhyay et al., 2011; Gupta &amp; Saharan, 2002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India's Oilseed Lifeline Under Threat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0B3D5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6M+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Hectares under mustard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 India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0058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337560" y="11887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27%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286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Of India's oilseed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production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0058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17920" y="11887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90%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286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Of rapeseed-mustard area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is B. juncea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98280" y="10058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C1272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098280" y="11887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20-60%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2860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Yield loss from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white rust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11247120" cy="2103120"/>
          </a:xfrm>
          <a:prstGeom prst="roundRect">
            <a:avLst>
              <a:gd name="adj" fmla="val 4348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B"/>
                </a:solidFill>
              </a:rPr>
              <a:t>National Mission on Edible Oils (NMEO-OS): </a:t>
            </a:r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Mustard is a priority crop for reducing India's edible-oil import dependency. Strengthening mustard production is essential for farmer income and food security through 2030-31.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8463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272D"/>
                </a:solidFill>
              </a:rPr>
              <a:t>The disease challenge: </a:t>
            </a:r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White rust remains the single largest biotic constraint to mustard productivity in India. No operational UAV-based detection or precision spray system exists for this pathosystem.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B8D"/>
                </a:solidFill>
              </a:rPr>
              <a:t>FAOSTAT, 2018; Dept. of Agriculture, 2021; NMEO-OS, 2024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What's Missing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47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11247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127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411480" cy="41148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234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Post-symptomatic focus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6459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</a:rPr>
              <a:t>Most ML models for UAV-based disease monitoring emphasize visible symptom detection — by then, damage is done.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11247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06040"/>
            <a:ext cx="11247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1A6F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17520"/>
            <a:ext cx="411480" cy="411480"/>
          </a:xfrm>
          <a:prstGeom prst="ellipse">
            <a:avLst/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743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No multimodal framework for mustard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1546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</a:rPr>
              <a:t>No integrated multi-sensor UAV sensing technique exists to characterise and detect white rust in mustard.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11247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114800"/>
            <a:ext cx="11247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0B3D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526280"/>
            <a:ext cx="411480" cy="411480"/>
          </a:xfrm>
          <a:prstGeom prst="ellipse">
            <a:avLst/>
          </a:prstGeom>
          <a:solidFill>
            <a:srgbClr val="0B3D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519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Limited fusion understanding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6634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</a:rPr>
              <a:t>Limited understanding of how to fuse data from different sensors for accurate disease severity discrimination.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0" y="5669280"/>
            <a:ext cx="5760720" cy="457200"/>
          </a:xfrm>
          <a:prstGeom prst="roundRect">
            <a:avLst>
              <a:gd name="adj" fmla="val 20000"/>
            </a:avLst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200400" y="56692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RustWatch addresses all three gaps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B8D"/>
                </a:solidFill>
              </a:rPr>
              <a:t>Terentev et al., 2022; Maimaitijiang et al., 2020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RustWatch: Our Proposed Solution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A6FA0"/>
                </a:solidFill>
              </a:rPr>
              <a:t>A drone-based AI pipeline that fuses multi-sensor data to detect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1A6FA0"/>
                </a:solidFill>
              </a:rPr>
              <a:t>white rust and map severity for targeted spray prescriptions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0B3D5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</a:rPr>
              <a:t>INPUT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468880"/>
            <a:ext cx="1325880" cy="132588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6888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 Sensors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9776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Multi-sensor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UAV imagery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54680" y="2926080"/>
            <a:ext cx="137160" cy="27432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8288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37560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</a:rPr>
              <a:t>PROCESS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77640" y="2468880"/>
            <a:ext cx="1325880" cy="132588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77640" y="246888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Pipeline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39776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Feature extraction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+ Fusion + ML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2926080"/>
            <a:ext cx="137160" cy="27432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8288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217920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</a:rPr>
              <a:t>OUTPUT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0" y="2468880"/>
            <a:ext cx="1325880" cy="132588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0" y="246888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Severity Map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9776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Disease severity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classification map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15400" y="2926080"/>
            <a:ext cx="137160" cy="27432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98280" y="18288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098280" y="1965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</a:rPr>
              <a:t>ACTION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738360" y="2468880"/>
            <a:ext cx="1325880" cy="132588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38360" y="246888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Spray Rx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39776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Targeted spray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prescription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39496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31520" y="54406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B"/>
                </a:solidFill>
              </a:rPr>
              <a:t>Key innovation: </a:t>
            </a:r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Disease-specific feature selection from each sensor, followed by AI-based feature-level fusion — combining the best of RGB, multispectral, hyperspectral, and thermal data for superior severity discrimination.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End-to-End Methodology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0B3D5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6576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Multi-Sensor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UAV Data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57400" y="1435608"/>
            <a:ext cx="256032" cy="18288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18872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37744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Preprocessing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&amp; Ortho-mosaic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69080" y="1435608"/>
            <a:ext cx="256032" cy="18288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18872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389120" y="1188720"/>
            <a:ext cx="1828800" cy="6858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Feature Extraction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(per sensor)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63640" y="1435608"/>
            <a:ext cx="256032" cy="18288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18872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0B3D5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8368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Feature Selection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(DSFs)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42632" y="1920240"/>
            <a:ext cx="164592" cy="201168"/>
          </a:xfrm>
          <a:prstGeom prst="down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265176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583680" y="2651760"/>
            <a:ext cx="1645920" cy="6858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Feature-Level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Fusion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75320" y="2898648"/>
            <a:ext cx="256032" cy="18288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0" y="265176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595360" y="2651760"/>
            <a:ext cx="1463040" cy="6858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Classification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104120" y="2898648"/>
            <a:ext cx="256032" cy="18288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24160" y="265176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C1272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424160" y="2651760"/>
            <a:ext cx="1371600" cy="6858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Severity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Map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" y="19659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6FA0"/>
                </a:solidFill>
              </a:rPr>
              <a:t>Objective 1: Characterise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34290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</a:rPr>
              <a:t>Objective 2: Detect &amp; Discriminate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93192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57200" y="3977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B"/>
                </a:solidFill>
              </a:rPr>
              <a:t>Feature Extraction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3434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RGB: </a:t>
            </a:r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GLCM texture features</a:t>
            </a:r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Multispectral: </a:t>
            </a:r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12 vegetation indices</a:t>
            </a:r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Hyperspectral: </a:t>
            </a:r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30+ VIs, derivatives</a:t>
            </a:r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Thermal: </a:t>
            </a:r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CTD, CTR, NRCT, texture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06240" y="393192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297680" y="3977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B"/>
                </a:solidFill>
              </a:rPr>
              <a:t>Feature Selection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297680" y="43434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Statistical screening (ANOVA)
</a:t>
            </a:r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Separability analysis
</a:t>
            </a:r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VIF for multicollinearity
</a:t>
            </a:r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SFFS with classifier objectives
</a:t>
            </a:r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Disease-Specific Features (DSFs)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3931920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22960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B"/>
                </a:solidFill>
              </a:rPr>
              <a:t>Fusion &amp; Classification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3434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Concatenate DSFs from all sensors
</a:t>
            </a:r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Normalize and scale
</a:t>
            </a:r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SFFS for optimal combination
</a:t>
            </a:r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RF, SVM, KNN classification
</a:t>
            </a:r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Geo-referenced severity map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B8D"/>
                </a:solidFill>
              </a:rPr>
              <a:t>Tian et al., 2021; Feng et al., 2022; Liu et al., 2024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Multi-Sensor UAV Platform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40080"/>
                <a:gridCol w="2011680"/>
                <a:gridCol w="109728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Sensor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Bands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Wavelength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GSD @30m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Disease Relevance</a:t>
                      </a:r>
                      <a:endParaRPr lang="en-US" sz="11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RGB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(DJI Phantom)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450-750 nm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8.2 cm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Visual symptoms, canopy texture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Multispectral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(MicaSense RedEdge MX)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475-840 nm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(B, G, R, RE, NIR)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2 cm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Chlorophyll, pigment change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Hyperspectral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(Headwall Co-Aligned)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491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VNIR: 400-1000 nm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SWIR: 1000-2500 nm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9.7 cm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(VNIR)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Subtle biochemical changes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Thermal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(FLIR Vue Pro R)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7.5-13.5 µm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2 cm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545"/>
                          </a:solidFill>
                        </a:rPr>
                        <a:t>Stomatal closure, transpiration</a:t>
                      </a:r>
                      <a:endParaRPr lang="en-US" sz="10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931920"/>
            <a:ext cx="11247120" cy="109728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31520" y="40233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B"/>
                </a:solidFill>
              </a:rPr>
              <a:t>Ground Truth Validation: </a:t>
            </a:r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ASD FieldSpec 4 (2151 bands, 350-2500 nm, handheld). Provides reference spectral measurements at leaf and canopy level for calibrating UAV-derived features against laboratory-grade spectra.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B"/>
                </a:solidFill>
              </a:rPr>
              <a:t>Why 4 sensors? </a:t>
            </a:r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Each captures a different dimension of disease response: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562356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57200" y="5623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RGB  →  Structure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562356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337560" y="5623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MS  →  Pigments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562356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0B3D5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217920" y="5623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HS  →  Biochemistry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098280" y="562356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C1272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9098280" y="5623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TIR  →  Physiology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B8D"/>
                </a:solidFill>
              </a:rPr>
              <a:t>Maimaitijiang et al., 2020; Mahlein et al., 2019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Controlled Field Experiment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303520" cy="4937760"/>
          </a:xfrm>
          <a:prstGeom prst="roundRect">
            <a:avLst>
              <a:gd name="adj" fmla="val 1852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B"/>
                </a:solidFill>
              </a:rPr>
              <a:t>Experimental Design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Location: </a:t>
            </a:r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IARI Research Farm, New Delhi
</a:t>
            </a:r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Design: </a:t>
            </a:r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Factorial Randomized Block Design
</a:t>
            </a:r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Field size: </a:t>
            </a:r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48 m × 24 m
</a:t>
            </a:r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Plot size: </a:t>
            </a:r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5 m × 2.4 m
</a:t>
            </a:r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Replications: </a:t>
            </a:r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3 + Control block
</a:t>
            </a:r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</a:rPr>
              <a:t>Total plots: </a:t>
            </a:r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48 (36 treated + 12 control)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57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B"/>
                </a:solidFill>
              </a:rPr>
              <a:t>Varieties (V)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069080"/>
            <a:ext cx="274320" cy="27432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V1: Varuna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D"/>
                </a:solidFill>
              </a:rPr>
              <a:t>Highly susceptible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274320" cy="27432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4526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V2: Pusa Vijay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4526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D"/>
                </a:solidFill>
              </a:rPr>
              <a:t>Moderately susceptible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5074920"/>
            <a:ext cx="274320" cy="2743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5029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V3: PM-37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5029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D"/>
                </a:solidFill>
              </a:rPr>
              <a:t>Resistant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5577840" cy="2103120"/>
          </a:xfrm>
          <a:prstGeom prst="roundRect">
            <a:avLst>
              <a:gd name="adj" fmla="val 4348"/>
            </a:avLst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09360" y="1097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</a:rPr>
              <a:t>Inoculation Timings (D)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D1: 50 DAS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D2: 40 DAS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D3: 30 DAS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D4: 20 DAS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3383280"/>
            <a:ext cx="55778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3383280"/>
            <a:ext cx="55778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0B3D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3429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5B"/>
                </a:solidFill>
              </a:rPr>
              <a:t>Plot Layout (simplified)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384048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C1272D">
              <a:alpha val="30000"/>
            </a:srgbClr>
          </a:solidFill>
          <a:ln w="6350">
            <a:solidFill>
              <a:srgbClr val="C1272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3840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D1V1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35240" y="384048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D4A843">
              <a:alpha val="30000"/>
            </a:srgbClr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35240" y="3840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D2V1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869680" y="384048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2D6A4F">
              <a:alpha val="30000"/>
            </a:srgbClr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69680" y="3840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D3V1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104120" y="384048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1A6FA0">
              <a:alpha val="30000"/>
            </a:srgbClr>
          </a:solidFill>
          <a:ln w="6350">
            <a:solidFill>
              <a:srgbClr val="1A6FA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04120" y="3840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D4V1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0" y="448056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C1272D">
              <a:alpha val="30000"/>
            </a:srgbClr>
          </a:solidFill>
          <a:ln w="6350">
            <a:solidFill>
              <a:srgbClr val="C1272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0" y="4480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D1V2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35240" y="448056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D4A843">
              <a:alpha val="30000"/>
            </a:srgbClr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35240" y="4480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D2V2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869680" y="448056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2D6A4F">
              <a:alpha val="30000"/>
            </a:srgbClr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869680" y="4480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D3V2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104120" y="448056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1A6FA0">
              <a:alpha val="30000"/>
            </a:srgbClr>
          </a:solidFill>
          <a:ln w="6350">
            <a:solidFill>
              <a:srgbClr val="1A6FA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104120" y="44805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D4V2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0" y="512064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C1272D">
              <a:alpha val="30000"/>
            </a:srgbClr>
          </a:solidFill>
          <a:ln w="6350">
            <a:solidFill>
              <a:srgbClr val="C1272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00800" y="5120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D1V3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635240" y="512064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D4A843">
              <a:alpha val="30000"/>
            </a:srgbClr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635240" y="5120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D2V3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869680" y="512064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2D6A4F">
              <a:alpha val="30000"/>
            </a:srgbClr>
          </a:solidFill>
          <a:ln w="6350">
            <a:solidFill>
              <a:srgbClr val="2D6A4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869680" y="5120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D3V3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104120" y="5120640"/>
            <a:ext cx="1097280" cy="502920"/>
          </a:xfrm>
          <a:prstGeom prst="roundRect">
            <a:avLst>
              <a:gd name="adj" fmla="val 9091"/>
            </a:avLst>
          </a:prstGeom>
          <a:solidFill>
            <a:srgbClr val="1A6FA0">
              <a:alpha val="30000"/>
            </a:srgbClr>
          </a:solidFill>
          <a:ln w="6350">
            <a:solidFill>
              <a:srgbClr val="1A6FA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104120" y="51206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D4V3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6126480" y="39776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B8D"/>
                </a:solidFill>
              </a:rPr>
              <a:t>R1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6126480" y="4617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B8D"/>
                </a:solidFill>
              </a:rPr>
              <a:t>R2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6126480" y="52578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B8D"/>
                </a:solidFill>
              </a:rPr>
              <a:t>R3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5B"/>
                </a:solidFill>
              </a:rPr>
              <a:t>3 Varieties  ×  4 Inoculation timings  ×  3 Replications = 36 treated + 12 control = 48 plots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Disease Severity Assessment (Ground Truth)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B"/>
                </a:solidFill>
              </a:rPr>
              <a:t>Pustule Rating Scale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114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0175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Rating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Leaf Area (%)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No symptoms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0 – 5%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5 – 10%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10 – 20%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20 – 35%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35 – 50%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&gt; 50%</a:t>
                      </a:r>
                      <a:endParaRPr lang="en-US" sz="1100" dirty="0"/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0" y="9144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B"/>
                </a:solidFill>
              </a:rPr>
              <a:t>Severity Classes for Classification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43600" y="1371600"/>
            <a:ext cx="5486400" cy="411480"/>
          </a:xfrm>
          <a:prstGeom prst="roundRect">
            <a:avLst>
              <a:gd name="adj" fmla="val 22222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126480" y="1371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 0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  Healthy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    (DI = 0%)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1874520"/>
            <a:ext cx="5486400" cy="411480"/>
          </a:xfrm>
          <a:prstGeom prst="roundRect">
            <a:avLst>
              <a:gd name="adj" fmla="val 22222"/>
            </a:avLst>
          </a:prstGeom>
          <a:solidFill>
            <a:srgbClr val="7CB34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126480" y="1874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 1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  Very Low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    (DI 1-5%)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2377440"/>
            <a:ext cx="5486400" cy="411480"/>
          </a:xfrm>
          <a:prstGeom prst="roundRect">
            <a:avLst>
              <a:gd name="adj" fmla="val 22222"/>
            </a:avLst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126480" y="2377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 2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  Low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    (DI 6-10%)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0" y="2880360"/>
            <a:ext cx="5486400" cy="411480"/>
          </a:xfrm>
          <a:prstGeom prst="roundRect">
            <a:avLst>
              <a:gd name="adj" fmla="val 22222"/>
            </a:avLst>
          </a:prstGeom>
          <a:solidFill>
            <a:srgbClr val="E8A3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126480" y="2880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 3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  Moderate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    (DI 11-25%)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3600" y="3383280"/>
            <a:ext cx="5486400" cy="411480"/>
          </a:xfrm>
          <a:prstGeom prst="roundRect">
            <a:avLst>
              <a:gd name="adj" fmla="val 22222"/>
            </a:avLst>
          </a:prstGeom>
          <a:solidFill>
            <a:srgbClr val="E6510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126480" y="33832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 4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  High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    (DI 26-50%)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0" y="3886200"/>
            <a:ext cx="5486400" cy="411480"/>
          </a:xfrm>
          <a:prstGeom prst="roundRect">
            <a:avLst>
              <a:gd name="adj" fmla="val 22222"/>
            </a:avLst>
          </a:prstGeom>
          <a:solidFill>
            <a:srgbClr val="C1272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126480" y="3886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76200" rIns="762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 5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  Very High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    (DI &gt; 50%)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38912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640080" y="44805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B"/>
                </a:solidFill>
              </a:rPr>
              <a:t>Disease Index (DI) Calculation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</a:rPr>
              <a:t>DI (%) = [ Σ (rating × frequency) / (n × total leaves) ] × 100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5303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D"/>
                </a:solidFill>
              </a:rPr>
              <a:t>20 plants per plot, 5 sampling points (centre + 4 corners), all fully expanded leaves scored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B8D"/>
                </a:solidFill>
              </a:rPr>
              <a:t>Pandey et al., 2013; Liu et al., 2024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Step 1: Disease-Specific Feature Extraction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97480" cy="594360"/>
          </a:xfrm>
          <a:prstGeom prst="roundRect">
            <a:avLst>
              <a:gd name="adj" fmla="val 15385"/>
            </a:avLst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65760" y="1005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RGB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325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GLCM Texture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(8 features)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27632" y="1645920"/>
            <a:ext cx="164592" cy="201168"/>
          </a:xfrm>
          <a:prstGeom prst="down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6596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" y="205740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Mean, Variance,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Homogeneity, Contrast,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Dissimilarity, Entropy,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2nd Moment, Correlation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3840480"/>
            <a:ext cx="731520" cy="411480"/>
          </a:xfrm>
          <a:prstGeom prst="ellipse">
            <a:avLst/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3840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97480" cy="594360"/>
          </a:xfrm>
          <a:prstGeom prst="roundRect">
            <a:avLst>
              <a:gd name="adj" fmla="val 15385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291840" y="1005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Multispectral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325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Vegetation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Indices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53712" y="1645920"/>
            <a:ext cx="164592" cy="201168"/>
          </a:xfrm>
          <a:prstGeom prst="down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96596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383280" y="205740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NDVI, GNDVI, NDRE,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SAVI, OSAVI, CIrededge,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CIgreen, TCARI, MCARI,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MTCI, PSRI, MSR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3840480"/>
            <a:ext cx="731520" cy="4114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3840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1005840"/>
            <a:ext cx="2697480" cy="594360"/>
          </a:xfrm>
          <a:prstGeom prst="roundRect">
            <a:avLst>
              <a:gd name="adj" fmla="val 15385"/>
            </a:avLst>
          </a:prstGeom>
          <a:solidFill>
            <a:srgbClr val="0B3D5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217920" y="1005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Hyperspectral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1325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VIs + Derivatives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+ Continuum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79792" y="1645920"/>
            <a:ext cx="164592" cy="201168"/>
          </a:xfrm>
          <a:prstGeom prst="down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96596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09360" y="205740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PRI, WI, ARI, SIPI,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NPQI, RARSa/b/c,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Spectral derivatives,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Continuum removal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3840480"/>
            <a:ext cx="731520" cy="411480"/>
          </a:xfrm>
          <a:prstGeom prst="ellipse">
            <a:avLst/>
          </a:prstGeom>
          <a:solidFill>
            <a:srgbClr val="0B3D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0" y="3840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30+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0" y="1005840"/>
            <a:ext cx="2697480" cy="594360"/>
          </a:xfrm>
          <a:prstGeom prst="roundRect">
            <a:avLst>
              <a:gd name="adj" fmla="val 15385"/>
            </a:avLst>
          </a:prstGeom>
          <a:solidFill>
            <a:srgbClr val="C1272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144000" y="10058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Thermal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13258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Temperature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Params + GLCM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405872" y="1645920"/>
            <a:ext cx="164592" cy="201168"/>
          </a:xfrm>
          <a:prstGeom prst="down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0" y="1965960"/>
            <a:ext cx="2697480" cy="2377440"/>
          </a:xfrm>
          <a:prstGeom prst="roundRect">
            <a:avLst>
              <a:gd name="adj" fmla="val 3846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235440" y="205740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CTD, CTR, NRCT,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Thermal GLCM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(Con, Hom, 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Cor, Var, Dis)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881360" y="3840480"/>
            <a:ext cx="731520" cy="41148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881360" y="3840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9+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663440"/>
            <a:ext cx="11430000" cy="548640"/>
          </a:xfrm>
          <a:prstGeom prst="roundRect">
            <a:avLst>
              <a:gd name="adj" fmla="val 16667"/>
            </a:avLst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365760" y="46634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Total: 50+ candidate features per plot  →  Need selection to find disease-specific ones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All features computed at plot level from ortho-mosaic imagery. Thermal parameters require atmospheric temperature correction.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B8D"/>
                </a:solidFill>
              </a:rPr>
              <a:t>Feng et al., 2022; Haralick et al., 1973; Liu et al., 2024; Haboudane et al., 2004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Key Disease-Relevant Spectral Features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11430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1097280"/>
                <a:gridCol w="3474720"/>
                <a:gridCol w="2103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Sensor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Disease Relevance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Reference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Chlorophyll status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NDVI, GNDVI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MS / HS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Chlorophyll degradation by infection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Gitelson &amp; Merzlyak, 1996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CIrededge, MTCI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MS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Red-edge shift with pigment loss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Gitelson et al., 2003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RARSa, RARSb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HS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Chlorophyll a/b ratio change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Chappelle et al., 1992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Stress detection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PRI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HS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Xanthophyll cycle / photosynthetic stress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Gamon et al., 1992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PSRI, SIPI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MS / HS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Senescence and carotenoid/chlorophyll ratio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Peñuelas et al., 1995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TCARI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MS / HS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Chlorophyll absorption sensitivity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Haboudane et al., 2002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Water status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WI, NWI2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HS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Leaf water content change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Peñuelas et al., 1997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Pigment change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ARI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HS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Anthocyanin accumulation (defense)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Gitelson, 2001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Temperature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CTD, NRCT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Thermal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Stomatal closure from infection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Liu et al., 2024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Texture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GLCM features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RGB / TIR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Canopy structure disruption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2545"/>
                          </a:solidFill>
                        </a:rPr>
                        <a:t>Haralick et al., 1973</a:t>
                      </a:r>
                      <a:endParaRPr lang="en-US" sz="95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A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6FA0"/>
                </a:solidFill>
              </a:rPr>
              <a:t>These features capture five dimensions of disease response: chlorophyll loss, physiological stress, water status, pigment defense, and canopy structure disruption.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Step 2: Disease-Specific Feature Selection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40480" y="100584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8DA9C4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840480" y="1005840"/>
            <a:ext cx="4480560" cy="5943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50+ Raw Features (per sensor)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062472" y="1627632"/>
            <a:ext cx="164592" cy="201168"/>
          </a:xfrm>
          <a:prstGeom prst="down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187452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840480" y="1874520"/>
            <a:ext cx="4480560" cy="5943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Statistical Screening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(ANOVA / t-test: p &lt; 0.05)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62472" y="2496312"/>
            <a:ext cx="164592" cy="201168"/>
          </a:xfrm>
          <a:prstGeom prst="down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0" y="274320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840480" y="2743200"/>
            <a:ext cx="4480560" cy="5943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Spectral Separability 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(Bhattacharyya distance between severity classes)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62472" y="3364992"/>
            <a:ext cx="164592" cy="201168"/>
          </a:xfrm>
          <a:prstGeom prst="down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361188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40480" y="3611880"/>
            <a:ext cx="4480560" cy="5943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Multicollinearity Removal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(Variance Inflation Factor, VIF &lt; 10)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62472" y="4233672"/>
            <a:ext cx="164592" cy="201168"/>
          </a:xfrm>
          <a:prstGeom prst="down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0" y="448056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0B3D5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840480" y="4480560"/>
            <a:ext cx="4480560" cy="5943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Sequential Floating Forward Selection (SFFS)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using RF, SVM, KNN classifier objectives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62472" y="5102352"/>
            <a:ext cx="164592" cy="201168"/>
          </a:xfrm>
          <a:prstGeom prst="down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534924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840480" y="5349240"/>
            <a:ext cx="4480560" cy="5943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Disease-Specific Features (DSFs)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per sensor, per disease stage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371600"/>
            <a:ext cx="3200400" cy="18288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5720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B"/>
                </a:solidFill>
              </a:rPr>
              <a:t>Why this pipeline?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17373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Not all features are disease-relevant. Many are redundant or correlated. We need a rigorous pipeline to find the minimal set that maximally separates severity classes.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95360" y="320040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68680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B"/>
                </a:solidFill>
              </a:rPr>
              <a:t>SFFS Advantage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35661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Sequential Floating Forward Selection adds and removes features iteratively, avoiding local optima that simple forward selection gets trapped in. Uses classifier accuracy as the objective.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B8D"/>
                </a:solidFill>
              </a:rPr>
              <a:t>Tian et al., 2021 (DSSF framework); Mustafa et al., 2022 (SFFS methodology)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Step 3: AI-Based Feature-Level Fusion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6576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DSFs from RGB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Texture features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88920" y="1481328"/>
            <a:ext cx="256032" cy="18288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24028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65760" y="2240280"/>
            <a:ext cx="2377440" cy="7772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DSFs from Multispectral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Vegetation indices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88920" y="2532888"/>
            <a:ext cx="256032" cy="18288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2918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B3D5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5760" y="3291840"/>
            <a:ext cx="2377440" cy="7772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DSFs from Hyperspectral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Spectral features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3584448"/>
            <a:ext cx="256032" cy="18288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434340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C1272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65760" y="4343400"/>
            <a:ext cx="2377440" cy="7772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DSFs from Thermal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Temperature params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88920" y="4636008"/>
            <a:ext cx="256032" cy="18288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1645920"/>
            <a:ext cx="1463040" cy="2286000"/>
          </a:xfrm>
          <a:prstGeom prst="roundRect">
            <a:avLst>
              <a:gd name="adj" fmla="val 5000"/>
            </a:avLst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108960" y="1645920"/>
            <a:ext cx="1463040" cy="22860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Concatenate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into unified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feature matrix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670048"/>
            <a:ext cx="256032" cy="18288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237744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937760" y="2377440"/>
            <a:ext cx="128016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Normalize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&amp; Scale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2670048"/>
            <a:ext cx="256032" cy="18288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237744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583680" y="237744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Multicollinearity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Reduction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92440" y="2670048"/>
            <a:ext cx="256032" cy="18288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237744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0B3D5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12480" y="237744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SFFS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(RF/SVM/KNN)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921240" y="2670048"/>
            <a:ext cx="256032" cy="18288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41280" y="237744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10241280" y="2377440"/>
            <a:ext cx="1554480" cy="7315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Optimal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Feature Set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572000"/>
            <a:ext cx="11430000" cy="1554480"/>
          </a:xfrm>
          <a:prstGeom prst="roundRect">
            <a:avLst>
              <a:gd name="adj" fmla="val 5882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B"/>
                </a:solidFill>
              </a:rPr>
              <a:t>Why Feature-Level Fusion?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9377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B"/>
                </a:solidFill>
              </a:rPr>
              <a:t>Cross-modal complementarity: </a:t>
            </a:r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Each sensor captures a different dimension of the disease response. Fusion combines them into a single, richer representation.
</a:t>
            </a:r>
            <a:pPr indent="0" marL="0">
              <a:buNone/>
            </a:pPr>
            <a:r>
              <a:rPr lang="en-US" sz="1200" b="1" dirty="0">
                <a:solidFill>
                  <a:srgbClr val="0B3D5B"/>
                </a:solidFill>
              </a:rPr>
              <a:t>Proven performance: </a:t>
            </a:r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Feng et al. (2022) showed multi-source fusion achieved R² = 0.872 vs best single-sensor R² = 0.76 for wheat powdery mildew.
</a:t>
            </a:r>
            <a:pPr indent="0" marL="0">
              <a:buNone/>
            </a:pPr>
            <a:r>
              <a:rPr lang="en-US" sz="1200" b="1" dirty="0">
                <a:solidFill>
                  <a:srgbClr val="0B3D5B"/>
                </a:solidFill>
              </a:rPr>
              <a:t>Data-efficient: </a:t>
            </a:r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Works with plot-level tabular features (n = 48 plots) — no need for large image datasets required by deep learning.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B8D"/>
                </a:solidFill>
              </a:rPr>
              <a:t>Feng et al., 2022; Maimaitijiang et al., 2020; Liu et al., 2024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Each Sensor Captures a Different Disease Dimension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65760" y="1051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RGB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4630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Visual lesions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Canopy structure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Color change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" y="21488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Detects visible chlorosis, necrosis, and textural disruption of the canopy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291840" y="1051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Multispectral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4630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Chlorophyll loss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Pigment changes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Red-edge shift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10312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383280" y="21488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Quantifies chlorophyll degradation and pigment ratios through calibrated band ratios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0B3D5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17920" y="1051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Hyperspectral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4630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Biochemical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signatures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Subtle shifts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09360" y="21488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Captures fine-grained biochemical variation invisible to broader-band sensors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0" y="100584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C1272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44000" y="1051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Thermal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14630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Stomatal closure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Transpiration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stress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0" y="2103120"/>
            <a:ext cx="2697480" cy="9144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235440" y="21488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545"/>
                </a:solidFill>
              </a:rPr>
              <a:t>Infection disrupts stomatal regulation, changing canopy temperature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11430000" cy="2560320"/>
          </a:xfrm>
          <a:prstGeom prst="roundRect">
            <a:avLst>
              <a:gd name="adj" fmla="val 3571"/>
            </a:avLst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</a:rPr>
              <a:t>Literature Evidence for Sensor Fusion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3200400"/>
                <a:gridCol w="1097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Study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Single-sensor best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Multi-sensor fusion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Improvement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Feng et al., 2022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(Wheat powdery mildew)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A9C4"/>
                          </a:solidFill>
                        </a:rPr>
                        <a:t>R² = 0.76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A9C4"/>
                          </a:solidFill>
                        </a:rPr>
                        <a:t>(VIs only)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</a:rPr>
                        <a:t>R² = 0.872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</a:rPr>
                        <a:t>(VI + Thermal + Texture)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4A843"/>
                          </a:solidFill>
                        </a:rPr>
                        <a:t>+15%</a:t>
                      </a:r>
                      <a:endParaRPr lang="en-US" sz="14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Liu et al., 2024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(Wheat powdery mildew)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A9C4"/>
                          </a:solidFill>
                        </a:rPr>
                        <a:t>R² = 0.82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A9C4"/>
                          </a:solidFill>
                        </a:rPr>
                        <a:t>(Spectral only)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</a:rPr>
                        <a:t>R² = 0.90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</a:rPr>
                        <a:t>(Spectral + Thermal + TTCI)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4A843"/>
                          </a:solidFill>
                        </a:rPr>
                        <a:t>+10%</a:t>
                      </a:r>
                      <a:endParaRPr lang="en-US" sz="14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Mahlein et al., 2019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(Wheat FHB)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A9C4"/>
                          </a:solidFill>
                        </a:rPr>
                        <a:t>OA = 89%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A9C4"/>
                          </a:solidFill>
                        </a:rPr>
                        <a:t>(HSI only)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</a:rPr>
                        <a:t>OA = 90%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</a:rPr>
                        <a:t>(HSI + IRT fusion)</a:t>
                      </a:r>
                      <a:endParaRPr lang="en-US" sz="10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4A843"/>
                          </a:solidFill>
                        </a:rPr>
                        <a:t>+1%</a:t>
                      </a:r>
                      <a:endParaRPr lang="en-US" sz="1400" dirty="0"/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Step 4: Machine Learning Classification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0B3D5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65760" y="1143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Random Forest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(RFC)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Ensemble of decision trees. Handles high-dimensional feature spaces well. Provides feature importance ranking.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06240" y="10058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206240" y="1143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Support Vector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Machine (SVM)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8745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Finds optimal hyperplane for class separation. Effective with small sample sizes (n=48). RBF kernel for non-linear boundaries.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46720" y="10058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46720" y="1143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K-Nearest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Neighbors (KNN)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18745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Instance-based learning. Simple, interpretable. Serves as baseline and cross-validation against parametric models.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5486400" cy="2468880"/>
          </a:xfrm>
          <a:prstGeom prst="roundRect">
            <a:avLst>
              <a:gd name="adj" fmla="val 3704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48640" y="3657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B"/>
                </a:solidFill>
              </a:rPr>
              <a:t>Classification Metrics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069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</a:rPr>
              <a:t>Overall Accuracy (OA)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3708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</a:rPr>
              <a:t>Precision (per class)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6725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</a:rPr>
              <a:t>Recall / Sensitivity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9743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</a:rPr>
              <a:t>F1-Score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2760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</a:rPr>
              <a:t>ROC-AUC (multi-class)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577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</a:rPr>
              <a:t>Confusion Matrix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566160"/>
            <a:ext cx="5577840" cy="2468880"/>
          </a:xfrm>
          <a:prstGeom prst="roundRect">
            <a:avLst>
              <a:gd name="adj" fmla="val 3704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400800" y="3657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B"/>
                </a:solidFill>
              </a:rPr>
              <a:t>Regression Metrics (DI estimation)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4069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</a:rPr>
              <a:t>R² (Coefficient of determination)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3708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</a:rPr>
              <a:t>RMSE (Root Mean Square Error)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6725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</a:rPr>
              <a:t>MAE (Mean Absolute Error)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49743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</a:rPr>
              <a:t>MAPE (Mean Absolute % Error)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5276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</a:rPr>
              <a:t>Bias and Mean Bias Error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5623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6FA0"/>
                </a:solidFill>
              </a:rPr>
              <a:t>Validation: 5-fold stratified cross-validation (preserving class distribution)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B8D"/>
                </a:solidFill>
              </a:rPr>
              <a:t>Abdulridha et al., 2023 (RFC); Feng et al., 2022 (RFR/SVR); Tian et al., 2021 (SVM-SFFS)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Step 5: From Classification to Spray Prescription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0B3D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5B"/>
                </a:solidFill>
              </a:rPr>
              <a:t>Disease Severity Map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26464" y="150876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19656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12848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50876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9232" y="150876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92424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85616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78808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65192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201168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3272" y="201168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26464" y="201168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19656" y="201168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12848" y="201168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06040" y="201168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9232" y="2011680"/>
            <a:ext cx="365760" cy="457200"/>
          </a:xfrm>
          <a:prstGeom prst="rect">
            <a:avLst/>
          </a:prstGeom>
          <a:solidFill>
            <a:srgbClr val="E8A31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92424" y="201168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85616" y="201168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78808" y="201168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201168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65192" y="201168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251460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3272" y="251460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26464" y="2514600"/>
            <a:ext cx="365760" cy="457200"/>
          </a:xfrm>
          <a:prstGeom prst="rect">
            <a:avLst/>
          </a:prstGeom>
          <a:solidFill>
            <a:srgbClr val="E8A31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19656" y="251460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12848" y="251460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06040" y="2514600"/>
            <a:ext cx="365760" cy="457200"/>
          </a:xfrm>
          <a:prstGeom prst="rect">
            <a:avLst/>
          </a:prstGeom>
          <a:solidFill>
            <a:srgbClr val="E8A31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99232" y="2514600"/>
            <a:ext cx="365760" cy="457200"/>
          </a:xfrm>
          <a:prstGeom prst="rect">
            <a:avLst/>
          </a:prstGeom>
          <a:solidFill>
            <a:srgbClr val="E651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92424" y="2514600"/>
            <a:ext cx="365760" cy="457200"/>
          </a:xfrm>
          <a:prstGeom prst="rect">
            <a:avLst/>
          </a:prstGeom>
          <a:solidFill>
            <a:srgbClr val="E8A31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85616" y="251460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78808" y="251460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0" y="251460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65192" y="251460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301752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33272" y="301752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6464" y="3017520"/>
            <a:ext cx="365760" cy="457200"/>
          </a:xfrm>
          <a:prstGeom prst="rect">
            <a:avLst/>
          </a:prstGeom>
          <a:solidFill>
            <a:srgbClr val="E8A31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19656" y="301752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12848" y="3017520"/>
            <a:ext cx="365760" cy="457200"/>
          </a:xfrm>
          <a:prstGeom prst="rect">
            <a:avLst/>
          </a:prstGeom>
          <a:solidFill>
            <a:srgbClr val="E8A31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06040" y="3017520"/>
            <a:ext cx="365760" cy="457200"/>
          </a:xfrm>
          <a:prstGeom prst="rect">
            <a:avLst/>
          </a:prstGeom>
          <a:solidFill>
            <a:srgbClr val="E651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99232" y="3017520"/>
            <a:ext cx="365760" cy="457200"/>
          </a:xfrm>
          <a:prstGeom prst="rect">
            <a:avLst/>
          </a:prstGeom>
          <a:solidFill>
            <a:srgbClr val="C1272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92424" y="3017520"/>
            <a:ext cx="365760" cy="457200"/>
          </a:xfrm>
          <a:prstGeom prst="rect">
            <a:avLst/>
          </a:prstGeom>
          <a:solidFill>
            <a:srgbClr val="E651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85616" y="301752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78808" y="301752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0" y="3017520"/>
            <a:ext cx="365760" cy="457200"/>
          </a:xfrm>
          <a:prstGeom prst="rect">
            <a:avLst/>
          </a:prstGeom>
          <a:solidFill>
            <a:srgbClr val="E8A31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65192" y="301752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0080" y="352044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33272" y="352044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426464" y="352044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19656" y="352044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12848" y="352044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06040" y="3520440"/>
            <a:ext cx="365760" cy="457200"/>
          </a:xfrm>
          <a:prstGeom prst="rect">
            <a:avLst/>
          </a:prstGeom>
          <a:solidFill>
            <a:srgbClr val="E8A31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999232" y="3520440"/>
            <a:ext cx="365760" cy="457200"/>
          </a:xfrm>
          <a:prstGeom prst="rect">
            <a:avLst/>
          </a:prstGeom>
          <a:solidFill>
            <a:srgbClr val="E651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392424" y="3520440"/>
            <a:ext cx="365760" cy="457200"/>
          </a:xfrm>
          <a:prstGeom prst="rect">
            <a:avLst/>
          </a:prstGeom>
          <a:solidFill>
            <a:srgbClr val="E8A31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785616" y="352044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178808" y="352044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0" y="352044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965192" y="352044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0080" y="40233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33272" y="40233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426464" y="402336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19656" y="40233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212848" y="402336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606040" y="402336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99232" y="4023360"/>
            <a:ext cx="365760" cy="457200"/>
          </a:xfrm>
          <a:prstGeom prst="rect">
            <a:avLst/>
          </a:prstGeom>
          <a:solidFill>
            <a:srgbClr val="E8A31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392424" y="402336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785616" y="40233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178808" y="402336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572000" y="4023360"/>
            <a:ext cx="365760" cy="457200"/>
          </a:xfrm>
          <a:prstGeom prst="rect">
            <a:avLst/>
          </a:prstGeom>
          <a:solidFill>
            <a:srgbClr val="7CB3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965192" y="40233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0080" y="4572000"/>
            <a:ext cx="182880" cy="164592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868680" y="4544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Healthy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40080" y="4800600"/>
            <a:ext cx="182880" cy="164592"/>
          </a:xfrm>
          <a:prstGeom prst="rect">
            <a:avLst/>
          </a:prstGeom>
          <a:solidFill>
            <a:srgbClr val="7CB3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868680" y="4773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Low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0080" y="5029200"/>
            <a:ext cx="182880" cy="164592"/>
          </a:xfrm>
          <a:prstGeom prst="rect">
            <a:avLst/>
          </a:prstGeom>
          <a:solidFill>
            <a:srgbClr val="E8A3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68680" y="5001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Moderate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40080" y="5257800"/>
            <a:ext cx="182880" cy="164592"/>
          </a:xfrm>
          <a:prstGeom prst="rect">
            <a:avLst/>
          </a:prstGeom>
          <a:solidFill>
            <a:srgbClr val="E651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68680" y="5230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High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40080" y="5486400"/>
            <a:ext cx="182880" cy="164592"/>
          </a:xfrm>
          <a:prstGeom prst="rect">
            <a:avLst/>
          </a:prstGeom>
          <a:solidFill>
            <a:srgbClr val="C127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868680" y="5458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Very High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126480" y="1005840"/>
            <a:ext cx="56692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6126480" y="1005840"/>
            <a:ext cx="566928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621792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6A4F"/>
                </a:solidFill>
              </a:rPr>
              <a:t>Spray Prescription Map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6400800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793992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187184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580376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973568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366760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759952" y="150876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153144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546336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939528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332720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725912" y="15087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400800" y="201168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793992" y="201168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187184" y="201168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580376" y="201168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973568" y="201168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366760" y="201168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759952" y="2011680"/>
            <a:ext cx="365760" cy="457200"/>
          </a:xfrm>
          <a:prstGeom prst="rect">
            <a:avLst/>
          </a:prstGeom>
          <a:solidFill>
            <a:srgbClr val="C1272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153144" y="201168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546336" y="201168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939528" y="201168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332720" y="201168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725912" y="201168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400800" y="251460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793992" y="251460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187184" y="2514600"/>
            <a:ext cx="365760" cy="457200"/>
          </a:xfrm>
          <a:prstGeom prst="rect">
            <a:avLst/>
          </a:prstGeom>
          <a:solidFill>
            <a:srgbClr val="C1272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580376" y="251460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973568" y="251460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366760" y="2514600"/>
            <a:ext cx="365760" cy="457200"/>
          </a:xfrm>
          <a:prstGeom prst="rect">
            <a:avLst/>
          </a:prstGeom>
          <a:solidFill>
            <a:srgbClr val="C1272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759952" y="2514600"/>
            <a:ext cx="365760" cy="457200"/>
          </a:xfrm>
          <a:prstGeom prst="rect">
            <a:avLst/>
          </a:prstGeom>
          <a:solidFill>
            <a:srgbClr val="C1272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153144" y="2514600"/>
            <a:ext cx="365760" cy="457200"/>
          </a:xfrm>
          <a:prstGeom prst="rect">
            <a:avLst/>
          </a:prstGeom>
          <a:solidFill>
            <a:srgbClr val="C1272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546336" y="251460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939528" y="251460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332720" y="251460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725912" y="251460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400800" y="301752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793992" y="301752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187184" y="3017520"/>
            <a:ext cx="365760" cy="457200"/>
          </a:xfrm>
          <a:prstGeom prst="rect">
            <a:avLst/>
          </a:prstGeom>
          <a:solidFill>
            <a:srgbClr val="C1272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580376" y="301752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973568" y="3017520"/>
            <a:ext cx="365760" cy="457200"/>
          </a:xfrm>
          <a:prstGeom prst="rect">
            <a:avLst/>
          </a:prstGeom>
          <a:solidFill>
            <a:srgbClr val="C1272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366760" y="3017520"/>
            <a:ext cx="365760" cy="457200"/>
          </a:xfrm>
          <a:prstGeom prst="rect">
            <a:avLst/>
          </a:prstGeom>
          <a:solidFill>
            <a:srgbClr val="C1272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759952" y="3017520"/>
            <a:ext cx="365760" cy="457200"/>
          </a:xfrm>
          <a:prstGeom prst="rect">
            <a:avLst/>
          </a:prstGeom>
          <a:solidFill>
            <a:srgbClr val="C1272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153144" y="3017520"/>
            <a:ext cx="365760" cy="457200"/>
          </a:xfrm>
          <a:prstGeom prst="rect">
            <a:avLst/>
          </a:prstGeom>
          <a:solidFill>
            <a:srgbClr val="C1272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546336" y="301752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939528" y="301752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0332720" y="3017520"/>
            <a:ext cx="365760" cy="457200"/>
          </a:xfrm>
          <a:prstGeom prst="rect">
            <a:avLst/>
          </a:prstGeom>
          <a:solidFill>
            <a:srgbClr val="C1272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0725912" y="301752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400800" y="352044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793992" y="352044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187184" y="352044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580376" y="352044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973568" y="352044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366760" y="3520440"/>
            <a:ext cx="365760" cy="457200"/>
          </a:xfrm>
          <a:prstGeom prst="rect">
            <a:avLst/>
          </a:prstGeom>
          <a:solidFill>
            <a:srgbClr val="C1272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759952" y="3520440"/>
            <a:ext cx="365760" cy="457200"/>
          </a:xfrm>
          <a:prstGeom prst="rect">
            <a:avLst/>
          </a:prstGeom>
          <a:solidFill>
            <a:srgbClr val="C1272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153144" y="3520440"/>
            <a:ext cx="365760" cy="457200"/>
          </a:xfrm>
          <a:prstGeom prst="rect">
            <a:avLst/>
          </a:prstGeom>
          <a:solidFill>
            <a:srgbClr val="C1272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546336" y="352044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939528" y="352044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0332720" y="352044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0725912" y="352044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6400800" y="40233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793992" y="40233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187184" y="40233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580376" y="40233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7973568" y="40233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366760" y="402336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759952" y="4023360"/>
            <a:ext cx="365760" cy="457200"/>
          </a:xfrm>
          <a:prstGeom prst="rect">
            <a:avLst/>
          </a:prstGeom>
          <a:solidFill>
            <a:srgbClr val="C1272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153144" y="4023360"/>
            <a:ext cx="365760" cy="457200"/>
          </a:xfrm>
          <a:prstGeom prst="rect">
            <a:avLst/>
          </a:prstGeom>
          <a:solidFill>
            <a:srgbClr val="D4A84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9546336" y="40233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9939528" y="40233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332720" y="40233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725912" y="4023360"/>
            <a:ext cx="365760" cy="457200"/>
          </a:xfrm>
          <a:prstGeom prst="rect">
            <a:avLst/>
          </a:prstGeom>
          <a:solidFill>
            <a:srgbClr val="2D6A4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400800" y="4572000"/>
            <a:ext cx="182880" cy="164592"/>
          </a:xfrm>
          <a:prstGeom prst="rect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6629400" y="4544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No Action</a:t>
            </a:r>
            <a:endParaRPr lang="en-US" sz="900" dirty="0"/>
          </a:p>
        </p:txBody>
      </p:sp>
      <p:sp>
        <p:nvSpPr>
          <p:cNvPr id="165" name="Shape 163"/>
          <p:cNvSpPr/>
          <p:nvPr/>
        </p:nvSpPr>
        <p:spPr>
          <a:xfrm>
            <a:off x="6400800" y="4800600"/>
            <a:ext cx="182880" cy="16459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6" name="Text 164"/>
          <p:cNvSpPr txBox="1"/>
          <p:nvPr/>
        </p:nvSpPr>
        <p:spPr>
          <a:xfrm>
            <a:off x="6629400" y="47731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Monitor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400800" y="5029200"/>
            <a:ext cx="182880" cy="164592"/>
          </a:xfrm>
          <a:prstGeom prst="rect">
            <a:avLst/>
          </a:prstGeom>
          <a:solidFill>
            <a:srgbClr val="C127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8" name="Text 166"/>
          <p:cNvSpPr txBox="1"/>
          <p:nvPr/>
        </p:nvSpPr>
        <p:spPr>
          <a:xfrm>
            <a:off x="6629400" y="5001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2545"/>
                </a:solidFill>
              </a:rPr>
              <a:t>Spray</a:t>
            </a:r>
            <a:endParaRPr lang="en-US" sz="900" dirty="0"/>
          </a:p>
        </p:txBody>
      </p:sp>
      <p:sp>
        <p:nvSpPr>
          <p:cNvPr id="169" name="Shape 167"/>
          <p:cNvSpPr/>
          <p:nvPr/>
        </p:nvSpPr>
        <p:spPr>
          <a:xfrm>
            <a:off x="365760" y="5394960"/>
            <a:ext cx="11430000" cy="731520"/>
          </a:xfrm>
          <a:prstGeom prst="roundRect">
            <a:avLst>
              <a:gd name="adj" fmla="val 12500"/>
            </a:avLst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0" name="Text 168"/>
          <p:cNvSpPr txBox="1"/>
          <p:nvPr/>
        </p:nvSpPr>
        <p:spPr>
          <a:xfrm>
            <a:off x="548640" y="54406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The farmer-facing output: </a:t>
            </a:r>
            <a:pPr algn="ctr"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"Spray here, skip there" — not a spectral index, but a decision map in the language farmers understand.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Fusion Combinations to Evaluate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We systematically compare single-sensor vs. multi-sensor fusion performance: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B"/>
                </a:solidFill>
              </a:rPr>
              <a:t>Single-Sensor Baselines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28600" cy="228600"/>
          </a:xfrm>
          <a:prstGeom prst="ellipse">
            <a:avLst/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RGB only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GLCM texture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228600" cy="2286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Multispectral only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12 VIs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228600" cy="228600"/>
          </a:xfrm>
          <a:prstGeom prst="ellipse">
            <a:avLst/>
          </a:prstGeom>
          <a:solidFill>
            <a:srgbClr val="0B3D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Hyperspectral only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2651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30+ VIs + derivatives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228600" cy="228600"/>
          </a:xfrm>
          <a:prstGeom prst="ellipse">
            <a:avLst/>
          </a:prstGeom>
          <a:solidFill>
            <a:srgbClr val="C127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Thermal only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834640" y="3017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8D"/>
                </a:solidFill>
              </a:rPr>
              <a:t>CTD, CTR, NRCT + GLCM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463040"/>
            <a:ext cx="5669280" cy="2011680"/>
          </a:xfrm>
          <a:prstGeom prst="roundRect">
            <a:avLst>
              <a:gd name="adj" fmla="val 4545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30936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</a:rPr>
              <a:t>Multi-Sensor Fusion Combinations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1874520"/>
            <a:ext cx="411480" cy="4114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RGB + Thermal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2240280"/>
            <a:ext cx="411480" cy="4114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Multispectral + Thermal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2606040"/>
            <a:ext cx="411480" cy="4114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Hyperspectral + Thermal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2971800"/>
            <a:ext cx="411480" cy="4114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RGB + Multispectral + Hyperspectral + Thermal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749040"/>
            <a:ext cx="11430000" cy="228600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548640" y="3840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</a:rPr>
              <a:t>Comparative Evaluation Framework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251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For each combination × each ML model: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46177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DA9C4"/>
                </a:solidFill>
              </a:rPr>
              <a:t>Classification: 6 severity classes (OA, F1, ROC-AUC)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49377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DA9C4"/>
                </a:solidFill>
              </a:rPr>
              <a:t>Regression: Continuous DI estimation (R², RMSE)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31520" y="5257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DA9C4"/>
                </a:solidFill>
              </a:rPr>
              <a:t>Feature importance: Which features drive the model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" y="55778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DA9C4"/>
                </a:solidFill>
              </a:rPr>
              <a:t>Cross-validation: 5-fold stratified CV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B8D"/>
                </a:solidFill>
              </a:rPr>
              <a:t>Feng et al., 2022 (single vs. multi-source comparison methodology)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Multi-Site, Multi-Season Validation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0B3D5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6576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</a:rPr>
              <a:t>Tier 0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600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IARI Research Farm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New Delhi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01752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423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Controlled experiment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48 plots, known treatments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Season 1: 2025-26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3474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Training &amp; Development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2286000"/>
            <a:ext cx="137160" cy="27432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00584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20624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</a:rPr>
              <a:t>Tier 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1600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IIRMR Research Farm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Bharatpur, Rajasthan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0" y="2286000"/>
            <a:ext cx="301752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89120" y="2423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Different agro-climate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Local mustard genotypes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Season 2: 2026-27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3474720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480560" y="3474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Cross-site Validation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63840" y="2286000"/>
            <a:ext cx="137160" cy="27432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100584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04672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</a:rPr>
              <a:t>Tier 2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1600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Farmers' Fields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Bharatpur region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321040" y="2286000"/>
            <a:ext cx="301752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0" y="2423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Real-world conditions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Local management practices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Season 2: 2026-27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21040" y="3474720"/>
            <a:ext cx="3017520" cy="457200"/>
          </a:xfrm>
          <a:prstGeom prst="roundRect">
            <a:avLst>
              <a:gd name="adj" fmla="val 20000"/>
            </a:avLst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321040" y="3474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</a:rPr>
              <a:t>Field Deployment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572000"/>
            <a:ext cx="1143000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48640" y="4663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B"/>
                </a:solidFill>
              </a:rPr>
              <a:t>Validation ensures robustness across: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5B"/>
                </a:solidFill>
              </a:rPr>
              <a:t>Genotypes: </a:t>
            </a:r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Different mustard varieties and local cultivars
</a:t>
            </a:r>
            <a:pPr indent="0" marL="0">
              <a:buNone/>
            </a:pPr>
            <a:r>
              <a:rPr lang="en-US" sz="1200" b="1" dirty="0">
                <a:solidFill>
                  <a:srgbClr val="0B3D5B"/>
                </a:solidFill>
              </a:rPr>
              <a:t>Environments: </a:t>
            </a:r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Delhi (semi-arid) vs Bharatpur (hot semi-arid), different soil and climate
</a:t>
            </a:r>
            <a:pPr indent="0" marL="0">
              <a:buNone/>
            </a:pPr>
            <a:r>
              <a:rPr lang="en-US" sz="1200" b="1" dirty="0">
                <a:solidFill>
                  <a:srgbClr val="0B3D5B"/>
                </a:solidFill>
              </a:rPr>
              <a:t>Management: </a:t>
            </a:r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Controlled experiment vs real farmer practices with natural disease pressure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1828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</a:rPr>
              <a:t>Impact, Scalability &amp;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5486400" cy="2560320"/>
          </a:xfrm>
          <a:prstGeom prst="roundRect">
            <a:avLst>
              <a:gd name="adj" fmla="val 3571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B"/>
                </a:solidFill>
              </a:rPr>
              <a:t>Expected Impact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11480" cy="4114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15-30% reduction in fungicide use through targeted spraying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411480" cy="4114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Early intervention before yield loss is locked 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411480" cy="4114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Objective, repeatable assessment (replaces subjective scouting)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411480" cy="4114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Crop health data for insurance and policy decisions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005840"/>
            <a:ext cx="5577840" cy="2560320"/>
          </a:xfrm>
          <a:prstGeom prst="roundRect">
            <a:avLst>
              <a:gd name="adj" fmla="val 3571"/>
            </a:avLst>
          </a:prstGeom>
          <a:solidFill>
            <a:srgbClr val="F5F7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00800" y="1051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5B"/>
                </a:solidFill>
              </a:rPr>
              <a:t>Scalability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0" y="1463040"/>
            <a:ext cx="411480" cy="411480"/>
          </a:xfrm>
          <a:prstGeom prst="ellipse">
            <a:avLst/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1508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Other Brassica diseases: Alternaria blight, downy mildew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1965960"/>
            <a:ext cx="411480" cy="411480"/>
          </a:xfrm>
          <a:prstGeom prst="ellipse">
            <a:avLst/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Other crops: wheat rust, rice blast (same framework)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2468880"/>
            <a:ext cx="411480" cy="411480"/>
          </a:xfrm>
          <a:prstGeom prst="ellipse">
            <a:avLst/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Satellite extension: Sentinel-2 for district-level monitoring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2971800"/>
            <a:ext cx="411480" cy="411480"/>
          </a:xfrm>
          <a:prstGeom prst="ellipse">
            <a:avLst/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Service model: drone service providers offer disease diagnosis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11430000" cy="1463040"/>
          </a:xfrm>
          <a:prstGeom prst="roundRect">
            <a:avLst>
              <a:gd name="adj" fmla="val 6250"/>
            </a:avLst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</a:rPr>
              <a:t>Roadmap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548640" y="4297680"/>
            <a:ext cx="1463040" cy="5486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Hackathon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Oct 2026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892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Demo pipeline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on season-1 data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057400" y="4498848"/>
            <a:ext cx="256032" cy="18288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3280" y="429768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A6FA0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3383280" y="4297680"/>
            <a:ext cx="1463040" cy="5486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Season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2026-27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3383280" y="4892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Multi-site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validation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92040" y="4498848"/>
            <a:ext cx="256032" cy="18288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429768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0B3D5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6217920" y="4297680"/>
            <a:ext cx="1463040" cy="5486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Publication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2027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217920" y="4892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Peer-reviewed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benchmark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726680" y="4498848"/>
            <a:ext cx="256032" cy="182880"/>
          </a:xfrm>
          <a:prstGeom prst="rightArrow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52560" y="429768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2D6A4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381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9052560" y="4297680"/>
            <a:ext cx="1463040" cy="5486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Pilot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2027-28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9052560" y="4892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Field deployment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DA9C4"/>
                </a:solidFill>
              </a:rPr>
              <a:t>with FPOs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5B"/>
                </a:solidFill>
              </a:rPr>
              <a:t>SDG Alignment: </a:t>
            </a:r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SDG 2 (Zero Hunger) — protecting crop yield  |  SDG 12 (Responsible Production) — precision input use  |  SDG 15 (Life on Land) — reduced chemical pollution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B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843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4572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Team RustWatch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Animesh Panda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DA9C4"/>
                </a:solidFill>
              </a:rPr>
              <a:t>Ph.D. Scholar, Agricultural Physics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8DA9C4"/>
                </a:solidFill>
              </a:rPr>
              <a:t>ICAR - Indian Agricultural Research Institute, New Delhi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840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</a:rPr>
              <a:t>Chairperson: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Dr. Rabi Narayan Sahoo (Principal Scientist)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8DA9C4"/>
                </a:solidFill>
              </a:rPr>
              <a:t>Division of Agricultural Physics, ICAR-IARI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DA9C4"/>
                </a:solidFill>
              </a:rPr>
              <a:t>animesh270799@gmail.com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</a:rPr>
              <a:t>RustWatch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— Protecting India's Mustard, One Pixel at a Time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ustWatch">
  <a:themeElements>
    <a:clrScheme name="RustWatch">
      <a:dk1>
        <a:srgbClr val="0B2545"/>
      </a:dk1>
      <a:lt1>
        <a:srgbClr val="FFFFFF"/>
      </a:lt1>
      <a:dk2>
        <a:srgbClr val="13315C"/>
      </a:dk2>
      <a:lt2>
        <a:srgbClr val="F5F7FA"/>
      </a:lt2>
      <a:accent1>
        <a:srgbClr val="0B3D5B"/>
      </a:accent1>
      <a:accent2>
        <a:srgbClr val="1A6FA0"/>
      </a:accent2>
      <a:accent3>
        <a:srgbClr val="D4A843"/>
      </a:accent3>
      <a:accent4>
        <a:srgbClr val="2D6A4F"/>
      </a:accent4>
      <a:accent5>
        <a:srgbClr val="C1272D"/>
      </a:accent5>
      <a:accent6>
        <a:srgbClr val="8DA9C4"/>
      </a:accent6>
      <a:hlink>
        <a:srgbClr val="1A6FA0"/>
      </a:hlink>
      <a:folHlink>
        <a:srgbClr val="0B3D5B"/>
      </a:folHlink>
    </a:clrScheme>
    <a:fontScheme name="RustWat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RustWatch</dc:title>
  <dc:subject>RustWatch Hackathon Presentation</dc:subject>
  <dc:creator>Animesh Panda</dc:creator>
  <cp:lastModifiedBy>Animesh Panda</cp:lastModifiedBy>
  <cp:revision>1</cp:revision>
  <dcterms:created xsi:type="dcterms:W3CDTF">2026-10-04T08:45:19Z</dcterms:created>
  <dcterms:modified xsi:type="dcterms:W3CDTF">2026-10-04T08:45:19Z</dcterms:modified>
</cp:coreProperties>
</file>