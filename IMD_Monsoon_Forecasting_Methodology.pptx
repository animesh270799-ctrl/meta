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cc8dce-40f1-70bf-76ff-de674947bb2d}">
          <p14:sldIdLst>
            <p14:sldId id="256"/>
            <p14:sldId id="257"/>
          </p14:sldIdLst>
        </p14:section>
        <p14:section name="The Indian summer monsoon" id="{0e6a5641-4ec9-75f6-31d0-c3089fd56bb1}">
          <p14:sldIdLst>
            <p14:sldId id="258"/>
            <p14:sldId id="259"/>
            <p14:sldId id="260"/>
            <p14:sldId id="261"/>
            <p14:sldId id="262"/>
            <p14:sldId id="263"/>
          </p14:sldIdLst>
        </p14:section>
        <p14:section name="History of IMD forecasts" id="{768dd90a-1730-d3ed-5f85-18c1dda1d6c7}">
          <p14:sldIdLst>
            <p14:sldId id="264"/>
            <p14:sldId id="265"/>
            <p14:sldId id="266"/>
          </p14:sldIdLst>
        </p14:section>
        <p14:section name="A seamless forecasting system" id="{800088e3-ad0d-54ec-a9e6-bd21479b1fa5}">
          <p14:sldIdLst>
            <p14:sldId id="267"/>
            <p14:sldId id="268"/>
            <p14:sldId id="269"/>
          </p14:sldIdLst>
        </p14:section>
        <p14:section name="Long-range forecasting (LRF)" id="{d175d144-9b83-ac76-468c-33b5c2fd1de9}">
          <p14:sldIdLst>
            <p14:sldId id="270"/>
            <p14:sldId id="271"/>
            <p14:sldId id="272"/>
            <p14:sldId id="273"/>
            <p14:sldId id="274"/>
            <p14:sldId id="275"/>
            <p14:sldId id="276"/>
            <p14:sldId id="277"/>
            <p14:sldId id="278"/>
            <p14:sldId id="279"/>
            <p14:sldId id="280"/>
          </p14:sldIdLst>
        </p14:section>
        <p14:section name="Extended-range forecasting" id="{389e3435-c490-0304-ba65-9a045b10f813}">
          <p14:sldIdLst>
            <p14:sldId id="281"/>
            <p14:sldId id="282"/>
            <p14:sldId id="283"/>
          </p14:sldIdLst>
        </p14:section>
        <p14:section name="Short &amp; medium range" id="{5aea748f-d99f-e678-10cc-91130c521f92}">
          <p14:sldIdLst>
            <p14:sldId id="284"/>
            <p14:sldId id="285"/>
            <p14:sldId id="286"/>
            <p14:sldId id="287"/>
          </p14:sldIdLst>
        </p14:section>
        <p14:section name="Forecast performance" id="{dd6a01e0-6deb-1c59-7cd2-6d9f4dfff5e5}">
          <p14:sldIdLst>
            <p14:sldId id="288"/>
            <p14:sldId id="289"/>
            <p14:sldId id="290"/>
            <p14:sldId id="291"/>
            <p14:sldId id="292"/>
          </p14:sldIdLst>
        </p14:section>
        <p14:section name="Users and the road ahead" id="{396a0bab-f96d-d8b0-e0b0-502c86e5d9c4}">
          <p14:sldIdLst>
            <p14:sldId id="293"/>
            <p14:sldId id="294"/>
            <p14:sldId id="295"/>
          </p14:sldIdLst>
        </p14:section>
        <p14:section name="Synthesis" id="{262b2e5d-6fd8-26c1-8825-d4d89d5a9cf1}">
          <p14:sldIdLst>
            <p14:sldId id="296"/>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43"/>
                </a:solidFill>
                <a:latin typeface="+mn-lt"/>
              </a:defRPr>
            </a:pPr>
            <a:r>
              <a:rPr sz="1300" b="0" i="0" u="none" strike="noStrike">
                <a:solidFill>
                  <a:srgbClr val="0E3B43"/>
                </a:solidFill>
                <a:latin typeface="+mn-lt"/>
              </a:rPr>
              <a:t>All-India JJAS rainfall: forecast vs actual</a:t>
            </a:r>
          </a:p>
        </c:rich>
      </c:tx>
      <c:layout/>
      <c:overlay val="0"/>
    </c:title>
    <c:autoTitleDeleted val="0"/>
    <c:plotArea>
      <c:layout/>
      <c:barChart>
        <c:barDir val="col"/>
        <c:grouping val="clustered"/>
        <c:varyColors val="0"/>
        <c:ser>
          <c:idx val="0"/>
          <c:order val="0"/>
          <c:tx>
            <c:strRef>
              <c:f>Sheet1!$B$1</c:f>
              <c:strCache>
                <c:ptCount val="1"/>
                <c:pt idx="0">
                  <c:v>April forecast (% of LPA)</c:v>
                </c:pt>
              </c:strCache>
            </c:strRef>
          </c:tx>
          <c:spPr>
            <a:solidFill>
              <a:srgbClr val="2E6FA7"/>
            </a:solidFill>
            <a:effectLst/>
          </c:spPr>
          <c:invertIfNegative val="0"/>
          <c:dLbls>
            <c:numFmt formatCode="#,##0" sourceLinked="0"/>
            <c:txPr>
              <a:bodyPr/>
              <a:lstStyle/>
              <a:p>
                <a:pPr>
                  <a:defRPr b="0" i="0" strike="noStrike" sz="900" u="none">
                    <a:solidFill>
                      <a:srgbClr val="1B2A30"/>
                    </a:solidFill>
                    <a:latin typeface="+mn-lt"/>
                  </a:defRPr>
                </a:pPr>
              </a:p>
            </c:txPr>
            <c:showLegendKey val="0"/>
            <c:showVal val="1"/>
            <c:showCatName val="0"/>
            <c:showSerName val="0"/>
            <c:showPercent val="0"/>
            <c:showBubbleSize val="0"/>
            <c:showLeaderLines val="0"/>
          </c:dLbls>
          <c:cat>
            <c:multiLvlStrRef>
              <c:f>Sheet1!$A$2:$A$13</c:f>
              <c:multiLvlStrCache>
                <c:ptCount val="12"/>
                <c:lvl>
                  <c:pt idx="0">
                    <c:v>2015</c:v>
                  </c:pt>
                  <c:pt idx="1">
                    <c:v>2016</c:v>
                  </c:pt>
                  <c:pt idx="2">
                    <c:v>2017</c:v>
                  </c:pt>
                  <c:pt idx="3">
                    <c:v>2018</c:v>
                  </c:pt>
                  <c:pt idx="4">
                    <c:v>2019</c:v>
                  </c:pt>
                  <c:pt idx="5">
                    <c:v>2020</c:v>
                  </c:pt>
                  <c:pt idx="6">
                    <c:v>2021</c:v>
                  </c:pt>
                  <c:pt idx="7">
                    <c:v>2022</c:v>
                  </c:pt>
                  <c:pt idx="8">
                    <c:v>2023</c:v>
                  </c:pt>
                  <c:pt idx="9">
                    <c:v>2024</c:v>
                  </c:pt>
                  <c:pt idx="10">
                    <c:v>2025</c:v>
                  </c:pt>
                  <c:pt idx="11">
                    <c:v>2026</c:v>
                  </c:pt>
                </c:lvl>
              </c:multiLvlStrCache>
            </c:multiLvlStrRef>
          </c:cat>
          <c:val>
            <c:numRef>
              <c:f>Sheet1!$B$2:$B$13</c:f>
              <c:numCache>
                <c:formatCode>General</c:formatCode>
                <c:ptCount val="12"/>
                <c:pt idx="0">
                  <c:v>93</c:v>
                </c:pt>
                <c:pt idx="1">
                  <c:v>106</c:v>
                </c:pt>
                <c:pt idx="2">
                  <c:v>96</c:v>
                </c:pt>
                <c:pt idx="3">
                  <c:v>97</c:v>
                </c:pt>
                <c:pt idx="4">
                  <c:v>96</c:v>
                </c:pt>
                <c:pt idx="5">
                  <c:v>100</c:v>
                </c:pt>
                <c:pt idx="6">
                  <c:v>98</c:v>
                </c:pt>
                <c:pt idx="7">
                  <c:v>99</c:v>
                </c:pt>
                <c:pt idx="8">
                  <c:v>96</c:v>
                </c:pt>
                <c:pt idx="9">
                  <c:v>106</c:v>
                </c:pt>
                <c:pt idx="10">
                  <c:v>105</c:v>
                </c:pt>
                <c:pt idx="11">
                  <c:v>92</c:v>
                </c:pt>
              </c:numCache>
            </c:numRef>
          </c:val>
        </c:ser>
        <c:ser>
          <c:idx val="1"/>
          <c:order val="1"/>
          <c:tx>
            <c:strRef>
              <c:f>Sheet1!$C$1</c:f>
              <c:strCache>
                <c:ptCount val="1"/>
                <c:pt idx="0">
                  <c:v>Actual (% of LPA)</c:v>
                </c:pt>
              </c:strCache>
            </c:strRef>
          </c:tx>
          <c:spPr>
            <a:solidFill>
              <a:srgbClr val="D9602B"/>
            </a:solidFill>
            <a:effectLst/>
          </c:spPr>
          <c:invertIfNegative val="0"/>
          <c:dLbls>
            <c:numFmt formatCode="#,##0" sourceLinked="0"/>
            <c:txPr>
              <a:bodyPr/>
              <a:lstStyle/>
              <a:p>
                <a:pPr>
                  <a:defRPr b="0" i="0" strike="noStrike" sz="900" u="none">
                    <a:solidFill>
                      <a:srgbClr val="1B2A30"/>
                    </a:solidFill>
                    <a:latin typeface="+mn-lt"/>
                  </a:defRPr>
                </a:pPr>
              </a:p>
            </c:txPr>
            <c:showLegendKey val="0"/>
            <c:showVal val="1"/>
            <c:showCatName val="0"/>
            <c:showSerName val="0"/>
            <c:showPercent val="0"/>
            <c:showBubbleSize val="0"/>
            <c:showLeaderLines val="0"/>
          </c:dLbls>
          <c:cat>
            <c:multiLvlStrRef>
              <c:f>Sheet1!$A$2:$A$13</c:f>
              <c:multiLvlStrCache>
                <c:ptCount val="12"/>
                <c:lvl>
                  <c:pt idx="0">
                    <c:v>2015</c:v>
                  </c:pt>
                  <c:pt idx="1">
                    <c:v>2016</c:v>
                  </c:pt>
                  <c:pt idx="2">
                    <c:v>2017</c:v>
                  </c:pt>
                  <c:pt idx="3">
                    <c:v>2018</c:v>
                  </c:pt>
                  <c:pt idx="4">
                    <c:v>2019</c:v>
                  </c:pt>
                  <c:pt idx="5">
                    <c:v>2020</c:v>
                  </c:pt>
                  <c:pt idx="6">
                    <c:v>2021</c:v>
                  </c:pt>
                  <c:pt idx="7">
                    <c:v>2022</c:v>
                  </c:pt>
                  <c:pt idx="8">
                    <c:v>2023</c:v>
                  </c:pt>
                  <c:pt idx="9">
                    <c:v>2024</c:v>
                  </c:pt>
                  <c:pt idx="10">
                    <c:v>2025</c:v>
                  </c:pt>
                  <c:pt idx="11">
                    <c:v>2026</c:v>
                  </c:pt>
                </c:lvl>
              </c:multiLvlStrCache>
            </c:multiLvlStrRef>
          </c:cat>
          <c:val>
            <c:numRef>
              <c:f>Sheet1!$C$2:$C$13</c:f>
              <c:numCache>
                <c:formatCode>General</c:formatCode>
                <c:ptCount val="12"/>
                <c:pt idx="0">
                  <c:v>86</c:v>
                </c:pt>
                <c:pt idx="1">
                  <c:v>97</c:v>
                </c:pt>
                <c:pt idx="2">
                  <c:v>95</c:v>
                </c:pt>
                <c:pt idx="3">
                  <c:v>91</c:v>
                </c:pt>
                <c:pt idx="4">
                  <c:v>110</c:v>
                </c:pt>
                <c:pt idx="5">
                  <c:v>109</c:v>
                </c:pt>
                <c:pt idx="6">
                  <c:v>99</c:v>
                </c:pt>
                <c:pt idx="7">
                  <c:v>106</c:v>
                </c:pt>
                <c:pt idx="8">
                  <c:v>94</c:v>
                </c:pt>
                <c:pt idx="9">
                  <c:v>108</c:v>
                </c:pt>
                <c:pt idx="10">
                  <c:v>108</c:v>
                </c:pt>
                <c:pt idx="11">
                  <c:v>87</c:v>
                </c:pt>
              </c:numCache>
            </c:numRef>
          </c:val>
        </c:ser>
        <c:dLbls>
          <c:numFmt formatCode="#,##0" sourceLinked="0"/>
          <c:txPr>
            <a:bodyPr/>
            <a:lstStyle/>
            <a:p>
              <a:pPr>
                <a:defRPr b="0" i="0" strike="noStrike" sz="900" u="none">
                  <a:solidFill>
                    <a:srgbClr val="1B2A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C72"/>
                </a:solidFill>
                <a:latin typeface="+mn-lt"/>
              </a:defRPr>
            </a:pPr>
            <a:endParaRPr lang="en-US"/>
          </a:p>
        </c:txPr>
        <c:crossAx val="2094734552"/>
        <c:crosses val="autoZero"/>
        <c:auto val="1"/>
        <c:lblAlgn val="ctr"/>
        <c:noMultiLvlLbl val="1"/>
      </c:catAx>
      <c:valAx>
        <c:axId val="2094734552"/>
        <c:scaling>
          <c:orientation val="minMax"/>
          <c:max val="120"/>
          <c:min val="70"/>
        </c:scaling>
        <c:delete val="0"/>
        <c:axPos val="l"/>
        <c:majorGridlines>
          <c:spPr>
            <a:ln w="9525" cap="flat">
              <a:solidFill>
                <a:srgbClr val="E1E8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C72"/>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1B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the India Meteorological Department forecasts the southwest (summer) monsoon: what is forecast, when, with which statistical and dynamical models, how the forecasts are combined and verified, and how they reach users. It ends with the 2026 season as a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moves from the physical system, through history, to each forecasting time scale, then verification and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Forecasting methods only make sense once the physical drivers are clear; every predictor and model later in the deck targets one of these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monsoon is a seasonal reversal of winds driven by the land–sea heating contrast. In summer the Indian landmass and Tibetan Plateau heat up, low pressure forms over north India (the heat low / monsoon trough), and the rain belt (ITCZ) moves north. Moist south-westerly winds cross the equator from the southern Indian Ocean, where the Mascarene High sits, accelerate as the Somali (Findlater) low-level jet along East Africa, and bring rain to the Western Ghats and the rest of India. Aloft, the Tibetan anticyclone drives the Tropical Easterly 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June–September season delivers about three quarters of India's annual rain. A large part of the country's cropped area is rain-fed, so a deficient monsoon affects kharif sowing, reservoir storage, hydropower, rural incomes and food inflation. Government planning (seed and fertiliser stocks, contingency crop plans, power and water management) is built around the IMD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IMD's normal dates were revised in 2020 using 1961–2019 data. Onset over Kerala is normally 1 June (with a standard deviation of about 7 days), the monsoon covers the whole country by 8 July, withdrawal from north-west India starts around 17 September and is complete by 15 October. Within the season, rainfall alternates between active spells and breaks, driven by northward-propagating intraseasonal oscillations and low-pressure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Seasonal-mean monsoon rainfall varies by about ±10% from year to year. Part of that variation is predictable because it is forced by slowly varying boundary conditions: sea surface temperatures in the Pacific (ENSO), the Indian Ocean (IOD) and the Atlantic, and Eurasian snow cover or land temperatures. The rest comes from internal, chaotic intraseasonal variability (active and break spells, MJO/BSISO, low-pressure systems), which limits seasonal predictability. Forecast models try to capture the first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El Niño the warm pool and rising branch of the Walker circulation shift east into the central Pacific, and sinking motion strengthens over the Indian region, suppressing convection. Most Indian droughts (e.g. 2002, 2009, 2015) occurred in El Niño years, but not every El Niño gives a drought. A positive IOD strengthens convection over the western Indian Ocean and moisture flow into India, which is why 2019 ended with 110% of LPA despite a weak El Niño. 2026 was forecast as below normal mainly because El Niño was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 is one of the oldest operational seasonal forecasters in the world; its methods track the scientific understanding of each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 was set up in 1875 after cyclones and famines. H.F. Blanford issued the first long-range monsoon forecast in 1886 using Himalayan snow cover. Sir Gilbert Walker, searching for predictors, discovered the Southern Oscillation in the 1920s. In 1988 V. Gowariker's group introduced the 16-parameter power regression and parametric models. After failures in 2002 and 2004, new 8- and 10-parameter models were used, followed in 2007 by the Statistical Ensemble Forecasting System (SEFS). The Monsoon Mission (2012) brought a coupled dynamical model, MMCFS, into operations (2017). Since 2021 IMD issues forecasts from a Multi-Model Ensemble plus SEFS, with monthly and regional outlooks.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generation fixed a weakness of the previous one. The 1988 model used 16 predictors, but several lost their correlation with rainfall over time (a known problem called predictor instability). The 2003 models used fewer, re-tested predictors and introduced a two-stage forecast. SEFS (2007) avoids relying on a single regression by averaging many models built from all combinations of a small predictor set, and it gives an error estimate. Since 2021, the statistical forecast is run alongside a dynamical 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 calls its approach seamless: different models for different lead times, but a common observation and modelling backbone shared with NCMRWF, IITM and INCOIS.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as lead time grows, the forecast moves from deterministic detail (where and when it will rain) to probabilistic averages (will the season be above or below normal). Nowcasts rely on radar and satellite extrapolation; short and medium range on high-resolution global and regional NWP models; extended range on coupled-model ensembles; long range on statistical models plus a multi-model ensemble of coupled climate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needs a good starting state. Observations from satellites (INSAT-3D/3DR/3DS), Doppler weather radars, surface and automatic weather stations, upper-air soundings, aircraft, and ocean moorings and Argo floats are quality-controlled and blended with a short model forecast by data assimilation (variational and hybrid ensemble-variational methods at NCMRWF and IMD; ocean analysis at INCOIS). The resulting initial conditions drive the models on MoES supercomputers: Arka at IITM Pune (11.77 petaflops) and Arunika at NCMRWF Noida (8.24 petaflops), commissioned in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deck: the operational strategy introduced in 2021 and refined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 issues the seasonal forecast in two stages. The first stage, around mid-April, gives the all-India June–September rainfall as a percentage of the LPA with ±5% model error and probabilities for five categories. The second stage, around the end of May, updates the all-India forecast (±4%), adds the four homogeneous regions and the Monsoon Core Zone (the rain-fed agricultural belt of central India), and the June outlook. Then monthly outlooks follow: July at the end of June, August and August–September at the end of July, and September at the end of August. The Kerala onset date is forecast in mid-May.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seasonal forecasts are expressed relative to the long period average (LPA), the 1971–2020 mean June–September rainfall of 87 cm for India as a whole (it was 88 cm for 1961–2010). The five categories are fixed by percentage of LPA. A forecast of 92 ± 5% therefore spans below-normal and deficient, which is why IMD also gives probabilities for each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 runs two independent systems. The Statistical Ensemble Forecasting System uses a few ocean and atmosphere predictors observed before the forecast. The dynamical Multi-Model Ensemble combines seasonal forecasts from coupled ocean–atmosphere models of several global centres, including IMD's own MMCFS. Each is calibrated on hindcasts. Forecasters compare them and issue the all-India number (mainly from SEFS in April, both systems later), with probabilities and spatial maps coming mainly from the 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choose a small set of predictors with a physical link to the monsoon and a stable, significant correlation with seasonal rainfall over a long training period. Step 2: build many regression models from all possible combinations of these predictors, using two techniques, multiple linear regression (MR) and the non-linear projection pursuit regression (PPR). Step 3: keep the better-performing models and average them, weighting by their skill. The spread across models gives the forecast uncertainty. The model is retrained each year and checked with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set used for the April forecast in 2021: north-west European land surface air temperature in January; equatorial Pacific warm water volume (February + March); the SST gradient between the north-east Pacific and north-west Atlantic (December + January); equatorial south-east Indian Ocean SST (February); and East Asia mean sea level pressure (February + March). The June-stage model uses six predictors and includes Niño 3.4 SST and its tendency. IMD revisits the predictor set periodically, so lists differ between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MMCFS is IMD's version of NCEP's Climate Forecast System version 2, improved for the monsoon under the Monsoon Mission at IITM. It couples an atmosphere model (GFS), an ocean model (MOM4), a land-surface model (Noah) and a sea-ice model through a coupler that exchanges heat, moisture and momentum. Atmospheric initial conditions come from NCMRWF analyses and ocean initial conditions from INCOIS. Many members started from slightly different initial dates form an ensemble, and the seasonal forecast is the ensemble mean, bias-corrected against hindcasts.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MoES launched the National Monsoon Mission in 2012 to build a state-of-the-art dynamical prediction system for monsoon rainfall on all time scales. Instead of developing a model from scratch, India adopted NCEP's CFSv2 (through an agreement with NOAA) and GFS, and funded Indian and international groups to improve them: better convection, cloud microphysics and land-surface schemes, higher resolution, and coupled data assimilation. Results included MMCFS for seasonal forecasts, an operational extended-range system, and the high-resolution GFS T1534 and GEFS for short and medium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model is right every year. IMD's MME collects seasonal hindcasts and real-time forecasts from several coupled global climate models, including its own MMCFS and models from other international centres. Each model is bias-corrected using its hindcasts, then models are combined, often weighted by their past skill over India. Averaging cancels part of the individual model errors, and the spread between models gives probabilities. Output includes all-India and regional rainfall, tercile-probability maps and temperature outlooks.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explains why IMD keeps both. Statistical models exploit observed relationships and are well calibrated for all-India totals, but they cannot say where rain will fall and can break down if relationships change. Dynamical models represent physics and give spatial and monthly detail but have systematic biases over India (for example, too little rain over land in many coupled models) and need large computing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2005 IMD forecasts the onset date over Kerala with an indigenous statistical model of six predictors, issued in mid-May with an error of ±4 days. Predictors capture the pre-monsoon build-up: heating over north-west India, the start of rain over the south peninsula, low-level westerlies over the south-east Indian Ocean, upper-level easterlies, and the state of convection and pressure over the South China Sea and west Pacific. IMD reports that the forecasts were correct (within the error band) in every year from 2005 to 2022 except 2015. The onset itself is declared using criteria on rainfall at 14 stations, wind depth and OLR.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extended range is where intraseasonal oscillations give useful predictability beyond the ~10-day weather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IMD's ERFS is a multi-model ensemble of CFSv2 runs at two resolutions (T382 ≈ 38 km and T126 ≈ 100 km) and of the atmosphere-only GFS forced with bias-corrected CFSv2 sea surface temperatures (GFSbc). The system is initialised every Wednesday and forecasts are issued every Thursday for four weeks. Products include weekly rainfall and temperature anomalies, active and break spell outlooks, monsoon onset and withdrawal progress, cyclogenesis probability, and heat- and cold-wave outlooks.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season, rain comes in pulses. A band of enhanced convection forms over the equatorial Indian Ocean and moves north over India every 30–60 days (the boreal summer intraseasonal oscillation, BSISO, also called the monsoon intraseasonal oscillation, MISO). When the band is over central India the monsoon is 'active'; when it is near the equator or the foothills, India is in a 'break'. Because these oscillations are slow and coherent, they give predictability of 2–4 weeks, which is what ERFS exploits. They also make seasonal totals partly unpredictable.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season, most user-facing warnings come from this part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deterministic models (GFS at T1534 ≈ 12 km run by IMD; NCUM, the Met Office Unified Model configured at NCMRWF, ≈ 12 km; and since 2025 the Bharat Forecast System at ≈ 6 km in the tropics) give the best single forecast. Global ensembles (GEFS, 21 members; NEPS-G, 23 members, both ≈ 12 km) give probabilities, especially for heavy rain. Regional models (WRF at ≈ 3 km, NCUM-Regional at ≈ 4 km; HWRF for cyclones) add detail. Forecasters blend all of these, often through a bias-corrected multi-model ensemble, into district- and block-level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Launched on 26 May 2025 by MoES, the Bharat Forecast System was developed at IITM Pune and runs on the Arka supercomputer. It raises the resolution of India's global deterministic forecast from about 12 km to about 6 km over the tropics (30°S–30°N), allowing forecasts at the scale of village panchayats. IITM and MoES report 30–64% better forecasts of extreme rainfall in tests. It uses a triangular-cubic-octahedral grid, which keeps resolution fine in the tropics while coarsening towards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model output is not a forecast. Forecasters at IMD headquarters and regional and state Meteorological Centres compare models, correct known biases, and use radar and satellite for the first hours. Warnings are issued with colour codes (green, yellow, orange, red) and, increasingly, as impact-based forecasts. They reach users through the Mausam and Meghdoot apps, SMS, district authorities, Gramin Krishi Mausam Seva agro-advisories and the media. Nowcasts for thunderstorms and lightning are updated every few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verification is part of the methodology: it is how predictors and models are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All-India June–September rainfall as a percentage of the LPA. Blue bars are IMD's first-stage (April) forecasts, orange bars the observed rainfall. Most forecasts fell within or near the ±5% error band; notable misses were 2019 (forecast 96, actual 110, helped by a strong positive IOD), 2020 and 2016. Values are compiled from IMD press releases and end-of-season reports and are rounded; LPA changed from 88 to 87 cm in 2022. 2026 actual is provisional at about 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April 2026 IMD forecast 92% of LPA (±5%), below normal, because ENSO-neutral conditions were expected to turn into El Niño during the season. The end-May update lowered this to 90% (±4%) with a 60% probability of a deficient season, and gave below-normal forecasts for north-west, central and south peninsular India and normal only for the north-east. The season ended at about 87% of LPA, the weakest since 2015, so the direction was right but the deficit was deeper than forecast. Surprisingly, east and north-east India had their driest monsoon since 1901, the region where a normal season had been expected. Figures for the actual season are from secondary reports around 1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 perfect model would not give a perfect seasonal forecast. Much of the monsoon's year-to-year variation comes from internal chaotic dynamics, not from the ocean. ENSO forecasts made before May suffer from the 'spring predictability barrier'. Coupled models have biases over India (dry land bias, too-weak monsoon trough, poor IOD simulation), and teleconnections can change with climate change. Regional and monthly forecasts are therefore much less skilful than the all-India seasonal number, and extremes are increasing in a warming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 and research groups verify forecasts with standard scores. Deterministic seasonal forecasts are judged by the error against observed rainfall and by correlation over many years of hindcasts. Probabilistic forecasts use the Brier score, ranked probability skill score, ROC curves and reliability diagrams. Short-range rain forecasts use categorical scores such as probability of detection, false alarm ratio and equitable threat score. These scores drive model upgrades and predictor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forecast has value only if it changes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seasonal forecast informs national and state contingency crop plans, seed and fertiliser logistics, reservoir operation and power planning, and financial markets. The extended range guides sowing, irrigation and pest management through agro-advisories issued twice a week by Agro-Met Field Units under Gramin Krishi Mausam Seva. Short-range forecasts and nowcasts drive disaster warnings to the National and State Disaster Management Authorities.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Mausam, approved by the Union Cabinet in September 2024 with an outlay of about ₹2,000 crore for its first phase, aims to make India 'weather-ready and climate-smart'. It funds more Doppler radars, wind profilers, radiometers and automatic stations, higher-resolution coupled models and data assimilation, more computing, AI/ML-based forecasting, and research on cloud physics and weather modification. In parallel, IMD and IITM are testing AI weather models and hybrid AI–physics systems for monsoon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section for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One-page summary for revision. Each row is a time scale, the main models used and the key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students and users most often ask about IMD's monsoon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Acronyms used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sources used for this deck. IMD press releases are the authoritative source for each year's forecast and predictor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Monsoon forecasting at IMD  ·  methods &amp; models</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4.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4.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4.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4.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4.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lIns="0" tIns="0" rIns="0" bIns="0" rtlCol="0" anchor="b"/>
          <a:lstStyle/>
          <a:p>
            <a:pPr algn="l" indent="0" marL="0">
              <a:buNone/>
            </a:pPr>
            <a:r>
              <a:rPr lang="en-US" sz="4400" b="1" dirty="0">
                <a:solidFill>
                  <a:schemeClr val="bg1"/>
                </a:solidFill>
              </a:rPr>
              <a:t>Indian Monsoon Forecasting at IMD</a:t>
            </a: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lIns="0" tIns="0" rIns="0" bIns="0" rtlCol="0" anchor="t"/>
          <a:lstStyle/>
          <a:p>
            <a:pPr indent="0" marL="0">
              <a:buNone/>
            </a:pPr>
            <a:r>
              <a:rPr lang="en-US" sz="1800" dirty="0">
                <a:solidFill>
                  <a:schemeClr val="bg2"/>
                </a:solidFill>
              </a:rPr>
              <a:t>Methodology and models: from statistical predictors to dynamical multi-model ensembles, across every time scale</a:t>
            </a:r>
            <a:endParaRPr lang="en-US" sz="1800" dirty="0"/>
          </a:p>
        </p:txBody>
      </p:sp>
      <p:sp>
        <p:nvSpPr>
          <p:cNvPr id="4" name="glow"/>
          <p:cNvSpPr/>
          <p:nvPr/>
        </p:nvSpPr>
        <p:spPr>
          <a:xfrm>
            <a:off x="8229600" y="1097280"/>
            <a:ext cx="3291840" cy="3291840"/>
          </a:xfrm>
          <a:prstGeom prst="ellipse">
            <a:avLst/>
          </a:prstGeom>
          <a:solidFill>
            <a:schemeClr val="accent1">
              <a:alpha val="45000"/>
            </a:schemeClr>
          </a:solidFill>
          <a:ln/>
        </p:spPr>
      </p:sp>
      <p:sp>
        <p:nvSpPr>
          <p:cNvPr id="5" name="icon circle"/>
          <p:cNvSpPr/>
          <p:nvPr/>
        </p:nvSpPr>
        <p:spPr>
          <a:xfrm>
            <a:off x="8915400" y="1783080"/>
            <a:ext cx="1920240" cy="1920240"/>
          </a:xfrm>
          <a:prstGeom prst="ellipse">
            <a:avLst/>
          </a:prstGeom>
          <a:solidFill>
            <a:schemeClr val="accent1"/>
          </a:solidFill>
          <a:ln/>
        </p:spPr>
      </p:sp>
      <p:pic>
        <p:nvPicPr>
          <p:cNvPr id="6" name="Image 0" descr="CloudShowersHeavy icon">    </p:cNvPr>
          <p:cNvPicPr>
            <a:picLocks noChangeAspect="1"/>
          </p:cNvPicPr>
          <p:nvPr/>
        </p:nvPicPr>
        <p:blipFill>
          <a:blip r:embed="rId1"/>
          <a:stretch>
            <a:fillRect/>
          </a:stretch>
        </p:blipFill>
        <p:spPr>
          <a:xfrm>
            <a:off x="9414662" y="2282342"/>
            <a:ext cx="921715" cy="921715"/>
          </a:xfrm>
          <a:prstGeom prst="rect">
            <a:avLst/>
          </a:prstGeom>
        </p:spPr>
      </p:pic>
      <p:sp>
        <p:nvSpPr>
          <p:cNvPr id="7" name="Text 4"/>
          <p:cNvSpPr txBox="1"/>
          <p:nvPr/>
        </p:nvSpPr>
        <p:spPr>
          <a:xfrm>
            <a:off x="7863840" y="4572000"/>
            <a:ext cx="1920240" cy="5486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87 cm</a:t>
            </a:r>
            <a:endParaRPr lang="en-US" sz="2600" dirty="0"/>
          </a:p>
        </p:txBody>
      </p:sp>
      <p:sp>
        <p:nvSpPr>
          <p:cNvPr id="8" name="Text 5"/>
          <p:cNvSpPr txBox="1"/>
          <p:nvPr/>
        </p:nvSpPr>
        <p:spPr>
          <a:xfrm>
            <a:off x="7863840" y="5120640"/>
            <a:ext cx="1920240" cy="548640"/>
          </a:xfrm>
          <a:prstGeom prst="rect">
            <a:avLst/>
          </a:prstGeom>
          <a:noFill/>
          <a:ln/>
        </p:spPr>
        <p:txBody>
          <a:bodyPr wrap="square" lIns="0" tIns="0" rIns="0" bIns="0" rtlCol="0" anchor="ctr"/>
          <a:lstStyle/>
          <a:p>
            <a:pPr algn="ctr" indent="0" marL="0">
              <a:buNone/>
            </a:pPr>
            <a:r>
              <a:rPr lang="en-US" sz="1100" dirty="0">
                <a:solidFill>
                  <a:schemeClr val="bg2"/>
                </a:solidFill>
              </a:rPr>
              <a:t>LPA of JJAS rainfall (1971–2020)</a:t>
            </a:r>
            <a:endParaRPr lang="en-US" sz="1100" dirty="0"/>
          </a:p>
        </p:txBody>
      </p:sp>
      <p:sp>
        <p:nvSpPr>
          <p:cNvPr id="9" name="Text 6"/>
          <p:cNvSpPr txBox="1"/>
          <p:nvPr/>
        </p:nvSpPr>
        <p:spPr>
          <a:xfrm>
            <a:off x="9875520" y="4572000"/>
            <a:ext cx="1920240" cy="54864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~75 %</a:t>
            </a:r>
            <a:endParaRPr lang="en-US" sz="2600" dirty="0"/>
          </a:p>
        </p:txBody>
      </p:sp>
      <p:sp>
        <p:nvSpPr>
          <p:cNvPr id="10" name="Text 7"/>
          <p:cNvSpPr txBox="1"/>
          <p:nvPr/>
        </p:nvSpPr>
        <p:spPr>
          <a:xfrm>
            <a:off x="9875520" y="5120640"/>
            <a:ext cx="1920240" cy="548640"/>
          </a:xfrm>
          <a:prstGeom prst="rect">
            <a:avLst/>
          </a:prstGeom>
          <a:noFill/>
          <a:ln/>
        </p:spPr>
        <p:txBody>
          <a:bodyPr wrap="square" lIns="0" tIns="0" rIns="0" bIns="0" rtlCol="0" anchor="ctr"/>
          <a:lstStyle/>
          <a:p>
            <a:pPr algn="ctr" indent="0" marL="0">
              <a:buNone/>
            </a:pPr>
            <a:r>
              <a:rPr lang="en-US" sz="1100" dirty="0">
                <a:solidFill>
                  <a:schemeClr val="bg2"/>
                </a:solidFill>
              </a:rPr>
              <a:t>of India's annual rain falls in June–September</a:t>
            </a:r>
            <a:endParaRPr lang="en-US" sz="1100" dirty="0"/>
          </a:p>
        </p:txBody>
      </p:sp>
      <p:sp>
        <p:nvSpPr>
          <p:cNvPr id="11" name="Text 8"/>
          <p:cNvSpPr txBox="1"/>
          <p:nvPr/>
        </p:nvSpPr>
        <p:spPr>
          <a:xfrm>
            <a:off x="731520" y="5943600"/>
            <a:ext cx="10515600" cy="457200"/>
          </a:xfrm>
          <a:prstGeom prst="rect">
            <a:avLst/>
          </a:prstGeom>
          <a:noFill/>
          <a:ln/>
        </p:spPr>
        <p:txBody>
          <a:bodyPr wrap="square" lIns="0" tIns="0" rIns="0" bIns="0" rtlCol="0" anchor="ctr"/>
          <a:lstStyle/>
          <a:p>
            <a:pPr indent="0" marL="0">
              <a:buNone/>
            </a:pPr>
            <a:r>
              <a:rPr lang="en-US" sz="1100" dirty="0">
                <a:solidFill>
                  <a:schemeClr val="bg2"/>
                </a:solidFill>
              </a:rPr>
              <a:t>India Meteorological Department (IMD) · Ministry of Earth Sciences (MoES) · with IITM Pune, NCMRWF and INCOIS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Roadmap of this deck</a:t>
            </a:r>
            <a:endParaRPr lang="en-US" sz="3200" dirty="0"/>
          </a:p>
        </p:txBody>
      </p:sp>
      <p:sp>
        <p:nvSpPr>
          <p:cNvPr id="4" name="card"/>
          <p:cNvSpPr/>
          <p:nvPr/>
        </p:nvSpPr>
        <p:spPr>
          <a:xfrm>
            <a:off x="548640" y="1371600"/>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554480"/>
            <a:ext cx="82296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6" name="Text 3"/>
          <p:cNvSpPr txBox="1"/>
          <p:nvPr/>
        </p:nvSpPr>
        <p:spPr>
          <a:xfrm>
            <a:off x="1600200" y="1554480"/>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The monsoon</a:t>
            </a:r>
            <a:endParaRPr lang="en-US" sz="1700" dirty="0"/>
          </a:p>
        </p:txBody>
      </p:sp>
      <p:sp>
        <p:nvSpPr>
          <p:cNvPr id="7" name="Text 4"/>
          <p:cNvSpPr txBox="1"/>
          <p:nvPr/>
        </p:nvSpPr>
        <p:spPr>
          <a:xfrm>
            <a:off x="1600200" y="1993392"/>
            <a:ext cx="2331720" cy="685800"/>
          </a:xfrm>
          <a:prstGeom prst="rect">
            <a:avLst/>
          </a:prstGeom>
          <a:noFill/>
          <a:ln/>
        </p:spPr>
        <p:txBody>
          <a:bodyPr wrap="square" lIns="0" tIns="0" rIns="0" bIns="0" rtlCol="0" anchor="t"/>
          <a:lstStyle/>
          <a:p>
            <a:pPr indent="0" marL="0">
              <a:buNone/>
            </a:pPr>
            <a:r>
              <a:rPr lang="en-US" sz="1300" dirty="0">
                <a:solidFill>
                  <a:schemeClr val="tx1"/>
                </a:solidFill>
              </a:rPr>
              <a:t>What it is, its life cycle and what drives it</a:t>
            </a:r>
            <a:endParaRPr lang="en-US" sz="1300" dirty="0"/>
          </a:p>
        </p:txBody>
      </p:sp>
      <p:sp>
        <p:nvSpPr>
          <p:cNvPr id="8" name="card"/>
          <p:cNvSpPr/>
          <p:nvPr/>
        </p:nvSpPr>
        <p:spPr>
          <a:xfrm>
            <a:off x="4297680" y="1371600"/>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9" name="Text 6"/>
          <p:cNvSpPr txBox="1"/>
          <p:nvPr/>
        </p:nvSpPr>
        <p:spPr>
          <a:xfrm>
            <a:off x="4480560" y="1554480"/>
            <a:ext cx="82296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02</a:t>
            </a:r>
            <a:endParaRPr lang="en-US" sz="3000" dirty="0"/>
          </a:p>
        </p:txBody>
      </p:sp>
      <p:sp>
        <p:nvSpPr>
          <p:cNvPr id="10" name="Text 7"/>
          <p:cNvSpPr txBox="1"/>
          <p:nvPr/>
        </p:nvSpPr>
        <p:spPr>
          <a:xfrm>
            <a:off x="5349240" y="1554480"/>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History</a:t>
            </a:r>
            <a:endParaRPr lang="en-US" sz="1700" dirty="0"/>
          </a:p>
        </p:txBody>
      </p:sp>
      <p:sp>
        <p:nvSpPr>
          <p:cNvPr id="11" name="Text 8"/>
          <p:cNvSpPr txBox="1"/>
          <p:nvPr/>
        </p:nvSpPr>
        <p:spPr>
          <a:xfrm>
            <a:off x="5349240" y="1993392"/>
            <a:ext cx="2331720" cy="685800"/>
          </a:xfrm>
          <a:prstGeom prst="rect">
            <a:avLst/>
          </a:prstGeom>
          <a:noFill/>
          <a:ln/>
        </p:spPr>
        <p:txBody>
          <a:bodyPr wrap="square" lIns="0" tIns="0" rIns="0" bIns="0" rtlCol="0" anchor="t"/>
          <a:lstStyle/>
          <a:p>
            <a:pPr indent="0" marL="0">
              <a:buNone/>
            </a:pPr>
            <a:r>
              <a:rPr lang="en-US" sz="1300" dirty="0">
                <a:solidFill>
                  <a:schemeClr val="tx1"/>
                </a:solidFill>
              </a:rPr>
              <a:t>From Blanford's snow rule (1886) to ensembles</a:t>
            </a:r>
            <a:endParaRPr lang="en-US" sz="1300" dirty="0"/>
          </a:p>
        </p:txBody>
      </p:sp>
      <p:sp>
        <p:nvSpPr>
          <p:cNvPr id="12" name="card"/>
          <p:cNvSpPr/>
          <p:nvPr/>
        </p:nvSpPr>
        <p:spPr>
          <a:xfrm>
            <a:off x="8046720" y="1371600"/>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3" name="Text 10"/>
          <p:cNvSpPr txBox="1"/>
          <p:nvPr/>
        </p:nvSpPr>
        <p:spPr>
          <a:xfrm>
            <a:off x="8229600" y="1554480"/>
            <a:ext cx="822960" cy="64008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03</a:t>
            </a:r>
            <a:endParaRPr lang="en-US" sz="3000" dirty="0"/>
          </a:p>
        </p:txBody>
      </p:sp>
      <p:sp>
        <p:nvSpPr>
          <p:cNvPr id="14" name="Text 11"/>
          <p:cNvSpPr txBox="1"/>
          <p:nvPr/>
        </p:nvSpPr>
        <p:spPr>
          <a:xfrm>
            <a:off x="9098280" y="1554480"/>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Seamless system</a:t>
            </a:r>
            <a:endParaRPr lang="en-US" sz="1700" dirty="0"/>
          </a:p>
        </p:txBody>
      </p:sp>
      <p:sp>
        <p:nvSpPr>
          <p:cNvPr id="15" name="Text 12"/>
          <p:cNvSpPr txBox="1"/>
          <p:nvPr/>
        </p:nvSpPr>
        <p:spPr>
          <a:xfrm>
            <a:off x="9098280" y="1993392"/>
            <a:ext cx="2331720" cy="685800"/>
          </a:xfrm>
          <a:prstGeom prst="rect">
            <a:avLst/>
          </a:prstGeom>
          <a:noFill/>
          <a:ln/>
        </p:spPr>
        <p:txBody>
          <a:bodyPr wrap="square" lIns="0" tIns="0" rIns="0" bIns="0" rtlCol="0" anchor="t"/>
          <a:lstStyle/>
          <a:p>
            <a:pPr indent="0" marL="0">
              <a:buNone/>
            </a:pPr>
            <a:r>
              <a:rPr lang="en-US" sz="1300" dirty="0">
                <a:solidFill>
                  <a:schemeClr val="tx1"/>
                </a:solidFill>
              </a:rPr>
              <a:t>Time scales, observations, data assimilation, HPC</a:t>
            </a:r>
            <a:endParaRPr lang="en-US" sz="1300" dirty="0"/>
          </a:p>
        </p:txBody>
      </p:sp>
      <p:sp>
        <p:nvSpPr>
          <p:cNvPr id="16" name="card"/>
          <p:cNvSpPr/>
          <p:nvPr/>
        </p:nvSpPr>
        <p:spPr>
          <a:xfrm>
            <a:off x="548640" y="2999232"/>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731520" y="3182112"/>
            <a:ext cx="82296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04</a:t>
            </a:r>
            <a:endParaRPr lang="en-US" sz="3000" dirty="0"/>
          </a:p>
        </p:txBody>
      </p:sp>
      <p:sp>
        <p:nvSpPr>
          <p:cNvPr id="18" name="Text 15"/>
          <p:cNvSpPr txBox="1"/>
          <p:nvPr/>
        </p:nvSpPr>
        <p:spPr>
          <a:xfrm>
            <a:off x="1600200" y="3182112"/>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Long-range forecast</a:t>
            </a:r>
            <a:endParaRPr lang="en-US" sz="1700" dirty="0"/>
          </a:p>
        </p:txBody>
      </p:sp>
      <p:sp>
        <p:nvSpPr>
          <p:cNvPr id="19" name="Text 16"/>
          <p:cNvSpPr txBox="1"/>
          <p:nvPr/>
        </p:nvSpPr>
        <p:spPr>
          <a:xfrm>
            <a:off x="1600200" y="3621024"/>
            <a:ext cx="2331720" cy="685800"/>
          </a:xfrm>
          <a:prstGeom prst="rect">
            <a:avLst/>
          </a:prstGeom>
          <a:noFill/>
          <a:ln/>
        </p:spPr>
        <p:txBody>
          <a:bodyPr wrap="square" lIns="0" tIns="0" rIns="0" bIns="0" rtlCol="0" anchor="t"/>
          <a:lstStyle/>
          <a:p>
            <a:pPr indent="0" marL="0">
              <a:buNone/>
            </a:pPr>
            <a:r>
              <a:rPr lang="en-US" sz="1300" dirty="0">
                <a:solidFill>
                  <a:schemeClr val="tx1"/>
                </a:solidFill>
              </a:rPr>
              <a:t>Two stages, SEFS, MMCFS, MME, onset model</a:t>
            </a:r>
            <a:endParaRPr lang="en-US" sz="1300" dirty="0"/>
          </a:p>
        </p:txBody>
      </p:sp>
      <p:sp>
        <p:nvSpPr>
          <p:cNvPr id="20" name="card"/>
          <p:cNvSpPr/>
          <p:nvPr/>
        </p:nvSpPr>
        <p:spPr>
          <a:xfrm>
            <a:off x="4297680" y="2999232"/>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1" name="Text 18"/>
          <p:cNvSpPr txBox="1"/>
          <p:nvPr/>
        </p:nvSpPr>
        <p:spPr>
          <a:xfrm>
            <a:off x="4480560" y="3182112"/>
            <a:ext cx="82296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05</a:t>
            </a:r>
            <a:endParaRPr lang="en-US" sz="3000" dirty="0"/>
          </a:p>
        </p:txBody>
      </p:sp>
      <p:sp>
        <p:nvSpPr>
          <p:cNvPr id="22" name="Text 19"/>
          <p:cNvSpPr txBox="1"/>
          <p:nvPr/>
        </p:nvSpPr>
        <p:spPr>
          <a:xfrm>
            <a:off x="5349240" y="3182112"/>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Extended range</a:t>
            </a:r>
            <a:endParaRPr lang="en-US" sz="1700" dirty="0"/>
          </a:p>
        </p:txBody>
      </p:sp>
      <p:sp>
        <p:nvSpPr>
          <p:cNvPr id="23" name="Text 20"/>
          <p:cNvSpPr txBox="1"/>
          <p:nvPr/>
        </p:nvSpPr>
        <p:spPr>
          <a:xfrm>
            <a:off x="5349240" y="3621024"/>
            <a:ext cx="2331720" cy="685800"/>
          </a:xfrm>
          <a:prstGeom prst="rect">
            <a:avLst/>
          </a:prstGeom>
          <a:noFill/>
          <a:ln/>
        </p:spPr>
        <p:txBody>
          <a:bodyPr wrap="square" lIns="0" tIns="0" rIns="0" bIns="0" rtlCol="0" anchor="t"/>
          <a:lstStyle/>
          <a:p>
            <a:pPr indent="0" marL="0">
              <a:buNone/>
            </a:pPr>
            <a:r>
              <a:rPr lang="en-US" sz="1300" dirty="0">
                <a:solidFill>
                  <a:schemeClr val="tx1"/>
                </a:solidFill>
              </a:rPr>
              <a:t>2–4 week forecasts, MISO, active &amp; break spells</a:t>
            </a:r>
            <a:endParaRPr lang="en-US" sz="1300" dirty="0"/>
          </a:p>
        </p:txBody>
      </p:sp>
      <p:sp>
        <p:nvSpPr>
          <p:cNvPr id="24" name="card"/>
          <p:cNvSpPr/>
          <p:nvPr/>
        </p:nvSpPr>
        <p:spPr>
          <a:xfrm>
            <a:off x="8046720" y="2999232"/>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8229600" y="3182112"/>
            <a:ext cx="82296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06</a:t>
            </a:r>
            <a:endParaRPr lang="en-US" sz="3000" dirty="0"/>
          </a:p>
        </p:txBody>
      </p:sp>
      <p:sp>
        <p:nvSpPr>
          <p:cNvPr id="26" name="Text 23"/>
          <p:cNvSpPr txBox="1"/>
          <p:nvPr/>
        </p:nvSpPr>
        <p:spPr>
          <a:xfrm>
            <a:off x="9098280" y="3182112"/>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Short &amp; medium range</a:t>
            </a:r>
            <a:endParaRPr lang="en-US" sz="1700" dirty="0"/>
          </a:p>
        </p:txBody>
      </p:sp>
      <p:sp>
        <p:nvSpPr>
          <p:cNvPr id="27" name="Text 24"/>
          <p:cNvSpPr txBox="1"/>
          <p:nvPr/>
        </p:nvSpPr>
        <p:spPr>
          <a:xfrm>
            <a:off x="9098280" y="3621024"/>
            <a:ext cx="2331720" cy="685800"/>
          </a:xfrm>
          <a:prstGeom prst="rect">
            <a:avLst/>
          </a:prstGeom>
          <a:noFill/>
          <a:ln/>
        </p:spPr>
        <p:txBody>
          <a:bodyPr wrap="square" lIns="0" tIns="0" rIns="0" bIns="0" rtlCol="0" anchor="t"/>
          <a:lstStyle/>
          <a:p>
            <a:pPr indent="0" marL="0">
              <a:buNone/>
            </a:pPr>
            <a:r>
              <a:rPr lang="en-US" sz="1300" dirty="0">
                <a:solidFill>
                  <a:schemeClr val="tx1"/>
                </a:solidFill>
              </a:rPr>
              <a:t>GFS, GEFS, NCUM, NEPS, BFS, WRF, nowcasting</a:t>
            </a:r>
            <a:endParaRPr lang="en-US" sz="1300" dirty="0"/>
          </a:p>
        </p:txBody>
      </p:sp>
      <p:sp>
        <p:nvSpPr>
          <p:cNvPr id="28" name="card"/>
          <p:cNvSpPr/>
          <p:nvPr/>
        </p:nvSpPr>
        <p:spPr>
          <a:xfrm>
            <a:off x="548640" y="4626864"/>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731520" y="4809744"/>
            <a:ext cx="822960" cy="64008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07</a:t>
            </a:r>
            <a:endParaRPr lang="en-US" sz="3000" dirty="0"/>
          </a:p>
        </p:txBody>
      </p:sp>
      <p:sp>
        <p:nvSpPr>
          <p:cNvPr id="30" name="Text 27"/>
          <p:cNvSpPr txBox="1"/>
          <p:nvPr/>
        </p:nvSpPr>
        <p:spPr>
          <a:xfrm>
            <a:off x="1600200" y="4809744"/>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Performance</a:t>
            </a:r>
            <a:endParaRPr lang="en-US" sz="1700" dirty="0"/>
          </a:p>
        </p:txBody>
      </p:sp>
      <p:sp>
        <p:nvSpPr>
          <p:cNvPr id="31" name="Text 28"/>
          <p:cNvSpPr txBox="1"/>
          <p:nvPr/>
        </p:nvSpPr>
        <p:spPr>
          <a:xfrm>
            <a:off x="1600200" y="5248656"/>
            <a:ext cx="2331720" cy="685800"/>
          </a:xfrm>
          <a:prstGeom prst="rect">
            <a:avLst/>
          </a:prstGeom>
          <a:noFill/>
          <a:ln/>
        </p:spPr>
        <p:txBody>
          <a:bodyPr wrap="square" lIns="0" tIns="0" rIns="0" bIns="0" rtlCol="0" anchor="t"/>
          <a:lstStyle/>
          <a:p>
            <a:pPr indent="0" marL="0">
              <a:buNone/>
            </a:pPr>
            <a:r>
              <a:rPr lang="en-US" sz="1300" dirty="0">
                <a:solidFill>
                  <a:schemeClr val="tx1"/>
                </a:solidFill>
              </a:rPr>
              <a:t>Forecast vs actual, skill, limits, 2026 case study</a:t>
            </a:r>
            <a:endParaRPr lang="en-US" sz="1300" dirty="0"/>
          </a:p>
        </p:txBody>
      </p:sp>
      <p:sp>
        <p:nvSpPr>
          <p:cNvPr id="32" name="card"/>
          <p:cNvSpPr/>
          <p:nvPr/>
        </p:nvSpPr>
        <p:spPr>
          <a:xfrm>
            <a:off x="4297680" y="4626864"/>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33" name="Text 30"/>
          <p:cNvSpPr txBox="1"/>
          <p:nvPr/>
        </p:nvSpPr>
        <p:spPr>
          <a:xfrm>
            <a:off x="4480560" y="4809744"/>
            <a:ext cx="822960" cy="64008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08</a:t>
            </a:r>
            <a:endParaRPr lang="en-US" sz="3000" dirty="0"/>
          </a:p>
        </p:txBody>
      </p:sp>
      <p:sp>
        <p:nvSpPr>
          <p:cNvPr id="34" name="Text 31"/>
          <p:cNvSpPr txBox="1"/>
          <p:nvPr/>
        </p:nvSpPr>
        <p:spPr>
          <a:xfrm>
            <a:off x="5349240" y="4809744"/>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Users &amp; future</a:t>
            </a:r>
            <a:endParaRPr lang="en-US" sz="1700" dirty="0"/>
          </a:p>
        </p:txBody>
      </p:sp>
      <p:sp>
        <p:nvSpPr>
          <p:cNvPr id="35" name="Text 32"/>
          <p:cNvSpPr txBox="1"/>
          <p:nvPr/>
        </p:nvSpPr>
        <p:spPr>
          <a:xfrm>
            <a:off x="5349240" y="5248656"/>
            <a:ext cx="2331720" cy="685800"/>
          </a:xfrm>
          <a:prstGeom prst="rect">
            <a:avLst/>
          </a:prstGeom>
          <a:noFill/>
          <a:ln/>
        </p:spPr>
        <p:txBody>
          <a:bodyPr wrap="square" lIns="0" tIns="0" rIns="0" bIns="0" rtlCol="0" anchor="t"/>
          <a:lstStyle/>
          <a:p>
            <a:pPr indent="0" marL="0">
              <a:buNone/>
            </a:pPr>
            <a:r>
              <a:rPr lang="en-US" sz="1300" dirty="0">
                <a:solidFill>
                  <a:schemeClr val="tx1"/>
                </a:solidFill>
              </a:rPr>
              <a:t>Dissemination, Mission Mausam, AI/ML</a:t>
            </a:r>
            <a:endParaRPr lang="en-US" sz="1300" dirty="0"/>
          </a:p>
        </p:txBody>
      </p:sp>
      <p:sp>
        <p:nvSpPr>
          <p:cNvPr id="36" name="card"/>
          <p:cNvSpPr/>
          <p:nvPr/>
        </p:nvSpPr>
        <p:spPr>
          <a:xfrm>
            <a:off x="8046720" y="4626864"/>
            <a:ext cx="352044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37" name="Text 34"/>
          <p:cNvSpPr txBox="1"/>
          <p:nvPr/>
        </p:nvSpPr>
        <p:spPr>
          <a:xfrm>
            <a:off x="8229600" y="4809744"/>
            <a:ext cx="822960" cy="64008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09</a:t>
            </a:r>
            <a:endParaRPr lang="en-US" sz="3000" dirty="0"/>
          </a:p>
        </p:txBody>
      </p:sp>
      <p:sp>
        <p:nvSpPr>
          <p:cNvPr id="38" name="Text 35"/>
          <p:cNvSpPr txBox="1"/>
          <p:nvPr/>
        </p:nvSpPr>
        <p:spPr>
          <a:xfrm>
            <a:off x="9098280" y="4809744"/>
            <a:ext cx="2331720" cy="411480"/>
          </a:xfrm>
          <a:prstGeom prst="rect">
            <a:avLst/>
          </a:prstGeom>
          <a:noFill/>
          <a:ln/>
        </p:spPr>
        <p:txBody>
          <a:bodyPr wrap="square" lIns="0" tIns="0" rIns="0" bIns="0" rtlCol="0" anchor="ctr"/>
          <a:lstStyle/>
          <a:p>
            <a:pPr indent="0" marL="0">
              <a:buNone/>
            </a:pPr>
            <a:r>
              <a:rPr lang="en-US" sz="1700" b="1" dirty="0">
                <a:solidFill>
                  <a:schemeClr val="tx2"/>
                </a:solidFill>
              </a:rPr>
              <a:t>Synthesis</a:t>
            </a:r>
            <a:endParaRPr lang="en-US" sz="1700" dirty="0"/>
          </a:p>
        </p:txBody>
      </p:sp>
      <p:sp>
        <p:nvSpPr>
          <p:cNvPr id="39" name="Text 36"/>
          <p:cNvSpPr txBox="1"/>
          <p:nvPr/>
        </p:nvSpPr>
        <p:spPr>
          <a:xfrm>
            <a:off x="9098280" y="5248656"/>
            <a:ext cx="2331720" cy="685800"/>
          </a:xfrm>
          <a:prstGeom prst="rect">
            <a:avLst/>
          </a:prstGeom>
          <a:noFill/>
          <a:ln/>
        </p:spPr>
        <p:txBody>
          <a:bodyPr wrap="square" lIns="0" tIns="0" rIns="0" bIns="0" rtlCol="0" anchor="t"/>
          <a:lstStyle/>
          <a:p>
            <a:pPr indent="0" marL="0">
              <a:buNone/>
            </a:pPr>
            <a:r>
              <a:rPr lang="en-US" sz="1300" dirty="0">
                <a:solidFill>
                  <a:schemeClr val="tx1"/>
                </a:solidFill>
              </a:rPr>
              <a:t>Model summary, FAQs, glossary, sources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The Indian summer monsoon</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What the system is, how a season unfolds, and the drivers that make one year wet and another dry</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is the southwest monsoon?</a:t>
            </a:r>
            <a:endParaRPr lang="en-US" sz="3200" dirty="0"/>
          </a:p>
        </p:txBody>
      </p:sp>
      <p:sp>
        <p:nvSpPr>
          <p:cNvPr id="4" name="land"/>
          <p:cNvSpPr/>
          <p:nvPr/>
        </p:nvSpPr>
        <p:spPr>
          <a:xfrm>
            <a:off x="548640" y="1371600"/>
            <a:ext cx="6675120" cy="2139696"/>
          </a:xfrm>
          <a:prstGeom prst="rect">
            <a:avLst/>
          </a:prstGeom>
          <a:solidFill>
            <a:srgbClr val="F6E7C8"/>
          </a:solidFill>
          <a:ln/>
        </p:spPr>
      </p:sp>
      <p:sp>
        <p:nvSpPr>
          <p:cNvPr id="5" name="ocean"/>
          <p:cNvSpPr/>
          <p:nvPr/>
        </p:nvSpPr>
        <p:spPr>
          <a:xfrm>
            <a:off x="548640" y="3511296"/>
            <a:ext cx="6675120" cy="2615184"/>
          </a:xfrm>
          <a:prstGeom prst="rect">
            <a:avLst/>
          </a:prstGeom>
          <a:solidFill>
            <a:srgbClr val="D6EAF0"/>
          </a:solidFill>
          <a:ln/>
        </p:spPr>
      </p:sp>
      <p:sp>
        <p:nvSpPr>
          <p:cNvPr id="6" name="Text 3"/>
          <p:cNvSpPr txBox="1"/>
          <p:nvPr/>
        </p:nvSpPr>
        <p:spPr>
          <a:xfrm>
            <a:off x="685800" y="1463040"/>
            <a:ext cx="4572000" cy="320040"/>
          </a:xfrm>
          <a:prstGeom prst="rect">
            <a:avLst/>
          </a:prstGeom>
          <a:noFill/>
          <a:ln/>
        </p:spPr>
        <p:txBody>
          <a:bodyPr wrap="square" lIns="0" tIns="0" rIns="0" bIns="0" rtlCol="0" anchor="ctr"/>
          <a:lstStyle/>
          <a:p>
            <a:pPr algn="l" indent="0" marL="0">
              <a:buNone/>
            </a:pPr>
            <a:r>
              <a:rPr lang="en-US" sz="1200" b="1" dirty="0">
                <a:solidFill>
                  <a:schemeClr val="accent2"/>
                </a:solidFill>
              </a:rPr>
              <a:t>LAND · Indian subcontinent &amp; Tibet (heats up)</a:t>
            </a:r>
            <a:endParaRPr lang="en-US" sz="1200" dirty="0"/>
          </a:p>
        </p:txBody>
      </p:sp>
      <p:sp>
        <p:nvSpPr>
          <p:cNvPr id="7" name="Text 4"/>
          <p:cNvSpPr txBox="1"/>
          <p:nvPr/>
        </p:nvSpPr>
        <p:spPr>
          <a:xfrm>
            <a:off x="685800" y="5715000"/>
            <a:ext cx="4572000" cy="320040"/>
          </a:xfrm>
          <a:prstGeom prst="rect">
            <a:avLst/>
          </a:prstGeom>
          <a:noFill/>
          <a:ln/>
        </p:spPr>
        <p:txBody>
          <a:bodyPr wrap="square" lIns="0" tIns="0" rIns="0" bIns="0" rtlCol="0" anchor="ctr"/>
          <a:lstStyle/>
          <a:p>
            <a:pPr algn="l" indent="0" marL="0">
              <a:buNone/>
            </a:pPr>
            <a:r>
              <a:rPr lang="en-US" sz="1200" b="1" dirty="0">
                <a:solidFill>
                  <a:schemeClr val="accent5"/>
                </a:solidFill>
              </a:rPr>
              <a:t>OCEAN · Indian Ocean (cooler)</a:t>
            </a:r>
            <a:endParaRPr lang="en-US" sz="1200" dirty="0"/>
          </a:p>
        </p:txBody>
      </p:sp>
      <p:sp>
        <p:nvSpPr>
          <p:cNvPr id="8" name="equator"/>
          <p:cNvSpPr/>
          <p:nvPr/>
        </p:nvSpPr>
        <p:spPr>
          <a:xfrm>
            <a:off x="548640" y="5080406"/>
            <a:ext cx="6675120" cy="0"/>
          </a:xfrm>
          <a:prstGeom prst="line">
            <a:avLst/>
          </a:prstGeom>
          <a:noFill/>
          <a:ln w="12700">
            <a:solidFill>
              <a:srgbClr val="5F6C72"/>
            </a:solidFill>
            <a:prstDash val="dash"/>
          </a:ln>
        </p:spPr>
      </p:sp>
      <p:sp>
        <p:nvSpPr>
          <p:cNvPr id="9" name="Text 6"/>
          <p:cNvSpPr txBox="1"/>
          <p:nvPr/>
        </p:nvSpPr>
        <p:spPr>
          <a:xfrm>
            <a:off x="6309360" y="4787798"/>
            <a:ext cx="822960" cy="274320"/>
          </a:xfrm>
          <a:prstGeom prst="rect">
            <a:avLst/>
          </a:prstGeom>
          <a:noFill/>
          <a:ln/>
        </p:spPr>
        <p:txBody>
          <a:bodyPr wrap="square" lIns="0" tIns="0" rIns="0" bIns="0" rtlCol="0" anchor="ctr"/>
          <a:lstStyle/>
          <a:p>
            <a:pPr algn="r" indent="0" marL="0">
              <a:buNone/>
            </a:pPr>
            <a:r>
              <a:rPr lang="en-US" sz="1000" i="1" dirty="0">
                <a:solidFill>
                  <a:schemeClr val="accent6"/>
                </a:solidFill>
              </a:rPr>
              <a:t>Equator</a:t>
            </a:r>
            <a:endParaRPr lang="en-US" sz="1000" dirty="0"/>
          </a:p>
        </p:txBody>
      </p:sp>
      <p:sp>
        <p:nvSpPr>
          <p:cNvPr id="10" name="diagram box"/>
          <p:cNvSpPr/>
          <p:nvPr/>
        </p:nvSpPr>
        <p:spPr>
          <a:xfrm>
            <a:off x="3108960" y="1965960"/>
            <a:ext cx="2377440" cy="685800"/>
          </a:xfrm>
          <a:prstGeom prst="roundRect">
            <a:avLst>
              <a:gd name="adj" fmla="val 10667"/>
            </a:avLst>
          </a:prstGeom>
          <a:solidFill>
            <a:schemeClr val="accent2"/>
          </a:solidFill>
          <a:ln/>
        </p:spPr>
      </p:sp>
      <p:sp>
        <p:nvSpPr>
          <p:cNvPr id="11" name="Text 8"/>
          <p:cNvSpPr txBox="1"/>
          <p:nvPr/>
        </p:nvSpPr>
        <p:spPr>
          <a:xfrm>
            <a:off x="3108960" y="1965960"/>
            <a:ext cx="2377440" cy="685800"/>
          </a:xfrm>
          <a:prstGeom prst="rect">
            <a:avLst/>
          </a:prstGeom>
          <a:noFill/>
          <a:ln/>
        </p:spPr>
        <p:txBody>
          <a:bodyPr wrap="square" lIns="508" tIns="508" rIns="508" bIns="508" rtlCol="0" anchor="ctr"/>
          <a:lstStyle/>
          <a:p>
            <a:pPr algn="ctr" indent="0" marL="0">
              <a:buNone/>
            </a:pPr>
            <a:r>
              <a:rPr lang="en-US" sz="1200" dirty="0">
                <a:solidFill>
                  <a:schemeClr val="bg1"/>
                </a:solidFill>
              </a:rPr>
              <a:t>Heat low / monsoon trough</a:t>
            </a:r>
            <a:endParaRPr lang="en-US" sz="1200" dirty="0"/>
          </a:p>
          <a:p>
            <a:pPr algn="ctr" indent="0" marL="0">
              <a:buNone/>
            </a:pPr>
            <a:r>
              <a:rPr lang="en-US" sz="1200" dirty="0">
                <a:solidFill>
                  <a:schemeClr val="bg1"/>
                </a:solidFill>
              </a:rPr>
              <a:t>(low pressure)</a:t>
            </a:r>
            <a:endParaRPr lang="en-US" sz="1200" dirty="0"/>
          </a:p>
        </p:txBody>
      </p:sp>
      <p:sp>
        <p:nvSpPr>
          <p:cNvPr id="12" name="diagram box"/>
          <p:cNvSpPr/>
          <p:nvPr/>
        </p:nvSpPr>
        <p:spPr>
          <a:xfrm>
            <a:off x="914400" y="1965960"/>
            <a:ext cx="1920240" cy="685800"/>
          </a:xfrm>
          <a:prstGeom prst="roundRect">
            <a:avLst>
              <a:gd name="adj" fmla="val 10667"/>
            </a:avLst>
          </a:prstGeom>
          <a:solidFill>
            <a:schemeClr val="accent4"/>
          </a:solidFill>
          <a:ln/>
        </p:spPr>
      </p:sp>
      <p:sp>
        <p:nvSpPr>
          <p:cNvPr id="13" name="Text 10"/>
          <p:cNvSpPr txBox="1"/>
          <p:nvPr/>
        </p:nvSpPr>
        <p:spPr>
          <a:xfrm>
            <a:off x="914400" y="1965960"/>
            <a:ext cx="1920240" cy="685800"/>
          </a:xfrm>
          <a:prstGeom prst="rect">
            <a:avLst/>
          </a:prstGeom>
          <a:noFill/>
          <a:ln/>
        </p:spPr>
        <p:txBody>
          <a:bodyPr wrap="square" lIns="508" tIns="508" rIns="508" bIns="508" rtlCol="0" anchor="ctr"/>
          <a:lstStyle/>
          <a:p>
            <a:pPr algn="ctr" indent="0" marL="0">
              <a:buNone/>
            </a:pPr>
            <a:r>
              <a:rPr lang="en-US" sz="1100" dirty="0">
                <a:solidFill>
                  <a:schemeClr val="bg1"/>
                </a:solidFill>
              </a:rPr>
              <a:t>Tibetan High (aloft)</a:t>
            </a:r>
            <a:endParaRPr lang="en-US" sz="1100" dirty="0"/>
          </a:p>
          <a:p>
            <a:pPr algn="ctr" indent="0" marL="0">
              <a:buNone/>
            </a:pPr>
            <a:r>
              <a:rPr lang="en-US" sz="1100" dirty="0">
                <a:solidFill>
                  <a:schemeClr val="bg1"/>
                </a:solidFill>
              </a:rPr>
              <a:t>→ Tropical Easterly Jet</a:t>
            </a:r>
            <a:endParaRPr lang="en-US" sz="1100" dirty="0"/>
          </a:p>
        </p:txBody>
      </p:sp>
      <p:sp>
        <p:nvSpPr>
          <p:cNvPr id="14" name="diagram box"/>
          <p:cNvSpPr/>
          <p:nvPr/>
        </p:nvSpPr>
        <p:spPr>
          <a:xfrm>
            <a:off x="4754880" y="5212080"/>
            <a:ext cx="2194560" cy="594360"/>
          </a:xfrm>
          <a:prstGeom prst="roundRect">
            <a:avLst>
              <a:gd name="adj" fmla="val 12308"/>
            </a:avLst>
          </a:prstGeom>
          <a:solidFill>
            <a:schemeClr val="accent5"/>
          </a:solidFill>
          <a:ln/>
        </p:spPr>
      </p:sp>
      <p:sp>
        <p:nvSpPr>
          <p:cNvPr id="15" name="Text 12"/>
          <p:cNvSpPr txBox="1"/>
          <p:nvPr/>
        </p:nvSpPr>
        <p:spPr>
          <a:xfrm>
            <a:off x="4754880" y="5212080"/>
            <a:ext cx="2194560" cy="594360"/>
          </a:xfrm>
          <a:prstGeom prst="rect">
            <a:avLst/>
          </a:prstGeom>
          <a:noFill/>
          <a:ln/>
        </p:spPr>
        <p:txBody>
          <a:bodyPr wrap="square" lIns="508" tIns="508" rIns="508" bIns="508" rtlCol="0" anchor="ctr"/>
          <a:lstStyle/>
          <a:p>
            <a:pPr algn="ctr" indent="0" marL="0">
              <a:buNone/>
            </a:pPr>
            <a:r>
              <a:rPr lang="en-US" sz="1200" dirty="0">
                <a:solidFill>
                  <a:schemeClr val="bg1"/>
                </a:solidFill>
              </a:rPr>
              <a:t>Mascarene High</a:t>
            </a:r>
            <a:endParaRPr lang="en-US" sz="1200" dirty="0"/>
          </a:p>
          <a:p>
            <a:pPr algn="ctr" indent="0" marL="0">
              <a:buNone/>
            </a:pPr>
            <a:r>
              <a:rPr lang="en-US" sz="1200" dirty="0">
                <a:solidFill>
                  <a:schemeClr val="bg1"/>
                </a:solidFill>
              </a:rPr>
              <a:t>(S. Indian Ocean)</a:t>
            </a:r>
            <a:endParaRPr lang="en-US" sz="1200" dirty="0"/>
          </a:p>
        </p:txBody>
      </p:sp>
      <p:sp>
        <p:nvSpPr>
          <p:cNvPr id="16" name="arrow"/>
          <p:cNvSpPr/>
          <p:nvPr/>
        </p:nvSpPr>
        <p:spPr>
          <a:xfrm flipH="1" flipV="1">
            <a:off x="1828800" y="4795114"/>
            <a:ext cx="2926080" cy="691286"/>
          </a:xfrm>
          <a:prstGeom prst="line">
            <a:avLst/>
          </a:prstGeom>
          <a:noFill/>
          <a:ln w="50800">
            <a:solidFill>
              <a:srgbClr val="1F7A8C"/>
            </a:solidFill>
            <a:prstDash val="solid"/>
            <a:tailEnd type="triangle"/>
          </a:ln>
        </p:spPr>
      </p:sp>
      <p:sp>
        <p:nvSpPr>
          <p:cNvPr id="17" name="arrow"/>
          <p:cNvSpPr/>
          <p:nvPr/>
        </p:nvSpPr>
        <p:spPr>
          <a:xfrm flipV="1">
            <a:off x="1828800" y="3749040"/>
            <a:ext cx="914400" cy="1046074"/>
          </a:xfrm>
          <a:prstGeom prst="line">
            <a:avLst/>
          </a:prstGeom>
          <a:noFill/>
          <a:ln w="50800">
            <a:solidFill>
              <a:srgbClr val="1F7A8C"/>
            </a:solidFill>
            <a:prstDash val="solid"/>
            <a:tailEnd type="triangle"/>
          </a:ln>
        </p:spPr>
      </p:sp>
      <p:sp>
        <p:nvSpPr>
          <p:cNvPr id="18" name="arrow"/>
          <p:cNvSpPr/>
          <p:nvPr/>
        </p:nvSpPr>
        <p:spPr>
          <a:xfrm flipV="1">
            <a:off x="2743200" y="2743200"/>
            <a:ext cx="1097280" cy="1005840"/>
          </a:xfrm>
          <a:prstGeom prst="line">
            <a:avLst/>
          </a:prstGeom>
          <a:noFill/>
          <a:ln w="50800">
            <a:solidFill>
              <a:srgbClr val="1F7A8C"/>
            </a:solidFill>
            <a:prstDash val="solid"/>
            <a:tailEnd type="triangle"/>
          </a:ln>
        </p:spPr>
      </p:sp>
      <p:sp>
        <p:nvSpPr>
          <p:cNvPr id="19" name="Text 16"/>
          <p:cNvSpPr txBox="1"/>
          <p:nvPr/>
        </p:nvSpPr>
        <p:spPr>
          <a:xfrm>
            <a:off x="731520" y="4224528"/>
            <a:ext cx="1280160" cy="457200"/>
          </a:xfrm>
          <a:prstGeom prst="rect">
            <a:avLst/>
          </a:prstGeom>
          <a:noFill/>
          <a:ln/>
        </p:spPr>
        <p:txBody>
          <a:bodyPr wrap="square" lIns="0" tIns="0" rIns="0" bIns="0" rtlCol="0" anchor="ctr"/>
          <a:lstStyle/>
          <a:p>
            <a:pPr algn="l" indent="0" marL="0">
              <a:buNone/>
            </a:pPr>
            <a:r>
              <a:rPr lang="en-US" sz="1100" b="1" dirty="0">
                <a:solidFill>
                  <a:schemeClr val="accent1"/>
                </a:solidFill>
              </a:rPr>
              <a:t>Somali (Findlater) jet</a:t>
            </a:r>
            <a:endParaRPr lang="en-US" sz="1100" dirty="0"/>
          </a:p>
        </p:txBody>
      </p:sp>
      <p:sp>
        <p:nvSpPr>
          <p:cNvPr id="20" name="Text 17"/>
          <p:cNvSpPr txBox="1"/>
          <p:nvPr/>
        </p:nvSpPr>
        <p:spPr>
          <a:xfrm>
            <a:off x="3063240" y="3657600"/>
            <a:ext cx="1737360" cy="320040"/>
          </a:xfrm>
          <a:prstGeom prst="rect">
            <a:avLst/>
          </a:prstGeom>
          <a:noFill/>
          <a:ln/>
        </p:spPr>
        <p:txBody>
          <a:bodyPr wrap="square" lIns="0" tIns="0" rIns="0" bIns="0" rtlCol="0" anchor="ctr"/>
          <a:lstStyle/>
          <a:p>
            <a:pPr algn="l" indent="0" marL="0">
              <a:buNone/>
            </a:pPr>
            <a:r>
              <a:rPr lang="en-US" sz="1100" b="1" dirty="0">
                <a:solidFill>
                  <a:schemeClr val="accent1"/>
                </a:solidFill>
              </a:rPr>
              <a:t>Moist SW winds →</a:t>
            </a:r>
            <a:endParaRPr lang="en-US" sz="1100" dirty="0"/>
          </a:p>
        </p:txBody>
      </p:sp>
      <p:sp>
        <p:nvSpPr>
          <p:cNvPr id="21" name="ITCZ"/>
          <p:cNvSpPr/>
          <p:nvPr/>
        </p:nvSpPr>
        <p:spPr>
          <a:xfrm>
            <a:off x="731520" y="2788920"/>
            <a:ext cx="6309360" cy="0"/>
          </a:xfrm>
          <a:prstGeom prst="line">
            <a:avLst/>
          </a:prstGeom>
          <a:noFill/>
          <a:ln w="31750">
            <a:solidFill>
              <a:srgbClr val="5B4E9C"/>
            </a:solidFill>
            <a:prstDash val="lgDash"/>
          </a:ln>
        </p:spPr>
      </p:sp>
      <p:sp>
        <p:nvSpPr>
          <p:cNvPr id="22" name="Text 19"/>
          <p:cNvSpPr txBox="1"/>
          <p:nvPr/>
        </p:nvSpPr>
        <p:spPr>
          <a:xfrm>
            <a:off x="3474720" y="2834640"/>
            <a:ext cx="3657600" cy="274320"/>
          </a:xfrm>
          <a:prstGeom prst="rect">
            <a:avLst/>
          </a:prstGeom>
          <a:noFill/>
          <a:ln/>
        </p:spPr>
        <p:txBody>
          <a:bodyPr wrap="square" lIns="0" tIns="0" rIns="0" bIns="0" rtlCol="0" anchor="ctr"/>
          <a:lstStyle/>
          <a:p>
            <a:pPr algn="r" indent="0" marL="0">
              <a:buNone/>
            </a:pPr>
            <a:r>
              <a:rPr lang="en-US" sz="1100" i="1" dirty="0">
                <a:solidFill>
                  <a:schemeClr val="accent4"/>
                </a:solidFill>
              </a:rPr>
              <a:t>ITCZ / rain belt shifts north in summer</a:t>
            </a:r>
            <a:endParaRPr lang="en-US" sz="1100" dirty="0"/>
          </a:p>
        </p:txBody>
      </p:sp>
      <p:sp>
        <p:nvSpPr>
          <p:cNvPr id="23" name="Text 20"/>
          <p:cNvSpPr txBox="1"/>
          <p:nvPr/>
        </p:nvSpPr>
        <p:spPr>
          <a:xfrm>
            <a:off x="548640" y="6172200"/>
            <a:ext cx="27432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Schematic, not to scale.</a:t>
            </a:r>
            <a:endParaRPr lang="en-US" sz="1100" dirty="0"/>
          </a:p>
        </p:txBody>
      </p:sp>
      <p:sp>
        <p:nvSpPr>
          <p:cNvPr id="24" name="card"/>
          <p:cNvSpPr/>
          <p:nvPr/>
        </p:nvSpPr>
        <p:spPr>
          <a:xfrm>
            <a:off x="7543800" y="1371600"/>
            <a:ext cx="4096512"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7726680" y="1527048"/>
            <a:ext cx="420624" cy="420624"/>
          </a:xfrm>
          <a:prstGeom prst="ellipse">
            <a:avLst/>
          </a:prstGeom>
          <a:solidFill>
            <a:schemeClr val="accent3"/>
          </a:solidFill>
          <a:ln/>
        </p:spPr>
      </p:sp>
      <p:pic>
        <p:nvPicPr>
          <p:cNvPr id="26" name="Image 0" descr="Sun icon">    </p:cNvPr>
          <p:cNvPicPr>
            <a:picLocks noChangeAspect="1"/>
          </p:cNvPicPr>
          <p:nvPr/>
        </p:nvPicPr>
        <p:blipFill>
          <a:blip r:embed="rId1"/>
          <a:stretch>
            <a:fillRect/>
          </a:stretch>
        </p:blipFill>
        <p:spPr>
          <a:xfrm>
            <a:off x="7836042" y="1636410"/>
            <a:ext cx="201900" cy="201900"/>
          </a:xfrm>
          <a:prstGeom prst="rect">
            <a:avLst/>
          </a:prstGeom>
        </p:spPr>
      </p:pic>
      <p:sp>
        <p:nvSpPr>
          <p:cNvPr id="27" name="Text 23"/>
          <p:cNvSpPr txBox="1"/>
          <p:nvPr/>
        </p:nvSpPr>
        <p:spPr>
          <a:xfrm>
            <a:off x="8257032" y="1508760"/>
            <a:ext cx="3246120" cy="457200"/>
          </a:xfrm>
          <a:prstGeom prst="rect">
            <a:avLst/>
          </a:prstGeom>
          <a:noFill/>
          <a:ln/>
        </p:spPr>
        <p:txBody>
          <a:bodyPr wrap="square" lIns="0" tIns="0" rIns="0" bIns="0" rtlCol="0" anchor="ctr"/>
          <a:lstStyle/>
          <a:p>
            <a:pPr indent="0" marL="0">
              <a:buNone/>
            </a:pPr>
            <a:r>
              <a:rPr lang="en-US" sz="1600" b="1" dirty="0">
                <a:solidFill>
                  <a:schemeClr val="tx2"/>
                </a:solidFill>
              </a:rPr>
              <a:t>Driver</a:t>
            </a:r>
            <a:endParaRPr lang="en-US" sz="1600" dirty="0"/>
          </a:p>
        </p:txBody>
      </p:sp>
      <p:sp>
        <p:nvSpPr>
          <p:cNvPr id="28" name="Text 24"/>
          <p:cNvSpPr txBox="1"/>
          <p:nvPr/>
        </p:nvSpPr>
        <p:spPr>
          <a:xfrm>
            <a:off x="7726680" y="2057400"/>
            <a:ext cx="3730752" cy="6400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Differential heating of land and ocean → pressure gradient → seasonal wind reversal.</a:t>
            </a:r>
            <a:endParaRPr lang="en-US" sz="1300" dirty="0"/>
          </a:p>
        </p:txBody>
      </p:sp>
      <p:sp>
        <p:nvSpPr>
          <p:cNvPr id="29" name="card"/>
          <p:cNvSpPr/>
          <p:nvPr/>
        </p:nvSpPr>
        <p:spPr>
          <a:xfrm>
            <a:off x="7543800" y="2926080"/>
            <a:ext cx="409651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7726680" y="3081528"/>
            <a:ext cx="420624" cy="420624"/>
          </a:xfrm>
          <a:prstGeom prst="ellipse">
            <a:avLst/>
          </a:prstGeom>
          <a:solidFill>
            <a:schemeClr val="accent1"/>
          </a:solidFill>
          <a:ln/>
        </p:spPr>
      </p:sp>
      <p:pic>
        <p:nvPicPr>
          <p:cNvPr id="31" name="Image 1" descr="Wind icon">    </p:cNvPr>
          <p:cNvPicPr>
            <a:picLocks noChangeAspect="1"/>
          </p:cNvPicPr>
          <p:nvPr/>
        </p:nvPicPr>
        <p:blipFill>
          <a:blip r:embed="rId2"/>
          <a:stretch>
            <a:fillRect/>
          </a:stretch>
        </p:blipFill>
        <p:spPr>
          <a:xfrm>
            <a:off x="7836042" y="3190890"/>
            <a:ext cx="201900" cy="201900"/>
          </a:xfrm>
          <a:prstGeom prst="rect">
            <a:avLst/>
          </a:prstGeom>
        </p:spPr>
      </p:pic>
      <p:sp>
        <p:nvSpPr>
          <p:cNvPr id="32" name="Text 27"/>
          <p:cNvSpPr txBox="1"/>
          <p:nvPr/>
        </p:nvSpPr>
        <p:spPr>
          <a:xfrm>
            <a:off x="8257032" y="3063240"/>
            <a:ext cx="3246120" cy="457200"/>
          </a:xfrm>
          <a:prstGeom prst="rect">
            <a:avLst/>
          </a:prstGeom>
          <a:noFill/>
          <a:ln/>
        </p:spPr>
        <p:txBody>
          <a:bodyPr wrap="square" lIns="0" tIns="0" rIns="0" bIns="0" rtlCol="0" anchor="ctr"/>
          <a:lstStyle/>
          <a:p>
            <a:pPr indent="0" marL="0">
              <a:buNone/>
            </a:pPr>
            <a:r>
              <a:rPr lang="en-US" sz="1600" b="1" dirty="0">
                <a:solidFill>
                  <a:schemeClr val="tx2"/>
                </a:solidFill>
              </a:rPr>
              <a:t>Key circulation features</a:t>
            </a:r>
            <a:endParaRPr lang="en-US" sz="1600" dirty="0"/>
          </a:p>
        </p:txBody>
      </p:sp>
      <p:sp>
        <p:nvSpPr>
          <p:cNvPr id="33" name="Text 28"/>
          <p:cNvSpPr txBox="1"/>
          <p:nvPr/>
        </p:nvSpPr>
        <p:spPr>
          <a:xfrm>
            <a:off x="7726680" y="3611880"/>
            <a:ext cx="3730752" cy="8229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Low-level: Mascarene High, Somali jet, monsoon trough</a:t>
            </a:r>
            <a:endParaRPr lang="en-US" sz="1300" dirty="0"/>
          </a:p>
          <a:p>
            <a:pPr marL="177800" indent="-177800">
              <a:spcAft>
                <a:spcPts val="400"/>
              </a:spcAft>
              <a:buSzPct val="100000"/>
              <a:buChar char="•"/>
            </a:pPr>
            <a:r>
              <a:rPr lang="en-US" sz="1300" dirty="0">
                <a:solidFill>
                  <a:schemeClr val="tx1"/>
                </a:solidFill>
              </a:rPr>
              <a:t>Upper-level: Tibetan anticyclone, Tropical Easterly Jet</a:t>
            </a:r>
            <a:endParaRPr lang="en-US" sz="1300" dirty="0"/>
          </a:p>
        </p:txBody>
      </p:sp>
      <p:sp>
        <p:nvSpPr>
          <p:cNvPr id="34" name="card"/>
          <p:cNvSpPr/>
          <p:nvPr/>
        </p:nvSpPr>
        <p:spPr>
          <a:xfrm>
            <a:off x="7543800" y="4663440"/>
            <a:ext cx="4096512" cy="1463040"/>
          </a:xfrm>
          <a:prstGeom prst="roundRect">
            <a:avLst>
              <a:gd name="adj" fmla="val 5000"/>
            </a:avLst>
          </a:prstGeom>
          <a:solidFill>
            <a:schemeClr val="bg2"/>
          </a:solidFill>
          <a:ln/>
          <a:effectLst>
            <a:outerShdw sx="100000" sy="100000" kx="0" ky="0" algn="bl" rotWithShape="0" blurRad="76200" dist="25400" dir="5400000">
              <a:srgbClr val="000000">
                <a:alpha val="14000"/>
              </a:srgbClr>
            </a:outerShdw>
          </a:effectLst>
        </p:spPr>
      </p:sp>
      <p:sp>
        <p:nvSpPr>
          <p:cNvPr id="35" name="icon circle"/>
          <p:cNvSpPr/>
          <p:nvPr/>
        </p:nvSpPr>
        <p:spPr>
          <a:xfrm>
            <a:off x="7726680" y="4818888"/>
            <a:ext cx="420624" cy="420624"/>
          </a:xfrm>
          <a:prstGeom prst="ellipse">
            <a:avLst/>
          </a:prstGeom>
          <a:solidFill>
            <a:schemeClr val="accent5"/>
          </a:solidFill>
          <a:ln/>
        </p:spPr>
      </p:sp>
      <p:pic>
        <p:nvPicPr>
          <p:cNvPr id="36" name="Image 2" descr="CloudRain icon">    </p:cNvPr>
          <p:cNvPicPr>
            <a:picLocks noChangeAspect="1"/>
          </p:cNvPicPr>
          <p:nvPr/>
        </p:nvPicPr>
        <p:blipFill>
          <a:blip r:embed="rId3"/>
          <a:stretch>
            <a:fillRect/>
          </a:stretch>
        </p:blipFill>
        <p:spPr>
          <a:xfrm>
            <a:off x="7836042" y="4928250"/>
            <a:ext cx="201900" cy="201900"/>
          </a:xfrm>
          <a:prstGeom prst="rect">
            <a:avLst/>
          </a:prstGeom>
        </p:spPr>
      </p:pic>
      <p:sp>
        <p:nvSpPr>
          <p:cNvPr id="37" name="Text 31"/>
          <p:cNvSpPr txBox="1"/>
          <p:nvPr/>
        </p:nvSpPr>
        <p:spPr>
          <a:xfrm>
            <a:off x="8257032" y="4800600"/>
            <a:ext cx="3246120" cy="457200"/>
          </a:xfrm>
          <a:prstGeom prst="rect">
            <a:avLst/>
          </a:prstGeom>
          <a:noFill/>
          <a:ln/>
        </p:spPr>
        <p:txBody>
          <a:bodyPr wrap="square" lIns="0" tIns="0" rIns="0" bIns="0" rtlCol="0" anchor="ctr"/>
          <a:lstStyle/>
          <a:p>
            <a:pPr indent="0" marL="0">
              <a:buNone/>
            </a:pPr>
            <a:r>
              <a:rPr lang="en-US" sz="1600" b="1" dirty="0">
                <a:solidFill>
                  <a:schemeClr val="tx2"/>
                </a:solidFill>
              </a:rPr>
              <a:t>Rain-bearing systems</a:t>
            </a:r>
            <a:endParaRPr lang="en-US" sz="1600" dirty="0"/>
          </a:p>
        </p:txBody>
      </p:sp>
      <p:sp>
        <p:nvSpPr>
          <p:cNvPr id="38" name="Text 32"/>
          <p:cNvSpPr txBox="1"/>
          <p:nvPr/>
        </p:nvSpPr>
        <p:spPr>
          <a:xfrm>
            <a:off x="7726680" y="5349240"/>
            <a:ext cx="3730752" cy="6858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Monsoon lows and depressions from the Bay of Bengal, offshore troughs and vortices on the west coast.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the monsoon forecast matters</a:t>
            </a:r>
            <a:endParaRPr lang="en-US" sz="3200" dirty="0"/>
          </a:p>
        </p:txBody>
      </p:sp>
      <p:sp>
        <p:nvSpPr>
          <p:cNvPr id="4" name="card"/>
          <p:cNvSpPr/>
          <p:nvPr/>
        </p:nvSpPr>
        <p:spPr>
          <a:xfrm>
            <a:off x="548640" y="1371600"/>
            <a:ext cx="3547872" cy="1828800"/>
          </a:xfrm>
          <a:prstGeom prst="roundRect">
            <a:avLst>
              <a:gd name="adj" fmla="val 4000"/>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463040"/>
            <a:ext cx="3547872" cy="1005840"/>
          </a:xfrm>
          <a:prstGeom prst="rect">
            <a:avLst/>
          </a:prstGeom>
          <a:noFill/>
          <a:ln/>
        </p:spPr>
        <p:txBody>
          <a:bodyPr wrap="square" lIns="0" tIns="0" rIns="0" bIns="0" rtlCol="0" anchor="ctr"/>
          <a:lstStyle/>
          <a:p>
            <a:pPr algn="ctr" indent="0" marL="0">
              <a:buNone/>
            </a:pPr>
            <a:r>
              <a:rPr lang="en-US" sz="4400" b="1" dirty="0">
                <a:solidFill>
                  <a:schemeClr val="bg1"/>
                </a:solidFill>
              </a:rPr>
              <a:t>~75 %</a:t>
            </a:r>
            <a:endParaRPr lang="en-US" sz="4400" dirty="0"/>
          </a:p>
        </p:txBody>
      </p:sp>
      <p:sp>
        <p:nvSpPr>
          <p:cNvPr id="6" name="Text 3"/>
          <p:cNvSpPr txBox="1"/>
          <p:nvPr/>
        </p:nvSpPr>
        <p:spPr>
          <a:xfrm>
            <a:off x="731520" y="2468880"/>
            <a:ext cx="3182112" cy="640080"/>
          </a:xfrm>
          <a:prstGeom prst="rect">
            <a:avLst/>
          </a:prstGeom>
          <a:noFill/>
          <a:ln/>
        </p:spPr>
        <p:txBody>
          <a:bodyPr wrap="square" lIns="0" tIns="0" rIns="0" bIns="0" rtlCol="0" anchor="t"/>
          <a:lstStyle/>
          <a:p>
            <a:pPr algn="ctr" indent="0" marL="0">
              <a:buNone/>
            </a:pPr>
            <a:r>
              <a:rPr lang="en-US" sz="1300" dirty="0">
                <a:solidFill>
                  <a:schemeClr val="bg1"/>
                </a:solidFill>
              </a:rPr>
              <a:t>of annual rainfall falls in June–September</a:t>
            </a:r>
            <a:endParaRPr lang="en-US" sz="1300" dirty="0"/>
          </a:p>
        </p:txBody>
      </p:sp>
      <p:sp>
        <p:nvSpPr>
          <p:cNvPr id="7" name="card"/>
          <p:cNvSpPr/>
          <p:nvPr/>
        </p:nvSpPr>
        <p:spPr>
          <a:xfrm>
            <a:off x="4297680" y="1371600"/>
            <a:ext cx="3547872" cy="1828800"/>
          </a:xfrm>
          <a:prstGeom prst="roundRect">
            <a:avLst>
              <a:gd name="adj" fmla="val 4000"/>
            </a:avLst>
          </a:prstGeom>
          <a:solidFill>
            <a:schemeClr val="accent1"/>
          </a:solidFill>
          <a:ln/>
          <a:effectLst>
            <a:outerShdw sx="100000" sy="100000" kx="0" ky="0" algn="bl" rotWithShape="0" blurRad="76200" dist="25400" dir="5400000">
              <a:srgbClr val="000000">
                <a:alpha val="14000"/>
              </a:srgbClr>
            </a:outerShdw>
          </a:effectLst>
        </p:spPr>
      </p:sp>
      <p:sp>
        <p:nvSpPr>
          <p:cNvPr id="8" name="Text 5"/>
          <p:cNvSpPr txBox="1"/>
          <p:nvPr/>
        </p:nvSpPr>
        <p:spPr>
          <a:xfrm>
            <a:off x="4297680" y="1463040"/>
            <a:ext cx="3547872" cy="1005840"/>
          </a:xfrm>
          <a:prstGeom prst="rect">
            <a:avLst/>
          </a:prstGeom>
          <a:noFill/>
          <a:ln/>
        </p:spPr>
        <p:txBody>
          <a:bodyPr wrap="square" lIns="0" tIns="0" rIns="0" bIns="0" rtlCol="0" anchor="ctr"/>
          <a:lstStyle/>
          <a:p>
            <a:pPr algn="ctr" indent="0" marL="0">
              <a:buNone/>
            </a:pPr>
            <a:r>
              <a:rPr lang="en-US" sz="4400" b="1" dirty="0">
                <a:solidFill>
                  <a:schemeClr val="bg1"/>
                </a:solidFill>
              </a:rPr>
              <a:t>87 cm</a:t>
            </a:r>
            <a:endParaRPr lang="en-US" sz="4400" dirty="0"/>
          </a:p>
        </p:txBody>
      </p:sp>
      <p:sp>
        <p:nvSpPr>
          <p:cNvPr id="9" name="Text 6"/>
          <p:cNvSpPr txBox="1"/>
          <p:nvPr/>
        </p:nvSpPr>
        <p:spPr>
          <a:xfrm>
            <a:off x="4480560" y="2468880"/>
            <a:ext cx="3182112" cy="640080"/>
          </a:xfrm>
          <a:prstGeom prst="rect">
            <a:avLst/>
          </a:prstGeom>
          <a:noFill/>
          <a:ln/>
        </p:spPr>
        <p:txBody>
          <a:bodyPr wrap="square" lIns="0" tIns="0" rIns="0" bIns="0" rtlCol="0" anchor="t"/>
          <a:lstStyle/>
          <a:p>
            <a:pPr algn="ctr" indent="0" marL="0">
              <a:buNone/>
            </a:pPr>
            <a:r>
              <a:rPr lang="en-US" sz="1300" dirty="0">
                <a:solidFill>
                  <a:schemeClr val="bg1"/>
                </a:solidFill>
              </a:rPr>
              <a:t>long period average (LPA) of seasonal rain, 1971–2020</a:t>
            </a:r>
            <a:endParaRPr lang="en-US" sz="1300" dirty="0"/>
          </a:p>
        </p:txBody>
      </p:sp>
      <p:sp>
        <p:nvSpPr>
          <p:cNvPr id="10" name="card"/>
          <p:cNvSpPr/>
          <p:nvPr/>
        </p:nvSpPr>
        <p:spPr>
          <a:xfrm>
            <a:off x="8046720" y="1371600"/>
            <a:ext cx="3547872" cy="1828800"/>
          </a:xfrm>
          <a:prstGeom prst="roundRect">
            <a:avLst>
              <a:gd name="adj" fmla="val 4000"/>
            </a:avLst>
          </a:prstGeom>
          <a:solidFill>
            <a:schemeClr val="accent2"/>
          </a:solidFill>
          <a:ln/>
          <a:effectLst>
            <a:outerShdw sx="100000" sy="100000" kx="0" ky="0" algn="bl" rotWithShape="0" blurRad="76200" dist="25400" dir="5400000">
              <a:srgbClr val="000000">
                <a:alpha val="14000"/>
              </a:srgbClr>
            </a:outerShdw>
          </a:effectLst>
        </p:spPr>
      </p:sp>
      <p:sp>
        <p:nvSpPr>
          <p:cNvPr id="11" name="Text 8"/>
          <p:cNvSpPr txBox="1"/>
          <p:nvPr/>
        </p:nvSpPr>
        <p:spPr>
          <a:xfrm>
            <a:off x="8046720" y="1463040"/>
            <a:ext cx="3547872" cy="1005840"/>
          </a:xfrm>
          <a:prstGeom prst="rect">
            <a:avLst/>
          </a:prstGeom>
          <a:noFill/>
          <a:ln/>
        </p:spPr>
        <p:txBody>
          <a:bodyPr wrap="square" lIns="0" tIns="0" rIns="0" bIns="0" rtlCol="0" anchor="ctr"/>
          <a:lstStyle/>
          <a:p>
            <a:pPr algn="ctr" indent="0" marL="0">
              <a:buNone/>
            </a:pPr>
            <a:r>
              <a:rPr lang="en-US" sz="4400" b="1" dirty="0">
                <a:solidFill>
                  <a:schemeClr val="bg1"/>
                </a:solidFill>
              </a:rPr>
              <a:t>≈ half</a:t>
            </a:r>
            <a:endParaRPr lang="en-US" sz="4400" dirty="0"/>
          </a:p>
        </p:txBody>
      </p:sp>
      <p:sp>
        <p:nvSpPr>
          <p:cNvPr id="12" name="Text 9"/>
          <p:cNvSpPr txBox="1"/>
          <p:nvPr/>
        </p:nvSpPr>
        <p:spPr>
          <a:xfrm>
            <a:off x="8229600" y="2468880"/>
            <a:ext cx="3182112" cy="640080"/>
          </a:xfrm>
          <a:prstGeom prst="rect">
            <a:avLst/>
          </a:prstGeom>
          <a:noFill/>
          <a:ln/>
        </p:spPr>
        <p:txBody>
          <a:bodyPr wrap="square" lIns="0" tIns="0" rIns="0" bIns="0" rtlCol="0" anchor="t"/>
          <a:lstStyle/>
          <a:p>
            <a:pPr algn="ctr" indent="0" marL="0">
              <a:buNone/>
            </a:pPr>
            <a:r>
              <a:rPr lang="en-US" sz="1300" dirty="0">
                <a:solidFill>
                  <a:schemeClr val="bg1"/>
                </a:solidFill>
              </a:rPr>
              <a:t>of India's net sown area is rain-fed (approx.)</a:t>
            </a:r>
            <a:endParaRPr lang="en-US" sz="1300" dirty="0"/>
          </a:p>
        </p:txBody>
      </p:sp>
      <p:sp>
        <p:nvSpPr>
          <p:cNvPr id="13" name="card"/>
          <p:cNvSpPr/>
          <p:nvPr/>
        </p:nvSpPr>
        <p:spPr>
          <a:xfrm>
            <a:off x="548640" y="3429000"/>
            <a:ext cx="2651760"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731520" y="3584448"/>
            <a:ext cx="420624" cy="420624"/>
          </a:xfrm>
          <a:prstGeom prst="ellipse">
            <a:avLst/>
          </a:prstGeom>
          <a:solidFill>
            <a:schemeClr val="accent1"/>
          </a:solidFill>
          <a:ln/>
        </p:spPr>
      </p:sp>
      <p:pic>
        <p:nvPicPr>
          <p:cNvPr id="15" name="Image 0" descr="Tractor icon">    </p:cNvPr>
          <p:cNvPicPr>
            <a:picLocks noChangeAspect="1"/>
          </p:cNvPicPr>
          <p:nvPr/>
        </p:nvPicPr>
        <p:blipFill>
          <a:blip r:embed="rId1"/>
          <a:stretch>
            <a:fillRect/>
          </a:stretch>
        </p:blipFill>
        <p:spPr>
          <a:xfrm>
            <a:off x="840882" y="3693810"/>
            <a:ext cx="201900" cy="201900"/>
          </a:xfrm>
          <a:prstGeom prst="rect">
            <a:avLst/>
          </a:prstGeom>
        </p:spPr>
      </p:pic>
      <p:sp>
        <p:nvSpPr>
          <p:cNvPr id="16" name="Text 12"/>
          <p:cNvSpPr txBox="1"/>
          <p:nvPr/>
        </p:nvSpPr>
        <p:spPr>
          <a:xfrm>
            <a:off x="1261872" y="35661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Agriculture</a:t>
            </a:r>
            <a:endParaRPr lang="en-US" sz="1600" dirty="0"/>
          </a:p>
        </p:txBody>
      </p:sp>
      <p:sp>
        <p:nvSpPr>
          <p:cNvPr id="17" name="Text 13"/>
          <p:cNvSpPr txBox="1"/>
          <p:nvPr/>
        </p:nvSpPr>
        <p:spPr>
          <a:xfrm>
            <a:off x="731520" y="4114800"/>
            <a:ext cx="2286000" cy="10058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Kharif sowing, crop choice, irrigation, agro-advisories</a:t>
            </a:r>
            <a:endParaRPr lang="en-US" sz="1300" dirty="0"/>
          </a:p>
        </p:txBody>
      </p:sp>
      <p:sp>
        <p:nvSpPr>
          <p:cNvPr id="18" name="card"/>
          <p:cNvSpPr/>
          <p:nvPr/>
        </p:nvSpPr>
        <p:spPr>
          <a:xfrm>
            <a:off x="3364992" y="3429000"/>
            <a:ext cx="2651760"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3547872" y="3584448"/>
            <a:ext cx="420624" cy="420624"/>
          </a:xfrm>
          <a:prstGeom prst="ellipse">
            <a:avLst/>
          </a:prstGeom>
          <a:solidFill>
            <a:schemeClr val="accent5"/>
          </a:solidFill>
          <a:ln/>
        </p:spPr>
      </p:sp>
      <p:pic>
        <p:nvPicPr>
          <p:cNvPr id="20" name="Image 1" descr="Water icon">    </p:cNvPr>
          <p:cNvPicPr>
            <a:picLocks noChangeAspect="1"/>
          </p:cNvPicPr>
          <p:nvPr/>
        </p:nvPicPr>
        <p:blipFill>
          <a:blip r:embed="rId2"/>
          <a:stretch>
            <a:fillRect/>
          </a:stretch>
        </p:blipFill>
        <p:spPr>
          <a:xfrm>
            <a:off x="3657234" y="3693810"/>
            <a:ext cx="201900" cy="201900"/>
          </a:xfrm>
          <a:prstGeom prst="rect">
            <a:avLst/>
          </a:prstGeom>
        </p:spPr>
      </p:pic>
      <p:sp>
        <p:nvSpPr>
          <p:cNvPr id="21" name="Text 16"/>
          <p:cNvSpPr txBox="1"/>
          <p:nvPr/>
        </p:nvSpPr>
        <p:spPr>
          <a:xfrm>
            <a:off x="4078224" y="35661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Water</a:t>
            </a:r>
            <a:endParaRPr lang="en-US" sz="1600" dirty="0"/>
          </a:p>
        </p:txBody>
      </p:sp>
      <p:sp>
        <p:nvSpPr>
          <p:cNvPr id="22" name="Text 17"/>
          <p:cNvSpPr txBox="1"/>
          <p:nvPr/>
        </p:nvSpPr>
        <p:spPr>
          <a:xfrm>
            <a:off x="3547872" y="4114800"/>
            <a:ext cx="2286000" cy="10058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Reservoir operations, drinking water, groundwater recharge</a:t>
            </a:r>
            <a:endParaRPr lang="en-US" sz="1300" dirty="0"/>
          </a:p>
        </p:txBody>
      </p:sp>
      <p:sp>
        <p:nvSpPr>
          <p:cNvPr id="23" name="card"/>
          <p:cNvSpPr/>
          <p:nvPr/>
        </p:nvSpPr>
        <p:spPr>
          <a:xfrm>
            <a:off x="6181344" y="3429000"/>
            <a:ext cx="2651760"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6364224" y="3584448"/>
            <a:ext cx="420624" cy="420624"/>
          </a:xfrm>
          <a:prstGeom prst="ellipse">
            <a:avLst/>
          </a:prstGeom>
          <a:solidFill>
            <a:schemeClr val="accent3"/>
          </a:solidFill>
          <a:ln/>
        </p:spPr>
      </p:sp>
      <p:pic>
        <p:nvPicPr>
          <p:cNvPr id="25" name="Image 2" descr="Bolt icon">    </p:cNvPr>
          <p:cNvPicPr>
            <a:picLocks noChangeAspect="1"/>
          </p:cNvPicPr>
          <p:nvPr/>
        </p:nvPicPr>
        <p:blipFill>
          <a:blip r:embed="rId3"/>
          <a:stretch>
            <a:fillRect/>
          </a:stretch>
        </p:blipFill>
        <p:spPr>
          <a:xfrm>
            <a:off x="6473586" y="3693810"/>
            <a:ext cx="201900" cy="201900"/>
          </a:xfrm>
          <a:prstGeom prst="rect">
            <a:avLst/>
          </a:prstGeom>
        </p:spPr>
      </p:pic>
      <p:sp>
        <p:nvSpPr>
          <p:cNvPr id="26" name="Text 20"/>
          <p:cNvSpPr txBox="1"/>
          <p:nvPr/>
        </p:nvSpPr>
        <p:spPr>
          <a:xfrm>
            <a:off x="6894576" y="35661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Energy</a:t>
            </a:r>
            <a:endParaRPr lang="en-US" sz="1600" dirty="0"/>
          </a:p>
        </p:txBody>
      </p:sp>
      <p:sp>
        <p:nvSpPr>
          <p:cNvPr id="27" name="Text 21"/>
          <p:cNvSpPr txBox="1"/>
          <p:nvPr/>
        </p:nvSpPr>
        <p:spPr>
          <a:xfrm>
            <a:off x="6364224" y="4114800"/>
            <a:ext cx="2286000" cy="10058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Hydropower and power demand planning</a:t>
            </a:r>
            <a:endParaRPr lang="en-US" sz="1300" dirty="0"/>
          </a:p>
        </p:txBody>
      </p:sp>
      <p:sp>
        <p:nvSpPr>
          <p:cNvPr id="28" name="card"/>
          <p:cNvSpPr/>
          <p:nvPr/>
        </p:nvSpPr>
        <p:spPr>
          <a:xfrm>
            <a:off x="8997696" y="3429000"/>
            <a:ext cx="2651760"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9180576" y="3584448"/>
            <a:ext cx="420624" cy="420624"/>
          </a:xfrm>
          <a:prstGeom prst="ellipse">
            <a:avLst/>
          </a:prstGeom>
          <a:solidFill>
            <a:schemeClr val="accent2"/>
          </a:solidFill>
          <a:ln/>
        </p:spPr>
      </p:sp>
      <p:pic>
        <p:nvPicPr>
          <p:cNvPr id="30" name="Image 3" descr="ExclamationTriangle icon">    </p:cNvPr>
          <p:cNvPicPr>
            <a:picLocks noChangeAspect="1"/>
          </p:cNvPicPr>
          <p:nvPr/>
        </p:nvPicPr>
        <p:blipFill>
          <a:blip r:embed="rId4"/>
          <a:stretch>
            <a:fillRect/>
          </a:stretch>
        </p:blipFill>
        <p:spPr>
          <a:xfrm>
            <a:off x="9289938" y="3693810"/>
            <a:ext cx="201900" cy="201900"/>
          </a:xfrm>
          <a:prstGeom prst="rect">
            <a:avLst/>
          </a:prstGeom>
        </p:spPr>
      </p:pic>
      <p:sp>
        <p:nvSpPr>
          <p:cNvPr id="31" name="Text 24"/>
          <p:cNvSpPr txBox="1"/>
          <p:nvPr/>
        </p:nvSpPr>
        <p:spPr>
          <a:xfrm>
            <a:off x="9710928" y="35661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Disasters</a:t>
            </a:r>
            <a:endParaRPr lang="en-US" sz="1600" dirty="0"/>
          </a:p>
        </p:txBody>
      </p:sp>
      <p:sp>
        <p:nvSpPr>
          <p:cNvPr id="32" name="Text 25"/>
          <p:cNvSpPr txBox="1"/>
          <p:nvPr/>
        </p:nvSpPr>
        <p:spPr>
          <a:xfrm>
            <a:off x="9180576" y="4114800"/>
            <a:ext cx="2286000" cy="10058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Floods, landslides, droughts, heat waves</a:t>
            </a:r>
            <a:endParaRPr lang="en-US" sz="1300" dirty="0"/>
          </a:p>
        </p:txBody>
      </p:sp>
      <p:sp>
        <p:nvSpPr>
          <p:cNvPr id="33" name="insight"/>
          <p:cNvSpPr/>
          <p:nvPr/>
        </p:nvSpPr>
        <p:spPr>
          <a:xfrm>
            <a:off x="548640" y="5440680"/>
            <a:ext cx="11094415" cy="731520"/>
          </a:xfrm>
          <a:prstGeom prst="roundRect">
            <a:avLst>
              <a:gd name="adj" fmla="val 10000"/>
            </a:avLst>
          </a:prstGeom>
          <a:solidFill>
            <a:schemeClr val="bg2"/>
          </a:solidFill>
          <a:ln/>
        </p:spPr>
      </p:sp>
      <p:sp>
        <p:nvSpPr>
          <p:cNvPr id="34" name="icon circle"/>
          <p:cNvSpPr/>
          <p:nvPr/>
        </p:nvSpPr>
        <p:spPr>
          <a:xfrm>
            <a:off x="685800" y="5568696"/>
            <a:ext cx="475488" cy="475488"/>
          </a:xfrm>
          <a:prstGeom prst="ellipse">
            <a:avLst/>
          </a:prstGeom>
          <a:solidFill>
            <a:schemeClr val="accent3"/>
          </a:solidFill>
          <a:ln/>
        </p:spPr>
      </p:sp>
      <p:pic>
        <p:nvPicPr>
          <p:cNvPr id="35" name="Image 4" descr="Lightbulb icon">    </p:cNvPr>
          <p:cNvPicPr>
            <a:picLocks noChangeAspect="1"/>
          </p:cNvPicPr>
          <p:nvPr/>
        </p:nvPicPr>
        <p:blipFill>
          <a:blip r:embed="rId5"/>
          <a:stretch>
            <a:fillRect/>
          </a:stretch>
        </p:blipFill>
        <p:spPr>
          <a:xfrm>
            <a:off x="809427" y="5692323"/>
            <a:ext cx="228234" cy="228234"/>
          </a:xfrm>
          <a:prstGeom prst="rect">
            <a:avLst/>
          </a:prstGeom>
        </p:spPr>
      </p:pic>
      <p:sp>
        <p:nvSpPr>
          <p:cNvPr id="36" name="Text 28"/>
          <p:cNvSpPr txBox="1"/>
          <p:nvPr/>
        </p:nvSpPr>
        <p:spPr>
          <a:xfrm>
            <a:off x="1325880" y="5477256"/>
            <a:ext cx="10180015" cy="658368"/>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Example:</a:t>
            </a:r>
            <a:r>
              <a:rPr lang="en-US" sz="1400" dirty="0">
                <a:solidFill>
                  <a:schemeClr val="tx1"/>
                </a:solidFill>
              </a:rPr>
              <a:t> the El Niño droughts of 2002, 2009 and 2015 cut kharif output; a forecast in April gives planners months to prepare seed, fodder, water and power.</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Life cycle of a monsoon season</a:t>
            </a:r>
            <a:endParaRPr lang="en-US" sz="3200" dirty="0"/>
          </a:p>
        </p:txBody>
      </p:sp>
      <p:sp>
        <p:nvSpPr>
          <p:cNvPr id="4" name="timeline"/>
          <p:cNvSpPr/>
          <p:nvPr/>
        </p:nvSpPr>
        <p:spPr>
          <a:xfrm>
            <a:off x="914400" y="2926080"/>
            <a:ext cx="10362895" cy="0"/>
          </a:xfrm>
          <a:prstGeom prst="line">
            <a:avLst/>
          </a:prstGeom>
          <a:noFill/>
          <a:ln w="50800">
            <a:solidFill>
              <a:srgbClr val="0E3B43"/>
            </a:solidFill>
            <a:prstDash val="solid"/>
          </a:ln>
        </p:spPr>
      </p:sp>
      <p:sp>
        <p:nvSpPr>
          <p:cNvPr id="5" name="milestone"/>
          <p:cNvSpPr/>
          <p:nvPr/>
        </p:nvSpPr>
        <p:spPr>
          <a:xfrm>
            <a:off x="713232" y="2724912"/>
            <a:ext cx="402336" cy="402336"/>
          </a:xfrm>
          <a:prstGeom prst="ellipse">
            <a:avLst/>
          </a:prstGeom>
          <a:solidFill>
            <a:schemeClr val="accent1"/>
          </a:solidFill>
          <a:ln w="25400">
            <a:solidFill>
              <a:srgbClr val="FFFFFF"/>
            </a:solidFill>
            <a:prstDash val="solid"/>
          </a:ln>
        </p:spPr>
      </p:sp>
      <p:sp>
        <p:nvSpPr>
          <p:cNvPr id="6" name="Text 3"/>
          <p:cNvSpPr txBox="1"/>
          <p:nvPr/>
        </p:nvSpPr>
        <p:spPr>
          <a:xfrm>
            <a:off x="713232" y="1874520"/>
            <a:ext cx="1737360" cy="457200"/>
          </a:xfrm>
          <a:prstGeom prst="rect">
            <a:avLst/>
          </a:prstGeom>
          <a:noFill/>
          <a:ln/>
        </p:spPr>
        <p:txBody>
          <a:bodyPr wrap="square" lIns="0" tIns="0" rIns="0" bIns="0" rtlCol="0" anchor="ctr"/>
          <a:lstStyle/>
          <a:p>
            <a:pPr algn="l" indent="0" marL="0">
              <a:buNone/>
            </a:pPr>
            <a:r>
              <a:rPr lang="en-US" sz="2000" b="1" dirty="0">
                <a:solidFill>
                  <a:schemeClr val="accent1"/>
                </a:solidFill>
              </a:rPr>
              <a:t>1 Jun</a:t>
            </a:r>
            <a:endParaRPr lang="en-US" sz="2000" dirty="0"/>
          </a:p>
        </p:txBody>
      </p:sp>
      <p:sp>
        <p:nvSpPr>
          <p:cNvPr id="7" name="Text 4"/>
          <p:cNvSpPr txBox="1"/>
          <p:nvPr/>
        </p:nvSpPr>
        <p:spPr>
          <a:xfrm>
            <a:off x="713232" y="3291840"/>
            <a:ext cx="1737360" cy="365760"/>
          </a:xfrm>
          <a:prstGeom prst="rect">
            <a:avLst/>
          </a:prstGeom>
          <a:noFill/>
          <a:ln/>
        </p:spPr>
        <p:txBody>
          <a:bodyPr wrap="square" lIns="0" tIns="0" rIns="0" bIns="0" rtlCol="0" anchor="ctr"/>
          <a:lstStyle/>
          <a:p>
            <a:pPr algn="l" indent="0" marL="0">
              <a:buNone/>
            </a:pPr>
            <a:r>
              <a:rPr lang="en-US" sz="1400" b="1" dirty="0">
                <a:solidFill>
                  <a:schemeClr val="tx2"/>
                </a:solidFill>
              </a:rPr>
              <a:t>Onset over Kerala</a:t>
            </a:r>
            <a:endParaRPr lang="en-US" sz="1400" dirty="0"/>
          </a:p>
        </p:txBody>
      </p:sp>
      <p:sp>
        <p:nvSpPr>
          <p:cNvPr id="8" name="Text 5"/>
          <p:cNvSpPr txBox="1"/>
          <p:nvPr/>
        </p:nvSpPr>
        <p:spPr>
          <a:xfrm>
            <a:off x="713232" y="3657600"/>
            <a:ext cx="1737360" cy="640080"/>
          </a:xfrm>
          <a:prstGeom prst="rect">
            <a:avLst/>
          </a:prstGeom>
          <a:noFill/>
          <a:ln/>
        </p:spPr>
        <p:txBody>
          <a:bodyPr wrap="square" lIns="0" tIns="0" rIns="0" bIns="0" rtlCol="0" anchor="t"/>
          <a:lstStyle/>
          <a:p>
            <a:pPr algn="l" indent="0" marL="0">
              <a:buNone/>
            </a:pPr>
            <a:r>
              <a:rPr lang="en-US" sz="1200" dirty="0">
                <a:solidFill>
                  <a:schemeClr val="tx1"/>
                </a:solidFill>
              </a:rPr>
              <a:t>normal date (±7 days)</a:t>
            </a:r>
            <a:endParaRPr lang="en-US" sz="1200" dirty="0"/>
          </a:p>
        </p:txBody>
      </p:sp>
      <p:sp>
        <p:nvSpPr>
          <p:cNvPr id="9" name="milestone"/>
          <p:cNvSpPr/>
          <p:nvPr/>
        </p:nvSpPr>
        <p:spPr>
          <a:xfrm>
            <a:off x="2785811" y="2724912"/>
            <a:ext cx="402336" cy="402336"/>
          </a:xfrm>
          <a:prstGeom prst="ellipse">
            <a:avLst/>
          </a:prstGeom>
          <a:solidFill>
            <a:schemeClr val="accent1"/>
          </a:solidFill>
          <a:ln w="25400">
            <a:solidFill>
              <a:srgbClr val="FFFFFF"/>
            </a:solidFill>
            <a:prstDash val="solid"/>
          </a:ln>
        </p:spPr>
      </p:sp>
      <p:sp>
        <p:nvSpPr>
          <p:cNvPr id="10" name="Text 7"/>
          <p:cNvSpPr txBox="1"/>
          <p:nvPr/>
        </p:nvSpPr>
        <p:spPr>
          <a:xfrm>
            <a:off x="2118299" y="1874520"/>
            <a:ext cx="1737360" cy="457200"/>
          </a:xfrm>
          <a:prstGeom prst="rect">
            <a:avLst/>
          </a:prstGeom>
          <a:noFill/>
          <a:ln/>
        </p:spPr>
        <p:txBody>
          <a:bodyPr wrap="square" lIns="0" tIns="0" rIns="0" bIns="0" rtlCol="0" anchor="ctr"/>
          <a:lstStyle/>
          <a:p>
            <a:pPr algn="ctr" indent="0" marL="0">
              <a:buNone/>
            </a:pPr>
            <a:r>
              <a:rPr lang="en-US" sz="2000" b="1" dirty="0">
                <a:solidFill>
                  <a:schemeClr val="accent1"/>
                </a:solidFill>
              </a:rPr>
              <a:t>mid-Jun</a:t>
            </a:r>
            <a:endParaRPr lang="en-US" sz="2000" dirty="0"/>
          </a:p>
        </p:txBody>
      </p:sp>
      <p:sp>
        <p:nvSpPr>
          <p:cNvPr id="11" name="Text 8"/>
          <p:cNvSpPr txBox="1"/>
          <p:nvPr/>
        </p:nvSpPr>
        <p:spPr>
          <a:xfrm>
            <a:off x="2118299" y="3291840"/>
            <a:ext cx="1737360" cy="365760"/>
          </a:xfrm>
          <a:prstGeom prst="rect">
            <a:avLst/>
          </a:prstGeom>
          <a:noFill/>
          <a:ln/>
        </p:spPr>
        <p:txBody>
          <a:bodyPr wrap="square" lIns="0" tIns="0" rIns="0" bIns="0" rtlCol="0" anchor="ctr"/>
          <a:lstStyle/>
          <a:p>
            <a:pPr algn="ctr" indent="0" marL="0">
              <a:buNone/>
            </a:pPr>
            <a:r>
              <a:rPr lang="en-US" sz="1400" b="1" dirty="0">
                <a:solidFill>
                  <a:schemeClr val="tx2"/>
                </a:solidFill>
              </a:rPr>
              <a:t>Advance</a:t>
            </a:r>
            <a:endParaRPr lang="en-US" sz="1400" dirty="0"/>
          </a:p>
        </p:txBody>
      </p:sp>
      <p:sp>
        <p:nvSpPr>
          <p:cNvPr id="12" name="Text 9"/>
          <p:cNvSpPr txBox="1"/>
          <p:nvPr/>
        </p:nvSpPr>
        <p:spPr>
          <a:xfrm>
            <a:off x="2118299" y="365760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covers peninsula, central &amp; east India</a:t>
            </a:r>
            <a:endParaRPr lang="en-US" sz="1200" dirty="0"/>
          </a:p>
        </p:txBody>
      </p:sp>
      <p:sp>
        <p:nvSpPr>
          <p:cNvPr id="13" name="milestone"/>
          <p:cNvSpPr/>
          <p:nvPr/>
        </p:nvSpPr>
        <p:spPr>
          <a:xfrm>
            <a:off x="4858390" y="2724912"/>
            <a:ext cx="402336" cy="402336"/>
          </a:xfrm>
          <a:prstGeom prst="ellipse">
            <a:avLst/>
          </a:prstGeom>
          <a:solidFill>
            <a:schemeClr val="accent5"/>
          </a:solidFill>
          <a:ln w="25400">
            <a:solidFill>
              <a:srgbClr val="FFFFFF"/>
            </a:solidFill>
            <a:prstDash val="solid"/>
          </a:ln>
        </p:spPr>
      </p:sp>
      <p:sp>
        <p:nvSpPr>
          <p:cNvPr id="14" name="Text 11"/>
          <p:cNvSpPr txBox="1"/>
          <p:nvPr/>
        </p:nvSpPr>
        <p:spPr>
          <a:xfrm>
            <a:off x="4190878" y="1874520"/>
            <a:ext cx="1737360" cy="457200"/>
          </a:xfrm>
          <a:prstGeom prst="rect">
            <a:avLst/>
          </a:prstGeom>
          <a:noFill/>
          <a:ln/>
        </p:spPr>
        <p:txBody>
          <a:bodyPr wrap="square" lIns="0" tIns="0" rIns="0" bIns="0" rtlCol="0" anchor="ctr"/>
          <a:lstStyle/>
          <a:p>
            <a:pPr algn="ctr" indent="0" marL="0">
              <a:buNone/>
            </a:pPr>
            <a:r>
              <a:rPr lang="en-US" sz="2000" b="1" dirty="0">
                <a:solidFill>
                  <a:schemeClr val="accent5"/>
                </a:solidFill>
              </a:rPr>
              <a:t>8 Jul</a:t>
            </a:r>
            <a:endParaRPr lang="en-US" sz="2000" dirty="0"/>
          </a:p>
        </p:txBody>
      </p:sp>
      <p:sp>
        <p:nvSpPr>
          <p:cNvPr id="15" name="Text 12"/>
          <p:cNvSpPr txBox="1"/>
          <p:nvPr/>
        </p:nvSpPr>
        <p:spPr>
          <a:xfrm>
            <a:off x="4190878" y="3291840"/>
            <a:ext cx="1737360" cy="365760"/>
          </a:xfrm>
          <a:prstGeom prst="rect">
            <a:avLst/>
          </a:prstGeom>
          <a:noFill/>
          <a:ln/>
        </p:spPr>
        <p:txBody>
          <a:bodyPr wrap="square" lIns="0" tIns="0" rIns="0" bIns="0" rtlCol="0" anchor="ctr"/>
          <a:lstStyle/>
          <a:p>
            <a:pPr algn="ctr" indent="0" marL="0">
              <a:buNone/>
            </a:pPr>
            <a:r>
              <a:rPr lang="en-US" sz="1400" b="1" dirty="0">
                <a:solidFill>
                  <a:schemeClr val="tx2"/>
                </a:solidFill>
              </a:rPr>
              <a:t>Covers all India</a:t>
            </a:r>
            <a:endParaRPr lang="en-US" sz="1400" dirty="0"/>
          </a:p>
        </p:txBody>
      </p:sp>
      <p:sp>
        <p:nvSpPr>
          <p:cNvPr id="16" name="Text 13"/>
          <p:cNvSpPr txBox="1"/>
          <p:nvPr/>
        </p:nvSpPr>
        <p:spPr>
          <a:xfrm>
            <a:off x="4190878" y="365760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including west Rajasthan</a:t>
            </a:r>
            <a:endParaRPr lang="en-US" sz="1200" dirty="0"/>
          </a:p>
        </p:txBody>
      </p:sp>
      <p:sp>
        <p:nvSpPr>
          <p:cNvPr id="17" name="milestone"/>
          <p:cNvSpPr/>
          <p:nvPr/>
        </p:nvSpPr>
        <p:spPr>
          <a:xfrm>
            <a:off x="6930969" y="2724912"/>
            <a:ext cx="402336" cy="402336"/>
          </a:xfrm>
          <a:prstGeom prst="ellipse">
            <a:avLst/>
          </a:prstGeom>
          <a:solidFill>
            <a:schemeClr val="accent4"/>
          </a:solidFill>
          <a:ln w="25400">
            <a:solidFill>
              <a:srgbClr val="FFFFFF"/>
            </a:solidFill>
            <a:prstDash val="solid"/>
          </a:ln>
        </p:spPr>
      </p:sp>
      <p:sp>
        <p:nvSpPr>
          <p:cNvPr id="18" name="Text 15"/>
          <p:cNvSpPr txBox="1"/>
          <p:nvPr/>
        </p:nvSpPr>
        <p:spPr>
          <a:xfrm>
            <a:off x="6263457" y="1874520"/>
            <a:ext cx="1737360" cy="457200"/>
          </a:xfrm>
          <a:prstGeom prst="rect">
            <a:avLst/>
          </a:prstGeom>
          <a:noFill/>
          <a:ln/>
        </p:spPr>
        <p:txBody>
          <a:bodyPr wrap="square" lIns="0" tIns="0" rIns="0" bIns="0" rtlCol="0" anchor="ctr"/>
          <a:lstStyle/>
          <a:p>
            <a:pPr algn="ctr" indent="0" marL="0">
              <a:buNone/>
            </a:pPr>
            <a:r>
              <a:rPr lang="en-US" sz="2000" b="1" dirty="0">
                <a:solidFill>
                  <a:schemeClr val="accent4"/>
                </a:solidFill>
              </a:rPr>
              <a:t>Jul–Aug</a:t>
            </a:r>
            <a:endParaRPr lang="en-US" sz="2000" dirty="0"/>
          </a:p>
        </p:txBody>
      </p:sp>
      <p:sp>
        <p:nvSpPr>
          <p:cNvPr id="19" name="Text 16"/>
          <p:cNvSpPr txBox="1"/>
          <p:nvPr/>
        </p:nvSpPr>
        <p:spPr>
          <a:xfrm>
            <a:off x="6263457" y="3291840"/>
            <a:ext cx="1737360" cy="365760"/>
          </a:xfrm>
          <a:prstGeom prst="rect">
            <a:avLst/>
          </a:prstGeom>
          <a:noFill/>
          <a:ln/>
        </p:spPr>
        <p:txBody>
          <a:bodyPr wrap="square" lIns="0" tIns="0" rIns="0" bIns="0" rtlCol="0" anchor="ctr"/>
          <a:lstStyle/>
          <a:p>
            <a:pPr algn="ctr" indent="0" marL="0">
              <a:buNone/>
            </a:pPr>
            <a:r>
              <a:rPr lang="en-US" sz="1400" b="1" dirty="0">
                <a:solidFill>
                  <a:schemeClr val="tx2"/>
                </a:solidFill>
              </a:rPr>
              <a:t>Peak</a:t>
            </a:r>
            <a:endParaRPr lang="en-US" sz="1400" dirty="0"/>
          </a:p>
        </p:txBody>
      </p:sp>
      <p:sp>
        <p:nvSpPr>
          <p:cNvPr id="20" name="Text 17"/>
          <p:cNvSpPr txBox="1"/>
          <p:nvPr/>
        </p:nvSpPr>
        <p:spPr>
          <a:xfrm>
            <a:off x="6263457" y="365760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active spells &amp; breaks; monsoon lows</a:t>
            </a:r>
            <a:endParaRPr lang="en-US" sz="1200" dirty="0"/>
          </a:p>
        </p:txBody>
      </p:sp>
      <p:sp>
        <p:nvSpPr>
          <p:cNvPr id="21" name="milestone"/>
          <p:cNvSpPr/>
          <p:nvPr/>
        </p:nvSpPr>
        <p:spPr>
          <a:xfrm>
            <a:off x="9003548" y="2724912"/>
            <a:ext cx="402336" cy="402336"/>
          </a:xfrm>
          <a:prstGeom prst="ellipse">
            <a:avLst/>
          </a:prstGeom>
          <a:solidFill>
            <a:schemeClr val="accent2"/>
          </a:solidFill>
          <a:ln w="25400">
            <a:solidFill>
              <a:srgbClr val="FFFFFF"/>
            </a:solidFill>
            <a:prstDash val="solid"/>
          </a:ln>
        </p:spPr>
      </p:sp>
      <p:sp>
        <p:nvSpPr>
          <p:cNvPr id="22" name="Text 19"/>
          <p:cNvSpPr txBox="1"/>
          <p:nvPr/>
        </p:nvSpPr>
        <p:spPr>
          <a:xfrm>
            <a:off x="8336036" y="1874520"/>
            <a:ext cx="1737360" cy="457200"/>
          </a:xfrm>
          <a:prstGeom prst="rect">
            <a:avLst/>
          </a:prstGeom>
          <a:noFill/>
          <a:ln/>
        </p:spPr>
        <p:txBody>
          <a:bodyPr wrap="square" lIns="0" tIns="0" rIns="0" bIns="0" rtlCol="0" anchor="ctr"/>
          <a:lstStyle/>
          <a:p>
            <a:pPr algn="ctr" indent="0" marL="0">
              <a:buNone/>
            </a:pPr>
            <a:r>
              <a:rPr lang="en-US" sz="2000" b="1" dirty="0">
                <a:solidFill>
                  <a:schemeClr val="accent2"/>
                </a:solidFill>
              </a:rPr>
              <a:t>17 Sep</a:t>
            </a:r>
            <a:endParaRPr lang="en-US" sz="2000" dirty="0"/>
          </a:p>
        </p:txBody>
      </p:sp>
      <p:sp>
        <p:nvSpPr>
          <p:cNvPr id="23" name="Text 20"/>
          <p:cNvSpPr txBox="1"/>
          <p:nvPr/>
        </p:nvSpPr>
        <p:spPr>
          <a:xfrm>
            <a:off x="8336036" y="3291840"/>
            <a:ext cx="1737360" cy="365760"/>
          </a:xfrm>
          <a:prstGeom prst="rect">
            <a:avLst/>
          </a:prstGeom>
          <a:noFill/>
          <a:ln/>
        </p:spPr>
        <p:txBody>
          <a:bodyPr wrap="square" lIns="0" tIns="0" rIns="0" bIns="0" rtlCol="0" anchor="ctr"/>
          <a:lstStyle/>
          <a:p>
            <a:pPr algn="ctr" indent="0" marL="0">
              <a:buNone/>
            </a:pPr>
            <a:r>
              <a:rPr lang="en-US" sz="1400" b="1" dirty="0">
                <a:solidFill>
                  <a:schemeClr val="tx2"/>
                </a:solidFill>
              </a:rPr>
              <a:t>Withdrawal starts</a:t>
            </a:r>
            <a:endParaRPr lang="en-US" sz="1400" dirty="0"/>
          </a:p>
        </p:txBody>
      </p:sp>
      <p:sp>
        <p:nvSpPr>
          <p:cNvPr id="24" name="Text 21"/>
          <p:cNvSpPr txBox="1"/>
          <p:nvPr/>
        </p:nvSpPr>
        <p:spPr>
          <a:xfrm>
            <a:off x="8336036" y="3657600"/>
            <a:ext cx="1737360" cy="640080"/>
          </a:xfrm>
          <a:prstGeom prst="rect">
            <a:avLst/>
          </a:prstGeom>
          <a:noFill/>
          <a:ln/>
        </p:spPr>
        <p:txBody>
          <a:bodyPr wrap="square" lIns="0" tIns="0" rIns="0" bIns="0" rtlCol="0" anchor="t"/>
          <a:lstStyle/>
          <a:p>
            <a:pPr algn="ctr" indent="0" marL="0">
              <a:buNone/>
            </a:pPr>
            <a:r>
              <a:rPr lang="en-US" sz="1200" dirty="0">
                <a:solidFill>
                  <a:schemeClr val="tx1"/>
                </a:solidFill>
              </a:rPr>
              <a:t>from north-west India</a:t>
            </a:r>
            <a:endParaRPr lang="en-US" sz="1200" dirty="0"/>
          </a:p>
        </p:txBody>
      </p:sp>
      <p:sp>
        <p:nvSpPr>
          <p:cNvPr id="25" name="milestone"/>
          <p:cNvSpPr/>
          <p:nvPr/>
        </p:nvSpPr>
        <p:spPr>
          <a:xfrm>
            <a:off x="11076127" y="2724912"/>
            <a:ext cx="402336" cy="402336"/>
          </a:xfrm>
          <a:prstGeom prst="ellipse">
            <a:avLst/>
          </a:prstGeom>
          <a:solidFill>
            <a:schemeClr val="accent2"/>
          </a:solidFill>
          <a:ln w="25400">
            <a:solidFill>
              <a:srgbClr val="FFFFFF"/>
            </a:solidFill>
            <a:prstDash val="solid"/>
          </a:ln>
        </p:spPr>
      </p:sp>
      <p:sp>
        <p:nvSpPr>
          <p:cNvPr id="26" name="Text 23"/>
          <p:cNvSpPr txBox="1"/>
          <p:nvPr/>
        </p:nvSpPr>
        <p:spPr>
          <a:xfrm>
            <a:off x="9741103" y="1874520"/>
            <a:ext cx="1737360" cy="457200"/>
          </a:xfrm>
          <a:prstGeom prst="rect">
            <a:avLst/>
          </a:prstGeom>
          <a:noFill/>
          <a:ln/>
        </p:spPr>
        <p:txBody>
          <a:bodyPr wrap="square" lIns="0" tIns="0" rIns="0" bIns="0" rtlCol="0" anchor="ctr"/>
          <a:lstStyle/>
          <a:p>
            <a:pPr algn="r" indent="0" marL="0">
              <a:buNone/>
            </a:pPr>
            <a:r>
              <a:rPr lang="en-US" sz="2000" b="1" dirty="0">
                <a:solidFill>
                  <a:schemeClr val="accent2"/>
                </a:solidFill>
              </a:rPr>
              <a:t>15 Oct</a:t>
            </a:r>
            <a:endParaRPr lang="en-US" sz="2000" dirty="0"/>
          </a:p>
        </p:txBody>
      </p:sp>
      <p:sp>
        <p:nvSpPr>
          <p:cNvPr id="27" name="Text 24"/>
          <p:cNvSpPr txBox="1"/>
          <p:nvPr/>
        </p:nvSpPr>
        <p:spPr>
          <a:xfrm>
            <a:off x="9741103" y="3291840"/>
            <a:ext cx="1737360" cy="365760"/>
          </a:xfrm>
          <a:prstGeom prst="rect">
            <a:avLst/>
          </a:prstGeom>
          <a:noFill/>
          <a:ln/>
        </p:spPr>
        <p:txBody>
          <a:bodyPr wrap="square" lIns="0" tIns="0" rIns="0" bIns="0" rtlCol="0" anchor="ctr"/>
          <a:lstStyle/>
          <a:p>
            <a:pPr algn="r" indent="0" marL="0">
              <a:buNone/>
            </a:pPr>
            <a:r>
              <a:rPr lang="en-US" sz="1400" b="1" dirty="0">
                <a:solidFill>
                  <a:schemeClr val="tx2"/>
                </a:solidFill>
              </a:rPr>
              <a:t>Withdrawal ends</a:t>
            </a:r>
            <a:endParaRPr lang="en-US" sz="1400" dirty="0"/>
          </a:p>
        </p:txBody>
      </p:sp>
      <p:sp>
        <p:nvSpPr>
          <p:cNvPr id="28" name="Text 25"/>
          <p:cNvSpPr txBox="1"/>
          <p:nvPr/>
        </p:nvSpPr>
        <p:spPr>
          <a:xfrm>
            <a:off x="9741103" y="3657600"/>
            <a:ext cx="1737360" cy="640080"/>
          </a:xfrm>
          <a:prstGeom prst="rect">
            <a:avLst/>
          </a:prstGeom>
          <a:noFill/>
          <a:ln/>
        </p:spPr>
        <p:txBody>
          <a:bodyPr wrap="square" lIns="0" tIns="0" rIns="0" bIns="0" rtlCol="0" anchor="t"/>
          <a:lstStyle/>
          <a:p>
            <a:pPr algn="r" indent="0" marL="0">
              <a:buNone/>
            </a:pPr>
            <a:r>
              <a:rPr lang="en-US" sz="1200" dirty="0">
                <a:solidFill>
                  <a:schemeClr val="tx1"/>
                </a:solidFill>
              </a:rPr>
              <a:t>north-east monsoon follows in the south</a:t>
            </a:r>
            <a:endParaRPr lang="en-US" sz="1200" dirty="0"/>
          </a:p>
        </p:txBody>
      </p:sp>
      <p:sp>
        <p:nvSpPr>
          <p:cNvPr id="29" name="Text 26"/>
          <p:cNvSpPr txBox="1"/>
          <p:nvPr/>
        </p:nvSpPr>
        <p:spPr>
          <a:xfrm>
            <a:off x="914400" y="1417320"/>
            <a:ext cx="1828800" cy="320040"/>
          </a:xfrm>
          <a:prstGeom prst="rect">
            <a:avLst/>
          </a:prstGeom>
          <a:noFill/>
          <a:ln/>
        </p:spPr>
        <p:txBody>
          <a:bodyPr wrap="square" lIns="0" tIns="0" rIns="0" bIns="0" rtlCol="0" anchor="ctr"/>
          <a:lstStyle/>
          <a:p>
            <a:pPr algn="l" indent="0" marL="0">
              <a:buNone/>
            </a:pPr>
            <a:r>
              <a:rPr lang="en-US" sz="1200" i="1" dirty="0">
                <a:solidFill>
                  <a:schemeClr val="accent6"/>
                </a:solidFill>
              </a:rPr>
              <a:t>June</a:t>
            </a:r>
            <a:endParaRPr lang="en-US" sz="1200" dirty="0"/>
          </a:p>
        </p:txBody>
      </p:sp>
      <p:sp>
        <p:nvSpPr>
          <p:cNvPr id="30" name="Text 27"/>
          <p:cNvSpPr txBox="1"/>
          <p:nvPr/>
        </p:nvSpPr>
        <p:spPr>
          <a:xfrm>
            <a:off x="9448495" y="1417320"/>
            <a:ext cx="1828800" cy="320040"/>
          </a:xfrm>
          <a:prstGeom prst="rect">
            <a:avLst/>
          </a:prstGeom>
          <a:noFill/>
          <a:ln/>
        </p:spPr>
        <p:txBody>
          <a:bodyPr wrap="square" lIns="0" tIns="0" rIns="0" bIns="0" rtlCol="0" anchor="ctr"/>
          <a:lstStyle/>
          <a:p>
            <a:pPr algn="r" indent="0" marL="0">
              <a:buNone/>
            </a:pPr>
            <a:r>
              <a:rPr lang="en-US" sz="1200" i="1" dirty="0">
                <a:solidFill>
                  <a:schemeClr val="accent6"/>
                </a:solidFill>
              </a:rPr>
              <a:t>October</a:t>
            </a:r>
            <a:endParaRPr lang="en-US" sz="1200" dirty="0"/>
          </a:p>
        </p:txBody>
      </p:sp>
      <p:sp>
        <p:nvSpPr>
          <p:cNvPr id="31" name="insight"/>
          <p:cNvSpPr/>
          <p:nvPr/>
        </p:nvSpPr>
        <p:spPr>
          <a:xfrm>
            <a:off x="548640" y="5257800"/>
            <a:ext cx="11094415" cy="914400"/>
          </a:xfrm>
          <a:prstGeom prst="roundRect">
            <a:avLst>
              <a:gd name="adj" fmla="val 8000"/>
            </a:avLst>
          </a:prstGeom>
          <a:solidFill>
            <a:schemeClr val="bg2"/>
          </a:solidFill>
          <a:ln/>
        </p:spPr>
      </p:sp>
      <p:sp>
        <p:nvSpPr>
          <p:cNvPr id="32" name="icon circle"/>
          <p:cNvSpPr/>
          <p:nvPr/>
        </p:nvSpPr>
        <p:spPr>
          <a:xfrm>
            <a:off x="685800" y="5477256"/>
            <a:ext cx="475488" cy="475488"/>
          </a:xfrm>
          <a:prstGeom prst="ellipse">
            <a:avLst/>
          </a:prstGeom>
          <a:solidFill>
            <a:schemeClr val="accent3"/>
          </a:solidFill>
          <a:ln/>
        </p:spPr>
      </p:sp>
      <p:pic>
        <p:nvPicPr>
          <p:cNvPr id="33" name="Image 0" descr="Lightbulb icon">    </p:cNvPr>
          <p:cNvPicPr>
            <a:picLocks noChangeAspect="1"/>
          </p:cNvPicPr>
          <p:nvPr/>
        </p:nvPicPr>
        <p:blipFill>
          <a:blip r:embed="rId1"/>
          <a:stretch>
            <a:fillRect/>
          </a:stretch>
        </p:blipFill>
        <p:spPr>
          <a:xfrm>
            <a:off x="809427" y="5600883"/>
            <a:ext cx="228234" cy="228234"/>
          </a:xfrm>
          <a:prstGeom prst="rect">
            <a:avLst/>
          </a:prstGeom>
        </p:spPr>
      </p:pic>
      <p:sp>
        <p:nvSpPr>
          <p:cNvPr id="34" name="Text 30"/>
          <p:cNvSpPr txBox="1"/>
          <p:nvPr/>
        </p:nvSpPr>
        <p:spPr>
          <a:xfrm>
            <a:off x="1325880" y="5294376"/>
            <a:ext cx="10180015" cy="841248"/>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What IMD forecasts along this cycle:</a:t>
            </a:r>
            <a:r>
              <a:rPr lang="en-US" sz="1400" dirty="0">
                <a:solidFill>
                  <a:schemeClr val="tx1"/>
                </a:solidFill>
              </a:rPr>
              <a:t> onset date over Kerala (mid-May), seasonal and monthly rainfall (April–August), weekly rainfall for 4 weeks (every Thursday), and daily weather up to 10 days.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controls a good or bad monsoon year?</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2"/>
          </a:solidFill>
          <a:ln/>
        </p:spPr>
      </p:sp>
      <p:pic>
        <p:nvPicPr>
          <p:cNvPr id="6" name="Image 0" descr="GlobeAsia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ENSO (Pacific)</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El Niño usually weakens the monsoon; La Niña favours good rain. The single strongest predictor.</a:t>
            </a:r>
            <a:endParaRPr lang="en-US" sz="1300" dirty="0"/>
          </a:p>
        </p:txBody>
      </p:sp>
      <p:sp>
        <p:nvSpPr>
          <p:cNvPr id="9" name="tag"/>
          <p:cNvSpPr/>
          <p:nvPr/>
        </p:nvSpPr>
        <p:spPr>
          <a:xfrm>
            <a:off x="2770632" y="3200400"/>
            <a:ext cx="1188720" cy="292608"/>
          </a:xfrm>
          <a:prstGeom prst="roundRect">
            <a:avLst>
              <a:gd name="adj" fmla="val 50000"/>
            </a:avLst>
          </a:prstGeom>
          <a:solidFill>
            <a:schemeClr val="accent1"/>
          </a:solidFill>
          <a:ln/>
        </p:spPr>
      </p:sp>
      <p:sp>
        <p:nvSpPr>
          <p:cNvPr id="10" name="Text 6"/>
          <p:cNvSpPr txBox="1"/>
          <p:nvPr/>
        </p:nvSpPr>
        <p:spPr>
          <a:xfrm>
            <a:off x="2770632" y="320040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seasonal</a:t>
            </a:r>
            <a:endParaRPr lang="en-US" sz="1100" dirty="0"/>
          </a:p>
        </p:txBody>
      </p:sp>
      <p:sp>
        <p:nvSpPr>
          <p:cNvPr id="11" name="card"/>
          <p:cNvSpPr/>
          <p:nvPr/>
        </p:nvSpPr>
        <p:spPr>
          <a:xfrm>
            <a:off x="429768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2" name="icon circle"/>
          <p:cNvSpPr/>
          <p:nvPr/>
        </p:nvSpPr>
        <p:spPr>
          <a:xfrm>
            <a:off x="4480560" y="1527048"/>
            <a:ext cx="420624" cy="420624"/>
          </a:xfrm>
          <a:prstGeom prst="ellipse">
            <a:avLst/>
          </a:prstGeom>
          <a:solidFill>
            <a:schemeClr val="accent5"/>
          </a:solidFill>
          <a:ln/>
        </p:spPr>
      </p:sp>
      <p:pic>
        <p:nvPicPr>
          <p:cNvPr id="13" name="Image 1" descr="Water icon">    </p:cNvPr>
          <p:cNvPicPr>
            <a:picLocks noChangeAspect="1"/>
          </p:cNvPicPr>
          <p:nvPr/>
        </p:nvPicPr>
        <p:blipFill>
          <a:blip r:embed="rId2"/>
          <a:stretch>
            <a:fillRect/>
          </a:stretch>
        </p:blipFill>
        <p:spPr>
          <a:xfrm>
            <a:off x="4589922" y="1636410"/>
            <a:ext cx="201900" cy="201900"/>
          </a:xfrm>
          <a:prstGeom prst="rect">
            <a:avLst/>
          </a:prstGeom>
        </p:spPr>
      </p:pic>
      <p:sp>
        <p:nvSpPr>
          <p:cNvPr id="14" name="Text 9"/>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Indian Ocean Dipole</a:t>
            </a:r>
            <a:endParaRPr lang="en-US" sz="1500" dirty="0"/>
          </a:p>
        </p:txBody>
      </p:sp>
      <p:sp>
        <p:nvSpPr>
          <p:cNvPr id="15" name="Text 10"/>
          <p:cNvSpPr txBox="1"/>
          <p:nvPr/>
        </p:nvSpPr>
        <p:spPr>
          <a:xfrm>
            <a:off x="448056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Positive IOD (warm west, cool east Indian Ocean) can offset El Niño, e.g. 1997, 2019.</a:t>
            </a:r>
            <a:endParaRPr lang="en-US" sz="1300" dirty="0"/>
          </a:p>
        </p:txBody>
      </p:sp>
      <p:sp>
        <p:nvSpPr>
          <p:cNvPr id="16" name="tag"/>
          <p:cNvSpPr/>
          <p:nvPr/>
        </p:nvSpPr>
        <p:spPr>
          <a:xfrm>
            <a:off x="6519672" y="3200400"/>
            <a:ext cx="1188720" cy="292608"/>
          </a:xfrm>
          <a:prstGeom prst="roundRect">
            <a:avLst>
              <a:gd name="adj" fmla="val 50000"/>
            </a:avLst>
          </a:prstGeom>
          <a:solidFill>
            <a:schemeClr val="accent1"/>
          </a:solidFill>
          <a:ln/>
        </p:spPr>
      </p:sp>
      <p:sp>
        <p:nvSpPr>
          <p:cNvPr id="17" name="Text 12"/>
          <p:cNvSpPr txBox="1"/>
          <p:nvPr/>
        </p:nvSpPr>
        <p:spPr>
          <a:xfrm>
            <a:off x="6519672" y="320040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seasonal</a:t>
            </a:r>
            <a:endParaRPr lang="en-US" sz="1100" dirty="0"/>
          </a:p>
        </p:txBody>
      </p:sp>
      <p:sp>
        <p:nvSpPr>
          <p:cNvPr id="18" name="card"/>
          <p:cNvSpPr/>
          <p:nvPr/>
        </p:nvSpPr>
        <p:spPr>
          <a:xfrm>
            <a:off x="804672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8229600" y="1527048"/>
            <a:ext cx="420624" cy="420624"/>
          </a:xfrm>
          <a:prstGeom prst="ellipse">
            <a:avLst/>
          </a:prstGeom>
          <a:solidFill>
            <a:schemeClr val="accent4"/>
          </a:solidFill>
          <a:ln/>
        </p:spPr>
      </p:sp>
      <p:pic>
        <p:nvPicPr>
          <p:cNvPr id="20" name="Image 2" descr="Snowflake icon">    </p:cNvPr>
          <p:cNvPicPr>
            <a:picLocks noChangeAspect="1"/>
          </p:cNvPicPr>
          <p:nvPr/>
        </p:nvPicPr>
        <p:blipFill>
          <a:blip r:embed="rId3"/>
          <a:stretch>
            <a:fillRect/>
          </a:stretch>
        </p:blipFill>
        <p:spPr>
          <a:xfrm>
            <a:off x="8338962" y="1636410"/>
            <a:ext cx="201900" cy="201900"/>
          </a:xfrm>
          <a:prstGeom prst="rect">
            <a:avLst/>
          </a:prstGeom>
        </p:spPr>
      </p:pic>
      <p:sp>
        <p:nvSpPr>
          <p:cNvPr id="21" name="Text 15"/>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Eurasian snow &amp; land</a:t>
            </a:r>
            <a:endParaRPr lang="en-US" sz="1500" dirty="0"/>
          </a:p>
        </p:txBody>
      </p:sp>
      <p:sp>
        <p:nvSpPr>
          <p:cNvPr id="22" name="Text 16"/>
          <p:cNvSpPr txBox="1"/>
          <p:nvPr/>
        </p:nvSpPr>
        <p:spPr>
          <a:xfrm>
            <a:off x="822960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More winter–spring snow → weaker land heating → weaker monsoon (Blanford's idea).</a:t>
            </a:r>
            <a:endParaRPr lang="en-US" sz="1300" dirty="0"/>
          </a:p>
        </p:txBody>
      </p:sp>
      <p:sp>
        <p:nvSpPr>
          <p:cNvPr id="23" name="tag"/>
          <p:cNvSpPr/>
          <p:nvPr/>
        </p:nvSpPr>
        <p:spPr>
          <a:xfrm>
            <a:off x="10268712" y="3200400"/>
            <a:ext cx="1188720" cy="292608"/>
          </a:xfrm>
          <a:prstGeom prst="roundRect">
            <a:avLst>
              <a:gd name="adj" fmla="val 50000"/>
            </a:avLst>
          </a:prstGeom>
          <a:solidFill>
            <a:schemeClr val="accent1"/>
          </a:solidFill>
          <a:ln/>
        </p:spPr>
      </p:sp>
      <p:sp>
        <p:nvSpPr>
          <p:cNvPr id="24" name="Text 18"/>
          <p:cNvSpPr txBox="1"/>
          <p:nvPr/>
        </p:nvSpPr>
        <p:spPr>
          <a:xfrm>
            <a:off x="10268712" y="320040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seasonal</a:t>
            </a:r>
            <a:endParaRPr lang="en-US" sz="1100" dirty="0"/>
          </a:p>
        </p:txBody>
      </p:sp>
      <p:sp>
        <p:nvSpPr>
          <p:cNvPr id="25" name="card"/>
          <p:cNvSpPr/>
          <p:nvPr/>
        </p:nvSpPr>
        <p:spPr>
          <a:xfrm>
            <a:off x="54864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6" name="icon circle"/>
          <p:cNvSpPr/>
          <p:nvPr/>
        </p:nvSpPr>
        <p:spPr>
          <a:xfrm>
            <a:off x="731520" y="3950208"/>
            <a:ext cx="420624" cy="420624"/>
          </a:xfrm>
          <a:prstGeom prst="ellipse">
            <a:avLst/>
          </a:prstGeom>
          <a:solidFill>
            <a:schemeClr val="accent1"/>
          </a:solidFill>
          <a:ln/>
        </p:spPr>
      </p:sp>
      <p:pic>
        <p:nvPicPr>
          <p:cNvPr id="27" name="Image 3" descr="Compass icon">    </p:cNvPr>
          <p:cNvPicPr>
            <a:picLocks noChangeAspect="1"/>
          </p:cNvPicPr>
          <p:nvPr/>
        </p:nvPicPr>
        <p:blipFill>
          <a:blip r:embed="rId4"/>
          <a:stretch>
            <a:fillRect/>
          </a:stretch>
        </p:blipFill>
        <p:spPr>
          <a:xfrm>
            <a:off x="840882" y="4059570"/>
            <a:ext cx="201900" cy="201900"/>
          </a:xfrm>
          <a:prstGeom prst="rect">
            <a:avLst/>
          </a:prstGeom>
        </p:spPr>
      </p:pic>
      <p:sp>
        <p:nvSpPr>
          <p:cNvPr id="28" name="Text 21"/>
          <p:cNvSpPr txBox="1"/>
          <p:nvPr/>
        </p:nvSpPr>
        <p:spPr>
          <a:xfrm>
            <a:off x="126187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Atlantic &amp; extratropics</a:t>
            </a:r>
            <a:endParaRPr lang="en-US" sz="1500" dirty="0"/>
          </a:p>
        </p:txBody>
      </p:sp>
      <p:sp>
        <p:nvSpPr>
          <p:cNvPr id="29" name="Text 22"/>
          <p:cNvSpPr txBox="1"/>
          <p:nvPr/>
        </p:nvSpPr>
        <p:spPr>
          <a:xfrm>
            <a:off x="73152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North Atlantic SST and Europe/East Asia pressure patterns act through teleconnections.</a:t>
            </a:r>
            <a:endParaRPr lang="en-US" sz="1300" dirty="0"/>
          </a:p>
        </p:txBody>
      </p:sp>
      <p:sp>
        <p:nvSpPr>
          <p:cNvPr id="30" name="tag"/>
          <p:cNvSpPr/>
          <p:nvPr/>
        </p:nvSpPr>
        <p:spPr>
          <a:xfrm>
            <a:off x="2770632" y="5623560"/>
            <a:ext cx="1188720" cy="292608"/>
          </a:xfrm>
          <a:prstGeom prst="roundRect">
            <a:avLst>
              <a:gd name="adj" fmla="val 50000"/>
            </a:avLst>
          </a:prstGeom>
          <a:solidFill>
            <a:schemeClr val="accent1"/>
          </a:solidFill>
          <a:ln/>
        </p:spPr>
      </p:sp>
      <p:sp>
        <p:nvSpPr>
          <p:cNvPr id="31" name="Text 24"/>
          <p:cNvSpPr txBox="1"/>
          <p:nvPr/>
        </p:nvSpPr>
        <p:spPr>
          <a:xfrm>
            <a:off x="2770632" y="562356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seasonal</a:t>
            </a:r>
            <a:endParaRPr lang="en-US" sz="1100" dirty="0"/>
          </a:p>
        </p:txBody>
      </p:sp>
      <p:sp>
        <p:nvSpPr>
          <p:cNvPr id="32" name="card"/>
          <p:cNvSpPr/>
          <p:nvPr/>
        </p:nvSpPr>
        <p:spPr>
          <a:xfrm>
            <a:off x="429768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3" name="icon circle"/>
          <p:cNvSpPr/>
          <p:nvPr/>
        </p:nvSpPr>
        <p:spPr>
          <a:xfrm>
            <a:off x="4480560" y="3950208"/>
            <a:ext cx="420624" cy="420624"/>
          </a:xfrm>
          <a:prstGeom prst="ellipse">
            <a:avLst/>
          </a:prstGeom>
          <a:solidFill>
            <a:schemeClr val="accent3"/>
          </a:solidFill>
          <a:ln/>
        </p:spPr>
      </p:sp>
      <p:pic>
        <p:nvPicPr>
          <p:cNvPr id="34" name="Image 4" descr="SyncAlt icon">    </p:cNvPr>
          <p:cNvPicPr>
            <a:picLocks noChangeAspect="1"/>
          </p:cNvPicPr>
          <p:nvPr/>
        </p:nvPicPr>
        <p:blipFill>
          <a:blip r:embed="rId5"/>
          <a:stretch>
            <a:fillRect/>
          </a:stretch>
        </p:blipFill>
        <p:spPr>
          <a:xfrm>
            <a:off x="4589922" y="4059570"/>
            <a:ext cx="201900" cy="201900"/>
          </a:xfrm>
          <a:prstGeom prst="rect">
            <a:avLst/>
          </a:prstGeom>
        </p:spPr>
      </p:pic>
      <p:sp>
        <p:nvSpPr>
          <p:cNvPr id="35" name="Text 27"/>
          <p:cNvSpPr txBox="1"/>
          <p:nvPr/>
        </p:nvSpPr>
        <p:spPr>
          <a:xfrm>
            <a:off x="501091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MJO / BSISO / MISO</a:t>
            </a:r>
            <a:endParaRPr lang="en-US" sz="1500" dirty="0"/>
          </a:p>
        </p:txBody>
      </p:sp>
      <p:sp>
        <p:nvSpPr>
          <p:cNvPr id="36" name="Text 28"/>
          <p:cNvSpPr txBox="1"/>
          <p:nvPr/>
        </p:nvSpPr>
        <p:spPr>
          <a:xfrm>
            <a:off x="448056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Northward-moving rain bands set active and break spells (30–60 day).</a:t>
            </a:r>
            <a:endParaRPr lang="en-US" sz="1300" dirty="0"/>
          </a:p>
        </p:txBody>
      </p:sp>
      <p:sp>
        <p:nvSpPr>
          <p:cNvPr id="37" name="tag"/>
          <p:cNvSpPr/>
          <p:nvPr/>
        </p:nvSpPr>
        <p:spPr>
          <a:xfrm>
            <a:off x="6519672" y="5623560"/>
            <a:ext cx="1188720" cy="292608"/>
          </a:xfrm>
          <a:prstGeom prst="roundRect">
            <a:avLst>
              <a:gd name="adj" fmla="val 50000"/>
            </a:avLst>
          </a:prstGeom>
          <a:solidFill>
            <a:schemeClr val="accent3"/>
          </a:solidFill>
          <a:ln/>
        </p:spPr>
      </p:sp>
      <p:sp>
        <p:nvSpPr>
          <p:cNvPr id="38" name="Text 30"/>
          <p:cNvSpPr txBox="1"/>
          <p:nvPr/>
        </p:nvSpPr>
        <p:spPr>
          <a:xfrm>
            <a:off x="6519672" y="562356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intraseasonal</a:t>
            </a:r>
            <a:endParaRPr lang="en-US" sz="1100" dirty="0"/>
          </a:p>
        </p:txBody>
      </p:sp>
      <p:sp>
        <p:nvSpPr>
          <p:cNvPr id="39" name="card"/>
          <p:cNvSpPr/>
          <p:nvPr/>
        </p:nvSpPr>
        <p:spPr>
          <a:xfrm>
            <a:off x="804672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40" name="icon circle"/>
          <p:cNvSpPr/>
          <p:nvPr/>
        </p:nvSpPr>
        <p:spPr>
          <a:xfrm>
            <a:off x="8229600" y="3950208"/>
            <a:ext cx="420624" cy="420624"/>
          </a:xfrm>
          <a:prstGeom prst="ellipse">
            <a:avLst/>
          </a:prstGeom>
          <a:solidFill>
            <a:schemeClr val="accent6"/>
          </a:solidFill>
          <a:ln/>
        </p:spPr>
      </p:sp>
      <p:pic>
        <p:nvPicPr>
          <p:cNvPr id="41" name="Image 5" descr="CloudShowersHeavy icon">    </p:cNvPr>
          <p:cNvPicPr>
            <a:picLocks noChangeAspect="1"/>
          </p:cNvPicPr>
          <p:nvPr/>
        </p:nvPicPr>
        <p:blipFill>
          <a:blip r:embed="rId6"/>
          <a:stretch>
            <a:fillRect/>
          </a:stretch>
        </p:blipFill>
        <p:spPr>
          <a:xfrm>
            <a:off x="8338962" y="4059570"/>
            <a:ext cx="201900" cy="201900"/>
          </a:xfrm>
          <a:prstGeom prst="rect">
            <a:avLst/>
          </a:prstGeom>
        </p:spPr>
      </p:pic>
      <p:sp>
        <p:nvSpPr>
          <p:cNvPr id="42" name="Text 33"/>
          <p:cNvSpPr txBox="1"/>
          <p:nvPr/>
        </p:nvSpPr>
        <p:spPr>
          <a:xfrm>
            <a:off x="875995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Low-pressure systems</a:t>
            </a:r>
            <a:endParaRPr lang="en-US" sz="1500" dirty="0"/>
          </a:p>
        </p:txBody>
      </p:sp>
      <p:sp>
        <p:nvSpPr>
          <p:cNvPr id="43" name="Text 34"/>
          <p:cNvSpPr txBox="1"/>
          <p:nvPr/>
        </p:nvSpPr>
        <p:spPr>
          <a:xfrm>
            <a:off x="822960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Bay of Bengal lows &amp; depressions bring most heavy-rain events in central India.</a:t>
            </a:r>
            <a:endParaRPr lang="en-US" sz="1300" dirty="0"/>
          </a:p>
        </p:txBody>
      </p:sp>
      <p:sp>
        <p:nvSpPr>
          <p:cNvPr id="44" name="tag"/>
          <p:cNvSpPr/>
          <p:nvPr/>
        </p:nvSpPr>
        <p:spPr>
          <a:xfrm>
            <a:off x="10268712" y="5623560"/>
            <a:ext cx="1188720" cy="292608"/>
          </a:xfrm>
          <a:prstGeom prst="roundRect">
            <a:avLst>
              <a:gd name="adj" fmla="val 50000"/>
            </a:avLst>
          </a:prstGeom>
          <a:solidFill>
            <a:schemeClr val="accent6"/>
          </a:solidFill>
          <a:ln/>
        </p:spPr>
      </p:sp>
      <p:sp>
        <p:nvSpPr>
          <p:cNvPr id="45" name="Text 36"/>
          <p:cNvSpPr txBox="1"/>
          <p:nvPr/>
        </p:nvSpPr>
        <p:spPr>
          <a:xfrm>
            <a:off x="10268712" y="562356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synoptic</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ENSO and IOD: the two big ocean levers</a:t>
            </a:r>
            <a:endParaRPr lang="en-US" sz="3200" dirty="0"/>
          </a:p>
        </p:txBody>
      </p:sp>
      <p:sp>
        <p:nvSpPr>
          <p:cNvPr id="4" name="card"/>
          <p:cNvSpPr/>
          <p:nvPr/>
        </p:nvSpPr>
        <p:spPr>
          <a:xfrm>
            <a:off x="548640" y="1371600"/>
            <a:ext cx="544068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77240" y="1463040"/>
            <a:ext cx="4983480" cy="411480"/>
          </a:xfrm>
          <a:prstGeom prst="rect">
            <a:avLst/>
          </a:prstGeom>
          <a:noFill/>
          <a:ln/>
        </p:spPr>
        <p:txBody>
          <a:bodyPr wrap="square" lIns="0" tIns="0" rIns="0" bIns="0" rtlCol="0" anchor="ctr"/>
          <a:lstStyle/>
          <a:p>
            <a:pPr algn="l" indent="0" marL="0">
              <a:buNone/>
            </a:pPr>
            <a:r>
              <a:rPr lang="en-US" sz="1800" b="1" dirty="0">
                <a:solidFill>
                  <a:schemeClr val="accent2"/>
                </a:solidFill>
              </a:rPr>
              <a:t>El Niño year</a:t>
            </a:r>
            <a:endParaRPr lang="en-US" sz="1800" dirty="0"/>
          </a:p>
        </p:txBody>
      </p:sp>
      <p:sp>
        <p:nvSpPr>
          <p:cNvPr id="6" name="diagram box"/>
          <p:cNvSpPr/>
          <p:nvPr/>
        </p:nvSpPr>
        <p:spPr>
          <a:xfrm>
            <a:off x="822960" y="2148840"/>
            <a:ext cx="2331720" cy="1051560"/>
          </a:xfrm>
          <a:prstGeom prst="roundRect">
            <a:avLst>
              <a:gd name="adj" fmla="val 6957"/>
            </a:avLst>
          </a:prstGeom>
          <a:solidFill>
            <a:schemeClr val="accent2"/>
          </a:solidFill>
          <a:ln/>
        </p:spPr>
      </p:sp>
      <p:sp>
        <p:nvSpPr>
          <p:cNvPr id="7" name="Text 4"/>
          <p:cNvSpPr txBox="1"/>
          <p:nvPr/>
        </p:nvSpPr>
        <p:spPr>
          <a:xfrm>
            <a:off x="822960" y="2148840"/>
            <a:ext cx="2331720" cy="1051560"/>
          </a:xfrm>
          <a:prstGeom prst="rect">
            <a:avLst/>
          </a:prstGeom>
          <a:noFill/>
          <a:ln/>
        </p:spPr>
        <p:txBody>
          <a:bodyPr wrap="square" lIns="508" tIns="508" rIns="508" bIns="508" rtlCol="0" anchor="ctr"/>
          <a:lstStyle/>
          <a:p>
            <a:pPr algn="ctr" indent="0" marL="0">
              <a:buNone/>
            </a:pPr>
            <a:r>
              <a:rPr lang="en-US" sz="1300" dirty="0">
                <a:solidFill>
                  <a:schemeClr val="bg1"/>
                </a:solidFill>
              </a:rPr>
              <a:t>Indian Ocean / India</a:t>
            </a:r>
            <a:endParaRPr lang="en-US" sz="1300" dirty="0"/>
          </a:p>
          <a:p>
            <a:pPr algn="ctr" indent="0" marL="0">
              <a:buNone/>
            </a:pPr>
            <a:r>
              <a:rPr lang="en-US" sz="1300" dirty="0">
                <a:solidFill>
                  <a:schemeClr val="bg1"/>
                </a:solidFill>
              </a:rPr>
              <a:t>sinking ↓ · less rain</a:t>
            </a:r>
            <a:endParaRPr lang="en-US" sz="1300" dirty="0"/>
          </a:p>
        </p:txBody>
      </p:sp>
      <p:sp>
        <p:nvSpPr>
          <p:cNvPr id="8" name="diagram box"/>
          <p:cNvSpPr/>
          <p:nvPr/>
        </p:nvSpPr>
        <p:spPr>
          <a:xfrm>
            <a:off x="3337560" y="2148840"/>
            <a:ext cx="2331720" cy="1051560"/>
          </a:xfrm>
          <a:prstGeom prst="roundRect">
            <a:avLst>
              <a:gd name="adj" fmla="val 6957"/>
            </a:avLst>
          </a:prstGeom>
          <a:solidFill>
            <a:schemeClr val="accent3"/>
          </a:solidFill>
          <a:ln/>
        </p:spPr>
      </p:sp>
      <p:sp>
        <p:nvSpPr>
          <p:cNvPr id="9" name="Text 6"/>
          <p:cNvSpPr txBox="1"/>
          <p:nvPr/>
        </p:nvSpPr>
        <p:spPr>
          <a:xfrm>
            <a:off x="3337560" y="2148840"/>
            <a:ext cx="2331720" cy="1051560"/>
          </a:xfrm>
          <a:prstGeom prst="rect">
            <a:avLst/>
          </a:prstGeom>
          <a:noFill/>
          <a:ln/>
        </p:spPr>
        <p:txBody>
          <a:bodyPr wrap="square" lIns="508" tIns="508" rIns="508" bIns="508" rtlCol="0" anchor="ctr"/>
          <a:lstStyle/>
          <a:p>
            <a:pPr algn="ctr" indent="0" marL="0">
              <a:buNone/>
            </a:pPr>
            <a:r>
              <a:rPr lang="en-US" sz="1300" dirty="0">
                <a:solidFill>
                  <a:schemeClr val="tx1"/>
                </a:solidFill>
              </a:rPr>
              <a:t>Central-east Pacific</a:t>
            </a:r>
            <a:endParaRPr lang="en-US" sz="1300" dirty="0"/>
          </a:p>
          <a:p>
            <a:pPr algn="ctr" indent="0" marL="0">
              <a:buNone/>
            </a:pPr>
            <a:r>
              <a:rPr lang="en-US" sz="1300" dirty="0">
                <a:solidFill>
                  <a:schemeClr val="tx1"/>
                </a:solidFill>
              </a:rPr>
              <a:t>warm SST · rising ↑</a:t>
            </a:r>
            <a:endParaRPr lang="en-US" sz="1300" dirty="0"/>
          </a:p>
        </p:txBody>
      </p:sp>
      <p:sp>
        <p:nvSpPr>
          <p:cNvPr id="10" name="arrow"/>
          <p:cNvSpPr/>
          <p:nvPr/>
        </p:nvSpPr>
        <p:spPr>
          <a:xfrm>
            <a:off x="3154680" y="2670048"/>
            <a:ext cx="182880" cy="0"/>
          </a:xfrm>
          <a:prstGeom prst="line">
            <a:avLst/>
          </a:prstGeom>
          <a:noFill/>
          <a:ln w="25400">
            <a:solidFill>
              <a:srgbClr val="0E3B43"/>
            </a:solidFill>
            <a:prstDash val="solid"/>
            <a:headEnd type="triangle"/>
            <a:tailEnd type="triangle"/>
          </a:ln>
        </p:spPr>
      </p:sp>
      <p:sp>
        <p:nvSpPr>
          <p:cNvPr id="11" name="Text 8"/>
          <p:cNvSpPr txBox="1"/>
          <p:nvPr/>
        </p:nvSpPr>
        <p:spPr>
          <a:xfrm>
            <a:off x="777240" y="3429000"/>
            <a:ext cx="4983480" cy="731520"/>
          </a:xfrm>
          <a:prstGeom prst="rect">
            <a:avLst/>
          </a:prstGeom>
          <a:noFill/>
          <a:ln/>
        </p:spPr>
        <p:txBody>
          <a:bodyPr wrap="square" lIns="0" tIns="0" rIns="0" bIns="0" rtlCol="0" anchor="t"/>
          <a:lstStyle/>
          <a:p>
            <a:pPr algn="l" indent="0" marL="0">
              <a:buNone/>
            </a:pPr>
            <a:r>
              <a:rPr lang="en-US" sz="1300" dirty="0">
                <a:solidFill>
                  <a:schemeClr val="tx1"/>
                </a:solidFill>
              </a:rPr>
              <a:t>Walker circulation shifts east → subsidence over India</a:t>
            </a:r>
            <a:endParaRPr lang="en-US" sz="1300" dirty="0"/>
          </a:p>
        </p:txBody>
      </p:sp>
      <p:sp>
        <p:nvSpPr>
          <p:cNvPr id="12" name="card"/>
          <p:cNvSpPr/>
          <p:nvPr/>
        </p:nvSpPr>
        <p:spPr>
          <a:xfrm>
            <a:off x="6199632" y="1371600"/>
            <a:ext cx="544068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13" name="Text 10"/>
          <p:cNvSpPr txBox="1"/>
          <p:nvPr/>
        </p:nvSpPr>
        <p:spPr>
          <a:xfrm>
            <a:off x="6428232" y="1463040"/>
            <a:ext cx="4983480" cy="411480"/>
          </a:xfrm>
          <a:prstGeom prst="rect">
            <a:avLst/>
          </a:prstGeom>
          <a:noFill/>
          <a:ln/>
        </p:spPr>
        <p:txBody>
          <a:bodyPr wrap="square" lIns="0" tIns="0" rIns="0" bIns="0" rtlCol="0" anchor="ctr"/>
          <a:lstStyle/>
          <a:p>
            <a:pPr algn="l" indent="0" marL="0">
              <a:buNone/>
            </a:pPr>
            <a:r>
              <a:rPr lang="en-US" sz="1800" b="1" dirty="0">
                <a:solidFill>
                  <a:schemeClr val="accent5"/>
                </a:solidFill>
              </a:rPr>
              <a:t>Positive IOD year</a:t>
            </a:r>
            <a:endParaRPr lang="en-US" sz="1800" dirty="0"/>
          </a:p>
        </p:txBody>
      </p:sp>
      <p:sp>
        <p:nvSpPr>
          <p:cNvPr id="14" name="diagram box"/>
          <p:cNvSpPr/>
          <p:nvPr/>
        </p:nvSpPr>
        <p:spPr>
          <a:xfrm>
            <a:off x="6473952" y="2148840"/>
            <a:ext cx="2331720" cy="1051560"/>
          </a:xfrm>
          <a:prstGeom prst="roundRect">
            <a:avLst>
              <a:gd name="adj" fmla="val 6957"/>
            </a:avLst>
          </a:prstGeom>
          <a:solidFill>
            <a:schemeClr val="accent3"/>
          </a:solidFill>
          <a:ln/>
        </p:spPr>
      </p:sp>
      <p:sp>
        <p:nvSpPr>
          <p:cNvPr id="15" name="Text 12"/>
          <p:cNvSpPr txBox="1"/>
          <p:nvPr/>
        </p:nvSpPr>
        <p:spPr>
          <a:xfrm>
            <a:off x="6473952" y="2148840"/>
            <a:ext cx="2331720" cy="1051560"/>
          </a:xfrm>
          <a:prstGeom prst="rect">
            <a:avLst/>
          </a:prstGeom>
          <a:noFill/>
          <a:ln/>
        </p:spPr>
        <p:txBody>
          <a:bodyPr wrap="square" lIns="508" tIns="508" rIns="508" bIns="508" rtlCol="0" anchor="ctr"/>
          <a:lstStyle/>
          <a:p>
            <a:pPr algn="ctr" indent="0" marL="0">
              <a:buNone/>
            </a:pPr>
            <a:r>
              <a:rPr lang="en-US" sz="1300" dirty="0">
                <a:solidFill>
                  <a:schemeClr val="tx1"/>
                </a:solidFill>
              </a:rPr>
              <a:t>West Indian Ocean</a:t>
            </a:r>
            <a:endParaRPr lang="en-US" sz="1300" dirty="0"/>
          </a:p>
          <a:p>
            <a:pPr algn="ctr" indent="0" marL="0">
              <a:buNone/>
            </a:pPr>
            <a:r>
              <a:rPr lang="en-US" sz="1300" dirty="0">
                <a:solidFill>
                  <a:schemeClr val="tx1"/>
                </a:solidFill>
              </a:rPr>
              <a:t>warm SST · rising ↑</a:t>
            </a:r>
            <a:endParaRPr lang="en-US" sz="1300" dirty="0"/>
          </a:p>
        </p:txBody>
      </p:sp>
      <p:sp>
        <p:nvSpPr>
          <p:cNvPr id="16" name="diagram box"/>
          <p:cNvSpPr/>
          <p:nvPr/>
        </p:nvSpPr>
        <p:spPr>
          <a:xfrm>
            <a:off x="8988552" y="2148840"/>
            <a:ext cx="2331720" cy="1051560"/>
          </a:xfrm>
          <a:prstGeom prst="roundRect">
            <a:avLst>
              <a:gd name="adj" fmla="val 6957"/>
            </a:avLst>
          </a:prstGeom>
          <a:solidFill>
            <a:schemeClr val="accent5"/>
          </a:solidFill>
          <a:ln/>
        </p:spPr>
      </p:sp>
      <p:sp>
        <p:nvSpPr>
          <p:cNvPr id="17" name="Text 14"/>
          <p:cNvSpPr txBox="1"/>
          <p:nvPr/>
        </p:nvSpPr>
        <p:spPr>
          <a:xfrm>
            <a:off x="8988552" y="2148840"/>
            <a:ext cx="2331720" cy="1051560"/>
          </a:xfrm>
          <a:prstGeom prst="rect">
            <a:avLst/>
          </a:prstGeom>
          <a:noFill/>
          <a:ln/>
        </p:spPr>
        <p:txBody>
          <a:bodyPr wrap="square" lIns="508" tIns="508" rIns="508" bIns="508" rtlCol="0" anchor="ctr"/>
          <a:lstStyle/>
          <a:p>
            <a:pPr algn="ctr" indent="0" marL="0">
              <a:buNone/>
            </a:pPr>
            <a:r>
              <a:rPr lang="en-US" sz="1300" dirty="0">
                <a:solidFill>
                  <a:schemeClr val="bg1"/>
                </a:solidFill>
              </a:rPr>
              <a:t>East Indian Ocean</a:t>
            </a:r>
            <a:endParaRPr lang="en-US" sz="1300" dirty="0"/>
          </a:p>
          <a:p>
            <a:pPr algn="ctr" indent="0" marL="0">
              <a:buNone/>
            </a:pPr>
            <a:r>
              <a:rPr lang="en-US" sz="1300" dirty="0">
                <a:solidFill>
                  <a:schemeClr val="bg1"/>
                </a:solidFill>
              </a:rPr>
              <a:t>cool SST · sinking ↓</a:t>
            </a:r>
            <a:endParaRPr lang="en-US" sz="1300" dirty="0"/>
          </a:p>
        </p:txBody>
      </p:sp>
      <p:sp>
        <p:nvSpPr>
          <p:cNvPr id="18" name="arrow"/>
          <p:cNvSpPr/>
          <p:nvPr/>
        </p:nvSpPr>
        <p:spPr>
          <a:xfrm>
            <a:off x="8805672" y="2670048"/>
            <a:ext cx="182880" cy="0"/>
          </a:xfrm>
          <a:prstGeom prst="line">
            <a:avLst/>
          </a:prstGeom>
          <a:noFill/>
          <a:ln w="25400">
            <a:solidFill>
              <a:srgbClr val="0E3B43"/>
            </a:solidFill>
            <a:prstDash val="solid"/>
            <a:headEnd type="triangle"/>
            <a:tailEnd type="triangle"/>
          </a:ln>
        </p:spPr>
      </p:sp>
      <p:sp>
        <p:nvSpPr>
          <p:cNvPr id="19" name="Text 16"/>
          <p:cNvSpPr txBox="1"/>
          <p:nvPr/>
        </p:nvSpPr>
        <p:spPr>
          <a:xfrm>
            <a:off x="6428232" y="3429000"/>
            <a:ext cx="4983480" cy="731520"/>
          </a:xfrm>
          <a:prstGeom prst="rect">
            <a:avLst/>
          </a:prstGeom>
          <a:noFill/>
          <a:ln/>
        </p:spPr>
        <p:txBody>
          <a:bodyPr wrap="square" lIns="0" tIns="0" rIns="0" bIns="0" rtlCol="0" anchor="t"/>
          <a:lstStyle/>
          <a:p>
            <a:pPr algn="l" indent="0" marL="0">
              <a:buNone/>
            </a:pPr>
            <a:r>
              <a:rPr lang="en-US" sz="1300" dirty="0">
                <a:solidFill>
                  <a:schemeClr val="tx1"/>
                </a:solidFill>
              </a:rPr>
              <a:t>More moisture &amp; convergence towards India</a:t>
            </a:r>
            <a:endParaRPr lang="en-US" sz="1300" dirty="0"/>
          </a:p>
        </p:txBody>
      </p:sp>
      <p:sp>
        <p:nvSpPr>
          <p:cNvPr id="20" name="Text 17"/>
          <p:cNvSpPr txBox="1"/>
          <p:nvPr/>
        </p:nvSpPr>
        <p:spPr>
          <a:xfrm>
            <a:off x="548640" y="4572000"/>
            <a:ext cx="7315200" cy="320040"/>
          </a:xfrm>
          <a:prstGeom prst="rect">
            <a:avLst/>
          </a:prstGeom>
          <a:noFill/>
          <a:ln/>
        </p:spPr>
        <p:txBody>
          <a:bodyPr wrap="square" lIns="0" tIns="0" rIns="0" bIns="0" rtlCol="0" anchor="ctr"/>
          <a:lstStyle/>
          <a:p>
            <a:pPr algn="l" indent="0" marL="0">
              <a:buNone/>
            </a:pPr>
            <a:r>
              <a:rPr lang="en-US" sz="1400" b="1" dirty="0">
                <a:solidFill>
                  <a:schemeClr val="tx2"/>
                </a:solidFill>
              </a:rPr>
              <a:t>Examples (all-India JJAS rainfall, % of LPA, approximate)</a:t>
            </a:r>
            <a:endParaRPr lang="en-US" sz="1400" dirty="0"/>
          </a:p>
        </p:txBody>
      </p:sp>
      <p:sp>
        <p:nvSpPr>
          <p:cNvPr id="21" name="card"/>
          <p:cNvSpPr/>
          <p:nvPr/>
        </p:nvSpPr>
        <p:spPr>
          <a:xfrm>
            <a:off x="548640" y="4983480"/>
            <a:ext cx="2103120" cy="1188720"/>
          </a:xfrm>
          <a:prstGeom prst="roundRect">
            <a:avLst>
              <a:gd name="adj" fmla="val 6154"/>
            </a:avLst>
          </a:prstGeom>
          <a:solidFill>
            <a:schemeClr val="accent2"/>
          </a:solidFill>
          <a:ln/>
          <a:effectLst>
            <a:outerShdw sx="100000" sy="100000" kx="0" ky="0" algn="bl" rotWithShape="0" blurRad="76200" dist="25400" dir="5400000">
              <a:srgbClr val="000000">
                <a:alpha val="14000"/>
              </a:srgbClr>
            </a:outerShdw>
          </a:effectLst>
        </p:spPr>
      </p:sp>
      <p:sp>
        <p:nvSpPr>
          <p:cNvPr id="22" name="Text 19"/>
          <p:cNvSpPr txBox="1"/>
          <p:nvPr/>
        </p:nvSpPr>
        <p:spPr>
          <a:xfrm>
            <a:off x="640080" y="5029200"/>
            <a:ext cx="1920240" cy="411480"/>
          </a:xfrm>
          <a:prstGeom prst="rect">
            <a:avLst/>
          </a:prstGeom>
          <a:noFill/>
          <a:ln/>
        </p:spPr>
        <p:txBody>
          <a:bodyPr wrap="square" lIns="0" tIns="0" rIns="0" bIns="0" rtlCol="0" anchor="ctr"/>
          <a:lstStyle/>
          <a:p>
            <a:pPr algn="ctr" indent="0" marL="0">
              <a:buNone/>
            </a:pPr>
            <a:r>
              <a:rPr lang="en-US" sz="1200" b="1" dirty="0">
                <a:solidFill>
                  <a:schemeClr val="bg1"/>
                </a:solidFill>
              </a:rPr>
              <a:t>2002 · El Niño</a:t>
            </a:r>
            <a:endParaRPr lang="en-US" sz="1200" dirty="0"/>
          </a:p>
        </p:txBody>
      </p:sp>
      <p:sp>
        <p:nvSpPr>
          <p:cNvPr id="23" name="Text 20"/>
          <p:cNvSpPr txBox="1"/>
          <p:nvPr/>
        </p:nvSpPr>
        <p:spPr>
          <a:xfrm>
            <a:off x="548640" y="5394960"/>
            <a:ext cx="2103120" cy="640080"/>
          </a:xfrm>
          <a:prstGeom prst="rect">
            <a:avLst/>
          </a:prstGeom>
          <a:noFill/>
          <a:ln/>
        </p:spPr>
        <p:txBody>
          <a:bodyPr wrap="square" lIns="0" tIns="0" rIns="0" bIns="0" rtlCol="0" anchor="ctr"/>
          <a:lstStyle/>
          <a:p>
            <a:pPr algn="ctr" indent="0" marL="0">
              <a:buNone/>
            </a:pPr>
            <a:r>
              <a:rPr lang="en-US" sz="2600" b="1" dirty="0">
                <a:solidFill>
                  <a:schemeClr val="bg1"/>
                </a:solidFill>
              </a:rPr>
              <a:t>81 %</a:t>
            </a:r>
            <a:endParaRPr lang="en-US" sz="2600" dirty="0"/>
          </a:p>
        </p:txBody>
      </p:sp>
      <p:sp>
        <p:nvSpPr>
          <p:cNvPr id="24" name="card"/>
          <p:cNvSpPr/>
          <p:nvPr/>
        </p:nvSpPr>
        <p:spPr>
          <a:xfrm>
            <a:off x="2788920" y="4983480"/>
            <a:ext cx="2103120" cy="1188720"/>
          </a:xfrm>
          <a:prstGeom prst="roundRect">
            <a:avLst>
              <a:gd name="adj" fmla="val 6154"/>
            </a:avLst>
          </a:prstGeom>
          <a:solidFill>
            <a:schemeClr val="accent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2880360" y="5029200"/>
            <a:ext cx="1920240" cy="411480"/>
          </a:xfrm>
          <a:prstGeom prst="rect">
            <a:avLst/>
          </a:prstGeom>
          <a:noFill/>
          <a:ln/>
        </p:spPr>
        <p:txBody>
          <a:bodyPr wrap="square" lIns="0" tIns="0" rIns="0" bIns="0" rtlCol="0" anchor="ctr"/>
          <a:lstStyle/>
          <a:p>
            <a:pPr algn="ctr" indent="0" marL="0">
              <a:buNone/>
            </a:pPr>
            <a:r>
              <a:rPr lang="en-US" sz="1200" b="1" dirty="0">
                <a:solidFill>
                  <a:schemeClr val="bg1"/>
                </a:solidFill>
              </a:rPr>
              <a:t>2009 · El Niño</a:t>
            </a:r>
            <a:endParaRPr lang="en-US" sz="1200" dirty="0"/>
          </a:p>
        </p:txBody>
      </p:sp>
      <p:sp>
        <p:nvSpPr>
          <p:cNvPr id="26" name="Text 23"/>
          <p:cNvSpPr txBox="1"/>
          <p:nvPr/>
        </p:nvSpPr>
        <p:spPr>
          <a:xfrm>
            <a:off x="2788920" y="5394960"/>
            <a:ext cx="2103120" cy="640080"/>
          </a:xfrm>
          <a:prstGeom prst="rect">
            <a:avLst/>
          </a:prstGeom>
          <a:noFill/>
          <a:ln/>
        </p:spPr>
        <p:txBody>
          <a:bodyPr wrap="square" lIns="0" tIns="0" rIns="0" bIns="0" rtlCol="0" anchor="ctr"/>
          <a:lstStyle/>
          <a:p>
            <a:pPr algn="ctr" indent="0" marL="0">
              <a:buNone/>
            </a:pPr>
            <a:r>
              <a:rPr lang="en-US" sz="2600" b="1" dirty="0">
                <a:solidFill>
                  <a:schemeClr val="bg1"/>
                </a:solidFill>
              </a:rPr>
              <a:t>78 %</a:t>
            </a:r>
            <a:endParaRPr lang="en-US" sz="2600" dirty="0"/>
          </a:p>
        </p:txBody>
      </p:sp>
      <p:sp>
        <p:nvSpPr>
          <p:cNvPr id="27" name="card"/>
          <p:cNvSpPr/>
          <p:nvPr/>
        </p:nvSpPr>
        <p:spPr>
          <a:xfrm>
            <a:off x="5029200" y="4983480"/>
            <a:ext cx="2103120" cy="1188720"/>
          </a:xfrm>
          <a:prstGeom prst="roundRect">
            <a:avLst>
              <a:gd name="adj" fmla="val 6154"/>
            </a:avLst>
          </a:prstGeom>
          <a:solidFill>
            <a:schemeClr val="accent2"/>
          </a:solidFill>
          <a:ln/>
          <a:effectLst>
            <a:outerShdw sx="100000" sy="100000" kx="0" ky="0" algn="bl" rotWithShape="0" blurRad="76200" dist="25400" dir="5400000">
              <a:srgbClr val="000000">
                <a:alpha val="14000"/>
              </a:srgbClr>
            </a:outerShdw>
          </a:effectLst>
        </p:spPr>
      </p:sp>
      <p:sp>
        <p:nvSpPr>
          <p:cNvPr id="28" name="Text 25"/>
          <p:cNvSpPr txBox="1"/>
          <p:nvPr/>
        </p:nvSpPr>
        <p:spPr>
          <a:xfrm>
            <a:off x="5120640" y="5029200"/>
            <a:ext cx="1920240" cy="411480"/>
          </a:xfrm>
          <a:prstGeom prst="rect">
            <a:avLst/>
          </a:prstGeom>
          <a:noFill/>
          <a:ln/>
        </p:spPr>
        <p:txBody>
          <a:bodyPr wrap="square" lIns="0" tIns="0" rIns="0" bIns="0" rtlCol="0" anchor="ctr"/>
          <a:lstStyle/>
          <a:p>
            <a:pPr algn="ctr" indent="0" marL="0">
              <a:buNone/>
            </a:pPr>
            <a:r>
              <a:rPr lang="en-US" sz="1200" b="1" dirty="0">
                <a:solidFill>
                  <a:schemeClr val="bg1"/>
                </a:solidFill>
              </a:rPr>
              <a:t>2015 · El Niño</a:t>
            </a:r>
            <a:endParaRPr lang="en-US" sz="1200" dirty="0"/>
          </a:p>
        </p:txBody>
      </p:sp>
      <p:sp>
        <p:nvSpPr>
          <p:cNvPr id="29" name="Text 26"/>
          <p:cNvSpPr txBox="1"/>
          <p:nvPr/>
        </p:nvSpPr>
        <p:spPr>
          <a:xfrm>
            <a:off x="5029200" y="5394960"/>
            <a:ext cx="2103120" cy="640080"/>
          </a:xfrm>
          <a:prstGeom prst="rect">
            <a:avLst/>
          </a:prstGeom>
          <a:noFill/>
          <a:ln/>
        </p:spPr>
        <p:txBody>
          <a:bodyPr wrap="square" lIns="0" tIns="0" rIns="0" bIns="0" rtlCol="0" anchor="ctr"/>
          <a:lstStyle/>
          <a:p>
            <a:pPr algn="ctr" indent="0" marL="0">
              <a:buNone/>
            </a:pPr>
            <a:r>
              <a:rPr lang="en-US" sz="2600" b="1" dirty="0">
                <a:solidFill>
                  <a:schemeClr val="bg1"/>
                </a:solidFill>
              </a:rPr>
              <a:t>86 %</a:t>
            </a:r>
            <a:endParaRPr lang="en-US" sz="2600" dirty="0"/>
          </a:p>
        </p:txBody>
      </p:sp>
      <p:sp>
        <p:nvSpPr>
          <p:cNvPr id="30" name="card"/>
          <p:cNvSpPr/>
          <p:nvPr/>
        </p:nvSpPr>
        <p:spPr>
          <a:xfrm>
            <a:off x="7269480" y="4983480"/>
            <a:ext cx="2103120" cy="1188720"/>
          </a:xfrm>
          <a:prstGeom prst="roundRect">
            <a:avLst>
              <a:gd name="adj" fmla="val 6154"/>
            </a:avLst>
          </a:prstGeom>
          <a:solidFill>
            <a:schemeClr val="accent5"/>
          </a:solidFill>
          <a:ln/>
          <a:effectLst>
            <a:outerShdw sx="100000" sy="100000" kx="0" ky="0" algn="bl" rotWithShape="0" blurRad="76200" dist="25400" dir="5400000">
              <a:srgbClr val="000000">
                <a:alpha val="14000"/>
              </a:srgbClr>
            </a:outerShdw>
          </a:effectLst>
        </p:spPr>
      </p:sp>
      <p:sp>
        <p:nvSpPr>
          <p:cNvPr id="31" name="Text 28"/>
          <p:cNvSpPr txBox="1"/>
          <p:nvPr/>
        </p:nvSpPr>
        <p:spPr>
          <a:xfrm>
            <a:off x="7360920" y="5029200"/>
            <a:ext cx="1920240" cy="411480"/>
          </a:xfrm>
          <a:prstGeom prst="rect">
            <a:avLst/>
          </a:prstGeom>
          <a:noFill/>
          <a:ln/>
        </p:spPr>
        <p:txBody>
          <a:bodyPr wrap="square" lIns="0" tIns="0" rIns="0" bIns="0" rtlCol="0" anchor="ctr"/>
          <a:lstStyle/>
          <a:p>
            <a:pPr algn="ctr" indent="0" marL="0">
              <a:buNone/>
            </a:pPr>
            <a:r>
              <a:rPr lang="en-US" sz="1200" b="1" dirty="0">
                <a:solidFill>
                  <a:schemeClr val="bg1"/>
                </a:solidFill>
              </a:rPr>
              <a:t>2019 · +IOD</a:t>
            </a:r>
            <a:endParaRPr lang="en-US" sz="1200" dirty="0"/>
          </a:p>
        </p:txBody>
      </p:sp>
      <p:sp>
        <p:nvSpPr>
          <p:cNvPr id="32" name="Text 29"/>
          <p:cNvSpPr txBox="1"/>
          <p:nvPr/>
        </p:nvSpPr>
        <p:spPr>
          <a:xfrm>
            <a:off x="7269480" y="5394960"/>
            <a:ext cx="2103120" cy="640080"/>
          </a:xfrm>
          <a:prstGeom prst="rect">
            <a:avLst/>
          </a:prstGeom>
          <a:noFill/>
          <a:ln/>
        </p:spPr>
        <p:txBody>
          <a:bodyPr wrap="square" lIns="0" tIns="0" rIns="0" bIns="0" rtlCol="0" anchor="ctr"/>
          <a:lstStyle/>
          <a:p>
            <a:pPr algn="ctr" indent="0" marL="0">
              <a:buNone/>
            </a:pPr>
            <a:r>
              <a:rPr lang="en-US" sz="2600" b="1" dirty="0">
                <a:solidFill>
                  <a:schemeClr val="bg1"/>
                </a:solidFill>
              </a:rPr>
              <a:t>110 %</a:t>
            </a:r>
            <a:endParaRPr lang="en-US" sz="2600" dirty="0"/>
          </a:p>
        </p:txBody>
      </p:sp>
      <p:sp>
        <p:nvSpPr>
          <p:cNvPr id="33" name="card"/>
          <p:cNvSpPr/>
          <p:nvPr/>
        </p:nvSpPr>
        <p:spPr>
          <a:xfrm>
            <a:off x="9509760" y="4983480"/>
            <a:ext cx="2103120" cy="1188720"/>
          </a:xfrm>
          <a:prstGeom prst="roundRect">
            <a:avLst>
              <a:gd name="adj" fmla="val 6154"/>
            </a:avLst>
          </a:prstGeom>
          <a:solidFill>
            <a:schemeClr val="accent2"/>
          </a:solidFill>
          <a:ln/>
          <a:effectLst>
            <a:outerShdw sx="100000" sy="100000" kx="0" ky="0" algn="bl" rotWithShape="0" blurRad="76200" dist="25400" dir="5400000">
              <a:srgbClr val="000000">
                <a:alpha val="14000"/>
              </a:srgbClr>
            </a:outerShdw>
          </a:effectLst>
        </p:spPr>
      </p:sp>
      <p:sp>
        <p:nvSpPr>
          <p:cNvPr id="34" name="Text 31"/>
          <p:cNvSpPr txBox="1"/>
          <p:nvPr/>
        </p:nvSpPr>
        <p:spPr>
          <a:xfrm>
            <a:off x="9601200" y="5029200"/>
            <a:ext cx="1920240" cy="411480"/>
          </a:xfrm>
          <a:prstGeom prst="rect">
            <a:avLst/>
          </a:prstGeom>
          <a:noFill/>
          <a:ln/>
        </p:spPr>
        <p:txBody>
          <a:bodyPr wrap="square" lIns="0" tIns="0" rIns="0" bIns="0" rtlCol="0" anchor="ctr"/>
          <a:lstStyle/>
          <a:p>
            <a:pPr algn="ctr" indent="0" marL="0">
              <a:buNone/>
            </a:pPr>
            <a:r>
              <a:rPr lang="en-US" sz="1200" b="1" dirty="0">
                <a:solidFill>
                  <a:schemeClr val="bg1"/>
                </a:solidFill>
              </a:rPr>
              <a:t>2026 · El Niño developing</a:t>
            </a:r>
            <a:endParaRPr lang="en-US" sz="1200" dirty="0"/>
          </a:p>
        </p:txBody>
      </p:sp>
      <p:sp>
        <p:nvSpPr>
          <p:cNvPr id="35" name="Text 32"/>
          <p:cNvSpPr txBox="1"/>
          <p:nvPr/>
        </p:nvSpPr>
        <p:spPr>
          <a:xfrm>
            <a:off x="9509760" y="5394960"/>
            <a:ext cx="2103120" cy="640080"/>
          </a:xfrm>
          <a:prstGeom prst="rect">
            <a:avLst/>
          </a:prstGeom>
          <a:noFill/>
          <a:ln/>
        </p:spPr>
        <p:txBody>
          <a:bodyPr wrap="square" lIns="0" tIns="0" rIns="0" bIns="0" rtlCol="0" anchor="ctr"/>
          <a:lstStyle/>
          <a:p>
            <a:pPr algn="ctr" indent="0" marL="0">
              <a:buNone/>
            </a:pPr>
            <a:r>
              <a:rPr lang="en-US" sz="2600" b="1" dirty="0">
                <a:solidFill>
                  <a:schemeClr val="bg1"/>
                </a:solidFill>
              </a:rPr>
              <a:t>≈ 87 %</a:t>
            </a:r>
            <a:endParaRPr lang="en-US" sz="26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History of IMD forecasts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Nearly 140 years of seasonal forecasting: from one snow-cover rule to statistical ensembles and coupled climate models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140 years of monsoon forecasting</a:t>
            </a:r>
            <a:endParaRPr lang="en-US" sz="3200" dirty="0"/>
          </a:p>
        </p:txBody>
      </p:sp>
      <p:sp>
        <p:nvSpPr>
          <p:cNvPr id="4" name="timeline"/>
          <p:cNvSpPr/>
          <p:nvPr/>
        </p:nvSpPr>
        <p:spPr>
          <a:xfrm>
            <a:off x="731520" y="3657600"/>
            <a:ext cx="10728655" cy="0"/>
          </a:xfrm>
          <a:prstGeom prst="line">
            <a:avLst/>
          </a:prstGeom>
          <a:noFill/>
          <a:ln w="38100">
            <a:solidFill>
              <a:srgbClr val="0E3B43"/>
            </a:solidFill>
            <a:prstDash val="solid"/>
          </a:ln>
        </p:spPr>
      </p:sp>
      <p:sp>
        <p:nvSpPr>
          <p:cNvPr id="5" name="milestone"/>
          <p:cNvSpPr/>
          <p:nvPr/>
        </p:nvSpPr>
        <p:spPr>
          <a:xfrm>
            <a:off x="594360" y="3520440"/>
            <a:ext cx="274320" cy="274320"/>
          </a:xfrm>
          <a:prstGeom prst="ellipse">
            <a:avLst/>
          </a:prstGeom>
          <a:solidFill>
            <a:schemeClr val="accent6"/>
          </a:solidFill>
          <a:ln w="25400">
            <a:solidFill>
              <a:srgbClr val="FFFFFF"/>
            </a:solidFill>
            <a:prstDash val="solid"/>
          </a:ln>
        </p:spPr>
      </p:sp>
      <p:sp>
        <p:nvSpPr>
          <p:cNvPr id="6" name="connector"/>
          <p:cNvSpPr/>
          <p:nvPr/>
        </p:nvSpPr>
        <p:spPr>
          <a:xfrm>
            <a:off x="731520" y="2834640"/>
            <a:ext cx="0" cy="685800"/>
          </a:xfrm>
          <a:prstGeom prst="line">
            <a:avLst/>
          </a:prstGeom>
          <a:noFill/>
          <a:ln w="12700">
            <a:solidFill>
              <a:srgbClr val="5F6C72"/>
            </a:solidFill>
            <a:prstDash val="solid"/>
          </a:ln>
        </p:spPr>
      </p:sp>
      <p:sp>
        <p:nvSpPr>
          <p:cNvPr id="7" name="Text 4"/>
          <p:cNvSpPr txBox="1"/>
          <p:nvPr/>
        </p:nvSpPr>
        <p:spPr>
          <a:xfrm>
            <a:off x="594360" y="2468880"/>
            <a:ext cx="1554480" cy="365760"/>
          </a:xfrm>
          <a:prstGeom prst="rect">
            <a:avLst/>
          </a:prstGeom>
          <a:noFill/>
          <a:ln/>
        </p:spPr>
        <p:txBody>
          <a:bodyPr wrap="square" lIns="0" tIns="0" rIns="0" bIns="0" rtlCol="0" anchor="ctr"/>
          <a:lstStyle/>
          <a:p>
            <a:pPr algn="l" indent="0" marL="0">
              <a:buNone/>
            </a:pPr>
            <a:r>
              <a:rPr lang="en-US" sz="1600" b="1" dirty="0">
                <a:solidFill>
                  <a:schemeClr val="accent6"/>
                </a:solidFill>
              </a:rPr>
              <a:t>1875</a:t>
            </a:r>
            <a:endParaRPr lang="en-US" sz="1600" dirty="0"/>
          </a:p>
        </p:txBody>
      </p:sp>
      <p:sp>
        <p:nvSpPr>
          <p:cNvPr id="8" name="Text 5"/>
          <p:cNvSpPr txBox="1"/>
          <p:nvPr/>
        </p:nvSpPr>
        <p:spPr>
          <a:xfrm>
            <a:off x="594360" y="1554480"/>
            <a:ext cx="1554480" cy="868680"/>
          </a:xfrm>
          <a:prstGeom prst="rect">
            <a:avLst/>
          </a:prstGeom>
          <a:noFill/>
          <a:ln/>
        </p:spPr>
        <p:txBody>
          <a:bodyPr wrap="square" lIns="0" tIns="0" rIns="0" bIns="0" rtlCol="0" anchor="b"/>
          <a:lstStyle/>
          <a:p>
            <a:pPr algn="l" indent="0" marL="0">
              <a:buNone/>
            </a:pPr>
            <a:r>
              <a:rPr lang="en-US" sz="1100" dirty="0">
                <a:solidFill>
                  <a:schemeClr val="tx1"/>
                </a:solidFill>
              </a:rPr>
              <a:t>IMD established</a:t>
            </a:r>
            <a:endParaRPr lang="en-US" sz="1100" dirty="0"/>
          </a:p>
        </p:txBody>
      </p:sp>
      <p:sp>
        <p:nvSpPr>
          <p:cNvPr id="9" name="milestone"/>
          <p:cNvSpPr/>
          <p:nvPr/>
        </p:nvSpPr>
        <p:spPr>
          <a:xfrm>
            <a:off x="1667226" y="3520440"/>
            <a:ext cx="274320" cy="274320"/>
          </a:xfrm>
          <a:prstGeom prst="ellipse">
            <a:avLst/>
          </a:prstGeom>
          <a:solidFill>
            <a:schemeClr val="accent6"/>
          </a:solidFill>
          <a:ln w="25400">
            <a:solidFill>
              <a:srgbClr val="FFFFFF"/>
            </a:solidFill>
            <a:prstDash val="solid"/>
          </a:ln>
        </p:spPr>
      </p:sp>
      <p:sp>
        <p:nvSpPr>
          <p:cNvPr id="10" name="connector"/>
          <p:cNvSpPr/>
          <p:nvPr/>
        </p:nvSpPr>
        <p:spPr>
          <a:xfrm>
            <a:off x="1804386" y="3794760"/>
            <a:ext cx="0" cy="685800"/>
          </a:xfrm>
          <a:prstGeom prst="line">
            <a:avLst/>
          </a:prstGeom>
          <a:noFill/>
          <a:ln w="12700">
            <a:solidFill>
              <a:srgbClr val="5F6C72"/>
            </a:solidFill>
            <a:prstDash val="solid"/>
          </a:ln>
        </p:spPr>
      </p:sp>
      <p:sp>
        <p:nvSpPr>
          <p:cNvPr id="11" name="Text 8"/>
          <p:cNvSpPr txBox="1"/>
          <p:nvPr/>
        </p:nvSpPr>
        <p:spPr>
          <a:xfrm>
            <a:off x="1027146" y="4526280"/>
            <a:ext cx="1554480" cy="365760"/>
          </a:xfrm>
          <a:prstGeom prst="rect">
            <a:avLst/>
          </a:prstGeom>
          <a:noFill/>
          <a:ln/>
        </p:spPr>
        <p:txBody>
          <a:bodyPr wrap="square" lIns="0" tIns="0" rIns="0" bIns="0" rtlCol="0" anchor="ctr"/>
          <a:lstStyle/>
          <a:p>
            <a:pPr algn="ctr" indent="0" marL="0">
              <a:buNone/>
            </a:pPr>
            <a:r>
              <a:rPr lang="en-US" sz="1600" b="1" dirty="0">
                <a:solidFill>
                  <a:schemeClr val="accent6"/>
                </a:solidFill>
              </a:rPr>
              <a:t>1886</a:t>
            </a:r>
            <a:endParaRPr lang="en-US" sz="1600" dirty="0"/>
          </a:p>
        </p:txBody>
      </p:sp>
      <p:sp>
        <p:nvSpPr>
          <p:cNvPr id="12" name="Text 9"/>
          <p:cNvSpPr txBox="1"/>
          <p:nvPr/>
        </p:nvSpPr>
        <p:spPr>
          <a:xfrm>
            <a:off x="1027146" y="4892040"/>
            <a:ext cx="1554480" cy="868680"/>
          </a:xfrm>
          <a:prstGeom prst="rect">
            <a:avLst/>
          </a:prstGeom>
          <a:noFill/>
          <a:ln/>
        </p:spPr>
        <p:txBody>
          <a:bodyPr wrap="square" lIns="0" tIns="0" rIns="0" bIns="0" rtlCol="0" anchor="t"/>
          <a:lstStyle/>
          <a:p>
            <a:pPr algn="ctr" indent="0" marL="0">
              <a:buNone/>
            </a:pPr>
            <a:r>
              <a:rPr lang="en-US" sz="1100" dirty="0">
                <a:solidFill>
                  <a:schemeClr val="tx1"/>
                </a:solidFill>
              </a:rPr>
              <a:t>Blanford: first forecast (Himalayan snow)</a:t>
            </a:r>
            <a:endParaRPr lang="en-US" sz="1100" dirty="0"/>
          </a:p>
        </p:txBody>
      </p:sp>
      <p:sp>
        <p:nvSpPr>
          <p:cNvPr id="13" name="milestone"/>
          <p:cNvSpPr/>
          <p:nvPr/>
        </p:nvSpPr>
        <p:spPr>
          <a:xfrm>
            <a:off x="2740091" y="3520440"/>
            <a:ext cx="274320" cy="274320"/>
          </a:xfrm>
          <a:prstGeom prst="ellipse">
            <a:avLst/>
          </a:prstGeom>
          <a:solidFill>
            <a:schemeClr val="accent6"/>
          </a:solidFill>
          <a:ln w="25400">
            <a:solidFill>
              <a:srgbClr val="FFFFFF"/>
            </a:solidFill>
            <a:prstDash val="solid"/>
          </a:ln>
        </p:spPr>
      </p:sp>
      <p:sp>
        <p:nvSpPr>
          <p:cNvPr id="14" name="connector"/>
          <p:cNvSpPr/>
          <p:nvPr/>
        </p:nvSpPr>
        <p:spPr>
          <a:xfrm>
            <a:off x="2877251" y="2834640"/>
            <a:ext cx="0" cy="685800"/>
          </a:xfrm>
          <a:prstGeom prst="line">
            <a:avLst/>
          </a:prstGeom>
          <a:noFill/>
          <a:ln w="12700">
            <a:solidFill>
              <a:srgbClr val="5F6C72"/>
            </a:solidFill>
            <a:prstDash val="solid"/>
          </a:ln>
        </p:spPr>
      </p:sp>
      <p:sp>
        <p:nvSpPr>
          <p:cNvPr id="15" name="Text 12"/>
          <p:cNvSpPr txBox="1"/>
          <p:nvPr/>
        </p:nvSpPr>
        <p:spPr>
          <a:xfrm>
            <a:off x="2100011" y="2468880"/>
            <a:ext cx="1554480" cy="365760"/>
          </a:xfrm>
          <a:prstGeom prst="rect">
            <a:avLst/>
          </a:prstGeom>
          <a:noFill/>
          <a:ln/>
        </p:spPr>
        <p:txBody>
          <a:bodyPr wrap="square" lIns="0" tIns="0" rIns="0" bIns="0" rtlCol="0" anchor="ctr"/>
          <a:lstStyle/>
          <a:p>
            <a:pPr algn="ctr" indent="0" marL="0">
              <a:buNone/>
            </a:pPr>
            <a:r>
              <a:rPr lang="en-US" sz="1600" b="1" dirty="0">
                <a:solidFill>
                  <a:schemeClr val="accent6"/>
                </a:solidFill>
              </a:rPr>
              <a:t>1904–24</a:t>
            </a:r>
            <a:endParaRPr lang="en-US" sz="1600" dirty="0"/>
          </a:p>
        </p:txBody>
      </p:sp>
      <p:sp>
        <p:nvSpPr>
          <p:cNvPr id="16" name="Text 13"/>
          <p:cNvSpPr txBox="1"/>
          <p:nvPr/>
        </p:nvSpPr>
        <p:spPr>
          <a:xfrm>
            <a:off x="2100011" y="1554480"/>
            <a:ext cx="1554480" cy="868680"/>
          </a:xfrm>
          <a:prstGeom prst="rect">
            <a:avLst/>
          </a:prstGeom>
          <a:noFill/>
          <a:ln/>
        </p:spPr>
        <p:txBody>
          <a:bodyPr wrap="square" lIns="0" tIns="0" rIns="0" bIns="0" rtlCol="0" anchor="b"/>
          <a:lstStyle/>
          <a:p>
            <a:pPr algn="ctr" indent="0" marL="0">
              <a:buNone/>
            </a:pPr>
            <a:r>
              <a:rPr lang="en-US" sz="1100" dirty="0">
                <a:solidFill>
                  <a:schemeClr val="tx1"/>
                </a:solidFill>
              </a:rPr>
              <a:t>Walker: correlations, Southern Oscillation</a:t>
            </a:r>
            <a:endParaRPr lang="en-US" sz="1100" dirty="0"/>
          </a:p>
        </p:txBody>
      </p:sp>
      <p:sp>
        <p:nvSpPr>
          <p:cNvPr id="17" name="milestone"/>
          <p:cNvSpPr/>
          <p:nvPr/>
        </p:nvSpPr>
        <p:spPr>
          <a:xfrm>
            <a:off x="3812957" y="3520440"/>
            <a:ext cx="274320" cy="274320"/>
          </a:xfrm>
          <a:prstGeom prst="ellipse">
            <a:avLst/>
          </a:prstGeom>
          <a:solidFill>
            <a:schemeClr val="accent6"/>
          </a:solidFill>
          <a:ln w="25400">
            <a:solidFill>
              <a:srgbClr val="FFFFFF"/>
            </a:solidFill>
            <a:prstDash val="solid"/>
          </a:ln>
        </p:spPr>
      </p:sp>
      <p:sp>
        <p:nvSpPr>
          <p:cNvPr id="18" name="connector"/>
          <p:cNvSpPr/>
          <p:nvPr/>
        </p:nvSpPr>
        <p:spPr>
          <a:xfrm>
            <a:off x="3950117" y="3794760"/>
            <a:ext cx="0" cy="685800"/>
          </a:xfrm>
          <a:prstGeom prst="line">
            <a:avLst/>
          </a:prstGeom>
          <a:noFill/>
          <a:ln w="12700">
            <a:solidFill>
              <a:srgbClr val="5F6C72"/>
            </a:solidFill>
            <a:prstDash val="solid"/>
          </a:ln>
        </p:spPr>
      </p:sp>
      <p:sp>
        <p:nvSpPr>
          <p:cNvPr id="19" name="Text 16"/>
          <p:cNvSpPr txBox="1"/>
          <p:nvPr/>
        </p:nvSpPr>
        <p:spPr>
          <a:xfrm>
            <a:off x="3172877" y="4526280"/>
            <a:ext cx="1554480" cy="365760"/>
          </a:xfrm>
          <a:prstGeom prst="rect">
            <a:avLst/>
          </a:prstGeom>
          <a:noFill/>
          <a:ln/>
        </p:spPr>
        <p:txBody>
          <a:bodyPr wrap="square" lIns="0" tIns="0" rIns="0" bIns="0" rtlCol="0" anchor="ctr"/>
          <a:lstStyle/>
          <a:p>
            <a:pPr algn="ctr" indent="0" marL="0">
              <a:buNone/>
            </a:pPr>
            <a:r>
              <a:rPr lang="en-US" sz="1600" b="1" dirty="0">
                <a:solidFill>
                  <a:schemeClr val="accent6"/>
                </a:solidFill>
              </a:rPr>
              <a:t>1988</a:t>
            </a:r>
            <a:endParaRPr lang="en-US" sz="1600" dirty="0"/>
          </a:p>
        </p:txBody>
      </p:sp>
      <p:sp>
        <p:nvSpPr>
          <p:cNvPr id="20" name="Text 17"/>
          <p:cNvSpPr txBox="1"/>
          <p:nvPr/>
        </p:nvSpPr>
        <p:spPr>
          <a:xfrm>
            <a:off x="3172877" y="4892040"/>
            <a:ext cx="1554480" cy="868680"/>
          </a:xfrm>
          <a:prstGeom prst="rect">
            <a:avLst/>
          </a:prstGeom>
          <a:noFill/>
          <a:ln/>
        </p:spPr>
        <p:txBody>
          <a:bodyPr wrap="square" lIns="0" tIns="0" rIns="0" bIns="0" rtlCol="0" anchor="t"/>
          <a:lstStyle/>
          <a:p>
            <a:pPr algn="ctr" indent="0" marL="0">
              <a:buNone/>
            </a:pPr>
            <a:r>
              <a:rPr lang="en-US" sz="1100" dirty="0">
                <a:solidFill>
                  <a:schemeClr val="tx1"/>
                </a:solidFill>
              </a:rPr>
              <a:t>16-parameter power regression model</a:t>
            </a:r>
            <a:endParaRPr lang="en-US" sz="1100" dirty="0"/>
          </a:p>
        </p:txBody>
      </p:sp>
      <p:sp>
        <p:nvSpPr>
          <p:cNvPr id="21" name="milestone"/>
          <p:cNvSpPr/>
          <p:nvPr/>
        </p:nvSpPr>
        <p:spPr>
          <a:xfrm>
            <a:off x="4885822" y="3520440"/>
            <a:ext cx="274320" cy="274320"/>
          </a:xfrm>
          <a:prstGeom prst="ellipse">
            <a:avLst/>
          </a:prstGeom>
          <a:solidFill>
            <a:schemeClr val="accent1"/>
          </a:solidFill>
          <a:ln w="25400">
            <a:solidFill>
              <a:srgbClr val="FFFFFF"/>
            </a:solidFill>
            <a:prstDash val="solid"/>
          </a:ln>
        </p:spPr>
      </p:sp>
      <p:sp>
        <p:nvSpPr>
          <p:cNvPr id="22" name="connector"/>
          <p:cNvSpPr/>
          <p:nvPr/>
        </p:nvSpPr>
        <p:spPr>
          <a:xfrm>
            <a:off x="5022982" y="2834640"/>
            <a:ext cx="0" cy="685800"/>
          </a:xfrm>
          <a:prstGeom prst="line">
            <a:avLst/>
          </a:prstGeom>
          <a:noFill/>
          <a:ln w="12700">
            <a:solidFill>
              <a:srgbClr val="5F6C72"/>
            </a:solidFill>
            <a:prstDash val="solid"/>
          </a:ln>
        </p:spPr>
      </p:sp>
      <p:sp>
        <p:nvSpPr>
          <p:cNvPr id="23" name="Text 20"/>
          <p:cNvSpPr txBox="1"/>
          <p:nvPr/>
        </p:nvSpPr>
        <p:spPr>
          <a:xfrm>
            <a:off x="4245742" y="2468880"/>
            <a:ext cx="1554480" cy="365760"/>
          </a:xfrm>
          <a:prstGeom prst="rect">
            <a:avLst/>
          </a:prstGeom>
          <a:noFill/>
          <a:ln/>
        </p:spPr>
        <p:txBody>
          <a:bodyPr wrap="square" lIns="0" tIns="0" rIns="0" bIns="0" rtlCol="0" anchor="ctr"/>
          <a:lstStyle/>
          <a:p>
            <a:pPr algn="ctr" indent="0" marL="0">
              <a:buNone/>
            </a:pPr>
            <a:r>
              <a:rPr lang="en-US" sz="1600" b="1" dirty="0">
                <a:solidFill>
                  <a:schemeClr val="accent1"/>
                </a:solidFill>
              </a:rPr>
              <a:t>2003</a:t>
            </a:r>
            <a:endParaRPr lang="en-US" sz="1600" dirty="0"/>
          </a:p>
        </p:txBody>
      </p:sp>
      <p:sp>
        <p:nvSpPr>
          <p:cNvPr id="24" name="Text 21"/>
          <p:cNvSpPr txBox="1"/>
          <p:nvPr/>
        </p:nvSpPr>
        <p:spPr>
          <a:xfrm>
            <a:off x="4245742" y="1554480"/>
            <a:ext cx="1554480" cy="868680"/>
          </a:xfrm>
          <a:prstGeom prst="rect">
            <a:avLst/>
          </a:prstGeom>
          <a:noFill/>
          <a:ln/>
        </p:spPr>
        <p:txBody>
          <a:bodyPr wrap="square" lIns="0" tIns="0" rIns="0" bIns="0" rtlCol="0" anchor="b"/>
          <a:lstStyle/>
          <a:p>
            <a:pPr algn="ctr" indent="0" marL="0">
              <a:buNone/>
            </a:pPr>
            <a:r>
              <a:rPr lang="en-US" sz="1100" dirty="0">
                <a:solidFill>
                  <a:schemeClr val="tx1"/>
                </a:solidFill>
              </a:rPr>
              <a:t>8- &amp; 10-parameter models; two-stage forecast</a:t>
            </a:r>
            <a:endParaRPr lang="en-US" sz="1100" dirty="0"/>
          </a:p>
        </p:txBody>
      </p:sp>
      <p:sp>
        <p:nvSpPr>
          <p:cNvPr id="25" name="milestone"/>
          <p:cNvSpPr/>
          <p:nvPr/>
        </p:nvSpPr>
        <p:spPr>
          <a:xfrm>
            <a:off x="5958688" y="3520440"/>
            <a:ext cx="274320" cy="274320"/>
          </a:xfrm>
          <a:prstGeom prst="ellipse">
            <a:avLst/>
          </a:prstGeom>
          <a:solidFill>
            <a:schemeClr val="accent1"/>
          </a:solidFill>
          <a:ln w="25400">
            <a:solidFill>
              <a:srgbClr val="FFFFFF"/>
            </a:solidFill>
            <a:prstDash val="solid"/>
          </a:ln>
        </p:spPr>
      </p:sp>
      <p:sp>
        <p:nvSpPr>
          <p:cNvPr id="26" name="connector"/>
          <p:cNvSpPr/>
          <p:nvPr/>
        </p:nvSpPr>
        <p:spPr>
          <a:xfrm>
            <a:off x="6095848" y="3794760"/>
            <a:ext cx="0" cy="685800"/>
          </a:xfrm>
          <a:prstGeom prst="line">
            <a:avLst/>
          </a:prstGeom>
          <a:noFill/>
          <a:ln w="12700">
            <a:solidFill>
              <a:srgbClr val="5F6C72"/>
            </a:solidFill>
            <a:prstDash val="solid"/>
          </a:ln>
        </p:spPr>
      </p:sp>
      <p:sp>
        <p:nvSpPr>
          <p:cNvPr id="27" name="Text 24"/>
          <p:cNvSpPr txBox="1"/>
          <p:nvPr/>
        </p:nvSpPr>
        <p:spPr>
          <a:xfrm>
            <a:off x="5318608" y="4526280"/>
            <a:ext cx="1554480" cy="365760"/>
          </a:xfrm>
          <a:prstGeom prst="rect">
            <a:avLst/>
          </a:prstGeom>
          <a:noFill/>
          <a:ln/>
        </p:spPr>
        <p:txBody>
          <a:bodyPr wrap="square" lIns="0" tIns="0" rIns="0" bIns="0" rtlCol="0" anchor="ctr"/>
          <a:lstStyle/>
          <a:p>
            <a:pPr algn="ctr" indent="0" marL="0">
              <a:buNone/>
            </a:pPr>
            <a:r>
              <a:rPr lang="en-US" sz="1600" b="1" dirty="0">
                <a:solidFill>
                  <a:schemeClr val="accent1"/>
                </a:solidFill>
              </a:rPr>
              <a:t>2007</a:t>
            </a:r>
            <a:endParaRPr lang="en-US" sz="1600" dirty="0"/>
          </a:p>
        </p:txBody>
      </p:sp>
      <p:sp>
        <p:nvSpPr>
          <p:cNvPr id="28" name="Text 25"/>
          <p:cNvSpPr txBox="1"/>
          <p:nvPr/>
        </p:nvSpPr>
        <p:spPr>
          <a:xfrm>
            <a:off x="5318608" y="4892040"/>
            <a:ext cx="1554480" cy="868680"/>
          </a:xfrm>
          <a:prstGeom prst="rect">
            <a:avLst/>
          </a:prstGeom>
          <a:noFill/>
          <a:ln/>
        </p:spPr>
        <p:txBody>
          <a:bodyPr wrap="square" lIns="0" tIns="0" rIns="0" bIns="0" rtlCol="0" anchor="t"/>
          <a:lstStyle/>
          <a:p>
            <a:pPr algn="ctr" indent="0" marL="0">
              <a:buNone/>
            </a:pPr>
            <a:r>
              <a:rPr lang="en-US" sz="1100" dirty="0">
                <a:solidFill>
                  <a:schemeClr val="tx1"/>
                </a:solidFill>
              </a:rPr>
              <a:t>Statistical Ensemble Forecasting System</a:t>
            </a:r>
            <a:endParaRPr lang="en-US" sz="1100" dirty="0"/>
          </a:p>
        </p:txBody>
      </p:sp>
      <p:sp>
        <p:nvSpPr>
          <p:cNvPr id="29" name="milestone"/>
          <p:cNvSpPr/>
          <p:nvPr/>
        </p:nvSpPr>
        <p:spPr>
          <a:xfrm>
            <a:off x="7031553" y="3520440"/>
            <a:ext cx="274320" cy="274320"/>
          </a:xfrm>
          <a:prstGeom prst="ellipse">
            <a:avLst/>
          </a:prstGeom>
          <a:solidFill>
            <a:schemeClr val="accent1"/>
          </a:solidFill>
          <a:ln w="25400">
            <a:solidFill>
              <a:srgbClr val="FFFFFF"/>
            </a:solidFill>
            <a:prstDash val="solid"/>
          </a:ln>
        </p:spPr>
      </p:sp>
      <p:sp>
        <p:nvSpPr>
          <p:cNvPr id="30" name="connector"/>
          <p:cNvSpPr/>
          <p:nvPr/>
        </p:nvSpPr>
        <p:spPr>
          <a:xfrm>
            <a:off x="7168713" y="2834640"/>
            <a:ext cx="0" cy="685800"/>
          </a:xfrm>
          <a:prstGeom prst="line">
            <a:avLst/>
          </a:prstGeom>
          <a:noFill/>
          <a:ln w="12700">
            <a:solidFill>
              <a:srgbClr val="5F6C72"/>
            </a:solidFill>
            <a:prstDash val="solid"/>
          </a:ln>
        </p:spPr>
      </p:sp>
      <p:sp>
        <p:nvSpPr>
          <p:cNvPr id="31" name="Text 28"/>
          <p:cNvSpPr txBox="1"/>
          <p:nvPr/>
        </p:nvSpPr>
        <p:spPr>
          <a:xfrm>
            <a:off x="6391473" y="2468880"/>
            <a:ext cx="1554480" cy="365760"/>
          </a:xfrm>
          <a:prstGeom prst="rect">
            <a:avLst/>
          </a:prstGeom>
          <a:noFill/>
          <a:ln/>
        </p:spPr>
        <p:txBody>
          <a:bodyPr wrap="square" lIns="0" tIns="0" rIns="0" bIns="0" rtlCol="0" anchor="ctr"/>
          <a:lstStyle/>
          <a:p>
            <a:pPr algn="ctr" indent="0" marL="0">
              <a:buNone/>
            </a:pPr>
            <a:r>
              <a:rPr lang="en-US" sz="1600" b="1" dirty="0">
                <a:solidFill>
                  <a:schemeClr val="accent1"/>
                </a:solidFill>
              </a:rPr>
              <a:t>2012</a:t>
            </a:r>
            <a:endParaRPr lang="en-US" sz="1600" dirty="0"/>
          </a:p>
        </p:txBody>
      </p:sp>
      <p:sp>
        <p:nvSpPr>
          <p:cNvPr id="32" name="Text 29"/>
          <p:cNvSpPr txBox="1"/>
          <p:nvPr/>
        </p:nvSpPr>
        <p:spPr>
          <a:xfrm>
            <a:off x="6391473" y="1554480"/>
            <a:ext cx="1554480" cy="868680"/>
          </a:xfrm>
          <a:prstGeom prst="rect">
            <a:avLst/>
          </a:prstGeom>
          <a:noFill/>
          <a:ln/>
        </p:spPr>
        <p:txBody>
          <a:bodyPr wrap="square" lIns="0" tIns="0" rIns="0" bIns="0" rtlCol="0" anchor="b"/>
          <a:lstStyle/>
          <a:p>
            <a:pPr algn="ctr" indent="0" marL="0">
              <a:buNone/>
            </a:pPr>
            <a:r>
              <a:rPr lang="en-US" sz="1100" dirty="0">
                <a:solidFill>
                  <a:schemeClr val="tx1"/>
                </a:solidFill>
              </a:rPr>
              <a:t>Monsoon Mission launched (CFSv2)</a:t>
            </a:r>
            <a:endParaRPr lang="en-US" sz="1100" dirty="0"/>
          </a:p>
        </p:txBody>
      </p:sp>
      <p:sp>
        <p:nvSpPr>
          <p:cNvPr id="33" name="milestone"/>
          <p:cNvSpPr/>
          <p:nvPr/>
        </p:nvSpPr>
        <p:spPr>
          <a:xfrm>
            <a:off x="8104419" y="3520440"/>
            <a:ext cx="274320" cy="274320"/>
          </a:xfrm>
          <a:prstGeom prst="ellipse">
            <a:avLst/>
          </a:prstGeom>
          <a:solidFill>
            <a:schemeClr val="accent1"/>
          </a:solidFill>
          <a:ln w="25400">
            <a:solidFill>
              <a:srgbClr val="FFFFFF"/>
            </a:solidFill>
            <a:prstDash val="solid"/>
          </a:ln>
        </p:spPr>
      </p:sp>
      <p:sp>
        <p:nvSpPr>
          <p:cNvPr id="34" name="connector"/>
          <p:cNvSpPr/>
          <p:nvPr/>
        </p:nvSpPr>
        <p:spPr>
          <a:xfrm>
            <a:off x="8241579" y="3794760"/>
            <a:ext cx="0" cy="685800"/>
          </a:xfrm>
          <a:prstGeom prst="line">
            <a:avLst/>
          </a:prstGeom>
          <a:noFill/>
          <a:ln w="12700">
            <a:solidFill>
              <a:srgbClr val="5F6C72"/>
            </a:solidFill>
            <a:prstDash val="solid"/>
          </a:ln>
        </p:spPr>
      </p:sp>
      <p:sp>
        <p:nvSpPr>
          <p:cNvPr id="35" name="Text 32"/>
          <p:cNvSpPr txBox="1"/>
          <p:nvPr/>
        </p:nvSpPr>
        <p:spPr>
          <a:xfrm>
            <a:off x="7464339" y="4526280"/>
            <a:ext cx="1554480" cy="365760"/>
          </a:xfrm>
          <a:prstGeom prst="rect">
            <a:avLst/>
          </a:prstGeom>
          <a:noFill/>
          <a:ln/>
        </p:spPr>
        <p:txBody>
          <a:bodyPr wrap="square" lIns="0" tIns="0" rIns="0" bIns="0" rtlCol="0" anchor="ctr"/>
          <a:lstStyle/>
          <a:p>
            <a:pPr algn="ctr" indent="0" marL="0">
              <a:buNone/>
            </a:pPr>
            <a:r>
              <a:rPr lang="en-US" sz="1600" b="1" dirty="0">
                <a:solidFill>
                  <a:schemeClr val="accent1"/>
                </a:solidFill>
              </a:rPr>
              <a:t>2017</a:t>
            </a:r>
            <a:endParaRPr lang="en-US" sz="1600" dirty="0"/>
          </a:p>
        </p:txBody>
      </p:sp>
      <p:sp>
        <p:nvSpPr>
          <p:cNvPr id="36" name="Text 33"/>
          <p:cNvSpPr txBox="1"/>
          <p:nvPr/>
        </p:nvSpPr>
        <p:spPr>
          <a:xfrm>
            <a:off x="7464339" y="4892040"/>
            <a:ext cx="1554480" cy="868680"/>
          </a:xfrm>
          <a:prstGeom prst="rect">
            <a:avLst/>
          </a:prstGeom>
          <a:noFill/>
          <a:ln/>
        </p:spPr>
        <p:txBody>
          <a:bodyPr wrap="square" lIns="0" tIns="0" rIns="0" bIns="0" rtlCol="0" anchor="t"/>
          <a:lstStyle/>
          <a:p>
            <a:pPr algn="ctr" indent="0" marL="0">
              <a:buNone/>
            </a:pPr>
            <a:r>
              <a:rPr lang="en-US" sz="1100" dirty="0">
                <a:solidFill>
                  <a:schemeClr val="tx1"/>
                </a:solidFill>
              </a:rPr>
              <a:t>MMCFS dynamical forecast operational</a:t>
            </a:r>
            <a:endParaRPr lang="en-US" sz="1100" dirty="0"/>
          </a:p>
        </p:txBody>
      </p:sp>
      <p:sp>
        <p:nvSpPr>
          <p:cNvPr id="37" name="milestone"/>
          <p:cNvSpPr/>
          <p:nvPr/>
        </p:nvSpPr>
        <p:spPr>
          <a:xfrm>
            <a:off x="9177284" y="3520440"/>
            <a:ext cx="274320" cy="274320"/>
          </a:xfrm>
          <a:prstGeom prst="ellipse">
            <a:avLst/>
          </a:prstGeom>
          <a:solidFill>
            <a:schemeClr val="accent2"/>
          </a:solidFill>
          <a:ln w="25400">
            <a:solidFill>
              <a:srgbClr val="FFFFFF"/>
            </a:solidFill>
            <a:prstDash val="solid"/>
          </a:ln>
        </p:spPr>
      </p:sp>
      <p:sp>
        <p:nvSpPr>
          <p:cNvPr id="38" name="connector"/>
          <p:cNvSpPr/>
          <p:nvPr/>
        </p:nvSpPr>
        <p:spPr>
          <a:xfrm>
            <a:off x="9314444" y="2834640"/>
            <a:ext cx="0" cy="685800"/>
          </a:xfrm>
          <a:prstGeom prst="line">
            <a:avLst/>
          </a:prstGeom>
          <a:noFill/>
          <a:ln w="12700">
            <a:solidFill>
              <a:srgbClr val="5F6C72"/>
            </a:solidFill>
            <a:prstDash val="solid"/>
          </a:ln>
        </p:spPr>
      </p:sp>
      <p:sp>
        <p:nvSpPr>
          <p:cNvPr id="39" name="Text 36"/>
          <p:cNvSpPr txBox="1"/>
          <p:nvPr/>
        </p:nvSpPr>
        <p:spPr>
          <a:xfrm>
            <a:off x="8537204" y="2468880"/>
            <a:ext cx="1554480" cy="365760"/>
          </a:xfrm>
          <a:prstGeom prst="rect">
            <a:avLst/>
          </a:prstGeom>
          <a:noFill/>
          <a:ln/>
        </p:spPr>
        <p:txBody>
          <a:bodyPr wrap="square" lIns="0" tIns="0" rIns="0" bIns="0" rtlCol="0" anchor="ctr"/>
          <a:lstStyle/>
          <a:p>
            <a:pPr algn="ctr" indent="0" marL="0">
              <a:buNone/>
            </a:pPr>
            <a:r>
              <a:rPr lang="en-US" sz="1600" b="1" dirty="0">
                <a:solidFill>
                  <a:schemeClr val="accent2"/>
                </a:solidFill>
              </a:rPr>
              <a:t>2021</a:t>
            </a:r>
            <a:endParaRPr lang="en-US" sz="1600" dirty="0"/>
          </a:p>
        </p:txBody>
      </p:sp>
      <p:sp>
        <p:nvSpPr>
          <p:cNvPr id="40" name="Text 37"/>
          <p:cNvSpPr txBox="1"/>
          <p:nvPr/>
        </p:nvSpPr>
        <p:spPr>
          <a:xfrm>
            <a:off x="8537204" y="1554480"/>
            <a:ext cx="1554480" cy="868680"/>
          </a:xfrm>
          <a:prstGeom prst="rect">
            <a:avLst/>
          </a:prstGeom>
          <a:noFill/>
          <a:ln/>
        </p:spPr>
        <p:txBody>
          <a:bodyPr wrap="square" lIns="0" tIns="0" rIns="0" bIns="0" rtlCol="0" anchor="b"/>
          <a:lstStyle/>
          <a:p>
            <a:pPr algn="ctr" indent="0" marL="0">
              <a:buNone/>
            </a:pPr>
            <a:r>
              <a:rPr lang="en-US" sz="1100" dirty="0">
                <a:solidFill>
                  <a:schemeClr val="tx1"/>
                </a:solidFill>
              </a:rPr>
              <a:t>Multi-Model Ensemble + monthly forecasts</a:t>
            </a:r>
            <a:endParaRPr lang="en-US" sz="1100" dirty="0"/>
          </a:p>
        </p:txBody>
      </p:sp>
      <p:sp>
        <p:nvSpPr>
          <p:cNvPr id="41" name="milestone"/>
          <p:cNvSpPr/>
          <p:nvPr/>
        </p:nvSpPr>
        <p:spPr>
          <a:xfrm>
            <a:off x="10250150" y="3520440"/>
            <a:ext cx="274320" cy="274320"/>
          </a:xfrm>
          <a:prstGeom prst="ellipse">
            <a:avLst/>
          </a:prstGeom>
          <a:solidFill>
            <a:schemeClr val="accent2"/>
          </a:solidFill>
          <a:ln w="25400">
            <a:solidFill>
              <a:srgbClr val="FFFFFF"/>
            </a:solidFill>
            <a:prstDash val="solid"/>
          </a:ln>
        </p:spPr>
      </p:sp>
      <p:sp>
        <p:nvSpPr>
          <p:cNvPr id="42" name="connector"/>
          <p:cNvSpPr/>
          <p:nvPr/>
        </p:nvSpPr>
        <p:spPr>
          <a:xfrm>
            <a:off x="10387310" y="3794760"/>
            <a:ext cx="0" cy="685800"/>
          </a:xfrm>
          <a:prstGeom prst="line">
            <a:avLst/>
          </a:prstGeom>
          <a:noFill/>
          <a:ln w="12700">
            <a:solidFill>
              <a:srgbClr val="5F6C72"/>
            </a:solidFill>
            <a:prstDash val="solid"/>
          </a:ln>
        </p:spPr>
      </p:sp>
      <p:sp>
        <p:nvSpPr>
          <p:cNvPr id="43" name="Text 40"/>
          <p:cNvSpPr txBox="1"/>
          <p:nvPr/>
        </p:nvSpPr>
        <p:spPr>
          <a:xfrm>
            <a:off x="9610070" y="4526280"/>
            <a:ext cx="1554480" cy="365760"/>
          </a:xfrm>
          <a:prstGeom prst="rect">
            <a:avLst/>
          </a:prstGeom>
          <a:noFill/>
          <a:ln/>
        </p:spPr>
        <p:txBody>
          <a:bodyPr wrap="square" lIns="0" tIns="0" rIns="0" bIns="0" rtlCol="0" anchor="ctr"/>
          <a:lstStyle/>
          <a:p>
            <a:pPr algn="ctr" indent="0" marL="0">
              <a:buNone/>
            </a:pPr>
            <a:r>
              <a:rPr lang="en-US" sz="1600" b="1" dirty="0">
                <a:solidFill>
                  <a:schemeClr val="accent2"/>
                </a:solidFill>
              </a:rPr>
              <a:t>2024</a:t>
            </a:r>
            <a:endParaRPr lang="en-US" sz="1600" dirty="0"/>
          </a:p>
        </p:txBody>
      </p:sp>
      <p:sp>
        <p:nvSpPr>
          <p:cNvPr id="44" name="Text 41"/>
          <p:cNvSpPr txBox="1"/>
          <p:nvPr/>
        </p:nvSpPr>
        <p:spPr>
          <a:xfrm>
            <a:off x="9610070" y="4892040"/>
            <a:ext cx="1554480" cy="868680"/>
          </a:xfrm>
          <a:prstGeom prst="rect">
            <a:avLst/>
          </a:prstGeom>
          <a:noFill/>
          <a:ln/>
        </p:spPr>
        <p:txBody>
          <a:bodyPr wrap="square" lIns="0" tIns="0" rIns="0" bIns="0" rtlCol="0" anchor="t"/>
          <a:lstStyle/>
          <a:p>
            <a:pPr algn="ctr" indent="0" marL="0">
              <a:buNone/>
            </a:pPr>
            <a:r>
              <a:rPr lang="en-US" sz="1100" dirty="0">
                <a:solidFill>
                  <a:schemeClr val="tx1"/>
                </a:solidFill>
              </a:rPr>
              <a:t>Mission Mausam approved</a:t>
            </a:r>
            <a:endParaRPr lang="en-US" sz="1100" dirty="0"/>
          </a:p>
        </p:txBody>
      </p:sp>
      <p:sp>
        <p:nvSpPr>
          <p:cNvPr id="45" name="milestone"/>
          <p:cNvSpPr/>
          <p:nvPr/>
        </p:nvSpPr>
        <p:spPr>
          <a:xfrm>
            <a:off x="11323015" y="3520440"/>
            <a:ext cx="274320" cy="274320"/>
          </a:xfrm>
          <a:prstGeom prst="ellipse">
            <a:avLst/>
          </a:prstGeom>
          <a:solidFill>
            <a:schemeClr val="accent2"/>
          </a:solidFill>
          <a:ln w="25400">
            <a:solidFill>
              <a:srgbClr val="FFFFFF"/>
            </a:solidFill>
            <a:prstDash val="solid"/>
          </a:ln>
        </p:spPr>
      </p:sp>
      <p:sp>
        <p:nvSpPr>
          <p:cNvPr id="46" name="connector"/>
          <p:cNvSpPr/>
          <p:nvPr/>
        </p:nvSpPr>
        <p:spPr>
          <a:xfrm>
            <a:off x="11460175" y="2834640"/>
            <a:ext cx="0" cy="685800"/>
          </a:xfrm>
          <a:prstGeom prst="line">
            <a:avLst/>
          </a:prstGeom>
          <a:noFill/>
          <a:ln w="12700">
            <a:solidFill>
              <a:srgbClr val="5F6C72"/>
            </a:solidFill>
            <a:prstDash val="solid"/>
          </a:ln>
        </p:spPr>
      </p:sp>
      <p:sp>
        <p:nvSpPr>
          <p:cNvPr id="47" name="Text 44"/>
          <p:cNvSpPr txBox="1"/>
          <p:nvPr/>
        </p:nvSpPr>
        <p:spPr>
          <a:xfrm>
            <a:off x="10042855" y="2468880"/>
            <a:ext cx="1554480" cy="365760"/>
          </a:xfrm>
          <a:prstGeom prst="rect">
            <a:avLst/>
          </a:prstGeom>
          <a:noFill/>
          <a:ln/>
        </p:spPr>
        <p:txBody>
          <a:bodyPr wrap="square" lIns="0" tIns="0" rIns="0" bIns="0" rtlCol="0" anchor="ctr"/>
          <a:lstStyle/>
          <a:p>
            <a:pPr algn="r" indent="0" marL="0">
              <a:buNone/>
            </a:pPr>
            <a:r>
              <a:rPr lang="en-US" sz="1600" b="1" dirty="0">
                <a:solidFill>
                  <a:schemeClr val="accent2"/>
                </a:solidFill>
              </a:rPr>
              <a:t>2025</a:t>
            </a:r>
            <a:endParaRPr lang="en-US" sz="1600" dirty="0"/>
          </a:p>
        </p:txBody>
      </p:sp>
      <p:sp>
        <p:nvSpPr>
          <p:cNvPr id="48" name="Text 45"/>
          <p:cNvSpPr txBox="1"/>
          <p:nvPr/>
        </p:nvSpPr>
        <p:spPr>
          <a:xfrm>
            <a:off x="10042855" y="1554480"/>
            <a:ext cx="1554480" cy="868680"/>
          </a:xfrm>
          <a:prstGeom prst="rect">
            <a:avLst/>
          </a:prstGeom>
          <a:noFill/>
          <a:ln/>
        </p:spPr>
        <p:txBody>
          <a:bodyPr wrap="square" lIns="0" tIns="0" rIns="0" bIns="0" rtlCol="0" anchor="b"/>
          <a:lstStyle/>
          <a:p>
            <a:pPr algn="r" indent="0" marL="0">
              <a:buNone/>
            </a:pPr>
            <a:r>
              <a:rPr lang="en-US" sz="1100" dirty="0">
                <a:solidFill>
                  <a:schemeClr val="tx1"/>
                </a:solidFill>
              </a:rPr>
              <a:t>BFS launched (6 km)</a:t>
            </a:r>
            <a:endParaRPr lang="en-US" sz="1100" dirty="0"/>
          </a:p>
        </p:txBody>
      </p:sp>
      <p:sp>
        <p:nvSpPr>
          <p:cNvPr id="49" name="tag"/>
          <p:cNvSpPr/>
          <p:nvPr/>
        </p:nvSpPr>
        <p:spPr>
          <a:xfrm>
            <a:off x="548640" y="5852160"/>
            <a:ext cx="2377440" cy="292608"/>
          </a:xfrm>
          <a:prstGeom prst="roundRect">
            <a:avLst>
              <a:gd name="adj" fmla="val 50000"/>
            </a:avLst>
          </a:prstGeom>
          <a:solidFill>
            <a:schemeClr val="accent6"/>
          </a:solidFill>
          <a:ln/>
        </p:spPr>
      </p:sp>
      <p:sp>
        <p:nvSpPr>
          <p:cNvPr id="50" name="Text 47"/>
          <p:cNvSpPr txBox="1"/>
          <p:nvPr/>
        </p:nvSpPr>
        <p:spPr>
          <a:xfrm>
            <a:off x="548640" y="585216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Empirical / early statistics</a:t>
            </a:r>
            <a:endParaRPr lang="en-US" sz="1100" dirty="0"/>
          </a:p>
        </p:txBody>
      </p:sp>
      <p:sp>
        <p:nvSpPr>
          <p:cNvPr id="51" name="tag"/>
          <p:cNvSpPr/>
          <p:nvPr/>
        </p:nvSpPr>
        <p:spPr>
          <a:xfrm>
            <a:off x="3108960" y="5852160"/>
            <a:ext cx="3108960" cy="292608"/>
          </a:xfrm>
          <a:prstGeom prst="roundRect">
            <a:avLst>
              <a:gd name="adj" fmla="val 50000"/>
            </a:avLst>
          </a:prstGeom>
          <a:solidFill>
            <a:schemeClr val="accent1"/>
          </a:solidFill>
          <a:ln/>
        </p:spPr>
      </p:sp>
      <p:sp>
        <p:nvSpPr>
          <p:cNvPr id="52" name="Text 49"/>
          <p:cNvSpPr txBox="1"/>
          <p:nvPr/>
        </p:nvSpPr>
        <p:spPr>
          <a:xfrm>
            <a:off x="3108960" y="5852160"/>
            <a:ext cx="3108960" cy="292608"/>
          </a:xfrm>
          <a:prstGeom prst="rect">
            <a:avLst/>
          </a:prstGeom>
          <a:noFill/>
          <a:ln/>
        </p:spPr>
        <p:txBody>
          <a:bodyPr wrap="square" lIns="0" tIns="0" rIns="0" bIns="0" rtlCol="0" anchor="ctr"/>
          <a:lstStyle/>
          <a:p>
            <a:pPr algn="ctr" indent="0" marL="0">
              <a:buNone/>
            </a:pPr>
            <a:r>
              <a:rPr lang="en-US" sz="1100" b="1" dirty="0">
                <a:solidFill>
                  <a:schemeClr val="bg1"/>
                </a:solidFill>
              </a:rPr>
              <a:t>Statistical ensembles &amp; coupled models</a:t>
            </a:r>
            <a:endParaRPr lang="en-US" sz="1100" dirty="0"/>
          </a:p>
        </p:txBody>
      </p:sp>
      <p:sp>
        <p:nvSpPr>
          <p:cNvPr id="53" name="tag"/>
          <p:cNvSpPr/>
          <p:nvPr/>
        </p:nvSpPr>
        <p:spPr>
          <a:xfrm>
            <a:off x="6400800" y="5852160"/>
            <a:ext cx="2011680" cy="292608"/>
          </a:xfrm>
          <a:prstGeom prst="roundRect">
            <a:avLst>
              <a:gd name="adj" fmla="val 50000"/>
            </a:avLst>
          </a:prstGeom>
          <a:solidFill>
            <a:schemeClr val="accent2"/>
          </a:solidFill>
          <a:ln/>
        </p:spPr>
      </p:sp>
      <p:sp>
        <p:nvSpPr>
          <p:cNvPr id="54" name="Text 51"/>
          <p:cNvSpPr txBox="1"/>
          <p:nvPr/>
        </p:nvSpPr>
        <p:spPr>
          <a:xfrm>
            <a:off x="6400800" y="585216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MME, high-res NWP</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the statistical models evolved</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371600"/>
                <a:gridCol w="3108960"/>
                <a:gridCol w="4325112"/>
                <a:gridCol w="2286000"/>
              </a:tblGrid>
              <a:tr h="777240">
                <a:tc>
                  <a:txBody>
                    <a:bodyPr/>
                    <a:lstStyle/>
                    <a:p>
                      <a:pPr indent="0" marL="0">
                        <a:buNone/>
                      </a:pPr>
                      <a:r>
                        <a:rPr lang="en-US" sz="1300" b="1" dirty="0">
                          <a:solidFill>
                            <a:schemeClr val="bg1"/>
                          </a:solidFill>
                        </a:rPr>
                        <a:t>Period</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Method</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Predictors / inputs</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Note</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r>
              <a:tr h="777240">
                <a:tc>
                  <a:txBody>
                    <a:bodyPr/>
                    <a:lstStyle/>
                    <a:p>
                      <a:pPr indent="0" marL="0">
                        <a:buNone/>
                      </a:pPr>
                      <a:r>
                        <a:rPr lang="en-US" sz="1200" b="1" dirty="0">
                          <a:solidFill>
                            <a:schemeClr val="tx2"/>
                          </a:solidFill>
                        </a:rPr>
                        <a:t>1886–1987</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Empirical rules and regression</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Himalayan snow; Walker's Southern Oscillation and pressure/temperature predictors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Relationships weakened over time</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2"/>
                          </a:solidFill>
                        </a:rPr>
                        <a:t>1988–2002</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16-parameter power regression &amp; parametric model</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16 regional &amp; global predictors (SST, pressure, wind, snow, temperature)</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Several predictors lost skill; big miss in 2002</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777240">
                <a:tc>
                  <a:txBody>
                    <a:bodyPr/>
                    <a:lstStyle/>
                    <a:p>
                      <a:pPr indent="0" marL="0">
                        <a:buNone/>
                      </a:pPr>
                      <a:r>
                        <a:rPr lang="en-US" sz="1200" b="1" dirty="0">
                          <a:solidFill>
                            <a:schemeClr val="tx2"/>
                          </a:solidFill>
                        </a:rPr>
                        <a:t>2003–2006</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8- and 10-parameter models; two-stage forecast</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Re-selected, physically linked predictors; April + June stage</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Missed 2004 deficit</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2"/>
                          </a:solidFill>
                        </a:rPr>
                        <a:t>2007–2020</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Statistical Ensemble Forecasting System (SEFS)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 predictors (April), 6 (June); ensemble of multiple &amp; projection-pursuit regressions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Still operational</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777240">
                <a:tc>
                  <a:txBody>
                    <a:bodyPr/>
                    <a:lstStyle/>
                    <a:p>
                      <a:pPr indent="0" marL="0">
                        <a:buNone/>
                      </a:pPr>
                      <a:r>
                        <a:rPr lang="en-US" sz="1200" b="1" dirty="0">
                          <a:solidFill>
                            <a:schemeClr val="tx2"/>
                          </a:solidFill>
                        </a:rPr>
                        <a:t>2021–now</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MME of coupled models + SEFS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Dynamical GCMs incl. MMCFS; probabilistic, monthly and regional forecasts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1"/>
                          </a:solidFill>
                        </a:rPr>
                        <a:t>Current strategy</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6035040"/>
            <a:ext cx="73152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Compiled from IMD documentation; model names as used by IMD.</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A seamless forecasting system</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One chain of observations, data assimilation, supercomputers and models that covers hours to a season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Forecast time scales and the models behind them</a:t>
            </a:r>
            <a:endParaRPr lang="en-US" sz="3200" dirty="0"/>
          </a:p>
        </p:txBody>
      </p:sp>
      <p:sp>
        <p:nvSpPr>
          <p:cNvPr id="4" name="time scale"/>
          <p:cNvSpPr/>
          <p:nvPr/>
        </p:nvSpPr>
        <p:spPr>
          <a:xfrm>
            <a:off x="548640" y="1371600"/>
            <a:ext cx="2103120" cy="1005840"/>
          </a:xfrm>
          <a:prstGeom prst="roundRect">
            <a:avLst>
              <a:gd name="adj" fmla="val 7273"/>
            </a:avLst>
          </a:prstGeom>
          <a:solidFill>
            <a:schemeClr val="accent6"/>
          </a:solidFill>
          <a:ln/>
        </p:spPr>
      </p:sp>
      <p:sp>
        <p:nvSpPr>
          <p:cNvPr id="5" name="Text 2"/>
          <p:cNvSpPr txBox="1"/>
          <p:nvPr/>
        </p:nvSpPr>
        <p:spPr>
          <a:xfrm>
            <a:off x="548640" y="1371600"/>
            <a:ext cx="2103120" cy="1005840"/>
          </a:xfrm>
          <a:prstGeom prst="rect">
            <a:avLst/>
          </a:prstGeom>
          <a:noFill/>
          <a:ln/>
        </p:spPr>
        <p:txBody>
          <a:bodyPr wrap="square" lIns="0" tIns="0" rIns="0" bIns="0" rtlCol="0" anchor="ctr"/>
          <a:lstStyle/>
          <a:p>
            <a:pPr algn="ctr" indent="0" marL="0">
              <a:buNone/>
            </a:pPr>
            <a:r>
              <a:rPr lang="en-US" sz="1600" b="1" dirty="0">
                <a:solidFill>
                  <a:schemeClr val="bg1"/>
                </a:solidFill>
              </a:rPr>
              <a:t>Nowcast</a:t>
            </a:r>
            <a:endParaRPr lang="en-US" sz="1600" dirty="0"/>
          </a:p>
          <a:p>
            <a:pPr algn="ctr" indent="0" marL="0">
              <a:buNone/>
            </a:pPr>
            <a:r>
              <a:rPr lang="en-US" sz="1300" dirty="0">
                <a:solidFill>
                  <a:schemeClr val="bg1"/>
                </a:solidFill>
              </a:rPr>
              <a:t>0–3 hours</a:t>
            </a:r>
            <a:endParaRPr lang="en-US" sz="1600" dirty="0"/>
          </a:p>
        </p:txBody>
      </p:sp>
      <p:sp>
        <p:nvSpPr>
          <p:cNvPr id="6" name="arrow"/>
          <p:cNvSpPr/>
          <p:nvPr/>
        </p:nvSpPr>
        <p:spPr>
          <a:xfrm>
            <a:off x="2660904" y="1874520"/>
            <a:ext cx="118872" cy="0"/>
          </a:xfrm>
          <a:prstGeom prst="line">
            <a:avLst/>
          </a:prstGeom>
          <a:noFill/>
          <a:ln w="25400">
            <a:solidFill>
              <a:srgbClr val="0E3B43"/>
            </a:solidFill>
            <a:prstDash val="solid"/>
            <a:tailEnd type="triangle"/>
          </a:ln>
        </p:spPr>
      </p:sp>
      <p:sp>
        <p:nvSpPr>
          <p:cNvPr id="7" name="card"/>
          <p:cNvSpPr/>
          <p:nvPr/>
        </p:nvSpPr>
        <p:spPr>
          <a:xfrm>
            <a:off x="548640" y="2560320"/>
            <a:ext cx="210312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685800" y="2633472"/>
            <a:ext cx="1828800" cy="274320"/>
          </a:xfrm>
          <a:prstGeom prst="rect">
            <a:avLst/>
          </a:prstGeom>
          <a:noFill/>
          <a:ln/>
        </p:spPr>
        <p:txBody>
          <a:bodyPr wrap="square" lIns="0" tIns="0" rIns="0" bIns="0" rtlCol="0" anchor="ctr"/>
          <a:lstStyle/>
          <a:p>
            <a:pPr algn="l" indent="0" marL="0">
              <a:buNone/>
            </a:pPr>
            <a:r>
              <a:rPr lang="en-US" sz="1000" b="1" dirty="0">
                <a:solidFill>
                  <a:schemeClr val="accent6"/>
                </a:solidFill>
              </a:rPr>
              <a:t>MODELS</a:t>
            </a:r>
            <a:endParaRPr lang="en-US" sz="1000" dirty="0"/>
          </a:p>
        </p:txBody>
      </p:sp>
      <p:sp>
        <p:nvSpPr>
          <p:cNvPr id="9" name="Text 6"/>
          <p:cNvSpPr txBox="1"/>
          <p:nvPr/>
        </p:nvSpPr>
        <p:spPr>
          <a:xfrm>
            <a:off x="685800" y="2907792"/>
            <a:ext cx="1828800" cy="1188720"/>
          </a:xfrm>
          <a:prstGeom prst="rect">
            <a:avLst/>
          </a:prstGeom>
          <a:noFill/>
          <a:ln/>
        </p:spPr>
        <p:txBody>
          <a:bodyPr wrap="square" lIns="0" tIns="0" rIns="0" bIns="0" rtlCol="0" anchor="t"/>
          <a:lstStyle/>
          <a:p>
            <a:pPr indent="0" marL="0">
              <a:buNone/>
            </a:pPr>
            <a:r>
              <a:rPr lang="en-US" sz="1200" dirty="0">
                <a:solidFill>
                  <a:schemeClr val="tx1"/>
                </a:solidFill>
              </a:rPr>
              <a:t>Doppler radars, satellite, lightning; extrapolation &amp; radar-assimilating models</a:t>
            </a:r>
            <a:endParaRPr lang="en-US" sz="1200" dirty="0"/>
          </a:p>
        </p:txBody>
      </p:sp>
      <p:sp>
        <p:nvSpPr>
          <p:cNvPr id="10" name="card"/>
          <p:cNvSpPr/>
          <p:nvPr/>
        </p:nvSpPr>
        <p:spPr>
          <a:xfrm>
            <a:off x="548640" y="4297680"/>
            <a:ext cx="2103120"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685800" y="4370832"/>
            <a:ext cx="1828800" cy="274320"/>
          </a:xfrm>
          <a:prstGeom prst="rect">
            <a:avLst/>
          </a:prstGeom>
          <a:noFill/>
          <a:ln/>
        </p:spPr>
        <p:txBody>
          <a:bodyPr wrap="square" lIns="0" tIns="0" rIns="0" bIns="0" rtlCol="0" anchor="ctr"/>
          <a:lstStyle/>
          <a:p>
            <a:pPr algn="l" indent="0" marL="0">
              <a:buNone/>
            </a:pPr>
            <a:r>
              <a:rPr lang="en-US" sz="1000" b="1" dirty="0">
                <a:solidFill>
                  <a:schemeClr val="accent6"/>
                </a:solidFill>
              </a:rPr>
              <a:t>PRODUCTS</a:t>
            </a:r>
            <a:endParaRPr lang="en-US" sz="1000" dirty="0"/>
          </a:p>
        </p:txBody>
      </p:sp>
      <p:sp>
        <p:nvSpPr>
          <p:cNvPr id="12" name="Text 9"/>
          <p:cNvSpPr txBox="1"/>
          <p:nvPr/>
        </p:nvSpPr>
        <p:spPr>
          <a:xfrm>
            <a:off x="685800" y="4645152"/>
            <a:ext cx="1828800" cy="777240"/>
          </a:xfrm>
          <a:prstGeom prst="rect">
            <a:avLst/>
          </a:prstGeom>
          <a:noFill/>
          <a:ln/>
        </p:spPr>
        <p:txBody>
          <a:bodyPr wrap="square" lIns="0" tIns="0" rIns="0" bIns="0" rtlCol="0" anchor="t"/>
          <a:lstStyle/>
          <a:p>
            <a:pPr indent="0" marL="0">
              <a:buNone/>
            </a:pPr>
            <a:r>
              <a:rPr lang="en-US" sz="1200" dirty="0">
                <a:solidFill>
                  <a:schemeClr val="tx1"/>
                </a:solidFill>
              </a:rPr>
              <a:t>Thunderstorm &amp; heavy-rain nowcasts</a:t>
            </a:r>
            <a:endParaRPr lang="en-US" sz="1200" dirty="0"/>
          </a:p>
        </p:txBody>
      </p:sp>
      <p:sp>
        <p:nvSpPr>
          <p:cNvPr id="13" name="time scale"/>
          <p:cNvSpPr/>
          <p:nvPr/>
        </p:nvSpPr>
        <p:spPr>
          <a:xfrm>
            <a:off x="2788920" y="1371600"/>
            <a:ext cx="2103120" cy="1005840"/>
          </a:xfrm>
          <a:prstGeom prst="roundRect">
            <a:avLst>
              <a:gd name="adj" fmla="val 7273"/>
            </a:avLst>
          </a:prstGeom>
          <a:solidFill>
            <a:schemeClr val="accent1"/>
          </a:solidFill>
          <a:ln/>
        </p:spPr>
      </p:sp>
      <p:sp>
        <p:nvSpPr>
          <p:cNvPr id="14" name="Text 11"/>
          <p:cNvSpPr txBox="1"/>
          <p:nvPr/>
        </p:nvSpPr>
        <p:spPr>
          <a:xfrm>
            <a:off x="2788920" y="1371600"/>
            <a:ext cx="2103120" cy="1005840"/>
          </a:xfrm>
          <a:prstGeom prst="rect">
            <a:avLst/>
          </a:prstGeom>
          <a:noFill/>
          <a:ln/>
        </p:spPr>
        <p:txBody>
          <a:bodyPr wrap="square" lIns="0" tIns="0" rIns="0" bIns="0" rtlCol="0" anchor="ctr"/>
          <a:lstStyle/>
          <a:p>
            <a:pPr algn="ctr" indent="0" marL="0">
              <a:buNone/>
            </a:pPr>
            <a:r>
              <a:rPr lang="en-US" sz="1600" b="1" dirty="0">
                <a:solidFill>
                  <a:schemeClr val="bg1"/>
                </a:solidFill>
              </a:rPr>
              <a:t>Short range</a:t>
            </a:r>
            <a:endParaRPr lang="en-US" sz="1600" dirty="0"/>
          </a:p>
          <a:p>
            <a:pPr algn="ctr" indent="0" marL="0">
              <a:buNone/>
            </a:pPr>
            <a:r>
              <a:rPr lang="en-US" sz="1300" dirty="0">
                <a:solidFill>
                  <a:schemeClr val="bg1"/>
                </a:solidFill>
              </a:rPr>
              <a:t>1–3 days</a:t>
            </a:r>
            <a:endParaRPr lang="en-US" sz="1600" dirty="0"/>
          </a:p>
        </p:txBody>
      </p:sp>
      <p:sp>
        <p:nvSpPr>
          <p:cNvPr id="15" name="arrow"/>
          <p:cNvSpPr/>
          <p:nvPr/>
        </p:nvSpPr>
        <p:spPr>
          <a:xfrm>
            <a:off x="4901184" y="1874520"/>
            <a:ext cx="118872" cy="0"/>
          </a:xfrm>
          <a:prstGeom prst="line">
            <a:avLst/>
          </a:prstGeom>
          <a:noFill/>
          <a:ln w="25400">
            <a:solidFill>
              <a:srgbClr val="0E3B43"/>
            </a:solidFill>
            <a:prstDash val="solid"/>
            <a:tailEnd type="triangle"/>
          </a:ln>
        </p:spPr>
      </p:sp>
      <p:sp>
        <p:nvSpPr>
          <p:cNvPr id="16" name="card"/>
          <p:cNvSpPr/>
          <p:nvPr/>
        </p:nvSpPr>
        <p:spPr>
          <a:xfrm>
            <a:off x="2788920" y="2560320"/>
            <a:ext cx="210312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2926080" y="2633472"/>
            <a:ext cx="1828800" cy="274320"/>
          </a:xfrm>
          <a:prstGeom prst="rect">
            <a:avLst/>
          </a:prstGeom>
          <a:noFill/>
          <a:ln/>
        </p:spPr>
        <p:txBody>
          <a:bodyPr wrap="square" lIns="0" tIns="0" rIns="0" bIns="0" rtlCol="0" anchor="ctr"/>
          <a:lstStyle/>
          <a:p>
            <a:pPr algn="l" indent="0" marL="0">
              <a:buNone/>
            </a:pPr>
            <a:r>
              <a:rPr lang="en-US" sz="1000" b="1" dirty="0">
                <a:solidFill>
                  <a:schemeClr val="accent1"/>
                </a:solidFill>
              </a:rPr>
              <a:t>MODELS</a:t>
            </a:r>
            <a:endParaRPr lang="en-US" sz="1000" dirty="0"/>
          </a:p>
        </p:txBody>
      </p:sp>
      <p:sp>
        <p:nvSpPr>
          <p:cNvPr id="18" name="Text 15"/>
          <p:cNvSpPr txBox="1"/>
          <p:nvPr/>
        </p:nvSpPr>
        <p:spPr>
          <a:xfrm>
            <a:off x="2926080" y="2907792"/>
            <a:ext cx="1828800" cy="1188720"/>
          </a:xfrm>
          <a:prstGeom prst="rect">
            <a:avLst/>
          </a:prstGeom>
          <a:noFill/>
          <a:ln/>
        </p:spPr>
        <p:txBody>
          <a:bodyPr wrap="square" lIns="0" tIns="0" rIns="0" bIns="0" rtlCol="0" anchor="t"/>
          <a:lstStyle/>
          <a:p>
            <a:pPr indent="0" marL="0">
              <a:buNone/>
            </a:pPr>
            <a:r>
              <a:rPr lang="en-US" sz="1200" dirty="0">
                <a:solidFill>
                  <a:schemeClr val="tx1"/>
                </a:solidFill>
              </a:rPr>
              <a:t>GFS, NCUM, WRF, HWRF, BFS (6 km)</a:t>
            </a:r>
            <a:endParaRPr lang="en-US" sz="1200" dirty="0"/>
          </a:p>
        </p:txBody>
      </p:sp>
      <p:sp>
        <p:nvSpPr>
          <p:cNvPr id="19" name="card"/>
          <p:cNvSpPr/>
          <p:nvPr/>
        </p:nvSpPr>
        <p:spPr>
          <a:xfrm>
            <a:off x="2788920" y="4297680"/>
            <a:ext cx="2103120"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2926080" y="4370832"/>
            <a:ext cx="1828800" cy="274320"/>
          </a:xfrm>
          <a:prstGeom prst="rect">
            <a:avLst/>
          </a:prstGeom>
          <a:noFill/>
          <a:ln/>
        </p:spPr>
        <p:txBody>
          <a:bodyPr wrap="square" lIns="0" tIns="0" rIns="0" bIns="0" rtlCol="0" anchor="ctr"/>
          <a:lstStyle/>
          <a:p>
            <a:pPr algn="l" indent="0" marL="0">
              <a:buNone/>
            </a:pPr>
            <a:r>
              <a:rPr lang="en-US" sz="1000" b="1" dirty="0">
                <a:solidFill>
                  <a:schemeClr val="accent1"/>
                </a:solidFill>
              </a:rPr>
              <a:t>PRODUCTS</a:t>
            </a:r>
            <a:endParaRPr lang="en-US" sz="1000" dirty="0"/>
          </a:p>
        </p:txBody>
      </p:sp>
      <p:sp>
        <p:nvSpPr>
          <p:cNvPr id="21" name="Text 18"/>
          <p:cNvSpPr txBox="1"/>
          <p:nvPr/>
        </p:nvSpPr>
        <p:spPr>
          <a:xfrm>
            <a:off x="2926080" y="4645152"/>
            <a:ext cx="1828800" cy="777240"/>
          </a:xfrm>
          <a:prstGeom prst="rect">
            <a:avLst/>
          </a:prstGeom>
          <a:noFill/>
          <a:ln/>
        </p:spPr>
        <p:txBody>
          <a:bodyPr wrap="square" lIns="0" tIns="0" rIns="0" bIns="0" rtlCol="0" anchor="t"/>
          <a:lstStyle/>
          <a:p>
            <a:pPr indent="0" marL="0">
              <a:buNone/>
            </a:pPr>
            <a:r>
              <a:rPr lang="en-US" sz="1200" dirty="0">
                <a:solidFill>
                  <a:schemeClr val="tx1"/>
                </a:solidFill>
              </a:rPr>
              <a:t>District / block forecasts &amp; warnings</a:t>
            </a:r>
            <a:endParaRPr lang="en-US" sz="1200" dirty="0"/>
          </a:p>
        </p:txBody>
      </p:sp>
      <p:sp>
        <p:nvSpPr>
          <p:cNvPr id="22" name="time scale"/>
          <p:cNvSpPr/>
          <p:nvPr/>
        </p:nvSpPr>
        <p:spPr>
          <a:xfrm>
            <a:off x="5029200" y="1371600"/>
            <a:ext cx="2103120" cy="1005840"/>
          </a:xfrm>
          <a:prstGeom prst="roundRect">
            <a:avLst>
              <a:gd name="adj" fmla="val 7273"/>
            </a:avLst>
          </a:prstGeom>
          <a:solidFill>
            <a:schemeClr val="accent5"/>
          </a:solidFill>
          <a:ln/>
        </p:spPr>
      </p:sp>
      <p:sp>
        <p:nvSpPr>
          <p:cNvPr id="23" name="Text 20"/>
          <p:cNvSpPr txBox="1"/>
          <p:nvPr/>
        </p:nvSpPr>
        <p:spPr>
          <a:xfrm>
            <a:off x="5029200" y="1371600"/>
            <a:ext cx="2103120" cy="1005840"/>
          </a:xfrm>
          <a:prstGeom prst="rect">
            <a:avLst/>
          </a:prstGeom>
          <a:noFill/>
          <a:ln/>
        </p:spPr>
        <p:txBody>
          <a:bodyPr wrap="square" lIns="0" tIns="0" rIns="0" bIns="0" rtlCol="0" anchor="ctr"/>
          <a:lstStyle/>
          <a:p>
            <a:pPr algn="ctr" indent="0" marL="0">
              <a:buNone/>
            </a:pPr>
            <a:r>
              <a:rPr lang="en-US" sz="1600" b="1" dirty="0">
                <a:solidFill>
                  <a:schemeClr val="bg1"/>
                </a:solidFill>
              </a:rPr>
              <a:t>Medium range</a:t>
            </a:r>
            <a:endParaRPr lang="en-US" sz="1600" dirty="0"/>
          </a:p>
          <a:p>
            <a:pPr algn="ctr" indent="0" marL="0">
              <a:buNone/>
            </a:pPr>
            <a:r>
              <a:rPr lang="en-US" sz="1300" dirty="0">
                <a:solidFill>
                  <a:schemeClr val="bg1"/>
                </a:solidFill>
              </a:rPr>
              <a:t>3–10 days</a:t>
            </a:r>
            <a:endParaRPr lang="en-US" sz="1600" dirty="0"/>
          </a:p>
        </p:txBody>
      </p:sp>
      <p:sp>
        <p:nvSpPr>
          <p:cNvPr id="24" name="arrow"/>
          <p:cNvSpPr/>
          <p:nvPr/>
        </p:nvSpPr>
        <p:spPr>
          <a:xfrm>
            <a:off x="7141464" y="1874520"/>
            <a:ext cx="118872" cy="0"/>
          </a:xfrm>
          <a:prstGeom prst="line">
            <a:avLst/>
          </a:prstGeom>
          <a:noFill/>
          <a:ln w="25400">
            <a:solidFill>
              <a:srgbClr val="0E3B43"/>
            </a:solidFill>
            <a:prstDash val="solid"/>
            <a:tailEnd type="triangle"/>
          </a:ln>
        </p:spPr>
      </p:sp>
      <p:sp>
        <p:nvSpPr>
          <p:cNvPr id="25" name="card"/>
          <p:cNvSpPr/>
          <p:nvPr/>
        </p:nvSpPr>
        <p:spPr>
          <a:xfrm>
            <a:off x="5029200" y="2560320"/>
            <a:ext cx="210312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5166360" y="2633472"/>
            <a:ext cx="1828800" cy="274320"/>
          </a:xfrm>
          <a:prstGeom prst="rect">
            <a:avLst/>
          </a:prstGeom>
          <a:noFill/>
          <a:ln/>
        </p:spPr>
        <p:txBody>
          <a:bodyPr wrap="square" lIns="0" tIns="0" rIns="0" bIns="0" rtlCol="0" anchor="ctr"/>
          <a:lstStyle/>
          <a:p>
            <a:pPr algn="l" indent="0" marL="0">
              <a:buNone/>
            </a:pPr>
            <a:r>
              <a:rPr lang="en-US" sz="1000" b="1" dirty="0">
                <a:solidFill>
                  <a:schemeClr val="accent5"/>
                </a:solidFill>
              </a:rPr>
              <a:t>MODELS</a:t>
            </a:r>
            <a:endParaRPr lang="en-US" sz="1000" dirty="0"/>
          </a:p>
        </p:txBody>
      </p:sp>
      <p:sp>
        <p:nvSpPr>
          <p:cNvPr id="27" name="Text 24"/>
          <p:cNvSpPr txBox="1"/>
          <p:nvPr/>
        </p:nvSpPr>
        <p:spPr>
          <a:xfrm>
            <a:off x="5166360" y="2907792"/>
            <a:ext cx="1828800" cy="1188720"/>
          </a:xfrm>
          <a:prstGeom prst="rect">
            <a:avLst/>
          </a:prstGeom>
          <a:noFill/>
          <a:ln/>
        </p:spPr>
        <p:txBody>
          <a:bodyPr wrap="square" lIns="0" tIns="0" rIns="0" bIns="0" rtlCol="0" anchor="t"/>
          <a:lstStyle/>
          <a:p>
            <a:pPr indent="0" marL="0">
              <a:buNone/>
            </a:pPr>
            <a:r>
              <a:rPr lang="en-US" sz="1200" dirty="0">
                <a:solidFill>
                  <a:schemeClr val="tx1"/>
                </a:solidFill>
              </a:rPr>
              <a:t>GFS T1534, GEFS (21 members), NCUM, NEPS (23 members)</a:t>
            </a:r>
            <a:endParaRPr lang="en-US" sz="1200" dirty="0"/>
          </a:p>
        </p:txBody>
      </p:sp>
      <p:sp>
        <p:nvSpPr>
          <p:cNvPr id="28" name="card"/>
          <p:cNvSpPr/>
          <p:nvPr/>
        </p:nvSpPr>
        <p:spPr>
          <a:xfrm>
            <a:off x="5029200" y="4297680"/>
            <a:ext cx="2103120"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5166360" y="4370832"/>
            <a:ext cx="1828800" cy="274320"/>
          </a:xfrm>
          <a:prstGeom prst="rect">
            <a:avLst/>
          </a:prstGeom>
          <a:noFill/>
          <a:ln/>
        </p:spPr>
        <p:txBody>
          <a:bodyPr wrap="square" lIns="0" tIns="0" rIns="0" bIns="0" rtlCol="0" anchor="ctr"/>
          <a:lstStyle/>
          <a:p>
            <a:pPr algn="l" indent="0" marL="0">
              <a:buNone/>
            </a:pPr>
            <a:r>
              <a:rPr lang="en-US" sz="1000" b="1" dirty="0">
                <a:solidFill>
                  <a:schemeClr val="accent5"/>
                </a:solidFill>
              </a:rPr>
              <a:t>PRODUCTS</a:t>
            </a:r>
            <a:endParaRPr lang="en-US" sz="1000" dirty="0"/>
          </a:p>
        </p:txBody>
      </p:sp>
      <p:sp>
        <p:nvSpPr>
          <p:cNvPr id="30" name="Text 27"/>
          <p:cNvSpPr txBox="1"/>
          <p:nvPr/>
        </p:nvSpPr>
        <p:spPr>
          <a:xfrm>
            <a:off x="5166360" y="4645152"/>
            <a:ext cx="1828800" cy="777240"/>
          </a:xfrm>
          <a:prstGeom prst="rect">
            <a:avLst/>
          </a:prstGeom>
          <a:noFill/>
          <a:ln/>
        </p:spPr>
        <p:txBody>
          <a:bodyPr wrap="square" lIns="0" tIns="0" rIns="0" bIns="0" rtlCol="0" anchor="t"/>
          <a:lstStyle/>
          <a:p>
            <a:pPr indent="0" marL="0">
              <a:buNone/>
            </a:pPr>
            <a:r>
              <a:rPr lang="en-US" sz="1200" dirty="0">
                <a:solidFill>
                  <a:schemeClr val="tx1"/>
                </a:solidFill>
              </a:rPr>
              <a:t>Daily forecasts, cyclone &amp; heavy-rain outlooks</a:t>
            </a:r>
            <a:endParaRPr lang="en-US" sz="1200" dirty="0"/>
          </a:p>
        </p:txBody>
      </p:sp>
      <p:sp>
        <p:nvSpPr>
          <p:cNvPr id="31" name="time scale"/>
          <p:cNvSpPr/>
          <p:nvPr/>
        </p:nvSpPr>
        <p:spPr>
          <a:xfrm>
            <a:off x="7269480" y="1371600"/>
            <a:ext cx="2103120" cy="1005840"/>
          </a:xfrm>
          <a:prstGeom prst="roundRect">
            <a:avLst>
              <a:gd name="adj" fmla="val 7273"/>
            </a:avLst>
          </a:prstGeom>
          <a:solidFill>
            <a:schemeClr val="accent4"/>
          </a:solidFill>
          <a:ln/>
        </p:spPr>
      </p:sp>
      <p:sp>
        <p:nvSpPr>
          <p:cNvPr id="32" name="Text 29"/>
          <p:cNvSpPr txBox="1"/>
          <p:nvPr/>
        </p:nvSpPr>
        <p:spPr>
          <a:xfrm>
            <a:off x="7269480" y="1371600"/>
            <a:ext cx="2103120" cy="1005840"/>
          </a:xfrm>
          <a:prstGeom prst="rect">
            <a:avLst/>
          </a:prstGeom>
          <a:noFill/>
          <a:ln/>
        </p:spPr>
        <p:txBody>
          <a:bodyPr wrap="square" lIns="0" tIns="0" rIns="0" bIns="0" rtlCol="0" anchor="ctr"/>
          <a:lstStyle/>
          <a:p>
            <a:pPr algn="ctr" indent="0" marL="0">
              <a:buNone/>
            </a:pPr>
            <a:r>
              <a:rPr lang="en-US" sz="1600" b="1" dirty="0">
                <a:solidFill>
                  <a:schemeClr val="bg1"/>
                </a:solidFill>
              </a:rPr>
              <a:t>Extended range</a:t>
            </a:r>
            <a:endParaRPr lang="en-US" sz="1600" dirty="0"/>
          </a:p>
          <a:p>
            <a:pPr algn="ctr" indent="0" marL="0">
              <a:buNone/>
            </a:pPr>
            <a:r>
              <a:rPr lang="en-US" sz="1300" dirty="0">
                <a:solidFill>
                  <a:schemeClr val="bg1"/>
                </a:solidFill>
              </a:rPr>
              <a:t>2–4 weeks</a:t>
            </a:r>
            <a:endParaRPr lang="en-US" sz="1600" dirty="0"/>
          </a:p>
        </p:txBody>
      </p:sp>
      <p:sp>
        <p:nvSpPr>
          <p:cNvPr id="33" name="arrow"/>
          <p:cNvSpPr/>
          <p:nvPr/>
        </p:nvSpPr>
        <p:spPr>
          <a:xfrm>
            <a:off x="9381744" y="1874520"/>
            <a:ext cx="118872" cy="0"/>
          </a:xfrm>
          <a:prstGeom prst="line">
            <a:avLst/>
          </a:prstGeom>
          <a:noFill/>
          <a:ln w="25400">
            <a:solidFill>
              <a:srgbClr val="0E3B43"/>
            </a:solidFill>
            <a:prstDash val="solid"/>
            <a:tailEnd type="triangle"/>
          </a:ln>
        </p:spPr>
      </p:sp>
      <p:sp>
        <p:nvSpPr>
          <p:cNvPr id="34" name="card"/>
          <p:cNvSpPr/>
          <p:nvPr/>
        </p:nvSpPr>
        <p:spPr>
          <a:xfrm>
            <a:off x="7269480" y="2560320"/>
            <a:ext cx="210312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35" name="Text 32"/>
          <p:cNvSpPr txBox="1"/>
          <p:nvPr/>
        </p:nvSpPr>
        <p:spPr>
          <a:xfrm>
            <a:off x="7406640" y="2633472"/>
            <a:ext cx="1828800" cy="274320"/>
          </a:xfrm>
          <a:prstGeom prst="rect">
            <a:avLst/>
          </a:prstGeom>
          <a:noFill/>
          <a:ln/>
        </p:spPr>
        <p:txBody>
          <a:bodyPr wrap="square" lIns="0" tIns="0" rIns="0" bIns="0" rtlCol="0" anchor="ctr"/>
          <a:lstStyle/>
          <a:p>
            <a:pPr algn="l" indent="0" marL="0">
              <a:buNone/>
            </a:pPr>
            <a:r>
              <a:rPr lang="en-US" sz="1000" b="1" dirty="0">
                <a:solidFill>
                  <a:schemeClr val="accent4"/>
                </a:solidFill>
              </a:rPr>
              <a:t>MODELS</a:t>
            </a:r>
            <a:endParaRPr lang="en-US" sz="1000" dirty="0"/>
          </a:p>
        </p:txBody>
      </p:sp>
      <p:sp>
        <p:nvSpPr>
          <p:cNvPr id="36" name="Text 33"/>
          <p:cNvSpPr txBox="1"/>
          <p:nvPr/>
        </p:nvSpPr>
        <p:spPr>
          <a:xfrm>
            <a:off x="7406640" y="2907792"/>
            <a:ext cx="1828800" cy="1188720"/>
          </a:xfrm>
          <a:prstGeom prst="rect">
            <a:avLst/>
          </a:prstGeom>
          <a:noFill/>
          <a:ln/>
        </p:spPr>
        <p:txBody>
          <a:bodyPr wrap="square" lIns="0" tIns="0" rIns="0" bIns="0" rtlCol="0" anchor="t"/>
          <a:lstStyle/>
          <a:p>
            <a:pPr indent="0" marL="0">
              <a:buNone/>
            </a:pPr>
            <a:r>
              <a:rPr lang="en-US" sz="1200" dirty="0">
                <a:solidFill>
                  <a:schemeClr val="tx1"/>
                </a:solidFill>
              </a:rPr>
              <a:t>Multi-model ensemble ERFS based on CFSv2 &amp; GFSbc</a:t>
            </a:r>
            <a:endParaRPr lang="en-US" sz="1200" dirty="0"/>
          </a:p>
        </p:txBody>
      </p:sp>
      <p:sp>
        <p:nvSpPr>
          <p:cNvPr id="37" name="card"/>
          <p:cNvSpPr/>
          <p:nvPr/>
        </p:nvSpPr>
        <p:spPr>
          <a:xfrm>
            <a:off x="7269480" y="4297680"/>
            <a:ext cx="2103120"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38" name="Text 35"/>
          <p:cNvSpPr txBox="1"/>
          <p:nvPr/>
        </p:nvSpPr>
        <p:spPr>
          <a:xfrm>
            <a:off x="7406640" y="4370832"/>
            <a:ext cx="1828800" cy="274320"/>
          </a:xfrm>
          <a:prstGeom prst="rect">
            <a:avLst/>
          </a:prstGeom>
          <a:noFill/>
          <a:ln/>
        </p:spPr>
        <p:txBody>
          <a:bodyPr wrap="square" lIns="0" tIns="0" rIns="0" bIns="0" rtlCol="0" anchor="ctr"/>
          <a:lstStyle/>
          <a:p>
            <a:pPr algn="l" indent="0" marL="0">
              <a:buNone/>
            </a:pPr>
            <a:r>
              <a:rPr lang="en-US" sz="1000" b="1" dirty="0">
                <a:solidFill>
                  <a:schemeClr val="accent4"/>
                </a:solidFill>
              </a:rPr>
              <a:t>PRODUCTS</a:t>
            </a:r>
            <a:endParaRPr lang="en-US" sz="1000" dirty="0"/>
          </a:p>
        </p:txBody>
      </p:sp>
      <p:sp>
        <p:nvSpPr>
          <p:cNvPr id="39" name="Text 36"/>
          <p:cNvSpPr txBox="1"/>
          <p:nvPr/>
        </p:nvSpPr>
        <p:spPr>
          <a:xfrm>
            <a:off x="7406640" y="4645152"/>
            <a:ext cx="1828800" cy="777240"/>
          </a:xfrm>
          <a:prstGeom prst="rect">
            <a:avLst/>
          </a:prstGeom>
          <a:noFill/>
          <a:ln/>
        </p:spPr>
        <p:txBody>
          <a:bodyPr wrap="square" lIns="0" tIns="0" rIns="0" bIns="0" rtlCol="0" anchor="t"/>
          <a:lstStyle/>
          <a:p>
            <a:pPr indent="0" marL="0">
              <a:buNone/>
            </a:pPr>
            <a:r>
              <a:rPr lang="en-US" sz="1200" dirty="0">
                <a:solidFill>
                  <a:schemeClr val="tx1"/>
                </a:solidFill>
              </a:rPr>
              <a:t>Weekly anomalies, active/break spells</a:t>
            </a:r>
            <a:endParaRPr lang="en-US" sz="1200" dirty="0"/>
          </a:p>
        </p:txBody>
      </p:sp>
      <p:sp>
        <p:nvSpPr>
          <p:cNvPr id="40" name="time scale"/>
          <p:cNvSpPr/>
          <p:nvPr/>
        </p:nvSpPr>
        <p:spPr>
          <a:xfrm>
            <a:off x="9509760" y="1371600"/>
            <a:ext cx="2103120" cy="1005840"/>
          </a:xfrm>
          <a:prstGeom prst="roundRect">
            <a:avLst>
              <a:gd name="adj" fmla="val 7273"/>
            </a:avLst>
          </a:prstGeom>
          <a:solidFill>
            <a:schemeClr val="accent2"/>
          </a:solidFill>
          <a:ln/>
        </p:spPr>
      </p:sp>
      <p:sp>
        <p:nvSpPr>
          <p:cNvPr id="41" name="Text 38"/>
          <p:cNvSpPr txBox="1"/>
          <p:nvPr/>
        </p:nvSpPr>
        <p:spPr>
          <a:xfrm>
            <a:off x="9509760" y="1371600"/>
            <a:ext cx="2103120" cy="1005840"/>
          </a:xfrm>
          <a:prstGeom prst="rect">
            <a:avLst/>
          </a:prstGeom>
          <a:noFill/>
          <a:ln/>
        </p:spPr>
        <p:txBody>
          <a:bodyPr wrap="square" lIns="0" tIns="0" rIns="0" bIns="0" rtlCol="0" anchor="ctr"/>
          <a:lstStyle/>
          <a:p>
            <a:pPr algn="ctr" indent="0" marL="0">
              <a:buNone/>
            </a:pPr>
            <a:r>
              <a:rPr lang="en-US" sz="1600" b="1" dirty="0">
                <a:solidFill>
                  <a:schemeClr val="bg1"/>
                </a:solidFill>
              </a:rPr>
              <a:t>Long range</a:t>
            </a:r>
            <a:endParaRPr lang="en-US" sz="1600" dirty="0"/>
          </a:p>
          <a:p>
            <a:pPr algn="ctr" indent="0" marL="0">
              <a:buNone/>
            </a:pPr>
            <a:r>
              <a:rPr lang="en-US" sz="1300" dirty="0">
                <a:solidFill>
                  <a:schemeClr val="bg1"/>
                </a:solidFill>
              </a:rPr>
              <a:t>Month–season</a:t>
            </a:r>
            <a:endParaRPr lang="en-US" sz="1600" dirty="0"/>
          </a:p>
        </p:txBody>
      </p:sp>
      <p:sp>
        <p:nvSpPr>
          <p:cNvPr id="42" name="insight"/>
          <p:cNvSpPr/>
          <p:nvPr/>
        </p:nvSpPr>
        <p:spPr>
          <a:xfrm>
            <a:off x="548640" y="5623560"/>
            <a:ext cx="11094415" cy="594360"/>
          </a:xfrm>
          <a:prstGeom prst="roundRect">
            <a:avLst>
              <a:gd name="adj" fmla="val 12308"/>
            </a:avLst>
          </a:prstGeom>
          <a:solidFill>
            <a:schemeClr val="bg2"/>
          </a:solidFill>
          <a:ln/>
        </p:spPr>
      </p:sp>
      <p:sp>
        <p:nvSpPr>
          <p:cNvPr id="43" name="icon circle"/>
          <p:cNvSpPr/>
          <p:nvPr/>
        </p:nvSpPr>
        <p:spPr>
          <a:xfrm>
            <a:off x="685800" y="5682996"/>
            <a:ext cx="475488" cy="475488"/>
          </a:xfrm>
          <a:prstGeom prst="ellipse">
            <a:avLst/>
          </a:prstGeom>
          <a:solidFill>
            <a:schemeClr val="accent3"/>
          </a:solidFill>
          <a:ln/>
        </p:spPr>
      </p:sp>
      <p:pic>
        <p:nvPicPr>
          <p:cNvPr id="44" name="Image 0" descr="Lightbulb icon">    </p:cNvPr>
          <p:cNvPicPr>
            <a:picLocks noChangeAspect="1"/>
          </p:cNvPicPr>
          <p:nvPr/>
        </p:nvPicPr>
        <p:blipFill>
          <a:blip r:embed="rId1"/>
          <a:stretch>
            <a:fillRect/>
          </a:stretch>
        </p:blipFill>
        <p:spPr>
          <a:xfrm>
            <a:off x="809427" y="5806623"/>
            <a:ext cx="228234" cy="228234"/>
          </a:xfrm>
          <a:prstGeom prst="rect">
            <a:avLst/>
          </a:prstGeom>
        </p:spPr>
      </p:pic>
      <p:sp>
        <p:nvSpPr>
          <p:cNvPr id="45" name="Text 41"/>
          <p:cNvSpPr txBox="1"/>
          <p:nvPr/>
        </p:nvSpPr>
        <p:spPr>
          <a:xfrm>
            <a:off x="1325880" y="5660136"/>
            <a:ext cx="10180015" cy="521208"/>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Rule of thumb:</a:t>
            </a:r>
            <a:r>
              <a:rPr lang="en-US" sz="1400" dirty="0">
                <a:solidFill>
                  <a:schemeClr val="tx1"/>
                </a:solidFill>
              </a:rPr>
              <a:t> as lead time grows, forecasts trade detail (where &amp; when) for probabilities (more or less than normal).</a:t>
            </a:r>
            <a:endParaRPr lang="en-US" sz="1400" dirty="0"/>
          </a:p>
        </p:txBody>
      </p:sp>
      <p:sp>
        <p:nvSpPr>
          <p:cNvPr id="46" name="card"/>
          <p:cNvSpPr/>
          <p:nvPr/>
        </p:nvSpPr>
        <p:spPr>
          <a:xfrm>
            <a:off x="9509760" y="2560320"/>
            <a:ext cx="210312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47" name="Text 43"/>
          <p:cNvSpPr txBox="1"/>
          <p:nvPr/>
        </p:nvSpPr>
        <p:spPr>
          <a:xfrm>
            <a:off x="9646920" y="2633472"/>
            <a:ext cx="1828800" cy="274320"/>
          </a:xfrm>
          <a:prstGeom prst="rect">
            <a:avLst/>
          </a:prstGeom>
          <a:noFill/>
          <a:ln/>
        </p:spPr>
        <p:txBody>
          <a:bodyPr wrap="square" lIns="0" tIns="0" rIns="0" bIns="0" rtlCol="0" anchor="ctr"/>
          <a:lstStyle/>
          <a:p>
            <a:pPr algn="l" indent="0" marL="0">
              <a:buNone/>
            </a:pPr>
            <a:r>
              <a:rPr lang="en-US" sz="1000" b="1" dirty="0">
                <a:solidFill>
                  <a:schemeClr val="accent2"/>
                </a:solidFill>
              </a:rPr>
              <a:t>MODELS</a:t>
            </a:r>
            <a:endParaRPr lang="en-US" sz="1000" dirty="0"/>
          </a:p>
        </p:txBody>
      </p:sp>
      <p:sp>
        <p:nvSpPr>
          <p:cNvPr id="48" name="Text 44"/>
          <p:cNvSpPr txBox="1"/>
          <p:nvPr/>
        </p:nvSpPr>
        <p:spPr>
          <a:xfrm>
            <a:off x="9646920" y="2907792"/>
            <a:ext cx="1828800" cy="1188720"/>
          </a:xfrm>
          <a:prstGeom prst="rect">
            <a:avLst/>
          </a:prstGeom>
          <a:noFill/>
          <a:ln/>
        </p:spPr>
        <p:txBody>
          <a:bodyPr wrap="square" lIns="0" tIns="0" rIns="0" bIns="0" rtlCol="0" anchor="t"/>
          <a:lstStyle/>
          <a:p>
            <a:pPr indent="0" marL="0">
              <a:buNone/>
            </a:pPr>
            <a:r>
              <a:rPr lang="en-US" sz="1200" dirty="0">
                <a:solidFill>
                  <a:schemeClr val="tx1"/>
                </a:solidFill>
              </a:rPr>
              <a:t>SEFS (statistical) + MME of coupled models incl. MMCFS</a:t>
            </a:r>
            <a:endParaRPr lang="en-US" sz="1200" dirty="0"/>
          </a:p>
        </p:txBody>
      </p:sp>
      <p:sp>
        <p:nvSpPr>
          <p:cNvPr id="49" name="card"/>
          <p:cNvSpPr/>
          <p:nvPr/>
        </p:nvSpPr>
        <p:spPr>
          <a:xfrm>
            <a:off x="9509760" y="4297680"/>
            <a:ext cx="2103120"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50" name="Text 46"/>
          <p:cNvSpPr txBox="1"/>
          <p:nvPr/>
        </p:nvSpPr>
        <p:spPr>
          <a:xfrm>
            <a:off x="9646920" y="4370832"/>
            <a:ext cx="1828800" cy="274320"/>
          </a:xfrm>
          <a:prstGeom prst="rect">
            <a:avLst/>
          </a:prstGeom>
          <a:noFill/>
          <a:ln/>
        </p:spPr>
        <p:txBody>
          <a:bodyPr wrap="square" lIns="0" tIns="0" rIns="0" bIns="0" rtlCol="0" anchor="ctr"/>
          <a:lstStyle/>
          <a:p>
            <a:pPr algn="l" indent="0" marL="0">
              <a:buNone/>
            </a:pPr>
            <a:r>
              <a:rPr lang="en-US" sz="1000" b="1" dirty="0">
                <a:solidFill>
                  <a:schemeClr val="accent2"/>
                </a:solidFill>
              </a:rPr>
              <a:t>PRODUCTS</a:t>
            </a:r>
            <a:endParaRPr lang="en-US" sz="1000" dirty="0"/>
          </a:p>
        </p:txBody>
      </p:sp>
      <p:sp>
        <p:nvSpPr>
          <p:cNvPr id="51" name="Text 47"/>
          <p:cNvSpPr txBox="1"/>
          <p:nvPr/>
        </p:nvSpPr>
        <p:spPr>
          <a:xfrm>
            <a:off x="9646920" y="4645152"/>
            <a:ext cx="1828800" cy="777240"/>
          </a:xfrm>
          <a:prstGeom prst="rect">
            <a:avLst/>
          </a:prstGeom>
          <a:noFill/>
          <a:ln/>
        </p:spPr>
        <p:txBody>
          <a:bodyPr wrap="square" lIns="0" tIns="0" rIns="0" bIns="0" rtlCol="0" anchor="t"/>
          <a:lstStyle/>
          <a:p>
            <a:pPr indent="0" marL="0">
              <a:buNone/>
            </a:pPr>
            <a:r>
              <a:rPr lang="en-US" sz="1200" dirty="0">
                <a:solidFill>
                  <a:schemeClr val="tx1"/>
                </a:solidFill>
              </a:rPr>
              <a:t>Seasonal &amp; monthly % of LPA, probabilities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From observations to forecasts: the backbone</a:t>
            </a:r>
            <a:endParaRPr lang="en-US" sz="3200" dirty="0"/>
          </a:p>
        </p:txBody>
      </p:sp>
      <p:sp>
        <p:nvSpPr>
          <p:cNvPr id="4" name="card"/>
          <p:cNvSpPr/>
          <p:nvPr/>
        </p:nvSpPr>
        <p:spPr>
          <a:xfrm>
            <a:off x="548640" y="1371600"/>
            <a:ext cx="3108960"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685800" y="1554480"/>
            <a:ext cx="475488" cy="475488"/>
          </a:xfrm>
          <a:prstGeom prst="ellipse">
            <a:avLst/>
          </a:prstGeom>
          <a:solidFill>
            <a:schemeClr val="accent5"/>
          </a:solidFill>
          <a:ln/>
        </p:spPr>
      </p:sp>
      <p:pic>
        <p:nvPicPr>
          <p:cNvPr id="6" name="Image 0" descr="Satellite icon">    </p:cNvPr>
          <p:cNvPicPr>
            <a:picLocks noChangeAspect="1"/>
          </p:cNvPicPr>
          <p:nvPr/>
        </p:nvPicPr>
        <p:blipFill>
          <a:blip r:embed="rId1"/>
          <a:stretch>
            <a:fillRect/>
          </a:stretch>
        </p:blipFill>
        <p:spPr>
          <a:xfrm>
            <a:off x="809427" y="1678107"/>
            <a:ext cx="228234" cy="228234"/>
          </a:xfrm>
          <a:prstGeom prst="rect">
            <a:avLst/>
          </a:prstGeom>
        </p:spPr>
      </p:pic>
      <p:sp>
        <p:nvSpPr>
          <p:cNvPr id="7" name="Text 3"/>
          <p:cNvSpPr txBox="1"/>
          <p:nvPr/>
        </p:nvSpPr>
        <p:spPr>
          <a:xfrm>
            <a:off x="1280160" y="1444752"/>
            <a:ext cx="2286000" cy="347472"/>
          </a:xfrm>
          <a:prstGeom prst="rect">
            <a:avLst/>
          </a:prstGeom>
          <a:noFill/>
          <a:ln/>
        </p:spPr>
        <p:txBody>
          <a:bodyPr wrap="square" lIns="0" tIns="0" rIns="0" bIns="0" rtlCol="0" anchor="ctr"/>
          <a:lstStyle/>
          <a:p>
            <a:pPr algn="l" indent="0" marL="0">
              <a:buNone/>
            </a:pPr>
            <a:r>
              <a:rPr lang="en-US" sz="1400" b="1" dirty="0">
                <a:solidFill>
                  <a:schemeClr val="tx2"/>
                </a:solidFill>
              </a:rPr>
              <a:t>Satellites</a:t>
            </a:r>
            <a:endParaRPr lang="en-US" sz="1400" dirty="0"/>
          </a:p>
        </p:txBody>
      </p:sp>
      <p:sp>
        <p:nvSpPr>
          <p:cNvPr id="8" name="Text 4"/>
          <p:cNvSpPr txBox="1"/>
          <p:nvPr/>
        </p:nvSpPr>
        <p:spPr>
          <a:xfrm>
            <a:off x="1280160" y="1783080"/>
            <a:ext cx="2331720" cy="365760"/>
          </a:xfrm>
          <a:prstGeom prst="rect">
            <a:avLst/>
          </a:prstGeom>
          <a:noFill/>
          <a:ln/>
        </p:spPr>
        <p:txBody>
          <a:bodyPr wrap="square" lIns="0" tIns="0" rIns="0" bIns="0" rtlCol="0" anchor="ctr"/>
          <a:lstStyle/>
          <a:p>
            <a:pPr algn="l" indent="0" marL="0">
              <a:buNone/>
            </a:pPr>
            <a:r>
              <a:rPr lang="en-US" sz="1100" dirty="0">
                <a:solidFill>
                  <a:schemeClr val="tx1"/>
                </a:solidFill>
              </a:rPr>
              <a:t>INSAT-3D/3DR/3DS, polar orbiters</a:t>
            </a:r>
            <a:endParaRPr lang="en-US" sz="1100" dirty="0"/>
          </a:p>
        </p:txBody>
      </p:sp>
      <p:sp>
        <p:nvSpPr>
          <p:cNvPr id="9" name="arrow"/>
          <p:cNvSpPr/>
          <p:nvPr/>
        </p:nvSpPr>
        <p:spPr>
          <a:xfrm>
            <a:off x="3675888" y="1792224"/>
            <a:ext cx="484632" cy="1819656"/>
          </a:xfrm>
          <a:prstGeom prst="line">
            <a:avLst/>
          </a:prstGeom>
          <a:noFill/>
          <a:ln w="15875">
            <a:solidFill>
              <a:srgbClr val="5F6C72"/>
            </a:solidFill>
            <a:prstDash val="solid"/>
            <a:tailEnd type="triangle"/>
          </a:ln>
        </p:spPr>
      </p:sp>
      <p:sp>
        <p:nvSpPr>
          <p:cNvPr id="10" name="card"/>
          <p:cNvSpPr/>
          <p:nvPr/>
        </p:nvSpPr>
        <p:spPr>
          <a:xfrm>
            <a:off x="548640" y="2331720"/>
            <a:ext cx="3108960"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685800" y="2514600"/>
            <a:ext cx="475488" cy="475488"/>
          </a:xfrm>
          <a:prstGeom prst="ellipse">
            <a:avLst/>
          </a:prstGeom>
          <a:solidFill>
            <a:schemeClr val="accent5"/>
          </a:solidFill>
          <a:ln/>
        </p:spPr>
      </p:sp>
      <p:pic>
        <p:nvPicPr>
          <p:cNvPr id="12" name="Image 1" descr="BroadcastTower icon">    </p:cNvPr>
          <p:cNvPicPr>
            <a:picLocks noChangeAspect="1"/>
          </p:cNvPicPr>
          <p:nvPr/>
        </p:nvPicPr>
        <p:blipFill>
          <a:blip r:embed="rId2"/>
          <a:stretch>
            <a:fillRect/>
          </a:stretch>
        </p:blipFill>
        <p:spPr>
          <a:xfrm>
            <a:off x="809427" y="2638227"/>
            <a:ext cx="228234" cy="228234"/>
          </a:xfrm>
          <a:prstGeom prst="rect">
            <a:avLst/>
          </a:prstGeom>
        </p:spPr>
      </p:pic>
      <p:sp>
        <p:nvSpPr>
          <p:cNvPr id="13" name="Text 8"/>
          <p:cNvSpPr txBox="1"/>
          <p:nvPr/>
        </p:nvSpPr>
        <p:spPr>
          <a:xfrm>
            <a:off x="1280160" y="2404872"/>
            <a:ext cx="2286000" cy="347472"/>
          </a:xfrm>
          <a:prstGeom prst="rect">
            <a:avLst/>
          </a:prstGeom>
          <a:noFill/>
          <a:ln/>
        </p:spPr>
        <p:txBody>
          <a:bodyPr wrap="square" lIns="0" tIns="0" rIns="0" bIns="0" rtlCol="0" anchor="ctr"/>
          <a:lstStyle/>
          <a:p>
            <a:pPr algn="l" indent="0" marL="0">
              <a:buNone/>
            </a:pPr>
            <a:r>
              <a:rPr lang="en-US" sz="1400" b="1" dirty="0">
                <a:solidFill>
                  <a:schemeClr val="tx2"/>
                </a:solidFill>
              </a:rPr>
              <a:t>Radars</a:t>
            </a:r>
            <a:endParaRPr lang="en-US" sz="1400" dirty="0"/>
          </a:p>
        </p:txBody>
      </p:sp>
      <p:sp>
        <p:nvSpPr>
          <p:cNvPr id="14" name="Text 9"/>
          <p:cNvSpPr txBox="1"/>
          <p:nvPr/>
        </p:nvSpPr>
        <p:spPr>
          <a:xfrm>
            <a:off x="1280160" y="2743200"/>
            <a:ext cx="2331720" cy="365760"/>
          </a:xfrm>
          <a:prstGeom prst="rect">
            <a:avLst/>
          </a:prstGeom>
          <a:noFill/>
          <a:ln/>
        </p:spPr>
        <p:txBody>
          <a:bodyPr wrap="square" lIns="0" tIns="0" rIns="0" bIns="0" rtlCol="0" anchor="ctr"/>
          <a:lstStyle/>
          <a:p>
            <a:pPr algn="l" indent="0" marL="0">
              <a:buNone/>
            </a:pPr>
            <a:r>
              <a:rPr lang="en-US" sz="1100" dirty="0">
                <a:solidFill>
                  <a:schemeClr val="tx1"/>
                </a:solidFill>
              </a:rPr>
              <a:t>Doppler weather radar network</a:t>
            </a:r>
            <a:endParaRPr lang="en-US" sz="1100" dirty="0"/>
          </a:p>
        </p:txBody>
      </p:sp>
      <p:sp>
        <p:nvSpPr>
          <p:cNvPr id="15" name="arrow"/>
          <p:cNvSpPr/>
          <p:nvPr/>
        </p:nvSpPr>
        <p:spPr>
          <a:xfrm>
            <a:off x="3675888" y="2752344"/>
            <a:ext cx="484632" cy="859536"/>
          </a:xfrm>
          <a:prstGeom prst="line">
            <a:avLst/>
          </a:prstGeom>
          <a:noFill/>
          <a:ln w="15875">
            <a:solidFill>
              <a:srgbClr val="5F6C72"/>
            </a:solidFill>
            <a:prstDash val="solid"/>
            <a:tailEnd type="triangle"/>
          </a:ln>
        </p:spPr>
      </p:sp>
      <p:sp>
        <p:nvSpPr>
          <p:cNvPr id="16" name="card"/>
          <p:cNvSpPr/>
          <p:nvPr/>
        </p:nvSpPr>
        <p:spPr>
          <a:xfrm>
            <a:off x="548640" y="3291840"/>
            <a:ext cx="3108960"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685800" y="3474720"/>
            <a:ext cx="475488" cy="475488"/>
          </a:xfrm>
          <a:prstGeom prst="ellipse">
            <a:avLst/>
          </a:prstGeom>
          <a:solidFill>
            <a:schemeClr val="accent5"/>
          </a:solidFill>
          <a:ln/>
        </p:spPr>
      </p:sp>
      <p:pic>
        <p:nvPicPr>
          <p:cNvPr id="18" name="Image 2" descr="MapMarkedAlt icon">    </p:cNvPr>
          <p:cNvPicPr>
            <a:picLocks noChangeAspect="1"/>
          </p:cNvPicPr>
          <p:nvPr/>
        </p:nvPicPr>
        <p:blipFill>
          <a:blip r:embed="rId3"/>
          <a:stretch>
            <a:fillRect/>
          </a:stretch>
        </p:blipFill>
        <p:spPr>
          <a:xfrm>
            <a:off x="809427" y="3598347"/>
            <a:ext cx="228234" cy="228234"/>
          </a:xfrm>
          <a:prstGeom prst="rect">
            <a:avLst/>
          </a:prstGeom>
        </p:spPr>
      </p:pic>
      <p:sp>
        <p:nvSpPr>
          <p:cNvPr id="19" name="Text 13"/>
          <p:cNvSpPr txBox="1"/>
          <p:nvPr/>
        </p:nvSpPr>
        <p:spPr>
          <a:xfrm>
            <a:off x="1280160" y="3364992"/>
            <a:ext cx="2286000" cy="347472"/>
          </a:xfrm>
          <a:prstGeom prst="rect">
            <a:avLst/>
          </a:prstGeom>
          <a:noFill/>
          <a:ln/>
        </p:spPr>
        <p:txBody>
          <a:bodyPr wrap="square" lIns="0" tIns="0" rIns="0" bIns="0" rtlCol="0" anchor="ctr"/>
          <a:lstStyle/>
          <a:p>
            <a:pPr algn="l" indent="0" marL="0">
              <a:buNone/>
            </a:pPr>
            <a:r>
              <a:rPr lang="en-US" sz="1400" b="1" dirty="0">
                <a:solidFill>
                  <a:schemeClr val="tx2"/>
                </a:solidFill>
              </a:rPr>
              <a:t>Surface</a:t>
            </a:r>
            <a:endParaRPr lang="en-US" sz="1400" dirty="0"/>
          </a:p>
        </p:txBody>
      </p:sp>
      <p:sp>
        <p:nvSpPr>
          <p:cNvPr id="20" name="Text 14"/>
          <p:cNvSpPr txBox="1"/>
          <p:nvPr/>
        </p:nvSpPr>
        <p:spPr>
          <a:xfrm>
            <a:off x="1280160" y="3703320"/>
            <a:ext cx="2331720" cy="365760"/>
          </a:xfrm>
          <a:prstGeom prst="rect">
            <a:avLst/>
          </a:prstGeom>
          <a:noFill/>
          <a:ln/>
        </p:spPr>
        <p:txBody>
          <a:bodyPr wrap="square" lIns="0" tIns="0" rIns="0" bIns="0" rtlCol="0" anchor="ctr"/>
          <a:lstStyle/>
          <a:p>
            <a:pPr algn="l" indent="0" marL="0">
              <a:buNone/>
            </a:pPr>
            <a:r>
              <a:rPr lang="en-US" sz="1100" dirty="0">
                <a:solidFill>
                  <a:schemeClr val="tx1"/>
                </a:solidFill>
              </a:rPr>
              <a:t>Observatories, AWS, rain gauges</a:t>
            </a:r>
            <a:endParaRPr lang="en-US" sz="1100" dirty="0"/>
          </a:p>
        </p:txBody>
      </p:sp>
      <p:sp>
        <p:nvSpPr>
          <p:cNvPr id="21" name="arrow"/>
          <p:cNvSpPr/>
          <p:nvPr/>
        </p:nvSpPr>
        <p:spPr>
          <a:xfrm flipV="1">
            <a:off x="3675888" y="3611880"/>
            <a:ext cx="484632" cy="100584"/>
          </a:xfrm>
          <a:prstGeom prst="line">
            <a:avLst/>
          </a:prstGeom>
          <a:noFill/>
          <a:ln w="15875">
            <a:solidFill>
              <a:srgbClr val="5F6C72"/>
            </a:solidFill>
            <a:prstDash val="solid"/>
            <a:tailEnd type="triangle"/>
          </a:ln>
        </p:spPr>
      </p:sp>
      <p:sp>
        <p:nvSpPr>
          <p:cNvPr id="22" name="card"/>
          <p:cNvSpPr/>
          <p:nvPr/>
        </p:nvSpPr>
        <p:spPr>
          <a:xfrm>
            <a:off x="548640" y="4251960"/>
            <a:ext cx="3108960"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23" name="icon circle"/>
          <p:cNvSpPr/>
          <p:nvPr/>
        </p:nvSpPr>
        <p:spPr>
          <a:xfrm>
            <a:off x="685800" y="4434840"/>
            <a:ext cx="475488" cy="475488"/>
          </a:xfrm>
          <a:prstGeom prst="ellipse">
            <a:avLst/>
          </a:prstGeom>
          <a:solidFill>
            <a:schemeClr val="accent5"/>
          </a:solidFill>
          <a:ln/>
        </p:spPr>
      </p:sp>
      <p:pic>
        <p:nvPicPr>
          <p:cNvPr id="24" name="Image 3" descr="Plane icon">    </p:cNvPr>
          <p:cNvPicPr>
            <a:picLocks noChangeAspect="1"/>
          </p:cNvPicPr>
          <p:nvPr/>
        </p:nvPicPr>
        <p:blipFill>
          <a:blip r:embed="rId4"/>
          <a:stretch>
            <a:fillRect/>
          </a:stretch>
        </p:blipFill>
        <p:spPr>
          <a:xfrm>
            <a:off x="809427" y="4558467"/>
            <a:ext cx="228234" cy="228234"/>
          </a:xfrm>
          <a:prstGeom prst="rect">
            <a:avLst/>
          </a:prstGeom>
        </p:spPr>
      </p:pic>
      <p:sp>
        <p:nvSpPr>
          <p:cNvPr id="25" name="Text 18"/>
          <p:cNvSpPr txBox="1"/>
          <p:nvPr/>
        </p:nvSpPr>
        <p:spPr>
          <a:xfrm>
            <a:off x="1280160" y="4325112"/>
            <a:ext cx="2286000" cy="347472"/>
          </a:xfrm>
          <a:prstGeom prst="rect">
            <a:avLst/>
          </a:prstGeom>
          <a:noFill/>
          <a:ln/>
        </p:spPr>
        <p:txBody>
          <a:bodyPr wrap="square" lIns="0" tIns="0" rIns="0" bIns="0" rtlCol="0" anchor="ctr"/>
          <a:lstStyle/>
          <a:p>
            <a:pPr algn="l" indent="0" marL="0">
              <a:buNone/>
            </a:pPr>
            <a:r>
              <a:rPr lang="en-US" sz="1400" b="1" dirty="0">
                <a:solidFill>
                  <a:schemeClr val="tx2"/>
                </a:solidFill>
              </a:rPr>
              <a:t>Upper air &amp; aircraft</a:t>
            </a:r>
            <a:endParaRPr lang="en-US" sz="1400" dirty="0"/>
          </a:p>
        </p:txBody>
      </p:sp>
      <p:sp>
        <p:nvSpPr>
          <p:cNvPr id="26" name="Text 19"/>
          <p:cNvSpPr txBox="1"/>
          <p:nvPr/>
        </p:nvSpPr>
        <p:spPr>
          <a:xfrm>
            <a:off x="1280160" y="4663440"/>
            <a:ext cx="2331720" cy="365760"/>
          </a:xfrm>
          <a:prstGeom prst="rect">
            <a:avLst/>
          </a:prstGeom>
          <a:noFill/>
          <a:ln/>
        </p:spPr>
        <p:txBody>
          <a:bodyPr wrap="square" lIns="0" tIns="0" rIns="0" bIns="0" rtlCol="0" anchor="ctr"/>
          <a:lstStyle/>
          <a:p>
            <a:pPr algn="l" indent="0" marL="0">
              <a:buNone/>
            </a:pPr>
            <a:r>
              <a:rPr lang="en-US" sz="1100" dirty="0">
                <a:solidFill>
                  <a:schemeClr val="tx1"/>
                </a:solidFill>
              </a:rPr>
              <a:t>Radiosonde, pilot balloons, AMDAR</a:t>
            </a:r>
            <a:endParaRPr lang="en-US" sz="1100" dirty="0"/>
          </a:p>
        </p:txBody>
      </p:sp>
      <p:sp>
        <p:nvSpPr>
          <p:cNvPr id="27" name="arrow"/>
          <p:cNvSpPr/>
          <p:nvPr/>
        </p:nvSpPr>
        <p:spPr>
          <a:xfrm flipV="1">
            <a:off x="3675888" y="3611880"/>
            <a:ext cx="484632" cy="1060704"/>
          </a:xfrm>
          <a:prstGeom prst="line">
            <a:avLst/>
          </a:prstGeom>
          <a:noFill/>
          <a:ln w="15875">
            <a:solidFill>
              <a:srgbClr val="5F6C72"/>
            </a:solidFill>
            <a:prstDash val="solid"/>
            <a:tailEnd type="triangle"/>
          </a:ln>
        </p:spPr>
      </p:sp>
      <p:sp>
        <p:nvSpPr>
          <p:cNvPr id="28" name="card"/>
          <p:cNvSpPr/>
          <p:nvPr/>
        </p:nvSpPr>
        <p:spPr>
          <a:xfrm>
            <a:off x="548640" y="5212080"/>
            <a:ext cx="3108960"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685800" y="5394960"/>
            <a:ext cx="475488" cy="475488"/>
          </a:xfrm>
          <a:prstGeom prst="ellipse">
            <a:avLst/>
          </a:prstGeom>
          <a:solidFill>
            <a:schemeClr val="accent5"/>
          </a:solidFill>
          <a:ln/>
        </p:spPr>
      </p:sp>
      <p:pic>
        <p:nvPicPr>
          <p:cNvPr id="30" name="Image 4" descr="Ship icon">    </p:cNvPr>
          <p:cNvPicPr>
            <a:picLocks noChangeAspect="1"/>
          </p:cNvPicPr>
          <p:nvPr/>
        </p:nvPicPr>
        <p:blipFill>
          <a:blip r:embed="rId5"/>
          <a:stretch>
            <a:fillRect/>
          </a:stretch>
        </p:blipFill>
        <p:spPr>
          <a:xfrm>
            <a:off x="809427" y="5518587"/>
            <a:ext cx="228234" cy="228234"/>
          </a:xfrm>
          <a:prstGeom prst="rect">
            <a:avLst/>
          </a:prstGeom>
        </p:spPr>
      </p:pic>
      <p:sp>
        <p:nvSpPr>
          <p:cNvPr id="31" name="Text 23"/>
          <p:cNvSpPr txBox="1"/>
          <p:nvPr/>
        </p:nvSpPr>
        <p:spPr>
          <a:xfrm>
            <a:off x="1280160" y="5285232"/>
            <a:ext cx="2286000" cy="347472"/>
          </a:xfrm>
          <a:prstGeom prst="rect">
            <a:avLst/>
          </a:prstGeom>
          <a:noFill/>
          <a:ln/>
        </p:spPr>
        <p:txBody>
          <a:bodyPr wrap="square" lIns="0" tIns="0" rIns="0" bIns="0" rtlCol="0" anchor="ctr"/>
          <a:lstStyle/>
          <a:p>
            <a:pPr algn="l" indent="0" marL="0">
              <a:buNone/>
            </a:pPr>
            <a:r>
              <a:rPr lang="en-US" sz="1400" b="1" dirty="0">
                <a:solidFill>
                  <a:schemeClr val="tx2"/>
                </a:solidFill>
              </a:rPr>
              <a:t>Ocean</a:t>
            </a:r>
            <a:endParaRPr lang="en-US" sz="1400" dirty="0"/>
          </a:p>
        </p:txBody>
      </p:sp>
      <p:sp>
        <p:nvSpPr>
          <p:cNvPr id="32" name="Text 24"/>
          <p:cNvSpPr txBox="1"/>
          <p:nvPr/>
        </p:nvSpPr>
        <p:spPr>
          <a:xfrm>
            <a:off x="1280160" y="5623560"/>
            <a:ext cx="2331720" cy="365760"/>
          </a:xfrm>
          <a:prstGeom prst="rect">
            <a:avLst/>
          </a:prstGeom>
          <a:noFill/>
          <a:ln/>
        </p:spPr>
        <p:txBody>
          <a:bodyPr wrap="square" lIns="0" tIns="0" rIns="0" bIns="0" rtlCol="0" anchor="ctr"/>
          <a:lstStyle/>
          <a:p>
            <a:pPr algn="l" indent="0" marL="0">
              <a:buNone/>
            </a:pPr>
            <a:r>
              <a:rPr lang="en-US" sz="1100" dirty="0">
                <a:solidFill>
                  <a:schemeClr val="tx1"/>
                </a:solidFill>
              </a:rPr>
              <a:t>RAMA &amp; OMNI buoys, Argo floats</a:t>
            </a:r>
            <a:endParaRPr lang="en-US" sz="1100" dirty="0"/>
          </a:p>
        </p:txBody>
      </p:sp>
      <p:sp>
        <p:nvSpPr>
          <p:cNvPr id="33" name="arrow"/>
          <p:cNvSpPr/>
          <p:nvPr/>
        </p:nvSpPr>
        <p:spPr>
          <a:xfrm flipV="1">
            <a:off x="3675888" y="3611880"/>
            <a:ext cx="484632" cy="2020824"/>
          </a:xfrm>
          <a:prstGeom prst="line">
            <a:avLst/>
          </a:prstGeom>
          <a:noFill/>
          <a:ln w="15875">
            <a:solidFill>
              <a:srgbClr val="5F6C72"/>
            </a:solidFill>
            <a:prstDash val="solid"/>
            <a:tailEnd type="triangle"/>
          </a:ln>
        </p:spPr>
      </p:sp>
      <p:sp>
        <p:nvSpPr>
          <p:cNvPr id="34" name="diagram box"/>
          <p:cNvSpPr/>
          <p:nvPr/>
        </p:nvSpPr>
        <p:spPr>
          <a:xfrm>
            <a:off x="4206240" y="2926080"/>
            <a:ext cx="2103120" cy="1371600"/>
          </a:xfrm>
          <a:prstGeom prst="roundRect">
            <a:avLst>
              <a:gd name="adj" fmla="val 5333"/>
            </a:avLst>
          </a:prstGeom>
          <a:solidFill>
            <a:schemeClr val="accent1"/>
          </a:solidFill>
          <a:ln/>
        </p:spPr>
      </p:sp>
      <p:sp>
        <p:nvSpPr>
          <p:cNvPr id="35" name="Text 27"/>
          <p:cNvSpPr txBox="1"/>
          <p:nvPr/>
        </p:nvSpPr>
        <p:spPr>
          <a:xfrm>
            <a:off x="4206240" y="2926080"/>
            <a:ext cx="2103120" cy="1371600"/>
          </a:xfrm>
          <a:prstGeom prst="rect">
            <a:avLst/>
          </a:prstGeom>
          <a:noFill/>
          <a:ln/>
        </p:spPr>
        <p:txBody>
          <a:bodyPr wrap="square" lIns="508" tIns="508" rIns="508" bIns="508" rtlCol="0" anchor="ctr"/>
          <a:lstStyle/>
          <a:p>
            <a:pPr algn="ctr" indent="0" marL="0">
              <a:buNone/>
            </a:pPr>
            <a:r>
              <a:rPr lang="en-US" sz="1300" dirty="0">
                <a:solidFill>
                  <a:schemeClr val="bg1"/>
                </a:solidFill>
              </a:rPr>
              <a:t>Quality control +</a:t>
            </a:r>
            <a:endParaRPr lang="en-US" sz="1300" dirty="0"/>
          </a:p>
          <a:p>
            <a:pPr algn="ctr" indent="0" marL="0">
              <a:buNone/>
            </a:pPr>
            <a:r>
              <a:rPr lang="en-US" sz="1300" dirty="0">
                <a:solidFill>
                  <a:schemeClr val="bg1"/>
                </a:solidFill>
              </a:rPr>
              <a:t>data assimilation</a:t>
            </a:r>
            <a:endParaRPr lang="en-US" sz="1300" dirty="0"/>
          </a:p>
          <a:p>
            <a:pPr algn="ctr" indent="0" marL="0">
              <a:buNone/>
            </a:pPr>
            <a:r>
              <a:rPr lang="en-US" sz="1300" dirty="0">
                <a:solidFill>
                  <a:schemeClr val="bg1"/>
                </a:solidFill>
              </a:rPr>
              <a:t>(3D/4D-Var, hybrid EnVar)</a:t>
            </a:r>
            <a:endParaRPr lang="en-US" sz="1300" dirty="0"/>
          </a:p>
        </p:txBody>
      </p:sp>
      <p:sp>
        <p:nvSpPr>
          <p:cNvPr id="36" name="arrow"/>
          <p:cNvSpPr/>
          <p:nvPr/>
        </p:nvSpPr>
        <p:spPr>
          <a:xfrm>
            <a:off x="6327648" y="3611880"/>
            <a:ext cx="576072" cy="0"/>
          </a:xfrm>
          <a:prstGeom prst="line">
            <a:avLst/>
          </a:prstGeom>
          <a:noFill/>
          <a:ln w="31750">
            <a:solidFill>
              <a:srgbClr val="0E3B43"/>
            </a:solidFill>
            <a:prstDash val="solid"/>
            <a:tailEnd type="triangle"/>
          </a:ln>
        </p:spPr>
      </p:sp>
      <p:sp>
        <p:nvSpPr>
          <p:cNvPr id="37" name="diagram box"/>
          <p:cNvSpPr/>
          <p:nvPr/>
        </p:nvSpPr>
        <p:spPr>
          <a:xfrm>
            <a:off x="6949440" y="2926080"/>
            <a:ext cx="1920240" cy="1371600"/>
          </a:xfrm>
          <a:prstGeom prst="roundRect">
            <a:avLst>
              <a:gd name="adj" fmla="val 5333"/>
            </a:avLst>
          </a:prstGeom>
          <a:solidFill>
            <a:schemeClr val="accent5"/>
          </a:solidFill>
          <a:ln/>
        </p:spPr>
      </p:sp>
      <p:sp>
        <p:nvSpPr>
          <p:cNvPr id="38" name="Text 30"/>
          <p:cNvSpPr txBox="1"/>
          <p:nvPr/>
        </p:nvSpPr>
        <p:spPr>
          <a:xfrm>
            <a:off x="6949440" y="2926080"/>
            <a:ext cx="1920240" cy="1371600"/>
          </a:xfrm>
          <a:prstGeom prst="rect">
            <a:avLst/>
          </a:prstGeom>
          <a:noFill/>
          <a:ln/>
        </p:spPr>
        <p:txBody>
          <a:bodyPr wrap="square" lIns="508" tIns="508" rIns="508" bIns="508" rtlCol="0" anchor="ctr"/>
          <a:lstStyle/>
          <a:p>
            <a:pPr algn="ctr" indent="0" marL="0">
              <a:buNone/>
            </a:pPr>
            <a:r>
              <a:rPr lang="en-US" sz="1300" dirty="0">
                <a:solidFill>
                  <a:schemeClr val="bg1"/>
                </a:solidFill>
              </a:rPr>
              <a:t>Initial conditions</a:t>
            </a:r>
            <a:endParaRPr lang="en-US" sz="1300" dirty="0"/>
          </a:p>
          <a:p>
            <a:pPr algn="ctr" indent="0" marL="0">
              <a:buNone/>
            </a:pPr>
            <a:r>
              <a:rPr lang="en-US" sz="1300" dirty="0">
                <a:solidFill>
                  <a:schemeClr val="bg1"/>
                </a:solidFill>
              </a:rPr>
              <a:t>atmosphere · ocean · land</a:t>
            </a:r>
            <a:endParaRPr lang="en-US" sz="1300" dirty="0"/>
          </a:p>
        </p:txBody>
      </p:sp>
      <p:sp>
        <p:nvSpPr>
          <p:cNvPr id="39" name="arrow"/>
          <p:cNvSpPr/>
          <p:nvPr/>
        </p:nvSpPr>
        <p:spPr>
          <a:xfrm>
            <a:off x="8887968" y="3611880"/>
            <a:ext cx="530352" cy="0"/>
          </a:xfrm>
          <a:prstGeom prst="line">
            <a:avLst/>
          </a:prstGeom>
          <a:noFill/>
          <a:ln w="31750">
            <a:solidFill>
              <a:srgbClr val="0E3B43"/>
            </a:solidFill>
            <a:prstDash val="solid"/>
            <a:tailEnd type="triangle"/>
          </a:ln>
        </p:spPr>
      </p:sp>
      <p:sp>
        <p:nvSpPr>
          <p:cNvPr id="40" name="diagram box"/>
          <p:cNvSpPr/>
          <p:nvPr/>
        </p:nvSpPr>
        <p:spPr>
          <a:xfrm>
            <a:off x="9464040" y="2926080"/>
            <a:ext cx="2176272" cy="1371600"/>
          </a:xfrm>
          <a:prstGeom prst="roundRect">
            <a:avLst>
              <a:gd name="adj" fmla="val 5333"/>
            </a:avLst>
          </a:prstGeom>
          <a:solidFill>
            <a:schemeClr val="accent2"/>
          </a:solidFill>
          <a:ln/>
        </p:spPr>
      </p:sp>
      <p:sp>
        <p:nvSpPr>
          <p:cNvPr id="41" name="Text 33"/>
          <p:cNvSpPr txBox="1"/>
          <p:nvPr/>
        </p:nvSpPr>
        <p:spPr>
          <a:xfrm>
            <a:off x="9464040" y="2926080"/>
            <a:ext cx="2176272" cy="1371600"/>
          </a:xfrm>
          <a:prstGeom prst="rect">
            <a:avLst/>
          </a:prstGeom>
          <a:noFill/>
          <a:ln/>
        </p:spPr>
        <p:txBody>
          <a:bodyPr wrap="square" lIns="508" tIns="508" rIns="508" bIns="508" rtlCol="0" anchor="ctr"/>
          <a:lstStyle/>
          <a:p>
            <a:pPr algn="ctr" indent="0" marL="0">
              <a:buNone/>
            </a:pPr>
            <a:r>
              <a:rPr lang="en-US" sz="1400" b="1" dirty="0">
                <a:solidFill>
                  <a:schemeClr val="bg1"/>
                </a:solidFill>
              </a:rPr>
              <a:t>Models on HPC</a:t>
            </a:r>
            <a:endParaRPr lang="en-US" sz="1400" dirty="0"/>
          </a:p>
          <a:p>
            <a:pPr algn="ctr" indent="0" marL="0">
              <a:buNone/>
            </a:pPr>
            <a:r>
              <a:rPr lang="en-US" sz="1400" b="1" dirty="0">
                <a:solidFill>
                  <a:schemeClr val="bg1"/>
                </a:solidFill>
              </a:rPr>
              <a:t>→ forecasts</a:t>
            </a:r>
            <a:endParaRPr lang="en-US" sz="1400" dirty="0"/>
          </a:p>
        </p:txBody>
      </p:sp>
      <p:sp>
        <p:nvSpPr>
          <p:cNvPr id="42" name="card"/>
          <p:cNvSpPr/>
          <p:nvPr/>
        </p:nvSpPr>
        <p:spPr>
          <a:xfrm>
            <a:off x="4206240" y="1371600"/>
            <a:ext cx="7434072" cy="1280160"/>
          </a:xfrm>
          <a:prstGeom prst="roundRect">
            <a:avLst>
              <a:gd name="adj" fmla="val 5714"/>
            </a:avLst>
          </a:prstGeom>
          <a:solidFill>
            <a:schemeClr val="tx2"/>
          </a:solidFill>
          <a:ln/>
          <a:effectLst>
            <a:outerShdw sx="100000" sy="100000" kx="0" ky="0" algn="bl" rotWithShape="0" blurRad="76200" dist="25400" dir="5400000">
              <a:srgbClr val="000000">
                <a:alpha val="14000"/>
              </a:srgbClr>
            </a:outerShdw>
          </a:effectLst>
        </p:spPr>
      </p:sp>
      <p:sp>
        <p:nvSpPr>
          <p:cNvPr id="43" name="Text 35"/>
          <p:cNvSpPr txBox="1"/>
          <p:nvPr/>
        </p:nvSpPr>
        <p:spPr>
          <a:xfrm>
            <a:off x="4297680" y="1417320"/>
            <a:ext cx="2377440" cy="685800"/>
          </a:xfrm>
          <a:prstGeom prst="rect">
            <a:avLst/>
          </a:prstGeom>
          <a:noFill/>
          <a:ln/>
        </p:spPr>
        <p:txBody>
          <a:bodyPr wrap="square" lIns="0" tIns="0" rIns="0" bIns="0" rtlCol="0" anchor="ctr"/>
          <a:lstStyle/>
          <a:p>
            <a:pPr algn="ctr" indent="0" marL="0">
              <a:buNone/>
            </a:pPr>
            <a:r>
              <a:rPr lang="en-US" sz="2800" b="1" dirty="0">
                <a:solidFill>
                  <a:schemeClr val="accent3"/>
                </a:solidFill>
              </a:rPr>
              <a:t>11.77 PF</a:t>
            </a:r>
            <a:endParaRPr lang="en-US" sz="2800" dirty="0"/>
          </a:p>
        </p:txBody>
      </p:sp>
      <p:sp>
        <p:nvSpPr>
          <p:cNvPr id="44" name="Text 36"/>
          <p:cNvSpPr txBox="1"/>
          <p:nvPr/>
        </p:nvSpPr>
        <p:spPr>
          <a:xfrm>
            <a:off x="4297680" y="2103120"/>
            <a:ext cx="2377440" cy="411480"/>
          </a:xfrm>
          <a:prstGeom prst="rect">
            <a:avLst/>
          </a:prstGeom>
          <a:noFill/>
          <a:ln/>
        </p:spPr>
        <p:txBody>
          <a:bodyPr wrap="square" lIns="0" tIns="0" rIns="0" bIns="0" rtlCol="0" anchor="ctr"/>
          <a:lstStyle/>
          <a:p>
            <a:pPr algn="ctr" indent="0" marL="0">
              <a:buNone/>
            </a:pPr>
            <a:r>
              <a:rPr lang="en-US" sz="1200" dirty="0">
                <a:solidFill>
                  <a:schemeClr val="bg2"/>
                </a:solidFill>
              </a:rPr>
              <a:t>Arka · IITM Pune</a:t>
            </a:r>
            <a:endParaRPr lang="en-US" sz="1200" dirty="0"/>
          </a:p>
        </p:txBody>
      </p:sp>
      <p:sp>
        <p:nvSpPr>
          <p:cNvPr id="45" name="Text 37"/>
          <p:cNvSpPr txBox="1"/>
          <p:nvPr/>
        </p:nvSpPr>
        <p:spPr>
          <a:xfrm>
            <a:off x="6766560" y="1417320"/>
            <a:ext cx="2377440" cy="685800"/>
          </a:xfrm>
          <a:prstGeom prst="rect">
            <a:avLst/>
          </a:prstGeom>
          <a:noFill/>
          <a:ln/>
        </p:spPr>
        <p:txBody>
          <a:bodyPr wrap="square" lIns="0" tIns="0" rIns="0" bIns="0" rtlCol="0" anchor="ctr"/>
          <a:lstStyle/>
          <a:p>
            <a:pPr algn="ctr" indent="0" marL="0">
              <a:buNone/>
            </a:pPr>
            <a:r>
              <a:rPr lang="en-US" sz="2800" b="1" dirty="0">
                <a:solidFill>
                  <a:schemeClr val="accent3"/>
                </a:solidFill>
              </a:rPr>
              <a:t>8.24 PF</a:t>
            </a:r>
            <a:endParaRPr lang="en-US" sz="2800" dirty="0"/>
          </a:p>
        </p:txBody>
      </p:sp>
      <p:sp>
        <p:nvSpPr>
          <p:cNvPr id="46" name="Text 38"/>
          <p:cNvSpPr txBox="1"/>
          <p:nvPr/>
        </p:nvSpPr>
        <p:spPr>
          <a:xfrm>
            <a:off x="6766560" y="2103120"/>
            <a:ext cx="2377440" cy="411480"/>
          </a:xfrm>
          <a:prstGeom prst="rect">
            <a:avLst/>
          </a:prstGeom>
          <a:noFill/>
          <a:ln/>
        </p:spPr>
        <p:txBody>
          <a:bodyPr wrap="square" lIns="0" tIns="0" rIns="0" bIns="0" rtlCol="0" anchor="ctr"/>
          <a:lstStyle/>
          <a:p>
            <a:pPr algn="ctr" indent="0" marL="0">
              <a:buNone/>
            </a:pPr>
            <a:r>
              <a:rPr lang="en-US" sz="1200" dirty="0">
                <a:solidFill>
                  <a:schemeClr val="bg2"/>
                </a:solidFill>
              </a:rPr>
              <a:t>Arunika · NCMRWF Noida</a:t>
            </a:r>
            <a:endParaRPr lang="en-US" sz="1200" dirty="0"/>
          </a:p>
        </p:txBody>
      </p:sp>
      <p:sp>
        <p:nvSpPr>
          <p:cNvPr id="47" name="Text 39"/>
          <p:cNvSpPr txBox="1"/>
          <p:nvPr/>
        </p:nvSpPr>
        <p:spPr>
          <a:xfrm>
            <a:off x="9235440" y="1417320"/>
            <a:ext cx="2377440" cy="685800"/>
          </a:xfrm>
          <a:prstGeom prst="rect">
            <a:avLst/>
          </a:prstGeom>
          <a:noFill/>
          <a:ln/>
        </p:spPr>
        <p:txBody>
          <a:bodyPr wrap="square" lIns="0" tIns="0" rIns="0" bIns="0" rtlCol="0" anchor="ctr"/>
          <a:lstStyle/>
          <a:p>
            <a:pPr algn="ctr" indent="0" marL="0">
              <a:buNone/>
            </a:pPr>
            <a:r>
              <a:rPr lang="en-US" sz="2800" b="1" dirty="0">
                <a:solidFill>
                  <a:schemeClr val="accent3"/>
                </a:solidFill>
              </a:rPr>
              <a:t>2024</a:t>
            </a:r>
            <a:endParaRPr lang="en-US" sz="2800" dirty="0"/>
          </a:p>
        </p:txBody>
      </p:sp>
      <p:sp>
        <p:nvSpPr>
          <p:cNvPr id="48" name="Text 40"/>
          <p:cNvSpPr txBox="1"/>
          <p:nvPr/>
        </p:nvSpPr>
        <p:spPr>
          <a:xfrm>
            <a:off x="9235440" y="2103120"/>
            <a:ext cx="2377440" cy="411480"/>
          </a:xfrm>
          <a:prstGeom prst="rect">
            <a:avLst/>
          </a:prstGeom>
          <a:noFill/>
          <a:ln/>
        </p:spPr>
        <p:txBody>
          <a:bodyPr wrap="square" lIns="0" tIns="0" rIns="0" bIns="0" rtlCol="0" anchor="ctr"/>
          <a:lstStyle/>
          <a:p>
            <a:pPr algn="ctr" indent="0" marL="0">
              <a:buNone/>
            </a:pPr>
            <a:r>
              <a:rPr lang="en-US" sz="1200" dirty="0">
                <a:solidFill>
                  <a:schemeClr val="bg2"/>
                </a:solidFill>
              </a:rPr>
              <a:t>commissioned under MoES</a:t>
            </a:r>
            <a:endParaRPr lang="en-US" sz="1200" dirty="0"/>
          </a:p>
        </p:txBody>
      </p:sp>
      <p:sp>
        <p:nvSpPr>
          <p:cNvPr id="49" name="card"/>
          <p:cNvSpPr/>
          <p:nvPr/>
        </p:nvSpPr>
        <p:spPr>
          <a:xfrm>
            <a:off x="4206240" y="4572000"/>
            <a:ext cx="743407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50" name="icon circle"/>
          <p:cNvSpPr/>
          <p:nvPr/>
        </p:nvSpPr>
        <p:spPr>
          <a:xfrm>
            <a:off x="4389120" y="4727448"/>
            <a:ext cx="420624" cy="420624"/>
          </a:xfrm>
          <a:prstGeom prst="ellipse">
            <a:avLst/>
          </a:prstGeom>
          <a:solidFill>
            <a:schemeClr val="accent1"/>
          </a:solidFill>
          <a:ln/>
        </p:spPr>
      </p:sp>
      <p:pic>
        <p:nvPicPr>
          <p:cNvPr id="51" name="Image 5" descr="Users icon">    </p:cNvPr>
          <p:cNvPicPr>
            <a:picLocks noChangeAspect="1"/>
          </p:cNvPicPr>
          <p:nvPr/>
        </p:nvPicPr>
        <p:blipFill>
          <a:blip r:embed="rId6"/>
          <a:stretch>
            <a:fillRect/>
          </a:stretch>
        </p:blipFill>
        <p:spPr>
          <a:xfrm>
            <a:off x="4498482" y="4836810"/>
            <a:ext cx="201900" cy="201900"/>
          </a:xfrm>
          <a:prstGeom prst="rect">
            <a:avLst/>
          </a:prstGeom>
        </p:spPr>
      </p:pic>
      <p:sp>
        <p:nvSpPr>
          <p:cNvPr id="52" name="Text 43"/>
          <p:cNvSpPr txBox="1"/>
          <p:nvPr/>
        </p:nvSpPr>
        <p:spPr>
          <a:xfrm>
            <a:off x="4919472" y="4709160"/>
            <a:ext cx="6583680" cy="457200"/>
          </a:xfrm>
          <a:prstGeom prst="rect">
            <a:avLst/>
          </a:prstGeom>
          <a:noFill/>
          <a:ln/>
        </p:spPr>
        <p:txBody>
          <a:bodyPr wrap="square" lIns="0" tIns="0" rIns="0" bIns="0" rtlCol="0" anchor="ctr"/>
          <a:lstStyle/>
          <a:p>
            <a:pPr indent="0" marL="0">
              <a:buNone/>
            </a:pPr>
            <a:r>
              <a:rPr lang="en-US" sz="1600" b="1" dirty="0">
                <a:solidFill>
                  <a:schemeClr val="tx2"/>
                </a:solidFill>
              </a:rPr>
              <a:t>Who does what (MoES family)</a:t>
            </a:r>
            <a:endParaRPr lang="en-US" sz="1600" dirty="0"/>
          </a:p>
        </p:txBody>
      </p:sp>
      <p:sp>
        <p:nvSpPr>
          <p:cNvPr id="53" name="Text 44"/>
          <p:cNvSpPr txBox="1"/>
          <p:nvPr/>
        </p:nvSpPr>
        <p:spPr>
          <a:xfrm>
            <a:off x="4389120" y="5257800"/>
            <a:ext cx="7068312" cy="822960"/>
          </a:xfrm>
          <a:prstGeom prst="rect">
            <a:avLst/>
          </a:prstGeom>
          <a:noFill/>
          <a:ln/>
        </p:spPr>
        <p:txBody>
          <a:bodyPr wrap="square" lIns="508" tIns="508" rIns="508" bIns="508" rtlCol="0" anchor="t"/>
          <a:lstStyle/>
          <a:p>
            <a:pPr indent="0" marL="0">
              <a:spcAft>
                <a:spcPts val="400"/>
              </a:spcAft>
              <a:buNone/>
            </a:pPr>
            <a:r>
              <a:rPr lang="en-US" sz="1300" b="1" dirty="0">
                <a:solidFill>
                  <a:schemeClr val="tx1"/>
                </a:solidFill>
              </a:rPr>
              <a:t>IMD</a:t>
            </a:r>
            <a:r>
              <a:rPr lang="en-US" sz="1300" dirty="0">
                <a:solidFill>
                  <a:schemeClr val="tx1"/>
                </a:solidFill>
              </a:rPr>
              <a:t> operational forecasts &amp; warnings · </a:t>
            </a:r>
            <a:r>
              <a:rPr lang="en-US" sz="1300" b="1" dirty="0">
                <a:solidFill>
                  <a:schemeClr val="tx1"/>
                </a:solidFill>
              </a:rPr>
              <a:t>NCMRWF</a:t>
            </a:r>
            <a:r>
              <a:rPr lang="en-US" sz="1300" dirty="0">
                <a:solidFill>
                  <a:schemeClr val="tx1"/>
                </a:solidFill>
              </a:rPr>
              <a:t> global NWP &amp; data assimilation · </a:t>
            </a:r>
            <a:r>
              <a:rPr lang="en-US" sz="1300" b="1" dirty="0">
                <a:solidFill>
                  <a:schemeClr val="tx1"/>
                </a:solidFill>
              </a:rPr>
              <a:t>IITM Pune</a:t>
            </a:r>
            <a:r>
              <a:rPr lang="en-US" sz="1300" dirty="0">
                <a:solidFill>
                  <a:schemeClr val="tx1"/>
                </a:solidFill>
              </a:rPr>
              <a:t> research, Monsoon Mission, ERF &amp; BFS · </a:t>
            </a:r>
            <a:r>
              <a:rPr lang="en-US" sz="1300" b="1" dirty="0">
                <a:solidFill>
                  <a:schemeClr val="tx1"/>
                </a:solidFill>
              </a:rPr>
              <a:t>INCOIS</a:t>
            </a:r>
            <a:r>
              <a:rPr lang="en-US" sz="1300" dirty="0">
                <a:solidFill>
                  <a:schemeClr val="tx1"/>
                </a:solidFill>
              </a:rPr>
              <a:t> ocean observations &amp; ocean analysis for coupled models.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Long-range forecasting (LRF)</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The seasonal monsoon forecast: what is issued and when, and how the statistical and dynamical systems produce it</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LRF calendar: what IMD issues and when</a:t>
            </a:r>
            <a:endParaRPr lang="en-US" sz="3200" dirty="0"/>
          </a:p>
        </p:txBody>
      </p:sp>
      <p:sp>
        <p:nvSpPr>
          <p:cNvPr id="4" name="calendar stage"/>
          <p:cNvSpPr/>
          <p:nvPr/>
        </p:nvSpPr>
        <p:spPr>
          <a:xfrm>
            <a:off x="548640" y="1371600"/>
            <a:ext cx="1764792" cy="914400"/>
          </a:xfrm>
          <a:prstGeom prst="roundRect">
            <a:avLst>
              <a:gd name="adj" fmla="val 8000"/>
            </a:avLst>
          </a:prstGeom>
          <a:solidFill>
            <a:schemeClr val="accent1"/>
          </a:solidFill>
          <a:ln/>
        </p:spPr>
      </p:sp>
      <p:sp>
        <p:nvSpPr>
          <p:cNvPr id="5" name="Text 2"/>
          <p:cNvSpPr txBox="1"/>
          <p:nvPr/>
        </p:nvSpPr>
        <p:spPr>
          <a:xfrm>
            <a:off x="548640" y="1371600"/>
            <a:ext cx="1764792" cy="914400"/>
          </a:xfrm>
          <a:prstGeom prst="rect">
            <a:avLst/>
          </a:prstGeom>
          <a:noFill/>
          <a:ln/>
        </p:spPr>
        <p:txBody>
          <a:bodyPr wrap="square" lIns="0" tIns="0" rIns="0" bIns="0" rtlCol="0" anchor="ctr"/>
          <a:lstStyle/>
          <a:p>
            <a:pPr algn="ctr" indent="0" marL="0">
              <a:buNone/>
            </a:pPr>
            <a:r>
              <a:rPr lang="en-US" sz="1600" b="1" dirty="0">
                <a:solidFill>
                  <a:schemeClr val="bg1"/>
                </a:solidFill>
              </a:rPr>
              <a:t>mid-April</a:t>
            </a:r>
            <a:endParaRPr lang="en-US" sz="1600" dirty="0"/>
          </a:p>
          <a:p>
            <a:pPr algn="ctr" indent="0" marL="0">
              <a:buNone/>
            </a:pPr>
            <a:r>
              <a:rPr lang="en-US" sz="1200" dirty="0">
                <a:solidFill>
                  <a:schemeClr val="bg1"/>
                </a:solidFill>
              </a:rPr>
              <a:t>Stage 1</a:t>
            </a:r>
            <a:endParaRPr lang="en-US" sz="1600" dirty="0"/>
          </a:p>
        </p:txBody>
      </p:sp>
      <p:sp>
        <p:nvSpPr>
          <p:cNvPr id="6" name="card"/>
          <p:cNvSpPr/>
          <p:nvPr/>
        </p:nvSpPr>
        <p:spPr>
          <a:xfrm>
            <a:off x="548640" y="2423160"/>
            <a:ext cx="1764792" cy="2514600"/>
          </a:xfrm>
          <a:prstGeom prst="roundRect">
            <a:avLst>
              <a:gd name="adj" fmla="val 4145"/>
            </a:avLst>
          </a:prstGeom>
          <a:solidFill>
            <a:schemeClr val="bg2"/>
          </a:solidFill>
          <a:ln/>
          <a:effectLst>
            <a:outerShdw sx="100000" sy="100000" kx="0" ky="0" algn="bl" rotWithShape="0" blurRad="76200" dist="25400" dir="5400000">
              <a:srgbClr val="000000">
                <a:alpha val="14000"/>
              </a:srgbClr>
            </a:outerShdw>
          </a:effectLst>
        </p:spPr>
      </p:sp>
      <p:sp>
        <p:nvSpPr>
          <p:cNvPr id="7" name="Text 4"/>
          <p:cNvSpPr txBox="1"/>
          <p:nvPr/>
        </p:nvSpPr>
        <p:spPr>
          <a:xfrm>
            <a:off x="621792" y="2514600"/>
            <a:ext cx="1618488" cy="2377440"/>
          </a:xfrm>
          <a:prstGeom prst="rect">
            <a:avLst/>
          </a:prstGeom>
          <a:noFill/>
          <a:ln/>
        </p:spPr>
        <p:txBody>
          <a:bodyPr wrap="square" lIns="508" tIns="508" rIns="508" bIns="508" rtlCol="0" anchor="t"/>
          <a:lstStyle/>
          <a:p>
            <a:pPr marL="177800" indent="-177800">
              <a:spcAft>
                <a:spcPts val="500"/>
              </a:spcAft>
              <a:buSzPct val="100000"/>
              <a:buChar char="•"/>
            </a:pPr>
            <a:r>
              <a:rPr lang="en-US" sz="1200" dirty="0">
                <a:solidFill>
                  <a:schemeClr val="tx1"/>
                </a:solidFill>
              </a:rPr>
              <a:t>All-India JJAS rainfall (% of LPA, ±5 %)</a:t>
            </a:r>
            <a:endParaRPr lang="en-US" sz="1200" dirty="0"/>
          </a:p>
          <a:p>
            <a:pPr marL="177800" indent="-177800">
              <a:spcAft>
                <a:spcPts val="500"/>
              </a:spcAft>
              <a:buSzPct val="100000"/>
              <a:buChar char="•"/>
            </a:pPr>
            <a:r>
              <a:rPr lang="en-US" sz="1200" dirty="0">
                <a:solidFill>
                  <a:schemeClr val="tx1"/>
                </a:solidFill>
              </a:rPr>
              <a:t>Probabilities of 5 categories</a:t>
            </a:r>
            <a:endParaRPr lang="en-US" sz="1200" dirty="0"/>
          </a:p>
          <a:p>
            <a:pPr marL="177800" indent="-177800">
              <a:spcAft>
                <a:spcPts val="500"/>
              </a:spcAft>
              <a:buSzPct val="100000"/>
              <a:buChar char="•"/>
            </a:pPr>
            <a:r>
              <a:rPr lang="en-US" sz="1200" dirty="0">
                <a:solidFill>
                  <a:schemeClr val="tx1"/>
                </a:solidFill>
              </a:rPr>
              <a:t>Spatial probability map</a:t>
            </a:r>
            <a:endParaRPr lang="en-US" sz="1200" dirty="0"/>
          </a:p>
        </p:txBody>
      </p:sp>
      <p:sp>
        <p:nvSpPr>
          <p:cNvPr id="8" name="calendar stage"/>
          <p:cNvSpPr/>
          <p:nvPr/>
        </p:nvSpPr>
        <p:spPr>
          <a:xfrm>
            <a:off x="2414016" y="1371600"/>
            <a:ext cx="1764792" cy="914400"/>
          </a:xfrm>
          <a:prstGeom prst="roundRect">
            <a:avLst>
              <a:gd name="adj" fmla="val 8000"/>
            </a:avLst>
          </a:prstGeom>
          <a:solidFill>
            <a:schemeClr val="accent3"/>
          </a:solidFill>
          <a:ln/>
        </p:spPr>
      </p:sp>
      <p:sp>
        <p:nvSpPr>
          <p:cNvPr id="9" name="Text 6"/>
          <p:cNvSpPr txBox="1"/>
          <p:nvPr/>
        </p:nvSpPr>
        <p:spPr>
          <a:xfrm>
            <a:off x="2414016" y="1371600"/>
            <a:ext cx="1764792" cy="914400"/>
          </a:xfrm>
          <a:prstGeom prst="rect">
            <a:avLst/>
          </a:prstGeom>
          <a:noFill/>
          <a:ln/>
        </p:spPr>
        <p:txBody>
          <a:bodyPr wrap="square" lIns="0" tIns="0" rIns="0" bIns="0" rtlCol="0" anchor="ctr"/>
          <a:lstStyle/>
          <a:p>
            <a:pPr algn="ctr" indent="0" marL="0">
              <a:buNone/>
            </a:pPr>
            <a:r>
              <a:rPr lang="en-US" sz="1600" b="1" dirty="0">
                <a:solidFill>
                  <a:schemeClr val="tx1"/>
                </a:solidFill>
              </a:rPr>
              <a:t>mid-May</a:t>
            </a:r>
            <a:endParaRPr lang="en-US" sz="1600" dirty="0"/>
          </a:p>
          <a:p>
            <a:pPr algn="ctr" indent="0" marL="0">
              <a:buNone/>
            </a:pPr>
            <a:r>
              <a:rPr lang="en-US" sz="1200" dirty="0">
                <a:solidFill>
                  <a:schemeClr val="tx1"/>
                </a:solidFill>
              </a:rPr>
              <a:t>Onset</a:t>
            </a:r>
            <a:endParaRPr lang="en-US" sz="1600" dirty="0"/>
          </a:p>
        </p:txBody>
      </p:sp>
      <p:sp>
        <p:nvSpPr>
          <p:cNvPr id="10" name="card"/>
          <p:cNvSpPr/>
          <p:nvPr/>
        </p:nvSpPr>
        <p:spPr>
          <a:xfrm>
            <a:off x="2414016" y="2423160"/>
            <a:ext cx="1764792" cy="2514600"/>
          </a:xfrm>
          <a:prstGeom prst="roundRect">
            <a:avLst>
              <a:gd name="adj" fmla="val 4145"/>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2487168" y="2514600"/>
            <a:ext cx="1618488" cy="2377440"/>
          </a:xfrm>
          <a:prstGeom prst="rect">
            <a:avLst/>
          </a:prstGeom>
          <a:noFill/>
          <a:ln/>
        </p:spPr>
        <p:txBody>
          <a:bodyPr wrap="square" lIns="508" tIns="508" rIns="508" bIns="508" rtlCol="0" anchor="t"/>
          <a:lstStyle/>
          <a:p>
            <a:pPr marL="177800" indent="-177800">
              <a:spcAft>
                <a:spcPts val="500"/>
              </a:spcAft>
              <a:buSzPct val="100000"/>
              <a:buChar char="•"/>
            </a:pPr>
            <a:r>
              <a:rPr lang="en-US" sz="1200" dirty="0">
                <a:solidFill>
                  <a:schemeClr val="tx1"/>
                </a:solidFill>
              </a:rPr>
              <a:t>Monsoon onset date over Kerala (±4 days)</a:t>
            </a:r>
            <a:endParaRPr lang="en-US" sz="1200" dirty="0"/>
          </a:p>
        </p:txBody>
      </p:sp>
      <p:sp>
        <p:nvSpPr>
          <p:cNvPr id="12" name="calendar stage"/>
          <p:cNvSpPr/>
          <p:nvPr/>
        </p:nvSpPr>
        <p:spPr>
          <a:xfrm>
            <a:off x="4279392" y="1371600"/>
            <a:ext cx="1764792" cy="914400"/>
          </a:xfrm>
          <a:prstGeom prst="roundRect">
            <a:avLst>
              <a:gd name="adj" fmla="val 8000"/>
            </a:avLst>
          </a:prstGeom>
          <a:solidFill>
            <a:schemeClr val="accent2"/>
          </a:solidFill>
          <a:ln/>
        </p:spPr>
      </p:sp>
      <p:sp>
        <p:nvSpPr>
          <p:cNvPr id="13" name="Text 10"/>
          <p:cNvSpPr txBox="1"/>
          <p:nvPr/>
        </p:nvSpPr>
        <p:spPr>
          <a:xfrm>
            <a:off x="4279392" y="1371600"/>
            <a:ext cx="1764792" cy="914400"/>
          </a:xfrm>
          <a:prstGeom prst="rect">
            <a:avLst/>
          </a:prstGeom>
          <a:noFill/>
          <a:ln/>
        </p:spPr>
        <p:txBody>
          <a:bodyPr wrap="square" lIns="0" tIns="0" rIns="0" bIns="0" rtlCol="0" anchor="ctr"/>
          <a:lstStyle/>
          <a:p>
            <a:pPr algn="ctr" indent="0" marL="0">
              <a:buNone/>
            </a:pPr>
            <a:r>
              <a:rPr lang="en-US" sz="1600" b="1" dirty="0">
                <a:solidFill>
                  <a:schemeClr val="bg1"/>
                </a:solidFill>
              </a:rPr>
              <a:t>end-May</a:t>
            </a:r>
            <a:endParaRPr lang="en-US" sz="1600" dirty="0"/>
          </a:p>
          <a:p>
            <a:pPr algn="ctr" indent="0" marL="0">
              <a:buNone/>
            </a:pPr>
            <a:r>
              <a:rPr lang="en-US" sz="1200" dirty="0">
                <a:solidFill>
                  <a:schemeClr val="bg1"/>
                </a:solidFill>
              </a:rPr>
              <a:t>Stage 2</a:t>
            </a:r>
            <a:endParaRPr lang="en-US" sz="1600" dirty="0"/>
          </a:p>
        </p:txBody>
      </p:sp>
      <p:sp>
        <p:nvSpPr>
          <p:cNvPr id="14" name="card"/>
          <p:cNvSpPr/>
          <p:nvPr/>
        </p:nvSpPr>
        <p:spPr>
          <a:xfrm>
            <a:off x="4279392" y="2423160"/>
            <a:ext cx="1764792" cy="2514600"/>
          </a:xfrm>
          <a:prstGeom prst="roundRect">
            <a:avLst>
              <a:gd name="adj" fmla="val 4145"/>
            </a:avLst>
          </a:prstGeom>
          <a:solidFill>
            <a:schemeClr val="bg2"/>
          </a:solidFill>
          <a:ln/>
          <a:effectLst>
            <a:outerShdw sx="100000" sy="100000" kx="0" ky="0" algn="bl" rotWithShape="0" blurRad="76200" dist="25400" dir="5400000">
              <a:srgbClr val="000000">
                <a:alpha val="14000"/>
              </a:srgbClr>
            </a:outerShdw>
          </a:effectLst>
        </p:spPr>
      </p:sp>
      <p:sp>
        <p:nvSpPr>
          <p:cNvPr id="15" name="Text 12"/>
          <p:cNvSpPr txBox="1"/>
          <p:nvPr/>
        </p:nvSpPr>
        <p:spPr>
          <a:xfrm>
            <a:off x="4352544" y="2514600"/>
            <a:ext cx="1618488" cy="2377440"/>
          </a:xfrm>
          <a:prstGeom prst="rect">
            <a:avLst/>
          </a:prstGeom>
          <a:noFill/>
          <a:ln/>
        </p:spPr>
        <p:txBody>
          <a:bodyPr wrap="square" lIns="508" tIns="508" rIns="508" bIns="508" rtlCol="0" anchor="t"/>
          <a:lstStyle/>
          <a:p>
            <a:pPr marL="177800" indent="-177800">
              <a:spcAft>
                <a:spcPts val="500"/>
              </a:spcAft>
              <a:buSzPct val="100000"/>
              <a:buChar char="•"/>
            </a:pPr>
            <a:r>
              <a:rPr lang="en-US" sz="1200" dirty="0">
                <a:solidFill>
                  <a:schemeClr val="tx1"/>
                </a:solidFill>
              </a:rPr>
              <a:t>Updated all-India forecast (±4 %)</a:t>
            </a:r>
            <a:endParaRPr lang="en-US" sz="1200" dirty="0"/>
          </a:p>
          <a:p>
            <a:pPr marL="177800" indent="-177800">
              <a:spcAft>
                <a:spcPts val="500"/>
              </a:spcAft>
              <a:buSzPct val="100000"/>
              <a:buChar char="•"/>
            </a:pPr>
            <a:r>
              <a:rPr lang="en-US" sz="1200" dirty="0">
                <a:solidFill>
                  <a:schemeClr val="tx1"/>
                </a:solidFill>
              </a:rPr>
              <a:t>4 homogeneous regions + Monsoon Core Zone</a:t>
            </a:r>
            <a:endParaRPr lang="en-US" sz="1200" dirty="0"/>
          </a:p>
          <a:p>
            <a:pPr marL="177800" indent="-177800">
              <a:spcAft>
                <a:spcPts val="500"/>
              </a:spcAft>
              <a:buSzPct val="100000"/>
              <a:buChar char="•"/>
            </a:pPr>
            <a:r>
              <a:rPr lang="en-US" sz="1200" dirty="0">
                <a:solidFill>
                  <a:schemeClr val="tx1"/>
                </a:solidFill>
              </a:rPr>
              <a:t>June rainfall &amp; temperature outlook</a:t>
            </a:r>
            <a:endParaRPr lang="en-US" sz="1200" dirty="0"/>
          </a:p>
        </p:txBody>
      </p:sp>
      <p:sp>
        <p:nvSpPr>
          <p:cNvPr id="16" name="calendar stage"/>
          <p:cNvSpPr/>
          <p:nvPr/>
        </p:nvSpPr>
        <p:spPr>
          <a:xfrm>
            <a:off x="6144768" y="1371600"/>
            <a:ext cx="1764792" cy="914400"/>
          </a:xfrm>
          <a:prstGeom prst="roundRect">
            <a:avLst>
              <a:gd name="adj" fmla="val 8000"/>
            </a:avLst>
          </a:prstGeom>
          <a:solidFill>
            <a:schemeClr val="accent5"/>
          </a:solidFill>
          <a:ln/>
        </p:spPr>
      </p:sp>
      <p:sp>
        <p:nvSpPr>
          <p:cNvPr id="17" name="Text 14"/>
          <p:cNvSpPr txBox="1"/>
          <p:nvPr/>
        </p:nvSpPr>
        <p:spPr>
          <a:xfrm>
            <a:off x="6144768" y="1371600"/>
            <a:ext cx="1764792" cy="914400"/>
          </a:xfrm>
          <a:prstGeom prst="rect">
            <a:avLst/>
          </a:prstGeom>
          <a:noFill/>
          <a:ln/>
        </p:spPr>
        <p:txBody>
          <a:bodyPr wrap="square" lIns="0" tIns="0" rIns="0" bIns="0" rtlCol="0" anchor="ctr"/>
          <a:lstStyle/>
          <a:p>
            <a:pPr algn="ctr" indent="0" marL="0">
              <a:buNone/>
            </a:pPr>
            <a:r>
              <a:rPr lang="en-US" sz="1600" b="1" dirty="0">
                <a:solidFill>
                  <a:schemeClr val="bg1"/>
                </a:solidFill>
              </a:rPr>
              <a:t>end-June</a:t>
            </a:r>
            <a:endParaRPr lang="en-US" sz="1600" dirty="0"/>
          </a:p>
          <a:p>
            <a:pPr algn="ctr" indent="0" marL="0">
              <a:buNone/>
            </a:pPr>
            <a:r>
              <a:rPr lang="en-US" sz="1200" dirty="0">
                <a:solidFill>
                  <a:schemeClr val="bg1"/>
                </a:solidFill>
              </a:rPr>
              <a:t>Monthly</a:t>
            </a:r>
            <a:endParaRPr lang="en-US" sz="1600" dirty="0"/>
          </a:p>
        </p:txBody>
      </p:sp>
      <p:sp>
        <p:nvSpPr>
          <p:cNvPr id="18" name="card"/>
          <p:cNvSpPr/>
          <p:nvPr/>
        </p:nvSpPr>
        <p:spPr>
          <a:xfrm>
            <a:off x="6144768" y="2423160"/>
            <a:ext cx="1764792" cy="2514600"/>
          </a:xfrm>
          <a:prstGeom prst="roundRect">
            <a:avLst>
              <a:gd name="adj" fmla="val 4145"/>
            </a:avLst>
          </a:prstGeom>
          <a:solidFill>
            <a:schemeClr val="bg2"/>
          </a:solidFill>
          <a:ln/>
          <a:effectLst>
            <a:outerShdw sx="100000" sy="100000" kx="0" ky="0" algn="bl" rotWithShape="0" blurRad="76200" dist="25400" dir="5400000">
              <a:srgbClr val="000000">
                <a:alpha val="14000"/>
              </a:srgbClr>
            </a:outerShdw>
          </a:effectLst>
        </p:spPr>
      </p:sp>
      <p:sp>
        <p:nvSpPr>
          <p:cNvPr id="19" name="Text 16"/>
          <p:cNvSpPr txBox="1"/>
          <p:nvPr/>
        </p:nvSpPr>
        <p:spPr>
          <a:xfrm>
            <a:off x="6217920" y="2514600"/>
            <a:ext cx="1618488" cy="2377440"/>
          </a:xfrm>
          <a:prstGeom prst="rect">
            <a:avLst/>
          </a:prstGeom>
          <a:noFill/>
          <a:ln/>
        </p:spPr>
        <p:txBody>
          <a:bodyPr wrap="square" lIns="508" tIns="508" rIns="508" bIns="508" rtlCol="0" anchor="t"/>
          <a:lstStyle/>
          <a:p>
            <a:pPr marL="177800" indent="-177800">
              <a:spcAft>
                <a:spcPts val="500"/>
              </a:spcAft>
              <a:buSzPct val="100000"/>
              <a:buChar char="•"/>
            </a:pPr>
            <a:r>
              <a:rPr lang="en-US" sz="1200" dirty="0">
                <a:solidFill>
                  <a:schemeClr val="tx1"/>
                </a:solidFill>
              </a:rPr>
              <a:t>July rainfall &amp; temperature outlook</a:t>
            </a:r>
            <a:endParaRPr lang="en-US" sz="1200" dirty="0"/>
          </a:p>
        </p:txBody>
      </p:sp>
      <p:sp>
        <p:nvSpPr>
          <p:cNvPr id="20" name="calendar stage"/>
          <p:cNvSpPr/>
          <p:nvPr/>
        </p:nvSpPr>
        <p:spPr>
          <a:xfrm>
            <a:off x="8010144" y="1371600"/>
            <a:ext cx="1764792" cy="914400"/>
          </a:xfrm>
          <a:prstGeom prst="roundRect">
            <a:avLst>
              <a:gd name="adj" fmla="val 8000"/>
            </a:avLst>
          </a:prstGeom>
          <a:solidFill>
            <a:schemeClr val="accent5"/>
          </a:solidFill>
          <a:ln/>
        </p:spPr>
      </p:sp>
      <p:sp>
        <p:nvSpPr>
          <p:cNvPr id="21" name="Text 18"/>
          <p:cNvSpPr txBox="1"/>
          <p:nvPr/>
        </p:nvSpPr>
        <p:spPr>
          <a:xfrm>
            <a:off x="8010144" y="1371600"/>
            <a:ext cx="1764792" cy="914400"/>
          </a:xfrm>
          <a:prstGeom prst="rect">
            <a:avLst/>
          </a:prstGeom>
          <a:noFill/>
          <a:ln/>
        </p:spPr>
        <p:txBody>
          <a:bodyPr wrap="square" lIns="0" tIns="0" rIns="0" bIns="0" rtlCol="0" anchor="ctr"/>
          <a:lstStyle/>
          <a:p>
            <a:pPr algn="ctr" indent="0" marL="0">
              <a:buNone/>
            </a:pPr>
            <a:r>
              <a:rPr lang="en-US" sz="1600" b="1" dirty="0">
                <a:solidFill>
                  <a:schemeClr val="bg1"/>
                </a:solidFill>
              </a:rPr>
              <a:t>end-July</a:t>
            </a:r>
            <a:endParaRPr lang="en-US" sz="1600" dirty="0"/>
          </a:p>
          <a:p>
            <a:pPr algn="ctr" indent="0" marL="0">
              <a:buNone/>
            </a:pPr>
            <a:r>
              <a:rPr lang="en-US" sz="1200" dirty="0">
                <a:solidFill>
                  <a:schemeClr val="bg1"/>
                </a:solidFill>
              </a:rPr>
              <a:t>Monthly</a:t>
            </a:r>
            <a:endParaRPr lang="en-US" sz="1600" dirty="0"/>
          </a:p>
        </p:txBody>
      </p:sp>
      <p:sp>
        <p:nvSpPr>
          <p:cNvPr id="22" name="card"/>
          <p:cNvSpPr/>
          <p:nvPr/>
        </p:nvSpPr>
        <p:spPr>
          <a:xfrm>
            <a:off x="8010144" y="2423160"/>
            <a:ext cx="1764792" cy="2514600"/>
          </a:xfrm>
          <a:prstGeom prst="roundRect">
            <a:avLst>
              <a:gd name="adj" fmla="val 4145"/>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8083296" y="2514600"/>
            <a:ext cx="1618488" cy="2377440"/>
          </a:xfrm>
          <a:prstGeom prst="rect">
            <a:avLst/>
          </a:prstGeom>
          <a:noFill/>
          <a:ln/>
        </p:spPr>
        <p:txBody>
          <a:bodyPr wrap="square" lIns="508" tIns="508" rIns="508" bIns="508" rtlCol="0" anchor="t"/>
          <a:lstStyle/>
          <a:p>
            <a:pPr marL="177800" indent="-177800">
              <a:spcAft>
                <a:spcPts val="500"/>
              </a:spcAft>
              <a:buSzPct val="100000"/>
              <a:buChar char="•"/>
            </a:pPr>
            <a:r>
              <a:rPr lang="en-US" sz="1200" dirty="0">
                <a:solidFill>
                  <a:schemeClr val="tx1"/>
                </a:solidFill>
              </a:rPr>
              <a:t>August outlook</a:t>
            </a:r>
            <a:endParaRPr lang="en-US" sz="1200" dirty="0"/>
          </a:p>
          <a:p>
            <a:pPr marL="177800" indent="-177800">
              <a:spcAft>
                <a:spcPts val="500"/>
              </a:spcAft>
              <a:buSzPct val="100000"/>
              <a:buChar char="•"/>
            </a:pPr>
            <a:r>
              <a:rPr lang="en-US" sz="1200" dirty="0">
                <a:solidFill>
                  <a:schemeClr val="tx1"/>
                </a:solidFill>
              </a:rPr>
              <a:t>Second half: August–September</a:t>
            </a:r>
            <a:endParaRPr lang="en-US" sz="1200" dirty="0"/>
          </a:p>
        </p:txBody>
      </p:sp>
      <p:sp>
        <p:nvSpPr>
          <p:cNvPr id="24" name="calendar stage"/>
          <p:cNvSpPr/>
          <p:nvPr/>
        </p:nvSpPr>
        <p:spPr>
          <a:xfrm>
            <a:off x="9875520" y="1371600"/>
            <a:ext cx="1764792" cy="914400"/>
          </a:xfrm>
          <a:prstGeom prst="roundRect">
            <a:avLst>
              <a:gd name="adj" fmla="val 8000"/>
            </a:avLst>
          </a:prstGeom>
          <a:solidFill>
            <a:schemeClr val="accent5"/>
          </a:solidFill>
          <a:ln/>
        </p:spPr>
      </p:sp>
      <p:sp>
        <p:nvSpPr>
          <p:cNvPr id="25" name="Text 22"/>
          <p:cNvSpPr txBox="1"/>
          <p:nvPr/>
        </p:nvSpPr>
        <p:spPr>
          <a:xfrm>
            <a:off x="9875520" y="1371600"/>
            <a:ext cx="1764792" cy="914400"/>
          </a:xfrm>
          <a:prstGeom prst="rect">
            <a:avLst/>
          </a:prstGeom>
          <a:noFill/>
          <a:ln/>
        </p:spPr>
        <p:txBody>
          <a:bodyPr wrap="square" lIns="0" tIns="0" rIns="0" bIns="0" rtlCol="0" anchor="ctr"/>
          <a:lstStyle/>
          <a:p>
            <a:pPr algn="ctr" indent="0" marL="0">
              <a:buNone/>
            </a:pPr>
            <a:r>
              <a:rPr lang="en-US" sz="1600" b="1" dirty="0">
                <a:solidFill>
                  <a:schemeClr val="bg1"/>
                </a:solidFill>
              </a:rPr>
              <a:t>end-Aug</a:t>
            </a:r>
            <a:endParaRPr lang="en-US" sz="1600" dirty="0"/>
          </a:p>
          <a:p>
            <a:pPr algn="ctr" indent="0" marL="0">
              <a:buNone/>
            </a:pPr>
            <a:r>
              <a:rPr lang="en-US" sz="1200" dirty="0">
                <a:solidFill>
                  <a:schemeClr val="bg1"/>
                </a:solidFill>
              </a:rPr>
              <a:t>Monthly</a:t>
            </a:r>
            <a:endParaRPr lang="en-US" sz="1600" dirty="0"/>
          </a:p>
        </p:txBody>
      </p:sp>
      <p:sp>
        <p:nvSpPr>
          <p:cNvPr id="26" name="card"/>
          <p:cNvSpPr/>
          <p:nvPr/>
        </p:nvSpPr>
        <p:spPr>
          <a:xfrm>
            <a:off x="9875520" y="2423160"/>
            <a:ext cx="1764792" cy="2514600"/>
          </a:xfrm>
          <a:prstGeom prst="roundRect">
            <a:avLst>
              <a:gd name="adj" fmla="val 4145"/>
            </a:avLst>
          </a:prstGeom>
          <a:solidFill>
            <a:schemeClr val="bg2"/>
          </a:solidFill>
          <a:ln/>
          <a:effectLst>
            <a:outerShdw sx="100000" sy="100000" kx="0" ky="0" algn="bl" rotWithShape="0" blurRad="76200" dist="25400" dir="5400000">
              <a:srgbClr val="000000">
                <a:alpha val="14000"/>
              </a:srgbClr>
            </a:outerShdw>
          </a:effectLst>
        </p:spPr>
      </p:sp>
      <p:sp>
        <p:nvSpPr>
          <p:cNvPr id="27" name="Text 24"/>
          <p:cNvSpPr txBox="1"/>
          <p:nvPr/>
        </p:nvSpPr>
        <p:spPr>
          <a:xfrm>
            <a:off x="9948672" y="2514600"/>
            <a:ext cx="1618488" cy="2377440"/>
          </a:xfrm>
          <a:prstGeom prst="rect">
            <a:avLst/>
          </a:prstGeom>
          <a:noFill/>
          <a:ln/>
        </p:spPr>
        <p:txBody>
          <a:bodyPr wrap="square" lIns="508" tIns="508" rIns="508" bIns="508" rtlCol="0" anchor="t"/>
          <a:lstStyle/>
          <a:p>
            <a:pPr marL="177800" indent="-177800">
              <a:spcAft>
                <a:spcPts val="500"/>
              </a:spcAft>
              <a:buSzPct val="100000"/>
              <a:buChar char="•"/>
            </a:pPr>
            <a:r>
              <a:rPr lang="en-US" sz="1200" dirty="0">
                <a:solidFill>
                  <a:schemeClr val="tx1"/>
                </a:solidFill>
              </a:rPr>
              <a:t>September outlook</a:t>
            </a:r>
            <a:endParaRPr lang="en-US" sz="1200" dirty="0"/>
          </a:p>
        </p:txBody>
      </p:sp>
      <p:sp>
        <p:nvSpPr>
          <p:cNvPr id="28" name="card"/>
          <p:cNvSpPr/>
          <p:nvPr/>
        </p:nvSpPr>
        <p:spPr>
          <a:xfrm>
            <a:off x="548640" y="5120640"/>
            <a:ext cx="544068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731520" y="5276088"/>
            <a:ext cx="420624" cy="420624"/>
          </a:xfrm>
          <a:prstGeom prst="ellipse">
            <a:avLst/>
          </a:prstGeom>
          <a:solidFill>
            <a:schemeClr val="accent1"/>
          </a:solidFill>
          <a:ln/>
        </p:spPr>
      </p:sp>
      <p:pic>
        <p:nvPicPr>
          <p:cNvPr id="30" name="Image 0" descr="MapMarkedAlt icon">    </p:cNvPr>
          <p:cNvPicPr>
            <a:picLocks noChangeAspect="1"/>
          </p:cNvPicPr>
          <p:nvPr/>
        </p:nvPicPr>
        <p:blipFill>
          <a:blip r:embed="rId1"/>
          <a:stretch>
            <a:fillRect/>
          </a:stretch>
        </p:blipFill>
        <p:spPr>
          <a:xfrm>
            <a:off x="840882" y="5385450"/>
            <a:ext cx="201900" cy="201900"/>
          </a:xfrm>
          <a:prstGeom prst="rect">
            <a:avLst/>
          </a:prstGeom>
        </p:spPr>
      </p:pic>
      <p:sp>
        <p:nvSpPr>
          <p:cNvPr id="31" name="Text 27"/>
          <p:cNvSpPr txBox="1"/>
          <p:nvPr/>
        </p:nvSpPr>
        <p:spPr>
          <a:xfrm>
            <a:off x="1261872" y="525780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Homogeneous regions</a:t>
            </a:r>
            <a:endParaRPr lang="en-US" sz="1600" dirty="0"/>
          </a:p>
        </p:txBody>
      </p:sp>
      <p:sp>
        <p:nvSpPr>
          <p:cNvPr id="32" name="Text 28"/>
          <p:cNvSpPr txBox="1"/>
          <p:nvPr/>
        </p:nvSpPr>
        <p:spPr>
          <a:xfrm>
            <a:off x="731520" y="5806440"/>
            <a:ext cx="5074920" cy="2743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North-west India · Central India · South Peninsula · North-east India</a:t>
            </a:r>
            <a:endParaRPr lang="en-US" sz="1300" dirty="0"/>
          </a:p>
        </p:txBody>
      </p:sp>
      <p:sp>
        <p:nvSpPr>
          <p:cNvPr id="33" name="card"/>
          <p:cNvSpPr/>
          <p:nvPr/>
        </p:nvSpPr>
        <p:spPr>
          <a:xfrm>
            <a:off x="6199632" y="5120640"/>
            <a:ext cx="544068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34" name="icon circle"/>
          <p:cNvSpPr/>
          <p:nvPr/>
        </p:nvSpPr>
        <p:spPr>
          <a:xfrm>
            <a:off x="6382512" y="5276088"/>
            <a:ext cx="420624" cy="420624"/>
          </a:xfrm>
          <a:prstGeom prst="ellipse">
            <a:avLst/>
          </a:prstGeom>
          <a:solidFill>
            <a:schemeClr val="accent1"/>
          </a:solidFill>
          <a:ln/>
        </p:spPr>
      </p:sp>
      <p:pic>
        <p:nvPicPr>
          <p:cNvPr id="35" name="Image 1" descr="Seedling icon">    </p:cNvPr>
          <p:cNvPicPr>
            <a:picLocks noChangeAspect="1"/>
          </p:cNvPicPr>
          <p:nvPr/>
        </p:nvPicPr>
        <p:blipFill>
          <a:blip r:embed="rId2"/>
          <a:stretch>
            <a:fillRect/>
          </a:stretch>
        </p:blipFill>
        <p:spPr>
          <a:xfrm>
            <a:off x="6491874" y="5385450"/>
            <a:ext cx="201900" cy="201900"/>
          </a:xfrm>
          <a:prstGeom prst="rect">
            <a:avLst/>
          </a:prstGeom>
        </p:spPr>
      </p:pic>
      <p:sp>
        <p:nvSpPr>
          <p:cNvPr id="36" name="Text 31"/>
          <p:cNvSpPr txBox="1"/>
          <p:nvPr/>
        </p:nvSpPr>
        <p:spPr>
          <a:xfrm>
            <a:off x="6912864" y="525780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Monsoon Core Zone (MCZ)</a:t>
            </a:r>
            <a:endParaRPr lang="en-US" sz="1600" dirty="0"/>
          </a:p>
        </p:txBody>
      </p:sp>
      <p:sp>
        <p:nvSpPr>
          <p:cNvPr id="37" name="Text 32"/>
          <p:cNvSpPr txBox="1"/>
          <p:nvPr/>
        </p:nvSpPr>
        <p:spPr>
          <a:xfrm>
            <a:off x="6382512" y="5806440"/>
            <a:ext cx="5074920" cy="2743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Rain-fed agricultural belt of central India; forecast separately since 2021</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Forecast categories and the LPA</a:t>
            </a:r>
            <a:endParaRPr lang="en-US" sz="3200" dirty="0"/>
          </a:p>
        </p:txBody>
      </p:sp>
      <p:sp>
        <p:nvSpPr>
          <p:cNvPr id="4" name="card"/>
          <p:cNvSpPr/>
          <p:nvPr/>
        </p:nvSpPr>
        <p:spPr>
          <a:xfrm>
            <a:off x="548640" y="1371600"/>
            <a:ext cx="2103120" cy="1691640"/>
          </a:xfrm>
          <a:prstGeom prst="roundRect">
            <a:avLst>
              <a:gd name="adj" fmla="val 4324"/>
            </a:avLst>
          </a:prstGeom>
          <a:solidFill>
            <a:schemeClr val="accent2"/>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463040"/>
            <a:ext cx="2103120" cy="822960"/>
          </a:xfrm>
          <a:prstGeom prst="rect">
            <a:avLst/>
          </a:prstGeom>
          <a:noFill/>
          <a:ln/>
        </p:spPr>
        <p:txBody>
          <a:bodyPr wrap="square" lIns="0" tIns="0" rIns="0" bIns="0" rtlCol="0" anchor="ctr"/>
          <a:lstStyle/>
          <a:p>
            <a:pPr algn="ctr" indent="0" marL="0">
              <a:buNone/>
            </a:pPr>
            <a:r>
              <a:rPr lang="en-US" sz="2800" b="1" dirty="0">
                <a:solidFill>
                  <a:schemeClr val="bg1"/>
                </a:solidFill>
              </a:rPr>
              <a:t>&lt; 90 %</a:t>
            </a:r>
            <a:endParaRPr lang="en-US" sz="2800" dirty="0"/>
          </a:p>
        </p:txBody>
      </p:sp>
      <p:sp>
        <p:nvSpPr>
          <p:cNvPr id="6" name="Text 3"/>
          <p:cNvSpPr txBox="1"/>
          <p:nvPr/>
        </p:nvSpPr>
        <p:spPr>
          <a:xfrm>
            <a:off x="548640" y="2286000"/>
            <a:ext cx="2103120" cy="548640"/>
          </a:xfrm>
          <a:prstGeom prst="rect">
            <a:avLst/>
          </a:prstGeom>
          <a:noFill/>
          <a:ln/>
        </p:spPr>
        <p:txBody>
          <a:bodyPr wrap="square" lIns="0" tIns="0" rIns="0" bIns="0" rtlCol="0" anchor="ctr"/>
          <a:lstStyle/>
          <a:p>
            <a:pPr algn="ctr" indent="0" marL="0">
              <a:buNone/>
            </a:pPr>
            <a:r>
              <a:rPr lang="en-US" sz="1600" b="1" dirty="0">
                <a:solidFill>
                  <a:schemeClr val="bg1"/>
                </a:solidFill>
              </a:rPr>
              <a:t>Deficient</a:t>
            </a:r>
            <a:endParaRPr lang="en-US" sz="1600" dirty="0"/>
          </a:p>
        </p:txBody>
      </p:sp>
      <p:sp>
        <p:nvSpPr>
          <p:cNvPr id="7" name="card"/>
          <p:cNvSpPr/>
          <p:nvPr/>
        </p:nvSpPr>
        <p:spPr>
          <a:xfrm>
            <a:off x="2788920" y="1371600"/>
            <a:ext cx="2103120" cy="1691640"/>
          </a:xfrm>
          <a:prstGeom prst="roundRect">
            <a:avLst>
              <a:gd name="adj" fmla="val 4324"/>
            </a:avLst>
          </a:prstGeom>
          <a:solidFill>
            <a:schemeClr val="accent3"/>
          </a:solidFill>
          <a:ln/>
          <a:effectLst>
            <a:outerShdw sx="100000" sy="100000" kx="0" ky="0" algn="bl" rotWithShape="0" blurRad="76200" dist="25400" dir="5400000">
              <a:srgbClr val="000000">
                <a:alpha val="14000"/>
              </a:srgbClr>
            </a:outerShdw>
          </a:effectLst>
        </p:spPr>
      </p:sp>
      <p:sp>
        <p:nvSpPr>
          <p:cNvPr id="8" name="Text 5"/>
          <p:cNvSpPr txBox="1"/>
          <p:nvPr/>
        </p:nvSpPr>
        <p:spPr>
          <a:xfrm>
            <a:off x="2788920" y="1463040"/>
            <a:ext cx="2103120" cy="822960"/>
          </a:xfrm>
          <a:prstGeom prst="rect">
            <a:avLst/>
          </a:prstGeom>
          <a:noFill/>
          <a:ln/>
        </p:spPr>
        <p:txBody>
          <a:bodyPr wrap="square" lIns="0" tIns="0" rIns="0" bIns="0" rtlCol="0" anchor="ctr"/>
          <a:lstStyle/>
          <a:p>
            <a:pPr algn="ctr" indent="0" marL="0">
              <a:buNone/>
            </a:pPr>
            <a:r>
              <a:rPr lang="en-US" sz="2800" b="1" dirty="0">
                <a:solidFill>
                  <a:schemeClr val="tx1"/>
                </a:solidFill>
              </a:rPr>
              <a:t>90–95 %</a:t>
            </a:r>
            <a:endParaRPr lang="en-US" sz="2800" dirty="0"/>
          </a:p>
        </p:txBody>
      </p:sp>
      <p:sp>
        <p:nvSpPr>
          <p:cNvPr id="9" name="Text 6"/>
          <p:cNvSpPr txBox="1"/>
          <p:nvPr/>
        </p:nvSpPr>
        <p:spPr>
          <a:xfrm>
            <a:off x="2788920" y="2286000"/>
            <a:ext cx="2103120" cy="548640"/>
          </a:xfrm>
          <a:prstGeom prst="rect">
            <a:avLst/>
          </a:prstGeom>
          <a:noFill/>
          <a:ln/>
        </p:spPr>
        <p:txBody>
          <a:bodyPr wrap="square" lIns="0" tIns="0" rIns="0" bIns="0" rtlCol="0" anchor="ctr"/>
          <a:lstStyle/>
          <a:p>
            <a:pPr algn="ctr" indent="0" marL="0">
              <a:buNone/>
            </a:pPr>
            <a:r>
              <a:rPr lang="en-US" sz="1600" b="1" dirty="0">
                <a:solidFill>
                  <a:schemeClr val="tx1"/>
                </a:solidFill>
              </a:rPr>
              <a:t>Below normal</a:t>
            </a:r>
            <a:endParaRPr lang="en-US" sz="1600" dirty="0"/>
          </a:p>
        </p:txBody>
      </p:sp>
      <p:sp>
        <p:nvSpPr>
          <p:cNvPr id="10" name="card"/>
          <p:cNvSpPr/>
          <p:nvPr/>
        </p:nvSpPr>
        <p:spPr>
          <a:xfrm>
            <a:off x="5029200" y="1371600"/>
            <a:ext cx="2103120" cy="1691640"/>
          </a:xfrm>
          <a:prstGeom prst="roundRect">
            <a:avLst>
              <a:gd name="adj" fmla="val 4324"/>
            </a:avLst>
          </a:prstGeom>
          <a:solidFill>
            <a:schemeClr val="accent1"/>
          </a:solidFill>
          <a:ln/>
          <a:effectLst>
            <a:outerShdw sx="100000" sy="100000" kx="0" ky="0" algn="bl" rotWithShape="0" blurRad="76200" dist="25400" dir="5400000">
              <a:srgbClr val="000000">
                <a:alpha val="14000"/>
              </a:srgbClr>
            </a:outerShdw>
          </a:effectLst>
        </p:spPr>
      </p:sp>
      <p:sp>
        <p:nvSpPr>
          <p:cNvPr id="11" name="Text 8"/>
          <p:cNvSpPr txBox="1"/>
          <p:nvPr/>
        </p:nvSpPr>
        <p:spPr>
          <a:xfrm>
            <a:off x="5029200" y="1463040"/>
            <a:ext cx="2103120" cy="822960"/>
          </a:xfrm>
          <a:prstGeom prst="rect">
            <a:avLst/>
          </a:prstGeom>
          <a:noFill/>
          <a:ln/>
        </p:spPr>
        <p:txBody>
          <a:bodyPr wrap="square" lIns="0" tIns="0" rIns="0" bIns="0" rtlCol="0" anchor="ctr"/>
          <a:lstStyle/>
          <a:p>
            <a:pPr algn="ctr" indent="0" marL="0">
              <a:buNone/>
            </a:pPr>
            <a:r>
              <a:rPr lang="en-US" sz="2800" b="1" dirty="0">
                <a:solidFill>
                  <a:schemeClr val="bg1"/>
                </a:solidFill>
              </a:rPr>
              <a:t>96–104 %</a:t>
            </a:r>
            <a:endParaRPr lang="en-US" sz="2800" dirty="0"/>
          </a:p>
        </p:txBody>
      </p:sp>
      <p:sp>
        <p:nvSpPr>
          <p:cNvPr id="12" name="Text 9"/>
          <p:cNvSpPr txBox="1"/>
          <p:nvPr/>
        </p:nvSpPr>
        <p:spPr>
          <a:xfrm>
            <a:off x="5029200" y="2286000"/>
            <a:ext cx="2103120" cy="548640"/>
          </a:xfrm>
          <a:prstGeom prst="rect">
            <a:avLst/>
          </a:prstGeom>
          <a:noFill/>
          <a:ln/>
        </p:spPr>
        <p:txBody>
          <a:bodyPr wrap="square" lIns="0" tIns="0" rIns="0" bIns="0" rtlCol="0" anchor="ctr"/>
          <a:lstStyle/>
          <a:p>
            <a:pPr algn="ctr" indent="0" marL="0">
              <a:buNone/>
            </a:pPr>
            <a:r>
              <a:rPr lang="en-US" sz="1600" b="1" dirty="0">
                <a:solidFill>
                  <a:schemeClr val="bg1"/>
                </a:solidFill>
              </a:rPr>
              <a:t>Normal</a:t>
            </a:r>
            <a:endParaRPr lang="en-US" sz="1600" dirty="0"/>
          </a:p>
        </p:txBody>
      </p:sp>
      <p:sp>
        <p:nvSpPr>
          <p:cNvPr id="13" name="card"/>
          <p:cNvSpPr/>
          <p:nvPr/>
        </p:nvSpPr>
        <p:spPr>
          <a:xfrm>
            <a:off x="7269480" y="1371600"/>
            <a:ext cx="2103120" cy="1691640"/>
          </a:xfrm>
          <a:prstGeom prst="roundRect">
            <a:avLst>
              <a:gd name="adj" fmla="val 4324"/>
            </a:avLst>
          </a:prstGeom>
          <a:solidFill>
            <a:schemeClr val="accent5"/>
          </a:solidFill>
          <a:ln/>
          <a:effectLst>
            <a:outerShdw sx="100000" sy="100000" kx="0" ky="0" algn="bl" rotWithShape="0" blurRad="76200" dist="25400" dir="5400000">
              <a:srgbClr val="000000">
                <a:alpha val="14000"/>
              </a:srgbClr>
            </a:outerShdw>
          </a:effectLst>
        </p:spPr>
      </p:sp>
      <p:sp>
        <p:nvSpPr>
          <p:cNvPr id="14" name="Text 11"/>
          <p:cNvSpPr txBox="1"/>
          <p:nvPr/>
        </p:nvSpPr>
        <p:spPr>
          <a:xfrm>
            <a:off x="7269480" y="1463040"/>
            <a:ext cx="2103120" cy="822960"/>
          </a:xfrm>
          <a:prstGeom prst="rect">
            <a:avLst/>
          </a:prstGeom>
          <a:noFill/>
          <a:ln/>
        </p:spPr>
        <p:txBody>
          <a:bodyPr wrap="square" lIns="0" tIns="0" rIns="0" bIns="0" rtlCol="0" anchor="ctr"/>
          <a:lstStyle/>
          <a:p>
            <a:pPr algn="ctr" indent="0" marL="0">
              <a:buNone/>
            </a:pPr>
            <a:r>
              <a:rPr lang="en-US" sz="2800" b="1" dirty="0">
                <a:solidFill>
                  <a:schemeClr val="bg1"/>
                </a:solidFill>
              </a:rPr>
              <a:t>105–110 %</a:t>
            </a:r>
            <a:endParaRPr lang="en-US" sz="2800" dirty="0"/>
          </a:p>
        </p:txBody>
      </p:sp>
      <p:sp>
        <p:nvSpPr>
          <p:cNvPr id="15" name="Text 12"/>
          <p:cNvSpPr txBox="1"/>
          <p:nvPr/>
        </p:nvSpPr>
        <p:spPr>
          <a:xfrm>
            <a:off x="7269480" y="2286000"/>
            <a:ext cx="2103120" cy="548640"/>
          </a:xfrm>
          <a:prstGeom prst="rect">
            <a:avLst/>
          </a:prstGeom>
          <a:noFill/>
          <a:ln/>
        </p:spPr>
        <p:txBody>
          <a:bodyPr wrap="square" lIns="0" tIns="0" rIns="0" bIns="0" rtlCol="0" anchor="ctr"/>
          <a:lstStyle/>
          <a:p>
            <a:pPr algn="ctr" indent="0" marL="0">
              <a:buNone/>
            </a:pPr>
            <a:r>
              <a:rPr lang="en-US" sz="1600" b="1" dirty="0">
                <a:solidFill>
                  <a:schemeClr val="bg1"/>
                </a:solidFill>
              </a:rPr>
              <a:t>Above normal</a:t>
            </a:r>
            <a:endParaRPr lang="en-US" sz="1600" dirty="0"/>
          </a:p>
        </p:txBody>
      </p:sp>
      <p:sp>
        <p:nvSpPr>
          <p:cNvPr id="16" name="card"/>
          <p:cNvSpPr/>
          <p:nvPr/>
        </p:nvSpPr>
        <p:spPr>
          <a:xfrm>
            <a:off x="9509760" y="1371600"/>
            <a:ext cx="2103120" cy="1691640"/>
          </a:xfrm>
          <a:prstGeom prst="roundRect">
            <a:avLst>
              <a:gd name="adj" fmla="val 4324"/>
            </a:avLst>
          </a:prstGeom>
          <a:solidFill>
            <a:schemeClr val="accent4"/>
          </a:solidFill>
          <a:ln/>
          <a:effectLst>
            <a:outerShdw sx="100000" sy="100000" kx="0" ky="0" algn="bl" rotWithShape="0" blurRad="76200" dist="25400" dir="5400000">
              <a:srgbClr val="000000">
                <a:alpha val="14000"/>
              </a:srgbClr>
            </a:outerShdw>
          </a:effectLst>
        </p:spPr>
      </p:sp>
      <p:sp>
        <p:nvSpPr>
          <p:cNvPr id="17" name="Text 14"/>
          <p:cNvSpPr txBox="1"/>
          <p:nvPr/>
        </p:nvSpPr>
        <p:spPr>
          <a:xfrm>
            <a:off x="9509760" y="1463040"/>
            <a:ext cx="2103120" cy="822960"/>
          </a:xfrm>
          <a:prstGeom prst="rect">
            <a:avLst/>
          </a:prstGeom>
          <a:noFill/>
          <a:ln/>
        </p:spPr>
        <p:txBody>
          <a:bodyPr wrap="square" lIns="0" tIns="0" rIns="0" bIns="0" rtlCol="0" anchor="ctr"/>
          <a:lstStyle/>
          <a:p>
            <a:pPr algn="ctr" indent="0" marL="0">
              <a:buNone/>
            </a:pPr>
            <a:r>
              <a:rPr lang="en-US" sz="2800" b="1" dirty="0">
                <a:solidFill>
                  <a:schemeClr val="bg1"/>
                </a:solidFill>
              </a:rPr>
              <a:t>&gt; 110 %</a:t>
            </a:r>
            <a:endParaRPr lang="en-US" sz="2800" dirty="0"/>
          </a:p>
        </p:txBody>
      </p:sp>
      <p:sp>
        <p:nvSpPr>
          <p:cNvPr id="18" name="Text 15"/>
          <p:cNvSpPr txBox="1"/>
          <p:nvPr/>
        </p:nvSpPr>
        <p:spPr>
          <a:xfrm>
            <a:off x="9509760" y="2286000"/>
            <a:ext cx="2103120" cy="548640"/>
          </a:xfrm>
          <a:prstGeom prst="rect">
            <a:avLst/>
          </a:prstGeom>
          <a:noFill/>
          <a:ln/>
        </p:spPr>
        <p:txBody>
          <a:bodyPr wrap="square" lIns="0" tIns="0" rIns="0" bIns="0" rtlCol="0" anchor="ctr"/>
          <a:lstStyle/>
          <a:p>
            <a:pPr algn="ctr" indent="0" marL="0">
              <a:buNone/>
            </a:pPr>
            <a:r>
              <a:rPr lang="en-US" sz="1600" b="1" dirty="0">
                <a:solidFill>
                  <a:schemeClr val="bg1"/>
                </a:solidFill>
              </a:rPr>
              <a:t>Excess</a:t>
            </a:r>
            <a:endParaRPr lang="en-US" sz="1600" dirty="0"/>
          </a:p>
        </p:txBody>
      </p:sp>
      <p:sp>
        <p:nvSpPr>
          <p:cNvPr id="19" name="Text 16"/>
          <p:cNvSpPr txBox="1"/>
          <p:nvPr/>
        </p:nvSpPr>
        <p:spPr>
          <a:xfrm>
            <a:off x="548640" y="3108960"/>
            <a:ext cx="7315200" cy="320040"/>
          </a:xfrm>
          <a:prstGeom prst="rect">
            <a:avLst/>
          </a:prstGeom>
          <a:noFill/>
          <a:ln/>
        </p:spPr>
        <p:txBody>
          <a:bodyPr wrap="square" lIns="0" tIns="0" rIns="0" bIns="0" rtlCol="0" anchor="ctr"/>
          <a:lstStyle/>
          <a:p>
            <a:pPr algn="l" indent="0" marL="0">
              <a:buNone/>
            </a:pPr>
            <a:r>
              <a:rPr lang="en-US" sz="1200" i="1" dirty="0">
                <a:solidFill>
                  <a:schemeClr val="accent6"/>
                </a:solidFill>
              </a:rPr>
              <a:t>All-India June–September rainfall as % of LPA</a:t>
            </a:r>
            <a:endParaRPr lang="en-US" sz="1200" dirty="0"/>
          </a:p>
        </p:txBody>
      </p:sp>
      <p:sp>
        <p:nvSpPr>
          <p:cNvPr id="20" name="card"/>
          <p:cNvSpPr/>
          <p:nvPr/>
        </p:nvSpPr>
        <p:spPr>
          <a:xfrm>
            <a:off x="548640" y="3657600"/>
            <a:ext cx="3566160" cy="2514600"/>
          </a:xfrm>
          <a:prstGeom prst="roundRect">
            <a:avLst>
              <a:gd name="adj" fmla="val 2909"/>
            </a:avLst>
          </a:prstGeom>
          <a:solidFill>
            <a:schemeClr val="tx2"/>
          </a:solidFill>
          <a:ln/>
          <a:effectLst>
            <a:outerShdw sx="100000" sy="100000" kx="0" ky="0" algn="bl" rotWithShape="0" blurRad="76200" dist="25400" dir="5400000">
              <a:srgbClr val="000000">
                <a:alpha val="14000"/>
              </a:srgbClr>
            </a:outerShdw>
          </a:effectLst>
        </p:spPr>
      </p:sp>
      <p:sp>
        <p:nvSpPr>
          <p:cNvPr id="21" name="Text 18"/>
          <p:cNvSpPr txBox="1"/>
          <p:nvPr/>
        </p:nvSpPr>
        <p:spPr>
          <a:xfrm>
            <a:off x="548640" y="3794760"/>
            <a:ext cx="3566160" cy="1005840"/>
          </a:xfrm>
          <a:prstGeom prst="rect">
            <a:avLst/>
          </a:prstGeom>
          <a:noFill/>
          <a:ln/>
        </p:spPr>
        <p:txBody>
          <a:bodyPr wrap="square" lIns="0" tIns="0" rIns="0" bIns="0" rtlCol="0" anchor="ctr"/>
          <a:lstStyle/>
          <a:p>
            <a:pPr algn="ctr" indent="0" marL="0">
              <a:buNone/>
            </a:pPr>
            <a:r>
              <a:rPr lang="en-US" sz="4800" b="1" dirty="0">
                <a:solidFill>
                  <a:schemeClr val="bg1"/>
                </a:solidFill>
              </a:rPr>
              <a:t>87 cm</a:t>
            </a:r>
            <a:endParaRPr lang="en-US" sz="4800" dirty="0"/>
          </a:p>
        </p:txBody>
      </p:sp>
      <p:sp>
        <p:nvSpPr>
          <p:cNvPr id="22" name="Text 19"/>
          <p:cNvSpPr txBox="1"/>
          <p:nvPr/>
        </p:nvSpPr>
        <p:spPr>
          <a:xfrm>
            <a:off x="731520" y="4846320"/>
            <a:ext cx="3200400" cy="1097280"/>
          </a:xfrm>
          <a:prstGeom prst="rect">
            <a:avLst/>
          </a:prstGeom>
          <a:noFill/>
          <a:ln/>
        </p:spPr>
        <p:txBody>
          <a:bodyPr wrap="square" lIns="0" tIns="0" rIns="0" bIns="0" rtlCol="0" anchor="t"/>
          <a:lstStyle/>
          <a:p>
            <a:pPr algn="ctr" indent="0" marL="0">
              <a:buNone/>
            </a:pPr>
            <a:r>
              <a:rPr lang="en-US" sz="1300" dirty="0">
                <a:solidFill>
                  <a:schemeClr val="bg2"/>
                </a:solidFill>
              </a:rPr>
              <a:t>LPA for 1971–2020 (≈ 868.6 mm); earlier 88 cm for 1961–2010</a:t>
            </a:r>
            <a:endParaRPr lang="en-US" sz="1300" dirty="0"/>
          </a:p>
        </p:txBody>
      </p:sp>
      <p:sp>
        <p:nvSpPr>
          <p:cNvPr id="23" name="card"/>
          <p:cNvSpPr/>
          <p:nvPr/>
        </p:nvSpPr>
        <p:spPr>
          <a:xfrm>
            <a:off x="4315968" y="3657600"/>
            <a:ext cx="3566160" cy="2514600"/>
          </a:xfrm>
          <a:prstGeom prst="roundRect">
            <a:avLst>
              <a:gd name="adj" fmla="val 2909"/>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4498848" y="3813048"/>
            <a:ext cx="420624" cy="420624"/>
          </a:xfrm>
          <a:prstGeom prst="ellipse">
            <a:avLst/>
          </a:prstGeom>
          <a:solidFill>
            <a:schemeClr val="accent1"/>
          </a:solidFill>
          <a:ln/>
        </p:spPr>
      </p:sp>
      <p:pic>
        <p:nvPicPr>
          <p:cNvPr id="25" name="Image 0" descr="RulerCombined icon">    </p:cNvPr>
          <p:cNvPicPr>
            <a:picLocks noChangeAspect="1"/>
          </p:cNvPicPr>
          <p:nvPr/>
        </p:nvPicPr>
        <p:blipFill>
          <a:blip r:embed="rId1"/>
          <a:stretch>
            <a:fillRect/>
          </a:stretch>
        </p:blipFill>
        <p:spPr>
          <a:xfrm>
            <a:off x="4608210" y="3922410"/>
            <a:ext cx="201900" cy="201900"/>
          </a:xfrm>
          <a:prstGeom prst="rect">
            <a:avLst/>
          </a:prstGeom>
        </p:spPr>
      </p:pic>
      <p:sp>
        <p:nvSpPr>
          <p:cNvPr id="26" name="Text 22"/>
          <p:cNvSpPr txBox="1"/>
          <p:nvPr/>
        </p:nvSpPr>
        <p:spPr>
          <a:xfrm>
            <a:off x="5029200" y="379476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Model error</a:t>
            </a:r>
            <a:endParaRPr lang="en-US" sz="1600" dirty="0"/>
          </a:p>
        </p:txBody>
      </p:sp>
      <p:sp>
        <p:nvSpPr>
          <p:cNvPr id="27" name="Text 23"/>
          <p:cNvSpPr txBox="1"/>
          <p:nvPr/>
        </p:nvSpPr>
        <p:spPr>
          <a:xfrm>
            <a:off x="4498848" y="4343400"/>
            <a:ext cx="3200400" cy="173736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±5 %</a:t>
            </a:r>
            <a:r>
              <a:rPr lang="en-US" sz="1300" dirty="0">
                <a:solidFill>
                  <a:schemeClr val="tx1"/>
                </a:solidFill>
              </a:rPr>
              <a:t> of LPA for the April forecast</a:t>
            </a:r>
            <a:endParaRPr lang="en-US" sz="1300" dirty="0"/>
          </a:p>
          <a:p>
            <a:pPr marL="177800" indent="-177800">
              <a:spcAft>
                <a:spcPts val="400"/>
              </a:spcAft>
              <a:buSzPct val="100000"/>
              <a:buChar char="•"/>
            </a:pPr>
            <a:r>
              <a:rPr lang="en-US" sz="1300" b="1" dirty="0">
                <a:solidFill>
                  <a:schemeClr val="tx1"/>
                </a:solidFill>
              </a:rPr>
              <a:t>±4 %</a:t>
            </a:r>
            <a:r>
              <a:rPr lang="en-US" sz="1300" dirty="0">
                <a:solidFill>
                  <a:schemeClr val="tx1"/>
                </a:solidFill>
              </a:rPr>
              <a:t> for the end-May update</a:t>
            </a:r>
            <a:endParaRPr lang="en-US" sz="1300" dirty="0"/>
          </a:p>
          <a:p>
            <a:pPr marL="177800" indent="-177800">
              <a:spcAft>
                <a:spcPts val="400"/>
              </a:spcAft>
              <a:buSzPct val="100000"/>
              <a:buChar char="•"/>
            </a:pPr>
            <a:r>
              <a:rPr lang="en-US" sz="1300" dirty="0">
                <a:solidFill>
                  <a:schemeClr val="tx1"/>
                </a:solidFill>
              </a:rPr>
              <a:t>Regional &amp; monthly forecasts are categorical, not exact numbers</a:t>
            </a:r>
            <a:endParaRPr lang="en-US" sz="1300" dirty="0"/>
          </a:p>
        </p:txBody>
      </p:sp>
      <p:sp>
        <p:nvSpPr>
          <p:cNvPr id="28" name="card"/>
          <p:cNvSpPr/>
          <p:nvPr/>
        </p:nvSpPr>
        <p:spPr>
          <a:xfrm>
            <a:off x="8083296" y="3657600"/>
            <a:ext cx="3557016" cy="2514600"/>
          </a:xfrm>
          <a:prstGeom prst="roundRect">
            <a:avLst>
              <a:gd name="adj" fmla="val 2909"/>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8266176" y="3813048"/>
            <a:ext cx="420624" cy="420624"/>
          </a:xfrm>
          <a:prstGeom prst="ellipse">
            <a:avLst/>
          </a:prstGeom>
          <a:solidFill>
            <a:schemeClr val="accent3"/>
          </a:solidFill>
          <a:ln/>
        </p:spPr>
      </p:sp>
      <p:pic>
        <p:nvPicPr>
          <p:cNvPr id="30" name="Image 1" descr="BalanceScale icon">    </p:cNvPr>
          <p:cNvPicPr>
            <a:picLocks noChangeAspect="1"/>
          </p:cNvPicPr>
          <p:nvPr/>
        </p:nvPicPr>
        <p:blipFill>
          <a:blip r:embed="rId2"/>
          <a:stretch>
            <a:fillRect/>
          </a:stretch>
        </p:blipFill>
        <p:spPr>
          <a:xfrm>
            <a:off x="8375538" y="3922410"/>
            <a:ext cx="201900" cy="201900"/>
          </a:xfrm>
          <a:prstGeom prst="rect">
            <a:avLst/>
          </a:prstGeom>
        </p:spPr>
      </p:pic>
      <p:sp>
        <p:nvSpPr>
          <p:cNvPr id="31" name="Text 26"/>
          <p:cNvSpPr txBox="1"/>
          <p:nvPr/>
        </p:nvSpPr>
        <p:spPr>
          <a:xfrm>
            <a:off x="8796528" y="379476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Reading a forecast</a:t>
            </a:r>
            <a:endParaRPr lang="en-US" sz="1600" dirty="0"/>
          </a:p>
        </p:txBody>
      </p:sp>
      <p:sp>
        <p:nvSpPr>
          <p:cNvPr id="32" name="Text 27"/>
          <p:cNvSpPr txBox="1"/>
          <p:nvPr/>
        </p:nvSpPr>
        <p:spPr>
          <a:xfrm>
            <a:off x="8266176" y="4343400"/>
            <a:ext cx="3191256" cy="17373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'92 % ± 5 %' → most likely below normal, deficient also possible</a:t>
            </a:r>
            <a:endParaRPr lang="en-US" sz="1300" dirty="0"/>
          </a:p>
          <a:p>
            <a:pPr marL="177800" indent="-177800">
              <a:spcAft>
                <a:spcPts val="400"/>
              </a:spcAft>
              <a:buSzPct val="100000"/>
              <a:buChar char="•"/>
            </a:pPr>
            <a:r>
              <a:rPr lang="en-US" sz="1300" dirty="0">
                <a:solidFill>
                  <a:schemeClr val="tx1"/>
                </a:solidFill>
              </a:rPr>
              <a:t>Category probabilities show how confident IMD is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operational strategy since 2021</a:t>
            </a:r>
            <a:endParaRPr lang="en-US" sz="3200" dirty="0"/>
          </a:p>
        </p:txBody>
      </p:sp>
      <p:sp>
        <p:nvSpPr>
          <p:cNvPr id="4" name="diagram box"/>
          <p:cNvSpPr/>
          <p:nvPr/>
        </p:nvSpPr>
        <p:spPr>
          <a:xfrm>
            <a:off x="548640" y="1463040"/>
            <a:ext cx="3108960" cy="822960"/>
          </a:xfrm>
          <a:prstGeom prst="roundRect">
            <a:avLst>
              <a:gd name="adj" fmla="val 8889"/>
            </a:avLst>
          </a:prstGeom>
          <a:solidFill>
            <a:schemeClr val="accent6"/>
          </a:solidFill>
          <a:ln/>
        </p:spPr>
      </p:sp>
      <p:sp>
        <p:nvSpPr>
          <p:cNvPr id="5" name="Text 2"/>
          <p:cNvSpPr txBox="1"/>
          <p:nvPr/>
        </p:nvSpPr>
        <p:spPr>
          <a:xfrm>
            <a:off x="548640" y="1463040"/>
            <a:ext cx="310896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Observed predictors (Dec–Mar)</a:t>
            </a:r>
            <a:endParaRPr lang="en-US" sz="1400" dirty="0"/>
          </a:p>
        </p:txBody>
      </p:sp>
      <p:sp>
        <p:nvSpPr>
          <p:cNvPr id="6" name="diagram box"/>
          <p:cNvSpPr/>
          <p:nvPr/>
        </p:nvSpPr>
        <p:spPr>
          <a:xfrm>
            <a:off x="548640" y="3291840"/>
            <a:ext cx="3108960" cy="822960"/>
          </a:xfrm>
          <a:prstGeom prst="roundRect">
            <a:avLst>
              <a:gd name="adj" fmla="val 8889"/>
            </a:avLst>
          </a:prstGeom>
          <a:solidFill>
            <a:schemeClr val="accent6"/>
          </a:solidFill>
          <a:ln/>
        </p:spPr>
      </p:sp>
      <p:sp>
        <p:nvSpPr>
          <p:cNvPr id="7" name="Text 4"/>
          <p:cNvSpPr txBox="1"/>
          <p:nvPr/>
        </p:nvSpPr>
        <p:spPr>
          <a:xfrm>
            <a:off x="548640" y="3291840"/>
            <a:ext cx="3108960" cy="822960"/>
          </a:xfrm>
          <a:prstGeom prst="rect">
            <a:avLst/>
          </a:prstGeom>
          <a:noFill/>
          <a:ln/>
        </p:spPr>
        <p:txBody>
          <a:bodyPr wrap="square" lIns="508" tIns="508" rIns="508" bIns="508" rtlCol="0" anchor="ctr"/>
          <a:lstStyle/>
          <a:p>
            <a:pPr algn="ctr" indent="0" marL="0">
              <a:buNone/>
            </a:pPr>
            <a:r>
              <a:rPr lang="en-US" sz="1400" b="1" dirty="0">
                <a:solidFill>
                  <a:schemeClr val="bg1"/>
                </a:solidFill>
              </a:rPr>
              <a:t>Initial ocean &amp; atmosphere state</a:t>
            </a:r>
            <a:endParaRPr lang="en-US" sz="1400" dirty="0"/>
          </a:p>
        </p:txBody>
      </p:sp>
      <p:sp>
        <p:nvSpPr>
          <p:cNvPr id="8" name="arrow"/>
          <p:cNvSpPr/>
          <p:nvPr/>
        </p:nvSpPr>
        <p:spPr>
          <a:xfrm>
            <a:off x="3675888" y="1874520"/>
            <a:ext cx="393192" cy="0"/>
          </a:xfrm>
          <a:prstGeom prst="line">
            <a:avLst/>
          </a:prstGeom>
          <a:noFill/>
          <a:ln w="31750">
            <a:solidFill>
              <a:srgbClr val="0E3B43"/>
            </a:solidFill>
            <a:prstDash val="solid"/>
            <a:tailEnd type="triangle"/>
          </a:ln>
        </p:spPr>
      </p:sp>
      <p:sp>
        <p:nvSpPr>
          <p:cNvPr id="9" name="arrow"/>
          <p:cNvSpPr/>
          <p:nvPr/>
        </p:nvSpPr>
        <p:spPr>
          <a:xfrm>
            <a:off x="3675888" y="3703320"/>
            <a:ext cx="393192" cy="0"/>
          </a:xfrm>
          <a:prstGeom prst="line">
            <a:avLst/>
          </a:prstGeom>
          <a:noFill/>
          <a:ln w="31750">
            <a:solidFill>
              <a:srgbClr val="0E3B43"/>
            </a:solidFill>
            <a:prstDash val="solid"/>
            <a:tailEnd type="triangle"/>
          </a:ln>
        </p:spPr>
      </p:sp>
      <p:sp>
        <p:nvSpPr>
          <p:cNvPr id="10" name="diagram box"/>
          <p:cNvSpPr/>
          <p:nvPr/>
        </p:nvSpPr>
        <p:spPr>
          <a:xfrm>
            <a:off x="4114800" y="1371600"/>
            <a:ext cx="3108960" cy="1005840"/>
          </a:xfrm>
          <a:prstGeom prst="roundRect">
            <a:avLst>
              <a:gd name="adj" fmla="val 7273"/>
            </a:avLst>
          </a:prstGeom>
          <a:solidFill>
            <a:schemeClr val="accent1"/>
          </a:solidFill>
          <a:ln/>
        </p:spPr>
      </p:sp>
      <p:sp>
        <p:nvSpPr>
          <p:cNvPr id="11" name="Text 8"/>
          <p:cNvSpPr txBox="1"/>
          <p:nvPr/>
        </p:nvSpPr>
        <p:spPr>
          <a:xfrm>
            <a:off x="4114800" y="1371600"/>
            <a:ext cx="3108960" cy="1005840"/>
          </a:xfrm>
          <a:prstGeom prst="rect">
            <a:avLst/>
          </a:prstGeom>
          <a:noFill/>
          <a:ln/>
        </p:spPr>
        <p:txBody>
          <a:bodyPr wrap="square" lIns="508" tIns="508" rIns="508" bIns="508" rtlCol="0" anchor="ctr"/>
          <a:lstStyle/>
          <a:p>
            <a:pPr algn="ctr" indent="0" marL="0">
              <a:buNone/>
            </a:pPr>
            <a:r>
              <a:rPr lang="en-US" sz="1500" b="1" dirty="0">
                <a:solidFill>
                  <a:schemeClr val="bg1"/>
                </a:solidFill>
              </a:rPr>
              <a:t>SEFS</a:t>
            </a:r>
            <a:endParaRPr lang="en-US" sz="1500" dirty="0"/>
          </a:p>
          <a:p>
            <a:pPr algn="ctr" indent="0" marL="0">
              <a:buNone/>
            </a:pPr>
            <a:r>
              <a:rPr lang="en-US" sz="1500" dirty="0">
                <a:solidFill>
                  <a:schemeClr val="bg1"/>
                </a:solidFill>
              </a:rPr>
              <a:t>statistical ensemble</a:t>
            </a:r>
            <a:endParaRPr lang="en-US" sz="1500" dirty="0"/>
          </a:p>
        </p:txBody>
      </p:sp>
      <p:sp>
        <p:nvSpPr>
          <p:cNvPr id="12" name="diagram box"/>
          <p:cNvSpPr/>
          <p:nvPr/>
        </p:nvSpPr>
        <p:spPr>
          <a:xfrm>
            <a:off x="4114800" y="3200400"/>
            <a:ext cx="3108960" cy="1005840"/>
          </a:xfrm>
          <a:prstGeom prst="roundRect">
            <a:avLst>
              <a:gd name="adj" fmla="val 7273"/>
            </a:avLst>
          </a:prstGeom>
          <a:solidFill>
            <a:schemeClr val="accent5"/>
          </a:solidFill>
          <a:ln/>
        </p:spPr>
      </p:sp>
      <p:sp>
        <p:nvSpPr>
          <p:cNvPr id="13" name="Text 10"/>
          <p:cNvSpPr txBox="1"/>
          <p:nvPr/>
        </p:nvSpPr>
        <p:spPr>
          <a:xfrm>
            <a:off x="4114800" y="3200400"/>
            <a:ext cx="3108960" cy="1005840"/>
          </a:xfrm>
          <a:prstGeom prst="rect">
            <a:avLst/>
          </a:prstGeom>
          <a:noFill/>
          <a:ln/>
        </p:spPr>
        <p:txBody>
          <a:bodyPr wrap="square" lIns="508" tIns="508" rIns="508" bIns="508" rtlCol="0" anchor="ctr"/>
          <a:lstStyle/>
          <a:p>
            <a:pPr algn="ctr" indent="0" marL="0">
              <a:buNone/>
            </a:pPr>
            <a:r>
              <a:rPr lang="en-US" sz="1500" b="1" dirty="0">
                <a:solidFill>
                  <a:schemeClr val="bg1"/>
                </a:solidFill>
              </a:rPr>
              <a:t>MME</a:t>
            </a:r>
            <a:endParaRPr lang="en-US" sz="1500" dirty="0"/>
          </a:p>
          <a:p>
            <a:pPr algn="ctr" indent="0" marL="0">
              <a:buNone/>
            </a:pPr>
            <a:r>
              <a:rPr lang="en-US" sz="1500" dirty="0">
                <a:solidFill>
                  <a:schemeClr val="bg1"/>
                </a:solidFill>
              </a:rPr>
              <a:t>coupled models incl. MMCFS</a:t>
            </a:r>
            <a:endParaRPr lang="en-US" sz="1500" dirty="0"/>
          </a:p>
        </p:txBody>
      </p:sp>
      <p:sp>
        <p:nvSpPr>
          <p:cNvPr id="14" name="arrow"/>
          <p:cNvSpPr/>
          <p:nvPr/>
        </p:nvSpPr>
        <p:spPr>
          <a:xfrm>
            <a:off x="7242048" y="1874520"/>
            <a:ext cx="758952" cy="868680"/>
          </a:xfrm>
          <a:prstGeom prst="line">
            <a:avLst/>
          </a:prstGeom>
          <a:noFill/>
          <a:ln w="31750">
            <a:solidFill>
              <a:srgbClr val="0E3B43"/>
            </a:solidFill>
            <a:prstDash val="solid"/>
            <a:tailEnd type="triangle"/>
          </a:ln>
        </p:spPr>
      </p:sp>
      <p:sp>
        <p:nvSpPr>
          <p:cNvPr id="15" name="arrow"/>
          <p:cNvSpPr/>
          <p:nvPr/>
        </p:nvSpPr>
        <p:spPr>
          <a:xfrm flipV="1">
            <a:off x="7242048" y="3017520"/>
            <a:ext cx="758952" cy="685800"/>
          </a:xfrm>
          <a:prstGeom prst="line">
            <a:avLst/>
          </a:prstGeom>
          <a:noFill/>
          <a:ln w="31750">
            <a:solidFill>
              <a:srgbClr val="0E3B43"/>
            </a:solidFill>
            <a:prstDash val="solid"/>
            <a:tailEnd type="triangle"/>
          </a:ln>
        </p:spPr>
      </p:sp>
      <p:sp>
        <p:nvSpPr>
          <p:cNvPr id="16" name="diagram box"/>
          <p:cNvSpPr/>
          <p:nvPr/>
        </p:nvSpPr>
        <p:spPr>
          <a:xfrm>
            <a:off x="8046720" y="2286000"/>
            <a:ext cx="3593592" cy="1188720"/>
          </a:xfrm>
          <a:prstGeom prst="roundRect">
            <a:avLst>
              <a:gd name="adj" fmla="val 6154"/>
            </a:avLst>
          </a:prstGeom>
          <a:solidFill>
            <a:schemeClr val="accent2"/>
          </a:solidFill>
          <a:ln/>
        </p:spPr>
      </p:sp>
      <p:sp>
        <p:nvSpPr>
          <p:cNvPr id="17" name="Text 14"/>
          <p:cNvSpPr txBox="1"/>
          <p:nvPr/>
        </p:nvSpPr>
        <p:spPr>
          <a:xfrm>
            <a:off x="8046720" y="2286000"/>
            <a:ext cx="3593592" cy="1188720"/>
          </a:xfrm>
          <a:prstGeom prst="rect">
            <a:avLst/>
          </a:prstGeom>
          <a:noFill/>
          <a:ln/>
        </p:spPr>
        <p:txBody>
          <a:bodyPr wrap="square" lIns="508" tIns="508" rIns="508" bIns="508" rtlCol="0" anchor="ctr"/>
          <a:lstStyle/>
          <a:p>
            <a:pPr algn="ctr" indent="0" marL="0">
              <a:buNone/>
            </a:pPr>
            <a:r>
              <a:rPr lang="en-US" sz="1500" b="1" dirty="0">
                <a:solidFill>
                  <a:schemeClr val="bg1"/>
                </a:solidFill>
              </a:rPr>
              <a:t>Forecaster consensus</a:t>
            </a:r>
            <a:endParaRPr lang="en-US" sz="1500" dirty="0"/>
          </a:p>
          <a:p>
            <a:pPr algn="ctr" indent="0" marL="0">
              <a:buNone/>
            </a:pPr>
            <a:r>
              <a:rPr lang="en-US" sz="1500" b="1" dirty="0">
                <a:solidFill>
                  <a:schemeClr val="bg1"/>
                </a:solidFill>
              </a:rPr>
              <a:t>→ official forecast</a:t>
            </a:r>
            <a:endParaRPr lang="en-US" sz="1500" dirty="0"/>
          </a:p>
        </p:txBody>
      </p:sp>
      <p:sp>
        <p:nvSpPr>
          <p:cNvPr id="18" name="Text 15"/>
          <p:cNvSpPr txBox="1"/>
          <p:nvPr/>
        </p:nvSpPr>
        <p:spPr>
          <a:xfrm>
            <a:off x="8046720" y="3611880"/>
            <a:ext cx="3593592" cy="914400"/>
          </a:xfrm>
          <a:prstGeom prst="rect">
            <a:avLst/>
          </a:prstGeom>
          <a:noFill/>
          <a:ln/>
        </p:spPr>
        <p:txBody>
          <a:bodyPr wrap="square" lIns="508" tIns="508" rIns="508" bIns="508" rtlCol="0" anchor="t"/>
          <a:lstStyle/>
          <a:p>
            <a:pPr indent="0" marL="0">
              <a:spcAft>
                <a:spcPts val="600"/>
              </a:spcAft>
              <a:buNone/>
            </a:pPr>
            <a:r>
              <a:rPr lang="en-US" sz="1300" dirty="0">
                <a:solidFill>
                  <a:schemeClr val="tx1"/>
                </a:solidFill>
              </a:rPr>
              <a:t>Products: % of LPA ± error · category probabilities · spatial probability maps · regional &amp; monthly outlooks · temperature outlooks</a:t>
            </a:r>
            <a:endParaRPr lang="en-US" sz="1300" dirty="0"/>
          </a:p>
        </p:txBody>
      </p:sp>
      <p:sp>
        <p:nvSpPr>
          <p:cNvPr id="19" name="card"/>
          <p:cNvSpPr/>
          <p:nvPr/>
        </p:nvSpPr>
        <p:spPr>
          <a:xfrm>
            <a:off x="548640" y="4572000"/>
            <a:ext cx="544068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4727448"/>
            <a:ext cx="420624" cy="420624"/>
          </a:xfrm>
          <a:prstGeom prst="ellipse">
            <a:avLst/>
          </a:prstGeom>
          <a:solidFill>
            <a:schemeClr val="accent1"/>
          </a:solidFill>
          <a:ln/>
        </p:spPr>
      </p:sp>
      <p:pic>
        <p:nvPicPr>
          <p:cNvPr id="21" name="Image 0" descr="BalanceScale icon">    </p:cNvPr>
          <p:cNvPicPr>
            <a:picLocks noChangeAspect="1"/>
          </p:cNvPicPr>
          <p:nvPr/>
        </p:nvPicPr>
        <p:blipFill>
          <a:blip r:embed="rId1"/>
          <a:stretch>
            <a:fillRect/>
          </a:stretch>
        </p:blipFill>
        <p:spPr>
          <a:xfrm>
            <a:off x="840882" y="4836810"/>
            <a:ext cx="201900" cy="201900"/>
          </a:xfrm>
          <a:prstGeom prst="rect">
            <a:avLst/>
          </a:prstGeom>
        </p:spPr>
      </p:pic>
      <p:sp>
        <p:nvSpPr>
          <p:cNvPr id="22" name="Text 18"/>
          <p:cNvSpPr txBox="1"/>
          <p:nvPr/>
        </p:nvSpPr>
        <p:spPr>
          <a:xfrm>
            <a:off x="1261872" y="47091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Why two systems?</a:t>
            </a:r>
            <a:endParaRPr lang="en-US" sz="1600" dirty="0"/>
          </a:p>
        </p:txBody>
      </p:sp>
      <p:sp>
        <p:nvSpPr>
          <p:cNvPr id="23" name="Text 19"/>
          <p:cNvSpPr txBox="1"/>
          <p:nvPr/>
        </p:nvSpPr>
        <p:spPr>
          <a:xfrm>
            <a:off x="731520" y="5257800"/>
            <a:ext cx="5074920" cy="8229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They fail in different ways. Statistical models are cheap and robust but can't represent new climate states; dynamical models simulate physics but have biases over India.</a:t>
            </a:r>
            <a:endParaRPr lang="en-US" sz="1300" dirty="0"/>
          </a:p>
        </p:txBody>
      </p:sp>
      <p:sp>
        <p:nvSpPr>
          <p:cNvPr id="24" name="card"/>
          <p:cNvSpPr/>
          <p:nvPr/>
        </p:nvSpPr>
        <p:spPr>
          <a:xfrm>
            <a:off x="6199632" y="4572000"/>
            <a:ext cx="544068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6382512" y="4727448"/>
            <a:ext cx="420624" cy="420624"/>
          </a:xfrm>
          <a:prstGeom prst="ellipse">
            <a:avLst/>
          </a:prstGeom>
          <a:solidFill>
            <a:schemeClr val="accent5"/>
          </a:solidFill>
          <a:ln/>
        </p:spPr>
      </p:sp>
      <p:pic>
        <p:nvPicPr>
          <p:cNvPr id="26" name="Image 1" descr="ChartBar icon">    </p:cNvPr>
          <p:cNvPicPr>
            <a:picLocks noChangeAspect="1"/>
          </p:cNvPicPr>
          <p:nvPr/>
        </p:nvPicPr>
        <p:blipFill>
          <a:blip r:embed="rId2"/>
          <a:stretch>
            <a:fillRect/>
          </a:stretch>
        </p:blipFill>
        <p:spPr>
          <a:xfrm>
            <a:off x="6491874" y="4836810"/>
            <a:ext cx="201900" cy="201900"/>
          </a:xfrm>
          <a:prstGeom prst="rect">
            <a:avLst/>
          </a:prstGeom>
        </p:spPr>
      </p:pic>
      <p:sp>
        <p:nvSpPr>
          <p:cNvPr id="27" name="Text 22"/>
          <p:cNvSpPr txBox="1"/>
          <p:nvPr/>
        </p:nvSpPr>
        <p:spPr>
          <a:xfrm>
            <a:off x="6912864" y="47091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Probabilistic, not just a number</a:t>
            </a:r>
            <a:endParaRPr lang="en-US" sz="1600" dirty="0"/>
          </a:p>
        </p:txBody>
      </p:sp>
      <p:sp>
        <p:nvSpPr>
          <p:cNvPr id="28" name="Text 23"/>
          <p:cNvSpPr txBox="1"/>
          <p:nvPr/>
        </p:nvSpPr>
        <p:spPr>
          <a:xfrm>
            <a:off x="6382512" y="5257800"/>
            <a:ext cx="5074920" cy="8229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Since 2021 the MME also gives spatial maps of tercile probabilities (above / normal / below) down to sub-divisions.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Statistical Ensemble Forecasting System (SEFS)</a:t>
            </a:r>
            <a:endParaRPr lang="en-US" sz="3200" dirty="0"/>
          </a:p>
        </p:txBody>
      </p:sp>
      <p:sp>
        <p:nvSpPr>
          <p:cNvPr id="4" name="SEFS step"/>
          <p:cNvSpPr/>
          <p:nvPr/>
        </p:nvSpPr>
        <p:spPr>
          <a:xfrm>
            <a:off x="548640" y="1371600"/>
            <a:ext cx="2606040" cy="2377440"/>
          </a:xfrm>
          <a:prstGeom prst="roundRect">
            <a:avLst>
              <a:gd name="adj" fmla="val 3077"/>
            </a:avLst>
          </a:prstGeom>
          <a:solidFill>
            <a:schemeClr val="accent6"/>
          </a:solidFill>
          <a:ln/>
        </p:spPr>
      </p:sp>
      <p:sp>
        <p:nvSpPr>
          <p:cNvPr id="5" name="Text 2"/>
          <p:cNvSpPr txBox="1"/>
          <p:nvPr/>
        </p:nvSpPr>
        <p:spPr>
          <a:xfrm>
            <a:off x="731520" y="1463040"/>
            <a:ext cx="731520" cy="731520"/>
          </a:xfrm>
          <a:prstGeom prst="rect">
            <a:avLst/>
          </a:prstGeom>
          <a:noFill/>
          <a:ln/>
        </p:spPr>
        <p:txBody>
          <a:bodyPr wrap="square" lIns="0" tIns="0" rIns="0" bIns="0" rtlCol="0" anchor="ctr"/>
          <a:lstStyle/>
          <a:p>
            <a:pPr algn="l" indent="0" marL="0">
              <a:buNone/>
            </a:pPr>
            <a:r>
              <a:rPr lang="en-US" sz="3600" b="1" dirty="0">
                <a:solidFill>
                  <a:schemeClr val="bg1"/>
                </a:solidFill>
              </a:rPr>
              <a:t>1</a:t>
            </a:r>
            <a:endParaRPr lang="en-US" sz="3600" dirty="0"/>
          </a:p>
        </p:txBody>
      </p:sp>
      <p:sp>
        <p:nvSpPr>
          <p:cNvPr id="6" name="Text 3"/>
          <p:cNvSpPr txBox="1"/>
          <p:nvPr/>
        </p:nvSpPr>
        <p:spPr>
          <a:xfrm>
            <a:off x="731520" y="2194560"/>
            <a:ext cx="2286000" cy="457200"/>
          </a:xfrm>
          <a:prstGeom prst="rect">
            <a:avLst/>
          </a:prstGeom>
          <a:noFill/>
          <a:ln/>
        </p:spPr>
        <p:txBody>
          <a:bodyPr wrap="square" lIns="0" tIns="0" rIns="0" bIns="0" rtlCol="0" anchor="ctr"/>
          <a:lstStyle/>
          <a:p>
            <a:pPr algn="l" indent="0" marL="0">
              <a:buNone/>
            </a:pPr>
            <a:r>
              <a:rPr lang="en-US" sz="1600" b="1" dirty="0">
                <a:solidFill>
                  <a:schemeClr val="bg1"/>
                </a:solidFill>
              </a:rPr>
              <a:t>Select predictors</a:t>
            </a:r>
            <a:endParaRPr lang="en-US" sz="1600" dirty="0"/>
          </a:p>
        </p:txBody>
      </p:sp>
      <p:sp>
        <p:nvSpPr>
          <p:cNvPr id="7" name="Text 4"/>
          <p:cNvSpPr txBox="1"/>
          <p:nvPr/>
        </p:nvSpPr>
        <p:spPr>
          <a:xfrm>
            <a:off x="731520" y="2651760"/>
            <a:ext cx="2286000" cy="1005840"/>
          </a:xfrm>
          <a:prstGeom prst="rect">
            <a:avLst/>
          </a:prstGeom>
          <a:noFill/>
          <a:ln/>
        </p:spPr>
        <p:txBody>
          <a:bodyPr wrap="square" lIns="0" tIns="0" rIns="0" bIns="0" rtlCol="0" anchor="t"/>
          <a:lstStyle/>
          <a:p>
            <a:pPr algn="l" indent="0" marL="0">
              <a:buNone/>
            </a:pPr>
            <a:r>
              <a:rPr lang="en-US" sz="1200" dirty="0">
                <a:solidFill>
                  <a:schemeClr val="bg1"/>
                </a:solidFill>
              </a:rPr>
              <a:t>Physical link + stable correlation (e.g. 1981–2020 training)</a:t>
            </a:r>
            <a:endParaRPr lang="en-US" sz="1200" dirty="0"/>
          </a:p>
        </p:txBody>
      </p:sp>
      <p:sp>
        <p:nvSpPr>
          <p:cNvPr id="8" name="arrow"/>
          <p:cNvSpPr/>
          <p:nvPr/>
        </p:nvSpPr>
        <p:spPr>
          <a:xfrm>
            <a:off x="3163824" y="2560320"/>
            <a:ext cx="192024" cy="0"/>
          </a:xfrm>
          <a:prstGeom prst="line">
            <a:avLst/>
          </a:prstGeom>
          <a:noFill/>
          <a:ln w="31750">
            <a:solidFill>
              <a:srgbClr val="0E3B43"/>
            </a:solidFill>
            <a:prstDash val="solid"/>
            <a:tailEnd type="triangle"/>
          </a:ln>
        </p:spPr>
      </p:sp>
      <p:sp>
        <p:nvSpPr>
          <p:cNvPr id="9" name="SEFS step"/>
          <p:cNvSpPr/>
          <p:nvPr/>
        </p:nvSpPr>
        <p:spPr>
          <a:xfrm>
            <a:off x="3364992" y="1371600"/>
            <a:ext cx="2606040" cy="2377440"/>
          </a:xfrm>
          <a:prstGeom prst="roundRect">
            <a:avLst>
              <a:gd name="adj" fmla="val 3077"/>
            </a:avLst>
          </a:prstGeom>
          <a:solidFill>
            <a:schemeClr val="accent1"/>
          </a:solidFill>
          <a:ln/>
        </p:spPr>
      </p:sp>
      <p:sp>
        <p:nvSpPr>
          <p:cNvPr id="10" name="Text 7"/>
          <p:cNvSpPr txBox="1"/>
          <p:nvPr/>
        </p:nvSpPr>
        <p:spPr>
          <a:xfrm>
            <a:off x="3547872" y="1463040"/>
            <a:ext cx="731520" cy="731520"/>
          </a:xfrm>
          <a:prstGeom prst="rect">
            <a:avLst/>
          </a:prstGeom>
          <a:noFill/>
          <a:ln/>
        </p:spPr>
        <p:txBody>
          <a:bodyPr wrap="square" lIns="0" tIns="0" rIns="0" bIns="0" rtlCol="0" anchor="ctr"/>
          <a:lstStyle/>
          <a:p>
            <a:pPr algn="l" indent="0" marL="0">
              <a:buNone/>
            </a:pPr>
            <a:r>
              <a:rPr lang="en-US" sz="3600" b="1" dirty="0">
                <a:solidFill>
                  <a:schemeClr val="bg1"/>
                </a:solidFill>
              </a:rPr>
              <a:t>2</a:t>
            </a:r>
            <a:endParaRPr lang="en-US" sz="3600" dirty="0"/>
          </a:p>
        </p:txBody>
      </p:sp>
      <p:sp>
        <p:nvSpPr>
          <p:cNvPr id="11" name="Text 8"/>
          <p:cNvSpPr txBox="1"/>
          <p:nvPr/>
        </p:nvSpPr>
        <p:spPr>
          <a:xfrm>
            <a:off x="3547872" y="2194560"/>
            <a:ext cx="2286000" cy="457200"/>
          </a:xfrm>
          <a:prstGeom prst="rect">
            <a:avLst/>
          </a:prstGeom>
          <a:noFill/>
          <a:ln/>
        </p:spPr>
        <p:txBody>
          <a:bodyPr wrap="square" lIns="0" tIns="0" rIns="0" bIns="0" rtlCol="0" anchor="ctr"/>
          <a:lstStyle/>
          <a:p>
            <a:pPr algn="l" indent="0" marL="0">
              <a:buNone/>
            </a:pPr>
            <a:r>
              <a:rPr lang="en-US" sz="1600" b="1" dirty="0">
                <a:solidFill>
                  <a:schemeClr val="bg1"/>
                </a:solidFill>
              </a:rPr>
              <a:t>Build all combinations</a:t>
            </a:r>
            <a:endParaRPr lang="en-US" sz="1600" dirty="0"/>
          </a:p>
        </p:txBody>
      </p:sp>
      <p:sp>
        <p:nvSpPr>
          <p:cNvPr id="12" name="Text 9"/>
          <p:cNvSpPr txBox="1"/>
          <p:nvPr/>
        </p:nvSpPr>
        <p:spPr>
          <a:xfrm>
            <a:off x="3547872" y="2651760"/>
            <a:ext cx="2286000" cy="1005840"/>
          </a:xfrm>
          <a:prstGeom prst="rect">
            <a:avLst/>
          </a:prstGeom>
          <a:noFill/>
          <a:ln/>
        </p:spPr>
        <p:txBody>
          <a:bodyPr wrap="square" lIns="0" tIns="0" rIns="0" bIns="0" rtlCol="0" anchor="t"/>
          <a:lstStyle/>
          <a:p>
            <a:pPr algn="l" indent="0" marL="0">
              <a:buNone/>
            </a:pPr>
            <a:r>
              <a:rPr lang="en-US" sz="1200" dirty="0">
                <a:solidFill>
                  <a:schemeClr val="bg1"/>
                </a:solidFill>
              </a:rPr>
              <a:t>5 predictors → 31 subsets; each fitted with MR and PPR</a:t>
            </a:r>
            <a:endParaRPr lang="en-US" sz="1200" dirty="0"/>
          </a:p>
        </p:txBody>
      </p:sp>
      <p:sp>
        <p:nvSpPr>
          <p:cNvPr id="13" name="arrow"/>
          <p:cNvSpPr/>
          <p:nvPr/>
        </p:nvSpPr>
        <p:spPr>
          <a:xfrm>
            <a:off x="5980176" y="2560320"/>
            <a:ext cx="192024" cy="0"/>
          </a:xfrm>
          <a:prstGeom prst="line">
            <a:avLst/>
          </a:prstGeom>
          <a:noFill/>
          <a:ln w="31750">
            <a:solidFill>
              <a:srgbClr val="0E3B43"/>
            </a:solidFill>
            <a:prstDash val="solid"/>
            <a:tailEnd type="triangle"/>
          </a:ln>
        </p:spPr>
      </p:sp>
      <p:sp>
        <p:nvSpPr>
          <p:cNvPr id="14" name="SEFS step"/>
          <p:cNvSpPr/>
          <p:nvPr/>
        </p:nvSpPr>
        <p:spPr>
          <a:xfrm>
            <a:off x="6181344" y="1371600"/>
            <a:ext cx="2606040" cy="2377440"/>
          </a:xfrm>
          <a:prstGeom prst="roundRect">
            <a:avLst>
              <a:gd name="adj" fmla="val 3077"/>
            </a:avLst>
          </a:prstGeom>
          <a:solidFill>
            <a:schemeClr val="accent5"/>
          </a:solidFill>
          <a:ln/>
        </p:spPr>
      </p:sp>
      <p:sp>
        <p:nvSpPr>
          <p:cNvPr id="15" name="Text 12"/>
          <p:cNvSpPr txBox="1"/>
          <p:nvPr/>
        </p:nvSpPr>
        <p:spPr>
          <a:xfrm>
            <a:off x="6364224" y="1463040"/>
            <a:ext cx="731520" cy="731520"/>
          </a:xfrm>
          <a:prstGeom prst="rect">
            <a:avLst/>
          </a:prstGeom>
          <a:noFill/>
          <a:ln/>
        </p:spPr>
        <p:txBody>
          <a:bodyPr wrap="square" lIns="0" tIns="0" rIns="0" bIns="0" rtlCol="0" anchor="ctr"/>
          <a:lstStyle/>
          <a:p>
            <a:pPr algn="l" indent="0" marL="0">
              <a:buNone/>
            </a:pPr>
            <a:r>
              <a:rPr lang="en-US" sz="3600" b="1" dirty="0">
                <a:solidFill>
                  <a:schemeClr val="bg1"/>
                </a:solidFill>
              </a:rPr>
              <a:t>3</a:t>
            </a:r>
            <a:endParaRPr lang="en-US" sz="3600" dirty="0"/>
          </a:p>
        </p:txBody>
      </p:sp>
      <p:sp>
        <p:nvSpPr>
          <p:cNvPr id="16" name="Text 13"/>
          <p:cNvSpPr txBox="1"/>
          <p:nvPr/>
        </p:nvSpPr>
        <p:spPr>
          <a:xfrm>
            <a:off x="6364224" y="2194560"/>
            <a:ext cx="2286000" cy="457200"/>
          </a:xfrm>
          <a:prstGeom prst="rect">
            <a:avLst/>
          </a:prstGeom>
          <a:noFill/>
          <a:ln/>
        </p:spPr>
        <p:txBody>
          <a:bodyPr wrap="square" lIns="0" tIns="0" rIns="0" bIns="0" rtlCol="0" anchor="ctr"/>
          <a:lstStyle/>
          <a:p>
            <a:pPr algn="l" indent="0" marL="0">
              <a:buNone/>
            </a:pPr>
            <a:r>
              <a:rPr lang="en-US" sz="1600" b="1" dirty="0">
                <a:solidFill>
                  <a:schemeClr val="bg1"/>
                </a:solidFill>
              </a:rPr>
              <a:t>Rank by skill</a:t>
            </a:r>
            <a:endParaRPr lang="en-US" sz="1600" dirty="0"/>
          </a:p>
        </p:txBody>
      </p:sp>
      <p:sp>
        <p:nvSpPr>
          <p:cNvPr id="17" name="Text 14"/>
          <p:cNvSpPr txBox="1"/>
          <p:nvPr/>
        </p:nvSpPr>
        <p:spPr>
          <a:xfrm>
            <a:off x="6364224" y="2651760"/>
            <a:ext cx="2286000" cy="1005840"/>
          </a:xfrm>
          <a:prstGeom prst="rect">
            <a:avLst/>
          </a:prstGeom>
          <a:noFill/>
          <a:ln/>
        </p:spPr>
        <p:txBody>
          <a:bodyPr wrap="square" lIns="0" tIns="0" rIns="0" bIns="0" rtlCol="0" anchor="t"/>
          <a:lstStyle/>
          <a:p>
            <a:pPr algn="l" indent="0" marL="0">
              <a:buNone/>
            </a:pPr>
            <a:r>
              <a:rPr lang="en-US" sz="1200" dirty="0">
                <a:solidFill>
                  <a:schemeClr val="bg1"/>
                </a:solidFill>
              </a:rPr>
              <a:t>Cross-validated correlation / error; keep the best models</a:t>
            </a:r>
            <a:endParaRPr lang="en-US" sz="1200" dirty="0"/>
          </a:p>
        </p:txBody>
      </p:sp>
      <p:sp>
        <p:nvSpPr>
          <p:cNvPr id="18" name="arrow"/>
          <p:cNvSpPr/>
          <p:nvPr/>
        </p:nvSpPr>
        <p:spPr>
          <a:xfrm>
            <a:off x="8796528" y="2560320"/>
            <a:ext cx="192024" cy="0"/>
          </a:xfrm>
          <a:prstGeom prst="line">
            <a:avLst/>
          </a:prstGeom>
          <a:noFill/>
          <a:ln w="31750">
            <a:solidFill>
              <a:srgbClr val="0E3B43"/>
            </a:solidFill>
            <a:prstDash val="solid"/>
            <a:tailEnd type="triangle"/>
          </a:ln>
        </p:spPr>
      </p:sp>
      <p:sp>
        <p:nvSpPr>
          <p:cNvPr id="19" name="SEFS step"/>
          <p:cNvSpPr/>
          <p:nvPr/>
        </p:nvSpPr>
        <p:spPr>
          <a:xfrm>
            <a:off x="8997696" y="1371600"/>
            <a:ext cx="2606040" cy="2377440"/>
          </a:xfrm>
          <a:prstGeom prst="roundRect">
            <a:avLst>
              <a:gd name="adj" fmla="val 3077"/>
            </a:avLst>
          </a:prstGeom>
          <a:solidFill>
            <a:schemeClr val="accent2"/>
          </a:solidFill>
          <a:ln/>
        </p:spPr>
      </p:sp>
      <p:sp>
        <p:nvSpPr>
          <p:cNvPr id="20" name="Text 17"/>
          <p:cNvSpPr txBox="1"/>
          <p:nvPr/>
        </p:nvSpPr>
        <p:spPr>
          <a:xfrm>
            <a:off x="9180576" y="1463040"/>
            <a:ext cx="731520" cy="731520"/>
          </a:xfrm>
          <a:prstGeom prst="rect">
            <a:avLst/>
          </a:prstGeom>
          <a:noFill/>
          <a:ln/>
        </p:spPr>
        <p:txBody>
          <a:bodyPr wrap="square" lIns="0" tIns="0" rIns="0" bIns="0" rtlCol="0" anchor="ctr"/>
          <a:lstStyle/>
          <a:p>
            <a:pPr algn="l" indent="0" marL="0">
              <a:buNone/>
            </a:pPr>
            <a:r>
              <a:rPr lang="en-US" sz="3600" b="1" dirty="0">
                <a:solidFill>
                  <a:schemeClr val="bg1"/>
                </a:solidFill>
              </a:rPr>
              <a:t>4</a:t>
            </a:r>
            <a:endParaRPr lang="en-US" sz="3600" dirty="0"/>
          </a:p>
        </p:txBody>
      </p:sp>
      <p:sp>
        <p:nvSpPr>
          <p:cNvPr id="21" name="Text 18"/>
          <p:cNvSpPr txBox="1"/>
          <p:nvPr/>
        </p:nvSpPr>
        <p:spPr>
          <a:xfrm>
            <a:off x="9180576" y="2194560"/>
            <a:ext cx="2286000" cy="457200"/>
          </a:xfrm>
          <a:prstGeom prst="rect">
            <a:avLst/>
          </a:prstGeom>
          <a:noFill/>
          <a:ln/>
        </p:spPr>
        <p:txBody>
          <a:bodyPr wrap="square" lIns="0" tIns="0" rIns="0" bIns="0" rtlCol="0" anchor="ctr"/>
          <a:lstStyle/>
          <a:p>
            <a:pPr algn="l" indent="0" marL="0">
              <a:buNone/>
            </a:pPr>
            <a:r>
              <a:rPr lang="en-US" sz="1600" b="1" dirty="0">
                <a:solidFill>
                  <a:schemeClr val="bg1"/>
                </a:solidFill>
              </a:rPr>
              <a:t>Weighted ensemble mean</a:t>
            </a:r>
            <a:endParaRPr lang="en-US" sz="1600" dirty="0"/>
          </a:p>
        </p:txBody>
      </p:sp>
      <p:sp>
        <p:nvSpPr>
          <p:cNvPr id="22" name="Text 19"/>
          <p:cNvSpPr txBox="1"/>
          <p:nvPr/>
        </p:nvSpPr>
        <p:spPr>
          <a:xfrm>
            <a:off x="9180576" y="2651760"/>
            <a:ext cx="2286000" cy="1005840"/>
          </a:xfrm>
          <a:prstGeom prst="rect">
            <a:avLst/>
          </a:prstGeom>
          <a:noFill/>
          <a:ln/>
        </p:spPr>
        <p:txBody>
          <a:bodyPr wrap="square" lIns="0" tIns="0" rIns="0" bIns="0" rtlCol="0" anchor="t"/>
          <a:lstStyle/>
          <a:p>
            <a:pPr algn="l" indent="0" marL="0">
              <a:buNone/>
            </a:pPr>
            <a:r>
              <a:rPr lang="en-US" sz="1200" dirty="0">
                <a:solidFill>
                  <a:schemeClr val="bg1"/>
                </a:solidFill>
              </a:rPr>
              <a:t>Skill-weighted average → % of LPA; spread → model error</a:t>
            </a:r>
            <a:endParaRPr lang="en-US" sz="1200" dirty="0"/>
          </a:p>
        </p:txBody>
      </p:sp>
      <p:sp>
        <p:nvSpPr>
          <p:cNvPr id="23" name="card"/>
          <p:cNvSpPr/>
          <p:nvPr/>
        </p:nvSpPr>
        <p:spPr>
          <a:xfrm>
            <a:off x="548640" y="3977640"/>
            <a:ext cx="35661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731520" y="4133088"/>
            <a:ext cx="420624" cy="420624"/>
          </a:xfrm>
          <a:prstGeom prst="ellipse">
            <a:avLst/>
          </a:prstGeom>
          <a:solidFill>
            <a:schemeClr val="accent1"/>
          </a:solidFill>
          <a:ln/>
        </p:spPr>
      </p:sp>
      <p:pic>
        <p:nvPicPr>
          <p:cNvPr id="25" name="Image 0" descr="Calculator icon">    </p:cNvPr>
          <p:cNvPicPr>
            <a:picLocks noChangeAspect="1"/>
          </p:cNvPicPr>
          <p:nvPr/>
        </p:nvPicPr>
        <p:blipFill>
          <a:blip r:embed="rId1"/>
          <a:stretch>
            <a:fillRect/>
          </a:stretch>
        </p:blipFill>
        <p:spPr>
          <a:xfrm>
            <a:off x="840882" y="4242450"/>
            <a:ext cx="201900" cy="201900"/>
          </a:xfrm>
          <a:prstGeom prst="rect">
            <a:avLst/>
          </a:prstGeom>
        </p:spPr>
      </p:pic>
      <p:sp>
        <p:nvSpPr>
          <p:cNvPr id="26" name="Text 22"/>
          <p:cNvSpPr txBox="1"/>
          <p:nvPr/>
        </p:nvSpPr>
        <p:spPr>
          <a:xfrm>
            <a:off x="1261872" y="41148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Multiple regression (MR)</a:t>
            </a:r>
            <a:endParaRPr lang="en-US" sz="1600" dirty="0"/>
          </a:p>
        </p:txBody>
      </p:sp>
      <p:sp>
        <p:nvSpPr>
          <p:cNvPr id="27" name="Text 23"/>
          <p:cNvSpPr txBox="1"/>
          <p:nvPr/>
        </p:nvSpPr>
        <p:spPr>
          <a:xfrm>
            <a:off x="731520" y="4663440"/>
            <a:ext cx="3200400" cy="1417320"/>
          </a:xfrm>
          <a:prstGeom prst="rect">
            <a:avLst/>
          </a:prstGeom>
          <a:noFill/>
          <a:ln/>
        </p:spPr>
        <p:txBody>
          <a:bodyPr wrap="square" lIns="508" tIns="508" rIns="508" bIns="508" rtlCol="0" anchor="t"/>
          <a:lstStyle/>
          <a:p>
            <a:pPr indent="0" marL="0">
              <a:spcAft>
                <a:spcPts val="400"/>
              </a:spcAft>
              <a:buNone/>
            </a:pPr>
            <a:r>
              <a:rPr lang="en-US" sz="1400" b="1" dirty="0">
                <a:solidFill>
                  <a:schemeClr val="tx2"/>
                </a:solidFill>
              </a:rPr>
              <a:t>R = a₀ + a₁P₁ + a₂P₂ + …</a:t>
            </a:r>
            <a:endParaRPr lang="en-US" sz="1400" dirty="0"/>
          </a:p>
          <a:p>
            <a:pPr marL="177800" indent="-177800">
              <a:spcAft>
                <a:spcPts val="400"/>
              </a:spcAft>
              <a:buSzPct val="100000"/>
              <a:buChar char="•"/>
            </a:pPr>
            <a:r>
              <a:rPr lang="en-US" sz="1300" dirty="0">
                <a:solidFill>
                  <a:schemeClr val="tx1"/>
                </a:solidFill>
              </a:rPr>
              <a:t>Linear, transparent, easy to test</a:t>
            </a:r>
            <a:endParaRPr lang="en-US" sz="1400" dirty="0"/>
          </a:p>
        </p:txBody>
      </p:sp>
      <p:sp>
        <p:nvSpPr>
          <p:cNvPr id="28" name="card"/>
          <p:cNvSpPr/>
          <p:nvPr/>
        </p:nvSpPr>
        <p:spPr>
          <a:xfrm>
            <a:off x="4315968" y="3977640"/>
            <a:ext cx="356616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4498848" y="4133088"/>
            <a:ext cx="420624" cy="420624"/>
          </a:xfrm>
          <a:prstGeom prst="ellipse">
            <a:avLst/>
          </a:prstGeom>
          <a:solidFill>
            <a:schemeClr val="accent5"/>
          </a:solidFill>
          <a:ln/>
        </p:spPr>
      </p:sp>
      <p:pic>
        <p:nvPicPr>
          <p:cNvPr id="30" name="Image 1" descr="ChartLine icon">    </p:cNvPr>
          <p:cNvPicPr>
            <a:picLocks noChangeAspect="1"/>
          </p:cNvPicPr>
          <p:nvPr/>
        </p:nvPicPr>
        <p:blipFill>
          <a:blip r:embed="rId2"/>
          <a:stretch>
            <a:fillRect/>
          </a:stretch>
        </p:blipFill>
        <p:spPr>
          <a:xfrm>
            <a:off x="4608210" y="4242450"/>
            <a:ext cx="201900" cy="201900"/>
          </a:xfrm>
          <a:prstGeom prst="rect">
            <a:avLst/>
          </a:prstGeom>
        </p:spPr>
      </p:pic>
      <p:sp>
        <p:nvSpPr>
          <p:cNvPr id="31" name="Text 26"/>
          <p:cNvSpPr txBox="1"/>
          <p:nvPr/>
        </p:nvSpPr>
        <p:spPr>
          <a:xfrm>
            <a:off x="5029200" y="411480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Projection pursuit regression (PPR)</a:t>
            </a:r>
            <a:endParaRPr lang="en-US" sz="1600" dirty="0"/>
          </a:p>
        </p:txBody>
      </p:sp>
      <p:sp>
        <p:nvSpPr>
          <p:cNvPr id="32" name="Text 27"/>
          <p:cNvSpPr txBox="1"/>
          <p:nvPr/>
        </p:nvSpPr>
        <p:spPr>
          <a:xfrm>
            <a:off x="4498848" y="4663440"/>
            <a:ext cx="3200400" cy="14173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Sum of smooth non-linear functions of predictor combinations</a:t>
            </a:r>
            <a:endParaRPr lang="en-US" sz="1300" dirty="0"/>
          </a:p>
          <a:p>
            <a:pPr marL="177800" indent="-177800">
              <a:spcAft>
                <a:spcPts val="400"/>
              </a:spcAft>
              <a:buSzPct val="100000"/>
              <a:buChar char="•"/>
            </a:pPr>
            <a:r>
              <a:rPr lang="en-US" sz="1300" dirty="0">
                <a:solidFill>
                  <a:schemeClr val="tx1"/>
                </a:solidFill>
              </a:rPr>
              <a:t>Captures non-linear links</a:t>
            </a:r>
            <a:endParaRPr lang="en-US" sz="1300" dirty="0"/>
          </a:p>
        </p:txBody>
      </p:sp>
      <p:sp>
        <p:nvSpPr>
          <p:cNvPr id="33" name="card"/>
          <p:cNvSpPr/>
          <p:nvPr/>
        </p:nvSpPr>
        <p:spPr>
          <a:xfrm>
            <a:off x="8083296" y="3977640"/>
            <a:ext cx="3557016"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34" name="icon circle"/>
          <p:cNvSpPr/>
          <p:nvPr/>
        </p:nvSpPr>
        <p:spPr>
          <a:xfrm>
            <a:off x="8266176" y="4133088"/>
            <a:ext cx="420624" cy="420624"/>
          </a:xfrm>
          <a:prstGeom prst="ellipse">
            <a:avLst/>
          </a:prstGeom>
          <a:solidFill>
            <a:schemeClr val="accent2"/>
          </a:solidFill>
          <a:ln/>
        </p:spPr>
      </p:sp>
      <p:pic>
        <p:nvPicPr>
          <p:cNvPr id="35" name="Image 2" descr="BalanceScale icon">    </p:cNvPr>
          <p:cNvPicPr>
            <a:picLocks noChangeAspect="1"/>
          </p:cNvPicPr>
          <p:nvPr/>
        </p:nvPicPr>
        <p:blipFill>
          <a:blip r:embed="rId3"/>
          <a:stretch>
            <a:fillRect/>
          </a:stretch>
        </p:blipFill>
        <p:spPr>
          <a:xfrm>
            <a:off x="8375538" y="4242450"/>
            <a:ext cx="201900" cy="201900"/>
          </a:xfrm>
          <a:prstGeom prst="rect">
            <a:avLst/>
          </a:prstGeom>
        </p:spPr>
      </p:pic>
      <p:sp>
        <p:nvSpPr>
          <p:cNvPr id="36" name="Text 30"/>
          <p:cNvSpPr txBox="1"/>
          <p:nvPr/>
        </p:nvSpPr>
        <p:spPr>
          <a:xfrm>
            <a:off x="8796528" y="411480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Strength &amp; weakness</a:t>
            </a:r>
            <a:endParaRPr lang="en-US" sz="1600" dirty="0"/>
          </a:p>
        </p:txBody>
      </p:sp>
      <p:sp>
        <p:nvSpPr>
          <p:cNvPr id="37" name="Text 31"/>
          <p:cNvSpPr txBox="1"/>
          <p:nvPr/>
        </p:nvSpPr>
        <p:spPr>
          <a:xfrm>
            <a:off x="8266176" y="4663440"/>
            <a:ext cx="3191256" cy="14173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No single model dominates → more stable</a:t>
            </a:r>
            <a:endParaRPr lang="en-US" sz="1300" dirty="0"/>
          </a:p>
          <a:p>
            <a:pPr marL="177800" indent="-177800">
              <a:spcAft>
                <a:spcPts val="400"/>
              </a:spcAft>
              <a:buSzPct val="100000"/>
              <a:buChar char="•"/>
            </a:pPr>
            <a:r>
              <a:rPr lang="en-US" sz="1300" dirty="0">
                <a:solidFill>
                  <a:schemeClr val="tx1"/>
                </a:solidFill>
              </a:rPr>
              <a:t>Predictor links can drift with climate change → re-checked</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SEFS predictors: where they come from</a:t>
            </a:r>
            <a:endParaRPr lang="en-US" sz="3200" dirty="0"/>
          </a:p>
        </p:txBody>
      </p:sp>
      <p:sp>
        <p:nvSpPr>
          <p:cNvPr id="4" name="map frame"/>
          <p:cNvSpPr/>
          <p:nvPr/>
        </p:nvSpPr>
        <p:spPr>
          <a:xfrm>
            <a:off x="548640" y="1371600"/>
            <a:ext cx="6949440" cy="4206240"/>
          </a:xfrm>
          <a:prstGeom prst="rect">
            <a:avLst/>
          </a:prstGeom>
          <a:solidFill>
            <a:srgbClr val="E3EFF2"/>
          </a:solidFill>
          <a:ln w="12700">
            <a:solidFill>
              <a:srgbClr val="C9D9DD"/>
            </a:solidFill>
            <a:prstDash val="solid"/>
          </a:ln>
        </p:spPr>
      </p:sp>
      <p:sp>
        <p:nvSpPr>
          <p:cNvPr id="5" name="grid"/>
          <p:cNvSpPr/>
          <p:nvPr/>
        </p:nvSpPr>
        <p:spPr>
          <a:xfrm>
            <a:off x="1127760" y="1371600"/>
            <a:ext cx="0" cy="4206240"/>
          </a:xfrm>
          <a:prstGeom prst="line">
            <a:avLst/>
          </a:prstGeom>
          <a:noFill/>
          <a:ln w="6350">
            <a:solidFill>
              <a:srgbClr val="C9D9DD"/>
            </a:solidFill>
            <a:prstDash val="solid"/>
          </a:ln>
        </p:spPr>
      </p:sp>
      <p:sp>
        <p:nvSpPr>
          <p:cNvPr id="6" name="grid"/>
          <p:cNvSpPr/>
          <p:nvPr/>
        </p:nvSpPr>
        <p:spPr>
          <a:xfrm>
            <a:off x="1706880" y="1371600"/>
            <a:ext cx="0" cy="4206240"/>
          </a:xfrm>
          <a:prstGeom prst="line">
            <a:avLst/>
          </a:prstGeom>
          <a:noFill/>
          <a:ln w="6350">
            <a:solidFill>
              <a:srgbClr val="C9D9DD"/>
            </a:solidFill>
            <a:prstDash val="solid"/>
          </a:ln>
        </p:spPr>
      </p:sp>
      <p:sp>
        <p:nvSpPr>
          <p:cNvPr id="7" name="grid"/>
          <p:cNvSpPr/>
          <p:nvPr/>
        </p:nvSpPr>
        <p:spPr>
          <a:xfrm>
            <a:off x="2286000" y="1371600"/>
            <a:ext cx="0" cy="4206240"/>
          </a:xfrm>
          <a:prstGeom prst="line">
            <a:avLst/>
          </a:prstGeom>
          <a:noFill/>
          <a:ln w="6350">
            <a:solidFill>
              <a:srgbClr val="C9D9DD"/>
            </a:solidFill>
            <a:prstDash val="solid"/>
          </a:ln>
        </p:spPr>
      </p:sp>
      <p:sp>
        <p:nvSpPr>
          <p:cNvPr id="8" name="grid"/>
          <p:cNvSpPr/>
          <p:nvPr/>
        </p:nvSpPr>
        <p:spPr>
          <a:xfrm>
            <a:off x="2865120" y="1371600"/>
            <a:ext cx="0" cy="4206240"/>
          </a:xfrm>
          <a:prstGeom prst="line">
            <a:avLst/>
          </a:prstGeom>
          <a:noFill/>
          <a:ln w="6350">
            <a:solidFill>
              <a:srgbClr val="C9D9DD"/>
            </a:solidFill>
            <a:prstDash val="solid"/>
          </a:ln>
        </p:spPr>
      </p:sp>
      <p:sp>
        <p:nvSpPr>
          <p:cNvPr id="9" name="grid"/>
          <p:cNvSpPr/>
          <p:nvPr/>
        </p:nvSpPr>
        <p:spPr>
          <a:xfrm>
            <a:off x="3444240" y="1371600"/>
            <a:ext cx="0" cy="4206240"/>
          </a:xfrm>
          <a:prstGeom prst="line">
            <a:avLst/>
          </a:prstGeom>
          <a:noFill/>
          <a:ln w="6350">
            <a:solidFill>
              <a:srgbClr val="C9D9DD"/>
            </a:solidFill>
            <a:prstDash val="solid"/>
          </a:ln>
        </p:spPr>
      </p:sp>
      <p:sp>
        <p:nvSpPr>
          <p:cNvPr id="10" name="grid"/>
          <p:cNvSpPr/>
          <p:nvPr/>
        </p:nvSpPr>
        <p:spPr>
          <a:xfrm>
            <a:off x="4023360" y="1371600"/>
            <a:ext cx="0" cy="4206240"/>
          </a:xfrm>
          <a:prstGeom prst="line">
            <a:avLst/>
          </a:prstGeom>
          <a:noFill/>
          <a:ln w="6350">
            <a:solidFill>
              <a:srgbClr val="C9D9DD"/>
            </a:solidFill>
            <a:prstDash val="solid"/>
          </a:ln>
        </p:spPr>
      </p:sp>
      <p:sp>
        <p:nvSpPr>
          <p:cNvPr id="11" name="grid"/>
          <p:cNvSpPr/>
          <p:nvPr/>
        </p:nvSpPr>
        <p:spPr>
          <a:xfrm>
            <a:off x="4602480" y="1371600"/>
            <a:ext cx="0" cy="4206240"/>
          </a:xfrm>
          <a:prstGeom prst="line">
            <a:avLst/>
          </a:prstGeom>
          <a:noFill/>
          <a:ln w="6350">
            <a:solidFill>
              <a:srgbClr val="C9D9DD"/>
            </a:solidFill>
            <a:prstDash val="solid"/>
          </a:ln>
        </p:spPr>
      </p:sp>
      <p:sp>
        <p:nvSpPr>
          <p:cNvPr id="12" name="grid"/>
          <p:cNvSpPr/>
          <p:nvPr/>
        </p:nvSpPr>
        <p:spPr>
          <a:xfrm>
            <a:off x="5181600" y="1371600"/>
            <a:ext cx="0" cy="4206240"/>
          </a:xfrm>
          <a:prstGeom prst="line">
            <a:avLst/>
          </a:prstGeom>
          <a:noFill/>
          <a:ln w="6350">
            <a:solidFill>
              <a:srgbClr val="C9D9DD"/>
            </a:solidFill>
            <a:prstDash val="solid"/>
          </a:ln>
        </p:spPr>
      </p:sp>
      <p:sp>
        <p:nvSpPr>
          <p:cNvPr id="13" name="grid"/>
          <p:cNvSpPr/>
          <p:nvPr/>
        </p:nvSpPr>
        <p:spPr>
          <a:xfrm>
            <a:off x="5760720" y="1371600"/>
            <a:ext cx="0" cy="4206240"/>
          </a:xfrm>
          <a:prstGeom prst="line">
            <a:avLst/>
          </a:prstGeom>
          <a:noFill/>
          <a:ln w="6350">
            <a:solidFill>
              <a:srgbClr val="C9D9DD"/>
            </a:solidFill>
            <a:prstDash val="solid"/>
          </a:ln>
        </p:spPr>
      </p:sp>
      <p:sp>
        <p:nvSpPr>
          <p:cNvPr id="14" name="grid"/>
          <p:cNvSpPr/>
          <p:nvPr/>
        </p:nvSpPr>
        <p:spPr>
          <a:xfrm>
            <a:off x="6339840" y="1371600"/>
            <a:ext cx="0" cy="4206240"/>
          </a:xfrm>
          <a:prstGeom prst="line">
            <a:avLst/>
          </a:prstGeom>
          <a:noFill/>
          <a:ln w="6350">
            <a:solidFill>
              <a:srgbClr val="C9D9DD"/>
            </a:solidFill>
            <a:prstDash val="solid"/>
          </a:ln>
        </p:spPr>
      </p:sp>
      <p:sp>
        <p:nvSpPr>
          <p:cNvPr id="15" name="grid"/>
          <p:cNvSpPr/>
          <p:nvPr/>
        </p:nvSpPr>
        <p:spPr>
          <a:xfrm>
            <a:off x="6918960" y="1371600"/>
            <a:ext cx="0" cy="4206240"/>
          </a:xfrm>
          <a:prstGeom prst="line">
            <a:avLst/>
          </a:prstGeom>
          <a:noFill/>
          <a:ln w="6350">
            <a:solidFill>
              <a:srgbClr val="C9D9DD"/>
            </a:solidFill>
            <a:prstDash val="solid"/>
          </a:ln>
        </p:spPr>
      </p:sp>
      <p:sp>
        <p:nvSpPr>
          <p:cNvPr id="16" name="grid"/>
          <p:cNvSpPr/>
          <p:nvPr/>
        </p:nvSpPr>
        <p:spPr>
          <a:xfrm>
            <a:off x="548640" y="2212848"/>
            <a:ext cx="6949440" cy="0"/>
          </a:xfrm>
          <a:prstGeom prst="line">
            <a:avLst/>
          </a:prstGeom>
          <a:noFill/>
          <a:ln w="6350">
            <a:solidFill>
              <a:srgbClr val="C9D9DD"/>
            </a:solidFill>
            <a:prstDash val="solid"/>
          </a:ln>
        </p:spPr>
      </p:sp>
      <p:sp>
        <p:nvSpPr>
          <p:cNvPr id="17" name="grid"/>
          <p:cNvSpPr/>
          <p:nvPr/>
        </p:nvSpPr>
        <p:spPr>
          <a:xfrm>
            <a:off x="548640" y="3054096"/>
            <a:ext cx="6949440" cy="0"/>
          </a:xfrm>
          <a:prstGeom prst="line">
            <a:avLst/>
          </a:prstGeom>
          <a:noFill/>
          <a:ln w="6350">
            <a:solidFill>
              <a:srgbClr val="C9D9DD"/>
            </a:solidFill>
            <a:prstDash val="solid"/>
          </a:ln>
        </p:spPr>
      </p:sp>
      <p:sp>
        <p:nvSpPr>
          <p:cNvPr id="18" name="grid"/>
          <p:cNvSpPr/>
          <p:nvPr/>
        </p:nvSpPr>
        <p:spPr>
          <a:xfrm>
            <a:off x="548640" y="3895344"/>
            <a:ext cx="6949440" cy="0"/>
          </a:xfrm>
          <a:prstGeom prst="line">
            <a:avLst/>
          </a:prstGeom>
          <a:noFill/>
          <a:ln w="6350">
            <a:solidFill>
              <a:srgbClr val="C9D9DD"/>
            </a:solidFill>
            <a:prstDash val="solid"/>
          </a:ln>
        </p:spPr>
      </p:sp>
      <p:sp>
        <p:nvSpPr>
          <p:cNvPr id="19" name="grid"/>
          <p:cNvSpPr/>
          <p:nvPr/>
        </p:nvSpPr>
        <p:spPr>
          <a:xfrm>
            <a:off x="548640" y="4736592"/>
            <a:ext cx="6949440" cy="0"/>
          </a:xfrm>
          <a:prstGeom prst="line">
            <a:avLst/>
          </a:prstGeom>
          <a:noFill/>
          <a:ln w="6350">
            <a:solidFill>
              <a:srgbClr val="C9D9DD"/>
            </a:solidFill>
            <a:prstDash val="solid"/>
          </a:ln>
        </p:spPr>
      </p:sp>
      <p:sp>
        <p:nvSpPr>
          <p:cNvPr id="20" name="equator"/>
          <p:cNvSpPr/>
          <p:nvPr/>
        </p:nvSpPr>
        <p:spPr>
          <a:xfrm>
            <a:off x="548640" y="4315968"/>
            <a:ext cx="6949440" cy="0"/>
          </a:xfrm>
          <a:prstGeom prst="line">
            <a:avLst/>
          </a:prstGeom>
          <a:noFill/>
          <a:ln w="15875">
            <a:solidFill>
              <a:srgbClr val="5F6C72"/>
            </a:solidFill>
            <a:prstDash val="dash"/>
          </a:ln>
        </p:spPr>
      </p:sp>
      <p:sp>
        <p:nvSpPr>
          <p:cNvPr id="21" name="Text 18"/>
          <p:cNvSpPr txBox="1"/>
          <p:nvPr/>
        </p:nvSpPr>
        <p:spPr>
          <a:xfrm>
            <a:off x="6375400" y="3547872"/>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Atlantic</a:t>
            </a:r>
            <a:endParaRPr lang="en-US" sz="1100" dirty="0"/>
          </a:p>
        </p:txBody>
      </p:sp>
      <p:sp>
        <p:nvSpPr>
          <p:cNvPr id="22" name="Text 19"/>
          <p:cNvSpPr txBox="1"/>
          <p:nvPr/>
        </p:nvSpPr>
        <p:spPr>
          <a:xfrm>
            <a:off x="1452880" y="4935931"/>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Indian Ocean</a:t>
            </a:r>
            <a:endParaRPr lang="en-US" sz="1100" dirty="0"/>
          </a:p>
        </p:txBody>
      </p:sp>
      <p:sp>
        <p:nvSpPr>
          <p:cNvPr id="23" name="Text 20"/>
          <p:cNvSpPr txBox="1"/>
          <p:nvPr/>
        </p:nvSpPr>
        <p:spPr>
          <a:xfrm>
            <a:off x="3769360" y="3547872"/>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Pacific</a:t>
            </a:r>
            <a:endParaRPr lang="en-US" sz="1100" dirty="0"/>
          </a:p>
        </p:txBody>
      </p:sp>
      <p:sp>
        <p:nvSpPr>
          <p:cNvPr id="24" name="Text 21"/>
          <p:cNvSpPr txBox="1"/>
          <p:nvPr/>
        </p:nvSpPr>
        <p:spPr>
          <a:xfrm>
            <a:off x="487680" y="1486814"/>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Europe</a:t>
            </a:r>
            <a:endParaRPr lang="en-US" sz="1100" dirty="0"/>
          </a:p>
        </p:txBody>
      </p:sp>
      <p:sp>
        <p:nvSpPr>
          <p:cNvPr id="25" name="Text 22"/>
          <p:cNvSpPr txBox="1"/>
          <p:nvPr/>
        </p:nvSpPr>
        <p:spPr>
          <a:xfrm>
            <a:off x="1935480" y="1570939"/>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Asia</a:t>
            </a:r>
            <a:endParaRPr lang="en-US" sz="1100" dirty="0"/>
          </a:p>
        </p:txBody>
      </p:sp>
      <p:sp>
        <p:nvSpPr>
          <p:cNvPr id="26" name="Text 23"/>
          <p:cNvSpPr txBox="1"/>
          <p:nvPr/>
        </p:nvSpPr>
        <p:spPr>
          <a:xfrm>
            <a:off x="5120640" y="1570939"/>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Americas</a:t>
            </a:r>
            <a:endParaRPr lang="en-US" sz="1100" dirty="0"/>
          </a:p>
        </p:txBody>
      </p:sp>
      <p:sp>
        <p:nvSpPr>
          <p:cNvPr id="27" name="India"/>
          <p:cNvSpPr/>
          <p:nvPr/>
        </p:nvSpPr>
        <p:spPr>
          <a:xfrm>
            <a:off x="2010664" y="3134563"/>
            <a:ext cx="512064" cy="512064"/>
          </a:xfrm>
          <a:prstGeom prst="ellipse">
            <a:avLst/>
          </a:prstGeom>
          <a:solidFill>
            <a:schemeClr val="accent3"/>
          </a:solidFill>
          <a:ln w="19050">
            <a:solidFill>
              <a:srgbClr val="0E3B43"/>
            </a:solidFill>
            <a:prstDash val="solid"/>
          </a:ln>
        </p:spPr>
      </p:sp>
      <p:sp>
        <p:nvSpPr>
          <p:cNvPr id="28" name="Text 25"/>
          <p:cNvSpPr txBox="1"/>
          <p:nvPr/>
        </p:nvSpPr>
        <p:spPr>
          <a:xfrm>
            <a:off x="1718056" y="3664915"/>
            <a:ext cx="1097280" cy="274320"/>
          </a:xfrm>
          <a:prstGeom prst="rect">
            <a:avLst/>
          </a:prstGeom>
          <a:noFill/>
          <a:ln/>
        </p:spPr>
        <p:txBody>
          <a:bodyPr wrap="square" lIns="0" tIns="0" rIns="0" bIns="0" rtlCol="0" anchor="ctr"/>
          <a:lstStyle/>
          <a:p>
            <a:pPr algn="ctr" indent="0" marL="0">
              <a:buNone/>
            </a:pPr>
            <a:r>
              <a:rPr lang="en-US" sz="1100" b="1" dirty="0">
                <a:solidFill>
                  <a:schemeClr val="tx2"/>
                </a:solidFill>
              </a:rPr>
              <a:t>INDIA</a:t>
            </a:r>
            <a:endParaRPr lang="en-US" sz="1100" dirty="0"/>
          </a:p>
        </p:txBody>
      </p:sp>
      <p:sp>
        <p:nvSpPr>
          <p:cNvPr id="29" name="gradient link"/>
          <p:cNvSpPr/>
          <p:nvPr/>
        </p:nvSpPr>
        <p:spPr>
          <a:xfrm>
            <a:off x="4988560" y="2549347"/>
            <a:ext cx="1640840" cy="0"/>
          </a:xfrm>
          <a:prstGeom prst="line">
            <a:avLst/>
          </a:prstGeom>
          <a:noFill/>
          <a:ln w="19050">
            <a:solidFill>
              <a:srgbClr val="2E6FA7"/>
            </a:solidFill>
            <a:prstDash val="dash"/>
          </a:ln>
        </p:spPr>
      </p:sp>
      <p:sp>
        <p:nvSpPr>
          <p:cNvPr id="30" name="predictor pin"/>
          <p:cNvSpPr/>
          <p:nvPr/>
        </p:nvSpPr>
        <p:spPr>
          <a:xfrm>
            <a:off x="751840" y="1945843"/>
            <a:ext cx="365760" cy="365760"/>
          </a:xfrm>
          <a:prstGeom prst="ellipse">
            <a:avLst/>
          </a:prstGeom>
          <a:solidFill>
            <a:schemeClr val="accent2"/>
          </a:solidFill>
          <a:ln w="19050">
            <a:solidFill>
              <a:srgbClr val="FFFFFF"/>
            </a:solidFill>
            <a:prstDash val="solid"/>
          </a:ln>
        </p:spPr>
      </p:sp>
      <p:sp>
        <p:nvSpPr>
          <p:cNvPr id="31" name="Text 28"/>
          <p:cNvSpPr txBox="1"/>
          <p:nvPr/>
        </p:nvSpPr>
        <p:spPr>
          <a:xfrm>
            <a:off x="751840" y="1945843"/>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2" name="predictor pin"/>
          <p:cNvSpPr/>
          <p:nvPr/>
        </p:nvSpPr>
        <p:spPr>
          <a:xfrm>
            <a:off x="3840480" y="4133088"/>
            <a:ext cx="365760" cy="365760"/>
          </a:xfrm>
          <a:prstGeom prst="ellipse">
            <a:avLst/>
          </a:prstGeom>
          <a:solidFill>
            <a:schemeClr val="accent1"/>
          </a:solidFill>
          <a:ln w="19050">
            <a:solidFill>
              <a:srgbClr val="FFFFFF"/>
            </a:solidFill>
            <a:prstDash val="solid"/>
          </a:ln>
        </p:spPr>
      </p:sp>
      <p:sp>
        <p:nvSpPr>
          <p:cNvPr id="33" name="Text 30"/>
          <p:cNvSpPr txBox="1"/>
          <p:nvPr/>
        </p:nvSpPr>
        <p:spPr>
          <a:xfrm>
            <a:off x="3840480" y="413308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4" name="predictor pin"/>
          <p:cNvSpPr/>
          <p:nvPr/>
        </p:nvSpPr>
        <p:spPr>
          <a:xfrm>
            <a:off x="4805680" y="2366467"/>
            <a:ext cx="365760" cy="365760"/>
          </a:xfrm>
          <a:prstGeom prst="ellipse">
            <a:avLst/>
          </a:prstGeom>
          <a:solidFill>
            <a:schemeClr val="accent5"/>
          </a:solidFill>
          <a:ln w="19050">
            <a:solidFill>
              <a:srgbClr val="FFFFFF"/>
            </a:solidFill>
            <a:prstDash val="solid"/>
          </a:ln>
        </p:spPr>
      </p:sp>
      <p:sp>
        <p:nvSpPr>
          <p:cNvPr id="35" name="Text 32"/>
          <p:cNvSpPr txBox="1"/>
          <p:nvPr/>
        </p:nvSpPr>
        <p:spPr>
          <a:xfrm>
            <a:off x="4805680" y="2366467"/>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6" name="predictor pin"/>
          <p:cNvSpPr/>
          <p:nvPr/>
        </p:nvSpPr>
        <p:spPr>
          <a:xfrm>
            <a:off x="6446520" y="2366467"/>
            <a:ext cx="365760" cy="365760"/>
          </a:xfrm>
          <a:prstGeom prst="ellipse">
            <a:avLst/>
          </a:prstGeom>
          <a:solidFill>
            <a:schemeClr val="accent5"/>
          </a:solidFill>
          <a:ln w="19050">
            <a:solidFill>
              <a:srgbClr val="FFFFFF"/>
            </a:solidFill>
            <a:prstDash val="solid"/>
          </a:ln>
        </p:spPr>
      </p:sp>
      <p:sp>
        <p:nvSpPr>
          <p:cNvPr id="37" name="Text 34"/>
          <p:cNvSpPr txBox="1"/>
          <p:nvPr/>
        </p:nvSpPr>
        <p:spPr>
          <a:xfrm>
            <a:off x="6446520" y="2366467"/>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8" name="predictor pin"/>
          <p:cNvSpPr/>
          <p:nvPr/>
        </p:nvSpPr>
        <p:spPr>
          <a:xfrm>
            <a:off x="2489200" y="4385462"/>
            <a:ext cx="365760" cy="365760"/>
          </a:xfrm>
          <a:prstGeom prst="ellipse">
            <a:avLst/>
          </a:prstGeom>
          <a:solidFill>
            <a:schemeClr val="accent4"/>
          </a:solidFill>
          <a:ln w="19050">
            <a:solidFill>
              <a:srgbClr val="FFFFFF"/>
            </a:solidFill>
            <a:prstDash val="solid"/>
          </a:ln>
        </p:spPr>
      </p:sp>
      <p:sp>
        <p:nvSpPr>
          <p:cNvPr id="39" name="Text 36"/>
          <p:cNvSpPr txBox="1"/>
          <p:nvPr/>
        </p:nvSpPr>
        <p:spPr>
          <a:xfrm>
            <a:off x="2489200" y="438546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0" name="predictor pin"/>
          <p:cNvSpPr/>
          <p:nvPr/>
        </p:nvSpPr>
        <p:spPr>
          <a:xfrm>
            <a:off x="2913888" y="2534717"/>
            <a:ext cx="365760" cy="365760"/>
          </a:xfrm>
          <a:prstGeom prst="ellipse">
            <a:avLst/>
          </a:prstGeom>
          <a:solidFill>
            <a:schemeClr val="accent6"/>
          </a:solidFill>
          <a:ln w="19050">
            <a:solidFill>
              <a:srgbClr val="FFFFFF"/>
            </a:solidFill>
            <a:prstDash val="solid"/>
          </a:ln>
        </p:spPr>
      </p:sp>
      <p:sp>
        <p:nvSpPr>
          <p:cNvPr id="41" name="Text 38"/>
          <p:cNvSpPr txBox="1"/>
          <p:nvPr/>
        </p:nvSpPr>
        <p:spPr>
          <a:xfrm>
            <a:off x="2913888" y="2534717"/>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2" name="predictor pin"/>
          <p:cNvSpPr/>
          <p:nvPr/>
        </p:nvSpPr>
        <p:spPr>
          <a:xfrm>
            <a:off x="4709160" y="4301338"/>
            <a:ext cx="365760" cy="365760"/>
          </a:xfrm>
          <a:prstGeom prst="ellipse">
            <a:avLst/>
          </a:prstGeom>
          <a:solidFill>
            <a:schemeClr val="accent2"/>
          </a:solidFill>
          <a:ln w="19050">
            <a:solidFill>
              <a:srgbClr val="FFFFFF"/>
            </a:solidFill>
            <a:prstDash val="solid"/>
          </a:ln>
        </p:spPr>
      </p:sp>
      <p:sp>
        <p:nvSpPr>
          <p:cNvPr id="43" name="Text 40"/>
          <p:cNvSpPr txBox="1"/>
          <p:nvPr/>
        </p:nvSpPr>
        <p:spPr>
          <a:xfrm>
            <a:off x="4709160" y="430133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J</a:t>
            </a:r>
            <a:endParaRPr lang="en-US" sz="1200" dirty="0"/>
          </a:p>
        </p:txBody>
      </p:sp>
      <p:sp>
        <p:nvSpPr>
          <p:cNvPr id="44" name="Text 41"/>
          <p:cNvSpPr txBox="1"/>
          <p:nvPr/>
        </p:nvSpPr>
        <p:spPr>
          <a:xfrm>
            <a:off x="548640" y="5623560"/>
            <a:ext cx="6949440" cy="45720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Schematic latitude–longitude grid (70°N–30°S); positions approximate. J = June-stage predictor.</a:t>
            </a:r>
            <a:endParaRPr lang="en-US" sz="1100" dirty="0"/>
          </a:p>
        </p:txBody>
      </p:sp>
      <p:sp>
        <p:nvSpPr>
          <p:cNvPr id="45" name="card"/>
          <p:cNvSpPr/>
          <p:nvPr/>
        </p:nvSpPr>
        <p:spPr>
          <a:xfrm>
            <a:off x="7726680" y="1371600"/>
            <a:ext cx="391363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46" name="predictor id"/>
          <p:cNvSpPr/>
          <p:nvPr/>
        </p:nvSpPr>
        <p:spPr>
          <a:xfrm>
            <a:off x="7836408" y="1517904"/>
            <a:ext cx="402336" cy="402336"/>
          </a:xfrm>
          <a:prstGeom prst="ellipse">
            <a:avLst/>
          </a:prstGeom>
          <a:solidFill>
            <a:schemeClr val="accent2"/>
          </a:solidFill>
          <a:ln/>
        </p:spPr>
      </p:sp>
      <p:sp>
        <p:nvSpPr>
          <p:cNvPr id="47" name="Text 44"/>
          <p:cNvSpPr txBox="1"/>
          <p:nvPr/>
        </p:nvSpPr>
        <p:spPr>
          <a:xfrm>
            <a:off x="7836408" y="151790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48" name="Text 45"/>
          <p:cNvSpPr txBox="1"/>
          <p:nvPr/>
        </p:nvSpPr>
        <p:spPr>
          <a:xfrm>
            <a:off x="8339328" y="1399032"/>
            <a:ext cx="3246120" cy="411480"/>
          </a:xfrm>
          <a:prstGeom prst="rect">
            <a:avLst/>
          </a:prstGeom>
          <a:noFill/>
          <a:ln/>
        </p:spPr>
        <p:txBody>
          <a:bodyPr wrap="square" lIns="0" tIns="0" rIns="0" bIns="0" rtlCol="0" anchor="ctr"/>
          <a:lstStyle/>
          <a:p>
            <a:pPr algn="l" indent="0" marL="0">
              <a:buNone/>
            </a:pPr>
            <a:r>
              <a:rPr lang="en-US" sz="1200" b="1" dirty="0">
                <a:solidFill>
                  <a:schemeClr val="tx2"/>
                </a:solidFill>
              </a:rPr>
              <a:t>NW Europe land surface air temperature</a:t>
            </a:r>
            <a:endParaRPr lang="en-US" sz="1200" dirty="0"/>
          </a:p>
        </p:txBody>
      </p:sp>
      <p:sp>
        <p:nvSpPr>
          <p:cNvPr id="49" name="Text 46"/>
          <p:cNvSpPr txBox="1"/>
          <p:nvPr/>
        </p:nvSpPr>
        <p:spPr>
          <a:xfrm>
            <a:off x="8339328" y="1764792"/>
            <a:ext cx="3246120" cy="274320"/>
          </a:xfrm>
          <a:prstGeom prst="rect">
            <a:avLst/>
          </a:prstGeom>
          <a:noFill/>
          <a:ln/>
        </p:spPr>
        <p:txBody>
          <a:bodyPr wrap="square" lIns="0" tIns="0" rIns="0" bIns="0" rtlCol="0" anchor="ctr"/>
          <a:lstStyle/>
          <a:p>
            <a:pPr algn="l" indent="0" marL="0">
              <a:buNone/>
            </a:pPr>
            <a:r>
              <a:rPr lang="en-US" sz="1100" dirty="0">
                <a:solidFill>
                  <a:schemeClr val="accent6"/>
                </a:solidFill>
              </a:rPr>
              <a:t>January</a:t>
            </a:r>
            <a:endParaRPr lang="en-US" sz="1100" dirty="0"/>
          </a:p>
        </p:txBody>
      </p:sp>
      <p:sp>
        <p:nvSpPr>
          <p:cNvPr id="50" name="card"/>
          <p:cNvSpPr/>
          <p:nvPr/>
        </p:nvSpPr>
        <p:spPr>
          <a:xfrm>
            <a:off x="7726680" y="2157984"/>
            <a:ext cx="391363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51" name="predictor id"/>
          <p:cNvSpPr/>
          <p:nvPr/>
        </p:nvSpPr>
        <p:spPr>
          <a:xfrm>
            <a:off x="7836408" y="2304288"/>
            <a:ext cx="402336" cy="402336"/>
          </a:xfrm>
          <a:prstGeom prst="ellipse">
            <a:avLst/>
          </a:prstGeom>
          <a:solidFill>
            <a:schemeClr val="accent1"/>
          </a:solidFill>
          <a:ln/>
        </p:spPr>
      </p:sp>
      <p:sp>
        <p:nvSpPr>
          <p:cNvPr id="52" name="Text 49"/>
          <p:cNvSpPr txBox="1"/>
          <p:nvPr/>
        </p:nvSpPr>
        <p:spPr>
          <a:xfrm>
            <a:off x="7836408" y="230428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53" name="Text 50"/>
          <p:cNvSpPr txBox="1"/>
          <p:nvPr/>
        </p:nvSpPr>
        <p:spPr>
          <a:xfrm>
            <a:off x="8339328" y="2185416"/>
            <a:ext cx="3246120" cy="411480"/>
          </a:xfrm>
          <a:prstGeom prst="rect">
            <a:avLst/>
          </a:prstGeom>
          <a:noFill/>
          <a:ln/>
        </p:spPr>
        <p:txBody>
          <a:bodyPr wrap="square" lIns="0" tIns="0" rIns="0" bIns="0" rtlCol="0" anchor="ctr"/>
          <a:lstStyle/>
          <a:p>
            <a:pPr algn="l" indent="0" marL="0">
              <a:buNone/>
            </a:pPr>
            <a:r>
              <a:rPr lang="en-US" sz="1200" b="1" dirty="0">
                <a:solidFill>
                  <a:schemeClr val="tx2"/>
                </a:solidFill>
              </a:rPr>
              <a:t>Equatorial Pacific warm water volume</a:t>
            </a:r>
            <a:endParaRPr lang="en-US" sz="1200" dirty="0"/>
          </a:p>
        </p:txBody>
      </p:sp>
      <p:sp>
        <p:nvSpPr>
          <p:cNvPr id="54" name="Text 51"/>
          <p:cNvSpPr txBox="1"/>
          <p:nvPr/>
        </p:nvSpPr>
        <p:spPr>
          <a:xfrm>
            <a:off x="8339328" y="2551176"/>
            <a:ext cx="3246120" cy="274320"/>
          </a:xfrm>
          <a:prstGeom prst="rect">
            <a:avLst/>
          </a:prstGeom>
          <a:noFill/>
          <a:ln/>
        </p:spPr>
        <p:txBody>
          <a:bodyPr wrap="square" lIns="0" tIns="0" rIns="0" bIns="0" rtlCol="0" anchor="ctr"/>
          <a:lstStyle/>
          <a:p>
            <a:pPr algn="l" indent="0" marL="0">
              <a:buNone/>
            </a:pPr>
            <a:r>
              <a:rPr lang="en-US" sz="1100" dirty="0">
                <a:solidFill>
                  <a:schemeClr val="accent6"/>
                </a:solidFill>
              </a:rPr>
              <a:t>Feb + Mar</a:t>
            </a:r>
            <a:endParaRPr lang="en-US" sz="1100" dirty="0"/>
          </a:p>
        </p:txBody>
      </p:sp>
      <p:sp>
        <p:nvSpPr>
          <p:cNvPr id="55" name="card"/>
          <p:cNvSpPr/>
          <p:nvPr/>
        </p:nvSpPr>
        <p:spPr>
          <a:xfrm>
            <a:off x="7726680" y="2944368"/>
            <a:ext cx="391363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56" name="predictor id"/>
          <p:cNvSpPr/>
          <p:nvPr/>
        </p:nvSpPr>
        <p:spPr>
          <a:xfrm>
            <a:off x="7836408" y="3090672"/>
            <a:ext cx="402336" cy="402336"/>
          </a:xfrm>
          <a:prstGeom prst="ellipse">
            <a:avLst/>
          </a:prstGeom>
          <a:solidFill>
            <a:schemeClr val="accent5"/>
          </a:solidFill>
          <a:ln/>
        </p:spPr>
      </p:sp>
      <p:sp>
        <p:nvSpPr>
          <p:cNvPr id="57" name="Text 54"/>
          <p:cNvSpPr txBox="1"/>
          <p:nvPr/>
        </p:nvSpPr>
        <p:spPr>
          <a:xfrm>
            <a:off x="7836408" y="309067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58" name="Text 55"/>
          <p:cNvSpPr txBox="1"/>
          <p:nvPr/>
        </p:nvSpPr>
        <p:spPr>
          <a:xfrm>
            <a:off x="8339328" y="2971800"/>
            <a:ext cx="3246120" cy="411480"/>
          </a:xfrm>
          <a:prstGeom prst="rect">
            <a:avLst/>
          </a:prstGeom>
          <a:noFill/>
          <a:ln/>
        </p:spPr>
        <p:txBody>
          <a:bodyPr wrap="square" lIns="0" tIns="0" rIns="0" bIns="0" rtlCol="0" anchor="ctr"/>
          <a:lstStyle/>
          <a:p>
            <a:pPr algn="l" indent="0" marL="0">
              <a:buNone/>
            </a:pPr>
            <a:r>
              <a:rPr lang="en-US" sz="1200" b="1" dirty="0">
                <a:solidFill>
                  <a:schemeClr val="tx2"/>
                </a:solidFill>
              </a:rPr>
              <a:t>SST gradient NE Pacific – NW Atlantic</a:t>
            </a:r>
            <a:endParaRPr lang="en-US" sz="1200" dirty="0"/>
          </a:p>
        </p:txBody>
      </p:sp>
      <p:sp>
        <p:nvSpPr>
          <p:cNvPr id="59" name="Text 56"/>
          <p:cNvSpPr txBox="1"/>
          <p:nvPr/>
        </p:nvSpPr>
        <p:spPr>
          <a:xfrm>
            <a:off x="8339328" y="3337560"/>
            <a:ext cx="3246120" cy="274320"/>
          </a:xfrm>
          <a:prstGeom prst="rect">
            <a:avLst/>
          </a:prstGeom>
          <a:noFill/>
          <a:ln/>
        </p:spPr>
        <p:txBody>
          <a:bodyPr wrap="square" lIns="0" tIns="0" rIns="0" bIns="0" rtlCol="0" anchor="ctr"/>
          <a:lstStyle/>
          <a:p>
            <a:pPr algn="l" indent="0" marL="0">
              <a:buNone/>
            </a:pPr>
            <a:r>
              <a:rPr lang="en-US" sz="1100" dirty="0">
                <a:solidFill>
                  <a:schemeClr val="accent6"/>
                </a:solidFill>
              </a:rPr>
              <a:t>Dec + Jan</a:t>
            </a:r>
            <a:endParaRPr lang="en-US" sz="1100" dirty="0"/>
          </a:p>
        </p:txBody>
      </p:sp>
      <p:sp>
        <p:nvSpPr>
          <p:cNvPr id="60" name="card"/>
          <p:cNvSpPr/>
          <p:nvPr/>
        </p:nvSpPr>
        <p:spPr>
          <a:xfrm>
            <a:off x="7726680" y="3730752"/>
            <a:ext cx="391363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61" name="predictor id"/>
          <p:cNvSpPr/>
          <p:nvPr/>
        </p:nvSpPr>
        <p:spPr>
          <a:xfrm>
            <a:off x="7836408" y="3877056"/>
            <a:ext cx="402336" cy="402336"/>
          </a:xfrm>
          <a:prstGeom prst="ellipse">
            <a:avLst/>
          </a:prstGeom>
          <a:solidFill>
            <a:schemeClr val="accent4"/>
          </a:solidFill>
          <a:ln/>
        </p:spPr>
      </p:sp>
      <p:sp>
        <p:nvSpPr>
          <p:cNvPr id="62" name="Text 59"/>
          <p:cNvSpPr txBox="1"/>
          <p:nvPr/>
        </p:nvSpPr>
        <p:spPr>
          <a:xfrm>
            <a:off x="7836408" y="387705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63" name="Text 60"/>
          <p:cNvSpPr txBox="1"/>
          <p:nvPr/>
        </p:nvSpPr>
        <p:spPr>
          <a:xfrm>
            <a:off x="8339328" y="3758184"/>
            <a:ext cx="3246120" cy="411480"/>
          </a:xfrm>
          <a:prstGeom prst="rect">
            <a:avLst/>
          </a:prstGeom>
          <a:noFill/>
          <a:ln/>
        </p:spPr>
        <p:txBody>
          <a:bodyPr wrap="square" lIns="0" tIns="0" rIns="0" bIns="0" rtlCol="0" anchor="ctr"/>
          <a:lstStyle/>
          <a:p>
            <a:pPr algn="l" indent="0" marL="0">
              <a:buNone/>
            </a:pPr>
            <a:r>
              <a:rPr lang="en-US" sz="1200" b="1" dirty="0">
                <a:solidFill>
                  <a:schemeClr val="tx2"/>
                </a:solidFill>
              </a:rPr>
              <a:t>Equatorial SE Indian Ocean SST</a:t>
            </a:r>
            <a:endParaRPr lang="en-US" sz="1200" dirty="0"/>
          </a:p>
        </p:txBody>
      </p:sp>
      <p:sp>
        <p:nvSpPr>
          <p:cNvPr id="64" name="Text 61"/>
          <p:cNvSpPr txBox="1"/>
          <p:nvPr/>
        </p:nvSpPr>
        <p:spPr>
          <a:xfrm>
            <a:off x="8339328" y="4123944"/>
            <a:ext cx="3246120" cy="274320"/>
          </a:xfrm>
          <a:prstGeom prst="rect">
            <a:avLst/>
          </a:prstGeom>
          <a:noFill/>
          <a:ln/>
        </p:spPr>
        <p:txBody>
          <a:bodyPr wrap="square" lIns="0" tIns="0" rIns="0" bIns="0" rtlCol="0" anchor="ctr"/>
          <a:lstStyle/>
          <a:p>
            <a:pPr algn="l" indent="0" marL="0">
              <a:buNone/>
            </a:pPr>
            <a:r>
              <a:rPr lang="en-US" sz="1100" dirty="0">
                <a:solidFill>
                  <a:schemeClr val="accent6"/>
                </a:solidFill>
              </a:rPr>
              <a:t>February</a:t>
            </a:r>
            <a:endParaRPr lang="en-US" sz="1100" dirty="0"/>
          </a:p>
        </p:txBody>
      </p:sp>
      <p:sp>
        <p:nvSpPr>
          <p:cNvPr id="65" name="card"/>
          <p:cNvSpPr/>
          <p:nvPr/>
        </p:nvSpPr>
        <p:spPr>
          <a:xfrm>
            <a:off x="7726680" y="4517136"/>
            <a:ext cx="391363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66" name="predictor id"/>
          <p:cNvSpPr/>
          <p:nvPr/>
        </p:nvSpPr>
        <p:spPr>
          <a:xfrm>
            <a:off x="7836408" y="4663440"/>
            <a:ext cx="402336" cy="402336"/>
          </a:xfrm>
          <a:prstGeom prst="ellipse">
            <a:avLst/>
          </a:prstGeom>
          <a:solidFill>
            <a:schemeClr val="accent6"/>
          </a:solidFill>
          <a:ln/>
        </p:spPr>
      </p:sp>
      <p:sp>
        <p:nvSpPr>
          <p:cNvPr id="67" name="Text 64"/>
          <p:cNvSpPr txBox="1"/>
          <p:nvPr/>
        </p:nvSpPr>
        <p:spPr>
          <a:xfrm>
            <a:off x="7836408" y="466344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68" name="Text 65"/>
          <p:cNvSpPr txBox="1"/>
          <p:nvPr/>
        </p:nvSpPr>
        <p:spPr>
          <a:xfrm>
            <a:off x="8339328" y="4544568"/>
            <a:ext cx="3246120" cy="411480"/>
          </a:xfrm>
          <a:prstGeom prst="rect">
            <a:avLst/>
          </a:prstGeom>
          <a:noFill/>
          <a:ln/>
        </p:spPr>
        <p:txBody>
          <a:bodyPr wrap="square" lIns="0" tIns="0" rIns="0" bIns="0" rtlCol="0" anchor="ctr"/>
          <a:lstStyle/>
          <a:p>
            <a:pPr algn="l" indent="0" marL="0">
              <a:buNone/>
            </a:pPr>
            <a:r>
              <a:rPr lang="en-US" sz="1200" b="1" dirty="0">
                <a:solidFill>
                  <a:schemeClr val="tx2"/>
                </a:solidFill>
              </a:rPr>
              <a:t>East Asia mean sea level pressure</a:t>
            </a:r>
            <a:endParaRPr lang="en-US" sz="1200" dirty="0"/>
          </a:p>
        </p:txBody>
      </p:sp>
      <p:sp>
        <p:nvSpPr>
          <p:cNvPr id="69" name="Text 66"/>
          <p:cNvSpPr txBox="1"/>
          <p:nvPr/>
        </p:nvSpPr>
        <p:spPr>
          <a:xfrm>
            <a:off x="8339328" y="4910328"/>
            <a:ext cx="3246120" cy="274320"/>
          </a:xfrm>
          <a:prstGeom prst="rect">
            <a:avLst/>
          </a:prstGeom>
          <a:noFill/>
          <a:ln/>
        </p:spPr>
        <p:txBody>
          <a:bodyPr wrap="square" lIns="0" tIns="0" rIns="0" bIns="0" rtlCol="0" anchor="ctr"/>
          <a:lstStyle/>
          <a:p>
            <a:pPr algn="l" indent="0" marL="0">
              <a:buNone/>
            </a:pPr>
            <a:r>
              <a:rPr lang="en-US" sz="1100" dirty="0">
                <a:solidFill>
                  <a:schemeClr val="accent6"/>
                </a:solidFill>
              </a:rPr>
              <a:t>Feb + Mar</a:t>
            </a:r>
            <a:endParaRPr lang="en-US" sz="1100" dirty="0"/>
          </a:p>
        </p:txBody>
      </p:sp>
      <p:sp>
        <p:nvSpPr>
          <p:cNvPr id="70" name="card"/>
          <p:cNvSpPr/>
          <p:nvPr/>
        </p:nvSpPr>
        <p:spPr>
          <a:xfrm>
            <a:off x="7726680" y="5303520"/>
            <a:ext cx="391363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71" name="predictor id"/>
          <p:cNvSpPr/>
          <p:nvPr/>
        </p:nvSpPr>
        <p:spPr>
          <a:xfrm>
            <a:off x="7836408" y="5449824"/>
            <a:ext cx="402336" cy="402336"/>
          </a:xfrm>
          <a:prstGeom prst="ellipse">
            <a:avLst/>
          </a:prstGeom>
          <a:solidFill>
            <a:schemeClr val="accent2"/>
          </a:solidFill>
          <a:ln/>
        </p:spPr>
      </p:sp>
      <p:sp>
        <p:nvSpPr>
          <p:cNvPr id="72" name="Text 69"/>
          <p:cNvSpPr txBox="1"/>
          <p:nvPr/>
        </p:nvSpPr>
        <p:spPr>
          <a:xfrm>
            <a:off x="7836408" y="544982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J</a:t>
            </a:r>
            <a:endParaRPr lang="en-US" sz="1300" dirty="0"/>
          </a:p>
        </p:txBody>
      </p:sp>
      <p:sp>
        <p:nvSpPr>
          <p:cNvPr id="73" name="Text 70"/>
          <p:cNvSpPr txBox="1"/>
          <p:nvPr/>
        </p:nvSpPr>
        <p:spPr>
          <a:xfrm>
            <a:off x="8339328" y="5330952"/>
            <a:ext cx="3246120" cy="411480"/>
          </a:xfrm>
          <a:prstGeom prst="rect">
            <a:avLst/>
          </a:prstGeom>
          <a:noFill/>
          <a:ln/>
        </p:spPr>
        <p:txBody>
          <a:bodyPr wrap="square" lIns="0" tIns="0" rIns="0" bIns="0" rtlCol="0" anchor="ctr"/>
          <a:lstStyle/>
          <a:p>
            <a:pPr algn="l" indent="0" marL="0">
              <a:buNone/>
            </a:pPr>
            <a:r>
              <a:rPr lang="en-US" sz="1200" b="1" dirty="0">
                <a:solidFill>
                  <a:schemeClr val="tx2"/>
                </a:solidFill>
              </a:rPr>
              <a:t>Niño 3.4 SST &amp; tendency (June stage, 6 predictors)</a:t>
            </a:r>
            <a:endParaRPr lang="en-US" sz="1200" dirty="0"/>
          </a:p>
        </p:txBody>
      </p:sp>
      <p:sp>
        <p:nvSpPr>
          <p:cNvPr id="74" name="Text 71"/>
          <p:cNvSpPr txBox="1"/>
          <p:nvPr/>
        </p:nvSpPr>
        <p:spPr>
          <a:xfrm>
            <a:off x="8339328" y="5696712"/>
            <a:ext cx="3246120" cy="274320"/>
          </a:xfrm>
          <a:prstGeom prst="rect">
            <a:avLst/>
          </a:prstGeom>
          <a:noFill/>
          <a:ln/>
        </p:spPr>
        <p:txBody>
          <a:bodyPr wrap="square" lIns="0" tIns="0" rIns="0" bIns="0" rtlCol="0" anchor="ctr"/>
          <a:lstStyle/>
          <a:p>
            <a:pPr algn="l" indent="0" marL="0">
              <a:buNone/>
            </a:pPr>
            <a:r>
              <a:rPr lang="en-US" sz="1100" dirty="0">
                <a:solidFill>
                  <a:schemeClr val="accent6"/>
                </a:solidFill>
              </a:rPr>
              <a:t>Mar–May</a:t>
            </a:r>
            <a:endParaRPr lang="en-US" sz="1100" dirty="0"/>
          </a:p>
        </p:txBody>
      </p:sp>
      <p:sp>
        <p:nvSpPr>
          <p:cNvPr id="75" name="Text 72"/>
          <p:cNvSpPr txBox="1"/>
          <p:nvPr/>
        </p:nvSpPr>
        <p:spPr>
          <a:xfrm>
            <a:off x="7726680" y="6126480"/>
            <a:ext cx="3913632"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April-stage set as published for 2021; predictors are revised from time to time.</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dynamical model: MMCFS (Monsoon Mission CFS)</a:t>
            </a:r>
            <a:endParaRPr lang="en-US" sz="3200" dirty="0"/>
          </a:p>
        </p:txBody>
      </p:sp>
      <p:sp>
        <p:nvSpPr>
          <p:cNvPr id="4" name="diagram box"/>
          <p:cNvSpPr/>
          <p:nvPr/>
        </p:nvSpPr>
        <p:spPr>
          <a:xfrm>
            <a:off x="3657600" y="2880360"/>
            <a:ext cx="2286000" cy="1005840"/>
          </a:xfrm>
          <a:prstGeom prst="roundRect">
            <a:avLst>
              <a:gd name="adj" fmla="val 7273"/>
            </a:avLst>
          </a:prstGeom>
          <a:solidFill>
            <a:schemeClr val="tx2"/>
          </a:solidFill>
          <a:ln/>
        </p:spPr>
      </p:sp>
      <p:sp>
        <p:nvSpPr>
          <p:cNvPr id="5" name="Text 2"/>
          <p:cNvSpPr txBox="1"/>
          <p:nvPr/>
        </p:nvSpPr>
        <p:spPr>
          <a:xfrm>
            <a:off x="3657600" y="2880360"/>
            <a:ext cx="2286000" cy="1005840"/>
          </a:xfrm>
          <a:prstGeom prst="rect">
            <a:avLst/>
          </a:prstGeom>
          <a:noFill/>
          <a:ln/>
        </p:spPr>
        <p:txBody>
          <a:bodyPr wrap="square" lIns="508" tIns="508" rIns="508" bIns="508" rtlCol="0" anchor="ctr"/>
          <a:lstStyle/>
          <a:p>
            <a:pPr algn="ctr" indent="0" marL="0">
              <a:buNone/>
            </a:pPr>
            <a:r>
              <a:rPr lang="en-US" sz="1300" dirty="0">
                <a:solidFill>
                  <a:schemeClr val="bg1"/>
                </a:solidFill>
              </a:rPr>
              <a:t>Coupler</a:t>
            </a:r>
            <a:endParaRPr lang="en-US" sz="1300" dirty="0"/>
          </a:p>
          <a:p>
            <a:pPr algn="ctr" indent="0" marL="0">
              <a:buNone/>
            </a:pPr>
            <a:r>
              <a:rPr lang="en-US" sz="1300" dirty="0">
                <a:solidFill>
                  <a:schemeClr val="bg1"/>
                </a:solidFill>
              </a:rPr>
              <a:t>fluxes of heat, water, momentum</a:t>
            </a:r>
            <a:endParaRPr lang="en-US" sz="1300" dirty="0"/>
          </a:p>
        </p:txBody>
      </p:sp>
      <p:sp>
        <p:nvSpPr>
          <p:cNvPr id="6" name="diagram box"/>
          <p:cNvSpPr/>
          <p:nvPr/>
        </p:nvSpPr>
        <p:spPr>
          <a:xfrm>
            <a:off x="548640" y="1371600"/>
            <a:ext cx="2743200" cy="960120"/>
          </a:xfrm>
          <a:prstGeom prst="roundRect">
            <a:avLst>
              <a:gd name="adj" fmla="val 7619"/>
            </a:avLst>
          </a:prstGeom>
          <a:solidFill>
            <a:schemeClr val="accent5"/>
          </a:solidFill>
          <a:ln/>
        </p:spPr>
      </p:sp>
      <p:sp>
        <p:nvSpPr>
          <p:cNvPr id="7" name="Text 4"/>
          <p:cNvSpPr txBox="1"/>
          <p:nvPr/>
        </p:nvSpPr>
        <p:spPr>
          <a:xfrm>
            <a:off x="548640" y="1371600"/>
            <a:ext cx="2743200" cy="960120"/>
          </a:xfrm>
          <a:prstGeom prst="rect">
            <a:avLst/>
          </a:prstGeom>
          <a:noFill/>
          <a:ln/>
        </p:spPr>
        <p:txBody>
          <a:bodyPr wrap="square" lIns="508" tIns="508" rIns="508" bIns="508" rtlCol="0" anchor="ctr"/>
          <a:lstStyle/>
          <a:p>
            <a:pPr algn="ctr" indent="0" marL="0">
              <a:buNone/>
            </a:pPr>
            <a:r>
              <a:rPr lang="en-US" sz="1300" b="1" dirty="0">
                <a:solidFill>
                  <a:schemeClr val="bg1"/>
                </a:solidFill>
              </a:rPr>
              <a:t>Atmosphere · GFS</a:t>
            </a:r>
            <a:endParaRPr lang="en-US" sz="1300" dirty="0"/>
          </a:p>
          <a:p>
            <a:pPr algn="ctr" indent="0" marL="0">
              <a:buNone/>
            </a:pPr>
            <a:r>
              <a:rPr lang="en-US" sz="1300" dirty="0">
                <a:solidFill>
                  <a:schemeClr val="bg1"/>
                </a:solidFill>
              </a:rPr>
              <a:t>high-resolution version (≈ 38 km, T382)</a:t>
            </a:r>
            <a:endParaRPr lang="en-US" sz="1300" dirty="0"/>
          </a:p>
        </p:txBody>
      </p:sp>
      <p:sp>
        <p:nvSpPr>
          <p:cNvPr id="8" name="diagram box"/>
          <p:cNvSpPr/>
          <p:nvPr/>
        </p:nvSpPr>
        <p:spPr>
          <a:xfrm>
            <a:off x="5852160" y="1371600"/>
            <a:ext cx="2743200" cy="960120"/>
          </a:xfrm>
          <a:prstGeom prst="roundRect">
            <a:avLst>
              <a:gd name="adj" fmla="val 7619"/>
            </a:avLst>
          </a:prstGeom>
          <a:solidFill>
            <a:schemeClr val="accent1"/>
          </a:solidFill>
          <a:ln/>
        </p:spPr>
      </p:sp>
      <p:sp>
        <p:nvSpPr>
          <p:cNvPr id="9" name="Text 6"/>
          <p:cNvSpPr txBox="1"/>
          <p:nvPr/>
        </p:nvSpPr>
        <p:spPr>
          <a:xfrm>
            <a:off x="5852160" y="1371600"/>
            <a:ext cx="2743200" cy="960120"/>
          </a:xfrm>
          <a:prstGeom prst="rect">
            <a:avLst/>
          </a:prstGeom>
          <a:noFill/>
          <a:ln/>
        </p:spPr>
        <p:txBody>
          <a:bodyPr wrap="square" lIns="508" tIns="508" rIns="508" bIns="508" rtlCol="0" anchor="ctr"/>
          <a:lstStyle/>
          <a:p>
            <a:pPr algn="ctr" indent="0" marL="0">
              <a:buNone/>
            </a:pPr>
            <a:r>
              <a:rPr lang="en-US" sz="1300" b="1" dirty="0">
                <a:solidFill>
                  <a:schemeClr val="bg1"/>
                </a:solidFill>
              </a:rPr>
              <a:t>Ocean · MOM4</a:t>
            </a:r>
            <a:endParaRPr lang="en-US" sz="1300" dirty="0"/>
          </a:p>
          <a:p>
            <a:pPr algn="ctr" indent="0" marL="0">
              <a:buNone/>
            </a:pPr>
            <a:r>
              <a:rPr lang="en-US" sz="1300" dirty="0">
                <a:solidFill>
                  <a:schemeClr val="bg1"/>
                </a:solidFill>
              </a:rPr>
              <a:t>global ocean, ~0.25–0.5°, 40 levels</a:t>
            </a:r>
            <a:endParaRPr lang="en-US" sz="1300" dirty="0"/>
          </a:p>
        </p:txBody>
      </p:sp>
      <p:sp>
        <p:nvSpPr>
          <p:cNvPr id="10" name="diagram box"/>
          <p:cNvSpPr/>
          <p:nvPr/>
        </p:nvSpPr>
        <p:spPr>
          <a:xfrm>
            <a:off x="548640" y="4526280"/>
            <a:ext cx="2743200" cy="960120"/>
          </a:xfrm>
          <a:prstGeom prst="roundRect">
            <a:avLst>
              <a:gd name="adj" fmla="val 7619"/>
            </a:avLst>
          </a:prstGeom>
          <a:solidFill>
            <a:schemeClr val="accent3"/>
          </a:solidFill>
          <a:ln/>
        </p:spPr>
      </p:sp>
      <p:sp>
        <p:nvSpPr>
          <p:cNvPr id="11" name="Text 8"/>
          <p:cNvSpPr txBox="1"/>
          <p:nvPr/>
        </p:nvSpPr>
        <p:spPr>
          <a:xfrm>
            <a:off x="548640" y="4526280"/>
            <a:ext cx="2743200" cy="960120"/>
          </a:xfrm>
          <a:prstGeom prst="rect">
            <a:avLst/>
          </a:prstGeom>
          <a:noFill/>
          <a:ln/>
        </p:spPr>
        <p:txBody>
          <a:bodyPr wrap="square" lIns="508" tIns="508" rIns="508" bIns="508" rtlCol="0" anchor="ctr"/>
          <a:lstStyle/>
          <a:p>
            <a:pPr algn="ctr" indent="0" marL="0">
              <a:buNone/>
            </a:pPr>
            <a:r>
              <a:rPr lang="en-US" sz="1300" b="1" dirty="0">
                <a:solidFill>
                  <a:schemeClr val="tx1"/>
                </a:solidFill>
              </a:rPr>
              <a:t>Land · Noah</a:t>
            </a:r>
            <a:endParaRPr lang="en-US" sz="1300" dirty="0"/>
          </a:p>
          <a:p>
            <a:pPr algn="ctr" indent="0" marL="0">
              <a:buNone/>
            </a:pPr>
            <a:r>
              <a:rPr lang="en-US" sz="1300" dirty="0">
                <a:solidFill>
                  <a:schemeClr val="tx1"/>
                </a:solidFill>
              </a:rPr>
              <a:t>soil moisture, snow, vegetation</a:t>
            </a:r>
            <a:endParaRPr lang="en-US" sz="1300" dirty="0"/>
          </a:p>
        </p:txBody>
      </p:sp>
      <p:sp>
        <p:nvSpPr>
          <p:cNvPr id="12" name="diagram box"/>
          <p:cNvSpPr/>
          <p:nvPr/>
        </p:nvSpPr>
        <p:spPr>
          <a:xfrm>
            <a:off x="5852160" y="4526280"/>
            <a:ext cx="2743200" cy="960120"/>
          </a:xfrm>
          <a:prstGeom prst="roundRect">
            <a:avLst>
              <a:gd name="adj" fmla="val 7619"/>
            </a:avLst>
          </a:prstGeom>
          <a:solidFill>
            <a:schemeClr val="accent6"/>
          </a:solidFill>
          <a:ln/>
        </p:spPr>
      </p:sp>
      <p:sp>
        <p:nvSpPr>
          <p:cNvPr id="13" name="Text 10"/>
          <p:cNvSpPr txBox="1"/>
          <p:nvPr/>
        </p:nvSpPr>
        <p:spPr>
          <a:xfrm>
            <a:off x="5852160" y="4526280"/>
            <a:ext cx="2743200" cy="960120"/>
          </a:xfrm>
          <a:prstGeom prst="rect">
            <a:avLst/>
          </a:prstGeom>
          <a:noFill/>
          <a:ln/>
        </p:spPr>
        <p:txBody>
          <a:bodyPr wrap="square" lIns="508" tIns="508" rIns="508" bIns="508" rtlCol="0" anchor="ctr"/>
          <a:lstStyle/>
          <a:p>
            <a:pPr algn="ctr" indent="0" marL="0">
              <a:buNone/>
            </a:pPr>
            <a:r>
              <a:rPr lang="en-US" sz="1300" b="1" dirty="0">
                <a:solidFill>
                  <a:schemeClr val="bg1"/>
                </a:solidFill>
              </a:rPr>
              <a:t>Sea ice</a:t>
            </a:r>
            <a:endParaRPr lang="en-US" sz="1300" dirty="0"/>
          </a:p>
          <a:p>
            <a:pPr algn="ctr" indent="0" marL="0">
              <a:buNone/>
            </a:pPr>
            <a:r>
              <a:rPr lang="en-US" sz="1300" dirty="0">
                <a:solidFill>
                  <a:schemeClr val="bg1"/>
                </a:solidFill>
              </a:rPr>
              <a:t>thermodynamic + dynamic ice</a:t>
            </a:r>
            <a:endParaRPr lang="en-US" sz="1300" dirty="0"/>
          </a:p>
        </p:txBody>
      </p:sp>
      <p:sp>
        <p:nvSpPr>
          <p:cNvPr id="14" name="arrow"/>
          <p:cNvSpPr/>
          <p:nvPr/>
        </p:nvSpPr>
        <p:spPr>
          <a:xfrm>
            <a:off x="1920240" y="2350008"/>
            <a:ext cx="2011680" cy="512064"/>
          </a:xfrm>
          <a:prstGeom prst="line">
            <a:avLst/>
          </a:prstGeom>
          <a:noFill/>
          <a:ln w="25400">
            <a:solidFill>
              <a:srgbClr val="0E3B43"/>
            </a:solidFill>
            <a:prstDash val="solid"/>
            <a:headEnd type="triangle"/>
            <a:tailEnd type="triangle"/>
          </a:ln>
        </p:spPr>
      </p:sp>
      <p:sp>
        <p:nvSpPr>
          <p:cNvPr id="15" name="arrow"/>
          <p:cNvSpPr/>
          <p:nvPr/>
        </p:nvSpPr>
        <p:spPr>
          <a:xfrm flipH="1">
            <a:off x="5669280" y="2350008"/>
            <a:ext cx="1554480" cy="512064"/>
          </a:xfrm>
          <a:prstGeom prst="line">
            <a:avLst/>
          </a:prstGeom>
          <a:noFill/>
          <a:ln w="25400">
            <a:solidFill>
              <a:srgbClr val="0E3B43"/>
            </a:solidFill>
            <a:prstDash val="solid"/>
            <a:headEnd type="triangle"/>
            <a:tailEnd type="triangle"/>
          </a:ln>
        </p:spPr>
      </p:sp>
      <p:sp>
        <p:nvSpPr>
          <p:cNvPr id="16" name="arrow"/>
          <p:cNvSpPr/>
          <p:nvPr/>
        </p:nvSpPr>
        <p:spPr>
          <a:xfrm flipV="1">
            <a:off x="1920240" y="3904488"/>
            <a:ext cx="2011680" cy="603504"/>
          </a:xfrm>
          <a:prstGeom prst="line">
            <a:avLst/>
          </a:prstGeom>
          <a:noFill/>
          <a:ln w="25400">
            <a:solidFill>
              <a:srgbClr val="0E3B43"/>
            </a:solidFill>
            <a:prstDash val="solid"/>
            <a:headEnd type="triangle"/>
            <a:tailEnd type="triangle"/>
          </a:ln>
        </p:spPr>
      </p:sp>
      <p:sp>
        <p:nvSpPr>
          <p:cNvPr id="17" name="arrow"/>
          <p:cNvSpPr/>
          <p:nvPr/>
        </p:nvSpPr>
        <p:spPr>
          <a:xfrm flipH="1" flipV="1">
            <a:off x="5669280" y="3904488"/>
            <a:ext cx="1554480" cy="603504"/>
          </a:xfrm>
          <a:prstGeom prst="line">
            <a:avLst/>
          </a:prstGeom>
          <a:noFill/>
          <a:ln w="25400">
            <a:solidFill>
              <a:srgbClr val="0E3B43"/>
            </a:solidFill>
            <a:prstDash val="solid"/>
            <a:headEnd type="triangle"/>
            <a:tailEnd type="triangle"/>
          </a:ln>
        </p:spPr>
      </p:sp>
      <p:sp>
        <p:nvSpPr>
          <p:cNvPr id="18" name="Text 15"/>
          <p:cNvSpPr txBox="1"/>
          <p:nvPr/>
        </p:nvSpPr>
        <p:spPr>
          <a:xfrm>
            <a:off x="548640" y="5623560"/>
            <a:ext cx="82296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Resolutions are approximate and refer to the configuration used for seasonal forecasts.</a:t>
            </a:r>
            <a:endParaRPr lang="en-US" sz="1100" dirty="0"/>
          </a:p>
        </p:txBody>
      </p:sp>
      <p:sp>
        <p:nvSpPr>
          <p:cNvPr id="19" name="card"/>
          <p:cNvSpPr/>
          <p:nvPr/>
        </p:nvSpPr>
        <p:spPr>
          <a:xfrm>
            <a:off x="9144000" y="1371600"/>
            <a:ext cx="249631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9326880" y="1508760"/>
            <a:ext cx="2176272" cy="365760"/>
          </a:xfrm>
          <a:prstGeom prst="rect">
            <a:avLst/>
          </a:prstGeom>
          <a:noFill/>
          <a:ln/>
        </p:spPr>
        <p:txBody>
          <a:bodyPr wrap="square" lIns="0" tIns="0" rIns="0" bIns="0" rtlCol="0" anchor="ctr"/>
          <a:lstStyle/>
          <a:p>
            <a:pPr indent="0" marL="0">
              <a:buNone/>
            </a:pPr>
            <a:r>
              <a:rPr lang="en-US" sz="1400" b="1" dirty="0">
                <a:solidFill>
                  <a:schemeClr val="tx2"/>
                </a:solidFill>
              </a:rPr>
              <a:t>Initial conditions</a:t>
            </a:r>
            <a:endParaRPr lang="en-US" sz="1400" dirty="0"/>
          </a:p>
        </p:txBody>
      </p:sp>
      <p:sp>
        <p:nvSpPr>
          <p:cNvPr id="21" name="Text 18"/>
          <p:cNvSpPr txBox="1"/>
          <p:nvPr/>
        </p:nvSpPr>
        <p:spPr>
          <a:xfrm>
            <a:off x="9326880" y="1920240"/>
            <a:ext cx="2130552" cy="169164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Atmosphere &amp; land: NCMRWF analysis</a:t>
            </a:r>
            <a:endParaRPr lang="en-US" sz="1200" dirty="0"/>
          </a:p>
          <a:p>
            <a:pPr marL="177800" indent="-177800">
              <a:spcAft>
                <a:spcPts val="400"/>
              </a:spcAft>
              <a:buSzPct val="100000"/>
              <a:buChar char="•"/>
            </a:pPr>
            <a:r>
              <a:rPr lang="en-US" sz="1200" dirty="0">
                <a:solidFill>
                  <a:schemeClr val="tx1"/>
                </a:solidFill>
              </a:rPr>
              <a:t>Ocean: INCOIS (GODAS-based)</a:t>
            </a:r>
            <a:endParaRPr lang="en-US" sz="1200" dirty="0"/>
          </a:p>
        </p:txBody>
      </p:sp>
      <p:sp>
        <p:nvSpPr>
          <p:cNvPr id="22" name="card"/>
          <p:cNvSpPr/>
          <p:nvPr/>
        </p:nvSpPr>
        <p:spPr>
          <a:xfrm>
            <a:off x="9144000" y="3840480"/>
            <a:ext cx="249631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9326880" y="3977640"/>
            <a:ext cx="2176272" cy="365760"/>
          </a:xfrm>
          <a:prstGeom prst="rect">
            <a:avLst/>
          </a:prstGeom>
          <a:noFill/>
          <a:ln/>
        </p:spPr>
        <p:txBody>
          <a:bodyPr wrap="square" lIns="0" tIns="0" rIns="0" bIns="0" rtlCol="0" anchor="ctr"/>
          <a:lstStyle/>
          <a:p>
            <a:pPr indent="0" marL="0">
              <a:buNone/>
            </a:pPr>
            <a:r>
              <a:rPr lang="en-US" sz="1400" b="1" dirty="0">
                <a:solidFill>
                  <a:schemeClr val="tx2"/>
                </a:solidFill>
              </a:rPr>
              <a:t>Output</a:t>
            </a:r>
            <a:endParaRPr lang="en-US" sz="1400" dirty="0"/>
          </a:p>
        </p:txBody>
      </p:sp>
      <p:sp>
        <p:nvSpPr>
          <p:cNvPr id="24" name="Text 21"/>
          <p:cNvSpPr txBox="1"/>
          <p:nvPr/>
        </p:nvSpPr>
        <p:spPr>
          <a:xfrm>
            <a:off x="9326880" y="4389120"/>
            <a:ext cx="2130552" cy="169164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Ensemble mean &amp; spread</a:t>
            </a:r>
            <a:endParaRPr lang="en-US" sz="1200" dirty="0"/>
          </a:p>
          <a:p>
            <a:pPr marL="177800" indent="-177800">
              <a:spcAft>
                <a:spcPts val="400"/>
              </a:spcAft>
              <a:buSzPct val="100000"/>
              <a:buChar char="•"/>
            </a:pPr>
            <a:r>
              <a:rPr lang="en-US" sz="1200" dirty="0">
                <a:solidFill>
                  <a:schemeClr val="tx1"/>
                </a:solidFill>
              </a:rPr>
              <a:t>Bias-corrected with hindcasts</a:t>
            </a:r>
            <a:endParaRPr lang="en-US" sz="1200" dirty="0"/>
          </a:p>
          <a:p>
            <a:pPr marL="177800" indent="-177800">
              <a:spcAft>
                <a:spcPts val="400"/>
              </a:spcAft>
              <a:buSzPct val="100000"/>
              <a:buChar char="•"/>
            </a:pPr>
            <a:r>
              <a:rPr lang="en-US" sz="1200" dirty="0">
                <a:solidFill>
                  <a:schemeClr val="tx1"/>
                </a:solidFill>
              </a:rPr>
              <a:t>Feeds the MME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Monsoon Mission (2012 onwards)</a:t>
            </a:r>
            <a:endParaRPr lang="en-US" sz="3200" dirty="0"/>
          </a:p>
        </p:txBody>
      </p:sp>
      <p:sp>
        <p:nvSpPr>
          <p:cNvPr id="4" name="card"/>
          <p:cNvSpPr/>
          <p:nvPr/>
        </p:nvSpPr>
        <p:spPr>
          <a:xfrm>
            <a:off x="548640" y="1371600"/>
            <a:ext cx="3547872" cy="1645920"/>
          </a:xfrm>
          <a:prstGeom prst="roundRect">
            <a:avLst>
              <a:gd name="adj" fmla="val 4444"/>
            </a:avLst>
          </a:prstGeom>
          <a:solidFill>
            <a:schemeClr val="accent1"/>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463040"/>
            <a:ext cx="3547872" cy="822960"/>
          </a:xfrm>
          <a:prstGeom prst="rect">
            <a:avLst/>
          </a:prstGeom>
          <a:noFill/>
          <a:ln/>
        </p:spPr>
        <p:txBody>
          <a:bodyPr wrap="square" lIns="0" tIns="0" rIns="0" bIns="0" rtlCol="0" anchor="ctr"/>
          <a:lstStyle/>
          <a:p>
            <a:pPr algn="ctr" indent="0" marL="0">
              <a:buNone/>
            </a:pPr>
            <a:r>
              <a:rPr lang="en-US" sz="3200" b="1" dirty="0">
                <a:solidFill>
                  <a:schemeClr val="bg1"/>
                </a:solidFill>
              </a:rPr>
              <a:t>2012</a:t>
            </a:r>
            <a:endParaRPr lang="en-US" sz="3200" dirty="0"/>
          </a:p>
        </p:txBody>
      </p:sp>
      <p:sp>
        <p:nvSpPr>
          <p:cNvPr id="6" name="Text 3"/>
          <p:cNvSpPr txBox="1"/>
          <p:nvPr/>
        </p:nvSpPr>
        <p:spPr>
          <a:xfrm>
            <a:off x="731520" y="2286000"/>
            <a:ext cx="3182112" cy="640080"/>
          </a:xfrm>
          <a:prstGeom prst="rect">
            <a:avLst/>
          </a:prstGeom>
          <a:noFill/>
          <a:ln/>
        </p:spPr>
        <p:txBody>
          <a:bodyPr wrap="square" lIns="0" tIns="0" rIns="0" bIns="0" rtlCol="0" anchor="t"/>
          <a:lstStyle/>
          <a:p>
            <a:pPr algn="ctr" indent="0" marL="0">
              <a:buNone/>
            </a:pPr>
            <a:r>
              <a:rPr lang="en-US" sz="1300" dirty="0">
                <a:solidFill>
                  <a:schemeClr val="bg1"/>
                </a:solidFill>
              </a:rPr>
              <a:t>Mission launched by MoES</a:t>
            </a:r>
            <a:endParaRPr lang="en-US" sz="1300" dirty="0"/>
          </a:p>
        </p:txBody>
      </p:sp>
      <p:sp>
        <p:nvSpPr>
          <p:cNvPr id="7" name="card"/>
          <p:cNvSpPr/>
          <p:nvPr/>
        </p:nvSpPr>
        <p:spPr>
          <a:xfrm>
            <a:off x="4297680" y="1371600"/>
            <a:ext cx="3547872" cy="1645920"/>
          </a:xfrm>
          <a:prstGeom prst="roundRect">
            <a:avLst>
              <a:gd name="adj" fmla="val 4444"/>
            </a:avLst>
          </a:prstGeom>
          <a:solidFill>
            <a:schemeClr val="accent5"/>
          </a:solidFill>
          <a:ln/>
          <a:effectLst>
            <a:outerShdw sx="100000" sy="100000" kx="0" ky="0" algn="bl" rotWithShape="0" blurRad="76200" dist="25400" dir="5400000">
              <a:srgbClr val="000000">
                <a:alpha val="14000"/>
              </a:srgbClr>
            </a:outerShdw>
          </a:effectLst>
        </p:spPr>
      </p:sp>
      <p:sp>
        <p:nvSpPr>
          <p:cNvPr id="8" name="Text 5"/>
          <p:cNvSpPr txBox="1"/>
          <p:nvPr/>
        </p:nvSpPr>
        <p:spPr>
          <a:xfrm>
            <a:off x="4297680" y="1463040"/>
            <a:ext cx="3547872" cy="822960"/>
          </a:xfrm>
          <a:prstGeom prst="rect">
            <a:avLst/>
          </a:prstGeom>
          <a:noFill/>
          <a:ln/>
        </p:spPr>
        <p:txBody>
          <a:bodyPr wrap="square" lIns="0" tIns="0" rIns="0" bIns="0" rtlCol="0" anchor="ctr"/>
          <a:lstStyle/>
          <a:p>
            <a:pPr algn="ctr" indent="0" marL="0">
              <a:buNone/>
            </a:pPr>
            <a:r>
              <a:rPr lang="en-US" sz="3200" b="1" dirty="0">
                <a:solidFill>
                  <a:schemeClr val="bg1"/>
                </a:solidFill>
              </a:rPr>
              <a:t>CFSv2 / GFS</a:t>
            </a:r>
            <a:endParaRPr lang="en-US" sz="3200" dirty="0"/>
          </a:p>
        </p:txBody>
      </p:sp>
      <p:sp>
        <p:nvSpPr>
          <p:cNvPr id="9" name="Text 6"/>
          <p:cNvSpPr txBox="1"/>
          <p:nvPr/>
        </p:nvSpPr>
        <p:spPr>
          <a:xfrm>
            <a:off x="4480560" y="2286000"/>
            <a:ext cx="3182112" cy="640080"/>
          </a:xfrm>
          <a:prstGeom prst="rect">
            <a:avLst/>
          </a:prstGeom>
          <a:noFill/>
          <a:ln/>
        </p:spPr>
        <p:txBody>
          <a:bodyPr wrap="square" lIns="0" tIns="0" rIns="0" bIns="0" rtlCol="0" anchor="t"/>
          <a:lstStyle/>
          <a:p>
            <a:pPr algn="ctr" indent="0" marL="0">
              <a:buNone/>
            </a:pPr>
            <a:r>
              <a:rPr lang="en-US" sz="1300" dirty="0">
                <a:solidFill>
                  <a:schemeClr val="bg1"/>
                </a:solidFill>
              </a:rPr>
              <a:t>adopted from NCEP–NOAA as base models</a:t>
            </a:r>
            <a:endParaRPr lang="en-US" sz="1300" dirty="0"/>
          </a:p>
        </p:txBody>
      </p:sp>
      <p:sp>
        <p:nvSpPr>
          <p:cNvPr id="10" name="card"/>
          <p:cNvSpPr/>
          <p:nvPr/>
        </p:nvSpPr>
        <p:spPr>
          <a:xfrm>
            <a:off x="8046720" y="1371600"/>
            <a:ext cx="3547872" cy="1645920"/>
          </a:xfrm>
          <a:prstGeom prst="roundRect">
            <a:avLst>
              <a:gd name="adj" fmla="val 4444"/>
            </a:avLst>
          </a:prstGeom>
          <a:solidFill>
            <a:schemeClr val="accent2"/>
          </a:solidFill>
          <a:ln/>
          <a:effectLst>
            <a:outerShdw sx="100000" sy="100000" kx="0" ky="0" algn="bl" rotWithShape="0" blurRad="76200" dist="25400" dir="5400000">
              <a:srgbClr val="000000">
                <a:alpha val="14000"/>
              </a:srgbClr>
            </a:outerShdw>
          </a:effectLst>
        </p:spPr>
      </p:sp>
      <p:sp>
        <p:nvSpPr>
          <p:cNvPr id="11" name="Text 8"/>
          <p:cNvSpPr txBox="1"/>
          <p:nvPr/>
        </p:nvSpPr>
        <p:spPr>
          <a:xfrm>
            <a:off x="8046720" y="1463040"/>
            <a:ext cx="3547872" cy="822960"/>
          </a:xfrm>
          <a:prstGeom prst="rect">
            <a:avLst/>
          </a:prstGeom>
          <a:noFill/>
          <a:ln/>
        </p:spPr>
        <p:txBody>
          <a:bodyPr wrap="square" lIns="0" tIns="0" rIns="0" bIns="0" rtlCol="0" anchor="ctr"/>
          <a:lstStyle/>
          <a:p>
            <a:pPr algn="ctr" indent="0" marL="0">
              <a:buNone/>
            </a:pPr>
            <a:r>
              <a:rPr lang="en-US" sz="3200" b="1" dirty="0">
                <a:solidFill>
                  <a:schemeClr val="bg1"/>
                </a:solidFill>
              </a:rPr>
              <a:t>2017</a:t>
            </a:r>
            <a:endParaRPr lang="en-US" sz="3200" dirty="0"/>
          </a:p>
        </p:txBody>
      </p:sp>
      <p:sp>
        <p:nvSpPr>
          <p:cNvPr id="12" name="Text 9"/>
          <p:cNvSpPr txBox="1"/>
          <p:nvPr/>
        </p:nvSpPr>
        <p:spPr>
          <a:xfrm>
            <a:off x="8229600" y="2286000"/>
            <a:ext cx="3182112" cy="640080"/>
          </a:xfrm>
          <a:prstGeom prst="rect">
            <a:avLst/>
          </a:prstGeom>
          <a:noFill/>
          <a:ln/>
        </p:spPr>
        <p:txBody>
          <a:bodyPr wrap="square" lIns="0" tIns="0" rIns="0" bIns="0" rtlCol="0" anchor="t"/>
          <a:lstStyle/>
          <a:p>
            <a:pPr algn="ctr" indent="0" marL="0">
              <a:buNone/>
            </a:pPr>
            <a:r>
              <a:rPr lang="en-US" sz="1300" dirty="0">
                <a:solidFill>
                  <a:schemeClr val="bg1"/>
                </a:solidFill>
              </a:rPr>
              <a:t>MMCFS used for operational seasonal forecasts</a:t>
            </a:r>
            <a:endParaRPr lang="en-US" sz="1300" dirty="0"/>
          </a:p>
        </p:txBody>
      </p:sp>
      <p:sp>
        <p:nvSpPr>
          <p:cNvPr id="13" name="card"/>
          <p:cNvSpPr/>
          <p:nvPr/>
        </p:nvSpPr>
        <p:spPr>
          <a:xfrm>
            <a:off x="548640" y="3291840"/>
            <a:ext cx="265176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731520" y="3447288"/>
            <a:ext cx="420624" cy="420624"/>
          </a:xfrm>
          <a:prstGeom prst="ellipse">
            <a:avLst/>
          </a:prstGeom>
          <a:solidFill>
            <a:schemeClr val="accent2"/>
          </a:solidFill>
          <a:ln/>
        </p:spPr>
      </p:sp>
      <p:pic>
        <p:nvPicPr>
          <p:cNvPr id="15" name="Image 0" descr="CalendarAlt icon">    </p:cNvPr>
          <p:cNvPicPr>
            <a:picLocks noChangeAspect="1"/>
          </p:cNvPicPr>
          <p:nvPr/>
        </p:nvPicPr>
        <p:blipFill>
          <a:blip r:embed="rId1"/>
          <a:stretch>
            <a:fillRect/>
          </a:stretch>
        </p:blipFill>
        <p:spPr>
          <a:xfrm>
            <a:off x="840882" y="3556650"/>
            <a:ext cx="201900" cy="201900"/>
          </a:xfrm>
          <a:prstGeom prst="rect">
            <a:avLst/>
          </a:prstGeom>
        </p:spPr>
      </p:pic>
      <p:sp>
        <p:nvSpPr>
          <p:cNvPr id="16" name="Text 12"/>
          <p:cNvSpPr txBox="1"/>
          <p:nvPr/>
        </p:nvSpPr>
        <p:spPr>
          <a:xfrm>
            <a:off x="1261872" y="342900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Seasonal</a:t>
            </a:r>
            <a:endParaRPr lang="en-US" sz="1600" dirty="0"/>
          </a:p>
        </p:txBody>
      </p:sp>
      <p:sp>
        <p:nvSpPr>
          <p:cNvPr id="17" name="Text 13"/>
          <p:cNvSpPr txBox="1"/>
          <p:nvPr/>
        </p:nvSpPr>
        <p:spPr>
          <a:xfrm>
            <a:off x="731520" y="3977640"/>
            <a:ext cx="2286000"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MMCFS coupled model → LRF</a:t>
            </a:r>
            <a:endParaRPr lang="en-US" sz="1300" dirty="0"/>
          </a:p>
        </p:txBody>
      </p:sp>
      <p:sp>
        <p:nvSpPr>
          <p:cNvPr id="18" name="card"/>
          <p:cNvSpPr/>
          <p:nvPr/>
        </p:nvSpPr>
        <p:spPr>
          <a:xfrm>
            <a:off x="3364992" y="3291840"/>
            <a:ext cx="265176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3547872" y="3447288"/>
            <a:ext cx="420624" cy="420624"/>
          </a:xfrm>
          <a:prstGeom prst="ellipse">
            <a:avLst/>
          </a:prstGeom>
          <a:solidFill>
            <a:schemeClr val="accent4"/>
          </a:solidFill>
          <a:ln/>
        </p:spPr>
      </p:sp>
      <p:pic>
        <p:nvPicPr>
          <p:cNvPr id="20" name="Image 1" descr="SyncAlt icon">    </p:cNvPr>
          <p:cNvPicPr>
            <a:picLocks noChangeAspect="1"/>
          </p:cNvPicPr>
          <p:nvPr/>
        </p:nvPicPr>
        <p:blipFill>
          <a:blip r:embed="rId2"/>
          <a:stretch>
            <a:fillRect/>
          </a:stretch>
        </p:blipFill>
        <p:spPr>
          <a:xfrm>
            <a:off x="3657234" y="3556650"/>
            <a:ext cx="201900" cy="201900"/>
          </a:xfrm>
          <a:prstGeom prst="rect">
            <a:avLst/>
          </a:prstGeom>
        </p:spPr>
      </p:pic>
      <p:sp>
        <p:nvSpPr>
          <p:cNvPr id="21" name="Text 16"/>
          <p:cNvSpPr txBox="1"/>
          <p:nvPr/>
        </p:nvSpPr>
        <p:spPr>
          <a:xfrm>
            <a:off x="4078224" y="342900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Extended range</a:t>
            </a:r>
            <a:endParaRPr lang="en-US" sz="1600" dirty="0"/>
          </a:p>
        </p:txBody>
      </p:sp>
      <p:sp>
        <p:nvSpPr>
          <p:cNvPr id="22" name="Text 17"/>
          <p:cNvSpPr txBox="1"/>
          <p:nvPr/>
        </p:nvSpPr>
        <p:spPr>
          <a:xfrm>
            <a:off x="3547872" y="3977640"/>
            <a:ext cx="2286000"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CFSv2-based ensemble ERFS → 2–4 week outlooks</a:t>
            </a:r>
            <a:endParaRPr lang="en-US" sz="1300" dirty="0"/>
          </a:p>
        </p:txBody>
      </p:sp>
      <p:sp>
        <p:nvSpPr>
          <p:cNvPr id="23" name="card"/>
          <p:cNvSpPr/>
          <p:nvPr/>
        </p:nvSpPr>
        <p:spPr>
          <a:xfrm>
            <a:off x="6181344" y="3291840"/>
            <a:ext cx="265176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6364224" y="3447288"/>
            <a:ext cx="420624" cy="420624"/>
          </a:xfrm>
          <a:prstGeom prst="ellipse">
            <a:avLst/>
          </a:prstGeom>
          <a:solidFill>
            <a:schemeClr val="accent5"/>
          </a:solidFill>
          <a:ln/>
        </p:spPr>
      </p:sp>
      <p:pic>
        <p:nvPicPr>
          <p:cNvPr id="25" name="Image 2" descr="Clock icon">    </p:cNvPr>
          <p:cNvPicPr>
            <a:picLocks noChangeAspect="1"/>
          </p:cNvPicPr>
          <p:nvPr/>
        </p:nvPicPr>
        <p:blipFill>
          <a:blip r:embed="rId3"/>
          <a:stretch>
            <a:fillRect/>
          </a:stretch>
        </p:blipFill>
        <p:spPr>
          <a:xfrm>
            <a:off x="6473586" y="3556650"/>
            <a:ext cx="201900" cy="201900"/>
          </a:xfrm>
          <a:prstGeom prst="rect">
            <a:avLst/>
          </a:prstGeom>
        </p:spPr>
      </p:pic>
      <p:sp>
        <p:nvSpPr>
          <p:cNvPr id="26" name="Text 20"/>
          <p:cNvSpPr txBox="1"/>
          <p:nvPr/>
        </p:nvSpPr>
        <p:spPr>
          <a:xfrm>
            <a:off x="6894576" y="342900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Short / medium</a:t>
            </a:r>
            <a:endParaRPr lang="en-US" sz="1600" dirty="0"/>
          </a:p>
        </p:txBody>
      </p:sp>
      <p:sp>
        <p:nvSpPr>
          <p:cNvPr id="27" name="Text 21"/>
          <p:cNvSpPr txBox="1"/>
          <p:nvPr/>
        </p:nvSpPr>
        <p:spPr>
          <a:xfrm>
            <a:off x="6364224" y="3977640"/>
            <a:ext cx="2286000"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GFS T1534 (12 km), GEFS ensemble</a:t>
            </a:r>
            <a:endParaRPr lang="en-US" sz="1300" dirty="0"/>
          </a:p>
        </p:txBody>
      </p:sp>
      <p:sp>
        <p:nvSpPr>
          <p:cNvPr id="28" name="card"/>
          <p:cNvSpPr/>
          <p:nvPr/>
        </p:nvSpPr>
        <p:spPr>
          <a:xfrm>
            <a:off x="8997696" y="3291840"/>
            <a:ext cx="265176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9180576" y="3447288"/>
            <a:ext cx="420624" cy="420624"/>
          </a:xfrm>
          <a:prstGeom prst="ellipse">
            <a:avLst/>
          </a:prstGeom>
          <a:solidFill>
            <a:schemeClr val="accent1"/>
          </a:solidFill>
          <a:ln/>
        </p:spPr>
      </p:sp>
      <p:pic>
        <p:nvPicPr>
          <p:cNvPr id="30" name="Image 3" descr="Cogs icon">    </p:cNvPr>
          <p:cNvPicPr>
            <a:picLocks noChangeAspect="1"/>
          </p:cNvPicPr>
          <p:nvPr/>
        </p:nvPicPr>
        <p:blipFill>
          <a:blip r:embed="rId4"/>
          <a:stretch>
            <a:fillRect/>
          </a:stretch>
        </p:blipFill>
        <p:spPr>
          <a:xfrm>
            <a:off x="9289938" y="3556650"/>
            <a:ext cx="201900" cy="201900"/>
          </a:xfrm>
          <a:prstGeom prst="rect">
            <a:avLst/>
          </a:prstGeom>
        </p:spPr>
      </p:pic>
      <p:sp>
        <p:nvSpPr>
          <p:cNvPr id="31" name="Text 24"/>
          <p:cNvSpPr txBox="1"/>
          <p:nvPr/>
        </p:nvSpPr>
        <p:spPr>
          <a:xfrm>
            <a:off x="9710928" y="342900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Model physics</a:t>
            </a:r>
            <a:endParaRPr lang="en-US" sz="1600" dirty="0"/>
          </a:p>
        </p:txBody>
      </p:sp>
      <p:sp>
        <p:nvSpPr>
          <p:cNvPr id="32" name="Text 25"/>
          <p:cNvSpPr txBox="1"/>
          <p:nvPr/>
        </p:nvSpPr>
        <p:spPr>
          <a:xfrm>
            <a:off x="9180576" y="3977640"/>
            <a:ext cx="2286000"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Convection, clouds, land surface, ocean coupling</a:t>
            </a:r>
            <a:endParaRPr lang="en-US" sz="1300" dirty="0"/>
          </a:p>
        </p:txBody>
      </p:sp>
      <p:sp>
        <p:nvSpPr>
          <p:cNvPr id="33" name="insight"/>
          <p:cNvSpPr/>
          <p:nvPr/>
        </p:nvSpPr>
        <p:spPr>
          <a:xfrm>
            <a:off x="548640" y="5349240"/>
            <a:ext cx="11094415" cy="822960"/>
          </a:xfrm>
          <a:prstGeom prst="roundRect">
            <a:avLst>
              <a:gd name="adj" fmla="val 8889"/>
            </a:avLst>
          </a:prstGeom>
          <a:solidFill>
            <a:schemeClr val="bg2"/>
          </a:solidFill>
          <a:ln/>
        </p:spPr>
      </p:sp>
      <p:sp>
        <p:nvSpPr>
          <p:cNvPr id="34" name="icon circle"/>
          <p:cNvSpPr/>
          <p:nvPr/>
        </p:nvSpPr>
        <p:spPr>
          <a:xfrm>
            <a:off x="685800" y="5522976"/>
            <a:ext cx="475488" cy="475488"/>
          </a:xfrm>
          <a:prstGeom prst="ellipse">
            <a:avLst/>
          </a:prstGeom>
          <a:solidFill>
            <a:schemeClr val="accent3"/>
          </a:solidFill>
          <a:ln/>
        </p:spPr>
      </p:sp>
      <p:pic>
        <p:nvPicPr>
          <p:cNvPr id="35" name="Image 4" descr="Lightbulb icon">    </p:cNvPr>
          <p:cNvPicPr>
            <a:picLocks noChangeAspect="1"/>
          </p:cNvPicPr>
          <p:nvPr/>
        </p:nvPicPr>
        <p:blipFill>
          <a:blip r:embed="rId5"/>
          <a:stretch>
            <a:fillRect/>
          </a:stretch>
        </p:blipFill>
        <p:spPr>
          <a:xfrm>
            <a:off x="809427" y="5646603"/>
            <a:ext cx="228234" cy="228234"/>
          </a:xfrm>
          <a:prstGeom prst="rect">
            <a:avLst/>
          </a:prstGeom>
        </p:spPr>
      </p:pic>
      <p:sp>
        <p:nvSpPr>
          <p:cNvPr id="36" name="Text 28"/>
          <p:cNvSpPr txBox="1"/>
          <p:nvPr/>
        </p:nvSpPr>
        <p:spPr>
          <a:xfrm>
            <a:off x="1325880" y="5385816"/>
            <a:ext cx="10180015" cy="74980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Partners: </a:t>
            </a:r>
            <a:r>
              <a:rPr lang="en-US" sz="1400" b="1" dirty="0">
                <a:solidFill>
                  <a:schemeClr val="tx1"/>
                </a:solidFill>
              </a:rPr>
              <a:t>IITM Pune</a:t>
            </a:r>
            <a:r>
              <a:rPr lang="en-US" sz="1400" dirty="0">
                <a:solidFill>
                  <a:schemeClr val="tx1"/>
                </a:solidFill>
              </a:rPr>
              <a:t> (lead), </a:t>
            </a:r>
            <a:r>
              <a:rPr lang="en-US" sz="1400" b="1" dirty="0">
                <a:solidFill>
                  <a:schemeClr val="tx1"/>
                </a:solidFill>
              </a:rPr>
              <a:t>NCMRWF</a:t>
            </a:r>
            <a:r>
              <a:rPr lang="en-US" sz="1400" dirty="0">
                <a:solidFill>
                  <a:schemeClr val="tx1"/>
                </a:solidFill>
              </a:rPr>
              <a:t>, </a:t>
            </a:r>
            <a:r>
              <a:rPr lang="en-US" sz="1400" b="1" dirty="0">
                <a:solidFill>
                  <a:schemeClr val="tx1"/>
                </a:solidFill>
              </a:rPr>
              <a:t>INCOIS</a:t>
            </a:r>
            <a:r>
              <a:rPr lang="en-US" sz="1400" dirty="0">
                <a:solidFill>
                  <a:schemeClr val="tx1"/>
                </a:solidFill>
              </a:rPr>
              <a:t>, </a:t>
            </a:r>
            <a:r>
              <a:rPr lang="en-US" sz="1400" b="1" dirty="0">
                <a:solidFill>
                  <a:schemeClr val="tx1"/>
                </a:solidFill>
              </a:rPr>
              <a:t>IMD</a:t>
            </a:r>
            <a:r>
              <a:rPr lang="en-US" sz="1400" dirty="0">
                <a:solidFill>
                  <a:schemeClr val="tx1"/>
                </a:solidFill>
              </a:rPr>
              <a:t>, with NCEP–NOAA and many academic groups.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Multi-Model Ensemble (MME) for seasonal forecasts</a:t>
            </a:r>
            <a:endParaRPr lang="en-US" sz="3200" dirty="0"/>
          </a:p>
        </p:txBody>
      </p:sp>
      <p:sp>
        <p:nvSpPr>
          <p:cNvPr id="4" name="diagram box"/>
          <p:cNvSpPr/>
          <p:nvPr/>
        </p:nvSpPr>
        <p:spPr>
          <a:xfrm>
            <a:off x="548640" y="1463040"/>
            <a:ext cx="3017520" cy="868680"/>
          </a:xfrm>
          <a:prstGeom prst="roundRect">
            <a:avLst>
              <a:gd name="adj" fmla="val 8421"/>
            </a:avLst>
          </a:prstGeom>
          <a:solidFill>
            <a:schemeClr val="accent2"/>
          </a:solidFill>
          <a:ln/>
        </p:spPr>
      </p:sp>
      <p:sp>
        <p:nvSpPr>
          <p:cNvPr id="5" name="Text 2"/>
          <p:cNvSpPr txBox="1"/>
          <p:nvPr/>
        </p:nvSpPr>
        <p:spPr>
          <a:xfrm>
            <a:off x="548640" y="1463040"/>
            <a:ext cx="3017520" cy="868680"/>
          </a:xfrm>
          <a:prstGeom prst="rect">
            <a:avLst/>
          </a:prstGeom>
          <a:noFill/>
          <a:ln/>
        </p:spPr>
        <p:txBody>
          <a:bodyPr wrap="square" lIns="508" tIns="508" rIns="508" bIns="508" rtlCol="0" anchor="ctr"/>
          <a:lstStyle/>
          <a:p>
            <a:pPr algn="ctr" indent="0" marL="0">
              <a:buNone/>
            </a:pPr>
            <a:r>
              <a:rPr lang="en-US" sz="1300" b="1" dirty="0">
                <a:solidFill>
                  <a:schemeClr val="bg1"/>
                </a:solidFill>
              </a:rPr>
              <a:t>MMCFS (IMD / IITM)</a:t>
            </a:r>
            <a:endParaRPr lang="en-US" sz="1300" dirty="0"/>
          </a:p>
        </p:txBody>
      </p:sp>
      <p:sp>
        <p:nvSpPr>
          <p:cNvPr id="6" name="diagram box"/>
          <p:cNvSpPr/>
          <p:nvPr/>
        </p:nvSpPr>
        <p:spPr>
          <a:xfrm>
            <a:off x="548640" y="2514600"/>
            <a:ext cx="3017520" cy="868680"/>
          </a:xfrm>
          <a:prstGeom prst="roundRect">
            <a:avLst>
              <a:gd name="adj" fmla="val 8421"/>
            </a:avLst>
          </a:prstGeom>
          <a:solidFill>
            <a:schemeClr val="accent5"/>
          </a:solidFill>
          <a:ln/>
        </p:spPr>
      </p:sp>
      <p:sp>
        <p:nvSpPr>
          <p:cNvPr id="7" name="Text 4"/>
          <p:cNvSpPr txBox="1"/>
          <p:nvPr/>
        </p:nvSpPr>
        <p:spPr>
          <a:xfrm>
            <a:off x="548640" y="2514600"/>
            <a:ext cx="3017520" cy="868680"/>
          </a:xfrm>
          <a:prstGeom prst="rect">
            <a:avLst/>
          </a:prstGeom>
          <a:noFill/>
          <a:ln/>
        </p:spPr>
        <p:txBody>
          <a:bodyPr wrap="square" lIns="508" tIns="508" rIns="508" bIns="508" rtlCol="0" anchor="ctr"/>
          <a:lstStyle/>
          <a:p>
            <a:pPr algn="ctr" indent="0" marL="0">
              <a:buNone/>
            </a:pPr>
            <a:r>
              <a:rPr lang="en-US" sz="1300" b="1" dirty="0">
                <a:solidFill>
                  <a:schemeClr val="bg1"/>
                </a:solidFill>
              </a:rPr>
              <a:t>Other coupled GCMs from global centres</a:t>
            </a:r>
            <a:endParaRPr lang="en-US" sz="1300" dirty="0"/>
          </a:p>
        </p:txBody>
      </p:sp>
      <p:sp>
        <p:nvSpPr>
          <p:cNvPr id="8" name="diagram box"/>
          <p:cNvSpPr/>
          <p:nvPr/>
        </p:nvSpPr>
        <p:spPr>
          <a:xfrm>
            <a:off x="548640" y="3566160"/>
            <a:ext cx="3017520" cy="868680"/>
          </a:xfrm>
          <a:prstGeom prst="roundRect">
            <a:avLst>
              <a:gd name="adj" fmla="val 8421"/>
            </a:avLst>
          </a:prstGeom>
          <a:solidFill>
            <a:schemeClr val="accent5"/>
          </a:solidFill>
          <a:ln/>
        </p:spPr>
      </p:sp>
      <p:sp>
        <p:nvSpPr>
          <p:cNvPr id="9" name="Text 6"/>
          <p:cNvSpPr txBox="1"/>
          <p:nvPr/>
        </p:nvSpPr>
        <p:spPr>
          <a:xfrm>
            <a:off x="548640" y="3566160"/>
            <a:ext cx="3017520" cy="868680"/>
          </a:xfrm>
          <a:prstGeom prst="rect">
            <a:avLst/>
          </a:prstGeom>
          <a:noFill/>
          <a:ln/>
        </p:spPr>
        <p:txBody>
          <a:bodyPr wrap="square" lIns="508" tIns="508" rIns="508" bIns="508" rtlCol="0" anchor="ctr"/>
          <a:lstStyle/>
          <a:p>
            <a:pPr algn="ctr" indent="0" marL="0">
              <a:buNone/>
            </a:pPr>
            <a:r>
              <a:rPr lang="en-US" sz="1300" b="1" dirty="0">
                <a:solidFill>
                  <a:schemeClr val="bg1"/>
                </a:solidFill>
              </a:rPr>
              <a:t>e.g. models used by WMO Lead Centres &amp; APCC</a:t>
            </a:r>
            <a:endParaRPr lang="en-US" sz="1300" dirty="0"/>
          </a:p>
        </p:txBody>
      </p:sp>
      <p:sp>
        <p:nvSpPr>
          <p:cNvPr id="10" name="arrow"/>
          <p:cNvSpPr/>
          <p:nvPr/>
        </p:nvSpPr>
        <p:spPr>
          <a:xfrm>
            <a:off x="3584448" y="1892808"/>
            <a:ext cx="438912" cy="1033272"/>
          </a:xfrm>
          <a:prstGeom prst="line">
            <a:avLst/>
          </a:prstGeom>
          <a:noFill/>
          <a:ln w="19050">
            <a:solidFill>
              <a:srgbClr val="5F6C72"/>
            </a:solidFill>
            <a:prstDash val="solid"/>
            <a:tailEnd type="triangle"/>
          </a:ln>
        </p:spPr>
      </p:sp>
      <p:sp>
        <p:nvSpPr>
          <p:cNvPr id="11" name="arrow"/>
          <p:cNvSpPr/>
          <p:nvPr/>
        </p:nvSpPr>
        <p:spPr>
          <a:xfrm flipV="1">
            <a:off x="3584448" y="2926080"/>
            <a:ext cx="438912" cy="18288"/>
          </a:xfrm>
          <a:prstGeom prst="line">
            <a:avLst/>
          </a:prstGeom>
          <a:noFill/>
          <a:ln w="19050">
            <a:solidFill>
              <a:srgbClr val="5F6C72"/>
            </a:solidFill>
            <a:prstDash val="solid"/>
            <a:tailEnd type="triangle"/>
          </a:ln>
        </p:spPr>
      </p:sp>
      <p:sp>
        <p:nvSpPr>
          <p:cNvPr id="12" name="arrow"/>
          <p:cNvSpPr/>
          <p:nvPr/>
        </p:nvSpPr>
        <p:spPr>
          <a:xfrm flipV="1">
            <a:off x="3584448" y="2926080"/>
            <a:ext cx="438912" cy="1069848"/>
          </a:xfrm>
          <a:prstGeom prst="line">
            <a:avLst/>
          </a:prstGeom>
          <a:noFill/>
          <a:ln w="19050">
            <a:solidFill>
              <a:srgbClr val="5F6C72"/>
            </a:solidFill>
            <a:prstDash val="solid"/>
            <a:tailEnd type="triangle"/>
          </a:ln>
        </p:spPr>
      </p:sp>
      <p:sp>
        <p:nvSpPr>
          <p:cNvPr id="13" name="diagram box"/>
          <p:cNvSpPr/>
          <p:nvPr/>
        </p:nvSpPr>
        <p:spPr>
          <a:xfrm>
            <a:off x="4069080" y="2331720"/>
            <a:ext cx="2194560" cy="1188720"/>
          </a:xfrm>
          <a:prstGeom prst="roundRect">
            <a:avLst>
              <a:gd name="adj" fmla="val 6154"/>
            </a:avLst>
          </a:prstGeom>
          <a:solidFill>
            <a:schemeClr val="accent1"/>
          </a:solidFill>
          <a:ln/>
        </p:spPr>
      </p:sp>
      <p:sp>
        <p:nvSpPr>
          <p:cNvPr id="14" name="Text 11"/>
          <p:cNvSpPr txBox="1"/>
          <p:nvPr/>
        </p:nvSpPr>
        <p:spPr>
          <a:xfrm>
            <a:off x="4069080" y="2331720"/>
            <a:ext cx="2194560" cy="1188720"/>
          </a:xfrm>
          <a:prstGeom prst="rect">
            <a:avLst/>
          </a:prstGeom>
          <a:noFill/>
          <a:ln/>
        </p:spPr>
        <p:txBody>
          <a:bodyPr wrap="square" lIns="508" tIns="508" rIns="508" bIns="508" rtlCol="0" anchor="ctr"/>
          <a:lstStyle/>
          <a:p>
            <a:pPr algn="ctr" indent="0" marL="0">
              <a:buNone/>
            </a:pPr>
            <a:r>
              <a:rPr lang="en-US" sz="1400" dirty="0">
                <a:solidFill>
                  <a:schemeClr val="bg1"/>
                </a:solidFill>
              </a:rPr>
              <a:t>Bias correction</a:t>
            </a:r>
            <a:endParaRPr lang="en-US" sz="1400" dirty="0"/>
          </a:p>
          <a:p>
            <a:pPr algn="ctr" indent="0" marL="0">
              <a:buNone/>
            </a:pPr>
            <a:r>
              <a:rPr lang="en-US" sz="1400" dirty="0">
                <a:solidFill>
                  <a:schemeClr val="bg1"/>
                </a:solidFill>
              </a:rPr>
              <a:t>with hindcasts</a:t>
            </a:r>
            <a:endParaRPr lang="en-US" sz="1400" dirty="0"/>
          </a:p>
        </p:txBody>
      </p:sp>
      <p:sp>
        <p:nvSpPr>
          <p:cNvPr id="15" name="arrow"/>
          <p:cNvSpPr/>
          <p:nvPr/>
        </p:nvSpPr>
        <p:spPr>
          <a:xfrm>
            <a:off x="6281928" y="2926080"/>
            <a:ext cx="438912" cy="0"/>
          </a:xfrm>
          <a:prstGeom prst="line">
            <a:avLst/>
          </a:prstGeom>
          <a:noFill/>
          <a:ln w="31750">
            <a:solidFill>
              <a:srgbClr val="0E3B43"/>
            </a:solidFill>
            <a:prstDash val="solid"/>
            <a:tailEnd type="triangle"/>
          </a:ln>
        </p:spPr>
      </p:sp>
      <p:sp>
        <p:nvSpPr>
          <p:cNvPr id="16" name="diagram box"/>
          <p:cNvSpPr/>
          <p:nvPr/>
        </p:nvSpPr>
        <p:spPr>
          <a:xfrm>
            <a:off x="6766560" y="2331720"/>
            <a:ext cx="2194560" cy="1188720"/>
          </a:xfrm>
          <a:prstGeom prst="roundRect">
            <a:avLst>
              <a:gd name="adj" fmla="val 6154"/>
            </a:avLst>
          </a:prstGeom>
          <a:solidFill>
            <a:schemeClr val="accent1"/>
          </a:solidFill>
          <a:ln/>
        </p:spPr>
      </p:sp>
      <p:sp>
        <p:nvSpPr>
          <p:cNvPr id="17" name="Text 14"/>
          <p:cNvSpPr txBox="1"/>
          <p:nvPr/>
        </p:nvSpPr>
        <p:spPr>
          <a:xfrm>
            <a:off x="6766560" y="2331720"/>
            <a:ext cx="2194560" cy="1188720"/>
          </a:xfrm>
          <a:prstGeom prst="rect">
            <a:avLst/>
          </a:prstGeom>
          <a:noFill/>
          <a:ln/>
        </p:spPr>
        <p:txBody>
          <a:bodyPr wrap="square" lIns="508" tIns="508" rIns="508" bIns="508" rtlCol="0" anchor="ctr"/>
          <a:lstStyle/>
          <a:p>
            <a:pPr algn="ctr" indent="0" marL="0">
              <a:buNone/>
            </a:pPr>
            <a:r>
              <a:rPr lang="en-US" sz="1400" dirty="0">
                <a:solidFill>
                  <a:schemeClr val="bg1"/>
                </a:solidFill>
              </a:rPr>
              <a:t>Skill-weighted</a:t>
            </a:r>
            <a:endParaRPr lang="en-US" sz="1400" dirty="0"/>
          </a:p>
          <a:p>
            <a:pPr algn="ctr" indent="0" marL="0">
              <a:buNone/>
            </a:pPr>
            <a:r>
              <a:rPr lang="en-US" sz="1400" dirty="0">
                <a:solidFill>
                  <a:schemeClr val="bg1"/>
                </a:solidFill>
              </a:rPr>
              <a:t>combination</a:t>
            </a:r>
            <a:endParaRPr lang="en-US" sz="1400" dirty="0"/>
          </a:p>
        </p:txBody>
      </p:sp>
      <p:sp>
        <p:nvSpPr>
          <p:cNvPr id="18" name="arrow"/>
          <p:cNvSpPr/>
          <p:nvPr/>
        </p:nvSpPr>
        <p:spPr>
          <a:xfrm>
            <a:off x="8979408" y="2926080"/>
            <a:ext cx="438912" cy="0"/>
          </a:xfrm>
          <a:prstGeom prst="line">
            <a:avLst/>
          </a:prstGeom>
          <a:noFill/>
          <a:ln w="31750">
            <a:solidFill>
              <a:srgbClr val="0E3B43"/>
            </a:solidFill>
            <a:prstDash val="solid"/>
            <a:tailEnd type="triangle"/>
          </a:ln>
        </p:spPr>
      </p:sp>
      <p:sp>
        <p:nvSpPr>
          <p:cNvPr id="19" name="diagram box"/>
          <p:cNvSpPr/>
          <p:nvPr/>
        </p:nvSpPr>
        <p:spPr>
          <a:xfrm>
            <a:off x="9464040" y="2331720"/>
            <a:ext cx="2176272" cy="1188720"/>
          </a:xfrm>
          <a:prstGeom prst="roundRect">
            <a:avLst>
              <a:gd name="adj" fmla="val 6154"/>
            </a:avLst>
          </a:prstGeom>
          <a:solidFill>
            <a:schemeClr val="tx2"/>
          </a:solidFill>
          <a:ln/>
        </p:spPr>
      </p:sp>
      <p:sp>
        <p:nvSpPr>
          <p:cNvPr id="20" name="Text 17"/>
          <p:cNvSpPr txBox="1"/>
          <p:nvPr/>
        </p:nvSpPr>
        <p:spPr>
          <a:xfrm>
            <a:off x="9464040" y="2331720"/>
            <a:ext cx="2176272" cy="1188720"/>
          </a:xfrm>
          <a:prstGeom prst="rect">
            <a:avLst/>
          </a:prstGeom>
          <a:noFill/>
          <a:ln/>
        </p:spPr>
        <p:txBody>
          <a:bodyPr wrap="square" lIns="508" tIns="508" rIns="508" bIns="508" rtlCol="0" anchor="ctr"/>
          <a:lstStyle/>
          <a:p>
            <a:pPr algn="ctr" indent="0" marL="0">
              <a:buNone/>
            </a:pPr>
            <a:r>
              <a:rPr lang="en-US" sz="1400" b="1" dirty="0">
                <a:solidFill>
                  <a:schemeClr val="bg1"/>
                </a:solidFill>
              </a:rPr>
              <a:t>Probabilistic</a:t>
            </a:r>
            <a:endParaRPr lang="en-US" sz="1400" dirty="0"/>
          </a:p>
          <a:p>
            <a:pPr algn="ctr" indent="0" marL="0">
              <a:buNone/>
            </a:pPr>
            <a:r>
              <a:rPr lang="en-US" sz="1400" b="1" dirty="0">
                <a:solidFill>
                  <a:schemeClr val="bg1"/>
                </a:solidFill>
              </a:rPr>
              <a:t>forecast</a:t>
            </a:r>
            <a:endParaRPr lang="en-US" sz="1400" dirty="0"/>
          </a:p>
        </p:txBody>
      </p:sp>
      <p:sp>
        <p:nvSpPr>
          <p:cNvPr id="21" name="Text 18"/>
          <p:cNvSpPr txBox="1"/>
          <p:nvPr/>
        </p:nvSpPr>
        <p:spPr>
          <a:xfrm>
            <a:off x="548640" y="4617720"/>
            <a:ext cx="109728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Model list is illustrative; IMD describes the MME as coupled models from several global prediction centres including MMCFS.</a:t>
            </a:r>
            <a:endParaRPr lang="en-US" sz="1100" dirty="0"/>
          </a:p>
        </p:txBody>
      </p:sp>
      <p:sp>
        <p:nvSpPr>
          <p:cNvPr id="22" name="card"/>
          <p:cNvSpPr/>
          <p:nvPr/>
        </p:nvSpPr>
        <p:spPr>
          <a:xfrm>
            <a:off x="548640" y="4937760"/>
            <a:ext cx="3566160" cy="1234440"/>
          </a:xfrm>
          <a:prstGeom prst="roundRect">
            <a:avLst>
              <a:gd name="adj" fmla="val 5926"/>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731520" y="5074920"/>
            <a:ext cx="3246120" cy="365760"/>
          </a:xfrm>
          <a:prstGeom prst="rect">
            <a:avLst/>
          </a:prstGeom>
          <a:noFill/>
          <a:ln/>
        </p:spPr>
        <p:txBody>
          <a:bodyPr wrap="square" lIns="0" tIns="0" rIns="0" bIns="0" rtlCol="0" anchor="ctr"/>
          <a:lstStyle/>
          <a:p>
            <a:pPr indent="0" marL="0">
              <a:buNone/>
            </a:pPr>
            <a:r>
              <a:rPr lang="en-US" sz="1600" b="1" dirty="0">
                <a:solidFill>
                  <a:schemeClr val="tx2"/>
                </a:solidFill>
              </a:rPr>
              <a:t>Why it works</a:t>
            </a:r>
            <a:endParaRPr lang="en-US" sz="1600" dirty="0"/>
          </a:p>
        </p:txBody>
      </p:sp>
      <p:sp>
        <p:nvSpPr>
          <p:cNvPr id="24" name="Text 21"/>
          <p:cNvSpPr txBox="1"/>
          <p:nvPr/>
        </p:nvSpPr>
        <p:spPr>
          <a:xfrm>
            <a:off x="731520" y="5486400"/>
            <a:ext cx="3200400" cy="5943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Errors of different models partly cancel → higher skill.</a:t>
            </a:r>
            <a:endParaRPr lang="en-US" sz="1300" dirty="0"/>
          </a:p>
        </p:txBody>
      </p:sp>
      <p:sp>
        <p:nvSpPr>
          <p:cNvPr id="25" name="card"/>
          <p:cNvSpPr/>
          <p:nvPr/>
        </p:nvSpPr>
        <p:spPr>
          <a:xfrm>
            <a:off x="4315968" y="4937760"/>
            <a:ext cx="3566160" cy="1234440"/>
          </a:xfrm>
          <a:prstGeom prst="roundRect">
            <a:avLst>
              <a:gd name="adj" fmla="val 5926"/>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4498848" y="5074920"/>
            <a:ext cx="3246120" cy="365760"/>
          </a:xfrm>
          <a:prstGeom prst="rect">
            <a:avLst/>
          </a:prstGeom>
          <a:noFill/>
          <a:ln/>
        </p:spPr>
        <p:txBody>
          <a:bodyPr wrap="square" lIns="0" tIns="0" rIns="0" bIns="0" rtlCol="0" anchor="ctr"/>
          <a:lstStyle/>
          <a:p>
            <a:pPr indent="0" marL="0">
              <a:buNone/>
            </a:pPr>
            <a:r>
              <a:rPr lang="en-US" sz="1600" b="1" dirty="0">
                <a:solidFill>
                  <a:schemeClr val="tx2"/>
                </a:solidFill>
              </a:rPr>
              <a:t>Tercile probabilities</a:t>
            </a:r>
            <a:endParaRPr lang="en-US" sz="1600" dirty="0"/>
          </a:p>
        </p:txBody>
      </p:sp>
      <p:sp>
        <p:nvSpPr>
          <p:cNvPr id="27" name="Text 24"/>
          <p:cNvSpPr txBox="1"/>
          <p:nvPr/>
        </p:nvSpPr>
        <p:spPr>
          <a:xfrm>
            <a:off x="4498848" y="5486400"/>
            <a:ext cx="3200400" cy="5943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Above / near / below normal maps for each grid point.</a:t>
            </a:r>
            <a:endParaRPr lang="en-US" sz="1300" dirty="0"/>
          </a:p>
        </p:txBody>
      </p:sp>
      <p:sp>
        <p:nvSpPr>
          <p:cNvPr id="28" name="card"/>
          <p:cNvSpPr/>
          <p:nvPr/>
        </p:nvSpPr>
        <p:spPr>
          <a:xfrm>
            <a:off x="8083296" y="4937760"/>
            <a:ext cx="3557016" cy="1234440"/>
          </a:xfrm>
          <a:prstGeom prst="roundRect">
            <a:avLst>
              <a:gd name="adj" fmla="val 5926"/>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8266176" y="5074920"/>
            <a:ext cx="3236976" cy="365760"/>
          </a:xfrm>
          <a:prstGeom prst="rect">
            <a:avLst/>
          </a:prstGeom>
          <a:noFill/>
          <a:ln/>
        </p:spPr>
        <p:txBody>
          <a:bodyPr wrap="square" lIns="0" tIns="0" rIns="0" bIns="0" rtlCol="0" anchor="ctr"/>
          <a:lstStyle/>
          <a:p>
            <a:pPr indent="0" marL="0">
              <a:buNone/>
            </a:pPr>
            <a:r>
              <a:rPr lang="en-US" sz="1600" b="1" dirty="0">
                <a:solidFill>
                  <a:schemeClr val="tx2"/>
                </a:solidFill>
              </a:rPr>
              <a:t>Also used for</a:t>
            </a:r>
            <a:endParaRPr lang="en-US" sz="1600" dirty="0"/>
          </a:p>
        </p:txBody>
      </p:sp>
      <p:sp>
        <p:nvSpPr>
          <p:cNvPr id="30" name="Text 27"/>
          <p:cNvSpPr txBox="1"/>
          <p:nvPr/>
        </p:nvSpPr>
        <p:spPr>
          <a:xfrm>
            <a:off x="8266176" y="5486400"/>
            <a:ext cx="3191256" cy="5943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Monthly outlooks, temperature, heat waves.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Statistical vs dynamical forecasting</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920240"/>
                <a:gridCol w="4572000"/>
                <a:gridCol w="4599432"/>
              </a:tblGrid>
              <a:tr h="658368">
                <a:tc>
                  <a:txBody>
                    <a:bodyPr/>
                    <a:lstStyle/>
                    <a:p>
                      <a:pPr indent="0" marL="0">
                        <a:buNone/>
                      </a:pPr>
                      <a:endParaRPr lang="en-US" sz="13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Statistical (SEFS)</a:t>
                      </a:r>
                      <a:endParaRPr lang="en-US" sz="13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Dynamical (MMCFS / MME)</a:t>
                      </a:r>
                      <a:endParaRPr lang="en-US" sz="13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accent5"/>
                    </a:solidFill>
                  </a:tcPr>
                </a:tc>
              </a:tr>
              <a:tr h="658368">
                <a:tc>
                  <a:txBody>
                    <a:bodyPr/>
                    <a:lstStyle/>
                    <a:p>
                      <a:pPr indent="0" marL="0">
                        <a:buNone/>
                      </a:pPr>
                      <a:r>
                        <a:rPr lang="en-US" sz="1300" b="1" dirty="0">
                          <a:solidFill>
                            <a:schemeClr val="tx2"/>
                          </a:solidFill>
                        </a:rPr>
                        <a:t>Basis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Observed predictor–rainfall relationships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Physical laws in coupled ocean–atmosphere models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rPr>
                        <a:t>Inputs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5–6 predictors observed before the forecast</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Full 3-D initial state of ocean, atmosphere, land</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rPr>
                        <a:t>Output</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All-India % of LPA (± error)</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Spatial maps, regions, months, probabilities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rPr>
                        <a:t>Strengths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Cheap, robust, well-calibrated totals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Physically consistent; handles new situations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rPr>
                        <a:t>Weaknesses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Predictor links drift; no spatial detail</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Model biases over India; costly</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rPr>
                        <a:t>Role at IMD</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Main all-India number in April</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Probabilities, regional &amp; monthly forecasts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Forecasting the onset over Kerala</a:t>
            </a:r>
            <a:endParaRPr lang="en-US" sz="3200" dirty="0"/>
          </a:p>
        </p:txBody>
      </p:sp>
      <p:sp>
        <p:nvSpPr>
          <p:cNvPr id="4" name="card"/>
          <p:cNvSpPr/>
          <p:nvPr/>
        </p:nvSpPr>
        <p:spPr>
          <a:xfrm>
            <a:off x="548640" y="1371600"/>
            <a:ext cx="3383280"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685800" y="1554480"/>
            <a:ext cx="502920" cy="502920"/>
          </a:xfrm>
          <a:prstGeom prst="ellipse">
            <a:avLst/>
          </a:prstGeom>
          <a:solidFill>
            <a:schemeClr val="accent1"/>
          </a:solidFill>
          <a:ln/>
        </p:spPr>
      </p:sp>
      <p:pic>
        <p:nvPicPr>
          <p:cNvPr id="6" name="Image 0" descr="ThermometerHalf icon">    </p:cNvPr>
          <p:cNvPicPr>
            <a:picLocks noChangeAspect="1"/>
          </p:cNvPicPr>
          <p:nvPr/>
        </p:nvPicPr>
        <p:blipFill>
          <a:blip r:embed="rId1"/>
          <a:stretch>
            <a:fillRect/>
          </a:stretch>
        </p:blipFill>
        <p:spPr>
          <a:xfrm>
            <a:off x="816559" y="1685239"/>
            <a:ext cx="241402" cy="241402"/>
          </a:xfrm>
          <a:prstGeom prst="rect">
            <a:avLst/>
          </a:prstGeom>
        </p:spPr>
      </p:pic>
      <p:sp>
        <p:nvSpPr>
          <p:cNvPr id="7" name="Text 3"/>
          <p:cNvSpPr txBox="1"/>
          <p:nvPr/>
        </p:nvSpPr>
        <p:spPr>
          <a:xfrm>
            <a:off x="1325880" y="1417320"/>
            <a:ext cx="2514600" cy="777240"/>
          </a:xfrm>
          <a:prstGeom prst="rect">
            <a:avLst/>
          </a:prstGeom>
          <a:noFill/>
          <a:ln/>
        </p:spPr>
        <p:txBody>
          <a:bodyPr wrap="square" lIns="0" tIns="0" rIns="0" bIns="0" rtlCol="0" anchor="ctr"/>
          <a:lstStyle/>
          <a:p>
            <a:pPr algn="l" indent="0" marL="0">
              <a:buNone/>
            </a:pPr>
            <a:r>
              <a:rPr lang="en-US" sz="1200" dirty="0">
                <a:solidFill>
                  <a:schemeClr val="tx1"/>
                </a:solidFill>
              </a:rPr>
              <a:t>Minimum temperature over north-west India</a:t>
            </a:r>
            <a:endParaRPr lang="en-US" sz="1200" dirty="0"/>
          </a:p>
        </p:txBody>
      </p:sp>
      <p:sp>
        <p:nvSpPr>
          <p:cNvPr id="8" name="card"/>
          <p:cNvSpPr/>
          <p:nvPr/>
        </p:nvSpPr>
        <p:spPr>
          <a:xfrm>
            <a:off x="4069080" y="1371600"/>
            <a:ext cx="3383280"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4206240" y="1554480"/>
            <a:ext cx="502920" cy="502920"/>
          </a:xfrm>
          <a:prstGeom prst="ellipse">
            <a:avLst/>
          </a:prstGeom>
          <a:solidFill>
            <a:schemeClr val="accent1"/>
          </a:solidFill>
          <a:ln/>
        </p:spPr>
      </p:sp>
      <p:pic>
        <p:nvPicPr>
          <p:cNvPr id="10" name="Image 1" descr="CloudRain icon">    </p:cNvPr>
          <p:cNvPicPr>
            <a:picLocks noChangeAspect="1"/>
          </p:cNvPicPr>
          <p:nvPr/>
        </p:nvPicPr>
        <p:blipFill>
          <a:blip r:embed="rId2"/>
          <a:stretch>
            <a:fillRect/>
          </a:stretch>
        </p:blipFill>
        <p:spPr>
          <a:xfrm>
            <a:off x="4336999" y="1685239"/>
            <a:ext cx="241402" cy="241402"/>
          </a:xfrm>
          <a:prstGeom prst="rect">
            <a:avLst/>
          </a:prstGeom>
        </p:spPr>
      </p:pic>
      <p:sp>
        <p:nvSpPr>
          <p:cNvPr id="11" name="Text 6"/>
          <p:cNvSpPr txBox="1"/>
          <p:nvPr/>
        </p:nvSpPr>
        <p:spPr>
          <a:xfrm>
            <a:off x="4846320" y="1417320"/>
            <a:ext cx="2514600" cy="777240"/>
          </a:xfrm>
          <a:prstGeom prst="rect">
            <a:avLst/>
          </a:prstGeom>
          <a:noFill/>
          <a:ln/>
        </p:spPr>
        <p:txBody>
          <a:bodyPr wrap="square" lIns="0" tIns="0" rIns="0" bIns="0" rtlCol="0" anchor="ctr"/>
          <a:lstStyle/>
          <a:p>
            <a:pPr algn="l" indent="0" marL="0">
              <a:buNone/>
            </a:pPr>
            <a:r>
              <a:rPr lang="en-US" sz="1200" dirty="0">
                <a:solidFill>
                  <a:schemeClr val="tx1"/>
                </a:solidFill>
              </a:rPr>
              <a:t>Pre-monsoon rainfall peak over south peninsula</a:t>
            </a:r>
            <a:endParaRPr lang="en-US" sz="1200" dirty="0"/>
          </a:p>
        </p:txBody>
      </p:sp>
      <p:sp>
        <p:nvSpPr>
          <p:cNvPr id="12" name="card"/>
          <p:cNvSpPr/>
          <p:nvPr/>
        </p:nvSpPr>
        <p:spPr>
          <a:xfrm>
            <a:off x="548640" y="2377440"/>
            <a:ext cx="3383280"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685800" y="2560320"/>
            <a:ext cx="502920" cy="502920"/>
          </a:xfrm>
          <a:prstGeom prst="ellipse">
            <a:avLst/>
          </a:prstGeom>
          <a:solidFill>
            <a:schemeClr val="accent1"/>
          </a:solidFill>
          <a:ln/>
        </p:spPr>
      </p:sp>
      <p:pic>
        <p:nvPicPr>
          <p:cNvPr id="14" name="Image 2" descr="Sun icon">    </p:cNvPr>
          <p:cNvPicPr>
            <a:picLocks noChangeAspect="1"/>
          </p:cNvPicPr>
          <p:nvPr/>
        </p:nvPicPr>
        <p:blipFill>
          <a:blip r:embed="rId3"/>
          <a:stretch>
            <a:fillRect/>
          </a:stretch>
        </p:blipFill>
        <p:spPr>
          <a:xfrm>
            <a:off x="816559" y="2691079"/>
            <a:ext cx="241402" cy="241402"/>
          </a:xfrm>
          <a:prstGeom prst="rect">
            <a:avLst/>
          </a:prstGeom>
        </p:spPr>
      </p:pic>
      <p:sp>
        <p:nvSpPr>
          <p:cNvPr id="15" name="Text 9"/>
          <p:cNvSpPr txBox="1"/>
          <p:nvPr/>
        </p:nvSpPr>
        <p:spPr>
          <a:xfrm>
            <a:off x="1325880" y="2423160"/>
            <a:ext cx="2514600" cy="777240"/>
          </a:xfrm>
          <a:prstGeom prst="rect">
            <a:avLst/>
          </a:prstGeom>
          <a:noFill/>
          <a:ln/>
        </p:spPr>
        <p:txBody>
          <a:bodyPr wrap="square" lIns="0" tIns="0" rIns="0" bIns="0" rtlCol="0" anchor="ctr"/>
          <a:lstStyle/>
          <a:p>
            <a:pPr algn="l" indent="0" marL="0">
              <a:buNone/>
            </a:pPr>
            <a:r>
              <a:rPr lang="en-US" sz="1200" dirty="0">
                <a:solidFill>
                  <a:schemeClr val="tx1"/>
                </a:solidFill>
              </a:rPr>
              <a:t>Outgoing longwave radiation over South China Sea</a:t>
            </a:r>
            <a:endParaRPr lang="en-US" sz="1200" dirty="0"/>
          </a:p>
        </p:txBody>
      </p:sp>
      <p:sp>
        <p:nvSpPr>
          <p:cNvPr id="16" name="card"/>
          <p:cNvSpPr/>
          <p:nvPr/>
        </p:nvSpPr>
        <p:spPr>
          <a:xfrm>
            <a:off x="4069080" y="2377440"/>
            <a:ext cx="3383280"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4206240" y="2560320"/>
            <a:ext cx="502920" cy="502920"/>
          </a:xfrm>
          <a:prstGeom prst="ellipse">
            <a:avLst/>
          </a:prstGeom>
          <a:solidFill>
            <a:schemeClr val="accent1"/>
          </a:solidFill>
          <a:ln/>
        </p:spPr>
      </p:sp>
      <p:pic>
        <p:nvPicPr>
          <p:cNvPr id="18" name="Image 3" descr="Wind icon">    </p:cNvPr>
          <p:cNvPicPr>
            <a:picLocks noChangeAspect="1"/>
          </p:cNvPicPr>
          <p:nvPr/>
        </p:nvPicPr>
        <p:blipFill>
          <a:blip r:embed="rId4"/>
          <a:stretch>
            <a:fillRect/>
          </a:stretch>
        </p:blipFill>
        <p:spPr>
          <a:xfrm>
            <a:off x="4336999" y="2691079"/>
            <a:ext cx="241402" cy="241402"/>
          </a:xfrm>
          <a:prstGeom prst="rect">
            <a:avLst/>
          </a:prstGeom>
        </p:spPr>
      </p:pic>
      <p:sp>
        <p:nvSpPr>
          <p:cNvPr id="19" name="Text 12"/>
          <p:cNvSpPr txBox="1"/>
          <p:nvPr/>
        </p:nvSpPr>
        <p:spPr>
          <a:xfrm>
            <a:off x="4846320" y="2423160"/>
            <a:ext cx="2514600" cy="777240"/>
          </a:xfrm>
          <a:prstGeom prst="rect">
            <a:avLst/>
          </a:prstGeom>
          <a:noFill/>
          <a:ln/>
        </p:spPr>
        <p:txBody>
          <a:bodyPr wrap="square" lIns="0" tIns="0" rIns="0" bIns="0" rtlCol="0" anchor="ctr"/>
          <a:lstStyle/>
          <a:p>
            <a:pPr algn="l" indent="0" marL="0">
              <a:buNone/>
            </a:pPr>
            <a:r>
              <a:rPr lang="en-US" sz="1200" dirty="0">
                <a:solidFill>
                  <a:schemeClr val="tx1"/>
                </a:solidFill>
              </a:rPr>
              <a:t>Lower-tropospheric zonal wind over SE Indian Ocean</a:t>
            </a:r>
            <a:endParaRPr lang="en-US" sz="1200" dirty="0"/>
          </a:p>
        </p:txBody>
      </p:sp>
      <p:sp>
        <p:nvSpPr>
          <p:cNvPr id="20" name="card"/>
          <p:cNvSpPr/>
          <p:nvPr/>
        </p:nvSpPr>
        <p:spPr>
          <a:xfrm>
            <a:off x="548640" y="3383280"/>
            <a:ext cx="3383280"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21" name="icon circle"/>
          <p:cNvSpPr/>
          <p:nvPr/>
        </p:nvSpPr>
        <p:spPr>
          <a:xfrm>
            <a:off x="685800" y="3566160"/>
            <a:ext cx="502920" cy="502920"/>
          </a:xfrm>
          <a:prstGeom prst="ellipse">
            <a:avLst/>
          </a:prstGeom>
          <a:solidFill>
            <a:schemeClr val="accent1"/>
          </a:solidFill>
          <a:ln/>
        </p:spPr>
      </p:sp>
      <p:pic>
        <p:nvPicPr>
          <p:cNvPr id="22" name="Image 4" descr="Wind icon">    </p:cNvPr>
          <p:cNvPicPr>
            <a:picLocks noChangeAspect="1"/>
          </p:cNvPicPr>
          <p:nvPr/>
        </p:nvPicPr>
        <p:blipFill>
          <a:blip r:embed="rId5"/>
          <a:stretch>
            <a:fillRect/>
          </a:stretch>
        </p:blipFill>
        <p:spPr>
          <a:xfrm>
            <a:off x="816559" y="3696919"/>
            <a:ext cx="241402" cy="241402"/>
          </a:xfrm>
          <a:prstGeom prst="rect">
            <a:avLst/>
          </a:prstGeom>
        </p:spPr>
      </p:pic>
      <p:sp>
        <p:nvSpPr>
          <p:cNvPr id="23" name="Text 15"/>
          <p:cNvSpPr txBox="1"/>
          <p:nvPr/>
        </p:nvSpPr>
        <p:spPr>
          <a:xfrm>
            <a:off x="1325880" y="3429000"/>
            <a:ext cx="2514600" cy="777240"/>
          </a:xfrm>
          <a:prstGeom prst="rect">
            <a:avLst/>
          </a:prstGeom>
          <a:noFill/>
          <a:ln/>
        </p:spPr>
        <p:txBody>
          <a:bodyPr wrap="square" lIns="0" tIns="0" rIns="0" bIns="0" rtlCol="0" anchor="ctr"/>
          <a:lstStyle/>
          <a:p>
            <a:pPr algn="l" indent="0" marL="0">
              <a:buNone/>
            </a:pPr>
            <a:r>
              <a:rPr lang="en-US" sz="1200" dirty="0">
                <a:solidFill>
                  <a:schemeClr val="tx1"/>
                </a:solidFill>
              </a:rPr>
              <a:t>Upper-tropospheric zonal wind over east equatorial Indian Ocean</a:t>
            </a:r>
            <a:endParaRPr lang="en-US" sz="1200" dirty="0"/>
          </a:p>
        </p:txBody>
      </p:sp>
      <p:sp>
        <p:nvSpPr>
          <p:cNvPr id="24" name="card"/>
          <p:cNvSpPr/>
          <p:nvPr/>
        </p:nvSpPr>
        <p:spPr>
          <a:xfrm>
            <a:off x="4069080" y="3383280"/>
            <a:ext cx="3383280" cy="868680"/>
          </a:xfrm>
          <a:prstGeom prst="roundRect">
            <a:avLst>
              <a:gd name="adj" fmla="val 8421"/>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206240" y="3566160"/>
            <a:ext cx="502920" cy="502920"/>
          </a:xfrm>
          <a:prstGeom prst="ellipse">
            <a:avLst/>
          </a:prstGeom>
          <a:solidFill>
            <a:schemeClr val="accent1"/>
          </a:solidFill>
          <a:ln/>
        </p:spPr>
      </p:sp>
      <p:pic>
        <p:nvPicPr>
          <p:cNvPr id="26" name="Image 5" descr="Satellite icon">    </p:cNvPr>
          <p:cNvPicPr>
            <a:picLocks noChangeAspect="1"/>
          </p:cNvPicPr>
          <p:nvPr/>
        </p:nvPicPr>
        <p:blipFill>
          <a:blip r:embed="rId6"/>
          <a:stretch>
            <a:fillRect/>
          </a:stretch>
        </p:blipFill>
        <p:spPr>
          <a:xfrm>
            <a:off x="4336999" y="3696919"/>
            <a:ext cx="241402" cy="241402"/>
          </a:xfrm>
          <a:prstGeom prst="rect">
            <a:avLst/>
          </a:prstGeom>
        </p:spPr>
      </p:pic>
      <p:sp>
        <p:nvSpPr>
          <p:cNvPr id="27" name="Text 18"/>
          <p:cNvSpPr txBox="1"/>
          <p:nvPr/>
        </p:nvSpPr>
        <p:spPr>
          <a:xfrm>
            <a:off x="4846320" y="3429000"/>
            <a:ext cx="2514600" cy="777240"/>
          </a:xfrm>
          <a:prstGeom prst="rect">
            <a:avLst/>
          </a:prstGeom>
          <a:noFill/>
          <a:ln/>
        </p:spPr>
        <p:txBody>
          <a:bodyPr wrap="square" lIns="0" tIns="0" rIns="0" bIns="0" rtlCol="0" anchor="ctr"/>
          <a:lstStyle/>
          <a:p>
            <a:pPr algn="l" indent="0" marL="0">
              <a:buNone/>
            </a:pPr>
            <a:r>
              <a:rPr lang="en-US" sz="1200" dirty="0">
                <a:solidFill>
                  <a:schemeClr val="tx1"/>
                </a:solidFill>
              </a:rPr>
              <a:t>OLR over south-west Pacific region</a:t>
            </a:r>
            <a:endParaRPr lang="en-US" sz="1200" dirty="0"/>
          </a:p>
        </p:txBody>
      </p:sp>
      <p:sp>
        <p:nvSpPr>
          <p:cNvPr id="28" name="Text 19"/>
          <p:cNvSpPr txBox="1"/>
          <p:nvPr/>
        </p:nvSpPr>
        <p:spPr>
          <a:xfrm>
            <a:off x="548640" y="4434840"/>
            <a:ext cx="6858000" cy="45720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Predictor set as used in 2008–2022 releases; two predictors (NW Pacific MSLP, NE Indian Ocean upper wind) replaced OLR terms in later years.</a:t>
            </a:r>
            <a:endParaRPr lang="en-US" sz="1100" dirty="0"/>
          </a:p>
        </p:txBody>
      </p:sp>
      <p:sp>
        <p:nvSpPr>
          <p:cNvPr id="29" name="card"/>
          <p:cNvSpPr/>
          <p:nvPr/>
        </p:nvSpPr>
        <p:spPr>
          <a:xfrm>
            <a:off x="7726680" y="1371600"/>
            <a:ext cx="3913632" cy="1737360"/>
          </a:xfrm>
          <a:prstGeom prst="roundRect">
            <a:avLst>
              <a:gd name="adj" fmla="val 4211"/>
            </a:avLst>
          </a:prstGeom>
          <a:solidFill>
            <a:schemeClr val="tx2"/>
          </a:solidFill>
          <a:ln/>
          <a:effectLst>
            <a:outerShdw sx="100000" sy="100000" kx="0" ky="0" algn="bl" rotWithShape="0" blurRad="76200" dist="25400" dir="5400000">
              <a:srgbClr val="000000">
                <a:alpha val="14000"/>
              </a:srgbClr>
            </a:outerShdw>
          </a:effectLst>
        </p:spPr>
      </p:sp>
      <p:sp>
        <p:nvSpPr>
          <p:cNvPr id="30" name="Text 21"/>
          <p:cNvSpPr txBox="1"/>
          <p:nvPr/>
        </p:nvSpPr>
        <p:spPr>
          <a:xfrm>
            <a:off x="7726680" y="1463040"/>
            <a:ext cx="3913632" cy="822960"/>
          </a:xfrm>
          <a:prstGeom prst="rect">
            <a:avLst/>
          </a:prstGeom>
          <a:noFill/>
          <a:ln/>
        </p:spPr>
        <p:txBody>
          <a:bodyPr wrap="square" lIns="0" tIns="0" rIns="0" bIns="0" rtlCol="0" anchor="ctr"/>
          <a:lstStyle/>
          <a:p>
            <a:pPr algn="ctr" indent="0" marL="0">
              <a:buNone/>
            </a:pPr>
            <a:r>
              <a:rPr lang="en-US" sz="4000" b="1" dirty="0">
                <a:solidFill>
                  <a:schemeClr val="accent3"/>
                </a:solidFill>
              </a:rPr>
              <a:t>±4 days</a:t>
            </a:r>
            <a:endParaRPr lang="en-US" sz="4000" dirty="0"/>
          </a:p>
        </p:txBody>
      </p:sp>
      <p:sp>
        <p:nvSpPr>
          <p:cNvPr id="31" name="Text 22"/>
          <p:cNvSpPr txBox="1"/>
          <p:nvPr/>
        </p:nvSpPr>
        <p:spPr>
          <a:xfrm>
            <a:off x="7726680" y="2331720"/>
            <a:ext cx="3913632" cy="457200"/>
          </a:xfrm>
          <a:prstGeom prst="rect">
            <a:avLst/>
          </a:prstGeom>
          <a:noFill/>
          <a:ln/>
        </p:spPr>
        <p:txBody>
          <a:bodyPr wrap="square" lIns="0" tIns="0" rIns="0" bIns="0" rtlCol="0" anchor="ctr"/>
          <a:lstStyle/>
          <a:p>
            <a:pPr algn="ctr" indent="0" marL="0">
              <a:buNone/>
            </a:pPr>
            <a:r>
              <a:rPr lang="en-US" sz="1300" dirty="0">
                <a:solidFill>
                  <a:schemeClr val="bg2"/>
                </a:solidFill>
              </a:rPr>
              <a:t>model error · issued mid-May</a:t>
            </a:r>
            <a:endParaRPr lang="en-US" sz="1300" dirty="0"/>
          </a:p>
        </p:txBody>
      </p:sp>
      <p:sp>
        <p:nvSpPr>
          <p:cNvPr id="32" name="card"/>
          <p:cNvSpPr/>
          <p:nvPr/>
        </p:nvSpPr>
        <p:spPr>
          <a:xfrm>
            <a:off x="7726680" y="3291840"/>
            <a:ext cx="3913632" cy="1554480"/>
          </a:xfrm>
          <a:prstGeom prst="roundRect">
            <a:avLst>
              <a:gd name="adj" fmla="val 4706"/>
            </a:avLst>
          </a:prstGeom>
          <a:solidFill>
            <a:schemeClr val="bg2"/>
          </a:solidFill>
          <a:ln/>
          <a:effectLst>
            <a:outerShdw sx="100000" sy="100000" kx="0" ky="0" algn="bl" rotWithShape="0" blurRad="76200" dist="25400" dir="5400000">
              <a:srgbClr val="000000">
                <a:alpha val="14000"/>
              </a:srgbClr>
            </a:outerShdw>
          </a:effectLst>
        </p:spPr>
      </p:sp>
      <p:sp>
        <p:nvSpPr>
          <p:cNvPr id="33" name="icon circle"/>
          <p:cNvSpPr/>
          <p:nvPr/>
        </p:nvSpPr>
        <p:spPr>
          <a:xfrm>
            <a:off x="7909560" y="3447288"/>
            <a:ext cx="420624" cy="420624"/>
          </a:xfrm>
          <a:prstGeom prst="ellipse">
            <a:avLst/>
          </a:prstGeom>
          <a:solidFill>
            <a:schemeClr val="accent1"/>
          </a:solidFill>
          <a:ln/>
        </p:spPr>
      </p:sp>
      <p:pic>
        <p:nvPicPr>
          <p:cNvPr id="34" name="Image 6" descr="Check icon">    </p:cNvPr>
          <p:cNvPicPr>
            <a:picLocks noChangeAspect="1"/>
          </p:cNvPicPr>
          <p:nvPr/>
        </p:nvPicPr>
        <p:blipFill>
          <a:blip r:embed="rId7"/>
          <a:stretch>
            <a:fillRect/>
          </a:stretch>
        </p:blipFill>
        <p:spPr>
          <a:xfrm>
            <a:off x="8018922" y="3556650"/>
            <a:ext cx="201900" cy="201900"/>
          </a:xfrm>
          <a:prstGeom prst="rect">
            <a:avLst/>
          </a:prstGeom>
        </p:spPr>
      </p:pic>
      <p:sp>
        <p:nvSpPr>
          <p:cNvPr id="35" name="Text 25"/>
          <p:cNvSpPr txBox="1"/>
          <p:nvPr/>
        </p:nvSpPr>
        <p:spPr>
          <a:xfrm>
            <a:off x="8439912" y="3429000"/>
            <a:ext cx="3063240" cy="457200"/>
          </a:xfrm>
          <a:prstGeom prst="rect">
            <a:avLst/>
          </a:prstGeom>
          <a:noFill/>
          <a:ln/>
        </p:spPr>
        <p:txBody>
          <a:bodyPr wrap="square" lIns="0" tIns="0" rIns="0" bIns="0" rtlCol="0" anchor="ctr"/>
          <a:lstStyle/>
          <a:p>
            <a:pPr indent="0" marL="0">
              <a:buNone/>
            </a:pPr>
            <a:r>
              <a:rPr lang="en-US" sz="1600" b="1" dirty="0">
                <a:solidFill>
                  <a:schemeClr val="tx2"/>
                </a:solidFill>
              </a:rPr>
              <a:t>Track record (IMD)</a:t>
            </a:r>
            <a:endParaRPr lang="en-US" sz="1600" dirty="0"/>
          </a:p>
        </p:txBody>
      </p:sp>
      <p:sp>
        <p:nvSpPr>
          <p:cNvPr id="36" name="Text 26"/>
          <p:cNvSpPr txBox="1"/>
          <p:nvPr/>
        </p:nvSpPr>
        <p:spPr>
          <a:xfrm>
            <a:off x="7909560" y="3977640"/>
            <a:ext cx="3547872" cy="7772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Within the error band every year 2005–2022 except 2015.</a:t>
            </a:r>
            <a:endParaRPr lang="en-US" sz="1300" dirty="0"/>
          </a:p>
        </p:txBody>
      </p:sp>
      <p:sp>
        <p:nvSpPr>
          <p:cNvPr id="37" name="card"/>
          <p:cNvSpPr/>
          <p:nvPr/>
        </p:nvSpPr>
        <p:spPr>
          <a:xfrm>
            <a:off x="548640" y="4983480"/>
            <a:ext cx="110916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38" name="icon circle"/>
          <p:cNvSpPr/>
          <p:nvPr/>
        </p:nvSpPr>
        <p:spPr>
          <a:xfrm>
            <a:off x="731520" y="5138928"/>
            <a:ext cx="420624" cy="420624"/>
          </a:xfrm>
          <a:prstGeom prst="ellipse">
            <a:avLst/>
          </a:prstGeom>
          <a:solidFill>
            <a:schemeClr val="accent2"/>
          </a:solidFill>
          <a:ln/>
        </p:spPr>
      </p:sp>
      <p:pic>
        <p:nvPicPr>
          <p:cNvPr id="39" name="Image 7" descr="CalendarAlt icon">    </p:cNvPr>
          <p:cNvPicPr>
            <a:picLocks noChangeAspect="1"/>
          </p:cNvPicPr>
          <p:nvPr/>
        </p:nvPicPr>
        <p:blipFill>
          <a:blip r:embed="rId8"/>
          <a:stretch>
            <a:fillRect/>
          </a:stretch>
        </p:blipFill>
        <p:spPr>
          <a:xfrm>
            <a:off x="840882" y="5248290"/>
            <a:ext cx="201900" cy="201900"/>
          </a:xfrm>
          <a:prstGeom prst="rect">
            <a:avLst/>
          </a:prstGeom>
        </p:spPr>
      </p:pic>
      <p:sp>
        <p:nvSpPr>
          <p:cNvPr id="40" name="Text 29"/>
          <p:cNvSpPr txBox="1"/>
          <p:nvPr/>
        </p:nvSpPr>
        <p:spPr>
          <a:xfrm>
            <a:off x="1261872" y="5120640"/>
            <a:ext cx="10241280" cy="457200"/>
          </a:xfrm>
          <a:prstGeom prst="rect">
            <a:avLst/>
          </a:prstGeom>
          <a:noFill/>
          <a:ln/>
        </p:spPr>
        <p:txBody>
          <a:bodyPr wrap="square" lIns="0" tIns="0" rIns="0" bIns="0" rtlCol="0" anchor="ctr"/>
          <a:lstStyle/>
          <a:p>
            <a:pPr indent="0" marL="0">
              <a:buNone/>
            </a:pPr>
            <a:r>
              <a:rPr lang="en-US" sz="1600" b="1" dirty="0">
                <a:solidFill>
                  <a:schemeClr val="tx2"/>
                </a:solidFill>
              </a:rPr>
              <a:t>How onset is declared</a:t>
            </a:r>
            <a:endParaRPr lang="en-US" sz="1600" dirty="0"/>
          </a:p>
        </p:txBody>
      </p:sp>
      <p:sp>
        <p:nvSpPr>
          <p:cNvPr id="41" name="Text 30"/>
          <p:cNvSpPr txBox="1"/>
          <p:nvPr/>
        </p:nvSpPr>
        <p:spPr>
          <a:xfrm>
            <a:off x="731520" y="5669280"/>
            <a:ext cx="10725912" cy="4114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After 10 May: ≥60 % of 14 stations in Kerala &amp; coastal Karnataka report ≥2.5 mm on two consecutive days, plus deep westerlies (up to ~600 hPa) and low OLR (&lt;200 W m⁻²).</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Extended-range forecasting</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Bridging weather and climate: weekly forecasts up to four weeks ahead</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05</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Extended Range Forecast System (ERFS)</a:t>
            </a:r>
            <a:endParaRPr lang="en-US" sz="3200" dirty="0"/>
          </a:p>
        </p:txBody>
      </p:sp>
      <p:sp>
        <p:nvSpPr>
          <p:cNvPr id="4" name="diagram box"/>
          <p:cNvSpPr/>
          <p:nvPr/>
        </p:nvSpPr>
        <p:spPr>
          <a:xfrm>
            <a:off x="548640" y="1417320"/>
            <a:ext cx="2560320" cy="594360"/>
          </a:xfrm>
          <a:prstGeom prst="roundRect">
            <a:avLst>
              <a:gd name="adj" fmla="val 12308"/>
            </a:avLst>
          </a:prstGeom>
          <a:solidFill>
            <a:schemeClr val="accent5"/>
          </a:solidFill>
          <a:ln/>
        </p:spPr>
      </p:sp>
      <p:sp>
        <p:nvSpPr>
          <p:cNvPr id="5" name="Text 2"/>
          <p:cNvSpPr txBox="1"/>
          <p:nvPr/>
        </p:nvSpPr>
        <p:spPr>
          <a:xfrm>
            <a:off x="548640" y="1417320"/>
            <a:ext cx="2560320" cy="594360"/>
          </a:xfrm>
          <a:prstGeom prst="rect">
            <a:avLst/>
          </a:prstGeom>
          <a:noFill/>
          <a:ln/>
        </p:spPr>
        <p:txBody>
          <a:bodyPr wrap="square" lIns="508" tIns="508" rIns="508" bIns="508" rtlCol="0" anchor="ctr"/>
          <a:lstStyle/>
          <a:p>
            <a:pPr algn="ctr" indent="0" marL="0">
              <a:buNone/>
            </a:pPr>
            <a:r>
              <a:rPr lang="en-US" sz="1100" b="1" dirty="0">
                <a:solidFill>
                  <a:schemeClr val="bg1"/>
                </a:solidFill>
              </a:rPr>
              <a:t>CFSv2 T382</a:t>
            </a:r>
            <a:endParaRPr lang="en-US" sz="1100" dirty="0"/>
          </a:p>
          <a:p>
            <a:pPr algn="ctr" indent="0" marL="0">
              <a:buNone/>
            </a:pPr>
            <a:r>
              <a:rPr lang="en-US" sz="1100" dirty="0">
                <a:solidFill>
                  <a:schemeClr val="bg1"/>
                </a:solidFill>
              </a:rPr>
              <a:t>coupled · ≈ 38 km</a:t>
            </a:r>
            <a:endParaRPr lang="en-US" sz="1100" dirty="0"/>
          </a:p>
        </p:txBody>
      </p:sp>
      <p:sp>
        <p:nvSpPr>
          <p:cNvPr id="6" name="arrow"/>
          <p:cNvSpPr/>
          <p:nvPr/>
        </p:nvSpPr>
        <p:spPr>
          <a:xfrm>
            <a:off x="3127248" y="1709928"/>
            <a:ext cx="347472" cy="1078992"/>
          </a:xfrm>
          <a:prstGeom prst="line">
            <a:avLst/>
          </a:prstGeom>
          <a:noFill/>
          <a:ln w="19050">
            <a:solidFill>
              <a:srgbClr val="5F6C72"/>
            </a:solidFill>
            <a:prstDash val="solid"/>
            <a:tailEnd type="triangle"/>
          </a:ln>
        </p:spPr>
      </p:sp>
      <p:sp>
        <p:nvSpPr>
          <p:cNvPr id="7" name="diagram box"/>
          <p:cNvSpPr/>
          <p:nvPr/>
        </p:nvSpPr>
        <p:spPr>
          <a:xfrm>
            <a:off x="548640" y="2103120"/>
            <a:ext cx="2560320" cy="594360"/>
          </a:xfrm>
          <a:prstGeom prst="roundRect">
            <a:avLst>
              <a:gd name="adj" fmla="val 12308"/>
            </a:avLst>
          </a:prstGeom>
          <a:solidFill>
            <a:schemeClr val="accent5"/>
          </a:solidFill>
          <a:ln/>
        </p:spPr>
      </p:sp>
      <p:sp>
        <p:nvSpPr>
          <p:cNvPr id="8" name="Text 5"/>
          <p:cNvSpPr txBox="1"/>
          <p:nvPr/>
        </p:nvSpPr>
        <p:spPr>
          <a:xfrm>
            <a:off x="548640" y="2103120"/>
            <a:ext cx="2560320" cy="594360"/>
          </a:xfrm>
          <a:prstGeom prst="rect">
            <a:avLst/>
          </a:prstGeom>
          <a:noFill/>
          <a:ln/>
        </p:spPr>
        <p:txBody>
          <a:bodyPr wrap="square" lIns="508" tIns="508" rIns="508" bIns="508" rtlCol="0" anchor="ctr"/>
          <a:lstStyle/>
          <a:p>
            <a:pPr algn="ctr" indent="0" marL="0">
              <a:buNone/>
            </a:pPr>
            <a:r>
              <a:rPr lang="en-US" sz="1100" b="1" dirty="0">
                <a:solidFill>
                  <a:schemeClr val="bg1"/>
                </a:solidFill>
              </a:rPr>
              <a:t>CFSv2 T126</a:t>
            </a:r>
            <a:endParaRPr lang="en-US" sz="1100" dirty="0"/>
          </a:p>
          <a:p>
            <a:pPr algn="ctr" indent="0" marL="0">
              <a:buNone/>
            </a:pPr>
            <a:r>
              <a:rPr lang="en-US" sz="1100" dirty="0">
                <a:solidFill>
                  <a:schemeClr val="bg1"/>
                </a:solidFill>
              </a:rPr>
              <a:t>coupled · ≈ 100 km</a:t>
            </a:r>
            <a:endParaRPr lang="en-US" sz="1100" dirty="0"/>
          </a:p>
        </p:txBody>
      </p:sp>
      <p:sp>
        <p:nvSpPr>
          <p:cNvPr id="9" name="arrow"/>
          <p:cNvSpPr/>
          <p:nvPr/>
        </p:nvSpPr>
        <p:spPr>
          <a:xfrm>
            <a:off x="3127248" y="2395728"/>
            <a:ext cx="347472" cy="393192"/>
          </a:xfrm>
          <a:prstGeom prst="line">
            <a:avLst/>
          </a:prstGeom>
          <a:noFill/>
          <a:ln w="19050">
            <a:solidFill>
              <a:srgbClr val="5F6C72"/>
            </a:solidFill>
            <a:prstDash val="solid"/>
            <a:tailEnd type="triangle"/>
          </a:ln>
        </p:spPr>
      </p:sp>
      <p:sp>
        <p:nvSpPr>
          <p:cNvPr id="10" name="diagram box"/>
          <p:cNvSpPr/>
          <p:nvPr/>
        </p:nvSpPr>
        <p:spPr>
          <a:xfrm>
            <a:off x="548640" y="2788920"/>
            <a:ext cx="2560320" cy="594360"/>
          </a:xfrm>
          <a:prstGeom prst="roundRect">
            <a:avLst>
              <a:gd name="adj" fmla="val 12308"/>
            </a:avLst>
          </a:prstGeom>
          <a:solidFill>
            <a:schemeClr val="accent1"/>
          </a:solidFill>
          <a:ln/>
        </p:spPr>
      </p:sp>
      <p:sp>
        <p:nvSpPr>
          <p:cNvPr id="11" name="Text 8"/>
          <p:cNvSpPr txBox="1"/>
          <p:nvPr/>
        </p:nvSpPr>
        <p:spPr>
          <a:xfrm>
            <a:off x="548640" y="2788920"/>
            <a:ext cx="2560320" cy="594360"/>
          </a:xfrm>
          <a:prstGeom prst="rect">
            <a:avLst/>
          </a:prstGeom>
          <a:noFill/>
          <a:ln/>
        </p:spPr>
        <p:txBody>
          <a:bodyPr wrap="square" lIns="508" tIns="508" rIns="508" bIns="508" rtlCol="0" anchor="ctr"/>
          <a:lstStyle/>
          <a:p>
            <a:pPr algn="ctr" indent="0" marL="0">
              <a:buNone/>
            </a:pPr>
            <a:r>
              <a:rPr lang="en-US" sz="1100" b="1" dirty="0">
                <a:solidFill>
                  <a:schemeClr val="bg1"/>
                </a:solidFill>
              </a:rPr>
              <a:t>GFSbc T382</a:t>
            </a:r>
            <a:endParaRPr lang="en-US" sz="1100" dirty="0"/>
          </a:p>
          <a:p>
            <a:pPr algn="ctr" indent="0" marL="0">
              <a:buNone/>
            </a:pPr>
            <a:r>
              <a:rPr lang="en-US" sz="1100" dirty="0">
                <a:solidFill>
                  <a:schemeClr val="bg1"/>
                </a:solidFill>
              </a:rPr>
              <a:t>SST from bias-corrected CFS</a:t>
            </a:r>
            <a:endParaRPr lang="en-US" sz="1100" dirty="0"/>
          </a:p>
        </p:txBody>
      </p:sp>
      <p:sp>
        <p:nvSpPr>
          <p:cNvPr id="12" name="arrow"/>
          <p:cNvSpPr/>
          <p:nvPr/>
        </p:nvSpPr>
        <p:spPr>
          <a:xfrm flipV="1">
            <a:off x="3127248" y="2788920"/>
            <a:ext cx="347472" cy="292608"/>
          </a:xfrm>
          <a:prstGeom prst="line">
            <a:avLst/>
          </a:prstGeom>
          <a:noFill/>
          <a:ln w="19050">
            <a:solidFill>
              <a:srgbClr val="5F6C72"/>
            </a:solidFill>
            <a:prstDash val="solid"/>
            <a:tailEnd type="triangle"/>
          </a:ln>
        </p:spPr>
      </p:sp>
      <p:sp>
        <p:nvSpPr>
          <p:cNvPr id="13" name="diagram box"/>
          <p:cNvSpPr/>
          <p:nvPr/>
        </p:nvSpPr>
        <p:spPr>
          <a:xfrm>
            <a:off x="548640" y="3474720"/>
            <a:ext cx="2560320" cy="594360"/>
          </a:xfrm>
          <a:prstGeom prst="roundRect">
            <a:avLst>
              <a:gd name="adj" fmla="val 12308"/>
            </a:avLst>
          </a:prstGeom>
          <a:solidFill>
            <a:schemeClr val="accent1"/>
          </a:solidFill>
          <a:ln/>
        </p:spPr>
      </p:sp>
      <p:sp>
        <p:nvSpPr>
          <p:cNvPr id="14" name="Text 11"/>
          <p:cNvSpPr txBox="1"/>
          <p:nvPr/>
        </p:nvSpPr>
        <p:spPr>
          <a:xfrm>
            <a:off x="548640" y="3474720"/>
            <a:ext cx="2560320" cy="594360"/>
          </a:xfrm>
          <a:prstGeom prst="rect">
            <a:avLst/>
          </a:prstGeom>
          <a:noFill/>
          <a:ln/>
        </p:spPr>
        <p:txBody>
          <a:bodyPr wrap="square" lIns="508" tIns="508" rIns="508" bIns="508" rtlCol="0" anchor="ctr"/>
          <a:lstStyle/>
          <a:p>
            <a:pPr algn="ctr" indent="0" marL="0">
              <a:buNone/>
            </a:pPr>
            <a:r>
              <a:rPr lang="en-US" sz="1100" b="1" dirty="0">
                <a:solidFill>
                  <a:schemeClr val="bg1"/>
                </a:solidFill>
              </a:rPr>
              <a:t>GFSbc T126</a:t>
            </a:r>
            <a:endParaRPr lang="en-US" sz="1100" dirty="0"/>
          </a:p>
          <a:p>
            <a:pPr algn="ctr" indent="0" marL="0">
              <a:buNone/>
            </a:pPr>
            <a:r>
              <a:rPr lang="en-US" sz="1100" dirty="0">
                <a:solidFill>
                  <a:schemeClr val="bg1"/>
                </a:solidFill>
              </a:rPr>
              <a:t>SST from bias-corrected CFS</a:t>
            </a:r>
            <a:endParaRPr lang="en-US" sz="1100" dirty="0"/>
          </a:p>
        </p:txBody>
      </p:sp>
      <p:sp>
        <p:nvSpPr>
          <p:cNvPr id="15" name="arrow"/>
          <p:cNvSpPr/>
          <p:nvPr/>
        </p:nvSpPr>
        <p:spPr>
          <a:xfrm flipV="1">
            <a:off x="3127248" y="2788920"/>
            <a:ext cx="347472" cy="978408"/>
          </a:xfrm>
          <a:prstGeom prst="line">
            <a:avLst/>
          </a:prstGeom>
          <a:noFill/>
          <a:ln w="19050">
            <a:solidFill>
              <a:srgbClr val="5F6C72"/>
            </a:solidFill>
            <a:prstDash val="solid"/>
            <a:tailEnd type="triangle"/>
          </a:ln>
        </p:spPr>
      </p:sp>
      <p:sp>
        <p:nvSpPr>
          <p:cNvPr id="16" name="diagram box"/>
          <p:cNvSpPr/>
          <p:nvPr/>
        </p:nvSpPr>
        <p:spPr>
          <a:xfrm>
            <a:off x="3520440" y="2240280"/>
            <a:ext cx="1737360" cy="1097280"/>
          </a:xfrm>
          <a:prstGeom prst="roundRect">
            <a:avLst>
              <a:gd name="adj" fmla="val 6667"/>
            </a:avLst>
          </a:prstGeom>
          <a:solidFill>
            <a:schemeClr val="tx2"/>
          </a:solidFill>
          <a:ln/>
        </p:spPr>
      </p:sp>
      <p:sp>
        <p:nvSpPr>
          <p:cNvPr id="17" name="Text 14"/>
          <p:cNvSpPr txBox="1"/>
          <p:nvPr/>
        </p:nvSpPr>
        <p:spPr>
          <a:xfrm>
            <a:off x="3520440" y="2240280"/>
            <a:ext cx="1737360" cy="1097280"/>
          </a:xfrm>
          <a:prstGeom prst="rect">
            <a:avLst/>
          </a:prstGeom>
          <a:noFill/>
          <a:ln/>
        </p:spPr>
        <p:txBody>
          <a:bodyPr wrap="square" lIns="508" tIns="508" rIns="508" bIns="508" rtlCol="0" anchor="ctr"/>
          <a:lstStyle/>
          <a:p>
            <a:pPr algn="ctr" indent="0" marL="0">
              <a:buNone/>
            </a:pPr>
            <a:r>
              <a:rPr lang="en-US" sz="1400" dirty="0">
                <a:solidFill>
                  <a:schemeClr val="bg1"/>
                </a:solidFill>
              </a:rPr>
              <a:t>MME</a:t>
            </a:r>
            <a:endParaRPr lang="en-US" sz="1400" dirty="0"/>
          </a:p>
          <a:p>
            <a:pPr algn="ctr" indent="0" marL="0">
              <a:buNone/>
            </a:pPr>
            <a:r>
              <a:rPr lang="en-US" sz="1400" dirty="0">
                <a:solidFill>
                  <a:schemeClr val="bg1"/>
                </a:solidFill>
              </a:rPr>
              <a:t>≈ 16 members each</a:t>
            </a:r>
            <a:endParaRPr lang="en-US" sz="1400" dirty="0"/>
          </a:p>
        </p:txBody>
      </p:sp>
      <p:sp>
        <p:nvSpPr>
          <p:cNvPr id="18" name="Text 15"/>
          <p:cNvSpPr txBox="1"/>
          <p:nvPr/>
        </p:nvSpPr>
        <p:spPr>
          <a:xfrm>
            <a:off x="3520440" y="3383280"/>
            <a:ext cx="1737360" cy="274320"/>
          </a:xfrm>
          <a:prstGeom prst="rect">
            <a:avLst/>
          </a:prstGeom>
          <a:noFill/>
          <a:ln/>
        </p:spPr>
        <p:txBody>
          <a:bodyPr wrap="square" lIns="508" tIns="508" rIns="508" bIns="508" rtlCol="0" anchor="t"/>
          <a:lstStyle/>
          <a:p>
            <a:pPr indent="0" marL="0">
              <a:spcAft>
                <a:spcPts val="600"/>
              </a:spcAft>
              <a:buNone/>
            </a:pPr>
            <a:r>
              <a:rPr lang="en-US" sz="1000" i="1" dirty="0">
                <a:solidFill>
                  <a:schemeClr val="accent6"/>
                </a:solidFill>
              </a:rPr>
              <a:t>Member count approximate.</a:t>
            </a:r>
            <a:endParaRPr lang="en-US" sz="1000" dirty="0"/>
          </a:p>
        </p:txBody>
      </p:sp>
      <p:sp>
        <p:nvSpPr>
          <p:cNvPr id="19" name="arrow"/>
          <p:cNvSpPr/>
          <p:nvPr/>
        </p:nvSpPr>
        <p:spPr>
          <a:xfrm>
            <a:off x="5276088" y="2788920"/>
            <a:ext cx="438912" cy="0"/>
          </a:xfrm>
          <a:prstGeom prst="line">
            <a:avLst/>
          </a:prstGeom>
          <a:noFill/>
          <a:ln w="31750">
            <a:solidFill>
              <a:srgbClr val="0E3B43"/>
            </a:solidFill>
            <a:prstDash val="solid"/>
            <a:tailEnd type="triangle"/>
          </a:ln>
        </p:spPr>
      </p:sp>
      <p:sp>
        <p:nvSpPr>
          <p:cNvPr id="20" name="week"/>
          <p:cNvSpPr/>
          <p:nvPr/>
        </p:nvSpPr>
        <p:spPr>
          <a:xfrm>
            <a:off x="5760720" y="2148840"/>
            <a:ext cx="1371600" cy="1280160"/>
          </a:xfrm>
          <a:prstGeom prst="roundRect">
            <a:avLst>
              <a:gd name="adj" fmla="val 5714"/>
            </a:avLst>
          </a:prstGeom>
          <a:solidFill>
            <a:schemeClr val="accent4"/>
          </a:solidFill>
          <a:ln/>
        </p:spPr>
      </p:sp>
      <p:sp>
        <p:nvSpPr>
          <p:cNvPr id="21" name="Text 18"/>
          <p:cNvSpPr txBox="1"/>
          <p:nvPr/>
        </p:nvSpPr>
        <p:spPr>
          <a:xfrm>
            <a:off x="5760720" y="2148840"/>
            <a:ext cx="1371600" cy="1280160"/>
          </a:xfrm>
          <a:prstGeom prst="rect">
            <a:avLst/>
          </a:prstGeom>
          <a:noFill/>
          <a:ln/>
        </p:spPr>
        <p:txBody>
          <a:bodyPr wrap="square" lIns="0" tIns="0" rIns="0" bIns="0" rtlCol="0" anchor="ctr"/>
          <a:lstStyle/>
          <a:p>
            <a:pPr algn="ctr" indent="0" marL="0">
              <a:buNone/>
            </a:pPr>
            <a:r>
              <a:rPr lang="en-US" sz="1500" b="1" dirty="0">
                <a:solidFill>
                  <a:schemeClr val="bg1"/>
                </a:solidFill>
              </a:rPr>
              <a:t>Week 1</a:t>
            </a:r>
            <a:endParaRPr lang="en-US" sz="1500" dirty="0"/>
          </a:p>
          <a:p>
            <a:pPr algn="ctr" indent="0" marL="0">
              <a:buNone/>
            </a:pPr>
            <a:r>
              <a:rPr lang="en-US" sz="1100" dirty="0">
                <a:solidFill>
                  <a:schemeClr val="bg1"/>
                </a:solidFill>
              </a:rPr>
              <a:t>days 2–8</a:t>
            </a:r>
            <a:endParaRPr lang="en-US" sz="1500" dirty="0"/>
          </a:p>
        </p:txBody>
      </p:sp>
      <p:sp>
        <p:nvSpPr>
          <p:cNvPr id="22" name="week"/>
          <p:cNvSpPr/>
          <p:nvPr/>
        </p:nvSpPr>
        <p:spPr>
          <a:xfrm>
            <a:off x="7242048" y="2148840"/>
            <a:ext cx="1371600" cy="1280160"/>
          </a:xfrm>
          <a:prstGeom prst="roundRect">
            <a:avLst>
              <a:gd name="adj" fmla="val 5714"/>
            </a:avLst>
          </a:prstGeom>
          <a:solidFill>
            <a:schemeClr val="accent4"/>
          </a:solidFill>
          <a:ln/>
        </p:spPr>
      </p:sp>
      <p:sp>
        <p:nvSpPr>
          <p:cNvPr id="23" name="Text 20"/>
          <p:cNvSpPr txBox="1"/>
          <p:nvPr/>
        </p:nvSpPr>
        <p:spPr>
          <a:xfrm>
            <a:off x="7242048" y="2148840"/>
            <a:ext cx="1371600" cy="1280160"/>
          </a:xfrm>
          <a:prstGeom prst="rect">
            <a:avLst/>
          </a:prstGeom>
          <a:noFill/>
          <a:ln/>
        </p:spPr>
        <p:txBody>
          <a:bodyPr wrap="square" lIns="0" tIns="0" rIns="0" bIns="0" rtlCol="0" anchor="ctr"/>
          <a:lstStyle/>
          <a:p>
            <a:pPr algn="ctr" indent="0" marL="0">
              <a:buNone/>
            </a:pPr>
            <a:r>
              <a:rPr lang="en-US" sz="1500" b="1" dirty="0">
                <a:solidFill>
                  <a:schemeClr val="bg1"/>
                </a:solidFill>
              </a:rPr>
              <a:t>Week 2</a:t>
            </a:r>
            <a:endParaRPr lang="en-US" sz="1500" dirty="0"/>
          </a:p>
          <a:p>
            <a:pPr algn="ctr" indent="0" marL="0">
              <a:buNone/>
            </a:pPr>
            <a:r>
              <a:rPr lang="en-US" sz="1100" dirty="0">
                <a:solidFill>
                  <a:schemeClr val="bg1"/>
                </a:solidFill>
              </a:rPr>
              <a:t>days 9–15</a:t>
            </a:r>
            <a:endParaRPr lang="en-US" sz="1500" dirty="0"/>
          </a:p>
        </p:txBody>
      </p:sp>
      <p:sp>
        <p:nvSpPr>
          <p:cNvPr id="24" name="week"/>
          <p:cNvSpPr/>
          <p:nvPr/>
        </p:nvSpPr>
        <p:spPr>
          <a:xfrm>
            <a:off x="8723376" y="2148840"/>
            <a:ext cx="1371600" cy="1280160"/>
          </a:xfrm>
          <a:prstGeom prst="roundRect">
            <a:avLst>
              <a:gd name="adj" fmla="val 5714"/>
            </a:avLst>
          </a:prstGeom>
          <a:solidFill>
            <a:schemeClr val="accent4"/>
          </a:solidFill>
          <a:ln/>
        </p:spPr>
      </p:sp>
      <p:sp>
        <p:nvSpPr>
          <p:cNvPr id="25" name="Text 22"/>
          <p:cNvSpPr txBox="1"/>
          <p:nvPr/>
        </p:nvSpPr>
        <p:spPr>
          <a:xfrm>
            <a:off x="8723376" y="2148840"/>
            <a:ext cx="1371600" cy="1280160"/>
          </a:xfrm>
          <a:prstGeom prst="rect">
            <a:avLst/>
          </a:prstGeom>
          <a:noFill/>
          <a:ln/>
        </p:spPr>
        <p:txBody>
          <a:bodyPr wrap="square" lIns="0" tIns="0" rIns="0" bIns="0" rtlCol="0" anchor="ctr"/>
          <a:lstStyle/>
          <a:p>
            <a:pPr algn="ctr" indent="0" marL="0">
              <a:buNone/>
            </a:pPr>
            <a:r>
              <a:rPr lang="en-US" sz="1500" b="1" dirty="0">
                <a:solidFill>
                  <a:schemeClr val="bg1"/>
                </a:solidFill>
              </a:rPr>
              <a:t>Week 3</a:t>
            </a:r>
            <a:endParaRPr lang="en-US" sz="1500" dirty="0"/>
          </a:p>
          <a:p>
            <a:pPr algn="ctr" indent="0" marL="0">
              <a:buNone/>
            </a:pPr>
            <a:r>
              <a:rPr lang="en-US" sz="1100" dirty="0">
                <a:solidFill>
                  <a:schemeClr val="bg1"/>
                </a:solidFill>
              </a:rPr>
              <a:t>days 16–22</a:t>
            </a:r>
            <a:endParaRPr lang="en-US" sz="1500" dirty="0"/>
          </a:p>
        </p:txBody>
      </p:sp>
      <p:sp>
        <p:nvSpPr>
          <p:cNvPr id="26" name="week"/>
          <p:cNvSpPr/>
          <p:nvPr/>
        </p:nvSpPr>
        <p:spPr>
          <a:xfrm>
            <a:off x="10204704" y="2148840"/>
            <a:ext cx="1371600" cy="1280160"/>
          </a:xfrm>
          <a:prstGeom prst="roundRect">
            <a:avLst>
              <a:gd name="adj" fmla="val 5714"/>
            </a:avLst>
          </a:prstGeom>
          <a:solidFill>
            <a:schemeClr val="accent4"/>
          </a:solidFill>
          <a:ln/>
        </p:spPr>
      </p:sp>
      <p:sp>
        <p:nvSpPr>
          <p:cNvPr id="27" name="Text 24"/>
          <p:cNvSpPr txBox="1"/>
          <p:nvPr/>
        </p:nvSpPr>
        <p:spPr>
          <a:xfrm>
            <a:off x="10204704" y="2148840"/>
            <a:ext cx="1371600" cy="1280160"/>
          </a:xfrm>
          <a:prstGeom prst="rect">
            <a:avLst/>
          </a:prstGeom>
          <a:noFill/>
          <a:ln/>
        </p:spPr>
        <p:txBody>
          <a:bodyPr wrap="square" lIns="0" tIns="0" rIns="0" bIns="0" rtlCol="0" anchor="ctr"/>
          <a:lstStyle/>
          <a:p>
            <a:pPr algn="ctr" indent="0" marL="0">
              <a:buNone/>
            </a:pPr>
            <a:r>
              <a:rPr lang="en-US" sz="1500" b="1" dirty="0">
                <a:solidFill>
                  <a:schemeClr val="bg1"/>
                </a:solidFill>
              </a:rPr>
              <a:t>Week 4</a:t>
            </a:r>
            <a:endParaRPr lang="en-US" sz="1500" dirty="0"/>
          </a:p>
          <a:p>
            <a:pPr algn="ctr" indent="0" marL="0">
              <a:buNone/>
            </a:pPr>
            <a:r>
              <a:rPr lang="en-US" sz="1100" dirty="0">
                <a:solidFill>
                  <a:schemeClr val="bg1"/>
                </a:solidFill>
              </a:rPr>
              <a:t>days 23–29</a:t>
            </a:r>
            <a:endParaRPr lang="en-US" sz="1500" dirty="0"/>
          </a:p>
        </p:txBody>
      </p:sp>
      <p:sp>
        <p:nvSpPr>
          <p:cNvPr id="28" name="Text 25"/>
          <p:cNvSpPr txBox="1"/>
          <p:nvPr/>
        </p:nvSpPr>
        <p:spPr>
          <a:xfrm>
            <a:off x="5760720" y="3474720"/>
            <a:ext cx="5852160" cy="274320"/>
          </a:xfrm>
          <a:prstGeom prst="rect">
            <a:avLst/>
          </a:prstGeom>
          <a:noFill/>
          <a:ln/>
        </p:spPr>
        <p:txBody>
          <a:bodyPr wrap="square" lIns="0" tIns="0" rIns="0" bIns="0" rtlCol="0" anchor="ctr"/>
          <a:lstStyle/>
          <a:p>
            <a:pPr algn="r" indent="0" marL="0">
              <a:buNone/>
            </a:pPr>
            <a:r>
              <a:rPr lang="en-US" sz="1100" i="1" dirty="0">
                <a:solidFill>
                  <a:schemeClr val="accent6"/>
                </a:solidFill>
              </a:rPr>
              <a:t>Skill decreases with lead time →</a:t>
            </a:r>
            <a:endParaRPr lang="en-US" sz="1100" dirty="0"/>
          </a:p>
        </p:txBody>
      </p:sp>
      <p:sp>
        <p:nvSpPr>
          <p:cNvPr id="29" name="Text 26"/>
          <p:cNvSpPr txBox="1"/>
          <p:nvPr/>
        </p:nvSpPr>
        <p:spPr>
          <a:xfrm>
            <a:off x="5760720" y="1554480"/>
            <a:ext cx="5852160" cy="365760"/>
          </a:xfrm>
          <a:prstGeom prst="rect">
            <a:avLst/>
          </a:prstGeom>
          <a:noFill/>
          <a:ln/>
        </p:spPr>
        <p:txBody>
          <a:bodyPr wrap="square" lIns="0" tIns="0" rIns="0" bIns="0" rtlCol="0" anchor="ctr"/>
          <a:lstStyle/>
          <a:p>
            <a:pPr algn="l" indent="0" marL="0">
              <a:buNone/>
            </a:pPr>
            <a:r>
              <a:rPr lang="en-US" sz="1400" b="1" dirty="0">
                <a:solidFill>
                  <a:schemeClr val="tx2"/>
                </a:solidFill>
              </a:rPr>
              <a:t>Initialised Wednesday · issued Thursday</a:t>
            </a:r>
            <a:endParaRPr lang="en-US" sz="1400" dirty="0"/>
          </a:p>
        </p:txBody>
      </p:sp>
      <p:sp>
        <p:nvSpPr>
          <p:cNvPr id="30" name="card"/>
          <p:cNvSpPr/>
          <p:nvPr/>
        </p:nvSpPr>
        <p:spPr>
          <a:xfrm>
            <a:off x="548640" y="4251960"/>
            <a:ext cx="2651760"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31" name="icon circle"/>
          <p:cNvSpPr/>
          <p:nvPr/>
        </p:nvSpPr>
        <p:spPr>
          <a:xfrm>
            <a:off x="731520" y="4407408"/>
            <a:ext cx="420624" cy="420624"/>
          </a:xfrm>
          <a:prstGeom prst="ellipse">
            <a:avLst/>
          </a:prstGeom>
          <a:solidFill>
            <a:schemeClr val="accent4"/>
          </a:solidFill>
          <a:ln/>
        </p:spPr>
      </p:sp>
      <p:pic>
        <p:nvPicPr>
          <p:cNvPr id="32" name="Image 0" descr="CloudRain icon">    </p:cNvPr>
          <p:cNvPicPr>
            <a:picLocks noChangeAspect="1"/>
          </p:cNvPicPr>
          <p:nvPr/>
        </p:nvPicPr>
        <p:blipFill>
          <a:blip r:embed="rId1"/>
          <a:stretch>
            <a:fillRect/>
          </a:stretch>
        </p:blipFill>
        <p:spPr>
          <a:xfrm>
            <a:off x="840882" y="4516770"/>
            <a:ext cx="201900" cy="201900"/>
          </a:xfrm>
          <a:prstGeom prst="rect">
            <a:avLst/>
          </a:prstGeom>
        </p:spPr>
      </p:pic>
      <p:sp>
        <p:nvSpPr>
          <p:cNvPr id="33" name="Text 29"/>
          <p:cNvSpPr txBox="1"/>
          <p:nvPr/>
        </p:nvSpPr>
        <p:spPr>
          <a:xfrm>
            <a:off x="1261872" y="438912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Rainfall &amp; temperature</a:t>
            </a:r>
            <a:endParaRPr lang="en-US" sz="1600" dirty="0"/>
          </a:p>
        </p:txBody>
      </p:sp>
      <p:sp>
        <p:nvSpPr>
          <p:cNvPr id="34" name="Text 30"/>
          <p:cNvSpPr txBox="1"/>
          <p:nvPr/>
        </p:nvSpPr>
        <p:spPr>
          <a:xfrm>
            <a:off x="731520" y="4937760"/>
            <a:ext cx="2286000" cy="11430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Weekly anomaly maps by sub-division</a:t>
            </a:r>
            <a:endParaRPr lang="en-US" sz="1300" dirty="0"/>
          </a:p>
        </p:txBody>
      </p:sp>
      <p:sp>
        <p:nvSpPr>
          <p:cNvPr id="35" name="card"/>
          <p:cNvSpPr/>
          <p:nvPr/>
        </p:nvSpPr>
        <p:spPr>
          <a:xfrm>
            <a:off x="3364992" y="4251960"/>
            <a:ext cx="2651760"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36" name="icon circle"/>
          <p:cNvSpPr/>
          <p:nvPr/>
        </p:nvSpPr>
        <p:spPr>
          <a:xfrm>
            <a:off x="3547872" y="4407408"/>
            <a:ext cx="420624" cy="420624"/>
          </a:xfrm>
          <a:prstGeom prst="ellipse">
            <a:avLst/>
          </a:prstGeom>
          <a:solidFill>
            <a:schemeClr val="accent4"/>
          </a:solidFill>
          <a:ln/>
        </p:spPr>
      </p:sp>
      <p:pic>
        <p:nvPicPr>
          <p:cNvPr id="37" name="Image 1" descr="SyncAlt icon">    </p:cNvPr>
          <p:cNvPicPr>
            <a:picLocks noChangeAspect="1"/>
          </p:cNvPicPr>
          <p:nvPr/>
        </p:nvPicPr>
        <p:blipFill>
          <a:blip r:embed="rId2"/>
          <a:stretch>
            <a:fillRect/>
          </a:stretch>
        </p:blipFill>
        <p:spPr>
          <a:xfrm>
            <a:off x="3657234" y="4516770"/>
            <a:ext cx="201900" cy="201900"/>
          </a:xfrm>
          <a:prstGeom prst="rect">
            <a:avLst/>
          </a:prstGeom>
        </p:spPr>
      </p:pic>
      <p:sp>
        <p:nvSpPr>
          <p:cNvPr id="38" name="Text 33"/>
          <p:cNvSpPr txBox="1"/>
          <p:nvPr/>
        </p:nvSpPr>
        <p:spPr>
          <a:xfrm>
            <a:off x="4078224" y="438912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Active / break spells</a:t>
            </a:r>
            <a:endParaRPr lang="en-US" sz="1600" dirty="0"/>
          </a:p>
        </p:txBody>
      </p:sp>
      <p:sp>
        <p:nvSpPr>
          <p:cNvPr id="39" name="Text 34"/>
          <p:cNvSpPr txBox="1"/>
          <p:nvPr/>
        </p:nvSpPr>
        <p:spPr>
          <a:xfrm>
            <a:off x="3547872" y="4937760"/>
            <a:ext cx="2286000" cy="11430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Monsoon intraseasonal oscillation outlook</a:t>
            </a:r>
            <a:endParaRPr lang="en-US" sz="1300" dirty="0"/>
          </a:p>
        </p:txBody>
      </p:sp>
      <p:sp>
        <p:nvSpPr>
          <p:cNvPr id="40" name="card"/>
          <p:cNvSpPr/>
          <p:nvPr/>
        </p:nvSpPr>
        <p:spPr>
          <a:xfrm>
            <a:off x="6181344" y="4251960"/>
            <a:ext cx="2651760"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41" name="icon circle"/>
          <p:cNvSpPr/>
          <p:nvPr/>
        </p:nvSpPr>
        <p:spPr>
          <a:xfrm>
            <a:off x="6364224" y="4407408"/>
            <a:ext cx="420624" cy="420624"/>
          </a:xfrm>
          <a:prstGeom prst="ellipse">
            <a:avLst/>
          </a:prstGeom>
          <a:solidFill>
            <a:schemeClr val="accent4"/>
          </a:solidFill>
          <a:ln/>
        </p:spPr>
      </p:sp>
      <p:pic>
        <p:nvPicPr>
          <p:cNvPr id="42" name="Image 2" descr="Route icon">    </p:cNvPr>
          <p:cNvPicPr>
            <a:picLocks noChangeAspect="1"/>
          </p:cNvPicPr>
          <p:nvPr/>
        </p:nvPicPr>
        <p:blipFill>
          <a:blip r:embed="rId3"/>
          <a:stretch>
            <a:fillRect/>
          </a:stretch>
        </p:blipFill>
        <p:spPr>
          <a:xfrm>
            <a:off x="6473586" y="4516770"/>
            <a:ext cx="201900" cy="201900"/>
          </a:xfrm>
          <a:prstGeom prst="rect">
            <a:avLst/>
          </a:prstGeom>
        </p:spPr>
      </p:pic>
      <p:sp>
        <p:nvSpPr>
          <p:cNvPr id="43" name="Text 37"/>
          <p:cNvSpPr txBox="1"/>
          <p:nvPr/>
        </p:nvSpPr>
        <p:spPr>
          <a:xfrm>
            <a:off x="6894576" y="438912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Onset &amp; withdrawal</a:t>
            </a:r>
            <a:endParaRPr lang="en-US" sz="1600" dirty="0"/>
          </a:p>
        </p:txBody>
      </p:sp>
      <p:sp>
        <p:nvSpPr>
          <p:cNvPr id="44" name="Text 38"/>
          <p:cNvSpPr txBox="1"/>
          <p:nvPr/>
        </p:nvSpPr>
        <p:spPr>
          <a:xfrm>
            <a:off x="6364224" y="4937760"/>
            <a:ext cx="2286000" cy="11430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Progress of the monsoon front</a:t>
            </a:r>
            <a:endParaRPr lang="en-US" sz="1300" dirty="0"/>
          </a:p>
        </p:txBody>
      </p:sp>
      <p:sp>
        <p:nvSpPr>
          <p:cNvPr id="45" name="card"/>
          <p:cNvSpPr/>
          <p:nvPr/>
        </p:nvSpPr>
        <p:spPr>
          <a:xfrm>
            <a:off x="8997696" y="4251960"/>
            <a:ext cx="2651760"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46" name="icon circle"/>
          <p:cNvSpPr/>
          <p:nvPr/>
        </p:nvSpPr>
        <p:spPr>
          <a:xfrm>
            <a:off x="9180576" y="4407408"/>
            <a:ext cx="420624" cy="420624"/>
          </a:xfrm>
          <a:prstGeom prst="ellipse">
            <a:avLst/>
          </a:prstGeom>
          <a:solidFill>
            <a:schemeClr val="accent4"/>
          </a:solidFill>
          <a:ln/>
        </p:spPr>
      </p:sp>
      <p:pic>
        <p:nvPicPr>
          <p:cNvPr id="47" name="Image 3" descr="Wind icon">    </p:cNvPr>
          <p:cNvPicPr>
            <a:picLocks noChangeAspect="1"/>
          </p:cNvPicPr>
          <p:nvPr/>
        </p:nvPicPr>
        <p:blipFill>
          <a:blip r:embed="rId4"/>
          <a:stretch>
            <a:fillRect/>
          </a:stretch>
        </p:blipFill>
        <p:spPr>
          <a:xfrm>
            <a:off x="9289938" y="4516770"/>
            <a:ext cx="201900" cy="201900"/>
          </a:xfrm>
          <a:prstGeom prst="rect">
            <a:avLst/>
          </a:prstGeom>
        </p:spPr>
      </p:pic>
      <p:sp>
        <p:nvSpPr>
          <p:cNvPr id="48" name="Text 41"/>
          <p:cNvSpPr txBox="1"/>
          <p:nvPr/>
        </p:nvSpPr>
        <p:spPr>
          <a:xfrm>
            <a:off x="9710928" y="438912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Cyclogenesis</a:t>
            </a:r>
            <a:endParaRPr lang="en-US" sz="1600" dirty="0"/>
          </a:p>
        </p:txBody>
      </p:sp>
      <p:sp>
        <p:nvSpPr>
          <p:cNvPr id="49" name="Text 42"/>
          <p:cNvSpPr txBox="1"/>
          <p:nvPr/>
        </p:nvSpPr>
        <p:spPr>
          <a:xfrm>
            <a:off x="9180576" y="4937760"/>
            <a:ext cx="2286000" cy="11430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Probability of lows &amp; cyclones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Active spells, breaks and the MISO</a:t>
            </a:r>
            <a:endParaRPr lang="en-US" sz="3200" dirty="0"/>
          </a:p>
        </p:txBody>
      </p:sp>
      <p:sp>
        <p:nvSpPr>
          <p:cNvPr id="4" name="rain band"/>
          <p:cNvSpPr/>
          <p:nvPr/>
        </p:nvSpPr>
        <p:spPr>
          <a:xfrm>
            <a:off x="1280160" y="4937760"/>
            <a:ext cx="2926080" cy="777240"/>
          </a:xfrm>
          <a:prstGeom prst="roundRect">
            <a:avLst>
              <a:gd name="adj" fmla="val 11765"/>
            </a:avLst>
          </a:prstGeom>
          <a:solidFill>
            <a:schemeClr val="accent5"/>
          </a:solidFill>
          <a:ln/>
        </p:spPr>
      </p:sp>
      <p:sp>
        <p:nvSpPr>
          <p:cNvPr id="5" name="Text 2"/>
          <p:cNvSpPr txBox="1"/>
          <p:nvPr/>
        </p:nvSpPr>
        <p:spPr>
          <a:xfrm>
            <a:off x="1280160" y="4937760"/>
            <a:ext cx="2926080" cy="777240"/>
          </a:xfrm>
          <a:prstGeom prst="rect">
            <a:avLst/>
          </a:prstGeom>
          <a:noFill/>
          <a:ln/>
        </p:spPr>
        <p:txBody>
          <a:bodyPr wrap="square" lIns="0" tIns="0" rIns="0" bIns="0" rtlCol="0" anchor="ctr"/>
          <a:lstStyle/>
          <a:p>
            <a:pPr algn="ctr" indent="0" marL="0">
              <a:buNone/>
            </a:pPr>
            <a:r>
              <a:rPr lang="en-US" sz="1400" b="1" dirty="0">
                <a:solidFill>
                  <a:schemeClr val="bg1"/>
                </a:solidFill>
              </a:rPr>
              <a:t>Equatorial Indian Ocean</a:t>
            </a:r>
            <a:endParaRPr lang="en-US" sz="1400" dirty="0"/>
          </a:p>
        </p:txBody>
      </p:sp>
      <p:sp>
        <p:nvSpPr>
          <p:cNvPr id="6" name="Text 3"/>
          <p:cNvSpPr txBox="1"/>
          <p:nvPr/>
        </p:nvSpPr>
        <p:spPr>
          <a:xfrm>
            <a:off x="4389120" y="4937760"/>
            <a:ext cx="3017520" cy="777240"/>
          </a:xfrm>
          <a:prstGeom prst="rect">
            <a:avLst/>
          </a:prstGeom>
          <a:noFill/>
          <a:ln/>
        </p:spPr>
        <p:txBody>
          <a:bodyPr wrap="square" lIns="0" tIns="0" rIns="0" bIns="0" rtlCol="0" anchor="ctr"/>
          <a:lstStyle/>
          <a:p>
            <a:pPr algn="l" indent="0" marL="0">
              <a:buNone/>
            </a:pPr>
            <a:r>
              <a:rPr lang="en-US" sz="1300" dirty="0">
                <a:solidFill>
                  <a:schemeClr val="tx1"/>
                </a:solidFill>
              </a:rPr>
              <a:t>Phase 1–2: convection starts near the equator</a:t>
            </a:r>
            <a:endParaRPr lang="en-US" sz="1300" dirty="0"/>
          </a:p>
        </p:txBody>
      </p:sp>
      <p:sp>
        <p:nvSpPr>
          <p:cNvPr id="7" name="rain band"/>
          <p:cNvSpPr/>
          <p:nvPr/>
        </p:nvSpPr>
        <p:spPr>
          <a:xfrm>
            <a:off x="1280160" y="3886200"/>
            <a:ext cx="2926080" cy="777240"/>
          </a:xfrm>
          <a:prstGeom prst="roundRect">
            <a:avLst>
              <a:gd name="adj" fmla="val 11765"/>
            </a:avLst>
          </a:prstGeom>
          <a:solidFill>
            <a:schemeClr val="accent1"/>
          </a:solidFill>
          <a:ln/>
        </p:spPr>
      </p:sp>
      <p:sp>
        <p:nvSpPr>
          <p:cNvPr id="8" name="Text 5"/>
          <p:cNvSpPr txBox="1"/>
          <p:nvPr/>
        </p:nvSpPr>
        <p:spPr>
          <a:xfrm>
            <a:off x="1280160" y="3886200"/>
            <a:ext cx="2926080" cy="777240"/>
          </a:xfrm>
          <a:prstGeom prst="rect">
            <a:avLst/>
          </a:prstGeom>
          <a:noFill/>
          <a:ln/>
        </p:spPr>
        <p:txBody>
          <a:bodyPr wrap="square" lIns="0" tIns="0" rIns="0" bIns="0" rtlCol="0" anchor="ctr"/>
          <a:lstStyle/>
          <a:p>
            <a:pPr algn="ctr" indent="0" marL="0">
              <a:buNone/>
            </a:pPr>
            <a:r>
              <a:rPr lang="en-US" sz="1400" b="1" dirty="0">
                <a:solidFill>
                  <a:schemeClr val="bg1"/>
                </a:solidFill>
              </a:rPr>
              <a:t>Southern India</a:t>
            </a:r>
            <a:endParaRPr lang="en-US" sz="1400" dirty="0"/>
          </a:p>
        </p:txBody>
      </p:sp>
      <p:sp>
        <p:nvSpPr>
          <p:cNvPr id="9" name="Text 6"/>
          <p:cNvSpPr txBox="1"/>
          <p:nvPr/>
        </p:nvSpPr>
        <p:spPr>
          <a:xfrm>
            <a:off x="4389120" y="3886200"/>
            <a:ext cx="3017520" cy="777240"/>
          </a:xfrm>
          <a:prstGeom prst="rect">
            <a:avLst/>
          </a:prstGeom>
          <a:noFill/>
          <a:ln/>
        </p:spPr>
        <p:txBody>
          <a:bodyPr wrap="square" lIns="0" tIns="0" rIns="0" bIns="0" rtlCol="0" anchor="ctr"/>
          <a:lstStyle/>
          <a:p>
            <a:pPr algn="l" indent="0" marL="0">
              <a:buNone/>
            </a:pPr>
            <a:r>
              <a:rPr lang="en-US" sz="1300" dirty="0">
                <a:solidFill>
                  <a:schemeClr val="tx1"/>
                </a:solidFill>
              </a:rPr>
              <a:t>Phase 3–4: moves north over peninsula</a:t>
            </a:r>
            <a:endParaRPr lang="en-US" sz="1300" dirty="0"/>
          </a:p>
        </p:txBody>
      </p:sp>
      <p:sp>
        <p:nvSpPr>
          <p:cNvPr id="10" name="rain band"/>
          <p:cNvSpPr/>
          <p:nvPr/>
        </p:nvSpPr>
        <p:spPr>
          <a:xfrm>
            <a:off x="1280160" y="2834640"/>
            <a:ext cx="2926080" cy="777240"/>
          </a:xfrm>
          <a:prstGeom prst="roundRect">
            <a:avLst>
              <a:gd name="adj" fmla="val 11765"/>
            </a:avLst>
          </a:prstGeom>
          <a:solidFill>
            <a:schemeClr val="accent2"/>
          </a:solidFill>
          <a:ln/>
        </p:spPr>
      </p:sp>
      <p:sp>
        <p:nvSpPr>
          <p:cNvPr id="11" name="Text 8"/>
          <p:cNvSpPr txBox="1"/>
          <p:nvPr/>
        </p:nvSpPr>
        <p:spPr>
          <a:xfrm>
            <a:off x="1280160" y="2834640"/>
            <a:ext cx="2926080" cy="777240"/>
          </a:xfrm>
          <a:prstGeom prst="rect">
            <a:avLst/>
          </a:prstGeom>
          <a:noFill/>
          <a:ln/>
        </p:spPr>
        <p:txBody>
          <a:bodyPr wrap="square" lIns="0" tIns="0" rIns="0" bIns="0" rtlCol="0" anchor="ctr"/>
          <a:lstStyle/>
          <a:p>
            <a:pPr algn="ctr" indent="0" marL="0">
              <a:buNone/>
            </a:pPr>
            <a:r>
              <a:rPr lang="en-US" sz="1400" b="1" dirty="0">
                <a:solidFill>
                  <a:schemeClr val="bg1"/>
                </a:solidFill>
              </a:rPr>
              <a:t>Central India</a:t>
            </a:r>
            <a:endParaRPr lang="en-US" sz="1400" dirty="0"/>
          </a:p>
        </p:txBody>
      </p:sp>
      <p:sp>
        <p:nvSpPr>
          <p:cNvPr id="12" name="Text 9"/>
          <p:cNvSpPr txBox="1"/>
          <p:nvPr/>
        </p:nvSpPr>
        <p:spPr>
          <a:xfrm>
            <a:off x="4389120" y="2834640"/>
            <a:ext cx="3017520" cy="777240"/>
          </a:xfrm>
          <a:prstGeom prst="rect">
            <a:avLst/>
          </a:prstGeom>
          <a:noFill/>
          <a:ln/>
        </p:spPr>
        <p:txBody>
          <a:bodyPr wrap="square" lIns="0" tIns="0" rIns="0" bIns="0" rtlCol="0" anchor="ctr"/>
          <a:lstStyle/>
          <a:p>
            <a:pPr algn="l" indent="0" marL="0">
              <a:buNone/>
            </a:pPr>
            <a:r>
              <a:rPr lang="en-US" sz="1300" dirty="0">
                <a:solidFill>
                  <a:schemeClr val="tx1"/>
                </a:solidFill>
              </a:rPr>
              <a:t>Phase 5–6: ACTIVE spell over monsoon zone</a:t>
            </a:r>
            <a:endParaRPr lang="en-US" sz="1300" dirty="0"/>
          </a:p>
        </p:txBody>
      </p:sp>
      <p:sp>
        <p:nvSpPr>
          <p:cNvPr id="13" name="rain band"/>
          <p:cNvSpPr/>
          <p:nvPr/>
        </p:nvSpPr>
        <p:spPr>
          <a:xfrm>
            <a:off x="1280160" y="1783080"/>
            <a:ext cx="2926080" cy="777240"/>
          </a:xfrm>
          <a:prstGeom prst="roundRect">
            <a:avLst>
              <a:gd name="adj" fmla="val 11765"/>
            </a:avLst>
          </a:prstGeom>
          <a:solidFill>
            <a:schemeClr val="accent6"/>
          </a:solidFill>
          <a:ln/>
        </p:spPr>
      </p:sp>
      <p:sp>
        <p:nvSpPr>
          <p:cNvPr id="14" name="Text 11"/>
          <p:cNvSpPr txBox="1"/>
          <p:nvPr/>
        </p:nvSpPr>
        <p:spPr>
          <a:xfrm>
            <a:off x="1280160" y="1783080"/>
            <a:ext cx="2926080" cy="777240"/>
          </a:xfrm>
          <a:prstGeom prst="rect">
            <a:avLst/>
          </a:prstGeom>
          <a:noFill/>
          <a:ln/>
        </p:spPr>
        <p:txBody>
          <a:bodyPr wrap="square" lIns="0" tIns="0" rIns="0" bIns="0" rtlCol="0" anchor="ctr"/>
          <a:lstStyle/>
          <a:p>
            <a:pPr algn="ctr" indent="0" marL="0">
              <a:buNone/>
            </a:pPr>
            <a:r>
              <a:rPr lang="en-US" sz="1400" b="1" dirty="0">
                <a:solidFill>
                  <a:schemeClr val="bg1"/>
                </a:solidFill>
              </a:rPr>
              <a:t>Foothills of Himalaya</a:t>
            </a:r>
            <a:endParaRPr lang="en-US" sz="1400" dirty="0"/>
          </a:p>
        </p:txBody>
      </p:sp>
      <p:sp>
        <p:nvSpPr>
          <p:cNvPr id="15" name="Text 12"/>
          <p:cNvSpPr txBox="1"/>
          <p:nvPr/>
        </p:nvSpPr>
        <p:spPr>
          <a:xfrm>
            <a:off x="4389120" y="1783080"/>
            <a:ext cx="3017520" cy="777240"/>
          </a:xfrm>
          <a:prstGeom prst="rect">
            <a:avLst/>
          </a:prstGeom>
          <a:noFill/>
          <a:ln/>
        </p:spPr>
        <p:txBody>
          <a:bodyPr wrap="square" lIns="0" tIns="0" rIns="0" bIns="0" rtlCol="0" anchor="ctr"/>
          <a:lstStyle/>
          <a:p>
            <a:pPr algn="l" indent="0" marL="0">
              <a:buNone/>
            </a:pPr>
            <a:r>
              <a:rPr lang="en-US" sz="1300" dirty="0">
                <a:solidFill>
                  <a:schemeClr val="tx1"/>
                </a:solidFill>
              </a:rPr>
              <a:t>Phase 7–8: BREAK over central India</a:t>
            </a:r>
            <a:endParaRPr lang="en-US" sz="1300" dirty="0"/>
          </a:p>
        </p:txBody>
      </p:sp>
      <p:sp>
        <p:nvSpPr>
          <p:cNvPr id="16" name="arrow"/>
          <p:cNvSpPr/>
          <p:nvPr/>
        </p:nvSpPr>
        <p:spPr>
          <a:xfrm flipV="1">
            <a:off x="914400" y="1783080"/>
            <a:ext cx="0" cy="3886200"/>
          </a:xfrm>
          <a:prstGeom prst="line">
            <a:avLst/>
          </a:prstGeom>
          <a:noFill/>
          <a:ln w="38100">
            <a:solidFill>
              <a:srgbClr val="0E3B43"/>
            </a:solidFill>
            <a:prstDash val="solid"/>
            <a:tailEnd type="triangle"/>
          </a:ln>
        </p:spPr>
      </p:sp>
      <p:sp>
        <p:nvSpPr>
          <p:cNvPr id="17" name="Text 14"/>
          <p:cNvSpPr txBox="1"/>
          <p:nvPr/>
        </p:nvSpPr>
        <p:spPr>
          <a:xfrm>
            <a:off x="502920" y="1417320"/>
            <a:ext cx="5486400" cy="320040"/>
          </a:xfrm>
          <a:prstGeom prst="rect">
            <a:avLst/>
          </a:prstGeom>
          <a:noFill/>
          <a:ln/>
        </p:spPr>
        <p:txBody>
          <a:bodyPr wrap="square" lIns="0" tIns="0" rIns="0" bIns="0" rtlCol="0" anchor="ctr"/>
          <a:lstStyle/>
          <a:p>
            <a:pPr algn="l" indent="0" marL="0">
              <a:buNone/>
            </a:pPr>
            <a:r>
              <a:rPr lang="en-US" sz="1200" i="1" dirty="0">
                <a:solidFill>
                  <a:schemeClr val="accent6"/>
                </a:solidFill>
              </a:rPr>
              <a:t>northward propagation · ~1° latitude per day</a:t>
            </a:r>
            <a:endParaRPr lang="en-US" sz="1200" dirty="0"/>
          </a:p>
        </p:txBody>
      </p:sp>
      <p:sp>
        <p:nvSpPr>
          <p:cNvPr id="18" name="card"/>
          <p:cNvSpPr/>
          <p:nvPr/>
        </p:nvSpPr>
        <p:spPr>
          <a:xfrm>
            <a:off x="7726680" y="1371600"/>
            <a:ext cx="3913632" cy="2286000"/>
          </a:xfrm>
          <a:prstGeom prst="roundRect">
            <a:avLst>
              <a:gd name="adj" fmla="val 3200"/>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7909560" y="1527048"/>
            <a:ext cx="420624" cy="420624"/>
          </a:xfrm>
          <a:prstGeom prst="ellipse">
            <a:avLst/>
          </a:prstGeom>
          <a:solidFill>
            <a:schemeClr val="accent1"/>
          </a:solidFill>
          <a:ln/>
        </p:spPr>
      </p:sp>
      <p:pic>
        <p:nvPicPr>
          <p:cNvPr id="20" name="Image 0" descr="Tractor icon">    </p:cNvPr>
          <p:cNvPicPr>
            <a:picLocks noChangeAspect="1"/>
          </p:cNvPicPr>
          <p:nvPr/>
        </p:nvPicPr>
        <p:blipFill>
          <a:blip r:embed="rId1"/>
          <a:stretch>
            <a:fillRect/>
          </a:stretch>
        </p:blipFill>
        <p:spPr>
          <a:xfrm>
            <a:off x="8018922" y="1636410"/>
            <a:ext cx="201900" cy="201900"/>
          </a:xfrm>
          <a:prstGeom prst="rect">
            <a:avLst/>
          </a:prstGeom>
        </p:spPr>
      </p:pic>
      <p:sp>
        <p:nvSpPr>
          <p:cNvPr id="21" name="Text 17"/>
          <p:cNvSpPr txBox="1"/>
          <p:nvPr/>
        </p:nvSpPr>
        <p:spPr>
          <a:xfrm>
            <a:off x="8439912" y="1508760"/>
            <a:ext cx="3063240" cy="457200"/>
          </a:xfrm>
          <a:prstGeom prst="rect">
            <a:avLst/>
          </a:prstGeom>
          <a:noFill/>
          <a:ln/>
        </p:spPr>
        <p:txBody>
          <a:bodyPr wrap="square" lIns="0" tIns="0" rIns="0" bIns="0" rtlCol="0" anchor="ctr"/>
          <a:lstStyle/>
          <a:p>
            <a:pPr indent="0" marL="0">
              <a:buNone/>
            </a:pPr>
            <a:r>
              <a:rPr lang="en-US" sz="1600" b="1" dirty="0">
                <a:solidFill>
                  <a:schemeClr val="tx2"/>
                </a:solidFill>
              </a:rPr>
              <a:t>Why it matters</a:t>
            </a:r>
            <a:endParaRPr lang="en-US" sz="1600" dirty="0"/>
          </a:p>
        </p:txBody>
      </p:sp>
      <p:sp>
        <p:nvSpPr>
          <p:cNvPr id="22" name="Text 18"/>
          <p:cNvSpPr txBox="1"/>
          <p:nvPr/>
        </p:nvSpPr>
        <p:spPr>
          <a:xfrm>
            <a:off x="7909560" y="2057400"/>
            <a:ext cx="3547872" cy="15087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Breaks of &gt;1 week stress crops and cause dry spells</a:t>
            </a:r>
            <a:endParaRPr lang="en-US" sz="1300" dirty="0"/>
          </a:p>
          <a:p>
            <a:pPr marL="177800" indent="-177800">
              <a:spcAft>
                <a:spcPts val="400"/>
              </a:spcAft>
              <a:buSzPct val="100000"/>
              <a:buChar char="•"/>
            </a:pPr>
            <a:r>
              <a:rPr lang="en-US" sz="1300" dirty="0">
                <a:solidFill>
                  <a:schemeClr val="tx1"/>
                </a:solidFill>
              </a:rPr>
              <a:t>Active spells bring floods and landslides</a:t>
            </a:r>
            <a:endParaRPr lang="en-US" sz="1300" dirty="0"/>
          </a:p>
          <a:p>
            <a:pPr marL="177800" indent="-177800">
              <a:spcAft>
                <a:spcPts val="400"/>
              </a:spcAft>
              <a:buSzPct val="100000"/>
              <a:buChar char="•"/>
            </a:pPr>
            <a:r>
              <a:rPr lang="en-US" sz="1300" dirty="0">
                <a:solidFill>
                  <a:schemeClr val="tx1"/>
                </a:solidFill>
              </a:rPr>
              <a:t>Sets the timing of sowing &amp; irrigation advice</a:t>
            </a:r>
            <a:endParaRPr lang="en-US" sz="1300" dirty="0"/>
          </a:p>
        </p:txBody>
      </p:sp>
      <p:sp>
        <p:nvSpPr>
          <p:cNvPr id="23" name="card"/>
          <p:cNvSpPr/>
          <p:nvPr/>
        </p:nvSpPr>
        <p:spPr>
          <a:xfrm>
            <a:off x="7726680" y="3794760"/>
            <a:ext cx="391363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7909560" y="3950208"/>
            <a:ext cx="420624" cy="420624"/>
          </a:xfrm>
          <a:prstGeom prst="ellipse">
            <a:avLst/>
          </a:prstGeom>
          <a:solidFill>
            <a:schemeClr val="accent5"/>
          </a:solidFill>
          <a:ln/>
        </p:spPr>
      </p:sp>
      <p:pic>
        <p:nvPicPr>
          <p:cNvPr id="25" name="Image 1" descr="Eye icon">    </p:cNvPr>
          <p:cNvPicPr>
            <a:picLocks noChangeAspect="1"/>
          </p:cNvPicPr>
          <p:nvPr/>
        </p:nvPicPr>
        <p:blipFill>
          <a:blip r:embed="rId2"/>
          <a:stretch>
            <a:fillRect/>
          </a:stretch>
        </p:blipFill>
        <p:spPr>
          <a:xfrm>
            <a:off x="8018922" y="4059570"/>
            <a:ext cx="201900" cy="201900"/>
          </a:xfrm>
          <a:prstGeom prst="rect">
            <a:avLst/>
          </a:prstGeom>
        </p:spPr>
      </p:pic>
      <p:sp>
        <p:nvSpPr>
          <p:cNvPr id="26" name="Text 21"/>
          <p:cNvSpPr txBox="1"/>
          <p:nvPr/>
        </p:nvSpPr>
        <p:spPr>
          <a:xfrm>
            <a:off x="8439912" y="3931920"/>
            <a:ext cx="3063240" cy="457200"/>
          </a:xfrm>
          <a:prstGeom prst="rect">
            <a:avLst/>
          </a:prstGeom>
          <a:noFill/>
          <a:ln/>
        </p:spPr>
        <p:txBody>
          <a:bodyPr wrap="square" lIns="0" tIns="0" rIns="0" bIns="0" rtlCol="0" anchor="ctr"/>
          <a:lstStyle/>
          <a:p>
            <a:pPr indent="0" marL="0">
              <a:buNone/>
            </a:pPr>
            <a:r>
              <a:rPr lang="en-US" sz="1600" b="1" dirty="0">
                <a:solidFill>
                  <a:schemeClr val="tx2"/>
                </a:solidFill>
              </a:rPr>
              <a:t>Monitoring tools</a:t>
            </a:r>
            <a:endParaRPr lang="en-US" sz="1600" dirty="0"/>
          </a:p>
        </p:txBody>
      </p:sp>
      <p:sp>
        <p:nvSpPr>
          <p:cNvPr id="27" name="Text 22"/>
          <p:cNvSpPr txBox="1"/>
          <p:nvPr/>
        </p:nvSpPr>
        <p:spPr>
          <a:xfrm>
            <a:off x="7909560" y="4480560"/>
            <a:ext cx="354787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Real-time MISO / BSISO index from OLR &amp; winds</a:t>
            </a:r>
            <a:endParaRPr lang="en-US" sz="1300" dirty="0"/>
          </a:p>
          <a:p>
            <a:pPr marL="177800" indent="-177800">
              <a:spcAft>
                <a:spcPts val="400"/>
              </a:spcAft>
              <a:buSzPct val="100000"/>
              <a:buChar char="•"/>
            </a:pPr>
            <a:r>
              <a:rPr lang="en-US" sz="1300" dirty="0">
                <a:solidFill>
                  <a:schemeClr val="tx1"/>
                </a:solidFill>
              </a:rPr>
              <a:t>MJO phase diagrams</a:t>
            </a:r>
            <a:endParaRPr lang="en-US" sz="1300" dirty="0"/>
          </a:p>
          <a:p>
            <a:pPr marL="177800" indent="-177800">
              <a:spcAft>
                <a:spcPts val="400"/>
              </a:spcAft>
              <a:buSzPct val="100000"/>
              <a:buChar char="•"/>
            </a:pPr>
            <a:r>
              <a:rPr lang="en-US" sz="1300" dirty="0">
                <a:solidFill>
                  <a:schemeClr val="tx1"/>
                </a:solidFill>
              </a:rPr>
              <a:t>Lows tracked by satellite &amp; radar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Short &amp; medium range</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The NWP model suite behind daily monsoon forecasts and heavy-rain warnings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06</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NWP model suite</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743200"/>
                <a:gridCol w="2560320"/>
                <a:gridCol w="2011680"/>
                <a:gridCol w="1463040"/>
                <a:gridCol w="2313432"/>
              </a:tblGrid>
              <a:tr h="530352">
                <a:tc>
                  <a:txBody>
                    <a:bodyPr/>
                    <a:lstStyle/>
                    <a:p>
                      <a:pPr indent="0" marL="0">
                        <a:buNone/>
                      </a:pPr>
                      <a:r>
                        <a:rPr lang="en-US" sz="1300" b="1" dirty="0">
                          <a:solidFill>
                            <a:schemeClr val="bg1"/>
                          </a:solidFill>
                        </a:rPr>
                        <a:t>Model</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Type</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Grid spacing</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Range</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Run by</a:t>
                      </a:r>
                      <a:endParaRPr lang="en-US" sz="13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r>
              <a:tr h="530352">
                <a:tc>
                  <a:txBody>
                    <a:bodyPr/>
                    <a:lstStyle/>
                    <a:p>
                      <a:pPr indent="0" marL="0">
                        <a:buNone/>
                      </a:pPr>
                      <a:r>
                        <a:rPr lang="en-US" sz="1200" b="1" dirty="0">
                          <a:solidFill>
                            <a:schemeClr val="accent2"/>
                          </a:solidFill>
                        </a:rPr>
                        <a:t>BFS (Bharat Forecast System)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Global, deterministic</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6 km (30°S–30°N)</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 to 10 days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IITM / IMD · operational 2025</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530352">
                <a:tc>
                  <a:txBody>
                    <a:bodyPr/>
                    <a:lstStyle/>
                    <a:p>
                      <a:pPr indent="0" marL="0">
                        <a:buNone/>
                      </a:pPr>
                      <a:r>
                        <a:rPr lang="en-US" sz="1200" b="1" dirty="0">
                          <a:solidFill>
                            <a:schemeClr val="tx2"/>
                          </a:solidFill>
                        </a:rPr>
                        <a:t>GFS T1534</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Global, deterministic</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12 km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Up to 10 days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IMD (NCEP-based)</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chemeClr val="tx2"/>
                          </a:solidFill>
                        </a:rPr>
                        <a:t>NCUM-G</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Global, deterministic</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12 km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 to 10 days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NCMRWF (UK Met Office UM)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530352">
                <a:tc>
                  <a:txBody>
                    <a:bodyPr/>
                    <a:lstStyle/>
                    <a:p>
                      <a:pPr indent="0" marL="0">
                        <a:buNone/>
                      </a:pPr>
                      <a:r>
                        <a:rPr lang="en-US" sz="1200" b="1" dirty="0">
                          <a:solidFill>
                            <a:schemeClr val="tx2"/>
                          </a:solidFill>
                        </a:rPr>
                        <a:t>GEFS T1534</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Global ensemble, 21 members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12 km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Up to 10 days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IMD / IITM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chemeClr val="tx2"/>
                          </a:solidFill>
                        </a:rPr>
                        <a:t>NEPS-G</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Global ensemble, 23 members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12 km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 to 10 days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NCMRWF</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530352">
                <a:tc>
                  <a:txBody>
                    <a:bodyPr/>
                    <a:lstStyle/>
                    <a:p>
                      <a:pPr indent="0" marL="0">
                        <a:buNone/>
                      </a:pPr>
                      <a:r>
                        <a:rPr lang="en-US" sz="1200" b="1" dirty="0">
                          <a:solidFill>
                            <a:schemeClr val="tx2"/>
                          </a:solidFill>
                        </a:rPr>
                        <a:t>WRF / NCUM-R</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Regional</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3 km / ≈ 4 km</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 days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IMD / NCMRWF</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chemeClr val="tx2"/>
                          </a:solidFill>
                        </a:rPr>
                        <a:t>HWRF</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Regional, moving nest</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2 km inner nest</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Up to 5 days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IMD (tropical cyclones)</a:t>
                      </a:r>
                      <a:endParaRPr lang="en-US" sz="1200" dirty="0"/>
                    </a:p>
                  </a:txBody>
                  <a:tcPr marL="91440" marR="91440"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760720"/>
            <a:ext cx="91440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Resolutions and member counts are approximate and change with upgrades.</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Bharat Forecast System (BFS)</a:t>
            </a:r>
            <a:endParaRPr lang="en-US" sz="3200" dirty="0"/>
          </a:p>
        </p:txBody>
      </p:sp>
      <p:sp>
        <p:nvSpPr>
          <p:cNvPr id="4" name="card"/>
          <p:cNvSpPr/>
          <p:nvPr/>
        </p:nvSpPr>
        <p:spPr>
          <a:xfrm>
            <a:off x="548640" y="1371600"/>
            <a:ext cx="2651760" cy="1737360"/>
          </a:xfrm>
          <a:prstGeom prst="roundRect">
            <a:avLst>
              <a:gd name="adj" fmla="val 4211"/>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463040"/>
            <a:ext cx="2651760" cy="914400"/>
          </a:xfrm>
          <a:prstGeom prst="rect">
            <a:avLst/>
          </a:prstGeom>
          <a:noFill/>
          <a:ln/>
        </p:spPr>
        <p:txBody>
          <a:bodyPr wrap="square" lIns="0" tIns="0" rIns="0" bIns="0" rtlCol="0" anchor="ctr"/>
          <a:lstStyle/>
          <a:p>
            <a:pPr algn="ctr" indent="0" marL="0">
              <a:buNone/>
            </a:pPr>
            <a:r>
              <a:rPr lang="en-US" sz="3200" b="1" dirty="0">
                <a:solidFill>
                  <a:schemeClr val="bg1"/>
                </a:solidFill>
              </a:rPr>
              <a:t>≈ 6 km</a:t>
            </a:r>
            <a:endParaRPr lang="en-US" sz="3200" dirty="0"/>
          </a:p>
        </p:txBody>
      </p:sp>
      <p:sp>
        <p:nvSpPr>
          <p:cNvPr id="6" name="Text 3"/>
          <p:cNvSpPr txBox="1"/>
          <p:nvPr/>
        </p:nvSpPr>
        <p:spPr>
          <a:xfrm>
            <a:off x="685800" y="2377440"/>
            <a:ext cx="2377440" cy="640080"/>
          </a:xfrm>
          <a:prstGeom prst="rect">
            <a:avLst/>
          </a:prstGeom>
          <a:noFill/>
          <a:ln/>
        </p:spPr>
        <p:txBody>
          <a:bodyPr wrap="square" lIns="0" tIns="0" rIns="0" bIns="0" rtlCol="0" anchor="t"/>
          <a:lstStyle/>
          <a:p>
            <a:pPr algn="ctr" indent="0" marL="0">
              <a:buNone/>
            </a:pPr>
            <a:r>
              <a:rPr lang="en-US" sz="1300" dirty="0">
                <a:solidFill>
                  <a:schemeClr val="bg1"/>
                </a:solidFill>
              </a:rPr>
              <a:t>grid spacing over the tropics</a:t>
            </a:r>
            <a:endParaRPr lang="en-US" sz="1300" dirty="0"/>
          </a:p>
        </p:txBody>
      </p:sp>
      <p:sp>
        <p:nvSpPr>
          <p:cNvPr id="7" name="card"/>
          <p:cNvSpPr/>
          <p:nvPr/>
        </p:nvSpPr>
        <p:spPr>
          <a:xfrm>
            <a:off x="3364992" y="1371600"/>
            <a:ext cx="2651760" cy="1737360"/>
          </a:xfrm>
          <a:prstGeom prst="roundRect">
            <a:avLst>
              <a:gd name="adj" fmla="val 4211"/>
            </a:avLst>
          </a:prstGeom>
          <a:solidFill>
            <a:schemeClr val="accent1"/>
          </a:solidFill>
          <a:ln/>
          <a:effectLst>
            <a:outerShdw sx="100000" sy="100000" kx="0" ky="0" algn="bl" rotWithShape="0" blurRad="76200" dist="25400" dir="5400000">
              <a:srgbClr val="000000">
                <a:alpha val="14000"/>
              </a:srgbClr>
            </a:outerShdw>
          </a:effectLst>
        </p:spPr>
      </p:sp>
      <p:sp>
        <p:nvSpPr>
          <p:cNvPr id="8" name="Text 5"/>
          <p:cNvSpPr txBox="1"/>
          <p:nvPr/>
        </p:nvSpPr>
        <p:spPr>
          <a:xfrm>
            <a:off x="3364992" y="1463040"/>
            <a:ext cx="2651760" cy="914400"/>
          </a:xfrm>
          <a:prstGeom prst="rect">
            <a:avLst/>
          </a:prstGeom>
          <a:noFill/>
          <a:ln/>
        </p:spPr>
        <p:txBody>
          <a:bodyPr wrap="square" lIns="0" tIns="0" rIns="0" bIns="0" rtlCol="0" anchor="ctr"/>
          <a:lstStyle/>
          <a:p>
            <a:pPr algn="ctr" indent="0" marL="0">
              <a:buNone/>
            </a:pPr>
            <a:r>
              <a:rPr lang="en-US" sz="3200" b="1" dirty="0">
                <a:solidFill>
                  <a:schemeClr val="bg1"/>
                </a:solidFill>
              </a:rPr>
              <a:t>30°S–30°N</a:t>
            </a:r>
            <a:endParaRPr lang="en-US" sz="3200" dirty="0"/>
          </a:p>
        </p:txBody>
      </p:sp>
      <p:sp>
        <p:nvSpPr>
          <p:cNvPr id="9" name="Text 6"/>
          <p:cNvSpPr txBox="1"/>
          <p:nvPr/>
        </p:nvSpPr>
        <p:spPr>
          <a:xfrm>
            <a:off x="3502152" y="2377440"/>
            <a:ext cx="2377440" cy="640080"/>
          </a:xfrm>
          <a:prstGeom prst="rect">
            <a:avLst/>
          </a:prstGeom>
          <a:noFill/>
          <a:ln/>
        </p:spPr>
        <p:txBody>
          <a:bodyPr wrap="square" lIns="0" tIns="0" rIns="0" bIns="0" rtlCol="0" anchor="t"/>
          <a:lstStyle/>
          <a:p>
            <a:pPr algn="ctr" indent="0" marL="0">
              <a:buNone/>
            </a:pPr>
            <a:r>
              <a:rPr lang="en-US" sz="1300" dirty="0">
                <a:solidFill>
                  <a:schemeClr val="bg1"/>
                </a:solidFill>
              </a:rPr>
              <a:t>high-resolution belt</a:t>
            </a:r>
            <a:endParaRPr lang="en-US" sz="1300" dirty="0"/>
          </a:p>
        </p:txBody>
      </p:sp>
      <p:sp>
        <p:nvSpPr>
          <p:cNvPr id="10" name="card"/>
          <p:cNvSpPr/>
          <p:nvPr/>
        </p:nvSpPr>
        <p:spPr>
          <a:xfrm>
            <a:off x="6181344" y="1371600"/>
            <a:ext cx="2651760" cy="1737360"/>
          </a:xfrm>
          <a:prstGeom prst="roundRect">
            <a:avLst>
              <a:gd name="adj" fmla="val 4211"/>
            </a:avLst>
          </a:prstGeom>
          <a:solidFill>
            <a:schemeClr val="accent5"/>
          </a:solidFill>
          <a:ln/>
          <a:effectLst>
            <a:outerShdw sx="100000" sy="100000" kx="0" ky="0" algn="bl" rotWithShape="0" blurRad="76200" dist="25400" dir="5400000">
              <a:srgbClr val="000000">
                <a:alpha val="14000"/>
              </a:srgbClr>
            </a:outerShdw>
          </a:effectLst>
        </p:spPr>
      </p:sp>
      <p:sp>
        <p:nvSpPr>
          <p:cNvPr id="11" name="Text 8"/>
          <p:cNvSpPr txBox="1"/>
          <p:nvPr/>
        </p:nvSpPr>
        <p:spPr>
          <a:xfrm>
            <a:off x="6181344" y="1463040"/>
            <a:ext cx="2651760" cy="914400"/>
          </a:xfrm>
          <a:prstGeom prst="rect">
            <a:avLst/>
          </a:prstGeom>
          <a:noFill/>
          <a:ln/>
        </p:spPr>
        <p:txBody>
          <a:bodyPr wrap="square" lIns="0" tIns="0" rIns="0" bIns="0" rtlCol="0" anchor="ctr"/>
          <a:lstStyle/>
          <a:p>
            <a:pPr algn="ctr" indent="0" marL="0">
              <a:buNone/>
            </a:pPr>
            <a:r>
              <a:rPr lang="en-US" sz="3200" b="1" dirty="0">
                <a:solidFill>
                  <a:schemeClr val="bg1"/>
                </a:solidFill>
              </a:rPr>
              <a:t>11.77 PF</a:t>
            </a:r>
            <a:endParaRPr lang="en-US" sz="3200" dirty="0"/>
          </a:p>
        </p:txBody>
      </p:sp>
      <p:sp>
        <p:nvSpPr>
          <p:cNvPr id="12" name="Text 9"/>
          <p:cNvSpPr txBox="1"/>
          <p:nvPr/>
        </p:nvSpPr>
        <p:spPr>
          <a:xfrm>
            <a:off x="6318504" y="2377440"/>
            <a:ext cx="2377440" cy="640080"/>
          </a:xfrm>
          <a:prstGeom prst="rect">
            <a:avLst/>
          </a:prstGeom>
          <a:noFill/>
          <a:ln/>
        </p:spPr>
        <p:txBody>
          <a:bodyPr wrap="square" lIns="0" tIns="0" rIns="0" bIns="0" rtlCol="0" anchor="t"/>
          <a:lstStyle/>
          <a:p>
            <a:pPr algn="ctr" indent="0" marL="0">
              <a:buNone/>
            </a:pPr>
            <a:r>
              <a:rPr lang="en-US" sz="1300" dirty="0">
                <a:solidFill>
                  <a:schemeClr val="bg1"/>
                </a:solidFill>
              </a:rPr>
              <a:t>Arka supercomputer (IITM)</a:t>
            </a:r>
            <a:endParaRPr lang="en-US" sz="1300" dirty="0"/>
          </a:p>
        </p:txBody>
      </p:sp>
      <p:sp>
        <p:nvSpPr>
          <p:cNvPr id="13" name="card"/>
          <p:cNvSpPr/>
          <p:nvPr/>
        </p:nvSpPr>
        <p:spPr>
          <a:xfrm>
            <a:off x="8997696" y="1371600"/>
            <a:ext cx="2651760" cy="1737360"/>
          </a:xfrm>
          <a:prstGeom prst="roundRect">
            <a:avLst>
              <a:gd name="adj" fmla="val 4211"/>
            </a:avLst>
          </a:prstGeom>
          <a:solidFill>
            <a:schemeClr val="accent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8997696" y="1463040"/>
            <a:ext cx="2651760" cy="914400"/>
          </a:xfrm>
          <a:prstGeom prst="rect">
            <a:avLst/>
          </a:prstGeom>
          <a:noFill/>
          <a:ln/>
        </p:spPr>
        <p:txBody>
          <a:bodyPr wrap="square" lIns="0" tIns="0" rIns="0" bIns="0" rtlCol="0" anchor="ctr"/>
          <a:lstStyle/>
          <a:p>
            <a:pPr algn="ctr" indent="0" marL="0">
              <a:buNone/>
            </a:pPr>
            <a:r>
              <a:rPr lang="en-US" sz="3200" b="1" dirty="0">
                <a:solidFill>
                  <a:schemeClr val="bg1"/>
                </a:solidFill>
              </a:rPr>
              <a:t>30–64 %</a:t>
            </a:r>
            <a:endParaRPr lang="en-US" sz="3200" dirty="0"/>
          </a:p>
        </p:txBody>
      </p:sp>
      <p:sp>
        <p:nvSpPr>
          <p:cNvPr id="15" name="Text 12"/>
          <p:cNvSpPr txBox="1"/>
          <p:nvPr/>
        </p:nvSpPr>
        <p:spPr>
          <a:xfrm>
            <a:off x="9134856" y="2377440"/>
            <a:ext cx="2377440" cy="640080"/>
          </a:xfrm>
          <a:prstGeom prst="rect">
            <a:avLst/>
          </a:prstGeom>
          <a:noFill/>
          <a:ln/>
        </p:spPr>
        <p:txBody>
          <a:bodyPr wrap="square" lIns="0" tIns="0" rIns="0" bIns="0" rtlCol="0" anchor="t"/>
          <a:lstStyle/>
          <a:p>
            <a:pPr algn="ctr" indent="0" marL="0">
              <a:buNone/>
            </a:pPr>
            <a:r>
              <a:rPr lang="en-US" sz="1300" dirty="0">
                <a:solidFill>
                  <a:schemeClr val="bg1"/>
                </a:solidFill>
              </a:rPr>
              <a:t>reported gain for extreme rain</a:t>
            </a:r>
            <a:endParaRPr lang="en-US" sz="1300" dirty="0"/>
          </a:p>
        </p:txBody>
      </p:sp>
      <p:sp>
        <p:nvSpPr>
          <p:cNvPr id="16" name="card"/>
          <p:cNvSpPr/>
          <p:nvPr/>
        </p:nvSpPr>
        <p:spPr>
          <a:xfrm>
            <a:off x="548640" y="3337560"/>
            <a:ext cx="5440680" cy="2834640"/>
          </a:xfrm>
          <a:prstGeom prst="roundRect">
            <a:avLst>
              <a:gd name="adj" fmla="val 2581"/>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731520" y="3493008"/>
            <a:ext cx="420624" cy="420624"/>
          </a:xfrm>
          <a:prstGeom prst="ellipse">
            <a:avLst/>
          </a:prstGeom>
          <a:solidFill>
            <a:schemeClr val="accent1"/>
          </a:solidFill>
          <a:ln/>
        </p:spPr>
      </p:sp>
      <p:pic>
        <p:nvPicPr>
          <p:cNvPr id="18" name="Image 0" descr="Bullseye icon">    </p:cNvPr>
          <p:cNvPicPr>
            <a:picLocks noChangeAspect="1"/>
          </p:cNvPicPr>
          <p:nvPr/>
        </p:nvPicPr>
        <p:blipFill>
          <a:blip r:embed="rId1"/>
          <a:stretch>
            <a:fillRect/>
          </a:stretch>
        </p:blipFill>
        <p:spPr>
          <a:xfrm>
            <a:off x="840882" y="3602370"/>
            <a:ext cx="201900" cy="201900"/>
          </a:xfrm>
          <a:prstGeom prst="rect">
            <a:avLst/>
          </a:prstGeom>
        </p:spPr>
      </p:pic>
      <p:sp>
        <p:nvSpPr>
          <p:cNvPr id="19" name="Text 15"/>
          <p:cNvSpPr txBox="1"/>
          <p:nvPr/>
        </p:nvSpPr>
        <p:spPr>
          <a:xfrm>
            <a:off x="1261872" y="347472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What finer resolution buys</a:t>
            </a:r>
            <a:endParaRPr lang="en-US" sz="1600" dirty="0"/>
          </a:p>
        </p:txBody>
      </p:sp>
      <p:sp>
        <p:nvSpPr>
          <p:cNvPr id="20" name="Text 16"/>
          <p:cNvSpPr txBox="1"/>
          <p:nvPr/>
        </p:nvSpPr>
        <p:spPr>
          <a:xfrm>
            <a:off x="731520" y="4023360"/>
            <a:ext cx="5074920" cy="20574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Steep terrain (Western Ghats, Himalaya) better resolved → orographic rain</a:t>
            </a:r>
            <a:endParaRPr lang="en-US" sz="1300" dirty="0"/>
          </a:p>
          <a:p>
            <a:pPr marL="177800" indent="-177800">
              <a:spcAft>
                <a:spcPts val="400"/>
              </a:spcAft>
              <a:buSzPct val="100000"/>
              <a:buChar char="•"/>
            </a:pPr>
            <a:r>
              <a:rPr lang="en-US" sz="1300" dirty="0">
                <a:solidFill>
                  <a:schemeClr val="tx1"/>
                </a:solidFill>
              </a:rPr>
              <a:t>Convection &amp; heavy-rain cores closer to reality</a:t>
            </a:r>
            <a:endParaRPr lang="en-US" sz="1300" dirty="0"/>
          </a:p>
          <a:p>
            <a:pPr marL="177800" indent="-177800">
              <a:spcAft>
                <a:spcPts val="400"/>
              </a:spcAft>
              <a:buSzPct val="100000"/>
              <a:buChar char="•"/>
            </a:pPr>
            <a:r>
              <a:rPr lang="en-US" sz="1300" dirty="0">
                <a:solidFill>
                  <a:schemeClr val="tx1"/>
                </a:solidFill>
              </a:rPr>
              <a:t>Panchayat-level forecasts for farmers &amp; disaster managers</a:t>
            </a:r>
            <a:endParaRPr lang="en-US" sz="1300" dirty="0"/>
          </a:p>
        </p:txBody>
      </p:sp>
      <p:sp>
        <p:nvSpPr>
          <p:cNvPr id="21" name="card"/>
          <p:cNvSpPr/>
          <p:nvPr/>
        </p:nvSpPr>
        <p:spPr>
          <a:xfrm>
            <a:off x="6199632" y="3337560"/>
            <a:ext cx="5440680" cy="2834640"/>
          </a:xfrm>
          <a:prstGeom prst="roundRect">
            <a:avLst>
              <a:gd name="adj" fmla="val 2581"/>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6382512" y="3493008"/>
            <a:ext cx="420624" cy="420624"/>
          </a:xfrm>
          <a:prstGeom prst="ellipse">
            <a:avLst/>
          </a:prstGeom>
          <a:solidFill>
            <a:schemeClr val="accent2"/>
          </a:solidFill>
          <a:ln/>
        </p:spPr>
      </p:sp>
      <p:pic>
        <p:nvPicPr>
          <p:cNvPr id="23" name="Image 1" descr="ExclamationTriangle icon">    </p:cNvPr>
          <p:cNvPicPr>
            <a:picLocks noChangeAspect="1"/>
          </p:cNvPicPr>
          <p:nvPr/>
        </p:nvPicPr>
        <p:blipFill>
          <a:blip r:embed="rId2"/>
          <a:stretch>
            <a:fillRect/>
          </a:stretch>
        </p:blipFill>
        <p:spPr>
          <a:xfrm>
            <a:off x="6491874" y="3602370"/>
            <a:ext cx="201900" cy="201900"/>
          </a:xfrm>
          <a:prstGeom prst="rect">
            <a:avLst/>
          </a:prstGeom>
        </p:spPr>
      </p:pic>
      <p:sp>
        <p:nvSpPr>
          <p:cNvPr id="24" name="Text 19"/>
          <p:cNvSpPr txBox="1"/>
          <p:nvPr/>
        </p:nvSpPr>
        <p:spPr>
          <a:xfrm>
            <a:off x="6912864" y="347472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Caveats</a:t>
            </a:r>
            <a:endParaRPr lang="en-US" sz="1600" dirty="0"/>
          </a:p>
        </p:txBody>
      </p:sp>
      <p:sp>
        <p:nvSpPr>
          <p:cNvPr id="25" name="Text 20"/>
          <p:cNvSpPr txBox="1"/>
          <p:nvPr/>
        </p:nvSpPr>
        <p:spPr>
          <a:xfrm>
            <a:off x="6382512" y="4023360"/>
            <a:ext cx="5074920" cy="20574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Gains are reported by the developers (IITM / MoES)</a:t>
            </a:r>
            <a:endParaRPr lang="en-US" sz="1300" dirty="0"/>
          </a:p>
          <a:p>
            <a:pPr marL="177800" indent="-177800">
              <a:spcAft>
                <a:spcPts val="400"/>
              </a:spcAft>
              <a:buSzPct val="100000"/>
              <a:buChar char="•"/>
            </a:pPr>
            <a:r>
              <a:rPr lang="en-US" sz="1300" dirty="0">
                <a:solidFill>
                  <a:schemeClr val="tx1"/>
                </a:solidFill>
              </a:rPr>
              <a:t>Small-scale rain is still hard to place exactly → ensembles still needed</a:t>
            </a:r>
            <a:endParaRPr lang="en-US" sz="1300" dirty="0"/>
          </a:p>
          <a:p>
            <a:pPr marL="177800" indent="-177800">
              <a:spcAft>
                <a:spcPts val="400"/>
              </a:spcAft>
              <a:buSzPct val="100000"/>
              <a:buChar char="•"/>
            </a:pPr>
            <a:r>
              <a:rPr lang="en-US" sz="1300" dirty="0">
                <a:solidFill>
                  <a:schemeClr val="tx1"/>
                </a:solidFill>
              </a:rPr>
              <a:t>Needs dense observations &amp; good assimilation to pay off</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From model output to a warning on your phone</a:t>
            </a:r>
            <a:endParaRPr lang="en-US" sz="3200" dirty="0"/>
          </a:p>
        </p:txBody>
      </p:sp>
      <p:sp>
        <p:nvSpPr>
          <p:cNvPr id="4" name="diagram box"/>
          <p:cNvSpPr/>
          <p:nvPr/>
        </p:nvSpPr>
        <p:spPr>
          <a:xfrm>
            <a:off x="548640" y="1463040"/>
            <a:ext cx="2011680" cy="1280160"/>
          </a:xfrm>
          <a:prstGeom prst="roundRect">
            <a:avLst>
              <a:gd name="adj" fmla="val 5714"/>
            </a:avLst>
          </a:prstGeom>
          <a:solidFill>
            <a:schemeClr val="accent6"/>
          </a:solidFill>
          <a:ln/>
        </p:spPr>
      </p:sp>
      <p:sp>
        <p:nvSpPr>
          <p:cNvPr id="5" name="Text 2"/>
          <p:cNvSpPr txBox="1"/>
          <p:nvPr/>
        </p:nvSpPr>
        <p:spPr>
          <a:xfrm>
            <a:off x="548640" y="1463040"/>
            <a:ext cx="2011680" cy="1280160"/>
          </a:xfrm>
          <a:prstGeom prst="rect">
            <a:avLst/>
          </a:prstGeom>
          <a:noFill/>
          <a:ln/>
        </p:spPr>
        <p:txBody>
          <a:bodyPr wrap="square" lIns="508" tIns="508" rIns="508" bIns="508" rtlCol="0" anchor="ctr"/>
          <a:lstStyle/>
          <a:p>
            <a:pPr algn="ctr" indent="0" marL="0">
              <a:buNone/>
            </a:pPr>
            <a:r>
              <a:rPr lang="en-US" sz="1100" b="1" dirty="0">
                <a:solidFill>
                  <a:schemeClr val="bg1"/>
                </a:solidFill>
              </a:rPr>
              <a:t>Models</a:t>
            </a:r>
            <a:endParaRPr lang="en-US" sz="1100" dirty="0"/>
          </a:p>
          <a:p>
            <a:pPr algn="ctr" indent="0" marL="0">
              <a:buNone/>
            </a:pPr>
            <a:r>
              <a:rPr lang="en-US" sz="1100" dirty="0">
                <a:solidFill>
                  <a:schemeClr val="bg1"/>
                </a:solidFill>
              </a:rPr>
              <a:t>BFS, GFS, NCUM, ensembles, ERFS</a:t>
            </a:r>
            <a:endParaRPr lang="en-US" sz="1100" dirty="0"/>
          </a:p>
        </p:txBody>
      </p:sp>
      <p:sp>
        <p:nvSpPr>
          <p:cNvPr id="6" name="arrow"/>
          <p:cNvSpPr/>
          <p:nvPr/>
        </p:nvSpPr>
        <p:spPr>
          <a:xfrm>
            <a:off x="2569464" y="2103120"/>
            <a:ext cx="210312" cy="0"/>
          </a:xfrm>
          <a:prstGeom prst="line">
            <a:avLst/>
          </a:prstGeom>
          <a:noFill/>
          <a:ln w="31750">
            <a:solidFill>
              <a:srgbClr val="0E3B43"/>
            </a:solidFill>
            <a:prstDash val="solid"/>
            <a:tailEnd type="triangle"/>
          </a:ln>
        </p:spPr>
      </p:sp>
      <p:sp>
        <p:nvSpPr>
          <p:cNvPr id="7" name="diagram box"/>
          <p:cNvSpPr/>
          <p:nvPr/>
        </p:nvSpPr>
        <p:spPr>
          <a:xfrm>
            <a:off x="2788920" y="1463040"/>
            <a:ext cx="2011680" cy="1280160"/>
          </a:xfrm>
          <a:prstGeom prst="roundRect">
            <a:avLst>
              <a:gd name="adj" fmla="val 5714"/>
            </a:avLst>
          </a:prstGeom>
          <a:solidFill>
            <a:schemeClr val="accent5"/>
          </a:solidFill>
          <a:ln/>
        </p:spPr>
      </p:sp>
      <p:sp>
        <p:nvSpPr>
          <p:cNvPr id="8" name="Text 5"/>
          <p:cNvSpPr txBox="1"/>
          <p:nvPr/>
        </p:nvSpPr>
        <p:spPr>
          <a:xfrm>
            <a:off x="2788920" y="1463040"/>
            <a:ext cx="2011680" cy="1280160"/>
          </a:xfrm>
          <a:prstGeom prst="rect">
            <a:avLst/>
          </a:prstGeom>
          <a:noFill/>
          <a:ln/>
        </p:spPr>
        <p:txBody>
          <a:bodyPr wrap="square" lIns="508" tIns="508" rIns="508" bIns="508" rtlCol="0" anchor="ctr"/>
          <a:lstStyle/>
          <a:p>
            <a:pPr algn="ctr" indent="0" marL="0">
              <a:buNone/>
            </a:pPr>
            <a:r>
              <a:rPr lang="en-US" sz="1100" b="1" dirty="0">
                <a:solidFill>
                  <a:schemeClr val="bg1"/>
                </a:solidFill>
              </a:rPr>
              <a:t>Bias correction &amp; MME</a:t>
            </a:r>
            <a:endParaRPr lang="en-US" sz="1100" dirty="0"/>
          </a:p>
          <a:p>
            <a:pPr algn="ctr" indent="0" marL="0">
              <a:buNone/>
            </a:pPr>
            <a:r>
              <a:rPr lang="en-US" sz="1100" dirty="0">
                <a:solidFill>
                  <a:schemeClr val="bg1"/>
                </a:solidFill>
              </a:rPr>
              <a:t>Statistical post-processing</a:t>
            </a:r>
            <a:endParaRPr lang="en-US" sz="1100" dirty="0"/>
          </a:p>
        </p:txBody>
      </p:sp>
      <p:sp>
        <p:nvSpPr>
          <p:cNvPr id="9" name="arrow"/>
          <p:cNvSpPr/>
          <p:nvPr/>
        </p:nvSpPr>
        <p:spPr>
          <a:xfrm>
            <a:off x="4809744" y="2103120"/>
            <a:ext cx="210312" cy="0"/>
          </a:xfrm>
          <a:prstGeom prst="line">
            <a:avLst/>
          </a:prstGeom>
          <a:noFill/>
          <a:ln w="31750">
            <a:solidFill>
              <a:srgbClr val="0E3B43"/>
            </a:solidFill>
            <a:prstDash val="solid"/>
            <a:tailEnd type="triangle"/>
          </a:ln>
        </p:spPr>
      </p:sp>
      <p:sp>
        <p:nvSpPr>
          <p:cNvPr id="10" name="diagram box"/>
          <p:cNvSpPr/>
          <p:nvPr/>
        </p:nvSpPr>
        <p:spPr>
          <a:xfrm>
            <a:off x="5029200" y="1463040"/>
            <a:ext cx="2011680" cy="1280160"/>
          </a:xfrm>
          <a:prstGeom prst="roundRect">
            <a:avLst>
              <a:gd name="adj" fmla="val 5714"/>
            </a:avLst>
          </a:prstGeom>
          <a:solidFill>
            <a:schemeClr val="accent1"/>
          </a:solidFill>
          <a:ln/>
        </p:spPr>
      </p:sp>
      <p:sp>
        <p:nvSpPr>
          <p:cNvPr id="11" name="Text 8"/>
          <p:cNvSpPr txBox="1"/>
          <p:nvPr/>
        </p:nvSpPr>
        <p:spPr>
          <a:xfrm>
            <a:off x="5029200" y="1463040"/>
            <a:ext cx="2011680" cy="1280160"/>
          </a:xfrm>
          <a:prstGeom prst="rect">
            <a:avLst/>
          </a:prstGeom>
          <a:noFill/>
          <a:ln/>
        </p:spPr>
        <p:txBody>
          <a:bodyPr wrap="square" lIns="508" tIns="508" rIns="508" bIns="508" rtlCol="0" anchor="ctr"/>
          <a:lstStyle/>
          <a:p>
            <a:pPr algn="ctr" indent="0" marL="0">
              <a:buNone/>
            </a:pPr>
            <a:r>
              <a:rPr lang="en-US" sz="1100" b="1" dirty="0">
                <a:solidFill>
                  <a:schemeClr val="bg1"/>
                </a:solidFill>
              </a:rPr>
              <a:t>Forecaster</a:t>
            </a:r>
            <a:endParaRPr lang="en-US" sz="1100" dirty="0"/>
          </a:p>
          <a:p>
            <a:pPr algn="ctr" indent="0" marL="0">
              <a:buNone/>
            </a:pPr>
            <a:r>
              <a:rPr lang="en-US" sz="1100" dirty="0">
                <a:solidFill>
                  <a:schemeClr val="bg1"/>
                </a:solidFill>
              </a:rPr>
              <a:t>Synoptic judgement, radar, satellite</a:t>
            </a:r>
            <a:endParaRPr lang="en-US" sz="1100" dirty="0"/>
          </a:p>
        </p:txBody>
      </p:sp>
      <p:sp>
        <p:nvSpPr>
          <p:cNvPr id="12" name="arrow"/>
          <p:cNvSpPr/>
          <p:nvPr/>
        </p:nvSpPr>
        <p:spPr>
          <a:xfrm>
            <a:off x="7050024" y="2103120"/>
            <a:ext cx="210312" cy="0"/>
          </a:xfrm>
          <a:prstGeom prst="line">
            <a:avLst/>
          </a:prstGeom>
          <a:noFill/>
          <a:ln w="31750">
            <a:solidFill>
              <a:srgbClr val="0E3B43"/>
            </a:solidFill>
            <a:prstDash val="solid"/>
            <a:tailEnd type="triangle"/>
          </a:ln>
        </p:spPr>
      </p:sp>
      <p:sp>
        <p:nvSpPr>
          <p:cNvPr id="13" name="diagram box"/>
          <p:cNvSpPr/>
          <p:nvPr/>
        </p:nvSpPr>
        <p:spPr>
          <a:xfrm>
            <a:off x="7269480" y="1463040"/>
            <a:ext cx="2011680" cy="1280160"/>
          </a:xfrm>
          <a:prstGeom prst="roundRect">
            <a:avLst>
              <a:gd name="adj" fmla="val 5714"/>
            </a:avLst>
          </a:prstGeom>
          <a:solidFill>
            <a:schemeClr val="accent2"/>
          </a:solidFill>
          <a:ln/>
        </p:spPr>
      </p:sp>
      <p:sp>
        <p:nvSpPr>
          <p:cNvPr id="14" name="Text 11"/>
          <p:cNvSpPr txBox="1"/>
          <p:nvPr/>
        </p:nvSpPr>
        <p:spPr>
          <a:xfrm>
            <a:off x="7269480" y="1463040"/>
            <a:ext cx="2011680" cy="1280160"/>
          </a:xfrm>
          <a:prstGeom prst="rect">
            <a:avLst/>
          </a:prstGeom>
          <a:noFill/>
          <a:ln/>
        </p:spPr>
        <p:txBody>
          <a:bodyPr wrap="square" lIns="508" tIns="508" rIns="508" bIns="508" rtlCol="0" anchor="ctr"/>
          <a:lstStyle/>
          <a:p>
            <a:pPr algn="ctr" indent="0" marL="0">
              <a:buNone/>
            </a:pPr>
            <a:r>
              <a:rPr lang="en-US" sz="1100" b="1" dirty="0">
                <a:solidFill>
                  <a:schemeClr val="bg1"/>
                </a:solidFill>
              </a:rPr>
              <a:t>Products</a:t>
            </a:r>
            <a:endParaRPr lang="en-US" sz="1100" dirty="0"/>
          </a:p>
          <a:p>
            <a:pPr algn="ctr" indent="0" marL="0">
              <a:buNone/>
            </a:pPr>
            <a:r>
              <a:rPr lang="en-US" sz="1100" dirty="0">
                <a:solidFill>
                  <a:schemeClr val="bg1"/>
                </a:solidFill>
              </a:rPr>
              <a:t>District / block forecasts, colour-coded warnings</a:t>
            </a:r>
            <a:endParaRPr lang="en-US" sz="1100" dirty="0"/>
          </a:p>
        </p:txBody>
      </p:sp>
      <p:sp>
        <p:nvSpPr>
          <p:cNvPr id="15" name="arrow"/>
          <p:cNvSpPr/>
          <p:nvPr/>
        </p:nvSpPr>
        <p:spPr>
          <a:xfrm>
            <a:off x="9290304" y="2103120"/>
            <a:ext cx="210312" cy="0"/>
          </a:xfrm>
          <a:prstGeom prst="line">
            <a:avLst/>
          </a:prstGeom>
          <a:noFill/>
          <a:ln w="31750">
            <a:solidFill>
              <a:srgbClr val="0E3B43"/>
            </a:solidFill>
            <a:prstDash val="solid"/>
            <a:tailEnd type="triangle"/>
          </a:ln>
        </p:spPr>
      </p:sp>
      <p:sp>
        <p:nvSpPr>
          <p:cNvPr id="16" name="diagram box"/>
          <p:cNvSpPr/>
          <p:nvPr/>
        </p:nvSpPr>
        <p:spPr>
          <a:xfrm>
            <a:off x="9509760" y="1463040"/>
            <a:ext cx="2011680" cy="1280160"/>
          </a:xfrm>
          <a:prstGeom prst="roundRect">
            <a:avLst>
              <a:gd name="adj" fmla="val 5714"/>
            </a:avLst>
          </a:prstGeom>
          <a:solidFill>
            <a:schemeClr val="accent4"/>
          </a:solidFill>
          <a:ln/>
        </p:spPr>
      </p:sp>
      <p:sp>
        <p:nvSpPr>
          <p:cNvPr id="17" name="Text 14"/>
          <p:cNvSpPr txBox="1"/>
          <p:nvPr/>
        </p:nvSpPr>
        <p:spPr>
          <a:xfrm>
            <a:off x="9509760" y="1463040"/>
            <a:ext cx="2011680" cy="1280160"/>
          </a:xfrm>
          <a:prstGeom prst="rect">
            <a:avLst/>
          </a:prstGeom>
          <a:noFill/>
          <a:ln/>
        </p:spPr>
        <p:txBody>
          <a:bodyPr wrap="square" lIns="508" tIns="508" rIns="508" bIns="508" rtlCol="0" anchor="ctr"/>
          <a:lstStyle/>
          <a:p>
            <a:pPr algn="ctr" indent="0" marL="0">
              <a:buNone/>
            </a:pPr>
            <a:r>
              <a:rPr lang="en-US" sz="1100" b="1" dirty="0">
                <a:solidFill>
                  <a:schemeClr val="bg1"/>
                </a:solidFill>
              </a:rPr>
              <a:t>Users</a:t>
            </a:r>
            <a:endParaRPr lang="en-US" sz="1100" dirty="0"/>
          </a:p>
          <a:p>
            <a:pPr algn="ctr" indent="0" marL="0">
              <a:buNone/>
            </a:pPr>
            <a:r>
              <a:rPr lang="en-US" sz="1100" dirty="0">
                <a:solidFill>
                  <a:schemeClr val="bg1"/>
                </a:solidFill>
              </a:rPr>
              <a:t>Apps, SMS, agro-advisories, disaster managers</a:t>
            </a:r>
            <a:endParaRPr lang="en-US" sz="1100" dirty="0"/>
          </a:p>
        </p:txBody>
      </p:sp>
      <p:sp>
        <p:nvSpPr>
          <p:cNvPr id="18" name="Text 15"/>
          <p:cNvSpPr txBox="1"/>
          <p:nvPr/>
        </p:nvSpPr>
        <p:spPr>
          <a:xfrm>
            <a:off x="548640" y="3063240"/>
            <a:ext cx="4572000" cy="320040"/>
          </a:xfrm>
          <a:prstGeom prst="rect">
            <a:avLst/>
          </a:prstGeom>
          <a:noFill/>
          <a:ln/>
        </p:spPr>
        <p:txBody>
          <a:bodyPr wrap="square" lIns="0" tIns="0" rIns="0" bIns="0" rtlCol="0" anchor="ctr"/>
          <a:lstStyle/>
          <a:p>
            <a:pPr algn="l" indent="0" marL="0">
              <a:buNone/>
            </a:pPr>
            <a:r>
              <a:rPr lang="en-US" sz="1500" b="1" dirty="0">
                <a:solidFill>
                  <a:schemeClr val="tx2"/>
                </a:solidFill>
              </a:rPr>
              <a:t>Colour-coded warnings</a:t>
            </a:r>
            <a:endParaRPr lang="en-US" sz="1500" dirty="0"/>
          </a:p>
        </p:txBody>
      </p:sp>
      <p:sp>
        <p:nvSpPr>
          <p:cNvPr id="19" name="warning colour"/>
          <p:cNvSpPr/>
          <p:nvPr/>
        </p:nvSpPr>
        <p:spPr>
          <a:xfrm>
            <a:off x="548640" y="3474720"/>
            <a:ext cx="1261872" cy="1005840"/>
          </a:xfrm>
          <a:prstGeom prst="roundRect">
            <a:avLst>
              <a:gd name="adj" fmla="val 7273"/>
            </a:avLst>
          </a:prstGeom>
          <a:solidFill>
            <a:srgbClr val="2E9E5B"/>
          </a:solidFill>
          <a:ln/>
        </p:spPr>
      </p:sp>
      <p:sp>
        <p:nvSpPr>
          <p:cNvPr id="20" name="Text 17"/>
          <p:cNvSpPr txBox="1"/>
          <p:nvPr/>
        </p:nvSpPr>
        <p:spPr>
          <a:xfrm>
            <a:off x="548640" y="3474720"/>
            <a:ext cx="1261872" cy="1005840"/>
          </a:xfrm>
          <a:prstGeom prst="rect">
            <a:avLst/>
          </a:prstGeom>
          <a:noFill/>
          <a:ln/>
        </p:spPr>
        <p:txBody>
          <a:bodyPr wrap="square" lIns="0" tIns="0" rIns="0" bIns="0" rtlCol="0" anchor="ctr"/>
          <a:lstStyle/>
          <a:p>
            <a:pPr algn="ctr" indent="0" marL="0">
              <a:buNone/>
            </a:pPr>
            <a:r>
              <a:rPr lang="en-US" sz="1400" b="1" dirty="0">
                <a:solidFill>
                  <a:schemeClr val="bg1"/>
                </a:solidFill>
              </a:rPr>
              <a:t>Green</a:t>
            </a:r>
            <a:endParaRPr lang="en-US" sz="1400" dirty="0"/>
          </a:p>
          <a:p>
            <a:pPr algn="ctr" indent="0" marL="0">
              <a:buNone/>
            </a:pPr>
            <a:r>
              <a:rPr lang="en-US" sz="1100" dirty="0">
                <a:solidFill>
                  <a:schemeClr val="bg1"/>
                </a:solidFill>
              </a:rPr>
              <a:t>No warning</a:t>
            </a:r>
            <a:endParaRPr lang="en-US" sz="1400" dirty="0"/>
          </a:p>
        </p:txBody>
      </p:sp>
      <p:sp>
        <p:nvSpPr>
          <p:cNvPr id="21" name="warning colour"/>
          <p:cNvSpPr/>
          <p:nvPr/>
        </p:nvSpPr>
        <p:spPr>
          <a:xfrm>
            <a:off x="1920240" y="3474720"/>
            <a:ext cx="1261872" cy="1005840"/>
          </a:xfrm>
          <a:prstGeom prst="roundRect">
            <a:avLst>
              <a:gd name="adj" fmla="val 7273"/>
            </a:avLst>
          </a:prstGeom>
          <a:solidFill>
            <a:srgbClr val="F2C14E"/>
          </a:solidFill>
          <a:ln/>
        </p:spPr>
      </p:sp>
      <p:sp>
        <p:nvSpPr>
          <p:cNvPr id="22" name="Text 19"/>
          <p:cNvSpPr txBox="1"/>
          <p:nvPr/>
        </p:nvSpPr>
        <p:spPr>
          <a:xfrm>
            <a:off x="1920240" y="3474720"/>
            <a:ext cx="1261872" cy="1005840"/>
          </a:xfrm>
          <a:prstGeom prst="rect">
            <a:avLst/>
          </a:prstGeom>
          <a:noFill/>
          <a:ln/>
        </p:spPr>
        <p:txBody>
          <a:bodyPr wrap="square" lIns="0" tIns="0" rIns="0" bIns="0" rtlCol="0" anchor="ctr"/>
          <a:lstStyle/>
          <a:p>
            <a:pPr algn="ctr" indent="0" marL="0">
              <a:buNone/>
            </a:pPr>
            <a:r>
              <a:rPr lang="en-US" sz="1400" b="1" dirty="0">
                <a:solidFill>
                  <a:schemeClr val="tx1"/>
                </a:solidFill>
              </a:rPr>
              <a:t>Yellow</a:t>
            </a:r>
            <a:endParaRPr lang="en-US" sz="1400" dirty="0"/>
          </a:p>
          <a:p>
            <a:pPr algn="ctr" indent="0" marL="0">
              <a:buNone/>
            </a:pPr>
            <a:r>
              <a:rPr lang="en-US" sz="1100" dirty="0">
                <a:solidFill>
                  <a:schemeClr val="tx1"/>
                </a:solidFill>
              </a:rPr>
              <a:t>Be updated</a:t>
            </a:r>
            <a:endParaRPr lang="en-US" sz="1400" dirty="0"/>
          </a:p>
        </p:txBody>
      </p:sp>
      <p:sp>
        <p:nvSpPr>
          <p:cNvPr id="23" name="warning colour"/>
          <p:cNvSpPr/>
          <p:nvPr/>
        </p:nvSpPr>
        <p:spPr>
          <a:xfrm>
            <a:off x="3291840" y="3474720"/>
            <a:ext cx="1261872" cy="1005840"/>
          </a:xfrm>
          <a:prstGeom prst="roundRect">
            <a:avLst>
              <a:gd name="adj" fmla="val 7273"/>
            </a:avLst>
          </a:prstGeom>
          <a:solidFill>
            <a:srgbClr val="E8862B"/>
          </a:solidFill>
          <a:ln/>
        </p:spPr>
      </p:sp>
      <p:sp>
        <p:nvSpPr>
          <p:cNvPr id="24" name="Text 21"/>
          <p:cNvSpPr txBox="1"/>
          <p:nvPr/>
        </p:nvSpPr>
        <p:spPr>
          <a:xfrm>
            <a:off x="3291840" y="3474720"/>
            <a:ext cx="1261872" cy="1005840"/>
          </a:xfrm>
          <a:prstGeom prst="rect">
            <a:avLst/>
          </a:prstGeom>
          <a:noFill/>
          <a:ln/>
        </p:spPr>
        <p:txBody>
          <a:bodyPr wrap="square" lIns="0" tIns="0" rIns="0" bIns="0" rtlCol="0" anchor="ctr"/>
          <a:lstStyle/>
          <a:p>
            <a:pPr algn="ctr" indent="0" marL="0">
              <a:buNone/>
            </a:pPr>
            <a:r>
              <a:rPr lang="en-US" sz="1400" b="1" dirty="0">
                <a:solidFill>
                  <a:schemeClr val="bg1"/>
                </a:solidFill>
              </a:rPr>
              <a:t>Orange</a:t>
            </a:r>
            <a:endParaRPr lang="en-US" sz="1400" dirty="0"/>
          </a:p>
          <a:p>
            <a:pPr algn="ctr" indent="0" marL="0">
              <a:buNone/>
            </a:pPr>
            <a:r>
              <a:rPr lang="en-US" sz="1100" dirty="0">
                <a:solidFill>
                  <a:schemeClr val="bg1"/>
                </a:solidFill>
              </a:rPr>
              <a:t>Be prepared</a:t>
            </a:r>
            <a:endParaRPr lang="en-US" sz="1400" dirty="0"/>
          </a:p>
        </p:txBody>
      </p:sp>
      <p:sp>
        <p:nvSpPr>
          <p:cNvPr id="25" name="warning colour"/>
          <p:cNvSpPr/>
          <p:nvPr/>
        </p:nvSpPr>
        <p:spPr>
          <a:xfrm>
            <a:off x="4663440" y="3474720"/>
            <a:ext cx="1261872" cy="1005840"/>
          </a:xfrm>
          <a:prstGeom prst="roundRect">
            <a:avLst>
              <a:gd name="adj" fmla="val 7273"/>
            </a:avLst>
          </a:prstGeom>
          <a:solidFill>
            <a:srgbClr val="D33A2C"/>
          </a:solidFill>
          <a:ln/>
        </p:spPr>
      </p:sp>
      <p:sp>
        <p:nvSpPr>
          <p:cNvPr id="26" name="Text 23"/>
          <p:cNvSpPr txBox="1"/>
          <p:nvPr/>
        </p:nvSpPr>
        <p:spPr>
          <a:xfrm>
            <a:off x="4663440" y="3474720"/>
            <a:ext cx="1261872" cy="1005840"/>
          </a:xfrm>
          <a:prstGeom prst="rect">
            <a:avLst/>
          </a:prstGeom>
          <a:noFill/>
          <a:ln/>
        </p:spPr>
        <p:txBody>
          <a:bodyPr wrap="square" lIns="0" tIns="0" rIns="0" bIns="0" rtlCol="0" anchor="ctr"/>
          <a:lstStyle/>
          <a:p>
            <a:pPr algn="ctr" indent="0" marL="0">
              <a:buNone/>
            </a:pPr>
            <a:r>
              <a:rPr lang="en-US" sz="1400" b="1" dirty="0">
                <a:solidFill>
                  <a:schemeClr val="bg1"/>
                </a:solidFill>
              </a:rPr>
              <a:t>Red</a:t>
            </a:r>
            <a:endParaRPr lang="en-US" sz="1400" dirty="0"/>
          </a:p>
          <a:p>
            <a:pPr algn="ctr" indent="0" marL="0">
              <a:buNone/>
            </a:pPr>
            <a:r>
              <a:rPr lang="en-US" sz="1100" dirty="0">
                <a:solidFill>
                  <a:schemeClr val="bg1"/>
                </a:solidFill>
              </a:rPr>
              <a:t>Take action</a:t>
            </a:r>
            <a:endParaRPr lang="en-US" sz="1400" dirty="0"/>
          </a:p>
        </p:txBody>
      </p:sp>
      <p:sp>
        <p:nvSpPr>
          <p:cNvPr id="27" name="card"/>
          <p:cNvSpPr/>
          <p:nvPr/>
        </p:nvSpPr>
        <p:spPr>
          <a:xfrm>
            <a:off x="548640" y="4709160"/>
            <a:ext cx="5349240" cy="1463040"/>
          </a:xfrm>
          <a:prstGeom prst="roundRect">
            <a:avLst>
              <a:gd name="adj" fmla="val 5000"/>
            </a:avLst>
          </a:prstGeom>
          <a:solidFill>
            <a:schemeClr val="bg2"/>
          </a:solidFill>
          <a:ln/>
          <a:effectLst>
            <a:outerShdw sx="100000" sy="100000" kx="0" ky="0" algn="bl" rotWithShape="0" blurRad="76200" dist="25400" dir="5400000">
              <a:srgbClr val="000000">
                <a:alpha val="14000"/>
              </a:srgbClr>
            </a:outerShdw>
          </a:effectLst>
        </p:spPr>
      </p:sp>
      <p:sp>
        <p:nvSpPr>
          <p:cNvPr id="28" name="icon circle"/>
          <p:cNvSpPr/>
          <p:nvPr/>
        </p:nvSpPr>
        <p:spPr>
          <a:xfrm>
            <a:off x="731520" y="4864608"/>
            <a:ext cx="420624" cy="420624"/>
          </a:xfrm>
          <a:prstGeom prst="ellipse">
            <a:avLst/>
          </a:prstGeom>
          <a:solidFill>
            <a:schemeClr val="accent1"/>
          </a:solidFill>
          <a:ln/>
        </p:spPr>
      </p:sp>
      <p:pic>
        <p:nvPicPr>
          <p:cNvPr id="29" name="Image 0" descr="BroadcastTower icon">    </p:cNvPr>
          <p:cNvPicPr>
            <a:picLocks noChangeAspect="1"/>
          </p:cNvPicPr>
          <p:nvPr/>
        </p:nvPicPr>
        <p:blipFill>
          <a:blip r:embed="rId1"/>
          <a:stretch>
            <a:fillRect/>
          </a:stretch>
        </p:blipFill>
        <p:spPr>
          <a:xfrm>
            <a:off x="840882" y="4973970"/>
            <a:ext cx="201900" cy="201900"/>
          </a:xfrm>
          <a:prstGeom prst="rect">
            <a:avLst/>
          </a:prstGeom>
        </p:spPr>
      </p:pic>
      <p:sp>
        <p:nvSpPr>
          <p:cNvPr id="30" name="Text 26"/>
          <p:cNvSpPr txBox="1"/>
          <p:nvPr/>
        </p:nvSpPr>
        <p:spPr>
          <a:xfrm>
            <a:off x="1261872" y="4846320"/>
            <a:ext cx="4498848" cy="457200"/>
          </a:xfrm>
          <a:prstGeom prst="rect">
            <a:avLst/>
          </a:prstGeom>
          <a:noFill/>
          <a:ln/>
        </p:spPr>
        <p:txBody>
          <a:bodyPr wrap="square" lIns="0" tIns="0" rIns="0" bIns="0" rtlCol="0" anchor="ctr"/>
          <a:lstStyle/>
          <a:p>
            <a:pPr indent="0" marL="0">
              <a:buNone/>
            </a:pPr>
            <a:r>
              <a:rPr lang="en-US" sz="1600" b="1" dirty="0">
                <a:solidFill>
                  <a:schemeClr val="tx2"/>
                </a:solidFill>
              </a:rPr>
              <a:t>Nowcasting (0–3 h)</a:t>
            </a:r>
            <a:endParaRPr lang="en-US" sz="1600" dirty="0"/>
          </a:p>
        </p:txBody>
      </p:sp>
      <p:sp>
        <p:nvSpPr>
          <p:cNvPr id="31" name="Text 27"/>
          <p:cNvSpPr txBox="1"/>
          <p:nvPr/>
        </p:nvSpPr>
        <p:spPr>
          <a:xfrm>
            <a:off x="731520" y="5394960"/>
            <a:ext cx="4983480" cy="6858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Doppler radar &amp; satellite extrapolation; thunderstorm, lightning and heavy-rain nowcasts updated through the day.</a:t>
            </a:r>
            <a:endParaRPr lang="en-US" sz="1300" dirty="0"/>
          </a:p>
        </p:txBody>
      </p:sp>
      <p:sp>
        <p:nvSpPr>
          <p:cNvPr id="32" name="card"/>
          <p:cNvSpPr/>
          <p:nvPr/>
        </p:nvSpPr>
        <p:spPr>
          <a:xfrm>
            <a:off x="6199632" y="3063240"/>
            <a:ext cx="5440680" cy="3108960"/>
          </a:xfrm>
          <a:prstGeom prst="roundRect">
            <a:avLst>
              <a:gd name="adj" fmla="val 2353"/>
            </a:avLst>
          </a:prstGeom>
          <a:solidFill>
            <a:schemeClr val="bg2"/>
          </a:solidFill>
          <a:ln/>
          <a:effectLst>
            <a:outerShdw sx="100000" sy="100000" kx="0" ky="0" algn="bl" rotWithShape="0" blurRad="76200" dist="25400" dir="5400000">
              <a:srgbClr val="000000">
                <a:alpha val="14000"/>
              </a:srgbClr>
            </a:outerShdw>
          </a:effectLst>
        </p:spPr>
      </p:sp>
      <p:sp>
        <p:nvSpPr>
          <p:cNvPr id="33" name="icon circle"/>
          <p:cNvSpPr/>
          <p:nvPr/>
        </p:nvSpPr>
        <p:spPr>
          <a:xfrm>
            <a:off x="6382512" y="3218688"/>
            <a:ext cx="420624" cy="420624"/>
          </a:xfrm>
          <a:prstGeom prst="ellipse">
            <a:avLst/>
          </a:prstGeom>
          <a:solidFill>
            <a:schemeClr val="accent4"/>
          </a:solidFill>
          <a:ln/>
        </p:spPr>
      </p:sp>
      <p:pic>
        <p:nvPicPr>
          <p:cNvPr id="34" name="Image 1" descr="MobileAlt icon">    </p:cNvPr>
          <p:cNvPicPr>
            <a:picLocks noChangeAspect="1"/>
          </p:cNvPicPr>
          <p:nvPr/>
        </p:nvPicPr>
        <p:blipFill>
          <a:blip r:embed="rId2"/>
          <a:stretch>
            <a:fillRect/>
          </a:stretch>
        </p:blipFill>
        <p:spPr>
          <a:xfrm>
            <a:off x="6491874" y="3328050"/>
            <a:ext cx="201900" cy="201900"/>
          </a:xfrm>
          <a:prstGeom prst="rect">
            <a:avLst/>
          </a:prstGeom>
        </p:spPr>
      </p:pic>
      <p:sp>
        <p:nvSpPr>
          <p:cNvPr id="35" name="Text 30"/>
          <p:cNvSpPr txBox="1"/>
          <p:nvPr/>
        </p:nvSpPr>
        <p:spPr>
          <a:xfrm>
            <a:off x="6912864" y="320040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Dissemination channels</a:t>
            </a:r>
            <a:endParaRPr lang="en-US" sz="1600" dirty="0"/>
          </a:p>
        </p:txBody>
      </p:sp>
      <p:sp>
        <p:nvSpPr>
          <p:cNvPr id="36" name="Text 31"/>
          <p:cNvSpPr txBox="1"/>
          <p:nvPr/>
        </p:nvSpPr>
        <p:spPr>
          <a:xfrm>
            <a:off x="6382512" y="3749040"/>
            <a:ext cx="5074920"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Mausam</a:t>
            </a:r>
            <a:r>
              <a:rPr lang="en-US" sz="1300" dirty="0">
                <a:solidFill>
                  <a:schemeClr val="tx1"/>
                </a:solidFill>
              </a:rPr>
              <a:t> &amp; </a:t>
            </a:r>
            <a:r>
              <a:rPr lang="en-US" sz="1300" b="1" dirty="0">
                <a:solidFill>
                  <a:schemeClr val="tx1"/>
                </a:solidFill>
              </a:rPr>
              <a:t>Meghdoot</a:t>
            </a:r>
            <a:r>
              <a:rPr lang="en-US" sz="1300" dirty="0">
                <a:solidFill>
                  <a:schemeClr val="tx1"/>
                </a:solidFill>
              </a:rPr>
              <a:t> apps; website &amp; social media</a:t>
            </a:r>
            <a:endParaRPr lang="en-US" sz="1300" dirty="0"/>
          </a:p>
          <a:p>
            <a:pPr marL="177800" indent="-177800">
              <a:spcAft>
                <a:spcPts val="400"/>
              </a:spcAft>
              <a:buSzPct val="100000"/>
              <a:buChar char="•"/>
            </a:pPr>
            <a:r>
              <a:rPr lang="en-US" sz="1300" dirty="0">
                <a:solidFill>
                  <a:schemeClr val="tx1"/>
                </a:solidFill>
              </a:rPr>
              <a:t>SMS and common alerting protocol to districts</a:t>
            </a:r>
            <a:endParaRPr lang="en-US" sz="1300" dirty="0"/>
          </a:p>
          <a:p>
            <a:pPr marL="177800" indent="-177800">
              <a:spcAft>
                <a:spcPts val="400"/>
              </a:spcAft>
              <a:buSzPct val="100000"/>
              <a:buChar char="•"/>
            </a:pPr>
            <a:r>
              <a:rPr lang="en-US" sz="1300" b="1" dirty="0">
                <a:solidFill>
                  <a:schemeClr val="tx1"/>
                </a:solidFill>
              </a:rPr>
              <a:t>Gramin Krishi Mausam Seva</a:t>
            </a:r>
            <a:r>
              <a:rPr lang="en-US" sz="1300" dirty="0">
                <a:solidFill>
                  <a:schemeClr val="tx1"/>
                </a:solidFill>
              </a:rPr>
              <a:t>: district &amp; block agro-advisories</a:t>
            </a:r>
            <a:endParaRPr lang="en-US" sz="1300" dirty="0"/>
          </a:p>
          <a:p>
            <a:pPr marL="177800" indent="-177800">
              <a:spcAft>
                <a:spcPts val="400"/>
              </a:spcAft>
              <a:buSzPct val="100000"/>
              <a:buChar char="•"/>
            </a:pPr>
            <a:r>
              <a:rPr lang="en-US" sz="1300" dirty="0">
                <a:solidFill>
                  <a:schemeClr val="tx1"/>
                </a:solidFill>
              </a:rPr>
              <a:t>Press, TV, All India Radio</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Forecast performance</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How good are the seasonal forecasts? Hits, misses, limits of predictability and the 2026 season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07</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April forecast vs actual rainfall, 2015–2026</a:t>
            </a:r>
            <a:endParaRPr lang="en-US" sz="3200" dirty="0"/>
          </a:p>
        </p:txBody>
      </p:sp>
      <p:graphicFrame>
        <p:nvGraphicFramePr>
          <p:cNvPr id="4" name="Chart 0" descr=""/>
          <p:cNvGraphicFramePr/>
          <p:nvPr/>
        </p:nvGraphicFramePr>
        <p:xfrm>
          <a:off x="548640" y="1325880"/>
          <a:ext cx="7863840" cy="4846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6172200"/>
            <a:ext cx="7863840" cy="22860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Rounded values compiled from IMD releases; 2026 actual provisional.</a:t>
            </a:r>
            <a:endParaRPr lang="en-US" sz="1100" dirty="0"/>
          </a:p>
        </p:txBody>
      </p:sp>
      <p:sp>
        <p:nvSpPr>
          <p:cNvPr id="6" name="card"/>
          <p:cNvSpPr/>
          <p:nvPr/>
        </p:nvSpPr>
        <p:spPr>
          <a:xfrm>
            <a:off x="8641080" y="1325880"/>
            <a:ext cx="299923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7" name="icon circle"/>
          <p:cNvSpPr/>
          <p:nvPr/>
        </p:nvSpPr>
        <p:spPr>
          <a:xfrm>
            <a:off x="8823960" y="1481328"/>
            <a:ext cx="420624" cy="420624"/>
          </a:xfrm>
          <a:prstGeom prst="ellipse">
            <a:avLst/>
          </a:prstGeom>
          <a:solidFill>
            <a:schemeClr val="accent1"/>
          </a:solidFill>
          <a:ln/>
        </p:spPr>
      </p:sp>
      <p:pic>
        <p:nvPicPr>
          <p:cNvPr id="8" name="Image 0" descr="Check icon">    </p:cNvPr>
          <p:cNvPicPr>
            <a:picLocks noChangeAspect="1"/>
          </p:cNvPicPr>
          <p:nvPr/>
        </p:nvPicPr>
        <p:blipFill>
          <a:blip r:embed="rId2"/>
          <a:stretch>
            <a:fillRect/>
          </a:stretch>
        </p:blipFill>
        <p:spPr>
          <a:xfrm>
            <a:off x="8933322" y="1590690"/>
            <a:ext cx="201900" cy="201900"/>
          </a:xfrm>
          <a:prstGeom prst="rect">
            <a:avLst/>
          </a:prstGeom>
        </p:spPr>
      </p:pic>
      <p:sp>
        <p:nvSpPr>
          <p:cNvPr id="9" name="Text 4"/>
          <p:cNvSpPr txBox="1"/>
          <p:nvPr/>
        </p:nvSpPr>
        <p:spPr>
          <a:xfrm>
            <a:off x="9354312" y="1463040"/>
            <a:ext cx="2148840" cy="457200"/>
          </a:xfrm>
          <a:prstGeom prst="rect">
            <a:avLst/>
          </a:prstGeom>
          <a:noFill/>
          <a:ln/>
        </p:spPr>
        <p:txBody>
          <a:bodyPr wrap="square" lIns="0" tIns="0" rIns="0" bIns="0" rtlCol="0" anchor="ctr"/>
          <a:lstStyle/>
          <a:p>
            <a:pPr indent="0" marL="0">
              <a:buNone/>
            </a:pPr>
            <a:r>
              <a:rPr lang="en-US" sz="1600" b="1" dirty="0">
                <a:solidFill>
                  <a:schemeClr val="tx2"/>
                </a:solidFill>
              </a:rPr>
              <a:t>Hits</a:t>
            </a:r>
            <a:endParaRPr lang="en-US" sz="1600" dirty="0"/>
          </a:p>
        </p:txBody>
      </p:sp>
      <p:sp>
        <p:nvSpPr>
          <p:cNvPr id="10" name="Text 5"/>
          <p:cNvSpPr txBox="1"/>
          <p:nvPr/>
        </p:nvSpPr>
        <p:spPr>
          <a:xfrm>
            <a:off x="8823960" y="2011680"/>
            <a:ext cx="263347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2017, 2021, 2023, 2024, 2025 within ±5 %</a:t>
            </a:r>
            <a:endParaRPr lang="en-US" sz="1300" dirty="0"/>
          </a:p>
          <a:p>
            <a:pPr marL="177800" indent="-177800">
              <a:spcAft>
                <a:spcPts val="400"/>
              </a:spcAft>
              <a:buSzPct val="100000"/>
              <a:buChar char="•"/>
            </a:pPr>
            <a:r>
              <a:rPr lang="en-US" sz="1300" dirty="0">
                <a:solidFill>
                  <a:schemeClr val="tx1"/>
                </a:solidFill>
              </a:rPr>
              <a:t>2026 correctly called below normal</a:t>
            </a:r>
            <a:endParaRPr lang="en-US" sz="1300" dirty="0"/>
          </a:p>
        </p:txBody>
      </p:sp>
      <p:sp>
        <p:nvSpPr>
          <p:cNvPr id="11" name="card"/>
          <p:cNvSpPr/>
          <p:nvPr/>
        </p:nvSpPr>
        <p:spPr>
          <a:xfrm>
            <a:off x="8641080" y="3794760"/>
            <a:ext cx="299923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2" name="icon circle"/>
          <p:cNvSpPr/>
          <p:nvPr/>
        </p:nvSpPr>
        <p:spPr>
          <a:xfrm>
            <a:off x="8823960" y="3950208"/>
            <a:ext cx="420624" cy="420624"/>
          </a:xfrm>
          <a:prstGeom prst="ellipse">
            <a:avLst/>
          </a:prstGeom>
          <a:solidFill>
            <a:schemeClr val="accent2"/>
          </a:solidFill>
          <a:ln/>
        </p:spPr>
      </p:sp>
      <p:pic>
        <p:nvPicPr>
          <p:cNvPr id="13" name="Image 1" descr="ExclamationTriangle icon">    </p:cNvPr>
          <p:cNvPicPr>
            <a:picLocks noChangeAspect="1"/>
          </p:cNvPicPr>
          <p:nvPr/>
        </p:nvPicPr>
        <p:blipFill>
          <a:blip r:embed="rId3"/>
          <a:stretch>
            <a:fillRect/>
          </a:stretch>
        </p:blipFill>
        <p:spPr>
          <a:xfrm>
            <a:off x="8933322" y="4059570"/>
            <a:ext cx="201900" cy="201900"/>
          </a:xfrm>
          <a:prstGeom prst="rect">
            <a:avLst/>
          </a:prstGeom>
        </p:spPr>
      </p:pic>
      <p:sp>
        <p:nvSpPr>
          <p:cNvPr id="14" name="Text 8"/>
          <p:cNvSpPr txBox="1"/>
          <p:nvPr/>
        </p:nvSpPr>
        <p:spPr>
          <a:xfrm>
            <a:off x="9354312" y="3931920"/>
            <a:ext cx="2148840" cy="457200"/>
          </a:xfrm>
          <a:prstGeom prst="rect">
            <a:avLst/>
          </a:prstGeom>
          <a:noFill/>
          <a:ln/>
        </p:spPr>
        <p:txBody>
          <a:bodyPr wrap="square" lIns="0" tIns="0" rIns="0" bIns="0" rtlCol="0" anchor="ctr"/>
          <a:lstStyle/>
          <a:p>
            <a:pPr indent="0" marL="0">
              <a:buNone/>
            </a:pPr>
            <a:r>
              <a:rPr lang="en-US" sz="1600" b="1" dirty="0">
                <a:solidFill>
                  <a:schemeClr val="tx2"/>
                </a:solidFill>
              </a:rPr>
              <a:t>Misses</a:t>
            </a:r>
            <a:endParaRPr lang="en-US" sz="1600" dirty="0"/>
          </a:p>
        </p:txBody>
      </p:sp>
      <p:sp>
        <p:nvSpPr>
          <p:cNvPr id="15" name="Text 9"/>
          <p:cNvSpPr txBox="1"/>
          <p:nvPr/>
        </p:nvSpPr>
        <p:spPr>
          <a:xfrm>
            <a:off x="8823960" y="4480560"/>
            <a:ext cx="263347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2019:</a:t>
            </a:r>
            <a:r>
              <a:rPr lang="en-US" sz="1300" dirty="0">
                <a:solidFill>
                  <a:schemeClr val="tx1"/>
                </a:solidFill>
              </a:rPr>
              <a:t> +IOD → 110 % vs 96 %</a:t>
            </a:r>
            <a:endParaRPr lang="en-US" sz="1300" dirty="0"/>
          </a:p>
          <a:p>
            <a:pPr marL="177800" indent="-177800">
              <a:spcAft>
                <a:spcPts val="400"/>
              </a:spcAft>
              <a:buSzPct val="100000"/>
              <a:buChar char="•"/>
            </a:pPr>
            <a:r>
              <a:rPr lang="en-US" sz="1300" b="1" dirty="0">
                <a:solidFill>
                  <a:schemeClr val="tx1"/>
                </a:solidFill>
              </a:rPr>
              <a:t>2020:</a:t>
            </a:r>
            <a:r>
              <a:rPr lang="en-US" sz="1300" dirty="0">
                <a:solidFill>
                  <a:schemeClr val="tx1"/>
                </a:solidFill>
              </a:rPr>
              <a:t> 109 % vs 100 %</a:t>
            </a:r>
            <a:endParaRPr lang="en-US" sz="1300" dirty="0"/>
          </a:p>
          <a:p>
            <a:pPr marL="177800" indent="-177800">
              <a:spcAft>
                <a:spcPts val="400"/>
              </a:spcAft>
              <a:buSzPct val="100000"/>
              <a:buChar char="•"/>
            </a:pPr>
            <a:r>
              <a:rPr lang="en-US" sz="1300" b="1" dirty="0">
                <a:solidFill>
                  <a:schemeClr val="tx1"/>
                </a:solidFill>
              </a:rPr>
              <a:t>2015, 2018:</a:t>
            </a:r>
            <a:r>
              <a:rPr lang="en-US" sz="1300" dirty="0">
                <a:solidFill>
                  <a:schemeClr val="tx1"/>
                </a:solidFill>
              </a:rPr>
              <a:t> drier than forecast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Case study: the 2026 monsoon</a:t>
            </a:r>
            <a:endParaRPr lang="en-US" sz="3200" dirty="0"/>
          </a:p>
        </p:txBody>
      </p:sp>
      <p:sp>
        <p:nvSpPr>
          <p:cNvPr id="4" name="card"/>
          <p:cNvSpPr/>
          <p:nvPr/>
        </p:nvSpPr>
        <p:spPr>
          <a:xfrm>
            <a:off x="548640" y="1371600"/>
            <a:ext cx="2514600" cy="1920240"/>
          </a:xfrm>
          <a:prstGeom prst="roundRect">
            <a:avLst>
              <a:gd name="adj" fmla="val 3810"/>
            </a:avLst>
          </a:prstGeom>
          <a:solidFill>
            <a:schemeClr val="accent5"/>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463040"/>
            <a:ext cx="2514600" cy="914400"/>
          </a:xfrm>
          <a:prstGeom prst="rect">
            <a:avLst/>
          </a:prstGeom>
          <a:noFill/>
          <a:ln/>
        </p:spPr>
        <p:txBody>
          <a:bodyPr wrap="square" lIns="0" tIns="0" rIns="0" bIns="0" rtlCol="0" anchor="ctr"/>
          <a:lstStyle/>
          <a:p>
            <a:pPr algn="ctr" indent="0" marL="0">
              <a:buNone/>
            </a:pPr>
            <a:r>
              <a:rPr lang="en-US" sz="4000" b="1" dirty="0">
                <a:solidFill>
                  <a:schemeClr val="bg1"/>
                </a:solidFill>
              </a:rPr>
              <a:t>92 %</a:t>
            </a:r>
            <a:endParaRPr lang="en-US" sz="4000" dirty="0"/>
          </a:p>
        </p:txBody>
      </p:sp>
      <p:sp>
        <p:nvSpPr>
          <p:cNvPr id="6" name="Text 3"/>
          <p:cNvSpPr txBox="1"/>
          <p:nvPr/>
        </p:nvSpPr>
        <p:spPr>
          <a:xfrm>
            <a:off x="685800" y="2377440"/>
            <a:ext cx="2240280" cy="822960"/>
          </a:xfrm>
          <a:prstGeom prst="rect">
            <a:avLst/>
          </a:prstGeom>
          <a:noFill/>
          <a:ln/>
        </p:spPr>
        <p:txBody>
          <a:bodyPr wrap="square" lIns="0" tIns="0" rIns="0" bIns="0" rtlCol="0" anchor="t"/>
          <a:lstStyle/>
          <a:p>
            <a:pPr algn="ctr" indent="0" marL="0">
              <a:buNone/>
            </a:pPr>
            <a:r>
              <a:rPr lang="en-US" sz="1200" dirty="0">
                <a:solidFill>
                  <a:schemeClr val="bg1"/>
                </a:solidFill>
              </a:rPr>
              <a:t>April forecast (±5 %)</a:t>
            </a:r>
            <a:endParaRPr lang="en-US" sz="1200" dirty="0"/>
          </a:p>
        </p:txBody>
      </p:sp>
      <p:sp>
        <p:nvSpPr>
          <p:cNvPr id="7" name="arrow"/>
          <p:cNvSpPr/>
          <p:nvPr/>
        </p:nvSpPr>
        <p:spPr>
          <a:xfrm>
            <a:off x="3072384" y="2331720"/>
            <a:ext cx="164592" cy="0"/>
          </a:xfrm>
          <a:prstGeom prst="line">
            <a:avLst/>
          </a:prstGeom>
          <a:noFill/>
          <a:ln w="31750">
            <a:solidFill>
              <a:srgbClr val="0E3B43"/>
            </a:solidFill>
            <a:prstDash val="solid"/>
            <a:tailEnd type="triangle"/>
          </a:ln>
        </p:spPr>
      </p:sp>
      <p:sp>
        <p:nvSpPr>
          <p:cNvPr id="8" name="card"/>
          <p:cNvSpPr/>
          <p:nvPr/>
        </p:nvSpPr>
        <p:spPr>
          <a:xfrm>
            <a:off x="3246120" y="1371600"/>
            <a:ext cx="2514600" cy="1920240"/>
          </a:xfrm>
          <a:prstGeom prst="roundRect">
            <a:avLst>
              <a:gd name="adj" fmla="val 3810"/>
            </a:avLst>
          </a:prstGeom>
          <a:solidFill>
            <a:schemeClr val="accent4"/>
          </a:solidFill>
          <a:ln/>
          <a:effectLst>
            <a:outerShdw sx="100000" sy="100000" kx="0" ky="0" algn="bl" rotWithShape="0" blurRad="76200" dist="25400" dir="5400000">
              <a:srgbClr val="000000">
                <a:alpha val="14000"/>
              </a:srgbClr>
            </a:outerShdw>
          </a:effectLst>
        </p:spPr>
      </p:sp>
      <p:sp>
        <p:nvSpPr>
          <p:cNvPr id="9" name="Text 6"/>
          <p:cNvSpPr txBox="1"/>
          <p:nvPr/>
        </p:nvSpPr>
        <p:spPr>
          <a:xfrm>
            <a:off x="3246120" y="1463040"/>
            <a:ext cx="2514600" cy="914400"/>
          </a:xfrm>
          <a:prstGeom prst="rect">
            <a:avLst/>
          </a:prstGeom>
          <a:noFill/>
          <a:ln/>
        </p:spPr>
        <p:txBody>
          <a:bodyPr wrap="square" lIns="0" tIns="0" rIns="0" bIns="0" rtlCol="0" anchor="ctr"/>
          <a:lstStyle/>
          <a:p>
            <a:pPr algn="ctr" indent="0" marL="0">
              <a:buNone/>
            </a:pPr>
            <a:r>
              <a:rPr lang="en-US" sz="4000" b="1" dirty="0">
                <a:solidFill>
                  <a:schemeClr val="bg1"/>
                </a:solidFill>
              </a:rPr>
              <a:t>90 %</a:t>
            </a:r>
            <a:endParaRPr lang="en-US" sz="4000" dirty="0"/>
          </a:p>
        </p:txBody>
      </p:sp>
      <p:sp>
        <p:nvSpPr>
          <p:cNvPr id="10" name="Text 7"/>
          <p:cNvSpPr txBox="1"/>
          <p:nvPr/>
        </p:nvSpPr>
        <p:spPr>
          <a:xfrm>
            <a:off x="3383280" y="2377440"/>
            <a:ext cx="2240280" cy="822960"/>
          </a:xfrm>
          <a:prstGeom prst="rect">
            <a:avLst/>
          </a:prstGeom>
          <a:noFill/>
          <a:ln/>
        </p:spPr>
        <p:txBody>
          <a:bodyPr wrap="square" lIns="0" tIns="0" rIns="0" bIns="0" rtlCol="0" anchor="t"/>
          <a:lstStyle/>
          <a:p>
            <a:pPr algn="ctr" indent="0" marL="0">
              <a:buNone/>
            </a:pPr>
            <a:r>
              <a:rPr lang="en-US" sz="1200" dirty="0">
                <a:solidFill>
                  <a:schemeClr val="bg1"/>
                </a:solidFill>
              </a:rPr>
              <a:t>end-May update (±4 %); 60 % chance of deficient</a:t>
            </a:r>
            <a:endParaRPr lang="en-US" sz="1200" dirty="0"/>
          </a:p>
        </p:txBody>
      </p:sp>
      <p:sp>
        <p:nvSpPr>
          <p:cNvPr id="11" name="arrow"/>
          <p:cNvSpPr/>
          <p:nvPr/>
        </p:nvSpPr>
        <p:spPr>
          <a:xfrm>
            <a:off x="5769864" y="2331720"/>
            <a:ext cx="164592" cy="0"/>
          </a:xfrm>
          <a:prstGeom prst="line">
            <a:avLst/>
          </a:prstGeom>
          <a:noFill/>
          <a:ln w="31750">
            <a:solidFill>
              <a:srgbClr val="0E3B43"/>
            </a:solidFill>
            <a:prstDash val="solid"/>
            <a:tailEnd type="triangle"/>
          </a:ln>
        </p:spPr>
      </p:sp>
      <p:sp>
        <p:nvSpPr>
          <p:cNvPr id="12" name="card"/>
          <p:cNvSpPr/>
          <p:nvPr/>
        </p:nvSpPr>
        <p:spPr>
          <a:xfrm>
            <a:off x="5943600" y="1371600"/>
            <a:ext cx="2514600" cy="1920240"/>
          </a:xfrm>
          <a:prstGeom prst="roundRect">
            <a:avLst>
              <a:gd name="adj" fmla="val 3810"/>
            </a:avLst>
          </a:prstGeom>
          <a:solidFill>
            <a:schemeClr val="accent2"/>
          </a:solidFill>
          <a:ln/>
          <a:effectLst>
            <a:outerShdw sx="100000" sy="100000" kx="0" ky="0" algn="bl" rotWithShape="0" blurRad="76200" dist="25400" dir="5400000">
              <a:srgbClr val="000000">
                <a:alpha val="14000"/>
              </a:srgbClr>
            </a:outerShdw>
          </a:effectLst>
        </p:spPr>
      </p:sp>
      <p:sp>
        <p:nvSpPr>
          <p:cNvPr id="13" name="Text 10"/>
          <p:cNvSpPr txBox="1"/>
          <p:nvPr/>
        </p:nvSpPr>
        <p:spPr>
          <a:xfrm>
            <a:off x="5943600" y="1463040"/>
            <a:ext cx="2514600" cy="914400"/>
          </a:xfrm>
          <a:prstGeom prst="rect">
            <a:avLst/>
          </a:prstGeom>
          <a:noFill/>
          <a:ln/>
        </p:spPr>
        <p:txBody>
          <a:bodyPr wrap="square" lIns="0" tIns="0" rIns="0" bIns="0" rtlCol="0" anchor="ctr"/>
          <a:lstStyle/>
          <a:p>
            <a:pPr algn="ctr" indent="0" marL="0">
              <a:buNone/>
            </a:pPr>
            <a:r>
              <a:rPr lang="en-US" sz="4000" b="1" dirty="0">
                <a:solidFill>
                  <a:schemeClr val="bg1"/>
                </a:solidFill>
              </a:rPr>
              <a:t>≈ 87 %</a:t>
            </a:r>
            <a:endParaRPr lang="en-US" sz="4000" dirty="0"/>
          </a:p>
        </p:txBody>
      </p:sp>
      <p:sp>
        <p:nvSpPr>
          <p:cNvPr id="14" name="Text 11"/>
          <p:cNvSpPr txBox="1"/>
          <p:nvPr/>
        </p:nvSpPr>
        <p:spPr>
          <a:xfrm>
            <a:off x="6080760" y="2377440"/>
            <a:ext cx="2240280" cy="822960"/>
          </a:xfrm>
          <a:prstGeom prst="rect">
            <a:avLst/>
          </a:prstGeom>
          <a:noFill/>
          <a:ln/>
        </p:spPr>
        <p:txBody>
          <a:bodyPr wrap="square" lIns="0" tIns="0" rIns="0" bIns="0" rtlCol="0" anchor="t"/>
          <a:lstStyle/>
          <a:p>
            <a:pPr algn="ctr" indent="0" marL="0">
              <a:buNone/>
            </a:pPr>
            <a:r>
              <a:rPr lang="en-US" sz="1200" dirty="0">
                <a:solidFill>
                  <a:schemeClr val="bg1"/>
                </a:solidFill>
              </a:rPr>
              <a:t>actual season (provisional)</a:t>
            </a:r>
            <a:endParaRPr lang="en-US" sz="1200" dirty="0"/>
          </a:p>
        </p:txBody>
      </p:sp>
      <p:sp>
        <p:nvSpPr>
          <p:cNvPr id="15" name="card"/>
          <p:cNvSpPr/>
          <p:nvPr/>
        </p:nvSpPr>
        <p:spPr>
          <a:xfrm>
            <a:off x="548640" y="3520440"/>
            <a:ext cx="3840480" cy="2651760"/>
          </a:xfrm>
          <a:prstGeom prst="roundRect">
            <a:avLst>
              <a:gd name="adj" fmla="val 2759"/>
            </a:avLst>
          </a:prstGeom>
          <a:solidFill>
            <a:schemeClr val="bg2"/>
          </a:solidFill>
          <a:ln/>
          <a:effectLst>
            <a:outerShdw sx="100000" sy="100000" kx="0" ky="0" algn="bl" rotWithShape="0" blurRad="76200" dist="25400" dir="5400000">
              <a:srgbClr val="000000">
                <a:alpha val="14000"/>
              </a:srgbClr>
            </a:outerShdw>
          </a:effectLst>
        </p:spPr>
      </p:sp>
      <p:sp>
        <p:nvSpPr>
          <p:cNvPr id="16" name="icon circle"/>
          <p:cNvSpPr/>
          <p:nvPr/>
        </p:nvSpPr>
        <p:spPr>
          <a:xfrm>
            <a:off x="731520" y="3675888"/>
            <a:ext cx="420624" cy="420624"/>
          </a:xfrm>
          <a:prstGeom prst="ellipse">
            <a:avLst/>
          </a:prstGeom>
          <a:solidFill>
            <a:schemeClr val="accent2"/>
          </a:solidFill>
          <a:ln/>
        </p:spPr>
      </p:sp>
      <p:pic>
        <p:nvPicPr>
          <p:cNvPr id="17" name="Image 0" descr="GlobeAsia icon">    </p:cNvPr>
          <p:cNvPicPr>
            <a:picLocks noChangeAspect="1"/>
          </p:cNvPicPr>
          <p:nvPr/>
        </p:nvPicPr>
        <p:blipFill>
          <a:blip r:embed="rId1"/>
          <a:stretch>
            <a:fillRect/>
          </a:stretch>
        </p:blipFill>
        <p:spPr>
          <a:xfrm>
            <a:off x="840882" y="3785250"/>
            <a:ext cx="201900" cy="201900"/>
          </a:xfrm>
          <a:prstGeom prst="rect">
            <a:avLst/>
          </a:prstGeom>
        </p:spPr>
      </p:pic>
      <p:sp>
        <p:nvSpPr>
          <p:cNvPr id="18" name="Text 14"/>
          <p:cNvSpPr txBox="1"/>
          <p:nvPr/>
        </p:nvSpPr>
        <p:spPr>
          <a:xfrm>
            <a:off x="1261872" y="3657600"/>
            <a:ext cx="2990088" cy="457200"/>
          </a:xfrm>
          <a:prstGeom prst="rect">
            <a:avLst/>
          </a:prstGeom>
          <a:noFill/>
          <a:ln/>
        </p:spPr>
        <p:txBody>
          <a:bodyPr wrap="square" lIns="0" tIns="0" rIns="0" bIns="0" rtlCol="0" anchor="ctr"/>
          <a:lstStyle/>
          <a:p>
            <a:pPr indent="0" marL="0">
              <a:buNone/>
            </a:pPr>
            <a:r>
              <a:rPr lang="en-US" sz="1600" b="1" dirty="0">
                <a:solidFill>
                  <a:schemeClr val="tx2"/>
                </a:solidFill>
              </a:rPr>
              <a:t>Why below normal was forecast</a:t>
            </a:r>
            <a:endParaRPr lang="en-US" sz="1600" dirty="0"/>
          </a:p>
        </p:txBody>
      </p:sp>
      <p:sp>
        <p:nvSpPr>
          <p:cNvPr id="19" name="Text 15"/>
          <p:cNvSpPr txBox="1"/>
          <p:nvPr/>
        </p:nvSpPr>
        <p:spPr>
          <a:xfrm>
            <a:off x="731520" y="4206240"/>
            <a:ext cx="3474720" cy="18745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El Niño developing from neutral ENSO</a:t>
            </a:r>
            <a:endParaRPr lang="en-US" sz="1300" dirty="0"/>
          </a:p>
          <a:p>
            <a:pPr marL="177800" indent="-177800">
              <a:spcAft>
                <a:spcPts val="400"/>
              </a:spcAft>
              <a:buSzPct val="100000"/>
              <a:buChar char="•"/>
            </a:pPr>
            <a:r>
              <a:rPr lang="en-US" sz="1300" dirty="0">
                <a:solidFill>
                  <a:schemeClr val="tx1"/>
                </a:solidFill>
              </a:rPr>
              <a:t>Both SEFS and MME pointed below normal</a:t>
            </a:r>
            <a:endParaRPr lang="en-US" sz="1300" dirty="0"/>
          </a:p>
          <a:p>
            <a:pPr marL="177800" indent="-177800">
              <a:spcAft>
                <a:spcPts val="400"/>
              </a:spcAft>
              <a:buSzPct val="100000"/>
              <a:buChar char="•"/>
            </a:pPr>
            <a:r>
              <a:rPr lang="en-US" sz="1300" dirty="0">
                <a:solidFill>
                  <a:schemeClr val="tx1"/>
                </a:solidFill>
              </a:rPr>
              <a:t>June forecast &lt;92 % of LPA</a:t>
            </a:r>
            <a:endParaRPr lang="en-US" sz="1300" dirty="0"/>
          </a:p>
        </p:txBody>
      </p:sp>
      <p:sp>
        <p:nvSpPr>
          <p:cNvPr id="20" name="card"/>
          <p:cNvSpPr/>
          <p:nvPr/>
        </p:nvSpPr>
        <p:spPr>
          <a:xfrm>
            <a:off x="4572000" y="3520440"/>
            <a:ext cx="3840480" cy="2651760"/>
          </a:xfrm>
          <a:prstGeom prst="roundRect">
            <a:avLst>
              <a:gd name="adj" fmla="val 2759"/>
            </a:avLst>
          </a:prstGeom>
          <a:solidFill>
            <a:schemeClr val="bg2"/>
          </a:solidFill>
          <a:ln/>
          <a:effectLst>
            <a:outerShdw sx="100000" sy="100000" kx="0" ky="0" algn="bl" rotWithShape="0" blurRad="76200" dist="25400" dir="5400000">
              <a:srgbClr val="000000">
                <a:alpha val="14000"/>
              </a:srgbClr>
            </a:outerShdw>
          </a:effectLst>
        </p:spPr>
      </p:sp>
      <p:sp>
        <p:nvSpPr>
          <p:cNvPr id="21" name="icon circle"/>
          <p:cNvSpPr/>
          <p:nvPr/>
        </p:nvSpPr>
        <p:spPr>
          <a:xfrm>
            <a:off x="4754880" y="3675888"/>
            <a:ext cx="420624" cy="420624"/>
          </a:xfrm>
          <a:prstGeom prst="ellipse">
            <a:avLst/>
          </a:prstGeom>
          <a:solidFill>
            <a:schemeClr val="accent5"/>
          </a:solidFill>
          <a:ln/>
        </p:spPr>
      </p:sp>
      <p:pic>
        <p:nvPicPr>
          <p:cNvPr id="22" name="Image 1" descr="CloudRain icon">    </p:cNvPr>
          <p:cNvPicPr>
            <a:picLocks noChangeAspect="1"/>
          </p:cNvPicPr>
          <p:nvPr/>
        </p:nvPicPr>
        <p:blipFill>
          <a:blip r:embed="rId2"/>
          <a:stretch>
            <a:fillRect/>
          </a:stretch>
        </p:blipFill>
        <p:spPr>
          <a:xfrm>
            <a:off x="4864242" y="3785250"/>
            <a:ext cx="201900" cy="201900"/>
          </a:xfrm>
          <a:prstGeom prst="rect">
            <a:avLst/>
          </a:prstGeom>
        </p:spPr>
      </p:pic>
      <p:sp>
        <p:nvSpPr>
          <p:cNvPr id="23" name="Text 18"/>
          <p:cNvSpPr txBox="1"/>
          <p:nvPr/>
        </p:nvSpPr>
        <p:spPr>
          <a:xfrm>
            <a:off x="5285232" y="3657600"/>
            <a:ext cx="2990088" cy="457200"/>
          </a:xfrm>
          <a:prstGeom prst="rect">
            <a:avLst/>
          </a:prstGeom>
          <a:noFill/>
          <a:ln/>
        </p:spPr>
        <p:txBody>
          <a:bodyPr wrap="square" lIns="0" tIns="0" rIns="0" bIns="0" rtlCol="0" anchor="ctr"/>
          <a:lstStyle/>
          <a:p>
            <a:pPr indent="0" marL="0">
              <a:buNone/>
            </a:pPr>
            <a:r>
              <a:rPr lang="en-US" sz="1600" b="1" dirty="0">
                <a:solidFill>
                  <a:schemeClr val="tx2"/>
                </a:solidFill>
              </a:rPr>
              <a:t>What happened</a:t>
            </a:r>
            <a:endParaRPr lang="en-US" sz="1600" dirty="0"/>
          </a:p>
        </p:txBody>
      </p:sp>
      <p:sp>
        <p:nvSpPr>
          <p:cNvPr id="24" name="Text 19"/>
          <p:cNvSpPr txBox="1"/>
          <p:nvPr/>
        </p:nvSpPr>
        <p:spPr>
          <a:xfrm>
            <a:off x="4754880" y="4206240"/>
            <a:ext cx="3474720" cy="18745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Season ≈ 87 % of LPA (deficient)</a:t>
            </a:r>
            <a:endParaRPr lang="en-US" sz="1300" dirty="0"/>
          </a:p>
          <a:p>
            <a:pPr marL="177800" indent="-177800">
              <a:spcAft>
                <a:spcPts val="400"/>
              </a:spcAft>
              <a:buSzPct val="100000"/>
              <a:buChar char="•"/>
            </a:pPr>
            <a:r>
              <a:rPr lang="en-US" sz="1300" dirty="0">
                <a:solidFill>
                  <a:schemeClr val="tx1"/>
                </a:solidFill>
              </a:rPr>
              <a:t>East &amp; NE India driest since 1901</a:t>
            </a:r>
            <a:endParaRPr lang="en-US" sz="1300" dirty="0"/>
          </a:p>
          <a:p>
            <a:pPr marL="177800" indent="-177800">
              <a:spcAft>
                <a:spcPts val="400"/>
              </a:spcAft>
              <a:buSzPct val="100000"/>
              <a:buChar char="•"/>
            </a:pPr>
            <a:r>
              <a:rPr lang="en-US" sz="1300" dirty="0">
                <a:solidFill>
                  <a:schemeClr val="tx1"/>
                </a:solidFill>
              </a:rPr>
              <a:t>17 of 36 sub-divisions deficient</a:t>
            </a:r>
            <a:endParaRPr lang="en-US" sz="1300" dirty="0"/>
          </a:p>
        </p:txBody>
      </p:sp>
      <p:sp>
        <p:nvSpPr>
          <p:cNvPr id="25" name="card"/>
          <p:cNvSpPr/>
          <p:nvPr/>
        </p:nvSpPr>
        <p:spPr>
          <a:xfrm>
            <a:off x="8641080" y="1371600"/>
            <a:ext cx="2999232" cy="4800600"/>
          </a:xfrm>
          <a:prstGeom prst="roundRect">
            <a:avLst>
              <a:gd name="adj" fmla="val 2439"/>
            </a:avLst>
          </a:prstGeom>
          <a:solidFill>
            <a:schemeClr val="bg2"/>
          </a:solidFill>
          <a:ln/>
          <a:effectLst>
            <a:outerShdw sx="100000" sy="100000" kx="0" ky="0" algn="bl" rotWithShape="0" blurRad="76200" dist="25400" dir="5400000">
              <a:srgbClr val="000000">
                <a:alpha val="14000"/>
              </a:srgbClr>
            </a:outerShdw>
          </a:effectLst>
        </p:spPr>
      </p:sp>
      <p:sp>
        <p:nvSpPr>
          <p:cNvPr id="26" name="icon circle"/>
          <p:cNvSpPr/>
          <p:nvPr/>
        </p:nvSpPr>
        <p:spPr>
          <a:xfrm>
            <a:off x="8823960" y="1527048"/>
            <a:ext cx="420624" cy="420624"/>
          </a:xfrm>
          <a:prstGeom prst="ellipse">
            <a:avLst/>
          </a:prstGeom>
          <a:solidFill>
            <a:schemeClr val="accent3"/>
          </a:solidFill>
          <a:ln/>
        </p:spPr>
      </p:sp>
      <p:pic>
        <p:nvPicPr>
          <p:cNvPr id="27" name="Image 2" descr="Lightbulb icon">    </p:cNvPr>
          <p:cNvPicPr>
            <a:picLocks noChangeAspect="1"/>
          </p:cNvPicPr>
          <p:nvPr/>
        </p:nvPicPr>
        <p:blipFill>
          <a:blip r:embed="rId3"/>
          <a:stretch>
            <a:fillRect/>
          </a:stretch>
        </p:blipFill>
        <p:spPr>
          <a:xfrm>
            <a:off x="8933322" y="1636410"/>
            <a:ext cx="201900" cy="201900"/>
          </a:xfrm>
          <a:prstGeom prst="rect">
            <a:avLst/>
          </a:prstGeom>
        </p:spPr>
      </p:pic>
      <p:sp>
        <p:nvSpPr>
          <p:cNvPr id="28" name="Text 22"/>
          <p:cNvSpPr txBox="1"/>
          <p:nvPr/>
        </p:nvSpPr>
        <p:spPr>
          <a:xfrm>
            <a:off x="9354312" y="1508760"/>
            <a:ext cx="2148840" cy="457200"/>
          </a:xfrm>
          <a:prstGeom prst="rect">
            <a:avLst/>
          </a:prstGeom>
          <a:noFill/>
          <a:ln/>
        </p:spPr>
        <p:txBody>
          <a:bodyPr wrap="square" lIns="0" tIns="0" rIns="0" bIns="0" rtlCol="0" anchor="ctr"/>
          <a:lstStyle/>
          <a:p>
            <a:pPr indent="0" marL="0">
              <a:buNone/>
            </a:pPr>
            <a:r>
              <a:rPr lang="en-US" sz="1600" b="1" dirty="0">
                <a:solidFill>
                  <a:schemeClr val="tx2"/>
                </a:solidFill>
              </a:rPr>
              <a:t>Lessons</a:t>
            </a:r>
            <a:endParaRPr lang="en-US" sz="1600" dirty="0"/>
          </a:p>
        </p:txBody>
      </p:sp>
      <p:sp>
        <p:nvSpPr>
          <p:cNvPr id="29" name="Text 23"/>
          <p:cNvSpPr txBox="1"/>
          <p:nvPr/>
        </p:nvSpPr>
        <p:spPr>
          <a:xfrm>
            <a:off x="8823960" y="2057400"/>
            <a:ext cx="2633472" cy="40233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Direction correct; magnitude underestimated</a:t>
            </a:r>
            <a:endParaRPr lang="en-US" sz="1300" dirty="0"/>
          </a:p>
          <a:p>
            <a:pPr marL="177800" indent="-177800">
              <a:spcAft>
                <a:spcPts val="400"/>
              </a:spcAft>
              <a:buSzPct val="100000"/>
              <a:buChar char="•"/>
            </a:pPr>
            <a:r>
              <a:rPr lang="en-US" sz="1300" dirty="0">
                <a:solidFill>
                  <a:schemeClr val="tx1"/>
                </a:solidFill>
              </a:rPr>
              <a:t>Regional forecast for NE India missed badly</a:t>
            </a:r>
            <a:endParaRPr lang="en-US" sz="1300" dirty="0"/>
          </a:p>
          <a:p>
            <a:pPr marL="177800" indent="-177800">
              <a:spcAft>
                <a:spcPts val="400"/>
              </a:spcAft>
              <a:buSzPct val="100000"/>
              <a:buChar char="•"/>
            </a:pPr>
            <a:r>
              <a:rPr lang="en-US" sz="1300" dirty="0">
                <a:solidFill>
                  <a:schemeClr val="tx1"/>
                </a:solidFill>
              </a:rPr>
              <a:t>Regional skill is much lower than all-India skill</a:t>
            </a:r>
            <a:endParaRPr lang="en-US" sz="1300" dirty="0"/>
          </a:p>
          <a:p>
            <a:pPr marL="177800" indent="-177800">
              <a:spcAft>
                <a:spcPts val="400"/>
              </a:spcAft>
              <a:buSzPct val="100000"/>
              <a:buChar char="•"/>
            </a:pPr>
            <a:r>
              <a:rPr lang="en-US" sz="1300" dirty="0">
                <a:solidFill>
                  <a:schemeClr val="tx1"/>
                </a:solidFill>
              </a:rPr>
              <a:t>Seasonal forecasts are probabilities: a 60 % chance of deficient means it can also be worse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Why seasonal forecasting stays hard</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4"/>
          </a:solidFill>
          <a:ln/>
        </p:spPr>
      </p:sp>
      <p:pic>
        <p:nvPicPr>
          <p:cNvPr id="6" name="Image 0" descr="SyncAlt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Internal variability</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Active / break spells and lows are chaotic → limit on seasonal skill</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527048"/>
            <a:ext cx="420624" cy="420624"/>
          </a:xfrm>
          <a:prstGeom prst="ellipse">
            <a:avLst/>
          </a:prstGeom>
          <a:solidFill>
            <a:schemeClr val="accent2"/>
          </a:solidFill>
          <a:ln/>
        </p:spPr>
      </p:sp>
      <p:pic>
        <p:nvPicPr>
          <p:cNvPr id="11" name="Image 1" descr="CalendarAlt icon">    </p:cNvPr>
          <p:cNvPicPr>
            <a:picLocks noChangeAspect="1"/>
          </p:cNvPicPr>
          <p:nvPr/>
        </p:nvPicPr>
        <p:blipFill>
          <a:blip r:embed="rId2"/>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Spring predictability barrier</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ENSO forecasts made in March–May are least reliable</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527048"/>
            <a:ext cx="420624" cy="420624"/>
          </a:xfrm>
          <a:prstGeom prst="ellipse">
            <a:avLst/>
          </a:prstGeom>
          <a:solidFill>
            <a:schemeClr val="accent6"/>
          </a:solidFill>
          <a:ln/>
        </p:spPr>
      </p:sp>
      <p:pic>
        <p:nvPicPr>
          <p:cNvPr id="16" name="Image 2" descr="Cogs icon">    </p:cNvPr>
          <p:cNvPicPr>
            <a:picLocks noChangeAspect="1"/>
          </p:cNvPicPr>
          <p:nvPr/>
        </p:nvPicPr>
        <p:blipFill>
          <a:blip r:embed="rId3"/>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Model biases</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Dry bias over Indian land, weak monsoon trough, IOD errors</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950208"/>
            <a:ext cx="420624" cy="420624"/>
          </a:xfrm>
          <a:prstGeom prst="ellipse">
            <a:avLst/>
          </a:prstGeom>
          <a:solidFill>
            <a:schemeClr val="accent5"/>
          </a:solidFill>
          <a:ln/>
        </p:spPr>
      </p:sp>
      <p:pic>
        <p:nvPicPr>
          <p:cNvPr id="21" name="Image 3" descr="ChartLine icon">    </p:cNvPr>
          <p:cNvPicPr>
            <a:picLocks noChangeAspect="1"/>
          </p:cNvPicPr>
          <p:nvPr/>
        </p:nvPicPr>
        <p:blipFill>
          <a:blip r:embed="rId4"/>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Changing teleconnections</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Predictor links weaken or shift with climate change</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480560" y="3950208"/>
            <a:ext cx="420624" cy="420624"/>
          </a:xfrm>
          <a:prstGeom prst="ellipse">
            <a:avLst/>
          </a:prstGeom>
          <a:solidFill>
            <a:schemeClr val="accent1"/>
          </a:solidFill>
          <a:ln/>
        </p:spPr>
      </p:sp>
      <p:pic>
        <p:nvPicPr>
          <p:cNvPr id="26" name="Image 4" descr="MapMarkedAlt icon">    </p:cNvPr>
          <p:cNvPicPr>
            <a:picLocks noChangeAspect="1"/>
          </p:cNvPicPr>
          <p:nvPr/>
        </p:nvPicPr>
        <p:blipFill>
          <a:blip r:embed="rId5"/>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Regional scale</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Skill for regions &amp; months much lower than all-India</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229600" y="3950208"/>
            <a:ext cx="420624" cy="420624"/>
          </a:xfrm>
          <a:prstGeom prst="ellipse">
            <a:avLst/>
          </a:prstGeom>
          <a:solidFill>
            <a:schemeClr val="accent2"/>
          </a:solidFill>
          <a:ln/>
        </p:spPr>
      </p:sp>
      <p:pic>
        <p:nvPicPr>
          <p:cNvPr id="31" name="Image 5" descr="CloudShowersHeavy icon">    </p:cNvPr>
          <p:cNvPicPr>
            <a:picLocks noChangeAspect="1"/>
          </p:cNvPicPr>
          <p:nvPr/>
        </p:nvPicPr>
        <p:blipFill>
          <a:blip r:embed="rId6"/>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More extremes</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Fewer rain days, more heavy-rain events in a warmer climate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forecasts are verified</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1"/>
          </a:solidFill>
          <a:ln/>
        </p:spPr>
      </p:sp>
      <p:pic>
        <p:nvPicPr>
          <p:cNvPr id="6" name="Image 0" descr="RulerCombined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Error &amp; RMSE</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Forecast minus observed % of LPA; is it inside ±5 %?</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527048"/>
            <a:ext cx="420624" cy="420624"/>
          </a:xfrm>
          <a:prstGeom prst="ellipse">
            <a:avLst/>
          </a:prstGeom>
          <a:solidFill>
            <a:schemeClr val="accent1"/>
          </a:solidFill>
          <a:ln/>
        </p:spPr>
      </p:sp>
      <p:pic>
        <p:nvPicPr>
          <p:cNvPr id="11" name="Image 1" descr="ChartLine icon">    </p:cNvPr>
          <p:cNvPicPr>
            <a:picLocks noChangeAspect="1"/>
          </p:cNvPicPr>
          <p:nvPr/>
        </p:nvPicPr>
        <p:blipFill>
          <a:blip r:embed="rId2"/>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Correlation (hindcasts)</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Does the model follow year-to-year swings? e.g. 1981–2020</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527048"/>
            <a:ext cx="420624" cy="420624"/>
          </a:xfrm>
          <a:prstGeom prst="ellipse">
            <a:avLst/>
          </a:prstGeom>
          <a:solidFill>
            <a:schemeClr val="accent1"/>
          </a:solidFill>
          <a:ln/>
        </p:spPr>
      </p:sp>
      <p:pic>
        <p:nvPicPr>
          <p:cNvPr id="16" name="Image 2" descr="ChartBar icon">    </p:cNvPr>
          <p:cNvPicPr>
            <a:picLocks noChangeAspect="1"/>
          </p:cNvPicPr>
          <p:nvPr/>
        </p:nvPicPr>
        <p:blipFill>
          <a:blip r:embed="rId3"/>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Brier / RPSS</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Accuracy of category probabilities</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950208"/>
            <a:ext cx="420624" cy="420624"/>
          </a:xfrm>
          <a:prstGeom prst="ellipse">
            <a:avLst/>
          </a:prstGeom>
          <a:solidFill>
            <a:schemeClr val="accent1"/>
          </a:solidFill>
          <a:ln/>
        </p:spPr>
      </p:sp>
      <p:pic>
        <p:nvPicPr>
          <p:cNvPr id="21" name="Image 3" descr="BalanceScale icon">    </p:cNvPr>
          <p:cNvPicPr>
            <a:picLocks noChangeAspect="1"/>
          </p:cNvPicPr>
          <p:nvPr/>
        </p:nvPicPr>
        <p:blipFill>
          <a:blip r:embed="rId4"/>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ROC &amp; reliability</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Does a '60 %' event happen ~60 % of the time?</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480560" y="3950208"/>
            <a:ext cx="420624" cy="420624"/>
          </a:xfrm>
          <a:prstGeom prst="ellipse">
            <a:avLst/>
          </a:prstGeom>
          <a:solidFill>
            <a:schemeClr val="accent1"/>
          </a:solidFill>
          <a:ln/>
        </p:spPr>
      </p:sp>
      <p:pic>
        <p:nvPicPr>
          <p:cNvPr id="26" name="Image 4" descr="Bullseye icon">    </p:cNvPr>
          <p:cNvPicPr>
            <a:picLocks noChangeAspect="1"/>
          </p:cNvPicPr>
          <p:nvPr/>
        </p:nvPicPr>
        <p:blipFill>
          <a:blip r:embed="rId5"/>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POD / FAR / ETS</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Hits, false alarms for heavy-rain warnings</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229600" y="3950208"/>
            <a:ext cx="420624" cy="420624"/>
          </a:xfrm>
          <a:prstGeom prst="ellipse">
            <a:avLst/>
          </a:prstGeom>
          <a:solidFill>
            <a:schemeClr val="accent1"/>
          </a:solidFill>
          <a:ln/>
        </p:spPr>
      </p:sp>
      <p:pic>
        <p:nvPicPr>
          <p:cNvPr id="31" name="Image 5" descr="SyncAlt icon">    </p:cNvPr>
          <p:cNvPicPr>
            <a:picLocks noChangeAspect="1"/>
          </p:cNvPicPr>
          <p:nvPr/>
        </p:nvPicPr>
        <p:blipFill>
          <a:blip r:embed="rId6"/>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Feedback loop</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Scores guide predictor choice &amp; model upgrades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Users and the road ahead</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Who uses the forecasts, and how Mission Mausam, new observations and AI are changing them</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08</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Who uses monsoon forecasts</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1"/>
          </a:solidFill>
          <a:ln/>
        </p:spPr>
      </p:sp>
      <p:pic>
        <p:nvPicPr>
          <p:cNvPr id="6" name="Image 0" descr="Tractor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Farmers &amp; agriculture</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Agro-advisories at district &amp; block level; sowing windows</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527048"/>
            <a:ext cx="420624" cy="420624"/>
          </a:xfrm>
          <a:prstGeom prst="ellipse">
            <a:avLst/>
          </a:prstGeom>
          <a:solidFill>
            <a:schemeClr val="accent5"/>
          </a:solidFill>
          <a:ln/>
        </p:spPr>
      </p:sp>
      <p:pic>
        <p:nvPicPr>
          <p:cNvPr id="11" name="Image 1" descr="Water icon">    </p:cNvPr>
          <p:cNvPicPr>
            <a:picLocks noChangeAspect="1"/>
          </p:cNvPicPr>
          <p:nvPr/>
        </p:nvPicPr>
        <p:blipFill>
          <a:blip r:embed="rId2"/>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Water managers</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Reservoir rule curves, flood control (with CWC)</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527048"/>
            <a:ext cx="420624" cy="420624"/>
          </a:xfrm>
          <a:prstGeom prst="ellipse">
            <a:avLst/>
          </a:prstGeom>
          <a:solidFill>
            <a:schemeClr val="accent2"/>
          </a:solidFill>
          <a:ln/>
        </p:spPr>
      </p:sp>
      <p:pic>
        <p:nvPicPr>
          <p:cNvPr id="16" name="Image 2" descr="ExclamationTriangle icon">    </p:cNvPr>
          <p:cNvPicPr>
            <a:picLocks noChangeAspect="1"/>
          </p:cNvPicPr>
          <p:nvPr/>
        </p:nvPicPr>
        <p:blipFill>
          <a:blip r:embed="rId3"/>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Disaster managers</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NDMA / SDMAs, flood &amp; landslide warnings</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950208"/>
            <a:ext cx="420624" cy="420624"/>
          </a:xfrm>
          <a:prstGeom prst="ellipse">
            <a:avLst/>
          </a:prstGeom>
          <a:solidFill>
            <a:schemeClr val="accent3"/>
          </a:solidFill>
          <a:ln/>
        </p:spPr>
      </p:sp>
      <p:pic>
        <p:nvPicPr>
          <p:cNvPr id="21" name="Image 3" descr="Bolt icon">    </p:cNvPr>
          <p:cNvPicPr>
            <a:picLocks noChangeAspect="1"/>
          </p:cNvPicPr>
          <p:nvPr/>
        </p:nvPicPr>
        <p:blipFill>
          <a:blip r:embed="rId4"/>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Energy sector</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Hydro &amp; solar output, demand planning</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480560" y="3950208"/>
            <a:ext cx="420624" cy="420624"/>
          </a:xfrm>
          <a:prstGeom prst="ellipse">
            <a:avLst/>
          </a:prstGeom>
          <a:solidFill>
            <a:schemeClr val="accent4"/>
          </a:solidFill>
          <a:ln/>
        </p:spPr>
      </p:sp>
      <p:pic>
        <p:nvPicPr>
          <p:cNvPr id="26" name="Image 4" descr="Industry icon">    </p:cNvPr>
          <p:cNvPicPr>
            <a:picLocks noChangeAspect="1"/>
          </p:cNvPicPr>
          <p:nvPr/>
        </p:nvPicPr>
        <p:blipFill>
          <a:blip r:embed="rId5"/>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Economy &amp; policy</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Food stocks, inflation outlook, insurance</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229600" y="3950208"/>
            <a:ext cx="420624" cy="420624"/>
          </a:xfrm>
          <a:prstGeom prst="ellipse">
            <a:avLst/>
          </a:prstGeom>
          <a:solidFill>
            <a:schemeClr val="accent6"/>
          </a:solidFill>
          <a:ln/>
        </p:spPr>
      </p:sp>
      <p:pic>
        <p:nvPicPr>
          <p:cNvPr id="31" name="Image 5" descr="Home icon">    </p:cNvPr>
          <p:cNvPicPr>
            <a:picLocks noChangeAspect="1"/>
          </p:cNvPicPr>
          <p:nvPr/>
        </p:nvPicPr>
        <p:blipFill>
          <a:blip r:embed="rId6"/>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Public &amp; health</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Heat waves, vector-borne disease, travel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road ahead: Mission Mausam and beyond</a:t>
            </a:r>
            <a:endParaRPr lang="en-US" sz="3200" dirty="0"/>
          </a:p>
        </p:txBody>
      </p:sp>
      <p:sp>
        <p:nvSpPr>
          <p:cNvPr id="4" name="card"/>
          <p:cNvSpPr/>
          <p:nvPr/>
        </p:nvSpPr>
        <p:spPr>
          <a:xfrm>
            <a:off x="548640" y="1371600"/>
            <a:ext cx="3566160" cy="1828800"/>
          </a:xfrm>
          <a:prstGeom prst="roundRect">
            <a:avLst>
              <a:gd name="adj" fmla="val 4000"/>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548640" y="1463040"/>
            <a:ext cx="3566160" cy="731520"/>
          </a:xfrm>
          <a:prstGeom prst="rect">
            <a:avLst/>
          </a:prstGeom>
          <a:noFill/>
          <a:ln/>
        </p:spPr>
        <p:txBody>
          <a:bodyPr wrap="square" lIns="0" tIns="0" rIns="0" bIns="0" rtlCol="0" anchor="ctr"/>
          <a:lstStyle/>
          <a:p>
            <a:pPr algn="ctr" indent="0" marL="0">
              <a:buNone/>
            </a:pPr>
            <a:r>
              <a:rPr lang="en-US" sz="3000" b="1" dirty="0">
                <a:solidFill>
                  <a:schemeClr val="accent3"/>
                </a:solidFill>
              </a:rPr>
              <a:t>Sept 2024</a:t>
            </a:r>
            <a:endParaRPr lang="en-US" sz="3000" dirty="0"/>
          </a:p>
        </p:txBody>
      </p:sp>
      <p:sp>
        <p:nvSpPr>
          <p:cNvPr id="6" name="Text 3"/>
          <p:cNvSpPr txBox="1"/>
          <p:nvPr/>
        </p:nvSpPr>
        <p:spPr>
          <a:xfrm>
            <a:off x="731520" y="2240280"/>
            <a:ext cx="3200400" cy="822960"/>
          </a:xfrm>
          <a:prstGeom prst="rect">
            <a:avLst/>
          </a:prstGeom>
          <a:noFill/>
          <a:ln/>
        </p:spPr>
        <p:txBody>
          <a:bodyPr wrap="square" lIns="0" tIns="0" rIns="0" bIns="0" rtlCol="0" anchor="t"/>
          <a:lstStyle/>
          <a:p>
            <a:pPr algn="ctr" indent="0" marL="0">
              <a:buNone/>
            </a:pPr>
            <a:r>
              <a:rPr lang="en-US" sz="1300" dirty="0">
                <a:solidFill>
                  <a:schemeClr val="bg2"/>
                </a:solidFill>
              </a:rPr>
              <a:t>Mission Mausam approved · ≈ ₹2,000 crore (phase 1)</a:t>
            </a:r>
            <a:endParaRPr lang="en-US" sz="1300" dirty="0"/>
          </a:p>
        </p:txBody>
      </p:sp>
      <p:sp>
        <p:nvSpPr>
          <p:cNvPr id="7" name="card"/>
          <p:cNvSpPr/>
          <p:nvPr/>
        </p:nvSpPr>
        <p:spPr>
          <a:xfrm>
            <a:off x="4315968" y="1371600"/>
            <a:ext cx="354787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4498848" y="1527048"/>
            <a:ext cx="420624" cy="420624"/>
          </a:xfrm>
          <a:prstGeom prst="ellipse">
            <a:avLst/>
          </a:prstGeom>
          <a:solidFill>
            <a:schemeClr val="accent5"/>
          </a:solidFill>
          <a:ln/>
        </p:spPr>
      </p:sp>
      <p:pic>
        <p:nvPicPr>
          <p:cNvPr id="9" name="Image 0" descr="BroadcastTower icon">    </p:cNvPr>
          <p:cNvPicPr>
            <a:picLocks noChangeAspect="1"/>
          </p:cNvPicPr>
          <p:nvPr/>
        </p:nvPicPr>
        <p:blipFill>
          <a:blip r:embed="rId1"/>
          <a:stretch>
            <a:fillRect/>
          </a:stretch>
        </p:blipFill>
        <p:spPr>
          <a:xfrm>
            <a:off x="4608210" y="1636410"/>
            <a:ext cx="201900" cy="201900"/>
          </a:xfrm>
          <a:prstGeom prst="rect">
            <a:avLst/>
          </a:prstGeom>
        </p:spPr>
      </p:pic>
      <p:sp>
        <p:nvSpPr>
          <p:cNvPr id="10" name="Text 6"/>
          <p:cNvSpPr txBox="1"/>
          <p:nvPr/>
        </p:nvSpPr>
        <p:spPr>
          <a:xfrm>
            <a:off x="5029200"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Denser observations</a:t>
            </a:r>
            <a:endParaRPr lang="en-US" sz="1500" dirty="0"/>
          </a:p>
        </p:txBody>
      </p:sp>
      <p:sp>
        <p:nvSpPr>
          <p:cNvPr id="11" name="Text 7"/>
          <p:cNvSpPr txBox="1"/>
          <p:nvPr/>
        </p:nvSpPr>
        <p:spPr>
          <a:xfrm>
            <a:off x="4498848" y="2057400"/>
            <a:ext cx="3182112"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More Doppler radars, wind profilers, AWS, ocean buoys</a:t>
            </a:r>
            <a:endParaRPr lang="en-US" sz="1300" dirty="0"/>
          </a:p>
        </p:txBody>
      </p:sp>
      <p:sp>
        <p:nvSpPr>
          <p:cNvPr id="12" name="card"/>
          <p:cNvSpPr/>
          <p:nvPr/>
        </p:nvSpPr>
        <p:spPr>
          <a:xfrm>
            <a:off x="8083296" y="1371600"/>
            <a:ext cx="354787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8266176" y="1527048"/>
            <a:ext cx="420624" cy="420624"/>
          </a:xfrm>
          <a:prstGeom prst="ellipse">
            <a:avLst/>
          </a:prstGeom>
          <a:solidFill>
            <a:schemeClr val="accent1"/>
          </a:solidFill>
          <a:ln/>
        </p:spPr>
      </p:sp>
      <p:pic>
        <p:nvPicPr>
          <p:cNvPr id="14" name="Image 1" descr="Microchip icon">    </p:cNvPr>
          <p:cNvPicPr>
            <a:picLocks noChangeAspect="1"/>
          </p:cNvPicPr>
          <p:nvPr/>
        </p:nvPicPr>
        <p:blipFill>
          <a:blip r:embed="rId2"/>
          <a:stretch>
            <a:fillRect/>
          </a:stretch>
        </p:blipFill>
        <p:spPr>
          <a:xfrm>
            <a:off x="8375538" y="1636410"/>
            <a:ext cx="201900" cy="201900"/>
          </a:xfrm>
          <a:prstGeom prst="rect">
            <a:avLst/>
          </a:prstGeom>
        </p:spPr>
      </p:pic>
      <p:sp>
        <p:nvSpPr>
          <p:cNvPr id="15" name="Text 10"/>
          <p:cNvSpPr txBox="1"/>
          <p:nvPr/>
        </p:nvSpPr>
        <p:spPr>
          <a:xfrm>
            <a:off x="8796528" y="15087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Higher-resolution models</a:t>
            </a:r>
            <a:endParaRPr lang="en-US" sz="1500" dirty="0"/>
          </a:p>
        </p:txBody>
      </p:sp>
      <p:sp>
        <p:nvSpPr>
          <p:cNvPr id="16" name="Text 11"/>
          <p:cNvSpPr txBox="1"/>
          <p:nvPr/>
        </p:nvSpPr>
        <p:spPr>
          <a:xfrm>
            <a:off x="8266176" y="2057400"/>
            <a:ext cx="3182112"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BFS at 6 km; finer coupled &amp; regional models</a:t>
            </a:r>
            <a:endParaRPr lang="en-US" sz="1300" dirty="0"/>
          </a:p>
        </p:txBody>
      </p:sp>
      <p:sp>
        <p:nvSpPr>
          <p:cNvPr id="17" name="card"/>
          <p:cNvSpPr/>
          <p:nvPr/>
        </p:nvSpPr>
        <p:spPr>
          <a:xfrm>
            <a:off x="548640" y="3429000"/>
            <a:ext cx="354787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731520" y="3584448"/>
            <a:ext cx="420624" cy="420624"/>
          </a:xfrm>
          <a:prstGeom prst="ellipse">
            <a:avLst/>
          </a:prstGeom>
          <a:solidFill>
            <a:schemeClr val="accent4"/>
          </a:solidFill>
          <a:ln/>
        </p:spPr>
      </p:sp>
      <p:pic>
        <p:nvPicPr>
          <p:cNvPr id="19" name="Image 2" descr="Database icon">    </p:cNvPr>
          <p:cNvPicPr>
            <a:picLocks noChangeAspect="1"/>
          </p:cNvPicPr>
          <p:nvPr/>
        </p:nvPicPr>
        <p:blipFill>
          <a:blip r:embed="rId3"/>
          <a:stretch>
            <a:fillRect/>
          </a:stretch>
        </p:blipFill>
        <p:spPr>
          <a:xfrm>
            <a:off x="840882" y="3693810"/>
            <a:ext cx="201900" cy="201900"/>
          </a:xfrm>
          <a:prstGeom prst="rect">
            <a:avLst/>
          </a:prstGeom>
        </p:spPr>
      </p:pic>
      <p:sp>
        <p:nvSpPr>
          <p:cNvPr id="20" name="Text 14"/>
          <p:cNvSpPr txBox="1"/>
          <p:nvPr/>
        </p:nvSpPr>
        <p:spPr>
          <a:xfrm>
            <a:off x="1261872" y="35661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Better data assimilation</a:t>
            </a:r>
            <a:endParaRPr lang="en-US" sz="1500" dirty="0"/>
          </a:p>
        </p:txBody>
      </p:sp>
      <p:sp>
        <p:nvSpPr>
          <p:cNvPr id="21" name="Text 15"/>
          <p:cNvSpPr txBox="1"/>
          <p:nvPr/>
        </p:nvSpPr>
        <p:spPr>
          <a:xfrm>
            <a:off x="731520" y="4114800"/>
            <a:ext cx="3182112"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Coupled ocean–atmosphere DA, more satellite data</a:t>
            </a:r>
            <a:endParaRPr lang="en-US" sz="1300" dirty="0"/>
          </a:p>
        </p:txBody>
      </p:sp>
      <p:sp>
        <p:nvSpPr>
          <p:cNvPr id="22" name="card"/>
          <p:cNvSpPr/>
          <p:nvPr/>
        </p:nvSpPr>
        <p:spPr>
          <a:xfrm>
            <a:off x="4297680" y="3429000"/>
            <a:ext cx="354787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3" name="icon circle"/>
          <p:cNvSpPr/>
          <p:nvPr/>
        </p:nvSpPr>
        <p:spPr>
          <a:xfrm>
            <a:off x="4480560" y="3584448"/>
            <a:ext cx="420624" cy="420624"/>
          </a:xfrm>
          <a:prstGeom prst="ellipse">
            <a:avLst/>
          </a:prstGeom>
          <a:solidFill>
            <a:schemeClr val="accent2"/>
          </a:solidFill>
          <a:ln/>
        </p:spPr>
      </p:sp>
      <p:pic>
        <p:nvPicPr>
          <p:cNvPr id="24" name="Image 3" descr="Robot icon">    </p:cNvPr>
          <p:cNvPicPr>
            <a:picLocks noChangeAspect="1"/>
          </p:cNvPicPr>
          <p:nvPr/>
        </p:nvPicPr>
        <p:blipFill>
          <a:blip r:embed="rId4"/>
          <a:stretch>
            <a:fillRect/>
          </a:stretch>
        </p:blipFill>
        <p:spPr>
          <a:xfrm>
            <a:off x="4589922" y="3693810"/>
            <a:ext cx="201900" cy="201900"/>
          </a:xfrm>
          <a:prstGeom prst="rect">
            <a:avLst/>
          </a:prstGeom>
        </p:spPr>
      </p:pic>
      <p:sp>
        <p:nvSpPr>
          <p:cNvPr id="25" name="Text 18"/>
          <p:cNvSpPr txBox="1"/>
          <p:nvPr/>
        </p:nvSpPr>
        <p:spPr>
          <a:xfrm>
            <a:off x="5010912" y="35661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AI / ML</a:t>
            </a:r>
            <a:endParaRPr lang="en-US" sz="1500" dirty="0"/>
          </a:p>
        </p:txBody>
      </p:sp>
      <p:sp>
        <p:nvSpPr>
          <p:cNvPr id="26" name="Text 19"/>
          <p:cNvSpPr txBox="1"/>
          <p:nvPr/>
        </p:nvSpPr>
        <p:spPr>
          <a:xfrm>
            <a:off x="4480560" y="4114800"/>
            <a:ext cx="3182112"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AI weather models, ML bias correction &amp; downscaling</a:t>
            </a:r>
            <a:endParaRPr lang="en-US" sz="1300" dirty="0"/>
          </a:p>
        </p:txBody>
      </p:sp>
      <p:sp>
        <p:nvSpPr>
          <p:cNvPr id="27" name="card"/>
          <p:cNvSpPr/>
          <p:nvPr/>
        </p:nvSpPr>
        <p:spPr>
          <a:xfrm>
            <a:off x="8046720" y="3429000"/>
            <a:ext cx="354787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8" name="icon circle"/>
          <p:cNvSpPr/>
          <p:nvPr/>
        </p:nvSpPr>
        <p:spPr>
          <a:xfrm>
            <a:off x="8229600" y="3584448"/>
            <a:ext cx="420624" cy="420624"/>
          </a:xfrm>
          <a:prstGeom prst="ellipse">
            <a:avLst/>
          </a:prstGeom>
          <a:solidFill>
            <a:schemeClr val="accent6"/>
          </a:solidFill>
          <a:ln/>
        </p:spPr>
      </p:sp>
      <p:pic>
        <p:nvPicPr>
          <p:cNvPr id="29" name="Image 4" descr="Flask icon">    </p:cNvPr>
          <p:cNvPicPr>
            <a:picLocks noChangeAspect="1"/>
          </p:cNvPicPr>
          <p:nvPr/>
        </p:nvPicPr>
        <p:blipFill>
          <a:blip r:embed="rId5"/>
          <a:stretch>
            <a:fillRect/>
          </a:stretch>
        </p:blipFill>
        <p:spPr>
          <a:xfrm>
            <a:off x="8338962" y="3693810"/>
            <a:ext cx="201900" cy="201900"/>
          </a:xfrm>
          <a:prstGeom prst="rect">
            <a:avLst/>
          </a:prstGeom>
        </p:spPr>
      </p:pic>
      <p:sp>
        <p:nvSpPr>
          <p:cNvPr id="30" name="Text 22"/>
          <p:cNvSpPr txBox="1"/>
          <p:nvPr/>
        </p:nvSpPr>
        <p:spPr>
          <a:xfrm>
            <a:off x="8759952" y="3566160"/>
            <a:ext cx="2697480" cy="457200"/>
          </a:xfrm>
          <a:prstGeom prst="rect">
            <a:avLst/>
          </a:prstGeom>
          <a:noFill/>
          <a:ln/>
        </p:spPr>
        <p:txBody>
          <a:bodyPr wrap="square" lIns="0" tIns="0" rIns="0" bIns="0" rtlCol="0" anchor="ctr"/>
          <a:lstStyle/>
          <a:p>
            <a:pPr indent="0" marL="0">
              <a:buNone/>
            </a:pPr>
            <a:r>
              <a:rPr lang="en-US" sz="1500" b="1" dirty="0">
                <a:solidFill>
                  <a:schemeClr val="tx2"/>
                </a:solidFill>
              </a:rPr>
              <a:t>Cloud physics</a:t>
            </a:r>
            <a:endParaRPr lang="en-US" sz="1500" dirty="0"/>
          </a:p>
        </p:txBody>
      </p:sp>
      <p:sp>
        <p:nvSpPr>
          <p:cNvPr id="31" name="Text 23"/>
          <p:cNvSpPr txBox="1"/>
          <p:nvPr/>
        </p:nvSpPr>
        <p:spPr>
          <a:xfrm>
            <a:off x="8229600" y="4114800"/>
            <a:ext cx="3182112" cy="105156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Cloud chamber &amp; weather-modification research</a:t>
            </a:r>
            <a:endParaRPr lang="en-US" sz="1300" dirty="0"/>
          </a:p>
        </p:txBody>
      </p:sp>
      <p:sp>
        <p:nvSpPr>
          <p:cNvPr id="32" name="insight"/>
          <p:cNvSpPr/>
          <p:nvPr/>
        </p:nvSpPr>
        <p:spPr>
          <a:xfrm>
            <a:off x="548640" y="5486400"/>
            <a:ext cx="11094415" cy="685800"/>
          </a:xfrm>
          <a:prstGeom prst="roundRect">
            <a:avLst>
              <a:gd name="adj" fmla="val 10667"/>
            </a:avLst>
          </a:prstGeom>
          <a:solidFill>
            <a:schemeClr val="bg2"/>
          </a:solidFill>
          <a:ln/>
        </p:spPr>
      </p:sp>
      <p:sp>
        <p:nvSpPr>
          <p:cNvPr id="33" name="icon circle"/>
          <p:cNvSpPr/>
          <p:nvPr/>
        </p:nvSpPr>
        <p:spPr>
          <a:xfrm>
            <a:off x="685800" y="5591556"/>
            <a:ext cx="475488" cy="475488"/>
          </a:xfrm>
          <a:prstGeom prst="ellipse">
            <a:avLst/>
          </a:prstGeom>
          <a:solidFill>
            <a:schemeClr val="accent3"/>
          </a:solidFill>
          <a:ln/>
        </p:spPr>
      </p:sp>
      <p:pic>
        <p:nvPicPr>
          <p:cNvPr id="34" name="Image 5" descr="Lightbulb icon">    </p:cNvPr>
          <p:cNvPicPr>
            <a:picLocks noChangeAspect="1"/>
          </p:cNvPicPr>
          <p:nvPr/>
        </p:nvPicPr>
        <p:blipFill>
          <a:blip r:embed="rId6"/>
          <a:stretch>
            <a:fillRect/>
          </a:stretch>
        </p:blipFill>
        <p:spPr>
          <a:xfrm>
            <a:off x="809427" y="5715183"/>
            <a:ext cx="228234" cy="228234"/>
          </a:xfrm>
          <a:prstGeom prst="rect">
            <a:avLst/>
          </a:prstGeom>
        </p:spPr>
      </p:pic>
      <p:sp>
        <p:nvSpPr>
          <p:cNvPr id="35" name="Text 26"/>
          <p:cNvSpPr txBox="1"/>
          <p:nvPr/>
        </p:nvSpPr>
        <p:spPr>
          <a:xfrm>
            <a:off x="1325880" y="5522976"/>
            <a:ext cx="10180015" cy="612648"/>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Goal:</a:t>
            </a:r>
            <a:r>
              <a:rPr lang="en-US" sz="1400" dirty="0">
                <a:solidFill>
                  <a:schemeClr val="tx1"/>
                </a:solidFill>
              </a:rPr>
              <a:t> seamless, probabilistic, impact-based forecasts from block level to the whole season.</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Synthesis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All the models on one page, common questions, glossary and sources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09</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All IMD forecasting models at a glance</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gridCol w="4480560"/>
                <a:gridCol w="3959352"/>
              </a:tblGrid>
              <a:tr h="658368">
                <a:tc>
                  <a:txBody>
                    <a:bodyPr/>
                    <a:lstStyle/>
                    <a:p>
                      <a:pPr indent="0" marL="0">
                        <a:buNone/>
                      </a:pPr>
                      <a:r>
                        <a:rPr lang="en-US" sz="1300" b="1" dirty="0">
                          <a:solidFill>
                            <a:schemeClr val="bg1"/>
                          </a:solidFill>
                        </a:rPr>
                        <a:t>Time scale</a:t>
                      </a:r>
                      <a:endParaRPr lang="en-US" sz="13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Models / method</a:t>
                      </a:r>
                      <a:endParaRPr lang="en-US" sz="13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product</a:t>
                      </a:r>
                      <a:endParaRPr lang="en-US" sz="13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tx2"/>
                    </a:solidFill>
                  </a:tcPr>
                </a:tc>
              </a:tr>
              <a:tr h="658368">
                <a:tc>
                  <a:txBody>
                    <a:bodyPr/>
                    <a:lstStyle/>
                    <a:p>
                      <a:pPr indent="0" marL="0">
                        <a:buNone/>
                      </a:pPr>
                      <a:r>
                        <a:rPr lang="en-US" sz="1300" b="1" dirty="0">
                          <a:solidFill>
                            <a:schemeClr val="tx2"/>
                          </a:solidFill>
                        </a:rPr>
                        <a:t>Long range (season, month)</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SEFS (5–6 predictors, MR + PPR); MME incl. MMCFS (CFSv2-based)</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 of LPA ± 5/4 %, category probabilities, regional &amp; monthly outlooks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rPr>
                        <a:t>Onset over Kerala</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6-predictor statistical model</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Onset date ± 4 days (mid-May)</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rPr>
                        <a:t>Extended range (2–4 weeks)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MME ERFS: CFSv2 T382 &amp; T126, GFSbc</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Weekly anomalies every Thursday, active/break, cyclogenesis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rPr>
                        <a:t>Medium range (3–10 days)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GFS T1534, NCUM-G, BFS; GEFS &amp; NEPS-G ensembles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Daily forecasts, heavy-rain probabilities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rPr>
                        <a:t>Short range (1–3 days)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WRF, NCUM-R, HWRF, BFS + MME bias correction</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District / block forecasts, colour-coded warnings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rPr>
                        <a:t>Nowcast (0–3 hours)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Radar &amp; satellite extrapolation, radar-assimilating models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Thunderstorm, lightning &amp; heavy-rain nowcasts</a:t>
                      </a:r>
                      <a:endParaRPr lang="en-US" sz="1200" dirty="0"/>
                    </a:p>
                  </a:txBody>
                  <a:tcPr marL="109728" marR="109728" marT="36576" marB="36576"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Clearing common doubts</a:t>
            </a:r>
            <a:endParaRPr lang="en-US" sz="3200" dirty="0"/>
          </a:p>
        </p:txBody>
      </p:sp>
      <p:sp>
        <p:nvSpPr>
          <p:cNvPr id="4" name="card"/>
          <p:cNvSpPr/>
          <p:nvPr/>
        </p:nvSpPr>
        <p:spPr>
          <a:xfrm>
            <a:off x="548640"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54480"/>
            <a:ext cx="457200" cy="457200"/>
          </a:xfrm>
          <a:prstGeom prst="ellipse">
            <a:avLst/>
          </a:prstGeom>
          <a:solidFill>
            <a:schemeClr val="accent1"/>
          </a:solidFill>
          <a:ln/>
        </p:spPr>
      </p:sp>
      <p:pic>
        <p:nvPicPr>
          <p:cNvPr id="6" name="Image 0" descr="Question icon">    </p:cNvPr>
          <p:cNvPicPr>
            <a:picLocks noChangeAspect="1"/>
          </p:cNvPicPr>
          <p:nvPr/>
        </p:nvPicPr>
        <p:blipFill>
          <a:blip r:embed="rId1"/>
          <a:stretch>
            <a:fillRect/>
          </a:stretch>
        </p:blipFill>
        <p:spPr>
          <a:xfrm>
            <a:off x="850392" y="1673352"/>
            <a:ext cx="219456" cy="219456"/>
          </a:xfrm>
          <a:prstGeom prst="rect">
            <a:avLst/>
          </a:prstGeom>
        </p:spPr>
      </p:pic>
      <p:sp>
        <p:nvSpPr>
          <p:cNvPr id="7" name="Text 3"/>
          <p:cNvSpPr txBox="1"/>
          <p:nvPr/>
        </p:nvSpPr>
        <p:spPr>
          <a:xfrm>
            <a:off x="1325880"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is the forecast given as % of LPA, not in mm?</a:t>
            </a:r>
            <a:endParaRPr lang="en-US" sz="1500" dirty="0"/>
          </a:p>
        </p:txBody>
      </p:sp>
      <p:sp>
        <p:nvSpPr>
          <p:cNvPr id="8" name="Text 4"/>
          <p:cNvSpPr txBox="1"/>
          <p:nvPr/>
        </p:nvSpPr>
        <p:spPr>
          <a:xfrm>
            <a:off x="777240"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It makes years comparable and maps directly onto the five categories. 100 % = 87 cm for India as a whole.</a:t>
            </a:r>
            <a:endParaRPr lang="en-US" sz="1400" dirty="0"/>
          </a:p>
        </p:txBody>
      </p:sp>
      <p:sp>
        <p:nvSpPr>
          <p:cNvPr id="9" name="card"/>
          <p:cNvSpPr/>
          <p:nvPr/>
        </p:nvSpPr>
        <p:spPr>
          <a:xfrm>
            <a:off x="6199632"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554480"/>
            <a:ext cx="457200" cy="457200"/>
          </a:xfrm>
          <a:prstGeom prst="ellipse">
            <a:avLst/>
          </a:prstGeom>
          <a:solidFill>
            <a:schemeClr val="accent2"/>
          </a:solidFill>
          <a:ln/>
        </p:spPr>
      </p:sp>
      <p:pic>
        <p:nvPicPr>
          <p:cNvPr id="11" name="Image 1" descr="Question icon">    </p:cNvPr>
          <p:cNvPicPr>
            <a:picLocks noChangeAspect="1"/>
          </p:cNvPicPr>
          <p:nvPr/>
        </p:nvPicPr>
        <p:blipFill>
          <a:blip r:embed="rId2"/>
          <a:stretch>
            <a:fillRect/>
          </a:stretch>
        </p:blipFill>
        <p:spPr>
          <a:xfrm>
            <a:off x="6501384" y="1673352"/>
            <a:ext cx="219456" cy="219456"/>
          </a:xfrm>
          <a:prstGeom prst="rect">
            <a:avLst/>
          </a:prstGeom>
        </p:spPr>
      </p:pic>
      <p:sp>
        <p:nvSpPr>
          <p:cNvPr id="12" name="Text 7"/>
          <p:cNvSpPr txBox="1"/>
          <p:nvPr/>
        </p:nvSpPr>
        <p:spPr>
          <a:xfrm>
            <a:off x="6976872"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two stages (April and May)?</a:t>
            </a:r>
            <a:endParaRPr lang="en-US" sz="1500" dirty="0"/>
          </a:p>
        </p:txBody>
      </p:sp>
      <p:sp>
        <p:nvSpPr>
          <p:cNvPr id="13" name="Text 8"/>
          <p:cNvSpPr txBox="1"/>
          <p:nvPr/>
        </p:nvSpPr>
        <p:spPr>
          <a:xfrm>
            <a:off x="6428232"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Predictors observed in April–May (e.g. ENSO trends) add skill; the May update also adds regions and June.</a:t>
            </a:r>
            <a:endParaRPr lang="en-US" sz="1400" dirty="0"/>
          </a:p>
        </p:txBody>
      </p:sp>
      <p:sp>
        <p:nvSpPr>
          <p:cNvPr id="14" name="card"/>
          <p:cNvSpPr/>
          <p:nvPr/>
        </p:nvSpPr>
        <p:spPr>
          <a:xfrm>
            <a:off x="548640"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731520" y="3977640"/>
            <a:ext cx="457200" cy="457200"/>
          </a:xfrm>
          <a:prstGeom prst="ellipse">
            <a:avLst/>
          </a:prstGeom>
          <a:solidFill>
            <a:schemeClr val="accent1"/>
          </a:solidFill>
          <a:ln/>
        </p:spPr>
      </p:sp>
      <p:pic>
        <p:nvPicPr>
          <p:cNvPr id="16" name="Image 2" descr="Question icon">    </p:cNvPr>
          <p:cNvPicPr>
            <a:picLocks noChangeAspect="1"/>
          </p:cNvPicPr>
          <p:nvPr/>
        </p:nvPicPr>
        <p:blipFill>
          <a:blip r:embed="rId3"/>
          <a:stretch>
            <a:fillRect/>
          </a:stretch>
        </p:blipFill>
        <p:spPr>
          <a:xfrm>
            <a:off x="850392" y="4096512"/>
            <a:ext cx="219456" cy="219456"/>
          </a:xfrm>
          <a:prstGeom prst="rect">
            <a:avLst/>
          </a:prstGeom>
        </p:spPr>
      </p:pic>
      <p:sp>
        <p:nvSpPr>
          <p:cNvPr id="17" name="Text 11"/>
          <p:cNvSpPr txBox="1"/>
          <p:nvPr/>
        </p:nvSpPr>
        <p:spPr>
          <a:xfrm>
            <a:off x="1325880"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If dynamical models exist, why keep statistical ones?</a:t>
            </a:r>
            <a:endParaRPr lang="en-US" sz="1500" dirty="0"/>
          </a:p>
        </p:txBody>
      </p:sp>
      <p:sp>
        <p:nvSpPr>
          <p:cNvPr id="18" name="Text 12"/>
          <p:cNvSpPr txBox="1"/>
          <p:nvPr/>
        </p:nvSpPr>
        <p:spPr>
          <a:xfrm>
            <a:off x="777240"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They are independent and robust for the all-India total; comparing both reduces the risk of a big miss.</a:t>
            </a:r>
            <a:endParaRPr lang="en-US" sz="1400" dirty="0"/>
          </a:p>
        </p:txBody>
      </p:sp>
      <p:sp>
        <p:nvSpPr>
          <p:cNvPr id="19" name="card"/>
          <p:cNvSpPr/>
          <p:nvPr/>
        </p:nvSpPr>
        <p:spPr>
          <a:xfrm>
            <a:off x="6199632"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6382512" y="3977640"/>
            <a:ext cx="457200" cy="457200"/>
          </a:xfrm>
          <a:prstGeom prst="ellipse">
            <a:avLst/>
          </a:prstGeom>
          <a:solidFill>
            <a:schemeClr val="accent2"/>
          </a:solidFill>
          <a:ln/>
        </p:spPr>
      </p:sp>
      <p:pic>
        <p:nvPicPr>
          <p:cNvPr id="21" name="Image 3" descr="Question icon">    </p:cNvPr>
          <p:cNvPicPr>
            <a:picLocks noChangeAspect="1"/>
          </p:cNvPicPr>
          <p:nvPr/>
        </p:nvPicPr>
        <p:blipFill>
          <a:blip r:embed="rId4"/>
          <a:stretch>
            <a:fillRect/>
          </a:stretch>
        </p:blipFill>
        <p:spPr>
          <a:xfrm>
            <a:off x="6501384" y="4096512"/>
            <a:ext cx="219456" cy="219456"/>
          </a:xfrm>
          <a:prstGeom prst="rect">
            <a:avLst/>
          </a:prstGeom>
        </p:spPr>
      </p:pic>
      <p:sp>
        <p:nvSpPr>
          <p:cNvPr id="22" name="Text 15"/>
          <p:cNvSpPr txBox="1"/>
          <p:nvPr/>
        </p:nvSpPr>
        <p:spPr>
          <a:xfrm>
            <a:off x="6976872"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Does a 'normal' forecast mean no drought anywhere?</a:t>
            </a:r>
            <a:endParaRPr lang="en-US" sz="1500" dirty="0"/>
          </a:p>
        </p:txBody>
      </p:sp>
      <p:sp>
        <p:nvSpPr>
          <p:cNvPr id="23" name="Text 16"/>
          <p:cNvSpPr txBox="1"/>
          <p:nvPr/>
        </p:nvSpPr>
        <p:spPr>
          <a:xfrm>
            <a:off x="6428232"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No. All-India normal can hide deficient regions; regional &amp; sub-division probabilities matter more for users.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Glossary of acronyms</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914400"/>
        </p:xfrm>
        <a:graphic>
          <a:graphicData uri="http://schemas.openxmlformats.org/drawingml/2006/table">
            <a:tbl>
              <a:tblPr/>
              <a:tblGrid>
                <a:gridCol w="1554480"/>
                <a:gridCol w="3886200"/>
              </a:tblGrid>
              <a:tr h="457200">
                <a:tc>
                  <a:txBody>
                    <a:bodyPr/>
                    <a:lstStyle/>
                    <a:p>
                      <a:pPr indent="0" marL="0">
                        <a:buNone/>
                      </a:pPr>
                      <a:r>
                        <a:rPr lang="en-US" sz="1200" b="1" dirty="0">
                          <a:solidFill>
                            <a:schemeClr val="tx2"/>
                          </a:solidFill>
                        </a:rPr>
                        <a:t>IMD</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India Meteorological Department</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MoES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Ministry of Earth Sciences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IITM</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Indian Institute of Tropical Meteorology, Pune</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NCMRWF</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National Centre for Medium Range Weather Forecasting</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INCOIS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Indian National Centre for Ocean Information Services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LPA</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Long period average (87 cm, 1971–2020)</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JJAS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June–July–August–September</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LRF / ERF</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Long-range / extended-range forecast</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SEFS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Statistical Ensemble Forecasting System</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MR / PPR</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Multiple regression / projection pursuit regression</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bl>
          </a:graphicData>
        </a:graphic>
      </p:graphicFrame>
      <p:graphicFrame>
        <p:nvGraphicFramePr>
          <p:cNvPr id="89" name="Table 1"/>
          <p:cNvGraphicFramePr>
            <a:graphicFrameLocks noGrp="1"/>
          </p:cNvGraphicFramePr>
          <p:nvPr>
            <p:extLst>
              <p:ext uri="{D42A27DB-BD31-4B8C-83A1-F6EECF244321}">
                <p14:modId xmlns:p14="http://schemas.microsoft.com/office/powerpoint/2010/main" val="1579011935"/>
              </p:ext>
            </p:extLst>
          </p:nvPr>
        </p:nvGraphicFramePr>
        <p:xfrm>
          <a:off x="6199632" y="1371600"/>
          <a:ext cx="5440680" cy="914400"/>
        </p:xfrm>
        <a:graphic>
          <a:graphicData uri="http://schemas.openxmlformats.org/drawingml/2006/table">
            <a:tbl>
              <a:tblPr/>
              <a:tblGrid>
                <a:gridCol w="1554480"/>
                <a:gridCol w="3886200"/>
              </a:tblGrid>
              <a:tr h="457200">
                <a:tc>
                  <a:txBody>
                    <a:bodyPr/>
                    <a:lstStyle/>
                    <a:p>
                      <a:pPr indent="0" marL="0">
                        <a:buNone/>
                      </a:pPr>
                      <a:r>
                        <a:rPr lang="en-US" sz="1200" b="1" dirty="0">
                          <a:solidFill>
                            <a:schemeClr val="tx2"/>
                          </a:solidFill>
                        </a:rPr>
                        <a:t>MME</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Multi-model ensemble</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MMCFS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Monsoon Mission Climate Forecast System</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CFSv2</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Climate Forecast System v2 (NCEP)</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GFS / GFSbc</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Global Forecast System / GFS with bias-corrected SST</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GEFS / NEPS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Global ensemble forecast systems (IMD / NCMRWF)</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NCUM</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NCMRWF Unified Model</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BFS</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Bharat Forecast System (≈ 6 km)</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ENSO / IOD</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El Niño–Southern Oscillation / Indian Ocean Dipole</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MISO / BSISO</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Monsoon / boreal summer intraseasonal oscillation</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MCZ</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Monsoon Core Zone</a:t>
                      </a:r>
                      <a:endParaRPr lang="en-US" sz="1200" dirty="0"/>
                    </a:p>
                  </a:txBody>
                  <a:tcPr marL="91440" marR="91440" marT="27432" marB="27432" anchor="ctr">
                    <a:lnL w="6350" cap="flat" cmpd="sng" algn="ctr">
                      <a:solidFill>
                        <a:srgbClr val="D3DFE1"/>
                      </a:solidFill>
                      <a:prstDash val="solid"/>
                      <a:round/>
                      <a:headEnd type="none" w="med" len="med"/>
                      <a:tailEnd type="none" w="med" len="med"/>
                    </a:lnL>
                    <a:lnR w="6350" cap="flat" cmpd="sng" algn="ctr">
                      <a:solidFill>
                        <a:srgbClr val="D3DFE1"/>
                      </a:solidFill>
                      <a:prstDash val="solid"/>
                      <a:round/>
                      <a:headEnd type="none" w="med" len="med"/>
                      <a:tailEnd type="none" w="med" len="med"/>
                    </a:lnR>
                    <a:lnT w="6350" cap="flat" cmpd="sng" algn="ctr">
                      <a:solidFill>
                        <a:srgbClr val="D3DFE1"/>
                      </a:solidFill>
                      <a:prstDash val="solid"/>
                      <a:round/>
                      <a:headEnd type="none" w="med" len="med"/>
                      <a:tailEnd type="none" w="med" len="med"/>
                    </a:lnT>
                    <a:lnB w="6350" cap="flat" cmpd="sng" algn="ctr">
                      <a:solidFill>
                        <a:srgbClr val="D3DF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Sources and further reading</a:t>
            </a:r>
            <a:endParaRPr lang="en-US" sz="3200" dirty="0"/>
          </a:p>
        </p:txBody>
      </p:sp>
      <p:sp>
        <p:nvSpPr>
          <p:cNvPr id="4" name="Text 1"/>
          <p:cNvSpPr txBox="1"/>
          <p:nvPr/>
        </p:nvSpPr>
        <p:spPr>
          <a:xfrm>
            <a:off x="548640" y="1325880"/>
            <a:ext cx="11091672" cy="4937760"/>
          </a:xfrm>
          <a:prstGeom prst="rect">
            <a:avLst/>
          </a:prstGeom>
          <a:noFill/>
          <a:ln/>
        </p:spPr>
        <p:txBody>
          <a:bodyPr wrap="square" lIns="508" tIns="508" rIns="508" bIns="508" rtlCol="0" anchor="t"/>
          <a:lstStyle/>
          <a:p>
            <a:pPr indent="0" marL="0">
              <a:spcAft>
                <a:spcPts val="800"/>
              </a:spcAft>
              <a:buNone/>
            </a:pPr>
            <a:r>
              <a:rPr lang="en-US" sz="1300" b="1" dirty="0">
                <a:solidFill>
                  <a:schemeClr val="tx1"/>
                </a:solidFill>
              </a:rPr>
              <a:t>IMD press releases:</a:t>
            </a:r>
            <a:r>
              <a:rPr lang="en-US" sz="1300" dirty="0">
                <a:solidFill>
                  <a:schemeClr val="tx1"/>
                </a:solidFill>
              </a:rPr>
              <a:t> Long Range Forecast for the 2026 Southwest Monsoon Season (April 2026) and Updated LRF with June outlook (May 2026), mausam.imd.gov.in</a:t>
            </a:r>
            <a:endParaRPr lang="en-US" sz="1300" dirty="0"/>
          </a:p>
          <a:p>
            <a:pPr indent="0" marL="0">
              <a:spcAft>
                <a:spcPts val="800"/>
              </a:spcAft>
              <a:buNone/>
            </a:pPr>
            <a:r>
              <a:rPr lang="en-US" sz="1300" b="1" dirty="0">
                <a:solidFill>
                  <a:schemeClr val="tx1"/>
                </a:solidFill>
              </a:rPr>
              <a:t>IMD (2021).</a:t>
            </a:r>
            <a:r>
              <a:rPr lang="en-US" sz="1300" dirty="0">
                <a:solidFill>
                  <a:schemeClr val="tx1"/>
                </a:solidFill>
              </a:rPr>
              <a:t> New strategy for seasonal &amp; monthly forecasts of southwest monsoon rainfall; LRF press release, 15 April 2021 (SEFS predictors, MME)</a:t>
            </a:r>
            <a:endParaRPr lang="en-US" sz="1300" dirty="0"/>
          </a:p>
          <a:p>
            <a:pPr indent="0" marL="0">
              <a:spcAft>
                <a:spcPts val="800"/>
              </a:spcAft>
              <a:buNone/>
            </a:pPr>
            <a:r>
              <a:rPr lang="en-US" sz="1300" b="1" dirty="0">
                <a:solidFill>
                  <a:schemeClr val="tx1"/>
                </a:solidFill>
              </a:rPr>
              <a:t>MoES / PIB parliamentary replies (2021–2025)</a:t>
            </a:r>
            <a:r>
              <a:rPr lang="en-US" sz="1300" dirty="0">
                <a:solidFill>
                  <a:schemeClr val="tx1"/>
                </a:solidFill>
              </a:rPr>
              <a:t> on the statistical system, MME and extended-range MME forecasting systems</a:t>
            </a:r>
            <a:endParaRPr lang="en-US" sz="1300" dirty="0"/>
          </a:p>
          <a:p>
            <a:pPr indent="0" marL="0">
              <a:spcAft>
                <a:spcPts val="800"/>
              </a:spcAft>
              <a:buNone/>
            </a:pPr>
            <a:r>
              <a:rPr lang="en-US" sz="1300" b="1" dirty="0">
                <a:solidFill>
                  <a:schemeClr val="tx1"/>
                </a:solidFill>
              </a:rPr>
              <a:t>MoES (May 2025).</a:t>
            </a:r>
            <a:r>
              <a:rPr lang="en-US" sz="1300" dirty="0">
                <a:solidFill>
                  <a:schemeClr val="tx1"/>
                </a:solidFill>
              </a:rPr>
              <a:t> Launch of the Bharat Forecast System, IITM Pune</a:t>
            </a:r>
            <a:endParaRPr lang="en-US" sz="1300" dirty="0"/>
          </a:p>
          <a:p>
            <a:pPr indent="0" marL="0">
              <a:spcAft>
                <a:spcPts val="600"/>
              </a:spcAft>
              <a:buNone/>
            </a:pPr>
            <a:r>
              <a:rPr lang="en-US" sz="1300" dirty="0">
                <a:solidFill>
                  <a:schemeClr val="tx1"/>
                </a:solidFill>
              </a:rPr>
              <a:t>Rajeevan M. et al. (2007). New statistical models for long-range forecasting of southwest monsoon rainfall over India. </a:t>
            </a:r>
            <a:r>
              <a:rPr lang="en-US" sz="1300" i="1" dirty="0">
                <a:solidFill>
                  <a:schemeClr val="tx1"/>
                </a:solidFill>
              </a:rPr>
              <a:t>Climate Dynamics</a:t>
            </a:r>
            <a:r>
              <a:rPr lang="en-US" sz="1300" dirty="0">
                <a:solidFill>
                  <a:schemeClr val="tx1"/>
                </a:solidFill>
              </a:rPr>
              <a:t> 28: 813–828.</a:t>
            </a:r>
            <a:endParaRPr lang="en-US" sz="1300" dirty="0"/>
          </a:p>
          <a:p>
            <a:pPr indent="0" marL="0">
              <a:spcAft>
                <a:spcPts val="600"/>
              </a:spcAft>
              <a:buNone/>
            </a:pPr>
            <a:r>
              <a:rPr lang="en-US" sz="1300" dirty="0">
                <a:solidFill>
                  <a:schemeClr val="tx1"/>
                </a:solidFill>
              </a:rPr>
              <a:t>Pattanaik D.R. &amp; Kumar A. (2010). Prediction of summer monsoon rainfall over India using the NCEP Climate Forecast System. </a:t>
            </a:r>
            <a:r>
              <a:rPr lang="en-US" sz="1300" i="1" dirty="0">
                <a:solidFill>
                  <a:schemeClr val="tx1"/>
                </a:solidFill>
              </a:rPr>
              <a:t>Climate Dynamics</a:t>
            </a:r>
            <a:r>
              <a:rPr lang="en-US" sz="1300" dirty="0">
                <a:solidFill>
                  <a:schemeClr val="tx1"/>
                </a:solidFill>
              </a:rPr>
              <a:t> 34: 557–572.</a:t>
            </a:r>
            <a:endParaRPr lang="en-US" sz="1300" dirty="0"/>
          </a:p>
          <a:p>
            <a:pPr indent="0" marL="0">
              <a:spcAft>
                <a:spcPts val="600"/>
              </a:spcAft>
              <a:buNone/>
            </a:pPr>
            <a:r>
              <a:rPr lang="en-US" sz="1300" dirty="0">
                <a:solidFill>
                  <a:schemeClr val="tx1"/>
                </a:solidFill>
              </a:rPr>
              <a:t>Rao S.A. et al. (2019). Monsoon Mission: a targeted activity to improve monsoon prediction across scales. </a:t>
            </a:r>
            <a:r>
              <a:rPr lang="en-US" sz="1300" i="1" dirty="0">
                <a:solidFill>
                  <a:schemeClr val="tx1"/>
                </a:solidFill>
              </a:rPr>
              <a:t>Bull. Amer. Meteor. Soc.</a:t>
            </a:r>
            <a:r>
              <a:rPr lang="en-US" sz="1300" dirty="0">
                <a:solidFill>
                  <a:schemeClr val="tx1"/>
                </a:solidFill>
              </a:rPr>
              <a:t> 100: 2509–2532.</a:t>
            </a:r>
            <a:endParaRPr lang="en-US" sz="1300" dirty="0"/>
          </a:p>
          <a:p>
            <a:pPr indent="0" marL="0">
              <a:spcAft>
                <a:spcPts val="600"/>
              </a:spcAft>
              <a:buNone/>
            </a:pPr>
            <a:r>
              <a:rPr lang="en-US" sz="1300" dirty="0">
                <a:solidFill>
                  <a:schemeClr val="tx1"/>
                </a:solidFill>
              </a:rPr>
              <a:t>Abhilash S. et al. (2014). Prediction and monitoring of monsoon intraseasonal oscillations over Indian monsoon region in an ensemble prediction system using CFSv2. </a:t>
            </a:r>
            <a:r>
              <a:rPr lang="en-US" sz="1300" i="1" dirty="0">
                <a:solidFill>
                  <a:schemeClr val="tx1"/>
                </a:solidFill>
              </a:rPr>
              <a:t>Climate Dynamics</a:t>
            </a:r>
            <a:r>
              <a:rPr lang="en-US" sz="1300" dirty="0">
                <a:solidFill>
                  <a:schemeClr val="tx1"/>
                </a:solidFill>
              </a:rPr>
              <a:t> 42: 2801–2815.</a:t>
            </a:r>
            <a:endParaRPr lang="en-US" sz="1300" dirty="0"/>
          </a:p>
          <a:p>
            <a:pPr indent="0" marL="0">
              <a:spcAft>
                <a:spcPts val="600"/>
              </a:spcAft>
              <a:buNone/>
            </a:pPr>
            <a:r>
              <a:rPr lang="en-US" sz="1300" dirty="0">
                <a:solidFill>
                  <a:schemeClr val="tx1"/>
                </a:solidFill>
              </a:rPr>
              <a:t>Pai D.S., Rajeevan M. et al. (2020). Normal dates of onset/progress and withdrawal of southwest monsoon over India. </a:t>
            </a:r>
            <a:r>
              <a:rPr lang="en-US" sz="1300" i="1" dirty="0">
                <a:solidFill>
                  <a:schemeClr val="tx1"/>
                </a:solidFill>
              </a:rPr>
              <a:t>Mausam</a:t>
            </a:r>
            <a:r>
              <a:rPr lang="en-US" sz="1300" dirty="0">
                <a:solidFill>
                  <a:schemeClr val="tx1"/>
                </a:solidFill>
              </a:rPr>
              <a:t> 71: 553–570.</a:t>
            </a:r>
            <a:endParaRPr lang="en-US" sz="1300" dirty="0"/>
          </a:p>
          <a:p>
            <a:pPr indent="0" marL="0">
              <a:spcAft>
                <a:spcPts val="600"/>
              </a:spcAft>
              <a:buNone/>
            </a:pPr>
            <a:r>
              <a:rPr lang="en-US" sz="1300" i="1" dirty="0">
                <a:solidFill>
                  <a:schemeClr val="accent6"/>
                </a:solidFill>
              </a:rPr>
              <a:t>2026 season outcome: secondary reports of IMD end-of-season statements, around 1 October 2026 (provisional).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Monsoon Sky">
  <a:themeElements>
    <a:clrScheme name="Monsoon Sky">
      <a:dk1>
        <a:srgbClr val="1B2A30"/>
      </a:dk1>
      <a:lt1>
        <a:srgbClr val="FFFFFF"/>
      </a:lt1>
      <a:dk2>
        <a:srgbClr val="0E3B43"/>
      </a:dk2>
      <a:lt2>
        <a:srgbClr val="EAF2F3"/>
      </a:lt2>
      <a:accent1>
        <a:srgbClr val="1F7A8C"/>
      </a:accent1>
      <a:accent2>
        <a:srgbClr val="D9602B"/>
      </a:accent2>
      <a:accent3>
        <a:srgbClr val="F2B33D"/>
      </a:accent3>
      <a:accent4>
        <a:srgbClr val="5B4E9C"/>
      </a:accent4>
      <a:accent5>
        <a:srgbClr val="2E6FA7"/>
      </a:accent5>
      <a:accent6>
        <a:srgbClr val="5F6C72"/>
      </a:accent6>
      <a:hlink>
        <a:srgbClr val="2E6FA7"/>
      </a:hlink>
      <a:folHlink>
        <a:srgbClr val="5B4E9C"/>
      </a:folHlink>
    </a:clrScheme>
    <a:fontScheme name="Monsoon Sk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Monsoon Forecasting at IMD</dc:title>
  <dc:subject>Methodology and models used by the India Meteorological Department</dc:subject>
  <dc:creator>Animesh</dc:creator>
  <cp:lastModifiedBy>Animesh</cp:lastModifiedBy>
  <cp:revision>1</cp:revision>
  <dcterms:created xsi:type="dcterms:W3CDTF">2026-10-28T22:55:07Z</dcterms:created>
  <dcterms:modified xsi:type="dcterms:W3CDTF">2026-10-28T22:55:07Z</dcterms:modified>
</cp:coreProperties>
</file>