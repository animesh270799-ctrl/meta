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b164f10-7308-a45d-6882-ae0b7c599979}">
          <p14:sldIdLst>
            <p14:sldId id="256"/>
            <p14:sldId id="257"/>
            <p14:sldId id="258"/>
            <p14:sldId id="259"/>
            <p14:sldId id="260"/>
            <p14:sldId id="261"/>
          </p14:sldIdLst>
        </p14:section>
        <p14:section name="Acquisition" id="{76bd4a41-e610-92ea-62ae-41a3eae263fa}">
          <p14:sldIdLst>
            <p14:sldId id="262"/>
            <p14:sldId id="263"/>
            <p14:sldId id="264"/>
          </p14:sldIdLst>
        </p14:section>
        <p14:section name="Data level" id="{0f051f30-4c18-b0d0-3025-096d5b75e3d8}">
          <p14:sldIdLst>
            <p14:sldId id="265"/>
            <p14:sldId id="266"/>
            <p14:sldId id="267"/>
          </p14:sldIdLst>
        </p14:section>
        <p14:section name="Pixel level" id="{602feb7f-55c3-7dea-1491-bedf43b295c3}">
          <p14:sldIdLst>
            <p14:sldId id="268"/>
            <p14:sldId id="269"/>
            <p14:sldId id="270"/>
            <p14:sldId id="271"/>
            <p14:sldId id="272"/>
          </p14:sldIdLst>
        </p14:section>
        <p14:section name="Feature level (ML)" id="{74787afa-8175-b28a-cc91-a1597d1f2332}">
          <p14:sldIdLst>
            <p14:sldId id="273"/>
            <p14:sldId id="274"/>
            <p14:sldId id="275"/>
            <p14:sldId id="276"/>
            <p14:sldId id="277"/>
            <p14:sldId id="278"/>
            <p14:sldId id="279"/>
            <p14:sldId id="280"/>
            <p14:sldId id="281"/>
          </p14:sldIdLst>
        </p14:section>
        <p14:section name="Deep learning fusion" id="{1ab0a22b-e533-ac85-4c33-efeedc9eaaa4}">
          <p14:sldIdLst>
            <p14:sldId id="282"/>
            <p14:sldId id="283"/>
            <p14:sldId id="284"/>
            <p14:sldId id="285"/>
            <p14:sldId id="286"/>
            <p14:sldId id="287"/>
            <p14:sldId id="288"/>
          </p14:sldIdLst>
        </p14:section>
        <p14:section name="Decision / model level" id="{4a358e73-73eb-8e78-6b9c-802c26a5f57c}">
          <p14:sldIdLst>
            <p14:sldId id="289"/>
            <p14:sldId id="290"/>
            <p14:sldId id="291"/>
            <p14:sldId id="292"/>
          </p14:sldIdLst>
        </p14:section>
        <p14:section name="Comparison &amp; validation" id="{fb357ccb-d6cf-a554-66e4-9608a07785ba}">
          <p14:sldIdLst>
            <p14:sldId id="293"/>
            <p14:sldId id="294"/>
            <p14:sldId id="295"/>
            <p14:sldId id="296"/>
          </p14:sldIdLst>
        </p14:section>
        <p14:section name="Practical workflow" id="{bd88296a-5174-f68e-7cf8-078d1438a2df}">
          <p14:sldIdLst>
            <p14:sldId id="297"/>
            <p14:sldId id="298"/>
            <p14:sldId id="299"/>
            <p14:sldId id="300"/>
            <p14:sldId id="301"/>
          </p14:sldIdLst>
        </p14:section>
        <p14:section name="References" id="{a2e6fa45-5ff3-065f-faca-f15701a16138}">
          <p14:sldIdLst>
            <p14:sldId id="302"/>
            <p14:sldId id="303"/>
            <p14:sldId id="304"/>
            <p14:sldId id="30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one place for every fusion concept needed in the thesis. Each content slide ends with an 'In MuDAS-AI' strip that links the concept to the study, and a reference line. Full references are on the last four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level' and 'pixel level' are often used as synonyms (Pohl &amp; Van Genderen, 1998, use pixel / feature / decision). Here L0 is used for the geometric and radiometric harmonisation that every higher level needs, and L1 for actually combining pixel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Bibliographic details marked as verified in conversation: Maimaitijiang 2020, Kerkech 2020a/b, Hong 2021, Audebert 2018, Feng 2022, Liu 2024, Mustafa 2023, Mahlein 2019, Zarco-Tejada 2018, Bohnenkamp 2019, Guo 2021, Su 2018, Tian 2021, Shafiee 2021, Zhang 2012, Whetton 2018, Pan 2021, Shi 2022, Lahat 2015, Baltrušaitis 2019. Others are standard method references compiled from memory: verify volume/page details before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Shape 0"/>
          <p:cNvSpPr/>
          <p:nvPr/>
        </p:nvSpPr>
        <p:spPr>
          <a:xfrm>
            <a:off x="548640" y="4224528"/>
            <a:ext cx="1280160" cy="54864"/>
          </a:xfrm>
          <a:prstGeom prst="rect">
            <a:avLst/>
          </a:prstGeom>
          <a:solidFill>
            <a:schemeClr val="accent1"/>
          </a:solidFill>
          <a:ln/>
        </p:spPr>
      </p:sp>
      <p:sp>
        <p:nvSpPr>
          <p:cNvPr id="3" name="Text 1"/>
          <p:cNvSpPr/>
          <p:nvPr>
            <p:ph idx="101" type="title" hasCustomPrompt="1"/>
          </p:nvPr>
        </p:nvSpPr>
        <p:spPr>
          <a:xfrm>
            <a:off x="548640" y="1463040"/>
            <a:ext cx="11064240" cy="265176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4" name="Text 1"/>
          <p:cNvSpPr/>
          <p:nvPr>
            <p:ph idx="102" type="body" hasCustomPrompt="1"/>
          </p:nvPr>
        </p:nvSpPr>
        <p:spPr>
          <a:xfrm>
            <a:off x="548640" y="4434840"/>
            <a:ext cx="11064240" cy="1645920"/>
          </a:xfrm>
          <a:prstGeom prst="rect">
            <a:avLst/>
          </a:prstGeom>
          <a:noFill/>
          <a:ln/>
        </p:spPr>
        <p:txBody>
          <a:bodyPr wrap="square" rtlCol="0"/>
          <a:lstStyle>
            <a:lvl1pPr algn="l" indent="0" marL="0">
              <a:buNone/>
              <a:defRPr lang="en-US" sz="1800" dirty="0">
                <a:solidFill>
                  <a:schemeClr val="accent1"/>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rtlCol="0"/>
          <a:lstStyle>
            <a:lvl1pPr algn="l" indent="0" marL="0">
              <a:buNone/>
              <a:defRPr lang="en-US" sz="2500" b="1" dirty="0">
                <a:solidFill>
                  <a:schemeClr val="tx1"/>
                </a:solidFill>
              </a:defRPr>
            </a:lvl1pPr>
          </a:lstStyle>
          <a:p>
            <a:pPr algn="l" indent="0" marL="0">
              <a:buNone/>
            </a:pPr>
            <a:endParaRPr lang="en-US" sz="2500" dirty="0"/>
          </a:p>
        </p:txBody>
      </p:sp>
      <p:sp>
        <p:nvSpPr>
          <p:cNvPr id="3" name="Shape 0"/>
          <p:cNvSpPr/>
          <p:nvPr/>
        </p:nvSpPr>
        <p:spPr>
          <a:xfrm>
            <a:off x="457200" y="6400800"/>
            <a:ext cx="11274552" cy="0"/>
          </a:xfrm>
          <a:prstGeom prst="line">
            <a:avLst/>
          </a:prstGeom>
          <a:noFill/>
          <a:ln w="12700">
            <a:solidFill>
              <a:schemeClr val="bg2"/>
            </a:solidFill>
            <a:prstDash val="solid"/>
          </a:ln>
        </p:spPr>
      </p:sp>
      <p:sp>
        <p:nvSpPr>
          <p:cNvPr id="4" name="Text 1"/>
          <p:cNvSpPr/>
          <p:nvPr/>
        </p:nvSpPr>
        <p:spPr>
          <a:xfrm>
            <a:off x="457200" y="6446520"/>
            <a:ext cx="8229600" cy="274320"/>
          </a:xfrm>
          <a:prstGeom prst="rect">
            <a:avLst/>
          </a:prstGeom>
          <a:noFill/>
          <a:ln/>
        </p:spPr>
        <p:txBody>
          <a:bodyPr wrap="square" lIns="0" tIns="0" rIns="0" bIns="0" rtlCol="0" anchor="ctr"/>
          <a:lstStyle/>
          <a:p>
            <a:pPr indent="0" marL="0">
              <a:buNone/>
            </a:pPr>
            <a:r>
              <a:rPr lang="en-US" sz="1000" dirty="0">
                <a:solidFill>
                  <a:schemeClr val="tx2"/>
                </a:solidFill>
              </a:rPr>
              <a:t>MuDAS-AI · Multimodal image fusion for white rust severity assessment</a:t>
            </a:r>
            <a:endParaRPr lang="en-US" sz="10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48640" y="1463040"/>
            <a:ext cx="11064240" cy="2651760"/>
          </a:xfrm>
          <a:prstGeom prst="rect">
            <a:avLst/>
          </a:prstGeom>
          <a:noFill/>
          <a:ln/>
        </p:spPr>
        <p:txBody>
          <a:bodyPr wrap="square" lIns="0" tIns="0" rIns="0" bIns="0" rtlCol="0" anchor="b"/>
          <a:lstStyle/>
          <a:p>
            <a:pPr algn="l" indent="0" marL="0">
              <a:buNone/>
            </a:pPr>
            <a:r>
              <a:rPr lang="en-US" sz="3800" b="1" dirty="0">
                <a:solidFill>
                  <a:schemeClr val="bg1"/>
                </a:solidFill>
              </a:rPr>
              <a:t>Multimodal image fusion for UAV-based disease severity assessment: data, pixel, feature and decision/model level</a:t>
            </a:r>
            <a:endParaRPr lang="en-US" sz="3800" dirty="0"/>
          </a:p>
        </p:txBody>
      </p:sp>
      <p:sp>
        <p:nvSpPr>
          <p:cNvPr id="3" name="Text 1"/>
          <p:cNvSpPr/>
          <p:nvPr>
            <p:ph idx="102" type="body" hasCustomPrompt="1"/>
          </p:nvPr>
        </p:nvSpPr>
        <p:spPr>
          <a:xfrm>
            <a:off x="548640" y="4434840"/>
            <a:ext cx="11064240" cy="1645920"/>
          </a:xfrm>
          <a:prstGeom prst="rect">
            <a:avLst/>
          </a:prstGeom>
          <a:noFill/>
          <a:ln/>
        </p:spPr>
        <p:txBody>
          <a:bodyPr wrap="square" lIns="0" tIns="0" rIns="0" bIns="0" rtlCol="0" anchor="t"/>
          <a:lstStyle/>
          <a:p>
            <a:pPr algn="l" indent="0" marL="0">
              <a:buNone/>
            </a:pPr>
            <a:r>
              <a:rPr lang="en-US" sz="1800" dirty="0">
                <a:solidFill>
                  <a:schemeClr val="accent1"/>
                </a:solidFill>
              </a:rPr>
              <a:t>Concepts, ML and DL methods, evidence from the literature, and a step-by-step workflow for white rust (Albugo candida) in mustard  ·  MuDAS-AI · Animesh Panda, ICAR-IARI</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The study and its fusion objectives</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CONTEXT</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every fusion option in this deck is judged by one question: does it improve white rust severity classification on unseen plots, at acceptable cost and complexity?</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Study design as planned for MuDAS-AI; fusion definitions: Hall &amp; Llinas (1997); Lahat et al. (2015).</a:t>
            </a:r>
            <a:endParaRPr lang="en-US" sz="1000" dirty="0"/>
          </a:p>
        </p:txBody>
      </p:sp>
      <p:sp>
        <p:nvSpPr>
          <p:cNvPr id="7" name="Shape 5"/>
          <p:cNvSpPr/>
          <p:nvPr/>
        </p:nvSpPr>
        <p:spPr>
          <a:xfrm>
            <a:off x="457200" y="1188720"/>
            <a:ext cx="5486400" cy="4069080"/>
          </a:xfrm>
          <a:prstGeom prst="roundRect">
            <a:avLst>
              <a:gd name="adj" fmla="val 1798"/>
            </a:avLst>
          </a:prstGeom>
          <a:solidFill>
            <a:schemeClr val="bg2"/>
          </a:solidFill>
          <a:ln/>
        </p:spPr>
      </p:sp>
      <p:sp>
        <p:nvSpPr>
          <p:cNvPr id="8" name="Shape 6"/>
          <p:cNvSpPr/>
          <p:nvPr/>
        </p:nvSpPr>
        <p:spPr>
          <a:xfrm>
            <a:off x="457200" y="1298448"/>
            <a:ext cx="64008" cy="347472"/>
          </a:xfrm>
          <a:prstGeom prst="rect">
            <a:avLst/>
          </a:prstGeom>
          <a:solidFill>
            <a:schemeClr val="accent1"/>
          </a:solidFill>
          <a:ln/>
        </p:spPr>
      </p:sp>
      <p:sp>
        <p:nvSpPr>
          <p:cNvPr id="9" name="Text 7"/>
          <p:cNvSpPr txBox="1"/>
          <p:nvPr/>
        </p:nvSpPr>
        <p:spPr>
          <a:xfrm>
            <a:off x="640080" y="1280160"/>
            <a:ext cx="5212080" cy="384048"/>
          </a:xfrm>
          <a:prstGeom prst="rect">
            <a:avLst/>
          </a:prstGeom>
          <a:noFill/>
          <a:ln/>
        </p:spPr>
        <p:txBody>
          <a:bodyPr wrap="square" lIns="0" tIns="0" rIns="0" bIns="0" rtlCol="0" anchor="ctr"/>
          <a:lstStyle/>
          <a:p>
            <a:pPr indent="0" marL="0">
              <a:buNone/>
            </a:pPr>
            <a:r>
              <a:rPr lang="en-US" sz="1600" b="1" dirty="0">
                <a:solidFill>
                  <a:schemeClr val="tx1"/>
                </a:solidFill>
              </a:rPr>
              <a:t>Field data</a:t>
            </a:r>
            <a:endParaRPr lang="en-US" sz="1600" dirty="0"/>
          </a:p>
        </p:txBody>
      </p:sp>
      <p:sp>
        <p:nvSpPr>
          <p:cNvPr id="10" name="Text 8"/>
          <p:cNvSpPr txBox="1"/>
          <p:nvPr/>
        </p:nvSpPr>
        <p:spPr>
          <a:xfrm>
            <a:off x="640080" y="1719072"/>
            <a:ext cx="5166360" cy="3447288"/>
          </a:xfrm>
          <a:prstGeom prst="rect">
            <a:avLst/>
          </a:prstGeom>
          <a:noFill/>
          <a:ln/>
        </p:spPr>
        <p:txBody>
          <a:bodyPr wrap="square" lIns="0" tIns="0" rIns="0" bIns="0" rtlCol="0" anchor="t"/>
          <a:lstStyle/>
          <a:p>
            <a:pPr marL="165100" indent="-165100">
              <a:spcAft>
                <a:spcPts val="600"/>
              </a:spcAft>
              <a:buSzPct val="100000"/>
              <a:buChar char="•"/>
            </a:pPr>
            <a:r>
              <a:rPr lang="en-US" sz="1450" b="1" dirty="0">
                <a:solidFill>
                  <a:schemeClr val="tx1"/>
                </a:solidFill>
              </a:rPr>
              <a:t>Trial:</a:t>
            </a:r>
            <a:pPr indent="0" marL="0">
              <a:spcAft>
                <a:spcPts val="600"/>
              </a:spcAft>
              <a:buNone/>
            </a:pPr>
            <a:r>
              <a:rPr lang="en-US" sz="1450" dirty="0">
                <a:solidFill>
                  <a:schemeClr val="tx1"/>
                </a:solidFill>
              </a:rPr>
              <a:t> IARI, 48 plots (12 healthy controls, 36 inoculated), 4 flight dates</a:t>
            </a:r>
            <a:endParaRPr lang="en-US" sz="1400" dirty="0"/>
          </a:p>
          <a:p>
            <a:pPr marL="165100" indent="-165100">
              <a:spcAft>
                <a:spcPts val="600"/>
              </a:spcAft>
              <a:buSzPct val="100000"/>
              <a:buChar char="•"/>
            </a:pPr>
            <a:r>
              <a:rPr lang="en-US" sz="1450" b="1" dirty="0">
                <a:solidFill>
                  <a:schemeClr val="tx1"/>
                </a:solidFill>
              </a:rPr>
              <a:t>Sensors:</a:t>
            </a:r>
            <a:pPr indent="0" marL="0">
              <a:spcAft>
                <a:spcPts val="600"/>
              </a:spcAft>
              <a:buNone/>
            </a:pPr>
            <a:r>
              <a:rPr lang="en-US" sz="1450" dirty="0">
                <a:solidFill>
                  <a:schemeClr val="tx1"/>
                </a:solidFill>
              </a:rPr>
              <a:t> RGB, multispectral (MicaSense, 5 bands), hyperspectral (VNIR), thermal</a:t>
            </a:r>
            <a:endParaRPr lang="en-US" sz="1400" dirty="0"/>
          </a:p>
          <a:p>
            <a:pPr marL="165100" indent="-165100">
              <a:spcAft>
                <a:spcPts val="600"/>
              </a:spcAft>
              <a:buSzPct val="100000"/>
              <a:buChar char="•"/>
            </a:pPr>
            <a:r>
              <a:rPr lang="en-US" sz="1450" b="1" dirty="0">
                <a:solidFill>
                  <a:schemeClr val="tx1"/>
                </a:solidFill>
              </a:rPr>
              <a:t>Labels:</a:t>
            </a:r>
            <a:pPr indent="0" marL="0">
              <a:spcAft>
                <a:spcPts val="600"/>
              </a:spcAft>
              <a:buNone/>
            </a:pPr>
            <a:r>
              <a:rPr lang="en-US" sz="1450" dirty="0">
                <a:solidFill>
                  <a:schemeClr val="tx1"/>
                </a:solidFill>
              </a:rPr>
              <a:t> plot disease index (DI) → 6 ordered classes (0 healthy … 5 very high)</a:t>
            </a:r>
            <a:endParaRPr lang="en-US" sz="1400" dirty="0"/>
          </a:p>
          <a:p>
            <a:pPr marL="165100" indent="-165100">
              <a:spcAft>
                <a:spcPts val="600"/>
              </a:spcAft>
              <a:buSzPct val="100000"/>
              <a:buChar char="•"/>
            </a:pPr>
            <a:r>
              <a:rPr lang="en-US" sz="1450" b="1" dirty="0">
                <a:solidFill>
                  <a:schemeClr val="tx1"/>
                </a:solidFill>
              </a:rPr>
              <a:t>Validation:</a:t>
            </a:r>
            <a:pPr indent="0" marL="0">
              <a:spcAft>
                <a:spcPts val="600"/>
              </a:spcAft>
              <a:buNone/>
            </a:pPr>
            <a:r>
              <a:rPr lang="en-US" sz="1450" dirty="0">
                <a:solidFill>
                  <a:schemeClr val="tx1"/>
                </a:solidFill>
              </a:rPr>
              <a:t> IARI held-out plots → IIRMR Bharatpur → farmers' fields</a:t>
            </a:r>
            <a:endParaRPr lang="en-US" sz="1400" dirty="0"/>
          </a:p>
          <a:p>
            <a:pPr marL="165100" indent="-165100">
              <a:spcAft>
                <a:spcPts val="600"/>
              </a:spcAft>
              <a:buSzPct val="100000"/>
              <a:buChar char="•"/>
            </a:pPr>
            <a:r>
              <a:rPr lang="en-US" sz="1450" b="1" dirty="0">
                <a:solidFill>
                  <a:schemeClr val="tx1"/>
                </a:solidFill>
              </a:rPr>
              <a:t>Complementary:</a:t>
            </a:r>
            <a:pPr indent="0" marL="0">
              <a:spcAft>
                <a:spcPts val="600"/>
              </a:spcAft>
              <a:buNone/>
            </a:pPr>
            <a:r>
              <a:rPr lang="en-US" sz="1450" dirty="0">
                <a:solidFill>
                  <a:schemeClr val="tx1"/>
                </a:solidFill>
              </a:rPr>
              <a:t> glasshouse pot experiment (leaf/plant scale)</a:t>
            </a:r>
            <a:endParaRPr lang="en-US" sz="1400" dirty="0"/>
          </a:p>
        </p:txBody>
      </p:sp>
      <p:sp>
        <p:nvSpPr>
          <p:cNvPr id="11" name="Shape 9"/>
          <p:cNvSpPr/>
          <p:nvPr/>
        </p:nvSpPr>
        <p:spPr>
          <a:xfrm>
            <a:off x="6245352" y="1188720"/>
            <a:ext cx="5486400" cy="4069080"/>
          </a:xfrm>
          <a:prstGeom prst="roundRect">
            <a:avLst>
              <a:gd name="adj" fmla="val 1798"/>
            </a:avLst>
          </a:prstGeom>
          <a:solidFill>
            <a:schemeClr val="bg2"/>
          </a:solidFill>
          <a:ln/>
        </p:spPr>
      </p:sp>
      <p:sp>
        <p:nvSpPr>
          <p:cNvPr id="12" name="Shape 10"/>
          <p:cNvSpPr/>
          <p:nvPr/>
        </p:nvSpPr>
        <p:spPr>
          <a:xfrm>
            <a:off x="6245352" y="1298448"/>
            <a:ext cx="64008" cy="347472"/>
          </a:xfrm>
          <a:prstGeom prst="rect">
            <a:avLst/>
          </a:prstGeom>
          <a:solidFill>
            <a:schemeClr val="accent2"/>
          </a:solidFill>
          <a:ln/>
        </p:spPr>
      </p:sp>
      <p:sp>
        <p:nvSpPr>
          <p:cNvPr id="13" name="Text 11"/>
          <p:cNvSpPr txBox="1"/>
          <p:nvPr/>
        </p:nvSpPr>
        <p:spPr>
          <a:xfrm>
            <a:off x="6428232" y="1280160"/>
            <a:ext cx="5212080" cy="384048"/>
          </a:xfrm>
          <a:prstGeom prst="rect">
            <a:avLst/>
          </a:prstGeom>
          <a:noFill/>
          <a:ln/>
        </p:spPr>
        <p:txBody>
          <a:bodyPr wrap="square" lIns="0" tIns="0" rIns="0" bIns="0" rtlCol="0" anchor="ctr"/>
          <a:lstStyle/>
          <a:p>
            <a:pPr indent="0" marL="0">
              <a:buNone/>
            </a:pPr>
            <a:r>
              <a:rPr lang="en-US" sz="1600" b="1" dirty="0">
                <a:solidFill>
                  <a:schemeClr val="tx1"/>
                </a:solidFill>
              </a:rPr>
              <a:t>Fusion objectives</a:t>
            </a:r>
            <a:endParaRPr lang="en-US" sz="1600" dirty="0"/>
          </a:p>
        </p:txBody>
      </p:sp>
      <p:sp>
        <p:nvSpPr>
          <p:cNvPr id="14" name="Text 12"/>
          <p:cNvSpPr txBox="1"/>
          <p:nvPr/>
        </p:nvSpPr>
        <p:spPr>
          <a:xfrm>
            <a:off x="6428232" y="1719072"/>
            <a:ext cx="5166360" cy="3447288"/>
          </a:xfrm>
          <a:prstGeom prst="rect">
            <a:avLst/>
          </a:prstGeom>
          <a:noFill/>
          <a:ln/>
        </p:spPr>
        <p:txBody>
          <a:bodyPr wrap="square" lIns="0" tIns="0" rIns="0" bIns="0" rtlCol="0" anchor="t"/>
          <a:lstStyle/>
          <a:p>
            <a:pPr marL="165100" indent="-165100">
              <a:spcAft>
                <a:spcPts val="600"/>
              </a:spcAft>
              <a:buSzPct val="100000"/>
              <a:buChar char="•"/>
            </a:pPr>
            <a:r>
              <a:rPr lang="en-US" sz="1450" b="1" dirty="0">
                <a:solidFill>
                  <a:schemeClr val="tx1"/>
                </a:solidFill>
              </a:rPr>
              <a:t>O1:</a:t>
            </a:r>
            <a:pPr indent="0" marL="0">
              <a:spcAft>
                <a:spcPts val="600"/>
              </a:spcAft>
              <a:buNone/>
            </a:pPr>
            <a:r>
              <a:rPr lang="en-US" sz="1450" dirty="0">
                <a:solidFill>
                  <a:schemeClr val="tx1"/>
                </a:solidFill>
              </a:rPr>
              <a:t> identify disease-specific features of each sensor (single-sensor level)</a:t>
            </a:r>
            <a:endParaRPr lang="en-US" sz="1400" dirty="0"/>
          </a:p>
          <a:p>
            <a:pPr marL="165100" indent="-165100">
              <a:spcAft>
                <a:spcPts val="600"/>
              </a:spcAft>
              <a:buSzPct val="100000"/>
              <a:buChar char="•"/>
            </a:pPr>
            <a:r>
              <a:rPr lang="en-US" sz="1450" b="1" dirty="0">
                <a:solidFill>
                  <a:schemeClr val="tx1"/>
                </a:solidFill>
              </a:rPr>
              <a:t>O2:</a:t>
            </a:r>
            <a:pPr indent="0" marL="0">
              <a:spcAft>
                <a:spcPts val="600"/>
              </a:spcAft>
              <a:buNone/>
            </a:pPr>
            <a:r>
              <a:rPr lang="en-US" sz="1450" dirty="0">
                <a:solidFill>
                  <a:schemeClr val="tx1"/>
                </a:solidFill>
              </a:rPr>
              <a:t> build the best single-sensor model (baseline)</a:t>
            </a:r>
            <a:endParaRPr lang="en-US" sz="1400" dirty="0"/>
          </a:p>
          <a:p>
            <a:pPr marL="165100" indent="-165100">
              <a:spcAft>
                <a:spcPts val="600"/>
              </a:spcAft>
              <a:buSzPct val="100000"/>
              <a:buChar char="•"/>
            </a:pPr>
            <a:r>
              <a:rPr lang="en-US" sz="1450" b="1" dirty="0">
                <a:solidFill>
                  <a:schemeClr val="tx1"/>
                </a:solidFill>
              </a:rPr>
              <a:t>O3:</a:t>
            </a:r>
            <a:pPr indent="0" marL="0">
              <a:spcAft>
                <a:spcPts val="600"/>
              </a:spcAft>
              <a:buNone/>
            </a:pPr>
            <a:r>
              <a:rPr lang="en-US" sz="1450" dirty="0">
                <a:solidFill>
                  <a:schemeClr val="tx1"/>
                </a:solidFill>
              </a:rPr>
              <a:t> fuse sensors and compare fusion levels: data/pixel, feature (ML and DL), decision/model</a:t>
            </a:r>
            <a:endParaRPr lang="en-US" sz="1400" dirty="0"/>
          </a:p>
          <a:p>
            <a:pPr marL="165100" indent="-165100">
              <a:spcAft>
                <a:spcPts val="600"/>
              </a:spcAft>
              <a:buSzPct val="100000"/>
              <a:buChar char="•"/>
            </a:pPr>
            <a:r>
              <a:rPr lang="en-US" sz="1450" b="1" dirty="0">
                <a:solidFill>
                  <a:schemeClr val="tx1"/>
                </a:solidFill>
              </a:rPr>
              <a:t>O4:</a:t>
            </a:r>
            <a:pPr indent="0" marL="0">
              <a:spcAft>
                <a:spcPts val="600"/>
              </a:spcAft>
              <a:buNone/>
            </a:pPr>
            <a:r>
              <a:rPr lang="en-US" sz="1450" dirty="0">
                <a:solidFill>
                  <a:schemeClr val="tx1"/>
                </a:solidFill>
              </a:rPr>
              <a:t> find the smallest sensor set that is accurate enough (cost)</a:t>
            </a:r>
            <a:endParaRPr lang="en-US" sz="1400" dirty="0"/>
          </a:p>
          <a:p>
            <a:pPr marL="165100" indent="-165100">
              <a:spcAft>
                <a:spcPts val="600"/>
              </a:spcAft>
              <a:buSzPct val="100000"/>
              <a:buChar char="•"/>
            </a:pPr>
            <a:r>
              <a:rPr lang="en-US" sz="1450" b="1" dirty="0">
                <a:solidFill>
                  <a:schemeClr val="tx1"/>
                </a:solidFill>
              </a:rPr>
              <a:t>O5:</a:t>
            </a:r>
            <a:pPr indent="0" marL="0">
              <a:spcAft>
                <a:spcPts val="600"/>
              </a:spcAft>
              <a:buNone/>
            </a:pPr>
            <a:r>
              <a:rPr lang="en-US" sz="1450" dirty="0">
                <a:solidFill>
                  <a:schemeClr val="tx1"/>
                </a:solidFill>
              </a:rPr>
              <a:t> produce a validated severity map and spray zones</a:t>
            </a:r>
            <a:endParaRPr lang="en-US" sz="14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Why fuse? Each sensor measures a different physical property</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CONCEPT · COMPLEMENTARITY</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fusion is justified only if the sensors carry complementary information about white rust; prove this with low cross-sensor correlation and an ablation table.</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Mahlein (2016); Zarco-Tejada et al. (2018); Maimaitijiang et al. (2020); Baltrušaitis et al. (2019) definition of modality.</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1463040"/>
                <a:gridCol w="3566160"/>
                <a:gridCol w="1371600"/>
                <a:gridCol w="4873752"/>
              </a:tblGrid>
              <a:tr h="0">
                <a:tc>
                  <a:txBody>
                    <a:bodyPr/>
                    <a:lstStyle/>
                    <a:p>
                      <a:pPr indent="0" marL="0">
                        <a:buNone/>
                      </a:pPr>
                      <a:r>
                        <a:rPr lang="en-US" sz="1400" b="1" dirty="0">
                          <a:solidFill>
                            <a:schemeClr val="bg1"/>
                          </a:solidFill>
                        </a:rPr>
                        <a:t>Sensor</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Physical principle</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Typical UAV GSD</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White rust symptom it can capture</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r>
              <a:tr h="0">
                <a:tc>
                  <a:txBody>
                    <a:bodyPr/>
                    <a:lstStyle/>
                    <a:p>
                      <a:pPr indent="0" marL="0">
                        <a:buNone/>
                      </a:pPr>
                      <a:r>
                        <a:rPr lang="en-US" sz="1400" dirty="0">
                          <a:solidFill>
                            <a:schemeClr val="tx1"/>
                          </a:solidFill>
                        </a:rPr>
                        <a:t>RGB</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Reflected visible light, 3 broad bands, very high spatial detail</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 1 cm</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Texture: white pustules, chlorotic spots, stagheads, leaf distortion</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400" dirty="0">
                          <a:solidFill>
                            <a:schemeClr val="tx1"/>
                          </a:solidFill>
                        </a:rPr>
                        <a:t>Multispectral</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Reflected light in 5 broad bands incl. red edge and NIR</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 3–5 cm</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Canopy vigour and chlorophyll loss (NDVI, NDRE, CIre)</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400" dirty="0">
                          <a:solidFill>
                            <a:schemeClr val="tx1"/>
                          </a:solidFill>
                        </a:rPr>
                        <a:t>Hyperspectral</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Spectroscopy: ~100+ narrow contiguous bands</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 2–5 cm</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Pigments, red-edge shift, water bands, subtle early changes</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400" dirty="0">
                          <a:solidFill>
                            <a:schemeClr val="tx1"/>
                          </a:solidFill>
                        </a:rPr>
                        <a:t>Thermal</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Emitted long-wave radiation (energy balance), not reflection</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 5–10 cm</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Reduced transpiration → warmer canopy (CTD, NRCT)</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400" dirty="0">
                          <a:solidFill>
                            <a:schemeClr val="tx1"/>
                          </a:solidFill>
                        </a:rPr>
                        <a:t>Structure (from RGB)</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Photogrammetric 3-D surface (DSM − DTM)</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 1–2 cm</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Stunting, staghead deformation, canopy height and cover</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bl>
          </a:graphicData>
        </a:graphic>
      </p:graphicFrame>
      <p:sp>
        <p:nvSpPr>
          <p:cNvPr id="8" name="Text 5"/>
          <p:cNvSpPr txBox="1"/>
          <p:nvPr/>
        </p:nvSpPr>
        <p:spPr>
          <a:xfrm>
            <a:off x="457200" y="4526280"/>
            <a:ext cx="11274552" cy="731520"/>
          </a:xfrm>
          <a:prstGeom prst="rect">
            <a:avLst/>
          </a:prstGeom>
          <a:noFill/>
          <a:ln/>
        </p:spPr>
        <p:txBody>
          <a:bodyPr wrap="square" lIns="0" tIns="0" rIns="0" bIns="0" rtlCol="0" anchor="t"/>
          <a:lstStyle/>
          <a:p>
            <a:pPr indent="0" marL="0">
              <a:buNone/>
            </a:pPr>
            <a:r>
              <a:rPr lang="en-US" sz="1300" i="1" dirty="0">
                <a:solidFill>
                  <a:schemeClr val="tx1"/>
                </a:solidFill>
              </a:rPr>
              <a:t>A modality is defined by its sensing principle, not by the file format: like MRI, CT and PET in medicine, all four are images, yet they measure different properties.</a:t>
            </a:r>
            <a:endParaRPr lang="en-US" sz="13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Fusion levels: a taxonomy</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CONCEPT · LEVELS</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the thesis compares Level 2 (feature fusion, ML and DL) and Level 3 (decision fusion); Levels 0–1 are prerequisites or optional enhancements.</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Pohl &amp; Van Genderen (1998); Hall &amp; Llinas (1997); Castanedo (2013); Ramachandram &amp; Taylor (2017); Baltrušaitis et al. (2019).</a:t>
            </a:r>
            <a:endParaRPr lang="en-US" sz="1000" dirty="0"/>
          </a:p>
        </p:txBody>
      </p:sp>
      <p:sp>
        <p:nvSpPr>
          <p:cNvPr id="7" name="Text 5"/>
          <p:cNvSpPr/>
          <p:nvPr/>
        </p:nvSpPr>
        <p:spPr>
          <a:xfrm>
            <a:off x="457200" y="1188720"/>
            <a:ext cx="2181758" cy="731520"/>
          </a:xfrm>
          <a:prstGeom prst="homePlate">
            <a:avLst/>
          </a:prstGeom>
          <a:solidFill>
            <a:schemeClr val="tx2"/>
          </a:solidFill>
          <a:ln/>
        </p:spPr>
        <p:txBody>
          <a:bodyPr wrap="square" lIns="0" tIns="50800" rIns="63500" bIns="0" rtlCol="0" anchor="ctr"/>
          <a:lstStyle/>
          <a:p>
            <a:pPr algn="ctr" indent="0" marL="0">
              <a:buNone/>
            </a:pPr>
            <a:r>
              <a:rPr lang="en-US" sz="1200" b="1" dirty="0">
                <a:solidFill>
                  <a:schemeClr val="bg1"/>
                </a:solidFill>
              </a:rPr>
              <a:t>L0 Data level</a:t>
            </a:r>
            <a:endParaRPr lang="en-US" sz="1200" dirty="0"/>
          </a:p>
        </p:txBody>
      </p:sp>
      <p:sp>
        <p:nvSpPr>
          <p:cNvPr id="8" name="Text 6"/>
          <p:cNvSpPr/>
          <p:nvPr/>
        </p:nvSpPr>
        <p:spPr>
          <a:xfrm>
            <a:off x="2730398" y="1188720"/>
            <a:ext cx="2181758" cy="731520"/>
          </a:xfrm>
          <a:prstGeom prst="chevron">
            <a:avLst/>
          </a:prstGeom>
          <a:solidFill>
            <a:schemeClr val="accent6"/>
          </a:solidFill>
          <a:ln/>
        </p:spPr>
        <p:txBody>
          <a:bodyPr wrap="square" lIns="0" tIns="139700" rIns="63500" bIns="0" rtlCol="0" anchor="ctr"/>
          <a:lstStyle/>
          <a:p>
            <a:pPr algn="ctr" indent="0" marL="0">
              <a:buNone/>
            </a:pPr>
            <a:r>
              <a:rPr lang="en-US" sz="1200" b="1" dirty="0">
                <a:solidFill>
                  <a:schemeClr val="bg1"/>
                </a:solidFill>
              </a:rPr>
              <a:t>L1 Pixel level</a:t>
            </a:r>
            <a:endParaRPr lang="en-US" sz="1200" dirty="0"/>
          </a:p>
        </p:txBody>
      </p:sp>
      <p:sp>
        <p:nvSpPr>
          <p:cNvPr id="9" name="Text 7"/>
          <p:cNvSpPr/>
          <p:nvPr/>
        </p:nvSpPr>
        <p:spPr>
          <a:xfrm>
            <a:off x="5003597" y="1188720"/>
            <a:ext cx="2181758" cy="731520"/>
          </a:xfrm>
          <a:prstGeom prst="chevron">
            <a:avLst/>
          </a:prstGeom>
          <a:solidFill>
            <a:schemeClr val="accent1"/>
          </a:solidFill>
          <a:ln/>
        </p:spPr>
        <p:txBody>
          <a:bodyPr wrap="square" lIns="0" tIns="139700" rIns="63500" bIns="0" rtlCol="0" anchor="ctr"/>
          <a:lstStyle/>
          <a:p>
            <a:pPr algn="ctr" indent="0" marL="0">
              <a:buNone/>
            </a:pPr>
            <a:r>
              <a:rPr lang="en-US" sz="1200" b="1" dirty="0">
                <a:solidFill>
                  <a:schemeClr val="bg1"/>
                </a:solidFill>
              </a:rPr>
              <a:t>L2 Feature level</a:t>
            </a:r>
            <a:endParaRPr lang="en-US" sz="1200" dirty="0"/>
          </a:p>
        </p:txBody>
      </p:sp>
      <p:sp>
        <p:nvSpPr>
          <p:cNvPr id="10" name="Text 8"/>
          <p:cNvSpPr/>
          <p:nvPr/>
        </p:nvSpPr>
        <p:spPr>
          <a:xfrm>
            <a:off x="7276795" y="1188720"/>
            <a:ext cx="2181758" cy="731520"/>
          </a:xfrm>
          <a:prstGeom prst="chevron">
            <a:avLst/>
          </a:prstGeom>
          <a:solidFill>
            <a:schemeClr val="accent2"/>
          </a:solidFill>
          <a:ln/>
        </p:spPr>
        <p:txBody>
          <a:bodyPr wrap="square" lIns="0" tIns="139700" rIns="63500" bIns="0" rtlCol="0" anchor="ctr"/>
          <a:lstStyle/>
          <a:p>
            <a:pPr algn="ctr" indent="0" marL="0">
              <a:buNone/>
            </a:pPr>
            <a:r>
              <a:rPr lang="en-US" sz="1200" b="1" dirty="0">
                <a:solidFill>
                  <a:schemeClr val="bg1"/>
                </a:solidFill>
              </a:rPr>
              <a:t>L3 Decision / model level</a:t>
            </a:r>
            <a:endParaRPr lang="en-US" sz="1200" dirty="0"/>
          </a:p>
        </p:txBody>
      </p:sp>
      <p:sp>
        <p:nvSpPr>
          <p:cNvPr id="11" name="Text 9"/>
          <p:cNvSpPr/>
          <p:nvPr/>
        </p:nvSpPr>
        <p:spPr>
          <a:xfrm>
            <a:off x="9549994" y="1188720"/>
            <a:ext cx="2181758" cy="731520"/>
          </a:xfrm>
          <a:prstGeom prst="chevron">
            <a:avLst/>
          </a:prstGeom>
          <a:solidFill>
            <a:schemeClr val="accent3"/>
          </a:solidFill>
          <a:ln/>
        </p:spPr>
        <p:txBody>
          <a:bodyPr wrap="square" lIns="0" tIns="139700" rIns="63500" bIns="0" rtlCol="0" anchor="ctr"/>
          <a:lstStyle/>
          <a:p>
            <a:pPr algn="ctr" indent="0" marL="0">
              <a:buNone/>
            </a:pPr>
            <a:r>
              <a:rPr lang="en-US" sz="1200" b="1" dirty="0">
                <a:solidFill>
                  <a:schemeClr val="bg1"/>
                </a:solidFill>
              </a:rPr>
              <a:t>Hybrid</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2103120"/>
          <a:ext cx="11274552" cy="914400"/>
        </p:xfrm>
        <a:graphic>
          <a:graphicData uri="http://schemas.openxmlformats.org/drawingml/2006/table">
            <a:tbl>
              <a:tblPr/>
              <a:tblGrid>
                <a:gridCol w="1737360"/>
                <a:gridCol w="3657600"/>
                <a:gridCol w="2560320"/>
                <a:gridCol w="3319272"/>
              </a:tblGrid>
              <a:tr h="0">
                <a:tc>
                  <a:txBody>
                    <a:bodyPr/>
                    <a:lstStyle/>
                    <a:p>
                      <a:pPr indent="0" marL="0">
                        <a:buNone/>
                      </a:pPr>
                      <a:r>
                        <a:rPr lang="en-US" sz="1300" b="1" dirty="0">
                          <a:solidFill>
                            <a:schemeClr val="bg1"/>
                          </a:solidFill>
                        </a:rPr>
                        <a:t>Level</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What is combined</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Output</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Typical methods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r>
              <a:tr h="0">
                <a:tc>
                  <a:txBody>
                    <a:bodyPr/>
                    <a:lstStyle/>
                    <a:p>
                      <a:pPr indent="0" marL="0">
                        <a:buNone/>
                      </a:pPr>
                      <a:r>
                        <a:rPr lang="en-US" sz="1300" dirty="0">
                          <a:solidFill>
                            <a:schemeClr val="tx1"/>
                          </a:solidFill>
                        </a:rPr>
                        <a:t>L0 Data (signal)</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Raw/calibrated measurements put on a common geometry and radiometry</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Co-registered, harmonised layer stack</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Calibration, co-registration, resampling, stacking</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300" dirty="0">
                          <a:solidFill>
                            <a:schemeClr val="tx1"/>
                          </a:solidFill>
                        </a:rPr>
                        <a:t>L1 Pixel</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Pixel values of co-registered images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A fused image, or per-pixel joint vectors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Pansharpening (CS, MRA), HS–MS fusion, IR–visible fusion, early-fusion CNN</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300" dirty="0">
                          <a:solidFill>
                            <a:schemeClr val="tx1"/>
                          </a:solidFill>
                        </a:rPr>
                        <a:t>L2 Feature</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Descriptors extracted separately from each sensor</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Joint feature vector / representation</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Concatenation + selection, PCA/PLS/CCA, multiple kernels, multi-branch DL</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300" dirty="0">
                          <a:solidFill>
                            <a:schemeClr val="tx1"/>
                          </a:solidFill>
                        </a:rPr>
                        <a:t>L3 Decision / model</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Outputs of separate sensor-specific models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Combined class / probability</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Voting, weighted averaging, stacking, Dempster–Shafer, DL late fusion</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300" dirty="0">
                          <a:solidFill>
                            <a:schemeClr val="tx1"/>
                          </a:solidFill>
                        </a:rPr>
                        <a:t>Hybrid</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More than one level</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Combined</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Feature fusion within groups + decision fusion across; multi-stage DL</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Terminology: the same idea has different names</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CONCEPT · TERMS</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define the terms once in the Methods chapter (use the left column) to avoid reviewer confusion, especially between 'model-level' and 'decision-level'.</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Pohl &amp; Van Genderen (1998); Snoek et al. (2005); Ramachandram &amp; Taylor (2017); Baltrušaitis et al. (2019); Hong et al. (2021).</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2377440"/>
                <a:gridCol w="4937760"/>
                <a:gridCol w="3959352"/>
              </a:tblGrid>
              <a:tr h="0">
                <a:tc>
                  <a:txBody>
                    <a:bodyPr/>
                    <a:lstStyle/>
                    <a:p>
                      <a:pPr indent="0" marL="0">
                        <a:buNone/>
                      </a:pPr>
                      <a:r>
                        <a:rPr lang="en-US" sz="1400" b="1" dirty="0">
                          <a:solidFill>
                            <a:schemeClr val="bg1"/>
                          </a:solidFill>
                        </a:rPr>
                        <a:t>Term used here</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Synonyms in the literature</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Note</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r>
              <a:tr h="0">
                <a:tc>
                  <a:txBody>
                    <a:bodyPr/>
                    <a:lstStyle/>
                    <a:p>
                      <a:pPr indent="0" marL="0">
                        <a:buNone/>
                      </a:pPr>
                      <a:r>
                        <a:rPr lang="en-US" sz="1400" dirty="0">
                          <a:solidFill>
                            <a:schemeClr val="tx1"/>
                          </a:solidFill>
                        </a:rPr>
                        <a:t>Data-level fusion</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Signal-level, low-level, raw-data fusion</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Sometimes includes pixel-level fusion</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400" dirty="0">
                          <a:solidFill>
                            <a:schemeClr val="tx1"/>
                          </a:solidFill>
                        </a:rPr>
                        <a:t>Pixel-level fusion</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Image fusion, early fusion (in DL), input-level fusion</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Requires accurate co-registration and a common grid</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400" dirty="0">
                          <a:solidFill>
                            <a:schemeClr val="tx1"/>
                          </a:solidFill>
                        </a:rPr>
                        <a:t>Feature-level fusion</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Intermediate fusion, mid-level fusion, representation fusion</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In DL: fusion of learned feature maps or embeddings</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400" dirty="0">
                          <a:solidFill>
                            <a:schemeClr val="tx1"/>
                          </a:solidFill>
                        </a:rPr>
                        <a:t>Decision-level fusion</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Late fusion, classifier fusion, ensemble of sensor models</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Combines predictions, not features</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400" dirty="0">
                          <a:solidFill>
                            <a:schemeClr val="tx1"/>
                          </a:solidFill>
                        </a:rPr>
                        <a:t>Model-level fusion</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Used in two ways: (a) = decision/late fusion; (b) a joint model that fuses inside its architecture</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State which meaning you use</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400" dirty="0">
                          <a:solidFill>
                            <a:schemeClr val="tx1"/>
                          </a:solidFill>
                        </a:rPr>
                        <a:t>Joint vs coordinated representation</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Baltrušaitis et al. (2019)</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Joint: one shared space; coordinated: separate spaces linked by constraints (e.g. CCA)</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Preconditions: what must be true before any fusion works</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CONCEPT · REQUIREMENTS</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these six conditions become the checklist for every flight date before features are extracted.</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Zitová &amp; Flusser (2003); Pohl &amp; Van Genderen (1998); Varma &amp; Simon (2006); Roberts et al. (2017).</a:t>
            </a:r>
            <a:endParaRPr lang="en-US" sz="1000" dirty="0"/>
          </a:p>
        </p:txBody>
      </p:sp>
      <p:sp>
        <p:nvSpPr>
          <p:cNvPr id="7" name="Shape 5"/>
          <p:cNvSpPr/>
          <p:nvPr/>
        </p:nvSpPr>
        <p:spPr>
          <a:xfrm>
            <a:off x="457200" y="1188720"/>
            <a:ext cx="3657600" cy="1920240"/>
          </a:xfrm>
          <a:prstGeom prst="roundRect">
            <a:avLst>
              <a:gd name="adj" fmla="val 3810"/>
            </a:avLst>
          </a:prstGeom>
          <a:solidFill>
            <a:schemeClr val="bg2"/>
          </a:solidFill>
          <a:ln/>
        </p:spPr>
      </p:sp>
      <p:sp>
        <p:nvSpPr>
          <p:cNvPr id="8" name="Shape 6"/>
          <p:cNvSpPr/>
          <p:nvPr/>
        </p:nvSpPr>
        <p:spPr>
          <a:xfrm>
            <a:off x="457200" y="1298448"/>
            <a:ext cx="64008" cy="347472"/>
          </a:xfrm>
          <a:prstGeom prst="rect">
            <a:avLst/>
          </a:prstGeom>
          <a:solidFill>
            <a:schemeClr val="accent1"/>
          </a:solidFill>
          <a:ln/>
        </p:spPr>
      </p:sp>
      <p:sp>
        <p:nvSpPr>
          <p:cNvPr id="9" name="Text 7"/>
          <p:cNvSpPr txBox="1"/>
          <p:nvPr/>
        </p:nvSpPr>
        <p:spPr>
          <a:xfrm>
            <a:off x="640080" y="1280160"/>
            <a:ext cx="3383280" cy="384048"/>
          </a:xfrm>
          <a:prstGeom prst="rect">
            <a:avLst/>
          </a:prstGeom>
          <a:noFill/>
          <a:ln/>
        </p:spPr>
        <p:txBody>
          <a:bodyPr wrap="square" lIns="0" tIns="0" rIns="0" bIns="0" rtlCol="0" anchor="ctr"/>
          <a:lstStyle/>
          <a:p>
            <a:pPr indent="0" marL="0">
              <a:buNone/>
            </a:pPr>
            <a:r>
              <a:rPr lang="en-US" sz="1600" b="1" dirty="0">
                <a:solidFill>
                  <a:schemeClr val="tx1"/>
                </a:solidFill>
              </a:rPr>
              <a:t>1. Same object, same time</a:t>
            </a:r>
            <a:endParaRPr lang="en-US" sz="1600" dirty="0"/>
          </a:p>
        </p:txBody>
      </p:sp>
      <p:sp>
        <p:nvSpPr>
          <p:cNvPr id="10" name="Text 8"/>
          <p:cNvSpPr txBox="1"/>
          <p:nvPr/>
        </p:nvSpPr>
        <p:spPr>
          <a:xfrm>
            <a:off x="640080" y="1719072"/>
            <a:ext cx="3337560" cy="1298448"/>
          </a:xfrm>
          <a:prstGeom prst="rect">
            <a:avLst/>
          </a:prstGeom>
          <a:noFill/>
          <a:ln/>
        </p:spPr>
        <p:txBody>
          <a:bodyPr wrap="square" lIns="0" tIns="0" rIns="0" bIns="0" rtlCol="0" anchor="t"/>
          <a:lstStyle/>
          <a:p>
            <a:pPr indent="0" marL="0">
              <a:buNone/>
            </a:pPr>
            <a:r>
              <a:rPr lang="en-US" sz="1500" dirty="0">
                <a:solidFill>
                  <a:schemeClr val="tx1"/>
                </a:solidFill>
              </a:rPr>
              <a:t>All sensors flown on the same day, in a fixed time window (e.g. ±1.5 h of solar noon)</a:t>
            </a:r>
            <a:endParaRPr lang="en-US" sz="1500" dirty="0"/>
          </a:p>
        </p:txBody>
      </p:sp>
      <p:sp>
        <p:nvSpPr>
          <p:cNvPr id="11" name="Shape 9"/>
          <p:cNvSpPr/>
          <p:nvPr/>
        </p:nvSpPr>
        <p:spPr>
          <a:xfrm>
            <a:off x="4251960" y="1188720"/>
            <a:ext cx="3657600" cy="1920240"/>
          </a:xfrm>
          <a:prstGeom prst="roundRect">
            <a:avLst>
              <a:gd name="adj" fmla="val 3810"/>
            </a:avLst>
          </a:prstGeom>
          <a:solidFill>
            <a:schemeClr val="bg2"/>
          </a:solidFill>
          <a:ln/>
        </p:spPr>
      </p:sp>
      <p:sp>
        <p:nvSpPr>
          <p:cNvPr id="12" name="Shape 10"/>
          <p:cNvSpPr/>
          <p:nvPr/>
        </p:nvSpPr>
        <p:spPr>
          <a:xfrm>
            <a:off x="4251960" y="1298448"/>
            <a:ext cx="64008" cy="347472"/>
          </a:xfrm>
          <a:prstGeom prst="rect">
            <a:avLst/>
          </a:prstGeom>
          <a:solidFill>
            <a:schemeClr val="accent2"/>
          </a:solidFill>
          <a:ln/>
        </p:spPr>
      </p:sp>
      <p:sp>
        <p:nvSpPr>
          <p:cNvPr id="13" name="Text 11"/>
          <p:cNvSpPr txBox="1"/>
          <p:nvPr/>
        </p:nvSpPr>
        <p:spPr>
          <a:xfrm>
            <a:off x="4434840" y="1280160"/>
            <a:ext cx="3383280" cy="384048"/>
          </a:xfrm>
          <a:prstGeom prst="rect">
            <a:avLst/>
          </a:prstGeom>
          <a:noFill/>
          <a:ln/>
        </p:spPr>
        <p:txBody>
          <a:bodyPr wrap="square" lIns="0" tIns="0" rIns="0" bIns="0" rtlCol="0" anchor="ctr"/>
          <a:lstStyle/>
          <a:p>
            <a:pPr indent="0" marL="0">
              <a:buNone/>
            </a:pPr>
            <a:r>
              <a:rPr lang="en-US" sz="1600" b="1" dirty="0">
                <a:solidFill>
                  <a:schemeClr val="tx1"/>
                </a:solidFill>
              </a:rPr>
              <a:t>2. Geometric agreement</a:t>
            </a:r>
            <a:endParaRPr lang="en-US" sz="1600" dirty="0"/>
          </a:p>
        </p:txBody>
      </p:sp>
      <p:sp>
        <p:nvSpPr>
          <p:cNvPr id="14" name="Text 12"/>
          <p:cNvSpPr txBox="1"/>
          <p:nvPr/>
        </p:nvSpPr>
        <p:spPr>
          <a:xfrm>
            <a:off x="4434840" y="1719072"/>
            <a:ext cx="3337560" cy="1298448"/>
          </a:xfrm>
          <a:prstGeom prst="rect">
            <a:avLst/>
          </a:prstGeom>
          <a:noFill/>
          <a:ln/>
        </p:spPr>
        <p:txBody>
          <a:bodyPr wrap="square" lIns="0" tIns="0" rIns="0" bIns="0" rtlCol="0" anchor="t"/>
          <a:lstStyle/>
          <a:p>
            <a:pPr indent="0" marL="0">
              <a:buNone/>
            </a:pPr>
            <a:r>
              <a:rPr lang="en-US" sz="1500" dirty="0">
                <a:solidFill>
                  <a:schemeClr val="tx1"/>
                </a:solidFill>
              </a:rPr>
              <a:t>Co-registration error well below one pixel of the coarsest sensor used</a:t>
            </a:r>
            <a:endParaRPr lang="en-US" sz="1500" dirty="0"/>
          </a:p>
        </p:txBody>
      </p:sp>
      <p:sp>
        <p:nvSpPr>
          <p:cNvPr id="15" name="Shape 13"/>
          <p:cNvSpPr/>
          <p:nvPr/>
        </p:nvSpPr>
        <p:spPr>
          <a:xfrm>
            <a:off x="8046720" y="1188720"/>
            <a:ext cx="3657600" cy="1920240"/>
          </a:xfrm>
          <a:prstGeom prst="roundRect">
            <a:avLst>
              <a:gd name="adj" fmla="val 3810"/>
            </a:avLst>
          </a:prstGeom>
          <a:solidFill>
            <a:schemeClr val="bg2"/>
          </a:solidFill>
          <a:ln/>
        </p:spPr>
      </p:sp>
      <p:sp>
        <p:nvSpPr>
          <p:cNvPr id="16" name="Shape 14"/>
          <p:cNvSpPr/>
          <p:nvPr/>
        </p:nvSpPr>
        <p:spPr>
          <a:xfrm>
            <a:off x="8046720" y="1298448"/>
            <a:ext cx="64008" cy="347472"/>
          </a:xfrm>
          <a:prstGeom prst="rect">
            <a:avLst/>
          </a:prstGeom>
          <a:solidFill>
            <a:schemeClr val="accent3"/>
          </a:solidFill>
          <a:ln/>
        </p:spPr>
      </p:sp>
      <p:sp>
        <p:nvSpPr>
          <p:cNvPr id="17" name="Text 15"/>
          <p:cNvSpPr txBox="1"/>
          <p:nvPr/>
        </p:nvSpPr>
        <p:spPr>
          <a:xfrm>
            <a:off x="8229600" y="1280160"/>
            <a:ext cx="3383280" cy="384048"/>
          </a:xfrm>
          <a:prstGeom prst="rect">
            <a:avLst/>
          </a:prstGeom>
          <a:noFill/>
          <a:ln/>
        </p:spPr>
        <p:txBody>
          <a:bodyPr wrap="square" lIns="0" tIns="0" rIns="0" bIns="0" rtlCol="0" anchor="ctr"/>
          <a:lstStyle/>
          <a:p>
            <a:pPr indent="0" marL="0">
              <a:buNone/>
            </a:pPr>
            <a:r>
              <a:rPr lang="en-US" sz="1600" b="1" dirty="0">
                <a:solidFill>
                  <a:schemeClr val="tx1"/>
                </a:solidFill>
              </a:rPr>
              <a:t>3. Radiometric consistency</a:t>
            </a:r>
            <a:endParaRPr lang="en-US" sz="1600" dirty="0"/>
          </a:p>
        </p:txBody>
      </p:sp>
      <p:sp>
        <p:nvSpPr>
          <p:cNvPr id="18" name="Text 16"/>
          <p:cNvSpPr txBox="1"/>
          <p:nvPr/>
        </p:nvSpPr>
        <p:spPr>
          <a:xfrm>
            <a:off x="8229600" y="1719072"/>
            <a:ext cx="3337560" cy="1298448"/>
          </a:xfrm>
          <a:prstGeom prst="rect">
            <a:avLst/>
          </a:prstGeom>
          <a:noFill/>
          <a:ln/>
        </p:spPr>
        <p:txBody>
          <a:bodyPr wrap="square" lIns="0" tIns="0" rIns="0" bIns="0" rtlCol="0" anchor="t"/>
          <a:lstStyle/>
          <a:p>
            <a:pPr indent="0" marL="0">
              <a:buNone/>
            </a:pPr>
            <a:r>
              <a:rPr lang="en-US" sz="1500" dirty="0">
                <a:solidFill>
                  <a:schemeClr val="tx1"/>
                </a:solidFill>
              </a:rPr>
              <a:t>Reflectance (RGB/MS/HS) and °C (thermal) calibrated per flight</a:t>
            </a:r>
            <a:endParaRPr lang="en-US" sz="1500" dirty="0"/>
          </a:p>
        </p:txBody>
      </p:sp>
      <p:sp>
        <p:nvSpPr>
          <p:cNvPr id="19" name="Shape 17"/>
          <p:cNvSpPr/>
          <p:nvPr/>
        </p:nvSpPr>
        <p:spPr>
          <a:xfrm>
            <a:off x="457200" y="3246120"/>
            <a:ext cx="3657600" cy="1920240"/>
          </a:xfrm>
          <a:prstGeom prst="roundRect">
            <a:avLst>
              <a:gd name="adj" fmla="val 3810"/>
            </a:avLst>
          </a:prstGeom>
          <a:solidFill>
            <a:schemeClr val="bg2"/>
          </a:solidFill>
          <a:ln/>
        </p:spPr>
      </p:sp>
      <p:sp>
        <p:nvSpPr>
          <p:cNvPr id="20" name="Shape 18"/>
          <p:cNvSpPr/>
          <p:nvPr/>
        </p:nvSpPr>
        <p:spPr>
          <a:xfrm>
            <a:off x="457200" y="3355848"/>
            <a:ext cx="64008" cy="347472"/>
          </a:xfrm>
          <a:prstGeom prst="rect">
            <a:avLst/>
          </a:prstGeom>
          <a:solidFill>
            <a:schemeClr val="accent5"/>
          </a:solidFill>
          <a:ln/>
        </p:spPr>
      </p:sp>
      <p:sp>
        <p:nvSpPr>
          <p:cNvPr id="21" name="Text 19"/>
          <p:cNvSpPr txBox="1"/>
          <p:nvPr/>
        </p:nvSpPr>
        <p:spPr>
          <a:xfrm>
            <a:off x="640080" y="3337560"/>
            <a:ext cx="3383280" cy="384048"/>
          </a:xfrm>
          <a:prstGeom prst="rect">
            <a:avLst/>
          </a:prstGeom>
          <a:noFill/>
          <a:ln/>
        </p:spPr>
        <p:txBody>
          <a:bodyPr wrap="square" lIns="0" tIns="0" rIns="0" bIns="0" rtlCol="0" anchor="ctr"/>
          <a:lstStyle/>
          <a:p>
            <a:pPr indent="0" marL="0">
              <a:buNone/>
            </a:pPr>
            <a:r>
              <a:rPr lang="en-US" sz="1600" b="1" dirty="0">
                <a:solidFill>
                  <a:schemeClr val="tx1"/>
                </a:solidFill>
              </a:rPr>
              <a:t>4. Common support</a:t>
            </a:r>
            <a:endParaRPr lang="en-US" sz="1600" dirty="0"/>
          </a:p>
        </p:txBody>
      </p:sp>
      <p:sp>
        <p:nvSpPr>
          <p:cNvPr id="22" name="Text 20"/>
          <p:cNvSpPr txBox="1"/>
          <p:nvPr/>
        </p:nvSpPr>
        <p:spPr>
          <a:xfrm>
            <a:off x="640080" y="3776472"/>
            <a:ext cx="3337560" cy="1298448"/>
          </a:xfrm>
          <a:prstGeom prst="rect">
            <a:avLst/>
          </a:prstGeom>
          <a:noFill/>
          <a:ln/>
        </p:spPr>
        <p:txBody>
          <a:bodyPr wrap="square" lIns="0" tIns="0" rIns="0" bIns="0" rtlCol="0" anchor="t"/>
          <a:lstStyle/>
          <a:p>
            <a:pPr indent="0" marL="0">
              <a:buNone/>
            </a:pPr>
            <a:r>
              <a:rPr lang="en-US" sz="1500" dirty="0">
                <a:solidFill>
                  <a:schemeClr val="tx1"/>
                </a:solidFill>
              </a:rPr>
              <a:t>Same canopy mask and plot inset for all sensors</a:t>
            </a:r>
            <a:endParaRPr lang="en-US" sz="1500" dirty="0"/>
          </a:p>
        </p:txBody>
      </p:sp>
      <p:sp>
        <p:nvSpPr>
          <p:cNvPr id="23" name="Shape 21"/>
          <p:cNvSpPr/>
          <p:nvPr/>
        </p:nvSpPr>
        <p:spPr>
          <a:xfrm>
            <a:off x="4251960" y="3246120"/>
            <a:ext cx="3657600" cy="1920240"/>
          </a:xfrm>
          <a:prstGeom prst="roundRect">
            <a:avLst>
              <a:gd name="adj" fmla="val 3810"/>
            </a:avLst>
          </a:prstGeom>
          <a:solidFill>
            <a:schemeClr val="bg2"/>
          </a:solidFill>
          <a:ln/>
        </p:spPr>
      </p:sp>
      <p:sp>
        <p:nvSpPr>
          <p:cNvPr id="24" name="Shape 22"/>
          <p:cNvSpPr/>
          <p:nvPr/>
        </p:nvSpPr>
        <p:spPr>
          <a:xfrm>
            <a:off x="4251960" y="3355848"/>
            <a:ext cx="64008" cy="347472"/>
          </a:xfrm>
          <a:prstGeom prst="rect">
            <a:avLst/>
          </a:prstGeom>
          <a:solidFill>
            <a:schemeClr val="accent6"/>
          </a:solidFill>
          <a:ln/>
        </p:spPr>
      </p:sp>
      <p:sp>
        <p:nvSpPr>
          <p:cNvPr id="25" name="Text 23"/>
          <p:cNvSpPr txBox="1"/>
          <p:nvPr/>
        </p:nvSpPr>
        <p:spPr>
          <a:xfrm>
            <a:off x="4434840" y="3337560"/>
            <a:ext cx="3383280" cy="384048"/>
          </a:xfrm>
          <a:prstGeom prst="rect">
            <a:avLst/>
          </a:prstGeom>
          <a:noFill/>
          <a:ln/>
        </p:spPr>
        <p:txBody>
          <a:bodyPr wrap="square" lIns="0" tIns="0" rIns="0" bIns="0" rtlCol="0" anchor="ctr"/>
          <a:lstStyle/>
          <a:p>
            <a:pPr indent="0" marL="0">
              <a:buNone/>
            </a:pPr>
            <a:r>
              <a:rPr lang="en-US" sz="1600" b="1" dirty="0">
                <a:solidFill>
                  <a:schemeClr val="tx1"/>
                </a:solidFill>
              </a:rPr>
              <a:t>5. Matched labels</a:t>
            </a:r>
            <a:endParaRPr lang="en-US" sz="1600" dirty="0"/>
          </a:p>
        </p:txBody>
      </p:sp>
      <p:sp>
        <p:nvSpPr>
          <p:cNvPr id="26" name="Text 24"/>
          <p:cNvSpPr txBox="1"/>
          <p:nvPr/>
        </p:nvSpPr>
        <p:spPr>
          <a:xfrm>
            <a:off x="4434840" y="3776472"/>
            <a:ext cx="3337560" cy="1298448"/>
          </a:xfrm>
          <a:prstGeom prst="rect">
            <a:avLst/>
          </a:prstGeom>
          <a:noFill/>
          <a:ln/>
        </p:spPr>
        <p:txBody>
          <a:bodyPr wrap="square" lIns="0" tIns="0" rIns="0" bIns="0" rtlCol="0" anchor="t"/>
          <a:lstStyle/>
          <a:p>
            <a:pPr indent="0" marL="0">
              <a:buNone/>
            </a:pPr>
            <a:r>
              <a:rPr lang="en-US" sz="1500" dirty="0">
                <a:solidFill>
                  <a:schemeClr val="tx1"/>
                </a:solidFill>
              </a:rPr>
              <a:t>DI scored on the flight day, on the same plot area the sensors see</a:t>
            </a:r>
            <a:endParaRPr lang="en-US" sz="1500" dirty="0"/>
          </a:p>
        </p:txBody>
      </p:sp>
      <p:sp>
        <p:nvSpPr>
          <p:cNvPr id="27" name="Shape 25"/>
          <p:cNvSpPr/>
          <p:nvPr/>
        </p:nvSpPr>
        <p:spPr>
          <a:xfrm>
            <a:off x="8046720" y="3246120"/>
            <a:ext cx="3657600" cy="1920240"/>
          </a:xfrm>
          <a:prstGeom prst="roundRect">
            <a:avLst>
              <a:gd name="adj" fmla="val 3810"/>
            </a:avLst>
          </a:prstGeom>
          <a:solidFill>
            <a:schemeClr val="bg2"/>
          </a:solidFill>
          <a:ln/>
        </p:spPr>
      </p:sp>
      <p:sp>
        <p:nvSpPr>
          <p:cNvPr id="28" name="Shape 26"/>
          <p:cNvSpPr/>
          <p:nvPr/>
        </p:nvSpPr>
        <p:spPr>
          <a:xfrm>
            <a:off x="8046720" y="3355848"/>
            <a:ext cx="64008" cy="347472"/>
          </a:xfrm>
          <a:prstGeom prst="rect">
            <a:avLst/>
          </a:prstGeom>
          <a:solidFill>
            <a:schemeClr val="accent4"/>
          </a:solidFill>
          <a:ln/>
        </p:spPr>
      </p:sp>
      <p:sp>
        <p:nvSpPr>
          <p:cNvPr id="29" name="Text 27"/>
          <p:cNvSpPr txBox="1"/>
          <p:nvPr/>
        </p:nvSpPr>
        <p:spPr>
          <a:xfrm>
            <a:off x="8229600" y="3337560"/>
            <a:ext cx="3383280" cy="384048"/>
          </a:xfrm>
          <a:prstGeom prst="rect">
            <a:avLst/>
          </a:prstGeom>
          <a:noFill/>
          <a:ln/>
        </p:spPr>
        <p:txBody>
          <a:bodyPr wrap="square" lIns="0" tIns="0" rIns="0" bIns="0" rtlCol="0" anchor="ctr"/>
          <a:lstStyle/>
          <a:p>
            <a:pPr indent="0" marL="0">
              <a:buNone/>
            </a:pPr>
            <a:r>
              <a:rPr lang="en-US" sz="1600" b="1" dirty="0">
                <a:solidFill>
                  <a:schemeClr val="tx1"/>
                </a:solidFill>
              </a:rPr>
              <a:t>6. Leak-free evaluation</a:t>
            </a:r>
            <a:endParaRPr lang="en-US" sz="1600" dirty="0"/>
          </a:p>
        </p:txBody>
      </p:sp>
      <p:sp>
        <p:nvSpPr>
          <p:cNvPr id="30" name="Text 28"/>
          <p:cNvSpPr txBox="1"/>
          <p:nvPr/>
        </p:nvSpPr>
        <p:spPr>
          <a:xfrm>
            <a:off x="8229600" y="3776472"/>
            <a:ext cx="3337560" cy="1298448"/>
          </a:xfrm>
          <a:prstGeom prst="rect">
            <a:avLst/>
          </a:prstGeom>
          <a:noFill/>
          <a:ln/>
        </p:spPr>
        <p:txBody>
          <a:bodyPr wrap="square" lIns="0" tIns="0" rIns="0" bIns="0" rtlCol="0" anchor="t"/>
          <a:lstStyle/>
          <a:p>
            <a:pPr indent="0" marL="0">
              <a:buNone/>
            </a:pPr>
            <a:r>
              <a:rPr lang="en-US" sz="1500" dirty="0">
                <a:solidFill>
                  <a:schemeClr val="tx1"/>
                </a:solidFill>
              </a:rPr>
              <a:t>Any step that uses labels runs inside plot-grouped training folds</a:t>
            </a:r>
            <a:endParaRPr lang="en-US" sz="15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Step 1 · Multi-sensor flight planning</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ACQUISITION</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fix one flight plan per sensor and reuse it on all 4 dates; record actual heights, times and weather in the flight log.</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Flight practice: Su et al. (2018); Maimaitijiang et al. (2020); Guo et al. (2021); Liu et al. (2024). GSD = pixel pitch × height / focal length.</a:t>
            </a:r>
            <a:endParaRPr lang="en-US" sz="1000" dirty="0"/>
          </a:p>
        </p:txBody>
      </p:sp>
      <p:sp>
        <p:nvSpPr>
          <p:cNvPr id="7" name="Shape 5"/>
          <p:cNvSpPr/>
          <p:nvPr/>
        </p:nvSpPr>
        <p:spPr>
          <a:xfrm>
            <a:off x="457200" y="1188720"/>
            <a:ext cx="5486400" cy="4069080"/>
          </a:xfrm>
          <a:prstGeom prst="roundRect">
            <a:avLst>
              <a:gd name="adj" fmla="val 1798"/>
            </a:avLst>
          </a:prstGeom>
          <a:solidFill>
            <a:schemeClr val="bg2"/>
          </a:solidFill>
          <a:ln/>
        </p:spPr>
      </p:sp>
      <p:sp>
        <p:nvSpPr>
          <p:cNvPr id="8" name="Shape 6"/>
          <p:cNvSpPr/>
          <p:nvPr/>
        </p:nvSpPr>
        <p:spPr>
          <a:xfrm>
            <a:off x="457200" y="1298448"/>
            <a:ext cx="64008" cy="347472"/>
          </a:xfrm>
          <a:prstGeom prst="rect">
            <a:avLst/>
          </a:prstGeom>
          <a:solidFill>
            <a:schemeClr val="accent1"/>
          </a:solidFill>
          <a:ln/>
        </p:spPr>
      </p:sp>
      <p:sp>
        <p:nvSpPr>
          <p:cNvPr id="9" name="Text 7"/>
          <p:cNvSpPr txBox="1"/>
          <p:nvPr/>
        </p:nvSpPr>
        <p:spPr>
          <a:xfrm>
            <a:off x="640080" y="1280160"/>
            <a:ext cx="5212080" cy="384048"/>
          </a:xfrm>
          <a:prstGeom prst="rect">
            <a:avLst/>
          </a:prstGeom>
          <a:noFill/>
          <a:ln/>
        </p:spPr>
        <p:txBody>
          <a:bodyPr wrap="square" lIns="0" tIns="0" rIns="0" bIns="0" rtlCol="0" anchor="ctr"/>
          <a:lstStyle/>
          <a:p>
            <a:pPr indent="0" marL="0">
              <a:buNone/>
            </a:pPr>
            <a:r>
              <a:rPr lang="en-US" sz="1600" b="1" dirty="0">
                <a:solidFill>
                  <a:schemeClr val="tx1"/>
                </a:solidFill>
              </a:rPr>
              <a:t>Plan</a:t>
            </a:r>
            <a:endParaRPr lang="en-US" sz="1600" dirty="0"/>
          </a:p>
        </p:txBody>
      </p:sp>
      <p:sp>
        <p:nvSpPr>
          <p:cNvPr id="10" name="Text 8"/>
          <p:cNvSpPr txBox="1"/>
          <p:nvPr/>
        </p:nvSpPr>
        <p:spPr>
          <a:xfrm>
            <a:off x="640080" y="1719072"/>
            <a:ext cx="5166360" cy="3447288"/>
          </a:xfrm>
          <a:prstGeom prst="rect">
            <a:avLst/>
          </a:prstGeom>
          <a:noFill/>
          <a:ln/>
        </p:spPr>
        <p:txBody>
          <a:bodyPr wrap="square" lIns="0" tIns="0" rIns="0" bIns="0" rtlCol="0" anchor="t"/>
          <a:lstStyle/>
          <a:p>
            <a:pPr marL="165100" indent="-165100">
              <a:spcAft>
                <a:spcPts val="600"/>
              </a:spcAft>
              <a:buSzPct val="100000"/>
              <a:buChar char="•"/>
            </a:pPr>
            <a:r>
              <a:rPr lang="en-US" sz="1450" b="1" dirty="0">
                <a:solidFill>
                  <a:schemeClr val="tx1"/>
                </a:solidFill>
              </a:rPr>
              <a:t>Same day, all sensors;</a:t>
            </a:r>
            <a:pPr indent="0" marL="0">
              <a:spcAft>
                <a:spcPts val="600"/>
              </a:spcAft>
              <a:buNone/>
            </a:pPr>
            <a:r>
              <a:rPr lang="en-US" sz="1450" dirty="0">
                <a:solidFill>
                  <a:schemeClr val="tx1"/>
                </a:solidFill>
              </a:rPr>
              <a:t> fixed time window around solar noon (stable sun angle; thermal contrast largest)</a:t>
            </a:r>
            <a:endParaRPr lang="en-US" sz="1400" dirty="0"/>
          </a:p>
          <a:p>
            <a:pPr marL="165100" indent="-165100">
              <a:spcAft>
                <a:spcPts val="600"/>
              </a:spcAft>
              <a:buSzPct val="100000"/>
              <a:buChar char="•"/>
            </a:pPr>
            <a:r>
              <a:rPr lang="en-US" sz="1450" b="1" dirty="0">
                <a:solidFill>
                  <a:schemeClr val="tx1"/>
                </a:solidFill>
              </a:rPr>
              <a:t>Order:</a:t>
            </a:r>
            <a:pPr indent="0" marL="0">
              <a:spcAft>
                <a:spcPts val="600"/>
              </a:spcAft>
              <a:buNone/>
            </a:pPr>
            <a:r>
              <a:rPr lang="en-US" sz="1450" dirty="0">
                <a:solidFill>
                  <a:schemeClr val="tx1"/>
                </a:solidFill>
              </a:rPr>
              <a:t> thermal and MS/HS close to noon; RGB can be slightly earlier/later</a:t>
            </a:r>
            <a:endParaRPr lang="en-US" sz="1400" dirty="0"/>
          </a:p>
          <a:p>
            <a:pPr marL="165100" indent="-165100">
              <a:spcAft>
                <a:spcPts val="600"/>
              </a:spcAft>
              <a:buSzPct val="100000"/>
              <a:buChar char="•"/>
            </a:pPr>
            <a:r>
              <a:rPr lang="en-US" sz="1450" b="1" dirty="0">
                <a:solidFill>
                  <a:schemeClr val="tx1"/>
                </a:solidFill>
              </a:rPr>
              <a:t>Weather:</a:t>
            </a:r>
            <a:pPr indent="0" marL="0">
              <a:spcAft>
                <a:spcPts val="600"/>
              </a:spcAft>
              <a:buNone/>
            </a:pPr>
            <a:r>
              <a:rPr lang="en-US" sz="1450" dirty="0">
                <a:solidFill>
                  <a:schemeClr val="tx1"/>
                </a:solidFill>
              </a:rPr>
              <a:t> clear sky or uniform overcast, wind &lt; 3–4 m/s; avoid broken clouds</a:t>
            </a:r>
            <a:endParaRPr lang="en-US" sz="1400" dirty="0"/>
          </a:p>
          <a:p>
            <a:pPr marL="165100" indent="-165100">
              <a:spcAft>
                <a:spcPts val="600"/>
              </a:spcAft>
              <a:buSzPct val="100000"/>
              <a:buChar char="•"/>
            </a:pPr>
            <a:r>
              <a:rPr lang="en-US" sz="1450" b="1" dirty="0">
                <a:solidFill>
                  <a:schemeClr val="tx1"/>
                </a:solidFill>
              </a:rPr>
              <a:t>Overlap:</a:t>
            </a:r>
            <a:pPr indent="0" marL="0">
              <a:spcAft>
                <a:spcPts val="600"/>
              </a:spcAft>
              <a:buNone/>
            </a:pPr>
            <a:r>
              <a:rPr lang="en-US" sz="1450" dirty="0">
                <a:solidFill>
                  <a:schemeClr val="tx1"/>
                </a:solidFill>
              </a:rPr>
              <a:t> ≈ 80 % forward / 75 % side for photogrammetric sensors; push-broom HS needs straight lines and stable speed</a:t>
            </a:r>
            <a:endParaRPr lang="en-US" sz="1400" dirty="0"/>
          </a:p>
          <a:p>
            <a:pPr marL="165100" indent="-165100">
              <a:spcAft>
                <a:spcPts val="600"/>
              </a:spcAft>
              <a:buSzPct val="100000"/>
              <a:buChar char="•"/>
            </a:pPr>
            <a:r>
              <a:rPr lang="en-US" sz="1450" b="1" dirty="0">
                <a:solidFill>
                  <a:schemeClr val="tx1"/>
                </a:solidFill>
              </a:rPr>
              <a:t>Height:</a:t>
            </a:r>
            <a:pPr indent="0" marL="0">
              <a:spcAft>
                <a:spcPts val="600"/>
              </a:spcAft>
              <a:buNone/>
            </a:pPr>
            <a:r>
              <a:rPr lang="en-US" sz="1450" dirty="0">
                <a:solidFill>
                  <a:schemeClr val="tx1"/>
                </a:solidFill>
              </a:rPr>
              <a:t> chosen so each sensor resolves the canopy; compute GSD for each camera</a:t>
            </a:r>
            <a:endParaRPr lang="en-US" sz="1400" dirty="0"/>
          </a:p>
          <a:p>
            <a:pPr marL="165100" indent="-165100">
              <a:spcAft>
                <a:spcPts val="600"/>
              </a:spcAft>
              <a:buSzPct val="100000"/>
              <a:buChar char="•"/>
            </a:pPr>
            <a:r>
              <a:rPr lang="en-US" sz="1450" b="1" dirty="0">
                <a:solidFill>
                  <a:schemeClr val="tx1"/>
                </a:solidFill>
              </a:rPr>
              <a:t>Repeat</a:t>
            </a:r>
            <a:pPr indent="0" marL="0">
              <a:spcAft>
                <a:spcPts val="600"/>
              </a:spcAft>
              <a:buNone/>
            </a:pPr>
            <a:r>
              <a:rPr lang="en-US" sz="1450" dirty="0">
                <a:solidFill>
                  <a:schemeClr val="tx1"/>
                </a:solidFill>
              </a:rPr>
              <a:t> identical plans on every date</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245352" y="1188720"/>
          <a:ext cx="5486400" cy="914400"/>
        </p:xfrm>
        <a:graphic>
          <a:graphicData uri="http://schemas.openxmlformats.org/drawingml/2006/table">
            <a:tbl>
              <a:tblPr/>
              <a:tblGrid>
                <a:gridCol w="1600200"/>
                <a:gridCol w="1143000"/>
                <a:gridCol w="1280160"/>
                <a:gridCol w="1463040"/>
              </a:tblGrid>
              <a:tr h="0">
                <a:tc>
                  <a:txBody>
                    <a:bodyPr/>
                    <a:lstStyle/>
                    <a:p>
                      <a:pPr indent="0" marL="0">
                        <a:buNone/>
                      </a:pPr>
                      <a:r>
                        <a:rPr lang="en-US" sz="1400" b="1" dirty="0">
                          <a:solidFill>
                            <a:schemeClr val="bg1"/>
                          </a:solidFill>
                        </a:rPr>
                        <a:t>Sensor</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Example height</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GSD (typical)</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Note</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r>
              <a:tr h="0">
                <a:tc>
                  <a:txBody>
                    <a:bodyPr/>
                    <a:lstStyle/>
                    <a:p>
                      <a:pPr indent="0" marL="0">
                        <a:buNone/>
                      </a:pPr>
                      <a:r>
                        <a:rPr lang="en-US" sz="1400" dirty="0">
                          <a:solidFill>
                            <a:schemeClr val="tx1"/>
                          </a:solidFill>
                        </a:rPr>
                        <a:t>RGB</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20–30 m</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 0.5–1 cm</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Texture, DSM</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400" dirty="0">
                          <a:solidFill>
                            <a:schemeClr val="tx1"/>
                          </a:solidFill>
                        </a:rPr>
                        <a:t>Multispectral</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20–40 m</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 2–4 cm</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DLS + panel</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400" dirty="0">
                          <a:solidFill>
                            <a:schemeClr val="tx1"/>
                          </a:solidFill>
                        </a:rPr>
                        <a:t>Hyperspectral</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30–50 m</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 2–5 cm</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Panels, stable speed</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400" dirty="0">
                          <a:solidFill>
                            <a:schemeClr val="tx1"/>
                          </a:solidFill>
                        </a:rPr>
                        <a:t>Thermal</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20–40 m</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 3–8 cm</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Equilibrated camera</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bl>
          </a:graphicData>
        </a:graphic>
      </p:graphicFrame>
      <p:sp>
        <p:nvSpPr>
          <p:cNvPr id="12" name="Text 9"/>
          <p:cNvSpPr txBox="1"/>
          <p:nvPr/>
        </p:nvSpPr>
        <p:spPr>
          <a:xfrm>
            <a:off x="6245352" y="4069080"/>
            <a:ext cx="5486400" cy="548640"/>
          </a:xfrm>
          <a:prstGeom prst="rect">
            <a:avLst/>
          </a:prstGeom>
          <a:noFill/>
          <a:ln/>
        </p:spPr>
        <p:txBody>
          <a:bodyPr wrap="square" lIns="0" tIns="0" rIns="0" bIns="0" rtlCol="0" anchor="t"/>
          <a:lstStyle/>
          <a:p>
            <a:pPr indent="0" marL="0">
              <a:buNone/>
            </a:pPr>
            <a:r>
              <a:rPr lang="en-US" sz="1100" i="1" dirty="0">
                <a:solidFill>
                  <a:schemeClr val="tx2"/>
                </a:solidFill>
              </a:rPr>
              <a:t>Values are typical ranges; compute your own GSD from the camera specifications and chosen height.</a:t>
            </a:r>
            <a:endParaRPr lang="en-US" sz="11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Step 2 · Ground control and radiometric calibration</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ACQUISITION</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the same GCPs (visible in RGB, MS, HS and thermal) are the backbone of co-registration; calibration logs make data from IARI and Bharatpur comparable.</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Maimaitijiang et al. (2020) GCPs, sunshine sensor, thermal blackbody &amp; ground targets; Su et al. (2018) panels before/after flight; Jones (2004); Leinonen &amp; Jones (2004).</a:t>
            </a:r>
            <a:endParaRPr lang="en-US" sz="1000" dirty="0"/>
          </a:p>
        </p:txBody>
      </p:sp>
      <p:sp>
        <p:nvSpPr>
          <p:cNvPr id="7" name="Shape 5"/>
          <p:cNvSpPr/>
          <p:nvPr/>
        </p:nvSpPr>
        <p:spPr>
          <a:xfrm>
            <a:off x="457200" y="1188720"/>
            <a:ext cx="3657600" cy="4069080"/>
          </a:xfrm>
          <a:prstGeom prst="roundRect">
            <a:avLst>
              <a:gd name="adj" fmla="val 2000"/>
            </a:avLst>
          </a:prstGeom>
          <a:solidFill>
            <a:schemeClr val="bg2"/>
          </a:solidFill>
          <a:ln/>
        </p:spPr>
      </p:sp>
      <p:sp>
        <p:nvSpPr>
          <p:cNvPr id="8" name="Shape 6"/>
          <p:cNvSpPr/>
          <p:nvPr/>
        </p:nvSpPr>
        <p:spPr>
          <a:xfrm>
            <a:off x="457200" y="1298448"/>
            <a:ext cx="64008" cy="347472"/>
          </a:xfrm>
          <a:prstGeom prst="rect">
            <a:avLst/>
          </a:prstGeom>
          <a:solidFill>
            <a:schemeClr val="accent1"/>
          </a:solidFill>
          <a:ln/>
        </p:spPr>
      </p:sp>
      <p:sp>
        <p:nvSpPr>
          <p:cNvPr id="9" name="Text 7"/>
          <p:cNvSpPr txBox="1"/>
          <p:nvPr/>
        </p:nvSpPr>
        <p:spPr>
          <a:xfrm>
            <a:off x="640080" y="1280160"/>
            <a:ext cx="3383280" cy="384048"/>
          </a:xfrm>
          <a:prstGeom prst="rect">
            <a:avLst/>
          </a:prstGeom>
          <a:noFill/>
          <a:ln/>
        </p:spPr>
        <p:txBody>
          <a:bodyPr wrap="square" lIns="0" tIns="0" rIns="0" bIns="0" rtlCol="0" anchor="ctr"/>
          <a:lstStyle/>
          <a:p>
            <a:pPr indent="0" marL="0">
              <a:buNone/>
            </a:pPr>
            <a:r>
              <a:rPr lang="en-US" sz="1600" b="1" dirty="0">
                <a:solidFill>
                  <a:schemeClr val="tx1"/>
                </a:solidFill>
              </a:rPr>
              <a:t>Ground control</a:t>
            </a:r>
            <a:endParaRPr lang="en-US" sz="1600" dirty="0"/>
          </a:p>
        </p:txBody>
      </p:sp>
      <p:sp>
        <p:nvSpPr>
          <p:cNvPr id="10" name="Text 8"/>
          <p:cNvSpPr txBox="1"/>
          <p:nvPr/>
        </p:nvSpPr>
        <p:spPr>
          <a:xfrm>
            <a:off x="640080" y="1719072"/>
            <a:ext cx="3337560" cy="3447288"/>
          </a:xfrm>
          <a:prstGeom prst="rect">
            <a:avLst/>
          </a:prstGeom>
          <a:noFill/>
          <a:ln/>
        </p:spPr>
        <p:txBody>
          <a:bodyPr wrap="square" lIns="0" tIns="0" rIns="0" bIns="0" rtlCol="0" anchor="t"/>
          <a:lstStyle/>
          <a:p>
            <a:pPr marL="165100" indent="-165100">
              <a:spcAft>
                <a:spcPts val="600"/>
              </a:spcAft>
              <a:buSzPct val="100000"/>
              <a:buChar char="•"/>
            </a:pPr>
            <a:r>
              <a:rPr lang="en-US" sz="1450" dirty="0">
                <a:solidFill>
                  <a:schemeClr val="tx1"/>
                </a:solidFill>
              </a:rPr>
              <a:t>≥ 5 GCPs spread over the field + independent check points</a:t>
            </a:r>
            <a:endParaRPr lang="en-US" sz="1400" dirty="0"/>
          </a:p>
          <a:p>
            <a:pPr marL="165100" indent="-165100">
              <a:spcAft>
                <a:spcPts val="600"/>
              </a:spcAft>
              <a:buSzPct val="100000"/>
              <a:buChar char="•"/>
            </a:pPr>
            <a:r>
              <a:rPr lang="en-US" sz="1450" dirty="0">
                <a:solidFill>
                  <a:schemeClr val="tx1"/>
                </a:solidFill>
              </a:rPr>
              <a:t>Surveyed with RTK GNSS (cm accuracy)</a:t>
            </a:r>
            <a:endParaRPr lang="en-US" sz="1400" dirty="0"/>
          </a:p>
          <a:p>
            <a:pPr marL="165100" indent="-165100">
              <a:spcAft>
                <a:spcPts val="600"/>
              </a:spcAft>
              <a:buSzPct val="100000"/>
              <a:buChar char="•"/>
            </a:pPr>
            <a:r>
              <a:rPr lang="en-US" sz="1450" b="1" dirty="0">
                <a:solidFill>
                  <a:schemeClr val="tx1"/>
                </a:solidFill>
              </a:rPr>
              <a:t>Thermal-visible targets:</a:t>
            </a:r>
            <a:pPr indent="0" marL="0">
              <a:spcAft>
                <a:spcPts val="600"/>
              </a:spcAft>
              <a:buNone/>
            </a:pPr>
            <a:r>
              <a:rPr lang="en-US" sz="1450" dirty="0">
                <a:solidFill>
                  <a:schemeClr val="tx1"/>
                </a:solidFill>
              </a:rPr>
              <a:t> materials with strong thermal contrast (e.g. aluminium foil + black panel) so the same point is visible in all sensors</a:t>
            </a:r>
            <a:endParaRPr lang="en-US" sz="1400" dirty="0"/>
          </a:p>
          <a:p>
            <a:pPr marL="165100" indent="-165100">
              <a:spcAft>
                <a:spcPts val="600"/>
              </a:spcAft>
              <a:buSzPct val="100000"/>
              <a:buChar char="•"/>
            </a:pPr>
            <a:r>
              <a:rPr lang="en-US" sz="1450" dirty="0">
                <a:solidFill>
                  <a:schemeClr val="tx1"/>
                </a:solidFill>
              </a:rPr>
              <a:t>Permanent plot corner markers</a:t>
            </a:r>
            <a:endParaRPr lang="en-US" sz="1400" dirty="0"/>
          </a:p>
        </p:txBody>
      </p:sp>
      <p:sp>
        <p:nvSpPr>
          <p:cNvPr id="11" name="Shape 9"/>
          <p:cNvSpPr/>
          <p:nvPr/>
        </p:nvSpPr>
        <p:spPr>
          <a:xfrm>
            <a:off x="4270248" y="1188720"/>
            <a:ext cx="3657600" cy="4069080"/>
          </a:xfrm>
          <a:prstGeom prst="roundRect">
            <a:avLst>
              <a:gd name="adj" fmla="val 2000"/>
            </a:avLst>
          </a:prstGeom>
          <a:solidFill>
            <a:schemeClr val="bg2"/>
          </a:solidFill>
          <a:ln/>
        </p:spPr>
      </p:sp>
      <p:sp>
        <p:nvSpPr>
          <p:cNvPr id="12" name="Shape 10"/>
          <p:cNvSpPr/>
          <p:nvPr/>
        </p:nvSpPr>
        <p:spPr>
          <a:xfrm>
            <a:off x="4270248" y="1298448"/>
            <a:ext cx="64008" cy="347472"/>
          </a:xfrm>
          <a:prstGeom prst="rect">
            <a:avLst/>
          </a:prstGeom>
          <a:solidFill>
            <a:schemeClr val="accent2"/>
          </a:solidFill>
          <a:ln/>
        </p:spPr>
      </p:sp>
      <p:sp>
        <p:nvSpPr>
          <p:cNvPr id="13" name="Text 11"/>
          <p:cNvSpPr txBox="1"/>
          <p:nvPr/>
        </p:nvSpPr>
        <p:spPr>
          <a:xfrm>
            <a:off x="4453128" y="1280160"/>
            <a:ext cx="3383280" cy="384048"/>
          </a:xfrm>
          <a:prstGeom prst="rect">
            <a:avLst/>
          </a:prstGeom>
          <a:noFill/>
          <a:ln/>
        </p:spPr>
        <p:txBody>
          <a:bodyPr wrap="square" lIns="0" tIns="0" rIns="0" bIns="0" rtlCol="0" anchor="ctr"/>
          <a:lstStyle/>
          <a:p>
            <a:pPr indent="0" marL="0">
              <a:buNone/>
            </a:pPr>
            <a:r>
              <a:rPr lang="en-US" sz="1600" b="1" dirty="0">
                <a:solidFill>
                  <a:schemeClr val="tx1"/>
                </a:solidFill>
              </a:rPr>
              <a:t>Calibration targets</a:t>
            </a:r>
            <a:endParaRPr lang="en-US" sz="1600" dirty="0"/>
          </a:p>
        </p:txBody>
      </p:sp>
      <p:sp>
        <p:nvSpPr>
          <p:cNvPr id="14" name="Text 12"/>
          <p:cNvSpPr txBox="1"/>
          <p:nvPr/>
        </p:nvSpPr>
        <p:spPr>
          <a:xfrm>
            <a:off x="4453128" y="1719072"/>
            <a:ext cx="3337560" cy="3447288"/>
          </a:xfrm>
          <a:prstGeom prst="rect">
            <a:avLst/>
          </a:prstGeom>
          <a:noFill/>
          <a:ln/>
        </p:spPr>
        <p:txBody>
          <a:bodyPr wrap="square" lIns="0" tIns="0" rIns="0" bIns="0" rtlCol="0" anchor="t"/>
          <a:lstStyle/>
          <a:p>
            <a:pPr marL="165100" indent="-165100">
              <a:spcAft>
                <a:spcPts val="600"/>
              </a:spcAft>
              <a:buSzPct val="100000"/>
              <a:buChar char="•"/>
            </a:pPr>
            <a:r>
              <a:rPr lang="en-US" sz="1450" b="1" dirty="0">
                <a:solidFill>
                  <a:schemeClr val="tx1"/>
                </a:solidFill>
              </a:rPr>
              <a:t>MS/HS:</a:t>
            </a:r>
            <a:pPr indent="0" marL="0">
              <a:spcAft>
                <a:spcPts val="600"/>
              </a:spcAft>
              <a:buNone/>
            </a:pPr>
            <a:r>
              <a:rPr lang="en-US" sz="1450" dirty="0">
                <a:solidFill>
                  <a:schemeClr val="tx1"/>
                </a:solidFill>
              </a:rPr>
              <a:t> reflectance panels (e.g. dark, grey, bright) imaged before and after each flight</a:t>
            </a:r>
            <a:endParaRPr lang="en-US" sz="1400" dirty="0"/>
          </a:p>
          <a:p>
            <a:pPr marL="165100" indent="-165100">
              <a:spcAft>
                <a:spcPts val="600"/>
              </a:spcAft>
              <a:buSzPct val="100000"/>
              <a:buChar char="•"/>
            </a:pPr>
            <a:r>
              <a:rPr lang="en-US" sz="1450" b="1" dirty="0">
                <a:solidFill>
                  <a:schemeClr val="tx1"/>
                </a:solidFill>
              </a:rPr>
              <a:t>MS:</a:t>
            </a:r>
            <a:pPr indent="0" marL="0">
              <a:spcAft>
                <a:spcPts val="600"/>
              </a:spcAft>
              <a:buNone/>
            </a:pPr>
            <a:r>
              <a:rPr lang="en-US" sz="1450" dirty="0">
                <a:solidFill>
                  <a:schemeClr val="tx1"/>
                </a:solidFill>
              </a:rPr>
              <a:t> downwelling light sensor</a:t>
            </a:r>
            <a:endParaRPr lang="en-US" sz="1400" dirty="0"/>
          </a:p>
          <a:p>
            <a:pPr marL="165100" indent="-165100">
              <a:spcAft>
                <a:spcPts val="600"/>
              </a:spcAft>
              <a:buSzPct val="100000"/>
              <a:buChar char="•"/>
            </a:pPr>
            <a:r>
              <a:rPr lang="en-US" sz="1450" b="1" dirty="0">
                <a:solidFill>
                  <a:schemeClr val="tx1"/>
                </a:solidFill>
              </a:rPr>
              <a:t>Thermal:</a:t>
            </a:r>
            <a:pPr indent="0" marL="0">
              <a:spcAft>
                <a:spcPts val="600"/>
              </a:spcAft>
              <a:buNone/>
            </a:pPr>
            <a:r>
              <a:rPr lang="en-US" sz="1450" dirty="0">
                <a:solidFill>
                  <a:schemeClr val="tx1"/>
                </a:solidFill>
              </a:rPr>
              <a:t> reference surfaces measured on the ground with a handheld IR thermometer; air T and RH at flight time</a:t>
            </a:r>
            <a:endParaRPr lang="en-US" sz="1400" dirty="0"/>
          </a:p>
          <a:p>
            <a:pPr marL="165100" indent="-165100">
              <a:spcAft>
                <a:spcPts val="600"/>
              </a:spcAft>
              <a:buSzPct val="100000"/>
              <a:buChar char="•"/>
            </a:pPr>
            <a:r>
              <a:rPr lang="en-US" sz="1450" b="1" dirty="0">
                <a:solidFill>
                  <a:schemeClr val="tx1"/>
                </a:solidFill>
              </a:rPr>
              <a:t>RGB:</a:t>
            </a:r>
            <a:pPr indent="0" marL="0">
              <a:spcAft>
                <a:spcPts val="600"/>
              </a:spcAft>
              <a:buNone/>
            </a:pPr>
            <a:r>
              <a:rPr lang="en-US" sz="1450" dirty="0">
                <a:solidFill>
                  <a:schemeClr val="tx1"/>
                </a:solidFill>
              </a:rPr>
              <a:t> grey card / colour checker</a:t>
            </a:r>
            <a:endParaRPr lang="en-US" sz="1400" dirty="0"/>
          </a:p>
        </p:txBody>
      </p:sp>
      <p:sp>
        <p:nvSpPr>
          <p:cNvPr id="15" name="Shape 13"/>
          <p:cNvSpPr/>
          <p:nvPr/>
        </p:nvSpPr>
        <p:spPr>
          <a:xfrm>
            <a:off x="8074152" y="1188720"/>
            <a:ext cx="3657600" cy="4069080"/>
          </a:xfrm>
          <a:prstGeom prst="roundRect">
            <a:avLst>
              <a:gd name="adj" fmla="val 2000"/>
            </a:avLst>
          </a:prstGeom>
          <a:solidFill>
            <a:schemeClr val="bg2"/>
          </a:solidFill>
          <a:ln/>
        </p:spPr>
      </p:sp>
      <p:sp>
        <p:nvSpPr>
          <p:cNvPr id="16" name="Shape 14"/>
          <p:cNvSpPr/>
          <p:nvPr/>
        </p:nvSpPr>
        <p:spPr>
          <a:xfrm>
            <a:off x="8074152" y="1298448"/>
            <a:ext cx="64008" cy="347472"/>
          </a:xfrm>
          <a:prstGeom prst="rect">
            <a:avLst/>
          </a:prstGeom>
          <a:solidFill>
            <a:schemeClr val="accent3"/>
          </a:solidFill>
          <a:ln/>
        </p:spPr>
      </p:sp>
      <p:sp>
        <p:nvSpPr>
          <p:cNvPr id="17" name="Text 15"/>
          <p:cNvSpPr txBox="1"/>
          <p:nvPr/>
        </p:nvSpPr>
        <p:spPr>
          <a:xfrm>
            <a:off x="8257032" y="1280160"/>
            <a:ext cx="3383280" cy="384048"/>
          </a:xfrm>
          <a:prstGeom prst="rect">
            <a:avLst/>
          </a:prstGeom>
          <a:noFill/>
          <a:ln/>
        </p:spPr>
        <p:txBody>
          <a:bodyPr wrap="square" lIns="0" tIns="0" rIns="0" bIns="0" rtlCol="0" anchor="ctr"/>
          <a:lstStyle/>
          <a:p>
            <a:pPr indent="0" marL="0">
              <a:buNone/>
            </a:pPr>
            <a:r>
              <a:rPr lang="en-US" sz="1600" b="1" dirty="0">
                <a:solidFill>
                  <a:schemeClr val="tx1"/>
                </a:solidFill>
              </a:rPr>
              <a:t>Radiometric processing</a:t>
            </a:r>
            <a:endParaRPr lang="en-US" sz="1600" dirty="0"/>
          </a:p>
        </p:txBody>
      </p:sp>
      <p:sp>
        <p:nvSpPr>
          <p:cNvPr id="18" name="Text 16"/>
          <p:cNvSpPr txBox="1"/>
          <p:nvPr/>
        </p:nvSpPr>
        <p:spPr>
          <a:xfrm>
            <a:off x="8257032" y="1719072"/>
            <a:ext cx="3337560" cy="3447288"/>
          </a:xfrm>
          <a:prstGeom prst="rect">
            <a:avLst/>
          </a:prstGeom>
          <a:noFill/>
          <a:ln/>
        </p:spPr>
        <p:txBody>
          <a:bodyPr wrap="square" lIns="0" tIns="0" rIns="0" bIns="0" rtlCol="0" anchor="t"/>
          <a:lstStyle/>
          <a:p>
            <a:pPr marL="165100" indent="-165100">
              <a:spcAft>
                <a:spcPts val="600"/>
              </a:spcAft>
              <a:buSzPct val="100000"/>
              <a:buChar char="•"/>
            </a:pPr>
            <a:r>
              <a:rPr lang="en-US" sz="1450" b="1" dirty="0">
                <a:solidFill>
                  <a:schemeClr val="tx1"/>
                </a:solidFill>
              </a:rPr>
              <a:t>RGB:</a:t>
            </a:r>
            <a:pPr indent="0" marL="0">
              <a:spcAft>
                <a:spcPts val="600"/>
              </a:spcAft>
              <a:buNone/>
            </a:pPr>
            <a:r>
              <a:rPr lang="en-US" sz="1450" dirty="0">
                <a:solidFill>
                  <a:schemeClr val="tx1"/>
                </a:solidFill>
              </a:rPr>
              <a:t> consistent exposure; colour correction</a:t>
            </a:r>
            <a:endParaRPr lang="en-US" sz="1400" dirty="0"/>
          </a:p>
          <a:p>
            <a:pPr marL="165100" indent="-165100">
              <a:spcAft>
                <a:spcPts val="600"/>
              </a:spcAft>
              <a:buSzPct val="100000"/>
              <a:buChar char="•"/>
            </a:pPr>
            <a:r>
              <a:rPr lang="en-US" sz="1450" b="1" dirty="0">
                <a:solidFill>
                  <a:schemeClr val="tx1"/>
                </a:solidFill>
              </a:rPr>
              <a:t>MS:</a:t>
            </a:r>
            <a:pPr indent="0" marL="0">
              <a:spcAft>
                <a:spcPts val="600"/>
              </a:spcAft>
              <a:buNone/>
            </a:pPr>
            <a:r>
              <a:rPr lang="en-US" sz="1450" dirty="0">
                <a:solidFill>
                  <a:schemeClr val="tx1"/>
                </a:solidFill>
              </a:rPr>
              <a:t> DN → radiance → reflectance (panel + DLS)</a:t>
            </a:r>
            <a:endParaRPr lang="en-US" sz="1400" dirty="0"/>
          </a:p>
          <a:p>
            <a:pPr marL="165100" indent="-165100">
              <a:spcAft>
                <a:spcPts val="600"/>
              </a:spcAft>
              <a:buSzPct val="100000"/>
              <a:buChar char="•"/>
            </a:pPr>
            <a:r>
              <a:rPr lang="en-US" sz="1450" b="1" dirty="0">
                <a:solidFill>
                  <a:schemeClr val="tx1"/>
                </a:solidFill>
              </a:rPr>
              <a:t>HS:</a:t>
            </a:r>
            <a:pPr indent="0" marL="0">
              <a:spcAft>
                <a:spcPts val="600"/>
              </a:spcAft>
              <a:buNone/>
            </a:pPr>
            <a:r>
              <a:rPr lang="en-US" sz="1450" dirty="0">
                <a:solidFill>
                  <a:schemeClr val="tx1"/>
                </a:solidFill>
              </a:rPr>
              <a:t> dark current, empirical line with panels, remove noisy/water bands, smoothing</a:t>
            </a:r>
            <a:endParaRPr lang="en-US" sz="1400" dirty="0"/>
          </a:p>
          <a:p>
            <a:pPr marL="165100" indent="-165100">
              <a:spcAft>
                <a:spcPts val="600"/>
              </a:spcAft>
              <a:buSzPct val="100000"/>
              <a:buChar char="•"/>
            </a:pPr>
            <a:r>
              <a:rPr lang="en-US" sz="1450" b="1" dirty="0">
                <a:solidFill>
                  <a:schemeClr val="tx1"/>
                </a:solidFill>
              </a:rPr>
              <a:t>Thermal:</a:t>
            </a:r>
            <a:pPr indent="0" marL="0">
              <a:spcAft>
                <a:spcPts val="600"/>
              </a:spcAft>
              <a:buNone/>
            </a:pPr>
            <a:r>
              <a:rPr lang="en-US" sz="1450" dirty="0">
                <a:solidFill>
                  <a:schemeClr val="tx1"/>
                </a:solidFill>
              </a:rPr>
              <a:t> raw → °C (radiometric), check against ground targets; derive CTD = Tc − Tair</a:t>
            </a:r>
            <a:endParaRPr lang="en-US" sz="14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Step 3 · Ground truth and metadata, designed for fusion</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ACQUISITION</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labels must be at the scale of the fused unit (plot or quadrat); score both leaf surfaces because white rust pustules develop on the abaxial side.</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Whetton et al. (2018) visual vs photo assessment; Bohnenkamp et al. (2019) rating by leaf level; McKinney (1923) disease index; Olofsson et al. (2014).</a:t>
            </a:r>
            <a:endParaRPr lang="en-US" sz="1000" dirty="0"/>
          </a:p>
        </p:txBody>
      </p:sp>
      <p:sp>
        <p:nvSpPr>
          <p:cNvPr id="7" name="Shape 5"/>
          <p:cNvSpPr/>
          <p:nvPr/>
        </p:nvSpPr>
        <p:spPr>
          <a:xfrm>
            <a:off x="457200" y="1188720"/>
            <a:ext cx="5486400" cy="4069080"/>
          </a:xfrm>
          <a:prstGeom prst="roundRect">
            <a:avLst>
              <a:gd name="adj" fmla="val 1798"/>
            </a:avLst>
          </a:prstGeom>
          <a:solidFill>
            <a:schemeClr val="bg2"/>
          </a:solidFill>
          <a:ln/>
        </p:spPr>
      </p:sp>
      <p:sp>
        <p:nvSpPr>
          <p:cNvPr id="8" name="Shape 6"/>
          <p:cNvSpPr/>
          <p:nvPr/>
        </p:nvSpPr>
        <p:spPr>
          <a:xfrm>
            <a:off x="457200" y="1298448"/>
            <a:ext cx="64008" cy="347472"/>
          </a:xfrm>
          <a:prstGeom prst="rect">
            <a:avLst/>
          </a:prstGeom>
          <a:solidFill>
            <a:schemeClr val="accent1"/>
          </a:solidFill>
          <a:ln/>
        </p:spPr>
      </p:sp>
      <p:sp>
        <p:nvSpPr>
          <p:cNvPr id="9" name="Text 7"/>
          <p:cNvSpPr txBox="1"/>
          <p:nvPr/>
        </p:nvSpPr>
        <p:spPr>
          <a:xfrm>
            <a:off x="640080" y="1280160"/>
            <a:ext cx="5212080" cy="384048"/>
          </a:xfrm>
          <a:prstGeom prst="rect">
            <a:avLst/>
          </a:prstGeom>
          <a:noFill/>
          <a:ln/>
        </p:spPr>
        <p:txBody>
          <a:bodyPr wrap="square" lIns="0" tIns="0" rIns="0" bIns="0" rtlCol="0" anchor="ctr"/>
          <a:lstStyle/>
          <a:p>
            <a:pPr indent="0" marL="0">
              <a:buNone/>
            </a:pPr>
            <a:r>
              <a:rPr lang="en-US" sz="1600" b="1" dirty="0">
                <a:solidFill>
                  <a:schemeClr val="tx1"/>
                </a:solidFill>
              </a:rPr>
              <a:t>Labels</a:t>
            </a:r>
            <a:endParaRPr lang="en-US" sz="1600" dirty="0"/>
          </a:p>
        </p:txBody>
      </p:sp>
      <p:sp>
        <p:nvSpPr>
          <p:cNvPr id="10" name="Text 8"/>
          <p:cNvSpPr txBox="1"/>
          <p:nvPr/>
        </p:nvSpPr>
        <p:spPr>
          <a:xfrm>
            <a:off x="640080" y="1719072"/>
            <a:ext cx="5166360" cy="3447288"/>
          </a:xfrm>
          <a:prstGeom prst="rect">
            <a:avLst/>
          </a:prstGeom>
          <a:noFill/>
          <a:ln/>
        </p:spPr>
        <p:txBody>
          <a:bodyPr wrap="square" lIns="0" tIns="0" rIns="0" bIns="0" rtlCol="0" anchor="t"/>
          <a:lstStyle/>
          <a:p>
            <a:pPr marL="165100" indent="-165100">
              <a:spcAft>
                <a:spcPts val="600"/>
              </a:spcAft>
              <a:buSzPct val="100000"/>
              <a:buChar char="•"/>
            </a:pPr>
            <a:r>
              <a:rPr lang="en-US" sz="1450" b="1" dirty="0">
                <a:solidFill>
                  <a:schemeClr val="tx1"/>
                </a:solidFill>
              </a:rPr>
              <a:t>Plot DI</a:t>
            </a:r>
            <a:pPr indent="0" marL="0">
              <a:spcAft>
                <a:spcPts val="600"/>
              </a:spcAft>
              <a:buNone/>
            </a:pPr>
            <a:r>
              <a:rPr lang="en-US" sz="1450" dirty="0">
                <a:solidFill>
                  <a:schemeClr val="tx1"/>
                </a:solidFill>
              </a:rPr>
              <a:t> on each flight day: same central area as image analysis (after inset), centre + corners</a:t>
            </a:r>
            <a:endParaRPr lang="en-US" sz="1400" dirty="0"/>
          </a:p>
          <a:p>
            <a:pPr marL="165100" indent="-165100">
              <a:spcAft>
                <a:spcPts val="600"/>
              </a:spcAft>
              <a:buSzPct val="100000"/>
              <a:buChar char="•"/>
            </a:pPr>
            <a:r>
              <a:rPr lang="en-US" sz="1450" b="1" dirty="0">
                <a:solidFill>
                  <a:schemeClr val="tx1"/>
                </a:solidFill>
              </a:rPr>
              <a:t>By leaf layer</a:t>
            </a:r>
            <a:pPr indent="0" marL="0">
              <a:spcAft>
                <a:spcPts val="600"/>
              </a:spcAft>
              <a:buNone/>
            </a:pPr>
            <a:r>
              <a:rPr lang="en-US" sz="1450" dirty="0">
                <a:solidFill>
                  <a:schemeClr val="tx1"/>
                </a:solidFill>
              </a:rPr>
              <a:t> (upper, middle, lower) and </a:t>
            </a:r>
            <a:pPr indent="0" marL="0">
              <a:spcAft>
                <a:spcPts val="600"/>
              </a:spcAft>
              <a:buNone/>
            </a:pPr>
            <a:r>
              <a:rPr lang="en-US" sz="1450" b="1" dirty="0">
                <a:solidFill>
                  <a:schemeClr val="tx1"/>
                </a:solidFill>
              </a:rPr>
              <a:t>both surfaces</a:t>
            </a:r>
            <a:endParaRPr lang="en-US" sz="1400" dirty="0"/>
          </a:p>
          <a:p>
            <a:pPr marL="165100" indent="-165100">
              <a:spcAft>
                <a:spcPts val="600"/>
              </a:spcAft>
              <a:buSzPct val="100000"/>
              <a:buChar char="•"/>
            </a:pPr>
            <a:r>
              <a:rPr lang="en-US" sz="1450" b="1" dirty="0">
                <a:solidFill>
                  <a:schemeClr val="tx1"/>
                </a:solidFill>
              </a:rPr>
              <a:t>DI = Σ(grade × leaves) / (total leaves × max grade) × 100</a:t>
            </a:r>
            <a:pPr indent="0" marL="0">
              <a:spcAft>
                <a:spcPts val="600"/>
              </a:spcAft>
              <a:buNone/>
            </a:pPr>
            <a:r>
              <a:rPr lang="en-US" sz="1450" dirty="0">
                <a:solidFill>
                  <a:schemeClr val="tx1"/>
                </a:solidFill>
              </a:rPr>
              <a:t> → 6 classes</a:t>
            </a:r>
            <a:endParaRPr lang="en-US" sz="1400" dirty="0"/>
          </a:p>
          <a:p>
            <a:pPr marL="165100" indent="-165100">
              <a:spcAft>
                <a:spcPts val="600"/>
              </a:spcAft>
              <a:buSzPct val="100000"/>
              <a:buChar char="•"/>
            </a:pPr>
            <a:r>
              <a:rPr lang="en-US" sz="1450" b="1" dirty="0">
                <a:solidFill>
                  <a:schemeClr val="tx1"/>
                </a:solidFill>
              </a:rPr>
              <a:t>Quadrats</a:t>
            </a:r>
            <a:pPr indent="0" marL="0">
              <a:spcAft>
                <a:spcPts val="600"/>
              </a:spcAft>
              <a:buNone/>
            </a:pPr>
            <a:r>
              <a:rPr lang="en-US" sz="1450" dirty="0">
                <a:solidFill>
                  <a:schemeClr val="tx1"/>
                </a:solidFill>
              </a:rPr>
              <a:t> (0.5–1 m², RTK-located) for sub-plot / pixel-map validation</a:t>
            </a:r>
            <a:endParaRPr lang="en-US" sz="1400" dirty="0"/>
          </a:p>
          <a:p>
            <a:pPr marL="165100" indent="-165100">
              <a:spcAft>
                <a:spcPts val="600"/>
              </a:spcAft>
              <a:buSzPct val="100000"/>
              <a:buChar char="•"/>
            </a:pPr>
            <a:r>
              <a:rPr lang="en-US" sz="1450" dirty="0">
                <a:solidFill>
                  <a:schemeClr val="tx1"/>
                </a:solidFill>
              </a:rPr>
              <a:t>Optional physiology: SPAD/Dualex, Fv/Fm, canopy height</a:t>
            </a:r>
            <a:endParaRPr lang="en-US" sz="1400" dirty="0"/>
          </a:p>
        </p:txBody>
      </p:sp>
      <p:sp>
        <p:nvSpPr>
          <p:cNvPr id="11" name="Shape 9"/>
          <p:cNvSpPr/>
          <p:nvPr/>
        </p:nvSpPr>
        <p:spPr>
          <a:xfrm>
            <a:off x="6245352" y="1188720"/>
            <a:ext cx="5486400" cy="4069080"/>
          </a:xfrm>
          <a:prstGeom prst="roundRect">
            <a:avLst>
              <a:gd name="adj" fmla="val 1798"/>
            </a:avLst>
          </a:prstGeom>
          <a:solidFill>
            <a:schemeClr val="bg2"/>
          </a:solidFill>
          <a:ln/>
        </p:spPr>
      </p:sp>
      <p:sp>
        <p:nvSpPr>
          <p:cNvPr id="12" name="Shape 10"/>
          <p:cNvSpPr/>
          <p:nvPr/>
        </p:nvSpPr>
        <p:spPr>
          <a:xfrm>
            <a:off x="6245352" y="1298448"/>
            <a:ext cx="64008" cy="347472"/>
          </a:xfrm>
          <a:prstGeom prst="rect">
            <a:avLst/>
          </a:prstGeom>
          <a:solidFill>
            <a:schemeClr val="accent2"/>
          </a:solidFill>
          <a:ln/>
        </p:spPr>
      </p:sp>
      <p:sp>
        <p:nvSpPr>
          <p:cNvPr id="13" name="Text 11"/>
          <p:cNvSpPr txBox="1"/>
          <p:nvPr/>
        </p:nvSpPr>
        <p:spPr>
          <a:xfrm>
            <a:off x="6428232" y="1280160"/>
            <a:ext cx="5212080" cy="384048"/>
          </a:xfrm>
          <a:prstGeom prst="rect">
            <a:avLst/>
          </a:prstGeom>
          <a:noFill/>
          <a:ln/>
        </p:spPr>
        <p:txBody>
          <a:bodyPr wrap="square" lIns="0" tIns="0" rIns="0" bIns="0" rtlCol="0" anchor="ctr"/>
          <a:lstStyle/>
          <a:p>
            <a:pPr indent="0" marL="0">
              <a:buNone/>
            </a:pPr>
            <a:r>
              <a:rPr lang="en-US" sz="1600" b="1" dirty="0">
                <a:solidFill>
                  <a:schemeClr val="tx1"/>
                </a:solidFill>
              </a:rPr>
              <a:t>Metadata (per flight)</a:t>
            </a:r>
            <a:endParaRPr lang="en-US" sz="1600" dirty="0"/>
          </a:p>
        </p:txBody>
      </p:sp>
      <p:sp>
        <p:nvSpPr>
          <p:cNvPr id="14" name="Text 12"/>
          <p:cNvSpPr txBox="1"/>
          <p:nvPr/>
        </p:nvSpPr>
        <p:spPr>
          <a:xfrm>
            <a:off x="6428232" y="1719072"/>
            <a:ext cx="5166360" cy="3447288"/>
          </a:xfrm>
          <a:prstGeom prst="rect">
            <a:avLst/>
          </a:prstGeom>
          <a:noFill/>
          <a:ln/>
        </p:spPr>
        <p:txBody>
          <a:bodyPr wrap="square" lIns="0" tIns="0" rIns="0" bIns="0" rtlCol="0" anchor="t"/>
          <a:lstStyle/>
          <a:p>
            <a:pPr marL="165100" indent="-165100">
              <a:spcAft>
                <a:spcPts val="600"/>
              </a:spcAft>
              <a:buSzPct val="100000"/>
              <a:buChar char="•"/>
            </a:pPr>
            <a:r>
              <a:rPr lang="en-US" sz="1450" dirty="0">
                <a:solidFill>
                  <a:schemeClr val="tx1"/>
                </a:solidFill>
              </a:rPr>
              <a:t>Date, time, sensor, height, speed, overlap</a:t>
            </a:r>
            <a:endParaRPr lang="en-US" sz="1400" dirty="0"/>
          </a:p>
          <a:p>
            <a:pPr marL="165100" indent="-165100">
              <a:spcAft>
                <a:spcPts val="600"/>
              </a:spcAft>
              <a:buSzPct val="100000"/>
              <a:buChar char="•"/>
            </a:pPr>
            <a:r>
              <a:rPr lang="en-US" sz="1450" dirty="0">
                <a:solidFill>
                  <a:schemeClr val="tx1"/>
                </a:solidFill>
              </a:rPr>
              <a:t>Weather: air T, RH, wind, cloud</a:t>
            </a:r>
            <a:endParaRPr lang="en-US" sz="1400" dirty="0"/>
          </a:p>
          <a:p>
            <a:pPr marL="165100" indent="-165100">
              <a:spcAft>
                <a:spcPts val="600"/>
              </a:spcAft>
              <a:buSzPct val="100000"/>
              <a:buChar char="•"/>
            </a:pPr>
            <a:r>
              <a:rPr lang="en-US" sz="1450" dirty="0">
                <a:solidFill>
                  <a:schemeClr val="tx1"/>
                </a:solidFill>
              </a:rPr>
              <a:t>Calibration files (panels, DLS, thermal targets)</a:t>
            </a:r>
            <a:endParaRPr lang="en-US" sz="1400" dirty="0"/>
          </a:p>
          <a:p>
            <a:pPr marL="165100" indent="-165100">
              <a:spcAft>
                <a:spcPts val="600"/>
              </a:spcAft>
              <a:buSzPct val="100000"/>
              <a:buChar char="•"/>
            </a:pPr>
            <a:r>
              <a:rPr lang="en-US" sz="1450" dirty="0">
                <a:solidFill>
                  <a:schemeClr val="tx1"/>
                </a:solidFill>
              </a:rPr>
              <a:t>GCP coordinates; processing software and version</a:t>
            </a:r>
            <a:endParaRPr lang="en-US" sz="1400" dirty="0"/>
          </a:p>
          <a:p>
            <a:pPr marL="165100" indent="-165100">
              <a:spcAft>
                <a:spcPts val="600"/>
              </a:spcAft>
              <a:buSzPct val="100000"/>
              <a:buChar char="•"/>
            </a:pPr>
            <a:r>
              <a:rPr lang="en-US" sz="1450" b="1" dirty="0">
                <a:solidFill>
                  <a:schemeClr val="tx1"/>
                </a:solidFill>
              </a:rPr>
              <a:t>File naming:</a:t>
            </a:r>
            <a:pPr indent="0" marL="0">
              <a:spcAft>
                <a:spcPts val="600"/>
              </a:spcAft>
              <a:buNone/>
            </a:pPr>
            <a:r>
              <a:rPr lang="en-US" sz="1450" dirty="0">
                <a:solidFill>
                  <a:schemeClr val="tx1"/>
                </a:solidFill>
              </a:rPr>
              <a:t> {site}_{date}_{sensor}_{product}.tif</a:t>
            </a:r>
            <a:endParaRPr lang="en-US" sz="1400" dirty="0"/>
          </a:p>
          <a:p>
            <a:pPr marL="165100" indent="-165100">
              <a:spcAft>
                <a:spcPts val="600"/>
              </a:spcAft>
              <a:buSzPct val="100000"/>
              <a:buChar char="•"/>
            </a:pPr>
            <a:r>
              <a:rPr lang="en-US" sz="1450" dirty="0">
                <a:solidFill>
                  <a:schemeClr val="tx1"/>
                </a:solidFill>
              </a:rPr>
              <a:t>Data dictionary for every feature column</a:t>
            </a:r>
            <a:endParaRPr lang="en-US" sz="14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L0 · Co-registration: concepts and methods</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DATA LEVEL</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thermal ↔ visible is the hardest pair (different physics, lower resolution); use GCPs plus mutual information or edge-based matching for fine alignment.</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Zitová &amp; Flusser (2003) survey; Lowe (2004) SIFT; Evangelidis &amp; Psarakis (2008) ECC; Maes et al. (1997) mutual information for multimodal registration; Kerkech et al. (2020a).</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2194560"/>
                <a:gridCol w="4206240"/>
                <a:gridCol w="4873752"/>
              </a:tblGrid>
              <a:tr h="0">
                <a:tc>
                  <a:txBody>
                    <a:bodyPr/>
                    <a:lstStyle/>
                    <a:p>
                      <a:pPr indent="0" marL="0">
                        <a:buNone/>
                      </a:pPr>
                      <a:r>
                        <a:rPr lang="en-US" sz="1400" b="1" dirty="0">
                          <a:solidFill>
                            <a:schemeClr val="bg1"/>
                          </a:solidFill>
                        </a:rPr>
                        <a:t>Component</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Options</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Comment</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r>
              <a:tr h="0">
                <a:tc>
                  <a:txBody>
                    <a:bodyPr/>
                    <a:lstStyle/>
                    <a:p>
                      <a:pPr indent="0" marL="0">
                        <a:buNone/>
                      </a:pPr>
                      <a:r>
                        <a:rPr lang="en-US" sz="1400" dirty="0">
                          <a:solidFill>
                            <a:schemeClr val="tx1"/>
                          </a:solidFill>
                        </a:rPr>
                        <a:t>Transformation model</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Translation, affine, projective (homography), polynomial, elastic</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Orthomosaics on the same GCPs usually need only a small affine/translation correction</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400" dirty="0">
                          <a:solidFill>
                            <a:schemeClr val="tx1"/>
                          </a:solidFill>
                        </a:rPr>
                        <a:t>Feature-based matching</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SIFT / ORB keypoints + RANSAC</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Works between similar bands (RGB ↔ MS red/green); weak for thermal</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400" dirty="0">
                          <a:solidFill>
                            <a:schemeClr val="tx1"/>
                          </a:solidFill>
                        </a:rPr>
                        <a:t>Area / intensity-based</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Cross-correlation, ECC, mutual information (MI)</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MI handles different modalities because it does not assume equal intensities</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400" dirty="0">
                          <a:solidFill>
                            <a:schemeClr val="tx1"/>
                          </a:solidFill>
                        </a:rPr>
                        <a:t>Structure-based</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Match gradient / edge maps (plot borders, paths, GCP targets)</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Robust option for NIR ↔ thermal</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400" dirty="0">
                          <a:solidFill>
                            <a:schemeClr val="tx1"/>
                          </a:solidFill>
                        </a:rPr>
                        <a:t>Iterative refinement</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Repeat keypoint detection and matching</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Kerkech et al. (2020a) for visible ↔ infrared UAV images</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L0 · Co-registration workflow and accuracy check</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DATA LEVEL</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report co-registration RMSE per sensor and date in the thesis; if thermal error exceeds about half a thermal pixel, use plot-level features rather than pixel fusion.</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Zitová &amp; Flusser (2003); Maimaitijiang et al. (2020) GCP-based orthomosaics; Kerkech et al. (2020a).</a:t>
            </a:r>
            <a:endParaRPr lang="en-US" sz="1000" dirty="0"/>
          </a:p>
        </p:txBody>
      </p:sp>
      <p:sp>
        <p:nvSpPr>
          <p:cNvPr id="7" name="Text 5"/>
          <p:cNvSpPr/>
          <p:nvPr/>
        </p:nvSpPr>
        <p:spPr>
          <a:xfrm>
            <a:off x="457200" y="1188720"/>
            <a:ext cx="1802892" cy="868680"/>
          </a:xfrm>
          <a:prstGeom prst="homePlate">
            <a:avLst/>
          </a:prstGeom>
          <a:solidFill>
            <a:schemeClr val="accent1"/>
          </a:solidFill>
          <a:ln/>
        </p:spPr>
        <p:txBody>
          <a:bodyPr wrap="square" lIns="0" tIns="50800" rIns="63500" bIns="0" rtlCol="0" anchor="ctr"/>
          <a:lstStyle/>
          <a:p>
            <a:pPr algn="ctr" indent="0" marL="0">
              <a:buNone/>
            </a:pPr>
            <a:r>
              <a:rPr lang="en-US" sz="1100" b="1" dirty="0">
                <a:solidFill>
                  <a:schemeClr val="bg1"/>
                </a:solidFill>
              </a:rPr>
              <a:t>Orthomosaic each sensor with the same GCPs</a:t>
            </a:r>
            <a:endParaRPr lang="en-US" sz="1100" dirty="0"/>
          </a:p>
        </p:txBody>
      </p:sp>
      <p:sp>
        <p:nvSpPr>
          <p:cNvPr id="8" name="Text 6"/>
          <p:cNvSpPr/>
          <p:nvPr/>
        </p:nvSpPr>
        <p:spPr>
          <a:xfrm>
            <a:off x="2351532" y="1188720"/>
            <a:ext cx="1802892" cy="868680"/>
          </a:xfrm>
          <a:prstGeom prst="chevron">
            <a:avLst/>
          </a:prstGeom>
          <a:solidFill>
            <a:schemeClr val="accent1"/>
          </a:solidFill>
          <a:ln/>
        </p:spPr>
        <p:txBody>
          <a:bodyPr wrap="square" lIns="0" tIns="139700" rIns="63500" bIns="0" rtlCol="0" anchor="ctr"/>
          <a:lstStyle/>
          <a:p>
            <a:pPr algn="ctr" indent="0" marL="0">
              <a:buNone/>
            </a:pPr>
            <a:r>
              <a:rPr lang="en-US" sz="1100" b="1" dirty="0">
                <a:solidFill>
                  <a:schemeClr val="bg1"/>
                </a:solidFill>
              </a:rPr>
              <a:t>Reproject to one CRS</a:t>
            </a:r>
            <a:endParaRPr lang="en-US" sz="1100" dirty="0"/>
          </a:p>
        </p:txBody>
      </p:sp>
      <p:sp>
        <p:nvSpPr>
          <p:cNvPr id="9" name="Text 7"/>
          <p:cNvSpPr/>
          <p:nvPr/>
        </p:nvSpPr>
        <p:spPr>
          <a:xfrm>
            <a:off x="4245864" y="1188720"/>
            <a:ext cx="1802892" cy="868680"/>
          </a:xfrm>
          <a:prstGeom prst="chevron">
            <a:avLst/>
          </a:prstGeom>
          <a:solidFill>
            <a:schemeClr val="tx2"/>
          </a:solidFill>
          <a:ln/>
        </p:spPr>
        <p:txBody>
          <a:bodyPr wrap="square" lIns="0" tIns="139700" rIns="63500" bIns="0" rtlCol="0" anchor="ctr"/>
          <a:lstStyle/>
          <a:p>
            <a:pPr algn="ctr" indent="0" marL="0">
              <a:buNone/>
            </a:pPr>
            <a:r>
              <a:rPr lang="en-US" sz="1100" b="1" dirty="0">
                <a:solidFill>
                  <a:schemeClr val="bg1"/>
                </a:solidFill>
              </a:rPr>
              <a:t>Choose reference sensor (MS)</a:t>
            </a:r>
            <a:endParaRPr lang="en-US" sz="1100" dirty="0"/>
          </a:p>
        </p:txBody>
      </p:sp>
      <p:sp>
        <p:nvSpPr>
          <p:cNvPr id="10" name="Text 8"/>
          <p:cNvSpPr/>
          <p:nvPr/>
        </p:nvSpPr>
        <p:spPr>
          <a:xfrm>
            <a:off x="6140196" y="1188720"/>
            <a:ext cx="1802892" cy="868680"/>
          </a:xfrm>
          <a:prstGeom prst="chevron">
            <a:avLst/>
          </a:prstGeom>
          <a:solidFill>
            <a:schemeClr val="tx2"/>
          </a:solidFill>
          <a:ln/>
        </p:spPr>
        <p:txBody>
          <a:bodyPr wrap="square" lIns="0" tIns="139700" rIns="63500" bIns="0" rtlCol="0" anchor="ctr"/>
          <a:lstStyle/>
          <a:p>
            <a:pPr algn="ctr" indent="0" marL="0">
              <a:buNone/>
            </a:pPr>
            <a:r>
              <a:rPr lang="en-US" sz="1100" b="1" dirty="0">
                <a:solidFill>
                  <a:schemeClr val="bg1"/>
                </a:solidFill>
              </a:rPr>
              <a:t>Fine alignment (MI / edges)</a:t>
            </a:r>
            <a:endParaRPr lang="en-US" sz="1100" dirty="0"/>
          </a:p>
        </p:txBody>
      </p:sp>
      <p:sp>
        <p:nvSpPr>
          <p:cNvPr id="11" name="Text 9"/>
          <p:cNvSpPr/>
          <p:nvPr/>
        </p:nvSpPr>
        <p:spPr>
          <a:xfrm>
            <a:off x="8034528" y="1188720"/>
            <a:ext cx="1802892" cy="868680"/>
          </a:xfrm>
          <a:prstGeom prst="chevron">
            <a:avLst/>
          </a:prstGeom>
          <a:solidFill>
            <a:schemeClr val="accent2"/>
          </a:solidFill>
          <a:ln/>
        </p:spPr>
        <p:txBody>
          <a:bodyPr wrap="square" lIns="0" tIns="139700" rIns="63500" bIns="0" rtlCol="0" anchor="ctr"/>
          <a:lstStyle/>
          <a:p>
            <a:pPr algn="ctr" indent="0" marL="0">
              <a:buNone/>
            </a:pPr>
            <a:r>
              <a:rPr lang="en-US" sz="1100" b="1" dirty="0">
                <a:solidFill>
                  <a:schemeClr val="bg1"/>
                </a:solidFill>
              </a:rPr>
              <a:t>Resample to target grid</a:t>
            </a:r>
            <a:endParaRPr lang="en-US" sz="1100" dirty="0"/>
          </a:p>
        </p:txBody>
      </p:sp>
      <p:sp>
        <p:nvSpPr>
          <p:cNvPr id="12" name="Text 10"/>
          <p:cNvSpPr/>
          <p:nvPr/>
        </p:nvSpPr>
        <p:spPr>
          <a:xfrm>
            <a:off x="9928860" y="1188720"/>
            <a:ext cx="1802892" cy="868680"/>
          </a:xfrm>
          <a:prstGeom prst="chevron">
            <a:avLst/>
          </a:prstGeom>
          <a:solidFill>
            <a:schemeClr val="accent3"/>
          </a:solidFill>
          <a:ln/>
        </p:spPr>
        <p:txBody>
          <a:bodyPr wrap="square" lIns="0" tIns="139700" rIns="63500" bIns="0" rtlCol="0" anchor="ctr"/>
          <a:lstStyle/>
          <a:p>
            <a:pPr algn="ctr" indent="0" marL="0">
              <a:buNone/>
            </a:pPr>
            <a:r>
              <a:rPr lang="en-US" sz="1100" b="1" dirty="0">
                <a:solidFill>
                  <a:schemeClr val="bg1"/>
                </a:solidFill>
              </a:rPr>
              <a:t>Check RMSE on check points</a:t>
            </a:r>
            <a:endParaRPr lang="en-US" sz="1100" dirty="0"/>
          </a:p>
        </p:txBody>
      </p:sp>
      <p:sp>
        <p:nvSpPr>
          <p:cNvPr id="13" name="Shape 11"/>
          <p:cNvSpPr/>
          <p:nvPr/>
        </p:nvSpPr>
        <p:spPr>
          <a:xfrm>
            <a:off x="457200" y="2240280"/>
            <a:ext cx="5486400" cy="3017520"/>
          </a:xfrm>
          <a:prstGeom prst="roundRect">
            <a:avLst>
              <a:gd name="adj" fmla="val 2424"/>
            </a:avLst>
          </a:prstGeom>
          <a:solidFill>
            <a:schemeClr val="bg2"/>
          </a:solidFill>
          <a:ln/>
        </p:spPr>
      </p:sp>
      <p:sp>
        <p:nvSpPr>
          <p:cNvPr id="14" name="Shape 12"/>
          <p:cNvSpPr/>
          <p:nvPr/>
        </p:nvSpPr>
        <p:spPr>
          <a:xfrm>
            <a:off x="457200" y="2350008"/>
            <a:ext cx="64008" cy="347472"/>
          </a:xfrm>
          <a:prstGeom prst="rect">
            <a:avLst/>
          </a:prstGeom>
          <a:solidFill>
            <a:schemeClr val="accent1"/>
          </a:solidFill>
          <a:ln/>
        </p:spPr>
      </p:sp>
      <p:sp>
        <p:nvSpPr>
          <p:cNvPr id="15" name="Text 13"/>
          <p:cNvSpPr txBox="1"/>
          <p:nvPr/>
        </p:nvSpPr>
        <p:spPr>
          <a:xfrm>
            <a:off x="640080" y="2331720"/>
            <a:ext cx="5212080" cy="384048"/>
          </a:xfrm>
          <a:prstGeom prst="rect">
            <a:avLst/>
          </a:prstGeom>
          <a:noFill/>
          <a:ln/>
        </p:spPr>
        <p:txBody>
          <a:bodyPr wrap="square" lIns="0" tIns="0" rIns="0" bIns="0" rtlCol="0" anchor="ctr"/>
          <a:lstStyle/>
          <a:p>
            <a:pPr indent="0" marL="0">
              <a:buNone/>
            </a:pPr>
            <a:r>
              <a:rPr lang="en-US" sz="1600" b="1" dirty="0">
                <a:solidFill>
                  <a:schemeClr val="tx1"/>
                </a:solidFill>
              </a:rPr>
              <a:t>Practical settings</a:t>
            </a:r>
            <a:endParaRPr lang="en-US" sz="1600" dirty="0"/>
          </a:p>
        </p:txBody>
      </p:sp>
      <p:sp>
        <p:nvSpPr>
          <p:cNvPr id="16" name="Text 14"/>
          <p:cNvSpPr txBox="1"/>
          <p:nvPr/>
        </p:nvSpPr>
        <p:spPr>
          <a:xfrm>
            <a:off x="640080" y="2770632"/>
            <a:ext cx="5166360" cy="2395728"/>
          </a:xfrm>
          <a:prstGeom prst="rect">
            <a:avLst/>
          </a:prstGeom>
          <a:noFill/>
          <a:ln/>
        </p:spPr>
        <p:txBody>
          <a:bodyPr wrap="square" lIns="0" tIns="0" rIns="0" bIns="0" rtlCol="0" anchor="t"/>
          <a:lstStyle/>
          <a:p>
            <a:pPr marL="165100" indent="-165100">
              <a:spcAft>
                <a:spcPts val="600"/>
              </a:spcAft>
              <a:buSzPct val="100000"/>
              <a:buChar char="•"/>
            </a:pPr>
            <a:r>
              <a:rPr lang="en-US" sz="1450" dirty="0">
                <a:solidFill>
                  <a:schemeClr val="tx1"/>
                </a:solidFill>
              </a:rPr>
              <a:t>Reference grid: the MS orthomosaic (good geometry, NIR edges)</a:t>
            </a:r>
            <a:endParaRPr lang="en-US" sz="1400" dirty="0"/>
          </a:p>
          <a:p>
            <a:pPr marL="165100" indent="-165100">
              <a:spcAft>
                <a:spcPts val="600"/>
              </a:spcAft>
              <a:buSzPct val="100000"/>
              <a:buChar char="•"/>
            </a:pPr>
            <a:r>
              <a:rPr lang="en-US" sz="1450" dirty="0">
                <a:solidFill>
                  <a:schemeClr val="tx1"/>
                </a:solidFill>
              </a:rPr>
              <a:t>Fine alignment on plot-border edges / GCP targets</a:t>
            </a:r>
            <a:endParaRPr lang="en-US" sz="1400" dirty="0"/>
          </a:p>
          <a:p>
            <a:pPr marL="165100" indent="-165100">
              <a:spcAft>
                <a:spcPts val="600"/>
              </a:spcAft>
              <a:buSzPct val="100000"/>
              <a:buChar char="•"/>
            </a:pPr>
            <a:r>
              <a:rPr lang="en-US" sz="1450" dirty="0">
                <a:solidFill>
                  <a:schemeClr val="tx1"/>
                </a:solidFill>
              </a:rPr>
              <a:t>Estimate shift with sub-pixel precision; apply to geotransform</a:t>
            </a:r>
            <a:endParaRPr lang="en-US" sz="1400" dirty="0"/>
          </a:p>
          <a:p>
            <a:pPr marL="165100" indent="-165100">
              <a:spcAft>
                <a:spcPts val="600"/>
              </a:spcAft>
              <a:buSzPct val="100000"/>
              <a:buChar char="•"/>
            </a:pPr>
            <a:r>
              <a:rPr lang="en-US" sz="1450" dirty="0">
                <a:solidFill>
                  <a:schemeClr val="tx1"/>
                </a:solidFill>
              </a:rPr>
              <a:t>Visual overlay check: NDVI edges vs thermal edges</a:t>
            </a:r>
            <a:endParaRPr lang="en-US" sz="1400" dirty="0"/>
          </a:p>
        </p:txBody>
      </p:sp>
      <p:sp>
        <p:nvSpPr>
          <p:cNvPr id="17" name="Shape 15"/>
          <p:cNvSpPr/>
          <p:nvPr/>
        </p:nvSpPr>
        <p:spPr>
          <a:xfrm>
            <a:off x="6245352" y="2240280"/>
            <a:ext cx="5486400" cy="3017520"/>
          </a:xfrm>
          <a:prstGeom prst="roundRect">
            <a:avLst>
              <a:gd name="adj" fmla="val 2424"/>
            </a:avLst>
          </a:prstGeom>
          <a:solidFill>
            <a:schemeClr val="bg2"/>
          </a:solidFill>
          <a:ln/>
        </p:spPr>
      </p:sp>
      <p:sp>
        <p:nvSpPr>
          <p:cNvPr id="18" name="Shape 16"/>
          <p:cNvSpPr/>
          <p:nvPr/>
        </p:nvSpPr>
        <p:spPr>
          <a:xfrm>
            <a:off x="6245352" y="2350008"/>
            <a:ext cx="64008" cy="347472"/>
          </a:xfrm>
          <a:prstGeom prst="rect">
            <a:avLst/>
          </a:prstGeom>
          <a:solidFill>
            <a:schemeClr val="accent3"/>
          </a:solidFill>
          <a:ln/>
        </p:spPr>
      </p:sp>
      <p:sp>
        <p:nvSpPr>
          <p:cNvPr id="19" name="Text 17"/>
          <p:cNvSpPr txBox="1"/>
          <p:nvPr/>
        </p:nvSpPr>
        <p:spPr>
          <a:xfrm>
            <a:off x="6428232" y="2331720"/>
            <a:ext cx="5212080" cy="384048"/>
          </a:xfrm>
          <a:prstGeom prst="rect">
            <a:avLst/>
          </a:prstGeom>
          <a:noFill/>
          <a:ln/>
        </p:spPr>
        <p:txBody>
          <a:bodyPr wrap="square" lIns="0" tIns="0" rIns="0" bIns="0" rtlCol="0" anchor="ctr"/>
          <a:lstStyle/>
          <a:p>
            <a:pPr indent="0" marL="0">
              <a:buNone/>
            </a:pPr>
            <a:r>
              <a:rPr lang="en-US" sz="1600" b="1" dirty="0">
                <a:solidFill>
                  <a:schemeClr val="tx1"/>
                </a:solidFill>
              </a:rPr>
              <a:t>Accuracy targets</a:t>
            </a:r>
            <a:endParaRPr lang="en-US" sz="1600" dirty="0"/>
          </a:p>
        </p:txBody>
      </p:sp>
      <p:sp>
        <p:nvSpPr>
          <p:cNvPr id="20" name="Text 18"/>
          <p:cNvSpPr txBox="1"/>
          <p:nvPr/>
        </p:nvSpPr>
        <p:spPr>
          <a:xfrm>
            <a:off x="6428232" y="2770632"/>
            <a:ext cx="5166360" cy="2395728"/>
          </a:xfrm>
          <a:prstGeom prst="rect">
            <a:avLst/>
          </a:prstGeom>
          <a:noFill/>
          <a:ln/>
        </p:spPr>
        <p:txBody>
          <a:bodyPr wrap="square" lIns="0" tIns="0" rIns="0" bIns="0" rtlCol="0" anchor="t"/>
          <a:lstStyle/>
          <a:p>
            <a:pPr marL="165100" indent="-165100">
              <a:spcAft>
                <a:spcPts val="600"/>
              </a:spcAft>
              <a:buSzPct val="100000"/>
              <a:buChar char="•"/>
            </a:pPr>
            <a:r>
              <a:rPr lang="en-US" sz="1450" dirty="0">
                <a:solidFill>
                  <a:schemeClr val="tx1"/>
                </a:solidFill>
              </a:rPr>
              <a:t>RMSE on independent check points (cm)</a:t>
            </a:r>
            <a:endParaRPr lang="en-US" sz="1400" dirty="0"/>
          </a:p>
          <a:p>
            <a:pPr marL="165100" indent="-165100">
              <a:spcAft>
                <a:spcPts val="600"/>
              </a:spcAft>
              <a:buSzPct val="100000"/>
              <a:buChar char="•"/>
            </a:pPr>
            <a:r>
              <a:rPr lang="en-US" sz="1450" dirty="0">
                <a:solidFill>
                  <a:schemeClr val="tx1"/>
                </a:solidFill>
              </a:rPr>
              <a:t>Pixel fusion: error ≪ 1 pixel of the coarsest sensor used</a:t>
            </a:r>
            <a:endParaRPr lang="en-US" sz="1400" dirty="0"/>
          </a:p>
          <a:p>
            <a:pPr marL="165100" indent="-165100">
              <a:spcAft>
                <a:spcPts val="600"/>
              </a:spcAft>
              <a:buSzPct val="100000"/>
              <a:buChar char="•"/>
            </a:pPr>
            <a:r>
              <a:rPr lang="en-US" sz="1450" dirty="0">
                <a:solidFill>
                  <a:schemeClr val="tx1"/>
                </a:solidFill>
              </a:rPr>
              <a:t>Plot-level feature fusion: tolerant if plots are inset (0.4 m) and features are plot means</a:t>
            </a:r>
            <a:endParaRPr lang="en-US" sz="1400" dirty="0"/>
          </a:p>
          <a:p>
            <a:pPr marL="165100" indent="-165100">
              <a:spcAft>
                <a:spcPts val="600"/>
              </a:spcAft>
              <a:buSzPct val="100000"/>
              <a:buChar char="•"/>
            </a:pPr>
            <a:r>
              <a:rPr lang="en-US" sz="1450" dirty="0">
                <a:solidFill>
                  <a:schemeClr val="tx1"/>
                </a:solidFill>
              </a:rPr>
              <a:t>Document failures (wind, blur) and drop affected tiles</a:t>
            </a:r>
            <a:endParaRPr lang="en-US" sz="14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L0 · Resolution harmonisation, masking and the layer stack</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DATA LEVEL</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keep native resolutions for plot-level features (ML); build a common 5 cm stack only for pixel/patch DL experiments.</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Pohl &amp; Van Genderen (1998); Bohnenkamp et al. (2019) effect of subsampling; Guo et al. (2021) resolution test; Leinonen &amp; Jones (2004) visible mask for thermal.</a:t>
            </a:r>
            <a:endParaRPr lang="en-US" sz="1000" dirty="0"/>
          </a:p>
        </p:txBody>
      </p:sp>
      <p:sp>
        <p:nvSpPr>
          <p:cNvPr id="7" name="Shape 5"/>
          <p:cNvSpPr/>
          <p:nvPr/>
        </p:nvSpPr>
        <p:spPr>
          <a:xfrm>
            <a:off x="457200" y="1188720"/>
            <a:ext cx="3657600" cy="4069080"/>
          </a:xfrm>
          <a:prstGeom prst="roundRect">
            <a:avLst>
              <a:gd name="adj" fmla="val 2000"/>
            </a:avLst>
          </a:prstGeom>
          <a:solidFill>
            <a:schemeClr val="bg2"/>
          </a:solidFill>
          <a:ln/>
        </p:spPr>
      </p:sp>
      <p:sp>
        <p:nvSpPr>
          <p:cNvPr id="8" name="Shape 6"/>
          <p:cNvSpPr/>
          <p:nvPr/>
        </p:nvSpPr>
        <p:spPr>
          <a:xfrm>
            <a:off x="457200" y="1298448"/>
            <a:ext cx="64008" cy="347472"/>
          </a:xfrm>
          <a:prstGeom prst="rect">
            <a:avLst/>
          </a:prstGeom>
          <a:solidFill>
            <a:schemeClr val="accent1"/>
          </a:solidFill>
          <a:ln/>
        </p:spPr>
      </p:sp>
      <p:sp>
        <p:nvSpPr>
          <p:cNvPr id="9" name="Text 7"/>
          <p:cNvSpPr txBox="1"/>
          <p:nvPr/>
        </p:nvSpPr>
        <p:spPr>
          <a:xfrm>
            <a:off x="640080" y="1280160"/>
            <a:ext cx="3383280" cy="384048"/>
          </a:xfrm>
          <a:prstGeom prst="rect">
            <a:avLst/>
          </a:prstGeom>
          <a:noFill/>
          <a:ln/>
        </p:spPr>
        <p:txBody>
          <a:bodyPr wrap="square" lIns="0" tIns="0" rIns="0" bIns="0" rtlCol="0" anchor="ctr"/>
          <a:lstStyle/>
          <a:p>
            <a:pPr indent="0" marL="0">
              <a:buNone/>
            </a:pPr>
            <a:r>
              <a:rPr lang="en-US" sz="1600" b="1" dirty="0">
                <a:solidFill>
                  <a:schemeClr val="tx1"/>
                </a:solidFill>
              </a:rPr>
              <a:t>Harmonise resolution</a:t>
            </a:r>
            <a:endParaRPr lang="en-US" sz="1600" dirty="0"/>
          </a:p>
        </p:txBody>
      </p:sp>
      <p:sp>
        <p:nvSpPr>
          <p:cNvPr id="10" name="Text 8"/>
          <p:cNvSpPr txBox="1"/>
          <p:nvPr/>
        </p:nvSpPr>
        <p:spPr>
          <a:xfrm>
            <a:off x="640080" y="1719072"/>
            <a:ext cx="3337560" cy="3447288"/>
          </a:xfrm>
          <a:prstGeom prst="rect">
            <a:avLst/>
          </a:prstGeom>
          <a:noFill/>
          <a:ln/>
        </p:spPr>
        <p:txBody>
          <a:bodyPr wrap="square" lIns="0" tIns="0" rIns="0" bIns="0" rtlCol="0" anchor="t"/>
          <a:lstStyle/>
          <a:p>
            <a:pPr marL="165100" indent="-165100">
              <a:spcAft>
                <a:spcPts val="600"/>
              </a:spcAft>
              <a:buSzPct val="100000"/>
              <a:buChar char="•"/>
            </a:pPr>
            <a:r>
              <a:rPr lang="en-US" sz="1450" b="1" dirty="0">
                <a:solidFill>
                  <a:schemeClr val="tx1"/>
                </a:solidFill>
              </a:rPr>
              <a:t>Option A:</a:t>
            </a:r>
            <a:pPr indent="0" marL="0">
              <a:spcAft>
                <a:spcPts val="600"/>
              </a:spcAft>
              <a:buNone/>
            </a:pPr>
            <a:r>
              <a:rPr lang="en-US" sz="1450" dirty="0">
                <a:solidFill>
                  <a:schemeClr val="tx1"/>
                </a:solidFill>
              </a:rPr>
              <a:t> aggregate fine sensors to the coarsest grid by </a:t>
            </a:r>
            <a:pPr indent="0" marL="0">
              <a:spcAft>
                <a:spcPts val="600"/>
              </a:spcAft>
              <a:buNone/>
            </a:pPr>
            <a:r>
              <a:rPr lang="en-US" sz="1450" b="1" dirty="0">
                <a:solidFill>
                  <a:schemeClr val="tx1"/>
                </a:solidFill>
              </a:rPr>
              <a:t>area-weighted averaging</a:t>
            </a:r>
            <a:pPr indent="0" marL="0">
              <a:spcAft>
                <a:spcPts val="600"/>
              </a:spcAft>
              <a:buNone/>
            </a:pPr>
            <a:r>
              <a:rPr lang="en-US" sz="1450" dirty="0">
                <a:solidFill>
                  <a:schemeClr val="tx1"/>
                </a:solidFill>
              </a:rPr>
              <a:t> (not nearest neighbour)</a:t>
            </a:r>
            <a:endParaRPr lang="en-US" sz="1400" dirty="0"/>
          </a:p>
          <a:p>
            <a:pPr marL="165100" indent="-165100">
              <a:spcAft>
                <a:spcPts val="600"/>
              </a:spcAft>
              <a:buSzPct val="100000"/>
              <a:buChar char="•"/>
            </a:pPr>
            <a:r>
              <a:rPr lang="en-US" sz="1450" b="1" dirty="0">
                <a:solidFill>
                  <a:schemeClr val="tx1"/>
                </a:solidFill>
              </a:rPr>
              <a:t>Option B:</a:t>
            </a:r>
            <a:pPr indent="0" marL="0">
              <a:spcAft>
                <a:spcPts val="600"/>
              </a:spcAft>
              <a:buNone/>
            </a:pPr>
            <a:r>
              <a:rPr lang="en-US" sz="1450" dirty="0">
                <a:solidFill>
                  <a:schemeClr val="tx1"/>
                </a:solidFill>
              </a:rPr>
              <a:t> keep native grids; extract features per plot/tile covering the same ground area</a:t>
            </a:r>
            <a:endParaRPr lang="en-US" sz="1400" dirty="0"/>
          </a:p>
          <a:p>
            <a:pPr marL="165100" indent="-165100">
              <a:spcAft>
                <a:spcPts val="600"/>
              </a:spcAft>
              <a:buSzPct val="100000"/>
              <a:buChar char="•"/>
            </a:pPr>
            <a:r>
              <a:rPr lang="en-US" sz="1450" b="1" dirty="0">
                <a:solidFill>
                  <a:schemeClr val="tx1"/>
                </a:solidFill>
              </a:rPr>
              <a:t>Option C:</a:t>
            </a:r>
            <a:pPr indent="0" marL="0">
              <a:spcAft>
                <a:spcPts val="600"/>
              </a:spcAft>
              <a:buNone/>
            </a:pPr>
            <a:r>
              <a:rPr lang="en-US" sz="1450" dirty="0">
                <a:solidFill>
                  <a:schemeClr val="tx1"/>
                </a:solidFill>
              </a:rPr>
              <a:t> super-resolve coarse sensors (pixel-level fusion, L1)</a:t>
            </a:r>
            <a:endParaRPr lang="en-US" sz="1400" dirty="0"/>
          </a:p>
        </p:txBody>
      </p:sp>
      <p:sp>
        <p:nvSpPr>
          <p:cNvPr id="11" name="Shape 9"/>
          <p:cNvSpPr/>
          <p:nvPr/>
        </p:nvSpPr>
        <p:spPr>
          <a:xfrm>
            <a:off x="4270248" y="1188720"/>
            <a:ext cx="3657600" cy="4069080"/>
          </a:xfrm>
          <a:prstGeom prst="roundRect">
            <a:avLst>
              <a:gd name="adj" fmla="val 2000"/>
            </a:avLst>
          </a:prstGeom>
          <a:solidFill>
            <a:schemeClr val="bg2"/>
          </a:solidFill>
          <a:ln/>
        </p:spPr>
      </p:sp>
      <p:sp>
        <p:nvSpPr>
          <p:cNvPr id="12" name="Shape 10"/>
          <p:cNvSpPr/>
          <p:nvPr/>
        </p:nvSpPr>
        <p:spPr>
          <a:xfrm>
            <a:off x="4270248" y="1298448"/>
            <a:ext cx="64008" cy="347472"/>
          </a:xfrm>
          <a:prstGeom prst="rect">
            <a:avLst/>
          </a:prstGeom>
          <a:solidFill>
            <a:schemeClr val="accent2"/>
          </a:solidFill>
          <a:ln/>
        </p:spPr>
      </p:sp>
      <p:sp>
        <p:nvSpPr>
          <p:cNvPr id="13" name="Text 11"/>
          <p:cNvSpPr txBox="1"/>
          <p:nvPr/>
        </p:nvSpPr>
        <p:spPr>
          <a:xfrm>
            <a:off x="4453128" y="1280160"/>
            <a:ext cx="3383280" cy="384048"/>
          </a:xfrm>
          <a:prstGeom prst="rect">
            <a:avLst/>
          </a:prstGeom>
          <a:noFill/>
          <a:ln/>
        </p:spPr>
        <p:txBody>
          <a:bodyPr wrap="square" lIns="0" tIns="0" rIns="0" bIns="0" rtlCol="0" anchor="ctr"/>
          <a:lstStyle/>
          <a:p>
            <a:pPr indent="0" marL="0">
              <a:buNone/>
            </a:pPr>
            <a:r>
              <a:rPr lang="en-US" sz="1600" b="1" dirty="0">
                <a:solidFill>
                  <a:schemeClr val="tx1"/>
                </a:solidFill>
              </a:rPr>
              <a:t>Common masks</a:t>
            </a:r>
            <a:endParaRPr lang="en-US" sz="1600" dirty="0"/>
          </a:p>
        </p:txBody>
      </p:sp>
      <p:sp>
        <p:nvSpPr>
          <p:cNvPr id="14" name="Text 12"/>
          <p:cNvSpPr txBox="1"/>
          <p:nvPr/>
        </p:nvSpPr>
        <p:spPr>
          <a:xfrm>
            <a:off x="4453128" y="1719072"/>
            <a:ext cx="3337560" cy="3447288"/>
          </a:xfrm>
          <a:prstGeom prst="rect">
            <a:avLst/>
          </a:prstGeom>
          <a:noFill/>
          <a:ln/>
        </p:spPr>
        <p:txBody>
          <a:bodyPr wrap="square" lIns="0" tIns="0" rIns="0" bIns="0" rtlCol="0" anchor="t"/>
          <a:lstStyle/>
          <a:p>
            <a:pPr marL="165100" indent="-165100">
              <a:spcAft>
                <a:spcPts val="600"/>
              </a:spcAft>
              <a:buSzPct val="100000"/>
              <a:buChar char="•"/>
            </a:pPr>
            <a:r>
              <a:rPr lang="en-US" sz="1450" dirty="0">
                <a:solidFill>
                  <a:schemeClr val="tx1"/>
                </a:solidFill>
              </a:rPr>
              <a:t>Canopy mask (NDVI/ExG + Otsu) from the finest sensor, resampled to others</a:t>
            </a:r>
            <a:endParaRPr lang="en-US" sz="1400" dirty="0"/>
          </a:p>
          <a:p>
            <a:pPr marL="165100" indent="-165100">
              <a:spcAft>
                <a:spcPts val="600"/>
              </a:spcAft>
              <a:buSzPct val="100000"/>
              <a:buChar char="•"/>
            </a:pPr>
            <a:r>
              <a:rPr lang="en-US" sz="1450" dirty="0">
                <a:solidFill>
                  <a:schemeClr val="tx1"/>
                </a:solidFill>
              </a:rPr>
              <a:t>Shadow mask (low NIR); optional flower mask (mustard yellow)</a:t>
            </a:r>
            <a:endParaRPr lang="en-US" sz="1400" dirty="0"/>
          </a:p>
          <a:p>
            <a:pPr marL="165100" indent="-165100">
              <a:spcAft>
                <a:spcPts val="600"/>
              </a:spcAft>
              <a:buSzPct val="100000"/>
              <a:buChar char="•"/>
            </a:pPr>
            <a:r>
              <a:rPr lang="en-US" sz="1450" dirty="0">
                <a:solidFill>
                  <a:schemeClr val="tx1"/>
                </a:solidFill>
              </a:rPr>
              <a:t>Thermal: use the visible/NIR mask to keep pure leaf pixels (avoids soil-heated mixed pixels)</a:t>
            </a:r>
            <a:endParaRPr lang="en-US" sz="1400" dirty="0"/>
          </a:p>
          <a:p>
            <a:pPr marL="165100" indent="-165100">
              <a:spcAft>
                <a:spcPts val="600"/>
              </a:spcAft>
              <a:buSzPct val="100000"/>
              <a:buChar char="•"/>
            </a:pPr>
            <a:r>
              <a:rPr lang="en-US" sz="1450" dirty="0">
                <a:solidFill>
                  <a:schemeClr val="tx1"/>
                </a:solidFill>
              </a:rPr>
              <a:t>Plot inset (e.g. 0.4 m) to remove edges</a:t>
            </a:r>
            <a:endParaRPr lang="en-US" sz="1400" dirty="0"/>
          </a:p>
        </p:txBody>
      </p:sp>
      <p:sp>
        <p:nvSpPr>
          <p:cNvPr id="15" name="Shape 13"/>
          <p:cNvSpPr/>
          <p:nvPr/>
        </p:nvSpPr>
        <p:spPr>
          <a:xfrm>
            <a:off x="8074152" y="1188720"/>
            <a:ext cx="3657600" cy="4069080"/>
          </a:xfrm>
          <a:prstGeom prst="roundRect">
            <a:avLst>
              <a:gd name="adj" fmla="val 2000"/>
            </a:avLst>
          </a:prstGeom>
          <a:solidFill>
            <a:schemeClr val="bg2"/>
          </a:solidFill>
          <a:ln/>
        </p:spPr>
      </p:sp>
      <p:sp>
        <p:nvSpPr>
          <p:cNvPr id="16" name="Shape 14"/>
          <p:cNvSpPr/>
          <p:nvPr/>
        </p:nvSpPr>
        <p:spPr>
          <a:xfrm>
            <a:off x="8074152" y="1298448"/>
            <a:ext cx="64008" cy="347472"/>
          </a:xfrm>
          <a:prstGeom prst="rect">
            <a:avLst/>
          </a:prstGeom>
          <a:solidFill>
            <a:schemeClr val="accent3"/>
          </a:solidFill>
          <a:ln/>
        </p:spPr>
      </p:sp>
      <p:sp>
        <p:nvSpPr>
          <p:cNvPr id="17" name="Text 15"/>
          <p:cNvSpPr txBox="1"/>
          <p:nvPr/>
        </p:nvSpPr>
        <p:spPr>
          <a:xfrm>
            <a:off x="8257032" y="1280160"/>
            <a:ext cx="3383280" cy="384048"/>
          </a:xfrm>
          <a:prstGeom prst="rect">
            <a:avLst/>
          </a:prstGeom>
          <a:noFill/>
          <a:ln/>
        </p:spPr>
        <p:txBody>
          <a:bodyPr wrap="square" lIns="0" tIns="0" rIns="0" bIns="0" rtlCol="0" anchor="ctr"/>
          <a:lstStyle/>
          <a:p>
            <a:pPr indent="0" marL="0">
              <a:buNone/>
            </a:pPr>
            <a:r>
              <a:rPr lang="en-US" sz="1600" b="1" dirty="0">
                <a:solidFill>
                  <a:schemeClr val="tx1"/>
                </a:solidFill>
              </a:rPr>
              <a:t>Layer stack (data cube)</a:t>
            </a:r>
            <a:endParaRPr lang="en-US" sz="1600" dirty="0"/>
          </a:p>
        </p:txBody>
      </p:sp>
      <p:sp>
        <p:nvSpPr>
          <p:cNvPr id="18" name="Text 16"/>
          <p:cNvSpPr txBox="1"/>
          <p:nvPr/>
        </p:nvSpPr>
        <p:spPr>
          <a:xfrm>
            <a:off x="8257032" y="1719072"/>
            <a:ext cx="3337560" cy="3447288"/>
          </a:xfrm>
          <a:prstGeom prst="rect">
            <a:avLst/>
          </a:prstGeom>
          <a:noFill/>
          <a:ln/>
        </p:spPr>
        <p:txBody>
          <a:bodyPr wrap="square" lIns="0" tIns="0" rIns="0" bIns="0" rtlCol="0" anchor="t"/>
          <a:lstStyle/>
          <a:p>
            <a:pPr marL="165100" indent="-165100">
              <a:spcAft>
                <a:spcPts val="600"/>
              </a:spcAft>
              <a:buSzPct val="100000"/>
              <a:buChar char="•"/>
            </a:pPr>
            <a:r>
              <a:rPr lang="en-US" sz="1450" dirty="0">
                <a:solidFill>
                  <a:schemeClr val="tx1"/>
                </a:solidFill>
              </a:rPr>
              <a:t>Bands: RGB(3) + MS(5) + HS(n or PCA) + TIR(1) + CHM(1)</a:t>
            </a:r>
            <a:endParaRPr lang="en-US" sz="1400" dirty="0"/>
          </a:p>
          <a:p>
            <a:pPr marL="165100" indent="-165100">
              <a:spcAft>
                <a:spcPts val="600"/>
              </a:spcAft>
              <a:buSzPct val="100000"/>
              <a:buChar char="•"/>
            </a:pPr>
            <a:r>
              <a:rPr lang="en-US" sz="1450" dirty="0">
                <a:solidFill>
                  <a:schemeClr val="tx1"/>
                </a:solidFill>
              </a:rPr>
              <a:t>Stored as GeoTIFF/COG or xarray with band names</a:t>
            </a:r>
            <a:endParaRPr lang="en-US" sz="1400" dirty="0"/>
          </a:p>
          <a:p>
            <a:pPr marL="165100" indent="-165100">
              <a:spcAft>
                <a:spcPts val="600"/>
              </a:spcAft>
              <a:buSzPct val="100000"/>
              <a:buChar char="•"/>
            </a:pPr>
            <a:r>
              <a:rPr lang="en-US" sz="1450" dirty="0">
                <a:solidFill>
                  <a:schemeClr val="tx1"/>
                </a:solidFill>
              </a:rPr>
              <a:t>Per-band metadata: units, wavelength, date</a:t>
            </a:r>
            <a:endParaRPr lang="en-US" sz="1400" dirty="0"/>
          </a:p>
          <a:p>
            <a:pPr marL="165100" indent="-165100">
              <a:spcAft>
                <a:spcPts val="600"/>
              </a:spcAft>
              <a:buSzPct val="100000"/>
              <a:buChar char="•"/>
            </a:pPr>
            <a:r>
              <a:rPr lang="en-US" sz="1450" dirty="0">
                <a:solidFill>
                  <a:schemeClr val="tx1"/>
                </a:solidFill>
              </a:rPr>
              <a:t>Output of L0 = input for L1 (pixel) and for tile-based DL</a:t>
            </a:r>
            <a:endParaRPr lang="en-US" sz="14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L1 · Pixel-level fusion: concept</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PIXEL LEVEL</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pixel-level fusion is optional: use it to sharpen thermal or hyperspectral, or to feed an early-fusion CNN; the main analysis can stay at feature level.</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Pohl &amp; Van Genderen (1998); Ghassemian (2016); Vivone et al. (2015); Yokoya et al. (2017); Ma et al. (2019).</a:t>
            </a:r>
            <a:endParaRPr lang="en-US" sz="1000" dirty="0"/>
          </a:p>
        </p:txBody>
      </p:sp>
      <p:sp>
        <p:nvSpPr>
          <p:cNvPr id="7" name="Shape 5"/>
          <p:cNvSpPr/>
          <p:nvPr/>
        </p:nvSpPr>
        <p:spPr>
          <a:xfrm>
            <a:off x="457200" y="1188720"/>
            <a:ext cx="5486400" cy="4069080"/>
          </a:xfrm>
          <a:prstGeom prst="roundRect">
            <a:avLst>
              <a:gd name="adj" fmla="val 1798"/>
            </a:avLst>
          </a:prstGeom>
          <a:solidFill>
            <a:schemeClr val="bg2"/>
          </a:solidFill>
          <a:ln/>
        </p:spPr>
      </p:sp>
      <p:sp>
        <p:nvSpPr>
          <p:cNvPr id="8" name="Shape 6"/>
          <p:cNvSpPr/>
          <p:nvPr/>
        </p:nvSpPr>
        <p:spPr>
          <a:xfrm>
            <a:off x="457200" y="1298448"/>
            <a:ext cx="64008" cy="347472"/>
          </a:xfrm>
          <a:prstGeom prst="rect">
            <a:avLst/>
          </a:prstGeom>
          <a:solidFill>
            <a:schemeClr val="accent1"/>
          </a:solidFill>
          <a:ln/>
        </p:spPr>
      </p:sp>
      <p:sp>
        <p:nvSpPr>
          <p:cNvPr id="9" name="Text 7"/>
          <p:cNvSpPr txBox="1"/>
          <p:nvPr/>
        </p:nvSpPr>
        <p:spPr>
          <a:xfrm>
            <a:off x="640080" y="1280160"/>
            <a:ext cx="5212080" cy="384048"/>
          </a:xfrm>
          <a:prstGeom prst="rect">
            <a:avLst/>
          </a:prstGeom>
          <a:noFill/>
          <a:ln/>
        </p:spPr>
        <p:txBody>
          <a:bodyPr wrap="square" lIns="0" tIns="0" rIns="0" bIns="0" rtlCol="0" anchor="ctr"/>
          <a:lstStyle/>
          <a:p>
            <a:pPr indent="0" marL="0">
              <a:buNone/>
            </a:pPr>
            <a:r>
              <a:rPr lang="en-US" sz="1600" b="1" dirty="0">
                <a:solidFill>
                  <a:schemeClr val="tx1"/>
                </a:solidFill>
              </a:rPr>
              <a:t>Two meanings</a:t>
            </a:r>
            <a:endParaRPr lang="en-US" sz="1600" dirty="0"/>
          </a:p>
        </p:txBody>
      </p:sp>
      <p:sp>
        <p:nvSpPr>
          <p:cNvPr id="10" name="Text 8"/>
          <p:cNvSpPr txBox="1"/>
          <p:nvPr/>
        </p:nvSpPr>
        <p:spPr>
          <a:xfrm>
            <a:off x="640080" y="1719072"/>
            <a:ext cx="5166360" cy="3447288"/>
          </a:xfrm>
          <a:prstGeom prst="rect">
            <a:avLst/>
          </a:prstGeom>
          <a:noFill/>
          <a:ln/>
        </p:spPr>
        <p:txBody>
          <a:bodyPr wrap="square" lIns="0" tIns="0" rIns="0" bIns="0" rtlCol="0" anchor="t"/>
          <a:lstStyle/>
          <a:p>
            <a:pPr marL="165100" indent="-165100">
              <a:spcAft>
                <a:spcPts val="600"/>
              </a:spcAft>
              <a:buSzPct val="100000"/>
              <a:buChar char="•"/>
            </a:pPr>
            <a:r>
              <a:rPr lang="en-US" sz="1450" b="1" dirty="0">
                <a:solidFill>
                  <a:schemeClr val="tx1"/>
                </a:solidFill>
              </a:rPr>
              <a:t>(a) Image fusion:</a:t>
            </a:r>
            <a:pPr indent="0" marL="0">
              <a:spcAft>
                <a:spcPts val="600"/>
              </a:spcAft>
              <a:buNone/>
            </a:pPr>
            <a:r>
              <a:rPr lang="en-US" sz="1450" dirty="0">
                <a:solidFill>
                  <a:schemeClr val="tx1"/>
                </a:solidFill>
              </a:rPr>
              <a:t> create one new image that combines the spatial detail of one sensor with the spectral/thermal information of another (e.g. pansharpening)</a:t>
            </a:r>
            <a:endParaRPr lang="en-US" sz="1400" dirty="0"/>
          </a:p>
          <a:p>
            <a:pPr marL="165100" indent="-165100">
              <a:spcAft>
                <a:spcPts val="600"/>
              </a:spcAft>
              <a:buSzPct val="100000"/>
              <a:buChar char="•"/>
            </a:pPr>
            <a:r>
              <a:rPr lang="en-US" sz="1450" b="1" dirty="0">
                <a:solidFill>
                  <a:schemeClr val="tx1"/>
                </a:solidFill>
              </a:rPr>
              <a:t>(b) Pixel stacking:</a:t>
            </a:r>
            <a:pPr indent="0" marL="0">
              <a:spcAft>
                <a:spcPts val="600"/>
              </a:spcAft>
              <a:buNone/>
            </a:pPr>
            <a:r>
              <a:rPr lang="en-US" sz="1450" dirty="0">
                <a:solidFill>
                  <a:schemeClr val="tx1"/>
                </a:solidFill>
              </a:rPr>
              <a:t> use the co-registered values of all sensors at each pixel as one vector for a classifier (early fusion)</a:t>
            </a:r>
            <a:endParaRPr lang="en-US" sz="1400" dirty="0"/>
          </a:p>
          <a:p>
            <a:pPr marL="165100" indent="-165100">
              <a:spcAft>
                <a:spcPts val="600"/>
              </a:spcAft>
              <a:buSzPct val="100000"/>
              <a:buChar char="•"/>
            </a:pPr>
            <a:r>
              <a:rPr lang="en-US" sz="1450" dirty="0">
                <a:solidFill>
                  <a:schemeClr val="tx1"/>
                </a:solidFill>
              </a:rPr>
              <a:t>Both need accurate co-registration and a common grid</a:t>
            </a:r>
            <a:endParaRPr lang="en-US" sz="1400" dirty="0"/>
          </a:p>
        </p:txBody>
      </p:sp>
      <p:sp>
        <p:nvSpPr>
          <p:cNvPr id="11" name="Shape 9"/>
          <p:cNvSpPr/>
          <p:nvPr/>
        </p:nvSpPr>
        <p:spPr>
          <a:xfrm>
            <a:off x="6245352" y="1188720"/>
            <a:ext cx="5486400" cy="4069080"/>
          </a:xfrm>
          <a:prstGeom prst="roundRect">
            <a:avLst>
              <a:gd name="adj" fmla="val 1798"/>
            </a:avLst>
          </a:prstGeom>
          <a:solidFill>
            <a:schemeClr val="bg2"/>
          </a:solidFill>
          <a:ln/>
        </p:spPr>
      </p:sp>
      <p:sp>
        <p:nvSpPr>
          <p:cNvPr id="12" name="Shape 10"/>
          <p:cNvSpPr/>
          <p:nvPr/>
        </p:nvSpPr>
        <p:spPr>
          <a:xfrm>
            <a:off x="6245352" y="1298448"/>
            <a:ext cx="64008" cy="347472"/>
          </a:xfrm>
          <a:prstGeom prst="rect">
            <a:avLst/>
          </a:prstGeom>
          <a:solidFill>
            <a:schemeClr val="accent6"/>
          </a:solidFill>
          <a:ln/>
        </p:spPr>
      </p:sp>
      <p:sp>
        <p:nvSpPr>
          <p:cNvPr id="13" name="Text 11"/>
          <p:cNvSpPr txBox="1"/>
          <p:nvPr/>
        </p:nvSpPr>
        <p:spPr>
          <a:xfrm>
            <a:off x="6428232" y="1280160"/>
            <a:ext cx="5212080" cy="384048"/>
          </a:xfrm>
          <a:prstGeom prst="rect">
            <a:avLst/>
          </a:prstGeom>
          <a:noFill/>
          <a:ln/>
        </p:spPr>
        <p:txBody>
          <a:bodyPr wrap="square" lIns="0" tIns="0" rIns="0" bIns="0" rtlCol="0" anchor="ctr"/>
          <a:lstStyle/>
          <a:p>
            <a:pPr indent="0" marL="0">
              <a:buNone/>
            </a:pPr>
            <a:r>
              <a:rPr lang="en-US" sz="1600" b="1" dirty="0">
                <a:solidFill>
                  <a:schemeClr val="tx1"/>
                </a:solidFill>
              </a:rPr>
              <a:t>Method families</a:t>
            </a:r>
            <a:endParaRPr lang="en-US" sz="1600" dirty="0"/>
          </a:p>
        </p:txBody>
      </p:sp>
      <p:sp>
        <p:nvSpPr>
          <p:cNvPr id="14" name="Text 12"/>
          <p:cNvSpPr txBox="1"/>
          <p:nvPr/>
        </p:nvSpPr>
        <p:spPr>
          <a:xfrm>
            <a:off x="6428232" y="1719072"/>
            <a:ext cx="5166360" cy="3447288"/>
          </a:xfrm>
          <a:prstGeom prst="rect">
            <a:avLst/>
          </a:prstGeom>
          <a:noFill/>
          <a:ln/>
        </p:spPr>
        <p:txBody>
          <a:bodyPr wrap="square" lIns="0" tIns="0" rIns="0" bIns="0" rtlCol="0" anchor="t"/>
          <a:lstStyle/>
          <a:p>
            <a:pPr marL="165100" indent="-165100">
              <a:spcAft>
                <a:spcPts val="600"/>
              </a:spcAft>
              <a:buSzPct val="100000"/>
              <a:buChar char="•"/>
            </a:pPr>
            <a:r>
              <a:rPr lang="en-US" sz="1450" b="1" dirty="0">
                <a:solidFill>
                  <a:schemeClr val="tx1"/>
                </a:solidFill>
              </a:rPr>
              <a:t>Component substitution (CS):</a:t>
            </a:r>
            <a:pPr indent="0" marL="0">
              <a:spcAft>
                <a:spcPts val="600"/>
              </a:spcAft>
              <a:buNone/>
            </a:pPr>
            <a:r>
              <a:rPr lang="en-US" sz="1450" dirty="0">
                <a:solidFill>
                  <a:schemeClr val="tx1"/>
                </a:solidFill>
              </a:rPr>
              <a:t> IHS, PCA, Gram–Schmidt, Brovey</a:t>
            </a:r>
            <a:endParaRPr lang="en-US" sz="1400" dirty="0"/>
          </a:p>
          <a:p>
            <a:pPr marL="165100" indent="-165100">
              <a:spcAft>
                <a:spcPts val="600"/>
              </a:spcAft>
              <a:buSzPct val="100000"/>
              <a:buChar char="•"/>
            </a:pPr>
            <a:r>
              <a:rPr lang="en-US" sz="1450" b="1" dirty="0">
                <a:solidFill>
                  <a:schemeClr val="tx1"/>
                </a:solidFill>
              </a:rPr>
              <a:t>Multiresolution analysis (MRA):</a:t>
            </a:r>
            <a:pPr indent="0" marL="0">
              <a:spcAft>
                <a:spcPts val="600"/>
              </a:spcAft>
              <a:buNone/>
            </a:pPr>
            <a:r>
              <a:rPr lang="en-US" sz="1450" dirty="0">
                <a:solidFill>
                  <a:schemeClr val="tx1"/>
                </a:solidFill>
              </a:rPr>
              <a:t> wavelets, Laplacian pyramid, high-pass filtering</a:t>
            </a:r>
            <a:endParaRPr lang="en-US" sz="1400" dirty="0"/>
          </a:p>
          <a:p>
            <a:pPr marL="165100" indent="-165100">
              <a:spcAft>
                <a:spcPts val="600"/>
              </a:spcAft>
              <a:buSzPct val="100000"/>
              <a:buChar char="•"/>
            </a:pPr>
            <a:r>
              <a:rPr lang="en-US" sz="1450" b="1" dirty="0">
                <a:solidFill>
                  <a:schemeClr val="tx1"/>
                </a:solidFill>
              </a:rPr>
              <a:t>Model-based / variational / Bayesian</a:t>
            </a:r>
            <a:endParaRPr lang="en-US" sz="1400" dirty="0"/>
          </a:p>
          <a:p>
            <a:pPr marL="165100" indent="-165100">
              <a:spcAft>
                <a:spcPts val="600"/>
              </a:spcAft>
              <a:buSzPct val="100000"/>
              <a:buChar char="•"/>
            </a:pPr>
            <a:r>
              <a:rPr lang="en-US" sz="1450" b="1" dirty="0">
                <a:solidFill>
                  <a:schemeClr val="tx1"/>
                </a:solidFill>
              </a:rPr>
              <a:t>Unmixing-based</a:t>
            </a:r>
            <a:pPr indent="0" marL="0">
              <a:spcAft>
                <a:spcPts val="600"/>
              </a:spcAft>
              <a:buNone/>
            </a:pPr>
            <a:r>
              <a:rPr lang="en-US" sz="1450" dirty="0">
                <a:solidFill>
                  <a:schemeClr val="tx1"/>
                </a:solidFill>
              </a:rPr>
              <a:t> (e.g. coupled NMF for HS–MS)</a:t>
            </a:r>
            <a:endParaRPr lang="en-US" sz="1400" dirty="0"/>
          </a:p>
          <a:p>
            <a:pPr marL="165100" indent="-165100">
              <a:spcAft>
                <a:spcPts val="600"/>
              </a:spcAft>
              <a:buSzPct val="100000"/>
              <a:buChar char="•"/>
            </a:pPr>
            <a:r>
              <a:rPr lang="en-US" sz="1450" b="1" dirty="0">
                <a:solidFill>
                  <a:schemeClr val="tx1"/>
                </a:solidFill>
              </a:rPr>
              <a:t>Deep learning</a:t>
            </a:r>
            <a:pPr indent="0" marL="0">
              <a:spcAft>
                <a:spcPts val="600"/>
              </a:spcAft>
              <a:buNone/>
            </a:pPr>
            <a:r>
              <a:rPr lang="en-US" sz="1450" dirty="0">
                <a:solidFill>
                  <a:schemeClr val="tx1"/>
                </a:solidFill>
              </a:rPr>
              <a:t> (CNN/autoencoder fusion networks)</a:t>
            </a:r>
            <a:endParaRPr lang="en-US" sz="14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L1 · Component substitution vs multiresolution analysis</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PIXEL LEVEL</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if you sharpen MS or thermal with RGB detail, prefer MRA or regression-based methods and check that spectral/thermal values are preserved (next slides).</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Vivone et al. (2015) critical comparison of pansharpening; Ghassemian (2016); Agam et al. (2007) TsHARP thermal sharpening.</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2377440"/>
                <a:gridCol w="4206240"/>
                <a:gridCol w="2011680"/>
                <a:gridCol w="2679192"/>
              </a:tblGrid>
              <a:tr h="0">
                <a:tc>
                  <a:txBody>
                    <a:bodyPr/>
                    <a:lstStyle/>
                    <a:p>
                      <a:pPr indent="0" marL="0">
                        <a:buNone/>
                      </a:pPr>
                      <a:r>
                        <a:rPr lang="en-US" sz="1400" b="1" dirty="0">
                          <a:solidFill>
                            <a:schemeClr val="bg1"/>
                          </a:solidFill>
                        </a:rPr>
                        <a:t>Family</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How it works</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Strength</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Risk</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r>
              <a:tr h="0">
                <a:tc>
                  <a:txBody>
                    <a:bodyPr/>
                    <a:lstStyle/>
                    <a:p>
                      <a:pPr indent="0" marL="0">
                        <a:buNone/>
                      </a:pPr>
                      <a:r>
                        <a:rPr lang="en-US" sz="1400" dirty="0">
                          <a:solidFill>
                            <a:schemeClr val="tx1"/>
                          </a:solidFill>
                        </a:rPr>
                        <a:t>CS: IHS / PCA / Gram–Schmidt</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Transform the low-resolution image, replace the intensity / first component with the high-resolution band, invert</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Sharp, simple</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Spectral distortion if bands differ from the high-resolution band</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400" dirty="0">
                          <a:solidFill>
                            <a:schemeClr val="tx1"/>
                          </a:solidFill>
                        </a:rPr>
                        <a:t>MRA: wavelet / Laplacian / HPF</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Extract high-frequency detail from the high-resolution band and inject it into each low-resolution band</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Better spectral fidelity</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Possible spatial artefacts</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400" dirty="0">
                          <a:solidFill>
                            <a:schemeClr val="tx1"/>
                          </a:solidFill>
                        </a:rPr>
                        <a:t>Regression sharpening (e.g. TsHARP)</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Fit a relation between coarse thermal and a fine index (e.g. NDVI); predict fine thermal</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Physically motivated for thermal</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Relation may differ for diseased canopy</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bl>
          </a:graphicData>
        </a:graphic>
      </p:graphicFrame>
      <p:sp>
        <p:nvSpPr>
          <p:cNvPr id="8" name="Shape 5"/>
          <p:cNvSpPr/>
          <p:nvPr/>
        </p:nvSpPr>
        <p:spPr>
          <a:xfrm>
            <a:off x="457200" y="3840480"/>
            <a:ext cx="11274552" cy="685800"/>
          </a:xfrm>
          <a:prstGeom prst="roundRect">
            <a:avLst>
              <a:gd name="adj" fmla="val 10667"/>
            </a:avLst>
          </a:prstGeom>
          <a:solidFill>
            <a:schemeClr val="bg1"/>
          </a:solidFill>
          <a:ln w="15875">
            <a:solidFill>
              <a:schemeClr val="accent1"/>
            </a:solidFill>
            <a:prstDash val="solid"/>
          </a:ln>
        </p:spPr>
      </p:sp>
      <p:sp>
        <p:nvSpPr>
          <p:cNvPr id="9" name="Text 6"/>
          <p:cNvSpPr txBox="1"/>
          <p:nvPr/>
        </p:nvSpPr>
        <p:spPr>
          <a:xfrm>
            <a:off x="594360" y="3840480"/>
            <a:ext cx="11000232" cy="685800"/>
          </a:xfrm>
          <a:prstGeom prst="rect">
            <a:avLst/>
          </a:prstGeom>
          <a:noFill/>
          <a:ln/>
        </p:spPr>
        <p:txBody>
          <a:bodyPr wrap="square" lIns="0" tIns="0" rIns="0" bIns="0" rtlCol="0" anchor="ctr"/>
          <a:lstStyle/>
          <a:p>
            <a:pPr algn="ctr" indent="0" marL="0">
              <a:buNone/>
            </a:pPr>
            <a:r>
              <a:rPr lang="en-US" sz="1600" dirty="0">
                <a:solidFill>
                  <a:schemeClr val="tx1"/>
                </a:solidFill>
                <a:latin typeface="Cambria Math" pitchFamily="34" charset="0"/>
                <a:ea typeface="Cambria Math" pitchFamily="34" charset="-122"/>
                <a:cs typeface="Cambria Math" pitchFamily="34" charset="-120"/>
              </a:rPr>
              <a:t>MRA detail injection:  F_k = M̃_k + g_k · (P − P_L)     (M̃: upsampled band k; P: high-resolution band; P_L: its low-pass; g_k: gain)</a:t>
            </a:r>
            <a:endParaRPr lang="en-US" sz="16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L1 · Hyperspectral–multispectral and thermal–visible fusion</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PIXEL LEVEL</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HS–RGB fusion could give high-resolution spectral maps for within-plot hotspots; thermal–visible fusion mainly helps visual interpretation; neither replaces calibrated features.</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Yokoya et al. (2012) coupled NMF; Yokoya et al. (2017) HS–MS fusion review; Ma et al. (2019) IR–visible fusion survey; Li &amp; Wu (2019) DenseFuse.</a:t>
            </a:r>
            <a:endParaRPr lang="en-US" sz="1000" dirty="0"/>
          </a:p>
        </p:txBody>
      </p:sp>
      <p:sp>
        <p:nvSpPr>
          <p:cNvPr id="7" name="Shape 5"/>
          <p:cNvSpPr/>
          <p:nvPr/>
        </p:nvSpPr>
        <p:spPr>
          <a:xfrm>
            <a:off x="457200" y="1188720"/>
            <a:ext cx="5486400" cy="4069080"/>
          </a:xfrm>
          <a:prstGeom prst="roundRect">
            <a:avLst>
              <a:gd name="adj" fmla="val 1798"/>
            </a:avLst>
          </a:prstGeom>
          <a:solidFill>
            <a:schemeClr val="bg2"/>
          </a:solidFill>
          <a:ln/>
        </p:spPr>
      </p:sp>
      <p:sp>
        <p:nvSpPr>
          <p:cNvPr id="8" name="Shape 6"/>
          <p:cNvSpPr/>
          <p:nvPr/>
        </p:nvSpPr>
        <p:spPr>
          <a:xfrm>
            <a:off x="457200" y="1298448"/>
            <a:ext cx="64008" cy="347472"/>
          </a:xfrm>
          <a:prstGeom prst="rect">
            <a:avLst/>
          </a:prstGeom>
          <a:solidFill>
            <a:schemeClr val="accent6"/>
          </a:solidFill>
          <a:ln/>
        </p:spPr>
      </p:sp>
      <p:sp>
        <p:nvSpPr>
          <p:cNvPr id="9" name="Text 7"/>
          <p:cNvSpPr txBox="1"/>
          <p:nvPr/>
        </p:nvSpPr>
        <p:spPr>
          <a:xfrm>
            <a:off x="640080" y="1280160"/>
            <a:ext cx="5212080" cy="384048"/>
          </a:xfrm>
          <a:prstGeom prst="rect">
            <a:avLst/>
          </a:prstGeom>
          <a:noFill/>
          <a:ln/>
        </p:spPr>
        <p:txBody>
          <a:bodyPr wrap="square" lIns="0" tIns="0" rIns="0" bIns="0" rtlCol="0" anchor="ctr"/>
          <a:lstStyle/>
          <a:p>
            <a:pPr indent="0" marL="0">
              <a:buNone/>
            </a:pPr>
            <a:r>
              <a:rPr lang="en-US" sz="1600" b="1" dirty="0">
                <a:solidFill>
                  <a:schemeClr val="tx1"/>
                </a:solidFill>
              </a:rPr>
              <a:t>Hyperspectral + multispectral / RGB</a:t>
            </a:r>
            <a:endParaRPr lang="en-US" sz="1600" dirty="0"/>
          </a:p>
        </p:txBody>
      </p:sp>
      <p:sp>
        <p:nvSpPr>
          <p:cNvPr id="10" name="Text 8"/>
          <p:cNvSpPr txBox="1"/>
          <p:nvPr/>
        </p:nvSpPr>
        <p:spPr>
          <a:xfrm>
            <a:off x="640080" y="1719072"/>
            <a:ext cx="5166360" cy="3447288"/>
          </a:xfrm>
          <a:prstGeom prst="rect">
            <a:avLst/>
          </a:prstGeom>
          <a:noFill/>
          <a:ln/>
        </p:spPr>
        <p:txBody>
          <a:bodyPr wrap="square" lIns="0" tIns="0" rIns="0" bIns="0" rtlCol="0" anchor="t"/>
          <a:lstStyle/>
          <a:p>
            <a:pPr marL="165100" indent="-165100">
              <a:spcAft>
                <a:spcPts val="600"/>
              </a:spcAft>
              <a:buSzPct val="100000"/>
              <a:buChar char="•"/>
            </a:pPr>
            <a:r>
              <a:rPr lang="en-US" sz="1450" b="1" dirty="0">
                <a:solidFill>
                  <a:schemeClr val="tx1"/>
                </a:solidFill>
              </a:rPr>
              <a:t>Goal:</a:t>
            </a:r>
            <a:pPr indent="0" marL="0">
              <a:spcAft>
                <a:spcPts val="600"/>
              </a:spcAft>
              <a:buNone/>
            </a:pPr>
            <a:r>
              <a:rPr lang="en-US" sz="1450" dirty="0">
                <a:solidFill>
                  <a:schemeClr val="tx1"/>
                </a:solidFill>
              </a:rPr>
              <a:t> high spatial AND high spectral resolution</a:t>
            </a:r>
            <a:endParaRPr lang="en-US" sz="1400" dirty="0"/>
          </a:p>
          <a:p>
            <a:pPr marL="165100" indent="-165100">
              <a:spcAft>
                <a:spcPts val="600"/>
              </a:spcAft>
              <a:buSzPct val="100000"/>
              <a:buChar char="•"/>
            </a:pPr>
            <a:r>
              <a:rPr lang="en-US" sz="1450" b="1" dirty="0">
                <a:solidFill>
                  <a:schemeClr val="tx1"/>
                </a:solidFill>
              </a:rPr>
              <a:t>Unmixing-based:</a:t>
            </a:r>
            <a:pPr indent="0" marL="0">
              <a:spcAft>
                <a:spcPts val="600"/>
              </a:spcAft>
              <a:buNone/>
            </a:pPr>
            <a:r>
              <a:rPr lang="en-US" sz="1450" dirty="0">
                <a:solidFill>
                  <a:schemeClr val="tx1"/>
                </a:solidFill>
              </a:rPr>
              <a:t> coupled NMF estimates endmembers from HS and abundances from MS, then recombines</a:t>
            </a:r>
            <a:endParaRPr lang="en-US" sz="1400" dirty="0"/>
          </a:p>
          <a:p>
            <a:pPr marL="165100" indent="-165100">
              <a:spcAft>
                <a:spcPts val="600"/>
              </a:spcAft>
              <a:buSzPct val="100000"/>
              <a:buChar char="•"/>
            </a:pPr>
            <a:r>
              <a:rPr lang="en-US" sz="1450" b="1" dirty="0">
                <a:solidFill>
                  <a:schemeClr val="tx1"/>
                </a:solidFill>
              </a:rPr>
              <a:t>Bayesian / sparse / variational</a:t>
            </a:r>
            <a:pPr indent="0" marL="0">
              <a:spcAft>
                <a:spcPts val="600"/>
              </a:spcAft>
              <a:buNone/>
            </a:pPr>
            <a:r>
              <a:rPr lang="en-US" sz="1450" dirty="0">
                <a:solidFill>
                  <a:schemeClr val="tx1"/>
                </a:solidFill>
              </a:rPr>
              <a:t> methods</a:t>
            </a:r>
            <a:endParaRPr lang="en-US" sz="1400" dirty="0"/>
          </a:p>
          <a:p>
            <a:pPr marL="165100" indent="-165100">
              <a:spcAft>
                <a:spcPts val="600"/>
              </a:spcAft>
              <a:buSzPct val="100000"/>
              <a:buChar char="•"/>
            </a:pPr>
            <a:r>
              <a:rPr lang="en-US" sz="1450" b="1" dirty="0">
                <a:solidFill>
                  <a:schemeClr val="tx1"/>
                </a:solidFill>
              </a:rPr>
              <a:t>DL super-resolution</a:t>
            </a:r>
            <a:pPr indent="0" marL="0">
              <a:spcAft>
                <a:spcPts val="600"/>
              </a:spcAft>
              <a:buNone/>
            </a:pPr>
            <a:r>
              <a:rPr lang="en-US" sz="1450" dirty="0">
                <a:solidFill>
                  <a:schemeClr val="tx1"/>
                </a:solidFill>
              </a:rPr>
              <a:t> (CNN fusion networks)</a:t>
            </a:r>
            <a:endParaRPr lang="en-US" sz="1400" dirty="0"/>
          </a:p>
          <a:p>
            <a:pPr marL="165100" indent="-165100">
              <a:spcAft>
                <a:spcPts val="600"/>
              </a:spcAft>
              <a:buSzPct val="100000"/>
              <a:buChar char="•"/>
            </a:pPr>
            <a:r>
              <a:rPr lang="en-US" sz="1450" dirty="0">
                <a:solidFill>
                  <a:schemeClr val="tx1"/>
                </a:solidFill>
              </a:rPr>
              <a:t>Useful when HS is coarser than RGB/MS</a:t>
            </a:r>
            <a:endParaRPr lang="en-US" sz="1400" dirty="0"/>
          </a:p>
        </p:txBody>
      </p:sp>
      <p:sp>
        <p:nvSpPr>
          <p:cNvPr id="11" name="Shape 9"/>
          <p:cNvSpPr/>
          <p:nvPr/>
        </p:nvSpPr>
        <p:spPr>
          <a:xfrm>
            <a:off x="6245352" y="1188720"/>
            <a:ext cx="5486400" cy="4069080"/>
          </a:xfrm>
          <a:prstGeom prst="roundRect">
            <a:avLst>
              <a:gd name="adj" fmla="val 1798"/>
            </a:avLst>
          </a:prstGeom>
          <a:solidFill>
            <a:schemeClr val="bg2"/>
          </a:solidFill>
          <a:ln/>
        </p:spPr>
      </p:sp>
      <p:sp>
        <p:nvSpPr>
          <p:cNvPr id="12" name="Shape 10"/>
          <p:cNvSpPr/>
          <p:nvPr/>
        </p:nvSpPr>
        <p:spPr>
          <a:xfrm>
            <a:off x="6245352" y="1298448"/>
            <a:ext cx="64008" cy="347472"/>
          </a:xfrm>
          <a:prstGeom prst="rect">
            <a:avLst/>
          </a:prstGeom>
          <a:solidFill>
            <a:schemeClr val="accent4"/>
          </a:solidFill>
          <a:ln/>
        </p:spPr>
      </p:sp>
      <p:sp>
        <p:nvSpPr>
          <p:cNvPr id="13" name="Text 11"/>
          <p:cNvSpPr txBox="1"/>
          <p:nvPr/>
        </p:nvSpPr>
        <p:spPr>
          <a:xfrm>
            <a:off x="6428232" y="1280160"/>
            <a:ext cx="5212080" cy="384048"/>
          </a:xfrm>
          <a:prstGeom prst="rect">
            <a:avLst/>
          </a:prstGeom>
          <a:noFill/>
          <a:ln/>
        </p:spPr>
        <p:txBody>
          <a:bodyPr wrap="square" lIns="0" tIns="0" rIns="0" bIns="0" rtlCol="0" anchor="ctr"/>
          <a:lstStyle/>
          <a:p>
            <a:pPr indent="0" marL="0">
              <a:buNone/>
            </a:pPr>
            <a:r>
              <a:rPr lang="en-US" sz="1600" b="1" dirty="0">
                <a:solidFill>
                  <a:schemeClr val="tx1"/>
                </a:solidFill>
              </a:rPr>
              <a:t>Thermal + visible</a:t>
            </a:r>
            <a:endParaRPr lang="en-US" sz="1600" dirty="0"/>
          </a:p>
        </p:txBody>
      </p:sp>
      <p:sp>
        <p:nvSpPr>
          <p:cNvPr id="14" name="Text 12"/>
          <p:cNvSpPr txBox="1"/>
          <p:nvPr/>
        </p:nvSpPr>
        <p:spPr>
          <a:xfrm>
            <a:off x="6428232" y="1719072"/>
            <a:ext cx="5166360" cy="3447288"/>
          </a:xfrm>
          <a:prstGeom prst="rect">
            <a:avLst/>
          </a:prstGeom>
          <a:noFill/>
          <a:ln/>
        </p:spPr>
        <p:txBody>
          <a:bodyPr wrap="square" lIns="0" tIns="0" rIns="0" bIns="0" rtlCol="0" anchor="t"/>
          <a:lstStyle/>
          <a:p>
            <a:pPr marL="165100" indent="-165100">
              <a:spcAft>
                <a:spcPts val="600"/>
              </a:spcAft>
              <a:buSzPct val="100000"/>
              <a:buChar char="•"/>
            </a:pPr>
            <a:r>
              <a:rPr lang="en-US" sz="1450" b="1" dirty="0">
                <a:solidFill>
                  <a:schemeClr val="tx1"/>
                </a:solidFill>
              </a:rPr>
              <a:t>Goal:</a:t>
            </a:r>
            <a:pPr indent="0" marL="0">
              <a:spcAft>
                <a:spcPts val="600"/>
              </a:spcAft>
              <a:buNone/>
            </a:pPr>
            <a:r>
              <a:rPr lang="en-US" sz="1450" dirty="0">
                <a:solidFill>
                  <a:schemeClr val="tx1"/>
                </a:solidFill>
              </a:rPr>
              <a:t> one image with thermal targets and visible texture</a:t>
            </a:r>
            <a:endParaRPr lang="en-US" sz="1400" dirty="0"/>
          </a:p>
          <a:p>
            <a:pPr marL="165100" indent="-165100">
              <a:spcAft>
                <a:spcPts val="600"/>
              </a:spcAft>
              <a:buSzPct val="100000"/>
              <a:buChar char="•"/>
            </a:pPr>
            <a:r>
              <a:rPr lang="en-US" sz="1450" dirty="0">
                <a:solidFill>
                  <a:schemeClr val="tx1"/>
                </a:solidFill>
              </a:rPr>
              <a:t>Methods: MRA, sparse representation, DL (e.g. DenseFuse autoencoder)</a:t>
            </a:r>
            <a:endParaRPr lang="en-US" sz="1400" dirty="0"/>
          </a:p>
          <a:p>
            <a:pPr marL="165100" indent="-165100">
              <a:spcAft>
                <a:spcPts val="600"/>
              </a:spcAft>
              <a:buSzPct val="100000"/>
              <a:buChar char="•"/>
            </a:pPr>
            <a:r>
              <a:rPr lang="en-US" sz="1450" dirty="0">
                <a:solidFill>
                  <a:schemeClr val="tx1"/>
                </a:solidFill>
              </a:rPr>
              <a:t>Fused images are mostly for </a:t>
            </a:r>
            <a:pPr indent="0" marL="0">
              <a:spcAft>
                <a:spcPts val="600"/>
              </a:spcAft>
              <a:buNone/>
            </a:pPr>
            <a:r>
              <a:rPr lang="en-US" sz="1450" b="1" dirty="0">
                <a:solidFill>
                  <a:schemeClr val="tx1"/>
                </a:solidFill>
              </a:rPr>
              <a:t>visualisation</a:t>
            </a:r>
            <a:pPr indent="0" marL="0">
              <a:spcAft>
                <a:spcPts val="600"/>
              </a:spcAft>
              <a:buNone/>
            </a:pPr>
            <a:r>
              <a:rPr lang="en-US" sz="1450" dirty="0">
                <a:solidFill>
                  <a:schemeClr val="tx1"/>
                </a:solidFill>
              </a:rPr>
              <a:t>; their pixel values are no longer °C</a:t>
            </a:r>
            <a:endParaRPr lang="en-US" sz="1400" dirty="0"/>
          </a:p>
          <a:p>
            <a:pPr marL="165100" indent="-165100">
              <a:spcAft>
                <a:spcPts val="600"/>
              </a:spcAft>
              <a:buSzPct val="100000"/>
              <a:buChar char="•"/>
            </a:pPr>
            <a:r>
              <a:rPr lang="en-US" sz="1450" b="1" dirty="0">
                <a:solidFill>
                  <a:schemeClr val="tx1"/>
                </a:solidFill>
              </a:rPr>
              <a:t>Quantitative alternative:</a:t>
            </a:r>
            <a:pPr indent="0" marL="0">
              <a:spcAft>
                <a:spcPts val="600"/>
              </a:spcAft>
              <a:buNone/>
            </a:pPr>
            <a:r>
              <a:rPr lang="en-US" sz="1450" dirty="0">
                <a:solidFill>
                  <a:schemeClr val="tx1"/>
                </a:solidFill>
              </a:rPr>
              <a:t> use the visible mask to select pure leaf thermal pixels (data-level)</a:t>
            </a:r>
            <a:endParaRPr lang="en-US" sz="14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L1 · Quality assessment of fused images</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PIXEL LEVEL</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any fused image used for features must pass spectral-fidelity checks (SAM, ERGAS) against the original sensor; otherwise use the original bands.</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Wald et al. (1997) protocol; Wang et al. (2004) SSIM; Alparone et al. (2008) QNR; Vivone et al. (2015).</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2743200"/>
                <a:gridCol w="6400800"/>
                <a:gridCol w="2130552"/>
              </a:tblGrid>
              <a:tr h="0">
                <a:tc>
                  <a:txBody>
                    <a:bodyPr/>
                    <a:lstStyle/>
                    <a:p>
                      <a:pPr indent="0" marL="0">
                        <a:buNone/>
                      </a:pPr>
                      <a:r>
                        <a:rPr lang="en-US" sz="1400" b="1" dirty="0">
                          <a:solidFill>
                            <a:schemeClr val="bg1"/>
                          </a:solidFill>
                        </a:rPr>
                        <a:t>Metric</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Measures</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Ideal</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r>
              <a:tr h="0">
                <a:tc>
                  <a:txBody>
                    <a:bodyPr/>
                    <a:lstStyle/>
                    <a:p>
                      <a:pPr indent="0" marL="0">
                        <a:buNone/>
                      </a:pPr>
                      <a:r>
                        <a:rPr lang="en-US" sz="1400" dirty="0">
                          <a:solidFill>
                            <a:schemeClr val="tx1"/>
                          </a:solidFill>
                        </a:rPr>
                        <a:t>Wald protocol</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Consistency: fused image degraded back to low resolution ≈ original; synthesis at reduced scale</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Close agreement</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400" dirty="0">
                          <a:solidFill>
                            <a:schemeClr val="tx1"/>
                          </a:solidFill>
                        </a:rPr>
                        <a:t>SAM (spectral angle mapper)</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Spectral distortion per pixel (angle between spectra)</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0°</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400" dirty="0">
                          <a:solidFill>
                            <a:schemeClr val="tx1"/>
                          </a:solidFill>
                        </a:rPr>
                        <a:t>ERGAS</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Relative global error across bands, scaled by resolution ratio</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Low</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400" dirty="0">
                          <a:solidFill>
                            <a:schemeClr val="tx1"/>
                          </a:solidFill>
                        </a:rPr>
                        <a:t>SSIM</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Structural similarity of images</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1</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400" dirty="0">
                          <a:solidFill>
                            <a:schemeClr val="tx1"/>
                          </a:solidFill>
                        </a:rPr>
                        <a:t>Q2n / Q4</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Joint spectral-spatial quality index</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1</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400" dirty="0">
                          <a:solidFill>
                            <a:schemeClr val="tx1"/>
                          </a:solidFill>
                        </a:rPr>
                        <a:t>QNR (no reference)</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Spectral and spatial distortion without a reference image</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1</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L1 · Pixel-level classification with a stacked cube (ML and DL)</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PIXEL LEVEL</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your labels are plot-level, so pixel classifiers need weak supervision (slide 33) or quadrat/pixel annotations; never split pixels of one plot between training and test.</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Kerkech et al. (2020a) SegNet on visible/IR; Pan et al. (2021) PSPNet; Roberts et al. (2017) blocked CV; Ronneberger et al. (2015) U-Net; Breiman (2001); Cortes &amp; Vapnik (1995).</a:t>
            </a:r>
            <a:endParaRPr lang="en-US" sz="1000" dirty="0"/>
          </a:p>
        </p:txBody>
      </p:sp>
      <p:sp>
        <p:nvSpPr>
          <p:cNvPr id="7" name="Shape 5"/>
          <p:cNvSpPr/>
          <p:nvPr/>
        </p:nvSpPr>
        <p:spPr>
          <a:xfrm>
            <a:off x="457200" y="1188720"/>
            <a:ext cx="3657600" cy="4069080"/>
          </a:xfrm>
          <a:prstGeom prst="roundRect">
            <a:avLst>
              <a:gd name="adj" fmla="val 2000"/>
            </a:avLst>
          </a:prstGeom>
          <a:solidFill>
            <a:schemeClr val="bg2"/>
          </a:solidFill>
          <a:ln/>
        </p:spPr>
      </p:sp>
      <p:sp>
        <p:nvSpPr>
          <p:cNvPr id="8" name="Shape 6"/>
          <p:cNvSpPr/>
          <p:nvPr/>
        </p:nvSpPr>
        <p:spPr>
          <a:xfrm>
            <a:off x="457200" y="1298448"/>
            <a:ext cx="64008" cy="347472"/>
          </a:xfrm>
          <a:prstGeom prst="rect">
            <a:avLst/>
          </a:prstGeom>
          <a:solidFill>
            <a:schemeClr val="accent1"/>
          </a:solidFill>
          <a:ln/>
        </p:spPr>
      </p:sp>
      <p:sp>
        <p:nvSpPr>
          <p:cNvPr id="9" name="Text 7"/>
          <p:cNvSpPr txBox="1"/>
          <p:nvPr/>
        </p:nvSpPr>
        <p:spPr>
          <a:xfrm>
            <a:off x="640080" y="1280160"/>
            <a:ext cx="3383280" cy="384048"/>
          </a:xfrm>
          <a:prstGeom prst="rect">
            <a:avLst/>
          </a:prstGeom>
          <a:noFill/>
          <a:ln/>
        </p:spPr>
        <p:txBody>
          <a:bodyPr wrap="square" lIns="0" tIns="0" rIns="0" bIns="0" rtlCol="0" anchor="ctr"/>
          <a:lstStyle/>
          <a:p>
            <a:pPr indent="0" marL="0">
              <a:buNone/>
            </a:pPr>
            <a:r>
              <a:rPr lang="en-US" sz="1600" b="1" dirty="0">
                <a:solidFill>
                  <a:schemeClr val="tx1"/>
                </a:solidFill>
              </a:rPr>
              <a:t>ML per pixel</a:t>
            </a:r>
            <a:endParaRPr lang="en-US" sz="1600" dirty="0"/>
          </a:p>
        </p:txBody>
      </p:sp>
      <p:sp>
        <p:nvSpPr>
          <p:cNvPr id="10" name="Text 8"/>
          <p:cNvSpPr txBox="1"/>
          <p:nvPr/>
        </p:nvSpPr>
        <p:spPr>
          <a:xfrm>
            <a:off x="640080" y="1719072"/>
            <a:ext cx="3337560" cy="3447288"/>
          </a:xfrm>
          <a:prstGeom prst="rect">
            <a:avLst/>
          </a:prstGeom>
          <a:noFill/>
          <a:ln/>
        </p:spPr>
        <p:txBody>
          <a:bodyPr wrap="square" lIns="0" tIns="0" rIns="0" bIns="0" rtlCol="0" anchor="t"/>
          <a:lstStyle/>
          <a:p>
            <a:pPr marL="165100" indent="-165100">
              <a:spcAft>
                <a:spcPts val="600"/>
              </a:spcAft>
              <a:buSzPct val="100000"/>
              <a:buChar char="•"/>
            </a:pPr>
            <a:r>
              <a:rPr lang="en-US" sz="1450" dirty="0">
                <a:solidFill>
                  <a:schemeClr val="tx1"/>
                </a:solidFill>
              </a:rPr>
              <a:t>Input: pixel vector [RGB, MS, HS, TIR]</a:t>
            </a:r>
            <a:endParaRPr lang="en-US" sz="1400" dirty="0"/>
          </a:p>
          <a:p>
            <a:pPr marL="165100" indent="-165100">
              <a:spcAft>
                <a:spcPts val="600"/>
              </a:spcAft>
              <a:buSzPct val="100000"/>
              <a:buChar char="•"/>
            </a:pPr>
            <a:r>
              <a:rPr lang="en-US" sz="1450" dirty="0">
                <a:solidFill>
                  <a:schemeClr val="tx1"/>
                </a:solidFill>
              </a:rPr>
              <a:t>Classifier: RF, SVM, KNN</a:t>
            </a:r>
            <a:endParaRPr lang="en-US" sz="1400" dirty="0"/>
          </a:p>
          <a:p>
            <a:pPr marL="165100" indent="-165100">
              <a:spcAft>
                <a:spcPts val="600"/>
              </a:spcAft>
              <a:buSzPct val="100000"/>
              <a:buChar char="•"/>
            </a:pPr>
            <a:r>
              <a:rPr lang="en-US" sz="1450" dirty="0">
                <a:solidFill>
                  <a:schemeClr val="tx1"/>
                </a:solidFill>
              </a:rPr>
              <a:t>Needs pixel labels (annotated lesions/healthy tissue)</a:t>
            </a:r>
            <a:endParaRPr lang="en-US" sz="1400" dirty="0"/>
          </a:p>
          <a:p>
            <a:pPr marL="165100" indent="-165100">
              <a:spcAft>
                <a:spcPts val="600"/>
              </a:spcAft>
              <a:buSzPct val="100000"/>
              <a:buChar char="•"/>
            </a:pPr>
            <a:r>
              <a:rPr lang="en-US" sz="1450" dirty="0">
                <a:solidFill>
                  <a:schemeClr val="tx1"/>
                </a:solidFill>
              </a:rPr>
              <a:t>No spatial context unless texture added</a:t>
            </a:r>
            <a:endParaRPr lang="en-US" sz="1400" dirty="0"/>
          </a:p>
        </p:txBody>
      </p:sp>
      <p:sp>
        <p:nvSpPr>
          <p:cNvPr id="11" name="Shape 9"/>
          <p:cNvSpPr/>
          <p:nvPr/>
        </p:nvSpPr>
        <p:spPr>
          <a:xfrm>
            <a:off x="4270248" y="1188720"/>
            <a:ext cx="3657600" cy="4069080"/>
          </a:xfrm>
          <a:prstGeom prst="roundRect">
            <a:avLst>
              <a:gd name="adj" fmla="val 2000"/>
            </a:avLst>
          </a:prstGeom>
          <a:solidFill>
            <a:schemeClr val="bg2"/>
          </a:solidFill>
          <a:ln/>
        </p:spPr>
      </p:sp>
      <p:sp>
        <p:nvSpPr>
          <p:cNvPr id="12" name="Shape 10"/>
          <p:cNvSpPr/>
          <p:nvPr/>
        </p:nvSpPr>
        <p:spPr>
          <a:xfrm>
            <a:off x="4270248" y="1298448"/>
            <a:ext cx="64008" cy="347472"/>
          </a:xfrm>
          <a:prstGeom prst="rect">
            <a:avLst/>
          </a:prstGeom>
          <a:solidFill>
            <a:schemeClr val="accent6"/>
          </a:solidFill>
          <a:ln/>
        </p:spPr>
      </p:sp>
      <p:sp>
        <p:nvSpPr>
          <p:cNvPr id="13" name="Text 11"/>
          <p:cNvSpPr txBox="1"/>
          <p:nvPr/>
        </p:nvSpPr>
        <p:spPr>
          <a:xfrm>
            <a:off x="4453128" y="1280160"/>
            <a:ext cx="3383280" cy="384048"/>
          </a:xfrm>
          <a:prstGeom prst="rect">
            <a:avLst/>
          </a:prstGeom>
          <a:noFill/>
          <a:ln/>
        </p:spPr>
        <p:txBody>
          <a:bodyPr wrap="square" lIns="0" tIns="0" rIns="0" bIns="0" rtlCol="0" anchor="ctr"/>
          <a:lstStyle/>
          <a:p>
            <a:pPr indent="0" marL="0">
              <a:buNone/>
            </a:pPr>
            <a:r>
              <a:rPr lang="en-US" sz="1600" b="1" dirty="0">
                <a:solidFill>
                  <a:schemeClr val="tx1"/>
                </a:solidFill>
              </a:rPr>
              <a:t>DL per pixel / patch</a:t>
            </a:r>
            <a:endParaRPr lang="en-US" sz="1600" dirty="0"/>
          </a:p>
        </p:txBody>
      </p:sp>
      <p:sp>
        <p:nvSpPr>
          <p:cNvPr id="14" name="Text 12"/>
          <p:cNvSpPr txBox="1"/>
          <p:nvPr/>
        </p:nvSpPr>
        <p:spPr>
          <a:xfrm>
            <a:off x="4453128" y="1719072"/>
            <a:ext cx="3337560" cy="3447288"/>
          </a:xfrm>
          <a:prstGeom prst="rect">
            <a:avLst/>
          </a:prstGeom>
          <a:noFill/>
          <a:ln/>
        </p:spPr>
        <p:txBody>
          <a:bodyPr wrap="square" lIns="0" tIns="0" rIns="0" bIns="0" rtlCol="0" anchor="t"/>
          <a:lstStyle/>
          <a:p>
            <a:pPr marL="165100" indent="-165100">
              <a:spcAft>
                <a:spcPts val="600"/>
              </a:spcAft>
              <a:buSzPct val="100000"/>
              <a:buChar char="•"/>
            </a:pPr>
            <a:r>
              <a:rPr lang="en-US" sz="1450" dirty="0">
                <a:solidFill>
                  <a:schemeClr val="tx1"/>
                </a:solidFill>
              </a:rPr>
              <a:t>Patch CNN (centre pixel label) or segmentation (U-Net, SegNet, PSPNet)</a:t>
            </a:r>
            <a:endParaRPr lang="en-US" sz="1400" dirty="0"/>
          </a:p>
          <a:p>
            <a:pPr marL="165100" indent="-165100">
              <a:spcAft>
                <a:spcPts val="600"/>
              </a:spcAft>
              <a:buSzPct val="100000"/>
              <a:buChar char="•"/>
            </a:pPr>
            <a:r>
              <a:rPr lang="en-US" sz="1450" dirty="0">
                <a:solidFill>
                  <a:schemeClr val="tx1"/>
                </a:solidFill>
              </a:rPr>
              <a:t>Early fusion: stack all channels at input</a:t>
            </a:r>
            <a:endParaRPr lang="en-US" sz="1400" dirty="0"/>
          </a:p>
          <a:p>
            <a:pPr marL="165100" indent="-165100">
              <a:spcAft>
                <a:spcPts val="600"/>
              </a:spcAft>
              <a:buSzPct val="100000"/>
              <a:buChar char="•"/>
            </a:pPr>
            <a:r>
              <a:rPr lang="en-US" sz="1450" dirty="0">
                <a:solidFill>
                  <a:schemeClr val="tx1"/>
                </a:solidFill>
              </a:rPr>
              <a:t>Learns spatial-spectral patterns</a:t>
            </a:r>
            <a:endParaRPr lang="en-US" sz="1400" dirty="0"/>
          </a:p>
          <a:p>
            <a:pPr marL="165100" indent="-165100">
              <a:spcAft>
                <a:spcPts val="600"/>
              </a:spcAft>
              <a:buSzPct val="100000"/>
              <a:buChar char="•"/>
            </a:pPr>
            <a:r>
              <a:rPr lang="en-US" sz="1450" dirty="0">
                <a:solidFill>
                  <a:schemeClr val="tx1"/>
                </a:solidFill>
              </a:rPr>
              <a:t>Needs many labelled pixels / masks</a:t>
            </a:r>
            <a:endParaRPr lang="en-US" sz="1400" dirty="0"/>
          </a:p>
        </p:txBody>
      </p:sp>
      <p:sp>
        <p:nvSpPr>
          <p:cNvPr id="15" name="Shape 13"/>
          <p:cNvSpPr/>
          <p:nvPr/>
        </p:nvSpPr>
        <p:spPr>
          <a:xfrm>
            <a:off x="8074152" y="1188720"/>
            <a:ext cx="3657600" cy="4069080"/>
          </a:xfrm>
          <a:prstGeom prst="roundRect">
            <a:avLst>
              <a:gd name="adj" fmla="val 2000"/>
            </a:avLst>
          </a:prstGeom>
          <a:solidFill>
            <a:schemeClr val="bg2"/>
          </a:solidFill>
          <a:ln/>
        </p:spPr>
      </p:sp>
      <p:sp>
        <p:nvSpPr>
          <p:cNvPr id="16" name="Shape 14"/>
          <p:cNvSpPr/>
          <p:nvPr/>
        </p:nvSpPr>
        <p:spPr>
          <a:xfrm>
            <a:off x="8074152" y="1298448"/>
            <a:ext cx="64008" cy="347472"/>
          </a:xfrm>
          <a:prstGeom prst="rect">
            <a:avLst/>
          </a:prstGeom>
          <a:solidFill>
            <a:schemeClr val="accent4"/>
          </a:solidFill>
          <a:ln/>
        </p:spPr>
      </p:sp>
      <p:sp>
        <p:nvSpPr>
          <p:cNvPr id="17" name="Text 15"/>
          <p:cNvSpPr txBox="1"/>
          <p:nvPr/>
        </p:nvSpPr>
        <p:spPr>
          <a:xfrm>
            <a:off x="8257032" y="1280160"/>
            <a:ext cx="3383280" cy="384048"/>
          </a:xfrm>
          <a:prstGeom prst="rect">
            <a:avLst/>
          </a:prstGeom>
          <a:noFill/>
          <a:ln/>
        </p:spPr>
        <p:txBody>
          <a:bodyPr wrap="square" lIns="0" tIns="0" rIns="0" bIns="0" rtlCol="0" anchor="ctr"/>
          <a:lstStyle/>
          <a:p>
            <a:pPr indent="0" marL="0">
              <a:buNone/>
            </a:pPr>
            <a:r>
              <a:rPr lang="en-US" sz="1600" b="1" dirty="0">
                <a:solidFill>
                  <a:schemeClr val="tx1"/>
                </a:solidFill>
              </a:rPr>
              <a:t>Label problem</a:t>
            </a:r>
            <a:endParaRPr lang="en-US" sz="1600" dirty="0"/>
          </a:p>
        </p:txBody>
      </p:sp>
      <p:sp>
        <p:nvSpPr>
          <p:cNvPr id="18" name="Text 16"/>
          <p:cNvSpPr txBox="1"/>
          <p:nvPr/>
        </p:nvSpPr>
        <p:spPr>
          <a:xfrm>
            <a:off x="8257032" y="1719072"/>
            <a:ext cx="3337560" cy="3447288"/>
          </a:xfrm>
          <a:prstGeom prst="rect">
            <a:avLst/>
          </a:prstGeom>
          <a:noFill/>
          <a:ln/>
        </p:spPr>
        <p:txBody>
          <a:bodyPr wrap="square" lIns="0" tIns="0" rIns="0" bIns="0" rtlCol="0" anchor="t"/>
          <a:lstStyle/>
          <a:p>
            <a:pPr marL="165100" indent="-165100">
              <a:spcAft>
                <a:spcPts val="600"/>
              </a:spcAft>
              <a:buSzPct val="100000"/>
              <a:buChar char="•"/>
            </a:pPr>
            <a:r>
              <a:rPr lang="en-US" sz="1450" dirty="0">
                <a:solidFill>
                  <a:schemeClr val="tx1"/>
                </a:solidFill>
              </a:rPr>
              <a:t>Plot DI ≠ pixel severity (change of support)</a:t>
            </a:r>
            <a:endParaRPr lang="en-US" sz="1400" dirty="0"/>
          </a:p>
          <a:p>
            <a:pPr marL="165100" indent="-165100">
              <a:spcAft>
                <a:spcPts val="600"/>
              </a:spcAft>
              <a:buSzPct val="100000"/>
              <a:buChar char="•"/>
            </a:pPr>
            <a:r>
              <a:rPr lang="en-US" sz="1450" dirty="0">
                <a:solidFill>
                  <a:schemeClr val="tx1"/>
                </a:solidFill>
              </a:rPr>
              <a:t>Options: annotate mm-scale RGB of quadrats; weak supervision (MIL, label proportions); unmixing fractions</a:t>
            </a:r>
            <a:endParaRPr lang="en-US" sz="1400" dirty="0"/>
          </a:p>
          <a:p>
            <a:pPr marL="165100" indent="-165100">
              <a:spcAft>
                <a:spcPts val="600"/>
              </a:spcAft>
              <a:buSzPct val="100000"/>
              <a:buChar char="•"/>
            </a:pPr>
            <a:r>
              <a:rPr lang="en-US" sz="1450" b="1" dirty="0">
                <a:solidFill>
                  <a:schemeClr val="tx1"/>
                </a:solidFill>
              </a:rPr>
              <a:t>Split by plot:</a:t>
            </a:r>
            <a:pPr indent="0" marL="0">
              <a:spcAft>
                <a:spcPts val="600"/>
              </a:spcAft>
              <a:buNone/>
            </a:pPr>
            <a:r>
              <a:rPr lang="en-US" sz="1450" dirty="0">
                <a:solidFill>
                  <a:schemeClr val="tx1"/>
                </a:solidFill>
              </a:rPr>
              <a:t> pixel-level random splits inflate accuracy</a:t>
            </a:r>
            <a:endParaRPr lang="en-US" sz="14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L2 · Feature-level fusion: concept</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FEATURE LEVEL</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this is the core of MuDAS-AI (Phases 1–3); it tolerates small misregistration and different resolutions because each sensor is summarised per plot first.</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Pohl &amp; Van Genderen (1998); Gómez-Chova et al. (2015); Maimaitijiang et al. (2020); Feng et al. (2022).</a:t>
            </a:r>
            <a:endParaRPr lang="en-US" sz="1000" dirty="0"/>
          </a:p>
        </p:txBody>
      </p:sp>
      <p:sp>
        <p:nvSpPr>
          <p:cNvPr id="7" name="Text 5"/>
          <p:cNvSpPr/>
          <p:nvPr/>
        </p:nvSpPr>
        <p:spPr>
          <a:xfrm>
            <a:off x="457200" y="1188720"/>
            <a:ext cx="1802892" cy="868680"/>
          </a:xfrm>
          <a:prstGeom prst="homePlate">
            <a:avLst/>
          </a:prstGeom>
          <a:solidFill>
            <a:schemeClr val="accent1"/>
          </a:solidFill>
          <a:ln/>
        </p:spPr>
        <p:txBody>
          <a:bodyPr wrap="square" lIns="0" tIns="50800" rIns="63500" bIns="0" rtlCol="0" anchor="ctr"/>
          <a:lstStyle/>
          <a:p>
            <a:pPr algn="ctr" indent="0" marL="0">
              <a:buNone/>
            </a:pPr>
            <a:r>
              <a:rPr lang="en-US" sz="1200" b="1" dirty="0">
                <a:solidFill>
                  <a:schemeClr val="bg1"/>
                </a:solidFill>
              </a:rPr>
              <a:t>Masked images</a:t>
            </a:r>
            <a:endParaRPr lang="en-US" sz="1200" dirty="0"/>
          </a:p>
        </p:txBody>
      </p:sp>
      <p:sp>
        <p:nvSpPr>
          <p:cNvPr id="8" name="Text 6"/>
          <p:cNvSpPr/>
          <p:nvPr/>
        </p:nvSpPr>
        <p:spPr>
          <a:xfrm>
            <a:off x="2351532" y="1188720"/>
            <a:ext cx="1802892" cy="868680"/>
          </a:xfrm>
          <a:prstGeom prst="chevron">
            <a:avLst/>
          </a:prstGeom>
          <a:solidFill>
            <a:schemeClr val="accent1"/>
          </a:solidFill>
          <a:ln/>
        </p:spPr>
        <p:txBody>
          <a:bodyPr wrap="square" lIns="0" tIns="139700" rIns="63500" bIns="0" rtlCol="0" anchor="ctr"/>
          <a:lstStyle/>
          <a:p>
            <a:pPr algn="ctr" indent="0" marL="0">
              <a:buNone/>
            </a:pPr>
            <a:r>
              <a:rPr lang="en-US" sz="1200" b="1" dirty="0">
                <a:solidFill>
                  <a:schemeClr val="bg1"/>
                </a:solidFill>
              </a:rPr>
              <a:t>Features</a:t>
            </a:r>
            <a:endParaRPr lang="en-US" sz="1200" dirty="0"/>
          </a:p>
        </p:txBody>
      </p:sp>
      <p:sp>
        <p:nvSpPr>
          <p:cNvPr id="9" name="Text 7"/>
          <p:cNvSpPr/>
          <p:nvPr/>
        </p:nvSpPr>
        <p:spPr>
          <a:xfrm>
            <a:off x="4245864" y="1188720"/>
            <a:ext cx="1802892" cy="868680"/>
          </a:xfrm>
          <a:prstGeom prst="chevron">
            <a:avLst/>
          </a:prstGeom>
          <a:solidFill>
            <a:schemeClr val="accent2"/>
          </a:solidFill>
          <a:ln/>
        </p:spPr>
        <p:txBody>
          <a:bodyPr wrap="square" lIns="0" tIns="139700" rIns="63500" bIns="0" rtlCol="0" anchor="ctr"/>
          <a:lstStyle/>
          <a:p>
            <a:pPr algn="ctr" indent="0" marL="0">
              <a:buNone/>
            </a:pPr>
            <a:r>
              <a:rPr lang="en-US" sz="1200" b="1" dirty="0">
                <a:solidFill>
                  <a:schemeClr val="bg1"/>
                </a:solidFill>
              </a:rPr>
              <a:t>Scale</a:t>
            </a:r>
            <a:endParaRPr lang="en-US" sz="1200" dirty="0"/>
          </a:p>
        </p:txBody>
      </p:sp>
      <p:sp>
        <p:nvSpPr>
          <p:cNvPr id="10" name="Text 8"/>
          <p:cNvSpPr/>
          <p:nvPr/>
        </p:nvSpPr>
        <p:spPr>
          <a:xfrm>
            <a:off x="6140196" y="1188720"/>
            <a:ext cx="1802892" cy="868680"/>
          </a:xfrm>
          <a:prstGeom prst="chevron">
            <a:avLst/>
          </a:prstGeom>
          <a:solidFill>
            <a:schemeClr val="accent2"/>
          </a:solidFill>
          <a:ln/>
        </p:spPr>
        <p:txBody>
          <a:bodyPr wrap="square" lIns="0" tIns="139700" rIns="63500" bIns="0" rtlCol="0" anchor="ctr"/>
          <a:lstStyle/>
          <a:p>
            <a:pPr algn="ctr" indent="0" marL="0">
              <a:buNone/>
            </a:pPr>
            <a:r>
              <a:rPr lang="en-US" sz="1200" b="1" dirty="0">
                <a:solidFill>
                  <a:schemeClr val="bg1"/>
                </a:solidFill>
              </a:rPr>
              <a:t>Concat</a:t>
            </a:r>
            <a:endParaRPr lang="en-US" sz="1200" dirty="0"/>
          </a:p>
        </p:txBody>
      </p:sp>
      <p:sp>
        <p:nvSpPr>
          <p:cNvPr id="11" name="Text 9"/>
          <p:cNvSpPr/>
          <p:nvPr/>
        </p:nvSpPr>
        <p:spPr>
          <a:xfrm>
            <a:off x="8034528" y="1188720"/>
            <a:ext cx="1802892" cy="868680"/>
          </a:xfrm>
          <a:prstGeom prst="chevron">
            <a:avLst/>
          </a:prstGeom>
          <a:solidFill>
            <a:schemeClr val="accent3"/>
          </a:solidFill>
          <a:ln/>
        </p:spPr>
        <p:txBody>
          <a:bodyPr wrap="square" lIns="0" tIns="139700" rIns="63500" bIns="0" rtlCol="0" anchor="ctr"/>
          <a:lstStyle/>
          <a:p>
            <a:pPr algn="ctr" indent="0" marL="0">
              <a:buNone/>
            </a:pPr>
            <a:r>
              <a:rPr lang="en-US" sz="1200" b="1" dirty="0">
                <a:solidFill>
                  <a:schemeClr val="bg1"/>
                </a:solidFill>
              </a:rPr>
              <a:t>Select</a:t>
            </a:r>
            <a:endParaRPr lang="en-US" sz="1200" dirty="0"/>
          </a:p>
        </p:txBody>
      </p:sp>
      <p:sp>
        <p:nvSpPr>
          <p:cNvPr id="12" name="Text 10"/>
          <p:cNvSpPr/>
          <p:nvPr/>
        </p:nvSpPr>
        <p:spPr>
          <a:xfrm>
            <a:off x="9928860" y="1188720"/>
            <a:ext cx="1802892" cy="868680"/>
          </a:xfrm>
          <a:prstGeom prst="chevron">
            <a:avLst/>
          </a:prstGeom>
          <a:solidFill>
            <a:schemeClr val="tx2"/>
          </a:solidFill>
          <a:ln/>
        </p:spPr>
        <p:txBody>
          <a:bodyPr wrap="square" lIns="0" tIns="139700" rIns="63500" bIns="0" rtlCol="0" anchor="ctr"/>
          <a:lstStyle/>
          <a:p>
            <a:pPr algn="ctr" indent="0" marL="0">
              <a:buNone/>
            </a:pPr>
            <a:r>
              <a:rPr lang="en-US" sz="1200" b="1" dirty="0">
                <a:solidFill>
                  <a:schemeClr val="bg1"/>
                </a:solidFill>
              </a:rPr>
              <a:t>Classify</a:t>
            </a:r>
            <a:endParaRPr lang="en-US" sz="1200" dirty="0"/>
          </a:p>
        </p:txBody>
      </p:sp>
      <p:sp>
        <p:nvSpPr>
          <p:cNvPr id="13" name="Shape 11"/>
          <p:cNvSpPr/>
          <p:nvPr/>
        </p:nvSpPr>
        <p:spPr>
          <a:xfrm>
            <a:off x="457200" y="2240280"/>
            <a:ext cx="5486400" cy="3017520"/>
          </a:xfrm>
          <a:prstGeom prst="roundRect">
            <a:avLst>
              <a:gd name="adj" fmla="val 2424"/>
            </a:avLst>
          </a:prstGeom>
          <a:solidFill>
            <a:schemeClr val="bg2"/>
          </a:solidFill>
          <a:ln/>
        </p:spPr>
      </p:sp>
      <p:sp>
        <p:nvSpPr>
          <p:cNvPr id="14" name="Shape 12"/>
          <p:cNvSpPr/>
          <p:nvPr/>
        </p:nvSpPr>
        <p:spPr>
          <a:xfrm>
            <a:off x="457200" y="2350008"/>
            <a:ext cx="64008" cy="347472"/>
          </a:xfrm>
          <a:prstGeom prst="rect">
            <a:avLst/>
          </a:prstGeom>
          <a:solidFill>
            <a:schemeClr val="accent2"/>
          </a:solidFill>
          <a:ln/>
        </p:spPr>
      </p:sp>
      <p:sp>
        <p:nvSpPr>
          <p:cNvPr id="15" name="Text 13"/>
          <p:cNvSpPr txBox="1"/>
          <p:nvPr/>
        </p:nvSpPr>
        <p:spPr>
          <a:xfrm>
            <a:off x="640080" y="2331720"/>
            <a:ext cx="5212080" cy="384048"/>
          </a:xfrm>
          <a:prstGeom prst="rect">
            <a:avLst/>
          </a:prstGeom>
          <a:noFill/>
          <a:ln/>
        </p:spPr>
        <p:txBody>
          <a:bodyPr wrap="square" lIns="0" tIns="0" rIns="0" bIns="0" rtlCol="0" anchor="ctr"/>
          <a:lstStyle/>
          <a:p>
            <a:pPr indent="0" marL="0">
              <a:buNone/>
            </a:pPr>
            <a:r>
              <a:rPr lang="en-US" sz="1600" b="1" dirty="0">
                <a:solidFill>
                  <a:schemeClr val="tx1"/>
                </a:solidFill>
              </a:rPr>
              <a:t>Advantages</a:t>
            </a:r>
            <a:endParaRPr lang="en-US" sz="1600" dirty="0"/>
          </a:p>
        </p:txBody>
      </p:sp>
      <p:sp>
        <p:nvSpPr>
          <p:cNvPr id="16" name="Text 14"/>
          <p:cNvSpPr txBox="1"/>
          <p:nvPr/>
        </p:nvSpPr>
        <p:spPr>
          <a:xfrm>
            <a:off x="640080" y="2770632"/>
            <a:ext cx="5166360" cy="2395728"/>
          </a:xfrm>
          <a:prstGeom prst="rect">
            <a:avLst/>
          </a:prstGeom>
          <a:noFill/>
          <a:ln/>
        </p:spPr>
        <p:txBody>
          <a:bodyPr wrap="square" lIns="0" tIns="0" rIns="0" bIns="0" rtlCol="0" anchor="t"/>
          <a:lstStyle/>
          <a:p>
            <a:pPr marL="165100" indent="-165100">
              <a:spcAft>
                <a:spcPts val="600"/>
              </a:spcAft>
              <a:buSzPct val="100000"/>
              <a:buChar char="•"/>
            </a:pPr>
            <a:r>
              <a:rPr lang="en-US" sz="1450" dirty="0">
                <a:solidFill>
                  <a:schemeClr val="tx1"/>
                </a:solidFill>
              </a:rPr>
              <a:t>Sensors can have different resolutions</a:t>
            </a:r>
            <a:endParaRPr lang="en-US" sz="1400" dirty="0"/>
          </a:p>
          <a:p>
            <a:pPr marL="165100" indent="-165100">
              <a:spcAft>
                <a:spcPts val="600"/>
              </a:spcAft>
              <a:buSzPct val="100000"/>
              <a:buChar char="•"/>
            </a:pPr>
            <a:r>
              <a:rPr lang="en-US" sz="1450" dirty="0">
                <a:solidFill>
                  <a:schemeClr val="tx1"/>
                </a:solidFill>
              </a:rPr>
              <a:t>Physically interpretable features (indices, CTD, texture)</a:t>
            </a:r>
            <a:endParaRPr lang="en-US" sz="1400" dirty="0"/>
          </a:p>
          <a:p>
            <a:pPr marL="165100" indent="-165100">
              <a:spcAft>
                <a:spcPts val="600"/>
              </a:spcAft>
              <a:buSzPct val="100000"/>
              <a:buChar char="•"/>
            </a:pPr>
            <a:r>
              <a:rPr lang="en-US" sz="1450" dirty="0">
                <a:solidFill>
                  <a:schemeClr val="tx1"/>
                </a:solidFill>
              </a:rPr>
              <a:t>Works with few samples when combined with feature selection</a:t>
            </a:r>
            <a:endParaRPr lang="en-US" sz="1400" dirty="0"/>
          </a:p>
          <a:p>
            <a:pPr marL="165100" indent="-165100">
              <a:spcAft>
                <a:spcPts val="600"/>
              </a:spcAft>
              <a:buSzPct val="100000"/>
              <a:buChar char="•"/>
            </a:pPr>
            <a:r>
              <a:rPr lang="en-US" sz="1450" dirty="0">
                <a:solidFill>
                  <a:schemeClr val="tx1"/>
                </a:solidFill>
              </a:rPr>
              <a:t>Easy ablation: drop one sensor's features</a:t>
            </a:r>
            <a:endParaRPr lang="en-US" sz="1400" dirty="0"/>
          </a:p>
        </p:txBody>
      </p:sp>
      <p:sp>
        <p:nvSpPr>
          <p:cNvPr id="17" name="Shape 15"/>
          <p:cNvSpPr/>
          <p:nvPr/>
        </p:nvSpPr>
        <p:spPr>
          <a:xfrm>
            <a:off x="6245352" y="2240280"/>
            <a:ext cx="5486400" cy="3017520"/>
          </a:xfrm>
          <a:prstGeom prst="roundRect">
            <a:avLst>
              <a:gd name="adj" fmla="val 2424"/>
            </a:avLst>
          </a:prstGeom>
          <a:solidFill>
            <a:schemeClr val="bg2"/>
          </a:solidFill>
          <a:ln/>
        </p:spPr>
      </p:sp>
      <p:sp>
        <p:nvSpPr>
          <p:cNvPr id="18" name="Shape 16"/>
          <p:cNvSpPr/>
          <p:nvPr/>
        </p:nvSpPr>
        <p:spPr>
          <a:xfrm>
            <a:off x="6245352" y="2350008"/>
            <a:ext cx="64008" cy="347472"/>
          </a:xfrm>
          <a:prstGeom prst="rect">
            <a:avLst/>
          </a:prstGeom>
          <a:solidFill>
            <a:schemeClr val="accent4"/>
          </a:solidFill>
          <a:ln/>
        </p:spPr>
      </p:sp>
      <p:sp>
        <p:nvSpPr>
          <p:cNvPr id="19" name="Text 17"/>
          <p:cNvSpPr txBox="1"/>
          <p:nvPr/>
        </p:nvSpPr>
        <p:spPr>
          <a:xfrm>
            <a:off x="6428232" y="2331720"/>
            <a:ext cx="5212080" cy="384048"/>
          </a:xfrm>
          <a:prstGeom prst="rect">
            <a:avLst/>
          </a:prstGeom>
          <a:noFill/>
          <a:ln/>
        </p:spPr>
        <p:txBody>
          <a:bodyPr wrap="square" lIns="0" tIns="0" rIns="0" bIns="0" rtlCol="0" anchor="ctr"/>
          <a:lstStyle/>
          <a:p>
            <a:pPr indent="0" marL="0">
              <a:buNone/>
            </a:pPr>
            <a:r>
              <a:rPr lang="en-US" sz="1600" b="1" dirty="0">
                <a:solidFill>
                  <a:schemeClr val="tx1"/>
                </a:solidFill>
              </a:rPr>
              <a:t>Challenges</a:t>
            </a:r>
            <a:endParaRPr lang="en-US" sz="1600" dirty="0"/>
          </a:p>
        </p:txBody>
      </p:sp>
      <p:sp>
        <p:nvSpPr>
          <p:cNvPr id="20" name="Text 18"/>
          <p:cNvSpPr txBox="1"/>
          <p:nvPr/>
        </p:nvSpPr>
        <p:spPr>
          <a:xfrm>
            <a:off x="6428232" y="2770632"/>
            <a:ext cx="5166360" cy="2395728"/>
          </a:xfrm>
          <a:prstGeom prst="rect">
            <a:avLst/>
          </a:prstGeom>
          <a:noFill/>
          <a:ln/>
        </p:spPr>
        <p:txBody>
          <a:bodyPr wrap="square" lIns="0" tIns="0" rIns="0" bIns="0" rtlCol="0" anchor="t"/>
          <a:lstStyle/>
          <a:p>
            <a:pPr marL="165100" indent="-165100">
              <a:spcAft>
                <a:spcPts val="600"/>
              </a:spcAft>
              <a:buSzPct val="100000"/>
              <a:buChar char="•"/>
            </a:pPr>
            <a:r>
              <a:rPr lang="en-US" sz="1450" dirty="0">
                <a:solidFill>
                  <a:schemeClr val="tx1"/>
                </a:solidFill>
              </a:rPr>
              <a:t>High dimensionality (HS) vs few plots → selection needed</a:t>
            </a:r>
            <a:endParaRPr lang="en-US" sz="1400" dirty="0"/>
          </a:p>
          <a:p>
            <a:pPr marL="165100" indent="-165100">
              <a:spcAft>
                <a:spcPts val="600"/>
              </a:spcAft>
              <a:buSzPct val="100000"/>
              <a:buChar char="•"/>
            </a:pPr>
            <a:r>
              <a:rPr lang="en-US" sz="1450" dirty="0">
                <a:solidFill>
                  <a:schemeClr val="tx1"/>
                </a:solidFill>
              </a:rPr>
              <a:t>Redundancy between sensors (e.g. MS NDRE ≈ HS red edge)</a:t>
            </a:r>
            <a:endParaRPr lang="en-US" sz="1400" dirty="0"/>
          </a:p>
          <a:p>
            <a:pPr marL="165100" indent="-165100">
              <a:spcAft>
                <a:spcPts val="600"/>
              </a:spcAft>
              <a:buSzPct val="100000"/>
              <a:buChar char="•"/>
            </a:pPr>
            <a:r>
              <a:rPr lang="en-US" sz="1450" dirty="0">
                <a:solidFill>
                  <a:schemeClr val="tx1"/>
                </a:solidFill>
              </a:rPr>
              <a:t>Unequal feature counts per sensor (one sensor can dominate)</a:t>
            </a:r>
            <a:endParaRPr lang="en-US" sz="1400" dirty="0"/>
          </a:p>
          <a:p>
            <a:pPr marL="165100" indent="-165100">
              <a:spcAft>
                <a:spcPts val="600"/>
              </a:spcAft>
              <a:buSzPct val="100000"/>
              <a:buChar char="•"/>
            </a:pPr>
            <a:r>
              <a:rPr lang="en-US" sz="1450" dirty="0">
                <a:solidFill>
                  <a:schemeClr val="tx1"/>
                </a:solidFill>
              </a:rPr>
              <a:t>Hand-crafted features may miss unknown patterns</a:t>
            </a:r>
            <a:endParaRPr lang="en-US" sz="14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L2 · Feature extraction per sensor</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FEATURE LEVEL</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all of these are computed per plot (and per tile for DL) in s05_features.py; percentiles and texture are often more sensitive than plot means.</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Maimaitijiang et al. (2020); Liu et al. (2024) percentiles &amp; TTCI; Feng et al. (2022); Zhang et al. (2012); Tian et al. (2021) CWT; Guo et al. (2021); Mahlein et al. (2019).</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1188720"/>
                <a:gridCol w="4206240"/>
                <a:gridCol w="3383280"/>
                <a:gridCol w="2496312"/>
              </a:tblGrid>
              <a:tr h="0">
                <a:tc>
                  <a:txBody>
                    <a:bodyPr/>
                    <a:lstStyle/>
                    <a:p>
                      <a:pPr indent="0" marL="0">
                        <a:buNone/>
                      </a:pPr>
                      <a:r>
                        <a:rPr lang="en-US" sz="1300" b="1" dirty="0">
                          <a:solidFill>
                            <a:schemeClr val="bg1"/>
                          </a:solidFill>
                        </a:rPr>
                        <a:t>Sensor</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Spectral / radiometric</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Spatial / texture</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Other</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r>
              <a:tr h="0">
                <a:tc>
                  <a:txBody>
                    <a:bodyPr/>
                    <a:lstStyle/>
                    <a:p>
                      <a:pPr indent="0" marL="0">
                        <a:buNone/>
                      </a:pPr>
                      <a:r>
                        <a:rPr lang="en-US" sz="1300" dirty="0">
                          <a:solidFill>
                            <a:schemeClr val="tx1"/>
                          </a:solidFill>
                        </a:rPr>
                        <a:t>RGB</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Chromatic r, g, b; ExG, VARI, GLI</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GLCM (contrast, entropy, homogeneity…); pustule-pixel fraction</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Canopy height &amp; cover (DSM − DTM)</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300" dirty="0">
                          <a:solidFill>
                            <a:schemeClr val="tx1"/>
                          </a:solidFill>
                        </a:rPr>
                        <a:t>MS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Bands; NDVI, NDRE, CIre, MTCI, OSAVI, PSRI; percentiles (10–90th)</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GLCM on bands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Within-plot SD</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300" dirty="0">
                          <a:solidFill>
                            <a:schemeClr val="tx1"/>
                          </a:solidFill>
                        </a:rPr>
                        <a:t>HS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Bands; PRI, PSSR, CARI, MCARI, REP; derivatives; continuum removal; CWT; SNV bands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GLCM on PCA components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Unmixing diseased fraction</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300" dirty="0">
                          <a:solidFill>
                            <a:schemeClr val="tx1"/>
                          </a:solidFill>
                        </a:rPr>
                        <a:t>Thermal</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CT, CTD = CT − Tair, NRCT, CWSI</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Tstd, MTD (max − min), GLCM</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Percentiles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L2 · Normalisation and scaling: where they belong</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FEATURE LEVEL</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SNV, indices and CTD are computed before concatenation (no leakage); z-score is fitted on training plots only, after concatenation, inside the model pipeline.</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Bohnenkamp et al. (2019) SNV; Feng et al. (2022) CTD/NRCT; Varma &amp; Simon (2006) leakage; scikit-learn Pipeline practice.</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2377440"/>
                <a:gridCol w="1737360"/>
                <a:gridCol w="2560320"/>
                <a:gridCol w="2834640"/>
                <a:gridCol w="1764792"/>
              </a:tblGrid>
              <a:tr h="0">
                <a:tc>
                  <a:txBody>
                    <a:bodyPr/>
                    <a:lstStyle/>
                    <a:p>
                      <a:pPr indent="0" marL="0">
                        <a:buNone/>
                      </a:pPr>
                      <a:r>
                        <a:rPr lang="en-US" sz="1300" b="1" dirty="0">
                          <a:solidFill>
                            <a:schemeClr val="bg1"/>
                          </a:solidFill>
                        </a:rPr>
                        <a:t>Operation</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Acts on</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Purpose</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Stage</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Leakage risk</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r>
              <a:tr h="0">
                <a:tc>
                  <a:txBody>
                    <a:bodyPr/>
                    <a:lstStyle/>
                    <a:p>
                      <a:pPr indent="0" marL="0">
                        <a:buNone/>
                      </a:pPr>
                      <a:r>
                        <a:rPr lang="en-US" sz="1300" dirty="0">
                          <a:solidFill>
                            <a:schemeClr val="tx1"/>
                          </a:solidFill>
                        </a:rPr>
                        <a:t>Radiometric calibration</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Image</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Physical units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Pre-processing, per flight</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None</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300" dirty="0">
                          <a:solidFill>
                            <a:schemeClr val="tx1"/>
                          </a:solidFill>
                        </a:rPr>
                        <a:t>SNV, derivatives, indices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Row (one spectrum)</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Remove brightness / geometry</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Feature extraction, per sensor</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None</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300" dirty="0">
                          <a:solidFill>
                            <a:schemeClr val="tx1"/>
                          </a:solidFill>
                        </a:rPr>
                        <a:t>CTD, NRCT, CWSI</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Row / flight</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Remove weather effect</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Feature extraction, per flight</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None</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300" dirty="0">
                          <a:solidFill>
                            <a:schemeClr val="tx1"/>
                          </a:solidFill>
                        </a:rPr>
                        <a:t>z-score / min–max</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Column (one feature)</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Common scale for SVM, KNN, LASSO, NN</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After concatenation, inside training folds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High if fitted on all data</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300" dirty="0">
                          <a:solidFill>
                            <a:schemeClr val="tx1"/>
                          </a:solidFill>
                        </a:rPr>
                        <a:t>Block scaling (÷√p per sensor)</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Feature block</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Equal weight per sensor</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Optional, inside folds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Same as above</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L2 · Concatenation + selection: the MuDAS-AI Phases 1–3</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FEATURE LEVEL · ML</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Phase 3 is your feature-level ML fusion model; the same selected features feed decision-level and DL comparisons.</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Tian et al. (2021) DSF + ML-SFFS; Mustafa et al. (2023) Boruta + VIF + ML-SFFS; Pudil et al. (1994) SFFS; Kursa &amp; Rudnicki (2010) Boruta.</a:t>
            </a:r>
            <a:endParaRPr lang="en-US" sz="1000" dirty="0"/>
          </a:p>
        </p:txBody>
      </p:sp>
      <p:sp>
        <p:nvSpPr>
          <p:cNvPr id="7" name="Text 5"/>
          <p:cNvSpPr/>
          <p:nvPr/>
        </p:nvSpPr>
        <p:spPr>
          <a:xfrm>
            <a:off x="457200" y="1188720"/>
            <a:ext cx="3697224" cy="868680"/>
          </a:xfrm>
          <a:prstGeom prst="homePlate">
            <a:avLst/>
          </a:prstGeom>
          <a:solidFill>
            <a:schemeClr val="accent1"/>
          </a:solidFill>
          <a:ln/>
        </p:spPr>
        <p:txBody>
          <a:bodyPr wrap="square" lIns="0" tIns="50800" rIns="63500" bIns="0" rtlCol="0" anchor="ctr"/>
          <a:lstStyle/>
          <a:p>
            <a:pPr algn="ctr" indent="0" marL="0">
              <a:buNone/>
            </a:pPr>
            <a:r>
              <a:rPr lang="en-US" sz="1200" b="1" dirty="0">
                <a:solidFill>
                  <a:schemeClr val="bg1"/>
                </a:solidFill>
              </a:rPr>
              <a:t>Phase 1 · Disease-specific features (per sensor)</a:t>
            </a:r>
            <a:endParaRPr lang="en-US" sz="1200" dirty="0"/>
          </a:p>
        </p:txBody>
      </p:sp>
      <p:sp>
        <p:nvSpPr>
          <p:cNvPr id="8" name="Text 6"/>
          <p:cNvSpPr/>
          <p:nvPr/>
        </p:nvSpPr>
        <p:spPr>
          <a:xfrm>
            <a:off x="4245864" y="1188720"/>
            <a:ext cx="3697224" cy="868680"/>
          </a:xfrm>
          <a:prstGeom prst="chevron">
            <a:avLst/>
          </a:prstGeom>
          <a:solidFill>
            <a:schemeClr val="accent2"/>
          </a:solidFill>
          <a:ln/>
        </p:spPr>
        <p:txBody>
          <a:bodyPr wrap="square" lIns="0" tIns="139700" rIns="63500" bIns="0" rtlCol="0" anchor="ctr"/>
          <a:lstStyle/>
          <a:p>
            <a:pPr algn="ctr" indent="0" marL="0">
              <a:buNone/>
            </a:pPr>
            <a:r>
              <a:rPr lang="en-US" sz="1200" b="1" dirty="0">
                <a:solidFill>
                  <a:schemeClr val="bg1"/>
                </a:solidFill>
              </a:rPr>
              <a:t>Phase 2 · VIF/SPA → ML-SFFS → RF/SVM/KNN (per sensor)</a:t>
            </a:r>
            <a:endParaRPr lang="en-US" sz="1200" dirty="0"/>
          </a:p>
        </p:txBody>
      </p:sp>
      <p:sp>
        <p:nvSpPr>
          <p:cNvPr id="9" name="Text 7"/>
          <p:cNvSpPr/>
          <p:nvPr/>
        </p:nvSpPr>
        <p:spPr>
          <a:xfrm>
            <a:off x="8034528" y="1188720"/>
            <a:ext cx="3697224" cy="868680"/>
          </a:xfrm>
          <a:prstGeom prst="chevron">
            <a:avLst/>
          </a:prstGeom>
          <a:solidFill>
            <a:schemeClr val="accent3"/>
          </a:solidFill>
          <a:ln/>
        </p:spPr>
        <p:txBody>
          <a:bodyPr wrap="square" lIns="0" tIns="139700" rIns="63500" bIns="0" rtlCol="0" anchor="ctr"/>
          <a:lstStyle/>
          <a:p>
            <a:pPr algn="ctr" indent="0" marL="0">
              <a:buNone/>
            </a:pPr>
            <a:r>
              <a:rPr lang="en-US" sz="1200" b="1" dirty="0">
                <a:solidFill>
                  <a:schemeClr val="bg1"/>
                </a:solidFill>
              </a:rPr>
              <a:t>Phase 3 · Concatenate DSFs → VIF → ML-SFFS → RF/SVM/KNN</a:t>
            </a:r>
            <a:endParaRPr lang="en-US" sz="1200" dirty="0"/>
          </a:p>
        </p:txBody>
      </p:sp>
      <p:sp>
        <p:nvSpPr>
          <p:cNvPr id="10" name="Shape 8"/>
          <p:cNvSpPr/>
          <p:nvPr/>
        </p:nvSpPr>
        <p:spPr>
          <a:xfrm>
            <a:off x="457200" y="2240280"/>
            <a:ext cx="3657600" cy="3017520"/>
          </a:xfrm>
          <a:prstGeom prst="roundRect">
            <a:avLst>
              <a:gd name="adj" fmla="val 2424"/>
            </a:avLst>
          </a:prstGeom>
          <a:solidFill>
            <a:schemeClr val="bg2"/>
          </a:solidFill>
          <a:ln/>
        </p:spPr>
      </p:sp>
      <p:sp>
        <p:nvSpPr>
          <p:cNvPr id="11" name="Shape 9"/>
          <p:cNvSpPr/>
          <p:nvPr/>
        </p:nvSpPr>
        <p:spPr>
          <a:xfrm>
            <a:off x="457200" y="2350008"/>
            <a:ext cx="64008" cy="347472"/>
          </a:xfrm>
          <a:prstGeom prst="rect">
            <a:avLst/>
          </a:prstGeom>
          <a:solidFill>
            <a:schemeClr val="accent1"/>
          </a:solidFill>
          <a:ln/>
        </p:spPr>
      </p:sp>
      <p:sp>
        <p:nvSpPr>
          <p:cNvPr id="12" name="Text 10"/>
          <p:cNvSpPr txBox="1"/>
          <p:nvPr/>
        </p:nvSpPr>
        <p:spPr>
          <a:xfrm>
            <a:off x="640080" y="2331720"/>
            <a:ext cx="3383280" cy="384048"/>
          </a:xfrm>
          <a:prstGeom prst="rect">
            <a:avLst/>
          </a:prstGeom>
          <a:noFill/>
          <a:ln/>
        </p:spPr>
        <p:txBody>
          <a:bodyPr wrap="square" lIns="0" tIns="0" rIns="0" bIns="0" rtlCol="0" anchor="ctr"/>
          <a:lstStyle/>
          <a:p>
            <a:pPr indent="0" marL="0">
              <a:buNone/>
            </a:pPr>
            <a:r>
              <a:rPr lang="en-US" sz="1600" b="1" dirty="0">
                <a:solidFill>
                  <a:schemeClr val="tx1"/>
                </a:solidFill>
              </a:rPr>
              <a:t>Phase 1 (filter + embedded)</a:t>
            </a:r>
            <a:endParaRPr lang="en-US" sz="1600" dirty="0"/>
          </a:p>
        </p:txBody>
      </p:sp>
      <p:sp>
        <p:nvSpPr>
          <p:cNvPr id="13" name="Text 11"/>
          <p:cNvSpPr txBox="1"/>
          <p:nvPr/>
        </p:nvSpPr>
        <p:spPr>
          <a:xfrm>
            <a:off x="640080" y="2770632"/>
            <a:ext cx="3337560" cy="2395728"/>
          </a:xfrm>
          <a:prstGeom prst="rect">
            <a:avLst/>
          </a:prstGeom>
          <a:noFill/>
          <a:ln/>
        </p:spPr>
        <p:txBody>
          <a:bodyPr wrap="square" lIns="0" tIns="0" rIns="0" bIns="0" rtlCol="0" anchor="t"/>
          <a:lstStyle/>
          <a:p>
            <a:pPr marL="165100" indent="-165100">
              <a:spcAft>
                <a:spcPts val="600"/>
              </a:spcAft>
              <a:buSzPct val="100000"/>
              <a:buChar char="•"/>
            </a:pPr>
            <a:r>
              <a:rPr lang="en-US" sz="1450" dirty="0">
                <a:solidFill>
                  <a:schemeClr val="tx1"/>
                </a:solidFill>
              </a:rPr>
              <a:t>Kruskal–Wallis + FDR (≥ 2 dates)</a:t>
            </a:r>
            <a:endParaRPr lang="en-US" sz="1400" dirty="0"/>
          </a:p>
          <a:p>
            <a:pPr marL="165100" indent="-165100">
              <a:spcAft>
                <a:spcPts val="600"/>
              </a:spcAft>
              <a:buSzPct val="100000"/>
              <a:buChar char="•"/>
            </a:pPr>
            <a:r>
              <a:rPr lang="en-US" sz="1450" dirty="0">
                <a:solidFill>
                  <a:schemeClr val="tx1"/>
                </a:solidFill>
              </a:rPr>
              <a:t>JM distance</a:t>
            </a:r>
            <a:endParaRPr lang="en-US" sz="1400" dirty="0"/>
          </a:p>
          <a:p>
            <a:pPr marL="165100" indent="-165100">
              <a:spcAft>
                <a:spcPts val="600"/>
              </a:spcAft>
              <a:buSzPct val="100000"/>
              <a:buChar char="•"/>
            </a:pPr>
            <a:r>
              <a:rPr lang="en-US" sz="1450" dirty="0">
                <a:solidFill>
                  <a:schemeClr val="tx1"/>
                </a:solidFill>
              </a:rPr>
              <a:t>ReliefF, RF importance, Boruta</a:t>
            </a:r>
            <a:endParaRPr lang="en-US" sz="1400" dirty="0"/>
          </a:p>
          <a:p>
            <a:pPr marL="165100" indent="-165100">
              <a:spcAft>
                <a:spcPts val="600"/>
              </a:spcAft>
              <a:buSzPct val="100000"/>
              <a:buChar char="•"/>
            </a:pPr>
            <a:r>
              <a:rPr lang="en-US" sz="1450" dirty="0">
                <a:solidFill>
                  <a:schemeClr val="tx1"/>
                </a:solidFill>
              </a:rPr>
              <a:t>Stability over half-samples</a:t>
            </a:r>
            <a:endParaRPr lang="en-US" sz="1400" dirty="0"/>
          </a:p>
        </p:txBody>
      </p:sp>
      <p:sp>
        <p:nvSpPr>
          <p:cNvPr id="14" name="Shape 12"/>
          <p:cNvSpPr/>
          <p:nvPr/>
        </p:nvSpPr>
        <p:spPr>
          <a:xfrm>
            <a:off x="4270248" y="2240280"/>
            <a:ext cx="3657600" cy="3017520"/>
          </a:xfrm>
          <a:prstGeom prst="roundRect">
            <a:avLst>
              <a:gd name="adj" fmla="val 2424"/>
            </a:avLst>
          </a:prstGeom>
          <a:solidFill>
            <a:schemeClr val="bg2"/>
          </a:solidFill>
          <a:ln/>
        </p:spPr>
      </p:sp>
      <p:sp>
        <p:nvSpPr>
          <p:cNvPr id="15" name="Shape 13"/>
          <p:cNvSpPr/>
          <p:nvPr/>
        </p:nvSpPr>
        <p:spPr>
          <a:xfrm>
            <a:off x="4270248" y="2350008"/>
            <a:ext cx="64008" cy="347472"/>
          </a:xfrm>
          <a:prstGeom prst="rect">
            <a:avLst/>
          </a:prstGeom>
          <a:solidFill>
            <a:schemeClr val="accent2"/>
          </a:solidFill>
          <a:ln/>
        </p:spPr>
      </p:sp>
      <p:sp>
        <p:nvSpPr>
          <p:cNvPr id="16" name="Text 14"/>
          <p:cNvSpPr txBox="1"/>
          <p:nvPr/>
        </p:nvSpPr>
        <p:spPr>
          <a:xfrm>
            <a:off x="4453128" y="2331720"/>
            <a:ext cx="3383280" cy="384048"/>
          </a:xfrm>
          <a:prstGeom prst="rect">
            <a:avLst/>
          </a:prstGeom>
          <a:noFill/>
          <a:ln/>
        </p:spPr>
        <p:txBody>
          <a:bodyPr wrap="square" lIns="0" tIns="0" rIns="0" bIns="0" rtlCol="0" anchor="ctr"/>
          <a:lstStyle/>
          <a:p>
            <a:pPr indent="0" marL="0">
              <a:buNone/>
            </a:pPr>
            <a:r>
              <a:rPr lang="en-US" sz="1600" b="1" dirty="0">
                <a:solidFill>
                  <a:schemeClr val="tx1"/>
                </a:solidFill>
              </a:rPr>
              <a:t>Phase 2 (single sensor)</a:t>
            </a:r>
            <a:endParaRPr lang="en-US" sz="1600" dirty="0"/>
          </a:p>
        </p:txBody>
      </p:sp>
      <p:sp>
        <p:nvSpPr>
          <p:cNvPr id="17" name="Text 15"/>
          <p:cNvSpPr txBox="1"/>
          <p:nvPr/>
        </p:nvSpPr>
        <p:spPr>
          <a:xfrm>
            <a:off x="4453128" y="2770632"/>
            <a:ext cx="3337560" cy="2395728"/>
          </a:xfrm>
          <a:prstGeom prst="rect">
            <a:avLst/>
          </a:prstGeom>
          <a:noFill/>
          <a:ln/>
        </p:spPr>
        <p:txBody>
          <a:bodyPr wrap="square" lIns="0" tIns="0" rIns="0" bIns="0" rtlCol="0" anchor="t"/>
          <a:lstStyle/>
          <a:p>
            <a:pPr marL="165100" indent="-165100">
              <a:spcAft>
                <a:spcPts val="600"/>
              </a:spcAft>
              <a:buSzPct val="100000"/>
              <a:buChar char="•"/>
            </a:pPr>
            <a:r>
              <a:rPr lang="en-US" sz="1450" dirty="0">
                <a:solidFill>
                  <a:schemeClr val="tx1"/>
                </a:solidFill>
              </a:rPr>
              <a:t>VIF &lt; 10 (SPA for HS bands)</a:t>
            </a:r>
            <a:endParaRPr lang="en-US" sz="1400" dirty="0"/>
          </a:p>
          <a:p>
            <a:pPr marL="165100" indent="-165100">
              <a:spcAft>
                <a:spcPts val="600"/>
              </a:spcAft>
              <a:buSzPct val="100000"/>
              <a:buChar char="•"/>
            </a:pPr>
            <a:r>
              <a:rPr lang="en-US" sz="1450" dirty="0">
                <a:solidFill>
                  <a:schemeClr val="tx1"/>
                </a:solidFill>
              </a:rPr>
              <a:t>ML-SFFS + one-SE rule</a:t>
            </a:r>
            <a:endParaRPr lang="en-US" sz="1400" dirty="0"/>
          </a:p>
          <a:p>
            <a:pPr marL="165100" indent="-165100">
              <a:spcAft>
                <a:spcPts val="600"/>
              </a:spcAft>
              <a:buSzPct val="100000"/>
              <a:buChar char="•"/>
            </a:pPr>
            <a:r>
              <a:rPr lang="en-US" sz="1450" dirty="0">
                <a:solidFill>
                  <a:schemeClr val="tx1"/>
                </a:solidFill>
              </a:rPr>
              <a:t>Tune RF, SVM, KNN</a:t>
            </a:r>
            <a:endParaRPr lang="en-US" sz="1400" dirty="0"/>
          </a:p>
          <a:p>
            <a:pPr marL="165100" indent="-165100">
              <a:spcAft>
                <a:spcPts val="600"/>
              </a:spcAft>
              <a:buSzPct val="100000"/>
              <a:buChar char="•"/>
            </a:pPr>
            <a:r>
              <a:rPr lang="en-US" sz="1450" dirty="0">
                <a:solidFill>
                  <a:schemeClr val="tx1"/>
                </a:solidFill>
              </a:rPr>
              <a:t>Baseline per sensor</a:t>
            </a:r>
            <a:endParaRPr lang="en-US" sz="1400" dirty="0"/>
          </a:p>
        </p:txBody>
      </p:sp>
      <p:sp>
        <p:nvSpPr>
          <p:cNvPr id="18" name="Shape 16"/>
          <p:cNvSpPr/>
          <p:nvPr/>
        </p:nvSpPr>
        <p:spPr>
          <a:xfrm>
            <a:off x="8074152" y="2240280"/>
            <a:ext cx="3657600" cy="3017520"/>
          </a:xfrm>
          <a:prstGeom prst="roundRect">
            <a:avLst>
              <a:gd name="adj" fmla="val 2424"/>
            </a:avLst>
          </a:prstGeom>
          <a:solidFill>
            <a:schemeClr val="bg2"/>
          </a:solidFill>
          <a:ln/>
        </p:spPr>
      </p:sp>
      <p:sp>
        <p:nvSpPr>
          <p:cNvPr id="19" name="Shape 17"/>
          <p:cNvSpPr/>
          <p:nvPr/>
        </p:nvSpPr>
        <p:spPr>
          <a:xfrm>
            <a:off x="8074152" y="2350008"/>
            <a:ext cx="64008" cy="347472"/>
          </a:xfrm>
          <a:prstGeom prst="rect">
            <a:avLst/>
          </a:prstGeom>
          <a:solidFill>
            <a:schemeClr val="accent3"/>
          </a:solidFill>
          <a:ln/>
        </p:spPr>
      </p:sp>
      <p:sp>
        <p:nvSpPr>
          <p:cNvPr id="20" name="Text 18"/>
          <p:cNvSpPr txBox="1"/>
          <p:nvPr/>
        </p:nvSpPr>
        <p:spPr>
          <a:xfrm>
            <a:off x="8257032" y="2331720"/>
            <a:ext cx="3383280" cy="384048"/>
          </a:xfrm>
          <a:prstGeom prst="rect">
            <a:avLst/>
          </a:prstGeom>
          <a:noFill/>
          <a:ln/>
        </p:spPr>
        <p:txBody>
          <a:bodyPr wrap="square" lIns="0" tIns="0" rIns="0" bIns="0" rtlCol="0" anchor="ctr"/>
          <a:lstStyle/>
          <a:p>
            <a:pPr indent="0" marL="0">
              <a:buNone/>
            </a:pPr>
            <a:r>
              <a:rPr lang="en-US" sz="1600" b="1" dirty="0">
                <a:solidFill>
                  <a:schemeClr val="tx1"/>
                </a:solidFill>
              </a:rPr>
              <a:t>Phase 3 (fusion)</a:t>
            </a:r>
            <a:endParaRPr lang="en-US" sz="1600" dirty="0"/>
          </a:p>
        </p:txBody>
      </p:sp>
      <p:sp>
        <p:nvSpPr>
          <p:cNvPr id="21" name="Text 19"/>
          <p:cNvSpPr txBox="1"/>
          <p:nvPr/>
        </p:nvSpPr>
        <p:spPr>
          <a:xfrm>
            <a:off x="8257032" y="2770632"/>
            <a:ext cx="3337560" cy="2395728"/>
          </a:xfrm>
          <a:prstGeom prst="rect">
            <a:avLst/>
          </a:prstGeom>
          <a:noFill/>
          <a:ln/>
        </p:spPr>
        <p:txBody>
          <a:bodyPr wrap="square" lIns="0" tIns="0" rIns="0" bIns="0" rtlCol="0" anchor="t"/>
          <a:lstStyle/>
          <a:p>
            <a:pPr marL="165100" indent="-165100">
              <a:spcAft>
                <a:spcPts val="600"/>
              </a:spcAft>
              <a:buSzPct val="100000"/>
              <a:buChar char="•"/>
            </a:pPr>
            <a:r>
              <a:rPr lang="en-US" sz="1450" dirty="0">
                <a:solidFill>
                  <a:schemeClr val="tx1"/>
                </a:solidFill>
              </a:rPr>
              <a:t>Concatenate DSFs of chosen sensors</a:t>
            </a:r>
            <a:endParaRPr lang="en-US" sz="1400" dirty="0"/>
          </a:p>
          <a:p>
            <a:pPr marL="165100" indent="-165100">
              <a:spcAft>
                <a:spcPts val="600"/>
              </a:spcAft>
              <a:buSzPct val="100000"/>
              <a:buChar char="•"/>
            </a:pPr>
            <a:r>
              <a:rPr lang="en-US" sz="1450" dirty="0">
                <a:solidFill>
                  <a:schemeClr val="tx1"/>
                </a:solidFill>
              </a:rPr>
              <a:t>VIF across sensors</a:t>
            </a:r>
            <a:endParaRPr lang="en-US" sz="1400" dirty="0"/>
          </a:p>
          <a:p>
            <a:pPr marL="165100" indent="-165100">
              <a:spcAft>
                <a:spcPts val="600"/>
              </a:spcAft>
              <a:buSzPct val="100000"/>
              <a:buChar char="•"/>
            </a:pPr>
            <a:r>
              <a:rPr lang="en-US" sz="1450" dirty="0">
                <a:solidFill>
                  <a:schemeClr val="tx1"/>
                </a:solidFill>
              </a:rPr>
              <a:t>ML-SFFS → optimal fused set</a:t>
            </a:r>
            <a:endParaRPr lang="en-US" sz="1400" dirty="0"/>
          </a:p>
          <a:p>
            <a:pPr marL="165100" indent="-165100">
              <a:spcAft>
                <a:spcPts val="600"/>
              </a:spcAft>
              <a:buSzPct val="100000"/>
              <a:buChar char="•"/>
            </a:pPr>
            <a:r>
              <a:rPr lang="en-US" sz="1450" dirty="0">
                <a:solidFill>
                  <a:schemeClr val="tx1"/>
                </a:solidFill>
              </a:rPr>
              <a:t>15 sensor combinations</a:t>
            </a:r>
            <a:endParaRPr lang="en-US" sz="14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L2 · Feature selection: filter, wrapper, embedded</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FEATURE LEVEL · ML</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use filters first (fast), embedded methods for model-based relevance, and the ML-SFFS wrapper last; add LASSO / elastic net as a fast baseline.</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Guyon &amp; Elisseeff (2003); Kononenko (1994) ReliefF; Pudil et al. (1994); Tibshirani (1996) LASSO; Kursa &amp; Rudnicki (2010); Shafiee et al. (2021) SFS vs LASSO.</a:t>
            </a:r>
            <a:endParaRPr lang="en-US" sz="1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1280160"/>
                <a:gridCol w="2834640"/>
                <a:gridCol w="3566160"/>
                <a:gridCol w="1737360"/>
                <a:gridCol w="1856232"/>
              </a:tblGrid>
              <a:tr h="0">
                <a:tc>
                  <a:txBody>
                    <a:bodyPr/>
                    <a:lstStyle/>
                    <a:p>
                      <a:pPr indent="0" marL="0">
                        <a:buNone/>
                      </a:pPr>
                      <a:r>
                        <a:rPr lang="en-US" sz="1300" b="1" dirty="0">
                          <a:solidFill>
                            <a:schemeClr val="bg1"/>
                          </a:solidFill>
                        </a:rPr>
                        <a:t>Family</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Principle</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Examples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Pros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Cons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r>
              <a:tr h="0">
                <a:tc>
                  <a:txBody>
                    <a:bodyPr/>
                    <a:lstStyle/>
                    <a:p>
                      <a:pPr indent="0" marL="0">
                        <a:buNone/>
                      </a:pPr>
                      <a:r>
                        <a:rPr lang="en-US" sz="1300" dirty="0">
                          <a:solidFill>
                            <a:schemeClr val="tx1"/>
                          </a:solidFill>
                        </a:rPr>
                        <a:t>Filter</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Score each feature with a statistic, no model</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Kruskal–Wallis + FDR, JM distance, ReliefF, mutual information, VIF</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Fast, model-independent</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Ignores interactions (except ReliefF)</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300" dirty="0">
                          <a:solidFill>
                            <a:schemeClr val="tx1"/>
                          </a:solidFill>
                        </a:rPr>
                        <a:t>Wrapper</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Search subsets using a model's CV score</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SFS, SFFS, RFE, genetic algorithms, SPA-LDA</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Optimal subset for that model</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Slow, overfits without nested CV</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300" dirty="0">
                          <a:solidFill>
                            <a:schemeClr val="tx1"/>
                          </a:solidFill>
                        </a:rPr>
                        <a:t>Embedded</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Selection inside model training</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LASSO, elastic net, RF importance, Boruta, L1-SVM</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Fast, uses the model</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Model-specific</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L2 · Subspace fusion: PCA, PLS and canonical correlation</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FEATURE LEVEL · ML</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PLS-DA/PLSR on fused features is a strong interpretable baseline; CCA can show which MS/HS features co-vary with thermal features. Fit all transforms within training folds.</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Hotelling (1936) CCA; Haghighat et al. (2016) discriminant correlation analysis; Wold et al. (2001) PLS; Zhang et al. (2012) PLSR.</a:t>
            </a:r>
            <a:endParaRPr lang="en-US" sz="1000" dirty="0"/>
          </a:p>
        </p:txBody>
      </p:sp>
      <p:sp>
        <p:nvSpPr>
          <p:cNvPr id="7" name="Shape 5"/>
          <p:cNvSpPr/>
          <p:nvPr/>
        </p:nvSpPr>
        <p:spPr>
          <a:xfrm>
            <a:off x="457200" y="1188720"/>
            <a:ext cx="3657600" cy="4069080"/>
          </a:xfrm>
          <a:prstGeom prst="roundRect">
            <a:avLst>
              <a:gd name="adj" fmla="val 2000"/>
            </a:avLst>
          </a:prstGeom>
          <a:solidFill>
            <a:schemeClr val="bg2"/>
          </a:solidFill>
          <a:ln/>
        </p:spPr>
      </p:sp>
      <p:sp>
        <p:nvSpPr>
          <p:cNvPr id="8" name="Shape 6"/>
          <p:cNvSpPr/>
          <p:nvPr/>
        </p:nvSpPr>
        <p:spPr>
          <a:xfrm>
            <a:off x="457200" y="1298448"/>
            <a:ext cx="64008" cy="347472"/>
          </a:xfrm>
          <a:prstGeom prst="rect">
            <a:avLst/>
          </a:prstGeom>
          <a:solidFill>
            <a:schemeClr val="accent1"/>
          </a:solidFill>
          <a:ln/>
        </p:spPr>
      </p:sp>
      <p:sp>
        <p:nvSpPr>
          <p:cNvPr id="9" name="Text 7"/>
          <p:cNvSpPr txBox="1"/>
          <p:nvPr/>
        </p:nvSpPr>
        <p:spPr>
          <a:xfrm>
            <a:off x="640080" y="1280160"/>
            <a:ext cx="3383280" cy="384048"/>
          </a:xfrm>
          <a:prstGeom prst="rect">
            <a:avLst/>
          </a:prstGeom>
          <a:noFill/>
          <a:ln/>
        </p:spPr>
        <p:txBody>
          <a:bodyPr wrap="square" lIns="0" tIns="0" rIns="0" bIns="0" rtlCol="0" anchor="ctr"/>
          <a:lstStyle/>
          <a:p>
            <a:pPr indent="0" marL="0">
              <a:buNone/>
            </a:pPr>
            <a:r>
              <a:rPr lang="en-US" sz="1600" b="1" dirty="0">
                <a:solidFill>
                  <a:schemeClr val="tx1"/>
                </a:solidFill>
              </a:rPr>
              <a:t>PCA (unsupervised)</a:t>
            </a:r>
            <a:endParaRPr lang="en-US" sz="1600" dirty="0"/>
          </a:p>
        </p:txBody>
      </p:sp>
      <p:sp>
        <p:nvSpPr>
          <p:cNvPr id="10" name="Text 8"/>
          <p:cNvSpPr txBox="1"/>
          <p:nvPr/>
        </p:nvSpPr>
        <p:spPr>
          <a:xfrm>
            <a:off x="640080" y="1719072"/>
            <a:ext cx="3337560" cy="3447288"/>
          </a:xfrm>
          <a:prstGeom prst="rect">
            <a:avLst/>
          </a:prstGeom>
          <a:noFill/>
          <a:ln/>
        </p:spPr>
        <p:txBody>
          <a:bodyPr wrap="square" lIns="0" tIns="0" rIns="0" bIns="0" rtlCol="0" anchor="t"/>
          <a:lstStyle/>
          <a:p>
            <a:pPr marL="165100" indent="-165100">
              <a:spcAft>
                <a:spcPts val="600"/>
              </a:spcAft>
              <a:buSzPct val="100000"/>
              <a:buChar char="•"/>
            </a:pPr>
            <a:r>
              <a:rPr lang="en-US" sz="1450" dirty="0">
                <a:solidFill>
                  <a:schemeClr val="tx1"/>
                </a:solidFill>
              </a:rPr>
              <a:t>Projects concatenated features onto orthogonal components</a:t>
            </a:r>
            <a:endParaRPr lang="en-US" sz="1400" dirty="0"/>
          </a:p>
          <a:p>
            <a:pPr marL="165100" indent="-165100">
              <a:spcAft>
                <a:spcPts val="600"/>
              </a:spcAft>
              <a:buSzPct val="100000"/>
              <a:buChar char="•"/>
            </a:pPr>
            <a:r>
              <a:rPr lang="en-US" sz="1450" dirty="0">
                <a:solidFill>
                  <a:schemeClr val="tx1"/>
                </a:solidFill>
              </a:rPr>
              <a:t>Removes redundancy, reduces dimension</a:t>
            </a:r>
            <a:endParaRPr lang="en-US" sz="1400" dirty="0"/>
          </a:p>
          <a:p>
            <a:pPr marL="165100" indent="-165100">
              <a:spcAft>
                <a:spcPts val="600"/>
              </a:spcAft>
              <a:buSzPct val="100000"/>
              <a:buChar char="•"/>
            </a:pPr>
            <a:r>
              <a:rPr lang="en-US" sz="1450" dirty="0">
                <a:solidFill>
                  <a:schemeClr val="tx1"/>
                </a:solidFill>
              </a:rPr>
              <a:t>Components may not relate to disease</a:t>
            </a:r>
            <a:endParaRPr lang="en-US" sz="1400" dirty="0"/>
          </a:p>
          <a:p>
            <a:pPr marL="165100" indent="-165100">
              <a:spcAft>
                <a:spcPts val="600"/>
              </a:spcAft>
              <a:buSzPct val="100000"/>
              <a:buChar char="•"/>
            </a:pPr>
            <a:r>
              <a:rPr lang="en-US" sz="1450" dirty="0">
                <a:solidFill>
                  <a:schemeClr val="tx1"/>
                </a:solidFill>
              </a:rPr>
              <a:t>No labels → can be fitted without leakage if done on unlabeled data only</a:t>
            </a:r>
            <a:endParaRPr lang="en-US" sz="1400" dirty="0"/>
          </a:p>
        </p:txBody>
      </p:sp>
      <p:sp>
        <p:nvSpPr>
          <p:cNvPr id="11" name="Shape 9"/>
          <p:cNvSpPr/>
          <p:nvPr/>
        </p:nvSpPr>
        <p:spPr>
          <a:xfrm>
            <a:off x="4270248" y="1188720"/>
            <a:ext cx="3657600" cy="4069080"/>
          </a:xfrm>
          <a:prstGeom prst="roundRect">
            <a:avLst>
              <a:gd name="adj" fmla="val 2000"/>
            </a:avLst>
          </a:prstGeom>
          <a:solidFill>
            <a:schemeClr val="bg2"/>
          </a:solidFill>
          <a:ln/>
        </p:spPr>
      </p:sp>
      <p:sp>
        <p:nvSpPr>
          <p:cNvPr id="12" name="Shape 10"/>
          <p:cNvSpPr/>
          <p:nvPr/>
        </p:nvSpPr>
        <p:spPr>
          <a:xfrm>
            <a:off x="4270248" y="1298448"/>
            <a:ext cx="64008" cy="347472"/>
          </a:xfrm>
          <a:prstGeom prst="rect">
            <a:avLst/>
          </a:prstGeom>
          <a:solidFill>
            <a:schemeClr val="accent2"/>
          </a:solidFill>
          <a:ln/>
        </p:spPr>
      </p:sp>
      <p:sp>
        <p:nvSpPr>
          <p:cNvPr id="13" name="Text 11"/>
          <p:cNvSpPr txBox="1"/>
          <p:nvPr/>
        </p:nvSpPr>
        <p:spPr>
          <a:xfrm>
            <a:off x="4453128" y="1280160"/>
            <a:ext cx="3383280" cy="384048"/>
          </a:xfrm>
          <a:prstGeom prst="rect">
            <a:avLst/>
          </a:prstGeom>
          <a:noFill/>
          <a:ln/>
        </p:spPr>
        <p:txBody>
          <a:bodyPr wrap="square" lIns="0" tIns="0" rIns="0" bIns="0" rtlCol="0" anchor="ctr"/>
          <a:lstStyle/>
          <a:p>
            <a:pPr indent="0" marL="0">
              <a:buNone/>
            </a:pPr>
            <a:r>
              <a:rPr lang="en-US" sz="1600" b="1" dirty="0">
                <a:solidFill>
                  <a:schemeClr val="tx1"/>
                </a:solidFill>
              </a:rPr>
              <a:t>PLS / PLS-DA (supervised)</a:t>
            </a:r>
            <a:endParaRPr lang="en-US" sz="1600" dirty="0"/>
          </a:p>
        </p:txBody>
      </p:sp>
      <p:sp>
        <p:nvSpPr>
          <p:cNvPr id="14" name="Text 12"/>
          <p:cNvSpPr txBox="1"/>
          <p:nvPr/>
        </p:nvSpPr>
        <p:spPr>
          <a:xfrm>
            <a:off x="4453128" y="1719072"/>
            <a:ext cx="3337560" cy="3447288"/>
          </a:xfrm>
          <a:prstGeom prst="rect">
            <a:avLst/>
          </a:prstGeom>
          <a:noFill/>
          <a:ln/>
        </p:spPr>
        <p:txBody>
          <a:bodyPr wrap="square" lIns="0" tIns="0" rIns="0" bIns="0" rtlCol="0" anchor="t"/>
          <a:lstStyle/>
          <a:p>
            <a:pPr marL="165100" indent="-165100">
              <a:spcAft>
                <a:spcPts val="600"/>
              </a:spcAft>
              <a:buSzPct val="100000"/>
              <a:buChar char="•"/>
            </a:pPr>
            <a:r>
              <a:rPr lang="en-US" sz="1450" dirty="0">
                <a:solidFill>
                  <a:schemeClr val="tx1"/>
                </a:solidFill>
              </a:rPr>
              <a:t>Latent variables maximise covariance with DI / class</a:t>
            </a:r>
            <a:endParaRPr lang="en-US" sz="1400" dirty="0"/>
          </a:p>
          <a:p>
            <a:pPr marL="165100" indent="-165100">
              <a:spcAft>
                <a:spcPts val="600"/>
              </a:spcAft>
              <a:buSzPct val="100000"/>
              <a:buChar char="•"/>
            </a:pPr>
            <a:r>
              <a:rPr lang="en-US" sz="1450" dirty="0">
                <a:solidFill>
                  <a:schemeClr val="tx1"/>
                </a:solidFill>
              </a:rPr>
              <a:t>Handles many correlated features with few samples</a:t>
            </a:r>
            <a:endParaRPr lang="en-US" sz="1400" dirty="0"/>
          </a:p>
          <a:p>
            <a:pPr marL="165100" indent="-165100">
              <a:spcAft>
                <a:spcPts val="600"/>
              </a:spcAft>
              <a:buSzPct val="100000"/>
              <a:buChar char="•"/>
            </a:pPr>
            <a:r>
              <a:rPr lang="en-US" sz="1450" dirty="0">
                <a:solidFill>
                  <a:schemeClr val="tx1"/>
                </a:solidFill>
              </a:rPr>
              <a:t>Loadings show which sensor features matter</a:t>
            </a:r>
            <a:endParaRPr lang="en-US" sz="1400" dirty="0"/>
          </a:p>
          <a:p>
            <a:pPr marL="165100" indent="-165100">
              <a:spcAft>
                <a:spcPts val="600"/>
              </a:spcAft>
              <a:buSzPct val="100000"/>
              <a:buChar char="•"/>
            </a:pPr>
            <a:r>
              <a:rPr lang="en-US" sz="1450" dirty="0">
                <a:solidFill>
                  <a:schemeClr val="tx1"/>
                </a:solidFill>
              </a:rPr>
              <a:t>Classic in spectroscopy</a:t>
            </a:r>
            <a:endParaRPr lang="en-US" sz="1400" dirty="0"/>
          </a:p>
        </p:txBody>
      </p:sp>
      <p:sp>
        <p:nvSpPr>
          <p:cNvPr id="15" name="Shape 13"/>
          <p:cNvSpPr/>
          <p:nvPr/>
        </p:nvSpPr>
        <p:spPr>
          <a:xfrm>
            <a:off x="8074152" y="1188720"/>
            <a:ext cx="3657600" cy="4069080"/>
          </a:xfrm>
          <a:prstGeom prst="roundRect">
            <a:avLst>
              <a:gd name="adj" fmla="val 2000"/>
            </a:avLst>
          </a:prstGeom>
          <a:solidFill>
            <a:schemeClr val="bg2"/>
          </a:solidFill>
          <a:ln/>
        </p:spPr>
      </p:sp>
      <p:sp>
        <p:nvSpPr>
          <p:cNvPr id="16" name="Shape 14"/>
          <p:cNvSpPr/>
          <p:nvPr/>
        </p:nvSpPr>
        <p:spPr>
          <a:xfrm>
            <a:off x="8074152" y="1298448"/>
            <a:ext cx="64008" cy="347472"/>
          </a:xfrm>
          <a:prstGeom prst="rect">
            <a:avLst/>
          </a:prstGeom>
          <a:solidFill>
            <a:schemeClr val="accent3"/>
          </a:solidFill>
          <a:ln/>
        </p:spPr>
      </p:sp>
      <p:sp>
        <p:nvSpPr>
          <p:cNvPr id="17" name="Text 15"/>
          <p:cNvSpPr txBox="1"/>
          <p:nvPr/>
        </p:nvSpPr>
        <p:spPr>
          <a:xfrm>
            <a:off x="8257032" y="1280160"/>
            <a:ext cx="3383280" cy="384048"/>
          </a:xfrm>
          <a:prstGeom prst="rect">
            <a:avLst/>
          </a:prstGeom>
          <a:noFill/>
          <a:ln/>
        </p:spPr>
        <p:txBody>
          <a:bodyPr wrap="square" lIns="0" tIns="0" rIns="0" bIns="0" rtlCol="0" anchor="ctr"/>
          <a:lstStyle/>
          <a:p>
            <a:pPr indent="0" marL="0">
              <a:buNone/>
            </a:pPr>
            <a:r>
              <a:rPr lang="en-US" sz="1600" b="1" dirty="0">
                <a:solidFill>
                  <a:schemeClr val="tx1"/>
                </a:solidFill>
              </a:rPr>
              <a:t>CCA / DCA (two sensors)</a:t>
            </a:r>
            <a:endParaRPr lang="en-US" sz="1600" dirty="0"/>
          </a:p>
        </p:txBody>
      </p:sp>
      <p:sp>
        <p:nvSpPr>
          <p:cNvPr id="18" name="Text 16"/>
          <p:cNvSpPr txBox="1"/>
          <p:nvPr/>
        </p:nvSpPr>
        <p:spPr>
          <a:xfrm>
            <a:off x="8257032" y="1719072"/>
            <a:ext cx="3337560" cy="3447288"/>
          </a:xfrm>
          <a:prstGeom prst="rect">
            <a:avLst/>
          </a:prstGeom>
          <a:noFill/>
          <a:ln/>
        </p:spPr>
        <p:txBody>
          <a:bodyPr wrap="square" lIns="0" tIns="0" rIns="0" bIns="0" rtlCol="0" anchor="t"/>
          <a:lstStyle/>
          <a:p>
            <a:pPr marL="165100" indent="-165100">
              <a:spcAft>
                <a:spcPts val="600"/>
              </a:spcAft>
              <a:buSzPct val="100000"/>
              <a:buChar char="•"/>
            </a:pPr>
            <a:r>
              <a:rPr lang="en-US" sz="1450" dirty="0">
                <a:solidFill>
                  <a:schemeClr val="tx1"/>
                </a:solidFill>
              </a:rPr>
              <a:t>CCA: projections of sensor A and B with maximal correlation</a:t>
            </a:r>
            <a:endParaRPr lang="en-US" sz="1400" dirty="0"/>
          </a:p>
          <a:p>
            <a:pPr marL="165100" indent="-165100">
              <a:spcAft>
                <a:spcPts val="600"/>
              </a:spcAft>
              <a:buSzPct val="100000"/>
              <a:buChar char="•"/>
            </a:pPr>
            <a:r>
              <a:rPr lang="en-US" sz="1450" dirty="0">
                <a:solidFill>
                  <a:schemeClr val="tx1"/>
                </a:solidFill>
              </a:rPr>
              <a:t>DCA: adds class separation (discriminant)</a:t>
            </a:r>
            <a:endParaRPr lang="en-US" sz="1400" dirty="0"/>
          </a:p>
          <a:p>
            <a:pPr marL="165100" indent="-165100">
              <a:spcAft>
                <a:spcPts val="600"/>
              </a:spcAft>
              <a:buSzPct val="100000"/>
              <a:buChar char="•"/>
            </a:pPr>
            <a:r>
              <a:rPr lang="en-US" sz="1450" dirty="0">
                <a:solidFill>
                  <a:schemeClr val="tx1"/>
                </a:solidFill>
              </a:rPr>
              <a:t>Fused vector = concatenation or sum of projections</a:t>
            </a:r>
            <a:endParaRPr lang="en-US" sz="1400" dirty="0"/>
          </a:p>
          <a:p>
            <a:pPr marL="165100" indent="-165100">
              <a:spcAft>
                <a:spcPts val="600"/>
              </a:spcAft>
              <a:buSzPct val="100000"/>
              <a:buChar char="•"/>
            </a:pPr>
            <a:r>
              <a:rPr lang="en-US" sz="1450" dirty="0">
                <a:solidFill>
                  <a:schemeClr val="tx1"/>
                </a:solidFill>
              </a:rPr>
              <a:t>Coordinated representation (Baltrušaitis)</a:t>
            </a:r>
            <a:endParaRPr lang="en-US" sz="14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L2 · Kernel fusion: composite kernels and MKL</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FEATURE LEVEL · ML</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one kernel per sensor gives an SVM fusion model whose learned weights μ_s show each sensor's contribution, an alternative to plain concatenation for few samples.</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Camps-Valls et al. (2006) composite kernels; Gönen &amp; Alpaydın (2011) multiple kernel learning; Cortes &amp; Vapnik (1995) SVM.</a:t>
            </a:r>
            <a:endParaRPr lang="en-US" sz="1000" dirty="0"/>
          </a:p>
        </p:txBody>
      </p:sp>
      <p:sp>
        <p:nvSpPr>
          <p:cNvPr id="7" name="Shape 5"/>
          <p:cNvSpPr/>
          <p:nvPr/>
        </p:nvSpPr>
        <p:spPr>
          <a:xfrm>
            <a:off x="457200" y="1188720"/>
            <a:ext cx="11274552" cy="777240"/>
          </a:xfrm>
          <a:prstGeom prst="roundRect">
            <a:avLst>
              <a:gd name="adj" fmla="val 9412"/>
            </a:avLst>
          </a:prstGeom>
          <a:solidFill>
            <a:schemeClr val="bg1"/>
          </a:solidFill>
          <a:ln w="15875">
            <a:solidFill>
              <a:schemeClr val="accent1"/>
            </a:solidFill>
            <a:prstDash val="solid"/>
          </a:ln>
        </p:spPr>
      </p:sp>
      <p:sp>
        <p:nvSpPr>
          <p:cNvPr id="8" name="Text 6"/>
          <p:cNvSpPr txBox="1"/>
          <p:nvPr/>
        </p:nvSpPr>
        <p:spPr>
          <a:xfrm>
            <a:off x="594360" y="1188720"/>
            <a:ext cx="11000232" cy="777240"/>
          </a:xfrm>
          <a:prstGeom prst="rect">
            <a:avLst/>
          </a:prstGeom>
          <a:noFill/>
          <a:ln/>
        </p:spPr>
        <p:txBody>
          <a:bodyPr wrap="square" lIns="0" tIns="0" rIns="0" bIns="0" rtlCol="0" anchor="ctr"/>
          <a:lstStyle/>
          <a:p>
            <a:pPr algn="ctr" indent="0" marL="0">
              <a:buNone/>
            </a:pPr>
            <a:r>
              <a:rPr lang="en-US" sz="1700" dirty="0">
                <a:solidFill>
                  <a:schemeClr val="tx1"/>
                </a:solidFill>
                <a:latin typeface="Cambria Math" pitchFamily="34" charset="0"/>
                <a:ea typeface="Cambria Math" pitchFamily="34" charset="-122"/>
                <a:cs typeface="Cambria Math" pitchFamily="34" charset="-120"/>
              </a:rPr>
              <a:t>K_fused(xᵢ, xⱼ) = Σₛ μₛ · Kₛ(xᵢˢ, xⱼˢ),   μₛ ≥ 0,  Σₛ μₛ = 1      (s = RGB, MS, HS, TIR)</a:t>
            </a:r>
            <a:endParaRPr lang="en-US" sz="1700" dirty="0"/>
          </a:p>
        </p:txBody>
      </p:sp>
      <p:sp>
        <p:nvSpPr>
          <p:cNvPr id="9" name="Shape 7"/>
          <p:cNvSpPr/>
          <p:nvPr/>
        </p:nvSpPr>
        <p:spPr>
          <a:xfrm>
            <a:off x="457200" y="2148840"/>
            <a:ext cx="5486400" cy="3108960"/>
          </a:xfrm>
          <a:prstGeom prst="roundRect">
            <a:avLst>
              <a:gd name="adj" fmla="val 2353"/>
            </a:avLst>
          </a:prstGeom>
          <a:solidFill>
            <a:schemeClr val="bg2"/>
          </a:solidFill>
          <a:ln/>
        </p:spPr>
      </p:sp>
      <p:sp>
        <p:nvSpPr>
          <p:cNvPr id="10" name="Shape 8"/>
          <p:cNvSpPr/>
          <p:nvPr/>
        </p:nvSpPr>
        <p:spPr>
          <a:xfrm>
            <a:off x="457200" y="2258568"/>
            <a:ext cx="64008" cy="347472"/>
          </a:xfrm>
          <a:prstGeom prst="rect">
            <a:avLst/>
          </a:prstGeom>
          <a:solidFill>
            <a:schemeClr val="accent1"/>
          </a:solidFill>
          <a:ln/>
        </p:spPr>
      </p:sp>
      <p:sp>
        <p:nvSpPr>
          <p:cNvPr id="11" name="Text 9"/>
          <p:cNvSpPr txBox="1"/>
          <p:nvPr/>
        </p:nvSpPr>
        <p:spPr>
          <a:xfrm>
            <a:off x="640080" y="2240280"/>
            <a:ext cx="5212080" cy="384048"/>
          </a:xfrm>
          <a:prstGeom prst="rect">
            <a:avLst/>
          </a:prstGeom>
          <a:noFill/>
          <a:ln/>
        </p:spPr>
        <p:txBody>
          <a:bodyPr wrap="square" lIns="0" tIns="0" rIns="0" bIns="0" rtlCol="0" anchor="ctr"/>
          <a:lstStyle/>
          <a:p>
            <a:pPr indent="0" marL="0">
              <a:buNone/>
            </a:pPr>
            <a:r>
              <a:rPr lang="en-US" sz="1600" b="1" dirty="0">
                <a:solidFill>
                  <a:schemeClr val="tx1"/>
                </a:solidFill>
              </a:rPr>
              <a:t>How</a:t>
            </a:r>
            <a:endParaRPr lang="en-US" sz="1600" dirty="0"/>
          </a:p>
        </p:txBody>
      </p:sp>
      <p:sp>
        <p:nvSpPr>
          <p:cNvPr id="12" name="Text 10"/>
          <p:cNvSpPr txBox="1"/>
          <p:nvPr/>
        </p:nvSpPr>
        <p:spPr>
          <a:xfrm>
            <a:off x="640080" y="2679192"/>
            <a:ext cx="5166360" cy="2487168"/>
          </a:xfrm>
          <a:prstGeom prst="rect">
            <a:avLst/>
          </a:prstGeom>
          <a:noFill/>
          <a:ln/>
        </p:spPr>
        <p:txBody>
          <a:bodyPr wrap="square" lIns="0" tIns="0" rIns="0" bIns="0" rtlCol="0" anchor="t"/>
          <a:lstStyle/>
          <a:p>
            <a:pPr marL="165100" indent="-165100">
              <a:spcAft>
                <a:spcPts val="600"/>
              </a:spcAft>
              <a:buSzPct val="100000"/>
              <a:buChar char="•"/>
            </a:pPr>
            <a:r>
              <a:rPr lang="en-US" sz="1450" dirty="0">
                <a:solidFill>
                  <a:schemeClr val="tx1"/>
                </a:solidFill>
              </a:rPr>
              <a:t>Compute a separate kernel (e.g. RBF) on each sensor's features</a:t>
            </a:r>
            <a:endParaRPr lang="en-US" sz="1400" dirty="0"/>
          </a:p>
          <a:p>
            <a:pPr marL="165100" indent="-165100">
              <a:spcAft>
                <a:spcPts val="600"/>
              </a:spcAft>
              <a:buSzPct val="100000"/>
              <a:buChar char="•"/>
            </a:pPr>
            <a:r>
              <a:rPr lang="en-US" sz="1450" b="1" dirty="0">
                <a:solidFill>
                  <a:schemeClr val="tx1"/>
                </a:solidFill>
              </a:rPr>
              <a:t>Composite kernel:</a:t>
            </a:r>
            <a:pPr indent="0" marL="0">
              <a:spcAft>
                <a:spcPts val="600"/>
              </a:spcAft>
              <a:buNone/>
            </a:pPr>
            <a:r>
              <a:rPr lang="en-US" sz="1450" dirty="0">
                <a:solidFill>
                  <a:schemeClr val="tx1"/>
                </a:solidFill>
              </a:rPr>
              <a:t> fixed weights μₛ chosen by inner CV</a:t>
            </a:r>
            <a:endParaRPr lang="en-US" sz="1400" dirty="0"/>
          </a:p>
          <a:p>
            <a:pPr marL="165100" indent="-165100">
              <a:spcAft>
                <a:spcPts val="600"/>
              </a:spcAft>
              <a:buSzPct val="100000"/>
              <a:buChar char="•"/>
            </a:pPr>
            <a:r>
              <a:rPr lang="en-US" sz="1450" b="1" dirty="0">
                <a:solidFill>
                  <a:schemeClr val="tx1"/>
                </a:solidFill>
              </a:rPr>
              <a:t>MKL:</a:t>
            </a:r>
            <a:pPr indent="0" marL="0">
              <a:spcAft>
                <a:spcPts val="600"/>
              </a:spcAft>
              <a:buNone/>
            </a:pPr>
            <a:r>
              <a:rPr lang="en-US" sz="1450" dirty="0">
                <a:solidFill>
                  <a:schemeClr val="tx1"/>
                </a:solidFill>
              </a:rPr>
              <a:t> μₛ learned jointly with the SVM</a:t>
            </a:r>
            <a:endParaRPr lang="en-US" sz="1400" dirty="0"/>
          </a:p>
          <a:p>
            <a:pPr marL="165100" indent="-165100">
              <a:spcAft>
                <a:spcPts val="600"/>
              </a:spcAft>
              <a:buSzPct val="100000"/>
              <a:buChar char="•"/>
            </a:pPr>
            <a:r>
              <a:rPr lang="en-US" sz="1450" dirty="0">
                <a:solidFill>
                  <a:schemeClr val="tx1"/>
                </a:solidFill>
              </a:rPr>
              <a:t>Each sensor can have its own kernel width γₛ</a:t>
            </a:r>
            <a:endParaRPr lang="en-US" sz="1400" dirty="0"/>
          </a:p>
        </p:txBody>
      </p:sp>
      <p:sp>
        <p:nvSpPr>
          <p:cNvPr id="13" name="Shape 11"/>
          <p:cNvSpPr/>
          <p:nvPr/>
        </p:nvSpPr>
        <p:spPr>
          <a:xfrm>
            <a:off x="6245352" y="2148840"/>
            <a:ext cx="5486400" cy="3108960"/>
          </a:xfrm>
          <a:prstGeom prst="roundRect">
            <a:avLst>
              <a:gd name="adj" fmla="val 2353"/>
            </a:avLst>
          </a:prstGeom>
          <a:solidFill>
            <a:schemeClr val="bg2"/>
          </a:solidFill>
          <a:ln/>
        </p:spPr>
      </p:sp>
      <p:sp>
        <p:nvSpPr>
          <p:cNvPr id="14" name="Shape 12"/>
          <p:cNvSpPr/>
          <p:nvPr/>
        </p:nvSpPr>
        <p:spPr>
          <a:xfrm>
            <a:off x="6245352" y="2258568"/>
            <a:ext cx="64008" cy="347472"/>
          </a:xfrm>
          <a:prstGeom prst="rect">
            <a:avLst/>
          </a:prstGeom>
          <a:solidFill>
            <a:schemeClr val="accent2"/>
          </a:solidFill>
          <a:ln/>
        </p:spPr>
      </p:sp>
      <p:sp>
        <p:nvSpPr>
          <p:cNvPr id="15" name="Text 13"/>
          <p:cNvSpPr txBox="1"/>
          <p:nvPr/>
        </p:nvSpPr>
        <p:spPr>
          <a:xfrm>
            <a:off x="6428232" y="2240280"/>
            <a:ext cx="5212080" cy="384048"/>
          </a:xfrm>
          <a:prstGeom prst="rect">
            <a:avLst/>
          </a:prstGeom>
          <a:noFill/>
          <a:ln/>
        </p:spPr>
        <p:txBody>
          <a:bodyPr wrap="square" lIns="0" tIns="0" rIns="0" bIns="0" rtlCol="0" anchor="ctr"/>
          <a:lstStyle/>
          <a:p>
            <a:pPr indent="0" marL="0">
              <a:buNone/>
            </a:pPr>
            <a:r>
              <a:rPr lang="en-US" sz="1600" b="1" dirty="0">
                <a:solidFill>
                  <a:schemeClr val="tx1"/>
                </a:solidFill>
              </a:rPr>
              <a:t>Why</a:t>
            </a:r>
            <a:endParaRPr lang="en-US" sz="1600" dirty="0"/>
          </a:p>
        </p:txBody>
      </p:sp>
      <p:sp>
        <p:nvSpPr>
          <p:cNvPr id="16" name="Text 14"/>
          <p:cNvSpPr txBox="1"/>
          <p:nvPr/>
        </p:nvSpPr>
        <p:spPr>
          <a:xfrm>
            <a:off x="6428232" y="2679192"/>
            <a:ext cx="5166360" cy="2487168"/>
          </a:xfrm>
          <a:prstGeom prst="rect">
            <a:avLst/>
          </a:prstGeom>
          <a:noFill/>
          <a:ln/>
        </p:spPr>
        <p:txBody>
          <a:bodyPr wrap="square" lIns="0" tIns="0" rIns="0" bIns="0" rtlCol="0" anchor="t"/>
          <a:lstStyle/>
          <a:p>
            <a:pPr marL="165100" indent="-165100">
              <a:spcAft>
                <a:spcPts val="600"/>
              </a:spcAft>
              <a:buSzPct val="100000"/>
              <a:buChar char="•"/>
            </a:pPr>
            <a:r>
              <a:rPr lang="en-US" sz="1450" dirty="0">
                <a:solidFill>
                  <a:schemeClr val="tx1"/>
                </a:solidFill>
              </a:rPr>
              <a:t>Avoids one sensor dominating because it has more features</a:t>
            </a:r>
            <a:endParaRPr lang="en-US" sz="1400" dirty="0"/>
          </a:p>
          <a:p>
            <a:pPr marL="165100" indent="-165100">
              <a:spcAft>
                <a:spcPts val="600"/>
              </a:spcAft>
              <a:buSzPct val="100000"/>
              <a:buChar char="•"/>
            </a:pPr>
            <a:r>
              <a:rPr lang="en-US" sz="1450" dirty="0">
                <a:solidFill>
                  <a:schemeClr val="tx1"/>
                </a:solidFill>
              </a:rPr>
              <a:t>Weights are interpretable as sensor importance</a:t>
            </a:r>
            <a:endParaRPr lang="en-US" sz="1400" dirty="0"/>
          </a:p>
          <a:p>
            <a:pPr marL="165100" indent="-165100">
              <a:spcAft>
                <a:spcPts val="600"/>
              </a:spcAft>
              <a:buSzPct val="100000"/>
              <a:buChar char="•"/>
            </a:pPr>
            <a:r>
              <a:rPr lang="en-US" sz="1450" dirty="0">
                <a:solidFill>
                  <a:schemeClr val="tx1"/>
                </a:solidFill>
              </a:rPr>
              <a:t>Works well with small sample sizes (kernel methods)</a:t>
            </a:r>
            <a:endParaRPr lang="en-US" sz="1400" dirty="0"/>
          </a:p>
          <a:p>
            <a:pPr marL="165100" indent="-165100">
              <a:spcAft>
                <a:spcPts val="600"/>
              </a:spcAft>
              <a:buSzPct val="100000"/>
              <a:buChar char="•"/>
            </a:pPr>
            <a:r>
              <a:rPr lang="en-US" sz="1450" dirty="0">
                <a:solidFill>
                  <a:schemeClr val="tx1"/>
                </a:solidFill>
              </a:rPr>
              <a:t>Python: custom kernel in scikit-learn SVC, or MKL libraries</a:t>
            </a:r>
            <a:endParaRPr lang="en-US" sz="14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L2 · ML classifiers for fused features (severity classes and DI)</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FEATURE LEVEL · ML</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RF, SVM and KNN are your main classifiers; add PLS-DA / LDA and an ordinal or regression model as interpretable baselines.</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Breiman (2001) RF; Cortes &amp; Vapnik (1995) SVM; Chen &amp; Guestrin (2016) XGBoost; Tibshirani (1996); Cao et al. (2020) ordinal; Shafiee et al. (2021).</a:t>
            </a:r>
            <a:endParaRPr lang="en-US" sz="1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2103120"/>
                <a:gridCol w="2011680"/>
                <a:gridCol w="4023360"/>
                <a:gridCol w="3136392"/>
              </a:tblGrid>
              <a:tr h="0">
                <a:tc>
                  <a:txBody>
                    <a:bodyPr/>
                    <a:lstStyle/>
                    <a:p>
                      <a:pPr indent="0" marL="0">
                        <a:buNone/>
                      </a:pPr>
                      <a:r>
                        <a:rPr lang="en-US" sz="1300" b="1" dirty="0">
                          <a:solidFill>
                            <a:schemeClr val="bg1"/>
                          </a:solidFill>
                        </a:rPr>
                        <a:t>Model</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Type</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Good for</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Watch out</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r>
              <a:tr h="0">
                <a:tc>
                  <a:txBody>
                    <a:bodyPr/>
                    <a:lstStyle/>
                    <a:p>
                      <a:pPr indent="0" marL="0">
                        <a:buNone/>
                      </a:pPr>
                      <a:r>
                        <a:rPr lang="en-US" sz="1300" dirty="0">
                          <a:solidFill>
                            <a:schemeClr val="tx1"/>
                          </a:solidFill>
                        </a:rPr>
                        <a:t>Random forest</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Ensemble of trees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Mixed features, interactions, small data; importance</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Less smooth class boundaries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300" dirty="0">
                          <a:solidFill>
                            <a:schemeClr val="tx1"/>
                          </a:solidFill>
                        </a:rPr>
                        <a:t>SVM (RBF)</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Kernel max-margin</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High-dimensional, few samples; one-vs-one for 6 classes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Needs scaling; tune C, γ</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300" dirty="0">
                          <a:solidFill>
                            <a:schemeClr val="tx1"/>
                          </a:solidFill>
                        </a:rPr>
                        <a:t>KNN</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Instance-based</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Simple, local patterns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Needs scaling; sensitive to irrelevant features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300" dirty="0">
                          <a:solidFill>
                            <a:schemeClr val="tx1"/>
                          </a:solidFill>
                        </a:rPr>
                        <a:t>XGBoost / LightGBM</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Boosted trees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Strong on tabular data</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Overfits with few plots; tune carefully</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300" dirty="0">
                          <a:solidFill>
                            <a:schemeClr val="tx1"/>
                          </a:solidFill>
                        </a:rPr>
                        <a:t>LDA / PLS-DA</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Linear latent</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Interpretable, collinear features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Linear boundaries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300" dirty="0">
                          <a:solidFill>
                            <a:schemeClr val="tx1"/>
                          </a:solidFill>
                        </a:rPr>
                        <a:t>Ordinal / regression (DI)</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Cumulative logit, PLSR, SVR, RF-R</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Ordered classes; continuous DI</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Report R², RMSE</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L2 · What feature-level fusion studies found</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LITERATURE · ML FUSION</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expect complementary gains from thermal and texture on top of spectral features, but test each addition; 'more sensors' is not automatically better (Mahlein et al., 2019).</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Maimaitijiang et al. (2020); Feng et al. (2022); Liu et al. (2024); Mustafa et al. (2023); Mahlein et al. (2019); Zarco-Tejada et al. (2018).</a:t>
            </a:r>
            <a:endParaRPr lang="en-US" sz="1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2103120"/>
                <a:gridCol w="2926080"/>
                <a:gridCol w="2926080"/>
                <a:gridCol w="3319272"/>
              </a:tblGrid>
              <a:tr h="0">
                <a:tc>
                  <a:txBody>
                    <a:bodyPr/>
                    <a:lstStyle/>
                    <a:p>
                      <a:pPr indent="0" marL="0">
                        <a:buNone/>
                      </a:pPr>
                      <a:r>
                        <a:rPr lang="en-US" sz="1250" b="1" dirty="0">
                          <a:solidFill>
                            <a:schemeClr val="bg1"/>
                          </a:solidFill>
                        </a:rPr>
                        <a:t>Study</a:t>
                      </a:r>
                      <a:endParaRPr lang="en-US" sz="125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250" b="1" dirty="0">
                          <a:solidFill>
                            <a:schemeClr val="bg1"/>
                          </a:solidFill>
                        </a:rPr>
                        <a:t>Sensors / scale</a:t>
                      </a:r>
                      <a:endParaRPr lang="en-US" sz="125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250" b="1" dirty="0">
                          <a:solidFill>
                            <a:schemeClr val="bg1"/>
                          </a:solidFill>
                        </a:rPr>
                        <a:t>Fusion</a:t>
                      </a:r>
                      <a:endParaRPr lang="en-US" sz="125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250" b="1" dirty="0">
                          <a:solidFill>
                            <a:schemeClr val="bg1"/>
                          </a:solidFill>
                        </a:rPr>
                        <a:t>Key result</a:t>
                      </a:r>
                      <a:endParaRPr lang="en-US" sz="125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r>
              <a:tr h="0">
                <a:tc>
                  <a:txBody>
                    <a:bodyPr/>
                    <a:lstStyle/>
                    <a:p>
                      <a:pPr indent="0" marL="0">
                        <a:buNone/>
                      </a:pPr>
                      <a:r>
                        <a:rPr lang="en-US" sz="1250" dirty="0">
                          <a:solidFill>
                            <a:schemeClr val="tx1"/>
                          </a:solidFill>
                        </a:rPr>
                        <a:t>Maimaitijiang et al. 2020</a:t>
                      </a:r>
                      <a:endParaRPr lang="en-US" sz="125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UAV RGB + MS + thermal; soybean yield</a:t>
                      </a:r>
                      <a:endParaRPr lang="en-US" sz="125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Features concatenated; PLSR, SVR, RFR, DNN</a:t>
                      </a:r>
                      <a:endParaRPr lang="en-US" sz="125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All modalities best (R² ≈ 0.72); fusion reduced spatial error clustering</a:t>
                      </a:r>
                      <a:endParaRPr lang="en-US" sz="125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250" dirty="0">
                          <a:solidFill>
                            <a:schemeClr val="tx1"/>
                          </a:solidFill>
                        </a:rPr>
                        <a:t>Feng et al. 2022</a:t>
                      </a:r>
                      <a:endParaRPr lang="en-US" sz="125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Proximal HS + thermal + RGB; wheat powdery mildew</a:t>
                      </a:r>
                      <a:endParaRPr lang="en-US" sz="125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VI + temperature + texture; PLSR, SVR, RFR</a:t>
                      </a:r>
                      <a:endParaRPr lang="en-US" sz="125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VI+TP+TF best with RFR (R² = 0.872 calibration, 0.862 validation)</a:t>
                      </a:r>
                      <a:endParaRPr lang="en-US" sz="125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250" dirty="0">
                          <a:solidFill>
                            <a:schemeClr val="tx1"/>
                          </a:solidFill>
                        </a:rPr>
                        <a:t>Liu et al. 2024</a:t>
                      </a:r>
                      <a:endParaRPr lang="en-US" sz="125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UAV MS + thermal; wheat powdery mildew</a:t>
                      </a:r>
                      <a:endParaRPr lang="en-US" sz="125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Percentile spectra + texture index + CT; MLR</a:t>
                      </a:r>
                      <a:endParaRPr lang="en-US" sz="125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Percentile spectra + TTCI + CT best (R² = 0.90, RMSE 8.28 %)</a:t>
                      </a:r>
                      <a:endParaRPr lang="en-US" sz="125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250" dirty="0">
                          <a:solidFill>
                            <a:schemeClr val="tx1"/>
                          </a:solidFill>
                        </a:rPr>
                        <a:t>Mustafa et al. 2023</a:t>
                      </a:r>
                      <a:endParaRPr lang="en-US" sz="125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HS + fluorescence + phenotyping; wheat FHB</a:t>
                      </a:r>
                      <a:endParaRPr lang="en-US" sz="125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Feature selection + SFFS; KNN, SVM</a:t>
                      </a:r>
                      <a:endParaRPr lang="en-US" sz="125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Small fused feature sets improved detection from the asymptomatic stage</a:t>
                      </a:r>
                      <a:endParaRPr lang="en-US" sz="125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250" dirty="0">
                          <a:solidFill>
                            <a:schemeClr val="tx1"/>
                          </a:solidFill>
                        </a:rPr>
                        <a:t>Mahlein et al. 2019</a:t>
                      </a:r>
                      <a:endParaRPr lang="en-US" sz="125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Thermal + fluorescence + HS; spikelets</a:t>
                      </a:r>
                      <a:endParaRPr lang="en-US" sz="125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Combined parameters; SVM</a:t>
                      </a:r>
                      <a:endParaRPr lang="en-US" sz="125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Single sensors 78/56/78 % (3 dai); IRT–HSI or CFI–HSI 89 % (30 dai)</a:t>
                      </a:r>
                      <a:endParaRPr lang="en-US" sz="125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250" dirty="0">
                          <a:solidFill>
                            <a:schemeClr val="tx1"/>
                          </a:solidFill>
                        </a:rPr>
                        <a:t>Zarco-Tejada et al. 2018</a:t>
                      </a:r>
                      <a:endParaRPr lang="en-US" sz="125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Airborne HS + thermal; olive Xylella</a:t>
                      </a:r>
                      <a:endParaRPr lang="en-US" sz="125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Plant traits; ML classification</a:t>
                      </a:r>
                      <a:endParaRPr lang="en-US" sz="125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Fluorescence + thermal + pigment traits: &gt; 80 % accuracy; pre-visual detection</a:t>
                      </a:r>
                      <a:endParaRPr lang="en-US" sz="125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DL fusion: early, intermediate and late in neural networks</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DEEP LEARNING · OVERVIEW</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test all three DL fusion types on the same tiles and folds; intermediate fusion with sensor-specific encoders is the expected main model.</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Ngiam et al. (2011); Ramachandram &amp; Taylor (2017); Baltrušaitis et al. (2019); Hong et al. (2021); Audebert et al. (2018).</a:t>
            </a:r>
            <a:endParaRPr lang="en-US" sz="1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2103120"/>
                <a:gridCol w="2194560"/>
                <a:gridCol w="4206240"/>
                <a:gridCol w="2770632"/>
              </a:tblGrid>
              <a:tr h="0">
                <a:tc>
                  <a:txBody>
                    <a:bodyPr/>
                    <a:lstStyle/>
                    <a:p>
                      <a:pPr indent="0" marL="0">
                        <a:buNone/>
                      </a:pPr>
                      <a:r>
                        <a:rPr lang="en-US" sz="1400" b="1" dirty="0">
                          <a:solidFill>
                            <a:schemeClr val="bg1"/>
                          </a:solidFill>
                        </a:rPr>
                        <a:t>DL fusion type</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Where sensors meet</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Architecture</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Needs</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r>
              <a:tr h="0">
                <a:tc>
                  <a:txBody>
                    <a:bodyPr/>
                    <a:lstStyle/>
                    <a:p>
                      <a:pPr indent="0" marL="0">
                        <a:buNone/>
                      </a:pPr>
                      <a:r>
                        <a:rPr lang="en-US" sz="1400" dirty="0">
                          <a:solidFill>
                            <a:schemeClr val="tx1"/>
                          </a:solidFill>
                        </a:rPr>
                        <a:t>Early (input)</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At the first layer</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Stacked channels → one CNN</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Common grid, precise co-registration</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400" dirty="0">
                          <a:solidFill>
                            <a:schemeClr val="tx1"/>
                          </a:solidFill>
                        </a:rPr>
                        <a:t>Intermediate (feature)</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Inside the network</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One encoder per sensor → concat / attention → head</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More parameters; staged training</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400" dirty="0">
                          <a:solidFill>
                            <a:schemeClr val="tx1"/>
                          </a:solidFill>
                        </a:rPr>
                        <a:t>Late (decision)</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At the outputs</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Separate networks → averaged / stacked predictions</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Calibrated probabilities</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400" dirty="0">
                          <a:solidFill>
                            <a:schemeClr val="tx1"/>
                          </a:solidFill>
                        </a:rPr>
                        <a:t>Cross / attention</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Repeatedly between branches</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Cross-attention, feature exchange at several depths</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More data or pre-training</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bl>
          </a:graphicData>
        </a:graphic>
      </p:graphicFrame>
      <p:sp>
        <p:nvSpPr>
          <p:cNvPr id="8" name="Text 5"/>
          <p:cNvSpPr txBox="1"/>
          <p:nvPr/>
        </p:nvSpPr>
        <p:spPr>
          <a:xfrm>
            <a:off x="457200" y="4023360"/>
            <a:ext cx="11274552" cy="1188720"/>
          </a:xfrm>
          <a:prstGeom prst="rect">
            <a:avLst/>
          </a:prstGeom>
          <a:noFill/>
          <a:ln/>
        </p:spPr>
        <p:txBody>
          <a:bodyPr wrap="square" lIns="0" tIns="0" rIns="0" bIns="0" rtlCol="0" anchor="t"/>
          <a:lstStyle/>
          <a:p>
            <a:pPr indent="0" marL="0">
              <a:buNone/>
            </a:pPr>
            <a:r>
              <a:rPr lang="en-US" sz="1300" i="1" dirty="0">
                <a:solidFill>
                  <a:schemeClr val="tx1"/>
                </a:solidFill>
              </a:rPr>
              <a:t>Hong et al. (2021) compared early, middle, late, encoder–decoder and cross fusion: middle and late beat early; cross fusion was best; early fusion collapsed when a modality was missing at test time.</a:t>
            </a:r>
            <a:endParaRPr lang="en-US" sz="13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DL early fusion: stacked-channel CNN</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DEEP LEARNING · EARLY</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Experiment: 64 × 64 tiles from the 5 cm common stack (RGB + MS + HS-PCA + TIR = ~29 channels) → small CNN or HybridSN → plot class via tile aggregation.</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Audebert et al. (2018) early (FuseNet-type) vs late fusion; Hong et al. (2021); Roy et al. (2020) HybridSN for spectral–spatial cubes.</a:t>
            </a:r>
            <a:endParaRPr lang="en-US" sz="1000" dirty="0"/>
          </a:p>
        </p:txBody>
      </p:sp>
      <p:sp>
        <p:nvSpPr>
          <p:cNvPr id="7" name="Shape 5"/>
          <p:cNvSpPr/>
          <p:nvPr/>
        </p:nvSpPr>
        <p:spPr>
          <a:xfrm>
            <a:off x="457200" y="1188720"/>
            <a:ext cx="11274552" cy="731520"/>
          </a:xfrm>
          <a:prstGeom prst="roundRect">
            <a:avLst>
              <a:gd name="adj" fmla="val 10000"/>
            </a:avLst>
          </a:prstGeom>
          <a:solidFill>
            <a:schemeClr val="bg1"/>
          </a:solidFill>
          <a:ln w="15875">
            <a:solidFill>
              <a:schemeClr val="accent1"/>
            </a:solidFill>
            <a:prstDash val="solid"/>
          </a:ln>
        </p:spPr>
      </p:sp>
      <p:sp>
        <p:nvSpPr>
          <p:cNvPr id="8" name="Text 6"/>
          <p:cNvSpPr txBox="1"/>
          <p:nvPr/>
        </p:nvSpPr>
        <p:spPr>
          <a:xfrm>
            <a:off x="594360" y="1188720"/>
            <a:ext cx="11000232" cy="731520"/>
          </a:xfrm>
          <a:prstGeom prst="rect">
            <a:avLst/>
          </a:prstGeom>
          <a:noFill/>
          <a:ln/>
        </p:spPr>
        <p:txBody>
          <a:bodyPr wrap="square" lIns="0" tIns="0" rIns="0" bIns="0" rtlCol="0" anchor="ctr"/>
          <a:lstStyle/>
          <a:p>
            <a:pPr algn="ctr" indent="0" marL="0">
              <a:buNone/>
            </a:pPr>
            <a:r>
              <a:rPr lang="en-US" sz="1400" dirty="0">
                <a:solidFill>
                  <a:schemeClr val="tx1"/>
                </a:solidFill>
                <a:latin typeface="Cambria Math" pitchFamily="34" charset="0"/>
                <a:ea typeface="Cambria Math" pitchFamily="34" charset="-122"/>
                <a:cs typeface="Cambria Math" pitchFamily="34" charset="-120"/>
              </a:rPr>
              <a:t>[RGB(3) | MS(5) | HS-PCA(20) | TIR(1)]  →  29-channel tile  →  Conv layers  →  pooled features  →  ordinal head</a:t>
            </a:r>
            <a:endParaRPr lang="en-US" sz="1400" dirty="0"/>
          </a:p>
        </p:txBody>
      </p:sp>
      <p:sp>
        <p:nvSpPr>
          <p:cNvPr id="9" name="Shape 7"/>
          <p:cNvSpPr/>
          <p:nvPr/>
        </p:nvSpPr>
        <p:spPr>
          <a:xfrm>
            <a:off x="457200" y="2103120"/>
            <a:ext cx="5486400" cy="3154680"/>
          </a:xfrm>
          <a:prstGeom prst="roundRect">
            <a:avLst>
              <a:gd name="adj" fmla="val 2319"/>
            </a:avLst>
          </a:prstGeom>
          <a:solidFill>
            <a:schemeClr val="bg2"/>
          </a:solidFill>
          <a:ln/>
        </p:spPr>
      </p:sp>
      <p:sp>
        <p:nvSpPr>
          <p:cNvPr id="10" name="Shape 8"/>
          <p:cNvSpPr/>
          <p:nvPr/>
        </p:nvSpPr>
        <p:spPr>
          <a:xfrm>
            <a:off x="457200" y="2212848"/>
            <a:ext cx="64008" cy="347472"/>
          </a:xfrm>
          <a:prstGeom prst="rect">
            <a:avLst/>
          </a:prstGeom>
          <a:solidFill>
            <a:schemeClr val="accent2"/>
          </a:solidFill>
          <a:ln/>
        </p:spPr>
      </p:sp>
      <p:sp>
        <p:nvSpPr>
          <p:cNvPr id="11" name="Text 9"/>
          <p:cNvSpPr txBox="1"/>
          <p:nvPr/>
        </p:nvSpPr>
        <p:spPr>
          <a:xfrm>
            <a:off x="640080" y="2194560"/>
            <a:ext cx="5212080" cy="384048"/>
          </a:xfrm>
          <a:prstGeom prst="rect">
            <a:avLst/>
          </a:prstGeom>
          <a:noFill/>
          <a:ln/>
        </p:spPr>
        <p:txBody>
          <a:bodyPr wrap="square" lIns="0" tIns="0" rIns="0" bIns="0" rtlCol="0" anchor="ctr"/>
          <a:lstStyle/>
          <a:p>
            <a:pPr indent="0" marL="0">
              <a:buNone/>
            </a:pPr>
            <a:r>
              <a:rPr lang="en-US" sz="1600" b="1" dirty="0">
                <a:solidFill>
                  <a:schemeClr val="tx1"/>
                </a:solidFill>
              </a:rPr>
              <a:t>Pros</a:t>
            </a:r>
            <a:endParaRPr lang="en-US" sz="1600" dirty="0"/>
          </a:p>
        </p:txBody>
      </p:sp>
      <p:sp>
        <p:nvSpPr>
          <p:cNvPr id="12" name="Text 10"/>
          <p:cNvSpPr txBox="1"/>
          <p:nvPr/>
        </p:nvSpPr>
        <p:spPr>
          <a:xfrm>
            <a:off x="640080" y="2633472"/>
            <a:ext cx="5166360" cy="2532888"/>
          </a:xfrm>
          <a:prstGeom prst="rect">
            <a:avLst/>
          </a:prstGeom>
          <a:noFill/>
          <a:ln/>
        </p:spPr>
        <p:txBody>
          <a:bodyPr wrap="square" lIns="0" tIns="0" rIns="0" bIns="0" rtlCol="0" anchor="t"/>
          <a:lstStyle/>
          <a:p>
            <a:pPr marL="165100" indent="-165100">
              <a:spcAft>
                <a:spcPts val="600"/>
              </a:spcAft>
              <a:buSzPct val="100000"/>
              <a:buChar char="•"/>
            </a:pPr>
            <a:r>
              <a:rPr lang="en-US" sz="1450" dirty="0">
                <a:solidFill>
                  <a:schemeClr val="tx1"/>
                </a:solidFill>
              </a:rPr>
              <a:t>Simplest DL fusion; one network</a:t>
            </a:r>
            <a:endParaRPr lang="en-US" sz="1400" dirty="0"/>
          </a:p>
          <a:p>
            <a:pPr marL="165100" indent="-165100">
              <a:spcAft>
                <a:spcPts val="600"/>
              </a:spcAft>
              <a:buSzPct val="100000"/>
              <a:buChar char="•"/>
            </a:pPr>
            <a:r>
              <a:rPr lang="en-US" sz="1450" dirty="0">
                <a:solidFill>
                  <a:schemeClr val="tx1"/>
                </a:solidFill>
              </a:rPr>
              <a:t>Can learn pixel-level cross-sensor interactions</a:t>
            </a:r>
            <a:endParaRPr lang="en-US" sz="1400" dirty="0"/>
          </a:p>
          <a:p>
            <a:pPr marL="165100" indent="-165100">
              <a:spcAft>
                <a:spcPts val="600"/>
              </a:spcAft>
              <a:buSzPct val="100000"/>
              <a:buChar char="•"/>
            </a:pPr>
            <a:r>
              <a:rPr lang="en-US" sz="1450" dirty="0">
                <a:solidFill>
                  <a:schemeClr val="tx1"/>
                </a:solidFill>
              </a:rPr>
              <a:t>Direct counterpart of pixel stacking (L1)</a:t>
            </a:r>
            <a:endParaRPr lang="en-US" sz="1400" dirty="0"/>
          </a:p>
        </p:txBody>
      </p:sp>
      <p:sp>
        <p:nvSpPr>
          <p:cNvPr id="13" name="Shape 11"/>
          <p:cNvSpPr/>
          <p:nvPr/>
        </p:nvSpPr>
        <p:spPr>
          <a:xfrm>
            <a:off x="6245352" y="2103120"/>
            <a:ext cx="5486400" cy="3154680"/>
          </a:xfrm>
          <a:prstGeom prst="roundRect">
            <a:avLst>
              <a:gd name="adj" fmla="val 2319"/>
            </a:avLst>
          </a:prstGeom>
          <a:solidFill>
            <a:schemeClr val="bg2"/>
          </a:solidFill>
          <a:ln/>
        </p:spPr>
      </p:sp>
      <p:sp>
        <p:nvSpPr>
          <p:cNvPr id="14" name="Shape 12"/>
          <p:cNvSpPr/>
          <p:nvPr/>
        </p:nvSpPr>
        <p:spPr>
          <a:xfrm>
            <a:off x="6245352" y="2212848"/>
            <a:ext cx="64008" cy="347472"/>
          </a:xfrm>
          <a:prstGeom prst="rect">
            <a:avLst/>
          </a:prstGeom>
          <a:solidFill>
            <a:schemeClr val="accent4"/>
          </a:solidFill>
          <a:ln/>
        </p:spPr>
      </p:sp>
      <p:sp>
        <p:nvSpPr>
          <p:cNvPr id="15" name="Text 13"/>
          <p:cNvSpPr txBox="1"/>
          <p:nvPr/>
        </p:nvSpPr>
        <p:spPr>
          <a:xfrm>
            <a:off x="6428232" y="2194560"/>
            <a:ext cx="5212080" cy="384048"/>
          </a:xfrm>
          <a:prstGeom prst="rect">
            <a:avLst/>
          </a:prstGeom>
          <a:noFill/>
          <a:ln/>
        </p:spPr>
        <p:txBody>
          <a:bodyPr wrap="square" lIns="0" tIns="0" rIns="0" bIns="0" rtlCol="0" anchor="ctr"/>
          <a:lstStyle/>
          <a:p>
            <a:pPr indent="0" marL="0">
              <a:buNone/>
            </a:pPr>
            <a:r>
              <a:rPr lang="en-US" sz="1600" b="1" dirty="0">
                <a:solidFill>
                  <a:schemeClr val="tx1"/>
                </a:solidFill>
              </a:rPr>
              <a:t>Cons</a:t>
            </a:r>
            <a:endParaRPr lang="en-US" sz="1600" dirty="0"/>
          </a:p>
        </p:txBody>
      </p:sp>
      <p:sp>
        <p:nvSpPr>
          <p:cNvPr id="16" name="Text 14"/>
          <p:cNvSpPr txBox="1"/>
          <p:nvPr/>
        </p:nvSpPr>
        <p:spPr>
          <a:xfrm>
            <a:off x="6428232" y="2633472"/>
            <a:ext cx="5166360" cy="2532888"/>
          </a:xfrm>
          <a:prstGeom prst="rect">
            <a:avLst/>
          </a:prstGeom>
          <a:noFill/>
          <a:ln/>
        </p:spPr>
        <p:txBody>
          <a:bodyPr wrap="square" lIns="0" tIns="0" rIns="0" bIns="0" rtlCol="0" anchor="t"/>
          <a:lstStyle/>
          <a:p>
            <a:pPr marL="165100" indent="-165100">
              <a:spcAft>
                <a:spcPts val="600"/>
              </a:spcAft>
              <a:buSzPct val="100000"/>
              <a:buChar char="•"/>
            </a:pPr>
            <a:r>
              <a:rPr lang="en-US" sz="1450" dirty="0">
                <a:solidFill>
                  <a:schemeClr val="tx1"/>
                </a:solidFill>
              </a:rPr>
              <a:t>Forces all sensors to one resolution (loses RGB detail or upsamples thermal)</a:t>
            </a:r>
            <a:endParaRPr lang="en-US" sz="1400" dirty="0"/>
          </a:p>
          <a:p>
            <a:pPr marL="165100" indent="-165100">
              <a:spcAft>
                <a:spcPts val="600"/>
              </a:spcAft>
              <a:buSzPct val="100000"/>
              <a:buChar char="•"/>
            </a:pPr>
            <a:r>
              <a:rPr lang="en-US" sz="1450" dirty="0">
                <a:solidFill>
                  <a:schemeClr val="tx1"/>
                </a:solidFill>
              </a:rPr>
              <a:t>Sensitive to misregistration</a:t>
            </a:r>
            <a:endParaRPr lang="en-US" sz="1400" dirty="0"/>
          </a:p>
          <a:p>
            <a:pPr marL="165100" indent="-165100">
              <a:spcAft>
                <a:spcPts val="600"/>
              </a:spcAft>
              <a:buSzPct val="100000"/>
              <a:buChar char="•"/>
            </a:pPr>
            <a:r>
              <a:rPr lang="en-US" sz="1450" dirty="0">
                <a:solidFill>
                  <a:schemeClr val="tx1"/>
                </a:solidFill>
              </a:rPr>
              <a:t>Sensor with many channels (HS) can dominate</a:t>
            </a:r>
            <a:endParaRPr lang="en-US" sz="1400" dirty="0"/>
          </a:p>
          <a:p>
            <a:pPr marL="165100" indent="-165100">
              <a:spcAft>
                <a:spcPts val="600"/>
              </a:spcAft>
              <a:buSzPct val="100000"/>
              <a:buChar char="•"/>
            </a:pPr>
            <a:r>
              <a:rPr lang="en-US" sz="1450" dirty="0">
                <a:solidFill>
                  <a:schemeClr val="tx1"/>
                </a:solidFill>
              </a:rPr>
              <a:t>Sensitive to missing data (Audebert et al., 2018)</a:t>
            </a:r>
            <a:endParaRPr lang="en-US" sz="14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DL intermediate fusion: multi-branch encoders</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DEEP LEARNING · INTERMEDIATE</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main DL model: pre-trained ResNet-18 (RGB), small CNNs (MS, TIR), 1D/3D CNN (HS); fused embeddings → ordinal head + DI head.</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Maimaitijiang et al. (2020) DNN-F2 (intermediate) &gt; DNN-F1 (input); Kerkech et al. (2020b) VddNet parallel encoders RGB + NIR + depth; Hong et al. (2021).</a:t>
            </a:r>
            <a:endParaRPr lang="en-US" sz="1000" dirty="0"/>
          </a:p>
        </p:txBody>
      </p:sp>
      <p:sp>
        <p:nvSpPr>
          <p:cNvPr id="7" name="Text 5"/>
          <p:cNvSpPr/>
          <p:nvPr/>
        </p:nvSpPr>
        <p:spPr>
          <a:xfrm>
            <a:off x="457200" y="1188720"/>
            <a:ext cx="1802892" cy="777240"/>
          </a:xfrm>
          <a:prstGeom prst="homePlate">
            <a:avLst/>
          </a:prstGeom>
          <a:solidFill>
            <a:schemeClr val="accent1"/>
          </a:solidFill>
          <a:ln/>
        </p:spPr>
        <p:txBody>
          <a:bodyPr wrap="square" lIns="0" tIns="50800" rIns="63500" bIns="0" rtlCol="0" anchor="ctr"/>
          <a:lstStyle/>
          <a:p>
            <a:pPr algn="ctr" indent="0" marL="0">
              <a:buNone/>
            </a:pPr>
            <a:r>
              <a:rPr lang="en-US" sz="1100" b="1" dirty="0">
                <a:solidFill>
                  <a:schemeClr val="bg1"/>
                </a:solidFill>
              </a:rPr>
              <a:t>RGB → ResNet-18</a:t>
            </a:r>
            <a:endParaRPr lang="en-US" sz="1100" dirty="0"/>
          </a:p>
        </p:txBody>
      </p:sp>
      <p:sp>
        <p:nvSpPr>
          <p:cNvPr id="8" name="Text 6"/>
          <p:cNvSpPr/>
          <p:nvPr/>
        </p:nvSpPr>
        <p:spPr>
          <a:xfrm>
            <a:off x="2351532" y="1188720"/>
            <a:ext cx="1802892" cy="777240"/>
          </a:xfrm>
          <a:prstGeom prst="chevron">
            <a:avLst/>
          </a:prstGeom>
          <a:solidFill>
            <a:schemeClr val="accent2"/>
          </a:solidFill>
          <a:ln/>
        </p:spPr>
        <p:txBody>
          <a:bodyPr wrap="square" lIns="0" tIns="139700" rIns="63500" bIns="0" rtlCol="0" anchor="ctr"/>
          <a:lstStyle/>
          <a:p>
            <a:pPr algn="ctr" indent="0" marL="0">
              <a:buNone/>
            </a:pPr>
            <a:r>
              <a:rPr lang="en-US" sz="1100" b="1" dirty="0">
                <a:solidFill>
                  <a:schemeClr val="bg1"/>
                </a:solidFill>
              </a:rPr>
              <a:t>MS → small CNN</a:t>
            </a:r>
            <a:endParaRPr lang="en-US" sz="1100" dirty="0"/>
          </a:p>
        </p:txBody>
      </p:sp>
      <p:sp>
        <p:nvSpPr>
          <p:cNvPr id="9" name="Text 7"/>
          <p:cNvSpPr/>
          <p:nvPr/>
        </p:nvSpPr>
        <p:spPr>
          <a:xfrm>
            <a:off x="4245864" y="1188720"/>
            <a:ext cx="1802892" cy="777240"/>
          </a:xfrm>
          <a:prstGeom prst="chevron">
            <a:avLst/>
          </a:prstGeom>
          <a:solidFill>
            <a:schemeClr val="accent6"/>
          </a:solidFill>
          <a:ln/>
        </p:spPr>
        <p:txBody>
          <a:bodyPr wrap="square" lIns="0" tIns="139700" rIns="63500" bIns="0" rtlCol="0" anchor="ctr"/>
          <a:lstStyle/>
          <a:p>
            <a:pPr algn="ctr" indent="0" marL="0">
              <a:buNone/>
            </a:pPr>
            <a:r>
              <a:rPr lang="en-US" sz="1100" b="1" dirty="0">
                <a:solidFill>
                  <a:schemeClr val="bg1"/>
                </a:solidFill>
              </a:rPr>
              <a:t>HS → 1D/3D-CNN</a:t>
            </a:r>
            <a:endParaRPr lang="en-US" sz="1100" dirty="0"/>
          </a:p>
        </p:txBody>
      </p:sp>
      <p:sp>
        <p:nvSpPr>
          <p:cNvPr id="10" name="Text 8"/>
          <p:cNvSpPr/>
          <p:nvPr/>
        </p:nvSpPr>
        <p:spPr>
          <a:xfrm>
            <a:off x="6140196" y="1188720"/>
            <a:ext cx="1802892" cy="777240"/>
          </a:xfrm>
          <a:prstGeom prst="chevron">
            <a:avLst/>
          </a:prstGeom>
          <a:solidFill>
            <a:schemeClr val="accent4"/>
          </a:solidFill>
          <a:ln/>
        </p:spPr>
        <p:txBody>
          <a:bodyPr wrap="square" lIns="0" tIns="139700" rIns="63500" bIns="0" rtlCol="0" anchor="ctr"/>
          <a:lstStyle/>
          <a:p>
            <a:pPr algn="ctr" indent="0" marL="0">
              <a:buNone/>
            </a:pPr>
            <a:r>
              <a:rPr lang="en-US" sz="1100" b="1" dirty="0">
                <a:solidFill>
                  <a:schemeClr val="bg1"/>
                </a:solidFill>
              </a:rPr>
              <a:t>TIR → small CNN</a:t>
            </a:r>
            <a:endParaRPr lang="en-US" sz="1100" dirty="0"/>
          </a:p>
        </p:txBody>
      </p:sp>
      <p:sp>
        <p:nvSpPr>
          <p:cNvPr id="11" name="Text 9"/>
          <p:cNvSpPr/>
          <p:nvPr/>
        </p:nvSpPr>
        <p:spPr>
          <a:xfrm>
            <a:off x="8034528" y="1188720"/>
            <a:ext cx="1802892" cy="777240"/>
          </a:xfrm>
          <a:prstGeom prst="chevron">
            <a:avLst/>
          </a:prstGeom>
          <a:solidFill>
            <a:schemeClr val="tx2"/>
          </a:solidFill>
          <a:ln/>
        </p:spPr>
        <p:txBody>
          <a:bodyPr wrap="square" lIns="0" tIns="139700" rIns="63500" bIns="0" rtlCol="0" anchor="ctr"/>
          <a:lstStyle/>
          <a:p>
            <a:pPr algn="ctr" indent="0" marL="0">
              <a:buNone/>
            </a:pPr>
            <a:r>
              <a:rPr lang="en-US" sz="1100" b="1" dirty="0">
                <a:solidFill>
                  <a:schemeClr val="bg1"/>
                </a:solidFill>
              </a:rPr>
              <a:t>Concat / attention</a:t>
            </a:r>
            <a:endParaRPr lang="en-US" sz="1100" dirty="0"/>
          </a:p>
        </p:txBody>
      </p:sp>
      <p:sp>
        <p:nvSpPr>
          <p:cNvPr id="12" name="Text 10"/>
          <p:cNvSpPr/>
          <p:nvPr/>
        </p:nvSpPr>
        <p:spPr>
          <a:xfrm>
            <a:off x="9928860" y="1188720"/>
            <a:ext cx="1802892" cy="777240"/>
          </a:xfrm>
          <a:prstGeom prst="chevron">
            <a:avLst/>
          </a:prstGeom>
          <a:solidFill>
            <a:schemeClr val="accent3"/>
          </a:solidFill>
          <a:ln/>
        </p:spPr>
        <p:txBody>
          <a:bodyPr wrap="square" lIns="0" tIns="139700" rIns="63500" bIns="0" rtlCol="0" anchor="ctr"/>
          <a:lstStyle/>
          <a:p>
            <a:pPr algn="ctr" indent="0" marL="0">
              <a:buNone/>
            </a:pPr>
            <a:r>
              <a:rPr lang="en-US" sz="1100" b="1" dirty="0">
                <a:solidFill>
                  <a:schemeClr val="bg1"/>
                </a:solidFill>
              </a:rPr>
              <a:t>Ordinal + DI heads</a:t>
            </a:r>
            <a:endParaRPr lang="en-US" sz="1100" dirty="0"/>
          </a:p>
        </p:txBody>
      </p:sp>
      <p:sp>
        <p:nvSpPr>
          <p:cNvPr id="13" name="Shape 11"/>
          <p:cNvSpPr/>
          <p:nvPr/>
        </p:nvSpPr>
        <p:spPr>
          <a:xfrm>
            <a:off x="457200" y="2148840"/>
            <a:ext cx="5486400" cy="3108960"/>
          </a:xfrm>
          <a:prstGeom prst="roundRect">
            <a:avLst>
              <a:gd name="adj" fmla="val 2353"/>
            </a:avLst>
          </a:prstGeom>
          <a:solidFill>
            <a:schemeClr val="bg2"/>
          </a:solidFill>
          <a:ln/>
        </p:spPr>
      </p:sp>
      <p:sp>
        <p:nvSpPr>
          <p:cNvPr id="14" name="Shape 12"/>
          <p:cNvSpPr/>
          <p:nvPr/>
        </p:nvSpPr>
        <p:spPr>
          <a:xfrm>
            <a:off x="457200" y="2258568"/>
            <a:ext cx="64008" cy="347472"/>
          </a:xfrm>
          <a:prstGeom prst="rect">
            <a:avLst/>
          </a:prstGeom>
          <a:solidFill>
            <a:schemeClr val="accent1"/>
          </a:solidFill>
          <a:ln/>
        </p:spPr>
      </p:sp>
      <p:sp>
        <p:nvSpPr>
          <p:cNvPr id="15" name="Text 13"/>
          <p:cNvSpPr txBox="1"/>
          <p:nvPr/>
        </p:nvSpPr>
        <p:spPr>
          <a:xfrm>
            <a:off x="640080" y="2240280"/>
            <a:ext cx="5212080" cy="384048"/>
          </a:xfrm>
          <a:prstGeom prst="rect">
            <a:avLst/>
          </a:prstGeom>
          <a:noFill/>
          <a:ln/>
        </p:spPr>
        <p:txBody>
          <a:bodyPr wrap="square" lIns="0" tIns="0" rIns="0" bIns="0" rtlCol="0" anchor="ctr"/>
          <a:lstStyle/>
          <a:p>
            <a:pPr indent="0" marL="0">
              <a:buNone/>
            </a:pPr>
            <a:r>
              <a:rPr lang="en-US" sz="1600" b="1" dirty="0">
                <a:solidFill>
                  <a:schemeClr val="tx1"/>
                </a:solidFill>
              </a:rPr>
              <a:t>Why it works</a:t>
            </a:r>
            <a:endParaRPr lang="en-US" sz="1600" dirty="0"/>
          </a:p>
        </p:txBody>
      </p:sp>
      <p:sp>
        <p:nvSpPr>
          <p:cNvPr id="16" name="Text 14"/>
          <p:cNvSpPr txBox="1"/>
          <p:nvPr/>
        </p:nvSpPr>
        <p:spPr>
          <a:xfrm>
            <a:off x="640080" y="2679192"/>
            <a:ext cx="5166360" cy="2487168"/>
          </a:xfrm>
          <a:prstGeom prst="rect">
            <a:avLst/>
          </a:prstGeom>
          <a:noFill/>
          <a:ln/>
        </p:spPr>
        <p:txBody>
          <a:bodyPr wrap="square" lIns="0" tIns="0" rIns="0" bIns="0" rtlCol="0" anchor="t"/>
          <a:lstStyle/>
          <a:p>
            <a:pPr marL="165100" indent="-165100">
              <a:spcAft>
                <a:spcPts val="600"/>
              </a:spcAft>
              <a:buSzPct val="100000"/>
              <a:buChar char="•"/>
            </a:pPr>
            <a:r>
              <a:rPr lang="en-US" sz="1450" dirty="0">
                <a:solidFill>
                  <a:schemeClr val="tx1"/>
                </a:solidFill>
              </a:rPr>
              <a:t>Each sensor gets an encoder suited to its data and native resolution</a:t>
            </a:r>
            <a:endParaRPr lang="en-US" sz="1400" dirty="0"/>
          </a:p>
          <a:p>
            <a:pPr marL="165100" indent="-165100">
              <a:spcAft>
                <a:spcPts val="600"/>
              </a:spcAft>
              <a:buSzPct val="100000"/>
              <a:buChar char="•"/>
            </a:pPr>
            <a:r>
              <a:rPr lang="en-US" sz="1450" dirty="0">
                <a:solidFill>
                  <a:schemeClr val="tx1"/>
                </a:solidFill>
              </a:rPr>
              <a:t>Fusion of learned features captures cross-sensor interactions</a:t>
            </a:r>
            <a:endParaRPr lang="en-US" sz="1400" dirty="0"/>
          </a:p>
          <a:p>
            <a:pPr marL="165100" indent="-165100">
              <a:spcAft>
                <a:spcPts val="600"/>
              </a:spcAft>
              <a:buSzPct val="100000"/>
              <a:buChar char="•"/>
            </a:pPr>
            <a:r>
              <a:rPr lang="en-US" sz="1450" dirty="0">
                <a:solidFill>
                  <a:schemeClr val="tx1"/>
                </a:solidFill>
              </a:rPr>
              <a:t>Ablation = drop a branch; pre-trained single-sensor encoders can be reused</a:t>
            </a:r>
            <a:endParaRPr lang="en-US" sz="1400" dirty="0"/>
          </a:p>
        </p:txBody>
      </p:sp>
      <p:sp>
        <p:nvSpPr>
          <p:cNvPr id="17" name="Shape 15"/>
          <p:cNvSpPr/>
          <p:nvPr/>
        </p:nvSpPr>
        <p:spPr>
          <a:xfrm>
            <a:off x="6245352" y="2148840"/>
            <a:ext cx="5486400" cy="3108960"/>
          </a:xfrm>
          <a:prstGeom prst="roundRect">
            <a:avLst>
              <a:gd name="adj" fmla="val 2353"/>
            </a:avLst>
          </a:prstGeom>
          <a:solidFill>
            <a:schemeClr val="bg2"/>
          </a:solidFill>
          <a:ln/>
        </p:spPr>
      </p:sp>
      <p:sp>
        <p:nvSpPr>
          <p:cNvPr id="18" name="Shape 16"/>
          <p:cNvSpPr/>
          <p:nvPr/>
        </p:nvSpPr>
        <p:spPr>
          <a:xfrm>
            <a:off x="6245352" y="2258568"/>
            <a:ext cx="64008" cy="347472"/>
          </a:xfrm>
          <a:prstGeom prst="rect">
            <a:avLst/>
          </a:prstGeom>
          <a:solidFill>
            <a:schemeClr val="accent2"/>
          </a:solidFill>
          <a:ln/>
        </p:spPr>
      </p:sp>
      <p:sp>
        <p:nvSpPr>
          <p:cNvPr id="19" name="Text 17"/>
          <p:cNvSpPr txBox="1"/>
          <p:nvPr/>
        </p:nvSpPr>
        <p:spPr>
          <a:xfrm>
            <a:off x="6428232" y="2240280"/>
            <a:ext cx="5212080" cy="384048"/>
          </a:xfrm>
          <a:prstGeom prst="rect">
            <a:avLst/>
          </a:prstGeom>
          <a:noFill/>
          <a:ln/>
        </p:spPr>
        <p:txBody>
          <a:bodyPr wrap="square" lIns="0" tIns="0" rIns="0" bIns="0" rtlCol="0" anchor="ctr"/>
          <a:lstStyle/>
          <a:p>
            <a:pPr indent="0" marL="0">
              <a:buNone/>
            </a:pPr>
            <a:r>
              <a:rPr lang="en-US" sz="1600" b="1" dirty="0">
                <a:solidFill>
                  <a:schemeClr val="tx1"/>
                </a:solidFill>
              </a:rPr>
              <a:t>Evidence</a:t>
            </a:r>
            <a:endParaRPr lang="en-US" sz="1600" dirty="0"/>
          </a:p>
        </p:txBody>
      </p:sp>
      <p:sp>
        <p:nvSpPr>
          <p:cNvPr id="20" name="Text 18"/>
          <p:cNvSpPr txBox="1"/>
          <p:nvPr/>
        </p:nvSpPr>
        <p:spPr>
          <a:xfrm>
            <a:off x="6428232" y="2679192"/>
            <a:ext cx="5166360" cy="2487168"/>
          </a:xfrm>
          <a:prstGeom prst="rect">
            <a:avLst/>
          </a:prstGeom>
          <a:noFill/>
          <a:ln/>
        </p:spPr>
        <p:txBody>
          <a:bodyPr wrap="square" lIns="0" tIns="0" rIns="0" bIns="0" rtlCol="0" anchor="t"/>
          <a:lstStyle/>
          <a:p>
            <a:pPr marL="165100" indent="-165100">
              <a:spcAft>
                <a:spcPts val="600"/>
              </a:spcAft>
              <a:buSzPct val="100000"/>
              <a:buChar char="•"/>
            </a:pPr>
            <a:r>
              <a:rPr lang="en-US" sz="1450" b="1" dirty="0">
                <a:solidFill>
                  <a:schemeClr val="tx1"/>
                </a:solidFill>
              </a:rPr>
              <a:t>Maimaitijiang 2020:</a:t>
            </a:r>
            <a:pPr indent="0" marL="0">
              <a:spcAft>
                <a:spcPts val="600"/>
              </a:spcAft>
              <a:buNone/>
            </a:pPr>
            <a:r>
              <a:rPr lang="en-US" sz="1450" dirty="0">
                <a:solidFill>
                  <a:schemeClr val="tx1"/>
                </a:solidFill>
              </a:rPr>
              <a:t> intermediate DNN best, but gain over RF small (~950 plots)</a:t>
            </a:r>
            <a:endParaRPr lang="en-US" sz="1400" dirty="0"/>
          </a:p>
          <a:p>
            <a:pPr marL="165100" indent="-165100">
              <a:spcAft>
                <a:spcPts val="600"/>
              </a:spcAft>
              <a:buSzPct val="100000"/>
              <a:buChar char="•"/>
            </a:pPr>
            <a:r>
              <a:rPr lang="en-US" sz="1450" b="1" dirty="0">
                <a:solidFill>
                  <a:schemeClr val="tx1"/>
                </a:solidFill>
              </a:rPr>
              <a:t>VddNet (Kerkech 2020b):</a:t>
            </a:r>
            <a:pPr indent="0" marL="0">
              <a:spcAft>
                <a:spcPts val="600"/>
              </a:spcAft>
              <a:buNone/>
            </a:pPr>
            <a:r>
              <a:rPr lang="en-US" sz="1450" dirty="0">
                <a:solidFill>
                  <a:schemeClr val="tx1"/>
                </a:solidFill>
              </a:rPr>
              <a:t> encoders per input fused at several stages, for vine disease segmentation</a:t>
            </a:r>
            <a:endParaRPr lang="en-US" sz="1400" dirty="0"/>
          </a:p>
          <a:p>
            <a:pPr marL="165100" indent="-165100">
              <a:spcAft>
                <a:spcPts val="600"/>
              </a:spcAft>
              <a:buSzPct val="100000"/>
              <a:buChar char="•"/>
            </a:pPr>
            <a:r>
              <a:rPr lang="en-US" sz="1450" b="1" dirty="0">
                <a:solidFill>
                  <a:schemeClr val="tx1"/>
                </a:solidFill>
              </a:rPr>
              <a:t>Hong 2021:</a:t>
            </a:r>
            <a:pPr indent="0" marL="0">
              <a:spcAft>
                <a:spcPts val="600"/>
              </a:spcAft>
              <a:buNone/>
            </a:pPr>
            <a:r>
              <a:rPr lang="en-US" sz="1450" dirty="0">
                <a:solidFill>
                  <a:schemeClr val="tx1"/>
                </a:solidFill>
              </a:rPr>
              <a:t> middle fusion &gt; early fusion</a:t>
            </a:r>
            <a:endParaRPr lang="en-US" sz="14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DL attention, gating and cross-modal fusion</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DEEP LEARNING · ATTENTION</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gating weights per sensor and per date can show, e.g., thermal dominating early and RGB texture dominating late; report them as interpretability results.</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Hu et al. (2018) squeeze-and-excitation; Vaswani et al. (2017) attention; Hong et al. (2021) cross fusion; Hong et al. (2022) SpectralFormer.</a:t>
            </a:r>
            <a:endParaRPr lang="en-US" sz="1000" dirty="0"/>
          </a:p>
        </p:txBody>
      </p:sp>
      <p:sp>
        <p:nvSpPr>
          <p:cNvPr id="7" name="Shape 5"/>
          <p:cNvSpPr/>
          <p:nvPr/>
        </p:nvSpPr>
        <p:spPr>
          <a:xfrm>
            <a:off x="457200" y="1188720"/>
            <a:ext cx="11274552" cy="731520"/>
          </a:xfrm>
          <a:prstGeom prst="roundRect">
            <a:avLst>
              <a:gd name="adj" fmla="val 10000"/>
            </a:avLst>
          </a:prstGeom>
          <a:solidFill>
            <a:schemeClr val="bg1"/>
          </a:solidFill>
          <a:ln w="15875">
            <a:solidFill>
              <a:schemeClr val="accent1"/>
            </a:solidFill>
            <a:prstDash val="solid"/>
          </a:ln>
        </p:spPr>
      </p:sp>
      <p:sp>
        <p:nvSpPr>
          <p:cNvPr id="8" name="Text 6"/>
          <p:cNvSpPr txBox="1"/>
          <p:nvPr/>
        </p:nvSpPr>
        <p:spPr>
          <a:xfrm>
            <a:off x="594360" y="1188720"/>
            <a:ext cx="11000232" cy="731520"/>
          </a:xfrm>
          <a:prstGeom prst="rect">
            <a:avLst/>
          </a:prstGeom>
          <a:noFill/>
          <a:ln/>
        </p:spPr>
        <p:txBody>
          <a:bodyPr wrap="square" lIns="0" tIns="0" rIns="0" bIns="0" rtlCol="0" anchor="ctr"/>
          <a:lstStyle/>
          <a:p>
            <a:pPr algn="ctr" indent="0" marL="0">
              <a:buNone/>
            </a:pPr>
            <a:r>
              <a:rPr lang="en-US" sz="1500" dirty="0">
                <a:solidFill>
                  <a:schemeClr val="tx1"/>
                </a:solidFill>
                <a:latin typeface="Cambria Math" pitchFamily="34" charset="0"/>
                <a:ea typeface="Cambria Math" pitchFamily="34" charset="-122"/>
                <a:cs typeface="Cambria Math" pitchFamily="34" charset="-120"/>
              </a:rPr>
              <a:t>Gated fusion:  z = Σₛ αₛ · fₛ ,   αₛ = softmax_s( wᵀ tanh(W fₛ) )     (fₛ: embedding of sensor s)</a:t>
            </a:r>
            <a:endParaRPr lang="en-US" sz="1500" dirty="0"/>
          </a:p>
        </p:txBody>
      </p:sp>
      <p:sp>
        <p:nvSpPr>
          <p:cNvPr id="9" name="Shape 7"/>
          <p:cNvSpPr/>
          <p:nvPr/>
        </p:nvSpPr>
        <p:spPr>
          <a:xfrm>
            <a:off x="457200" y="2103120"/>
            <a:ext cx="3657600" cy="3154680"/>
          </a:xfrm>
          <a:prstGeom prst="roundRect">
            <a:avLst>
              <a:gd name="adj" fmla="val 2319"/>
            </a:avLst>
          </a:prstGeom>
          <a:solidFill>
            <a:schemeClr val="bg2"/>
          </a:solidFill>
          <a:ln/>
        </p:spPr>
      </p:sp>
      <p:sp>
        <p:nvSpPr>
          <p:cNvPr id="10" name="Shape 8"/>
          <p:cNvSpPr/>
          <p:nvPr/>
        </p:nvSpPr>
        <p:spPr>
          <a:xfrm>
            <a:off x="457200" y="2212848"/>
            <a:ext cx="64008" cy="347472"/>
          </a:xfrm>
          <a:prstGeom prst="rect">
            <a:avLst/>
          </a:prstGeom>
          <a:solidFill>
            <a:schemeClr val="accent1"/>
          </a:solidFill>
          <a:ln/>
        </p:spPr>
      </p:sp>
      <p:sp>
        <p:nvSpPr>
          <p:cNvPr id="11" name="Text 9"/>
          <p:cNvSpPr txBox="1"/>
          <p:nvPr/>
        </p:nvSpPr>
        <p:spPr>
          <a:xfrm>
            <a:off x="640080" y="2194560"/>
            <a:ext cx="3383280" cy="384048"/>
          </a:xfrm>
          <a:prstGeom prst="rect">
            <a:avLst/>
          </a:prstGeom>
          <a:noFill/>
          <a:ln/>
        </p:spPr>
        <p:txBody>
          <a:bodyPr wrap="square" lIns="0" tIns="0" rIns="0" bIns="0" rtlCol="0" anchor="ctr"/>
          <a:lstStyle/>
          <a:p>
            <a:pPr indent="0" marL="0">
              <a:buNone/>
            </a:pPr>
            <a:r>
              <a:rPr lang="en-US" sz="1600" b="1" dirty="0">
                <a:solidFill>
                  <a:schemeClr val="tx1"/>
                </a:solidFill>
              </a:rPr>
              <a:t>Sensor gating</a:t>
            </a:r>
            <a:endParaRPr lang="en-US" sz="1600" dirty="0"/>
          </a:p>
        </p:txBody>
      </p:sp>
      <p:sp>
        <p:nvSpPr>
          <p:cNvPr id="12" name="Text 10"/>
          <p:cNvSpPr txBox="1"/>
          <p:nvPr/>
        </p:nvSpPr>
        <p:spPr>
          <a:xfrm>
            <a:off x="640080" y="2633472"/>
            <a:ext cx="3337560" cy="2532888"/>
          </a:xfrm>
          <a:prstGeom prst="rect">
            <a:avLst/>
          </a:prstGeom>
          <a:noFill/>
          <a:ln/>
        </p:spPr>
        <p:txBody>
          <a:bodyPr wrap="square" lIns="0" tIns="0" rIns="0" bIns="0" rtlCol="0" anchor="t"/>
          <a:lstStyle/>
          <a:p>
            <a:pPr marL="165100" indent="-165100">
              <a:spcAft>
                <a:spcPts val="600"/>
              </a:spcAft>
              <a:buSzPct val="100000"/>
              <a:buChar char="•"/>
            </a:pPr>
            <a:r>
              <a:rPr lang="en-US" sz="1450" dirty="0">
                <a:solidFill>
                  <a:schemeClr val="tx1"/>
                </a:solidFill>
              </a:rPr>
              <a:t>Learns a weight per sensor for each sample</a:t>
            </a:r>
            <a:endParaRPr lang="en-US" sz="1400" dirty="0"/>
          </a:p>
          <a:p>
            <a:pPr marL="165100" indent="-165100">
              <a:spcAft>
                <a:spcPts val="600"/>
              </a:spcAft>
              <a:buSzPct val="100000"/>
              <a:buChar char="•"/>
            </a:pPr>
            <a:r>
              <a:rPr lang="en-US" sz="1450" dirty="0">
                <a:solidFill>
                  <a:schemeClr val="tx1"/>
                </a:solidFill>
              </a:rPr>
              <a:t>Interpretable; few extra parameters</a:t>
            </a:r>
            <a:endParaRPr lang="en-US" sz="1400" dirty="0"/>
          </a:p>
        </p:txBody>
      </p:sp>
      <p:sp>
        <p:nvSpPr>
          <p:cNvPr id="13" name="Shape 11"/>
          <p:cNvSpPr/>
          <p:nvPr/>
        </p:nvSpPr>
        <p:spPr>
          <a:xfrm>
            <a:off x="4270248" y="2103120"/>
            <a:ext cx="3657600" cy="3154680"/>
          </a:xfrm>
          <a:prstGeom prst="roundRect">
            <a:avLst>
              <a:gd name="adj" fmla="val 2319"/>
            </a:avLst>
          </a:prstGeom>
          <a:solidFill>
            <a:schemeClr val="bg2"/>
          </a:solidFill>
          <a:ln/>
        </p:spPr>
      </p:sp>
      <p:sp>
        <p:nvSpPr>
          <p:cNvPr id="14" name="Shape 12"/>
          <p:cNvSpPr/>
          <p:nvPr/>
        </p:nvSpPr>
        <p:spPr>
          <a:xfrm>
            <a:off x="4270248" y="2212848"/>
            <a:ext cx="64008" cy="347472"/>
          </a:xfrm>
          <a:prstGeom prst="rect">
            <a:avLst/>
          </a:prstGeom>
          <a:solidFill>
            <a:schemeClr val="accent6"/>
          </a:solidFill>
          <a:ln/>
        </p:spPr>
      </p:sp>
      <p:sp>
        <p:nvSpPr>
          <p:cNvPr id="15" name="Text 13"/>
          <p:cNvSpPr txBox="1"/>
          <p:nvPr/>
        </p:nvSpPr>
        <p:spPr>
          <a:xfrm>
            <a:off x="4453128" y="2194560"/>
            <a:ext cx="3383280" cy="384048"/>
          </a:xfrm>
          <a:prstGeom prst="rect">
            <a:avLst/>
          </a:prstGeom>
          <a:noFill/>
          <a:ln/>
        </p:spPr>
        <p:txBody>
          <a:bodyPr wrap="square" lIns="0" tIns="0" rIns="0" bIns="0" rtlCol="0" anchor="ctr"/>
          <a:lstStyle/>
          <a:p>
            <a:pPr indent="0" marL="0">
              <a:buNone/>
            </a:pPr>
            <a:r>
              <a:rPr lang="en-US" sz="1600" b="1" dirty="0">
                <a:solidFill>
                  <a:schemeClr val="tx1"/>
                </a:solidFill>
              </a:rPr>
              <a:t>Channel attention</a:t>
            </a:r>
            <a:endParaRPr lang="en-US" sz="1600" dirty="0"/>
          </a:p>
        </p:txBody>
      </p:sp>
      <p:sp>
        <p:nvSpPr>
          <p:cNvPr id="16" name="Text 14"/>
          <p:cNvSpPr txBox="1"/>
          <p:nvPr/>
        </p:nvSpPr>
        <p:spPr>
          <a:xfrm>
            <a:off x="4453128" y="2633472"/>
            <a:ext cx="3337560" cy="2532888"/>
          </a:xfrm>
          <a:prstGeom prst="rect">
            <a:avLst/>
          </a:prstGeom>
          <a:noFill/>
          <a:ln/>
        </p:spPr>
        <p:txBody>
          <a:bodyPr wrap="square" lIns="0" tIns="0" rIns="0" bIns="0" rtlCol="0" anchor="t"/>
          <a:lstStyle/>
          <a:p>
            <a:pPr marL="165100" indent="-165100">
              <a:spcAft>
                <a:spcPts val="600"/>
              </a:spcAft>
              <a:buSzPct val="100000"/>
              <a:buChar char="•"/>
            </a:pPr>
            <a:r>
              <a:rPr lang="en-US" sz="1450" dirty="0">
                <a:solidFill>
                  <a:schemeClr val="tx1"/>
                </a:solidFill>
              </a:rPr>
              <a:t>Squeeze-and-excitation reweights channels/bands inside an encoder</a:t>
            </a:r>
            <a:endParaRPr lang="en-US" sz="1400" dirty="0"/>
          </a:p>
          <a:p>
            <a:pPr marL="165100" indent="-165100">
              <a:spcAft>
                <a:spcPts val="600"/>
              </a:spcAft>
              <a:buSzPct val="100000"/>
              <a:buChar char="•"/>
            </a:pPr>
            <a:r>
              <a:rPr lang="en-US" sz="1450" dirty="0">
                <a:solidFill>
                  <a:schemeClr val="tx1"/>
                </a:solidFill>
              </a:rPr>
              <a:t>Useful in the HS branch (band importance)</a:t>
            </a:r>
            <a:endParaRPr lang="en-US" sz="1400" dirty="0"/>
          </a:p>
        </p:txBody>
      </p:sp>
      <p:sp>
        <p:nvSpPr>
          <p:cNvPr id="17" name="Shape 15"/>
          <p:cNvSpPr/>
          <p:nvPr/>
        </p:nvSpPr>
        <p:spPr>
          <a:xfrm>
            <a:off x="8074152" y="2103120"/>
            <a:ext cx="3657600" cy="3154680"/>
          </a:xfrm>
          <a:prstGeom prst="roundRect">
            <a:avLst>
              <a:gd name="adj" fmla="val 2319"/>
            </a:avLst>
          </a:prstGeom>
          <a:solidFill>
            <a:schemeClr val="bg2"/>
          </a:solidFill>
          <a:ln/>
        </p:spPr>
      </p:sp>
      <p:sp>
        <p:nvSpPr>
          <p:cNvPr id="18" name="Shape 16"/>
          <p:cNvSpPr/>
          <p:nvPr/>
        </p:nvSpPr>
        <p:spPr>
          <a:xfrm>
            <a:off x="8074152" y="2212848"/>
            <a:ext cx="64008" cy="347472"/>
          </a:xfrm>
          <a:prstGeom prst="rect">
            <a:avLst/>
          </a:prstGeom>
          <a:solidFill>
            <a:schemeClr val="accent3"/>
          </a:solidFill>
          <a:ln/>
        </p:spPr>
      </p:sp>
      <p:sp>
        <p:nvSpPr>
          <p:cNvPr id="19" name="Text 17"/>
          <p:cNvSpPr txBox="1"/>
          <p:nvPr/>
        </p:nvSpPr>
        <p:spPr>
          <a:xfrm>
            <a:off x="8257032" y="2194560"/>
            <a:ext cx="3383280" cy="384048"/>
          </a:xfrm>
          <a:prstGeom prst="rect">
            <a:avLst/>
          </a:prstGeom>
          <a:noFill/>
          <a:ln/>
        </p:spPr>
        <p:txBody>
          <a:bodyPr wrap="square" lIns="0" tIns="0" rIns="0" bIns="0" rtlCol="0" anchor="ctr"/>
          <a:lstStyle/>
          <a:p>
            <a:pPr indent="0" marL="0">
              <a:buNone/>
            </a:pPr>
            <a:r>
              <a:rPr lang="en-US" sz="1600" b="1" dirty="0">
                <a:solidFill>
                  <a:schemeClr val="tx1"/>
                </a:solidFill>
              </a:rPr>
              <a:t>Cross-attention</a:t>
            </a:r>
            <a:endParaRPr lang="en-US" sz="1600" dirty="0"/>
          </a:p>
        </p:txBody>
      </p:sp>
      <p:sp>
        <p:nvSpPr>
          <p:cNvPr id="20" name="Text 18"/>
          <p:cNvSpPr txBox="1"/>
          <p:nvPr/>
        </p:nvSpPr>
        <p:spPr>
          <a:xfrm>
            <a:off x="8257032" y="2633472"/>
            <a:ext cx="3337560" cy="2532888"/>
          </a:xfrm>
          <a:prstGeom prst="rect">
            <a:avLst/>
          </a:prstGeom>
          <a:noFill/>
          <a:ln/>
        </p:spPr>
        <p:txBody>
          <a:bodyPr wrap="square" lIns="0" tIns="0" rIns="0" bIns="0" rtlCol="0" anchor="t"/>
          <a:lstStyle/>
          <a:p>
            <a:pPr marL="165100" indent="-165100">
              <a:spcAft>
                <a:spcPts val="600"/>
              </a:spcAft>
              <a:buSzPct val="100000"/>
              <a:buChar char="•"/>
            </a:pPr>
            <a:r>
              <a:rPr lang="en-US" sz="1450" dirty="0">
                <a:solidFill>
                  <a:schemeClr val="tx1"/>
                </a:solidFill>
              </a:rPr>
              <a:t>One sensor's features query another's (e.g. HS ↔ RGB)</a:t>
            </a:r>
            <a:endParaRPr lang="en-US" sz="1400" dirty="0"/>
          </a:p>
          <a:p>
            <a:pPr marL="165100" indent="-165100">
              <a:spcAft>
                <a:spcPts val="600"/>
              </a:spcAft>
              <a:buSzPct val="100000"/>
              <a:buChar char="•"/>
            </a:pPr>
            <a:r>
              <a:rPr lang="en-US" sz="1450" dirty="0">
                <a:solidFill>
                  <a:schemeClr val="tx1"/>
                </a:solidFill>
              </a:rPr>
              <a:t>Transformer-style; best in Hong 2021 but data-hungry</a:t>
            </a:r>
            <a:endParaRPr lang="en-US" sz="1400" dirty="0"/>
          </a:p>
          <a:p>
            <a:pPr marL="165100" indent="-165100">
              <a:spcAft>
                <a:spcPts val="600"/>
              </a:spcAft>
              <a:buSzPct val="100000"/>
              <a:buChar char="•"/>
            </a:pPr>
            <a:r>
              <a:rPr lang="en-US" sz="1450" dirty="0">
                <a:solidFill>
                  <a:schemeClr val="tx1"/>
                </a:solidFill>
              </a:rPr>
              <a:t>Use with self-supervised pre-training</a:t>
            </a:r>
            <a:endParaRPr lang="en-US" sz="14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DL sensor-specific encoders (single-sensor level)</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DEEP LEARNING · ENCODERS</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train each encoder as a single-sensor model first (Objective O2); these models are the DL baselines and the initial weights for fusion.</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He et al. (2016) ResNet; Roy et al. (2020) HybridSN; Hong et al. (2022) SpectralFormer; Zhang, X. et al. (2019); Shi et al. (2022); Pan et al. (2021).</a:t>
            </a:r>
            <a:endParaRPr lang="en-US" sz="1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1463040"/>
                <a:gridCol w="4663440"/>
                <a:gridCol w="2194560"/>
                <a:gridCol w="2953512"/>
              </a:tblGrid>
              <a:tr h="0">
                <a:tc>
                  <a:txBody>
                    <a:bodyPr/>
                    <a:lstStyle/>
                    <a:p>
                      <a:pPr indent="0" marL="0">
                        <a:buNone/>
                      </a:pPr>
                      <a:r>
                        <a:rPr lang="en-US" sz="1300" b="1" dirty="0">
                          <a:solidFill>
                            <a:schemeClr val="bg1"/>
                          </a:solidFill>
                        </a:rPr>
                        <a:t>Sensor</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Encoder options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Input</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Reference examples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r>
              <a:tr h="0">
                <a:tc>
                  <a:txBody>
                    <a:bodyPr/>
                    <a:lstStyle/>
                    <a:p>
                      <a:pPr indent="0" marL="0">
                        <a:buNone/>
                      </a:pPr>
                      <a:r>
                        <a:rPr lang="en-US" sz="1300" dirty="0">
                          <a:solidFill>
                            <a:schemeClr val="tx1"/>
                          </a:solidFill>
                        </a:rPr>
                        <a:t>RGB</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ResNet-18 / EfficientNet-B0 pre-trained on ImageNet; U-Net/PSPNet for segmentation</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3-channel tiles (≈ 1 cm)</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He et al. 2016; Pan et al. 2021</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300" dirty="0">
                          <a:solidFill>
                            <a:schemeClr val="tx1"/>
                          </a:solidFill>
                        </a:rPr>
                        <a:t>Multispectral</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Small 2D-CNN (3–4 conv blocks), optional SE attention</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5 bands (+ indices)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Su et al. 2018 (ML baseline)</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300" dirty="0">
                          <a:solidFill>
                            <a:schemeClr val="tx1"/>
                          </a:solidFill>
                        </a:rPr>
                        <a:t>Hyperspectral</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1D-CNN on spectra; 3D/2D HybridSN on cubes; SpectralFormer</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Full bands or PCA</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Roy et al. 2020; Zhang et al. 2019; Shi et al. 2022</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300" dirty="0">
                          <a:solidFill>
                            <a:schemeClr val="tx1"/>
                          </a:solidFill>
                        </a:rPr>
                        <a:t>Thermal</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Small 2D-CNN on CTD/NRCT tiles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1 channel</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300" dirty="0">
                          <a:solidFill>
                            <a:schemeClr val="tx1"/>
                          </a:solidFill>
                        </a:rPr>
                        <a:t>Structure</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Small CNN on canopy height model</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1 channel</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Kerkech et al. 2020b (depth branch)</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DL training with few labelled plots</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DEEP LEARNING · TRAINING</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192 plot labels are small for DL: use tiles, pre-trained encoders, staged training, synchronised augmentation and modality dropout, and compare honestly with ML.</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Neverova et al. (2016) ModDrop; Wang, Tran &amp; Feiszli (2020) modality imbalance; He et al. (2022) masked autoencoders; Maimaitijiang et al. (2020) sample-size caution.</a:t>
            </a:r>
            <a:endParaRPr lang="en-US" sz="1000" dirty="0"/>
          </a:p>
        </p:txBody>
      </p:sp>
      <p:sp>
        <p:nvSpPr>
          <p:cNvPr id="7" name="Shape 5"/>
          <p:cNvSpPr/>
          <p:nvPr/>
        </p:nvSpPr>
        <p:spPr>
          <a:xfrm>
            <a:off x="457200" y="1188720"/>
            <a:ext cx="3657600" cy="4069080"/>
          </a:xfrm>
          <a:prstGeom prst="roundRect">
            <a:avLst>
              <a:gd name="adj" fmla="val 2000"/>
            </a:avLst>
          </a:prstGeom>
          <a:solidFill>
            <a:schemeClr val="bg2"/>
          </a:solidFill>
          <a:ln/>
        </p:spPr>
      </p:sp>
      <p:sp>
        <p:nvSpPr>
          <p:cNvPr id="8" name="Shape 6"/>
          <p:cNvSpPr/>
          <p:nvPr/>
        </p:nvSpPr>
        <p:spPr>
          <a:xfrm>
            <a:off x="457200" y="1298448"/>
            <a:ext cx="64008" cy="347472"/>
          </a:xfrm>
          <a:prstGeom prst="rect">
            <a:avLst/>
          </a:prstGeom>
          <a:solidFill>
            <a:schemeClr val="accent1"/>
          </a:solidFill>
          <a:ln/>
        </p:spPr>
      </p:sp>
      <p:sp>
        <p:nvSpPr>
          <p:cNvPr id="9" name="Text 7"/>
          <p:cNvSpPr txBox="1"/>
          <p:nvPr/>
        </p:nvSpPr>
        <p:spPr>
          <a:xfrm>
            <a:off x="640080" y="1280160"/>
            <a:ext cx="3383280" cy="384048"/>
          </a:xfrm>
          <a:prstGeom prst="rect">
            <a:avLst/>
          </a:prstGeom>
          <a:noFill/>
          <a:ln/>
        </p:spPr>
        <p:txBody>
          <a:bodyPr wrap="square" lIns="0" tIns="0" rIns="0" bIns="0" rtlCol="0" anchor="ctr"/>
          <a:lstStyle/>
          <a:p>
            <a:pPr indent="0" marL="0">
              <a:buNone/>
            </a:pPr>
            <a:r>
              <a:rPr lang="en-US" sz="1600" b="1" dirty="0">
                <a:solidFill>
                  <a:schemeClr val="tx1"/>
                </a:solidFill>
              </a:rPr>
              <a:t>Data</a:t>
            </a:r>
            <a:endParaRPr lang="en-US" sz="1600" dirty="0"/>
          </a:p>
        </p:txBody>
      </p:sp>
      <p:sp>
        <p:nvSpPr>
          <p:cNvPr id="10" name="Text 8"/>
          <p:cNvSpPr txBox="1"/>
          <p:nvPr/>
        </p:nvSpPr>
        <p:spPr>
          <a:xfrm>
            <a:off x="640080" y="1719072"/>
            <a:ext cx="3337560" cy="3447288"/>
          </a:xfrm>
          <a:prstGeom prst="rect">
            <a:avLst/>
          </a:prstGeom>
          <a:noFill/>
          <a:ln/>
        </p:spPr>
        <p:txBody>
          <a:bodyPr wrap="square" lIns="0" tIns="0" rIns="0" bIns="0" rtlCol="0" anchor="t"/>
          <a:lstStyle/>
          <a:p>
            <a:pPr marL="165100" indent="-165100">
              <a:spcAft>
                <a:spcPts val="600"/>
              </a:spcAft>
              <a:buSzPct val="100000"/>
              <a:buChar char="•"/>
            </a:pPr>
            <a:r>
              <a:rPr lang="en-US" sz="1450" dirty="0">
                <a:solidFill>
                  <a:schemeClr val="tx1"/>
                </a:solidFill>
              </a:rPr>
              <a:t>Tiles per plot (each inherits the plot label)</a:t>
            </a:r>
            <a:endParaRPr lang="en-US" sz="1400" dirty="0"/>
          </a:p>
          <a:p>
            <a:pPr marL="165100" indent="-165100">
              <a:spcAft>
                <a:spcPts val="600"/>
              </a:spcAft>
              <a:buSzPct val="100000"/>
              <a:buChar char="•"/>
            </a:pPr>
            <a:r>
              <a:rPr lang="en-US" sz="1450" b="1" dirty="0">
                <a:solidFill>
                  <a:schemeClr val="tx1"/>
                </a:solidFill>
              </a:rPr>
              <a:t>Synchronised augmentation:</a:t>
            </a:r>
            <a:pPr indent="0" marL="0">
              <a:spcAft>
                <a:spcPts val="600"/>
              </a:spcAft>
              <a:buNone/>
            </a:pPr>
            <a:r>
              <a:rPr lang="en-US" sz="1450" dirty="0">
                <a:solidFill>
                  <a:schemeClr val="tx1"/>
                </a:solidFill>
              </a:rPr>
              <a:t> same flip/rotation/crop for all sensors</a:t>
            </a:r>
            <a:endParaRPr lang="en-US" sz="1400" dirty="0"/>
          </a:p>
          <a:p>
            <a:pPr marL="165100" indent="-165100">
              <a:spcAft>
                <a:spcPts val="600"/>
              </a:spcAft>
              <a:buSzPct val="100000"/>
              <a:buChar char="•"/>
            </a:pPr>
            <a:r>
              <a:rPr lang="en-US" sz="1450" dirty="0">
                <a:solidFill>
                  <a:schemeClr val="tx1"/>
                </a:solidFill>
              </a:rPr>
              <a:t>Small per-sensor radiometric jitter</a:t>
            </a:r>
            <a:endParaRPr lang="en-US" sz="1400" dirty="0"/>
          </a:p>
          <a:p>
            <a:pPr marL="165100" indent="-165100">
              <a:spcAft>
                <a:spcPts val="600"/>
              </a:spcAft>
              <a:buSzPct val="100000"/>
              <a:buChar char="•"/>
            </a:pPr>
            <a:r>
              <a:rPr lang="en-US" sz="1450" dirty="0">
                <a:solidFill>
                  <a:schemeClr val="tx1"/>
                </a:solidFill>
              </a:rPr>
              <a:t>Class weights / balanced sampling</a:t>
            </a:r>
            <a:endParaRPr lang="en-US" sz="1400" dirty="0"/>
          </a:p>
        </p:txBody>
      </p:sp>
      <p:sp>
        <p:nvSpPr>
          <p:cNvPr id="11" name="Shape 9"/>
          <p:cNvSpPr/>
          <p:nvPr/>
        </p:nvSpPr>
        <p:spPr>
          <a:xfrm>
            <a:off x="4270248" y="1188720"/>
            <a:ext cx="3657600" cy="4069080"/>
          </a:xfrm>
          <a:prstGeom prst="roundRect">
            <a:avLst>
              <a:gd name="adj" fmla="val 2000"/>
            </a:avLst>
          </a:prstGeom>
          <a:solidFill>
            <a:schemeClr val="bg2"/>
          </a:solidFill>
          <a:ln/>
        </p:spPr>
      </p:sp>
      <p:sp>
        <p:nvSpPr>
          <p:cNvPr id="12" name="Shape 10"/>
          <p:cNvSpPr/>
          <p:nvPr/>
        </p:nvSpPr>
        <p:spPr>
          <a:xfrm>
            <a:off x="4270248" y="1298448"/>
            <a:ext cx="64008" cy="347472"/>
          </a:xfrm>
          <a:prstGeom prst="rect">
            <a:avLst/>
          </a:prstGeom>
          <a:solidFill>
            <a:schemeClr val="accent2"/>
          </a:solidFill>
          <a:ln/>
        </p:spPr>
      </p:sp>
      <p:sp>
        <p:nvSpPr>
          <p:cNvPr id="13" name="Text 11"/>
          <p:cNvSpPr txBox="1"/>
          <p:nvPr/>
        </p:nvSpPr>
        <p:spPr>
          <a:xfrm>
            <a:off x="4453128" y="1280160"/>
            <a:ext cx="3383280" cy="384048"/>
          </a:xfrm>
          <a:prstGeom prst="rect">
            <a:avLst/>
          </a:prstGeom>
          <a:noFill/>
          <a:ln/>
        </p:spPr>
        <p:txBody>
          <a:bodyPr wrap="square" lIns="0" tIns="0" rIns="0" bIns="0" rtlCol="0" anchor="ctr"/>
          <a:lstStyle/>
          <a:p>
            <a:pPr indent="0" marL="0">
              <a:buNone/>
            </a:pPr>
            <a:r>
              <a:rPr lang="en-US" sz="1600" b="1" dirty="0">
                <a:solidFill>
                  <a:schemeClr val="tx1"/>
                </a:solidFill>
              </a:rPr>
              <a:t>Model</a:t>
            </a:r>
            <a:endParaRPr lang="en-US" sz="1600" dirty="0"/>
          </a:p>
        </p:txBody>
      </p:sp>
      <p:sp>
        <p:nvSpPr>
          <p:cNvPr id="14" name="Text 12"/>
          <p:cNvSpPr txBox="1"/>
          <p:nvPr/>
        </p:nvSpPr>
        <p:spPr>
          <a:xfrm>
            <a:off x="4453128" y="1719072"/>
            <a:ext cx="3337560" cy="3447288"/>
          </a:xfrm>
          <a:prstGeom prst="rect">
            <a:avLst/>
          </a:prstGeom>
          <a:noFill/>
          <a:ln/>
        </p:spPr>
        <p:txBody>
          <a:bodyPr wrap="square" lIns="0" tIns="0" rIns="0" bIns="0" rtlCol="0" anchor="t"/>
          <a:lstStyle/>
          <a:p>
            <a:pPr marL="165100" indent="-165100">
              <a:spcAft>
                <a:spcPts val="600"/>
              </a:spcAft>
              <a:buSzPct val="100000"/>
              <a:buChar char="•"/>
            </a:pPr>
            <a:r>
              <a:rPr lang="en-US" sz="1450" dirty="0">
                <a:solidFill>
                  <a:schemeClr val="tx1"/>
                </a:solidFill>
              </a:rPr>
              <a:t>ImageNet weights for RGB</a:t>
            </a:r>
            <a:endParaRPr lang="en-US" sz="1400" dirty="0"/>
          </a:p>
          <a:p>
            <a:pPr marL="165100" indent="-165100">
              <a:spcAft>
                <a:spcPts val="600"/>
              </a:spcAft>
              <a:buSzPct val="100000"/>
              <a:buChar char="•"/>
            </a:pPr>
            <a:r>
              <a:rPr lang="en-US" sz="1450" dirty="0">
                <a:solidFill>
                  <a:schemeClr val="tx1"/>
                </a:solidFill>
              </a:rPr>
              <a:t>Self-supervised pre-training (MAE / contrastive) on unlabelled tiles of all flights</a:t>
            </a:r>
            <a:endParaRPr lang="en-US" sz="1400" dirty="0"/>
          </a:p>
          <a:p>
            <a:pPr marL="165100" indent="-165100">
              <a:spcAft>
                <a:spcPts val="600"/>
              </a:spcAft>
              <a:buSzPct val="100000"/>
              <a:buChar char="•"/>
            </a:pPr>
            <a:r>
              <a:rPr lang="en-US" sz="1450" dirty="0">
                <a:solidFill>
                  <a:schemeClr val="tx1"/>
                </a:solidFill>
              </a:rPr>
              <a:t>Small encoders, dropout, weight decay</a:t>
            </a:r>
            <a:endParaRPr lang="en-US" sz="1400" dirty="0"/>
          </a:p>
          <a:p>
            <a:pPr marL="165100" indent="-165100">
              <a:spcAft>
                <a:spcPts val="600"/>
              </a:spcAft>
              <a:buSzPct val="100000"/>
              <a:buChar char="•"/>
            </a:pPr>
            <a:r>
              <a:rPr lang="en-US" sz="1450" b="1" dirty="0">
                <a:solidFill>
                  <a:schemeClr val="tx1"/>
                </a:solidFill>
              </a:rPr>
              <a:t>Staged:</a:t>
            </a:r>
            <a:pPr indent="0" marL="0">
              <a:spcAft>
                <a:spcPts val="600"/>
              </a:spcAft>
              <a:buNone/>
            </a:pPr>
            <a:r>
              <a:rPr lang="en-US" sz="1450" dirty="0">
                <a:solidFill>
                  <a:schemeClr val="tx1"/>
                </a:solidFill>
              </a:rPr>
              <a:t> train branches → freeze → train fusion head → fine-tune</a:t>
            </a:r>
            <a:endParaRPr lang="en-US" sz="1400" dirty="0"/>
          </a:p>
        </p:txBody>
      </p:sp>
      <p:sp>
        <p:nvSpPr>
          <p:cNvPr id="15" name="Shape 13"/>
          <p:cNvSpPr/>
          <p:nvPr/>
        </p:nvSpPr>
        <p:spPr>
          <a:xfrm>
            <a:off x="8074152" y="1188720"/>
            <a:ext cx="3657600" cy="4069080"/>
          </a:xfrm>
          <a:prstGeom prst="roundRect">
            <a:avLst>
              <a:gd name="adj" fmla="val 2000"/>
            </a:avLst>
          </a:prstGeom>
          <a:solidFill>
            <a:schemeClr val="bg2"/>
          </a:solidFill>
          <a:ln/>
        </p:spPr>
      </p:sp>
      <p:sp>
        <p:nvSpPr>
          <p:cNvPr id="16" name="Shape 14"/>
          <p:cNvSpPr/>
          <p:nvPr/>
        </p:nvSpPr>
        <p:spPr>
          <a:xfrm>
            <a:off x="8074152" y="1298448"/>
            <a:ext cx="64008" cy="347472"/>
          </a:xfrm>
          <a:prstGeom prst="rect">
            <a:avLst/>
          </a:prstGeom>
          <a:solidFill>
            <a:schemeClr val="accent3"/>
          </a:solidFill>
          <a:ln/>
        </p:spPr>
      </p:sp>
      <p:sp>
        <p:nvSpPr>
          <p:cNvPr id="17" name="Text 15"/>
          <p:cNvSpPr txBox="1"/>
          <p:nvPr/>
        </p:nvSpPr>
        <p:spPr>
          <a:xfrm>
            <a:off x="8257032" y="1280160"/>
            <a:ext cx="3383280" cy="384048"/>
          </a:xfrm>
          <a:prstGeom prst="rect">
            <a:avLst/>
          </a:prstGeom>
          <a:noFill/>
          <a:ln/>
        </p:spPr>
        <p:txBody>
          <a:bodyPr wrap="square" lIns="0" tIns="0" rIns="0" bIns="0" rtlCol="0" anchor="ctr"/>
          <a:lstStyle/>
          <a:p>
            <a:pPr indent="0" marL="0">
              <a:buNone/>
            </a:pPr>
            <a:r>
              <a:rPr lang="en-US" sz="1600" b="1" dirty="0">
                <a:solidFill>
                  <a:schemeClr val="tx1"/>
                </a:solidFill>
              </a:rPr>
              <a:t>Fusion-specific</a:t>
            </a:r>
            <a:endParaRPr lang="en-US" sz="1600" dirty="0"/>
          </a:p>
        </p:txBody>
      </p:sp>
      <p:sp>
        <p:nvSpPr>
          <p:cNvPr id="18" name="Text 16"/>
          <p:cNvSpPr txBox="1"/>
          <p:nvPr/>
        </p:nvSpPr>
        <p:spPr>
          <a:xfrm>
            <a:off x="8257032" y="1719072"/>
            <a:ext cx="3337560" cy="3447288"/>
          </a:xfrm>
          <a:prstGeom prst="rect">
            <a:avLst/>
          </a:prstGeom>
          <a:noFill/>
          <a:ln/>
        </p:spPr>
        <p:txBody>
          <a:bodyPr wrap="square" lIns="0" tIns="0" rIns="0" bIns="0" rtlCol="0" anchor="t"/>
          <a:lstStyle/>
          <a:p>
            <a:pPr marL="165100" indent="-165100">
              <a:spcAft>
                <a:spcPts val="600"/>
              </a:spcAft>
              <a:buSzPct val="100000"/>
              <a:buChar char="•"/>
            </a:pPr>
            <a:r>
              <a:rPr lang="en-US" sz="1450" b="1" dirty="0">
                <a:solidFill>
                  <a:schemeClr val="tx1"/>
                </a:solidFill>
              </a:rPr>
              <a:t>Modality dropout:</a:t>
            </a:r>
            <a:pPr indent="0" marL="0">
              <a:spcAft>
                <a:spcPts val="600"/>
              </a:spcAft>
              <a:buNone/>
            </a:pPr>
            <a:r>
              <a:rPr lang="en-US" sz="1450" dirty="0">
                <a:solidFill>
                  <a:schemeClr val="tx1"/>
                </a:solidFill>
              </a:rPr>
              <a:t> randomly zero one sensor (p ≈ 0.1–0.2)</a:t>
            </a:r>
            <a:endParaRPr lang="en-US" sz="1400" dirty="0"/>
          </a:p>
          <a:p>
            <a:pPr marL="165100" indent="-165100">
              <a:spcAft>
                <a:spcPts val="600"/>
              </a:spcAft>
              <a:buSzPct val="100000"/>
              <a:buChar char="•"/>
            </a:pPr>
            <a:r>
              <a:rPr lang="en-US" sz="1450" dirty="0">
                <a:solidFill>
                  <a:schemeClr val="tx1"/>
                </a:solidFill>
              </a:rPr>
              <a:t>Watch </a:t>
            </a:r>
            <a:pPr indent="0" marL="0">
              <a:spcAft>
                <a:spcPts val="600"/>
              </a:spcAft>
              <a:buNone/>
            </a:pPr>
            <a:r>
              <a:rPr lang="en-US" sz="1450" b="1" dirty="0">
                <a:solidFill>
                  <a:schemeClr val="tx1"/>
                </a:solidFill>
              </a:rPr>
              <a:t>modality imbalance</a:t>
            </a:r>
            <a:pPr indent="0" marL="0">
              <a:spcAft>
                <a:spcPts val="600"/>
              </a:spcAft>
              <a:buNone/>
            </a:pPr>
            <a:r>
              <a:rPr lang="en-US" sz="1450" dirty="0">
                <a:solidFill>
                  <a:schemeClr val="tx1"/>
                </a:solidFill>
              </a:rPr>
              <a:t>: one sensor learns fastest and others are ignored</a:t>
            </a:r>
            <a:endParaRPr lang="en-US" sz="1400" dirty="0"/>
          </a:p>
          <a:p>
            <a:pPr marL="165100" indent="-165100">
              <a:spcAft>
                <a:spcPts val="600"/>
              </a:spcAft>
              <a:buSzPct val="100000"/>
              <a:buChar char="•"/>
            </a:pPr>
            <a:r>
              <a:rPr lang="en-US" sz="1450" dirty="0">
                <a:solidFill>
                  <a:schemeClr val="tx1"/>
                </a:solidFill>
              </a:rPr>
              <a:t>Early stopping on inner folds</a:t>
            </a:r>
            <a:endParaRPr lang="en-US" sz="1400" dirty="0"/>
          </a:p>
          <a:p>
            <a:pPr marL="165100" indent="-165100">
              <a:spcAft>
                <a:spcPts val="600"/>
              </a:spcAft>
              <a:buSzPct val="100000"/>
              <a:buChar char="•"/>
            </a:pPr>
            <a:r>
              <a:rPr lang="en-US" sz="1450" dirty="0">
                <a:solidFill>
                  <a:schemeClr val="tx1"/>
                </a:solidFill>
              </a:rPr>
              <a:t>3–5 seeds; report mean ± SD</a:t>
            </a:r>
            <a:endParaRPr lang="en-US" sz="14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DL with plot-level labels: tiles, MIL and label proportions</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DEEP LEARNING · WEAK LABELS</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attention-MIL gives one plot prediction and a within-plot attention map that can be compared with the hotspot analysis (Moran's I, Gi*).</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Ilse et al. (2018) attention-based MIL; Quadrianto et al. (2009) learning from label proportions; Cao et al. (2020) CORAL ordinal regression.</a:t>
            </a:r>
            <a:endParaRPr lang="en-US" sz="1000" dirty="0"/>
          </a:p>
        </p:txBody>
      </p:sp>
      <p:sp>
        <p:nvSpPr>
          <p:cNvPr id="7" name="Shape 5"/>
          <p:cNvSpPr/>
          <p:nvPr/>
        </p:nvSpPr>
        <p:spPr>
          <a:xfrm>
            <a:off x="457200" y="1188720"/>
            <a:ext cx="11274552" cy="731520"/>
          </a:xfrm>
          <a:prstGeom prst="roundRect">
            <a:avLst>
              <a:gd name="adj" fmla="val 10000"/>
            </a:avLst>
          </a:prstGeom>
          <a:solidFill>
            <a:schemeClr val="bg1"/>
          </a:solidFill>
          <a:ln w="15875">
            <a:solidFill>
              <a:schemeClr val="accent1"/>
            </a:solidFill>
            <a:prstDash val="solid"/>
          </a:ln>
        </p:spPr>
      </p:sp>
      <p:sp>
        <p:nvSpPr>
          <p:cNvPr id="8" name="Text 6"/>
          <p:cNvSpPr txBox="1"/>
          <p:nvPr/>
        </p:nvSpPr>
        <p:spPr>
          <a:xfrm>
            <a:off x="594360" y="1188720"/>
            <a:ext cx="11000232" cy="731520"/>
          </a:xfrm>
          <a:prstGeom prst="rect">
            <a:avLst/>
          </a:prstGeom>
          <a:noFill/>
          <a:ln/>
        </p:spPr>
        <p:txBody>
          <a:bodyPr wrap="square" lIns="0" tIns="0" rIns="0" bIns="0" rtlCol="0" anchor="ctr"/>
          <a:lstStyle/>
          <a:p>
            <a:pPr algn="ctr" indent="0" marL="0">
              <a:buNone/>
            </a:pPr>
            <a:r>
              <a:rPr lang="en-US" sz="1400" dirty="0">
                <a:solidFill>
                  <a:schemeClr val="tx1"/>
                </a:solidFill>
                <a:latin typeface="Cambria Math" pitchFamily="34" charset="0"/>
                <a:ea typeface="Cambria Math" pitchFamily="34" charset="-122"/>
                <a:cs typeface="Cambria Math" pitchFamily="34" charset="-120"/>
              </a:rPr>
              <a:t>Attention MIL:  z_plot = Σᵢ aᵢ hᵢ ,  aᵢ = softmax(wᵀ tanh(V hᵢ))       Label proportion:  mean(pᵢ) ≈ DI_plot / 100</a:t>
            </a:r>
            <a:endParaRPr lang="en-US" sz="1400" dirty="0"/>
          </a:p>
        </p:txBody>
      </p:sp>
      <p:sp>
        <p:nvSpPr>
          <p:cNvPr id="9" name="Shape 7"/>
          <p:cNvSpPr/>
          <p:nvPr/>
        </p:nvSpPr>
        <p:spPr>
          <a:xfrm>
            <a:off x="457200" y="2103120"/>
            <a:ext cx="3657600" cy="3154680"/>
          </a:xfrm>
          <a:prstGeom prst="roundRect">
            <a:avLst>
              <a:gd name="adj" fmla="val 2319"/>
            </a:avLst>
          </a:prstGeom>
          <a:solidFill>
            <a:schemeClr val="bg2"/>
          </a:solidFill>
          <a:ln/>
        </p:spPr>
      </p:sp>
      <p:sp>
        <p:nvSpPr>
          <p:cNvPr id="10" name="Shape 8"/>
          <p:cNvSpPr/>
          <p:nvPr/>
        </p:nvSpPr>
        <p:spPr>
          <a:xfrm>
            <a:off x="457200" y="2212848"/>
            <a:ext cx="64008" cy="347472"/>
          </a:xfrm>
          <a:prstGeom prst="rect">
            <a:avLst/>
          </a:prstGeom>
          <a:solidFill>
            <a:schemeClr val="accent1"/>
          </a:solidFill>
          <a:ln/>
        </p:spPr>
      </p:sp>
      <p:sp>
        <p:nvSpPr>
          <p:cNvPr id="11" name="Text 9"/>
          <p:cNvSpPr txBox="1"/>
          <p:nvPr/>
        </p:nvSpPr>
        <p:spPr>
          <a:xfrm>
            <a:off x="640080" y="2194560"/>
            <a:ext cx="3383280" cy="384048"/>
          </a:xfrm>
          <a:prstGeom prst="rect">
            <a:avLst/>
          </a:prstGeom>
          <a:noFill/>
          <a:ln/>
        </p:spPr>
        <p:txBody>
          <a:bodyPr wrap="square" lIns="0" tIns="0" rIns="0" bIns="0" rtlCol="0" anchor="ctr"/>
          <a:lstStyle/>
          <a:p>
            <a:pPr indent="0" marL="0">
              <a:buNone/>
            </a:pPr>
            <a:r>
              <a:rPr lang="en-US" sz="1600" b="1" dirty="0">
                <a:solidFill>
                  <a:schemeClr val="tx1"/>
                </a:solidFill>
              </a:rPr>
              <a:t>Tile inheritance</a:t>
            </a:r>
            <a:endParaRPr lang="en-US" sz="1600" dirty="0"/>
          </a:p>
        </p:txBody>
      </p:sp>
      <p:sp>
        <p:nvSpPr>
          <p:cNvPr id="12" name="Text 10"/>
          <p:cNvSpPr txBox="1"/>
          <p:nvPr/>
        </p:nvSpPr>
        <p:spPr>
          <a:xfrm>
            <a:off x="640080" y="2633472"/>
            <a:ext cx="3337560" cy="2532888"/>
          </a:xfrm>
          <a:prstGeom prst="rect">
            <a:avLst/>
          </a:prstGeom>
          <a:noFill/>
          <a:ln/>
        </p:spPr>
        <p:txBody>
          <a:bodyPr wrap="square" lIns="0" tIns="0" rIns="0" bIns="0" rtlCol="0" anchor="t"/>
          <a:lstStyle/>
          <a:p>
            <a:pPr marL="165100" indent="-165100">
              <a:spcAft>
                <a:spcPts val="600"/>
              </a:spcAft>
              <a:buSzPct val="100000"/>
              <a:buChar char="•"/>
            </a:pPr>
            <a:r>
              <a:rPr lang="en-US" sz="1450" dirty="0">
                <a:solidFill>
                  <a:schemeClr val="tx1"/>
                </a:solidFill>
              </a:rPr>
              <a:t>Simplest: every tile gets the plot class</a:t>
            </a:r>
            <a:endParaRPr lang="en-US" sz="1400" dirty="0"/>
          </a:p>
          <a:p>
            <a:pPr marL="165100" indent="-165100">
              <a:spcAft>
                <a:spcPts val="600"/>
              </a:spcAft>
              <a:buSzPct val="100000"/>
              <a:buChar char="•"/>
            </a:pPr>
            <a:r>
              <a:rPr lang="en-US" sz="1450" dirty="0">
                <a:solidFill>
                  <a:schemeClr val="tx1"/>
                </a:solidFill>
              </a:rPr>
              <a:t>Average tile predictions per plot</a:t>
            </a:r>
            <a:endParaRPr lang="en-US" sz="1400" dirty="0"/>
          </a:p>
          <a:p>
            <a:pPr marL="165100" indent="-165100">
              <a:spcAft>
                <a:spcPts val="600"/>
              </a:spcAft>
              <a:buSzPct val="100000"/>
              <a:buChar char="•"/>
            </a:pPr>
            <a:r>
              <a:rPr lang="en-US" sz="1450" dirty="0">
                <a:solidFill>
                  <a:schemeClr val="tx1"/>
                </a:solidFill>
              </a:rPr>
              <a:t>Noisy for low-DI plots</a:t>
            </a:r>
            <a:endParaRPr lang="en-US" sz="1400" dirty="0"/>
          </a:p>
        </p:txBody>
      </p:sp>
      <p:sp>
        <p:nvSpPr>
          <p:cNvPr id="13" name="Shape 11"/>
          <p:cNvSpPr/>
          <p:nvPr/>
        </p:nvSpPr>
        <p:spPr>
          <a:xfrm>
            <a:off x="4270248" y="2103120"/>
            <a:ext cx="3657600" cy="3154680"/>
          </a:xfrm>
          <a:prstGeom prst="roundRect">
            <a:avLst>
              <a:gd name="adj" fmla="val 2319"/>
            </a:avLst>
          </a:prstGeom>
          <a:solidFill>
            <a:schemeClr val="bg2"/>
          </a:solidFill>
          <a:ln/>
        </p:spPr>
      </p:sp>
      <p:sp>
        <p:nvSpPr>
          <p:cNvPr id="14" name="Shape 12"/>
          <p:cNvSpPr/>
          <p:nvPr/>
        </p:nvSpPr>
        <p:spPr>
          <a:xfrm>
            <a:off x="4270248" y="2212848"/>
            <a:ext cx="64008" cy="347472"/>
          </a:xfrm>
          <a:prstGeom prst="rect">
            <a:avLst/>
          </a:prstGeom>
          <a:solidFill>
            <a:schemeClr val="accent6"/>
          </a:solidFill>
          <a:ln/>
        </p:spPr>
      </p:sp>
      <p:sp>
        <p:nvSpPr>
          <p:cNvPr id="15" name="Text 13"/>
          <p:cNvSpPr txBox="1"/>
          <p:nvPr/>
        </p:nvSpPr>
        <p:spPr>
          <a:xfrm>
            <a:off x="4453128" y="2194560"/>
            <a:ext cx="3383280" cy="384048"/>
          </a:xfrm>
          <a:prstGeom prst="rect">
            <a:avLst/>
          </a:prstGeom>
          <a:noFill/>
          <a:ln/>
        </p:spPr>
        <p:txBody>
          <a:bodyPr wrap="square" lIns="0" tIns="0" rIns="0" bIns="0" rtlCol="0" anchor="ctr"/>
          <a:lstStyle/>
          <a:p>
            <a:pPr indent="0" marL="0">
              <a:buNone/>
            </a:pPr>
            <a:r>
              <a:rPr lang="en-US" sz="1600" b="1" dirty="0">
                <a:solidFill>
                  <a:schemeClr val="tx1"/>
                </a:solidFill>
              </a:rPr>
              <a:t>Attention MIL</a:t>
            </a:r>
            <a:endParaRPr lang="en-US" sz="1600" dirty="0"/>
          </a:p>
        </p:txBody>
      </p:sp>
      <p:sp>
        <p:nvSpPr>
          <p:cNvPr id="16" name="Text 14"/>
          <p:cNvSpPr txBox="1"/>
          <p:nvPr/>
        </p:nvSpPr>
        <p:spPr>
          <a:xfrm>
            <a:off x="4453128" y="2633472"/>
            <a:ext cx="3337560" cy="2532888"/>
          </a:xfrm>
          <a:prstGeom prst="rect">
            <a:avLst/>
          </a:prstGeom>
          <a:noFill/>
          <a:ln/>
        </p:spPr>
        <p:txBody>
          <a:bodyPr wrap="square" lIns="0" tIns="0" rIns="0" bIns="0" rtlCol="0" anchor="t"/>
          <a:lstStyle/>
          <a:p>
            <a:pPr marL="165100" indent="-165100">
              <a:spcAft>
                <a:spcPts val="600"/>
              </a:spcAft>
              <a:buSzPct val="100000"/>
              <a:buChar char="•"/>
            </a:pPr>
            <a:r>
              <a:rPr lang="en-US" sz="1450" dirty="0">
                <a:solidFill>
                  <a:schemeClr val="tx1"/>
                </a:solidFill>
              </a:rPr>
              <a:t>Plot = bag of tiles; only bag label known</a:t>
            </a:r>
            <a:endParaRPr lang="en-US" sz="1400" dirty="0"/>
          </a:p>
          <a:p>
            <a:pPr marL="165100" indent="-165100">
              <a:spcAft>
                <a:spcPts val="600"/>
              </a:spcAft>
              <a:buSzPct val="100000"/>
              <a:buChar char="•"/>
            </a:pPr>
            <a:r>
              <a:rPr lang="en-US" sz="1450" dirty="0">
                <a:solidFill>
                  <a:schemeClr val="tx1"/>
                </a:solidFill>
              </a:rPr>
              <a:t>Learns which tiles matter</a:t>
            </a:r>
            <a:endParaRPr lang="en-US" sz="1400" dirty="0"/>
          </a:p>
          <a:p>
            <a:pPr marL="165100" indent="-165100">
              <a:spcAft>
                <a:spcPts val="600"/>
              </a:spcAft>
              <a:buSzPct val="100000"/>
              <a:buChar char="•"/>
            </a:pPr>
            <a:r>
              <a:rPr lang="en-US" sz="1450" dirty="0">
                <a:solidFill>
                  <a:schemeClr val="tx1"/>
                </a:solidFill>
              </a:rPr>
              <a:t>Weights → within-plot map</a:t>
            </a:r>
            <a:endParaRPr lang="en-US" sz="1400" dirty="0"/>
          </a:p>
        </p:txBody>
      </p:sp>
      <p:sp>
        <p:nvSpPr>
          <p:cNvPr id="17" name="Shape 15"/>
          <p:cNvSpPr/>
          <p:nvPr/>
        </p:nvSpPr>
        <p:spPr>
          <a:xfrm>
            <a:off x="8074152" y="2103120"/>
            <a:ext cx="3657600" cy="3154680"/>
          </a:xfrm>
          <a:prstGeom prst="roundRect">
            <a:avLst>
              <a:gd name="adj" fmla="val 2319"/>
            </a:avLst>
          </a:prstGeom>
          <a:solidFill>
            <a:schemeClr val="bg2"/>
          </a:solidFill>
          <a:ln/>
        </p:spPr>
      </p:sp>
      <p:sp>
        <p:nvSpPr>
          <p:cNvPr id="18" name="Shape 16"/>
          <p:cNvSpPr/>
          <p:nvPr/>
        </p:nvSpPr>
        <p:spPr>
          <a:xfrm>
            <a:off x="8074152" y="2212848"/>
            <a:ext cx="64008" cy="347472"/>
          </a:xfrm>
          <a:prstGeom prst="rect">
            <a:avLst/>
          </a:prstGeom>
          <a:solidFill>
            <a:schemeClr val="accent3"/>
          </a:solidFill>
          <a:ln/>
        </p:spPr>
      </p:sp>
      <p:sp>
        <p:nvSpPr>
          <p:cNvPr id="19" name="Text 17"/>
          <p:cNvSpPr txBox="1"/>
          <p:nvPr/>
        </p:nvSpPr>
        <p:spPr>
          <a:xfrm>
            <a:off x="8257032" y="2194560"/>
            <a:ext cx="3383280" cy="384048"/>
          </a:xfrm>
          <a:prstGeom prst="rect">
            <a:avLst/>
          </a:prstGeom>
          <a:noFill/>
          <a:ln/>
        </p:spPr>
        <p:txBody>
          <a:bodyPr wrap="square" lIns="0" tIns="0" rIns="0" bIns="0" rtlCol="0" anchor="ctr"/>
          <a:lstStyle/>
          <a:p>
            <a:pPr indent="0" marL="0">
              <a:buNone/>
            </a:pPr>
            <a:r>
              <a:rPr lang="en-US" sz="1600" b="1" dirty="0">
                <a:solidFill>
                  <a:schemeClr val="tx1"/>
                </a:solidFill>
              </a:rPr>
              <a:t>Ordinal output</a:t>
            </a:r>
            <a:endParaRPr lang="en-US" sz="1600" dirty="0"/>
          </a:p>
        </p:txBody>
      </p:sp>
      <p:sp>
        <p:nvSpPr>
          <p:cNvPr id="20" name="Text 18"/>
          <p:cNvSpPr txBox="1"/>
          <p:nvPr/>
        </p:nvSpPr>
        <p:spPr>
          <a:xfrm>
            <a:off x="8257032" y="2633472"/>
            <a:ext cx="3337560" cy="2532888"/>
          </a:xfrm>
          <a:prstGeom prst="rect">
            <a:avLst/>
          </a:prstGeom>
          <a:noFill/>
          <a:ln/>
        </p:spPr>
        <p:txBody>
          <a:bodyPr wrap="square" lIns="0" tIns="0" rIns="0" bIns="0" rtlCol="0" anchor="t"/>
          <a:lstStyle/>
          <a:p>
            <a:pPr marL="165100" indent="-165100">
              <a:spcAft>
                <a:spcPts val="600"/>
              </a:spcAft>
              <a:buSzPct val="100000"/>
              <a:buChar char="•"/>
            </a:pPr>
            <a:r>
              <a:rPr lang="en-US" sz="1450" dirty="0">
                <a:solidFill>
                  <a:schemeClr val="tx1"/>
                </a:solidFill>
              </a:rPr>
              <a:t>CORAL: K − 1 binary 'severity &gt; k' outputs</a:t>
            </a:r>
            <a:endParaRPr lang="en-US" sz="1400" dirty="0"/>
          </a:p>
          <a:p>
            <a:pPr marL="165100" indent="-165100">
              <a:spcAft>
                <a:spcPts val="600"/>
              </a:spcAft>
              <a:buSzPct val="100000"/>
              <a:buChar char="•"/>
            </a:pPr>
            <a:r>
              <a:rPr lang="en-US" sz="1450" dirty="0">
                <a:solidFill>
                  <a:schemeClr val="tx1"/>
                </a:solidFill>
              </a:rPr>
              <a:t>Respects class order; fewer large errors</a:t>
            </a:r>
            <a:endParaRPr lang="en-US" sz="1400" dirty="0"/>
          </a:p>
          <a:p>
            <a:pPr marL="165100" indent="-165100">
              <a:spcAft>
                <a:spcPts val="600"/>
              </a:spcAft>
              <a:buSzPct val="100000"/>
              <a:buChar char="•"/>
            </a:pPr>
            <a:r>
              <a:rPr lang="en-US" sz="1450" dirty="0">
                <a:solidFill>
                  <a:schemeClr val="tx1"/>
                </a:solidFill>
              </a:rPr>
              <a:t>Add DI regression head (multi-task)</a:t>
            </a:r>
            <a:endParaRPr lang="en-US" sz="14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L3 · Decision-level fusion: concept and combination rules</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DECISION LEVEL</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combine the four single-sensor models from Phase 2 (ML) or the DL single-sensor networks; the result is a robust ensemble that still works if a sensor fails on a date.</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Kittler et al. (1998) combining classifiers; Platt (1999) probability calibration; Snoek et al. (2005) early vs late fusion.</a:t>
            </a:r>
            <a:endParaRPr lang="en-US" sz="1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2011680"/>
                <a:gridCol w="4846320"/>
                <a:gridCol w="4416552"/>
              </a:tblGrid>
              <a:tr h="0">
                <a:tc>
                  <a:txBody>
                    <a:bodyPr/>
                    <a:lstStyle/>
                    <a:p>
                      <a:pPr indent="0" marL="0">
                        <a:buNone/>
                      </a:pPr>
                      <a:r>
                        <a:rPr lang="en-US" sz="1400" b="1" dirty="0">
                          <a:solidFill>
                            <a:schemeClr val="bg1"/>
                          </a:solidFill>
                        </a:rPr>
                        <a:t>Rule</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Formula</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Comment</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r>
              <a:tr h="0">
                <a:tc>
                  <a:txBody>
                    <a:bodyPr/>
                    <a:lstStyle/>
                    <a:p>
                      <a:pPr indent="0" marL="0">
                        <a:buNone/>
                      </a:pPr>
                      <a:r>
                        <a:rPr lang="en-US" sz="1400" dirty="0">
                          <a:solidFill>
                            <a:schemeClr val="tx1"/>
                          </a:solidFill>
                        </a:rPr>
                        <a:t>Majority vote</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ŷ = mode(ŷ_RGB, ŷ_MS, ŷ_HS, ŷ_TIR)</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Uses labels only; ties possible with 4 sensors</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400" dirty="0">
                          <a:solidFill>
                            <a:schemeClr val="tx1"/>
                          </a:solidFill>
                        </a:rPr>
                        <a:t>Sum / mean rule</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P(c) = (1/S) Σₛ Pₛ(c)</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Robust; needs calibrated probabilities</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400" dirty="0">
                          <a:solidFill>
                            <a:schemeClr val="tx1"/>
                          </a:solidFill>
                        </a:rPr>
                        <a:t>Weighted mean</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P(c) = Σₛ wₛ Pₛ(c), weights from inner-CV accuracy</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Rewards reliable sensors</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400" dirty="0">
                          <a:solidFill>
                            <a:schemeClr val="tx1"/>
                          </a:solidFill>
                        </a:rPr>
                        <a:t>Product rule</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P(c) ∝ Πₛ Pₛ(c)</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Assumes independence; sensitive to one near-zero</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400" dirty="0">
                          <a:solidFill>
                            <a:schemeClr val="tx1"/>
                          </a:solidFill>
                        </a:rPr>
                        <a:t>Max / min rule</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Largest / smallest support</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Rarely best</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bl>
          </a:graphicData>
        </a:graphic>
      </p:graphicFrame>
      <p:sp>
        <p:nvSpPr>
          <p:cNvPr id="8" name="Text 5"/>
          <p:cNvSpPr txBox="1"/>
          <p:nvPr/>
        </p:nvSpPr>
        <p:spPr>
          <a:xfrm>
            <a:off x="457200" y="3977640"/>
            <a:ext cx="11274552" cy="914400"/>
          </a:xfrm>
          <a:prstGeom prst="rect">
            <a:avLst/>
          </a:prstGeom>
          <a:noFill/>
          <a:ln/>
        </p:spPr>
        <p:txBody>
          <a:bodyPr wrap="square" lIns="0" tIns="0" rIns="0" bIns="0" rtlCol="0" anchor="t"/>
          <a:lstStyle/>
          <a:p>
            <a:pPr indent="0" marL="0">
              <a:buNone/>
            </a:pPr>
            <a:r>
              <a:rPr lang="en-US" sz="1300" i="1" dirty="0">
                <a:solidFill>
                  <a:schemeClr val="tx1"/>
                </a:solidFill>
              </a:rPr>
              <a:t>Calibrate probabilities first (Platt scaling for SVM; isotonic or temperature scaling for others) because sensor models produce scores on different scales.</a:t>
            </a:r>
            <a:endParaRPr lang="en-US" sz="13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L3 · Stacking, Bayesian and Dempster–Shafer fusion</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DECISION LEVEL</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stacking (meta-model on out-of-fold sensor probabilities) is easy to implement with scikit-learn and must be nested inside the plot-grouped CV.</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Wolpert (1992) stacked generalization; Shafer (1976) evidence theory; Kittler et al. (1998); Varma &amp; Simon (2006).</a:t>
            </a:r>
            <a:endParaRPr lang="en-US" sz="1000" dirty="0"/>
          </a:p>
        </p:txBody>
      </p:sp>
      <p:sp>
        <p:nvSpPr>
          <p:cNvPr id="7" name="Shape 5"/>
          <p:cNvSpPr/>
          <p:nvPr/>
        </p:nvSpPr>
        <p:spPr>
          <a:xfrm>
            <a:off x="457200" y="1188720"/>
            <a:ext cx="3657600" cy="4069080"/>
          </a:xfrm>
          <a:prstGeom prst="roundRect">
            <a:avLst>
              <a:gd name="adj" fmla="val 2000"/>
            </a:avLst>
          </a:prstGeom>
          <a:solidFill>
            <a:schemeClr val="bg2"/>
          </a:solidFill>
          <a:ln/>
        </p:spPr>
      </p:sp>
      <p:sp>
        <p:nvSpPr>
          <p:cNvPr id="8" name="Shape 6"/>
          <p:cNvSpPr/>
          <p:nvPr/>
        </p:nvSpPr>
        <p:spPr>
          <a:xfrm>
            <a:off x="457200" y="1298448"/>
            <a:ext cx="64008" cy="347472"/>
          </a:xfrm>
          <a:prstGeom prst="rect">
            <a:avLst/>
          </a:prstGeom>
          <a:solidFill>
            <a:schemeClr val="accent1"/>
          </a:solidFill>
          <a:ln/>
        </p:spPr>
      </p:sp>
      <p:sp>
        <p:nvSpPr>
          <p:cNvPr id="9" name="Text 7"/>
          <p:cNvSpPr txBox="1"/>
          <p:nvPr/>
        </p:nvSpPr>
        <p:spPr>
          <a:xfrm>
            <a:off x="640080" y="1280160"/>
            <a:ext cx="3383280" cy="384048"/>
          </a:xfrm>
          <a:prstGeom prst="rect">
            <a:avLst/>
          </a:prstGeom>
          <a:noFill/>
          <a:ln/>
        </p:spPr>
        <p:txBody>
          <a:bodyPr wrap="square" lIns="0" tIns="0" rIns="0" bIns="0" rtlCol="0" anchor="ctr"/>
          <a:lstStyle/>
          <a:p>
            <a:pPr indent="0" marL="0">
              <a:buNone/>
            </a:pPr>
            <a:r>
              <a:rPr lang="en-US" sz="1600" b="1" dirty="0">
                <a:solidFill>
                  <a:schemeClr val="tx1"/>
                </a:solidFill>
              </a:rPr>
              <a:t>Stacking</a:t>
            </a:r>
            <a:endParaRPr lang="en-US" sz="1600" dirty="0"/>
          </a:p>
        </p:txBody>
      </p:sp>
      <p:sp>
        <p:nvSpPr>
          <p:cNvPr id="10" name="Text 8"/>
          <p:cNvSpPr txBox="1"/>
          <p:nvPr/>
        </p:nvSpPr>
        <p:spPr>
          <a:xfrm>
            <a:off x="640080" y="1719072"/>
            <a:ext cx="3337560" cy="3447288"/>
          </a:xfrm>
          <a:prstGeom prst="rect">
            <a:avLst/>
          </a:prstGeom>
          <a:noFill/>
          <a:ln/>
        </p:spPr>
        <p:txBody>
          <a:bodyPr wrap="square" lIns="0" tIns="0" rIns="0" bIns="0" rtlCol="0" anchor="t"/>
          <a:lstStyle/>
          <a:p>
            <a:pPr marL="165100" indent="-165100">
              <a:spcAft>
                <a:spcPts val="600"/>
              </a:spcAft>
              <a:buSzPct val="100000"/>
              <a:buChar char="•"/>
            </a:pPr>
            <a:r>
              <a:rPr lang="en-US" sz="1450" dirty="0">
                <a:solidFill>
                  <a:schemeClr val="tx1"/>
                </a:solidFill>
              </a:rPr>
              <a:t>Level-0: one model per sensor</a:t>
            </a:r>
            <a:endParaRPr lang="en-US" sz="1400" dirty="0"/>
          </a:p>
          <a:p>
            <a:pPr marL="165100" indent="-165100">
              <a:spcAft>
                <a:spcPts val="600"/>
              </a:spcAft>
              <a:buSzPct val="100000"/>
              <a:buChar char="•"/>
            </a:pPr>
            <a:r>
              <a:rPr lang="en-US" sz="1450" dirty="0">
                <a:solidFill>
                  <a:schemeClr val="tx1"/>
                </a:solidFill>
              </a:rPr>
              <a:t>Collect </a:t>
            </a:r>
            <a:pPr indent="0" marL="0">
              <a:spcAft>
                <a:spcPts val="600"/>
              </a:spcAft>
              <a:buNone/>
            </a:pPr>
            <a:r>
              <a:rPr lang="en-US" sz="1450" b="1" dirty="0">
                <a:solidFill>
                  <a:schemeClr val="tx1"/>
                </a:solidFill>
              </a:rPr>
              <a:t>out-of-fold</a:t>
            </a:r>
            <a:pPr indent="0" marL="0">
              <a:spcAft>
                <a:spcPts val="600"/>
              </a:spcAft>
              <a:buNone/>
            </a:pPr>
            <a:r>
              <a:rPr lang="en-US" sz="1450" dirty="0">
                <a:solidFill>
                  <a:schemeClr val="tx1"/>
                </a:solidFill>
              </a:rPr>
              <a:t> probabilities on training plots</a:t>
            </a:r>
            <a:endParaRPr lang="en-US" sz="1400" dirty="0"/>
          </a:p>
          <a:p>
            <a:pPr marL="165100" indent="-165100">
              <a:spcAft>
                <a:spcPts val="600"/>
              </a:spcAft>
              <a:buSzPct val="100000"/>
              <a:buChar char="•"/>
            </a:pPr>
            <a:r>
              <a:rPr lang="en-US" sz="1450" dirty="0">
                <a:solidFill>
                  <a:schemeClr val="tx1"/>
                </a:solidFill>
              </a:rPr>
              <a:t>Level-1: logistic regression / small RF learns how to combine</a:t>
            </a:r>
            <a:endParaRPr lang="en-US" sz="1400" dirty="0"/>
          </a:p>
          <a:p>
            <a:pPr marL="165100" indent="-165100">
              <a:spcAft>
                <a:spcPts val="600"/>
              </a:spcAft>
              <a:buSzPct val="100000"/>
              <a:buChar char="•"/>
            </a:pPr>
            <a:r>
              <a:rPr lang="en-US" sz="1450" dirty="0">
                <a:solidFill>
                  <a:schemeClr val="tx1"/>
                </a:solidFill>
              </a:rPr>
              <a:t>Fitted only inside training folds</a:t>
            </a:r>
            <a:endParaRPr lang="en-US" sz="1400" dirty="0"/>
          </a:p>
        </p:txBody>
      </p:sp>
      <p:sp>
        <p:nvSpPr>
          <p:cNvPr id="11" name="Shape 9"/>
          <p:cNvSpPr/>
          <p:nvPr/>
        </p:nvSpPr>
        <p:spPr>
          <a:xfrm>
            <a:off x="4270248" y="1188720"/>
            <a:ext cx="3657600" cy="4069080"/>
          </a:xfrm>
          <a:prstGeom prst="roundRect">
            <a:avLst>
              <a:gd name="adj" fmla="val 2000"/>
            </a:avLst>
          </a:prstGeom>
          <a:solidFill>
            <a:schemeClr val="bg2"/>
          </a:solidFill>
          <a:ln/>
        </p:spPr>
      </p:sp>
      <p:sp>
        <p:nvSpPr>
          <p:cNvPr id="12" name="Shape 10"/>
          <p:cNvSpPr/>
          <p:nvPr/>
        </p:nvSpPr>
        <p:spPr>
          <a:xfrm>
            <a:off x="4270248" y="1298448"/>
            <a:ext cx="64008" cy="347472"/>
          </a:xfrm>
          <a:prstGeom prst="rect">
            <a:avLst/>
          </a:prstGeom>
          <a:solidFill>
            <a:schemeClr val="accent2"/>
          </a:solidFill>
          <a:ln/>
        </p:spPr>
      </p:sp>
      <p:sp>
        <p:nvSpPr>
          <p:cNvPr id="13" name="Text 11"/>
          <p:cNvSpPr txBox="1"/>
          <p:nvPr/>
        </p:nvSpPr>
        <p:spPr>
          <a:xfrm>
            <a:off x="4453128" y="1280160"/>
            <a:ext cx="3383280" cy="384048"/>
          </a:xfrm>
          <a:prstGeom prst="rect">
            <a:avLst/>
          </a:prstGeom>
          <a:noFill/>
          <a:ln/>
        </p:spPr>
        <p:txBody>
          <a:bodyPr wrap="square" lIns="0" tIns="0" rIns="0" bIns="0" rtlCol="0" anchor="ctr"/>
          <a:lstStyle/>
          <a:p>
            <a:pPr indent="0" marL="0">
              <a:buNone/>
            </a:pPr>
            <a:r>
              <a:rPr lang="en-US" sz="1600" b="1" dirty="0">
                <a:solidFill>
                  <a:schemeClr val="tx1"/>
                </a:solidFill>
              </a:rPr>
              <a:t>Bayesian / naive Bayes</a:t>
            </a:r>
            <a:endParaRPr lang="en-US" sz="1600" dirty="0"/>
          </a:p>
        </p:txBody>
      </p:sp>
      <p:sp>
        <p:nvSpPr>
          <p:cNvPr id="14" name="Text 12"/>
          <p:cNvSpPr txBox="1"/>
          <p:nvPr/>
        </p:nvSpPr>
        <p:spPr>
          <a:xfrm>
            <a:off x="4453128" y="1719072"/>
            <a:ext cx="3337560" cy="3447288"/>
          </a:xfrm>
          <a:prstGeom prst="rect">
            <a:avLst/>
          </a:prstGeom>
          <a:noFill/>
          <a:ln/>
        </p:spPr>
        <p:txBody>
          <a:bodyPr wrap="square" lIns="0" tIns="0" rIns="0" bIns="0" rtlCol="0" anchor="t"/>
          <a:lstStyle/>
          <a:p>
            <a:pPr marL="165100" indent="-165100">
              <a:spcAft>
                <a:spcPts val="600"/>
              </a:spcAft>
              <a:buSzPct val="100000"/>
              <a:buChar char="•"/>
            </a:pPr>
            <a:r>
              <a:rPr lang="en-US" sz="1450" dirty="0">
                <a:solidFill>
                  <a:schemeClr val="tx1"/>
                </a:solidFill>
              </a:rPr>
              <a:t>Treat sensor outputs as evidence; combine posteriors with priors</a:t>
            </a:r>
            <a:endParaRPr lang="en-US" sz="1400" dirty="0"/>
          </a:p>
          <a:p>
            <a:pPr marL="165100" indent="-165100">
              <a:spcAft>
                <a:spcPts val="600"/>
              </a:spcAft>
              <a:buSzPct val="100000"/>
              <a:buChar char="•"/>
            </a:pPr>
            <a:r>
              <a:rPr lang="en-US" sz="1450" dirty="0">
                <a:solidFill>
                  <a:schemeClr val="tx1"/>
                </a:solidFill>
              </a:rPr>
              <a:t>Simple if independence is acceptable</a:t>
            </a:r>
            <a:endParaRPr lang="en-US" sz="1400" dirty="0"/>
          </a:p>
          <a:p>
            <a:pPr marL="165100" indent="-165100">
              <a:spcAft>
                <a:spcPts val="600"/>
              </a:spcAft>
              <a:buSzPct val="100000"/>
              <a:buChar char="•"/>
            </a:pPr>
            <a:r>
              <a:rPr lang="en-US" sz="1450" dirty="0">
                <a:solidFill>
                  <a:schemeClr val="tx1"/>
                </a:solidFill>
              </a:rPr>
              <a:t>Gives probabilities for maps</a:t>
            </a:r>
            <a:endParaRPr lang="en-US" sz="1400" dirty="0"/>
          </a:p>
        </p:txBody>
      </p:sp>
      <p:sp>
        <p:nvSpPr>
          <p:cNvPr id="15" name="Shape 13"/>
          <p:cNvSpPr/>
          <p:nvPr/>
        </p:nvSpPr>
        <p:spPr>
          <a:xfrm>
            <a:off x="8074152" y="1188720"/>
            <a:ext cx="3657600" cy="4069080"/>
          </a:xfrm>
          <a:prstGeom prst="roundRect">
            <a:avLst>
              <a:gd name="adj" fmla="val 2000"/>
            </a:avLst>
          </a:prstGeom>
          <a:solidFill>
            <a:schemeClr val="bg2"/>
          </a:solidFill>
          <a:ln/>
        </p:spPr>
      </p:sp>
      <p:sp>
        <p:nvSpPr>
          <p:cNvPr id="16" name="Shape 14"/>
          <p:cNvSpPr/>
          <p:nvPr/>
        </p:nvSpPr>
        <p:spPr>
          <a:xfrm>
            <a:off x="8074152" y="1298448"/>
            <a:ext cx="64008" cy="347472"/>
          </a:xfrm>
          <a:prstGeom prst="rect">
            <a:avLst/>
          </a:prstGeom>
          <a:solidFill>
            <a:schemeClr val="accent3"/>
          </a:solidFill>
          <a:ln/>
        </p:spPr>
      </p:sp>
      <p:sp>
        <p:nvSpPr>
          <p:cNvPr id="17" name="Text 15"/>
          <p:cNvSpPr txBox="1"/>
          <p:nvPr/>
        </p:nvSpPr>
        <p:spPr>
          <a:xfrm>
            <a:off x="8257032" y="1280160"/>
            <a:ext cx="3383280" cy="384048"/>
          </a:xfrm>
          <a:prstGeom prst="rect">
            <a:avLst/>
          </a:prstGeom>
          <a:noFill/>
          <a:ln/>
        </p:spPr>
        <p:txBody>
          <a:bodyPr wrap="square" lIns="0" tIns="0" rIns="0" bIns="0" rtlCol="0" anchor="ctr"/>
          <a:lstStyle/>
          <a:p>
            <a:pPr indent="0" marL="0">
              <a:buNone/>
            </a:pPr>
            <a:r>
              <a:rPr lang="en-US" sz="1600" b="1" dirty="0">
                <a:solidFill>
                  <a:schemeClr val="tx1"/>
                </a:solidFill>
              </a:rPr>
              <a:t>Dempster–Shafer</a:t>
            </a:r>
            <a:endParaRPr lang="en-US" sz="1600" dirty="0"/>
          </a:p>
        </p:txBody>
      </p:sp>
      <p:sp>
        <p:nvSpPr>
          <p:cNvPr id="18" name="Text 16"/>
          <p:cNvSpPr txBox="1"/>
          <p:nvPr/>
        </p:nvSpPr>
        <p:spPr>
          <a:xfrm>
            <a:off x="8257032" y="1719072"/>
            <a:ext cx="3337560" cy="3447288"/>
          </a:xfrm>
          <a:prstGeom prst="rect">
            <a:avLst/>
          </a:prstGeom>
          <a:noFill/>
          <a:ln/>
        </p:spPr>
        <p:txBody>
          <a:bodyPr wrap="square" lIns="0" tIns="0" rIns="0" bIns="0" rtlCol="0" anchor="t"/>
          <a:lstStyle/>
          <a:p>
            <a:pPr marL="165100" indent="-165100">
              <a:spcAft>
                <a:spcPts val="600"/>
              </a:spcAft>
              <a:buSzPct val="100000"/>
              <a:buChar char="•"/>
            </a:pPr>
            <a:r>
              <a:rPr lang="en-US" sz="1450" dirty="0">
                <a:solidFill>
                  <a:schemeClr val="tx1"/>
                </a:solidFill>
              </a:rPr>
              <a:t>Each sensor assigns belief to classes and to 'uncertain'</a:t>
            </a:r>
            <a:endParaRPr lang="en-US" sz="1400" dirty="0"/>
          </a:p>
          <a:p>
            <a:pPr marL="165100" indent="-165100">
              <a:spcAft>
                <a:spcPts val="600"/>
              </a:spcAft>
              <a:buSzPct val="100000"/>
              <a:buChar char="•"/>
            </a:pPr>
            <a:r>
              <a:rPr lang="en-US" sz="1450" dirty="0">
                <a:solidFill>
                  <a:schemeClr val="tx1"/>
                </a:solidFill>
              </a:rPr>
              <a:t>Combination rule handles conflict and ignorance</a:t>
            </a:r>
            <a:endParaRPr lang="en-US" sz="1400" dirty="0"/>
          </a:p>
          <a:p>
            <a:pPr marL="165100" indent="-165100">
              <a:spcAft>
                <a:spcPts val="600"/>
              </a:spcAft>
              <a:buSzPct val="100000"/>
              <a:buChar char="•"/>
            </a:pPr>
            <a:r>
              <a:rPr lang="en-US" sz="1450" dirty="0">
                <a:solidFill>
                  <a:schemeClr val="tx1"/>
                </a:solidFill>
              </a:rPr>
              <a:t>Useful when a sensor is unreliable on some dates</a:t>
            </a:r>
            <a:endParaRPr lang="en-US" sz="14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L3 · Late fusion in deep learning: examples</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DECISION LEVEL · DL</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late DL fusion (average of single-sensor network probabilities) is the robustness baseline against which intermediate fusion must show a gain.</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Kerkech et al. (2020a) Comput. Electron. Agric. 174:105446; Audebert et al. (2018) ISPRS J. 140:20–32; Hong et al. (2021).</a:t>
            </a:r>
            <a:endParaRPr lang="en-US" sz="1000" dirty="0"/>
          </a:p>
        </p:txBody>
      </p:sp>
      <p:sp>
        <p:nvSpPr>
          <p:cNvPr id="7" name="Shape 5"/>
          <p:cNvSpPr/>
          <p:nvPr/>
        </p:nvSpPr>
        <p:spPr>
          <a:xfrm>
            <a:off x="457200" y="1188720"/>
            <a:ext cx="5486400" cy="4069080"/>
          </a:xfrm>
          <a:prstGeom prst="roundRect">
            <a:avLst>
              <a:gd name="adj" fmla="val 1798"/>
            </a:avLst>
          </a:prstGeom>
          <a:solidFill>
            <a:schemeClr val="bg2"/>
          </a:solidFill>
          <a:ln/>
        </p:spPr>
      </p:sp>
      <p:sp>
        <p:nvSpPr>
          <p:cNvPr id="8" name="Shape 6"/>
          <p:cNvSpPr/>
          <p:nvPr/>
        </p:nvSpPr>
        <p:spPr>
          <a:xfrm>
            <a:off x="457200" y="1298448"/>
            <a:ext cx="64008" cy="347472"/>
          </a:xfrm>
          <a:prstGeom prst="rect">
            <a:avLst/>
          </a:prstGeom>
          <a:solidFill>
            <a:schemeClr val="accent1"/>
          </a:solidFill>
          <a:ln/>
        </p:spPr>
      </p:sp>
      <p:sp>
        <p:nvSpPr>
          <p:cNvPr id="9" name="Text 7"/>
          <p:cNvSpPr txBox="1"/>
          <p:nvPr/>
        </p:nvSpPr>
        <p:spPr>
          <a:xfrm>
            <a:off x="640080" y="1280160"/>
            <a:ext cx="5212080" cy="384048"/>
          </a:xfrm>
          <a:prstGeom prst="rect">
            <a:avLst/>
          </a:prstGeom>
          <a:noFill/>
          <a:ln/>
        </p:spPr>
        <p:txBody>
          <a:bodyPr wrap="square" lIns="0" tIns="0" rIns="0" bIns="0" rtlCol="0" anchor="ctr"/>
          <a:lstStyle/>
          <a:p>
            <a:pPr indent="0" marL="0">
              <a:buNone/>
            </a:pPr>
            <a:r>
              <a:rPr lang="en-US" sz="1600" b="1" dirty="0">
                <a:solidFill>
                  <a:schemeClr val="tx1"/>
                </a:solidFill>
              </a:rPr>
              <a:t>Kerkech et al. 2020a: vine disease (UAV)</a:t>
            </a:r>
            <a:endParaRPr lang="en-US" sz="1600" dirty="0"/>
          </a:p>
        </p:txBody>
      </p:sp>
      <p:sp>
        <p:nvSpPr>
          <p:cNvPr id="10" name="Text 8"/>
          <p:cNvSpPr txBox="1"/>
          <p:nvPr/>
        </p:nvSpPr>
        <p:spPr>
          <a:xfrm>
            <a:off x="640080" y="1719072"/>
            <a:ext cx="5166360" cy="3447288"/>
          </a:xfrm>
          <a:prstGeom prst="rect">
            <a:avLst/>
          </a:prstGeom>
          <a:noFill/>
          <a:ln/>
        </p:spPr>
        <p:txBody>
          <a:bodyPr wrap="square" lIns="0" tIns="0" rIns="0" bIns="0" rtlCol="0" anchor="t"/>
          <a:lstStyle/>
          <a:p>
            <a:pPr marL="165100" indent="-165100">
              <a:spcAft>
                <a:spcPts val="600"/>
              </a:spcAft>
              <a:buSzPct val="100000"/>
              <a:buChar char="•"/>
            </a:pPr>
            <a:r>
              <a:rPr lang="en-US" sz="1450" dirty="0">
                <a:solidFill>
                  <a:schemeClr val="tx1"/>
                </a:solidFill>
              </a:rPr>
              <a:t>Iterative keypoint registration of visible and infrared images</a:t>
            </a:r>
            <a:endParaRPr lang="en-US" sz="1400" dirty="0"/>
          </a:p>
          <a:p>
            <a:pPr marL="165100" indent="-165100">
              <a:spcAft>
                <a:spcPts val="600"/>
              </a:spcAft>
              <a:buSzPct val="100000"/>
              <a:buChar char="•"/>
            </a:pPr>
            <a:r>
              <a:rPr lang="en-US" sz="1450" dirty="0">
                <a:solidFill>
                  <a:schemeClr val="tx1"/>
                </a:solidFill>
              </a:rPr>
              <a:t>SegNet segments each image separately: shadow, ground, healthy, symptomatic</a:t>
            </a:r>
            <a:endParaRPr lang="en-US" sz="1400" dirty="0"/>
          </a:p>
          <a:p>
            <a:pPr marL="165100" indent="-165100">
              <a:spcAft>
                <a:spcPts val="600"/>
              </a:spcAft>
              <a:buSzPct val="100000"/>
              <a:buChar char="•"/>
            </a:pPr>
            <a:r>
              <a:rPr lang="en-US" sz="1450" dirty="0">
                <a:solidFill>
                  <a:schemeClr val="tx1"/>
                </a:solidFill>
              </a:rPr>
              <a:t>Segmentations fused into one disease map (decision level)</a:t>
            </a:r>
            <a:endParaRPr lang="en-US" sz="1400" dirty="0"/>
          </a:p>
          <a:p>
            <a:pPr marL="165100" indent="-165100">
              <a:spcAft>
                <a:spcPts val="600"/>
              </a:spcAft>
              <a:buSzPct val="100000"/>
              <a:buChar char="•"/>
            </a:pPr>
            <a:r>
              <a:rPr lang="en-US" sz="1450" dirty="0">
                <a:solidFill>
                  <a:schemeClr val="tx1"/>
                </a:solidFill>
              </a:rPr>
              <a:t>Reported &gt; 92 % detection at grapevine level, 87 % at leaf level</a:t>
            </a:r>
            <a:endParaRPr lang="en-US" sz="1400" dirty="0"/>
          </a:p>
        </p:txBody>
      </p:sp>
      <p:sp>
        <p:nvSpPr>
          <p:cNvPr id="11" name="Shape 9"/>
          <p:cNvSpPr/>
          <p:nvPr/>
        </p:nvSpPr>
        <p:spPr>
          <a:xfrm>
            <a:off x="6245352" y="1188720"/>
            <a:ext cx="5486400" cy="4069080"/>
          </a:xfrm>
          <a:prstGeom prst="roundRect">
            <a:avLst>
              <a:gd name="adj" fmla="val 1798"/>
            </a:avLst>
          </a:prstGeom>
          <a:solidFill>
            <a:schemeClr val="bg2"/>
          </a:solidFill>
          <a:ln/>
        </p:spPr>
      </p:sp>
      <p:sp>
        <p:nvSpPr>
          <p:cNvPr id="12" name="Shape 10"/>
          <p:cNvSpPr/>
          <p:nvPr/>
        </p:nvSpPr>
        <p:spPr>
          <a:xfrm>
            <a:off x="6245352" y="1298448"/>
            <a:ext cx="64008" cy="347472"/>
          </a:xfrm>
          <a:prstGeom prst="rect">
            <a:avLst/>
          </a:prstGeom>
          <a:solidFill>
            <a:schemeClr val="accent2"/>
          </a:solidFill>
          <a:ln/>
        </p:spPr>
      </p:sp>
      <p:sp>
        <p:nvSpPr>
          <p:cNvPr id="13" name="Text 11"/>
          <p:cNvSpPr txBox="1"/>
          <p:nvPr/>
        </p:nvSpPr>
        <p:spPr>
          <a:xfrm>
            <a:off x="6428232" y="1280160"/>
            <a:ext cx="5212080" cy="384048"/>
          </a:xfrm>
          <a:prstGeom prst="rect">
            <a:avLst/>
          </a:prstGeom>
          <a:noFill/>
          <a:ln/>
        </p:spPr>
        <p:txBody>
          <a:bodyPr wrap="square" lIns="0" tIns="0" rIns="0" bIns="0" rtlCol="0" anchor="ctr"/>
          <a:lstStyle/>
          <a:p>
            <a:pPr indent="0" marL="0">
              <a:buNone/>
            </a:pPr>
            <a:r>
              <a:rPr lang="en-US" sz="1600" b="1" dirty="0">
                <a:solidFill>
                  <a:schemeClr val="tx1"/>
                </a:solidFill>
              </a:rPr>
              <a:t>Audebert et al. 2018 / Hong et al. 2021</a:t>
            </a:r>
            <a:endParaRPr lang="en-US" sz="1600" dirty="0"/>
          </a:p>
        </p:txBody>
      </p:sp>
      <p:sp>
        <p:nvSpPr>
          <p:cNvPr id="14" name="Text 12"/>
          <p:cNvSpPr txBox="1"/>
          <p:nvPr/>
        </p:nvSpPr>
        <p:spPr>
          <a:xfrm>
            <a:off x="6428232" y="1719072"/>
            <a:ext cx="5166360" cy="3447288"/>
          </a:xfrm>
          <a:prstGeom prst="rect">
            <a:avLst/>
          </a:prstGeom>
          <a:noFill/>
          <a:ln/>
        </p:spPr>
        <p:txBody>
          <a:bodyPr wrap="square" lIns="0" tIns="0" rIns="0" bIns="0" rtlCol="0" anchor="t"/>
          <a:lstStyle/>
          <a:p>
            <a:pPr marL="165100" indent="-165100">
              <a:spcAft>
                <a:spcPts val="600"/>
              </a:spcAft>
              <a:buSzPct val="100000"/>
              <a:buChar char="•"/>
            </a:pPr>
            <a:r>
              <a:rPr lang="en-US" sz="1450" dirty="0">
                <a:solidFill>
                  <a:schemeClr val="tx1"/>
                </a:solidFill>
              </a:rPr>
              <a:t>Late fusion corrects errors from ambiguous data and is robust to missing data</a:t>
            </a:r>
            <a:endParaRPr lang="en-US" sz="1400" dirty="0"/>
          </a:p>
          <a:p>
            <a:pPr marL="165100" indent="-165100">
              <a:spcAft>
                <a:spcPts val="600"/>
              </a:spcAft>
              <a:buSzPct val="100000"/>
              <a:buChar char="•"/>
            </a:pPr>
            <a:r>
              <a:rPr lang="en-US" sz="1450" dirty="0">
                <a:solidFill>
                  <a:schemeClr val="tx1"/>
                </a:solidFill>
              </a:rPr>
              <a:t>Early fusion learns joint features but is sensitive to missing modalities</a:t>
            </a:r>
            <a:endParaRPr lang="en-US" sz="1400" dirty="0"/>
          </a:p>
          <a:p>
            <a:pPr marL="165100" indent="-165100">
              <a:spcAft>
                <a:spcPts val="600"/>
              </a:spcAft>
              <a:buSzPct val="100000"/>
              <a:buChar char="•"/>
            </a:pPr>
            <a:r>
              <a:rPr lang="en-US" sz="1450" dirty="0">
                <a:solidFill>
                  <a:schemeClr val="tx1"/>
                </a:solidFill>
              </a:rPr>
              <a:t>Hong 2021: middle and cross fusion &gt; early fusion</a:t>
            </a:r>
            <a:endParaRPr lang="en-US" sz="1400" dirty="0"/>
          </a:p>
          <a:p>
            <a:pPr marL="165100" indent="-165100">
              <a:spcAft>
                <a:spcPts val="600"/>
              </a:spcAft>
              <a:buSzPct val="100000"/>
              <a:buChar char="•"/>
            </a:pPr>
            <a:r>
              <a:rPr lang="en-US" sz="1450" dirty="0">
                <a:solidFill>
                  <a:schemeClr val="tx1"/>
                </a:solidFill>
              </a:rPr>
              <a:t>Lesson: compare levels; combine where useful (hybrid)</a:t>
            </a:r>
            <a:endParaRPr lang="en-US" sz="14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Hybrid fusion: combining levels</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HYBRID</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a practical hybrid: ensemble of the best feature-level ML model (Phase 3) and the best intermediate-fusion DL model; test whether it beats both.</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Hong et al. (2021) cross fusion; Kerkech et al. (2020b) multi-stage fusion; Wolpert (1992); Pohl &amp; Van Genderen (1998).</a:t>
            </a:r>
            <a:endParaRPr lang="en-US" sz="10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3291840"/>
                <a:gridCol w="4480560"/>
                <a:gridCol w="3502152"/>
              </a:tblGrid>
              <a:tr h="0">
                <a:tc>
                  <a:txBody>
                    <a:bodyPr/>
                    <a:lstStyle/>
                    <a:p>
                      <a:pPr indent="0" marL="0">
                        <a:buNone/>
                      </a:pPr>
                      <a:r>
                        <a:rPr lang="en-US" sz="1400" b="1" dirty="0">
                          <a:solidFill>
                            <a:schemeClr val="bg1"/>
                          </a:solidFill>
                        </a:rPr>
                        <a:t>Hybrid design</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Example</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When useful</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r>
              <a:tr h="0">
                <a:tc>
                  <a:txBody>
                    <a:bodyPr/>
                    <a:lstStyle/>
                    <a:p>
                      <a:pPr indent="0" marL="0">
                        <a:buNone/>
                      </a:pPr>
                      <a:r>
                        <a:rPr lang="en-US" sz="1400" dirty="0">
                          <a:solidFill>
                            <a:schemeClr val="tx1"/>
                          </a:solidFill>
                        </a:rPr>
                        <a:t>Feature fusion within groups + decision fusion across</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Optical (RGB+MS+HS) feature model + thermal model → stacked</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Thermal on a different grid or missing on some dates</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400" dirty="0">
                          <a:solidFill>
                            <a:schemeClr val="tx1"/>
                          </a:solidFill>
                        </a:rPr>
                        <a:t>Pixel fusion + feature fusion</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Sharpen thermal with NDVI (L1), then plot features (L2)</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Thermal too coarse for small plots</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400" dirty="0">
                          <a:solidFill>
                            <a:schemeClr val="tx1"/>
                          </a:solidFill>
                        </a:rPr>
                        <a:t>Multi-stage DL fusion</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Encoders exchange features at several depths</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Enough data / pre-training</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400" dirty="0">
                          <a:solidFill>
                            <a:schemeClr val="tx1"/>
                          </a:solidFill>
                        </a:rPr>
                        <a:t>ML + DL ensemble</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Average probabilities of Phase 3 RF and DL fusion net</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Models make different errors</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Comparison of fusion levels for UAV disease severity</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COMPARISON</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feature-level ML (Phase 3) is the primary method; intermediate DL and decision-level fusion are the main comparisons; pixel-level fusion is an optional enhancement.</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Pohl &amp; Van Genderen (1998); Gómez-Chova et al. (2015); Hong et al. (2021); Maimaitijiang et al. (2020).</a:t>
            </a:r>
            <a:endParaRPr lang="en-US" sz="10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2560320"/>
                <a:gridCol w="1645920"/>
                <a:gridCol w="2103120"/>
                <a:gridCol w="1554480"/>
                <a:gridCol w="1645920"/>
                <a:gridCol w="1764792"/>
              </a:tblGrid>
              <a:tr h="0">
                <a:tc>
                  <a:txBody>
                    <a:bodyPr/>
                    <a:lstStyle/>
                    <a:p>
                      <a:pPr indent="0" marL="0">
                        <a:buNone/>
                      </a:pPr>
                      <a:r>
                        <a:rPr lang="en-US" sz="1300" b="1" dirty="0">
                          <a:solidFill>
                            <a:schemeClr val="bg1"/>
                          </a:solidFill>
                        </a:rPr>
                        <a:t>Level</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Co-registration need</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Data need</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Interpretability</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Missing sensor</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Fit for MuDAS-AI</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r>
              <a:tr h="0">
                <a:tc>
                  <a:txBody>
                    <a:bodyPr/>
                    <a:lstStyle/>
                    <a:p>
                      <a:pPr indent="0" marL="0">
                        <a:buNone/>
                      </a:pPr>
                      <a:r>
                        <a:rPr lang="en-US" sz="1300" dirty="0">
                          <a:solidFill>
                            <a:schemeClr val="tx1"/>
                          </a:solidFill>
                        </a:rPr>
                        <a:t>L1 pixel (image fusion / early CNN)</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Very high</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High (pixel labels or many tiles)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Low–medium</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Fails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Optional / exploratory</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300" dirty="0">
                          <a:solidFill>
                            <a:schemeClr val="tx1"/>
                          </a:solidFill>
                        </a:rPr>
                        <a:t>L2 feature, ML</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Moderate (plot-level)</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Low–moderate</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High</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Retrain without it</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Primary</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300" dirty="0">
                          <a:solidFill>
                            <a:schemeClr val="tx1"/>
                          </a:solidFill>
                        </a:rPr>
                        <a:t>L2 feature, DL intermediate</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Moderate–high</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Moderate–high</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Medium (attention)</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Modality dropout helps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Main DL comparison</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300" dirty="0">
                          <a:solidFill>
                            <a:schemeClr val="tx1"/>
                          </a:solidFill>
                        </a:rPr>
                        <a:t>L3 decision</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Low</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Low</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High (per-sensor)</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Robust</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Robust baseline</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300" dirty="0">
                          <a:solidFill>
                            <a:schemeClr val="tx1"/>
                          </a:solidFill>
                        </a:rPr>
                        <a:t>Hybrid</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Varies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Varies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Medium</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Robust</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Final ensemble test</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What the evidence says: lessons for the design</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LITERATURE · LESSONS</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design the thesis as a fair comparison: same plots, same folds, same metrics, paired tests; a 'no gain from fusion' result is publishable if the test is fair.</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Hong et al. (2021); Audebert et al. (2018); Maimaitijiang et al. (2020); Mahlein et al. (2019); Feng et al. (2022); Bohnenkamp et al. (2019); Roberts et al. (2017).</a:t>
            </a:r>
            <a:endParaRPr lang="en-US" sz="1000" dirty="0"/>
          </a:p>
        </p:txBody>
      </p:sp>
      <p:sp>
        <p:nvSpPr>
          <p:cNvPr id="7" name="Shape 5"/>
          <p:cNvSpPr/>
          <p:nvPr/>
        </p:nvSpPr>
        <p:spPr>
          <a:xfrm>
            <a:off x="457200" y="1188720"/>
            <a:ext cx="5486400" cy="4069080"/>
          </a:xfrm>
          <a:prstGeom prst="roundRect">
            <a:avLst>
              <a:gd name="adj" fmla="val 1798"/>
            </a:avLst>
          </a:prstGeom>
          <a:solidFill>
            <a:schemeClr val="bg2"/>
          </a:solidFill>
          <a:ln/>
        </p:spPr>
      </p:sp>
      <p:sp>
        <p:nvSpPr>
          <p:cNvPr id="8" name="Shape 6"/>
          <p:cNvSpPr/>
          <p:nvPr/>
        </p:nvSpPr>
        <p:spPr>
          <a:xfrm>
            <a:off x="457200" y="1298448"/>
            <a:ext cx="64008" cy="347472"/>
          </a:xfrm>
          <a:prstGeom prst="rect">
            <a:avLst/>
          </a:prstGeom>
          <a:solidFill>
            <a:schemeClr val="accent1"/>
          </a:solidFill>
          <a:ln/>
        </p:spPr>
      </p:sp>
      <p:sp>
        <p:nvSpPr>
          <p:cNvPr id="9" name="Text 7"/>
          <p:cNvSpPr txBox="1"/>
          <p:nvPr/>
        </p:nvSpPr>
        <p:spPr>
          <a:xfrm>
            <a:off x="640080" y="1280160"/>
            <a:ext cx="5212080" cy="384048"/>
          </a:xfrm>
          <a:prstGeom prst="rect">
            <a:avLst/>
          </a:prstGeom>
          <a:noFill/>
          <a:ln/>
        </p:spPr>
        <p:txBody>
          <a:bodyPr wrap="square" lIns="0" tIns="0" rIns="0" bIns="0" rtlCol="0" anchor="ctr"/>
          <a:lstStyle/>
          <a:p>
            <a:pPr indent="0" marL="0">
              <a:buNone/>
            </a:pPr>
            <a:r>
              <a:rPr lang="en-US" sz="1600" b="1" dirty="0">
                <a:solidFill>
                  <a:schemeClr val="tx1"/>
                </a:solidFill>
              </a:rPr>
              <a:t>Lessons</a:t>
            </a:r>
            <a:endParaRPr lang="en-US" sz="1600" dirty="0"/>
          </a:p>
        </p:txBody>
      </p:sp>
      <p:sp>
        <p:nvSpPr>
          <p:cNvPr id="10" name="Text 8"/>
          <p:cNvSpPr txBox="1"/>
          <p:nvPr/>
        </p:nvSpPr>
        <p:spPr>
          <a:xfrm>
            <a:off x="640080" y="1719072"/>
            <a:ext cx="5166360" cy="3447288"/>
          </a:xfrm>
          <a:prstGeom prst="rect">
            <a:avLst/>
          </a:prstGeom>
          <a:noFill/>
          <a:ln/>
        </p:spPr>
        <p:txBody>
          <a:bodyPr wrap="square" lIns="0" tIns="0" rIns="0" bIns="0" rtlCol="0" anchor="t"/>
          <a:lstStyle/>
          <a:p>
            <a:pPr marL="165100" indent="-165100">
              <a:spcAft>
                <a:spcPts val="600"/>
              </a:spcAft>
              <a:buSzPct val="100000"/>
              <a:buChar char="•"/>
            </a:pPr>
            <a:r>
              <a:rPr lang="en-US" sz="1450" b="1" dirty="0">
                <a:solidFill>
                  <a:schemeClr val="tx1"/>
                </a:solidFill>
              </a:rPr>
              <a:t>Middle/cross &gt; early fusion; late more robust</a:t>
            </a:r>
            <a:pPr indent="0" marL="0">
              <a:spcAft>
                <a:spcPts val="600"/>
              </a:spcAft>
              <a:buNone/>
            </a:pPr>
            <a:r>
              <a:rPr lang="en-US" sz="1450" dirty="0">
                <a:solidFill>
                  <a:schemeClr val="tx1"/>
                </a:solidFill>
              </a:rPr>
              <a:t> (Hong 2021; Audebert 2018)</a:t>
            </a:r>
            <a:endParaRPr lang="en-US" sz="1400" dirty="0"/>
          </a:p>
          <a:p>
            <a:pPr marL="165100" indent="-165100">
              <a:spcAft>
                <a:spcPts val="600"/>
              </a:spcAft>
              <a:buSzPct val="100000"/>
              <a:buChar char="•"/>
            </a:pPr>
            <a:r>
              <a:rPr lang="en-US" sz="1450" b="1" dirty="0">
                <a:solidFill>
                  <a:schemeClr val="tx1"/>
                </a:solidFill>
              </a:rPr>
              <a:t>DL gain over ML is small with few samples</a:t>
            </a:r>
            <a:pPr indent="0" marL="0">
              <a:spcAft>
                <a:spcPts val="600"/>
              </a:spcAft>
              <a:buNone/>
            </a:pPr>
            <a:r>
              <a:rPr lang="en-US" sz="1450" dirty="0">
                <a:solidFill>
                  <a:schemeClr val="tx1"/>
                </a:solidFill>
              </a:rPr>
              <a:t> (Maimaitijiang 2020)</a:t>
            </a:r>
            <a:endParaRPr lang="en-US" sz="1400" dirty="0"/>
          </a:p>
          <a:p>
            <a:pPr marL="165100" indent="-165100">
              <a:spcAft>
                <a:spcPts val="600"/>
              </a:spcAft>
              <a:buSzPct val="100000"/>
              <a:buChar char="•"/>
            </a:pPr>
            <a:r>
              <a:rPr lang="en-US" sz="1450" b="1" dirty="0">
                <a:solidFill>
                  <a:schemeClr val="tx1"/>
                </a:solidFill>
              </a:rPr>
              <a:t>More sensors ≠ always better</a:t>
            </a:r>
            <a:pPr indent="0" marL="0">
              <a:spcAft>
                <a:spcPts val="600"/>
              </a:spcAft>
              <a:buNone/>
            </a:pPr>
            <a:r>
              <a:rPr lang="en-US" sz="1450" dirty="0">
                <a:solidFill>
                  <a:schemeClr val="tx1"/>
                </a:solidFill>
              </a:rPr>
              <a:t>: test combinations (Mahlein 2019)</a:t>
            </a:r>
            <a:endParaRPr lang="en-US" sz="1400" dirty="0"/>
          </a:p>
          <a:p>
            <a:pPr marL="165100" indent="-165100">
              <a:spcAft>
                <a:spcPts val="600"/>
              </a:spcAft>
              <a:buSzPct val="100000"/>
              <a:buChar char="•"/>
            </a:pPr>
            <a:r>
              <a:rPr lang="en-US" sz="1450" b="1" dirty="0">
                <a:solidFill>
                  <a:schemeClr val="tx1"/>
                </a:solidFill>
              </a:rPr>
              <a:t>Thermal + spectral + texture complement each other</a:t>
            </a:r>
            <a:pPr indent="0" marL="0">
              <a:spcAft>
                <a:spcPts val="600"/>
              </a:spcAft>
              <a:buNone/>
            </a:pPr>
            <a:r>
              <a:rPr lang="en-US" sz="1450" dirty="0">
                <a:solidFill>
                  <a:schemeClr val="tx1"/>
                </a:solidFill>
              </a:rPr>
              <a:t> (Feng 2022; Liu 2024)</a:t>
            </a:r>
            <a:endParaRPr lang="en-US" sz="1400" dirty="0"/>
          </a:p>
        </p:txBody>
      </p:sp>
      <p:sp>
        <p:nvSpPr>
          <p:cNvPr id="11" name="Shape 9"/>
          <p:cNvSpPr/>
          <p:nvPr/>
        </p:nvSpPr>
        <p:spPr>
          <a:xfrm>
            <a:off x="6245352" y="1188720"/>
            <a:ext cx="5486400" cy="4069080"/>
          </a:xfrm>
          <a:prstGeom prst="roundRect">
            <a:avLst>
              <a:gd name="adj" fmla="val 1798"/>
            </a:avLst>
          </a:prstGeom>
          <a:solidFill>
            <a:schemeClr val="bg2"/>
          </a:solidFill>
          <a:ln/>
        </p:spPr>
      </p:sp>
      <p:sp>
        <p:nvSpPr>
          <p:cNvPr id="12" name="Shape 10"/>
          <p:cNvSpPr/>
          <p:nvPr/>
        </p:nvSpPr>
        <p:spPr>
          <a:xfrm>
            <a:off x="6245352" y="1298448"/>
            <a:ext cx="64008" cy="347472"/>
          </a:xfrm>
          <a:prstGeom prst="rect">
            <a:avLst/>
          </a:prstGeom>
          <a:solidFill>
            <a:schemeClr val="accent4"/>
          </a:solidFill>
          <a:ln/>
        </p:spPr>
      </p:sp>
      <p:sp>
        <p:nvSpPr>
          <p:cNvPr id="13" name="Text 11"/>
          <p:cNvSpPr txBox="1"/>
          <p:nvPr/>
        </p:nvSpPr>
        <p:spPr>
          <a:xfrm>
            <a:off x="6428232" y="1280160"/>
            <a:ext cx="5212080" cy="384048"/>
          </a:xfrm>
          <a:prstGeom prst="rect">
            <a:avLst/>
          </a:prstGeom>
          <a:noFill/>
          <a:ln/>
        </p:spPr>
        <p:txBody>
          <a:bodyPr wrap="square" lIns="0" tIns="0" rIns="0" bIns="0" rtlCol="0" anchor="ctr"/>
          <a:lstStyle/>
          <a:p>
            <a:pPr indent="0" marL="0">
              <a:buNone/>
            </a:pPr>
            <a:r>
              <a:rPr lang="en-US" sz="1600" b="1" dirty="0">
                <a:solidFill>
                  <a:schemeClr val="tx1"/>
                </a:solidFill>
              </a:rPr>
              <a:t>Pitfalls seen in papers</a:t>
            </a:r>
            <a:endParaRPr lang="en-US" sz="1600" dirty="0"/>
          </a:p>
        </p:txBody>
      </p:sp>
      <p:sp>
        <p:nvSpPr>
          <p:cNvPr id="14" name="Text 12"/>
          <p:cNvSpPr txBox="1"/>
          <p:nvPr/>
        </p:nvSpPr>
        <p:spPr>
          <a:xfrm>
            <a:off x="6428232" y="1719072"/>
            <a:ext cx="5166360" cy="3447288"/>
          </a:xfrm>
          <a:prstGeom prst="rect">
            <a:avLst/>
          </a:prstGeom>
          <a:noFill/>
          <a:ln/>
        </p:spPr>
        <p:txBody>
          <a:bodyPr wrap="square" lIns="0" tIns="0" rIns="0" bIns="0" rtlCol="0" anchor="t"/>
          <a:lstStyle/>
          <a:p>
            <a:pPr marL="165100" indent="-165100">
              <a:spcAft>
                <a:spcPts val="600"/>
              </a:spcAft>
              <a:buSzPct val="100000"/>
              <a:buChar char="•"/>
            </a:pPr>
            <a:r>
              <a:rPr lang="en-US" sz="1450" b="1" dirty="0">
                <a:solidFill>
                  <a:schemeClr val="tx1"/>
                </a:solidFill>
              </a:rPr>
              <a:t>Pixel-level random splits</a:t>
            </a:r>
            <a:pPr indent="0" marL="0">
              <a:spcAft>
                <a:spcPts val="600"/>
              </a:spcAft>
              <a:buNone/>
            </a:pPr>
            <a:r>
              <a:rPr lang="en-US" sz="1450" dirty="0">
                <a:solidFill>
                  <a:schemeClr val="tx1"/>
                </a:solidFill>
              </a:rPr>
              <a:t> inflate accuracy (Roberts 2017)</a:t>
            </a:r>
            <a:endParaRPr lang="en-US" sz="1400" dirty="0"/>
          </a:p>
          <a:p>
            <a:pPr marL="165100" indent="-165100">
              <a:spcAft>
                <a:spcPts val="600"/>
              </a:spcAft>
              <a:buSzPct val="100000"/>
              <a:buChar char="•"/>
            </a:pPr>
            <a:r>
              <a:rPr lang="en-US" sz="1450" b="1" dirty="0">
                <a:solidFill>
                  <a:schemeClr val="tx1"/>
                </a:solidFill>
              </a:rPr>
              <a:t>Feature selection on all data</a:t>
            </a:r>
            <a:pPr indent="0" marL="0">
              <a:spcAft>
                <a:spcPts val="600"/>
              </a:spcAft>
              <a:buNone/>
            </a:pPr>
            <a:r>
              <a:rPr lang="en-US" sz="1450" dirty="0">
                <a:solidFill>
                  <a:schemeClr val="tx1"/>
                </a:solidFill>
              </a:rPr>
              <a:t> before CV (several studies) → optimistic</a:t>
            </a:r>
            <a:endParaRPr lang="en-US" sz="1400" dirty="0"/>
          </a:p>
          <a:p>
            <a:pPr marL="165100" indent="-165100">
              <a:spcAft>
                <a:spcPts val="600"/>
              </a:spcAft>
              <a:buSzPct val="100000"/>
              <a:buChar char="•"/>
            </a:pPr>
            <a:r>
              <a:rPr lang="en-US" sz="1450" b="1" dirty="0">
                <a:solidFill>
                  <a:schemeClr val="tx1"/>
                </a:solidFill>
              </a:rPr>
              <a:t>Features selected at one scale may not transfer</a:t>
            </a:r>
            <a:pPr indent="0" marL="0">
              <a:spcAft>
                <a:spcPts val="600"/>
              </a:spcAft>
              <a:buNone/>
            </a:pPr>
            <a:r>
              <a:rPr lang="en-US" sz="1450" dirty="0">
                <a:solidFill>
                  <a:schemeClr val="tx1"/>
                </a:solidFill>
              </a:rPr>
              <a:t> (Bohnenkamp 2019)</a:t>
            </a:r>
            <a:endParaRPr lang="en-US" sz="1400" dirty="0"/>
          </a:p>
          <a:p>
            <a:pPr marL="165100" indent="-165100">
              <a:spcAft>
                <a:spcPts val="600"/>
              </a:spcAft>
              <a:buSzPct val="100000"/>
              <a:buChar char="•"/>
            </a:pPr>
            <a:r>
              <a:rPr lang="en-US" sz="1450" dirty="0">
                <a:solidFill>
                  <a:schemeClr val="tx1"/>
                </a:solidFill>
              </a:rPr>
              <a:t>No paired test between fusion and single sensor</a:t>
            </a:r>
            <a:endParaRPr lang="en-US" sz="14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Validation design for fusion experiments</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VALIDATION</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the same outer folds are used for every single-sensor, fusion-level and ML/DL model, so all results are paired and directly comparable.</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Varma &amp; Simon (2006) nested CV; Roberts et al. (2017) structured CV; Foody (2004) McNemar for map accuracy; Olofsson et al. (2014).</a:t>
            </a:r>
            <a:endParaRPr lang="en-US" sz="1000" dirty="0"/>
          </a:p>
        </p:txBody>
      </p:sp>
      <p:sp>
        <p:nvSpPr>
          <p:cNvPr id="7" name="Text 5"/>
          <p:cNvSpPr/>
          <p:nvPr/>
        </p:nvSpPr>
        <p:spPr>
          <a:xfrm>
            <a:off x="457200" y="1188720"/>
            <a:ext cx="2181758" cy="868680"/>
          </a:xfrm>
          <a:prstGeom prst="homePlate">
            <a:avLst/>
          </a:prstGeom>
          <a:solidFill>
            <a:schemeClr val="accent1"/>
          </a:solidFill>
          <a:ln/>
        </p:spPr>
        <p:txBody>
          <a:bodyPr wrap="square" lIns="0" tIns="50800" rIns="63500" bIns="0" rtlCol="0" anchor="ctr"/>
          <a:lstStyle/>
          <a:p>
            <a:pPr algn="ctr" indent="0" marL="0">
              <a:buNone/>
            </a:pPr>
            <a:r>
              <a:rPr lang="en-US" sz="1100" b="1" dirty="0">
                <a:solidFill>
                  <a:schemeClr val="bg1"/>
                </a:solidFill>
              </a:rPr>
              <a:t>Outer: 4 folds grouped by plot (testing)</a:t>
            </a:r>
            <a:endParaRPr lang="en-US" sz="1100" dirty="0"/>
          </a:p>
        </p:txBody>
      </p:sp>
      <p:sp>
        <p:nvSpPr>
          <p:cNvPr id="8" name="Text 6"/>
          <p:cNvSpPr/>
          <p:nvPr/>
        </p:nvSpPr>
        <p:spPr>
          <a:xfrm>
            <a:off x="2730398" y="1188720"/>
            <a:ext cx="2181758" cy="868680"/>
          </a:xfrm>
          <a:prstGeom prst="chevron">
            <a:avLst/>
          </a:prstGeom>
          <a:solidFill>
            <a:schemeClr val="accent2"/>
          </a:solidFill>
          <a:ln/>
        </p:spPr>
        <p:txBody>
          <a:bodyPr wrap="square" lIns="0" tIns="139700" rIns="63500" bIns="0" rtlCol="0" anchor="ctr"/>
          <a:lstStyle/>
          <a:p>
            <a:pPr algn="ctr" indent="0" marL="0">
              <a:buNone/>
            </a:pPr>
            <a:r>
              <a:rPr lang="en-US" sz="1100" b="1" dirty="0">
                <a:solidFill>
                  <a:schemeClr val="bg1"/>
                </a:solidFill>
              </a:rPr>
              <a:t>Inner: 4 folds (selection, tuning, early stopping)</a:t>
            </a:r>
            <a:endParaRPr lang="en-US" sz="1100" dirty="0"/>
          </a:p>
        </p:txBody>
      </p:sp>
      <p:sp>
        <p:nvSpPr>
          <p:cNvPr id="9" name="Text 7"/>
          <p:cNvSpPr/>
          <p:nvPr/>
        </p:nvSpPr>
        <p:spPr>
          <a:xfrm>
            <a:off x="5003597" y="1188720"/>
            <a:ext cx="2181758" cy="868680"/>
          </a:xfrm>
          <a:prstGeom prst="chevron">
            <a:avLst/>
          </a:prstGeom>
          <a:solidFill>
            <a:schemeClr val="tx2"/>
          </a:solidFill>
          <a:ln/>
        </p:spPr>
        <p:txBody>
          <a:bodyPr wrap="square" lIns="0" tIns="139700" rIns="63500" bIns="0" rtlCol="0" anchor="ctr"/>
          <a:lstStyle/>
          <a:p>
            <a:pPr algn="ctr" indent="0" marL="0">
              <a:buNone/>
            </a:pPr>
            <a:r>
              <a:rPr lang="en-US" sz="1100" b="1" dirty="0">
                <a:solidFill>
                  <a:schemeClr val="bg1"/>
                </a:solidFill>
              </a:rPr>
              <a:t>Repeat ×3 seeds</a:t>
            </a:r>
            <a:endParaRPr lang="en-US" sz="1100" dirty="0"/>
          </a:p>
        </p:txBody>
      </p:sp>
      <p:sp>
        <p:nvSpPr>
          <p:cNvPr id="10" name="Text 8"/>
          <p:cNvSpPr/>
          <p:nvPr/>
        </p:nvSpPr>
        <p:spPr>
          <a:xfrm>
            <a:off x="7276795" y="1188720"/>
            <a:ext cx="2181758" cy="868680"/>
          </a:xfrm>
          <a:prstGeom prst="chevron">
            <a:avLst/>
          </a:prstGeom>
          <a:solidFill>
            <a:schemeClr val="accent3"/>
          </a:solidFill>
          <a:ln/>
        </p:spPr>
        <p:txBody>
          <a:bodyPr wrap="square" lIns="0" tIns="139700" rIns="63500" bIns="0" rtlCol="0" anchor="ctr"/>
          <a:lstStyle/>
          <a:p>
            <a:pPr algn="ctr" indent="0" marL="0">
              <a:buNone/>
            </a:pPr>
            <a:r>
              <a:rPr lang="en-US" sz="1100" b="1" dirty="0">
                <a:solidFill>
                  <a:schemeClr val="bg1"/>
                </a:solidFill>
              </a:rPr>
              <a:t>Leave-one-date-out</a:t>
            </a:r>
            <a:endParaRPr lang="en-US" sz="1100" dirty="0"/>
          </a:p>
        </p:txBody>
      </p:sp>
      <p:sp>
        <p:nvSpPr>
          <p:cNvPr id="11" name="Text 9"/>
          <p:cNvSpPr/>
          <p:nvPr/>
        </p:nvSpPr>
        <p:spPr>
          <a:xfrm>
            <a:off x="9549994" y="1188720"/>
            <a:ext cx="2181758" cy="868680"/>
          </a:xfrm>
          <a:prstGeom prst="chevron">
            <a:avLst/>
          </a:prstGeom>
          <a:solidFill>
            <a:schemeClr val="accent4"/>
          </a:solidFill>
          <a:ln/>
        </p:spPr>
        <p:txBody>
          <a:bodyPr wrap="square" lIns="0" tIns="139700" rIns="63500" bIns="0" rtlCol="0" anchor="ctr"/>
          <a:lstStyle/>
          <a:p>
            <a:pPr algn="ctr" indent="0" marL="0">
              <a:buNone/>
            </a:pPr>
            <a:r>
              <a:rPr lang="en-US" sz="1100" b="1" dirty="0">
                <a:solidFill>
                  <a:schemeClr val="bg1"/>
                </a:solidFill>
              </a:rPr>
              <a:t>External: Bharatpur (frozen)</a:t>
            </a:r>
            <a:endParaRPr lang="en-US" sz="11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457200" y="2240280"/>
          <a:ext cx="11274552" cy="914400"/>
        </p:xfrm>
        <a:graphic>
          <a:graphicData uri="http://schemas.openxmlformats.org/drawingml/2006/table">
            <a:tbl>
              <a:tblPr/>
              <a:tblGrid>
                <a:gridCol w="4572000"/>
                <a:gridCol w="6702552"/>
              </a:tblGrid>
              <a:tr h="0">
                <a:tc>
                  <a:txBody>
                    <a:bodyPr/>
                    <a:lstStyle/>
                    <a:p>
                      <a:pPr indent="0" marL="0">
                        <a:buNone/>
                      </a:pPr>
                      <a:r>
                        <a:rPr lang="en-US" sz="1400" b="1" dirty="0">
                          <a:solidFill>
                            <a:schemeClr val="bg1"/>
                          </a:solidFill>
                        </a:rPr>
                        <a:t>Metric</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Why</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r>
              <a:tr h="0">
                <a:tc>
                  <a:txBody>
                    <a:bodyPr/>
                    <a:lstStyle/>
                    <a:p>
                      <a:pPr indent="0" marL="0">
                        <a:buNone/>
                      </a:pPr>
                      <a:r>
                        <a:rPr lang="en-US" sz="1400" dirty="0">
                          <a:solidFill>
                            <a:schemeClr val="tx1"/>
                          </a:solidFill>
                        </a:rPr>
                        <a:t>Macro-F1, OA, quadratic-weighted kappa</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Class imbalance; ordered classes</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400" dirty="0">
                          <a:solidFill>
                            <a:schemeClr val="tx1"/>
                          </a:solidFill>
                        </a:rPr>
                        <a:t>Confusion matrix; per-class recall/precision</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Where errors occur (e.g. class 4 vs 5)</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400" dirty="0">
                          <a:solidFill>
                            <a:schemeClr val="tx1"/>
                          </a:solidFill>
                        </a:rPr>
                        <a:t>Healthy-vs-diseased sensitivity</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Early detection relevance</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400" dirty="0">
                          <a:solidFill>
                            <a:schemeClr val="tx1"/>
                          </a:solidFill>
                        </a:rPr>
                        <a:t>R², RMSE, RPD (DI regression)</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Continuous severity</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400" dirty="0">
                          <a:solidFill>
                            <a:schemeClr val="tx1"/>
                          </a:solidFill>
                        </a:rPr>
                        <a:t>McNemar (paired predictions)</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400" dirty="0">
                          <a:solidFill>
                            <a:schemeClr val="tx1"/>
                          </a:solidFill>
                        </a:rPr>
                        <a:t>Is fusion significantly better?</a:t>
                      </a:r>
                      <a:endParaRPr lang="en-US" sz="14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Ablation, fusion gain and interpretation</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VALIDATION · INTERPRETATION</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the 15-combination ablation answers Objective O4 (cheapest adequate sensor set); interpretation links selected features to white rust physiology.</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Breiman (2001) permutation importance; Selvaraju et al. (2017) Grad-CAM; Gönen &amp; Alpaydın (2011) MKL weights; Ilse et al. (2018).</a:t>
            </a:r>
            <a:endParaRPr lang="en-US" sz="1000" dirty="0"/>
          </a:p>
        </p:txBody>
      </p:sp>
      <p:sp>
        <p:nvSpPr>
          <p:cNvPr id="7" name="Shape 5"/>
          <p:cNvSpPr/>
          <p:nvPr/>
        </p:nvSpPr>
        <p:spPr>
          <a:xfrm>
            <a:off x="457200" y="1188720"/>
            <a:ext cx="11274552" cy="685800"/>
          </a:xfrm>
          <a:prstGeom prst="roundRect">
            <a:avLst>
              <a:gd name="adj" fmla="val 10667"/>
            </a:avLst>
          </a:prstGeom>
          <a:solidFill>
            <a:schemeClr val="bg1"/>
          </a:solidFill>
          <a:ln w="15875">
            <a:solidFill>
              <a:schemeClr val="accent1"/>
            </a:solidFill>
            <a:prstDash val="solid"/>
          </a:ln>
        </p:spPr>
      </p:sp>
      <p:sp>
        <p:nvSpPr>
          <p:cNvPr id="8" name="Text 6"/>
          <p:cNvSpPr txBox="1"/>
          <p:nvPr/>
        </p:nvSpPr>
        <p:spPr>
          <a:xfrm>
            <a:off x="594360" y="1188720"/>
            <a:ext cx="11000232" cy="685800"/>
          </a:xfrm>
          <a:prstGeom prst="rect">
            <a:avLst/>
          </a:prstGeom>
          <a:noFill/>
          <a:ln/>
        </p:spPr>
        <p:txBody>
          <a:bodyPr wrap="square" lIns="0" tIns="0" rIns="0" bIns="0" rtlCol="0" anchor="ctr"/>
          <a:lstStyle/>
          <a:p>
            <a:pPr algn="ctr" indent="0" marL="0">
              <a:buNone/>
            </a:pPr>
            <a:r>
              <a:rPr lang="en-US" sz="1500" dirty="0">
                <a:solidFill>
                  <a:schemeClr val="tx1"/>
                </a:solidFill>
                <a:latin typeface="Cambria Math" pitchFamily="34" charset="0"/>
                <a:ea typeface="Cambria Math" pitchFamily="34" charset="-122"/>
                <a:cs typeface="Cambria Math" pitchFamily="34" charset="-120"/>
              </a:rPr>
              <a:t>Fusion gain = score(fused) − max_s score(single sensor s)      ·      Combinations for 4 sensors = 2⁴ − 1 = 15</a:t>
            </a:r>
            <a:endParaRPr lang="en-US" sz="1500" dirty="0"/>
          </a:p>
        </p:txBody>
      </p:sp>
      <p:sp>
        <p:nvSpPr>
          <p:cNvPr id="9" name="Shape 7"/>
          <p:cNvSpPr/>
          <p:nvPr/>
        </p:nvSpPr>
        <p:spPr>
          <a:xfrm>
            <a:off x="457200" y="2057400"/>
            <a:ext cx="5486400" cy="3200400"/>
          </a:xfrm>
          <a:prstGeom prst="roundRect">
            <a:avLst>
              <a:gd name="adj" fmla="val 2286"/>
            </a:avLst>
          </a:prstGeom>
          <a:solidFill>
            <a:schemeClr val="bg2"/>
          </a:solidFill>
          <a:ln/>
        </p:spPr>
      </p:sp>
      <p:sp>
        <p:nvSpPr>
          <p:cNvPr id="10" name="Shape 8"/>
          <p:cNvSpPr/>
          <p:nvPr/>
        </p:nvSpPr>
        <p:spPr>
          <a:xfrm>
            <a:off x="457200" y="2167128"/>
            <a:ext cx="64008" cy="347472"/>
          </a:xfrm>
          <a:prstGeom prst="rect">
            <a:avLst/>
          </a:prstGeom>
          <a:solidFill>
            <a:schemeClr val="accent1"/>
          </a:solidFill>
          <a:ln/>
        </p:spPr>
      </p:sp>
      <p:sp>
        <p:nvSpPr>
          <p:cNvPr id="11" name="Text 9"/>
          <p:cNvSpPr txBox="1"/>
          <p:nvPr/>
        </p:nvSpPr>
        <p:spPr>
          <a:xfrm>
            <a:off x="640080" y="2148840"/>
            <a:ext cx="5212080" cy="384048"/>
          </a:xfrm>
          <a:prstGeom prst="rect">
            <a:avLst/>
          </a:prstGeom>
          <a:noFill/>
          <a:ln/>
        </p:spPr>
        <p:txBody>
          <a:bodyPr wrap="square" lIns="0" tIns="0" rIns="0" bIns="0" rtlCol="0" anchor="ctr"/>
          <a:lstStyle/>
          <a:p>
            <a:pPr indent="0" marL="0">
              <a:buNone/>
            </a:pPr>
            <a:r>
              <a:rPr lang="en-US" sz="1600" b="1" dirty="0">
                <a:solidFill>
                  <a:schemeClr val="tx1"/>
                </a:solidFill>
              </a:rPr>
              <a:t>Ablation</a:t>
            </a:r>
            <a:endParaRPr lang="en-US" sz="1600" dirty="0"/>
          </a:p>
        </p:txBody>
      </p:sp>
      <p:sp>
        <p:nvSpPr>
          <p:cNvPr id="12" name="Text 10"/>
          <p:cNvSpPr txBox="1"/>
          <p:nvPr/>
        </p:nvSpPr>
        <p:spPr>
          <a:xfrm>
            <a:off x="640080" y="2587752"/>
            <a:ext cx="5166360" cy="2578608"/>
          </a:xfrm>
          <a:prstGeom prst="rect">
            <a:avLst/>
          </a:prstGeom>
          <a:noFill/>
          <a:ln/>
        </p:spPr>
        <p:txBody>
          <a:bodyPr wrap="square" lIns="0" tIns="0" rIns="0" bIns="0" rtlCol="0" anchor="t"/>
          <a:lstStyle/>
          <a:p>
            <a:pPr marL="165100" indent="-165100">
              <a:spcAft>
                <a:spcPts val="600"/>
              </a:spcAft>
              <a:buSzPct val="100000"/>
              <a:buChar char="•"/>
            </a:pPr>
            <a:r>
              <a:rPr lang="en-US" sz="1450" dirty="0">
                <a:solidFill>
                  <a:schemeClr val="tx1"/>
                </a:solidFill>
              </a:rPr>
              <a:t>All 15 combinations × each fusion level</a:t>
            </a:r>
            <a:endParaRPr lang="en-US" sz="1400" dirty="0"/>
          </a:p>
          <a:p>
            <a:pPr marL="165100" indent="-165100">
              <a:spcAft>
                <a:spcPts val="600"/>
              </a:spcAft>
              <a:buSzPct val="100000"/>
              <a:buChar char="•"/>
            </a:pPr>
            <a:r>
              <a:rPr lang="en-US" sz="1450" dirty="0">
                <a:solidFill>
                  <a:schemeClr val="tx1"/>
                </a:solidFill>
              </a:rPr>
              <a:t>Report mean ± SD over repeats</a:t>
            </a:r>
            <a:endParaRPr lang="en-US" sz="1400" dirty="0"/>
          </a:p>
          <a:p>
            <a:pPr marL="165100" indent="-165100">
              <a:spcAft>
                <a:spcPts val="600"/>
              </a:spcAft>
              <a:buSzPct val="100000"/>
              <a:buChar char="•"/>
            </a:pPr>
            <a:r>
              <a:rPr lang="en-US" sz="1450" dirty="0">
                <a:solidFill>
                  <a:schemeClr val="tx1"/>
                </a:solidFill>
              </a:rPr>
              <a:t>McNemar: best single vs best fused; each triple vs all four</a:t>
            </a:r>
            <a:endParaRPr lang="en-US" sz="1400" dirty="0"/>
          </a:p>
          <a:p>
            <a:pPr marL="165100" indent="-165100">
              <a:spcAft>
                <a:spcPts val="600"/>
              </a:spcAft>
              <a:buSzPct val="100000"/>
              <a:buChar char="•"/>
            </a:pPr>
            <a:r>
              <a:rPr lang="en-US" sz="1450" dirty="0">
                <a:solidFill>
                  <a:schemeClr val="tx1"/>
                </a:solidFill>
              </a:rPr>
              <a:t>Plot accuracy vs number/cost of sensors</a:t>
            </a:r>
            <a:endParaRPr lang="en-US" sz="1400" dirty="0"/>
          </a:p>
        </p:txBody>
      </p:sp>
      <p:sp>
        <p:nvSpPr>
          <p:cNvPr id="13" name="Shape 11"/>
          <p:cNvSpPr/>
          <p:nvPr/>
        </p:nvSpPr>
        <p:spPr>
          <a:xfrm>
            <a:off x="6245352" y="2057400"/>
            <a:ext cx="5486400" cy="3200400"/>
          </a:xfrm>
          <a:prstGeom prst="roundRect">
            <a:avLst>
              <a:gd name="adj" fmla="val 2286"/>
            </a:avLst>
          </a:prstGeom>
          <a:solidFill>
            <a:schemeClr val="bg2"/>
          </a:solidFill>
          <a:ln/>
        </p:spPr>
      </p:sp>
      <p:sp>
        <p:nvSpPr>
          <p:cNvPr id="14" name="Shape 12"/>
          <p:cNvSpPr/>
          <p:nvPr/>
        </p:nvSpPr>
        <p:spPr>
          <a:xfrm>
            <a:off x="6245352" y="2167128"/>
            <a:ext cx="64008" cy="347472"/>
          </a:xfrm>
          <a:prstGeom prst="rect">
            <a:avLst/>
          </a:prstGeom>
          <a:solidFill>
            <a:schemeClr val="accent2"/>
          </a:solidFill>
          <a:ln/>
        </p:spPr>
      </p:sp>
      <p:sp>
        <p:nvSpPr>
          <p:cNvPr id="15" name="Text 13"/>
          <p:cNvSpPr txBox="1"/>
          <p:nvPr/>
        </p:nvSpPr>
        <p:spPr>
          <a:xfrm>
            <a:off x="6428232" y="2148840"/>
            <a:ext cx="5212080" cy="384048"/>
          </a:xfrm>
          <a:prstGeom prst="rect">
            <a:avLst/>
          </a:prstGeom>
          <a:noFill/>
          <a:ln/>
        </p:spPr>
        <p:txBody>
          <a:bodyPr wrap="square" lIns="0" tIns="0" rIns="0" bIns="0" rtlCol="0" anchor="ctr"/>
          <a:lstStyle/>
          <a:p>
            <a:pPr indent="0" marL="0">
              <a:buNone/>
            </a:pPr>
            <a:r>
              <a:rPr lang="en-US" sz="1600" b="1" dirty="0">
                <a:solidFill>
                  <a:schemeClr val="tx1"/>
                </a:solidFill>
              </a:rPr>
              <a:t>Interpretation</a:t>
            </a:r>
            <a:endParaRPr lang="en-US" sz="1600" dirty="0"/>
          </a:p>
        </p:txBody>
      </p:sp>
      <p:sp>
        <p:nvSpPr>
          <p:cNvPr id="16" name="Text 14"/>
          <p:cNvSpPr txBox="1"/>
          <p:nvPr/>
        </p:nvSpPr>
        <p:spPr>
          <a:xfrm>
            <a:off x="6428232" y="2587752"/>
            <a:ext cx="5166360" cy="2578608"/>
          </a:xfrm>
          <a:prstGeom prst="rect">
            <a:avLst/>
          </a:prstGeom>
          <a:noFill/>
          <a:ln/>
        </p:spPr>
        <p:txBody>
          <a:bodyPr wrap="square" lIns="0" tIns="0" rIns="0" bIns="0" rtlCol="0" anchor="t"/>
          <a:lstStyle/>
          <a:p>
            <a:pPr marL="165100" indent="-165100">
              <a:spcAft>
                <a:spcPts val="600"/>
              </a:spcAft>
              <a:buSzPct val="100000"/>
              <a:buChar char="•"/>
            </a:pPr>
            <a:r>
              <a:rPr lang="en-US" sz="1450" b="1" dirty="0">
                <a:solidFill>
                  <a:schemeClr val="tx1"/>
                </a:solidFill>
              </a:rPr>
              <a:t>ML:</a:t>
            </a:r>
            <a:pPr indent="0" marL="0">
              <a:spcAft>
                <a:spcPts val="600"/>
              </a:spcAft>
              <a:buNone/>
            </a:pPr>
            <a:r>
              <a:rPr lang="en-US" sz="1450" dirty="0">
                <a:solidFill>
                  <a:schemeClr val="tx1"/>
                </a:solidFill>
              </a:rPr>
              <a:t> selected features, permutation importance, partial dependence</a:t>
            </a:r>
            <a:endParaRPr lang="en-US" sz="1400" dirty="0"/>
          </a:p>
          <a:p>
            <a:pPr marL="165100" indent="-165100">
              <a:spcAft>
                <a:spcPts val="600"/>
              </a:spcAft>
              <a:buSzPct val="100000"/>
              <a:buChar char="•"/>
            </a:pPr>
            <a:r>
              <a:rPr lang="en-US" sz="1450" b="1" dirty="0">
                <a:solidFill>
                  <a:schemeClr val="tx1"/>
                </a:solidFill>
              </a:rPr>
              <a:t>Kernel:</a:t>
            </a:r>
            <a:pPr indent="0" marL="0">
              <a:spcAft>
                <a:spcPts val="600"/>
              </a:spcAft>
              <a:buNone/>
            </a:pPr>
            <a:r>
              <a:rPr lang="en-US" sz="1450" dirty="0">
                <a:solidFill>
                  <a:schemeClr val="tx1"/>
                </a:solidFill>
              </a:rPr>
              <a:t> MKL sensor weights μₛ</a:t>
            </a:r>
            <a:endParaRPr lang="en-US" sz="1400" dirty="0"/>
          </a:p>
          <a:p>
            <a:pPr marL="165100" indent="-165100">
              <a:spcAft>
                <a:spcPts val="600"/>
              </a:spcAft>
              <a:buSzPct val="100000"/>
              <a:buChar char="•"/>
            </a:pPr>
            <a:r>
              <a:rPr lang="en-US" sz="1450" b="1" dirty="0">
                <a:solidFill>
                  <a:schemeClr val="tx1"/>
                </a:solidFill>
              </a:rPr>
              <a:t>DL:</a:t>
            </a:r>
            <a:pPr indent="0" marL="0">
              <a:spcAft>
                <a:spcPts val="600"/>
              </a:spcAft>
              <a:buNone/>
            </a:pPr>
            <a:r>
              <a:rPr lang="en-US" sz="1450" dirty="0">
                <a:solidFill>
                  <a:schemeClr val="tx1"/>
                </a:solidFill>
              </a:rPr>
              <a:t> gating weights, Grad-CAM per branch, spectral attributions, MIL attention maps</a:t>
            </a:r>
            <a:endParaRPr lang="en-US" sz="1400" dirty="0"/>
          </a:p>
          <a:p>
            <a:pPr marL="165100" indent="-165100">
              <a:spcAft>
                <a:spcPts val="600"/>
              </a:spcAft>
              <a:buSzPct val="100000"/>
              <a:buChar char="•"/>
            </a:pPr>
            <a:r>
              <a:rPr lang="en-US" sz="1450" dirty="0">
                <a:solidFill>
                  <a:schemeClr val="tx1"/>
                </a:solidFill>
              </a:rPr>
              <a:t>Check physiological plausibility (chlorophyll, transpiration, texture)</a:t>
            </a:r>
            <a:endParaRPr lang="en-US" sz="14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End-to-end workflow: acquisition → fusion → model → map</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PRACTICAL FLOW</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each box corresponds to a pipeline step or script; follow the order and do not skip the QA checks between steps.</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Synthesis of this deck; pipeline modules s01–s08 (MuDAS-AI).</a:t>
            </a:r>
            <a:endParaRPr lang="en-US" sz="1000" dirty="0"/>
          </a:p>
        </p:txBody>
      </p:sp>
      <p:sp>
        <p:nvSpPr>
          <p:cNvPr id="7" name="Shape 5"/>
          <p:cNvSpPr/>
          <p:nvPr/>
        </p:nvSpPr>
        <p:spPr>
          <a:xfrm>
            <a:off x="457200" y="1188720"/>
            <a:ext cx="2697480" cy="1261872"/>
          </a:xfrm>
          <a:prstGeom prst="roundRect">
            <a:avLst>
              <a:gd name="adj" fmla="val 5797"/>
            </a:avLst>
          </a:prstGeom>
          <a:solidFill>
            <a:srgbClr val="E3F1EF"/>
          </a:solidFill>
          <a:ln/>
        </p:spPr>
      </p:sp>
      <p:sp>
        <p:nvSpPr>
          <p:cNvPr id="8" name="Text 6"/>
          <p:cNvSpPr txBox="1"/>
          <p:nvPr/>
        </p:nvSpPr>
        <p:spPr>
          <a:xfrm>
            <a:off x="566928" y="1261872"/>
            <a:ext cx="2468880" cy="365760"/>
          </a:xfrm>
          <a:prstGeom prst="rect">
            <a:avLst/>
          </a:prstGeom>
          <a:noFill/>
          <a:ln/>
        </p:spPr>
        <p:txBody>
          <a:bodyPr wrap="square" lIns="0" tIns="0" rIns="0" bIns="0" rtlCol="0" anchor="t"/>
          <a:lstStyle/>
          <a:p>
            <a:pPr indent="0" marL="0">
              <a:buNone/>
            </a:pPr>
            <a:r>
              <a:rPr lang="en-US" sz="1300" b="1" dirty="0">
                <a:solidFill>
                  <a:schemeClr val="tx1"/>
                </a:solidFill>
              </a:rPr>
              <a:t>1 Plan &amp; fly</a:t>
            </a:r>
            <a:endParaRPr lang="en-US" sz="1300" dirty="0"/>
          </a:p>
        </p:txBody>
      </p:sp>
      <p:sp>
        <p:nvSpPr>
          <p:cNvPr id="9" name="Text 7"/>
          <p:cNvSpPr txBox="1"/>
          <p:nvPr/>
        </p:nvSpPr>
        <p:spPr>
          <a:xfrm>
            <a:off x="566928" y="1645920"/>
            <a:ext cx="2468880" cy="749808"/>
          </a:xfrm>
          <a:prstGeom prst="rect">
            <a:avLst/>
          </a:prstGeom>
          <a:noFill/>
          <a:ln/>
        </p:spPr>
        <p:txBody>
          <a:bodyPr wrap="square" lIns="0" tIns="0" rIns="0" bIns="0" rtlCol="0" anchor="t"/>
          <a:lstStyle/>
          <a:p>
            <a:pPr indent="0" marL="0">
              <a:buNone/>
            </a:pPr>
            <a:r>
              <a:rPr lang="en-US" sz="1150" dirty="0">
                <a:solidFill>
                  <a:schemeClr val="tx1"/>
                </a:solidFill>
              </a:rPr>
              <a:t>Same-day flights, GCPs, panels, thermal refs</a:t>
            </a:r>
            <a:endParaRPr lang="en-US" sz="1150" dirty="0"/>
          </a:p>
        </p:txBody>
      </p:sp>
      <p:sp>
        <p:nvSpPr>
          <p:cNvPr id="10" name="Shape 8"/>
          <p:cNvSpPr/>
          <p:nvPr/>
        </p:nvSpPr>
        <p:spPr>
          <a:xfrm>
            <a:off x="3291840" y="1188720"/>
            <a:ext cx="2697480" cy="1261872"/>
          </a:xfrm>
          <a:prstGeom prst="roundRect">
            <a:avLst>
              <a:gd name="adj" fmla="val 5797"/>
            </a:avLst>
          </a:prstGeom>
          <a:solidFill>
            <a:srgbClr val="E3F1EF"/>
          </a:solidFill>
          <a:ln/>
        </p:spPr>
      </p:sp>
      <p:sp>
        <p:nvSpPr>
          <p:cNvPr id="11" name="Text 9"/>
          <p:cNvSpPr txBox="1"/>
          <p:nvPr/>
        </p:nvSpPr>
        <p:spPr>
          <a:xfrm>
            <a:off x="3401568" y="1261872"/>
            <a:ext cx="2468880" cy="365760"/>
          </a:xfrm>
          <a:prstGeom prst="rect">
            <a:avLst/>
          </a:prstGeom>
          <a:noFill/>
          <a:ln/>
        </p:spPr>
        <p:txBody>
          <a:bodyPr wrap="square" lIns="0" tIns="0" rIns="0" bIns="0" rtlCol="0" anchor="t"/>
          <a:lstStyle/>
          <a:p>
            <a:pPr indent="0" marL="0">
              <a:buNone/>
            </a:pPr>
            <a:r>
              <a:rPr lang="en-US" sz="1300" b="1" dirty="0">
                <a:solidFill>
                  <a:schemeClr val="tx1"/>
                </a:solidFill>
              </a:rPr>
              <a:t>2 Ground truth</a:t>
            </a:r>
            <a:endParaRPr lang="en-US" sz="1300" dirty="0"/>
          </a:p>
        </p:txBody>
      </p:sp>
      <p:sp>
        <p:nvSpPr>
          <p:cNvPr id="12" name="Text 10"/>
          <p:cNvSpPr txBox="1"/>
          <p:nvPr/>
        </p:nvSpPr>
        <p:spPr>
          <a:xfrm>
            <a:off x="3401568" y="1645920"/>
            <a:ext cx="2468880" cy="749808"/>
          </a:xfrm>
          <a:prstGeom prst="rect">
            <a:avLst/>
          </a:prstGeom>
          <a:noFill/>
          <a:ln/>
        </p:spPr>
        <p:txBody>
          <a:bodyPr wrap="square" lIns="0" tIns="0" rIns="0" bIns="0" rtlCol="0" anchor="t"/>
          <a:lstStyle/>
          <a:p>
            <a:pPr indent="0" marL="0">
              <a:buNone/>
            </a:pPr>
            <a:r>
              <a:rPr lang="en-US" sz="1150" dirty="0">
                <a:solidFill>
                  <a:schemeClr val="tx1"/>
                </a:solidFill>
              </a:rPr>
              <a:t>DI by layer &amp; surface; metadata</a:t>
            </a:r>
            <a:endParaRPr lang="en-US" sz="1150" dirty="0"/>
          </a:p>
        </p:txBody>
      </p:sp>
      <p:sp>
        <p:nvSpPr>
          <p:cNvPr id="13" name="Shape 11"/>
          <p:cNvSpPr/>
          <p:nvPr/>
        </p:nvSpPr>
        <p:spPr>
          <a:xfrm>
            <a:off x="6126480" y="1188720"/>
            <a:ext cx="2697480" cy="1261872"/>
          </a:xfrm>
          <a:prstGeom prst="roundRect">
            <a:avLst>
              <a:gd name="adj" fmla="val 5797"/>
            </a:avLst>
          </a:prstGeom>
          <a:solidFill>
            <a:srgbClr val="E3F1EF"/>
          </a:solidFill>
          <a:ln/>
        </p:spPr>
      </p:sp>
      <p:sp>
        <p:nvSpPr>
          <p:cNvPr id="14" name="Text 12"/>
          <p:cNvSpPr txBox="1"/>
          <p:nvPr/>
        </p:nvSpPr>
        <p:spPr>
          <a:xfrm>
            <a:off x="6236208" y="1261872"/>
            <a:ext cx="2468880" cy="365760"/>
          </a:xfrm>
          <a:prstGeom prst="rect">
            <a:avLst/>
          </a:prstGeom>
          <a:noFill/>
          <a:ln/>
        </p:spPr>
        <p:txBody>
          <a:bodyPr wrap="square" lIns="0" tIns="0" rIns="0" bIns="0" rtlCol="0" anchor="t"/>
          <a:lstStyle/>
          <a:p>
            <a:pPr indent="0" marL="0">
              <a:buNone/>
            </a:pPr>
            <a:r>
              <a:rPr lang="en-US" sz="1300" b="1" dirty="0">
                <a:solidFill>
                  <a:schemeClr val="tx1"/>
                </a:solidFill>
              </a:rPr>
              <a:t>3 Calibrate</a:t>
            </a:r>
            <a:endParaRPr lang="en-US" sz="1300" dirty="0"/>
          </a:p>
        </p:txBody>
      </p:sp>
      <p:sp>
        <p:nvSpPr>
          <p:cNvPr id="15" name="Text 13"/>
          <p:cNvSpPr txBox="1"/>
          <p:nvPr/>
        </p:nvSpPr>
        <p:spPr>
          <a:xfrm>
            <a:off x="6236208" y="1645920"/>
            <a:ext cx="2468880" cy="749808"/>
          </a:xfrm>
          <a:prstGeom prst="rect">
            <a:avLst/>
          </a:prstGeom>
          <a:noFill/>
          <a:ln/>
        </p:spPr>
        <p:txBody>
          <a:bodyPr wrap="square" lIns="0" tIns="0" rIns="0" bIns="0" rtlCol="0" anchor="t"/>
          <a:lstStyle/>
          <a:p>
            <a:pPr indent="0" marL="0">
              <a:buNone/>
            </a:pPr>
            <a:r>
              <a:rPr lang="en-US" sz="1150" dirty="0">
                <a:solidFill>
                  <a:schemeClr val="tx1"/>
                </a:solidFill>
              </a:rPr>
              <a:t>Reflectance, °C, CTD</a:t>
            </a:r>
            <a:endParaRPr lang="en-US" sz="1150" dirty="0"/>
          </a:p>
        </p:txBody>
      </p:sp>
      <p:sp>
        <p:nvSpPr>
          <p:cNvPr id="16" name="Shape 14"/>
          <p:cNvSpPr/>
          <p:nvPr/>
        </p:nvSpPr>
        <p:spPr>
          <a:xfrm>
            <a:off x="8961120" y="1188720"/>
            <a:ext cx="2697480" cy="1261872"/>
          </a:xfrm>
          <a:prstGeom prst="roundRect">
            <a:avLst>
              <a:gd name="adj" fmla="val 5797"/>
            </a:avLst>
          </a:prstGeom>
          <a:solidFill>
            <a:srgbClr val="E3F1EF"/>
          </a:solidFill>
          <a:ln/>
        </p:spPr>
      </p:sp>
      <p:sp>
        <p:nvSpPr>
          <p:cNvPr id="17" name="Text 15"/>
          <p:cNvSpPr txBox="1"/>
          <p:nvPr/>
        </p:nvSpPr>
        <p:spPr>
          <a:xfrm>
            <a:off x="9070848" y="1261872"/>
            <a:ext cx="2468880" cy="365760"/>
          </a:xfrm>
          <a:prstGeom prst="rect">
            <a:avLst/>
          </a:prstGeom>
          <a:noFill/>
          <a:ln/>
        </p:spPr>
        <p:txBody>
          <a:bodyPr wrap="square" lIns="0" tIns="0" rIns="0" bIns="0" rtlCol="0" anchor="t"/>
          <a:lstStyle/>
          <a:p>
            <a:pPr indent="0" marL="0">
              <a:buNone/>
            </a:pPr>
            <a:r>
              <a:rPr lang="en-US" sz="1300" b="1" dirty="0">
                <a:solidFill>
                  <a:schemeClr val="tx1"/>
                </a:solidFill>
              </a:rPr>
              <a:t>4 Co-register</a:t>
            </a:r>
            <a:endParaRPr lang="en-US" sz="1300" dirty="0"/>
          </a:p>
        </p:txBody>
      </p:sp>
      <p:sp>
        <p:nvSpPr>
          <p:cNvPr id="18" name="Text 16"/>
          <p:cNvSpPr txBox="1"/>
          <p:nvPr/>
        </p:nvSpPr>
        <p:spPr>
          <a:xfrm>
            <a:off x="9070848" y="1645920"/>
            <a:ext cx="2468880" cy="749808"/>
          </a:xfrm>
          <a:prstGeom prst="rect">
            <a:avLst/>
          </a:prstGeom>
          <a:noFill/>
          <a:ln/>
        </p:spPr>
        <p:txBody>
          <a:bodyPr wrap="square" lIns="0" tIns="0" rIns="0" bIns="0" rtlCol="0" anchor="t"/>
          <a:lstStyle/>
          <a:p>
            <a:pPr indent="0" marL="0">
              <a:buNone/>
            </a:pPr>
            <a:r>
              <a:rPr lang="en-US" sz="1150" dirty="0">
                <a:solidFill>
                  <a:schemeClr val="tx1"/>
                </a:solidFill>
              </a:rPr>
              <a:t>Same GCPs + fine alignment; RMSE check</a:t>
            </a:r>
            <a:endParaRPr lang="en-US" sz="1150" dirty="0"/>
          </a:p>
        </p:txBody>
      </p:sp>
      <p:sp>
        <p:nvSpPr>
          <p:cNvPr id="19" name="Shape 17"/>
          <p:cNvSpPr/>
          <p:nvPr/>
        </p:nvSpPr>
        <p:spPr>
          <a:xfrm>
            <a:off x="457200" y="2560320"/>
            <a:ext cx="2697480" cy="1261872"/>
          </a:xfrm>
          <a:prstGeom prst="roundRect">
            <a:avLst>
              <a:gd name="adj" fmla="val 5797"/>
            </a:avLst>
          </a:prstGeom>
          <a:solidFill>
            <a:srgbClr val="E3F1EF"/>
          </a:solidFill>
          <a:ln/>
        </p:spPr>
      </p:sp>
      <p:sp>
        <p:nvSpPr>
          <p:cNvPr id="20" name="Text 18"/>
          <p:cNvSpPr txBox="1"/>
          <p:nvPr/>
        </p:nvSpPr>
        <p:spPr>
          <a:xfrm>
            <a:off x="566928" y="2633472"/>
            <a:ext cx="2468880" cy="365760"/>
          </a:xfrm>
          <a:prstGeom prst="rect">
            <a:avLst/>
          </a:prstGeom>
          <a:noFill/>
          <a:ln/>
        </p:spPr>
        <p:txBody>
          <a:bodyPr wrap="square" lIns="0" tIns="0" rIns="0" bIns="0" rtlCol="0" anchor="t"/>
          <a:lstStyle/>
          <a:p>
            <a:pPr indent="0" marL="0">
              <a:buNone/>
            </a:pPr>
            <a:r>
              <a:rPr lang="en-US" sz="1300" b="1" dirty="0">
                <a:solidFill>
                  <a:schemeClr val="tx1"/>
                </a:solidFill>
              </a:rPr>
              <a:t>5 Mask &amp; grid</a:t>
            </a:r>
            <a:endParaRPr lang="en-US" sz="1300" dirty="0"/>
          </a:p>
        </p:txBody>
      </p:sp>
      <p:sp>
        <p:nvSpPr>
          <p:cNvPr id="21" name="Text 19"/>
          <p:cNvSpPr txBox="1"/>
          <p:nvPr/>
        </p:nvSpPr>
        <p:spPr>
          <a:xfrm>
            <a:off x="566928" y="3017520"/>
            <a:ext cx="2468880" cy="749808"/>
          </a:xfrm>
          <a:prstGeom prst="rect">
            <a:avLst/>
          </a:prstGeom>
          <a:noFill/>
          <a:ln/>
        </p:spPr>
        <p:txBody>
          <a:bodyPr wrap="square" lIns="0" tIns="0" rIns="0" bIns="0" rtlCol="0" anchor="t"/>
          <a:lstStyle/>
          <a:p>
            <a:pPr indent="0" marL="0">
              <a:buNone/>
            </a:pPr>
            <a:r>
              <a:rPr lang="en-US" sz="1150" dirty="0">
                <a:solidFill>
                  <a:schemeClr val="tx1"/>
                </a:solidFill>
              </a:rPr>
              <a:t>Canopy/shadow/flower mask; plot inset; optional stack</a:t>
            </a:r>
            <a:endParaRPr lang="en-US" sz="1150" dirty="0"/>
          </a:p>
        </p:txBody>
      </p:sp>
      <p:sp>
        <p:nvSpPr>
          <p:cNvPr id="22" name="Shape 20"/>
          <p:cNvSpPr/>
          <p:nvPr/>
        </p:nvSpPr>
        <p:spPr>
          <a:xfrm>
            <a:off x="3291840" y="2560320"/>
            <a:ext cx="2697480" cy="1261872"/>
          </a:xfrm>
          <a:prstGeom prst="roundRect">
            <a:avLst>
              <a:gd name="adj" fmla="val 5797"/>
            </a:avLst>
          </a:prstGeom>
          <a:solidFill>
            <a:srgbClr val="EAF3E0"/>
          </a:solidFill>
          <a:ln/>
        </p:spPr>
      </p:sp>
      <p:sp>
        <p:nvSpPr>
          <p:cNvPr id="23" name="Text 21"/>
          <p:cNvSpPr txBox="1"/>
          <p:nvPr/>
        </p:nvSpPr>
        <p:spPr>
          <a:xfrm>
            <a:off x="3401568" y="2633472"/>
            <a:ext cx="2468880" cy="365760"/>
          </a:xfrm>
          <a:prstGeom prst="rect">
            <a:avLst/>
          </a:prstGeom>
          <a:noFill/>
          <a:ln/>
        </p:spPr>
        <p:txBody>
          <a:bodyPr wrap="square" lIns="0" tIns="0" rIns="0" bIns="0" rtlCol="0" anchor="t"/>
          <a:lstStyle/>
          <a:p>
            <a:pPr indent="0" marL="0">
              <a:buNone/>
            </a:pPr>
            <a:r>
              <a:rPr lang="en-US" sz="1300" b="1" dirty="0">
                <a:solidFill>
                  <a:schemeClr val="tx1"/>
                </a:solidFill>
              </a:rPr>
              <a:t>6 Features</a:t>
            </a:r>
            <a:endParaRPr lang="en-US" sz="1300" dirty="0"/>
          </a:p>
        </p:txBody>
      </p:sp>
      <p:sp>
        <p:nvSpPr>
          <p:cNvPr id="24" name="Text 22"/>
          <p:cNvSpPr txBox="1"/>
          <p:nvPr/>
        </p:nvSpPr>
        <p:spPr>
          <a:xfrm>
            <a:off x="3401568" y="3017520"/>
            <a:ext cx="2468880" cy="749808"/>
          </a:xfrm>
          <a:prstGeom prst="rect">
            <a:avLst/>
          </a:prstGeom>
          <a:noFill/>
          <a:ln/>
        </p:spPr>
        <p:txBody>
          <a:bodyPr wrap="square" lIns="0" tIns="0" rIns="0" bIns="0" rtlCol="0" anchor="t"/>
          <a:lstStyle/>
          <a:p>
            <a:pPr indent="0" marL="0">
              <a:buNone/>
            </a:pPr>
            <a:r>
              <a:rPr lang="en-US" sz="1150" dirty="0">
                <a:solidFill>
                  <a:schemeClr val="tx1"/>
                </a:solidFill>
              </a:rPr>
              <a:t>Per sensor: indices, texture, thermal, structure</a:t>
            </a:r>
            <a:endParaRPr lang="en-US" sz="1150" dirty="0"/>
          </a:p>
        </p:txBody>
      </p:sp>
      <p:sp>
        <p:nvSpPr>
          <p:cNvPr id="25" name="Shape 23"/>
          <p:cNvSpPr/>
          <p:nvPr/>
        </p:nvSpPr>
        <p:spPr>
          <a:xfrm>
            <a:off x="6126480" y="2560320"/>
            <a:ext cx="2697480" cy="1261872"/>
          </a:xfrm>
          <a:prstGeom prst="roundRect">
            <a:avLst>
              <a:gd name="adj" fmla="val 5797"/>
            </a:avLst>
          </a:prstGeom>
          <a:solidFill>
            <a:srgbClr val="EAF3E0"/>
          </a:solidFill>
          <a:ln/>
        </p:spPr>
      </p:sp>
      <p:sp>
        <p:nvSpPr>
          <p:cNvPr id="26" name="Text 24"/>
          <p:cNvSpPr txBox="1"/>
          <p:nvPr/>
        </p:nvSpPr>
        <p:spPr>
          <a:xfrm>
            <a:off x="6236208" y="2633472"/>
            <a:ext cx="2468880" cy="365760"/>
          </a:xfrm>
          <a:prstGeom prst="rect">
            <a:avLst/>
          </a:prstGeom>
          <a:noFill/>
          <a:ln/>
        </p:spPr>
        <p:txBody>
          <a:bodyPr wrap="square" lIns="0" tIns="0" rIns="0" bIns="0" rtlCol="0" anchor="t"/>
          <a:lstStyle/>
          <a:p>
            <a:pPr indent="0" marL="0">
              <a:buNone/>
            </a:pPr>
            <a:r>
              <a:rPr lang="en-US" sz="1300" b="1" dirty="0">
                <a:solidFill>
                  <a:schemeClr val="tx1"/>
                </a:solidFill>
              </a:rPr>
              <a:t>7 Phase 1</a:t>
            </a:r>
            <a:endParaRPr lang="en-US" sz="1300" dirty="0"/>
          </a:p>
        </p:txBody>
      </p:sp>
      <p:sp>
        <p:nvSpPr>
          <p:cNvPr id="27" name="Text 25"/>
          <p:cNvSpPr txBox="1"/>
          <p:nvPr/>
        </p:nvSpPr>
        <p:spPr>
          <a:xfrm>
            <a:off x="6236208" y="3017520"/>
            <a:ext cx="2468880" cy="749808"/>
          </a:xfrm>
          <a:prstGeom prst="rect">
            <a:avLst/>
          </a:prstGeom>
          <a:noFill/>
          <a:ln/>
        </p:spPr>
        <p:txBody>
          <a:bodyPr wrap="square" lIns="0" tIns="0" rIns="0" bIns="0" rtlCol="0" anchor="t"/>
          <a:lstStyle/>
          <a:p>
            <a:pPr indent="0" marL="0">
              <a:buNone/>
            </a:pPr>
            <a:r>
              <a:rPr lang="en-US" sz="1150" dirty="0">
                <a:solidFill>
                  <a:schemeClr val="tx1"/>
                </a:solidFill>
              </a:rPr>
              <a:t>Disease-specific features per sensor</a:t>
            </a:r>
            <a:endParaRPr lang="en-US" sz="1150" dirty="0"/>
          </a:p>
        </p:txBody>
      </p:sp>
      <p:sp>
        <p:nvSpPr>
          <p:cNvPr id="28" name="Shape 26"/>
          <p:cNvSpPr/>
          <p:nvPr/>
        </p:nvSpPr>
        <p:spPr>
          <a:xfrm>
            <a:off x="8961120" y="2560320"/>
            <a:ext cx="2697480" cy="1261872"/>
          </a:xfrm>
          <a:prstGeom prst="roundRect">
            <a:avLst>
              <a:gd name="adj" fmla="val 5797"/>
            </a:avLst>
          </a:prstGeom>
          <a:solidFill>
            <a:srgbClr val="EAF3E0"/>
          </a:solidFill>
          <a:ln/>
        </p:spPr>
      </p:sp>
      <p:sp>
        <p:nvSpPr>
          <p:cNvPr id="29" name="Text 27"/>
          <p:cNvSpPr txBox="1"/>
          <p:nvPr/>
        </p:nvSpPr>
        <p:spPr>
          <a:xfrm>
            <a:off x="9070848" y="2633472"/>
            <a:ext cx="2468880" cy="365760"/>
          </a:xfrm>
          <a:prstGeom prst="rect">
            <a:avLst/>
          </a:prstGeom>
          <a:noFill/>
          <a:ln/>
        </p:spPr>
        <p:txBody>
          <a:bodyPr wrap="square" lIns="0" tIns="0" rIns="0" bIns="0" rtlCol="0" anchor="t"/>
          <a:lstStyle/>
          <a:p>
            <a:pPr indent="0" marL="0">
              <a:buNone/>
            </a:pPr>
            <a:r>
              <a:rPr lang="en-US" sz="1300" b="1" dirty="0">
                <a:solidFill>
                  <a:schemeClr val="tx1"/>
                </a:solidFill>
              </a:rPr>
              <a:t>8 Phase 2</a:t>
            </a:r>
            <a:endParaRPr lang="en-US" sz="1300" dirty="0"/>
          </a:p>
        </p:txBody>
      </p:sp>
      <p:sp>
        <p:nvSpPr>
          <p:cNvPr id="30" name="Text 28"/>
          <p:cNvSpPr txBox="1"/>
          <p:nvPr/>
        </p:nvSpPr>
        <p:spPr>
          <a:xfrm>
            <a:off x="9070848" y="3017520"/>
            <a:ext cx="2468880" cy="749808"/>
          </a:xfrm>
          <a:prstGeom prst="rect">
            <a:avLst/>
          </a:prstGeom>
          <a:noFill/>
          <a:ln/>
        </p:spPr>
        <p:txBody>
          <a:bodyPr wrap="square" lIns="0" tIns="0" rIns="0" bIns="0" rtlCol="0" anchor="t"/>
          <a:lstStyle/>
          <a:p>
            <a:pPr indent="0" marL="0">
              <a:buNone/>
            </a:pPr>
            <a:r>
              <a:rPr lang="en-US" sz="1150" dirty="0">
                <a:solidFill>
                  <a:schemeClr val="tx1"/>
                </a:solidFill>
              </a:rPr>
              <a:t>Single-sensor ML models (baselines)</a:t>
            </a:r>
            <a:endParaRPr lang="en-US" sz="1150" dirty="0"/>
          </a:p>
        </p:txBody>
      </p:sp>
      <p:sp>
        <p:nvSpPr>
          <p:cNvPr id="31" name="Shape 29"/>
          <p:cNvSpPr/>
          <p:nvPr/>
        </p:nvSpPr>
        <p:spPr>
          <a:xfrm>
            <a:off x="457200" y="3931920"/>
            <a:ext cx="2697480" cy="1261872"/>
          </a:xfrm>
          <a:prstGeom prst="roundRect">
            <a:avLst>
              <a:gd name="adj" fmla="val 5797"/>
            </a:avLst>
          </a:prstGeom>
          <a:solidFill>
            <a:srgbClr val="EAF3E0"/>
          </a:solidFill>
          <a:ln/>
        </p:spPr>
      </p:sp>
      <p:sp>
        <p:nvSpPr>
          <p:cNvPr id="32" name="Text 30"/>
          <p:cNvSpPr txBox="1"/>
          <p:nvPr/>
        </p:nvSpPr>
        <p:spPr>
          <a:xfrm>
            <a:off x="566928" y="4005072"/>
            <a:ext cx="2468880" cy="365760"/>
          </a:xfrm>
          <a:prstGeom prst="rect">
            <a:avLst/>
          </a:prstGeom>
          <a:noFill/>
          <a:ln/>
        </p:spPr>
        <p:txBody>
          <a:bodyPr wrap="square" lIns="0" tIns="0" rIns="0" bIns="0" rtlCol="0" anchor="t"/>
          <a:lstStyle/>
          <a:p>
            <a:pPr indent="0" marL="0">
              <a:buNone/>
            </a:pPr>
            <a:r>
              <a:rPr lang="en-US" sz="1300" b="1" dirty="0">
                <a:solidFill>
                  <a:schemeClr val="tx1"/>
                </a:solidFill>
              </a:rPr>
              <a:t>9 Fusion</a:t>
            </a:r>
            <a:endParaRPr lang="en-US" sz="1300" dirty="0"/>
          </a:p>
        </p:txBody>
      </p:sp>
      <p:sp>
        <p:nvSpPr>
          <p:cNvPr id="33" name="Text 31"/>
          <p:cNvSpPr txBox="1"/>
          <p:nvPr/>
        </p:nvSpPr>
        <p:spPr>
          <a:xfrm>
            <a:off x="566928" y="4389120"/>
            <a:ext cx="2468880" cy="749808"/>
          </a:xfrm>
          <a:prstGeom prst="rect">
            <a:avLst/>
          </a:prstGeom>
          <a:noFill/>
          <a:ln/>
        </p:spPr>
        <p:txBody>
          <a:bodyPr wrap="square" lIns="0" tIns="0" rIns="0" bIns="0" rtlCol="0" anchor="t"/>
          <a:lstStyle/>
          <a:p>
            <a:pPr indent="0" marL="0">
              <a:buNone/>
            </a:pPr>
            <a:r>
              <a:rPr lang="en-US" sz="1150" dirty="0">
                <a:solidFill>
                  <a:schemeClr val="tx1"/>
                </a:solidFill>
              </a:rPr>
              <a:t>Feature-level ML (Phase 3), decision-level, DL</a:t>
            </a:r>
            <a:endParaRPr lang="en-US" sz="1150" dirty="0"/>
          </a:p>
        </p:txBody>
      </p:sp>
      <p:sp>
        <p:nvSpPr>
          <p:cNvPr id="34" name="Shape 32"/>
          <p:cNvSpPr/>
          <p:nvPr/>
        </p:nvSpPr>
        <p:spPr>
          <a:xfrm>
            <a:off x="3291840" y="3931920"/>
            <a:ext cx="2697480" cy="1261872"/>
          </a:xfrm>
          <a:prstGeom prst="roundRect">
            <a:avLst>
              <a:gd name="adj" fmla="val 5797"/>
            </a:avLst>
          </a:prstGeom>
          <a:solidFill>
            <a:srgbClr val="FBF1DC"/>
          </a:solidFill>
          <a:ln/>
        </p:spPr>
      </p:sp>
      <p:sp>
        <p:nvSpPr>
          <p:cNvPr id="35" name="Text 33"/>
          <p:cNvSpPr txBox="1"/>
          <p:nvPr/>
        </p:nvSpPr>
        <p:spPr>
          <a:xfrm>
            <a:off x="3401568" y="4005072"/>
            <a:ext cx="2468880" cy="365760"/>
          </a:xfrm>
          <a:prstGeom prst="rect">
            <a:avLst/>
          </a:prstGeom>
          <a:noFill/>
          <a:ln/>
        </p:spPr>
        <p:txBody>
          <a:bodyPr wrap="square" lIns="0" tIns="0" rIns="0" bIns="0" rtlCol="0" anchor="t"/>
          <a:lstStyle/>
          <a:p>
            <a:pPr indent="0" marL="0">
              <a:buNone/>
            </a:pPr>
            <a:r>
              <a:rPr lang="en-US" sz="1300" b="1" dirty="0">
                <a:solidFill>
                  <a:schemeClr val="tx1"/>
                </a:solidFill>
              </a:rPr>
              <a:t>10 Validate</a:t>
            </a:r>
            <a:endParaRPr lang="en-US" sz="1300" dirty="0"/>
          </a:p>
        </p:txBody>
      </p:sp>
      <p:sp>
        <p:nvSpPr>
          <p:cNvPr id="36" name="Text 34"/>
          <p:cNvSpPr txBox="1"/>
          <p:nvPr/>
        </p:nvSpPr>
        <p:spPr>
          <a:xfrm>
            <a:off x="3401568" y="4389120"/>
            <a:ext cx="2468880" cy="749808"/>
          </a:xfrm>
          <a:prstGeom prst="rect">
            <a:avLst/>
          </a:prstGeom>
          <a:noFill/>
          <a:ln/>
        </p:spPr>
        <p:txBody>
          <a:bodyPr wrap="square" lIns="0" tIns="0" rIns="0" bIns="0" rtlCol="0" anchor="t"/>
          <a:lstStyle/>
          <a:p>
            <a:pPr indent="0" marL="0">
              <a:buNone/>
            </a:pPr>
            <a:r>
              <a:rPr lang="en-US" sz="1150" dirty="0">
                <a:solidFill>
                  <a:schemeClr val="tx1"/>
                </a:solidFill>
              </a:rPr>
              <a:t>Nested plot-grouped CV, McNemar, ablation</a:t>
            </a:r>
            <a:endParaRPr lang="en-US" sz="1150" dirty="0"/>
          </a:p>
        </p:txBody>
      </p:sp>
      <p:sp>
        <p:nvSpPr>
          <p:cNvPr id="37" name="Shape 35"/>
          <p:cNvSpPr/>
          <p:nvPr/>
        </p:nvSpPr>
        <p:spPr>
          <a:xfrm>
            <a:off x="6126480" y="3931920"/>
            <a:ext cx="2697480" cy="1261872"/>
          </a:xfrm>
          <a:prstGeom prst="roundRect">
            <a:avLst>
              <a:gd name="adj" fmla="val 5797"/>
            </a:avLst>
          </a:prstGeom>
          <a:solidFill>
            <a:srgbClr val="FBF1DC"/>
          </a:solidFill>
          <a:ln/>
        </p:spPr>
      </p:sp>
      <p:sp>
        <p:nvSpPr>
          <p:cNvPr id="38" name="Text 36"/>
          <p:cNvSpPr txBox="1"/>
          <p:nvPr/>
        </p:nvSpPr>
        <p:spPr>
          <a:xfrm>
            <a:off x="6236208" y="4005072"/>
            <a:ext cx="2468880" cy="365760"/>
          </a:xfrm>
          <a:prstGeom prst="rect">
            <a:avLst/>
          </a:prstGeom>
          <a:noFill/>
          <a:ln/>
        </p:spPr>
        <p:txBody>
          <a:bodyPr wrap="square" lIns="0" tIns="0" rIns="0" bIns="0" rtlCol="0" anchor="t"/>
          <a:lstStyle/>
          <a:p>
            <a:pPr indent="0" marL="0">
              <a:buNone/>
            </a:pPr>
            <a:r>
              <a:rPr lang="en-US" sz="1300" b="1" dirty="0">
                <a:solidFill>
                  <a:schemeClr val="tx1"/>
                </a:solidFill>
              </a:rPr>
              <a:t>11 External</a:t>
            </a:r>
            <a:endParaRPr lang="en-US" sz="1300" dirty="0"/>
          </a:p>
        </p:txBody>
      </p:sp>
      <p:sp>
        <p:nvSpPr>
          <p:cNvPr id="39" name="Text 37"/>
          <p:cNvSpPr txBox="1"/>
          <p:nvPr/>
        </p:nvSpPr>
        <p:spPr>
          <a:xfrm>
            <a:off x="6236208" y="4389120"/>
            <a:ext cx="2468880" cy="749808"/>
          </a:xfrm>
          <a:prstGeom prst="rect">
            <a:avLst/>
          </a:prstGeom>
          <a:noFill/>
          <a:ln/>
        </p:spPr>
        <p:txBody>
          <a:bodyPr wrap="square" lIns="0" tIns="0" rIns="0" bIns="0" rtlCol="0" anchor="t"/>
          <a:lstStyle/>
          <a:p>
            <a:pPr indent="0" marL="0">
              <a:buNone/>
            </a:pPr>
            <a:r>
              <a:rPr lang="en-US" sz="1150" dirty="0">
                <a:solidFill>
                  <a:schemeClr val="tx1"/>
                </a:solidFill>
              </a:rPr>
              <a:t>Frozen model at Bharatpur; farmer fields</a:t>
            </a:r>
            <a:endParaRPr lang="en-US" sz="1150" dirty="0"/>
          </a:p>
        </p:txBody>
      </p:sp>
      <p:sp>
        <p:nvSpPr>
          <p:cNvPr id="40" name="Shape 38"/>
          <p:cNvSpPr/>
          <p:nvPr/>
        </p:nvSpPr>
        <p:spPr>
          <a:xfrm>
            <a:off x="8961120" y="3931920"/>
            <a:ext cx="2697480" cy="1261872"/>
          </a:xfrm>
          <a:prstGeom prst="roundRect">
            <a:avLst>
              <a:gd name="adj" fmla="val 5797"/>
            </a:avLst>
          </a:prstGeom>
          <a:solidFill>
            <a:srgbClr val="FBF1DC"/>
          </a:solidFill>
          <a:ln/>
        </p:spPr>
      </p:sp>
      <p:sp>
        <p:nvSpPr>
          <p:cNvPr id="41" name="Text 39"/>
          <p:cNvSpPr txBox="1"/>
          <p:nvPr/>
        </p:nvSpPr>
        <p:spPr>
          <a:xfrm>
            <a:off x="9070848" y="4005072"/>
            <a:ext cx="2468880" cy="365760"/>
          </a:xfrm>
          <a:prstGeom prst="rect">
            <a:avLst/>
          </a:prstGeom>
          <a:noFill/>
          <a:ln/>
        </p:spPr>
        <p:txBody>
          <a:bodyPr wrap="square" lIns="0" tIns="0" rIns="0" bIns="0" rtlCol="0" anchor="t"/>
          <a:lstStyle/>
          <a:p>
            <a:pPr indent="0" marL="0">
              <a:buNone/>
            </a:pPr>
            <a:r>
              <a:rPr lang="en-US" sz="1300" b="1" dirty="0">
                <a:solidFill>
                  <a:schemeClr val="tx1"/>
                </a:solidFill>
              </a:rPr>
              <a:t>12 Map</a:t>
            </a:r>
            <a:endParaRPr lang="en-US" sz="1300" dirty="0"/>
          </a:p>
        </p:txBody>
      </p:sp>
      <p:sp>
        <p:nvSpPr>
          <p:cNvPr id="42" name="Text 40"/>
          <p:cNvSpPr txBox="1"/>
          <p:nvPr/>
        </p:nvSpPr>
        <p:spPr>
          <a:xfrm>
            <a:off x="9070848" y="4389120"/>
            <a:ext cx="2468880" cy="749808"/>
          </a:xfrm>
          <a:prstGeom prst="rect">
            <a:avLst/>
          </a:prstGeom>
          <a:noFill/>
          <a:ln/>
        </p:spPr>
        <p:txBody>
          <a:bodyPr wrap="square" lIns="0" tIns="0" rIns="0" bIns="0" rtlCol="0" anchor="t"/>
          <a:lstStyle/>
          <a:p>
            <a:pPr indent="0" marL="0">
              <a:buNone/>
            </a:pPr>
            <a:r>
              <a:rPr lang="en-US" sz="1150" dirty="0">
                <a:solidFill>
                  <a:schemeClr val="tx1"/>
                </a:solidFill>
              </a:rPr>
              <a:t>Severity map → spray zones; uncertainty</a:t>
            </a:r>
            <a:endParaRPr lang="en-US" sz="115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Easy-to-perform recipe: feature-level fusion in Python</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PRACTICAL FLOW · CODE LOGIC</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this recipe is what run_nested() in s07_models.py implements; run it once per sensor combination and fusion level.</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scikit-learn Pipeline, GroupKFold / StratifiedGroupKFold; mlxtend SequentialFeatureSelector (floating=True); Pudil et al. (1994).</a:t>
            </a:r>
            <a:endParaRPr lang="en-US" sz="1000" dirty="0"/>
          </a:p>
        </p:txBody>
      </p:sp>
      <p:sp>
        <p:nvSpPr>
          <p:cNvPr id="7" name="Text 5"/>
          <p:cNvSpPr txBox="1"/>
          <p:nvPr/>
        </p:nvSpPr>
        <p:spPr>
          <a:xfrm>
            <a:off x="457200" y="1188720"/>
            <a:ext cx="11274552" cy="4069080"/>
          </a:xfrm>
          <a:prstGeom prst="rect">
            <a:avLst/>
          </a:prstGeom>
          <a:noFill/>
          <a:ln/>
        </p:spPr>
        <p:txBody>
          <a:bodyPr wrap="square" lIns="0" tIns="0" rIns="0" bIns="0" rtlCol="0" anchor="t"/>
          <a:lstStyle/>
          <a:p>
            <a:pPr indent="0" marL="0">
              <a:buNone/>
            </a:pPr>
            <a:r>
              <a:rPr lang="en-US" sz="1500" dirty="0">
                <a:solidFill>
                  <a:schemeClr val="tx1"/>
                </a:solidFill>
                <a:latin typeface="Consolas" pitchFamily="34" charset="0"/>
                <a:ea typeface="Consolas" pitchFamily="34" charset="-122"/>
                <a:cs typeface="Consolas" pitchFamily="34" charset="-120"/>
              </a:rPr>
              <a:t>for each outer fold (StratifiedGroupKFold, groups = plot_id):</a:t>
            </a:r>
            <a:endParaRPr lang="en-US" sz="1500" dirty="0"/>
          </a:p>
          <a:p>
            <a:pPr indent="0" marL="0">
              <a:buNone/>
            </a:pPr>
            <a:r>
              <a:rPr lang="en-US" sz="1500" dirty="0">
                <a:solidFill>
                  <a:schemeClr val="tx1"/>
                </a:solidFill>
                <a:latin typeface="Consolas" pitchFamily="34" charset="0"/>
                <a:ea typeface="Consolas" pitchFamily="34" charset="-122"/>
                <a:cs typeface="Consolas" pitchFamily="34" charset="-120"/>
              </a:rPr>
              <a:t>    train, test = split(table)                       # all dates of a plot together</a:t>
            </a:r>
            <a:endParaRPr lang="en-US" sz="1500" dirty="0"/>
          </a:p>
          <a:p>
            <a:pPr indent="0" marL="0">
              <a:buNone/>
            </a:pPr>
            <a:r>
              <a:rPr lang="en-US" sz="1500" dirty="0">
                <a:solidFill>
                  <a:schemeClr val="tx1"/>
                </a:solidFill>
                <a:latin typeface="Consolas" pitchFamily="34" charset="0"/>
                <a:ea typeface="Consolas" pitchFamily="34" charset="-122"/>
                <a:cs typeface="Consolas" pitchFamily="34" charset="-120"/>
              </a:rPr>
              <a:t>    for each sensor s:  dsf[s] = phase1(train[s])    # KW+FDR, JM, ReliefF, Boruta</a:t>
            </a:r>
            <a:endParaRPr lang="en-US" sz="1500" dirty="0"/>
          </a:p>
          <a:p>
            <a:pPr indent="0" marL="0">
              <a:buNone/>
            </a:pPr>
            <a:r>
              <a:rPr lang="en-US" sz="1500" dirty="0">
                <a:solidFill>
                  <a:schemeClr val="tx1"/>
                </a:solidFill>
                <a:latin typeface="Consolas" pitchFamily="34" charset="0"/>
                <a:ea typeface="Consolas" pitchFamily="34" charset="-122"/>
                <a:cs typeface="Consolas" pitchFamily="34" charset="-120"/>
              </a:rPr>
              <a:t>    X = concat(train[dsf[s]] for s in combination)   # feature-level fusion</a:t>
            </a:r>
            <a:endParaRPr lang="en-US" sz="1500" dirty="0"/>
          </a:p>
          <a:p>
            <a:pPr indent="0" marL="0">
              <a:buNone/>
            </a:pPr>
            <a:r>
              <a:rPr lang="en-US" sz="1500" dirty="0">
                <a:solidFill>
                  <a:schemeClr val="tx1"/>
                </a:solidFill>
                <a:latin typeface="Consolas" pitchFamily="34" charset="0"/>
                <a:ea typeface="Consolas" pitchFamily="34" charset="-122"/>
                <a:cs typeface="Consolas" pitchFamily="34" charset="-120"/>
              </a:rPr>
              <a:t>    X = vif_filter(X)                                 # remove redundancy</a:t>
            </a:r>
            <a:endParaRPr lang="en-US" sz="1500" dirty="0"/>
          </a:p>
          <a:p>
            <a:pPr indent="0" marL="0">
              <a:buNone/>
            </a:pPr>
            <a:r>
              <a:rPr lang="en-US" sz="1500" dirty="0">
                <a:solidFill>
                  <a:schemeClr val="tx1"/>
                </a:solidFill>
                <a:latin typeface="Consolas" pitchFamily="34" charset="0"/>
                <a:ea typeface="Consolas" pitchFamily="34" charset="-122"/>
                <a:cs typeface="Consolas" pitchFamily="34" charset="-120"/>
              </a:rPr>
              <a:t>    pipe = Pipeline([impute, StandardScaler(), clf]) # scaler fitted on training only</a:t>
            </a:r>
            <a:endParaRPr lang="en-US" sz="1500" dirty="0"/>
          </a:p>
          <a:p>
            <a:pPr indent="0" marL="0">
              <a:buNone/>
            </a:pPr>
            <a:r>
              <a:rPr lang="en-US" sz="1500" dirty="0">
                <a:solidFill>
                  <a:schemeClr val="tx1"/>
                </a:solidFill>
                <a:latin typeface="Consolas" pitchFamily="34" charset="0"/>
                <a:ea typeface="Consolas" pitchFamily="34" charset="-122"/>
                <a:cs typeface="Consolas" pitchFamily="34" charset="-120"/>
              </a:rPr>
              <a:t>    ofc = SFFS(pipe, X, y, cv=GroupKFold(inner))     # optimal feature combination</a:t>
            </a:r>
            <a:endParaRPr lang="en-US" sz="1500" dirty="0"/>
          </a:p>
          <a:p>
            <a:pPr indent="0" marL="0">
              <a:buNone/>
            </a:pPr>
            <a:r>
              <a:rPr lang="en-US" sz="1500" dirty="0">
                <a:solidFill>
                  <a:schemeClr val="tx1"/>
                </a:solidFill>
                <a:latin typeface="Consolas" pitchFamily="34" charset="0"/>
                <a:ea typeface="Consolas" pitchFamily="34" charset="-122"/>
                <a:cs typeface="Consolas" pitchFamily="34" charset="-120"/>
              </a:rPr>
              <a:t>    model = GridSearchCV(pipe, grid, cv=inner).fit(X[ofc], y)</a:t>
            </a:r>
            <a:endParaRPr lang="en-US" sz="1500" dirty="0"/>
          </a:p>
          <a:p>
            <a:pPr indent="0" marL="0">
              <a:buNone/>
            </a:pPr>
            <a:r>
              <a:rPr lang="en-US" sz="1500" dirty="0">
                <a:solidFill>
                  <a:schemeClr val="tx1"/>
                </a:solidFill>
                <a:latin typeface="Consolas" pitchFamily="34" charset="0"/>
                <a:ea typeface="Consolas" pitchFamily="34" charset="-122"/>
                <a:cs typeface="Consolas" pitchFamily="34" charset="-120"/>
              </a:rPr>
              <a:t>    predictions[test] = model.predict(test[ofc])     # test plots used once</a:t>
            </a:r>
            <a:endParaRPr lang="en-US" sz="1500" dirty="0"/>
          </a:p>
          <a:p>
            <a:pPr indent="0" marL="0">
              <a:buNone/>
            </a:pPr>
            <a:r>
              <a:rPr lang="en-US" sz="1500" dirty="0">
                <a:solidFill>
                  <a:schemeClr val="tx1"/>
                </a:solidFill>
                <a:latin typeface="Consolas" pitchFamily="34" charset="0"/>
                <a:ea typeface="Consolas" pitchFamily="34" charset="-122"/>
                <a:cs typeface="Consolas" pitchFamily="34" charset="-120"/>
              </a:rPr>
              <a:t>report macro-F1, kappa, confusion matrix; McNemar vs single-sensor models</a:t>
            </a:r>
            <a:endParaRPr lang="en-US" sz="15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Recommended experiment plan for the thesis</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PRACTICAL FLOW · EXPERIMENTS</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Experiments E1–E4 are essential; E5–E8 strengthen the thesis if time and data allow.</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Design follows Hong et al. (2021) fusion comparison and Maimaitijiang et al. (2020) ML vs DL comparison, with nested plot-grouped validation (Varma &amp; Simon, 2006).</a:t>
            </a:r>
            <a:endParaRPr lang="en-US" sz="10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731520"/>
                <a:gridCol w="4572000"/>
                <a:gridCol w="3291840"/>
                <a:gridCol w="2679192"/>
              </a:tblGrid>
              <a:tr h="0">
                <a:tc>
                  <a:txBody>
                    <a:bodyPr/>
                    <a:lstStyle/>
                    <a:p>
                      <a:pPr indent="0" marL="0">
                        <a:buNone/>
                      </a:pPr>
                      <a:r>
                        <a:rPr lang="en-US" sz="1300" b="1" dirty="0">
                          <a:solidFill>
                            <a:schemeClr val="bg1"/>
                          </a:solidFill>
                        </a:rPr>
                        <a:t>Exp.</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Fusion level / method</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Models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Objective</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r>
              <a:tr h="0">
                <a:tc>
                  <a:txBody>
                    <a:bodyPr/>
                    <a:lstStyle/>
                    <a:p>
                      <a:pPr indent="0" marL="0">
                        <a:buNone/>
                      </a:pPr>
                      <a:r>
                        <a:rPr lang="en-US" sz="1300" dirty="0">
                          <a:solidFill>
                            <a:schemeClr val="tx1"/>
                          </a:solidFill>
                        </a:rPr>
                        <a:t>E1</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Single sensor (no fusion), features + Phase 1–2</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RF, SVM, KNN</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O1, O2 baselines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300" dirty="0">
                          <a:solidFill>
                            <a:schemeClr val="tx1"/>
                          </a:solidFill>
                        </a:rPr>
                        <a:t>E2</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Feature-level ML fusion (Phase 3), 15 combinations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RF, SVM, KNN + LASSO/PLS-DA baselines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O3, O4</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300" dirty="0">
                          <a:solidFill>
                            <a:schemeClr val="tx1"/>
                          </a:solidFill>
                        </a:rPr>
                        <a:t>E3</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Decision-level fusion of E1 models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Weighted mean, stacking</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O3 robustness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300" dirty="0">
                          <a:solidFill>
                            <a:schemeClr val="tx1"/>
                          </a:solidFill>
                        </a:rPr>
                        <a:t>E4</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Validation: leave-one-date-out + Bharatpur external</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Best of E2/E3</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Transferability</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300" dirty="0">
                          <a:solidFill>
                            <a:schemeClr val="tx1"/>
                          </a:solidFill>
                        </a:rPr>
                        <a:t>E5</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Kernel-level fusion (composite kernel / MKL)</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SVM</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Sensor weights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300" dirty="0">
                          <a:solidFill>
                            <a:schemeClr val="tx1"/>
                          </a:solidFill>
                        </a:rPr>
                        <a:t>E6</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DL single-sensor + intermediate fusion (+ attention MIL)</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Multi-branch CNN</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ML vs DL</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300" dirty="0">
                          <a:solidFill>
                            <a:schemeClr val="tx1"/>
                          </a:solidFill>
                        </a:rPr>
                        <a:t>E7</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DL early and late fusion</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Stacked CNN; averaged nets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Fusion-level comparison</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300" dirty="0">
                          <a:solidFill>
                            <a:schemeClr val="tx1"/>
                          </a:solidFill>
                        </a:rPr>
                        <a:t>E8</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Pixel-level fusion (thermal sharpening / HS–RGB) for hotspot maps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TsHARP, MRA; quality metrics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300" dirty="0">
                          <a:solidFill>
                            <a:schemeClr val="tx1"/>
                          </a:solidFill>
                        </a:rPr>
                        <a:t>Within-plot maps</a:t>
                      </a:r>
                      <a:endParaRPr lang="en-US" sz="1300" dirty="0"/>
                    </a:p>
                  </a:txBody>
                  <a:tcPr marL="76200" marR="76200" marT="50800" marB="508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Outputs to report for each experiment</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PRACTICAL FLOW · REPORTING</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these tables and figures map directly onto Results chapter sections: single-sensor, fusion comparison, interpretation, transferability, maps.</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Reporting practice: Olofsson et al. (2014); Foody (2004); Roberts et al. (2017).</a:t>
            </a:r>
            <a:endParaRPr lang="en-US" sz="1000" dirty="0"/>
          </a:p>
        </p:txBody>
      </p:sp>
      <p:sp>
        <p:nvSpPr>
          <p:cNvPr id="7" name="Shape 5"/>
          <p:cNvSpPr/>
          <p:nvPr/>
        </p:nvSpPr>
        <p:spPr>
          <a:xfrm>
            <a:off x="457200" y="1188720"/>
            <a:ext cx="3657600" cy="4069080"/>
          </a:xfrm>
          <a:prstGeom prst="roundRect">
            <a:avLst>
              <a:gd name="adj" fmla="val 2000"/>
            </a:avLst>
          </a:prstGeom>
          <a:solidFill>
            <a:schemeClr val="bg2"/>
          </a:solidFill>
          <a:ln/>
        </p:spPr>
      </p:sp>
      <p:sp>
        <p:nvSpPr>
          <p:cNvPr id="8" name="Shape 6"/>
          <p:cNvSpPr/>
          <p:nvPr/>
        </p:nvSpPr>
        <p:spPr>
          <a:xfrm>
            <a:off x="457200" y="1298448"/>
            <a:ext cx="64008" cy="347472"/>
          </a:xfrm>
          <a:prstGeom prst="rect">
            <a:avLst/>
          </a:prstGeom>
          <a:solidFill>
            <a:schemeClr val="accent1"/>
          </a:solidFill>
          <a:ln/>
        </p:spPr>
      </p:sp>
      <p:sp>
        <p:nvSpPr>
          <p:cNvPr id="9" name="Text 7"/>
          <p:cNvSpPr txBox="1"/>
          <p:nvPr/>
        </p:nvSpPr>
        <p:spPr>
          <a:xfrm>
            <a:off x="640080" y="1280160"/>
            <a:ext cx="3383280" cy="384048"/>
          </a:xfrm>
          <a:prstGeom prst="rect">
            <a:avLst/>
          </a:prstGeom>
          <a:noFill/>
          <a:ln/>
        </p:spPr>
        <p:txBody>
          <a:bodyPr wrap="square" lIns="0" tIns="0" rIns="0" bIns="0" rtlCol="0" anchor="ctr"/>
          <a:lstStyle/>
          <a:p>
            <a:pPr indent="0" marL="0">
              <a:buNone/>
            </a:pPr>
            <a:r>
              <a:rPr lang="en-US" sz="1600" b="1" dirty="0">
                <a:solidFill>
                  <a:schemeClr val="tx1"/>
                </a:solidFill>
              </a:rPr>
              <a:t>Tables</a:t>
            </a:r>
            <a:endParaRPr lang="en-US" sz="1600" dirty="0"/>
          </a:p>
        </p:txBody>
      </p:sp>
      <p:sp>
        <p:nvSpPr>
          <p:cNvPr id="10" name="Text 8"/>
          <p:cNvSpPr txBox="1"/>
          <p:nvPr/>
        </p:nvSpPr>
        <p:spPr>
          <a:xfrm>
            <a:off x="640080" y="1719072"/>
            <a:ext cx="3337560" cy="3447288"/>
          </a:xfrm>
          <a:prstGeom prst="rect">
            <a:avLst/>
          </a:prstGeom>
          <a:noFill/>
          <a:ln/>
        </p:spPr>
        <p:txBody>
          <a:bodyPr wrap="square" lIns="0" tIns="0" rIns="0" bIns="0" rtlCol="0" anchor="t"/>
          <a:lstStyle/>
          <a:p>
            <a:pPr marL="165100" indent="-165100">
              <a:spcAft>
                <a:spcPts val="600"/>
              </a:spcAft>
              <a:buSzPct val="100000"/>
              <a:buChar char="•"/>
            </a:pPr>
            <a:r>
              <a:rPr lang="en-US" sz="1450" dirty="0">
                <a:solidFill>
                  <a:schemeClr val="tx1"/>
                </a:solidFill>
              </a:rPr>
              <a:t>Feature list per sensor (Phase 1)</a:t>
            </a:r>
            <a:endParaRPr lang="en-US" sz="1400" dirty="0"/>
          </a:p>
          <a:p>
            <a:pPr marL="165100" indent="-165100">
              <a:spcAft>
                <a:spcPts val="600"/>
              </a:spcAft>
              <a:buSzPct val="100000"/>
              <a:buChar char="•"/>
            </a:pPr>
            <a:r>
              <a:rPr lang="en-US" sz="1450" dirty="0">
                <a:solidFill>
                  <a:schemeClr val="tx1"/>
                </a:solidFill>
              </a:rPr>
              <a:t>Single-sensor results (E1)</a:t>
            </a:r>
            <a:endParaRPr lang="en-US" sz="1400" dirty="0"/>
          </a:p>
          <a:p>
            <a:pPr marL="165100" indent="-165100">
              <a:spcAft>
                <a:spcPts val="600"/>
              </a:spcAft>
              <a:buSzPct val="100000"/>
              <a:buChar char="•"/>
            </a:pPr>
            <a:r>
              <a:rPr lang="en-US" sz="1450" dirty="0">
                <a:solidFill>
                  <a:schemeClr val="tx1"/>
                </a:solidFill>
              </a:rPr>
              <a:t>15-combination fusion table (E2/E3)</a:t>
            </a:r>
            <a:endParaRPr lang="en-US" sz="1400" dirty="0"/>
          </a:p>
          <a:p>
            <a:pPr marL="165100" indent="-165100">
              <a:spcAft>
                <a:spcPts val="600"/>
              </a:spcAft>
              <a:buSzPct val="100000"/>
              <a:buChar char="•"/>
            </a:pPr>
            <a:r>
              <a:rPr lang="en-US" sz="1450" dirty="0">
                <a:solidFill>
                  <a:schemeClr val="tx1"/>
                </a:solidFill>
              </a:rPr>
              <a:t>Fusion-level comparison with McNemar</a:t>
            </a:r>
            <a:endParaRPr lang="en-US" sz="1400" dirty="0"/>
          </a:p>
          <a:p>
            <a:pPr marL="165100" indent="-165100">
              <a:spcAft>
                <a:spcPts val="600"/>
              </a:spcAft>
              <a:buSzPct val="100000"/>
              <a:buChar char="•"/>
            </a:pPr>
            <a:r>
              <a:rPr lang="en-US" sz="1450" dirty="0">
                <a:solidFill>
                  <a:schemeClr val="tx1"/>
                </a:solidFill>
              </a:rPr>
              <a:t>External test (Bharatpur)</a:t>
            </a:r>
            <a:endParaRPr lang="en-US" sz="1400" dirty="0"/>
          </a:p>
        </p:txBody>
      </p:sp>
      <p:sp>
        <p:nvSpPr>
          <p:cNvPr id="11" name="Shape 9"/>
          <p:cNvSpPr/>
          <p:nvPr/>
        </p:nvSpPr>
        <p:spPr>
          <a:xfrm>
            <a:off x="4270248" y="1188720"/>
            <a:ext cx="3657600" cy="4069080"/>
          </a:xfrm>
          <a:prstGeom prst="roundRect">
            <a:avLst>
              <a:gd name="adj" fmla="val 2000"/>
            </a:avLst>
          </a:prstGeom>
          <a:solidFill>
            <a:schemeClr val="bg2"/>
          </a:solidFill>
          <a:ln/>
        </p:spPr>
      </p:sp>
      <p:sp>
        <p:nvSpPr>
          <p:cNvPr id="12" name="Shape 10"/>
          <p:cNvSpPr/>
          <p:nvPr/>
        </p:nvSpPr>
        <p:spPr>
          <a:xfrm>
            <a:off x="4270248" y="1298448"/>
            <a:ext cx="64008" cy="347472"/>
          </a:xfrm>
          <a:prstGeom prst="rect">
            <a:avLst/>
          </a:prstGeom>
          <a:solidFill>
            <a:schemeClr val="accent2"/>
          </a:solidFill>
          <a:ln/>
        </p:spPr>
      </p:sp>
      <p:sp>
        <p:nvSpPr>
          <p:cNvPr id="13" name="Text 11"/>
          <p:cNvSpPr txBox="1"/>
          <p:nvPr/>
        </p:nvSpPr>
        <p:spPr>
          <a:xfrm>
            <a:off x="4453128" y="1280160"/>
            <a:ext cx="3383280" cy="384048"/>
          </a:xfrm>
          <a:prstGeom prst="rect">
            <a:avLst/>
          </a:prstGeom>
          <a:noFill/>
          <a:ln/>
        </p:spPr>
        <p:txBody>
          <a:bodyPr wrap="square" lIns="0" tIns="0" rIns="0" bIns="0" rtlCol="0" anchor="ctr"/>
          <a:lstStyle/>
          <a:p>
            <a:pPr indent="0" marL="0">
              <a:buNone/>
            </a:pPr>
            <a:r>
              <a:rPr lang="en-US" sz="1600" b="1" dirty="0">
                <a:solidFill>
                  <a:schemeClr val="tx1"/>
                </a:solidFill>
              </a:rPr>
              <a:t>Figures</a:t>
            </a:r>
            <a:endParaRPr lang="en-US" sz="1600" dirty="0"/>
          </a:p>
        </p:txBody>
      </p:sp>
      <p:sp>
        <p:nvSpPr>
          <p:cNvPr id="14" name="Text 12"/>
          <p:cNvSpPr txBox="1"/>
          <p:nvPr/>
        </p:nvSpPr>
        <p:spPr>
          <a:xfrm>
            <a:off x="4453128" y="1719072"/>
            <a:ext cx="3337560" cy="3447288"/>
          </a:xfrm>
          <a:prstGeom prst="rect">
            <a:avLst/>
          </a:prstGeom>
          <a:noFill/>
          <a:ln/>
        </p:spPr>
        <p:txBody>
          <a:bodyPr wrap="square" lIns="0" tIns="0" rIns="0" bIns="0" rtlCol="0" anchor="t"/>
          <a:lstStyle/>
          <a:p>
            <a:pPr marL="165100" indent="-165100">
              <a:spcAft>
                <a:spcPts val="600"/>
              </a:spcAft>
              <a:buSzPct val="100000"/>
              <a:buChar char="•"/>
            </a:pPr>
            <a:r>
              <a:rPr lang="en-US" sz="1450" dirty="0">
                <a:solidFill>
                  <a:schemeClr val="tx1"/>
                </a:solidFill>
              </a:rPr>
              <a:t>Workflow diagram</a:t>
            </a:r>
            <a:endParaRPr lang="en-US" sz="1400" dirty="0"/>
          </a:p>
          <a:p>
            <a:pPr marL="165100" indent="-165100">
              <a:spcAft>
                <a:spcPts val="600"/>
              </a:spcAft>
              <a:buSzPct val="100000"/>
              <a:buChar char="•"/>
            </a:pPr>
            <a:r>
              <a:rPr lang="en-US" sz="1450" dirty="0">
                <a:solidFill>
                  <a:schemeClr val="tx1"/>
                </a:solidFill>
              </a:rPr>
              <a:t>Confusion matrices (best single vs best fused)</a:t>
            </a:r>
            <a:endParaRPr lang="en-US" sz="1400" dirty="0"/>
          </a:p>
          <a:p>
            <a:pPr marL="165100" indent="-165100">
              <a:spcAft>
                <a:spcPts val="600"/>
              </a:spcAft>
              <a:buSzPct val="100000"/>
              <a:buChar char="•"/>
            </a:pPr>
            <a:r>
              <a:rPr lang="en-US" sz="1450" dirty="0">
                <a:solidFill>
                  <a:schemeClr val="tx1"/>
                </a:solidFill>
              </a:rPr>
              <a:t>Accuracy vs number of sensors / cost</a:t>
            </a:r>
            <a:endParaRPr lang="en-US" sz="1400" dirty="0"/>
          </a:p>
          <a:p>
            <a:pPr marL="165100" indent="-165100">
              <a:spcAft>
                <a:spcPts val="600"/>
              </a:spcAft>
              <a:buSzPct val="100000"/>
              <a:buChar char="•"/>
            </a:pPr>
            <a:r>
              <a:rPr lang="en-US" sz="1450" dirty="0">
                <a:solidFill>
                  <a:schemeClr val="tx1"/>
                </a:solidFill>
              </a:rPr>
              <a:t>Permutation importance; gating weights</a:t>
            </a:r>
            <a:endParaRPr lang="en-US" sz="1400" dirty="0"/>
          </a:p>
          <a:p>
            <a:pPr marL="165100" indent="-165100">
              <a:spcAft>
                <a:spcPts val="600"/>
              </a:spcAft>
              <a:buSzPct val="100000"/>
              <a:buChar char="•"/>
            </a:pPr>
            <a:r>
              <a:rPr lang="en-US" sz="1450" dirty="0">
                <a:solidFill>
                  <a:schemeClr val="tx1"/>
                </a:solidFill>
              </a:rPr>
              <a:t>Severity maps per date</a:t>
            </a:r>
            <a:endParaRPr lang="en-US" sz="1400" dirty="0"/>
          </a:p>
        </p:txBody>
      </p:sp>
      <p:sp>
        <p:nvSpPr>
          <p:cNvPr id="15" name="Shape 13"/>
          <p:cNvSpPr/>
          <p:nvPr/>
        </p:nvSpPr>
        <p:spPr>
          <a:xfrm>
            <a:off x="8074152" y="1188720"/>
            <a:ext cx="3657600" cy="4069080"/>
          </a:xfrm>
          <a:prstGeom prst="roundRect">
            <a:avLst>
              <a:gd name="adj" fmla="val 2000"/>
            </a:avLst>
          </a:prstGeom>
          <a:solidFill>
            <a:schemeClr val="bg2"/>
          </a:solidFill>
          <a:ln/>
        </p:spPr>
      </p:sp>
      <p:sp>
        <p:nvSpPr>
          <p:cNvPr id="16" name="Shape 14"/>
          <p:cNvSpPr/>
          <p:nvPr/>
        </p:nvSpPr>
        <p:spPr>
          <a:xfrm>
            <a:off x="8074152" y="1298448"/>
            <a:ext cx="64008" cy="347472"/>
          </a:xfrm>
          <a:prstGeom prst="rect">
            <a:avLst/>
          </a:prstGeom>
          <a:solidFill>
            <a:schemeClr val="accent3"/>
          </a:solidFill>
          <a:ln/>
        </p:spPr>
      </p:sp>
      <p:sp>
        <p:nvSpPr>
          <p:cNvPr id="17" name="Text 15"/>
          <p:cNvSpPr txBox="1"/>
          <p:nvPr/>
        </p:nvSpPr>
        <p:spPr>
          <a:xfrm>
            <a:off x="8257032" y="1280160"/>
            <a:ext cx="3383280" cy="384048"/>
          </a:xfrm>
          <a:prstGeom prst="rect">
            <a:avLst/>
          </a:prstGeom>
          <a:noFill/>
          <a:ln/>
        </p:spPr>
        <p:txBody>
          <a:bodyPr wrap="square" lIns="0" tIns="0" rIns="0" bIns="0" rtlCol="0" anchor="ctr"/>
          <a:lstStyle/>
          <a:p>
            <a:pPr indent="0" marL="0">
              <a:buNone/>
            </a:pPr>
            <a:r>
              <a:rPr lang="en-US" sz="1600" b="1" dirty="0">
                <a:solidFill>
                  <a:schemeClr val="tx1"/>
                </a:solidFill>
              </a:rPr>
              <a:t>Quality statements</a:t>
            </a:r>
            <a:endParaRPr lang="en-US" sz="1600" dirty="0"/>
          </a:p>
        </p:txBody>
      </p:sp>
      <p:sp>
        <p:nvSpPr>
          <p:cNvPr id="18" name="Text 16"/>
          <p:cNvSpPr txBox="1"/>
          <p:nvPr/>
        </p:nvSpPr>
        <p:spPr>
          <a:xfrm>
            <a:off x="8257032" y="1719072"/>
            <a:ext cx="3337560" cy="3447288"/>
          </a:xfrm>
          <a:prstGeom prst="rect">
            <a:avLst/>
          </a:prstGeom>
          <a:noFill/>
          <a:ln/>
        </p:spPr>
        <p:txBody>
          <a:bodyPr wrap="square" lIns="0" tIns="0" rIns="0" bIns="0" rtlCol="0" anchor="t"/>
          <a:lstStyle/>
          <a:p>
            <a:pPr marL="165100" indent="-165100">
              <a:spcAft>
                <a:spcPts val="600"/>
              </a:spcAft>
              <a:buSzPct val="100000"/>
              <a:buChar char="•"/>
            </a:pPr>
            <a:r>
              <a:rPr lang="en-US" sz="1450" dirty="0">
                <a:solidFill>
                  <a:schemeClr val="tx1"/>
                </a:solidFill>
              </a:rPr>
              <a:t>Co-registration RMSE per sensor/date</a:t>
            </a:r>
            <a:endParaRPr lang="en-US" sz="1400" dirty="0"/>
          </a:p>
          <a:p>
            <a:pPr marL="165100" indent="-165100">
              <a:spcAft>
                <a:spcPts val="600"/>
              </a:spcAft>
              <a:buSzPct val="100000"/>
              <a:buChar char="•"/>
            </a:pPr>
            <a:r>
              <a:rPr lang="en-US" sz="1450" dirty="0">
                <a:solidFill>
                  <a:schemeClr val="tx1"/>
                </a:solidFill>
              </a:rPr>
              <a:t>Calibration checks</a:t>
            </a:r>
            <a:endParaRPr lang="en-US" sz="1400" dirty="0"/>
          </a:p>
          <a:p>
            <a:pPr marL="165100" indent="-165100">
              <a:spcAft>
                <a:spcPts val="600"/>
              </a:spcAft>
              <a:buSzPct val="100000"/>
              <a:buChar char="•"/>
            </a:pPr>
            <a:r>
              <a:rPr lang="en-US" sz="1450" dirty="0">
                <a:solidFill>
                  <a:schemeClr val="tx1"/>
                </a:solidFill>
              </a:rPr>
              <a:t>Class distribution per date</a:t>
            </a:r>
            <a:endParaRPr lang="en-US" sz="1400" dirty="0"/>
          </a:p>
          <a:p>
            <a:pPr marL="165100" indent="-165100">
              <a:spcAft>
                <a:spcPts val="600"/>
              </a:spcAft>
              <a:buSzPct val="100000"/>
              <a:buChar char="•"/>
            </a:pPr>
            <a:r>
              <a:rPr lang="en-US" sz="1450" dirty="0">
                <a:solidFill>
                  <a:schemeClr val="tx1"/>
                </a:solidFill>
              </a:rPr>
              <a:t>Limitations: plot-level labels, one season, leaf-underside symptoms</a:t>
            </a:r>
            <a:endParaRPr lang="en-US" sz="14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Checklist: common mistakes in multimodal fusion studies</a:t>
            </a:r>
            <a:endParaRPr lang="en-US" sz="2500" dirty="0"/>
          </a:p>
        </p:txBody>
      </p:sp>
      <p:sp>
        <p:nvSpPr>
          <p:cNvPr id="3" name="Text 1"/>
          <p:cNvSpPr txBox="1"/>
          <p:nvPr/>
        </p:nvSpPr>
        <p:spPr>
          <a:xfrm>
            <a:off x="457200" y="155448"/>
            <a:ext cx="91440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PRACTICAL FLOW · CHECKLIST</a:t>
            </a:r>
            <a:endParaRPr lang="en-US" sz="1100" dirty="0"/>
          </a:p>
        </p:txBody>
      </p:sp>
      <p:sp>
        <p:nvSpPr>
          <p:cNvPr id="4" name="Shape 2"/>
          <p:cNvSpPr/>
          <p:nvPr/>
        </p:nvSpPr>
        <p:spPr>
          <a:xfrm>
            <a:off x="457200" y="5413248"/>
            <a:ext cx="11274552" cy="566928"/>
          </a:xfrm>
          <a:prstGeom prst="roundRect">
            <a:avLst>
              <a:gd name="adj" fmla="val 12903"/>
            </a:avLst>
          </a:prstGeom>
          <a:solidFill>
            <a:srgbClr val="E8F3DD"/>
          </a:solidFill>
          <a:ln/>
        </p:spPr>
      </p:sp>
      <p:sp>
        <p:nvSpPr>
          <p:cNvPr id="5" name="Text 3"/>
          <p:cNvSpPr txBox="1"/>
          <p:nvPr/>
        </p:nvSpPr>
        <p:spPr>
          <a:xfrm>
            <a:off x="621792" y="5413248"/>
            <a:ext cx="10972800" cy="566928"/>
          </a:xfrm>
          <a:prstGeom prst="rect">
            <a:avLst/>
          </a:prstGeom>
          <a:noFill/>
          <a:ln/>
        </p:spPr>
        <p:txBody>
          <a:bodyPr wrap="square" lIns="0" tIns="0" rIns="0" bIns="0" rtlCol="0" anchor="ctr"/>
          <a:lstStyle/>
          <a:p>
            <a:pPr indent="0" marL="0">
              <a:buNone/>
            </a:pPr>
            <a:r>
              <a:rPr lang="en-US" sz="1300" b="1" dirty="0">
                <a:solidFill>
                  <a:srgbClr val="3E6E1E"/>
                </a:solidFill>
              </a:rPr>
              <a:t>In MuDAS-AI: </a:t>
            </a:r>
            <a:pPr indent="0" marL="0">
              <a:buNone/>
            </a:pPr>
            <a:r>
              <a:rPr lang="en-US" sz="1300" dirty="0">
                <a:solidFill>
                  <a:schemeClr val="tx1"/>
                </a:solidFill>
              </a:rPr>
              <a:t>go through this list before submitting a chapter or paper.</a:t>
            </a:r>
            <a:endParaRPr lang="en-US" sz="1300" dirty="0"/>
          </a:p>
        </p:txBody>
      </p:sp>
      <p:sp>
        <p:nvSpPr>
          <p:cNvPr id="6" name="Text 4"/>
          <p:cNvSpPr txBox="1"/>
          <p:nvPr/>
        </p:nvSpPr>
        <p:spPr>
          <a:xfrm>
            <a:off x="457200" y="6035040"/>
            <a:ext cx="11274552" cy="329184"/>
          </a:xfrm>
          <a:prstGeom prst="rect">
            <a:avLst/>
          </a:prstGeom>
          <a:noFill/>
          <a:ln/>
        </p:spPr>
        <p:txBody>
          <a:bodyPr wrap="square" lIns="0" tIns="0" rIns="0" bIns="0" rtlCol="0" anchor="b"/>
          <a:lstStyle/>
          <a:p>
            <a:pPr indent="0" marL="0">
              <a:buNone/>
            </a:pPr>
            <a:r>
              <a:rPr lang="en-US" sz="1000" i="1" dirty="0">
                <a:solidFill>
                  <a:schemeClr val="tx2"/>
                </a:solidFill>
              </a:rPr>
              <a:t>Su et al. (2018); Varma &amp; Simon (2006); Roberts et al. (2017); Wang, Tran &amp; Feiszli (2020); Bohnenkamp et al. (2019).</a:t>
            </a:r>
            <a:endParaRPr lang="en-US" sz="1000" dirty="0"/>
          </a:p>
        </p:txBody>
      </p:sp>
      <p:sp>
        <p:nvSpPr>
          <p:cNvPr id="7" name="Shape 5"/>
          <p:cNvSpPr/>
          <p:nvPr/>
        </p:nvSpPr>
        <p:spPr>
          <a:xfrm>
            <a:off x="457200" y="1188720"/>
            <a:ext cx="5532120" cy="713232"/>
          </a:xfrm>
          <a:prstGeom prst="roundRect">
            <a:avLst>
              <a:gd name="adj" fmla="val 10256"/>
            </a:avLst>
          </a:prstGeom>
          <a:solidFill>
            <a:srgbClr val="FBEDEA"/>
          </a:solidFill>
          <a:ln/>
        </p:spPr>
      </p:sp>
      <p:sp>
        <p:nvSpPr>
          <p:cNvPr id="8" name="Text 6"/>
          <p:cNvSpPr txBox="1"/>
          <p:nvPr/>
        </p:nvSpPr>
        <p:spPr>
          <a:xfrm>
            <a:off x="594360" y="1188720"/>
            <a:ext cx="5303520" cy="713232"/>
          </a:xfrm>
          <a:prstGeom prst="rect">
            <a:avLst/>
          </a:prstGeom>
          <a:noFill/>
          <a:ln/>
        </p:spPr>
        <p:txBody>
          <a:bodyPr wrap="square" lIns="0" tIns="0" rIns="0" bIns="0" rtlCol="0" anchor="ctr"/>
          <a:lstStyle/>
          <a:p>
            <a:pPr indent="0" marL="0">
              <a:buNone/>
            </a:pPr>
            <a:r>
              <a:rPr lang="en-US" sz="1250" b="1" dirty="0">
                <a:solidFill>
                  <a:srgbClr val="C0503A"/>
                </a:solidFill>
              </a:rPr>
              <a:t>✗  </a:t>
            </a:r>
            <a:pPr indent="0" marL="0">
              <a:buNone/>
            </a:pPr>
            <a:r>
              <a:rPr lang="en-US" sz="1250" dirty="0">
                <a:solidFill>
                  <a:schemeClr val="tx1"/>
                </a:solidFill>
              </a:rPr>
              <a:t>Sensors flown on different days or far apart in time</a:t>
            </a:r>
            <a:endParaRPr lang="en-US" sz="1250" dirty="0"/>
          </a:p>
        </p:txBody>
      </p:sp>
      <p:sp>
        <p:nvSpPr>
          <p:cNvPr id="9" name="Shape 7"/>
          <p:cNvSpPr/>
          <p:nvPr/>
        </p:nvSpPr>
        <p:spPr>
          <a:xfrm>
            <a:off x="6126480" y="1188720"/>
            <a:ext cx="5532120" cy="713232"/>
          </a:xfrm>
          <a:prstGeom prst="roundRect">
            <a:avLst>
              <a:gd name="adj" fmla="val 10256"/>
            </a:avLst>
          </a:prstGeom>
          <a:solidFill>
            <a:srgbClr val="FBEDEA"/>
          </a:solidFill>
          <a:ln/>
        </p:spPr>
      </p:sp>
      <p:sp>
        <p:nvSpPr>
          <p:cNvPr id="10" name="Text 8"/>
          <p:cNvSpPr txBox="1"/>
          <p:nvPr/>
        </p:nvSpPr>
        <p:spPr>
          <a:xfrm>
            <a:off x="6263640" y="1188720"/>
            <a:ext cx="5303520" cy="713232"/>
          </a:xfrm>
          <a:prstGeom prst="rect">
            <a:avLst/>
          </a:prstGeom>
          <a:noFill/>
          <a:ln/>
        </p:spPr>
        <p:txBody>
          <a:bodyPr wrap="square" lIns="0" tIns="0" rIns="0" bIns="0" rtlCol="0" anchor="ctr"/>
          <a:lstStyle/>
          <a:p>
            <a:pPr indent="0" marL="0">
              <a:buNone/>
            </a:pPr>
            <a:r>
              <a:rPr lang="en-US" sz="1250" b="1" dirty="0">
                <a:solidFill>
                  <a:srgbClr val="C0503A"/>
                </a:solidFill>
              </a:rPr>
              <a:t>✗  </a:t>
            </a:r>
            <a:pPr indent="0" marL="0">
              <a:buNone/>
            </a:pPr>
            <a:r>
              <a:rPr lang="en-US" sz="1250" dirty="0">
                <a:solidFill>
                  <a:schemeClr val="tx1"/>
                </a:solidFill>
              </a:rPr>
              <a:t>No co-registration check (thermal shifted by several pixels)</a:t>
            </a:r>
            <a:endParaRPr lang="en-US" sz="1250" dirty="0"/>
          </a:p>
        </p:txBody>
      </p:sp>
      <p:sp>
        <p:nvSpPr>
          <p:cNvPr id="11" name="Shape 9"/>
          <p:cNvSpPr/>
          <p:nvPr/>
        </p:nvSpPr>
        <p:spPr>
          <a:xfrm>
            <a:off x="457200" y="2011680"/>
            <a:ext cx="5532120" cy="713232"/>
          </a:xfrm>
          <a:prstGeom prst="roundRect">
            <a:avLst>
              <a:gd name="adj" fmla="val 10256"/>
            </a:avLst>
          </a:prstGeom>
          <a:solidFill>
            <a:srgbClr val="FBEDEA"/>
          </a:solidFill>
          <a:ln/>
        </p:spPr>
      </p:sp>
      <p:sp>
        <p:nvSpPr>
          <p:cNvPr id="12" name="Text 10"/>
          <p:cNvSpPr txBox="1"/>
          <p:nvPr/>
        </p:nvSpPr>
        <p:spPr>
          <a:xfrm>
            <a:off x="594360" y="2011680"/>
            <a:ext cx="5303520" cy="713232"/>
          </a:xfrm>
          <a:prstGeom prst="rect">
            <a:avLst/>
          </a:prstGeom>
          <a:noFill/>
          <a:ln/>
        </p:spPr>
        <p:txBody>
          <a:bodyPr wrap="square" lIns="0" tIns="0" rIns="0" bIns="0" rtlCol="0" anchor="ctr"/>
          <a:lstStyle/>
          <a:p>
            <a:pPr indent="0" marL="0">
              <a:buNone/>
            </a:pPr>
            <a:r>
              <a:rPr lang="en-US" sz="1250" b="1" dirty="0">
                <a:solidFill>
                  <a:srgbClr val="C0503A"/>
                </a:solidFill>
              </a:rPr>
              <a:t>✗  </a:t>
            </a:r>
            <a:pPr indent="0" marL="0">
              <a:buNone/>
            </a:pPr>
            <a:r>
              <a:rPr lang="en-US" sz="1250" dirty="0">
                <a:solidFill>
                  <a:schemeClr val="tx1"/>
                </a:solidFill>
              </a:rPr>
              <a:t>Raw canopy temperature used across dates (weather confounds disease)</a:t>
            </a:r>
            <a:endParaRPr lang="en-US" sz="1250" dirty="0"/>
          </a:p>
        </p:txBody>
      </p:sp>
      <p:sp>
        <p:nvSpPr>
          <p:cNvPr id="13" name="Shape 11"/>
          <p:cNvSpPr/>
          <p:nvPr/>
        </p:nvSpPr>
        <p:spPr>
          <a:xfrm>
            <a:off x="6126480" y="2011680"/>
            <a:ext cx="5532120" cy="713232"/>
          </a:xfrm>
          <a:prstGeom prst="roundRect">
            <a:avLst>
              <a:gd name="adj" fmla="val 10256"/>
            </a:avLst>
          </a:prstGeom>
          <a:solidFill>
            <a:srgbClr val="FBEDEA"/>
          </a:solidFill>
          <a:ln/>
        </p:spPr>
      </p:sp>
      <p:sp>
        <p:nvSpPr>
          <p:cNvPr id="14" name="Text 12"/>
          <p:cNvSpPr txBox="1"/>
          <p:nvPr/>
        </p:nvSpPr>
        <p:spPr>
          <a:xfrm>
            <a:off x="6263640" y="2011680"/>
            <a:ext cx="5303520" cy="713232"/>
          </a:xfrm>
          <a:prstGeom prst="rect">
            <a:avLst/>
          </a:prstGeom>
          <a:noFill/>
          <a:ln/>
        </p:spPr>
        <p:txBody>
          <a:bodyPr wrap="square" lIns="0" tIns="0" rIns="0" bIns="0" rtlCol="0" anchor="ctr"/>
          <a:lstStyle/>
          <a:p>
            <a:pPr indent="0" marL="0">
              <a:buNone/>
            </a:pPr>
            <a:r>
              <a:rPr lang="en-US" sz="1250" b="1" dirty="0">
                <a:solidFill>
                  <a:srgbClr val="C0503A"/>
                </a:solidFill>
              </a:rPr>
              <a:t>✗  </a:t>
            </a:r>
            <a:pPr indent="0" marL="0">
              <a:buNone/>
            </a:pPr>
            <a:r>
              <a:rPr lang="en-US" sz="1250" dirty="0">
                <a:solidFill>
                  <a:schemeClr val="tx1"/>
                </a:solidFill>
              </a:rPr>
              <a:t>Scaling or feature selection fitted on all plots before CV (leakage)</a:t>
            </a:r>
            <a:endParaRPr lang="en-US" sz="1250" dirty="0"/>
          </a:p>
        </p:txBody>
      </p:sp>
      <p:sp>
        <p:nvSpPr>
          <p:cNvPr id="15" name="Shape 13"/>
          <p:cNvSpPr/>
          <p:nvPr/>
        </p:nvSpPr>
        <p:spPr>
          <a:xfrm>
            <a:off x="457200" y="2834640"/>
            <a:ext cx="5532120" cy="713232"/>
          </a:xfrm>
          <a:prstGeom prst="roundRect">
            <a:avLst>
              <a:gd name="adj" fmla="val 10256"/>
            </a:avLst>
          </a:prstGeom>
          <a:solidFill>
            <a:srgbClr val="FBEDEA"/>
          </a:solidFill>
          <a:ln/>
        </p:spPr>
      </p:sp>
      <p:sp>
        <p:nvSpPr>
          <p:cNvPr id="16" name="Text 14"/>
          <p:cNvSpPr txBox="1"/>
          <p:nvPr/>
        </p:nvSpPr>
        <p:spPr>
          <a:xfrm>
            <a:off x="594360" y="2834640"/>
            <a:ext cx="5303520" cy="713232"/>
          </a:xfrm>
          <a:prstGeom prst="rect">
            <a:avLst/>
          </a:prstGeom>
          <a:noFill/>
          <a:ln/>
        </p:spPr>
        <p:txBody>
          <a:bodyPr wrap="square" lIns="0" tIns="0" rIns="0" bIns="0" rtlCol="0" anchor="ctr"/>
          <a:lstStyle/>
          <a:p>
            <a:pPr indent="0" marL="0">
              <a:buNone/>
            </a:pPr>
            <a:r>
              <a:rPr lang="en-US" sz="1250" b="1" dirty="0">
                <a:solidFill>
                  <a:srgbClr val="C0503A"/>
                </a:solidFill>
              </a:rPr>
              <a:t>✗  </a:t>
            </a:r>
            <a:pPr indent="0" marL="0">
              <a:buNone/>
            </a:pPr>
            <a:r>
              <a:rPr lang="en-US" sz="1250" dirty="0">
                <a:solidFill>
                  <a:schemeClr val="tx1"/>
                </a:solidFill>
              </a:rPr>
              <a:t>Pixels or tiles of one plot in both training and test</a:t>
            </a:r>
            <a:endParaRPr lang="en-US" sz="1250" dirty="0"/>
          </a:p>
        </p:txBody>
      </p:sp>
      <p:sp>
        <p:nvSpPr>
          <p:cNvPr id="17" name="Shape 15"/>
          <p:cNvSpPr/>
          <p:nvPr/>
        </p:nvSpPr>
        <p:spPr>
          <a:xfrm>
            <a:off x="6126480" y="2834640"/>
            <a:ext cx="5532120" cy="713232"/>
          </a:xfrm>
          <a:prstGeom prst="roundRect">
            <a:avLst>
              <a:gd name="adj" fmla="val 10256"/>
            </a:avLst>
          </a:prstGeom>
          <a:solidFill>
            <a:srgbClr val="FBEDEA"/>
          </a:solidFill>
          <a:ln/>
        </p:spPr>
      </p:sp>
      <p:sp>
        <p:nvSpPr>
          <p:cNvPr id="18" name="Text 16"/>
          <p:cNvSpPr txBox="1"/>
          <p:nvPr/>
        </p:nvSpPr>
        <p:spPr>
          <a:xfrm>
            <a:off x="6263640" y="2834640"/>
            <a:ext cx="5303520" cy="713232"/>
          </a:xfrm>
          <a:prstGeom prst="rect">
            <a:avLst/>
          </a:prstGeom>
          <a:noFill/>
          <a:ln/>
        </p:spPr>
        <p:txBody>
          <a:bodyPr wrap="square" lIns="0" tIns="0" rIns="0" bIns="0" rtlCol="0" anchor="ctr"/>
          <a:lstStyle/>
          <a:p>
            <a:pPr indent="0" marL="0">
              <a:buNone/>
            </a:pPr>
            <a:r>
              <a:rPr lang="en-US" sz="1250" b="1" dirty="0">
                <a:solidFill>
                  <a:srgbClr val="C0503A"/>
                </a:solidFill>
              </a:rPr>
              <a:t>✗  </a:t>
            </a:r>
            <a:pPr indent="0" marL="0">
              <a:buNone/>
            </a:pPr>
            <a:r>
              <a:rPr lang="en-US" sz="1250" dirty="0">
                <a:solidFill>
                  <a:schemeClr val="tx1"/>
                </a:solidFill>
              </a:rPr>
              <a:t>Fusion compared with single sensors without a paired test</a:t>
            </a:r>
            <a:endParaRPr lang="en-US" sz="1250" dirty="0"/>
          </a:p>
        </p:txBody>
      </p:sp>
      <p:sp>
        <p:nvSpPr>
          <p:cNvPr id="19" name="Shape 17"/>
          <p:cNvSpPr/>
          <p:nvPr/>
        </p:nvSpPr>
        <p:spPr>
          <a:xfrm>
            <a:off x="457200" y="3657600"/>
            <a:ext cx="5532120" cy="713232"/>
          </a:xfrm>
          <a:prstGeom prst="roundRect">
            <a:avLst>
              <a:gd name="adj" fmla="val 10256"/>
            </a:avLst>
          </a:prstGeom>
          <a:solidFill>
            <a:srgbClr val="FBEDEA"/>
          </a:solidFill>
          <a:ln/>
        </p:spPr>
      </p:sp>
      <p:sp>
        <p:nvSpPr>
          <p:cNvPr id="20" name="Text 18"/>
          <p:cNvSpPr txBox="1"/>
          <p:nvPr/>
        </p:nvSpPr>
        <p:spPr>
          <a:xfrm>
            <a:off x="594360" y="3657600"/>
            <a:ext cx="5303520" cy="713232"/>
          </a:xfrm>
          <a:prstGeom prst="rect">
            <a:avLst/>
          </a:prstGeom>
          <a:noFill/>
          <a:ln/>
        </p:spPr>
        <p:txBody>
          <a:bodyPr wrap="square" lIns="0" tIns="0" rIns="0" bIns="0" rtlCol="0" anchor="ctr"/>
          <a:lstStyle/>
          <a:p>
            <a:pPr indent="0" marL="0">
              <a:buNone/>
            </a:pPr>
            <a:r>
              <a:rPr lang="en-US" sz="1250" b="1" dirty="0">
                <a:solidFill>
                  <a:srgbClr val="C0503A"/>
                </a:solidFill>
              </a:rPr>
              <a:t>✗  </a:t>
            </a:r>
            <a:pPr indent="0" marL="0">
              <a:buNone/>
            </a:pPr>
            <a:r>
              <a:rPr lang="en-US" sz="1250" dirty="0">
                <a:solidFill>
                  <a:schemeClr val="tx1"/>
                </a:solidFill>
              </a:rPr>
              <a:t>One sensor dominating because it has many more features</a:t>
            </a:r>
            <a:endParaRPr lang="en-US" sz="1250" dirty="0"/>
          </a:p>
        </p:txBody>
      </p:sp>
      <p:sp>
        <p:nvSpPr>
          <p:cNvPr id="21" name="Shape 19"/>
          <p:cNvSpPr/>
          <p:nvPr/>
        </p:nvSpPr>
        <p:spPr>
          <a:xfrm>
            <a:off x="6126480" y="3657600"/>
            <a:ext cx="5532120" cy="713232"/>
          </a:xfrm>
          <a:prstGeom prst="roundRect">
            <a:avLst>
              <a:gd name="adj" fmla="val 10256"/>
            </a:avLst>
          </a:prstGeom>
          <a:solidFill>
            <a:srgbClr val="FBEDEA"/>
          </a:solidFill>
          <a:ln/>
        </p:spPr>
      </p:sp>
      <p:sp>
        <p:nvSpPr>
          <p:cNvPr id="22" name="Text 20"/>
          <p:cNvSpPr txBox="1"/>
          <p:nvPr/>
        </p:nvSpPr>
        <p:spPr>
          <a:xfrm>
            <a:off x="6263640" y="3657600"/>
            <a:ext cx="5303520" cy="713232"/>
          </a:xfrm>
          <a:prstGeom prst="rect">
            <a:avLst/>
          </a:prstGeom>
          <a:noFill/>
          <a:ln/>
        </p:spPr>
        <p:txBody>
          <a:bodyPr wrap="square" lIns="0" tIns="0" rIns="0" bIns="0" rtlCol="0" anchor="ctr"/>
          <a:lstStyle/>
          <a:p>
            <a:pPr indent="0" marL="0">
              <a:buNone/>
            </a:pPr>
            <a:r>
              <a:rPr lang="en-US" sz="1250" b="1" dirty="0">
                <a:solidFill>
                  <a:srgbClr val="C0503A"/>
                </a:solidFill>
              </a:rPr>
              <a:t>✗  </a:t>
            </a:r>
            <a:pPr indent="0" marL="0">
              <a:buNone/>
            </a:pPr>
            <a:r>
              <a:rPr lang="en-US" sz="1250" dirty="0">
                <a:solidFill>
                  <a:schemeClr val="tx1"/>
                </a:solidFill>
              </a:rPr>
              <a:t>DL claimed better without the same folds as ML</a:t>
            </a:r>
            <a:endParaRPr lang="en-US" sz="1250" dirty="0"/>
          </a:p>
        </p:txBody>
      </p:sp>
      <p:sp>
        <p:nvSpPr>
          <p:cNvPr id="23" name="Shape 21"/>
          <p:cNvSpPr/>
          <p:nvPr/>
        </p:nvSpPr>
        <p:spPr>
          <a:xfrm>
            <a:off x="457200" y="4480560"/>
            <a:ext cx="5532120" cy="713232"/>
          </a:xfrm>
          <a:prstGeom prst="roundRect">
            <a:avLst>
              <a:gd name="adj" fmla="val 10256"/>
            </a:avLst>
          </a:prstGeom>
          <a:solidFill>
            <a:srgbClr val="FBEDEA"/>
          </a:solidFill>
          <a:ln/>
        </p:spPr>
      </p:sp>
      <p:sp>
        <p:nvSpPr>
          <p:cNvPr id="24" name="Text 22"/>
          <p:cNvSpPr txBox="1"/>
          <p:nvPr/>
        </p:nvSpPr>
        <p:spPr>
          <a:xfrm>
            <a:off x="594360" y="4480560"/>
            <a:ext cx="5303520" cy="713232"/>
          </a:xfrm>
          <a:prstGeom prst="rect">
            <a:avLst/>
          </a:prstGeom>
          <a:noFill/>
          <a:ln/>
        </p:spPr>
        <p:txBody>
          <a:bodyPr wrap="square" lIns="0" tIns="0" rIns="0" bIns="0" rtlCol="0" anchor="ctr"/>
          <a:lstStyle/>
          <a:p>
            <a:pPr indent="0" marL="0">
              <a:buNone/>
            </a:pPr>
            <a:r>
              <a:rPr lang="en-US" sz="1250" b="1" dirty="0">
                <a:solidFill>
                  <a:srgbClr val="C0503A"/>
                </a:solidFill>
              </a:rPr>
              <a:t>✗  </a:t>
            </a:r>
            <a:pPr indent="0" marL="0">
              <a:buNone/>
            </a:pPr>
            <a:r>
              <a:rPr lang="en-US" sz="1250" dirty="0">
                <a:solidFill>
                  <a:schemeClr val="tx1"/>
                </a:solidFill>
              </a:rPr>
              <a:t>Pixel-level maps claimed without pixel-level validation</a:t>
            </a:r>
            <a:endParaRPr lang="en-US" sz="1250" dirty="0"/>
          </a:p>
        </p:txBody>
      </p:sp>
      <p:sp>
        <p:nvSpPr>
          <p:cNvPr id="25" name="Shape 23"/>
          <p:cNvSpPr/>
          <p:nvPr/>
        </p:nvSpPr>
        <p:spPr>
          <a:xfrm>
            <a:off x="6126480" y="4480560"/>
            <a:ext cx="5532120" cy="713232"/>
          </a:xfrm>
          <a:prstGeom prst="roundRect">
            <a:avLst>
              <a:gd name="adj" fmla="val 10256"/>
            </a:avLst>
          </a:prstGeom>
          <a:solidFill>
            <a:srgbClr val="FBEDEA"/>
          </a:solidFill>
          <a:ln/>
        </p:spPr>
      </p:sp>
      <p:sp>
        <p:nvSpPr>
          <p:cNvPr id="26" name="Text 24"/>
          <p:cNvSpPr txBox="1"/>
          <p:nvPr/>
        </p:nvSpPr>
        <p:spPr>
          <a:xfrm>
            <a:off x="6263640" y="4480560"/>
            <a:ext cx="5303520" cy="713232"/>
          </a:xfrm>
          <a:prstGeom prst="rect">
            <a:avLst/>
          </a:prstGeom>
          <a:noFill/>
          <a:ln/>
        </p:spPr>
        <p:txBody>
          <a:bodyPr wrap="square" lIns="0" tIns="0" rIns="0" bIns="0" rtlCol="0" anchor="ctr"/>
          <a:lstStyle/>
          <a:p>
            <a:pPr indent="0" marL="0">
              <a:buNone/>
            </a:pPr>
            <a:r>
              <a:rPr lang="en-US" sz="1250" b="1" dirty="0">
                <a:solidFill>
                  <a:srgbClr val="C0503A"/>
                </a:solidFill>
              </a:rPr>
              <a:t>✗  </a:t>
            </a:r>
            <a:pPr indent="0" marL="0">
              <a:buNone/>
            </a:pPr>
            <a:r>
              <a:rPr lang="en-US" sz="1250" dirty="0">
                <a:solidFill>
                  <a:schemeClr val="tx1"/>
                </a:solidFill>
              </a:rPr>
              <a:t>Leaf-underside symptoms ignored in ground truth</a:t>
            </a:r>
            <a:endParaRPr lang="en-US" sz="125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References (1/4)</a:t>
            </a:r>
            <a:endParaRPr lang="en-US" sz="2500" dirty="0"/>
          </a:p>
        </p:txBody>
      </p:sp>
      <p:sp>
        <p:nvSpPr>
          <p:cNvPr id="3" name="Text 1"/>
          <p:cNvSpPr txBox="1"/>
          <p:nvPr/>
        </p:nvSpPr>
        <p:spPr>
          <a:xfrm>
            <a:off x="457200" y="155448"/>
            <a:ext cx="54864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REFERENCES</a:t>
            </a:r>
            <a:endParaRPr lang="en-US" sz="1100" dirty="0"/>
          </a:p>
        </p:txBody>
      </p:sp>
      <p:sp>
        <p:nvSpPr>
          <p:cNvPr id="4" name="Text 2"/>
          <p:cNvSpPr txBox="1"/>
          <p:nvPr/>
        </p:nvSpPr>
        <p:spPr>
          <a:xfrm>
            <a:off x="457200" y="1143000"/>
            <a:ext cx="11274552" cy="5212080"/>
          </a:xfrm>
          <a:prstGeom prst="rect">
            <a:avLst/>
          </a:prstGeom>
          <a:noFill/>
          <a:ln/>
        </p:spPr>
        <p:txBody>
          <a:bodyPr wrap="square" lIns="0" tIns="0" rIns="0" bIns="0" rtlCol="0" anchor="t"/>
          <a:lstStyle/>
          <a:p>
            <a:pPr indent="0" marL="0">
              <a:spcAft>
                <a:spcPts val="300"/>
              </a:spcAft>
              <a:buNone/>
            </a:pPr>
            <a:r>
              <a:rPr lang="en-US" sz="1050" dirty="0">
                <a:solidFill>
                  <a:schemeClr val="tx1"/>
                </a:solidFill>
              </a:rPr>
              <a:t>Agam, N., Kustas, W.P., Anderson, M.C., Li, F., Neale, C.M.U. (2007). A vegetation index based technique for spatial sharpening of thermal imagery. Remote Sens. Environ. 107, 545–558.</a:t>
            </a:r>
            <a:endParaRPr lang="en-US" sz="1050" dirty="0"/>
          </a:p>
          <a:p>
            <a:pPr indent="0" marL="0">
              <a:spcAft>
                <a:spcPts val="300"/>
              </a:spcAft>
              <a:buNone/>
            </a:pPr>
            <a:r>
              <a:rPr lang="en-US" sz="1050" dirty="0">
                <a:solidFill>
                  <a:schemeClr val="tx1"/>
                </a:solidFill>
              </a:rPr>
              <a:t>Alparone, L., et al. (2008). Multispectral and panchromatic data fusion assessment without reference. Photogramm. Eng. Remote Sens. 74(2), 193–200.</a:t>
            </a:r>
            <a:endParaRPr lang="en-US" sz="1050" dirty="0"/>
          </a:p>
          <a:p>
            <a:pPr indent="0" marL="0">
              <a:spcAft>
                <a:spcPts val="300"/>
              </a:spcAft>
              <a:buNone/>
            </a:pPr>
            <a:r>
              <a:rPr lang="en-US" sz="1050" dirty="0">
                <a:solidFill>
                  <a:schemeClr val="tx1"/>
                </a:solidFill>
              </a:rPr>
              <a:t>Audebert, N., Le Saux, B., Lefèvre, S. (2018). Beyond RGB: very high resolution urban remote sensing with multimodal deep networks. ISPRS J. Photogramm. Remote Sens. 140, 20–32.</a:t>
            </a:r>
            <a:endParaRPr lang="en-US" sz="1050" dirty="0"/>
          </a:p>
          <a:p>
            <a:pPr indent="0" marL="0">
              <a:spcAft>
                <a:spcPts val="300"/>
              </a:spcAft>
              <a:buNone/>
            </a:pPr>
            <a:r>
              <a:rPr lang="en-US" sz="1050" dirty="0">
                <a:solidFill>
                  <a:schemeClr val="tx1"/>
                </a:solidFill>
              </a:rPr>
              <a:t>Baltrušaitis, T., Ahuja, C., Morency, L.-P. (2019). Multimodal machine learning: a survey and taxonomy. IEEE TPAMI 41(2), 423–443.</a:t>
            </a:r>
            <a:endParaRPr lang="en-US" sz="1050" dirty="0"/>
          </a:p>
          <a:p>
            <a:pPr indent="0" marL="0">
              <a:spcAft>
                <a:spcPts val="300"/>
              </a:spcAft>
              <a:buNone/>
            </a:pPr>
            <a:r>
              <a:rPr lang="en-US" sz="1050" dirty="0">
                <a:solidFill>
                  <a:schemeClr val="tx1"/>
                </a:solidFill>
              </a:rPr>
              <a:t>Bohnenkamp, D., Behmann, J., Mahlein, A.-K. (2019). In-field detection of yellow rust in wheat on the ground canopy and UAV scale. Remote Sens. 11(21), 2495.</a:t>
            </a:r>
            <a:endParaRPr lang="en-US" sz="1050" dirty="0"/>
          </a:p>
          <a:p>
            <a:pPr indent="0" marL="0">
              <a:spcAft>
                <a:spcPts val="300"/>
              </a:spcAft>
              <a:buNone/>
            </a:pPr>
            <a:r>
              <a:rPr lang="en-US" sz="1050" dirty="0">
                <a:solidFill>
                  <a:schemeClr val="tx1"/>
                </a:solidFill>
              </a:rPr>
              <a:t>Breiman, L. (2001). Random forests. Machine Learning 45, 5–32.</a:t>
            </a:r>
            <a:endParaRPr lang="en-US" sz="1050" dirty="0"/>
          </a:p>
          <a:p>
            <a:pPr indent="0" marL="0">
              <a:spcAft>
                <a:spcPts val="300"/>
              </a:spcAft>
              <a:buNone/>
            </a:pPr>
            <a:r>
              <a:rPr lang="en-US" sz="1050" dirty="0">
                <a:solidFill>
                  <a:schemeClr val="tx1"/>
                </a:solidFill>
              </a:rPr>
              <a:t>Camps-Valls, G., et al. (2006). Composite kernels for hyperspectral image classification. IEEE GRSL 3(1), 93–97.</a:t>
            </a:r>
            <a:endParaRPr lang="en-US" sz="1050" dirty="0"/>
          </a:p>
          <a:p>
            <a:pPr indent="0" marL="0">
              <a:spcAft>
                <a:spcPts val="300"/>
              </a:spcAft>
              <a:buNone/>
            </a:pPr>
            <a:r>
              <a:rPr lang="en-US" sz="1050" dirty="0">
                <a:solidFill>
                  <a:schemeClr val="tx1"/>
                </a:solidFill>
              </a:rPr>
              <a:t>Cao, W., Mirjalili, V., Raschka, S. (2020). Rank consistent ordinal regression for neural networks. Pattern Recognit. Lett. 140, 325–331.</a:t>
            </a:r>
            <a:endParaRPr lang="en-US" sz="1050" dirty="0"/>
          </a:p>
          <a:p>
            <a:pPr indent="0" marL="0">
              <a:spcAft>
                <a:spcPts val="300"/>
              </a:spcAft>
              <a:buNone/>
            </a:pPr>
            <a:r>
              <a:rPr lang="en-US" sz="1050" dirty="0">
                <a:solidFill>
                  <a:schemeClr val="tx1"/>
                </a:solidFill>
              </a:rPr>
              <a:t>Castanedo, F. (2013). A review of data fusion techniques. Sci. World J. 2013, 704504.</a:t>
            </a:r>
            <a:endParaRPr lang="en-US" sz="1050" dirty="0"/>
          </a:p>
          <a:p>
            <a:pPr indent="0" marL="0">
              <a:spcAft>
                <a:spcPts val="300"/>
              </a:spcAft>
              <a:buNone/>
            </a:pPr>
            <a:r>
              <a:rPr lang="en-US" sz="1050" dirty="0">
                <a:solidFill>
                  <a:schemeClr val="tx1"/>
                </a:solidFill>
              </a:rPr>
              <a:t>Chen, T., Guestrin, C. (2016). XGBoost: a scalable tree boosting system. Proc. KDD, 785–794.</a:t>
            </a:r>
            <a:endParaRPr lang="en-US" sz="1050" dirty="0"/>
          </a:p>
          <a:p>
            <a:pPr indent="0" marL="0">
              <a:spcAft>
                <a:spcPts val="300"/>
              </a:spcAft>
              <a:buNone/>
            </a:pPr>
            <a:r>
              <a:rPr lang="en-US" sz="1050" dirty="0">
                <a:solidFill>
                  <a:schemeClr val="tx1"/>
                </a:solidFill>
              </a:rPr>
              <a:t>Cortes, C., Vapnik, V. (1995). Support-vector networks. Machine Learning 20, 273–297.</a:t>
            </a:r>
            <a:endParaRPr lang="en-US" sz="1050" dirty="0"/>
          </a:p>
          <a:p>
            <a:pPr indent="0" marL="0">
              <a:spcAft>
                <a:spcPts val="300"/>
              </a:spcAft>
              <a:buNone/>
            </a:pPr>
            <a:r>
              <a:rPr lang="en-US" sz="1050" dirty="0">
                <a:solidFill>
                  <a:schemeClr val="tx1"/>
                </a:solidFill>
              </a:rPr>
              <a:t>Evangelidis, G.D., Psarakis, E.Z. (2008). Parametric image alignment using enhanced correlation coefficient maximization. IEEE TPAMI 30(10), 1858–1865.</a:t>
            </a:r>
            <a:endParaRPr lang="en-US" sz="1050" dirty="0"/>
          </a:p>
          <a:p>
            <a:pPr indent="0" marL="0">
              <a:spcAft>
                <a:spcPts val="300"/>
              </a:spcAft>
              <a:buNone/>
            </a:pPr>
            <a:r>
              <a:rPr lang="en-US" sz="1050" dirty="0">
                <a:solidFill>
                  <a:schemeClr val="tx1"/>
                </a:solidFill>
              </a:rPr>
              <a:t>Feng, Z., et al. (2022). Monitoring wheat powdery mildew based on hyperspectral, thermal infrared, and RGB image data fusion. Sensors 22(1), 31.</a:t>
            </a:r>
            <a:endParaRPr lang="en-US" sz="1050" dirty="0"/>
          </a:p>
          <a:p>
            <a:pPr indent="0" marL="0">
              <a:spcAft>
                <a:spcPts val="300"/>
              </a:spcAft>
              <a:buNone/>
            </a:pPr>
            <a:r>
              <a:rPr lang="en-US" sz="1050" dirty="0">
                <a:solidFill>
                  <a:schemeClr val="tx1"/>
                </a:solidFill>
              </a:rPr>
              <a:t>Foody, G.M. (2004). Thematic map comparison: evaluating the statistical significance of differences in classification accuracy. Photogramm. Eng. Remote Sens. 70(5), 627–633.</a:t>
            </a:r>
            <a:endParaRPr lang="en-US" sz="1050" dirty="0"/>
          </a:p>
          <a:p>
            <a:pPr indent="0" marL="0">
              <a:spcAft>
                <a:spcPts val="300"/>
              </a:spcAft>
              <a:buNone/>
            </a:pPr>
            <a:r>
              <a:rPr lang="en-US" sz="1050" dirty="0">
                <a:solidFill>
                  <a:schemeClr val="tx1"/>
                </a:solidFill>
              </a:rPr>
              <a:t>Ghassemian, H. (2016). A review of remote sensing image fusion methods. Information Fusion 32, 75–89.</a:t>
            </a:r>
            <a:endParaRPr lang="en-US" sz="1050" dirty="0"/>
          </a:p>
          <a:p>
            <a:pPr indent="0" marL="0">
              <a:spcAft>
                <a:spcPts val="300"/>
              </a:spcAft>
              <a:buNone/>
            </a:pPr>
            <a:r>
              <a:rPr lang="en-US" sz="1050" dirty="0">
                <a:solidFill>
                  <a:schemeClr val="tx1"/>
                </a:solidFill>
              </a:rPr>
              <a:t>Gómez-Chova, L., Tuia, D., Moser, G., Camps-Valls, G. (2015). Multimodal classification of remote sensing images: a review and future directions. Proc. IEEE 103(9), 1560–1584.</a:t>
            </a:r>
            <a:endParaRPr lang="en-US" sz="1050" dirty="0"/>
          </a:p>
          <a:p>
            <a:pPr indent="0" marL="0">
              <a:spcAft>
                <a:spcPts val="300"/>
              </a:spcAft>
              <a:buNone/>
            </a:pPr>
            <a:r>
              <a:rPr lang="en-US" sz="1050" dirty="0">
                <a:solidFill>
                  <a:schemeClr val="tx1"/>
                </a:solidFill>
              </a:rPr>
              <a:t>Gönen, M., Alpaydın, E. (2011). Multiple kernel learning algorithms. J. Mach. Learn. Res. 12, 2211–2268.</a:t>
            </a:r>
            <a:endParaRPr lang="en-US" sz="1050" dirty="0"/>
          </a:p>
          <a:p>
            <a:pPr indent="0" marL="0">
              <a:spcAft>
                <a:spcPts val="300"/>
              </a:spcAft>
              <a:buNone/>
            </a:pPr>
            <a:r>
              <a:rPr lang="en-US" sz="1050" dirty="0">
                <a:solidFill>
                  <a:schemeClr val="tx1"/>
                </a:solidFill>
              </a:rPr>
              <a:t>Guo, A., et al. (2021). Wheat yellow rust detection using UAV-based hyperspectral technology. Remote Sens. 13(1), 123.</a:t>
            </a:r>
            <a:endParaRPr lang="en-US" sz="1050" dirty="0"/>
          </a:p>
          <a:p>
            <a:pPr indent="0" marL="0">
              <a:spcAft>
                <a:spcPts val="300"/>
              </a:spcAft>
              <a:buNone/>
            </a:pPr>
            <a:r>
              <a:rPr lang="en-US" sz="1050" dirty="0">
                <a:solidFill>
                  <a:schemeClr val="tx1"/>
                </a:solidFill>
              </a:rPr>
              <a:t>Guyon, I., Elisseeff, A. (2003). An introduction to variable and feature selection. J. Mach. Learn. Res. 3, 1157–1182.</a:t>
            </a:r>
            <a:endParaRPr lang="en-US" sz="1050" dirty="0"/>
          </a:p>
          <a:p>
            <a:pPr indent="0" marL="0">
              <a:spcAft>
                <a:spcPts val="300"/>
              </a:spcAft>
              <a:buNone/>
            </a:pPr>
            <a:r>
              <a:rPr lang="en-US" sz="1050" dirty="0">
                <a:solidFill>
                  <a:schemeClr val="tx1"/>
                </a:solidFill>
              </a:rPr>
              <a:t>Haghighat, M., Abdel-Mottaleb, M., Alhalabi, W. (2016). Discriminant correlation analysis: real-time feature level fusion for multimodal biometric recognition. IEEE Trans. Inf. Forensics Secur. 11(9), 1984–1996.</a:t>
            </a:r>
            <a:endParaRPr lang="en-US" sz="1050" dirty="0"/>
          </a:p>
          <a:p>
            <a:pPr indent="0" marL="0">
              <a:spcAft>
                <a:spcPts val="300"/>
              </a:spcAft>
              <a:buNone/>
            </a:pPr>
            <a:r>
              <a:rPr lang="en-US" sz="1050" dirty="0">
                <a:solidFill>
                  <a:schemeClr val="tx1"/>
                </a:solidFill>
              </a:rPr>
              <a:t>Hall, D.L., Llinas, J. (1997). An introduction to multisensor data fusion. Proc. IEEE 85(1), 6–23.</a:t>
            </a:r>
            <a:endParaRPr lang="en-US" sz="105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References (2/4)</a:t>
            </a:r>
            <a:endParaRPr lang="en-US" sz="2500" dirty="0"/>
          </a:p>
        </p:txBody>
      </p:sp>
      <p:sp>
        <p:nvSpPr>
          <p:cNvPr id="3" name="Text 1"/>
          <p:cNvSpPr txBox="1"/>
          <p:nvPr/>
        </p:nvSpPr>
        <p:spPr>
          <a:xfrm>
            <a:off x="457200" y="155448"/>
            <a:ext cx="54864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REFERENCES</a:t>
            </a:r>
            <a:endParaRPr lang="en-US" sz="1100" dirty="0"/>
          </a:p>
        </p:txBody>
      </p:sp>
      <p:sp>
        <p:nvSpPr>
          <p:cNvPr id="4" name="Text 2"/>
          <p:cNvSpPr txBox="1"/>
          <p:nvPr/>
        </p:nvSpPr>
        <p:spPr>
          <a:xfrm>
            <a:off x="457200" y="1143000"/>
            <a:ext cx="11274552" cy="5212080"/>
          </a:xfrm>
          <a:prstGeom prst="rect">
            <a:avLst/>
          </a:prstGeom>
          <a:noFill/>
          <a:ln/>
        </p:spPr>
        <p:txBody>
          <a:bodyPr wrap="square" lIns="0" tIns="0" rIns="0" bIns="0" rtlCol="0" anchor="t"/>
          <a:lstStyle/>
          <a:p>
            <a:pPr indent="0" marL="0">
              <a:spcAft>
                <a:spcPts val="300"/>
              </a:spcAft>
              <a:buNone/>
            </a:pPr>
            <a:r>
              <a:rPr lang="en-US" sz="1050" dirty="0">
                <a:solidFill>
                  <a:schemeClr val="tx1"/>
                </a:solidFill>
              </a:rPr>
              <a:t>He, K., Zhang, X., Ren, S., Sun, J. (2016). Deep residual learning for image recognition. Proc. CVPR, 770–778.</a:t>
            </a:r>
            <a:endParaRPr lang="en-US" sz="1050" dirty="0"/>
          </a:p>
          <a:p>
            <a:pPr indent="0" marL="0">
              <a:spcAft>
                <a:spcPts val="300"/>
              </a:spcAft>
              <a:buNone/>
            </a:pPr>
            <a:r>
              <a:rPr lang="en-US" sz="1050" dirty="0">
                <a:solidFill>
                  <a:schemeClr val="tx1"/>
                </a:solidFill>
              </a:rPr>
              <a:t>He, K., et al. (2022). Masked autoencoders are scalable vision learners. Proc. CVPR, 16000–16009.</a:t>
            </a:r>
            <a:endParaRPr lang="en-US" sz="1050" dirty="0"/>
          </a:p>
          <a:p>
            <a:pPr indent="0" marL="0">
              <a:spcAft>
                <a:spcPts val="300"/>
              </a:spcAft>
              <a:buNone/>
            </a:pPr>
            <a:r>
              <a:rPr lang="en-US" sz="1050" dirty="0">
                <a:solidFill>
                  <a:schemeClr val="tx1"/>
                </a:solidFill>
              </a:rPr>
              <a:t>Hong, D., et al. (2021). More diverse means better: multimodal deep learning meets remote-sensing imagery classification. IEEE TGRS 59(5), 4340–4354.</a:t>
            </a:r>
            <a:endParaRPr lang="en-US" sz="1050" dirty="0"/>
          </a:p>
          <a:p>
            <a:pPr indent="0" marL="0">
              <a:spcAft>
                <a:spcPts val="300"/>
              </a:spcAft>
              <a:buNone/>
            </a:pPr>
            <a:r>
              <a:rPr lang="en-US" sz="1050" dirty="0">
                <a:solidFill>
                  <a:schemeClr val="tx1"/>
                </a:solidFill>
              </a:rPr>
              <a:t>Hong, D., et al. (2022). SpectralFormer: rethinking hyperspectral image classification with transformers. IEEE TGRS 60, 5518615.</a:t>
            </a:r>
            <a:endParaRPr lang="en-US" sz="1050" dirty="0"/>
          </a:p>
          <a:p>
            <a:pPr indent="0" marL="0">
              <a:spcAft>
                <a:spcPts val="300"/>
              </a:spcAft>
              <a:buNone/>
            </a:pPr>
            <a:r>
              <a:rPr lang="en-US" sz="1050" dirty="0">
                <a:solidFill>
                  <a:schemeClr val="tx1"/>
                </a:solidFill>
              </a:rPr>
              <a:t>Hotelling, H. (1936). Relations between two sets of variates. Biometrika 28, 321–377.</a:t>
            </a:r>
            <a:endParaRPr lang="en-US" sz="1050" dirty="0"/>
          </a:p>
          <a:p>
            <a:pPr indent="0" marL="0">
              <a:spcAft>
                <a:spcPts val="300"/>
              </a:spcAft>
              <a:buNone/>
            </a:pPr>
            <a:r>
              <a:rPr lang="en-US" sz="1050" dirty="0">
                <a:solidFill>
                  <a:schemeClr val="tx1"/>
                </a:solidFill>
              </a:rPr>
              <a:t>Hu, J., Shen, L., Sun, G. (2018). Squeeze-and-excitation networks. Proc. CVPR, 7132–7141.</a:t>
            </a:r>
            <a:endParaRPr lang="en-US" sz="1050" dirty="0"/>
          </a:p>
          <a:p>
            <a:pPr indent="0" marL="0">
              <a:spcAft>
                <a:spcPts val="300"/>
              </a:spcAft>
              <a:buNone/>
            </a:pPr>
            <a:r>
              <a:rPr lang="en-US" sz="1050" dirty="0">
                <a:solidFill>
                  <a:schemeClr val="tx1"/>
                </a:solidFill>
              </a:rPr>
              <a:t>Ilse, M., Tomczak, J., Welling, M. (2018). Attention-based deep multiple instance learning. Proc. ICML, 2127–2136.</a:t>
            </a:r>
            <a:endParaRPr lang="en-US" sz="1050" dirty="0"/>
          </a:p>
          <a:p>
            <a:pPr indent="0" marL="0">
              <a:spcAft>
                <a:spcPts val="300"/>
              </a:spcAft>
              <a:buNone/>
            </a:pPr>
            <a:r>
              <a:rPr lang="en-US" sz="1050" dirty="0">
                <a:solidFill>
                  <a:schemeClr val="tx1"/>
                </a:solidFill>
              </a:rPr>
              <a:t>Jones, H.G. (2004). Application of thermal imaging and infrared sensing in plant physiology and ecophysiology. Adv. Bot. Res. 41, 107–163.</a:t>
            </a:r>
            <a:endParaRPr lang="en-US" sz="1050" dirty="0"/>
          </a:p>
          <a:p>
            <a:pPr indent="0" marL="0">
              <a:spcAft>
                <a:spcPts val="300"/>
              </a:spcAft>
              <a:buNone/>
            </a:pPr>
            <a:r>
              <a:rPr lang="en-US" sz="1050" dirty="0">
                <a:solidFill>
                  <a:schemeClr val="tx1"/>
                </a:solidFill>
              </a:rPr>
              <a:t>Kerkech, M., Hafiane, A., Canals, R. (2020a). Vine disease detection in UAV multispectral images using optimized image registration and deep learning segmentation approach. Comput. Electron. Agric. 174, 105446.</a:t>
            </a:r>
            <a:endParaRPr lang="en-US" sz="1050" dirty="0"/>
          </a:p>
          <a:p>
            <a:pPr indent="0" marL="0">
              <a:spcAft>
                <a:spcPts val="300"/>
              </a:spcAft>
              <a:buNone/>
            </a:pPr>
            <a:r>
              <a:rPr lang="en-US" sz="1050" dirty="0">
                <a:solidFill>
                  <a:schemeClr val="tx1"/>
                </a:solidFill>
              </a:rPr>
              <a:t>Kerkech, M., Hafiane, A., Canals, R. (2020b). VddNet: vine disease detection network based on multispectral images and depth map. Remote Sens. 12(20), 3305.</a:t>
            </a:r>
            <a:endParaRPr lang="en-US" sz="1050" dirty="0"/>
          </a:p>
          <a:p>
            <a:pPr indent="0" marL="0">
              <a:spcAft>
                <a:spcPts val="300"/>
              </a:spcAft>
              <a:buNone/>
            </a:pPr>
            <a:r>
              <a:rPr lang="en-US" sz="1050" dirty="0">
                <a:solidFill>
                  <a:schemeClr val="tx1"/>
                </a:solidFill>
              </a:rPr>
              <a:t>Kittler, J., Hatef, M., Duin, R.P.W., Matas, J. (1998). On combining classifiers. IEEE TPAMI 20(3), 226–239.</a:t>
            </a:r>
            <a:endParaRPr lang="en-US" sz="1050" dirty="0"/>
          </a:p>
          <a:p>
            <a:pPr indent="0" marL="0">
              <a:spcAft>
                <a:spcPts val="300"/>
              </a:spcAft>
              <a:buNone/>
            </a:pPr>
            <a:r>
              <a:rPr lang="en-US" sz="1050" dirty="0">
                <a:solidFill>
                  <a:schemeClr val="tx1"/>
                </a:solidFill>
              </a:rPr>
              <a:t>Kononenko, I. (1994). Estimating attributes: analysis and extensions of RELIEF. Proc. ECML-94, LNCS 784, 171–182.</a:t>
            </a:r>
            <a:endParaRPr lang="en-US" sz="1050" dirty="0"/>
          </a:p>
          <a:p>
            <a:pPr indent="0" marL="0">
              <a:spcAft>
                <a:spcPts val="300"/>
              </a:spcAft>
              <a:buNone/>
            </a:pPr>
            <a:r>
              <a:rPr lang="en-US" sz="1050" dirty="0">
                <a:solidFill>
                  <a:schemeClr val="tx1"/>
                </a:solidFill>
              </a:rPr>
              <a:t>Kursa, M.B., Rudnicki, W.R. (2010). Feature selection with the Boruta package. J. Stat. Softw. 36(11), 1–13.</a:t>
            </a:r>
            <a:endParaRPr lang="en-US" sz="1050" dirty="0"/>
          </a:p>
          <a:p>
            <a:pPr indent="0" marL="0">
              <a:spcAft>
                <a:spcPts val="300"/>
              </a:spcAft>
              <a:buNone/>
            </a:pPr>
            <a:r>
              <a:rPr lang="en-US" sz="1050" dirty="0">
                <a:solidFill>
                  <a:schemeClr val="tx1"/>
                </a:solidFill>
              </a:rPr>
              <a:t>Lahat, D., Adali, T., Jutten, C. (2015). Multimodal data fusion: an overview of methods, challenges, and prospects. Proc. IEEE 103(9), 1449–1477.</a:t>
            </a:r>
            <a:endParaRPr lang="en-US" sz="1050" dirty="0"/>
          </a:p>
          <a:p>
            <a:pPr indent="0" marL="0">
              <a:spcAft>
                <a:spcPts val="300"/>
              </a:spcAft>
              <a:buNone/>
            </a:pPr>
            <a:r>
              <a:rPr lang="en-US" sz="1050" dirty="0">
                <a:solidFill>
                  <a:schemeClr val="tx1"/>
                </a:solidFill>
              </a:rPr>
              <a:t>Leinonen, I., Jones, H.G. (2004). Combining thermal and visible imagery for estimating canopy temperature and identifying plant stress. J. Exp. Bot. 55, 1423–1431.</a:t>
            </a:r>
            <a:endParaRPr lang="en-US" sz="1050" dirty="0"/>
          </a:p>
          <a:p>
            <a:pPr indent="0" marL="0">
              <a:spcAft>
                <a:spcPts val="300"/>
              </a:spcAft>
              <a:buNone/>
            </a:pPr>
            <a:r>
              <a:rPr lang="en-US" sz="1050" dirty="0">
                <a:solidFill>
                  <a:schemeClr val="tx1"/>
                </a:solidFill>
              </a:rPr>
              <a:t>Li, H., Wu, X.-J. (2019). DenseFuse: a fusion approach to infrared and visible images. IEEE Trans. Image Process. 28(5), 2614–2623.</a:t>
            </a:r>
            <a:endParaRPr lang="en-US" sz="1050" dirty="0"/>
          </a:p>
          <a:p>
            <a:pPr indent="0" marL="0">
              <a:spcAft>
                <a:spcPts val="300"/>
              </a:spcAft>
              <a:buNone/>
            </a:pPr>
            <a:r>
              <a:rPr lang="en-US" sz="1050" dirty="0">
                <a:solidFill>
                  <a:schemeClr val="tx1"/>
                </a:solidFill>
              </a:rPr>
              <a:t>Liu, Y., et al. (2024). Exploring multi-features in UAV based optical and thermal infrared images to estimate disease severity of wheat powdery mildew. Comput. Electron. Agric. 225, 109285.</a:t>
            </a:r>
            <a:endParaRPr lang="en-US" sz="1050" dirty="0"/>
          </a:p>
          <a:p>
            <a:pPr indent="0" marL="0">
              <a:spcAft>
                <a:spcPts val="300"/>
              </a:spcAft>
              <a:buNone/>
            </a:pPr>
            <a:r>
              <a:rPr lang="en-US" sz="1050" dirty="0">
                <a:solidFill>
                  <a:schemeClr val="tx1"/>
                </a:solidFill>
              </a:rPr>
              <a:t>Lowe, D.G. (2004). Distinctive image features from scale-invariant keypoints. Int. J. Comput. Vis. 60, 91–110.</a:t>
            </a:r>
            <a:endParaRPr lang="en-US" sz="1050" dirty="0"/>
          </a:p>
          <a:p>
            <a:pPr indent="0" marL="0">
              <a:spcAft>
                <a:spcPts val="300"/>
              </a:spcAft>
              <a:buNone/>
            </a:pPr>
            <a:r>
              <a:rPr lang="en-US" sz="1050" dirty="0">
                <a:solidFill>
                  <a:schemeClr val="tx1"/>
                </a:solidFill>
              </a:rPr>
              <a:t>Ma, J., Ma, Y., Li, C. (2019). Infrared and visible image fusion methods and applications: a survey. Information Fusion 45, 153–178.</a:t>
            </a:r>
            <a:endParaRPr lang="en-US" sz="1050" dirty="0"/>
          </a:p>
          <a:p>
            <a:pPr indent="0" marL="0">
              <a:spcAft>
                <a:spcPts val="300"/>
              </a:spcAft>
              <a:buNone/>
            </a:pPr>
            <a:r>
              <a:rPr lang="en-US" sz="1050" dirty="0">
                <a:solidFill>
                  <a:schemeClr val="tx1"/>
                </a:solidFill>
              </a:rPr>
              <a:t>Maes, F., et al. (1997). Multimodality image registration by maximization of mutual information. IEEE Trans. Med. Imaging 16(2), 187–198.</a:t>
            </a:r>
            <a:endParaRPr lang="en-US" sz="1050" dirty="0"/>
          </a:p>
          <a:p>
            <a:pPr indent="0" marL="0">
              <a:spcAft>
                <a:spcPts val="300"/>
              </a:spcAft>
              <a:buNone/>
            </a:pPr>
            <a:r>
              <a:rPr lang="en-US" sz="1050" dirty="0">
                <a:solidFill>
                  <a:schemeClr val="tx1"/>
                </a:solidFill>
              </a:rPr>
              <a:t>Mahlein, A.-K. (2016). Plant disease detection by imaging sensors. Plant Dis. 100(2), 241–251.</a:t>
            </a:r>
            <a:endParaRPr lang="en-US" sz="105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References (3/4)</a:t>
            </a:r>
            <a:endParaRPr lang="en-US" sz="2500" dirty="0"/>
          </a:p>
        </p:txBody>
      </p:sp>
      <p:sp>
        <p:nvSpPr>
          <p:cNvPr id="3" name="Text 1"/>
          <p:cNvSpPr txBox="1"/>
          <p:nvPr/>
        </p:nvSpPr>
        <p:spPr>
          <a:xfrm>
            <a:off x="457200" y="155448"/>
            <a:ext cx="54864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REFERENCES</a:t>
            </a:r>
            <a:endParaRPr lang="en-US" sz="1100" dirty="0"/>
          </a:p>
        </p:txBody>
      </p:sp>
      <p:sp>
        <p:nvSpPr>
          <p:cNvPr id="4" name="Text 2"/>
          <p:cNvSpPr txBox="1"/>
          <p:nvPr/>
        </p:nvSpPr>
        <p:spPr>
          <a:xfrm>
            <a:off x="457200" y="1143000"/>
            <a:ext cx="11274552" cy="5212080"/>
          </a:xfrm>
          <a:prstGeom prst="rect">
            <a:avLst/>
          </a:prstGeom>
          <a:noFill/>
          <a:ln/>
        </p:spPr>
        <p:txBody>
          <a:bodyPr wrap="square" lIns="0" tIns="0" rIns="0" bIns="0" rtlCol="0" anchor="t"/>
          <a:lstStyle/>
          <a:p>
            <a:pPr indent="0" marL="0">
              <a:spcAft>
                <a:spcPts val="300"/>
              </a:spcAft>
              <a:buNone/>
            </a:pPr>
            <a:r>
              <a:rPr lang="en-US" sz="1050" dirty="0">
                <a:solidFill>
                  <a:schemeClr val="tx1"/>
                </a:solidFill>
              </a:rPr>
              <a:t>Mahlein, A.-K., et al. (2019). Comparison and combination of thermal, fluorescence, and hyperspectral imaging for monitoring Fusarium head blight of wheat on spikelet scale. Sensors 19(10), 2281.</a:t>
            </a:r>
            <a:endParaRPr lang="en-US" sz="1050" dirty="0"/>
          </a:p>
          <a:p>
            <a:pPr indent="0" marL="0">
              <a:spcAft>
                <a:spcPts val="300"/>
              </a:spcAft>
              <a:buNone/>
            </a:pPr>
            <a:r>
              <a:rPr lang="en-US" sz="1050" dirty="0">
                <a:solidFill>
                  <a:schemeClr val="tx1"/>
                </a:solidFill>
              </a:rPr>
              <a:t>Maimaitijiang, M., et al. (2020). Soybean yield prediction from UAV using multimodal data fusion and deep learning. Remote Sens. Environ. 237, 111599.</a:t>
            </a:r>
            <a:endParaRPr lang="en-US" sz="1050" dirty="0"/>
          </a:p>
          <a:p>
            <a:pPr indent="0" marL="0">
              <a:spcAft>
                <a:spcPts val="300"/>
              </a:spcAft>
              <a:buNone/>
            </a:pPr>
            <a:r>
              <a:rPr lang="en-US" sz="1050" dirty="0">
                <a:solidFill>
                  <a:schemeClr val="tx1"/>
                </a:solidFill>
              </a:rPr>
              <a:t>McKinney, H.H. (1923). Influence of soil temperature and moisture on infection of wheat seedlings by Helminthosporium sativum. J. Agric. Res. 26, 195–218.</a:t>
            </a:r>
            <a:endParaRPr lang="en-US" sz="1050" dirty="0"/>
          </a:p>
          <a:p>
            <a:pPr indent="0" marL="0">
              <a:spcAft>
                <a:spcPts val="300"/>
              </a:spcAft>
              <a:buNone/>
            </a:pPr>
            <a:r>
              <a:rPr lang="en-US" sz="1050" dirty="0">
                <a:solidFill>
                  <a:schemeClr val="tx1"/>
                </a:solidFill>
              </a:rPr>
              <a:t>Mustafa, G., et al. (2023). Fusarium head blight monitoring in wheat ears using machine learning and multimodal data from asymptomatic to symptomatic periods. Front. Plant Sci. 13, 1102341.</a:t>
            </a:r>
            <a:endParaRPr lang="en-US" sz="1050" dirty="0"/>
          </a:p>
          <a:p>
            <a:pPr indent="0" marL="0">
              <a:spcAft>
                <a:spcPts val="300"/>
              </a:spcAft>
              <a:buNone/>
            </a:pPr>
            <a:r>
              <a:rPr lang="en-US" sz="1050" dirty="0">
                <a:solidFill>
                  <a:schemeClr val="tx1"/>
                </a:solidFill>
              </a:rPr>
              <a:t>Neverova, N., Wolf, C., Taylor, G., Nebout, F. (2016). ModDrop: adaptive multi-modal gesture recognition. IEEE TPAMI 38(8), 1692–1706.</a:t>
            </a:r>
            <a:endParaRPr lang="en-US" sz="1050" dirty="0"/>
          </a:p>
          <a:p>
            <a:pPr indent="0" marL="0">
              <a:spcAft>
                <a:spcPts val="300"/>
              </a:spcAft>
              <a:buNone/>
            </a:pPr>
            <a:r>
              <a:rPr lang="en-US" sz="1050" dirty="0">
                <a:solidFill>
                  <a:schemeClr val="tx1"/>
                </a:solidFill>
              </a:rPr>
              <a:t>Ngiam, J., et al. (2011). Multimodal deep learning. Proc. ICML, 689–696.</a:t>
            </a:r>
            <a:endParaRPr lang="en-US" sz="1050" dirty="0"/>
          </a:p>
          <a:p>
            <a:pPr indent="0" marL="0">
              <a:spcAft>
                <a:spcPts val="300"/>
              </a:spcAft>
              <a:buNone/>
            </a:pPr>
            <a:r>
              <a:rPr lang="en-US" sz="1050" dirty="0">
                <a:solidFill>
                  <a:schemeClr val="tx1"/>
                </a:solidFill>
              </a:rPr>
              <a:t>Olofsson, P., et al. (2014). Good practices for estimating area and assessing accuracy of land change. Remote Sens. Environ. 148, 42–57.</a:t>
            </a:r>
            <a:endParaRPr lang="en-US" sz="1050" dirty="0"/>
          </a:p>
          <a:p>
            <a:pPr indent="0" marL="0">
              <a:spcAft>
                <a:spcPts val="300"/>
              </a:spcAft>
              <a:buNone/>
            </a:pPr>
            <a:r>
              <a:rPr lang="en-US" sz="1050" dirty="0">
                <a:solidFill>
                  <a:schemeClr val="tx1"/>
                </a:solidFill>
              </a:rPr>
              <a:t>Pan, Q., et al. (2021). A deep-learning-based approach for wheat yellow rust disease recognition from unmanned aerial vehicle images. Sensors 21(19), 6540.</a:t>
            </a:r>
            <a:endParaRPr lang="en-US" sz="1050" dirty="0"/>
          </a:p>
          <a:p>
            <a:pPr indent="0" marL="0">
              <a:spcAft>
                <a:spcPts val="300"/>
              </a:spcAft>
              <a:buNone/>
            </a:pPr>
            <a:r>
              <a:rPr lang="en-US" sz="1050" dirty="0">
                <a:solidFill>
                  <a:schemeClr val="tx1"/>
                </a:solidFill>
              </a:rPr>
              <a:t>Platt, J. (1999). Probabilistic outputs for support vector machines and comparisons to regularized likelihood methods. In: Advances in Large Margin Classifiers, MIT Press.</a:t>
            </a:r>
            <a:endParaRPr lang="en-US" sz="1050" dirty="0"/>
          </a:p>
          <a:p>
            <a:pPr indent="0" marL="0">
              <a:spcAft>
                <a:spcPts val="300"/>
              </a:spcAft>
              <a:buNone/>
            </a:pPr>
            <a:r>
              <a:rPr lang="en-US" sz="1050" dirty="0">
                <a:solidFill>
                  <a:schemeClr val="tx1"/>
                </a:solidFill>
              </a:rPr>
              <a:t>Pohl, C., Van Genderen, J.L. (1998). Multisensor image fusion in remote sensing: concepts, methods and applications. Int. J. Remote Sens. 19(5), 823–854.</a:t>
            </a:r>
            <a:endParaRPr lang="en-US" sz="1050" dirty="0"/>
          </a:p>
          <a:p>
            <a:pPr indent="0" marL="0">
              <a:spcAft>
                <a:spcPts val="300"/>
              </a:spcAft>
              <a:buNone/>
            </a:pPr>
            <a:r>
              <a:rPr lang="en-US" sz="1050" dirty="0">
                <a:solidFill>
                  <a:schemeClr val="tx1"/>
                </a:solidFill>
              </a:rPr>
              <a:t>Pudil, P., Novovičová, J., Kittler, J. (1994). Floating search methods in feature selection. Pattern Recognit. Lett. 15, 1119–1125.</a:t>
            </a:r>
            <a:endParaRPr lang="en-US" sz="1050" dirty="0"/>
          </a:p>
          <a:p>
            <a:pPr indent="0" marL="0">
              <a:spcAft>
                <a:spcPts val="300"/>
              </a:spcAft>
              <a:buNone/>
            </a:pPr>
            <a:r>
              <a:rPr lang="en-US" sz="1050" dirty="0">
                <a:solidFill>
                  <a:schemeClr val="tx1"/>
                </a:solidFill>
              </a:rPr>
              <a:t>Quadrianto, N., Smola, A.J., Caetano, T.S., Le, Q.V. (2009). Estimating labels from label proportions. J. Mach. Learn. Res. 10, 2349–2374.</a:t>
            </a:r>
            <a:endParaRPr lang="en-US" sz="1050" dirty="0"/>
          </a:p>
          <a:p>
            <a:pPr indent="0" marL="0">
              <a:spcAft>
                <a:spcPts val="300"/>
              </a:spcAft>
              <a:buNone/>
            </a:pPr>
            <a:r>
              <a:rPr lang="en-US" sz="1050" dirty="0">
                <a:solidFill>
                  <a:schemeClr val="tx1"/>
                </a:solidFill>
              </a:rPr>
              <a:t>Ramachandram, D., Taylor, G.W. (2017). Deep multimodal learning: a survey on recent advances and trends. IEEE Signal Process. Mag. 34(6), 96–108.</a:t>
            </a:r>
            <a:endParaRPr lang="en-US" sz="1050" dirty="0"/>
          </a:p>
          <a:p>
            <a:pPr indent="0" marL="0">
              <a:spcAft>
                <a:spcPts val="300"/>
              </a:spcAft>
              <a:buNone/>
            </a:pPr>
            <a:r>
              <a:rPr lang="en-US" sz="1050" dirty="0">
                <a:solidFill>
                  <a:schemeClr val="tx1"/>
                </a:solidFill>
              </a:rPr>
              <a:t>Roberts, D.R., et al. (2017). Cross-validation strategies for data with temporal, spatial, hierarchical, or phylogenetic structure. Ecography 40, 913–929.</a:t>
            </a:r>
            <a:endParaRPr lang="en-US" sz="1050" dirty="0"/>
          </a:p>
          <a:p>
            <a:pPr indent="0" marL="0">
              <a:spcAft>
                <a:spcPts val="300"/>
              </a:spcAft>
              <a:buNone/>
            </a:pPr>
            <a:r>
              <a:rPr lang="en-US" sz="1050" dirty="0">
                <a:solidFill>
                  <a:schemeClr val="tx1"/>
                </a:solidFill>
              </a:rPr>
              <a:t>Ronneberger, O., Fischer, P., Brox, T. (2015). U-Net: convolutional networks for biomedical image segmentation. Proc. MICCAI, 234–241.</a:t>
            </a:r>
            <a:endParaRPr lang="en-US" sz="1050" dirty="0"/>
          </a:p>
          <a:p>
            <a:pPr indent="0" marL="0">
              <a:spcAft>
                <a:spcPts val="300"/>
              </a:spcAft>
              <a:buNone/>
            </a:pPr>
            <a:r>
              <a:rPr lang="en-US" sz="1050" dirty="0">
                <a:solidFill>
                  <a:schemeClr val="tx1"/>
                </a:solidFill>
              </a:rPr>
              <a:t>Roy, S.K., et al. (2020). HybridSN: exploring 3-D–2-D CNN feature hierarchy for hyperspectral image classification. IEEE GRSL 17(2), 277–281.</a:t>
            </a:r>
            <a:endParaRPr lang="en-US" sz="1050" dirty="0"/>
          </a:p>
          <a:p>
            <a:pPr indent="0" marL="0">
              <a:spcAft>
                <a:spcPts val="300"/>
              </a:spcAft>
              <a:buNone/>
            </a:pPr>
            <a:r>
              <a:rPr lang="en-US" sz="1050" dirty="0">
                <a:solidFill>
                  <a:schemeClr val="tx1"/>
                </a:solidFill>
              </a:rPr>
              <a:t>Selvaraju, R.R., et al. (2017). Grad-CAM: visual explanations from deep networks via gradient-based localization. Proc. ICCV, 618–626.</a:t>
            </a:r>
            <a:endParaRPr lang="en-US" sz="1050" dirty="0"/>
          </a:p>
          <a:p>
            <a:pPr indent="0" marL="0">
              <a:spcAft>
                <a:spcPts val="300"/>
              </a:spcAft>
              <a:buNone/>
            </a:pPr>
            <a:r>
              <a:rPr lang="en-US" sz="1050" dirty="0">
                <a:solidFill>
                  <a:schemeClr val="tx1"/>
                </a:solidFill>
              </a:rPr>
              <a:t>Shafer, G. (1976). A Mathematical Theory of Evidence. Princeton University Press.</a:t>
            </a:r>
            <a:endParaRPr lang="en-US" sz="1050" dirty="0"/>
          </a:p>
          <a:p>
            <a:pPr indent="0" marL="0">
              <a:spcAft>
                <a:spcPts val="300"/>
              </a:spcAft>
              <a:buNone/>
            </a:pPr>
            <a:r>
              <a:rPr lang="en-US" sz="1050" dirty="0">
                <a:solidFill>
                  <a:schemeClr val="tx1"/>
                </a:solidFill>
              </a:rPr>
              <a:t>Shafiee, S., et al. (2021). Sequential forward selection and support vector regression in comparison to LASSO regression for spring wheat yield prediction based on UAV imagery. Comput. Electron. Agric. 183, 106036.</a:t>
            </a:r>
            <a:endParaRPr lang="en-US" sz="1050" dirty="0"/>
          </a:p>
          <a:p>
            <a:pPr indent="0" marL="0">
              <a:spcAft>
                <a:spcPts val="300"/>
              </a:spcAft>
              <a:buNone/>
            </a:pPr>
            <a:r>
              <a:rPr lang="en-US" sz="1050" dirty="0">
                <a:solidFill>
                  <a:schemeClr val="tx1"/>
                </a:solidFill>
              </a:rPr>
              <a:t>Shi, Y., et al. (2022). Novel CropdocNet model for automated potato late blight disease detection from UAV-based hyperspectral imagery. Remote Sens. 14(2), 396.</a:t>
            </a:r>
            <a:endParaRPr lang="en-US" sz="1050" dirty="0"/>
          </a:p>
          <a:p>
            <a:pPr indent="0" marL="0">
              <a:spcAft>
                <a:spcPts val="300"/>
              </a:spcAft>
              <a:buNone/>
            </a:pPr>
            <a:r>
              <a:rPr lang="en-US" sz="1050" dirty="0">
                <a:solidFill>
                  <a:schemeClr val="tx1"/>
                </a:solidFill>
              </a:rPr>
              <a:t>Snoek, C.G.M., Worring, M., Smeulders, A.W.M. (2005). Early versus late fusion in semantic video analysis. Proc. ACM Multimedia, 399–402.</a:t>
            </a:r>
            <a:endParaRPr lang="en-US" sz="105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500" b="1" dirty="0">
                <a:solidFill>
                  <a:schemeClr val="tx1"/>
                </a:solidFill>
              </a:rPr>
              <a:t>References (4/4)</a:t>
            </a:r>
            <a:endParaRPr lang="en-US" sz="2500" dirty="0"/>
          </a:p>
        </p:txBody>
      </p:sp>
      <p:sp>
        <p:nvSpPr>
          <p:cNvPr id="3" name="Text 1"/>
          <p:cNvSpPr txBox="1"/>
          <p:nvPr/>
        </p:nvSpPr>
        <p:spPr>
          <a:xfrm>
            <a:off x="457200" y="155448"/>
            <a:ext cx="54864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REFERENCES</a:t>
            </a:r>
            <a:endParaRPr lang="en-US" sz="1100" dirty="0"/>
          </a:p>
        </p:txBody>
      </p:sp>
      <p:sp>
        <p:nvSpPr>
          <p:cNvPr id="4" name="Text 2"/>
          <p:cNvSpPr txBox="1"/>
          <p:nvPr/>
        </p:nvSpPr>
        <p:spPr>
          <a:xfrm>
            <a:off x="457200" y="1143000"/>
            <a:ext cx="11274552" cy="5212080"/>
          </a:xfrm>
          <a:prstGeom prst="rect">
            <a:avLst/>
          </a:prstGeom>
          <a:noFill/>
          <a:ln/>
        </p:spPr>
        <p:txBody>
          <a:bodyPr wrap="square" lIns="0" tIns="0" rIns="0" bIns="0" rtlCol="0" anchor="t"/>
          <a:lstStyle/>
          <a:p>
            <a:pPr indent="0" marL="0">
              <a:spcAft>
                <a:spcPts val="300"/>
              </a:spcAft>
              <a:buNone/>
            </a:pPr>
            <a:r>
              <a:rPr lang="en-US" sz="1050" dirty="0">
                <a:solidFill>
                  <a:schemeClr val="tx1"/>
                </a:solidFill>
              </a:rPr>
              <a:t>Su, J., et al. (2018). Wheat yellow rust monitoring by learning from multispectral UAV aerial imagery. Comput. Electron. Agric. 155, 157–166.</a:t>
            </a:r>
            <a:endParaRPr lang="en-US" sz="1050" dirty="0"/>
          </a:p>
          <a:p>
            <a:pPr indent="0" marL="0">
              <a:spcAft>
                <a:spcPts val="300"/>
              </a:spcAft>
              <a:buNone/>
            </a:pPr>
            <a:r>
              <a:rPr lang="en-US" sz="1050" dirty="0">
                <a:solidFill>
                  <a:schemeClr val="tx1"/>
                </a:solidFill>
              </a:rPr>
              <a:t>Tian, L., et al. (2021). Spectroscopic detection of rice leaf blast infection from asymptomatic to mild stages with integrated machine learning and feature selection. Remote Sens. Environ. 257, 112350.</a:t>
            </a:r>
            <a:endParaRPr lang="en-US" sz="1050" dirty="0"/>
          </a:p>
          <a:p>
            <a:pPr indent="0" marL="0">
              <a:spcAft>
                <a:spcPts val="300"/>
              </a:spcAft>
              <a:buNone/>
            </a:pPr>
            <a:r>
              <a:rPr lang="en-US" sz="1050" dirty="0">
                <a:solidFill>
                  <a:schemeClr val="tx1"/>
                </a:solidFill>
              </a:rPr>
              <a:t>Tibshirani, R. (1996). Regression shrinkage and selection via the lasso. J. R. Stat. Soc. B 58(1), 267–288.</a:t>
            </a:r>
            <a:endParaRPr lang="en-US" sz="1050" dirty="0"/>
          </a:p>
          <a:p>
            <a:pPr indent="0" marL="0">
              <a:spcAft>
                <a:spcPts val="300"/>
              </a:spcAft>
              <a:buNone/>
            </a:pPr>
            <a:r>
              <a:rPr lang="en-US" sz="1050" dirty="0">
                <a:solidFill>
                  <a:schemeClr val="tx1"/>
                </a:solidFill>
              </a:rPr>
              <a:t>Varma, S., Simon, R. (2006). Bias in error estimation when using cross-validation for model selection. BMC Bioinformatics 7, 91.</a:t>
            </a:r>
            <a:endParaRPr lang="en-US" sz="1050" dirty="0"/>
          </a:p>
          <a:p>
            <a:pPr indent="0" marL="0">
              <a:spcAft>
                <a:spcPts val="300"/>
              </a:spcAft>
              <a:buNone/>
            </a:pPr>
            <a:r>
              <a:rPr lang="en-US" sz="1050" dirty="0">
                <a:solidFill>
                  <a:schemeClr val="tx1"/>
                </a:solidFill>
              </a:rPr>
              <a:t>Vaswani, A., et al. (2017). Attention is all you need. Proc. NeurIPS, 5998–6008.</a:t>
            </a:r>
            <a:endParaRPr lang="en-US" sz="1050" dirty="0"/>
          </a:p>
          <a:p>
            <a:pPr indent="0" marL="0">
              <a:spcAft>
                <a:spcPts val="300"/>
              </a:spcAft>
              <a:buNone/>
            </a:pPr>
            <a:r>
              <a:rPr lang="en-US" sz="1050" dirty="0">
                <a:solidFill>
                  <a:schemeClr val="tx1"/>
                </a:solidFill>
              </a:rPr>
              <a:t>Vivone, G., et al. (2015). A critical comparison among pansharpening algorithms. IEEE TGRS 53(5), 2565–2586.</a:t>
            </a:r>
            <a:endParaRPr lang="en-US" sz="1050" dirty="0"/>
          </a:p>
          <a:p>
            <a:pPr indent="0" marL="0">
              <a:spcAft>
                <a:spcPts val="300"/>
              </a:spcAft>
              <a:buNone/>
            </a:pPr>
            <a:r>
              <a:rPr lang="en-US" sz="1050" dirty="0">
                <a:solidFill>
                  <a:schemeClr val="tx1"/>
                </a:solidFill>
              </a:rPr>
              <a:t>Wald, L., Ranchin, T., Mangolini, M. (1997). Fusion of satellite images of different spatial resolutions: assessing the quality of resulting images. Photogramm. Eng. Remote Sens. 63(6), 691–699.</a:t>
            </a:r>
            <a:endParaRPr lang="en-US" sz="1050" dirty="0"/>
          </a:p>
          <a:p>
            <a:pPr indent="0" marL="0">
              <a:spcAft>
                <a:spcPts val="300"/>
              </a:spcAft>
              <a:buNone/>
            </a:pPr>
            <a:r>
              <a:rPr lang="en-US" sz="1050" dirty="0">
                <a:solidFill>
                  <a:schemeClr val="tx1"/>
                </a:solidFill>
              </a:rPr>
              <a:t>Wang, W., Tran, D., Feiszli, M. (2020). What makes training multi-modal classification networks hard? Proc. CVPR, 12695–12705.</a:t>
            </a:r>
            <a:endParaRPr lang="en-US" sz="1050" dirty="0"/>
          </a:p>
          <a:p>
            <a:pPr indent="0" marL="0">
              <a:spcAft>
                <a:spcPts val="300"/>
              </a:spcAft>
              <a:buNone/>
            </a:pPr>
            <a:r>
              <a:rPr lang="en-US" sz="1050" dirty="0">
                <a:solidFill>
                  <a:schemeClr val="tx1"/>
                </a:solidFill>
              </a:rPr>
              <a:t>Wang, Z., Bovik, A.C., Sheikh, H.R., Simoncelli, E.P. (2004). Image quality assessment: from error visibility to structural similarity. IEEE Trans. Image Process. 13(4), 600–612.</a:t>
            </a:r>
            <a:endParaRPr lang="en-US" sz="1050" dirty="0"/>
          </a:p>
          <a:p>
            <a:pPr indent="0" marL="0">
              <a:spcAft>
                <a:spcPts val="300"/>
              </a:spcAft>
              <a:buNone/>
            </a:pPr>
            <a:r>
              <a:rPr lang="en-US" sz="1050" dirty="0">
                <a:solidFill>
                  <a:schemeClr val="tx1"/>
                </a:solidFill>
              </a:rPr>
              <a:t>Whetton, R.L., Waine, T.W., Mouazen, A.M. (2018). Hyperspectral measurements of yellow rust and fusarium head blight in cereal crops: Part 2. Biosyst. Eng. 167, 144–158.</a:t>
            </a:r>
            <a:endParaRPr lang="en-US" sz="1050" dirty="0"/>
          </a:p>
          <a:p>
            <a:pPr indent="0" marL="0">
              <a:spcAft>
                <a:spcPts val="300"/>
              </a:spcAft>
              <a:buNone/>
            </a:pPr>
            <a:r>
              <a:rPr lang="en-US" sz="1050" dirty="0">
                <a:solidFill>
                  <a:schemeClr val="tx1"/>
                </a:solidFill>
              </a:rPr>
              <a:t>Wold, S., Sjöström, M., Eriksson, L. (2001). PLS-regression: a basic tool of chemometrics. Chemom. Intell. Lab. Syst. 58, 109–130.</a:t>
            </a:r>
            <a:endParaRPr lang="en-US" sz="1050" dirty="0"/>
          </a:p>
          <a:p>
            <a:pPr indent="0" marL="0">
              <a:spcAft>
                <a:spcPts val="300"/>
              </a:spcAft>
              <a:buNone/>
            </a:pPr>
            <a:r>
              <a:rPr lang="en-US" sz="1050" dirty="0">
                <a:solidFill>
                  <a:schemeClr val="tx1"/>
                </a:solidFill>
              </a:rPr>
              <a:t>Wolpert, D.H. (1992). Stacked generalization. Neural Networks 5(2), 241–259.</a:t>
            </a:r>
            <a:endParaRPr lang="en-US" sz="1050" dirty="0"/>
          </a:p>
          <a:p>
            <a:pPr indent="0" marL="0">
              <a:spcAft>
                <a:spcPts val="300"/>
              </a:spcAft>
              <a:buNone/>
            </a:pPr>
            <a:r>
              <a:rPr lang="en-US" sz="1050" dirty="0">
                <a:solidFill>
                  <a:schemeClr val="tx1"/>
                </a:solidFill>
              </a:rPr>
              <a:t>Yokoya, N., Yairi, T., Iwasaki, A. (2012). Coupled nonnegative matrix factorization unmixing for hyperspectral and multispectral data fusion. IEEE TGRS 50(2), 528–537.</a:t>
            </a:r>
            <a:endParaRPr lang="en-US" sz="1050" dirty="0"/>
          </a:p>
          <a:p>
            <a:pPr indent="0" marL="0">
              <a:spcAft>
                <a:spcPts val="300"/>
              </a:spcAft>
              <a:buNone/>
            </a:pPr>
            <a:r>
              <a:rPr lang="en-US" sz="1050" dirty="0">
                <a:solidFill>
                  <a:schemeClr val="tx1"/>
                </a:solidFill>
              </a:rPr>
              <a:t>Yokoya, N., Grohnfeldt, C., Chanussot, J. (2017). Hyperspectral and multispectral data fusion: a comparative review of the recent literature. IEEE Geosci. Remote Sens. Mag. 5(2), 29–56.</a:t>
            </a:r>
            <a:endParaRPr lang="en-US" sz="1050" dirty="0"/>
          </a:p>
          <a:p>
            <a:pPr indent="0" marL="0">
              <a:spcAft>
                <a:spcPts val="300"/>
              </a:spcAft>
              <a:buNone/>
            </a:pPr>
            <a:r>
              <a:rPr lang="en-US" sz="1050" dirty="0">
                <a:solidFill>
                  <a:schemeClr val="tx1"/>
                </a:solidFill>
              </a:rPr>
              <a:t>Zarco-Tejada, P.J., et al. (2018). Previsual symptoms of Xylella fastidiosa infection revealed in spectral plant-trait alterations. Nature Plants 4, 432–439.</a:t>
            </a:r>
            <a:endParaRPr lang="en-US" sz="1050" dirty="0"/>
          </a:p>
          <a:p>
            <a:pPr indent="0" marL="0">
              <a:spcAft>
                <a:spcPts val="300"/>
              </a:spcAft>
              <a:buNone/>
            </a:pPr>
            <a:r>
              <a:rPr lang="en-US" sz="1050" dirty="0">
                <a:solidFill>
                  <a:schemeClr val="tx1"/>
                </a:solidFill>
              </a:rPr>
              <a:t>Zhang, J.-C., et al. (2012). Detecting powdery mildew of winter wheat using leaf level hyperspectral measurements. Comput. Electron. Agric. 85, 13–23.</a:t>
            </a:r>
            <a:endParaRPr lang="en-US" sz="1050" dirty="0"/>
          </a:p>
          <a:p>
            <a:pPr indent="0" marL="0">
              <a:spcAft>
                <a:spcPts val="300"/>
              </a:spcAft>
              <a:buNone/>
            </a:pPr>
            <a:r>
              <a:rPr lang="en-US" sz="1050" dirty="0">
                <a:solidFill>
                  <a:schemeClr val="tx1"/>
                </a:solidFill>
              </a:rPr>
              <a:t>Zhang, X., et al. (2019). A deep learning-based approach for automated yellow rust disease detection from high-resolution hyperspectral UAV images. Remote Sens. 11(13), 1554.</a:t>
            </a:r>
            <a:endParaRPr lang="en-US" sz="1050" dirty="0"/>
          </a:p>
          <a:p>
            <a:pPr indent="0" marL="0">
              <a:spcAft>
                <a:spcPts val="300"/>
              </a:spcAft>
              <a:buNone/>
            </a:pPr>
            <a:r>
              <a:rPr lang="en-US" sz="1050" dirty="0">
                <a:solidFill>
                  <a:schemeClr val="tx1"/>
                </a:solidFill>
              </a:rPr>
              <a:t>Zitová, B., Flusser, J. (2003). Image registration methods: a survey. Image Vis. Comput. 21(11), 977–1000.</a:t>
            </a:r>
            <a:endParaRPr lang="en-US" sz="105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50</a:t>
            </a:fld>
            <a:endParaRPr lang="en-US"/>
          </a:p>
        </p:txBody>
      </p:sp>
    </p:spTree>
  </p:cSld>
  <p:clrMapOvr>
    <a:masterClrMapping/>
  </p:clrMapOvr>
</p:sld>
</file>

<file path=ppt/theme/theme1.xml><?xml version="1.0" encoding="utf-8"?>
<a:theme xmlns:a="http://schemas.openxmlformats.org/drawingml/2006/main" name="MuDAS-AI Fusion">
  <a:themeElements>
    <a:clrScheme name="MuDAS-AI Fusion">
      <a:dk1>
        <a:srgbClr val="0D1B1F"/>
      </a:dk1>
      <a:lt1>
        <a:srgbClr val="FFFFFF"/>
      </a:lt1>
      <a:dk2>
        <a:srgbClr val="1F3A40"/>
      </a:dk2>
      <a:lt2>
        <a:srgbClr val="EEF6F5"/>
      </a:lt2>
      <a:accent1>
        <a:srgbClr val="1CB8B2"/>
      </a:accent1>
      <a:accent2>
        <a:srgbClr val="7DBE4B"/>
      </a:accent2>
      <a:accent3>
        <a:srgbClr val="E0A526"/>
      </a:accent3>
      <a:accent4>
        <a:srgbClr val="C0503A"/>
      </a:accent4>
      <a:accent5>
        <a:srgbClr val="3B82F6"/>
      </a:accent5>
      <a:accent6>
        <a:srgbClr val="8E5BD6"/>
      </a:accent6>
      <a:hlink>
        <a:srgbClr val="1C7C78"/>
      </a:hlink>
      <a:folHlink>
        <a:srgbClr val="5E7A7E"/>
      </a:folHlink>
    </a:clrScheme>
    <a:fontScheme name="MuDAS-AI Fusio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Multimodal image fusion for UAV disease severity assessment</dc:title>
  <dc:subject>PptxGenJS Presentation</dc:subject>
  <dc:creator>Animesh Panda</dc:creator>
  <cp:lastModifiedBy>Animesh Panda</cp:lastModifiedBy>
  <cp:revision>1</cp:revision>
  <dcterms:created xsi:type="dcterms:W3CDTF">2026-10-12T08:17:49Z</dcterms:created>
  <dcterms:modified xsi:type="dcterms:W3CDTF">2026-10-12T08:17:49Z</dcterms:modified>
</cp:coreProperties>
</file>