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7 · Evidence" id="{926f688b-985f-980e-c1cf-06703f523123}">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pulls together the evidence from the last four slides into one picture: what aerosols do to the productivity of terrestrial ecosystems, and under what conditions the effect is positive or negative.
The top row gives the net effect by ecosystem. Forests gain: in boreal forests Ezhova and colleagues, 2018, found GPP rose by 6 to 14 percent as aerosol raised the diffuse fraction, and in the Amazon Oliveira and colleagues, 2007, found net ecosystem exchange rose by 8.4 to 16 percent at moderate smoke. Grasslands and savannas gain little or lose: Strada and colleagues, 2015, found that AOD above 0.6 had a negative effect on grasslands and croplands, and Kanniah and colleagues, 2010, found no significant change in an Australian savanna. Crops mostly lose in polluted regions: in India, Gupta and colleagues, 2024, found aerosol lowered rice yield by 7.9 percent and maize by 8.8 percent over 1998 to 2019; in China, Tie and colleagues, 2016, found national wheat lower by 8 percent and rice by 2 percent; and in the United States, Liu and Desai, 2021, attributed an 11.3 percent maize and 23.2 percent soybean yield loss to aerosol. At the global scale the net effect on land is a gain: Zhou and colleagues, 2022, estimated that aerosol diffuse fertilisation raises global GPP by 0.95 petagrams of carbon per year under all-sky conditions, and Mercado and colleagues, 2009, estimated that it raised the land carbon sink by about a quarter between 1960 and 1999. This gain comes mostly from forests.
The two columns explain why the sign changes. Productivity rises when four conditions meet. First, the aerosol must mainly scatter light, like sulfate, organic aerosol or wildfire smoke; Gu and colleagues, 2003, showed that sulfate from Mount Pinatubo raised noon photosynthesis at Harvard Forest by 23 percent in 1992, and Hemes and colleagues, 2020, found scattering wildfire smoke raised wetland GPP by 1.2 to 4.1 percent. Second, the load must be low to moderate; in the Amazon the gain held up to AOD 1.26. Third, the canopy must be tall and multilayer, because diffuse light comes from all directions and reaches shaded leaves that are light-limited under direct sun, while sunlit leaves at the top are already saturated. Fourth, the sky must be otherwise clear: Zhou and colleagues, 2022, found a GPP gain of 8.91 petagrams under clear skies against 0.95 under all-sky conditions.
Productivity falls under the opposite conditions. Absorbing aerosol such as black carbon removes light without adding much diffuse light; Curado and colleagues, 2024, found it reduced PAR and carbon assimilation in the Brazilian Pantanal, and Zhou and colleagues, 2022, found black carbon reduces global GPP by 0.28 petagrams per year. Very high loading cuts total light so much that the diffuse gain cannot compensate: above AOD 0.6 for grassland and crops, Strada and colleagues, 2015, and above AOD 1.7 for tropical forest, Oliveira and colleagues, 2007. Short, open canopies have few shaded leaves to benefit; Matsui and colleagues, 2008, found the effect negligible for croplands and grasslands with leaf area index below 3. And under cloud the light is already diffuse, so aerosol adds little; Cirino and colleagues, 2014, found aerosol could not increase photosynthesis under cloudy conditions.
The overall message is that aerosol acts as a diffuse-light fertiliser only up to a threshold. Hari and Tyagi, 2022, showed this directly for India: in the agricultural zones diffuse PAR increased with AOD only up to about 0.54 and then decreased. Beyond such a threshold, the loss of total light dominates. This is why natural forests show a net gain while crops in heavily polluted regions such as the Indo-Gangetic Plain and eastern China mostly show losses.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7 · Evidence</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Aerosol impact on terrestrial ecosystem productivity</a:t>
            </a:r>
            <a:endParaRPr lang="en-US" sz="2800" dirty="0"/>
          </a:p>
        </p:txBody>
      </p:sp>
      <p:sp>
        <p:nvSpPr>
          <p:cNvPr id="4" name="Forests panel"/>
          <p:cNvSpPr/>
          <p:nvPr/>
        </p:nvSpPr>
        <p:spPr>
          <a:xfrm>
            <a:off x="457200" y="1280160"/>
            <a:ext cx="2651760" cy="1188720"/>
          </a:xfrm>
          <a:prstGeom prst="roundRect">
            <a:avLst>
              <a:gd name="adj" fmla="val 538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Forests marker"/>
          <p:cNvSpPr/>
          <p:nvPr/>
        </p:nvSpPr>
        <p:spPr>
          <a:xfrm>
            <a:off x="457200" y="1389888"/>
            <a:ext cx="64008" cy="969264"/>
          </a:xfrm>
          <a:prstGeom prst="rect">
            <a:avLst/>
          </a:prstGeom>
          <a:solidFill>
            <a:schemeClr val="accent3"/>
          </a:solidFill>
          <a:ln w="12700">
            <a:solidFill>
              <a:schemeClr val="accent3"/>
            </a:solidFill>
            <a:prstDash val="solid"/>
          </a:ln>
        </p:spPr>
      </p:sp>
      <p:sp>
        <p:nvSpPr>
          <p:cNvPr id="6" name="Forests name"/>
          <p:cNvSpPr txBox="1"/>
          <p:nvPr/>
        </p:nvSpPr>
        <p:spPr>
          <a:xfrm>
            <a:off x="658368" y="1389888"/>
            <a:ext cx="2340864" cy="274320"/>
          </a:xfrm>
          <a:prstGeom prst="rect">
            <a:avLst/>
          </a:prstGeom>
          <a:noFill/>
          <a:ln/>
        </p:spPr>
        <p:txBody>
          <a:bodyPr wrap="square" lIns="0" tIns="0" rIns="0" bIns="0" rtlCol="0" anchor="t"/>
          <a:lstStyle/>
          <a:p>
            <a:pPr indent="0" marL="0">
              <a:buNone/>
            </a:pPr>
            <a:r>
              <a:rPr lang="en-US" sz="1400" b="1" dirty="0">
                <a:solidFill>
                  <a:schemeClr val="tx2"/>
                </a:solidFill>
              </a:rPr>
              <a:t>Forests</a:t>
            </a:r>
            <a:r>
              <a:rPr lang="en-US" sz="1400" dirty="0">
                <a:solidFill>
                  <a:schemeClr val="tx2"/>
                </a:solidFill>
              </a:rPr>
              <a:t>  </a:t>
            </a:r>
            <a:endParaRPr lang="en-US" sz="1400" dirty="0"/>
          </a:p>
        </p:txBody>
      </p:sp>
      <p:sp>
        <p:nvSpPr>
          <p:cNvPr id="7" name="Forests tag"/>
          <p:cNvSpPr txBox="1"/>
          <p:nvPr/>
        </p:nvSpPr>
        <p:spPr>
          <a:xfrm>
            <a:off x="658368" y="1664208"/>
            <a:ext cx="2340864" cy="256032"/>
          </a:xfrm>
          <a:prstGeom prst="rect">
            <a:avLst/>
          </a:prstGeom>
          <a:noFill/>
          <a:ln/>
        </p:spPr>
        <p:txBody>
          <a:bodyPr wrap="square" lIns="0" tIns="0" rIns="0" bIns="0" rtlCol="0" anchor="ctr"/>
          <a:lstStyle/>
          <a:p>
            <a:pPr indent="0" marL="0">
              <a:buNone/>
            </a:pPr>
            <a:r>
              <a:rPr lang="en-US" sz="1400" b="1" dirty="0">
                <a:solidFill>
                  <a:schemeClr val="accent3"/>
                </a:solidFill>
              </a:rPr>
              <a:t>Gain</a:t>
            </a:r>
            <a:endParaRPr lang="en-US" sz="1400" dirty="0"/>
          </a:p>
        </p:txBody>
      </p:sp>
      <p:sp>
        <p:nvSpPr>
          <p:cNvPr id="8" name="Forests value"/>
          <p:cNvSpPr txBox="1"/>
          <p:nvPr/>
        </p:nvSpPr>
        <p:spPr>
          <a:xfrm>
            <a:off x="658368" y="1920240"/>
            <a:ext cx="2340864" cy="256032"/>
          </a:xfrm>
          <a:prstGeom prst="rect">
            <a:avLst/>
          </a:prstGeom>
          <a:noFill/>
          <a:ln/>
        </p:spPr>
        <p:txBody>
          <a:bodyPr wrap="square" lIns="0" tIns="0" rIns="0" bIns="0" rtlCol="0" anchor="t"/>
          <a:lstStyle/>
          <a:p>
            <a:pPr indent="0" marL="0">
              <a:buNone/>
            </a:pPr>
            <a:r>
              <a:rPr lang="en-US" sz="1400" dirty="0">
                <a:solidFill>
                  <a:schemeClr val="tx1"/>
                </a:solidFill>
              </a:rPr>
              <a:t>GPP +6–14% in boreal forest</a:t>
            </a:r>
            <a:endParaRPr lang="en-US" sz="1400" dirty="0"/>
          </a:p>
        </p:txBody>
      </p:sp>
      <p:sp>
        <p:nvSpPr>
          <p:cNvPr id="9" name="Forests ref"/>
          <p:cNvSpPr txBox="1"/>
          <p:nvPr/>
        </p:nvSpPr>
        <p:spPr>
          <a:xfrm>
            <a:off x="658368" y="2167128"/>
            <a:ext cx="2340864" cy="237744"/>
          </a:xfrm>
          <a:prstGeom prst="rect">
            <a:avLst/>
          </a:prstGeom>
          <a:noFill/>
          <a:ln/>
        </p:spPr>
        <p:txBody>
          <a:bodyPr wrap="square" lIns="0" tIns="0" rIns="0" bIns="0" rtlCol="0" anchor="t"/>
          <a:lstStyle/>
          <a:p>
            <a:pPr indent="0" marL="0">
              <a:buNone/>
            </a:pPr>
            <a:r>
              <a:rPr lang="en-US" sz="1400" i="1" dirty="0">
                <a:solidFill>
                  <a:schemeClr val="accent1"/>
                </a:solidFill>
              </a:rPr>
              <a:t>Ezhova et al., 2018</a:t>
            </a:r>
            <a:endParaRPr lang="en-US" sz="1400" dirty="0"/>
          </a:p>
        </p:txBody>
      </p:sp>
      <p:sp>
        <p:nvSpPr>
          <p:cNvPr id="10" name="Grassland &amp; savanna panel"/>
          <p:cNvSpPr/>
          <p:nvPr/>
        </p:nvSpPr>
        <p:spPr>
          <a:xfrm>
            <a:off x="3331464" y="1280160"/>
            <a:ext cx="2651760" cy="1188720"/>
          </a:xfrm>
          <a:prstGeom prst="roundRect">
            <a:avLst>
              <a:gd name="adj" fmla="val 538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1" name="Grassland &amp; savanna marker"/>
          <p:cNvSpPr/>
          <p:nvPr/>
        </p:nvSpPr>
        <p:spPr>
          <a:xfrm>
            <a:off x="3331464" y="1389888"/>
            <a:ext cx="64008" cy="969264"/>
          </a:xfrm>
          <a:prstGeom prst="rect">
            <a:avLst/>
          </a:prstGeom>
          <a:solidFill>
            <a:schemeClr val="accent2"/>
          </a:solidFill>
          <a:ln w="12700">
            <a:solidFill>
              <a:schemeClr val="accent2"/>
            </a:solidFill>
            <a:prstDash val="solid"/>
          </a:ln>
        </p:spPr>
      </p:sp>
      <p:sp>
        <p:nvSpPr>
          <p:cNvPr id="12" name="Grassland &amp; savanna name"/>
          <p:cNvSpPr txBox="1"/>
          <p:nvPr/>
        </p:nvSpPr>
        <p:spPr>
          <a:xfrm>
            <a:off x="3532632" y="1389888"/>
            <a:ext cx="2340864" cy="274320"/>
          </a:xfrm>
          <a:prstGeom prst="rect">
            <a:avLst/>
          </a:prstGeom>
          <a:noFill/>
          <a:ln/>
        </p:spPr>
        <p:txBody>
          <a:bodyPr wrap="square" lIns="0" tIns="0" rIns="0" bIns="0" rtlCol="0" anchor="t"/>
          <a:lstStyle/>
          <a:p>
            <a:pPr indent="0" marL="0">
              <a:buNone/>
            </a:pPr>
            <a:r>
              <a:rPr lang="en-US" sz="1400" b="1" dirty="0">
                <a:solidFill>
                  <a:schemeClr val="tx2"/>
                </a:solidFill>
              </a:rPr>
              <a:t>Grassland &amp; savanna</a:t>
            </a:r>
            <a:r>
              <a:rPr lang="en-US" sz="1400" dirty="0">
                <a:solidFill>
                  <a:schemeClr val="tx2"/>
                </a:solidFill>
              </a:rPr>
              <a:t>  </a:t>
            </a:r>
            <a:endParaRPr lang="en-US" sz="1400" dirty="0"/>
          </a:p>
        </p:txBody>
      </p:sp>
      <p:sp>
        <p:nvSpPr>
          <p:cNvPr id="13" name="Grassland &amp; savanna tag"/>
          <p:cNvSpPr txBox="1"/>
          <p:nvPr/>
        </p:nvSpPr>
        <p:spPr>
          <a:xfrm>
            <a:off x="3532632" y="1664208"/>
            <a:ext cx="2340864" cy="256032"/>
          </a:xfrm>
          <a:prstGeom prst="rect">
            <a:avLst/>
          </a:prstGeom>
          <a:noFill/>
          <a:ln/>
        </p:spPr>
        <p:txBody>
          <a:bodyPr wrap="square" lIns="0" tIns="0" rIns="0" bIns="0" rtlCol="0" anchor="ctr"/>
          <a:lstStyle/>
          <a:p>
            <a:pPr indent="0" marL="0">
              <a:buNone/>
            </a:pPr>
            <a:r>
              <a:rPr lang="en-US" sz="1400" b="1" dirty="0">
                <a:solidFill>
                  <a:schemeClr val="accent2"/>
                </a:solidFill>
              </a:rPr>
              <a:t>Little or loss</a:t>
            </a:r>
            <a:endParaRPr lang="en-US" sz="1400" dirty="0"/>
          </a:p>
        </p:txBody>
      </p:sp>
      <p:sp>
        <p:nvSpPr>
          <p:cNvPr id="14" name="Grassland &amp; savanna value"/>
          <p:cNvSpPr txBox="1"/>
          <p:nvPr/>
        </p:nvSpPr>
        <p:spPr>
          <a:xfrm>
            <a:off x="3532632" y="1920240"/>
            <a:ext cx="2340864" cy="256032"/>
          </a:xfrm>
          <a:prstGeom prst="rect">
            <a:avLst/>
          </a:prstGeom>
          <a:noFill/>
          <a:ln/>
        </p:spPr>
        <p:txBody>
          <a:bodyPr wrap="square" lIns="0" tIns="0" rIns="0" bIns="0" rtlCol="0" anchor="t"/>
          <a:lstStyle/>
          <a:p>
            <a:pPr indent="0" marL="0">
              <a:buNone/>
            </a:pPr>
            <a:r>
              <a:rPr lang="en-US" sz="1400" dirty="0">
                <a:solidFill>
                  <a:schemeClr val="tx1"/>
                </a:solidFill>
              </a:rPr>
              <a:t>Loss above AOD 0.6</a:t>
            </a:r>
            <a:endParaRPr lang="en-US" sz="1400" dirty="0"/>
          </a:p>
        </p:txBody>
      </p:sp>
      <p:sp>
        <p:nvSpPr>
          <p:cNvPr id="15" name="Grassland &amp; savanna ref"/>
          <p:cNvSpPr txBox="1"/>
          <p:nvPr/>
        </p:nvSpPr>
        <p:spPr>
          <a:xfrm>
            <a:off x="3532632" y="2167128"/>
            <a:ext cx="2340864" cy="237744"/>
          </a:xfrm>
          <a:prstGeom prst="rect">
            <a:avLst/>
          </a:prstGeom>
          <a:noFill/>
          <a:ln/>
        </p:spPr>
        <p:txBody>
          <a:bodyPr wrap="square" lIns="0" tIns="0" rIns="0" bIns="0" rtlCol="0" anchor="t"/>
          <a:lstStyle/>
          <a:p>
            <a:pPr indent="0" marL="0">
              <a:buNone/>
            </a:pPr>
            <a:r>
              <a:rPr lang="en-US" sz="1400" i="1" dirty="0">
                <a:solidFill>
                  <a:schemeClr val="accent1"/>
                </a:solidFill>
              </a:rPr>
              <a:t>Strada et al., 2015</a:t>
            </a:r>
            <a:endParaRPr lang="en-US" sz="1400" dirty="0"/>
          </a:p>
        </p:txBody>
      </p:sp>
      <p:sp>
        <p:nvSpPr>
          <p:cNvPr id="16" name="Crops panel"/>
          <p:cNvSpPr/>
          <p:nvPr/>
        </p:nvSpPr>
        <p:spPr>
          <a:xfrm>
            <a:off x="6205728" y="1280160"/>
            <a:ext cx="2651760" cy="1188720"/>
          </a:xfrm>
          <a:prstGeom prst="roundRect">
            <a:avLst>
              <a:gd name="adj" fmla="val 538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7" name="Crops marker"/>
          <p:cNvSpPr/>
          <p:nvPr/>
        </p:nvSpPr>
        <p:spPr>
          <a:xfrm>
            <a:off x="6205728" y="1389888"/>
            <a:ext cx="64008" cy="969264"/>
          </a:xfrm>
          <a:prstGeom prst="rect">
            <a:avLst/>
          </a:prstGeom>
          <a:solidFill>
            <a:schemeClr val="accent5"/>
          </a:solidFill>
          <a:ln w="12700">
            <a:solidFill>
              <a:schemeClr val="accent5"/>
            </a:solidFill>
            <a:prstDash val="solid"/>
          </a:ln>
        </p:spPr>
      </p:sp>
      <p:sp>
        <p:nvSpPr>
          <p:cNvPr id="18" name="Crops name"/>
          <p:cNvSpPr txBox="1"/>
          <p:nvPr/>
        </p:nvSpPr>
        <p:spPr>
          <a:xfrm>
            <a:off x="6406896" y="1389888"/>
            <a:ext cx="2340864" cy="274320"/>
          </a:xfrm>
          <a:prstGeom prst="rect">
            <a:avLst/>
          </a:prstGeom>
          <a:noFill/>
          <a:ln/>
        </p:spPr>
        <p:txBody>
          <a:bodyPr wrap="square" lIns="0" tIns="0" rIns="0" bIns="0" rtlCol="0" anchor="t"/>
          <a:lstStyle/>
          <a:p>
            <a:pPr indent="0" marL="0">
              <a:buNone/>
            </a:pPr>
            <a:r>
              <a:rPr lang="en-US" sz="1400" b="1" dirty="0">
                <a:solidFill>
                  <a:schemeClr val="tx2"/>
                </a:solidFill>
              </a:rPr>
              <a:t>Crops</a:t>
            </a:r>
            <a:r>
              <a:rPr lang="en-US" sz="1400" dirty="0">
                <a:solidFill>
                  <a:schemeClr val="tx2"/>
                </a:solidFill>
              </a:rPr>
              <a:t>  </a:t>
            </a:r>
            <a:endParaRPr lang="en-US" sz="1400" dirty="0"/>
          </a:p>
        </p:txBody>
      </p:sp>
      <p:sp>
        <p:nvSpPr>
          <p:cNvPr id="19" name="Crops tag"/>
          <p:cNvSpPr txBox="1"/>
          <p:nvPr/>
        </p:nvSpPr>
        <p:spPr>
          <a:xfrm>
            <a:off x="6406896" y="1664208"/>
            <a:ext cx="2340864" cy="256032"/>
          </a:xfrm>
          <a:prstGeom prst="rect">
            <a:avLst/>
          </a:prstGeom>
          <a:noFill/>
          <a:ln/>
        </p:spPr>
        <p:txBody>
          <a:bodyPr wrap="square" lIns="0" tIns="0" rIns="0" bIns="0" rtlCol="0" anchor="ctr"/>
          <a:lstStyle/>
          <a:p>
            <a:pPr indent="0" marL="0">
              <a:buNone/>
            </a:pPr>
            <a:r>
              <a:rPr lang="en-US" sz="1400" b="1" dirty="0">
                <a:solidFill>
                  <a:schemeClr val="accent5"/>
                </a:solidFill>
              </a:rPr>
              <a:t>Mostly loss</a:t>
            </a:r>
            <a:endParaRPr lang="en-US" sz="1400" dirty="0"/>
          </a:p>
        </p:txBody>
      </p:sp>
      <p:sp>
        <p:nvSpPr>
          <p:cNvPr id="20" name="Crops value"/>
          <p:cNvSpPr txBox="1"/>
          <p:nvPr/>
        </p:nvSpPr>
        <p:spPr>
          <a:xfrm>
            <a:off x="6406896" y="1920240"/>
            <a:ext cx="2340864" cy="256032"/>
          </a:xfrm>
          <a:prstGeom prst="rect">
            <a:avLst/>
          </a:prstGeom>
          <a:noFill/>
          <a:ln/>
        </p:spPr>
        <p:txBody>
          <a:bodyPr wrap="square" lIns="0" tIns="0" rIns="0" bIns="0" rtlCol="0" anchor="t"/>
          <a:lstStyle/>
          <a:p>
            <a:pPr indent="0" marL="0">
              <a:buNone/>
            </a:pPr>
            <a:r>
              <a:rPr lang="en-US" sz="1400" dirty="0">
                <a:solidFill>
                  <a:schemeClr val="tx1"/>
                </a:solidFill>
              </a:rPr>
              <a:t>Rice −7.9% in India</a:t>
            </a:r>
            <a:endParaRPr lang="en-US" sz="1400" dirty="0"/>
          </a:p>
        </p:txBody>
      </p:sp>
      <p:sp>
        <p:nvSpPr>
          <p:cNvPr id="21" name="Crops ref"/>
          <p:cNvSpPr txBox="1"/>
          <p:nvPr/>
        </p:nvSpPr>
        <p:spPr>
          <a:xfrm>
            <a:off x="6406896" y="2167128"/>
            <a:ext cx="2340864" cy="237744"/>
          </a:xfrm>
          <a:prstGeom prst="rect">
            <a:avLst/>
          </a:prstGeom>
          <a:noFill/>
          <a:ln/>
        </p:spPr>
        <p:txBody>
          <a:bodyPr wrap="square" lIns="0" tIns="0" rIns="0" bIns="0" rtlCol="0" anchor="t"/>
          <a:lstStyle/>
          <a:p>
            <a:pPr indent="0" marL="0">
              <a:buNone/>
            </a:pPr>
            <a:r>
              <a:rPr lang="en-US" sz="1400" i="1" dirty="0">
                <a:solidFill>
                  <a:schemeClr val="accent1"/>
                </a:solidFill>
              </a:rPr>
              <a:t>Gupta et al., 2024</a:t>
            </a:r>
            <a:endParaRPr lang="en-US" sz="1400" dirty="0"/>
          </a:p>
        </p:txBody>
      </p:sp>
      <p:sp>
        <p:nvSpPr>
          <p:cNvPr id="22" name="Global land panel"/>
          <p:cNvSpPr/>
          <p:nvPr/>
        </p:nvSpPr>
        <p:spPr>
          <a:xfrm>
            <a:off x="9079992" y="1280160"/>
            <a:ext cx="2651760" cy="1188720"/>
          </a:xfrm>
          <a:prstGeom prst="roundRect">
            <a:avLst>
              <a:gd name="adj" fmla="val 538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3" name="Global land marker"/>
          <p:cNvSpPr/>
          <p:nvPr/>
        </p:nvSpPr>
        <p:spPr>
          <a:xfrm>
            <a:off x="9079992" y="1389888"/>
            <a:ext cx="64008" cy="969264"/>
          </a:xfrm>
          <a:prstGeom prst="rect">
            <a:avLst/>
          </a:prstGeom>
          <a:solidFill>
            <a:schemeClr val="accent3"/>
          </a:solidFill>
          <a:ln w="12700">
            <a:solidFill>
              <a:schemeClr val="accent3"/>
            </a:solidFill>
            <a:prstDash val="solid"/>
          </a:ln>
        </p:spPr>
      </p:sp>
      <p:sp>
        <p:nvSpPr>
          <p:cNvPr id="24" name="Global land name"/>
          <p:cNvSpPr txBox="1"/>
          <p:nvPr/>
        </p:nvSpPr>
        <p:spPr>
          <a:xfrm>
            <a:off x="9281160" y="1389888"/>
            <a:ext cx="2340864" cy="274320"/>
          </a:xfrm>
          <a:prstGeom prst="rect">
            <a:avLst/>
          </a:prstGeom>
          <a:noFill/>
          <a:ln/>
        </p:spPr>
        <p:txBody>
          <a:bodyPr wrap="square" lIns="0" tIns="0" rIns="0" bIns="0" rtlCol="0" anchor="t"/>
          <a:lstStyle/>
          <a:p>
            <a:pPr indent="0" marL="0">
              <a:buNone/>
            </a:pPr>
            <a:r>
              <a:rPr lang="en-US" sz="1400" b="1" dirty="0">
                <a:solidFill>
                  <a:schemeClr val="tx2"/>
                </a:solidFill>
              </a:rPr>
              <a:t>Global land</a:t>
            </a:r>
            <a:r>
              <a:rPr lang="en-US" sz="1400" dirty="0">
                <a:solidFill>
                  <a:schemeClr val="tx2"/>
                </a:solidFill>
              </a:rPr>
              <a:t>  </a:t>
            </a:r>
            <a:endParaRPr lang="en-US" sz="1400" dirty="0"/>
          </a:p>
        </p:txBody>
      </p:sp>
      <p:sp>
        <p:nvSpPr>
          <p:cNvPr id="25" name="Global land tag"/>
          <p:cNvSpPr txBox="1"/>
          <p:nvPr/>
        </p:nvSpPr>
        <p:spPr>
          <a:xfrm>
            <a:off x="9281160" y="1664208"/>
            <a:ext cx="2340864" cy="256032"/>
          </a:xfrm>
          <a:prstGeom prst="rect">
            <a:avLst/>
          </a:prstGeom>
          <a:noFill/>
          <a:ln/>
        </p:spPr>
        <p:txBody>
          <a:bodyPr wrap="square" lIns="0" tIns="0" rIns="0" bIns="0" rtlCol="0" anchor="ctr"/>
          <a:lstStyle/>
          <a:p>
            <a:pPr indent="0" marL="0">
              <a:buNone/>
            </a:pPr>
            <a:r>
              <a:rPr lang="en-US" sz="1400" b="1" dirty="0">
                <a:solidFill>
                  <a:schemeClr val="accent3"/>
                </a:solidFill>
              </a:rPr>
              <a:t>Net gain</a:t>
            </a:r>
            <a:endParaRPr lang="en-US" sz="1400" dirty="0"/>
          </a:p>
        </p:txBody>
      </p:sp>
      <p:sp>
        <p:nvSpPr>
          <p:cNvPr id="26" name="Global land value"/>
          <p:cNvSpPr txBox="1"/>
          <p:nvPr/>
        </p:nvSpPr>
        <p:spPr>
          <a:xfrm>
            <a:off x="9281160" y="1920240"/>
            <a:ext cx="2340864" cy="256032"/>
          </a:xfrm>
          <a:prstGeom prst="rect">
            <a:avLst/>
          </a:prstGeom>
          <a:noFill/>
          <a:ln/>
        </p:spPr>
        <p:txBody>
          <a:bodyPr wrap="square" lIns="0" tIns="0" rIns="0" bIns="0" rtlCol="0" anchor="t"/>
          <a:lstStyle/>
          <a:p>
            <a:pPr indent="0" marL="0">
              <a:buNone/>
            </a:pPr>
            <a:r>
              <a:rPr lang="en-US" sz="1400" dirty="0">
                <a:solidFill>
                  <a:schemeClr val="tx1"/>
                </a:solidFill>
              </a:rPr>
              <a:t>GPP +0.95 Pg C yr</a:t>
            </a:r>
            <a:r>
              <a:rPr lang="en-US" sz="1400" baseline="30000" dirty="0">
                <a:solidFill>
                  <a:schemeClr val="tx1"/>
                </a:solidFill>
              </a:rPr>
              <a:t>−1</a:t>
            </a:r>
            <a:endParaRPr lang="en-US" sz="1400" dirty="0"/>
          </a:p>
        </p:txBody>
      </p:sp>
      <p:sp>
        <p:nvSpPr>
          <p:cNvPr id="27" name="Global land ref"/>
          <p:cNvSpPr txBox="1"/>
          <p:nvPr/>
        </p:nvSpPr>
        <p:spPr>
          <a:xfrm>
            <a:off x="9281160" y="2167128"/>
            <a:ext cx="2340864" cy="237744"/>
          </a:xfrm>
          <a:prstGeom prst="rect">
            <a:avLst/>
          </a:prstGeom>
          <a:noFill/>
          <a:ln/>
        </p:spPr>
        <p:txBody>
          <a:bodyPr wrap="square" lIns="0" tIns="0" rIns="0" bIns="0" rtlCol="0" anchor="t"/>
          <a:lstStyle/>
          <a:p>
            <a:pPr indent="0" marL="0">
              <a:buNone/>
            </a:pPr>
            <a:r>
              <a:rPr lang="en-US" sz="1400" i="1" dirty="0">
                <a:solidFill>
                  <a:schemeClr val="accent1"/>
                </a:solidFill>
              </a:rPr>
              <a:t>Zhou et al., 2022</a:t>
            </a:r>
            <a:endParaRPr lang="en-US" sz="1400" dirty="0"/>
          </a:p>
        </p:txBody>
      </p:sp>
      <p:sp>
        <p:nvSpPr>
          <p:cNvPr id="28" name="Productivity rises when card"/>
          <p:cNvSpPr/>
          <p:nvPr/>
        </p:nvSpPr>
        <p:spPr>
          <a:xfrm>
            <a:off x="457200" y="2651760"/>
            <a:ext cx="5486400" cy="2926080"/>
          </a:xfrm>
          <a:prstGeom prst="roundRect">
            <a:avLst>
              <a:gd name="adj" fmla="val 2188"/>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9" name="Productivity rises when icon"/>
          <p:cNvSpPr/>
          <p:nvPr/>
        </p:nvSpPr>
        <p:spPr>
          <a:xfrm>
            <a:off x="640080" y="2816352"/>
            <a:ext cx="384048" cy="384048"/>
          </a:xfrm>
          <a:prstGeom prst="ellipse">
            <a:avLst/>
          </a:prstGeom>
          <a:solidFill>
            <a:schemeClr val="accent3"/>
          </a:solidFill>
          <a:ln w="12700">
            <a:solidFill>
              <a:schemeClr val="accent3"/>
            </a:solidFill>
            <a:prstDash val="solid"/>
          </a:ln>
        </p:spPr>
      </p:sp>
      <p:sp>
        <p:nvSpPr>
          <p:cNvPr id="30" name="Productivity rises when icon text"/>
          <p:cNvSpPr txBox="1"/>
          <p:nvPr/>
        </p:nvSpPr>
        <p:spPr>
          <a:xfrm>
            <a:off x="640080" y="2816352"/>
            <a:ext cx="384048" cy="384048"/>
          </a:xfrm>
          <a:prstGeom prst="rect">
            <a:avLst/>
          </a:prstGeom>
          <a:noFill/>
          <a:ln/>
        </p:spPr>
        <p:txBody>
          <a:bodyPr wrap="square" lIns="0" tIns="0" rIns="0" bIns="0" rtlCol="0" anchor="ctr"/>
          <a:lstStyle/>
          <a:p>
            <a:pPr algn="ctr" indent="0" marL="0">
              <a:buNone/>
            </a:pPr>
            <a:r>
              <a:rPr lang="en-US" sz="2000" b="1" dirty="0">
                <a:solidFill>
                  <a:srgbClr val="FFFFFF"/>
                </a:solidFill>
              </a:rPr>
              <a:t>+</a:t>
            </a:r>
            <a:endParaRPr lang="en-US" sz="2000" dirty="0"/>
          </a:p>
        </p:txBody>
      </p:sp>
      <p:sp>
        <p:nvSpPr>
          <p:cNvPr id="31" name="Productivity rises when heading"/>
          <p:cNvSpPr txBox="1"/>
          <p:nvPr/>
        </p:nvSpPr>
        <p:spPr>
          <a:xfrm>
            <a:off x="1143000" y="2816352"/>
            <a:ext cx="4617720" cy="384048"/>
          </a:xfrm>
          <a:prstGeom prst="rect">
            <a:avLst/>
          </a:prstGeom>
          <a:noFill/>
          <a:ln/>
        </p:spPr>
        <p:txBody>
          <a:bodyPr wrap="square" lIns="0" tIns="0" rIns="0" bIns="0" rtlCol="0" anchor="ctr"/>
          <a:lstStyle/>
          <a:p>
            <a:pPr indent="0" marL="0">
              <a:buNone/>
            </a:pPr>
            <a:r>
              <a:rPr lang="en-US" sz="1400" b="1" dirty="0">
                <a:solidFill>
                  <a:schemeClr val="accent3"/>
                </a:solidFill>
              </a:rPr>
              <a:t>Productivity rises when</a:t>
            </a:r>
            <a:endParaRPr lang="en-US" sz="1400" dirty="0"/>
          </a:p>
        </p:txBody>
      </p:sp>
      <p:sp>
        <p:nvSpPr>
          <p:cNvPr id="32" name="Productivity rises when points"/>
          <p:cNvSpPr txBox="1"/>
          <p:nvPr/>
        </p:nvSpPr>
        <p:spPr>
          <a:xfrm>
            <a:off x="640080" y="3337560"/>
            <a:ext cx="5120640" cy="2103120"/>
          </a:xfrm>
          <a:prstGeom prst="rect">
            <a:avLst/>
          </a:prstGeom>
          <a:noFill/>
          <a:ln/>
        </p:spPr>
        <p:txBody>
          <a:bodyPr wrap="square" lIns="0" tIns="0" rIns="0" bIns="0" rtlCol="0" anchor="t"/>
          <a:lstStyle/>
          <a:p>
            <a:pPr marL="177800" indent="-177800">
              <a:buSzPct val="100000"/>
              <a:buChar char="•"/>
            </a:pPr>
            <a:r>
              <a:rPr lang="en-US" sz="1400" b="1" dirty="0">
                <a:solidFill>
                  <a:schemeClr val="tx2"/>
                </a:solidFill>
              </a:rPr>
              <a:t>Scattering</a:t>
            </a:r>
            <a:r>
              <a:rPr lang="en-US" sz="1400" dirty="0">
                <a:solidFill>
                  <a:schemeClr val="tx1"/>
                </a:solidFill>
              </a:rPr>
              <a:t> aerosol: sulfate, organic, wildfire smoke</a:t>
            </a:r>
            <a:endParaRPr lang="en-US" sz="1400" dirty="0"/>
          </a:p>
          <a:p>
            <a:pPr marL="177800" indent="-177800">
              <a:buSzPct val="100000"/>
              <a:buChar char=" "/>
            </a:pPr>
            <a:r>
              <a:rPr lang="en-US" sz="1400" i="1" dirty="0">
                <a:solidFill>
                  <a:schemeClr val="accent1"/>
                </a:solidFill>
              </a:rPr>
              <a:t>Gu et al., 2003</a:t>
            </a:r>
            <a:endParaRPr lang="en-US" sz="1400" dirty="0"/>
          </a:p>
          <a:p>
            <a:pPr marL="177800" indent="-177800">
              <a:spcBef>
                <a:spcPts val="700"/>
              </a:spcBef>
              <a:buSzPct val="100000"/>
              <a:buChar char="•"/>
            </a:pPr>
            <a:r>
              <a:rPr lang="en-US" sz="1400" b="1" dirty="0">
                <a:solidFill>
                  <a:schemeClr val="tx2"/>
                </a:solidFill>
              </a:rPr>
              <a:t>Low to moderate</a:t>
            </a:r>
            <a:r>
              <a:rPr lang="en-US" sz="1400" dirty="0">
                <a:solidFill>
                  <a:schemeClr val="tx1"/>
                </a:solidFill>
              </a:rPr>
              <a:t> load: forest gain up to AOD 1.26</a:t>
            </a:r>
            <a:endParaRPr lang="en-US" sz="1400" dirty="0"/>
          </a:p>
          <a:p>
            <a:pPr marL="177800" indent="-177800">
              <a:buSzPct val="100000"/>
              <a:buChar char=" "/>
            </a:pPr>
            <a:r>
              <a:rPr lang="en-US" sz="1400" i="1" dirty="0">
                <a:solidFill>
                  <a:schemeClr val="accent1"/>
                </a:solidFill>
              </a:rPr>
              <a:t>Oliveira et al., 2007</a:t>
            </a:r>
            <a:endParaRPr lang="en-US" sz="1400" dirty="0"/>
          </a:p>
          <a:p>
            <a:pPr marL="177800" indent="-177800">
              <a:spcBef>
                <a:spcPts val="700"/>
              </a:spcBef>
              <a:buSzPct val="100000"/>
              <a:buChar char="•"/>
            </a:pPr>
            <a:r>
              <a:rPr lang="en-US" sz="1400" b="1" dirty="0">
                <a:solidFill>
                  <a:schemeClr val="tx2"/>
                </a:solidFill>
              </a:rPr>
              <a:t>Tall, multilayer</a:t>
            </a:r>
            <a:r>
              <a:rPr lang="en-US" sz="1400" dirty="0">
                <a:solidFill>
                  <a:schemeClr val="tx1"/>
                </a:solidFill>
              </a:rPr>
              <a:t> canopy: diffuse light reaches shaded leaves</a:t>
            </a:r>
            <a:endParaRPr lang="en-US" sz="1400" dirty="0"/>
          </a:p>
          <a:p>
            <a:pPr marL="177800" indent="-177800">
              <a:buSzPct val="100000"/>
              <a:buChar char=" "/>
            </a:pPr>
            <a:r>
              <a:rPr lang="en-US" sz="1400" i="1" dirty="0">
                <a:solidFill>
                  <a:schemeClr val="accent1"/>
                </a:solidFill>
              </a:rPr>
              <a:t>Ezhova et al., 2018</a:t>
            </a:r>
            <a:endParaRPr lang="en-US" sz="1400" dirty="0"/>
          </a:p>
          <a:p>
            <a:pPr marL="177800" indent="-177800">
              <a:spcBef>
                <a:spcPts val="700"/>
              </a:spcBef>
              <a:buSzPct val="100000"/>
              <a:buChar char="•"/>
            </a:pPr>
            <a:r>
              <a:rPr lang="en-US" sz="1400" b="1" dirty="0">
                <a:solidFill>
                  <a:schemeClr val="tx2"/>
                </a:solidFill>
              </a:rPr>
              <a:t>Clear</a:t>
            </a:r>
            <a:r>
              <a:rPr lang="en-US" sz="1400" dirty="0">
                <a:solidFill>
                  <a:schemeClr val="tx1"/>
                </a:solidFill>
              </a:rPr>
              <a:t> sky: aerosol is the main source of diffuse light</a:t>
            </a:r>
            <a:endParaRPr lang="en-US" sz="1400" dirty="0"/>
          </a:p>
          <a:p>
            <a:pPr marL="177800" indent="-177800">
              <a:buSzPct val="100000"/>
              <a:buChar char=" "/>
            </a:pPr>
            <a:r>
              <a:rPr lang="en-US" sz="1400" i="1" dirty="0">
                <a:solidFill>
                  <a:schemeClr val="accent1"/>
                </a:solidFill>
              </a:rPr>
              <a:t>Zhou et al., 2022</a:t>
            </a:r>
            <a:endParaRPr lang="en-US" sz="1400" dirty="0"/>
          </a:p>
        </p:txBody>
      </p:sp>
      <p:sp>
        <p:nvSpPr>
          <p:cNvPr id="33" name="Productivity falls when card"/>
          <p:cNvSpPr/>
          <p:nvPr/>
        </p:nvSpPr>
        <p:spPr>
          <a:xfrm>
            <a:off x="6245352" y="2651760"/>
            <a:ext cx="5486400" cy="2926080"/>
          </a:xfrm>
          <a:prstGeom prst="roundRect">
            <a:avLst>
              <a:gd name="adj" fmla="val 2188"/>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34" name="Productivity falls when icon"/>
          <p:cNvSpPr/>
          <p:nvPr/>
        </p:nvSpPr>
        <p:spPr>
          <a:xfrm>
            <a:off x="6428232" y="2816352"/>
            <a:ext cx="384048" cy="384048"/>
          </a:xfrm>
          <a:prstGeom prst="ellipse">
            <a:avLst/>
          </a:prstGeom>
          <a:solidFill>
            <a:schemeClr val="accent5"/>
          </a:solidFill>
          <a:ln w="12700">
            <a:solidFill>
              <a:schemeClr val="accent5"/>
            </a:solidFill>
            <a:prstDash val="solid"/>
          </a:ln>
        </p:spPr>
      </p:sp>
      <p:sp>
        <p:nvSpPr>
          <p:cNvPr id="35" name="Productivity falls when icon text"/>
          <p:cNvSpPr txBox="1"/>
          <p:nvPr/>
        </p:nvSpPr>
        <p:spPr>
          <a:xfrm>
            <a:off x="6428232" y="2816352"/>
            <a:ext cx="384048" cy="384048"/>
          </a:xfrm>
          <a:prstGeom prst="rect">
            <a:avLst/>
          </a:prstGeom>
          <a:noFill/>
          <a:ln/>
        </p:spPr>
        <p:txBody>
          <a:bodyPr wrap="square" lIns="0" tIns="0" rIns="0" bIns="0" rtlCol="0" anchor="ctr"/>
          <a:lstStyle/>
          <a:p>
            <a:pPr algn="ctr" indent="0" marL="0">
              <a:buNone/>
            </a:pPr>
            <a:r>
              <a:rPr lang="en-US" sz="2000" b="1" dirty="0">
                <a:solidFill>
                  <a:srgbClr val="FFFFFF"/>
                </a:solidFill>
              </a:rPr>
              <a:t>−</a:t>
            </a:r>
            <a:endParaRPr lang="en-US" sz="2000" dirty="0"/>
          </a:p>
        </p:txBody>
      </p:sp>
      <p:sp>
        <p:nvSpPr>
          <p:cNvPr id="36" name="Productivity falls when heading"/>
          <p:cNvSpPr txBox="1"/>
          <p:nvPr/>
        </p:nvSpPr>
        <p:spPr>
          <a:xfrm>
            <a:off x="6931152" y="2816352"/>
            <a:ext cx="4617720" cy="384048"/>
          </a:xfrm>
          <a:prstGeom prst="rect">
            <a:avLst/>
          </a:prstGeom>
          <a:noFill/>
          <a:ln/>
        </p:spPr>
        <p:txBody>
          <a:bodyPr wrap="square" lIns="0" tIns="0" rIns="0" bIns="0" rtlCol="0" anchor="ctr"/>
          <a:lstStyle/>
          <a:p>
            <a:pPr indent="0" marL="0">
              <a:buNone/>
            </a:pPr>
            <a:r>
              <a:rPr lang="en-US" sz="1400" b="1" dirty="0">
                <a:solidFill>
                  <a:schemeClr val="accent5"/>
                </a:solidFill>
              </a:rPr>
              <a:t>Productivity falls when</a:t>
            </a:r>
            <a:endParaRPr lang="en-US" sz="1400" dirty="0"/>
          </a:p>
        </p:txBody>
      </p:sp>
      <p:sp>
        <p:nvSpPr>
          <p:cNvPr id="37" name="Productivity falls when points"/>
          <p:cNvSpPr txBox="1"/>
          <p:nvPr/>
        </p:nvSpPr>
        <p:spPr>
          <a:xfrm>
            <a:off x="6428232" y="3337560"/>
            <a:ext cx="5120640" cy="2103120"/>
          </a:xfrm>
          <a:prstGeom prst="rect">
            <a:avLst/>
          </a:prstGeom>
          <a:noFill/>
          <a:ln/>
        </p:spPr>
        <p:txBody>
          <a:bodyPr wrap="square" lIns="0" tIns="0" rIns="0" bIns="0" rtlCol="0" anchor="t"/>
          <a:lstStyle/>
          <a:p>
            <a:pPr marL="177800" indent="-177800">
              <a:buSzPct val="100000"/>
              <a:buChar char="•"/>
            </a:pPr>
            <a:r>
              <a:rPr lang="en-US" sz="1400" b="1" dirty="0">
                <a:solidFill>
                  <a:schemeClr val="tx2"/>
                </a:solidFill>
              </a:rPr>
              <a:t>Absorbing</a:t>
            </a:r>
            <a:r>
              <a:rPr lang="en-US" sz="1400" dirty="0">
                <a:solidFill>
                  <a:schemeClr val="tx1"/>
                </a:solidFill>
              </a:rPr>
              <a:t> aerosol: black carbon cuts PAR</a:t>
            </a:r>
            <a:endParaRPr lang="en-US" sz="1400" dirty="0"/>
          </a:p>
          <a:p>
            <a:pPr marL="177800" indent="-177800">
              <a:buSzPct val="100000"/>
              <a:buChar char=" "/>
            </a:pPr>
            <a:r>
              <a:rPr lang="en-US" sz="1400" i="1" dirty="0">
                <a:solidFill>
                  <a:schemeClr val="accent1"/>
                </a:solidFill>
              </a:rPr>
              <a:t>Curado et al., 2024</a:t>
            </a:r>
            <a:endParaRPr lang="en-US" sz="1400" dirty="0"/>
          </a:p>
          <a:p>
            <a:pPr marL="177800" indent="-177800">
              <a:spcBef>
                <a:spcPts val="700"/>
              </a:spcBef>
              <a:buSzPct val="100000"/>
              <a:buChar char="•"/>
            </a:pPr>
            <a:r>
              <a:rPr lang="en-US" sz="1400" b="1" dirty="0">
                <a:solidFill>
                  <a:schemeClr val="tx2"/>
                </a:solidFill>
              </a:rPr>
              <a:t>Very high</a:t>
            </a:r>
            <a:r>
              <a:rPr lang="en-US" sz="1400" dirty="0">
                <a:solidFill>
                  <a:schemeClr val="tx1"/>
                </a:solidFill>
              </a:rPr>
              <a:t> load: AOD &gt; 0.6 (grassland, crops), &gt; 1.7 (tropical forest)</a:t>
            </a:r>
            <a:endParaRPr lang="en-US" sz="1400" dirty="0"/>
          </a:p>
          <a:p>
            <a:pPr marL="177800" indent="-177800">
              <a:buSzPct val="100000"/>
              <a:buChar char=" "/>
            </a:pPr>
            <a:r>
              <a:rPr lang="en-US" sz="1400" i="1" dirty="0">
                <a:solidFill>
                  <a:schemeClr val="accent1"/>
                </a:solidFill>
              </a:rPr>
              <a:t>Strada et al., 2015; Oliveira et al., 2007</a:t>
            </a:r>
            <a:endParaRPr lang="en-US" sz="1400" dirty="0"/>
          </a:p>
          <a:p>
            <a:pPr marL="177800" indent="-177800">
              <a:spcBef>
                <a:spcPts val="700"/>
              </a:spcBef>
              <a:buSzPct val="100000"/>
              <a:buChar char="•"/>
            </a:pPr>
            <a:r>
              <a:rPr lang="en-US" sz="1400" b="1" dirty="0">
                <a:solidFill>
                  <a:schemeClr val="tx2"/>
                </a:solidFill>
              </a:rPr>
              <a:t>Short, open</a:t>
            </a:r>
            <a:r>
              <a:rPr lang="en-US" sz="1400" dirty="0">
                <a:solidFill>
                  <a:schemeClr val="tx1"/>
                </a:solidFill>
              </a:rPr>
              <a:t> canopy: LAI &lt; 3 in grassland and crops</a:t>
            </a:r>
            <a:endParaRPr lang="en-US" sz="1400" dirty="0"/>
          </a:p>
          <a:p>
            <a:pPr marL="177800" indent="-177800">
              <a:buSzPct val="100000"/>
              <a:buChar char=" "/>
            </a:pPr>
            <a:r>
              <a:rPr lang="en-US" sz="1400" i="1" dirty="0">
                <a:solidFill>
                  <a:schemeClr val="accent1"/>
                </a:solidFill>
              </a:rPr>
              <a:t>Matsui et al., 2008</a:t>
            </a:r>
            <a:endParaRPr lang="en-US" sz="1400" dirty="0"/>
          </a:p>
          <a:p>
            <a:pPr marL="177800" indent="-177800">
              <a:spcBef>
                <a:spcPts val="700"/>
              </a:spcBef>
              <a:buSzPct val="100000"/>
              <a:buChar char="•"/>
            </a:pPr>
            <a:r>
              <a:rPr lang="en-US" sz="1400" b="1" dirty="0">
                <a:solidFill>
                  <a:schemeClr val="tx2"/>
                </a:solidFill>
              </a:rPr>
              <a:t>Cloudy</a:t>
            </a:r>
            <a:r>
              <a:rPr lang="en-US" sz="1400" dirty="0">
                <a:solidFill>
                  <a:schemeClr val="tx1"/>
                </a:solidFill>
              </a:rPr>
              <a:t> sky: light already diffuse, little extra gain</a:t>
            </a:r>
            <a:endParaRPr lang="en-US" sz="1400" dirty="0"/>
          </a:p>
          <a:p>
            <a:pPr marL="177800" indent="-177800">
              <a:buSzPct val="100000"/>
              <a:buChar char=" "/>
            </a:pPr>
            <a:r>
              <a:rPr lang="en-US" sz="1400" i="1" dirty="0">
                <a:solidFill>
                  <a:schemeClr val="accent1"/>
                </a:solidFill>
              </a:rPr>
              <a:t>Cirino et al., 2014</a:t>
            </a:r>
            <a:endParaRPr lang="en-US" sz="1400" dirty="0"/>
          </a:p>
        </p:txBody>
      </p:sp>
      <p:sp>
        <p:nvSpPr>
          <p:cNvPr id="38" name="Overall strip"/>
          <p:cNvSpPr/>
          <p:nvPr/>
        </p:nvSpPr>
        <p:spPr>
          <a:xfrm>
            <a:off x="457200" y="5742432"/>
            <a:ext cx="11274552" cy="566928"/>
          </a:xfrm>
          <a:prstGeom prst="roundRect">
            <a:avLst>
              <a:gd name="adj" fmla="val 9677"/>
            </a:avLst>
          </a:prstGeom>
          <a:solidFill>
            <a:schemeClr val="bg2"/>
          </a:solidFill>
          <a:ln w="12700">
            <a:solidFill>
              <a:schemeClr val="bg2"/>
            </a:solidFill>
            <a:prstDash val="solid"/>
          </a:ln>
        </p:spPr>
      </p:sp>
      <p:sp>
        <p:nvSpPr>
          <p:cNvPr id="39" name="Overall strip text"/>
          <p:cNvSpPr txBox="1"/>
          <p:nvPr/>
        </p:nvSpPr>
        <p:spPr>
          <a:xfrm>
            <a:off x="594360" y="5742432"/>
            <a:ext cx="11000232" cy="566928"/>
          </a:xfrm>
          <a:prstGeom prst="rect">
            <a:avLst/>
          </a:prstGeom>
          <a:noFill/>
          <a:ln/>
        </p:spPr>
        <p:txBody>
          <a:bodyPr wrap="square" lIns="0" tIns="0" rIns="0" bIns="0" rtlCol="0" anchor="ctr"/>
          <a:lstStyle/>
          <a:p>
            <a:pPr indent="0" marL="0">
              <a:buNone/>
            </a:pPr>
            <a:r>
              <a:rPr lang="en-US" sz="1400" b="1" dirty="0">
                <a:solidFill>
                  <a:schemeClr val="tx1"/>
                </a:solidFill>
              </a:rPr>
              <a:t>Overall:</a:t>
            </a:r>
            <a:r>
              <a:rPr lang="en-US" sz="1400" dirty="0">
                <a:solidFill>
                  <a:schemeClr val="tx1"/>
                </a:solidFill>
              </a:rPr>
              <a:t> aerosol acts as a diffuse‑light fertiliser only up to a threshold (diffuse PAR peaks near AOD 0.54 in Indian crop zones; Hari &amp; Tyagi, 2022); beyond it, loss of total light dominates</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Aerosol Haze TNR">
  <a:themeElements>
    <a:clrScheme name="Aerosol Haze TNR">
      <a:dk1>
        <a:srgbClr val="1A1F24"/>
      </a:dk1>
      <a:lt1>
        <a:srgbClr val="FFFFFF"/>
      </a:lt1>
      <a:dk2>
        <a:srgbClr val="16384A"/>
      </a:dk2>
      <a:lt2>
        <a:srgbClr val="EDF2F5"/>
      </a:lt2>
      <a:accent1>
        <a:srgbClr val="1F6F8B"/>
      </a:accent1>
      <a:accent2>
        <a:srgbClr val="D98E04"/>
      </a:accent2>
      <a:accent3>
        <a:srgbClr val="3C8D5A"/>
      </a:accent3>
      <a:accent4>
        <a:srgbClr val="8A9BA8"/>
      </a:accent4>
      <a:accent5>
        <a:srgbClr val="B5452F"/>
      </a:accent5>
      <a:accent6>
        <a:srgbClr val="5E4B8B"/>
      </a:accent6>
      <a:hlink>
        <a:srgbClr val="1F6F8B"/>
      </a:hlink>
      <a:folHlink>
        <a:srgbClr val="5E4B8B"/>
      </a:folHlink>
    </a:clrScheme>
    <a:fontScheme name="Aerosol Haze TNR">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Remote Sensing for Quantifying Aerosol Impact on Terrestrial Ecosystem Productivity</dc:title>
  <dc:subject>PptxGenJS Presentation</dc:subject>
  <dc:creator>PhD credit seminar</dc:creator>
  <cp:lastModifiedBy>PhD credit seminar</cp:lastModifiedBy>
  <cp:revision>1</cp:revision>
  <dcterms:created xsi:type="dcterms:W3CDTF">2026-10-25T19:05:40Z</dcterms:created>
  <dcterms:modified xsi:type="dcterms:W3CDTF">2026-10-25T19:05:40Z</dcterms:modified>
</cp:coreProperties>
</file>