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lowchart" id="{b5079788-a5b4-fb44-dba6-d5f256d3d4b8}">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how the standard MODIS aerosol product combines the two land algorithms. Both start from the same MODIS Level 1B radiances from Terra and Aqua, covering 0.41 to 2.13 micrometres. Pixels affected by cloud, snow and water are masked, and Rayleigh scattering by air molecules is removed.
The retrieval then follows two branches. Dark Target, described by Levy and colleagues, works over dark vegetated land: it estimates visible surface reflectance from the 2.13 micrometre band, where aerosol is almost transparent, and inverts look-up tables built from fine and coarse aerosol models. Deep Blue, described by Hsu and colleagues, works over bright surfaces such as deserts, cities and dry cropland: at 0.41 and 0.49 micrometres these surfaces are dark, so surface reflectance is taken from a pre-computed database, and dust or smoke models are used for the inversion.
In Collection 6 the two are merged into a single combined product using NDVI, as described by Sayer and colleagues, 2014. Where NDVI is above 0.3 the Dark Target value is used; where NDVI is below 0.2 the Deep Blue value is used; between 0.2 and 0.3 the mean of both is used when both have good quality, otherwise the one with better quality. The output is the combined Dark Target–Deep Blue AOD at 0.55 micrometres and 10 kilometres resolution in the MOD04 and MYD04 products, validated against AERONET with an expected error over land of plus or minus 0.05 plus 15 percent of AOD. This merging gives near-complete coverage over India, including the bright dry-season croplands of the Indo-Gangetic Plain where Dark Target alone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MODIS AOD retrieval: Dark Target merged with Deep Blue</a:t>
            </a:r>
            <a:endParaRPr lang="en-US" sz="2800" dirty="0"/>
          </a:p>
        </p:txBody>
      </p:sp>
      <p:sp>
        <p:nvSpPr>
          <p:cNvPr id="4" name="Step 1"/>
          <p:cNvSpPr/>
          <p:nvPr/>
        </p:nvSpPr>
        <p:spPr>
          <a:xfrm>
            <a:off x="1280160" y="1234440"/>
            <a:ext cx="3840480" cy="502920"/>
          </a:xfrm>
          <a:prstGeom prst="roundRect">
            <a:avLst>
              <a:gd name="adj" fmla="val 10909"/>
            </a:avLst>
          </a:prstGeom>
          <a:solidFill>
            <a:schemeClr val="tx2"/>
          </a:solidFill>
          <a:ln w="12700">
            <a:solidFill>
              <a:schemeClr val="tx2"/>
            </a:solidFill>
            <a:prstDash val="solid"/>
          </a:ln>
        </p:spPr>
      </p:sp>
      <p:sp>
        <p:nvSpPr>
          <p:cNvPr id="5" name="Step 1 text"/>
          <p:cNvSpPr txBox="1"/>
          <p:nvPr/>
        </p:nvSpPr>
        <p:spPr>
          <a:xfrm>
            <a:off x="1335024" y="1234440"/>
            <a:ext cx="3730752" cy="502920"/>
          </a:xfrm>
          <a:prstGeom prst="rect">
            <a:avLst/>
          </a:prstGeom>
          <a:noFill/>
          <a:ln/>
        </p:spPr>
        <p:txBody>
          <a:bodyPr wrap="square" lIns="0" tIns="0" rIns="0" bIns="0" rtlCol="0" anchor="ctr"/>
          <a:lstStyle/>
          <a:p>
            <a:pPr algn="ctr" indent="0" marL="0">
              <a:buNone/>
            </a:pPr>
            <a:r>
              <a:rPr lang="en-US" sz="1400" b="1" dirty="0">
                <a:solidFill>
                  <a:schemeClr val="bg1"/>
                </a:solidFill>
              </a:rPr>
              <a:t>MODIS L1B radiances</a:t>
            </a:r>
            <a:endParaRPr lang="en-US" sz="1400" dirty="0"/>
          </a:p>
          <a:p>
            <a:pPr algn="ctr" indent="0" marL="0">
              <a:buNone/>
            </a:pPr>
            <a:r>
              <a:rPr lang="en-US" sz="1400" dirty="0">
                <a:solidFill>
                  <a:schemeClr val="bg1"/>
                </a:solidFill>
              </a:rPr>
              <a:t>Terra / Aqua, 0.41–2.13 µm</a:t>
            </a:r>
            <a:endParaRPr lang="en-US" sz="1400" dirty="0"/>
          </a:p>
        </p:txBody>
      </p:sp>
      <p:sp>
        <p:nvSpPr>
          <p:cNvPr id="6" name="Arrow 1"/>
          <p:cNvSpPr/>
          <p:nvPr/>
        </p:nvSpPr>
        <p:spPr>
          <a:xfrm>
            <a:off x="3200400" y="1755648"/>
            <a:ext cx="0" cy="146304"/>
          </a:xfrm>
          <a:prstGeom prst="line">
            <a:avLst/>
          </a:prstGeom>
          <a:noFill/>
          <a:ln w="25400">
            <a:solidFill>
              <a:schemeClr val="accent4"/>
            </a:solidFill>
            <a:prstDash val="solid"/>
            <a:tailEnd type="triangle"/>
          </a:ln>
        </p:spPr>
      </p:sp>
      <p:sp>
        <p:nvSpPr>
          <p:cNvPr id="7" name="Step 2"/>
          <p:cNvSpPr/>
          <p:nvPr/>
        </p:nvSpPr>
        <p:spPr>
          <a:xfrm>
            <a:off x="1280160" y="1920240"/>
            <a:ext cx="3840480" cy="502920"/>
          </a:xfrm>
          <a:prstGeom prst="roundRect">
            <a:avLst>
              <a:gd name="adj" fmla="val 10909"/>
            </a:avLst>
          </a:prstGeom>
          <a:solidFill>
            <a:schemeClr val="accent1"/>
          </a:solidFill>
          <a:ln w="12700">
            <a:solidFill>
              <a:schemeClr val="accent1"/>
            </a:solidFill>
            <a:prstDash val="solid"/>
          </a:ln>
        </p:spPr>
      </p:sp>
      <p:sp>
        <p:nvSpPr>
          <p:cNvPr id="8" name="Step 2 text"/>
          <p:cNvSpPr txBox="1"/>
          <p:nvPr/>
        </p:nvSpPr>
        <p:spPr>
          <a:xfrm>
            <a:off x="1335024" y="1920240"/>
            <a:ext cx="3730752" cy="502920"/>
          </a:xfrm>
          <a:prstGeom prst="rect">
            <a:avLst/>
          </a:prstGeom>
          <a:noFill/>
          <a:ln/>
        </p:spPr>
        <p:txBody>
          <a:bodyPr wrap="square" lIns="0" tIns="0" rIns="0" bIns="0" rtlCol="0" anchor="ctr"/>
          <a:lstStyle/>
          <a:p>
            <a:pPr algn="ctr" indent="0" marL="0">
              <a:buNone/>
            </a:pPr>
            <a:r>
              <a:rPr lang="en-US" sz="1400" b="1" dirty="0">
                <a:solidFill>
                  <a:schemeClr val="bg1"/>
                </a:solidFill>
              </a:rPr>
              <a:t>Pre-processing</a:t>
            </a:r>
            <a:endParaRPr lang="en-US" sz="1400" dirty="0"/>
          </a:p>
          <a:p>
            <a:pPr algn="ctr" indent="0" marL="0">
              <a:buNone/>
            </a:pPr>
            <a:r>
              <a:rPr lang="en-US" sz="1400" dirty="0">
                <a:solidFill>
                  <a:schemeClr val="bg1"/>
                </a:solidFill>
              </a:rPr>
              <a:t>Mask cloud, snow, water · Rayleigh correction</a:t>
            </a:r>
            <a:endParaRPr lang="en-US" sz="1400" dirty="0"/>
          </a:p>
        </p:txBody>
      </p:sp>
      <p:sp>
        <p:nvSpPr>
          <p:cNvPr id="9" name="Arrow split L"/>
          <p:cNvSpPr/>
          <p:nvPr/>
        </p:nvSpPr>
        <p:spPr>
          <a:xfrm flipH="1">
            <a:off x="1783080" y="2441448"/>
            <a:ext cx="1417320" cy="192024"/>
          </a:xfrm>
          <a:prstGeom prst="line">
            <a:avLst/>
          </a:prstGeom>
          <a:noFill/>
          <a:ln w="25400">
            <a:solidFill>
              <a:schemeClr val="accent4"/>
            </a:solidFill>
            <a:prstDash val="solid"/>
            <a:tailEnd type="triangle"/>
          </a:ln>
        </p:spPr>
      </p:sp>
      <p:sp>
        <p:nvSpPr>
          <p:cNvPr id="10" name="Arrow split R"/>
          <p:cNvSpPr/>
          <p:nvPr/>
        </p:nvSpPr>
        <p:spPr>
          <a:xfrm>
            <a:off x="3200400" y="2441448"/>
            <a:ext cx="1417320" cy="192024"/>
          </a:xfrm>
          <a:prstGeom prst="line">
            <a:avLst/>
          </a:prstGeom>
          <a:noFill/>
          <a:ln w="25400">
            <a:solidFill>
              <a:schemeClr val="accent4"/>
            </a:solidFill>
            <a:prstDash val="solid"/>
            <a:tailEnd type="triangle"/>
          </a:ln>
        </p:spPr>
      </p:sp>
      <p:sp>
        <p:nvSpPr>
          <p:cNvPr id="11" name="DT box"/>
          <p:cNvSpPr/>
          <p:nvPr/>
        </p:nvSpPr>
        <p:spPr>
          <a:xfrm>
            <a:off x="457200" y="2651760"/>
            <a:ext cx="2651760" cy="1280160"/>
          </a:xfrm>
          <a:prstGeom prst="roundRect">
            <a:avLst>
              <a:gd name="adj" fmla="val 4286"/>
            </a:avLst>
          </a:prstGeom>
          <a:solidFill>
            <a:schemeClr val="accent3"/>
          </a:solidFill>
          <a:ln w="12700">
            <a:solidFill>
              <a:schemeClr val="accent3"/>
            </a:solidFill>
            <a:prstDash val="solid"/>
          </a:ln>
        </p:spPr>
      </p:sp>
      <p:sp>
        <p:nvSpPr>
          <p:cNvPr id="12" name="DT box text"/>
          <p:cNvSpPr txBox="1"/>
          <p:nvPr/>
        </p:nvSpPr>
        <p:spPr>
          <a:xfrm>
            <a:off x="512064" y="2651760"/>
            <a:ext cx="2542032" cy="1280160"/>
          </a:xfrm>
          <a:prstGeom prst="rect">
            <a:avLst/>
          </a:prstGeom>
          <a:noFill/>
          <a:ln/>
        </p:spPr>
        <p:txBody>
          <a:bodyPr wrap="square" lIns="0" tIns="0" rIns="0" bIns="0" rtlCol="0" anchor="ctr"/>
          <a:lstStyle/>
          <a:p>
            <a:pPr algn="ctr" indent="0" marL="0">
              <a:buNone/>
            </a:pPr>
            <a:r>
              <a:rPr lang="en-US" sz="1400" b="1" dirty="0">
                <a:solidFill>
                  <a:schemeClr val="bg1"/>
                </a:solidFill>
              </a:rPr>
              <a:t>Dark Target</a:t>
            </a:r>
            <a:endParaRPr lang="en-US" sz="1400" dirty="0"/>
          </a:p>
          <a:p>
            <a:pPr algn="ctr" indent="0" marL="0">
              <a:buNone/>
            </a:pPr>
            <a:r>
              <a:rPr lang="en-US" sz="1400" dirty="0">
                <a:solidFill>
                  <a:schemeClr val="bg1"/>
                </a:solidFill>
              </a:rPr>
              <a:t>Dark, vegetated land</a:t>
            </a:r>
            <a:endParaRPr lang="en-US" sz="1400" dirty="0"/>
          </a:p>
          <a:p>
            <a:pPr algn="ctr" indent="0" marL="0">
              <a:buNone/>
            </a:pPr>
            <a:r>
              <a:rPr lang="en-US" sz="1400" dirty="0">
                <a:solidFill>
                  <a:schemeClr val="bg1"/>
                </a:solidFill>
              </a:rPr>
              <a:t>Surface from 2.13 µm band (VIS/SWIR ratio)</a:t>
            </a:r>
            <a:endParaRPr lang="en-US" sz="1400" dirty="0"/>
          </a:p>
          <a:p>
            <a:pPr algn="ctr" indent="0" marL="0">
              <a:buNone/>
            </a:pPr>
            <a:r>
              <a:rPr lang="en-US" sz="1400" dirty="0">
                <a:solidFill>
                  <a:schemeClr val="bg1"/>
                </a:solidFill>
              </a:rPr>
              <a:t>LUT: fine + coarse models</a:t>
            </a:r>
            <a:endParaRPr lang="en-US" sz="1400" dirty="0"/>
          </a:p>
        </p:txBody>
      </p:sp>
      <p:sp>
        <p:nvSpPr>
          <p:cNvPr id="13" name="DB box"/>
          <p:cNvSpPr/>
          <p:nvPr/>
        </p:nvSpPr>
        <p:spPr>
          <a:xfrm>
            <a:off x="3291840" y="2651760"/>
            <a:ext cx="2651760" cy="1280160"/>
          </a:xfrm>
          <a:prstGeom prst="roundRect">
            <a:avLst>
              <a:gd name="adj" fmla="val 4286"/>
            </a:avLst>
          </a:prstGeom>
          <a:solidFill>
            <a:schemeClr val="accent2"/>
          </a:solidFill>
          <a:ln w="12700">
            <a:solidFill>
              <a:schemeClr val="accent2"/>
            </a:solidFill>
            <a:prstDash val="solid"/>
          </a:ln>
        </p:spPr>
      </p:sp>
      <p:sp>
        <p:nvSpPr>
          <p:cNvPr id="14" name="DB box text"/>
          <p:cNvSpPr txBox="1"/>
          <p:nvPr/>
        </p:nvSpPr>
        <p:spPr>
          <a:xfrm>
            <a:off x="3346704" y="2651760"/>
            <a:ext cx="2542032" cy="1280160"/>
          </a:xfrm>
          <a:prstGeom prst="rect">
            <a:avLst/>
          </a:prstGeom>
          <a:noFill/>
          <a:ln/>
        </p:spPr>
        <p:txBody>
          <a:bodyPr wrap="square" lIns="0" tIns="0" rIns="0" bIns="0" rtlCol="0" anchor="ctr"/>
          <a:lstStyle/>
          <a:p>
            <a:pPr algn="ctr" indent="0" marL="0">
              <a:buNone/>
            </a:pPr>
            <a:r>
              <a:rPr lang="en-US" sz="1400" b="1" dirty="0">
                <a:solidFill>
                  <a:schemeClr val="bg1"/>
                </a:solidFill>
              </a:rPr>
              <a:t>Deep Blue</a:t>
            </a:r>
            <a:endParaRPr lang="en-US" sz="1400" dirty="0"/>
          </a:p>
          <a:p>
            <a:pPr algn="ctr" indent="0" marL="0">
              <a:buNone/>
            </a:pPr>
            <a:r>
              <a:rPr lang="en-US" sz="1400" dirty="0">
                <a:solidFill>
                  <a:schemeClr val="bg1"/>
                </a:solidFill>
              </a:rPr>
              <a:t>Bright land: desert, city, dry crop</a:t>
            </a:r>
            <a:endParaRPr lang="en-US" sz="1400" dirty="0"/>
          </a:p>
          <a:p>
            <a:pPr algn="ctr" indent="0" marL="0">
              <a:buNone/>
            </a:pPr>
            <a:r>
              <a:rPr lang="en-US" sz="1400" dirty="0">
                <a:solidFill>
                  <a:schemeClr val="bg1"/>
                </a:solidFill>
              </a:rPr>
              <a:t>Surface from 0.41/0.49 µm library</a:t>
            </a:r>
            <a:endParaRPr lang="en-US" sz="1400" dirty="0"/>
          </a:p>
          <a:p>
            <a:pPr algn="ctr" indent="0" marL="0">
              <a:buNone/>
            </a:pPr>
            <a:r>
              <a:rPr lang="en-US" sz="1400" dirty="0">
                <a:solidFill>
                  <a:schemeClr val="bg1"/>
                </a:solidFill>
              </a:rPr>
              <a:t>LUT: dust / smoke models</a:t>
            </a:r>
            <a:endParaRPr lang="en-US" sz="1400" dirty="0"/>
          </a:p>
        </p:txBody>
      </p:sp>
      <p:sp>
        <p:nvSpPr>
          <p:cNvPr id="15" name="Arrow merge L"/>
          <p:cNvSpPr/>
          <p:nvPr/>
        </p:nvSpPr>
        <p:spPr>
          <a:xfrm>
            <a:off x="1783080" y="3950208"/>
            <a:ext cx="1097280" cy="164592"/>
          </a:xfrm>
          <a:prstGeom prst="line">
            <a:avLst/>
          </a:prstGeom>
          <a:noFill/>
          <a:ln w="25400">
            <a:solidFill>
              <a:schemeClr val="accent4"/>
            </a:solidFill>
            <a:prstDash val="solid"/>
            <a:tailEnd type="triangle"/>
          </a:ln>
        </p:spPr>
      </p:sp>
      <p:sp>
        <p:nvSpPr>
          <p:cNvPr id="16" name="Arrow merge R"/>
          <p:cNvSpPr/>
          <p:nvPr/>
        </p:nvSpPr>
        <p:spPr>
          <a:xfrm flipH="1">
            <a:off x="3520440" y="3950208"/>
            <a:ext cx="1097280" cy="164592"/>
          </a:xfrm>
          <a:prstGeom prst="line">
            <a:avLst/>
          </a:prstGeom>
          <a:noFill/>
          <a:ln w="25400">
            <a:solidFill>
              <a:schemeClr val="accent4"/>
            </a:solidFill>
            <a:prstDash val="solid"/>
            <a:tailEnd type="triangle"/>
          </a:ln>
        </p:spPr>
      </p:sp>
      <p:sp>
        <p:nvSpPr>
          <p:cNvPr id="17" name="Merge diamond"/>
          <p:cNvSpPr/>
          <p:nvPr/>
        </p:nvSpPr>
        <p:spPr>
          <a:xfrm>
            <a:off x="1554480" y="4114800"/>
            <a:ext cx="3291840" cy="685800"/>
          </a:xfrm>
          <a:prstGeom prst="diamond">
            <a:avLst>
              <a:gd name="adj" fmla="val 8000"/>
            </a:avLst>
          </a:prstGeom>
          <a:solidFill>
            <a:schemeClr val="accent6"/>
          </a:solidFill>
          <a:ln w="12700">
            <a:solidFill>
              <a:schemeClr val="accent6"/>
            </a:solidFill>
            <a:prstDash val="solid"/>
          </a:ln>
        </p:spPr>
      </p:sp>
      <p:sp>
        <p:nvSpPr>
          <p:cNvPr id="18" name="Merge diamond text"/>
          <p:cNvSpPr txBox="1"/>
          <p:nvPr/>
        </p:nvSpPr>
        <p:spPr>
          <a:xfrm>
            <a:off x="1609344" y="4114800"/>
            <a:ext cx="3182112" cy="685800"/>
          </a:xfrm>
          <a:prstGeom prst="rect">
            <a:avLst/>
          </a:prstGeom>
          <a:noFill/>
          <a:ln/>
        </p:spPr>
        <p:txBody>
          <a:bodyPr wrap="square" lIns="0" tIns="0" rIns="0" bIns="0" rtlCol="0" anchor="ctr"/>
          <a:lstStyle/>
          <a:p>
            <a:pPr algn="ctr" indent="0" marL="0">
              <a:buNone/>
            </a:pPr>
            <a:r>
              <a:rPr lang="en-US" sz="1400" b="1" dirty="0">
                <a:solidFill>
                  <a:schemeClr val="bg1"/>
                </a:solidFill>
              </a:rPr>
              <a:t>Merge by NDVI</a:t>
            </a:r>
            <a:endParaRPr lang="en-US" sz="1400" dirty="0"/>
          </a:p>
        </p:txBody>
      </p:sp>
      <p:sp>
        <p:nvSpPr>
          <p:cNvPr id="19" name="Rule 1"/>
          <p:cNvSpPr/>
          <p:nvPr/>
        </p:nvSpPr>
        <p:spPr>
          <a:xfrm>
            <a:off x="457200" y="4983480"/>
            <a:ext cx="1737360" cy="548640"/>
          </a:xfrm>
          <a:prstGeom prst="roundRect">
            <a:avLst>
              <a:gd name="adj" fmla="val 10000"/>
            </a:avLst>
          </a:prstGeom>
          <a:solidFill>
            <a:schemeClr val="accent3"/>
          </a:solidFill>
          <a:ln w="12700">
            <a:solidFill>
              <a:schemeClr val="accent3"/>
            </a:solidFill>
            <a:prstDash val="solid"/>
          </a:ln>
        </p:spPr>
      </p:sp>
      <p:sp>
        <p:nvSpPr>
          <p:cNvPr id="20" name="Rule 1 text"/>
          <p:cNvSpPr txBox="1"/>
          <p:nvPr/>
        </p:nvSpPr>
        <p:spPr>
          <a:xfrm>
            <a:off x="512064" y="4983480"/>
            <a:ext cx="1627632" cy="548640"/>
          </a:xfrm>
          <a:prstGeom prst="rect">
            <a:avLst/>
          </a:prstGeom>
          <a:noFill/>
          <a:ln/>
        </p:spPr>
        <p:txBody>
          <a:bodyPr wrap="square" lIns="0" tIns="0" rIns="0" bIns="0" rtlCol="0" anchor="ctr"/>
          <a:lstStyle/>
          <a:p>
            <a:pPr algn="ctr" indent="0" marL="0">
              <a:buNone/>
            </a:pPr>
            <a:r>
              <a:rPr lang="en-US" sz="1400" b="1" dirty="0">
                <a:solidFill>
                  <a:schemeClr val="bg1"/>
                </a:solidFill>
              </a:rPr>
              <a:t>NDVI &gt; 0.3</a:t>
            </a:r>
            <a:endParaRPr lang="en-US" sz="1400" dirty="0"/>
          </a:p>
          <a:p>
            <a:pPr algn="ctr" indent="0" marL="0">
              <a:buNone/>
            </a:pPr>
            <a:r>
              <a:rPr lang="en-US" sz="1400" dirty="0">
                <a:solidFill>
                  <a:schemeClr val="bg1"/>
                </a:solidFill>
              </a:rPr>
              <a:t>use Dark Target</a:t>
            </a:r>
            <a:endParaRPr lang="en-US" sz="1400" dirty="0"/>
          </a:p>
        </p:txBody>
      </p:sp>
      <p:sp>
        <p:nvSpPr>
          <p:cNvPr id="21" name="Arrow rule 1"/>
          <p:cNvSpPr/>
          <p:nvPr/>
        </p:nvSpPr>
        <p:spPr>
          <a:xfrm flipH="1">
            <a:off x="1325880" y="4818888"/>
            <a:ext cx="1874520" cy="146304"/>
          </a:xfrm>
          <a:prstGeom prst="line">
            <a:avLst/>
          </a:prstGeom>
          <a:noFill/>
          <a:ln w="25400">
            <a:solidFill>
              <a:schemeClr val="accent4"/>
            </a:solidFill>
            <a:prstDash val="solid"/>
            <a:tailEnd type="triangle"/>
          </a:ln>
        </p:spPr>
      </p:sp>
      <p:sp>
        <p:nvSpPr>
          <p:cNvPr id="22" name="Arrow out 1"/>
          <p:cNvSpPr/>
          <p:nvPr/>
        </p:nvSpPr>
        <p:spPr>
          <a:xfrm>
            <a:off x="1325880" y="5550408"/>
            <a:ext cx="1874520" cy="164592"/>
          </a:xfrm>
          <a:prstGeom prst="line">
            <a:avLst/>
          </a:prstGeom>
          <a:noFill/>
          <a:ln w="25400">
            <a:solidFill>
              <a:schemeClr val="accent4"/>
            </a:solidFill>
            <a:prstDash val="solid"/>
            <a:tailEnd type="triangle"/>
          </a:ln>
        </p:spPr>
      </p:sp>
      <p:sp>
        <p:nvSpPr>
          <p:cNvPr id="23" name="Rule 2"/>
          <p:cNvSpPr/>
          <p:nvPr/>
        </p:nvSpPr>
        <p:spPr>
          <a:xfrm>
            <a:off x="2331720" y="4983480"/>
            <a:ext cx="1737360" cy="548640"/>
          </a:xfrm>
          <a:prstGeom prst="roundRect">
            <a:avLst>
              <a:gd name="adj" fmla="val 10000"/>
            </a:avLst>
          </a:prstGeom>
          <a:solidFill>
            <a:schemeClr val="accent6"/>
          </a:solidFill>
          <a:ln w="12700">
            <a:solidFill>
              <a:schemeClr val="accent6"/>
            </a:solidFill>
            <a:prstDash val="solid"/>
          </a:ln>
        </p:spPr>
      </p:sp>
      <p:sp>
        <p:nvSpPr>
          <p:cNvPr id="24" name="Rule 2 text"/>
          <p:cNvSpPr txBox="1"/>
          <p:nvPr/>
        </p:nvSpPr>
        <p:spPr>
          <a:xfrm>
            <a:off x="2386584" y="4983480"/>
            <a:ext cx="1627632" cy="548640"/>
          </a:xfrm>
          <a:prstGeom prst="rect">
            <a:avLst/>
          </a:prstGeom>
          <a:noFill/>
          <a:ln/>
        </p:spPr>
        <p:txBody>
          <a:bodyPr wrap="square" lIns="0" tIns="0" rIns="0" bIns="0" rtlCol="0" anchor="ctr"/>
          <a:lstStyle/>
          <a:p>
            <a:pPr algn="ctr" indent="0" marL="0">
              <a:buNone/>
            </a:pPr>
            <a:r>
              <a:rPr lang="en-US" sz="1400" b="1" dirty="0">
                <a:solidFill>
                  <a:schemeClr val="bg1"/>
                </a:solidFill>
              </a:rPr>
              <a:t>NDVI 0.2–0.3</a:t>
            </a:r>
            <a:endParaRPr lang="en-US" sz="1400" dirty="0"/>
          </a:p>
          <a:p>
            <a:pPr algn="ctr" indent="0" marL="0">
              <a:buNone/>
            </a:pPr>
            <a:r>
              <a:rPr lang="en-US" sz="1400" dirty="0">
                <a:solidFill>
                  <a:schemeClr val="bg1"/>
                </a:solidFill>
              </a:rPr>
              <a:t>mean of both</a:t>
            </a:r>
            <a:endParaRPr lang="en-US" sz="1400" dirty="0"/>
          </a:p>
        </p:txBody>
      </p:sp>
      <p:sp>
        <p:nvSpPr>
          <p:cNvPr id="25" name="Arrow rule 2"/>
          <p:cNvSpPr/>
          <p:nvPr/>
        </p:nvSpPr>
        <p:spPr>
          <a:xfrm>
            <a:off x="3200400" y="4818888"/>
            <a:ext cx="0" cy="146304"/>
          </a:xfrm>
          <a:prstGeom prst="line">
            <a:avLst/>
          </a:prstGeom>
          <a:noFill/>
          <a:ln w="25400">
            <a:solidFill>
              <a:schemeClr val="accent4"/>
            </a:solidFill>
            <a:prstDash val="solid"/>
            <a:tailEnd type="triangle"/>
          </a:ln>
        </p:spPr>
      </p:sp>
      <p:sp>
        <p:nvSpPr>
          <p:cNvPr id="26" name="Arrow out 2"/>
          <p:cNvSpPr/>
          <p:nvPr/>
        </p:nvSpPr>
        <p:spPr>
          <a:xfrm>
            <a:off x="3200400" y="5550408"/>
            <a:ext cx="0" cy="164592"/>
          </a:xfrm>
          <a:prstGeom prst="line">
            <a:avLst/>
          </a:prstGeom>
          <a:noFill/>
          <a:ln w="25400">
            <a:solidFill>
              <a:schemeClr val="accent4"/>
            </a:solidFill>
            <a:prstDash val="solid"/>
            <a:tailEnd type="triangle"/>
          </a:ln>
        </p:spPr>
      </p:sp>
      <p:sp>
        <p:nvSpPr>
          <p:cNvPr id="27" name="Rule 3"/>
          <p:cNvSpPr/>
          <p:nvPr/>
        </p:nvSpPr>
        <p:spPr>
          <a:xfrm>
            <a:off x="4206240" y="4983480"/>
            <a:ext cx="1737360" cy="548640"/>
          </a:xfrm>
          <a:prstGeom prst="roundRect">
            <a:avLst>
              <a:gd name="adj" fmla="val 10000"/>
            </a:avLst>
          </a:prstGeom>
          <a:solidFill>
            <a:schemeClr val="accent2"/>
          </a:solidFill>
          <a:ln w="12700">
            <a:solidFill>
              <a:schemeClr val="accent2"/>
            </a:solidFill>
            <a:prstDash val="solid"/>
          </a:ln>
        </p:spPr>
      </p:sp>
      <p:sp>
        <p:nvSpPr>
          <p:cNvPr id="28" name="Rule 3 text"/>
          <p:cNvSpPr txBox="1"/>
          <p:nvPr/>
        </p:nvSpPr>
        <p:spPr>
          <a:xfrm>
            <a:off x="4261104" y="4983480"/>
            <a:ext cx="1627632" cy="548640"/>
          </a:xfrm>
          <a:prstGeom prst="rect">
            <a:avLst/>
          </a:prstGeom>
          <a:noFill/>
          <a:ln/>
        </p:spPr>
        <p:txBody>
          <a:bodyPr wrap="square" lIns="0" tIns="0" rIns="0" bIns="0" rtlCol="0" anchor="ctr"/>
          <a:lstStyle/>
          <a:p>
            <a:pPr algn="ctr" indent="0" marL="0">
              <a:buNone/>
            </a:pPr>
            <a:r>
              <a:rPr lang="en-US" sz="1400" b="1" dirty="0">
                <a:solidFill>
                  <a:schemeClr val="bg1"/>
                </a:solidFill>
              </a:rPr>
              <a:t>NDVI &lt; 0.2</a:t>
            </a:r>
            <a:endParaRPr lang="en-US" sz="1400" dirty="0"/>
          </a:p>
          <a:p>
            <a:pPr algn="ctr" indent="0" marL="0">
              <a:buNone/>
            </a:pPr>
            <a:r>
              <a:rPr lang="en-US" sz="1400" dirty="0">
                <a:solidFill>
                  <a:schemeClr val="bg1"/>
                </a:solidFill>
              </a:rPr>
              <a:t>use Deep Blue</a:t>
            </a:r>
            <a:endParaRPr lang="en-US" sz="1400" dirty="0"/>
          </a:p>
        </p:txBody>
      </p:sp>
      <p:sp>
        <p:nvSpPr>
          <p:cNvPr id="29" name="Arrow rule 3"/>
          <p:cNvSpPr/>
          <p:nvPr/>
        </p:nvSpPr>
        <p:spPr>
          <a:xfrm>
            <a:off x="3200400" y="4818888"/>
            <a:ext cx="1874520" cy="146304"/>
          </a:xfrm>
          <a:prstGeom prst="line">
            <a:avLst/>
          </a:prstGeom>
          <a:noFill/>
          <a:ln w="25400">
            <a:solidFill>
              <a:schemeClr val="accent4"/>
            </a:solidFill>
            <a:prstDash val="solid"/>
            <a:tailEnd type="triangle"/>
          </a:ln>
        </p:spPr>
      </p:sp>
      <p:sp>
        <p:nvSpPr>
          <p:cNvPr id="30" name="Arrow out 3"/>
          <p:cNvSpPr/>
          <p:nvPr/>
        </p:nvSpPr>
        <p:spPr>
          <a:xfrm flipH="1">
            <a:off x="3200400" y="5550408"/>
            <a:ext cx="1874520" cy="164592"/>
          </a:xfrm>
          <a:prstGeom prst="line">
            <a:avLst/>
          </a:prstGeom>
          <a:noFill/>
          <a:ln w="25400">
            <a:solidFill>
              <a:schemeClr val="accent4"/>
            </a:solidFill>
            <a:prstDash val="solid"/>
            <a:tailEnd type="triangle"/>
          </a:ln>
        </p:spPr>
      </p:sp>
      <p:sp>
        <p:nvSpPr>
          <p:cNvPr id="31" name="Output"/>
          <p:cNvSpPr/>
          <p:nvPr/>
        </p:nvSpPr>
        <p:spPr>
          <a:xfrm>
            <a:off x="1005840" y="5733288"/>
            <a:ext cx="4389120" cy="640080"/>
          </a:xfrm>
          <a:prstGeom prst="roundRect">
            <a:avLst>
              <a:gd name="adj" fmla="val 8571"/>
            </a:avLst>
          </a:prstGeom>
          <a:solidFill>
            <a:schemeClr val="tx2"/>
          </a:solidFill>
          <a:ln w="12700">
            <a:solidFill>
              <a:schemeClr val="tx2"/>
            </a:solidFill>
            <a:prstDash val="solid"/>
          </a:ln>
        </p:spPr>
      </p:sp>
      <p:sp>
        <p:nvSpPr>
          <p:cNvPr id="32" name="Output text"/>
          <p:cNvSpPr txBox="1"/>
          <p:nvPr/>
        </p:nvSpPr>
        <p:spPr>
          <a:xfrm>
            <a:off x="1060704" y="5733288"/>
            <a:ext cx="4279392" cy="640080"/>
          </a:xfrm>
          <a:prstGeom prst="rect">
            <a:avLst/>
          </a:prstGeom>
          <a:noFill/>
          <a:ln/>
        </p:spPr>
        <p:txBody>
          <a:bodyPr wrap="square" lIns="0" tIns="0" rIns="0" bIns="0" rtlCol="0" anchor="ctr"/>
          <a:lstStyle/>
          <a:p>
            <a:pPr algn="ctr" indent="0" marL="0">
              <a:buNone/>
            </a:pPr>
            <a:r>
              <a:rPr lang="en-US" sz="1400" b="1" dirty="0">
                <a:solidFill>
                  <a:schemeClr val="bg1"/>
                </a:solidFill>
              </a:rPr>
              <a:t>Combined DT–DB AOD at 0.55 µm, 10 km</a:t>
            </a:r>
            <a:endParaRPr lang="en-US" sz="1400" dirty="0"/>
          </a:p>
          <a:p>
            <a:pPr algn="ctr" indent="0" marL="0">
              <a:buNone/>
            </a:pPr>
            <a:r>
              <a:rPr lang="en-US" sz="1400" dirty="0">
                <a:solidFill>
                  <a:schemeClr val="bg1"/>
                </a:solidFill>
              </a:rPr>
              <a:t>MOD04 / MYD04 · EE ±(0.05 + 0.15τ)</a:t>
            </a:r>
            <a:endParaRPr lang="en-US" sz="1400" dirty="0"/>
          </a:p>
        </p:txBody>
      </p:sp>
      <p:sp>
        <p:nvSpPr>
          <p:cNvPr id="33" name="Flow refs"/>
          <p:cNvSpPr txBox="1"/>
          <p:nvPr/>
        </p:nvSpPr>
        <p:spPr>
          <a:xfrm>
            <a:off x="457200" y="6419088"/>
            <a:ext cx="5486400" cy="274320"/>
          </a:xfrm>
          <a:prstGeom prst="rect">
            <a:avLst/>
          </a:prstGeom>
          <a:noFill/>
          <a:ln/>
        </p:spPr>
        <p:txBody>
          <a:bodyPr wrap="square" lIns="0" tIns="0" rIns="0" bIns="0" rtlCol="0" anchor="ctr"/>
          <a:lstStyle/>
          <a:p>
            <a:pPr algn="ctr" indent="0" marL="0">
              <a:buNone/>
            </a:pPr>
            <a:r>
              <a:rPr lang="en-US" sz="1200" i="1" dirty="0">
                <a:solidFill>
                  <a:schemeClr val="accent1"/>
                </a:solidFill>
              </a:rPr>
              <a:t>Levy et al., 2013; Hsu et al., 2013; Sayer et al., 2014</a:t>
            </a:r>
            <a:endParaRPr lang="en-US" sz="12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PhD credit seminar</cp:lastModifiedBy>
  <cp:revision>1</cp:revision>
  <dcterms:created xsi:type="dcterms:W3CDTF">2026-10-24T21:02:16Z</dcterms:created>
  <dcterms:modified xsi:type="dcterms:W3CDTF">2026-10-24T21:02:16Z</dcterms:modified>
</cp:coreProperties>
</file>