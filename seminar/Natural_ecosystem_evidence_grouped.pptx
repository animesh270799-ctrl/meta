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7 · Evidence" id="{c38a2d64-1ee1-f63f-5a9e-1a761c5b3ef2}">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brings together the evidence from natural ecosystems, grouped into five broad types. Crop ecosystems are treated on the next slides. For each group the table gives the reported impact, the condition under which the effect was positive or negative, and the key references.
Boreal and temperate forests. Ezhova and colleagues, 2018, worked at five boreal and hemiboreal forest sites in Finland, Estonia and Siberia. Aerosol loading at these remote sites was low, AOD at 500 nm below 0.25, yet aerosols raised the clear-day diffuse fraction from about 0.11 to 0.2–0.27, and GPP rose by 6 to 14 percent. The reason is the deep, multilayer canopy: diffuse light reaches shaded leaves that are light-limited under direct sun, so the rise in light-use efficiency outweighs the small loss of total radiation. The figure shows this as a parabola: GPP equals light-use efficiency times PAR, light-use efficiency rises with diffuse fraction while PAR falls, so GPP peaks at an intermediate diffuse fraction. At Harvard Forest, Gu and colleagues, 2003, found that sulfate aerosol from the 1991 Mount Pinatubo eruption almost doubled clear-sky diffuse radiation and raised noon photosynthesis by 23 percent in 1992.
Tropical forest, the Amazon. Oliveira and colleagues, 2007, found net ecosystem exchange increased by 8.4 to 16 percent at AOD 0.83 to 1.26 during the burning season, but declined above AOD 1.7, because at such heavy smoke the loss of total radiation is too large. Rap and colleagues, 2015, modelled that fire aerosol over 1998–2007 increased diffuse radiation by 3.4 to 6.8 percent and NPP by 1.4 to 2.8 percent. Supporting this, Doughty and colleagues, 2010, attributed 80 percent of the extra CO2 uptake under high AOD to diffuse light and 20 percent to lower temperature, and Cirino and colleagues, 2014, found higher photosynthetic efficiency at low AOD than under heavy aerosol and thick cloud.
Grassland and savanna. Using flux sites in the eastern United States, Strada and colleagues, 2015, found that AOD above 0.6 enhanced productivity in forests but had a negative effect in croplands and grasslands. Matsui and colleagues, 2008, explain why: NPP rose by up to 35 grams of carbon per square metre for forest, but the effect was negligible for croplands and grasslands with leaf area index below 3, because a short open canopy has few shaded leaves to gain from diffuse light. Jing and colleagues, 2010, likewise found aerosols gave negative carbon uptake over the semi-arid loess plateau of north-west China. In a savanna at Howard Springs, northern Australia, Kanniah and colleagues, 2010, found that a rise in diffuse fraction from 11 to 21 percent did not significantly change carbon flux.
Wetland. The type of aerosol decides the sign. In a restored wetland in California, Hemes and colleagues, 2020, found that scattering wildfire smoke raised light-use efficiency and GPP by 1.2 to 4.1 percent compared with the previous growing season. In the Brazilian Pantanal, Curado and colleagues, 2024, found that high black carbon during biomass burning reduced available PAR, raised air temperature and lowered carbon assimilation.
All biomes. Zhou and colleagues, 2022, estimated that aerosol diffuse fertilisation raises global GPP by 0.95 petagrams of carbon per year under all-sky conditions but by 8.91 under clear skies, because clouds already make light diffuse; black carbon alone reduces GPP by 0.28. Rap and colleagues, 2018, found that biogenic secondary organic aerosol raises global NPP by 1.23 petagrams per year. Mercado and colleagues, 2009, estimated that diffuse radiation changes raised the land carbon sink by about one quarter between 1960 and 1999.
The strip summarises the pattern. The effect is positive with scattering aerosol, moderate load, a deep multilayer canopy and clear skies; it turns negative with very heavy loading, absorbing black carbon, or a short open canopy.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lIns="0" tIns="0" rIns="0" bIns="0" rtlCol="0" anchor="ctr"/>
          <a:lstStyle/>
          <a:p>
            <a:pPr algn="l" indent="0" marL="0">
              <a:buNone/>
            </a:pPr>
            <a:r>
              <a:rPr lang="en-US" sz="1400" b="1" dirty="0">
                <a:solidFill>
                  <a:schemeClr val="accent1"/>
                </a:solidFill>
              </a:rPr>
              <a:t>7 · Evidence</a:t>
            </a: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lIns="0" tIns="0" rIns="0" bIns="0" rtlCol="0" anchor="ctr"/>
          <a:lstStyle/>
          <a:p>
            <a:pPr algn="l" indent="0" marL="0">
              <a:buNone/>
            </a:pPr>
            <a:r>
              <a:rPr lang="en-US" sz="2800" b="1" dirty="0">
                <a:solidFill>
                  <a:schemeClr val="tx2"/>
                </a:solidFill>
              </a:rPr>
              <a:t>Evidence from natural ecosystems across the globe</a:t>
            </a:r>
            <a:endParaRPr lang="en-US" sz="2800" dirty="0"/>
          </a:p>
        </p:txBody>
      </p:sp>
      <p:graphicFrame>
        <p:nvGraphicFramePr>
          <p:cNvPr id="2" name="Ecosystem evidence table"/>
          <p:cNvGraphicFramePr>
            <a:graphicFrameLocks noGrp="1"/>
          </p:cNvGraphicFramePr>
          <p:nvPr>
            <p:extLst>
              <p:ext uri="{D42A27DB-BD31-4B8C-83A1-F6EECF244321}">
                <p14:modId xmlns:p14="http://schemas.microsoft.com/office/powerpoint/2010/main" val="1579011935"/>
              </p:ext>
            </p:extLst>
          </p:nvPr>
        </p:nvGraphicFramePr>
        <p:xfrm>
          <a:off x="457200" y="1280160"/>
          <a:ext cx="8686800" cy="914400"/>
        </p:xfrm>
        <a:graphic>
          <a:graphicData uri="http://schemas.openxmlformats.org/drawingml/2006/table">
            <a:tbl>
              <a:tblPr/>
              <a:tblGrid>
                <a:gridCol w="1600200"/>
                <a:gridCol w="2697480"/>
                <a:gridCol w="2606040"/>
                <a:gridCol w="1783080"/>
              </a:tblGrid>
              <a:tr h="384048">
                <a:tc>
                  <a:txBody>
                    <a:bodyPr/>
                    <a:lstStyle/>
                    <a:p>
                      <a:pPr indent="0" marL="0">
                        <a:buNone/>
                      </a:pPr>
                      <a:r>
                        <a:rPr lang="en-US" sz="1400" b="1" dirty="0">
                          <a:solidFill>
                            <a:schemeClr val="accent1"/>
                          </a:solidFill>
                          <a:latin typeface="Times New Roman" pitchFamily="34" charset="0"/>
                          <a:ea typeface="Times New Roman" pitchFamily="34" charset="-122"/>
                          <a:cs typeface="Times New Roman" pitchFamily="34" charset="-120"/>
                        </a:rPr>
                        <a:t>Ecosystem</a:t>
                      </a:r>
                      <a:endParaRPr lang="en-US" sz="1400" dirty="0">
                        <a:latin typeface="Times New Roman" charset="0"/>
                        <a:ea typeface="Times New Roman" charset="0"/>
                        <a:cs typeface="Times New Roman" charset="0"/>
                      </a:endParaRPr>
                    </a:p>
                  </a:txBody>
                  <a:tcPr marL="73152" marR="73152" marT="36576" marB="36576" anchor="b">
                    <a:lnL w="0" cap="flat" cmpd="sng" algn="ctr">
                      <a:noFill/>
                    </a:lnL>
                    <a:lnR w="0" cap="flat" cmpd="sng" algn="ctr">
                      <a:noFill/>
                    </a:lnR>
                    <a:lnT w="0" cap="flat" cmpd="sng" algn="ctr">
                      <a:noFill/>
                    </a:lnT>
                    <a:lnB w="19050" cap="flat" cmpd="sng" algn="ctr">
                      <a:solidFill>
                        <a:srgbClr val="1F6F8B"/>
                      </a:solidFill>
                      <a:prstDash val="solid"/>
                      <a:round/>
                      <a:headEnd type="none" w="med" len="med"/>
                      <a:tailEnd type="none" w="med" len="med"/>
                    </a:lnB>
                  </a:tcPr>
                </a:tc>
                <a:tc>
                  <a:txBody>
                    <a:bodyPr/>
                    <a:lstStyle/>
                    <a:p>
                      <a:pPr indent="0" marL="0">
                        <a:buNone/>
                      </a:pPr>
                      <a:r>
                        <a:rPr lang="en-US" sz="1400" b="1" dirty="0">
                          <a:solidFill>
                            <a:schemeClr val="accent1"/>
                          </a:solidFill>
                          <a:latin typeface="Times New Roman" pitchFamily="34" charset="0"/>
                          <a:ea typeface="Times New Roman" pitchFamily="34" charset="-122"/>
                          <a:cs typeface="Times New Roman" pitchFamily="34" charset="-120"/>
                        </a:rPr>
                        <a:t>Aerosol impact</a:t>
                      </a:r>
                      <a:endParaRPr lang="en-US" sz="1400" dirty="0">
                        <a:latin typeface="Times New Roman" charset="0"/>
                        <a:ea typeface="Times New Roman" charset="0"/>
                        <a:cs typeface="Times New Roman" charset="0"/>
                      </a:endParaRPr>
                    </a:p>
                  </a:txBody>
                  <a:tcPr marL="73152" marR="73152" marT="36576" marB="36576" anchor="b">
                    <a:lnL w="0" cap="flat" cmpd="sng" algn="ctr">
                      <a:noFill/>
                    </a:lnL>
                    <a:lnR w="0" cap="flat" cmpd="sng" algn="ctr">
                      <a:noFill/>
                    </a:lnR>
                    <a:lnT w="0" cap="flat" cmpd="sng" algn="ctr">
                      <a:noFill/>
                    </a:lnT>
                    <a:lnB w="19050" cap="flat" cmpd="sng" algn="ctr">
                      <a:solidFill>
                        <a:srgbClr val="1F6F8B"/>
                      </a:solidFill>
                      <a:prstDash val="solid"/>
                      <a:round/>
                      <a:headEnd type="none" w="med" len="med"/>
                      <a:tailEnd type="none" w="med" len="med"/>
                    </a:lnB>
                  </a:tcPr>
                </a:tc>
                <a:tc>
                  <a:txBody>
                    <a:bodyPr/>
                    <a:lstStyle/>
                    <a:p>
                      <a:pPr indent="0" marL="0">
                        <a:buNone/>
                      </a:pPr>
                      <a:r>
                        <a:rPr lang="en-US" sz="1400" b="1" dirty="0">
                          <a:solidFill>
                            <a:schemeClr val="accent1"/>
                          </a:solidFill>
                          <a:latin typeface="Times New Roman" pitchFamily="34" charset="0"/>
                          <a:ea typeface="Times New Roman" pitchFamily="34" charset="-122"/>
                          <a:cs typeface="Times New Roman" pitchFamily="34" charset="-120"/>
                        </a:rPr>
                        <a:t>Condition</a:t>
                      </a:r>
                      <a:endParaRPr lang="en-US" sz="1400" dirty="0">
                        <a:latin typeface="Times New Roman" charset="0"/>
                        <a:ea typeface="Times New Roman" charset="0"/>
                        <a:cs typeface="Times New Roman" charset="0"/>
                      </a:endParaRPr>
                    </a:p>
                  </a:txBody>
                  <a:tcPr marL="73152" marR="73152" marT="36576" marB="36576" anchor="b">
                    <a:lnL w="0" cap="flat" cmpd="sng" algn="ctr">
                      <a:noFill/>
                    </a:lnL>
                    <a:lnR w="0" cap="flat" cmpd="sng" algn="ctr">
                      <a:noFill/>
                    </a:lnR>
                    <a:lnT w="0" cap="flat" cmpd="sng" algn="ctr">
                      <a:noFill/>
                    </a:lnT>
                    <a:lnB w="19050" cap="flat" cmpd="sng" algn="ctr">
                      <a:solidFill>
                        <a:srgbClr val="1F6F8B"/>
                      </a:solidFill>
                      <a:prstDash val="solid"/>
                      <a:round/>
                      <a:headEnd type="none" w="med" len="med"/>
                      <a:tailEnd type="none" w="med" len="med"/>
                    </a:lnB>
                  </a:tcPr>
                </a:tc>
                <a:tc>
                  <a:txBody>
                    <a:bodyPr/>
                    <a:lstStyle/>
                    <a:p>
                      <a:pPr indent="0" marL="0">
                        <a:buNone/>
                      </a:pPr>
                      <a:r>
                        <a:rPr lang="en-US" sz="1400" b="1" dirty="0">
                          <a:solidFill>
                            <a:schemeClr val="accent1"/>
                          </a:solidFill>
                          <a:latin typeface="Times New Roman" pitchFamily="34" charset="0"/>
                          <a:ea typeface="Times New Roman" pitchFamily="34" charset="-122"/>
                          <a:cs typeface="Times New Roman" pitchFamily="34" charset="-120"/>
                        </a:rPr>
                        <a:t>References</a:t>
                      </a:r>
                      <a:endParaRPr lang="en-US" sz="1400" dirty="0">
                        <a:latin typeface="Times New Roman" charset="0"/>
                        <a:ea typeface="Times New Roman" charset="0"/>
                        <a:cs typeface="Times New Roman" charset="0"/>
                      </a:endParaRPr>
                    </a:p>
                  </a:txBody>
                  <a:tcPr marL="73152" marR="73152" marT="36576" marB="36576" anchor="b">
                    <a:lnL w="0" cap="flat" cmpd="sng" algn="ctr">
                      <a:noFill/>
                    </a:lnL>
                    <a:lnR w="0" cap="flat" cmpd="sng" algn="ctr">
                      <a:noFill/>
                    </a:lnR>
                    <a:lnT w="0" cap="flat" cmpd="sng" algn="ctr">
                      <a:noFill/>
                    </a:lnT>
                    <a:lnB w="19050" cap="flat" cmpd="sng" algn="ctr">
                      <a:solidFill>
                        <a:srgbClr val="1F6F8B"/>
                      </a:solidFill>
                      <a:prstDash val="solid"/>
                      <a:round/>
                      <a:headEnd type="none" w="med" len="med"/>
                      <a:tailEnd type="none" w="med" len="med"/>
                    </a:lnB>
                  </a:tcPr>
                </a:tc>
              </a:tr>
              <a:tr h="786384">
                <a:tc>
                  <a:txBody>
                    <a:bodyPr/>
                    <a:lstStyle/>
                    <a:p>
                      <a:pPr indent="0" marL="0">
                        <a:buNone/>
                      </a:pPr>
                      <a:r>
                        <a:rPr lang="en-US" sz="1400" b="1" dirty="0">
                          <a:solidFill>
                            <a:schemeClr val="tx2"/>
                          </a:solidFill>
                          <a:latin typeface="Times New Roman" pitchFamily="34" charset="0"/>
                          <a:ea typeface="Times New Roman" pitchFamily="34" charset="-122"/>
                          <a:cs typeface="Times New Roman" pitchFamily="34" charset="-120"/>
                        </a:rPr>
                        <a:t>Boreal &amp; temperate forest</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9525" cap="flat" cmpd="sng" algn="ctr">
                      <a:solidFill>
                        <a:srgbClr val="D3DCE2"/>
                      </a:solidFill>
                      <a:prstDash val="solid"/>
                      <a:round/>
                      <a:headEnd type="none" w="med" len="med"/>
                      <a:tailEnd type="none" w="med" len="med"/>
                    </a:lnB>
                  </a:tcPr>
                </a:tc>
                <a:tc>
                  <a:txBody>
                    <a:bodyPr/>
                    <a:lstStyle/>
                    <a:p>
                      <a:pPr indent="0" marL="0">
                        <a:buNone/>
                      </a:pPr>
                      <a:r>
                        <a:rPr lang="en-US" sz="1400" dirty="0">
                          <a:solidFill>
                            <a:srgbClr val="1A1F24"/>
                          </a:solidFill>
                          <a:latin typeface="Times New Roman" pitchFamily="34" charset="0"/>
                          <a:ea typeface="Times New Roman" pitchFamily="34" charset="-122"/>
                          <a:cs typeface="Times New Roman" pitchFamily="34" charset="-120"/>
                        </a:rPr>
                        <a:t>GPP +6–14%</a:t>
                      </a:r>
                      <a:endParaRPr lang="en-US" sz="1400" dirty="0">
                        <a:latin typeface="Times New Roman" charset="0"/>
                        <a:ea typeface="Times New Roman" charset="0"/>
                        <a:cs typeface="Times New Roman" charset="0"/>
                      </a:endParaRPr>
                    </a:p>
                    <a:p>
                      <a:pPr indent="0" marL="0">
                        <a:buNone/>
                      </a:pPr>
                      <a:r>
                        <a:rPr lang="en-US" sz="1400" dirty="0">
                          <a:solidFill>
                            <a:srgbClr val="1A1F24"/>
                          </a:solidFill>
                          <a:latin typeface="Times New Roman" pitchFamily="34" charset="0"/>
                          <a:ea typeface="Times New Roman" pitchFamily="34" charset="-122"/>
                          <a:cs typeface="Times New Roman" pitchFamily="34" charset="-120"/>
                        </a:rPr>
                        <a:t>Noon GPP +23% after Pinatubo</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9525" cap="flat" cmpd="sng" algn="ctr">
                      <a:solidFill>
                        <a:srgbClr val="D3DCE2"/>
                      </a:solidFill>
                      <a:prstDash val="solid"/>
                      <a:round/>
                      <a:headEnd type="none" w="med" len="med"/>
                      <a:tailEnd type="none" w="med" len="med"/>
                    </a:lnB>
                  </a:tcPr>
                </a:tc>
                <a:tc>
                  <a:txBody>
                    <a:bodyPr/>
                    <a:lstStyle/>
                    <a:p>
                      <a:pPr indent="0" marL="0">
                        <a:buNone/>
                      </a:pPr>
                      <a:r>
                        <a:rPr lang="en-US" sz="1400" b="1" dirty="0">
                          <a:solidFill>
                            <a:schemeClr val="accent3"/>
                          </a:solidFill>
                          <a:latin typeface="Times New Roman" pitchFamily="34" charset="0"/>
                          <a:ea typeface="Times New Roman" pitchFamily="34" charset="-122"/>
                          <a:cs typeface="Times New Roman" pitchFamily="34" charset="-120"/>
                        </a:rPr>
                        <a:t>Positive</a:t>
                      </a:r>
                      <a:r>
                        <a:rPr lang="en-US" sz="1400" dirty="0">
                          <a:solidFill>
                            <a:srgbClr val="1A1F24"/>
                          </a:solidFill>
                          <a:latin typeface="Times New Roman" pitchFamily="34" charset="0"/>
                          <a:ea typeface="Times New Roman" pitchFamily="34" charset="-122"/>
                          <a:cs typeface="Times New Roman" pitchFamily="34" charset="-120"/>
                        </a:rPr>
                        <a:t> under low aerosol load; diffuse fraction 0.11 → 0.2–0.27</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9525" cap="flat" cmpd="sng" algn="ctr">
                      <a:solidFill>
                        <a:srgbClr val="D3DCE2"/>
                      </a:solidFill>
                      <a:prstDash val="solid"/>
                      <a:round/>
                      <a:headEnd type="none" w="med" len="med"/>
                      <a:tailEnd type="none" w="med" len="med"/>
                    </a:lnB>
                  </a:tcPr>
                </a:tc>
                <a:tc>
                  <a:txBody>
                    <a:bodyPr/>
                    <a:lstStyle/>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Ezhova et al., 2018</a:t>
                      </a:r>
                      <a:endParaRPr lang="en-US" sz="1400" dirty="0">
                        <a:latin typeface="Times New Roman" charset="0"/>
                        <a:ea typeface="Times New Roman" charset="0"/>
                        <a:cs typeface="Times New Roman" charset="0"/>
                      </a:endParaRPr>
                    </a:p>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Gu et al., 2003</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9525" cap="flat" cmpd="sng" algn="ctr">
                      <a:solidFill>
                        <a:srgbClr val="D3DCE2"/>
                      </a:solidFill>
                      <a:prstDash val="solid"/>
                      <a:round/>
                      <a:headEnd type="none" w="med" len="med"/>
                      <a:tailEnd type="none" w="med" len="med"/>
                    </a:lnB>
                  </a:tcPr>
                </a:tc>
              </a:tr>
              <a:tr h="786384">
                <a:tc>
                  <a:txBody>
                    <a:bodyPr/>
                    <a:lstStyle/>
                    <a:p>
                      <a:pPr indent="0" marL="0">
                        <a:buNone/>
                      </a:pPr>
                      <a:r>
                        <a:rPr lang="en-US" sz="1400" b="1" dirty="0">
                          <a:solidFill>
                            <a:schemeClr val="tx2"/>
                          </a:solidFill>
                          <a:latin typeface="Times New Roman" pitchFamily="34" charset="0"/>
                          <a:ea typeface="Times New Roman" pitchFamily="34" charset="-122"/>
                          <a:cs typeface="Times New Roman" pitchFamily="34" charset="-120"/>
                        </a:rPr>
                        <a:t>Tropical forest (Amazon)</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9525" cap="flat" cmpd="sng" algn="ctr">
                      <a:solidFill>
                        <a:srgbClr val="D3DCE2"/>
                      </a:solidFill>
                      <a:prstDash val="solid"/>
                      <a:round/>
                      <a:headEnd type="none" w="med" len="med"/>
                      <a:tailEnd type="none" w="med" len="med"/>
                    </a:lnB>
                  </a:tcPr>
                </a:tc>
                <a:tc>
                  <a:txBody>
                    <a:bodyPr/>
                    <a:lstStyle/>
                    <a:p>
                      <a:pPr indent="0" marL="0">
                        <a:buNone/>
                      </a:pPr>
                      <a:r>
                        <a:rPr lang="en-US" sz="1400" dirty="0">
                          <a:solidFill>
                            <a:srgbClr val="1A1F24"/>
                          </a:solidFill>
                          <a:latin typeface="Times New Roman" pitchFamily="34" charset="0"/>
                          <a:ea typeface="Times New Roman" pitchFamily="34" charset="-122"/>
                          <a:cs typeface="Times New Roman" pitchFamily="34" charset="-120"/>
                        </a:rPr>
                        <a:t>NEE +8.4–16%</a:t>
                      </a:r>
                      <a:endParaRPr lang="en-US" sz="1400" dirty="0">
                        <a:latin typeface="Times New Roman" charset="0"/>
                        <a:ea typeface="Times New Roman" charset="0"/>
                        <a:cs typeface="Times New Roman" charset="0"/>
                      </a:endParaRPr>
                    </a:p>
                    <a:p>
                      <a:pPr indent="0" marL="0">
                        <a:buNone/>
                      </a:pPr>
                      <a:r>
                        <a:rPr lang="en-US" sz="1400" dirty="0">
                          <a:solidFill>
                            <a:srgbClr val="1A1F24"/>
                          </a:solidFill>
                          <a:latin typeface="Times New Roman" pitchFamily="34" charset="0"/>
                          <a:ea typeface="Times New Roman" pitchFamily="34" charset="-122"/>
                          <a:cs typeface="Times New Roman" pitchFamily="34" charset="-120"/>
                        </a:rPr>
                        <a:t>NPP +1.4–2.8% (fire aerosol)</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9525" cap="flat" cmpd="sng" algn="ctr">
                      <a:solidFill>
                        <a:srgbClr val="D3DCE2"/>
                      </a:solidFill>
                      <a:prstDash val="solid"/>
                      <a:round/>
                      <a:headEnd type="none" w="med" len="med"/>
                      <a:tailEnd type="none" w="med" len="med"/>
                    </a:lnB>
                  </a:tcPr>
                </a:tc>
                <a:tc>
                  <a:txBody>
                    <a:bodyPr/>
                    <a:lstStyle/>
                    <a:p>
                      <a:pPr indent="0" marL="0">
                        <a:buNone/>
                      </a:pPr>
                      <a:r>
                        <a:rPr lang="en-US" sz="1400" b="1" dirty="0">
                          <a:solidFill>
                            <a:schemeClr val="accent3"/>
                          </a:solidFill>
                          <a:latin typeface="Times New Roman" pitchFamily="34" charset="0"/>
                          <a:ea typeface="Times New Roman" pitchFamily="34" charset="-122"/>
                          <a:cs typeface="Times New Roman" pitchFamily="34" charset="-120"/>
                        </a:rPr>
                        <a:t>Positive</a:t>
                      </a:r>
                      <a:r>
                        <a:rPr lang="en-US" sz="1400" dirty="0">
                          <a:solidFill>
                            <a:srgbClr val="1A1F24"/>
                          </a:solidFill>
                          <a:latin typeface="Times New Roman" pitchFamily="34" charset="0"/>
                          <a:ea typeface="Times New Roman" pitchFamily="34" charset="-122"/>
                          <a:cs typeface="Times New Roman" pitchFamily="34" charset="-120"/>
                        </a:rPr>
                        <a:t> at AOD 0.83–1.26; </a:t>
                      </a:r>
                      <a:r>
                        <a:rPr lang="en-US" sz="1400" b="1" dirty="0">
                          <a:solidFill>
                            <a:schemeClr val="accent5"/>
                          </a:solidFill>
                          <a:latin typeface="Times New Roman" pitchFamily="34" charset="0"/>
                          <a:ea typeface="Times New Roman" pitchFamily="34" charset="-122"/>
                          <a:cs typeface="Times New Roman" pitchFamily="34" charset="-120"/>
                        </a:rPr>
                        <a:t>Negative</a:t>
                      </a:r>
                      <a:r>
                        <a:rPr lang="en-US" sz="1400" dirty="0">
                          <a:solidFill>
                            <a:srgbClr val="1A1F24"/>
                          </a:solidFill>
                          <a:latin typeface="Times New Roman" pitchFamily="34" charset="0"/>
                          <a:ea typeface="Times New Roman" pitchFamily="34" charset="-122"/>
                          <a:cs typeface="Times New Roman" pitchFamily="34" charset="-120"/>
                        </a:rPr>
                        <a:t> above AOD 1.7</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9525" cap="flat" cmpd="sng" algn="ctr">
                      <a:solidFill>
                        <a:srgbClr val="D3DCE2"/>
                      </a:solidFill>
                      <a:prstDash val="solid"/>
                      <a:round/>
                      <a:headEnd type="none" w="med" len="med"/>
                      <a:tailEnd type="none" w="med" len="med"/>
                    </a:lnB>
                  </a:tcPr>
                </a:tc>
                <a:tc>
                  <a:txBody>
                    <a:bodyPr/>
                    <a:lstStyle/>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Oliveira et al., 2007</a:t>
                      </a:r>
                      <a:endParaRPr lang="en-US" sz="1400" dirty="0">
                        <a:latin typeface="Times New Roman" charset="0"/>
                        <a:ea typeface="Times New Roman" charset="0"/>
                        <a:cs typeface="Times New Roman" charset="0"/>
                      </a:endParaRPr>
                    </a:p>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Rap et al., 2015</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9525" cap="flat" cmpd="sng" algn="ctr">
                      <a:solidFill>
                        <a:srgbClr val="D3DCE2"/>
                      </a:solidFill>
                      <a:prstDash val="solid"/>
                      <a:round/>
                      <a:headEnd type="none" w="med" len="med"/>
                      <a:tailEnd type="none" w="med" len="med"/>
                    </a:lnB>
                  </a:tcPr>
                </a:tc>
              </a:tr>
              <a:tr h="841248">
                <a:tc>
                  <a:txBody>
                    <a:bodyPr/>
                    <a:lstStyle/>
                    <a:p>
                      <a:pPr indent="0" marL="0">
                        <a:buNone/>
                      </a:pPr>
                      <a:r>
                        <a:rPr lang="en-US" sz="1400" b="1" dirty="0">
                          <a:solidFill>
                            <a:schemeClr val="tx2"/>
                          </a:solidFill>
                          <a:latin typeface="Times New Roman" pitchFamily="34" charset="0"/>
                          <a:ea typeface="Times New Roman" pitchFamily="34" charset="-122"/>
                          <a:cs typeface="Times New Roman" pitchFamily="34" charset="-120"/>
                        </a:rPr>
                        <a:t>Grassland &amp; savanna</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9525" cap="flat" cmpd="sng" algn="ctr">
                      <a:solidFill>
                        <a:srgbClr val="D3DCE2"/>
                      </a:solidFill>
                      <a:prstDash val="solid"/>
                      <a:round/>
                      <a:headEnd type="none" w="med" len="med"/>
                      <a:tailEnd type="none" w="med" len="med"/>
                    </a:lnB>
                  </a:tcPr>
                </a:tc>
                <a:tc>
                  <a:txBody>
                    <a:bodyPr/>
                    <a:lstStyle/>
                    <a:p>
                      <a:pPr indent="0" marL="0">
                        <a:buNone/>
                      </a:pPr>
                      <a:r>
                        <a:rPr lang="en-US" sz="1400" dirty="0">
                          <a:solidFill>
                            <a:srgbClr val="1A1F24"/>
                          </a:solidFill>
                          <a:latin typeface="Times New Roman" pitchFamily="34" charset="0"/>
                          <a:ea typeface="Times New Roman" pitchFamily="34" charset="-122"/>
                          <a:cs typeface="Times New Roman" pitchFamily="34" charset="-120"/>
                        </a:rPr>
                        <a:t>Grassland uptake fell</a:t>
                      </a:r>
                      <a:endParaRPr lang="en-US" sz="1400" dirty="0">
                        <a:latin typeface="Times New Roman" charset="0"/>
                        <a:ea typeface="Times New Roman" charset="0"/>
                        <a:cs typeface="Times New Roman" charset="0"/>
                      </a:endParaRPr>
                    </a:p>
                    <a:p>
                      <a:pPr indent="0" marL="0">
                        <a:buNone/>
                      </a:pPr>
                      <a:r>
                        <a:rPr lang="en-US" sz="1400" dirty="0">
                          <a:solidFill>
                            <a:srgbClr val="1A1F24"/>
                          </a:solidFill>
                          <a:latin typeface="Times New Roman" pitchFamily="34" charset="0"/>
                          <a:ea typeface="Times New Roman" pitchFamily="34" charset="-122"/>
                          <a:cs typeface="Times New Roman" pitchFamily="34" charset="-120"/>
                        </a:rPr>
                        <a:t>Savanna: no significant change</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9525" cap="flat" cmpd="sng" algn="ctr">
                      <a:solidFill>
                        <a:srgbClr val="D3DCE2"/>
                      </a:solidFill>
                      <a:prstDash val="solid"/>
                      <a:round/>
                      <a:headEnd type="none" w="med" len="med"/>
                      <a:tailEnd type="none" w="med" len="med"/>
                    </a:lnB>
                  </a:tcPr>
                </a:tc>
                <a:tc>
                  <a:txBody>
                    <a:bodyPr/>
                    <a:lstStyle/>
                    <a:p>
                      <a:pPr indent="0" marL="0">
                        <a:buNone/>
                      </a:pPr>
                      <a:r>
                        <a:rPr lang="en-US" sz="1400" b="1" dirty="0">
                          <a:solidFill>
                            <a:schemeClr val="accent5"/>
                          </a:solidFill>
                          <a:latin typeface="Times New Roman" pitchFamily="34" charset="0"/>
                          <a:ea typeface="Times New Roman" pitchFamily="34" charset="-122"/>
                          <a:cs typeface="Times New Roman" pitchFamily="34" charset="-120"/>
                        </a:rPr>
                        <a:t>Negative</a:t>
                      </a:r>
                      <a:r>
                        <a:rPr lang="en-US" sz="1400" dirty="0">
                          <a:solidFill>
                            <a:srgbClr val="1A1F24"/>
                          </a:solidFill>
                          <a:latin typeface="Times New Roman" pitchFamily="34" charset="0"/>
                          <a:ea typeface="Times New Roman" pitchFamily="34" charset="-122"/>
                          <a:cs typeface="Times New Roman" pitchFamily="34" charset="-120"/>
                        </a:rPr>
                        <a:t> at AOD &gt; 0.6; negligible gain when LAI &lt; 3</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9525" cap="flat" cmpd="sng" algn="ctr">
                      <a:solidFill>
                        <a:srgbClr val="D3DCE2"/>
                      </a:solidFill>
                      <a:prstDash val="solid"/>
                      <a:round/>
                      <a:headEnd type="none" w="med" len="med"/>
                      <a:tailEnd type="none" w="med" len="med"/>
                    </a:lnB>
                  </a:tcPr>
                </a:tc>
                <a:tc>
                  <a:txBody>
                    <a:bodyPr/>
                    <a:lstStyle/>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Strada et al., 2015</a:t>
                      </a:r>
                      <a:endParaRPr lang="en-US" sz="1400" dirty="0">
                        <a:latin typeface="Times New Roman" charset="0"/>
                        <a:ea typeface="Times New Roman" charset="0"/>
                        <a:cs typeface="Times New Roman" charset="0"/>
                      </a:endParaRPr>
                    </a:p>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Matsui et al., 2008</a:t>
                      </a:r>
                      <a:endParaRPr lang="en-US" sz="1400" dirty="0">
                        <a:latin typeface="Times New Roman" charset="0"/>
                        <a:ea typeface="Times New Roman" charset="0"/>
                        <a:cs typeface="Times New Roman" charset="0"/>
                      </a:endParaRPr>
                    </a:p>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Kanniah et al., 2010</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9525" cap="flat" cmpd="sng" algn="ctr">
                      <a:solidFill>
                        <a:srgbClr val="D3DCE2"/>
                      </a:solidFill>
                      <a:prstDash val="solid"/>
                      <a:round/>
                      <a:headEnd type="none" w="med" len="med"/>
                      <a:tailEnd type="none" w="med" len="med"/>
                    </a:lnB>
                  </a:tcPr>
                </a:tc>
              </a:tr>
              <a:tr h="786384">
                <a:tc>
                  <a:txBody>
                    <a:bodyPr/>
                    <a:lstStyle/>
                    <a:p>
                      <a:pPr indent="0" marL="0">
                        <a:buNone/>
                      </a:pPr>
                      <a:r>
                        <a:rPr lang="en-US" sz="1400" b="1" dirty="0">
                          <a:solidFill>
                            <a:schemeClr val="tx2"/>
                          </a:solidFill>
                          <a:latin typeface="Times New Roman" pitchFamily="34" charset="0"/>
                          <a:ea typeface="Times New Roman" pitchFamily="34" charset="-122"/>
                          <a:cs typeface="Times New Roman" pitchFamily="34" charset="-120"/>
                        </a:rPr>
                        <a:t>Wetland</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9525" cap="flat" cmpd="sng" algn="ctr">
                      <a:solidFill>
                        <a:srgbClr val="D3DCE2"/>
                      </a:solidFill>
                      <a:prstDash val="solid"/>
                      <a:round/>
                      <a:headEnd type="none" w="med" len="med"/>
                      <a:tailEnd type="none" w="med" len="med"/>
                    </a:lnB>
                  </a:tcPr>
                </a:tc>
                <a:tc>
                  <a:txBody>
                    <a:bodyPr/>
                    <a:lstStyle/>
                    <a:p>
                      <a:pPr indent="0" marL="0">
                        <a:buNone/>
                      </a:pPr>
                      <a:r>
                        <a:rPr lang="en-US" sz="1400" dirty="0">
                          <a:solidFill>
                            <a:srgbClr val="1A1F24"/>
                          </a:solidFill>
                          <a:latin typeface="Times New Roman" pitchFamily="34" charset="0"/>
                          <a:ea typeface="Times New Roman" pitchFamily="34" charset="-122"/>
                          <a:cs typeface="Times New Roman" pitchFamily="34" charset="-120"/>
                        </a:rPr>
                        <a:t>GPP +1.2–4.1% (California)</a:t>
                      </a:r>
                      <a:endParaRPr lang="en-US" sz="1400" dirty="0">
                        <a:latin typeface="Times New Roman" charset="0"/>
                        <a:ea typeface="Times New Roman" charset="0"/>
                        <a:cs typeface="Times New Roman" charset="0"/>
                      </a:endParaRPr>
                    </a:p>
                    <a:p>
                      <a:pPr indent="0" marL="0">
                        <a:buNone/>
                      </a:pPr>
                      <a:r>
                        <a:rPr lang="en-US" sz="1400" dirty="0">
                          <a:solidFill>
                            <a:srgbClr val="1A1F24"/>
                          </a:solidFill>
                          <a:latin typeface="Times New Roman" pitchFamily="34" charset="0"/>
                          <a:ea typeface="Times New Roman" pitchFamily="34" charset="-122"/>
                          <a:cs typeface="Times New Roman" pitchFamily="34" charset="-120"/>
                        </a:rPr>
                        <a:t>Assimilation fell (Pantanal)</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9525" cap="flat" cmpd="sng" algn="ctr">
                      <a:solidFill>
                        <a:srgbClr val="D3DCE2"/>
                      </a:solidFill>
                      <a:prstDash val="solid"/>
                      <a:round/>
                      <a:headEnd type="none" w="med" len="med"/>
                      <a:tailEnd type="none" w="med" len="med"/>
                    </a:lnB>
                  </a:tcPr>
                </a:tc>
                <a:tc>
                  <a:txBody>
                    <a:bodyPr/>
                    <a:lstStyle/>
                    <a:p>
                      <a:pPr indent="0" marL="0">
                        <a:buNone/>
                      </a:pPr>
                      <a:r>
                        <a:rPr lang="en-US" sz="1400" b="1" dirty="0">
                          <a:solidFill>
                            <a:schemeClr val="accent3"/>
                          </a:solidFill>
                          <a:latin typeface="Times New Roman" pitchFamily="34" charset="0"/>
                          <a:ea typeface="Times New Roman" pitchFamily="34" charset="-122"/>
                          <a:cs typeface="Times New Roman" pitchFamily="34" charset="-120"/>
                        </a:rPr>
                        <a:t>Positive</a:t>
                      </a:r>
                      <a:r>
                        <a:rPr lang="en-US" sz="1400" dirty="0">
                          <a:solidFill>
                            <a:srgbClr val="1A1F24"/>
                          </a:solidFill>
                          <a:latin typeface="Times New Roman" pitchFamily="34" charset="0"/>
                          <a:ea typeface="Times New Roman" pitchFamily="34" charset="-122"/>
                          <a:cs typeface="Times New Roman" pitchFamily="34" charset="-120"/>
                        </a:rPr>
                        <a:t> with scattering smoke; </a:t>
                      </a:r>
                      <a:r>
                        <a:rPr lang="en-US" sz="1400" b="1" dirty="0">
                          <a:solidFill>
                            <a:schemeClr val="accent5"/>
                          </a:solidFill>
                          <a:latin typeface="Times New Roman" pitchFamily="34" charset="0"/>
                          <a:ea typeface="Times New Roman" pitchFamily="34" charset="-122"/>
                          <a:cs typeface="Times New Roman" pitchFamily="34" charset="-120"/>
                        </a:rPr>
                        <a:t>Negative</a:t>
                      </a:r>
                      <a:r>
                        <a:rPr lang="en-US" sz="1400" dirty="0">
                          <a:solidFill>
                            <a:srgbClr val="1A1F24"/>
                          </a:solidFill>
                          <a:latin typeface="Times New Roman" pitchFamily="34" charset="0"/>
                          <a:ea typeface="Times New Roman" pitchFamily="34" charset="-122"/>
                          <a:cs typeface="Times New Roman" pitchFamily="34" charset="-120"/>
                        </a:rPr>
                        <a:t> with black carbon</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9525" cap="flat" cmpd="sng" algn="ctr">
                      <a:solidFill>
                        <a:srgbClr val="D3DCE2"/>
                      </a:solidFill>
                      <a:prstDash val="solid"/>
                      <a:round/>
                      <a:headEnd type="none" w="med" len="med"/>
                      <a:tailEnd type="none" w="med" len="med"/>
                    </a:lnB>
                  </a:tcPr>
                </a:tc>
                <a:tc>
                  <a:txBody>
                    <a:bodyPr/>
                    <a:lstStyle/>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Hemes et al., 2020</a:t>
                      </a:r>
                      <a:endParaRPr lang="en-US" sz="1400" dirty="0">
                        <a:latin typeface="Times New Roman" charset="0"/>
                        <a:ea typeface="Times New Roman" charset="0"/>
                        <a:cs typeface="Times New Roman" charset="0"/>
                      </a:endParaRPr>
                    </a:p>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Curado et al., 2024</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9525" cap="flat" cmpd="sng" algn="ctr">
                      <a:solidFill>
                        <a:srgbClr val="D3DCE2"/>
                      </a:solidFill>
                      <a:prstDash val="solid"/>
                      <a:round/>
                      <a:headEnd type="none" w="med" len="med"/>
                      <a:tailEnd type="none" w="med" len="med"/>
                    </a:lnB>
                  </a:tcPr>
                </a:tc>
              </a:tr>
              <a:tr h="841248">
                <a:tc>
                  <a:txBody>
                    <a:bodyPr/>
                    <a:lstStyle/>
                    <a:p>
                      <a:pPr indent="0" marL="0">
                        <a:buNone/>
                      </a:pPr>
                      <a:r>
                        <a:rPr lang="en-US" sz="1400" b="1" dirty="0">
                          <a:solidFill>
                            <a:schemeClr val="tx2"/>
                          </a:solidFill>
                          <a:latin typeface="Times New Roman" pitchFamily="34" charset="0"/>
                          <a:ea typeface="Times New Roman" pitchFamily="34" charset="-122"/>
                          <a:cs typeface="Times New Roman" pitchFamily="34" charset="-120"/>
                        </a:rPr>
                        <a:t>All biomes (global)</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A1F24"/>
                          </a:solidFill>
                          <a:latin typeface="Times New Roman" pitchFamily="34" charset="0"/>
                          <a:ea typeface="Times New Roman" pitchFamily="34" charset="-122"/>
                          <a:cs typeface="Times New Roman" pitchFamily="34" charset="-120"/>
                        </a:rPr>
                        <a:t>GPP +0.95, NPP +1.23 Pg C yr</a:t>
                      </a:r>
                      <a:r>
                        <a:rPr lang="en-US" sz="1400" baseline="30000" dirty="0">
                          <a:solidFill>
                            <a:srgbClr val="1A1F24"/>
                          </a:solidFill>
                          <a:latin typeface="Times New Roman" pitchFamily="34" charset="0"/>
                          <a:ea typeface="Times New Roman" pitchFamily="34" charset="-122"/>
                          <a:cs typeface="Times New Roman" pitchFamily="34" charset="-120"/>
                        </a:rPr>
                        <a:t>−1</a:t>
                      </a:r>
                      <a:endParaRPr lang="en-US" sz="1400" dirty="0">
                        <a:latin typeface="Times New Roman" charset="0"/>
                        <a:ea typeface="Times New Roman" charset="0"/>
                        <a:cs typeface="Times New Roman" charset="0"/>
                      </a:endParaRPr>
                    </a:p>
                    <a:p>
                      <a:pPr indent="0" marL="0">
                        <a:buNone/>
                      </a:pPr>
                      <a:r>
                        <a:rPr lang="en-US" sz="1400" dirty="0">
                          <a:solidFill>
                            <a:srgbClr val="1A1F24"/>
                          </a:solidFill>
                          <a:latin typeface="Times New Roman" pitchFamily="34" charset="0"/>
                          <a:ea typeface="Times New Roman" pitchFamily="34" charset="-122"/>
                          <a:cs typeface="Times New Roman" pitchFamily="34" charset="-120"/>
                        </a:rPr>
                        <a:t>Land sink ~¼ higher, 1960–1999</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b="1" dirty="0">
                          <a:solidFill>
                            <a:schemeClr val="accent3"/>
                          </a:solidFill>
                          <a:latin typeface="Times New Roman" pitchFamily="34" charset="0"/>
                          <a:ea typeface="Times New Roman" pitchFamily="34" charset="-122"/>
                          <a:cs typeface="Times New Roman" pitchFamily="34" charset="-120"/>
                        </a:rPr>
                        <a:t>Positive</a:t>
                      </a:r>
                      <a:r>
                        <a:rPr lang="en-US" sz="1400" dirty="0">
                          <a:solidFill>
                            <a:srgbClr val="1A1F24"/>
                          </a:solidFill>
                          <a:latin typeface="Times New Roman" pitchFamily="34" charset="0"/>
                          <a:ea typeface="Times New Roman" pitchFamily="34" charset="-122"/>
                          <a:cs typeface="Times New Roman" pitchFamily="34" charset="-120"/>
                        </a:rPr>
                        <a:t>; smaller under clouds (all‑sky 0.95 vs clear‑sky 8.91)</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Zhou et al., 2022</a:t>
                      </a:r>
                      <a:endParaRPr lang="en-US" sz="1400" dirty="0">
                        <a:latin typeface="Times New Roman" charset="0"/>
                        <a:ea typeface="Times New Roman" charset="0"/>
                        <a:cs typeface="Times New Roman" charset="0"/>
                      </a:endParaRPr>
                    </a:p>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Rap et al., 2018</a:t>
                      </a:r>
                      <a:endParaRPr lang="en-US" sz="1400" dirty="0">
                        <a:latin typeface="Times New Roman" charset="0"/>
                        <a:ea typeface="Times New Roman" charset="0"/>
                        <a:cs typeface="Times New Roman" charset="0"/>
                      </a:endParaRPr>
                    </a:p>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Mercado et al., 2009</a:t>
                      </a:r>
                      <a:endParaRPr lang="en-US" sz="1400" dirty="0">
                        <a:latin typeface="Times New Roman" charset="0"/>
                        <a:ea typeface="Times New Roman" charset="0"/>
                        <a:cs typeface="Times New Roman" charset="0"/>
                      </a:endParaRPr>
                    </a:p>
                  </a:txBody>
                  <a:tcPr marL="73152" marR="73152" marT="36576" marB="36576" anchor="ctr">
                    <a:lnL w="0" cap="flat" cmpd="sng" algn="ctr">
                      <a:noFill/>
                    </a:lnL>
                    <a:lnR w="0" cap="flat" cmpd="sng" algn="ctr">
                      <a:noFill/>
                    </a:lnR>
                    <a:lnT w="0" cap="flat" cmpd="sng" algn="ctr">
                      <a:noFill/>
                    </a:lnT>
                    <a:lnB w="0" cap="flat" cmpd="sng" algn="ctr">
                      <a:noFill/>
                    </a:lnB>
                  </a:tcPr>
                </a:tc>
              </a:tr>
            </a:tbl>
          </a:graphicData>
        </a:graphic>
      </p:graphicFrame>
      <p:sp>
        <p:nvSpPr>
          <p:cNvPr id="5" name="Ezhova figure card"/>
          <p:cNvSpPr/>
          <p:nvPr/>
        </p:nvSpPr>
        <p:spPr>
          <a:xfrm>
            <a:off x="9372600" y="1325880"/>
            <a:ext cx="2359152" cy="3252884"/>
          </a:xfrm>
          <a:prstGeom prst="roundRect">
            <a:avLst>
              <a:gd name="adj" fmla="val 2713"/>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6" name="Ezhova figure title"/>
          <p:cNvSpPr txBox="1"/>
          <p:nvPr/>
        </p:nvSpPr>
        <p:spPr>
          <a:xfrm>
            <a:off x="9509760" y="1417320"/>
            <a:ext cx="2084832" cy="530352"/>
          </a:xfrm>
          <a:prstGeom prst="rect">
            <a:avLst/>
          </a:prstGeom>
          <a:noFill/>
          <a:ln/>
        </p:spPr>
        <p:txBody>
          <a:bodyPr wrap="square" lIns="0" tIns="0" rIns="0" bIns="0" rtlCol="0" anchor="t"/>
          <a:lstStyle/>
          <a:p>
            <a:pPr indent="0" marL="0">
              <a:buNone/>
            </a:pPr>
            <a:r>
              <a:rPr lang="en-US" sz="1400" b="1" dirty="0">
                <a:solidFill>
                  <a:schemeClr val="tx2"/>
                </a:solidFill>
              </a:rPr>
              <a:t>GPP vs diffuse fraction, five boreal sites</a:t>
            </a:r>
            <a:endParaRPr lang="en-US" sz="1400" dirty="0"/>
          </a:p>
        </p:txBody>
      </p:sp>
      <p:pic>
        <p:nvPicPr>
          <p:cNvPr id="7" name="Ezhova figure" descr="Ezhova figure">    </p:cNvPr>
          <p:cNvPicPr>
            <a:picLocks noChangeAspect="1"/>
          </p:cNvPicPr>
          <p:nvPr/>
        </p:nvPicPr>
        <p:blipFill>
          <a:blip r:embed="rId1"/>
          <a:stretch>
            <a:fillRect/>
          </a:stretch>
        </p:blipFill>
        <p:spPr>
          <a:xfrm>
            <a:off x="9500616" y="1947672"/>
            <a:ext cx="2103120" cy="1744124"/>
          </a:xfrm>
          <a:prstGeom prst="rect">
            <a:avLst/>
          </a:prstGeom>
        </p:spPr>
      </p:pic>
      <p:sp>
        <p:nvSpPr>
          <p:cNvPr id="8" name="Ezhova figure caption"/>
          <p:cNvSpPr txBox="1"/>
          <p:nvPr/>
        </p:nvSpPr>
        <p:spPr>
          <a:xfrm>
            <a:off x="9509760" y="3764948"/>
            <a:ext cx="2084832" cy="457200"/>
          </a:xfrm>
          <a:prstGeom prst="rect">
            <a:avLst/>
          </a:prstGeom>
          <a:noFill/>
          <a:ln/>
        </p:spPr>
        <p:txBody>
          <a:bodyPr wrap="square" lIns="0" tIns="0" rIns="0" bIns="0" rtlCol="0" anchor="t"/>
          <a:lstStyle/>
          <a:p>
            <a:pPr indent="0" marL="0">
              <a:buNone/>
            </a:pPr>
            <a:r>
              <a:rPr lang="en-US" sz="1400" dirty="0">
                <a:solidFill>
                  <a:schemeClr val="tx1"/>
                </a:solidFill>
              </a:rPr>
              <a:t>GPP peaks at an intermediate diffuse fraction</a:t>
            </a:r>
            <a:endParaRPr lang="en-US" sz="1400" dirty="0"/>
          </a:p>
        </p:txBody>
      </p:sp>
      <p:sp>
        <p:nvSpPr>
          <p:cNvPr id="9" name="Ezhova figure source"/>
          <p:cNvSpPr txBox="1"/>
          <p:nvPr/>
        </p:nvSpPr>
        <p:spPr>
          <a:xfrm>
            <a:off x="9509760" y="4222148"/>
            <a:ext cx="2084832" cy="246888"/>
          </a:xfrm>
          <a:prstGeom prst="rect">
            <a:avLst/>
          </a:prstGeom>
          <a:noFill/>
          <a:ln/>
        </p:spPr>
        <p:txBody>
          <a:bodyPr wrap="square" lIns="0" tIns="0" rIns="0" bIns="0" rtlCol="0" anchor="t"/>
          <a:lstStyle/>
          <a:p>
            <a:pPr indent="0" marL="0">
              <a:buNone/>
            </a:pPr>
            <a:r>
              <a:rPr lang="en-US" sz="1400" i="1" dirty="0">
                <a:solidFill>
                  <a:schemeClr val="accent1"/>
                </a:solidFill>
              </a:rPr>
              <a:t>Ezhova et al., 2018</a:t>
            </a:r>
            <a:endParaRPr lang="en-US" sz="1400" dirty="0"/>
          </a:p>
        </p:txBody>
      </p:sp>
      <p:sp>
        <p:nvSpPr>
          <p:cNvPr id="10" name="Condition strip"/>
          <p:cNvSpPr/>
          <p:nvPr/>
        </p:nvSpPr>
        <p:spPr>
          <a:xfrm>
            <a:off x="457200" y="5852160"/>
            <a:ext cx="11274552" cy="457200"/>
          </a:xfrm>
          <a:prstGeom prst="roundRect">
            <a:avLst>
              <a:gd name="adj" fmla="val 12000"/>
            </a:avLst>
          </a:prstGeom>
          <a:solidFill>
            <a:schemeClr val="bg2"/>
          </a:solidFill>
          <a:ln w="12700">
            <a:solidFill>
              <a:schemeClr val="bg2"/>
            </a:solidFill>
            <a:prstDash val="solid"/>
          </a:ln>
        </p:spPr>
      </p:sp>
      <p:sp>
        <p:nvSpPr>
          <p:cNvPr id="11" name="Condition strip text"/>
          <p:cNvSpPr txBox="1"/>
          <p:nvPr/>
        </p:nvSpPr>
        <p:spPr>
          <a:xfrm>
            <a:off x="594360" y="5852160"/>
            <a:ext cx="11000232" cy="457200"/>
          </a:xfrm>
          <a:prstGeom prst="rect">
            <a:avLst/>
          </a:prstGeom>
          <a:noFill/>
          <a:ln/>
        </p:spPr>
        <p:txBody>
          <a:bodyPr wrap="square" lIns="0" tIns="0" rIns="0" bIns="0" rtlCol="0" anchor="ctr"/>
          <a:lstStyle/>
          <a:p>
            <a:pPr indent="0" marL="0">
              <a:buNone/>
            </a:pPr>
            <a:r>
              <a:rPr lang="en-US" sz="1400" b="1" dirty="0">
                <a:solidFill>
                  <a:schemeClr val="tx1"/>
                </a:solidFill>
              </a:rPr>
              <a:t>Positive:</a:t>
            </a:r>
            <a:r>
              <a:rPr lang="en-US" sz="1400" dirty="0">
                <a:solidFill>
                  <a:schemeClr val="tx1"/>
                </a:solidFill>
              </a:rPr>
              <a:t> scattering aerosol, moderate load, deep canopy, clear sky      </a:t>
            </a:r>
            <a:r>
              <a:rPr lang="en-US" sz="1400" b="1" dirty="0">
                <a:solidFill>
                  <a:schemeClr val="tx1"/>
                </a:solidFill>
              </a:rPr>
              <a:t>Negative:</a:t>
            </a:r>
            <a:r>
              <a:rPr lang="en-US" sz="1400" dirty="0">
                <a:solidFill>
                  <a:schemeClr val="tx1"/>
                </a:solidFill>
              </a:rPr>
              <a:t> very heavy load, black carbon, short open canopy</a:t>
            </a:r>
            <a:endParaRPr lang="en-US" sz="14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1</a:t>
            </a:fld>
            <a:endParaRPr lang="en-US"/>
          </a:p>
        </p:txBody>
      </p:sp>
    </p:spTree>
  </p:cSld>
  <p:clrMapOvr>
    <a:masterClrMapping/>
  </p:clrMapOvr>
</p:sld>
</file>

<file path=ppt/theme/theme1.xml><?xml version="1.0" encoding="utf-8"?>
<a:theme xmlns:a="http://schemas.openxmlformats.org/drawingml/2006/main" name="Aerosol Haze TNR">
  <a:themeElements>
    <a:clrScheme name="Aerosol Haze TNR">
      <a:dk1>
        <a:srgbClr val="1A1F24"/>
      </a:dk1>
      <a:lt1>
        <a:srgbClr val="FFFFFF"/>
      </a:lt1>
      <a:dk2>
        <a:srgbClr val="16384A"/>
      </a:dk2>
      <a:lt2>
        <a:srgbClr val="EDF2F5"/>
      </a:lt2>
      <a:accent1>
        <a:srgbClr val="1F6F8B"/>
      </a:accent1>
      <a:accent2>
        <a:srgbClr val="D98E04"/>
      </a:accent2>
      <a:accent3>
        <a:srgbClr val="3C8D5A"/>
      </a:accent3>
      <a:accent4>
        <a:srgbClr val="8A9BA8"/>
      </a:accent4>
      <a:accent5>
        <a:srgbClr val="B5452F"/>
      </a:accent5>
      <a:accent6>
        <a:srgbClr val="5E4B8B"/>
      </a:accent6>
      <a:hlink>
        <a:srgbClr val="1F6F8B"/>
      </a:hlink>
      <a:folHlink>
        <a:srgbClr val="5E4B8B"/>
      </a:folHlink>
    </a:clrScheme>
    <a:fontScheme name="Aerosol Haze TNR">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Remote Sensing for Quantifying Aerosol Impact on Terrestrial Ecosystem Productivity</dc:title>
  <dc:subject>PptxGenJS Presentation</dc:subject>
  <dc:creator>PhD credit seminar</dc:creator>
  <cp:lastModifiedBy>PhD credit seminar</cp:lastModifiedBy>
  <cp:revision>1</cp:revision>
  <dcterms:created xsi:type="dcterms:W3CDTF">2026-10-25T18:50:00Z</dcterms:created>
  <dcterms:modified xsi:type="dcterms:W3CDTF">2026-10-25T18:50:00Z</dcterms:modified>
</cp:coreProperties>
</file>