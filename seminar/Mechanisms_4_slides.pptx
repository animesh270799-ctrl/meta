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6 · Mechanisms of aerosol impact" id="{c2295fe6-b4c4-02ed-27dc-83a43592212c}">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explains how aerosols change productivity, starting with the light route, which has two opposing parts.
The first is dimming. Aerosols scatter and absorb sunlight, so less total PAR reaches the canopy. Greenwald and colleagues, 2006, computed that under clear skies PAR falls by about 30 percent as AOD rises from a background value of 0.05 to 1.0, while the diffuse fraction increases strongly.
The second is diffuse fertilization. Light scattered by aerosol comes from the whole sky, so it reaches shaded leaves deep in the canopy, and illumination becomes more uniform with a smaller part of the canopy light-saturated. The review by Kanniah and colleagues, 2012, reports that canopy light-use efficiency under diffuse radiation is 1.12 to 1.80 times that under direct radiation, from flux-tower data.
The classic proof is the 1991 Mount Pinatubo eruption, which filled the stratosphere with scattering sulfate and almost doubled clear-sky diffuse radiation. Gu and colleagues, 2003, found that at Harvard Forest, a deciduous forest, noon-time canopy photosynthesis increased by 23 percent in 1992 and by 8 percent in 1993 under cloudless conditions. The figure shows gross photosynthesis against solar elevation in 1992: the solid line, with volcanic aerosol, lies above the dashed line for the normal radiation regime at almost every sun angle.
The strip gives the net balance. As Mercado and colleagues, 2009, put it, the net effect depends on the balance between the reduction in total PAR, which tends to reduce photosynthesis, and the increase in the diffuse fraction, which tends to increase it. The balance can be positive because sunlit leaves at the top of the canopy are often light-saturated, so losing part of the direct beam costs little, while shaded leaves are light-limited and use the extra diffuse light efficiently.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Aerosol also changes productivity through climate, not only through light. Five pathways are shown.
Leaf temperature: less sunlight cools leaves, as Steiner and Chameides, 2005, showed in their modelling. Whether this helps depends on how far the leaf is from the photosynthetic optimum of about 25 degrees Celsius; Yue and colleagues, 2017, found that in summer the aerosol-induced cooling brings leaf temperature closer to that optimum. Humidity: Zhang and colleagues, 2023, found that higher aerosol loading goes with lower vapour pressure deficit over cropland, grassland and mixed forest, and lower VPD enhances photosynthesis, so the vegetation response to aerosol is not only a diffuse-light effect. Soil moisture: less radiation means less evaporation, which keeps the soil wetter in the short term. Night temperature: in Bangladesh, Jannat and colleagues, 2026, found that aerosol was more strongly associated with minimum temperature, with R squared up to 0.625, than with maximum temperature, suggesting that aerosol-induced night-time warming is an additional pathway alongside the photosynthetic response. Monsoon rain: Auffhammer and colleagues, 2006, explain that brown clouds reduce rainfall because lower surface radiation reduces evaporation from the sea, and absorption in the lower atmosphere heats and stabilises it; India's rice harvest rises with June–September rainfall.
The chips give the only study that separates these routes, for China in 2010. Yue and colleagues, 2017, switched on one aerosol-driven change at a time in an Earth system model. Annual NPP rose by 0.09 petagrams of carbon through radiation, 0.07 through soil moisture and 0.03 through temperature, a total of about 0.20 petagrams or 5 percent. The figure shows the summer pattern of each pathway: total in panel a, temperature in b, PAR in c and soil moisture in d.
But when aerosol effects on clouds were included, summer precipitation fell by 0.9 millimetres per day, or 13 percent, soil moisture fell, and the aerosol effect became a loss of 0.20 petagrams, or 4 percent. So, as the strip says, for rain-dependent ecosystems the rain route can outweigh the light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dimming and diffuse fertilization pull in opposite directions, productivity follows an inverted-U response to aerosol: it rises at first, reaches a maximum and then falls.
The card lists the reported optima. In the canopy model of Cohan and colleagues, 2002, for a mature soybean canopy on cloudless days, the maximum NPP enhancement of about 30 percent occurs at an AOD of about 0.6, and NPP declines somewhat above that. The left figure, for 30 degrees north on 15 July, shows this: the open squares, for cloudless skies, rise and level off, while under cloud, with cloud optical depth 2 or 10, aerosol only reduces NPP because diffuse light is already high. The thick aggregate line assumes clear skies 40 percent of the time and thick cloud 60 percent of the time; it is essentially flat up to an AOD of 0.4 and then falls, by about 15 percent at an AOD of 1. For cropland in North China, Feng and colleagues, 2020, found that an AOD of 0.3 to 0.6, with a diffuse fraction around 30 to 40 percent, can largely increase total GPP. Yue and Unger, 2018, summarising site-level studies, note that photosynthesis reaches its maximum when the diffuse fraction is between 0.4 and 0.6, whether the diffuse light comes from cloud or aerosol. In Punjab, Sankhla and colleagues related binned AOD to wheat yield for 2000 to 2018: a second-order polynomial fits much better, with R squared of 0.90, than a straight line, with R squared of 0.64, and yield increases with AOD up to about 0.55 and thereafter saturates or decreases; this is a preprint that is not yet peer reviewed. For India's ecological zones, Hari and Tyagi, 2022, found maximum NPP in forest ecosystems at an AOD of 0.38, with growth persisting up to 0.51, and in agroecosystems maximum growth at 0.49, with growth restricted by 0.59.
The reason for the optimum is in the strip. At low aerosol loading the gain from diffuse light grows faster than the loss of total light. Beyond the optimum, as Zhou and colleagues, 2022, explain, a further increase in diffuse fraction dampens GPP because photosynthesis of the sunlit leaves falls, and total light becomes limiting.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mechanism slide brings together the factors that decide whether, and how much, aerosol helps or harms productivity.
Aerosol type: scattering aerosols such as sulfate and organics produce the diffuse-light benefit, but black carbon absorbs light and adds little diffuse light; Zhou and colleagues, 2022, found that black carbon reduces global GPP by 0.28 petagrams of carbon per year under all-sky conditions.
Co-pollutant ozone: ozone forms from the same emissions as aerosol and damages leaves after entering through the stomata. Yue and Unger, 2018, found that for all emission sources except fire, ozone reduces global GPP by 4.0 plus or minus 1.9 petagrams per year while aerosol increases it by only 1.0 plus or minus 0.2. For fire pollution alone, ozone removes 0.91 and aerosol adds only 0.05, a net loss of 0.86. The maps show this: ozone losses in the top row are widespread over eastern China, India, Europe and the eastern United States, while aerosol gains in the bottom row are small. In China, Yue and colleagues, 2017, found ozone reduced NPP by 0.59 petagrams, or 14 percent, much more than the aerosol gain.
Cloud cover: Zhou and colleagues, 2022, found an aerosol gain of 8.91 petagrams per year under clear skies but only 0.95 under real, all-sky conditions, because cloudy light is already diffuse. Canopy structure: at US flux towers, Niyogi and colleagues, 2004, found that CO2 uptake increased with aerosol loading over forest and cropland but decreased over grassland, because only taller, multi-layer canopies have many shaded leaves to use the diffuse light. Photosynthetic pathway: C4 plants such as maize do not become light-saturated under high irradiance, so redistributing light helps them less; the review by Kanniah and colleagues, 2012, cites a 50 percent larger increase in light-use efficiency for soybean, a C3 crop, than for maize. Emission source: Zhou and colleagues found that anthropogenic aerosols provide 41 percent of the global GPP gain, although they contribute only 25 percent of the increase in diffuse radiation.
The lesson is that a pollution effect is not the same as an aerosol effect. The largest gain comes from scattering aerosol over a dense C3 canopy under clear skies; absorbing aerosol, ozone, cloud, open canopies and C4 crops all reduce or reverse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Light route: dimming vs diffuse fertilization</a:t>
            </a:r>
            <a:endParaRPr lang="en-US" sz="2800" dirty="0"/>
          </a:p>
        </p:txBody>
      </p:sp>
      <p:sp>
        <p:nvSpPr>
          <p:cNvPr id="4" name="1 · Dimming card"/>
          <p:cNvSpPr/>
          <p:nvPr/>
        </p:nvSpPr>
        <p:spPr>
          <a:xfrm>
            <a:off x="457200" y="1280160"/>
            <a:ext cx="3520440" cy="2148840"/>
          </a:xfrm>
          <a:prstGeom prst="roundRect">
            <a:avLst>
              <a:gd name="adj" fmla="val 297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1 · Dimming icon"/>
          <p:cNvSpPr/>
          <p:nvPr/>
        </p:nvSpPr>
        <p:spPr>
          <a:xfrm>
            <a:off x="640080" y="1444752"/>
            <a:ext cx="384048" cy="384048"/>
          </a:xfrm>
          <a:prstGeom prst="ellipse">
            <a:avLst/>
          </a:prstGeom>
          <a:solidFill>
            <a:schemeClr val="accent5"/>
          </a:solidFill>
          <a:ln w="12700">
            <a:solidFill>
              <a:schemeClr val="accent5"/>
            </a:solidFill>
            <a:prstDash val="solid"/>
          </a:ln>
        </p:spPr>
      </p:sp>
      <p:sp>
        <p:nvSpPr>
          <p:cNvPr id="6" name="1 · Dimming icon text"/>
          <p:cNvSpPr txBox="1"/>
          <p:nvPr/>
        </p:nvSpPr>
        <p:spPr>
          <a:xfrm>
            <a:off x="640080" y="1444752"/>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7" name="1 · Dimming heading"/>
          <p:cNvSpPr txBox="1"/>
          <p:nvPr/>
        </p:nvSpPr>
        <p:spPr>
          <a:xfrm>
            <a:off x="1143000" y="1444752"/>
            <a:ext cx="2926080" cy="384048"/>
          </a:xfrm>
          <a:prstGeom prst="rect">
            <a:avLst/>
          </a:prstGeom>
          <a:noFill/>
          <a:ln/>
        </p:spPr>
        <p:txBody>
          <a:bodyPr wrap="square" lIns="0" tIns="0" rIns="0" bIns="0" rtlCol="0" anchor="ctr"/>
          <a:lstStyle/>
          <a:p>
            <a:pPr indent="0" marL="0">
              <a:buNone/>
            </a:pPr>
            <a:r>
              <a:rPr lang="en-US" sz="1400" b="1" dirty="0">
                <a:solidFill>
                  <a:schemeClr val="accent5"/>
                </a:solidFill>
              </a:rPr>
              <a:t>1 · Dimming</a:t>
            </a:r>
            <a:endParaRPr lang="en-US" sz="1400" dirty="0"/>
          </a:p>
        </p:txBody>
      </p:sp>
      <p:sp>
        <p:nvSpPr>
          <p:cNvPr id="8" name="1 · Dimming points"/>
          <p:cNvSpPr txBox="1"/>
          <p:nvPr/>
        </p:nvSpPr>
        <p:spPr>
          <a:xfrm>
            <a:off x="640080" y="1965960"/>
            <a:ext cx="3154680" cy="1005840"/>
          </a:xfrm>
          <a:prstGeom prst="rect">
            <a:avLst/>
          </a:prstGeom>
          <a:noFill/>
          <a:ln/>
        </p:spPr>
        <p:txBody>
          <a:bodyPr wrap="square" lIns="0" tIns="0" rIns="0" bIns="0" rtlCol="0" anchor="t"/>
          <a:lstStyle/>
          <a:p>
            <a:pPr marL="177800" indent="-177800">
              <a:buSzPct val="100000"/>
              <a:buChar char="•"/>
            </a:pPr>
            <a:r>
              <a:rPr lang="en-US" sz="1400" b="1" dirty="0">
                <a:solidFill>
                  <a:schemeClr val="tx2"/>
                </a:solidFill>
              </a:rPr>
              <a:t>Scattering and absorption</a:t>
            </a:r>
            <a:r>
              <a:rPr lang="en-US" sz="1400" dirty="0">
                <a:solidFill>
                  <a:schemeClr val="tx1"/>
                </a:solidFill>
              </a:rPr>
              <a:t> cut total PAR</a:t>
            </a:r>
            <a:endParaRPr lang="en-US" sz="1400" dirty="0"/>
          </a:p>
          <a:p>
            <a:pPr marL="177800" indent="-177800">
              <a:spcBef>
                <a:spcPts val="700"/>
              </a:spcBef>
              <a:buSzPct val="100000"/>
              <a:buChar char="•"/>
            </a:pPr>
            <a:r>
              <a:rPr lang="en-US" sz="1400" b="1" dirty="0">
                <a:solidFill>
                  <a:schemeClr val="tx2"/>
                </a:solidFill>
              </a:rPr>
              <a:t>Clear‑sky PAR −30%</a:t>
            </a:r>
            <a:r>
              <a:rPr lang="en-US" sz="1400" dirty="0">
                <a:solidFill>
                  <a:schemeClr val="tx1"/>
                </a:solidFill>
              </a:rPr>
              <a:t> as AOD rises from 0.05 to 1.0</a:t>
            </a:r>
            <a:endParaRPr lang="en-US" sz="1400" dirty="0"/>
          </a:p>
        </p:txBody>
      </p:sp>
      <p:sp>
        <p:nvSpPr>
          <p:cNvPr id="9" name="1 · Dimming ref"/>
          <p:cNvSpPr txBox="1"/>
          <p:nvPr/>
        </p:nvSpPr>
        <p:spPr>
          <a:xfrm>
            <a:off x="640080" y="3044952"/>
            <a:ext cx="3154680" cy="274320"/>
          </a:xfrm>
          <a:prstGeom prst="rect">
            <a:avLst/>
          </a:prstGeom>
          <a:noFill/>
          <a:ln/>
        </p:spPr>
        <p:txBody>
          <a:bodyPr wrap="square" lIns="0" tIns="0" rIns="0" bIns="0" rtlCol="0" anchor="t"/>
          <a:lstStyle/>
          <a:p>
            <a:pPr indent="0" marL="0">
              <a:buNone/>
            </a:pPr>
            <a:r>
              <a:rPr lang="en-US" sz="1400" i="1" dirty="0">
                <a:solidFill>
                  <a:schemeClr val="accent1"/>
                </a:solidFill>
              </a:rPr>
              <a:t>Greenwald et al., 2006</a:t>
            </a:r>
            <a:endParaRPr lang="en-US" sz="1400" dirty="0"/>
          </a:p>
        </p:txBody>
      </p:sp>
      <p:sp>
        <p:nvSpPr>
          <p:cNvPr id="10" name="2 · Diffuse fertilization card"/>
          <p:cNvSpPr/>
          <p:nvPr/>
        </p:nvSpPr>
        <p:spPr>
          <a:xfrm>
            <a:off x="4160520" y="1280160"/>
            <a:ext cx="3520440" cy="2148840"/>
          </a:xfrm>
          <a:prstGeom prst="roundRect">
            <a:avLst>
              <a:gd name="adj" fmla="val 297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1" name="2 · Diffuse fertilization icon"/>
          <p:cNvSpPr/>
          <p:nvPr/>
        </p:nvSpPr>
        <p:spPr>
          <a:xfrm>
            <a:off x="4343400" y="1444752"/>
            <a:ext cx="384048" cy="384048"/>
          </a:xfrm>
          <a:prstGeom prst="ellipse">
            <a:avLst/>
          </a:prstGeom>
          <a:solidFill>
            <a:schemeClr val="accent3"/>
          </a:solidFill>
          <a:ln w="12700">
            <a:solidFill>
              <a:schemeClr val="accent3"/>
            </a:solidFill>
            <a:prstDash val="solid"/>
          </a:ln>
        </p:spPr>
      </p:sp>
      <p:sp>
        <p:nvSpPr>
          <p:cNvPr id="12" name="2 · Diffuse fertilization icon text"/>
          <p:cNvSpPr txBox="1"/>
          <p:nvPr/>
        </p:nvSpPr>
        <p:spPr>
          <a:xfrm>
            <a:off x="4343400" y="1444752"/>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13" name="2 · Diffuse fertilization heading"/>
          <p:cNvSpPr txBox="1"/>
          <p:nvPr/>
        </p:nvSpPr>
        <p:spPr>
          <a:xfrm>
            <a:off x="4846320" y="1444752"/>
            <a:ext cx="2926080" cy="384048"/>
          </a:xfrm>
          <a:prstGeom prst="rect">
            <a:avLst/>
          </a:prstGeom>
          <a:noFill/>
          <a:ln/>
        </p:spPr>
        <p:txBody>
          <a:bodyPr wrap="square" lIns="0" tIns="0" rIns="0" bIns="0" rtlCol="0" anchor="ctr"/>
          <a:lstStyle/>
          <a:p>
            <a:pPr indent="0" marL="0">
              <a:buNone/>
            </a:pPr>
            <a:r>
              <a:rPr lang="en-US" sz="1400" b="1" dirty="0">
                <a:solidFill>
                  <a:schemeClr val="accent3"/>
                </a:solidFill>
              </a:rPr>
              <a:t>2 · Diffuse fertilization</a:t>
            </a:r>
            <a:endParaRPr lang="en-US" sz="1400" dirty="0"/>
          </a:p>
        </p:txBody>
      </p:sp>
      <p:sp>
        <p:nvSpPr>
          <p:cNvPr id="14" name="2 · Diffuse fertilization points"/>
          <p:cNvSpPr txBox="1"/>
          <p:nvPr/>
        </p:nvSpPr>
        <p:spPr>
          <a:xfrm>
            <a:off x="4343400" y="1965960"/>
            <a:ext cx="3154680" cy="1005840"/>
          </a:xfrm>
          <a:prstGeom prst="rect">
            <a:avLst/>
          </a:prstGeom>
          <a:noFill/>
          <a:ln/>
        </p:spPr>
        <p:txBody>
          <a:bodyPr wrap="square" lIns="0" tIns="0" rIns="0" bIns="0" rtlCol="0" anchor="t"/>
          <a:lstStyle/>
          <a:p>
            <a:pPr marL="177800" indent="-177800">
              <a:buSzPct val="100000"/>
              <a:buChar char="•"/>
            </a:pPr>
            <a:r>
              <a:rPr lang="en-US" sz="1400" b="1" dirty="0">
                <a:solidFill>
                  <a:schemeClr val="tx2"/>
                </a:solidFill>
              </a:rPr>
              <a:t>Diffuse light</a:t>
            </a:r>
            <a:r>
              <a:rPr lang="en-US" sz="1400" dirty="0">
                <a:solidFill>
                  <a:schemeClr val="tx1"/>
                </a:solidFill>
              </a:rPr>
              <a:t> reaches shaded, light‑limited leaves</a:t>
            </a:r>
            <a:endParaRPr lang="en-US" sz="1400" dirty="0"/>
          </a:p>
          <a:p>
            <a:pPr marL="177800" indent="-177800">
              <a:spcBef>
                <a:spcPts val="700"/>
              </a:spcBef>
              <a:buSzPct val="100000"/>
              <a:buChar char="•"/>
            </a:pPr>
            <a:r>
              <a:rPr lang="en-US" sz="1400" b="1" dirty="0">
                <a:solidFill>
                  <a:schemeClr val="tx2"/>
                </a:solidFill>
              </a:rPr>
              <a:t>LUE 1.12–1.80 times</a:t>
            </a:r>
            <a:r>
              <a:rPr lang="en-US" sz="1400" dirty="0">
                <a:solidFill>
                  <a:schemeClr val="tx1"/>
                </a:solidFill>
              </a:rPr>
              <a:t> higher than under direct light</a:t>
            </a:r>
            <a:endParaRPr lang="en-US" sz="1400" dirty="0"/>
          </a:p>
        </p:txBody>
      </p:sp>
      <p:sp>
        <p:nvSpPr>
          <p:cNvPr id="15" name="2 · Diffuse fertilization ref"/>
          <p:cNvSpPr txBox="1"/>
          <p:nvPr/>
        </p:nvSpPr>
        <p:spPr>
          <a:xfrm>
            <a:off x="4343400" y="3044952"/>
            <a:ext cx="3154680" cy="274320"/>
          </a:xfrm>
          <a:prstGeom prst="rect">
            <a:avLst/>
          </a:prstGeom>
          <a:noFill/>
          <a:ln/>
        </p:spPr>
        <p:txBody>
          <a:bodyPr wrap="square" lIns="0" tIns="0" rIns="0" bIns="0" rtlCol="0" anchor="t"/>
          <a:lstStyle/>
          <a:p>
            <a:pPr indent="0" marL="0">
              <a:buNone/>
            </a:pPr>
            <a:r>
              <a:rPr lang="en-US" sz="1400" i="1" dirty="0">
                <a:solidFill>
                  <a:schemeClr val="accent1"/>
                </a:solidFill>
              </a:rPr>
              <a:t>Kanniah et al., 2012</a:t>
            </a:r>
            <a:endParaRPr lang="en-US" sz="1400" dirty="0"/>
          </a:p>
        </p:txBody>
      </p:sp>
      <p:sp>
        <p:nvSpPr>
          <p:cNvPr id="16" name="Pinatubo card"/>
          <p:cNvSpPr/>
          <p:nvPr/>
        </p:nvSpPr>
        <p:spPr>
          <a:xfrm>
            <a:off x="457200" y="3611880"/>
            <a:ext cx="7223760" cy="1371600"/>
          </a:xfrm>
          <a:prstGeom prst="roundRect">
            <a:avLst>
              <a:gd name="adj" fmla="val 466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Pinatubo heading"/>
          <p:cNvSpPr txBox="1"/>
          <p:nvPr/>
        </p:nvSpPr>
        <p:spPr>
          <a:xfrm>
            <a:off x="640080" y="3721608"/>
            <a:ext cx="6858000" cy="292608"/>
          </a:xfrm>
          <a:prstGeom prst="rect">
            <a:avLst/>
          </a:prstGeom>
          <a:noFill/>
          <a:ln/>
        </p:spPr>
        <p:txBody>
          <a:bodyPr wrap="square" lIns="0" tIns="0" rIns="0" bIns="0" rtlCol="0" anchor="t"/>
          <a:lstStyle/>
          <a:p>
            <a:pPr indent="0" marL="0">
              <a:buNone/>
            </a:pPr>
            <a:r>
              <a:rPr lang="en-US" sz="1400" b="1" dirty="0">
                <a:solidFill>
                  <a:schemeClr val="tx2"/>
                </a:solidFill>
              </a:rPr>
              <a:t>Proof: Mount Pinatubo eruption, 1991</a:t>
            </a:r>
            <a:endParaRPr lang="en-US" sz="1400" dirty="0"/>
          </a:p>
        </p:txBody>
      </p:sp>
      <p:sp>
        <p:nvSpPr>
          <p:cNvPr id="18" name="Pinatubo text"/>
          <p:cNvSpPr txBox="1"/>
          <p:nvPr/>
        </p:nvSpPr>
        <p:spPr>
          <a:xfrm>
            <a:off x="640080" y="4041648"/>
            <a:ext cx="6858000" cy="548640"/>
          </a:xfrm>
          <a:prstGeom prst="rect">
            <a:avLst/>
          </a:prstGeom>
          <a:noFill/>
          <a:ln/>
        </p:spPr>
        <p:txBody>
          <a:bodyPr wrap="square" lIns="0" tIns="0" rIns="0" bIns="0" rtlCol="0" anchor="t"/>
          <a:lstStyle/>
          <a:p>
            <a:pPr indent="0" marL="0">
              <a:buNone/>
            </a:pPr>
            <a:r>
              <a:rPr lang="en-US" sz="1400" dirty="0">
                <a:solidFill>
                  <a:schemeClr val="tx1"/>
                </a:solidFill>
              </a:rPr>
              <a:t>Volcanic sulfate raised diffuse light; noon photosynthesis at Harvard Forest rose </a:t>
            </a:r>
            <a:r>
              <a:rPr lang="en-US" sz="1400" b="1" dirty="0">
                <a:solidFill>
                  <a:schemeClr val="tx1"/>
                </a:solidFill>
              </a:rPr>
              <a:t>23%</a:t>
            </a:r>
            <a:r>
              <a:rPr lang="en-US" sz="1400" dirty="0">
                <a:solidFill>
                  <a:schemeClr val="tx1"/>
                </a:solidFill>
              </a:rPr>
              <a:t> in 1992 and </a:t>
            </a:r>
            <a:r>
              <a:rPr lang="en-US" sz="1400" b="1" dirty="0">
                <a:solidFill>
                  <a:schemeClr val="tx1"/>
                </a:solidFill>
              </a:rPr>
              <a:t>8%</a:t>
            </a:r>
            <a:r>
              <a:rPr lang="en-US" sz="1400" dirty="0">
                <a:solidFill>
                  <a:schemeClr val="tx1"/>
                </a:solidFill>
              </a:rPr>
              <a:t> in 1993 under cloudless skies</a:t>
            </a:r>
            <a:endParaRPr lang="en-US" sz="1400" dirty="0"/>
          </a:p>
        </p:txBody>
      </p:sp>
      <p:sp>
        <p:nvSpPr>
          <p:cNvPr id="19" name="Pinatubo ref"/>
          <p:cNvSpPr txBox="1"/>
          <p:nvPr/>
        </p:nvSpPr>
        <p:spPr>
          <a:xfrm>
            <a:off x="640080" y="4617720"/>
            <a:ext cx="6858000" cy="274320"/>
          </a:xfrm>
          <a:prstGeom prst="rect">
            <a:avLst/>
          </a:prstGeom>
          <a:noFill/>
          <a:ln/>
        </p:spPr>
        <p:txBody>
          <a:bodyPr wrap="square" lIns="0" tIns="0" rIns="0" bIns="0" rtlCol="0" anchor="t"/>
          <a:lstStyle/>
          <a:p>
            <a:pPr indent="0" marL="0">
              <a:buNone/>
            </a:pPr>
            <a:r>
              <a:rPr lang="en-US" sz="1400" i="1" dirty="0">
                <a:solidFill>
                  <a:schemeClr val="accent1"/>
                </a:solidFill>
              </a:rPr>
              <a:t>Gu et al., 2003</a:t>
            </a:r>
            <a:endParaRPr lang="en-US" sz="1400" dirty="0"/>
          </a:p>
        </p:txBody>
      </p:sp>
      <p:sp>
        <p:nvSpPr>
          <p:cNvPr id="20" name="Pinatubo figure card"/>
          <p:cNvSpPr/>
          <p:nvPr/>
        </p:nvSpPr>
        <p:spPr>
          <a:xfrm>
            <a:off x="7909560" y="1280160"/>
            <a:ext cx="3822192" cy="3636438"/>
          </a:xfrm>
          <a:prstGeom prst="roundRect">
            <a:avLst>
              <a:gd name="adj" fmla="val 176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1" name="Pinatubo figure title"/>
          <p:cNvSpPr txBox="1"/>
          <p:nvPr/>
        </p:nvSpPr>
        <p:spPr>
          <a:xfrm>
            <a:off x="8046720" y="1371600"/>
            <a:ext cx="3547872" cy="530352"/>
          </a:xfrm>
          <a:prstGeom prst="rect">
            <a:avLst/>
          </a:prstGeom>
          <a:noFill/>
          <a:ln/>
        </p:spPr>
        <p:txBody>
          <a:bodyPr wrap="square" lIns="0" tIns="0" rIns="0" bIns="0" rtlCol="0" anchor="t"/>
          <a:lstStyle/>
          <a:p>
            <a:pPr indent="0" marL="0">
              <a:buNone/>
            </a:pPr>
            <a:r>
              <a:rPr lang="en-US" sz="1400" b="1" dirty="0">
                <a:solidFill>
                  <a:schemeClr val="tx2"/>
                </a:solidFill>
              </a:rPr>
              <a:t>Harvard Forest, 1992: volcanic (solid) vs normal (dashed)</a:t>
            </a:r>
            <a:endParaRPr lang="en-US" sz="1400" dirty="0"/>
          </a:p>
        </p:txBody>
      </p:sp>
      <p:pic>
        <p:nvPicPr>
          <p:cNvPr id="22" name="Pinatubo figure" descr="Pinatubo figure">    </p:cNvPr>
          <p:cNvPicPr>
            <a:picLocks noChangeAspect="1"/>
          </p:cNvPicPr>
          <p:nvPr/>
        </p:nvPicPr>
        <p:blipFill>
          <a:blip r:embed="rId1"/>
          <a:stretch>
            <a:fillRect/>
          </a:stretch>
        </p:blipFill>
        <p:spPr>
          <a:xfrm>
            <a:off x="8266176" y="1901952"/>
            <a:ext cx="3108960" cy="2584878"/>
          </a:xfrm>
          <a:prstGeom prst="rect">
            <a:avLst/>
          </a:prstGeom>
        </p:spPr>
      </p:pic>
      <p:sp>
        <p:nvSpPr>
          <p:cNvPr id="23" name="Pinatubo figure source"/>
          <p:cNvSpPr txBox="1"/>
          <p:nvPr/>
        </p:nvSpPr>
        <p:spPr>
          <a:xfrm>
            <a:off x="8046720" y="4559982"/>
            <a:ext cx="3547872" cy="246888"/>
          </a:xfrm>
          <a:prstGeom prst="rect">
            <a:avLst/>
          </a:prstGeom>
          <a:noFill/>
          <a:ln/>
        </p:spPr>
        <p:txBody>
          <a:bodyPr wrap="square" lIns="0" tIns="0" rIns="0" bIns="0" rtlCol="0" anchor="t"/>
          <a:lstStyle/>
          <a:p>
            <a:pPr indent="0" marL="0">
              <a:buNone/>
            </a:pPr>
            <a:r>
              <a:rPr lang="en-US" sz="1400" i="1" dirty="0">
                <a:solidFill>
                  <a:schemeClr val="accent1"/>
                </a:solidFill>
              </a:rPr>
              <a:t>Gu et al., 2003, Fig. 2a</a:t>
            </a:r>
            <a:endParaRPr lang="en-US" sz="1400" dirty="0"/>
          </a:p>
        </p:txBody>
      </p:sp>
      <p:sp>
        <p:nvSpPr>
          <p:cNvPr id="24" name="Light strip"/>
          <p:cNvSpPr/>
          <p:nvPr/>
        </p:nvSpPr>
        <p:spPr>
          <a:xfrm>
            <a:off x="457200" y="5257800"/>
            <a:ext cx="11274552" cy="777240"/>
          </a:xfrm>
          <a:prstGeom prst="roundRect">
            <a:avLst>
              <a:gd name="adj" fmla="val 7059"/>
            </a:avLst>
          </a:prstGeom>
          <a:solidFill>
            <a:schemeClr val="bg2"/>
          </a:solidFill>
          <a:ln w="12700">
            <a:solidFill>
              <a:schemeClr val="bg2"/>
            </a:solidFill>
            <a:prstDash val="solid"/>
          </a:ln>
        </p:spPr>
      </p:sp>
      <p:sp>
        <p:nvSpPr>
          <p:cNvPr id="25" name="Light strip text"/>
          <p:cNvSpPr txBox="1"/>
          <p:nvPr/>
        </p:nvSpPr>
        <p:spPr>
          <a:xfrm>
            <a:off x="594360" y="5257800"/>
            <a:ext cx="11000232" cy="777240"/>
          </a:xfrm>
          <a:prstGeom prst="rect">
            <a:avLst/>
          </a:prstGeom>
          <a:noFill/>
          <a:ln/>
        </p:spPr>
        <p:txBody>
          <a:bodyPr wrap="square" lIns="0" tIns="0" rIns="0" bIns="0" rtlCol="0" anchor="ctr"/>
          <a:lstStyle/>
          <a:p>
            <a:pPr indent="0" marL="0">
              <a:buNone/>
            </a:pPr>
            <a:r>
              <a:rPr lang="en-US" sz="1400" b="1" dirty="0">
                <a:solidFill>
                  <a:schemeClr val="tx1"/>
                </a:solidFill>
              </a:rPr>
              <a:t>Net effect = diffuse gain − loss of total PAR</a:t>
            </a:r>
            <a:r>
              <a:rPr lang="en-US" sz="1400" dirty="0">
                <a:solidFill>
                  <a:schemeClr val="tx1"/>
                </a:solidFill>
              </a:rPr>
              <a:t> (Mercado et al., 2009). Sunlit leaves are often light‑saturated, so lost direct light costs little; shaded leaves are light‑limited, so they use the diffuse light efficiently.</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Climate route: temperature, humidity, water and rain</a:t>
            </a:r>
            <a:endParaRPr lang="en-US" sz="2800" dirty="0"/>
          </a:p>
        </p:txBody>
      </p:sp>
      <p:sp>
        <p:nvSpPr>
          <p:cNvPr id="4" name="Leaf temperature pill"/>
          <p:cNvSpPr/>
          <p:nvPr/>
        </p:nvSpPr>
        <p:spPr>
          <a:xfrm>
            <a:off x="457200" y="1353312"/>
            <a:ext cx="1691640" cy="402336"/>
          </a:xfrm>
          <a:prstGeom prst="roundRect">
            <a:avLst>
              <a:gd name="adj" fmla="val 13636"/>
            </a:avLst>
          </a:prstGeom>
          <a:solidFill>
            <a:schemeClr val="accent2"/>
          </a:solidFill>
          <a:ln w="12700">
            <a:solidFill>
              <a:schemeClr val="accent2"/>
            </a:solidFill>
            <a:prstDash val="solid"/>
          </a:ln>
        </p:spPr>
      </p:sp>
      <p:sp>
        <p:nvSpPr>
          <p:cNvPr id="5" name="Leaf temperature label"/>
          <p:cNvSpPr txBox="1"/>
          <p:nvPr/>
        </p:nvSpPr>
        <p:spPr>
          <a:xfrm>
            <a:off x="457200" y="1353312"/>
            <a:ext cx="1691640" cy="402336"/>
          </a:xfrm>
          <a:prstGeom prst="rect">
            <a:avLst/>
          </a:prstGeom>
          <a:noFill/>
          <a:ln/>
        </p:spPr>
        <p:txBody>
          <a:bodyPr wrap="square" lIns="0" tIns="0" rIns="0" bIns="0" rtlCol="0" anchor="ctr"/>
          <a:lstStyle/>
          <a:p>
            <a:pPr algn="ctr" indent="0" marL="0">
              <a:buNone/>
            </a:pPr>
            <a:r>
              <a:rPr lang="en-US" sz="1400" b="1" dirty="0">
                <a:solidFill>
                  <a:srgbClr val="FFFFFF"/>
                </a:solidFill>
              </a:rPr>
              <a:t>Leaf temperature</a:t>
            </a:r>
            <a:endParaRPr lang="en-US" sz="1400" dirty="0"/>
          </a:p>
        </p:txBody>
      </p:sp>
      <p:sp>
        <p:nvSpPr>
          <p:cNvPr id="6" name="Leaf temperature text"/>
          <p:cNvSpPr txBox="1"/>
          <p:nvPr/>
        </p:nvSpPr>
        <p:spPr>
          <a:xfrm>
            <a:off x="2331720" y="1298448"/>
            <a:ext cx="4754880" cy="274320"/>
          </a:xfrm>
          <a:prstGeom prst="rect">
            <a:avLst/>
          </a:prstGeom>
          <a:noFill/>
          <a:ln/>
        </p:spPr>
        <p:txBody>
          <a:bodyPr wrap="square" lIns="0" tIns="0" rIns="0" bIns="0" rtlCol="0" anchor="t"/>
          <a:lstStyle/>
          <a:p>
            <a:pPr indent="0" marL="0">
              <a:buNone/>
            </a:pPr>
            <a:r>
              <a:rPr lang="en-US" sz="1400" dirty="0">
                <a:solidFill>
                  <a:schemeClr val="tx1"/>
                </a:solidFill>
              </a:rPr>
              <a:t>Less sunlight → cooler leaves, nearer the 25 °C optimum</a:t>
            </a:r>
            <a:endParaRPr lang="en-US" sz="1400" dirty="0"/>
          </a:p>
        </p:txBody>
      </p:sp>
      <p:sp>
        <p:nvSpPr>
          <p:cNvPr id="7" name="Leaf temperature ref"/>
          <p:cNvSpPr txBox="1"/>
          <p:nvPr/>
        </p:nvSpPr>
        <p:spPr>
          <a:xfrm>
            <a:off x="2331720" y="1563624"/>
            <a:ext cx="4754880" cy="274320"/>
          </a:xfrm>
          <a:prstGeom prst="rect">
            <a:avLst/>
          </a:prstGeom>
          <a:noFill/>
          <a:ln/>
        </p:spPr>
        <p:txBody>
          <a:bodyPr wrap="square" lIns="0" tIns="0" rIns="0" bIns="0" rtlCol="0" anchor="t"/>
          <a:lstStyle/>
          <a:p>
            <a:pPr indent="0" marL="0">
              <a:buNone/>
            </a:pPr>
            <a:r>
              <a:rPr lang="en-US" sz="1400" i="1" dirty="0">
                <a:solidFill>
                  <a:schemeClr val="accent1"/>
                </a:solidFill>
              </a:rPr>
              <a:t>Steiner &amp; Chameides, 2005; Yue et al., 2017</a:t>
            </a:r>
            <a:endParaRPr lang="en-US" sz="1400" dirty="0"/>
          </a:p>
        </p:txBody>
      </p:sp>
      <p:sp>
        <p:nvSpPr>
          <p:cNvPr id="8" name="Humidity, VPD pill"/>
          <p:cNvSpPr/>
          <p:nvPr/>
        </p:nvSpPr>
        <p:spPr>
          <a:xfrm>
            <a:off x="457200" y="1993392"/>
            <a:ext cx="1691640" cy="402336"/>
          </a:xfrm>
          <a:prstGeom prst="roundRect">
            <a:avLst>
              <a:gd name="adj" fmla="val 13636"/>
            </a:avLst>
          </a:prstGeom>
          <a:solidFill>
            <a:schemeClr val="accent1"/>
          </a:solidFill>
          <a:ln w="12700">
            <a:solidFill>
              <a:schemeClr val="accent1"/>
            </a:solidFill>
            <a:prstDash val="solid"/>
          </a:ln>
        </p:spPr>
      </p:sp>
      <p:sp>
        <p:nvSpPr>
          <p:cNvPr id="9" name="Humidity, VPD label"/>
          <p:cNvSpPr txBox="1"/>
          <p:nvPr/>
        </p:nvSpPr>
        <p:spPr>
          <a:xfrm>
            <a:off x="457200" y="1993392"/>
            <a:ext cx="1691640" cy="402336"/>
          </a:xfrm>
          <a:prstGeom prst="rect">
            <a:avLst/>
          </a:prstGeom>
          <a:noFill/>
          <a:ln/>
        </p:spPr>
        <p:txBody>
          <a:bodyPr wrap="square" lIns="0" tIns="0" rIns="0" bIns="0" rtlCol="0" anchor="ctr"/>
          <a:lstStyle/>
          <a:p>
            <a:pPr algn="ctr" indent="0" marL="0">
              <a:buNone/>
            </a:pPr>
            <a:r>
              <a:rPr lang="en-US" sz="1400" b="1" dirty="0">
                <a:solidFill>
                  <a:srgbClr val="FFFFFF"/>
                </a:solidFill>
              </a:rPr>
              <a:t>Humidity, VPD</a:t>
            </a:r>
            <a:endParaRPr lang="en-US" sz="1400" dirty="0"/>
          </a:p>
        </p:txBody>
      </p:sp>
      <p:sp>
        <p:nvSpPr>
          <p:cNvPr id="10" name="Humidity, VPD text"/>
          <p:cNvSpPr txBox="1"/>
          <p:nvPr/>
        </p:nvSpPr>
        <p:spPr>
          <a:xfrm>
            <a:off x="2331720" y="1938528"/>
            <a:ext cx="4754880" cy="274320"/>
          </a:xfrm>
          <a:prstGeom prst="rect">
            <a:avLst/>
          </a:prstGeom>
          <a:noFill/>
          <a:ln/>
        </p:spPr>
        <p:txBody>
          <a:bodyPr wrap="square" lIns="0" tIns="0" rIns="0" bIns="0" rtlCol="0" anchor="t"/>
          <a:lstStyle/>
          <a:p>
            <a:pPr indent="0" marL="0">
              <a:buNone/>
            </a:pPr>
            <a:r>
              <a:rPr lang="en-US" sz="1400" dirty="0">
                <a:solidFill>
                  <a:schemeClr val="tx1"/>
                </a:solidFill>
              </a:rPr>
              <a:t>Lower VPD under haze supports photosynthesis</a:t>
            </a:r>
            <a:endParaRPr lang="en-US" sz="1400" dirty="0"/>
          </a:p>
        </p:txBody>
      </p:sp>
      <p:sp>
        <p:nvSpPr>
          <p:cNvPr id="11" name="Humidity, VPD ref"/>
          <p:cNvSpPr txBox="1"/>
          <p:nvPr/>
        </p:nvSpPr>
        <p:spPr>
          <a:xfrm>
            <a:off x="2331720" y="2203704"/>
            <a:ext cx="4754880" cy="274320"/>
          </a:xfrm>
          <a:prstGeom prst="rect">
            <a:avLst/>
          </a:prstGeom>
          <a:noFill/>
          <a:ln/>
        </p:spPr>
        <p:txBody>
          <a:bodyPr wrap="square" lIns="0" tIns="0" rIns="0" bIns="0" rtlCol="0" anchor="t"/>
          <a:lstStyle/>
          <a:p>
            <a:pPr indent="0" marL="0">
              <a:buNone/>
            </a:pPr>
            <a:r>
              <a:rPr lang="en-US" sz="1400" i="1" dirty="0">
                <a:solidFill>
                  <a:schemeClr val="accent1"/>
                </a:solidFill>
              </a:rPr>
              <a:t>Zhang et al., 2023</a:t>
            </a:r>
            <a:endParaRPr lang="en-US" sz="1400" dirty="0"/>
          </a:p>
        </p:txBody>
      </p:sp>
      <p:sp>
        <p:nvSpPr>
          <p:cNvPr id="12" name="Soil moisture pill"/>
          <p:cNvSpPr/>
          <p:nvPr/>
        </p:nvSpPr>
        <p:spPr>
          <a:xfrm>
            <a:off x="457200" y="2633472"/>
            <a:ext cx="1691640" cy="402336"/>
          </a:xfrm>
          <a:prstGeom prst="roundRect">
            <a:avLst>
              <a:gd name="adj" fmla="val 13636"/>
            </a:avLst>
          </a:prstGeom>
          <a:solidFill>
            <a:schemeClr val="accent3"/>
          </a:solidFill>
          <a:ln w="12700">
            <a:solidFill>
              <a:schemeClr val="accent3"/>
            </a:solidFill>
            <a:prstDash val="solid"/>
          </a:ln>
        </p:spPr>
      </p:sp>
      <p:sp>
        <p:nvSpPr>
          <p:cNvPr id="13" name="Soil moisture label"/>
          <p:cNvSpPr txBox="1"/>
          <p:nvPr/>
        </p:nvSpPr>
        <p:spPr>
          <a:xfrm>
            <a:off x="457200" y="2633472"/>
            <a:ext cx="1691640" cy="402336"/>
          </a:xfrm>
          <a:prstGeom prst="rect">
            <a:avLst/>
          </a:prstGeom>
          <a:noFill/>
          <a:ln/>
        </p:spPr>
        <p:txBody>
          <a:bodyPr wrap="square" lIns="0" tIns="0" rIns="0" bIns="0" rtlCol="0" anchor="ctr"/>
          <a:lstStyle/>
          <a:p>
            <a:pPr algn="ctr" indent="0" marL="0">
              <a:buNone/>
            </a:pPr>
            <a:r>
              <a:rPr lang="en-US" sz="1400" b="1" dirty="0">
                <a:solidFill>
                  <a:srgbClr val="FFFFFF"/>
                </a:solidFill>
              </a:rPr>
              <a:t>Soil moisture</a:t>
            </a:r>
            <a:endParaRPr lang="en-US" sz="1400" dirty="0"/>
          </a:p>
        </p:txBody>
      </p:sp>
      <p:sp>
        <p:nvSpPr>
          <p:cNvPr id="14" name="Soil moisture text"/>
          <p:cNvSpPr txBox="1"/>
          <p:nvPr/>
        </p:nvSpPr>
        <p:spPr>
          <a:xfrm>
            <a:off x="2331720" y="2578608"/>
            <a:ext cx="4754880" cy="274320"/>
          </a:xfrm>
          <a:prstGeom prst="rect">
            <a:avLst/>
          </a:prstGeom>
          <a:noFill/>
          <a:ln/>
        </p:spPr>
        <p:txBody>
          <a:bodyPr wrap="square" lIns="0" tIns="0" rIns="0" bIns="0" rtlCol="0" anchor="t"/>
          <a:lstStyle/>
          <a:p>
            <a:pPr indent="0" marL="0">
              <a:buNone/>
            </a:pPr>
            <a:r>
              <a:rPr lang="en-US" sz="1400" dirty="0">
                <a:solidFill>
                  <a:schemeClr val="tx1"/>
                </a:solidFill>
              </a:rPr>
              <a:t>Less evaporation → wetter soil, less water stress</a:t>
            </a:r>
            <a:endParaRPr lang="en-US" sz="1400" dirty="0"/>
          </a:p>
        </p:txBody>
      </p:sp>
      <p:sp>
        <p:nvSpPr>
          <p:cNvPr id="15" name="Soil moisture ref"/>
          <p:cNvSpPr txBox="1"/>
          <p:nvPr/>
        </p:nvSpPr>
        <p:spPr>
          <a:xfrm>
            <a:off x="2331720" y="2843784"/>
            <a:ext cx="4754880" cy="274320"/>
          </a:xfrm>
          <a:prstGeom prst="rect">
            <a:avLst/>
          </a:prstGeom>
          <a:noFill/>
          <a:ln/>
        </p:spPr>
        <p:txBody>
          <a:bodyPr wrap="square" lIns="0" tIns="0" rIns="0" bIns="0" rtlCol="0" anchor="t"/>
          <a:lstStyle/>
          <a:p>
            <a:pPr indent="0" marL="0">
              <a:buNone/>
            </a:pPr>
            <a:r>
              <a:rPr lang="en-US" sz="1400" i="1" dirty="0">
                <a:solidFill>
                  <a:schemeClr val="accent1"/>
                </a:solidFill>
              </a:rPr>
              <a:t>Yue et al., 2017</a:t>
            </a:r>
            <a:endParaRPr lang="en-US" sz="1400" dirty="0"/>
          </a:p>
        </p:txBody>
      </p:sp>
      <p:sp>
        <p:nvSpPr>
          <p:cNvPr id="16" name="Night warming pill"/>
          <p:cNvSpPr/>
          <p:nvPr/>
        </p:nvSpPr>
        <p:spPr>
          <a:xfrm>
            <a:off x="457200" y="3273552"/>
            <a:ext cx="1691640" cy="402336"/>
          </a:xfrm>
          <a:prstGeom prst="roundRect">
            <a:avLst>
              <a:gd name="adj" fmla="val 13636"/>
            </a:avLst>
          </a:prstGeom>
          <a:solidFill>
            <a:schemeClr val="accent6"/>
          </a:solidFill>
          <a:ln w="12700">
            <a:solidFill>
              <a:schemeClr val="accent6"/>
            </a:solidFill>
            <a:prstDash val="solid"/>
          </a:ln>
        </p:spPr>
      </p:sp>
      <p:sp>
        <p:nvSpPr>
          <p:cNvPr id="17" name="Night warming label"/>
          <p:cNvSpPr txBox="1"/>
          <p:nvPr/>
        </p:nvSpPr>
        <p:spPr>
          <a:xfrm>
            <a:off x="457200" y="3273552"/>
            <a:ext cx="1691640" cy="402336"/>
          </a:xfrm>
          <a:prstGeom prst="rect">
            <a:avLst/>
          </a:prstGeom>
          <a:noFill/>
          <a:ln/>
        </p:spPr>
        <p:txBody>
          <a:bodyPr wrap="square" lIns="0" tIns="0" rIns="0" bIns="0" rtlCol="0" anchor="ctr"/>
          <a:lstStyle/>
          <a:p>
            <a:pPr algn="ctr" indent="0" marL="0">
              <a:buNone/>
            </a:pPr>
            <a:r>
              <a:rPr lang="en-US" sz="1400" b="1" dirty="0">
                <a:solidFill>
                  <a:srgbClr val="FFFFFF"/>
                </a:solidFill>
              </a:rPr>
              <a:t>Night warming</a:t>
            </a:r>
            <a:endParaRPr lang="en-US" sz="1400" dirty="0"/>
          </a:p>
        </p:txBody>
      </p:sp>
      <p:sp>
        <p:nvSpPr>
          <p:cNvPr id="18" name="Night warming text"/>
          <p:cNvSpPr txBox="1"/>
          <p:nvPr/>
        </p:nvSpPr>
        <p:spPr>
          <a:xfrm>
            <a:off x="2331720" y="3218688"/>
            <a:ext cx="4754880" cy="274320"/>
          </a:xfrm>
          <a:prstGeom prst="rect">
            <a:avLst/>
          </a:prstGeom>
          <a:noFill/>
          <a:ln/>
        </p:spPr>
        <p:txBody>
          <a:bodyPr wrap="square" lIns="0" tIns="0" rIns="0" bIns="0" rtlCol="0" anchor="t"/>
          <a:lstStyle/>
          <a:p>
            <a:pPr indent="0" marL="0">
              <a:buNone/>
            </a:pPr>
            <a:r>
              <a:rPr lang="en-US" sz="1400" dirty="0">
                <a:solidFill>
                  <a:schemeClr val="tx1"/>
                </a:solidFill>
              </a:rPr>
              <a:t>AOD tracks minimum more than maximum temperature</a:t>
            </a:r>
            <a:endParaRPr lang="en-US" sz="1400" dirty="0"/>
          </a:p>
        </p:txBody>
      </p:sp>
      <p:sp>
        <p:nvSpPr>
          <p:cNvPr id="19" name="Night warming ref"/>
          <p:cNvSpPr txBox="1"/>
          <p:nvPr/>
        </p:nvSpPr>
        <p:spPr>
          <a:xfrm>
            <a:off x="2331720" y="3483864"/>
            <a:ext cx="4754880" cy="274320"/>
          </a:xfrm>
          <a:prstGeom prst="rect">
            <a:avLst/>
          </a:prstGeom>
          <a:noFill/>
          <a:ln/>
        </p:spPr>
        <p:txBody>
          <a:bodyPr wrap="square" lIns="0" tIns="0" rIns="0" bIns="0" rtlCol="0" anchor="t"/>
          <a:lstStyle/>
          <a:p>
            <a:pPr indent="0" marL="0">
              <a:buNone/>
            </a:pPr>
            <a:r>
              <a:rPr lang="en-US" sz="1400" i="1" dirty="0">
                <a:solidFill>
                  <a:schemeClr val="accent1"/>
                </a:solidFill>
              </a:rPr>
              <a:t>Jannat et al., 2026</a:t>
            </a:r>
            <a:endParaRPr lang="en-US" sz="1400" dirty="0"/>
          </a:p>
        </p:txBody>
      </p:sp>
      <p:sp>
        <p:nvSpPr>
          <p:cNvPr id="20" name="Monsoon rain pill"/>
          <p:cNvSpPr/>
          <p:nvPr/>
        </p:nvSpPr>
        <p:spPr>
          <a:xfrm>
            <a:off x="457200" y="3913632"/>
            <a:ext cx="1691640" cy="402336"/>
          </a:xfrm>
          <a:prstGeom prst="roundRect">
            <a:avLst>
              <a:gd name="adj" fmla="val 13636"/>
            </a:avLst>
          </a:prstGeom>
          <a:solidFill>
            <a:schemeClr val="accent5"/>
          </a:solidFill>
          <a:ln w="12700">
            <a:solidFill>
              <a:schemeClr val="accent5"/>
            </a:solidFill>
            <a:prstDash val="solid"/>
          </a:ln>
        </p:spPr>
      </p:sp>
      <p:sp>
        <p:nvSpPr>
          <p:cNvPr id="21" name="Monsoon rain label"/>
          <p:cNvSpPr txBox="1"/>
          <p:nvPr/>
        </p:nvSpPr>
        <p:spPr>
          <a:xfrm>
            <a:off x="457200" y="3913632"/>
            <a:ext cx="1691640" cy="402336"/>
          </a:xfrm>
          <a:prstGeom prst="rect">
            <a:avLst/>
          </a:prstGeom>
          <a:noFill/>
          <a:ln/>
        </p:spPr>
        <p:txBody>
          <a:bodyPr wrap="square" lIns="0" tIns="0" rIns="0" bIns="0" rtlCol="0" anchor="ctr"/>
          <a:lstStyle/>
          <a:p>
            <a:pPr algn="ctr" indent="0" marL="0">
              <a:buNone/>
            </a:pPr>
            <a:r>
              <a:rPr lang="en-US" sz="1400" b="1" dirty="0">
                <a:solidFill>
                  <a:srgbClr val="FFFFFF"/>
                </a:solidFill>
              </a:rPr>
              <a:t>Monsoon rain</a:t>
            </a:r>
            <a:endParaRPr lang="en-US" sz="1400" dirty="0"/>
          </a:p>
        </p:txBody>
      </p:sp>
      <p:sp>
        <p:nvSpPr>
          <p:cNvPr id="22" name="Monsoon rain text"/>
          <p:cNvSpPr txBox="1"/>
          <p:nvPr/>
        </p:nvSpPr>
        <p:spPr>
          <a:xfrm>
            <a:off x="2331720" y="3858768"/>
            <a:ext cx="4754880" cy="274320"/>
          </a:xfrm>
          <a:prstGeom prst="rect">
            <a:avLst/>
          </a:prstGeom>
          <a:noFill/>
          <a:ln/>
        </p:spPr>
        <p:txBody>
          <a:bodyPr wrap="square" lIns="0" tIns="0" rIns="0" bIns="0" rtlCol="0" anchor="t"/>
          <a:lstStyle/>
          <a:p>
            <a:pPr indent="0" marL="0">
              <a:buNone/>
            </a:pPr>
            <a:r>
              <a:rPr lang="en-US" sz="1400" dirty="0">
                <a:solidFill>
                  <a:schemeClr val="tx1"/>
                </a:solidFill>
              </a:rPr>
              <a:t>Less sea evaporation, stable lower air → less rain</a:t>
            </a:r>
            <a:endParaRPr lang="en-US" sz="1400" dirty="0"/>
          </a:p>
        </p:txBody>
      </p:sp>
      <p:sp>
        <p:nvSpPr>
          <p:cNvPr id="23" name="Monsoon rain ref"/>
          <p:cNvSpPr txBox="1"/>
          <p:nvPr/>
        </p:nvSpPr>
        <p:spPr>
          <a:xfrm>
            <a:off x="2331720" y="4123944"/>
            <a:ext cx="4754880" cy="274320"/>
          </a:xfrm>
          <a:prstGeom prst="rect">
            <a:avLst/>
          </a:prstGeom>
          <a:noFill/>
          <a:ln/>
        </p:spPr>
        <p:txBody>
          <a:bodyPr wrap="square" lIns="0" tIns="0" rIns="0" bIns="0" rtlCol="0" anchor="t"/>
          <a:lstStyle/>
          <a:p>
            <a:pPr indent="0" marL="0">
              <a:buNone/>
            </a:pPr>
            <a:r>
              <a:rPr lang="en-US" sz="1400" i="1" dirty="0">
                <a:solidFill>
                  <a:schemeClr val="accent1"/>
                </a:solidFill>
              </a:rPr>
              <a:t>Auffhammer et al., 2006</a:t>
            </a:r>
            <a:endParaRPr lang="en-US" sz="1400" dirty="0"/>
          </a:p>
        </p:txBody>
      </p:sp>
      <p:sp>
        <p:nvSpPr>
          <p:cNvPr id="24" name="China label"/>
          <p:cNvSpPr txBox="1"/>
          <p:nvPr/>
        </p:nvSpPr>
        <p:spPr>
          <a:xfrm>
            <a:off x="457200" y="4553712"/>
            <a:ext cx="4572000" cy="274320"/>
          </a:xfrm>
          <a:prstGeom prst="rect">
            <a:avLst/>
          </a:prstGeom>
          <a:noFill/>
          <a:ln/>
        </p:spPr>
        <p:txBody>
          <a:bodyPr wrap="square" lIns="0" tIns="0" rIns="0" bIns="0" rtlCol="0" anchor="t"/>
          <a:lstStyle/>
          <a:p>
            <a:pPr indent="0" marL="0">
              <a:buNone/>
            </a:pPr>
            <a:r>
              <a:rPr lang="en-US" sz="1400" b="1" dirty="0">
                <a:solidFill>
                  <a:schemeClr val="tx2"/>
                </a:solidFill>
              </a:rPr>
              <a:t>China, 2010: aerosol effect on NPP (Pg C yr</a:t>
            </a:r>
            <a:r>
              <a:rPr lang="en-US" sz="1400" b="1" baseline="30000" dirty="0">
                <a:solidFill>
                  <a:schemeClr val="tx2"/>
                </a:solidFill>
              </a:rPr>
              <a:t>−1</a:t>
            </a:r>
            <a:r>
              <a:rPr lang="en-US" sz="1400" b="1" dirty="0">
                <a:solidFill>
                  <a:schemeClr val="tx2"/>
                </a:solidFill>
              </a:rPr>
              <a:t>)</a:t>
            </a:r>
            <a:endParaRPr lang="en-US" sz="1400" dirty="0"/>
          </a:p>
        </p:txBody>
      </p:sp>
      <p:sp>
        <p:nvSpPr>
          <p:cNvPr id="25" name="China ref"/>
          <p:cNvSpPr txBox="1"/>
          <p:nvPr/>
        </p:nvSpPr>
        <p:spPr>
          <a:xfrm>
            <a:off x="5074920" y="4553712"/>
            <a:ext cx="2057400" cy="274320"/>
          </a:xfrm>
          <a:prstGeom prst="rect">
            <a:avLst/>
          </a:prstGeom>
          <a:noFill/>
          <a:ln/>
        </p:spPr>
        <p:txBody>
          <a:bodyPr wrap="square" lIns="0" tIns="0" rIns="0" bIns="0" rtlCol="0" anchor="t"/>
          <a:lstStyle/>
          <a:p>
            <a:pPr algn="r" indent="0" marL="0">
              <a:buNone/>
            </a:pPr>
            <a:r>
              <a:rPr lang="en-US" sz="1400" i="1" dirty="0">
                <a:solidFill>
                  <a:schemeClr val="accent1"/>
                </a:solidFill>
              </a:rPr>
              <a:t>Yue et al., 2017</a:t>
            </a:r>
            <a:endParaRPr lang="en-US" sz="1400" dirty="0"/>
          </a:p>
        </p:txBody>
      </p:sp>
      <p:sp>
        <p:nvSpPr>
          <p:cNvPr id="26" name="Radiation chip"/>
          <p:cNvSpPr/>
          <p:nvPr/>
        </p:nvSpPr>
        <p:spPr>
          <a:xfrm>
            <a:off x="457200" y="4873752"/>
            <a:ext cx="1203350" cy="713232"/>
          </a:xfrm>
          <a:prstGeom prst="roundRect">
            <a:avLst>
              <a:gd name="adj" fmla="val 8974"/>
            </a:avLst>
          </a:prstGeom>
          <a:solidFill>
            <a:schemeClr val="accent1"/>
          </a:solidFill>
          <a:ln w="12700">
            <a:solidFill>
              <a:schemeClr val="accent1"/>
            </a:solidFill>
            <a:prstDash val="solid"/>
          </a:ln>
        </p:spPr>
      </p:sp>
      <p:sp>
        <p:nvSpPr>
          <p:cNvPr id="27" name="Radiation chip text"/>
          <p:cNvSpPr txBox="1"/>
          <p:nvPr/>
        </p:nvSpPr>
        <p:spPr>
          <a:xfrm>
            <a:off x="457200" y="4873752"/>
            <a:ext cx="1203350" cy="713232"/>
          </a:xfrm>
          <a:prstGeom prst="rect">
            <a:avLst/>
          </a:prstGeom>
          <a:noFill/>
          <a:ln/>
        </p:spPr>
        <p:txBody>
          <a:bodyPr wrap="square" lIns="0" tIns="0" rIns="0" bIns="0" rtlCol="0" anchor="ctr"/>
          <a:lstStyle/>
          <a:p>
            <a:pPr algn="ctr" indent="0" marL="0">
              <a:buNone/>
            </a:pPr>
            <a:r>
              <a:rPr lang="en-US" sz="1400" dirty="0">
                <a:solidFill>
                  <a:srgbClr val="FFFFFF"/>
                </a:solidFill>
              </a:rPr>
              <a:t>Radiation</a:t>
            </a:r>
            <a:endParaRPr lang="en-US" sz="1400" dirty="0"/>
          </a:p>
          <a:p>
            <a:pPr algn="ctr" indent="0" marL="0">
              <a:buNone/>
            </a:pPr>
            <a:r>
              <a:rPr lang="en-US" sz="1400" b="1" dirty="0">
                <a:solidFill>
                  <a:srgbClr val="FFFFFF"/>
                </a:solidFill>
              </a:rPr>
              <a:t>+0.09</a:t>
            </a:r>
            <a:endParaRPr lang="en-US" sz="1400" dirty="0"/>
          </a:p>
        </p:txBody>
      </p:sp>
      <p:sp>
        <p:nvSpPr>
          <p:cNvPr id="28" name="Soil moisture chip"/>
          <p:cNvSpPr/>
          <p:nvPr/>
        </p:nvSpPr>
        <p:spPr>
          <a:xfrm>
            <a:off x="1825142" y="4873752"/>
            <a:ext cx="1203350" cy="713232"/>
          </a:xfrm>
          <a:prstGeom prst="roundRect">
            <a:avLst>
              <a:gd name="adj" fmla="val 8974"/>
            </a:avLst>
          </a:prstGeom>
          <a:solidFill>
            <a:schemeClr val="accent3"/>
          </a:solidFill>
          <a:ln w="12700">
            <a:solidFill>
              <a:schemeClr val="accent3"/>
            </a:solidFill>
            <a:prstDash val="solid"/>
          </a:ln>
        </p:spPr>
      </p:sp>
      <p:sp>
        <p:nvSpPr>
          <p:cNvPr id="29" name="Soil moisture chip text"/>
          <p:cNvSpPr txBox="1"/>
          <p:nvPr/>
        </p:nvSpPr>
        <p:spPr>
          <a:xfrm>
            <a:off x="1825142" y="4873752"/>
            <a:ext cx="1203350" cy="713232"/>
          </a:xfrm>
          <a:prstGeom prst="rect">
            <a:avLst/>
          </a:prstGeom>
          <a:noFill/>
          <a:ln/>
        </p:spPr>
        <p:txBody>
          <a:bodyPr wrap="square" lIns="0" tIns="0" rIns="0" bIns="0" rtlCol="0" anchor="ctr"/>
          <a:lstStyle/>
          <a:p>
            <a:pPr algn="ctr" indent="0" marL="0">
              <a:buNone/>
            </a:pPr>
            <a:r>
              <a:rPr lang="en-US" sz="1400" dirty="0">
                <a:solidFill>
                  <a:srgbClr val="FFFFFF"/>
                </a:solidFill>
              </a:rPr>
              <a:t>Soil moisture</a:t>
            </a:r>
            <a:endParaRPr lang="en-US" sz="1400" dirty="0"/>
          </a:p>
          <a:p>
            <a:pPr algn="ctr" indent="0" marL="0">
              <a:buNone/>
            </a:pPr>
            <a:r>
              <a:rPr lang="en-US" sz="1400" b="1" dirty="0">
                <a:solidFill>
                  <a:srgbClr val="FFFFFF"/>
                </a:solidFill>
              </a:rPr>
              <a:t>+0.07</a:t>
            </a:r>
            <a:endParaRPr lang="en-US" sz="1400" dirty="0"/>
          </a:p>
        </p:txBody>
      </p:sp>
      <p:sp>
        <p:nvSpPr>
          <p:cNvPr id="30" name="Temperature chip"/>
          <p:cNvSpPr/>
          <p:nvPr/>
        </p:nvSpPr>
        <p:spPr>
          <a:xfrm>
            <a:off x="3193085" y="4873752"/>
            <a:ext cx="1203350" cy="713232"/>
          </a:xfrm>
          <a:prstGeom prst="roundRect">
            <a:avLst>
              <a:gd name="adj" fmla="val 8974"/>
            </a:avLst>
          </a:prstGeom>
          <a:solidFill>
            <a:schemeClr val="accent2"/>
          </a:solidFill>
          <a:ln w="12700">
            <a:solidFill>
              <a:schemeClr val="accent2"/>
            </a:solidFill>
            <a:prstDash val="solid"/>
          </a:ln>
        </p:spPr>
      </p:sp>
      <p:sp>
        <p:nvSpPr>
          <p:cNvPr id="31" name="Temperature chip text"/>
          <p:cNvSpPr txBox="1"/>
          <p:nvPr/>
        </p:nvSpPr>
        <p:spPr>
          <a:xfrm>
            <a:off x="3193085" y="4873752"/>
            <a:ext cx="1203350" cy="713232"/>
          </a:xfrm>
          <a:prstGeom prst="rect">
            <a:avLst/>
          </a:prstGeom>
          <a:noFill/>
          <a:ln/>
        </p:spPr>
        <p:txBody>
          <a:bodyPr wrap="square" lIns="0" tIns="0" rIns="0" bIns="0" rtlCol="0" anchor="ctr"/>
          <a:lstStyle/>
          <a:p>
            <a:pPr algn="ctr" indent="0" marL="0">
              <a:buNone/>
            </a:pPr>
            <a:r>
              <a:rPr lang="en-US" sz="1400" dirty="0">
                <a:solidFill>
                  <a:srgbClr val="FFFFFF"/>
                </a:solidFill>
              </a:rPr>
              <a:t>Temperature</a:t>
            </a:r>
            <a:endParaRPr lang="en-US" sz="1400" dirty="0"/>
          </a:p>
          <a:p>
            <a:pPr algn="ctr" indent="0" marL="0">
              <a:buNone/>
            </a:pPr>
            <a:r>
              <a:rPr lang="en-US" sz="1400" b="1" dirty="0">
                <a:solidFill>
                  <a:srgbClr val="FFFFFF"/>
                </a:solidFill>
              </a:rPr>
              <a:t>+0.03</a:t>
            </a:r>
            <a:endParaRPr lang="en-US" sz="1400" dirty="0"/>
          </a:p>
        </p:txBody>
      </p:sp>
      <p:sp>
        <p:nvSpPr>
          <p:cNvPr id="32" name="Total chip"/>
          <p:cNvSpPr/>
          <p:nvPr/>
        </p:nvSpPr>
        <p:spPr>
          <a:xfrm>
            <a:off x="4561027" y="4873752"/>
            <a:ext cx="1203350" cy="713232"/>
          </a:xfrm>
          <a:prstGeom prst="roundRect">
            <a:avLst>
              <a:gd name="adj" fmla="val 8974"/>
            </a:avLst>
          </a:prstGeom>
          <a:solidFill>
            <a:schemeClr val="tx2"/>
          </a:solidFill>
          <a:ln w="12700">
            <a:solidFill>
              <a:schemeClr val="tx2"/>
            </a:solidFill>
            <a:prstDash val="solid"/>
          </a:ln>
        </p:spPr>
      </p:sp>
      <p:sp>
        <p:nvSpPr>
          <p:cNvPr id="33" name="Total chip text"/>
          <p:cNvSpPr txBox="1"/>
          <p:nvPr/>
        </p:nvSpPr>
        <p:spPr>
          <a:xfrm>
            <a:off x="4561027" y="4873752"/>
            <a:ext cx="1203350" cy="713232"/>
          </a:xfrm>
          <a:prstGeom prst="rect">
            <a:avLst/>
          </a:prstGeom>
          <a:noFill/>
          <a:ln/>
        </p:spPr>
        <p:txBody>
          <a:bodyPr wrap="square" lIns="0" tIns="0" rIns="0" bIns="0" rtlCol="0" anchor="ctr"/>
          <a:lstStyle/>
          <a:p>
            <a:pPr algn="ctr" indent="0" marL="0">
              <a:buNone/>
            </a:pPr>
            <a:r>
              <a:rPr lang="en-US" sz="1400" dirty="0">
                <a:solidFill>
                  <a:srgbClr val="FFFFFF"/>
                </a:solidFill>
              </a:rPr>
              <a:t>Total</a:t>
            </a:r>
            <a:endParaRPr lang="en-US" sz="1400" dirty="0"/>
          </a:p>
          <a:p>
            <a:pPr algn="ctr" indent="0" marL="0">
              <a:buNone/>
            </a:pPr>
            <a:r>
              <a:rPr lang="en-US" sz="1400" b="1" dirty="0">
                <a:solidFill>
                  <a:srgbClr val="FFFFFF"/>
                </a:solidFill>
              </a:rPr>
              <a:t>+0.20 (+5%)</a:t>
            </a:r>
            <a:endParaRPr lang="en-US" sz="1400" dirty="0"/>
          </a:p>
        </p:txBody>
      </p:sp>
      <p:sp>
        <p:nvSpPr>
          <p:cNvPr id="34" name="With cloud, rain chip"/>
          <p:cNvSpPr/>
          <p:nvPr/>
        </p:nvSpPr>
        <p:spPr>
          <a:xfrm>
            <a:off x="5928970" y="4873752"/>
            <a:ext cx="1203350" cy="713232"/>
          </a:xfrm>
          <a:prstGeom prst="roundRect">
            <a:avLst>
              <a:gd name="adj" fmla="val 8974"/>
            </a:avLst>
          </a:prstGeom>
          <a:solidFill>
            <a:schemeClr val="accent5"/>
          </a:solidFill>
          <a:ln w="12700">
            <a:solidFill>
              <a:schemeClr val="accent5"/>
            </a:solidFill>
            <a:prstDash val="solid"/>
          </a:ln>
        </p:spPr>
      </p:sp>
      <p:sp>
        <p:nvSpPr>
          <p:cNvPr id="35" name="With cloud, rain chip text"/>
          <p:cNvSpPr txBox="1"/>
          <p:nvPr/>
        </p:nvSpPr>
        <p:spPr>
          <a:xfrm>
            <a:off x="5928970" y="4873752"/>
            <a:ext cx="1203350" cy="713232"/>
          </a:xfrm>
          <a:prstGeom prst="rect">
            <a:avLst/>
          </a:prstGeom>
          <a:noFill/>
          <a:ln/>
        </p:spPr>
        <p:txBody>
          <a:bodyPr wrap="square" lIns="0" tIns="0" rIns="0" bIns="0" rtlCol="0" anchor="ctr"/>
          <a:lstStyle/>
          <a:p>
            <a:pPr algn="ctr" indent="0" marL="0">
              <a:buNone/>
            </a:pPr>
            <a:r>
              <a:rPr lang="en-US" sz="1400" dirty="0">
                <a:solidFill>
                  <a:srgbClr val="FFFFFF"/>
                </a:solidFill>
              </a:rPr>
              <a:t>With cloud, rain</a:t>
            </a:r>
            <a:endParaRPr lang="en-US" sz="1400" dirty="0"/>
          </a:p>
          <a:p>
            <a:pPr algn="ctr" indent="0" marL="0">
              <a:buNone/>
            </a:pPr>
            <a:r>
              <a:rPr lang="en-US" sz="1400" b="1" dirty="0">
                <a:solidFill>
                  <a:srgbClr val="FFFFFF"/>
                </a:solidFill>
              </a:rPr>
              <a:t>−0.20 (−4%)</a:t>
            </a:r>
            <a:endParaRPr lang="en-US" sz="1400" dirty="0"/>
          </a:p>
        </p:txBody>
      </p:sp>
      <p:sp>
        <p:nvSpPr>
          <p:cNvPr id="36" name="Pathway figure card"/>
          <p:cNvSpPr/>
          <p:nvPr/>
        </p:nvSpPr>
        <p:spPr>
          <a:xfrm>
            <a:off x="7406640" y="1280160"/>
            <a:ext cx="4325112" cy="4297680"/>
          </a:xfrm>
          <a:prstGeom prst="roundRect">
            <a:avLst>
              <a:gd name="adj" fmla="val 148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7" name="Pathway figure title"/>
          <p:cNvSpPr txBox="1"/>
          <p:nvPr/>
        </p:nvSpPr>
        <p:spPr>
          <a:xfrm>
            <a:off x="7543800" y="1371600"/>
            <a:ext cx="4050792" cy="530352"/>
          </a:xfrm>
          <a:prstGeom prst="rect">
            <a:avLst/>
          </a:prstGeom>
          <a:noFill/>
          <a:ln/>
        </p:spPr>
        <p:txBody>
          <a:bodyPr wrap="square" lIns="0" tIns="0" rIns="0" bIns="0" rtlCol="0" anchor="t"/>
          <a:lstStyle/>
          <a:p>
            <a:pPr indent="0" marL="0">
              <a:buNone/>
            </a:pPr>
            <a:r>
              <a:rPr lang="en-US" sz="1400" b="1" dirty="0">
                <a:solidFill>
                  <a:schemeClr val="tx2"/>
                </a:solidFill>
              </a:rPr>
              <a:t>China: summer NPP change from each aerosol pathway</a:t>
            </a:r>
            <a:endParaRPr lang="en-US" sz="1400" dirty="0"/>
          </a:p>
        </p:txBody>
      </p:sp>
      <p:pic>
        <p:nvPicPr>
          <p:cNvPr id="38" name="Pathway figure" descr="Pathway figure">    </p:cNvPr>
          <p:cNvPicPr>
            <a:picLocks noChangeAspect="1"/>
          </p:cNvPicPr>
          <p:nvPr/>
        </p:nvPicPr>
        <p:blipFill>
          <a:blip r:embed="rId1"/>
          <a:stretch>
            <a:fillRect/>
          </a:stretch>
        </p:blipFill>
        <p:spPr>
          <a:xfrm>
            <a:off x="7565079" y="1901952"/>
            <a:ext cx="4008235" cy="3017520"/>
          </a:xfrm>
          <a:prstGeom prst="rect">
            <a:avLst/>
          </a:prstGeom>
        </p:spPr>
      </p:pic>
      <p:sp>
        <p:nvSpPr>
          <p:cNvPr id="39" name="Pathway figure caption"/>
          <p:cNvSpPr txBox="1"/>
          <p:nvPr/>
        </p:nvSpPr>
        <p:spPr>
          <a:xfrm>
            <a:off x="7543800" y="4992624"/>
            <a:ext cx="4050792" cy="228600"/>
          </a:xfrm>
          <a:prstGeom prst="rect">
            <a:avLst/>
          </a:prstGeom>
          <a:noFill/>
          <a:ln/>
        </p:spPr>
        <p:txBody>
          <a:bodyPr wrap="square" lIns="0" tIns="0" rIns="0" bIns="0" rtlCol="0" anchor="t"/>
          <a:lstStyle/>
          <a:p>
            <a:pPr indent="0" marL="0">
              <a:buNone/>
            </a:pPr>
            <a:r>
              <a:rPr lang="en-US" sz="1400" dirty="0">
                <a:solidFill>
                  <a:schemeClr val="tx1"/>
                </a:solidFill>
              </a:rPr>
              <a:t>(a) all (b) temperature (c) PAR (d) soil moisture</a:t>
            </a:r>
            <a:endParaRPr lang="en-US" sz="1400" dirty="0"/>
          </a:p>
        </p:txBody>
      </p:sp>
      <p:sp>
        <p:nvSpPr>
          <p:cNvPr id="40" name="Pathway figure source"/>
          <p:cNvSpPr txBox="1"/>
          <p:nvPr/>
        </p:nvSpPr>
        <p:spPr>
          <a:xfrm>
            <a:off x="7543800" y="5221224"/>
            <a:ext cx="4050792" cy="246888"/>
          </a:xfrm>
          <a:prstGeom prst="rect">
            <a:avLst/>
          </a:prstGeom>
          <a:noFill/>
          <a:ln/>
        </p:spPr>
        <p:txBody>
          <a:bodyPr wrap="square" lIns="0" tIns="0" rIns="0" bIns="0" rtlCol="0" anchor="t"/>
          <a:lstStyle/>
          <a:p>
            <a:pPr indent="0" marL="0">
              <a:buNone/>
            </a:pPr>
            <a:r>
              <a:rPr lang="en-US" sz="1400" i="1" dirty="0">
                <a:solidFill>
                  <a:schemeClr val="accent1"/>
                </a:solidFill>
              </a:rPr>
              <a:t>Yue et al., 2017, Fig. 8</a:t>
            </a:r>
            <a:endParaRPr lang="en-US" sz="1400" dirty="0"/>
          </a:p>
        </p:txBody>
      </p:sp>
      <p:sp>
        <p:nvSpPr>
          <p:cNvPr id="41" name="Climate strip"/>
          <p:cNvSpPr/>
          <p:nvPr/>
        </p:nvSpPr>
        <p:spPr>
          <a:xfrm>
            <a:off x="457200" y="5760720"/>
            <a:ext cx="11274552" cy="502920"/>
          </a:xfrm>
          <a:prstGeom prst="roundRect">
            <a:avLst>
              <a:gd name="adj" fmla="val 10909"/>
            </a:avLst>
          </a:prstGeom>
          <a:solidFill>
            <a:schemeClr val="bg2"/>
          </a:solidFill>
          <a:ln w="12700">
            <a:solidFill>
              <a:schemeClr val="bg2"/>
            </a:solidFill>
            <a:prstDash val="solid"/>
          </a:ln>
        </p:spPr>
      </p:sp>
      <p:sp>
        <p:nvSpPr>
          <p:cNvPr id="42" name="Climate strip text"/>
          <p:cNvSpPr txBox="1"/>
          <p:nvPr/>
        </p:nvSpPr>
        <p:spPr>
          <a:xfrm>
            <a:off x="594360" y="5760720"/>
            <a:ext cx="11000232" cy="502920"/>
          </a:xfrm>
          <a:prstGeom prst="rect">
            <a:avLst/>
          </a:prstGeom>
          <a:noFill/>
          <a:ln/>
        </p:spPr>
        <p:txBody>
          <a:bodyPr wrap="square" lIns="0" tIns="0" rIns="0" bIns="0" rtlCol="0" anchor="ctr"/>
          <a:lstStyle/>
          <a:p>
            <a:pPr indent="0" marL="0">
              <a:buNone/>
            </a:pPr>
            <a:r>
              <a:rPr lang="en-US" sz="1400" b="1" dirty="0">
                <a:solidFill>
                  <a:schemeClr val="tx1"/>
                </a:solidFill>
              </a:rPr>
              <a:t>Rain can outweigh light:</a:t>
            </a:r>
            <a:r>
              <a:rPr lang="en-US" sz="1400" dirty="0">
                <a:solidFill>
                  <a:schemeClr val="tx1"/>
                </a:solidFill>
              </a:rPr>
              <a:t> with aerosol–cloud effects, summer rain fell 13% and the NPP gain became a loss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The optimum aerosol load: an inverted-U response</a:t>
            </a:r>
            <a:endParaRPr lang="en-US" sz="2800" dirty="0"/>
          </a:p>
        </p:txBody>
      </p:sp>
      <p:sp>
        <p:nvSpPr>
          <p:cNvPr id="4" name="Optima card"/>
          <p:cNvSpPr/>
          <p:nvPr/>
        </p:nvSpPr>
        <p:spPr>
          <a:xfrm>
            <a:off x="457200" y="1280160"/>
            <a:ext cx="4892040" cy="4160520"/>
          </a:xfrm>
          <a:prstGeom prst="roundRect">
            <a:avLst>
              <a:gd name="adj" fmla="val 153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Optima heading"/>
          <p:cNvSpPr txBox="1"/>
          <p:nvPr/>
        </p:nvSpPr>
        <p:spPr>
          <a:xfrm>
            <a:off x="640080" y="1389888"/>
            <a:ext cx="4526280" cy="320040"/>
          </a:xfrm>
          <a:prstGeom prst="rect">
            <a:avLst/>
          </a:prstGeom>
          <a:noFill/>
          <a:ln/>
        </p:spPr>
        <p:txBody>
          <a:bodyPr wrap="square" lIns="0" tIns="0" rIns="0" bIns="0" rtlCol="0" anchor="t"/>
          <a:lstStyle/>
          <a:p>
            <a:pPr indent="0" marL="0">
              <a:buNone/>
            </a:pPr>
            <a:r>
              <a:rPr lang="en-US" sz="1400" b="1" dirty="0">
                <a:solidFill>
                  <a:schemeClr val="tx2"/>
                </a:solidFill>
              </a:rPr>
              <a:t>Reported optima</a:t>
            </a:r>
            <a:endParaRPr lang="en-US" sz="1400" dirty="0"/>
          </a:p>
        </p:txBody>
      </p:sp>
      <p:sp>
        <p:nvSpPr>
          <p:cNvPr id="6" name="Optima points"/>
          <p:cNvSpPr txBox="1"/>
          <p:nvPr/>
        </p:nvSpPr>
        <p:spPr>
          <a:xfrm>
            <a:off x="640080" y="1783080"/>
            <a:ext cx="4526280" cy="3566160"/>
          </a:xfrm>
          <a:prstGeom prst="rect">
            <a:avLst/>
          </a:prstGeom>
          <a:noFill/>
          <a:ln/>
        </p:spPr>
        <p:txBody>
          <a:bodyPr wrap="square" lIns="0" tIns="0" rIns="0" bIns="0" rtlCol="0" anchor="t"/>
          <a:lstStyle/>
          <a:p>
            <a:pPr marL="177800" indent="-177800">
              <a:buSzPct val="100000"/>
              <a:buChar char="•"/>
            </a:pPr>
            <a:r>
              <a:rPr lang="en-US" sz="1400" b="1" dirty="0">
                <a:solidFill>
                  <a:schemeClr val="tx2"/>
                </a:solidFill>
              </a:rPr>
              <a:t>AOD ≈ 0.6:</a:t>
            </a:r>
            <a:r>
              <a:rPr lang="en-US" sz="1400" dirty="0">
                <a:solidFill>
                  <a:schemeClr val="tx1"/>
                </a:solidFill>
              </a:rPr>
              <a:t> soybean canopy NPP +30%, clear sky (model)</a:t>
            </a:r>
            <a:endParaRPr lang="en-US" sz="1400" dirty="0"/>
          </a:p>
          <a:p>
            <a:pPr marL="177800" indent="-177800">
              <a:buSzPct val="100000"/>
              <a:buChar char=" "/>
            </a:pPr>
            <a:r>
              <a:rPr lang="en-US" sz="1400" i="1" dirty="0">
                <a:solidFill>
                  <a:schemeClr val="accent1"/>
                </a:solidFill>
              </a:rPr>
              <a:t>Cohan et al., 2002</a:t>
            </a:r>
            <a:endParaRPr lang="en-US" sz="1400" dirty="0"/>
          </a:p>
          <a:p>
            <a:pPr marL="177800" indent="-177800">
              <a:spcBef>
                <a:spcPts val="600"/>
              </a:spcBef>
              <a:buSzPct val="100000"/>
              <a:buChar char="•"/>
            </a:pPr>
            <a:r>
              <a:rPr lang="en-US" sz="1400" b="1" dirty="0">
                <a:solidFill>
                  <a:schemeClr val="tx2"/>
                </a:solidFill>
              </a:rPr>
              <a:t>AOD 0.3–0.6</a:t>
            </a:r>
            <a:r>
              <a:rPr lang="en-US" sz="1400" dirty="0">
                <a:solidFill>
                  <a:schemeClr val="tx1"/>
                </a:solidFill>
              </a:rPr>
              <a:t> (diffuse fraction 30–40%): GPP gain, North China cropland</a:t>
            </a:r>
            <a:endParaRPr lang="en-US" sz="1400" dirty="0"/>
          </a:p>
          <a:p>
            <a:pPr marL="177800" indent="-177800">
              <a:buSzPct val="100000"/>
              <a:buChar char=" "/>
            </a:pPr>
            <a:r>
              <a:rPr lang="en-US" sz="1400" i="1" dirty="0">
                <a:solidFill>
                  <a:schemeClr val="accent1"/>
                </a:solidFill>
              </a:rPr>
              <a:t>Feng et al., 2020</a:t>
            </a:r>
            <a:endParaRPr lang="en-US" sz="1400" dirty="0"/>
          </a:p>
          <a:p>
            <a:pPr marL="177800" indent="-177800">
              <a:spcBef>
                <a:spcPts val="600"/>
              </a:spcBef>
              <a:buSzPct val="100000"/>
              <a:buChar char="•"/>
            </a:pPr>
            <a:r>
              <a:rPr lang="en-US" sz="1400" b="1" dirty="0">
                <a:solidFill>
                  <a:schemeClr val="tx2"/>
                </a:solidFill>
              </a:rPr>
              <a:t>Diffuse fraction 0.4–0.6:</a:t>
            </a:r>
            <a:r>
              <a:rPr lang="en-US" sz="1400" dirty="0">
                <a:solidFill>
                  <a:schemeClr val="tx1"/>
                </a:solidFill>
              </a:rPr>
              <a:t> photosynthesis maximum in site studies</a:t>
            </a:r>
            <a:endParaRPr lang="en-US" sz="1400" dirty="0"/>
          </a:p>
          <a:p>
            <a:pPr marL="177800" indent="-177800">
              <a:buSzPct val="100000"/>
              <a:buChar char=" "/>
            </a:pPr>
            <a:r>
              <a:rPr lang="en-US" sz="1400" i="1" dirty="0">
                <a:solidFill>
                  <a:schemeClr val="accent1"/>
                </a:solidFill>
              </a:rPr>
              <a:t>Yue &amp; Unger, 2018</a:t>
            </a:r>
            <a:endParaRPr lang="en-US" sz="1400" dirty="0"/>
          </a:p>
          <a:p>
            <a:pPr marL="177800" indent="-177800">
              <a:spcBef>
                <a:spcPts val="600"/>
              </a:spcBef>
              <a:buSzPct val="100000"/>
              <a:buChar char="•"/>
            </a:pPr>
            <a:r>
              <a:rPr lang="en-US" sz="1400" b="1" dirty="0">
                <a:solidFill>
                  <a:schemeClr val="tx2"/>
                </a:solidFill>
              </a:rPr>
              <a:t>AOD ≈ 0.55:</a:t>
            </a:r>
            <a:r>
              <a:rPr lang="en-US" sz="1400" dirty="0">
                <a:solidFill>
                  <a:schemeClr val="tx1"/>
                </a:solidFill>
              </a:rPr>
              <a:t> Punjab wheat yield rises, then saturates (R² = 0.90)</a:t>
            </a:r>
            <a:endParaRPr lang="en-US" sz="1400" dirty="0"/>
          </a:p>
          <a:p>
            <a:pPr marL="177800" indent="-177800">
              <a:buSzPct val="100000"/>
              <a:buChar char=" "/>
            </a:pPr>
            <a:r>
              <a:rPr lang="en-US" sz="1400" i="1" dirty="0">
                <a:solidFill>
                  <a:schemeClr val="accent1"/>
                </a:solidFill>
              </a:rPr>
              <a:t>Sankhla et al.</a:t>
            </a:r>
            <a:endParaRPr lang="en-US" sz="1400" dirty="0"/>
          </a:p>
          <a:p>
            <a:pPr marL="177800" indent="-177800">
              <a:spcBef>
                <a:spcPts val="600"/>
              </a:spcBef>
              <a:buSzPct val="100000"/>
              <a:buChar char="•"/>
            </a:pPr>
            <a:r>
              <a:rPr lang="en-US" sz="1400" b="1" dirty="0">
                <a:solidFill>
                  <a:schemeClr val="tx2"/>
                </a:solidFill>
              </a:rPr>
              <a:t>AOD 0.38 / 0.49:</a:t>
            </a:r>
            <a:r>
              <a:rPr lang="en-US" sz="1400" dirty="0">
                <a:solidFill>
                  <a:schemeClr val="tx1"/>
                </a:solidFill>
              </a:rPr>
              <a:t> NPP peak in Indian forests / agro zones</a:t>
            </a:r>
            <a:endParaRPr lang="en-US" sz="1400" dirty="0"/>
          </a:p>
          <a:p>
            <a:pPr marL="177800" indent="-177800">
              <a:buSzPct val="100000"/>
              <a:buChar char=" "/>
            </a:pPr>
            <a:r>
              <a:rPr lang="en-US" sz="1400" i="1" dirty="0">
                <a:solidFill>
                  <a:schemeClr val="accent1"/>
                </a:solidFill>
              </a:rPr>
              <a:t>Hari &amp; Tyagi, 2022</a:t>
            </a:r>
            <a:endParaRPr lang="en-US" sz="1400" dirty="0"/>
          </a:p>
          <a:p>
            <a:pPr marL="177800" indent="-177800">
              <a:spcBef>
                <a:spcPts val="600"/>
              </a:spcBef>
              <a:buSzPct val="100000"/>
              <a:buChar char="•"/>
            </a:pPr>
            <a:r>
              <a:rPr lang="en-US" sz="1400" b="1" dirty="0">
                <a:solidFill>
                  <a:schemeClr val="tx2"/>
                </a:solidFill>
              </a:rPr>
              <a:t>AOD &gt; 0.59:</a:t>
            </a:r>
            <a:r>
              <a:rPr lang="en-US" sz="1400" dirty="0">
                <a:solidFill>
                  <a:schemeClr val="tx1"/>
                </a:solidFill>
              </a:rPr>
              <a:t> NPP growth restricted in Indian agro zones</a:t>
            </a:r>
            <a:endParaRPr lang="en-US" sz="1400" dirty="0"/>
          </a:p>
          <a:p>
            <a:pPr marL="177800" indent="-177800">
              <a:buSzPct val="100000"/>
              <a:buChar char=" "/>
            </a:pPr>
            <a:r>
              <a:rPr lang="en-US" sz="1400" i="1" dirty="0">
                <a:solidFill>
                  <a:schemeClr val="accent1"/>
                </a:solidFill>
              </a:rPr>
              <a:t>Hari &amp; Tyagi, 2022</a:t>
            </a:r>
            <a:endParaRPr lang="en-US" sz="1400" dirty="0"/>
          </a:p>
        </p:txBody>
      </p:sp>
      <p:sp>
        <p:nvSpPr>
          <p:cNvPr id="7" name="Cohan figure card"/>
          <p:cNvSpPr/>
          <p:nvPr/>
        </p:nvSpPr>
        <p:spPr>
          <a:xfrm>
            <a:off x="5532120" y="1280160"/>
            <a:ext cx="3291840" cy="3423101"/>
          </a:xfrm>
          <a:prstGeom prst="roundRect">
            <a:avLst>
              <a:gd name="adj" fmla="val 194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8" name="Cohan figure title"/>
          <p:cNvSpPr txBox="1"/>
          <p:nvPr/>
        </p:nvSpPr>
        <p:spPr>
          <a:xfrm>
            <a:off x="5669280" y="1371600"/>
            <a:ext cx="3017520" cy="530352"/>
          </a:xfrm>
          <a:prstGeom prst="rect">
            <a:avLst/>
          </a:prstGeom>
          <a:noFill/>
          <a:ln/>
        </p:spPr>
        <p:txBody>
          <a:bodyPr wrap="square" lIns="0" tIns="0" rIns="0" bIns="0" rtlCol="0" anchor="t"/>
          <a:lstStyle/>
          <a:p>
            <a:pPr indent="0" marL="0">
              <a:buNone/>
            </a:pPr>
            <a:r>
              <a:rPr lang="en-US" sz="1400" b="1" dirty="0">
                <a:solidFill>
                  <a:schemeClr val="tx2"/>
                </a:solidFill>
              </a:rPr>
              <a:t>Soybean canopy NPP vs AOD: clear sky peaks, cloud only lowers</a:t>
            </a:r>
            <a:endParaRPr lang="en-US" sz="1400" dirty="0"/>
          </a:p>
        </p:txBody>
      </p:sp>
      <p:pic>
        <p:nvPicPr>
          <p:cNvPr id="9" name="Cohan figure" descr="Cohan figure">    </p:cNvPr>
          <p:cNvPicPr>
            <a:picLocks noChangeAspect="1"/>
          </p:cNvPicPr>
          <p:nvPr/>
        </p:nvPicPr>
        <p:blipFill>
          <a:blip r:embed="rId1"/>
          <a:stretch>
            <a:fillRect/>
          </a:stretch>
        </p:blipFill>
        <p:spPr>
          <a:xfrm>
            <a:off x="5669280" y="1901952"/>
            <a:ext cx="3017520" cy="1914341"/>
          </a:xfrm>
          <a:prstGeom prst="rect">
            <a:avLst/>
          </a:prstGeom>
        </p:spPr>
      </p:pic>
      <p:sp>
        <p:nvSpPr>
          <p:cNvPr id="10" name="Cohan figure caption"/>
          <p:cNvSpPr txBox="1"/>
          <p:nvPr/>
        </p:nvSpPr>
        <p:spPr>
          <a:xfrm>
            <a:off x="5669280" y="3889445"/>
            <a:ext cx="3017520" cy="457200"/>
          </a:xfrm>
          <a:prstGeom prst="rect">
            <a:avLst/>
          </a:prstGeom>
          <a:noFill/>
          <a:ln/>
        </p:spPr>
        <p:txBody>
          <a:bodyPr wrap="square" lIns="0" tIns="0" rIns="0" bIns="0" rtlCol="0" anchor="t"/>
          <a:lstStyle/>
          <a:p>
            <a:pPr indent="0" marL="0">
              <a:buNone/>
            </a:pPr>
            <a:r>
              <a:rPr lang="en-US" sz="1400" dirty="0">
                <a:solidFill>
                  <a:schemeClr val="tx1"/>
                </a:solidFill>
              </a:rPr>
              <a:t>Aggregate (40% clear, 60% overcast): flat to AOD 0.4, then falls</a:t>
            </a:r>
            <a:endParaRPr lang="en-US" sz="1400" dirty="0"/>
          </a:p>
        </p:txBody>
      </p:sp>
      <p:sp>
        <p:nvSpPr>
          <p:cNvPr id="11" name="Cohan figure source"/>
          <p:cNvSpPr txBox="1"/>
          <p:nvPr/>
        </p:nvSpPr>
        <p:spPr>
          <a:xfrm>
            <a:off x="5669280" y="4346645"/>
            <a:ext cx="3017520" cy="246888"/>
          </a:xfrm>
          <a:prstGeom prst="rect">
            <a:avLst/>
          </a:prstGeom>
          <a:noFill/>
          <a:ln/>
        </p:spPr>
        <p:txBody>
          <a:bodyPr wrap="square" lIns="0" tIns="0" rIns="0" bIns="0" rtlCol="0" anchor="t"/>
          <a:lstStyle/>
          <a:p>
            <a:pPr indent="0" marL="0">
              <a:buNone/>
            </a:pPr>
            <a:r>
              <a:rPr lang="en-US" sz="1400" i="1" dirty="0">
                <a:solidFill>
                  <a:schemeClr val="accent1"/>
                </a:solidFill>
              </a:rPr>
              <a:t>Cohan et al., 2002, Fig. 4</a:t>
            </a:r>
            <a:endParaRPr lang="en-US" sz="1400" dirty="0"/>
          </a:p>
        </p:txBody>
      </p:sp>
      <p:sp>
        <p:nvSpPr>
          <p:cNvPr id="12" name="Sankhla figure card"/>
          <p:cNvSpPr/>
          <p:nvPr/>
        </p:nvSpPr>
        <p:spPr>
          <a:xfrm>
            <a:off x="9006840" y="1280160"/>
            <a:ext cx="2724912" cy="3611880"/>
          </a:xfrm>
          <a:prstGeom prst="roundRect">
            <a:avLst>
              <a:gd name="adj" fmla="val 234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Sankhla figure title"/>
          <p:cNvSpPr txBox="1"/>
          <p:nvPr/>
        </p:nvSpPr>
        <p:spPr>
          <a:xfrm>
            <a:off x="9144000" y="1371600"/>
            <a:ext cx="2450592" cy="530352"/>
          </a:xfrm>
          <a:prstGeom prst="rect">
            <a:avLst/>
          </a:prstGeom>
          <a:noFill/>
          <a:ln/>
        </p:spPr>
        <p:txBody>
          <a:bodyPr wrap="square" lIns="0" tIns="0" rIns="0" bIns="0" rtlCol="0" anchor="t"/>
          <a:lstStyle/>
          <a:p>
            <a:pPr indent="0" marL="0">
              <a:buNone/>
            </a:pPr>
            <a:r>
              <a:rPr lang="en-US" sz="1400" b="1" dirty="0">
                <a:solidFill>
                  <a:schemeClr val="tx2"/>
                </a:solidFill>
              </a:rPr>
              <a:t>Punjab wheat yield vs AOD, 2000–2018</a:t>
            </a:r>
            <a:endParaRPr lang="en-US" sz="1400" dirty="0"/>
          </a:p>
        </p:txBody>
      </p:sp>
      <p:pic>
        <p:nvPicPr>
          <p:cNvPr id="14" name="Sankhla figure" descr="Sankhla figure">    </p:cNvPr>
          <p:cNvPicPr>
            <a:picLocks noChangeAspect="1"/>
          </p:cNvPicPr>
          <p:nvPr/>
        </p:nvPicPr>
        <p:blipFill>
          <a:blip r:embed="rId2"/>
          <a:stretch>
            <a:fillRect/>
          </a:stretch>
        </p:blipFill>
        <p:spPr>
          <a:xfrm>
            <a:off x="9328404" y="1901952"/>
            <a:ext cx="2081784" cy="2103120"/>
          </a:xfrm>
          <a:prstGeom prst="rect">
            <a:avLst/>
          </a:prstGeom>
        </p:spPr>
      </p:pic>
      <p:sp>
        <p:nvSpPr>
          <p:cNvPr id="15" name="Sankhla figure caption"/>
          <p:cNvSpPr txBox="1"/>
          <p:nvPr/>
        </p:nvSpPr>
        <p:spPr>
          <a:xfrm>
            <a:off x="9144000" y="4078224"/>
            <a:ext cx="2450592" cy="457200"/>
          </a:xfrm>
          <a:prstGeom prst="rect">
            <a:avLst/>
          </a:prstGeom>
          <a:noFill/>
          <a:ln/>
        </p:spPr>
        <p:txBody>
          <a:bodyPr wrap="square" lIns="0" tIns="0" rIns="0" bIns="0" rtlCol="0" anchor="t"/>
          <a:lstStyle/>
          <a:p>
            <a:pPr indent="0" marL="0">
              <a:buNone/>
            </a:pPr>
            <a:r>
              <a:rPr lang="en-US" sz="1400" dirty="0">
                <a:solidFill>
                  <a:schemeClr val="tx1"/>
                </a:solidFill>
              </a:rPr>
              <a:t>Red: quadratic fit; black: linear (R² = 0.64)</a:t>
            </a:r>
            <a:endParaRPr lang="en-US" sz="1400" dirty="0"/>
          </a:p>
        </p:txBody>
      </p:sp>
      <p:sp>
        <p:nvSpPr>
          <p:cNvPr id="16" name="Sankhla figure source"/>
          <p:cNvSpPr txBox="1"/>
          <p:nvPr/>
        </p:nvSpPr>
        <p:spPr>
          <a:xfrm>
            <a:off x="9144000" y="4535424"/>
            <a:ext cx="2450592" cy="246888"/>
          </a:xfrm>
          <a:prstGeom prst="rect">
            <a:avLst/>
          </a:prstGeom>
          <a:noFill/>
          <a:ln/>
        </p:spPr>
        <p:txBody>
          <a:bodyPr wrap="square" lIns="0" tIns="0" rIns="0" bIns="0" rtlCol="0" anchor="t"/>
          <a:lstStyle/>
          <a:p>
            <a:pPr indent="0" marL="0">
              <a:buNone/>
            </a:pPr>
            <a:r>
              <a:rPr lang="en-US" sz="1400" i="1" dirty="0">
                <a:solidFill>
                  <a:schemeClr val="accent1"/>
                </a:solidFill>
              </a:rPr>
              <a:t>Sankhla et al., Fig. 2c</a:t>
            </a:r>
            <a:endParaRPr lang="en-US" sz="1400" dirty="0"/>
          </a:p>
        </p:txBody>
      </p:sp>
      <p:sp>
        <p:nvSpPr>
          <p:cNvPr id="17" name="Optimum strip"/>
          <p:cNvSpPr/>
          <p:nvPr/>
        </p:nvSpPr>
        <p:spPr>
          <a:xfrm>
            <a:off x="457200" y="5623560"/>
            <a:ext cx="11274552" cy="640080"/>
          </a:xfrm>
          <a:prstGeom prst="roundRect">
            <a:avLst>
              <a:gd name="adj" fmla="val 8571"/>
            </a:avLst>
          </a:prstGeom>
          <a:solidFill>
            <a:schemeClr val="bg2"/>
          </a:solidFill>
          <a:ln w="12700">
            <a:solidFill>
              <a:schemeClr val="bg2"/>
            </a:solidFill>
            <a:prstDash val="solid"/>
          </a:ln>
        </p:spPr>
      </p:sp>
      <p:sp>
        <p:nvSpPr>
          <p:cNvPr id="18" name="Optimum strip text"/>
          <p:cNvSpPr txBox="1"/>
          <p:nvPr/>
        </p:nvSpPr>
        <p:spPr>
          <a:xfrm>
            <a:off x="594360" y="5623560"/>
            <a:ext cx="11000232" cy="640080"/>
          </a:xfrm>
          <a:prstGeom prst="rect">
            <a:avLst/>
          </a:prstGeom>
          <a:noFill/>
          <a:ln/>
        </p:spPr>
        <p:txBody>
          <a:bodyPr wrap="square" lIns="0" tIns="0" rIns="0" bIns="0" rtlCol="0" anchor="ctr"/>
          <a:lstStyle/>
          <a:p>
            <a:pPr indent="0" marL="0">
              <a:buNone/>
            </a:pPr>
            <a:r>
              <a:rPr lang="en-US" sz="1400" b="1" dirty="0">
                <a:solidFill>
                  <a:schemeClr val="tx1"/>
                </a:solidFill>
              </a:rPr>
              <a:t>Why an optimum:</a:t>
            </a:r>
            <a:r>
              <a:rPr lang="en-US" sz="1400" dirty="0">
                <a:solidFill>
                  <a:schemeClr val="tx1"/>
                </a:solidFill>
              </a:rPr>
              <a:t> diffuse gain rises with AOD at first; beyond it, loss of total light and sunlit‑leaf photosynthesis dominates (Zhou et al., 2022)</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Factors that decide the aerosol impact</a:t>
            </a:r>
            <a:endParaRPr lang="en-US" sz="2800" dirty="0"/>
          </a:p>
        </p:txBody>
      </p:sp>
      <p:sp>
        <p:nvSpPr>
          <p:cNvPr id="4" name="Aerosol type card"/>
          <p:cNvSpPr/>
          <p:nvPr/>
        </p:nvSpPr>
        <p:spPr>
          <a:xfrm>
            <a:off x="457200" y="1280160"/>
            <a:ext cx="3337560" cy="1325880"/>
          </a:xfrm>
          <a:prstGeom prst="roundRect">
            <a:avLst>
              <a:gd name="adj" fmla="val 482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Aerosol type marker"/>
          <p:cNvSpPr/>
          <p:nvPr/>
        </p:nvSpPr>
        <p:spPr>
          <a:xfrm>
            <a:off x="457200" y="1389888"/>
            <a:ext cx="64008" cy="1106424"/>
          </a:xfrm>
          <a:prstGeom prst="rect">
            <a:avLst/>
          </a:prstGeom>
          <a:solidFill>
            <a:schemeClr val="accent6"/>
          </a:solidFill>
          <a:ln w="12700">
            <a:solidFill>
              <a:schemeClr val="accent6"/>
            </a:solidFill>
            <a:prstDash val="solid"/>
          </a:ln>
        </p:spPr>
      </p:sp>
      <p:sp>
        <p:nvSpPr>
          <p:cNvPr id="6" name="Aerosol type heading"/>
          <p:cNvSpPr txBox="1"/>
          <p:nvPr/>
        </p:nvSpPr>
        <p:spPr>
          <a:xfrm>
            <a:off x="640080" y="1353312"/>
            <a:ext cx="3063240" cy="274320"/>
          </a:xfrm>
          <a:prstGeom prst="rect">
            <a:avLst/>
          </a:prstGeom>
          <a:noFill/>
          <a:ln/>
        </p:spPr>
        <p:txBody>
          <a:bodyPr wrap="square" lIns="0" tIns="0" rIns="0" bIns="0" rtlCol="0" anchor="t"/>
          <a:lstStyle/>
          <a:p>
            <a:pPr indent="0" marL="0">
              <a:buNone/>
            </a:pPr>
            <a:r>
              <a:rPr lang="en-US" sz="1400" b="1" dirty="0">
                <a:solidFill>
                  <a:schemeClr val="tx2"/>
                </a:solidFill>
              </a:rPr>
              <a:t>Aerosol type</a:t>
            </a:r>
            <a:endParaRPr lang="en-US" sz="1400" dirty="0"/>
          </a:p>
        </p:txBody>
      </p:sp>
      <p:sp>
        <p:nvSpPr>
          <p:cNvPr id="7" name="Aerosol type text"/>
          <p:cNvSpPr txBox="1"/>
          <p:nvPr/>
        </p:nvSpPr>
        <p:spPr>
          <a:xfrm>
            <a:off x="640080" y="1645920"/>
            <a:ext cx="3063240" cy="621792"/>
          </a:xfrm>
          <a:prstGeom prst="rect">
            <a:avLst/>
          </a:prstGeom>
          <a:noFill/>
          <a:ln/>
        </p:spPr>
        <p:txBody>
          <a:bodyPr wrap="square" lIns="0" tIns="0" rIns="0" bIns="0" rtlCol="0" anchor="t"/>
          <a:lstStyle/>
          <a:p>
            <a:pPr indent="0" marL="0">
              <a:buNone/>
            </a:pPr>
            <a:r>
              <a:rPr lang="en-US" sz="1400" dirty="0">
                <a:solidFill>
                  <a:schemeClr val="tx1"/>
                </a:solidFill>
              </a:rPr>
              <a:t>Scattering sulfate and organics help; black carbon cuts GPP by 0.28 Pg C yr</a:t>
            </a:r>
            <a:r>
              <a:rPr lang="en-US" sz="1400" baseline="30000" dirty="0">
                <a:solidFill>
                  <a:schemeClr val="tx1"/>
                </a:solidFill>
              </a:rPr>
              <a:t>−1</a:t>
            </a:r>
            <a:endParaRPr lang="en-US" sz="1400" dirty="0"/>
          </a:p>
        </p:txBody>
      </p:sp>
      <p:sp>
        <p:nvSpPr>
          <p:cNvPr id="8" name="Aerosol type ref"/>
          <p:cNvSpPr txBox="1"/>
          <p:nvPr/>
        </p:nvSpPr>
        <p:spPr>
          <a:xfrm>
            <a:off x="640080" y="2267712"/>
            <a:ext cx="3063240" cy="256032"/>
          </a:xfrm>
          <a:prstGeom prst="rect">
            <a:avLst/>
          </a:prstGeom>
          <a:noFill/>
          <a:ln/>
        </p:spPr>
        <p:txBody>
          <a:bodyPr wrap="square" lIns="0" tIns="0" rIns="0" bIns="0" rtlCol="0" anchor="t"/>
          <a:lstStyle/>
          <a:p>
            <a:pPr indent="0" marL="0">
              <a:buNone/>
            </a:pPr>
            <a:r>
              <a:rPr lang="en-US" sz="1400" i="1" dirty="0">
                <a:solidFill>
                  <a:schemeClr val="accent1"/>
                </a:solidFill>
              </a:rPr>
              <a:t>Zhou et al., 2022</a:t>
            </a:r>
            <a:endParaRPr lang="en-US" sz="1400" dirty="0"/>
          </a:p>
        </p:txBody>
      </p:sp>
      <p:sp>
        <p:nvSpPr>
          <p:cNvPr id="9" name="Co-pollutant ozone card"/>
          <p:cNvSpPr/>
          <p:nvPr/>
        </p:nvSpPr>
        <p:spPr>
          <a:xfrm>
            <a:off x="3931920" y="1280160"/>
            <a:ext cx="3337560" cy="1325880"/>
          </a:xfrm>
          <a:prstGeom prst="roundRect">
            <a:avLst>
              <a:gd name="adj" fmla="val 482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Co-pollutant ozone marker"/>
          <p:cNvSpPr/>
          <p:nvPr/>
        </p:nvSpPr>
        <p:spPr>
          <a:xfrm>
            <a:off x="3931920" y="1389888"/>
            <a:ext cx="64008" cy="1106424"/>
          </a:xfrm>
          <a:prstGeom prst="rect">
            <a:avLst/>
          </a:prstGeom>
          <a:solidFill>
            <a:schemeClr val="accent5"/>
          </a:solidFill>
          <a:ln w="12700">
            <a:solidFill>
              <a:schemeClr val="accent5"/>
            </a:solidFill>
            <a:prstDash val="solid"/>
          </a:ln>
        </p:spPr>
      </p:sp>
      <p:sp>
        <p:nvSpPr>
          <p:cNvPr id="11" name="Co-pollutant ozone heading"/>
          <p:cNvSpPr txBox="1"/>
          <p:nvPr/>
        </p:nvSpPr>
        <p:spPr>
          <a:xfrm>
            <a:off x="4114800" y="1353312"/>
            <a:ext cx="3063240" cy="274320"/>
          </a:xfrm>
          <a:prstGeom prst="rect">
            <a:avLst/>
          </a:prstGeom>
          <a:noFill/>
          <a:ln/>
        </p:spPr>
        <p:txBody>
          <a:bodyPr wrap="square" lIns="0" tIns="0" rIns="0" bIns="0" rtlCol="0" anchor="t"/>
          <a:lstStyle/>
          <a:p>
            <a:pPr indent="0" marL="0">
              <a:buNone/>
            </a:pPr>
            <a:r>
              <a:rPr lang="en-US" sz="1400" b="1" dirty="0">
                <a:solidFill>
                  <a:schemeClr val="tx2"/>
                </a:solidFill>
              </a:rPr>
              <a:t>Co-pollutant ozone</a:t>
            </a:r>
            <a:endParaRPr lang="en-US" sz="1400" dirty="0"/>
          </a:p>
        </p:txBody>
      </p:sp>
      <p:sp>
        <p:nvSpPr>
          <p:cNvPr id="12" name="Co-pollutant ozone text"/>
          <p:cNvSpPr txBox="1"/>
          <p:nvPr/>
        </p:nvSpPr>
        <p:spPr>
          <a:xfrm>
            <a:off x="4114800" y="1645920"/>
            <a:ext cx="3063240" cy="621792"/>
          </a:xfrm>
          <a:prstGeom prst="rect">
            <a:avLst/>
          </a:prstGeom>
          <a:noFill/>
          <a:ln/>
        </p:spPr>
        <p:txBody>
          <a:bodyPr wrap="square" lIns="0" tIns="0" rIns="0" bIns="0" rtlCol="0" anchor="t"/>
          <a:lstStyle/>
          <a:p>
            <a:pPr indent="0" marL="0">
              <a:buNone/>
            </a:pPr>
            <a:r>
              <a:rPr lang="en-US" sz="1400" dirty="0">
                <a:solidFill>
                  <a:schemeClr val="tx1"/>
                </a:solidFill>
              </a:rPr>
              <a:t>Global GPP: ozone −4.0, aerosol +1.0 Pg C yr</a:t>
            </a:r>
            <a:r>
              <a:rPr lang="en-US" sz="1400" baseline="30000" dirty="0">
                <a:solidFill>
                  <a:schemeClr val="tx1"/>
                </a:solidFill>
              </a:rPr>
              <a:t>−1</a:t>
            </a:r>
            <a:r>
              <a:rPr lang="en-US" sz="1400" dirty="0">
                <a:solidFill>
                  <a:schemeClr val="tx1"/>
                </a:solidFill>
              </a:rPr>
              <a:t>; fire pollution net −0.86</a:t>
            </a:r>
            <a:endParaRPr lang="en-US" sz="1400" dirty="0"/>
          </a:p>
        </p:txBody>
      </p:sp>
      <p:sp>
        <p:nvSpPr>
          <p:cNvPr id="13" name="Co-pollutant ozone ref"/>
          <p:cNvSpPr txBox="1"/>
          <p:nvPr/>
        </p:nvSpPr>
        <p:spPr>
          <a:xfrm>
            <a:off x="4114800" y="2267712"/>
            <a:ext cx="3063240" cy="256032"/>
          </a:xfrm>
          <a:prstGeom prst="rect">
            <a:avLst/>
          </a:prstGeom>
          <a:noFill/>
          <a:ln/>
        </p:spPr>
        <p:txBody>
          <a:bodyPr wrap="square" lIns="0" tIns="0" rIns="0" bIns="0" rtlCol="0" anchor="t"/>
          <a:lstStyle/>
          <a:p>
            <a:pPr indent="0" marL="0">
              <a:buNone/>
            </a:pPr>
            <a:r>
              <a:rPr lang="en-US" sz="1400" i="1" dirty="0">
                <a:solidFill>
                  <a:schemeClr val="accent1"/>
                </a:solidFill>
              </a:rPr>
              <a:t>Yue &amp; Unger, 2018</a:t>
            </a:r>
            <a:endParaRPr lang="en-US" sz="1400" dirty="0"/>
          </a:p>
        </p:txBody>
      </p:sp>
      <p:sp>
        <p:nvSpPr>
          <p:cNvPr id="14" name="Cloud cover card"/>
          <p:cNvSpPr/>
          <p:nvPr/>
        </p:nvSpPr>
        <p:spPr>
          <a:xfrm>
            <a:off x="457200" y="2724912"/>
            <a:ext cx="3337560" cy="1325880"/>
          </a:xfrm>
          <a:prstGeom prst="roundRect">
            <a:avLst>
              <a:gd name="adj" fmla="val 482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5" name="Cloud cover marker"/>
          <p:cNvSpPr/>
          <p:nvPr/>
        </p:nvSpPr>
        <p:spPr>
          <a:xfrm>
            <a:off x="457200" y="2834640"/>
            <a:ext cx="64008" cy="1106424"/>
          </a:xfrm>
          <a:prstGeom prst="rect">
            <a:avLst/>
          </a:prstGeom>
          <a:solidFill>
            <a:schemeClr val="accent4"/>
          </a:solidFill>
          <a:ln w="12700">
            <a:solidFill>
              <a:schemeClr val="accent4"/>
            </a:solidFill>
            <a:prstDash val="solid"/>
          </a:ln>
        </p:spPr>
      </p:sp>
      <p:sp>
        <p:nvSpPr>
          <p:cNvPr id="16" name="Cloud cover heading"/>
          <p:cNvSpPr txBox="1"/>
          <p:nvPr/>
        </p:nvSpPr>
        <p:spPr>
          <a:xfrm>
            <a:off x="640080" y="2798064"/>
            <a:ext cx="3063240" cy="274320"/>
          </a:xfrm>
          <a:prstGeom prst="rect">
            <a:avLst/>
          </a:prstGeom>
          <a:noFill/>
          <a:ln/>
        </p:spPr>
        <p:txBody>
          <a:bodyPr wrap="square" lIns="0" tIns="0" rIns="0" bIns="0" rtlCol="0" anchor="t"/>
          <a:lstStyle/>
          <a:p>
            <a:pPr indent="0" marL="0">
              <a:buNone/>
            </a:pPr>
            <a:r>
              <a:rPr lang="en-US" sz="1400" b="1" dirty="0">
                <a:solidFill>
                  <a:schemeClr val="tx2"/>
                </a:solidFill>
              </a:rPr>
              <a:t>Cloud cover</a:t>
            </a:r>
            <a:endParaRPr lang="en-US" sz="1400" dirty="0"/>
          </a:p>
        </p:txBody>
      </p:sp>
      <p:sp>
        <p:nvSpPr>
          <p:cNvPr id="17" name="Cloud cover text"/>
          <p:cNvSpPr txBox="1"/>
          <p:nvPr/>
        </p:nvSpPr>
        <p:spPr>
          <a:xfrm>
            <a:off x="640080" y="3090672"/>
            <a:ext cx="3063240" cy="621792"/>
          </a:xfrm>
          <a:prstGeom prst="rect">
            <a:avLst/>
          </a:prstGeom>
          <a:noFill/>
          <a:ln/>
        </p:spPr>
        <p:txBody>
          <a:bodyPr wrap="square" lIns="0" tIns="0" rIns="0" bIns="0" rtlCol="0" anchor="t"/>
          <a:lstStyle/>
          <a:p>
            <a:pPr indent="0" marL="0">
              <a:buNone/>
            </a:pPr>
            <a:r>
              <a:rPr lang="en-US" sz="1400" dirty="0">
                <a:solidFill>
                  <a:schemeClr val="tx1"/>
                </a:solidFill>
              </a:rPr>
              <a:t>Aerosol gain +8.91 Pg C yr</a:t>
            </a:r>
            <a:r>
              <a:rPr lang="en-US" sz="1400" baseline="30000" dirty="0">
                <a:solidFill>
                  <a:schemeClr val="tx1"/>
                </a:solidFill>
              </a:rPr>
              <a:t>−1</a:t>
            </a:r>
            <a:r>
              <a:rPr lang="en-US" sz="1400" dirty="0">
                <a:solidFill>
                  <a:schemeClr val="tx1"/>
                </a:solidFill>
              </a:rPr>
              <a:t> under clear sky, only +0.95 under all skies</a:t>
            </a:r>
            <a:endParaRPr lang="en-US" sz="1400" dirty="0"/>
          </a:p>
        </p:txBody>
      </p:sp>
      <p:sp>
        <p:nvSpPr>
          <p:cNvPr id="18" name="Cloud cover ref"/>
          <p:cNvSpPr txBox="1"/>
          <p:nvPr/>
        </p:nvSpPr>
        <p:spPr>
          <a:xfrm>
            <a:off x="640080" y="3712464"/>
            <a:ext cx="3063240" cy="256032"/>
          </a:xfrm>
          <a:prstGeom prst="rect">
            <a:avLst/>
          </a:prstGeom>
          <a:noFill/>
          <a:ln/>
        </p:spPr>
        <p:txBody>
          <a:bodyPr wrap="square" lIns="0" tIns="0" rIns="0" bIns="0" rtlCol="0" anchor="t"/>
          <a:lstStyle/>
          <a:p>
            <a:pPr indent="0" marL="0">
              <a:buNone/>
            </a:pPr>
            <a:r>
              <a:rPr lang="en-US" sz="1400" i="1" dirty="0">
                <a:solidFill>
                  <a:schemeClr val="accent1"/>
                </a:solidFill>
              </a:rPr>
              <a:t>Zhou et al., 2022</a:t>
            </a:r>
            <a:endParaRPr lang="en-US" sz="1400" dirty="0"/>
          </a:p>
        </p:txBody>
      </p:sp>
      <p:sp>
        <p:nvSpPr>
          <p:cNvPr id="19" name="Canopy structure card"/>
          <p:cNvSpPr/>
          <p:nvPr/>
        </p:nvSpPr>
        <p:spPr>
          <a:xfrm>
            <a:off x="3931920" y="2724912"/>
            <a:ext cx="3337560" cy="1325880"/>
          </a:xfrm>
          <a:prstGeom prst="roundRect">
            <a:avLst>
              <a:gd name="adj" fmla="val 482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0" name="Canopy structure marker"/>
          <p:cNvSpPr/>
          <p:nvPr/>
        </p:nvSpPr>
        <p:spPr>
          <a:xfrm>
            <a:off x="3931920" y="2834640"/>
            <a:ext cx="64008" cy="1106424"/>
          </a:xfrm>
          <a:prstGeom prst="rect">
            <a:avLst/>
          </a:prstGeom>
          <a:solidFill>
            <a:schemeClr val="accent3"/>
          </a:solidFill>
          <a:ln w="12700">
            <a:solidFill>
              <a:schemeClr val="accent3"/>
            </a:solidFill>
            <a:prstDash val="solid"/>
          </a:ln>
        </p:spPr>
      </p:sp>
      <p:sp>
        <p:nvSpPr>
          <p:cNvPr id="21" name="Canopy structure heading"/>
          <p:cNvSpPr txBox="1"/>
          <p:nvPr/>
        </p:nvSpPr>
        <p:spPr>
          <a:xfrm>
            <a:off x="4114800" y="2798064"/>
            <a:ext cx="3063240" cy="274320"/>
          </a:xfrm>
          <a:prstGeom prst="rect">
            <a:avLst/>
          </a:prstGeom>
          <a:noFill/>
          <a:ln/>
        </p:spPr>
        <p:txBody>
          <a:bodyPr wrap="square" lIns="0" tIns="0" rIns="0" bIns="0" rtlCol="0" anchor="t"/>
          <a:lstStyle/>
          <a:p>
            <a:pPr indent="0" marL="0">
              <a:buNone/>
            </a:pPr>
            <a:r>
              <a:rPr lang="en-US" sz="1400" b="1" dirty="0">
                <a:solidFill>
                  <a:schemeClr val="tx2"/>
                </a:solidFill>
              </a:rPr>
              <a:t>Canopy structure</a:t>
            </a:r>
            <a:endParaRPr lang="en-US" sz="1400" dirty="0"/>
          </a:p>
        </p:txBody>
      </p:sp>
      <p:sp>
        <p:nvSpPr>
          <p:cNvPr id="22" name="Canopy structure text"/>
          <p:cNvSpPr txBox="1"/>
          <p:nvPr/>
        </p:nvSpPr>
        <p:spPr>
          <a:xfrm>
            <a:off x="4114800" y="3090672"/>
            <a:ext cx="3063240" cy="621792"/>
          </a:xfrm>
          <a:prstGeom prst="rect">
            <a:avLst/>
          </a:prstGeom>
          <a:noFill/>
          <a:ln/>
        </p:spPr>
        <p:txBody>
          <a:bodyPr wrap="square" lIns="0" tIns="0" rIns="0" bIns="0" rtlCol="0" anchor="t"/>
          <a:lstStyle/>
          <a:p>
            <a:pPr indent="0" marL="0">
              <a:buNone/>
            </a:pPr>
            <a:r>
              <a:rPr lang="en-US" sz="1400" dirty="0">
                <a:solidFill>
                  <a:schemeClr val="tx1"/>
                </a:solidFill>
              </a:rPr>
              <a:t>Uptake rose with aerosol in forest and cropland, fell in grassland</a:t>
            </a:r>
            <a:endParaRPr lang="en-US" sz="1400" dirty="0"/>
          </a:p>
        </p:txBody>
      </p:sp>
      <p:sp>
        <p:nvSpPr>
          <p:cNvPr id="23" name="Canopy structure ref"/>
          <p:cNvSpPr txBox="1"/>
          <p:nvPr/>
        </p:nvSpPr>
        <p:spPr>
          <a:xfrm>
            <a:off x="4114800" y="3712464"/>
            <a:ext cx="3063240" cy="256032"/>
          </a:xfrm>
          <a:prstGeom prst="rect">
            <a:avLst/>
          </a:prstGeom>
          <a:noFill/>
          <a:ln/>
        </p:spPr>
        <p:txBody>
          <a:bodyPr wrap="square" lIns="0" tIns="0" rIns="0" bIns="0" rtlCol="0" anchor="t"/>
          <a:lstStyle/>
          <a:p>
            <a:pPr indent="0" marL="0">
              <a:buNone/>
            </a:pPr>
            <a:r>
              <a:rPr lang="en-US" sz="1400" i="1" dirty="0">
                <a:solidFill>
                  <a:schemeClr val="accent1"/>
                </a:solidFill>
              </a:rPr>
              <a:t>Niyogi et al., 2004</a:t>
            </a:r>
            <a:endParaRPr lang="en-US" sz="1400" dirty="0"/>
          </a:p>
        </p:txBody>
      </p:sp>
      <p:sp>
        <p:nvSpPr>
          <p:cNvPr id="24" name="C3 vs C4 plants card"/>
          <p:cNvSpPr/>
          <p:nvPr/>
        </p:nvSpPr>
        <p:spPr>
          <a:xfrm>
            <a:off x="457200" y="4169664"/>
            <a:ext cx="3337560" cy="1325880"/>
          </a:xfrm>
          <a:prstGeom prst="roundRect">
            <a:avLst>
              <a:gd name="adj" fmla="val 482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5" name="C3 vs C4 plants marker"/>
          <p:cNvSpPr/>
          <p:nvPr/>
        </p:nvSpPr>
        <p:spPr>
          <a:xfrm>
            <a:off x="457200" y="4279392"/>
            <a:ext cx="64008" cy="1106424"/>
          </a:xfrm>
          <a:prstGeom prst="rect">
            <a:avLst/>
          </a:prstGeom>
          <a:solidFill>
            <a:schemeClr val="accent2"/>
          </a:solidFill>
          <a:ln w="12700">
            <a:solidFill>
              <a:schemeClr val="accent2"/>
            </a:solidFill>
            <a:prstDash val="solid"/>
          </a:ln>
        </p:spPr>
      </p:sp>
      <p:sp>
        <p:nvSpPr>
          <p:cNvPr id="26" name="C3 vs C4 plants heading"/>
          <p:cNvSpPr txBox="1"/>
          <p:nvPr/>
        </p:nvSpPr>
        <p:spPr>
          <a:xfrm>
            <a:off x="640080" y="4242816"/>
            <a:ext cx="3063240" cy="274320"/>
          </a:xfrm>
          <a:prstGeom prst="rect">
            <a:avLst/>
          </a:prstGeom>
          <a:noFill/>
          <a:ln/>
        </p:spPr>
        <p:txBody>
          <a:bodyPr wrap="square" lIns="0" tIns="0" rIns="0" bIns="0" rtlCol="0" anchor="t"/>
          <a:lstStyle/>
          <a:p>
            <a:pPr indent="0" marL="0">
              <a:buNone/>
            </a:pPr>
            <a:r>
              <a:rPr lang="en-US" sz="1400" b="1" dirty="0">
                <a:solidFill>
                  <a:schemeClr val="tx2"/>
                </a:solidFill>
              </a:rPr>
              <a:t>C3 vs C4 plants</a:t>
            </a:r>
            <a:endParaRPr lang="en-US" sz="1400" dirty="0"/>
          </a:p>
        </p:txBody>
      </p:sp>
      <p:sp>
        <p:nvSpPr>
          <p:cNvPr id="27" name="C3 vs C4 plants text"/>
          <p:cNvSpPr txBox="1"/>
          <p:nvPr/>
        </p:nvSpPr>
        <p:spPr>
          <a:xfrm>
            <a:off x="640080" y="4535424"/>
            <a:ext cx="3063240" cy="621792"/>
          </a:xfrm>
          <a:prstGeom prst="rect">
            <a:avLst/>
          </a:prstGeom>
          <a:noFill/>
          <a:ln/>
        </p:spPr>
        <p:txBody>
          <a:bodyPr wrap="square" lIns="0" tIns="0" rIns="0" bIns="0" rtlCol="0" anchor="t"/>
          <a:lstStyle/>
          <a:p>
            <a:pPr indent="0" marL="0">
              <a:buNone/>
            </a:pPr>
            <a:r>
              <a:rPr lang="en-US" sz="1400" dirty="0">
                <a:solidFill>
                  <a:schemeClr val="tx1"/>
                </a:solidFill>
              </a:rPr>
              <a:t>C4 plants rarely light‑saturate; soybean LUE gain ~50% above maize</a:t>
            </a:r>
            <a:endParaRPr lang="en-US" sz="1400" dirty="0"/>
          </a:p>
        </p:txBody>
      </p:sp>
      <p:sp>
        <p:nvSpPr>
          <p:cNvPr id="28" name="C3 vs C4 plants ref"/>
          <p:cNvSpPr txBox="1"/>
          <p:nvPr/>
        </p:nvSpPr>
        <p:spPr>
          <a:xfrm>
            <a:off x="640080" y="5157216"/>
            <a:ext cx="3063240" cy="256032"/>
          </a:xfrm>
          <a:prstGeom prst="rect">
            <a:avLst/>
          </a:prstGeom>
          <a:noFill/>
          <a:ln/>
        </p:spPr>
        <p:txBody>
          <a:bodyPr wrap="square" lIns="0" tIns="0" rIns="0" bIns="0" rtlCol="0" anchor="t"/>
          <a:lstStyle/>
          <a:p>
            <a:pPr indent="0" marL="0">
              <a:buNone/>
            </a:pPr>
            <a:r>
              <a:rPr lang="en-US" sz="1400" i="1" dirty="0">
                <a:solidFill>
                  <a:schemeClr val="accent1"/>
                </a:solidFill>
              </a:rPr>
              <a:t>Kanniah et al., 2012</a:t>
            </a:r>
            <a:endParaRPr lang="en-US" sz="1400" dirty="0"/>
          </a:p>
        </p:txBody>
      </p:sp>
      <p:sp>
        <p:nvSpPr>
          <p:cNvPr id="29" name="Emission source card"/>
          <p:cNvSpPr/>
          <p:nvPr/>
        </p:nvSpPr>
        <p:spPr>
          <a:xfrm>
            <a:off x="3931920" y="4169664"/>
            <a:ext cx="3337560" cy="1325880"/>
          </a:xfrm>
          <a:prstGeom prst="roundRect">
            <a:avLst>
              <a:gd name="adj" fmla="val 482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0" name="Emission source marker"/>
          <p:cNvSpPr/>
          <p:nvPr/>
        </p:nvSpPr>
        <p:spPr>
          <a:xfrm>
            <a:off x="3931920" y="4279392"/>
            <a:ext cx="64008" cy="1106424"/>
          </a:xfrm>
          <a:prstGeom prst="rect">
            <a:avLst/>
          </a:prstGeom>
          <a:solidFill>
            <a:schemeClr val="accent1"/>
          </a:solidFill>
          <a:ln w="12700">
            <a:solidFill>
              <a:schemeClr val="accent1"/>
            </a:solidFill>
            <a:prstDash val="solid"/>
          </a:ln>
        </p:spPr>
      </p:sp>
      <p:sp>
        <p:nvSpPr>
          <p:cNvPr id="31" name="Emission source heading"/>
          <p:cNvSpPr txBox="1"/>
          <p:nvPr/>
        </p:nvSpPr>
        <p:spPr>
          <a:xfrm>
            <a:off x="4114800" y="4242816"/>
            <a:ext cx="3063240" cy="274320"/>
          </a:xfrm>
          <a:prstGeom prst="rect">
            <a:avLst/>
          </a:prstGeom>
          <a:noFill/>
          <a:ln/>
        </p:spPr>
        <p:txBody>
          <a:bodyPr wrap="square" lIns="0" tIns="0" rIns="0" bIns="0" rtlCol="0" anchor="t"/>
          <a:lstStyle/>
          <a:p>
            <a:pPr indent="0" marL="0">
              <a:buNone/>
            </a:pPr>
            <a:r>
              <a:rPr lang="en-US" sz="1400" b="1" dirty="0">
                <a:solidFill>
                  <a:schemeClr val="tx2"/>
                </a:solidFill>
              </a:rPr>
              <a:t>Emission source</a:t>
            </a:r>
            <a:endParaRPr lang="en-US" sz="1400" dirty="0"/>
          </a:p>
        </p:txBody>
      </p:sp>
      <p:sp>
        <p:nvSpPr>
          <p:cNvPr id="32" name="Emission source text"/>
          <p:cNvSpPr txBox="1"/>
          <p:nvPr/>
        </p:nvSpPr>
        <p:spPr>
          <a:xfrm>
            <a:off x="4114800" y="4535424"/>
            <a:ext cx="3063240" cy="621792"/>
          </a:xfrm>
          <a:prstGeom prst="rect">
            <a:avLst/>
          </a:prstGeom>
          <a:noFill/>
          <a:ln/>
        </p:spPr>
        <p:txBody>
          <a:bodyPr wrap="square" lIns="0" tIns="0" rIns="0" bIns="0" rtlCol="0" anchor="t"/>
          <a:lstStyle/>
          <a:p>
            <a:pPr indent="0" marL="0">
              <a:buNone/>
            </a:pPr>
            <a:r>
              <a:rPr lang="en-US" sz="1400" dirty="0">
                <a:solidFill>
                  <a:schemeClr val="tx1"/>
                </a:solidFill>
              </a:rPr>
              <a:t>Anthropogenic aerosol gives 41% of the global GPP gain</a:t>
            </a:r>
            <a:endParaRPr lang="en-US" sz="1400" dirty="0"/>
          </a:p>
        </p:txBody>
      </p:sp>
      <p:sp>
        <p:nvSpPr>
          <p:cNvPr id="33" name="Emission source ref"/>
          <p:cNvSpPr txBox="1"/>
          <p:nvPr/>
        </p:nvSpPr>
        <p:spPr>
          <a:xfrm>
            <a:off x="4114800" y="5157216"/>
            <a:ext cx="3063240" cy="256032"/>
          </a:xfrm>
          <a:prstGeom prst="rect">
            <a:avLst/>
          </a:prstGeom>
          <a:noFill/>
          <a:ln/>
        </p:spPr>
        <p:txBody>
          <a:bodyPr wrap="square" lIns="0" tIns="0" rIns="0" bIns="0" rtlCol="0" anchor="t"/>
          <a:lstStyle/>
          <a:p>
            <a:pPr indent="0" marL="0">
              <a:buNone/>
            </a:pPr>
            <a:r>
              <a:rPr lang="en-US" sz="1400" i="1" dirty="0">
                <a:solidFill>
                  <a:schemeClr val="accent1"/>
                </a:solidFill>
              </a:rPr>
              <a:t>Zhou et al., 2022</a:t>
            </a:r>
            <a:endParaRPr lang="en-US" sz="1400" dirty="0"/>
          </a:p>
        </p:txBody>
      </p:sp>
      <p:sp>
        <p:nvSpPr>
          <p:cNvPr id="34" name="Ozone figure card"/>
          <p:cNvSpPr/>
          <p:nvPr/>
        </p:nvSpPr>
        <p:spPr>
          <a:xfrm>
            <a:off x="7406640" y="1280160"/>
            <a:ext cx="4325112" cy="3958636"/>
          </a:xfrm>
          <a:prstGeom prst="roundRect">
            <a:avLst>
              <a:gd name="adj" fmla="val 161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5" name="Ozone figure title"/>
          <p:cNvSpPr txBox="1"/>
          <p:nvPr/>
        </p:nvSpPr>
        <p:spPr>
          <a:xfrm>
            <a:off x="7543800" y="1371600"/>
            <a:ext cx="4050792" cy="530352"/>
          </a:xfrm>
          <a:prstGeom prst="rect">
            <a:avLst/>
          </a:prstGeom>
          <a:noFill/>
          <a:ln/>
        </p:spPr>
        <p:txBody>
          <a:bodyPr wrap="square" lIns="0" tIns="0" rIns="0" bIns="0" rtlCol="0" anchor="t"/>
          <a:lstStyle/>
          <a:p>
            <a:pPr indent="0" marL="0">
              <a:buNone/>
            </a:pPr>
            <a:r>
              <a:rPr lang="en-US" sz="1400" b="1" dirty="0">
                <a:solidFill>
                  <a:schemeClr val="tx2"/>
                </a:solidFill>
              </a:rPr>
              <a:t>% change in global GPP: ozone (top), aerosol (bottom); left: non-fire, right: fire</a:t>
            </a:r>
            <a:endParaRPr lang="en-US" sz="1400" dirty="0"/>
          </a:p>
        </p:txBody>
      </p:sp>
      <p:pic>
        <p:nvPicPr>
          <p:cNvPr id="36" name="Ozone figure" descr="Ozone figure">    </p:cNvPr>
          <p:cNvPicPr>
            <a:picLocks noChangeAspect="1"/>
          </p:cNvPicPr>
          <p:nvPr/>
        </p:nvPicPr>
        <p:blipFill>
          <a:blip r:embed="rId1"/>
          <a:stretch>
            <a:fillRect/>
          </a:stretch>
        </p:blipFill>
        <p:spPr>
          <a:xfrm>
            <a:off x="7534656" y="1901952"/>
            <a:ext cx="4069080" cy="2907076"/>
          </a:xfrm>
          <a:prstGeom prst="rect">
            <a:avLst/>
          </a:prstGeom>
        </p:spPr>
      </p:pic>
      <p:sp>
        <p:nvSpPr>
          <p:cNvPr id="37" name="Ozone figure source"/>
          <p:cNvSpPr txBox="1"/>
          <p:nvPr/>
        </p:nvSpPr>
        <p:spPr>
          <a:xfrm>
            <a:off x="7543800" y="4882180"/>
            <a:ext cx="4050792" cy="246888"/>
          </a:xfrm>
          <a:prstGeom prst="rect">
            <a:avLst/>
          </a:prstGeom>
          <a:noFill/>
          <a:ln/>
        </p:spPr>
        <p:txBody>
          <a:bodyPr wrap="square" lIns="0" tIns="0" rIns="0" bIns="0" rtlCol="0" anchor="t"/>
          <a:lstStyle/>
          <a:p>
            <a:pPr indent="0" marL="0">
              <a:buNone/>
            </a:pPr>
            <a:r>
              <a:rPr lang="en-US" sz="1400" i="1" dirty="0">
                <a:solidFill>
                  <a:schemeClr val="accent1"/>
                </a:solidFill>
              </a:rPr>
              <a:t>Yue &amp; Unger, 2018</a:t>
            </a:r>
            <a:endParaRPr lang="en-US" sz="1400" dirty="0"/>
          </a:p>
        </p:txBody>
      </p:sp>
      <p:sp>
        <p:nvSpPr>
          <p:cNvPr id="38" name="Factor strip"/>
          <p:cNvSpPr/>
          <p:nvPr/>
        </p:nvSpPr>
        <p:spPr>
          <a:xfrm>
            <a:off x="457200" y="5715000"/>
            <a:ext cx="11274552" cy="548640"/>
          </a:xfrm>
          <a:prstGeom prst="roundRect">
            <a:avLst>
              <a:gd name="adj" fmla="val 10000"/>
            </a:avLst>
          </a:prstGeom>
          <a:solidFill>
            <a:schemeClr val="bg2"/>
          </a:solidFill>
          <a:ln w="12700">
            <a:solidFill>
              <a:schemeClr val="bg2"/>
            </a:solidFill>
            <a:prstDash val="solid"/>
          </a:ln>
        </p:spPr>
      </p:sp>
      <p:sp>
        <p:nvSpPr>
          <p:cNvPr id="39" name="Factor strip text"/>
          <p:cNvSpPr txBox="1"/>
          <p:nvPr/>
        </p:nvSpPr>
        <p:spPr>
          <a:xfrm>
            <a:off x="594360" y="5715000"/>
            <a:ext cx="11000232" cy="548640"/>
          </a:xfrm>
          <a:prstGeom prst="rect">
            <a:avLst/>
          </a:prstGeom>
          <a:noFill/>
          <a:ln/>
        </p:spPr>
        <p:txBody>
          <a:bodyPr wrap="square" lIns="0" tIns="0" rIns="0" bIns="0" rtlCol="0" anchor="ctr"/>
          <a:lstStyle/>
          <a:p>
            <a:pPr indent="0" marL="0">
              <a:buNone/>
            </a:pPr>
            <a:r>
              <a:rPr lang="en-US" sz="1400" b="1" dirty="0">
                <a:solidFill>
                  <a:schemeClr val="tx1"/>
                </a:solidFill>
              </a:rPr>
              <a:t>Lesson:</a:t>
            </a:r>
            <a:r>
              <a:rPr lang="en-US" sz="1400" dirty="0">
                <a:solidFill>
                  <a:schemeClr val="tx1"/>
                </a:solidFill>
              </a:rPr>
              <a:t> a pollution effect is not an aerosol effect; the largest gain comes from scattering aerosol over a dense C3 canopy under clear sky</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PhD credit seminar</cp:lastModifiedBy>
  <cp:revision>1</cp:revision>
  <dcterms:created xsi:type="dcterms:W3CDTF">2026-10-25T21:17:05Z</dcterms:created>
  <dcterms:modified xsi:type="dcterms:W3CDTF">2026-10-25T21:17:05Z</dcterms:modified>
</cp:coreProperties>
</file>