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7 · Evidence" id="{790cef53-5f6c-ab93-8504-cc5bd4917b04}">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the evidence on how aerosol affects agricultural productivity in India and South Asia, with six studies spanning different crops, locations and time periods.
Auffhammer and colleagues, 2006, studied nine rainfed rice-growing states of India: Assam, Bihar, Karnataka, Kerala, Madhya Pradesh, Maharashtra, Orissa, Uttar Pradesh and West Bengal, from 1966 to 1998. They found that removing Asian Brown Clouds alone would have raised rice harvests by 10.6 percent by the late 1990s, primarily because the aerosol weakened monsoon rainfall, reducing both the area planted and the yield per hectare.
Burney and Ramanathan, 2014, used district-level data across all of India for wheat from 1980 to 2010. They found that the combined direct effects of black carbon and tropospheric ozone, beyond their indirect climate effects, reduced wheat yields by up to 36 percent, making air pollution a major threat to Indian food security.
Gupta and colleagues, 2024, analysed cropland areas across India from 1998 to 2019 using satellite-derived aerosol optical depth and found that aerosol pollution reduced rice yield by 7.9 percent and maize yield by 8.8 percent.
Gupta and colleagues, 2025, examined rice yields across nine agroclimatic zones of India. The all-India average decline due to aerosol was 0.73 percent per year, but the Eastern Plateau and Hills, labelled EPH on the map, suffered the most at 4.88 percent per year. The map on the right shows the spatial pattern of this AOD-related yield change.
Latha and colleagues, 2018, studied a tea plantation area in Dibrugarh, Assam, from 2008 to 2009. They found a correlation of 0.83 between AOD and evapotranspiration, with ET falling as AOD rises, because aerosol reduces net surface radiation through aerosol radiative forcing.
Jannat and colleagues, 2026, studied boro rice across the eight administrative divisions of Bangladesh from 2007 to 2023. The aerosol effect was positive, meaning higher AOD raised yield, in five divisions: Khulna, Barisal, Rangpur, Mymensingh and Sylhet, and negative in three: Chattogram, Dhaka and Rajshahi.
The bottom strip summarises the overall pattern: India's aerosol is high, rising and partly absorbing, which mostly lowers yields through less sunlight reaching the crop, weakened monsoon rainfall and warmer nights. Gains appear only where AOD is moderate.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7 · Evidence</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Evidence from India and South Asia</a:t>
            </a:r>
            <a:endParaRPr lang="en-US" sz="2800" dirty="0"/>
          </a:p>
        </p:txBody>
      </p:sp>
      <p:graphicFrame>
        <p:nvGraphicFramePr>
          <p:cNvPr id="2" name="SA table"/>
          <p:cNvGraphicFramePr>
            <a:graphicFrameLocks noGrp="1"/>
          </p:cNvGraphicFramePr>
          <p:nvPr>
            <p:extLst>
              <p:ext uri="{D42A27DB-BD31-4B8C-83A1-F6EECF244321}">
                <p14:modId xmlns:p14="http://schemas.microsoft.com/office/powerpoint/2010/main" val="1579011935"/>
              </p:ext>
            </p:extLst>
          </p:nvPr>
        </p:nvGraphicFramePr>
        <p:xfrm>
          <a:off x="457200" y="1188720"/>
          <a:ext cx="6583680" cy="914400"/>
        </p:xfrm>
        <a:graphic>
          <a:graphicData uri="http://schemas.openxmlformats.org/drawingml/2006/table">
            <a:tbl>
              <a:tblPr/>
              <a:tblGrid>
                <a:gridCol w="1691640"/>
                <a:gridCol w="1097280"/>
                <a:gridCol w="2331720"/>
                <a:gridCol w="1463040"/>
              </a:tblGrid>
              <a:tr h="384048">
                <a:tc>
                  <a:txBody>
                    <a:bodyPr/>
                    <a:lstStyle/>
                    <a:p>
                      <a:pPr indent="0" marL="0">
                        <a:buNone/>
                      </a:pPr>
                      <a:r>
                        <a:rPr lang="en-US" sz="1400" b="1" dirty="0">
                          <a:solidFill>
                            <a:schemeClr val="bg1"/>
                          </a:solidFill>
                        </a:rPr>
                        <a:t>Region</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System</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Aerosol impact</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Reference</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tx2"/>
                    </a:solidFill>
                  </a:tcPr>
                </a:tc>
              </a:tr>
              <a:tr h="594360">
                <a:tc>
                  <a:txBody>
                    <a:bodyPr/>
                    <a:lstStyle/>
                    <a:p>
                      <a:pPr indent="0" marL="0">
                        <a:buNone/>
                      </a:pPr>
                      <a:r>
                        <a:rPr lang="en-US" sz="1400" b="1" dirty="0">
                          <a:solidFill>
                            <a:schemeClr val="tx2"/>
                          </a:solidFill>
                        </a:rPr>
                        <a:t>India (9 rainfed rice states)</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Rice · 1966–1998</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+10.6% harvest without brown clouds (via rain)</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1"/>
                          </a:solidFill>
                        </a:rPr>
                        <a:t>Auffhammer et al., 2006</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r>
              <a:tr h="594360">
                <a:tc>
                  <a:txBody>
                    <a:bodyPr/>
                    <a:lstStyle/>
                    <a:p>
                      <a:pPr indent="0" marL="0">
                        <a:buNone/>
                      </a:pPr>
                      <a:r>
                        <a:rPr lang="en-US" sz="1400" b="1" dirty="0">
                          <a:solidFill>
                            <a:schemeClr val="tx2"/>
                          </a:solidFill>
                        </a:rPr>
                        <a:t>India (district-level)</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Wheat · 1980–2010</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Up to −36% (black carbon + ozone)</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1"/>
                          </a:solidFill>
                        </a:rPr>
                        <a:t>Burney &amp; Ramanathan, 2014</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r>
              <a:tr h="594360">
                <a:tc>
                  <a:txBody>
                    <a:bodyPr/>
                    <a:lstStyle/>
                    <a:p>
                      <a:pPr indent="0" marL="0">
                        <a:buNone/>
                      </a:pPr>
                      <a:r>
                        <a:rPr lang="en-US" sz="1400" b="1" dirty="0">
                          <a:solidFill>
                            <a:schemeClr val="tx2"/>
                          </a:solidFill>
                        </a:rPr>
                        <a:t>India (cropland)</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Rice, maize · 1998–2019</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Rice −7.9%, maize −8.8%</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1"/>
                          </a:solidFill>
                        </a:rPr>
                        <a:t>Gupta et al., 2024</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r>
              <a:tr h="594360">
                <a:tc>
                  <a:txBody>
                    <a:bodyPr/>
                    <a:lstStyle/>
                    <a:p>
                      <a:pPr indent="0" marL="0">
                        <a:buNone/>
                      </a:pPr>
                      <a:r>
                        <a:rPr lang="en-US" sz="1400" b="1" dirty="0">
                          <a:solidFill>
                            <a:schemeClr val="tx2"/>
                          </a:solidFill>
                        </a:rPr>
                        <a:t>India (9 agroclimatic zones)</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Rice</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India −0.73% yr</a:t>
                      </a:r>
                      <a:r>
                        <a:rPr lang="en-US" sz="1400" baseline="30000" dirty="0">
                          <a:solidFill>
                            <a:schemeClr val="tx1"/>
                          </a:solidFill>
                        </a:rPr>
                        <a:t>−1</a:t>
                      </a:r>
                      <a:r>
                        <a:rPr lang="en-US" sz="1400" dirty="0">
                          <a:solidFill>
                            <a:schemeClr val="tx1"/>
                          </a:solidFill>
                        </a:rPr>
                        <a:t>; EPH −4.88% yr</a:t>
                      </a:r>
                      <a:r>
                        <a:rPr lang="en-US" sz="1400" baseline="30000" dirty="0">
                          <a:solidFill>
                            <a:schemeClr val="tx1"/>
                          </a:solidFill>
                        </a:rPr>
                        <a:t>−1</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1"/>
                          </a:solidFill>
                        </a:rPr>
                        <a:t>Gupta et al., 2025</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r>
              <a:tr h="594360">
                <a:tc>
                  <a:txBody>
                    <a:bodyPr/>
                    <a:lstStyle/>
                    <a:p>
                      <a:pPr indent="0" marL="0">
                        <a:buNone/>
                      </a:pPr>
                      <a:r>
                        <a:rPr lang="en-US" sz="1400" b="1" dirty="0">
                          <a:solidFill>
                            <a:schemeClr val="tx2"/>
                          </a:solidFill>
                        </a:rPr>
                        <a:t>Dibrugarh, Assam</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Tea plantation · 2008–09</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ET falls as AOD rises; r = 0.83</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c>
                  <a:txBody>
                    <a:bodyPr/>
                    <a:lstStyle/>
                    <a:p>
                      <a:pPr indent="0" marL="0">
                        <a:buNone/>
                      </a:pPr>
                      <a:r>
                        <a:rPr lang="en-US" sz="1400" i="1" dirty="0">
                          <a:solidFill>
                            <a:schemeClr val="accent1"/>
                          </a:solidFill>
                        </a:rPr>
                        <a:t>Latha et al., 2018</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2"/>
                    </a:solidFill>
                  </a:tcPr>
                </a:tc>
              </a:tr>
              <a:tr h="594360">
                <a:tc>
                  <a:txBody>
                    <a:bodyPr/>
                    <a:lstStyle/>
                    <a:p>
                      <a:pPr indent="0" marL="0">
                        <a:buNone/>
                      </a:pPr>
                      <a:r>
                        <a:rPr lang="en-US" sz="1400" b="1" dirty="0">
                          <a:solidFill>
                            <a:schemeClr val="tx2"/>
                          </a:solidFill>
                        </a:rPr>
                        <a:t>Bangladesh (8 divisions)</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Boro rice · 2007–2023</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 in 5 divisions, − in 3</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c>
                  <a:txBody>
                    <a:bodyPr/>
                    <a:lstStyle/>
                    <a:p>
                      <a:pPr indent="0" marL="0">
                        <a:buNone/>
                      </a:pPr>
                      <a:r>
                        <a:rPr lang="en-US" sz="1400" i="1" dirty="0">
                          <a:solidFill>
                            <a:schemeClr val="accent1"/>
                          </a:solidFill>
                        </a:rPr>
                        <a:t>Jannat et al., 2026</a:t>
                      </a:r>
                      <a:endParaRPr lang="en-US" sz="1400" dirty="0"/>
                    </a:p>
                  </a:txBody>
                  <a:tcPr marL="64008" marR="64008" marT="27432" marB="27432"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chemeClr val="bg1"/>
                    </a:solidFill>
                  </a:tcPr>
                </a:tc>
              </a:tr>
            </a:tbl>
          </a:graphicData>
        </a:graphic>
      </p:graphicFrame>
      <p:sp>
        <p:nvSpPr>
          <p:cNvPr id="5" name="Gupta fig card"/>
          <p:cNvSpPr/>
          <p:nvPr/>
        </p:nvSpPr>
        <p:spPr>
          <a:xfrm>
            <a:off x="7269480" y="1188720"/>
            <a:ext cx="4462272" cy="3977640"/>
          </a:xfrm>
          <a:prstGeom prst="roundRect">
            <a:avLst>
              <a:gd name="adj" fmla="val 1609"/>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6" name="Gupta fig title"/>
          <p:cNvSpPr txBox="1"/>
          <p:nvPr/>
        </p:nvSpPr>
        <p:spPr>
          <a:xfrm>
            <a:off x="7406640" y="1280160"/>
            <a:ext cx="4187952" cy="530352"/>
          </a:xfrm>
          <a:prstGeom prst="rect">
            <a:avLst/>
          </a:prstGeom>
          <a:noFill/>
          <a:ln/>
        </p:spPr>
        <p:txBody>
          <a:bodyPr wrap="square" lIns="0" tIns="0" rIns="0" bIns="0" rtlCol="0" anchor="t"/>
          <a:lstStyle/>
          <a:p>
            <a:pPr indent="0" marL="0">
              <a:buNone/>
            </a:pPr>
            <a:r>
              <a:rPr lang="en-US" sz="1400" b="1" dirty="0">
                <a:solidFill>
                  <a:schemeClr val="tx2"/>
                </a:solidFill>
              </a:rPr>
              <a:t>Rice yield change due to AOD by agroclimatic zone</a:t>
            </a:r>
            <a:endParaRPr lang="en-US" sz="1400" dirty="0"/>
          </a:p>
        </p:txBody>
      </p:sp>
      <p:pic>
        <p:nvPicPr>
          <p:cNvPr id="7" name="Gupta fig" descr="Gupta fig">    </p:cNvPr>
          <p:cNvPicPr>
            <a:picLocks noChangeAspect="1"/>
          </p:cNvPicPr>
          <p:nvPr/>
        </p:nvPicPr>
        <p:blipFill>
          <a:blip r:embed="rId1"/>
          <a:stretch>
            <a:fillRect/>
          </a:stretch>
        </p:blipFill>
        <p:spPr>
          <a:xfrm>
            <a:off x="7851635" y="1810512"/>
            <a:ext cx="3297963" cy="2697480"/>
          </a:xfrm>
          <a:prstGeom prst="rect">
            <a:avLst/>
          </a:prstGeom>
        </p:spPr>
      </p:pic>
      <p:sp>
        <p:nvSpPr>
          <p:cNvPr id="8" name="Gupta fig caption"/>
          <p:cNvSpPr txBox="1"/>
          <p:nvPr/>
        </p:nvSpPr>
        <p:spPr>
          <a:xfrm>
            <a:off x="7406640" y="4581144"/>
            <a:ext cx="4187952" cy="228600"/>
          </a:xfrm>
          <a:prstGeom prst="rect">
            <a:avLst/>
          </a:prstGeom>
          <a:noFill/>
          <a:ln/>
        </p:spPr>
        <p:txBody>
          <a:bodyPr wrap="square" lIns="0" tIns="0" rIns="0" bIns="0" rtlCol="0" anchor="t"/>
          <a:lstStyle/>
          <a:p>
            <a:pPr indent="0" marL="0">
              <a:buNone/>
            </a:pPr>
            <a:r>
              <a:rPr lang="en-US" sz="1400" dirty="0">
                <a:solidFill>
                  <a:schemeClr val="tx1"/>
                </a:solidFill>
              </a:rPr>
              <a:t>Largest losses in the Eastern Plateau and Hills</a:t>
            </a:r>
            <a:endParaRPr lang="en-US" sz="1400" dirty="0"/>
          </a:p>
        </p:txBody>
      </p:sp>
      <p:sp>
        <p:nvSpPr>
          <p:cNvPr id="9" name="Gupta fig source"/>
          <p:cNvSpPr txBox="1"/>
          <p:nvPr/>
        </p:nvSpPr>
        <p:spPr>
          <a:xfrm>
            <a:off x="7406640" y="4809744"/>
            <a:ext cx="4187952" cy="246888"/>
          </a:xfrm>
          <a:prstGeom prst="rect">
            <a:avLst/>
          </a:prstGeom>
          <a:noFill/>
          <a:ln/>
        </p:spPr>
        <p:txBody>
          <a:bodyPr wrap="square" lIns="0" tIns="0" rIns="0" bIns="0" rtlCol="0" anchor="t"/>
          <a:lstStyle/>
          <a:p>
            <a:pPr indent="0" marL="0">
              <a:buNone/>
            </a:pPr>
            <a:r>
              <a:rPr lang="en-US" sz="1400" i="1" dirty="0">
                <a:solidFill>
                  <a:schemeClr val="accent1"/>
                </a:solidFill>
              </a:rPr>
              <a:t>Source: Gupta et al., 2025</a:t>
            </a:r>
            <a:endParaRPr lang="en-US" sz="1400" dirty="0"/>
          </a:p>
        </p:txBody>
      </p:sp>
      <p:sp>
        <p:nvSpPr>
          <p:cNvPr id="10" name="SA strip"/>
          <p:cNvSpPr/>
          <p:nvPr/>
        </p:nvSpPr>
        <p:spPr>
          <a:xfrm>
            <a:off x="457200" y="5623560"/>
            <a:ext cx="11274552" cy="713232"/>
          </a:xfrm>
          <a:prstGeom prst="roundRect">
            <a:avLst>
              <a:gd name="adj" fmla="val 7692"/>
            </a:avLst>
          </a:prstGeom>
          <a:solidFill>
            <a:schemeClr val="bg2"/>
          </a:solidFill>
          <a:ln w="12700">
            <a:solidFill>
              <a:schemeClr val="bg2"/>
            </a:solidFill>
            <a:prstDash val="solid"/>
          </a:ln>
        </p:spPr>
      </p:sp>
      <p:sp>
        <p:nvSpPr>
          <p:cNvPr id="11" name="SA strip text"/>
          <p:cNvSpPr txBox="1"/>
          <p:nvPr/>
        </p:nvSpPr>
        <p:spPr>
          <a:xfrm>
            <a:off x="594360" y="5623560"/>
            <a:ext cx="11000232" cy="713232"/>
          </a:xfrm>
          <a:prstGeom prst="rect">
            <a:avLst/>
          </a:prstGeom>
          <a:noFill/>
          <a:ln/>
        </p:spPr>
        <p:txBody>
          <a:bodyPr wrap="square" lIns="0" tIns="0" rIns="0" bIns="0" rtlCol="0" anchor="ctr"/>
          <a:lstStyle/>
          <a:p>
            <a:pPr indent="0" marL="0">
              <a:buNone/>
            </a:pPr>
            <a:r>
              <a:rPr lang="en-US" sz="1400" b="1" dirty="0">
                <a:solidFill>
                  <a:schemeClr val="tx1"/>
                </a:solidFill>
              </a:rPr>
              <a:t>India:</a:t>
            </a:r>
            <a:r>
              <a:rPr lang="en-US" sz="1400" dirty="0">
                <a:solidFill>
                  <a:schemeClr val="tx1"/>
                </a:solidFill>
              </a:rPr>
              <a:t> high, rising and partly absorbing aerosol mostly lowers yield, through less sunlight, weaker monsoon rain and warmer nights; gains appear only where AOD is moderate.</a:t>
            </a:r>
            <a:endParaRPr lang="en-US" sz="14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a:t>
            </a:fld>
            <a:endParaRPr lang="en-US"/>
          </a:p>
        </p:txBody>
      </p:sp>
    </p:spTree>
  </p:cSld>
  <p:clrMapOvr>
    <a:masterClrMapping/>
  </p:clrMapOvr>
</p:sld>
</file>

<file path=ppt/theme/theme1.xml><?xml version="1.0" encoding="utf-8"?>
<a:theme xmlns:a="http://schemas.openxmlformats.org/drawingml/2006/main" name="Aerosol Haze TNR">
  <a:themeElements>
    <a:clrScheme name="Aerosol Haze TNR">
      <a:dk1>
        <a:srgbClr val="1A1F24"/>
      </a:dk1>
      <a:lt1>
        <a:srgbClr val="FFFFFF"/>
      </a:lt1>
      <a:dk2>
        <a:srgbClr val="16384A"/>
      </a:dk2>
      <a:lt2>
        <a:srgbClr val="EDF2F5"/>
      </a:lt2>
      <a:accent1>
        <a:srgbClr val="1F6F8B"/>
      </a:accent1>
      <a:accent2>
        <a:srgbClr val="D98E04"/>
      </a:accent2>
      <a:accent3>
        <a:srgbClr val="3C8D5A"/>
      </a:accent3>
      <a:accent4>
        <a:srgbClr val="8A9BA8"/>
      </a:accent4>
      <a:accent5>
        <a:srgbClr val="B5452F"/>
      </a:accent5>
      <a:accent6>
        <a:srgbClr val="5E4B8B"/>
      </a:accent6>
      <a:hlink>
        <a:srgbClr val="1F6F8B"/>
      </a:hlink>
      <a:folHlink>
        <a:srgbClr val="5E4B8B"/>
      </a:folHlink>
    </a:clrScheme>
    <a:fontScheme name="Aerosol Haze TNR">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Remote Sensing for Quantifying Aerosol Impact on Terrestrial Ecosystem Productivity</dc:title>
  <dc:subject>PptxGenJS Presentation</dc:subject>
  <dc:creator>PhD credit seminar</dc:creator>
  <cp:lastModifiedBy>PhD credit seminar</cp:lastModifiedBy>
  <cp:revision>1</cp:revision>
  <dcterms:created xsi:type="dcterms:W3CDTF">2026-10-25T16:09:16Z</dcterms:created>
  <dcterms:modified xsi:type="dcterms:W3CDTF">2026-10-25T16:09:16Z</dcterms:modified>
</cp:coreProperties>
</file>