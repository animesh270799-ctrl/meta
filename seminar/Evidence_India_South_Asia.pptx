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7 · Evidence" id="{8fc93fac-8273-a0af-79b7-9a7378484c32}">
          <p14:sldIdLst>
            <p14:sldId id="25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presents the evidence on how aerosol affects agricultural productivity in India and South Asia, with six studies spanning different crops, locations and time periods.
Auffhammer and colleagues, 2006, studied nine rainfed rice-growing states of India: Assam, Bihar, Karnataka, Kerala, Madhya Pradesh, Maharashtra, Orissa, Uttar Pradesh and West Bengal, from 1966 to 1998. They found that removing Asian Brown Clouds alone would have raised rice harvests by 10.6 percent by the late 1990s, primarily because the aerosol weakened monsoon rainfall, reducing both the area planted and the yield per hectare.
Burney and Ramanathan, 2014, used district-level data across all of India for wheat from 1980 to 2010. They found that the combined direct effects of black carbon and tropospheric ozone, beyond their indirect climate effects, reduced wheat yields by up to 36 percent, making air pollution a major threat to Indian food security.
Gupta and colleagues, 2024, analysed cropland areas across India from 1998 to 2019 using satellite-derived aerosol optical depth and found that aerosol pollution reduced rice yield by 7.9 percent and maize yield by 8.8 percent.
Gupta and colleagues, 2025, examined rice yields across nine agroclimatic zones of India. The all-India average decline due to aerosol was 0.73 percent per year, but the Eastern Plateau and Hills, labelled EPH on the map, suffered the most at 4.88 percent per year. The map on the right shows the spatial pattern of this AOD-related yield change.
Gupta and colleagues, 2017, analysed the impact of temperature, solar radiation and aerosols on wheat yields across India from 1981 to 2009. They found that a decrease in aerosol optical depth equivalent to one standard deviation would raise wheat yields by 4.8 percent, showing a clear negative impact of aerosol loading on wheat productivity.
Jannat and colleagues, 2026, studied boro rice across the eight administrative divisions of Bangladesh from 2007 to 2023. The aerosol effect was positive, meaning higher AOD raised yield, in five divisions: Khulna, Barisal, Rangpur, Mymensingh and Sylhet, and negative in three: Chattogram, Dhaka and Rajshahi.
The bottom strip summarises the overall pattern: India's aerosol is high, rising and partly absorbing, which mostly lowers yields through less sunlight reaching the crop, weakened monsoon rainfall and warmer nights. Gains appear only where AOD is moderate.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TITLE-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IN">
    <p:bg>
      <p:bgPr>
        <a:solidFill>
          <a:schemeClr val="bg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457200" y="201168"/>
            <a:ext cx="11274552" cy="292608"/>
          </a:xfrm>
          <a:prstGeom prst="rect">
            <a:avLst/>
          </a:prstGeom>
          <a:noFill/>
          <a:ln/>
        </p:spPr>
        <p:txBody>
          <a:bodyPr wrap="square" rtlCol="0"/>
          <a:lstStyle>
            <a:lvl1pPr algn="l" indent="0" marL="0">
              <a:buNone/>
              <a:defRPr lang="en-US" sz="1400" b="1" dirty="0">
                <a:solidFill>
                  <a:schemeClr val="accent1"/>
                </a:solidFill>
              </a:defRPr>
            </a:lvl1pPr>
          </a:lstStyle>
          <a:p>
            <a:pPr algn="l" indent="0" marL="0">
              <a:buNone/>
            </a:pPr>
            <a:endParaRPr lang="en-US" sz="1400" dirty="0"/>
          </a:p>
        </p:txBody>
      </p:sp>
      <p:sp>
        <p:nvSpPr>
          <p:cNvPr id="3" name="Text 0"/>
          <p:cNvSpPr/>
          <p:nvPr>
            <p:ph idx="101" type="title" hasCustomPrompt="1"/>
          </p:nvPr>
        </p:nvSpPr>
        <p:spPr>
          <a:xfrm>
            <a:off x="457200" y="502920"/>
            <a:ext cx="11274552" cy="594360"/>
          </a:xfrm>
          <a:prstGeom prst="rect">
            <a:avLst/>
          </a:prstGeom>
          <a:noFill/>
          <a:ln/>
        </p:spPr>
        <p:txBody>
          <a:bodyPr wrap="square" rtlCol="0"/>
          <a:lstStyle>
            <a:lvl1pPr algn="l" indent="0" marL="0">
              <a:buNone/>
              <a:defRPr lang="en-US" sz="2800" b="1" dirty="0">
                <a:solidFill>
                  <a:schemeClr val="tx2"/>
                </a:solidFill>
              </a:defRPr>
            </a:lvl1pPr>
          </a:lstStyle>
          <a:p>
            <a:pPr algn="l" indent="0" marL="0">
              <a:buNone/>
            </a:pPr>
            <a:endParaRPr lang="en-US" sz="2800" dirty="0"/>
          </a:p>
        </p:txBody>
      </p:sp>
      <p:sp>
        <p:nvSpPr>
          <p:cNvPr id="25" name="Slide Number Placeholder 0"/>
          <p:cNvSpPr>
            <a:spLocks noGrp="1"/>
          </p:cNvSpPr>
          <p:nvPr>
            <p:ph type="sldNum" sz="quarter" idx="4294967295"/>
          </p:nvPr>
        </p:nvSpPr>
        <p:spPr>
          <a:xfrm>
            <a:off x="11183112" y="6400800"/>
            <a:ext cx="548640" cy="292608"/>
          </a:xfrm>
          <a:prstGeom prst="rect">
            <a:avLst/>
          </a:prstGeom>
          <a:extLst>
            <a:ext uri="{C572A759-6A51-4108-AA02-DFA0A04FC94B}">
              <ma14:wrappingTextBoxFlag xmlns:ma14="http://schemas.microsoft.com/office/mac/drawingml/2011/main" val="0"/>
            </a:ext>
          </a:extLst>
        </p:spPr>
        <p:txBody>
          <a:bodyPr lIns="0" tIns="0" rIns="0" bIns="0"/>
          <a:lstStyle>
            <a:lvl1pPr>
              <a:defRPr sz="1400">
                <a:solidFill>
                  <a:schemeClr val="accent1"/>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3112" y="6400800"/>
            <a:ext cx="548640" cy="292608"/>
          </a:xfrm>
          <a:prstGeom prst="rect">
            <a:avLst/>
          </a:prstGeom>
          <a:extLst>
            <a:ext uri="{C572A759-6A51-4108-AA02-DFA0A04FC94B}">
              <ma14:wrappingTextBoxFlag xmlns:ma14="http://schemas.microsoft.com/office/mac/drawingml/2011/main" val="0"/>
            </a:ext>
          </a:extLst>
        </p:spPr>
        <p:txBody>
          <a:bodyPr lIns="0" tIns="0" rIns="0" bIns="0"/>
          <a:lstStyle>
            <a:lvl1pPr>
              <a:defRPr sz="1400">
                <a:solidFill>
                  <a:schemeClr val="accent1"/>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457200" y="201168"/>
            <a:ext cx="11274552" cy="292608"/>
          </a:xfrm>
          <a:prstGeom prst="rect">
            <a:avLst/>
          </a:prstGeom>
          <a:noFill/>
          <a:ln/>
        </p:spPr>
        <p:txBody>
          <a:bodyPr wrap="square" lIns="0" tIns="0" rIns="0" bIns="0" rtlCol="0" anchor="ctr"/>
          <a:lstStyle/>
          <a:p>
            <a:pPr algn="l" indent="0" marL="0">
              <a:buNone/>
            </a:pPr>
            <a:r>
              <a:rPr lang="en-US" sz="1400" b="1" dirty="0">
                <a:solidFill>
                  <a:schemeClr val="accent1"/>
                </a:solidFill>
              </a:rPr>
              <a:t>7 · Evidence</a:t>
            </a:r>
            <a:endParaRPr lang="en-US" sz="1400" dirty="0"/>
          </a:p>
        </p:txBody>
      </p:sp>
      <p:sp>
        <p:nvSpPr>
          <p:cNvPr id="3" name="Text 0"/>
          <p:cNvSpPr/>
          <p:nvPr>
            <p:ph idx="101" type="title" hasCustomPrompt="1"/>
          </p:nvPr>
        </p:nvSpPr>
        <p:spPr>
          <a:xfrm>
            <a:off x="457200" y="502920"/>
            <a:ext cx="11274552" cy="594360"/>
          </a:xfrm>
          <a:prstGeom prst="rect">
            <a:avLst/>
          </a:prstGeom>
          <a:noFill/>
          <a:ln/>
        </p:spPr>
        <p:txBody>
          <a:bodyPr wrap="square" lIns="0" tIns="0" rIns="0" bIns="0" rtlCol="0" anchor="ctr"/>
          <a:lstStyle/>
          <a:p>
            <a:pPr algn="l" indent="0" marL="0">
              <a:buNone/>
            </a:pPr>
            <a:r>
              <a:rPr lang="en-US" sz="2800" b="1" dirty="0">
                <a:solidFill>
                  <a:schemeClr val="tx2"/>
                </a:solidFill>
              </a:rPr>
              <a:t>Evidence from India and South Asia</a:t>
            </a:r>
            <a:endParaRPr lang="en-US" sz="2800" dirty="0"/>
          </a:p>
        </p:txBody>
      </p:sp>
      <p:graphicFrame>
        <p:nvGraphicFramePr>
          <p:cNvPr id="2" name="SA table"/>
          <p:cNvGraphicFramePr>
            <a:graphicFrameLocks noGrp="1"/>
          </p:cNvGraphicFramePr>
          <p:nvPr>
            <p:extLst>
              <p:ext uri="{D42A27DB-BD31-4B8C-83A1-F6EECF244321}">
                <p14:modId xmlns:p14="http://schemas.microsoft.com/office/powerpoint/2010/main" val="1579011935"/>
              </p:ext>
            </p:extLst>
          </p:nvPr>
        </p:nvGraphicFramePr>
        <p:xfrm>
          <a:off x="457200" y="1188720"/>
          <a:ext cx="6583680" cy="914400"/>
        </p:xfrm>
        <a:graphic>
          <a:graphicData uri="http://schemas.openxmlformats.org/drawingml/2006/table">
            <a:tbl>
              <a:tblPr/>
              <a:tblGrid>
                <a:gridCol w="1691640"/>
                <a:gridCol w="1097280"/>
                <a:gridCol w="2331720"/>
                <a:gridCol w="1463040"/>
              </a:tblGrid>
              <a:tr h="384048">
                <a:tc>
                  <a:txBody>
                    <a:bodyPr/>
                    <a:lstStyle/>
                    <a:p>
                      <a:pPr indent="0" marL="0">
                        <a:buNone/>
                      </a:pPr>
                      <a:r>
                        <a:rPr lang="en-US" sz="1400" b="1" dirty="0">
                          <a:solidFill>
                            <a:schemeClr val="bg1"/>
                          </a:solidFill>
                        </a:rPr>
                        <a:t>Region</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System</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Aerosol impact</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Reference</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tx2"/>
                    </a:solidFill>
                  </a:tcPr>
                </a:tc>
              </a:tr>
              <a:tr h="594360">
                <a:tc>
                  <a:txBody>
                    <a:bodyPr/>
                    <a:lstStyle/>
                    <a:p>
                      <a:pPr indent="0" marL="0">
                        <a:buNone/>
                      </a:pPr>
                      <a:r>
                        <a:rPr lang="en-US" sz="1400" b="1" dirty="0">
                          <a:solidFill>
                            <a:schemeClr val="tx2"/>
                          </a:solidFill>
                        </a:rPr>
                        <a:t>India (9 rainfed rice states)</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Rice · 1966–1998</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+10.6% harvest without brown clouds (via rain)</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c>
                  <a:txBody>
                    <a:bodyPr/>
                    <a:lstStyle/>
                    <a:p>
                      <a:pPr indent="0" marL="0">
                        <a:buNone/>
                      </a:pPr>
                      <a:r>
                        <a:rPr lang="en-US" sz="1400" i="1" dirty="0">
                          <a:solidFill>
                            <a:schemeClr val="accent1"/>
                          </a:solidFill>
                        </a:rPr>
                        <a:t>Auffhammer et al., 2006</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r>
              <a:tr h="594360">
                <a:tc>
                  <a:txBody>
                    <a:bodyPr/>
                    <a:lstStyle/>
                    <a:p>
                      <a:pPr indent="0" marL="0">
                        <a:buNone/>
                      </a:pPr>
                      <a:r>
                        <a:rPr lang="en-US" sz="1400" b="1" dirty="0">
                          <a:solidFill>
                            <a:schemeClr val="tx2"/>
                          </a:solidFill>
                        </a:rPr>
                        <a:t>India (district-level)</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Wheat · 1980–2010</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Up to −36% (black carbon + ozone)</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c>
                  <a:txBody>
                    <a:bodyPr/>
                    <a:lstStyle/>
                    <a:p>
                      <a:pPr indent="0" marL="0">
                        <a:buNone/>
                      </a:pPr>
                      <a:r>
                        <a:rPr lang="en-US" sz="1400" i="1" dirty="0">
                          <a:solidFill>
                            <a:schemeClr val="accent1"/>
                          </a:solidFill>
                        </a:rPr>
                        <a:t>Burney &amp; Ramanathan, 2014</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r>
              <a:tr h="594360">
                <a:tc>
                  <a:txBody>
                    <a:bodyPr/>
                    <a:lstStyle/>
                    <a:p>
                      <a:pPr indent="0" marL="0">
                        <a:buNone/>
                      </a:pPr>
                      <a:r>
                        <a:rPr lang="en-US" sz="1400" b="1" dirty="0">
                          <a:solidFill>
                            <a:schemeClr val="tx2"/>
                          </a:solidFill>
                        </a:rPr>
                        <a:t>India (cropland)</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Rice, maize · 1998–2019</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Rice −7.9%, maize −8.8%</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c>
                  <a:txBody>
                    <a:bodyPr/>
                    <a:lstStyle/>
                    <a:p>
                      <a:pPr indent="0" marL="0">
                        <a:buNone/>
                      </a:pPr>
                      <a:r>
                        <a:rPr lang="en-US" sz="1400" i="1" dirty="0">
                          <a:solidFill>
                            <a:schemeClr val="accent1"/>
                          </a:solidFill>
                        </a:rPr>
                        <a:t>Gupta et al., 2024</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r>
              <a:tr h="594360">
                <a:tc>
                  <a:txBody>
                    <a:bodyPr/>
                    <a:lstStyle/>
                    <a:p>
                      <a:pPr indent="0" marL="0">
                        <a:buNone/>
                      </a:pPr>
                      <a:r>
                        <a:rPr lang="en-US" sz="1400" b="1" dirty="0">
                          <a:solidFill>
                            <a:schemeClr val="tx2"/>
                          </a:solidFill>
                        </a:rPr>
                        <a:t>India (9 agroclimatic zones)</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Rice</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India −0.73% yr</a:t>
                      </a:r>
                      <a:r>
                        <a:rPr lang="en-US" sz="1400" baseline="30000" dirty="0">
                          <a:solidFill>
                            <a:schemeClr val="tx1"/>
                          </a:solidFill>
                        </a:rPr>
                        <a:t>−1</a:t>
                      </a:r>
                      <a:r>
                        <a:rPr lang="en-US" sz="1400" dirty="0">
                          <a:solidFill>
                            <a:schemeClr val="tx1"/>
                          </a:solidFill>
                        </a:rPr>
                        <a:t>; EPH −4.88% yr</a:t>
                      </a:r>
                      <a:r>
                        <a:rPr lang="en-US" sz="1400" baseline="30000" dirty="0">
                          <a:solidFill>
                            <a:schemeClr val="tx1"/>
                          </a:solidFill>
                        </a:rPr>
                        <a:t>−1</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c>
                  <a:txBody>
                    <a:bodyPr/>
                    <a:lstStyle/>
                    <a:p>
                      <a:pPr indent="0" marL="0">
                        <a:buNone/>
                      </a:pPr>
                      <a:r>
                        <a:rPr lang="en-US" sz="1400" i="1" dirty="0">
                          <a:solidFill>
                            <a:schemeClr val="accent1"/>
                          </a:solidFill>
                        </a:rPr>
                        <a:t>Gupta et al., 2025</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r>
              <a:tr h="594360">
                <a:tc>
                  <a:txBody>
                    <a:bodyPr/>
                    <a:lstStyle/>
                    <a:p>
                      <a:pPr indent="0" marL="0">
                        <a:buNone/>
                      </a:pPr>
                      <a:r>
                        <a:rPr lang="en-US" sz="1400" b="1" dirty="0">
                          <a:solidFill>
                            <a:schemeClr val="tx2"/>
                          </a:solidFill>
                        </a:rPr>
                        <a:t>India</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Wheat · 1981–2009</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1 SD less AOD → +4.8% yield</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c>
                  <a:txBody>
                    <a:bodyPr/>
                    <a:lstStyle/>
                    <a:p>
                      <a:pPr indent="0" marL="0">
                        <a:buNone/>
                      </a:pPr>
                      <a:r>
                        <a:rPr lang="en-US" sz="1400" i="1" dirty="0">
                          <a:solidFill>
                            <a:schemeClr val="accent1"/>
                          </a:solidFill>
                        </a:rPr>
                        <a:t>Gupta et al., 2017</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r>
              <a:tr h="594360">
                <a:tc>
                  <a:txBody>
                    <a:bodyPr/>
                    <a:lstStyle/>
                    <a:p>
                      <a:pPr indent="0" marL="0">
                        <a:buNone/>
                      </a:pPr>
                      <a:r>
                        <a:rPr lang="en-US" sz="1400" b="1" dirty="0">
                          <a:solidFill>
                            <a:schemeClr val="tx2"/>
                          </a:solidFill>
                        </a:rPr>
                        <a:t>Bangladesh (8 divisions)</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Boro rice · 2007–2023</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 in 5 divisions, − in 3</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c>
                  <a:txBody>
                    <a:bodyPr/>
                    <a:lstStyle/>
                    <a:p>
                      <a:pPr indent="0" marL="0">
                        <a:buNone/>
                      </a:pPr>
                      <a:r>
                        <a:rPr lang="en-US" sz="1400" i="1" dirty="0">
                          <a:solidFill>
                            <a:schemeClr val="accent1"/>
                          </a:solidFill>
                        </a:rPr>
                        <a:t>Jannat et al., 2026</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r>
            </a:tbl>
          </a:graphicData>
        </a:graphic>
      </p:graphicFrame>
      <p:sp>
        <p:nvSpPr>
          <p:cNvPr id="5" name="Gupta fig card"/>
          <p:cNvSpPr/>
          <p:nvPr/>
        </p:nvSpPr>
        <p:spPr>
          <a:xfrm>
            <a:off x="7269480" y="1188720"/>
            <a:ext cx="4462272" cy="3977640"/>
          </a:xfrm>
          <a:prstGeom prst="roundRect">
            <a:avLst>
              <a:gd name="adj" fmla="val 1609"/>
            </a:avLst>
          </a:prstGeom>
          <a:solidFill>
            <a:schemeClr val="bg1"/>
          </a:solidFill>
          <a:ln w="9525">
            <a:solidFill>
              <a:schemeClr val="accent4">
                <a:alpha val="60000"/>
              </a:schemeClr>
            </a:solidFill>
            <a:prstDash val="solid"/>
          </a:ln>
          <a:effectLst>
            <a:outerShdw sx="100000" sy="100000" kx="0" ky="0" algn="bl" rotWithShape="0" blurRad="76200" dist="25400" dir="5400000">
              <a:srgbClr val="000000">
                <a:alpha val="12000"/>
              </a:srgbClr>
            </a:outerShdw>
          </a:effectLst>
        </p:spPr>
      </p:sp>
      <p:sp>
        <p:nvSpPr>
          <p:cNvPr id="6" name="Gupta fig title"/>
          <p:cNvSpPr txBox="1"/>
          <p:nvPr/>
        </p:nvSpPr>
        <p:spPr>
          <a:xfrm>
            <a:off x="7406640" y="1280160"/>
            <a:ext cx="4187952" cy="530352"/>
          </a:xfrm>
          <a:prstGeom prst="rect">
            <a:avLst/>
          </a:prstGeom>
          <a:noFill/>
          <a:ln/>
        </p:spPr>
        <p:txBody>
          <a:bodyPr wrap="square" lIns="0" tIns="0" rIns="0" bIns="0" rtlCol="0" anchor="t"/>
          <a:lstStyle/>
          <a:p>
            <a:pPr indent="0" marL="0">
              <a:buNone/>
            </a:pPr>
            <a:r>
              <a:rPr lang="en-US" sz="1400" b="1" dirty="0">
                <a:solidFill>
                  <a:schemeClr val="tx2"/>
                </a:solidFill>
              </a:rPr>
              <a:t>Rice yield change due to AOD by agroclimatic zone</a:t>
            </a:r>
            <a:endParaRPr lang="en-US" sz="1400" dirty="0"/>
          </a:p>
        </p:txBody>
      </p:sp>
      <p:pic>
        <p:nvPicPr>
          <p:cNvPr id="7" name="Gupta fig" descr="Gupta fig">    </p:cNvPr>
          <p:cNvPicPr>
            <a:picLocks noChangeAspect="1"/>
          </p:cNvPicPr>
          <p:nvPr/>
        </p:nvPicPr>
        <p:blipFill>
          <a:blip r:embed="rId1"/>
          <a:stretch>
            <a:fillRect/>
          </a:stretch>
        </p:blipFill>
        <p:spPr>
          <a:xfrm>
            <a:off x="7851635" y="1810512"/>
            <a:ext cx="3297963" cy="2697480"/>
          </a:xfrm>
          <a:prstGeom prst="rect">
            <a:avLst/>
          </a:prstGeom>
        </p:spPr>
      </p:pic>
      <p:sp>
        <p:nvSpPr>
          <p:cNvPr id="8" name="Gupta fig caption"/>
          <p:cNvSpPr txBox="1"/>
          <p:nvPr/>
        </p:nvSpPr>
        <p:spPr>
          <a:xfrm>
            <a:off x="7406640" y="4581144"/>
            <a:ext cx="4187952" cy="228600"/>
          </a:xfrm>
          <a:prstGeom prst="rect">
            <a:avLst/>
          </a:prstGeom>
          <a:noFill/>
          <a:ln/>
        </p:spPr>
        <p:txBody>
          <a:bodyPr wrap="square" lIns="0" tIns="0" rIns="0" bIns="0" rtlCol="0" anchor="t"/>
          <a:lstStyle/>
          <a:p>
            <a:pPr indent="0" marL="0">
              <a:buNone/>
            </a:pPr>
            <a:r>
              <a:rPr lang="en-US" sz="1400" dirty="0">
                <a:solidFill>
                  <a:schemeClr val="tx1"/>
                </a:solidFill>
              </a:rPr>
              <a:t>Largest losses in the Eastern Plateau and Hills</a:t>
            </a:r>
            <a:endParaRPr lang="en-US" sz="1400" dirty="0"/>
          </a:p>
        </p:txBody>
      </p:sp>
      <p:sp>
        <p:nvSpPr>
          <p:cNvPr id="9" name="Gupta fig source"/>
          <p:cNvSpPr txBox="1"/>
          <p:nvPr/>
        </p:nvSpPr>
        <p:spPr>
          <a:xfrm>
            <a:off x="7406640" y="4809744"/>
            <a:ext cx="4187952" cy="246888"/>
          </a:xfrm>
          <a:prstGeom prst="rect">
            <a:avLst/>
          </a:prstGeom>
          <a:noFill/>
          <a:ln/>
        </p:spPr>
        <p:txBody>
          <a:bodyPr wrap="square" lIns="0" tIns="0" rIns="0" bIns="0" rtlCol="0" anchor="t"/>
          <a:lstStyle/>
          <a:p>
            <a:pPr indent="0" marL="0">
              <a:buNone/>
            </a:pPr>
            <a:r>
              <a:rPr lang="en-US" sz="1400" i="1" dirty="0">
                <a:solidFill>
                  <a:schemeClr val="accent1"/>
                </a:solidFill>
              </a:rPr>
              <a:t>Source: Gupta et al., 2025</a:t>
            </a:r>
            <a:endParaRPr lang="en-US" sz="1400" dirty="0"/>
          </a:p>
        </p:txBody>
      </p:sp>
      <p:sp>
        <p:nvSpPr>
          <p:cNvPr id="10" name="SA strip"/>
          <p:cNvSpPr/>
          <p:nvPr/>
        </p:nvSpPr>
        <p:spPr>
          <a:xfrm>
            <a:off x="457200" y="5623560"/>
            <a:ext cx="11274552" cy="713232"/>
          </a:xfrm>
          <a:prstGeom prst="roundRect">
            <a:avLst>
              <a:gd name="adj" fmla="val 7692"/>
            </a:avLst>
          </a:prstGeom>
          <a:solidFill>
            <a:schemeClr val="bg2"/>
          </a:solidFill>
          <a:ln w="12700">
            <a:solidFill>
              <a:schemeClr val="bg2"/>
            </a:solidFill>
            <a:prstDash val="solid"/>
          </a:ln>
        </p:spPr>
      </p:sp>
      <p:sp>
        <p:nvSpPr>
          <p:cNvPr id="11" name="SA strip text"/>
          <p:cNvSpPr txBox="1"/>
          <p:nvPr/>
        </p:nvSpPr>
        <p:spPr>
          <a:xfrm>
            <a:off x="594360" y="5623560"/>
            <a:ext cx="11000232" cy="713232"/>
          </a:xfrm>
          <a:prstGeom prst="rect">
            <a:avLst/>
          </a:prstGeom>
          <a:noFill/>
          <a:ln/>
        </p:spPr>
        <p:txBody>
          <a:bodyPr wrap="square" lIns="0" tIns="0" rIns="0" bIns="0" rtlCol="0" anchor="ctr"/>
          <a:lstStyle/>
          <a:p>
            <a:pPr indent="0" marL="0">
              <a:buNone/>
            </a:pPr>
            <a:r>
              <a:rPr lang="en-US" sz="1400" b="1" dirty="0">
                <a:solidFill>
                  <a:schemeClr val="tx1"/>
                </a:solidFill>
              </a:rPr>
              <a:t>India:</a:t>
            </a:r>
            <a:r>
              <a:rPr lang="en-US" sz="1400" dirty="0">
                <a:solidFill>
                  <a:schemeClr val="tx1"/>
                </a:solidFill>
              </a:rPr>
              <a:t> high, rising and partly absorbing aerosol mostly lowers yield, through less sunlight, weaker monsoon rain and warmer nights; gains appear only where AOD is moderate.</a:t>
            </a:r>
            <a:endParaRPr lang="en-US" sz="1400" dirty="0"/>
          </a:p>
        </p:txBody>
      </p:sp>
      <p:sp>
        <p:nvSpPr>
          <p:cNvPr id="25" name="Slide Number Placeholder 0"/>
          <p:cNvSpPr>
            <a:spLocks noGrp="1"/>
          </p:cNvSpPr>
          <p:nvPr>
            <p:ph type="sldNum" sz="quarter" idx="4294967295"/>
          </p:nvPr>
        </p:nvSpPr>
        <p:spPr>
          <a:xfrm>
            <a:off x="11183112" y="6400800"/>
            <a:ext cx="548640" cy="292608"/>
          </a:xfrm>
          <a:prstGeom prst="rect">
            <a:avLst/>
          </a:prstGeom>
          <a:extLst>
            <a:ext uri="{C572A759-6A51-4108-AA02-DFA0A04FC94B}">
              <ma14:wrappingTextBoxFlag xmlns:ma14="http://schemas.microsoft.com/office/mac/drawingml/2011/main" val="0"/>
            </a:ext>
          </a:extLst>
        </p:spPr>
        <p:txBody>
          <a:bodyPr lIns="0" tIns="0" rIns="0" bIns="0"/>
          <a:lstStyle>
            <a:lvl1pPr>
              <a:defRPr sz="1400">
                <a:solidFill>
                  <a:schemeClr val="accent1"/>
                </a:solidFill>
              </a:defRPr>
            </a:lvl1pPr>
          </a:lstStyle>
          <a:p>
            <a:pPr algn="r"/>
            <a:fld id="{F7021451-1387-4CA6-816F-3879F97B5CBC}" type="slidenum">
              <a:rPr b="0" lang="en-US"/>
              <a:t>1</a:t>
            </a:fld>
            <a:endParaRPr lang="en-US"/>
          </a:p>
        </p:txBody>
      </p:sp>
    </p:spTree>
  </p:cSld>
  <p:clrMapOvr>
    <a:masterClrMapping/>
  </p:clrMapOvr>
</p:sld>
</file>

<file path=ppt/theme/theme1.xml><?xml version="1.0" encoding="utf-8"?>
<a:theme xmlns:a="http://schemas.openxmlformats.org/drawingml/2006/main" name="Aerosol Haze TNR">
  <a:themeElements>
    <a:clrScheme name="Aerosol Haze TNR">
      <a:dk1>
        <a:srgbClr val="1A1F24"/>
      </a:dk1>
      <a:lt1>
        <a:srgbClr val="FFFFFF"/>
      </a:lt1>
      <a:dk2>
        <a:srgbClr val="16384A"/>
      </a:dk2>
      <a:lt2>
        <a:srgbClr val="EDF2F5"/>
      </a:lt2>
      <a:accent1>
        <a:srgbClr val="1F6F8B"/>
      </a:accent1>
      <a:accent2>
        <a:srgbClr val="D98E04"/>
      </a:accent2>
      <a:accent3>
        <a:srgbClr val="3C8D5A"/>
      </a:accent3>
      <a:accent4>
        <a:srgbClr val="8A9BA8"/>
      </a:accent4>
      <a:accent5>
        <a:srgbClr val="B5452F"/>
      </a:accent5>
      <a:accent6>
        <a:srgbClr val="5E4B8B"/>
      </a:accent6>
      <a:hlink>
        <a:srgbClr val="1F6F8B"/>
      </a:hlink>
      <a:folHlink>
        <a:srgbClr val="5E4B8B"/>
      </a:folHlink>
    </a:clrScheme>
    <a:fontScheme name="Aerosol Haze TNR">
      <a:majorFont>
        <a:latin typeface="Times New Roman"/>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Times New Roman"/>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Remote Sensing for Quantifying Aerosol Impact on Terrestrial Ecosystem Productivity</dc:title>
  <dc:subject>PptxGenJS Presentation</dc:subject>
  <dc:creator>PhD credit seminar</dc:creator>
  <cp:lastModifiedBy>PhD credit seminar</cp:lastModifiedBy>
  <cp:revision>1</cp:revision>
  <dcterms:created xsi:type="dcterms:W3CDTF">2026-10-25T16:35:09Z</dcterms:created>
  <dcterms:modified xsi:type="dcterms:W3CDTF">2026-10-25T16:35:09Z</dcterms:modified>
</cp:coreProperties>
</file>