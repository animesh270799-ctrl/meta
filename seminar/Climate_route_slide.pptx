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6 · Mechanisms of aerosol impact" id="{afd03890-6d4c-6fab-6f5e-2b2e5d15f05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light route is only half of the story. When aerosols reduce sunlight at the surface, they also change temperature, humidity, soil water and even rainfall, and each of these changes plant growth. This is the climate route.
Leaf temperature. Less sunlight means cooler leaves; Steiner and Chameides, 2005, showed this aerosol cooling in models. Whether cooling helps depends on the starting temperature, because photosynthesis has an optimum near 25 degrees Celsius. Yue and colleagues, 2017, found that in summer, when leaves are warmer than the optimum, aerosol cooling brings them closer to it and raises NPP; in spring and autumn the effect was neutral, because reduced photosynthesis was balanced by reduced plant respiration.
Humidity and VPD. Cooler air lowers the vapour pressure deficit. Yue and colleagues found aerosol cooled the summer surface of eastern China by 0.63 degrees and raised relative humidity. Zhang and colleagues, 2023, found from satellite data that higher aerosol loading induces lower VPD over cropland, grassland and mixed forest, and lower VPD enhances the photosynthesis of sun leaves, so part of an apparent diffuse-light effect is really a humidity effect.
Soil moisture. Less radiation means less evaporation, so the soil stays wetter. The benefit in China was largest in the central east, where short-rooted C3 crops depend on topsoil water.
Night warming. In Bangladesh, Jannat and colleagues, 2026, found that aerosol was more strongly associated with minimum temperature, with R squared up to 0.625, than with maximum temperature, suggesting aerosol-induced night-time warming as an additional pathway alongside the photosynthetic response.
Monsoon rain. Auffhammer and colleagues, 2006, explain that brown clouds reduce rainfall because lower surface radiation reduces evaporation from the sea, and absorbing aerosol heats and stabilises the lower atmosphere. Indian rice harvests rise with June to September rainfall, so this route matters for rainfed farming.
The lower table gives the only study that separates these routes in numbers. Yue and colleagues switched on one aerosol-driven change at a time for China in 2010. Through radiation, the net effect of dimming and diffuse light, annual NPP rose by 0.09 petagrams of carbon; through wetter soil by 0.07; through leaf cooling by 0.03. The direct effects together gave about 0.20 petagrams, or 5 percent of China's NPP. When aerosol effects on clouds were added, summer rainfall fell by 0.9 millimetres per day, or 13 percent, soil moisture fell, and the total became a loss of 0.20 petagrams, or 4 percent, hitting the north-east and the North China Plain hardest.
The maps show the summer pattern of each pathway: the combined effect in panel a, temperature in b, PAR in c, with gains in the south-east and north-east where AOD is moderate, and soil moisture in d, with gains in the central east. As the strip says, the rain route can outweigh the light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Climate route: temperature, humidity, water and rain</a:t>
            </a:r>
            <a:endParaRPr lang="en-US" sz="2800" dirty="0"/>
          </a:p>
        </p:txBody>
      </p:sp>
      <p:graphicFrame>
        <p:nvGraphicFramePr>
          <p:cNvPr id="2" name="Pathway table"/>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1691640"/>
                <a:gridCol w="3429000"/>
                <a:gridCol w="2103120"/>
              </a:tblGrid>
              <a:tr h="347472">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Pathway</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Mechanism</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Evidence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512064">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Leaf temperature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8E04"/>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Less sunlight → cooler leaves, nearer the 25 °C optimum</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Steiner &amp; Chameides, 2005; Yue et al., 2017</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512064">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Humidity, VPD</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F6F8B"/>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Lower VPD enhances sun‑leaf photosynthesis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Zhang et al., 2023</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Soil moisture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3C8D5A"/>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Less evaporation → wetter soil, less water stress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Yue et al., 2017</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512064">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Night warming</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5E4B8B"/>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AOD tracks minimum more than maximum temperature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Jannat et al., 2026</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Monsoon rain</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B5452F"/>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Less sea evaporation, stable lower air → less rain</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Auffhammer et al., 2006</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graphicFrame>
        <p:nvGraphicFramePr>
          <p:cNvPr id="3" name="China table"/>
          <p:cNvGraphicFramePr>
            <a:graphicFrameLocks noGrp="1"/>
          </p:cNvGraphicFramePr>
          <p:nvPr>
            <p:extLst>
              <p:ext uri="{D42A27DB-BD31-4B8C-83A1-F6EECF244321}">
                <p14:modId xmlns:p14="http://schemas.microsoft.com/office/powerpoint/2010/main" val="1579011935"/>
              </p:ext>
            </p:extLst>
          </p:nvPr>
        </p:nvGraphicFramePr>
        <p:xfrm>
          <a:off x="457200" y="4407408"/>
          <a:ext cx="7223760" cy="914400"/>
        </p:xfrm>
        <a:graphic>
          <a:graphicData uri="http://schemas.openxmlformats.org/drawingml/2006/table">
            <a:tbl>
              <a:tblPr/>
              <a:tblGrid>
                <a:gridCol w="2148840"/>
                <a:gridCol w="1691640"/>
                <a:gridCol w="3383280"/>
              </a:tblGrid>
              <a:tr h="347472">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China, 2010 (annual)</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ΔNPP (Pg C yr</a:t>
                      </a:r>
                      <a:r>
                        <a:rPr lang="en-US" sz="1400" b="1" baseline="30000" dirty="0">
                          <a:solidFill>
                            <a:srgbClr val="FFFFFF"/>
                          </a:solidFill>
                          <a:latin typeface="Times New Roman" pitchFamily="34" charset="0"/>
                          <a:ea typeface="Times New Roman" pitchFamily="34" charset="-122"/>
                          <a:cs typeface="Times New Roman" pitchFamily="34" charset="-120"/>
                        </a:rPr>
                        <a:t>−1</a:t>
                      </a:r>
                      <a:r>
                        <a:rPr lang="en-US" sz="1400" b="1" dirty="0">
                          <a:solidFill>
                            <a:srgbClr val="FFFFF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What it shows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32004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Radiation (PAR)</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chemeClr val="tx1"/>
                          </a:solidFill>
                          <a:latin typeface="Times New Roman" pitchFamily="34" charset="0"/>
                          <a:ea typeface="Times New Roman" pitchFamily="34" charset="-122"/>
                          <a:cs typeface="Times New Roman" pitchFamily="34" charset="-120"/>
                        </a:rPr>
                        <a:t>+0.09</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More light reaches shaded leaves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32004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Soil moisture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Times New Roman" pitchFamily="34" charset="0"/>
                          <a:ea typeface="Times New Roman" pitchFamily="34" charset="-122"/>
                          <a:cs typeface="Times New Roman" pitchFamily="34" charset="-120"/>
                        </a:rPr>
                        <a:t>+0.07</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Less evaporation, less water stress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32004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Leaf cooling</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chemeClr val="tx1"/>
                          </a:solidFill>
                          <a:latin typeface="Times New Roman" pitchFamily="34" charset="0"/>
                          <a:ea typeface="Times New Roman" pitchFamily="34" charset="-122"/>
                          <a:cs typeface="Times New Roman" pitchFamily="34" charset="-120"/>
                        </a:rPr>
                        <a:t>+0.03</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Summer leaves nearer the 25 °C optimum</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32004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Direct effects, total</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latin typeface="Times New Roman" pitchFamily="34" charset="0"/>
                          <a:ea typeface="Times New Roman" pitchFamily="34" charset="-122"/>
                          <a:cs typeface="Times New Roman" pitchFamily="34" charset="-120"/>
                        </a:rPr>
                        <a:t>+0.20 (+5%)</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Net gain without cloud effects</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320040">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With cloud and rain</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b="1" dirty="0">
                          <a:solidFill>
                            <a:schemeClr val="accent5"/>
                          </a:solidFill>
                          <a:latin typeface="Times New Roman" pitchFamily="34" charset="0"/>
                          <a:ea typeface="Times New Roman" pitchFamily="34" charset="-122"/>
                          <a:cs typeface="Times New Roman" pitchFamily="34" charset="-120"/>
                        </a:rPr>
                        <a:t>−0.20 (−4%)</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dirty="0">
                          <a:solidFill>
                            <a:srgbClr val="000000"/>
                          </a:solidFill>
                          <a:latin typeface="Times New Roman" pitchFamily="34" charset="0"/>
                          <a:ea typeface="Times New Roman" pitchFamily="34" charset="-122"/>
                          <a:cs typeface="Times New Roman" pitchFamily="34" charset="-120"/>
                        </a:rPr>
                        <a:t>Summer rain −13% → drought</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sp>
        <p:nvSpPr>
          <p:cNvPr id="6" name="Pathway figure card"/>
          <p:cNvSpPr/>
          <p:nvPr/>
        </p:nvSpPr>
        <p:spPr>
          <a:xfrm>
            <a:off x="7863840" y="1188720"/>
            <a:ext cx="3867912" cy="3886200"/>
          </a:xfrm>
          <a:prstGeom prst="roundRect">
            <a:avLst>
              <a:gd name="adj" fmla="val 165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Pathway figure title"/>
          <p:cNvSpPr txBox="1"/>
          <p:nvPr/>
        </p:nvSpPr>
        <p:spPr>
          <a:xfrm>
            <a:off x="8001000" y="1280160"/>
            <a:ext cx="3593592" cy="530352"/>
          </a:xfrm>
          <a:prstGeom prst="rect">
            <a:avLst/>
          </a:prstGeom>
          <a:noFill/>
          <a:ln/>
        </p:spPr>
        <p:txBody>
          <a:bodyPr wrap="square" lIns="0" tIns="0" rIns="0" bIns="0" rtlCol="0" anchor="t"/>
          <a:lstStyle/>
          <a:p>
            <a:pPr indent="0" marL="0">
              <a:buNone/>
            </a:pPr>
            <a:r>
              <a:rPr lang="en-US" sz="1400" b="1" dirty="0">
                <a:solidFill>
                  <a:schemeClr val="tx2"/>
                </a:solidFill>
              </a:rPr>
              <a:t>China: summer NPP change from each aerosol pathway</a:t>
            </a:r>
            <a:endParaRPr lang="en-US" sz="1400" dirty="0"/>
          </a:p>
        </p:txBody>
      </p:sp>
      <p:pic>
        <p:nvPicPr>
          <p:cNvPr id="8" name="Pathway figure" descr="Pathway figure">    </p:cNvPr>
          <p:cNvPicPr>
            <a:picLocks noChangeAspect="1"/>
          </p:cNvPicPr>
          <p:nvPr/>
        </p:nvPicPr>
        <p:blipFill>
          <a:blip r:embed="rId1"/>
          <a:stretch>
            <a:fillRect/>
          </a:stretch>
        </p:blipFill>
        <p:spPr>
          <a:xfrm>
            <a:off x="8218794" y="1810512"/>
            <a:ext cx="3158003" cy="2377440"/>
          </a:xfrm>
          <a:prstGeom prst="rect">
            <a:avLst/>
          </a:prstGeom>
        </p:spPr>
      </p:pic>
      <p:sp>
        <p:nvSpPr>
          <p:cNvPr id="9" name="Pathway figure caption"/>
          <p:cNvSpPr txBox="1"/>
          <p:nvPr/>
        </p:nvSpPr>
        <p:spPr>
          <a:xfrm>
            <a:off x="8001000" y="4261104"/>
            <a:ext cx="3593592" cy="457200"/>
          </a:xfrm>
          <a:prstGeom prst="rect">
            <a:avLst/>
          </a:prstGeom>
          <a:noFill/>
          <a:ln/>
        </p:spPr>
        <p:txBody>
          <a:bodyPr wrap="square" lIns="0" tIns="0" rIns="0" bIns="0" rtlCol="0" anchor="t"/>
          <a:lstStyle/>
          <a:p>
            <a:pPr indent="0" marL="0">
              <a:buNone/>
            </a:pPr>
            <a:r>
              <a:rPr lang="en-US" sz="1400" dirty="0">
                <a:solidFill>
                  <a:schemeClr val="tx1"/>
                </a:solidFill>
              </a:rPr>
              <a:t>(a) all (b) temperature (c) PAR (d) soil moisture</a:t>
            </a:r>
            <a:endParaRPr lang="en-US" sz="1400" dirty="0"/>
          </a:p>
        </p:txBody>
      </p:sp>
      <p:sp>
        <p:nvSpPr>
          <p:cNvPr id="10" name="Pathway figure source"/>
          <p:cNvSpPr txBox="1"/>
          <p:nvPr/>
        </p:nvSpPr>
        <p:spPr>
          <a:xfrm>
            <a:off x="8001000" y="4718304"/>
            <a:ext cx="3593592" cy="246888"/>
          </a:xfrm>
          <a:prstGeom prst="rect">
            <a:avLst/>
          </a:prstGeom>
          <a:noFill/>
          <a:ln/>
        </p:spPr>
        <p:txBody>
          <a:bodyPr wrap="square" lIns="0" tIns="0" rIns="0" bIns="0" rtlCol="0" anchor="t"/>
          <a:lstStyle/>
          <a:p>
            <a:pPr indent="0" marL="0">
              <a:buNone/>
            </a:pPr>
            <a:r>
              <a:rPr lang="en-US" sz="1400" i="1" dirty="0">
                <a:solidFill>
                  <a:schemeClr val="accent1"/>
                </a:solidFill>
              </a:rPr>
              <a:t>Yue et al., 2017, Fig. 8</a:t>
            </a:r>
            <a:endParaRPr lang="en-US" sz="1400" dirty="0"/>
          </a:p>
        </p:txBody>
      </p:sp>
      <p:sp>
        <p:nvSpPr>
          <p:cNvPr id="11" name="Table source"/>
          <p:cNvSpPr txBox="1"/>
          <p:nvPr/>
        </p:nvSpPr>
        <p:spPr>
          <a:xfrm>
            <a:off x="7863840" y="5166360"/>
            <a:ext cx="3867912" cy="274320"/>
          </a:xfrm>
          <a:prstGeom prst="rect">
            <a:avLst/>
          </a:prstGeom>
          <a:noFill/>
          <a:ln/>
        </p:spPr>
        <p:txBody>
          <a:bodyPr wrap="square" lIns="0" tIns="0" rIns="0" bIns="0" rtlCol="0" anchor="t"/>
          <a:lstStyle/>
          <a:p>
            <a:pPr indent="0" marL="0">
              <a:buNone/>
            </a:pPr>
            <a:r>
              <a:rPr lang="en-US" sz="1400" i="1" dirty="0">
                <a:solidFill>
                  <a:schemeClr val="accent1"/>
                </a:solidFill>
              </a:rPr>
              <a:t>Table values: Yue et al., 2017, Table 3</a:t>
            </a:r>
            <a:endParaRPr lang="en-US" sz="1400" dirty="0"/>
          </a:p>
        </p:txBody>
      </p:sp>
      <p:sp>
        <p:nvSpPr>
          <p:cNvPr id="12" name="Climate strip"/>
          <p:cNvSpPr/>
          <p:nvPr/>
        </p:nvSpPr>
        <p:spPr>
          <a:xfrm>
            <a:off x="7863840" y="5532120"/>
            <a:ext cx="3867912" cy="731520"/>
          </a:xfrm>
          <a:prstGeom prst="roundRect">
            <a:avLst>
              <a:gd name="adj" fmla="val 7500"/>
            </a:avLst>
          </a:prstGeom>
          <a:solidFill>
            <a:schemeClr val="bg2"/>
          </a:solidFill>
          <a:ln w="12700">
            <a:solidFill>
              <a:schemeClr val="bg2"/>
            </a:solidFill>
            <a:prstDash val="solid"/>
          </a:ln>
        </p:spPr>
      </p:sp>
      <p:sp>
        <p:nvSpPr>
          <p:cNvPr id="13" name="Climate strip text"/>
          <p:cNvSpPr txBox="1"/>
          <p:nvPr/>
        </p:nvSpPr>
        <p:spPr>
          <a:xfrm>
            <a:off x="8001000" y="5532120"/>
            <a:ext cx="3593592" cy="731520"/>
          </a:xfrm>
          <a:prstGeom prst="rect">
            <a:avLst/>
          </a:prstGeom>
          <a:noFill/>
          <a:ln/>
        </p:spPr>
        <p:txBody>
          <a:bodyPr wrap="square" lIns="0" tIns="0" rIns="0" bIns="0" rtlCol="0" anchor="ctr"/>
          <a:lstStyle/>
          <a:p>
            <a:pPr indent="0" marL="0">
              <a:buNone/>
            </a:pPr>
            <a:r>
              <a:rPr lang="en-US" sz="1400" b="1" dirty="0">
                <a:solidFill>
                  <a:schemeClr val="tx1"/>
                </a:solidFill>
              </a:rPr>
              <a:t>Rain can outweigh light:</a:t>
            </a:r>
            <a:r>
              <a:rPr lang="en-US" sz="1400" dirty="0">
                <a:solidFill>
                  <a:schemeClr val="tx1"/>
                </a:solidFill>
              </a:rPr>
              <a:t> cloud effects turned the +5% gain into a −4% loss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2026-10-25T19:58:59Z</dcterms:created>
  <dcterms:modified xsi:type="dcterms:W3CDTF">2026-10-25T19:58:59Z</dcterms:modified>
</cp:coreProperties>
</file>