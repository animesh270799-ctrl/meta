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7 · Evidence" id="{af0f485f-1d5c-5918-6b55-9b2d4381dab4}">
          <p14:sldIdLst>
            <p14:sldId id="256"/>
            <p14:sldId id="25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collects the evidence for forests across regions. The effect column shows the sign at a glance: green up-arrows are increases, grey is no clear change, red is a decrease, and amber means a gain at moderate aerosol turning into a loss at high aerosol.
Boreal and temperate forests. In boreal and hemiboreal forests of Finland, Estonia and Siberia, Ezhova and colleagues, 2018, found that aerosol raised the clear-day diffuse fraction from about 0.11 to 0.2–0.27 and GPP by 6 to 14 percent; the figure shows GPP peaking at an intermediate diffuse fraction. At Harvard Forest, Gu and colleagues, 2003, showed that the scattering sulfate from Mount Pinatubo increased noon photosynthesis by 23 percent in 1992 and 8 percent in 1993. In the eastern United States, Strada and colleagues, 2015, found midday GPP of deciduous and mixed forests 13 percent higher when AOD exceeded 0.4. A regional model by Matsui and colleagues, 2008, gave NPP increases of up to 35 grams of carbon per square metre for forests but a negligible effect where leaf area index was below 3. For boreal North America, Yue and colleagues, 2017, modelled an NPP gain from fire aerosol of 8 teragrams of carbon per year in the 2010s, rising to 14 in the 2050s.
Tropical forests. In the Amazon, Doughty and colleagues, 2010, found that the extra CO2 uptake under smoke came 80 percent from diffuse light and 20 percent from canopy cooling. Rap and colleagues, 2015, modelled a 3.4 to 6.8 percent rise in diffuse radiation and a 1.4 to 2.8 percent rise in NPP from fire aerosol. Moreira and colleagues, 2017, modelled a 27 percent GPP increase in 2010. Rodrigues and colleagues, 2024, found that burning-season diffuse radiation increased net CO2 uptake of a semi-deciduous forest in the southern Amazon, also through lower temperature and VPD.
Contrasting results. Oliveira and colleagues, 2007, found net ecosystem exchange increased by 8.4 to 16 percent at AOD 0.83 to 1.26 but declined above 1.7, so the response reverses under very heavy smoke. Cirino and colleagues, 2014, found lower photosynthetic efficiency under heavy smoke than at low AOD. Yamasoe and colleagues, 2006, found no correlation between AOD and NEE for AOD below 0.7. In India, Hari and Tyagi, 2022, found forest NPP peaking at AOD 0.38, with the gain persisting up to 0.51.
The pattern is that forests mostly gain at moderate aerosol, by 6 to 23 percent, but the gain disappears or reverses under very heavy smoke.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slide covers open ecosystems and global estimates, where results are more mixed.
Grasslands. At six AmeriFlux sites in the United States, Niyogi and colleagues, 2004, found that CO2 uptake increased with aerosol over forest and cropland but decreased over grassland. Strada and colleagues, 2015, similarly found that high AOD above 0.6 harmed grassland while forests gained. In north-west China, Jing and colleagues, 2010, found that clouds dominated the diffuse-light gain of a short C3 grassland, while aerosol led to negative carbon uptake.
Savannas and wetlands. In a northern Australian savanna, Kanniah and colleagues, 2010, found that an increase in diffuse fraction from 11 to 21 percent did not significantly change carbon flux, because the open canopy has few shaded leaves. In the Brazilian Pantanal wetland, Curado and colleagues, 2024, found that black carbon from biomass burning reduced PAR, raised air temperature and lowered carbon assimilation. In contrast, in a restored wetland in California, Hemes and colleagues, 2020, found that wildfire smoke increased light-use efficiency and raised GPP by 1.2 to 4.1 percent compared with the previous season.
Global estimates. Rap and colleagues, 2018, estimated that secondary organic aerosol formed from plant emissions raises global NPP by 1.23 petagrams of carbon per year; the map shows the largest gains over tropical and temperate forests. Yue and Unger, 2018, estimated a global aerosol GPP gain of about 1.0 petagram per year, of which fire aerosol contributes only 0.05. Zhou and colleagues, 2022, found 0.95 under all-sky conditions versus 8.9 under clear skies, showing how clouds limit the effect. Strada and Unger, 2016, estimated a gain of 1 to 2 percent, and Mercado and colleagues, 2009, estimated that the diffuse effect raised the land carbon sink by about one quarter between 1960 and 1999.
The pattern is that grasslands, savannas and smoky wetlands gain little or even lose, while globally the net effect on natural vegetation is a modest 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IN">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11274552" cy="292608"/>
          </a:xfrm>
          <a:prstGeom prst="rect">
            <a:avLst/>
          </a:prstGeom>
          <a:noFill/>
          <a:ln/>
        </p:spPr>
        <p:txBody>
          <a:bodyPr wrap="square" rtlCol="0"/>
          <a:lstStyle>
            <a:lvl1pPr algn="l" indent="0" marL="0">
              <a:buNone/>
              <a:defRPr lang="en-US" sz="1400" b="1" dirty="0">
                <a:solidFill>
                  <a:schemeClr val="accent1"/>
                </a:solidFill>
              </a:defRPr>
            </a:lvl1pPr>
          </a:lstStyle>
          <a:p>
            <a:pPr algn="l" indent="0" marL="0">
              <a:buNone/>
            </a:pPr>
            <a:endParaRPr lang="en-US" sz="1400" dirty="0"/>
          </a:p>
        </p:txBody>
      </p:sp>
      <p:sp>
        <p:nvSpPr>
          <p:cNvPr id="3" name="Text 0"/>
          <p:cNvSpPr/>
          <p:nvPr>
            <p:ph idx="101" type="title" hasCustomPrompt="1"/>
          </p:nvPr>
        </p:nvSpPr>
        <p:spPr>
          <a:xfrm>
            <a:off x="457200" y="502920"/>
            <a:ext cx="11274552" cy="59436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183112" y="6400800"/>
            <a:ext cx="548640" cy="292608"/>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1"/>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00800"/>
            <a:ext cx="548640" cy="292608"/>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11274552" cy="292608"/>
          </a:xfrm>
          <a:prstGeom prst="rect">
            <a:avLst/>
          </a:prstGeom>
          <a:noFill/>
          <a:ln/>
        </p:spPr>
        <p:txBody>
          <a:bodyPr wrap="square" lIns="0" tIns="0" rIns="0" bIns="0" rtlCol="0" anchor="ctr"/>
          <a:lstStyle/>
          <a:p>
            <a:pPr algn="l" indent="0" marL="0">
              <a:buNone/>
            </a:pPr>
            <a:r>
              <a:rPr lang="en-US" sz="1400" b="1" dirty="0">
                <a:solidFill>
                  <a:schemeClr val="accent1"/>
                </a:solidFill>
              </a:rPr>
              <a:t>7 · Evidence</a:t>
            </a:r>
            <a:endParaRPr lang="en-US" sz="1400" dirty="0"/>
          </a:p>
        </p:txBody>
      </p:sp>
      <p:sp>
        <p:nvSpPr>
          <p:cNvPr id="3" name="Text 0"/>
          <p:cNvSpPr/>
          <p:nvPr>
            <p:ph idx="101" type="title" hasCustomPrompt="1"/>
          </p:nvPr>
        </p:nvSpPr>
        <p:spPr>
          <a:xfrm>
            <a:off x="457200" y="502920"/>
            <a:ext cx="11274552" cy="594360"/>
          </a:xfrm>
          <a:prstGeom prst="rect">
            <a:avLst/>
          </a:prstGeom>
          <a:noFill/>
          <a:ln/>
        </p:spPr>
        <p:txBody>
          <a:bodyPr wrap="square" lIns="0" tIns="0" rIns="0" bIns="0" rtlCol="0" anchor="ctr"/>
          <a:lstStyle/>
          <a:p>
            <a:pPr algn="l" indent="0" marL="0">
              <a:buNone/>
            </a:pPr>
            <a:r>
              <a:rPr lang="en-US" sz="2800" b="1" dirty="0">
                <a:solidFill>
                  <a:schemeClr val="tx2"/>
                </a:solidFill>
              </a:rPr>
              <a:t>Evidence from natural ecosystems across the globe (I): forests</a:t>
            </a:r>
            <a:endParaRPr lang="en-US" sz="2800" dirty="0"/>
          </a:p>
        </p:txBody>
      </p:sp>
      <p:graphicFrame>
        <p:nvGraphicFramePr>
          <p:cNvPr id="2" name="Forest evidence table"/>
          <p:cNvGraphicFramePr>
            <a:graphicFrameLocks noGrp="1"/>
          </p:cNvGraphicFramePr>
          <p:nvPr>
            <p:extLst>
              <p:ext uri="{D42A27DB-BD31-4B8C-83A1-F6EECF244321}">
                <p14:modId xmlns:p14="http://schemas.microsoft.com/office/powerpoint/2010/main" val="1579011935"/>
              </p:ext>
            </p:extLst>
          </p:nvPr>
        </p:nvGraphicFramePr>
        <p:xfrm>
          <a:off x="457200" y="1234440"/>
          <a:ext cx="8732520" cy="914400"/>
        </p:xfrm>
        <a:graphic>
          <a:graphicData uri="http://schemas.openxmlformats.org/drawingml/2006/table">
            <a:tbl>
              <a:tblPr/>
              <a:tblGrid>
                <a:gridCol w="1463040"/>
                <a:gridCol w="1600200"/>
                <a:gridCol w="640080"/>
                <a:gridCol w="3611880"/>
                <a:gridCol w="1417320"/>
              </a:tblGrid>
              <a:tr h="292608">
                <a:tc>
                  <a:txBody>
                    <a:bodyPr/>
                    <a:lstStyle/>
                    <a:p>
                      <a:pPr algn="l" indent="0" marL="0">
                        <a:buNone/>
                      </a:pPr>
                      <a:r>
                        <a:rPr lang="en-US" sz="1200" b="1" dirty="0">
                          <a:solidFill>
                            <a:srgbClr val="FFFFFF"/>
                          </a:solidFill>
                          <a:latin typeface="Times New Roman" pitchFamily="34" charset="0"/>
                          <a:ea typeface="Times New Roman" pitchFamily="34" charset="-122"/>
                          <a:cs typeface="Times New Roman" pitchFamily="34" charset="-120"/>
                        </a:rPr>
                        <a:t>Region</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16384A"/>
                    </a:solidFill>
                  </a:tcPr>
                </a:tc>
                <a:tc>
                  <a:txBody>
                    <a:bodyPr/>
                    <a:lstStyle/>
                    <a:p>
                      <a:pPr algn="l" indent="0" marL="0">
                        <a:buNone/>
                      </a:pPr>
                      <a:r>
                        <a:rPr lang="en-US" sz="1200" b="1" dirty="0">
                          <a:solidFill>
                            <a:srgbClr val="FFFFFF"/>
                          </a:solidFill>
                          <a:latin typeface="Times New Roman" pitchFamily="34" charset="0"/>
                          <a:ea typeface="Times New Roman" pitchFamily="34" charset="-122"/>
                          <a:cs typeface="Times New Roman" pitchFamily="34" charset="-120"/>
                        </a:rPr>
                        <a:t>Ecosystem</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16384A"/>
                    </a:solidFill>
                  </a:tcPr>
                </a:tc>
                <a:tc>
                  <a:txBody>
                    <a:bodyPr/>
                    <a:lstStyle/>
                    <a:p>
                      <a:pPr algn="ctr" indent="0" marL="0">
                        <a:buNone/>
                      </a:pPr>
                      <a:r>
                        <a:rPr lang="en-US" sz="1200" b="1" dirty="0">
                          <a:solidFill>
                            <a:srgbClr val="FFFFFF"/>
                          </a:solidFill>
                          <a:latin typeface="Times New Roman" pitchFamily="34" charset="0"/>
                          <a:ea typeface="Times New Roman" pitchFamily="34" charset="-122"/>
                          <a:cs typeface="Times New Roman" pitchFamily="34" charset="-120"/>
                        </a:rPr>
                        <a:t>Effect</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16384A"/>
                    </a:solidFill>
                  </a:tcPr>
                </a:tc>
                <a:tc>
                  <a:txBody>
                    <a:bodyPr/>
                    <a:lstStyle/>
                    <a:p>
                      <a:pPr algn="l" indent="0" marL="0">
                        <a:buNone/>
                      </a:pPr>
                      <a:r>
                        <a:rPr lang="en-US" sz="1200" b="1" dirty="0">
                          <a:solidFill>
                            <a:srgbClr val="FFFFFF"/>
                          </a:solidFill>
                          <a:latin typeface="Times New Roman" pitchFamily="34" charset="0"/>
                          <a:ea typeface="Times New Roman" pitchFamily="34" charset="-122"/>
                          <a:cs typeface="Times New Roman" pitchFamily="34" charset="-120"/>
                        </a:rPr>
                        <a:t>Aerosol impact</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16384A"/>
                    </a:solidFill>
                  </a:tcPr>
                </a:tc>
                <a:tc>
                  <a:txBody>
                    <a:bodyPr/>
                    <a:lstStyle/>
                    <a:p>
                      <a:pPr algn="l" indent="0" marL="0">
                        <a:buNone/>
                      </a:pPr>
                      <a:r>
                        <a:rPr lang="en-US" sz="1200" b="1" dirty="0">
                          <a:solidFill>
                            <a:srgbClr val="FFFFFF"/>
                          </a:solidFill>
                          <a:latin typeface="Times New Roman" pitchFamily="34" charset="0"/>
                          <a:ea typeface="Times New Roman" pitchFamily="34" charset="-122"/>
                          <a:cs typeface="Times New Roman" pitchFamily="34" charset="-120"/>
                        </a:rPr>
                        <a:t>Reference</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16384A"/>
                    </a:solidFill>
                  </a:tcPr>
                </a:tc>
              </a:tr>
              <a:tr h="274320">
                <a:tc>
                  <a:txBody>
                    <a:bodyPr/>
                    <a:lstStyle/>
                    <a:p>
                      <a:pPr indent="0" marL="0">
                        <a:buNone/>
                      </a:pPr>
                      <a:r>
                        <a:rPr lang="en-US" sz="1200" b="1" dirty="0">
                          <a:solidFill>
                            <a:schemeClr val="tx2"/>
                          </a:solidFill>
                          <a:latin typeface="Times New Roman" pitchFamily="34" charset="0"/>
                          <a:ea typeface="Times New Roman" pitchFamily="34" charset="-122"/>
                          <a:cs typeface="Times New Roman" pitchFamily="34" charset="-120"/>
                        </a:rPr>
                        <a:t>Finland, Estonia, Siberia</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c>
                  <a:txBody>
                    <a:bodyPr/>
                    <a:lstStyle/>
                    <a:p>
                      <a:pPr indent="0" marL="0">
                        <a:buNone/>
                      </a:pPr>
                      <a:r>
                        <a:rPr lang="en-US" sz="1200" dirty="0">
                          <a:solidFill>
                            <a:srgbClr val="000000"/>
                          </a:solidFill>
                          <a:latin typeface="Times New Roman" pitchFamily="34" charset="0"/>
                          <a:ea typeface="Times New Roman" pitchFamily="34" charset="-122"/>
                          <a:cs typeface="Times New Roman" pitchFamily="34" charset="-120"/>
                        </a:rPr>
                        <a:t>Boreal forest</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c>
                  <a:txBody>
                    <a:bodyPr/>
                    <a:lstStyle/>
                    <a:p>
                      <a:pPr algn="ctr" indent="0" marL="0">
                        <a:buNone/>
                      </a:pPr>
                      <a:r>
                        <a:rPr lang="en-US" sz="1400" b="1" dirty="0">
                          <a:solidFill>
                            <a:srgbClr val="3C8D5A"/>
                          </a:solidFill>
                          <a:latin typeface="Times New Roman" pitchFamily="34" charset="0"/>
                          <a:ea typeface="Times New Roman" pitchFamily="34" charset="-122"/>
                          <a:cs typeface="Times New Roman" pitchFamily="34" charset="-120"/>
                        </a:rPr>
                        <a:t>↑</a:t>
                      </a:r>
                      <a:endParaRPr lang="en-US" sz="14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D9EED9"/>
                    </a:solidFill>
                  </a:tcPr>
                </a:tc>
                <a:tc>
                  <a:txBody>
                    <a:bodyPr/>
                    <a:lstStyle/>
                    <a:p>
                      <a:pPr indent="0" marL="0">
                        <a:buNone/>
                      </a:pPr>
                      <a:r>
                        <a:rPr lang="en-US" sz="1200" dirty="0">
                          <a:solidFill>
                            <a:srgbClr val="000000"/>
                          </a:solidFill>
                          <a:latin typeface="Times New Roman" pitchFamily="34" charset="0"/>
                          <a:ea typeface="Times New Roman" pitchFamily="34" charset="-122"/>
                          <a:cs typeface="Times New Roman" pitchFamily="34" charset="-120"/>
                        </a:rPr>
                        <a:t>Diffuse fraction 0.11 → 0.2–0.27; GPP +6 to 14%</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c>
                  <a:txBody>
                    <a:bodyPr/>
                    <a:lstStyle/>
                    <a:p>
                      <a:pPr indent="0" marL="0">
                        <a:buNone/>
                      </a:pPr>
                      <a:r>
                        <a:rPr lang="en-US" sz="1200" i="1" dirty="0">
                          <a:solidFill>
                            <a:schemeClr val="accent1"/>
                          </a:solidFill>
                          <a:latin typeface="Times New Roman" pitchFamily="34" charset="0"/>
                          <a:ea typeface="Times New Roman" pitchFamily="34" charset="-122"/>
                          <a:cs typeface="Times New Roman" pitchFamily="34" charset="-120"/>
                        </a:rPr>
                        <a:t>Ezhova et al., 2018</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r>
              <a:tr h="274320">
                <a:tc>
                  <a:txBody>
                    <a:bodyPr/>
                    <a:lstStyle/>
                    <a:p>
                      <a:pPr indent="0" marL="0">
                        <a:buNone/>
                      </a:pPr>
                      <a:r>
                        <a:rPr lang="en-US" sz="1200" b="1" dirty="0">
                          <a:solidFill>
                            <a:schemeClr val="tx2"/>
                          </a:solidFill>
                          <a:latin typeface="Times New Roman" pitchFamily="34" charset="0"/>
                          <a:ea typeface="Times New Roman" pitchFamily="34" charset="-122"/>
                          <a:cs typeface="Times New Roman" pitchFamily="34" charset="-120"/>
                        </a:rPr>
                        <a:t>Harvard Forest, USA</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Times New Roman" pitchFamily="34" charset="0"/>
                          <a:ea typeface="Times New Roman" pitchFamily="34" charset="-122"/>
                          <a:cs typeface="Times New Roman" pitchFamily="34" charset="-120"/>
                        </a:rPr>
                        <a:t>Deciduous forest</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3C8D5A"/>
                          </a:solidFill>
                          <a:latin typeface="Times New Roman" pitchFamily="34" charset="0"/>
                          <a:ea typeface="Times New Roman" pitchFamily="34" charset="-122"/>
                          <a:cs typeface="Times New Roman" pitchFamily="34" charset="-120"/>
                        </a:rPr>
                        <a:t>↑</a:t>
                      </a:r>
                      <a:endParaRPr lang="en-US" sz="14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D9EED9"/>
                    </a:solidFill>
                  </a:tcPr>
                </a:tc>
                <a:tc>
                  <a:txBody>
                    <a:bodyPr/>
                    <a:lstStyle/>
                    <a:p>
                      <a:pPr indent="0" marL="0">
                        <a:buNone/>
                      </a:pPr>
                      <a:r>
                        <a:rPr lang="en-US" sz="1200" dirty="0">
                          <a:solidFill>
                            <a:srgbClr val="000000"/>
                          </a:solidFill>
                          <a:latin typeface="Times New Roman" pitchFamily="34" charset="0"/>
                          <a:ea typeface="Times New Roman" pitchFamily="34" charset="-122"/>
                          <a:cs typeface="Times New Roman" pitchFamily="34" charset="-120"/>
                        </a:rPr>
                        <a:t>Pinatubo sulfate: noon GPP +23% (1992), +8% (1993)</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FFFFFF"/>
                    </a:solidFill>
                  </a:tcPr>
                </a:tc>
                <a:tc>
                  <a:txBody>
                    <a:bodyPr/>
                    <a:lstStyle/>
                    <a:p>
                      <a:pPr indent="0" marL="0">
                        <a:buNone/>
                      </a:pPr>
                      <a:r>
                        <a:rPr lang="en-US" sz="1200" i="1" dirty="0">
                          <a:solidFill>
                            <a:schemeClr val="accent1"/>
                          </a:solidFill>
                          <a:latin typeface="Times New Roman" pitchFamily="34" charset="0"/>
                          <a:ea typeface="Times New Roman" pitchFamily="34" charset="-122"/>
                          <a:cs typeface="Times New Roman" pitchFamily="34" charset="-120"/>
                        </a:rPr>
                        <a:t>Gu et al., 2003</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FFFFFF"/>
                    </a:solidFill>
                  </a:tcPr>
                </a:tc>
              </a:tr>
              <a:tr h="274320">
                <a:tc>
                  <a:txBody>
                    <a:bodyPr/>
                    <a:lstStyle/>
                    <a:p>
                      <a:pPr indent="0" marL="0">
                        <a:buNone/>
                      </a:pPr>
                      <a:r>
                        <a:rPr lang="en-US" sz="1200" b="1" dirty="0">
                          <a:solidFill>
                            <a:schemeClr val="tx2"/>
                          </a:solidFill>
                          <a:latin typeface="Times New Roman" pitchFamily="34" charset="0"/>
                          <a:ea typeface="Times New Roman" pitchFamily="34" charset="-122"/>
                          <a:cs typeface="Times New Roman" pitchFamily="34" charset="-120"/>
                        </a:rPr>
                        <a:t>Eastern USA</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c>
                  <a:txBody>
                    <a:bodyPr/>
                    <a:lstStyle/>
                    <a:p>
                      <a:pPr indent="0" marL="0">
                        <a:buNone/>
                      </a:pPr>
                      <a:r>
                        <a:rPr lang="en-US" sz="1200" dirty="0">
                          <a:solidFill>
                            <a:srgbClr val="000000"/>
                          </a:solidFill>
                          <a:latin typeface="Times New Roman" pitchFamily="34" charset="0"/>
                          <a:ea typeface="Times New Roman" pitchFamily="34" charset="-122"/>
                          <a:cs typeface="Times New Roman" pitchFamily="34" charset="-120"/>
                        </a:rPr>
                        <a:t>Deciduous/mixed forest</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c>
                  <a:txBody>
                    <a:bodyPr/>
                    <a:lstStyle/>
                    <a:p>
                      <a:pPr algn="ctr" indent="0" marL="0">
                        <a:buNone/>
                      </a:pPr>
                      <a:r>
                        <a:rPr lang="en-US" sz="1400" b="1" dirty="0">
                          <a:solidFill>
                            <a:srgbClr val="3C8D5A"/>
                          </a:solidFill>
                          <a:latin typeface="Times New Roman" pitchFamily="34" charset="0"/>
                          <a:ea typeface="Times New Roman" pitchFamily="34" charset="-122"/>
                          <a:cs typeface="Times New Roman" pitchFamily="34" charset="-120"/>
                        </a:rPr>
                        <a:t>↑</a:t>
                      </a:r>
                      <a:endParaRPr lang="en-US" sz="14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D9EED9"/>
                    </a:solidFill>
                  </a:tcPr>
                </a:tc>
                <a:tc>
                  <a:txBody>
                    <a:bodyPr/>
                    <a:lstStyle/>
                    <a:p>
                      <a:pPr indent="0" marL="0">
                        <a:buNone/>
                      </a:pPr>
                      <a:r>
                        <a:rPr lang="en-US" sz="1200" dirty="0">
                          <a:solidFill>
                            <a:srgbClr val="000000"/>
                          </a:solidFill>
                          <a:latin typeface="Times New Roman" pitchFamily="34" charset="0"/>
                          <a:ea typeface="Times New Roman" pitchFamily="34" charset="-122"/>
                          <a:cs typeface="Times New Roman" pitchFamily="34" charset="-120"/>
                        </a:rPr>
                        <a:t>Midday GPP +13% at AOD &gt; 0.4</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c>
                  <a:txBody>
                    <a:bodyPr/>
                    <a:lstStyle/>
                    <a:p>
                      <a:pPr indent="0" marL="0">
                        <a:buNone/>
                      </a:pPr>
                      <a:r>
                        <a:rPr lang="en-US" sz="1200" i="1" dirty="0">
                          <a:solidFill>
                            <a:schemeClr val="accent1"/>
                          </a:solidFill>
                          <a:latin typeface="Times New Roman" pitchFamily="34" charset="0"/>
                          <a:ea typeface="Times New Roman" pitchFamily="34" charset="-122"/>
                          <a:cs typeface="Times New Roman" pitchFamily="34" charset="-120"/>
                        </a:rPr>
                        <a:t>Strada et al., 2015</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r>
              <a:tr h="274320">
                <a:tc>
                  <a:txBody>
                    <a:bodyPr/>
                    <a:lstStyle/>
                    <a:p>
                      <a:pPr indent="0" marL="0">
                        <a:buNone/>
                      </a:pPr>
                      <a:r>
                        <a:rPr lang="en-US" sz="1200" b="1" dirty="0">
                          <a:solidFill>
                            <a:schemeClr val="tx2"/>
                          </a:solidFill>
                          <a:latin typeface="Times New Roman" pitchFamily="34" charset="0"/>
                          <a:ea typeface="Times New Roman" pitchFamily="34" charset="-122"/>
                          <a:cs typeface="Times New Roman" pitchFamily="34" charset="-120"/>
                        </a:rPr>
                        <a:t>Southeast USA</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Times New Roman" pitchFamily="34" charset="0"/>
                          <a:ea typeface="Times New Roman" pitchFamily="34" charset="-122"/>
                          <a:cs typeface="Times New Roman" pitchFamily="34" charset="-120"/>
                        </a:rPr>
                        <a:t>Deciduous/mixed forest</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3C8D5A"/>
                          </a:solidFill>
                          <a:latin typeface="Times New Roman" pitchFamily="34" charset="0"/>
                          <a:ea typeface="Times New Roman" pitchFamily="34" charset="-122"/>
                          <a:cs typeface="Times New Roman" pitchFamily="34" charset="-120"/>
                        </a:rPr>
                        <a:t>↑</a:t>
                      </a:r>
                      <a:endParaRPr lang="en-US" sz="14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D9EED9"/>
                    </a:solidFill>
                  </a:tcPr>
                </a:tc>
                <a:tc>
                  <a:txBody>
                    <a:bodyPr/>
                    <a:lstStyle/>
                    <a:p>
                      <a:pPr indent="0" marL="0">
                        <a:buNone/>
                      </a:pPr>
                      <a:r>
                        <a:rPr lang="en-US" sz="1200" dirty="0">
                          <a:solidFill>
                            <a:srgbClr val="000000"/>
                          </a:solidFill>
                          <a:latin typeface="Times New Roman" pitchFamily="34" charset="0"/>
                          <a:ea typeface="Times New Roman" pitchFamily="34" charset="-122"/>
                          <a:cs typeface="Times New Roman" pitchFamily="34" charset="-120"/>
                        </a:rPr>
                        <a:t>NPP up to +35 g C m⁻²; negligible if LAI &lt; 3</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FFFFFF"/>
                    </a:solidFill>
                  </a:tcPr>
                </a:tc>
                <a:tc>
                  <a:txBody>
                    <a:bodyPr/>
                    <a:lstStyle/>
                    <a:p>
                      <a:pPr indent="0" marL="0">
                        <a:buNone/>
                      </a:pPr>
                      <a:r>
                        <a:rPr lang="en-US" sz="1200" i="1" dirty="0">
                          <a:solidFill>
                            <a:schemeClr val="accent1"/>
                          </a:solidFill>
                          <a:latin typeface="Times New Roman" pitchFamily="34" charset="0"/>
                          <a:ea typeface="Times New Roman" pitchFamily="34" charset="-122"/>
                          <a:cs typeface="Times New Roman" pitchFamily="34" charset="-120"/>
                        </a:rPr>
                        <a:t>Matsui et al., 2008</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FFFFFF"/>
                    </a:solidFill>
                  </a:tcPr>
                </a:tc>
              </a:tr>
              <a:tr h="274320">
                <a:tc>
                  <a:txBody>
                    <a:bodyPr/>
                    <a:lstStyle/>
                    <a:p>
                      <a:pPr indent="0" marL="0">
                        <a:buNone/>
                      </a:pPr>
                      <a:r>
                        <a:rPr lang="en-US" sz="1200" b="1" dirty="0">
                          <a:solidFill>
                            <a:schemeClr val="tx2"/>
                          </a:solidFill>
                          <a:latin typeface="Times New Roman" pitchFamily="34" charset="0"/>
                          <a:ea typeface="Times New Roman" pitchFamily="34" charset="-122"/>
                          <a:cs typeface="Times New Roman" pitchFamily="34" charset="-120"/>
                        </a:rPr>
                        <a:t>Boreal N. America</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c>
                  <a:txBody>
                    <a:bodyPr/>
                    <a:lstStyle/>
                    <a:p>
                      <a:pPr indent="0" marL="0">
                        <a:buNone/>
                      </a:pPr>
                      <a:r>
                        <a:rPr lang="en-US" sz="1200" dirty="0">
                          <a:solidFill>
                            <a:srgbClr val="000000"/>
                          </a:solidFill>
                          <a:latin typeface="Times New Roman" pitchFamily="34" charset="0"/>
                          <a:ea typeface="Times New Roman" pitchFamily="34" charset="-122"/>
                          <a:cs typeface="Times New Roman" pitchFamily="34" charset="-120"/>
                        </a:rPr>
                        <a:t>Boreal forest</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c>
                  <a:txBody>
                    <a:bodyPr/>
                    <a:lstStyle/>
                    <a:p>
                      <a:pPr algn="ctr" indent="0" marL="0">
                        <a:buNone/>
                      </a:pPr>
                      <a:r>
                        <a:rPr lang="en-US" sz="1400" b="1" dirty="0">
                          <a:solidFill>
                            <a:srgbClr val="3C8D5A"/>
                          </a:solidFill>
                          <a:latin typeface="Times New Roman" pitchFamily="34" charset="0"/>
                          <a:ea typeface="Times New Roman" pitchFamily="34" charset="-122"/>
                          <a:cs typeface="Times New Roman" pitchFamily="34" charset="-120"/>
                        </a:rPr>
                        <a:t>↑</a:t>
                      </a:r>
                      <a:endParaRPr lang="en-US" sz="14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D9EED9"/>
                    </a:solidFill>
                  </a:tcPr>
                </a:tc>
                <a:tc>
                  <a:txBody>
                    <a:bodyPr/>
                    <a:lstStyle/>
                    <a:p>
                      <a:pPr indent="0" marL="0">
                        <a:buNone/>
                      </a:pPr>
                      <a:r>
                        <a:rPr lang="en-US" sz="1200" dirty="0">
                          <a:solidFill>
                            <a:srgbClr val="000000"/>
                          </a:solidFill>
                          <a:latin typeface="Times New Roman" pitchFamily="34" charset="0"/>
                          <a:ea typeface="Times New Roman" pitchFamily="34" charset="-122"/>
                          <a:cs typeface="Times New Roman" pitchFamily="34" charset="-120"/>
                        </a:rPr>
                        <a:t>Fire aerosol: NPP +8 Tg C yr⁻¹ (2010s)</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c>
                  <a:txBody>
                    <a:bodyPr/>
                    <a:lstStyle/>
                    <a:p>
                      <a:pPr indent="0" marL="0">
                        <a:buNone/>
                      </a:pPr>
                      <a:r>
                        <a:rPr lang="en-US" sz="1200" i="1" dirty="0">
                          <a:solidFill>
                            <a:schemeClr val="accent1"/>
                          </a:solidFill>
                          <a:latin typeface="Times New Roman" pitchFamily="34" charset="0"/>
                          <a:ea typeface="Times New Roman" pitchFamily="34" charset="-122"/>
                          <a:cs typeface="Times New Roman" pitchFamily="34" charset="-120"/>
                        </a:rPr>
                        <a:t>Yue et al., 2017</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r>
              <a:tr h="274320">
                <a:tc>
                  <a:txBody>
                    <a:bodyPr/>
                    <a:lstStyle/>
                    <a:p>
                      <a:pPr indent="0" marL="0">
                        <a:buNone/>
                      </a:pPr>
                      <a:r>
                        <a:rPr lang="en-US" sz="1200" b="1" dirty="0">
                          <a:solidFill>
                            <a:schemeClr val="tx2"/>
                          </a:solidFill>
                          <a:latin typeface="Times New Roman" pitchFamily="34" charset="0"/>
                          <a:ea typeface="Times New Roman" pitchFamily="34" charset="-122"/>
                          <a:cs typeface="Times New Roman" pitchFamily="34" charset="-120"/>
                        </a:rPr>
                        <a:t>Amazon (Tapajós)</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Times New Roman" pitchFamily="34" charset="0"/>
                          <a:ea typeface="Times New Roman" pitchFamily="34" charset="-122"/>
                          <a:cs typeface="Times New Roman" pitchFamily="34" charset="-120"/>
                        </a:rPr>
                        <a:t>Tropical rainforest</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3C8D5A"/>
                          </a:solidFill>
                          <a:latin typeface="Times New Roman" pitchFamily="34" charset="0"/>
                          <a:ea typeface="Times New Roman" pitchFamily="34" charset="-122"/>
                          <a:cs typeface="Times New Roman" pitchFamily="34" charset="-120"/>
                        </a:rPr>
                        <a:t>↑</a:t>
                      </a:r>
                      <a:endParaRPr lang="en-US" sz="14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D9EED9"/>
                    </a:solidFill>
                  </a:tcPr>
                </a:tc>
                <a:tc>
                  <a:txBody>
                    <a:bodyPr/>
                    <a:lstStyle/>
                    <a:p>
                      <a:pPr indent="0" marL="0">
                        <a:buNone/>
                      </a:pPr>
                      <a:r>
                        <a:rPr lang="en-US" sz="1200" dirty="0">
                          <a:solidFill>
                            <a:srgbClr val="000000"/>
                          </a:solidFill>
                          <a:latin typeface="Times New Roman" pitchFamily="34" charset="0"/>
                          <a:ea typeface="Times New Roman" pitchFamily="34" charset="-122"/>
                          <a:cs typeface="Times New Roman" pitchFamily="34" charset="-120"/>
                        </a:rPr>
                        <a:t>Smoke: uptake gain 80% diffuse light, 20% cooling</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FFFFFF"/>
                    </a:solidFill>
                  </a:tcPr>
                </a:tc>
                <a:tc>
                  <a:txBody>
                    <a:bodyPr/>
                    <a:lstStyle/>
                    <a:p>
                      <a:pPr indent="0" marL="0">
                        <a:buNone/>
                      </a:pPr>
                      <a:r>
                        <a:rPr lang="en-US" sz="1200" i="1" dirty="0">
                          <a:solidFill>
                            <a:schemeClr val="accent1"/>
                          </a:solidFill>
                          <a:latin typeface="Times New Roman" pitchFamily="34" charset="0"/>
                          <a:ea typeface="Times New Roman" pitchFamily="34" charset="-122"/>
                          <a:cs typeface="Times New Roman" pitchFamily="34" charset="-120"/>
                        </a:rPr>
                        <a:t>Doughty et al., 2010</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FFFFFF"/>
                    </a:solidFill>
                  </a:tcPr>
                </a:tc>
              </a:tr>
              <a:tr h="274320">
                <a:tc>
                  <a:txBody>
                    <a:bodyPr/>
                    <a:lstStyle/>
                    <a:p>
                      <a:pPr indent="0" marL="0">
                        <a:buNone/>
                      </a:pPr>
                      <a:r>
                        <a:rPr lang="en-US" sz="1200" b="1" dirty="0">
                          <a:solidFill>
                            <a:schemeClr val="tx2"/>
                          </a:solidFill>
                          <a:latin typeface="Times New Roman" pitchFamily="34" charset="0"/>
                          <a:ea typeface="Times New Roman" pitchFamily="34" charset="-122"/>
                          <a:cs typeface="Times New Roman" pitchFamily="34" charset="-120"/>
                        </a:rPr>
                        <a:t>Amazon</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c>
                  <a:txBody>
                    <a:bodyPr/>
                    <a:lstStyle/>
                    <a:p>
                      <a:pPr indent="0" marL="0">
                        <a:buNone/>
                      </a:pPr>
                      <a:r>
                        <a:rPr lang="en-US" sz="1200" dirty="0">
                          <a:solidFill>
                            <a:srgbClr val="000000"/>
                          </a:solidFill>
                          <a:latin typeface="Times New Roman" pitchFamily="34" charset="0"/>
                          <a:ea typeface="Times New Roman" pitchFamily="34" charset="-122"/>
                          <a:cs typeface="Times New Roman" pitchFamily="34" charset="-120"/>
                        </a:rPr>
                        <a:t>Tropical rainforest</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c>
                  <a:txBody>
                    <a:bodyPr/>
                    <a:lstStyle/>
                    <a:p>
                      <a:pPr algn="ctr" indent="0" marL="0">
                        <a:buNone/>
                      </a:pPr>
                      <a:r>
                        <a:rPr lang="en-US" sz="1400" b="1" dirty="0">
                          <a:solidFill>
                            <a:srgbClr val="3C8D5A"/>
                          </a:solidFill>
                          <a:latin typeface="Times New Roman" pitchFamily="34" charset="0"/>
                          <a:ea typeface="Times New Roman" pitchFamily="34" charset="-122"/>
                          <a:cs typeface="Times New Roman" pitchFamily="34" charset="-120"/>
                        </a:rPr>
                        <a:t>↑</a:t>
                      </a:r>
                      <a:endParaRPr lang="en-US" sz="14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D9EED9"/>
                    </a:solidFill>
                  </a:tcPr>
                </a:tc>
                <a:tc>
                  <a:txBody>
                    <a:bodyPr/>
                    <a:lstStyle/>
                    <a:p>
                      <a:pPr indent="0" marL="0">
                        <a:buNone/>
                      </a:pPr>
                      <a:r>
                        <a:rPr lang="en-US" sz="1200" dirty="0">
                          <a:solidFill>
                            <a:srgbClr val="000000"/>
                          </a:solidFill>
                          <a:latin typeface="Times New Roman" pitchFamily="34" charset="0"/>
                          <a:ea typeface="Times New Roman" pitchFamily="34" charset="-122"/>
                          <a:cs typeface="Times New Roman" pitchFamily="34" charset="-120"/>
                        </a:rPr>
                        <a:t>Fire aerosol: diffuse +3.4–6.8%, NPP +1.4–2.8%</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c>
                  <a:txBody>
                    <a:bodyPr/>
                    <a:lstStyle/>
                    <a:p>
                      <a:pPr indent="0" marL="0">
                        <a:buNone/>
                      </a:pPr>
                      <a:r>
                        <a:rPr lang="en-US" sz="1200" i="1" dirty="0">
                          <a:solidFill>
                            <a:schemeClr val="accent1"/>
                          </a:solidFill>
                          <a:latin typeface="Times New Roman" pitchFamily="34" charset="0"/>
                          <a:ea typeface="Times New Roman" pitchFamily="34" charset="-122"/>
                          <a:cs typeface="Times New Roman" pitchFamily="34" charset="-120"/>
                        </a:rPr>
                        <a:t>Rap et al., 2015</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r>
              <a:tr h="274320">
                <a:tc>
                  <a:txBody>
                    <a:bodyPr/>
                    <a:lstStyle/>
                    <a:p>
                      <a:pPr indent="0" marL="0">
                        <a:buNone/>
                      </a:pPr>
                      <a:r>
                        <a:rPr lang="en-US" sz="1200" b="1" dirty="0">
                          <a:solidFill>
                            <a:schemeClr val="tx2"/>
                          </a:solidFill>
                          <a:latin typeface="Times New Roman" pitchFamily="34" charset="0"/>
                          <a:ea typeface="Times New Roman" pitchFamily="34" charset="-122"/>
                          <a:cs typeface="Times New Roman" pitchFamily="34" charset="-120"/>
                        </a:rPr>
                        <a:t>Amazon</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Times New Roman" pitchFamily="34" charset="0"/>
                          <a:ea typeface="Times New Roman" pitchFamily="34" charset="-122"/>
                          <a:cs typeface="Times New Roman" pitchFamily="34" charset="-120"/>
                        </a:rPr>
                        <a:t>Tropical rainforest</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3C8D5A"/>
                          </a:solidFill>
                          <a:latin typeface="Times New Roman" pitchFamily="34" charset="0"/>
                          <a:ea typeface="Times New Roman" pitchFamily="34" charset="-122"/>
                          <a:cs typeface="Times New Roman" pitchFamily="34" charset="-120"/>
                        </a:rPr>
                        <a:t>↑</a:t>
                      </a:r>
                      <a:endParaRPr lang="en-US" sz="14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D9EED9"/>
                    </a:solidFill>
                  </a:tcPr>
                </a:tc>
                <a:tc>
                  <a:txBody>
                    <a:bodyPr/>
                    <a:lstStyle/>
                    <a:p>
                      <a:pPr indent="0" marL="0">
                        <a:buNone/>
                      </a:pPr>
                      <a:r>
                        <a:rPr lang="en-US" sz="1200" dirty="0">
                          <a:solidFill>
                            <a:srgbClr val="000000"/>
                          </a:solidFill>
                          <a:latin typeface="Times New Roman" pitchFamily="34" charset="0"/>
                          <a:ea typeface="Times New Roman" pitchFamily="34" charset="-122"/>
                          <a:cs typeface="Times New Roman" pitchFamily="34" charset="-120"/>
                        </a:rPr>
                        <a:t>Fire aerosol: GPP +27% (2010, model)</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FFFFFF"/>
                    </a:solidFill>
                  </a:tcPr>
                </a:tc>
                <a:tc>
                  <a:txBody>
                    <a:bodyPr/>
                    <a:lstStyle/>
                    <a:p>
                      <a:pPr indent="0" marL="0">
                        <a:buNone/>
                      </a:pPr>
                      <a:r>
                        <a:rPr lang="en-US" sz="1200" i="1" dirty="0">
                          <a:solidFill>
                            <a:schemeClr val="accent1"/>
                          </a:solidFill>
                          <a:latin typeface="Times New Roman" pitchFamily="34" charset="0"/>
                          <a:ea typeface="Times New Roman" pitchFamily="34" charset="-122"/>
                          <a:cs typeface="Times New Roman" pitchFamily="34" charset="-120"/>
                        </a:rPr>
                        <a:t>Moreira et al., 2017</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FFFFFF"/>
                    </a:solidFill>
                  </a:tcPr>
                </a:tc>
              </a:tr>
              <a:tr h="274320">
                <a:tc>
                  <a:txBody>
                    <a:bodyPr/>
                    <a:lstStyle/>
                    <a:p>
                      <a:pPr indent="0" marL="0">
                        <a:buNone/>
                      </a:pPr>
                      <a:r>
                        <a:rPr lang="en-US" sz="1200" b="1" dirty="0">
                          <a:solidFill>
                            <a:schemeClr val="tx2"/>
                          </a:solidFill>
                          <a:latin typeface="Times New Roman" pitchFamily="34" charset="0"/>
                          <a:ea typeface="Times New Roman" pitchFamily="34" charset="-122"/>
                          <a:cs typeface="Times New Roman" pitchFamily="34" charset="-120"/>
                        </a:rPr>
                        <a:t>Southern Amazon</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c>
                  <a:txBody>
                    <a:bodyPr/>
                    <a:lstStyle/>
                    <a:p>
                      <a:pPr indent="0" marL="0">
                        <a:buNone/>
                      </a:pPr>
                      <a:r>
                        <a:rPr lang="en-US" sz="1200" dirty="0">
                          <a:solidFill>
                            <a:srgbClr val="000000"/>
                          </a:solidFill>
                          <a:latin typeface="Times New Roman" pitchFamily="34" charset="0"/>
                          <a:ea typeface="Times New Roman" pitchFamily="34" charset="-122"/>
                          <a:cs typeface="Times New Roman" pitchFamily="34" charset="-120"/>
                        </a:rPr>
                        <a:t>Semi-deciduous forest</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c>
                  <a:txBody>
                    <a:bodyPr/>
                    <a:lstStyle/>
                    <a:p>
                      <a:pPr algn="ctr" indent="0" marL="0">
                        <a:buNone/>
                      </a:pPr>
                      <a:r>
                        <a:rPr lang="en-US" sz="1400" b="1" dirty="0">
                          <a:solidFill>
                            <a:srgbClr val="3C8D5A"/>
                          </a:solidFill>
                          <a:latin typeface="Times New Roman" pitchFamily="34" charset="0"/>
                          <a:ea typeface="Times New Roman" pitchFamily="34" charset="-122"/>
                          <a:cs typeface="Times New Roman" pitchFamily="34" charset="-120"/>
                        </a:rPr>
                        <a:t>↑</a:t>
                      </a:r>
                      <a:endParaRPr lang="en-US" sz="14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D9EED9"/>
                    </a:solidFill>
                  </a:tcPr>
                </a:tc>
                <a:tc>
                  <a:txBody>
                    <a:bodyPr/>
                    <a:lstStyle/>
                    <a:p>
                      <a:pPr indent="0" marL="0">
                        <a:buNone/>
                      </a:pPr>
                      <a:r>
                        <a:rPr lang="en-US" sz="1200" dirty="0">
                          <a:solidFill>
                            <a:srgbClr val="000000"/>
                          </a:solidFill>
                          <a:latin typeface="Times New Roman" pitchFamily="34" charset="0"/>
                          <a:ea typeface="Times New Roman" pitchFamily="34" charset="-122"/>
                          <a:cs typeface="Times New Roman" pitchFamily="34" charset="-120"/>
                        </a:rPr>
                        <a:t>Smoke-season diffuse light raises net CO₂ uptake</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c>
                  <a:txBody>
                    <a:bodyPr/>
                    <a:lstStyle/>
                    <a:p>
                      <a:pPr indent="0" marL="0">
                        <a:buNone/>
                      </a:pPr>
                      <a:r>
                        <a:rPr lang="en-US" sz="1200" i="1" dirty="0">
                          <a:solidFill>
                            <a:schemeClr val="accent1"/>
                          </a:solidFill>
                          <a:latin typeface="Times New Roman" pitchFamily="34" charset="0"/>
                          <a:ea typeface="Times New Roman" pitchFamily="34" charset="-122"/>
                          <a:cs typeface="Times New Roman" pitchFamily="34" charset="-120"/>
                        </a:rPr>
                        <a:t>Rodrigues et al., 2024</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r>
              <a:tr h="274320">
                <a:tc>
                  <a:txBody>
                    <a:bodyPr/>
                    <a:lstStyle/>
                    <a:p>
                      <a:pPr indent="0" marL="0">
                        <a:buNone/>
                      </a:pPr>
                      <a:r>
                        <a:rPr lang="en-US" sz="1200" b="1" dirty="0">
                          <a:solidFill>
                            <a:schemeClr val="tx2"/>
                          </a:solidFill>
                          <a:latin typeface="Times New Roman" pitchFamily="34" charset="0"/>
                          <a:ea typeface="Times New Roman" pitchFamily="34" charset="-122"/>
                          <a:cs typeface="Times New Roman" pitchFamily="34" charset="-120"/>
                        </a:rPr>
                        <a:t>South America</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Times New Roman" pitchFamily="34" charset="0"/>
                          <a:ea typeface="Times New Roman" pitchFamily="34" charset="-122"/>
                          <a:cs typeface="Times New Roman" pitchFamily="34" charset="-120"/>
                        </a:rPr>
                        <a:t>Tropical forest</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B07400"/>
                          </a:solidFill>
                          <a:latin typeface="Times New Roman" pitchFamily="34" charset="0"/>
                          <a:ea typeface="Times New Roman" pitchFamily="34" charset="-122"/>
                          <a:cs typeface="Times New Roman" pitchFamily="34" charset="-120"/>
                        </a:rPr>
                        <a:t>↑/↓</a:t>
                      </a:r>
                      <a:endParaRPr lang="en-US" sz="14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FBEBC8"/>
                    </a:solidFill>
                  </a:tcPr>
                </a:tc>
                <a:tc>
                  <a:txBody>
                    <a:bodyPr/>
                    <a:lstStyle/>
                    <a:p>
                      <a:pPr indent="0" marL="0">
                        <a:buNone/>
                      </a:pPr>
                      <a:r>
                        <a:rPr lang="en-US" sz="1200" dirty="0">
                          <a:solidFill>
                            <a:srgbClr val="000000"/>
                          </a:solidFill>
                          <a:latin typeface="Times New Roman" pitchFamily="34" charset="0"/>
                          <a:ea typeface="Times New Roman" pitchFamily="34" charset="-122"/>
                          <a:cs typeface="Times New Roman" pitchFamily="34" charset="-120"/>
                        </a:rPr>
                        <a:t>NEE +8.4–16% at AOD 0.83–1.26; falls at AOD &gt; 1.7</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FFFFFF"/>
                    </a:solidFill>
                  </a:tcPr>
                </a:tc>
                <a:tc>
                  <a:txBody>
                    <a:bodyPr/>
                    <a:lstStyle/>
                    <a:p>
                      <a:pPr indent="0" marL="0">
                        <a:buNone/>
                      </a:pPr>
                      <a:r>
                        <a:rPr lang="en-US" sz="1200" i="1" dirty="0">
                          <a:solidFill>
                            <a:schemeClr val="accent1"/>
                          </a:solidFill>
                          <a:latin typeface="Times New Roman" pitchFamily="34" charset="0"/>
                          <a:ea typeface="Times New Roman" pitchFamily="34" charset="-122"/>
                          <a:cs typeface="Times New Roman" pitchFamily="34" charset="-120"/>
                        </a:rPr>
                        <a:t>Oliveira et al., 2007</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FFFFFF"/>
                    </a:solidFill>
                  </a:tcPr>
                </a:tc>
              </a:tr>
              <a:tr h="274320">
                <a:tc>
                  <a:txBody>
                    <a:bodyPr/>
                    <a:lstStyle/>
                    <a:p>
                      <a:pPr indent="0" marL="0">
                        <a:buNone/>
                      </a:pPr>
                      <a:r>
                        <a:rPr lang="en-US" sz="1200" b="1" dirty="0">
                          <a:solidFill>
                            <a:schemeClr val="tx2"/>
                          </a:solidFill>
                          <a:latin typeface="Times New Roman" pitchFamily="34" charset="0"/>
                          <a:ea typeface="Times New Roman" pitchFamily="34" charset="-122"/>
                          <a:cs typeface="Times New Roman" pitchFamily="34" charset="-120"/>
                        </a:rPr>
                        <a:t>Amazon</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c>
                  <a:txBody>
                    <a:bodyPr/>
                    <a:lstStyle/>
                    <a:p>
                      <a:pPr indent="0" marL="0">
                        <a:buNone/>
                      </a:pPr>
                      <a:r>
                        <a:rPr lang="en-US" sz="1200" dirty="0">
                          <a:solidFill>
                            <a:srgbClr val="000000"/>
                          </a:solidFill>
                          <a:latin typeface="Times New Roman" pitchFamily="34" charset="0"/>
                          <a:ea typeface="Times New Roman" pitchFamily="34" charset="-122"/>
                          <a:cs typeface="Times New Roman" pitchFamily="34" charset="-120"/>
                        </a:rPr>
                        <a:t>Tropical forest</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c>
                  <a:txBody>
                    <a:bodyPr/>
                    <a:lstStyle/>
                    <a:p>
                      <a:pPr algn="ctr" indent="0" marL="0">
                        <a:buNone/>
                      </a:pPr>
                      <a:r>
                        <a:rPr lang="en-US" sz="1400" b="1" dirty="0">
                          <a:solidFill>
                            <a:srgbClr val="B5452F"/>
                          </a:solidFill>
                          <a:latin typeface="Times New Roman" pitchFamily="34" charset="0"/>
                          <a:ea typeface="Times New Roman" pitchFamily="34" charset="-122"/>
                          <a:cs typeface="Times New Roman" pitchFamily="34" charset="-120"/>
                        </a:rPr>
                        <a:t>↓</a:t>
                      </a:r>
                      <a:endParaRPr lang="en-US" sz="14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F6DAD3"/>
                    </a:solidFill>
                  </a:tcPr>
                </a:tc>
                <a:tc>
                  <a:txBody>
                    <a:bodyPr/>
                    <a:lstStyle/>
                    <a:p>
                      <a:pPr indent="0" marL="0">
                        <a:buNone/>
                      </a:pPr>
                      <a:r>
                        <a:rPr lang="en-US" sz="1200" dirty="0">
                          <a:solidFill>
                            <a:srgbClr val="000000"/>
                          </a:solidFill>
                          <a:latin typeface="Times New Roman" pitchFamily="34" charset="0"/>
                          <a:ea typeface="Times New Roman" pitchFamily="34" charset="-122"/>
                          <a:cs typeface="Times New Roman" pitchFamily="34" charset="-120"/>
                        </a:rPr>
                        <a:t>Heavy smoke lowers photosynthetic efficiency</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c>
                  <a:txBody>
                    <a:bodyPr/>
                    <a:lstStyle/>
                    <a:p>
                      <a:pPr indent="0" marL="0">
                        <a:buNone/>
                      </a:pPr>
                      <a:r>
                        <a:rPr lang="en-US" sz="1200" i="1" dirty="0">
                          <a:solidFill>
                            <a:schemeClr val="accent1"/>
                          </a:solidFill>
                          <a:latin typeface="Times New Roman" pitchFamily="34" charset="0"/>
                          <a:ea typeface="Times New Roman" pitchFamily="34" charset="-122"/>
                          <a:cs typeface="Times New Roman" pitchFamily="34" charset="-120"/>
                        </a:rPr>
                        <a:t>Cirino et al., 2014</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r>
              <a:tr h="274320">
                <a:tc>
                  <a:txBody>
                    <a:bodyPr/>
                    <a:lstStyle/>
                    <a:p>
                      <a:pPr indent="0" marL="0">
                        <a:buNone/>
                      </a:pPr>
                      <a:r>
                        <a:rPr lang="en-US" sz="1200" b="1" dirty="0">
                          <a:solidFill>
                            <a:schemeClr val="tx2"/>
                          </a:solidFill>
                          <a:latin typeface="Times New Roman" pitchFamily="34" charset="0"/>
                          <a:ea typeface="Times New Roman" pitchFamily="34" charset="-122"/>
                          <a:cs typeface="Times New Roman" pitchFamily="34" charset="-120"/>
                        </a:rPr>
                        <a:t>Brazil</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Times New Roman" pitchFamily="34" charset="0"/>
                          <a:ea typeface="Times New Roman" pitchFamily="34" charset="-122"/>
                          <a:cs typeface="Times New Roman" pitchFamily="34" charset="-120"/>
                        </a:rPr>
                        <a:t>Tropical forest</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5A6B78"/>
                          </a:solidFill>
                          <a:latin typeface="Times New Roman" pitchFamily="34" charset="0"/>
                          <a:ea typeface="Times New Roman" pitchFamily="34" charset="-122"/>
                          <a:cs typeface="Times New Roman" pitchFamily="34" charset="-120"/>
                        </a:rPr>
                        <a:t>↔</a:t>
                      </a:r>
                      <a:endParaRPr lang="en-US" sz="14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6E9EC"/>
                    </a:solidFill>
                  </a:tcPr>
                </a:tc>
                <a:tc>
                  <a:txBody>
                    <a:bodyPr/>
                    <a:lstStyle/>
                    <a:p>
                      <a:pPr indent="0" marL="0">
                        <a:buNone/>
                      </a:pPr>
                      <a:r>
                        <a:rPr lang="en-US" sz="1200" dirty="0">
                          <a:solidFill>
                            <a:srgbClr val="000000"/>
                          </a:solidFill>
                          <a:latin typeface="Times New Roman" pitchFamily="34" charset="0"/>
                          <a:ea typeface="Times New Roman" pitchFamily="34" charset="-122"/>
                          <a:cs typeface="Times New Roman" pitchFamily="34" charset="-120"/>
                        </a:rPr>
                        <a:t>No AOD–NEE correlation for AOD &lt; 0.7</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FFFFFF"/>
                    </a:solidFill>
                  </a:tcPr>
                </a:tc>
                <a:tc>
                  <a:txBody>
                    <a:bodyPr/>
                    <a:lstStyle/>
                    <a:p>
                      <a:pPr indent="0" marL="0">
                        <a:buNone/>
                      </a:pPr>
                      <a:r>
                        <a:rPr lang="en-US" sz="1200" i="1" dirty="0">
                          <a:solidFill>
                            <a:schemeClr val="accent1"/>
                          </a:solidFill>
                          <a:latin typeface="Times New Roman" pitchFamily="34" charset="0"/>
                          <a:ea typeface="Times New Roman" pitchFamily="34" charset="-122"/>
                          <a:cs typeface="Times New Roman" pitchFamily="34" charset="-120"/>
                        </a:rPr>
                        <a:t>Yamasoe et al., 2006</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FFFFFF"/>
                    </a:solidFill>
                  </a:tcPr>
                </a:tc>
              </a:tr>
              <a:tr h="274320">
                <a:tc>
                  <a:txBody>
                    <a:bodyPr/>
                    <a:lstStyle/>
                    <a:p>
                      <a:pPr indent="0" marL="0">
                        <a:buNone/>
                      </a:pPr>
                      <a:r>
                        <a:rPr lang="en-US" sz="1200" b="1" dirty="0">
                          <a:solidFill>
                            <a:schemeClr val="tx2"/>
                          </a:solidFill>
                          <a:latin typeface="Times New Roman" pitchFamily="34" charset="0"/>
                          <a:ea typeface="Times New Roman" pitchFamily="34" charset="-122"/>
                          <a:cs typeface="Times New Roman" pitchFamily="34" charset="-120"/>
                        </a:rPr>
                        <a:t>India</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c>
                  <a:txBody>
                    <a:bodyPr/>
                    <a:lstStyle/>
                    <a:p>
                      <a:pPr indent="0" marL="0">
                        <a:buNone/>
                      </a:pPr>
                      <a:r>
                        <a:rPr lang="en-US" sz="1200" dirty="0">
                          <a:solidFill>
                            <a:srgbClr val="000000"/>
                          </a:solidFill>
                          <a:latin typeface="Times New Roman" pitchFamily="34" charset="0"/>
                          <a:ea typeface="Times New Roman" pitchFamily="34" charset="-122"/>
                          <a:cs typeface="Times New Roman" pitchFamily="34" charset="-120"/>
                        </a:rPr>
                        <a:t>Forest zones</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c>
                  <a:txBody>
                    <a:bodyPr/>
                    <a:lstStyle/>
                    <a:p>
                      <a:pPr algn="ctr" indent="0" marL="0">
                        <a:buNone/>
                      </a:pPr>
                      <a:r>
                        <a:rPr lang="en-US" sz="1400" b="1" dirty="0">
                          <a:solidFill>
                            <a:srgbClr val="B07400"/>
                          </a:solidFill>
                          <a:latin typeface="Times New Roman" pitchFamily="34" charset="0"/>
                          <a:ea typeface="Times New Roman" pitchFamily="34" charset="-122"/>
                          <a:cs typeface="Times New Roman" pitchFamily="34" charset="-120"/>
                        </a:rPr>
                        <a:t>↑/↓</a:t>
                      </a:r>
                      <a:endParaRPr lang="en-US" sz="14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FBEBC8"/>
                    </a:solidFill>
                  </a:tcPr>
                </a:tc>
                <a:tc>
                  <a:txBody>
                    <a:bodyPr/>
                    <a:lstStyle/>
                    <a:p>
                      <a:pPr indent="0" marL="0">
                        <a:buNone/>
                      </a:pPr>
                      <a:r>
                        <a:rPr lang="en-US" sz="1200" dirty="0">
                          <a:solidFill>
                            <a:srgbClr val="000000"/>
                          </a:solidFill>
                          <a:latin typeface="Times New Roman" pitchFamily="34" charset="0"/>
                          <a:ea typeface="Times New Roman" pitchFamily="34" charset="-122"/>
                          <a:cs typeface="Times New Roman" pitchFamily="34" charset="-120"/>
                        </a:rPr>
                        <a:t>NPP peaks at AOD 0.38, gain persists to 0.51</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c>
                  <a:txBody>
                    <a:bodyPr/>
                    <a:lstStyle/>
                    <a:p>
                      <a:pPr indent="0" marL="0">
                        <a:buNone/>
                      </a:pPr>
                      <a:r>
                        <a:rPr lang="en-US" sz="1200" i="1" dirty="0">
                          <a:solidFill>
                            <a:schemeClr val="accent1"/>
                          </a:solidFill>
                          <a:latin typeface="Times New Roman" pitchFamily="34" charset="0"/>
                          <a:ea typeface="Times New Roman" pitchFamily="34" charset="-122"/>
                          <a:cs typeface="Times New Roman" pitchFamily="34" charset="-120"/>
                        </a:rPr>
                        <a:t>Hari &amp; Tyagi, 2022</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r>
            </a:tbl>
          </a:graphicData>
        </a:graphic>
      </p:graphicFrame>
      <p:sp>
        <p:nvSpPr>
          <p:cNvPr id="5" name="Effect legend"/>
          <p:cNvSpPr txBox="1"/>
          <p:nvPr/>
        </p:nvSpPr>
        <p:spPr>
          <a:xfrm>
            <a:off x="457200" y="5989320"/>
            <a:ext cx="7863840" cy="274320"/>
          </a:xfrm>
          <a:prstGeom prst="rect">
            <a:avLst/>
          </a:prstGeom>
          <a:noFill/>
          <a:ln/>
        </p:spPr>
        <p:txBody>
          <a:bodyPr wrap="square" lIns="0" tIns="0" rIns="0" bIns="0" rtlCol="0" anchor="ctr"/>
          <a:lstStyle/>
          <a:p>
            <a:pPr indent="0" marL="0">
              <a:buNone/>
            </a:pPr>
            <a:r>
              <a:rPr lang="en-US" sz="1200" b="1" dirty="0">
                <a:solidFill>
                  <a:srgbClr val="3C8D5A"/>
                </a:solidFill>
              </a:rPr>
              <a:t>↑ </a:t>
            </a:r>
            <a:r>
              <a:rPr lang="en-US" sz="1200" dirty="0">
                <a:solidFill>
                  <a:srgbClr val="1A1F24"/>
                </a:solidFill>
              </a:rPr>
              <a:t>increase   </a:t>
            </a:r>
            <a:r>
              <a:rPr lang="en-US" sz="1200" b="1" dirty="0">
                <a:solidFill>
                  <a:srgbClr val="5A6B78"/>
                </a:solidFill>
              </a:rPr>
              <a:t>↔ </a:t>
            </a:r>
            <a:r>
              <a:rPr lang="en-US" sz="1200" dirty="0">
                <a:solidFill>
                  <a:srgbClr val="1A1F24"/>
                </a:solidFill>
              </a:rPr>
              <a:t>no clear change   </a:t>
            </a:r>
            <a:r>
              <a:rPr lang="en-US" sz="1200" b="1" dirty="0">
                <a:solidFill>
                  <a:srgbClr val="B5452F"/>
                </a:solidFill>
              </a:rPr>
              <a:t>↓ </a:t>
            </a:r>
            <a:r>
              <a:rPr lang="en-US" sz="1200" dirty="0">
                <a:solidFill>
                  <a:srgbClr val="1A1F24"/>
                </a:solidFill>
              </a:rPr>
              <a:t>decrease   </a:t>
            </a:r>
            <a:r>
              <a:rPr lang="en-US" sz="1200" b="1" dirty="0">
                <a:solidFill>
                  <a:srgbClr val="B07400"/>
                </a:solidFill>
              </a:rPr>
              <a:t>↑/↓ </a:t>
            </a:r>
            <a:r>
              <a:rPr lang="en-US" sz="1200" dirty="0">
                <a:solidFill>
                  <a:srgbClr val="1A1F24"/>
                </a:solidFill>
              </a:rPr>
              <a:t>gain then loss at high AOD</a:t>
            </a:r>
            <a:endParaRPr lang="en-US" sz="1200" dirty="0"/>
          </a:p>
        </p:txBody>
      </p:sp>
      <p:sp>
        <p:nvSpPr>
          <p:cNvPr id="6" name="Ezhova figure card"/>
          <p:cNvSpPr/>
          <p:nvPr/>
        </p:nvSpPr>
        <p:spPr>
          <a:xfrm>
            <a:off x="9372600" y="1234440"/>
            <a:ext cx="2359152" cy="3747999"/>
          </a:xfrm>
          <a:prstGeom prst="roundRect">
            <a:avLst>
              <a:gd name="adj" fmla="val 2713"/>
            </a:avLst>
          </a:prstGeom>
          <a:solidFill>
            <a:schemeClr val="bg1"/>
          </a:solidFill>
          <a:ln w="9525">
            <a:solidFill>
              <a:schemeClr val="accent4">
                <a:alpha val="60000"/>
              </a:schemeClr>
            </a:solidFill>
            <a:prstDash val="solid"/>
          </a:ln>
          <a:effectLst>
            <a:outerShdw sx="100000" sy="100000" kx="0" ky="0" algn="bl" rotWithShape="0" blurRad="76200" dist="25400" dir="5400000">
              <a:srgbClr val="000000">
                <a:alpha val="12000"/>
              </a:srgbClr>
            </a:outerShdw>
          </a:effectLst>
        </p:spPr>
      </p:sp>
      <p:sp>
        <p:nvSpPr>
          <p:cNvPr id="7" name="Ezhova figure title"/>
          <p:cNvSpPr txBox="1"/>
          <p:nvPr/>
        </p:nvSpPr>
        <p:spPr>
          <a:xfrm>
            <a:off x="9509760" y="1325880"/>
            <a:ext cx="2084832" cy="987552"/>
          </a:xfrm>
          <a:prstGeom prst="rect">
            <a:avLst/>
          </a:prstGeom>
          <a:noFill/>
          <a:ln/>
        </p:spPr>
        <p:txBody>
          <a:bodyPr wrap="square" lIns="0" tIns="0" rIns="0" bIns="0" rtlCol="0" anchor="t"/>
          <a:lstStyle/>
          <a:p>
            <a:pPr indent="0" marL="0">
              <a:buNone/>
            </a:pPr>
            <a:r>
              <a:rPr lang="en-US" sz="1200" b="1" dirty="0">
                <a:solidFill>
                  <a:schemeClr val="tx2"/>
                </a:solidFill>
              </a:rPr>
              <a:t>GPP vs diffuse fraction (R</a:t>
            </a:r>
            <a:r>
              <a:rPr lang="en-US" sz="1200" b="1" baseline="-40000" dirty="0">
                <a:solidFill>
                  <a:schemeClr val="tx2"/>
                </a:solidFill>
              </a:rPr>
              <a:t>d</a:t>
            </a:r>
            <a:r>
              <a:rPr lang="en-US" sz="1200" b="1" dirty="0">
                <a:solidFill>
                  <a:schemeClr val="tx2"/>
                </a:solidFill>
              </a:rPr>
              <a:t>/R</a:t>
            </a:r>
            <a:r>
              <a:rPr lang="en-US" sz="1200" b="1" baseline="-40000" dirty="0">
                <a:solidFill>
                  <a:schemeClr val="tx2"/>
                </a:solidFill>
              </a:rPr>
              <a:t>g</a:t>
            </a:r>
            <a:r>
              <a:rPr lang="en-US" sz="1200" b="1" dirty="0">
                <a:solidFill>
                  <a:schemeClr val="tx2"/>
                </a:solidFill>
              </a:rPr>
              <a:t>) at five boreal and hemiboreal forest sites</a:t>
            </a:r>
            <a:endParaRPr lang="en-US" sz="1200" dirty="0"/>
          </a:p>
        </p:txBody>
      </p:sp>
      <p:pic>
        <p:nvPicPr>
          <p:cNvPr id="8" name="Ezhova figure" descr="Ezhova figure">    </p:cNvPr>
          <p:cNvPicPr>
            <a:picLocks noChangeAspect="1"/>
          </p:cNvPicPr>
          <p:nvPr/>
        </p:nvPicPr>
        <p:blipFill>
          <a:blip r:embed="rId1"/>
          <a:stretch>
            <a:fillRect/>
          </a:stretch>
        </p:blipFill>
        <p:spPr>
          <a:xfrm>
            <a:off x="9477756" y="2313432"/>
            <a:ext cx="2148840" cy="1782039"/>
          </a:xfrm>
          <a:prstGeom prst="rect">
            <a:avLst/>
          </a:prstGeom>
        </p:spPr>
      </p:pic>
      <p:sp>
        <p:nvSpPr>
          <p:cNvPr id="9" name="Ezhova figure caption"/>
          <p:cNvSpPr txBox="1"/>
          <p:nvPr/>
        </p:nvSpPr>
        <p:spPr>
          <a:xfrm>
            <a:off x="9509760" y="4168623"/>
            <a:ext cx="2084832" cy="457200"/>
          </a:xfrm>
          <a:prstGeom prst="rect">
            <a:avLst/>
          </a:prstGeom>
          <a:noFill/>
          <a:ln/>
        </p:spPr>
        <p:txBody>
          <a:bodyPr wrap="square" lIns="0" tIns="0" rIns="0" bIns="0" rtlCol="0" anchor="t"/>
          <a:lstStyle/>
          <a:p>
            <a:pPr indent="0" marL="0">
              <a:buNone/>
            </a:pPr>
            <a:r>
              <a:rPr lang="en-US" sz="1200" dirty="0">
                <a:solidFill>
                  <a:schemeClr val="tx1"/>
                </a:solidFill>
              </a:rPr>
              <a:t>GPP peaks at intermediate diffuse fraction</a:t>
            </a:r>
            <a:endParaRPr lang="en-US" sz="1200" dirty="0"/>
          </a:p>
        </p:txBody>
      </p:sp>
      <p:sp>
        <p:nvSpPr>
          <p:cNvPr id="10" name="Ezhova figure source"/>
          <p:cNvSpPr txBox="1"/>
          <p:nvPr/>
        </p:nvSpPr>
        <p:spPr>
          <a:xfrm>
            <a:off x="9509760" y="4625823"/>
            <a:ext cx="2084832" cy="246888"/>
          </a:xfrm>
          <a:prstGeom prst="rect">
            <a:avLst/>
          </a:prstGeom>
          <a:noFill/>
          <a:ln/>
        </p:spPr>
        <p:txBody>
          <a:bodyPr wrap="square" lIns="0" tIns="0" rIns="0" bIns="0" rtlCol="0" anchor="t"/>
          <a:lstStyle/>
          <a:p>
            <a:pPr indent="0" marL="0">
              <a:buNone/>
            </a:pPr>
            <a:r>
              <a:rPr lang="en-US" sz="1200" i="1" dirty="0">
                <a:solidFill>
                  <a:schemeClr val="accent1"/>
                </a:solidFill>
              </a:rPr>
              <a:t>Source: Ezhova et al., 2018, Fig. 8</a:t>
            </a:r>
            <a:endParaRPr lang="en-US" sz="1200" dirty="0"/>
          </a:p>
        </p:txBody>
      </p:sp>
      <p:sp>
        <p:nvSpPr>
          <p:cNvPr id="11" name="Forest pattern strip"/>
          <p:cNvSpPr/>
          <p:nvPr/>
        </p:nvSpPr>
        <p:spPr>
          <a:xfrm>
            <a:off x="9372600" y="4846320"/>
            <a:ext cx="2359152" cy="1371600"/>
          </a:xfrm>
          <a:prstGeom prst="roundRect">
            <a:avLst>
              <a:gd name="adj" fmla="val 4000"/>
            </a:avLst>
          </a:prstGeom>
          <a:solidFill>
            <a:schemeClr val="bg2"/>
          </a:solidFill>
          <a:ln w="12700">
            <a:solidFill>
              <a:schemeClr val="bg2"/>
            </a:solidFill>
            <a:prstDash val="solid"/>
          </a:ln>
        </p:spPr>
      </p:sp>
      <p:sp>
        <p:nvSpPr>
          <p:cNvPr id="12" name="Forest pattern strip text"/>
          <p:cNvSpPr txBox="1"/>
          <p:nvPr/>
        </p:nvSpPr>
        <p:spPr>
          <a:xfrm>
            <a:off x="9509760" y="4846320"/>
            <a:ext cx="2084832" cy="1371600"/>
          </a:xfrm>
          <a:prstGeom prst="rect">
            <a:avLst/>
          </a:prstGeom>
          <a:noFill/>
          <a:ln/>
        </p:spPr>
        <p:txBody>
          <a:bodyPr wrap="square" lIns="0" tIns="0" rIns="0" bIns="0" rtlCol="0" anchor="ctr"/>
          <a:lstStyle/>
          <a:p>
            <a:pPr indent="0" marL="0">
              <a:buNone/>
            </a:pPr>
            <a:r>
              <a:rPr lang="en-US" sz="1200" b="1" dirty="0">
                <a:solidFill>
                  <a:schemeClr val="tx1"/>
                </a:solidFill>
              </a:rPr>
              <a:t>Pattern:</a:t>
            </a:r>
            <a:r>
              <a:rPr lang="en-US" sz="1200" dirty="0">
                <a:solidFill>
                  <a:schemeClr val="tx1"/>
                </a:solidFill>
              </a:rPr>
              <a:t> forests mostly gain at moderate aerosol (+6 to 23%); the gain disappears or reverses under very heavy smoke.</a:t>
            </a:r>
            <a:endParaRPr lang="en-US" sz="1200" dirty="0"/>
          </a:p>
        </p:txBody>
      </p:sp>
      <p:sp>
        <p:nvSpPr>
          <p:cNvPr id="25" name="Slide Number Placeholder 0"/>
          <p:cNvSpPr>
            <a:spLocks noGrp="1"/>
          </p:cNvSpPr>
          <p:nvPr>
            <p:ph type="sldNum" sz="quarter" idx="4294967295"/>
          </p:nvPr>
        </p:nvSpPr>
        <p:spPr>
          <a:xfrm>
            <a:off x="11183112" y="6400800"/>
            <a:ext cx="548640" cy="292608"/>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1"/>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11274552" cy="292608"/>
          </a:xfrm>
          <a:prstGeom prst="rect">
            <a:avLst/>
          </a:prstGeom>
          <a:noFill/>
          <a:ln/>
        </p:spPr>
        <p:txBody>
          <a:bodyPr wrap="square" lIns="0" tIns="0" rIns="0" bIns="0" rtlCol="0" anchor="ctr"/>
          <a:lstStyle/>
          <a:p>
            <a:pPr algn="l" indent="0" marL="0">
              <a:buNone/>
            </a:pPr>
            <a:r>
              <a:rPr lang="en-US" sz="1400" b="1" dirty="0">
                <a:solidFill>
                  <a:schemeClr val="accent1"/>
                </a:solidFill>
              </a:rPr>
              <a:t>7 · Evidence</a:t>
            </a:r>
            <a:endParaRPr lang="en-US" sz="1400" dirty="0"/>
          </a:p>
        </p:txBody>
      </p:sp>
      <p:sp>
        <p:nvSpPr>
          <p:cNvPr id="3" name="Text 0"/>
          <p:cNvSpPr/>
          <p:nvPr>
            <p:ph idx="101" type="title" hasCustomPrompt="1"/>
          </p:nvPr>
        </p:nvSpPr>
        <p:spPr>
          <a:xfrm>
            <a:off x="457200" y="502920"/>
            <a:ext cx="11274552" cy="594360"/>
          </a:xfrm>
          <a:prstGeom prst="rect">
            <a:avLst/>
          </a:prstGeom>
          <a:noFill/>
          <a:ln/>
        </p:spPr>
        <p:txBody>
          <a:bodyPr wrap="square" lIns="0" tIns="0" rIns="0" bIns="0" rtlCol="0" anchor="ctr"/>
          <a:lstStyle/>
          <a:p>
            <a:pPr algn="l" indent="0" marL="0">
              <a:buNone/>
            </a:pPr>
            <a:r>
              <a:rPr lang="en-US" sz="2800" b="1" dirty="0">
                <a:solidFill>
                  <a:schemeClr val="tx2"/>
                </a:solidFill>
              </a:rPr>
              <a:t>Evidence from natural ecosystems (II): open ecosystems and global</a:t>
            </a:r>
            <a:endParaRPr lang="en-US" sz="2800" dirty="0"/>
          </a:p>
        </p:txBody>
      </p:sp>
      <p:graphicFrame>
        <p:nvGraphicFramePr>
          <p:cNvPr id="3" name="Open ecosystem evidence table"/>
          <p:cNvGraphicFramePr>
            <a:graphicFrameLocks noGrp="1"/>
          </p:cNvGraphicFramePr>
          <p:nvPr>
            <p:extLst>
              <p:ext uri="{D42A27DB-BD31-4B8C-83A1-F6EECF244321}">
                <p14:modId xmlns:p14="http://schemas.microsoft.com/office/powerpoint/2010/main" val="1579011935"/>
              </p:ext>
            </p:extLst>
          </p:nvPr>
        </p:nvGraphicFramePr>
        <p:xfrm>
          <a:off x="457200" y="1234440"/>
          <a:ext cx="8732520" cy="914400"/>
        </p:xfrm>
        <a:graphic>
          <a:graphicData uri="http://schemas.openxmlformats.org/drawingml/2006/table">
            <a:tbl>
              <a:tblPr/>
              <a:tblGrid>
                <a:gridCol w="1463040"/>
                <a:gridCol w="1600200"/>
                <a:gridCol w="640080"/>
                <a:gridCol w="3611880"/>
                <a:gridCol w="1417320"/>
              </a:tblGrid>
              <a:tr h="292608">
                <a:tc>
                  <a:txBody>
                    <a:bodyPr/>
                    <a:lstStyle/>
                    <a:p>
                      <a:pPr algn="l" indent="0" marL="0">
                        <a:buNone/>
                      </a:pPr>
                      <a:r>
                        <a:rPr lang="en-US" sz="1200" b="1" dirty="0">
                          <a:solidFill>
                            <a:srgbClr val="FFFFFF"/>
                          </a:solidFill>
                          <a:latin typeface="Times New Roman" pitchFamily="34" charset="0"/>
                          <a:ea typeface="Times New Roman" pitchFamily="34" charset="-122"/>
                          <a:cs typeface="Times New Roman" pitchFamily="34" charset="-120"/>
                        </a:rPr>
                        <a:t>Region</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16384A"/>
                    </a:solidFill>
                  </a:tcPr>
                </a:tc>
                <a:tc>
                  <a:txBody>
                    <a:bodyPr/>
                    <a:lstStyle/>
                    <a:p>
                      <a:pPr algn="l" indent="0" marL="0">
                        <a:buNone/>
                      </a:pPr>
                      <a:r>
                        <a:rPr lang="en-US" sz="1200" b="1" dirty="0">
                          <a:solidFill>
                            <a:srgbClr val="FFFFFF"/>
                          </a:solidFill>
                          <a:latin typeface="Times New Roman" pitchFamily="34" charset="0"/>
                          <a:ea typeface="Times New Roman" pitchFamily="34" charset="-122"/>
                          <a:cs typeface="Times New Roman" pitchFamily="34" charset="-120"/>
                        </a:rPr>
                        <a:t>Ecosystem</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16384A"/>
                    </a:solidFill>
                  </a:tcPr>
                </a:tc>
                <a:tc>
                  <a:txBody>
                    <a:bodyPr/>
                    <a:lstStyle/>
                    <a:p>
                      <a:pPr algn="ctr" indent="0" marL="0">
                        <a:buNone/>
                      </a:pPr>
                      <a:r>
                        <a:rPr lang="en-US" sz="1200" b="1" dirty="0">
                          <a:solidFill>
                            <a:srgbClr val="FFFFFF"/>
                          </a:solidFill>
                          <a:latin typeface="Times New Roman" pitchFamily="34" charset="0"/>
                          <a:ea typeface="Times New Roman" pitchFamily="34" charset="-122"/>
                          <a:cs typeface="Times New Roman" pitchFamily="34" charset="-120"/>
                        </a:rPr>
                        <a:t>Effect</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16384A"/>
                    </a:solidFill>
                  </a:tcPr>
                </a:tc>
                <a:tc>
                  <a:txBody>
                    <a:bodyPr/>
                    <a:lstStyle/>
                    <a:p>
                      <a:pPr algn="l" indent="0" marL="0">
                        <a:buNone/>
                      </a:pPr>
                      <a:r>
                        <a:rPr lang="en-US" sz="1200" b="1" dirty="0">
                          <a:solidFill>
                            <a:srgbClr val="FFFFFF"/>
                          </a:solidFill>
                          <a:latin typeface="Times New Roman" pitchFamily="34" charset="0"/>
                          <a:ea typeface="Times New Roman" pitchFamily="34" charset="-122"/>
                          <a:cs typeface="Times New Roman" pitchFamily="34" charset="-120"/>
                        </a:rPr>
                        <a:t>Aerosol impact</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16384A"/>
                    </a:solidFill>
                  </a:tcPr>
                </a:tc>
                <a:tc>
                  <a:txBody>
                    <a:bodyPr/>
                    <a:lstStyle/>
                    <a:p>
                      <a:pPr algn="l" indent="0" marL="0">
                        <a:buNone/>
                      </a:pPr>
                      <a:r>
                        <a:rPr lang="en-US" sz="1200" b="1" dirty="0">
                          <a:solidFill>
                            <a:srgbClr val="FFFFFF"/>
                          </a:solidFill>
                          <a:latin typeface="Times New Roman" pitchFamily="34" charset="0"/>
                          <a:ea typeface="Times New Roman" pitchFamily="34" charset="-122"/>
                          <a:cs typeface="Times New Roman" pitchFamily="34" charset="-120"/>
                        </a:rPr>
                        <a:t>Reference</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16384A"/>
                    </a:solidFill>
                  </a:tcPr>
                </a:tc>
              </a:tr>
              <a:tr h="274320">
                <a:tc>
                  <a:txBody>
                    <a:bodyPr/>
                    <a:lstStyle/>
                    <a:p>
                      <a:pPr indent="0" marL="0">
                        <a:buNone/>
                      </a:pPr>
                      <a:r>
                        <a:rPr lang="en-US" sz="1200" b="1" dirty="0">
                          <a:solidFill>
                            <a:schemeClr val="tx2"/>
                          </a:solidFill>
                          <a:latin typeface="Times New Roman" pitchFamily="34" charset="0"/>
                          <a:ea typeface="Times New Roman" pitchFamily="34" charset="-122"/>
                          <a:cs typeface="Times New Roman" pitchFamily="34" charset="-120"/>
                        </a:rPr>
                        <a:t>USA (AmeriFlux)</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c>
                  <a:txBody>
                    <a:bodyPr/>
                    <a:lstStyle/>
                    <a:p>
                      <a:pPr indent="0" marL="0">
                        <a:buNone/>
                      </a:pPr>
                      <a:r>
                        <a:rPr lang="en-US" sz="1200" dirty="0">
                          <a:solidFill>
                            <a:srgbClr val="000000"/>
                          </a:solidFill>
                          <a:latin typeface="Times New Roman" pitchFamily="34" charset="0"/>
                          <a:ea typeface="Times New Roman" pitchFamily="34" charset="-122"/>
                          <a:cs typeface="Times New Roman" pitchFamily="34" charset="-120"/>
                        </a:rPr>
                        <a:t>Grassland</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c>
                  <a:txBody>
                    <a:bodyPr/>
                    <a:lstStyle/>
                    <a:p>
                      <a:pPr algn="ctr" indent="0" marL="0">
                        <a:buNone/>
                      </a:pPr>
                      <a:r>
                        <a:rPr lang="en-US" sz="1400" b="1" dirty="0">
                          <a:solidFill>
                            <a:srgbClr val="B5452F"/>
                          </a:solidFill>
                          <a:latin typeface="Times New Roman" pitchFamily="34" charset="0"/>
                          <a:ea typeface="Times New Roman" pitchFamily="34" charset="-122"/>
                          <a:cs typeface="Times New Roman" pitchFamily="34" charset="-120"/>
                        </a:rPr>
                        <a:t>↓</a:t>
                      </a:r>
                      <a:endParaRPr lang="en-US" sz="14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F6DAD3"/>
                    </a:solidFill>
                  </a:tcPr>
                </a:tc>
                <a:tc>
                  <a:txBody>
                    <a:bodyPr/>
                    <a:lstStyle/>
                    <a:p>
                      <a:pPr indent="0" marL="0">
                        <a:buNone/>
                      </a:pPr>
                      <a:r>
                        <a:rPr lang="en-US" sz="1200" dirty="0">
                          <a:solidFill>
                            <a:srgbClr val="000000"/>
                          </a:solidFill>
                          <a:latin typeface="Times New Roman" pitchFamily="34" charset="0"/>
                          <a:ea typeface="Times New Roman" pitchFamily="34" charset="-122"/>
                          <a:cs typeface="Times New Roman" pitchFamily="34" charset="-120"/>
                        </a:rPr>
                        <a:t>Uptake fell in grassland, rose in forest</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c>
                  <a:txBody>
                    <a:bodyPr/>
                    <a:lstStyle/>
                    <a:p>
                      <a:pPr indent="0" marL="0">
                        <a:buNone/>
                      </a:pPr>
                      <a:r>
                        <a:rPr lang="en-US" sz="1200" i="1" dirty="0">
                          <a:solidFill>
                            <a:schemeClr val="accent1"/>
                          </a:solidFill>
                          <a:latin typeface="Times New Roman" pitchFamily="34" charset="0"/>
                          <a:ea typeface="Times New Roman" pitchFamily="34" charset="-122"/>
                          <a:cs typeface="Times New Roman" pitchFamily="34" charset="-120"/>
                        </a:rPr>
                        <a:t>Niyogi et al., 2004</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r>
              <a:tr h="274320">
                <a:tc>
                  <a:txBody>
                    <a:bodyPr/>
                    <a:lstStyle/>
                    <a:p>
                      <a:pPr indent="0" marL="0">
                        <a:buNone/>
                      </a:pPr>
                      <a:r>
                        <a:rPr lang="en-US" sz="1200" b="1" dirty="0">
                          <a:solidFill>
                            <a:schemeClr val="tx2"/>
                          </a:solidFill>
                          <a:latin typeface="Times New Roman" pitchFamily="34" charset="0"/>
                          <a:ea typeface="Times New Roman" pitchFamily="34" charset="-122"/>
                          <a:cs typeface="Times New Roman" pitchFamily="34" charset="-120"/>
                        </a:rPr>
                        <a:t>Eastern USA</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Times New Roman" pitchFamily="34" charset="0"/>
                          <a:ea typeface="Times New Roman" pitchFamily="34" charset="-122"/>
                          <a:cs typeface="Times New Roman" pitchFamily="34" charset="-120"/>
                        </a:rPr>
                        <a:t>Grassland</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B5452F"/>
                          </a:solidFill>
                          <a:latin typeface="Times New Roman" pitchFamily="34" charset="0"/>
                          <a:ea typeface="Times New Roman" pitchFamily="34" charset="-122"/>
                          <a:cs typeface="Times New Roman" pitchFamily="34" charset="-120"/>
                        </a:rPr>
                        <a:t>↓</a:t>
                      </a:r>
                      <a:endParaRPr lang="en-US" sz="14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F6DAD3"/>
                    </a:solidFill>
                  </a:tcPr>
                </a:tc>
                <a:tc>
                  <a:txBody>
                    <a:bodyPr/>
                    <a:lstStyle/>
                    <a:p>
                      <a:pPr indent="0" marL="0">
                        <a:buNone/>
                      </a:pPr>
                      <a:r>
                        <a:rPr lang="en-US" sz="1200" dirty="0">
                          <a:solidFill>
                            <a:srgbClr val="000000"/>
                          </a:solidFill>
                          <a:latin typeface="Times New Roman" pitchFamily="34" charset="0"/>
                          <a:ea typeface="Times New Roman" pitchFamily="34" charset="-122"/>
                          <a:cs typeface="Times New Roman" pitchFamily="34" charset="-120"/>
                        </a:rPr>
                        <a:t>High AOD (&gt; 0.6) harmed grassland</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FFFFFF"/>
                    </a:solidFill>
                  </a:tcPr>
                </a:tc>
                <a:tc>
                  <a:txBody>
                    <a:bodyPr/>
                    <a:lstStyle/>
                    <a:p>
                      <a:pPr indent="0" marL="0">
                        <a:buNone/>
                      </a:pPr>
                      <a:r>
                        <a:rPr lang="en-US" sz="1200" i="1" dirty="0">
                          <a:solidFill>
                            <a:schemeClr val="accent1"/>
                          </a:solidFill>
                          <a:latin typeface="Times New Roman" pitchFamily="34" charset="0"/>
                          <a:ea typeface="Times New Roman" pitchFamily="34" charset="-122"/>
                          <a:cs typeface="Times New Roman" pitchFamily="34" charset="-120"/>
                        </a:rPr>
                        <a:t>Strada et al., 2015</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FFFFFF"/>
                    </a:solidFill>
                  </a:tcPr>
                </a:tc>
              </a:tr>
              <a:tr h="274320">
                <a:tc>
                  <a:txBody>
                    <a:bodyPr/>
                    <a:lstStyle/>
                    <a:p>
                      <a:pPr indent="0" marL="0">
                        <a:buNone/>
                      </a:pPr>
                      <a:r>
                        <a:rPr lang="en-US" sz="1200" b="1" dirty="0">
                          <a:solidFill>
                            <a:schemeClr val="tx2"/>
                          </a:solidFill>
                          <a:latin typeface="Times New Roman" pitchFamily="34" charset="0"/>
                          <a:ea typeface="Times New Roman" pitchFamily="34" charset="-122"/>
                          <a:cs typeface="Times New Roman" pitchFamily="34" charset="-120"/>
                        </a:rPr>
                        <a:t>Northwest China</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c>
                  <a:txBody>
                    <a:bodyPr/>
                    <a:lstStyle/>
                    <a:p>
                      <a:pPr indent="0" marL="0">
                        <a:buNone/>
                      </a:pPr>
                      <a:r>
                        <a:rPr lang="en-US" sz="1200" dirty="0">
                          <a:solidFill>
                            <a:srgbClr val="000000"/>
                          </a:solidFill>
                          <a:latin typeface="Times New Roman" pitchFamily="34" charset="0"/>
                          <a:ea typeface="Times New Roman" pitchFamily="34" charset="-122"/>
                          <a:cs typeface="Times New Roman" pitchFamily="34" charset="-120"/>
                        </a:rPr>
                        <a:t>Short C3 grassland</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c>
                  <a:txBody>
                    <a:bodyPr/>
                    <a:lstStyle/>
                    <a:p>
                      <a:pPr algn="ctr" indent="0" marL="0">
                        <a:buNone/>
                      </a:pPr>
                      <a:r>
                        <a:rPr lang="en-US" sz="1400" b="1" dirty="0">
                          <a:solidFill>
                            <a:srgbClr val="B5452F"/>
                          </a:solidFill>
                          <a:latin typeface="Times New Roman" pitchFamily="34" charset="0"/>
                          <a:ea typeface="Times New Roman" pitchFamily="34" charset="-122"/>
                          <a:cs typeface="Times New Roman" pitchFamily="34" charset="-120"/>
                        </a:rPr>
                        <a:t>↓</a:t>
                      </a:r>
                      <a:endParaRPr lang="en-US" sz="14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F6DAD3"/>
                    </a:solidFill>
                  </a:tcPr>
                </a:tc>
                <a:tc>
                  <a:txBody>
                    <a:bodyPr/>
                    <a:lstStyle/>
                    <a:p>
                      <a:pPr indent="0" marL="0">
                        <a:buNone/>
                      </a:pPr>
                      <a:r>
                        <a:rPr lang="en-US" sz="1200" dirty="0">
                          <a:solidFill>
                            <a:srgbClr val="000000"/>
                          </a:solidFill>
                          <a:latin typeface="Times New Roman" pitchFamily="34" charset="0"/>
                          <a:ea typeface="Times New Roman" pitchFamily="34" charset="-122"/>
                          <a:cs typeface="Times New Roman" pitchFamily="34" charset="-120"/>
                        </a:rPr>
                        <a:t>Aerosol gave negative carbon uptake</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c>
                  <a:txBody>
                    <a:bodyPr/>
                    <a:lstStyle/>
                    <a:p>
                      <a:pPr indent="0" marL="0">
                        <a:buNone/>
                      </a:pPr>
                      <a:r>
                        <a:rPr lang="en-US" sz="1200" i="1" dirty="0">
                          <a:solidFill>
                            <a:schemeClr val="accent1"/>
                          </a:solidFill>
                          <a:latin typeface="Times New Roman" pitchFamily="34" charset="0"/>
                          <a:ea typeface="Times New Roman" pitchFamily="34" charset="-122"/>
                          <a:cs typeface="Times New Roman" pitchFamily="34" charset="-120"/>
                        </a:rPr>
                        <a:t>Jing et al., 2010</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r>
              <a:tr h="274320">
                <a:tc>
                  <a:txBody>
                    <a:bodyPr/>
                    <a:lstStyle/>
                    <a:p>
                      <a:pPr indent="0" marL="0">
                        <a:buNone/>
                      </a:pPr>
                      <a:r>
                        <a:rPr lang="en-US" sz="1200" b="1" dirty="0">
                          <a:solidFill>
                            <a:schemeClr val="tx2"/>
                          </a:solidFill>
                          <a:latin typeface="Times New Roman" pitchFamily="34" charset="0"/>
                          <a:ea typeface="Times New Roman" pitchFamily="34" charset="-122"/>
                          <a:cs typeface="Times New Roman" pitchFamily="34" charset="-120"/>
                        </a:rPr>
                        <a:t>Northern Australia</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Times New Roman" pitchFamily="34" charset="0"/>
                          <a:ea typeface="Times New Roman" pitchFamily="34" charset="-122"/>
                          <a:cs typeface="Times New Roman" pitchFamily="34" charset="-120"/>
                        </a:rPr>
                        <a:t>Tropical savanna</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5A6B78"/>
                          </a:solidFill>
                          <a:latin typeface="Times New Roman" pitchFamily="34" charset="0"/>
                          <a:ea typeface="Times New Roman" pitchFamily="34" charset="-122"/>
                          <a:cs typeface="Times New Roman" pitchFamily="34" charset="-120"/>
                        </a:rPr>
                        <a:t>↔</a:t>
                      </a:r>
                      <a:endParaRPr lang="en-US" sz="14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6E9EC"/>
                    </a:solidFill>
                  </a:tcPr>
                </a:tc>
                <a:tc>
                  <a:txBody>
                    <a:bodyPr/>
                    <a:lstStyle/>
                    <a:p>
                      <a:pPr indent="0" marL="0">
                        <a:buNone/>
                      </a:pPr>
                      <a:r>
                        <a:rPr lang="en-US" sz="1200" dirty="0">
                          <a:solidFill>
                            <a:srgbClr val="000000"/>
                          </a:solidFill>
                          <a:latin typeface="Times New Roman" pitchFamily="34" charset="0"/>
                          <a:ea typeface="Times New Roman" pitchFamily="34" charset="-122"/>
                          <a:cs typeface="Times New Roman" pitchFamily="34" charset="-120"/>
                        </a:rPr>
                        <a:t>Diffuse fraction 11 → 21%: no significant change</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FFFFFF"/>
                    </a:solidFill>
                  </a:tcPr>
                </a:tc>
                <a:tc>
                  <a:txBody>
                    <a:bodyPr/>
                    <a:lstStyle/>
                    <a:p>
                      <a:pPr indent="0" marL="0">
                        <a:buNone/>
                      </a:pPr>
                      <a:r>
                        <a:rPr lang="en-US" sz="1200" i="1" dirty="0">
                          <a:solidFill>
                            <a:schemeClr val="accent1"/>
                          </a:solidFill>
                          <a:latin typeface="Times New Roman" pitchFamily="34" charset="0"/>
                          <a:ea typeface="Times New Roman" pitchFamily="34" charset="-122"/>
                          <a:cs typeface="Times New Roman" pitchFamily="34" charset="-120"/>
                        </a:rPr>
                        <a:t>Kanniah et al., 2010</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FFFFFF"/>
                    </a:solidFill>
                  </a:tcPr>
                </a:tc>
              </a:tr>
              <a:tr h="274320">
                <a:tc>
                  <a:txBody>
                    <a:bodyPr/>
                    <a:lstStyle/>
                    <a:p>
                      <a:pPr indent="0" marL="0">
                        <a:buNone/>
                      </a:pPr>
                      <a:r>
                        <a:rPr lang="en-US" sz="1200" b="1" dirty="0">
                          <a:solidFill>
                            <a:schemeClr val="tx2"/>
                          </a:solidFill>
                          <a:latin typeface="Times New Roman" pitchFamily="34" charset="0"/>
                          <a:ea typeface="Times New Roman" pitchFamily="34" charset="-122"/>
                          <a:cs typeface="Times New Roman" pitchFamily="34" charset="-120"/>
                        </a:rPr>
                        <a:t>Brazil (Pantanal)</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c>
                  <a:txBody>
                    <a:bodyPr/>
                    <a:lstStyle/>
                    <a:p>
                      <a:pPr indent="0" marL="0">
                        <a:buNone/>
                      </a:pPr>
                      <a:r>
                        <a:rPr lang="en-US" sz="1200" dirty="0">
                          <a:solidFill>
                            <a:srgbClr val="000000"/>
                          </a:solidFill>
                          <a:latin typeface="Times New Roman" pitchFamily="34" charset="0"/>
                          <a:ea typeface="Times New Roman" pitchFamily="34" charset="-122"/>
                          <a:cs typeface="Times New Roman" pitchFamily="34" charset="-120"/>
                        </a:rPr>
                        <a:t>Tropical wetland</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c>
                  <a:txBody>
                    <a:bodyPr/>
                    <a:lstStyle/>
                    <a:p>
                      <a:pPr algn="ctr" indent="0" marL="0">
                        <a:buNone/>
                      </a:pPr>
                      <a:r>
                        <a:rPr lang="en-US" sz="1400" b="1" dirty="0">
                          <a:solidFill>
                            <a:srgbClr val="B5452F"/>
                          </a:solidFill>
                          <a:latin typeface="Times New Roman" pitchFamily="34" charset="0"/>
                          <a:ea typeface="Times New Roman" pitchFamily="34" charset="-122"/>
                          <a:cs typeface="Times New Roman" pitchFamily="34" charset="-120"/>
                        </a:rPr>
                        <a:t>↓</a:t>
                      </a:r>
                      <a:endParaRPr lang="en-US" sz="14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F6DAD3"/>
                    </a:solidFill>
                  </a:tcPr>
                </a:tc>
                <a:tc>
                  <a:txBody>
                    <a:bodyPr/>
                    <a:lstStyle/>
                    <a:p>
                      <a:pPr indent="0" marL="0">
                        <a:buNone/>
                      </a:pPr>
                      <a:r>
                        <a:rPr lang="en-US" sz="1200" dirty="0">
                          <a:solidFill>
                            <a:srgbClr val="000000"/>
                          </a:solidFill>
                          <a:latin typeface="Times New Roman" pitchFamily="34" charset="0"/>
                          <a:ea typeface="Times New Roman" pitchFamily="34" charset="-122"/>
                          <a:cs typeface="Times New Roman" pitchFamily="34" charset="-120"/>
                        </a:rPr>
                        <a:t>Black carbon cut PAR, lowered assimilation</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c>
                  <a:txBody>
                    <a:bodyPr/>
                    <a:lstStyle/>
                    <a:p>
                      <a:pPr indent="0" marL="0">
                        <a:buNone/>
                      </a:pPr>
                      <a:r>
                        <a:rPr lang="en-US" sz="1200" i="1" dirty="0">
                          <a:solidFill>
                            <a:schemeClr val="accent1"/>
                          </a:solidFill>
                          <a:latin typeface="Times New Roman" pitchFamily="34" charset="0"/>
                          <a:ea typeface="Times New Roman" pitchFamily="34" charset="-122"/>
                          <a:cs typeface="Times New Roman" pitchFamily="34" charset="-120"/>
                        </a:rPr>
                        <a:t>Curado et al., 2024</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r>
              <a:tr h="274320">
                <a:tc>
                  <a:txBody>
                    <a:bodyPr/>
                    <a:lstStyle/>
                    <a:p>
                      <a:pPr indent="0" marL="0">
                        <a:buNone/>
                      </a:pPr>
                      <a:r>
                        <a:rPr lang="en-US" sz="1200" b="1" dirty="0">
                          <a:solidFill>
                            <a:schemeClr val="tx2"/>
                          </a:solidFill>
                          <a:latin typeface="Times New Roman" pitchFamily="34" charset="0"/>
                          <a:ea typeface="Times New Roman" pitchFamily="34" charset="-122"/>
                          <a:cs typeface="Times New Roman" pitchFamily="34" charset="-120"/>
                        </a:rPr>
                        <a:t>California, USA</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Times New Roman" pitchFamily="34" charset="0"/>
                          <a:ea typeface="Times New Roman" pitchFamily="34" charset="-122"/>
                          <a:cs typeface="Times New Roman" pitchFamily="34" charset="-120"/>
                        </a:rPr>
                        <a:t>Restored wetland</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3C8D5A"/>
                          </a:solidFill>
                          <a:latin typeface="Times New Roman" pitchFamily="34" charset="0"/>
                          <a:ea typeface="Times New Roman" pitchFamily="34" charset="-122"/>
                          <a:cs typeface="Times New Roman" pitchFamily="34" charset="-120"/>
                        </a:rPr>
                        <a:t>↑</a:t>
                      </a:r>
                      <a:endParaRPr lang="en-US" sz="14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D9EED9"/>
                    </a:solidFill>
                  </a:tcPr>
                </a:tc>
                <a:tc>
                  <a:txBody>
                    <a:bodyPr/>
                    <a:lstStyle/>
                    <a:p>
                      <a:pPr indent="0" marL="0">
                        <a:buNone/>
                      </a:pPr>
                      <a:r>
                        <a:rPr lang="en-US" sz="1200" dirty="0">
                          <a:solidFill>
                            <a:srgbClr val="000000"/>
                          </a:solidFill>
                          <a:latin typeface="Times New Roman" pitchFamily="34" charset="0"/>
                          <a:ea typeface="Times New Roman" pitchFamily="34" charset="-122"/>
                          <a:cs typeface="Times New Roman" pitchFamily="34" charset="-120"/>
                        </a:rPr>
                        <a:t>Wildfire smoke: LUE up, GPP +1.2–4.1%</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FFFFFF"/>
                    </a:solidFill>
                  </a:tcPr>
                </a:tc>
                <a:tc>
                  <a:txBody>
                    <a:bodyPr/>
                    <a:lstStyle/>
                    <a:p>
                      <a:pPr indent="0" marL="0">
                        <a:buNone/>
                      </a:pPr>
                      <a:r>
                        <a:rPr lang="en-US" sz="1200" i="1" dirty="0">
                          <a:solidFill>
                            <a:schemeClr val="accent1"/>
                          </a:solidFill>
                          <a:latin typeface="Times New Roman" pitchFamily="34" charset="0"/>
                          <a:ea typeface="Times New Roman" pitchFamily="34" charset="-122"/>
                          <a:cs typeface="Times New Roman" pitchFamily="34" charset="-120"/>
                        </a:rPr>
                        <a:t>Hemes et al., 2020</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FFFFFF"/>
                    </a:solidFill>
                  </a:tcPr>
                </a:tc>
              </a:tr>
              <a:tr h="274320">
                <a:tc>
                  <a:txBody>
                    <a:bodyPr/>
                    <a:lstStyle/>
                    <a:p>
                      <a:pPr indent="0" marL="0">
                        <a:buNone/>
                      </a:pPr>
                      <a:r>
                        <a:rPr lang="en-US" sz="1200" b="1" dirty="0">
                          <a:solidFill>
                            <a:schemeClr val="tx2"/>
                          </a:solidFill>
                          <a:latin typeface="Times New Roman" pitchFamily="34" charset="0"/>
                          <a:ea typeface="Times New Roman" pitchFamily="34" charset="-122"/>
                          <a:cs typeface="Times New Roman" pitchFamily="34" charset="-120"/>
                        </a:rPr>
                        <a:t>Global</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c>
                  <a:txBody>
                    <a:bodyPr/>
                    <a:lstStyle/>
                    <a:p>
                      <a:pPr indent="0" marL="0">
                        <a:buNone/>
                      </a:pPr>
                      <a:r>
                        <a:rPr lang="en-US" sz="1200" dirty="0">
                          <a:solidFill>
                            <a:srgbClr val="000000"/>
                          </a:solidFill>
                          <a:latin typeface="Times New Roman" pitchFamily="34" charset="0"/>
                          <a:ea typeface="Times New Roman" pitchFamily="34" charset="-122"/>
                          <a:cs typeface="Times New Roman" pitchFamily="34" charset="-120"/>
                        </a:rPr>
                        <a:t>All biomes</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c>
                  <a:txBody>
                    <a:bodyPr/>
                    <a:lstStyle/>
                    <a:p>
                      <a:pPr algn="ctr" indent="0" marL="0">
                        <a:buNone/>
                      </a:pPr>
                      <a:r>
                        <a:rPr lang="en-US" sz="1400" b="1" dirty="0">
                          <a:solidFill>
                            <a:srgbClr val="3C8D5A"/>
                          </a:solidFill>
                          <a:latin typeface="Times New Roman" pitchFamily="34" charset="0"/>
                          <a:ea typeface="Times New Roman" pitchFamily="34" charset="-122"/>
                          <a:cs typeface="Times New Roman" pitchFamily="34" charset="-120"/>
                        </a:rPr>
                        <a:t>↑</a:t>
                      </a:r>
                      <a:endParaRPr lang="en-US" sz="14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D9EED9"/>
                    </a:solidFill>
                  </a:tcPr>
                </a:tc>
                <a:tc>
                  <a:txBody>
                    <a:bodyPr/>
                    <a:lstStyle/>
                    <a:p>
                      <a:pPr indent="0" marL="0">
                        <a:buNone/>
                      </a:pPr>
                      <a:r>
                        <a:rPr lang="en-US" sz="1200" dirty="0">
                          <a:solidFill>
                            <a:srgbClr val="000000"/>
                          </a:solidFill>
                          <a:latin typeface="Times New Roman" pitchFamily="34" charset="0"/>
                          <a:ea typeface="Times New Roman" pitchFamily="34" charset="-122"/>
                          <a:cs typeface="Times New Roman" pitchFamily="34" charset="-120"/>
                        </a:rPr>
                        <a:t>Biogenic SOA raises NPP by 1.23 Pg C yr⁻¹</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c>
                  <a:txBody>
                    <a:bodyPr/>
                    <a:lstStyle/>
                    <a:p>
                      <a:pPr indent="0" marL="0">
                        <a:buNone/>
                      </a:pPr>
                      <a:r>
                        <a:rPr lang="en-US" sz="1200" i="1" dirty="0">
                          <a:solidFill>
                            <a:schemeClr val="accent1"/>
                          </a:solidFill>
                          <a:latin typeface="Times New Roman" pitchFamily="34" charset="0"/>
                          <a:ea typeface="Times New Roman" pitchFamily="34" charset="-122"/>
                          <a:cs typeface="Times New Roman" pitchFamily="34" charset="-120"/>
                        </a:rPr>
                        <a:t>Rap et al., 2018</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r>
              <a:tr h="274320">
                <a:tc>
                  <a:txBody>
                    <a:bodyPr/>
                    <a:lstStyle/>
                    <a:p>
                      <a:pPr indent="0" marL="0">
                        <a:buNone/>
                      </a:pPr>
                      <a:r>
                        <a:rPr lang="en-US" sz="1200" b="1" dirty="0">
                          <a:solidFill>
                            <a:schemeClr val="tx2"/>
                          </a:solidFill>
                          <a:latin typeface="Times New Roman" pitchFamily="34" charset="0"/>
                          <a:ea typeface="Times New Roman" pitchFamily="34" charset="-122"/>
                          <a:cs typeface="Times New Roman" pitchFamily="34" charset="-120"/>
                        </a:rPr>
                        <a:t>Global</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Times New Roman" pitchFamily="34" charset="0"/>
                          <a:ea typeface="Times New Roman" pitchFamily="34" charset="-122"/>
                          <a:cs typeface="Times New Roman" pitchFamily="34" charset="-120"/>
                        </a:rPr>
                        <a:t>All biomes</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3C8D5A"/>
                          </a:solidFill>
                          <a:latin typeface="Times New Roman" pitchFamily="34" charset="0"/>
                          <a:ea typeface="Times New Roman" pitchFamily="34" charset="-122"/>
                          <a:cs typeface="Times New Roman" pitchFamily="34" charset="-120"/>
                        </a:rPr>
                        <a:t>↑</a:t>
                      </a:r>
                      <a:endParaRPr lang="en-US" sz="14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D9EED9"/>
                    </a:solidFill>
                  </a:tcPr>
                </a:tc>
                <a:tc>
                  <a:txBody>
                    <a:bodyPr/>
                    <a:lstStyle/>
                    <a:p>
                      <a:pPr indent="0" marL="0">
                        <a:buNone/>
                      </a:pPr>
                      <a:r>
                        <a:rPr lang="en-US" sz="1200" dirty="0">
                          <a:solidFill>
                            <a:srgbClr val="000000"/>
                          </a:solidFill>
                          <a:latin typeface="Times New Roman" pitchFamily="34" charset="0"/>
                          <a:ea typeface="Times New Roman" pitchFamily="34" charset="-122"/>
                          <a:cs typeface="Times New Roman" pitchFamily="34" charset="-120"/>
                        </a:rPr>
                        <a:t>Aerosol GPP +1.0 Pg C yr⁻¹; fire aerosol only +0.05</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FFFFFF"/>
                    </a:solidFill>
                  </a:tcPr>
                </a:tc>
                <a:tc>
                  <a:txBody>
                    <a:bodyPr/>
                    <a:lstStyle/>
                    <a:p>
                      <a:pPr indent="0" marL="0">
                        <a:buNone/>
                      </a:pPr>
                      <a:r>
                        <a:rPr lang="en-US" sz="1200" i="1" dirty="0">
                          <a:solidFill>
                            <a:schemeClr val="accent1"/>
                          </a:solidFill>
                          <a:latin typeface="Times New Roman" pitchFamily="34" charset="0"/>
                          <a:ea typeface="Times New Roman" pitchFamily="34" charset="-122"/>
                          <a:cs typeface="Times New Roman" pitchFamily="34" charset="-120"/>
                        </a:rPr>
                        <a:t>Yue &amp; Unger, 2018</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FFFFFF"/>
                    </a:solidFill>
                  </a:tcPr>
                </a:tc>
              </a:tr>
              <a:tr h="274320">
                <a:tc>
                  <a:txBody>
                    <a:bodyPr/>
                    <a:lstStyle/>
                    <a:p>
                      <a:pPr indent="0" marL="0">
                        <a:buNone/>
                      </a:pPr>
                      <a:r>
                        <a:rPr lang="en-US" sz="1200" b="1" dirty="0">
                          <a:solidFill>
                            <a:schemeClr val="tx2"/>
                          </a:solidFill>
                          <a:latin typeface="Times New Roman" pitchFamily="34" charset="0"/>
                          <a:ea typeface="Times New Roman" pitchFamily="34" charset="-122"/>
                          <a:cs typeface="Times New Roman" pitchFamily="34" charset="-120"/>
                        </a:rPr>
                        <a:t>Global</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c>
                  <a:txBody>
                    <a:bodyPr/>
                    <a:lstStyle/>
                    <a:p>
                      <a:pPr indent="0" marL="0">
                        <a:buNone/>
                      </a:pPr>
                      <a:r>
                        <a:rPr lang="en-US" sz="1200" dirty="0">
                          <a:solidFill>
                            <a:srgbClr val="000000"/>
                          </a:solidFill>
                          <a:latin typeface="Times New Roman" pitchFamily="34" charset="0"/>
                          <a:ea typeface="Times New Roman" pitchFamily="34" charset="-122"/>
                          <a:cs typeface="Times New Roman" pitchFamily="34" charset="-120"/>
                        </a:rPr>
                        <a:t>All biomes</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c>
                  <a:txBody>
                    <a:bodyPr/>
                    <a:lstStyle/>
                    <a:p>
                      <a:pPr algn="ctr" indent="0" marL="0">
                        <a:buNone/>
                      </a:pPr>
                      <a:r>
                        <a:rPr lang="en-US" sz="1400" b="1" dirty="0">
                          <a:solidFill>
                            <a:srgbClr val="3C8D5A"/>
                          </a:solidFill>
                          <a:latin typeface="Times New Roman" pitchFamily="34" charset="0"/>
                          <a:ea typeface="Times New Roman" pitchFamily="34" charset="-122"/>
                          <a:cs typeface="Times New Roman" pitchFamily="34" charset="-120"/>
                        </a:rPr>
                        <a:t>↑</a:t>
                      </a:r>
                      <a:endParaRPr lang="en-US" sz="14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D9EED9"/>
                    </a:solidFill>
                  </a:tcPr>
                </a:tc>
                <a:tc>
                  <a:txBody>
                    <a:bodyPr/>
                    <a:lstStyle/>
                    <a:p>
                      <a:pPr indent="0" marL="0">
                        <a:buNone/>
                      </a:pPr>
                      <a:r>
                        <a:rPr lang="en-US" sz="1200" dirty="0">
                          <a:solidFill>
                            <a:srgbClr val="000000"/>
                          </a:solidFill>
                          <a:latin typeface="Times New Roman" pitchFamily="34" charset="0"/>
                          <a:ea typeface="Times New Roman" pitchFamily="34" charset="-122"/>
                          <a:cs typeface="Times New Roman" pitchFamily="34" charset="-120"/>
                        </a:rPr>
                        <a:t>GPP +0.95 Pg C yr⁻¹ (all-sky) vs +8.9 (clear-sky)</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c>
                  <a:txBody>
                    <a:bodyPr/>
                    <a:lstStyle/>
                    <a:p>
                      <a:pPr indent="0" marL="0">
                        <a:buNone/>
                      </a:pPr>
                      <a:r>
                        <a:rPr lang="en-US" sz="1200" i="1" dirty="0">
                          <a:solidFill>
                            <a:schemeClr val="accent1"/>
                          </a:solidFill>
                          <a:latin typeface="Times New Roman" pitchFamily="34" charset="0"/>
                          <a:ea typeface="Times New Roman" pitchFamily="34" charset="-122"/>
                          <a:cs typeface="Times New Roman" pitchFamily="34" charset="-120"/>
                        </a:rPr>
                        <a:t>Zhou et al., 2022</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r>
              <a:tr h="274320">
                <a:tc>
                  <a:txBody>
                    <a:bodyPr/>
                    <a:lstStyle/>
                    <a:p>
                      <a:pPr indent="0" marL="0">
                        <a:buNone/>
                      </a:pPr>
                      <a:r>
                        <a:rPr lang="en-US" sz="1200" b="1" dirty="0">
                          <a:solidFill>
                            <a:schemeClr val="tx2"/>
                          </a:solidFill>
                          <a:latin typeface="Times New Roman" pitchFamily="34" charset="0"/>
                          <a:ea typeface="Times New Roman" pitchFamily="34" charset="-122"/>
                          <a:cs typeface="Times New Roman" pitchFamily="34" charset="-120"/>
                        </a:rPr>
                        <a:t>Global</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Times New Roman" pitchFamily="34" charset="0"/>
                          <a:ea typeface="Times New Roman" pitchFamily="34" charset="-122"/>
                          <a:cs typeface="Times New Roman" pitchFamily="34" charset="-120"/>
                        </a:rPr>
                        <a:t>All biomes</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3C8D5A"/>
                          </a:solidFill>
                          <a:latin typeface="Times New Roman" pitchFamily="34" charset="0"/>
                          <a:ea typeface="Times New Roman" pitchFamily="34" charset="-122"/>
                          <a:cs typeface="Times New Roman" pitchFamily="34" charset="-120"/>
                        </a:rPr>
                        <a:t>↑</a:t>
                      </a:r>
                      <a:endParaRPr lang="en-US" sz="14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D9EED9"/>
                    </a:solidFill>
                  </a:tcPr>
                </a:tc>
                <a:tc>
                  <a:txBody>
                    <a:bodyPr/>
                    <a:lstStyle/>
                    <a:p>
                      <a:pPr indent="0" marL="0">
                        <a:buNone/>
                      </a:pPr>
                      <a:r>
                        <a:rPr lang="en-US" sz="1200" dirty="0">
                          <a:solidFill>
                            <a:srgbClr val="000000"/>
                          </a:solidFill>
                          <a:latin typeface="Times New Roman" pitchFamily="34" charset="0"/>
                          <a:ea typeface="Times New Roman" pitchFamily="34" charset="-122"/>
                          <a:cs typeface="Times New Roman" pitchFamily="34" charset="-120"/>
                        </a:rPr>
                        <a:t>Aerosol GPP +1–2%</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FFFFFF"/>
                    </a:solidFill>
                  </a:tcPr>
                </a:tc>
                <a:tc>
                  <a:txBody>
                    <a:bodyPr/>
                    <a:lstStyle/>
                    <a:p>
                      <a:pPr indent="0" marL="0">
                        <a:buNone/>
                      </a:pPr>
                      <a:r>
                        <a:rPr lang="en-US" sz="1200" i="1" dirty="0">
                          <a:solidFill>
                            <a:schemeClr val="accent1"/>
                          </a:solidFill>
                          <a:latin typeface="Times New Roman" pitchFamily="34" charset="0"/>
                          <a:ea typeface="Times New Roman" pitchFamily="34" charset="-122"/>
                          <a:cs typeface="Times New Roman" pitchFamily="34" charset="-120"/>
                        </a:rPr>
                        <a:t>Strada &amp; Unger, 2016</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FFFFFF"/>
                    </a:solidFill>
                  </a:tcPr>
                </a:tc>
              </a:tr>
              <a:tr h="274320">
                <a:tc>
                  <a:txBody>
                    <a:bodyPr/>
                    <a:lstStyle/>
                    <a:p>
                      <a:pPr indent="0" marL="0">
                        <a:buNone/>
                      </a:pPr>
                      <a:r>
                        <a:rPr lang="en-US" sz="1200" b="1" dirty="0">
                          <a:solidFill>
                            <a:schemeClr val="tx2"/>
                          </a:solidFill>
                          <a:latin typeface="Times New Roman" pitchFamily="34" charset="0"/>
                          <a:ea typeface="Times New Roman" pitchFamily="34" charset="-122"/>
                          <a:cs typeface="Times New Roman" pitchFamily="34" charset="-120"/>
                        </a:rPr>
                        <a:t>Global</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c>
                  <a:txBody>
                    <a:bodyPr/>
                    <a:lstStyle/>
                    <a:p>
                      <a:pPr indent="0" marL="0">
                        <a:buNone/>
                      </a:pPr>
                      <a:r>
                        <a:rPr lang="en-US" sz="1200" dirty="0">
                          <a:solidFill>
                            <a:srgbClr val="000000"/>
                          </a:solidFill>
                          <a:latin typeface="Times New Roman" pitchFamily="34" charset="0"/>
                          <a:ea typeface="Times New Roman" pitchFamily="34" charset="-122"/>
                          <a:cs typeface="Times New Roman" pitchFamily="34" charset="-120"/>
                        </a:rPr>
                        <a:t>All biomes</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c>
                  <a:txBody>
                    <a:bodyPr/>
                    <a:lstStyle/>
                    <a:p>
                      <a:pPr algn="ctr" indent="0" marL="0">
                        <a:buNone/>
                      </a:pPr>
                      <a:r>
                        <a:rPr lang="en-US" sz="1400" b="1" dirty="0">
                          <a:solidFill>
                            <a:srgbClr val="3C8D5A"/>
                          </a:solidFill>
                          <a:latin typeface="Times New Roman" pitchFamily="34" charset="0"/>
                          <a:ea typeface="Times New Roman" pitchFamily="34" charset="-122"/>
                          <a:cs typeface="Times New Roman" pitchFamily="34" charset="-120"/>
                        </a:rPr>
                        <a:t>↑</a:t>
                      </a:r>
                      <a:endParaRPr lang="en-US" sz="14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D9EED9"/>
                    </a:solidFill>
                  </a:tcPr>
                </a:tc>
                <a:tc>
                  <a:txBody>
                    <a:bodyPr/>
                    <a:lstStyle/>
                    <a:p>
                      <a:pPr indent="0" marL="0">
                        <a:buNone/>
                      </a:pPr>
                      <a:r>
                        <a:rPr lang="en-US" sz="1200" dirty="0">
                          <a:solidFill>
                            <a:srgbClr val="000000"/>
                          </a:solidFill>
                          <a:latin typeface="Times New Roman" pitchFamily="34" charset="0"/>
                          <a:ea typeface="Times New Roman" pitchFamily="34" charset="-122"/>
                          <a:cs typeface="Times New Roman" pitchFamily="34" charset="-120"/>
                        </a:rPr>
                        <a:t>Diffuse effect raised land sink ~¼ (1960–1999)</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c>
                  <a:txBody>
                    <a:bodyPr/>
                    <a:lstStyle/>
                    <a:p>
                      <a:pPr indent="0" marL="0">
                        <a:buNone/>
                      </a:pPr>
                      <a:r>
                        <a:rPr lang="en-US" sz="1200" i="1" dirty="0">
                          <a:solidFill>
                            <a:schemeClr val="accent1"/>
                          </a:solidFill>
                          <a:latin typeface="Times New Roman" pitchFamily="34" charset="0"/>
                          <a:ea typeface="Times New Roman" pitchFamily="34" charset="-122"/>
                          <a:cs typeface="Times New Roman" pitchFamily="34" charset="-120"/>
                        </a:rPr>
                        <a:t>Mercado et al., 2009</a:t>
                      </a:r>
                      <a:endParaRPr lang="en-US" sz="1200" dirty="0">
                        <a:latin typeface="Times New Roman" charset="0"/>
                        <a:ea typeface="Times New Roman" charset="0"/>
                        <a:cs typeface="Times New Roman" charset="0"/>
                      </a:endParaRPr>
                    </a:p>
                  </a:txBody>
                  <a:tcPr marL="54864" marR="54864" marT="18288" marB="18288"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r>
            </a:tbl>
          </a:graphicData>
        </a:graphic>
      </p:graphicFrame>
      <p:sp>
        <p:nvSpPr>
          <p:cNvPr id="5" name="Effect legend"/>
          <p:cNvSpPr txBox="1"/>
          <p:nvPr/>
        </p:nvSpPr>
        <p:spPr>
          <a:xfrm>
            <a:off x="457200" y="5989320"/>
            <a:ext cx="7863840" cy="274320"/>
          </a:xfrm>
          <a:prstGeom prst="rect">
            <a:avLst/>
          </a:prstGeom>
          <a:noFill/>
          <a:ln/>
        </p:spPr>
        <p:txBody>
          <a:bodyPr wrap="square" lIns="0" tIns="0" rIns="0" bIns="0" rtlCol="0" anchor="ctr"/>
          <a:lstStyle/>
          <a:p>
            <a:pPr indent="0" marL="0">
              <a:buNone/>
            </a:pPr>
            <a:r>
              <a:rPr lang="en-US" sz="1200" b="1" dirty="0">
                <a:solidFill>
                  <a:srgbClr val="3C8D5A"/>
                </a:solidFill>
              </a:rPr>
              <a:t>↑ </a:t>
            </a:r>
            <a:r>
              <a:rPr lang="en-US" sz="1200" dirty="0">
                <a:solidFill>
                  <a:srgbClr val="1A1F24"/>
                </a:solidFill>
              </a:rPr>
              <a:t>increase   </a:t>
            </a:r>
            <a:r>
              <a:rPr lang="en-US" sz="1200" b="1" dirty="0">
                <a:solidFill>
                  <a:srgbClr val="5A6B78"/>
                </a:solidFill>
              </a:rPr>
              <a:t>↔ </a:t>
            </a:r>
            <a:r>
              <a:rPr lang="en-US" sz="1200" dirty="0">
                <a:solidFill>
                  <a:srgbClr val="1A1F24"/>
                </a:solidFill>
              </a:rPr>
              <a:t>no clear change   </a:t>
            </a:r>
            <a:r>
              <a:rPr lang="en-US" sz="1200" b="1" dirty="0">
                <a:solidFill>
                  <a:srgbClr val="B5452F"/>
                </a:solidFill>
              </a:rPr>
              <a:t>↓ </a:t>
            </a:r>
            <a:r>
              <a:rPr lang="en-US" sz="1200" dirty="0">
                <a:solidFill>
                  <a:srgbClr val="1A1F24"/>
                </a:solidFill>
              </a:rPr>
              <a:t>decrease   </a:t>
            </a:r>
            <a:r>
              <a:rPr lang="en-US" sz="1200" b="1" dirty="0">
                <a:solidFill>
                  <a:srgbClr val="B07400"/>
                </a:solidFill>
              </a:rPr>
              <a:t>↑/↓ </a:t>
            </a:r>
            <a:r>
              <a:rPr lang="en-US" sz="1200" dirty="0">
                <a:solidFill>
                  <a:srgbClr val="1A1F24"/>
                </a:solidFill>
              </a:rPr>
              <a:t>gain then loss at high AOD</a:t>
            </a:r>
            <a:endParaRPr lang="en-US" sz="1200" dirty="0"/>
          </a:p>
        </p:txBody>
      </p:sp>
      <p:sp>
        <p:nvSpPr>
          <p:cNvPr id="6" name="Rap figure card"/>
          <p:cNvSpPr/>
          <p:nvPr/>
        </p:nvSpPr>
        <p:spPr>
          <a:xfrm>
            <a:off x="9372600" y="1234440"/>
            <a:ext cx="2359152" cy="3163397"/>
          </a:xfrm>
          <a:prstGeom prst="roundRect">
            <a:avLst>
              <a:gd name="adj" fmla="val 2713"/>
            </a:avLst>
          </a:prstGeom>
          <a:solidFill>
            <a:schemeClr val="bg1"/>
          </a:solidFill>
          <a:ln w="9525">
            <a:solidFill>
              <a:schemeClr val="accent4">
                <a:alpha val="60000"/>
              </a:schemeClr>
            </a:solidFill>
            <a:prstDash val="solid"/>
          </a:ln>
          <a:effectLst>
            <a:outerShdw sx="100000" sy="100000" kx="0" ky="0" algn="bl" rotWithShape="0" blurRad="76200" dist="25400" dir="5400000">
              <a:srgbClr val="000000">
                <a:alpha val="12000"/>
              </a:srgbClr>
            </a:outerShdw>
          </a:effectLst>
        </p:spPr>
      </p:sp>
      <p:sp>
        <p:nvSpPr>
          <p:cNvPr id="7" name="Rap figure title"/>
          <p:cNvSpPr txBox="1"/>
          <p:nvPr/>
        </p:nvSpPr>
        <p:spPr>
          <a:xfrm>
            <a:off x="9509760" y="1325880"/>
            <a:ext cx="2084832" cy="987552"/>
          </a:xfrm>
          <a:prstGeom prst="rect">
            <a:avLst/>
          </a:prstGeom>
          <a:noFill/>
          <a:ln/>
        </p:spPr>
        <p:txBody>
          <a:bodyPr wrap="square" lIns="0" tIns="0" rIns="0" bIns="0" rtlCol="0" anchor="t"/>
          <a:lstStyle/>
          <a:p>
            <a:pPr indent="0" marL="0">
              <a:buNone/>
            </a:pPr>
            <a:r>
              <a:rPr lang="en-US" sz="1200" b="1" dirty="0">
                <a:solidFill>
                  <a:schemeClr val="tx2"/>
                </a:solidFill>
              </a:rPr>
              <a:t>Annual NPP change (g C m</a:t>
            </a:r>
            <a:r>
              <a:rPr lang="en-US" sz="1200" b="1" baseline="30000" dirty="0">
                <a:solidFill>
                  <a:schemeClr val="tx2"/>
                </a:solidFill>
              </a:rPr>
              <a:t>−2</a:t>
            </a:r>
            <a:r>
              <a:rPr lang="en-US" sz="1200" b="1" dirty="0">
                <a:solidFill>
                  <a:schemeClr val="tx2"/>
                </a:solidFill>
              </a:rPr>
              <a:t> day</a:t>
            </a:r>
            <a:r>
              <a:rPr lang="en-US" sz="1200" b="1" baseline="30000" dirty="0">
                <a:solidFill>
                  <a:schemeClr val="tx2"/>
                </a:solidFill>
              </a:rPr>
              <a:t>−1</a:t>
            </a:r>
            <a:r>
              <a:rPr lang="en-US" sz="1200" b="1" dirty="0">
                <a:solidFill>
                  <a:schemeClr val="tx2"/>
                </a:solidFill>
              </a:rPr>
              <a:t>) from biogenic secondary organic aerosol</a:t>
            </a:r>
            <a:endParaRPr lang="en-US" sz="1200" dirty="0"/>
          </a:p>
        </p:txBody>
      </p:sp>
      <p:pic>
        <p:nvPicPr>
          <p:cNvPr id="8" name="Rap figure" descr="Rap figure">    </p:cNvPr>
          <p:cNvPicPr>
            <a:picLocks noChangeAspect="1"/>
          </p:cNvPicPr>
          <p:nvPr/>
        </p:nvPicPr>
        <p:blipFill>
          <a:blip r:embed="rId1"/>
          <a:stretch>
            <a:fillRect/>
          </a:stretch>
        </p:blipFill>
        <p:spPr>
          <a:xfrm>
            <a:off x="9454896" y="2313432"/>
            <a:ext cx="2194560" cy="1426037"/>
          </a:xfrm>
          <a:prstGeom prst="rect">
            <a:avLst/>
          </a:prstGeom>
        </p:spPr>
      </p:pic>
      <p:sp>
        <p:nvSpPr>
          <p:cNvPr id="9" name="Rap figure caption"/>
          <p:cNvSpPr txBox="1"/>
          <p:nvPr/>
        </p:nvSpPr>
        <p:spPr>
          <a:xfrm>
            <a:off x="9509760" y="3812621"/>
            <a:ext cx="2084832" cy="228600"/>
          </a:xfrm>
          <a:prstGeom prst="rect">
            <a:avLst/>
          </a:prstGeom>
          <a:noFill/>
          <a:ln/>
        </p:spPr>
        <p:txBody>
          <a:bodyPr wrap="square" lIns="0" tIns="0" rIns="0" bIns="0" rtlCol="0" anchor="t"/>
          <a:lstStyle/>
          <a:p>
            <a:pPr indent="0" marL="0">
              <a:buNone/>
            </a:pPr>
            <a:r>
              <a:rPr lang="en-US" sz="1200" dirty="0">
                <a:solidFill>
                  <a:schemeClr val="tx1"/>
                </a:solidFill>
              </a:rPr>
              <a:t>Largest gains over forests</a:t>
            </a:r>
            <a:endParaRPr lang="en-US" sz="1200" dirty="0"/>
          </a:p>
        </p:txBody>
      </p:sp>
      <p:sp>
        <p:nvSpPr>
          <p:cNvPr id="10" name="Rap figure source"/>
          <p:cNvSpPr txBox="1"/>
          <p:nvPr/>
        </p:nvSpPr>
        <p:spPr>
          <a:xfrm>
            <a:off x="9509760" y="4041221"/>
            <a:ext cx="2084832" cy="246888"/>
          </a:xfrm>
          <a:prstGeom prst="rect">
            <a:avLst/>
          </a:prstGeom>
          <a:noFill/>
          <a:ln/>
        </p:spPr>
        <p:txBody>
          <a:bodyPr wrap="square" lIns="0" tIns="0" rIns="0" bIns="0" rtlCol="0" anchor="t"/>
          <a:lstStyle/>
          <a:p>
            <a:pPr indent="0" marL="0">
              <a:buNone/>
            </a:pPr>
            <a:r>
              <a:rPr lang="en-US" sz="1200" i="1" dirty="0">
                <a:solidFill>
                  <a:schemeClr val="accent1"/>
                </a:solidFill>
              </a:rPr>
              <a:t>Source: Rap et al., 2018, Fig. 3a</a:t>
            </a:r>
            <a:endParaRPr lang="en-US" sz="1200" dirty="0"/>
          </a:p>
        </p:txBody>
      </p:sp>
      <p:sp>
        <p:nvSpPr>
          <p:cNvPr id="11" name="Open pattern strip"/>
          <p:cNvSpPr/>
          <p:nvPr/>
        </p:nvSpPr>
        <p:spPr>
          <a:xfrm>
            <a:off x="9372600" y="4617720"/>
            <a:ext cx="2359152" cy="1600200"/>
          </a:xfrm>
          <a:prstGeom prst="roundRect">
            <a:avLst>
              <a:gd name="adj" fmla="val 3429"/>
            </a:avLst>
          </a:prstGeom>
          <a:solidFill>
            <a:schemeClr val="bg2"/>
          </a:solidFill>
          <a:ln w="12700">
            <a:solidFill>
              <a:schemeClr val="bg2"/>
            </a:solidFill>
            <a:prstDash val="solid"/>
          </a:ln>
        </p:spPr>
      </p:sp>
      <p:sp>
        <p:nvSpPr>
          <p:cNvPr id="12" name="Open pattern strip text"/>
          <p:cNvSpPr txBox="1"/>
          <p:nvPr/>
        </p:nvSpPr>
        <p:spPr>
          <a:xfrm>
            <a:off x="9509760" y="4617720"/>
            <a:ext cx="2084832" cy="1600200"/>
          </a:xfrm>
          <a:prstGeom prst="rect">
            <a:avLst/>
          </a:prstGeom>
          <a:noFill/>
          <a:ln/>
        </p:spPr>
        <p:txBody>
          <a:bodyPr wrap="square" lIns="0" tIns="0" rIns="0" bIns="0" rtlCol="0" anchor="ctr"/>
          <a:lstStyle/>
          <a:p>
            <a:pPr indent="0" marL="0">
              <a:buNone/>
            </a:pPr>
            <a:r>
              <a:rPr lang="en-US" sz="1200" b="1" dirty="0">
                <a:solidFill>
                  <a:schemeClr val="tx1"/>
                </a:solidFill>
              </a:rPr>
              <a:t>Pattern:</a:t>
            </a:r>
            <a:r>
              <a:rPr lang="en-US" sz="1200" dirty="0">
                <a:solidFill>
                  <a:schemeClr val="tx1"/>
                </a:solidFill>
              </a:rPr>
              <a:t> grasslands, savannas and smoky wetlands gain little or lose; globally the net effect is a modest gain.</a:t>
            </a:r>
            <a:endParaRPr lang="en-US" sz="1200" dirty="0"/>
          </a:p>
        </p:txBody>
      </p:sp>
      <p:sp>
        <p:nvSpPr>
          <p:cNvPr id="25" name="Slide Number Placeholder 0"/>
          <p:cNvSpPr>
            <a:spLocks noGrp="1"/>
          </p:cNvSpPr>
          <p:nvPr>
            <p:ph type="sldNum" sz="quarter" idx="4294967295"/>
          </p:nvPr>
        </p:nvSpPr>
        <p:spPr>
          <a:xfrm>
            <a:off x="11183112" y="6400800"/>
            <a:ext cx="548640" cy="292608"/>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1"/>
                </a:solidFill>
              </a:defRPr>
            </a:lvl1pPr>
          </a:lstStyle>
          <a:p>
            <a:pPr algn="r"/>
            <a:fld id="{F7021451-1387-4CA6-816F-3879F97B5CBC}" type="slidenum">
              <a:rPr b="0" lang="en-US"/>
              <a:t>2</a:t>
            </a:fld>
            <a:endParaRPr lang="en-US"/>
          </a:p>
        </p:txBody>
      </p:sp>
    </p:spTree>
  </p:cSld>
  <p:clrMapOvr>
    <a:masterClrMapping/>
  </p:clrMapOvr>
</p:sld>
</file>

<file path=ppt/theme/theme1.xml><?xml version="1.0" encoding="utf-8"?>
<a:theme xmlns:a="http://schemas.openxmlformats.org/drawingml/2006/main" name="Aerosol Haze TNR">
  <a:themeElements>
    <a:clrScheme name="Aerosol Haze TNR">
      <a:dk1>
        <a:srgbClr val="1A1F24"/>
      </a:dk1>
      <a:lt1>
        <a:srgbClr val="FFFFFF"/>
      </a:lt1>
      <a:dk2>
        <a:srgbClr val="16384A"/>
      </a:dk2>
      <a:lt2>
        <a:srgbClr val="EDF2F5"/>
      </a:lt2>
      <a:accent1>
        <a:srgbClr val="1F6F8B"/>
      </a:accent1>
      <a:accent2>
        <a:srgbClr val="D98E04"/>
      </a:accent2>
      <a:accent3>
        <a:srgbClr val="3C8D5A"/>
      </a:accent3>
      <a:accent4>
        <a:srgbClr val="8A9BA8"/>
      </a:accent4>
      <a:accent5>
        <a:srgbClr val="B5452F"/>
      </a:accent5>
      <a:accent6>
        <a:srgbClr val="5E4B8B"/>
      </a:accent6>
      <a:hlink>
        <a:srgbClr val="1F6F8B"/>
      </a:hlink>
      <a:folHlink>
        <a:srgbClr val="5E4B8B"/>
      </a:folHlink>
    </a:clrScheme>
    <a:fontScheme name="Aerosol Haze TNR">
      <a:majorFont>
        <a:latin typeface="Times New Roma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imes New Roman"/>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Remote Sensing for Quantifying Aerosol Impact on Terrestrial Ecosystem Productivity</dc:title>
  <dc:subject>PptxGenJS Presentation</dc:subject>
  <dc:creator>PhD credit seminar</dc:creator>
  <cp:lastModifiedBy>PhD credit seminar</cp:lastModifiedBy>
  <cp:revision>1</cp:revision>
  <dcterms:created xsi:type="dcterms:W3CDTF">2026-10-25T10:57:14Z</dcterms:created>
  <dcterms:modified xsi:type="dcterms:W3CDTF">2026-10-25T10:57:14Z</dcterms:modified>
</cp:coreProperties>
</file>