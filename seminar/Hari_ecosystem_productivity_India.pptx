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vidence" id="{2a5ac225-5c08-5a45-699b-c238130c4c4e}">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Hari and Tyagi's 2022 study, which used the CASA model to estimate NPP across India's fifteen agroecological zones from 2001 to 2020.
LEFT SIDE — THE MAP:
The map shows the pixel-level spatial trend of NPP. Green pixels gained productivity; brown pixels lost it. The black-shaded regions are where the NPP trend was statistically correlated with AOD at p &lt; 0.05 — these are the aerosol-sensitive zones. Notice they concentrate over the Indo-Gangetic corridor and eastern India — the aerosol-heavy belt.
RIGHT SIDE — THE TABLE:
This groups the fifteen zones by their zone-averaged NPP trend from the Innovative Trend Analysis. A zone listed as 'Declining' means its area-averaged NPP fell over the two decades. Note this is the zone average, not pixel-level — so a 'Declining' zone like ECP can still have green pixels on the map, with the decline driven by specific aerosol-sensitive sub-regions.
THE 11% FIGURE:
This is the aerosol penalty. The study overlaid the AOD-sensitive pixels (black zones from the map) onto the four Gangetic agroecological zones — LGP, MGP, TGP, UGP. Within those sensitive pixels, NPP was about 11% lower than the overall zone average. This quantifies how much aerosol loading dragged down cropland productivity relative to what it would have been without the aerosol effect.
KEY MECHANISM:
Forest canopies are multi-layered and vertically complex. Moderate aerosol scattering sends diffuse light deeper into the canopy, reaching photon-efficient shaded leaves. NPP peaks at AOD 0.38, effect persists to 0.51.
Croplands have flat, single-layer canopy — no vertical structure for diffuse light to exploit. Diffuse PAR in agro zones rises only up to AOD 0.54, then falls. These zones routinely exceed that threshold — MGP averages 0.57, TGP peaks at 0.91 during monsoon.
MAXIMUM NEGATIVE EFFECT:
Western Plateau (WPlat — MP, Maharashtra) and Eastern Plateau (EPlat — Chhattisgarh, Jharkhand, Orissa) showed the maximum negative effect, particularly in post-monsoon season. Post-monsoon should be peak NPP season (ideal conditions after monsoon rains), but seasonal aerosol load peaks at the same time. Even though WPlat has relatively low mean AOD (0.38), it exceeds the optimal threshold for the plateau's mixed vegetation canopy, suppressing the most productive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7 · Evidence</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Ecosystem-wise productivity trends in India</a:t>
            </a:r>
            <a:endParaRPr lang="en-US" sz="2800" dirty="0"/>
          </a:p>
        </p:txBody>
      </p:sp>
      <p:sp>
        <p:nvSpPr>
          <p:cNvPr id="4" name="fig card"/>
          <p:cNvSpPr/>
          <p:nvPr/>
        </p:nvSpPr>
        <p:spPr>
          <a:xfrm>
            <a:off x="457200" y="1188720"/>
            <a:ext cx="5029200" cy="5120640"/>
          </a:xfrm>
          <a:prstGeom prst="roundRect">
            <a:avLst>
              <a:gd name="adj" fmla="val 1273"/>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5" name="fig title"/>
          <p:cNvSpPr txBox="1"/>
          <p:nvPr/>
        </p:nvSpPr>
        <p:spPr>
          <a:xfrm>
            <a:off x="594360" y="1252728"/>
            <a:ext cx="4754880" cy="292608"/>
          </a:xfrm>
          <a:prstGeom prst="rect">
            <a:avLst/>
          </a:prstGeom>
          <a:noFill/>
          <a:ln/>
        </p:spPr>
        <p:txBody>
          <a:bodyPr wrap="square" lIns="0" tIns="0" rIns="0" bIns="0" rtlCol="0" anchor="ctr"/>
          <a:lstStyle/>
          <a:p>
            <a:pPr indent="0" marL="0">
              <a:buNone/>
            </a:pPr>
            <a:r>
              <a:rPr lang="en-US" sz="1300" b="1" dirty="0">
                <a:solidFill>
                  <a:schemeClr val="tx2"/>
                </a:solidFill>
              </a:rPr>
              <a:t>Spatial NPP trend (2001–2020)</a:t>
            </a:r>
            <a:endParaRPr lang="en-US" sz="1300" dirty="0"/>
          </a:p>
        </p:txBody>
      </p:sp>
      <p:pic>
        <p:nvPicPr>
          <p:cNvPr id="6" name="hari map" descr="NPP spatial trend India">    </p:cNvPr>
          <p:cNvPicPr>
            <a:picLocks noChangeAspect="1"/>
          </p:cNvPicPr>
          <p:nvPr/>
        </p:nvPicPr>
        <p:blipFill>
          <a:blip r:embed="rId1"/>
          <a:stretch>
            <a:fillRect/>
          </a:stretch>
        </p:blipFill>
        <p:spPr>
          <a:xfrm>
            <a:off x="685800" y="1572768"/>
            <a:ext cx="3931920" cy="3374136"/>
          </a:xfrm>
          <a:prstGeom prst="rect">
            <a:avLst/>
          </a:prstGeom>
        </p:spPr>
      </p:pic>
      <p:sp>
        <p:nvSpPr>
          <p:cNvPr id="7" name="legend bg"/>
          <p:cNvSpPr/>
          <p:nvPr/>
        </p:nvSpPr>
        <p:spPr>
          <a:xfrm>
            <a:off x="594360" y="5074920"/>
            <a:ext cx="4754880" cy="1143000"/>
          </a:xfrm>
          <a:prstGeom prst="roundRect">
            <a:avLst>
              <a:gd name="adj" fmla="val 4800"/>
            </a:avLst>
          </a:prstGeom>
          <a:solidFill>
            <a:schemeClr val="bg2"/>
          </a:solidFill>
          <a:ln w="12700">
            <a:solidFill>
              <a:schemeClr val="bg2"/>
            </a:solidFill>
            <a:prstDash val="solid"/>
          </a:ln>
        </p:spPr>
      </p:sp>
      <p:sp>
        <p:nvSpPr>
          <p:cNvPr id="8" name="legend text"/>
          <p:cNvSpPr txBox="1"/>
          <p:nvPr/>
        </p:nvSpPr>
        <p:spPr>
          <a:xfrm>
            <a:off x="731520" y="5120640"/>
            <a:ext cx="4480560" cy="1005840"/>
          </a:xfrm>
          <a:prstGeom prst="rect">
            <a:avLst/>
          </a:prstGeom>
          <a:noFill/>
          <a:ln/>
        </p:spPr>
        <p:txBody>
          <a:bodyPr wrap="square" lIns="0" tIns="0" rIns="0" bIns="0" rtlCol="0" anchor="ctr"/>
          <a:lstStyle/>
          <a:p>
            <a:pPr indent="0" marL="0">
              <a:buNone/>
            </a:pPr>
            <a:r>
              <a:rPr lang="en-US" sz="1200" b="1" dirty="0">
                <a:solidFill>
                  <a:schemeClr val="tx1"/>
                </a:solidFill>
              </a:rPr>
              <a:t>Map:</a:t>
            </a:r>
            <a:r>
              <a:rPr lang="en-US" sz="1200" dirty="0">
                <a:solidFill>
                  <a:schemeClr val="tx1"/>
                </a:solidFill>
              </a:rPr>
              <a:t> green = NPP increase; brown = NPP decrease</a:t>
            </a:r>
            <a:endParaRPr lang="en-US" sz="1200" dirty="0"/>
          </a:p>
          <a:p>
            <a:pPr indent="0" marL="0">
              <a:buNone/>
            </a:pPr>
            <a:r>
              <a:rPr lang="en-US" sz="1200" b="1" dirty="0">
                <a:solidFill>
                  <a:schemeClr val="tx1"/>
                </a:solidFill>
              </a:rPr>
              <a:t>Black shading:</a:t>
            </a:r>
            <a:r>
              <a:rPr lang="en-US" sz="1200" dirty="0">
                <a:solidFill>
                  <a:schemeClr val="tx1"/>
                </a:solidFill>
              </a:rPr>
              <a:t> zones where NPP trend is significantly linked to AOD (p &lt; 0.05)</a:t>
            </a:r>
            <a:endParaRPr lang="en-US" sz="1200" dirty="0"/>
          </a:p>
          <a:p>
            <a:pPr indent="0" marL="0">
              <a:buNone/>
            </a:pPr>
            <a:r>
              <a:rPr lang="en-US" sz="1200" i="1" dirty="0">
                <a:solidFill>
                  <a:schemeClr val="accent1"/>
                </a:solidFill>
              </a:rPr>
              <a:t>Source: Hari &amp; Tyagi, 2022, Fig. 5</a:t>
            </a:r>
            <a:endParaRPr lang="en-US" sz="1200" dirty="0"/>
          </a:p>
        </p:txBody>
      </p:sp>
      <p:sp>
        <p:nvSpPr>
          <p:cNvPr id="9" name="tbl1 heading"/>
          <p:cNvSpPr txBox="1"/>
          <p:nvPr/>
        </p:nvSpPr>
        <p:spPr>
          <a:xfrm>
            <a:off x="5760720" y="1188720"/>
            <a:ext cx="5760720" cy="274320"/>
          </a:xfrm>
          <a:prstGeom prst="rect">
            <a:avLst/>
          </a:prstGeom>
          <a:noFill/>
          <a:ln/>
        </p:spPr>
        <p:txBody>
          <a:bodyPr wrap="square" lIns="0" tIns="0" rIns="0" bIns="0" rtlCol="0" anchor="ctr"/>
          <a:lstStyle/>
          <a:p>
            <a:pPr indent="0" marL="0">
              <a:buNone/>
            </a:pPr>
            <a:r>
              <a:rPr lang="en-US" sz="1300" b="1" dirty="0">
                <a:solidFill>
                  <a:schemeClr val="tx2"/>
                </a:solidFill>
              </a:rPr>
              <a:t>Zone-level NPP trend (ITA, 2001–2020)</a:t>
            </a:r>
            <a:endParaRPr lang="en-US" sz="1300" dirty="0"/>
          </a:p>
        </p:txBody>
      </p:sp>
      <p:graphicFrame>
        <p:nvGraphicFramePr>
          <p:cNvPr id="2" name="tbl1"/>
          <p:cNvGraphicFramePr>
            <a:graphicFrameLocks noGrp="1"/>
          </p:cNvGraphicFramePr>
          <p:nvPr>
            <p:extLst>
              <p:ext uri="{D42A27DB-BD31-4B8C-83A1-F6EECF244321}">
                <p14:modId xmlns:p14="http://schemas.microsoft.com/office/powerpoint/2010/main" val="1579011935"/>
              </p:ext>
            </p:extLst>
          </p:nvPr>
        </p:nvGraphicFramePr>
        <p:xfrm>
          <a:off x="5760720" y="1508760"/>
          <a:ext cx="5943600" cy="914400"/>
        </p:xfrm>
        <a:graphic>
          <a:graphicData uri="http://schemas.openxmlformats.org/drawingml/2006/table">
            <a:tbl>
              <a:tblPr/>
              <a:tblGrid>
                <a:gridCol w="1554480"/>
                <a:gridCol w="4389120"/>
              </a:tblGrid>
              <a:tr h="384048">
                <a:tc>
                  <a:txBody>
                    <a:bodyPr/>
                    <a:lstStyle/>
                    <a:p>
                      <a:pPr indent="0" marL="0">
                        <a:buNone/>
                      </a:pPr>
                      <a:r>
                        <a:rPr lang="en-US" sz="1400" b="1" dirty="0">
                          <a:solidFill>
                            <a:schemeClr val="bg1"/>
                          </a:solidFill>
                        </a:rPr>
                        <a:t>Trend</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Agroecological zones</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tx2"/>
                    </a:solidFill>
                  </a:tcPr>
                </a:tc>
              </a:tr>
              <a:tr h="438912">
                <a:tc>
                  <a:txBody>
                    <a:bodyPr/>
                    <a:lstStyle/>
                    <a:p>
                      <a:pPr indent="0" marL="0">
                        <a:buNone/>
                      </a:pPr>
                      <a:r>
                        <a:rPr lang="en-US" sz="1400" b="1" dirty="0">
                          <a:solidFill>
                            <a:schemeClr val="tx2"/>
                          </a:solidFill>
                        </a:rPr>
                        <a:t>Declining</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LGP, MGP, TGP, ECP, EPlat, EH, WCP</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r>
              <a:tr h="438912">
                <a:tc>
                  <a:txBody>
                    <a:bodyPr/>
                    <a:lstStyle/>
                    <a:p>
                      <a:pPr indent="0" marL="0">
                        <a:buNone/>
                      </a:pPr>
                      <a:r>
                        <a:rPr lang="en-US" sz="1400" b="1" dirty="0">
                          <a:solidFill>
                            <a:schemeClr val="tx2"/>
                          </a:solidFill>
                        </a:rPr>
                        <a:t>Increasing</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CPlat, SPlat, GP, UGP, WP</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r>
              <a:tr h="438912">
                <a:tc>
                  <a:txBody>
                    <a:bodyPr/>
                    <a:lstStyle/>
                    <a:p>
                      <a:pPr indent="0" marL="0">
                        <a:buNone/>
                      </a:pPr>
                      <a:r>
                        <a:rPr lang="en-US" sz="1400" b="1" dirty="0">
                          <a:solidFill>
                            <a:schemeClr val="tx2"/>
                          </a:solidFill>
                        </a:rPr>
                        <a:t>India total</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1.09 → 1.33 Pg C yr⁻¹; decadal trend −2.51%</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r>
            </a:tbl>
          </a:graphicData>
        </a:graphic>
      </p:graphicFrame>
      <p:sp>
        <p:nvSpPr>
          <p:cNvPr id="11" name="decadal note bg"/>
          <p:cNvSpPr/>
          <p:nvPr/>
        </p:nvSpPr>
        <p:spPr>
          <a:xfrm>
            <a:off x="5760720" y="3218688"/>
            <a:ext cx="5760720" cy="548640"/>
          </a:xfrm>
          <a:prstGeom prst="roundRect">
            <a:avLst>
              <a:gd name="adj" fmla="val 10000"/>
            </a:avLst>
          </a:prstGeom>
          <a:solidFill>
            <a:schemeClr val="bg2"/>
          </a:solidFill>
          <a:ln w="12700">
            <a:solidFill>
              <a:schemeClr val="bg2"/>
            </a:solidFill>
            <a:prstDash val="solid"/>
          </a:ln>
        </p:spPr>
      </p:sp>
      <p:sp>
        <p:nvSpPr>
          <p:cNvPr id="12" name="decadal note"/>
          <p:cNvSpPr txBox="1"/>
          <p:nvPr/>
        </p:nvSpPr>
        <p:spPr>
          <a:xfrm>
            <a:off x="5897880" y="3246120"/>
            <a:ext cx="5486400" cy="475488"/>
          </a:xfrm>
          <a:prstGeom prst="rect">
            <a:avLst/>
          </a:prstGeom>
          <a:noFill/>
          <a:ln/>
        </p:spPr>
        <p:txBody>
          <a:bodyPr wrap="square" lIns="0" tIns="0" rIns="0" bIns="0" rtlCol="0" anchor="ctr"/>
          <a:lstStyle/>
          <a:p>
            <a:pPr indent="0" marL="0">
              <a:buNone/>
            </a:pPr>
            <a:r>
              <a:rPr lang="en-US" sz="1300" dirty="0">
                <a:solidFill>
                  <a:schemeClr val="tx1"/>
                </a:solidFill>
              </a:rPr>
              <a:t>−2.51% decadal trend = rate of NPP increase is </a:t>
            </a:r>
            <a:r>
              <a:rPr lang="en-US" sz="1300" b="1" dirty="0">
                <a:solidFill>
                  <a:schemeClr val="tx1"/>
                </a:solidFill>
              </a:rPr>
              <a:t>slowing</a:t>
            </a:r>
            <a:r>
              <a:rPr lang="en-US" sz="1300" dirty="0">
                <a:solidFill>
                  <a:schemeClr val="tx1"/>
                </a:solidFill>
              </a:rPr>
              <a:t>; India greens but progressively less rapidly</a:t>
            </a:r>
            <a:endParaRPr lang="en-US" sz="1300" dirty="0"/>
          </a:p>
        </p:txBody>
      </p:sp>
      <p:sp>
        <p:nvSpPr>
          <p:cNvPr id="13" name="findings heading"/>
          <p:cNvSpPr txBox="1"/>
          <p:nvPr/>
        </p:nvSpPr>
        <p:spPr>
          <a:xfrm>
            <a:off x="5760720" y="3886200"/>
            <a:ext cx="5760720" cy="274320"/>
          </a:xfrm>
          <a:prstGeom prst="rect">
            <a:avLst/>
          </a:prstGeom>
          <a:noFill/>
          <a:ln/>
        </p:spPr>
        <p:txBody>
          <a:bodyPr wrap="square" lIns="0" tIns="0" rIns="0" bIns="0" rtlCol="0" anchor="ctr"/>
          <a:lstStyle/>
          <a:p>
            <a:pPr indent="0" marL="0">
              <a:buNone/>
            </a:pPr>
            <a:r>
              <a:rPr lang="en-US" sz="1300" b="1" dirty="0">
                <a:solidFill>
                  <a:schemeClr val="tx2"/>
                </a:solidFill>
              </a:rPr>
              <a:t>Key findings from AOD–NPP sensitivity analysis</a:t>
            </a:r>
            <a:endParaRPr lang="en-US" sz="1300" dirty="0"/>
          </a:p>
        </p:txBody>
      </p:sp>
      <p:sp>
        <p:nvSpPr>
          <p:cNvPr id="14" name="findings text"/>
          <p:cNvSpPr txBox="1"/>
          <p:nvPr/>
        </p:nvSpPr>
        <p:spPr>
          <a:xfrm>
            <a:off x="5897880" y="4206240"/>
            <a:ext cx="5486400" cy="1828800"/>
          </a:xfrm>
          <a:prstGeom prst="rect">
            <a:avLst/>
          </a:prstGeom>
          <a:noFill/>
          <a:ln/>
        </p:spPr>
        <p:txBody>
          <a:bodyPr wrap="square" lIns="0" tIns="0" rIns="0" bIns="0" rtlCol="0" anchor="t"/>
          <a:lstStyle/>
          <a:p>
            <a:pPr marL="177800" indent="-177800">
              <a:buSzPct val="100000"/>
              <a:buChar char="•"/>
            </a:pPr>
            <a:r>
              <a:rPr lang="en-US" sz="1300" dirty="0">
                <a:solidFill>
                  <a:schemeClr val="tx1"/>
                </a:solidFill>
              </a:rPr>
              <a:t>In forest ecosystems, NPP peaks at AOD 0.38; positive effect persists up to AOD 0.51</a:t>
            </a:r>
            <a:endParaRPr lang="en-US" sz="1300" dirty="0"/>
          </a:p>
          <a:p>
            <a:pPr marL="177800" indent="-177800">
              <a:buSzPct val="100000"/>
              <a:buChar char="•"/>
            </a:pPr>
            <a:r>
              <a:rPr lang="en-US" sz="1300" dirty="0">
                <a:solidFill>
                  <a:schemeClr val="tx1"/>
                </a:solidFill>
              </a:rPr>
              <a:t>In agro zones, diffuse PAR increases with AOD only up to ≈0.54, then declines</a:t>
            </a:r>
            <a:endParaRPr lang="en-US" sz="1300" dirty="0"/>
          </a:p>
          <a:p>
            <a:pPr marL="177800" indent="-177800">
              <a:buSzPct val="100000"/>
              <a:buChar char="•"/>
            </a:pPr>
            <a:r>
              <a:rPr lang="en-US" sz="1300" dirty="0">
                <a:solidFill>
                  <a:schemeClr val="tx1"/>
                </a:solidFill>
              </a:rPr>
              <a:t>Within AOD-sensitive pixels of Gangetic agro zones (LGP, MGP, TGP, UGP), NPP was ~11% lower than zone average — quantifying the aerosol penalty on cropland</a:t>
            </a:r>
            <a:endParaRPr lang="en-US" sz="1300" dirty="0"/>
          </a:p>
          <a:p>
            <a:pPr marL="177800" indent="-177800">
              <a:buSzPct val="100000"/>
              <a:buChar char="•"/>
            </a:pPr>
            <a:r>
              <a:rPr lang="en-US" sz="1300" dirty="0">
                <a:solidFill>
                  <a:schemeClr val="tx1"/>
                </a:solidFill>
              </a:rPr>
              <a:t>Maximum negative effect: Western and Eastern Plateau, post-monsoon season (peak seasonal aerosol load)</a:t>
            </a:r>
            <a:endParaRPr lang="en-US" sz="1300" dirty="0"/>
          </a:p>
        </p:txBody>
      </p:sp>
      <p:sp>
        <p:nvSpPr>
          <p:cNvPr id="15" name="pattern strip"/>
          <p:cNvSpPr/>
          <p:nvPr/>
        </p:nvSpPr>
        <p:spPr>
          <a:xfrm>
            <a:off x="457200" y="6355080"/>
            <a:ext cx="11274552" cy="438912"/>
          </a:xfrm>
          <a:prstGeom prst="roundRect">
            <a:avLst>
              <a:gd name="adj" fmla="val 12500"/>
            </a:avLst>
          </a:prstGeom>
          <a:solidFill>
            <a:schemeClr val="bg2"/>
          </a:solidFill>
          <a:ln w="12700">
            <a:solidFill>
              <a:schemeClr val="bg2"/>
            </a:solidFill>
            <a:prstDash val="solid"/>
          </a:ln>
        </p:spPr>
      </p:sp>
      <p:sp>
        <p:nvSpPr>
          <p:cNvPr id="16" name="pattern strip text"/>
          <p:cNvSpPr txBox="1"/>
          <p:nvPr/>
        </p:nvSpPr>
        <p:spPr>
          <a:xfrm>
            <a:off x="594360" y="6355080"/>
            <a:ext cx="11000232" cy="438912"/>
          </a:xfrm>
          <a:prstGeom prst="rect">
            <a:avLst/>
          </a:prstGeom>
          <a:noFill/>
          <a:ln/>
        </p:spPr>
        <p:txBody>
          <a:bodyPr wrap="square" lIns="0" tIns="0" rIns="0" bIns="0" rtlCol="0" anchor="ctr"/>
          <a:lstStyle/>
          <a:p>
            <a:pPr indent="0" marL="0">
              <a:buNone/>
            </a:pPr>
            <a:r>
              <a:rPr lang="en-US" sz="1400" b="1" dirty="0">
                <a:solidFill>
                  <a:schemeClr val="tx1"/>
                </a:solidFill>
              </a:rPr>
              <a:t>Pattern:</a:t>
            </a:r>
            <a:r>
              <a:rPr lang="en-US" sz="1400" dirty="0">
                <a:solidFill>
                  <a:schemeClr val="tx1"/>
                </a:solidFill>
              </a:rPr>
              <a:t> India is still greening, but the pace is decelerating; high-AOD cropland zones lose NPP while forests gain under moderate aerosol</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Aerosol Haze TNR">
  <a:themeElements>
    <a:clrScheme name="Aerosol Haze TNR">
      <a:dk1>
        <a:srgbClr val="1A1F24"/>
      </a:dk1>
      <a:lt1>
        <a:srgbClr val="FFFFFF"/>
      </a:lt1>
      <a:dk2>
        <a:srgbClr val="16384A"/>
      </a:dk2>
      <a:lt2>
        <a:srgbClr val="EDF2F5"/>
      </a:lt2>
      <a:accent1>
        <a:srgbClr val="1F6F8B"/>
      </a:accent1>
      <a:accent2>
        <a:srgbClr val="D98E04"/>
      </a:accent2>
      <a:accent3>
        <a:srgbClr val="3C8D5A"/>
      </a:accent3>
      <a:accent4>
        <a:srgbClr val="8A9BA8"/>
      </a:accent4>
      <a:accent5>
        <a:srgbClr val="B5452F"/>
      </a:accent5>
      <a:accent6>
        <a:srgbClr val="5E4B8B"/>
      </a:accent6>
      <a:hlink>
        <a:srgbClr val="1F6F8B"/>
      </a:hlink>
      <a:folHlink>
        <a:srgbClr val="5E4B8B"/>
      </a:folHlink>
    </a:clrScheme>
    <a:fontScheme name="Aerosol Haze TNR">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Sensing for Quantifying Aerosol Impact on Terrestrial Ecosystem Productivity</dc:title>
  <dc:subject>PptxGenJS Presentation</dc:subject>
  <dc:creator>PhD credit seminar</dc:creator>
  <cp:lastModifiedBy>PhD credit seminar</cp:lastModifiedBy>
  <cp:revision>1</cp:revision>
  <dcterms:created xsi:type="dcterms:W3CDTF">2026-10-25T15:18:27Z</dcterms:created>
  <dcterms:modified xsi:type="dcterms:W3CDTF">2026-10-25T15:18:27Z</dcterms:modified>
</cp:coreProperties>
</file>