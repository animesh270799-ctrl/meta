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vidence" id="{07cdcf92-dcae-e359-fc02-70027caa0214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presents Hari and Tyagi's 2022 study, which used the CASA model to estimate NPP across India's fifteen agroecological zones from 2001 to 2020.
LEFT SIDE — THE MAP:
The map shows the pixel-level spatial trend of NPP. Green pixels gained productivity; brown pixels lost it. The black-shaded regions are where the NPP trend was statistically correlated with AOD at p &lt; 0.05 — these are the aerosol-sensitive zones. Notice they concentrate over the Indo-Gangetic corridor and eastern India — the aerosol-heavy belt.
RIGHT SIDE — THE TABLE:
This groups the fifteen zones by their zone-averaged NPP trend from the Innovative Trend Analysis. A zone listed as 'Declining' means its area-averaged NPP fell over the two decades. Note this is the zone average, not pixel-level — so a 'Declining' zone like ECP can still have green pixels on the map, with the decline driven by specific aerosol-sensitive sub-regions.
THE 11% FIGURE:
This is the aerosol penalty. The study overlaid the AOD-sensitive pixels (black zones from the map) onto the four Gangetic agroecological zones — LGP, MGP, TGP, UGP. Within those sensitive pixels, NPP was about 11% lower than the overall zone average. This quantifies how much aerosol loading dragged down cropland productivity relative to what it would have been without the aerosol effect.
KEY MECHANISM:
Forest canopies are multi-layered and vertically complex. Moderate aerosol scattering sends diffuse light deeper into the canopy, reaching photon-efficient shaded leaves. NPP peaks at AOD 0.38, effect persists to 0.51.
Croplands have flat, single-layer canopy — no vertical structure for diffuse light to exploit. Diffuse PAR in agro zones rises only up to AOD 0.54, then falls. These zones routinely exceed that threshold — MGP averages 0.57, TGP peaks at 0.91 during monsoon.
MAXIMUM NEGATIVE EFFECT:
Western Plateau (WPlat) and Eastern Plateau (EPlat) showed the maximum negative effect, particularly in post-monsoon season. This is because post-monsoon should be peak NPP season (ideal conditions after monsoon rains), but aerosol loading from biomass burning and industrial emissions peaks at the same time, suppressing the most productive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11274552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11274552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 · Evidence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Ecosystem-wise productivity trends in India</a:t>
            </a:r>
            <a:endParaRPr lang="en-US" sz="2800" dirty="0"/>
          </a:p>
        </p:txBody>
      </p:sp>
      <p:sp>
        <p:nvSpPr>
          <p:cNvPr id="4" name="fig card"/>
          <p:cNvSpPr/>
          <p:nvPr/>
        </p:nvSpPr>
        <p:spPr>
          <a:xfrm>
            <a:off x="457200" y="1188720"/>
            <a:ext cx="5029200" cy="5120640"/>
          </a:xfrm>
          <a:prstGeom prst="roundRect">
            <a:avLst>
              <a:gd name="adj" fmla="val 1273"/>
            </a:avLst>
          </a:prstGeom>
          <a:solidFill>
            <a:schemeClr val="bg1"/>
          </a:solidFill>
          <a:ln w="9525">
            <a:solidFill>
              <a:schemeClr val="accent4">
                <a:alpha val="60000"/>
              </a:schemeClr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fig title"/>
          <p:cNvSpPr txBox="1"/>
          <p:nvPr/>
        </p:nvSpPr>
        <p:spPr>
          <a:xfrm>
            <a:off x="594360" y="12527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Spatial NPP trend (2001–2020)</a:t>
            </a:r>
            <a:endParaRPr lang="en-US" sz="1300" dirty="0"/>
          </a:p>
        </p:txBody>
      </p:sp>
      <p:pic>
        <p:nvPicPr>
          <p:cNvPr id="6" name="hari map" descr="NPP spatial trend Ind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3931920" cy="3374136"/>
          </a:xfrm>
          <a:prstGeom prst="rect">
            <a:avLst/>
          </a:prstGeom>
        </p:spPr>
      </p:pic>
      <p:sp>
        <p:nvSpPr>
          <p:cNvPr id="7" name="legend bg"/>
          <p:cNvSpPr/>
          <p:nvPr/>
        </p:nvSpPr>
        <p:spPr>
          <a:xfrm>
            <a:off x="594360" y="5074920"/>
            <a:ext cx="4754880" cy="1143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gend text"/>
          <p:cNvSpPr txBox="1"/>
          <p:nvPr/>
        </p:nvSpPr>
        <p:spPr>
          <a:xfrm>
            <a:off x="731520" y="51206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Map:</a:t>
            </a:r>
            <a:r>
              <a:rPr lang="en-US" sz="1200" dirty="0">
                <a:solidFill>
                  <a:schemeClr val="tx1"/>
                </a:solidFill>
              </a:rPr>
              <a:t> green = NPP increase; brown = NPP decrease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Black shading:</a:t>
            </a:r>
            <a:r>
              <a:rPr lang="en-US" sz="1200" dirty="0">
                <a:solidFill>
                  <a:schemeClr val="tx1"/>
                </a:solidFill>
              </a:rPr>
              <a:t> zones where NPP trend is significantly linked to AOD (p &lt; 0.05)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Source: Hari &amp; Tyagi, 2022, Fig. 5</a:t>
            </a:r>
            <a:endParaRPr lang="en-US" sz="1200" dirty="0"/>
          </a:p>
        </p:txBody>
      </p:sp>
      <p:sp>
        <p:nvSpPr>
          <p:cNvPr id="9" name="tbl1 heading"/>
          <p:cNvSpPr txBox="1"/>
          <p:nvPr/>
        </p:nvSpPr>
        <p:spPr>
          <a:xfrm>
            <a:off x="5760720" y="11887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Zone-level NPP trend (ITA, 2001–2020)</a:t>
            </a:r>
            <a:endParaRPr lang="en-US" sz="1300" dirty="0"/>
          </a:p>
        </p:txBody>
      </p:sp>
      <p:graphicFrame>
        <p:nvGraphicFramePr>
          <p:cNvPr id="2" name="tbl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508760"/>
          <a:ext cx="5943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389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Trend</a:t>
                      </a:r>
                      <a:endParaRPr lang="en-US" sz="14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Agroecological zones</a:t>
                      </a:r>
                      <a:endParaRPr lang="en-US" sz="14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Declining</a:t>
                      </a:r>
                      <a:endParaRPr lang="en-US" sz="14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LGP, MGP, TGP, ECP, EPlat, EH, WCP</a:t>
                      </a:r>
                      <a:endParaRPr lang="en-US" sz="14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Increasing</a:t>
                      </a:r>
                      <a:endParaRPr lang="en-US" sz="14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CPlat, SPlat, GP, UGP, WP</a:t>
                      </a:r>
                      <a:endParaRPr lang="en-US" sz="14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India total</a:t>
                      </a:r>
                      <a:endParaRPr lang="en-US" sz="14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1.09 → 1.33 Pg C yr⁻¹; decadal trend −2.51%</a:t>
                      </a:r>
                      <a:endParaRPr lang="en-US" sz="1400" dirty="0"/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1" name="decadal note bg"/>
          <p:cNvSpPr/>
          <p:nvPr/>
        </p:nvSpPr>
        <p:spPr>
          <a:xfrm>
            <a:off x="5760720" y="3218688"/>
            <a:ext cx="576072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decadal note"/>
          <p:cNvSpPr txBox="1"/>
          <p:nvPr/>
        </p:nvSpPr>
        <p:spPr>
          <a:xfrm>
            <a:off x="5897880" y="324612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−2.51% decadal trend = rate of NPP increase is </a:t>
            </a:r>
            <a:r>
              <a:rPr lang="en-US" sz="1300" b="1" dirty="0">
                <a:solidFill>
                  <a:schemeClr val="tx1"/>
                </a:solidFill>
              </a:rPr>
              <a:t>slowing</a:t>
            </a:r>
            <a:r>
              <a:rPr lang="en-US" sz="1300" dirty="0">
                <a:solidFill>
                  <a:schemeClr val="tx1"/>
                </a:solidFill>
              </a:rPr>
              <a:t>; India greens but progressively less rapidly</a:t>
            </a:r>
            <a:endParaRPr lang="en-US" sz="1300" dirty="0"/>
          </a:p>
        </p:txBody>
      </p:sp>
      <p:sp>
        <p:nvSpPr>
          <p:cNvPr id="13" name="findings heading"/>
          <p:cNvSpPr txBox="1"/>
          <p:nvPr/>
        </p:nvSpPr>
        <p:spPr>
          <a:xfrm>
            <a:off x="5760720" y="38862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Key findings from AOD–NPP sensitivity analysis</a:t>
            </a:r>
            <a:endParaRPr lang="en-US" sz="1300" dirty="0"/>
          </a:p>
        </p:txBody>
      </p:sp>
      <p:sp>
        <p:nvSpPr>
          <p:cNvPr id="14" name="findings text"/>
          <p:cNvSpPr txBox="1"/>
          <p:nvPr/>
        </p:nvSpPr>
        <p:spPr>
          <a:xfrm>
            <a:off x="5897880" y="420624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 forest ecosystems, NPP peaks at AOD 0.38; positive effect persists up to AOD 0.51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 agro zones, diffuse PAR increases with AOD only up to ≈0.54, then declines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Within AOD-sensitive pixels of Gangetic agro zones (LGP, MGP, TGP, UGP), NPP was ~11% lower than zone average — quantifying the aerosol penalty on cropland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Maximum negative effect: Western and Eastern Plateau, post-monsoon season (peak aerosol loading from biomass burning)</a:t>
            </a:r>
            <a:endParaRPr lang="en-US" sz="1300" dirty="0"/>
          </a:p>
        </p:txBody>
      </p:sp>
      <p:sp>
        <p:nvSpPr>
          <p:cNvPr id="15" name="pattern strip"/>
          <p:cNvSpPr/>
          <p:nvPr/>
        </p:nvSpPr>
        <p:spPr>
          <a:xfrm>
            <a:off x="457200" y="6355080"/>
            <a:ext cx="11274552" cy="438912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ttern strip text"/>
          <p:cNvSpPr txBox="1"/>
          <p:nvPr/>
        </p:nvSpPr>
        <p:spPr>
          <a:xfrm>
            <a:off x="594360" y="6355080"/>
            <a:ext cx="11000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Pattern:</a:t>
            </a:r>
            <a:r>
              <a:rPr lang="en-US" sz="1400" dirty="0">
                <a:solidFill>
                  <a:schemeClr val="tx1"/>
                </a:solidFill>
              </a:rPr>
              <a:t> India is still greening, but the pace is decelerating; high-AOD cropland zones lose NPP while forests gain under moderate aerosol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erosol Haze TNR">
  <a:themeElements>
    <a:clrScheme name="Aerosol Haze TNR">
      <a:dk1>
        <a:srgbClr val="1A1F24"/>
      </a:dk1>
      <a:lt1>
        <a:srgbClr val="FFFFFF"/>
      </a:lt1>
      <a:dk2>
        <a:srgbClr val="16384A"/>
      </a:dk2>
      <a:lt2>
        <a:srgbClr val="EDF2F5"/>
      </a:lt2>
      <a:accent1>
        <a:srgbClr val="1F6F8B"/>
      </a:accent1>
      <a:accent2>
        <a:srgbClr val="D98E04"/>
      </a:accent2>
      <a:accent3>
        <a:srgbClr val="3C8D5A"/>
      </a:accent3>
      <a:accent4>
        <a:srgbClr val="8A9BA8"/>
      </a:accent4>
      <a:accent5>
        <a:srgbClr val="B5452F"/>
      </a:accent5>
      <a:accent6>
        <a:srgbClr val="5E4B8B"/>
      </a:accent6>
      <a:hlink>
        <a:srgbClr val="1F6F8B"/>
      </a:hlink>
      <a:folHlink>
        <a:srgbClr val="5E4B8B"/>
      </a:folHlink>
    </a:clrScheme>
    <a:fontScheme name="Aerosol Haze TNR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Remote Sensing for Quantifying Aerosol Impact on Terrestrial Ecosystem Productivity</dc:title>
  <dc:subject>PptxGenJS Presentation</dc:subject>
  <dc:creator>PhD credit seminar</dc:creator>
  <cp:lastModifiedBy>PhD credit seminar</cp:lastModifiedBy>
  <cp:revision>1</cp:revision>
  <dcterms:created xsi:type="dcterms:W3CDTF">2026-10-25T14:29:21Z</dcterms:created>
  <dcterms:modified xsi:type="dcterms:W3CDTF">2026-10-25T14:29:21Z</dcterms:modified>
</cp:coreProperties>
</file>