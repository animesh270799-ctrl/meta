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7 · Evidence" id="{0b13d387-8daf-15c2-dd05-5c0cd96045b0}">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collects the evidence from natural ecosystems across the globe: forests first, then grasslands, savannas, wetlands and global estimates. Only natural ecosystems are included; crop ecosystems are left out. The effect column shows the sign at a glance: green up-arrows are increases, grey is no clear change, red is a decrease, and amber means a gain at moderate aerosol turning into a loss at high aerosol.
Boreal and temperate forests. In boreal and hemiboreal forests of Finland, Estonia and Siberia, Ezhova and colleagues, 2018, found that aerosol raised the clear-day diffuse fraction from about 0.11 to 0.2–0.27 and GPP by 6 to 14 percent; the figure shows GPP peaking at an intermediate diffuse fraction. At Harvard Forest, Gu and colleagues, 2003, showed that the scattering sulfate from Mount Pinatubo increased noon photosynthesis by 23 percent in 1992 and 8 percent in 1993. In the eastern United States, Strada and colleagues, 2015, found midday GPP of deciduous and mixed forests 13 percent higher when AOD exceeded 0.4. A regional model by Matsui and colleagues, 2008, gave NPP increases of up to 35 grams of carbon per square metre for forests but a negligible effect where leaf area index was below 3. For boreal North America, Yue and colleagues, 2017, modelled an NPP gain from fire aerosol of 8 teragrams of carbon per year in the 2010s, rising to 14 in the 2050s.
Tropical forests. In the Amazon, Doughty and colleagues, 2010, found that the extra CO2 uptake under smoke came 80 percent from diffuse light and 20 percent from canopy cooling. Rap and colleagues, 2015, modelled a 3.4 to 6.8 percent rise in diffuse radiation and a 1.4 to 2.8 percent rise in NPP from fire aerosol. Moreira and colleagues, 2017, modelled a 27 percent GPP increase in 2010. Rodrigues and colleagues, 2024, found that burning-season diffuse radiation increased net CO2 uptake of a semi-deciduous forest in the southern Amazon, also through lower temperature and VPD.
Contrasting results. Oliveira and colleagues, 2007, found net ecosystem exchange increased by 8.4 to 16 percent at AOD 0.83 to 1.26 but declined above 1.7, so the response reverses under very heavy smoke. Cirino and colleagues, 2014, found lower photosynthetic efficiency under heavy smoke than at low AOD. Yamasoe and colleagues, 2006, found no correlation between AOD and NEE for AOD below 0.7. In India, Hari and Tyagi, 2022, found NPP of the tropical forest zones peaking at AOD 0.38, with the gain persisting up to 0.51.
Open ecosystems, where results are more mixed.
Grasslands. At six AmeriFlux sites in the United States, Niyogi and colleagues, 2004, found that CO2 uptake increased with aerosol over forest but decreased over grassland. Strada and colleagues, 2015, similarly found that high AOD above 0.6 harmed grassland while forests gained. In north-west China, Jing and colleagues, 2010, found that clouds dominated the diffuse-light gain of a short C3 grassland, while aerosol led to negative carbon uptake.
Savannas and wetlands. In a northern Australian savanna, Kanniah and colleagues, 2010, found that an increase in diffuse fraction from 11 to 21 percent did not significantly change carbon flux, because the open canopy has few shaded leaves. In the Brazilian Pantanal wetland, Curado and colleagues, 2024, found that black carbon from biomass burning reduced PAR, raised air temperature and lowered carbon assimilation. In contrast, in a restored wetland in California, Hemes and colleagues, 2020, found that wildfire smoke increased light-use efficiency and raised GPP by 1.2 to 4.1 percent compared with the previous season.
Global estimates. These are totals over all vegetation from global models. Rap and colleagues, 2018, estimated that secondary organic aerosol formed from plant emissions raises global NPP by 1.23 petagrams of carbon per year; the map shows the largest gains over tropical and temperate forests. Yue and Unger, 2018, estimated a global aerosol GPP gain of about 1.0 petagram per year, of which fire aerosol contributes only 0.05. Zhou and colleagues, 2022, found 0.95 under all-sky conditions versus 8.9 under clear skies, showing how clouds limit the effect. Strada and Unger, 2016, estimated a gain of 1 to 2 percent, and Mercado and colleagues, 2009, estimated that the diffuse effect raised the land carbon sink by about one quarter between 1960 and 1999.
Overall pattern: forests mostly gain at moderate aerosol, by 6 to 23 percent, but the gain disappears or reverses under very heavy smoke; grasslands, savannas and smoky wetlands gain little or even lose, while globally the net effect on natural vegetation is a modest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natural ecosystems across the globe</a:t>
            </a:r>
            <a:endParaRPr lang="en-US" sz="2800" dirty="0"/>
          </a:p>
        </p:txBody>
      </p:sp>
      <p:graphicFrame>
        <p:nvGraphicFramePr>
          <p:cNvPr id="2" name="Natural ecosystem evidence table"/>
          <p:cNvGraphicFramePr>
            <a:graphicFrameLocks noGrp="1"/>
          </p:cNvGraphicFramePr>
          <p:nvPr>
            <p:extLst>
              <p:ext uri="{D42A27DB-BD31-4B8C-83A1-F6EECF244321}">
                <p14:modId xmlns:p14="http://schemas.microsoft.com/office/powerpoint/2010/main" val="1579011935"/>
              </p:ext>
            </p:extLst>
          </p:nvPr>
        </p:nvGraphicFramePr>
        <p:xfrm>
          <a:off x="457200" y="1143000"/>
          <a:ext cx="8686800" cy="914400"/>
        </p:xfrm>
        <a:graphic>
          <a:graphicData uri="http://schemas.openxmlformats.org/drawingml/2006/table">
            <a:tbl>
              <a:tblPr/>
              <a:tblGrid>
                <a:gridCol w="1325880"/>
                <a:gridCol w="1600200"/>
                <a:gridCol w="594360"/>
                <a:gridCol w="3474720"/>
                <a:gridCol w="1691640"/>
              </a:tblGrid>
              <a:tr h="237744">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Region</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Ecosystem</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Effect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Aerosol impact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Reference</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N. Europe, Siberia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Boreal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Diffuse fraction 0.11 → 0.2–0.27; GPP +6 to 14%</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Ezhova et al., 2018</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Boreal N. America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Boreal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Fire aerosol: NPP +8 Tg C yr⁻¹ (2010s)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Yue et al., 2017</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Harvard, USA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Deciduous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Pinatubo: noon GPP +23% (1992), +8% (1993)</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Gu et al., 2003</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Eastern USA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Deciduous/mixed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Midday GPP +13% at AOD &gt; 0.4</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Strada et al., 2015</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Southeast USA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Deciduous/mixed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NPP up to +35 g C m⁻²; negligible if LAI &lt; 3</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Matsui et al., 2008</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 (Tapajós)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rainforest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Smoke gain: 80% diffuse light, 20% cooling</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Doughty et al., 2010</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rainforest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Fire aerosol: diffuse +3.4–6.8%, NPP +1.4–2.8%</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Rap et al., 2015</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rainforest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Fire aerosol: GPP +27% (2010, model)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Moreira et al., 2017</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Southern Amazon</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Semi-deciduous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Smoke-season diffuse light raises CO₂ uptake</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Rodrigues et al., 2024</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South America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07400"/>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BEBC8"/>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NEE +8.4–16% (AOD 0.83–1.26); falls above 1.7</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Oliveira et al., 2007</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Heavy smoke lowers photosynthetic efficiency</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Cirino et al., 2014</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Brazil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5A6B78"/>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6E9EC"/>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No AOD–NEE correlation for AOD &lt; 0.7</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Yamasoe et al., 2006</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India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 zones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07400"/>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BEBC8"/>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NPP peaks at AOD 0.38; gain persists to 0.51</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Hari &amp; Tyagi, 2022</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USA (AmeriFlux)</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Grassland</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Uptake fell in grassland, rose in forest</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Niyogi et al., 2004</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Eastern USA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Grassland</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High AOD (&gt; 0.6) harmed grassland</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Strada et al., 2015</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Northwest China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Short C3 grassland</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Aerosol gave negative carbon uptake</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Jing et al., 2010</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N. Australia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savanna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5A6B78"/>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6E9EC"/>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Diffuse 11 → 21%: no significant flux change</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Kanniah et al., 2010</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Brazil (Pantanal)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wetland</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Black carbon cut PAR, lowered assimilation</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Curado et al., 2024</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California, USA</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Restored wetland</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Wildfire smoke: LUE up, GPP +1.2–4.1%</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Hemes et al., 2020</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Biogenic SOA raises NPP by 1.23 Pg C yr⁻¹</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Rap et al., 2018</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GPP +1.0 Pg C yr⁻¹; fire aerosol only +0.05</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Yue &amp; Unger, 2018</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GPP +0.95 Pg C yr⁻¹ (all-sky) vs +8.9 (clear-sky)</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Zhou et al., 2022</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Aerosol GPP +1–2%</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Strada &amp; Unger, 2016</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187452">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Diffuse effect raised land sink ~¼ (1960–1999)</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Mercado et al., 2009</a:t>
                      </a:r>
                      <a:endParaRPr lang="en-US" sz="1200" dirty="0">
                        <a:latin typeface="Times New Roman" charset="0"/>
                        <a:ea typeface="Times New Roman" charset="0"/>
                        <a:cs typeface="Times New Roman" charset="0"/>
                      </a:endParaRPr>
                    </a:p>
                  </a:txBody>
                  <a:tcPr marL="54864" marR="54864" marT="0" marB="0"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bl>
          </a:graphicData>
        </a:graphic>
      </p:graphicFrame>
      <p:sp>
        <p:nvSpPr>
          <p:cNvPr id="5" name="Effect legend"/>
          <p:cNvSpPr txBox="1"/>
          <p:nvPr/>
        </p:nvSpPr>
        <p:spPr>
          <a:xfrm>
            <a:off x="9326880" y="5715000"/>
            <a:ext cx="2423160" cy="594360"/>
          </a:xfrm>
          <a:prstGeom prst="rect">
            <a:avLst/>
          </a:prstGeom>
          <a:noFill/>
          <a:ln/>
        </p:spPr>
        <p:txBody>
          <a:bodyPr wrap="square" lIns="0" tIns="0" rIns="0" bIns="0" rtlCol="0" anchor="t"/>
          <a:lstStyle/>
          <a:p>
            <a:pPr indent="0" marL="0">
              <a:buNone/>
            </a:pPr>
            <a:r>
              <a:rPr lang="en-US" sz="1200" b="1" dirty="0">
                <a:solidFill>
                  <a:srgbClr val="3C8D5A"/>
                </a:solidFill>
              </a:rPr>
              <a:t>↑ </a:t>
            </a:r>
            <a:r>
              <a:rPr lang="en-US" sz="1200" dirty="0">
                <a:solidFill>
                  <a:srgbClr val="1A1F24"/>
                </a:solidFill>
              </a:rPr>
              <a:t>increase   </a:t>
            </a:r>
            <a:r>
              <a:rPr lang="en-US" sz="1200" b="1" dirty="0">
                <a:solidFill>
                  <a:srgbClr val="5A6B78"/>
                </a:solidFill>
              </a:rPr>
              <a:t>↔ </a:t>
            </a:r>
            <a:r>
              <a:rPr lang="en-US" sz="1200" dirty="0">
                <a:solidFill>
                  <a:srgbClr val="1A1F24"/>
                </a:solidFill>
              </a:rPr>
              <a:t>no clear change</a:t>
            </a:r>
            <a:endParaRPr lang="en-US" sz="1200" dirty="0"/>
          </a:p>
          <a:p>
            <a:pPr indent="0" marL="0">
              <a:buNone/>
            </a:pPr>
            <a:r>
              <a:rPr lang="en-US" sz="1200" b="1" dirty="0">
                <a:solidFill>
                  <a:srgbClr val="B5452F"/>
                </a:solidFill>
              </a:rPr>
              <a:t>↓ </a:t>
            </a:r>
            <a:r>
              <a:rPr lang="en-US" sz="1200" dirty="0">
                <a:solidFill>
                  <a:srgbClr val="1A1F24"/>
                </a:solidFill>
              </a:rPr>
              <a:t>decrease   </a:t>
            </a:r>
            <a:r>
              <a:rPr lang="en-US" sz="1200" b="1" dirty="0">
                <a:solidFill>
                  <a:srgbClr val="B07400"/>
                </a:solidFill>
              </a:rPr>
              <a:t>↑/↓ </a:t>
            </a:r>
            <a:r>
              <a:rPr lang="en-US" sz="1200" dirty="0">
                <a:solidFill>
                  <a:srgbClr val="1A1F24"/>
                </a:solidFill>
              </a:rPr>
              <a:t>gain then loss</a:t>
            </a:r>
            <a:endParaRPr lang="en-US" sz="1200" dirty="0"/>
          </a:p>
          <a:p>
            <a:pPr indent="0" marL="0">
              <a:buNone/>
            </a:pPr>
            <a:r>
              <a:rPr lang="en-US" sz="1200" i="1" dirty="0">
                <a:solidFill>
                  <a:srgbClr val="5A6B78"/>
                </a:solidFill>
              </a:rPr>
              <a:t>Crop ecosystems excluded</a:t>
            </a:r>
            <a:endParaRPr lang="en-US" sz="1200" dirty="0"/>
          </a:p>
        </p:txBody>
      </p:sp>
      <p:sp>
        <p:nvSpPr>
          <p:cNvPr id="6" name="Ezhova figure card"/>
          <p:cNvSpPr/>
          <p:nvPr/>
        </p:nvSpPr>
        <p:spPr>
          <a:xfrm>
            <a:off x="9326880" y="1143000"/>
            <a:ext cx="2423160" cy="3429000"/>
          </a:xfrm>
          <a:prstGeom prst="roundRect">
            <a:avLst>
              <a:gd name="adj" fmla="val 264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Ezhova figure title"/>
          <p:cNvSpPr txBox="1"/>
          <p:nvPr/>
        </p:nvSpPr>
        <p:spPr>
          <a:xfrm>
            <a:off x="9464040" y="1234440"/>
            <a:ext cx="2148840" cy="758952"/>
          </a:xfrm>
          <a:prstGeom prst="rect">
            <a:avLst/>
          </a:prstGeom>
          <a:noFill/>
          <a:ln/>
        </p:spPr>
        <p:txBody>
          <a:bodyPr wrap="square" lIns="0" tIns="0" rIns="0" bIns="0" rtlCol="0" anchor="t"/>
          <a:lstStyle/>
          <a:p>
            <a:pPr indent="0" marL="0">
              <a:buNone/>
            </a:pPr>
            <a:r>
              <a:rPr lang="en-US" sz="1200" b="1" dirty="0">
                <a:solidFill>
                  <a:schemeClr val="tx2"/>
                </a:solidFill>
              </a:rPr>
              <a:t>GPP vs diffuse fraction at five boreal forest sites</a:t>
            </a:r>
            <a:endParaRPr lang="en-US" sz="1200" dirty="0"/>
          </a:p>
        </p:txBody>
      </p:sp>
      <p:pic>
        <p:nvPicPr>
          <p:cNvPr id="8" name="Ezhova figure" descr="Ezhova figure">    </p:cNvPr>
          <p:cNvPicPr>
            <a:picLocks noChangeAspect="1"/>
          </p:cNvPicPr>
          <p:nvPr/>
        </p:nvPicPr>
        <p:blipFill>
          <a:blip r:embed="rId1"/>
          <a:stretch>
            <a:fillRect/>
          </a:stretch>
        </p:blipFill>
        <p:spPr>
          <a:xfrm>
            <a:off x="9518543" y="1993392"/>
            <a:ext cx="2039833" cy="1691640"/>
          </a:xfrm>
          <a:prstGeom prst="rect">
            <a:avLst/>
          </a:prstGeom>
        </p:spPr>
      </p:pic>
      <p:sp>
        <p:nvSpPr>
          <p:cNvPr id="9" name="Ezhova figure caption"/>
          <p:cNvSpPr txBox="1"/>
          <p:nvPr/>
        </p:nvSpPr>
        <p:spPr>
          <a:xfrm>
            <a:off x="9464040" y="3758184"/>
            <a:ext cx="2148840" cy="457200"/>
          </a:xfrm>
          <a:prstGeom prst="rect">
            <a:avLst/>
          </a:prstGeom>
          <a:noFill/>
          <a:ln/>
        </p:spPr>
        <p:txBody>
          <a:bodyPr wrap="square" lIns="0" tIns="0" rIns="0" bIns="0" rtlCol="0" anchor="t"/>
          <a:lstStyle/>
          <a:p>
            <a:pPr indent="0" marL="0">
              <a:buNone/>
            </a:pPr>
            <a:r>
              <a:rPr lang="en-US" sz="1200" dirty="0">
                <a:solidFill>
                  <a:schemeClr val="tx1"/>
                </a:solidFill>
              </a:rPr>
              <a:t>GPP peaks at intermediate diffuse fraction</a:t>
            </a:r>
            <a:endParaRPr lang="en-US" sz="1200" dirty="0"/>
          </a:p>
        </p:txBody>
      </p:sp>
      <p:sp>
        <p:nvSpPr>
          <p:cNvPr id="10" name="Ezhova figure source"/>
          <p:cNvSpPr txBox="1"/>
          <p:nvPr/>
        </p:nvSpPr>
        <p:spPr>
          <a:xfrm>
            <a:off x="9464040" y="4215384"/>
            <a:ext cx="2148840" cy="246888"/>
          </a:xfrm>
          <a:prstGeom prst="rect">
            <a:avLst/>
          </a:prstGeom>
          <a:noFill/>
          <a:ln/>
        </p:spPr>
        <p:txBody>
          <a:bodyPr wrap="square" lIns="0" tIns="0" rIns="0" bIns="0" rtlCol="0" anchor="t"/>
          <a:lstStyle/>
          <a:p>
            <a:pPr indent="0" marL="0">
              <a:buNone/>
            </a:pPr>
            <a:r>
              <a:rPr lang="en-US" sz="1200" i="1" dirty="0">
                <a:solidFill>
                  <a:schemeClr val="accent1"/>
                </a:solidFill>
              </a:rPr>
              <a:t>Source: Ezhova et al., 2018, Fig. 8</a:t>
            </a:r>
            <a:endParaRPr lang="en-US" sz="1200" dirty="0"/>
          </a:p>
        </p:txBody>
      </p:sp>
      <p:sp>
        <p:nvSpPr>
          <p:cNvPr id="11" name="Pattern strip"/>
          <p:cNvSpPr/>
          <p:nvPr/>
        </p:nvSpPr>
        <p:spPr>
          <a:xfrm>
            <a:off x="9326880" y="4709160"/>
            <a:ext cx="2423160" cy="868680"/>
          </a:xfrm>
          <a:prstGeom prst="roundRect">
            <a:avLst>
              <a:gd name="adj" fmla="val 6316"/>
            </a:avLst>
          </a:prstGeom>
          <a:solidFill>
            <a:schemeClr val="bg2"/>
          </a:solidFill>
          <a:ln w="12700">
            <a:solidFill>
              <a:schemeClr val="bg2"/>
            </a:solidFill>
            <a:prstDash val="solid"/>
          </a:ln>
        </p:spPr>
      </p:sp>
      <p:sp>
        <p:nvSpPr>
          <p:cNvPr id="12" name="Pattern strip text"/>
          <p:cNvSpPr txBox="1"/>
          <p:nvPr/>
        </p:nvSpPr>
        <p:spPr>
          <a:xfrm>
            <a:off x="9464040" y="4709160"/>
            <a:ext cx="2148840" cy="868680"/>
          </a:xfrm>
          <a:prstGeom prst="rect">
            <a:avLst/>
          </a:prstGeom>
          <a:noFill/>
          <a:ln/>
        </p:spPr>
        <p:txBody>
          <a:bodyPr wrap="square" lIns="0" tIns="0" rIns="0" bIns="0" rtlCol="0" anchor="ctr"/>
          <a:lstStyle/>
          <a:p>
            <a:pPr indent="0" marL="0">
              <a:buNone/>
            </a:pPr>
            <a:r>
              <a:rPr lang="en-US" sz="1200" b="1" dirty="0">
                <a:solidFill>
                  <a:schemeClr val="tx1"/>
                </a:solidFill>
              </a:rPr>
              <a:t>Pattern:</a:t>
            </a:r>
            <a:r>
              <a:rPr lang="en-US" sz="1200" dirty="0">
                <a:solidFill>
                  <a:schemeClr val="tx1"/>
                </a:solidFill>
              </a:rPr>
              <a:t> forests gain at moderate aerosol (+6 to 23%); open ecosystems gain little or lose; global net gain is modest.</a:t>
            </a:r>
            <a:endParaRPr lang="en-US" sz="12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2026-10-25T11:04:58Z</dcterms:created>
  <dcterms:modified xsi:type="dcterms:W3CDTF">2026-10-25T11:04:58Z</dcterms:modified>
</cp:coreProperties>
</file>