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 · Atmospheric aerosols" id="{5057ebb1-8901-e74c-0f85-d9e00abbe0b2}">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RFari</c:v>
                </c:pt>
              </c:strCache>
            </c:strRef>
          </c:tx>
          <c:spPr>
            <a:solidFill>
              <a:srgbClr val="B5452F"/>
            </a:solidFill>
            <a:effectLst/>
          </c:spPr>
          <c:invertIfNegative val="0"/>
          <c:dLbls>
            <c:numFmt formatCode="+0.00;−0.00;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dPt>
            <c:idx val="0"/>
            <c:invertIfNegative val="0"/>
            <c:bubble3D val="0"/>
            <c:spPr>
              <a:solidFill>
                <a:srgbClr val="1F6F8B"/>
              </a:solidFill>
              <a:effectLst/>
            </c:spPr>
          </c:dPt>
          <c:dPt>
            <c:idx val="1"/>
            <c:invertIfNegative val="0"/>
            <c:bubble3D val="0"/>
            <c:spPr>
              <a:solidFill>
                <a:srgbClr val="1F6F8B"/>
              </a:solidFill>
              <a:effectLst/>
            </c:spPr>
          </c:dPt>
          <c:dPt>
            <c:idx val="2"/>
            <c:invertIfNegative val="0"/>
            <c:bubble3D val="0"/>
            <c:spPr>
              <a:solidFill>
                <a:srgbClr val="1F6F8B"/>
              </a:solidFill>
              <a:effectLst/>
            </c:spPr>
          </c:dPt>
          <c:dPt>
            <c:idx val="3"/>
            <c:invertIfNegative val="0"/>
            <c:bubble3D val="0"/>
            <c:spPr>
              <a:solidFill>
                <a:srgbClr val="1F6F8B"/>
              </a:solidFill>
              <a:effectLst/>
            </c:spPr>
          </c:dPt>
          <c:dPt>
            <c:idx val="4"/>
            <c:invertIfNegative val="0"/>
            <c:bubble3D val="0"/>
            <c:spPr>
              <a:solidFill>
                <a:srgbClr val="1F6F8B"/>
              </a:solidFill>
              <a:effectLst/>
            </c:spPr>
          </c:dPt>
          <c:dPt>
            <c:idx val="5"/>
            <c:invertIfNegative val="0"/>
            <c:bubble3D val="0"/>
            <c:spPr>
              <a:solidFill>
                <a:srgbClr val="B5452F"/>
              </a:solidFill>
              <a:effectLst/>
            </c:spPr>
          </c:dPt>
          <c:dPt>
            <c:idx val="6"/>
            <c:invertIfNegative val="0"/>
            <c:bubble3D val="0"/>
            <c:spPr>
              <a:solidFill>
                <a:srgbClr val="B5452F"/>
              </a:solidFill>
              <a:effectLst/>
            </c:spPr>
          </c:dPt>
          <c:cat>
            <c:multiLvlStrRef>
              <c:f>Sheet1!$A$2:$A$8</c:f>
              <c:multiLvlStrCache>
                <c:ptCount val="7"/>
                <c:lvl>
                  <c:pt idx="0">
                    <c:v>Sulfate</c:v>
                  </c:pt>
                  <c:pt idx="1">
                    <c:v>Nitrate</c:v>
                  </c:pt>
                  <c:pt idx="2">
                    <c:v>Dust</c:v>
                  </c:pt>
                  <c:pt idx="3">
                    <c:v>Primary OA</c:v>
                  </c:pt>
                  <c:pt idx="4">
                    <c:v>SOA</c:v>
                  </c:pt>
                  <c:pt idx="5">
                    <c:v>Biomass burning</c:v>
                  </c:pt>
                  <c:pt idx="6">
                    <c:v>Black carbon</c:v>
                  </c:pt>
                </c:lvl>
              </c:multiLvlStrCache>
            </c:multiLvlStrRef>
          </c:cat>
          <c:val>
            <c:numRef>
              <c:f>Sheet1!$B$2:$B$8</c:f>
              <c:numCache>
                <c:formatCode>General</c:formatCode>
                <c:ptCount val="7"/>
                <c:pt idx="0">
                  <c:v>-0.4</c:v>
                </c:pt>
                <c:pt idx="1">
                  <c:v>-0.11</c:v>
                </c:pt>
                <c:pt idx="2">
                  <c:v>-0.1</c:v>
                </c:pt>
                <c:pt idx="3">
                  <c:v>-0.09</c:v>
                </c:pt>
                <c:pt idx="4">
                  <c:v>-0.03</c:v>
                </c:pt>
                <c:pt idx="5">
                  <c:v>0</c:v>
                </c:pt>
                <c:pt idx="6">
                  <c:v>0.4</c:v>
                </c:pt>
              </c:numCache>
            </c:numRef>
          </c:val>
        </c:ser>
        <c:dLbls>
          <c:numFmt formatCode="+0.00;−0.00;0.00" sourceLinked="0"/>
          <c:txPr>
            <a:bodyPr/>
            <a:lstStyle/>
            <a:p>
              <a:pPr>
                <a:defRPr b="0" i="0" strike="noStrike" sz="1200" u="none">
                  <a:solidFill>
                    <a:srgbClr val="1A1F24"/>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A1F24"/>
                </a:solidFill>
                <a:latin typeface="+mn-lt"/>
              </a:defRPr>
            </a:pPr>
            <a:endParaRPr lang="en-US"/>
          </a:p>
        </c:txPr>
        <c:crossAx val="2094734552"/>
        <c:crosses val="autoZero"/>
        <c:auto val="1"/>
        <c:lblAlgn val="ctr"/>
        <c:noMultiLvlLbl val="1"/>
      </c:catAx>
      <c:valAx>
        <c:axId val="2094734552"/>
        <c:scaling>
          <c:orientation val="minMax"/>
          <c:max val="0.6"/>
          <c:min val="-0.6"/>
        </c:scaling>
        <c:delete val="0"/>
        <c:axPos val="b"/>
        <c:majorGridlines>
          <c:spPr>
            <a:ln w="6350" cap="flat">
              <a:solidFill>
                <a:srgbClr val="E3E8EC"/>
              </a:solidFill>
              <a:prstDash val="solid"/>
              <a:round/>
            </a:ln>
          </c:spPr>
        </c:majorGridlines>
        <c:numFmt formatCode="+0.0;−0.0;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A6B78"/>
                </a:solidFill>
                <a:latin typeface="+mn-lt"/>
              </a:defRPr>
            </a:pPr>
            <a:endParaRPr lang="en-US"/>
          </a:p>
        </c:txPr>
        <c:crossAx val="2094734554"/>
        <c:crosses val="autoZero"/>
        <c:crossBetween val="between"/>
        <c:majorUnit val="0.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what aerosol radiative forcing is and how large it is. The optical properties were covered earlier; here the focus is the energy budget.
Definition. Aerosol radiative forcing is the change in the net radiative flux, downward minus upward, caused by anthropogenic aerosol relative to the pre-industrial year 1750, expressed in watts per square metre. A negative value means the aerosol removes energy and cools; a positive value means it adds energy and warms.
From IRF to ERF. The flowchart at the top follows the IPCC Sixth Assessment Report, Forster and colleagues, 2021. The instantaneous radiative forcing, IRF, is the change in flux the moment aerosol is added, with temperatures and clouds held fixed. Within days to months the atmosphere adjusts: air temperature, water vapour and clouds change, which includes the semi-direct effect of absorbing aerosol. These are called rapid adjustments. The effective radiative forcing, ERF, is IRF plus these adjustments, and it is the quantity that best predicts the eventual surface temperature response, which is why IPCC now reports ERF.
Three levels. The layer diagram on the left shows where the forcing is felt. At the top of the atmosphere, delta F TOA is the change in the energy budget of the planet. At the surface, delta F surface is the dimming that reaches the canopy. The difference, delta F atmosphere, equals delta F TOA minus delta F surface, and it is the energy absorbed in the aerosol layer, which heats it. For a purely scattering aerosol such as sulfate, the surface and TOA forcings are both negative and similar. For absorbing black carbon the surface forcing is strongly negative while the TOA forcing can be close to zero or positive, so the atmosphere warms.
Values by species. The bar chart gives the forcing from aerosol–radiation interaction for each aerosol type from 1750 to 2011, from the IPCC Fifth Assessment Report chapter by Myhre and colleagues, 2013. Sulfate gives minus 0.40, with a range of minus 0.60 to minus 0.20 watts per square metre. Nitrate gives minus 0.11, range minus 0.30 to minus 0.03. Mineral dust gives minus 0.10, range minus 0.30 to plus 0.10. Primary organic aerosol from fossil fuel and biofuel gives minus 0.09, range minus 0.16 to minus 0.03. Secondary organic aerosol gives minus 0.03, range minus 0.27 to plus 0.20. Biomass-burning aerosol is close to zero, range minus 0.20 to plus 0.20, because its scattering organic part and absorbing black-carbon part cancel. Black carbon from fossil fuel and biofuel gives plus 0.40, range plus 0.05 to plus 0.80, the only clearly warming species. The total is minus 0.35, range minus 0.85 to plus 0.15.
Global budget. The cards on the right give the latest assessment. The IPCC Sixth Assessment Report gives a total aerosol effective radiative forcing of minus 1.3 watts per square metre, with a very likely range of minus 2.0 to minus 0.6, for 1750 to 2014; the Fifth Assessment Report value was minus 0.9. Of this, aerosol–cloud interaction contributes minus 1.0, range minus 1.7 to minus 0.3, and aerosol–radiation interaction minus 0.3, range minus 0.6 to 0.0, so clouds dominate the total and its uncertainty. Compared with AR5, the cloud part has become larger and the radiation part smaller. For 1750 to 2019 the total is slightly less negative, minus 1.1, because emissions have recently fallen in some regions. For black carbon alone, Bond and colleagues, 2013, estimated a total industrial-era forcing through all mechanisms, including clouds and snow darkening, of plus 1.1 watts per square metre, range plus 0.17 to plus 2.1; its direct forcing alone is plus 0.71.
Link to vegetation. The bottom strip connects this to the seminar. Plants respond to the surface forcing, not to the forcing at the top of the atmosphere. Scattering aerosol, with a negative forcing at both levels, converts direct light into diffuse light that canopies can still use, while absorbing aerosol removes light from the surface and heats the air above the canopy. This is why the same global forcing can produce very different effects on ecosystem 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201168"/>
            <a:ext cx="11274552" cy="292608"/>
          </a:xfrm>
          <a:prstGeom prst="rect">
            <a:avLst/>
          </a:prstGeom>
          <a:noFill/>
          <a:ln/>
        </p:spPr>
        <p:txBody>
          <a:bodyPr wrap="square" lIns="0" tIns="0" rIns="0" bIns="0" rtlCol="0" anchor="ctr"/>
          <a:lstStyle/>
          <a:p>
            <a:pPr algn="l" indent="0" marL="0">
              <a:buNone/>
            </a:pPr>
            <a:r>
              <a:rPr lang="en-US" sz="1400" b="1" dirty="0">
                <a:solidFill>
                  <a:schemeClr val="accent1"/>
                </a:solidFill>
              </a:rPr>
              <a:t>2 · Atmospheric aerosols</a:t>
            </a:r>
            <a:endParaRPr lang="en-US" sz="1400" dirty="0"/>
          </a:p>
        </p:txBody>
      </p:sp>
      <p:sp>
        <p:nvSpPr>
          <p:cNvPr id="3" name="Text 0"/>
          <p:cNvSpPr/>
          <p:nvPr>
            <p:ph idx="101" type="title" hasCustomPrompt="1"/>
          </p:nvPr>
        </p:nvSpPr>
        <p:spPr>
          <a:xfrm>
            <a:off x="457200" y="502920"/>
            <a:ext cx="11274552" cy="594360"/>
          </a:xfrm>
          <a:prstGeom prst="rect">
            <a:avLst/>
          </a:prstGeom>
          <a:noFill/>
          <a:ln/>
        </p:spPr>
        <p:txBody>
          <a:bodyPr wrap="square" lIns="0" tIns="0" rIns="0" bIns="0" rtlCol="0" anchor="ctr"/>
          <a:lstStyle/>
          <a:p>
            <a:pPr algn="l" indent="0" marL="0">
              <a:buNone/>
            </a:pPr>
            <a:r>
              <a:rPr lang="en-US" sz="2800" b="1" dirty="0">
                <a:solidFill>
                  <a:schemeClr val="tx2"/>
                </a:solidFill>
              </a:rPr>
              <a:t>Aerosol radiative forcing: definition and magnitude</a:t>
            </a:r>
            <a:endParaRPr lang="en-US" sz="2800" dirty="0"/>
          </a:p>
        </p:txBody>
      </p:sp>
      <p:sp>
        <p:nvSpPr>
          <p:cNvPr id="4" name="IRF to ERF flow 1"/>
          <p:cNvSpPr/>
          <p:nvPr/>
        </p:nvSpPr>
        <p:spPr>
          <a:xfrm>
            <a:off x="457200" y="1207008"/>
            <a:ext cx="2035454" cy="804672"/>
          </a:xfrm>
          <a:prstGeom prst="roundRect">
            <a:avLst>
              <a:gd name="adj" fmla="val 7955"/>
            </a:avLst>
          </a:prstGeom>
          <a:solidFill>
            <a:schemeClr val="tx2"/>
          </a:solidFill>
          <a:ln w="12700">
            <a:solidFill>
              <a:schemeClr val="tx2"/>
            </a:solidFill>
            <a:prstDash val="solid"/>
          </a:ln>
        </p:spPr>
      </p:sp>
      <p:sp>
        <p:nvSpPr>
          <p:cNvPr id="5" name="IRF to ERF flow 1 text"/>
          <p:cNvSpPr txBox="1"/>
          <p:nvPr/>
        </p:nvSpPr>
        <p:spPr>
          <a:xfrm>
            <a:off x="512064" y="1207008"/>
            <a:ext cx="1925726" cy="804672"/>
          </a:xfrm>
          <a:prstGeom prst="rect">
            <a:avLst/>
          </a:prstGeom>
          <a:noFill/>
          <a:ln/>
        </p:spPr>
        <p:txBody>
          <a:bodyPr wrap="square" lIns="0" tIns="0" rIns="0" bIns="0" rtlCol="0" anchor="ctr"/>
          <a:lstStyle/>
          <a:p>
            <a:pPr algn="ctr" indent="0" marL="0">
              <a:buNone/>
            </a:pPr>
            <a:r>
              <a:rPr lang="en-US" sz="1400" b="1" dirty="0">
                <a:solidFill>
                  <a:schemeClr val="bg1"/>
                </a:solidFill>
              </a:rPr>
              <a:t>Anthropogenic aerosol (1750 → present)</a:t>
            </a:r>
            <a:endParaRPr lang="en-US" sz="1400" dirty="0"/>
          </a:p>
        </p:txBody>
      </p:sp>
      <p:sp>
        <p:nvSpPr>
          <p:cNvPr id="6" name="IRF to ERF flow arrow 1"/>
          <p:cNvSpPr/>
          <p:nvPr/>
        </p:nvSpPr>
        <p:spPr>
          <a:xfrm>
            <a:off x="2520086" y="1609344"/>
            <a:ext cx="219456" cy="0"/>
          </a:xfrm>
          <a:prstGeom prst="line">
            <a:avLst/>
          </a:prstGeom>
          <a:noFill/>
          <a:ln w="25400">
            <a:solidFill>
              <a:schemeClr val="accent4"/>
            </a:solidFill>
            <a:prstDash val="solid"/>
            <a:tailEnd type="triangle"/>
          </a:ln>
        </p:spPr>
      </p:sp>
      <p:sp>
        <p:nvSpPr>
          <p:cNvPr id="7" name="IRF to ERF flow 2"/>
          <p:cNvSpPr/>
          <p:nvPr/>
        </p:nvSpPr>
        <p:spPr>
          <a:xfrm>
            <a:off x="2766974" y="1207008"/>
            <a:ext cx="2035454" cy="804672"/>
          </a:xfrm>
          <a:prstGeom prst="roundRect">
            <a:avLst>
              <a:gd name="adj" fmla="val 7955"/>
            </a:avLst>
          </a:prstGeom>
          <a:solidFill>
            <a:schemeClr val="accent1"/>
          </a:solidFill>
          <a:ln w="12700">
            <a:solidFill>
              <a:schemeClr val="accent1"/>
            </a:solidFill>
            <a:prstDash val="solid"/>
          </a:ln>
        </p:spPr>
      </p:sp>
      <p:sp>
        <p:nvSpPr>
          <p:cNvPr id="8" name="IRF to ERF flow 2 text"/>
          <p:cNvSpPr txBox="1"/>
          <p:nvPr/>
        </p:nvSpPr>
        <p:spPr>
          <a:xfrm>
            <a:off x="2821838" y="1207008"/>
            <a:ext cx="1925726" cy="804672"/>
          </a:xfrm>
          <a:prstGeom prst="rect">
            <a:avLst/>
          </a:prstGeom>
          <a:noFill/>
          <a:ln/>
        </p:spPr>
        <p:txBody>
          <a:bodyPr wrap="square" lIns="0" tIns="0" rIns="0" bIns="0" rtlCol="0" anchor="ctr"/>
          <a:lstStyle/>
          <a:p>
            <a:pPr algn="ctr" indent="0" marL="0">
              <a:buNone/>
            </a:pPr>
            <a:r>
              <a:rPr lang="en-US" sz="1400" b="1" dirty="0">
                <a:solidFill>
                  <a:schemeClr val="bg1"/>
                </a:solidFill>
              </a:rPr>
              <a:t>IRF: instantaneous flux change, climate held fixed</a:t>
            </a:r>
            <a:endParaRPr lang="en-US" sz="1400" dirty="0"/>
          </a:p>
        </p:txBody>
      </p:sp>
      <p:sp>
        <p:nvSpPr>
          <p:cNvPr id="9" name="IRF to ERF flow arrow 2"/>
          <p:cNvSpPr/>
          <p:nvPr/>
        </p:nvSpPr>
        <p:spPr>
          <a:xfrm>
            <a:off x="4829861" y="1609344"/>
            <a:ext cx="219456" cy="0"/>
          </a:xfrm>
          <a:prstGeom prst="line">
            <a:avLst/>
          </a:prstGeom>
          <a:noFill/>
          <a:ln w="25400">
            <a:solidFill>
              <a:schemeClr val="accent4"/>
            </a:solidFill>
            <a:prstDash val="solid"/>
            <a:tailEnd type="triangle"/>
          </a:ln>
        </p:spPr>
      </p:sp>
      <p:sp>
        <p:nvSpPr>
          <p:cNvPr id="10" name="IRF to ERF flow 3"/>
          <p:cNvSpPr/>
          <p:nvPr/>
        </p:nvSpPr>
        <p:spPr>
          <a:xfrm>
            <a:off x="5076749" y="1207008"/>
            <a:ext cx="2035454" cy="804672"/>
          </a:xfrm>
          <a:prstGeom prst="roundRect">
            <a:avLst>
              <a:gd name="adj" fmla="val 7955"/>
            </a:avLst>
          </a:prstGeom>
          <a:solidFill>
            <a:schemeClr val="tx2"/>
          </a:solidFill>
          <a:ln w="12700">
            <a:solidFill>
              <a:schemeClr val="tx2"/>
            </a:solidFill>
            <a:prstDash val="solid"/>
          </a:ln>
        </p:spPr>
      </p:sp>
      <p:sp>
        <p:nvSpPr>
          <p:cNvPr id="11" name="IRF to ERF flow 3 text"/>
          <p:cNvSpPr txBox="1"/>
          <p:nvPr/>
        </p:nvSpPr>
        <p:spPr>
          <a:xfrm>
            <a:off x="5131613" y="1207008"/>
            <a:ext cx="1925726" cy="804672"/>
          </a:xfrm>
          <a:prstGeom prst="rect">
            <a:avLst/>
          </a:prstGeom>
          <a:noFill/>
          <a:ln/>
        </p:spPr>
        <p:txBody>
          <a:bodyPr wrap="square" lIns="0" tIns="0" rIns="0" bIns="0" rtlCol="0" anchor="ctr"/>
          <a:lstStyle/>
          <a:p>
            <a:pPr algn="ctr" indent="0" marL="0">
              <a:buNone/>
            </a:pPr>
            <a:r>
              <a:rPr lang="en-US" sz="1400" b="1" dirty="0">
                <a:solidFill>
                  <a:schemeClr val="bg1"/>
                </a:solidFill>
              </a:rPr>
              <a:t>Rapid adjustments: air temperature, water vapour, clouds</a:t>
            </a:r>
            <a:endParaRPr lang="en-US" sz="1400" dirty="0"/>
          </a:p>
        </p:txBody>
      </p:sp>
      <p:sp>
        <p:nvSpPr>
          <p:cNvPr id="12" name="IRF to ERF flow arrow 3"/>
          <p:cNvSpPr/>
          <p:nvPr/>
        </p:nvSpPr>
        <p:spPr>
          <a:xfrm>
            <a:off x="7139635" y="1609344"/>
            <a:ext cx="219456" cy="0"/>
          </a:xfrm>
          <a:prstGeom prst="line">
            <a:avLst/>
          </a:prstGeom>
          <a:noFill/>
          <a:ln w="25400">
            <a:solidFill>
              <a:schemeClr val="accent4"/>
            </a:solidFill>
            <a:prstDash val="solid"/>
            <a:tailEnd type="triangle"/>
          </a:ln>
        </p:spPr>
      </p:sp>
      <p:sp>
        <p:nvSpPr>
          <p:cNvPr id="13" name="IRF to ERF flow 4"/>
          <p:cNvSpPr/>
          <p:nvPr/>
        </p:nvSpPr>
        <p:spPr>
          <a:xfrm>
            <a:off x="7386523" y="1207008"/>
            <a:ext cx="2035454" cy="804672"/>
          </a:xfrm>
          <a:prstGeom prst="roundRect">
            <a:avLst>
              <a:gd name="adj" fmla="val 7955"/>
            </a:avLst>
          </a:prstGeom>
          <a:solidFill>
            <a:schemeClr val="accent1"/>
          </a:solidFill>
          <a:ln w="12700">
            <a:solidFill>
              <a:schemeClr val="accent1"/>
            </a:solidFill>
            <a:prstDash val="solid"/>
          </a:ln>
        </p:spPr>
      </p:sp>
      <p:sp>
        <p:nvSpPr>
          <p:cNvPr id="14" name="IRF to ERF flow 4 text"/>
          <p:cNvSpPr txBox="1"/>
          <p:nvPr/>
        </p:nvSpPr>
        <p:spPr>
          <a:xfrm>
            <a:off x="7441387" y="1207008"/>
            <a:ext cx="1925726" cy="804672"/>
          </a:xfrm>
          <a:prstGeom prst="rect">
            <a:avLst/>
          </a:prstGeom>
          <a:noFill/>
          <a:ln/>
        </p:spPr>
        <p:txBody>
          <a:bodyPr wrap="square" lIns="0" tIns="0" rIns="0" bIns="0" rtlCol="0" anchor="ctr"/>
          <a:lstStyle/>
          <a:p>
            <a:pPr algn="ctr" indent="0" marL="0">
              <a:buNone/>
            </a:pPr>
            <a:r>
              <a:rPr lang="en-US" sz="1400" b="1" dirty="0">
                <a:solidFill>
                  <a:schemeClr val="bg1"/>
                </a:solidFill>
              </a:rPr>
              <a:t>ERF = IRF + rapid adjustments</a:t>
            </a:r>
            <a:endParaRPr lang="en-US" sz="1400" dirty="0"/>
          </a:p>
        </p:txBody>
      </p:sp>
      <p:sp>
        <p:nvSpPr>
          <p:cNvPr id="15" name="IRF to ERF flow arrow 4"/>
          <p:cNvSpPr/>
          <p:nvPr/>
        </p:nvSpPr>
        <p:spPr>
          <a:xfrm>
            <a:off x="9449410" y="1609344"/>
            <a:ext cx="219456" cy="0"/>
          </a:xfrm>
          <a:prstGeom prst="line">
            <a:avLst/>
          </a:prstGeom>
          <a:noFill/>
          <a:ln w="25400">
            <a:solidFill>
              <a:schemeClr val="accent4"/>
            </a:solidFill>
            <a:prstDash val="solid"/>
            <a:tailEnd type="triangle"/>
          </a:ln>
        </p:spPr>
      </p:sp>
      <p:sp>
        <p:nvSpPr>
          <p:cNvPr id="16" name="IRF to ERF flow 5"/>
          <p:cNvSpPr/>
          <p:nvPr/>
        </p:nvSpPr>
        <p:spPr>
          <a:xfrm>
            <a:off x="9696298" y="1207008"/>
            <a:ext cx="2035454" cy="804672"/>
          </a:xfrm>
          <a:prstGeom prst="roundRect">
            <a:avLst>
              <a:gd name="adj" fmla="val 7955"/>
            </a:avLst>
          </a:prstGeom>
          <a:solidFill>
            <a:schemeClr val="accent3"/>
          </a:solidFill>
          <a:ln w="12700">
            <a:solidFill>
              <a:schemeClr val="accent3"/>
            </a:solidFill>
            <a:prstDash val="solid"/>
          </a:ln>
        </p:spPr>
      </p:sp>
      <p:sp>
        <p:nvSpPr>
          <p:cNvPr id="17" name="IRF to ERF flow 5 text"/>
          <p:cNvSpPr txBox="1"/>
          <p:nvPr/>
        </p:nvSpPr>
        <p:spPr>
          <a:xfrm>
            <a:off x="9751162" y="1207008"/>
            <a:ext cx="1925726" cy="804672"/>
          </a:xfrm>
          <a:prstGeom prst="rect">
            <a:avLst/>
          </a:prstGeom>
          <a:noFill/>
          <a:ln/>
        </p:spPr>
        <p:txBody>
          <a:bodyPr wrap="square" lIns="0" tIns="0" rIns="0" bIns="0" rtlCol="0" anchor="ctr"/>
          <a:lstStyle/>
          <a:p>
            <a:pPr algn="ctr" indent="0" marL="0">
              <a:buNone/>
            </a:pPr>
            <a:r>
              <a:rPr lang="en-US" sz="1400" b="1" dirty="0">
                <a:solidFill>
                  <a:schemeClr val="bg1"/>
                </a:solidFill>
              </a:rPr>
              <a:t>Surface temperature response</a:t>
            </a:r>
            <a:endParaRPr lang="en-US" sz="1400" dirty="0"/>
          </a:p>
        </p:txBody>
      </p:sp>
      <p:sp>
        <p:nvSpPr>
          <p:cNvPr id="18" name="Flow source"/>
          <p:cNvSpPr txBox="1"/>
          <p:nvPr/>
        </p:nvSpPr>
        <p:spPr>
          <a:xfrm>
            <a:off x="457200" y="2048256"/>
            <a:ext cx="11274552" cy="256032"/>
          </a:xfrm>
          <a:prstGeom prst="rect">
            <a:avLst/>
          </a:prstGeom>
          <a:noFill/>
          <a:ln/>
        </p:spPr>
        <p:txBody>
          <a:bodyPr wrap="square" lIns="0" tIns="0" rIns="0" bIns="0" rtlCol="0" anchor="t"/>
          <a:lstStyle/>
          <a:p>
            <a:pPr algn="r" indent="0" marL="0">
              <a:buNone/>
            </a:pPr>
            <a:r>
              <a:rPr lang="en-US" sz="1400" i="1" dirty="0">
                <a:solidFill>
                  <a:schemeClr val="accent1"/>
                </a:solidFill>
              </a:rPr>
              <a:t>IRF: instantaneous radiative forcing; ERF: effective radiative forcing (Forster et al., 2021)</a:t>
            </a:r>
            <a:endParaRPr lang="en-US" sz="1400" dirty="0"/>
          </a:p>
        </p:txBody>
      </p:sp>
      <p:sp>
        <p:nvSpPr>
          <p:cNvPr id="19" name="Definition card"/>
          <p:cNvSpPr/>
          <p:nvPr/>
        </p:nvSpPr>
        <p:spPr>
          <a:xfrm>
            <a:off x="457200" y="2395728"/>
            <a:ext cx="3611880" cy="1280160"/>
          </a:xfrm>
          <a:prstGeom prst="roundRect">
            <a:avLst>
              <a:gd name="adj" fmla="val 5000"/>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0" name="Definition text"/>
          <p:cNvSpPr txBox="1"/>
          <p:nvPr/>
        </p:nvSpPr>
        <p:spPr>
          <a:xfrm>
            <a:off x="594360" y="2450592"/>
            <a:ext cx="3337560" cy="1188720"/>
          </a:xfrm>
          <a:prstGeom prst="rect">
            <a:avLst/>
          </a:prstGeom>
          <a:noFill/>
          <a:ln/>
        </p:spPr>
        <p:txBody>
          <a:bodyPr wrap="square" lIns="0" tIns="0" rIns="0" bIns="0" rtlCol="0" anchor="ctr"/>
          <a:lstStyle/>
          <a:p>
            <a:pPr indent="0" marL="0">
              <a:buNone/>
            </a:pPr>
            <a:r>
              <a:rPr lang="en-US" sz="1400" b="1" dirty="0">
                <a:solidFill>
                  <a:schemeClr val="tx1"/>
                </a:solidFill>
              </a:rPr>
              <a:t>Aerosol radiative forcing (ARF):</a:t>
            </a:r>
            <a:r>
              <a:rPr lang="en-US" sz="1400" dirty="0">
                <a:solidFill>
                  <a:schemeClr val="tx1"/>
                </a:solidFill>
              </a:rPr>
              <a:t> change in net (down − up) radiative flux, in W m</a:t>
            </a:r>
            <a:r>
              <a:rPr lang="en-US" sz="1400" baseline="30000" dirty="0">
                <a:solidFill>
                  <a:schemeClr val="tx1"/>
                </a:solidFill>
              </a:rPr>
              <a:t>−2</a:t>
            </a:r>
            <a:r>
              <a:rPr lang="en-US" sz="1400" dirty="0">
                <a:solidFill>
                  <a:schemeClr val="tx1"/>
                </a:solidFill>
              </a:rPr>
              <a:t>, due to anthropogenic aerosol since 1750</a:t>
            </a:r>
            <a:endParaRPr lang="en-US" sz="1400" dirty="0"/>
          </a:p>
          <a:p>
            <a:pPr indent="0" marL="0">
              <a:buNone/>
            </a:pPr>
            <a:r>
              <a:rPr lang="en-US" sz="1400" i="1" dirty="0">
                <a:solidFill>
                  <a:schemeClr val="tx1"/>
                </a:solidFill>
              </a:rPr>
              <a:t>Negative = cooling; positive = warming</a:t>
            </a:r>
            <a:endParaRPr lang="en-US" sz="1400" dirty="0"/>
          </a:p>
        </p:txBody>
      </p:sp>
      <p:sp>
        <p:nvSpPr>
          <p:cNvPr id="21" name="Layer 1"/>
          <p:cNvSpPr/>
          <p:nvPr/>
        </p:nvSpPr>
        <p:spPr>
          <a:xfrm>
            <a:off x="457200" y="3794760"/>
            <a:ext cx="3611880" cy="603504"/>
          </a:xfrm>
          <a:prstGeom prst="rect">
            <a:avLst/>
          </a:prstGeom>
          <a:solidFill>
            <a:schemeClr val="tx2"/>
          </a:solidFill>
          <a:ln w="12700">
            <a:solidFill>
              <a:schemeClr val="tx2"/>
            </a:solidFill>
            <a:prstDash val="solid"/>
          </a:ln>
        </p:spPr>
      </p:sp>
      <p:sp>
        <p:nvSpPr>
          <p:cNvPr id="22" name="Layer 1 text"/>
          <p:cNvSpPr txBox="1"/>
          <p:nvPr/>
        </p:nvSpPr>
        <p:spPr>
          <a:xfrm>
            <a:off x="566928" y="3794760"/>
            <a:ext cx="3392424" cy="603504"/>
          </a:xfrm>
          <a:prstGeom prst="rect">
            <a:avLst/>
          </a:prstGeom>
          <a:noFill/>
          <a:ln/>
        </p:spPr>
        <p:txBody>
          <a:bodyPr wrap="square" lIns="0" tIns="0" rIns="0" bIns="0" rtlCol="0" anchor="ctr"/>
          <a:lstStyle/>
          <a:p>
            <a:pPr indent="0" marL="0">
              <a:buNone/>
            </a:pPr>
            <a:r>
              <a:rPr lang="en-US" sz="1400" b="1" dirty="0">
                <a:solidFill>
                  <a:schemeClr val="bg1"/>
                </a:solidFill>
              </a:rPr>
              <a:t>Top of atmosphere:</a:t>
            </a:r>
            <a:r>
              <a:rPr lang="en-US" sz="1400" dirty="0">
                <a:solidFill>
                  <a:schemeClr val="bg1"/>
                </a:solidFill>
              </a:rPr>
              <a:t> ΔF</a:t>
            </a:r>
            <a:r>
              <a:rPr lang="en-US" sz="1400" baseline="-40000" dirty="0">
                <a:solidFill>
                  <a:schemeClr val="bg1"/>
                </a:solidFill>
              </a:rPr>
              <a:t>TOA</a:t>
            </a:r>
            <a:r>
              <a:rPr lang="en-US" sz="1400" dirty="0">
                <a:solidFill>
                  <a:schemeClr val="bg1"/>
                </a:solidFill>
              </a:rPr>
              <a:t>, energy budget of the planet</a:t>
            </a:r>
            <a:endParaRPr lang="en-US" sz="1400" dirty="0"/>
          </a:p>
        </p:txBody>
      </p:sp>
      <p:sp>
        <p:nvSpPr>
          <p:cNvPr id="23" name="Layer 2"/>
          <p:cNvSpPr/>
          <p:nvPr/>
        </p:nvSpPr>
        <p:spPr>
          <a:xfrm>
            <a:off x="457200" y="4471416"/>
            <a:ext cx="3611880" cy="603504"/>
          </a:xfrm>
          <a:prstGeom prst="rect">
            <a:avLst/>
          </a:prstGeom>
          <a:solidFill>
            <a:srgbClr val="F3D9A4"/>
          </a:solidFill>
          <a:ln w="12700">
            <a:solidFill>
              <a:srgbClr val="F3D9A4"/>
            </a:solidFill>
            <a:prstDash val="solid"/>
          </a:ln>
        </p:spPr>
      </p:sp>
      <p:sp>
        <p:nvSpPr>
          <p:cNvPr id="24" name="Layer 2 text"/>
          <p:cNvSpPr txBox="1"/>
          <p:nvPr/>
        </p:nvSpPr>
        <p:spPr>
          <a:xfrm>
            <a:off x="566928" y="4471416"/>
            <a:ext cx="3392424" cy="603504"/>
          </a:xfrm>
          <a:prstGeom prst="rect">
            <a:avLst/>
          </a:prstGeom>
          <a:noFill/>
          <a:ln/>
        </p:spPr>
        <p:txBody>
          <a:bodyPr wrap="square" lIns="0" tIns="0" rIns="0" bIns="0" rtlCol="0" anchor="ctr"/>
          <a:lstStyle/>
          <a:p>
            <a:pPr indent="0" marL="0">
              <a:buNone/>
            </a:pPr>
            <a:r>
              <a:rPr lang="en-US" sz="1400" b="1" dirty="0">
                <a:solidFill>
                  <a:schemeClr val="tx1"/>
                </a:solidFill>
              </a:rPr>
              <a:t>Aerosol layer:</a:t>
            </a:r>
            <a:r>
              <a:rPr lang="en-US" sz="1400" dirty="0">
                <a:solidFill>
                  <a:schemeClr val="tx1"/>
                </a:solidFill>
              </a:rPr>
              <a:t> ΔF</a:t>
            </a:r>
            <a:r>
              <a:rPr lang="en-US" sz="1400" baseline="-40000" dirty="0">
                <a:solidFill>
                  <a:schemeClr val="tx1"/>
                </a:solidFill>
              </a:rPr>
              <a:t>atm</a:t>
            </a:r>
            <a:r>
              <a:rPr lang="en-US" sz="1400" dirty="0">
                <a:solidFill>
                  <a:schemeClr val="tx1"/>
                </a:solidFill>
              </a:rPr>
              <a:t> = ΔF</a:t>
            </a:r>
            <a:r>
              <a:rPr lang="en-US" sz="1400" baseline="-40000" dirty="0">
                <a:solidFill>
                  <a:schemeClr val="tx1"/>
                </a:solidFill>
              </a:rPr>
              <a:t>TOA</a:t>
            </a:r>
            <a:r>
              <a:rPr lang="en-US" sz="1400" dirty="0">
                <a:solidFill>
                  <a:schemeClr val="tx1"/>
                </a:solidFill>
              </a:rPr>
              <a:t> − ΔF</a:t>
            </a:r>
            <a:r>
              <a:rPr lang="en-US" sz="1400" baseline="-40000" dirty="0">
                <a:solidFill>
                  <a:schemeClr val="tx1"/>
                </a:solidFill>
              </a:rPr>
              <a:t>sfc</a:t>
            </a:r>
            <a:r>
              <a:rPr lang="en-US" sz="1400" dirty="0">
                <a:solidFill>
                  <a:schemeClr val="tx1"/>
                </a:solidFill>
              </a:rPr>
              <a:t>, heating by absorption</a:t>
            </a:r>
            <a:endParaRPr lang="en-US" sz="1400" dirty="0"/>
          </a:p>
        </p:txBody>
      </p:sp>
      <p:sp>
        <p:nvSpPr>
          <p:cNvPr id="25" name="Layer 3"/>
          <p:cNvSpPr/>
          <p:nvPr/>
        </p:nvSpPr>
        <p:spPr>
          <a:xfrm>
            <a:off x="457200" y="5148072"/>
            <a:ext cx="3611880" cy="603504"/>
          </a:xfrm>
          <a:prstGeom prst="rect">
            <a:avLst/>
          </a:prstGeom>
          <a:solidFill>
            <a:schemeClr val="accent3"/>
          </a:solidFill>
          <a:ln w="12700">
            <a:solidFill>
              <a:schemeClr val="accent3"/>
            </a:solidFill>
            <a:prstDash val="solid"/>
          </a:ln>
        </p:spPr>
      </p:sp>
      <p:sp>
        <p:nvSpPr>
          <p:cNvPr id="26" name="Layer 3 text"/>
          <p:cNvSpPr txBox="1"/>
          <p:nvPr/>
        </p:nvSpPr>
        <p:spPr>
          <a:xfrm>
            <a:off x="566928" y="5148072"/>
            <a:ext cx="3392424" cy="603504"/>
          </a:xfrm>
          <a:prstGeom prst="rect">
            <a:avLst/>
          </a:prstGeom>
          <a:noFill/>
          <a:ln/>
        </p:spPr>
        <p:txBody>
          <a:bodyPr wrap="square" lIns="0" tIns="0" rIns="0" bIns="0" rtlCol="0" anchor="ctr"/>
          <a:lstStyle/>
          <a:p>
            <a:pPr indent="0" marL="0">
              <a:buNone/>
            </a:pPr>
            <a:r>
              <a:rPr lang="en-US" sz="1400" b="1" dirty="0">
                <a:solidFill>
                  <a:schemeClr val="bg1"/>
                </a:solidFill>
              </a:rPr>
              <a:t>Surface:</a:t>
            </a:r>
            <a:r>
              <a:rPr lang="en-US" sz="1400" dirty="0">
                <a:solidFill>
                  <a:schemeClr val="bg1"/>
                </a:solidFill>
              </a:rPr>
              <a:t> ΔF</a:t>
            </a:r>
            <a:r>
              <a:rPr lang="en-US" sz="1400" baseline="-40000" dirty="0">
                <a:solidFill>
                  <a:schemeClr val="bg1"/>
                </a:solidFill>
              </a:rPr>
              <a:t>sfc</a:t>
            </a:r>
            <a:r>
              <a:rPr lang="en-US" sz="1400" dirty="0">
                <a:solidFill>
                  <a:schemeClr val="bg1"/>
                </a:solidFill>
              </a:rPr>
              <a:t>, dimming felt by the canopy</a:t>
            </a:r>
            <a:endParaRPr lang="en-US" sz="1400" dirty="0"/>
          </a:p>
        </p:txBody>
      </p:sp>
      <p:sp>
        <p:nvSpPr>
          <p:cNvPr id="27" name="Species chart card"/>
          <p:cNvSpPr/>
          <p:nvPr/>
        </p:nvSpPr>
        <p:spPr>
          <a:xfrm>
            <a:off x="4251960" y="2395728"/>
            <a:ext cx="4160520" cy="3493008"/>
          </a:xfrm>
          <a:prstGeom prst="roundRect">
            <a:avLst>
              <a:gd name="adj" fmla="val 1832"/>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28" name="Chart title"/>
          <p:cNvSpPr txBox="1"/>
          <p:nvPr/>
        </p:nvSpPr>
        <p:spPr>
          <a:xfrm>
            <a:off x="4389120" y="2450592"/>
            <a:ext cx="3886200" cy="292608"/>
          </a:xfrm>
          <a:prstGeom prst="rect">
            <a:avLst/>
          </a:prstGeom>
          <a:noFill/>
          <a:ln/>
        </p:spPr>
        <p:txBody>
          <a:bodyPr wrap="square" lIns="0" tIns="0" rIns="0" bIns="0" rtlCol="0" anchor="t"/>
          <a:lstStyle/>
          <a:p>
            <a:pPr indent="0" marL="0">
              <a:buNone/>
            </a:pPr>
            <a:r>
              <a:rPr lang="en-US" sz="1400" b="1" dirty="0">
                <a:solidFill>
                  <a:schemeClr val="tx2"/>
                </a:solidFill>
              </a:rPr>
              <a:t>RF</a:t>
            </a:r>
            <a:r>
              <a:rPr lang="en-US" sz="1400" b="1" baseline="-40000" dirty="0">
                <a:solidFill>
                  <a:schemeClr val="tx2"/>
                </a:solidFill>
              </a:rPr>
              <a:t>ari</a:t>
            </a:r>
            <a:r>
              <a:rPr lang="en-US" sz="1400" b="1" dirty="0">
                <a:solidFill>
                  <a:schemeClr val="tx2"/>
                </a:solidFill>
              </a:rPr>
              <a:t> by species, 1750–2011 (W m</a:t>
            </a:r>
            <a:r>
              <a:rPr lang="en-US" sz="1400" b="1" baseline="30000" dirty="0">
                <a:solidFill>
                  <a:schemeClr val="tx2"/>
                </a:solidFill>
              </a:rPr>
              <a:t>−2</a:t>
            </a:r>
            <a:r>
              <a:rPr lang="en-US" sz="1400" b="1" dirty="0">
                <a:solidFill>
                  <a:schemeClr val="tx2"/>
                </a:solidFill>
              </a:rPr>
              <a:t>)</a:t>
            </a:r>
            <a:endParaRPr lang="en-US" sz="1400" dirty="0"/>
          </a:p>
        </p:txBody>
      </p:sp>
      <p:graphicFrame>
        <p:nvGraphicFramePr>
          <p:cNvPr id="29" name="Species RFari chart" descr=""/>
          <p:cNvGraphicFramePr/>
          <p:nvPr/>
        </p:nvGraphicFramePr>
        <p:xfrm>
          <a:off x="4297680" y="2743200"/>
          <a:ext cx="4069080" cy="2606040"/>
        </p:xfrm>
        <a:graphic xmlns:a="http://schemas.openxmlformats.org/drawingml/2006/main">
          <a:graphicData uri="http://schemas.openxmlformats.org/drawingml/2006/chart">
            <c:chart xmlns:c="http://schemas.openxmlformats.org/drawingml/2006/chart" r:id="rId1"/>
          </a:graphicData>
        </a:graphic>
      </p:graphicFrame>
      <p:sp>
        <p:nvSpPr>
          <p:cNvPr id="30" name="Chart note"/>
          <p:cNvSpPr txBox="1"/>
          <p:nvPr/>
        </p:nvSpPr>
        <p:spPr>
          <a:xfrm>
            <a:off x="4389120" y="5349240"/>
            <a:ext cx="3886200" cy="502920"/>
          </a:xfrm>
          <a:prstGeom prst="rect">
            <a:avLst/>
          </a:prstGeom>
          <a:noFill/>
          <a:ln/>
        </p:spPr>
        <p:txBody>
          <a:bodyPr wrap="square" lIns="0" tIns="0" rIns="0" bIns="0" rtlCol="0" anchor="t"/>
          <a:lstStyle/>
          <a:p>
            <a:pPr indent="0" marL="0">
              <a:buNone/>
            </a:pPr>
            <a:r>
              <a:rPr lang="en-US" sz="1400" dirty="0">
                <a:solidFill>
                  <a:schemeClr val="tx1"/>
                </a:solidFill>
              </a:rPr>
              <a:t>Blue cools, red warms; total RF</a:t>
            </a:r>
            <a:r>
              <a:rPr lang="en-US" sz="1400" baseline="-40000" dirty="0">
                <a:solidFill>
                  <a:schemeClr val="tx1"/>
                </a:solidFill>
              </a:rPr>
              <a:t>ari</a:t>
            </a:r>
            <a:r>
              <a:rPr lang="en-US" sz="1400" dirty="0">
                <a:solidFill>
                  <a:schemeClr val="tx1"/>
                </a:solidFill>
              </a:rPr>
              <a:t> −0.35</a:t>
            </a:r>
            <a:endParaRPr lang="en-US" sz="1400" dirty="0"/>
          </a:p>
          <a:p>
            <a:pPr indent="0" marL="0">
              <a:buNone/>
            </a:pPr>
            <a:r>
              <a:rPr lang="en-US" sz="1400" i="1" dirty="0">
                <a:solidFill>
                  <a:schemeClr val="accent1"/>
                </a:solidFill>
              </a:rPr>
              <a:t>Source: Myhre et al., 2013 (IPCC AR5)</a:t>
            </a:r>
            <a:endParaRPr lang="en-US" sz="1400" dirty="0"/>
          </a:p>
        </p:txBody>
      </p:sp>
      <p:sp>
        <p:nvSpPr>
          <p:cNvPr id="31" name="Total ERF card"/>
          <p:cNvSpPr/>
          <p:nvPr/>
        </p:nvSpPr>
        <p:spPr>
          <a:xfrm>
            <a:off x="8595360" y="2395728"/>
            <a:ext cx="3136392" cy="1097280"/>
          </a:xfrm>
          <a:prstGeom prst="roundRect">
            <a:avLst>
              <a:gd name="adj" fmla="val 583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2" name="Total ERF text"/>
          <p:cNvSpPr txBox="1"/>
          <p:nvPr/>
        </p:nvSpPr>
        <p:spPr>
          <a:xfrm>
            <a:off x="8705088" y="2441448"/>
            <a:ext cx="2916936" cy="1005840"/>
          </a:xfrm>
          <a:prstGeom prst="rect">
            <a:avLst/>
          </a:prstGeom>
          <a:noFill/>
          <a:ln/>
        </p:spPr>
        <p:txBody>
          <a:bodyPr wrap="square" lIns="0" tIns="0" rIns="0" bIns="0" rtlCol="0" anchor="ctr"/>
          <a:lstStyle/>
          <a:p>
            <a:pPr algn="ctr" indent="0" marL="0">
              <a:buNone/>
            </a:pPr>
            <a:r>
              <a:rPr lang="en-US" sz="2600" b="1" dirty="0">
                <a:solidFill>
                  <a:schemeClr val="accent1"/>
                </a:solidFill>
              </a:rPr>
              <a:t>−1.3 W m⁻²</a:t>
            </a:r>
            <a:endParaRPr lang="en-US" sz="2600" dirty="0"/>
          </a:p>
          <a:p>
            <a:pPr algn="ctr" indent="0" marL="0">
              <a:buNone/>
            </a:pPr>
            <a:r>
              <a:rPr lang="en-US" sz="1400" dirty="0">
                <a:solidFill>
                  <a:schemeClr val="tx1"/>
                </a:solidFill>
              </a:rPr>
              <a:t>Total aerosol ERF, 1750–2014 [−2.0 to −0.6]; AR5: −0.9</a:t>
            </a:r>
            <a:endParaRPr lang="en-US" sz="2600" dirty="0"/>
          </a:p>
          <a:p>
            <a:pPr algn="ctr" indent="0" marL="0">
              <a:buNone/>
            </a:pPr>
            <a:r>
              <a:rPr lang="en-US" sz="1400" i="1" dirty="0">
                <a:solidFill>
                  <a:schemeClr val="accent1"/>
                </a:solidFill>
              </a:rPr>
              <a:t>Forster et al., 2021</a:t>
            </a:r>
            <a:endParaRPr lang="en-US" sz="2600" dirty="0"/>
          </a:p>
        </p:txBody>
      </p:sp>
      <p:sp>
        <p:nvSpPr>
          <p:cNvPr id="33" name="ERF split card"/>
          <p:cNvSpPr/>
          <p:nvPr/>
        </p:nvSpPr>
        <p:spPr>
          <a:xfrm>
            <a:off x="8595360" y="3593592"/>
            <a:ext cx="3136392" cy="1097280"/>
          </a:xfrm>
          <a:prstGeom prst="roundRect">
            <a:avLst>
              <a:gd name="adj" fmla="val 583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4" name="ERF split text"/>
          <p:cNvSpPr txBox="1"/>
          <p:nvPr/>
        </p:nvSpPr>
        <p:spPr>
          <a:xfrm>
            <a:off x="8705088" y="3639312"/>
            <a:ext cx="2916936" cy="1005840"/>
          </a:xfrm>
          <a:prstGeom prst="rect">
            <a:avLst/>
          </a:prstGeom>
          <a:noFill/>
          <a:ln/>
        </p:spPr>
        <p:txBody>
          <a:bodyPr wrap="square" lIns="0" tIns="0" rIns="0" bIns="0" rtlCol="0" anchor="ctr"/>
          <a:lstStyle/>
          <a:p>
            <a:pPr algn="ctr" indent="0" marL="0">
              <a:buNone/>
            </a:pPr>
            <a:r>
              <a:rPr lang="en-US" sz="2600" b="1" dirty="0">
                <a:solidFill>
                  <a:schemeClr val="tx2"/>
                </a:solidFill>
              </a:rPr>
              <a:t>−1.0 | −0.3</a:t>
            </a:r>
            <a:endParaRPr lang="en-US" sz="2600" dirty="0"/>
          </a:p>
          <a:p>
            <a:pPr algn="ctr" indent="0" marL="0">
              <a:buNone/>
            </a:pPr>
            <a:r>
              <a:rPr lang="en-US" sz="1400" dirty="0">
                <a:solidFill>
                  <a:schemeClr val="tx1"/>
                </a:solidFill>
              </a:rPr>
              <a:t>Aerosol–cloud | aerosol–radiation ERF (W m⁻²): clouds dominate</a:t>
            </a:r>
            <a:endParaRPr lang="en-US" sz="2600" dirty="0"/>
          </a:p>
          <a:p>
            <a:pPr algn="ctr" indent="0" marL="0">
              <a:buNone/>
            </a:pPr>
            <a:r>
              <a:rPr lang="en-US" sz="1400" i="1" dirty="0">
                <a:solidFill>
                  <a:schemeClr val="accent1"/>
                </a:solidFill>
              </a:rPr>
              <a:t>Forster et al., 2021</a:t>
            </a:r>
            <a:endParaRPr lang="en-US" sz="2600" dirty="0"/>
          </a:p>
        </p:txBody>
      </p:sp>
      <p:sp>
        <p:nvSpPr>
          <p:cNvPr id="35" name="Black carbon card"/>
          <p:cNvSpPr/>
          <p:nvPr/>
        </p:nvSpPr>
        <p:spPr>
          <a:xfrm>
            <a:off x="8595360" y="4791456"/>
            <a:ext cx="3136392" cy="1097280"/>
          </a:xfrm>
          <a:prstGeom prst="roundRect">
            <a:avLst>
              <a:gd name="adj" fmla="val 5833"/>
            </a:avLst>
          </a:prstGeom>
          <a:solidFill>
            <a:schemeClr val="bg1"/>
          </a:solidFill>
          <a:ln w="9525">
            <a:solidFill>
              <a:schemeClr val="accent4">
                <a:alpha val="60000"/>
              </a:schemeClr>
            </a:solidFill>
            <a:prstDash val="solid"/>
          </a:ln>
          <a:effectLst>
            <a:outerShdw sx="100000" sy="100000" kx="0" ky="0" algn="bl" rotWithShape="0" blurRad="76200" dist="25400" dir="5400000">
              <a:srgbClr val="000000">
                <a:alpha val="12000"/>
              </a:srgbClr>
            </a:outerShdw>
          </a:effectLst>
        </p:spPr>
      </p:sp>
      <p:sp>
        <p:nvSpPr>
          <p:cNvPr id="36" name="Black carbon text"/>
          <p:cNvSpPr txBox="1"/>
          <p:nvPr/>
        </p:nvSpPr>
        <p:spPr>
          <a:xfrm>
            <a:off x="8705088" y="4837176"/>
            <a:ext cx="2916936" cy="1005840"/>
          </a:xfrm>
          <a:prstGeom prst="rect">
            <a:avLst/>
          </a:prstGeom>
          <a:noFill/>
          <a:ln/>
        </p:spPr>
        <p:txBody>
          <a:bodyPr wrap="square" lIns="0" tIns="0" rIns="0" bIns="0" rtlCol="0" anchor="ctr"/>
          <a:lstStyle/>
          <a:p>
            <a:pPr algn="ctr" indent="0" marL="0">
              <a:buNone/>
            </a:pPr>
            <a:r>
              <a:rPr lang="en-US" sz="2600" b="1" dirty="0">
                <a:solidFill>
                  <a:schemeClr val="accent5"/>
                </a:solidFill>
              </a:rPr>
              <a:t>+1.1 W m⁻²</a:t>
            </a:r>
            <a:endParaRPr lang="en-US" sz="2600" dirty="0"/>
          </a:p>
          <a:p>
            <a:pPr algn="ctr" indent="0" marL="0">
              <a:buNone/>
            </a:pPr>
            <a:r>
              <a:rPr lang="en-US" sz="1400" dirty="0">
                <a:solidFill>
                  <a:schemeClr val="tx1"/>
                </a:solidFill>
              </a:rPr>
              <a:t>Black carbon, all mechanisms [+0.17 to +2.1]</a:t>
            </a:r>
            <a:endParaRPr lang="en-US" sz="2600" dirty="0"/>
          </a:p>
          <a:p>
            <a:pPr algn="ctr" indent="0" marL="0">
              <a:buNone/>
            </a:pPr>
            <a:r>
              <a:rPr lang="en-US" sz="1400" i="1" dirty="0">
                <a:solidFill>
                  <a:schemeClr val="accent1"/>
                </a:solidFill>
              </a:rPr>
              <a:t>Bond et al., 2013</a:t>
            </a:r>
            <a:endParaRPr lang="en-US" sz="2600" dirty="0"/>
          </a:p>
        </p:txBody>
      </p:sp>
      <p:sp>
        <p:nvSpPr>
          <p:cNvPr id="37" name="Plant link strip"/>
          <p:cNvSpPr/>
          <p:nvPr/>
        </p:nvSpPr>
        <p:spPr>
          <a:xfrm>
            <a:off x="457200" y="5998464"/>
            <a:ext cx="11274552" cy="365760"/>
          </a:xfrm>
          <a:prstGeom prst="roundRect">
            <a:avLst>
              <a:gd name="adj" fmla="val 15000"/>
            </a:avLst>
          </a:prstGeom>
          <a:solidFill>
            <a:schemeClr val="bg2"/>
          </a:solidFill>
          <a:ln w="12700">
            <a:solidFill>
              <a:schemeClr val="bg2"/>
            </a:solidFill>
            <a:prstDash val="solid"/>
          </a:ln>
        </p:spPr>
      </p:sp>
      <p:sp>
        <p:nvSpPr>
          <p:cNvPr id="38" name="Plant link strip text"/>
          <p:cNvSpPr txBox="1"/>
          <p:nvPr/>
        </p:nvSpPr>
        <p:spPr>
          <a:xfrm>
            <a:off x="594360" y="5998464"/>
            <a:ext cx="11000232" cy="365760"/>
          </a:xfrm>
          <a:prstGeom prst="rect">
            <a:avLst/>
          </a:prstGeom>
          <a:noFill/>
          <a:ln/>
        </p:spPr>
        <p:txBody>
          <a:bodyPr wrap="square" lIns="0" tIns="0" rIns="0" bIns="0" rtlCol="0" anchor="ctr"/>
          <a:lstStyle/>
          <a:p>
            <a:pPr indent="0" marL="0">
              <a:buNone/>
            </a:pPr>
            <a:r>
              <a:rPr lang="en-US" sz="1400" b="1" dirty="0">
                <a:solidFill>
                  <a:schemeClr val="tx1"/>
                </a:solidFill>
              </a:rPr>
              <a:t>For vegetation:</a:t>
            </a:r>
            <a:r>
              <a:rPr lang="en-US" sz="1400" dirty="0">
                <a:solidFill>
                  <a:schemeClr val="tx1"/>
                </a:solidFill>
              </a:rPr>
              <a:t> canopies respond to ΔF</a:t>
            </a:r>
            <a:r>
              <a:rPr lang="en-US" sz="1400" baseline="-40000" dirty="0">
                <a:solidFill>
                  <a:schemeClr val="tx1"/>
                </a:solidFill>
              </a:rPr>
              <a:t>sfc</a:t>
            </a:r>
            <a:r>
              <a:rPr lang="en-US" sz="1400" dirty="0">
                <a:solidFill>
                  <a:schemeClr val="tx1"/>
                </a:solidFill>
              </a:rPr>
              <a:t>, not ΔF</a:t>
            </a:r>
            <a:r>
              <a:rPr lang="en-US" sz="1400" baseline="-40000" dirty="0">
                <a:solidFill>
                  <a:schemeClr val="tx1"/>
                </a:solidFill>
              </a:rPr>
              <a:t>TOA</a:t>
            </a:r>
            <a:r>
              <a:rPr lang="en-US" sz="1400" dirty="0">
                <a:solidFill>
                  <a:schemeClr val="tx1"/>
                </a:solidFill>
              </a:rPr>
              <a:t>; scattering aerosol turns direct light into diffuse light, absorbing aerosol removes light.</a:t>
            </a:r>
            <a:endParaRPr lang="en-US" sz="1400" dirty="0"/>
          </a:p>
        </p:txBody>
      </p:sp>
      <p:sp>
        <p:nvSpPr>
          <p:cNvPr id="25" name="Slide Number Placeholder 0"/>
          <p:cNvSpPr>
            <a:spLocks noGrp="1"/>
          </p:cNvSpPr>
          <p:nvPr>
            <p:ph type="sldNum" sz="quarter" idx="4294967295"/>
          </p:nvPr>
        </p:nvSpPr>
        <p:spPr>
          <a:xfrm>
            <a:off x="11183112" y="6400800"/>
            <a:ext cx="548640" cy="292608"/>
          </a:xfrm>
          <a:prstGeom prst="rect">
            <a:avLst/>
          </a:prstGeom>
          <a:extLst>
            <a:ext uri="{C572A759-6A51-4108-AA02-DFA0A04FC94B}">
              <ma14:wrappingTextBoxFlag xmlns:ma14="http://schemas.microsoft.com/office/mac/drawingml/2011/main" val="0"/>
            </a:ext>
          </a:extLst>
        </p:spPr>
        <p:txBody>
          <a:bodyPr lIns="0" tIns="0" rIns="0" bIns="0"/>
          <a:lstStyle>
            <a:lvl1pPr>
              <a:defRPr sz="1400">
                <a:solidFill>
                  <a:schemeClr val="accent1"/>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Aerosol Haze TNR">
  <a:themeElements>
    <a:clrScheme name="Aerosol Haze TNR">
      <a:dk1>
        <a:srgbClr val="1A1F24"/>
      </a:dk1>
      <a:lt1>
        <a:srgbClr val="FFFFFF"/>
      </a:lt1>
      <a:dk2>
        <a:srgbClr val="16384A"/>
      </a:dk2>
      <a:lt2>
        <a:srgbClr val="EDF2F5"/>
      </a:lt2>
      <a:accent1>
        <a:srgbClr val="1F6F8B"/>
      </a:accent1>
      <a:accent2>
        <a:srgbClr val="D98E04"/>
      </a:accent2>
      <a:accent3>
        <a:srgbClr val="3C8D5A"/>
      </a:accent3>
      <a:accent4>
        <a:srgbClr val="8A9BA8"/>
      </a:accent4>
      <a:accent5>
        <a:srgbClr val="B5452F"/>
      </a:accent5>
      <a:accent6>
        <a:srgbClr val="5E4B8B"/>
      </a:accent6>
      <a:hlink>
        <a:srgbClr val="1F6F8B"/>
      </a:hlink>
      <a:folHlink>
        <a:srgbClr val="5E4B8B"/>
      </a:folHlink>
    </a:clrScheme>
    <a:fontScheme name="Aerosol Haze TNR">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Remote Sensing for Quantifying Aerosol Impact on Terrestrial Ecosystem Productivity</dc:title>
  <dc:subject>PptxGenJS Presentation</dc:subject>
  <dc:creator>PhD credit seminar</dc:creator>
  <cp:lastModifiedBy>PhD credit seminar</cp:lastModifiedBy>
  <cp:revision>1</cp:revision>
  <dcterms:created xsi:type="dcterms:W3CDTF">2026-10-25T11:12:16Z</dcterms:created>
  <dcterms:modified xsi:type="dcterms:W3CDTF">2026-10-25T11:12:16Z</dcterms:modified>
</cp:coreProperties>
</file>