
<file path=[Content_Types].xml><?xml version="1.0" encoding="utf-8"?>
<Types xmlns="http://schemas.openxmlformats.org/package/2006/content-types">
  <Default Extension="png" ContentType="image/png"/>
  <Default Extension="rels" ContentType="application/vnd.openxmlformats-package.relationships+xml"/>
  <Default Extension="jpg" ContentType="image/jpeg"/>
  <Default Extension="jpeg" ContentType="image/jpe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501.xml" ContentType="application/vnd.openxmlformats-officedocument.presentationml.notesSlide+xml"/>
  <Override PartName="/ppt/slides/slide501.xml" ContentType="application/vnd.openxmlformats-officedocument.presentationml.slide+xml"/>
  <Override PartName="/ppt/notesSlides/notesSlide502.xml" ContentType="application/vnd.openxmlformats-officedocument.presentationml.notesSlide+xml"/>
  <Override PartName="/ppt/slides/slide502.xml" ContentType="application/vnd.openxmlformats-officedocument.presentationml.slide+xml"/>
  <Override PartName="/ppt/notesSlides/notesSlide503.xml" ContentType="application/vnd.openxmlformats-officedocument.presentationml.notesSlide+xml"/>
  <Override PartName="/ppt/slides/slide503.xml" ContentType="application/vnd.openxmlformats-officedocument.presentationml.slide+xml"/>
  <Override PartName="/ppt/notesSlides/notesSlide504.xml" ContentType="application/vnd.openxmlformats-officedocument.presentationml.notesSlide+xml"/>
  <Override PartName="/ppt/slides/slide504.xml" ContentType="application/vnd.openxmlformats-officedocument.presentationml.slide+xml"/>
  <Override PartName="/ppt/notesSlides/notesSlide505.xml" ContentType="application/vnd.openxmlformats-officedocument.presentationml.notesSlide+xml"/>
  <Override PartName="/ppt/slides/slide505.xml" ContentType="application/vnd.openxmlformats-officedocument.presentationml.slide+xml"/>
  <Override PartName="/ppt/notesSlides/notesSlide506.xml" ContentType="application/vnd.openxmlformats-officedocument.presentationml.notesSlide+xml"/>
  <Override PartName="/ppt/slides/slide506.xml" ContentType="application/vnd.openxmlformats-officedocument.presentationml.slide+xml"/>
  <Override PartName="/ppt/charts/u2chart507_chart1.xml" ContentType="application/vnd.openxmlformats-officedocument.drawingml.chart+xml"/>
  <Override PartName="/ppt/notesSlides/notesSlide507.xml" ContentType="application/vnd.openxmlformats-officedocument.presentationml.notesSlide+xml"/>
  <Override PartName="/ppt/slides/slide507.xml" ContentType="application/vnd.openxmlformats-officedocument.presentationml.slide+xml"/>
  <Override PartName="/ppt/notesSlides/notesSlide508.xml" ContentType="application/vnd.openxmlformats-officedocument.presentationml.notesSlide+xml"/>
  <Override PartName="/ppt/slides/slide508.xml" ContentType="application/vnd.openxmlformats-officedocument.presentationml.slide+xml"/>
  <Override PartName="/ppt/notesSlides/notesSlide509.xml" ContentType="application/vnd.openxmlformats-officedocument.presentationml.notesSlide+xml"/>
  <Override PartName="/ppt/slides/slide509.xml" ContentType="application/vnd.openxmlformats-officedocument.presentationml.slide+xml"/>
  <Override PartName="/ppt/notesSlides/notesSlide510.xml" ContentType="application/vnd.openxmlformats-officedocument.presentationml.notesSlide+xml"/>
  <Override PartName="/ppt/slides/slide510.xml" ContentType="application/vnd.openxmlformats-officedocument.presentationml.slide+xml"/>
  <Override PartName="/ppt/notesSlides/notesSlide511.xml" ContentType="application/vnd.openxmlformats-officedocument.presentationml.notesSlide+xml"/>
  <Override PartName="/ppt/slides/slide511.xml" ContentType="application/vnd.openxmlformats-officedocument.presentationml.slide+xml"/>
  <Override PartName="/ppt/charts/u2chart512_chart2.xml" ContentType="application/vnd.openxmlformats-officedocument.drawingml.chart+xml"/>
  <Override PartName="/ppt/notesSlides/notesSlide512.xml" ContentType="application/vnd.openxmlformats-officedocument.presentationml.notesSlide+xml"/>
  <Override PartName="/ppt/slides/slide512.xml" ContentType="application/vnd.openxmlformats-officedocument.presentationml.slide+xml"/>
  <Override PartName="/ppt/notesSlides/notesSlide513.xml" ContentType="application/vnd.openxmlformats-officedocument.presentationml.notesSlide+xml"/>
  <Override PartName="/ppt/slides/slide513.xml" ContentType="application/vnd.openxmlformats-officedocument.presentationml.slide+xml"/>
  <Override PartName="/ppt/notesSlides/notesSlide514.xml" ContentType="application/vnd.openxmlformats-officedocument.presentationml.notesSlide+xml"/>
  <Override PartName="/ppt/slides/slide514.xml" ContentType="application/vnd.openxmlformats-officedocument.presentationml.slide+xml"/>
  <Override PartName="/ppt/charts/u2chart515_chart3.xml" ContentType="application/vnd.openxmlformats-officedocument.drawingml.chart+xml"/>
  <Override PartName="/ppt/notesSlides/notesSlide515.xml" ContentType="application/vnd.openxmlformats-officedocument.presentationml.notesSlide+xml"/>
  <Override PartName="/ppt/slides/slide515.xml" ContentType="application/vnd.openxmlformats-officedocument.presentationml.slide+xml"/>
  <Override PartName="/ppt/charts/u2chart516_chart4.xml" ContentType="application/vnd.openxmlformats-officedocument.drawingml.chart+xml"/>
  <Override PartName="/ppt/notesSlides/notesSlide516.xml" ContentType="application/vnd.openxmlformats-officedocument.presentationml.notesSlide+xml"/>
  <Override PartName="/ppt/slides/slide51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600" r:id="rId40"/>
    <p:sldId id="601" r:id="rId41"/>
    <p:sldId id="602" r:id="rId42"/>
    <p:sldId id="260" r:id="rId6"/>
    <p:sldId id="262" r:id="rId7"/>
    <p:sldId id="261" r:id="rId8"/>
    <p:sldId id="263" r:id="rId9"/>
    <p:sldId id="264" r:id="rId10"/>
    <p:sldId id="603" r:id="rId43"/>
    <p:sldId id="604" r:id="rId44"/>
    <p:sldId id="267" r:id="rId13"/>
    <p:sldId id="268" r:id="rId14"/>
    <p:sldId id="605" r:id="rId45"/>
    <p:sldId id="606" r:id="rId46"/>
    <p:sldId id="607" r:id="rId47"/>
    <p:sldId id="271" r:id="rId17"/>
    <p:sldId id="272" r:id="rId18"/>
    <p:sldId id="273" r:id="rId19"/>
    <p:sldId id="274" r:id="rId20"/>
    <p:sldId id="608" r:id="rId48"/>
    <p:sldId id="609" r:id="rId49"/>
    <p:sldId id="277" r:id="rId23"/>
    <p:sldId id="278" r:id="rId24"/>
    <p:sldId id="425" r:id="rId25"/>
    <p:sldId id="610" r:id="rId50"/>
    <p:sldId id="280" r:id="rId26"/>
    <p:sldId id="611" r:id="rId51"/>
    <p:sldId id="612" r:id="rId52"/>
    <p:sldId id="282" r:id="rId28"/>
    <p:sldId id="613" r:id="rId53"/>
    <p:sldId id="284" r:id="rId30"/>
    <p:sldId id="285" r:id="rId31"/>
    <p:sldId id="286" r:id="rId32"/>
    <p:sldId id="614" r:id="rId54"/>
    <p:sldId id="615" r:id="rId55"/>
    <p:sldId id="288" r:id="rId33"/>
    <p:sldId id="290"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outline" id="{5DBB931A-8289-4064-8CEE-1A7746E540BF}">
          <p14:sldIdLst>
            <p14:sldId id="256"/>
            <p14:sldId id="600"/>
          </p14:sldIdLst>
        </p14:section>
        <p14:section name="1 · Introduction" id="{20A772D2-9E3D-43E4-AD74-C8CE01B9791C}">
          <p14:sldIdLst>
            <p14:sldId id="601"/>
            <p14:sldId id="602"/>
          </p14:sldIdLst>
        </p14:section>
        <p14:section name="2 · Atmospheric aerosols" id="{68B41519-45DF-409D-96F5-8028B07FAD9C}">
          <p14:sldIdLst>
            <p14:sldId id="260"/>
            <p14:sldId id="262"/>
            <p14:sldId id="261"/>
            <p14:sldId id="263"/>
            <p14:sldId id="264"/>
            <p14:sldId id="603"/>
          </p14:sldIdLst>
        </p14:section>
        <p14:section name="3 · Remote sensing of aerosols and radiation" id="{5E89D6A8-05BD-4415-A682-14559C711AFE}">
          <p14:sldIdLst>
            <p14:sldId id="604"/>
            <p14:sldId id="267"/>
            <p14:sldId id="268"/>
            <p14:sldId id="605"/>
            <p14:sldId id="606"/>
            <p14:sldId id="607"/>
          </p14:sldIdLst>
        </p14:section>
        <p14:section name="4 · Remote sensing of productivity" id="{9108583D-CF7F-4125-9C85-ACCB278DB2CF}">
          <p14:sldIdLst>
            <p14:sldId id="271"/>
            <p14:sldId id="272"/>
            <p14:sldId id="273"/>
            <p14:sldId id="274"/>
          </p14:sldIdLst>
        </p14:section>
        <p14:section name="5 · Linking aerosols to productivity" id="{FED5C308-D870-405E-BC2C-27F122B25670}">
          <p14:sldIdLst>
            <p14:sldId id="608"/>
            <p14:sldId id="609"/>
            <p14:sldId id="277"/>
          </p14:sldIdLst>
        </p14:section>
        <p14:section name="6 · Mechanisms of aerosol impact" id="{5AD9AAE2-A463-45F6-A69C-B207E981ECD8}">
          <p14:sldIdLst>
            <p14:sldId id="278"/>
            <p14:sldId id="425"/>
            <p14:sldId id="610"/>
            <p14:sldId id="280"/>
            <p14:sldId id="611"/>
            <p14:sldId id="612"/>
            <p14:sldId id="282"/>
          </p14:sldIdLst>
        </p14:section>
        <p14:section name="7 · Evidence" id="{AD3649D7-6DFE-44BE-ADDF-6E6F39038B6E}">
          <p14:sldIdLst>
            <p14:sldId id="613"/>
            <p14:sldId id="284"/>
            <p14:sldId id="285"/>
            <p14:sldId id="286"/>
            <p14:sldId id="614"/>
            <p14:sldId id="615"/>
          </p14:sldIdLst>
        </p14:section>
        <p14:section name="9 · Challenges" id="{F6DB5D19-630C-4536-AEB0-A54688394AF9}">
          <p14:sldIdLst>
            <p14:sldId id="288"/>
          </p14:sldIdLst>
        </p14:section>
        <p14:section name="10 · Conclusions" id="{850C61FA-32B8-4C8B-B561-BA773E355F84}">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4" Type="http://schemas.openxmlformats.org/officeDocument/2006/relationships/slide" Target="slides/slide33.xml"/><Relationship Id="rId7" Type="http://schemas.openxmlformats.org/officeDocument/2006/relationships/slide" Target="slides/slide6.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40" Type="http://schemas.openxmlformats.org/officeDocument/2006/relationships/slide" Target="slides/slide501.xml"/><Relationship Id="rId41" Type="http://schemas.openxmlformats.org/officeDocument/2006/relationships/slide" Target="slides/slide502.xml"/><Relationship Id="rId42" Type="http://schemas.openxmlformats.org/officeDocument/2006/relationships/slide" Target="slides/slide503.xml"/><Relationship Id="rId43" Type="http://schemas.openxmlformats.org/officeDocument/2006/relationships/slide" Target="slides/slide504.xml"/><Relationship Id="rId44" Type="http://schemas.openxmlformats.org/officeDocument/2006/relationships/slide" Target="slides/slide505.xml"/><Relationship Id="rId45" Type="http://schemas.openxmlformats.org/officeDocument/2006/relationships/slide" Target="slides/slide506.xml"/><Relationship Id="rId46" Type="http://schemas.openxmlformats.org/officeDocument/2006/relationships/slide" Target="slides/slide507.xml"/><Relationship Id="rId47" Type="http://schemas.openxmlformats.org/officeDocument/2006/relationships/slide" Target="slides/slide508.xml"/><Relationship Id="rId48" Type="http://schemas.openxmlformats.org/officeDocument/2006/relationships/slide" Target="slides/slide509.xml"/><Relationship Id="rId49" Type="http://schemas.openxmlformats.org/officeDocument/2006/relationships/slide" Target="slides/slide510.xml"/><Relationship Id="rId50" Type="http://schemas.openxmlformats.org/officeDocument/2006/relationships/slide" Target="slides/slide511.xml"/><Relationship Id="rId51" Type="http://schemas.openxmlformats.org/officeDocument/2006/relationships/slide" Target="slides/slide512.xml"/><Relationship Id="rId52" Type="http://schemas.openxmlformats.org/officeDocument/2006/relationships/slide" Target="slides/slide513.xml"/><Relationship Id="rId53" Type="http://schemas.openxmlformats.org/officeDocument/2006/relationships/slide" Target="slides/slide514.xml"/><Relationship Id="rId54" Type="http://schemas.openxmlformats.org/officeDocument/2006/relationships/slide" Target="slides/slide515.xml"/><Relationship Id="rId55" Type="http://schemas.openxmlformats.org/officeDocument/2006/relationships/slide" Target="slides/slide516.xml"/></Relationships>
</file>

<file path=ppt/charts/_rels/u2chart507_chart1.xml.rels><?xml version="1.0" encoding="UTF-8" standalone="yes"?><Relationships xmlns="http://schemas.openxmlformats.org/package/2006/relationships"><Relationship Id="rId1" Type="http://schemas.openxmlformats.org/officeDocument/2006/relationships/package" Target="../embeddings/u2507_Microsoft_Excel_Worksheet1.xlsx"/></Relationships>
</file>

<file path=ppt/charts/_rels/u2chart512_chart2.xml.rels><?xml version="1.0" encoding="UTF-8" standalone="yes"?><Relationships xmlns="http://schemas.openxmlformats.org/package/2006/relationships"><Relationship Id="rId1" Type="http://schemas.openxmlformats.org/officeDocument/2006/relationships/package" Target="../embeddings/u2512_Microsoft_Excel_Worksheet2.xlsx"/></Relationships>
</file>

<file path=ppt/charts/_rels/u2chart515_chart3.xml.rels><?xml version="1.0" encoding="UTF-8" standalone="yes"?><Relationships xmlns="http://schemas.openxmlformats.org/package/2006/relationships"><Relationship Id="rId1" Type="http://schemas.openxmlformats.org/officeDocument/2006/relationships/package" Target="../embeddings/u2515_Microsoft_Excel_Worksheet3.xlsx"/></Relationships>
</file>

<file path=ppt/charts/_rels/u2chart516_chart4.xml.rels><?xml version="1.0" encoding="UTF-8" standalone="yes"?><Relationships xmlns="http://schemas.openxmlformats.org/package/2006/relationships"><Relationship Id="rId1" Type="http://schemas.openxmlformats.org/officeDocument/2006/relationships/package" Target="../embeddings/u2516_Microsoft_Excel_Worksheet4.xlsx"/></Relationships>
</file>

<file path=ppt/charts/u2chart507_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within EE</c:v>
                </c:pt>
              </c:strCache>
            </c:strRef>
          </c:tx>
          <c:spPr>
            <a:solidFill>
              <a:srgbClr val="1F6F8B"/>
            </a:solidFill>
            <a:effectLst/>
          </c:spPr>
          <c:invertIfNegative val="0"/>
          <c:dLbls>
            <c:numFmt formatCode="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cat>
            <c:multiLvlStrRef>
              <c:f>Sheet1!$A$2:$A$7</c:f>
              <c:multiLvlStrCache>
                <c:ptCount val="6"/>
                <c:lvl>
                  <c:pt idx="0">
                    <c:v>MODIS C004 land</c:v>
                  </c:pt>
                  <c:pt idx="1">
                    <c:v>MODIS DT C005 land</c:v>
                  </c:pt>
                  <c:pt idx="2">
                    <c:v>MODIS DT C006 land</c:v>
                  </c:pt>
                  <c:pt idx="3">
                    <c:v>MISR v22</c:v>
                  </c:pt>
                  <c:pt idx="4">
                    <c:v>MISR v23</c:v>
                  </c:pt>
                  <c:pt idx="5">
                    <c:v>POLDER (China)</c:v>
                  </c:pt>
                </c:lvl>
              </c:multiLvlStrCache>
            </c:multiLvlStrRef>
          </c:cat>
          <c:val>
            <c:numRef>
              <c:f>Sheet1!$B$2:$B$7</c:f>
              <c:numCache>
                <c:formatCode>General</c:formatCode>
                <c:ptCount val="6"/>
                <c:pt idx="0">
                  <c:v>68</c:v>
                </c:pt>
                <c:pt idx="1">
                  <c:v>72</c:v>
                </c:pt>
                <c:pt idx="2">
                  <c:v>69.4</c:v>
                </c:pt>
                <c:pt idx="3">
                  <c:v>75</c:v>
                </c:pt>
                <c:pt idx="4">
                  <c:v>80.2</c:v>
                </c:pt>
                <c:pt idx="5">
                  <c:v>62</c:v>
                </c:pt>
              </c:numCache>
            </c:numRef>
          </c:val>
        </c:ser>
        <c:dLbls>
          <c:numFmt formatCode="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3E9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A9BA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u2chart512_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Anthropogenic</c:v>
                </c:pt>
              </c:strCache>
            </c:strRef>
          </c:tx>
          <c:spPr>
            <a:solidFill>
              <a:srgbClr val="B5452F"/>
            </a:solidFill>
            <a:effectLst/>
          </c:spPr>
          <c:invertIfNegative val="0"/>
          <c:dLbls>
            <c:numFmt formatCode="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Sulfate + nitrate</c:v>
                  </c:pt>
                  <c:pt idx="1">
                    <c:v>Organic carbon</c:v>
                  </c:pt>
                  <c:pt idx="2">
                    <c:v>Dust</c:v>
                  </c:pt>
                  <c:pt idx="3">
                    <c:v>Sea salt</c:v>
                  </c:pt>
                </c:lvl>
              </c:multiLvlStrCache>
            </c:multiLvlStrRef>
          </c:cat>
          <c:val>
            <c:numRef>
              <c:f>Sheet1!$B$2:$B$5</c:f>
              <c:numCache>
                <c:formatCode>General</c:formatCode>
                <c:ptCount val="4"/>
                <c:pt idx="0">
                  <c:v>0.58</c:v>
                </c:pt>
                <c:pt idx="1">
                  <c:v>0.15</c:v>
                </c:pt>
                <c:pt idx="2">
                  <c:v>0</c:v>
                </c:pt>
                <c:pt idx="3">
                  <c:v>0</c:v>
                </c:pt>
              </c:numCache>
            </c:numRef>
          </c:val>
        </c:ser>
        <c:ser>
          <c:idx val="1"/>
          <c:order val="1"/>
          <c:tx>
            <c:strRef>
              <c:f>Sheet1!$C$1</c:f>
              <c:strCache>
                <c:ptCount val="1"/>
                <c:pt idx="0">
                  <c:v>Natural</c:v>
                </c:pt>
              </c:strCache>
            </c:strRef>
          </c:tx>
          <c:spPr>
            <a:solidFill>
              <a:srgbClr val="3C8D5A"/>
            </a:solidFill>
            <a:effectLst/>
          </c:spPr>
          <c:invertIfNegative val="0"/>
          <c:dLbls>
            <c:numFmt formatCode="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Sulfate + nitrate</c:v>
                  </c:pt>
                  <c:pt idx="1">
                    <c:v>Organic carbon</c:v>
                  </c:pt>
                  <c:pt idx="2">
                    <c:v>Dust</c:v>
                  </c:pt>
                  <c:pt idx="3">
                    <c:v>Sea salt</c:v>
                  </c:pt>
                </c:lvl>
              </c:multiLvlStrCache>
            </c:multiLvlStrRef>
          </c:cat>
          <c:val>
            <c:numRef>
              <c:f>Sheet1!$C$2:$C$5</c:f>
              <c:numCache>
                <c:formatCode>General</c:formatCode>
                <c:ptCount val="4"/>
                <c:pt idx="0">
                  <c:v>0.21</c:v>
                </c:pt>
                <c:pt idx="1">
                  <c:v>0.32</c:v>
                </c:pt>
                <c:pt idx="2">
                  <c:v>0.17</c:v>
                </c:pt>
                <c:pt idx="3">
                  <c:v>0.06</c:v>
                </c:pt>
              </c:numCache>
            </c:numRef>
          </c:val>
        </c:ser>
        <c:dLbls>
          <c:numFmt formatCode="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3E9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BA8"/>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u2chart515_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per year</c:v>
                </c:pt>
              </c:strCache>
            </c:strRef>
          </c:tx>
          <c:spPr>
            <a:solidFill>
              <a:srgbClr val="B5452F"/>
            </a:solidFill>
            <a:effectLst/>
          </c:spPr>
          <c:invertIfNegative val="0"/>
          <c:dLbls>
            <c:numFmt formatCode="+0.00;−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dPt>
            <c:idx val="0"/>
            <c:invertIfNegative val="0"/>
            <c:bubble3D val="0"/>
            <c:spPr>
              <a:solidFill>
                <a:srgbClr val="B5452F"/>
              </a:solidFill>
              <a:effectLst/>
            </c:spPr>
          </c:dPt>
          <c:dPt>
            <c:idx val="1"/>
            <c:invertIfNegative val="0"/>
            <c:bubble3D val="0"/>
            <c:spPr>
              <a:solidFill>
                <a:srgbClr val="B5452F"/>
              </a:solidFill>
              <a:effectLst/>
            </c:spPr>
          </c:dPt>
          <c:dPt>
            <c:idx val="2"/>
            <c:invertIfNegative val="0"/>
            <c:bubble3D val="0"/>
            <c:spPr>
              <a:solidFill>
                <a:srgbClr val="D98E04"/>
              </a:solidFill>
              <a:effectLst/>
            </c:spPr>
          </c:dPt>
          <c:dPt>
            <c:idx val="3"/>
            <c:invertIfNegative val="0"/>
            <c:bubble3D val="0"/>
            <c:spPr>
              <a:solidFill>
                <a:srgbClr val="B5452F"/>
              </a:solidFill>
              <a:effectLst/>
            </c:spPr>
          </c:dPt>
          <c:dPt>
            <c:idx val="4"/>
            <c:invertIfNegative val="0"/>
            <c:bubble3D val="0"/>
            <c:spPr>
              <a:solidFill>
                <a:srgbClr val="3C8D5A"/>
              </a:solidFill>
              <a:effectLst/>
            </c:spPr>
          </c:dPt>
          <c:dPt>
            <c:idx val="5"/>
            <c:invertIfNegative val="0"/>
            <c:bubble3D val="0"/>
            <c:spPr>
              <a:solidFill>
                <a:srgbClr val="3C8D5A"/>
              </a:solidFill>
              <a:effectLst/>
            </c:spPr>
          </c:dPt>
          <c:dPt>
            <c:idx val="6"/>
            <c:invertIfNegative val="0"/>
            <c:bubble3D val="0"/>
            <c:spPr>
              <a:solidFill>
                <a:srgbClr val="3C8D5A"/>
              </a:solidFill>
              <a:effectLst/>
            </c:spPr>
          </c:dPt>
          <c:cat>
            <c:multiLvlStrRef>
              <c:f>Sheet1!$A$2:$A$8</c:f>
              <c:multiLvlStrCache>
                <c:ptCount val="7"/>
                <c:lvl>
                  <c:pt idx="0">
                    <c:v>Max temperature</c:v>
                  </c:pt>
                  <c:pt idx="1">
                    <c:v>Min temperature</c:v>
                  </c:pt>
                  <c:pt idx="2">
                    <c:v>Aerosol (AOD)</c:v>
                  </c:pt>
                  <c:pt idx="3">
                    <c:v>Rainfall</c:v>
                  </c:pt>
                  <c:pt idx="4">
                    <c:v>FAPAR</c:v>
                  </c:pt>
                  <c:pt idx="5">
                    <c:v>Relative humidity</c:v>
                  </c:pt>
                  <c:pt idx="6">
                    <c:v>Soil moisture</c:v>
                  </c:pt>
                </c:lvl>
              </c:multiLvlStrCache>
            </c:multiLvlStrRef>
          </c:cat>
          <c:val>
            <c:numRef>
              <c:f>Sheet1!$B$2:$B$8</c:f>
              <c:numCache>
                <c:formatCode>General</c:formatCode>
                <c:ptCount val="7"/>
                <c:pt idx="0">
                  <c:v>-4.09</c:v>
                </c:pt>
                <c:pt idx="1">
                  <c:v>-1.11</c:v>
                </c:pt>
                <c:pt idx="2">
                  <c:v>-0.73</c:v>
                </c:pt>
                <c:pt idx="3">
                  <c:v>-0.11</c:v>
                </c:pt>
                <c:pt idx="4">
                  <c:v>0.08</c:v>
                </c:pt>
                <c:pt idx="5">
                  <c:v>0.56</c:v>
                </c:pt>
                <c:pt idx="6">
                  <c:v>1.17</c:v>
                </c:pt>
              </c:numCache>
            </c:numRef>
          </c:val>
        </c:ser>
        <c:dLbls>
          <c:numFmt formatCode="+0.00;−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2"/>
          <c:min val="-5"/>
        </c:scaling>
        <c:delete val="0"/>
        <c:axPos val="b"/>
        <c:majorGridlines>
          <c:spPr>
            <a:ln w="6350" cap="flat">
              <a:solidFill>
                <a:srgbClr val="E3E9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A9BA8"/>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u2chart516_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c:v>
                </c:pt>
              </c:strCache>
            </c:strRef>
          </c:tx>
          <c:spPr>
            <a:solidFill>
              <a:srgbClr val="B5452F"/>
            </a:solidFill>
            <a:effectLst/>
          </c:spPr>
          <c:invertIfNegative val="0"/>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dPt>
            <c:idx val="0"/>
            <c:invertIfNegative val="0"/>
            <c:bubble3D val="0"/>
            <c:spPr>
              <a:solidFill>
                <a:srgbClr val="B5452F"/>
              </a:solidFill>
              <a:effectLst/>
            </c:spPr>
          </c:dPt>
          <c:dPt>
            <c:idx val="1"/>
            <c:invertIfNegative val="0"/>
            <c:bubble3D val="0"/>
            <c:spPr>
              <a:solidFill>
                <a:srgbClr val="B5452F"/>
              </a:solidFill>
              <a:effectLst/>
            </c:spPr>
          </c:dPt>
          <c:dPt>
            <c:idx val="2"/>
            <c:invertIfNegative val="0"/>
            <c:bubble3D val="0"/>
            <c:spPr>
              <a:solidFill>
                <a:srgbClr val="3C8D5A"/>
              </a:solidFill>
              <a:effectLst/>
            </c:spPr>
          </c:dPt>
          <c:cat>
            <c:multiLvlStrRef>
              <c:f>Sheet1!$A$2:$A$4</c:f>
              <c:multiLvlStrCache>
                <c:ptCount val="3"/>
                <c:lvl>
                  <c:pt idx="0">
                    <c:v>2010</c:v>
                  </c:pt>
                  <c:pt idx="1">
                    <c:v>2030 current legislation</c:v>
                  </c:pt>
                  <c:pt idx="2">
                    <c:v>2030 max. reduction</c:v>
                  </c:pt>
                </c:lvl>
              </c:multiLvlStrCache>
            </c:multiLvlStrRef>
          </c:cat>
          <c:val>
            <c:numRef>
              <c:f>Sheet1!$B$2:$B$4</c:f>
              <c:numCache>
                <c:formatCode>General</c:formatCode>
                <c:ptCount val="3"/>
                <c:pt idx="0">
                  <c:v>-0.39</c:v>
                </c:pt>
                <c:pt idx="1">
                  <c:v>-0.43</c:v>
                </c:pt>
                <c:pt idx="2">
                  <c:v>-0.12</c:v>
                </c:pt>
              </c:numCache>
            </c:numRef>
          </c:val>
        </c:ser>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384A"/>
                </a:solidFill>
                <a:latin typeface="+mn-lt"/>
              </a:defRPr>
            </a:pPr>
            <a:endParaRPr lang="en-US"/>
          </a:p>
        </c:txPr>
        <c:crossAx val="2094734552"/>
        <c:crosses val="autoZero"/>
        <c:auto val="1"/>
        <c:lblAlgn val="ctr"/>
        <c:noMultiLvlLbl val="1"/>
      </c:catAx>
      <c:valAx>
        <c:axId val="2094734552"/>
        <c:scaling>
          <c:orientation val="minMax"/>
          <c:max val="0"/>
          <c:min val="-0.5"/>
        </c:scaling>
        <c:delete val="0"/>
        <c:axPos val="l"/>
        <c:majorGridlines>
          <c:spPr>
            <a:ln w="6350" cap="flat">
              <a:solidFill>
                <a:srgbClr val="E3E9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BA8"/>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518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1.xml"/>
		</Relationships>
</file>

<file path=ppt/notesSlides/_rels/notesSlide5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2.xml"/>
		</Relationships>
</file>

<file path=ppt/notesSlides/_rels/notesSlide5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3.xml"/>
		</Relationships>
</file>

<file path=ppt/notesSlides/_rels/notesSlide5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4.xml"/>
		</Relationships>
</file>

<file path=ppt/notesSlides/_rels/notesSlide5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5.xml"/>
		</Relationships>
</file>

<file path=ppt/notesSlides/_rels/notesSlide5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6.xml"/>
		</Relationships>
</file>

<file path=ppt/notesSlides/_rels/notesSlide5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7.xml"/>
		</Relationships>
</file>

<file path=ppt/notesSlides/_rels/notesSlide5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8.xml"/>
		</Relationships>
</file>

<file path=ppt/notesSlides/_rels/notesSlide5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9.xml"/>
		</Relationships>
</file>

<file path=ppt/notesSlides/_rels/notesSlide5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0.xml"/>
		</Relationships>
</file>

<file path=ppt/notesSlides/_rels/notesSlide5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1.xml"/>
		</Relationships>
</file>

<file path=ppt/notesSlides/_rels/notesSlide5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2.xml"/>
		</Relationships>
</file>

<file path=ppt/notesSlides/_rels/notesSlide5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3.xml"/>
		</Relationships>
</file>

<file path=ppt/notesSlides/_rels/notesSlide5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4.xml"/>
		</Relationships>
</file>

<file path=ppt/notesSlides/_rels/notesSlide5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5.xml"/>
		</Relationships>
</file>

<file path=ppt/notesSlides/_rels/notesSlide5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seminar is on remote sensing for quantifying aerosol impact on terrestrial ecosystem productivity. I am Animesh Panda, Roll No. 13098, Ph.D. second year. The chairman is Dr Rabi N. Sahoo and the seminar leader is Dr Subash Nataraja Pillai.
The background picture summarises the whole topic in one image. Sunlight passes through a layer of haze; part of the direct beam is scattered and becomes diffuse light that arrives from the whole sky; a satellite observes both the haze and the land surface; and below are the forest and cropland whose photosynthesis, and therefore productivity, is affected. The seminar follows exactly this chain: what aerosols are, how we measure them and the light they change, how we measure productivity from space, how we link the two, what the mechanisms are, what the evidence shows across the world and in India, and finally the challenges and the way forward.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Aerosols are solid or liquid particles suspended in the air, and their composition decides how they interact with sunlight. Sulfate and nitrate form from sulfur dioxide, nitrogen oxides and ammonia emitted by coal power plants, vehicles and fertilizer use; they are fine particles that scatter light very efficiently and grow when the air is humid. Black carbon, from diesel engines, brick kilns and biomass and crop-residue burning, is fine and strongly absorbing: it removes light and heats the air. Organic carbon and secondary organic aerosol come from biomass burning and from the oxidation of volatile organic compounds released by plants; they mostly scatter, although the 'brown carbon' part absorbs ultraviolet and blue light. Mineral dust from the Thar and Arabian deserts and from dry soils is coarse, scatters light and absorbs weakly in the blue. Sea salt from ocean spray is coarse, scattering and hygroscopic.
The figure, from Ramachandran and Rupakheti, 2026, classifies aerosol types at AERONET sites over the western and central Indo-Gangetic Plain using aerosol optical depth and the Ångström exponent. Urban-industrial and biomass-burning aerosol, shown in red, dominates in most seasons, while dust, shown in grey, peaks in the pre-monsoon season.
Two definitions are useful. Primary particles are emitted directly, such as dust, sea salt and black carbon; secondary particles form in the atmosphere from gases, such as sulfate, nitrate and secondary organics. By size, the same study defines fine-mode particles as those with radius up to 1 micrometre, with a modal radius of 0.1 to 0.3 micrometre, and coarse-mode particles as those above 1 micrometre, with a modal radius of 2 to 5 micrometres. Size matters because fine particles scatter far more light per unit mass, and this will come back when we discuss optical properties.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focusing on South Asia, it helps to see how aerosol is changing worldwide. Satellite records analysed by Hsu and colleagues in 2012, and summarised in the review by Wei and colleagues, show that between 1997 and 2010 aerosol optical depth decreased over the United States and Europe, while it increased over China and India. The decrease in the West reflects clean-air legislation that cut sulfur emissions. In fire-dominated regions, mainly the African savannas and tropical grasslands, Andela and colleagues found that global burned area declined by about 24 percent between 1998 and 2015, largely because of agricultural expansion, which means less smoke from those regions.
The figure, from Mercado and colleagues in 2009, shows the long-term global picture. The black line is atmospheric carbon dioxide and the red line is total aerosol optical depth. AOD rose through the twentieth century with industrialisation and reached a maximum of about 0.12 around the year 2000. Under a mitigation scenario with rapid cuts in sulfate and black carbon emissions, it is projected to fall steeply, while carbon dioxide stays high. One consequence, which Mercado discussed, is that the diffuse-light fertilization that helped the carbon sink in the late twentieth century will shrink in the future.
The message in the strip is that aerosol has shifted rather than disappeared: it fell in North America and Europe but grew in South and East Asia. The question of how aerosol affects productivity is therefore now mainly an Asian question, and South Asia, which we look at next, is the region where aerosol is still clearly rising.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and when aerosols occur over South Asia. The four MODIS maps of aerosol optical depth at 550 nanometres, for winter, pre-monsoon, monsoon and post-monsoon, all show the same feature: the Indo-Gangetic Plain, the belt from Punjab to West Bengal along the foot of the Himalaya, is the persistent aerosol hotspot. It is enclosed by the Himalaya to the north, so emissions and transported particles accumulate there.
The seasonal calendar in the table explains the pattern. In winter, December to February, combustion aerosol from vehicles, industry and domestic burning is trapped under a shallow, stable boundary layer, often with fog. In the pre-monsoon, March to May, hot dry winds bring dust from the Thar and Arabian deserts. During the monsoon, June to September, rain washes aerosol out of the air, giving the lowest AOD of the year in most places. In the post-monsoon, October and November, burning of rice residue in Punjab and Haryana sends smoke over the whole plain.
The key facts summarise three points. The IGP is the persistent hotspot. In the post-monsoon and winter seasons fine-mode aerosol contributes more than 80 percent of AOD at almost all sites, according to Ramachandran and Rupakheti, 2026, which means combustion and smoke dominate. And the long-term increase in AOD is strongest in the dry months from December to March, as Babu and colleagues reported in 2013. This dry season coincides with the rabi wheat season, so the crop that is growing when aerosol is highest is wheat.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Asia is the clearest example of rising aerosol. The map on the left, from Hari and Tyagi, 2022, shows the MODIS AOD trend over India from 2001 to 2020: the strongest increase is along the Indo-Gangetic Plain, the east coast and Odisha. Over India as a whole they report an increase of about 0.29 in AOD over these twenty years. Gupta and colleagues, 2024, found the annual mean AOD over India rising at 0.006 per year between 1998 and 2019.
The middle figure is from Jethva and colleagues, 2019, using the 1-kilometre MAIAC product. It compares the AOD trend in October, on the left, with November, on the right, between 2002 and 2016. In October the trend is weak, but in November, the main month of rice-residue burning in Punjab and Haryana, the trend is strongly positive over the entire plain. Their numbers, listed in the table, are an overall increase of about 43 percent in aerosol loading over the IGP and 45 percent in the post-monsoon season; in November the trend is 0.03 per year in extinction AOD and 0.003 per year in absorption AOD, meaning that both scattering and absorbing smoke are increasing. The AERONET station at Kanpur, in the centre of the plain, confirms a 34 percent increase over the same period, so the satellite trend is not an artefact.
The drivers are industry, thermal power plants, vehicles, crop-residue burning in October and November, and in winter, stagnant air: Ramachandran and Rupakheti note that weakening surface winds over the IGP intensify winter pollution. Seasonal AOD in the Trans-Gangetic Plain reaches about 0.91 during the monsoon, according to Hari and Tyagi. These are among the highest aerosol loads anywhere over cropland, which is why the region is central to this seminar.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optical properties determine what aerosol does to the light that reaches a canopy. Aerosol optical depth, tau, is the total extinction of light by the column of particles; in clean air it is below 0.1, while over the Indo-Gangetic Plain it is often 0.5 to 1.0. AOD sets how much photosynthetically active radiation is lost and how much is turned into diffuse light. The Ångström exponent and the fine-mode fraction describe particle size: values of alpha above 1 indicate fine smoke and pollution particles, and values below 0.5 indicate coarse dust. Fine particles scatter much more light per unit mass. The single-scattering albedo, omega-zero, is the fraction of extinction that is scattering rather than absorption. For sulfate it is about 0.98, for dust 0.92 to 0.95, and for smoke 0.84 to 0.94, values compiled by Dubovik and colleagues from AERONET. This is the key property for plants: high values mean the light is redirected as diffuse light that can still be used, low values mean the light is absorbed and lost as heat. Finally the asymmetry parameter, about 0.6 to 0.75, means scattering is mostly forward, so scattered light still reaches the ground, and hygroscopic growth means particles such as sulfate roughly double in radius near 95 percent relative humidity, which raises AOD in humid air.
The relations box gives the three equations used in retrievals: Beer–Lambert attenuation of the direct beam, the Ångström power law linking AOD to wavelength, and absorption optical depth as one minus omega-zero times tau. The size-distribution figure from Ramachandran and Rupakheti for New Delhi and Kanpur shows two modes: a fine mode that peaks after the monsoon, from smoke, and a coarse mode that peaks before the monsoon, from dust. The callout, from the review by Kanniah and colleagues, shows how strongly AOD controls light quality: the diffuse share of sunlight is about 20 percent at an AOD of 0.2 and rises to about 80 percent at an AOD of 1. The main lesson is that AOD alone is not enough: two hazes with the same AOD can have opposite effects on plants depending on whether they scatter or absorb.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satellite aerosol algorithm solves the same basic problem, which the figure from Wei and colleagues illustrates. The sensor, here MODIS on Aqua, measures reflectance at the top of the atmosphere. That signal is the sum of three parts: light scattered back by aerosol, light scattered by air molecules, called Rayleigh scattering, and light reflected by the surface and transmitted back through the atmosphere. The aerosol part is what we want.
The six steps on the right are common to all algorithms. First, observe the top-of-atmosphere reflectance at several wavelengths. Second, screen out pixels that cannot be used: clouds, snow, water and sun glint. Third, remove the Rayleigh contribution, which can be calculated accurately from pressure and geometry. Fourth, estimate the surface reflectance, which is the difficult step: algorithms use dark vegetated pixels, the blue band where bright surfaces look dark, time series of the same pixel, or several viewing angles. Fifth, invert: compare the remaining signal with pre-computed look-up tables for different aerosol models and AOD values and choose the AOD that matches. Sixth, validate against AERONET and assign a quality flag.
The equation in the strip summarises it: top-of-atmosphere reflectance equals the aerosol term plus the Rayleigh term plus the surface term. Because the Rayleigh term is easy, the whole difference between algorithms is how they estimate the surface. Over bright, heterogeneous land such as Indian croplands in the dry season, this is the main source of error.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algorithms differ mainly in how they handle the surface. Dark Target, the classic MODIS algorithm described by Levy and colleagues, works over dark vegetation and estimates visible surface reflectance from the 2.1 micrometre band; it gives AOD at 10 and 3 kilometres. Its expected error over land, shown in the callout, is plus or minus 0.05 plus 15 percent of AOD. Deep Blue, by Hsu and colleagues, uses the blue bands at 412 to 470 nanometres where deserts and cities are dark, so it works over bright surfaces at 6 to 10 kilometres. MAIAC, by Lyapustin and colleagues, uses a time series of observations on the assumption that the surface changes slowly while aerosol changes quickly; it gives AOD at 1 kilometre, the right scale for fields and districts. MISR uses nine viewing angles to separate surface and aerosol and gives particle shape and size, at 17.6 kilometres in the standard product. Polarimeters such as POLDER and the new PACE mission use polarisation, which is sensitive to particle size and single-scattering albedo. Ultraviolet sensors such as OMI and TROPOMI give an aerosol index that detects absorbing smoke and dust even above clouds. Geostationary sensors such as INSAT-3D and 3DR over India and Himawari over East Asia give AOD every 10 to 30 minutes, which captures the diurnal cycle.
The figure from Wei and colleagues shows the history: from AVHRR and TOMS in the late 1970s, through Dark Target in 1988, MODIS and MISR in 2000, MAIAC, Deep Blue and CALIPSO in the 2000s, to geostationary sensors such as Himawari and INSAT-3DR after 2013. For productivity studies, MAIAC suits field and district analysis, ultraviolet sensors help separate absorbing smoke, and geostationary sensors capture the daily cycle that a single polar overpass misses.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other side of the problem: productivity. The chain at the top defines the terms. Photosynthetically active radiation, PAR, is sunlight between 400 and 700 nanometres. The fraction absorbed by the canopy, FAPAR, gives absorbed PAR, or APAR. Gross primary productivity, GPP, is the total carbon fixed by photosynthesis, which light-use-efficiency models write as APAR times the light-use efficiency epsilon. Net primary productivity, NPP, is GPP minus plant, or autotrophic, respiration, and represents biomass growth. Net ecosystem productivity, NEP, is NPP minus soil, or heterotrophic, respiration, and is the net carbon gained by the ecosystem; with the opposite sign it is net ecosystem exchange, NEE, measured by flux towers. For crops, the end point is yield, which is biomass multiplied by the harvest index.
The table shows how each term is obtained. GPP comes from flux towers, from solar-induced fluorescence and from light-use-efficiency models. NPP comes from products such as MODIS MOD17 and models such as CASA. NEE and NEP come from eddy-covariance towers. APAR comes from MODIS FAPAR combined with PAR. Light-use efficiency is the parameter of LUE and two-leaf models, and the split between sunlit and shaded leaves needs two-leaf canopy models.
The figure, from the review by Kanniah and colleagues, shows how radiation enters a canopy. The direct beam, the solid lines, reaches only the sunlit leaves at the top and on the sun-facing side, while diffuse radiation, the dashed lines, comes from the whole sky and reaches shaded leaves inside the canopy as well. This distinction between sunlit and shaded leaves is the basis of the light mechanism that we discuss in section 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ground we come closest to measuring productivity directly. An eddy-covariance flux tower measures the vertical wind speed and the CO2 concentration ten or twenty times a second; the covariance of their fluctuations, multiplied by air density, gives the net ecosystem exchange, NEE, every half hour, as Baldocchi described. GPP is obtained by partitioning: ecosystem respiration is estimated from night-time fluxes and temperature, and GPP equals respiration minus NEE. Leaf gas-exchange chambers, interpreted with the Farquhar photosynthesis model, measure leaf CO2 uptake and stomatal conductance and are used to calibrate the photosynthesis of sunlit and shaded leaves. Harvest and crop statistics give biomass and yield, which can be regressed on AOD across years. Radiation sensors measure direct and diffuse PAR, which is needed to show the diffuse-fraction pathway.
The figure, from Zhou and colleagues, 2022, shows what towers reveal. At ten FLUXNET sites covering forests, crops and grassland, hourly GPP is plotted against PAR separately for diffuse conditions, in red, and direct conditions, in blue. At the same amount of PAR, GPP is clearly higher when the light is diffuse. Yue and Unger, 2018, quantified this across 24 FLUXNET sites: GPP increases by 0.3 to 0.7 percent for every additional watt per square metre of diffuse PAR.
The strength of towers is that they measure carbon flux directly and continuously. The limitation is that each tower represents only about a square kilometre, and there are very few towers over Indian croplands, which is why satellite proxies are needed to scale up.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cannot measure photosynthesis directly, so we use proxies. The first family is vegetation indices, which measure canopy greenness and structure. NDVI, introduced by Tucker, is the normalised difference of near-infrared and red reflectance; it is simple and available from MODIS at 250 metres, but it saturates in dense canopies. EVI, by Huete and colleagues, adds the blue band and a soil adjustment term, so it saturates less and works well over cropland. NIRv, by Badgley and colleagues, multiplies NDVI by near-infrared reflectance and tracks the photosynthesising part of the canopy closely. kNDVI, by Camps-Valls and colleagues, is a kernel version of NDVI, the hyperbolic tangent of NDVI squared, which is more robust for shrubs and forests. Leaf area index and FAPAR from the MODIS MOD15 product, at 500 metres every 8 days, give the leaf area and the fraction of light absorbed, the APAR term of light-use-efficiency models.
The figure, from Zhang and colleagues, 2023, tests whether vegetation indices capture the aerosol effect. For cropland flux sites, they averaged NIRv, EVI and tower GPP in AOD bins of 0.02. The indices, in blue, rise and fall together with GPP, in orange, across the AOD range. For cropland, the correlation between the indices and GPP was 0.87 for EVI and 0.86 for NIRv, so these two indices are the best candidates for monitoring aerosol effects on crop productivity from space.
The caution in the strip is important: greenness is not photosynthesis. A canopy can remain green while its photosynthesis is reduced by stress, so vegetation indices respond slowly. For faster, physiological signals we need fluorescence,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family of proxies is solar-induced chlorophyll fluorescence, SIF. During photosynthesis a small part of the light absorbed by chlorophyll is re-emitted as fluorescence near 740 nanometres. Because it comes from the photosynthetic machinery itself, SIF responds within hours to changes in light and stress, unlike vegetation indices. It is retrieved from GOME-2, OCO-2 and TROPOMI, as described by Joiner and colleagues and Köhler and colleagues, but individual retrievals are noisy and sparse. GOSIF, by Li and Xiao, combines OCO-2 SIF with MODIS data to give a continuous record at 0.05 degree and 8 days. SIF yield, which is SIF divided by APAR, removes the effect of the amount of light and isolates the physiological signal.
The figure, from Behera and colleagues, 2025, is an Indian example. They decomposed GPP, the SPEI-3 drought index, root-zone soil moisture, continuous SIF and SIF yield over India into their leading spatial patterns. SIF yield shows the strongest positive relationship with GPP and, compared with other indicators, detects emerging stress one to two months earlier. This makes it useful for detecting the physiological effect of stresses, including reduced light under heavy haze.
The remaining rows are productivity products. MOD17, by Running and colleagues, gives GPP and NPP at 500 metres every 8 days from a light-use-efficiency model, but it has no diffuse-light term, so it cannot represent the aerosol effect. FLUXCOM, by Jung and colleagues, upscales FLUXNET towers with machine learning to give gridded GPP at coarse resolution. For crops, district yield statistics and crop models such as DSSAT and WOFOST give the agricultural end point.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way to link aerosol and productivity is with process models, which compute productivity from light and climate and can be run with and without aerosol. The equation at the top shows the simplest idea. In a light-use-efficiency model, GPP equals efficiency times FAPAR times PAR. To include the aerosol effect, the efficiency is made a weighted average of a direct-light efficiency and a diffuse-light efficiency, weighted by the diffuse fraction, with the diffuse efficiency higher than the direct one. Models such as MOD17, CASA, VPM and EC-LUE, described for example by Yuan and colleagues, belong to this family; the standard MOD17 has no diffuse term, but modified versions do.
Two-leaf models, such as BEPS developed by Chen and colleagues, compute photosynthesis separately for sunlit and shaded leaves, so the effect of diffuse light emerges from the physics. The figure is from Feng and colleagues, 2020, who used an improved BEPS model with satellite aerosol data for seven cropland sites in North China. Comparing a scenario without aerosol, S1, with a scenario with aerosol, S2, the GPP of sunlit leaves falls while the GPP of shaded leaves rises; the total depends on which effect is larger.
Crop simulation models such as CERES in DSSAT, WOFOST and APSIM, used for example by Greenwald and colleagues, give yield under hazy and clean-sky light. Global land models such as JULES, ORCHIDEE and YIBs, used by Mercado and colleagues, give the global change in GPP or NPP in petagrams of carbon per year.
The common workflow is in the strip: convert AOD into direct and diffuse PAR, run the productivity model, run it again without aerosol, and the difference is the aerosol effect. The weakness is that the result depends on how well the model represents the diffuse-light response.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explains the mechanisms, starting with the light route, which has two opposing parts. The first is dimming: scattering and absorption reduce the total PAR reaching the canopy. Greenwald and colleagues computed that under clear skies PAR falls by about 30 percent as AOD rises from a background value of 0.05 to 1.0, while the diffuse fraction more than triples. The second part is diffuse fertilization. Light scattered by aerosol arrives from the whole sky, so it reaches shaded leaves deep in the canopy. The review by Kanniah and colleagues reports that canopy light-use efficiency is 1.12 to 1.80 times higher under diffuse light than under direct light.
The classic proof comes from the 1991 Mount Pinatubo eruption, which filled the stratosphere with scattering sulfate and increased diffuse radiation worldwide for two years. Gu and colleagues, 2003, estimated that at Harvard Forest this enhanced noon-time canopy photosynthesis by 23 percent in 1992 and 8 percent in 1993 under cloudless skies. The top-right figure shows canopy photosynthesis against solar elevation in 1992: the solid line, with volcanic aerosol, lies above the dashed line for normal conditions. The lower figure, from Cohan and colleagues, 2002, shows modelled canopy light-use efficiency rising steadily as AOD increases under clear skies in two canopy models.
The net outcome, as Mercado and colleagues put it, is a balance between the reduction in total PAR, which lowers photosynthesis, and the increase in the diffuse fraction, which raises it. The strip explains why the balance can be positive. Sunlit leaves at the top of the canopy are often light-saturated, so losing part of the direct beam costs little; shaded leaves are light-limited, so the extra diffuse light is used efficiently, and the canopy as a whole becomes more efficient.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 also acts through climate. Cooler leaves can be closer to the photosynthetic optimum; lower vapour pressure deficit keeps stomata open; less evaporation keeps soil wetter; but warmer nights increase respiration, and over seasons aerosol weakens monsoon rain. Yue and colleagues separated these routes for China: light, soil moisture and cooling together raised NPP by 0.2 petagrams of carbon, but adding aerosol effects on clouds and rain turned it into a loss of 0.2. In Amazon smoke, 80 percent of the extra uptake came from light and 20 percent from cooling. In India, rice harvests follow monsoon rainfall closely, which brown clouds reduce.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further factors decide whether pollution helps or harms plants: the co-pollutant ozone, and the type of aerosol. Ozone forms from the same emissions as aerosol, nitrogen oxides and volatile organic compounds, and it enters leaves through the stomata and damages photosynthesis. Yue and Unger, 2018, combined models and measurements for 2002 to 2011. With all emission sources except fires, ozone reduces global GPP by about 4.0 petagrams of carbon per year, while aerosol increases it by only about 1.0 petagram. For fire pollution alone, ozone reduces GPP by 0.91 and aerosol adds only 0.05, giving a net loss of 0.86 petagrams per year. The maps show the percentage change in GPP from ozone in the top row and from aerosol in the bottom row, for non-fire sources on the left and fire on the right. Ozone losses are widespread over eastern China, India, Europe and the eastern United States.
Aerosol type matters as well. Zhou and colleagues, 2022, found that black carbon, which absorbs light and adds little diffuse light, reduces global GPP by 0.28 petagrams per year under all-sky conditions, whereas scattering sulfate and organic aerosols provide the positive diffuse effect. And in China, Yue and colleagues found that ozone reduced NPP by 0.59 petagrams, or 14 percent, larger than any aerosol term.
The lesson is that a 'pollution effect' is not an 'aerosol effect'. A study that relates productivity to pollution without separating ozone and aerosol type cannot attribute the result to the diffuse-light mechanism.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mechanism slide covers the conditions that decide how large the effect is. The most important is cloud cover. Zhou and colleagues, 2022, found that aerosols increase global GPP by 8.9 petagrams of carbon per year under clear skies, but only 0.95 under real, all-sky conditions, because cloudy light is already diffuse and aerosol then only dims. The two maps show this: the top map, for all skies, has small changes, while the bottom map, for clear skies, shows increases of more than 4 percent over most land areas. Zhou and colleagues also found that anthropogenic aerosols account for 41 percent of the global GPP gain, so human emissions contribute a large share of the diffuse effect.
Canopy structure is the second condition. At flux towers in the United States, Niyogi and colleagues, 2004, found that CO2 uptake increased with aerosol loading over forest and cropland but decreased over grassland, because only taller, multi-layer canopies have many shaded leaves that can use the extra diffuse light. The third condition is the photosynthetic pathway. C4 plants such as maize and sugarcane do not become light-saturated under high irradiance, so redistributing light helps them less. The review by Kanniah and colleagues cites a theoretical result that the increase in light-use efficiency under more diffuse light was about 50 percent higher for soybean, a C3 crop, than for maize, a C4 crop.
The rule of thumb summarises the mechanisms: the largest gain comes from a dense C3 canopy under moderate, scattering aerosol and clear skies, while sparse C4 crops under cloud gain little.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crops outside South Asia, the result depends on the method and the region. Chameides and colleagues, 1999, using a radiation and crop model, estimated that regional haze in eastern China cuts sunlight by 5 to 30 percent and reduces optimal yields of rice and wheat by a similar amount. Tie and colleagues, 2016, used MODIS AOD with a radiation model and found that solar irradiance is reduced by 28 to 49 percent in China's heavily polluted regions, reducing national production by about 2 percent for rice and 8 percent for wheat. The maps show where these losses occur: the upper maps give the loss in units of 10 gigagrams, the lower maps the percentage loss, both concentrated in the North China Plain, the Yangtze River Delta and the Sichuan Basin.
Greenwald and colleagues, 2006, used the CERES crop model at sites worldwide and found changes of minus 10 to 0 percent for maize, plus or minus 5 percent for wheat and plus or minus 10 percent for rice, with gains of up to 30 percent only under exceptionally sunny conditions such as California's Central Valley. Schiferl and Heald, 2018, with a global chemistry model, found that particulate matter could raise production by 9 to 16 percent, but only if crops respond strongly to diffuse light; including ozone damage, the net effect was plus 5.6 percent for maize, minus 3.7 for wheat and plus 4.5 for rice.
Observational studies mostly find losses. Liu and Desai, 2021, using county statistics for 1980 to 2019, found historical aerosol yield losses of 11.3 percent for maize and 23.2 percent for soybean in the United States, which have shrunk as air quality improved. In Europe, He and colleagues found that cropland SIF decreases by 2.4 percent for every 0.1 increase in AOD. The pattern is that models assuming a strong diffuse benefit find gains, while observations in polluted regions find losses.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India and South Asia, most evidence shows losses. Auffhammer and colleagues, 2006, combined a statistical model of historical rice harvests with regional climate scenarios. They estimated that atmospheric brown clouds alone reduced India's rice harvest by 10.6 percent during 1985 to 1998, and that reducing brown clouds and greenhouse gases together would have increased the harvest by 14.4 percent, mainly through rainfall and night temperature. Burney and Ramanathan, 2014, attributed a wheat-yield gap of up to 36 percent to recent climate and pollution trends, mostly short-lived pollutants such as black carbon and ozone; this is a model counterfactual and has been debated. Gupta and colleagues, 2024, using Earth-observation data from 1998 to 2019, estimated that rising aerosol reduced rice yield by 7.9 percent and maize yield by 8.8 percent. In their 2025 study across agroclimatic zones, AOD lowered rice yield by about 0.73 percent per year; the map shows the largest losses in the east, especially Odisha.
Two regional studies show other effects. In Assam, Latha and colleagues found that evapotranspiration over dense vegetation falls as AOD rises, with a correlation of 0.83, because aerosol forcing reduces the energy available for evaporation. In Bangladesh, Jannat and colleagues found that the effect of aerosol on Boro rice was positive in five districts and negative in three, so the sign can differ even within a small country.
The conclusion for India is that high, rising and partly absorbing aerosol mostly lowers yield, but the sign varies by crop, season and region, so regional analysis is essential.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evidence slide looks inside India, using the zone-wise study of Hari and Tyagi, 2022. They modelled NPP with the CASA model for India's agroecological zones from 2001 to 2020 and related it to MODIS AOD. The map shows the NPP trend: green means increasing and brown decreasing, and black stippling marks the areas where NPP is significantly sensitive to AOD.
Using their Innovative Trend Analysis, the NPP trend is negative in the Lower, Middle and Trans-Gangetic Plains, the East Coast Plain, the Eastern Plateau, the Eastern Himalaya and the West Coast Plain, and positive in the Central and Southern Plateaus, the Gujarat Plain, the Upper Gangetic Plain and the Western Plain. India's total NPP rose from about 1.09 to 1.33 petagrams of carbon per year, but the decadal trend weakened by 2.51 percent, which is the 'slowing greening' in the title of their paper.
Three results connect this to the mechanisms. Using the SBDART radiative-transfer model, they found that in the agricultural zones diffuse PAR increases with AOD only up to about 0.54 and then decreases, because heavy aerosol removes light overall. Aerosol altered the NPP of the four Gangetic agricultural zones by about 11 percent. And the maximum negative effect occurred over the Western and Eastern Plateau in the post-monsoon season, when aerosol load is highest.
The pattern is that India is still greening, but more slowly, and the high-AOD cropland zones lose NPP. This brings us to the two case studies.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can distort the link between aerosol and productivity. First, satellite AOD error: Ramachandran and Rupakheti, citing Ansari and Ramachandran, report that fewer than 70 percent of MODIS AOD values fall within the expected error over South Asia, compared with at least 80 percent over North America and Europe; the remedy is MAIAC and correction against AERONET. Second, cloud contamination: AOD can only be retrieved in clear skies, and near cloud edges scattered light brightens pixels and inflates AOD, as Várnai and Marshak showed; strict cloud masks and all-sky analyses are needed. Third, scale mismatch: a flux tower sees about one square kilometre, while satellite pixels are 1 to 50 kilometres, so footprints must be matched carefully, as discussed by Chu and colleagues. Fourth, reverse causation: Jethva and colleagues showed that in north-west India the vegetation index rose by 21 percent and post-harvest fires by about 60 percent, so a bigger harvest produces more residue, more fires and more aerosol; productivity can drive AOD, not only the reverse. Using pre-burning AOD and lagged tests helps. Fifth, ozone confounding: ozone shares sources and season with aerosol; Liu and Desai found US yield losses from ozone of 8.7 percent for maize and 4.8 percent for soybean, so ozone must be included as a covariate. Sixth, circular reasoning: satellite diffuse-PAR products such as BESS and CERES are computed from MODIS aerosol, so showing that their diffuse PAR rises with AOD is partly circular. The figure from Zhang and colleagues shows BESS diffuse PAR increasing across AOD bins for cropland. The key point is that most results are associations; robust attribution needs better AOD over South Asia, measured diffuse PAR, ozone data and designs that exclude reverse causation.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six messages. First, aerosols change both the amount of light reaching vegetation, through dimming, and its quality, through the diffuse fraction. Second, the response of productivity is non-linear: it gains at moderate aerosol loads but falls at high loads or under cloud, giving an optimum aerosol load. Third, the ecosystem matters: dense C3 canopies such as forests gain most, while grasslands, C4 crops and sparse canopies gain little. Fourth, remote sensing makes it possible to quantify this link from the field to the globe, using MAIAC AOD, fluorescence, vegetation indices and light-use-efficiency and two-leaf models, always validated with ground measurements. Fifth, over India, high, rising and partly absorbing aerosol mostly lowers crop yield and is slowing the greening trend, but the evidence is still sparse. Sixth, the priorities are more accurate AOD over South Asia, measured diffuse radiation and attribution that accounts for ozone.
The single take-home message is that over the Indo-Gangetic Plain, where aerosol loading is already above the optimum and still rising, aerosol is likely reducing crop and ecosystem productivity. Thank you; I welcome your comments.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of the seminar in ten parts. Part 1 explains why the interaction between aerosols and ecosystem productivity matters and presents the conceptual framework that links emissions, aerosol properties, atmospheric perturbations, canopy responses and productivity. Part 2 introduces atmospheric aerosols: their types and sources, their distribution and trends over the globe and South Asia, their optical properties and their radiative effects. Part 3 explains how aerosols and the light they modify are measured: ground networks, the satellite retrieval principle and algorithms, lidar and reanalysis, the accuracy of satellite AOD products against AERONET, and how direct and diffuse PAR are estimated. Part 4 covers the measurement of productivity: carbon-flux concepts, flux towers, vegetation indices, solar-induced fluorescence and gridded products. Part 5 explains how the two are linked through statistical designs, natural experiments and process models. Part 6 describes the mechanisms: the light route, the climate route, the water-cycle route, ozone and aerosol species, the optimum aerosol load, and the factors that decide the outcome. Part 7 brings the evidence from natural ecosystems, crops and India, compares aerosol with climate drivers of Indian crop yield, and looks at the past and future diffuse-radiation effect on the global carbon sink. Part 8 is the two case studies, Wang et al., 2021 and Shu et al., 2022. Part 9 covers the uncertainties in attributing productivity change to aerosol, and Part 10 gives the take-home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we care about aerosols and productivity. The five cards give five reasons. First, land ecosystems absorb about 30 percent of the carbon dioxide that humans emit, according to the Global Carbon Budget of Friedlingstein and colleagues, so even a few percent change in photosynthesis matters for the global carbon cycle. Second, aerosols are the largest uncertainty in human climate forcing: the IPCC Sixth Assessment Report, Forster and colleagues, puts aerosol effective radiative forcing at about minus 1.3 watts per square metre, offsetting part of greenhouse warming. Third, aerosols do not only reduce light; they make it more diffuse, and canopies use diffuse light more efficiently. Mercado and colleagues estimated that the global dimming period, with more scattering aerosol, increased the land carbon sink by about one quarter between 1960 and 1999. Fourth, the topic matters for food security in India: north-west India, the breadbasket that grows about two-thirds of India's food grains, lies exactly under the Indo-Gangetic Plain aerosol plume, as Jethva and colleagues point out. Fifth, the problem needs remote sensing, because ground stations for aerosol, radiation and carbon flux are sparse, while satellites observe aerosol, light and vegetation consistently over large areas, as reviewed by Wei and colleagues.
The map, from the 2025 systematic review by de Oliveira and colleagues, shows where aerosol–PAR studies were carried out between 2021 and 2025. Of the 22 studies, 17 were from China and only two from India. So the most aerosol-loaded agricultural region of the world is one of the least studied.
The core idea in the bottom strip is that aerosols change both the amount of light and its quality, the split between direct and diffuse light, and this changes how much carbon ecosystems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organises the whole seminar as a causal chain from emissions to productivity. On the left are the drivers: fossil-fuel and industrial emissions, crop-residue burning, desert dust, and volatile organic compounds from plants that form secondary organic aerosol. These produce an aerosol population described by four properties: the load, measured as aerosol optical depth; whether particles scatter or absorb, given by the single-scattering albedo; their size, given by the Ångström exponent; and their vertical profile.
The aerosol then perturbs the atmosphere through three routes, shown as three lanes. The radiation route: aerosol reduces photosynthetically active radiation, the dimming effect, but increases the diffuse fraction. The canopy responds because shaded leaves receive more light while sunlit leaves lose some, so canopy light-use efficiency rises, as reviewed by Kanniah and colleagues. The climate route: aerosol cools the surface, lowers vapour pressure deficit, keeps soil wetter and can reduce rainfall; the canopy responds with more open stomata and less water stress, but less rain; Yue and colleagues quantified these routes for China. The co-pollutant route: the same emissions produce surface ozone, which enters leaves through stomata and damages photosynthesis, as shown globally by Yue and Unger.
The three routes combine into productivity, expressed as GPP, NPP, net ecosystem exchange or crop yield. The net effect is the diffuse-light gain minus the dimming loss, plus or minus the climate effects, minus ozone damage, which produces an inverted-U response to AOD.
The strength of each route depends on modulators: cloud cover, the aerosol load relative to the optimum, aerosol type, canopy structure, the C3 or C4 photosynthetic pathway and the crop growth stage. Finally, there are feedbacks. Over north-west India, Jethva and colleagues showed that larger harvests leave more residue, which is burnt and adds aerosol. Globally, Rap and colleagues showed that plant emissions form secondary organic aerosol that increases diffuse light and so feeds back on productivity. The rest of the seminar follows this chain from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Aerosols change the radiation reaching the surface through three effects, shown in the flowchart. The direct effect, now called aerosol–radiation interaction, is the scattering and absorption of sunlight by the particles themselves; it dims the surface and increases the diffuse fraction of light, which is the key change for plants, as reviewed by Kanniah and colleagues. The semi-direct effect comes from absorbing aerosol such as black carbon: it heats the aerosol layer, stabilises the lower atmosphere and can evaporate clouds; the IPCC assessment of Forster and colleagues treats this as an adjustment within the aerosol–radiation forcing. The indirect effect, or aerosol–cloud interaction, acts through clouds: aerosol particles serve as cloud condensation nuclei, so polluted clouds have more, smaller droplets; they are brighter, live longer and delay rain. All three converge at the surface: less total photosynthetically active radiation, more diffuse radiation, cooler days, a warmer aerosol layer and changed rainfall.
The figure, from Rosenfeld and colleagues, 2008, shows the cloud pathway. In clean air, on top, droplets grow large and rain out early. In polluted air, at the bottom, the many small droplets do not rain before reaching the freezing level; they freeze, release latent heat higher up and can invigorate the cloud. Rosenfeld and colleagues found that this invigoration works only up to a modest aerosol optical depth of about 0.25; beyond it, the reduction of surface sunlight weakens convection and rain is suppressed. Over South Asia, Bollasina and colleagues, 2011, showed that anthropogenic aerosol has weakened the summer monsoon, which matters for rainfed crops.
The forcing card shows how the effect is quantified. Aerosol radiative forcing is the difference in net flux with and without aerosol; the atmospheric forcing is the top-of-atmosphere forcing minus the surface forcing, and it is large when absorbing aerosol is present. Globally, the IPCC Sixth Assessment Report gives an effective radiative forcing of about minus 0.3 watts per square metre from aerosol–radiation interaction and about minus 1.0 from aerosol–cloud interaction. Over north-east India, Latha and colleagues found that forcing from the MERRA reanalysis followed ARF equals minus 8 minus 35.8 times AOD, a slope about half that of ground-based estimates, so reanalysis underestimates surface dimming.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sensing of aerosol starts on the ground, because ground instruments provide the reference for everything else. The flow at the top shows how a sun photometer works. It points at the sun and measures the direct-sun radiance at several wavelengths. It is calibrated by the Langley method, which extrapolates measurements at different air masses to the signal at the top of the atmosphere, V-zero. With this calibration, the Beer–Lambert law gives the total optical depth; subtracting Rayleigh scattering by air molecules and absorption by gases such as ozone and water vapour leaves the aerosol optical depth. AERONET data pass through three quality levels, 1.0 raw, 1.5 cloud-screened and 2.0 quality-assured, and Level 2.0 is used for validation. Sky scans also give single-scattering albedo and size distribution.
The four cards show the families of ground methods. Sun and sky photometers in AERONET, the Japanese SKYNET and ISRO's ARFINET give AOD from 340 to 1020 nanometres, the Ångström exponent, single-scattering albedo and size, following Holben and colleagues. In-situ instruments such as nephelometers, aethalometers and beta-attenuation monitors measure scattering, black carbon and PM2.5 at the surface. Ground lidars in MPLNET and EARLINET give the vertical profile and boundary-layer height. Radiometers such as pyranometers, shadow-band instruments and PAR sensors, standardised by the Baseline Surface Radiation Network, measure total and diffuse radiation, which is essential for productivity studies.
The map, from Wei and colleagues, shows the global AERONET network; India has only a few sites, such as Kanpur, Delhi, Jaipur, Gandhi College and Pune. So AERONET is the ground truth for satellite AOD, but its coverage over croplands is sparse.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Passive sensors give only a column total. Spaceborne lidar adds the vertical dimension: CALIOP on CALIPSO, from 2006 to 2023, and now the ATLID lidar on EarthCARE, launched in 2024, measure laser backscatter and depolarisation, which give the height of aerosol layers and distinguish dust from smoke and pollution, as described by Winker and colleagues. Reanalyses such as MERRA-2 and the Copernicus CAMS system assimilate satellite AOD into chemical transport models; they provide gap-free AOD, even under clouds, split into species such as dust, sulfate, black carbon and organic carbon, at a resolution of about half a degree. AOD can also be converted into surface PM2.5 by scaling with boundary-layer height and humidity, as van Donkelaar and colleagues did globally.
Every product has to be validated. The standard method of Ichoku and colleagues matches satellite pixels within about 25 kilometres of an AERONET station with sun-photometer measurements within plus or minus 30 minutes of the overpass, and reports the correlation, the root-mean-square error and the percentage of points within the expected error.
The figure, from Latha and colleagues, 2018, shows this validation for Dibrugarh in Assam. Monthly MODIS AOD follows the ground observations closely, with a correlation of about 0.92, but MODIS underestimates AOD in the monsoon and post-monsoon months and overestimates it in winter and pre-monsoon, so seasonal biases must be checked before using satellite AOD for crop studies. The strip lists the best data for productivity work: MAIAC for field scale, OMI and AERONET single-scattering albedo for absorption, CALIOP for layer height, and MERRA-2 and CAMS for species and gap-free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examines how accurate the satellite aerosol products are. The chart, compiled from the review by Wei and colleagues, shows the share of retrievals that fall within the expected error envelope when compared with AERONET. For MODIS over land, about 68 percent of the early Collection 4 retrievals, 72 percent of Collection 5 and 69.4 percent of Collection 6 Dark Target retrievals fall within the expected error, with correlations of about 0.8 to 0.9. The multi-angle MISR product improved from 75 percent in version 22 to 80.2 percent in version 23, the most accurate of these products. POLDER retrievals over China reached only about 62 percent. So even for the best products, roughly 20 to 40 percent of retrievals fall outside the expected error.
The expected error itself, shown in the callout, is defined for MODIS Dark Target over land as plus or minus 0.05 plus 15 percent of the AOD, following Levy and colleagues; it grows with the aerosol load, so in hazy regions the absolute uncertainty is large.
For India, Hari and Tyagi validated MODIS AOD against the two AERONET stations that met their data criteria for 2017 to 2019. At Jaipur the correlation was 0.90, the root-mean-square error 0.12 and 89 percent of points were within the error envelope, from 522 matchups; at Kanpur, in the central Indo-Gangetic Plain, the correlation was 0.86, the error 0.20 and 74 percent were within the envelope, from 788 matchups. Overall, MODIS AOD was about 8 percent lower than AERONET.
The implication is that satellite AOD is good enough for regional patterns and trends, but its accuracy depends on surface brightness, season and aerosol type, so it should be validated locally before it is used to attribute crop-productivity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productivity studies, aerosol optical depth is not enough: we need to know how much photosynthetically active radiation arrives as direct beam and how much as diffuse light. The diagram shows the four routes from aerosol inputs to direct and diffuse PAR. The inputs are AOD, single-scattering albedo, sun angle, the atmospheric profile and clouds. Radiative-transfer models such as SBDART, TUV and 6S compute direct and diffuse PAR physically; Tie and colleagues used TUV for China and Sankhla and colleagues used SBDART for Punjab. Empirical partitioning, such as the scheme of Spitters and colleagues, estimates the diffuse fraction from the clearness index, sunshine duration or AOD; Feng and colleagues used this to drive a two-leaf model. Satellite products such as BESS at 5 kilometres, CERES SYN1deg and the MODIS MCD18 PAR product provide gridded direct and diffuse radiation. Reanalyses such as MERRA-2 and ERA5 provide surface radiation with and without aerosol. The output in every case is direct PAR, diffuse PAR and the diffuse fraction.
The figure, from Sankhla and colleagues over Punjab during the wheat season, shows global, direct and diffuse PAR against AOD, with observations at the top and SBDART simulations at the bottom. Both show that direct PAR falls steeply, diffuse PAR rises and global PAR falls only moderately as AOD increases, and the agreement gives confidence in the radiative-transfer approach.
The diffuse fraction is the variable that links aerosol to canopy light use. Models are best for the mechanism, satellite products for mapping, and measured diffuse PAR is needed to validate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asks how we link aerosol to productivity, starting with statistical designs, shown as four cards. AOD binning compares productivity across classes of AOD while holding PAR and season similar; Niyogi and colleagues used it with flux towers in the United States and Zhang and colleagues with vegetation indices. Regression models express productivity or yield as a function of AOD together with temperature, rainfall, soil moisture and FAPAR, so the aerosol coefficient is estimated while other factors are controlled; Liu and Desai used county statistics for the United States and Gupta and colleagues used Earth-observation data for India. Relative sensitivity analysis, used by Hari and Tyagi, regresses NPP on AOD within AOD bins of 0.1 and scales the slope by its error, which shows at which AOD the response changes sign. Structural equation models trace causal paths through intermediate variables.
The figure is the structural equation model of He and colleagues, 2023, for Europe. Aerosol affects SIF through absorbed PAR, air temperature, vapour pressure deficit and soil moisture. The strongest path is AOD to APAR, with a coefficient of minus 0.52, and then APAR to SIF, while the temperature, VPD and soil-moisture routes are weak. So in Europe dimming dominates and aerosol reduces photosynthesis.
The caution in the strip is that correlation is not attribution: aerosol changes together with weather, season, ozone and technology, and a design is useful only if it removes these confounders. Natural experiments, on the next slide, are one of the best ways to do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experiments are events in which aerosol changes suddenly while technology and land use stay the same, so the response can be attributed to aerosol more confidently than in ordinary correlations. The four cards show four such experiments.
The best-known is the COVID-19 lockdown of 2020. In Hubei province in China, Bai and colleagues found that AOD fell by 23.8 percent compared with the previous three years and winter-wheat GPP rose by 16.5 percent. The left figure shows these percentage changes: AOD in panel a, water-use efficiency in b, and GPP from two independent satellite products, GOSIF in c and FLUXSAT in d. A similar result was reported for rice in north-east China in the review by de Oliveira and colleagues: about a 30 percent reduction in AOD increased rice GPP and NPP by about 5 percent. In these polluted regions, removing aerosol increased productivity, which means the crops were above the optimum aerosol load.
A second design uses the weekly cycle of emissions: traffic and industry are lower at weekends, so aerosol is lower. He and colleagues compared weekend and weekday satellite data across Europe; the right figure shows the weekend-minus-weekday difference in SIF, AOD and APAR. SIF was higher at weekends in 64 percent of European regions.
A third design uses volcanic eruptions as a statistical instrument. Proctor and colleagues used the sunlight reduction after major eruptions to estimate the effect of scattering aerosol on crops: maize yields fell by about 9 percent and soy, rice and wheat by about 5 percent, because the loss of total light outweighed any diffuse benefit for crops.
The caveat is that other things also change: lockdowns also cut ozone, and eruptions cool the climate, so even natural experiments need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 also changes the water cycle of ecosystems, which links back to productivity. The figure, from Latha and colleagues, 2018, is from Dibrugarh in Assam, a region of dense tea plantations. Both monthly evapotranspiration and NDVI fall as AOD rises. To separate the aerosol effect from vegetation, they fitted ET as a function of both AOD and NDVI; at constant NDVI, a 0.1 increase in AOD lowers ET by about 8.4 watts per square metre, because aerosol radiative forcing reduces the energy available for evaporation.
The second card shows the water-use efficiency side, from the same Hubei lockdown discussed earlier. Bai and colleagues found that winter-wheat water-use efficiency rose by 17.0 percent when the air became cleaner, and their GeoDetector analysis showed that PAR explained 42.1 percent of the variation in water-use efficiency, more than rainfall. So in that polluted region, more light improved both carbon gain and water use.
The third card is from Bangladesh. Jannat and colleagues found that the correlation between AOD and reference evapotranspiration, the atmospheric demand for water, was negative during the dry Boro rice season in six of eight districts, with r between minus 0.21 and minus 0.69: aerosol lowers evaporative demand.
The net water effect is therefore mixed. Dimming lowers evaporative demand and water loss and can raise water-use efficiency, which helps in dry conditions, but aerosol also suppresses rain, as discussed under radiative effects. For rainfed crops the outcome depends on the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aerosols contribute equally to the diffuse-light effect. Zhou and colleagues, 2022, separated the global GPP enhancement by aerosol species and by source using a chemistry–vegetation model for 2001 to 2014. The stacked chart shows the all-sky GPP gain by species, split into anthropogenic and natural parts. Sulfate and nitrate aerosols give the largest gain, 0.79 petagrams of carbon per year, of which 0.58 is anthropogenic. Organic carbon gives 0.47, of which 0.32 is from natural sources such as plant emissions and fires. Dust and sea salt, which are natural and come from non-vegetated areas, add 0.17 and 0.06 by being transported over vegetation downwind. Black carbon, discussed on the previous slide, is the exception that reduces GPP.
The maps show where the gains occur. Natural aerosol, panels a and c, mainly affects areas downwind of North Africa because of dust, while anthropogenic aerosol, panels b and d, dominates over eastern China, India and the eastern United States because of large human emissions. Under clear skies, bottom row, the gains are much larger everywhere.
The callouts give three key results. Anthropogenic aerosols provide 41 percent of the total GPP gain although they contribute only 25 percent of the increase in diffuse radiation, because they are emitted over productive vegetated regions. Natural aerosols add 0.93 watts per square metre of diffuse PAR globally under all-sky conditions, compared with 0.33 from anthropogenic aerosols. And anthropogenic aerosol dominates PAR changes over eastern China, India and the eastern United States, which is why South Asia is a key region for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dimming and diffuse fertilization pull in opposite directions, productivity follows an inverted-U response to aerosol: it rises at first, reaches a maximum and then falls. The scale on the left places the reported optima on a common AOD axis. In the canopy models of Cohan and colleagues, 2002, NPP peaks near an AOD of 0.6 under clear skies, with an enhancement of about 30 percent; the top figure shows that under cloudy skies, where light is already diffuse, aerosol only reduces NPP. For cropland in north-east China, Feng and colleagues found that AOD between 0.3 and 0.6, with a diffuse fraction of 30 to 40 percent, increases total GPP. In Punjab, Sankhla and colleagues found a significant non-linear relationship between AOD and wheat yield, with R squared of 0.90, peaking near AOD 0.55, as the lower figure shows. For India's ecological zones, Hari and Tyagi found that forest NPP is highest at AOD 0.38 and keeps increasing up to 0.51, while agricultural NPP is highest at 0.49 and is restricted above 0.59.
The optimum can also be expressed as a diffuse fraction: across flux sites, Yue and Unger note that photosynthesis reaches its maximum when the diffuse fraction is between 0.4 and 0.6.
The reason for the optimum is that the diffuse gain grows with AOD only until the shaded leaves themselves become light-saturated; beyond that, the loss of total light dominates. Since AOD over the Indo-Gangetic Plain is often 0.5 to 1.0, crops there are likely near or above the optimum, so further increases in aerosol are expected to reduce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brings the evidence, starting with natural ecosystems; the four cards summarise four studies. In boreal and hemiboreal forests of Finland, Estonia and Siberia, Ezhova and colleagues, 2018, found that aerosol raised the diffuse fraction from about 0.11 on clean days to 0.2 to 0.27 on more polluted days, increasing GPP by 6 to 14 percent. The figure shows their estimated GPP against diffuse fraction at five sites: GPP rises, peaks at an intermediate diffuse fraction and then declines, the inverted-U response at ecosystem scale.
In the Amazon, Rap and colleagues, 2015, estimated that smoke from fires increases forest NPP by 1.4 to 2.8 percent through diffuse radiation, and Cirino and colleagues, 2014, measured diffuse fractions of 0.5 to 0.7 in the burning season, with carbon uptake falling again under very heavy smoke. In a northern Australian savanna, an increase in diffuse fraction from 11 to 21 percent did not significantly change the carbon flux, as reported in the review by Kanniah and colleagues. Globally, Rap and colleagues, 2018, estimated that secondary organic aerosol formed from plant emissions raises global NPP by 1.23 petagrams of carbon per year, a natural feedback in which vegetation helps itself through the aerosol it produces.
So the effect ranges from no significant change in savanna to a gain of up to 14 percent in boreal forest, and globally the net effect on natural vegetation is a gain, in contrast to the crops we look 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judge how important aerosol is, it has to be compared with the climate drivers acting on the same crops. The chart is from Gupta and colleagues, 2025, who attributed the year-to-year change in India's rice yield from 1998 to 2019 to each driver. Rising maximum temperature had the largest negative effect, about minus 4.1 percent per year, followed by minimum temperature at about minus 1.1 percent and aerosol at about minus 0.7 percent, while rainfall fluctuations contributed only minus 0.1 percent. On the positive side, soil moisture, relative humidity and FAPAR contributed plus 1.2, plus 0.6 and plus 0.1 percent per year.
The card on the right, from Gupta and colleagues, 2024, shows the yield losses linked to unusual weather in the same period. For rice the losses were about 2.6 percent from maximum temperature, 2.9 from minimum temperature, 2.8 from rainfall, 4.8 from relative humidity, 2.9 from soil moisture and 2.8 from FAPAR; maize was roughly twice as sensitive, with losses between 5 and 7 percent. Aerosol therefore acts at the same scale as individual weather drivers.
The second card adds the interaction with heat from the United States: Liu and Desai found that air pollution reduced crop yields by 20 to 30 percent over four decades, acting together with heat stress, and that future losses will be dominated by warming.
The message is that heat is the largest single driver of Indian rice yield, but aerosol is comparable to night-time warming and larger than rainfall, so it must be included when Indian yield trends are attributed.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places the aerosol effect in a century-long perspective. The figure, from Mercado and colleagues, 2009, reconstructs the twentieth century with a global land model. Panel a shows that the global diffuse fraction of PAR rose from about 0.40 to 0.44 over the century, with spikes after volcanic eruptions. Panel b shows, in red, the contribution of diffuse-fraction changes to the land carbon sink. Panel c maps the percentage change in diffuse fraction between 1950 and 1980, from minus 20 to plus 30 percent, and panel d maps the resulting gain in carbon accumulation, which reached up to 30 grams of carbon per square metre per year over Europe, the eastern United States and East Asia, as in the second callout. The first callout gives their key result: if the diffuse effect is ignored, as in most models, the reduction in total PAR would have changed the land sink by minus 14.4 percent; including diffuse fertilization, the overall radiation change gives a net enhancement of plus 9.3 percent.
The right side looks forward. The chart, from Yue and colleagues, 2017, shows the combined effect of ozone and aerosol on China's NPP: minus 0.39 petagrams of carbon per year in 2010, a larger loss of minus 0.43 in 2030 under current legislation because ozone keeps rising, and only minus 0.12 under the maximum technically feasible reduction scenario, which relieves about 70 percent of the damage.
The outlook card adds three points. Mercado and colleagues projected that under a climate-mitigation scenario in which sulfate aerosol declines, diffuse-radiation fertilization falls rapidly to near zero by 2100. Zhou and colleagues found that the all-sky diffuse effect increased by 2.9 percent per year from 2001 to 2014, mainly because cloud cover declined. And Schiferl and Heald caution that, where crops benefit from particulate matter, cleaner air can reduce crop production, although ozone reductions work in the opposite direction. So air-quality policy changes productivity through several routes at once, and the net outcome must be assessed region by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rtlCol="0"/>
          <a:lstStyle>
            <a:lvl1pPr marL="0" indent="0" algn="l">
              <a:buNone/>
              <a:defRPr lang="en-US" sz="1400" b="1" dirty="0">
                <a:solidFill>
                  <a:schemeClr val="accent1"/>
                </a:solidFill>
              </a:defRPr>
            </a:lvl1pPr>
          </a:lstStyle>
          <a:p>
            <a:pPr marL="0" indent="0" algn="l">
              <a:buNone/>
            </a:pP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1.xml"/></Relationships>
</file>

<file path=ppt/slides/_rels/slide502.xml.rels><?xml version="1.0" encoding="UTF-8" standalone="yes"?>
<Relationships xmlns="http://schemas.openxmlformats.org/package/2006/relationships"><Relationship Id="rId1" Type="http://schemas.openxmlformats.org/officeDocument/2006/relationships/image" Target="../media/u2_image-2-1.png"/><Relationship Id="rId2" Type="http://schemas.openxmlformats.org/officeDocument/2006/relationships/slideLayout" Target="../slideLayouts/slideLayout2.xml"/><Relationship Id="rId3" Type="http://schemas.openxmlformats.org/officeDocument/2006/relationships/notesSlide" Target="../notesSlides/notesSlide50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3.xml"/></Relationships>
</file>

<file path=ppt/slides/_rels/slide504.xml.rels><?xml version="1.0" encoding="UTF-8" standalone="yes"?>
<Relationships xmlns="http://schemas.openxmlformats.org/package/2006/relationships"><Relationship Id="rId1" Type="http://schemas.openxmlformats.org/officeDocument/2006/relationships/image" Target="../media/u2_image-4-1.png"/><Relationship Id="rId2" Type="http://schemas.openxmlformats.org/officeDocument/2006/relationships/slideLayout" Target="../slideLayouts/slideLayout2.xml"/><Relationship Id="rId3" Type="http://schemas.openxmlformats.org/officeDocument/2006/relationships/notesSlide" Target="../notesSlides/notesSlide504.xml"/></Relationships>
</file>

<file path=ppt/slides/_rels/slide505.xml.rels><?xml version="1.0" encoding="UTF-8" standalone="yes"?>
<Relationships xmlns="http://schemas.openxmlformats.org/package/2006/relationships"><Relationship Id="rId1" Type="http://schemas.openxmlformats.org/officeDocument/2006/relationships/image" Target="../media/u2_image-5-1.png"/><Relationship Id="rId2" Type="http://schemas.openxmlformats.org/officeDocument/2006/relationships/slideLayout" Target="../slideLayouts/slideLayout2.xml"/><Relationship Id="rId3" Type="http://schemas.openxmlformats.org/officeDocument/2006/relationships/notesSlide" Target="../notesSlides/notesSlide505.xml"/></Relationships>
</file>

<file path=ppt/slides/_rels/slide506.xml.rels><?xml version="1.0" encoding="UTF-8" standalone="yes"?>
<Relationships xmlns="http://schemas.openxmlformats.org/package/2006/relationships"><Relationship Id="rId1" Type="http://schemas.openxmlformats.org/officeDocument/2006/relationships/image" Target="../media/u2_image-6-1.png"/><Relationship Id="rId2" Type="http://schemas.openxmlformats.org/officeDocument/2006/relationships/slideLayout" Target="../slideLayouts/slideLayout2.xml"/><Relationship Id="rId3" Type="http://schemas.openxmlformats.org/officeDocument/2006/relationships/notesSlide" Target="../notesSlides/notesSlide506.xml"/></Relationships>
</file>

<file path=ppt/slides/_rels/slide507.xml.rels><?xml version="1.0" encoding="UTF-8" standalone="yes"?>
<Relationships xmlns="http://schemas.openxmlformats.org/package/2006/relationships"><Relationship Id="rId1" Type="http://schemas.openxmlformats.org/officeDocument/2006/relationships/chart" Target="../charts/u2chart507_chart1.xml"/><Relationship Id="rId2" Type="http://schemas.openxmlformats.org/officeDocument/2006/relationships/slideLayout" Target="../slideLayouts/slideLayout2.xml"/><Relationship Id="rId3" Type="http://schemas.openxmlformats.org/officeDocument/2006/relationships/notesSlide" Target="../notesSlides/notesSlide507.xml"/></Relationships>
</file>

<file path=ppt/slides/_rels/slide508.xml.rels><?xml version="1.0" encoding="UTF-8" standalone="yes"?>
<Relationships xmlns="http://schemas.openxmlformats.org/package/2006/relationships"><Relationship Id="rId1" Type="http://schemas.openxmlformats.org/officeDocument/2006/relationships/image" Target="../media/u2_image-8-1.png"/><Relationship Id="rId2" Type="http://schemas.openxmlformats.org/officeDocument/2006/relationships/slideLayout" Target="../slideLayouts/slideLayout2.xml"/><Relationship Id="rId3" Type="http://schemas.openxmlformats.org/officeDocument/2006/relationships/notesSlide" Target="../notesSlides/notesSlide508.xml"/></Relationships>
</file>

<file path=ppt/slides/_rels/slide509.xml.rels><?xml version="1.0" encoding="UTF-8" standalone="yes"?>
<Relationships xmlns="http://schemas.openxmlformats.org/package/2006/relationships"><Relationship Id="rId1" Type="http://schemas.openxmlformats.org/officeDocument/2006/relationships/image" Target="../media/u2_image-9-1.png"/><Relationship Id="rId2" Type="http://schemas.openxmlformats.org/officeDocument/2006/relationships/slideLayout" Target="../slideLayouts/slideLayout2.xml"/><Relationship Id="rId3" Type="http://schemas.openxmlformats.org/officeDocument/2006/relationships/notesSlide" Target="../notesSlides/notesSlide509.xml"/></Relationships>
</file>

<file path=ppt/slides/_rels/slide510.xml.rels><?xml version="1.0" encoding="UTF-8" standalone="yes"?>
<Relationships xmlns="http://schemas.openxmlformats.org/package/2006/relationships"><Relationship Id="rId1" Type="http://schemas.openxmlformats.org/officeDocument/2006/relationships/image" Target="../media/u2_image-10-1.png"/><Relationship Id="rId2" Type="http://schemas.openxmlformats.org/officeDocument/2006/relationships/image" Target="../media/u2_image-10-2.png"/><Relationship Id="rId3" Type="http://schemas.openxmlformats.org/officeDocument/2006/relationships/slideLayout" Target="../slideLayouts/slideLayout2.xml"/><Relationship Id="rId4" Type="http://schemas.openxmlformats.org/officeDocument/2006/relationships/notesSlide" Target="../notesSlides/notesSlide510.xml"/></Relationships>
</file>

<file path=ppt/slides/_rels/slide511.xml.rels><?xml version="1.0" encoding="UTF-8" standalone="yes"?>
<Relationships xmlns="http://schemas.openxmlformats.org/package/2006/relationships"><Relationship Id="rId1" Type="http://schemas.openxmlformats.org/officeDocument/2006/relationships/image" Target="../media/u2_image-11-1.png"/><Relationship Id="rId2" Type="http://schemas.openxmlformats.org/officeDocument/2006/relationships/slideLayout" Target="../slideLayouts/slideLayout2.xml"/><Relationship Id="rId3" Type="http://schemas.openxmlformats.org/officeDocument/2006/relationships/notesSlide" Target="../notesSlides/notesSlide511.xml"/></Relationships>
</file>

<file path=ppt/slides/_rels/slide512.xml.rels><?xml version="1.0" encoding="UTF-8" standalone="yes"?>
<Relationships xmlns="http://schemas.openxmlformats.org/package/2006/relationships"><Relationship Id="rId1" Type="http://schemas.openxmlformats.org/officeDocument/2006/relationships/chart" Target="../charts/u2chart512_chart2.xml"/><Relationship Id="rId2" Type="http://schemas.openxmlformats.org/officeDocument/2006/relationships/image" Target="../media/u2_image-12-1.png"/><Relationship Id="rId3" Type="http://schemas.openxmlformats.org/officeDocument/2006/relationships/slideLayout" Target="../slideLayouts/slideLayout2.xml"/><Relationship Id="rId4" Type="http://schemas.openxmlformats.org/officeDocument/2006/relationships/notesSlide" Target="../notesSlides/notesSlide512.xml"/></Relationships>
</file>

<file path=ppt/slides/_rels/slide513.xml.rels><?xml version="1.0" encoding="UTF-8" standalone="yes"?>
<Relationships xmlns="http://schemas.openxmlformats.org/package/2006/relationships"><Relationship Id="rId1" Type="http://schemas.openxmlformats.org/officeDocument/2006/relationships/image" Target="../media/u2_image-13-1.png"/><Relationship Id="rId2" Type="http://schemas.openxmlformats.org/officeDocument/2006/relationships/image" Target="../media/u2_image-13-2.png"/><Relationship Id="rId3" Type="http://schemas.openxmlformats.org/officeDocument/2006/relationships/slideLayout" Target="../slideLayouts/slideLayout2.xml"/><Relationship Id="rId4" Type="http://schemas.openxmlformats.org/officeDocument/2006/relationships/notesSlide" Target="../notesSlides/notesSlide513.xml"/></Relationships>
</file>

<file path=ppt/slides/_rels/slide514.xml.rels><?xml version="1.0" encoding="UTF-8" standalone="yes"?>
<Relationships xmlns="http://schemas.openxmlformats.org/package/2006/relationships"><Relationship Id="rId1" Type="http://schemas.openxmlformats.org/officeDocument/2006/relationships/image" Target="../media/u2_image-14-1.png"/><Relationship Id="rId2" Type="http://schemas.openxmlformats.org/officeDocument/2006/relationships/slideLayout" Target="../slideLayouts/slideLayout2.xml"/><Relationship Id="rId3" Type="http://schemas.openxmlformats.org/officeDocument/2006/relationships/notesSlide" Target="../notesSlides/notesSlide514.xml"/></Relationships>
</file>

<file path=ppt/slides/_rels/slide515.xml.rels><?xml version="1.0" encoding="UTF-8" standalone="yes"?>
<Relationships xmlns="http://schemas.openxmlformats.org/package/2006/relationships"><Relationship Id="rId1" Type="http://schemas.openxmlformats.org/officeDocument/2006/relationships/chart" Target="../charts/u2chart515_chart3.xml"/><Relationship Id="rId2" Type="http://schemas.openxmlformats.org/officeDocument/2006/relationships/slideLayout" Target="../slideLayouts/slideLayout2.xml"/><Relationship Id="rId3" Type="http://schemas.openxmlformats.org/officeDocument/2006/relationships/notesSlide" Target="../notesSlides/notesSlide515.xml"/></Relationships>
</file>

<file path=ppt/slides/_rels/slide516.xml.rels><?xml version="1.0" encoding="UTF-8" standalone="yes"?>
<Relationships xmlns="http://schemas.openxmlformats.org/package/2006/relationships"><Relationship Id="rId2" Type="http://schemas.openxmlformats.org/officeDocument/2006/relationships/chart" Target="../charts/u2chart516_chart4.xml"/><Relationship Id="rId1" Type="http://schemas.openxmlformats.org/officeDocument/2006/relationships/image" Target="../media/u2_image-16-1.png"/><Relationship Id="rId3" Type="http://schemas.openxmlformats.org/officeDocument/2006/relationships/slideLayout" Target="../slideLayouts/slideLayout2.xml"/><Relationship Id="rId4" Type="http://schemas.openxmlformats.org/officeDocument/2006/relationships/notesSlide" Target="../notesSlides/notesSlide5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anel"/>
          <p:cNvSpPr/>
          <p:nvPr/>
        </p:nvSpPr>
        <p:spPr>
          <a:xfrm>
            <a:off x="411480" y="320040"/>
            <a:ext cx="6949440" cy="4709160"/>
          </a:xfrm>
          <a:prstGeom prst="rect">
            <a:avLst/>
          </a:prstGeom>
          <a:solidFill>
            <a:schemeClr val="tx2">
              <a:alpha val="82000"/>
            </a:schemeClr>
          </a:solidFill>
          <a:ln w="12700">
            <a:solidFill>
              <a:schemeClr val="tx2"/>
            </a:solidFill>
            <a:prstDash val="solid"/>
          </a:ln>
        </p:spPr>
      </p:sp>
      <p:sp>
        <p:nvSpPr>
          <p:cNvPr id="3" name="Title text"/>
          <p:cNvSpPr txBox="1"/>
          <p:nvPr/>
        </p:nvSpPr>
        <p:spPr>
          <a:xfrm>
            <a:off x="731520" y="548640"/>
            <a:ext cx="6355080" cy="2331720"/>
          </a:xfrm>
          <a:prstGeom prst="rect">
            <a:avLst/>
          </a:prstGeom>
          <a:noFill/>
          <a:ln/>
        </p:spPr>
        <p:txBody>
          <a:bodyPr wrap="square" lIns="0" tIns="0" rIns="0" bIns="0" rtlCol="0" anchor="t"/>
          <a:lstStyle/>
          <a:p>
            <a:pPr marL="0" indent="0">
              <a:buNone/>
            </a:pPr>
            <a:r>
              <a:rPr lang="en-US" sz="1600" b="1" kern="0" spc="200" dirty="0">
                <a:solidFill>
                  <a:schemeClr val="accent2"/>
                </a:solidFill>
              </a:rPr>
              <a:t>PhD CREDIT SEMINAR</a:t>
            </a:r>
            <a:endParaRPr lang="en-US" sz="1600" dirty="0"/>
          </a:p>
          <a:p>
            <a:pPr marL="0" indent="0">
              <a:buNone/>
            </a:pPr>
            <a:r>
              <a:rPr lang="en-US" sz="3000" b="1" dirty="0">
                <a:solidFill>
                  <a:schemeClr val="bg1"/>
                </a:solidFill>
              </a:rPr>
              <a:t>Remote Sensing for Quantifying Aerosol Impact on Terrestrial Ecosystem Productivity</a:t>
            </a:r>
            <a:endParaRPr lang="en-US" sz="1600" dirty="0"/>
          </a:p>
        </p:txBody>
      </p:sp>
      <p:sp>
        <p:nvSpPr>
          <p:cNvPr id="4" name="Title rule"/>
          <p:cNvSpPr/>
          <p:nvPr/>
        </p:nvSpPr>
        <p:spPr>
          <a:xfrm>
            <a:off x="731520" y="3017520"/>
            <a:ext cx="3291840" cy="0"/>
          </a:xfrm>
          <a:prstGeom prst="line">
            <a:avLst/>
          </a:prstGeom>
          <a:noFill/>
          <a:ln w="31750">
            <a:solidFill>
              <a:schemeClr val="accent2"/>
            </a:solidFill>
            <a:prstDash val="solid"/>
          </a:ln>
        </p:spPr>
      </p:sp>
      <p:sp>
        <p:nvSpPr>
          <p:cNvPr id="5" name="Presenter text"/>
          <p:cNvSpPr txBox="1"/>
          <p:nvPr/>
        </p:nvSpPr>
        <p:spPr>
          <a:xfrm>
            <a:off x="731520" y="3154680"/>
            <a:ext cx="6355080" cy="1737360"/>
          </a:xfrm>
          <a:prstGeom prst="rect">
            <a:avLst/>
          </a:prstGeom>
          <a:noFill/>
          <a:ln/>
        </p:spPr>
        <p:txBody>
          <a:bodyPr wrap="square" lIns="0" tIns="0" rIns="0" bIns="0" rtlCol="0" anchor="t"/>
          <a:lstStyle/>
          <a:p>
            <a:pPr marL="0" indent="0">
              <a:buNone/>
            </a:pPr>
            <a:r>
              <a:rPr lang="en-US" sz="1600" b="1" dirty="0">
                <a:solidFill>
                  <a:schemeClr val="accent2"/>
                </a:solidFill>
              </a:rPr>
              <a:t>Presented by: </a:t>
            </a:r>
            <a:r>
              <a:rPr lang="en-US" sz="1600" b="1" dirty="0">
                <a:solidFill>
                  <a:schemeClr val="bg1"/>
                </a:solidFill>
              </a:rPr>
              <a:t>Animesh Panda</a:t>
            </a:r>
            <a:endParaRPr lang="en-US" sz="1600" dirty="0"/>
          </a:p>
          <a:p>
            <a:pPr marL="0" indent="0">
              <a:buNone/>
            </a:pPr>
            <a:r>
              <a:rPr lang="en-US" sz="1600" dirty="0">
                <a:solidFill>
                  <a:schemeClr val="bg1"/>
                </a:solidFill>
              </a:rPr>
              <a:t>Roll No. 13098  ·  Ph.D. 2nd Year</a:t>
            </a:r>
            <a:endParaRPr lang="en-US" sz="1600" dirty="0"/>
          </a:p>
          <a:p>
            <a:pPr marL="0" indent="0">
              <a:buNone/>
            </a:pPr>
            <a:r>
              <a:rPr lang="en-US" sz="800" dirty="0">
                <a:solidFill>
                  <a:srgbClr val="000000"/>
                </a:solidFill>
              </a:rPr>
              <a:t> </a:t>
            </a:r>
            <a:endParaRPr lang="en-US" sz="1600" dirty="0"/>
          </a:p>
          <a:p>
            <a:pPr marL="0" indent="0">
              <a:buNone/>
            </a:pPr>
            <a:r>
              <a:rPr lang="en-US" sz="1600" b="1" dirty="0">
                <a:solidFill>
                  <a:schemeClr val="accent2"/>
                </a:solidFill>
              </a:rPr>
              <a:t>Chairman: </a:t>
            </a:r>
            <a:r>
              <a:rPr lang="en-US" sz="1600" dirty="0">
                <a:solidFill>
                  <a:schemeClr val="bg1"/>
                </a:solidFill>
              </a:rPr>
              <a:t>Rabi N. Sahoo</a:t>
            </a:r>
            <a:endParaRPr lang="en-US" sz="1600" dirty="0"/>
          </a:p>
          <a:p>
            <a:pPr marL="0" indent="0">
              <a:buNone/>
            </a:pPr>
            <a:r>
              <a:rPr lang="en-US" sz="1600" b="1" dirty="0">
                <a:solidFill>
                  <a:schemeClr val="accent2"/>
                </a:solidFill>
              </a:rPr>
              <a:t>Seminar Leader: </a:t>
            </a:r>
            <a:r>
              <a:rPr lang="en-US" sz="1600" dirty="0">
                <a:solidFill>
                  <a:schemeClr val="bg1"/>
                </a:solidFill>
              </a:rPr>
              <a:t>Subash Nataraja Pillai</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Aerosol types and sources</a:t>
            </a:r>
            <a:endParaRPr lang="en-US" sz="2800" dirty="0"/>
          </a:p>
        </p:txBody>
      </p:sp>
      <p:sp>
        <p:nvSpPr>
          <p:cNvPr id="5" name="Aerosol types figure card"/>
          <p:cNvSpPr/>
          <p:nvPr/>
        </p:nvSpPr>
        <p:spPr>
          <a:xfrm>
            <a:off x="8092440" y="1280160"/>
            <a:ext cx="3639312" cy="3351951"/>
          </a:xfrm>
          <a:prstGeom prst="roundRect">
            <a:avLst>
              <a:gd name="adj" fmla="val 191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4" name="Aerosol types figure title"/>
          <p:cNvSpPr txBox="1"/>
          <p:nvPr/>
        </p:nvSpPr>
        <p:spPr>
          <a:xfrm>
            <a:off x="8229600" y="1371600"/>
            <a:ext cx="3364992" cy="530352"/>
          </a:xfrm>
          <a:prstGeom prst="rect">
            <a:avLst/>
          </a:prstGeom>
          <a:noFill/>
          <a:ln/>
        </p:spPr>
        <p:txBody>
          <a:bodyPr wrap="square" lIns="0" tIns="0" rIns="0" bIns="0" rtlCol="0" anchor="t"/>
          <a:lstStyle/>
          <a:p>
            <a:pPr marL="0" indent="0">
              <a:buNone/>
            </a:pPr>
            <a:r>
              <a:rPr lang="en-US" sz="1400" b="1" dirty="0">
                <a:solidFill>
                  <a:schemeClr val="tx2"/>
                </a:solidFill>
              </a:rPr>
              <a:t>Aerosol types over the western and central IGP (AOD–α classification)</a:t>
            </a:r>
            <a:endParaRPr lang="en-US" sz="1400" dirty="0"/>
          </a:p>
        </p:txBody>
      </p:sp>
      <p:pic>
        <p:nvPicPr>
          <p:cNvPr id="7" name="Aerosol types figure" descr="Aerosol types figure"/>
          <p:cNvPicPr>
            <a:picLocks noChangeAspect="1"/>
          </p:cNvPicPr>
          <p:nvPr/>
        </p:nvPicPr>
        <p:blipFill>
          <a:blip r:embed="rId3"/>
          <a:stretch>
            <a:fillRect/>
          </a:stretch>
        </p:blipFill>
        <p:spPr>
          <a:xfrm>
            <a:off x="8220456" y="1901952"/>
            <a:ext cx="3383280" cy="1843191"/>
          </a:xfrm>
          <a:prstGeom prst="rect">
            <a:avLst/>
          </a:prstGeom>
        </p:spPr>
      </p:pic>
      <p:sp>
        <p:nvSpPr>
          <p:cNvPr id="8" name="Aerosol types figure caption"/>
          <p:cNvSpPr txBox="1"/>
          <p:nvPr/>
        </p:nvSpPr>
        <p:spPr>
          <a:xfrm>
            <a:off x="8229600" y="3818295"/>
            <a:ext cx="3364992" cy="457200"/>
          </a:xfrm>
          <a:prstGeom prst="rect">
            <a:avLst/>
          </a:prstGeom>
          <a:noFill/>
          <a:ln/>
        </p:spPr>
        <p:txBody>
          <a:bodyPr wrap="square" lIns="0" tIns="0" rIns="0" bIns="0" rtlCol="0" anchor="t"/>
          <a:lstStyle/>
          <a:p>
            <a:pPr marL="0" indent="0">
              <a:buNone/>
            </a:pPr>
            <a:r>
              <a:rPr lang="en-US" sz="1400" dirty="0">
                <a:solidFill>
                  <a:schemeClr val="tx1"/>
                </a:solidFill>
              </a:rPr>
              <a:t>Urban-industrial and biomass-burning aerosol dominates; dust peaks before the monsoon</a:t>
            </a:r>
            <a:endParaRPr lang="en-US" sz="1400" dirty="0"/>
          </a:p>
        </p:txBody>
      </p:sp>
      <p:sp>
        <p:nvSpPr>
          <p:cNvPr id="9" name="Aerosol types figure source"/>
          <p:cNvSpPr txBox="1"/>
          <p:nvPr/>
        </p:nvSpPr>
        <p:spPr>
          <a:xfrm>
            <a:off x="8229600" y="4275495"/>
            <a:ext cx="3364992" cy="246888"/>
          </a:xfrm>
          <a:prstGeom prst="rect">
            <a:avLst/>
          </a:prstGeom>
          <a:noFill/>
          <a:ln/>
        </p:spPr>
        <p:txBody>
          <a:bodyPr wrap="square" lIns="0" tIns="0" rIns="0" bIns="0" rtlCol="0" anchor="t"/>
          <a:lstStyle/>
          <a:p>
            <a:pPr marL="0" indent="0">
              <a:buNone/>
            </a:pPr>
            <a:r>
              <a:rPr lang="en-US" sz="1400" i="1" dirty="0">
                <a:solidFill>
                  <a:schemeClr val="accent1"/>
                </a:solidFill>
              </a:rPr>
              <a:t>Source: Ramachandran &amp; Rupakheti, 2026</a:t>
            </a:r>
            <a:endParaRPr lang="en-US" sz="1400" dirty="0"/>
          </a:p>
        </p:txBody>
      </p:sp>
      <p:sp>
        <p:nvSpPr>
          <p:cNvPr id="10" name="Primary secondary strip"/>
          <p:cNvSpPr/>
          <p:nvPr/>
        </p:nvSpPr>
        <p:spPr>
          <a:xfrm>
            <a:off x="457200" y="5394960"/>
            <a:ext cx="11274552" cy="731520"/>
          </a:xfrm>
          <a:prstGeom prst="roundRect">
            <a:avLst>
              <a:gd name="adj" fmla="val 7500"/>
            </a:avLst>
          </a:prstGeom>
          <a:solidFill>
            <a:schemeClr val="bg2"/>
          </a:solidFill>
          <a:ln w="12700">
            <a:solidFill>
              <a:schemeClr val="bg2"/>
            </a:solidFill>
            <a:prstDash val="solid"/>
          </a:ln>
        </p:spPr>
      </p:sp>
      <p:sp>
        <p:nvSpPr>
          <p:cNvPr id="11" name="Primary secondary strip text"/>
          <p:cNvSpPr txBox="1"/>
          <p:nvPr/>
        </p:nvSpPr>
        <p:spPr>
          <a:xfrm>
            <a:off x="594360" y="5394960"/>
            <a:ext cx="11000232" cy="731520"/>
          </a:xfrm>
          <a:prstGeom prst="rect">
            <a:avLst/>
          </a:prstGeom>
          <a:noFill/>
          <a:ln/>
        </p:spPr>
        <p:txBody>
          <a:bodyPr wrap="square" lIns="0" tIns="0" rIns="0" bIns="0" rtlCol="0" anchor="ctr"/>
          <a:lstStyle/>
          <a:p>
            <a:pPr marL="0" indent="0">
              <a:buNone/>
            </a:pPr>
            <a:r>
              <a:rPr lang="en-US" sz="1400" b="1" dirty="0">
                <a:solidFill>
                  <a:schemeClr val="tx1"/>
                </a:solidFill>
              </a:rPr>
              <a:t>Primary</a:t>
            </a:r>
            <a:r>
              <a:rPr lang="en-US" sz="1400" dirty="0">
                <a:solidFill>
                  <a:schemeClr val="tx1"/>
                </a:solidFill>
              </a:rPr>
              <a:t> particles are emitted directly; </a:t>
            </a:r>
            <a:r>
              <a:rPr lang="en-US" sz="1400" b="1" dirty="0">
                <a:solidFill>
                  <a:schemeClr val="tx1"/>
                </a:solidFill>
              </a:rPr>
              <a:t>secondary</a:t>
            </a:r>
            <a:r>
              <a:rPr lang="en-US" sz="1400" dirty="0">
                <a:solidFill>
                  <a:schemeClr val="tx1"/>
                </a:solidFill>
              </a:rPr>
              <a:t> particles form from gases. Fine mode: radius ≤ 1 µm (modal radius 0.1–0.3 µm); coarse mode: ≥ 1 µm (modal radius 2–5 µm) (Ramachandran &amp; Rupakheti, 2026).</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5</a:t>
            </a:fld>
            <a:endParaRPr lang="en-US"/>
          </a:p>
        </p:txBody>
      </p:sp>
      <p:graphicFrame>
        <p:nvGraphicFramePr>
          <p:cNvPr id="13" name="Aerosol types table">
            <a:extLst>
              <a:ext uri="{FF2B5EF4-FFF2-40B4-BE49-F238E27FC236}">
                <a16:creationId xmlns:a16="http://schemas.microsoft.com/office/drawing/2014/main" id="{737BA671-72B2-8002-E3FF-1B25108B24E2}"/>
              </a:ext>
            </a:extLst>
          </p:cNvPr>
          <p:cNvGraphicFramePr>
            <a:graphicFrameLocks noGrp="1"/>
          </p:cNvGraphicFramePr>
          <p:nvPr>
            <p:extLst>
              <p:ext uri="{D42A27DB-BD31-4B8C-83A1-F6EECF244321}">
                <p14:modId xmlns:p14="http://schemas.microsoft.com/office/powerpoint/2010/main" val="2871111704"/>
              </p:ext>
            </p:extLst>
          </p:nvPr>
        </p:nvGraphicFramePr>
        <p:xfrm>
          <a:off x="457200" y="1256625"/>
          <a:ext cx="7507224" cy="3465578"/>
        </p:xfrm>
        <a:graphic>
          <a:graphicData uri="http://schemas.openxmlformats.org/drawingml/2006/table">
            <a:tbl>
              <a:tblPr/>
              <a:tblGrid>
                <a:gridCol w="2082650">
                  <a:extLst>
                    <a:ext uri="{9D8B030D-6E8A-4147-A177-3AD203B41FA5}">
                      <a16:colId xmlns:a16="http://schemas.microsoft.com/office/drawing/2014/main" val="20000"/>
                    </a:ext>
                  </a:extLst>
                </a:gridCol>
                <a:gridCol w="3051323">
                  <a:extLst>
                    <a:ext uri="{9D8B030D-6E8A-4147-A177-3AD203B41FA5}">
                      <a16:colId xmlns:a16="http://schemas.microsoft.com/office/drawing/2014/main" val="20001"/>
                    </a:ext>
                  </a:extLst>
                </a:gridCol>
                <a:gridCol w="2373251">
                  <a:extLst>
                    <a:ext uri="{9D8B030D-6E8A-4147-A177-3AD203B41FA5}">
                      <a16:colId xmlns:a16="http://schemas.microsoft.com/office/drawing/2014/main" val="20002"/>
                    </a:ext>
                  </a:extLst>
                </a:gridCol>
              </a:tblGrid>
              <a:tr h="329308">
                <a:tc>
                  <a:txBody>
                    <a:bodyPr/>
                    <a:lstStyle/>
                    <a:p>
                      <a:pPr marL="0" indent="0">
                        <a:buNone/>
                      </a:pPr>
                      <a:r>
                        <a:rPr lang="en-US" sz="1400" b="1" dirty="0">
                          <a:solidFill>
                            <a:schemeClr val="bg1"/>
                          </a:solidFill>
                        </a:rPr>
                        <a:t>Aerosol type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Main sources (India examples)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Size · light interaction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27254">
                <a:tc>
                  <a:txBody>
                    <a:bodyPr/>
                    <a:lstStyle/>
                    <a:p>
                      <a:pPr marL="0" indent="0">
                        <a:buNone/>
                      </a:pPr>
                      <a:r>
                        <a:rPr lang="en-US" sz="1400" b="1" dirty="0">
                          <a:solidFill>
                            <a:schemeClr val="tx1"/>
                          </a:solidFill>
                        </a:rPr>
                        <a:t>Sulfate &amp; nitrate</a:t>
                      </a:r>
                      <a:endParaRPr lang="en-US" sz="1400" dirty="0">
                        <a:solidFill>
                          <a:schemeClr val="tx1"/>
                        </a:solidFill>
                      </a:endParaRPr>
                    </a:p>
                    <a:p>
                      <a:pPr marL="0" indent="0">
                        <a:buNone/>
                      </a:pPr>
                      <a:r>
                        <a:rPr lang="en-US" sz="1400" i="1" dirty="0">
                          <a:solidFill>
                            <a:schemeClr val="tx1"/>
                          </a:solidFill>
                        </a:rPr>
                        <a:t>Seinfeld &amp; Pandis 2016</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SO₂, NOₓ, NH₃ from coal power, vehicles, fertilizer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Fine · strong scattering, swell in humid air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27254">
                <a:tc>
                  <a:txBody>
                    <a:bodyPr/>
                    <a:lstStyle/>
                    <a:p>
                      <a:pPr marL="0" indent="0">
                        <a:buNone/>
                      </a:pPr>
                      <a:r>
                        <a:rPr lang="en-US" sz="1400" b="1" dirty="0">
                          <a:solidFill>
                            <a:schemeClr val="tx1"/>
                          </a:solidFill>
                        </a:rPr>
                        <a:t>Black carbon</a:t>
                      </a:r>
                      <a:endParaRPr lang="en-US" sz="1400" dirty="0">
                        <a:solidFill>
                          <a:schemeClr val="tx1"/>
                        </a:solidFill>
                      </a:endParaRPr>
                    </a:p>
                    <a:p>
                      <a:pPr marL="0" indent="0">
                        <a:buNone/>
                      </a:pPr>
                      <a:r>
                        <a:rPr lang="en-US" sz="1400" i="1" dirty="0">
                          <a:solidFill>
                            <a:schemeClr val="tx1"/>
                          </a:solidFill>
                        </a:rPr>
                        <a:t>Bond 2013</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Diesel, brick kilns, biomass and residue burning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Fine · strongly absorbing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27254">
                <a:tc>
                  <a:txBody>
                    <a:bodyPr/>
                    <a:lstStyle/>
                    <a:p>
                      <a:pPr marL="0" indent="0">
                        <a:buNone/>
                      </a:pPr>
                      <a:r>
                        <a:rPr lang="en-US" sz="1400" b="1" dirty="0">
                          <a:solidFill>
                            <a:schemeClr val="tx1"/>
                          </a:solidFill>
                        </a:rPr>
                        <a:t>Organic carbon &amp; SOA</a:t>
                      </a:r>
                      <a:endParaRPr lang="en-US" sz="1400" dirty="0">
                        <a:solidFill>
                          <a:schemeClr val="tx1"/>
                        </a:solidFill>
                      </a:endParaRPr>
                    </a:p>
                    <a:p>
                      <a:pPr marL="0" indent="0">
                        <a:buNone/>
                      </a:pPr>
                      <a:r>
                        <a:rPr lang="en-US" sz="1400" i="1" dirty="0">
                          <a:solidFill>
                            <a:schemeClr val="tx1"/>
                          </a:solidFill>
                        </a:rPr>
                        <a:t>Andreae &amp; Gelencsér 2006</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Biomass burning; oxidised plant VOCs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Fine · mostly scattering; brown carbon absorbs UV–blue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27254">
                <a:tc>
                  <a:txBody>
                    <a:bodyPr/>
                    <a:lstStyle/>
                    <a:p>
                      <a:pPr marL="0" indent="0">
                        <a:buNone/>
                      </a:pPr>
                      <a:r>
                        <a:rPr lang="en-US" sz="1400" b="1" dirty="0">
                          <a:solidFill>
                            <a:schemeClr val="tx1"/>
                          </a:solidFill>
                        </a:rPr>
                        <a:t>Mineral dust</a:t>
                      </a:r>
                      <a:endParaRPr lang="en-US" sz="1400" dirty="0">
                        <a:solidFill>
                          <a:schemeClr val="tx1"/>
                        </a:solidFill>
                      </a:endParaRPr>
                    </a:p>
                    <a:p>
                      <a:pPr marL="0" indent="0">
                        <a:buNone/>
                      </a:pPr>
                      <a:r>
                        <a:rPr lang="en-US" sz="1400" i="1" dirty="0">
                          <a:solidFill>
                            <a:schemeClr val="tx1"/>
                          </a:solidFill>
                        </a:rPr>
                        <a:t>Ginoux 2012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Thar and Arabian deserts, dry soils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Coarse · scatters, weakly absorbs 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27254">
                <a:tc>
                  <a:txBody>
                    <a:bodyPr/>
                    <a:lstStyle/>
                    <a:p>
                      <a:pPr marL="0" indent="0">
                        <a:buNone/>
                      </a:pPr>
                      <a:r>
                        <a:rPr lang="en-US" sz="1400" b="1" dirty="0">
                          <a:solidFill>
                            <a:schemeClr val="tx1"/>
                          </a:solidFill>
                        </a:rPr>
                        <a:t>Sea salt</a:t>
                      </a:r>
                      <a:endParaRPr lang="en-US" sz="1400" dirty="0">
                        <a:solidFill>
                          <a:schemeClr val="tx1"/>
                        </a:solidFill>
                      </a:endParaRPr>
                    </a:p>
                    <a:p>
                      <a:pPr marL="0" indent="0">
                        <a:buNone/>
                      </a:pPr>
                      <a:r>
                        <a:rPr lang="en-US" sz="1400" i="1" dirty="0">
                          <a:solidFill>
                            <a:schemeClr val="tx1"/>
                          </a:solidFill>
                        </a:rPr>
                        <a:t>Hess 1998</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Ocean spray along the coasts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Coarse · scattering, hygroscopic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AOD trends: global</a:t>
            </a:r>
            <a:endParaRPr lang="en-US" sz="2800" dirty="0"/>
          </a:p>
        </p:txBody>
      </p:sp>
      <p:graphicFrame>
        <p:nvGraphicFramePr>
          <p:cNvPr id="8" name="Global trend table"/>
          <p:cNvGraphicFramePr>
            <a:graphicFrameLocks noGrp="1"/>
          </p:cNvGraphicFramePr>
          <p:nvPr>
            <p:extLst>
              <p:ext uri="{D42A27DB-BD31-4B8C-83A1-F6EECF244321}">
                <p14:modId xmlns:p14="http://schemas.microsoft.com/office/powerpoint/2010/main" val="1995474072"/>
              </p:ext>
            </p:extLst>
          </p:nvPr>
        </p:nvGraphicFramePr>
        <p:xfrm>
          <a:off x="457200" y="1362777"/>
          <a:ext cx="4965032" cy="3486912"/>
        </p:xfrm>
        <a:graphic>
          <a:graphicData uri="http://schemas.openxmlformats.org/drawingml/2006/table">
            <a:tbl>
              <a:tblPr/>
              <a:tblGrid>
                <a:gridCol w="798470">
                  <a:extLst>
                    <a:ext uri="{9D8B030D-6E8A-4147-A177-3AD203B41FA5}">
                      <a16:colId xmlns:a16="http://schemas.microsoft.com/office/drawing/2014/main" val="20000"/>
                    </a:ext>
                  </a:extLst>
                </a:gridCol>
                <a:gridCol w="2166478">
                  <a:extLst>
                    <a:ext uri="{9D8B030D-6E8A-4147-A177-3AD203B41FA5}">
                      <a16:colId xmlns:a16="http://schemas.microsoft.com/office/drawing/2014/main" val="20001"/>
                    </a:ext>
                  </a:extLst>
                </a:gridCol>
                <a:gridCol w="2000084">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Region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AOD trend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2"/>
                          </a:solidFill>
                        </a:rPr>
                        <a:t>USA, 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Decreasing (satellite record, 1997-2010)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Hsu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2"/>
                          </a:solidFill>
                        </a:rPr>
                        <a:t>China, India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Rose to ~2013; −4 to −8% yr⁻¹ (2013–20)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Hsu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2"/>
                          </a:solidFill>
                        </a:rPr>
                        <a:t>Fire regions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Global burned area −24% (1998–2015) → less smoke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Andela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2"/>
                          </a:solidFill>
                        </a:rPr>
                        <a:t>Global mean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Total AOD reached a maximum of ~0.12 around 2000; projected to fall steeply under mitigation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0" name="Shift strip"/>
          <p:cNvSpPr/>
          <p:nvPr/>
        </p:nvSpPr>
        <p:spPr>
          <a:xfrm>
            <a:off x="457200" y="5524259"/>
            <a:ext cx="11274552" cy="777240"/>
          </a:xfrm>
          <a:prstGeom prst="roundRect">
            <a:avLst>
              <a:gd name="adj" fmla="val 7059"/>
            </a:avLst>
          </a:prstGeom>
          <a:solidFill>
            <a:schemeClr val="bg2"/>
          </a:solidFill>
          <a:ln w="12700">
            <a:solidFill>
              <a:schemeClr val="bg2"/>
            </a:solidFill>
            <a:prstDash val="solid"/>
          </a:ln>
        </p:spPr>
      </p:sp>
      <p:sp>
        <p:nvSpPr>
          <p:cNvPr id="11" name="Shift strip text"/>
          <p:cNvSpPr txBox="1"/>
          <p:nvPr/>
        </p:nvSpPr>
        <p:spPr>
          <a:xfrm>
            <a:off x="594360" y="5524259"/>
            <a:ext cx="11000232" cy="777240"/>
          </a:xfrm>
          <a:prstGeom prst="rect">
            <a:avLst/>
          </a:prstGeom>
          <a:noFill/>
          <a:ln/>
        </p:spPr>
        <p:txBody>
          <a:bodyPr wrap="square" lIns="0" tIns="0" rIns="0" bIns="0" rtlCol="0" anchor="ctr"/>
          <a:lstStyle/>
          <a:p>
            <a:pPr marL="0" indent="0">
              <a:buNone/>
            </a:pPr>
            <a:r>
              <a:rPr lang="en-US" sz="1400" b="1" dirty="0">
                <a:solidFill>
                  <a:schemeClr val="tx1"/>
                </a:solidFill>
              </a:rPr>
              <a:t>Aerosol has shifted, not disappeared:</a:t>
            </a:r>
            <a:r>
              <a:rPr lang="en-US" sz="1400" dirty="0">
                <a:solidFill>
                  <a:schemeClr val="tx1"/>
                </a:solidFill>
              </a:rPr>
              <a:t> clean-air policies lowered aerosol over North America and Europe, while emissions grew over South and East Asia, so the aerosol–productivity question is now mainly an Asian one.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6</a:t>
            </a:fld>
            <a:endParaRPr lang="en-US"/>
          </a:p>
        </p:txBody>
      </p:sp>
      <p:sp>
        <p:nvSpPr>
          <p:cNvPr id="13" name="Shu Fig 3 card">
            <a:extLst>
              <a:ext uri="{FF2B5EF4-FFF2-40B4-BE49-F238E27FC236}">
                <a16:creationId xmlns:a16="http://schemas.microsoft.com/office/drawing/2014/main" id="{E6810014-C9ED-8BD3-B96D-1F1061C09421}"/>
              </a:ext>
            </a:extLst>
          </p:cNvPr>
          <p:cNvSpPr/>
          <p:nvPr/>
        </p:nvSpPr>
        <p:spPr>
          <a:xfrm>
            <a:off x="5678905" y="1344168"/>
            <a:ext cx="6052847" cy="3853548"/>
          </a:xfrm>
          <a:prstGeom prst="roundRect">
            <a:avLst>
              <a:gd name="adj" fmla="val 185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5" name="Shu Fig 3 title">
            <a:extLst>
              <a:ext uri="{FF2B5EF4-FFF2-40B4-BE49-F238E27FC236}">
                <a16:creationId xmlns:a16="http://schemas.microsoft.com/office/drawing/2014/main" id="{0FBA9C04-7A65-FE35-A1BA-BC37698B518B}"/>
              </a:ext>
            </a:extLst>
          </p:cNvPr>
          <p:cNvSpPr txBox="1"/>
          <p:nvPr/>
        </p:nvSpPr>
        <p:spPr>
          <a:xfrm>
            <a:off x="6828403" y="1344168"/>
            <a:ext cx="3978442" cy="283464"/>
          </a:xfrm>
          <a:prstGeom prst="rect">
            <a:avLst/>
          </a:prstGeom>
          <a:noFill/>
          <a:ln/>
        </p:spPr>
        <p:txBody>
          <a:bodyPr wrap="square" lIns="0" tIns="0" rIns="0" bIns="0" rtlCol="0" anchor="t"/>
          <a:lstStyle/>
          <a:p>
            <a:pPr marL="0" indent="0">
              <a:buNone/>
            </a:pPr>
            <a:r>
              <a:rPr lang="en-US" sz="1400" b="1" dirty="0">
                <a:solidFill>
                  <a:schemeClr val="tx2"/>
                </a:solidFill>
              </a:rPr>
              <a:t>AOD trend 2000–2014 (map) and global mean (e)</a:t>
            </a:r>
            <a:endParaRPr lang="en-US" sz="1400" dirty="0"/>
          </a:p>
        </p:txBody>
      </p:sp>
      <p:pic>
        <p:nvPicPr>
          <p:cNvPr id="17" name="Shu Fig 3" descr="Shu Fig 3">
            <a:extLst>
              <a:ext uri="{FF2B5EF4-FFF2-40B4-BE49-F238E27FC236}">
                <a16:creationId xmlns:a16="http://schemas.microsoft.com/office/drawing/2014/main" id="{E80CDF96-5271-0A81-3B6A-4C0729C46C8F}"/>
              </a:ext>
            </a:extLst>
          </p:cNvPr>
          <p:cNvPicPr>
            <a:picLocks noChangeAspect="1"/>
          </p:cNvPicPr>
          <p:nvPr/>
        </p:nvPicPr>
        <p:blipFill>
          <a:blip r:embed="rId3"/>
          <a:stretch>
            <a:fillRect/>
          </a:stretch>
        </p:blipFill>
        <p:spPr>
          <a:xfrm>
            <a:off x="6076909" y="1656189"/>
            <a:ext cx="5018693" cy="3047751"/>
          </a:xfrm>
          <a:prstGeom prst="rect">
            <a:avLst/>
          </a:prstGeom>
        </p:spPr>
      </p:pic>
      <p:sp>
        <p:nvSpPr>
          <p:cNvPr id="19" name="Shu Fig 3 caption">
            <a:extLst>
              <a:ext uri="{FF2B5EF4-FFF2-40B4-BE49-F238E27FC236}">
                <a16:creationId xmlns:a16="http://schemas.microsoft.com/office/drawing/2014/main" id="{508C7A25-FEEA-1EE1-E65F-CBEBB71A14F0}"/>
              </a:ext>
            </a:extLst>
          </p:cNvPr>
          <p:cNvSpPr txBox="1"/>
          <p:nvPr/>
        </p:nvSpPr>
        <p:spPr>
          <a:xfrm>
            <a:off x="6094476" y="4722228"/>
            <a:ext cx="3566160" cy="228600"/>
          </a:xfrm>
          <a:prstGeom prst="rect">
            <a:avLst/>
          </a:prstGeom>
          <a:noFill/>
          <a:ln/>
        </p:spPr>
        <p:txBody>
          <a:bodyPr wrap="square" lIns="0" tIns="0" rIns="0" bIns="0" rtlCol="0" anchor="t"/>
          <a:lstStyle/>
          <a:p>
            <a:pPr marL="0" indent="0">
              <a:buNone/>
            </a:pPr>
            <a:r>
              <a:rPr lang="en-US" sz="1400" dirty="0">
                <a:solidFill>
                  <a:schemeClr val="tx1"/>
                </a:solidFill>
              </a:rPr>
              <a:t>Red: rising (India, E China); blue: falling</a:t>
            </a:r>
            <a:endParaRPr lang="en-US" sz="1400" dirty="0"/>
          </a:p>
        </p:txBody>
      </p:sp>
      <p:sp>
        <p:nvSpPr>
          <p:cNvPr id="21" name="Shu Fig 3 source">
            <a:extLst>
              <a:ext uri="{FF2B5EF4-FFF2-40B4-BE49-F238E27FC236}">
                <a16:creationId xmlns:a16="http://schemas.microsoft.com/office/drawing/2014/main" id="{F9EDF3F4-AC9F-7FBC-52B2-17BD9DC824C8}"/>
              </a:ext>
            </a:extLst>
          </p:cNvPr>
          <p:cNvSpPr txBox="1"/>
          <p:nvPr/>
        </p:nvSpPr>
        <p:spPr>
          <a:xfrm>
            <a:off x="9321185" y="4920755"/>
            <a:ext cx="2273407" cy="228600"/>
          </a:xfrm>
          <a:prstGeom prst="rect">
            <a:avLst/>
          </a:prstGeom>
          <a:noFill/>
          <a:ln/>
        </p:spPr>
        <p:txBody>
          <a:bodyPr wrap="square" lIns="0" tIns="0" rIns="0" bIns="0" rtlCol="0" anchor="t"/>
          <a:lstStyle/>
          <a:p>
            <a:r>
              <a:rPr lang="en-US" sz="1400" i="1" dirty="0">
                <a:solidFill>
                  <a:schemeClr val="accent1"/>
                </a:solidFill>
              </a:rPr>
              <a:t>Source: Shu et al. 2022, Fig. 3</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Spatial and seasonal distribution of aerosols over South Asia</a:t>
            </a:r>
            <a:endParaRPr lang="en-US" sz="2800" dirty="0"/>
          </a:p>
        </p:txBody>
      </p:sp>
      <p:sp>
        <p:nvSpPr>
          <p:cNvPr id="4" name="Seasonal AOD maps card"/>
          <p:cNvSpPr/>
          <p:nvPr/>
        </p:nvSpPr>
        <p:spPr>
          <a:xfrm>
            <a:off x="457200" y="1280160"/>
            <a:ext cx="4343400" cy="5166360"/>
          </a:xfrm>
          <a:prstGeom prst="roundRect">
            <a:avLst>
              <a:gd name="adj" fmla="val 1474"/>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Seasonal AOD maps title"/>
          <p:cNvSpPr txBox="1"/>
          <p:nvPr/>
        </p:nvSpPr>
        <p:spPr>
          <a:xfrm>
            <a:off x="594360" y="1371600"/>
            <a:ext cx="4069080" cy="530352"/>
          </a:xfrm>
          <a:prstGeom prst="rect">
            <a:avLst/>
          </a:prstGeom>
          <a:noFill/>
          <a:ln/>
        </p:spPr>
        <p:txBody>
          <a:bodyPr wrap="square" lIns="0" tIns="0" rIns="0" bIns="0" rtlCol="0" anchor="t"/>
          <a:lstStyle/>
          <a:p>
            <a:pPr marL="0" indent="0">
              <a:buNone/>
            </a:pPr>
            <a:r>
              <a:rPr lang="en-US" sz="1400" b="1" dirty="0">
                <a:solidFill>
                  <a:schemeClr val="tx2"/>
                </a:solidFill>
              </a:rPr>
              <a:t>MODIS AOD (550 nm): winter, pre-monsoon, monsoon, post-monsoon</a:t>
            </a:r>
            <a:endParaRPr lang="en-US" sz="1400" dirty="0"/>
          </a:p>
        </p:txBody>
      </p:sp>
      <p:pic>
        <p:nvPicPr>
          <p:cNvPr id="6" name="Seasonal AOD maps" descr="Seasonal AOD maps"/>
          <p:cNvPicPr>
            <a:picLocks noChangeAspect="1"/>
          </p:cNvPicPr>
          <p:nvPr/>
        </p:nvPicPr>
        <p:blipFill>
          <a:blip r:embed="rId3"/>
          <a:stretch>
            <a:fillRect/>
          </a:stretch>
        </p:blipFill>
        <p:spPr>
          <a:xfrm>
            <a:off x="608239" y="1901952"/>
            <a:ext cx="4041321" cy="4114800"/>
          </a:xfrm>
          <a:prstGeom prst="rect">
            <a:avLst/>
          </a:prstGeom>
        </p:spPr>
      </p:pic>
      <p:sp>
        <p:nvSpPr>
          <p:cNvPr id="7" name="Seasonal AOD maps source"/>
          <p:cNvSpPr txBox="1"/>
          <p:nvPr/>
        </p:nvSpPr>
        <p:spPr>
          <a:xfrm>
            <a:off x="594360" y="6089904"/>
            <a:ext cx="4069080" cy="246888"/>
          </a:xfrm>
          <a:prstGeom prst="rect">
            <a:avLst/>
          </a:prstGeom>
          <a:noFill/>
          <a:ln/>
        </p:spPr>
        <p:txBody>
          <a:bodyPr wrap="square" lIns="0" tIns="0" rIns="0" bIns="0" rtlCol="0" anchor="t"/>
          <a:lstStyle/>
          <a:p>
            <a:pPr marL="0" indent="0">
              <a:buNone/>
            </a:pPr>
            <a:r>
              <a:rPr lang="en-US" sz="1400" i="1" dirty="0">
                <a:solidFill>
                  <a:schemeClr val="accent1"/>
                </a:solidFill>
              </a:rPr>
              <a:t>Source: Ramachandran &amp; Rupakheti, 2026</a:t>
            </a:r>
            <a:endParaRPr lang="en-US" sz="1400" dirty="0"/>
          </a:p>
        </p:txBody>
      </p:sp>
      <p:graphicFrame>
        <p:nvGraphicFramePr>
          <p:cNvPr id="8" name="Season table"/>
          <p:cNvGraphicFramePr>
            <a:graphicFrameLocks noGrp="1"/>
          </p:cNvGraphicFramePr>
          <p:nvPr>
            <p:extLst>
              <p:ext uri="{D42A27DB-BD31-4B8C-83A1-F6EECF244321}">
                <p14:modId xmlns:p14="http://schemas.microsoft.com/office/powerpoint/2010/main" val="1579011935"/>
              </p:ext>
            </p:extLst>
          </p:nvPr>
        </p:nvGraphicFramePr>
        <p:xfrm>
          <a:off x="5029200" y="1280160"/>
          <a:ext cx="6702552" cy="2395728"/>
        </p:xfrm>
        <a:graphic>
          <a:graphicData uri="http://schemas.openxmlformats.org/drawingml/2006/table">
            <a:tbl>
              <a:tblPr/>
              <a:tblGrid>
                <a:gridCol w="1828800">
                  <a:extLst>
                    <a:ext uri="{9D8B030D-6E8A-4147-A177-3AD203B41FA5}">
                      <a16:colId xmlns:a16="http://schemas.microsoft.com/office/drawing/2014/main" val="20000"/>
                    </a:ext>
                  </a:extLst>
                </a:gridCol>
                <a:gridCol w="4873752">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Season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Dominant aerosol and cause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Winter (Dec–Feb)</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Combustion aerosol trapped under a shallow boundary layer; fog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Pre-monsoon (Mar–May)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Dust transported from the Thar and Arabian deserts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Monsoon (Jun–Sep)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Rain washes out aerosol; lowest AOD of the year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2"/>
                          </a:solidFill>
                        </a:rPr>
                        <a:t>Post-monsoon (Oct–Nov)</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Crop-residue burning in Punjab–Haryana; smoke over the IGP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9" name="Key facts card"/>
          <p:cNvSpPr/>
          <p:nvPr/>
        </p:nvSpPr>
        <p:spPr>
          <a:xfrm>
            <a:off x="5029200" y="3977640"/>
            <a:ext cx="6702552" cy="2103120"/>
          </a:xfrm>
          <a:prstGeom prst="roundRect">
            <a:avLst>
              <a:gd name="adj" fmla="val 304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Key facts card head"/>
          <p:cNvSpPr/>
          <p:nvPr/>
        </p:nvSpPr>
        <p:spPr>
          <a:xfrm>
            <a:off x="5029200" y="3977640"/>
            <a:ext cx="6702552" cy="402336"/>
          </a:xfrm>
          <a:prstGeom prst="roundRect">
            <a:avLst>
              <a:gd name="adj" fmla="val 15909"/>
            </a:avLst>
          </a:prstGeom>
          <a:solidFill>
            <a:schemeClr val="accent1"/>
          </a:solidFill>
          <a:ln w="12700">
            <a:solidFill>
              <a:schemeClr val="accent1"/>
            </a:solidFill>
            <a:prstDash val="solid"/>
          </a:ln>
        </p:spPr>
      </p:sp>
      <p:sp>
        <p:nvSpPr>
          <p:cNvPr id="11" name="Key facts card head text"/>
          <p:cNvSpPr txBox="1"/>
          <p:nvPr/>
        </p:nvSpPr>
        <p:spPr>
          <a:xfrm>
            <a:off x="5166360" y="3977640"/>
            <a:ext cx="6428232" cy="402336"/>
          </a:xfrm>
          <a:prstGeom prst="rect">
            <a:avLst/>
          </a:prstGeom>
          <a:noFill/>
          <a:ln/>
        </p:spPr>
        <p:txBody>
          <a:bodyPr wrap="square" lIns="0" tIns="0" rIns="0" bIns="0" rtlCol="0" anchor="ctr"/>
          <a:lstStyle/>
          <a:p>
            <a:pPr marL="0" indent="0">
              <a:buNone/>
            </a:pPr>
            <a:r>
              <a:rPr lang="en-US" sz="1400" b="1" dirty="0">
                <a:solidFill>
                  <a:schemeClr val="bg1"/>
                </a:solidFill>
              </a:rPr>
              <a:t>Key facts</a:t>
            </a:r>
            <a:endParaRPr lang="en-US" sz="1400" dirty="0"/>
          </a:p>
        </p:txBody>
      </p:sp>
      <p:sp>
        <p:nvSpPr>
          <p:cNvPr id="12" name="Key facts card text"/>
          <p:cNvSpPr txBox="1"/>
          <p:nvPr/>
        </p:nvSpPr>
        <p:spPr>
          <a:xfrm>
            <a:off x="5193792" y="4471416"/>
            <a:ext cx="6373368" cy="153619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The Indo-Gangetic Plain (IGP) is the persistent AOD hotspot of South Asia</a:t>
            </a:r>
            <a:endParaRPr lang="en-US" sz="1400" dirty="0"/>
          </a:p>
          <a:p>
            <a:pPr marL="177800" indent="-177800">
              <a:spcAft>
                <a:spcPts val="500"/>
              </a:spcAft>
              <a:buSzPct val="100000"/>
              <a:buChar char="•"/>
            </a:pPr>
            <a:r>
              <a:rPr lang="en-US" sz="1400" dirty="0">
                <a:solidFill>
                  <a:schemeClr val="tx1"/>
                </a:solidFill>
              </a:rPr>
              <a:t>Fine-mode aerosol gives &gt; 80% of AOD in post-monsoon and winter (Ramachandran &amp; Rupakheti, 2026)</a:t>
            </a:r>
            <a:endParaRPr lang="en-US" sz="1400" dirty="0"/>
          </a:p>
          <a:p>
            <a:pPr marL="177800" indent="-177800">
              <a:buSzPct val="100000"/>
              <a:buChar char="•"/>
            </a:pPr>
            <a:r>
              <a:rPr lang="en-US" sz="1400" dirty="0">
                <a:solidFill>
                  <a:schemeClr val="tx1"/>
                </a:solidFill>
              </a:rPr>
              <a:t>AOD trends are strongest in the dry months, December–March (Babu et al., 2013)</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AOD trends: South Asia</a:t>
            </a:r>
            <a:endParaRPr lang="en-US" sz="2800" dirty="0"/>
          </a:p>
        </p:txBody>
      </p:sp>
      <p:sp>
        <p:nvSpPr>
          <p:cNvPr id="4" name="Hari S2 map card"/>
          <p:cNvSpPr/>
          <p:nvPr/>
        </p:nvSpPr>
        <p:spPr>
          <a:xfrm>
            <a:off x="457200" y="1280160"/>
            <a:ext cx="3383280" cy="4709160"/>
          </a:xfrm>
          <a:prstGeom prst="roundRect">
            <a:avLst>
              <a:gd name="adj" fmla="val 189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Hari S2 map title"/>
          <p:cNvSpPr txBox="1"/>
          <p:nvPr/>
        </p:nvSpPr>
        <p:spPr>
          <a:xfrm>
            <a:off x="594360" y="1371600"/>
            <a:ext cx="3108960" cy="301752"/>
          </a:xfrm>
          <a:prstGeom prst="rect">
            <a:avLst/>
          </a:prstGeom>
          <a:noFill/>
          <a:ln/>
        </p:spPr>
        <p:txBody>
          <a:bodyPr wrap="square" lIns="0" tIns="0" rIns="0" bIns="0" rtlCol="0" anchor="t"/>
          <a:lstStyle/>
          <a:p>
            <a:pPr marL="0" indent="0">
              <a:buNone/>
            </a:pPr>
            <a:r>
              <a:rPr lang="en-US" sz="1400" b="1" dirty="0">
                <a:solidFill>
                  <a:schemeClr val="tx2"/>
                </a:solidFill>
              </a:rPr>
              <a:t>India AOD trend, 2001–2020</a:t>
            </a:r>
            <a:endParaRPr lang="en-US" sz="1400" dirty="0"/>
          </a:p>
        </p:txBody>
      </p:sp>
      <p:pic>
        <p:nvPicPr>
          <p:cNvPr id="6" name="Hari S2 map" descr="Hari S2 map"/>
          <p:cNvPicPr>
            <a:picLocks noChangeAspect="1"/>
          </p:cNvPicPr>
          <p:nvPr/>
        </p:nvPicPr>
        <p:blipFill>
          <a:blip r:embed="rId3"/>
          <a:stretch>
            <a:fillRect/>
          </a:stretch>
        </p:blipFill>
        <p:spPr>
          <a:xfrm>
            <a:off x="645321" y="1673352"/>
            <a:ext cx="3007039" cy="3657600"/>
          </a:xfrm>
          <a:prstGeom prst="rect">
            <a:avLst/>
          </a:prstGeom>
        </p:spPr>
      </p:pic>
      <p:sp>
        <p:nvSpPr>
          <p:cNvPr id="7" name="Hari S2 map caption"/>
          <p:cNvSpPr txBox="1"/>
          <p:nvPr/>
        </p:nvSpPr>
        <p:spPr>
          <a:xfrm>
            <a:off x="594360" y="5404104"/>
            <a:ext cx="3108960" cy="228600"/>
          </a:xfrm>
          <a:prstGeom prst="rect">
            <a:avLst/>
          </a:prstGeom>
          <a:noFill/>
          <a:ln/>
        </p:spPr>
        <p:txBody>
          <a:bodyPr wrap="square" lIns="0" tIns="0" rIns="0" bIns="0" rtlCol="0" anchor="t"/>
          <a:lstStyle/>
          <a:p>
            <a:pPr marL="0" indent="0">
              <a:buNone/>
            </a:pPr>
            <a:r>
              <a:rPr lang="en-US" sz="1400" dirty="0">
                <a:solidFill>
                  <a:schemeClr val="tx1"/>
                </a:solidFill>
              </a:rPr>
              <a:t>Strongest rise: IGP, east coast, Odisha</a:t>
            </a:r>
            <a:endParaRPr lang="en-US" sz="1400" dirty="0"/>
          </a:p>
        </p:txBody>
      </p:sp>
      <p:sp>
        <p:nvSpPr>
          <p:cNvPr id="8" name="Hari S2 map source"/>
          <p:cNvSpPr txBox="1"/>
          <p:nvPr/>
        </p:nvSpPr>
        <p:spPr>
          <a:xfrm>
            <a:off x="594360" y="5632704"/>
            <a:ext cx="3108960" cy="246888"/>
          </a:xfrm>
          <a:prstGeom prst="rect">
            <a:avLst/>
          </a:prstGeom>
          <a:noFill/>
          <a:ln/>
        </p:spPr>
        <p:txBody>
          <a:bodyPr wrap="square" lIns="0" tIns="0" rIns="0" bIns="0" rtlCol="0" anchor="t"/>
          <a:lstStyle/>
          <a:p>
            <a:pPr marL="0" indent="0">
              <a:buNone/>
            </a:pPr>
            <a:r>
              <a:rPr lang="en-US" sz="1400" i="1" dirty="0">
                <a:solidFill>
                  <a:schemeClr val="accent1"/>
                </a:solidFill>
              </a:rPr>
              <a:t>Source: Hari &amp; Tyagi, 2022, Fig. S2</a:t>
            </a:r>
            <a:endParaRPr lang="en-US" sz="1400" dirty="0"/>
          </a:p>
        </p:txBody>
      </p:sp>
      <p:sp>
        <p:nvSpPr>
          <p:cNvPr id="9" name="Jethva figure card"/>
          <p:cNvSpPr/>
          <p:nvPr/>
        </p:nvSpPr>
        <p:spPr>
          <a:xfrm>
            <a:off x="4023360" y="1280160"/>
            <a:ext cx="4160520" cy="3517358"/>
          </a:xfrm>
          <a:prstGeom prst="roundRect">
            <a:avLst>
              <a:gd name="adj" fmla="val 182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Jethva figure title"/>
          <p:cNvSpPr txBox="1"/>
          <p:nvPr/>
        </p:nvSpPr>
        <p:spPr>
          <a:xfrm>
            <a:off x="4160520" y="1371600"/>
            <a:ext cx="3886200" cy="530352"/>
          </a:xfrm>
          <a:prstGeom prst="rect">
            <a:avLst/>
          </a:prstGeom>
          <a:noFill/>
          <a:ln/>
        </p:spPr>
        <p:txBody>
          <a:bodyPr wrap="square" lIns="0" tIns="0" rIns="0" bIns="0" rtlCol="0" anchor="t"/>
          <a:lstStyle/>
          <a:p>
            <a:pPr marL="0" indent="0">
              <a:buNone/>
            </a:pPr>
            <a:r>
              <a:rPr lang="en-US" sz="1400" b="1" dirty="0">
                <a:solidFill>
                  <a:schemeClr val="tx2"/>
                </a:solidFill>
              </a:rPr>
              <a:t>MAIAC AOD trend over the IGP, October (left) and November (right), 2002–2016</a:t>
            </a:r>
            <a:endParaRPr lang="en-US" sz="1400" dirty="0"/>
          </a:p>
        </p:txBody>
      </p:sp>
      <p:pic>
        <p:nvPicPr>
          <p:cNvPr id="11" name="Jethva figure" descr="Jethva figure"/>
          <p:cNvPicPr>
            <a:picLocks noChangeAspect="1"/>
          </p:cNvPicPr>
          <p:nvPr/>
        </p:nvPicPr>
        <p:blipFill>
          <a:blip r:embed="rId4"/>
          <a:stretch>
            <a:fillRect/>
          </a:stretch>
        </p:blipFill>
        <p:spPr>
          <a:xfrm>
            <a:off x="4160520" y="1901952"/>
            <a:ext cx="3886200" cy="2008598"/>
          </a:xfrm>
          <a:prstGeom prst="rect">
            <a:avLst/>
          </a:prstGeom>
        </p:spPr>
      </p:pic>
      <p:sp>
        <p:nvSpPr>
          <p:cNvPr id="12" name="Jethva figure caption"/>
          <p:cNvSpPr txBox="1"/>
          <p:nvPr/>
        </p:nvSpPr>
        <p:spPr>
          <a:xfrm>
            <a:off x="4160520" y="3983702"/>
            <a:ext cx="3886200" cy="457200"/>
          </a:xfrm>
          <a:prstGeom prst="rect">
            <a:avLst/>
          </a:prstGeom>
          <a:noFill/>
          <a:ln/>
        </p:spPr>
        <p:txBody>
          <a:bodyPr wrap="square" lIns="0" tIns="0" rIns="0" bIns="0" rtlCol="0" anchor="t"/>
          <a:lstStyle/>
          <a:p>
            <a:pPr marL="0" indent="0">
              <a:buNone/>
            </a:pPr>
            <a:r>
              <a:rPr lang="en-US" sz="1400" dirty="0">
                <a:solidFill>
                  <a:schemeClr val="tx1"/>
                </a:solidFill>
              </a:rPr>
              <a:t>Steepest rise in November, the residue-burning month</a:t>
            </a:r>
            <a:endParaRPr lang="en-US" sz="1400" dirty="0"/>
          </a:p>
        </p:txBody>
      </p:sp>
      <p:sp>
        <p:nvSpPr>
          <p:cNvPr id="13" name="Jethva figure source"/>
          <p:cNvSpPr txBox="1"/>
          <p:nvPr/>
        </p:nvSpPr>
        <p:spPr>
          <a:xfrm>
            <a:off x="4160520" y="4440902"/>
            <a:ext cx="3886200" cy="246888"/>
          </a:xfrm>
          <a:prstGeom prst="rect">
            <a:avLst/>
          </a:prstGeom>
          <a:noFill/>
          <a:ln/>
        </p:spPr>
        <p:txBody>
          <a:bodyPr wrap="square" lIns="0" tIns="0" rIns="0" bIns="0" rtlCol="0" anchor="t"/>
          <a:lstStyle/>
          <a:p>
            <a:pPr marL="0" indent="0">
              <a:buNone/>
            </a:pPr>
            <a:r>
              <a:rPr lang="en-US" sz="1400" i="1" dirty="0">
                <a:solidFill>
                  <a:schemeClr val="accent1"/>
                </a:solidFill>
              </a:rPr>
              <a:t>Source: Jethva et al., 2019, Fig. 6c</a:t>
            </a:r>
            <a:endParaRPr lang="en-US" sz="1400" dirty="0"/>
          </a:p>
        </p:txBody>
      </p:sp>
      <p:graphicFrame>
        <p:nvGraphicFramePr>
          <p:cNvPr id="14" name="SA trend table"/>
          <p:cNvGraphicFramePr>
            <a:graphicFrameLocks noGrp="1"/>
          </p:cNvGraphicFramePr>
          <p:nvPr>
            <p:extLst>
              <p:ext uri="{D42A27DB-BD31-4B8C-83A1-F6EECF244321}">
                <p14:modId xmlns:p14="http://schemas.microsoft.com/office/powerpoint/2010/main" val="1579011935"/>
              </p:ext>
            </p:extLst>
          </p:nvPr>
        </p:nvGraphicFramePr>
        <p:xfrm>
          <a:off x="8366760" y="1280160"/>
          <a:ext cx="3364992" cy="3749040"/>
        </p:xfrm>
        <a:graphic>
          <a:graphicData uri="http://schemas.openxmlformats.org/drawingml/2006/table">
            <a:tbl>
              <a:tblPr/>
              <a:tblGrid>
                <a:gridCol w="3364992">
                  <a:extLst>
                    <a:ext uri="{9D8B030D-6E8A-4147-A177-3AD203B41FA5}">
                      <a16:colId xmlns:a16="http://schemas.microsoft.com/office/drawing/2014/main" val="20000"/>
                    </a:ext>
                  </a:extLst>
                </a:gridCol>
              </a:tblGrid>
              <a:tr h="384048">
                <a:tc>
                  <a:txBody>
                    <a:bodyPr/>
                    <a:lstStyle/>
                    <a:p>
                      <a:pPr marL="0" indent="0">
                        <a:buNone/>
                      </a:pPr>
                      <a:r>
                        <a:rPr lang="en-US" sz="1400" b="1" dirty="0">
                          <a:solidFill>
                            <a:schemeClr val="bg1"/>
                          </a:solidFill>
                        </a:rPr>
                        <a:t>Reported AOD rise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India: +0.006 yr</a:t>
                      </a:r>
                      <a:r>
                        <a:rPr lang="en-US" sz="1400" b="1" baseline="30000" dirty="0">
                          <a:solidFill>
                            <a:schemeClr val="tx2"/>
                          </a:solidFill>
                        </a:rPr>
                        <a:t>−1</a:t>
                      </a:r>
                      <a:r>
                        <a:rPr lang="en-US" sz="1400" b="1" dirty="0">
                          <a:solidFill>
                            <a:schemeClr val="tx2"/>
                          </a:solidFill>
                        </a:rPr>
                        <a:t> (1998–2019)</a:t>
                      </a:r>
                      <a:endParaRPr lang="en-US" sz="1400" dirty="0"/>
                    </a:p>
                    <a:p>
                      <a:pPr marL="0" indent="0">
                        <a:buNone/>
                      </a:pPr>
                      <a:r>
                        <a:rPr lang="en-US" sz="1400" i="1" dirty="0">
                          <a:solidFill>
                            <a:schemeClr val="accent1"/>
                          </a:solidFill>
                        </a:rPr>
                        <a:t>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India: +0.29 (2001–2020)</a:t>
                      </a:r>
                      <a:endParaRPr lang="en-US" sz="1400" dirty="0"/>
                    </a:p>
                    <a:p>
                      <a:pPr marL="0" indent="0">
                        <a:buNone/>
                      </a:pPr>
                      <a:r>
                        <a:rPr lang="en-US" sz="1400" i="1" dirty="0">
                          <a:solidFill>
                            <a:schemeClr val="accent1"/>
                          </a:solidFill>
                        </a:rPr>
                        <a:t>Hari &amp; Tyagi, 2022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IGP: +43% (2002–2016); +45% post-monsoon</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IGP, November: +0.03 yr</a:t>
                      </a:r>
                      <a:r>
                        <a:rPr lang="en-US" sz="1400" b="1" baseline="30000" dirty="0">
                          <a:solidFill>
                            <a:schemeClr val="tx2"/>
                          </a:solidFill>
                        </a:rPr>
                        <a:t>−1</a:t>
                      </a:r>
                      <a:r>
                        <a:rPr lang="en-US" sz="1400" b="1" dirty="0">
                          <a:solidFill>
                            <a:schemeClr val="tx2"/>
                          </a:solidFill>
                        </a:rPr>
                        <a:t> (extinction), +0.003 yr</a:t>
                      </a:r>
                      <a:r>
                        <a:rPr lang="en-US" sz="1400" b="1" baseline="30000" dirty="0">
                          <a:solidFill>
                            <a:schemeClr val="tx2"/>
                          </a:solidFill>
                        </a:rPr>
                        <a:t>−1</a:t>
                      </a:r>
                      <a:r>
                        <a:rPr lang="en-US" sz="1400" b="1" dirty="0">
                          <a:solidFill>
                            <a:schemeClr val="tx2"/>
                          </a:solidFill>
                        </a:rPr>
                        <a:t> (absorption)</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chemeClr val="tx2"/>
                          </a:solidFill>
                        </a:rPr>
                        <a:t>Kanpur AERONET: +34% (2002–2016)</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15" name="Drivers strip"/>
          <p:cNvSpPr/>
          <p:nvPr/>
        </p:nvSpPr>
        <p:spPr>
          <a:xfrm>
            <a:off x="4023360" y="4892040"/>
            <a:ext cx="4160520" cy="1234440"/>
          </a:xfrm>
          <a:prstGeom prst="roundRect">
            <a:avLst>
              <a:gd name="adj" fmla="val 4444"/>
            </a:avLst>
          </a:prstGeom>
          <a:solidFill>
            <a:schemeClr val="bg2"/>
          </a:solidFill>
          <a:ln w="12700">
            <a:solidFill>
              <a:schemeClr val="bg2"/>
            </a:solidFill>
            <a:prstDash val="solid"/>
          </a:ln>
        </p:spPr>
      </p:sp>
      <p:sp>
        <p:nvSpPr>
          <p:cNvPr id="16" name="Drivers strip text"/>
          <p:cNvSpPr txBox="1"/>
          <p:nvPr/>
        </p:nvSpPr>
        <p:spPr>
          <a:xfrm>
            <a:off x="4160520" y="4892040"/>
            <a:ext cx="3886200" cy="1234440"/>
          </a:xfrm>
          <a:prstGeom prst="rect">
            <a:avLst/>
          </a:prstGeom>
          <a:noFill/>
          <a:ln/>
        </p:spPr>
        <p:txBody>
          <a:bodyPr wrap="square" lIns="0" tIns="0" rIns="0" bIns="0" rtlCol="0" anchor="ctr"/>
          <a:lstStyle/>
          <a:p>
            <a:pPr marL="0" indent="0">
              <a:buNone/>
            </a:pPr>
            <a:r>
              <a:rPr lang="en-US" sz="1400" b="1" dirty="0">
                <a:solidFill>
                  <a:schemeClr val="tx1"/>
                </a:solidFill>
              </a:rPr>
              <a:t>Drivers:</a:t>
            </a:r>
            <a:r>
              <a:rPr lang="en-US" sz="1400" dirty="0">
                <a:solidFill>
                  <a:schemeClr val="tx1"/>
                </a:solidFill>
              </a:rPr>
              <a:t> industry, power plants, vehicles, residue burning (Oct–Nov) and winter stagnation as surface winds weaken (Ramachandran &amp; Rupakheti, 2026). TGP monsoon AOD reaches 0.91 (Hari &amp; Tyagi, 2022).</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2 · Atmospheric aerosols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Aerosol optical properties that control light at the canopy</a:t>
            </a:r>
            <a:endParaRPr lang="en-US" sz="2800" dirty="0"/>
          </a:p>
        </p:txBody>
      </p:sp>
      <p:graphicFrame>
        <p:nvGraphicFramePr>
          <p:cNvPr id="10" name="Optical table"/>
          <p:cNvGraphicFramePr>
            <a:graphicFrameLocks noGrp="1"/>
          </p:cNvGraphicFramePr>
          <p:nvPr>
            <p:extLst>
              <p:ext uri="{D42A27DB-BD31-4B8C-83A1-F6EECF244321}">
                <p14:modId xmlns:p14="http://schemas.microsoft.com/office/powerpoint/2010/main" val="150076201"/>
              </p:ext>
            </p:extLst>
          </p:nvPr>
        </p:nvGraphicFramePr>
        <p:xfrm>
          <a:off x="457200" y="1280160"/>
          <a:ext cx="5989320" cy="3236976"/>
        </p:xfrm>
        <a:graphic>
          <a:graphicData uri="http://schemas.openxmlformats.org/drawingml/2006/table">
            <a:tbl>
              <a:tblPr/>
              <a:tblGrid>
                <a:gridCol w="18745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Property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Typical values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Relevance to productivity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chemeClr val="tx2"/>
                          </a:solidFill>
                        </a:rPr>
                        <a:t>Aerosol optical depth (τ)</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Clean &lt; 0.1; IGP often 0.5–1.0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Sets how much PAR is lost and how much becomes diffuse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13232">
                <a:tc>
                  <a:txBody>
                    <a:bodyPr/>
                    <a:lstStyle/>
                    <a:p>
                      <a:pPr marL="0" indent="0">
                        <a:buNone/>
                      </a:pPr>
                      <a:r>
                        <a:rPr lang="en-US" sz="1400" b="1" dirty="0">
                          <a:solidFill>
                            <a:schemeClr val="tx2"/>
                          </a:solidFill>
                        </a:rPr>
                        <a:t>Ångström exponent &amp; fine-mode fraction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α &gt; 1: smoke, pollution; α &lt; 0.5: dust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Fine particles scatter more light per unit mass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chemeClr val="tx2"/>
                          </a:solidFill>
                        </a:rPr>
                        <a:t>Single-scattering albedo (ω</a:t>
                      </a:r>
                      <a:r>
                        <a:rPr lang="en-US" sz="1400" b="1" baseline="-40000" dirty="0">
                          <a:solidFill>
                            <a:schemeClr val="tx2"/>
                          </a:solidFill>
                        </a:rPr>
                        <a:t>0</a:t>
                      </a:r>
                      <a:r>
                        <a:rPr lang="en-US" sz="1400" b="1" dirty="0">
                          <a:solidFill>
                            <a:schemeClr val="tx2"/>
                          </a:solidFill>
                        </a:rPr>
                        <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Sulfate ≈ 0.98; dust ≈ 0.92–0.95; smoke ≈ 0.84–0.94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High ω</a:t>
                      </a:r>
                      <a:r>
                        <a:rPr lang="en-US" sz="1400" baseline="-40000" dirty="0">
                          <a:solidFill>
                            <a:schemeClr val="tx1"/>
                          </a:solidFill>
                        </a:rPr>
                        <a:t>0</a:t>
                      </a:r>
                      <a:r>
                        <a:rPr lang="en-US" sz="1400" dirty="0">
                          <a:solidFill>
                            <a:schemeClr val="tx1"/>
                          </a:solidFill>
                        </a:rPr>
                        <a:t> → diffuse gain; low ω</a:t>
                      </a:r>
                      <a:r>
                        <a:rPr lang="en-US" sz="1400" baseline="-40000" dirty="0">
                          <a:solidFill>
                            <a:schemeClr val="tx1"/>
                          </a:solidFill>
                        </a:rPr>
                        <a:t>0</a:t>
                      </a:r>
                      <a:r>
                        <a:rPr lang="en-US" sz="1400" dirty="0">
                          <a:solidFill>
                            <a:schemeClr val="tx1"/>
                          </a:solidFill>
                        </a:rPr>
                        <a:t> → light lost as 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13232">
                <a:tc>
                  <a:txBody>
                    <a:bodyPr/>
                    <a:lstStyle/>
                    <a:p>
                      <a:pPr marL="0" indent="0">
                        <a:buNone/>
                      </a:pPr>
                      <a:r>
                        <a:rPr lang="en-US" sz="1400" b="1" dirty="0">
                          <a:solidFill>
                            <a:schemeClr val="tx2"/>
                          </a:solidFill>
                        </a:rPr>
                        <a:t>Asymmetry (g) &amp; humidity growth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 ≈ 0.6–0.75; sulfate radius doubles near 95% RH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Forward scattering keeps light reaching canopies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Relations card"/>
          <p:cNvSpPr/>
          <p:nvPr/>
        </p:nvSpPr>
        <p:spPr>
          <a:xfrm>
            <a:off x="457200" y="4709160"/>
            <a:ext cx="7406640" cy="1463040"/>
          </a:xfrm>
          <a:prstGeom prst="roundRect">
            <a:avLst>
              <a:gd name="adj" fmla="val 4375"/>
            </a:avLst>
          </a:prstGeom>
          <a:solidFill>
            <a:schemeClr val="bg2"/>
          </a:solidFill>
          <a:ln w="9525">
            <a:solidFill>
              <a:schemeClr val="accent4">
                <a:alpha val="60000"/>
              </a:schemeClr>
            </a:solidFill>
            <a:prstDash val="solid"/>
          </a:ln>
        </p:spPr>
      </p:sp>
      <p:sp>
        <p:nvSpPr>
          <p:cNvPr id="6" name="Relations text"/>
          <p:cNvSpPr txBox="1"/>
          <p:nvPr/>
        </p:nvSpPr>
        <p:spPr>
          <a:xfrm>
            <a:off x="640080" y="4773168"/>
            <a:ext cx="3566160" cy="1325880"/>
          </a:xfrm>
          <a:prstGeom prst="rect">
            <a:avLst/>
          </a:prstGeom>
          <a:noFill/>
          <a:ln/>
        </p:spPr>
        <p:txBody>
          <a:bodyPr wrap="square" lIns="0" tIns="0" rIns="0" bIns="0" rtlCol="0" anchor="t"/>
          <a:lstStyle/>
          <a:p>
            <a:pPr marL="0" indent="0">
              <a:spcAft>
                <a:spcPts val="400"/>
              </a:spcAft>
              <a:buNone/>
            </a:pPr>
            <a:r>
              <a:rPr lang="en-US" sz="1400" b="1" dirty="0">
                <a:solidFill>
                  <a:schemeClr val="tx2"/>
                </a:solidFill>
              </a:rPr>
              <a:t>Key relations</a:t>
            </a:r>
            <a:endParaRPr lang="en-US" sz="1400" dirty="0"/>
          </a:p>
          <a:p>
            <a:pPr marL="0" indent="0">
              <a:buNone/>
            </a:pPr>
            <a:r>
              <a:rPr lang="en-US" sz="1400" dirty="0">
                <a:solidFill>
                  <a:schemeClr val="tx1"/>
                </a:solidFill>
              </a:rPr>
              <a:t>Beer–Lambert: I = I</a:t>
            </a:r>
            <a:r>
              <a:rPr lang="en-US" sz="1400" baseline="-40000" dirty="0">
                <a:solidFill>
                  <a:schemeClr val="tx1"/>
                </a:solidFill>
              </a:rPr>
              <a:t>0</a:t>
            </a:r>
            <a:r>
              <a:rPr lang="en-US" sz="1400" dirty="0">
                <a:solidFill>
                  <a:schemeClr val="tx1"/>
                </a:solidFill>
              </a:rPr>
              <a:t> e</a:t>
            </a:r>
            <a:r>
              <a:rPr lang="en-US" sz="1400" baseline="30000" dirty="0">
                <a:solidFill>
                  <a:schemeClr val="tx1"/>
                </a:solidFill>
              </a:rPr>
              <a:t>−τ/cosθ</a:t>
            </a:r>
            <a:endParaRPr lang="en-US" sz="1400" dirty="0"/>
          </a:p>
          <a:p>
            <a:pPr marL="0" indent="0">
              <a:buNone/>
            </a:pPr>
            <a:r>
              <a:rPr lang="en-US" sz="1400" dirty="0">
                <a:solidFill>
                  <a:schemeClr val="tx1"/>
                </a:solidFill>
              </a:rPr>
              <a:t>Ångström: τ(λ) = β λ</a:t>
            </a:r>
            <a:r>
              <a:rPr lang="en-US" sz="1400" baseline="30000" dirty="0">
                <a:solidFill>
                  <a:schemeClr val="tx1"/>
                </a:solidFill>
              </a:rPr>
              <a:t>−α</a:t>
            </a:r>
            <a:endParaRPr lang="en-US" sz="1400" dirty="0"/>
          </a:p>
          <a:p>
            <a:pPr marL="0" indent="0">
              <a:buNone/>
            </a:pPr>
            <a:r>
              <a:rPr lang="en-US" sz="1400" dirty="0">
                <a:solidFill>
                  <a:schemeClr val="tx1"/>
                </a:solidFill>
              </a:rPr>
              <a:t>Absorption AOD: τ</a:t>
            </a:r>
            <a:r>
              <a:rPr lang="en-US" sz="1400" baseline="-40000" dirty="0">
                <a:solidFill>
                  <a:schemeClr val="tx1"/>
                </a:solidFill>
              </a:rPr>
              <a:t>abs</a:t>
            </a:r>
            <a:r>
              <a:rPr lang="en-US" sz="1400" dirty="0">
                <a:solidFill>
                  <a:schemeClr val="tx1"/>
                </a:solidFill>
              </a:rPr>
              <a:t> = (1 − ω</a:t>
            </a:r>
            <a:r>
              <a:rPr lang="en-US" sz="1400" baseline="-40000" dirty="0">
                <a:solidFill>
                  <a:schemeClr val="tx1"/>
                </a:solidFill>
              </a:rPr>
              <a:t>0</a:t>
            </a:r>
            <a:r>
              <a:rPr lang="en-US" sz="1400" dirty="0">
                <a:solidFill>
                  <a:schemeClr val="tx1"/>
                </a:solidFill>
              </a:rPr>
              <a:t>) τ</a:t>
            </a:r>
            <a:endParaRPr lang="en-US" sz="1400" dirty="0"/>
          </a:p>
        </p:txBody>
      </p:sp>
      <p:sp>
        <p:nvSpPr>
          <p:cNvPr id="7" name="Plants text"/>
          <p:cNvSpPr txBox="1"/>
          <p:nvPr/>
        </p:nvSpPr>
        <p:spPr>
          <a:xfrm>
            <a:off x="4343400" y="4773168"/>
            <a:ext cx="3383280" cy="1325880"/>
          </a:xfrm>
          <a:prstGeom prst="rect">
            <a:avLst/>
          </a:prstGeom>
          <a:noFill/>
          <a:ln/>
        </p:spPr>
        <p:txBody>
          <a:bodyPr wrap="square" lIns="0" tIns="0" rIns="0" bIns="0" rtlCol="0" anchor="ctr"/>
          <a:lstStyle/>
          <a:p>
            <a:pPr marL="0" indent="0">
              <a:buNone/>
            </a:pPr>
            <a:r>
              <a:rPr lang="en-US" sz="1400" b="1" dirty="0">
                <a:solidFill>
                  <a:schemeClr val="tx1"/>
                </a:solidFill>
              </a:rPr>
              <a:t>For plants, AOD alone is not enough:</a:t>
            </a:r>
            <a:r>
              <a:rPr lang="en-US" sz="1400" dirty="0">
                <a:solidFill>
                  <a:schemeClr val="tx1"/>
                </a:solidFill>
              </a:rPr>
              <a:t> two hazes with the same AOD can have opposite effects; scattering haze can raise canopy photosynthesis, absorbing haze mostly removes light.</a:t>
            </a:r>
            <a:endParaRPr lang="en-US" sz="1400" dirty="0"/>
          </a:p>
        </p:txBody>
      </p:sp>
      <p:sp>
        <p:nvSpPr>
          <p:cNvPr id="13" name="Diffuse callout card"/>
          <p:cNvSpPr/>
          <p:nvPr/>
        </p:nvSpPr>
        <p:spPr>
          <a:xfrm>
            <a:off x="8046720" y="4709160"/>
            <a:ext cx="3639312" cy="1371600"/>
          </a:xfrm>
          <a:prstGeom prst="roundRect">
            <a:avLst>
              <a:gd name="adj" fmla="val 4667"/>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4" name="Diffuse callout text"/>
          <p:cNvSpPr txBox="1"/>
          <p:nvPr/>
        </p:nvSpPr>
        <p:spPr>
          <a:xfrm>
            <a:off x="8156448" y="4754880"/>
            <a:ext cx="3419856" cy="1280160"/>
          </a:xfrm>
          <a:prstGeom prst="rect">
            <a:avLst/>
          </a:prstGeom>
          <a:noFill/>
          <a:ln/>
        </p:spPr>
        <p:txBody>
          <a:bodyPr wrap="square" lIns="0" tIns="0" rIns="0" bIns="0" rtlCol="0" anchor="ctr"/>
          <a:lstStyle/>
          <a:p>
            <a:pPr marL="0" indent="0" algn="ctr">
              <a:buNone/>
            </a:pPr>
            <a:r>
              <a:rPr lang="en-US" sz="2600" b="1" dirty="0">
                <a:solidFill>
                  <a:schemeClr val="accent2"/>
                </a:solidFill>
              </a:rPr>
              <a:t>20% → 80%</a:t>
            </a:r>
            <a:endParaRPr lang="en-US" sz="2600" dirty="0"/>
          </a:p>
          <a:p>
            <a:pPr marL="0" indent="0" algn="ctr">
              <a:buNone/>
            </a:pPr>
            <a:r>
              <a:rPr lang="en-US" sz="1400" dirty="0">
                <a:solidFill>
                  <a:schemeClr val="tx1"/>
                </a:solidFill>
              </a:rPr>
              <a:t>diffuse share of sunlight as AOD rises from 0.2 to 1.0</a:t>
            </a:r>
            <a:endParaRPr lang="en-US" sz="2600" dirty="0"/>
          </a:p>
          <a:p>
            <a:pPr marL="0" indent="0" algn="ctr">
              <a:buNone/>
            </a:pPr>
            <a:r>
              <a:rPr lang="en-US" sz="1400" i="1" dirty="0">
                <a:solidFill>
                  <a:schemeClr val="accent1"/>
                </a:solidFill>
              </a:rPr>
              <a:t>Kanniah et al., 2012</a:t>
            </a:r>
            <a:endParaRPr lang="en-US" sz="26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9</a:t>
            </a:fld>
            <a:endParaRPr lang="en-US"/>
          </a:p>
        </p:txBody>
      </p:sp>
      <p:sp>
        <p:nvSpPr>
          <p:cNvPr id="16" name="Size distribution figure card">
            <a:extLst>
              <a:ext uri="{FF2B5EF4-FFF2-40B4-BE49-F238E27FC236}">
                <a16:creationId xmlns:a16="http://schemas.microsoft.com/office/drawing/2014/main" id="{28C7260C-378C-8051-E633-78498DF2E937}"/>
              </a:ext>
            </a:extLst>
          </p:cNvPr>
          <p:cNvSpPr/>
          <p:nvPr/>
        </p:nvSpPr>
        <p:spPr>
          <a:xfrm>
            <a:off x="6545580" y="1325880"/>
            <a:ext cx="5186172" cy="2865120"/>
          </a:xfrm>
          <a:prstGeom prst="roundRect">
            <a:avLst>
              <a:gd name="adj" fmla="val 235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8" name="Size distribution figure title">
            <a:extLst>
              <a:ext uri="{FF2B5EF4-FFF2-40B4-BE49-F238E27FC236}">
                <a16:creationId xmlns:a16="http://schemas.microsoft.com/office/drawing/2014/main" id="{67BA163C-8EA1-3C5C-8170-BD23EC76BC98}"/>
              </a:ext>
            </a:extLst>
          </p:cNvPr>
          <p:cNvSpPr txBox="1"/>
          <p:nvPr/>
        </p:nvSpPr>
        <p:spPr>
          <a:xfrm>
            <a:off x="6690360" y="1417319"/>
            <a:ext cx="4904232" cy="559895"/>
          </a:xfrm>
          <a:prstGeom prst="rect">
            <a:avLst/>
          </a:prstGeom>
          <a:noFill/>
          <a:ln/>
        </p:spPr>
        <p:txBody>
          <a:bodyPr wrap="square" lIns="0" tIns="0" rIns="0" bIns="0" rtlCol="0" anchor="t"/>
          <a:lstStyle/>
          <a:p>
            <a:pPr marL="0" indent="0">
              <a:buNone/>
            </a:pPr>
            <a:r>
              <a:rPr lang="en-US" sz="1400" b="1" dirty="0">
                <a:solidFill>
                  <a:schemeClr val="tx2"/>
                </a:solidFill>
              </a:rPr>
              <a:t>Seasonal aerosol size distribution: New Delhi, Kanpur</a:t>
            </a:r>
            <a:endParaRPr lang="en-US" sz="1400" dirty="0"/>
          </a:p>
        </p:txBody>
      </p:sp>
      <p:pic>
        <p:nvPicPr>
          <p:cNvPr id="20" name="Size distribution figure" descr="Size distribution figure">
            <a:extLst>
              <a:ext uri="{FF2B5EF4-FFF2-40B4-BE49-F238E27FC236}">
                <a16:creationId xmlns:a16="http://schemas.microsoft.com/office/drawing/2014/main" id="{135AC07D-C88B-983E-D180-54EDBE932954}"/>
              </a:ext>
            </a:extLst>
          </p:cNvPr>
          <p:cNvPicPr>
            <a:picLocks noChangeAspect="1"/>
          </p:cNvPicPr>
          <p:nvPr/>
        </p:nvPicPr>
        <p:blipFill>
          <a:blip r:embed="rId3"/>
          <a:srcRect l="40905" t="-7833" r="43458" b="68710"/>
          <a:stretch>
            <a:fillRect/>
          </a:stretch>
        </p:blipFill>
        <p:spPr>
          <a:xfrm>
            <a:off x="10788793" y="1332152"/>
            <a:ext cx="764648" cy="637298"/>
          </a:xfrm>
          <a:prstGeom prst="rect">
            <a:avLst/>
          </a:prstGeom>
        </p:spPr>
      </p:pic>
      <p:sp>
        <p:nvSpPr>
          <p:cNvPr id="22" name="Size distribution figure caption">
            <a:extLst>
              <a:ext uri="{FF2B5EF4-FFF2-40B4-BE49-F238E27FC236}">
                <a16:creationId xmlns:a16="http://schemas.microsoft.com/office/drawing/2014/main" id="{B987607C-8A10-032B-6349-9C1C992B4DC8}"/>
              </a:ext>
            </a:extLst>
          </p:cNvPr>
          <p:cNvSpPr txBox="1"/>
          <p:nvPr/>
        </p:nvSpPr>
        <p:spPr>
          <a:xfrm>
            <a:off x="6629400" y="3452888"/>
            <a:ext cx="4965192" cy="482668"/>
          </a:xfrm>
          <a:prstGeom prst="rect">
            <a:avLst/>
          </a:prstGeom>
          <a:noFill/>
          <a:ln/>
        </p:spPr>
        <p:txBody>
          <a:bodyPr wrap="square" lIns="0" tIns="0" rIns="0" bIns="0" rtlCol="0" anchor="t"/>
          <a:lstStyle/>
          <a:p>
            <a:pPr marL="0" indent="0">
              <a:buNone/>
            </a:pPr>
            <a:r>
              <a:rPr lang="en-US" sz="1400" dirty="0">
                <a:solidFill>
                  <a:schemeClr val="tx1"/>
                </a:solidFill>
              </a:rPr>
              <a:t>Fine mode peaks after the monsoon (smoke); coarse mode before it (dust)</a:t>
            </a:r>
            <a:endParaRPr lang="en-US" sz="1400" dirty="0"/>
          </a:p>
        </p:txBody>
      </p:sp>
      <p:sp>
        <p:nvSpPr>
          <p:cNvPr id="24" name="Size distribution figure source">
            <a:extLst>
              <a:ext uri="{FF2B5EF4-FFF2-40B4-BE49-F238E27FC236}">
                <a16:creationId xmlns:a16="http://schemas.microsoft.com/office/drawing/2014/main" id="{ACA4B3E3-7106-5B00-7E63-39B99A7040BE}"/>
              </a:ext>
            </a:extLst>
          </p:cNvPr>
          <p:cNvSpPr txBox="1"/>
          <p:nvPr/>
        </p:nvSpPr>
        <p:spPr>
          <a:xfrm>
            <a:off x="8639556" y="3847561"/>
            <a:ext cx="3134868" cy="260641"/>
          </a:xfrm>
          <a:prstGeom prst="rect">
            <a:avLst/>
          </a:prstGeom>
          <a:noFill/>
          <a:ln/>
        </p:spPr>
        <p:txBody>
          <a:bodyPr wrap="square" lIns="0" tIns="0" rIns="0" bIns="0" rtlCol="0" anchor="t"/>
          <a:lstStyle/>
          <a:p>
            <a:pPr marL="0" indent="0">
              <a:buNone/>
            </a:pPr>
            <a:r>
              <a:rPr lang="en-US" sz="1400" i="1" dirty="0"/>
              <a:t>Source: Ramachandran &amp; </a:t>
            </a:r>
            <a:r>
              <a:rPr lang="en-US" sz="1400" i="1" dirty="0" err="1"/>
              <a:t>Rupakheti</a:t>
            </a:r>
            <a:r>
              <a:rPr lang="en-US" sz="1400" i="1" dirty="0"/>
              <a:t> 2026</a:t>
            </a:r>
            <a:endParaRPr lang="en-US" sz="1400" dirty="0"/>
          </a:p>
        </p:txBody>
      </p:sp>
      <p:pic>
        <p:nvPicPr>
          <p:cNvPr id="27" name="Picture 26">
            <a:extLst>
              <a:ext uri="{FF2B5EF4-FFF2-40B4-BE49-F238E27FC236}">
                <a16:creationId xmlns:a16="http://schemas.microsoft.com/office/drawing/2014/main" id="{2ABF70E4-45C8-D000-BB41-AE97A3773AC4}"/>
              </a:ext>
            </a:extLst>
          </p:cNvPr>
          <p:cNvPicPr>
            <a:picLocks noChangeAspect="1"/>
          </p:cNvPicPr>
          <p:nvPr/>
        </p:nvPicPr>
        <p:blipFill>
          <a:blip r:embed="rId4"/>
          <a:srcRect b="11043"/>
          <a:stretch>
            <a:fillRect/>
          </a:stretch>
        </p:blipFill>
        <p:spPr>
          <a:xfrm>
            <a:off x="6742953" y="1819947"/>
            <a:ext cx="2413260" cy="1376284"/>
          </a:xfrm>
          <a:prstGeom prst="rect">
            <a:avLst/>
          </a:prstGeom>
        </p:spPr>
      </p:pic>
      <p:pic>
        <p:nvPicPr>
          <p:cNvPr id="29" name="Picture 28">
            <a:extLst>
              <a:ext uri="{FF2B5EF4-FFF2-40B4-BE49-F238E27FC236}">
                <a16:creationId xmlns:a16="http://schemas.microsoft.com/office/drawing/2014/main" id="{4F0A7B89-2A53-D784-86C2-9075C715AC12}"/>
              </a:ext>
            </a:extLst>
          </p:cNvPr>
          <p:cNvPicPr>
            <a:picLocks noChangeAspect="1"/>
          </p:cNvPicPr>
          <p:nvPr/>
        </p:nvPicPr>
        <p:blipFill>
          <a:blip r:embed="rId5"/>
          <a:stretch>
            <a:fillRect/>
          </a:stretch>
        </p:blipFill>
        <p:spPr>
          <a:xfrm>
            <a:off x="9247625" y="1919363"/>
            <a:ext cx="2127504" cy="1271329"/>
          </a:xfrm>
          <a:prstGeom prst="rect">
            <a:avLst/>
          </a:prstGeom>
        </p:spPr>
      </p:pic>
      <p:pic>
        <p:nvPicPr>
          <p:cNvPr id="31" name="Picture 30">
            <a:extLst>
              <a:ext uri="{FF2B5EF4-FFF2-40B4-BE49-F238E27FC236}">
                <a16:creationId xmlns:a16="http://schemas.microsoft.com/office/drawing/2014/main" id="{9EA06989-F8D7-5257-C1F9-0B1C40238812}"/>
              </a:ext>
            </a:extLst>
          </p:cNvPr>
          <p:cNvPicPr>
            <a:picLocks noChangeAspect="1"/>
          </p:cNvPicPr>
          <p:nvPr/>
        </p:nvPicPr>
        <p:blipFill>
          <a:blip r:embed="rId6"/>
          <a:stretch>
            <a:fillRect/>
          </a:stretch>
        </p:blipFill>
        <p:spPr>
          <a:xfrm>
            <a:off x="8627603" y="3070067"/>
            <a:ext cx="1057220" cy="352851"/>
          </a:xfrm>
          <a:prstGeom prst="rect">
            <a:avLst/>
          </a:prstGeom>
        </p:spPr>
      </p:pic>
      <p:pic>
        <p:nvPicPr>
          <p:cNvPr id="33" name="Picture 32">
            <a:extLst>
              <a:ext uri="{FF2B5EF4-FFF2-40B4-BE49-F238E27FC236}">
                <a16:creationId xmlns:a16="http://schemas.microsoft.com/office/drawing/2014/main" id="{786704D0-8B64-170F-4EFC-F1FD12277CED}"/>
              </a:ext>
            </a:extLst>
          </p:cNvPr>
          <p:cNvPicPr>
            <a:picLocks noChangeAspect="1"/>
          </p:cNvPicPr>
          <p:nvPr/>
        </p:nvPicPr>
        <p:blipFill>
          <a:blip r:embed="rId7"/>
          <a:srcRect l="14444" r="13732"/>
          <a:stretch>
            <a:fillRect/>
          </a:stretch>
        </p:blipFill>
        <p:spPr>
          <a:xfrm>
            <a:off x="6650728" y="2006852"/>
            <a:ext cx="155450" cy="10866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3 · Remote sensing of aerosols and radiation</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aerosol retrieval principle</a:t>
            </a:r>
            <a:endParaRPr lang="en-US" sz="2800" dirty="0"/>
          </a:p>
        </p:txBody>
      </p:sp>
      <p:sp>
        <p:nvSpPr>
          <p:cNvPr id="4" name="Principle figure card"/>
          <p:cNvSpPr/>
          <p:nvPr/>
        </p:nvSpPr>
        <p:spPr>
          <a:xfrm>
            <a:off x="457200" y="1280160"/>
            <a:ext cx="5486400" cy="3454424"/>
          </a:xfrm>
          <a:prstGeom prst="roundRect">
            <a:avLst>
              <a:gd name="adj" fmla="val 185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Principle figure title"/>
          <p:cNvSpPr txBox="1"/>
          <p:nvPr/>
        </p:nvSpPr>
        <p:spPr>
          <a:xfrm>
            <a:off x="594360" y="1371600"/>
            <a:ext cx="5212080" cy="301752"/>
          </a:xfrm>
          <a:prstGeom prst="rect">
            <a:avLst/>
          </a:prstGeom>
          <a:noFill/>
          <a:ln/>
        </p:spPr>
        <p:txBody>
          <a:bodyPr wrap="square" lIns="0" tIns="0" rIns="0" bIns="0" rtlCol="0" anchor="t"/>
          <a:lstStyle/>
          <a:p>
            <a:pPr marL="0" indent="0">
              <a:buNone/>
            </a:pPr>
            <a:r>
              <a:rPr lang="en-US" sz="1400" b="1" dirty="0">
                <a:solidFill>
                  <a:schemeClr val="tx2"/>
                </a:solidFill>
              </a:rPr>
              <a:t>What the satellite sees: aerosol, air and surface signals</a:t>
            </a:r>
            <a:endParaRPr lang="en-US" sz="1400" dirty="0"/>
          </a:p>
        </p:txBody>
      </p:sp>
      <p:pic>
        <p:nvPicPr>
          <p:cNvPr id="6" name="Principle figure" descr="Principle figure"/>
          <p:cNvPicPr>
            <a:picLocks noChangeAspect="1"/>
          </p:cNvPicPr>
          <p:nvPr/>
        </p:nvPicPr>
        <p:blipFill>
          <a:blip r:embed="rId3"/>
          <a:stretch>
            <a:fillRect/>
          </a:stretch>
        </p:blipFill>
        <p:spPr>
          <a:xfrm>
            <a:off x="617220" y="1673352"/>
            <a:ext cx="5166360" cy="2631464"/>
          </a:xfrm>
          <a:prstGeom prst="rect">
            <a:avLst/>
          </a:prstGeom>
        </p:spPr>
      </p:pic>
      <p:sp>
        <p:nvSpPr>
          <p:cNvPr id="7" name="Principle figure source"/>
          <p:cNvSpPr txBox="1"/>
          <p:nvPr/>
        </p:nvSpPr>
        <p:spPr>
          <a:xfrm>
            <a:off x="594360" y="4377968"/>
            <a:ext cx="5212080" cy="246888"/>
          </a:xfrm>
          <a:prstGeom prst="rect">
            <a:avLst/>
          </a:prstGeom>
          <a:noFill/>
          <a:ln/>
        </p:spPr>
        <p:txBody>
          <a:bodyPr wrap="square" lIns="0" tIns="0" rIns="0" bIns="0" rtlCol="0" anchor="t"/>
          <a:lstStyle/>
          <a:p>
            <a:pPr marL="0" indent="0">
              <a:buNone/>
            </a:pPr>
            <a:r>
              <a:rPr lang="en-US" sz="1400" i="1" dirty="0">
                <a:solidFill>
                  <a:schemeClr val="accent1"/>
                </a:solidFill>
              </a:rPr>
              <a:t>Source: Wei et al., 2020, Fig. 6</a:t>
            </a:r>
            <a:endParaRPr lang="en-US" sz="1400" dirty="0"/>
          </a:p>
        </p:txBody>
      </p:sp>
      <p:sp>
        <p:nvSpPr>
          <p:cNvPr id="8" name="Step 1"/>
          <p:cNvSpPr/>
          <p:nvPr/>
        </p:nvSpPr>
        <p:spPr>
          <a:xfrm>
            <a:off x="6217920" y="1280160"/>
            <a:ext cx="5513832" cy="585216"/>
          </a:xfrm>
          <a:prstGeom prst="roundRect">
            <a:avLst>
              <a:gd name="adj" fmla="val 10938"/>
            </a:avLst>
          </a:prstGeom>
          <a:solidFill>
            <a:schemeClr val="tx2"/>
          </a:solidFill>
          <a:ln w="12700">
            <a:solidFill>
              <a:schemeClr val="tx2"/>
            </a:solidFill>
            <a:prstDash val="solid"/>
          </a:ln>
        </p:spPr>
      </p:sp>
      <p:sp>
        <p:nvSpPr>
          <p:cNvPr id="9" name="Step 1 text"/>
          <p:cNvSpPr txBox="1"/>
          <p:nvPr/>
        </p:nvSpPr>
        <p:spPr>
          <a:xfrm>
            <a:off x="6291072" y="1307592"/>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1. Observe</a:t>
            </a:r>
            <a:endParaRPr lang="en-US" sz="1400" dirty="0"/>
          </a:p>
          <a:p>
            <a:pPr marL="0" indent="0" algn="ctr">
              <a:buNone/>
            </a:pPr>
            <a:r>
              <a:rPr lang="en-US" sz="1400" dirty="0">
                <a:solidFill>
                  <a:schemeClr val="bg1"/>
                </a:solidFill>
              </a:rPr>
              <a:t>Top-of-atmosphere reflectance at several wavelengths</a:t>
            </a:r>
            <a:endParaRPr lang="en-US" sz="1400" dirty="0"/>
          </a:p>
        </p:txBody>
      </p:sp>
      <p:sp>
        <p:nvSpPr>
          <p:cNvPr id="10" name="Step 2"/>
          <p:cNvSpPr/>
          <p:nvPr/>
        </p:nvSpPr>
        <p:spPr>
          <a:xfrm>
            <a:off x="6217920" y="1956816"/>
            <a:ext cx="5513832" cy="585216"/>
          </a:xfrm>
          <a:prstGeom prst="roundRect">
            <a:avLst>
              <a:gd name="adj" fmla="val 10938"/>
            </a:avLst>
          </a:prstGeom>
          <a:solidFill>
            <a:schemeClr val="accent1"/>
          </a:solidFill>
          <a:ln w="12700">
            <a:solidFill>
              <a:schemeClr val="accent1"/>
            </a:solidFill>
            <a:prstDash val="solid"/>
          </a:ln>
        </p:spPr>
      </p:sp>
      <p:sp>
        <p:nvSpPr>
          <p:cNvPr id="11" name="Step 2 text"/>
          <p:cNvSpPr txBox="1"/>
          <p:nvPr/>
        </p:nvSpPr>
        <p:spPr>
          <a:xfrm>
            <a:off x="6291072" y="1984248"/>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2. Screen</a:t>
            </a:r>
            <a:endParaRPr lang="en-US" sz="1400" dirty="0"/>
          </a:p>
          <a:p>
            <a:pPr marL="0" indent="0" algn="ctr">
              <a:buNone/>
            </a:pPr>
            <a:r>
              <a:rPr lang="en-US" sz="1400" dirty="0">
                <a:solidFill>
                  <a:schemeClr val="bg1"/>
                </a:solidFill>
              </a:rPr>
              <a:t>Remove cloud, snow, water and sun glint</a:t>
            </a:r>
            <a:endParaRPr lang="en-US" sz="1400" dirty="0"/>
          </a:p>
        </p:txBody>
      </p:sp>
      <p:sp>
        <p:nvSpPr>
          <p:cNvPr id="12" name="Step 3"/>
          <p:cNvSpPr/>
          <p:nvPr/>
        </p:nvSpPr>
        <p:spPr>
          <a:xfrm>
            <a:off x="6217920" y="2633472"/>
            <a:ext cx="5513832" cy="585216"/>
          </a:xfrm>
          <a:prstGeom prst="roundRect">
            <a:avLst>
              <a:gd name="adj" fmla="val 10938"/>
            </a:avLst>
          </a:prstGeom>
          <a:solidFill>
            <a:schemeClr val="tx2"/>
          </a:solidFill>
          <a:ln w="12700">
            <a:solidFill>
              <a:schemeClr val="tx2"/>
            </a:solidFill>
            <a:prstDash val="solid"/>
          </a:ln>
        </p:spPr>
      </p:sp>
      <p:sp>
        <p:nvSpPr>
          <p:cNvPr id="13" name="Step 3 text"/>
          <p:cNvSpPr txBox="1"/>
          <p:nvPr/>
        </p:nvSpPr>
        <p:spPr>
          <a:xfrm>
            <a:off x="6291072" y="2660904"/>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3. Remove Rayleigh</a:t>
            </a:r>
            <a:endParaRPr lang="en-US" sz="1400" dirty="0"/>
          </a:p>
          <a:p>
            <a:pPr marL="0" indent="0" algn="ctr">
              <a:buNone/>
            </a:pPr>
            <a:r>
              <a:rPr lang="en-US" sz="1400" dirty="0">
                <a:solidFill>
                  <a:schemeClr val="bg1"/>
                </a:solidFill>
              </a:rPr>
              <a:t>Subtract scattering by air molecules</a:t>
            </a:r>
            <a:endParaRPr lang="en-US" sz="1400" dirty="0"/>
          </a:p>
        </p:txBody>
      </p:sp>
      <p:sp>
        <p:nvSpPr>
          <p:cNvPr id="14" name="Step 4"/>
          <p:cNvSpPr/>
          <p:nvPr/>
        </p:nvSpPr>
        <p:spPr>
          <a:xfrm>
            <a:off x="6217920" y="3310128"/>
            <a:ext cx="5513832" cy="585216"/>
          </a:xfrm>
          <a:prstGeom prst="roundRect">
            <a:avLst>
              <a:gd name="adj" fmla="val 10938"/>
            </a:avLst>
          </a:prstGeom>
          <a:solidFill>
            <a:schemeClr val="accent2"/>
          </a:solidFill>
          <a:ln w="12700">
            <a:solidFill>
              <a:schemeClr val="accent2"/>
            </a:solidFill>
            <a:prstDash val="solid"/>
          </a:ln>
        </p:spPr>
      </p:sp>
      <p:sp>
        <p:nvSpPr>
          <p:cNvPr id="15" name="Step 4 text"/>
          <p:cNvSpPr txBox="1"/>
          <p:nvPr/>
        </p:nvSpPr>
        <p:spPr>
          <a:xfrm>
            <a:off x="6291072" y="3337560"/>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4. Estimate surface</a:t>
            </a:r>
            <a:endParaRPr lang="en-US" sz="1400" dirty="0"/>
          </a:p>
          <a:p>
            <a:pPr marL="0" indent="0" algn="ctr">
              <a:buNone/>
            </a:pPr>
            <a:r>
              <a:rPr lang="en-US" sz="1400" dirty="0">
                <a:solidFill>
                  <a:schemeClr val="bg1"/>
                </a:solidFill>
              </a:rPr>
              <a:t>Dark pixels, blue band, time series or multi-angle</a:t>
            </a:r>
            <a:endParaRPr lang="en-US" sz="1400" dirty="0"/>
          </a:p>
        </p:txBody>
      </p:sp>
      <p:sp>
        <p:nvSpPr>
          <p:cNvPr id="16" name="Step 5"/>
          <p:cNvSpPr/>
          <p:nvPr/>
        </p:nvSpPr>
        <p:spPr>
          <a:xfrm>
            <a:off x="6217920" y="3986784"/>
            <a:ext cx="5513832" cy="585216"/>
          </a:xfrm>
          <a:prstGeom prst="roundRect">
            <a:avLst>
              <a:gd name="adj" fmla="val 10938"/>
            </a:avLst>
          </a:prstGeom>
          <a:solidFill>
            <a:schemeClr val="tx2"/>
          </a:solidFill>
          <a:ln w="12700">
            <a:solidFill>
              <a:schemeClr val="tx2"/>
            </a:solidFill>
            <a:prstDash val="solid"/>
          </a:ln>
        </p:spPr>
      </p:sp>
      <p:sp>
        <p:nvSpPr>
          <p:cNvPr id="17" name="Step 5 text"/>
          <p:cNvSpPr txBox="1"/>
          <p:nvPr/>
        </p:nvSpPr>
        <p:spPr>
          <a:xfrm>
            <a:off x="6291072" y="4014216"/>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5. Invert</a:t>
            </a:r>
            <a:endParaRPr lang="en-US" sz="1400" dirty="0"/>
          </a:p>
          <a:p>
            <a:pPr marL="0" indent="0" algn="ctr">
              <a:buNone/>
            </a:pPr>
            <a:r>
              <a:rPr lang="en-US" sz="1400" dirty="0">
                <a:solidFill>
                  <a:schemeClr val="bg1"/>
                </a:solidFill>
              </a:rPr>
              <a:t>Match look-up tables of aerosol models → AOD</a:t>
            </a:r>
            <a:endParaRPr lang="en-US" sz="1400" dirty="0"/>
          </a:p>
        </p:txBody>
      </p:sp>
      <p:sp>
        <p:nvSpPr>
          <p:cNvPr id="18" name="Step 6"/>
          <p:cNvSpPr/>
          <p:nvPr/>
        </p:nvSpPr>
        <p:spPr>
          <a:xfrm>
            <a:off x="6217920" y="4663440"/>
            <a:ext cx="5513832" cy="585216"/>
          </a:xfrm>
          <a:prstGeom prst="roundRect">
            <a:avLst>
              <a:gd name="adj" fmla="val 10938"/>
            </a:avLst>
          </a:prstGeom>
          <a:solidFill>
            <a:schemeClr val="accent3"/>
          </a:solidFill>
          <a:ln w="12700">
            <a:solidFill>
              <a:schemeClr val="accent3"/>
            </a:solidFill>
            <a:prstDash val="solid"/>
          </a:ln>
        </p:spPr>
      </p:sp>
      <p:sp>
        <p:nvSpPr>
          <p:cNvPr id="19" name="Step 6 text"/>
          <p:cNvSpPr txBox="1"/>
          <p:nvPr/>
        </p:nvSpPr>
        <p:spPr>
          <a:xfrm>
            <a:off x="6291072" y="4690872"/>
            <a:ext cx="5367528" cy="530352"/>
          </a:xfrm>
          <a:prstGeom prst="rect">
            <a:avLst/>
          </a:prstGeom>
          <a:noFill/>
          <a:ln/>
        </p:spPr>
        <p:txBody>
          <a:bodyPr wrap="square" lIns="0" tIns="0" rIns="0" bIns="0" rtlCol="0" anchor="ctr"/>
          <a:lstStyle/>
          <a:p>
            <a:pPr marL="0" indent="0" algn="ctr">
              <a:buNone/>
            </a:pPr>
            <a:r>
              <a:rPr lang="en-US" sz="1400" b="1" dirty="0">
                <a:solidFill>
                  <a:schemeClr val="bg1"/>
                </a:solidFill>
              </a:rPr>
              <a:t>6. Validate</a:t>
            </a:r>
            <a:endParaRPr lang="en-US" sz="1400" dirty="0"/>
          </a:p>
          <a:p>
            <a:pPr marL="0" indent="0" algn="ctr">
              <a:buNone/>
            </a:pPr>
            <a:r>
              <a:rPr lang="en-US" sz="1400" dirty="0">
                <a:solidFill>
                  <a:schemeClr val="bg1"/>
                </a:solidFill>
              </a:rPr>
              <a:t>Compare with AERONET; assign quality flag</a:t>
            </a:r>
            <a:endParaRPr lang="en-US" sz="1400" dirty="0"/>
          </a:p>
        </p:txBody>
      </p:sp>
      <p:sp>
        <p:nvSpPr>
          <p:cNvPr id="20" name="Equation strip"/>
          <p:cNvSpPr/>
          <p:nvPr/>
        </p:nvSpPr>
        <p:spPr>
          <a:xfrm>
            <a:off x="457200" y="4983480"/>
            <a:ext cx="5486400" cy="1143000"/>
          </a:xfrm>
          <a:prstGeom prst="roundRect">
            <a:avLst>
              <a:gd name="adj" fmla="val 4800"/>
            </a:avLst>
          </a:prstGeom>
          <a:solidFill>
            <a:schemeClr val="bg2"/>
          </a:solidFill>
          <a:ln w="12700">
            <a:solidFill>
              <a:schemeClr val="bg2"/>
            </a:solidFill>
            <a:prstDash val="solid"/>
          </a:ln>
        </p:spPr>
      </p:sp>
      <p:sp>
        <p:nvSpPr>
          <p:cNvPr id="21" name="Equation strip text"/>
          <p:cNvSpPr txBox="1"/>
          <p:nvPr/>
        </p:nvSpPr>
        <p:spPr>
          <a:xfrm>
            <a:off x="594360" y="4983480"/>
            <a:ext cx="5212080" cy="1143000"/>
          </a:xfrm>
          <a:prstGeom prst="rect">
            <a:avLst/>
          </a:prstGeom>
          <a:noFill/>
          <a:ln/>
        </p:spPr>
        <p:txBody>
          <a:bodyPr wrap="square" lIns="0" tIns="0" rIns="0" bIns="0" rtlCol="0" anchor="ctr"/>
          <a:lstStyle/>
          <a:p>
            <a:pPr marL="0" indent="0">
              <a:buNone/>
            </a:pPr>
            <a:r>
              <a:rPr lang="en-US" sz="1400" dirty="0">
                <a:solidFill>
                  <a:schemeClr val="tx1"/>
                </a:solidFill>
              </a:rPr>
              <a:t>ρ</a:t>
            </a:r>
            <a:r>
              <a:rPr lang="en-US" sz="1400" baseline="-40000" dirty="0">
                <a:solidFill>
                  <a:schemeClr val="tx1"/>
                </a:solidFill>
              </a:rPr>
              <a:t>TOA</a:t>
            </a:r>
            <a:r>
              <a:rPr lang="en-US" sz="1400" dirty="0">
                <a:solidFill>
                  <a:schemeClr val="tx1"/>
                </a:solidFill>
              </a:rPr>
              <a:t> = ρ</a:t>
            </a:r>
            <a:r>
              <a:rPr lang="en-US" sz="1400" baseline="-40000" dirty="0">
                <a:solidFill>
                  <a:schemeClr val="tx1"/>
                </a:solidFill>
              </a:rPr>
              <a:t>aer</a:t>
            </a:r>
            <a:r>
              <a:rPr lang="en-US" sz="1400" dirty="0">
                <a:solidFill>
                  <a:schemeClr val="tx1"/>
                </a:solidFill>
              </a:rPr>
              <a:t> + ρ</a:t>
            </a:r>
            <a:r>
              <a:rPr lang="en-US" sz="1400" baseline="-40000" dirty="0">
                <a:solidFill>
                  <a:schemeClr val="tx1"/>
                </a:solidFill>
              </a:rPr>
              <a:t>Ray</a:t>
            </a:r>
            <a:r>
              <a:rPr lang="en-US" sz="1400" dirty="0">
                <a:solidFill>
                  <a:schemeClr val="tx1"/>
                </a:solidFill>
              </a:rPr>
              <a:t> + ρ</a:t>
            </a:r>
            <a:r>
              <a:rPr lang="en-US" sz="1400" baseline="-40000" dirty="0">
                <a:solidFill>
                  <a:schemeClr val="tx1"/>
                </a:solidFill>
              </a:rPr>
              <a:t>surf</a:t>
            </a:r>
            <a:r>
              <a:rPr lang="en-US" sz="1400" dirty="0">
                <a:solidFill>
                  <a:schemeClr val="tx1"/>
                </a:solidFill>
              </a:rPr>
              <a:t>. Rayleigh scattering is easy to compute; the surface term is the hard part, so every algorithm is a different way of estimating it.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3 · Remote sensing of aerosols and radiation</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aerosol algorithms and sensors</a:t>
            </a:r>
            <a:endParaRPr lang="en-US" sz="2800" dirty="0"/>
          </a:p>
        </p:txBody>
      </p:sp>
      <p:graphicFrame>
        <p:nvGraphicFramePr>
          <p:cNvPr id="14" name="Algorithm table"/>
          <p:cNvGraphicFramePr>
            <a:graphicFrameLocks noGrp="1"/>
          </p:cNvGraphicFramePr>
          <p:nvPr>
            <p:extLst>
              <p:ext uri="{D42A27DB-BD31-4B8C-83A1-F6EECF244321}">
                <p14:modId xmlns:p14="http://schemas.microsoft.com/office/powerpoint/2010/main" val="2806786328"/>
              </p:ext>
            </p:extLst>
          </p:nvPr>
        </p:nvGraphicFramePr>
        <p:xfrm>
          <a:off x="457200" y="1280160"/>
          <a:ext cx="6652727" cy="3776472"/>
        </p:xfrm>
        <a:graphic>
          <a:graphicData uri="http://schemas.openxmlformats.org/drawingml/2006/table">
            <a:tbl>
              <a:tblPr/>
              <a:tblGrid>
                <a:gridCol w="1463040">
                  <a:extLst>
                    <a:ext uri="{9D8B030D-6E8A-4147-A177-3AD203B41FA5}">
                      <a16:colId xmlns:a16="http://schemas.microsoft.com/office/drawing/2014/main" val="20000"/>
                    </a:ext>
                  </a:extLst>
                </a:gridCol>
                <a:gridCol w="4060682">
                  <a:extLst>
                    <a:ext uri="{9D8B030D-6E8A-4147-A177-3AD203B41FA5}">
                      <a16:colId xmlns:a16="http://schemas.microsoft.com/office/drawing/2014/main" val="20001"/>
                    </a:ext>
                  </a:extLst>
                </a:gridCol>
                <a:gridCol w="1129005">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Algorithm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Key idea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Resolution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84632">
                <a:tc>
                  <a:txBody>
                    <a:bodyPr/>
                    <a:lstStyle/>
                    <a:p>
                      <a:pPr marL="0" indent="0">
                        <a:buNone/>
                      </a:pPr>
                      <a:r>
                        <a:rPr lang="en-US" sz="1400" b="1" dirty="0">
                          <a:solidFill>
                            <a:schemeClr val="tx2"/>
                          </a:solidFill>
                        </a:rPr>
                        <a:t>Dark Target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Dark vegetation; surface from the 2.1 µm band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10 and 3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84632">
                <a:tc>
                  <a:txBody>
                    <a:bodyPr/>
                    <a:lstStyle/>
                    <a:p>
                      <a:pPr marL="0" indent="0">
                        <a:buNone/>
                      </a:pPr>
                      <a:r>
                        <a:rPr lang="en-US" sz="1400" b="1" dirty="0">
                          <a:solidFill>
                            <a:schemeClr val="tx2"/>
                          </a:solidFill>
                        </a:rPr>
                        <a:t>Deep 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Bright land is dark at 412-470 nm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6–10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4632">
                <a:tc>
                  <a:txBody>
                    <a:bodyPr/>
                    <a:lstStyle/>
                    <a:p>
                      <a:pPr marL="0" indent="0">
                        <a:buNone/>
                      </a:pPr>
                      <a:r>
                        <a:rPr lang="en-US" sz="1400" b="1" dirty="0">
                          <a:solidFill>
                            <a:schemeClr val="tx2"/>
                          </a:solidFill>
                        </a:rPr>
                        <a:t>MAIAC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Time series: slow surface, fast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84632">
                <a:tc>
                  <a:txBody>
                    <a:bodyPr/>
                    <a:lstStyle/>
                    <a:p>
                      <a:pPr marL="0" indent="0">
                        <a:buNone/>
                      </a:pPr>
                      <a:r>
                        <a:rPr lang="en-US" sz="1400" b="1" dirty="0">
                          <a:solidFill>
                            <a:schemeClr val="tx2"/>
                          </a:solidFill>
                        </a:rPr>
                        <a:t>MISR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Nine view angles separate surface and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17.6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84632">
                <a:tc>
                  <a:txBody>
                    <a:bodyPr/>
                    <a:lstStyle/>
                    <a:p>
                      <a:pPr marL="0" indent="0">
                        <a:buNone/>
                      </a:pPr>
                      <a:r>
                        <a:rPr lang="en-US" sz="1400" b="1" dirty="0">
                          <a:solidFill>
                            <a:schemeClr val="tx2"/>
                          </a:solidFill>
                        </a:rPr>
                        <a:t>Polarimetry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Polarization gives size and SSA (POLDER, PACE)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6 × 7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84632">
                <a:tc>
                  <a:txBody>
                    <a:bodyPr/>
                    <a:lstStyle/>
                    <a:p>
                      <a:pPr marL="0" indent="0">
                        <a:buNone/>
                      </a:pPr>
                      <a:r>
                        <a:rPr lang="en-US" sz="1400" b="1" dirty="0">
                          <a:solidFill>
                            <a:schemeClr val="tx2"/>
                          </a:solidFill>
                        </a:rPr>
                        <a:t>UV sensors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OMI, TROPOMI aerosol index flags absorbing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13 × 24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84632">
                <a:tc>
                  <a:txBody>
                    <a:bodyPr/>
                    <a:lstStyle/>
                    <a:p>
                      <a:pPr marL="0" indent="0">
                        <a:buNone/>
                      </a:pPr>
                      <a:r>
                        <a:rPr lang="en-US" sz="1400" b="1" dirty="0">
                          <a:solidFill>
                            <a:schemeClr val="tx2"/>
                          </a:solidFill>
                        </a:rPr>
                        <a:t>Geostationary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INSAT-3D/3DR, Himawari: AOD every 10–30 min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0.5–4 km </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11" name="Choice strip"/>
          <p:cNvSpPr/>
          <p:nvPr/>
        </p:nvSpPr>
        <p:spPr>
          <a:xfrm>
            <a:off x="457200" y="5623560"/>
            <a:ext cx="11274552" cy="502920"/>
          </a:xfrm>
          <a:prstGeom prst="roundRect">
            <a:avLst>
              <a:gd name="adj" fmla="val 10909"/>
            </a:avLst>
          </a:prstGeom>
          <a:solidFill>
            <a:schemeClr val="bg2"/>
          </a:solidFill>
          <a:ln w="12700">
            <a:solidFill>
              <a:schemeClr val="bg2"/>
            </a:solidFill>
            <a:prstDash val="solid"/>
          </a:ln>
        </p:spPr>
      </p:sp>
      <p:sp>
        <p:nvSpPr>
          <p:cNvPr id="12" name="Choice strip text"/>
          <p:cNvSpPr txBox="1"/>
          <p:nvPr/>
        </p:nvSpPr>
        <p:spPr>
          <a:xfrm>
            <a:off x="594360" y="5592769"/>
            <a:ext cx="11000232" cy="502920"/>
          </a:xfrm>
          <a:prstGeom prst="rect">
            <a:avLst/>
          </a:prstGeom>
          <a:noFill/>
          <a:ln/>
        </p:spPr>
        <p:txBody>
          <a:bodyPr wrap="square" lIns="0" tIns="0" rIns="0" bIns="0" rtlCol="0" anchor="ctr"/>
          <a:lstStyle/>
          <a:p>
            <a:pPr marL="0" indent="0">
              <a:buNone/>
            </a:pPr>
            <a:r>
              <a:rPr lang="en-US" sz="1400" b="1" dirty="0">
                <a:solidFill>
                  <a:schemeClr val="tx1"/>
                </a:solidFill>
              </a:rPr>
              <a:t>Choice for productivity studies:</a:t>
            </a:r>
            <a:r>
              <a:rPr lang="en-US" sz="1400" dirty="0">
                <a:solidFill>
                  <a:schemeClr val="tx1"/>
                </a:solidFill>
              </a:rPr>
              <a:t> MAIAC for field and district scale, UV sensors for absorbing smoke, geostationary sensors for the diurnal cycle.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13</a:t>
            </a:fld>
            <a:endParaRPr lang="en-US"/>
          </a:p>
        </p:txBody>
      </p:sp>
      <p:pic>
        <p:nvPicPr>
          <p:cNvPr id="27" name="Picture 26">
            <a:extLst>
              <a:ext uri="{FF2B5EF4-FFF2-40B4-BE49-F238E27FC236}">
                <a16:creationId xmlns:a16="http://schemas.microsoft.com/office/drawing/2014/main" id="{9F6309AE-E837-E70C-96FE-27096C460ED2}"/>
              </a:ext>
            </a:extLst>
          </p:cNvPr>
          <p:cNvPicPr>
            <a:picLocks noChangeAspect="1"/>
          </p:cNvPicPr>
          <p:nvPr/>
        </p:nvPicPr>
        <p:blipFill>
          <a:blip r:embed="rId3"/>
          <a:stretch>
            <a:fillRect/>
          </a:stretch>
        </p:blipFill>
        <p:spPr>
          <a:xfrm>
            <a:off x="7109926" y="1128071"/>
            <a:ext cx="4935893" cy="3782003"/>
          </a:xfrm>
          <a:prstGeom prst="rect">
            <a:avLst/>
          </a:prstGeom>
        </p:spPr>
      </p:pic>
      <p:sp>
        <p:nvSpPr>
          <p:cNvPr id="29" name="TextBox 28">
            <a:extLst>
              <a:ext uri="{FF2B5EF4-FFF2-40B4-BE49-F238E27FC236}">
                <a16:creationId xmlns:a16="http://schemas.microsoft.com/office/drawing/2014/main" id="{27BA30A9-9307-73E7-C850-A69697357BAA}"/>
              </a:ext>
            </a:extLst>
          </p:cNvPr>
          <p:cNvSpPr txBox="1"/>
          <p:nvPr/>
        </p:nvSpPr>
        <p:spPr>
          <a:xfrm>
            <a:off x="7231504" y="4953561"/>
            <a:ext cx="4555672" cy="461665"/>
          </a:xfrm>
          <a:prstGeom prst="rect">
            <a:avLst/>
          </a:prstGeom>
          <a:noFill/>
        </p:spPr>
        <p:txBody>
          <a:bodyPr wrap="square">
            <a:spAutoFit/>
          </a:bodyPr>
          <a:lstStyle/>
          <a:p>
            <a:r>
              <a:rPr lang="en-IN" sz="1200" dirty="0"/>
              <a:t>Dark target AOD retrieval algorithm for MODIS observations over land (Remer et al., 2005).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Ecosystem productivity: key concepts</a:t>
            </a:r>
            <a:endParaRPr lang="en-US" sz="2800" dirty="0"/>
          </a:p>
        </p:txBody>
      </p:sp>
      <p:sp>
        <p:nvSpPr>
          <p:cNvPr id="4" name="Concept 1"/>
          <p:cNvSpPr/>
          <p:nvPr/>
        </p:nvSpPr>
        <p:spPr>
          <a:xfrm>
            <a:off x="457200" y="1280160"/>
            <a:ext cx="1691640" cy="777240"/>
          </a:xfrm>
          <a:prstGeom prst="roundRect">
            <a:avLst>
              <a:gd name="adj" fmla="val 8235"/>
            </a:avLst>
          </a:prstGeom>
          <a:solidFill>
            <a:schemeClr val="accent2"/>
          </a:solidFill>
          <a:ln w="12700">
            <a:solidFill>
              <a:schemeClr val="accent2"/>
            </a:solidFill>
            <a:prstDash val="solid"/>
          </a:ln>
        </p:spPr>
      </p:sp>
      <p:sp>
        <p:nvSpPr>
          <p:cNvPr id="5" name="Concept 1 text"/>
          <p:cNvSpPr txBox="1"/>
          <p:nvPr/>
        </p:nvSpPr>
        <p:spPr>
          <a:xfrm>
            <a:off x="530352"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PAR</a:t>
            </a:r>
            <a:endParaRPr lang="en-US" sz="1400" dirty="0"/>
          </a:p>
          <a:p>
            <a:pPr marL="0" indent="0" algn="ctr">
              <a:buNone/>
            </a:pPr>
            <a:r>
              <a:rPr lang="en-US" sz="1400" dirty="0">
                <a:solidFill>
                  <a:schemeClr val="bg1"/>
                </a:solidFill>
              </a:rPr>
              <a:t>Sunlight 400–700 nm</a:t>
            </a:r>
            <a:endParaRPr lang="en-US" sz="1400" dirty="0"/>
          </a:p>
        </p:txBody>
      </p:sp>
      <p:sp>
        <p:nvSpPr>
          <p:cNvPr id="6" name="Concept arrow 1"/>
          <p:cNvSpPr/>
          <p:nvPr/>
        </p:nvSpPr>
        <p:spPr>
          <a:xfrm>
            <a:off x="2167128" y="1664208"/>
            <a:ext cx="188366" cy="0"/>
          </a:xfrm>
          <a:prstGeom prst="line">
            <a:avLst/>
          </a:prstGeom>
          <a:noFill/>
          <a:ln w="25400">
            <a:solidFill>
              <a:schemeClr val="accent4"/>
            </a:solidFill>
            <a:prstDash val="solid"/>
            <a:tailEnd type="triangle"/>
          </a:ln>
        </p:spPr>
      </p:sp>
      <p:sp>
        <p:nvSpPr>
          <p:cNvPr id="7" name="Concept 2"/>
          <p:cNvSpPr/>
          <p:nvPr/>
        </p:nvSpPr>
        <p:spPr>
          <a:xfrm>
            <a:off x="2373782" y="1280160"/>
            <a:ext cx="1691640" cy="777240"/>
          </a:xfrm>
          <a:prstGeom prst="roundRect">
            <a:avLst>
              <a:gd name="adj" fmla="val 8235"/>
            </a:avLst>
          </a:prstGeom>
          <a:solidFill>
            <a:schemeClr val="accent2"/>
          </a:solidFill>
          <a:ln w="12700">
            <a:solidFill>
              <a:schemeClr val="accent2"/>
            </a:solidFill>
            <a:prstDash val="solid"/>
          </a:ln>
        </p:spPr>
      </p:sp>
      <p:sp>
        <p:nvSpPr>
          <p:cNvPr id="8" name="Concept 2 text"/>
          <p:cNvSpPr txBox="1"/>
          <p:nvPr/>
        </p:nvSpPr>
        <p:spPr>
          <a:xfrm>
            <a:off x="2446934"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APAR</a:t>
            </a:r>
            <a:endParaRPr lang="en-US" sz="1400" dirty="0"/>
          </a:p>
          <a:p>
            <a:pPr marL="0" indent="0" algn="ctr">
              <a:buNone/>
            </a:pPr>
            <a:r>
              <a:rPr lang="en-US" sz="1400" dirty="0">
                <a:solidFill>
                  <a:schemeClr val="bg1"/>
                </a:solidFill>
              </a:rPr>
              <a:t>PAR × FAPAR</a:t>
            </a:r>
            <a:endParaRPr lang="en-US" sz="1400" dirty="0"/>
          </a:p>
        </p:txBody>
      </p:sp>
      <p:sp>
        <p:nvSpPr>
          <p:cNvPr id="9" name="Concept arrow 2"/>
          <p:cNvSpPr/>
          <p:nvPr/>
        </p:nvSpPr>
        <p:spPr>
          <a:xfrm>
            <a:off x="4083710" y="1664208"/>
            <a:ext cx="188366" cy="0"/>
          </a:xfrm>
          <a:prstGeom prst="line">
            <a:avLst/>
          </a:prstGeom>
          <a:noFill/>
          <a:ln w="25400">
            <a:solidFill>
              <a:schemeClr val="accent4"/>
            </a:solidFill>
            <a:prstDash val="solid"/>
            <a:tailEnd type="triangle"/>
          </a:ln>
        </p:spPr>
      </p:sp>
      <p:sp>
        <p:nvSpPr>
          <p:cNvPr id="10" name="Concept 3"/>
          <p:cNvSpPr/>
          <p:nvPr/>
        </p:nvSpPr>
        <p:spPr>
          <a:xfrm>
            <a:off x="4290365" y="1280160"/>
            <a:ext cx="1691640" cy="777240"/>
          </a:xfrm>
          <a:prstGeom prst="roundRect">
            <a:avLst>
              <a:gd name="adj" fmla="val 8235"/>
            </a:avLst>
          </a:prstGeom>
          <a:solidFill>
            <a:schemeClr val="accent3"/>
          </a:solidFill>
          <a:ln w="12700">
            <a:solidFill>
              <a:schemeClr val="accent3"/>
            </a:solidFill>
            <a:prstDash val="solid"/>
          </a:ln>
        </p:spPr>
      </p:sp>
      <p:sp>
        <p:nvSpPr>
          <p:cNvPr id="11" name="Concept 3 text"/>
          <p:cNvSpPr txBox="1"/>
          <p:nvPr/>
        </p:nvSpPr>
        <p:spPr>
          <a:xfrm>
            <a:off x="4363517"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GPP</a:t>
            </a:r>
            <a:endParaRPr lang="en-US" sz="1400" dirty="0"/>
          </a:p>
          <a:p>
            <a:pPr marL="0" indent="0" algn="ctr">
              <a:buNone/>
            </a:pPr>
            <a:r>
              <a:rPr lang="en-US" sz="1400" dirty="0">
                <a:solidFill>
                  <a:schemeClr val="bg1"/>
                </a:solidFill>
              </a:rPr>
              <a:t>APAR × LUE</a:t>
            </a:r>
            <a:endParaRPr lang="en-US" sz="1400" dirty="0"/>
          </a:p>
        </p:txBody>
      </p:sp>
      <p:sp>
        <p:nvSpPr>
          <p:cNvPr id="12" name="Concept arrow 3"/>
          <p:cNvSpPr/>
          <p:nvPr/>
        </p:nvSpPr>
        <p:spPr>
          <a:xfrm>
            <a:off x="6000293" y="1664208"/>
            <a:ext cx="188366" cy="0"/>
          </a:xfrm>
          <a:prstGeom prst="line">
            <a:avLst/>
          </a:prstGeom>
          <a:noFill/>
          <a:ln w="25400">
            <a:solidFill>
              <a:schemeClr val="accent4"/>
            </a:solidFill>
            <a:prstDash val="solid"/>
            <a:tailEnd type="triangle"/>
          </a:ln>
        </p:spPr>
      </p:sp>
      <p:sp>
        <p:nvSpPr>
          <p:cNvPr id="13" name="Concept 4"/>
          <p:cNvSpPr/>
          <p:nvPr/>
        </p:nvSpPr>
        <p:spPr>
          <a:xfrm>
            <a:off x="6206947" y="1280160"/>
            <a:ext cx="1691640" cy="777240"/>
          </a:xfrm>
          <a:prstGeom prst="roundRect">
            <a:avLst>
              <a:gd name="adj" fmla="val 8235"/>
            </a:avLst>
          </a:prstGeom>
          <a:solidFill>
            <a:schemeClr val="accent3"/>
          </a:solidFill>
          <a:ln w="12700">
            <a:solidFill>
              <a:schemeClr val="accent3"/>
            </a:solidFill>
            <a:prstDash val="solid"/>
          </a:ln>
        </p:spPr>
      </p:sp>
      <p:sp>
        <p:nvSpPr>
          <p:cNvPr id="14" name="Concept 4 text"/>
          <p:cNvSpPr txBox="1"/>
          <p:nvPr/>
        </p:nvSpPr>
        <p:spPr>
          <a:xfrm>
            <a:off x="6280099"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NPP</a:t>
            </a:r>
            <a:endParaRPr lang="en-US" sz="1400" dirty="0"/>
          </a:p>
          <a:p>
            <a:pPr marL="0" indent="0" algn="ctr">
              <a:buNone/>
            </a:pPr>
            <a:r>
              <a:rPr lang="en-US" sz="1400" dirty="0">
                <a:solidFill>
                  <a:schemeClr val="bg1"/>
                </a:solidFill>
              </a:rPr>
              <a:t>GPP − plant respiration</a:t>
            </a:r>
            <a:endParaRPr lang="en-US" sz="1400" dirty="0"/>
          </a:p>
        </p:txBody>
      </p:sp>
      <p:sp>
        <p:nvSpPr>
          <p:cNvPr id="15" name="Concept arrow 4"/>
          <p:cNvSpPr/>
          <p:nvPr/>
        </p:nvSpPr>
        <p:spPr>
          <a:xfrm>
            <a:off x="7916875" y="1664208"/>
            <a:ext cx="188366" cy="0"/>
          </a:xfrm>
          <a:prstGeom prst="line">
            <a:avLst/>
          </a:prstGeom>
          <a:noFill/>
          <a:ln w="25400">
            <a:solidFill>
              <a:schemeClr val="accent4"/>
            </a:solidFill>
            <a:prstDash val="solid"/>
            <a:tailEnd type="triangle"/>
          </a:ln>
        </p:spPr>
      </p:sp>
      <p:sp>
        <p:nvSpPr>
          <p:cNvPr id="16" name="Concept 5"/>
          <p:cNvSpPr/>
          <p:nvPr/>
        </p:nvSpPr>
        <p:spPr>
          <a:xfrm>
            <a:off x="8123530" y="1280160"/>
            <a:ext cx="1691640" cy="777240"/>
          </a:xfrm>
          <a:prstGeom prst="roundRect">
            <a:avLst>
              <a:gd name="adj" fmla="val 8235"/>
            </a:avLst>
          </a:prstGeom>
          <a:solidFill>
            <a:schemeClr val="tx2"/>
          </a:solidFill>
          <a:ln w="12700">
            <a:solidFill>
              <a:schemeClr val="tx2"/>
            </a:solidFill>
            <a:prstDash val="solid"/>
          </a:ln>
        </p:spPr>
      </p:sp>
      <p:sp>
        <p:nvSpPr>
          <p:cNvPr id="17" name="Concept 5 text"/>
          <p:cNvSpPr txBox="1"/>
          <p:nvPr/>
        </p:nvSpPr>
        <p:spPr>
          <a:xfrm>
            <a:off x="8196682"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NEP</a:t>
            </a:r>
            <a:endParaRPr lang="en-US" sz="1400" dirty="0"/>
          </a:p>
          <a:p>
            <a:pPr marL="0" indent="0" algn="ctr">
              <a:buNone/>
            </a:pPr>
            <a:r>
              <a:rPr lang="en-US" sz="1400" dirty="0">
                <a:solidFill>
                  <a:schemeClr val="bg1"/>
                </a:solidFill>
              </a:rPr>
              <a:t>NPP − soil respiration</a:t>
            </a:r>
            <a:endParaRPr lang="en-US" sz="1400" dirty="0"/>
          </a:p>
        </p:txBody>
      </p:sp>
      <p:sp>
        <p:nvSpPr>
          <p:cNvPr id="18" name="Concept arrow 5"/>
          <p:cNvSpPr/>
          <p:nvPr/>
        </p:nvSpPr>
        <p:spPr>
          <a:xfrm>
            <a:off x="9833458" y="1664208"/>
            <a:ext cx="188366" cy="0"/>
          </a:xfrm>
          <a:prstGeom prst="line">
            <a:avLst/>
          </a:prstGeom>
          <a:noFill/>
          <a:ln w="25400">
            <a:solidFill>
              <a:schemeClr val="accent4"/>
            </a:solidFill>
            <a:prstDash val="solid"/>
            <a:tailEnd type="triangle"/>
          </a:ln>
        </p:spPr>
      </p:sp>
      <p:sp>
        <p:nvSpPr>
          <p:cNvPr id="19" name="Concept 6"/>
          <p:cNvSpPr/>
          <p:nvPr/>
        </p:nvSpPr>
        <p:spPr>
          <a:xfrm>
            <a:off x="10040112" y="1280160"/>
            <a:ext cx="1691640" cy="777240"/>
          </a:xfrm>
          <a:prstGeom prst="roundRect">
            <a:avLst>
              <a:gd name="adj" fmla="val 8235"/>
            </a:avLst>
          </a:prstGeom>
          <a:solidFill>
            <a:schemeClr val="accent1"/>
          </a:solidFill>
          <a:ln w="12700">
            <a:solidFill>
              <a:schemeClr val="accent1"/>
            </a:solidFill>
            <a:prstDash val="solid"/>
          </a:ln>
        </p:spPr>
      </p:sp>
      <p:sp>
        <p:nvSpPr>
          <p:cNvPr id="20" name="Concept 6 text"/>
          <p:cNvSpPr txBox="1"/>
          <p:nvPr/>
        </p:nvSpPr>
        <p:spPr>
          <a:xfrm>
            <a:off x="10113264" y="1307592"/>
            <a:ext cx="1545336" cy="722376"/>
          </a:xfrm>
          <a:prstGeom prst="rect">
            <a:avLst/>
          </a:prstGeom>
          <a:noFill/>
          <a:ln/>
        </p:spPr>
        <p:txBody>
          <a:bodyPr wrap="square" lIns="0" tIns="0" rIns="0" bIns="0" rtlCol="0" anchor="ctr"/>
          <a:lstStyle/>
          <a:p>
            <a:pPr marL="0" indent="0" algn="ctr">
              <a:buNone/>
            </a:pPr>
            <a:r>
              <a:rPr lang="en-US" sz="1400" b="1" dirty="0">
                <a:solidFill>
                  <a:schemeClr val="bg1"/>
                </a:solidFill>
              </a:rPr>
              <a:t>Yield</a:t>
            </a:r>
            <a:endParaRPr lang="en-US" sz="1400" dirty="0"/>
          </a:p>
          <a:p>
            <a:pPr marL="0" indent="0" algn="ctr">
              <a:buNone/>
            </a:pPr>
            <a:r>
              <a:rPr lang="en-US" sz="1400" dirty="0">
                <a:solidFill>
                  <a:schemeClr val="bg1"/>
                </a:solidFill>
              </a:rPr>
              <a:t>Biomass × harvest index</a:t>
            </a:r>
            <a:endParaRPr lang="en-US" sz="1400" dirty="0"/>
          </a:p>
        </p:txBody>
      </p:sp>
      <p:graphicFrame>
        <p:nvGraphicFramePr>
          <p:cNvPr id="21" name="Concept table"/>
          <p:cNvGraphicFramePr>
            <a:graphicFrameLocks noGrp="1"/>
          </p:cNvGraphicFramePr>
          <p:nvPr>
            <p:extLst>
              <p:ext uri="{D42A27DB-BD31-4B8C-83A1-F6EECF244321}">
                <p14:modId xmlns:p14="http://schemas.microsoft.com/office/powerpoint/2010/main" val="1579011935"/>
              </p:ext>
            </p:extLst>
          </p:nvPr>
        </p:nvGraphicFramePr>
        <p:xfrm>
          <a:off x="457200" y="2286000"/>
          <a:ext cx="5715000" cy="3243072"/>
        </p:xfrm>
        <a:graphic>
          <a:graphicData uri="http://schemas.openxmlformats.org/drawingml/2006/table">
            <a:tbl>
              <a:tblPr/>
              <a:tblGrid>
                <a:gridCol w="23774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Term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Measured or estimated by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chemeClr val="tx2"/>
                          </a:solidFill>
                        </a:rPr>
                        <a:t>GPP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Flux towers, SIF, light-use-efficiency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chemeClr val="tx2"/>
                          </a:solidFill>
                        </a:rPr>
                        <a:t>NPP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MOD17, CASA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chemeClr val="tx2"/>
                          </a:solidFill>
                        </a:rPr>
                        <a:t>NEE / NEP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Eddy-covariance towers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chemeClr val="tx2"/>
                          </a:solidFill>
                        </a:rPr>
                        <a:t>APAR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MODIS FAPAR and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chemeClr val="tx2"/>
                          </a:solidFill>
                        </a:rPr>
                        <a:t>Light-use efficiency (ε)</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LUE and two-leaf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chemeClr val="tx2"/>
                          </a:solidFill>
                        </a:rPr>
                        <a:t>Sunlit vs shaded leaves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Two-leaf canopy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2" name="Kanniah figure card"/>
          <p:cNvSpPr/>
          <p:nvPr/>
        </p:nvSpPr>
        <p:spPr>
          <a:xfrm>
            <a:off x="6446520" y="2286000"/>
            <a:ext cx="5285232" cy="3989517"/>
          </a:xfrm>
          <a:prstGeom prst="roundRect">
            <a:avLst>
              <a:gd name="adj" fmla="val 1604"/>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23" name="Kanniah figure title"/>
          <p:cNvSpPr txBox="1"/>
          <p:nvPr/>
        </p:nvSpPr>
        <p:spPr>
          <a:xfrm>
            <a:off x="6583680" y="2377440"/>
            <a:ext cx="5010912" cy="530352"/>
          </a:xfrm>
          <a:prstGeom prst="rect">
            <a:avLst/>
          </a:prstGeom>
          <a:noFill/>
          <a:ln/>
        </p:spPr>
        <p:txBody>
          <a:bodyPr wrap="square" lIns="0" tIns="0" rIns="0" bIns="0" rtlCol="0" anchor="t"/>
          <a:lstStyle/>
          <a:p>
            <a:pPr marL="0" indent="0">
              <a:buNone/>
            </a:pPr>
            <a:r>
              <a:rPr lang="en-US" sz="1400" b="1" dirty="0">
                <a:solidFill>
                  <a:schemeClr val="tx2"/>
                </a:solidFill>
              </a:rPr>
              <a:t>Direct and diffuse radiation in a canopy: sunlit and shaded leaves</a:t>
            </a:r>
            <a:endParaRPr lang="en-US" sz="1400" dirty="0"/>
          </a:p>
        </p:txBody>
      </p:sp>
      <p:pic>
        <p:nvPicPr>
          <p:cNvPr id="24" name="Kanniah figure" descr="Kanniah figure"/>
          <p:cNvPicPr>
            <a:picLocks noChangeAspect="1"/>
          </p:cNvPicPr>
          <p:nvPr/>
        </p:nvPicPr>
        <p:blipFill>
          <a:blip r:embed="rId3"/>
          <a:stretch>
            <a:fillRect/>
          </a:stretch>
        </p:blipFill>
        <p:spPr>
          <a:xfrm>
            <a:off x="6848856" y="2907792"/>
            <a:ext cx="4480560" cy="2937957"/>
          </a:xfrm>
          <a:prstGeom prst="rect">
            <a:avLst/>
          </a:prstGeom>
        </p:spPr>
      </p:pic>
      <p:sp>
        <p:nvSpPr>
          <p:cNvPr id="25" name="Kanniah figure source"/>
          <p:cNvSpPr txBox="1"/>
          <p:nvPr/>
        </p:nvSpPr>
        <p:spPr>
          <a:xfrm>
            <a:off x="6583680" y="5918901"/>
            <a:ext cx="5010912" cy="246888"/>
          </a:xfrm>
          <a:prstGeom prst="rect">
            <a:avLst/>
          </a:prstGeom>
          <a:noFill/>
          <a:ln/>
        </p:spPr>
        <p:txBody>
          <a:bodyPr wrap="square" lIns="0" tIns="0" rIns="0" bIns="0" rtlCol="0" anchor="t"/>
          <a:lstStyle/>
          <a:p>
            <a:pPr marL="0" indent="0">
              <a:buNone/>
            </a:pPr>
            <a:r>
              <a:rPr lang="en-US" sz="1400" i="1" dirty="0">
                <a:solidFill>
                  <a:schemeClr val="accent1"/>
                </a:solidFill>
              </a:rPr>
              <a:t>Source: Kanniah et al., 2012, Fig. 1</a:t>
            </a:r>
            <a:endParaRPr lang="en-US" sz="1400" dirty="0"/>
          </a:p>
        </p:txBody>
      </p:sp>
      <p:sp>
        <p:nvSpPr>
          <p:cNvPr id="26"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Measuring productivity on the ground</a:t>
            </a:r>
            <a:endParaRPr lang="en-US" sz="2800" dirty="0"/>
          </a:p>
        </p:txBody>
      </p:sp>
      <p:sp>
        <p:nvSpPr>
          <p:cNvPr id="4" name="Flux equation"/>
          <p:cNvSpPr/>
          <p:nvPr/>
        </p:nvSpPr>
        <p:spPr>
          <a:xfrm>
            <a:off x="457200" y="1280160"/>
            <a:ext cx="7040880" cy="502920"/>
          </a:xfrm>
          <a:prstGeom prst="roundRect">
            <a:avLst>
              <a:gd name="adj" fmla="val 10909"/>
            </a:avLst>
          </a:prstGeom>
          <a:solidFill>
            <a:schemeClr val="bg2"/>
          </a:solidFill>
          <a:ln w="12700">
            <a:solidFill>
              <a:schemeClr val="bg2"/>
            </a:solidFill>
            <a:prstDash val="solid"/>
          </a:ln>
        </p:spPr>
      </p:sp>
      <p:sp>
        <p:nvSpPr>
          <p:cNvPr id="5" name="Flux equation text"/>
          <p:cNvSpPr txBox="1"/>
          <p:nvPr/>
        </p:nvSpPr>
        <p:spPr>
          <a:xfrm>
            <a:off x="594360" y="1280160"/>
            <a:ext cx="6766560" cy="502920"/>
          </a:xfrm>
          <a:prstGeom prst="rect">
            <a:avLst/>
          </a:prstGeom>
          <a:noFill/>
          <a:ln/>
        </p:spPr>
        <p:txBody>
          <a:bodyPr wrap="square" lIns="0" tIns="0" rIns="0" bIns="0" rtlCol="0" anchor="ctr"/>
          <a:lstStyle/>
          <a:p>
            <a:pPr marL="0" indent="0">
              <a:buNone/>
            </a:pPr>
            <a:r>
              <a:rPr lang="en-US" sz="1400" b="1" dirty="0">
                <a:solidFill>
                  <a:schemeClr val="tx1"/>
                </a:solidFill>
              </a:rPr>
              <a:t>Flux tower:</a:t>
            </a:r>
            <a:r>
              <a:rPr lang="en-US" sz="1400" dirty="0">
                <a:solidFill>
                  <a:schemeClr val="tx1"/>
                </a:solidFill>
              </a:rPr>
              <a:t> NEE = ρ</a:t>
            </a:r>
            <a:r>
              <a:rPr lang="en-US" sz="1400" baseline="-40000" dirty="0">
                <a:solidFill>
                  <a:schemeClr val="tx1"/>
                </a:solidFill>
              </a:rPr>
              <a:t>a</a:t>
            </a:r>
            <a:r>
              <a:rPr lang="en-US" sz="1400" dirty="0">
                <a:solidFill>
                  <a:schemeClr val="tx1"/>
                </a:solidFill>
              </a:rPr>
              <a:t> · cov(w′, c′);  GPP = R</a:t>
            </a:r>
            <a:r>
              <a:rPr lang="en-US" sz="1400" baseline="-40000" dirty="0">
                <a:solidFill>
                  <a:schemeClr val="tx1"/>
                </a:solidFill>
              </a:rPr>
              <a:t>eco</a:t>
            </a:r>
            <a:r>
              <a:rPr lang="en-US" sz="1400" dirty="0">
                <a:solidFill>
                  <a:schemeClr val="tx1"/>
                </a:solidFill>
              </a:rPr>
              <a:t> − NEE</a:t>
            </a:r>
            <a:endParaRPr lang="en-US" sz="1400" dirty="0"/>
          </a:p>
        </p:txBody>
      </p:sp>
      <p:graphicFrame>
        <p:nvGraphicFramePr>
          <p:cNvPr id="18" name="Ground productivity table"/>
          <p:cNvGraphicFramePr>
            <a:graphicFrameLocks noGrp="1"/>
          </p:cNvGraphicFramePr>
          <p:nvPr>
            <p:extLst>
              <p:ext uri="{D42A27DB-BD31-4B8C-83A1-F6EECF244321}">
                <p14:modId xmlns:p14="http://schemas.microsoft.com/office/powerpoint/2010/main" val="1579011935"/>
              </p:ext>
            </p:extLst>
          </p:nvPr>
        </p:nvGraphicFramePr>
        <p:xfrm>
          <a:off x="457200" y="1920240"/>
          <a:ext cx="7040880" cy="2798064"/>
        </p:xfrm>
        <a:graphic>
          <a:graphicData uri="http://schemas.openxmlformats.org/drawingml/2006/table">
            <a:tbl>
              <a:tblPr/>
              <a:tblGrid>
                <a:gridCol w="1691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Approach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is measured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Link to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400" b="1" dirty="0">
                          <a:solidFill>
                            <a:schemeClr val="tx2"/>
                          </a:solidFill>
                        </a:rPr>
                        <a:t>Eddy covariance</a:t>
                      </a:r>
                      <a:endParaRPr lang="en-US" sz="1400" dirty="0"/>
                    </a:p>
                    <a:p>
                      <a:pPr marL="0" indent="0">
                        <a:buNone/>
                      </a:pPr>
                      <a:r>
                        <a:rPr lang="en-US" sz="1400" i="1" dirty="0">
                          <a:solidFill>
                            <a:schemeClr val="accent1"/>
                          </a:solidFill>
                        </a:rPr>
                        <a:t>Baldocchi,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Half-hourly CO</a:t>
                      </a:r>
                      <a:r>
                        <a:rPr lang="en-US" sz="1400" baseline="-40000" dirty="0">
                          <a:solidFill>
                            <a:schemeClr val="tx1"/>
                          </a:solidFill>
                        </a:rPr>
                        <a:t>2</a:t>
                      </a:r>
                      <a:r>
                        <a:rPr lang="en-US" sz="1400" dirty="0">
                          <a:solidFill>
                            <a:schemeClr val="tx1"/>
                          </a:solidFill>
                        </a:rPr>
                        <a:t> flux → GPP by partitioning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GPP on clear vs hazy days at the same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1400" b="1" dirty="0">
                          <a:solidFill>
                            <a:schemeClr val="tx2"/>
                          </a:solidFill>
                        </a:rPr>
                        <a:t>Leaf gas exchange</a:t>
                      </a:r>
                      <a:endParaRPr lang="en-US" sz="1400" dirty="0"/>
                    </a:p>
                    <a:p>
                      <a:pPr marL="0" indent="0">
                        <a:buNone/>
                      </a:pPr>
                      <a:r>
                        <a:rPr lang="en-US" sz="1400" i="1" dirty="0">
                          <a:solidFill>
                            <a:schemeClr val="accent1"/>
                          </a:solidFill>
                        </a:rPr>
                        <a:t>Farquhar et al., 1980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Leaf CO</a:t>
                      </a:r>
                      <a:r>
                        <a:rPr lang="en-US" sz="1400" baseline="-40000" dirty="0">
                          <a:solidFill>
                            <a:schemeClr val="tx1"/>
                          </a:solidFill>
                        </a:rPr>
                        <a:t>2</a:t>
                      </a:r>
                      <a:r>
                        <a:rPr lang="en-US" sz="1400" dirty="0">
                          <a:solidFill>
                            <a:schemeClr val="tx1"/>
                          </a:solidFill>
                        </a:rPr>
                        <a:t> uptake and stomatal conductance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Calibrates sun- and shade-leaf photosynthesis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b="1" dirty="0">
                          <a:solidFill>
                            <a:schemeClr val="tx2"/>
                          </a:solidFill>
                        </a:rPr>
                        <a:t>Harvest &amp; crop statistics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Biomass and grain yield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Yield regressed on AOD across years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1400" b="1" dirty="0">
                          <a:solidFill>
                            <a:schemeClr val="tx2"/>
                          </a:solidFill>
                        </a:rPr>
                        <a:t>Radiation sensors</a:t>
                      </a:r>
                      <a:endParaRPr lang="en-US" sz="1400" dirty="0"/>
                    </a:p>
                    <a:p>
                      <a:pPr marL="0" indent="0">
                        <a:buNone/>
                      </a:pPr>
                      <a:r>
                        <a:rPr lang="en-US" sz="1400" i="1" dirty="0">
                          <a:solidFill>
                            <a:schemeClr val="accent1"/>
                          </a:solidFill>
                        </a:rPr>
                        <a:t>Ohmura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Direct and diffuse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Shows the diffuse-fraction 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Flux sites figure card"/>
          <p:cNvSpPr/>
          <p:nvPr/>
        </p:nvSpPr>
        <p:spPr>
          <a:xfrm>
            <a:off x="7680960" y="1280160"/>
            <a:ext cx="4050792" cy="4114800"/>
          </a:xfrm>
          <a:prstGeom prst="roundRect">
            <a:avLst>
              <a:gd name="adj" fmla="val 158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8" name="Flux sites figure title"/>
          <p:cNvSpPr txBox="1"/>
          <p:nvPr/>
        </p:nvSpPr>
        <p:spPr>
          <a:xfrm>
            <a:off x="7818120" y="1371600"/>
            <a:ext cx="3776472" cy="530352"/>
          </a:xfrm>
          <a:prstGeom prst="rect">
            <a:avLst/>
          </a:prstGeom>
          <a:noFill/>
          <a:ln/>
        </p:spPr>
        <p:txBody>
          <a:bodyPr wrap="square" lIns="0" tIns="0" rIns="0" bIns="0" rtlCol="0" anchor="t"/>
          <a:lstStyle/>
          <a:p>
            <a:pPr marL="0" indent="0">
              <a:buNone/>
            </a:pPr>
            <a:r>
              <a:rPr lang="en-US" sz="1400" b="1" dirty="0">
                <a:solidFill>
                  <a:schemeClr val="tx2"/>
                </a:solidFill>
              </a:rPr>
              <a:t>GPP vs PAR under diffuse (red) and direct (blue) light at 10 FLUXNET sites</a:t>
            </a:r>
            <a:endParaRPr lang="en-US" sz="1400" dirty="0"/>
          </a:p>
        </p:txBody>
      </p:sp>
      <p:pic>
        <p:nvPicPr>
          <p:cNvPr id="9" name="Flux sites figure" descr="Flux sites figure"/>
          <p:cNvPicPr>
            <a:picLocks noChangeAspect="1"/>
          </p:cNvPicPr>
          <p:nvPr/>
        </p:nvPicPr>
        <p:blipFill>
          <a:blip r:embed="rId3"/>
          <a:stretch>
            <a:fillRect/>
          </a:stretch>
        </p:blipFill>
        <p:spPr>
          <a:xfrm>
            <a:off x="8087761" y="1901952"/>
            <a:ext cx="3237190" cy="2606040"/>
          </a:xfrm>
          <a:prstGeom prst="rect">
            <a:avLst/>
          </a:prstGeom>
        </p:spPr>
      </p:pic>
      <p:sp>
        <p:nvSpPr>
          <p:cNvPr id="10" name="Flux sites figure caption"/>
          <p:cNvSpPr txBox="1"/>
          <p:nvPr/>
        </p:nvSpPr>
        <p:spPr>
          <a:xfrm>
            <a:off x="7818120" y="4581144"/>
            <a:ext cx="3776472" cy="457200"/>
          </a:xfrm>
          <a:prstGeom prst="rect">
            <a:avLst/>
          </a:prstGeom>
          <a:noFill/>
          <a:ln/>
        </p:spPr>
        <p:txBody>
          <a:bodyPr wrap="square" lIns="0" tIns="0" rIns="0" bIns="0" rtlCol="0" anchor="t"/>
          <a:lstStyle/>
          <a:p>
            <a:pPr marL="0" indent="0">
              <a:buNone/>
            </a:pPr>
            <a:r>
              <a:rPr lang="en-US" sz="1400" dirty="0">
                <a:solidFill>
                  <a:schemeClr val="tx1"/>
                </a:solidFill>
              </a:rPr>
              <a:t>The same PAR gives more GPP when light is diffuse</a:t>
            </a:r>
            <a:endParaRPr lang="en-US" sz="1400" dirty="0"/>
          </a:p>
        </p:txBody>
      </p:sp>
      <p:sp>
        <p:nvSpPr>
          <p:cNvPr id="11" name="Flux sites figure source"/>
          <p:cNvSpPr txBox="1"/>
          <p:nvPr/>
        </p:nvSpPr>
        <p:spPr>
          <a:xfrm>
            <a:off x="7818120" y="5038344"/>
            <a:ext cx="3776472" cy="246888"/>
          </a:xfrm>
          <a:prstGeom prst="rect">
            <a:avLst/>
          </a:prstGeom>
          <a:noFill/>
          <a:ln/>
        </p:spPr>
        <p:txBody>
          <a:bodyPr wrap="square" lIns="0" tIns="0" rIns="0" bIns="0" rtlCol="0" anchor="t"/>
          <a:lstStyle/>
          <a:p>
            <a:pPr marL="0" indent="0">
              <a:buNone/>
            </a:pPr>
            <a:r>
              <a:rPr lang="en-US" sz="1400" i="1" dirty="0">
                <a:solidFill>
                  <a:schemeClr val="accent1"/>
                </a:solidFill>
              </a:rPr>
              <a:t>Source: Zhou et al., 2022, Fig. 1</a:t>
            </a:r>
            <a:endParaRPr lang="en-US" sz="1400" dirty="0"/>
          </a:p>
        </p:txBody>
      </p:sp>
      <p:sp>
        <p:nvSpPr>
          <p:cNvPr id="12" name="Sensitivity callout card"/>
          <p:cNvSpPr/>
          <p:nvPr/>
        </p:nvSpPr>
        <p:spPr>
          <a:xfrm>
            <a:off x="457200" y="5029200"/>
            <a:ext cx="3429000" cy="1143000"/>
          </a:xfrm>
          <a:prstGeom prst="roundRect">
            <a:avLst>
              <a:gd name="adj" fmla="val 560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3" name="Sensitivity callout text"/>
          <p:cNvSpPr txBox="1"/>
          <p:nvPr/>
        </p:nvSpPr>
        <p:spPr>
          <a:xfrm>
            <a:off x="566928" y="5074920"/>
            <a:ext cx="3209544" cy="1051560"/>
          </a:xfrm>
          <a:prstGeom prst="rect">
            <a:avLst/>
          </a:prstGeom>
          <a:noFill/>
          <a:ln/>
        </p:spPr>
        <p:txBody>
          <a:bodyPr wrap="square" lIns="0" tIns="0" rIns="0" bIns="0" rtlCol="0" anchor="ctr"/>
          <a:lstStyle/>
          <a:p>
            <a:pPr marL="0" indent="0" algn="ctr">
              <a:buNone/>
            </a:pPr>
            <a:r>
              <a:rPr lang="en-US" sz="2600" b="1" dirty="0">
                <a:solidFill>
                  <a:schemeClr val="accent3"/>
                </a:solidFill>
              </a:rPr>
              <a:t>+0.3–0.7%</a:t>
            </a:r>
            <a:endParaRPr lang="en-US" sz="2600" dirty="0"/>
          </a:p>
          <a:p>
            <a:pPr marL="0" indent="0" algn="ctr">
              <a:buNone/>
            </a:pPr>
            <a:r>
              <a:rPr lang="en-US" sz="1400" dirty="0">
                <a:solidFill>
                  <a:schemeClr val="tx1"/>
                </a:solidFill>
              </a:rPr>
              <a:t>GPP per extra W m⁻² of diffuse PAR (24 FLUXNET sites)</a:t>
            </a:r>
            <a:endParaRPr lang="en-US" sz="2600" dirty="0"/>
          </a:p>
          <a:p>
            <a:pPr marL="0" indent="0" algn="ctr">
              <a:buNone/>
            </a:pPr>
            <a:r>
              <a:rPr lang="en-US" sz="1400" i="1" dirty="0">
                <a:solidFill>
                  <a:schemeClr val="accent1"/>
                </a:solidFill>
              </a:rPr>
              <a:t>Yue &amp; Unger, 2018</a:t>
            </a:r>
            <a:endParaRPr lang="en-US" sz="2600" dirty="0"/>
          </a:p>
        </p:txBody>
      </p:sp>
      <p:sp>
        <p:nvSpPr>
          <p:cNvPr id="14" name="Tower limit strip"/>
          <p:cNvSpPr/>
          <p:nvPr/>
        </p:nvSpPr>
        <p:spPr>
          <a:xfrm>
            <a:off x="4069080" y="5029200"/>
            <a:ext cx="3429000" cy="1143000"/>
          </a:xfrm>
          <a:prstGeom prst="roundRect">
            <a:avLst>
              <a:gd name="adj" fmla="val 4800"/>
            </a:avLst>
          </a:prstGeom>
          <a:solidFill>
            <a:schemeClr val="bg2"/>
          </a:solidFill>
          <a:ln w="12700">
            <a:solidFill>
              <a:schemeClr val="bg2"/>
            </a:solidFill>
            <a:prstDash val="solid"/>
          </a:ln>
        </p:spPr>
      </p:sp>
      <p:sp>
        <p:nvSpPr>
          <p:cNvPr id="15" name="Tower limit strip text"/>
          <p:cNvSpPr txBox="1"/>
          <p:nvPr/>
        </p:nvSpPr>
        <p:spPr>
          <a:xfrm>
            <a:off x="4206240" y="5029200"/>
            <a:ext cx="3154680" cy="1143000"/>
          </a:xfrm>
          <a:prstGeom prst="rect">
            <a:avLst/>
          </a:prstGeom>
          <a:noFill/>
          <a:ln/>
        </p:spPr>
        <p:txBody>
          <a:bodyPr wrap="square" lIns="0" tIns="0" rIns="0" bIns="0" rtlCol="0" anchor="ctr"/>
          <a:lstStyle/>
          <a:p>
            <a:pPr marL="0" indent="0">
              <a:buNone/>
            </a:pPr>
            <a:r>
              <a:rPr lang="en-US" sz="1400" b="1" dirty="0">
                <a:solidFill>
                  <a:schemeClr val="tx1"/>
                </a:solidFill>
              </a:rPr>
              <a:t>Strength:</a:t>
            </a:r>
            <a:r>
              <a:rPr lang="en-US" sz="1400" dirty="0">
                <a:solidFill>
                  <a:schemeClr val="tx1"/>
                </a:solidFill>
              </a:rPr>
              <a:t> direct, half-hourly carbon flux. </a:t>
            </a:r>
            <a:r>
              <a:rPr lang="en-US" sz="1400" b="1" dirty="0">
                <a:solidFill>
                  <a:schemeClr val="tx1"/>
                </a:solidFill>
              </a:rPr>
              <a:t>Limit:</a:t>
            </a:r>
            <a:r>
              <a:rPr lang="en-US" sz="1400" dirty="0">
                <a:solidFill>
                  <a:schemeClr val="tx1"/>
                </a:solidFill>
              </a:rPr>
              <a:t> ~1 km² footprint; very few towers over Indian croplands.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productivity proxies I: vegetation indices and canopy structure</a:t>
            </a:r>
            <a:endParaRPr lang="en-US" sz="2800" dirty="0"/>
          </a:p>
        </p:txBody>
      </p:sp>
      <p:graphicFrame>
        <p:nvGraphicFramePr>
          <p:cNvPr id="19" name="VI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3785616"/>
        </p:xfrm>
        <a:graphic>
          <a:graphicData uri="http://schemas.openxmlformats.org/drawingml/2006/table">
            <a:tbl>
              <a:tblPr/>
              <a:tblGrid>
                <a:gridCol w="14173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Index</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Formula · product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Strength / limit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NDVI</a:t>
                      </a:r>
                      <a:endParaRPr lang="en-US" sz="1400" dirty="0"/>
                    </a:p>
                    <a:p>
                      <a:pPr marL="0" indent="0">
                        <a:buNone/>
                      </a:pPr>
                      <a:r>
                        <a:rPr lang="en-US" sz="1400" i="1" dirty="0">
                          <a:solidFill>
                            <a:schemeClr val="accent1"/>
                          </a:solidFill>
                        </a:rPr>
                        <a:t>Tucker, 1979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(NIR − Red)/(NIR + Red); MOD13, 250 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Simple; saturates in dense canopies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EVI</a:t>
                      </a:r>
                      <a:endParaRPr lang="en-US" sz="1400" dirty="0"/>
                    </a:p>
                    <a:p>
                      <a:pPr marL="0" indent="0">
                        <a:buNone/>
                      </a:pPr>
                      <a:r>
                        <a:rPr lang="en-US" sz="1400" i="1" dirty="0">
                          <a:solidFill>
                            <a:schemeClr val="accent1"/>
                          </a:solidFill>
                        </a:rPr>
                        <a:t>Huete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Adds blue band and soil term; MOD13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Less saturation; good for 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NIRv</a:t>
                      </a:r>
                      <a:endParaRPr lang="en-US" sz="1400" dirty="0"/>
                    </a:p>
                    <a:p>
                      <a:pPr marL="0" indent="0">
                        <a:buNone/>
                      </a:pPr>
                      <a:r>
                        <a:rPr lang="en-US" sz="1400" i="1" dirty="0">
                          <a:solidFill>
                            <a:schemeClr val="accent1"/>
                          </a:solidFill>
                        </a:rPr>
                        <a:t>Badgley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NDVI × NIR reflectance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Tracks the photosynthesising canopy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kNDVI</a:t>
                      </a:r>
                      <a:endParaRPr lang="en-US" sz="1400" dirty="0"/>
                    </a:p>
                    <a:p>
                      <a:pPr marL="0" indent="0">
                        <a:buNone/>
                      </a:pPr>
                      <a:r>
                        <a:rPr lang="en-US" sz="1400" i="1" dirty="0">
                          <a:solidFill>
                            <a:schemeClr val="accent1"/>
                          </a:solidFill>
                        </a:rPr>
                        <a:t>Camps-Valls et al.,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tanh(NDVI²), kernel NDVI</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Robust for shrubs and forests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chemeClr val="tx2"/>
                          </a:solidFill>
                        </a:rPr>
                        <a:t>LAI &amp; FAPAR</a:t>
                      </a:r>
                      <a:endParaRPr lang="en-US" sz="1400" dirty="0"/>
                    </a:p>
                    <a:p>
                      <a:pPr marL="0" indent="0">
                        <a:buNone/>
                      </a:pPr>
                      <a:r>
                        <a:rPr lang="en-US" sz="1400" i="1" dirty="0">
                          <a:solidFill>
                            <a:schemeClr val="accent1"/>
                          </a:solidFill>
                        </a:rPr>
                        <a:t>Myneni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MOD15, 500 m, 8-day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Leaf area and light absorbed (APAR)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VI figure card"/>
          <p:cNvSpPr/>
          <p:nvPr/>
        </p:nvSpPr>
        <p:spPr>
          <a:xfrm>
            <a:off x="7818120" y="1280160"/>
            <a:ext cx="3913632" cy="3847923"/>
          </a:xfrm>
          <a:prstGeom prst="roundRect">
            <a:avLst>
              <a:gd name="adj" fmla="val 166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VI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Cropland: NIRv and EVI (blue) and tower GPP (orange) across AOD bins</a:t>
            </a:r>
            <a:endParaRPr lang="en-US" sz="1400" dirty="0"/>
          </a:p>
        </p:txBody>
      </p:sp>
      <p:pic>
        <p:nvPicPr>
          <p:cNvPr id="7" name="VI figure" descr="VI figure"/>
          <p:cNvPicPr>
            <a:picLocks noChangeAspect="1"/>
          </p:cNvPicPr>
          <p:nvPr/>
        </p:nvPicPr>
        <p:blipFill>
          <a:blip r:embed="rId3"/>
          <a:srcRect l="17189"/>
          <a:stretch>
            <a:fillRect/>
          </a:stretch>
        </p:blipFill>
        <p:spPr>
          <a:xfrm>
            <a:off x="8260485" y="1865376"/>
            <a:ext cx="3028902" cy="2339163"/>
          </a:xfrm>
          <a:prstGeom prst="rect">
            <a:avLst/>
          </a:prstGeom>
        </p:spPr>
      </p:pic>
      <p:sp>
        <p:nvSpPr>
          <p:cNvPr id="8" name="VI figure caption"/>
          <p:cNvSpPr txBox="1"/>
          <p:nvPr/>
        </p:nvSpPr>
        <p:spPr>
          <a:xfrm>
            <a:off x="7955280" y="4314267"/>
            <a:ext cx="3639312" cy="457200"/>
          </a:xfrm>
          <a:prstGeom prst="rect">
            <a:avLst/>
          </a:prstGeom>
          <a:noFill/>
          <a:ln/>
        </p:spPr>
        <p:txBody>
          <a:bodyPr wrap="square" lIns="0" tIns="0" rIns="0" bIns="0" rtlCol="0" anchor="t"/>
          <a:lstStyle/>
          <a:p>
            <a:pPr marL="0" indent="0">
              <a:buNone/>
            </a:pPr>
            <a:r>
              <a:rPr lang="en-US" sz="1400" dirty="0">
                <a:solidFill>
                  <a:schemeClr val="tx1"/>
                </a:solidFill>
              </a:rPr>
              <a:t>VIs follow GPP (cropland: EVI R = 0.87, NIRv R = 0.86)</a:t>
            </a:r>
            <a:endParaRPr lang="en-US" sz="1400" dirty="0"/>
          </a:p>
        </p:txBody>
      </p:sp>
      <p:sp>
        <p:nvSpPr>
          <p:cNvPr id="9" name="VI figure source"/>
          <p:cNvSpPr txBox="1"/>
          <p:nvPr/>
        </p:nvSpPr>
        <p:spPr>
          <a:xfrm>
            <a:off x="7955280" y="4771467"/>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Zhang et al., 2023, Fig. 6</a:t>
            </a:r>
            <a:endParaRPr lang="en-US" sz="1400" dirty="0"/>
          </a:p>
        </p:txBody>
      </p:sp>
      <p:sp>
        <p:nvSpPr>
          <p:cNvPr id="10" name="Caution strip"/>
          <p:cNvSpPr/>
          <p:nvPr/>
        </p:nvSpPr>
        <p:spPr>
          <a:xfrm>
            <a:off x="457200" y="5486400"/>
            <a:ext cx="11274552" cy="594360"/>
          </a:xfrm>
          <a:prstGeom prst="roundRect">
            <a:avLst>
              <a:gd name="adj" fmla="val 9231"/>
            </a:avLst>
          </a:prstGeom>
          <a:solidFill>
            <a:schemeClr val="bg2"/>
          </a:solidFill>
          <a:ln w="12700">
            <a:solidFill>
              <a:schemeClr val="bg2"/>
            </a:solidFill>
            <a:prstDash val="solid"/>
          </a:ln>
        </p:spPr>
      </p:sp>
      <p:sp>
        <p:nvSpPr>
          <p:cNvPr id="11" name="Caution strip text"/>
          <p:cNvSpPr txBox="1"/>
          <p:nvPr/>
        </p:nvSpPr>
        <p:spPr>
          <a:xfrm>
            <a:off x="594360" y="5486400"/>
            <a:ext cx="11000232" cy="594360"/>
          </a:xfrm>
          <a:prstGeom prst="rect">
            <a:avLst/>
          </a:prstGeom>
          <a:noFill/>
          <a:ln/>
        </p:spPr>
        <p:txBody>
          <a:bodyPr wrap="square" lIns="0" tIns="0" rIns="0" bIns="0" rtlCol="0" anchor="ctr"/>
          <a:lstStyle/>
          <a:p>
            <a:pPr marL="0" indent="0">
              <a:buNone/>
            </a:pPr>
            <a:r>
              <a:rPr lang="en-US" sz="1400" b="1" dirty="0">
                <a:solidFill>
                  <a:schemeClr val="tx1"/>
                </a:solidFill>
              </a:rPr>
              <a:t>Caution:</a:t>
            </a:r>
            <a:r>
              <a:rPr lang="en-US" sz="1400" dirty="0">
                <a:solidFill>
                  <a:schemeClr val="tx1"/>
                </a:solidFill>
              </a:rPr>
              <a:t> greenness is not photosynthesis; a green but stressed canopy can still look productive.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4 · Remote sensing of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Satellite productivity proxies II: SIF and productivity products</a:t>
            </a:r>
            <a:endParaRPr lang="en-US" sz="2800" dirty="0"/>
          </a:p>
        </p:txBody>
      </p:sp>
      <p:graphicFrame>
        <p:nvGraphicFramePr>
          <p:cNvPr id="20" name="SIF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4401312"/>
        </p:xfrm>
        <a:graphic>
          <a:graphicData uri="http://schemas.openxmlformats.org/drawingml/2006/table">
            <a:tbl>
              <a:tblPr/>
              <a:tblGrid>
                <a:gridCol w="20574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Product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Use / limit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400" b="1" dirty="0">
                          <a:solidFill>
                            <a:schemeClr val="tx2"/>
                          </a:solidFill>
                        </a:rPr>
                        <a:t>SIF: GOME-2, OCO-2, TROPOMI</a:t>
                      </a:r>
                      <a:endParaRPr lang="en-US" sz="1400" dirty="0"/>
                    </a:p>
                    <a:p>
                      <a:pPr marL="0" indent="0">
                        <a:buNone/>
                      </a:pPr>
                      <a:r>
                        <a:rPr lang="en-US" sz="1400" i="1" dirty="0">
                          <a:solidFill>
                            <a:schemeClr val="accent1"/>
                          </a:solidFill>
                        </a:rPr>
                        <a:t>Joiner et al., 2013; Köhler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Chlorophyll fluorescence near 740 nm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Tracks photosynthesis within hours; noisy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1400" b="1" dirty="0">
                          <a:solidFill>
                            <a:schemeClr val="tx2"/>
                          </a:solidFill>
                        </a:rPr>
                        <a:t>GOSIF</a:t>
                      </a:r>
                      <a:endParaRPr lang="en-US" sz="1400" dirty="0"/>
                    </a:p>
                    <a:p>
                      <a:pPr marL="0" indent="0">
                        <a:buNone/>
                      </a:pPr>
                      <a:r>
                        <a:rPr lang="en-US" sz="1400" i="1" dirty="0">
                          <a:solidFill>
                            <a:schemeClr val="accent1"/>
                          </a:solidFill>
                        </a:rPr>
                        <a:t>Li &amp; Xiao,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0.05°, 8-day SIF from OCO-2 + MODIS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Long, continuous record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b="1" dirty="0">
                          <a:solidFill>
                            <a:schemeClr val="tx2"/>
                          </a:solidFill>
                        </a:rPr>
                        <a:t>SIF yield</a:t>
                      </a:r>
                      <a:endParaRPr lang="en-US" sz="1400" dirty="0"/>
                    </a:p>
                    <a:p>
                      <a:pPr marL="0" indent="0">
                        <a:buNone/>
                      </a:pPr>
                      <a:r>
                        <a:rPr lang="en-US" sz="1400" i="1" dirty="0">
                          <a:solidFill>
                            <a:schemeClr val="accent1"/>
                          </a:solidFill>
                        </a:rPr>
                        <a:t>Behera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SIF / APAR: physiological signal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Detects stress 1–2 months earlier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1400" b="1" dirty="0">
                          <a:solidFill>
                            <a:schemeClr val="tx2"/>
                          </a:solidFill>
                        </a:rPr>
                        <a:t>MOD17 GPP / NPP</a:t>
                      </a:r>
                      <a:endParaRPr lang="en-US" sz="1400" dirty="0"/>
                    </a:p>
                    <a:p>
                      <a:pPr marL="0" indent="0">
                        <a:buNone/>
                      </a:pPr>
                      <a:r>
                        <a:rPr lang="en-US" sz="1400" i="1" dirty="0">
                          <a:solidFill>
                            <a:schemeClr val="accent1"/>
                          </a:solidFill>
                        </a:rPr>
                        <a:t>Running et al., 2004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LUE model, 500 m, 8-day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No diffuse-light term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b="1" dirty="0">
                          <a:solidFill>
                            <a:schemeClr val="tx2"/>
                          </a:solidFill>
                        </a:rPr>
                        <a:t>FLUXCOM GPP</a:t>
                      </a:r>
                      <a:endParaRPr lang="en-US" sz="1400" dirty="0"/>
                    </a:p>
                    <a:p>
                      <a:pPr marL="0" indent="0">
                        <a:buNone/>
                      </a:pPr>
                      <a:r>
                        <a:rPr lang="en-US" sz="1400" i="1" dirty="0">
                          <a:solidFill>
                            <a:schemeClr val="accent1"/>
                          </a:solidFill>
                        </a:rPr>
                        <a:t>Jung et al., 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Machine-learning upscaling of FLUXNET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Gridded but coarse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03504">
                <a:tc>
                  <a:txBody>
                    <a:bodyPr/>
                    <a:lstStyle/>
                    <a:p>
                      <a:pPr marL="0" indent="0">
                        <a:buNone/>
                      </a:pPr>
                      <a:r>
                        <a:rPr lang="en-US" sz="1400" b="1" dirty="0">
                          <a:solidFill>
                            <a:schemeClr val="tx2"/>
                          </a:solidFill>
                        </a:rPr>
                        <a:t>Yield statistics &amp; crop models</a:t>
                      </a:r>
                      <a:endParaRPr lang="en-US" sz="1400" dirty="0"/>
                    </a:p>
                    <a:p>
                      <a:pPr marL="0" indent="0">
                        <a:buNone/>
                      </a:pPr>
                      <a:r>
                        <a:rPr lang="en-US" sz="1400" i="1" dirty="0">
                          <a:solidFill>
                            <a:schemeClr val="accent1"/>
                          </a:solidFill>
                        </a:rPr>
                        <a:t>Jones et al.,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District yield; DSSAT, WOFOST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Agricultural end point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Behera figure card"/>
          <p:cNvSpPr/>
          <p:nvPr/>
        </p:nvSpPr>
        <p:spPr>
          <a:xfrm>
            <a:off x="7818120" y="1280160"/>
            <a:ext cx="3913632" cy="3396554"/>
          </a:xfrm>
          <a:prstGeom prst="roundRect">
            <a:avLst>
              <a:gd name="adj" fmla="val 1884"/>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Behera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India: leading spatial patterns (EOF) of GPP, drought indices, CSIF and SIF yield</a:t>
            </a:r>
            <a:endParaRPr lang="en-US" sz="1400" dirty="0"/>
          </a:p>
        </p:txBody>
      </p:sp>
      <p:pic>
        <p:nvPicPr>
          <p:cNvPr id="7" name="Behera figure" descr="Behera figure"/>
          <p:cNvPicPr>
            <a:picLocks noChangeAspect="1"/>
          </p:cNvPicPr>
          <p:nvPr/>
        </p:nvPicPr>
        <p:blipFill>
          <a:blip r:embed="rId3"/>
          <a:stretch>
            <a:fillRect/>
          </a:stretch>
        </p:blipFill>
        <p:spPr>
          <a:xfrm>
            <a:off x="7946136" y="1901952"/>
            <a:ext cx="3657600" cy="1887794"/>
          </a:xfrm>
          <a:prstGeom prst="rect">
            <a:avLst/>
          </a:prstGeom>
        </p:spPr>
      </p:pic>
      <p:sp>
        <p:nvSpPr>
          <p:cNvPr id="8" name="Behera figure caption"/>
          <p:cNvSpPr txBox="1"/>
          <p:nvPr/>
        </p:nvSpPr>
        <p:spPr>
          <a:xfrm>
            <a:off x="7955280" y="3862898"/>
            <a:ext cx="3639312" cy="457200"/>
          </a:xfrm>
          <a:prstGeom prst="rect">
            <a:avLst/>
          </a:prstGeom>
          <a:noFill/>
          <a:ln/>
        </p:spPr>
        <p:txBody>
          <a:bodyPr wrap="square" lIns="0" tIns="0" rIns="0" bIns="0" rtlCol="0" anchor="t"/>
          <a:lstStyle/>
          <a:p>
            <a:pPr marL="0" indent="0">
              <a:buNone/>
            </a:pPr>
            <a:r>
              <a:rPr lang="en-US" sz="1400" dirty="0">
                <a:solidFill>
                  <a:schemeClr val="tx1"/>
                </a:solidFill>
              </a:rPr>
              <a:t>SIF yield follows GPP and leads other indicators</a:t>
            </a:r>
            <a:endParaRPr lang="en-US" sz="1400" dirty="0"/>
          </a:p>
        </p:txBody>
      </p:sp>
      <p:sp>
        <p:nvSpPr>
          <p:cNvPr id="9" name="Behera figure source"/>
          <p:cNvSpPr txBox="1"/>
          <p:nvPr/>
        </p:nvSpPr>
        <p:spPr>
          <a:xfrm>
            <a:off x="7955280" y="4320098"/>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Behera et al., 2025, Fig. 1a</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19</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5 · Linking aerosols to productivity</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Process models that link aerosols to productivity</a:t>
            </a:r>
            <a:endParaRPr lang="en-US" sz="2800" dirty="0"/>
          </a:p>
        </p:txBody>
      </p:sp>
      <p:sp>
        <p:nvSpPr>
          <p:cNvPr id="4" name="Model equation"/>
          <p:cNvSpPr/>
          <p:nvPr/>
        </p:nvSpPr>
        <p:spPr>
          <a:xfrm>
            <a:off x="457200" y="1280160"/>
            <a:ext cx="7132320" cy="502920"/>
          </a:xfrm>
          <a:prstGeom prst="roundRect">
            <a:avLst>
              <a:gd name="adj" fmla="val 10909"/>
            </a:avLst>
          </a:prstGeom>
          <a:solidFill>
            <a:schemeClr val="bg2"/>
          </a:solidFill>
          <a:ln w="12700">
            <a:solidFill>
              <a:schemeClr val="bg2"/>
            </a:solidFill>
            <a:prstDash val="solid"/>
          </a:ln>
        </p:spPr>
      </p:sp>
      <p:sp>
        <p:nvSpPr>
          <p:cNvPr id="5" name="Model equation text"/>
          <p:cNvSpPr txBox="1"/>
          <p:nvPr/>
        </p:nvSpPr>
        <p:spPr>
          <a:xfrm>
            <a:off x="594360" y="1280160"/>
            <a:ext cx="6858000" cy="502920"/>
          </a:xfrm>
          <a:prstGeom prst="rect">
            <a:avLst/>
          </a:prstGeom>
          <a:noFill/>
          <a:ln/>
        </p:spPr>
        <p:txBody>
          <a:bodyPr wrap="square" lIns="0" tIns="0" rIns="0" bIns="0" rtlCol="0" anchor="ctr"/>
          <a:lstStyle/>
          <a:p>
            <a:pPr marL="0" indent="0">
              <a:buNone/>
            </a:pPr>
            <a:r>
              <a:rPr lang="en-US" sz="1400" dirty="0">
                <a:solidFill>
                  <a:schemeClr val="tx1"/>
                </a:solidFill>
              </a:rPr>
              <a:t>GPP = ε × FAPAR × PAR;   ε = ε</a:t>
            </a:r>
            <a:r>
              <a:rPr lang="en-US" sz="1400" baseline="-40000" dirty="0">
                <a:solidFill>
                  <a:schemeClr val="tx1"/>
                </a:solidFill>
              </a:rPr>
              <a:t>dir</a:t>
            </a:r>
            <a:r>
              <a:rPr lang="en-US" sz="1400" dirty="0">
                <a:solidFill>
                  <a:schemeClr val="tx1"/>
                </a:solidFill>
              </a:rPr>
              <a:t>(1 − f</a:t>
            </a:r>
            <a:r>
              <a:rPr lang="en-US" sz="1400" baseline="-40000" dirty="0">
                <a:solidFill>
                  <a:schemeClr val="tx1"/>
                </a:solidFill>
              </a:rPr>
              <a:t>dif</a:t>
            </a:r>
            <a:r>
              <a:rPr lang="en-US" sz="1400" dirty="0">
                <a:solidFill>
                  <a:schemeClr val="tx1"/>
                </a:solidFill>
              </a:rPr>
              <a:t>) + ε</a:t>
            </a:r>
            <a:r>
              <a:rPr lang="en-US" sz="1400" baseline="-40000" dirty="0">
                <a:solidFill>
                  <a:schemeClr val="tx1"/>
                </a:solidFill>
              </a:rPr>
              <a:t>dif</a:t>
            </a:r>
            <a:r>
              <a:rPr lang="en-US" sz="1400" dirty="0">
                <a:solidFill>
                  <a:schemeClr val="tx1"/>
                </a:solidFill>
              </a:rPr>
              <a:t> f</a:t>
            </a:r>
            <a:r>
              <a:rPr lang="en-US" sz="1400" baseline="-40000" dirty="0">
                <a:solidFill>
                  <a:schemeClr val="tx1"/>
                </a:solidFill>
              </a:rPr>
              <a:t>dif</a:t>
            </a:r>
            <a:r>
              <a:rPr lang="en-US" sz="1400" dirty="0">
                <a:solidFill>
                  <a:schemeClr val="tx1"/>
                </a:solidFill>
              </a:rPr>
              <a:t>,  with ε</a:t>
            </a:r>
            <a:r>
              <a:rPr lang="en-US" sz="1400" baseline="-40000" dirty="0">
                <a:solidFill>
                  <a:schemeClr val="tx1"/>
                </a:solidFill>
              </a:rPr>
              <a:t>dif</a:t>
            </a:r>
            <a:r>
              <a:rPr lang="en-US" sz="1400" dirty="0">
                <a:solidFill>
                  <a:schemeClr val="tx1"/>
                </a:solidFill>
              </a:rPr>
              <a:t> &gt; ε</a:t>
            </a:r>
            <a:r>
              <a:rPr lang="en-US" sz="1400" baseline="-40000" dirty="0">
                <a:solidFill>
                  <a:schemeClr val="tx1"/>
                </a:solidFill>
              </a:rPr>
              <a:t>dir</a:t>
            </a:r>
            <a:endParaRPr lang="en-US" sz="1400" dirty="0"/>
          </a:p>
        </p:txBody>
      </p:sp>
      <p:graphicFrame>
        <p:nvGraphicFramePr>
          <p:cNvPr id="23" name="Model table"/>
          <p:cNvGraphicFramePr>
            <a:graphicFrameLocks noGrp="1"/>
          </p:cNvGraphicFramePr>
          <p:nvPr>
            <p:extLst>
              <p:ext uri="{D42A27DB-BD31-4B8C-83A1-F6EECF244321}">
                <p14:modId xmlns:p14="http://schemas.microsoft.com/office/powerpoint/2010/main" val="1579011935"/>
              </p:ext>
            </p:extLst>
          </p:nvPr>
        </p:nvGraphicFramePr>
        <p:xfrm>
          <a:off x="457200" y="1920240"/>
          <a:ext cx="7132320" cy="3017520"/>
        </p:xfrm>
        <a:graphic>
          <a:graphicData uri="http://schemas.openxmlformats.org/drawingml/2006/table">
            <a:tbl>
              <a:tblPr/>
              <a:tblGrid>
                <a:gridCol w="1965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Model family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Examples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adds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Light-use efficiency</a:t>
                      </a:r>
                      <a:endParaRPr lang="en-US" sz="1400" dirty="0"/>
                    </a:p>
                    <a:p>
                      <a:pPr marL="0" indent="0">
                        <a:buNone/>
                      </a:pPr>
                      <a:r>
                        <a:rPr lang="en-US" sz="1400" i="1" dirty="0">
                          <a:solidFill>
                            <a:schemeClr val="accent1"/>
                          </a:solidFill>
                        </a:rPr>
                        <a:t>Yuan et al., 2007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MOD17, CASA, VPM, EC-LUE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Separate efficiency for diffuse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Two-leaf process</a:t>
                      </a:r>
                      <a:endParaRPr lang="en-US" sz="1400" dirty="0"/>
                    </a:p>
                    <a:p>
                      <a:pPr marL="0" indent="0">
                        <a:buNone/>
                      </a:pPr>
                      <a:r>
                        <a:rPr lang="en-US" sz="1400" i="1" dirty="0">
                          <a:solidFill>
                            <a:schemeClr val="accent1"/>
                          </a:solidFill>
                        </a:rPr>
                        <a:t>Chen et al., 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BEPS, Biome-BGC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Sunlit-leaf GPP falls, shaded-leaf GPP rises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Crop simulation</a:t>
                      </a:r>
                      <a:endParaRPr lang="en-US" sz="1400" dirty="0"/>
                    </a:p>
                    <a:p>
                      <a:pPr marL="0" indent="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CERES/DSSAT, WOFOST, APSIM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Yield under hazy vs clean-sky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Global land models</a:t>
                      </a:r>
                      <a:endParaRPr lang="en-US" sz="1400" dirty="0"/>
                    </a:p>
                    <a:p>
                      <a:pPr marL="0" indent="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JULES, ORCHIDEE, YIBs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Global GPP/NPP change in Pg C yr</a:t>
                      </a:r>
                      <a:r>
                        <a:rPr lang="en-US" sz="1400" baseline="30000" dirty="0">
                          <a:solidFill>
                            <a:schemeClr val="tx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BEPS figure card"/>
          <p:cNvSpPr/>
          <p:nvPr/>
        </p:nvSpPr>
        <p:spPr>
          <a:xfrm>
            <a:off x="7818120" y="1280160"/>
            <a:ext cx="3913632" cy="2964105"/>
          </a:xfrm>
          <a:prstGeom prst="roundRect">
            <a:avLst>
              <a:gd name="adj" fmla="val 2159"/>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8" name="BEPS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BEPS cropland GPP without (S1) and with (S2) aerosol</a:t>
            </a:r>
            <a:endParaRPr lang="en-US" sz="1400" dirty="0"/>
          </a:p>
        </p:txBody>
      </p:sp>
      <p:pic>
        <p:nvPicPr>
          <p:cNvPr id="9" name="BEPS figure" descr="BEPS figure"/>
          <p:cNvPicPr>
            <a:picLocks noChangeAspect="1"/>
          </p:cNvPicPr>
          <p:nvPr/>
        </p:nvPicPr>
        <p:blipFill>
          <a:blip r:embed="rId3"/>
          <a:stretch>
            <a:fillRect/>
          </a:stretch>
        </p:blipFill>
        <p:spPr>
          <a:xfrm>
            <a:off x="7946136" y="1901952"/>
            <a:ext cx="3657600" cy="1683945"/>
          </a:xfrm>
          <a:prstGeom prst="rect">
            <a:avLst/>
          </a:prstGeom>
        </p:spPr>
      </p:pic>
      <p:sp>
        <p:nvSpPr>
          <p:cNvPr id="10" name="BEPS figure caption"/>
          <p:cNvSpPr txBox="1"/>
          <p:nvPr/>
        </p:nvSpPr>
        <p:spPr>
          <a:xfrm>
            <a:off x="7955280" y="3659049"/>
            <a:ext cx="3639312" cy="228600"/>
          </a:xfrm>
          <a:prstGeom prst="rect">
            <a:avLst/>
          </a:prstGeom>
          <a:noFill/>
          <a:ln/>
        </p:spPr>
        <p:txBody>
          <a:bodyPr wrap="square" lIns="0" tIns="0" rIns="0" bIns="0" rtlCol="0" anchor="t"/>
          <a:lstStyle/>
          <a:p>
            <a:pPr marL="0" indent="0">
              <a:buNone/>
            </a:pPr>
            <a:r>
              <a:rPr lang="en-US" sz="1400" dirty="0">
                <a:solidFill>
                  <a:schemeClr val="tx1"/>
                </a:solidFill>
              </a:rPr>
              <a:t>Sunlit leaves lose, shaded leaves gain</a:t>
            </a:r>
            <a:endParaRPr lang="en-US" sz="1400" dirty="0"/>
          </a:p>
        </p:txBody>
      </p:sp>
      <p:sp>
        <p:nvSpPr>
          <p:cNvPr id="11" name="BEPS figure source"/>
          <p:cNvSpPr txBox="1"/>
          <p:nvPr/>
        </p:nvSpPr>
        <p:spPr>
          <a:xfrm>
            <a:off x="7955280" y="3887649"/>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Feng et al., 2020, Fig. 7</a:t>
            </a:r>
            <a:endParaRPr lang="en-US" sz="1400" dirty="0"/>
          </a:p>
        </p:txBody>
      </p:sp>
      <p:sp>
        <p:nvSpPr>
          <p:cNvPr id="12" name="Workflow strip"/>
          <p:cNvSpPr/>
          <p:nvPr/>
        </p:nvSpPr>
        <p:spPr>
          <a:xfrm>
            <a:off x="457200" y="5074920"/>
            <a:ext cx="11274552" cy="777240"/>
          </a:xfrm>
          <a:prstGeom prst="roundRect">
            <a:avLst>
              <a:gd name="adj" fmla="val 7059"/>
            </a:avLst>
          </a:prstGeom>
          <a:solidFill>
            <a:schemeClr val="bg2"/>
          </a:solidFill>
          <a:ln w="12700">
            <a:solidFill>
              <a:schemeClr val="bg2"/>
            </a:solidFill>
            <a:prstDash val="solid"/>
          </a:ln>
        </p:spPr>
      </p:sp>
      <p:sp>
        <p:nvSpPr>
          <p:cNvPr id="13" name="Workflow strip text"/>
          <p:cNvSpPr txBox="1"/>
          <p:nvPr/>
        </p:nvSpPr>
        <p:spPr>
          <a:xfrm>
            <a:off x="594360" y="5074920"/>
            <a:ext cx="11000232" cy="777240"/>
          </a:xfrm>
          <a:prstGeom prst="rect">
            <a:avLst/>
          </a:prstGeom>
          <a:noFill/>
          <a:ln/>
        </p:spPr>
        <p:txBody>
          <a:bodyPr wrap="square" lIns="0" tIns="0" rIns="0" bIns="0" rtlCol="0" anchor="ctr"/>
          <a:lstStyle/>
          <a:p>
            <a:pPr marL="0" indent="0">
              <a:buNone/>
            </a:pPr>
            <a:r>
              <a:rPr lang="en-US" sz="1400" b="1" dirty="0">
                <a:solidFill>
                  <a:schemeClr val="tx1"/>
                </a:solidFill>
              </a:rPr>
              <a:t>Common workflow:</a:t>
            </a:r>
            <a:r>
              <a:rPr lang="en-US" sz="1400" dirty="0">
                <a:solidFill>
                  <a:schemeClr val="tx1"/>
                </a:solidFill>
              </a:rPr>
              <a:t> AOD → split PAR into direct and diffuse → productivity model → run with and without aerosol → difference = aerosol effect.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Light route: dimming vs diffuse fertilization</a:t>
            </a:r>
            <a:endParaRPr lang="en-US" sz="2800" dirty="0"/>
          </a:p>
        </p:txBody>
      </p:sp>
      <p:graphicFrame>
        <p:nvGraphicFramePr>
          <p:cNvPr id="24" name="Light route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3383280"/>
        </p:xfrm>
        <a:graphic>
          <a:graphicData uri="http://schemas.openxmlformats.org/drawingml/2006/table">
            <a:tbl>
              <a:tblPr/>
              <a:tblGrid>
                <a:gridCol w="173736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Mechanism and 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chemeClr val="tx2"/>
                          </a:solidFill>
                        </a:rPr>
                        <a:t>1. Dimming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Scattering and absorption cut PAR; clear-sky PAR −30% as AOD rises from 0.05 to 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chemeClr val="tx2"/>
                          </a:solidFill>
                        </a:rPr>
                        <a:t>2. Diffuse fertilization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Diffuse light reaches shaded, light-limited leaves; LUE 1.12–1.80 times higher under diffuse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Kanniah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chemeClr val="tx2"/>
                          </a:solidFill>
                        </a:rPr>
                        <a:t>Proof: Pinatubo</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Volcanic sulfate raised diffuse light; noon forest photosynthesis +23% (1992), +8% (1993)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Gu et al.,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chemeClr val="tx2"/>
                          </a:solidFill>
                        </a:rPr>
                        <a:t>Net balance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Outcome = loss of total PAR vs gain in diffuse fraction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Pinatubo figure card"/>
          <p:cNvSpPr/>
          <p:nvPr/>
        </p:nvSpPr>
        <p:spPr>
          <a:xfrm>
            <a:off x="7818120" y="1280160"/>
            <a:ext cx="3913632" cy="2743200"/>
          </a:xfrm>
          <a:prstGeom prst="roundRect">
            <a:avLst>
              <a:gd name="adj" fmla="val 2333"/>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Pinatubo figure title"/>
          <p:cNvSpPr txBox="1"/>
          <p:nvPr/>
        </p:nvSpPr>
        <p:spPr>
          <a:xfrm>
            <a:off x="7955280" y="1371600"/>
            <a:ext cx="3639312" cy="530352"/>
          </a:xfrm>
          <a:prstGeom prst="rect">
            <a:avLst/>
          </a:prstGeom>
          <a:noFill/>
          <a:ln/>
        </p:spPr>
        <p:txBody>
          <a:bodyPr wrap="square" lIns="0" tIns="0" rIns="0" bIns="0" rtlCol="0" anchor="t"/>
          <a:lstStyle/>
          <a:p>
            <a:pPr marL="0" indent="0">
              <a:buNone/>
            </a:pPr>
            <a:r>
              <a:rPr lang="en-US" sz="1400" b="1" dirty="0">
                <a:solidFill>
                  <a:schemeClr val="tx2"/>
                </a:solidFill>
              </a:rPr>
              <a:t>Harvard Forest after Pinatubo, 1992: volcanic (solid) vs normal (dashed)</a:t>
            </a:r>
            <a:endParaRPr lang="en-US" sz="1400" dirty="0"/>
          </a:p>
        </p:txBody>
      </p:sp>
      <p:pic>
        <p:nvPicPr>
          <p:cNvPr id="7" name="Pinatubo figure" descr="Pinatubo figure"/>
          <p:cNvPicPr>
            <a:picLocks noChangeAspect="1"/>
          </p:cNvPicPr>
          <p:nvPr/>
        </p:nvPicPr>
        <p:blipFill>
          <a:blip r:embed="rId3"/>
          <a:stretch>
            <a:fillRect/>
          </a:stretch>
        </p:blipFill>
        <p:spPr>
          <a:xfrm>
            <a:off x="8757627" y="1901952"/>
            <a:ext cx="2034619" cy="1691640"/>
          </a:xfrm>
          <a:prstGeom prst="rect">
            <a:avLst/>
          </a:prstGeom>
        </p:spPr>
      </p:pic>
      <p:sp>
        <p:nvSpPr>
          <p:cNvPr id="8" name="Pinatubo figure source"/>
          <p:cNvSpPr txBox="1"/>
          <p:nvPr/>
        </p:nvSpPr>
        <p:spPr>
          <a:xfrm>
            <a:off x="7955280" y="3666744"/>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Gu et al., 2003, Fig. 2a</a:t>
            </a:r>
            <a:endParaRPr lang="en-US" sz="1400" dirty="0"/>
          </a:p>
        </p:txBody>
      </p:sp>
      <p:sp>
        <p:nvSpPr>
          <p:cNvPr id="9" name="LUE figure card"/>
          <p:cNvSpPr/>
          <p:nvPr/>
        </p:nvSpPr>
        <p:spPr>
          <a:xfrm>
            <a:off x="7818120" y="4114800"/>
            <a:ext cx="3913632" cy="2011680"/>
          </a:xfrm>
          <a:prstGeom prst="roundRect">
            <a:avLst>
              <a:gd name="adj" fmla="val 318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LUE figure title"/>
          <p:cNvSpPr txBox="1"/>
          <p:nvPr/>
        </p:nvSpPr>
        <p:spPr>
          <a:xfrm>
            <a:off x="7955280" y="4206240"/>
            <a:ext cx="3639312" cy="301752"/>
          </a:xfrm>
          <a:prstGeom prst="rect">
            <a:avLst/>
          </a:prstGeom>
          <a:noFill/>
          <a:ln/>
        </p:spPr>
        <p:txBody>
          <a:bodyPr wrap="square" lIns="0" tIns="0" rIns="0" bIns="0" rtlCol="0" anchor="t"/>
          <a:lstStyle/>
          <a:p>
            <a:pPr marL="0" indent="0">
              <a:buNone/>
            </a:pPr>
            <a:r>
              <a:rPr lang="en-US" sz="1400" b="1" dirty="0">
                <a:solidFill>
                  <a:schemeClr val="tx2"/>
                </a:solidFill>
              </a:rPr>
              <a:t>Canopy LUE rises with AOD (clear sky)</a:t>
            </a:r>
            <a:endParaRPr lang="en-US" sz="1400" dirty="0"/>
          </a:p>
        </p:txBody>
      </p:sp>
      <p:pic>
        <p:nvPicPr>
          <p:cNvPr id="11" name="LUE figure" descr="LUE figure"/>
          <p:cNvPicPr>
            <a:picLocks noChangeAspect="1"/>
          </p:cNvPicPr>
          <p:nvPr/>
        </p:nvPicPr>
        <p:blipFill>
          <a:blip r:embed="rId4"/>
          <a:stretch>
            <a:fillRect/>
          </a:stretch>
        </p:blipFill>
        <p:spPr>
          <a:xfrm>
            <a:off x="8592343" y="4507992"/>
            <a:ext cx="2365185" cy="1188720"/>
          </a:xfrm>
          <a:prstGeom prst="rect">
            <a:avLst/>
          </a:prstGeom>
        </p:spPr>
      </p:pic>
      <p:sp>
        <p:nvSpPr>
          <p:cNvPr id="12" name="LUE figure source"/>
          <p:cNvSpPr txBox="1"/>
          <p:nvPr/>
        </p:nvSpPr>
        <p:spPr>
          <a:xfrm>
            <a:off x="7955280" y="5769864"/>
            <a:ext cx="3639312" cy="246888"/>
          </a:xfrm>
          <a:prstGeom prst="rect">
            <a:avLst/>
          </a:prstGeom>
          <a:noFill/>
          <a:ln/>
        </p:spPr>
        <p:txBody>
          <a:bodyPr wrap="square" lIns="0" tIns="0" rIns="0" bIns="0" rtlCol="0" anchor="t"/>
          <a:lstStyle/>
          <a:p>
            <a:pPr marL="0" indent="0">
              <a:buNone/>
            </a:pPr>
            <a:r>
              <a:rPr lang="en-US" sz="1400" i="1" dirty="0">
                <a:solidFill>
                  <a:schemeClr val="accent1"/>
                </a:solidFill>
              </a:rPr>
              <a:t>Source: Cohan et al., 2002, Fig. 6</a:t>
            </a:r>
            <a:endParaRPr lang="en-US" sz="1400" dirty="0"/>
          </a:p>
        </p:txBody>
      </p:sp>
      <p:sp>
        <p:nvSpPr>
          <p:cNvPr id="13" name="Light mechanism strip"/>
          <p:cNvSpPr/>
          <p:nvPr/>
        </p:nvSpPr>
        <p:spPr>
          <a:xfrm>
            <a:off x="457200" y="4709160"/>
            <a:ext cx="7132320" cy="1188720"/>
          </a:xfrm>
          <a:prstGeom prst="roundRect">
            <a:avLst>
              <a:gd name="adj" fmla="val 4615"/>
            </a:avLst>
          </a:prstGeom>
          <a:solidFill>
            <a:schemeClr val="bg2"/>
          </a:solidFill>
          <a:ln w="12700">
            <a:solidFill>
              <a:schemeClr val="bg2"/>
            </a:solidFill>
            <a:prstDash val="solid"/>
          </a:ln>
        </p:spPr>
      </p:sp>
      <p:sp>
        <p:nvSpPr>
          <p:cNvPr id="14" name="Light mechanism strip text"/>
          <p:cNvSpPr txBox="1"/>
          <p:nvPr/>
        </p:nvSpPr>
        <p:spPr>
          <a:xfrm>
            <a:off x="594360" y="4709160"/>
            <a:ext cx="6858000" cy="1188720"/>
          </a:xfrm>
          <a:prstGeom prst="rect">
            <a:avLst/>
          </a:prstGeom>
          <a:noFill/>
          <a:ln/>
        </p:spPr>
        <p:txBody>
          <a:bodyPr wrap="square" lIns="0" tIns="0" rIns="0" bIns="0" rtlCol="0" anchor="ctr"/>
          <a:lstStyle/>
          <a:p>
            <a:pPr marL="0" indent="0">
              <a:buNone/>
            </a:pPr>
            <a:r>
              <a:rPr lang="en-US" sz="1400" b="1" dirty="0">
                <a:solidFill>
                  <a:schemeClr val="tx1"/>
                </a:solidFill>
              </a:rPr>
              <a:t>Why:</a:t>
            </a:r>
            <a:r>
              <a:rPr lang="en-US" sz="1400" dirty="0">
                <a:solidFill>
                  <a:schemeClr val="tx1"/>
                </a:solidFill>
              </a:rPr>
              <a:t> sunlit leaves are often light-saturated, so the lost direct light costs little; diffuse light reaches shaded leaves that are light-limited, so canopy light-use efficiency rises.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Climate route: temperature, humidity, water and rain</a:t>
            </a:r>
            <a:endParaRPr lang="en-US" sz="2800" dirty="0"/>
          </a:p>
        </p:txBody>
      </p:sp>
      <p:graphicFrame>
        <p:nvGraphicFramePr>
          <p:cNvPr id="27" name="Climate table"/>
          <p:cNvGraphicFramePr>
            <a:graphicFrameLocks noGrp="1"/>
          </p:cNvGraphicFramePr>
          <p:nvPr/>
        </p:nvGraphicFramePr>
        <p:xfrm>
          <a:off x="457200" y="1325881"/>
          <a:ext cx="6400800" cy="2208831"/>
        </p:xfrm>
        <a:graphic>
          <a:graphicData uri="http://schemas.openxmlformats.org/drawingml/2006/table">
            <a:tbl>
              <a:tblPr/>
              <a:tblGrid>
                <a:gridCol w="150876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45198">
                <a:tc>
                  <a:txBody>
                    <a:bodyPr/>
                    <a:lstStyle/>
                    <a:p>
                      <a:pPr marL="0" indent="0">
                        <a:buNone/>
                      </a:pPr>
                      <a:r>
                        <a:rPr lang="en-US" sz="1400" b="1" dirty="0">
                          <a:solidFill>
                            <a:schemeClr val="bg1"/>
                          </a:solidFill>
                        </a:rPr>
                        <a:t>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Mechanism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40242">
                <a:tc>
                  <a:txBody>
                    <a:bodyPr/>
                    <a:lstStyle/>
                    <a:p>
                      <a:pPr marL="0" indent="0">
                        <a:buNone/>
                      </a:pPr>
                      <a:r>
                        <a:rPr lang="en-US" sz="1400" b="1" dirty="0">
                          <a:solidFill>
                            <a:schemeClr val="bg1"/>
                          </a:solidFill>
                        </a:rPr>
                        <a:t>Leaf temperature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rPr>
                        <a:t>Less sunlight → cooler leaves, nearer the 25 °C optimum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Steiner &amp; Chameides, 2005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25813">
                <a:tc>
                  <a:txBody>
                    <a:bodyPr/>
                    <a:lstStyle/>
                    <a:p>
                      <a:pPr marL="0" indent="0">
                        <a:buNone/>
                      </a:pPr>
                      <a:r>
                        <a:rPr lang="en-US" sz="1400" b="1" dirty="0">
                          <a:solidFill>
                            <a:schemeClr val="bg1"/>
                          </a:solidFill>
                        </a:rPr>
                        <a:t>Humidity, VPD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Lower VPD keeps stomata open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Zhang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5813">
                <a:tc>
                  <a:txBody>
                    <a:bodyPr/>
                    <a:lstStyle/>
                    <a:p>
                      <a:pPr marL="0" indent="0">
                        <a:buNone/>
                      </a:pPr>
                      <a:r>
                        <a:rPr lang="en-US" sz="1400" b="1" dirty="0">
                          <a:solidFill>
                            <a:schemeClr val="bg1"/>
                          </a:solidFill>
                        </a:rPr>
                        <a:t>Soil moisture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3"/>
                    </a:solidFill>
                  </a:tcPr>
                </a:tc>
                <a:tc>
                  <a:txBody>
                    <a:bodyPr/>
                    <a:lstStyle/>
                    <a:p>
                      <a:pPr marL="0" indent="0">
                        <a:buNone/>
                      </a:pPr>
                      <a:r>
                        <a:rPr lang="en-US" sz="1400" dirty="0">
                          <a:solidFill>
                            <a:schemeClr val="tx1"/>
                          </a:solidFill>
                        </a:rPr>
                        <a:t>Less evaporation → wetter soil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Yue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25813">
                <a:tc>
                  <a:txBody>
                    <a:bodyPr/>
                    <a:lstStyle/>
                    <a:p>
                      <a:pPr marL="0" indent="0">
                        <a:buNone/>
                      </a:pPr>
                      <a:r>
                        <a:rPr lang="en-US" sz="1400" b="1" dirty="0">
                          <a:solidFill>
                            <a:schemeClr val="bg1"/>
                          </a:solidFill>
                        </a:rPr>
                        <a:t>Night warming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6"/>
                    </a:solidFill>
                  </a:tcPr>
                </a:tc>
                <a:tc>
                  <a:txBody>
                    <a:bodyPr/>
                    <a:lstStyle/>
                    <a:p>
                      <a:pPr marL="0" indent="0">
                        <a:buNone/>
                      </a:pPr>
                      <a:r>
                        <a:rPr lang="en-US" sz="1400" dirty="0">
                          <a:solidFill>
                            <a:schemeClr val="tx1"/>
                          </a:solidFill>
                        </a:rPr>
                        <a:t>Higher Tmin → more respiration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Jannat et al.,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40242">
                <a:tc>
                  <a:txBody>
                    <a:bodyPr/>
                    <a:lstStyle/>
                    <a:p>
                      <a:pPr marL="0" indent="0">
                        <a:buNone/>
                      </a:pPr>
                      <a:r>
                        <a:rPr lang="en-US" sz="1400" b="1" dirty="0">
                          <a:solidFill>
                            <a:schemeClr val="bg1"/>
                          </a:solidFill>
                        </a:rPr>
                        <a:t>Monsoon rain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accent5"/>
                    </a:solidFill>
                  </a:tcPr>
                </a:tc>
                <a:tc>
                  <a:txBody>
                    <a:bodyPr/>
                    <a:lstStyle/>
                    <a:p>
                      <a:pPr marL="0" indent="0">
                        <a:buNone/>
                      </a:pPr>
                      <a:r>
                        <a:rPr lang="en-US" sz="1400" dirty="0">
                          <a:solidFill>
                            <a:schemeClr val="tx1"/>
                          </a:solidFill>
                        </a:rPr>
                        <a:t>Less evaporation, stable air → less rain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Auffhammer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Pathway fig card"/>
          <p:cNvSpPr/>
          <p:nvPr/>
        </p:nvSpPr>
        <p:spPr>
          <a:xfrm>
            <a:off x="7086600" y="1325880"/>
            <a:ext cx="4645152" cy="3794760"/>
          </a:xfrm>
          <a:prstGeom prst="roundRect">
            <a:avLst>
              <a:gd name="adj" fmla="val 1687"/>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Pathway fig title"/>
          <p:cNvSpPr txBox="1"/>
          <p:nvPr/>
        </p:nvSpPr>
        <p:spPr>
          <a:xfrm>
            <a:off x="7223760" y="1417320"/>
            <a:ext cx="4370832" cy="301752"/>
          </a:xfrm>
          <a:prstGeom prst="rect">
            <a:avLst/>
          </a:prstGeom>
          <a:noFill/>
          <a:ln/>
        </p:spPr>
        <p:txBody>
          <a:bodyPr wrap="square" lIns="0" tIns="0" rIns="0" bIns="0" rtlCol="0" anchor="t"/>
          <a:lstStyle/>
          <a:p>
            <a:pPr marL="0" indent="0">
              <a:buNone/>
            </a:pPr>
            <a:r>
              <a:rPr lang="en-US" sz="1400" b="1" dirty="0">
                <a:solidFill>
                  <a:schemeClr val="tx2"/>
                </a:solidFill>
              </a:rPr>
              <a:t>China: NPP change from each aerosol pathway</a:t>
            </a:r>
            <a:endParaRPr lang="en-US" sz="1400" dirty="0"/>
          </a:p>
        </p:txBody>
      </p:sp>
      <p:pic>
        <p:nvPicPr>
          <p:cNvPr id="7" name="Pathway fig" descr="Pathway fig"/>
          <p:cNvPicPr>
            <a:picLocks noChangeAspect="1"/>
          </p:cNvPicPr>
          <p:nvPr/>
        </p:nvPicPr>
        <p:blipFill>
          <a:blip r:embed="rId3"/>
          <a:stretch>
            <a:fillRect/>
          </a:stretch>
        </p:blipFill>
        <p:spPr>
          <a:xfrm>
            <a:off x="7587251" y="1719072"/>
            <a:ext cx="3643850" cy="2743200"/>
          </a:xfrm>
          <a:prstGeom prst="rect">
            <a:avLst/>
          </a:prstGeom>
        </p:spPr>
      </p:pic>
      <p:sp>
        <p:nvSpPr>
          <p:cNvPr id="8" name="Pathway fig caption"/>
          <p:cNvSpPr txBox="1"/>
          <p:nvPr/>
        </p:nvSpPr>
        <p:spPr>
          <a:xfrm>
            <a:off x="7223760" y="4535424"/>
            <a:ext cx="4370832" cy="228600"/>
          </a:xfrm>
          <a:prstGeom prst="rect">
            <a:avLst/>
          </a:prstGeom>
          <a:noFill/>
          <a:ln/>
        </p:spPr>
        <p:txBody>
          <a:bodyPr wrap="square" lIns="0" tIns="0" rIns="0" bIns="0" rtlCol="0" anchor="t"/>
          <a:lstStyle/>
          <a:p>
            <a:pPr marL="0" indent="0">
              <a:buNone/>
            </a:pPr>
            <a:r>
              <a:rPr lang="en-US" sz="1400" dirty="0">
                <a:solidFill>
                  <a:schemeClr val="tx1"/>
                </a:solidFill>
              </a:rPr>
              <a:t>(a) all (b) temperature (c) PAR (d) soil moisture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lang="en-US" b="0"/>
              <a:t>24</a:t>
            </a:fld>
            <a:endParaRPr lang="en-US"/>
          </a:p>
        </p:txBody>
      </p:sp>
      <p:graphicFrame>
        <p:nvGraphicFramePr>
          <p:cNvPr id="17" name="Climate route table">
            <a:extLst>
              <a:ext uri="{FF2B5EF4-FFF2-40B4-BE49-F238E27FC236}">
                <a16:creationId xmlns:a16="http://schemas.microsoft.com/office/drawing/2014/main" id="{5285A72B-2D04-CE87-5D6F-DA41F5ABF135}"/>
              </a:ext>
            </a:extLst>
          </p:cNvPr>
          <p:cNvGraphicFramePr>
            <a:graphicFrameLocks noGrp="1"/>
          </p:cNvGraphicFramePr>
          <p:nvPr/>
        </p:nvGraphicFramePr>
        <p:xfrm>
          <a:off x="457200" y="3660648"/>
          <a:ext cx="6418231" cy="2996184"/>
        </p:xfrm>
        <a:graphic>
          <a:graphicData uri="http://schemas.openxmlformats.org/drawingml/2006/table">
            <a:tbl>
              <a:tblPr/>
              <a:tblGrid>
                <a:gridCol w="2016970">
                  <a:extLst>
                    <a:ext uri="{9D8B030D-6E8A-4147-A177-3AD203B41FA5}">
                      <a16:colId xmlns:a16="http://schemas.microsoft.com/office/drawing/2014/main" val="20000"/>
                    </a:ext>
                  </a:extLst>
                </a:gridCol>
                <a:gridCol w="1542877">
                  <a:extLst>
                    <a:ext uri="{9D8B030D-6E8A-4147-A177-3AD203B41FA5}">
                      <a16:colId xmlns:a16="http://schemas.microsoft.com/office/drawing/2014/main" val="20001"/>
                    </a:ext>
                  </a:extLst>
                </a:gridCol>
                <a:gridCol w="2858384">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Aerosol route (China,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ΔNPP (Pg C yr</a:t>
                      </a:r>
                      <a:r>
                        <a:rPr lang="en-US" sz="1400" b="1" baseline="30000" dirty="0">
                          <a:solidFill>
                            <a:schemeClr val="bg1"/>
                          </a:solidFill>
                        </a:rPr>
                        <a:t>−1</a:t>
                      </a:r>
                      <a:r>
                        <a:rPr lang="en-US" sz="1400" b="1" dirty="0">
                          <a:solidFill>
                            <a:schemeClr val="bg1"/>
                          </a:solidFill>
                        </a:rPr>
                        <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shows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Diffuse radiation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More light reaches shaded leaves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Soil moisture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+0.07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Less evaporation, less water stress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Leaf cooling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Summer leaves nearer the 25 °C optimum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2"/>
                          </a:solidFill>
                        </a:rPr>
                        <a:t>Light + climate, total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+0.20 (+5%)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Net gain without cloud effects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2920">
                <a:tc>
                  <a:txBody>
                    <a:bodyPr/>
                    <a:lstStyle/>
                    <a:p>
                      <a:pPr marL="0" indent="0">
                        <a:buNone/>
                      </a:pPr>
                      <a:r>
                        <a:rPr lang="en-US" sz="1400" b="1" dirty="0">
                          <a:solidFill>
                            <a:schemeClr val="tx2"/>
                          </a:solidFill>
                        </a:rPr>
                        <a:t>Adding cloud and rain effects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−0.20 (−4%)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Summer rain −13% → drought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19" name="Climate table source">
            <a:extLst>
              <a:ext uri="{FF2B5EF4-FFF2-40B4-BE49-F238E27FC236}">
                <a16:creationId xmlns:a16="http://schemas.microsoft.com/office/drawing/2014/main" id="{64D6A788-3FE9-58F8-FB91-6A5BB2043F81}"/>
              </a:ext>
            </a:extLst>
          </p:cNvPr>
          <p:cNvSpPr txBox="1"/>
          <p:nvPr/>
        </p:nvSpPr>
        <p:spPr>
          <a:xfrm>
            <a:off x="8464464" y="5667401"/>
            <a:ext cx="1794354" cy="274320"/>
          </a:xfrm>
          <a:prstGeom prst="rect">
            <a:avLst/>
          </a:prstGeom>
          <a:noFill/>
          <a:ln/>
        </p:spPr>
        <p:txBody>
          <a:bodyPr wrap="square" lIns="0" tIns="0" rIns="0" bIns="0" rtlCol="0" anchor="t"/>
          <a:lstStyle/>
          <a:p>
            <a:pPr marL="0" indent="0">
              <a:buNone/>
            </a:pPr>
            <a:r>
              <a:rPr lang="en-US" sz="1400" i="1" dirty="0">
                <a:solidFill>
                  <a:schemeClr val="accent1"/>
                </a:solidFill>
              </a:rPr>
              <a:t>Source: Yue et al., 2017</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Co-pollutant ozone and aerosol type</a:t>
            </a:r>
            <a:endParaRPr lang="en-US" sz="2800" dirty="0"/>
          </a:p>
        </p:txBody>
      </p:sp>
      <p:sp>
        <p:nvSpPr>
          <p:cNvPr id="4" name="Ozone figure card"/>
          <p:cNvSpPr/>
          <p:nvPr/>
        </p:nvSpPr>
        <p:spPr>
          <a:xfrm>
            <a:off x="457200" y="1280160"/>
            <a:ext cx="5669280" cy="4317938"/>
          </a:xfrm>
          <a:prstGeom prst="roundRect">
            <a:avLst>
              <a:gd name="adj" fmla="val 148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Ozone figure title"/>
          <p:cNvSpPr txBox="1"/>
          <p:nvPr/>
        </p:nvSpPr>
        <p:spPr>
          <a:xfrm>
            <a:off x="594360" y="1371600"/>
            <a:ext cx="5394960" cy="530352"/>
          </a:xfrm>
          <a:prstGeom prst="rect">
            <a:avLst/>
          </a:prstGeom>
          <a:noFill/>
          <a:ln/>
        </p:spPr>
        <p:txBody>
          <a:bodyPr wrap="square" lIns="0" tIns="0" rIns="0" bIns="0" rtlCol="0" anchor="t"/>
          <a:lstStyle/>
          <a:p>
            <a:pPr marL="0" indent="0">
              <a:buNone/>
            </a:pPr>
            <a:r>
              <a:rPr lang="en-US" sz="1400" b="1" dirty="0">
                <a:solidFill>
                  <a:schemeClr val="tx2"/>
                </a:solidFill>
              </a:rPr>
              <a:t>% change in global GPP: ozone (a, b) and aerosol (c, d); left: all sources except fire; right: fire alone</a:t>
            </a:r>
            <a:endParaRPr lang="en-US" sz="1400" dirty="0"/>
          </a:p>
        </p:txBody>
      </p:sp>
      <p:pic>
        <p:nvPicPr>
          <p:cNvPr id="6" name="Ozone figure" descr="Ozone figure"/>
          <p:cNvPicPr>
            <a:picLocks noChangeAspect="1"/>
          </p:cNvPicPr>
          <p:nvPr/>
        </p:nvPicPr>
        <p:blipFill>
          <a:blip r:embed="rId3"/>
          <a:stretch>
            <a:fillRect/>
          </a:stretch>
        </p:blipFill>
        <p:spPr>
          <a:xfrm>
            <a:off x="1005840" y="1901952"/>
            <a:ext cx="4572000" cy="3266378"/>
          </a:xfrm>
          <a:prstGeom prst="rect">
            <a:avLst/>
          </a:prstGeom>
        </p:spPr>
      </p:pic>
      <p:sp>
        <p:nvSpPr>
          <p:cNvPr id="7" name="Ozone figure source"/>
          <p:cNvSpPr txBox="1"/>
          <p:nvPr/>
        </p:nvSpPr>
        <p:spPr>
          <a:xfrm>
            <a:off x="594360" y="5241482"/>
            <a:ext cx="5394960" cy="246888"/>
          </a:xfrm>
          <a:prstGeom prst="rect">
            <a:avLst/>
          </a:prstGeom>
          <a:noFill/>
          <a:ln/>
        </p:spPr>
        <p:txBody>
          <a:bodyPr wrap="square" lIns="0" tIns="0" rIns="0" bIns="0" rtlCol="0" anchor="t"/>
          <a:lstStyle/>
          <a:p>
            <a:pPr marL="0" indent="0">
              <a:buNone/>
            </a:pPr>
            <a:r>
              <a:rPr lang="en-US" sz="1400" i="1" dirty="0">
                <a:solidFill>
                  <a:schemeClr val="accent1"/>
                </a:solidFill>
              </a:rPr>
              <a:t>Source: Yue &amp; Unger, 2018</a:t>
            </a:r>
            <a:endParaRPr lang="en-US" sz="1400" dirty="0"/>
          </a:p>
        </p:txBody>
      </p:sp>
      <p:graphicFrame>
        <p:nvGraphicFramePr>
          <p:cNvPr id="26" name="Ozone table"/>
          <p:cNvGraphicFramePr>
            <a:graphicFrameLocks noGrp="1"/>
          </p:cNvGraphicFramePr>
          <p:nvPr>
            <p:extLst>
              <p:ext uri="{D42A27DB-BD31-4B8C-83A1-F6EECF244321}">
                <p14:modId xmlns:p14="http://schemas.microsoft.com/office/powerpoint/2010/main" val="1579011935"/>
              </p:ext>
            </p:extLst>
          </p:nvPr>
        </p:nvGraphicFramePr>
        <p:xfrm>
          <a:off x="6355080" y="1280160"/>
          <a:ext cx="5376672" cy="2898648"/>
        </p:xfrm>
        <a:graphic>
          <a:graphicData uri="http://schemas.openxmlformats.org/drawingml/2006/table">
            <a:tbl>
              <a:tblPr/>
              <a:tblGrid>
                <a:gridCol w="3520440">
                  <a:extLst>
                    <a:ext uri="{9D8B030D-6E8A-4147-A177-3AD203B41FA5}">
                      <a16:colId xmlns:a16="http://schemas.microsoft.com/office/drawing/2014/main" val="20000"/>
                    </a:ext>
                  </a:extLst>
                </a:gridCol>
                <a:gridCol w="1856232">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Effect on GPP or NPP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Pg C yr</a:t>
                      </a:r>
                      <a:r>
                        <a:rPr lang="en-US" sz="1400" b="1" baseline="30000" dirty="0">
                          <a:solidFill>
                            <a:schemeClr val="bg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Ozone, global (non-fire sources)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−4.0 ± 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Aerosol, global (non-fire sources)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+1.0 ± 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Fire pollution: ozone / aerosol / net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−0.91 / +0.05 / −0.86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2"/>
                          </a:solidFill>
                        </a:rPr>
                        <a:t>Black carbon, global (all-sky)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−0.28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2920">
                <a:tc>
                  <a:txBody>
                    <a:bodyPr/>
                    <a:lstStyle/>
                    <a:p>
                      <a:pPr marL="0" indent="0">
                        <a:buNone/>
                      </a:pPr>
                      <a:r>
                        <a:rPr lang="en-US" sz="1400" b="1" dirty="0">
                          <a:solidFill>
                            <a:schemeClr val="tx2"/>
                          </a:solidFill>
                        </a:rPr>
                        <a:t>Ozone, China NPP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−0.59 (−14%)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9" name="Ozone refs"/>
          <p:cNvSpPr txBox="1"/>
          <p:nvPr/>
        </p:nvSpPr>
        <p:spPr>
          <a:xfrm>
            <a:off x="6355080" y="4251960"/>
            <a:ext cx="5376672" cy="274320"/>
          </a:xfrm>
          <a:prstGeom prst="rect">
            <a:avLst/>
          </a:prstGeom>
          <a:noFill/>
          <a:ln/>
        </p:spPr>
        <p:txBody>
          <a:bodyPr wrap="square" lIns="0" tIns="0" rIns="0" bIns="0" rtlCol="0" anchor="t"/>
          <a:lstStyle/>
          <a:p>
            <a:pPr marL="0" indent="0">
              <a:buNone/>
            </a:pPr>
            <a:r>
              <a:rPr lang="en-US" sz="1400" i="1" dirty="0">
                <a:solidFill>
                  <a:schemeClr val="accent1"/>
                </a:solidFill>
              </a:rPr>
              <a:t>Yue &amp; Unger, 2018; Zhou et al., 2022; Yue et al., 2017</a:t>
            </a:r>
            <a:endParaRPr lang="en-US" sz="1400" dirty="0"/>
          </a:p>
        </p:txBody>
      </p:sp>
      <p:sp>
        <p:nvSpPr>
          <p:cNvPr id="10" name="Ozone lesson strip"/>
          <p:cNvSpPr/>
          <p:nvPr/>
        </p:nvSpPr>
        <p:spPr>
          <a:xfrm>
            <a:off x="6355080" y="4663440"/>
            <a:ext cx="5376672" cy="1417320"/>
          </a:xfrm>
          <a:prstGeom prst="roundRect">
            <a:avLst>
              <a:gd name="adj" fmla="val 3871"/>
            </a:avLst>
          </a:prstGeom>
          <a:solidFill>
            <a:schemeClr val="bg2"/>
          </a:solidFill>
          <a:ln w="12700">
            <a:solidFill>
              <a:schemeClr val="bg2"/>
            </a:solidFill>
            <a:prstDash val="solid"/>
          </a:ln>
        </p:spPr>
      </p:sp>
      <p:sp>
        <p:nvSpPr>
          <p:cNvPr id="11" name="Ozone lesson strip text"/>
          <p:cNvSpPr txBox="1"/>
          <p:nvPr/>
        </p:nvSpPr>
        <p:spPr>
          <a:xfrm>
            <a:off x="6492240" y="4663440"/>
            <a:ext cx="5102352" cy="1417320"/>
          </a:xfrm>
          <a:prstGeom prst="rect">
            <a:avLst/>
          </a:prstGeom>
          <a:noFill/>
          <a:ln/>
        </p:spPr>
        <p:txBody>
          <a:bodyPr wrap="square" lIns="0" tIns="0" rIns="0" bIns="0" rtlCol="0" anchor="ctr"/>
          <a:lstStyle/>
          <a:p>
            <a:pPr marL="0" indent="0">
              <a:buNone/>
            </a:pPr>
            <a:r>
              <a:rPr lang="en-US" sz="1400" b="1" dirty="0">
                <a:solidFill>
                  <a:schemeClr val="tx1"/>
                </a:solidFill>
              </a:rPr>
              <a:t>Lesson:</a:t>
            </a:r>
            <a:r>
              <a:rPr lang="en-US" sz="1400" dirty="0">
                <a:solidFill>
                  <a:schemeClr val="tx1"/>
                </a:solidFill>
              </a:rPr>
              <a:t> a pollution effect is not an aerosol effect. Ozone damage usually exceeds the aerosol benefit; absorbing black carbon lowers GPP, while scattering sulfate and organics give the benefit.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25</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6 · Mechanisms of aerosol impact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27</a:t>
            </a:fld>
            <a:endParaRPr lang="en-US"/>
          </a:p>
        </p:txBody>
      </p:sp>
      <p:sp>
        <p:nvSpPr>
          <p:cNvPr id="12" name="Text 0">
            <a:extLst>
              <a:ext uri="{FF2B5EF4-FFF2-40B4-BE49-F238E27FC236}">
                <a16:creationId xmlns:a16="http://schemas.microsoft.com/office/drawing/2014/main" id="{E48EECC4-7883-5E39-662E-25A180746447}"/>
              </a:ext>
            </a:extLst>
          </p:cNvPr>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Factors that decide the aerosol impact</a:t>
            </a:r>
            <a:endParaRPr lang="en-US" sz="2800" dirty="0"/>
          </a:p>
        </p:txBody>
      </p:sp>
      <p:graphicFrame>
        <p:nvGraphicFramePr>
          <p:cNvPr id="13" name="Factor table">
            <a:extLst>
              <a:ext uri="{FF2B5EF4-FFF2-40B4-BE49-F238E27FC236}">
                <a16:creationId xmlns:a16="http://schemas.microsoft.com/office/drawing/2014/main" id="{3B67C46C-EDED-D699-2EB2-C05844F6FBFF}"/>
              </a:ext>
            </a:extLst>
          </p:cNvPr>
          <p:cNvGraphicFramePr>
            <a:graphicFrameLocks noGrp="1"/>
          </p:cNvGraphicFramePr>
          <p:nvPr>
            <p:extLst>
              <p:ext uri="{D42A27DB-BD31-4B8C-83A1-F6EECF244321}">
                <p14:modId xmlns:p14="http://schemas.microsoft.com/office/powerpoint/2010/main" val="251030043"/>
              </p:ext>
            </p:extLst>
          </p:nvPr>
        </p:nvGraphicFramePr>
        <p:xfrm>
          <a:off x="496948" y="1311342"/>
          <a:ext cx="7086600" cy="4431092"/>
        </p:xfrm>
        <a:graphic>
          <a:graphicData uri="http://schemas.openxmlformats.org/drawingml/2006/table">
            <a:tbl>
              <a:tblPr/>
              <a:tblGrid>
                <a:gridCol w="19202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9343">
                <a:tc>
                  <a:txBody>
                    <a:bodyPr/>
                    <a:lstStyle/>
                    <a:p>
                      <a:pPr marL="0" indent="0">
                        <a:buNone/>
                      </a:pPr>
                      <a:r>
                        <a:rPr lang="en-US" sz="1400" b="1" dirty="0">
                          <a:solidFill>
                            <a:schemeClr val="bg1"/>
                          </a:solidFill>
                        </a:rPr>
                        <a:t>Factor</a:t>
                      </a:r>
                      <a:endParaRPr lang="en-US" sz="1400" dirty="0">
                        <a:solidFill>
                          <a:schemeClr val="bg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How it changes the impact</a:t>
                      </a:r>
                      <a:endParaRPr lang="en-US" sz="1400" dirty="0">
                        <a:solidFill>
                          <a:schemeClr val="bg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solidFill>
                          <a:schemeClr val="bg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56204">
                <a:tc>
                  <a:txBody>
                    <a:bodyPr/>
                    <a:lstStyle/>
                    <a:p>
                      <a:pPr marL="0" indent="0">
                        <a:buNone/>
                      </a:pPr>
                      <a:r>
                        <a:rPr lang="en-US" sz="1400" b="1" dirty="0">
                          <a:solidFill>
                            <a:schemeClr val="tx1"/>
                          </a:solidFill>
                        </a:rPr>
                        <a:t>Aerosol load</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Gain only up to an optimum; heavy haze → loss</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Cohan 2002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56204">
                <a:tc>
                  <a:txBody>
                    <a:bodyPr/>
                    <a:lstStyle/>
                    <a:p>
                      <a:pPr marL="0" indent="0">
                        <a:buNone/>
                      </a:pPr>
                      <a:r>
                        <a:rPr lang="en-US" sz="1400" b="1" dirty="0">
                          <a:solidFill>
                            <a:schemeClr val="tx1"/>
                          </a:solidFill>
                        </a:rPr>
                        <a:t>Aerosol type (ω₀)</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Scattering aerosol helps; black carbon and smoke mainly dim</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tx1"/>
                          </a:solidFill>
                        </a:rPr>
                        <a:t>Zhou 2022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6204">
                <a:tc>
                  <a:txBody>
                    <a:bodyPr/>
                    <a:lstStyle/>
                    <a:p>
                      <a:pPr marL="0" indent="0">
                        <a:buNone/>
                      </a:pPr>
                      <a:r>
                        <a:rPr lang="en-US" sz="1400" b="1" dirty="0">
                          <a:solidFill>
                            <a:schemeClr val="tx1"/>
                          </a:solidFill>
                        </a:rPr>
                        <a:t>Cloud cover</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Global aerosol gain: +8.9 Pg C yr</a:t>
                      </a:r>
                      <a:r>
                        <a:rPr lang="en-US" sz="1400" baseline="30000" dirty="0">
                          <a:solidFill>
                            <a:schemeClr val="tx1"/>
                          </a:solidFill>
                        </a:rPr>
                        <a:t>−1</a:t>
                      </a:r>
                      <a:r>
                        <a:rPr lang="en-US" sz="1400" dirty="0">
                          <a:solidFill>
                            <a:schemeClr val="tx1"/>
                          </a:solidFill>
                        </a:rPr>
                        <a:t> under clear sky, only +0.95 under all skies</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Zhou et al., 2022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04525">
                <a:tc>
                  <a:txBody>
                    <a:bodyPr/>
                    <a:lstStyle/>
                    <a:p>
                      <a:pPr marL="0" indent="0">
                        <a:buNone/>
                      </a:pPr>
                      <a:r>
                        <a:rPr lang="en-US" sz="1400" b="1" dirty="0">
                          <a:solidFill>
                            <a:schemeClr val="tx1"/>
                          </a:solidFill>
                        </a:rPr>
                        <a:t>Canopy structure</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Dense, multi-layer canopies gain; sparse ones gain little. Uptake rose in forest but fell in</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tx1"/>
                          </a:solidFill>
                        </a:rPr>
                        <a:t>Niyogi 2004</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6204">
                <a:tc>
                  <a:txBody>
                    <a:bodyPr/>
                    <a:lstStyle/>
                    <a:p>
                      <a:pPr marL="0" indent="0">
                        <a:buNone/>
                      </a:pPr>
                      <a:r>
                        <a:rPr lang="en-US" sz="1400" b="1" dirty="0">
                          <a:solidFill>
                            <a:schemeClr val="tx1"/>
                          </a:solidFill>
                        </a:rPr>
                        <a:t>C3 vs C4 plants</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C4 plants rarely light-saturate; soybean (C3) LUE gain ~50% higher than maize (C4)</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Kanniah 2012</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56204">
                <a:tc>
                  <a:txBody>
                    <a:bodyPr/>
                    <a:lstStyle/>
                    <a:p>
                      <a:pPr marL="0" indent="0">
                        <a:buNone/>
                      </a:pPr>
                      <a:r>
                        <a:rPr lang="en-US" sz="1400" b="1" dirty="0">
                          <a:solidFill>
                            <a:schemeClr val="tx1"/>
                          </a:solidFill>
                        </a:rPr>
                        <a:t>Latitude, season, growth stage</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Low sun is already diffuse; grain filling is most sensitive</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tx1"/>
                          </a:solidFill>
                        </a:rPr>
                        <a:t>Ezhova 2018; Gupta 2025</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56204">
                <a:tc>
                  <a:txBody>
                    <a:bodyPr/>
                    <a:lstStyle/>
                    <a:p>
                      <a:pPr marL="0" indent="0">
                        <a:buNone/>
                      </a:pPr>
                      <a:r>
                        <a:rPr lang="en-US" sz="1400" b="1" dirty="0">
                          <a:solidFill>
                            <a:schemeClr val="tx1"/>
                          </a:solidFill>
                        </a:rPr>
                        <a:t>Water stress &amp; ozone</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Cooling eases VPD stress; ozone adds damage</a:t>
                      </a: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tx1"/>
                          </a:solidFill>
                        </a:rPr>
                        <a:t>Rap 2015; Ghude 2014</a:t>
                      </a:r>
                      <a:endParaRPr lang="en-US" sz="1400" dirty="0">
                        <a:solidFill>
                          <a:schemeClr val="tx1"/>
                        </a:solidFill>
                      </a:endParaRPr>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14" name="Zhou figure card">
            <a:extLst>
              <a:ext uri="{FF2B5EF4-FFF2-40B4-BE49-F238E27FC236}">
                <a16:creationId xmlns:a16="http://schemas.microsoft.com/office/drawing/2014/main" id="{A061EBA6-9D83-1920-CB86-1F81A67B498B}"/>
              </a:ext>
            </a:extLst>
          </p:cNvPr>
          <p:cNvSpPr/>
          <p:nvPr/>
        </p:nvSpPr>
        <p:spPr>
          <a:xfrm>
            <a:off x="7726680" y="1325880"/>
            <a:ext cx="4005072" cy="4416552"/>
          </a:xfrm>
          <a:prstGeom prst="roundRect">
            <a:avLst>
              <a:gd name="adj" fmla="val 159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5" name="Zhou figure title">
            <a:extLst>
              <a:ext uri="{FF2B5EF4-FFF2-40B4-BE49-F238E27FC236}">
                <a16:creationId xmlns:a16="http://schemas.microsoft.com/office/drawing/2014/main" id="{E336898C-557C-C0FC-4A03-5CC1848DB531}"/>
              </a:ext>
            </a:extLst>
          </p:cNvPr>
          <p:cNvSpPr txBox="1"/>
          <p:nvPr/>
        </p:nvSpPr>
        <p:spPr>
          <a:xfrm>
            <a:off x="7863840" y="1417320"/>
            <a:ext cx="3730752" cy="530352"/>
          </a:xfrm>
          <a:prstGeom prst="rect">
            <a:avLst/>
          </a:prstGeom>
          <a:noFill/>
          <a:ln/>
        </p:spPr>
        <p:txBody>
          <a:bodyPr wrap="square" lIns="0" tIns="0" rIns="0" bIns="0" rtlCol="0" anchor="t"/>
          <a:lstStyle/>
          <a:p>
            <a:pPr marL="0" indent="0">
              <a:buNone/>
            </a:pPr>
            <a:r>
              <a:rPr lang="en-US" sz="1400" b="1" dirty="0">
                <a:solidFill>
                  <a:schemeClr val="tx2"/>
                </a:solidFill>
              </a:rPr>
              <a:t>Aerosol effect on GPP (%): all skies (top) vs clear skies (bottom)</a:t>
            </a:r>
            <a:endParaRPr lang="en-US" sz="1400" dirty="0"/>
          </a:p>
        </p:txBody>
      </p:sp>
      <p:pic>
        <p:nvPicPr>
          <p:cNvPr id="16" name="Zhou figure" descr="Zhou figure">
            <a:extLst>
              <a:ext uri="{FF2B5EF4-FFF2-40B4-BE49-F238E27FC236}">
                <a16:creationId xmlns:a16="http://schemas.microsoft.com/office/drawing/2014/main" id="{35AC53B2-0BC1-A063-A60B-E289186CC118}"/>
              </a:ext>
            </a:extLst>
          </p:cNvPr>
          <p:cNvPicPr>
            <a:picLocks noChangeAspect="1"/>
          </p:cNvPicPr>
          <p:nvPr/>
        </p:nvPicPr>
        <p:blipFill>
          <a:blip r:embed="rId3"/>
          <a:srcRect l="32049"/>
          <a:stretch>
            <a:fillRect/>
          </a:stretch>
        </p:blipFill>
        <p:spPr>
          <a:xfrm>
            <a:off x="8654889" y="1695989"/>
            <a:ext cx="2005522" cy="3342355"/>
          </a:xfrm>
          <a:prstGeom prst="rect">
            <a:avLst/>
          </a:prstGeom>
        </p:spPr>
      </p:pic>
      <p:sp>
        <p:nvSpPr>
          <p:cNvPr id="17" name="Zhou figure caption">
            <a:extLst>
              <a:ext uri="{FF2B5EF4-FFF2-40B4-BE49-F238E27FC236}">
                <a16:creationId xmlns:a16="http://schemas.microsoft.com/office/drawing/2014/main" id="{E3F8CF8F-0B56-690C-1F37-EA0708297568}"/>
              </a:ext>
            </a:extLst>
          </p:cNvPr>
          <p:cNvSpPr txBox="1"/>
          <p:nvPr/>
        </p:nvSpPr>
        <p:spPr>
          <a:xfrm>
            <a:off x="7863840" y="5093208"/>
            <a:ext cx="3867912" cy="457200"/>
          </a:xfrm>
          <a:prstGeom prst="rect">
            <a:avLst/>
          </a:prstGeom>
          <a:noFill/>
          <a:ln/>
        </p:spPr>
        <p:txBody>
          <a:bodyPr wrap="square" lIns="0" tIns="0" rIns="0" bIns="0" rtlCol="0" anchor="t"/>
          <a:lstStyle/>
          <a:p>
            <a:pPr marL="0" indent="0">
              <a:buNone/>
            </a:pPr>
            <a:r>
              <a:rPr lang="en-US" sz="1400" dirty="0">
                <a:solidFill>
                  <a:schemeClr val="tx1"/>
                </a:solidFill>
              </a:rPr>
              <a:t>Clouds cut the global gain from 8.9 to 0.95 Pg C yr</a:t>
            </a:r>
            <a:r>
              <a:rPr lang="en-US" sz="1400" baseline="30000" dirty="0">
                <a:solidFill>
                  <a:schemeClr val="tx1"/>
                </a:solidFill>
              </a:rPr>
              <a:t>−1</a:t>
            </a:r>
            <a:endParaRPr lang="en-US" sz="1400" dirty="0"/>
          </a:p>
        </p:txBody>
      </p:sp>
      <p:sp>
        <p:nvSpPr>
          <p:cNvPr id="18" name="Zhou figure source">
            <a:extLst>
              <a:ext uri="{FF2B5EF4-FFF2-40B4-BE49-F238E27FC236}">
                <a16:creationId xmlns:a16="http://schemas.microsoft.com/office/drawing/2014/main" id="{72B151CD-A01C-9136-65F1-5949F2C9972D}"/>
              </a:ext>
            </a:extLst>
          </p:cNvPr>
          <p:cNvSpPr txBox="1"/>
          <p:nvPr/>
        </p:nvSpPr>
        <p:spPr>
          <a:xfrm>
            <a:off x="7863840" y="5408676"/>
            <a:ext cx="3730752" cy="246888"/>
          </a:xfrm>
          <a:prstGeom prst="rect">
            <a:avLst/>
          </a:prstGeom>
          <a:noFill/>
          <a:ln/>
        </p:spPr>
        <p:txBody>
          <a:bodyPr wrap="square" lIns="0" tIns="0" rIns="0" bIns="0" rtlCol="0" anchor="t"/>
          <a:lstStyle/>
          <a:p>
            <a:pPr marL="0" indent="0">
              <a:buNone/>
            </a:pPr>
            <a:r>
              <a:rPr lang="en-US" sz="1400" i="1" dirty="0"/>
              <a:t>Source: Zhou et al. 2022, Fig. 3</a:t>
            </a:r>
            <a:endParaRPr lang="en-US" sz="1400" dirty="0"/>
          </a:p>
        </p:txBody>
      </p:sp>
      <p:sp>
        <p:nvSpPr>
          <p:cNvPr id="19" name="Rule strip">
            <a:extLst>
              <a:ext uri="{FF2B5EF4-FFF2-40B4-BE49-F238E27FC236}">
                <a16:creationId xmlns:a16="http://schemas.microsoft.com/office/drawing/2014/main" id="{D1C7C09E-CB5A-0519-6FAC-40C5398D0D18}"/>
              </a:ext>
            </a:extLst>
          </p:cNvPr>
          <p:cNvSpPr/>
          <p:nvPr/>
        </p:nvSpPr>
        <p:spPr>
          <a:xfrm>
            <a:off x="457200" y="5923136"/>
            <a:ext cx="11274552" cy="431944"/>
          </a:xfrm>
          <a:prstGeom prst="roundRect">
            <a:avLst>
              <a:gd name="adj" fmla="val 6000"/>
            </a:avLst>
          </a:prstGeom>
          <a:solidFill>
            <a:schemeClr val="bg2"/>
          </a:solidFill>
          <a:ln w="12700">
            <a:solidFill>
              <a:schemeClr val="bg2"/>
            </a:solidFill>
            <a:prstDash val="solid"/>
          </a:ln>
        </p:spPr>
      </p:sp>
      <p:sp>
        <p:nvSpPr>
          <p:cNvPr id="20" name="Rule strip text">
            <a:extLst>
              <a:ext uri="{FF2B5EF4-FFF2-40B4-BE49-F238E27FC236}">
                <a16:creationId xmlns:a16="http://schemas.microsoft.com/office/drawing/2014/main" id="{C9B5C6C4-D573-3735-621A-BCD55F6DF5B9}"/>
              </a:ext>
            </a:extLst>
          </p:cNvPr>
          <p:cNvSpPr txBox="1"/>
          <p:nvPr/>
        </p:nvSpPr>
        <p:spPr>
          <a:xfrm>
            <a:off x="594359" y="5923136"/>
            <a:ext cx="11137393" cy="431944"/>
          </a:xfrm>
          <a:prstGeom prst="rect">
            <a:avLst/>
          </a:prstGeom>
          <a:noFill/>
          <a:ln/>
        </p:spPr>
        <p:txBody>
          <a:bodyPr wrap="square" lIns="0" tIns="0" rIns="0" bIns="0" rtlCol="0" anchor="ctr"/>
          <a:lstStyle/>
          <a:p>
            <a:pPr marL="0" indent="0">
              <a:buNone/>
            </a:pPr>
            <a:r>
              <a:rPr lang="en-US" sz="1400" b="1" dirty="0">
                <a:solidFill>
                  <a:schemeClr val="tx1"/>
                </a:solidFill>
              </a:rPr>
              <a:t>Rule of thumb:</a:t>
            </a:r>
            <a:r>
              <a:rPr lang="en-US" sz="1400" dirty="0">
                <a:solidFill>
                  <a:schemeClr val="tx1"/>
                </a:solidFill>
              </a:rPr>
              <a:t> the largest gain comes from a dense C3 canopy under moderate, scattering aerosol and clear sky; sparse C4 crops under cloud gain little.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7 · Evidence</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Evidence from crops outside South Asia</a:t>
            </a:r>
            <a:endParaRPr lang="en-US" sz="2800" dirty="0"/>
          </a:p>
        </p:txBody>
      </p:sp>
      <p:graphicFrame>
        <p:nvGraphicFramePr>
          <p:cNvPr id="30" name="Crop table"/>
          <p:cNvGraphicFramePr>
            <a:graphicFrameLocks noGrp="1"/>
          </p:cNvGraphicFramePr>
          <p:nvPr>
            <p:extLst>
              <p:ext uri="{D42A27DB-BD31-4B8C-83A1-F6EECF244321}">
                <p14:modId xmlns:p14="http://schemas.microsoft.com/office/powerpoint/2010/main" val="3455309956"/>
              </p:ext>
            </p:extLst>
          </p:nvPr>
        </p:nvGraphicFramePr>
        <p:xfrm>
          <a:off x="457200" y="1280160"/>
          <a:ext cx="7818120" cy="3895344"/>
        </p:xfrm>
        <a:graphic>
          <a:graphicData uri="http://schemas.openxmlformats.org/drawingml/2006/table">
            <a:tbl>
              <a:tblPr/>
              <a:tblGrid>
                <a:gridCol w="1002632">
                  <a:extLst>
                    <a:ext uri="{9D8B030D-6E8A-4147-A177-3AD203B41FA5}">
                      <a16:colId xmlns:a16="http://schemas.microsoft.com/office/drawing/2014/main" val="20000"/>
                    </a:ext>
                  </a:extLst>
                </a:gridCol>
                <a:gridCol w="1620252">
                  <a:extLst>
                    <a:ext uri="{9D8B030D-6E8A-4147-A177-3AD203B41FA5}">
                      <a16:colId xmlns:a16="http://schemas.microsoft.com/office/drawing/2014/main" val="20001"/>
                    </a:ext>
                  </a:extLst>
                </a:gridCol>
                <a:gridCol w="3732196">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buNone/>
                      </a:pPr>
                      <a:r>
                        <a:rPr lang="en-US" sz="1400" b="1" dirty="0">
                          <a:solidFill>
                            <a:schemeClr val="bg1"/>
                          </a:solidFill>
                        </a:rPr>
                        <a:t>Region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Crop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Aerosol effect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85216">
                <a:tc>
                  <a:txBody>
                    <a:bodyPr/>
                    <a:lstStyle/>
                    <a:p>
                      <a:pPr marL="0" indent="0">
                        <a:buNone/>
                      </a:pPr>
                      <a:r>
                        <a:rPr lang="en-US" sz="1400" b="1" dirty="0">
                          <a:solidFill>
                            <a:schemeClr val="tx2"/>
                          </a:solidFill>
                        </a:rPr>
                        <a:t>China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rPr>
                        <a:t>rice,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Haze cuts sunlight 5–30%; optimal yields fall by a similar amount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Chameides et al., 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85216">
                <a:tc>
                  <a:txBody>
                    <a:bodyPr/>
                    <a:lstStyle/>
                    <a:p>
                      <a:pPr marL="0" indent="0">
                        <a:buNone/>
                      </a:pPr>
                      <a:r>
                        <a:rPr lang="en-US" sz="1400" b="1" dirty="0">
                          <a:solidFill>
                            <a:schemeClr val="tx2"/>
                          </a:solidFill>
                        </a:rPr>
                        <a:t>China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rice,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Sunlight −28 to 49% in hazy regions; national rice −2%, wheat −8%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Tie et al., 2016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85216">
                <a:tc>
                  <a:txBody>
                    <a:bodyPr/>
                    <a:lstStyle/>
                    <a:p>
                      <a:pPr marL="0" indent="0">
                        <a:buNone/>
                      </a:pPr>
                      <a:r>
                        <a:rPr lang="en-US" sz="1400" b="1" dirty="0">
                          <a:solidFill>
                            <a:schemeClr val="tx2"/>
                          </a:solidFill>
                        </a:rPr>
                        <a:t>Global sites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rPr>
                        <a:t>maize, wheat,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Maize −10 to 0%, wheat ±5%, rice ±10%; up to +30% at very sunny sites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85216">
                <a:tc>
                  <a:txBody>
                    <a:bodyPr/>
                    <a:lstStyle/>
                    <a:p>
                      <a:pPr marL="0" indent="0">
                        <a:buNone/>
                      </a:pPr>
                      <a:r>
                        <a:rPr lang="en-US" sz="1400" b="1" dirty="0">
                          <a:solidFill>
                            <a:schemeClr val="tx2"/>
                          </a:solidFill>
                        </a:rPr>
                        <a:t>Global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maize, wheat,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PM +9 to +16% (max diffuse response); net with O</a:t>
                      </a:r>
                      <a:r>
                        <a:rPr lang="en-US" sz="1400" baseline="-40000" dirty="0">
                          <a:solidFill>
                            <a:schemeClr val="tx1"/>
                          </a:solidFill>
                        </a:rPr>
                        <a:t>3</a:t>
                      </a:r>
                      <a:r>
                        <a:rPr lang="en-US" sz="1400" dirty="0">
                          <a:solidFill>
                            <a:schemeClr val="tx1"/>
                          </a:solidFill>
                        </a:rPr>
                        <a:t>: +5.6, −3.7, +4.5%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Schiferl &amp; Heald,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85216">
                <a:tc>
                  <a:txBody>
                    <a:bodyPr/>
                    <a:lstStyle/>
                    <a:p>
                      <a:pPr marL="0" indent="0">
                        <a:buNone/>
                      </a:pPr>
                      <a:r>
                        <a:rPr lang="en-US" sz="1400" b="1" dirty="0">
                          <a:solidFill>
                            <a:schemeClr val="tx2"/>
                          </a:solidFill>
                        </a:rPr>
                        <a:t>USA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rPr>
                        <a:t>maize, soybean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Aerosol yield loss: maize 11.3%, soybean 23.2%; shrinking as air cleans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Liu &amp; Desai,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85216">
                <a:tc>
                  <a:txBody>
                    <a:bodyPr/>
                    <a:lstStyle/>
                    <a:p>
                      <a:pPr marL="0" indent="0">
                        <a:buNone/>
                      </a:pPr>
                      <a:r>
                        <a:rPr lang="en-US" sz="1400" b="1" dirty="0">
                          <a:solidFill>
                            <a:schemeClr val="tx2"/>
                          </a:solidFill>
                        </a:rPr>
                        <a:t>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SIF −2.4% per 0.1 rise in AOD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He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Tie figure card"/>
          <p:cNvSpPr/>
          <p:nvPr/>
        </p:nvSpPr>
        <p:spPr>
          <a:xfrm>
            <a:off x="8458200" y="1280160"/>
            <a:ext cx="3273552" cy="3996573"/>
          </a:xfrm>
          <a:prstGeom prst="roundRect">
            <a:avLst>
              <a:gd name="adj" fmla="val 195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Tie figure title"/>
          <p:cNvSpPr txBox="1"/>
          <p:nvPr/>
        </p:nvSpPr>
        <p:spPr>
          <a:xfrm>
            <a:off x="8595360" y="1371600"/>
            <a:ext cx="2999232" cy="758952"/>
          </a:xfrm>
          <a:prstGeom prst="rect">
            <a:avLst/>
          </a:prstGeom>
          <a:noFill/>
          <a:ln/>
        </p:spPr>
        <p:txBody>
          <a:bodyPr wrap="square" lIns="0" tIns="0" rIns="0" bIns="0" rtlCol="0" anchor="t"/>
          <a:lstStyle/>
          <a:p>
            <a:pPr marL="0" indent="0">
              <a:buNone/>
            </a:pPr>
            <a:r>
              <a:rPr lang="en-US" sz="1400" b="1" dirty="0">
                <a:solidFill>
                  <a:schemeClr val="tx2"/>
                </a:solidFill>
              </a:rPr>
              <a:t>Haze-related loss of wheat (left) and rice (right) production in China</a:t>
            </a:r>
            <a:endParaRPr lang="en-US" sz="1400" dirty="0"/>
          </a:p>
        </p:txBody>
      </p:sp>
      <p:pic>
        <p:nvPicPr>
          <p:cNvPr id="7" name="Tie figure" descr="Tie figure"/>
          <p:cNvPicPr>
            <a:picLocks noChangeAspect="1"/>
          </p:cNvPicPr>
          <p:nvPr/>
        </p:nvPicPr>
        <p:blipFill>
          <a:blip r:embed="rId3"/>
          <a:stretch>
            <a:fillRect/>
          </a:stretch>
        </p:blipFill>
        <p:spPr>
          <a:xfrm>
            <a:off x="8609076" y="2130552"/>
            <a:ext cx="2971800" cy="2487813"/>
          </a:xfrm>
          <a:prstGeom prst="rect">
            <a:avLst/>
          </a:prstGeom>
        </p:spPr>
      </p:pic>
      <p:sp>
        <p:nvSpPr>
          <p:cNvPr id="8" name="Tie figure caption"/>
          <p:cNvSpPr txBox="1"/>
          <p:nvPr/>
        </p:nvSpPr>
        <p:spPr>
          <a:xfrm>
            <a:off x="8595360" y="4691517"/>
            <a:ext cx="2999232" cy="228600"/>
          </a:xfrm>
          <a:prstGeom prst="rect">
            <a:avLst/>
          </a:prstGeom>
          <a:noFill/>
          <a:ln/>
        </p:spPr>
        <p:txBody>
          <a:bodyPr wrap="square" lIns="0" tIns="0" rIns="0" bIns="0" rtlCol="0" anchor="t"/>
          <a:lstStyle/>
          <a:p>
            <a:pPr marL="0" indent="0">
              <a:buNone/>
            </a:pPr>
            <a:r>
              <a:rPr lang="en-US" sz="1400" dirty="0">
                <a:solidFill>
                  <a:schemeClr val="tx1"/>
                </a:solidFill>
              </a:rPr>
              <a:t>Top: loss (10 Gg); bottom: loss (%)</a:t>
            </a:r>
            <a:endParaRPr lang="en-US" sz="1400" dirty="0"/>
          </a:p>
        </p:txBody>
      </p:sp>
      <p:sp>
        <p:nvSpPr>
          <p:cNvPr id="9" name="Tie figure source"/>
          <p:cNvSpPr txBox="1"/>
          <p:nvPr/>
        </p:nvSpPr>
        <p:spPr>
          <a:xfrm>
            <a:off x="8595360" y="4920117"/>
            <a:ext cx="2999232" cy="246888"/>
          </a:xfrm>
          <a:prstGeom prst="rect">
            <a:avLst/>
          </a:prstGeom>
          <a:noFill/>
          <a:ln/>
        </p:spPr>
        <p:txBody>
          <a:bodyPr wrap="square" lIns="0" tIns="0" rIns="0" bIns="0" rtlCol="0" anchor="t"/>
          <a:lstStyle/>
          <a:p>
            <a:pPr marL="0" indent="0">
              <a:buNone/>
            </a:pPr>
            <a:r>
              <a:rPr lang="en-US" sz="1400" i="1" dirty="0">
                <a:solidFill>
                  <a:schemeClr val="accent1"/>
                </a:solidFill>
              </a:rPr>
              <a:t>Source: Tie et al., 2016, Fig. 3</a:t>
            </a:r>
            <a:endParaRPr lang="en-US" sz="1400" dirty="0"/>
          </a:p>
        </p:txBody>
      </p:sp>
      <p:sp>
        <p:nvSpPr>
          <p:cNvPr id="10" name="Crop pattern strip"/>
          <p:cNvSpPr/>
          <p:nvPr/>
        </p:nvSpPr>
        <p:spPr>
          <a:xfrm>
            <a:off x="457200" y="5532120"/>
            <a:ext cx="11274552" cy="594360"/>
          </a:xfrm>
          <a:prstGeom prst="roundRect">
            <a:avLst>
              <a:gd name="adj" fmla="val 9231"/>
            </a:avLst>
          </a:prstGeom>
          <a:solidFill>
            <a:schemeClr val="bg2"/>
          </a:solidFill>
          <a:ln w="12700">
            <a:solidFill>
              <a:schemeClr val="bg2"/>
            </a:solidFill>
            <a:prstDash val="solid"/>
          </a:ln>
        </p:spPr>
      </p:sp>
      <p:sp>
        <p:nvSpPr>
          <p:cNvPr id="11" name="Crop pattern strip text"/>
          <p:cNvSpPr txBox="1"/>
          <p:nvPr/>
        </p:nvSpPr>
        <p:spPr>
          <a:xfrm>
            <a:off x="594360" y="5532120"/>
            <a:ext cx="11000232" cy="594360"/>
          </a:xfrm>
          <a:prstGeom prst="rect">
            <a:avLst/>
          </a:prstGeom>
          <a:noFill/>
          <a:ln/>
        </p:spPr>
        <p:txBody>
          <a:bodyPr wrap="square" lIns="0" tIns="0" rIns="0" bIns="0" rtlCol="0" anchor="ctr"/>
          <a:lstStyle/>
          <a:p>
            <a:pPr marL="0" indent="0">
              <a:buNone/>
            </a:pPr>
            <a:r>
              <a:rPr lang="en-US" sz="1400" b="1" dirty="0">
                <a:solidFill>
                  <a:schemeClr val="tx1"/>
                </a:solidFill>
              </a:rPr>
              <a:t>Pattern:</a:t>
            </a:r>
            <a:r>
              <a:rPr lang="en-US" sz="1400" dirty="0">
                <a:solidFill>
                  <a:schemeClr val="tx1"/>
                </a:solidFill>
              </a:rPr>
              <a:t> models assuming a strong diffuse response find gains; observations in polluted regions mostly find losses.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7 · Evidence</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Evidence from India and South Asia</a:t>
            </a:r>
            <a:endParaRPr lang="en-US" sz="2800" dirty="0"/>
          </a:p>
        </p:txBody>
      </p:sp>
      <p:graphicFrame>
        <p:nvGraphicFramePr>
          <p:cNvPr id="31" name="India table"/>
          <p:cNvGraphicFramePr>
            <a:graphicFrameLocks noGrp="1"/>
          </p:cNvGraphicFramePr>
          <p:nvPr>
            <p:extLst>
              <p:ext uri="{D42A27DB-BD31-4B8C-83A1-F6EECF244321}">
                <p14:modId xmlns:p14="http://schemas.microsoft.com/office/powerpoint/2010/main" val="1579011935"/>
              </p:ext>
            </p:extLst>
          </p:nvPr>
        </p:nvGraphicFramePr>
        <p:xfrm>
          <a:off x="457200" y="1280160"/>
          <a:ext cx="7680960" cy="4005072"/>
        </p:xfrm>
        <a:graphic>
          <a:graphicData uri="http://schemas.openxmlformats.org/drawingml/2006/table">
            <a:tbl>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Region · system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Aerosol impact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400" b="1" dirty="0">
                          <a:solidFill>
                            <a:schemeClr val="tx2"/>
                          </a:solidFill>
                        </a:rPr>
                        <a:t>India ·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Brown clouds alone cut rice harvest 10.6%; with GHGs 14.4% (1985–1998)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Auffhammer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1400" b="1" dirty="0">
                          <a:solidFill>
                            <a:schemeClr val="tx2"/>
                          </a:solidFill>
                        </a:rPr>
                        <a:t>India ·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Climate and pollution trends (black carbon, O</a:t>
                      </a:r>
                      <a:r>
                        <a:rPr lang="en-US" sz="1400" baseline="-40000" dirty="0">
                          <a:solidFill>
                            <a:schemeClr val="tx1"/>
                          </a:solidFill>
                        </a:rPr>
                        <a:t>3</a:t>
                      </a:r>
                      <a:r>
                        <a:rPr lang="en-US" sz="1400" dirty="0">
                          <a:solidFill>
                            <a:schemeClr val="tx1"/>
                          </a:solidFill>
                        </a:rPr>
                        <a:t>): wheat yield up to 36% lower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Burney &amp; Ramanathan, 2014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b="1" dirty="0">
                          <a:solidFill>
                            <a:schemeClr val="tx2"/>
                          </a:solidFill>
                        </a:rPr>
                        <a:t>India · rice, maize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Aerosol lowered yield: rice −7.9%, maize −8.8% (1998–2019)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1400" b="1" dirty="0">
                          <a:solidFill>
                            <a:schemeClr val="tx2"/>
                          </a:solidFill>
                        </a:rPr>
                        <a:t>India (agroclimatic zones) ·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AOD lowered rice yield by 0.73% per year (1998–2019)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Gupta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b="1" dirty="0">
                          <a:solidFill>
                            <a:schemeClr val="tx2"/>
                          </a:solidFill>
                        </a:rPr>
                        <a:t>Assam (Dibrugarh) · vegetation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Evapotranspiration falls as AOD rises (r = 0.83)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i="1" dirty="0">
                          <a:solidFill>
                            <a:schemeClr val="accent1"/>
                          </a:solidFill>
                        </a:rPr>
                        <a:t>Latha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03504">
                <a:tc>
                  <a:txBody>
                    <a:bodyPr/>
                    <a:lstStyle/>
                    <a:p>
                      <a:pPr marL="0" indent="0">
                        <a:buNone/>
                      </a:pPr>
                      <a:r>
                        <a:rPr lang="en-US" sz="1400" b="1" dirty="0">
                          <a:solidFill>
                            <a:schemeClr val="tx2"/>
                          </a:solidFill>
                        </a:rPr>
                        <a:t>Bangladesh · Boro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Positive effect in 5 districts, negative in 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i="1" dirty="0">
                          <a:solidFill>
                            <a:schemeClr val="accent1"/>
                          </a:solidFill>
                        </a:rPr>
                        <a:t>Jannat et al.,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Gupta map card"/>
          <p:cNvSpPr/>
          <p:nvPr/>
        </p:nvSpPr>
        <p:spPr>
          <a:xfrm>
            <a:off x="8366760" y="1280160"/>
            <a:ext cx="3364992" cy="3673469"/>
          </a:xfrm>
          <a:prstGeom prst="roundRect">
            <a:avLst>
              <a:gd name="adj" fmla="val 1902"/>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Gupta map title"/>
          <p:cNvSpPr txBox="1"/>
          <p:nvPr/>
        </p:nvSpPr>
        <p:spPr>
          <a:xfrm>
            <a:off x="8503920" y="1371600"/>
            <a:ext cx="3090672" cy="530352"/>
          </a:xfrm>
          <a:prstGeom prst="rect">
            <a:avLst/>
          </a:prstGeom>
          <a:noFill/>
          <a:ln/>
        </p:spPr>
        <p:txBody>
          <a:bodyPr wrap="square" lIns="0" tIns="0" rIns="0" bIns="0" rtlCol="0" anchor="t"/>
          <a:lstStyle/>
          <a:p>
            <a:pPr marL="0" indent="0">
              <a:buNone/>
            </a:pPr>
            <a:r>
              <a:rPr lang="en-US" sz="1400" b="1" dirty="0">
                <a:solidFill>
                  <a:schemeClr val="tx2"/>
                </a:solidFill>
              </a:rPr>
              <a:t>Median change in rice yield (% per year) due to AOD, 1998–2019</a:t>
            </a:r>
            <a:endParaRPr lang="en-US" sz="1400" dirty="0"/>
          </a:p>
        </p:txBody>
      </p:sp>
      <p:pic>
        <p:nvPicPr>
          <p:cNvPr id="7" name="Gupta map" descr="Gupta map"/>
          <p:cNvPicPr>
            <a:picLocks noChangeAspect="1"/>
          </p:cNvPicPr>
          <p:nvPr/>
        </p:nvPicPr>
        <p:blipFill>
          <a:blip r:embed="rId3"/>
          <a:stretch>
            <a:fillRect/>
          </a:stretch>
        </p:blipFill>
        <p:spPr>
          <a:xfrm>
            <a:off x="8586216" y="1901952"/>
            <a:ext cx="2926080" cy="2393309"/>
          </a:xfrm>
          <a:prstGeom prst="rect">
            <a:avLst/>
          </a:prstGeom>
        </p:spPr>
      </p:pic>
      <p:sp>
        <p:nvSpPr>
          <p:cNvPr id="8" name="Gupta map caption"/>
          <p:cNvSpPr txBox="1"/>
          <p:nvPr/>
        </p:nvSpPr>
        <p:spPr>
          <a:xfrm>
            <a:off x="8503920" y="4368413"/>
            <a:ext cx="3090672" cy="228600"/>
          </a:xfrm>
          <a:prstGeom prst="rect">
            <a:avLst/>
          </a:prstGeom>
          <a:noFill/>
          <a:ln/>
        </p:spPr>
        <p:txBody>
          <a:bodyPr wrap="square" lIns="0" tIns="0" rIns="0" bIns="0" rtlCol="0" anchor="t"/>
          <a:lstStyle/>
          <a:p>
            <a:pPr marL="0" indent="0">
              <a:buNone/>
            </a:pPr>
            <a:r>
              <a:rPr lang="en-US" sz="1400" dirty="0">
                <a:solidFill>
                  <a:schemeClr val="tx1"/>
                </a:solidFill>
              </a:rPr>
              <a:t>Largest losses in the east (Odisha)</a:t>
            </a:r>
            <a:endParaRPr lang="en-US" sz="1400" dirty="0"/>
          </a:p>
        </p:txBody>
      </p:sp>
      <p:sp>
        <p:nvSpPr>
          <p:cNvPr id="9" name="Gupta map source"/>
          <p:cNvSpPr txBox="1"/>
          <p:nvPr/>
        </p:nvSpPr>
        <p:spPr>
          <a:xfrm>
            <a:off x="8503920" y="4597013"/>
            <a:ext cx="3090672" cy="246888"/>
          </a:xfrm>
          <a:prstGeom prst="rect">
            <a:avLst/>
          </a:prstGeom>
          <a:noFill/>
          <a:ln/>
        </p:spPr>
        <p:txBody>
          <a:bodyPr wrap="square" lIns="0" tIns="0" rIns="0" bIns="0" rtlCol="0" anchor="t"/>
          <a:lstStyle/>
          <a:p>
            <a:pPr marL="0" indent="0">
              <a:buNone/>
            </a:pPr>
            <a:r>
              <a:rPr lang="en-US" sz="1400" i="1" dirty="0">
                <a:solidFill>
                  <a:schemeClr val="accent1"/>
                </a:solidFill>
              </a:rPr>
              <a:t>Source: Gupta et al., 2025, Fig. 11c</a:t>
            </a:r>
            <a:endParaRPr lang="en-US" sz="1400" dirty="0"/>
          </a:p>
        </p:txBody>
      </p:sp>
      <p:sp>
        <p:nvSpPr>
          <p:cNvPr id="10" name="India strip"/>
          <p:cNvSpPr/>
          <p:nvPr/>
        </p:nvSpPr>
        <p:spPr>
          <a:xfrm>
            <a:off x="457200" y="5486400"/>
            <a:ext cx="11274552" cy="640080"/>
          </a:xfrm>
          <a:prstGeom prst="roundRect">
            <a:avLst>
              <a:gd name="adj" fmla="val 8571"/>
            </a:avLst>
          </a:prstGeom>
          <a:solidFill>
            <a:schemeClr val="bg2"/>
          </a:solidFill>
          <a:ln w="12700">
            <a:solidFill>
              <a:schemeClr val="bg2"/>
            </a:solidFill>
            <a:prstDash val="solid"/>
          </a:ln>
        </p:spPr>
      </p:sp>
      <p:sp>
        <p:nvSpPr>
          <p:cNvPr id="11" name="India strip text"/>
          <p:cNvSpPr txBox="1"/>
          <p:nvPr/>
        </p:nvSpPr>
        <p:spPr>
          <a:xfrm>
            <a:off x="594360" y="5486400"/>
            <a:ext cx="11000232" cy="640080"/>
          </a:xfrm>
          <a:prstGeom prst="rect">
            <a:avLst/>
          </a:prstGeom>
          <a:noFill/>
          <a:ln/>
        </p:spPr>
        <p:txBody>
          <a:bodyPr wrap="square" lIns="0" tIns="0" rIns="0" bIns="0" rtlCol="0" anchor="ctr"/>
          <a:lstStyle/>
          <a:p>
            <a:pPr marL="0" indent="0">
              <a:buNone/>
            </a:pPr>
            <a:r>
              <a:rPr lang="en-US" sz="1400" b="1" dirty="0">
                <a:solidFill>
                  <a:schemeClr val="tx1"/>
                </a:solidFill>
              </a:rPr>
              <a:t>India:</a:t>
            </a:r>
            <a:r>
              <a:rPr lang="en-US" sz="1400" dirty="0">
                <a:solidFill>
                  <a:schemeClr val="tx1"/>
                </a:solidFill>
              </a:rPr>
              <a:t> high, rising and partly absorbing aerosol mostly lowers yield, but the sign varies by crop, season and region.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7 · Evidence</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Ecosystem-wise productivity trends in India</a:t>
            </a:r>
            <a:endParaRPr lang="en-US" sz="2800" dirty="0"/>
          </a:p>
        </p:txBody>
      </p:sp>
      <p:sp>
        <p:nvSpPr>
          <p:cNvPr id="4" name="Hari map card"/>
          <p:cNvSpPr/>
          <p:nvPr/>
        </p:nvSpPr>
        <p:spPr>
          <a:xfrm>
            <a:off x="457200" y="1280160"/>
            <a:ext cx="4572000" cy="4737919"/>
          </a:xfrm>
          <a:prstGeom prst="roundRect">
            <a:avLst>
              <a:gd name="adj" fmla="val 1400"/>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Hari map title"/>
          <p:cNvSpPr txBox="1"/>
          <p:nvPr/>
        </p:nvSpPr>
        <p:spPr>
          <a:xfrm>
            <a:off x="594360" y="1371600"/>
            <a:ext cx="4297680" cy="530352"/>
          </a:xfrm>
          <a:prstGeom prst="rect">
            <a:avLst/>
          </a:prstGeom>
          <a:noFill/>
          <a:ln/>
        </p:spPr>
        <p:txBody>
          <a:bodyPr wrap="square" lIns="0" tIns="0" rIns="0" bIns="0" rtlCol="0" anchor="t"/>
          <a:lstStyle/>
          <a:p>
            <a:pPr marL="0" indent="0">
              <a:buNone/>
            </a:pPr>
            <a:r>
              <a:rPr lang="en-US" sz="1400" b="1" dirty="0">
                <a:solidFill>
                  <a:schemeClr val="tx2"/>
                </a:solidFill>
              </a:rPr>
              <a:t>NPP trend 2001–2020; black = zones sensitive to AOD (p &lt; 0.05)</a:t>
            </a:r>
            <a:endParaRPr lang="en-US" sz="1400" dirty="0"/>
          </a:p>
        </p:txBody>
      </p:sp>
      <p:pic>
        <p:nvPicPr>
          <p:cNvPr id="6" name="Hari map" descr="Hari map"/>
          <p:cNvPicPr>
            <a:picLocks noChangeAspect="1"/>
          </p:cNvPicPr>
          <p:nvPr/>
        </p:nvPicPr>
        <p:blipFill>
          <a:blip r:embed="rId3"/>
          <a:stretch>
            <a:fillRect/>
          </a:stretch>
        </p:blipFill>
        <p:spPr>
          <a:xfrm>
            <a:off x="594360" y="1901952"/>
            <a:ext cx="4297680" cy="3686359"/>
          </a:xfrm>
          <a:prstGeom prst="rect">
            <a:avLst/>
          </a:prstGeom>
        </p:spPr>
      </p:pic>
      <p:sp>
        <p:nvSpPr>
          <p:cNvPr id="7" name="Hari map source"/>
          <p:cNvSpPr txBox="1"/>
          <p:nvPr/>
        </p:nvSpPr>
        <p:spPr>
          <a:xfrm>
            <a:off x="594360" y="5661463"/>
            <a:ext cx="4297680" cy="246888"/>
          </a:xfrm>
          <a:prstGeom prst="rect">
            <a:avLst/>
          </a:prstGeom>
          <a:noFill/>
          <a:ln/>
        </p:spPr>
        <p:txBody>
          <a:bodyPr wrap="square" lIns="0" tIns="0" rIns="0" bIns="0" rtlCol="0" anchor="t"/>
          <a:lstStyle/>
          <a:p>
            <a:pPr marL="0" indent="0">
              <a:buNone/>
            </a:pPr>
            <a:r>
              <a:rPr lang="en-US" sz="1400" i="1" dirty="0">
                <a:solidFill>
                  <a:schemeClr val="accent1"/>
                </a:solidFill>
              </a:rPr>
              <a:t>Source: Hari &amp; Tyagi, 2022, Fig. 5</a:t>
            </a:r>
            <a:endParaRPr lang="en-US" sz="1400" dirty="0"/>
          </a:p>
        </p:txBody>
      </p:sp>
      <p:graphicFrame>
        <p:nvGraphicFramePr>
          <p:cNvPr id="32" name="Zone trend table"/>
          <p:cNvGraphicFramePr>
            <a:graphicFrameLocks noGrp="1"/>
          </p:cNvGraphicFramePr>
          <p:nvPr>
            <p:extLst>
              <p:ext uri="{D42A27DB-BD31-4B8C-83A1-F6EECF244321}">
                <p14:modId xmlns:p14="http://schemas.microsoft.com/office/powerpoint/2010/main" val="1579011935"/>
              </p:ext>
            </p:extLst>
          </p:nvPr>
        </p:nvGraphicFramePr>
        <p:xfrm>
          <a:off x="5257800" y="1280160"/>
          <a:ext cx="6473952" cy="1892808"/>
        </p:xfrm>
        <a:graphic>
          <a:graphicData uri="http://schemas.openxmlformats.org/drawingml/2006/table">
            <a:tbl>
              <a:tblPr/>
              <a:tblGrid>
                <a:gridCol w="274320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Zone group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NPP trend (2001–2020)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2"/>
                          </a:solidFill>
                        </a:rPr>
                        <a:t>Negative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LGP, MGP, TGP, ECP, EPlat, EH, WCP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2"/>
                          </a:solidFill>
                        </a:rPr>
                        <a:t>Positive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CPlat, SPlat, GP, UGP, WP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2"/>
                          </a:solidFill>
                        </a:rPr>
                        <a:t>India total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1.09 → 1.33 Pg C yr</a:t>
                      </a:r>
                      <a:r>
                        <a:rPr lang="en-US" sz="1400" baseline="30000" dirty="0">
                          <a:solidFill>
                            <a:schemeClr val="tx1"/>
                          </a:solidFill>
                        </a:rPr>
                        <a:t>−1</a:t>
                      </a:r>
                      <a:r>
                        <a:rPr lang="en-US" sz="1400" dirty="0">
                          <a:solidFill>
                            <a:schemeClr val="tx1"/>
                          </a:solidFill>
                        </a:rPr>
                        <a:t>; decadal trend −2.51%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9" name="Hari results card"/>
          <p:cNvSpPr/>
          <p:nvPr/>
        </p:nvSpPr>
        <p:spPr>
          <a:xfrm>
            <a:off x="5257800" y="3291840"/>
            <a:ext cx="6473952" cy="1965960"/>
          </a:xfrm>
          <a:prstGeom prst="roundRect">
            <a:avLst>
              <a:gd name="adj" fmla="val 3256"/>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0" name="Hari results card head"/>
          <p:cNvSpPr/>
          <p:nvPr/>
        </p:nvSpPr>
        <p:spPr>
          <a:xfrm>
            <a:off x="5257800" y="3291840"/>
            <a:ext cx="6473952" cy="402336"/>
          </a:xfrm>
          <a:prstGeom prst="roundRect">
            <a:avLst>
              <a:gd name="adj" fmla="val 15909"/>
            </a:avLst>
          </a:prstGeom>
          <a:solidFill>
            <a:schemeClr val="accent3"/>
          </a:solidFill>
          <a:ln w="12700">
            <a:solidFill>
              <a:schemeClr val="accent3"/>
            </a:solidFill>
            <a:prstDash val="solid"/>
          </a:ln>
        </p:spPr>
      </p:sp>
      <p:sp>
        <p:nvSpPr>
          <p:cNvPr id="11" name="Hari results card head text"/>
          <p:cNvSpPr txBox="1"/>
          <p:nvPr/>
        </p:nvSpPr>
        <p:spPr>
          <a:xfrm>
            <a:off x="5394960" y="3291840"/>
            <a:ext cx="6199632" cy="402336"/>
          </a:xfrm>
          <a:prstGeom prst="rect">
            <a:avLst/>
          </a:prstGeom>
          <a:noFill/>
          <a:ln/>
        </p:spPr>
        <p:txBody>
          <a:bodyPr wrap="square" lIns="0" tIns="0" rIns="0" bIns="0" rtlCol="0" anchor="ctr"/>
          <a:lstStyle/>
          <a:p>
            <a:pPr marL="0" indent="0">
              <a:buNone/>
            </a:pPr>
            <a:r>
              <a:rPr lang="en-US" sz="1400" b="1" dirty="0">
                <a:solidFill>
                  <a:schemeClr val="bg1"/>
                </a:solidFill>
              </a:rPr>
              <a:t>Key results</a:t>
            </a:r>
            <a:endParaRPr lang="en-US" sz="1400" dirty="0"/>
          </a:p>
        </p:txBody>
      </p:sp>
      <p:sp>
        <p:nvSpPr>
          <p:cNvPr id="12" name="Hari results card text"/>
          <p:cNvSpPr txBox="1"/>
          <p:nvPr/>
        </p:nvSpPr>
        <p:spPr>
          <a:xfrm>
            <a:off x="5422392" y="3785616"/>
            <a:ext cx="6144768" cy="139903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Diffuse PAR rises with AOD only up to ≈ 0.54 in agro zones, then falls</a:t>
            </a:r>
            <a:endParaRPr lang="en-US" sz="1400" dirty="0"/>
          </a:p>
          <a:p>
            <a:pPr marL="177800" indent="-177800">
              <a:spcAft>
                <a:spcPts val="500"/>
              </a:spcAft>
              <a:buSzPct val="100000"/>
              <a:buChar char="•"/>
            </a:pPr>
            <a:r>
              <a:rPr lang="en-US" sz="1400" dirty="0">
                <a:solidFill>
                  <a:schemeClr val="tx1"/>
                </a:solidFill>
              </a:rPr>
              <a:t>Aerosol altered NPP of the Gangetic agro zones by about 11%</a:t>
            </a:r>
            <a:endParaRPr lang="en-US" sz="1400" dirty="0"/>
          </a:p>
          <a:p>
            <a:pPr marL="177800" indent="-177800">
              <a:buSzPct val="100000"/>
              <a:buChar char="•"/>
            </a:pPr>
            <a:r>
              <a:rPr lang="en-US" sz="1400" dirty="0">
                <a:solidFill>
                  <a:schemeClr val="tx1"/>
                </a:solidFill>
              </a:rPr>
              <a:t>Maximum negative effect: Western and Eastern Plateau, post-monsoon</a:t>
            </a:r>
            <a:endParaRPr lang="en-US" sz="1400" dirty="0"/>
          </a:p>
        </p:txBody>
      </p:sp>
      <p:sp>
        <p:nvSpPr>
          <p:cNvPr id="13" name="Hari pattern strip"/>
          <p:cNvSpPr/>
          <p:nvPr/>
        </p:nvSpPr>
        <p:spPr>
          <a:xfrm>
            <a:off x="5257800" y="5440680"/>
            <a:ext cx="6473952" cy="685800"/>
          </a:xfrm>
          <a:prstGeom prst="roundRect">
            <a:avLst>
              <a:gd name="adj" fmla="val 8000"/>
            </a:avLst>
          </a:prstGeom>
          <a:solidFill>
            <a:schemeClr val="bg2"/>
          </a:solidFill>
          <a:ln w="12700">
            <a:solidFill>
              <a:schemeClr val="bg2"/>
            </a:solidFill>
            <a:prstDash val="solid"/>
          </a:ln>
        </p:spPr>
      </p:sp>
      <p:sp>
        <p:nvSpPr>
          <p:cNvPr id="14" name="Hari pattern strip text"/>
          <p:cNvSpPr txBox="1"/>
          <p:nvPr/>
        </p:nvSpPr>
        <p:spPr>
          <a:xfrm>
            <a:off x="5394960" y="5440680"/>
            <a:ext cx="6199632" cy="685800"/>
          </a:xfrm>
          <a:prstGeom prst="rect">
            <a:avLst/>
          </a:prstGeom>
          <a:noFill/>
          <a:ln/>
        </p:spPr>
        <p:txBody>
          <a:bodyPr wrap="square" lIns="0" tIns="0" rIns="0" bIns="0" rtlCol="0" anchor="ctr"/>
          <a:lstStyle/>
          <a:p>
            <a:pPr marL="0" indent="0">
              <a:buNone/>
            </a:pPr>
            <a:r>
              <a:rPr lang="en-US" sz="1400" b="1" dirty="0">
                <a:solidFill>
                  <a:schemeClr val="tx1"/>
                </a:solidFill>
              </a:rPr>
              <a:t>Pattern:</a:t>
            </a:r>
            <a:r>
              <a:rPr lang="en-US" sz="1400" dirty="0">
                <a:solidFill>
                  <a:schemeClr val="tx1"/>
                </a:solidFill>
              </a:rPr>
              <a:t> India is still greening, but more slowly, and high-AOD cropland zones lose NPP.</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9 · Challenges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Uncertainties and challenges</a:t>
            </a:r>
            <a:endParaRPr lang="en-US" sz="2800" dirty="0"/>
          </a:p>
        </p:txBody>
      </p:sp>
      <p:graphicFrame>
        <p:nvGraphicFramePr>
          <p:cNvPr id="34" name="Challenge table"/>
          <p:cNvGraphicFramePr>
            <a:graphicFrameLocks noGrp="1"/>
          </p:cNvGraphicFramePr>
          <p:nvPr>
            <p:extLst>
              <p:ext uri="{D42A27DB-BD31-4B8C-83A1-F6EECF244321}">
                <p14:modId xmlns:p14="http://schemas.microsoft.com/office/powerpoint/2010/main" val="1579011935"/>
              </p:ext>
            </p:extLst>
          </p:nvPr>
        </p:nvGraphicFramePr>
        <p:xfrm>
          <a:off x="457200" y="1280160"/>
          <a:ext cx="7452360" cy="4334256"/>
        </p:xfrm>
        <a:graphic>
          <a:graphicData uri="http://schemas.openxmlformats.org/drawingml/2006/table">
            <a:tbl>
              <a:tblPr/>
              <a:tblGrid>
                <a:gridCol w="17830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Challenge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Problem and 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Remedy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21792">
                <a:tc>
                  <a:txBody>
                    <a:bodyPr/>
                    <a:lstStyle/>
                    <a:p>
                      <a:pPr marL="0" indent="0">
                        <a:buNone/>
                      </a:pPr>
                      <a:r>
                        <a:rPr lang="en-US" sz="1400" b="1" dirty="0">
                          <a:solidFill>
                            <a:schemeClr val="tx2"/>
                          </a:solidFill>
                        </a:rPr>
                        <a:t>Satellite AOD error</a:t>
                      </a:r>
                      <a:endParaRPr lang="en-US" sz="1400" dirty="0"/>
                    </a:p>
                    <a:p>
                      <a:pPr marL="0" indent="0">
                        <a:buNone/>
                      </a:pPr>
                      <a:r>
                        <a:rPr lang="en-US" sz="1400" i="1" dirty="0">
                          <a:solidFill>
                            <a:schemeClr val="accent1"/>
                          </a:solidFill>
                        </a:rPr>
                        <a:t>Ramachandran &amp; Rupakheti,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&lt; 70% of MODIS AOD within expected error over South Asia vs ≥ 80% over N. America and 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MAIAC; AERONET bias correction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21792">
                <a:tc>
                  <a:txBody>
                    <a:bodyPr/>
                    <a:lstStyle/>
                    <a:p>
                      <a:pPr marL="0" indent="0">
                        <a:buNone/>
                      </a:pPr>
                      <a:r>
                        <a:rPr lang="en-US" sz="1400" b="1" dirty="0">
                          <a:solidFill>
                            <a:schemeClr val="tx2"/>
                          </a:solidFill>
                        </a:rPr>
                        <a:t>Cloud contamination</a:t>
                      </a:r>
                      <a:endParaRPr lang="en-US" sz="1400" dirty="0"/>
                    </a:p>
                    <a:p>
                      <a:pPr marL="0" indent="0">
                        <a:buNone/>
                      </a:pPr>
                      <a:r>
                        <a:rPr lang="en-US" sz="1400" i="1" dirty="0">
                          <a:solidFill>
                            <a:schemeClr val="accent1"/>
                          </a:solidFill>
                        </a:rPr>
                        <a:t>Várnai &amp; Marshak,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Clear-sky retrievals only; cloud-edge brightening inflates AOD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Strict masks; all-sky analysis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21792">
                <a:tc>
                  <a:txBody>
                    <a:bodyPr/>
                    <a:lstStyle/>
                    <a:p>
                      <a:pPr marL="0" indent="0">
                        <a:buNone/>
                      </a:pPr>
                      <a:r>
                        <a:rPr lang="en-US" sz="1400" b="1" dirty="0">
                          <a:solidFill>
                            <a:schemeClr val="tx2"/>
                          </a:solidFill>
                        </a:rPr>
                        <a:t>Scale mismatch</a:t>
                      </a:r>
                      <a:endParaRPr lang="en-US" sz="1400" dirty="0"/>
                    </a:p>
                    <a:p>
                      <a:pPr marL="0" indent="0">
                        <a:buNone/>
                      </a:pPr>
                      <a:r>
                        <a:rPr lang="en-US" sz="1400" i="1" dirty="0">
                          <a:solidFill>
                            <a:schemeClr val="accent1"/>
                          </a:solidFill>
                        </a:rPr>
                        <a:t>Chu et al.,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Tower footprint ~1 km² vs 1–50 km satellite pixels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Footprint-weighted matching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21792">
                <a:tc>
                  <a:txBody>
                    <a:bodyPr/>
                    <a:lstStyle/>
                    <a:p>
                      <a:pPr marL="0" indent="0">
                        <a:buNone/>
                      </a:pPr>
                      <a:r>
                        <a:rPr lang="en-US" sz="1400" b="1" dirty="0">
                          <a:solidFill>
                            <a:schemeClr val="tx2"/>
                          </a:solidFill>
                        </a:rPr>
                        <a:t>Reverse causation</a:t>
                      </a:r>
                      <a:endParaRPr lang="en-US" sz="1400" dirty="0"/>
                    </a:p>
                    <a:p>
                      <a:pPr marL="0" indent="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Bigger harvest → more residue fires → higher AOD (vegetation index +21%, fires +60%)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Pre-burning AOD; lagged tests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21792">
                <a:tc>
                  <a:txBody>
                    <a:bodyPr/>
                    <a:lstStyle/>
                    <a:p>
                      <a:pPr marL="0" indent="0">
                        <a:buNone/>
                      </a:pPr>
                      <a:r>
                        <a:rPr lang="en-US" sz="1400" b="1" dirty="0">
                          <a:solidFill>
                            <a:schemeClr val="tx2"/>
                          </a:solidFill>
                        </a:rPr>
                        <a:t>Ozone confounding</a:t>
                      </a:r>
                      <a:endParaRPr lang="en-US" sz="1400" dirty="0"/>
                    </a:p>
                    <a:p>
                      <a:pPr marL="0" indent="0">
                        <a:buNone/>
                      </a:pPr>
                      <a:r>
                        <a:rPr lang="en-US" sz="1400" i="1" dirty="0">
                          <a:solidFill>
                            <a:schemeClr val="accent1"/>
                          </a:solidFill>
                        </a:rPr>
                        <a:t>Liu &amp; Desai,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Same sources and season; US ozone yield losses 8.7% (maize), 4.8% (soybean)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Add ozone as a covariate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21792">
                <a:tc>
                  <a:txBody>
                    <a:bodyPr/>
                    <a:lstStyle/>
                    <a:p>
                      <a:pPr marL="0" indent="0">
                        <a:buNone/>
                      </a:pPr>
                      <a:r>
                        <a:rPr lang="en-US" sz="1400" b="1" dirty="0">
                          <a:solidFill>
                            <a:schemeClr val="tx2"/>
                          </a:solidFill>
                        </a:rPr>
                        <a:t>Circular reasoning</a:t>
                      </a:r>
                      <a:endParaRPr lang="en-US" sz="1400" dirty="0"/>
                    </a:p>
                    <a:p>
                      <a:pPr marL="0" indent="0">
                        <a:buNone/>
                      </a:pPr>
                      <a:r>
                        <a:rPr lang="en-US" sz="1400" i="1" dirty="0">
                          <a:solidFill>
                            <a:schemeClr val="accent1"/>
                          </a:solidFill>
                        </a:rPr>
                        <a:t>Zhang et al., 2023; Ryu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BESS/CERES diffuse PAR is computed from MODIS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Use measured diffuse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Circularity figure card"/>
          <p:cNvSpPr/>
          <p:nvPr/>
        </p:nvSpPr>
        <p:spPr>
          <a:xfrm>
            <a:off x="8092440" y="1280160"/>
            <a:ext cx="3639312" cy="2329520"/>
          </a:xfrm>
          <a:prstGeom prst="roundRect">
            <a:avLst>
              <a:gd name="adj" fmla="val 2748"/>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6" name="Circularity figure title"/>
          <p:cNvSpPr txBox="1"/>
          <p:nvPr/>
        </p:nvSpPr>
        <p:spPr>
          <a:xfrm>
            <a:off x="8229600" y="1371600"/>
            <a:ext cx="3364992" cy="530352"/>
          </a:xfrm>
          <a:prstGeom prst="rect">
            <a:avLst/>
          </a:prstGeom>
          <a:noFill/>
          <a:ln/>
        </p:spPr>
        <p:txBody>
          <a:bodyPr wrap="square" lIns="0" tIns="0" rIns="0" bIns="0" rtlCol="0" anchor="t"/>
          <a:lstStyle/>
          <a:p>
            <a:pPr marL="0" indent="0">
              <a:buNone/>
            </a:pPr>
            <a:r>
              <a:rPr lang="en-US" sz="1400" b="1" dirty="0">
                <a:solidFill>
                  <a:schemeClr val="tx2"/>
                </a:solidFill>
              </a:rPr>
              <a:t>BESS diffuse PAR by AOD bin (cropland)</a:t>
            </a:r>
            <a:endParaRPr lang="en-US" sz="1400" dirty="0"/>
          </a:p>
        </p:txBody>
      </p:sp>
      <p:pic>
        <p:nvPicPr>
          <p:cNvPr id="7" name="Circularity figure" descr="Circularity figure"/>
          <p:cNvPicPr>
            <a:picLocks noChangeAspect="1"/>
          </p:cNvPicPr>
          <p:nvPr/>
        </p:nvPicPr>
        <p:blipFill>
          <a:blip r:embed="rId3"/>
          <a:srcRect l="20539" r="5810"/>
          <a:stretch>
            <a:fillRect/>
          </a:stretch>
        </p:blipFill>
        <p:spPr>
          <a:xfrm>
            <a:off x="8666186" y="1802468"/>
            <a:ext cx="2491820" cy="1049360"/>
          </a:xfrm>
          <a:prstGeom prst="rect">
            <a:avLst/>
          </a:prstGeom>
        </p:spPr>
      </p:pic>
      <p:sp>
        <p:nvSpPr>
          <p:cNvPr id="8" name="Circularity figure caption"/>
          <p:cNvSpPr txBox="1"/>
          <p:nvPr/>
        </p:nvSpPr>
        <p:spPr>
          <a:xfrm>
            <a:off x="8229600" y="3024464"/>
            <a:ext cx="3364992" cy="228600"/>
          </a:xfrm>
          <a:prstGeom prst="rect">
            <a:avLst/>
          </a:prstGeom>
          <a:noFill/>
          <a:ln/>
        </p:spPr>
        <p:txBody>
          <a:bodyPr wrap="square" lIns="0" tIns="0" rIns="0" bIns="0" rtlCol="0" anchor="t"/>
          <a:lstStyle/>
          <a:p>
            <a:pPr marL="0" indent="0">
              <a:buNone/>
            </a:pPr>
            <a:r>
              <a:rPr lang="en-US" sz="1400" dirty="0">
                <a:solidFill>
                  <a:schemeClr val="tx1"/>
                </a:solidFill>
              </a:rPr>
              <a:t>Rises with AOD partly by construction</a:t>
            </a:r>
            <a:endParaRPr lang="en-US" sz="1400" dirty="0"/>
          </a:p>
        </p:txBody>
      </p:sp>
      <p:sp>
        <p:nvSpPr>
          <p:cNvPr id="9" name="Circularity figure source"/>
          <p:cNvSpPr txBox="1"/>
          <p:nvPr/>
        </p:nvSpPr>
        <p:spPr>
          <a:xfrm>
            <a:off x="8229600" y="3253064"/>
            <a:ext cx="3364992" cy="246888"/>
          </a:xfrm>
          <a:prstGeom prst="rect">
            <a:avLst/>
          </a:prstGeom>
          <a:noFill/>
          <a:ln/>
        </p:spPr>
        <p:txBody>
          <a:bodyPr wrap="square" lIns="0" tIns="0" rIns="0" bIns="0" rtlCol="0" anchor="t"/>
          <a:lstStyle/>
          <a:p>
            <a:pPr marL="0" indent="0">
              <a:buNone/>
            </a:pPr>
            <a:r>
              <a:rPr lang="en-US" sz="1400" i="1" dirty="0">
                <a:solidFill>
                  <a:schemeClr val="accent1"/>
                </a:solidFill>
              </a:rPr>
              <a:t>Source: Zhang et al., 2023, Fig. 10</a:t>
            </a:r>
            <a:endParaRPr lang="en-US" sz="1400" dirty="0"/>
          </a:p>
        </p:txBody>
      </p:sp>
      <p:sp>
        <p:nvSpPr>
          <p:cNvPr id="10" name="Challenge key strip"/>
          <p:cNvSpPr/>
          <p:nvPr/>
        </p:nvSpPr>
        <p:spPr>
          <a:xfrm>
            <a:off x="8092440" y="3657600"/>
            <a:ext cx="3639312" cy="2468880"/>
          </a:xfrm>
          <a:prstGeom prst="roundRect">
            <a:avLst>
              <a:gd name="adj" fmla="val 2222"/>
            </a:avLst>
          </a:prstGeom>
          <a:solidFill>
            <a:schemeClr val="bg2"/>
          </a:solidFill>
          <a:ln w="12700">
            <a:solidFill>
              <a:schemeClr val="bg2"/>
            </a:solidFill>
            <a:prstDash val="solid"/>
          </a:ln>
        </p:spPr>
      </p:sp>
      <p:sp>
        <p:nvSpPr>
          <p:cNvPr id="11" name="Challenge key strip text"/>
          <p:cNvSpPr txBox="1"/>
          <p:nvPr/>
        </p:nvSpPr>
        <p:spPr>
          <a:xfrm>
            <a:off x="8229600" y="3657600"/>
            <a:ext cx="3364992" cy="2468880"/>
          </a:xfrm>
          <a:prstGeom prst="rect">
            <a:avLst/>
          </a:prstGeom>
          <a:noFill/>
          <a:ln/>
        </p:spPr>
        <p:txBody>
          <a:bodyPr wrap="square" lIns="0" tIns="0" rIns="0" bIns="0" rtlCol="0" anchor="ctr"/>
          <a:lstStyle/>
          <a:p>
            <a:pPr marL="0" indent="0">
              <a:buNone/>
            </a:pPr>
            <a:r>
              <a:rPr lang="en-US" sz="1400" b="1" dirty="0">
                <a:solidFill>
                  <a:schemeClr val="tx1"/>
                </a:solidFill>
              </a:rPr>
              <a:t>Key point:</a:t>
            </a:r>
            <a:r>
              <a:rPr lang="en-US" sz="1400" dirty="0">
                <a:solidFill>
                  <a:schemeClr val="tx1"/>
                </a:solidFill>
              </a:rPr>
              <a:t> most aerosol–productivity results are associations; robust attribution needs accurate AOD over South Asia, measured diffuse PAR, ozone data and designs that rule out reverse causation.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1168"/>
            <a:ext cx="11274552" cy="292608"/>
          </a:xfrm>
          <a:prstGeom prst="rect">
            <a:avLst/>
          </a:prstGeom>
          <a:noFill/>
          <a:ln/>
        </p:spPr>
        <p:txBody>
          <a:bodyPr wrap="square" lIns="0" tIns="0" rIns="0" bIns="0" rtlCol="0" anchor="ctr"/>
          <a:lstStyle/>
          <a:p>
            <a:pPr marL="0" indent="0" algn="l">
              <a:buNone/>
            </a:pPr>
            <a:r>
              <a:rPr lang="en-US" sz="1400" b="1" dirty="0">
                <a:solidFill>
                  <a:schemeClr val="accent1"/>
                </a:solidFill>
              </a:rPr>
              <a:t>10 · Conclusions</a:t>
            </a:r>
            <a:endParaRPr lang="en-US" sz="1400" dirty="0"/>
          </a:p>
        </p:txBody>
      </p:sp>
      <p:sp>
        <p:nvSpPr>
          <p:cNvPr id="3" name="Text 0"/>
          <p:cNvSpPr>
            <a:spLocks noGrp="1"/>
          </p:cNvSpPr>
          <p:nvPr>
            <p:ph type="title" idx="101" hasCustomPrompt="1"/>
          </p:nvPr>
        </p:nvSpPr>
        <p:spPr>
          <a:xfrm>
            <a:off x="457200" y="502920"/>
            <a:ext cx="11274552" cy="594360"/>
          </a:xfrm>
          <a:prstGeom prst="rect">
            <a:avLst/>
          </a:prstGeom>
          <a:noFill/>
          <a:ln/>
        </p:spPr>
        <p:txBody>
          <a:bodyPr wrap="square" lIns="0" tIns="0" rIns="0" bIns="0" rtlCol="0" anchor="ctr"/>
          <a:lstStyle/>
          <a:p>
            <a:pPr marL="0" indent="0" algn="l">
              <a:buNone/>
            </a:pPr>
            <a:r>
              <a:rPr lang="en-US" sz="2800" b="1" dirty="0">
                <a:solidFill>
                  <a:schemeClr val="tx2"/>
                </a:solidFill>
              </a:rPr>
              <a:t>Conclusions and take-home messages</a:t>
            </a:r>
            <a:endParaRPr lang="en-US" sz="2800" dirty="0"/>
          </a:p>
        </p:txBody>
      </p:sp>
      <p:sp>
        <p:nvSpPr>
          <p:cNvPr id="4" name="Conclusion 1"/>
          <p:cNvSpPr/>
          <p:nvPr/>
        </p:nvSpPr>
        <p:spPr>
          <a:xfrm>
            <a:off x="457200" y="1371600"/>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5" name="Conclusion 1 badge"/>
          <p:cNvSpPr/>
          <p:nvPr/>
        </p:nvSpPr>
        <p:spPr>
          <a:xfrm>
            <a:off x="594360" y="1737360"/>
            <a:ext cx="457200" cy="457200"/>
          </a:xfrm>
          <a:prstGeom prst="ellipse">
            <a:avLst/>
          </a:prstGeom>
          <a:solidFill>
            <a:schemeClr val="accent1"/>
          </a:solidFill>
          <a:ln w="12700">
            <a:solidFill>
              <a:schemeClr val="accent1"/>
            </a:solidFill>
            <a:prstDash val="solid"/>
          </a:ln>
        </p:spPr>
      </p:sp>
      <p:sp>
        <p:nvSpPr>
          <p:cNvPr id="6" name="Conclusion 1 badge text"/>
          <p:cNvSpPr txBox="1"/>
          <p:nvPr/>
        </p:nvSpPr>
        <p:spPr>
          <a:xfrm>
            <a:off x="594360" y="1737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Conclusion 1 text"/>
          <p:cNvSpPr txBox="1"/>
          <p:nvPr/>
        </p:nvSpPr>
        <p:spPr>
          <a:xfrm>
            <a:off x="1188720" y="1426464"/>
            <a:ext cx="4631436" cy="1078992"/>
          </a:xfrm>
          <a:prstGeom prst="rect">
            <a:avLst/>
          </a:prstGeom>
          <a:noFill/>
          <a:ln/>
        </p:spPr>
        <p:txBody>
          <a:bodyPr wrap="square" lIns="0" tIns="0" rIns="0" bIns="0" rtlCol="0" anchor="ctr"/>
          <a:lstStyle/>
          <a:p>
            <a:pPr marL="0" indent="0">
              <a:buNone/>
            </a:pPr>
            <a:r>
              <a:rPr lang="en-US" sz="1400" dirty="0">
                <a:solidFill>
                  <a:schemeClr val="tx1"/>
                </a:solidFill>
              </a:rPr>
              <a:t>Aerosols change both the amount (dimming) and the quality (diffuse fraction) of light reaching vegetation</a:t>
            </a:r>
            <a:endParaRPr lang="en-US" sz="1400" dirty="0"/>
          </a:p>
        </p:txBody>
      </p:sp>
      <p:sp>
        <p:nvSpPr>
          <p:cNvPr id="8" name="Conclusion 2"/>
          <p:cNvSpPr/>
          <p:nvPr/>
        </p:nvSpPr>
        <p:spPr>
          <a:xfrm>
            <a:off x="6231636" y="1371600"/>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9" name="Conclusion 2 badge"/>
          <p:cNvSpPr/>
          <p:nvPr/>
        </p:nvSpPr>
        <p:spPr>
          <a:xfrm>
            <a:off x="6368796" y="1737360"/>
            <a:ext cx="457200" cy="457200"/>
          </a:xfrm>
          <a:prstGeom prst="ellipse">
            <a:avLst/>
          </a:prstGeom>
          <a:solidFill>
            <a:schemeClr val="accent2"/>
          </a:solidFill>
          <a:ln w="12700">
            <a:solidFill>
              <a:schemeClr val="accent2"/>
            </a:solidFill>
            <a:prstDash val="solid"/>
          </a:ln>
        </p:spPr>
      </p:sp>
      <p:sp>
        <p:nvSpPr>
          <p:cNvPr id="10" name="Conclusion 2 badge text"/>
          <p:cNvSpPr txBox="1"/>
          <p:nvPr/>
        </p:nvSpPr>
        <p:spPr>
          <a:xfrm>
            <a:off x="6368796" y="1737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Conclusion 2 text"/>
          <p:cNvSpPr txBox="1"/>
          <p:nvPr/>
        </p:nvSpPr>
        <p:spPr>
          <a:xfrm>
            <a:off x="6963156" y="1426464"/>
            <a:ext cx="4631436" cy="1078992"/>
          </a:xfrm>
          <a:prstGeom prst="rect">
            <a:avLst/>
          </a:prstGeom>
          <a:noFill/>
          <a:ln/>
        </p:spPr>
        <p:txBody>
          <a:bodyPr wrap="square" lIns="0" tIns="0" rIns="0" bIns="0" rtlCol="0" anchor="ctr"/>
          <a:lstStyle/>
          <a:p>
            <a:pPr marL="0" indent="0">
              <a:buNone/>
            </a:pPr>
            <a:r>
              <a:rPr lang="en-US" sz="1400" dirty="0">
                <a:solidFill>
                  <a:schemeClr val="tx1"/>
                </a:solidFill>
              </a:rPr>
              <a:t>The response is non-linear: productivity gains at moderate AOD but falls at high AOD or under cloud</a:t>
            </a:r>
            <a:endParaRPr lang="en-US" sz="1400" dirty="0"/>
          </a:p>
        </p:txBody>
      </p:sp>
      <p:sp>
        <p:nvSpPr>
          <p:cNvPr id="12" name="Conclusion 3"/>
          <p:cNvSpPr/>
          <p:nvPr/>
        </p:nvSpPr>
        <p:spPr>
          <a:xfrm>
            <a:off x="457200" y="2761488"/>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3" name="Conclusion 3 badge"/>
          <p:cNvSpPr/>
          <p:nvPr/>
        </p:nvSpPr>
        <p:spPr>
          <a:xfrm>
            <a:off x="594360" y="3127248"/>
            <a:ext cx="457200" cy="457200"/>
          </a:xfrm>
          <a:prstGeom prst="ellipse">
            <a:avLst/>
          </a:prstGeom>
          <a:solidFill>
            <a:schemeClr val="accent3"/>
          </a:solidFill>
          <a:ln w="12700">
            <a:solidFill>
              <a:schemeClr val="accent3"/>
            </a:solidFill>
            <a:prstDash val="solid"/>
          </a:ln>
        </p:spPr>
      </p:sp>
      <p:sp>
        <p:nvSpPr>
          <p:cNvPr id="14" name="Conclusion 3 badge text"/>
          <p:cNvSpPr txBox="1"/>
          <p:nvPr/>
        </p:nvSpPr>
        <p:spPr>
          <a:xfrm>
            <a:off x="594360" y="312724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Conclusion 3 text"/>
          <p:cNvSpPr txBox="1"/>
          <p:nvPr/>
        </p:nvSpPr>
        <p:spPr>
          <a:xfrm>
            <a:off x="1188720" y="2816352"/>
            <a:ext cx="4631436" cy="1078992"/>
          </a:xfrm>
          <a:prstGeom prst="rect">
            <a:avLst/>
          </a:prstGeom>
          <a:noFill/>
          <a:ln/>
        </p:spPr>
        <p:txBody>
          <a:bodyPr wrap="square" lIns="0" tIns="0" rIns="0" bIns="0" rtlCol="0" anchor="ctr"/>
          <a:lstStyle/>
          <a:p>
            <a:pPr marL="0" indent="0">
              <a:buNone/>
            </a:pPr>
            <a:r>
              <a:rPr lang="en-US" sz="1400" dirty="0">
                <a:solidFill>
                  <a:schemeClr val="tx1"/>
                </a:solidFill>
              </a:rPr>
              <a:t>Dense C3 canopies gain most; grasslands, C4 crops and sparse canopies gain little</a:t>
            </a:r>
            <a:endParaRPr lang="en-US" sz="1400" dirty="0"/>
          </a:p>
        </p:txBody>
      </p:sp>
      <p:sp>
        <p:nvSpPr>
          <p:cNvPr id="16" name="Conclusion 4"/>
          <p:cNvSpPr/>
          <p:nvPr/>
        </p:nvSpPr>
        <p:spPr>
          <a:xfrm>
            <a:off x="6231636" y="2761488"/>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17" name="Conclusion 4 badge"/>
          <p:cNvSpPr/>
          <p:nvPr/>
        </p:nvSpPr>
        <p:spPr>
          <a:xfrm>
            <a:off x="6368796" y="3127248"/>
            <a:ext cx="457200" cy="457200"/>
          </a:xfrm>
          <a:prstGeom prst="ellipse">
            <a:avLst/>
          </a:prstGeom>
          <a:solidFill>
            <a:schemeClr val="tx2"/>
          </a:solidFill>
          <a:ln w="12700">
            <a:solidFill>
              <a:schemeClr val="tx2"/>
            </a:solidFill>
            <a:prstDash val="solid"/>
          </a:ln>
        </p:spPr>
      </p:sp>
      <p:sp>
        <p:nvSpPr>
          <p:cNvPr id="18" name="Conclusion 4 badge text"/>
          <p:cNvSpPr txBox="1"/>
          <p:nvPr/>
        </p:nvSpPr>
        <p:spPr>
          <a:xfrm>
            <a:off x="6368796" y="312724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Conclusion 4 text"/>
          <p:cNvSpPr txBox="1"/>
          <p:nvPr/>
        </p:nvSpPr>
        <p:spPr>
          <a:xfrm>
            <a:off x="6963156" y="2816352"/>
            <a:ext cx="4631436" cy="1078992"/>
          </a:xfrm>
          <a:prstGeom prst="rect">
            <a:avLst/>
          </a:prstGeom>
          <a:noFill/>
          <a:ln/>
        </p:spPr>
        <p:txBody>
          <a:bodyPr wrap="square" lIns="0" tIns="0" rIns="0" bIns="0" rtlCol="0" anchor="ctr"/>
          <a:lstStyle/>
          <a:p>
            <a:pPr marL="0" indent="0">
              <a:buNone/>
            </a:pPr>
            <a:r>
              <a:rPr lang="en-US" sz="1400" dirty="0">
                <a:solidFill>
                  <a:schemeClr val="tx1"/>
                </a:solidFill>
              </a:rPr>
              <a:t>Remote sensing (MAIAC AOD, SIF, vegetation indices, LUE and two-leaf models) quantifies the link from field to globe, with ground validation</a:t>
            </a:r>
            <a:endParaRPr lang="en-US" sz="1400" dirty="0"/>
          </a:p>
        </p:txBody>
      </p:sp>
      <p:sp>
        <p:nvSpPr>
          <p:cNvPr id="20" name="Conclusion 5"/>
          <p:cNvSpPr/>
          <p:nvPr/>
        </p:nvSpPr>
        <p:spPr>
          <a:xfrm>
            <a:off x="457200" y="4151376"/>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21" name="Conclusion 5 badge"/>
          <p:cNvSpPr/>
          <p:nvPr/>
        </p:nvSpPr>
        <p:spPr>
          <a:xfrm>
            <a:off x="594360" y="4517136"/>
            <a:ext cx="457200" cy="457200"/>
          </a:xfrm>
          <a:prstGeom prst="ellipse">
            <a:avLst/>
          </a:prstGeom>
          <a:solidFill>
            <a:schemeClr val="accent5"/>
          </a:solidFill>
          <a:ln w="12700">
            <a:solidFill>
              <a:schemeClr val="accent5"/>
            </a:solidFill>
            <a:prstDash val="solid"/>
          </a:ln>
        </p:spPr>
      </p:sp>
      <p:sp>
        <p:nvSpPr>
          <p:cNvPr id="22" name="Conclusion 5 badge text"/>
          <p:cNvSpPr txBox="1"/>
          <p:nvPr/>
        </p:nvSpPr>
        <p:spPr>
          <a:xfrm>
            <a:off x="594360" y="451713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Conclusion 5 text"/>
          <p:cNvSpPr txBox="1"/>
          <p:nvPr/>
        </p:nvSpPr>
        <p:spPr>
          <a:xfrm>
            <a:off x="1188720" y="4206240"/>
            <a:ext cx="4631436" cy="1078992"/>
          </a:xfrm>
          <a:prstGeom prst="rect">
            <a:avLst/>
          </a:prstGeom>
          <a:noFill/>
          <a:ln/>
        </p:spPr>
        <p:txBody>
          <a:bodyPr wrap="square" lIns="0" tIns="0" rIns="0" bIns="0" rtlCol="0" anchor="ctr"/>
          <a:lstStyle/>
          <a:p>
            <a:pPr marL="0" indent="0">
              <a:buNone/>
            </a:pPr>
            <a:r>
              <a:rPr lang="en-US" sz="1400" dirty="0">
                <a:solidFill>
                  <a:schemeClr val="tx1"/>
                </a:solidFill>
              </a:rPr>
              <a:t>Over India, high, rising and partly absorbing aerosol mostly lowers crop yield and slows greening; evidence is still sparse</a:t>
            </a:r>
            <a:endParaRPr lang="en-US" sz="1400" dirty="0"/>
          </a:p>
        </p:txBody>
      </p:sp>
      <p:sp>
        <p:nvSpPr>
          <p:cNvPr id="24" name="Conclusion 6"/>
          <p:cNvSpPr/>
          <p:nvPr/>
        </p:nvSpPr>
        <p:spPr>
          <a:xfrm>
            <a:off x="6231636" y="4151376"/>
            <a:ext cx="5500116" cy="1188720"/>
          </a:xfrm>
          <a:prstGeom prst="roundRect">
            <a:avLst>
              <a:gd name="adj" fmla="val 5385"/>
            </a:avLst>
          </a:prstGeom>
          <a:solidFill>
            <a:schemeClr val="bg1"/>
          </a:solidFill>
          <a:ln w="9525">
            <a:solidFill>
              <a:schemeClr val="accent4">
                <a:alpha val="60000"/>
              </a:schemeClr>
            </a:solidFill>
            <a:prstDash val="solid"/>
          </a:ln>
          <a:effectLst>
            <a:outerShdw blurRad="76200" dist="25400" dir="5400000" algn="bl" rotWithShape="0">
              <a:srgbClr val="000000">
                <a:alpha val="12000"/>
              </a:srgbClr>
            </a:outerShdw>
          </a:effectLst>
        </p:spPr>
      </p:sp>
      <p:sp>
        <p:nvSpPr>
          <p:cNvPr id="25" name="Conclusion 6 badge"/>
          <p:cNvSpPr/>
          <p:nvPr/>
        </p:nvSpPr>
        <p:spPr>
          <a:xfrm>
            <a:off x="6368796" y="4517136"/>
            <a:ext cx="457200" cy="457200"/>
          </a:xfrm>
          <a:prstGeom prst="ellipse">
            <a:avLst/>
          </a:prstGeom>
          <a:solidFill>
            <a:schemeClr val="accent6"/>
          </a:solidFill>
          <a:ln w="12700">
            <a:solidFill>
              <a:schemeClr val="accent6"/>
            </a:solidFill>
            <a:prstDash val="solid"/>
          </a:ln>
        </p:spPr>
      </p:sp>
      <p:sp>
        <p:nvSpPr>
          <p:cNvPr id="26" name="Conclusion 6 badge text"/>
          <p:cNvSpPr txBox="1"/>
          <p:nvPr/>
        </p:nvSpPr>
        <p:spPr>
          <a:xfrm>
            <a:off x="6368796" y="451713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7" name="Conclusion 6 text"/>
          <p:cNvSpPr txBox="1"/>
          <p:nvPr/>
        </p:nvSpPr>
        <p:spPr>
          <a:xfrm>
            <a:off x="6963156" y="4206240"/>
            <a:ext cx="4631436" cy="1078992"/>
          </a:xfrm>
          <a:prstGeom prst="rect">
            <a:avLst/>
          </a:prstGeom>
          <a:noFill/>
          <a:ln/>
        </p:spPr>
        <p:txBody>
          <a:bodyPr wrap="square" lIns="0" tIns="0" rIns="0" bIns="0" rtlCol="0" anchor="ctr"/>
          <a:lstStyle/>
          <a:p>
            <a:pPr marL="0" indent="0">
              <a:buNone/>
            </a:pPr>
            <a:r>
              <a:rPr lang="en-US" sz="1400" dirty="0">
                <a:solidFill>
                  <a:schemeClr val="tx1"/>
                </a:solidFill>
              </a:rPr>
              <a:t>Priorities: accurate AOD over South Asia, measured diffuse PAR and ozone-aware attribution</a:t>
            </a:r>
            <a:endParaRPr lang="en-US" sz="1400" dirty="0"/>
          </a:p>
        </p:txBody>
      </p:sp>
      <p:sp>
        <p:nvSpPr>
          <p:cNvPr id="28" name="Take-home strip"/>
          <p:cNvSpPr/>
          <p:nvPr/>
        </p:nvSpPr>
        <p:spPr>
          <a:xfrm>
            <a:off x="457200" y="5532120"/>
            <a:ext cx="11274552" cy="594360"/>
          </a:xfrm>
          <a:prstGeom prst="roundRect">
            <a:avLst>
              <a:gd name="adj" fmla="val 9231"/>
            </a:avLst>
          </a:prstGeom>
          <a:solidFill>
            <a:schemeClr val="bg2"/>
          </a:solidFill>
          <a:ln w="12700">
            <a:solidFill>
              <a:schemeClr val="bg2"/>
            </a:solidFill>
            <a:prstDash val="solid"/>
          </a:ln>
        </p:spPr>
      </p:sp>
      <p:sp>
        <p:nvSpPr>
          <p:cNvPr id="29" name="Take-home strip text"/>
          <p:cNvSpPr txBox="1"/>
          <p:nvPr/>
        </p:nvSpPr>
        <p:spPr>
          <a:xfrm>
            <a:off x="594360" y="5532120"/>
            <a:ext cx="11000232" cy="594360"/>
          </a:xfrm>
          <a:prstGeom prst="rect">
            <a:avLst/>
          </a:prstGeom>
          <a:noFill/>
          <a:ln/>
        </p:spPr>
        <p:txBody>
          <a:bodyPr wrap="square" lIns="0" tIns="0" rIns="0" bIns="0" rtlCol="0" anchor="ctr"/>
          <a:lstStyle/>
          <a:p>
            <a:pPr marL="0" indent="0">
              <a:buNone/>
            </a:pPr>
            <a:r>
              <a:rPr lang="en-US" sz="1400" b="1" dirty="0">
                <a:solidFill>
                  <a:schemeClr val="tx1"/>
                </a:solidFill>
              </a:rPr>
              <a:t>Take-home:</a:t>
            </a:r>
            <a:r>
              <a:rPr lang="en-US" sz="1400" dirty="0">
                <a:solidFill>
                  <a:schemeClr val="tx1"/>
                </a:solidFill>
              </a:rPr>
              <a:t> over the Indo-Gangetic Plain, where AOD is above the optimum and still rising, aerosol is likely reducing crop and ecosystem productivity.</a:t>
            </a:r>
            <a:endParaRPr lang="en-US" sz="1400" dirty="0"/>
          </a:p>
        </p:txBody>
      </p:sp>
      <p:sp>
        <p:nvSpPr>
          <p:cNvPr id="30"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xmlns="" val="0"/>
            </a:ext>
          </a:extLst>
        </p:spPr>
        <p:txBody>
          <a:bodyPr lIns="0" tIns="0" rIns="0" bIns="0"/>
          <a:lstStyle>
            <a:lvl1pPr>
              <a:defRPr sz="1400">
                <a:solidFill>
                  <a:schemeClr val="accent1"/>
                </a:solidFill>
              </a:defRPr>
            </a:lvl1pPr>
          </a:lstStyle>
          <a:p>
            <a:pPr algn="r"/>
            <a:fld id="{F7021451-1387-4CA6-816F-3879F97B5CBC}" type="slidenum">
              <a:rPr lang="en-US" b="0"/>
              <a:t>33</a:t>
            </a:fld>
            <a:endParaRPr lang="en-US"/>
          </a:p>
        </p:txBody>
      </p:sp>
    </p:spTree>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Outline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Seminar outline</a:t>
            </a:r>
            <a:endParaRPr lang="en-US" sz="2800" dirty="0"/>
          </a:p>
        </p:txBody>
      </p:sp>
      <p:sp>
        <p:nvSpPr>
          <p:cNvPr id="4" name="Outline 1"/>
          <p:cNvSpPr/>
          <p:nvPr/>
        </p:nvSpPr>
        <p:spPr>
          <a:xfrm>
            <a:off x="457200" y="1371600"/>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Outline 1 badge"/>
          <p:cNvSpPr/>
          <p:nvPr/>
        </p:nvSpPr>
        <p:spPr>
          <a:xfrm>
            <a:off x="594360" y="1563624"/>
            <a:ext cx="457200" cy="457200"/>
          </a:xfrm>
          <a:prstGeom prst="ellipse">
            <a:avLst/>
          </a:prstGeom>
          <a:solidFill>
            <a:schemeClr val="accent1"/>
          </a:solidFill>
          <a:ln w="12700">
            <a:solidFill>
              <a:schemeClr val="accent1"/>
            </a:solidFill>
            <a:prstDash val="solid"/>
          </a:ln>
        </p:spPr>
      </p:sp>
      <p:sp>
        <p:nvSpPr>
          <p:cNvPr id="6" name="Outline 1 badge text"/>
          <p:cNvSpPr txBox="1"/>
          <p:nvPr/>
        </p:nvSpPr>
        <p:spPr>
          <a:xfrm>
            <a:off x="594360" y="15636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Outline 1 text"/>
          <p:cNvSpPr txBox="1"/>
          <p:nvPr/>
        </p:nvSpPr>
        <p:spPr>
          <a:xfrm>
            <a:off x="1188720" y="1426464"/>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Introduction</a:t>
            </a:r>
            <a:endParaRPr lang="en-US" sz="1400" dirty="0"/>
          </a:p>
          <a:p>
            <a:pPr indent="0" marL="0">
              <a:buNone/>
            </a:pPr>
            <a:r>
              <a:rPr lang="en-US" sz="1400" dirty="0">
                <a:solidFill>
                  <a:schemeClr val="tx1"/>
                </a:solidFill>
              </a:rPr>
              <a:t>Why aerosol–productivity interactions matter; conceptual framework</a:t>
            </a:r>
            <a:endParaRPr lang="en-US" sz="1400" dirty="0"/>
          </a:p>
        </p:txBody>
      </p:sp>
      <p:sp>
        <p:nvSpPr>
          <p:cNvPr id="8" name="Outline 2"/>
          <p:cNvSpPr/>
          <p:nvPr/>
        </p:nvSpPr>
        <p:spPr>
          <a:xfrm>
            <a:off x="457200" y="2322576"/>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Outline 2 badge"/>
          <p:cNvSpPr/>
          <p:nvPr/>
        </p:nvSpPr>
        <p:spPr>
          <a:xfrm>
            <a:off x="594360" y="2514600"/>
            <a:ext cx="457200" cy="457200"/>
          </a:xfrm>
          <a:prstGeom prst="ellipse">
            <a:avLst/>
          </a:prstGeom>
          <a:solidFill>
            <a:schemeClr val="accent1"/>
          </a:solidFill>
          <a:ln w="12700">
            <a:solidFill>
              <a:schemeClr val="accent1"/>
            </a:solidFill>
            <a:prstDash val="solid"/>
          </a:ln>
        </p:spPr>
      </p:sp>
      <p:sp>
        <p:nvSpPr>
          <p:cNvPr id="10" name="Outline 2 badge text"/>
          <p:cNvSpPr txBox="1"/>
          <p:nvPr/>
        </p:nvSpPr>
        <p:spPr>
          <a:xfrm>
            <a:off x="594360"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Outline 2 text"/>
          <p:cNvSpPr txBox="1"/>
          <p:nvPr/>
        </p:nvSpPr>
        <p:spPr>
          <a:xfrm>
            <a:off x="1188720" y="2377440"/>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Atmospheric aerosols</a:t>
            </a:r>
            <a:endParaRPr lang="en-US" sz="1400" dirty="0"/>
          </a:p>
          <a:p>
            <a:pPr indent="0" marL="0">
              <a:buNone/>
            </a:pPr>
            <a:r>
              <a:rPr lang="en-US" sz="1400" dirty="0">
                <a:solidFill>
                  <a:schemeClr val="tx1"/>
                </a:solidFill>
              </a:rPr>
              <a:t>Types, distribution, trends, optical properties and radiative effects</a:t>
            </a:r>
            <a:endParaRPr lang="en-US" sz="1400" dirty="0"/>
          </a:p>
        </p:txBody>
      </p:sp>
      <p:sp>
        <p:nvSpPr>
          <p:cNvPr id="12" name="Outline 3"/>
          <p:cNvSpPr/>
          <p:nvPr/>
        </p:nvSpPr>
        <p:spPr>
          <a:xfrm>
            <a:off x="457200" y="3273552"/>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Outline 3 badge"/>
          <p:cNvSpPr/>
          <p:nvPr/>
        </p:nvSpPr>
        <p:spPr>
          <a:xfrm>
            <a:off x="594360" y="3465576"/>
            <a:ext cx="457200" cy="457200"/>
          </a:xfrm>
          <a:prstGeom prst="ellipse">
            <a:avLst/>
          </a:prstGeom>
          <a:solidFill>
            <a:schemeClr val="accent1"/>
          </a:solidFill>
          <a:ln w="12700">
            <a:solidFill>
              <a:schemeClr val="accent1"/>
            </a:solidFill>
            <a:prstDash val="solid"/>
          </a:ln>
        </p:spPr>
      </p:sp>
      <p:sp>
        <p:nvSpPr>
          <p:cNvPr id="14" name="Outline 3 badge text"/>
          <p:cNvSpPr txBox="1"/>
          <p:nvPr/>
        </p:nvSpPr>
        <p:spPr>
          <a:xfrm>
            <a:off x="594360" y="34655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Outline 3 text"/>
          <p:cNvSpPr txBox="1"/>
          <p:nvPr/>
        </p:nvSpPr>
        <p:spPr>
          <a:xfrm>
            <a:off x="1188720" y="3328416"/>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Remote sensing of aerosols and radiation</a:t>
            </a:r>
            <a:endParaRPr lang="en-US" sz="1400" dirty="0"/>
          </a:p>
          <a:p>
            <a:pPr indent="0" marL="0">
              <a:buNone/>
            </a:pPr>
            <a:r>
              <a:rPr lang="en-US" sz="1400" dirty="0">
                <a:solidFill>
                  <a:schemeClr val="tx1"/>
                </a:solidFill>
              </a:rPr>
              <a:t>Ground networks, satellite retrieval, product accuracy, direct and diffuse PAR</a:t>
            </a:r>
            <a:endParaRPr lang="en-US" sz="1400" dirty="0"/>
          </a:p>
        </p:txBody>
      </p:sp>
      <p:sp>
        <p:nvSpPr>
          <p:cNvPr id="16" name="Outline 4"/>
          <p:cNvSpPr/>
          <p:nvPr/>
        </p:nvSpPr>
        <p:spPr>
          <a:xfrm>
            <a:off x="457200" y="4224528"/>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Outline 4 badge"/>
          <p:cNvSpPr/>
          <p:nvPr/>
        </p:nvSpPr>
        <p:spPr>
          <a:xfrm>
            <a:off x="594360" y="4416552"/>
            <a:ext cx="457200" cy="457200"/>
          </a:xfrm>
          <a:prstGeom prst="ellipse">
            <a:avLst/>
          </a:prstGeom>
          <a:solidFill>
            <a:schemeClr val="accent1"/>
          </a:solidFill>
          <a:ln w="12700">
            <a:solidFill>
              <a:schemeClr val="accent1"/>
            </a:solidFill>
            <a:prstDash val="solid"/>
          </a:ln>
        </p:spPr>
      </p:sp>
      <p:sp>
        <p:nvSpPr>
          <p:cNvPr id="18" name="Outline 4 badge text"/>
          <p:cNvSpPr txBox="1"/>
          <p:nvPr/>
        </p:nvSpPr>
        <p:spPr>
          <a:xfrm>
            <a:off x="594360" y="441655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Outline 4 text"/>
          <p:cNvSpPr txBox="1"/>
          <p:nvPr/>
        </p:nvSpPr>
        <p:spPr>
          <a:xfrm>
            <a:off x="1188720" y="4279392"/>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Remote sensing of productivity</a:t>
            </a:r>
            <a:endParaRPr lang="en-US" sz="1400" dirty="0"/>
          </a:p>
          <a:p>
            <a:pPr indent="0" marL="0">
              <a:buNone/>
            </a:pPr>
            <a:r>
              <a:rPr lang="en-US" sz="1400" dirty="0">
                <a:solidFill>
                  <a:schemeClr val="tx1"/>
                </a:solidFill>
              </a:rPr>
              <a:t>Productivity concepts, flux towers, vegetation indices, SIF and GPP products</a:t>
            </a:r>
            <a:endParaRPr lang="en-US" sz="1400" dirty="0"/>
          </a:p>
        </p:txBody>
      </p:sp>
      <p:sp>
        <p:nvSpPr>
          <p:cNvPr id="20" name="Outline 5"/>
          <p:cNvSpPr/>
          <p:nvPr/>
        </p:nvSpPr>
        <p:spPr>
          <a:xfrm>
            <a:off x="457200" y="5175504"/>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Outline 5 badge"/>
          <p:cNvSpPr/>
          <p:nvPr/>
        </p:nvSpPr>
        <p:spPr>
          <a:xfrm>
            <a:off x="594360" y="5367528"/>
            <a:ext cx="457200" cy="457200"/>
          </a:xfrm>
          <a:prstGeom prst="ellipse">
            <a:avLst/>
          </a:prstGeom>
          <a:solidFill>
            <a:schemeClr val="accent1"/>
          </a:solidFill>
          <a:ln w="12700">
            <a:solidFill>
              <a:schemeClr val="accent1"/>
            </a:solidFill>
            <a:prstDash val="solid"/>
          </a:ln>
        </p:spPr>
      </p:sp>
      <p:sp>
        <p:nvSpPr>
          <p:cNvPr id="22" name="Outline 5 badge text"/>
          <p:cNvSpPr txBox="1"/>
          <p:nvPr/>
        </p:nvSpPr>
        <p:spPr>
          <a:xfrm>
            <a:off x="594360" y="53675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Outline 5 text"/>
          <p:cNvSpPr txBox="1"/>
          <p:nvPr/>
        </p:nvSpPr>
        <p:spPr>
          <a:xfrm>
            <a:off x="1188720" y="5230368"/>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Linking aerosols to productivity</a:t>
            </a:r>
            <a:endParaRPr lang="en-US" sz="1400" dirty="0"/>
          </a:p>
          <a:p>
            <a:pPr indent="0" marL="0">
              <a:buNone/>
            </a:pPr>
            <a:r>
              <a:rPr lang="en-US" sz="1400" dirty="0">
                <a:solidFill>
                  <a:schemeClr val="tx1"/>
                </a:solidFill>
              </a:rPr>
              <a:t>Statistical designs, natural experiments, process models</a:t>
            </a:r>
            <a:endParaRPr lang="en-US" sz="1400" dirty="0"/>
          </a:p>
        </p:txBody>
      </p:sp>
      <p:sp>
        <p:nvSpPr>
          <p:cNvPr id="24" name="Outline 6"/>
          <p:cNvSpPr/>
          <p:nvPr/>
        </p:nvSpPr>
        <p:spPr>
          <a:xfrm>
            <a:off x="6231636" y="1371600"/>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5" name="Outline 6 badge"/>
          <p:cNvSpPr/>
          <p:nvPr/>
        </p:nvSpPr>
        <p:spPr>
          <a:xfrm>
            <a:off x="6368796" y="1563624"/>
            <a:ext cx="457200" cy="457200"/>
          </a:xfrm>
          <a:prstGeom prst="ellipse">
            <a:avLst/>
          </a:prstGeom>
          <a:solidFill>
            <a:schemeClr val="accent1"/>
          </a:solidFill>
          <a:ln w="12700">
            <a:solidFill>
              <a:schemeClr val="accent1"/>
            </a:solidFill>
            <a:prstDash val="solid"/>
          </a:ln>
        </p:spPr>
      </p:sp>
      <p:sp>
        <p:nvSpPr>
          <p:cNvPr id="26" name="Outline 6 badge text"/>
          <p:cNvSpPr txBox="1"/>
          <p:nvPr/>
        </p:nvSpPr>
        <p:spPr>
          <a:xfrm>
            <a:off x="6368796" y="15636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Outline 6 text"/>
          <p:cNvSpPr txBox="1"/>
          <p:nvPr/>
        </p:nvSpPr>
        <p:spPr>
          <a:xfrm>
            <a:off x="6963156" y="1426464"/>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Mechanisms of aerosol impact</a:t>
            </a:r>
            <a:endParaRPr lang="en-US" sz="1400" dirty="0"/>
          </a:p>
          <a:p>
            <a:pPr indent="0" marL="0">
              <a:buNone/>
            </a:pPr>
            <a:r>
              <a:rPr lang="en-US" sz="1400" dirty="0">
                <a:solidFill>
                  <a:schemeClr val="tx1"/>
                </a:solidFill>
              </a:rPr>
              <a:t>Light, climate and water-cycle routes; ozone and aerosol species; optimum load</a:t>
            </a:r>
            <a:endParaRPr lang="en-US" sz="1400" dirty="0"/>
          </a:p>
        </p:txBody>
      </p:sp>
      <p:sp>
        <p:nvSpPr>
          <p:cNvPr id="28" name="Outline 7"/>
          <p:cNvSpPr/>
          <p:nvPr/>
        </p:nvSpPr>
        <p:spPr>
          <a:xfrm>
            <a:off x="6231636" y="2322576"/>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9" name="Outline 7 badge"/>
          <p:cNvSpPr/>
          <p:nvPr/>
        </p:nvSpPr>
        <p:spPr>
          <a:xfrm>
            <a:off x="6368796" y="2514600"/>
            <a:ext cx="457200" cy="457200"/>
          </a:xfrm>
          <a:prstGeom prst="ellipse">
            <a:avLst/>
          </a:prstGeom>
          <a:solidFill>
            <a:schemeClr val="accent1"/>
          </a:solidFill>
          <a:ln w="12700">
            <a:solidFill>
              <a:schemeClr val="accent1"/>
            </a:solidFill>
            <a:prstDash val="solid"/>
          </a:ln>
        </p:spPr>
      </p:sp>
      <p:sp>
        <p:nvSpPr>
          <p:cNvPr id="30" name="Outline 7 badge text"/>
          <p:cNvSpPr txBox="1"/>
          <p:nvPr/>
        </p:nvSpPr>
        <p:spPr>
          <a:xfrm>
            <a:off x="6368796"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1" name="Outline 7 text"/>
          <p:cNvSpPr txBox="1"/>
          <p:nvPr/>
        </p:nvSpPr>
        <p:spPr>
          <a:xfrm>
            <a:off x="6963156" y="2377440"/>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Evidence</a:t>
            </a:r>
            <a:endParaRPr lang="en-US" sz="1400" dirty="0"/>
          </a:p>
          <a:p>
            <a:pPr indent="0" marL="0">
              <a:buNone/>
            </a:pPr>
            <a:r>
              <a:rPr lang="en-US" sz="1400" dirty="0">
                <a:solidFill>
                  <a:schemeClr val="tx1"/>
                </a:solidFill>
              </a:rPr>
              <a:t>Ecosystems, crops, India; aerosol vs climate drivers; past and future carbon sink</a:t>
            </a:r>
            <a:endParaRPr lang="en-US" sz="1400" dirty="0"/>
          </a:p>
        </p:txBody>
      </p:sp>
      <p:sp>
        <p:nvSpPr>
          <p:cNvPr id="32" name="Outline 8"/>
          <p:cNvSpPr/>
          <p:nvPr/>
        </p:nvSpPr>
        <p:spPr>
          <a:xfrm>
            <a:off x="6231636" y="3273552"/>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3" name="Outline 8 badge"/>
          <p:cNvSpPr/>
          <p:nvPr/>
        </p:nvSpPr>
        <p:spPr>
          <a:xfrm>
            <a:off x="6368796" y="3465576"/>
            <a:ext cx="457200" cy="457200"/>
          </a:xfrm>
          <a:prstGeom prst="ellipse">
            <a:avLst/>
          </a:prstGeom>
          <a:solidFill>
            <a:schemeClr val="accent2"/>
          </a:solidFill>
          <a:ln w="12700">
            <a:solidFill>
              <a:schemeClr val="accent2"/>
            </a:solidFill>
            <a:prstDash val="solid"/>
          </a:ln>
        </p:spPr>
      </p:sp>
      <p:sp>
        <p:nvSpPr>
          <p:cNvPr id="34" name="Outline 8 badge text"/>
          <p:cNvSpPr txBox="1"/>
          <p:nvPr/>
        </p:nvSpPr>
        <p:spPr>
          <a:xfrm>
            <a:off x="6368796" y="34655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5" name="Outline 8 text"/>
          <p:cNvSpPr txBox="1"/>
          <p:nvPr/>
        </p:nvSpPr>
        <p:spPr>
          <a:xfrm>
            <a:off x="6963156" y="3328416"/>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Case studies</a:t>
            </a:r>
            <a:endParaRPr lang="en-US" sz="1400" dirty="0"/>
          </a:p>
          <a:p>
            <a:pPr indent="0" marL="0">
              <a:buNone/>
            </a:pPr>
            <a:r>
              <a:rPr lang="en-US" sz="1400" dirty="0">
                <a:solidFill>
                  <a:schemeClr val="tx1"/>
                </a:solidFill>
              </a:rPr>
              <a:t>Wang et al., 2021 · Shu et al., 2022</a:t>
            </a:r>
            <a:endParaRPr lang="en-US" sz="1400" dirty="0"/>
          </a:p>
        </p:txBody>
      </p:sp>
      <p:sp>
        <p:nvSpPr>
          <p:cNvPr id="36" name="Outline 9"/>
          <p:cNvSpPr/>
          <p:nvPr/>
        </p:nvSpPr>
        <p:spPr>
          <a:xfrm>
            <a:off x="6231636" y="4224528"/>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7" name="Outline 9 badge"/>
          <p:cNvSpPr/>
          <p:nvPr/>
        </p:nvSpPr>
        <p:spPr>
          <a:xfrm>
            <a:off x="6368796" y="4416552"/>
            <a:ext cx="457200" cy="457200"/>
          </a:xfrm>
          <a:prstGeom prst="ellipse">
            <a:avLst/>
          </a:prstGeom>
          <a:solidFill>
            <a:schemeClr val="accent1"/>
          </a:solidFill>
          <a:ln w="12700">
            <a:solidFill>
              <a:schemeClr val="accent1"/>
            </a:solidFill>
            <a:prstDash val="solid"/>
          </a:ln>
        </p:spPr>
      </p:sp>
      <p:sp>
        <p:nvSpPr>
          <p:cNvPr id="38" name="Outline 9 badge text"/>
          <p:cNvSpPr txBox="1"/>
          <p:nvPr/>
        </p:nvSpPr>
        <p:spPr>
          <a:xfrm>
            <a:off x="6368796" y="441655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9" name="Outline 9 text"/>
          <p:cNvSpPr txBox="1"/>
          <p:nvPr/>
        </p:nvSpPr>
        <p:spPr>
          <a:xfrm>
            <a:off x="6963156" y="4279392"/>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Challenges</a:t>
            </a:r>
            <a:endParaRPr lang="en-US" sz="1400" dirty="0"/>
          </a:p>
          <a:p>
            <a:pPr indent="0" marL="0">
              <a:buNone/>
            </a:pPr>
            <a:r>
              <a:rPr lang="en-US" sz="1400" dirty="0">
                <a:solidFill>
                  <a:schemeClr val="tx1"/>
                </a:solidFill>
              </a:rPr>
              <a:t>Uncertainties in attributing productivity change to aerosol</a:t>
            </a:r>
            <a:endParaRPr lang="en-US" sz="1400" dirty="0"/>
          </a:p>
        </p:txBody>
      </p:sp>
      <p:sp>
        <p:nvSpPr>
          <p:cNvPr id="40" name="Outline 10"/>
          <p:cNvSpPr/>
          <p:nvPr/>
        </p:nvSpPr>
        <p:spPr>
          <a:xfrm>
            <a:off x="6231636" y="5175504"/>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41" name="Outline 10 badge"/>
          <p:cNvSpPr/>
          <p:nvPr/>
        </p:nvSpPr>
        <p:spPr>
          <a:xfrm>
            <a:off x="6368796" y="5367528"/>
            <a:ext cx="457200" cy="457200"/>
          </a:xfrm>
          <a:prstGeom prst="ellipse">
            <a:avLst/>
          </a:prstGeom>
          <a:solidFill>
            <a:schemeClr val="accent1"/>
          </a:solidFill>
          <a:ln w="12700">
            <a:solidFill>
              <a:schemeClr val="accent1"/>
            </a:solidFill>
            <a:prstDash val="solid"/>
          </a:ln>
        </p:spPr>
      </p:sp>
      <p:sp>
        <p:nvSpPr>
          <p:cNvPr id="42" name="Outline 10 badge text"/>
          <p:cNvSpPr txBox="1"/>
          <p:nvPr/>
        </p:nvSpPr>
        <p:spPr>
          <a:xfrm>
            <a:off x="6368796" y="53675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43" name="Outline 10 text"/>
          <p:cNvSpPr txBox="1"/>
          <p:nvPr/>
        </p:nvSpPr>
        <p:spPr>
          <a:xfrm>
            <a:off x="6963156" y="5230368"/>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Conclusions</a:t>
            </a:r>
            <a:endParaRPr lang="en-US" sz="1400" dirty="0"/>
          </a:p>
          <a:p>
            <a:pPr indent="0" marL="0">
              <a:buNone/>
            </a:pPr>
            <a:r>
              <a:rPr lang="en-US" sz="1400" dirty="0">
                <a:solidFill>
                  <a:schemeClr val="tx1"/>
                </a:solidFill>
              </a:rPr>
              <a:t>Take-home messages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1 · Introduction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Why aerosol–productivity interactions matter</a:t>
            </a:r>
            <a:endParaRPr lang="en-US" sz="2800" dirty="0"/>
          </a:p>
        </p:txBody>
      </p:sp>
      <p:sp>
        <p:nvSpPr>
          <p:cNvPr id="4" name="Why callout 1 card"/>
          <p:cNvSpPr/>
          <p:nvPr/>
        </p:nvSpPr>
        <p:spPr>
          <a:xfrm>
            <a:off x="457200" y="1280160"/>
            <a:ext cx="231648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Why callout 1 text"/>
          <p:cNvSpPr txBox="1"/>
          <p:nvPr/>
        </p:nvSpPr>
        <p:spPr>
          <a:xfrm>
            <a:off x="566928" y="1325880"/>
            <a:ext cx="2097024" cy="1600200"/>
          </a:xfrm>
          <a:prstGeom prst="rect">
            <a:avLst/>
          </a:prstGeom>
          <a:noFill/>
          <a:ln/>
        </p:spPr>
        <p:txBody>
          <a:bodyPr wrap="square" lIns="0" tIns="0" rIns="0" bIns="0" rtlCol="0" anchor="ctr"/>
          <a:lstStyle/>
          <a:p>
            <a:pPr algn="ctr" indent="0" marL="0">
              <a:buNone/>
            </a:pPr>
            <a:r>
              <a:rPr lang="en-US" sz="2600" b="1" dirty="0">
                <a:solidFill>
                  <a:schemeClr val="accent3"/>
                </a:solidFill>
              </a:rPr>
              <a:t>30%</a:t>
            </a:r>
            <a:endParaRPr lang="en-US" sz="2600" dirty="0"/>
          </a:p>
          <a:p>
            <a:pPr algn="ctr" indent="0" marL="0">
              <a:buNone/>
            </a:pPr>
            <a:r>
              <a:rPr lang="en-US" sz="1400" dirty="0">
                <a:solidFill>
                  <a:schemeClr val="tx1"/>
                </a:solidFill>
              </a:rPr>
              <a:t>of human CO₂ emissions absorbed by land ecosystems</a:t>
            </a:r>
            <a:endParaRPr lang="en-US" sz="2600" dirty="0"/>
          </a:p>
          <a:p>
            <a:pPr algn="ctr" indent="0" marL="0">
              <a:buNone/>
            </a:pPr>
            <a:r>
              <a:rPr lang="en-US" sz="1400" i="1" dirty="0">
                <a:solidFill>
                  <a:schemeClr val="accent1"/>
                </a:solidFill>
              </a:rPr>
              <a:t>Friedlingstein et al., 2023</a:t>
            </a:r>
            <a:endParaRPr lang="en-US" sz="2600" dirty="0"/>
          </a:p>
        </p:txBody>
      </p:sp>
      <p:sp>
        <p:nvSpPr>
          <p:cNvPr id="6" name="Why callout 2 card"/>
          <p:cNvSpPr/>
          <p:nvPr/>
        </p:nvSpPr>
        <p:spPr>
          <a:xfrm>
            <a:off x="2956560" y="1280160"/>
            <a:ext cx="231648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Why callout 2 text"/>
          <p:cNvSpPr txBox="1"/>
          <p:nvPr/>
        </p:nvSpPr>
        <p:spPr>
          <a:xfrm>
            <a:off x="3066288" y="1325880"/>
            <a:ext cx="2097024" cy="1600200"/>
          </a:xfrm>
          <a:prstGeom prst="rect">
            <a:avLst/>
          </a:prstGeom>
          <a:noFill/>
          <a:ln/>
        </p:spPr>
        <p:txBody>
          <a:bodyPr wrap="square" lIns="0" tIns="0" rIns="0" bIns="0" rtlCol="0" anchor="ctr"/>
          <a:lstStyle/>
          <a:p>
            <a:pPr algn="ctr" indent="0" marL="0">
              <a:buNone/>
            </a:pPr>
            <a:r>
              <a:rPr lang="en-US" sz="2600" b="1" dirty="0">
                <a:solidFill>
                  <a:schemeClr val="accent5"/>
                </a:solidFill>
              </a:rPr>
              <a:t>−1.3 W m⁻²</a:t>
            </a:r>
            <a:endParaRPr lang="en-US" sz="2600" dirty="0"/>
          </a:p>
          <a:p>
            <a:pPr algn="ctr" indent="0" marL="0">
              <a:buNone/>
            </a:pPr>
            <a:r>
              <a:rPr lang="en-US" sz="1400" dirty="0">
                <a:solidFill>
                  <a:schemeClr val="tx1"/>
                </a:solidFill>
              </a:rPr>
              <a:t>aerosol forcing: largest uncertainty in human climate forcing</a:t>
            </a:r>
            <a:endParaRPr lang="en-US" sz="2600" dirty="0"/>
          </a:p>
          <a:p>
            <a:pPr algn="ctr" indent="0" marL="0">
              <a:buNone/>
            </a:pPr>
            <a:r>
              <a:rPr lang="en-US" sz="1400" i="1" dirty="0">
                <a:solidFill>
                  <a:schemeClr val="accent1"/>
                </a:solidFill>
              </a:rPr>
              <a:t>Forster et al., 2021</a:t>
            </a:r>
            <a:endParaRPr lang="en-US" sz="2600" dirty="0"/>
          </a:p>
        </p:txBody>
      </p:sp>
      <p:sp>
        <p:nvSpPr>
          <p:cNvPr id="8" name="Why callout 3 card"/>
          <p:cNvSpPr/>
          <p:nvPr/>
        </p:nvSpPr>
        <p:spPr>
          <a:xfrm>
            <a:off x="5455920" y="1280160"/>
            <a:ext cx="231648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Why callout 3 text"/>
          <p:cNvSpPr txBox="1"/>
          <p:nvPr/>
        </p:nvSpPr>
        <p:spPr>
          <a:xfrm>
            <a:off x="5565648" y="1325880"/>
            <a:ext cx="2097024" cy="1600200"/>
          </a:xfrm>
          <a:prstGeom prst="rect">
            <a:avLst/>
          </a:prstGeom>
          <a:noFill/>
          <a:ln/>
        </p:spPr>
        <p:txBody>
          <a:bodyPr wrap="square" lIns="0" tIns="0" rIns="0" bIns="0" rtlCol="0" anchor="ctr"/>
          <a:lstStyle/>
          <a:p>
            <a:pPr algn="ctr" indent="0" marL="0">
              <a:buNone/>
            </a:pPr>
            <a:r>
              <a:rPr lang="en-US" sz="2600" b="1" dirty="0">
                <a:solidFill>
                  <a:schemeClr val="accent1"/>
                </a:solidFill>
              </a:rPr>
              <a:t>≈ ¼</a:t>
            </a:r>
            <a:endParaRPr lang="en-US" sz="2600" dirty="0"/>
          </a:p>
          <a:p>
            <a:pPr algn="ctr" indent="0" marL="0">
              <a:buNone/>
            </a:pPr>
            <a:r>
              <a:rPr lang="en-US" sz="1400" dirty="0">
                <a:solidFill>
                  <a:schemeClr val="tx1"/>
                </a:solidFill>
              </a:rPr>
              <a:t>rise in the land carbon sink from global dimming, 1960–1999</a:t>
            </a:r>
            <a:endParaRPr lang="en-US" sz="2600" dirty="0"/>
          </a:p>
          <a:p>
            <a:pPr algn="ctr" indent="0" marL="0">
              <a:buNone/>
            </a:pPr>
            <a:r>
              <a:rPr lang="en-US" sz="1400" i="1" dirty="0">
                <a:solidFill>
                  <a:schemeClr val="accent1"/>
                </a:solidFill>
              </a:rPr>
              <a:t>Mercado et al., 2009</a:t>
            </a:r>
            <a:endParaRPr lang="en-US" sz="2600" dirty="0"/>
          </a:p>
        </p:txBody>
      </p:sp>
      <p:sp>
        <p:nvSpPr>
          <p:cNvPr id="10" name="Why callout 4 card"/>
          <p:cNvSpPr/>
          <p:nvPr/>
        </p:nvSpPr>
        <p:spPr>
          <a:xfrm>
            <a:off x="457200" y="3154680"/>
            <a:ext cx="356616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Why callout 4 text"/>
          <p:cNvSpPr txBox="1"/>
          <p:nvPr/>
        </p:nvSpPr>
        <p:spPr>
          <a:xfrm>
            <a:off x="566928" y="3200400"/>
            <a:ext cx="3346704" cy="1600200"/>
          </a:xfrm>
          <a:prstGeom prst="rect">
            <a:avLst/>
          </a:prstGeom>
          <a:noFill/>
          <a:ln/>
        </p:spPr>
        <p:txBody>
          <a:bodyPr wrap="square" lIns="0" tIns="0" rIns="0" bIns="0" rtlCol="0" anchor="ctr"/>
          <a:lstStyle/>
          <a:p>
            <a:pPr algn="ctr" indent="0" marL="0">
              <a:buNone/>
            </a:pPr>
            <a:r>
              <a:rPr lang="en-US" sz="2600" b="1" dirty="0">
                <a:solidFill>
                  <a:schemeClr val="accent2"/>
                </a:solidFill>
              </a:rPr>
              <a:t>⅔ of India's food grains</a:t>
            </a:r>
            <a:endParaRPr lang="en-US" sz="2600" dirty="0"/>
          </a:p>
          <a:p>
            <a:pPr algn="ctr" indent="0" marL="0">
              <a:buNone/>
            </a:pPr>
            <a:r>
              <a:rPr lang="en-US" sz="1400" dirty="0">
                <a:solidFill>
                  <a:schemeClr val="tx1"/>
                </a:solidFill>
              </a:rPr>
              <a:t>grown in north-west India, under the IGP haze</a:t>
            </a:r>
            <a:endParaRPr lang="en-US" sz="2600" dirty="0"/>
          </a:p>
          <a:p>
            <a:pPr algn="ctr" indent="0" marL="0">
              <a:buNone/>
            </a:pPr>
            <a:r>
              <a:rPr lang="en-US" sz="1400" i="1" dirty="0">
                <a:solidFill>
                  <a:schemeClr val="accent1"/>
                </a:solidFill>
              </a:rPr>
              <a:t>Jethva et al., 2019</a:t>
            </a:r>
            <a:endParaRPr lang="en-US" sz="2600" dirty="0"/>
          </a:p>
        </p:txBody>
      </p:sp>
      <p:sp>
        <p:nvSpPr>
          <p:cNvPr id="12" name="Why callout 5 card"/>
          <p:cNvSpPr/>
          <p:nvPr/>
        </p:nvSpPr>
        <p:spPr>
          <a:xfrm>
            <a:off x="4206240" y="3154680"/>
            <a:ext cx="356616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Why callout 5 text"/>
          <p:cNvSpPr txBox="1"/>
          <p:nvPr/>
        </p:nvSpPr>
        <p:spPr>
          <a:xfrm>
            <a:off x="4315968" y="3200400"/>
            <a:ext cx="3346704" cy="1600200"/>
          </a:xfrm>
          <a:prstGeom prst="rect">
            <a:avLst/>
          </a:prstGeom>
          <a:noFill/>
          <a:ln/>
        </p:spPr>
        <p:txBody>
          <a:bodyPr wrap="square" lIns="0" tIns="0" rIns="0" bIns="0" rtlCol="0" anchor="ctr"/>
          <a:lstStyle/>
          <a:p>
            <a:pPr algn="ctr" indent="0" marL="0">
              <a:buNone/>
            </a:pPr>
            <a:r>
              <a:rPr lang="en-US" sz="2600" b="1" dirty="0">
                <a:solidFill>
                  <a:schemeClr val="tx2"/>
                </a:solidFill>
              </a:rPr>
              <a:t>Satellites</a:t>
            </a:r>
            <a:endParaRPr lang="en-US" sz="2600" dirty="0"/>
          </a:p>
          <a:p>
            <a:pPr algn="ctr" indent="0" marL="0">
              <a:buNone/>
            </a:pPr>
            <a:r>
              <a:rPr lang="en-US" sz="1400" dirty="0">
                <a:solidFill>
                  <a:schemeClr val="tx1"/>
                </a:solidFill>
              </a:rPr>
              <a:t>map aerosol, light and vegetation where ground sites are sparse</a:t>
            </a:r>
            <a:endParaRPr lang="en-US" sz="2600" dirty="0"/>
          </a:p>
          <a:p>
            <a:pPr algn="ctr" indent="0" marL="0">
              <a:buNone/>
            </a:pPr>
            <a:r>
              <a:rPr lang="en-US" sz="1400" i="1" dirty="0">
                <a:solidFill>
                  <a:schemeClr val="accent1"/>
                </a:solidFill>
              </a:rPr>
              <a:t>Wei et al., 2020</a:t>
            </a:r>
            <a:endParaRPr lang="en-US" sz="2600" dirty="0"/>
          </a:p>
        </p:txBody>
      </p:sp>
      <p:sp>
        <p:nvSpPr>
          <p:cNvPr id="14" name="Study map card"/>
          <p:cNvSpPr/>
          <p:nvPr/>
        </p:nvSpPr>
        <p:spPr>
          <a:xfrm>
            <a:off x="8001000" y="1280160"/>
            <a:ext cx="3730752" cy="3374813"/>
          </a:xfrm>
          <a:prstGeom prst="roundRect">
            <a:avLst>
              <a:gd name="adj" fmla="val 189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5" name="Study map title"/>
          <p:cNvSpPr txBox="1"/>
          <p:nvPr/>
        </p:nvSpPr>
        <p:spPr>
          <a:xfrm>
            <a:off x="8138160" y="1371600"/>
            <a:ext cx="3456432" cy="530352"/>
          </a:xfrm>
          <a:prstGeom prst="rect">
            <a:avLst/>
          </a:prstGeom>
          <a:noFill/>
          <a:ln/>
        </p:spPr>
        <p:txBody>
          <a:bodyPr wrap="square" lIns="0" tIns="0" rIns="0" bIns="0" rtlCol="0" anchor="t"/>
          <a:lstStyle/>
          <a:p>
            <a:pPr indent="0" marL="0">
              <a:buNone/>
            </a:pPr>
            <a:r>
              <a:rPr lang="en-US" sz="1400" b="1" dirty="0">
                <a:solidFill>
                  <a:schemeClr val="tx2"/>
                </a:solidFill>
              </a:rPr>
              <a:t>Where aerosol–PAR studies were done (2021–2025)</a:t>
            </a:r>
            <a:endParaRPr lang="en-US" sz="1400" dirty="0"/>
          </a:p>
        </p:txBody>
      </p:sp>
      <p:pic>
        <p:nvPicPr>
          <p:cNvPr id="16" name="Study map" descr="Study map">    </p:cNvPr>
          <p:cNvPicPr>
            <a:picLocks noChangeAspect="1"/>
          </p:cNvPicPr>
          <p:nvPr/>
        </p:nvPicPr>
        <p:blipFill>
          <a:blip r:embed="rId1"/>
          <a:stretch>
            <a:fillRect/>
          </a:stretch>
        </p:blipFill>
        <p:spPr>
          <a:xfrm>
            <a:off x="8129016" y="1901952"/>
            <a:ext cx="3474720" cy="1866053"/>
          </a:xfrm>
          <a:prstGeom prst="rect">
            <a:avLst/>
          </a:prstGeom>
        </p:spPr>
      </p:pic>
      <p:sp>
        <p:nvSpPr>
          <p:cNvPr id="17" name="Study map caption"/>
          <p:cNvSpPr txBox="1"/>
          <p:nvPr/>
        </p:nvSpPr>
        <p:spPr>
          <a:xfrm>
            <a:off x="8138160" y="3841157"/>
            <a:ext cx="3456432" cy="457200"/>
          </a:xfrm>
          <a:prstGeom prst="rect">
            <a:avLst/>
          </a:prstGeom>
          <a:noFill/>
          <a:ln/>
        </p:spPr>
        <p:txBody>
          <a:bodyPr wrap="square" lIns="0" tIns="0" rIns="0" bIns="0" rtlCol="0" anchor="t"/>
          <a:lstStyle/>
          <a:p>
            <a:pPr indent="0" marL="0">
              <a:buNone/>
            </a:pPr>
            <a:r>
              <a:rPr lang="en-US" sz="1400" dirty="0">
                <a:solidFill>
                  <a:schemeClr val="tx1"/>
                </a:solidFill>
              </a:rPr>
              <a:t>China 17 of 22 studies; India only 2: a clear research gap</a:t>
            </a:r>
            <a:endParaRPr lang="en-US" sz="1400" dirty="0"/>
          </a:p>
        </p:txBody>
      </p:sp>
      <p:sp>
        <p:nvSpPr>
          <p:cNvPr id="18" name="Study map source"/>
          <p:cNvSpPr txBox="1"/>
          <p:nvPr/>
        </p:nvSpPr>
        <p:spPr>
          <a:xfrm>
            <a:off x="8138160" y="4298357"/>
            <a:ext cx="3456432" cy="246888"/>
          </a:xfrm>
          <a:prstGeom prst="rect">
            <a:avLst/>
          </a:prstGeom>
          <a:noFill/>
          <a:ln/>
        </p:spPr>
        <p:txBody>
          <a:bodyPr wrap="square" lIns="0" tIns="0" rIns="0" bIns="0" rtlCol="0" anchor="t"/>
          <a:lstStyle/>
          <a:p>
            <a:pPr indent="0" marL="0">
              <a:buNone/>
            </a:pPr>
            <a:r>
              <a:rPr lang="en-US" sz="1400" i="1" dirty="0">
                <a:solidFill>
                  <a:schemeClr val="accent1"/>
                </a:solidFill>
              </a:rPr>
              <a:t>Source: de Oliveira et al., 2025</a:t>
            </a:r>
            <a:endParaRPr lang="en-US" sz="1400" dirty="0"/>
          </a:p>
        </p:txBody>
      </p:sp>
      <p:sp>
        <p:nvSpPr>
          <p:cNvPr id="19" name="Core idea strip"/>
          <p:cNvSpPr/>
          <p:nvPr/>
        </p:nvSpPr>
        <p:spPr>
          <a:xfrm>
            <a:off x="457200" y="5257800"/>
            <a:ext cx="11274552" cy="685800"/>
          </a:xfrm>
          <a:prstGeom prst="roundRect">
            <a:avLst>
              <a:gd name="adj" fmla="val 8000"/>
            </a:avLst>
          </a:prstGeom>
          <a:solidFill>
            <a:schemeClr val="bg2"/>
          </a:solidFill>
          <a:ln w="12700">
            <a:solidFill>
              <a:schemeClr val="bg2"/>
            </a:solidFill>
            <a:prstDash val="solid"/>
          </a:ln>
        </p:spPr>
      </p:sp>
      <p:sp>
        <p:nvSpPr>
          <p:cNvPr id="20" name="Core idea strip text"/>
          <p:cNvSpPr txBox="1"/>
          <p:nvPr/>
        </p:nvSpPr>
        <p:spPr>
          <a:xfrm>
            <a:off x="594360" y="525780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Core idea:</a:t>
            </a:r>
            <a:r>
              <a:rPr lang="en-US" sz="1400" dirty="0">
                <a:solidFill>
                  <a:schemeClr val="tx1"/>
                </a:solidFill>
              </a:rPr>
              <a:t> aerosols change both the amount and the quality (direct vs diffuse) of light reaching vegetation, and so change how much carbon ecosystems fix.</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1 · Introduction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Conceptual framework: from emissions to ecosystem productivity</a:t>
            </a:r>
            <a:endParaRPr lang="en-US" sz="2800" dirty="0"/>
          </a:p>
        </p:txBody>
      </p:sp>
      <p:sp>
        <p:nvSpPr>
          <p:cNvPr id="4" name="Head Drivers"/>
          <p:cNvSpPr txBox="1"/>
          <p:nvPr/>
        </p:nvSpPr>
        <p:spPr>
          <a:xfrm>
            <a:off x="457200" y="1280160"/>
            <a:ext cx="1691640" cy="384048"/>
          </a:xfrm>
          <a:prstGeom prst="rect">
            <a:avLst/>
          </a:prstGeom>
          <a:noFill/>
          <a:ln/>
        </p:spPr>
        <p:txBody>
          <a:bodyPr wrap="square" lIns="0" tIns="0" rIns="0" bIns="0" rtlCol="0" anchor="ctr"/>
          <a:lstStyle/>
          <a:p>
            <a:pPr algn="ctr" indent="0" marL="0">
              <a:buNone/>
            </a:pPr>
            <a:r>
              <a:rPr lang="en-US" sz="1400" b="1" dirty="0">
                <a:solidFill>
                  <a:schemeClr val="accent1"/>
                </a:solidFill>
              </a:rPr>
              <a:t>Drivers</a:t>
            </a:r>
            <a:endParaRPr lang="en-US" sz="1400" dirty="0"/>
          </a:p>
        </p:txBody>
      </p:sp>
      <p:sp>
        <p:nvSpPr>
          <p:cNvPr id="5" name="Head Aerosol"/>
          <p:cNvSpPr txBox="1"/>
          <p:nvPr/>
        </p:nvSpPr>
        <p:spPr>
          <a:xfrm>
            <a:off x="2377440" y="1280160"/>
            <a:ext cx="1783080" cy="384048"/>
          </a:xfrm>
          <a:prstGeom prst="rect">
            <a:avLst/>
          </a:prstGeom>
          <a:noFill/>
          <a:ln/>
        </p:spPr>
        <p:txBody>
          <a:bodyPr wrap="square" lIns="0" tIns="0" rIns="0" bIns="0" rtlCol="0" anchor="ctr"/>
          <a:lstStyle/>
          <a:p>
            <a:pPr algn="ctr" indent="0" marL="0">
              <a:buNone/>
            </a:pPr>
            <a:r>
              <a:rPr lang="en-US" sz="1400" b="1" dirty="0">
                <a:solidFill>
                  <a:schemeClr val="accent1"/>
                </a:solidFill>
              </a:rPr>
              <a:t>Aerosol</a:t>
            </a:r>
            <a:endParaRPr lang="en-US" sz="1400" dirty="0"/>
          </a:p>
        </p:txBody>
      </p:sp>
      <p:sp>
        <p:nvSpPr>
          <p:cNvPr id="6" name="Head Atmospheric perturbation"/>
          <p:cNvSpPr txBox="1"/>
          <p:nvPr/>
        </p:nvSpPr>
        <p:spPr>
          <a:xfrm>
            <a:off x="4434840" y="1280160"/>
            <a:ext cx="2240280" cy="384048"/>
          </a:xfrm>
          <a:prstGeom prst="rect">
            <a:avLst/>
          </a:prstGeom>
          <a:noFill/>
          <a:ln/>
        </p:spPr>
        <p:txBody>
          <a:bodyPr wrap="square" lIns="0" tIns="0" rIns="0" bIns="0" rtlCol="0" anchor="ctr"/>
          <a:lstStyle/>
          <a:p>
            <a:pPr algn="ctr" indent="0" marL="0">
              <a:buNone/>
            </a:pPr>
            <a:r>
              <a:rPr lang="en-US" sz="1400" b="1" dirty="0">
                <a:solidFill>
                  <a:schemeClr val="accent1"/>
                </a:solidFill>
              </a:rPr>
              <a:t>Atmospheric perturbation</a:t>
            </a:r>
            <a:endParaRPr lang="en-US" sz="1400" dirty="0"/>
          </a:p>
        </p:txBody>
      </p:sp>
      <p:sp>
        <p:nvSpPr>
          <p:cNvPr id="7" name="Head Canopy response"/>
          <p:cNvSpPr txBox="1"/>
          <p:nvPr/>
        </p:nvSpPr>
        <p:spPr>
          <a:xfrm>
            <a:off x="6949440" y="1280160"/>
            <a:ext cx="2240280" cy="384048"/>
          </a:xfrm>
          <a:prstGeom prst="rect">
            <a:avLst/>
          </a:prstGeom>
          <a:noFill/>
          <a:ln/>
        </p:spPr>
        <p:txBody>
          <a:bodyPr wrap="square" lIns="0" tIns="0" rIns="0" bIns="0" rtlCol="0" anchor="ctr"/>
          <a:lstStyle/>
          <a:p>
            <a:pPr algn="ctr" indent="0" marL="0">
              <a:buNone/>
            </a:pPr>
            <a:r>
              <a:rPr lang="en-US" sz="1400" b="1" dirty="0">
                <a:solidFill>
                  <a:schemeClr val="accent1"/>
                </a:solidFill>
              </a:rPr>
              <a:t>Canopy response</a:t>
            </a:r>
            <a:endParaRPr lang="en-US" sz="1400" dirty="0"/>
          </a:p>
        </p:txBody>
      </p:sp>
      <p:sp>
        <p:nvSpPr>
          <p:cNvPr id="8" name="Head Productivity"/>
          <p:cNvSpPr txBox="1"/>
          <p:nvPr/>
        </p:nvSpPr>
        <p:spPr>
          <a:xfrm>
            <a:off x="9464040" y="1280160"/>
            <a:ext cx="2267712" cy="384048"/>
          </a:xfrm>
          <a:prstGeom prst="rect">
            <a:avLst/>
          </a:prstGeom>
          <a:noFill/>
          <a:ln/>
        </p:spPr>
        <p:txBody>
          <a:bodyPr wrap="square" lIns="0" tIns="0" rIns="0" bIns="0" rtlCol="0" anchor="ctr"/>
          <a:lstStyle/>
          <a:p>
            <a:pPr algn="ctr" indent="0" marL="0">
              <a:buNone/>
            </a:pPr>
            <a:r>
              <a:rPr lang="en-US" sz="1400" b="1" dirty="0">
                <a:solidFill>
                  <a:schemeClr val="accent1"/>
                </a:solidFill>
              </a:rPr>
              <a:t>Productivity</a:t>
            </a:r>
            <a:endParaRPr lang="en-US" sz="1400" dirty="0"/>
          </a:p>
        </p:txBody>
      </p:sp>
      <p:sp>
        <p:nvSpPr>
          <p:cNvPr id="9" name="Sources box"/>
          <p:cNvSpPr/>
          <p:nvPr/>
        </p:nvSpPr>
        <p:spPr>
          <a:xfrm>
            <a:off x="457200" y="1783080"/>
            <a:ext cx="1691640" cy="3017520"/>
          </a:xfrm>
          <a:prstGeom prst="roundRect">
            <a:avLst>
              <a:gd name="adj" fmla="val 3784"/>
            </a:avLst>
          </a:prstGeom>
          <a:solidFill>
            <a:schemeClr val="accent4"/>
          </a:solidFill>
          <a:ln w="12700">
            <a:solidFill>
              <a:schemeClr val="accent4"/>
            </a:solidFill>
            <a:prstDash val="solid"/>
          </a:ln>
        </p:spPr>
      </p:sp>
      <p:sp>
        <p:nvSpPr>
          <p:cNvPr id="10" name="Sources box text"/>
          <p:cNvSpPr txBox="1"/>
          <p:nvPr/>
        </p:nvSpPr>
        <p:spPr>
          <a:xfrm>
            <a:off x="530352" y="1810512"/>
            <a:ext cx="1545336" cy="2962656"/>
          </a:xfrm>
          <a:prstGeom prst="rect">
            <a:avLst/>
          </a:prstGeom>
          <a:noFill/>
          <a:ln/>
        </p:spPr>
        <p:txBody>
          <a:bodyPr wrap="square" lIns="0" tIns="0" rIns="0" bIns="0" rtlCol="0" anchor="ctr"/>
          <a:lstStyle/>
          <a:p>
            <a:pPr algn="ctr" indent="0" marL="0">
              <a:buNone/>
            </a:pPr>
            <a:r>
              <a:rPr lang="en-US" sz="1400" b="1" dirty="0">
                <a:solidFill>
                  <a:schemeClr val="bg1"/>
                </a:solidFill>
              </a:rPr>
              <a:t>Emission sources</a:t>
            </a:r>
            <a:endParaRPr lang="en-US" sz="1400" dirty="0"/>
          </a:p>
          <a:p>
            <a:pPr algn="ctr" indent="0" marL="0">
              <a:buNone/>
            </a:pPr>
            <a:r>
              <a:rPr lang="en-US" sz="1400" dirty="0">
                <a:solidFill>
                  <a:schemeClr val="bg1"/>
                </a:solidFill>
              </a:rPr>
              <a:t>Fossil fuel and industry</a:t>
            </a:r>
            <a:endParaRPr lang="en-US" sz="1400" dirty="0"/>
          </a:p>
          <a:p>
            <a:pPr algn="ctr" indent="0" marL="0">
              <a:buNone/>
            </a:pPr>
            <a:r>
              <a:rPr lang="en-US" sz="1400" dirty="0">
                <a:solidFill>
                  <a:schemeClr val="bg1"/>
                </a:solidFill>
              </a:rPr>
              <a:t>Crop-residue burning</a:t>
            </a:r>
            <a:endParaRPr lang="en-US" sz="1400" dirty="0"/>
          </a:p>
          <a:p>
            <a:pPr algn="ctr" indent="0" marL="0">
              <a:buNone/>
            </a:pPr>
            <a:r>
              <a:rPr lang="en-US" sz="1400" dirty="0">
                <a:solidFill>
                  <a:schemeClr val="bg1"/>
                </a:solidFill>
              </a:rPr>
              <a:t>Desert dust</a:t>
            </a:r>
            <a:endParaRPr lang="en-US" sz="1400" dirty="0"/>
          </a:p>
          <a:p>
            <a:pPr algn="ctr" indent="0" marL="0">
              <a:buNone/>
            </a:pPr>
            <a:r>
              <a:rPr lang="en-US" sz="1400" dirty="0">
                <a:solidFill>
                  <a:schemeClr val="bg1"/>
                </a:solidFill>
              </a:rPr>
              <a:t>Plant VOCs → SOA</a:t>
            </a:r>
            <a:endParaRPr lang="en-US" sz="1400" dirty="0"/>
          </a:p>
        </p:txBody>
      </p:sp>
      <p:sp>
        <p:nvSpPr>
          <p:cNvPr id="11" name="Aerosol box"/>
          <p:cNvSpPr/>
          <p:nvPr/>
        </p:nvSpPr>
        <p:spPr>
          <a:xfrm>
            <a:off x="2377440" y="1783080"/>
            <a:ext cx="1783080" cy="3017520"/>
          </a:xfrm>
          <a:prstGeom prst="roundRect">
            <a:avLst>
              <a:gd name="adj" fmla="val 3590"/>
            </a:avLst>
          </a:prstGeom>
          <a:solidFill>
            <a:schemeClr val="tx2"/>
          </a:solidFill>
          <a:ln w="12700">
            <a:solidFill>
              <a:schemeClr val="tx2"/>
            </a:solidFill>
            <a:prstDash val="solid"/>
          </a:ln>
        </p:spPr>
      </p:sp>
      <p:sp>
        <p:nvSpPr>
          <p:cNvPr id="12" name="Aerosol box text"/>
          <p:cNvSpPr txBox="1"/>
          <p:nvPr/>
        </p:nvSpPr>
        <p:spPr>
          <a:xfrm>
            <a:off x="2450592" y="1810512"/>
            <a:ext cx="1636776" cy="2962656"/>
          </a:xfrm>
          <a:prstGeom prst="rect">
            <a:avLst/>
          </a:prstGeom>
          <a:noFill/>
          <a:ln/>
        </p:spPr>
        <p:txBody>
          <a:bodyPr wrap="square" lIns="0" tIns="0" rIns="0" bIns="0" rtlCol="0" anchor="ctr"/>
          <a:lstStyle/>
          <a:p>
            <a:pPr algn="ctr" indent="0" marL="0">
              <a:buNone/>
            </a:pPr>
            <a:r>
              <a:rPr lang="en-US" sz="1400" b="1" dirty="0">
                <a:solidFill>
                  <a:schemeClr val="bg1"/>
                </a:solidFill>
              </a:rPr>
              <a:t>Aerosol properties</a:t>
            </a:r>
            <a:endParaRPr lang="en-US" sz="1400" dirty="0"/>
          </a:p>
          <a:p>
            <a:pPr algn="ctr" indent="0" marL="0">
              <a:buNone/>
            </a:pPr>
            <a:r>
              <a:rPr lang="en-US" sz="1400" dirty="0">
                <a:solidFill>
                  <a:schemeClr val="bg1"/>
                </a:solidFill>
              </a:rPr>
              <a:t>Load (AOD)</a:t>
            </a:r>
            <a:endParaRPr lang="en-US" sz="1400" dirty="0"/>
          </a:p>
          <a:p>
            <a:pPr algn="ctr" indent="0" marL="0">
              <a:buNone/>
            </a:pPr>
            <a:r>
              <a:rPr lang="en-US" sz="1400" dirty="0">
                <a:solidFill>
                  <a:schemeClr val="bg1"/>
                </a:solidFill>
              </a:rPr>
              <a:t>Scattering vs absorbing (SSA)</a:t>
            </a:r>
            <a:endParaRPr lang="en-US" sz="1400" dirty="0"/>
          </a:p>
          <a:p>
            <a:pPr algn="ctr" indent="0" marL="0">
              <a:buNone/>
            </a:pPr>
            <a:r>
              <a:rPr lang="en-US" sz="1400" dirty="0">
                <a:solidFill>
                  <a:schemeClr val="bg1"/>
                </a:solidFill>
              </a:rPr>
              <a:t>Size (Ångström)</a:t>
            </a:r>
            <a:endParaRPr lang="en-US" sz="1400" dirty="0"/>
          </a:p>
          <a:p>
            <a:pPr algn="ctr" indent="0" marL="0">
              <a:buNone/>
            </a:pPr>
            <a:r>
              <a:rPr lang="en-US" sz="1400" dirty="0">
                <a:solidFill>
                  <a:schemeClr val="bg1"/>
                </a:solidFill>
              </a:rPr>
              <a:t>Vertical profile</a:t>
            </a:r>
            <a:endParaRPr lang="en-US" sz="1400" dirty="0"/>
          </a:p>
        </p:txBody>
      </p:sp>
      <p:sp>
        <p:nvSpPr>
          <p:cNvPr id="13" name="Arrow src aer"/>
          <p:cNvSpPr/>
          <p:nvPr/>
        </p:nvSpPr>
        <p:spPr>
          <a:xfrm>
            <a:off x="2167128" y="3291840"/>
            <a:ext cx="192024" cy="0"/>
          </a:xfrm>
          <a:prstGeom prst="line">
            <a:avLst/>
          </a:prstGeom>
          <a:noFill/>
          <a:ln w="25400">
            <a:solidFill>
              <a:schemeClr val="accent4"/>
            </a:solidFill>
            <a:prstDash val="solid"/>
            <a:tailEnd type="triangle"/>
          </a:ln>
        </p:spPr>
      </p:sp>
      <p:sp>
        <p:nvSpPr>
          <p:cNvPr id="14" name="Lane 1 perturbation"/>
          <p:cNvSpPr/>
          <p:nvPr/>
        </p:nvSpPr>
        <p:spPr>
          <a:xfrm>
            <a:off x="4434840" y="1783080"/>
            <a:ext cx="2240280" cy="914400"/>
          </a:xfrm>
          <a:prstGeom prst="roundRect">
            <a:avLst>
              <a:gd name="adj" fmla="val 7000"/>
            </a:avLst>
          </a:prstGeom>
          <a:solidFill>
            <a:schemeClr val="accent2"/>
          </a:solidFill>
          <a:ln w="12700">
            <a:solidFill>
              <a:schemeClr val="accent2"/>
            </a:solidFill>
            <a:prstDash val="solid"/>
          </a:ln>
        </p:spPr>
      </p:sp>
      <p:sp>
        <p:nvSpPr>
          <p:cNvPr id="15" name="Lane 1 perturbation text"/>
          <p:cNvSpPr txBox="1"/>
          <p:nvPr/>
        </p:nvSpPr>
        <p:spPr>
          <a:xfrm>
            <a:off x="4507992" y="1810512"/>
            <a:ext cx="2093976" cy="859536"/>
          </a:xfrm>
          <a:prstGeom prst="rect">
            <a:avLst/>
          </a:prstGeom>
          <a:noFill/>
          <a:ln/>
        </p:spPr>
        <p:txBody>
          <a:bodyPr wrap="square" lIns="0" tIns="0" rIns="0" bIns="0" rtlCol="0" anchor="ctr"/>
          <a:lstStyle/>
          <a:p>
            <a:pPr algn="ctr" indent="0" marL="0">
              <a:buNone/>
            </a:pPr>
            <a:r>
              <a:rPr lang="en-US" sz="1400" b="1" dirty="0">
                <a:solidFill>
                  <a:schemeClr val="bg1"/>
                </a:solidFill>
              </a:rPr>
              <a:t>Radiation</a:t>
            </a:r>
            <a:endParaRPr lang="en-US" sz="1400" dirty="0"/>
          </a:p>
          <a:p>
            <a:pPr algn="ctr" indent="0" marL="0">
              <a:buNone/>
            </a:pPr>
            <a:r>
              <a:rPr lang="en-US" sz="1400" dirty="0">
                <a:solidFill>
                  <a:schemeClr val="bg1"/>
                </a:solidFill>
              </a:rPr>
              <a:t>PAR ↓ (dimming), diffuse fraction ↑</a:t>
            </a:r>
            <a:endParaRPr lang="en-US" sz="1400" dirty="0"/>
          </a:p>
        </p:txBody>
      </p:sp>
      <p:sp>
        <p:nvSpPr>
          <p:cNvPr id="16" name="Lane 1 response card"/>
          <p:cNvSpPr/>
          <p:nvPr/>
        </p:nvSpPr>
        <p:spPr>
          <a:xfrm>
            <a:off x="6949440" y="1783080"/>
            <a:ext cx="2240280"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Lane 1 response"/>
          <p:cNvSpPr txBox="1"/>
          <p:nvPr/>
        </p:nvSpPr>
        <p:spPr>
          <a:xfrm>
            <a:off x="7040880" y="1810512"/>
            <a:ext cx="2057400" cy="859536"/>
          </a:xfrm>
          <a:prstGeom prst="rect">
            <a:avLst/>
          </a:prstGeom>
          <a:noFill/>
          <a:ln/>
        </p:spPr>
        <p:txBody>
          <a:bodyPr wrap="square" lIns="0" tIns="0" rIns="0" bIns="0" rtlCol="0" anchor="ctr"/>
          <a:lstStyle/>
          <a:p>
            <a:pPr algn="ctr" indent="0" marL="0">
              <a:buNone/>
            </a:pPr>
            <a:r>
              <a:rPr lang="en-US" sz="1400" dirty="0">
                <a:solidFill>
                  <a:schemeClr val="tx1"/>
                </a:solidFill>
              </a:rPr>
              <a:t>Shaded leaves gain, sunlit leaves lose; LUE ↑</a:t>
            </a:r>
            <a:endParaRPr lang="en-US" sz="1400" dirty="0"/>
          </a:p>
          <a:p>
            <a:pPr algn="ctr" indent="0" marL="0">
              <a:buNone/>
            </a:pPr>
            <a:r>
              <a:rPr lang="en-US" sz="1400" i="1" dirty="0">
                <a:solidFill>
                  <a:schemeClr val="accent1"/>
                </a:solidFill>
              </a:rPr>
              <a:t>Kanniah et al., 2012</a:t>
            </a:r>
            <a:endParaRPr lang="en-US" sz="1400" dirty="0"/>
          </a:p>
        </p:txBody>
      </p:sp>
      <p:sp>
        <p:nvSpPr>
          <p:cNvPr id="18" name="Arrow aer lane 1"/>
          <p:cNvSpPr/>
          <p:nvPr/>
        </p:nvSpPr>
        <p:spPr>
          <a:xfrm flipV="1">
            <a:off x="4178808" y="2240280"/>
            <a:ext cx="237744" cy="1051560"/>
          </a:xfrm>
          <a:prstGeom prst="line">
            <a:avLst/>
          </a:prstGeom>
          <a:noFill/>
          <a:ln w="25400">
            <a:solidFill>
              <a:schemeClr val="accent4"/>
            </a:solidFill>
            <a:prstDash val="solid"/>
            <a:tailEnd type="triangle"/>
          </a:ln>
        </p:spPr>
      </p:sp>
      <p:sp>
        <p:nvSpPr>
          <p:cNvPr id="19" name="Arrow lane resp 1"/>
          <p:cNvSpPr/>
          <p:nvPr/>
        </p:nvSpPr>
        <p:spPr>
          <a:xfrm>
            <a:off x="6693408" y="2240280"/>
            <a:ext cx="237744" cy="0"/>
          </a:xfrm>
          <a:prstGeom prst="line">
            <a:avLst/>
          </a:prstGeom>
          <a:noFill/>
          <a:ln w="25400">
            <a:solidFill>
              <a:schemeClr val="accent4"/>
            </a:solidFill>
            <a:prstDash val="solid"/>
            <a:tailEnd type="triangle"/>
          </a:ln>
        </p:spPr>
      </p:sp>
      <p:sp>
        <p:nvSpPr>
          <p:cNvPr id="20" name="Arrow resp prod 1"/>
          <p:cNvSpPr/>
          <p:nvPr/>
        </p:nvSpPr>
        <p:spPr>
          <a:xfrm>
            <a:off x="9208008" y="2240280"/>
            <a:ext cx="237744" cy="1051560"/>
          </a:xfrm>
          <a:prstGeom prst="line">
            <a:avLst/>
          </a:prstGeom>
          <a:noFill/>
          <a:ln w="25400">
            <a:solidFill>
              <a:schemeClr val="accent4"/>
            </a:solidFill>
            <a:prstDash val="solid"/>
            <a:tailEnd type="triangle"/>
          </a:ln>
        </p:spPr>
      </p:sp>
      <p:sp>
        <p:nvSpPr>
          <p:cNvPr id="21" name="Lane 2 perturbation"/>
          <p:cNvSpPr/>
          <p:nvPr/>
        </p:nvSpPr>
        <p:spPr>
          <a:xfrm>
            <a:off x="4434840" y="2834640"/>
            <a:ext cx="2240280" cy="914400"/>
          </a:xfrm>
          <a:prstGeom prst="roundRect">
            <a:avLst>
              <a:gd name="adj" fmla="val 7000"/>
            </a:avLst>
          </a:prstGeom>
          <a:solidFill>
            <a:schemeClr val="accent1"/>
          </a:solidFill>
          <a:ln w="12700">
            <a:solidFill>
              <a:schemeClr val="accent1"/>
            </a:solidFill>
            <a:prstDash val="solid"/>
          </a:ln>
        </p:spPr>
      </p:sp>
      <p:sp>
        <p:nvSpPr>
          <p:cNvPr id="22" name="Lane 2 perturbation text"/>
          <p:cNvSpPr txBox="1"/>
          <p:nvPr/>
        </p:nvSpPr>
        <p:spPr>
          <a:xfrm>
            <a:off x="4507992" y="2862072"/>
            <a:ext cx="2093976" cy="859536"/>
          </a:xfrm>
          <a:prstGeom prst="rect">
            <a:avLst/>
          </a:prstGeom>
          <a:noFill/>
          <a:ln/>
        </p:spPr>
        <p:txBody>
          <a:bodyPr wrap="square" lIns="0" tIns="0" rIns="0" bIns="0" rtlCol="0" anchor="ctr"/>
          <a:lstStyle/>
          <a:p>
            <a:pPr algn="ctr" indent="0" marL="0">
              <a:buNone/>
            </a:pPr>
            <a:r>
              <a:rPr lang="en-US" sz="1400" b="1" dirty="0">
                <a:solidFill>
                  <a:schemeClr val="bg1"/>
                </a:solidFill>
              </a:rPr>
              <a:t>Climate</a:t>
            </a:r>
            <a:endParaRPr lang="en-US" sz="1400" dirty="0"/>
          </a:p>
          <a:p>
            <a:pPr algn="ctr" indent="0" marL="0">
              <a:buNone/>
            </a:pPr>
            <a:r>
              <a:rPr lang="en-US" sz="1400" dirty="0">
                <a:solidFill>
                  <a:schemeClr val="bg1"/>
                </a:solidFill>
              </a:rPr>
              <a:t>Temperature ↓, VPD ↓, soil moisture ↑, rain ↓</a:t>
            </a:r>
            <a:endParaRPr lang="en-US" sz="1400" dirty="0"/>
          </a:p>
        </p:txBody>
      </p:sp>
      <p:sp>
        <p:nvSpPr>
          <p:cNvPr id="23" name="Lane 2 response card"/>
          <p:cNvSpPr/>
          <p:nvPr/>
        </p:nvSpPr>
        <p:spPr>
          <a:xfrm>
            <a:off x="6949440" y="2834640"/>
            <a:ext cx="2240280"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4" name="Lane 2 response"/>
          <p:cNvSpPr txBox="1"/>
          <p:nvPr/>
        </p:nvSpPr>
        <p:spPr>
          <a:xfrm>
            <a:off x="7040880" y="2862072"/>
            <a:ext cx="2057400" cy="859536"/>
          </a:xfrm>
          <a:prstGeom prst="rect">
            <a:avLst/>
          </a:prstGeom>
          <a:noFill/>
          <a:ln/>
        </p:spPr>
        <p:txBody>
          <a:bodyPr wrap="square" lIns="0" tIns="0" rIns="0" bIns="0" rtlCol="0" anchor="ctr"/>
          <a:lstStyle/>
          <a:p>
            <a:pPr algn="ctr" indent="0" marL="0">
              <a:buNone/>
            </a:pPr>
            <a:r>
              <a:rPr lang="en-US" sz="1400" dirty="0">
                <a:solidFill>
                  <a:schemeClr val="tx1"/>
                </a:solidFill>
              </a:rPr>
              <a:t>Stomata open, less water stress; less rain</a:t>
            </a:r>
            <a:endParaRPr lang="en-US" sz="1400" dirty="0"/>
          </a:p>
          <a:p>
            <a:pPr algn="ctr" indent="0" marL="0">
              <a:buNone/>
            </a:pPr>
            <a:r>
              <a:rPr lang="en-US" sz="1400" i="1" dirty="0">
                <a:solidFill>
                  <a:schemeClr val="accent1"/>
                </a:solidFill>
              </a:rPr>
              <a:t>Yue et al., 2017</a:t>
            </a:r>
            <a:endParaRPr lang="en-US" sz="1400" dirty="0"/>
          </a:p>
        </p:txBody>
      </p:sp>
      <p:sp>
        <p:nvSpPr>
          <p:cNvPr id="25" name="Arrow aer lane 2"/>
          <p:cNvSpPr/>
          <p:nvPr/>
        </p:nvSpPr>
        <p:spPr>
          <a:xfrm>
            <a:off x="4178808" y="3291840"/>
            <a:ext cx="237744" cy="0"/>
          </a:xfrm>
          <a:prstGeom prst="line">
            <a:avLst/>
          </a:prstGeom>
          <a:noFill/>
          <a:ln w="25400">
            <a:solidFill>
              <a:schemeClr val="accent4"/>
            </a:solidFill>
            <a:prstDash val="solid"/>
            <a:tailEnd type="triangle"/>
          </a:ln>
        </p:spPr>
      </p:sp>
      <p:sp>
        <p:nvSpPr>
          <p:cNvPr id="26" name="Arrow lane resp 2"/>
          <p:cNvSpPr/>
          <p:nvPr/>
        </p:nvSpPr>
        <p:spPr>
          <a:xfrm>
            <a:off x="6693408" y="3291840"/>
            <a:ext cx="237744" cy="0"/>
          </a:xfrm>
          <a:prstGeom prst="line">
            <a:avLst/>
          </a:prstGeom>
          <a:noFill/>
          <a:ln w="25400">
            <a:solidFill>
              <a:schemeClr val="accent4"/>
            </a:solidFill>
            <a:prstDash val="solid"/>
            <a:tailEnd type="triangle"/>
          </a:ln>
        </p:spPr>
      </p:sp>
      <p:sp>
        <p:nvSpPr>
          <p:cNvPr id="27" name="Arrow resp prod 2"/>
          <p:cNvSpPr/>
          <p:nvPr/>
        </p:nvSpPr>
        <p:spPr>
          <a:xfrm>
            <a:off x="9208008" y="3291840"/>
            <a:ext cx="237744" cy="0"/>
          </a:xfrm>
          <a:prstGeom prst="line">
            <a:avLst/>
          </a:prstGeom>
          <a:noFill/>
          <a:ln w="25400">
            <a:solidFill>
              <a:schemeClr val="accent4"/>
            </a:solidFill>
            <a:prstDash val="solid"/>
            <a:tailEnd type="triangle"/>
          </a:ln>
        </p:spPr>
      </p:sp>
      <p:sp>
        <p:nvSpPr>
          <p:cNvPr id="28" name="Lane 3 perturbation"/>
          <p:cNvSpPr/>
          <p:nvPr/>
        </p:nvSpPr>
        <p:spPr>
          <a:xfrm>
            <a:off x="4434840" y="3886200"/>
            <a:ext cx="2240280" cy="914400"/>
          </a:xfrm>
          <a:prstGeom prst="roundRect">
            <a:avLst>
              <a:gd name="adj" fmla="val 7000"/>
            </a:avLst>
          </a:prstGeom>
          <a:solidFill>
            <a:schemeClr val="accent5"/>
          </a:solidFill>
          <a:ln w="12700">
            <a:solidFill>
              <a:schemeClr val="accent5"/>
            </a:solidFill>
            <a:prstDash val="solid"/>
          </a:ln>
        </p:spPr>
      </p:sp>
      <p:sp>
        <p:nvSpPr>
          <p:cNvPr id="29" name="Lane 3 perturbation text"/>
          <p:cNvSpPr txBox="1"/>
          <p:nvPr/>
        </p:nvSpPr>
        <p:spPr>
          <a:xfrm>
            <a:off x="4507992" y="3913632"/>
            <a:ext cx="2093976" cy="859536"/>
          </a:xfrm>
          <a:prstGeom prst="rect">
            <a:avLst/>
          </a:prstGeom>
          <a:noFill/>
          <a:ln/>
        </p:spPr>
        <p:txBody>
          <a:bodyPr wrap="square" lIns="0" tIns="0" rIns="0" bIns="0" rtlCol="0" anchor="ctr"/>
          <a:lstStyle/>
          <a:p>
            <a:pPr algn="ctr" indent="0" marL="0">
              <a:buNone/>
            </a:pPr>
            <a:r>
              <a:rPr lang="en-US" sz="1400" b="1" dirty="0">
                <a:solidFill>
                  <a:schemeClr val="bg1"/>
                </a:solidFill>
              </a:rPr>
              <a:t>Co-pollutant</a:t>
            </a:r>
            <a:endParaRPr lang="en-US" sz="1400" dirty="0"/>
          </a:p>
          <a:p>
            <a:pPr algn="ctr" indent="0" marL="0">
              <a:buNone/>
            </a:pPr>
            <a:r>
              <a:rPr lang="en-US" sz="1400" dirty="0">
                <a:solidFill>
                  <a:schemeClr val="bg1"/>
                </a:solidFill>
              </a:rPr>
              <a:t>Surface ozone ↑ from the same emissions</a:t>
            </a:r>
            <a:endParaRPr lang="en-US" sz="1400" dirty="0"/>
          </a:p>
        </p:txBody>
      </p:sp>
      <p:sp>
        <p:nvSpPr>
          <p:cNvPr id="30" name="Lane 3 response card"/>
          <p:cNvSpPr/>
          <p:nvPr/>
        </p:nvSpPr>
        <p:spPr>
          <a:xfrm>
            <a:off x="6949440" y="3886200"/>
            <a:ext cx="2240280"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1" name="Lane 3 response"/>
          <p:cNvSpPr txBox="1"/>
          <p:nvPr/>
        </p:nvSpPr>
        <p:spPr>
          <a:xfrm>
            <a:off x="7040880" y="3913632"/>
            <a:ext cx="2057400" cy="859536"/>
          </a:xfrm>
          <a:prstGeom prst="rect">
            <a:avLst/>
          </a:prstGeom>
          <a:noFill/>
          <a:ln/>
        </p:spPr>
        <p:txBody>
          <a:bodyPr wrap="square" lIns="0" tIns="0" rIns="0" bIns="0" rtlCol="0" anchor="ctr"/>
          <a:lstStyle/>
          <a:p>
            <a:pPr algn="ctr" indent="0" marL="0">
              <a:buNone/>
            </a:pPr>
            <a:r>
              <a:rPr lang="en-US" sz="1400" dirty="0">
                <a:solidFill>
                  <a:schemeClr val="tx1"/>
                </a:solidFill>
              </a:rPr>
              <a:t>Stomatal ozone uptake damages leaves</a:t>
            </a:r>
            <a:endParaRPr lang="en-US" sz="1400" dirty="0"/>
          </a:p>
          <a:p>
            <a:pPr algn="ctr" indent="0" marL="0">
              <a:buNone/>
            </a:pPr>
            <a:r>
              <a:rPr lang="en-US" sz="1400" i="1" dirty="0">
                <a:solidFill>
                  <a:schemeClr val="accent1"/>
                </a:solidFill>
              </a:rPr>
              <a:t>Yue &amp; Unger, 2018</a:t>
            </a:r>
            <a:endParaRPr lang="en-US" sz="1400" dirty="0"/>
          </a:p>
        </p:txBody>
      </p:sp>
      <p:sp>
        <p:nvSpPr>
          <p:cNvPr id="32" name="Arrow aer lane 3"/>
          <p:cNvSpPr/>
          <p:nvPr/>
        </p:nvSpPr>
        <p:spPr>
          <a:xfrm>
            <a:off x="4178808" y="3291840"/>
            <a:ext cx="237744" cy="1051560"/>
          </a:xfrm>
          <a:prstGeom prst="line">
            <a:avLst/>
          </a:prstGeom>
          <a:noFill/>
          <a:ln w="25400">
            <a:solidFill>
              <a:schemeClr val="accent4"/>
            </a:solidFill>
            <a:prstDash val="solid"/>
            <a:tailEnd type="triangle"/>
          </a:ln>
        </p:spPr>
      </p:sp>
      <p:sp>
        <p:nvSpPr>
          <p:cNvPr id="33" name="Arrow lane resp 3"/>
          <p:cNvSpPr/>
          <p:nvPr/>
        </p:nvSpPr>
        <p:spPr>
          <a:xfrm>
            <a:off x="6693408" y="4343400"/>
            <a:ext cx="237744" cy="0"/>
          </a:xfrm>
          <a:prstGeom prst="line">
            <a:avLst/>
          </a:prstGeom>
          <a:noFill/>
          <a:ln w="25400">
            <a:solidFill>
              <a:schemeClr val="accent4"/>
            </a:solidFill>
            <a:prstDash val="solid"/>
            <a:tailEnd type="triangle"/>
          </a:ln>
        </p:spPr>
      </p:sp>
      <p:sp>
        <p:nvSpPr>
          <p:cNvPr id="34" name="Arrow resp prod 3"/>
          <p:cNvSpPr/>
          <p:nvPr/>
        </p:nvSpPr>
        <p:spPr>
          <a:xfrm flipV="1">
            <a:off x="9208008" y="3291840"/>
            <a:ext cx="237744" cy="1051560"/>
          </a:xfrm>
          <a:prstGeom prst="line">
            <a:avLst/>
          </a:prstGeom>
          <a:noFill/>
          <a:ln w="25400">
            <a:solidFill>
              <a:schemeClr val="accent4"/>
            </a:solidFill>
            <a:prstDash val="solid"/>
            <a:tailEnd type="triangle"/>
          </a:ln>
        </p:spPr>
      </p:sp>
      <p:sp>
        <p:nvSpPr>
          <p:cNvPr id="35" name="Productivity box"/>
          <p:cNvSpPr/>
          <p:nvPr/>
        </p:nvSpPr>
        <p:spPr>
          <a:xfrm>
            <a:off x="9464040" y="1783080"/>
            <a:ext cx="2267712" cy="3017520"/>
          </a:xfrm>
          <a:prstGeom prst="roundRect">
            <a:avLst>
              <a:gd name="adj" fmla="val 2823"/>
            </a:avLst>
          </a:prstGeom>
          <a:solidFill>
            <a:schemeClr val="accent3"/>
          </a:solidFill>
          <a:ln w="12700">
            <a:solidFill>
              <a:schemeClr val="accent3"/>
            </a:solidFill>
            <a:prstDash val="solid"/>
          </a:ln>
        </p:spPr>
      </p:sp>
      <p:sp>
        <p:nvSpPr>
          <p:cNvPr id="36" name="Productivity box text"/>
          <p:cNvSpPr txBox="1"/>
          <p:nvPr/>
        </p:nvSpPr>
        <p:spPr>
          <a:xfrm>
            <a:off x="9537192" y="1810512"/>
            <a:ext cx="2121408" cy="2962656"/>
          </a:xfrm>
          <a:prstGeom prst="rect">
            <a:avLst/>
          </a:prstGeom>
          <a:noFill/>
          <a:ln/>
        </p:spPr>
        <p:txBody>
          <a:bodyPr wrap="square" lIns="0" tIns="0" rIns="0" bIns="0" rtlCol="0" anchor="ctr"/>
          <a:lstStyle/>
          <a:p>
            <a:pPr algn="ctr" indent="0" marL="0">
              <a:buNone/>
            </a:pPr>
            <a:r>
              <a:rPr lang="en-US" sz="1400" b="1" dirty="0">
                <a:solidFill>
                  <a:schemeClr val="bg1"/>
                </a:solidFill>
              </a:rPr>
              <a:t>GPP · NPP · NEE · yield</a:t>
            </a:r>
            <a:endParaRPr lang="en-US" sz="1400" dirty="0"/>
          </a:p>
          <a:p>
            <a:pPr algn="ctr" indent="0" marL="0">
              <a:buNone/>
            </a:pPr>
            <a:r>
              <a:rPr lang="en-US" sz="1400" dirty="0">
                <a:solidFill>
                  <a:schemeClr val="bg1"/>
                </a:solidFill>
              </a:rPr>
              <a:t>Net effect = diffuse gain − dimming loss ± climate effects − ozone damage</a:t>
            </a:r>
            <a:endParaRPr lang="en-US" sz="1400" dirty="0"/>
          </a:p>
          <a:p>
            <a:pPr algn="ctr" indent="0" marL="0">
              <a:buNone/>
            </a:pPr>
            <a:r>
              <a:rPr lang="en-US" sz="1400" dirty="0">
                <a:solidFill>
                  <a:schemeClr val="bg1"/>
                </a:solidFill>
              </a:rPr>
              <a:t>Inverted-U response to AOD</a:t>
            </a:r>
            <a:endParaRPr lang="en-US" sz="1400" dirty="0"/>
          </a:p>
        </p:txBody>
      </p:sp>
      <p:sp>
        <p:nvSpPr>
          <p:cNvPr id="37" name="Modulator strip"/>
          <p:cNvSpPr/>
          <p:nvPr/>
        </p:nvSpPr>
        <p:spPr>
          <a:xfrm>
            <a:off x="457200" y="4983480"/>
            <a:ext cx="11274552" cy="502920"/>
          </a:xfrm>
          <a:prstGeom prst="roundRect">
            <a:avLst>
              <a:gd name="adj" fmla="val 10909"/>
            </a:avLst>
          </a:prstGeom>
          <a:solidFill>
            <a:schemeClr val="bg2"/>
          </a:solidFill>
          <a:ln w="12700">
            <a:solidFill>
              <a:schemeClr val="bg2"/>
            </a:solidFill>
            <a:prstDash val="solid"/>
          </a:ln>
        </p:spPr>
      </p:sp>
      <p:sp>
        <p:nvSpPr>
          <p:cNvPr id="38" name="Modulator strip text"/>
          <p:cNvSpPr txBox="1"/>
          <p:nvPr/>
        </p:nvSpPr>
        <p:spPr>
          <a:xfrm>
            <a:off x="594360" y="4983480"/>
            <a:ext cx="11000232" cy="502920"/>
          </a:xfrm>
          <a:prstGeom prst="rect">
            <a:avLst/>
          </a:prstGeom>
          <a:noFill/>
          <a:ln/>
        </p:spPr>
        <p:txBody>
          <a:bodyPr wrap="square" lIns="0" tIns="0" rIns="0" bIns="0" rtlCol="0" anchor="ctr"/>
          <a:lstStyle/>
          <a:p>
            <a:pPr indent="0" marL="0">
              <a:buNone/>
            </a:pPr>
            <a:r>
              <a:rPr lang="en-US" sz="1400" b="1" dirty="0">
                <a:solidFill>
                  <a:schemeClr val="tx1"/>
                </a:solidFill>
              </a:rPr>
              <a:t>Modulators:</a:t>
            </a:r>
            <a:r>
              <a:rPr lang="en-US" sz="1400" dirty="0">
                <a:solidFill>
                  <a:schemeClr val="tx1"/>
                </a:solidFill>
              </a:rPr>
              <a:t> cloud cover · aerosol load (optimum) · aerosol type · canopy structure · C3 vs C4 · growth stage</a:t>
            </a:r>
            <a:endParaRPr lang="en-US" sz="1400" dirty="0"/>
          </a:p>
        </p:txBody>
      </p:sp>
      <p:sp>
        <p:nvSpPr>
          <p:cNvPr id="39" name="Feedback box"/>
          <p:cNvSpPr/>
          <p:nvPr/>
        </p:nvSpPr>
        <p:spPr>
          <a:xfrm>
            <a:off x="457200" y="5596128"/>
            <a:ext cx="11274552" cy="603504"/>
          </a:xfrm>
          <a:prstGeom prst="roundRect">
            <a:avLst>
              <a:gd name="adj" fmla="val 9091"/>
            </a:avLst>
          </a:prstGeom>
          <a:solidFill>
            <a:schemeClr val="bg1"/>
          </a:solidFill>
          <a:ln w="15875">
            <a:solidFill>
              <a:schemeClr val="accent3"/>
            </a:solidFill>
            <a:prstDash val="dash"/>
          </a:ln>
        </p:spPr>
      </p:sp>
      <p:sp>
        <p:nvSpPr>
          <p:cNvPr id="40" name="Feedback text"/>
          <p:cNvSpPr txBox="1"/>
          <p:nvPr/>
        </p:nvSpPr>
        <p:spPr>
          <a:xfrm>
            <a:off x="594360" y="5596128"/>
            <a:ext cx="11000232" cy="603504"/>
          </a:xfrm>
          <a:prstGeom prst="rect">
            <a:avLst/>
          </a:prstGeom>
          <a:noFill/>
          <a:ln/>
        </p:spPr>
        <p:txBody>
          <a:bodyPr wrap="square" lIns="0" tIns="0" rIns="0" bIns="0" rtlCol="0" anchor="ctr"/>
          <a:lstStyle/>
          <a:p>
            <a:pPr indent="0" marL="0">
              <a:buNone/>
            </a:pPr>
            <a:r>
              <a:rPr lang="en-US" sz="1400" b="1" dirty="0">
                <a:solidFill>
                  <a:schemeClr val="tx1"/>
                </a:solidFill>
              </a:rPr>
              <a:t>Feedbacks:</a:t>
            </a:r>
            <a:r>
              <a:rPr lang="en-US" sz="1400" dirty="0">
                <a:solidFill>
                  <a:schemeClr val="tx1"/>
                </a:solidFill>
              </a:rPr>
              <a:t> larger harvest → more residue fires → more aerosol (Jethva et al., 2019) · plant VOCs → secondary organic aerosol → more diffuse light (Rap et al., 2018)</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radiative effects</a:t>
            </a:r>
            <a:endParaRPr lang="en-US" sz="2800" dirty="0"/>
          </a:p>
        </p:txBody>
      </p:sp>
      <p:sp>
        <p:nvSpPr>
          <p:cNvPr id="4" name="Aerosol layer box"/>
          <p:cNvSpPr/>
          <p:nvPr/>
        </p:nvSpPr>
        <p:spPr>
          <a:xfrm>
            <a:off x="457200" y="2240280"/>
            <a:ext cx="1645920" cy="1463040"/>
          </a:xfrm>
          <a:prstGeom prst="roundRect">
            <a:avLst>
              <a:gd name="adj" fmla="val 4375"/>
            </a:avLst>
          </a:prstGeom>
          <a:solidFill>
            <a:schemeClr val="tx2"/>
          </a:solidFill>
          <a:ln w="12700">
            <a:solidFill>
              <a:schemeClr val="tx2"/>
            </a:solidFill>
            <a:prstDash val="solid"/>
          </a:ln>
        </p:spPr>
      </p:sp>
      <p:sp>
        <p:nvSpPr>
          <p:cNvPr id="5" name="Aerosol layer box text"/>
          <p:cNvSpPr txBox="1"/>
          <p:nvPr/>
        </p:nvSpPr>
        <p:spPr>
          <a:xfrm>
            <a:off x="530352" y="2267712"/>
            <a:ext cx="1499616" cy="1408176"/>
          </a:xfrm>
          <a:prstGeom prst="rect">
            <a:avLst/>
          </a:prstGeom>
          <a:noFill/>
          <a:ln/>
        </p:spPr>
        <p:txBody>
          <a:bodyPr wrap="square" lIns="0" tIns="0" rIns="0" bIns="0" rtlCol="0" anchor="ctr"/>
          <a:lstStyle/>
          <a:p>
            <a:pPr algn="ctr" indent="0" marL="0">
              <a:buNone/>
            </a:pPr>
            <a:r>
              <a:rPr lang="en-US" sz="1400" b="1" dirty="0">
                <a:solidFill>
                  <a:schemeClr val="bg1"/>
                </a:solidFill>
              </a:rPr>
              <a:t>Aerosol layer</a:t>
            </a:r>
            <a:endParaRPr lang="en-US" sz="1400" dirty="0"/>
          </a:p>
          <a:p>
            <a:pPr algn="ctr" indent="0" marL="0">
              <a:buNone/>
            </a:pPr>
            <a:r>
              <a:rPr lang="en-US" sz="1400" dirty="0">
                <a:solidFill>
                  <a:schemeClr val="bg1"/>
                </a:solidFill>
              </a:rPr>
              <a:t>AOD, SSA, size, height</a:t>
            </a:r>
            <a:endParaRPr lang="en-US" sz="1400" dirty="0"/>
          </a:p>
        </p:txBody>
      </p:sp>
      <p:sp>
        <p:nvSpPr>
          <p:cNvPr id="6" name="Effect 1"/>
          <p:cNvSpPr/>
          <p:nvPr/>
        </p:nvSpPr>
        <p:spPr>
          <a:xfrm>
            <a:off x="2377440" y="1280160"/>
            <a:ext cx="2514600" cy="987552"/>
          </a:xfrm>
          <a:prstGeom prst="roundRect">
            <a:avLst>
              <a:gd name="adj" fmla="val 6481"/>
            </a:avLst>
          </a:prstGeom>
          <a:solidFill>
            <a:schemeClr val="accent1"/>
          </a:solidFill>
          <a:ln w="12700">
            <a:solidFill>
              <a:schemeClr val="accent1"/>
            </a:solidFill>
            <a:prstDash val="solid"/>
          </a:ln>
        </p:spPr>
      </p:sp>
      <p:sp>
        <p:nvSpPr>
          <p:cNvPr id="7" name="Effect 1 text"/>
          <p:cNvSpPr txBox="1"/>
          <p:nvPr/>
        </p:nvSpPr>
        <p:spPr>
          <a:xfrm>
            <a:off x="2450592" y="1307592"/>
            <a:ext cx="2368296" cy="932688"/>
          </a:xfrm>
          <a:prstGeom prst="rect">
            <a:avLst/>
          </a:prstGeom>
          <a:noFill/>
          <a:ln/>
        </p:spPr>
        <p:txBody>
          <a:bodyPr wrap="square" lIns="0" tIns="0" rIns="0" bIns="0" rtlCol="0" anchor="ctr"/>
          <a:lstStyle/>
          <a:p>
            <a:pPr algn="ctr" indent="0" marL="0">
              <a:buNone/>
            </a:pPr>
            <a:r>
              <a:rPr lang="en-US" sz="1400" b="1" dirty="0">
                <a:solidFill>
                  <a:schemeClr val="bg1"/>
                </a:solidFill>
              </a:rPr>
              <a:t>Direct effect (aerosol–radiation)</a:t>
            </a:r>
            <a:endParaRPr lang="en-US" sz="1400" dirty="0"/>
          </a:p>
          <a:p>
            <a:pPr algn="ctr" indent="0" marL="0">
              <a:buNone/>
            </a:pPr>
            <a:r>
              <a:rPr lang="en-US" sz="1400" dirty="0">
                <a:solidFill>
                  <a:schemeClr val="bg1"/>
                </a:solidFill>
              </a:rPr>
              <a:t>Scattering and absorption of sunlight</a:t>
            </a:r>
            <a:endParaRPr lang="en-US" sz="1400" dirty="0"/>
          </a:p>
        </p:txBody>
      </p:sp>
      <p:sp>
        <p:nvSpPr>
          <p:cNvPr id="8" name="Arrow layer 1"/>
          <p:cNvSpPr/>
          <p:nvPr/>
        </p:nvSpPr>
        <p:spPr>
          <a:xfrm flipV="1">
            <a:off x="2121408" y="1773936"/>
            <a:ext cx="237744" cy="1197864"/>
          </a:xfrm>
          <a:prstGeom prst="line">
            <a:avLst/>
          </a:prstGeom>
          <a:noFill/>
          <a:ln w="25400">
            <a:solidFill>
              <a:schemeClr val="accent4"/>
            </a:solidFill>
            <a:prstDash val="solid"/>
            <a:tailEnd type="triangle"/>
          </a:ln>
        </p:spPr>
      </p:sp>
      <p:sp>
        <p:nvSpPr>
          <p:cNvPr id="9" name="Outcome 1 card"/>
          <p:cNvSpPr/>
          <p:nvPr/>
        </p:nvSpPr>
        <p:spPr>
          <a:xfrm>
            <a:off x="5120640" y="1280160"/>
            <a:ext cx="2240280" cy="987552"/>
          </a:xfrm>
          <a:prstGeom prst="roundRect">
            <a:avLst>
              <a:gd name="adj" fmla="val 648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Outcome 1"/>
          <p:cNvSpPr txBox="1"/>
          <p:nvPr/>
        </p:nvSpPr>
        <p:spPr>
          <a:xfrm>
            <a:off x="5212080" y="1307592"/>
            <a:ext cx="2057400" cy="932688"/>
          </a:xfrm>
          <a:prstGeom prst="rect">
            <a:avLst/>
          </a:prstGeom>
          <a:noFill/>
          <a:ln/>
        </p:spPr>
        <p:txBody>
          <a:bodyPr wrap="square" lIns="0" tIns="0" rIns="0" bIns="0" rtlCol="0" anchor="ctr"/>
          <a:lstStyle/>
          <a:p>
            <a:pPr algn="ctr" indent="0" marL="0">
              <a:buNone/>
            </a:pPr>
            <a:r>
              <a:rPr lang="en-US" sz="1400" dirty="0">
                <a:solidFill>
                  <a:schemeClr val="tx1"/>
                </a:solidFill>
              </a:rPr>
              <a:t>Surface dimming; diffuse fraction ↑</a:t>
            </a:r>
            <a:endParaRPr lang="en-US" sz="1400" dirty="0"/>
          </a:p>
          <a:p>
            <a:pPr algn="ctr" indent="0" marL="0">
              <a:buNone/>
            </a:pPr>
            <a:r>
              <a:rPr lang="en-US" sz="1400" i="1" dirty="0">
                <a:solidFill>
                  <a:schemeClr val="accent1"/>
                </a:solidFill>
              </a:rPr>
              <a:t>Kanniah et al., 2012</a:t>
            </a:r>
            <a:endParaRPr lang="en-US" sz="1400" dirty="0"/>
          </a:p>
        </p:txBody>
      </p:sp>
      <p:sp>
        <p:nvSpPr>
          <p:cNvPr id="11" name="Arrow outcome 1"/>
          <p:cNvSpPr/>
          <p:nvPr/>
        </p:nvSpPr>
        <p:spPr>
          <a:xfrm>
            <a:off x="4910328" y="1773936"/>
            <a:ext cx="192024" cy="0"/>
          </a:xfrm>
          <a:prstGeom prst="line">
            <a:avLst/>
          </a:prstGeom>
          <a:noFill/>
          <a:ln w="25400">
            <a:solidFill>
              <a:schemeClr val="accent4"/>
            </a:solidFill>
            <a:prstDash val="solid"/>
            <a:tailEnd type="triangle"/>
          </a:ln>
        </p:spPr>
      </p:sp>
      <p:sp>
        <p:nvSpPr>
          <p:cNvPr id="12" name="Arrow bus 1"/>
          <p:cNvSpPr/>
          <p:nvPr/>
        </p:nvSpPr>
        <p:spPr>
          <a:xfrm>
            <a:off x="7379208" y="1773936"/>
            <a:ext cx="164592" cy="0"/>
          </a:xfrm>
          <a:prstGeom prst="line">
            <a:avLst/>
          </a:prstGeom>
          <a:noFill/>
          <a:ln w="25400">
            <a:solidFill>
              <a:schemeClr val="accent4"/>
            </a:solidFill>
            <a:prstDash val="solid"/>
            <a:tailEnd type="triangle"/>
          </a:ln>
        </p:spPr>
      </p:sp>
      <p:sp>
        <p:nvSpPr>
          <p:cNvPr id="13" name="Effect 2"/>
          <p:cNvSpPr/>
          <p:nvPr/>
        </p:nvSpPr>
        <p:spPr>
          <a:xfrm>
            <a:off x="2377440" y="2423160"/>
            <a:ext cx="2514600" cy="987552"/>
          </a:xfrm>
          <a:prstGeom prst="roundRect">
            <a:avLst>
              <a:gd name="adj" fmla="val 6481"/>
            </a:avLst>
          </a:prstGeom>
          <a:solidFill>
            <a:schemeClr val="accent5"/>
          </a:solidFill>
          <a:ln w="12700">
            <a:solidFill>
              <a:schemeClr val="accent5"/>
            </a:solidFill>
            <a:prstDash val="solid"/>
          </a:ln>
        </p:spPr>
      </p:sp>
      <p:sp>
        <p:nvSpPr>
          <p:cNvPr id="14" name="Effect 2 text"/>
          <p:cNvSpPr txBox="1"/>
          <p:nvPr/>
        </p:nvSpPr>
        <p:spPr>
          <a:xfrm>
            <a:off x="2450592" y="2450592"/>
            <a:ext cx="2368296" cy="932688"/>
          </a:xfrm>
          <a:prstGeom prst="rect">
            <a:avLst/>
          </a:prstGeom>
          <a:noFill/>
          <a:ln/>
        </p:spPr>
        <p:txBody>
          <a:bodyPr wrap="square" lIns="0" tIns="0" rIns="0" bIns="0" rtlCol="0" anchor="ctr"/>
          <a:lstStyle/>
          <a:p>
            <a:pPr algn="ctr" indent="0" marL="0">
              <a:buNone/>
            </a:pPr>
            <a:r>
              <a:rPr lang="en-US" sz="1400" b="1" dirty="0">
                <a:solidFill>
                  <a:schemeClr val="bg1"/>
                </a:solidFill>
              </a:rPr>
              <a:t>Semi-direct effect</a:t>
            </a:r>
            <a:endParaRPr lang="en-US" sz="1400" dirty="0"/>
          </a:p>
          <a:p>
            <a:pPr algn="ctr" indent="0" marL="0">
              <a:buNone/>
            </a:pPr>
            <a:r>
              <a:rPr lang="en-US" sz="1400" dirty="0">
                <a:solidFill>
                  <a:schemeClr val="bg1"/>
                </a:solidFill>
              </a:rPr>
              <a:t>Black carbon absorbs and heats the layer</a:t>
            </a:r>
            <a:endParaRPr lang="en-US" sz="1400" dirty="0"/>
          </a:p>
        </p:txBody>
      </p:sp>
      <p:sp>
        <p:nvSpPr>
          <p:cNvPr id="15" name="Arrow layer 2"/>
          <p:cNvSpPr/>
          <p:nvPr/>
        </p:nvSpPr>
        <p:spPr>
          <a:xfrm flipV="1">
            <a:off x="2121408" y="2916936"/>
            <a:ext cx="237744" cy="54864"/>
          </a:xfrm>
          <a:prstGeom prst="line">
            <a:avLst/>
          </a:prstGeom>
          <a:noFill/>
          <a:ln w="25400">
            <a:solidFill>
              <a:schemeClr val="accent4"/>
            </a:solidFill>
            <a:prstDash val="solid"/>
            <a:tailEnd type="triangle"/>
          </a:ln>
        </p:spPr>
      </p:sp>
      <p:sp>
        <p:nvSpPr>
          <p:cNvPr id="16" name="Outcome 2 card"/>
          <p:cNvSpPr/>
          <p:nvPr/>
        </p:nvSpPr>
        <p:spPr>
          <a:xfrm>
            <a:off x="5120640" y="2423160"/>
            <a:ext cx="2240280" cy="987552"/>
          </a:xfrm>
          <a:prstGeom prst="roundRect">
            <a:avLst>
              <a:gd name="adj" fmla="val 648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Outcome 2"/>
          <p:cNvSpPr txBox="1"/>
          <p:nvPr/>
        </p:nvSpPr>
        <p:spPr>
          <a:xfrm>
            <a:off x="5212080" y="2450592"/>
            <a:ext cx="2057400" cy="932688"/>
          </a:xfrm>
          <a:prstGeom prst="rect">
            <a:avLst/>
          </a:prstGeom>
          <a:noFill/>
          <a:ln/>
        </p:spPr>
        <p:txBody>
          <a:bodyPr wrap="square" lIns="0" tIns="0" rIns="0" bIns="0" rtlCol="0" anchor="ctr"/>
          <a:lstStyle/>
          <a:p>
            <a:pPr algn="ctr" indent="0" marL="0">
              <a:buNone/>
            </a:pPr>
            <a:r>
              <a:rPr lang="en-US" sz="1400" dirty="0">
                <a:solidFill>
                  <a:schemeClr val="tx1"/>
                </a:solidFill>
              </a:rPr>
              <a:t>Stable air; clouds evaporate</a:t>
            </a:r>
            <a:endParaRPr lang="en-US" sz="1400" dirty="0"/>
          </a:p>
          <a:p>
            <a:pPr algn="ctr" indent="0" marL="0">
              <a:buNone/>
            </a:pPr>
            <a:r>
              <a:rPr lang="en-US" sz="1400" i="1" dirty="0">
                <a:solidFill>
                  <a:schemeClr val="accent1"/>
                </a:solidFill>
              </a:rPr>
              <a:t>Forster et al., 2021</a:t>
            </a:r>
            <a:endParaRPr lang="en-US" sz="1400" dirty="0"/>
          </a:p>
        </p:txBody>
      </p:sp>
      <p:sp>
        <p:nvSpPr>
          <p:cNvPr id="18" name="Arrow outcome 2"/>
          <p:cNvSpPr/>
          <p:nvPr/>
        </p:nvSpPr>
        <p:spPr>
          <a:xfrm>
            <a:off x="4910328" y="2916936"/>
            <a:ext cx="192024" cy="0"/>
          </a:xfrm>
          <a:prstGeom prst="line">
            <a:avLst/>
          </a:prstGeom>
          <a:noFill/>
          <a:ln w="25400">
            <a:solidFill>
              <a:schemeClr val="accent4"/>
            </a:solidFill>
            <a:prstDash val="solid"/>
            <a:tailEnd type="triangle"/>
          </a:ln>
        </p:spPr>
      </p:sp>
      <p:sp>
        <p:nvSpPr>
          <p:cNvPr id="19" name="Arrow bus 2"/>
          <p:cNvSpPr/>
          <p:nvPr/>
        </p:nvSpPr>
        <p:spPr>
          <a:xfrm>
            <a:off x="7379208" y="2916936"/>
            <a:ext cx="164592" cy="0"/>
          </a:xfrm>
          <a:prstGeom prst="line">
            <a:avLst/>
          </a:prstGeom>
          <a:noFill/>
          <a:ln w="25400">
            <a:solidFill>
              <a:schemeClr val="accent4"/>
            </a:solidFill>
            <a:prstDash val="solid"/>
            <a:tailEnd type="triangle"/>
          </a:ln>
        </p:spPr>
      </p:sp>
      <p:sp>
        <p:nvSpPr>
          <p:cNvPr id="20" name="Effect 3"/>
          <p:cNvSpPr/>
          <p:nvPr/>
        </p:nvSpPr>
        <p:spPr>
          <a:xfrm>
            <a:off x="2377440" y="3566160"/>
            <a:ext cx="2514600" cy="987552"/>
          </a:xfrm>
          <a:prstGeom prst="roundRect">
            <a:avLst>
              <a:gd name="adj" fmla="val 6481"/>
            </a:avLst>
          </a:prstGeom>
          <a:solidFill>
            <a:schemeClr val="accent2"/>
          </a:solidFill>
          <a:ln w="12700">
            <a:solidFill>
              <a:schemeClr val="accent2"/>
            </a:solidFill>
            <a:prstDash val="solid"/>
          </a:ln>
        </p:spPr>
      </p:sp>
      <p:sp>
        <p:nvSpPr>
          <p:cNvPr id="21" name="Effect 3 text"/>
          <p:cNvSpPr txBox="1"/>
          <p:nvPr/>
        </p:nvSpPr>
        <p:spPr>
          <a:xfrm>
            <a:off x="2450592" y="3593592"/>
            <a:ext cx="2368296" cy="932688"/>
          </a:xfrm>
          <a:prstGeom prst="rect">
            <a:avLst/>
          </a:prstGeom>
          <a:noFill/>
          <a:ln/>
        </p:spPr>
        <p:txBody>
          <a:bodyPr wrap="square" lIns="0" tIns="0" rIns="0" bIns="0" rtlCol="0" anchor="ctr"/>
          <a:lstStyle/>
          <a:p>
            <a:pPr algn="ctr" indent="0" marL="0">
              <a:buNone/>
            </a:pPr>
            <a:r>
              <a:rPr lang="en-US" sz="1400" b="1" dirty="0">
                <a:solidFill>
                  <a:schemeClr val="bg1"/>
                </a:solidFill>
              </a:rPr>
              <a:t>Indirect effect (aerosol–cloud)</a:t>
            </a:r>
            <a:endParaRPr lang="en-US" sz="1400" dirty="0"/>
          </a:p>
          <a:p>
            <a:pPr algn="ctr" indent="0" marL="0">
              <a:buNone/>
            </a:pPr>
            <a:r>
              <a:rPr lang="en-US" sz="1400" dirty="0">
                <a:solidFill>
                  <a:schemeClr val="bg1"/>
                </a:solidFill>
              </a:rPr>
              <a:t>More CCN → more, smaller droplets</a:t>
            </a:r>
            <a:endParaRPr lang="en-US" sz="1400" dirty="0"/>
          </a:p>
        </p:txBody>
      </p:sp>
      <p:sp>
        <p:nvSpPr>
          <p:cNvPr id="22" name="Arrow layer 3"/>
          <p:cNvSpPr/>
          <p:nvPr/>
        </p:nvSpPr>
        <p:spPr>
          <a:xfrm>
            <a:off x="2121408" y="2971800"/>
            <a:ext cx="237744" cy="1088136"/>
          </a:xfrm>
          <a:prstGeom prst="line">
            <a:avLst/>
          </a:prstGeom>
          <a:noFill/>
          <a:ln w="25400">
            <a:solidFill>
              <a:schemeClr val="accent4"/>
            </a:solidFill>
            <a:prstDash val="solid"/>
            <a:tailEnd type="triangle"/>
          </a:ln>
        </p:spPr>
      </p:sp>
      <p:sp>
        <p:nvSpPr>
          <p:cNvPr id="23" name="Outcome 3 card"/>
          <p:cNvSpPr/>
          <p:nvPr/>
        </p:nvSpPr>
        <p:spPr>
          <a:xfrm>
            <a:off x="5120640" y="3566160"/>
            <a:ext cx="2240280" cy="987552"/>
          </a:xfrm>
          <a:prstGeom prst="roundRect">
            <a:avLst>
              <a:gd name="adj" fmla="val 648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4" name="Outcome 3"/>
          <p:cNvSpPr txBox="1"/>
          <p:nvPr/>
        </p:nvSpPr>
        <p:spPr>
          <a:xfrm>
            <a:off x="5212080" y="3593592"/>
            <a:ext cx="2057400" cy="932688"/>
          </a:xfrm>
          <a:prstGeom prst="rect">
            <a:avLst/>
          </a:prstGeom>
          <a:noFill/>
          <a:ln/>
        </p:spPr>
        <p:txBody>
          <a:bodyPr wrap="square" lIns="0" tIns="0" rIns="0" bIns="0" rtlCol="0" anchor="ctr"/>
          <a:lstStyle/>
          <a:p>
            <a:pPr algn="ctr" indent="0" marL="0">
              <a:buNone/>
            </a:pPr>
            <a:r>
              <a:rPr lang="en-US" sz="1400" dirty="0">
                <a:solidFill>
                  <a:schemeClr val="tx1"/>
                </a:solidFill>
              </a:rPr>
              <a:t>Brighter, longer-lived clouds; rain delayed</a:t>
            </a:r>
            <a:endParaRPr lang="en-US" sz="1400" dirty="0"/>
          </a:p>
          <a:p>
            <a:pPr algn="ctr" indent="0" marL="0">
              <a:buNone/>
            </a:pPr>
            <a:r>
              <a:rPr lang="en-US" sz="1400" i="1" dirty="0">
                <a:solidFill>
                  <a:schemeClr val="accent1"/>
                </a:solidFill>
              </a:rPr>
              <a:t>Rosenfeld et al., 2008</a:t>
            </a:r>
            <a:endParaRPr lang="en-US" sz="1400" dirty="0"/>
          </a:p>
        </p:txBody>
      </p:sp>
      <p:sp>
        <p:nvSpPr>
          <p:cNvPr id="25" name="Arrow outcome 3"/>
          <p:cNvSpPr/>
          <p:nvPr/>
        </p:nvSpPr>
        <p:spPr>
          <a:xfrm>
            <a:off x="4910328" y="4059936"/>
            <a:ext cx="192024" cy="0"/>
          </a:xfrm>
          <a:prstGeom prst="line">
            <a:avLst/>
          </a:prstGeom>
          <a:noFill/>
          <a:ln w="25400">
            <a:solidFill>
              <a:schemeClr val="accent4"/>
            </a:solidFill>
            <a:prstDash val="solid"/>
            <a:tailEnd type="triangle"/>
          </a:ln>
        </p:spPr>
      </p:sp>
      <p:sp>
        <p:nvSpPr>
          <p:cNvPr id="26" name="Arrow bus 3"/>
          <p:cNvSpPr/>
          <p:nvPr/>
        </p:nvSpPr>
        <p:spPr>
          <a:xfrm>
            <a:off x="7379208" y="4059936"/>
            <a:ext cx="164592" cy="0"/>
          </a:xfrm>
          <a:prstGeom prst="line">
            <a:avLst/>
          </a:prstGeom>
          <a:noFill/>
          <a:ln w="25400">
            <a:solidFill>
              <a:schemeClr val="accent4"/>
            </a:solidFill>
            <a:prstDash val="solid"/>
            <a:tailEnd type="triangle"/>
          </a:ln>
        </p:spPr>
      </p:sp>
      <p:sp>
        <p:nvSpPr>
          <p:cNvPr id="27" name="Bus line"/>
          <p:cNvSpPr/>
          <p:nvPr/>
        </p:nvSpPr>
        <p:spPr>
          <a:xfrm>
            <a:off x="7562088" y="1773936"/>
            <a:ext cx="0" cy="3300984"/>
          </a:xfrm>
          <a:prstGeom prst="line">
            <a:avLst/>
          </a:prstGeom>
          <a:noFill/>
          <a:ln w="19050">
            <a:solidFill>
              <a:schemeClr val="accent4"/>
            </a:solidFill>
            <a:prstDash val="solid"/>
          </a:ln>
        </p:spPr>
      </p:sp>
      <p:sp>
        <p:nvSpPr>
          <p:cNvPr id="28" name="Arrow to surface"/>
          <p:cNvSpPr/>
          <p:nvPr/>
        </p:nvSpPr>
        <p:spPr>
          <a:xfrm flipH="1">
            <a:off x="7379208" y="5074920"/>
            <a:ext cx="182880" cy="0"/>
          </a:xfrm>
          <a:prstGeom prst="line">
            <a:avLst/>
          </a:prstGeom>
          <a:noFill/>
          <a:ln w="25400">
            <a:solidFill>
              <a:schemeClr val="accent4"/>
            </a:solidFill>
            <a:prstDash val="solid"/>
            <a:tailEnd type="triangle"/>
          </a:ln>
        </p:spPr>
      </p:sp>
      <p:sp>
        <p:nvSpPr>
          <p:cNvPr id="29" name="Surface box"/>
          <p:cNvSpPr/>
          <p:nvPr/>
        </p:nvSpPr>
        <p:spPr>
          <a:xfrm>
            <a:off x="2377440" y="4709160"/>
            <a:ext cx="4983480" cy="731520"/>
          </a:xfrm>
          <a:prstGeom prst="roundRect">
            <a:avLst>
              <a:gd name="adj" fmla="val 8750"/>
            </a:avLst>
          </a:prstGeom>
          <a:solidFill>
            <a:schemeClr val="accent3"/>
          </a:solidFill>
          <a:ln w="12700">
            <a:solidFill>
              <a:schemeClr val="accent3"/>
            </a:solidFill>
            <a:prstDash val="solid"/>
          </a:ln>
        </p:spPr>
      </p:sp>
      <p:sp>
        <p:nvSpPr>
          <p:cNvPr id="30" name="Surface box text"/>
          <p:cNvSpPr txBox="1"/>
          <p:nvPr/>
        </p:nvSpPr>
        <p:spPr>
          <a:xfrm>
            <a:off x="2450592" y="4736592"/>
            <a:ext cx="4837176" cy="676656"/>
          </a:xfrm>
          <a:prstGeom prst="rect">
            <a:avLst/>
          </a:prstGeom>
          <a:noFill/>
          <a:ln/>
        </p:spPr>
        <p:txBody>
          <a:bodyPr wrap="square" lIns="0" tIns="0" rIns="0" bIns="0" rtlCol="0" anchor="ctr"/>
          <a:lstStyle/>
          <a:p>
            <a:pPr algn="ctr" indent="0" marL="0">
              <a:buNone/>
            </a:pPr>
            <a:r>
              <a:rPr lang="en-US" sz="1400" b="1" dirty="0">
                <a:solidFill>
                  <a:schemeClr val="bg1"/>
                </a:solidFill>
              </a:rPr>
              <a:t>At the surface</a:t>
            </a:r>
            <a:endParaRPr lang="en-US" sz="1400" dirty="0"/>
          </a:p>
          <a:p>
            <a:pPr algn="ctr" indent="0" marL="0">
              <a:buNone/>
            </a:pPr>
            <a:r>
              <a:rPr lang="en-US" sz="1400" dirty="0">
                <a:solidFill>
                  <a:schemeClr val="bg1"/>
                </a:solidFill>
              </a:rPr>
              <a:t>Less total PAR, more diffuse PAR, cooler days, warmer aerosol layer, changed rain</a:t>
            </a:r>
            <a:endParaRPr lang="en-US" sz="1400" dirty="0"/>
          </a:p>
        </p:txBody>
      </p:sp>
      <p:sp>
        <p:nvSpPr>
          <p:cNvPr id="31" name="Monsoon strip"/>
          <p:cNvSpPr/>
          <p:nvPr/>
        </p:nvSpPr>
        <p:spPr>
          <a:xfrm>
            <a:off x="457200" y="5577840"/>
            <a:ext cx="6903720" cy="685800"/>
          </a:xfrm>
          <a:prstGeom prst="roundRect">
            <a:avLst>
              <a:gd name="adj" fmla="val 8000"/>
            </a:avLst>
          </a:prstGeom>
          <a:solidFill>
            <a:schemeClr val="bg2"/>
          </a:solidFill>
          <a:ln w="12700">
            <a:solidFill>
              <a:schemeClr val="bg2"/>
            </a:solidFill>
            <a:prstDash val="solid"/>
          </a:ln>
        </p:spPr>
      </p:sp>
      <p:sp>
        <p:nvSpPr>
          <p:cNvPr id="32" name="Monsoon strip text"/>
          <p:cNvSpPr txBox="1"/>
          <p:nvPr/>
        </p:nvSpPr>
        <p:spPr>
          <a:xfrm>
            <a:off x="594360" y="5577840"/>
            <a:ext cx="6629400" cy="685800"/>
          </a:xfrm>
          <a:prstGeom prst="rect">
            <a:avLst/>
          </a:prstGeom>
          <a:noFill/>
          <a:ln/>
        </p:spPr>
        <p:txBody>
          <a:bodyPr wrap="square" lIns="0" tIns="0" rIns="0" bIns="0" rtlCol="0" anchor="ctr"/>
          <a:lstStyle/>
          <a:p>
            <a:pPr indent="0" marL="0">
              <a:buNone/>
            </a:pPr>
            <a:r>
              <a:rPr lang="en-US" sz="1400" b="1" dirty="0">
                <a:solidFill>
                  <a:schemeClr val="tx1"/>
                </a:solidFill>
              </a:rPr>
              <a:t>Monsoon:</a:t>
            </a:r>
            <a:r>
              <a:rPr lang="en-US" sz="1400" dirty="0">
                <a:solidFill>
                  <a:schemeClr val="tx1"/>
                </a:solidFill>
              </a:rPr>
              <a:t> absorbing aerosol weakens the South Asian monsoon (Bollasina et al., 2011); rain is invigorated up to AOD ≈ 0.25 and suppressed beyond (Rosenfeld et al., 2008).</a:t>
            </a:r>
            <a:endParaRPr lang="en-US" sz="1400" dirty="0"/>
          </a:p>
        </p:txBody>
      </p:sp>
      <p:sp>
        <p:nvSpPr>
          <p:cNvPr id="33" name="Rosenfeld figure card"/>
          <p:cNvSpPr/>
          <p:nvPr/>
        </p:nvSpPr>
        <p:spPr>
          <a:xfrm>
            <a:off x="7863840" y="1280160"/>
            <a:ext cx="3867912" cy="2971800"/>
          </a:xfrm>
          <a:prstGeom prst="roundRect">
            <a:avLst>
              <a:gd name="adj" fmla="val 215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4" name="Rosenfeld figure title"/>
          <p:cNvSpPr txBox="1"/>
          <p:nvPr/>
        </p:nvSpPr>
        <p:spPr>
          <a:xfrm>
            <a:off x="8001000" y="1371600"/>
            <a:ext cx="3593592" cy="530352"/>
          </a:xfrm>
          <a:prstGeom prst="rect">
            <a:avLst/>
          </a:prstGeom>
          <a:noFill/>
          <a:ln/>
        </p:spPr>
        <p:txBody>
          <a:bodyPr wrap="square" lIns="0" tIns="0" rIns="0" bIns="0" rtlCol="0" anchor="t"/>
          <a:lstStyle/>
          <a:p>
            <a:pPr indent="0" marL="0">
              <a:buNone/>
            </a:pPr>
            <a:r>
              <a:rPr lang="en-US" sz="1400" b="1" dirty="0">
                <a:solidFill>
                  <a:schemeClr val="tx2"/>
                </a:solidFill>
              </a:rPr>
              <a:t>Convective clouds in clean (top) and polluted (bottom) air</a:t>
            </a:r>
            <a:endParaRPr lang="en-US" sz="1400" dirty="0"/>
          </a:p>
        </p:txBody>
      </p:sp>
      <p:pic>
        <p:nvPicPr>
          <p:cNvPr id="35" name="Rosenfeld figure" descr="Rosenfeld figure">    </p:cNvPr>
          <p:cNvPicPr>
            <a:picLocks noChangeAspect="1"/>
          </p:cNvPicPr>
          <p:nvPr/>
        </p:nvPicPr>
        <p:blipFill>
          <a:blip r:embed="rId1"/>
          <a:stretch>
            <a:fillRect/>
          </a:stretch>
        </p:blipFill>
        <p:spPr>
          <a:xfrm>
            <a:off x="8531181" y="1901952"/>
            <a:ext cx="2533231" cy="1920240"/>
          </a:xfrm>
          <a:prstGeom prst="rect">
            <a:avLst/>
          </a:prstGeom>
        </p:spPr>
      </p:pic>
      <p:sp>
        <p:nvSpPr>
          <p:cNvPr id="36" name="Rosenfeld figure source"/>
          <p:cNvSpPr txBox="1"/>
          <p:nvPr/>
        </p:nvSpPr>
        <p:spPr>
          <a:xfrm>
            <a:off x="8001000" y="3895344"/>
            <a:ext cx="3593592" cy="246888"/>
          </a:xfrm>
          <a:prstGeom prst="rect">
            <a:avLst/>
          </a:prstGeom>
          <a:noFill/>
          <a:ln/>
        </p:spPr>
        <p:txBody>
          <a:bodyPr wrap="square" lIns="0" tIns="0" rIns="0" bIns="0" rtlCol="0" anchor="t"/>
          <a:lstStyle/>
          <a:p>
            <a:pPr indent="0" marL="0">
              <a:buNone/>
            </a:pPr>
            <a:r>
              <a:rPr lang="en-US" sz="1400" i="1" dirty="0">
                <a:solidFill>
                  <a:schemeClr val="accent1"/>
                </a:solidFill>
              </a:rPr>
              <a:t>Source: Rosenfeld et al., 2008, Fig. 2</a:t>
            </a:r>
            <a:endParaRPr lang="en-US" sz="1400" dirty="0"/>
          </a:p>
        </p:txBody>
      </p:sp>
      <p:sp>
        <p:nvSpPr>
          <p:cNvPr id="37" name="Forcing card"/>
          <p:cNvSpPr/>
          <p:nvPr/>
        </p:nvSpPr>
        <p:spPr>
          <a:xfrm>
            <a:off x="7863840" y="4160520"/>
            <a:ext cx="3867912" cy="2103120"/>
          </a:xfrm>
          <a:prstGeom prst="roundRect">
            <a:avLst>
              <a:gd name="adj" fmla="val 3043"/>
            </a:avLst>
          </a:prstGeom>
          <a:solidFill>
            <a:schemeClr val="bg2"/>
          </a:solidFill>
          <a:ln w="9525">
            <a:solidFill>
              <a:schemeClr val="accent4">
                <a:alpha val="60000"/>
              </a:schemeClr>
            </a:solidFill>
            <a:prstDash val="solid"/>
          </a:ln>
        </p:spPr>
      </p:sp>
      <p:sp>
        <p:nvSpPr>
          <p:cNvPr id="38" name="Forcing text"/>
          <p:cNvSpPr txBox="1"/>
          <p:nvPr/>
        </p:nvSpPr>
        <p:spPr>
          <a:xfrm>
            <a:off x="8001000" y="4206240"/>
            <a:ext cx="3611880" cy="201168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Quantifying the forcing</a:t>
            </a:r>
            <a:endParaRPr lang="en-US" sz="1400" dirty="0"/>
          </a:p>
          <a:p>
            <a:pPr indent="0" marL="0">
              <a:spcAft>
                <a:spcPts val="300"/>
              </a:spcAft>
              <a:buNone/>
            </a:pPr>
            <a:r>
              <a:rPr lang="en-US" sz="1400" dirty="0">
                <a:solidFill>
                  <a:schemeClr val="tx1"/>
                </a:solidFill>
              </a:rPr>
              <a:t>ARF = F</a:t>
            </a:r>
            <a:r>
              <a:rPr lang="en-US" sz="1400" baseline="-40000" dirty="0">
                <a:solidFill>
                  <a:schemeClr val="tx1"/>
                </a:solidFill>
              </a:rPr>
              <a:t>with aerosol</a:t>
            </a:r>
            <a:r>
              <a:rPr lang="en-US" sz="1400" dirty="0">
                <a:solidFill>
                  <a:schemeClr val="tx1"/>
                </a:solidFill>
              </a:rPr>
              <a:t> − F</a:t>
            </a:r>
            <a:r>
              <a:rPr lang="en-US" sz="1400" baseline="-40000" dirty="0">
                <a:solidFill>
                  <a:schemeClr val="tx1"/>
                </a:solidFill>
              </a:rPr>
              <a:t>clean</a:t>
            </a:r>
            <a:r>
              <a:rPr lang="en-US" sz="1400" dirty="0">
                <a:solidFill>
                  <a:schemeClr val="tx1"/>
                </a:solidFill>
              </a:rPr>
              <a:t>;  ARF</a:t>
            </a:r>
            <a:r>
              <a:rPr lang="en-US" sz="1400" baseline="-40000" dirty="0">
                <a:solidFill>
                  <a:schemeClr val="tx1"/>
                </a:solidFill>
              </a:rPr>
              <a:t>atm</a:t>
            </a:r>
            <a:r>
              <a:rPr lang="en-US" sz="1400" dirty="0">
                <a:solidFill>
                  <a:schemeClr val="tx1"/>
                </a:solidFill>
              </a:rPr>
              <a:t> = ARF</a:t>
            </a:r>
            <a:r>
              <a:rPr lang="en-US" sz="1400" baseline="-40000" dirty="0">
                <a:solidFill>
                  <a:schemeClr val="tx1"/>
                </a:solidFill>
              </a:rPr>
              <a:t>TOA</a:t>
            </a:r>
            <a:r>
              <a:rPr lang="en-US" sz="1400" dirty="0">
                <a:solidFill>
                  <a:schemeClr val="tx1"/>
                </a:solidFill>
              </a:rPr>
              <a:t> − ARF</a:t>
            </a:r>
            <a:r>
              <a:rPr lang="en-US" sz="1400" baseline="-40000" dirty="0">
                <a:solidFill>
                  <a:schemeClr val="tx1"/>
                </a:solidFill>
              </a:rPr>
              <a:t>sfc</a:t>
            </a:r>
            <a:endParaRPr lang="en-US" sz="1400" dirty="0"/>
          </a:p>
          <a:p>
            <a:pPr indent="0" marL="0">
              <a:spcAft>
                <a:spcPts val="300"/>
              </a:spcAft>
              <a:buNone/>
            </a:pPr>
            <a:r>
              <a:rPr lang="en-US" sz="1400" dirty="0">
                <a:solidFill>
                  <a:schemeClr val="tx1"/>
                </a:solidFill>
              </a:rPr>
              <a:t>Global ERF: aerosol–radiation ≈ −0.3, aerosol–cloud ≈ −1.0 W m</a:t>
            </a:r>
            <a:r>
              <a:rPr lang="en-US" sz="1400" baseline="30000" dirty="0">
                <a:solidFill>
                  <a:schemeClr val="tx1"/>
                </a:solidFill>
              </a:rPr>
              <a:t>−2</a:t>
            </a:r>
            <a:r>
              <a:rPr lang="en-US" sz="1400" dirty="0">
                <a:solidFill>
                  <a:schemeClr val="tx1"/>
                </a:solidFill>
              </a:rPr>
              <a:t> (Forster et al., 2021)</a:t>
            </a:r>
            <a:endParaRPr lang="en-US" sz="1400" dirty="0"/>
          </a:p>
          <a:p>
            <a:pPr indent="0" marL="0">
              <a:buNone/>
            </a:pPr>
            <a:r>
              <a:rPr lang="en-US" sz="1400" dirty="0">
                <a:solidFill>
                  <a:schemeClr val="tx1"/>
                </a:solidFill>
              </a:rPr>
              <a:t>NE India: reanalysis ARF = −8 − 35.8·AOD, about half the ground-based slope (Latha et al., 2018)</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Ground-based aerosol measurement</a:t>
            </a:r>
            <a:endParaRPr lang="en-US" sz="2800" dirty="0"/>
          </a:p>
        </p:txBody>
      </p:sp>
      <p:sp>
        <p:nvSpPr>
          <p:cNvPr id="4" name="Photometer flow 1"/>
          <p:cNvSpPr/>
          <p:nvPr/>
        </p:nvSpPr>
        <p:spPr>
          <a:xfrm>
            <a:off x="457200" y="1280160"/>
            <a:ext cx="2035454" cy="640080"/>
          </a:xfrm>
          <a:prstGeom prst="roundRect">
            <a:avLst>
              <a:gd name="adj" fmla="val 10000"/>
            </a:avLst>
          </a:prstGeom>
          <a:solidFill>
            <a:schemeClr val="tx2"/>
          </a:solidFill>
          <a:ln w="12700">
            <a:solidFill>
              <a:schemeClr val="tx2"/>
            </a:solidFill>
            <a:prstDash val="solid"/>
          </a:ln>
        </p:spPr>
      </p:sp>
      <p:sp>
        <p:nvSpPr>
          <p:cNvPr id="5" name="Photometer flow 1 text"/>
          <p:cNvSpPr txBox="1"/>
          <p:nvPr/>
        </p:nvSpPr>
        <p:spPr>
          <a:xfrm>
            <a:off x="512064"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Direct-sun radiance</a:t>
            </a:r>
            <a:endParaRPr lang="en-US" sz="1400" dirty="0"/>
          </a:p>
        </p:txBody>
      </p:sp>
      <p:sp>
        <p:nvSpPr>
          <p:cNvPr id="6" name="Photometer flow arrow 1"/>
          <p:cNvSpPr/>
          <p:nvPr/>
        </p:nvSpPr>
        <p:spPr>
          <a:xfrm>
            <a:off x="2520086" y="1600200"/>
            <a:ext cx="219456" cy="0"/>
          </a:xfrm>
          <a:prstGeom prst="line">
            <a:avLst/>
          </a:prstGeom>
          <a:noFill/>
          <a:ln w="25400">
            <a:solidFill>
              <a:schemeClr val="accent4"/>
            </a:solidFill>
            <a:prstDash val="solid"/>
            <a:tailEnd type="triangle"/>
          </a:ln>
        </p:spPr>
      </p:sp>
      <p:sp>
        <p:nvSpPr>
          <p:cNvPr id="7" name="Photometer flow 2"/>
          <p:cNvSpPr/>
          <p:nvPr/>
        </p:nvSpPr>
        <p:spPr>
          <a:xfrm>
            <a:off x="2766974" y="1280160"/>
            <a:ext cx="2035454" cy="640080"/>
          </a:xfrm>
          <a:prstGeom prst="roundRect">
            <a:avLst>
              <a:gd name="adj" fmla="val 10000"/>
            </a:avLst>
          </a:prstGeom>
          <a:solidFill>
            <a:schemeClr val="accent1"/>
          </a:solidFill>
          <a:ln w="12700">
            <a:solidFill>
              <a:schemeClr val="accent1"/>
            </a:solidFill>
            <a:prstDash val="solid"/>
          </a:ln>
        </p:spPr>
      </p:sp>
      <p:sp>
        <p:nvSpPr>
          <p:cNvPr id="8" name="Photometer flow 2 text"/>
          <p:cNvSpPr txBox="1"/>
          <p:nvPr/>
        </p:nvSpPr>
        <p:spPr>
          <a:xfrm>
            <a:off x="2821838"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Langley calibration (V</a:t>
            </a:r>
            <a:r>
              <a:rPr lang="en-US" sz="1400" b="1" baseline="-40000" dirty="0">
                <a:solidFill>
                  <a:schemeClr val="bg1"/>
                </a:solidFill>
              </a:rPr>
              <a:t>0</a:t>
            </a:r>
            <a:r>
              <a:rPr lang="en-US" sz="1400" b="1" dirty="0">
                <a:solidFill>
                  <a:schemeClr val="bg1"/>
                </a:solidFill>
              </a:rPr>
              <a:t>)</a:t>
            </a:r>
            <a:endParaRPr lang="en-US" sz="1400" dirty="0"/>
          </a:p>
        </p:txBody>
      </p:sp>
      <p:sp>
        <p:nvSpPr>
          <p:cNvPr id="9" name="Photometer flow arrow 2"/>
          <p:cNvSpPr/>
          <p:nvPr/>
        </p:nvSpPr>
        <p:spPr>
          <a:xfrm>
            <a:off x="4829861" y="1600200"/>
            <a:ext cx="219456" cy="0"/>
          </a:xfrm>
          <a:prstGeom prst="line">
            <a:avLst/>
          </a:prstGeom>
          <a:noFill/>
          <a:ln w="25400">
            <a:solidFill>
              <a:schemeClr val="accent4"/>
            </a:solidFill>
            <a:prstDash val="solid"/>
            <a:tailEnd type="triangle"/>
          </a:ln>
        </p:spPr>
      </p:sp>
      <p:sp>
        <p:nvSpPr>
          <p:cNvPr id="10" name="Photometer flow 3"/>
          <p:cNvSpPr/>
          <p:nvPr/>
        </p:nvSpPr>
        <p:spPr>
          <a:xfrm>
            <a:off x="5076749" y="1280160"/>
            <a:ext cx="2035454" cy="640080"/>
          </a:xfrm>
          <a:prstGeom prst="roundRect">
            <a:avLst>
              <a:gd name="adj" fmla="val 10000"/>
            </a:avLst>
          </a:prstGeom>
          <a:solidFill>
            <a:schemeClr val="tx2"/>
          </a:solidFill>
          <a:ln w="12700">
            <a:solidFill>
              <a:schemeClr val="tx2"/>
            </a:solidFill>
            <a:prstDash val="solid"/>
          </a:ln>
        </p:spPr>
      </p:sp>
      <p:sp>
        <p:nvSpPr>
          <p:cNvPr id="11" name="Photometer flow 3 text"/>
          <p:cNvSpPr txBox="1"/>
          <p:nvPr/>
        </p:nvSpPr>
        <p:spPr>
          <a:xfrm>
            <a:off x="5131613"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Beer–Lambert → total τ</a:t>
            </a:r>
            <a:endParaRPr lang="en-US" sz="1400" dirty="0"/>
          </a:p>
        </p:txBody>
      </p:sp>
      <p:sp>
        <p:nvSpPr>
          <p:cNvPr id="12" name="Photometer flow arrow 3"/>
          <p:cNvSpPr/>
          <p:nvPr/>
        </p:nvSpPr>
        <p:spPr>
          <a:xfrm>
            <a:off x="7139635" y="1600200"/>
            <a:ext cx="219456" cy="0"/>
          </a:xfrm>
          <a:prstGeom prst="line">
            <a:avLst/>
          </a:prstGeom>
          <a:noFill/>
          <a:ln w="25400">
            <a:solidFill>
              <a:schemeClr val="accent4"/>
            </a:solidFill>
            <a:prstDash val="solid"/>
            <a:tailEnd type="triangle"/>
          </a:ln>
        </p:spPr>
      </p:sp>
      <p:sp>
        <p:nvSpPr>
          <p:cNvPr id="13" name="Photometer flow 4"/>
          <p:cNvSpPr/>
          <p:nvPr/>
        </p:nvSpPr>
        <p:spPr>
          <a:xfrm>
            <a:off x="7386523" y="1280160"/>
            <a:ext cx="2035454" cy="640080"/>
          </a:xfrm>
          <a:prstGeom prst="roundRect">
            <a:avLst>
              <a:gd name="adj" fmla="val 10000"/>
            </a:avLst>
          </a:prstGeom>
          <a:solidFill>
            <a:schemeClr val="accent1"/>
          </a:solidFill>
          <a:ln w="12700">
            <a:solidFill>
              <a:schemeClr val="accent1"/>
            </a:solidFill>
            <a:prstDash val="solid"/>
          </a:ln>
        </p:spPr>
      </p:sp>
      <p:sp>
        <p:nvSpPr>
          <p:cNvPr id="14" name="Photometer flow 4 text"/>
          <p:cNvSpPr txBox="1"/>
          <p:nvPr/>
        </p:nvSpPr>
        <p:spPr>
          <a:xfrm>
            <a:off x="7441387"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Remove Rayleigh and gases → AOD</a:t>
            </a:r>
            <a:endParaRPr lang="en-US" sz="1400" dirty="0"/>
          </a:p>
        </p:txBody>
      </p:sp>
      <p:sp>
        <p:nvSpPr>
          <p:cNvPr id="15" name="Photometer flow arrow 4"/>
          <p:cNvSpPr/>
          <p:nvPr/>
        </p:nvSpPr>
        <p:spPr>
          <a:xfrm>
            <a:off x="9449410" y="1600200"/>
            <a:ext cx="219456" cy="0"/>
          </a:xfrm>
          <a:prstGeom prst="line">
            <a:avLst/>
          </a:prstGeom>
          <a:noFill/>
          <a:ln w="25400">
            <a:solidFill>
              <a:schemeClr val="accent4"/>
            </a:solidFill>
            <a:prstDash val="solid"/>
            <a:tailEnd type="triangle"/>
          </a:ln>
        </p:spPr>
      </p:sp>
      <p:sp>
        <p:nvSpPr>
          <p:cNvPr id="16" name="Photometer flow 5"/>
          <p:cNvSpPr/>
          <p:nvPr/>
        </p:nvSpPr>
        <p:spPr>
          <a:xfrm>
            <a:off x="9696298" y="1280160"/>
            <a:ext cx="2035454" cy="640080"/>
          </a:xfrm>
          <a:prstGeom prst="roundRect">
            <a:avLst>
              <a:gd name="adj" fmla="val 10000"/>
            </a:avLst>
          </a:prstGeom>
          <a:solidFill>
            <a:schemeClr val="accent3"/>
          </a:solidFill>
          <a:ln w="12700">
            <a:solidFill>
              <a:schemeClr val="accent3"/>
            </a:solidFill>
            <a:prstDash val="solid"/>
          </a:ln>
        </p:spPr>
      </p:sp>
      <p:sp>
        <p:nvSpPr>
          <p:cNvPr id="17" name="Photometer flow 5 text"/>
          <p:cNvSpPr txBox="1"/>
          <p:nvPr/>
        </p:nvSpPr>
        <p:spPr>
          <a:xfrm>
            <a:off x="9751162"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Quality levels 1.0 → 1.5 → 2.0</a:t>
            </a:r>
            <a:endParaRPr lang="en-US" sz="1400" dirty="0"/>
          </a:p>
        </p:txBody>
      </p:sp>
      <p:sp>
        <p:nvSpPr>
          <p:cNvPr id="18" name="Method 1"/>
          <p:cNvSpPr/>
          <p:nvPr/>
        </p:nvSpPr>
        <p:spPr>
          <a:xfrm>
            <a:off x="457200" y="21031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9" name="Method 1 head"/>
          <p:cNvSpPr/>
          <p:nvPr/>
        </p:nvSpPr>
        <p:spPr>
          <a:xfrm>
            <a:off x="457200" y="2103120"/>
            <a:ext cx="3291840" cy="402336"/>
          </a:xfrm>
          <a:prstGeom prst="roundRect">
            <a:avLst>
              <a:gd name="adj" fmla="val 15909"/>
            </a:avLst>
          </a:prstGeom>
          <a:solidFill>
            <a:schemeClr val="accent1"/>
          </a:solidFill>
          <a:ln w="12700">
            <a:solidFill>
              <a:schemeClr val="accent1"/>
            </a:solidFill>
            <a:prstDash val="solid"/>
          </a:ln>
        </p:spPr>
      </p:sp>
      <p:sp>
        <p:nvSpPr>
          <p:cNvPr id="20" name="Method 1 head text"/>
          <p:cNvSpPr txBox="1"/>
          <p:nvPr/>
        </p:nvSpPr>
        <p:spPr>
          <a:xfrm>
            <a:off x="594360" y="21031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Sun/sky photometer</a:t>
            </a:r>
            <a:endParaRPr lang="en-US" sz="1400" dirty="0"/>
          </a:p>
        </p:txBody>
      </p:sp>
      <p:sp>
        <p:nvSpPr>
          <p:cNvPr id="21" name="Method 1 text"/>
          <p:cNvSpPr txBox="1"/>
          <p:nvPr/>
        </p:nvSpPr>
        <p:spPr>
          <a:xfrm>
            <a:off x="621792" y="25968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AERONET (CIMEL), SKYNET, ISRO ARFINET</a:t>
            </a:r>
            <a:endParaRPr lang="en-US" sz="1400" dirty="0"/>
          </a:p>
          <a:p>
            <a:pPr indent="0" marL="0">
              <a:spcAft>
                <a:spcPts val="300"/>
              </a:spcAft>
              <a:buNone/>
            </a:pPr>
            <a:r>
              <a:rPr lang="en-US" sz="1400" b="1" dirty="0">
                <a:solidFill>
                  <a:schemeClr val="tx2"/>
                </a:solidFill>
              </a:rPr>
              <a:t>→ AOD at 340–1020 nm, α, SSA, size</a:t>
            </a:r>
            <a:endParaRPr lang="en-US" sz="1400" dirty="0"/>
          </a:p>
          <a:p>
            <a:pPr indent="0" marL="0">
              <a:buNone/>
            </a:pPr>
            <a:r>
              <a:rPr lang="en-US" sz="1400" i="1" dirty="0">
                <a:solidFill>
                  <a:schemeClr val="accent1"/>
                </a:solidFill>
              </a:rPr>
              <a:t>Holben et al., 1998</a:t>
            </a:r>
            <a:endParaRPr lang="en-US" sz="1400" dirty="0"/>
          </a:p>
        </p:txBody>
      </p:sp>
      <p:sp>
        <p:nvSpPr>
          <p:cNvPr id="22" name="Method 2"/>
          <p:cNvSpPr/>
          <p:nvPr/>
        </p:nvSpPr>
        <p:spPr>
          <a:xfrm>
            <a:off x="3931920" y="21031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3" name="Method 2 head"/>
          <p:cNvSpPr/>
          <p:nvPr/>
        </p:nvSpPr>
        <p:spPr>
          <a:xfrm>
            <a:off x="3931920" y="2103120"/>
            <a:ext cx="3291840" cy="402336"/>
          </a:xfrm>
          <a:prstGeom prst="roundRect">
            <a:avLst>
              <a:gd name="adj" fmla="val 15909"/>
            </a:avLst>
          </a:prstGeom>
          <a:solidFill>
            <a:schemeClr val="accent5"/>
          </a:solidFill>
          <a:ln w="12700">
            <a:solidFill>
              <a:schemeClr val="accent5"/>
            </a:solidFill>
            <a:prstDash val="solid"/>
          </a:ln>
        </p:spPr>
      </p:sp>
      <p:sp>
        <p:nvSpPr>
          <p:cNvPr id="24" name="Method 2 head text"/>
          <p:cNvSpPr txBox="1"/>
          <p:nvPr/>
        </p:nvSpPr>
        <p:spPr>
          <a:xfrm>
            <a:off x="4069080" y="21031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In-situ sampling</a:t>
            </a:r>
            <a:endParaRPr lang="en-US" sz="1400" dirty="0"/>
          </a:p>
        </p:txBody>
      </p:sp>
      <p:sp>
        <p:nvSpPr>
          <p:cNvPr id="25" name="Method 2 text"/>
          <p:cNvSpPr txBox="1"/>
          <p:nvPr/>
        </p:nvSpPr>
        <p:spPr>
          <a:xfrm>
            <a:off x="4096512" y="25968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Nephelometer, aethalometer, BAM</a:t>
            </a:r>
            <a:endParaRPr lang="en-US" sz="1400" dirty="0"/>
          </a:p>
          <a:p>
            <a:pPr indent="0" marL="0">
              <a:spcAft>
                <a:spcPts val="300"/>
              </a:spcAft>
              <a:buNone/>
            </a:pPr>
            <a:r>
              <a:rPr lang="en-US" sz="1400" b="1" dirty="0">
                <a:solidFill>
                  <a:schemeClr val="tx2"/>
                </a:solidFill>
              </a:rPr>
              <a:t>→ Scattering, black carbon, PM</a:t>
            </a:r>
            <a:r>
              <a:rPr lang="en-US" sz="1400" b="1" baseline="-40000" dirty="0">
                <a:solidFill>
                  <a:schemeClr val="tx2"/>
                </a:solidFill>
              </a:rPr>
              <a:t>2.5</a:t>
            </a:r>
            <a:endParaRPr lang="en-US" sz="1400" dirty="0"/>
          </a:p>
          <a:p>
            <a:pPr indent="0" marL="0">
              <a:buNone/>
            </a:pPr>
            <a:r>
              <a:rPr lang="en-US" sz="1400" i="1" dirty="0">
                <a:solidFill>
                  <a:schemeClr val="accent1"/>
                </a:solidFill>
              </a:rPr>
              <a:t>Drinovec et al., 2015</a:t>
            </a:r>
            <a:endParaRPr lang="en-US" sz="1400" dirty="0"/>
          </a:p>
        </p:txBody>
      </p:sp>
      <p:sp>
        <p:nvSpPr>
          <p:cNvPr id="26" name="Method 3"/>
          <p:cNvSpPr/>
          <p:nvPr/>
        </p:nvSpPr>
        <p:spPr>
          <a:xfrm>
            <a:off x="457200" y="37033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7" name="Method 3 head"/>
          <p:cNvSpPr/>
          <p:nvPr/>
        </p:nvSpPr>
        <p:spPr>
          <a:xfrm>
            <a:off x="457200" y="3703320"/>
            <a:ext cx="3291840" cy="402336"/>
          </a:xfrm>
          <a:prstGeom prst="roundRect">
            <a:avLst>
              <a:gd name="adj" fmla="val 15909"/>
            </a:avLst>
          </a:prstGeom>
          <a:solidFill>
            <a:schemeClr val="accent6"/>
          </a:solidFill>
          <a:ln w="12700">
            <a:solidFill>
              <a:schemeClr val="accent6"/>
            </a:solidFill>
            <a:prstDash val="solid"/>
          </a:ln>
        </p:spPr>
      </p:sp>
      <p:sp>
        <p:nvSpPr>
          <p:cNvPr id="28" name="Method 3 head text"/>
          <p:cNvSpPr txBox="1"/>
          <p:nvPr/>
        </p:nvSpPr>
        <p:spPr>
          <a:xfrm>
            <a:off x="594360" y="37033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Ground lidar</a:t>
            </a:r>
            <a:endParaRPr lang="en-US" sz="1400" dirty="0"/>
          </a:p>
        </p:txBody>
      </p:sp>
      <p:sp>
        <p:nvSpPr>
          <p:cNvPr id="29" name="Method 3 text"/>
          <p:cNvSpPr txBox="1"/>
          <p:nvPr/>
        </p:nvSpPr>
        <p:spPr>
          <a:xfrm>
            <a:off x="621792" y="41970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MPLNET, EARLINET, Raman lidar</a:t>
            </a:r>
            <a:endParaRPr lang="en-US" sz="1400" dirty="0"/>
          </a:p>
          <a:p>
            <a:pPr indent="0" marL="0">
              <a:spcAft>
                <a:spcPts val="300"/>
              </a:spcAft>
              <a:buNone/>
            </a:pPr>
            <a:r>
              <a:rPr lang="en-US" sz="1400" b="1" dirty="0">
                <a:solidFill>
                  <a:schemeClr val="tx2"/>
                </a:solidFill>
              </a:rPr>
              <a:t>→ Vertical profile, boundary-layer height</a:t>
            </a:r>
            <a:endParaRPr lang="en-US" sz="1400" dirty="0"/>
          </a:p>
          <a:p>
            <a:pPr indent="0" marL="0">
              <a:buNone/>
            </a:pPr>
            <a:r>
              <a:rPr lang="en-US" sz="1400" i="1" dirty="0">
                <a:solidFill>
                  <a:schemeClr val="accent1"/>
                </a:solidFill>
              </a:rPr>
              <a:t>Pappalardo et al., 2014</a:t>
            </a:r>
            <a:endParaRPr lang="en-US" sz="1400" dirty="0"/>
          </a:p>
        </p:txBody>
      </p:sp>
      <p:sp>
        <p:nvSpPr>
          <p:cNvPr id="30" name="Method 4"/>
          <p:cNvSpPr/>
          <p:nvPr/>
        </p:nvSpPr>
        <p:spPr>
          <a:xfrm>
            <a:off x="3931920" y="3703320"/>
            <a:ext cx="3291840"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1" name="Method 4 head"/>
          <p:cNvSpPr/>
          <p:nvPr/>
        </p:nvSpPr>
        <p:spPr>
          <a:xfrm>
            <a:off x="3931920" y="3703320"/>
            <a:ext cx="3291840" cy="402336"/>
          </a:xfrm>
          <a:prstGeom prst="roundRect">
            <a:avLst>
              <a:gd name="adj" fmla="val 15909"/>
            </a:avLst>
          </a:prstGeom>
          <a:solidFill>
            <a:schemeClr val="accent3"/>
          </a:solidFill>
          <a:ln w="12700">
            <a:solidFill>
              <a:schemeClr val="accent3"/>
            </a:solidFill>
            <a:prstDash val="solid"/>
          </a:ln>
        </p:spPr>
      </p:sp>
      <p:sp>
        <p:nvSpPr>
          <p:cNvPr id="32" name="Method 4 head text"/>
          <p:cNvSpPr txBox="1"/>
          <p:nvPr/>
        </p:nvSpPr>
        <p:spPr>
          <a:xfrm>
            <a:off x="4069080" y="3703320"/>
            <a:ext cx="3017520" cy="402336"/>
          </a:xfrm>
          <a:prstGeom prst="rect">
            <a:avLst/>
          </a:prstGeom>
          <a:noFill/>
          <a:ln/>
        </p:spPr>
        <p:txBody>
          <a:bodyPr wrap="square" lIns="0" tIns="0" rIns="0" bIns="0" rtlCol="0" anchor="ctr"/>
          <a:lstStyle/>
          <a:p>
            <a:pPr indent="0" marL="0">
              <a:buNone/>
            </a:pPr>
            <a:r>
              <a:rPr lang="en-US" sz="1400" b="1" dirty="0">
                <a:solidFill>
                  <a:schemeClr val="bg1"/>
                </a:solidFill>
              </a:rPr>
              <a:t>Radiometers</a:t>
            </a:r>
            <a:endParaRPr lang="en-US" sz="1400" dirty="0"/>
          </a:p>
        </p:txBody>
      </p:sp>
      <p:sp>
        <p:nvSpPr>
          <p:cNvPr id="33" name="Method 4 text"/>
          <p:cNvSpPr txBox="1"/>
          <p:nvPr/>
        </p:nvSpPr>
        <p:spPr>
          <a:xfrm>
            <a:off x="4096512" y="4197096"/>
            <a:ext cx="2962656"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Pyranometer, shadow-band, PAR sensors (BSRN)</a:t>
            </a:r>
            <a:endParaRPr lang="en-US" sz="1400" dirty="0"/>
          </a:p>
          <a:p>
            <a:pPr indent="0" marL="0">
              <a:spcAft>
                <a:spcPts val="300"/>
              </a:spcAft>
              <a:buNone/>
            </a:pPr>
            <a:r>
              <a:rPr lang="en-US" sz="1400" b="1" dirty="0">
                <a:solidFill>
                  <a:schemeClr val="tx2"/>
                </a:solidFill>
              </a:rPr>
              <a:t>→ Total and diffuse radiation</a:t>
            </a:r>
            <a:endParaRPr lang="en-US" sz="1400" dirty="0"/>
          </a:p>
          <a:p>
            <a:pPr indent="0" marL="0">
              <a:buNone/>
            </a:pPr>
            <a:r>
              <a:rPr lang="en-US" sz="1400" i="1" dirty="0">
                <a:solidFill>
                  <a:schemeClr val="accent1"/>
                </a:solidFill>
              </a:rPr>
              <a:t>Ohmura et al., 1998</a:t>
            </a:r>
            <a:endParaRPr lang="en-US" sz="1400" dirty="0"/>
          </a:p>
        </p:txBody>
      </p:sp>
      <p:sp>
        <p:nvSpPr>
          <p:cNvPr id="34" name="AERONET map card"/>
          <p:cNvSpPr/>
          <p:nvPr/>
        </p:nvSpPr>
        <p:spPr>
          <a:xfrm>
            <a:off x="7269480" y="2103120"/>
            <a:ext cx="4462272" cy="3340025"/>
          </a:xfrm>
          <a:prstGeom prst="roundRect">
            <a:avLst>
              <a:gd name="adj" fmla="val 191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5" name="AERONET map title"/>
          <p:cNvSpPr txBox="1"/>
          <p:nvPr/>
        </p:nvSpPr>
        <p:spPr>
          <a:xfrm>
            <a:off x="7406640" y="2194560"/>
            <a:ext cx="4187952" cy="301752"/>
          </a:xfrm>
          <a:prstGeom prst="rect">
            <a:avLst/>
          </a:prstGeom>
          <a:noFill/>
          <a:ln/>
        </p:spPr>
        <p:txBody>
          <a:bodyPr wrap="square" lIns="0" tIns="0" rIns="0" bIns="0" rtlCol="0" anchor="t"/>
          <a:lstStyle/>
          <a:p>
            <a:pPr indent="0" marL="0">
              <a:buNone/>
            </a:pPr>
            <a:r>
              <a:rPr lang="en-US" sz="1400" b="1" dirty="0">
                <a:solidFill>
                  <a:schemeClr val="tx2"/>
                </a:solidFill>
              </a:rPr>
              <a:t>AERONET sun-photometer network</a:t>
            </a:r>
            <a:endParaRPr lang="en-US" sz="1400" dirty="0"/>
          </a:p>
        </p:txBody>
      </p:sp>
      <p:pic>
        <p:nvPicPr>
          <p:cNvPr id="36" name="AERONET map" descr="AERONET map">    </p:cNvPr>
          <p:cNvPicPr>
            <a:picLocks noChangeAspect="1"/>
          </p:cNvPicPr>
          <p:nvPr/>
        </p:nvPicPr>
        <p:blipFill>
          <a:blip r:embed="rId1"/>
          <a:stretch>
            <a:fillRect/>
          </a:stretch>
        </p:blipFill>
        <p:spPr>
          <a:xfrm>
            <a:off x="7420356" y="2496312"/>
            <a:ext cx="4160520" cy="2059865"/>
          </a:xfrm>
          <a:prstGeom prst="rect">
            <a:avLst/>
          </a:prstGeom>
        </p:spPr>
      </p:pic>
      <p:sp>
        <p:nvSpPr>
          <p:cNvPr id="37" name="AERONET map caption"/>
          <p:cNvSpPr txBox="1"/>
          <p:nvPr/>
        </p:nvSpPr>
        <p:spPr>
          <a:xfrm>
            <a:off x="7406640" y="4629329"/>
            <a:ext cx="4187952" cy="457200"/>
          </a:xfrm>
          <a:prstGeom prst="rect">
            <a:avLst/>
          </a:prstGeom>
          <a:noFill/>
          <a:ln/>
        </p:spPr>
        <p:txBody>
          <a:bodyPr wrap="square" lIns="0" tIns="0" rIns="0" bIns="0" rtlCol="0" anchor="t"/>
          <a:lstStyle/>
          <a:p>
            <a:pPr indent="0" marL="0">
              <a:buNone/>
            </a:pPr>
            <a:r>
              <a:rPr lang="en-US" sz="1400" dirty="0">
                <a:solidFill>
                  <a:schemeClr val="tx1"/>
                </a:solidFill>
              </a:rPr>
              <a:t>Indian sites include Kanpur, Delhi, Jaipur, Gandhi College and Pune</a:t>
            </a:r>
            <a:endParaRPr lang="en-US" sz="1400" dirty="0"/>
          </a:p>
        </p:txBody>
      </p:sp>
      <p:sp>
        <p:nvSpPr>
          <p:cNvPr id="38" name="AERONET map source"/>
          <p:cNvSpPr txBox="1"/>
          <p:nvPr/>
        </p:nvSpPr>
        <p:spPr>
          <a:xfrm>
            <a:off x="7406640" y="5086529"/>
            <a:ext cx="4187952" cy="246888"/>
          </a:xfrm>
          <a:prstGeom prst="rect">
            <a:avLst/>
          </a:prstGeom>
          <a:noFill/>
          <a:ln/>
        </p:spPr>
        <p:txBody>
          <a:bodyPr wrap="square" lIns="0" tIns="0" rIns="0" bIns="0" rtlCol="0" anchor="t"/>
          <a:lstStyle/>
          <a:p>
            <a:pPr indent="0" marL="0">
              <a:buNone/>
            </a:pPr>
            <a:r>
              <a:rPr lang="en-US" sz="1400" i="1" dirty="0">
                <a:solidFill>
                  <a:schemeClr val="accent1"/>
                </a:solidFill>
              </a:rPr>
              <a:t>Source: Wei et al., 2020, Fig. 1</a:t>
            </a:r>
            <a:endParaRPr lang="en-US" sz="1400" dirty="0"/>
          </a:p>
        </p:txBody>
      </p:sp>
      <p:sp>
        <p:nvSpPr>
          <p:cNvPr id="39" name="Role strip"/>
          <p:cNvSpPr/>
          <p:nvPr/>
        </p:nvSpPr>
        <p:spPr>
          <a:xfrm>
            <a:off x="457200" y="5440680"/>
            <a:ext cx="11274552" cy="685800"/>
          </a:xfrm>
          <a:prstGeom prst="roundRect">
            <a:avLst>
              <a:gd name="adj" fmla="val 8000"/>
            </a:avLst>
          </a:prstGeom>
          <a:solidFill>
            <a:schemeClr val="bg2"/>
          </a:solidFill>
          <a:ln w="12700">
            <a:solidFill>
              <a:schemeClr val="bg2"/>
            </a:solidFill>
            <a:prstDash val="solid"/>
          </a:ln>
        </p:spPr>
      </p:sp>
      <p:sp>
        <p:nvSpPr>
          <p:cNvPr id="40" name="Role strip text"/>
          <p:cNvSpPr txBox="1"/>
          <p:nvPr/>
        </p:nvSpPr>
        <p:spPr>
          <a:xfrm>
            <a:off x="594360" y="544068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Role:</a:t>
            </a:r>
            <a:r>
              <a:rPr lang="en-US" sz="1400" dirty="0">
                <a:solidFill>
                  <a:schemeClr val="tx1"/>
                </a:solidFill>
              </a:rPr>
              <a:t> AERONET Level 2.0 is the ground truth used to validate every satellite AOD product; its limitation is sparse point coverage, especially over Indian croplands.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Lidar, reanalysis and validation of aerosol products</a:t>
            </a:r>
            <a:endParaRPr lang="en-US" sz="2800" dirty="0"/>
          </a:p>
        </p:txBody>
      </p:sp>
      <p:sp>
        <p:nvSpPr>
          <p:cNvPr id="4" name="Lidar item 1"/>
          <p:cNvSpPr/>
          <p:nvPr/>
        </p:nvSpPr>
        <p:spPr>
          <a:xfrm>
            <a:off x="457200" y="1280160"/>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Lidar item 1 badge"/>
          <p:cNvSpPr/>
          <p:nvPr/>
        </p:nvSpPr>
        <p:spPr>
          <a:xfrm>
            <a:off x="594360" y="1499616"/>
            <a:ext cx="457200" cy="457200"/>
          </a:xfrm>
          <a:prstGeom prst="ellipse">
            <a:avLst/>
          </a:prstGeom>
          <a:solidFill>
            <a:schemeClr val="accent6"/>
          </a:solidFill>
          <a:ln w="12700">
            <a:solidFill>
              <a:schemeClr val="accent6"/>
            </a:solidFill>
            <a:prstDash val="solid"/>
          </a:ln>
        </p:spPr>
      </p:sp>
      <p:sp>
        <p:nvSpPr>
          <p:cNvPr id="6" name="Lidar item 1 badge text"/>
          <p:cNvSpPr txBox="1"/>
          <p:nvPr/>
        </p:nvSpPr>
        <p:spPr>
          <a:xfrm>
            <a:off x="594360" y="149961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Lidar item 1 text"/>
          <p:cNvSpPr txBox="1"/>
          <p:nvPr/>
        </p:nvSpPr>
        <p:spPr>
          <a:xfrm>
            <a:off x="1188720" y="1335024"/>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Spaceborne lidar</a:t>
            </a:r>
            <a:endParaRPr lang="en-US" sz="1400" dirty="0"/>
          </a:p>
          <a:p>
            <a:pPr indent="0" marL="0">
              <a:buNone/>
            </a:pPr>
            <a:r>
              <a:rPr lang="en-US" sz="1400" dirty="0">
                <a:solidFill>
                  <a:schemeClr val="tx1"/>
                </a:solidFill>
              </a:rPr>
              <a:t>Laser backscatter and depolarization (CALIOP 2006–23; EarthCARE ATLID 2024–) → vertical profile, aerosol type</a:t>
            </a:r>
            <a:endParaRPr lang="en-US" sz="1400" dirty="0"/>
          </a:p>
          <a:p>
            <a:pPr indent="0" marL="0">
              <a:buNone/>
            </a:pPr>
            <a:r>
              <a:rPr lang="en-US" sz="1400" i="1" dirty="0">
                <a:solidFill>
                  <a:schemeClr val="accent1"/>
                </a:solidFill>
              </a:rPr>
              <a:t>Winker et al., 2009</a:t>
            </a:r>
            <a:endParaRPr lang="en-US" sz="1400" dirty="0"/>
          </a:p>
        </p:txBody>
      </p:sp>
      <p:sp>
        <p:nvSpPr>
          <p:cNvPr id="8" name="Lidar item 2"/>
          <p:cNvSpPr/>
          <p:nvPr/>
        </p:nvSpPr>
        <p:spPr>
          <a:xfrm>
            <a:off x="457200" y="2267712"/>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Lidar item 2 badge"/>
          <p:cNvSpPr/>
          <p:nvPr/>
        </p:nvSpPr>
        <p:spPr>
          <a:xfrm>
            <a:off x="594360" y="2487168"/>
            <a:ext cx="457200" cy="457200"/>
          </a:xfrm>
          <a:prstGeom prst="ellipse">
            <a:avLst/>
          </a:prstGeom>
          <a:solidFill>
            <a:schemeClr val="accent1"/>
          </a:solidFill>
          <a:ln w="12700">
            <a:solidFill>
              <a:schemeClr val="accent1"/>
            </a:solidFill>
            <a:prstDash val="solid"/>
          </a:ln>
        </p:spPr>
      </p:sp>
      <p:sp>
        <p:nvSpPr>
          <p:cNvPr id="10" name="Lidar item 2 badge text"/>
          <p:cNvSpPr txBox="1"/>
          <p:nvPr/>
        </p:nvSpPr>
        <p:spPr>
          <a:xfrm>
            <a:off x="594360" y="248716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Lidar item 2 text"/>
          <p:cNvSpPr txBox="1"/>
          <p:nvPr/>
        </p:nvSpPr>
        <p:spPr>
          <a:xfrm>
            <a:off x="1188720" y="2322576"/>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Reanalysis</a:t>
            </a:r>
            <a:endParaRPr lang="en-US" sz="1400" dirty="0"/>
          </a:p>
          <a:p>
            <a:pPr indent="0" marL="0">
              <a:buNone/>
            </a:pPr>
            <a:r>
              <a:rPr lang="en-US" sz="1400" dirty="0">
                <a:solidFill>
                  <a:schemeClr val="tx1"/>
                </a:solidFill>
              </a:rPr>
              <a:t>Satellite AOD assimilated into transport models (MERRA-2, CAMS) → gap-free AOD by species</a:t>
            </a:r>
            <a:endParaRPr lang="en-US" sz="1400" dirty="0"/>
          </a:p>
          <a:p>
            <a:pPr indent="0" marL="0">
              <a:buNone/>
            </a:pPr>
            <a:r>
              <a:rPr lang="en-US" sz="1400" i="1" dirty="0">
                <a:solidFill>
                  <a:schemeClr val="accent1"/>
                </a:solidFill>
              </a:rPr>
              <a:t>Randles et al., 2017; Inness et al., 2019</a:t>
            </a:r>
            <a:endParaRPr lang="en-US" sz="1400" dirty="0"/>
          </a:p>
        </p:txBody>
      </p:sp>
      <p:sp>
        <p:nvSpPr>
          <p:cNvPr id="12" name="Lidar item 3"/>
          <p:cNvSpPr/>
          <p:nvPr/>
        </p:nvSpPr>
        <p:spPr>
          <a:xfrm>
            <a:off x="457200" y="3255264"/>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Lidar item 3 badge"/>
          <p:cNvSpPr/>
          <p:nvPr/>
        </p:nvSpPr>
        <p:spPr>
          <a:xfrm>
            <a:off x="594360" y="3474720"/>
            <a:ext cx="457200" cy="457200"/>
          </a:xfrm>
          <a:prstGeom prst="ellipse">
            <a:avLst/>
          </a:prstGeom>
          <a:solidFill>
            <a:schemeClr val="accent5"/>
          </a:solidFill>
          <a:ln w="12700">
            <a:solidFill>
              <a:schemeClr val="accent5"/>
            </a:solidFill>
            <a:prstDash val="solid"/>
          </a:ln>
        </p:spPr>
      </p:sp>
      <p:sp>
        <p:nvSpPr>
          <p:cNvPr id="14" name="Lidar item 3 badge text"/>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Lidar item 3 text"/>
          <p:cNvSpPr txBox="1"/>
          <p:nvPr/>
        </p:nvSpPr>
        <p:spPr>
          <a:xfrm>
            <a:off x="1188720" y="3310128"/>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Surface PM</a:t>
            </a:r>
            <a:r>
              <a:rPr lang="en-US" sz="1400" b="1" baseline="-40000" dirty="0">
                <a:solidFill>
                  <a:schemeClr val="tx2"/>
                </a:solidFill>
              </a:rPr>
              <a:t>2.5</a:t>
            </a:r>
            <a:endParaRPr lang="en-US" sz="1400" dirty="0"/>
          </a:p>
          <a:p>
            <a:pPr indent="0" marL="0">
              <a:buNone/>
            </a:pPr>
            <a:r>
              <a:rPr lang="en-US" sz="1400" dirty="0">
                <a:solidFill>
                  <a:schemeClr val="tx1"/>
                </a:solidFill>
              </a:rPr>
              <a:t>AOD scaled with boundary-layer height and humidity → PM</a:t>
            </a:r>
            <a:r>
              <a:rPr lang="en-US" sz="1400" baseline="-40000" dirty="0">
                <a:solidFill>
                  <a:schemeClr val="tx1"/>
                </a:solidFill>
              </a:rPr>
              <a:t>2.5</a:t>
            </a:r>
            <a:r>
              <a:rPr lang="en-US" sz="1400" dirty="0">
                <a:solidFill>
                  <a:schemeClr val="tx1"/>
                </a:solidFill>
              </a:rPr>
              <a:t> maps</a:t>
            </a:r>
            <a:endParaRPr lang="en-US" sz="1400" dirty="0"/>
          </a:p>
          <a:p>
            <a:pPr indent="0" marL="0">
              <a:buNone/>
            </a:pPr>
            <a:r>
              <a:rPr lang="en-US" sz="1400" i="1" dirty="0">
                <a:solidFill>
                  <a:schemeClr val="accent1"/>
                </a:solidFill>
              </a:rPr>
              <a:t>van Donkelaar et al., 2010</a:t>
            </a:r>
            <a:endParaRPr lang="en-US" sz="1400" dirty="0"/>
          </a:p>
        </p:txBody>
      </p:sp>
      <p:sp>
        <p:nvSpPr>
          <p:cNvPr id="16" name="Lidar item 4"/>
          <p:cNvSpPr/>
          <p:nvPr/>
        </p:nvSpPr>
        <p:spPr>
          <a:xfrm>
            <a:off x="457200" y="4242816"/>
            <a:ext cx="6995160" cy="896112"/>
          </a:xfrm>
          <a:prstGeom prst="roundRect">
            <a:avLst>
              <a:gd name="adj" fmla="val 71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Lidar item 4 badge"/>
          <p:cNvSpPr/>
          <p:nvPr/>
        </p:nvSpPr>
        <p:spPr>
          <a:xfrm>
            <a:off x="594360" y="4462272"/>
            <a:ext cx="457200" cy="457200"/>
          </a:xfrm>
          <a:prstGeom prst="ellipse">
            <a:avLst/>
          </a:prstGeom>
          <a:solidFill>
            <a:schemeClr val="accent3"/>
          </a:solidFill>
          <a:ln w="12700">
            <a:solidFill>
              <a:schemeClr val="accent3"/>
            </a:solidFill>
            <a:prstDash val="solid"/>
          </a:ln>
        </p:spPr>
      </p:sp>
      <p:sp>
        <p:nvSpPr>
          <p:cNvPr id="18" name="Lidar item 4 badge text"/>
          <p:cNvSpPr txBox="1"/>
          <p:nvPr/>
        </p:nvSpPr>
        <p:spPr>
          <a:xfrm>
            <a:off x="594360" y="44622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Lidar item 4 text"/>
          <p:cNvSpPr txBox="1"/>
          <p:nvPr/>
        </p:nvSpPr>
        <p:spPr>
          <a:xfrm>
            <a:off x="1188720" y="4297680"/>
            <a:ext cx="6126480" cy="786384"/>
          </a:xfrm>
          <a:prstGeom prst="rect">
            <a:avLst/>
          </a:prstGeom>
          <a:noFill/>
          <a:ln/>
        </p:spPr>
        <p:txBody>
          <a:bodyPr wrap="square" lIns="0" tIns="0" rIns="0" bIns="0" rtlCol="0" anchor="ctr"/>
          <a:lstStyle/>
          <a:p>
            <a:pPr indent="0" marL="0">
              <a:buNone/>
            </a:pPr>
            <a:r>
              <a:rPr lang="en-US" sz="1400" b="1" dirty="0">
                <a:solidFill>
                  <a:schemeClr val="tx2"/>
                </a:solidFill>
              </a:rPr>
              <a:t>Validation</a:t>
            </a:r>
            <a:endParaRPr lang="en-US" sz="1400" dirty="0"/>
          </a:p>
          <a:p>
            <a:pPr indent="0" marL="0">
              <a:buNone/>
            </a:pPr>
            <a:r>
              <a:rPr lang="en-US" sz="1400" dirty="0">
                <a:solidFill>
                  <a:schemeClr val="tx1"/>
                </a:solidFill>
              </a:rPr>
              <a:t>Satellite vs AERONET within ±30 min and ~25 km → R, RMSE, % within error</a:t>
            </a:r>
            <a:endParaRPr lang="en-US" sz="1400" dirty="0"/>
          </a:p>
          <a:p>
            <a:pPr indent="0" marL="0">
              <a:buNone/>
            </a:pPr>
            <a:r>
              <a:rPr lang="en-US" sz="1400" i="1" dirty="0">
                <a:solidFill>
                  <a:schemeClr val="accent1"/>
                </a:solidFill>
              </a:rPr>
              <a:t>Ichoku et al., 2002</a:t>
            </a:r>
            <a:endParaRPr lang="en-US" sz="1400" dirty="0"/>
          </a:p>
        </p:txBody>
      </p:sp>
      <p:sp>
        <p:nvSpPr>
          <p:cNvPr id="20" name="Validation figure card"/>
          <p:cNvSpPr/>
          <p:nvPr/>
        </p:nvSpPr>
        <p:spPr>
          <a:xfrm>
            <a:off x="7635240" y="1280160"/>
            <a:ext cx="4096512" cy="4114800"/>
          </a:xfrm>
          <a:prstGeom prst="roundRect">
            <a:avLst>
              <a:gd name="adj" fmla="val 156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Validation figure title"/>
          <p:cNvSpPr txBox="1"/>
          <p:nvPr/>
        </p:nvSpPr>
        <p:spPr>
          <a:xfrm>
            <a:off x="7772400" y="1371600"/>
            <a:ext cx="3822192" cy="530352"/>
          </a:xfrm>
          <a:prstGeom prst="rect">
            <a:avLst/>
          </a:prstGeom>
          <a:noFill/>
          <a:ln/>
        </p:spPr>
        <p:txBody>
          <a:bodyPr wrap="square" lIns="0" tIns="0" rIns="0" bIns="0" rtlCol="0" anchor="t"/>
          <a:lstStyle/>
          <a:p>
            <a:pPr indent="0" marL="0">
              <a:buNone/>
            </a:pPr>
            <a:r>
              <a:rPr lang="en-US" sz="1400" b="1" dirty="0">
                <a:solidFill>
                  <a:schemeClr val="tx2"/>
                </a:solidFill>
              </a:rPr>
              <a:t>MODIS vs ground-measured AOD, Dibrugarh, Assam (r = 0.92)</a:t>
            </a:r>
            <a:endParaRPr lang="en-US" sz="1400" dirty="0"/>
          </a:p>
        </p:txBody>
      </p:sp>
      <p:pic>
        <p:nvPicPr>
          <p:cNvPr id="22" name="Validation figure" descr="Validation figure">    </p:cNvPr>
          <p:cNvPicPr>
            <a:picLocks noChangeAspect="1"/>
          </p:cNvPicPr>
          <p:nvPr/>
        </p:nvPicPr>
        <p:blipFill>
          <a:blip r:embed="rId1"/>
          <a:stretch>
            <a:fillRect/>
          </a:stretch>
        </p:blipFill>
        <p:spPr>
          <a:xfrm>
            <a:off x="7833529" y="1901952"/>
            <a:ext cx="3699933" cy="2606040"/>
          </a:xfrm>
          <a:prstGeom prst="rect">
            <a:avLst/>
          </a:prstGeom>
        </p:spPr>
      </p:pic>
      <p:sp>
        <p:nvSpPr>
          <p:cNvPr id="23" name="Validation figure caption"/>
          <p:cNvSpPr txBox="1"/>
          <p:nvPr/>
        </p:nvSpPr>
        <p:spPr>
          <a:xfrm>
            <a:off x="7772400" y="4581144"/>
            <a:ext cx="3822192" cy="457200"/>
          </a:xfrm>
          <a:prstGeom prst="rect">
            <a:avLst/>
          </a:prstGeom>
          <a:noFill/>
          <a:ln/>
        </p:spPr>
        <p:txBody>
          <a:bodyPr wrap="square" lIns="0" tIns="0" rIns="0" bIns="0" rtlCol="0" anchor="t"/>
          <a:lstStyle/>
          <a:p>
            <a:pPr indent="0" marL="0">
              <a:buNone/>
            </a:pPr>
            <a:r>
              <a:rPr lang="en-US" sz="1400" dirty="0">
                <a:solidFill>
                  <a:schemeClr val="tx1"/>
                </a:solidFill>
              </a:rPr>
              <a:t>MODIS underestimates AOD in monsoon and post-monsoon, overestimates in winter and pre-monsoon</a:t>
            </a:r>
            <a:endParaRPr lang="en-US" sz="1400" dirty="0"/>
          </a:p>
        </p:txBody>
      </p:sp>
      <p:sp>
        <p:nvSpPr>
          <p:cNvPr id="24" name="Validation figure source"/>
          <p:cNvSpPr txBox="1"/>
          <p:nvPr/>
        </p:nvSpPr>
        <p:spPr>
          <a:xfrm>
            <a:off x="7772400" y="5038344"/>
            <a:ext cx="3822192" cy="246888"/>
          </a:xfrm>
          <a:prstGeom prst="rect">
            <a:avLst/>
          </a:prstGeom>
          <a:noFill/>
          <a:ln/>
        </p:spPr>
        <p:txBody>
          <a:bodyPr wrap="square" lIns="0" tIns="0" rIns="0" bIns="0" rtlCol="0" anchor="t"/>
          <a:lstStyle/>
          <a:p>
            <a:pPr indent="0" marL="0">
              <a:buNone/>
            </a:pPr>
            <a:r>
              <a:rPr lang="en-US" sz="1400" i="1" dirty="0">
                <a:solidFill>
                  <a:schemeClr val="accent1"/>
                </a:solidFill>
              </a:rPr>
              <a:t>Source: Latha et al., 2018, Fig. 4</a:t>
            </a:r>
            <a:endParaRPr lang="en-US" sz="1400" dirty="0"/>
          </a:p>
        </p:txBody>
      </p:sp>
      <p:sp>
        <p:nvSpPr>
          <p:cNvPr id="25" name="Best data strip"/>
          <p:cNvSpPr/>
          <p:nvPr/>
        </p:nvSpPr>
        <p:spPr>
          <a:xfrm>
            <a:off x="457200" y="5349240"/>
            <a:ext cx="11274552" cy="777240"/>
          </a:xfrm>
          <a:prstGeom prst="roundRect">
            <a:avLst>
              <a:gd name="adj" fmla="val 7059"/>
            </a:avLst>
          </a:prstGeom>
          <a:solidFill>
            <a:schemeClr val="bg2"/>
          </a:solidFill>
          <a:ln w="12700">
            <a:solidFill>
              <a:schemeClr val="bg2"/>
            </a:solidFill>
            <a:prstDash val="solid"/>
          </a:ln>
        </p:spPr>
      </p:sp>
      <p:sp>
        <p:nvSpPr>
          <p:cNvPr id="26" name="Best data strip text"/>
          <p:cNvSpPr txBox="1"/>
          <p:nvPr/>
        </p:nvSpPr>
        <p:spPr>
          <a:xfrm>
            <a:off x="594360" y="534924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Best data for productivity studies:</a:t>
            </a:r>
            <a:r>
              <a:rPr lang="en-US" sz="1400" dirty="0">
                <a:solidFill>
                  <a:schemeClr val="tx1"/>
                </a:solidFill>
              </a:rPr>
              <a:t> MAIAC (field scale) · OMI and AERONET SSA (absorption) · CALIOP (layers) · MERRA-2 and CAMS (species, gap-free).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Accuracy of satellite AOD products against AERONET</a:t>
            </a:r>
            <a:endParaRPr lang="en-US" sz="2800" dirty="0"/>
          </a:p>
        </p:txBody>
      </p:sp>
      <p:sp>
        <p:nvSpPr>
          <p:cNvPr id="4" name="Accuracy chart card"/>
          <p:cNvSpPr/>
          <p:nvPr/>
        </p:nvSpPr>
        <p:spPr>
          <a:xfrm>
            <a:off x="457200" y="1280160"/>
            <a:ext cx="6766560" cy="3931920"/>
          </a:xfrm>
          <a:prstGeom prst="roundRect">
            <a:avLst>
              <a:gd name="adj" fmla="val 16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Accuracy chart title"/>
          <p:cNvSpPr txBox="1"/>
          <p:nvPr/>
        </p:nvSpPr>
        <p:spPr>
          <a:xfrm>
            <a:off x="594360" y="1353312"/>
            <a:ext cx="6492240" cy="320040"/>
          </a:xfrm>
          <a:prstGeom prst="rect">
            <a:avLst/>
          </a:prstGeom>
          <a:noFill/>
          <a:ln/>
        </p:spPr>
        <p:txBody>
          <a:bodyPr wrap="square" lIns="0" tIns="0" rIns="0" bIns="0" rtlCol="0" anchor="ctr"/>
          <a:lstStyle/>
          <a:p>
            <a:pPr indent="0" marL="0">
              <a:buNone/>
            </a:pPr>
            <a:r>
              <a:rPr lang="en-US" sz="1400" b="1" dirty="0">
                <a:solidFill>
                  <a:schemeClr val="tx2"/>
                </a:solidFill>
              </a:rPr>
              <a:t>Share of retrievals within the expected error (%)</a:t>
            </a:r>
            <a:endParaRPr lang="en-US" sz="1400" dirty="0"/>
          </a:p>
        </p:txBody>
      </p:sp>
      <p:graphicFrame>
        <p:nvGraphicFramePr>
          <p:cNvPr id="6" name="Accuracy chart" descr=""/>
          <p:cNvGraphicFramePr/>
          <p:nvPr/>
        </p:nvGraphicFramePr>
        <p:xfrm>
          <a:off x="548640" y="1691640"/>
          <a:ext cx="6583680" cy="3108960"/>
        </p:xfrm>
        <a:graphic xmlns:a="http://schemas.openxmlformats.org/drawingml/2006/main">
          <a:graphicData uri="http://schemas.openxmlformats.org/drawingml/2006/chart">
            <c:chart xmlns:c="http://schemas.openxmlformats.org/drawingml/2006/chart" r:id="rId1"/>
          </a:graphicData>
        </a:graphic>
      </p:graphicFrame>
      <p:sp>
        <p:nvSpPr>
          <p:cNvPr id="7" name="Accuracy chart source"/>
          <p:cNvSpPr txBox="1"/>
          <p:nvPr/>
        </p:nvSpPr>
        <p:spPr>
          <a:xfrm>
            <a:off x="594360" y="4864608"/>
            <a:ext cx="6492240" cy="274320"/>
          </a:xfrm>
          <a:prstGeom prst="rect">
            <a:avLst/>
          </a:prstGeom>
          <a:noFill/>
          <a:ln/>
        </p:spPr>
        <p:txBody>
          <a:bodyPr wrap="square" lIns="0" tIns="0" rIns="0" bIns="0" rtlCol="0" anchor="ctr"/>
          <a:lstStyle/>
          <a:p>
            <a:pPr indent="0" marL="0">
              <a:buNone/>
            </a:pPr>
            <a:r>
              <a:rPr lang="en-US" sz="1400" i="1" dirty="0">
                <a:solidFill>
                  <a:schemeClr val="accent1"/>
                </a:solidFill>
              </a:rPr>
              <a:t>Data: Wei et al., 2020 (compiled from product validations)</a:t>
            </a:r>
            <a:endParaRPr lang="en-US" sz="1400" dirty="0"/>
          </a:p>
        </p:txBody>
      </p:sp>
      <p:sp>
        <p:nvSpPr>
          <p:cNvPr id="8" name="India validation card"/>
          <p:cNvSpPr/>
          <p:nvPr/>
        </p:nvSpPr>
        <p:spPr>
          <a:xfrm>
            <a:off x="7452360" y="1280160"/>
            <a:ext cx="4279392" cy="2194560"/>
          </a:xfrm>
          <a:prstGeom prst="roundRect">
            <a:avLst>
              <a:gd name="adj" fmla="val 291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India validation card head"/>
          <p:cNvSpPr/>
          <p:nvPr/>
        </p:nvSpPr>
        <p:spPr>
          <a:xfrm>
            <a:off x="7452360" y="1280160"/>
            <a:ext cx="4279392" cy="402336"/>
          </a:xfrm>
          <a:prstGeom prst="roundRect">
            <a:avLst>
              <a:gd name="adj" fmla="val 15909"/>
            </a:avLst>
          </a:prstGeom>
          <a:solidFill>
            <a:schemeClr val="accent2"/>
          </a:solidFill>
          <a:ln w="12700">
            <a:solidFill>
              <a:schemeClr val="accent2"/>
            </a:solidFill>
            <a:prstDash val="solid"/>
          </a:ln>
        </p:spPr>
      </p:sp>
      <p:sp>
        <p:nvSpPr>
          <p:cNvPr id="10" name="India validation card head text"/>
          <p:cNvSpPr txBox="1"/>
          <p:nvPr/>
        </p:nvSpPr>
        <p:spPr>
          <a:xfrm>
            <a:off x="7589520" y="1280160"/>
            <a:ext cx="4005072" cy="402336"/>
          </a:xfrm>
          <a:prstGeom prst="rect">
            <a:avLst/>
          </a:prstGeom>
          <a:noFill/>
          <a:ln/>
        </p:spPr>
        <p:txBody>
          <a:bodyPr wrap="square" lIns="0" tIns="0" rIns="0" bIns="0" rtlCol="0" anchor="ctr"/>
          <a:lstStyle/>
          <a:p>
            <a:pPr indent="0" marL="0">
              <a:buNone/>
            </a:pPr>
            <a:r>
              <a:rPr lang="en-US" sz="1400" b="1" dirty="0">
                <a:solidFill>
                  <a:schemeClr val="bg1"/>
                </a:solidFill>
              </a:rPr>
              <a:t>Validation over India (MODIS, 2017–2019)</a:t>
            </a:r>
            <a:endParaRPr lang="en-US" sz="1400" dirty="0"/>
          </a:p>
        </p:txBody>
      </p:sp>
      <p:sp>
        <p:nvSpPr>
          <p:cNvPr id="11" name="India validation card text"/>
          <p:cNvSpPr txBox="1"/>
          <p:nvPr/>
        </p:nvSpPr>
        <p:spPr>
          <a:xfrm>
            <a:off x="7616952" y="1773936"/>
            <a:ext cx="3950208" cy="162763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Jaipur:</a:t>
            </a:r>
            <a:r>
              <a:rPr lang="en-US" sz="1400" dirty="0">
                <a:solidFill>
                  <a:schemeClr val="tx1"/>
                </a:solidFill>
              </a:rPr>
              <a:t> r = 0.90, RMSE 0.12, 89% within error (n = 522)</a:t>
            </a:r>
            <a:endParaRPr lang="en-US" sz="1400" dirty="0"/>
          </a:p>
          <a:p>
            <a:pPr indent="0" marL="0">
              <a:spcAft>
                <a:spcPts val="300"/>
              </a:spcAft>
              <a:buNone/>
            </a:pPr>
            <a:r>
              <a:rPr lang="en-US" sz="1400" b="1" dirty="0">
                <a:solidFill>
                  <a:schemeClr val="tx1"/>
                </a:solidFill>
              </a:rPr>
              <a:t>Kanpur:</a:t>
            </a:r>
            <a:r>
              <a:rPr lang="en-US" sz="1400" dirty="0">
                <a:solidFill>
                  <a:schemeClr val="tx1"/>
                </a:solidFill>
              </a:rPr>
              <a:t> r = 0.86, RMSE 0.20, 74% within error (n = 788)</a:t>
            </a:r>
            <a:endParaRPr lang="en-US" sz="1400" dirty="0"/>
          </a:p>
          <a:p>
            <a:pPr indent="0" marL="0">
              <a:buNone/>
            </a:pPr>
            <a:r>
              <a:rPr lang="en-US" sz="1400" dirty="0">
                <a:solidFill>
                  <a:schemeClr val="tx1"/>
                </a:solidFill>
              </a:rPr>
              <a:t>MODIS AOD ≈ 8% lower than AERONET overall</a:t>
            </a:r>
            <a:endParaRPr lang="en-US" sz="1400" dirty="0"/>
          </a:p>
          <a:p>
            <a:pPr indent="0" marL="0">
              <a:buNone/>
            </a:pPr>
            <a:r>
              <a:rPr lang="en-US" sz="1400" i="1" dirty="0">
                <a:solidFill>
                  <a:schemeClr val="accent1"/>
                </a:solidFill>
              </a:rPr>
              <a:t>Hari &amp; Tyagi, 2022</a:t>
            </a:r>
            <a:endParaRPr lang="en-US" sz="1400" dirty="0"/>
          </a:p>
        </p:txBody>
      </p:sp>
      <p:sp>
        <p:nvSpPr>
          <p:cNvPr id="12" name="EE callout card"/>
          <p:cNvSpPr/>
          <p:nvPr/>
        </p:nvSpPr>
        <p:spPr>
          <a:xfrm>
            <a:off x="7452360" y="3657600"/>
            <a:ext cx="4279392" cy="1554480"/>
          </a:xfrm>
          <a:prstGeom prst="roundRect">
            <a:avLst>
              <a:gd name="adj" fmla="val 411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EE callout text"/>
          <p:cNvSpPr txBox="1"/>
          <p:nvPr/>
        </p:nvSpPr>
        <p:spPr>
          <a:xfrm>
            <a:off x="7562088" y="3703320"/>
            <a:ext cx="4059936" cy="1463040"/>
          </a:xfrm>
          <a:prstGeom prst="rect">
            <a:avLst/>
          </a:prstGeom>
          <a:noFill/>
          <a:ln/>
        </p:spPr>
        <p:txBody>
          <a:bodyPr wrap="square" lIns="0" tIns="0" rIns="0" bIns="0" rtlCol="0" anchor="ctr"/>
          <a:lstStyle/>
          <a:p>
            <a:pPr algn="ctr" indent="0" marL="0">
              <a:buNone/>
            </a:pPr>
            <a:r>
              <a:rPr lang="en-US" sz="2600" b="1" dirty="0">
                <a:solidFill>
                  <a:schemeClr val="accent1"/>
                </a:solidFill>
              </a:rPr>
              <a:t>± (0.05 + 0.15τ)</a:t>
            </a:r>
            <a:endParaRPr lang="en-US" sz="2600" dirty="0"/>
          </a:p>
          <a:p>
            <a:pPr algn="ctr" indent="0" marL="0">
              <a:buNone/>
            </a:pPr>
            <a:r>
              <a:rPr lang="en-US" sz="1400" dirty="0">
                <a:solidFill>
                  <a:schemeClr val="tx1"/>
                </a:solidFill>
              </a:rPr>
              <a:t>expected error of MODIS Dark Target AOD over land</a:t>
            </a:r>
            <a:endParaRPr lang="en-US" sz="2600" dirty="0"/>
          </a:p>
          <a:p>
            <a:pPr algn="ctr" indent="0" marL="0">
              <a:buNone/>
            </a:pPr>
            <a:r>
              <a:rPr lang="en-US" sz="1400" i="1" dirty="0">
                <a:solidFill>
                  <a:schemeClr val="accent1"/>
                </a:solidFill>
              </a:rPr>
              <a:t>Levy et al., 2013</a:t>
            </a:r>
            <a:endParaRPr lang="en-US" sz="2600" dirty="0"/>
          </a:p>
        </p:txBody>
      </p:sp>
      <p:sp>
        <p:nvSpPr>
          <p:cNvPr id="14" name="Accuracy strip"/>
          <p:cNvSpPr/>
          <p:nvPr/>
        </p:nvSpPr>
        <p:spPr>
          <a:xfrm>
            <a:off x="457200" y="5440680"/>
            <a:ext cx="11274552" cy="685800"/>
          </a:xfrm>
          <a:prstGeom prst="roundRect">
            <a:avLst>
              <a:gd name="adj" fmla="val 8000"/>
            </a:avLst>
          </a:prstGeom>
          <a:solidFill>
            <a:schemeClr val="bg2"/>
          </a:solidFill>
          <a:ln w="12700">
            <a:solidFill>
              <a:schemeClr val="bg2"/>
            </a:solidFill>
            <a:prstDash val="solid"/>
          </a:ln>
        </p:spPr>
      </p:sp>
      <p:sp>
        <p:nvSpPr>
          <p:cNvPr id="15" name="Accuracy strip text"/>
          <p:cNvSpPr txBox="1"/>
          <p:nvPr/>
        </p:nvSpPr>
        <p:spPr>
          <a:xfrm>
            <a:off x="594360" y="544068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Implication:</a:t>
            </a:r>
            <a:r>
              <a:rPr lang="en-US" sz="1400" dirty="0">
                <a:solidFill>
                  <a:schemeClr val="tx1"/>
                </a:solidFill>
              </a:rPr>
              <a:t> about 20–40% of retrievals fall outside the expected error; accuracy depends on surface brightness, season and aerosol type, so products must be validated locally before crop studies.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Estimating direct and diffuse PAR from aerosol data</a:t>
            </a:r>
            <a:endParaRPr lang="en-US" sz="2800" dirty="0"/>
          </a:p>
        </p:txBody>
      </p:sp>
      <p:sp>
        <p:nvSpPr>
          <p:cNvPr id="4" name="PAR input"/>
          <p:cNvSpPr/>
          <p:nvPr/>
        </p:nvSpPr>
        <p:spPr>
          <a:xfrm>
            <a:off x="457200" y="2331720"/>
            <a:ext cx="1600200" cy="1737360"/>
          </a:xfrm>
          <a:prstGeom prst="roundRect">
            <a:avLst>
              <a:gd name="adj" fmla="val 4000"/>
            </a:avLst>
          </a:prstGeom>
          <a:solidFill>
            <a:schemeClr val="tx2"/>
          </a:solidFill>
          <a:ln w="12700">
            <a:solidFill>
              <a:schemeClr val="tx2"/>
            </a:solidFill>
            <a:prstDash val="solid"/>
          </a:ln>
        </p:spPr>
      </p:sp>
      <p:sp>
        <p:nvSpPr>
          <p:cNvPr id="5" name="PAR input text"/>
          <p:cNvSpPr txBox="1"/>
          <p:nvPr/>
        </p:nvSpPr>
        <p:spPr>
          <a:xfrm>
            <a:off x="530352" y="2359152"/>
            <a:ext cx="1453896" cy="1682496"/>
          </a:xfrm>
          <a:prstGeom prst="rect">
            <a:avLst/>
          </a:prstGeom>
          <a:noFill/>
          <a:ln/>
        </p:spPr>
        <p:txBody>
          <a:bodyPr wrap="square" lIns="0" tIns="0" rIns="0" bIns="0" rtlCol="0" anchor="ctr"/>
          <a:lstStyle/>
          <a:p>
            <a:pPr algn="ctr" indent="0" marL="0">
              <a:buNone/>
            </a:pPr>
            <a:r>
              <a:rPr lang="en-US" sz="1400" b="1" dirty="0">
                <a:solidFill>
                  <a:schemeClr val="bg1"/>
                </a:solidFill>
              </a:rPr>
              <a:t>Inputs</a:t>
            </a:r>
            <a:endParaRPr lang="en-US" sz="1400" dirty="0"/>
          </a:p>
          <a:p>
            <a:pPr algn="ctr" indent="0" marL="0">
              <a:buNone/>
            </a:pPr>
            <a:r>
              <a:rPr lang="en-US" sz="1400" dirty="0">
                <a:solidFill>
                  <a:schemeClr val="bg1"/>
                </a:solidFill>
              </a:rPr>
              <a:t>AOD, ω</a:t>
            </a:r>
            <a:r>
              <a:rPr lang="en-US" sz="1400" baseline="-40000" dirty="0">
                <a:solidFill>
                  <a:schemeClr val="bg1"/>
                </a:solidFill>
              </a:rPr>
              <a:t>0</a:t>
            </a:r>
            <a:r>
              <a:rPr lang="en-US" sz="1400" dirty="0">
                <a:solidFill>
                  <a:schemeClr val="bg1"/>
                </a:solidFill>
              </a:rPr>
              <a:t>, sun angle, atmosphere, clouds</a:t>
            </a:r>
            <a:endParaRPr lang="en-US" sz="1400" dirty="0"/>
          </a:p>
        </p:txBody>
      </p:sp>
      <p:sp>
        <p:nvSpPr>
          <p:cNvPr id="6" name="Approach 1 card"/>
          <p:cNvSpPr/>
          <p:nvPr/>
        </p:nvSpPr>
        <p:spPr>
          <a:xfrm>
            <a:off x="2377440" y="1280160"/>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Approach 1 bar"/>
          <p:cNvSpPr/>
          <p:nvPr/>
        </p:nvSpPr>
        <p:spPr>
          <a:xfrm>
            <a:off x="2377440" y="1344168"/>
            <a:ext cx="82296" cy="740664"/>
          </a:xfrm>
          <a:prstGeom prst="rect">
            <a:avLst/>
          </a:prstGeom>
          <a:solidFill>
            <a:schemeClr val="accent1"/>
          </a:solidFill>
          <a:ln w="12700">
            <a:solidFill>
              <a:schemeClr val="accent1"/>
            </a:solidFill>
            <a:prstDash val="solid"/>
          </a:ln>
        </p:spPr>
      </p:sp>
      <p:sp>
        <p:nvSpPr>
          <p:cNvPr id="8" name="Approach 1 text"/>
          <p:cNvSpPr txBox="1"/>
          <p:nvPr/>
        </p:nvSpPr>
        <p:spPr>
          <a:xfrm>
            <a:off x="2560320" y="1307592"/>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Radiative transfer models: SBDART, TUV, 6S</a:t>
            </a:r>
            <a:endParaRPr lang="en-US" sz="1400" dirty="0"/>
          </a:p>
          <a:p>
            <a:pPr indent="0" marL="0">
              <a:buNone/>
            </a:pPr>
            <a:r>
              <a:rPr lang="en-US" sz="1400" i="1" dirty="0">
                <a:solidFill>
                  <a:schemeClr val="accent1"/>
                </a:solidFill>
              </a:rPr>
              <a:t>Tie et al., 2016; Sankhla et al., preprint</a:t>
            </a:r>
            <a:endParaRPr lang="en-US" sz="1400" dirty="0"/>
          </a:p>
        </p:txBody>
      </p:sp>
      <p:sp>
        <p:nvSpPr>
          <p:cNvPr id="9" name="Arrow in 1"/>
          <p:cNvSpPr/>
          <p:nvPr/>
        </p:nvSpPr>
        <p:spPr>
          <a:xfrm flipV="1">
            <a:off x="2075688" y="1714500"/>
            <a:ext cx="283464" cy="1485900"/>
          </a:xfrm>
          <a:prstGeom prst="line">
            <a:avLst/>
          </a:prstGeom>
          <a:noFill/>
          <a:ln w="25400">
            <a:solidFill>
              <a:schemeClr val="accent4"/>
            </a:solidFill>
            <a:prstDash val="solid"/>
            <a:tailEnd type="triangle"/>
          </a:ln>
        </p:spPr>
      </p:sp>
      <p:sp>
        <p:nvSpPr>
          <p:cNvPr id="10" name="Arrow out 1"/>
          <p:cNvSpPr/>
          <p:nvPr/>
        </p:nvSpPr>
        <p:spPr>
          <a:xfrm>
            <a:off x="5824728" y="1714500"/>
            <a:ext cx="283464" cy="1485900"/>
          </a:xfrm>
          <a:prstGeom prst="line">
            <a:avLst/>
          </a:prstGeom>
          <a:noFill/>
          <a:ln w="25400">
            <a:solidFill>
              <a:schemeClr val="accent4"/>
            </a:solidFill>
            <a:prstDash val="solid"/>
            <a:tailEnd type="triangle"/>
          </a:ln>
        </p:spPr>
      </p:sp>
      <p:sp>
        <p:nvSpPr>
          <p:cNvPr id="11" name="Approach 2 card"/>
          <p:cNvSpPr/>
          <p:nvPr/>
        </p:nvSpPr>
        <p:spPr>
          <a:xfrm>
            <a:off x="2377440" y="2267712"/>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2" name="Approach 2 bar"/>
          <p:cNvSpPr/>
          <p:nvPr/>
        </p:nvSpPr>
        <p:spPr>
          <a:xfrm>
            <a:off x="2377440" y="2331720"/>
            <a:ext cx="82296" cy="740664"/>
          </a:xfrm>
          <a:prstGeom prst="rect">
            <a:avLst/>
          </a:prstGeom>
          <a:solidFill>
            <a:schemeClr val="accent2"/>
          </a:solidFill>
          <a:ln w="12700">
            <a:solidFill>
              <a:schemeClr val="accent2"/>
            </a:solidFill>
            <a:prstDash val="solid"/>
          </a:ln>
        </p:spPr>
      </p:sp>
      <p:sp>
        <p:nvSpPr>
          <p:cNvPr id="13" name="Approach 2 text"/>
          <p:cNvSpPr txBox="1"/>
          <p:nvPr/>
        </p:nvSpPr>
        <p:spPr>
          <a:xfrm>
            <a:off x="2560320" y="2295144"/>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Empirical partitioning: Clearness index, sunshine, AOD</a:t>
            </a:r>
            <a:endParaRPr lang="en-US" sz="1400" dirty="0"/>
          </a:p>
          <a:p>
            <a:pPr indent="0" marL="0">
              <a:buNone/>
            </a:pPr>
            <a:r>
              <a:rPr lang="en-US" sz="1400" i="1" dirty="0">
                <a:solidFill>
                  <a:schemeClr val="accent1"/>
                </a:solidFill>
              </a:rPr>
              <a:t>Spitters et al., 1986; Feng et al., 2020</a:t>
            </a:r>
            <a:endParaRPr lang="en-US" sz="1400" dirty="0"/>
          </a:p>
        </p:txBody>
      </p:sp>
      <p:sp>
        <p:nvSpPr>
          <p:cNvPr id="14" name="Arrow in 2"/>
          <p:cNvSpPr/>
          <p:nvPr/>
        </p:nvSpPr>
        <p:spPr>
          <a:xfrm flipV="1">
            <a:off x="2075688" y="2702052"/>
            <a:ext cx="283464" cy="498348"/>
          </a:xfrm>
          <a:prstGeom prst="line">
            <a:avLst/>
          </a:prstGeom>
          <a:noFill/>
          <a:ln w="25400">
            <a:solidFill>
              <a:schemeClr val="accent4"/>
            </a:solidFill>
            <a:prstDash val="solid"/>
            <a:tailEnd type="triangle"/>
          </a:ln>
        </p:spPr>
      </p:sp>
      <p:sp>
        <p:nvSpPr>
          <p:cNvPr id="15" name="Arrow out 2"/>
          <p:cNvSpPr/>
          <p:nvPr/>
        </p:nvSpPr>
        <p:spPr>
          <a:xfrm>
            <a:off x="5824728" y="2702052"/>
            <a:ext cx="283464" cy="498348"/>
          </a:xfrm>
          <a:prstGeom prst="line">
            <a:avLst/>
          </a:prstGeom>
          <a:noFill/>
          <a:ln w="25400">
            <a:solidFill>
              <a:schemeClr val="accent4"/>
            </a:solidFill>
            <a:prstDash val="solid"/>
            <a:tailEnd type="triangle"/>
          </a:ln>
        </p:spPr>
      </p:sp>
      <p:sp>
        <p:nvSpPr>
          <p:cNvPr id="16" name="Approach 3 card"/>
          <p:cNvSpPr/>
          <p:nvPr/>
        </p:nvSpPr>
        <p:spPr>
          <a:xfrm>
            <a:off x="2377440" y="3255264"/>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Approach 3 bar"/>
          <p:cNvSpPr/>
          <p:nvPr/>
        </p:nvSpPr>
        <p:spPr>
          <a:xfrm>
            <a:off x="2377440" y="3319272"/>
            <a:ext cx="82296" cy="740664"/>
          </a:xfrm>
          <a:prstGeom prst="rect">
            <a:avLst/>
          </a:prstGeom>
          <a:solidFill>
            <a:schemeClr val="accent3"/>
          </a:solidFill>
          <a:ln w="12700">
            <a:solidFill>
              <a:schemeClr val="accent3"/>
            </a:solidFill>
            <a:prstDash val="solid"/>
          </a:ln>
        </p:spPr>
      </p:sp>
      <p:sp>
        <p:nvSpPr>
          <p:cNvPr id="18" name="Approach 3 text"/>
          <p:cNvSpPr txBox="1"/>
          <p:nvPr/>
        </p:nvSpPr>
        <p:spPr>
          <a:xfrm>
            <a:off x="2560320" y="3282696"/>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Satellite products: BESS (5 km), CERES SYN1deg, MCD18</a:t>
            </a:r>
            <a:endParaRPr lang="en-US" sz="1400" dirty="0"/>
          </a:p>
          <a:p>
            <a:pPr indent="0" marL="0">
              <a:buNone/>
            </a:pPr>
            <a:r>
              <a:rPr lang="en-US" sz="1400" i="1" dirty="0">
                <a:solidFill>
                  <a:schemeClr val="accent1"/>
                </a:solidFill>
              </a:rPr>
              <a:t>Ryu et al., 2018; Rutan et al., 2015</a:t>
            </a:r>
            <a:endParaRPr lang="en-US" sz="1400" dirty="0"/>
          </a:p>
        </p:txBody>
      </p:sp>
      <p:sp>
        <p:nvSpPr>
          <p:cNvPr id="19" name="Arrow in 3"/>
          <p:cNvSpPr/>
          <p:nvPr/>
        </p:nvSpPr>
        <p:spPr>
          <a:xfrm>
            <a:off x="2075688" y="3200400"/>
            <a:ext cx="283464" cy="489204"/>
          </a:xfrm>
          <a:prstGeom prst="line">
            <a:avLst/>
          </a:prstGeom>
          <a:noFill/>
          <a:ln w="25400">
            <a:solidFill>
              <a:schemeClr val="accent4"/>
            </a:solidFill>
            <a:prstDash val="solid"/>
            <a:tailEnd type="triangle"/>
          </a:ln>
        </p:spPr>
      </p:sp>
      <p:sp>
        <p:nvSpPr>
          <p:cNvPr id="20" name="Arrow out 3"/>
          <p:cNvSpPr/>
          <p:nvPr/>
        </p:nvSpPr>
        <p:spPr>
          <a:xfrm flipV="1">
            <a:off x="5824728" y="3200400"/>
            <a:ext cx="283464" cy="489204"/>
          </a:xfrm>
          <a:prstGeom prst="line">
            <a:avLst/>
          </a:prstGeom>
          <a:noFill/>
          <a:ln w="25400">
            <a:solidFill>
              <a:schemeClr val="accent4"/>
            </a:solidFill>
            <a:prstDash val="solid"/>
            <a:tailEnd type="triangle"/>
          </a:ln>
        </p:spPr>
      </p:sp>
      <p:sp>
        <p:nvSpPr>
          <p:cNvPr id="21" name="Approach 4 card"/>
          <p:cNvSpPr/>
          <p:nvPr/>
        </p:nvSpPr>
        <p:spPr>
          <a:xfrm>
            <a:off x="2377440" y="4242816"/>
            <a:ext cx="3429000" cy="868680"/>
          </a:xfrm>
          <a:prstGeom prst="roundRect">
            <a:avLst>
              <a:gd name="adj" fmla="val 736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2" name="Approach 4 bar"/>
          <p:cNvSpPr/>
          <p:nvPr/>
        </p:nvSpPr>
        <p:spPr>
          <a:xfrm>
            <a:off x="2377440" y="4306824"/>
            <a:ext cx="82296" cy="740664"/>
          </a:xfrm>
          <a:prstGeom prst="rect">
            <a:avLst/>
          </a:prstGeom>
          <a:solidFill>
            <a:schemeClr val="accent6"/>
          </a:solidFill>
          <a:ln w="12700">
            <a:solidFill>
              <a:schemeClr val="accent6"/>
            </a:solidFill>
            <a:prstDash val="solid"/>
          </a:ln>
        </p:spPr>
      </p:sp>
      <p:sp>
        <p:nvSpPr>
          <p:cNvPr id="23" name="Approach 4 text"/>
          <p:cNvSpPr txBox="1"/>
          <p:nvPr/>
        </p:nvSpPr>
        <p:spPr>
          <a:xfrm>
            <a:off x="2560320" y="4270248"/>
            <a:ext cx="3154680" cy="813816"/>
          </a:xfrm>
          <a:prstGeom prst="rect">
            <a:avLst/>
          </a:prstGeom>
          <a:noFill/>
          <a:ln/>
        </p:spPr>
        <p:txBody>
          <a:bodyPr wrap="square" lIns="0" tIns="0" rIns="0" bIns="0" rtlCol="0" anchor="ctr"/>
          <a:lstStyle/>
          <a:p>
            <a:pPr indent="0" marL="0">
              <a:buNone/>
            </a:pPr>
            <a:r>
              <a:rPr lang="en-US" sz="1400" b="1" dirty="0">
                <a:solidFill>
                  <a:schemeClr val="tx2"/>
                </a:solidFill>
              </a:rPr>
              <a:t>Reanalysis: MERRA-2, ERA5 surface radiation</a:t>
            </a:r>
            <a:endParaRPr lang="en-US" sz="1400" dirty="0"/>
          </a:p>
          <a:p>
            <a:pPr indent="0" marL="0">
              <a:buNone/>
            </a:pPr>
            <a:r>
              <a:rPr lang="en-US" sz="1400" i="1" dirty="0">
                <a:solidFill>
                  <a:schemeClr val="accent1"/>
                </a:solidFill>
              </a:rPr>
              <a:t>Gelaro et al., 2017</a:t>
            </a:r>
            <a:endParaRPr lang="en-US" sz="1400" dirty="0"/>
          </a:p>
        </p:txBody>
      </p:sp>
      <p:sp>
        <p:nvSpPr>
          <p:cNvPr id="24" name="Arrow in 4"/>
          <p:cNvSpPr/>
          <p:nvPr/>
        </p:nvSpPr>
        <p:spPr>
          <a:xfrm>
            <a:off x="2075688" y="3200400"/>
            <a:ext cx="283464" cy="1476756"/>
          </a:xfrm>
          <a:prstGeom prst="line">
            <a:avLst/>
          </a:prstGeom>
          <a:noFill/>
          <a:ln w="25400">
            <a:solidFill>
              <a:schemeClr val="accent4"/>
            </a:solidFill>
            <a:prstDash val="solid"/>
            <a:tailEnd type="triangle"/>
          </a:ln>
        </p:spPr>
      </p:sp>
      <p:sp>
        <p:nvSpPr>
          <p:cNvPr id="25" name="Arrow out 4"/>
          <p:cNvSpPr/>
          <p:nvPr/>
        </p:nvSpPr>
        <p:spPr>
          <a:xfrm flipV="1">
            <a:off x="5824728" y="3200400"/>
            <a:ext cx="283464" cy="1476756"/>
          </a:xfrm>
          <a:prstGeom prst="line">
            <a:avLst/>
          </a:prstGeom>
          <a:noFill/>
          <a:ln w="25400">
            <a:solidFill>
              <a:schemeClr val="accent4"/>
            </a:solidFill>
            <a:prstDash val="solid"/>
            <a:tailEnd type="triangle"/>
          </a:ln>
        </p:spPr>
      </p:sp>
      <p:sp>
        <p:nvSpPr>
          <p:cNvPr id="26" name="PAR output"/>
          <p:cNvSpPr/>
          <p:nvPr/>
        </p:nvSpPr>
        <p:spPr>
          <a:xfrm>
            <a:off x="6126480" y="2331720"/>
            <a:ext cx="1463040" cy="1737360"/>
          </a:xfrm>
          <a:prstGeom prst="roundRect">
            <a:avLst>
              <a:gd name="adj" fmla="val 4375"/>
            </a:avLst>
          </a:prstGeom>
          <a:solidFill>
            <a:schemeClr val="accent3"/>
          </a:solidFill>
          <a:ln w="12700">
            <a:solidFill>
              <a:schemeClr val="accent3"/>
            </a:solidFill>
            <a:prstDash val="solid"/>
          </a:ln>
        </p:spPr>
      </p:sp>
      <p:sp>
        <p:nvSpPr>
          <p:cNvPr id="27" name="PAR output text"/>
          <p:cNvSpPr txBox="1"/>
          <p:nvPr/>
        </p:nvSpPr>
        <p:spPr>
          <a:xfrm>
            <a:off x="6199632" y="2359152"/>
            <a:ext cx="1316736" cy="1682496"/>
          </a:xfrm>
          <a:prstGeom prst="rect">
            <a:avLst/>
          </a:prstGeom>
          <a:noFill/>
          <a:ln/>
        </p:spPr>
        <p:txBody>
          <a:bodyPr wrap="square" lIns="0" tIns="0" rIns="0" bIns="0" rtlCol="0" anchor="ctr"/>
          <a:lstStyle/>
          <a:p>
            <a:pPr algn="ctr" indent="0" marL="0">
              <a:buNone/>
            </a:pPr>
            <a:r>
              <a:rPr lang="en-US" sz="1400" b="1" dirty="0">
                <a:solidFill>
                  <a:schemeClr val="bg1"/>
                </a:solidFill>
              </a:rPr>
              <a:t>Output</a:t>
            </a:r>
            <a:endParaRPr lang="en-US" sz="1400" dirty="0"/>
          </a:p>
          <a:p>
            <a:pPr algn="ctr" indent="0" marL="0">
              <a:buNone/>
            </a:pPr>
            <a:r>
              <a:rPr lang="en-US" sz="1400" dirty="0">
                <a:solidFill>
                  <a:schemeClr val="bg1"/>
                </a:solidFill>
              </a:rPr>
              <a:t>Direct PAR, diffuse PAR, diffuse fraction</a:t>
            </a:r>
            <a:endParaRPr lang="en-US" sz="1400" dirty="0"/>
          </a:p>
        </p:txBody>
      </p:sp>
      <p:sp>
        <p:nvSpPr>
          <p:cNvPr id="28" name="Sankhla PAR figure card"/>
          <p:cNvSpPr/>
          <p:nvPr/>
        </p:nvSpPr>
        <p:spPr>
          <a:xfrm>
            <a:off x="7818120" y="1280160"/>
            <a:ext cx="3913632" cy="3337560"/>
          </a:xfrm>
          <a:prstGeom prst="roundRect">
            <a:avLst>
              <a:gd name="adj" fmla="val 191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9" name="Sankhla PAR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Punjab: global, direct and diffuse PAR vs AOD (observed, top; SBDART, bottom)</a:t>
            </a:r>
            <a:endParaRPr lang="en-US" sz="1400" dirty="0"/>
          </a:p>
        </p:txBody>
      </p:sp>
      <p:pic>
        <p:nvPicPr>
          <p:cNvPr id="30" name="Sankhla PAR figure" descr="Sankhla PAR figure">    </p:cNvPr>
          <p:cNvPicPr>
            <a:picLocks noChangeAspect="1"/>
          </p:cNvPicPr>
          <p:nvPr/>
        </p:nvPicPr>
        <p:blipFill>
          <a:blip r:embed="rId1"/>
          <a:stretch>
            <a:fillRect/>
          </a:stretch>
        </p:blipFill>
        <p:spPr>
          <a:xfrm>
            <a:off x="7956692" y="1901952"/>
            <a:ext cx="3636488" cy="1828800"/>
          </a:xfrm>
          <a:prstGeom prst="rect">
            <a:avLst/>
          </a:prstGeom>
        </p:spPr>
      </p:pic>
      <p:sp>
        <p:nvSpPr>
          <p:cNvPr id="31" name="Sankhla PAR figure caption"/>
          <p:cNvSpPr txBox="1"/>
          <p:nvPr/>
        </p:nvSpPr>
        <p:spPr>
          <a:xfrm>
            <a:off x="7955280" y="3803904"/>
            <a:ext cx="3639312" cy="457200"/>
          </a:xfrm>
          <a:prstGeom prst="rect">
            <a:avLst/>
          </a:prstGeom>
          <a:noFill/>
          <a:ln/>
        </p:spPr>
        <p:txBody>
          <a:bodyPr wrap="square" lIns="0" tIns="0" rIns="0" bIns="0" rtlCol="0" anchor="t"/>
          <a:lstStyle/>
          <a:p>
            <a:pPr indent="0" marL="0">
              <a:buNone/>
            </a:pPr>
            <a:r>
              <a:rPr lang="en-US" sz="1400" dirty="0">
                <a:solidFill>
                  <a:schemeClr val="tx1"/>
                </a:solidFill>
              </a:rPr>
              <a:t>Direct PAR falls and diffuse PAR rises as AOD increases</a:t>
            </a:r>
            <a:endParaRPr lang="en-US" sz="1400" dirty="0"/>
          </a:p>
        </p:txBody>
      </p:sp>
      <p:sp>
        <p:nvSpPr>
          <p:cNvPr id="32" name="Sankhla PAR figure source"/>
          <p:cNvSpPr txBox="1"/>
          <p:nvPr/>
        </p:nvSpPr>
        <p:spPr>
          <a:xfrm>
            <a:off x="7955280" y="426110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Sankhla et al., preprint, Fig. 3</a:t>
            </a:r>
            <a:endParaRPr lang="en-US" sz="1400" dirty="0"/>
          </a:p>
        </p:txBody>
      </p:sp>
      <p:sp>
        <p:nvSpPr>
          <p:cNvPr id="33" name="Why PAR strip"/>
          <p:cNvSpPr/>
          <p:nvPr/>
        </p:nvSpPr>
        <p:spPr>
          <a:xfrm>
            <a:off x="457200" y="5349240"/>
            <a:ext cx="11274552" cy="777240"/>
          </a:xfrm>
          <a:prstGeom prst="roundRect">
            <a:avLst>
              <a:gd name="adj" fmla="val 7059"/>
            </a:avLst>
          </a:prstGeom>
          <a:solidFill>
            <a:schemeClr val="bg2"/>
          </a:solidFill>
          <a:ln w="12700">
            <a:solidFill>
              <a:schemeClr val="bg2"/>
            </a:solidFill>
            <a:prstDash val="solid"/>
          </a:ln>
        </p:spPr>
      </p:sp>
      <p:sp>
        <p:nvSpPr>
          <p:cNvPr id="34" name="Why PAR strip text"/>
          <p:cNvSpPr txBox="1"/>
          <p:nvPr/>
        </p:nvSpPr>
        <p:spPr>
          <a:xfrm>
            <a:off x="594360" y="534924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Why it matters:</a:t>
            </a:r>
            <a:r>
              <a:rPr lang="en-US" sz="1400" dirty="0">
                <a:solidFill>
                  <a:schemeClr val="tx1"/>
                </a:solidFill>
              </a:rPr>
              <a:t> the diffuse fraction is the variable that links aerosol to canopy light use; models give the mechanism, satellite products give maps, and measured diffuse PAR is needed for validation.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5 · Linking aerosols to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Statistical designs for linking aerosols to productivity</a:t>
            </a:r>
            <a:endParaRPr lang="en-US" sz="2800" dirty="0"/>
          </a:p>
        </p:txBody>
      </p:sp>
      <p:sp>
        <p:nvSpPr>
          <p:cNvPr id="4" name="Design 1"/>
          <p:cNvSpPr/>
          <p:nvPr/>
        </p:nvSpPr>
        <p:spPr>
          <a:xfrm>
            <a:off x="457200" y="128016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Design 1 head"/>
          <p:cNvSpPr/>
          <p:nvPr/>
        </p:nvSpPr>
        <p:spPr>
          <a:xfrm>
            <a:off x="457200" y="1280160"/>
            <a:ext cx="3429000" cy="402336"/>
          </a:xfrm>
          <a:prstGeom prst="roundRect">
            <a:avLst>
              <a:gd name="adj" fmla="val 15909"/>
            </a:avLst>
          </a:prstGeom>
          <a:solidFill>
            <a:schemeClr val="accent1"/>
          </a:solidFill>
          <a:ln w="12700">
            <a:solidFill>
              <a:schemeClr val="accent1"/>
            </a:solidFill>
            <a:prstDash val="solid"/>
          </a:ln>
        </p:spPr>
      </p:sp>
      <p:sp>
        <p:nvSpPr>
          <p:cNvPr id="6" name="Design 1 head text"/>
          <p:cNvSpPr txBox="1"/>
          <p:nvPr/>
        </p:nvSpPr>
        <p:spPr>
          <a:xfrm>
            <a:off x="594360" y="128016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1. AOD binning</a:t>
            </a:r>
            <a:endParaRPr lang="en-US" sz="1400" dirty="0"/>
          </a:p>
        </p:txBody>
      </p:sp>
      <p:sp>
        <p:nvSpPr>
          <p:cNvPr id="7" name="Design 1 text"/>
          <p:cNvSpPr txBox="1"/>
          <p:nvPr/>
        </p:nvSpPr>
        <p:spPr>
          <a:xfrm>
            <a:off x="621792" y="177393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Compare productivity across AOD classes at similar PAR and season</a:t>
            </a:r>
            <a:endParaRPr lang="en-US" sz="1400" dirty="0"/>
          </a:p>
          <a:p>
            <a:pPr indent="0" marL="0">
              <a:buNone/>
            </a:pPr>
            <a:r>
              <a:rPr lang="en-US" sz="1400" i="1" dirty="0">
                <a:solidFill>
                  <a:schemeClr val="accent1"/>
                </a:solidFill>
              </a:rPr>
              <a:t>Niyogi et al., 2004; Zhang et al., 2023</a:t>
            </a:r>
            <a:endParaRPr lang="en-US" sz="1400" dirty="0"/>
          </a:p>
        </p:txBody>
      </p:sp>
      <p:sp>
        <p:nvSpPr>
          <p:cNvPr id="8" name="Design 2"/>
          <p:cNvSpPr/>
          <p:nvPr/>
        </p:nvSpPr>
        <p:spPr>
          <a:xfrm>
            <a:off x="4069080" y="128016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Design 2 head"/>
          <p:cNvSpPr/>
          <p:nvPr/>
        </p:nvSpPr>
        <p:spPr>
          <a:xfrm>
            <a:off x="4069080" y="1280160"/>
            <a:ext cx="3429000" cy="402336"/>
          </a:xfrm>
          <a:prstGeom prst="roundRect">
            <a:avLst>
              <a:gd name="adj" fmla="val 15909"/>
            </a:avLst>
          </a:prstGeom>
          <a:solidFill>
            <a:schemeClr val="accent2"/>
          </a:solidFill>
          <a:ln w="12700">
            <a:solidFill>
              <a:schemeClr val="accent2"/>
            </a:solidFill>
            <a:prstDash val="solid"/>
          </a:ln>
        </p:spPr>
      </p:sp>
      <p:sp>
        <p:nvSpPr>
          <p:cNvPr id="10" name="Design 2 head text"/>
          <p:cNvSpPr txBox="1"/>
          <p:nvPr/>
        </p:nvSpPr>
        <p:spPr>
          <a:xfrm>
            <a:off x="4206240" y="128016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2. Regression</a:t>
            </a:r>
            <a:endParaRPr lang="en-US" sz="1400" dirty="0"/>
          </a:p>
        </p:txBody>
      </p:sp>
      <p:sp>
        <p:nvSpPr>
          <p:cNvPr id="11" name="Design 2 text"/>
          <p:cNvSpPr txBox="1"/>
          <p:nvPr/>
        </p:nvSpPr>
        <p:spPr>
          <a:xfrm>
            <a:off x="4233672" y="177393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Productivity ~ AOD + temperature + rain + soil moisture + FAPAR</a:t>
            </a:r>
            <a:endParaRPr lang="en-US" sz="1400" dirty="0"/>
          </a:p>
          <a:p>
            <a:pPr indent="0" marL="0">
              <a:buNone/>
            </a:pPr>
            <a:r>
              <a:rPr lang="en-US" sz="1400" i="1" dirty="0">
                <a:solidFill>
                  <a:schemeClr val="accent1"/>
                </a:solidFill>
              </a:rPr>
              <a:t>Liu &amp; Desai, 2021; Gupta et al., 2024</a:t>
            </a:r>
            <a:endParaRPr lang="en-US" sz="1400" dirty="0"/>
          </a:p>
        </p:txBody>
      </p:sp>
      <p:sp>
        <p:nvSpPr>
          <p:cNvPr id="12" name="Design 3"/>
          <p:cNvSpPr/>
          <p:nvPr/>
        </p:nvSpPr>
        <p:spPr>
          <a:xfrm>
            <a:off x="457200" y="315468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Design 3 head"/>
          <p:cNvSpPr/>
          <p:nvPr/>
        </p:nvSpPr>
        <p:spPr>
          <a:xfrm>
            <a:off x="457200" y="3154680"/>
            <a:ext cx="3429000" cy="402336"/>
          </a:xfrm>
          <a:prstGeom prst="roundRect">
            <a:avLst>
              <a:gd name="adj" fmla="val 15909"/>
            </a:avLst>
          </a:prstGeom>
          <a:solidFill>
            <a:schemeClr val="accent3"/>
          </a:solidFill>
          <a:ln w="12700">
            <a:solidFill>
              <a:schemeClr val="accent3"/>
            </a:solidFill>
            <a:prstDash val="solid"/>
          </a:ln>
        </p:spPr>
      </p:sp>
      <p:sp>
        <p:nvSpPr>
          <p:cNvPr id="14" name="Design 3 head text"/>
          <p:cNvSpPr txBox="1"/>
          <p:nvPr/>
        </p:nvSpPr>
        <p:spPr>
          <a:xfrm>
            <a:off x="594360" y="315468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3. Relative sensitivity</a:t>
            </a:r>
            <a:endParaRPr lang="en-US" sz="1400" dirty="0"/>
          </a:p>
        </p:txBody>
      </p:sp>
      <p:sp>
        <p:nvSpPr>
          <p:cNvPr id="15" name="Design 3 text"/>
          <p:cNvSpPr txBox="1"/>
          <p:nvPr/>
        </p:nvSpPr>
        <p:spPr>
          <a:xfrm>
            <a:off x="621792" y="364845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Slope of NPP on AOD within 0.1 AOD bins, scaled by its error</a:t>
            </a:r>
            <a:endParaRPr lang="en-US" sz="1400" dirty="0"/>
          </a:p>
          <a:p>
            <a:pPr indent="0" marL="0">
              <a:buNone/>
            </a:pPr>
            <a:r>
              <a:rPr lang="en-US" sz="1400" i="1" dirty="0">
                <a:solidFill>
                  <a:schemeClr val="accent1"/>
                </a:solidFill>
              </a:rPr>
              <a:t>Hari &amp; Tyagi, 2022</a:t>
            </a:r>
            <a:endParaRPr lang="en-US" sz="1400" dirty="0"/>
          </a:p>
        </p:txBody>
      </p:sp>
      <p:sp>
        <p:nvSpPr>
          <p:cNvPr id="16" name="Design 4"/>
          <p:cNvSpPr/>
          <p:nvPr/>
        </p:nvSpPr>
        <p:spPr>
          <a:xfrm>
            <a:off x="4069080" y="3154680"/>
            <a:ext cx="3429000" cy="1691640"/>
          </a:xfrm>
          <a:prstGeom prst="roundRect">
            <a:avLst>
              <a:gd name="adj" fmla="val 37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Design 4 head"/>
          <p:cNvSpPr/>
          <p:nvPr/>
        </p:nvSpPr>
        <p:spPr>
          <a:xfrm>
            <a:off x="4069080" y="3154680"/>
            <a:ext cx="3429000" cy="402336"/>
          </a:xfrm>
          <a:prstGeom prst="roundRect">
            <a:avLst>
              <a:gd name="adj" fmla="val 15909"/>
            </a:avLst>
          </a:prstGeom>
          <a:solidFill>
            <a:schemeClr val="accent6"/>
          </a:solidFill>
          <a:ln w="12700">
            <a:solidFill>
              <a:schemeClr val="accent6"/>
            </a:solidFill>
            <a:prstDash val="solid"/>
          </a:ln>
        </p:spPr>
      </p:sp>
      <p:sp>
        <p:nvSpPr>
          <p:cNvPr id="18" name="Design 4 head text"/>
          <p:cNvSpPr txBox="1"/>
          <p:nvPr/>
        </p:nvSpPr>
        <p:spPr>
          <a:xfrm>
            <a:off x="4206240" y="3154680"/>
            <a:ext cx="3154680" cy="402336"/>
          </a:xfrm>
          <a:prstGeom prst="rect">
            <a:avLst/>
          </a:prstGeom>
          <a:noFill/>
          <a:ln/>
        </p:spPr>
        <p:txBody>
          <a:bodyPr wrap="square" lIns="0" tIns="0" rIns="0" bIns="0" rtlCol="0" anchor="ctr"/>
          <a:lstStyle/>
          <a:p>
            <a:pPr indent="0" marL="0">
              <a:buNone/>
            </a:pPr>
            <a:r>
              <a:rPr lang="en-US" sz="1400" b="1" dirty="0">
                <a:solidFill>
                  <a:schemeClr val="bg1"/>
                </a:solidFill>
              </a:rPr>
              <a:t>4. Causal path models (SEM)</a:t>
            </a:r>
            <a:endParaRPr lang="en-US" sz="1400" dirty="0"/>
          </a:p>
        </p:txBody>
      </p:sp>
      <p:sp>
        <p:nvSpPr>
          <p:cNvPr id="19" name="Design 4 text"/>
          <p:cNvSpPr txBox="1"/>
          <p:nvPr/>
        </p:nvSpPr>
        <p:spPr>
          <a:xfrm>
            <a:off x="4233672" y="3648456"/>
            <a:ext cx="3099816" cy="11247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Separate light, temperature, VPD and soil-moisture routes</a:t>
            </a:r>
            <a:endParaRPr lang="en-US" sz="1400" dirty="0"/>
          </a:p>
          <a:p>
            <a:pPr indent="0" marL="0">
              <a:buNone/>
            </a:pPr>
            <a:r>
              <a:rPr lang="en-US" sz="1400" i="1" dirty="0">
                <a:solidFill>
                  <a:schemeClr val="accent1"/>
                </a:solidFill>
              </a:rPr>
              <a:t>He et al., 2023</a:t>
            </a:r>
            <a:endParaRPr lang="en-US" sz="1400" dirty="0"/>
          </a:p>
        </p:txBody>
      </p:sp>
      <p:sp>
        <p:nvSpPr>
          <p:cNvPr id="20" name="SEM figure card"/>
          <p:cNvSpPr/>
          <p:nvPr/>
        </p:nvSpPr>
        <p:spPr>
          <a:xfrm>
            <a:off x="7635240" y="1280160"/>
            <a:ext cx="4096512" cy="3886200"/>
          </a:xfrm>
          <a:prstGeom prst="roundRect">
            <a:avLst>
              <a:gd name="adj" fmla="val 164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SEM figure title"/>
          <p:cNvSpPr txBox="1"/>
          <p:nvPr/>
        </p:nvSpPr>
        <p:spPr>
          <a:xfrm>
            <a:off x="7772400" y="1371600"/>
            <a:ext cx="3822192" cy="301752"/>
          </a:xfrm>
          <a:prstGeom prst="rect">
            <a:avLst/>
          </a:prstGeom>
          <a:noFill/>
          <a:ln/>
        </p:spPr>
        <p:txBody>
          <a:bodyPr wrap="square" lIns="0" tIns="0" rIns="0" bIns="0" rtlCol="0" anchor="t"/>
          <a:lstStyle/>
          <a:p>
            <a:pPr indent="0" marL="0">
              <a:buNone/>
            </a:pPr>
            <a:r>
              <a:rPr lang="en-US" sz="1400" b="1" dirty="0">
                <a:solidFill>
                  <a:schemeClr val="tx2"/>
                </a:solidFill>
              </a:rPr>
              <a:t>Europe: causal paths from AOD to SIF</a:t>
            </a:r>
            <a:endParaRPr lang="en-US" sz="1400" dirty="0"/>
          </a:p>
        </p:txBody>
      </p:sp>
      <p:pic>
        <p:nvPicPr>
          <p:cNvPr id="22" name="SEM figure" descr="SEM figure">    </p:cNvPr>
          <p:cNvPicPr>
            <a:picLocks noChangeAspect="1"/>
          </p:cNvPicPr>
          <p:nvPr/>
        </p:nvPicPr>
        <p:blipFill>
          <a:blip r:embed="rId1"/>
          <a:stretch>
            <a:fillRect/>
          </a:stretch>
        </p:blipFill>
        <p:spPr>
          <a:xfrm>
            <a:off x="7883534" y="1673352"/>
            <a:ext cx="3599924" cy="2834640"/>
          </a:xfrm>
          <a:prstGeom prst="rect">
            <a:avLst/>
          </a:prstGeom>
        </p:spPr>
      </p:pic>
      <p:sp>
        <p:nvSpPr>
          <p:cNvPr id="23" name="SEM figure caption"/>
          <p:cNvSpPr txBox="1"/>
          <p:nvPr/>
        </p:nvSpPr>
        <p:spPr>
          <a:xfrm>
            <a:off x="7772400" y="4581144"/>
            <a:ext cx="3822192" cy="228600"/>
          </a:xfrm>
          <a:prstGeom prst="rect">
            <a:avLst/>
          </a:prstGeom>
          <a:noFill/>
          <a:ln/>
        </p:spPr>
        <p:txBody>
          <a:bodyPr wrap="square" lIns="0" tIns="0" rIns="0" bIns="0" rtlCol="0" anchor="t"/>
          <a:lstStyle/>
          <a:p>
            <a:pPr indent="0" marL="0">
              <a:buNone/>
            </a:pPr>
            <a:r>
              <a:rPr lang="en-US" sz="1400" dirty="0">
                <a:solidFill>
                  <a:schemeClr val="tx1"/>
                </a:solidFill>
              </a:rPr>
              <a:t>AOD → APAR (−0.52) → SIF: dimming dominates</a:t>
            </a:r>
            <a:endParaRPr lang="en-US" sz="1400" dirty="0"/>
          </a:p>
        </p:txBody>
      </p:sp>
      <p:sp>
        <p:nvSpPr>
          <p:cNvPr id="24" name="SEM figure source"/>
          <p:cNvSpPr txBox="1"/>
          <p:nvPr/>
        </p:nvSpPr>
        <p:spPr>
          <a:xfrm>
            <a:off x="7772400" y="4809744"/>
            <a:ext cx="3822192" cy="246888"/>
          </a:xfrm>
          <a:prstGeom prst="rect">
            <a:avLst/>
          </a:prstGeom>
          <a:noFill/>
          <a:ln/>
        </p:spPr>
        <p:txBody>
          <a:bodyPr wrap="square" lIns="0" tIns="0" rIns="0" bIns="0" rtlCol="0" anchor="t"/>
          <a:lstStyle/>
          <a:p>
            <a:pPr indent="0" marL="0">
              <a:buNone/>
            </a:pPr>
            <a:r>
              <a:rPr lang="en-US" sz="1400" i="1" dirty="0">
                <a:solidFill>
                  <a:schemeClr val="accent1"/>
                </a:solidFill>
              </a:rPr>
              <a:t>Source: He et al., 2023, Fig. 2</a:t>
            </a:r>
            <a:endParaRPr lang="en-US" sz="1400" dirty="0"/>
          </a:p>
        </p:txBody>
      </p:sp>
      <p:sp>
        <p:nvSpPr>
          <p:cNvPr id="25" name="Attribution strip"/>
          <p:cNvSpPr/>
          <p:nvPr/>
        </p:nvSpPr>
        <p:spPr>
          <a:xfrm>
            <a:off x="457200" y="5257800"/>
            <a:ext cx="11274552" cy="777240"/>
          </a:xfrm>
          <a:prstGeom prst="roundRect">
            <a:avLst>
              <a:gd name="adj" fmla="val 7059"/>
            </a:avLst>
          </a:prstGeom>
          <a:solidFill>
            <a:schemeClr val="bg2"/>
          </a:solidFill>
          <a:ln w="12700">
            <a:solidFill>
              <a:schemeClr val="bg2"/>
            </a:solidFill>
            <a:prstDash val="solid"/>
          </a:ln>
        </p:spPr>
      </p:sp>
      <p:sp>
        <p:nvSpPr>
          <p:cNvPr id="26" name="Attribution strip text"/>
          <p:cNvSpPr txBox="1"/>
          <p:nvPr/>
        </p:nvSpPr>
        <p:spPr>
          <a:xfrm>
            <a:off x="594360" y="525780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Correlation is not attribution:</a:t>
            </a:r>
            <a:r>
              <a:rPr lang="en-US" sz="1400" dirty="0">
                <a:solidFill>
                  <a:schemeClr val="tx1"/>
                </a:solidFill>
              </a:rPr>
              <a:t> each design must remove the effects of weather, season, ozone and technology that change together with aerosol.</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5 · Linking aerosols to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Natural experiments: when aerosol switches on or off</a:t>
            </a:r>
            <a:endParaRPr lang="en-US" sz="2800" dirty="0"/>
          </a:p>
        </p:txBody>
      </p:sp>
      <p:sp>
        <p:nvSpPr>
          <p:cNvPr id="4" name="Experiment 1 card"/>
          <p:cNvSpPr/>
          <p:nvPr/>
        </p:nvSpPr>
        <p:spPr>
          <a:xfrm>
            <a:off x="457200"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Experiment 1 text"/>
          <p:cNvSpPr txBox="1"/>
          <p:nvPr/>
        </p:nvSpPr>
        <p:spPr>
          <a:xfrm>
            <a:off x="566928"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3"/>
                </a:solidFill>
              </a:rPr>
              <a:t>+16.5%</a:t>
            </a:r>
            <a:endParaRPr lang="en-US" sz="2600" dirty="0"/>
          </a:p>
          <a:p>
            <a:pPr algn="ctr" indent="0" marL="0">
              <a:buNone/>
            </a:pPr>
            <a:r>
              <a:rPr lang="en-US" sz="1400" dirty="0">
                <a:solidFill>
                  <a:schemeClr val="tx1"/>
                </a:solidFill>
              </a:rPr>
              <a:t>winter-wheat GPP when AOD fell 23.8% (Hubei lockdown, 2020)</a:t>
            </a:r>
            <a:endParaRPr lang="en-US" sz="2600" dirty="0"/>
          </a:p>
          <a:p>
            <a:pPr algn="ctr" indent="0" marL="0">
              <a:buNone/>
            </a:pPr>
            <a:r>
              <a:rPr lang="en-US" sz="1400" i="1" dirty="0">
                <a:solidFill>
                  <a:schemeClr val="accent1"/>
                </a:solidFill>
              </a:rPr>
              <a:t>Bai et al., 2022</a:t>
            </a:r>
            <a:endParaRPr lang="en-US" sz="2600" dirty="0"/>
          </a:p>
        </p:txBody>
      </p:sp>
      <p:sp>
        <p:nvSpPr>
          <p:cNvPr id="6" name="Experiment 2 card"/>
          <p:cNvSpPr/>
          <p:nvPr/>
        </p:nvSpPr>
        <p:spPr>
          <a:xfrm>
            <a:off x="3321558"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Experiment 2 text"/>
          <p:cNvSpPr txBox="1"/>
          <p:nvPr/>
        </p:nvSpPr>
        <p:spPr>
          <a:xfrm>
            <a:off x="3431286"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3"/>
                </a:solidFill>
              </a:rPr>
              <a:t>+5%</a:t>
            </a:r>
            <a:endParaRPr lang="en-US" sz="2600" dirty="0"/>
          </a:p>
          <a:p>
            <a:pPr algn="ctr" indent="0" marL="0">
              <a:buNone/>
            </a:pPr>
            <a:r>
              <a:rPr lang="en-US" sz="1400" dirty="0">
                <a:solidFill>
                  <a:schemeClr val="tx1"/>
                </a:solidFill>
              </a:rPr>
              <a:t>rice GPP and NPP when AOD fell ~30% (NE China lockdown)</a:t>
            </a:r>
            <a:endParaRPr lang="en-US" sz="2600" dirty="0"/>
          </a:p>
          <a:p>
            <a:pPr algn="ctr" indent="0" marL="0">
              <a:buNone/>
            </a:pPr>
            <a:r>
              <a:rPr lang="en-US" sz="1400" i="1" dirty="0">
                <a:solidFill>
                  <a:schemeClr val="accent1"/>
                </a:solidFill>
              </a:rPr>
              <a:t>de Oliveira et al., 2025</a:t>
            </a:r>
            <a:endParaRPr lang="en-US" sz="2600" dirty="0"/>
          </a:p>
        </p:txBody>
      </p:sp>
      <p:sp>
        <p:nvSpPr>
          <p:cNvPr id="8" name="Experiment 3 card"/>
          <p:cNvSpPr/>
          <p:nvPr/>
        </p:nvSpPr>
        <p:spPr>
          <a:xfrm>
            <a:off x="6185916"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Experiment 3 text"/>
          <p:cNvSpPr txBox="1"/>
          <p:nvPr/>
        </p:nvSpPr>
        <p:spPr>
          <a:xfrm>
            <a:off x="6295644"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1"/>
                </a:solidFill>
              </a:rPr>
              <a:t>64%</a:t>
            </a:r>
            <a:endParaRPr lang="en-US" sz="2600" dirty="0"/>
          </a:p>
          <a:p>
            <a:pPr algn="ctr" indent="0" marL="0">
              <a:buNone/>
            </a:pPr>
            <a:r>
              <a:rPr lang="en-US" sz="1400" dirty="0">
                <a:solidFill>
                  <a:schemeClr val="tx1"/>
                </a:solidFill>
              </a:rPr>
              <a:t>of European regions with higher SIF at low-AOD weekends</a:t>
            </a:r>
            <a:endParaRPr lang="en-US" sz="2600" dirty="0"/>
          </a:p>
          <a:p>
            <a:pPr algn="ctr" indent="0" marL="0">
              <a:buNone/>
            </a:pPr>
            <a:r>
              <a:rPr lang="en-US" sz="1400" i="1" dirty="0">
                <a:solidFill>
                  <a:schemeClr val="accent1"/>
                </a:solidFill>
              </a:rPr>
              <a:t>He et al., 2023</a:t>
            </a:r>
            <a:endParaRPr lang="en-US" sz="2600" dirty="0"/>
          </a:p>
        </p:txBody>
      </p:sp>
      <p:sp>
        <p:nvSpPr>
          <p:cNvPr id="10" name="Experiment 4 card"/>
          <p:cNvSpPr/>
          <p:nvPr/>
        </p:nvSpPr>
        <p:spPr>
          <a:xfrm>
            <a:off x="9050274" y="1280160"/>
            <a:ext cx="2681478"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Experiment 4 text"/>
          <p:cNvSpPr txBox="1"/>
          <p:nvPr/>
        </p:nvSpPr>
        <p:spPr>
          <a:xfrm>
            <a:off x="9160002" y="1325880"/>
            <a:ext cx="2462022" cy="1508760"/>
          </a:xfrm>
          <a:prstGeom prst="rect">
            <a:avLst/>
          </a:prstGeom>
          <a:noFill/>
          <a:ln/>
        </p:spPr>
        <p:txBody>
          <a:bodyPr wrap="square" lIns="0" tIns="0" rIns="0" bIns="0" rtlCol="0" anchor="ctr"/>
          <a:lstStyle/>
          <a:p>
            <a:pPr algn="ctr" indent="0" marL="0">
              <a:buNone/>
            </a:pPr>
            <a:r>
              <a:rPr lang="en-US" sz="2600" b="1" dirty="0">
                <a:solidFill>
                  <a:schemeClr val="accent5"/>
                </a:solidFill>
              </a:rPr>
              <a:t>−9%</a:t>
            </a:r>
            <a:endParaRPr lang="en-US" sz="2600" dirty="0"/>
          </a:p>
          <a:p>
            <a:pPr algn="ctr" indent="0" marL="0">
              <a:buNone/>
            </a:pPr>
            <a:r>
              <a:rPr lang="en-US" sz="1400" dirty="0">
                <a:solidFill>
                  <a:schemeClr val="tx1"/>
                </a:solidFill>
              </a:rPr>
              <a:t>global maize yield after volcanic dimming (soy, rice, wheat about −5%)</a:t>
            </a:r>
            <a:endParaRPr lang="en-US" sz="2600" dirty="0"/>
          </a:p>
          <a:p>
            <a:pPr algn="ctr" indent="0" marL="0">
              <a:buNone/>
            </a:pPr>
            <a:r>
              <a:rPr lang="en-US" sz="1400" i="1" dirty="0">
                <a:solidFill>
                  <a:schemeClr val="accent1"/>
                </a:solidFill>
              </a:rPr>
              <a:t>Proctor et al., 2018</a:t>
            </a:r>
            <a:endParaRPr lang="en-US" sz="2600" dirty="0"/>
          </a:p>
        </p:txBody>
      </p:sp>
      <p:sp>
        <p:nvSpPr>
          <p:cNvPr id="12" name="Lockdown figure card"/>
          <p:cNvSpPr/>
          <p:nvPr/>
        </p:nvSpPr>
        <p:spPr>
          <a:xfrm>
            <a:off x="457200" y="3063240"/>
            <a:ext cx="5120640" cy="2965109"/>
          </a:xfrm>
          <a:prstGeom prst="roundRect">
            <a:avLst>
              <a:gd name="adj" fmla="val 215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Lockdown figure title"/>
          <p:cNvSpPr txBox="1"/>
          <p:nvPr/>
        </p:nvSpPr>
        <p:spPr>
          <a:xfrm>
            <a:off x="594360" y="3154680"/>
            <a:ext cx="4846320" cy="530352"/>
          </a:xfrm>
          <a:prstGeom prst="rect">
            <a:avLst/>
          </a:prstGeom>
          <a:noFill/>
          <a:ln/>
        </p:spPr>
        <p:txBody>
          <a:bodyPr wrap="square" lIns="0" tIns="0" rIns="0" bIns="0" rtlCol="0" anchor="t"/>
          <a:lstStyle/>
          <a:p>
            <a:pPr indent="0" marL="0">
              <a:buNone/>
            </a:pPr>
            <a:r>
              <a:rPr lang="en-US" sz="1400" b="1" dirty="0">
                <a:solidFill>
                  <a:schemeClr val="tx2"/>
                </a:solidFill>
              </a:rPr>
              <a:t>Hubei lockdown: % change in AOD (a), WUE (b), GOSIF GPP (c), FLUXSAT GPP (d)</a:t>
            </a:r>
            <a:endParaRPr lang="en-US" sz="1400" dirty="0"/>
          </a:p>
        </p:txBody>
      </p:sp>
      <p:pic>
        <p:nvPicPr>
          <p:cNvPr id="14" name="Lockdown figure" descr="Lockdown figure">    </p:cNvPr>
          <p:cNvPicPr>
            <a:picLocks noChangeAspect="1"/>
          </p:cNvPicPr>
          <p:nvPr/>
        </p:nvPicPr>
        <p:blipFill>
          <a:blip r:embed="rId1"/>
          <a:stretch>
            <a:fillRect/>
          </a:stretch>
        </p:blipFill>
        <p:spPr>
          <a:xfrm>
            <a:off x="1828800" y="3685032"/>
            <a:ext cx="2377440" cy="1913549"/>
          </a:xfrm>
          <a:prstGeom prst="rect">
            <a:avLst/>
          </a:prstGeom>
        </p:spPr>
      </p:pic>
      <p:sp>
        <p:nvSpPr>
          <p:cNvPr id="15" name="Lockdown figure source"/>
          <p:cNvSpPr txBox="1"/>
          <p:nvPr/>
        </p:nvSpPr>
        <p:spPr>
          <a:xfrm>
            <a:off x="594360" y="5671733"/>
            <a:ext cx="4846320" cy="246888"/>
          </a:xfrm>
          <a:prstGeom prst="rect">
            <a:avLst/>
          </a:prstGeom>
          <a:noFill/>
          <a:ln/>
        </p:spPr>
        <p:txBody>
          <a:bodyPr wrap="square" lIns="0" tIns="0" rIns="0" bIns="0" rtlCol="0" anchor="t"/>
          <a:lstStyle/>
          <a:p>
            <a:pPr indent="0" marL="0">
              <a:buNone/>
            </a:pPr>
            <a:r>
              <a:rPr lang="en-US" sz="1400" i="1" dirty="0">
                <a:solidFill>
                  <a:schemeClr val="accent1"/>
                </a:solidFill>
              </a:rPr>
              <a:t>Source: Bai et al., 2022, Fig. 4</a:t>
            </a:r>
            <a:endParaRPr lang="en-US" sz="1400" dirty="0"/>
          </a:p>
        </p:txBody>
      </p:sp>
      <p:sp>
        <p:nvSpPr>
          <p:cNvPr id="16" name="Weekend figure card"/>
          <p:cNvSpPr/>
          <p:nvPr/>
        </p:nvSpPr>
        <p:spPr>
          <a:xfrm>
            <a:off x="5806440" y="3063240"/>
            <a:ext cx="5925312" cy="3049966"/>
          </a:xfrm>
          <a:prstGeom prst="roundRect">
            <a:avLst>
              <a:gd name="adj" fmla="val 209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Weekend figure title"/>
          <p:cNvSpPr txBox="1"/>
          <p:nvPr/>
        </p:nvSpPr>
        <p:spPr>
          <a:xfrm>
            <a:off x="5943600" y="3154680"/>
            <a:ext cx="5650992" cy="301752"/>
          </a:xfrm>
          <a:prstGeom prst="rect">
            <a:avLst/>
          </a:prstGeom>
          <a:noFill/>
          <a:ln/>
        </p:spPr>
        <p:txBody>
          <a:bodyPr wrap="square" lIns="0" tIns="0" rIns="0" bIns="0" rtlCol="0" anchor="t"/>
          <a:lstStyle/>
          <a:p>
            <a:pPr indent="0" marL="0">
              <a:buNone/>
            </a:pPr>
            <a:r>
              <a:rPr lang="en-US" sz="1400" b="1" dirty="0">
                <a:solidFill>
                  <a:schemeClr val="tx2"/>
                </a:solidFill>
              </a:rPr>
              <a:t>Weekend minus weekday: SIF (A), AOD (B), APAR (C)</a:t>
            </a:r>
            <a:endParaRPr lang="en-US" sz="1400" dirty="0"/>
          </a:p>
        </p:txBody>
      </p:sp>
      <p:pic>
        <p:nvPicPr>
          <p:cNvPr id="18" name="Weekend figure" descr="Weekend figure">    </p:cNvPr>
          <p:cNvPicPr>
            <a:picLocks noChangeAspect="1"/>
          </p:cNvPicPr>
          <p:nvPr/>
        </p:nvPicPr>
        <p:blipFill>
          <a:blip r:embed="rId2"/>
          <a:stretch>
            <a:fillRect/>
          </a:stretch>
        </p:blipFill>
        <p:spPr>
          <a:xfrm>
            <a:off x="7054596" y="3456432"/>
            <a:ext cx="3429000" cy="2227006"/>
          </a:xfrm>
          <a:prstGeom prst="rect">
            <a:avLst/>
          </a:prstGeom>
        </p:spPr>
      </p:pic>
      <p:sp>
        <p:nvSpPr>
          <p:cNvPr id="19" name="Weekend figure source"/>
          <p:cNvSpPr txBox="1"/>
          <p:nvPr/>
        </p:nvSpPr>
        <p:spPr>
          <a:xfrm>
            <a:off x="5943600" y="5756590"/>
            <a:ext cx="5650992" cy="246888"/>
          </a:xfrm>
          <a:prstGeom prst="rect">
            <a:avLst/>
          </a:prstGeom>
          <a:noFill/>
          <a:ln/>
        </p:spPr>
        <p:txBody>
          <a:bodyPr wrap="square" lIns="0" tIns="0" rIns="0" bIns="0" rtlCol="0" anchor="t"/>
          <a:lstStyle/>
          <a:p>
            <a:pPr indent="0" marL="0">
              <a:buNone/>
            </a:pPr>
            <a:r>
              <a:rPr lang="en-US" sz="1400" i="1" dirty="0">
                <a:solidFill>
                  <a:schemeClr val="accent1"/>
                </a:solidFill>
              </a:rPr>
              <a:t>Source: He et al., 2023, Fig. 1</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Water-cycle route: evapotranspiration and water-use efficiency</a:t>
            </a:r>
            <a:endParaRPr lang="en-US" sz="2800" dirty="0"/>
          </a:p>
        </p:txBody>
      </p:sp>
      <p:sp>
        <p:nvSpPr>
          <p:cNvPr id="4" name="Latha figure card"/>
          <p:cNvSpPr/>
          <p:nvPr/>
        </p:nvSpPr>
        <p:spPr>
          <a:xfrm>
            <a:off x="457200" y="1280160"/>
            <a:ext cx="4846320" cy="4023360"/>
          </a:xfrm>
          <a:prstGeom prst="roundRect">
            <a:avLst>
              <a:gd name="adj" fmla="val 159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Latha figure title"/>
          <p:cNvSpPr txBox="1"/>
          <p:nvPr/>
        </p:nvSpPr>
        <p:spPr>
          <a:xfrm>
            <a:off x="594360" y="1371600"/>
            <a:ext cx="4572000" cy="530352"/>
          </a:xfrm>
          <a:prstGeom prst="rect">
            <a:avLst/>
          </a:prstGeom>
          <a:noFill/>
          <a:ln/>
        </p:spPr>
        <p:txBody>
          <a:bodyPr wrap="square" lIns="0" tIns="0" rIns="0" bIns="0" rtlCol="0" anchor="t"/>
          <a:lstStyle/>
          <a:p>
            <a:pPr indent="0" marL="0">
              <a:buNone/>
            </a:pPr>
            <a:r>
              <a:rPr lang="en-US" sz="1400" b="1" dirty="0">
                <a:solidFill>
                  <a:schemeClr val="tx2"/>
                </a:solidFill>
              </a:rPr>
              <a:t>Dibrugarh, Assam: monthly ET (left) and NDVI (right) vs AOD</a:t>
            </a:r>
            <a:endParaRPr lang="en-US" sz="1400" dirty="0"/>
          </a:p>
        </p:txBody>
      </p:sp>
      <p:pic>
        <p:nvPicPr>
          <p:cNvPr id="6" name="Latha figure" descr="Latha figure">    </p:cNvPr>
          <p:cNvPicPr>
            <a:picLocks noChangeAspect="1"/>
          </p:cNvPicPr>
          <p:nvPr/>
        </p:nvPicPr>
        <p:blipFill>
          <a:blip r:embed="rId1"/>
          <a:stretch>
            <a:fillRect/>
          </a:stretch>
        </p:blipFill>
        <p:spPr>
          <a:xfrm>
            <a:off x="1005754" y="1901952"/>
            <a:ext cx="3749213" cy="2743200"/>
          </a:xfrm>
          <a:prstGeom prst="rect">
            <a:avLst/>
          </a:prstGeom>
        </p:spPr>
      </p:pic>
      <p:sp>
        <p:nvSpPr>
          <p:cNvPr id="7" name="Latha figure caption"/>
          <p:cNvSpPr txBox="1"/>
          <p:nvPr/>
        </p:nvSpPr>
        <p:spPr>
          <a:xfrm>
            <a:off x="594360" y="4718304"/>
            <a:ext cx="4572000" cy="228600"/>
          </a:xfrm>
          <a:prstGeom prst="rect">
            <a:avLst/>
          </a:prstGeom>
          <a:noFill/>
          <a:ln/>
        </p:spPr>
        <p:txBody>
          <a:bodyPr wrap="square" lIns="0" tIns="0" rIns="0" bIns="0" rtlCol="0" anchor="t"/>
          <a:lstStyle/>
          <a:p>
            <a:pPr indent="0" marL="0">
              <a:buNone/>
            </a:pPr>
            <a:r>
              <a:rPr lang="en-US" sz="1400" dirty="0">
                <a:solidFill>
                  <a:schemeClr val="tx1"/>
                </a:solidFill>
              </a:rPr>
              <a:t>ET and NDVI both fall as AOD rises over a dense tea canopy</a:t>
            </a:r>
            <a:endParaRPr lang="en-US" sz="1400" dirty="0"/>
          </a:p>
        </p:txBody>
      </p:sp>
      <p:sp>
        <p:nvSpPr>
          <p:cNvPr id="8" name="Latha figure source"/>
          <p:cNvSpPr txBox="1"/>
          <p:nvPr/>
        </p:nvSpPr>
        <p:spPr>
          <a:xfrm>
            <a:off x="594360" y="4946904"/>
            <a:ext cx="4572000" cy="246888"/>
          </a:xfrm>
          <a:prstGeom prst="rect">
            <a:avLst/>
          </a:prstGeom>
          <a:noFill/>
          <a:ln/>
        </p:spPr>
        <p:txBody>
          <a:bodyPr wrap="square" lIns="0" tIns="0" rIns="0" bIns="0" rtlCol="0" anchor="t"/>
          <a:lstStyle/>
          <a:p>
            <a:pPr indent="0" marL="0">
              <a:buNone/>
            </a:pPr>
            <a:r>
              <a:rPr lang="en-US" sz="1400" i="1" dirty="0">
                <a:solidFill>
                  <a:schemeClr val="accent1"/>
                </a:solidFill>
              </a:rPr>
              <a:t>Source: Latha et al., 2018, Fig. 5</a:t>
            </a:r>
            <a:endParaRPr lang="en-US" sz="1400" dirty="0"/>
          </a:p>
        </p:txBody>
      </p:sp>
      <p:sp>
        <p:nvSpPr>
          <p:cNvPr id="9" name="Water item 1"/>
          <p:cNvSpPr/>
          <p:nvPr/>
        </p:nvSpPr>
        <p:spPr>
          <a:xfrm>
            <a:off x="5532120" y="1280160"/>
            <a:ext cx="6199632" cy="1261872"/>
          </a:xfrm>
          <a:prstGeom prst="roundRect">
            <a:avLst>
              <a:gd name="adj" fmla="val 507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Water item 1 head"/>
          <p:cNvSpPr/>
          <p:nvPr/>
        </p:nvSpPr>
        <p:spPr>
          <a:xfrm>
            <a:off x="5532120" y="1280160"/>
            <a:ext cx="6199632" cy="402336"/>
          </a:xfrm>
          <a:prstGeom prst="roundRect">
            <a:avLst>
              <a:gd name="adj" fmla="val 15909"/>
            </a:avLst>
          </a:prstGeom>
          <a:solidFill>
            <a:schemeClr val="accent1"/>
          </a:solidFill>
          <a:ln w="12700">
            <a:solidFill>
              <a:schemeClr val="accent1"/>
            </a:solidFill>
            <a:prstDash val="solid"/>
          </a:ln>
        </p:spPr>
      </p:sp>
      <p:sp>
        <p:nvSpPr>
          <p:cNvPr id="11" name="Water item 1 head text"/>
          <p:cNvSpPr txBox="1"/>
          <p:nvPr/>
        </p:nvSpPr>
        <p:spPr>
          <a:xfrm>
            <a:off x="5669280" y="1280160"/>
            <a:ext cx="5925312" cy="402336"/>
          </a:xfrm>
          <a:prstGeom prst="rect">
            <a:avLst/>
          </a:prstGeom>
          <a:noFill/>
          <a:ln/>
        </p:spPr>
        <p:txBody>
          <a:bodyPr wrap="square" lIns="0" tIns="0" rIns="0" bIns="0" rtlCol="0" anchor="ctr"/>
          <a:lstStyle/>
          <a:p>
            <a:pPr indent="0" marL="0">
              <a:buNone/>
            </a:pPr>
            <a:r>
              <a:rPr lang="en-US" sz="1400" b="1" dirty="0">
                <a:solidFill>
                  <a:schemeClr val="bg1"/>
                </a:solidFill>
              </a:rPr>
              <a:t>Evapotranspiration</a:t>
            </a:r>
            <a:endParaRPr lang="en-US" sz="1400" dirty="0"/>
          </a:p>
        </p:txBody>
      </p:sp>
      <p:sp>
        <p:nvSpPr>
          <p:cNvPr id="12" name="Water item 1 text"/>
          <p:cNvSpPr txBox="1"/>
          <p:nvPr/>
        </p:nvSpPr>
        <p:spPr>
          <a:xfrm>
            <a:off x="5696712" y="1773936"/>
            <a:ext cx="5870448" cy="694944"/>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A 0.1 rise in AOD lowers ET by 8.4 W m⁻² at constant NDVI (Dibrugarh tea canopy)</a:t>
            </a:r>
            <a:endParaRPr lang="en-US" sz="1400" dirty="0"/>
          </a:p>
          <a:p>
            <a:pPr indent="0" marL="0">
              <a:buNone/>
            </a:pPr>
            <a:r>
              <a:rPr lang="en-US" sz="1400" i="1" dirty="0">
                <a:solidFill>
                  <a:schemeClr val="accent1"/>
                </a:solidFill>
              </a:rPr>
              <a:t>Latha et al., 2018</a:t>
            </a:r>
            <a:endParaRPr lang="en-US" sz="1400" dirty="0"/>
          </a:p>
        </p:txBody>
      </p:sp>
      <p:sp>
        <p:nvSpPr>
          <p:cNvPr id="13" name="Water item 2"/>
          <p:cNvSpPr/>
          <p:nvPr/>
        </p:nvSpPr>
        <p:spPr>
          <a:xfrm>
            <a:off x="5532120" y="2651760"/>
            <a:ext cx="6199632" cy="1261872"/>
          </a:xfrm>
          <a:prstGeom prst="roundRect">
            <a:avLst>
              <a:gd name="adj" fmla="val 507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4" name="Water item 2 head"/>
          <p:cNvSpPr/>
          <p:nvPr/>
        </p:nvSpPr>
        <p:spPr>
          <a:xfrm>
            <a:off x="5532120" y="2651760"/>
            <a:ext cx="6199632" cy="402336"/>
          </a:xfrm>
          <a:prstGeom prst="roundRect">
            <a:avLst>
              <a:gd name="adj" fmla="val 15909"/>
            </a:avLst>
          </a:prstGeom>
          <a:solidFill>
            <a:schemeClr val="accent3"/>
          </a:solidFill>
          <a:ln w="12700">
            <a:solidFill>
              <a:schemeClr val="accent3"/>
            </a:solidFill>
            <a:prstDash val="solid"/>
          </a:ln>
        </p:spPr>
      </p:sp>
      <p:sp>
        <p:nvSpPr>
          <p:cNvPr id="15" name="Water item 2 head text"/>
          <p:cNvSpPr txBox="1"/>
          <p:nvPr/>
        </p:nvSpPr>
        <p:spPr>
          <a:xfrm>
            <a:off x="5669280" y="2651760"/>
            <a:ext cx="5925312" cy="402336"/>
          </a:xfrm>
          <a:prstGeom prst="rect">
            <a:avLst/>
          </a:prstGeom>
          <a:noFill/>
          <a:ln/>
        </p:spPr>
        <p:txBody>
          <a:bodyPr wrap="square" lIns="0" tIns="0" rIns="0" bIns="0" rtlCol="0" anchor="ctr"/>
          <a:lstStyle/>
          <a:p>
            <a:pPr indent="0" marL="0">
              <a:buNone/>
            </a:pPr>
            <a:r>
              <a:rPr lang="en-US" sz="1400" b="1" dirty="0">
                <a:solidFill>
                  <a:schemeClr val="bg1"/>
                </a:solidFill>
              </a:rPr>
              <a:t>Water-use efficiency</a:t>
            </a:r>
            <a:endParaRPr lang="en-US" sz="1400" dirty="0"/>
          </a:p>
        </p:txBody>
      </p:sp>
      <p:sp>
        <p:nvSpPr>
          <p:cNvPr id="16" name="Water item 2 text"/>
          <p:cNvSpPr txBox="1"/>
          <p:nvPr/>
        </p:nvSpPr>
        <p:spPr>
          <a:xfrm>
            <a:off x="5696712" y="3145536"/>
            <a:ext cx="5870448" cy="694944"/>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Cleaner air in the Hubei lockdown raised winter-wheat WUE by 17.0%; PAR explained 42.1% of WUE variation</a:t>
            </a:r>
            <a:endParaRPr lang="en-US" sz="1400" dirty="0"/>
          </a:p>
          <a:p>
            <a:pPr indent="0" marL="0">
              <a:buNone/>
            </a:pPr>
            <a:r>
              <a:rPr lang="en-US" sz="1400" i="1" dirty="0">
                <a:solidFill>
                  <a:schemeClr val="accent1"/>
                </a:solidFill>
              </a:rPr>
              <a:t>Bai et al., 2022</a:t>
            </a:r>
            <a:endParaRPr lang="en-US" sz="1400" dirty="0"/>
          </a:p>
        </p:txBody>
      </p:sp>
      <p:sp>
        <p:nvSpPr>
          <p:cNvPr id="17" name="Water item 3"/>
          <p:cNvSpPr/>
          <p:nvPr/>
        </p:nvSpPr>
        <p:spPr>
          <a:xfrm>
            <a:off x="5532120" y="4023360"/>
            <a:ext cx="6199632" cy="1261872"/>
          </a:xfrm>
          <a:prstGeom prst="roundRect">
            <a:avLst>
              <a:gd name="adj" fmla="val 507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8" name="Water item 3 head"/>
          <p:cNvSpPr/>
          <p:nvPr/>
        </p:nvSpPr>
        <p:spPr>
          <a:xfrm>
            <a:off x="5532120" y="4023360"/>
            <a:ext cx="6199632" cy="402336"/>
          </a:xfrm>
          <a:prstGeom prst="roundRect">
            <a:avLst>
              <a:gd name="adj" fmla="val 15909"/>
            </a:avLst>
          </a:prstGeom>
          <a:solidFill>
            <a:schemeClr val="accent2"/>
          </a:solidFill>
          <a:ln w="12700">
            <a:solidFill>
              <a:schemeClr val="accent2"/>
            </a:solidFill>
            <a:prstDash val="solid"/>
          </a:ln>
        </p:spPr>
      </p:sp>
      <p:sp>
        <p:nvSpPr>
          <p:cNvPr id="19" name="Water item 3 head text"/>
          <p:cNvSpPr txBox="1"/>
          <p:nvPr/>
        </p:nvSpPr>
        <p:spPr>
          <a:xfrm>
            <a:off x="5669280" y="4023360"/>
            <a:ext cx="5925312" cy="402336"/>
          </a:xfrm>
          <a:prstGeom prst="rect">
            <a:avLst/>
          </a:prstGeom>
          <a:noFill/>
          <a:ln/>
        </p:spPr>
        <p:txBody>
          <a:bodyPr wrap="square" lIns="0" tIns="0" rIns="0" bIns="0" rtlCol="0" anchor="ctr"/>
          <a:lstStyle/>
          <a:p>
            <a:pPr indent="0" marL="0">
              <a:buNone/>
            </a:pPr>
            <a:r>
              <a:rPr lang="en-US" sz="1400" b="1" dirty="0">
                <a:solidFill>
                  <a:schemeClr val="bg1"/>
                </a:solidFill>
              </a:rPr>
              <a:t>Evaporative demand</a:t>
            </a:r>
            <a:endParaRPr lang="en-US" sz="1400" dirty="0"/>
          </a:p>
        </p:txBody>
      </p:sp>
      <p:sp>
        <p:nvSpPr>
          <p:cNvPr id="20" name="Water item 3 text"/>
          <p:cNvSpPr txBox="1"/>
          <p:nvPr/>
        </p:nvSpPr>
        <p:spPr>
          <a:xfrm>
            <a:off x="5696712" y="4517136"/>
            <a:ext cx="5870448" cy="694944"/>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AOD–ET</a:t>
            </a:r>
            <a:r>
              <a:rPr lang="en-US" sz="1400" baseline="-40000" dirty="0">
                <a:solidFill>
                  <a:schemeClr val="tx1"/>
                </a:solidFill>
              </a:rPr>
              <a:t>0</a:t>
            </a:r>
            <a:r>
              <a:rPr lang="en-US" sz="1400" dirty="0">
                <a:solidFill>
                  <a:schemeClr val="tx1"/>
                </a:solidFill>
              </a:rPr>
              <a:t> correlation negative in the dry Boro season in 6 of 8 districts (r = −0.21 to −0.69)</a:t>
            </a:r>
            <a:endParaRPr lang="en-US" sz="1400" dirty="0"/>
          </a:p>
          <a:p>
            <a:pPr indent="0" marL="0">
              <a:buNone/>
            </a:pPr>
            <a:r>
              <a:rPr lang="en-US" sz="1400" i="1" dirty="0">
                <a:solidFill>
                  <a:schemeClr val="accent1"/>
                </a:solidFill>
              </a:rPr>
              <a:t>Jannat et al., 2026</a:t>
            </a:r>
            <a:endParaRPr lang="en-US" sz="1400" dirty="0"/>
          </a:p>
        </p:txBody>
      </p:sp>
      <p:sp>
        <p:nvSpPr>
          <p:cNvPr id="21" name="Water strip"/>
          <p:cNvSpPr/>
          <p:nvPr/>
        </p:nvSpPr>
        <p:spPr>
          <a:xfrm>
            <a:off x="457200" y="5486400"/>
            <a:ext cx="11274552" cy="685800"/>
          </a:xfrm>
          <a:prstGeom prst="roundRect">
            <a:avLst>
              <a:gd name="adj" fmla="val 8000"/>
            </a:avLst>
          </a:prstGeom>
          <a:solidFill>
            <a:schemeClr val="bg2"/>
          </a:solidFill>
          <a:ln w="12700">
            <a:solidFill>
              <a:schemeClr val="bg2"/>
            </a:solidFill>
            <a:prstDash val="solid"/>
          </a:ln>
        </p:spPr>
      </p:sp>
      <p:sp>
        <p:nvSpPr>
          <p:cNvPr id="22" name="Water strip text"/>
          <p:cNvSpPr txBox="1"/>
          <p:nvPr/>
        </p:nvSpPr>
        <p:spPr>
          <a:xfrm>
            <a:off x="594360" y="548640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Net water effect:</a:t>
            </a:r>
            <a:r>
              <a:rPr lang="en-US" sz="1400" dirty="0">
                <a:solidFill>
                  <a:schemeClr val="tx1"/>
                </a:solidFill>
              </a:rPr>
              <a:t> aerosol dimming lowers evaporative demand and water loss and can raise water-use efficiency, but it also suppresses rain, so the outcome for rainfed crops depends on season.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Which aerosols drive the diffuse-light effect: species and sources</a:t>
            </a:r>
            <a:endParaRPr lang="en-US" sz="2800" dirty="0"/>
          </a:p>
        </p:txBody>
      </p:sp>
      <p:sp>
        <p:nvSpPr>
          <p:cNvPr id="4" name="Species chart card"/>
          <p:cNvSpPr/>
          <p:nvPr/>
        </p:nvSpPr>
        <p:spPr>
          <a:xfrm>
            <a:off x="457200" y="1280160"/>
            <a:ext cx="5760720" cy="3566160"/>
          </a:xfrm>
          <a:prstGeom prst="roundRect">
            <a:avLst>
              <a:gd name="adj" fmla="val 179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Species chart title"/>
          <p:cNvSpPr txBox="1"/>
          <p:nvPr/>
        </p:nvSpPr>
        <p:spPr>
          <a:xfrm>
            <a:off x="594360" y="1353312"/>
            <a:ext cx="5486400" cy="320040"/>
          </a:xfrm>
          <a:prstGeom prst="rect">
            <a:avLst/>
          </a:prstGeom>
          <a:noFill/>
          <a:ln/>
        </p:spPr>
        <p:txBody>
          <a:bodyPr wrap="square" lIns="0" tIns="0" rIns="0" bIns="0" rtlCol="0" anchor="ctr"/>
          <a:lstStyle/>
          <a:p>
            <a:pPr indent="0" marL="0">
              <a:buNone/>
            </a:pPr>
            <a:r>
              <a:rPr lang="en-US" sz="1400" b="1" dirty="0">
                <a:solidFill>
                  <a:schemeClr val="tx2"/>
                </a:solidFill>
              </a:rPr>
              <a:t>Global GPP gain by species, all-sky (Pg C yr⁻¹)</a:t>
            </a:r>
            <a:endParaRPr lang="en-US" sz="1400" dirty="0"/>
          </a:p>
        </p:txBody>
      </p:sp>
      <p:graphicFrame>
        <p:nvGraphicFramePr>
          <p:cNvPr id="6" name="Species chart" descr=""/>
          <p:cNvGraphicFramePr/>
          <p:nvPr/>
        </p:nvGraphicFramePr>
        <p:xfrm>
          <a:off x="548640" y="1691640"/>
          <a:ext cx="5577840" cy="2788920"/>
        </p:xfrm>
        <a:graphic xmlns:a="http://schemas.openxmlformats.org/drawingml/2006/main">
          <a:graphicData uri="http://schemas.openxmlformats.org/drawingml/2006/chart">
            <c:chart xmlns:c="http://schemas.openxmlformats.org/drawingml/2006/chart" r:id="rId1"/>
          </a:graphicData>
        </a:graphic>
      </p:graphicFrame>
      <p:sp>
        <p:nvSpPr>
          <p:cNvPr id="7" name="Species source"/>
          <p:cNvSpPr txBox="1"/>
          <p:nvPr/>
        </p:nvSpPr>
        <p:spPr>
          <a:xfrm>
            <a:off x="594360" y="4498848"/>
            <a:ext cx="5486400" cy="274320"/>
          </a:xfrm>
          <a:prstGeom prst="rect">
            <a:avLst/>
          </a:prstGeom>
          <a:noFill/>
          <a:ln/>
        </p:spPr>
        <p:txBody>
          <a:bodyPr wrap="square" lIns="0" tIns="0" rIns="0" bIns="0" rtlCol="0" anchor="ctr"/>
          <a:lstStyle/>
          <a:p>
            <a:pPr indent="0" marL="0">
              <a:buNone/>
            </a:pPr>
            <a:r>
              <a:rPr lang="en-US" sz="1400" i="1" dirty="0">
                <a:solidFill>
                  <a:schemeClr val="accent1"/>
                </a:solidFill>
              </a:rPr>
              <a:t>Data: Zhou et al., 2022 (natural share = total − anthropogenic)</a:t>
            </a:r>
            <a:endParaRPr lang="en-US" sz="1400" dirty="0"/>
          </a:p>
        </p:txBody>
      </p:sp>
      <p:sp>
        <p:nvSpPr>
          <p:cNvPr id="8" name="Zhou species figure card"/>
          <p:cNvSpPr/>
          <p:nvPr/>
        </p:nvSpPr>
        <p:spPr>
          <a:xfrm>
            <a:off x="6446520" y="1280160"/>
            <a:ext cx="5285232" cy="3540957"/>
          </a:xfrm>
          <a:prstGeom prst="roundRect">
            <a:avLst>
              <a:gd name="adj" fmla="val 180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Zhou species figure title"/>
          <p:cNvSpPr txBox="1"/>
          <p:nvPr/>
        </p:nvSpPr>
        <p:spPr>
          <a:xfrm>
            <a:off x="6583680" y="1371600"/>
            <a:ext cx="5010912" cy="530352"/>
          </a:xfrm>
          <a:prstGeom prst="rect">
            <a:avLst/>
          </a:prstGeom>
          <a:noFill/>
          <a:ln/>
        </p:spPr>
        <p:txBody>
          <a:bodyPr wrap="square" lIns="0" tIns="0" rIns="0" bIns="0" rtlCol="0" anchor="t"/>
          <a:lstStyle/>
          <a:p>
            <a:pPr indent="0" marL="0">
              <a:buNone/>
            </a:pPr>
            <a:r>
              <a:rPr lang="en-US" sz="1400" b="1" dirty="0">
                <a:solidFill>
                  <a:schemeClr val="tx2"/>
                </a:solidFill>
              </a:rPr>
              <a:t>Change in GPP (%) from natural (a, c) and anthropogenic (b, d) aerosol; all skies (top), clear skies (bottom)</a:t>
            </a:r>
            <a:endParaRPr lang="en-US" sz="1400" dirty="0"/>
          </a:p>
        </p:txBody>
      </p:sp>
      <p:pic>
        <p:nvPicPr>
          <p:cNvPr id="10" name="Zhou species figure" descr="Zhou species figure">    </p:cNvPr>
          <p:cNvPicPr>
            <a:picLocks noChangeAspect="1"/>
          </p:cNvPicPr>
          <p:nvPr/>
        </p:nvPicPr>
        <p:blipFill>
          <a:blip r:embed="rId2"/>
          <a:stretch>
            <a:fillRect/>
          </a:stretch>
        </p:blipFill>
        <p:spPr>
          <a:xfrm>
            <a:off x="7443216" y="1901952"/>
            <a:ext cx="3291840" cy="2489397"/>
          </a:xfrm>
          <a:prstGeom prst="rect">
            <a:avLst/>
          </a:prstGeom>
        </p:spPr>
      </p:pic>
      <p:sp>
        <p:nvSpPr>
          <p:cNvPr id="11" name="Zhou species figure source"/>
          <p:cNvSpPr txBox="1"/>
          <p:nvPr/>
        </p:nvSpPr>
        <p:spPr>
          <a:xfrm>
            <a:off x="6583680" y="4464501"/>
            <a:ext cx="5010912" cy="246888"/>
          </a:xfrm>
          <a:prstGeom prst="rect">
            <a:avLst/>
          </a:prstGeom>
          <a:noFill/>
          <a:ln/>
        </p:spPr>
        <p:txBody>
          <a:bodyPr wrap="square" lIns="0" tIns="0" rIns="0" bIns="0" rtlCol="0" anchor="t"/>
          <a:lstStyle/>
          <a:p>
            <a:pPr indent="0" marL="0">
              <a:buNone/>
            </a:pPr>
            <a:r>
              <a:rPr lang="en-US" sz="1400" i="1" dirty="0">
                <a:solidFill>
                  <a:schemeClr val="accent1"/>
                </a:solidFill>
              </a:rPr>
              <a:t>Source: Zhou et al., 2022, Fig. 4</a:t>
            </a:r>
            <a:endParaRPr lang="en-US" sz="1400" dirty="0"/>
          </a:p>
        </p:txBody>
      </p:sp>
      <p:sp>
        <p:nvSpPr>
          <p:cNvPr id="12" name="Species callout 1 card"/>
          <p:cNvSpPr/>
          <p:nvPr/>
        </p:nvSpPr>
        <p:spPr>
          <a:xfrm>
            <a:off x="457200" y="4983480"/>
            <a:ext cx="3636264"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Species callout 1 text"/>
          <p:cNvSpPr txBox="1"/>
          <p:nvPr/>
        </p:nvSpPr>
        <p:spPr>
          <a:xfrm>
            <a:off x="566928" y="5029200"/>
            <a:ext cx="3416808" cy="1097280"/>
          </a:xfrm>
          <a:prstGeom prst="rect">
            <a:avLst/>
          </a:prstGeom>
          <a:noFill/>
          <a:ln/>
        </p:spPr>
        <p:txBody>
          <a:bodyPr wrap="square" lIns="0" tIns="0" rIns="0" bIns="0" rtlCol="0" anchor="ctr"/>
          <a:lstStyle/>
          <a:p>
            <a:pPr algn="ctr" indent="0" marL="0">
              <a:buNone/>
            </a:pPr>
            <a:r>
              <a:rPr lang="en-US" sz="2600" b="1" dirty="0">
                <a:solidFill>
                  <a:schemeClr val="accent5"/>
                </a:solidFill>
              </a:rPr>
              <a:t>41% vs 25%</a:t>
            </a:r>
            <a:endParaRPr lang="en-US" sz="2600" dirty="0"/>
          </a:p>
          <a:p>
            <a:pPr algn="ctr" indent="0" marL="0">
              <a:buNone/>
            </a:pPr>
            <a:r>
              <a:rPr lang="en-US" sz="1400" dirty="0">
                <a:solidFill>
                  <a:schemeClr val="tx1"/>
                </a:solidFill>
              </a:rPr>
              <a:t>anthropogenic share of the GPP gain vs of the extra diffuse PAR</a:t>
            </a:r>
            <a:endParaRPr lang="en-US" sz="2600" dirty="0"/>
          </a:p>
          <a:p>
            <a:pPr algn="ctr" indent="0" marL="0">
              <a:buNone/>
            </a:pPr>
            <a:endParaRPr lang="en-US" sz="2600" dirty="0"/>
          </a:p>
        </p:txBody>
      </p:sp>
      <p:sp>
        <p:nvSpPr>
          <p:cNvPr id="14" name="Species callout 2 card"/>
          <p:cNvSpPr/>
          <p:nvPr/>
        </p:nvSpPr>
        <p:spPr>
          <a:xfrm>
            <a:off x="4276344" y="4983480"/>
            <a:ext cx="3636264"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5" name="Species callout 2 text"/>
          <p:cNvSpPr txBox="1"/>
          <p:nvPr/>
        </p:nvSpPr>
        <p:spPr>
          <a:xfrm>
            <a:off x="4386072" y="5029200"/>
            <a:ext cx="3416808" cy="1097280"/>
          </a:xfrm>
          <a:prstGeom prst="rect">
            <a:avLst/>
          </a:prstGeom>
          <a:noFill/>
          <a:ln/>
        </p:spPr>
        <p:txBody>
          <a:bodyPr wrap="square" lIns="0" tIns="0" rIns="0" bIns="0" rtlCol="0" anchor="ctr"/>
          <a:lstStyle/>
          <a:p>
            <a:pPr algn="ctr" indent="0" marL="0">
              <a:buNone/>
            </a:pPr>
            <a:r>
              <a:rPr lang="en-US" sz="2600" b="1" dirty="0">
                <a:solidFill>
                  <a:schemeClr val="accent3"/>
                </a:solidFill>
              </a:rPr>
              <a:t>+0.93 vs +0.33 W m⁻²</a:t>
            </a:r>
            <a:endParaRPr lang="en-US" sz="2600" dirty="0"/>
          </a:p>
          <a:p>
            <a:pPr algn="ctr" indent="0" marL="0">
              <a:buNone/>
            </a:pPr>
            <a:r>
              <a:rPr lang="en-US" sz="1400" dirty="0">
                <a:solidFill>
                  <a:schemeClr val="tx1"/>
                </a:solidFill>
              </a:rPr>
              <a:t>diffuse PAR added by natural vs anthropogenic aerosol</a:t>
            </a:r>
            <a:endParaRPr lang="en-US" sz="2600" dirty="0"/>
          </a:p>
          <a:p>
            <a:pPr algn="ctr" indent="0" marL="0">
              <a:buNone/>
            </a:pPr>
            <a:endParaRPr lang="en-US" sz="2600" dirty="0"/>
          </a:p>
        </p:txBody>
      </p:sp>
      <p:sp>
        <p:nvSpPr>
          <p:cNvPr id="16" name="Species callout 3 card"/>
          <p:cNvSpPr/>
          <p:nvPr/>
        </p:nvSpPr>
        <p:spPr>
          <a:xfrm>
            <a:off x="8095488" y="4983480"/>
            <a:ext cx="3636264"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Species callout 3 text"/>
          <p:cNvSpPr txBox="1"/>
          <p:nvPr/>
        </p:nvSpPr>
        <p:spPr>
          <a:xfrm>
            <a:off x="8205216" y="5029200"/>
            <a:ext cx="3416808" cy="1097280"/>
          </a:xfrm>
          <a:prstGeom prst="rect">
            <a:avLst/>
          </a:prstGeom>
          <a:noFill/>
          <a:ln/>
        </p:spPr>
        <p:txBody>
          <a:bodyPr wrap="square" lIns="0" tIns="0" rIns="0" bIns="0" rtlCol="0" anchor="ctr"/>
          <a:lstStyle/>
          <a:p>
            <a:pPr algn="ctr" indent="0" marL="0">
              <a:buNone/>
            </a:pPr>
            <a:r>
              <a:rPr lang="en-US" sz="2600" b="1" dirty="0">
                <a:solidFill>
                  <a:schemeClr val="accent1"/>
                </a:solidFill>
              </a:rPr>
              <a:t>E China, India, E USA</a:t>
            </a:r>
            <a:endParaRPr lang="en-US" sz="2600" dirty="0"/>
          </a:p>
          <a:p>
            <a:pPr algn="ctr" indent="0" marL="0">
              <a:buNone/>
            </a:pPr>
            <a:r>
              <a:rPr lang="en-US" sz="1400" dirty="0">
                <a:solidFill>
                  <a:schemeClr val="tx1"/>
                </a:solidFill>
              </a:rPr>
              <a:t>regions where anthropogenic aerosol dominates PAR changes</a:t>
            </a:r>
            <a:endParaRPr lang="en-US" sz="2600" dirty="0"/>
          </a:p>
          <a:p>
            <a:pPr algn="ctr" indent="0" marL="0">
              <a:buNone/>
            </a:pPr>
            <a:endParaRPr lang="en-US" sz="26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The optimum aerosol load: an inverted-U response</a:t>
            </a:r>
            <a:endParaRPr lang="en-US" sz="2800" dirty="0"/>
          </a:p>
        </p:txBody>
      </p:sp>
      <p:sp>
        <p:nvSpPr>
          <p:cNvPr id="4" name="Opt label 1"/>
          <p:cNvSpPr txBox="1"/>
          <p:nvPr/>
        </p:nvSpPr>
        <p:spPr>
          <a:xfrm>
            <a:off x="457200" y="1325880"/>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Model canopies</a:t>
            </a:r>
            <a:endParaRPr lang="en-US" sz="1400" dirty="0"/>
          </a:p>
          <a:p>
            <a:pPr indent="0" marL="0">
              <a:buNone/>
            </a:pPr>
            <a:r>
              <a:rPr lang="en-US" sz="1400" i="1" dirty="0">
                <a:solidFill>
                  <a:schemeClr val="accent1"/>
                </a:solidFill>
              </a:rPr>
              <a:t>Cohan et al., 2002</a:t>
            </a:r>
            <a:endParaRPr lang="en-US" sz="1400" dirty="0"/>
          </a:p>
        </p:txBody>
      </p:sp>
      <p:sp>
        <p:nvSpPr>
          <p:cNvPr id="5" name="Opt track 1"/>
          <p:cNvSpPr/>
          <p:nvPr/>
        </p:nvSpPr>
        <p:spPr>
          <a:xfrm>
            <a:off x="2514600" y="1399032"/>
            <a:ext cx="2743200" cy="384048"/>
          </a:xfrm>
          <a:prstGeom prst="rect">
            <a:avLst/>
          </a:prstGeom>
          <a:solidFill>
            <a:schemeClr val="bg2"/>
          </a:solidFill>
          <a:ln w="12700">
            <a:solidFill>
              <a:schemeClr val="bg2"/>
            </a:solidFill>
            <a:prstDash val="solid"/>
          </a:ln>
        </p:spPr>
      </p:sp>
      <p:sp>
        <p:nvSpPr>
          <p:cNvPr id="6" name="Opt band 1"/>
          <p:cNvSpPr/>
          <p:nvPr/>
        </p:nvSpPr>
        <p:spPr>
          <a:xfrm>
            <a:off x="4023360" y="1399032"/>
            <a:ext cx="274320" cy="384048"/>
          </a:xfrm>
          <a:prstGeom prst="roundRect">
            <a:avLst>
              <a:gd name="adj" fmla="val 16667"/>
            </a:avLst>
          </a:prstGeom>
          <a:solidFill>
            <a:schemeClr val="accent6"/>
          </a:solidFill>
          <a:ln w="12700">
            <a:solidFill>
              <a:schemeClr val="accent6"/>
            </a:solidFill>
            <a:prstDash val="solid"/>
          </a:ln>
        </p:spPr>
      </p:sp>
      <p:sp>
        <p:nvSpPr>
          <p:cNvPr id="7" name="Opt value 1"/>
          <p:cNvSpPr txBox="1"/>
          <p:nvPr/>
        </p:nvSpPr>
        <p:spPr>
          <a:xfrm>
            <a:off x="5349240" y="1325880"/>
            <a:ext cx="2011680" cy="530352"/>
          </a:xfrm>
          <a:prstGeom prst="rect">
            <a:avLst/>
          </a:prstGeom>
          <a:noFill/>
          <a:ln/>
        </p:spPr>
        <p:txBody>
          <a:bodyPr wrap="square" lIns="0" tIns="0" rIns="0" bIns="0" rtlCol="0" anchor="ctr"/>
          <a:lstStyle/>
          <a:p>
            <a:pPr indent="0" marL="0">
              <a:buNone/>
            </a:pPr>
            <a:r>
              <a:rPr lang="en-US" sz="1400" dirty="0">
                <a:solidFill>
                  <a:schemeClr val="tx1"/>
                </a:solidFill>
              </a:rPr>
              <a:t>≈ 0.6 (NPP +30%, clear sky)</a:t>
            </a:r>
            <a:endParaRPr lang="en-US" sz="1400" dirty="0"/>
          </a:p>
        </p:txBody>
      </p:sp>
      <p:sp>
        <p:nvSpPr>
          <p:cNvPr id="8" name="Opt label 2"/>
          <p:cNvSpPr txBox="1"/>
          <p:nvPr/>
        </p:nvSpPr>
        <p:spPr>
          <a:xfrm>
            <a:off x="457200" y="1929384"/>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NE China cropland</a:t>
            </a:r>
            <a:endParaRPr lang="en-US" sz="1400" dirty="0"/>
          </a:p>
          <a:p>
            <a:pPr indent="0" marL="0">
              <a:buNone/>
            </a:pPr>
            <a:r>
              <a:rPr lang="en-US" sz="1400" i="1" dirty="0">
                <a:solidFill>
                  <a:schemeClr val="accent1"/>
                </a:solidFill>
              </a:rPr>
              <a:t>Feng et al., 2020</a:t>
            </a:r>
            <a:endParaRPr lang="en-US" sz="1400" dirty="0"/>
          </a:p>
        </p:txBody>
      </p:sp>
      <p:sp>
        <p:nvSpPr>
          <p:cNvPr id="9" name="Opt track 2"/>
          <p:cNvSpPr/>
          <p:nvPr/>
        </p:nvSpPr>
        <p:spPr>
          <a:xfrm>
            <a:off x="2514600" y="2002536"/>
            <a:ext cx="2743200" cy="384048"/>
          </a:xfrm>
          <a:prstGeom prst="rect">
            <a:avLst/>
          </a:prstGeom>
          <a:solidFill>
            <a:schemeClr val="bg2"/>
          </a:solidFill>
          <a:ln w="12700">
            <a:solidFill>
              <a:schemeClr val="bg2"/>
            </a:solidFill>
            <a:prstDash val="solid"/>
          </a:ln>
        </p:spPr>
      </p:sp>
      <p:sp>
        <p:nvSpPr>
          <p:cNvPr id="10" name="Opt band 2"/>
          <p:cNvSpPr/>
          <p:nvPr/>
        </p:nvSpPr>
        <p:spPr>
          <a:xfrm>
            <a:off x="3337560" y="2002536"/>
            <a:ext cx="822960" cy="384048"/>
          </a:xfrm>
          <a:prstGeom prst="roundRect">
            <a:avLst>
              <a:gd name="adj" fmla="val 11905"/>
            </a:avLst>
          </a:prstGeom>
          <a:solidFill>
            <a:schemeClr val="accent1"/>
          </a:solidFill>
          <a:ln w="12700">
            <a:solidFill>
              <a:schemeClr val="accent1"/>
            </a:solidFill>
            <a:prstDash val="solid"/>
          </a:ln>
        </p:spPr>
      </p:sp>
      <p:sp>
        <p:nvSpPr>
          <p:cNvPr id="11" name="Opt value 2"/>
          <p:cNvSpPr txBox="1"/>
          <p:nvPr/>
        </p:nvSpPr>
        <p:spPr>
          <a:xfrm>
            <a:off x="5349240" y="1929384"/>
            <a:ext cx="2011680" cy="530352"/>
          </a:xfrm>
          <a:prstGeom prst="rect">
            <a:avLst/>
          </a:prstGeom>
          <a:noFill/>
          <a:ln/>
        </p:spPr>
        <p:txBody>
          <a:bodyPr wrap="square" lIns="0" tIns="0" rIns="0" bIns="0" rtlCol="0" anchor="ctr"/>
          <a:lstStyle/>
          <a:p>
            <a:pPr indent="0" marL="0">
              <a:buNone/>
            </a:pPr>
            <a:r>
              <a:rPr lang="en-US" sz="1400" dirty="0">
                <a:solidFill>
                  <a:schemeClr val="tx1"/>
                </a:solidFill>
              </a:rPr>
              <a:t>0.3–0.6 (diffuse fraction 30–40%)</a:t>
            </a:r>
            <a:endParaRPr lang="en-US" sz="1400" dirty="0"/>
          </a:p>
        </p:txBody>
      </p:sp>
      <p:sp>
        <p:nvSpPr>
          <p:cNvPr id="12" name="Opt label 3"/>
          <p:cNvSpPr txBox="1"/>
          <p:nvPr/>
        </p:nvSpPr>
        <p:spPr>
          <a:xfrm>
            <a:off x="457200" y="2532888"/>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Punjab wheat</a:t>
            </a:r>
            <a:endParaRPr lang="en-US" sz="1400" dirty="0"/>
          </a:p>
          <a:p>
            <a:pPr indent="0" marL="0">
              <a:buNone/>
            </a:pPr>
            <a:r>
              <a:rPr lang="en-US" sz="1400" i="1" dirty="0">
                <a:solidFill>
                  <a:schemeClr val="accent1"/>
                </a:solidFill>
              </a:rPr>
              <a:t>Sankhla et al., preprint</a:t>
            </a:r>
            <a:endParaRPr lang="en-US" sz="1400" dirty="0"/>
          </a:p>
        </p:txBody>
      </p:sp>
      <p:sp>
        <p:nvSpPr>
          <p:cNvPr id="13" name="Opt track 3"/>
          <p:cNvSpPr/>
          <p:nvPr/>
        </p:nvSpPr>
        <p:spPr>
          <a:xfrm>
            <a:off x="2514600" y="2606040"/>
            <a:ext cx="2743200" cy="384048"/>
          </a:xfrm>
          <a:prstGeom prst="rect">
            <a:avLst/>
          </a:prstGeom>
          <a:solidFill>
            <a:schemeClr val="bg2"/>
          </a:solidFill>
          <a:ln w="12700">
            <a:solidFill>
              <a:schemeClr val="bg2"/>
            </a:solidFill>
            <a:prstDash val="solid"/>
          </a:ln>
        </p:spPr>
      </p:sp>
      <p:sp>
        <p:nvSpPr>
          <p:cNvPr id="14" name="Opt band 3"/>
          <p:cNvSpPr/>
          <p:nvPr/>
        </p:nvSpPr>
        <p:spPr>
          <a:xfrm>
            <a:off x="3941064" y="2606040"/>
            <a:ext cx="164592" cy="384048"/>
          </a:xfrm>
          <a:prstGeom prst="roundRect">
            <a:avLst>
              <a:gd name="adj" fmla="val 27778"/>
            </a:avLst>
          </a:prstGeom>
          <a:solidFill>
            <a:schemeClr val="accent2"/>
          </a:solidFill>
          <a:ln w="12700">
            <a:solidFill>
              <a:schemeClr val="accent2"/>
            </a:solidFill>
            <a:prstDash val="solid"/>
          </a:ln>
        </p:spPr>
      </p:sp>
      <p:sp>
        <p:nvSpPr>
          <p:cNvPr id="15" name="Opt value 3"/>
          <p:cNvSpPr txBox="1"/>
          <p:nvPr/>
        </p:nvSpPr>
        <p:spPr>
          <a:xfrm>
            <a:off x="5349240" y="2532888"/>
            <a:ext cx="2011680" cy="530352"/>
          </a:xfrm>
          <a:prstGeom prst="rect">
            <a:avLst/>
          </a:prstGeom>
          <a:noFill/>
          <a:ln/>
        </p:spPr>
        <p:txBody>
          <a:bodyPr wrap="square" lIns="0" tIns="0" rIns="0" bIns="0" rtlCol="0" anchor="ctr"/>
          <a:lstStyle/>
          <a:p>
            <a:pPr indent="0" marL="0">
              <a:buNone/>
            </a:pPr>
            <a:r>
              <a:rPr lang="en-US" sz="1400" dirty="0">
                <a:solidFill>
                  <a:schemeClr val="tx1"/>
                </a:solidFill>
              </a:rPr>
              <a:t>≈ 0.55 (R² = 0.90)</a:t>
            </a:r>
            <a:endParaRPr lang="en-US" sz="1400" dirty="0"/>
          </a:p>
        </p:txBody>
      </p:sp>
      <p:sp>
        <p:nvSpPr>
          <p:cNvPr id="16" name="Opt label 4"/>
          <p:cNvSpPr txBox="1"/>
          <p:nvPr/>
        </p:nvSpPr>
        <p:spPr>
          <a:xfrm>
            <a:off x="457200" y="3136392"/>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Indian forests</a:t>
            </a:r>
            <a:endParaRPr lang="en-US" sz="1400" dirty="0"/>
          </a:p>
          <a:p>
            <a:pPr indent="0" marL="0">
              <a:buNone/>
            </a:pPr>
            <a:r>
              <a:rPr lang="en-US" sz="1400" i="1" dirty="0">
                <a:solidFill>
                  <a:schemeClr val="accent1"/>
                </a:solidFill>
              </a:rPr>
              <a:t>Hari &amp; Tyagi, 2022</a:t>
            </a:r>
            <a:endParaRPr lang="en-US" sz="1400" dirty="0"/>
          </a:p>
        </p:txBody>
      </p:sp>
      <p:sp>
        <p:nvSpPr>
          <p:cNvPr id="17" name="Opt track 4"/>
          <p:cNvSpPr/>
          <p:nvPr/>
        </p:nvSpPr>
        <p:spPr>
          <a:xfrm>
            <a:off x="2514600" y="3209544"/>
            <a:ext cx="2743200" cy="384048"/>
          </a:xfrm>
          <a:prstGeom prst="rect">
            <a:avLst/>
          </a:prstGeom>
          <a:solidFill>
            <a:schemeClr val="bg2"/>
          </a:solidFill>
          <a:ln w="12700">
            <a:solidFill>
              <a:schemeClr val="bg2"/>
            </a:solidFill>
            <a:prstDash val="solid"/>
          </a:ln>
        </p:spPr>
      </p:sp>
      <p:sp>
        <p:nvSpPr>
          <p:cNvPr id="18" name="Opt band 4"/>
          <p:cNvSpPr/>
          <p:nvPr/>
        </p:nvSpPr>
        <p:spPr>
          <a:xfrm>
            <a:off x="3557016" y="3209544"/>
            <a:ext cx="356616" cy="384048"/>
          </a:xfrm>
          <a:prstGeom prst="roundRect">
            <a:avLst>
              <a:gd name="adj" fmla="val 12821"/>
            </a:avLst>
          </a:prstGeom>
          <a:solidFill>
            <a:schemeClr val="accent3"/>
          </a:solidFill>
          <a:ln w="12700">
            <a:solidFill>
              <a:schemeClr val="accent3"/>
            </a:solidFill>
            <a:prstDash val="solid"/>
          </a:ln>
        </p:spPr>
      </p:sp>
      <p:sp>
        <p:nvSpPr>
          <p:cNvPr id="19" name="Opt value 4"/>
          <p:cNvSpPr txBox="1"/>
          <p:nvPr/>
        </p:nvSpPr>
        <p:spPr>
          <a:xfrm>
            <a:off x="5349240" y="3136392"/>
            <a:ext cx="2011680" cy="530352"/>
          </a:xfrm>
          <a:prstGeom prst="rect">
            <a:avLst/>
          </a:prstGeom>
          <a:noFill/>
          <a:ln/>
        </p:spPr>
        <p:txBody>
          <a:bodyPr wrap="square" lIns="0" tIns="0" rIns="0" bIns="0" rtlCol="0" anchor="ctr"/>
          <a:lstStyle/>
          <a:p>
            <a:pPr indent="0" marL="0">
              <a:buNone/>
            </a:pPr>
            <a:r>
              <a:rPr lang="en-US" sz="1400" dirty="0">
                <a:solidFill>
                  <a:schemeClr val="tx1"/>
                </a:solidFill>
              </a:rPr>
              <a:t>0.38, gain persists to 0.51</a:t>
            </a:r>
            <a:endParaRPr lang="en-US" sz="1400" dirty="0"/>
          </a:p>
        </p:txBody>
      </p:sp>
      <p:sp>
        <p:nvSpPr>
          <p:cNvPr id="20" name="Opt label 5"/>
          <p:cNvSpPr txBox="1"/>
          <p:nvPr/>
        </p:nvSpPr>
        <p:spPr>
          <a:xfrm>
            <a:off x="457200" y="3739896"/>
            <a:ext cx="1965960" cy="530352"/>
          </a:xfrm>
          <a:prstGeom prst="rect">
            <a:avLst/>
          </a:prstGeom>
          <a:noFill/>
          <a:ln/>
        </p:spPr>
        <p:txBody>
          <a:bodyPr wrap="square" lIns="0" tIns="0" rIns="0" bIns="0" rtlCol="0" anchor="ctr"/>
          <a:lstStyle/>
          <a:p>
            <a:pPr indent="0" marL="0">
              <a:buNone/>
            </a:pPr>
            <a:r>
              <a:rPr lang="en-US" sz="1400" b="1" dirty="0">
                <a:solidFill>
                  <a:schemeClr val="tx2"/>
                </a:solidFill>
              </a:rPr>
              <a:t>Indian agro zones</a:t>
            </a:r>
            <a:endParaRPr lang="en-US" sz="1400" dirty="0"/>
          </a:p>
          <a:p>
            <a:pPr indent="0" marL="0">
              <a:buNone/>
            </a:pPr>
            <a:r>
              <a:rPr lang="en-US" sz="1400" i="1" dirty="0">
                <a:solidFill>
                  <a:schemeClr val="accent1"/>
                </a:solidFill>
              </a:rPr>
              <a:t>Hari &amp; Tyagi, 2022</a:t>
            </a:r>
            <a:endParaRPr lang="en-US" sz="1400" dirty="0"/>
          </a:p>
        </p:txBody>
      </p:sp>
      <p:sp>
        <p:nvSpPr>
          <p:cNvPr id="21" name="Opt track 5"/>
          <p:cNvSpPr/>
          <p:nvPr/>
        </p:nvSpPr>
        <p:spPr>
          <a:xfrm>
            <a:off x="2514600" y="3813048"/>
            <a:ext cx="2743200" cy="384048"/>
          </a:xfrm>
          <a:prstGeom prst="rect">
            <a:avLst/>
          </a:prstGeom>
          <a:solidFill>
            <a:schemeClr val="bg2"/>
          </a:solidFill>
          <a:ln w="12700">
            <a:solidFill>
              <a:schemeClr val="bg2"/>
            </a:solidFill>
            <a:prstDash val="solid"/>
          </a:ln>
        </p:spPr>
      </p:sp>
      <p:sp>
        <p:nvSpPr>
          <p:cNvPr id="22" name="Opt band 5"/>
          <p:cNvSpPr/>
          <p:nvPr/>
        </p:nvSpPr>
        <p:spPr>
          <a:xfrm>
            <a:off x="3858768" y="3813048"/>
            <a:ext cx="274320" cy="384048"/>
          </a:xfrm>
          <a:prstGeom prst="roundRect">
            <a:avLst>
              <a:gd name="adj" fmla="val 16667"/>
            </a:avLst>
          </a:prstGeom>
          <a:solidFill>
            <a:schemeClr val="accent5"/>
          </a:solidFill>
          <a:ln w="12700">
            <a:solidFill>
              <a:schemeClr val="accent5"/>
            </a:solidFill>
            <a:prstDash val="solid"/>
          </a:ln>
        </p:spPr>
      </p:sp>
      <p:sp>
        <p:nvSpPr>
          <p:cNvPr id="23" name="Opt value 5"/>
          <p:cNvSpPr txBox="1"/>
          <p:nvPr/>
        </p:nvSpPr>
        <p:spPr>
          <a:xfrm>
            <a:off x="5349240" y="3739896"/>
            <a:ext cx="2011680" cy="530352"/>
          </a:xfrm>
          <a:prstGeom prst="rect">
            <a:avLst/>
          </a:prstGeom>
          <a:noFill/>
          <a:ln/>
        </p:spPr>
        <p:txBody>
          <a:bodyPr wrap="square" lIns="0" tIns="0" rIns="0" bIns="0" rtlCol="0" anchor="ctr"/>
          <a:lstStyle/>
          <a:p>
            <a:pPr indent="0" marL="0">
              <a:buNone/>
            </a:pPr>
            <a:r>
              <a:rPr lang="en-US" sz="1400" dirty="0">
                <a:solidFill>
                  <a:schemeClr val="tx1"/>
                </a:solidFill>
              </a:rPr>
              <a:t>0.49, restricted above 0.59</a:t>
            </a:r>
            <a:endParaRPr lang="en-US" sz="1400" dirty="0"/>
          </a:p>
        </p:txBody>
      </p:sp>
      <p:sp>
        <p:nvSpPr>
          <p:cNvPr id="24" name="Opt axis"/>
          <p:cNvSpPr/>
          <p:nvPr/>
        </p:nvSpPr>
        <p:spPr>
          <a:xfrm>
            <a:off x="2514600" y="4389120"/>
            <a:ext cx="2743200" cy="0"/>
          </a:xfrm>
          <a:prstGeom prst="line">
            <a:avLst/>
          </a:prstGeom>
          <a:noFill/>
          <a:ln w="15875">
            <a:solidFill>
              <a:schemeClr val="tx2"/>
            </a:solidFill>
            <a:prstDash val="solid"/>
          </a:ln>
        </p:spPr>
      </p:sp>
      <p:sp>
        <p:nvSpPr>
          <p:cNvPr id="25" name="Opt tick 0"/>
          <p:cNvSpPr/>
          <p:nvPr/>
        </p:nvSpPr>
        <p:spPr>
          <a:xfrm>
            <a:off x="2514600" y="4389120"/>
            <a:ext cx="0" cy="73152"/>
          </a:xfrm>
          <a:prstGeom prst="line">
            <a:avLst/>
          </a:prstGeom>
          <a:noFill/>
          <a:ln w="12700">
            <a:solidFill>
              <a:schemeClr val="tx2"/>
            </a:solidFill>
            <a:prstDash val="solid"/>
          </a:ln>
        </p:spPr>
      </p:sp>
      <p:sp>
        <p:nvSpPr>
          <p:cNvPr id="26" name="Opt tick label 0"/>
          <p:cNvSpPr txBox="1"/>
          <p:nvPr/>
        </p:nvSpPr>
        <p:spPr>
          <a:xfrm>
            <a:off x="224028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0.0</a:t>
            </a:r>
            <a:endParaRPr lang="en-US" sz="1400" dirty="0"/>
          </a:p>
        </p:txBody>
      </p:sp>
      <p:sp>
        <p:nvSpPr>
          <p:cNvPr id="27" name="Opt tick 1"/>
          <p:cNvSpPr/>
          <p:nvPr/>
        </p:nvSpPr>
        <p:spPr>
          <a:xfrm>
            <a:off x="3063240" y="4389120"/>
            <a:ext cx="0" cy="73152"/>
          </a:xfrm>
          <a:prstGeom prst="line">
            <a:avLst/>
          </a:prstGeom>
          <a:noFill/>
          <a:ln w="12700">
            <a:solidFill>
              <a:schemeClr val="tx2"/>
            </a:solidFill>
            <a:prstDash val="solid"/>
          </a:ln>
        </p:spPr>
      </p:sp>
      <p:sp>
        <p:nvSpPr>
          <p:cNvPr id="28" name="Opt tick label 1"/>
          <p:cNvSpPr txBox="1"/>
          <p:nvPr/>
        </p:nvSpPr>
        <p:spPr>
          <a:xfrm>
            <a:off x="278892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0.2</a:t>
            </a:r>
            <a:endParaRPr lang="en-US" sz="1400" dirty="0"/>
          </a:p>
        </p:txBody>
      </p:sp>
      <p:sp>
        <p:nvSpPr>
          <p:cNvPr id="29" name="Opt tick 2"/>
          <p:cNvSpPr/>
          <p:nvPr/>
        </p:nvSpPr>
        <p:spPr>
          <a:xfrm>
            <a:off x="3611880" y="4389120"/>
            <a:ext cx="0" cy="73152"/>
          </a:xfrm>
          <a:prstGeom prst="line">
            <a:avLst/>
          </a:prstGeom>
          <a:noFill/>
          <a:ln w="12700">
            <a:solidFill>
              <a:schemeClr val="tx2"/>
            </a:solidFill>
            <a:prstDash val="solid"/>
          </a:ln>
        </p:spPr>
      </p:sp>
      <p:sp>
        <p:nvSpPr>
          <p:cNvPr id="30" name="Opt tick label 2"/>
          <p:cNvSpPr txBox="1"/>
          <p:nvPr/>
        </p:nvSpPr>
        <p:spPr>
          <a:xfrm>
            <a:off x="333756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0.4</a:t>
            </a:r>
            <a:endParaRPr lang="en-US" sz="1400" dirty="0"/>
          </a:p>
        </p:txBody>
      </p:sp>
      <p:sp>
        <p:nvSpPr>
          <p:cNvPr id="31" name="Opt tick 3"/>
          <p:cNvSpPr/>
          <p:nvPr/>
        </p:nvSpPr>
        <p:spPr>
          <a:xfrm>
            <a:off x="4160520" y="4389120"/>
            <a:ext cx="0" cy="73152"/>
          </a:xfrm>
          <a:prstGeom prst="line">
            <a:avLst/>
          </a:prstGeom>
          <a:noFill/>
          <a:ln w="12700">
            <a:solidFill>
              <a:schemeClr val="tx2"/>
            </a:solidFill>
            <a:prstDash val="solid"/>
          </a:ln>
        </p:spPr>
      </p:sp>
      <p:sp>
        <p:nvSpPr>
          <p:cNvPr id="32" name="Opt tick label 3"/>
          <p:cNvSpPr txBox="1"/>
          <p:nvPr/>
        </p:nvSpPr>
        <p:spPr>
          <a:xfrm>
            <a:off x="388620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0.6</a:t>
            </a:r>
            <a:endParaRPr lang="en-US" sz="1400" dirty="0"/>
          </a:p>
        </p:txBody>
      </p:sp>
      <p:sp>
        <p:nvSpPr>
          <p:cNvPr id="33" name="Opt tick 4"/>
          <p:cNvSpPr/>
          <p:nvPr/>
        </p:nvSpPr>
        <p:spPr>
          <a:xfrm>
            <a:off x="4709160" y="4389120"/>
            <a:ext cx="0" cy="73152"/>
          </a:xfrm>
          <a:prstGeom prst="line">
            <a:avLst/>
          </a:prstGeom>
          <a:noFill/>
          <a:ln w="12700">
            <a:solidFill>
              <a:schemeClr val="tx2"/>
            </a:solidFill>
            <a:prstDash val="solid"/>
          </a:ln>
        </p:spPr>
      </p:sp>
      <p:sp>
        <p:nvSpPr>
          <p:cNvPr id="34" name="Opt tick label 4"/>
          <p:cNvSpPr txBox="1"/>
          <p:nvPr/>
        </p:nvSpPr>
        <p:spPr>
          <a:xfrm>
            <a:off x="443484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0.8</a:t>
            </a:r>
            <a:endParaRPr lang="en-US" sz="1400" dirty="0"/>
          </a:p>
        </p:txBody>
      </p:sp>
      <p:sp>
        <p:nvSpPr>
          <p:cNvPr id="35" name="Opt tick 5"/>
          <p:cNvSpPr/>
          <p:nvPr/>
        </p:nvSpPr>
        <p:spPr>
          <a:xfrm>
            <a:off x="5257800" y="4389120"/>
            <a:ext cx="0" cy="73152"/>
          </a:xfrm>
          <a:prstGeom prst="line">
            <a:avLst/>
          </a:prstGeom>
          <a:noFill/>
          <a:ln w="12700">
            <a:solidFill>
              <a:schemeClr val="tx2"/>
            </a:solidFill>
            <a:prstDash val="solid"/>
          </a:ln>
        </p:spPr>
      </p:sp>
      <p:sp>
        <p:nvSpPr>
          <p:cNvPr id="36" name="Opt tick label 5"/>
          <p:cNvSpPr txBox="1"/>
          <p:nvPr/>
        </p:nvSpPr>
        <p:spPr>
          <a:xfrm>
            <a:off x="4983480" y="4462272"/>
            <a:ext cx="548640" cy="256032"/>
          </a:xfrm>
          <a:prstGeom prst="rect">
            <a:avLst/>
          </a:prstGeom>
          <a:noFill/>
          <a:ln/>
        </p:spPr>
        <p:txBody>
          <a:bodyPr wrap="square" lIns="0" tIns="0" rIns="0" bIns="0" rtlCol="0" anchor="ctr"/>
          <a:lstStyle/>
          <a:p>
            <a:pPr algn="ctr" indent="0" marL="0">
              <a:buNone/>
            </a:pPr>
            <a:r>
              <a:rPr lang="en-US" sz="1400" dirty="0">
                <a:solidFill>
                  <a:schemeClr val="tx1"/>
                </a:solidFill>
              </a:rPr>
              <a:t>1.0</a:t>
            </a:r>
            <a:endParaRPr lang="en-US" sz="1400" dirty="0"/>
          </a:p>
        </p:txBody>
      </p:sp>
      <p:sp>
        <p:nvSpPr>
          <p:cNvPr id="37" name="Opt axis title"/>
          <p:cNvSpPr txBox="1"/>
          <p:nvPr/>
        </p:nvSpPr>
        <p:spPr>
          <a:xfrm>
            <a:off x="2514600" y="4718304"/>
            <a:ext cx="2743200" cy="256032"/>
          </a:xfrm>
          <a:prstGeom prst="rect">
            <a:avLst/>
          </a:prstGeom>
          <a:noFill/>
          <a:ln/>
        </p:spPr>
        <p:txBody>
          <a:bodyPr wrap="square" lIns="0" tIns="0" rIns="0" bIns="0" rtlCol="0" anchor="ctr"/>
          <a:lstStyle/>
          <a:p>
            <a:pPr algn="ctr" indent="0" marL="0">
              <a:buNone/>
            </a:pPr>
            <a:r>
              <a:rPr lang="en-US" sz="1400" i="1" dirty="0">
                <a:solidFill>
                  <a:schemeClr val="accent1"/>
                </a:solidFill>
              </a:rPr>
              <a:t>Aerosol optical depth at which productivity peaks</a:t>
            </a:r>
            <a:endParaRPr lang="en-US" sz="1400" dirty="0"/>
          </a:p>
        </p:txBody>
      </p:sp>
      <p:sp>
        <p:nvSpPr>
          <p:cNvPr id="38" name="Cohan NPP figure card"/>
          <p:cNvSpPr/>
          <p:nvPr/>
        </p:nvSpPr>
        <p:spPr>
          <a:xfrm>
            <a:off x="7452360" y="1280160"/>
            <a:ext cx="4279392" cy="2468880"/>
          </a:xfrm>
          <a:prstGeom prst="roundRect">
            <a:avLst>
              <a:gd name="adj" fmla="val 259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9" name="Cohan NPP figure title"/>
          <p:cNvSpPr txBox="1"/>
          <p:nvPr/>
        </p:nvSpPr>
        <p:spPr>
          <a:xfrm>
            <a:off x="7589520" y="1371600"/>
            <a:ext cx="4005072" cy="530352"/>
          </a:xfrm>
          <a:prstGeom prst="rect">
            <a:avLst/>
          </a:prstGeom>
          <a:noFill/>
          <a:ln/>
        </p:spPr>
        <p:txBody>
          <a:bodyPr wrap="square" lIns="0" tIns="0" rIns="0" bIns="0" rtlCol="0" anchor="t"/>
          <a:lstStyle/>
          <a:p>
            <a:pPr indent="0" marL="0">
              <a:buNone/>
            </a:pPr>
            <a:r>
              <a:rPr lang="en-US" sz="1400" b="1" dirty="0">
                <a:solidFill>
                  <a:schemeClr val="tx2"/>
                </a:solidFill>
              </a:rPr>
              <a:t>Modelled canopy NPP vs AOD: clear sky peaks, cloud only lowers</a:t>
            </a:r>
            <a:endParaRPr lang="en-US" sz="1400" dirty="0"/>
          </a:p>
        </p:txBody>
      </p:sp>
      <p:pic>
        <p:nvPicPr>
          <p:cNvPr id="40" name="Cohan NPP figure" descr="Cohan NPP figure">    </p:cNvPr>
          <p:cNvPicPr>
            <a:picLocks noChangeAspect="1"/>
          </p:cNvPicPr>
          <p:nvPr/>
        </p:nvPicPr>
        <p:blipFill>
          <a:blip r:embed="rId1"/>
          <a:stretch>
            <a:fillRect/>
          </a:stretch>
        </p:blipFill>
        <p:spPr>
          <a:xfrm>
            <a:off x="8475016" y="1901952"/>
            <a:ext cx="2234081" cy="1417320"/>
          </a:xfrm>
          <a:prstGeom prst="rect">
            <a:avLst/>
          </a:prstGeom>
        </p:spPr>
      </p:pic>
      <p:sp>
        <p:nvSpPr>
          <p:cNvPr id="41" name="Cohan NPP figure source"/>
          <p:cNvSpPr txBox="1"/>
          <p:nvPr/>
        </p:nvSpPr>
        <p:spPr>
          <a:xfrm>
            <a:off x="7589520" y="3392424"/>
            <a:ext cx="4005072" cy="246888"/>
          </a:xfrm>
          <a:prstGeom prst="rect">
            <a:avLst/>
          </a:prstGeom>
          <a:noFill/>
          <a:ln/>
        </p:spPr>
        <p:txBody>
          <a:bodyPr wrap="square" lIns="0" tIns="0" rIns="0" bIns="0" rtlCol="0" anchor="t"/>
          <a:lstStyle/>
          <a:p>
            <a:pPr indent="0" marL="0">
              <a:buNone/>
            </a:pPr>
            <a:r>
              <a:rPr lang="en-US" sz="1400" i="1" dirty="0">
                <a:solidFill>
                  <a:schemeClr val="accent1"/>
                </a:solidFill>
              </a:rPr>
              <a:t>Source: Cohan et al., 2002, Fig. 4</a:t>
            </a:r>
            <a:endParaRPr lang="en-US" sz="1400" dirty="0"/>
          </a:p>
        </p:txBody>
      </p:sp>
      <p:sp>
        <p:nvSpPr>
          <p:cNvPr id="42" name="Sankhla yield figure card"/>
          <p:cNvSpPr/>
          <p:nvPr/>
        </p:nvSpPr>
        <p:spPr>
          <a:xfrm>
            <a:off x="7452360" y="3703320"/>
            <a:ext cx="4279392" cy="2240280"/>
          </a:xfrm>
          <a:prstGeom prst="roundRect">
            <a:avLst>
              <a:gd name="adj" fmla="val 285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43" name="Sankhla yield figure title"/>
          <p:cNvSpPr txBox="1"/>
          <p:nvPr/>
        </p:nvSpPr>
        <p:spPr>
          <a:xfrm>
            <a:off x="7589520" y="3794760"/>
            <a:ext cx="4005072" cy="301752"/>
          </a:xfrm>
          <a:prstGeom prst="rect">
            <a:avLst/>
          </a:prstGeom>
          <a:noFill/>
          <a:ln/>
        </p:spPr>
        <p:txBody>
          <a:bodyPr wrap="square" lIns="0" tIns="0" rIns="0" bIns="0" rtlCol="0" anchor="t"/>
          <a:lstStyle/>
          <a:p>
            <a:pPr indent="0" marL="0">
              <a:buNone/>
            </a:pPr>
            <a:r>
              <a:rPr lang="en-US" sz="1400" b="1" dirty="0">
                <a:solidFill>
                  <a:schemeClr val="tx2"/>
                </a:solidFill>
              </a:rPr>
              <a:t>Punjab wheat yield vs AOD: quadratic fit</a:t>
            </a:r>
            <a:endParaRPr lang="en-US" sz="1400" dirty="0"/>
          </a:p>
        </p:txBody>
      </p:sp>
      <p:pic>
        <p:nvPicPr>
          <p:cNvPr id="44" name="Sankhla yield figure" descr="Sankhla yield figure">    </p:cNvPr>
          <p:cNvPicPr>
            <a:picLocks noChangeAspect="1"/>
          </p:cNvPicPr>
          <p:nvPr/>
        </p:nvPicPr>
        <p:blipFill>
          <a:blip r:embed="rId2"/>
          <a:stretch>
            <a:fillRect/>
          </a:stretch>
        </p:blipFill>
        <p:spPr>
          <a:xfrm>
            <a:off x="8890585" y="4096512"/>
            <a:ext cx="1402941" cy="1417320"/>
          </a:xfrm>
          <a:prstGeom prst="rect">
            <a:avLst/>
          </a:prstGeom>
        </p:spPr>
      </p:pic>
      <p:sp>
        <p:nvSpPr>
          <p:cNvPr id="45" name="Sankhla yield figure source"/>
          <p:cNvSpPr txBox="1"/>
          <p:nvPr/>
        </p:nvSpPr>
        <p:spPr>
          <a:xfrm>
            <a:off x="7589520" y="5586984"/>
            <a:ext cx="4005072" cy="246888"/>
          </a:xfrm>
          <a:prstGeom prst="rect">
            <a:avLst/>
          </a:prstGeom>
          <a:noFill/>
          <a:ln/>
        </p:spPr>
        <p:txBody>
          <a:bodyPr wrap="square" lIns="0" tIns="0" rIns="0" bIns="0" rtlCol="0" anchor="t"/>
          <a:lstStyle/>
          <a:p>
            <a:pPr indent="0" marL="0">
              <a:buNone/>
            </a:pPr>
            <a:r>
              <a:rPr lang="en-US" sz="1400" i="1" dirty="0">
                <a:solidFill>
                  <a:schemeClr val="accent1"/>
                </a:solidFill>
              </a:rPr>
              <a:t>Source: Sankhla et al., Fig. 2c</a:t>
            </a:r>
            <a:endParaRPr lang="en-US" sz="1400" dirty="0"/>
          </a:p>
        </p:txBody>
      </p:sp>
      <p:sp>
        <p:nvSpPr>
          <p:cNvPr id="46" name="Optimum strip"/>
          <p:cNvSpPr/>
          <p:nvPr/>
        </p:nvSpPr>
        <p:spPr>
          <a:xfrm>
            <a:off x="457200" y="5120640"/>
            <a:ext cx="6812280" cy="1051560"/>
          </a:xfrm>
          <a:prstGeom prst="roundRect">
            <a:avLst>
              <a:gd name="adj" fmla="val 5217"/>
            </a:avLst>
          </a:prstGeom>
          <a:solidFill>
            <a:schemeClr val="bg2"/>
          </a:solidFill>
          <a:ln w="12700">
            <a:solidFill>
              <a:schemeClr val="bg2"/>
            </a:solidFill>
            <a:prstDash val="solid"/>
          </a:ln>
        </p:spPr>
      </p:sp>
      <p:sp>
        <p:nvSpPr>
          <p:cNvPr id="47" name="Optimum strip text"/>
          <p:cNvSpPr txBox="1"/>
          <p:nvPr/>
        </p:nvSpPr>
        <p:spPr>
          <a:xfrm>
            <a:off x="594360" y="5120640"/>
            <a:ext cx="6537960" cy="1051560"/>
          </a:xfrm>
          <a:prstGeom prst="rect">
            <a:avLst/>
          </a:prstGeom>
          <a:noFill/>
          <a:ln/>
        </p:spPr>
        <p:txBody>
          <a:bodyPr wrap="square" lIns="0" tIns="0" rIns="0" bIns="0" rtlCol="0" anchor="ctr"/>
          <a:lstStyle/>
          <a:p>
            <a:pPr indent="0" marL="0">
              <a:buNone/>
            </a:pPr>
            <a:r>
              <a:rPr lang="en-US" sz="1400" b="1" dirty="0">
                <a:solidFill>
                  <a:schemeClr val="tx1"/>
                </a:solidFill>
              </a:rPr>
              <a:t>Why an optimum:</a:t>
            </a:r>
            <a:r>
              <a:rPr lang="en-US" sz="1400" dirty="0">
                <a:solidFill>
                  <a:schemeClr val="tx1"/>
                </a:solidFill>
              </a:rPr>
              <a:t> diffuse gain grows with AOD until shaded leaves saturate; beyond it, total light loss dominates. Flux sites peak at a diffuse fraction of 0.4–0.6 (Yue &amp; Unger, 2018). IGP AOD of 0.5–1.0 puts crops near or above the optimum.</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natural ecosystems across the globe</a:t>
            </a:r>
            <a:endParaRPr lang="en-US" sz="2800" dirty="0"/>
          </a:p>
        </p:txBody>
      </p:sp>
      <p:sp>
        <p:nvSpPr>
          <p:cNvPr id="4" name="Ecosystem 1 card"/>
          <p:cNvSpPr/>
          <p:nvPr/>
        </p:nvSpPr>
        <p:spPr>
          <a:xfrm>
            <a:off x="457200" y="128016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Ecosystem 1 text"/>
          <p:cNvSpPr txBox="1"/>
          <p:nvPr/>
        </p:nvSpPr>
        <p:spPr>
          <a:xfrm>
            <a:off x="566928" y="1325880"/>
            <a:ext cx="3300984" cy="1645920"/>
          </a:xfrm>
          <a:prstGeom prst="rect">
            <a:avLst/>
          </a:prstGeom>
          <a:noFill/>
          <a:ln/>
        </p:spPr>
        <p:txBody>
          <a:bodyPr wrap="square" lIns="0" tIns="0" rIns="0" bIns="0" rtlCol="0" anchor="ctr"/>
          <a:lstStyle/>
          <a:p>
            <a:pPr algn="ctr" indent="0" marL="0">
              <a:buNone/>
            </a:pPr>
            <a:r>
              <a:rPr lang="en-US" sz="2600" b="1" dirty="0">
                <a:solidFill>
                  <a:schemeClr val="accent3"/>
                </a:solidFill>
              </a:rPr>
              <a:t>+6 to 14% GPP</a:t>
            </a:r>
            <a:endParaRPr lang="en-US" sz="2600" dirty="0"/>
          </a:p>
          <a:p>
            <a:pPr algn="ctr" indent="0" marL="0">
              <a:buNone/>
            </a:pPr>
            <a:r>
              <a:rPr lang="en-US" sz="1400" dirty="0">
                <a:solidFill>
                  <a:schemeClr val="tx1"/>
                </a:solidFill>
              </a:rPr>
              <a:t>boreal and hemiboreal forest as diffuse fraction rose from 0.11 to 0.2–0.27</a:t>
            </a:r>
            <a:endParaRPr lang="en-US" sz="2600" dirty="0"/>
          </a:p>
          <a:p>
            <a:pPr algn="ctr" indent="0" marL="0">
              <a:buNone/>
            </a:pPr>
            <a:r>
              <a:rPr lang="en-US" sz="1400" i="1" dirty="0">
                <a:solidFill>
                  <a:schemeClr val="accent1"/>
                </a:solidFill>
              </a:rPr>
              <a:t>Ezhova et al., 2018</a:t>
            </a:r>
            <a:endParaRPr lang="en-US" sz="2600" dirty="0"/>
          </a:p>
        </p:txBody>
      </p:sp>
      <p:sp>
        <p:nvSpPr>
          <p:cNvPr id="6" name="Ecosystem 2 card"/>
          <p:cNvSpPr/>
          <p:nvPr/>
        </p:nvSpPr>
        <p:spPr>
          <a:xfrm>
            <a:off x="4160520" y="128016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Ecosystem 2 text"/>
          <p:cNvSpPr txBox="1"/>
          <p:nvPr/>
        </p:nvSpPr>
        <p:spPr>
          <a:xfrm>
            <a:off x="4270248" y="1325880"/>
            <a:ext cx="3300984" cy="1645920"/>
          </a:xfrm>
          <a:prstGeom prst="rect">
            <a:avLst/>
          </a:prstGeom>
          <a:noFill/>
          <a:ln/>
        </p:spPr>
        <p:txBody>
          <a:bodyPr wrap="square" lIns="0" tIns="0" rIns="0" bIns="0" rtlCol="0" anchor="ctr"/>
          <a:lstStyle/>
          <a:p>
            <a:pPr algn="ctr" indent="0" marL="0">
              <a:buNone/>
            </a:pPr>
            <a:r>
              <a:rPr lang="en-US" sz="2600" b="1" dirty="0">
                <a:solidFill>
                  <a:schemeClr val="accent3"/>
                </a:solidFill>
              </a:rPr>
              <a:t>+1.4 to 2.8% NPP</a:t>
            </a:r>
            <a:endParaRPr lang="en-US" sz="2600" dirty="0"/>
          </a:p>
          <a:p>
            <a:pPr algn="ctr" indent="0" marL="0">
              <a:buNone/>
            </a:pPr>
            <a:r>
              <a:rPr lang="en-US" sz="1400" dirty="0">
                <a:solidFill>
                  <a:schemeClr val="tx1"/>
                </a:solidFill>
              </a:rPr>
              <a:t>Amazon rainforest under fire smoke (diffuse fraction 0.5–0.7)</a:t>
            </a:r>
            <a:endParaRPr lang="en-US" sz="2600" dirty="0"/>
          </a:p>
          <a:p>
            <a:pPr algn="ctr" indent="0" marL="0">
              <a:buNone/>
            </a:pPr>
            <a:r>
              <a:rPr lang="en-US" sz="1400" i="1" dirty="0">
                <a:solidFill>
                  <a:schemeClr val="accent1"/>
                </a:solidFill>
              </a:rPr>
              <a:t>Rap et al., 2015; Cirino et al., 2014</a:t>
            </a:r>
            <a:endParaRPr lang="en-US" sz="2600" dirty="0"/>
          </a:p>
        </p:txBody>
      </p:sp>
      <p:sp>
        <p:nvSpPr>
          <p:cNvPr id="8" name="Ecosystem 3 card"/>
          <p:cNvSpPr/>
          <p:nvPr/>
        </p:nvSpPr>
        <p:spPr>
          <a:xfrm>
            <a:off x="457200" y="320040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Ecosystem 3 text"/>
          <p:cNvSpPr txBox="1"/>
          <p:nvPr/>
        </p:nvSpPr>
        <p:spPr>
          <a:xfrm>
            <a:off x="566928" y="3246120"/>
            <a:ext cx="3300984" cy="1645920"/>
          </a:xfrm>
          <a:prstGeom prst="rect">
            <a:avLst/>
          </a:prstGeom>
          <a:noFill/>
          <a:ln/>
        </p:spPr>
        <p:txBody>
          <a:bodyPr wrap="square" lIns="0" tIns="0" rIns="0" bIns="0" rtlCol="0" anchor="ctr"/>
          <a:lstStyle/>
          <a:p>
            <a:pPr algn="ctr" indent="0" marL="0">
              <a:buNone/>
            </a:pPr>
            <a:r>
              <a:rPr lang="en-US" sz="2600" b="1" dirty="0">
                <a:solidFill>
                  <a:schemeClr val="accent4"/>
                </a:solidFill>
              </a:rPr>
              <a:t>No significant change</a:t>
            </a:r>
            <a:endParaRPr lang="en-US" sz="2600" dirty="0"/>
          </a:p>
          <a:p>
            <a:pPr algn="ctr" indent="0" marL="0">
              <a:buNone/>
            </a:pPr>
            <a:r>
              <a:rPr lang="en-US" sz="1400" dirty="0">
                <a:solidFill>
                  <a:schemeClr val="tx1"/>
                </a:solidFill>
              </a:rPr>
              <a:t>savanna carbon flux when diffuse fraction rose from 11 to 21%</a:t>
            </a:r>
            <a:endParaRPr lang="en-US" sz="2600" dirty="0"/>
          </a:p>
          <a:p>
            <a:pPr algn="ctr" indent="0" marL="0">
              <a:buNone/>
            </a:pPr>
            <a:r>
              <a:rPr lang="en-US" sz="1400" i="1" dirty="0">
                <a:solidFill>
                  <a:schemeClr val="accent1"/>
                </a:solidFill>
              </a:rPr>
              <a:t>Kanniah et al., 2012</a:t>
            </a:r>
            <a:endParaRPr lang="en-US" sz="2600" dirty="0"/>
          </a:p>
        </p:txBody>
      </p:sp>
      <p:sp>
        <p:nvSpPr>
          <p:cNvPr id="10" name="Ecosystem 4 card"/>
          <p:cNvSpPr/>
          <p:nvPr/>
        </p:nvSpPr>
        <p:spPr>
          <a:xfrm>
            <a:off x="4160520" y="3200400"/>
            <a:ext cx="3520440" cy="1737360"/>
          </a:xfrm>
          <a:prstGeom prst="roundRect">
            <a:avLst>
              <a:gd name="adj" fmla="val 36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Ecosystem 4 text"/>
          <p:cNvSpPr txBox="1"/>
          <p:nvPr/>
        </p:nvSpPr>
        <p:spPr>
          <a:xfrm>
            <a:off x="4270248" y="3246120"/>
            <a:ext cx="3300984" cy="1645920"/>
          </a:xfrm>
          <a:prstGeom prst="rect">
            <a:avLst/>
          </a:prstGeom>
          <a:noFill/>
          <a:ln/>
        </p:spPr>
        <p:txBody>
          <a:bodyPr wrap="square" lIns="0" tIns="0" rIns="0" bIns="0" rtlCol="0" anchor="ctr"/>
          <a:lstStyle/>
          <a:p>
            <a:pPr algn="ctr" indent="0" marL="0">
              <a:buNone/>
            </a:pPr>
            <a:r>
              <a:rPr lang="en-US" sz="2600" b="1" dirty="0">
                <a:solidFill>
                  <a:schemeClr val="accent1"/>
                </a:solidFill>
              </a:rPr>
              <a:t>+1.23 Pg C yr⁻¹</a:t>
            </a:r>
            <a:endParaRPr lang="en-US" sz="2600" dirty="0"/>
          </a:p>
          <a:p>
            <a:pPr algn="ctr" indent="0" marL="0">
              <a:buNone/>
            </a:pPr>
            <a:r>
              <a:rPr lang="en-US" sz="1400" dirty="0">
                <a:solidFill>
                  <a:schemeClr val="tx1"/>
                </a:solidFill>
              </a:rPr>
              <a:t>global NPP from biogenic secondary organic aerosol</a:t>
            </a:r>
            <a:endParaRPr lang="en-US" sz="2600" dirty="0"/>
          </a:p>
          <a:p>
            <a:pPr algn="ctr" indent="0" marL="0">
              <a:buNone/>
            </a:pPr>
            <a:r>
              <a:rPr lang="en-US" sz="1400" i="1" dirty="0">
                <a:solidFill>
                  <a:schemeClr val="accent1"/>
                </a:solidFill>
              </a:rPr>
              <a:t>Rap et al., 2018</a:t>
            </a:r>
            <a:endParaRPr lang="en-US" sz="2600" dirty="0"/>
          </a:p>
        </p:txBody>
      </p:sp>
      <p:sp>
        <p:nvSpPr>
          <p:cNvPr id="12" name="Ezhova figure card"/>
          <p:cNvSpPr/>
          <p:nvPr/>
        </p:nvSpPr>
        <p:spPr>
          <a:xfrm>
            <a:off x="7818120" y="1280160"/>
            <a:ext cx="3913632" cy="3931920"/>
          </a:xfrm>
          <a:prstGeom prst="roundRect">
            <a:avLst>
              <a:gd name="adj" fmla="val 163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Ezhova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GPP vs diffuse fraction (R</a:t>
            </a:r>
            <a:r>
              <a:rPr lang="en-US" sz="1400" b="1" baseline="-40000" dirty="0">
                <a:solidFill>
                  <a:schemeClr val="tx2"/>
                </a:solidFill>
              </a:rPr>
              <a:t>d</a:t>
            </a:r>
            <a:r>
              <a:rPr lang="en-US" sz="1400" b="1" dirty="0">
                <a:solidFill>
                  <a:schemeClr val="tx2"/>
                </a:solidFill>
              </a:rPr>
              <a:t>/R</a:t>
            </a:r>
            <a:r>
              <a:rPr lang="en-US" sz="1400" b="1" baseline="-40000" dirty="0">
                <a:solidFill>
                  <a:schemeClr val="tx2"/>
                </a:solidFill>
              </a:rPr>
              <a:t>g</a:t>
            </a:r>
            <a:r>
              <a:rPr lang="en-US" sz="1400" b="1" dirty="0">
                <a:solidFill>
                  <a:schemeClr val="tx2"/>
                </a:solidFill>
              </a:rPr>
              <a:t>), five boreal and hemiboreal forest sites</a:t>
            </a:r>
            <a:endParaRPr lang="en-US" sz="1400" dirty="0"/>
          </a:p>
        </p:txBody>
      </p:sp>
      <p:pic>
        <p:nvPicPr>
          <p:cNvPr id="14" name="Ezhova figure" descr="Ezhova figure">    </p:cNvPr>
          <p:cNvPicPr>
            <a:picLocks noChangeAspect="1"/>
          </p:cNvPicPr>
          <p:nvPr/>
        </p:nvPicPr>
        <p:blipFill>
          <a:blip r:embed="rId1"/>
          <a:stretch>
            <a:fillRect/>
          </a:stretch>
        </p:blipFill>
        <p:spPr>
          <a:xfrm>
            <a:off x="8176148" y="1901952"/>
            <a:ext cx="3197577" cy="2651760"/>
          </a:xfrm>
          <a:prstGeom prst="rect">
            <a:avLst/>
          </a:prstGeom>
        </p:spPr>
      </p:pic>
      <p:sp>
        <p:nvSpPr>
          <p:cNvPr id="15" name="Ezhova figure caption"/>
          <p:cNvSpPr txBox="1"/>
          <p:nvPr/>
        </p:nvSpPr>
        <p:spPr>
          <a:xfrm>
            <a:off x="7955280" y="4626864"/>
            <a:ext cx="3639312" cy="228600"/>
          </a:xfrm>
          <a:prstGeom prst="rect">
            <a:avLst/>
          </a:prstGeom>
          <a:noFill/>
          <a:ln/>
        </p:spPr>
        <p:txBody>
          <a:bodyPr wrap="square" lIns="0" tIns="0" rIns="0" bIns="0" rtlCol="0" anchor="t"/>
          <a:lstStyle/>
          <a:p>
            <a:pPr indent="0" marL="0">
              <a:buNone/>
            </a:pPr>
            <a:r>
              <a:rPr lang="en-US" sz="1400" dirty="0">
                <a:solidFill>
                  <a:schemeClr val="tx1"/>
                </a:solidFill>
              </a:rPr>
              <a:t>GPP peaks at an intermediate diffuse fraction</a:t>
            </a:r>
            <a:endParaRPr lang="en-US" sz="1400" dirty="0"/>
          </a:p>
        </p:txBody>
      </p:sp>
      <p:sp>
        <p:nvSpPr>
          <p:cNvPr id="16" name="Ezhova figure source"/>
          <p:cNvSpPr txBox="1"/>
          <p:nvPr/>
        </p:nvSpPr>
        <p:spPr>
          <a:xfrm>
            <a:off x="7955280" y="485546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Ezhova et al., 2018, Fig. 8</a:t>
            </a:r>
            <a:endParaRPr lang="en-US" sz="1400" dirty="0"/>
          </a:p>
        </p:txBody>
      </p:sp>
      <p:sp>
        <p:nvSpPr>
          <p:cNvPr id="17" name="Range strip"/>
          <p:cNvSpPr/>
          <p:nvPr/>
        </p:nvSpPr>
        <p:spPr>
          <a:xfrm>
            <a:off x="457200" y="5257800"/>
            <a:ext cx="11274552" cy="731520"/>
          </a:xfrm>
          <a:prstGeom prst="roundRect">
            <a:avLst>
              <a:gd name="adj" fmla="val 7500"/>
            </a:avLst>
          </a:prstGeom>
          <a:solidFill>
            <a:schemeClr val="bg2"/>
          </a:solidFill>
          <a:ln w="12700">
            <a:solidFill>
              <a:schemeClr val="bg2"/>
            </a:solidFill>
            <a:prstDash val="solid"/>
          </a:ln>
        </p:spPr>
      </p:sp>
      <p:sp>
        <p:nvSpPr>
          <p:cNvPr id="18" name="Range strip text"/>
          <p:cNvSpPr txBox="1"/>
          <p:nvPr/>
        </p:nvSpPr>
        <p:spPr>
          <a:xfrm>
            <a:off x="594360" y="5257800"/>
            <a:ext cx="11000232" cy="731520"/>
          </a:xfrm>
          <a:prstGeom prst="rect">
            <a:avLst/>
          </a:prstGeom>
          <a:noFill/>
          <a:ln/>
        </p:spPr>
        <p:txBody>
          <a:bodyPr wrap="square" lIns="0" tIns="0" rIns="0" bIns="0" rtlCol="0" anchor="ctr"/>
          <a:lstStyle/>
          <a:p>
            <a:pPr indent="0" marL="0">
              <a:buNone/>
            </a:pPr>
            <a:r>
              <a:rPr lang="en-US" sz="1400" b="1" dirty="0">
                <a:solidFill>
                  <a:schemeClr val="tx1"/>
                </a:solidFill>
              </a:rPr>
              <a:t>Range:</a:t>
            </a:r>
            <a:r>
              <a:rPr lang="en-US" sz="1400" dirty="0">
                <a:solidFill>
                  <a:schemeClr val="tx1"/>
                </a:solidFill>
              </a:rPr>
              <a:t> from no significant change (savanna) to +14% GPP (boreal forest); globally, the net effect on natural vegetation is a gain.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14</a:t>
            </a:fld>
            <a:endParaRPr lang="en-US"/>
          </a:p>
        </p:txBody>
      </p:sp>
    </p:spTree>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versus climate drivers of Indian rice yield</a:t>
            </a:r>
            <a:endParaRPr lang="en-US" sz="2800" dirty="0"/>
          </a:p>
        </p:txBody>
      </p:sp>
      <p:sp>
        <p:nvSpPr>
          <p:cNvPr id="4" name="Driver chart card"/>
          <p:cNvSpPr/>
          <p:nvPr/>
        </p:nvSpPr>
        <p:spPr>
          <a:xfrm>
            <a:off x="457200" y="1280160"/>
            <a:ext cx="6675120" cy="3977640"/>
          </a:xfrm>
          <a:prstGeom prst="roundRect">
            <a:avLst>
              <a:gd name="adj" fmla="val 1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Driver chart title"/>
          <p:cNvSpPr txBox="1"/>
          <p:nvPr/>
        </p:nvSpPr>
        <p:spPr>
          <a:xfrm>
            <a:off x="594360" y="1353312"/>
            <a:ext cx="6400800" cy="320040"/>
          </a:xfrm>
          <a:prstGeom prst="rect">
            <a:avLst/>
          </a:prstGeom>
          <a:noFill/>
          <a:ln/>
        </p:spPr>
        <p:txBody>
          <a:bodyPr wrap="square" lIns="0" tIns="0" rIns="0" bIns="0" rtlCol="0" anchor="ctr"/>
          <a:lstStyle/>
          <a:p>
            <a:pPr indent="0" marL="0">
              <a:buNone/>
            </a:pPr>
            <a:r>
              <a:rPr lang="en-US" sz="1400" b="1" dirty="0">
                <a:solidFill>
                  <a:schemeClr val="tx2"/>
                </a:solidFill>
              </a:rPr>
              <a:t>Mean annual change in India's rice yield by driver, 1998–2019 (% yr⁻¹)</a:t>
            </a:r>
            <a:endParaRPr lang="en-US" sz="1400" dirty="0"/>
          </a:p>
        </p:txBody>
      </p:sp>
      <p:graphicFrame>
        <p:nvGraphicFramePr>
          <p:cNvPr id="6" name="Driver chart" descr=""/>
          <p:cNvGraphicFramePr/>
          <p:nvPr/>
        </p:nvGraphicFramePr>
        <p:xfrm>
          <a:off x="548640" y="1691640"/>
          <a:ext cx="6492240" cy="3154680"/>
        </p:xfrm>
        <a:graphic xmlns:a="http://schemas.openxmlformats.org/drawingml/2006/main">
          <a:graphicData uri="http://schemas.openxmlformats.org/drawingml/2006/chart">
            <c:chart xmlns:c="http://schemas.openxmlformats.org/drawingml/2006/chart" r:id="rId1"/>
          </a:graphicData>
        </a:graphic>
      </p:graphicFrame>
      <p:sp>
        <p:nvSpPr>
          <p:cNvPr id="7" name="Driver source"/>
          <p:cNvSpPr txBox="1"/>
          <p:nvPr/>
        </p:nvSpPr>
        <p:spPr>
          <a:xfrm>
            <a:off x="594360" y="4892040"/>
            <a:ext cx="6400800" cy="274320"/>
          </a:xfrm>
          <a:prstGeom prst="rect">
            <a:avLst/>
          </a:prstGeom>
          <a:noFill/>
          <a:ln/>
        </p:spPr>
        <p:txBody>
          <a:bodyPr wrap="square" lIns="0" tIns="0" rIns="0" bIns="0" rtlCol="0" anchor="ctr"/>
          <a:lstStyle/>
          <a:p>
            <a:pPr indent="0" marL="0">
              <a:buNone/>
            </a:pPr>
            <a:r>
              <a:rPr lang="en-US" sz="1400" i="1" dirty="0">
                <a:solidFill>
                  <a:schemeClr val="accent1"/>
                </a:solidFill>
              </a:rPr>
              <a:t>Data: Gupta et al., 2025</a:t>
            </a:r>
            <a:endParaRPr lang="en-US" sz="1400" dirty="0"/>
          </a:p>
        </p:txBody>
      </p:sp>
      <p:sp>
        <p:nvSpPr>
          <p:cNvPr id="8" name="Weather card"/>
          <p:cNvSpPr/>
          <p:nvPr/>
        </p:nvSpPr>
        <p:spPr>
          <a:xfrm>
            <a:off x="7360920" y="1280160"/>
            <a:ext cx="4370832" cy="2377440"/>
          </a:xfrm>
          <a:prstGeom prst="roundRect">
            <a:avLst>
              <a:gd name="adj" fmla="val 269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Weather card head"/>
          <p:cNvSpPr/>
          <p:nvPr/>
        </p:nvSpPr>
        <p:spPr>
          <a:xfrm>
            <a:off x="7360920" y="1280160"/>
            <a:ext cx="4370832" cy="402336"/>
          </a:xfrm>
          <a:prstGeom prst="roundRect">
            <a:avLst>
              <a:gd name="adj" fmla="val 15909"/>
            </a:avLst>
          </a:prstGeom>
          <a:solidFill>
            <a:schemeClr val="accent1"/>
          </a:solidFill>
          <a:ln w="12700">
            <a:solidFill>
              <a:schemeClr val="accent1"/>
            </a:solidFill>
            <a:prstDash val="solid"/>
          </a:ln>
        </p:spPr>
      </p:sp>
      <p:sp>
        <p:nvSpPr>
          <p:cNvPr id="10" name="Weather card head text"/>
          <p:cNvSpPr txBox="1"/>
          <p:nvPr/>
        </p:nvSpPr>
        <p:spPr>
          <a:xfrm>
            <a:off x="7498080" y="1280160"/>
            <a:ext cx="4096512" cy="402336"/>
          </a:xfrm>
          <a:prstGeom prst="rect">
            <a:avLst/>
          </a:prstGeom>
          <a:noFill/>
          <a:ln/>
        </p:spPr>
        <p:txBody>
          <a:bodyPr wrap="square" lIns="0" tIns="0" rIns="0" bIns="0" rtlCol="0" anchor="ctr"/>
          <a:lstStyle/>
          <a:p>
            <a:pPr indent="0" marL="0">
              <a:buNone/>
            </a:pPr>
            <a:r>
              <a:rPr lang="en-US" sz="1400" b="1" dirty="0">
                <a:solidFill>
                  <a:schemeClr val="bg1"/>
                </a:solidFill>
              </a:rPr>
              <a:t>Weather-driven yield losses, India (1998–2019)</a:t>
            </a:r>
            <a:endParaRPr lang="en-US" sz="1400" dirty="0"/>
          </a:p>
        </p:txBody>
      </p:sp>
      <p:sp>
        <p:nvSpPr>
          <p:cNvPr id="11" name="Weather card text"/>
          <p:cNvSpPr txBox="1"/>
          <p:nvPr/>
        </p:nvSpPr>
        <p:spPr>
          <a:xfrm>
            <a:off x="7525512" y="1773936"/>
            <a:ext cx="4041648" cy="1810512"/>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Rice:</a:t>
            </a:r>
            <a:r>
              <a:rPr lang="en-US" sz="1400" dirty="0">
                <a:solidFill>
                  <a:schemeClr val="tx1"/>
                </a:solidFill>
              </a:rPr>
              <a:t> Tmax −2.55%, Tmin −2.92%, rain −2.78%, RH −4.84%, soil moisture −2.90%, FAPAR −2.82%</a:t>
            </a:r>
            <a:endParaRPr lang="en-US" sz="1400" dirty="0"/>
          </a:p>
          <a:p>
            <a:pPr indent="0" marL="0">
              <a:spcAft>
                <a:spcPts val="300"/>
              </a:spcAft>
              <a:buNone/>
            </a:pPr>
            <a:r>
              <a:rPr lang="en-US" sz="1400" b="1" dirty="0">
                <a:solidFill>
                  <a:schemeClr val="tx1"/>
                </a:solidFill>
              </a:rPr>
              <a:t>Maize:</a:t>
            </a:r>
            <a:r>
              <a:rPr lang="en-US" sz="1400" dirty="0">
                <a:solidFill>
                  <a:schemeClr val="tx1"/>
                </a:solidFill>
              </a:rPr>
              <a:t> Tmax −5.12%, Tmin −6.57%, rain −6.93%, RH −6.54%, soil moisture −4.97%, FAPAR −5.84%</a:t>
            </a:r>
            <a:endParaRPr lang="en-US" sz="1400" dirty="0"/>
          </a:p>
          <a:p>
            <a:pPr indent="0" marL="0">
              <a:buNone/>
            </a:pPr>
            <a:r>
              <a:rPr lang="en-US" sz="1400" i="1" dirty="0">
                <a:solidFill>
                  <a:schemeClr val="accent1"/>
                </a:solidFill>
              </a:rPr>
              <a:t>Gupta et al., 2024</a:t>
            </a:r>
            <a:endParaRPr lang="en-US" sz="1400" dirty="0"/>
          </a:p>
        </p:txBody>
      </p:sp>
      <p:sp>
        <p:nvSpPr>
          <p:cNvPr id="12" name="Heat card"/>
          <p:cNvSpPr/>
          <p:nvPr/>
        </p:nvSpPr>
        <p:spPr>
          <a:xfrm>
            <a:off x="7360920" y="3794760"/>
            <a:ext cx="4370832" cy="1463040"/>
          </a:xfrm>
          <a:prstGeom prst="roundRect">
            <a:avLst>
              <a:gd name="adj" fmla="val 437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Heat card head"/>
          <p:cNvSpPr/>
          <p:nvPr/>
        </p:nvSpPr>
        <p:spPr>
          <a:xfrm>
            <a:off x="7360920" y="3794760"/>
            <a:ext cx="4370832" cy="402336"/>
          </a:xfrm>
          <a:prstGeom prst="roundRect">
            <a:avLst>
              <a:gd name="adj" fmla="val 15909"/>
            </a:avLst>
          </a:prstGeom>
          <a:solidFill>
            <a:schemeClr val="accent5"/>
          </a:solidFill>
          <a:ln w="12700">
            <a:solidFill>
              <a:schemeClr val="accent5"/>
            </a:solidFill>
            <a:prstDash val="solid"/>
          </a:ln>
        </p:spPr>
      </p:sp>
      <p:sp>
        <p:nvSpPr>
          <p:cNvPr id="14" name="Heat card head text"/>
          <p:cNvSpPr txBox="1"/>
          <p:nvPr/>
        </p:nvSpPr>
        <p:spPr>
          <a:xfrm>
            <a:off x="7498080" y="3794760"/>
            <a:ext cx="4096512" cy="402336"/>
          </a:xfrm>
          <a:prstGeom prst="rect">
            <a:avLst/>
          </a:prstGeom>
          <a:noFill/>
          <a:ln/>
        </p:spPr>
        <p:txBody>
          <a:bodyPr wrap="square" lIns="0" tIns="0" rIns="0" bIns="0" rtlCol="0" anchor="ctr"/>
          <a:lstStyle/>
          <a:p>
            <a:pPr indent="0" marL="0">
              <a:buNone/>
            </a:pPr>
            <a:r>
              <a:rPr lang="en-US" sz="1400" b="1" dirty="0">
                <a:solidFill>
                  <a:schemeClr val="bg1"/>
                </a:solidFill>
              </a:rPr>
              <a:t>Interaction with heat</a:t>
            </a:r>
            <a:endParaRPr lang="en-US" sz="1400" dirty="0"/>
          </a:p>
        </p:txBody>
      </p:sp>
      <p:sp>
        <p:nvSpPr>
          <p:cNvPr id="15" name="Heat card text"/>
          <p:cNvSpPr txBox="1"/>
          <p:nvPr/>
        </p:nvSpPr>
        <p:spPr>
          <a:xfrm>
            <a:off x="7525512" y="4288536"/>
            <a:ext cx="4041648" cy="89611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US air-pollution yield losses of 20–30% act together with heat stress; warming dominates future losses</a:t>
            </a:r>
            <a:endParaRPr lang="en-US" sz="1400" dirty="0"/>
          </a:p>
          <a:p>
            <a:pPr indent="0" marL="0">
              <a:buNone/>
            </a:pPr>
            <a:r>
              <a:rPr lang="en-US" sz="1400" i="1" dirty="0">
                <a:solidFill>
                  <a:schemeClr val="accent1"/>
                </a:solidFill>
              </a:rPr>
              <a:t>Liu &amp; Desai, 2021</a:t>
            </a:r>
            <a:endParaRPr lang="en-US" sz="1400" dirty="0"/>
          </a:p>
        </p:txBody>
      </p:sp>
      <p:sp>
        <p:nvSpPr>
          <p:cNvPr id="16" name="Driver strip"/>
          <p:cNvSpPr/>
          <p:nvPr/>
        </p:nvSpPr>
        <p:spPr>
          <a:xfrm>
            <a:off x="457200" y="5440680"/>
            <a:ext cx="11274552" cy="731520"/>
          </a:xfrm>
          <a:prstGeom prst="roundRect">
            <a:avLst>
              <a:gd name="adj" fmla="val 7500"/>
            </a:avLst>
          </a:prstGeom>
          <a:solidFill>
            <a:schemeClr val="bg2"/>
          </a:solidFill>
          <a:ln w="12700">
            <a:solidFill>
              <a:schemeClr val="bg2"/>
            </a:solidFill>
            <a:prstDash val="solid"/>
          </a:ln>
        </p:spPr>
      </p:sp>
      <p:sp>
        <p:nvSpPr>
          <p:cNvPr id="17" name="Driver strip text"/>
          <p:cNvSpPr txBox="1"/>
          <p:nvPr/>
        </p:nvSpPr>
        <p:spPr>
          <a:xfrm>
            <a:off x="594360" y="5440680"/>
            <a:ext cx="11000232" cy="731520"/>
          </a:xfrm>
          <a:prstGeom prst="rect">
            <a:avLst/>
          </a:prstGeom>
          <a:noFill/>
          <a:ln/>
        </p:spPr>
        <p:txBody>
          <a:bodyPr wrap="square" lIns="0" tIns="0" rIns="0" bIns="0" rtlCol="0" anchor="ctr"/>
          <a:lstStyle/>
          <a:p>
            <a:pPr indent="0" marL="0">
              <a:buNone/>
            </a:pPr>
            <a:r>
              <a:rPr lang="en-US" sz="1400" b="1" dirty="0">
                <a:solidFill>
                  <a:schemeClr val="tx1"/>
                </a:solidFill>
              </a:rPr>
              <a:t>Message:</a:t>
            </a:r>
            <a:r>
              <a:rPr lang="en-US" sz="1400" dirty="0">
                <a:solidFill>
                  <a:schemeClr val="tx1"/>
                </a:solidFill>
              </a:rPr>
              <a:t> heat is the largest single driver, but aerosol is comparable to night-time warming and larger than rainfall, so it must be included when attributing Indian yield trends.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15</a:t>
            </a:fld>
            <a:endParaRPr lang="en-US"/>
          </a:p>
        </p:txBody>
      </p:sp>
    </p:spTree>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Diffuse fertilization of the global carbon sink: past and future</a:t>
            </a:r>
            <a:endParaRPr lang="en-US" sz="2800" dirty="0"/>
          </a:p>
        </p:txBody>
      </p:sp>
      <p:sp>
        <p:nvSpPr>
          <p:cNvPr id="4" name="Mercado figure card"/>
          <p:cNvSpPr/>
          <p:nvPr/>
        </p:nvSpPr>
        <p:spPr>
          <a:xfrm>
            <a:off x="457200" y="1280160"/>
            <a:ext cx="6400800" cy="3749040"/>
          </a:xfrm>
          <a:prstGeom prst="roundRect">
            <a:avLst>
              <a:gd name="adj" fmla="val 170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Mercado figure title"/>
          <p:cNvSpPr txBox="1"/>
          <p:nvPr/>
        </p:nvSpPr>
        <p:spPr>
          <a:xfrm>
            <a:off x="594360" y="1371600"/>
            <a:ext cx="6126480" cy="530352"/>
          </a:xfrm>
          <a:prstGeom prst="rect">
            <a:avLst/>
          </a:prstGeom>
          <a:noFill/>
          <a:ln/>
        </p:spPr>
        <p:txBody>
          <a:bodyPr wrap="square" lIns="0" tIns="0" rIns="0" bIns="0" rtlCol="0" anchor="t"/>
          <a:lstStyle/>
          <a:p>
            <a:pPr indent="0" marL="0">
              <a:buNone/>
            </a:pPr>
            <a:r>
              <a:rPr lang="en-US" sz="1400" b="1" dirty="0">
                <a:solidFill>
                  <a:schemeClr val="tx2"/>
                </a:solidFill>
              </a:rPr>
              <a:t>20th century: diffuse fraction (a), its NEE contribution (b, red), % change in diffuse fraction (c) and sink gain (d), 1950–1980</a:t>
            </a:r>
            <a:endParaRPr lang="en-US" sz="1400" dirty="0"/>
          </a:p>
        </p:txBody>
      </p:sp>
      <p:pic>
        <p:nvPicPr>
          <p:cNvPr id="6" name="Mercado figure" descr="Mercado figure">    </p:cNvPr>
          <p:cNvPicPr>
            <a:picLocks noChangeAspect="1"/>
          </p:cNvPicPr>
          <p:nvPr/>
        </p:nvPicPr>
        <p:blipFill>
          <a:blip r:embed="rId1"/>
          <a:stretch>
            <a:fillRect/>
          </a:stretch>
        </p:blipFill>
        <p:spPr>
          <a:xfrm>
            <a:off x="1192996" y="1901952"/>
            <a:ext cx="4929208" cy="2697480"/>
          </a:xfrm>
          <a:prstGeom prst="rect">
            <a:avLst/>
          </a:prstGeom>
        </p:spPr>
      </p:pic>
      <p:sp>
        <p:nvSpPr>
          <p:cNvPr id="7" name="Mercado figure source"/>
          <p:cNvSpPr txBox="1"/>
          <p:nvPr/>
        </p:nvSpPr>
        <p:spPr>
          <a:xfrm>
            <a:off x="594360" y="4672584"/>
            <a:ext cx="6126480" cy="246888"/>
          </a:xfrm>
          <a:prstGeom prst="rect">
            <a:avLst/>
          </a:prstGeom>
          <a:noFill/>
          <a:ln/>
        </p:spPr>
        <p:txBody>
          <a:bodyPr wrap="square" lIns="0" tIns="0" rIns="0" bIns="0" rtlCol="0" anchor="t"/>
          <a:lstStyle/>
          <a:p>
            <a:pPr indent="0" marL="0">
              <a:buNone/>
            </a:pPr>
            <a:r>
              <a:rPr lang="en-US" sz="1400" i="1" dirty="0">
                <a:solidFill>
                  <a:schemeClr val="accent1"/>
                </a:solidFill>
              </a:rPr>
              <a:t>Source: Mercado et al., 2009, Fig. 3</a:t>
            </a:r>
            <a:endParaRPr lang="en-US" sz="1400" dirty="0"/>
          </a:p>
        </p:txBody>
      </p:sp>
      <p:sp>
        <p:nvSpPr>
          <p:cNvPr id="8" name="Past callout 1 card"/>
          <p:cNvSpPr/>
          <p:nvPr/>
        </p:nvSpPr>
        <p:spPr>
          <a:xfrm>
            <a:off x="457200" y="5029200"/>
            <a:ext cx="3108960" cy="1143000"/>
          </a:xfrm>
          <a:prstGeom prst="roundRect">
            <a:avLst>
              <a:gd name="adj" fmla="val 56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Past callout 1 text"/>
          <p:cNvSpPr txBox="1"/>
          <p:nvPr/>
        </p:nvSpPr>
        <p:spPr>
          <a:xfrm>
            <a:off x="566928" y="5074920"/>
            <a:ext cx="2889504" cy="1051560"/>
          </a:xfrm>
          <a:prstGeom prst="rect">
            <a:avLst/>
          </a:prstGeom>
          <a:noFill/>
          <a:ln/>
        </p:spPr>
        <p:txBody>
          <a:bodyPr wrap="square" lIns="0" tIns="0" rIns="0" bIns="0" rtlCol="0" anchor="ctr"/>
          <a:lstStyle/>
          <a:p>
            <a:pPr algn="ctr" indent="0" marL="0">
              <a:buNone/>
            </a:pPr>
            <a:r>
              <a:rPr lang="en-US" sz="2600" b="1" dirty="0">
                <a:solidFill>
                  <a:schemeClr val="accent3"/>
                </a:solidFill>
              </a:rPr>
              <a:t>−14.4% → +9.3%</a:t>
            </a:r>
            <a:endParaRPr lang="en-US" sz="2600" dirty="0"/>
          </a:p>
          <a:p>
            <a:pPr algn="ctr" indent="0" marL="0">
              <a:buNone/>
            </a:pPr>
            <a:r>
              <a:rPr lang="en-US" sz="1400" dirty="0">
                <a:solidFill>
                  <a:schemeClr val="tx1"/>
                </a:solidFill>
              </a:rPr>
              <a:t>land sink change from radiation, without vs with diffuse effect</a:t>
            </a:r>
            <a:endParaRPr lang="en-US" sz="2600" dirty="0"/>
          </a:p>
          <a:p>
            <a:pPr algn="ctr" indent="0" marL="0">
              <a:buNone/>
            </a:pPr>
            <a:r>
              <a:rPr lang="en-US" sz="1400" i="1" dirty="0">
                <a:solidFill>
                  <a:schemeClr val="accent1"/>
                </a:solidFill>
              </a:rPr>
              <a:t>Mercado et al., 2009</a:t>
            </a:r>
            <a:endParaRPr lang="en-US" sz="2600" dirty="0"/>
          </a:p>
        </p:txBody>
      </p:sp>
      <p:sp>
        <p:nvSpPr>
          <p:cNvPr id="10" name="Past callout 2 card"/>
          <p:cNvSpPr/>
          <p:nvPr/>
        </p:nvSpPr>
        <p:spPr>
          <a:xfrm>
            <a:off x="3749040" y="5029200"/>
            <a:ext cx="3108960" cy="1143000"/>
          </a:xfrm>
          <a:prstGeom prst="roundRect">
            <a:avLst>
              <a:gd name="adj" fmla="val 56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Past callout 2 text"/>
          <p:cNvSpPr txBox="1"/>
          <p:nvPr/>
        </p:nvSpPr>
        <p:spPr>
          <a:xfrm>
            <a:off x="3858768" y="5074920"/>
            <a:ext cx="2889504" cy="1051560"/>
          </a:xfrm>
          <a:prstGeom prst="rect">
            <a:avLst/>
          </a:prstGeom>
          <a:noFill/>
          <a:ln/>
        </p:spPr>
        <p:txBody>
          <a:bodyPr wrap="square" lIns="0" tIns="0" rIns="0" bIns="0" rtlCol="0" anchor="ctr"/>
          <a:lstStyle/>
          <a:p>
            <a:pPr algn="ctr" indent="0" marL="0">
              <a:buNone/>
            </a:pPr>
            <a:r>
              <a:rPr lang="en-US" sz="2600" b="1" dirty="0">
                <a:solidFill>
                  <a:schemeClr val="accent1"/>
                </a:solidFill>
              </a:rPr>
              <a:t>≤ 30 g C m⁻² yr⁻¹</a:t>
            </a:r>
            <a:endParaRPr lang="en-US" sz="2600" dirty="0"/>
          </a:p>
          <a:p>
            <a:pPr algn="ctr" indent="0" marL="0">
              <a:buNone/>
            </a:pPr>
            <a:r>
              <a:rPr lang="en-US" sz="1400" dirty="0">
                <a:solidFill>
                  <a:schemeClr val="tx1"/>
                </a:solidFill>
              </a:rPr>
              <a:t>regional sink gain, 1950–1980 (Europe, E USA, E Asia)</a:t>
            </a:r>
            <a:endParaRPr lang="en-US" sz="2600" dirty="0"/>
          </a:p>
          <a:p>
            <a:pPr algn="ctr" indent="0" marL="0">
              <a:buNone/>
            </a:pPr>
            <a:r>
              <a:rPr lang="en-US" sz="1400" i="1" dirty="0">
                <a:solidFill>
                  <a:schemeClr val="accent1"/>
                </a:solidFill>
              </a:rPr>
              <a:t>Mercado et al., 2009</a:t>
            </a:r>
            <a:endParaRPr lang="en-US" sz="2600" dirty="0"/>
          </a:p>
        </p:txBody>
      </p:sp>
      <p:sp>
        <p:nvSpPr>
          <p:cNvPr id="12" name="Yue chart card"/>
          <p:cNvSpPr/>
          <p:nvPr/>
        </p:nvSpPr>
        <p:spPr>
          <a:xfrm>
            <a:off x="7086600" y="1280160"/>
            <a:ext cx="4645152" cy="2331720"/>
          </a:xfrm>
          <a:prstGeom prst="roundRect">
            <a:avLst>
              <a:gd name="adj" fmla="val 274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Yue chart title"/>
          <p:cNvSpPr txBox="1"/>
          <p:nvPr/>
        </p:nvSpPr>
        <p:spPr>
          <a:xfrm>
            <a:off x="7223760" y="1335024"/>
            <a:ext cx="4389120" cy="320040"/>
          </a:xfrm>
          <a:prstGeom prst="rect">
            <a:avLst/>
          </a:prstGeom>
          <a:noFill/>
          <a:ln/>
        </p:spPr>
        <p:txBody>
          <a:bodyPr wrap="square" lIns="0" tIns="0" rIns="0" bIns="0" rtlCol="0" anchor="ctr"/>
          <a:lstStyle/>
          <a:p>
            <a:pPr indent="0" marL="0">
              <a:buNone/>
            </a:pPr>
            <a:r>
              <a:rPr lang="en-US" sz="1400" b="1" dirty="0">
                <a:solidFill>
                  <a:schemeClr val="tx2"/>
                </a:solidFill>
              </a:rPr>
              <a:t>China NPP change from O</a:t>
            </a:r>
            <a:r>
              <a:rPr lang="en-US" sz="1400" b="1" baseline="-40000" dirty="0">
                <a:solidFill>
                  <a:schemeClr val="tx2"/>
                </a:solidFill>
              </a:rPr>
              <a:t>3</a:t>
            </a:r>
            <a:r>
              <a:rPr lang="en-US" sz="1400" b="1" dirty="0">
                <a:solidFill>
                  <a:schemeClr val="tx2"/>
                </a:solidFill>
              </a:rPr>
              <a:t> + aerosol (Pg C yr</a:t>
            </a:r>
            <a:r>
              <a:rPr lang="en-US" sz="1400" b="1" baseline="30000" dirty="0">
                <a:solidFill>
                  <a:schemeClr val="tx2"/>
                </a:solidFill>
              </a:rPr>
              <a:t>−1</a:t>
            </a:r>
            <a:r>
              <a:rPr lang="en-US" sz="1400" b="1" dirty="0">
                <a:solidFill>
                  <a:schemeClr val="tx2"/>
                </a:solidFill>
              </a:rPr>
              <a:t>)</a:t>
            </a:r>
            <a:endParaRPr lang="en-US" sz="1400" dirty="0"/>
          </a:p>
        </p:txBody>
      </p:sp>
      <p:graphicFrame>
        <p:nvGraphicFramePr>
          <p:cNvPr id="14" name="Yue scenario chart" descr=""/>
          <p:cNvGraphicFramePr/>
          <p:nvPr/>
        </p:nvGraphicFramePr>
        <p:xfrm>
          <a:off x="7178040" y="1664208"/>
          <a:ext cx="4480560" cy="1645920"/>
        </p:xfrm>
        <a:graphic xmlns:a="http://schemas.openxmlformats.org/drawingml/2006/main">
          <a:graphicData uri="http://schemas.openxmlformats.org/drawingml/2006/chart">
            <c:chart xmlns:c="http://schemas.openxmlformats.org/drawingml/2006/chart" r:id="rId2"/>
          </a:graphicData>
        </a:graphic>
      </p:graphicFrame>
      <p:sp>
        <p:nvSpPr>
          <p:cNvPr id="15" name="Yue chart source"/>
          <p:cNvSpPr txBox="1"/>
          <p:nvPr/>
        </p:nvSpPr>
        <p:spPr>
          <a:xfrm>
            <a:off x="7223760" y="3310128"/>
            <a:ext cx="4389120" cy="274320"/>
          </a:xfrm>
          <a:prstGeom prst="rect">
            <a:avLst/>
          </a:prstGeom>
          <a:noFill/>
          <a:ln/>
        </p:spPr>
        <p:txBody>
          <a:bodyPr wrap="square" lIns="0" tIns="0" rIns="0" bIns="0" rtlCol="0" anchor="ctr"/>
          <a:lstStyle/>
          <a:p>
            <a:pPr indent="0" marL="0">
              <a:buNone/>
            </a:pPr>
            <a:r>
              <a:rPr lang="en-US" sz="1400" i="1" dirty="0">
                <a:solidFill>
                  <a:schemeClr val="accent1"/>
                </a:solidFill>
              </a:rPr>
              <a:t>Data: Yue et al., 2017, Table 3</a:t>
            </a:r>
            <a:endParaRPr lang="en-US" sz="1400" dirty="0"/>
          </a:p>
        </p:txBody>
      </p:sp>
      <p:sp>
        <p:nvSpPr>
          <p:cNvPr id="16" name="Future card"/>
          <p:cNvSpPr/>
          <p:nvPr/>
        </p:nvSpPr>
        <p:spPr>
          <a:xfrm>
            <a:off x="7086600" y="3749040"/>
            <a:ext cx="4645152" cy="2423160"/>
          </a:xfrm>
          <a:prstGeom prst="roundRect">
            <a:avLst>
              <a:gd name="adj" fmla="val 264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Future card head"/>
          <p:cNvSpPr/>
          <p:nvPr/>
        </p:nvSpPr>
        <p:spPr>
          <a:xfrm>
            <a:off x="7086600" y="3749040"/>
            <a:ext cx="4645152" cy="402336"/>
          </a:xfrm>
          <a:prstGeom prst="roundRect">
            <a:avLst>
              <a:gd name="adj" fmla="val 15909"/>
            </a:avLst>
          </a:prstGeom>
          <a:solidFill>
            <a:schemeClr val="tx2"/>
          </a:solidFill>
          <a:ln w="12700">
            <a:solidFill>
              <a:schemeClr val="tx2"/>
            </a:solidFill>
            <a:prstDash val="solid"/>
          </a:ln>
        </p:spPr>
      </p:sp>
      <p:sp>
        <p:nvSpPr>
          <p:cNvPr id="18" name="Future card head text"/>
          <p:cNvSpPr txBox="1"/>
          <p:nvPr/>
        </p:nvSpPr>
        <p:spPr>
          <a:xfrm>
            <a:off x="7223760" y="3749040"/>
            <a:ext cx="4370832" cy="402336"/>
          </a:xfrm>
          <a:prstGeom prst="rect">
            <a:avLst/>
          </a:prstGeom>
          <a:noFill/>
          <a:ln/>
        </p:spPr>
        <p:txBody>
          <a:bodyPr wrap="square" lIns="0" tIns="0" rIns="0" bIns="0" rtlCol="0" anchor="ctr"/>
          <a:lstStyle/>
          <a:p>
            <a:pPr indent="0" marL="0">
              <a:buNone/>
            </a:pPr>
            <a:r>
              <a:rPr lang="en-US" sz="1400" b="1" dirty="0">
                <a:solidFill>
                  <a:schemeClr val="bg1"/>
                </a:solidFill>
              </a:rPr>
              <a:t>Future outlook</a:t>
            </a:r>
            <a:endParaRPr lang="en-US" sz="1400" dirty="0"/>
          </a:p>
        </p:txBody>
      </p:sp>
      <p:sp>
        <p:nvSpPr>
          <p:cNvPr id="19" name="Future card text"/>
          <p:cNvSpPr txBox="1"/>
          <p:nvPr/>
        </p:nvSpPr>
        <p:spPr>
          <a:xfrm>
            <a:off x="7251192" y="4242816"/>
            <a:ext cx="4315968" cy="18562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Diffuse fertilization falls to near zero by 2100 as sulfate declines (Mercado et al., 2009)</a:t>
            </a:r>
            <a:endParaRPr lang="en-US" sz="1400" dirty="0"/>
          </a:p>
          <a:p>
            <a:pPr marL="177800" indent="-177800">
              <a:spcAft>
                <a:spcPts val="300"/>
              </a:spcAft>
              <a:buSzPct val="100000"/>
              <a:buChar char="•"/>
            </a:pPr>
            <a:r>
              <a:rPr lang="en-US" sz="1400" dirty="0">
                <a:solidFill>
                  <a:schemeClr val="tx1"/>
                </a:solidFill>
              </a:rPr>
              <a:t>All-sky diffuse effect rose 2.9% yr</a:t>
            </a:r>
            <a:r>
              <a:rPr lang="en-US" sz="1400" baseline="30000" dirty="0">
                <a:solidFill>
                  <a:schemeClr val="tx1"/>
                </a:solidFill>
              </a:rPr>
              <a:t>−1</a:t>
            </a:r>
            <a:r>
              <a:rPr lang="en-US" sz="1400" dirty="0">
                <a:solidFill>
                  <a:schemeClr val="tx1"/>
                </a:solidFill>
              </a:rPr>
              <a:t> (2001–2014) as cloud cover fell (Zhou et al., 2022)</a:t>
            </a:r>
            <a:endParaRPr lang="en-US" sz="1400" dirty="0"/>
          </a:p>
          <a:p>
            <a:pPr marL="177800" indent="-177800">
              <a:buSzPct val="100000"/>
              <a:buChar char="•"/>
            </a:pPr>
            <a:r>
              <a:rPr lang="en-US" sz="1400" dirty="0">
                <a:solidFill>
                  <a:schemeClr val="tx1"/>
                </a:solidFill>
              </a:rPr>
              <a:t>Cleaner air can cut crop output where the PM benefit dominates (Schiferl &amp; Heald, 2018)</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15950</Words>
  <Application>Microsoft Office PowerPoint</Application>
  <PresentationFormat>Widescreen</PresentationFormat>
  <Paragraphs>906</Paragraphs>
  <Slides>38</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Times New Roman</vt:lpstr>
      <vt:lpstr>Aerosol Haze TNR</vt:lpstr>
      <vt:lpstr>PowerPoint Presentation</vt:lpstr>
      <vt:lpstr>Seminar outline</vt:lpstr>
      <vt:lpstr>Why aerosol–productivity interactions matter</vt:lpstr>
      <vt:lpstr>Conceptual framework</vt:lpstr>
      <vt:lpstr>Aerosol types and sources</vt:lpstr>
      <vt:lpstr>AOD trends: global</vt:lpstr>
      <vt:lpstr>Spatial and seasonal distribution of aerosols over South Asia</vt:lpstr>
      <vt:lpstr>AOD trends: South Asia</vt:lpstr>
      <vt:lpstr>Aerosol optical properties that control light at the canopy</vt:lpstr>
      <vt:lpstr>Aerosol radiative effects</vt:lpstr>
      <vt:lpstr>Ground-based aerosol measurement</vt:lpstr>
      <vt:lpstr>Satellite aerosol retrieval principle</vt:lpstr>
      <vt:lpstr>Satellite aerosol algorithms and sensors</vt:lpstr>
      <vt:lpstr>Lidar, reanalysis and validation of aerosol products</vt:lpstr>
      <vt:lpstr>Estimating direct and diffuse PAR from aerosol data</vt:lpstr>
      <vt:lpstr>Ecosystem productivity: key concepts</vt:lpstr>
      <vt:lpstr>Measuring productivity on the ground</vt:lpstr>
      <vt:lpstr>Satellite productivity proxies I: vegetation indices and canopy structure</vt:lpstr>
      <vt:lpstr>Satellite productivity proxies II: SIF and productivity products</vt:lpstr>
      <vt:lpstr>Statistical designs for linking aerosols to productivity</vt:lpstr>
      <vt:lpstr>Natural experiments: when aerosol switches on or off</vt:lpstr>
      <vt:lpstr>Process models that link aerosols to productivity</vt:lpstr>
      <vt:lpstr>Light route: dimming vs diffuse fertilization</vt:lpstr>
      <vt:lpstr>Climate route: temperature, humidity, water and rain</vt:lpstr>
      <vt:lpstr>Co-pollutant ozone and aerosol type</vt:lpstr>
      <vt:lpstr>The optimum aerosol load: an inverted-U response</vt:lpstr>
      <vt:lpstr>Factors that decide the aerosol impact</vt:lpstr>
      <vt:lpstr>Evidence from natural ecosystems across the globe</vt:lpstr>
      <vt:lpstr>Evidence from crops outside South Asia</vt:lpstr>
      <vt:lpstr>Evidence from India and South Asia</vt:lpstr>
      <vt:lpstr>Ecosystem-wise productivity trends in India</vt:lpstr>
      <vt:lpstr>Uncertainties and challenges</vt:lpstr>
      <vt:lpstr>Conclusions and take-home messages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A panda</cp:lastModifiedBy>
  <cp:revision>14</cp:revision>
  <dcterms:created xsi:type="dcterms:W3CDTF">2026-10-24T19:53:47Z</dcterms:created>
  <dcterms:modified xsi:type="dcterms:W3CDTF">2026-10-24T21:18:33Z</dcterms:modified>
</cp:coreProperties>
</file>