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rts/chart2.xml" ContentType="application/vnd.openxmlformats-officedocument.drawingml.chart+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DD8B189-C83D-97B4-0B76-3999AD4DB0BF}">
          <p14:sldIdLst>
            <p14:sldId id="256"/>
            <p14:sldId id="257"/>
          </p14:sldIdLst>
        </p14:section>
        <p14:section name="Foundations" id="{69AEC4B1-AE87-2ABE-B2FB-E5074DAF67D8}">
          <p14:sldIdLst>
            <p14:sldId id="258"/>
            <p14:sldId id="259"/>
            <p14:sldId id="260"/>
            <p14:sldId id="261"/>
            <p14:sldId id="262"/>
            <p14:sldId id="263"/>
          </p14:sldIdLst>
        </p14:section>
        <p14:section name="Measuring fluorescence" id="{9DF26464-F7F5-2EF9-616F-78B02C1FA223}">
          <p14:sldIdLst>
            <p14:sldId id="264"/>
            <p14:sldId id="265"/>
            <p14:sldId id="266"/>
          </p14:sldIdLst>
        </p14:section>
        <p14:section name="Induction kinetics" id="{76CB631A-0A6B-2D9A-03AA-77E2690251E3}">
          <p14:sldIdLst>
            <p14:sldId id="267"/>
            <p14:sldId id="268"/>
            <p14:sldId id="269"/>
            <p14:sldId id="270"/>
          </p14:sldIdLst>
        </p14:section>
        <p14:section name="PSII redox state &amp; quenching" id="{F59C1EB5-2C3B-DD45-9051-CBB30F6F4A18}">
          <p14:sldIdLst>
            <p14:sldId id="271"/>
            <p14:sldId id="272"/>
            <p14:sldId id="273"/>
            <p14:sldId id="274"/>
            <p14:sldId id="275"/>
            <p14:sldId id="276"/>
            <p14:sldId id="277"/>
          </p14:sldIdLst>
        </p14:section>
        <p14:section name="PAM protocol &amp; parameters" id="{1149F010-2D8F-E0D9-F19A-F4D9FA9409FC}">
          <p14:sldIdLst>
            <p14:sldId id="278"/>
            <p14:sldId id="279"/>
            <p14:sldId id="280"/>
            <p14:sldId id="281"/>
            <p14:sldId id="282"/>
            <p14:sldId id="283"/>
            <p14:sldId id="284"/>
            <p14:sldId id="285"/>
            <p14:sldId id="286"/>
          </p14:sldIdLst>
        </p14:section>
        <p14:section name="Good practice &amp; pitfalls" id="{1A775671-A8A7-345D-601D-96D6FF2BEF17}">
          <p14:sldIdLst>
            <p14:sldId id="287"/>
            <p14:sldId id="288"/>
            <p14:sldId id="289"/>
            <p14:sldId id="290"/>
            <p14:sldId id="291"/>
            <p14:sldId id="292"/>
            <p14:sldId id="293"/>
          </p14:sldIdLst>
        </p14:section>
        <p14:section name="Imaging, applications &amp; monitoring" id="{8946FCF3-02BE-84C8-21D4-26A9245CE0C6}">
          <p14:sldIdLst>
            <p14:sldId id="294"/>
            <p14:sldId id="295"/>
            <p14:sldId id="296"/>
            <p14:sldId id="297"/>
            <p14:sldId id="298"/>
            <p14:sldId id="299"/>
          </p14:sldIdLst>
        </p14:section>
        <p14:section name="Sun-induced fluorescence (SIF)" id="{AF707D9E-9EE2-1D2F-46D9-2ACCF4CCF3E2}">
          <p14:sldIdLst>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Lst>
        </p14:section>
        <p14:section name="Synthesis &amp; self-check" id="{24E99990-0E78-823B-68A1-02237B6AF25F}">
          <p14:sldIdLst>
            <p14:sldId id="321"/>
            <p14:sldId id="322"/>
            <p14:sldId id="323"/>
            <p14:sldId id="324"/>
            <p14:sldId id="325"/>
            <p14:sldId id="32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1" autoAdjust="0"/>
    <p:restoredTop sz="94610"/>
  </p:normalViewPr>
  <p:slideViewPr>
    <p:cSldViewPr snapToGrid="0" snapToObjects="1">
      <p:cViewPr>
        <p:scale>
          <a:sx n="92" d="100"/>
          <a:sy n="92" d="100"/>
        </p:scale>
        <p:origin x="106" y="-1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23D2E"/>
                </a:solidFill>
                <a:latin typeface="+mn-lt"/>
              </a:defRPr>
            </a:pPr>
            <a:r>
              <a:rPr sz="1300" b="0" i="0" u="none" strike="noStrike">
                <a:solidFill>
                  <a:srgbClr val="123D2E"/>
                </a:solidFill>
                <a:latin typeface="+mn-lt"/>
              </a:rPr>
              <a:t>Idealised OJIP transient (log-spaced time axis; O, J, I, P marked on the axis)</a:t>
            </a:r>
          </a:p>
        </c:rich>
      </c:tx>
      <c:overlay val="0"/>
    </c:title>
    <c:autoTitleDeleted val="0"/>
    <c:plotArea>
      <c:layout/>
      <c:lineChart>
        <c:grouping val="standard"/>
        <c:varyColors val="0"/>
        <c:ser>
          <c:idx val="0"/>
          <c:order val="0"/>
          <c:tx>
            <c:strRef>
              <c:f>Sheet1!$B$1</c:f>
              <c:strCache>
                <c:ptCount val="1"/>
                <c:pt idx="0">
                  <c:v>Fluorescence (relative)</c:v>
                </c:pt>
              </c:strCache>
            </c:strRef>
          </c:tx>
          <c:spPr>
            <a:ln w="38100" cap="flat">
              <a:solidFill>
                <a:srgbClr val="D62839"/>
              </a:solidFill>
              <a:prstDash val="solid"/>
              <a:round/>
            </a:ln>
            <a:effectLst/>
          </c:spPr>
          <c:marker>
            <c:symbol val="circle"/>
            <c:size val="6"/>
            <c:spPr>
              <a:solidFill>
                <a:srgbClr val="D62839"/>
              </a:solidFill>
              <a:ln w="9525" cap="flat">
                <a:solidFill>
                  <a:srgbClr val="D62839"/>
                </a:solidFill>
                <a:prstDash val="solid"/>
                <a:round/>
              </a:ln>
              <a:effectLst/>
            </c:spPr>
          </c:marker>
          <c:cat>
            <c:strRef>
              <c:f>Sheet1!$A$2:$A$15</c:f>
              <c:strCache>
                <c:ptCount val="14"/>
                <c:pt idx="0">
                  <c:v>O 0.01</c:v>
                </c:pt>
                <c:pt idx="1">
                  <c:v>0.02</c:v>
                </c:pt>
                <c:pt idx="2">
                  <c:v>0.05</c:v>
                </c:pt>
                <c:pt idx="3">
                  <c:v>0.1</c:v>
                </c:pt>
                <c:pt idx="4">
                  <c:v>0.2</c:v>
                </c:pt>
                <c:pt idx="5">
                  <c:v>0.5</c:v>
                </c:pt>
                <c:pt idx="6">
                  <c:v>1</c:v>
                </c:pt>
                <c:pt idx="7">
                  <c:v>J 2</c:v>
                </c:pt>
                <c:pt idx="8">
                  <c:v>5</c:v>
                </c:pt>
                <c:pt idx="9">
                  <c:v>10</c:v>
                </c:pt>
                <c:pt idx="10">
                  <c:v>I 30</c:v>
                </c:pt>
                <c:pt idx="11">
                  <c:v>100</c:v>
                </c:pt>
                <c:pt idx="12">
                  <c:v>P 300</c:v>
                </c:pt>
                <c:pt idx="13">
                  <c:v>1000</c:v>
                </c:pt>
              </c:strCache>
            </c:strRef>
          </c:cat>
          <c:val>
            <c:numRef>
              <c:f>Sheet1!$B$2:$B$15</c:f>
              <c:numCache>
                <c:formatCode>General</c:formatCode>
                <c:ptCount val="14"/>
                <c:pt idx="0">
                  <c:v>500</c:v>
                </c:pt>
                <c:pt idx="1">
                  <c:v>505</c:v>
                </c:pt>
                <c:pt idx="2">
                  <c:v>520</c:v>
                </c:pt>
                <c:pt idx="3">
                  <c:v>570</c:v>
                </c:pt>
                <c:pt idx="4">
                  <c:v>680</c:v>
                </c:pt>
                <c:pt idx="5">
                  <c:v>900</c:v>
                </c:pt>
                <c:pt idx="6">
                  <c:v>1150</c:v>
                </c:pt>
                <c:pt idx="7">
                  <c:v>1300</c:v>
                </c:pt>
                <c:pt idx="8">
                  <c:v>1380</c:v>
                </c:pt>
                <c:pt idx="9">
                  <c:v>1480</c:v>
                </c:pt>
                <c:pt idx="10">
                  <c:v>1700</c:v>
                </c:pt>
                <c:pt idx="11">
                  <c:v>2150</c:v>
                </c:pt>
                <c:pt idx="12">
                  <c:v>2400</c:v>
                </c:pt>
                <c:pt idx="13">
                  <c:v>2380</c:v>
                </c:pt>
              </c:numCache>
            </c:numRef>
          </c:val>
          <c:smooth val="0"/>
          <c:extLst>
            <c:ext xmlns:c16="http://schemas.microsoft.com/office/drawing/2014/chart" uri="{C3380CC4-5D6E-409C-BE32-E72D297353CC}">
              <c16:uniqueId val="{00000000-3CAA-40A6-86EE-CABE1D31A048}"/>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5E7268"/>
                    </a:solidFill>
                    <a:latin typeface="Arial"/>
                  </a:defRPr>
                </a:pPr>
                <a:r>
                  <a:rPr sz="1100" b="0" i="0" u="none" strike="noStrike">
                    <a:solidFill>
                      <a:srgbClr val="5E7268"/>
                    </a:solidFill>
                    <a:latin typeface="Arial"/>
                  </a:rPr>
                  <a:t>Time after light on (ms)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E7268"/>
                </a:solidFill>
                <a:latin typeface="+mn-lt"/>
              </a:defRPr>
            </a:pPr>
            <a:endParaRPr lang="en-US"/>
          </a:p>
        </c:txPr>
        <c:crossAx val="2094734552"/>
        <c:crosses val="autoZero"/>
        <c:auto val="1"/>
        <c:lblAlgn val="ctr"/>
        <c:lblOffset val="100"/>
        <c:noMultiLvlLbl val="1"/>
      </c:catAx>
      <c:valAx>
        <c:axId val="2094734552"/>
        <c:scaling>
          <c:orientation val="minMax"/>
          <c:max val="2600"/>
          <c:min val="0"/>
        </c:scaling>
        <c:delete val="0"/>
        <c:axPos val="l"/>
        <c:majorGridlines>
          <c:spPr>
            <a:ln w="9525" cap="flat">
              <a:solidFill>
                <a:srgbClr val="E3E8E5"/>
              </a:solidFill>
              <a:prstDash val="solid"/>
              <a:round/>
            </a:ln>
          </c:spPr>
        </c:majorGridlines>
        <c:title>
          <c:tx>
            <c:rich>
              <a:bodyPr/>
              <a:lstStyle/>
              <a:p>
                <a:pPr>
                  <a:defRPr sz="1100" b="0" i="0" u="none" strike="noStrike">
                    <a:solidFill>
                      <a:srgbClr val="5E7268"/>
                    </a:solidFill>
                    <a:latin typeface="Arial"/>
                  </a:defRPr>
                </a:pPr>
                <a:r>
                  <a:rPr sz="1100" b="0" i="0" u="none" strike="noStrike">
                    <a:solidFill>
                      <a:srgbClr val="5E7268"/>
                    </a:solidFill>
                    <a:latin typeface="Arial"/>
                  </a:rPr>
                  <a:t>Fluorescence (a.u.)</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7268"/>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23D2E"/>
                </a:solidFill>
                <a:latin typeface="+mn-lt"/>
              </a:defRPr>
            </a:pPr>
            <a:r>
              <a:rPr lang="en-US" sz="1300" b="0" i="0" u="none" strike="noStrike">
                <a:solidFill>
                  <a:srgbClr val="123D2E"/>
                </a:solidFill>
                <a:latin typeface="+mn-lt"/>
              </a:rPr>
              <a:t>In-filling of the O₂-A band by fluorescence (schematic)</a:t>
            </a:r>
          </a:p>
        </c:rich>
      </c:tx>
      <c:overlay val="0"/>
    </c:title>
    <c:autoTitleDeleted val="0"/>
    <c:plotArea>
      <c:layout/>
      <c:lineChart>
        <c:grouping val="standard"/>
        <c:varyColors val="0"/>
        <c:ser>
          <c:idx val="0"/>
          <c:order val="0"/>
          <c:tx>
            <c:strRef>
              <c:f>Sheet1!$B$1</c:f>
              <c:strCache>
                <c:ptCount val="1"/>
                <c:pt idx="0">
                  <c:v>Irradiance E (normalised)</c:v>
                </c:pt>
              </c:strCache>
            </c:strRef>
          </c:tx>
          <c:spPr>
            <a:ln w="38100" cap="flat">
              <a:solidFill>
                <a:srgbClr val="5E7268"/>
              </a:solidFill>
              <a:prstDash val="solid"/>
              <a:round/>
            </a:ln>
            <a:effectLst/>
          </c:spPr>
          <c:marker>
            <c:symbol val="none"/>
          </c:marker>
          <c:cat>
            <c:strRef>
              <c:f>Sheet1!$A$2:$A$22</c:f>
              <c:strCache>
                <c:ptCount val="21"/>
                <c:pt idx="0">
                  <c:v>755.0</c:v>
                </c:pt>
                <c:pt idx="1">
                  <c:v>755.5</c:v>
                </c:pt>
                <c:pt idx="2">
                  <c:v>756.0</c:v>
                </c:pt>
                <c:pt idx="3">
                  <c:v>756.5</c:v>
                </c:pt>
                <c:pt idx="4">
                  <c:v>757.0</c:v>
                </c:pt>
                <c:pt idx="5">
                  <c:v>757.5</c:v>
                </c:pt>
                <c:pt idx="6">
                  <c:v>758.0</c:v>
                </c:pt>
                <c:pt idx="7">
                  <c:v>758.5</c:v>
                </c:pt>
                <c:pt idx="8">
                  <c:v>759.0</c:v>
                </c:pt>
                <c:pt idx="9">
                  <c:v>759.5</c:v>
                </c:pt>
                <c:pt idx="10">
                  <c:v>760.0</c:v>
                </c:pt>
                <c:pt idx="11">
                  <c:v>760.5</c:v>
                </c:pt>
                <c:pt idx="12">
                  <c:v>761.0</c:v>
                </c:pt>
                <c:pt idx="13">
                  <c:v>761.5</c:v>
                </c:pt>
                <c:pt idx="14">
                  <c:v>762.0</c:v>
                </c:pt>
                <c:pt idx="15">
                  <c:v>762.5</c:v>
                </c:pt>
                <c:pt idx="16">
                  <c:v>763.0</c:v>
                </c:pt>
                <c:pt idx="17">
                  <c:v>763.5</c:v>
                </c:pt>
                <c:pt idx="18">
                  <c:v>764.0</c:v>
                </c:pt>
                <c:pt idx="19">
                  <c:v>764.5</c:v>
                </c:pt>
                <c:pt idx="20">
                  <c:v>765.0</c:v>
                </c:pt>
              </c:strCache>
            </c:strRef>
          </c:cat>
          <c:val>
            <c:numRef>
              <c:f>Sheet1!$B$2:$B$22</c:f>
              <c:numCache>
                <c:formatCode>General</c:formatCode>
                <c:ptCount val="21"/>
                <c:pt idx="0">
                  <c:v>1</c:v>
                </c:pt>
                <c:pt idx="1">
                  <c:v>1</c:v>
                </c:pt>
                <c:pt idx="2">
                  <c:v>1</c:v>
                </c:pt>
                <c:pt idx="3">
                  <c:v>1</c:v>
                </c:pt>
                <c:pt idx="4">
                  <c:v>1</c:v>
                </c:pt>
                <c:pt idx="5">
                  <c:v>0.998</c:v>
                </c:pt>
                <c:pt idx="6">
                  <c:v>0.98899999999999999</c:v>
                </c:pt>
                <c:pt idx="7">
                  <c:v>0.94699999999999995</c:v>
                </c:pt>
                <c:pt idx="8">
                  <c:v>0.82199999999999995</c:v>
                </c:pt>
                <c:pt idx="9">
                  <c:v>0.57599999999999996</c:v>
                </c:pt>
                <c:pt idx="10">
                  <c:v>0.28499999999999998</c:v>
                </c:pt>
                <c:pt idx="11">
                  <c:v>0.15</c:v>
                </c:pt>
                <c:pt idx="12">
                  <c:v>0.28499999999999998</c:v>
                </c:pt>
                <c:pt idx="13">
                  <c:v>0.57599999999999996</c:v>
                </c:pt>
                <c:pt idx="14">
                  <c:v>0.82199999999999995</c:v>
                </c:pt>
                <c:pt idx="15">
                  <c:v>0.94699999999999995</c:v>
                </c:pt>
                <c:pt idx="16">
                  <c:v>0.98899999999999999</c:v>
                </c:pt>
                <c:pt idx="17">
                  <c:v>0.998</c:v>
                </c:pt>
                <c:pt idx="18">
                  <c:v>1</c:v>
                </c:pt>
                <c:pt idx="19">
                  <c:v>1</c:v>
                </c:pt>
                <c:pt idx="20">
                  <c:v>1</c:v>
                </c:pt>
              </c:numCache>
            </c:numRef>
          </c:val>
          <c:smooth val="0"/>
          <c:extLst>
            <c:ext xmlns:c16="http://schemas.microsoft.com/office/drawing/2014/chart" uri="{C3380CC4-5D6E-409C-BE32-E72D297353CC}">
              <c16:uniqueId val="{00000000-B6A2-4CC9-8575-0C49D9E0596F}"/>
            </c:ext>
          </c:extLst>
        </c:ser>
        <c:ser>
          <c:idx val="1"/>
          <c:order val="1"/>
          <c:tx>
            <c:strRef>
              <c:f>Sheet1!$C$1</c:f>
              <c:strCache>
                <c:ptCount val="1"/>
                <c:pt idx="0">
                  <c:v>Canopy radiance L (normalised)</c:v>
                </c:pt>
              </c:strCache>
            </c:strRef>
          </c:tx>
          <c:spPr>
            <a:ln w="38100" cap="flat">
              <a:solidFill>
                <a:srgbClr val="D62839"/>
              </a:solidFill>
              <a:prstDash val="solid"/>
              <a:round/>
            </a:ln>
            <a:effectLst/>
          </c:spPr>
          <c:marker>
            <c:symbol val="none"/>
          </c:marker>
          <c:cat>
            <c:strRef>
              <c:f>Sheet1!$A$2:$A$22</c:f>
              <c:strCache>
                <c:ptCount val="21"/>
                <c:pt idx="0">
                  <c:v>755.0</c:v>
                </c:pt>
                <c:pt idx="1">
                  <c:v>755.5</c:v>
                </c:pt>
                <c:pt idx="2">
                  <c:v>756.0</c:v>
                </c:pt>
                <c:pt idx="3">
                  <c:v>756.5</c:v>
                </c:pt>
                <c:pt idx="4">
                  <c:v>757.0</c:v>
                </c:pt>
                <c:pt idx="5">
                  <c:v>757.5</c:v>
                </c:pt>
                <c:pt idx="6">
                  <c:v>758.0</c:v>
                </c:pt>
                <c:pt idx="7">
                  <c:v>758.5</c:v>
                </c:pt>
                <c:pt idx="8">
                  <c:v>759.0</c:v>
                </c:pt>
                <c:pt idx="9">
                  <c:v>759.5</c:v>
                </c:pt>
                <c:pt idx="10">
                  <c:v>760.0</c:v>
                </c:pt>
                <c:pt idx="11">
                  <c:v>760.5</c:v>
                </c:pt>
                <c:pt idx="12">
                  <c:v>761.0</c:v>
                </c:pt>
                <c:pt idx="13">
                  <c:v>761.5</c:v>
                </c:pt>
                <c:pt idx="14">
                  <c:v>762.0</c:v>
                </c:pt>
                <c:pt idx="15">
                  <c:v>762.5</c:v>
                </c:pt>
                <c:pt idx="16">
                  <c:v>763.0</c:v>
                </c:pt>
                <c:pt idx="17">
                  <c:v>763.5</c:v>
                </c:pt>
                <c:pt idx="18">
                  <c:v>764.0</c:v>
                </c:pt>
                <c:pt idx="19">
                  <c:v>764.5</c:v>
                </c:pt>
                <c:pt idx="20">
                  <c:v>765.0</c:v>
                </c:pt>
              </c:strCache>
            </c:strRef>
          </c:cat>
          <c:val>
            <c:numRef>
              <c:f>Sheet1!$C$2:$C$22</c:f>
              <c:numCache>
                <c:formatCode>General</c:formatCode>
                <c:ptCount val="21"/>
                <c:pt idx="0">
                  <c:v>1</c:v>
                </c:pt>
                <c:pt idx="1">
                  <c:v>1</c:v>
                </c:pt>
                <c:pt idx="2">
                  <c:v>1</c:v>
                </c:pt>
                <c:pt idx="3">
                  <c:v>1</c:v>
                </c:pt>
                <c:pt idx="4">
                  <c:v>1</c:v>
                </c:pt>
                <c:pt idx="5">
                  <c:v>0.999</c:v>
                </c:pt>
                <c:pt idx="6">
                  <c:v>0.99</c:v>
                </c:pt>
                <c:pt idx="7">
                  <c:v>0.95199999999999996</c:v>
                </c:pt>
                <c:pt idx="8">
                  <c:v>0.83799999999999997</c:v>
                </c:pt>
                <c:pt idx="9">
                  <c:v>0.61399999999999999</c:v>
                </c:pt>
                <c:pt idx="10">
                  <c:v>0.35</c:v>
                </c:pt>
                <c:pt idx="11">
                  <c:v>0.22700000000000001</c:v>
                </c:pt>
                <c:pt idx="12">
                  <c:v>0.35</c:v>
                </c:pt>
                <c:pt idx="13">
                  <c:v>0.61399999999999999</c:v>
                </c:pt>
                <c:pt idx="14">
                  <c:v>0.83799999999999997</c:v>
                </c:pt>
                <c:pt idx="15">
                  <c:v>0.95199999999999996</c:v>
                </c:pt>
                <c:pt idx="16">
                  <c:v>0.99</c:v>
                </c:pt>
                <c:pt idx="17">
                  <c:v>0.999</c:v>
                </c:pt>
                <c:pt idx="18">
                  <c:v>1</c:v>
                </c:pt>
                <c:pt idx="19">
                  <c:v>1</c:v>
                </c:pt>
                <c:pt idx="20">
                  <c:v>1</c:v>
                </c:pt>
              </c:numCache>
            </c:numRef>
          </c:val>
          <c:smooth val="0"/>
          <c:extLst>
            <c:ext xmlns:c16="http://schemas.microsoft.com/office/drawing/2014/chart" uri="{C3380CC4-5D6E-409C-BE32-E72D297353CC}">
              <c16:uniqueId val="{00000001-B6A2-4CC9-8575-0C49D9E0596F}"/>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100" b="0" i="0" u="none" strike="noStrike">
                    <a:solidFill>
                      <a:srgbClr val="5E7268"/>
                    </a:solidFill>
                    <a:latin typeface="Arial"/>
                  </a:defRPr>
                </a:pPr>
                <a:r>
                  <a:rPr lang="en-IN" sz="1100" b="0" i="0" u="none" strike="noStrike">
                    <a:solidFill>
                      <a:srgbClr val="5E7268"/>
                    </a:solidFill>
                    <a:latin typeface="Arial"/>
                  </a:rPr>
                  <a:t>Wavelength (nm)</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E7268"/>
                </a:solidFill>
                <a:latin typeface="+mn-lt"/>
              </a:defRPr>
            </a:pPr>
            <a:endParaRPr lang="en-US"/>
          </a:p>
        </c:txPr>
        <c:crossAx val="2094734552"/>
        <c:crosses val="autoZero"/>
        <c:auto val="1"/>
        <c:lblAlgn val="ctr"/>
        <c:lblOffset val="100"/>
        <c:tickLblSkip val="4"/>
        <c:noMultiLvlLbl val="1"/>
      </c:catAx>
      <c:valAx>
        <c:axId val="2094734552"/>
        <c:scaling>
          <c:orientation val="minMax"/>
          <c:max val="1.1000000000000001"/>
          <c:min val="0"/>
        </c:scaling>
        <c:delete val="0"/>
        <c:axPos val="l"/>
        <c:majorGridlines>
          <c:spPr>
            <a:ln w="9525" cap="flat">
              <a:solidFill>
                <a:srgbClr val="E3E8E5"/>
              </a:solidFill>
              <a:prstDash val="solid"/>
              <a:round/>
            </a:ln>
          </c:spPr>
        </c:majorGridlines>
        <c:title>
          <c:tx>
            <c:rich>
              <a:bodyPr/>
              <a:lstStyle/>
              <a:p>
                <a:pPr>
                  <a:defRPr sz="1100" b="0" i="0" u="none" strike="noStrike">
                    <a:solidFill>
                      <a:srgbClr val="5E7268"/>
                    </a:solidFill>
                    <a:latin typeface="Arial"/>
                  </a:defRPr>
                </a:pPr>
                <a:r>
                  <a:rPr lang="en-IN" sz="1100" b="0" i="0" u="none" strike="noStrike">
                    <a:solidFill>
                      <a:srgbClr val="5E7268"/>
                    </a:solidFill>
                    <a:latin typeface="Arial"/>
                  </a:rPr>
                  <a:t>Relative to band shoulder</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72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C2B24"/>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4739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deck covers: how chlorophyll re-emits a small part of the light it absorbs, how we measure that glow, and what it tells us about photosynthesis.</a:t>
            </a:r>
          </a:p>
          <a:p>
            <a:r>
              <a:rPr lang="en-US" dirty="0"/>
              <a:t>Two ways of measuring are covered. Active fluorometry (PAM) uses the instrument's own lights on a leaf, so we can control the conditions and calculate efficiencies. Passive sun-induced fluorescence (SIF) uses sunlight as the light source and is measured from towers, drones, aircraft and satellites over whole canopies and the globe.</a:t>
            </a:r>
          </a:p>
          <a:p>
            <a:r>
              <a:rPr lang="en-US" dirty="0"/>
              <a:t>The photo shows a chlorophyll extract in alcohol. In white light it looks green because chlorophyll reflects and transmits green. Under UV light it glows red: that red glow is fluorescence. In a living leaf the same red glow exists but is much weaker and hidden by reflected light, which is why special methods are needed.</a:t>
            </a:r>
          </a:p>
          <a:p>
            <a:r>
              <a:rPr lang="en-US" dirty="0"/>
              <a:t>Main sources: Murchie &amp; Lawson (2013) for PAM fluorescence, Mohammed et al. (2019) for SIF, and the course slides.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 has nine modules, and each depends on the earlier ones.</a:t>
            </a:r>
          </a:p>
          <a:p>
            <a:r>
              <a:rPr lang="en-US" dirty="0"/>
              <a:t>Modules 1–3 build the basics: what fluorescence is, how it is measured, and how it changes when a dark leaf is suddenly lit (the Kautsky curve).</a:t>
            </a:r>
          </a:p>
          <a:p>
            <a:r>
              <a:rPr lang="en-US" dirty="0"/>
              <a:t>Modules 4–6 are the core of PAM analysis: open and closed reaction centres, quenching, the saturating pulse, every parameter (Fv/Fm, ΦPSII, qP, qL, NPQ) and the common mistakes.</a:t>
            </a:r>
          </a:p>
          <a:p>
            <a:r>
              <a:rPr lang="en-US" dirty="0"/>
              <a:t>Module 7 moves from a single point to images and long-term monitoring.</a:t>
            </a:r>
          </a:p>
          <a:p>
            <a:r>
              <a:rPr lang="en-US" dirty="0"/>
              <a:t>Module 8 is the remote-sensing side: SIF, from the physics of the spectrum to satellites.</a:t>
            </a:r>
          </a:p>
          <a:p>
            <a:r>
              <a:rPr lang="en-US" dirty="0"/>
              <a:t>Module 9 summarises everything: a concept map, formula sheet, common doubts and references.</a:t>
            </a:r>
          </a:p>
          <a:p>
            <a:r>
              <a:rPr lang="en-US" dirty="0"/>
              <a:t>Study tip: if a parameter in module 5 is confusing, go back to module 4 (open vs closed centres). If SIF is confusing, go back to module 1 (the three fates of absorbed energy). Almost every doubt traces back to those two ideas.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foundations.</a:t>
            </a:r>
          </a:p>
          <a:p>
            <a:r>
              <a:rPr lang="en-US" dirty="0"/>
              <a:t>The single most important idea of the whole topic is introduced here. When chlorophyll absorbs light, the energy has only three ways out: it can drive photochemistry (photosynthesis), be lost as heat, or be re-emitted as light (fluorescence). These three compete for the same energy.</a:t>
            </a:r>
          </a:p>
          <a:p>
            <a:r>
              <a:rPr lang="en-US" dirty="0"/>
              <a:t>Because they compete, a change in one shows up in the others. We cannot easily see photochemistry or heat loss directly in a leaf, but we can measure fluorescence. So fluorescence acts as a window: by watching how it changes, we infer what is happening to photosynthesis and to heat dissipation.</a:t>
            </a:r>
          </a:p>
          <a:p>
            <a:r>
              <a:rPr lang="en-US" dirty="0"/>
              <a:t>Keep this "three taps from one tank" picture in mind for every later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chlorophyll fluorescence is light re-emitted by chlorophyll molecules as they return from an excited state to the ground state.</a:t>
            </a:r>
          </a:p>
          <a:p>
            <a:r>
              <a:rPr lang="en-US" dirty="0"/>
              <a:t>Step by step: a photon is absorbed, an electron in the chlorophyll molecule jumps to a higher energy level, and within nanoseconds the molecule must lose that energy. A small part is lost by emitting a new photon of longer wavelength (red/far-red). That photon is the fluorescence.</a:t>
            </a:r>
          </a:p>
          <a:p>
            <a:r>
              <a:rPr lang="en-US" dirty="0"/>
              <a:t>Why it is so useful:</a:t>
            </a:r>
          </a:p>
          <a:p>
            <a:r>
              <a:rPr lang="en-US" dirty="0"/>
              <a:t>1. It is non-invasive: we do not cut, extract or harm the leaf.</a:t>
            </a:r>
          </a:p>
          <a:p>
            <a:r>
              <a:rPr lang="en-US" dirty="0"/>
              <a:t>2. It mainly reports on photosystem II (PSII), the part of the photosynthetic chain most sensitive to stress such as heat, drought, high light, salinity, disease or herbicides.</a:t>
            </a:r>
          </a:p>
          <a:p>
            <a:r>
              <a:rPr lang="en-US" dirty="0"/>
              <a:t>3. Measurements take seconds and instruments are portable, so it is ideal for field work, crop breeding and phenotyping.</a:t>
            </a:r>
          </a:p>
          <a:p>
            <a:r>
              <a:rPr lang="en-US" dirty="0"/>
              <a:t>Spectral signature: emission lies between about 650 and 800 nm, with two peaks, around 685 nm (red) and 740 nm (far-red). Remember these two peaks; they come back in the SIF module.</a:t>
            </a:r>
          </a:p>
          <a:p>
            <a:r>
              <a:rPr lang="en-US" dirty="0"/>
              <a:t>Likely question: "Why is fluorescence a good stress indicator?" Answer: PSII responds quickly to almost every stress, and any change in PSII efficiency changes the fluorescence yield.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fluorescence comes from inside the leaf.</a:t>
            </a:r>
          </a:p>
          <a:p>
            <a:r>
              <a:rPr lang="en-US" dirty="0"/>
              <a:t>Chlorophyll is not floating freely; it is bound to proteins in the thylakoid membranes of the chloroplast. The left figure shows the membrane with PSII, the cytochrome b6f complex, PSI and ATP synthase.</a:t>
            </a:r>
          </a:p>
          <a:p>
            <a:r>
              <a:rPr lang="en-US" dirty="0"/>
              <a:t>1. Light-harvesting complexes (LHCs) are antennae. Hundreds of chlorophyll a, chlorophyll b and carotenoid molecules capture photons and pass the excitation energy, like a relay, to a reaction centre.</a:t>
            </a:r>
          </a:p>
          <a:p>
            <a:r>
              <a:rPr lang="en-US" dirty="0"/>
              <a:t>2. Photosystem II has the special chlorophyll P680. It splits water at the oxygen-evolving complex, releasing O2, and passes electrons to pheophytin, then to QA and QB. Most of the variable fluorescence we measure comes from PSII and its antenna.</a:t>
            </a:r>
          </a:p>
          <a:p>
            <a:r>
              <a:rPr lang="en-US" dirty="0"/>
              <a:t>3. Photosystem I has P700. It receives electrons from plastocyanin and uses them to reduce NADP+ to NADPH. PSI fluoresces weakly, mostly in the far-red above 700 nm, and its fluorescence hardly changes with conditions.</a:t>
            </a:r>
          </a:p>
          <a:p>
            <a:r>
              <a:rPr lang="en-US" dirty="0"/>
              <a:t>Key point: because the PSII signal changes with the state of photosynthesis and the PSI signal does not, fluorescence analysis focuses on PSII.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energy-level (Jablonski) diagram. Horizontal lines are energy states of chlorophyll: S0 is the ground state, S1 the first excited singlet state, S2 a higher one; dashed lines are vibrational sub-levels.</a:t>
            </a:r>
          </a:p>
          <a:p>
            <a:r>
              <a:rPr lang="en-US" dirty="0"/>
              <a:t>Step by step:</a:t>
            </a:r>
          </a:p>
          <a:p>
            <a:r>
              <a:rPr lang="en-US" dirty="0"/>
              <a:t>1. Blue light (about 430–450 nm) has more energy and lifts the molecule to S2. Red light (about 660–680 nm) lifts it only to S1.</a:t>
            </a:r>
          </a:p>
          <a:p>
            <a:r>
              <a:rPr lang="en-US" dirty="0"/>
              <a:t>2. From S2 the molecule drops to S1 almost instantly (femtoseconds) by internal conversion, losing the extra energy as heat.</a:t>
            </a:r>
          </a:p>
          <a:p>
            <a:r>
              <a:rPr lang="en-US" dirty="0"/>
              <a:t>3. Everything useful starts from S1. From there the energy can go to photochemistry (green arrow up to the reaction centre), to heat (NPQ), to fluorescence (red arrow down), or to the triplet state T1.</a:t>
            </a:r>
          </a:p>
          <a:p>
            <a:r>
              <a:rPr lang="en-US" dirty="0"/>
              <a:t>4. The triplet state is dangerous: it can transfer energy to oxygen and form singlet oxygen, a reactive species that damages proteins. Carotenoids quench triplets to prevent this.</a:t>
            </a:r>
          </a:p>
          <a:p>
            <a:r>
              <a:rPr lang="en-US" dirty="0"/>
              <a:t>Three rules that clear most doubts:</a:t>
            </a:r>
          </a:p>
          <a:p>
            <a:r>
              <a:rPr lang="en-US" dirty="0"/>
              <a:t>- Whatever the colour of the light absorbed, emission comes from S1, so fluorescence is always red/far-red (Kasha's rule).</a:t>
            </a:r>
          </a:p>
          <a:p>
            <a:r>
              <a:rPr lang="en-US" dirty="0"/>
              <a:t>- Emitted light has a longer wavelength than absorbed light (Stokes shift).</a:t>
            </a:r>
          </a:p>
          <a:p>
            <a:r>
              <a:rPr lang="en-US" dirty="0"/>
              <a:t>- The routes from S1 compete: the faster one route, the less energy goes to the others.</a:t>
            </a:r>
          </a:p>
          <a:p>
            <a:r>
              <a:rPr lang="en-US" dirty="0"/>
              <a:t>Numbers to remember: fluorescence yield in a living leaf is only about 0.5–3%; its lifetime is tens to hundreds of picoseconds.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slide of the whole deck.</a:t>
            </a:r>
          </a:p>
          <a:p>
            <a:r>
              <a:rPr lang="en-US" dirty="0"/>
              <a:t>An absorbed photon creates an excited chlorophyll (Chl*). The energy leaves by one of three competing routes:</a:t>
            </a:r>
          </a:p>
          <a:p>
            <a:r>
              <a:rPr lang="en-US" dirty="0"/>
              <a:t>1. Photochemistry: drives charge separation in PSII, electron transport, ATP and NADPH, and finally CO2 fixation. Rate constant kP.</a:t>
            </a:r>
          </a:p>
          <a:p>
            <a:r>
              <a:rPr lang="en-US" dirty="0"/>
              <a:t>2. Heat dissipation (non-photochemical quenching, NPQ): a safety valve that removes excess energy. Rate constant kN.</a:t>
            </a:r>
          </a:p>
          <a:p>
            <a:r>
              <a:rPr lang="en-US" dirty="0"/>
              <a:t>3. Fluorescence: re-emission as red/far-red light. Rate constant kF.</a:t>
            </a:r>
          </a:p>
          <a:p>
            <a:r>
              <a:rPr lang="en-US" dirty="0"/>
              <a:t>Because every excitation must leave by one route, the fractions (quantum yields) add up to one: ΦP + ΦN + ΦF = 1. The fluorescence yield is ΦF = kF / (kF + kP + kN).</a:t>
            </a:r>
          </a:p>
          <a:p>
            <a:r>
              <a:rPr lang="en-US" dirty="0"/>
              <a:t>How to use this:</a:t>
            </a:r>
          </a:p>
          <a:p>
            <a:r>
              <a:rPr lang="en-US" dirty="0"/>
              <a:t>- If reaction centres close (kP becomes almost zero, e.g. during a very bright flash), fluorescence rises.</a:t>
            </a:r>
          </a:p>
          <a:p>
            <a:r>
              <a:rPr lang="en-US" dirty="0"/>
              <a:t>- If heat dissipation switches on (kN increases), fluorescence falls.</a:t>
            </a:r>
          </a:p>
          <a:p>
            <a:r>
              <a:rPr lang="en-US" dirty="0"/>
              <a:t>- If photosynthesis speeds up (kP increases), fluorescence also falls.</a:t>
            </a:r>
          </a:p>
          <a:p>
            <a:r>
              <a:rPr lang="en-US" dirty="0"/>
              <a:t>Analogy: one water tank with three taps. Close the photochemistry tap with a saturating flash and more water comes out of the fluorescence tap. PAM fluorometry measures exactly that jump.</a:t>
            </a:r>
          </a:p>
          <a:p>
            <a:r>
              <a:rPr lang="en-US" dirty="0"/>
              <a:t>Likely question: "Why does fluorescence decrease when photosynthesis increases?" Because they compete for the same energy.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measured signal is treated as coming from PSII.</a:t>
            </a:r>
          </a:p>
          <a:p>
            <a:r>
              <a:rPr lang="en-US" dirty="0"/>
              <a:t>1. At room temperature, the part of fluorescence that changes with conditions (variable fluorescence) comes from PSII. PSI fluorescence is weak and almost constant.</a:t>
            </a:r>
          </a:p>
          <a:p>
            <a:r>
              <a:rPr lang="en-US" dirty="0"/>
              <a:t>2. PSI emits mostly above 700 nm. Most PAM instruments detect fluorescence above about 700 nm but are designed and calibrated assuming PSII dominates; the PSI contribution is a small, roughly constant offset that is usually ignored.</a:t>
            </a:r>
          </a:p>
          <a:p>
            <a:r>
              <a:rPr lang="en-US" dirty="0"/>
              <a:t>3. PSII is the most stress-sensitive step of the photosynthetic chain, so it is the right target for stress detection.</a:t>
            </a:r>
          </a:p>
          <a:p>
            <a:r>
              <a:rPr lang="en-US" dirty="0"/>
              <a:t>The Z-scheme figure shows the electron path: water → PSII (P680) → plastoquinone → cytochrome b6f → plastocyanin → PSI (P700) → ferredoxin → NADP+. The herbicide DCMU blocks electron flow just after PSII (at QB); paraquat diverts electrons from PSI.</a:t>
            </a:r>
          </a:p>
          <a:p>
            <a:r>
              <a:rPr lang="en-US" dirty="0"/>
              <a:t>Why this matters for photosynthesis: photochemistry supplies the ATP and NADPH used to fix CO2. So the yield of fluorescence gives information on how efficiently PSII is converting light, and on how much is lost as heat.</a:t>
            </a:r>
          </a:p>
          <a:p>
            <a:r>
              <a:rPr lang="en-US" dirty="0"/>
              <a:t>Caveat for later: in SIF, far-red emission at 740–760 nm includes a real PSI contribution, so the "PSII only" assumption is weaker there.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how fluorescence is measured.</a:t>
            </a:r>
          </a:p>
          <a:p>
            <a:r>
              <a:rPr lang="en-US" dirty="0"/>
              <a:t>The practical problem: fluorescence is weak (a few percent of absorbed light) and red, and sunlight or lamp light also contains red light that the leaf reflects. A simple detector cannot tell the difference.</a:t>
            </a:r>
          </a:p>
          <a:p>
            <a:r>
              <a:rPr lang="en-US" dirty="0"/>
              <a:t>The solution, explained on the next slide, is modulation: excite fluorescence with a light that flickers at a known frequency and only record signal at that frequency. This is the basis of PAM (pulse-amplitude modulation) fluorometers, the standard instruments since the 1980s.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the principle of modulation:</a:t>
            </a:r>
          </a:p>
          <a:p>
            <a:r>
              <a:rPr lang="en-US" dirty="0"/>
              <a:t>1. The measuring beam is weak and switched on and off very rapidly (microsecond pulses at a fixed frequency).</a:t>
            </a:r>
          </a:p>
          <a:p>
            <a:r>
              <a:rPr lang="en-US" dirty="0"/>
              <a:t>2. Ambient or actinic light is strong but constant (not modulated).</a:t>
            </a:r>
          </a:p>
          <a:p>
            <a:r>
              <a:rPr lang="en-US" dirty="0"/>
              <a:t>3. The detector is coupled to a lock-in amplifier that only keeps the signal varying at the measuring-beam frequency. So it records only the fluorescence excited by the measuring beam and ignores the steady background.</a:t>
            </a:r>
          </a:p>
          <a:p>
            <a:r>
              <a:rPr lang="en-US" dirty="0"/>
              <a:t>Result: we can measure fluorescence in full daylight without darkening the leaf. Older non-modulated systems needed darkness or strictly controlled light. Non-modulated "continuous excitation" devices are still used for the fast OJIP rise on dark-adapted leaves.</a:t>
            </a:r>
          </a:p>
          <a:p>
            <a:r>
              <a:rPr lang="en-US" dirty="0"/>
              <a:t>Right side, the four lights of a PAM fluorometer:</a:t>
            </a:r>
          </a:p>
          <a:p>
            <a:r>
              <a:rPr lang="en-US" dirty="0"/>
              <a:t>- Measuring light (ML): too weak to drive photosynthesis; gives the minimum level Fo.</a:t>
            </a:r>
          </a:p>
          <a:p>
            <a:r>
              <a:rPr lang="en-US" dirty="0"/>
              <a:t>- Actinic light (AL): drives photosynthesis; it is the leaf's working light.</a:t>
            </a:r>
          </a:p>
          <a:p>
            <a:r>
              <a:rPr lang="en-US" dirty="0"/>
              <a:t>- Saturating pulse (SP): very bright (4000 µmol m⁻² s⁻¹ or more) and short (under 1 s); closes all PSII centres to give Fm or Fm′.</a:t>
            </a:r>
          </a:p>
          <a:p>
            <a:r>
              <a:rPr lang="en-US" dirty="0"/>
              <a:t>- Far-red light (FR): excites PSI more than PSII, drains electrons from QA and the PQ pool, so we can measure an accurate Fo′.</a:t>
            </a:r>
          </a:p>
          <a:p>
            <a:r>
              <a:rPr lang="en-US" dirty="0"/>
              <a:t>Remember which light gives which level; every parameter later is built from these levels.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instruments all use the same principles; they differ in what area they measure and how.</a:t>
            </a:r>
          </a:p>
          <a:p>
            <a:r>
              <a:rPr lang="en-US" dirty="0"/>
              <a:t>1. Dark-adaptation leaf clips: small clips with a shutter that keep part of the leaf dark for 20–30 minutes before measuring Fv/Fm in the field.</a:t>
            </a:r>
          </a:p>
          <a:p>
            <a:r>
              <a:rPr lang="en-US" dirty="0"/>
              <a:t>2. Hand-held fluorometers: measure a spot a few millimetres across, in seconds. Used for quick screening of many plants.</a:t>
            </a:r>
          </a:p>
          <a:p>
            <a:r>
              <a:rPr lang="en-US" dirty="0"/>
              <a:t>3. Imaging systems: LED panels for the lights and a camera instead of a single detector, so every pixel gets its own value. They show how efficiency varies across a leaf or between plants.</a:t>
            </a:r>
          </a:p>
          <a:p>
            <a:r>
              <a:rPr lang="en-US" dirty="0"/>
              <a:t>4. Imaging head showing an Ft (steady-state) image of a leaf surface.</a:t>
            </a:r>
          </a:p>
          <a:p>
            <a:r>
              <a:rPr lang="en-US" dirty="0"/>
              <a:t>Two families:</a:t>
            </a:r>
          </a:p>
          <a:p>
            <a:r>
              <a:rPr lang="en-US" dirty="0"/>
              <a:t>- Modulated (PAM) fluorometers work in light or dark and give the full quenching analysis (Fv/Fm, ΦPSII, NPQ, qP). They have a large, well-tested scientific framework.</a:t>
            </a:r>
          </a:p>
          <a:p>
            <a:r>
              <a:rPr lang="en-US" dirty="0"/>
              <a:t>- Continuous-excitation (OJIP) meters record the fast fluorescence rise during a 1 s pulse on dark-adapted leaves. They are fast and popular for screening, but many derived "JIP-test" parameters need careful interpretation.</a:t>
            </a:r>
          </a:p>
          <a:p>
            <a:r>
              <a:rPr lang="en-US" dirty="0"/>
              <a:t>Also mentioned in the course slides: multiparametric fluorometers that combine chlorophyll fluorescence with flavonol signals to detect nitrogen deficiency.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induction kinetics, meaning how fluorescence changes over time when a dark-adapted leaf is suddenly illuminated.</a:t>
            </a:r>
          </a:p>
          <a:p>
            <a:r>
              <a:rPr lang="en-US" dirty="0"/>
              <a:t>This was historically the first evidence that fluorescence is linked to photosynthesis. The curve has a fast rise (under a second) and a slow decline (minutes). The fast rise tells us about the filling of PSII's electron acceptors; the slow decline tells us about photosynthesis and heat dissipation switching 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Kautsky effect, discovered by Kautsky and Hirsch in 1931.</a:t>
            </a:r>
          </a:p>
          <a:p>
            <a:r>
              <a:rPr lang="en-US" dirty="0"/>
              <a:t>What you do: keep a leaf in darkness, then switch on continuous light.</a:t>
            </a:r>
          </a:p>
          <a:p>
            <a:r>
              <a:rPr lang="en-US" dirty="0"/>
              <a:t>What you see:</a:t>
            </a:r>
          </a:p>
          <a:p>
            <a:r>
              <a:rPr lang="en-US" dirty="0"/>
              <a:t>1. Fast phase (under 1 s): fluorescence rises quickly from O (origin) through J and I to P (peak).</a:t>
            </a:r>
          </a:p>
          <a:p>
            <a:r>
              <a:rPr lang="en-US" dirty="0"/>
              <a:t>2. Slow phase (minutes): fluorescence declines through S, M and T to a steady state.</a:t>
            </a:r>
          </a:p>
          <a:p>
            <a:r>
              <a:rPr lang="en-US" dirty="0"/>
              <a:t>What it means:</a:t>
            </a:r>
          </a:p>
          <a:p>
            <a:r>
              <a:rPr lang="en-US" dirty="0"/>
              <a:t>- The rise happens because PSII's electron acceptors (QA and the plastoquinone pool) start empty (oxidised). Light fills them with electrons faster than the rest of the chain can empty them. Once QA is reduced, that reaction centre is "closed", photochemistry stops there, and more energy leaves as fluorescence.</a:t>
            </a:r>
          </a:p>
          <a:p>
            <a:r>
              <a:rPr lang="en-US" dirty="0"/>
              <a:t>- The decline is "quenching": over the next minutes the Calvin-cycle enzymes are activated by light, stomata open, electrons are drained away so centres reopen (photochemical quenching), and heat dissipation (NPQ) switches on.</a:t>
            </a:r>
          </a:p>
          <a:p>
            <a:r>
              <a:rPr lang="en-US" dirty="0"/>
              <a:t>Kautsky and Hirsch noticed that the decline mirrored the start of CO2 fixation: the first hint of the inverse relation between fluorescence and photosynthesis.</a:t>
            </a:r>
          </a:p>
          <a:p>
            <a:r>
              <a:rPr lang="en-US" dirty="0"/>
              <a:t>Note: a true Kautsky curve is seen at moderate light (under about 200 µmol m⁻² s⁻¹). At high light the trace looks more like the stylised PAM trace in module 5.</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Zooming into the first second on a logarithmic time axis reveals clear steps, called O, J, I and P.</a:t>
            </a:r>
          </a:p>
          <a:p>
            <a:r>
              <a:rPr lang="en-US" dirty="0"/>
              <a:t>1. O (about 20–50 µs): the origin, equal to Fo. All QA is oxidised, so all centres are open.</a:t>
            </a:r>
          </a:p>
          <a:p>
            <a:r>
              <a:rPr lang="en-US" dirty="0"/>
              <a:t>2. O to J (up to about 2 ms): the photochemical phase. QA becomes reduced (QA⁻) faster than electrons move on to QB.</a:t>
            </a:r>
          </a:p>
          <a:p>
            <a:r>
              <a:rPr lang="en-US" dirty="0"/>
              <a:t>3. J to I (about 30 ms): the plastoquinone pool is progressively reduced.</a:t>
            </a:r>
          </a:p>
          <a:p>
            <a:r>
              <a:rPr lang="en-US" dirty="0"/>
              <a:t>4. I to P (about 300 ms and beyond): the electron carriers beyond PSI, up to ferredoxin and NADP+, fill up. At P all QA is reduced and fluorescence reaches its maximum, Fm.</a:t>
            </a:r>
          </a:p>
          <a:p>
            <a:r>
              <a:rPr lang="en-US" dirty="0"/>
              <a:t>The chart is idealised: the time axis labels are spaced logarithmically, which is why a rise that takes less than a second spreads across the whole graph.</a:t>
            </a:r>
          </a:p>
          <a:p>
            <a:r>
              <a:rPr lang="en-US" dirty="0"/>
              <a:t>Uses: OJIP analysis (the "JIP-test" of Strasser and colleagues) derives many parameters, such as Fv/Fm, a performance index and fluxes per reaction centre. Murchie &amp; Lawson caution that the complex derived parameters rest on model assumptions and have limited independent validation; Fv/Fm from OJIP is reliable, the others should be interpreted carefully.</a:t>
            </a:r>
          </a:p>
          <a:p>
            <a:r>
              <a:rPr lang="en-US" dirty="0"/>
              <a:t>Likely question: "What does the J step represent?" Accumulation of reduced QA (QA⁻).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Comparing the two phases of the induction curve (figures from the course slides).</a:t>
            </a:r>
          </a:p>
          <a:p>
            <a:r>
              <a:rPr lang="en-US" dirty="0"/>
              <a:t>Fast phase, OJIP (under one second):</a:t>
            </a:r>
          </a:p>
          <a:p>
            <a:r>
              <a:rPr lang="en-US" dirty="0"/>
              <a:t>- Driven by the reduction of PSII's acceptor side (QA, PQ pool).</a:t>
            </a:r>
          </a:p>
          <a:p>
            <a:r>
              <a:rPr lang="en-US" dirty="0"/>
              <a:t>- Used for dark-adapted parameters: Fo (at O), Fm (at P) and Fv/Fm.</a:t>
            </a:r>
          </a:p>
          <a:p>
            <a:r>
              <a:rPr lang="en-US" dirty="0"/>
              <a:t>- Little to do with CO2 fixation yet; the Calvin cycle has not started.</a:t>
            </a:r>
          </a:p>
          <a:p>
            <a:r>
              <a:rPr lang="en-US" dirty="0"/>
              <a:t>Slow phase, PSMT (minutes):</a:t>
            </a:r>
          </a:p>
          <a:p>
            <a:r>
              <a:rPr lang="en-US" dirty="0"/>
              <a:t>- P = peak, S = semi-steady state, M = a secondary maximum, T = terminal steady state.</a:t>
            </a:r>
          </a:p>
          <a:p>
            <a:r>
              <a:rPr lang="en-US" dirty="0"/>
              <a:t>- Reflects the rest of the plant catching up: build-up of the proton gradient and ATP synthesis, activation of Calvin-cycle enzymes and CO2 fixation, state transitions (LHCII moving between PSII and PSI), and non-photochemical quenching.</a:t>
            </a:r>
          </a:p>
          <a:p>
            <a:r>
              <a:rPr lang="en-US" dirty="0"/>
              <a:t>Why this matters: the slow phase mixes photochemical and non-photochemical quenching. To separate them we need the saturating-pulse method of module 4. That is why modern PAM work applies pulses during the slow phase instead of only watching the curve.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PSII redox state and quenching.</a:t>
            </a:r>
          </a:p>
          <a:p>
            <a:r>
              <a:rPr lang="en-US" dirty="0"/>
              <a:t>This module explains the mechanism behind every PAM parameter. Three ideas:</a:t>
            </a:r>
          </a:p>
          <a:p>
            <a:r>
              <a:rPr lang="en-US" dirty="0"/>
              <a:t>1. A reaction centre is either open (able to do photochemistry) or closed (temporarily blocked).</a:t>
            </a:r>
          </a:p>
          <a:p>
            <a:r>
              <a:rPr lang="en-US" dirty="0"/>
              <a:t>2. Fluorescence is lowered (quenched) by photochemistry and by heat dissipation.</a:t>
            </a:r>
          </a:p>
          <a:p>
            <a:r>
              <a:rPr lang="en-US" dirty="0"/>
              <a:t>3. A very bright, short saturating pulse closes all centres, which lets us separate the two kinds of quenching.</a:t>
            </a:r>
          </a:p>
          <a:p>
            <a:r>
              <a:rPr lang="en-US" dirty="0"/>
              <a:t>If you understand these three ideas, the formulas in module 5 become simple.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the electron transport chain from water to NADPH. The key box is QA, the first stable electron acceptor of PSII.</a:t>
            </a:r>
          </a:p>
          <a:p>
            <a:r>
              <a:rPr lang="en-US" dirty="0"/>
              <a:t>Step by step:</a:t>
            </a:r>
          </a:p>
          <a:p>
            <a:r>
              <a:rPr lang="en-US" dirty="0"/>
              <a:t>1. P680 (the PSII reaction-centre chlorophyll) is excited and gives an electron to pheophytin (Pheo).</a:t>
            </a:r>
          </a:p>
          <a:p>
            <a:r>
              <a:rPr lang="en-US" dirty="0"/>
              <a:t>2. Pheophytin passes it to QA, a plastoquinone bound tightly to the PSII protein.</a:t>
            </a:r>
          </a:p>
          <a:p>
            <a:r>
              <a:rPr lang="en-US" dirty="0"/>
              <a:t>3. QA can hold only one electron. It must pass it on to QB before it can accept another.</a:t>
            </a:r>
          </a:p>
          <a:p>
            <a:r>
              <a:rPr lang="en-US" dirty="0"/>
              <a:t>4. While QA holds an electron (QA⁻), that reaction centre cannot use new excitation: it is closed.</a:t>
            </a:r>
          </a:p>
          <a:p>
            <a:r>
              <a:rPr lang="en-US" dirty="0"/>
              <a:t>Open centre: QA oxidised, ready. Photochemistry is possible, fluorescence is low (as at Fo in the dark).</a:t>
            </a:r>
          </a:p>
          <a:p>
            <a:r>
              <a:rPr lang="en-US" dirty="0"/>
              <a:t>Closed centre: QA reduced. No photochemistry until QA is re-oxidised, fluorescence is high (as at Fm during a pulse), and PSII efficiency falls.</a:t>
            </a:r>
          </a:p>
          <a:p>
            <a:r>
              <a:rPr lang="en-US" dirty="0"/>
              <a:t>What decides how many centres are closed? Light intensity (how fast electrons arrive) versus how fast downstream processes (Calvin cycle, photorespiration) remove them. Temperature matters because it controls enzyme activity. High light with a slow Calvin cycle closes many centres.</a:t>
            </a:r>
          </a:p>
          <a:p>
            <a:r>
              <a:rPr lang="en-US" dirty="0"/>
              <a:t>Likely question: "What is a closed reaction centre?" One whose QA is reduced and cannot accept another electron.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 of Murchie &amp; Lawson (2013), explained panel by panel.</a:t>
            </a:r>
          </a:p>
          <a:p>
            <a:r>
              <a:rPr lang="en-US" dirty="0"/>
              <a:t>Panel A, the PSII complex: light is absorbed by the LHCII antenna and passed through CP43 and CP47 to the reaction-centre proteins D1 and D2, which hold P680. The energy then has three fates: photochemistry, heat (NPQ) or fluorescence. Electrons go from water at the oxygen-evolving complex (OEC) to P680, pheophytin, QA, QB and the plastoquinone pool (PQ, PQH2).</a:t>
            </a:r>
          </a:p>
          <a:p>
            <a:r>
              <a:rPr lang="en-US" dirty="0"/>
              <a:t>Panel B, a dark-adapted leaf: the measuring beam switched on gives the minimum level Fo, when all centres are open. A saturating pulse closes them all and gives the maximum Fm. The difference is the variable fluorescence Fv = Fm − Fo.</a:t>
            </a:r>
          </a:p>
          <a:p>
            <a:r>
              <a:rPr lang="en-US" dirty="0"/>
              <a:t>Panel C, open to closed: P680 absorbs energy (P680*), charge separation gives P680⁺ and QA⁻, and P680⁺ is refilled from water. Because QA⁻ cannot take another electron, the centre is closed until QA⁻ passes its electron to QB.</a:t>
            </a:r>
          </a:p>
          <a:p>
            <a:r>
              <a:rPr lang="en-US" dirty="0"/>
              <a:t>Take-away: the size of Fv relative to Fm (Fv/Fm) tells us what fraction of absorbed light PSII could use for photochemistry when all centres are open.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Quenching means anything that lowers fluorescence. After the initial rise under actinic light, fluorescence falls over minutes. There are two families of causes.</a:t>
            </a:r>
          </a:p>
          <a:p>
            <a:r>
              <a:rPr lang="en-US" dirty="0"/>
              <a:t>1. Photochemical quenching (qP): photosynthesis itself switches on.</a:t>
            </a:r>
          </a:p>
          <a:p>
            <a:r>
              <a:rPr lang="en-US" dirty="0"/>
              <a:t>- Light activates Calvin-cycle enzymes (for example Rubisco activase, FBPase, SBPase) and metabolite pools build up in the stroma and cytosol.</a:t>
            </a:r>
          </a:p>
          <a:p>
            <a:r>
              <a:rPr lang="en-US" dirty="0"/>
              <a:t>- Stomata open, giving Rubisco more CO2. Stomata respond roughly ten times more slowly than photosynthesis, so this can take many minutes.</a:t>
            </a:r>
          </a:p>
          <a:p>
            <a:r>
              <a:rPr lang="en-US" dirty="0"/>
              <a:t>- More electron sinks means QA is re-oxidised faster, centres reopen, and fluorescence falls.</a:t>
            </a:r>
          </a:p>
          <a:p>
            <a:r>
              <a:rPr lang="en-US" dirty="0"/>
              <a:t>2. Non-photochemical quenching (NPQ): heat dissipation increases.</a:t>
            </a:r>
          </a:p>
          <a:p>
            <a:r>
              <a:rPr lang="en-US" dirty="0"/>
              <a:t>- The rate constant for converting excitation to heat rises quickly on illumination.</a:t>
            </a:r>
          </a:p>
          <a:p>
            <a:r>
              <a:rPr lang="en-US" dirty="0"/>
              <a:t>- It is photoprotective: it removes excess energy and prevents the formation of damaging reactive oxygen species.</a:t>
            </a:r>
          </a:p>
          <a:p>
            <a:r>
              <a:rPr lang="en-US" dirty="0"/>
              <a:t>- It competes with both fluorescence and photochemistry.</a:t>
            </a:r>
          </a:p>
          <a:p>
            <a:r>
              <a:rPr lang="en-US" dirty="0"/>
              <a:t>The figure compares dark-adapted and light-adapted traces. Fm′ (maximum in light) is lower than Fm (maximum in dark) because of NPQ. The steady level F′ is below Fm′ because of photochemical quenching.</a:t>
            </a:r>
          </a:p>
          <a:p>
            <a:r>
              <a:rPr lang="en-US" dirty="0"/>
              <a:t>Timing: from darkness, these processes take several minutes or longer to reach steady state, depending on species and conditions.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NPQ is switched on, as a chain of cause and effect.</a:t>
            </a:r>
          </a:p>
          <a:p>
            <a:r>
              <a:rPr lang="en-US" dirty="0"/>
              <a:t>1. Excess light: more light is absorbed than photosynthesis can use.</a:t>
            </a:r>
          </a:p>
          <a:p>
            <a:r>
              <a:rPr lang="en-US" dirty="0"/>
              <a:t>2. Linear and cyclic electron flow pump protons (H+) into the thylakoid lumen.</a:t>
            </a:r>
          </a:p>
          <a:p>
            <a:r>
              <a:rPr lang="en-US" dirty="0"/>
              <a:t>3. The lumen becomes acidic, building a large pH difference (ΔpH) across the membrane.</a:t>
            </a:r>
          </a:p>
          <a:p>
            <a:r>
              <a:rPr lang="en-US" dirty="0"/>
              <a:t>4. This acidity triggers two things in parallel:</a:t>
            </a:r>
          </a:p>
          <a:p>
            <a:r>
              <a:rPr lang="en-US" dirty="0"/>
              <a:t>a. The PsbS protein becomes protonated; it acts as a pH sensor.</a:t>
            </a:r>
          </a:p>
          <a:p>
            <a:r>
              <a:rPr lang="en-US" dirty="0"/>
              <a:t>b. The enzyme violaxanthin de-epoxidase (VDE) is activated and converts violaxanthin into zeaxanthin (the xanthophyll cycle).</a:t>
            </a:r>
          </a:p>
          <a:p>
            <a:r>
              <a:rPr lang="en-US" dirty="0"/>
              <a:t>5. Both cause a change in the shape of the PSII antenna, which then converts excitation energy into heat. This fast, energy-dependent part of NPQ is called qE.</a:t>
            </a:r>
          </a:p>
          <a:p>
            <a:r>
              <a:rPr lang="en-US" dirty="0"/>
              <a:t>Key facts:</a:t>
            </a:r>
          </a:p>
          <a:p>
            <a:r>
              <a:rPr lang="en-US" dirty="0"/>
              <a:t>- NPQ is regulated by lumen acidity, so it responds within seconds to minutes.</a:t>
            </a:r>
          </a:p>
          <a:p>
            <a:r>
              <a:rPr lang="en-US" dirty="0"/>
              <a:t>- It needs PsbS and the xanthophyll cycle; xanthophylls are carotenoids.</a:t>
            </a:r>
          </a:p>
          <a:p>
            <a:r>
              <a:rPr lang="en-US" dirty="0"/>
              <a:t>- It is a "safe" valve: it competes with photochemistry and fluorescence.</a:t>
            </a:r>
          </a:p>
          <a:p>
            <a:r>
              <a:rPr lang="en-US" dirty="0"/>
              <a:t>- Because it increases heat loss, it lowers Fm′ below Fm. That difference is how we measure NPQ.</a:t>
            </a:r>
          </a:p>
          <a:p>
            <a:r>
              <a:rPr lang="en-US" dirty="0"/>
              <a:t>Likely question: "Name two molecular players in NPQ." PsbS and zeaxanthin.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xanthophyll cycle step by step.</a:t>
            </a:r>
          </a:p>
          <a:p>
            <a:r>
              <a:rPr lang="en-US" dirty="0"/>
              <a:t>Forward reaction (in excess light):</a:t>
            </a:r>
          </a:p>
          <a:p>
            <a:r>
              <a:rPr lang="en-US" dirty="0"/>
              <a:t>1. The lumen is acidic and ascorbate is available.</a:t>
            </a:r>
          </a:p>
          <a:p>
            <a:r>
              <a:rPr lang="en-US" dirty="0"/>
              <a:t>2. Violaxanthin de-epoxidase (VDE) removes one epoxide group from violaxanthin (2 epoxides), giving antheraxanthin (1 epoxide).</a:t>
            </a:r>
          </a:p>
          <a:p>
            <a:r>
              <a:rPr lang="en-US" dirty="0"/>
              <a:t>3. It removes the second, giving zeaxanthin (no epoxide).</a:t>
            </a:r>
          </a:p>
          <a:p>
            <a:r>
              <a:rPr lang="en-US" dirty="0"/>
              <a:t>4. Zeaxanthin, together with protonated PsbS, promotes heat dissipation in the antenna.</a:t>
            </a:r>
          </a:p>
          <a:p>
            <a:r>
              <a:rPr lang="en-US" dirty="0"/>
              <a:t>Back reaction (in low light or darkness): zeaxanthin epoxidase (ZE) adds the epoxide groups back, returning to violaxanthin. This is slower.</a:t>
            </a:r>
          </a:p>
          <a:p>
            <a:r>
              <a:rPr lang="en-US" dirty="0"/>
              <a:t>Three consequences:</a:t>
            </a:r>
          </a:p>
          <a:p>
            <a:r>
              <a:rPr lang="en-US" dirty="0"/>
              <a:t>- Fast and reversible: zeaxanthin plus PsbS give the rapid qE that relaxes within seconds to minutes in the dark.</a:t>
            </a:r>
          </a:p>
          <a:p>
            <a:r>
              <a:rPr lang="en-US" dirty="0"/>
              <a:t>- Sustained: if zeaxanthin is retained (for example in over-wintering evergreens or under long stress), quenching stays on even after dark adaptation and lowers Fv/Fm.</a:t>
            </a:r>
          </a:p>
          <a:p>
            <a:r>
              <a:rPr lang="en-US" dirty="0"/>
              <a:t>- Optical signature: de-epoxidation slightly changes leaf reflectance near 531 nm. The Photochemical Reflectance Index (PRI) uses this and is often combined with SIF to estimate NPQ remotely.</a:t>
            </a:r>
          </a:p>
          <a:p>
            <a:r>
              <a:rPr lang="en-US" dirty="0"/>
              <a:t>Some shade-tolerant and woody species also have a second cycle, the lutein epoxide cycle.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saturating-pulse principle, the key trick of PAM fluorometry.</a:t>
            </a:r>
          </a:p>
          <a:p>
            <a:r>
              <a:rPr lang="en-US" dirty="0"/>
              <a:t>Problem: under light, fluorescence is lowered by both photochemistry and heat loss. How can we tell how much is due to each?</a:t>
            </a:r>
          </a:p>
          <a:p>
            <a:r>
              <a:rPr lang="en-US" dirty="0"/>
              <a:t>Old solution: herbicides such as DCMU block electron transport and remove photochemistry. Not practical for routine work.</a:t>
            </a:r>
          </a:p>
          <a:p>
            <a:r>
              <a:rPr lang="en-US" dirty="0"/>
              <a:t>Modern solution:</a:t>
            </a:r>
          </a:p>
          <a:p>
            <a:r>
              <a:rPr lang="en-US" dirty="0"/>
              <a:t>1. Apply a very bright flash (typically around 0.8 s at 4000 µmol m⁻² s⁻¹ or more).</a:t>
            </a:r>
          </a:p>
          <a:p>
            <a:r>
              <a:rPr lang="en-US" dirty="0"/>
              <a:t>2. The flash delivers so many photons that every QA becomes reduced: all centres close.</a:t>
            </a:r>
          </a:p>
          <a:p>
            <a:r>
              <a:rPr lang="en-US" dirty="0"/>
              <a:t>3. During the flash photochemical quenching is effectively zero; only non-photochemical quenching remains.</a:t>
            </a:r>
          </a:p>
          <a:p>
            <a:r>
              <a:rPr lang="en-US" dirty="0"/>
              <a:t>4. The fluorescence reached (Fm in a dark leaf, Fm′ in a light-adapted leaf) is the level the leaf would have with no photochemistry.</a:t>
            </a:r>
          </a:p>
          <a:p>
            <a:r>
              <a:rPr lang="en-US" dirty="0"/>
              <a:t>5. The flash is short enough not to change the leaf's NPQ state.</a:t>
            </a:r>
          </a:p>
          <a:p>
            <a:r>
              <a:rPr lang="en-US" dirty="0"/>
              <a:t>The left panel shows the situation before the pulse (some centres open, some closed, level F′); the right panel during the pulse (all closed, level Fm′).</a:t>
            </a:r>
          </a:p>
          <a:p>
            <a:r>
              <a:rPr lang="en-US" dirty="0"/>
              <a:t>What it separates:</a:t>
            </a:r>
          </a:p>
          <a:p>
            <a:r>
              <a:rPr lang="en-US" dirty="0"/>
              <a:t>- Fq′ = Fm′ − F′ is the photochemical part (fluorescence quenched by open centres).</a:t>
            </a:r>
          </a:p>
          <a:p>
            <a:r>
              <a:rPr lang="en-US" dirty="0"/>
              <a:t>- Fm − Fm′ reflects NPQ (fluorescence lowered by heat dissipation).</a:t>
            </a:r>
          </a:p>
          <a:p>
            <a:r>
              <a:rPr lang="en-US" dirty="0"/>
              <a:t>Everything in module 5 is built on these two differences.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the PAM protocol and the parameters.</a:t>
            </a:r>
          </a:p>
          <a:p>
            <a:r>
              <a:rPr lang="en-US" dirty="0"/>
              <a:t>We will read a full fluorescence trace step by step, define each fluorescence level, then build each parameter from them: Fv/Fm, ΦPSII, qP, qL and NPQ. The module ends with a summary table and a worked numerical example you can use for practice.</a:t>
            </a:r>
          </a:p>
          <a:p>
            <a:r>
              <a:rPr lang="en-US" dirty="0"/>
              <a:t>Golden rule for notation: a prime (′) means the leaf is light-adapted; no prime means dark-adapted.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Murchie &amp; Lawson Figure 2, a stylised trace of a dark-adapted leaf. Follow the six numbered steps.</a:t>
            </a:r>
          </a:p>
          <a:p>
            <a:r>
              <a:rPr lang="en-US" dirty="0"/>
              <a:t>1. Measuring beam on in darkness: minimum fluorescence Fo. All centres are open and there is no NPQ.</a:t>
            </a:r>
          </a:p>
          <a:p>
            <a:r>
              <a:rPr lang="en-US" dirty="0"/>
              <a:t>2. Saturating pulse in darkness: maximum fluorescence Fm. All centres closed, still no NPQ. Variable fluorescence Fv = Fm − Fo.</a:t>
            </a:r>
          </a:p>
          <a:p>
            <a:r>
              <a:rPr lang="en-US" dirty="0"/>
              <a:t>3. Actinic light on: fluorescence first rises (centres close), then declines over minutes (quenching) to a steady state F′. Reaching steady state can take from a few minutes to more than 20 minutes.</a:t>
            </a:r>
          </a:p>
          <a:p>
            <a:r>
              <a:rPr lang="en-US" dirty="0"/>
              <a:t>4. Saturating pulses under actinic light: each gives Fm′. Fm′ is lower than Fm because NPQ is now active. The photochemical part is Fq′ = Fm′ − F′.</a:t>
            </a:r>
          </a:p>
          <a:p>
            <a:r>
              <a:rPr lang="en-US" dirty="0"/>
              <a:t>5. Actinic light off, often with a brief far-red light: fluorescence drops to Fo′, the minimum level in the light-adapted state. Fv′ = Fm′ − Fo′.</a:t>
            </a:r>
          </a:p>
          <a:p>
            <a:r>
              <a:rPr lang="en-US" dirty="0"/>
              <a:t>6. Further pulses in darkness: Fm′ gradually recovers towards Fm as NPQ relaxes, typically over 20–30 minutes. The speed of recovery separates the NPQ components (module 6).</a:t>
            </a:r>
          </a:p>
          <a:p>
            <a:r>
              <a:rPr lang="en-US" dirty="0"/>
              <a:t>Steps 1–2 give the dark-adapted measurement, steps 3–4 the light-adapted one, steps 5–6 the relaxation analysis. This trace corresponds to an induction at high irradiance (500 µmol m⁻² s⁻¹ or more).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eight building blocks. Dark (navy) labels are dark-adapted levels; light (amber) labels are light-adapted.</a:t>
            </a:r>
          </a:p>
          <a:p>
            <a:r>
              <a:rPr lang="en-US" dirty="0"/>
              <a:t>Dark-adapted:</a:t>
            </a:r>
          </a:p>
          <a:p>
            <a:r>
              <a:rPr lang="en-US" dirty="0"/>
              <a:t>- Fo: minimal fluorescence; all PSII centres open, no NPQ.</a:t>
            </a:r>
          </a:p>
          <a:p>
            <a:r>
              <a:rPr lang="en-US" dirty="0"/>
              <a:t>- Fm: maximal fluorescence; saturating pulse closes all centres, no NPQ.</a:t>
            </a:r>
          </a:p>
          <a:p>
            <a:r>
              <a:rPr lang="en-US" dirty="0"/>
              <a:t>- Fv: variable fluorescence, Fv = Fm − Fo.</a:t>
            </a:r>
          </a:p>
          <a:p>
            <a:r>
              <a:rPr lang="en-US" dirty="0"/>
              <a:t>Light-adapted:</a:t>
            </a:r>
          </a:p>
          <a:p>
            <a:r>
              <a:rPr lang="en-US" dirty="0"/>
              <a:t>- F′ (also written Fs or Ft): steady-state fluorescence under actinic light; some centres closed, NPQ present.</a:t>
            </a:r>
          </a:p>
          <a:p>
            <a:r>
              <a:rPr lang="en-US" dirty="0"/>
              <a:t>- Fm′: maximal fluorescence in the light; a pulse closes all centres but NPQ remains, so Fm′ is less than Fm.</a:t>
            </a:r>
          </a:p>
          <a:p>
            <a:r>
              <a:rPr lang="en-US" dirty="0"/>
              <a:t>- Fo′: minimal fluorescence in the light; measured just after the actinic light is switched off (with far-red) or calculated.</a:t>
            </a:r>
          </a:p>
          <a:p>
            <a:r>
              <a:rPr lang="en-US" dirty="0"/>
              <a:t>- Fq′: photochemical quenching by open centres, Fq′ = Fm′ − F′.</a:t>
            </a:r>
          </a:p>
          <a:p>
            <a:r>
              <a:rPr lang="en-US" dirty="0"/>
              <a:t>- Fv′: variable fluorescence in the light, Fv′ = Fm′ − Fo′.</a:t>
            </a:r>
          </a:p>
          <a:p>
            <a:r>
              <a:rPr lang="en-US" dirty="0"/>
              <a:t>How to remember: "o" = open (minimum), "m" = maximum (all closed), "v" = variable (the difference), prime = in the light.</a:t>
            </a:r>
          </a:p>
          <a:p>
            <a:r>
              <a:rPr lang="en-US" dirty="0"/>
              <a:t>Usual order of size in a healthy leaf: Fm &gt; Fm′ &gt; F′ &gt; Fo, and Fo′ is usually a little below Fo because NPQ also quenches the minimum level.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Fv/Fm, the maximum quantum efficiency of PSII.</a:t>
            </a:r>
          </a:p>
          <a:p>
            <a:r>
              <a:rPr lang="en-US" dirty="0"/>
              <a:t>Formula: Fv/Fm = (Fm − Fo)/Fm.</a:t>
            </a:r>
          </a:p>
          <a:p>
            <a:r>
              <a:rPr lang="en-US" dirty="0"/>
              <a:t>Meaning: the fraction of absorbed light that PSII could use for photochemistry if every centre were open and there were no NPQ. It is measured on fully dark-adapted leaves.</a:t>
            </a:r>
          </a:p>
          <a:p>
            <a:r>
              <a:rPr lang="en-US" dirty="0"/>
              <a:t>Why it works: at Fo all centres are open and photochemistry is at its maximum; at Fm photochemistry is zero. So Fv is the fluorescence "taken away" by photochemistry, and dividing by Fm turns it into an efficiency.</a:t>
            </a:r>
          </a:p>
          <a:p>
            <a:r>
              <a:rPr lang="en-US" dirty="0"/>
              <a:t>Typical values:</a:t>
            </a:r>
          </a:p>
          <a:p>
            <a:r>
              <a:rPr lang="en-US" dirty="0"/>
              <a:t>- About 0.83 (0.81–0.83) in healthy, unstressed leaves of most species.</a:t>
            </a:r>
          </a:p>
          <a:p>
            <a:r>
              <a:rPr lang="en-US" dirty="0"/>
              <a:t>- 0.6–0.78: photoinhibition or sustained quenching.</a:t>
            </a:r>
          </a:p>
          <a:p>
            <a:r>
              <a:rPr lang="en-US" dirty="0"/>
              <a:t>- Below about 0.6: severe PSII damage. (These cut-offs are approximate guides; always compare with unstressed controls.)</a:t>
            </a:r>
          </a:p>
          <a:p>
            <a:r>
              <a:rPr lang="en-US" dirty="0"/>
              <a:t>How to measure: dark-adapt at least 20 minutes, check the measuring beam causes no rise, record Fo, then a saturating pulse for Fm. Pre-dawn measurements are used for long-term stress such as drought.</a:t>
            </a:r>
          </a:p>
          <a:p>
            <a:r>
              <a:rPr lang="en-US" dirty="0"/>
              <a:t>What lowers it:</a:t>
            </a:r>
          </a:p>
          <a:p>
            <a:r>
              <a:rPr lang="en-US" dirty="0"/>
              <a:t>- Photoinhibition: damage or inactivation of PSII, especially the D1 protein.</a:t>
            </a:r>
          </a:p>
          <a:p>
            <a:r>
              <a:rPr lang="en-US" dirty="0"/>
              <a:t>- Sustained quenching: retained zeaxanthin, drought, cold.</a:t>
            </a:r>
          </a:p>
          <a:p>
            <a:r>
              <a:rPr lang="en-US" dirty="0"/>
              <a:t>- A rise in Fo suggests damage; a fall in Fm suggests quenching.</a:t>
            </a:r>
          </a:p>
          <a:p>
            <a:r>
              <a:rPr lang="en-US" dirty="0"/>
              <a:t>Fv/Fm correlates with the maximum quantum yield of photosynthesis (O2 or CO2 per photon) at limiting light.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ΦPSII, the PSII operating efficiency.</a:t>
            </a:r>
          </a:p>
          <a:p>
            <a:r>
              <a:rPr lang="en-US" dirty="0"/>
              <a:t>Formula: ΦPSII = Fq′/Fm′ = (Fm′ − F′)/Fm′. Also written ΔF/Fm′, Y(II) or simply "yield".</a:t>
            </a:r>
          </a:p>
          <a:p>
            <a:r>
              <a:rPr lang="en-US" dirty="0"/>
              <a:t>Meaning: the fraction of absorbed light actually used by PSII photochemistry right now, under the current light. Unlike Fv/Fm, it needs no dark adaptation.</a:t>
            </a:r>
          </a:p>
          <a:p>
            <a:r>
              <a:rPr lang="en-US" dirty="0"/>
              <a:t>Decomposition (very useful):</a:t>
            </a:r>
          </a:p>
          <a:p>
            <a:r>
              <a:rPr lang="en-US" dirty="0"/>
              <a:t>Fq′/Fm′ = (Fq′/Fv′) × (Fv′/Fm′), that is ΦPSII = qP × Fv′/Fm′.</a:t>
            </a:r>
          </a:p>
          <a:p>
            <a:r>
              <a:rPr lang="en-US" dirty="0"/>
              <a:t>- qP is the fraction of centres that are open.</a:t>
            </a:r>
          </a:p>
          <a:p>
            <a:r>
              <a:rPr lang="en-US" dirty="0"/>
              <a:t>- Fv′/Fm′ is how efficient an open centre is, given the current NPQ. A fall in Fv′/Fm′ means NPQ has increased.</a:t>
            </a:r>
          </a:p>
          <a:p>
            <a:r>
              <a:rPr lang="en-US" dirty="0"/>
              <a:t>So a fall in ΦPSII can be due to closed centres, more NPQ, or both, and the decomposition tells you which.</a:t>
            </a:r>
          </a:p>
          <a:p>
            <a:r>
              <a:rPr lang="en-US" dirty="0"/>
              <a:t>Electron transport rate: ETR = ΦPSII × PAR × 0.84 × 0.5.</a:t>
            </a:r>
          </a:p>
          <a:p>
            <a:r>
              <a:rPr lang="en-US" dirty="0"/>
              <a:t>- PAR is light at the leaf surface (µmol photons m⁻² s⁻¹).</a:t>
            </a:r>
          </a:p>
          <a:p>
            <a:r>
              <a:rPr lang="en-US" dirty="0"/>
              <a:t>- 0.84 is a typical leaf absorptance; 0.5 assumes absorbed light is shared equally between PSII and PSI. Both are assumptions that may not hold for every leaf.</a:t>
            </a:r>
          </a:p>
          <a:p>
            <a:r>
              <a:rPr lang="en-US" dirty="0"/>
              <a:t>Popular because it is fast and needs no dark adaptation. The catch: it depends strongly on the current light, so always record PAR at the leaf surface, and wait for steady state before the pulse.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many PSII centres are open?</a:t>
            </a:r>
          </a:p>
          <a:p>
            <a:r>
              <a:rPr lang="en-US" dirty="0"/>
              <a:t>qP (photochemical quenching):</a:t>
            </a:r>
          </a:p>
          <a:p>
            <a:r>
              <a:rPr lang="en-US" dirty="0"/>
              <a:t>Formula: qP = Fq′/Fv′ = (Fm′ − F′)/(Fm′ − Fo′).</a:t>
            </a:r>
          </a:p>
          <a:p>
            <a:r>
              <a:rPr lang="en-US" dirty="0"/>
              <a:t>It compares the photochemical part (Fq′) with the maximum possible variable fluorescence in the light (Fv′). It approximates the fraction of open centres. 1 − qP approximates the fraction of closed centres, often used as a measure of "excitation pressure" and the onset of photoinhibition.</a:t>
            </a:r>
          </a:p>
          <a:p>
            <a:r>
              <a:rPr lang="en-US" dirty="0"/>
              <a:t>The problem: qP assumes each PSII unit is isolated (the "puddle" model). In reality PSII units share antennae, so energy from a closed centre can hop to an open neighbour (the "lake" model). This makes qP non-linear with the true open fraction.</a:t>
            </a:r>
          </a:p>
          <a:p>
            <a:r>
              <a:rPr lang="en-US" dirty="0"/>
              <a:t>qL (lake model):</a:t>
            </a:r>
          </a:p>
          <a:p>
            <a:r>
              <a:rPr lang="en-US" dirty="0"/>
              <a:t>Formula: qL = qP × Fo′/F′.</a:t>
            </a:r>
          </a:p>
          <a:p>
            <a:r>
              <a:rPr lang="en-US" dirty="0"/>
              <a:t>It corrects for connectivity between PSII units and is considered a more accurate indicator of the redox state of QA. It needs Fo′.</a:t>
            </a:r>
          </a:p>
          <a:p>
            <a:r>
              <a:rPr lang="en-US" dirty="0"/>
              <a:t>Picture: 10 centres, 6 open (green) and 4 closed (red). Ideally qL ≈ 0.6 and 1 − qL ≈ 0.4.</a:t>
            </a:r>
          </a:p>
          <a:p>
            <a:r>
              <a:rPr lang="en-US" dirty="0"/>
              <a:t>Both qP and qL equal 1 when all centres are open; they differ in between.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NPQ, non-photochemical quenching (Stern–Volmer form).</a:t>
            </a:r>
          </a:p>
          <a:p>
            <a:r>
              <a:rPr lang="en-US" dirty="0"/>
              <a:t>Formula: NPQ = (Fm − Fm′)/Fm′.</a:t>
            </a:r>
          </a:p>
          <a:p>
            <a:r>
              <a:rPr lang="en-US" dirty="0"/>
              <a:t>Meaning: it estimates the rate constant of heat loss from PSII, relative to the dark-adapted state. It is 0 in a fully dark-adapted leaf and typically rises to about 1–3 or more in high light.</a:t>
            </a:r>
          </a:p>
          <a:p>
            <a:r>
              <a:rPr lang="en-US" dirty="0"/>
              <a:t>Why this formula: Fm is the maximum with no NPQ; Fm′ is the maximum with NPQ. The more heat dissipation, the lower Fm′, and the bigger the difference.</a:t>
            </a:r>
          </a:p>
          <a:p>
            <a:r>
              <a:rPr lang="en-US" dirty="0"/>
              <a:t>Important: NPQ is the only common parameter that needs the dark-adapted Fm. This creates a trap:</a:t>
            </a:r>
          </a:p>
          <a:p>
            <a:r>
              <a:rPr lang="en-US" dirty="0"/>
              <a:t>- If the leaf is already photoinhibited, its "dark" Fm is lower than it should be.</a:t>
            </a:r>
          </a:p>
          <a:p>
            <a:r>
              <a:rPr lang="en-US" dirty="0"/>
              <a:t>- Then Fm − Fm′ is smaller, so NPQ looks lower even if heat dissipation is high.</a:t>
            </a:r>
          </a:p>
          <a:p>
            <a:r>
              <a:rPr lang="en-US" dirty="0"/>
              <a:t>- Therefore do not compare NPQ between leaves with different Fv/Fm values, and treat NPQ with caution if Fv/Fm is well below 0.83.</a:t>
            </a:r>
          </a:p>
          <a:p>
            <a:r>
              <a:rPr lang="en-US" dirty="0"/>
              <a:t>The figure (from the course slides) shows the classic notation: Y = (Fm′ − F)/Fm′, qP = (Fm′ − F)/(Fm′ − Fo′), and the older qN = 1 − (Fm′ − Fo′)/(Fm − Fo), with arrows marking the measuring light (ML), saturating pulses (SP), actinic light (AL) and far-red (FR).</a:t>
            </a:r>
          </a:p>
          <a:p>
            <a:r>
              <a:rPr lang="en-US" dirty="0"/>
              <a:t>qN and NPQ both measure non-photochemical quenching but scale differently; NPQ is preferred today.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 of Murchie &amp; Lawson (2013), with one extra column showing what each parameter needs.</a:t>
            </a:r>
          </a:p>
          <a:p>
            <a:r>
              <a:rPr lang="en-US" dirty="0"/>
              <a:t>- Fv/Fm = (Fm − Fo)/Fm: maximum quantum efficiency of PSII. Needs a dark-adapted leaf.</a:t>
            </a:r>
          </a:p>
          <a:p>
            <a:r>
              <a:rPr lang="en-US" dirty="0"/>
              <a:t>- Fv′/Fm′ = (Fm′ − Fo′)/Fm′: maximum efficiency of PSII in the light if all centres were open. Needs Fo′.</a:t>
            </a:r>
          </a:p>
          <a:p>
            <a:r>
              <a:rPr lang="en-US" dirty="0"/>
              <a:t>- Fq′/Fm′ (ΦPSII) = (Fm′ − F′)/Fm′: operating efficiency in the light. Needs neither dark adaptation nor Fo′, which explains why it is the most used.</a:t>
            </a:r>
          </a:p>
          <a:p>
            <a:r>
              <a:rPr lang="en-US" dirty="0"/>
              <a:t>- Fq′/Fv′ (qP) = (Fm′ − F′)/(Fm′ − Fo′): photochemical quenching; non-linear with the open fraction. Needs Fo′.</a:t>
            </a:r>
          </a:p>
          <a:p>
            <a:r>
              <a:rPr lang="en-US" dirty="0"/>
              <a:t>- NPQ = (Fm − Fm′)/Fm′: non-photochemical quenching. Needs dark-adapted Fm.</a:t>
            </a:r>
          </a:p>
          <a:p>
            <a:r>
              <a:rPr lang="en-US" dirty="0"/>
              <a:t>- qL = (Fq′/Fv′)(Fo′/F′): fraction of open centres (lake model). Needs Fo′.</a:t>
            </a:r>
          </a:p>
          <a:p>
            <a:r>
              <a:rPr lang="en-US" dirty="0"/>
              <a:t>How to use it in an exam: for any parameter, first ask "does it need a dark measurement?" and "does it need Fo′?" That tells you the protocol required (see the protocols slide in module 6).</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Readings from one leaf: Fo = 200, Fm = 1000 (dark); F′ = 400, Fm′ = 600, Fo′ = 180 (light); PAR = 1000 µmol m⁻² s⁻¹. These are realistic made-up numbers for practice.</a:t>
            </a:r>
          </a:p>
          <a:p>
            <a:r>
              <a:rPr lang="en-US" dirty="0"/>
              <a:t>Step by step:</a:t>
            </a:r>
          </a:p>
          <a:p>
            <a:r>
              <a:rPr lang="en-US" dirty="0"/>
              <a:t>1. Fv/Fm = (1000 − 200)/1000 = 0.80 → healthy PSII.</a:t>
            </a:r>
          </a:p>
          <a:p>
            <a:r>
              <a:rPr lang="en-US" dirty="0"/>
              <a:t>2. Fv′/Fm′ = (600 − 180)/600 = 0.70 → open centres are less efficient in the light because of NPQ.</a:t>
            </a:r>
          </a:p>
          <a:p>
            <a:r>
              <a:rPr lang="en-US" dirty="0"/>
              <a:t>3. ΦPSII = (600 − 400)/600 = 0.33 → one third of absorbed light is used by PSII.</a:t>
            </a:r>
          </a:p>
          <a:p>
            <a:r>
              <a:rPr lang="en-US" dirty="0"/>
              <a:t>4. qP = (600 − 400)/(600 − 180) = 200/420 = 0.48 → about half the centres are open.</a:t>
            </a:r>
          </a:p>
          <a:p>
            <a:r>
              <a:rPr lang="en-US" dirty="0"/>
              <a:t>5. Check: qP × Fv′/Fm′ = 0.476 × 0.70 = 0.33 = ΦPSII. The decomposition works.</a:t>
            </a:r>
          </a:p>
          <a:p>
            <a:r>
              <a:rPr lang="en-US" dirty="0"/>
              <a:t>6. qL = 0.476 × 180/400 = 0.21 → by the lake model, fewer centres are open than qP suggests.</a:t>
            </a:r>
          </a:p>
          <a:p>
            <a:r>
              <a:rPr lang="en-US" dirty="0"/>
              <a:t>7. NPQ = (1000 − 600)/600 = 0.67 → moderate heat dissipation.</a:t>
            </a:r>
          </a:p>
          <a:p>
            <a:r>
              <a:rPr lang="en-US" dirty="0"/>
              <a:t>8. ETR = 0.333 × 1000 × 0.84 × 0.5 = 140 µmol electrons m⁻² s⁻¹.</a:t>
            </a:r>
          </a:p>
          <a:p>
            <a:r>
              <a:rPr lang="en-US" dirty="0"/>
              <a:t>9. Fo′ calculated (Oxborough &amp; Baker) = 200/(0.80 + 200/600) = 200/1.133 = 176, close to the measured 180.</a:t>
            </a:r>
          </a:p>
          <a:p>
            <a:r>
              <a:rPr lang="en-US" dirty="0"/>
              <a:t>Interpretation: a healthy leaf in fairly high light, using a third of absorbed light for PSII photochemistry, with about half its centres closed and moderate photoprotective heat loss.</a:t>
            </a:r>
          </a:p>
          <a:p>
            <a:r>
              <a:rPr lang="en-US" dirty="0"/>
              <a:t>Practice: change Fm′ to 500 and recalculate; ΦPSII and qP fall, NPQ rises.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6: good practice and pitfalls.</a:t>
            </a:r>
          </a:p>
          <a:p>
            <a:r>
              <a:rPr lang="en-US" dirty="0"/>
              <a:t>Most errors in fluorescence studies are not instrument errors but interpretation errors: wrong dark adaptation, non-saturating pulses, assuming lower Fv/Fm always means lower photosynthesis, or comparing NPQ between damaged and healthy leaves. This module goes through these one by one and ends with standard protocols.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long should a leaf be dark-adapted? It depends on which NPQ components you want to remove. NPQ has three components that relax at different speeds in the dark (see the timeline and the figure):</a:t>
            </a:r>
          </a:p>
          <a:p>
            <a:r>
              <a:rPr lang="en-US" dirty="0"/>
              <a:t>1. qE, energy-dependent quenching: driven by ΔpH, PsbS and zeaxanthin. Relaxes within seconds to a few minutes once the proton gradient collapses.</a:t>
            </a:r>
          </a:p>
          <a:p>
            <a:r>
              <a:rPr lang="en-US" dirty="0"/>
              <a:t>2. qT, state transitions: LHCII antenna moving between PSII and PSI. Relaxes over minutes; important mainly in low light.</a:t>
            </a:r>
          </a:p>
          <a:p>
            <a:r>
              <a:rPr lang="en-US" dirty="0"/>
              <a:t>3. qI, photoinhibitory or sustained quenching: includes damage and repair of the D1 protein and retained zeaxanthin. Relaxes over hours or longer.</a:t>
            </a:r>
          </a:p>
          <a:p>
            <a:r>
              <a:rPr lang="en-US" dirty="0"/>
              <a:t>The figure shows a trace after actinic light is switched off: Fm′ recovers in stages, and the size of each stage gives qE, qT and qI.</a:t>
            </a:r>
          </a:p>
          <a:p>
            <a:r>
              <a:rPr lang="en-US" dirty="0"/>
              <a:t>Practical rules:</a:t>
            </a:r>
          </a:p>
          <a:p>
            <a:r>
              <a:rPr lang="en-US" dirty="0"/>
              <a:t>- 20–30 minutes in the dark usually removes qE and qT for a plant in a moderate environment. Whatever remains is qI.</a:t>
            </a:r>
          </a:p>
          <a:p>
            <a:r>
              <a:rPr lang="en-US" dirty="0"/>
              <a:t>- Best practice: test it. Dark-adapt unstressed control leaves and measure Fv/Fm every 5–10 minutes until it stops changing.</a:t>
            </a:r>
          </a:p>
          <a:p>
            <a:r>
              <a:rPr lang="en-US" dirty="0"/>
              <a:t>- For long-term stress (drought, winter), measure pre-dawn Fv/Fm, after a full night of darkness.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common pitfalls when measuring Fo and Fm.</a:t>
            </a:r>
          </a:p>
          <a:p>
            <a:r>
              <a:rPr lang="en-US" dirty="0"/>
              <a:t>1. Measuring beam too strong: it drives some photochemistry, closes some centres and gives a falsely high Fo. Fix: lower intensity or frequency; check that switching the beam on causes no rise.</a:t>
            </a:r>
          </a:p>
          <a:p>
            <a:r>
              <a:rPr lang="en-US" dirty="0"/>
              <a:t>2. QA partly reduced in darkness: chlororespiration can reduce the PQ pool in the dark, raising Fo. Fix: give a brief far-red pulse before measuring Fo to oxidise QA.</a:t>
            </a:r>
          </a:p>
          <a:p>
            <a:r>
              <a:rPr lang="en-US" dirty="0"/>
              <a:t>3. NPQ not fully relaxed: slowly relaxing zeaxanthin-dependent quenching lowers Fm. Fix: dark-adapt long enough (previous slide).</a:t>
            </a:r>
          </a:p>
          <a:p>
            <a:r>
              <a:rPr lang="en-US" dirty="0"/>
              <a:t>4. Pulse not saturating: about 2000 µmol m⁻² s⁻¹ may be enough for dark-adapted Fm but not for Fm′ under strong actinic light. Aim for 4000–8000; C4 plants may need more.</a:t>
            </a:r>
          </a:p>
          <a:p>
            <a:r>
              <a:rPr lang="en-US" dirty="0"/>
              <a:t>5. High modulation frequency in the dark: high frequency is useful during pulses but can act as actinic light when measuring Fo. Most instruments switch frequency automatically.</a:t>
            </a:r>
          </a:p>
          <a:p>
            <a:r>
              <a:rPr lang="en-US" dirty="0"/>
              <a:t>6. Quenching during the pulse: if the pulse is too long, fluorescence may start to decline during it. Check the pulse shape is flat at the top.</a:t>
            </a:r>
          </a:p>
          <a:p>
            <a:r>
              <a:rPr lang="en-US" dirty="0"/>
              <a:t>These matter because errors in Fo or Fm propagate into every parameter (Fv/Fm, NPQ, qP).</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common misconceptions about Fv/Fm (Murchie &amp; Lawson).</a:t>
            </a:r>
          </a:p>
          <a:p>
            <a:r>
              <a:rPr lang="en-US" dirty="0"/>
              <a:t>1. The cause is hard to assign. Stress such as drought can change leaf optical properties, so Fm and Fo may change because absorptance changed. The ratio Fv/Fm cancels much of this, but finding the cause of a change still needs other measurements.</a:t>
            </a:r>
          </a:p>
          <a:p>
            <a:r>
              <a:rPr lang="en-US" dirty="0"/>
              <a:t>2. Lower Fv/Fm does not necessarily mean lower photosynthesis. Fv/Fm relates to the light-limited quantum yield. A leaf can have reduced Fv/Fm with no loss of photosynthesis at high, light-saturated conditions.</a:t>
            </a:r>
          </a:p>
          <a:p>
            <a:r>
              <a:rPr lang="en-US" dirty="0"/>
              <a:t>3. Stress may need high light to show. Inactivation of PSII may only appear when light is strong enough to cause damage; under low light, stressed and control plants may give the same Fv/Fm.</a:t>
            </a:r>
          </a:p>
          <a:p>
            <a:r>
              <a:rPr lang="en-US" dirty="0"/>
              <a:t>4. It only sees PSII. Stress in another part of the plant, such as roots, may not change Fv/Fm at all. Chlorophyll fluorescence is not a generic stress detector.</a:t>
            </a:r>
          </a:p>
          <a:p>
            <a:r>
              <a:rPr lang="en-US" dirty="0"/>
              <a:t>Take-away: Fv/Fm is a valuable, robust measurement of PSII health, but it should be combined with light-adapted parameters, proper controls and other measurements such as gas exchange.</a:t>
            </a:r>
          </a:p>
          <a:p>
            <a:r>
              <a:rPr lang="en-US" dirty="0"/>
              <a:t>The image shows an imaging system used to map Fv/Fm across plants.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Problems with measurements in the light.</a:t>
            </a:r>
          </a:p>
          <a:p>
            <a:r>
              <a:rPr lang="en-US" dirty="0"/>
              <a:t>1. ΦPSII depends on light. Even small changes in PAR change ΦPSII. Always record PAR at the leaf surface, or measure when light is saturating. Wait until F′ is stable before applying the pulse.</a:t>
            </a:r>
          </a:p>
          <a:p>
            <a:r>
              <a:rPr lang="en-US" dirty="0"/>
              <a:t>2. ETR assumptions. ETR = ΦPSII × PAR × 0.84 × 0.5 assumes leaf absorptance of 0.84 and equal light sharing between PSII and PSI. Pigment content, leaf structure, water status and PSII:PSI ratio all change these values. Do not compare ETR between drought-stressed (low turgor) and well-watered leaves without measuring absorptance.</a:t>
            </a:r>
          </a:p>
          <a:p>
            <a:r>
              <a:rPr lang="en-US" dirty="0"/>
              <a:t>3. Errors in Fo′. If the far-red light does not fully oxidise QA, or NPQ relaxes quickly after the actinic light is off, the measured Fo′ is wrong. Instead calculate it with the Oxborough &amp; Baker (1997) equation:</a:t>
            </a:r>
          </a:p>
          <a:p>
            <a:r>
              <a:rPr lang="en-US" dirty="0"/>
              <a:t>Fo′ = Fo / [(Fv/Fm) + (Fo/Fm′)].</a:t>
            </a:r>
          </a:p>
          <a:p>
            <a:r>
              <a:rPr lang="en-US" dirty="0"/>
              <a:t>This is valid if centres are open at Fo, down-regulation does not differ between Fo and Fm, and photoinhibition does not change between the Fm′ and Fm measurements.</a:t>
            </a:r>
          </a:p>
          <a:p>
            <a:r>
              <a:rPr lang="en-US" dirty="0"/>
              <a:t>4. Other small errors: PSI fluorescence above 700 nm adds to the signal; multiple turnovers of PSII during the pulse. These are usually minor, and ΦPSII still agrees well with the quantum yield of CO2 assimilation.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fluorescence links to CO2 fixation.</a:t>
            </a:r>
          </a:p>
          <a:p>
            <a:r>
              <a:rPr lang="en-US" dirty="0"/>
              <a:t>PSII electron transport (ETR) produces ATP and NADPH, which the Calvin cycle uses to fix CO2. Ideally about 4 electrons are needed per CO2 fixed (when photorespiration is blocked). So ΦPSII and the quantum yield of CO2 fixation are related.</a:t>
            </a:r>
          </a:p>
          <a:p>
            <a:r>
              <a:rPr lang="en-US" dirty="0"/>
              <a:t>But electrons have other destinations (the diagram):</a:t>
            </a:r>
          </a:p>
          <a:p>
            <a:r>
              <a:rPr lang="en-US" dirty="0"/>
              <a:t>1. CO2 assimilation in the Calvin cycle.</a:t>
            </a:r>
          </a:p>
          <a:p>
            <a:r>
              <a:rPr lang="en-US" dirty="0"/>
              <a:t>2. Photorespiration (in C3 plants): Rubisco fixing O2 instead of CO2, which increases when stomata close or temperature rises.</a:t>
            </a:r>
          </a:p>
          <a:p>
            <a:r>
              <a:rPr lang="en-US" dirty="0"/>
              <a:t>3. The Mehler reaction (electrons to oxygen) and cyclic electron flow around PSI: alternative sinks under stress.</a:t>
            </a:r>
          </a:p>
          <a:p>
            <a:r>
              <a:rPr lang="en-US" dirty="0"/>
              <a:t>Implication: a straight-line relation between Fq′/Fm′ and CO2 uptake only holds when the share of electrons going to each sink stays constant, which is hard to guarantee in the field.</a:t>
            </a:r>
          </a:p>
          <a:p>
            <a:r>
              <a:rPr lang="en-US" dirty="0"/>
              <a:t>C3 vs C4:</a:t>
            </a:r>
          </a:p>
          <a:p>
            <a:r>
              <a:rPr lang="en-US" dirty="0"/>
              <a:t>- C3: close correlation only at low O2 (2%), where photorespiration is suppressed.</a:t>
            </a:r>
          </a:p>
          <a:p>
            <a:r>
              <a:rPr lang="en-US" dirty="0"/>
              <a:t>- C4: the CO2-concentrating mechanism suppresses photorespiration, so the relation is more linear.</a:t>
            </a:r>
          </a:p>
          <a:p>
            <a:r>
              <a:rPr lang="en-US" dirty="0"/>
              <a:t>PSI can also be measured: P700 redox state by near-infrared absorbance at 810–840 nm. Combining ΦPSI with ΦPSII helps detect cyclic electron flow, which affects ΔpH and therefore NPQ.</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standard protocols from the review.</a:t>
            </a:r>
          </a:p>
          <a:p>
            <a:r>
              <a:rPr lang="en-US" dirty="0"/>
              <a:t>Protocol A, Fv/Fm:</a:t>
            </a:r>
          </a:p>
          <a:p>
            <a:r>
              <a:rPr lang="en-US" dirty="0"/>
              <a:t>1. Dark-adapt at least 20 minutes (leaf clip), keeping the leaf dark throughout.</a:t>
            </a:r>
          </a:p>
          <a:p>
            <a:r>
              <a:rPr lang="en-US" dirty="0"/>
              <a:t>2. Detector on, measuring beam off: check the zero.</a:t>
            </a:r>
          </a:p>
          <a:p>
            <a:r>
              <a:rPr lang="en-US" dirty="0"/>
              <a:t>3. Measuring beam on: check it causes no rise; adjust if needed.</a:t>
            </a:r>
          </a:p>
          <a:p>
            <a:r>
              <a:rPr lang="en-US" dirty="0"/>
              <a:t>4. Record Fo.</a:t>
            </a:r>
          </a:p>
          <a:p>
            <a:r>
              <a:rPr lang="en-US" dirty="0"/>
              <a:t>5. Saturating pulse of about 0.8 s at 4000 µmol m⁻² s⁻¹ or more: record Fm.</a:t>
            </a:r>
          </a:p>
          <a:p>
            <a:r>
              <a:rPr lang="en-US" dirty="0"/>
              <a:t>6. Check there is no quenching during the pulse.</a:t>
            </a:r>
          </a:p>
          <a:p>
            <a:r>
              <a:rPr lang="en-US" dirty="0"/>
              <a:t>7. An unstressed control should give 0.81–0.83.</a:t>
            </a:r>
          </a:p>
          <a:p>
            <a:r>
              <a:rPr lang="en-US" dirty="0"/>
              <a:t>Protocol B, ΦPSII and NPQ:</a:t>
            </a:r>
          </a:p>
          <a:p>
            <a:r>
              <a:rPr lang="en-US" dirty="0"/>
              <a:t>1. Follow A, then switch on actinic light.</a:t>
            </a:r>
          </a:p>
          <a:p>
            <a:r>
              <a:rPr lang="en-US" dirty="0"/>
              <a:t>2. Wait for steady state (minutes) and record PAR.</a:t>
            </a:r>
          </a:p>
          <a:p>
            <a:r>
              <a:rPr lang="en-US" dirty="0"/>
              <a:t>3. In ambient light, wait until F′ is stable.</a:t>
            </a:r>
          </a:p>
          <a:p>
            <a:r>
              <a:rPr lang="en-US" dirty="0"/>
              <a:t>4. Apply a saturating pulse: record Fm′.</a:t>
            </a:r>
          </a:p>
          <a:p>
            <a:r>
              <a:rPr lang="en-US" dirty="0"/>
              <a:t>5. NPQ uses Fm from protocol A.</a:t>
            </a:r>
          </a:p>
          <a:p>
            <a:r>
              <a:rPr lang="en-US" dirty="0"/>
              <a:t>6. Calculate using the parameter table.</a:t>
            </a:r>
          </a:p>
          <a:p>
            <a:r>
              <a:rPr lang="en-US" dirty="0"/>
              <a:t>Protocol C, qP:</a:t>
            </a:r>
          </a:p>
          <a:p>
            <a:r>
              <a:rPr lang="en-US" dirty="0"/>
              <a:t>1. As B, but Fo′ is also needed.</a:t>
            </a:r>
          </a:p>
          <a:p>
            <a:r>
              <a:rPr lang="en-US" dirty="0"/>
              <a:t>2. After the pulse, switch the actinic light off.</a:t>
            </a:r>
          </a:p>
          <a:p>
            <a:r>
              <a:rPr lang="en-US" dirty="0"/>
              <a:t>3. Measure Fo′ after a few seconds.</a:t>
            </a:r>
          </a:p>
          <a:p>
            <a:r>
              <a:rPr lang="en-US" dirty="0"/>
              <a:t>4. Use far-red light to oxidise PSI, QA and the other carriers.</a:t>
            </a:r>
          </a:p>
          <a:p>
            <a:r>
              <a:rPr lang="en-US" dirty="0"/>
              <a:t>5. Or calculate Fo′ from Fo with the Oxborough &amp; Baker equation.</a:t>
            </a:r>
          </a:p>
          <a:p>
            <a:r>
              <a:rPr lang="en-US" dirty="0"/>
              <a:t>Most instruments run these automatically; knowing the steps lets you check the data make sense.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7: imaging and monitoring.</a:t>
            </a:r>
          </a:p>
          <a:p>
            <a:r>
              <a:rPr lang="en-US" dirty="0"/>
              <a:t>So far we measured one spot on one leaf. Imaging uses the same lights and the same parameters, but with a camera, so every pixel gets a value. This reveals patterns invisible to a point measurement: patchy stomatal closure, infection sites, damaged areas, differences between plants. The module ends with long-term field monitoring and the step up to remote sensing.</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Chlorophyll fluorescence imaging.</a:t>
            </a:r>
          </a:p>
          <a:p>
            <a:r>
              <a:rPr lang="en-US" dirty="0"/>
              <a:t>How it works: banks of LEDs provide measuring, actinic and saturating light over the whole leaf or plant, and a camera records the fluorescence. The images are processed pixel by pixel: from measured images of Fo, Fm, Fs (F′) and Fm′, the software calculates maps of Fv/Fm, ΦPSII and NPQ (the figure shows this image arithmetic).</a:t>
            </a:r>
          </a:p>
          <a:p>
            <a:r>
              <a:rPr lang="en-US" dirty="0"/>
              <a:t>Advantages:</a:t>
            </a:r>
          </a:p>
          <a:p>
            <a:r>
              <a:rPr lang="en-US" dirty="0"/>
              <a:t>- Shows spatial heterogeneity within leaves and between plants.</a:t>
            </a:r>
          </a:p>
          <a:p>
            <a:r>
              <a:rPr lang="en-US" dirty="0"/>
              <a:t>- Many plants can be screened at once under identical conditions.</a:t>
            </a:r>
          </a:p>
          <a:p>
            <a:r>
              <a:rPr lang="en-US" dirty="0"/>
              <a:t>- Resolution ranges from single chloroplasts and guard cells (with microscopes) to whole plants.</a:t>
            </a:r>
          </a:p>
          <a:p>
            <a:r>
              <a:rPr lang="en-US" dirty="0"/>
              <a:t>Combined techniques: with gas exchange (IRGA) for CO2 diffusion and guard-cell photosynthesis; with thermal imaging for stomatal behaviour and water-use efficiency; with hyperspectral imaging for disease detection, such as Fusarium head blight.</a:t>
            </a:r>
          </a:p>
          <a:p>
            <a:r>
              <a:rPr lang="en-US" dirty="0"/>
              <a:t>Requirements: the leaf should be flat, horizontal and at the right distance; actinic light must be even over the area; the pulse must be saturating everywhere (4000–8000 µmol m⁻² s⁻¹).</a:t>
            </a:r>
          </a:p>
          <a:p>
            <a:r>
              <a:rPr lang="en-US" dirty="0"/>
              <a:t>Limitations: more expensive, large LED panels, mostly laboratory-based; often no far-red source, so Fo′ is calculated. Field versions exist (for example Imaging-PAM MINI, FluorCam, rover-mounted systems).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 of Murchie &amp; Lawson: nine examples of what imaging reveals.</a:t>
            </a:r>
          </a:p>
          <a:p>
            <a:r>
              <a:rPr lang="en-US" dirty="0"/>
              <a:t>a, b: Steady-state fluorescence (F′) and ΦPSII of a leaf in a gas-exchange chamber after a drop in humidity: the patchy pattern shows that stomata closed unevenly ("patchy stomatal closure").</a:t>
            </a:r>
          </a:p>
          <a:p>
            <a:r>
              <a:rPr lang="en-US" dirty="0"/>
              <a:t>c: Herbicide screening of Arabidopsis seedlings in a 96-well plate, using Fv/Fm. Damaged seedlings show low values.</a:t>
            </a:r>
          </a:p>
          <a:p>
            <a:r>
              <a:rPr lang="en-US" dirty="0"/>
              <a:t>d: Heterogeneity of ΦPSII between and within Arabidopsis plants after high light.</a:t>
            </a:r>
          </a:p>
          <a:p>
            <a:r>
              <a:rPr lang="en-US" dirty="0"/>
              <a:t>e: Fv/Fm of guard-cell chloroplasts in Tradescantia epidermis, imaged with a microscope: guard cells do photosynthesis too.</a:t>
            </a:r>
          </a:p>
          <a:p>
            <a:r>
              <a:rPr lang="en-US" dirty="0"/>
              <a:t>f: Screening transgenic plants with reduced SBPase (a Calvin-cycle enzyme); they show lower photosynthetic efficiency.</a:t>
            </a:r>
          </a:p>
          <a:p>
            <a:r>
              <a:rPr lang="en-US" dirty="0"/>
              <a:t>g: Fv/Fm of wheat varieties with different susceptibility to rust infection.</a:t>
            </a:r>
          </a:p>
          <a:p>
            <a:r>
              <a:rPr lang="en-US" dirty="0"/>
              <a:t>h: ΦPSII declining as the herbicide DCMU moves into a leaf through the petiole and veins.</a:t>
            </a:r>
          </a:p>
          <a:p>
            <a:r>
              <a:rPr lang="en-US" dirty="0"/>
              <a:t>i: The effect of cadmium on ΦPSII in the aquatic plant Lemna.</a:t>
            </a:r>
          </a:p>
          <a:p>
            <a:r>
              <a:rPr lang="en-US" dirty="0"/>
              <a:t>Colour scale: usually warm colours (red) for low values and cool or bright colours for high values; read the colour bar on each panel.</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from the course slides.</a:t>
            </a:r>
          </a:p>
          <a:p>
            <a:r>
              <a:rPr lang="en-US" dirty="0"/>
              <a:t>1. Post-harvest lemon damage: Fo, Fs, Fm and Fv/Fm images show damaged areas of the peel that are not yet visible in a normal photograph. Used in fruit quality control.</a:t>
            </a:r>
          </a:p>
          <a:p>
            <a:r>
              <a:rPr lang="en-US" dirty="0"/>
              <a:t>2. Green mould infection of lemons over 0–84 hours: fluorescence images show the infection spreading before symptoms are obvious to the eye.</a:t>
            </a:r>
          </a:p>
          <a:p>
            <a:r>
              <a:rPr lang="en-US" dirty="0"/>
              <a:t>3. Leaf development: young and old leaves differ in their fluorescence kinetics and images; young leaves often have lower efficiency while their photosynthetic machinery is still assembling.</a:t>
            </a:r>
          </a:p>
          <a:p>
            <a:r>
              <a:rPr lang="en-US" dirty="0"/>
              <a:t>4. Heterocysts in cyanobacteria (arrows): these are specialised cells that fix nitrogen. They switch off PSII (to protect the oxygen-sensitive nitrogenase), so they appear dark in Fm fluorescence images while normal cells are bright.</a:t>
            </a:r>
          </a:p>
          <a:p>
            <a:r>
              <a:rPr lang="en-US" dirty="0"/>
              <a:t>Common message: fluorescence imaging detects changes in PSII activity early and maps where they occur.</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stress-phenotyping example (course slides): leaves under control, cadmium (Cd), salt (NaCl) and combined Cd + NaCl stress, imaged after 2 and 3 weeks.</a:t>
            </a:r>
          </a:p>
          <a:p>
            <a:r>
              <a:rPr lang="en-US" dirty="0"/>
              <a:t>How to read it:</a:t>
            </a:r>
          </a:p>
          <a:p>
            <a:r>
              <a:rPr lang="en-US" dirty="0"/>
              <a:t>- Rows: Fv/Fm, Y(II) (which is ΦPSII) and NPQ images.</a:t>
            </a:r>
          </a:p>
          <a:p>
            <a:r>
              <a:rPr lang="en-US" dirty="0"/>
              <a:t>- Columns: Control, Cd, Na, Cd + Na, at 2 and 3 weeks.</a:t>
            </a:r>
          </a:p>
          <a:p>
            <a:r>
              <a:rPr lang="en-US" dirty="0"/>
              <a:t>- Colour scale: blue/purple means high, yellow/red means low.</a:t>
            </a:r>
          </a:p>
          <a:p>
            <a:r>
              <a:rPr lang="en-US" dirty="0"/>
              <a:t>- Bottom graphs: time courses of each parameter for each treatment.</a:t>
            </a:r>
          </a:p>
          <a:p>
            <a:r>
              <a:rPr lang="en-US" dirty="0"/>
              <a:t>Lessons:</a:t>
            </a:r>
          </a:p>
          <a:p>
            <a:r>
              <a:rPr lang="en-US" dirty="0"/>
              <a:t>1. Each parameter responds differently and with a different timing. For example, NPQ may rise early as a protective response while Fv/Fm falls only later when damage occurs.</a:t>
            </a:r>
          </a:p>
          <a:p>
            <a:r>
              <a:rPr lang="en-US" dirty="0"/>
              <a:t>2. Images show where in the leaf damage starts (often at the edges or between veins).</a:t>
            </a:r>
          </a:p>
          <a:p>
            <a:r>
              <a:rPr lang="en-US" dirty="0"/>
              <a:t>3. Combining dark-adapted (Fv/Fm) and light-adapted (Y(II), NPQ) parameters gives a much fuller picture than Fv/Fm alone.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Going up in scale, from seconds on a leaf to seasons over a landscape.</a:t>
            </a:r>
          </a:p>
          <a:p>
            <a:r>
              <a:rPr lang="en-US" dirty="0"/>
              <a:t>1. Leaf clip PAM: millimetres to centimetres, seconds.</a:t>
            </a:r>
          </a:p>
          <a:p>
            <a:r>
              <a:rPr lang="en-US" dirty="0"/>
              <a:t>2. Monitoring PAM: measuring heads fixed on leaves for weeks or whole seasons, powered by solar panels. At night Fm′ and Fo′ become Fm and Fo, giving daily Fv/Fm. Used, for example, to follow annual NPQ cycles in boreal forest and in rice canopies.</a:t>
            </a:r>
          </a:p>
          <a:p>
            <a:r>
              <a:rPr lang="en-US" dirty="0"/>
              <a:t>3. LIFT (laser-induced fluorescence transient): a laser excites a spot of about 10 cm on the canopy from 5–50 m away, and a telescope with a photodiode records the response. It gives PSII efficiency and electron transport remotely. Still active (the instrument supplies the light).</a:t>
            </a:r>
          </a:p>
          <a:p>
            <a:r>
              <a:rPr lang="en-US" dirty="0"/>
              <a:t>4. UAV and airborne: passive SIF.</a:t>
            </a:r>
          </a:p>
          <a:p>
            <a:r>
              <a:rPr lang="en-US" dirty="0"/>
              <a:t>5. Satellite: 300 m to tens of km pixels, passive SIF.</a:t>
            </a:r>
          </a:p>
          <a:p>
            <a:r>
              <a:rPr lang="en-US" dirty="0"/>
              <a:t>The key transition: beyond LIFT range we can no longer saturate a canopy with an artificial pulse, and illumination is uneven. So we switch to passive measurement of fluorescence excited by sunlight, using dark absorption lines in the solar spectrum. That is SIF, the next module.</a:t>
            </a:r>
          </a:p>
          <a:p>
            <a:r>
              <a:rPr lang="en-US" dirty="0"/>
              <a:t>The trade-off: passive sensing loses the saturating pulse (so no direct NPQ or Fv/Fm), but gains continuous, large-area coverage.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8: sun-induced fluorescence (SIF), based on Mohammed et al. (2019), "50 years of progress".</a:t>
            </a:r>
          </a:p>
          <a:p>
            <a:r>
              <a:rPr lang="en-US" dirty="0"/>
              <a:t>The physics is the same as PAM: absorbed light, three competing fates, red and far-red emission. The difference is the measurement: the sun is the light source, and we must separate a very small fluorescence signal from the much larger reflected sunlight. The trick is to look in narrow wavelength bands where sunlight is dim (Fraunhofer lines and oxygen absorption bands).</a:t>
            </a:r>
          </a:p>
          <a:p>
            <a:r>
              <a:rPr lang="en-US" dirty="0"/>
              <a:t>The module covers: active vs passive, history, the emission spectrum, re-absorption, the retrieval problem and methods, confounders, models, the link to GPP, platforms, satellites, applications and challenges.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compares the two approaches row by row.</a:t>
            </a:r>
          </a:p>
          <a:p>
            <a:r>
              <a:rPr lang="en-US" dirty="0"/>
              <a:t>- Light source: PAM uses the instrument's lights (measuring, actinic, saturating pulse, far-red); SIF uses the sun.</a:t>
            </a:r>
          </a:p>
          <a:p>
            <a:r>
              <a:rPr lang="en-US" dirty="0"/>
              <a:t>- Saturating pulse: PAM yes, giving Fm and Fm′; SIF no.</a:t>
            </a:r>
          </a:p>
          <a:p>
            <a:r>
              <a:rPr lang="en-US" dirty="0"/>
              <a:t>- What it gives: PAM gives yields and ratios (Fv/Fm, ΦPSII, NPQ), which are dimensionless. SIF gives an absolute flux of emitted light (radiance in mW m⁻² sr⁻¹ nm⁻¹).</a:t>
            </a:r>
          </a:p>
          <a:p>
            <a:r>
              <a:rPr lang="en-US" dirty="0"/>
              <a:t>- Scale: PAM works on leaves and single plants; SIF from leaf to globe.</a:t>
            </a:r>
          </a:p>
          <a:p>
            <a:r>
              <a:rPr lang="en-US" dirty="0"/>
              <a:t>- Spectral bands: PAM usually one broad band above 700 nm; SIF uses red (~687 nm) and far-red (~760 nm) bands or the full 650–800 nm spectrum.</a:t>
            </a:r>
          </a:p>
          <a:p>
            <a:r>
              <a:rPr lang="en-US" dirty="0"/>
              <a:t>- Main challenge: for PAM, the measurement protocol and dark adaptation; for SIF, the signal is only about 1–5% of reflected radiance, plus atmospheric and canopy-structure effects.</a:t>
            </a:r>
          </a:p>
          <a:p>
            <a:r>
              <a:rPr lang="en-US" dirty="0"/>
              <a:t>- Typical use: PAM for plant physiology and phenotyping; SIF for estimating photosynthesis (GPP), mapping stress and monitoring ecosystems.</a:t>
            </a:r>
          </a:p>
          <a:p>
            <a:r>
              <a:rPr lang="en-US" dirty="0"/>
              <a:t>Key concept: SIF = absorbed light × fluorescence yield × escape fraction. So SIF depends on how much light the canopy absorbs, not just on physiology. This is the biggest conceptual difference from PAM yields.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history, from discovery to satellites.</a:t>
            </a:r>
          </a:p>
          <a:p>
            <a:r>
              <a:rPr lang="en-US" dirty="0"/>
              <a:t>- 1834: Brewster saw red light from an alcohol extract of laurel leaves.</a:t>
            </a:r>
          </a:p>
          <a:p>
            <a:r>
              <a:rPr lang="en-US" dirty="0"/>
              <a:t>- 1852: Stokes named the phenomenon "fluorescence" and described the shift to longer wavelengths.</a:t>
            </a:r>
          </a:p>
          <a:p>
            <a:r>
              <a:rPr lang="en-US" dirty="0"/>
              <a:t>- 1874: Müller suggested a link between fluorescence and assimilation.</a:t>
            </a:r>
          </a:p>
          <a:p>
            <a:r>
              <a:rPr lang="en-US" dirty="0"/>
              <a:t>- 1931: Kautsky and Hirsch described the induction kinetics (the Kautsky curve).</a:t>
            </a:r>
          </a:p>
          <a:p>
            <a:r>
              <a:rPr lang="en-US" dirty="0"/>
              <a:t>- 1940: McAlister and Myers found both inverse and direct relations between fluorescence and CO2 uptake.</a:t>
            </a:r>
          </a:p>
          <a:p>
            <a:r>
              <a:rPr lang="en-US" dirty="0"/>
              <a:t>- 1963: Duysens and Sweers pioneered modulated light and described what we now call NPQ.</a:t>
            </a:r>
          </a:p>
          <a:p>
            <a:r>
              <a:rPr lang="en-US" dirty="0"/>
              <a:t>- 1975: Plascyk built the Fraunhofer Line Discriminator (FLD), the first passive method.</a:t>
            </a:r>
          </a:p>
          <a:p>
            <a:r>
              <a:rPr lang="en-US" dirty="0"/>
              <a:t>- 1986: Schreiber introduced the PAM fluorometer.</a:t>
            </a:r>
          </a:p>
          <a:p>
            <a:r>
              <a:rPr lang="en-US" dirty="0"/>
              <a:t>- 2000: Zarco-Tejada showed fluorescence signals in canopy reflectance.</a:t>
            </a:r>
          </a:p>
          <a:p>
            <a:r>
              <a:rPr lang="en-US" dirty="0"/>
              <a:t>- 2011: GOSAT gave the first global SIF maps.</a:t>
            </a:r>
          </a:p>
          <a:p>
            <a:r>
              <a:rPr lang="en-US" dirty="0"/>
              <a:t>- 2015: ESA selected FLEX, the first satellite mission designed for SIF.</a:t>
            </a:r>
          </a:p>
          <a:p>
            <a:r>
              <a:rPr lang="en-US" dirty="0"/>
              <a:t>- 2017: TROPOMI on Sentinel-5P launched, giving daily near-global SIF.</a:t>
            </a:r>
          </a:p>
          <a:p>
            <a:r>
              <a:rPr lang="en-US" dirty="0"/>
              <a:t>Green milestones are mostly leaf-level science; red ones are remote sensing. The two fields developed separately and are now joining.</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SIF emission spectrum (Mohammed et al. Fig. 1).</a:t>
            </a:r>
          </a:p>
          <a:p>
            <a:r>
              <a:rPr lang="en-US" dirty="0"/>
              <a:t>Top part: absorbed light is partitioned into photochemistry (light reactions in PSII and PSI), fluorescence emission, and heat dissipation (both basal and regulated NPQ through the xanthophyll cycle).</a:t>
            </a:r>
          </a:p>
          <a:p>
            <a:r>
              <a:rPr lang="en-US" dirty="0"/>
              <a:t>Bottom part: the spectrum emitted by a leaf, from 650 to 800 nm.</a:t>
            </a:r>
          </a:p>
          <a:p>
            <a:r>
              <a:rPr lang="en-US" dirty="0"/>
              <a:t>1. Red peak near 685–690 nm (F685): mostly from PSII. Strongly re-absorbed by chlorophyll inside the leaf.</a:t>
            </a:r>
          </a:p>
          <a:p>
            <a:r>
              <a:rPr lang="en-US" dirty="0"/>
              <a:t>2. Far-red peak near 730–740 nm (F740): from both PSII and PSI. Escapes the leaf much more easily.</a:t>
            </a:r>
          </a:p>
          <a:p>
            <a:r>
              <a:rPr lang="en-US" dirty="0"/>
              <a:t>The shaded areas show the separate PSII and PSI contributions.</a:t>
            </a:r>
          </a:p>
          <a:p>
            <a:r>
              <a:rPr lang="en-US" dirty="0"/>
              <a:t>Key numbers and terms:</a:t>
            </a:r>
          </a:p>
          <a:p>
            <a:r>
              <a:rPr lang="en-US" dirty="0"/>
              <a:t>- Fluorescence quantum yield in vivo is below 10%, typically 0.5–3%.</a:t>
            </a:r>
          </a:p>
          <a:p>
            <a:r>
              <a:rPr lang="en-US" dirty="0"/>
              <a:t>- Under sunlight what is measured is steady-state fluorescence (Fs or Ft), not Fo or Fm.</a:t>
            </a:r>
          </a:p>
          <a:p>
            <a:r>
              <a:rPr lang="en-US" dirty="0"/>
              <a:t>- Heat dissipation has a constitutive (basal) part and a regulated part (NPQ).</a:t>
            </a:r>
          </a:p>
          <a:p>
            <a:r>
              <a:rPr lang="en-US" dirty="0"/>
              <a:t>- SIF is expressed as radiance, in mW m⁻² sr⁻¹ nm⁻¹.</a:t>
            </a:r>
          </a:p>
          <a:p>
            <a:r>
              <a:rPr lang="en-US" dirty="0"/>
              <a:t>Why the red peak is lower than the far-red peak in green leaves: re-absorption by chlorophyll, explained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signal seen from above is not the signal emitted inside the leaves.</a:t>
            </a:r>
          </a:p>
          <a:p>
            <a:r>
              <a:rPr lang="en-US" dirty="0"/>
              <a:t>Leaf level: chlorophyll absorbs strongly from about 400 to 700 nm, overlapping the red emission peak. So red fluorescence is largely re-absorbed before it leaves the leaf, while far-red escapes. As chlorophyll content increases, the red/far-red ratio decreases. This is the basis of chlorophyll-content indices such as Gitelson's F735/F700.</a:t>
            </a:r>
          </a:p>
          <a:p>
            <a:r>
              <a:rPr lang="en-US" dirty="0"/>
              <a:t>Canopy level: fluorescence is scattered and re-absorbed again by other leaves. The fraction that finally leaves the canopy towards the sensor is the escape probability, fesc. Its spectral shape looks very similar to canopy reflectance. Leaf area index (LAI), leaf angle, clumping, and the mix of sunlit and shaded leaves all change it.</a:t>
            </a:r>
          </a:p>
          <a:p>
            <a:r>
              <a:rPr lang="en-US" dirty="0"/>
              <a:t>The figure (SCOPE model simulation for four chlorophyll contents, 5–80 µg cm⁻²):</a:t>
            </a:r>
          </a:p>
          <a:p>
            <a:r>
              <a:rPr lang="en-US" dirty="0"/>
              <a:t>a) reflectance, b) escape probability, c) fluorescence emitted by all leaves, d) top-of-canopy SIF. Note how much the red part shrinks from (c) to (d).</a:t>
            </a:r>
          </a:p>
          <a:p>
            <a:r>
              <a:rPr lang="en-US" dirty="0"/>
              <a:t>Consequence: a change in SIF can come from physiology (yield) or from structure and pigments (absorption and escape). Models are needed to tell them apart.</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difficulty of measuring SIF (Mohammed et al. Fig. 8).</a:t>
            </a:r>
          </a:p>
          <a:p>
            <a:r>
              <a:rPr lang="en-US" dirty="0"/>
              <a:t>The grey curve is total radiance leaving a dense summer canopy at 0.1 nm resolution; the red curve is SIF alone (right axis in % of total).</a:t>
            </a:r>
          </a:p>
          <a:p>
            <a:r>
              <a:rPr lang="en-US" dirty="0"/>
              <a:t>- Across most wavelengths SIF is only about 1–5% of the total radiance; the rest is reflected sunlight.</a:t>
            </a:r>
          </a:p>
          <a:p>
            <a:r>
              <a:rPr lang="en-US" dirty="0"/>
              <a:t>- But inside narrow absorption bands, where incoming sunlight is very dim, SIF makes up a much larger share: more than 10% in the O2-A band (760 nm) and the O2-B band (687 nm). The insets zoom into these bands.</a:t>
            </a:r>
          </a:p>
          <a:p>
            <a:r>
              <a:rPr lang="en-US" dirty="0"/>
              <a:t>Why the bands help:</a:t>
            </a:r>
          </a:p>
          <a:p>
            <a:r>
              <a:rPr lang="en-US" dirty="0"/>
              <a:t>1. Inside a band, sunlight is strongly absorbed (by oxygen in Earth's atmosphere or by gases in the Sun's atmosphere), so reflected light is very low.</a:t>
            </a:r>
          </a:p>
          <a:p>
            <a:r>
              <a:rPr lang="en-US" dirty="0"/>
              <a:t>2. Fluorescence is emitted by the plant at all wavelengths, including inside the band.</a:t>
            </a:r>
          </a:p>
          <a:p>
            <a:r>
              <a:rPr lang="en-US" dirty="0"/>
              <a:t>3. So fluorescence "fills in" the band: the band looks shallower over vegetation than in the incoming sunlight.</a:t>
            </a:r>
          </a:p>
          <a:p>
            <a:r>
              <a:rPr lang="en-US" dirty="0"/>
              <a:t>4. Measuring that in-filling requires very fine spectral resolution (below 1 nm) and a high signal-to-noise ratio.</a:t>
            </a:r>
          </a:p>
          <a:p>
            <a:r>
              <a:rPr lang="en-US" dirty="0"/>
              <a:t>In the red region the SIF fraction is also helped by low leaf reflectance there.</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to look: two kinds of dark lines in the sunlight reaching plants.</a:t>
            </a:r>
          </a:p>
          <a:p>
            <a:r>
              <a:rPr lang="en-US" dirty="0"/>
              <a:t>1. Fraunhofer lines: produced by gases in the Sun's own atmosphere. They are narrow (about 0.1 nm) and fairly shallow, so the in-filling signal is small. But their relative depth is hardly changed by Earth's atmosphere, so atmospheric correction is simpler. This is why most satellites (GOSAT, GOME-2, OCO-2, TROPOMI) use Fraunhofer lines in the 745–758 nm and 770 nm regions.</a:t>
            </a:r>
          </a:p>
          <a:p>
            <a:r>
              <a:rPr lang="en-US" dirty="0"/>
              <a:t>2. Telluric oxygen bands (O2-B at 687 nm, O2-A at 760 nm): produced by oxygen in Earth's atmosphere. They are wide and deep, giving a strong in-filling signal. But their depth depends on the path length through the atmosphere, surface pressure, aerosols and the mix of direct and diffuse light, so they need accurate atmospheric modelling. FLEX is designed for this.</a:t>
            </a:r>
          </a:p>
          <a:p>
            <a:r>
              <a:rPr lang="en-US" dirty="0"/>
              <a:t>The figure (olive canopy) shows radiance with the O2-B and O2-A bands marked, and the O2-A band in detail.</a:t>
            </a:r>
          </a:p>
          <a:p>
            <a:r>
              <a:rPr lang="en-US" dirty="0"/>
              <a:t>Table summary: Hα at 656.3 nm (early FLD work); O2-B ~687 nm (red SIF); Fraunhofer lines 745–758 nm and K I at 770 nm (far-red SIF from satellites); O2-A ~760 nm (far-red SIF, the deepest band).</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retrieval equation and the Fraunhofer Line Discrimination (FLD) method.</a:t>
            </a:r>
          </a:p>
          <a:p>
            <a:r>
              <a:rPr lang="en-US" dirty="0"/>
              <a:t>Basic equation: radiance at the sensor L(λ) = r(λ)·E(λ)/π + SIF(λ).</a:t>
            </a:r>
          </a:p>
          <a:p>
            <a:r>
              <a:rPr lang="en-US" dirty="0"/>
              <a:t>E is the incoming irradiance, r the reflectance, and π converts irradiance to radiance for a diffuse surface. There are two unknowns at each wavelength (r and SIF), so one measurement is not enough.</a:t>
            </a:r>
          </a:p>
          <a:p>
            <a:r>
              <a:rPr lang="en-US" dirty="0"/>
              <a:t>FLD step by step:</a:t>
            </a:r>
          </a:p>
          <a:p>
            <a:r>
              <a:rPr lang="en-US" dirty="0"/>
              <a:t>1. Measure E and L at one wavelength inside the band (Ein, Lin) and one just outside (Eout, Lout).</a:t>
            </a:r>
          </a:p>
          <a:p>
            <a:r>
              <a:rPr lang="en-US" dirty="0"/>
              <a:t>2. Assume r and SIF are the same at both wavelengths (they are very close together).</a:t>
            </a:r>
          </a:p>
          <a:p>
            <a:r>
              <a:rPr lang="en-US" dirty="0"/>
              <a:t>3. Two equations: Lin = r·Ein/π + F and Lout = r·Eout/π + F.</a:t>
            </a:r>
          </a:p>
          <a:p>
            <a:r>
              <a:rPr lang="en-US" dirty="0"/>
              <a:t>4. Solve: F = (Eout·Lin − Ein·Lout)/(Eout − Ein).</a:t>
            </a:r>
          </a:p>
          <a:p>
            <a:r>
              <a:rPr lang="en-US" dirty="0"/>
              <a:t>The chart shows the idea: normalised to the band shoulder, the canopy radiance dip (red) is shallower than the irradiance dip (grey). The difference is the fluorescence in-filling.</a:t>
            </a:r>
          </a:p>
          <a:p>
            <a:r>
              <a:rPr lang="en-US" dirty="0"/>
              <a:t>The weakness is assumption 2: reflectance and fluorescence do change slightly across the window. Improved versions relax it: 3FLD uses two reference bands on either side, iFLD and cFLD use correction factors, and spectral fitting methods model r and F as smooth functions over a wider window.</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Families of SIF retrieval methods (Mohammed et al. Table 2).</a:t>
            </a:r>
          </a:p>
          <a:p>
            <a:r>
              <a:rPr lang="en-US" dirty="0"/>
              <a:t>Class 1, SIF at selected absorption bands:</a:t>
            </a:r>
          </a:p>
          <a:p>
            <a:r>
              <a:rPr lang="en-US" dirty="0"/>
              <a:t>a) O2 bands: FLD (Plascyk 1975); refined versions 3FLD, iFLD, cFLD; spectral fitting methods (SFM) that fit reflectance and fluorescence over tens of nanometres around the band.</a:t>
            </a:r>
          </a:p>
          <a:p>
            <a:r>
              <a:rPr lang="en-US" dirty="0"/>
              <a:t>b) Fraunhofer lines: physically based methods (Frankenberg 2011), and data-driven methods using principal component analysis or singular value decomposition (Guanter, Joiner, Köhler). The data-driven ones learn what the spectrum looks like without fluorescence from non-vegetated pixels (deserts, ice, clouds), then attribute the remaining in-filling to SIF. Used for GOSAT, GOME-2, OCO-2 and TROPOMI.</a:t>
            </a:r>
          </a:p>
          <a:p>
            <a:r>
              <a:rPr lang="en-US" dirty="0"/>
              <a:t>Class 2, the full SIF spectrum (650–800 nm):</a:t>
            </a:r>
          </a:p>
          <a:p>
            <a:r>
              <a:rPr lang="en-US" dirty="0"/>
              <a:t>c) Spectrum fitting: FSR and aFSR (basis spectra from SCOPE simulations), F-SFM (full-spectrum fitting), SpecFit (piecewise cubic splines).</a:t>
            </a:r>
          </a:p>
          <a:p>
            <a:r>
              <a:rPr lang="en-US" dirty="0"/>
              <a:t>d) Model inversion: inverting a canopy radiative-transfer model such as SCOPE at the top of the atmosphere or top of canopy (Verhoef 2018 for FLEX + Sentinel-3; Celesti 2018). This also returns chlorophyll content, LAI and fAPAR.</a:t>
            </a:r>
          </a:p>
          <a:p>
            <a:r>
              <a:rPr lang="en-US" dirty="0"/>
              <a:t>Rule of thumb: band methods are simpler and robust; full-spectrum methods give more information but need more spectral data and modelling.</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effects that can mimic or hide SIF.</a:t>
            </a:r>
          </a:p>
          <a:p>
            <a:r>
              <a:rPr lang="en-US" dirty="0"/>
              <a:t>1. Atmospheric correction: O2 bands need very accurate atmospheric radiative-transfer modelling (MODTRAN, for example). Either correct from top of atmosphere to top of canopy first and then retrieve (two steps), or do both together (one step).</a:t>
            </a:r>
          </a:p>
          <a:p>
            <a:r>
              <a:rPr lang="en-US" dirty="0"/>
              <a:t>2. Direct vs diffuse light: diffuse sky light has travelled a longer path through the atmosphere, so the O2 band is deeper in it. If the direct/diffuse ratio is wrong, SIF at O2-A can be over- or under-estimated by up to about 20%.</a:t>
            </a:r>
          </a:p>
          <a:p>
            <a:r>
              <a:rPr lang="en-US" dirty="0"/>
              <a:t>3. Anisotropy and geometry: sun and view angles change how many sunlit and shaded leaves the sensor sees, so the same canopy gives different SIF from different angles.</a:t>
            </a:r>
          </a:p>
          <a:p>
            <a:r>
              <a:rPr lang="en-US" dirty="0"/>
              <a:t>4. Clouds and aerosols: they contaminate large satellite footprints. Fraunhofer-line methods tolerate moderate broken cloud better.</a:t>
            </a:r>
          </a:p>
          <a:p>
            <a:r>
              <a:rPr lang="en-US" dirty="0"/>
              <a:t>5. Zero-level offset: retrievals can show non-zero SIF where there is no vegetation (such as the Sahara). This was first found in GOSAT data and is corrected with non-vegetated reference areas.</a:t>
            </a:r>
          </a:p>
          <a:p>
            <a:r>
              <a:rPr lang="en-US" dirty="0"/>
              <a:t>6. Sensor performance: spectral resolution, signal-to-noise ratio, stray light, calibration drift and degradation over time.</a:t>
            </a:r>
          </a:p>
          <a:p>
            <a:r>
              <a:rPr lang="en-US" dirty="0"/>
              <a:t>Take-away: retrieving SIF is as much an atmospheric and instrument problem as a plant problem.</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are needed to interpret SIF, and they work at four nested levels (Mohammed et al. Fig. 5 shows their history; blue boxes are models without fluorescence).</a:t>
            </a:r>
          </a:p>
          <a:p>
            <a:r>
              <a:rPr lang="en-US" dirty="0"/>
              <a:t>1. Photosystem level: how absorbed energy is split between photochemistry, heat and fluorescence. Examples: Kautsky kinetics, the Genty equation, the Rosema NPQ model, van der Tol &amp; Berry's model linking fluorescence yield to photosynthesis.</a:t>
            </a:r>
          </a:p>
          <a:p>
            <a:r>
              <a:rPr lang="en-US" dirty="0"/>
              <a:t>2. Leaf radiative transfer: how light is absorbed inside a leaf, and how fluorescence is emitted and re-absorbed. PROSPECT (reflectance) led to FluorMODleaf and Fluspect (which add fluorescence).</a:t>
            </a:r>
          </a:p>
          <a:p>
            <a:r>
              <a:rPr lang="en-US" dirty="0"/>
              <a:t>3. Canopy, 1D: horizontally uniform layers. SAIL led to FluorSAIL and then SCOPE (Soil–Canopy Observation of Photosynthesis and Energy fluxes), which also includes the leaf energy balance, so it links SIF, photosynthesis and leaf temperature.</a:t>
            </a:r>
          </a:p>
          <a:p>
            <a:r>
              <a:rPr lang="en-US" dirty="0"/>
              <a:t>4. Canopy, 3D: full 3D scenes. DART (Discrete Anisotropic Radiative Transfer), FluorFLIGHT, FluorWPS.</a:t>
            </a:r>
          </a:p>
          <a:p>
            <a:r>
              <a:rPr lang="en-US" dirty="0"/>
              <a:t>5. Global land-surface models: CLM, BETHY and ORCHIDEE assimilate satellite SIF to improve their estimates of photosynthesis.</a:t>
            </a:r>
          </a:p>
          <a:p>
            <a:r>
              <a:rPr lang="en-US" dirty="0"/>
              <a:t>SCOPE is the most widely used model in SIF studies.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3D modelling example (Mohammed et al. Fig. 6): DART simulation of a maize canopy.</a:t>
            </a:r>
          </a:p>
          <a:p>
            <a:r>
              <a:rPr lang="en-US" dirty="0"/>
              <a:t>Panels:</a:t>
            </a:r>
          </a:p>
          <a:p>
            <a:r>
              <a:rPr lang="en-US" dirty="0"/>
              <a:t>a) irradiance reaching each plant element;</a:t>
            </a:r>
          </a:p>
          <a:p>
            <a:r>
              <a:rPr lang="en-US" dirty="0"/>
              <a:t>b) sunlit (red) and shaded (blue) leaves at one moment;</a:t>
            </a:r>
          </a:p>
          <a:p>
            <a:r>
              <a:rPr lang="en-US" dirty="0"/>
              <a:t>c) a true-colour reflectance image;</a:t>
            </a:r>
          </a:p>
          <a:p>
            <a:r>
              <a:rPr lang="en-US" dirty="0"/>
              <a:t>d) an image of PSII fluorescence (bright where leaves are sunlit and well exposed);</a:t>
            </a:r>
          </a:p>
          <a:p>
            <a:r>
              <a:rPr lang="en-US" dirty="0"/>
              <a:t>e) hourly PSII and PSI SIF at 742.5 nm through the day: canopy SIF follows the daily course of sunlight, peaking around noon.</a:t>
            </a:r>
          </a:p>
          <a:p>
            <a:r>
              <a:rPr lang="en-US" dirty="0"/>
              <a:t>What 3D models add: shadows, clumping, row structure and leaf angles, which 1D models like SCOPE cannot represent. This matters for row crops, orchards and forests.</a:t>
            </a:r>
          </a:p>
          <a:p>
            <a:r>
              <a:rPr lang="en-US" dirty="0"/>
              <a:t>SCOPE's niche: the only canopy model with a leaf energy balance, linking SIF to photosynthesis and temperature.</a:t>
            </a:r>
          </a:p>
          <a:p>
            <a:r>
              <a:rPr lang="en-US" dirty="0"/>
              <a:t>Uses of models: interpreting measured signals, designing sensors and missions, correcting for scattering and re-absorption, and "downscaling" canopy SIF to what the photosystems actually emit.</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SIF tracks photosynthesis (gross primary production, GPP).</a:t>
            </a:r>
          </a:p>
          <a:p>
            <a:r>
              <a:rPr lang="en-US" dirty="0"/>
              <a:t>The two equations:</a:t>
            </a:r>
          </a:p>
          <a:p>
            <a:r>
              <a:rPr lang="en-US" dirty="0"/>
              <a:t>- GPP = APAR × LUE (absorbed PAR times light-use efficiency).</a:t>
            </a:r>
          </a:p>
          <a:p>
            <a:r>
              <a:rPr lang="en-US" dirty="0"/>
              <a:t>- SIF = APAR × ΦF × fesc (absorbed PAR times fluorescence yield times escape probability).</a:t>
            </a:r>
          </a:p>
          <a:p>
            <a:r>
              <a:rPr lang="en-US" dirty="0"/>
              <a:t>Both contain APAR. Much of the observed correlation between SIF and GPP simply comes from both scaling with how much light the canopy absorbs (which depends on chlorophyll and leaf area).</a:t>
            </a:r>
          </a:p>
          <a:p>
            <a:r>
              <a:rPr lang="en-US" dirty="0"/>
              <a:t>What studies show:</a:t>
            </a:r>
          </a:p>
          <a:p>
            <a:r>
              <a:rPr lang="en-US" dirty="0"/>
              <a:t>- Far-red SIF correlates strongly with GPP from tower to satellite scale.</a:t>
            </a:r>
          </a:p>
          <a:p>
            <a:r>
              <a:rPr lang="en-US" dirty="0"/>
              <a:t>- The correlation is mostly driven by APAR and chlorophyll.</a:t>
            </a:r>
          </a:p>
          <a:p>
            <a:r>
              <a:rPr lang="en-US" dirty="0"/>
              <a:t>- At constant APAR, SIF explained less than 35% of GPP variability in one study (Wohlfahrt 2018), showing that the yield information is real but smaller.</a:t>
            </a:r>
          </a:p>
          <a:p>
            <a:r>
              <a:rPr lang="en-US" dirty="0"/>
              <a:t>Shape of the relationship: often hyperbolic on stress-free days (GPP saturates at high light while SIF keeps rising), more linear under stress, and it becomes linear when averaged over space or time. It differs between C3 and C4 crops, for example in the Indo-Gangetic Plains.</a:t>
            </a:r>
          </a:p>
          <a:p>
            <a:r>
              <a:rPr lang="en-US" dirty="0"/>
              <a:t>Why NPQ matters: in high light NPQ diverts energy from both photochemistry and fluorescence, so their relation is not fixed. A midday dip in far-red SIF has been linked to NPQ; PRI (531 nm) can help track NPQ alongside SIF.</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Measurement platforms from leaf to aircraft (Mohammed et al. Fig. 9 shows the trade-offs).</a:t>
            </a:r>
          </a:p>
          <a:p>
            <a:r>
              <a:rPr lang="en-US" dirty="0"/>
              <a:t>1. Hand-held leaf instruments: for example the FluoWat leaf clip with a spectrometer and a short-pass filter that blocks reflected light above 650 nm, giving the full upward or downward fluorescence spectrum of a single leaf.</a:t>
            </a:r>
          </a:p>
          <a:p>
            <a:r>
              <a:rPr lang="en-US" dirty="0"/>
              <a:t>2. Top-of-canopy tower spectrometers: FloX, FluoSpec (0.13 nm resolution), PhotoSpec, AutoSIF, NASA FUSION. They run automatically to capture daily and seasonal dynamics, and are used to validate satellite products.</a:t>
            </a:r>
          </a:p>
          <a:p>
            <a:r>
              <a:rPr lang="en-US" dirty="0"/>
              <a:t>3. UAV (drone) systems: AirSIF, HyUAS, Piccolo Doppio. Very high spatial resolution (30–40 cm pixels), so single tree crowns can be separated from soil and shadow.</a:t>
            </a:r>
          </a:p>
          <a:p>
            <a:r>
              <a:rPr lang="en-US" dirty="0"/>
              <a:t>4. Airborne imagers: AIRFLEX, HyPlant (the FLEX demonstrator) and CFIS (used to validate OCO-2). They map whole fields and landscapes.</a:t>
            </a:r>
          </a:p>
          <a:p>
            <a:r>
              <a:rPr lang="en-US" dirty="0"/>
              <a:t>The trade-off (the radar-style diagram): the higher the platform, the larger the area covered and the lower the cost per area, but the less physiological detail per pixel and the more atmospheric correction needed. Hand-held instruments give the most detail but cover the least area.</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examples of SIF maps.</a:t>
            </a:r>
          </a:p>
          <a:p>
            <a:r>
              <a:rPr lang="en-US" dirty="0"/>
              <a:t>Left (Fig. 10), UAV: a fixed-wing drone with a micro-hyperspectral imager retrieved SIF in the O2-A band using the 3FLD method, with 30–40 cm pixels. Over an olive orchard and a water-stressed citrus field it separated pure tree-crown pixels from shadows and soil, so SIF could be related to the water stress of individual trees.</a:t>
            </a:r>
          </a:p>
          <a:p>
            <a:r>
              <a:rPr lang="en-US" dirty="0"/>
              <a:t>Right (Fig. 11), airborne: HyPlant over Klein Altendorf, Germany. Top: the reflectance image; bottom: far-red SIF at 760 nm (F760). Fields A and B look almost identical in reflectance but have very different SIF. This shows that fluorescence carries information about photosynthetic activity that ordinary reflectance (and indices like NDVI) cannot see.</a:t>
            </a:r>
          </a:p>
          <a:p>
            <a:r>
              <a:rPr lang="en-US" dirty="0"/>
              <a:t>UAV strength: very high resolution and flexible flights on demand; the challenge is keeping the sensor light while maintaining signal-to-noise ratio.</a:t>
            </a:r>
          </a:p>
          <a:p>
            <a:r>
              <a:rPr lang="en-US" dirty="0"/>
              <a:t>Airborne strength: HyPlant has 0.25 nm resolution over 670–780 nm, so it maps both red and far-red SIF.</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Satellites that measure SIF (simplified from Mohammed et al. Table 3).</a:t>
            </a:r>
          </a:p>
          <a:p>
            <a:r>
              <a:rPr lang="en-US" dirty="0"/>
              <a:t>Important history: none of the early satellites were designed for SIF. They were built to measure CO2, methane or ozone, but their very high spectral resolution near the O2-A band allowed far-red SIF retrieval from Fraunhofer lines.</a:t>
            </a:r>
          </a:p>
          <a:p>
            <a:r>
              <a:rPr lang="en-US" dirty="0"/>
              <a:t>Reading the table:</a:t>
            </a:r>
          </a:p>
          <a:p>
            <a:r>
              <a:rPr lang="en-US" dirty="0"/>
              <a:t>- FLEX/FLORIS (selected, not yet launched): 300 m pixels, 500–780 nm, red, far-red and full spectrum plus PRI. The first mission designed for SIF.</a:t>
            </a:r>
          </a:p>
          <a:p>
            <a:r>
              <a:rPr lang="en-US" dirty="0"/>
              <a:t>- TROPOMI on Sentinel-5P (in orbit since 2017): 7 × 7 km, daily near-global coverage thanks to its wide swath.</a:t>
            </a:r>
          </a:p>
          <a:p>
            <a:r>
              <a:rPr lang="en-US" dirty="0"/>
              <a:t>- GOME-2 on MetOp: 40 × 40 or 40 × 80 km, long record since 2007.</a:t>
            </a:r>
          </a:p>
          <a:p>
            <a:r>
              <a:rPr lang="en-US" dirty="0"/>
              <a:t>- OCO-2: small footprint (1.3 × 2.25 km), very high resolution (0.04 nm), but sparse narrow tracks.</a:t>
            </a:r>
          </a:p>
          <a:p>
            <a:r>
              <a:rPr lang="en-US" dirty="0"/>
              <a:t>- GOSAT/TANSO-FTS: 10 km, 0.025 nm, the first global SIF maps.</a:t>
            </a:r>
          </a:p>
          <a:p>
            <a:r>
              <a:rPr lang="en-US" dirty="0"/>
              <a:t>- TanSat: 2 × 2 km.</a:t>
            </a:r>
          </a:p>
          <a:p>
            <a:r>
              <a:rPr lang="en-US" dirty="0"/>
              <a:t>- Geostationary missions (TEMPO, Sentinel-4, GeoCARB): hourly observations over one region.</a:t>
            </a:r>
          </a:p>
          <a:p>
            <a:r>
              <a:rPr lang="en-US" dirty="0"/>
              <a:t>The "†" marks: the repeat cycle refers to identical orbit tracks, but wide swaths give daily near-global coverage.</a:t>
            </a:r>
          </a:p>
          <a:p>
            <a:r>
              <a:rPr lang="en-US" dirty="0"/>
              <a:t>Rule of thumb: high spectral resolution, high signal-to-noise ratio, small footprint and frequent revisit cannot all be maximised at once; every mission picks a compromise.</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global annual map of far-red SIF for 2009 from GOME-2 (Joiner et al. 2013, shown in Mohammed et al. Fig. 13).</a:t>
            </a:r>
          </a:p>
          <a:p>
            <a:r>
              <a:rPr lang="en-US" dirty="0"/>
              <a:t>Reading it:</a:t>
            </a:r>
          </a:p>
          <a:p>
            <a:r>
              <a:rPr lang="en-US" dirty="0"/>
              <a:t>- Red and yellow: highest SIF, meaning strongest photosynthesis. Tropical rainforests (Amazon, Congo, South-east Asia) and intensive cropland stand out.</a:t>
            </a:r>
          </a:p>
          <a:p>
            <a:r>
              <a:rPr lang="en-US" dirty="0"/>
              <a:t>- Green and blue: moderate SIF.</a:t>
            </a:r>
          </a:p>
          <a:p>
            <a:r>
              <a:rPr lang="en-US" dirty="0"/>
              <a:t>- Black: deserts and ice, with no vegetation.</a:t>
            </a:r>
          </a:p>
          <a:p>
            <a:r>
              <a:rPr lang="en-US" dirty="0"/>
              <a:t>- Seasonal versions of this map show phenology (green-up and senescence) and drought impacts.</a:t>
            </a:r>
          </a:p>
          <a:p>
            <a:r>
              <a:rPr lang="en-US" dirty="0"/>
              <a:t>GOME-2 has about 0.5 nm spectral resolution and a signal-to-noise ratio above 1000 near 740 nm, enough for monthly 0.5° maps. TROPOMI now gives daily data at 7 km.</a:t>
            </a:r>
          </a:p>
          <a:p>
            <a:r>
              <a:rPr lang="en-US" dirty="0"/>
              <a:t>Notable finding: GOME-2 SIF captured the very high summer GPP of the US Corn Belt, which models and vegetation indices had underestimated. SIF has also detected drought and heat-stress effects at ecosystem scale.</a:t>
            </a:r>
          </a:p>
          <a:p>
            <a:r>
              <a:rPr lang="en-US" dirty="0"/>
              <a:t>India in the map: high SIF in the Indo-Gangetic Plains during the crop season and in the Western Ghats and north-east forests.</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ESA's FLuorescence EXplorer, the 8th Earth Explorer mission and the first satellite designed specifically for SIF (Mohammed et al. Fig. 12).</a:t>
            </a:r>
          </a:p>
          <a:p>
            <a:r>
              <a:rPr lang="en-US" dirty="0"/>
              <a:t>Design:</a:t>
            </a:r>
          </a:p>
          <a:p>
            <a:r>
              <a:rPr lang="en-US" dirty="0"/>
              <a:t>- It flies in tandem with Sentinel-3, a few seconds apart, observing the same scene.</a:t>
            </a:r>
          </a:p>
          <a:p>
            <a:r>
              <a:rPr lang="en-US" dirty="0"/>
              <a:t>- Its single instrument, FLORIS, is a dual imaging spectrometer covering 500–780 nm with high spectral resolution (0.3–2 nm) in the red and far-red.</a:t>
            </a:r>
          </a:p>
          <a:p>
            <a:r>
              <a:rPr lang="en-US" dirty="0"/>
              <a:t>- Sentinel-3's OLCI (1270 km swath) and SLSTR (nadir 1400 km, backward 740 km) provide atmospheric information, surface temperature and land-cover context.</a:t>
            </a:r>
          </a:p>
          <a:p>
            <a:r>
              <a:rPr lang="en-US" dirty="0"/>
              <a:t>Key numbers: 300 m pixels, 150 km FLORIS swath, 10:00 equatorial overpass, 500–780 nm range.</a:t>
            </a:r>
          </a:p>
          <a:p>
            <a:r>
              <a:rPr lang="en-US" dirty="0"/>
              <a:t>Planned products: the total fluorescence spectrum (650–780 nm), the red and far-red peaks (F685, F740), the O2-B and O2-A values (F687, F760), photosynthetic activity indicators, NPQ indicators from PRI, fAPAR of chlorophyll, LAI and chlorophyll content. The mission is planned for 5 years over land and coastal zones from 56°S to 75°N.</a:t>
            </a:r>
          </a:p>
          <a:p>
            <a:r>
              <a:rPr lang="en-US" dirty="0"/>
              <a:t>Note: the review gave a projected launch of 2022; the launch has since been moved later.</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SIF is used for (Mohammed et al. Table 4).</a:t>
            </a:r>
          </a:p>
          <a:p>
            <a:r>
              <a:rPr lang="en-US" dirty="0"/>
              <a:t>Photosynthesis and carbon:</a:t>
            </a:r>
          </a:p>
          <a:p>
            <a:r>
              <a:rPr lang="en-US" dirty="0"/>
              <a:t>- GPP and carbon uptake: empirical and model-based estimates from tower to globe.</a:t>
            </a:r>
          </a:p>
          <a:p>
            <a:r>
              <a:rPr lang="en-US" dirty="0"/>
              <a:t>- Phenology and seasons: green-up, peak and senescence dates.</a:t>
            </a:r>
          </a:p>
          <a:p>
            <a:r>
              <a:rPr lang="en-US" dirty="0"/>
              <a:t>Stress detection:</a:t>
            </a:r>
          </a:p>
          <a:p>
            <a:r>
              <a:rPr lang="en-US" dirty="0"/>
              <a:t>- Drought and water stress: SIF falls with water deficit; best combined with canopy-minus-air temperature.</a:t>
            </a:r>
          </a:p>
          <a:p>
            <a:r>
              <a:rPr lang="en-US" dirty="0"/>
              <a:t>- Heat stress: detected from satellites during heat waves.</a:t>
            </a:r>
          </a:p>
          <a:p>
            <a:r>
              <a:rPr lang="en-US" dirty="0"/>
              <a:t>- Nitrogen deficit: the red/far-red SIF ratio increases with nitrogen deficiency.</a:t>
            </a:r>
          </a:p>
          <a:p>
            <a:r>
              <a:rPr lang="en-US" dirty="0"/>
              <a:t>- Plant disease: for example Xylella fastidiosa in olive trees, detected with more than 80% accuracy when SIF was combined with thermal and other indices; also Verticillium and Phytophthora.</a:t>
            </a:r>
          </a:p>
          <a:p>
            <a:r>
              <a:rPr lang="en-US" dirty="0"/>
              <a:t>- Herbicide damage: detected before visible symptoms, while reflectance is still unchanged.</a:t>
            </a:r>
          </a:p>
          <a:p>
            <a:r>
              <a:rPr lang="en-US" dirty="0"/>
              <a:t>- Transpiration: linked to stomatal behaviour in unstressed crops.</a:t>
            </a:r>
          </a:p>
          <a:p>
            <a:r>
              <a:rPr lang="en-US" dirty="0"/>
              <a:t>SIF is usually combined with other indices: NDVI (greenness), PRI (NPQ), MTCI (chlorophyll) and canopy temperature. On its own, SIF tells you that something changed; combined data tell you why.</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5 of the review: everything that can change SIF. Use it as a checklist before saying "photosynthesis changed".</a:t>
            </a:r>
          </a:p>
          <a:p>
            <a:r>
              <a:rPr lang="en-US" dirty="0"/>
              <a:t>How to read the columns:</a:t>
            </a:r>
          </a:p>
          <a:p>
            <a:r>
              <a:rPr lang="en-US" dirty="0"/>
              <a:t>- Process potentially affected: A = absorption of incoming light, R = re-absorption of fluorescence, S = scattering, PQ = photochemical quenching, NPQ = non-photochemical quenching, OP = other photoprotection.</a:t>
            </a:r>
          </a:p>
          <a:p>
            <a:r>
              <a:rPr lang="en-US" dirty="0"/>
              <a:t>- Ecological scale: L = leaf, C = canopy, E = ecosystem, B = biome.</a:t>
            </a:r>
          </a:p>
          <a:p>
            <a:r>
              <a:rPr lang="en-US" dirty="0"/>
              <a:t>- Temporal scale: ST = short term, MT = medium term, LT = long term, SV = seasonal variation.</a:t>
            </a:r>
          </a:p>
          <a:p>
            <a:r>
              <a:rPr lang="en-US" dirty="0"/>
              <a:t>Part 1, vegetation traits and processes: chlorophyll content, LAI, leaf angle, leaf anatomy, pigments, phenological stage, photosynthetic pathway (C3/C4), stomatal conductance, photosystem stoichiometry, thermal dissipation and others.</a:t>
            </a:r>
          </a:p>
          <a:p>
            <a:r>
              <a:rPr lang="en-US" dirty="0"/>
              <a:t>Part 2, environmental, atmospheric and stress factors: light intensity and quality, solar zenith angle, cloud cover, temperature, water stress, humidity and VPD, nutrients, pathogens, herbicides, pollutants, CO2 and O2 concentration, surface pressure and wind.</a:t>
            </a:r>
          </a:p>
          <a:p>
            <a:r>
              <a:rPr lang="en-US" dirty="0"/>
              <a:t>Message: many factors act through absorption and structure (A, R, S), not through physiology. Separating the two is the central challenge of interpreting SIF.</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Challenges and future directions from the review.</a:t>
            </a:r>
          </a:p>
          <a:p>
            <a:r>
              <a:rPr lang="en-US" dirty="0"/>
              <a:t>1. Disentangle the drivers: separate physiological changes from changes in structure, pigments and illumination, using models (SCOPE, DART) plus extra data.</a:t>
            </a:r>
          </a:p>
          <a:p>
            <a:r>
              <a:rPr lang="en-US" dirty="0"/>
              <a:t>2. Quantify NPQ: use PRI, reflectance between 500 and 600 nm, and canopy-minus-air temperature to constrain the SIF–photosynthesis link.</a:t>
            </a:r>
          </a:p>
          <a:p>
            <a:r>
              <a:rPr lang="en-US" dirty="0"/>
              <a:t>3. Validate retrievals: networks of tower instruments, UAV campaigns and airborne demonstrators (HyPlant, CFIS) flown under satellite tracks.</a:t>
            </a:r>
          </a:p>
          <a:p>
            <a:r>
              <a:rPr lang="en-US" dirty="0"/>
              <a:t>4. Bridge scales: downscale coarse satellite SIF to field level, correct for viewing-angle effects, and combine sensors.</a:t>
            </a:r>
          </a:p>
          <a:p>
            <a:r>
              <a:rPr lang="en-US" dirty="0"/>
              <a:t>5. Better sensors: red plus far-red plus full-spectrum coverage, high spectral resolution and signal-to-noise ratio, and visible to near-infrared bands for model inversion.</a:t>
            </a:r>
          </a:p>
          <a:p>
            <a:r>
              <a:rPr lang="en-US" dirty="0"/>
              <a:t>6. Operational products: assimilate SIF into land-surface models, use machine-learning emulators to speed up models, and build tools for non-specialists.</a:t>
            </a:r>
          </a:p>
          <a:p>
            <a:r>
              <a:rPr lang="en-US" dirty="0"/>
              <a:t>Practical requirements: farming needs about 20 m resolution with frequent revisits; forests need high spatial detail; high latitudes need very high signal-to-noise ratio because light levels are low.</a:t>
            </a:r>
          </a:p>
          <a:p>
            <a:r>
              <a:rPr lang="en-US" dirty="0"/>
              <a:t>Outlook: geostationary missions, FLEX and machine learning are expected to move SIF from a research tool to operational monitoring.</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9: synthesis and self-check.</a:t>
            </a:r>
          </a:p>
          <a:p>
            <a:r>
              <a:rPr lang="en-US" dirty="0"/>
              <a:t>The next slides bring PAM and SIF together in one picture, list every formula on one page, and answer the questions students ask most often. Use them for revision: try to answer each question before reading the answer.</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topic on one slide.</a:t>
            </a:r>
          </a:p>
          <a:p>
            <a:r>
              <a:rPr lang="en-US" dirty="0"/>
              <a:t>Both approaches start from the same physics: absorbed light energy is split between photochemistry, heat and fluorescence, and the three yields add to one (ΦP + ΦN + ΦF = 1).</a:t>
            </a:r>
          </a:p>
          <a:p>
            <a:r>
              <a:rPr lang="en-US" dirty="0"/>
              <a:t>Active, PAM fluorometry:</a:t>
            </a:r>
          </a:p>
          <a:p>
            <a:r>
              <a:rPr lang="en-US" dirty="0"/>
              <a:t>- Controls the light: measuring light, actinic light, saturating pulse, far-red.</a:t>
            </a:r>
          </a:p>
          <a:p>
            <a:r>
              <a:rPr lang="en-US" dirty="0"/>
              <a:t>- Measures yields: Fv/Fm, ΦPSII, qP, qL, NPQ.</a:t>
            </a:r>
          </a:p>
          <a:p>
            <a:r>
              <a:rPr lang="en-US" dirty="0"/>
              <a:t>- The saturating pulse separates photochemical from non-photochemical quenching.</a:t>
            </a:r>
          </a:p>
          <a:p>
            <a:r>
              <a:rPr lang="en-US" dirty="0"/>
              <a:t>- Works at leaf and plant scale and gives mechanistic understanding.</a:t>
            </a:r>
          </a:p>
          <a:p>
            <a:r>
              <a:rPr lang="en-US" dirty="0"/>
              <a:t>Passive, sun-induced fluorescence:</a:t>
            </a:r>
          </a:p>
          <a:p>
            <a:r>
              <a:rPr lang="en-US" dirty="0"/>
              <a:t>- Uses sunlight and measures in-filling of oxygen bands and Fraunhofer lines.</a:t>
            </a:r>
          </a:p>
          <a:p>
            <a:r>
              <a:rPr lang="en-US" dirty="0"/>
              <a:t>- Measures a flux: SIF = APAR × ΦF × fesc.</a:t>
            </a:r>
          </a:p>
          <a:p>
            <a:r>
              <a:rPr lang="en-US" dirty="0"/>
              <a:t>- Relates to GPP mainly through APAR; NPQ and canopy structure complicate the link.</a:t>
            </a:r>
          </a:p>
          <a:p>
            <a:r>
              <a:rPr lang="en-US" dirty="0"/>
              <a:t>- Works from canopy to global scale for ecosystem monitoring.</a:t>
            </a:r>
          </a:p>
          <a:p>
            <a:r>
              <a:rPr lang="en-US" dirty="0"/>
              <a:t>How they help each other: PAM research explains what the fluorescence yield means; SIF scales that understanding up to whole regions. Leaf-level PAM measurements are used to validate and interpret SIF.</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formulas in one place. Prime (′) means light-adapted; no prime means dark-adapted.</a:t>
            </a:r>
          </a:p>
          <a:p>
            <a:r>
              <a:rPr lang="en-US" dirty="0"/>
              <a:t>PAM parameters (left):</a:t>
            </a:r>
          </a:p>
          <a:p>
            <a:r>
              <a:rPr lang="en-US" dirty="0"/>
              <a:t>- Fv = Fm − Fo</a:t>
            </a:r>
          </a:p>
          <a:p>
            <a:r>
              <a:rPr lang="en-US" dirty="0"/>
              <a:t>- Fv/Fm = (Fm − Fo)/Fm, about 0.83 in healthy leaves</a:t>
            </a:r>
          </a:p>
          <a:p>
            <a:r>
              <a:rPr lang="en-US" dirty="0"/>
              <a:t>- Fq′ = Fm′ − F′</a:t>
            </a:r>
          </a:p>
          <a:p>
            <a:r>
              <a:rPr lang="en-US" dirty="0"/>
              <a:t>- Fv′ = Fm′ − Fo′</a:t>
            </a:r>
          </a:p>
          <a:p>
            <a:r>
              <a:rPr lang="en-US" dirty="0"/>
              <a:t>- ΦPSII = (Fm′ − F′)/Fm′ = qP × Fv′/Fm′</a:t>
            </a:r>
          </a:p>
          <a:p>
            <a:r>
              <a:rPr lang="en-US" dirty="0"/>
              <a:t>- qP = (Fm′ − F′)/(Fm′ − Fo′)</a:t>
            </a:r>
          </a:p>
          <a:p>
            <a:r>
              <a:rPr lang="en-US" dirty="0"/>
              <a:t>- qL = qP × Fo′/F′</a:t>
            </a:r>
          </a:p>
          <a:p>
            <a:r>
              <a:rPr lang="en-US" dirty="0"/>
              <a:t>Extras and SIF (right):</a:t>
            </a:r>
          </a:p>
          <a:p>
            <a:r>
              <a:rPr lang="en-US" dirty="0"/>
              <a:t>- NPQ = (Fm − Fm′)/Fm′</a:t>
            </a:r>
          </a:p>
          <a:p>
            <a:r>
              <a:rPr lang="en-US" dirty="0"/>
              <a:t>- qN (older) = 1 − (Fm′ − Fo′)/(Fm − Fo)</a:t>
            </a:r>
          </a:p>
          <a:p>
            <a:r>
              <a:rPr lang="en-US" dirty="0"/>
              <a:t>- ETR = ΦPSII × PAR × 0.84 × 0.5</a:t>
            </a:r>
          </a:p>
          <a:p>
            <a:r>
              <a:rPr lang="en-US" dirty="0"/>
              <a:t>- Fo′ (calculated) = Fo/[(Fv/Fm) + (Fo/Fm′)]</a:t>
            </a:r>
          </a:p>
          <a:p>
            <a:r>
              <a:rPr lang="en-US" dirty="0"/>
              <a:t>- Radiance at the sensor: L = r·E/π + SIF</a:t>
            </a:r>
          </a:p>
          <a:p>
            <a:r>
              <a:rPr lang="en-US" dirty="0"/>
              <a:t>- FLD: F = (Eout·Lin − Ein·Lout)/(Eout − Ein)</a:t>
            </a:r>
          </a:p>
          <a:p>
            <a:r>
              <a:rPr lang="en-US" dirty="0"/>
              <a:t>- SIF = APAR × ΦF × fesc; GPP = APAR × LUE</a:t>
            </a:r>
          </a:p>
          <a:p>
            <a:r>
              <a:rPr lang="en-US" dirty="0"/>
              <a:t>Memory tricks: every PAM efficiency is "something minus something, divided by a maximum". NPQ is the odd one out: it divides by Fm′, not Fm.</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doubts about PAM, with fuller answers.</a:t>
            </a:r>
          </a:p>
          <a:p>
            <a:r>
              <a:rPr lang="en-US" dirty="0"/>
              <a:t>1. Why does fluorescence rise when reaction centres close?</a:t>
            </a:r>
          </a:p>
          <a:p>
            <a:r>
              <a:rPr lang="en-US" dirty="0"/>
              <a:t>Photochemistry stops (kP close to zero), so the same excitation energy must leave by heat or fluorescence. Fluorescence therefore rises, up to Fm when all centres are closed.</a:t>
            </a:r>
          </a:p>
          <a:p>
            <a:r>
              <a:rPr lang="en-US" dirty="0"/>
              <a:t>2. Why is Fm′ lower than Fm?</a:t>
            </a:r>
          </a:p>
          <a:p>
            <a:r>
              <a:rPr lang="en-US" dirty="0"/>
              <a:t>In the light, NPQ is active. Even with all centres closed by the pulse, extra heat dissipation competes with fluorescence, so the maximum is lower. The bigger the gap, the larger the NPQ.</a:t>
            </a:r>
          </a:p>
          <a:p>
            <a:r>
              <a:rPr lang="en-US" dirty="0"/>
              <a:t>3. Why measure Fv/Fm in the dark but ΦPSII in the light?</a:t>
            </a:r>
          </a:p>
          <a:p>
            <a:r>
              <a:rPr lang="en-US" dirty="0"/>
              <a:t>Fv/Fm should describe the maximum potential: all centres open and NPQ zero, which only happens after dark adaptation. ΦPSII describes the actual efficiency under the current working light, so it must be measured in that light.</a:t>
            </a:r>
          </a:p>
          <a:p>
            <a:r>
              <a:rPr lang="en-US" dirty="0"/>
              <a:t>4. Does a drop in Fv/Fm mean lower photosynthesis?</a:t>
            </a:r>
          </a:p>
          <a:p>
            <a:r>
              <a:rPr lang="en-US" dirty="0"/>
              <a:t>Not necessarily. Fv/Fm reflects the light-limited quantum yield of PSII. Light-saturated photosynthesis may be unchanged, and stress in other parts of the plant (such as roots) may not show up in Fv/Fm at all.</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doubts about SIF, with fuller answers.</a:t>
            </a:r>
          </a:p>
          <a:p>
            <a:r>
              <a:rPr lang="en-US" dirty="0"/>
              <a:t>1. If fluorescence competes with photosynthesis, why does SIF correlate positively with GPP?</a:t>
            </a:r>
          </a:p>
          <a:p>
            <a:r>
              <a:rPr lang="en-US" dirty="0"/>
              <a:t>At leaf level under controlled light they compete. But across space and seasons, the biggest variation is in how much light is absorbed (APAR): more leaves and more chlorophyll mean both more photosynthesis and more fluorescence. The yield changes are smaller and partly move together, so the overall correlation is positive.</a:t>
            </a:r>
          </a:p>
          <a:p>
            <a:r>
              <a:rPr lang="en-US" dirty="0"/>
              <a:t>2. Why is red SIF lower than far-red SIF?</a:t>
            </a:r>
          </a:p>
          <a:p>
            <a:r>
              <a:rPr lang="en-US" dirty="0"/>
              <a:t>Chlorophyll absorbs up to about 720 nm, so red fluorescence is re-absorbed inside leaves and the canopy. Far-red mostly escapes. PSI also adds emission in the far-red.</a:t>
            </a:r>
          </a:p>
          <a:p>
            <a:r>
              <a:rPr lang="en-US" dirty="0"/>
              <a:t>3. Why use absorption bands at all?</a:t>
            </a:r>
          </a:p>
          <a:p>
            <a:r>
              <a:rPr lang="en-US" dirty="0"/>
              <a:t>Outside the bands SIF is only about 1–5% of the reflected light and cannot be separated. Inside the oxygen bands the sunlight is so dim that SIF can exceed 10% of the signal, and its in-filling can be measured.</a:t>
            </a:r>
          </a:p>
          <a:p>
            <a:r>
              <a:rPr lang="en-US" dirty="0"/>
              <a:t>4. Why can't satellites measure NPQ the way PAM does?</a:t>
            </a:r>
          </a:p>
          <a:p>
            <a:r>
              <a:rPr lang="en-US" dirty="0"/>
              <a:t>No saturating pulse can be applied to a whole landscape from space, so Fm′ cannot be measured. NPQ is estimated indirectly, for example from PRI or canopy temperature.</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sources.</a:t>
            </a:r>
          </a:p>
          <a:p>
            <a:r>
              <a:rPr lang="en-US" dirty="0"/>
              <a:t>The two review papers are the backbone of this deck:</a:t>
            </a:r>
          </a:p>
          <a:p>
            <a:r>
              <a:rPr lang="en-US" dirty="0"/>
              <a:t>- Murchie &amp; Lawson (2013), Journal of Experimental Botany: the guide to good practice in PAM fluorescence (modules 1–7).</a:t>
            </a:r>
          </a:p>
          <a:p>
            <a:r>
              <a:rPr lang="en-US" dirty="0"/>
              <a:t>- Mohammed et al. (2019), Remote Sensing of Environment: the review of 50 years of SIF research (module 8).</a:t>
            </a:r>
          </a:p>
          <a:p>
            <a:r>
              <a:rPr lang="en-US" dirty="0"/>
              <a:t>For deeper reading:</a:t>
            </a:r>
          </a:p>
          <a:p>
            <a:r>
              <a:rPr lang="en-US" dirty="0"/>
              <a:t>- Baker (2008), Annual Review of Plant Biology: a probe of photosynthesis in vivo.</a:t>
            </a:r>
          </a:p>
          <a:p>
            <a:r>
              <a:rPr lang="en-US" dirty="0"/>
              <a:t>- Maxwell &amp; Johnson (2000): a short practical guide, good for beginners.</a:t>
            </a:r>
          </a:p>
          <a:p>
            <a:r>
              <a:rPr lang="en-US" dirty="0"/>
              <a:t>- Genty, Briantais &amp; Baker (1989): the paper that introduced ΦPSII.</a:t>
            </a:r>
          </a:p>
          <a:p>
            <a:r>
              <a:rPr lang="en-US" dirty="0"/>
              <a:t>- Kramer et al. (2004): the qL parameter and the lake model.</a:t>
            </a:r>
          </a:p>
          <a:p>
            <a:r>
              <a:rPr lang="en-US" dirty="0"/>
              <a:t>- Oxborough &amp; Baker (1997): calculating Fo′ without measuring it.</a:t>
            </a:r>
          </a:p>
          <a:p>
            <a:r>
              <a:rPr lang="en-US" dirty="0"/>
              <a:t>- Strasser et al. (2004): the OJIP/JIP-test.</a:t>
            </a:r>
          </a:p>
          <a:p>
            <a:r>
              <a:rPr lang="en-US" dirty="0"/>
              <a:t>- Meroni et al. (2009): an earlier review of SIF retrieval methods.</a:t>
            </a:r>
          </a:p>
          <a:p>
            <a:r>
              <a:rPr lang="en-US" dirty="0"/>
              <a:t>- Drusch et al. (2017): the FLEX mission concept.</a:t>
            </a:r>
          </a:p>
          <a:p>
            <a:r>
              <a:rPr lang="en-US" dirty="0"/>
              <a:t>Suggested reading order: Maxwell &amp; Johnson, then Murchie &amp; Lawson, then Mohammed et al.</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554480"/>
            <a:ext cx="6949440" cy="201168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794760"/>
            <a:ext cx="6766560" cy="118872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514600"/>
            <a:ext cx="7680960" cy="118872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731520" y="3794760"/>
            <a:ext cx="7498080" cy="128016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1000" dirty="0">
                <a:solidFill>
                  <a:schemeClr val="accent6"/>
                </a:solidFill>
              </a:rPr>
              <a:t>Chlorophyll fluorescence &amp; SIF  ·  a systematic guide</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jpg"/><Relationship Id="rId7"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4.jpeg"/><Relationship Id="rId5" Type="http://schemas.openxmlformats.org/officeDocument/2006/relationships/image" Target="../media/image13.jpg"/><Relationship Id="rId4" Type="http://schemas.openxmlformats.org/officeDocument/2006/relationships/image" Target="../media/image12.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notesSlide" Target="../notesSlides/notesSlide33.xml"/><Relationship Id="rId1" Type="http://schemas.openxmlformats.org/officeDocument/2006/relationships/slideLayout" Target="../slideLayouts/slideLayout4.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9.png"/><Relationship Id="rId7"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15.png"/><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4.png"/><Relationship Id="rId2" Type="http://schemas.openxmlformats.org/officeDocument/2006/relationships/notesSlide" Target="../notesSlides/notesSlide40.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31.png"/><Relationship Id="rId4" Type="http://schemas.openxmlformats.org/officeDocument/2006/relationships/image" Target="../media/image28.png"/></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2.xml"/><Relationship Id="rId1" Type="http://schemas.openxmlformats.org/officeDocument/2006/relationships/slideLayout" Target="../slideLayouts/slideLayout4.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4.png"/><Relationship Id="rId2" Type="http://schemas.openxmlformats.org/officeDocument/2006/relationships/notesSlide" Target="../notesSlides/notesSlide44.xml"/><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15.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4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9.xml"/><Relationship Id="rId1" Type="http://schemas.openxmlformats.org/officeDocument/2006/relationships/slideLayout" Target="../slideLayouts/slideLayout4.xml"/><Relationship Id="rId5" Type="http://schemas.openxmlformats.org/officeDocument/2006/relationships/image" Target="../media/image47.png"/><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0.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5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1.xml"/><Relationship Id="rId1" Type="http://schemas.openxmlformats.org/officeDocument/2006/relationships/slideLayout" Target="../slideLayouts/slideLayout4.xml"/><Relationship Id="rId5" Type="http://schemas.openxmlformats.org/officeDocument/2006/relationships/image" Target="../media/image50.png"/><Relationship Id="rId4" Type="http://schemas.openxmlformats.org/officeDocument/2006/relationships/image" Target="../media/image4.png"/></Relationships>
</file>

<file path=ppt/slides/_rels/slide5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2.xml"/><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23.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50.png"/><Relationship Id="rId7" Type="http://schemas.openxmlformats.org/officeDocument/2006/relationships/image" Target="../media/image26.png"/><Relationship Id="rId2" Type="http://schemas.openxmlformats.org/officeDocument/2006/relationships/notesSlide" Target="../notesSlides/notesSlide54.xml"/><Relationship Id="rId1" Type="http://schemas.openxmlformats.org/officeDocument/2006/relationships/slideLayout" Target="../slideLayouts/slideLayout4.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6.xml"/><Relationship Id="rId1" Type="http://schemas.openxmlformats.org/officeDocument/2006/relationships/slideLayout" Target="../slideLayouts/slideLayout4.xml"/><Relationship Id="rId6" Type="http://schemas.openxmlformats.org/officeDocument/2006/relationships/image" Target="../media/image56.png"/><Relationship Id="rId5" Type="http://schemas.openxmlformats.org/officeDocument/2006/relationships/image" Target="../media/image53.png"/><Relationship Id="rId4" Type="http://schemas.openxmlformats.org/officeDocument/2006/relationships/image" Target="../media/image28.png"/></Relationships>
</file>

<file path=ppt/slides/_rels/slide5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7.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33.png"/></Relationships>
</file>

<file path=ppt/slides/_rels/slide5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8.xml"/><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5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9.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43.png"/><Relationship Id="rId4" Type="http://schemas.openxmlformats.org/officeDocument/2006/relationships/image" Target="../media/image59.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1.xml"/><Relationship Id="rId1" Type="http://schemas.openxmlformats.org/officeDocument/2006/relationships/slideLayout" Target="../slideLayouts/slideLayout4.xml"/><Relationship Id="rId5" Type="http://schemas.openxmlformats.org/officeDocument/2006/relationships/image" Target="../media/image44.png"/><Relationship Id="rId4" Type="http://schemas.openxmlformats.org/officeDocument/2006/relationships/image" Target="../media/image61.png"/></Relationships>
</file>

<file path=ppt/slides/_rels/slide6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2.xml"/><Relationship Id="rId1" Type="http://schemas.openxmlformats.org/officeDocument/2006/relationships/slideLayout" Target="../slideLayouts/slideLayout4.xml"/><Relationship Id="rId4" Type="http://schemas.openxmlformats.org/officeDocument/2006/relationships/image" Target="../media/image63.png"/></Relationships>
</file>

<file path=ppt/slides/_rels/slide63.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5.png"/><Relationship Id="rId7" Type="http://schemas.openxmlformats.org/officeDocument/2006/relationships/image" Target="../media/image66.png"/><Relationship Id="rId2" Type="http://schemas.openxmlformats.org/officeDocument/2006/relationships/notesSlide" Target="../notesSlides/notesSlide63.xml"/><Relationship Id="rId1" Type="http://schemas.openxmlformats.org/officeDocument/2006/relationships/slideLayout" Target="../slideLayouts/slideLayout4.xml"/><Relationship Id="rId6" Type="http://schemas.openxmlformats.org/officeDocument/2006/relationships/image" Target="../media/image65.png"/><Relationship Id="rId5" Type="http://schemas.openxmlformats.org/officeDocument/2006/relationships/image" Target="../media/image64.png"/><Relationship Id="rId10" Type="http://schemas.openxmlformats.org/officeDocument/2006/relationships/image" Target="../media/image50.png"/><Relationship Id="rId4" Type="http://schemas.openxmlformats.org/officeDocument/2006/relationships/image" Target="../media/image22.png"/><Relationship Id="rId9" Type="http://schemas.openxmlformats.org/officeDocument/2006/relationships/image" Target="../media/image24.png"/></Relationships>
</file>

<file path=ppt/slides/_rels/slide6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4.xml"/><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65.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28.png"/><Relationship Id="rId7" Type="http://schemas.openxmlformats.org/officeDocument/2006/relationships/image" Target="../media/image44.png"/><Relationship Id="rId2" Type="http://schemas.openxmlformats.org/officeDocument/2006/relationships/notesSlide" Target="../notesSlides/notesSlide65.xml"/><Relationship Id="rId1" Type="http://schemas.openxmlformats.org/officeDocument/2006/relationships/slideLayout" Target="../slideLayouts/slideLayout4.xml"/><Relationship Id="rId6" Type="http://schemas.openxmlformats.org/officeDocument/2006/relationships/image" Target="../media/image70.png"/><Relationship Id="rId5" Type="http://schemas.openxmlformats.org/officeDocument/2006/relationships/image" Target="../media/image31.png"/><Relationship Id="rId4" Type="http://schemas.openxmlformats.org/officeDocument/2006/relationships/image" Target="../media/image21.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7.xml"/><Relationship Id="rId1" Type="http://schemas.openxmlformats.org/officeDocument/2006/relationships/slideLayout" Target="../slideLayouts/slideLayout4.xml"/><Relationship Id="rId4" Type="http://schemas.openxmlformats.org/officeDocument/2006/relationships/image" Target="../media/image44.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554480"/>
            <a:ext cx="6949440" cy="2011680"/>
          </a:xfrm>
          <a:prstGeom prst="rect">
            <a:avLst/>
          </a:prstGeom>
          <a:noFill/>
          <a:ln/>
        </p:spPr>
        <p:txBody>
          <a:bodyPr wrap="square" lIns="0" tIns="0" rIns="0" bIns="0" rtlCol="0" anchor="b"/>
          <a:lstStyle/>
          <a:p>
            <a:pPr marL="0" indent="0" algn="l">
              <a:buNone/>
            </a:pPr>
            <a:r>
              <a:rPr lang="en-US" sz="4400" b="1" dirty="0">
                <a:solidFill>
                  <a:schemeClr val="bg1"/>
                </a:solidFill>
              </a:rPr>
              <a:t>Chlorophyll Fluorescence &amp; Sun-Induced Fluorescence</a:t>
            </a:r>
            <a:endParaRPr lang="en-US" sz="4400" dirty="0"/>
          </a:p>
        </p:txBody>
      </p:sp>
      <p:sp>
        <p:nvSpPr>
          <p:cNvPr id="3" name="Text 0"/>
          <p:cNvSpPr>
            <a:spLocks noGrp="1"/>
          </p:cNvSpPr>
          <p:nvPr>
            <p:ph type="body" idx="101" hasCustomPrompt="1"/>
          </p:nvPr>
        </p:nvSpPr>
        <p:spPr>
          <a:xfrm>
            <a:off x="731520" y="3794760"/>
            <a:ext cx="6766560" cy="1188720"/>
          </a:xfrm>
          <a:prstGeom prst="rect">
            <a:avLst/>
          </a:prstGeom>
          <a:noFill/>
          <a:ln/>
        </p:spPr>
        <p:txBody>
          <a:bodyPr wrap="square" lIns="0" tIns="0" rIns="0" bIns="0" rtlCol="0" anchor="t"/>
          <a:lstStyle/>
          <a:p>
            <a:pPr marL="0" indent="0">
              <a:buNone/>
            </a:pPr>
            <a:r>
              <a:rPr lang="en-US" sz="1800" dirty="0">
                <a:solidFill>
                  <a:schemeClr val="bg2"/>
                </a:solidFill>
              </a:rPr>
              <a:t>From PSII photophysics and PAM fluorometry to remote sensing of SIF from space — a systematic, diagram-led guide</a:t>
            </a:r>
            <a:endParaRPr lang="en-US" sz="1800" dirty="0"/>
          </a:p>
        </p:txBody>
      </p:sp>
      <p:sp>
        <p:nvSpPr>
          <p:cNvPr id="4" name="glow"/>
          <p:cNvSpPr/>
          <p:nvPr/>
        </p:nvSpPr>
        <p:spPr>
          <a:xfrm>
            <a:off x="8229600" y="1005840"/>
            <a:ext cx="3383280" cy="3383280"/>
          </a:xfrm>
          <a:prstGeom prst="ellipse">
            <a:avLst/>
          </a:prstGeom>
          <a:solidFill>
            <a:schemeClr val="accent1">
              <a:alpha val="30000"/>
            </a:schemeClr>
          </a:solidFill>
          <a:ln/>
        </p:spPr>
      </p:sp>
      <p:pic>
        <p:nvPicPr>
          <p:cNvPr id="5" name="Image 0" descr="Chlorophyll extract under white light (green) and UV light (red fluorescence)"/>
          <p:cNvPicPr>
            <a:picLocks noChangeAspect="1"/>
          </p:cNvPicPr>
          <p:nvPr/>
        </p:nvPicPr>
        <p:blipFill>
          <a:blip r:embed="rId3"/>
          <a:stretch>
            <a:fillRect/>
          </a:stretch>
        </p:blipFill>
        <p:spPr>
          <a:xfrm>
            <a:off x="9006840" y="1234440"/>
            <a:ext cx="1828800" cy="2443942"/>
          </a:xfrm>
          <a:prstGeom prst="rect">
            <a:avLst/>
          </a:prstGeom>
        </p:spPr>
      </p:pic>
      <p:sp>
        <p:nvSpPr>
          <p:cNvPr id="6" name="Text 3"/>
          <p:cNvSpPr txBox="1"/>
          <p:nvPr/>
        </p:nvSpPr>
        <p:spPr>
          <a:xfrm>
            <a:off x="8138160" y="3794760"/>
            <a:ext cx="3566160" cy="457200"/>
          </a:xfrm>
          <a:prstGeom prst="rect">
            <a:avLst/>
          </a:prstGeom>
          <a:noFill/>
          <a:ln/>
        </p:spPr>
        <p:txBody>
          <a:bodyPr wrap="square" lIns="0" tIns="0" rIns="0" bIns="0" rtlCol="0" anchor="ctr"/>
          <a:lstStyle/>
          <a:p>
            <a:pPr marL="0" indent="0" algn="ctr">
              <a:buNone/>
            </a:pPr>
            <a:r>
              <a:rPr lang="en-US" sz="1100" i="1" dirty="0">
                <a:solidFill>
                  <a:schemeClr val="bg2"/>
                </a:solidFill>
              </a:rPr>
              <a:t>Chlorophyll extract: green in white light, glowing red under UV</a:t>
            </a:r>
            <a:endParaRPr lang="en-US" sz="1100" dirty="0"/>
          </a:p>
        </p:txBody>
      </p:sp>
      <p:sp>
        <p:nvSpPr>
          <p:cNvPr id="7" name="Text 4"/>
          <p:cNvSpPr txBox="1"/>
          <p:nvPr/>
        </p:nvSpPr>
        <p:spPr>
          <a:xfrm>
            <a:off x="731520" y="5943600"/>
            <a:ext cx="10515600" cy="457200"/>
          </a:xfrm>
          <a:prstGeom prst="rect">
            <a:avLst/>
          </a:prstGeom>
          <a:noFill/>
          <a:ln/>
        </p:spPr>
        <p:txBody>
          <a:bodyPr wrap="square" lIns="0" tIns="0" rIns="0" bIns="0" rtlCol="0" anchor="ctr"/>
          <a:lstStyle/>
          <a:p>
            <a:pPr marL="0" indent="0">
              <a:buNone/>
            </a:pPr>
            <a:r>
              <a:rPr lang="en-US" sz="1100" dirty="0">
                <a:solidFill>
                  <a:schemeClr val="bg2"/>
                </a:solidFill>
              </a:rPr>
              <a:t>Based on Murchie &amp; Lawson (2013) J. Exp. Bot. 64: 3983–3998 · Mohammed et al. (2019) Remote Sens. Environ. 231: 111177 · course slides on Chl a fluorescence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Roadmap of this deck</a:t>
            </a:r>
            <a:endParaRPr lang="en-US" sz="3200" dirty="0"/>
          </a:p>
        </p:txBody>
      </p:sp>
      <p:sp>
        <p:nvSpPr>
          <p:cNvPr id="4" name="card"/>
          <p:cNvSpPr/>
          <p:nvPr/>
        </p:nvSpPr>
        <p:spPr>
          <a:xfrm>
            <a:off x="548640" y="1371600"/>
            <a:ext cx="3520440" cy="1417320"/>
          </a:xfrm>
          <a:prstGeom prst="roundRect">
            <a:avLst>
              <a:gd name="adj" fmla="val 5161"/>
            </a:avLst>
          </a:prstGeom>
          <a:solidFill>
            <a:schemeClr val="bg2"/>
          </a:solidFill>
          <a:ln/>
          <a:effectLst>
            <a:outerShdw blurRad="76200" dist="25400" dir="5400000" algn="bl" rotWithShape="0">
              <a:srgbClr val="000000">
                <a:alpha val="14000"/>
              </a:srgbClr>
            </a:outerShdw>
          </a:effectLst>
        </p:spPr>
      </p:sp>
      <p:sp>
        <p:nvSpPr>
          <p:cNvPr id="5" name="Text 2"/>
          <p:cNvSpPr txBox="1"/>
          <p:nvPr/>
        </p:nvSpPr>
        <p:spPr>
          <a:xfrm>
            <a:off x="731520" y="1554480"/>
            <a:ext cx="822960" cy="640080"/>
          </a:xfrm>
          <a:prstGeom prst="rect">
            <a:avLst/>
          </a:prstGeom>
          <a:noFill/>
          <a:ln/>
        </p:spPr>
        <p:txBody>
          <a:bodyPr wrap="square" lIns="0" tIns="0" rIns="0" bIns="0" rtlCol="0" anchor="ctr"/>
          <a:lstStyle/>
          <a:p>
            <a:pPr marL="0" indent="0">
              <a:buNone/>
            </a:pPr>
            <a:r>
              <a:rPr lang="en-US" sz="3000" b="1" dirty="0">
                <a:solidFill>
                  <a:schemeClr val="accent1"/>
                </a:solidFill>
                <a:latin typeface="Cambria" pitchFamily="34" charset="0"/>
                <a:ea typeface="Cambria" pitchFamily="34" charset="-122"/>
                <a:cs typeface="Cambria" pitchFamily="34" charset="-120"/>
              </a:rPr>
              <a:t>01</a:t>
            </a:r>
            <a:endParaRPr lang="en-US" sz="3000" dirty="0"/>
          </a:p>
        </p:txBody>
      </p:sp>
      <p:sp>
        <p:nvSpPr>
          <p:cNvPr id="6" name="Text 3"/>
          <p:cNvSpPr txBox="1"/>
          <p:nvPr/>
        </p:nvSpPr>
        <p:spPr>
          <a:xfrm>
            <a:off x="1600200" y="1554480"/>
            <a:ext cx="2331720" cy="411480"/>
          </a:xfrm>
          <a:prstGeom prst="rect">
            <a:avLst/>
          </a:prstGeom>
          <a:noFill/>
          <a:ln/>
        </p:spPr>
        <p:txBody>
          <a:bodyPr wrap="square" lIns="0" tIns="0" rIns="0" bIns="0" rtlCol="0" anchor="ctr"/>
          <a:lstStyle/>
          <a:p>
            <a:pPr marL="0" indent="0">
              <a:buNone/>
            </a:pPr>
            <a:r>
              <a:rPr lang="en-US" sz="1700" b="1" dirty="0">
                <a:solidFill>
                  <a:schemeClr val="tx2"/>
                </a:solidFill>
              </a:rPr>
              <a:t>Foundations</a:t>
            </a:r>
            <a:endParaRPr lang="en-US" sz="1700" dirty="0"/>
          </a:p>
        </p:txBody>
      </p:sp>
      <p:sp>
        <p:nvSpPr>
          <p:cNvPr id="7" name="Text 4"/>
          <p:cNvSpPr txBox="1"/>
          <p:nvPr/>
        </p:nvSpPr>
        <p:spPr>
          <a:xfrm>
            <a:off x="1600200" y="1993392"/>
            <a:ext cx="2331720" cy="685800"/>
          </a:xfrm>
          <a:prstGeom prst="rect">
            <a:avLst/>
          </a:prstGeom>
          <a:noFill/>
          <a:ln/>
        </p:spPr>
        <p:txBody>
          <a:bodyPr wrap="square" lIns="0" tIns="0" rIns="0" bIns="0" rtlCol="0" anchor="t"/>
          <a:lstStyle/>
          <a:p>
            <a:pPr marL="0" indent="0">
              <a:buNone/>
            </a:pPr>
            <a:r>
              <a:rPr lang="en-US" sz="1300" dirty="0">
                <a:solidFill>
                  <a:schemeClr val="tx1"/>
                </a:solidFill>
              </a:rPr>
              <a:t>What fluorescence is and where it comes from</a:t>
            </a:r>
            <a:endParaRPr lang="en-US" sz="1300" dirty="0"/>
          </a:p>
        </p:txBody>
      </p:sp>
      <p:sp>
        <p:nvSpPr>
          <p:cNvPr id="8" name="card"/>
          <p:cNvSpPr/>
          <p:nvPr/>
        </p:nvSpPr>
        <p:spPr>
          <a:xfrm>
            <a:off x="4297680" y="1371600"/>
            <a:ext cx="3520440" cy="1417320"/>
          </a:xfrm>
          <a:prstGeom prst="roundRect">
            <a:avLst>
              <a:gd name="adj" fmla="val 5161"/>
            </a:avLst>
          </a:prstGeom>
          <a:solidFill>
            <a:schemeClr val="bg2"/>
          </a:solidFill>
          <a:ln/>
          <a:effectLst>
            <a:outerShdw blurRad="76200" dist="25400" dir="5400000" algn="bl" rotWithShape="0">
              <a:srgbClr val="000000">
                <a:alpha val="14000"/>
              </a:srgbClr>
            </a:outerShdw>
          </a:effectLst>
        </p:spPr>
      </p:sp>
      <p:sp>
        <p:nvSpPr>
          <p:cNvPr id="9" name="Text 6"/>
          <p:cNvSpPr txBox="1"/>
          <p:nvPr/>
        </p:nvSpPr>
        <p:spPr>
          <a:xfrm>
            <a:off x="4480560" y="1554480"/>
            <a:ext cx="822960" cy="640080"/>
          </a:xfrm>
          <a:prstGeom prst="rect">
            <a:avLst/>
          </a:prstGeom>
          <a:noFill/>
          <a:ln/>
        </p:spPr>
        <p:txBody>
          <a:bodyPr wrap="square" lIns="0" tIns="0" rIns="0" bIns="0" rtlCol="0" anchor="ctr"/>
          <a:lstStyle/>
          <a:p>
            <a:pPr marL="0" indent="0">
              <a:buNone/>
            </a:pPr>
            <a:r>
              <a:rPr lang="en-US" sz="3000" b="1" dirty="0">
                <a:solidFill>
                  <a:schemeClr val="accent1"/>
                </a:solidFill>
                <a:latin typeface="Cambria" pitchFamily="34" charset="0"/>
                <a:ea typeface="Cambria" pitchFamily="34" charset="-122"/>
                <a:cs typeface="Cambria" pitchFamily="34" charset="-120"/>
              </a:rPr>
              <a:t>02</a:t>
            </a:r>
            <a:endParaRPr lang="en-US" sz="3000" dirty="0"/>
          </a:p>
        </p:txBody>
      </p:sp>
      <p:sp>
        <p:nvSpPr>
          <p:cNvPr id="10" name="Text 7"/>
          <p:cNvSpPr txBox="1"/>
          <p:nvPr/>
        </p:nvSpPr>
        <p:spPr>
          <a:xfrm>
            <a:off x="5349240" y="1554480"/>
            <a:ext cx="2331720" cy="411480"/>
          </a:xfrm>
          <a:prstGeom prst="rect">
            <a:avLst/>
          </a:prstGeom>
          <a:noFill/>
          <a:ln/>
        </p:spPr>
        <p:txBody>
          <a:bodyPr wrap="square" lIns="0" tIns="0" rIns="0" bIns="0" rtlCol="0" anchor="ctr"/>
          <a:lstStyle/>
          <a:p>
            <a:pPr marL="0" indent="0">
              <a:buNone/>
            </a:pPr>
            <a:r>
              <a:rPr lang="en-US" sz="1700" b="1" dirty="0">
                <a:solidFill>
                  <a:schemeClr val="tx2"/>
                </a:solidFill>
              </a:rPr>
              <a:t>Measuring it</a:t>
            </a:r>
            <a:endParaRPr lang="en-US" sz="1700" dirty="0"/>
          </a:p>
        </p:txBody>
      </p:sp>
      <p:sp>
        <p:nvSpPr>
          <p:cNvPr id="11" name="Text 8"/>
          <p:cNvSpPr txBox="1"/>
          <p:nvPr/>
        </p:nvSpPr>
        <p:spPr>
          <a:xfrm>
            <a:off x="5349240" y="1993392"/>
            <a:ext cx="2331720" cy="685800"/>
          </a:xfrm>
          <a:prstGeom prst="rect">
            <a:avLst/>
          </a:prstGeom>
          <a:noFill/>
          <a:ln/>
        </p:spPr>
        <p:txBody>
          <a:bodyPr wrap="square" lIns="0" tIns="0" rIns="0" bIns="0" rtlCol="0" anchor="t"/>
          <a:lstStyle/>
          <a:p>
            <a:pPr marL="0" indent="0">
              <a:buNone/>
            </a:pPr>
            <a:r>
              <a:rPr lang="en-US" sz="1300" dirty="0">
                <a:solidFill>
                  <a:schemeClr val="tx1"/>
                </a:solidFill>
              </a:rPr>
              <a:t>Ambient light problem, PAM modulation, instruments</a:t>
            </a:r>
            <a:endParaRPr lang="en-US" sz="1300" dirty="0"/>
          </a:p>
        </p:txBody>
      </p:sp>
      <p:sp>
        <p:nvSpPr>
          <p:cNvPr id="12" name="card"/>
          <p:cNvSpPr/>
          <p:nvPr/>
        </p:nvSpPr>
        <p:spPr>
          <a:xfrm>
            <a:off x="8046720" y="1371600"/>
            <a:ext cx="3520440" cy="1417320"/>
          </a:xfrm>
          <a:prstGeom prst="roundRect">
            <a:avLst>
              <a:gd name="adj" fmla="val 5161"/>
            </a:avLst>
          </a:prstGeom>
          <a:solidFill>
            <a:schemeClr val="bg2"/>
          </a:solidFill>
          <a:ln/>
          <a:effectLst>
            <a:outerShdw blurRad="76200" dist="25400" dir="5400000" algn="bl" rotWithShape="0">
              <a:srgbClr val="000000">
                <a:alpha val="14000"/>
              </a:srgbClr>
            </a:outerShdw>
          </a:effectLst>
        </p:spPr>
      </p:sp>
      <p:sp>
        <p:nvSpPr>
          <p:cNvPr id="13" name="Text 10"/>
          <p:cNvSpPr txBox="1"/>
          <p:nvPr/>
        </p:nvSpPr>
        <p:spPr>
          <a:xfrm>
            <a:off x="8229600" y="1554480"/>
            <a:ext cx="822960" cy="640080"/>
          </a:xfrm>
          <a:prstGeom prst="rect">
            <a:avLst/>
          </a:prstGeom>
          <a:noFill/>
          <a:ln/>
        </p:spPr>
        <p:txBody>
          <a:bodyPr wrap="square" lIns="0" tIns="0" rIns="0" bIns="0" rtlCol="0" anchor="ctr"/>
          <a:lstStyle/>
          <a:p>
            <a:pPr marL="0" indent="0">
              <a:buNone/>
            </a:pPr>
            <a:r>
              <a:rPr lang="en-US" sz="3000" b="1" dirty="0">
                <a:solidFill>
                  <a:schemeClr val="accent1"/>
                </a:solidFill>
                <a:latin typeface="Cambria" pitchFamily="34" charset="0"/>
                <a:ea typeface="Cambria" pitchFamily="34" charset="-122"/>
                <a:cs typeface="Cambria" pitchFamily="34" charset="-120"/>
              </a:rPr>
              <a:t>03</a:t>
            </a:r>
            <a:endParaRPr lang="en-US" sz="3000" dirty="0"/>
          </a:p>
        </p:txBody>
      </p:sp>
      <p:sp>
        <p:nvSpPr>
          <p:cNvPr id="14" name="Text 11"/>
          <p:cNvSpPr txBox="1"/>
          <p:nvPr/>
        </p:nvSpPr>
        <p:spPr>
          <a:xfrm>
            <a:off x="9098280" y="1554480"/>
            <a:ext cx="2331720" cy="411480"/>
          </a:xfrm>
          <a:prstGeom prst="rect">
            <a:avLst/>
          </a:prstGeom>
          <a:noFill/>
          <a:ln/>
        </p:spPr>
        <p:txBody>
          <a:bodyPr wrap="square" lIns="0" tIns="0" rIns="0" bIns="0" rtlCol="0" anchor="ctr"/>
          <a:lstStyle/>
          <a:p>
            <a:pPr marL="0" indent="0">
              <a:buNone/>
            </a:pPr>
            <a:r>
              <a:rPr lang="en-US" sz="1700" b="1" dirty="0">
                <a:solidFill>
                  <a:schemeClr val="tx2"/>
                </a:solidFill>
              </a:rPr>
              <a:t>Induction kinetics</a:t>
            </a:r>
            <a:endParaRPr lang="en-US" sz="1700" dirty="0"/>
          </a:p>
        </p:txBody>
      </p:sp>
      <p:sp>
        <p:nvSpPr>
          <p:cNvPr id="15" name="Text 12"/>
          <p:cNvSpPr txBox="1"/>
          <p:nvPr/>
        </p:nvSpPr>
        <p:spPr>
          <a:xfrm>
            <a:off x="9098280" y="1993392"/>
            <a:ext cx="2331720" cy="685800"/>
          </a:xfrm>
          <a:prstGeom prst="rect">
            <a:avLst/>
          </a:prstGeom>
          <a:noFill/>
          <a:ln/>
        </p:spPr>
        <p:txBody>
          <a:bodyPr wrap="square" lIns="0" tIns="0" rIns="0" bIns="0" rtlCol="0" anchor="t"/>
          <a:lstStyle/>
          <a:p>
            <a:pPr marL="0" indent="0">
              <a:buNone/>
            </a:pPr>
            <a:r>
              <a:rPr lang="en-US" sz="1300" dirty="0">
                <a:solidFill>
                  <a:schemeClr val="tx1"/>
                </a:solidFill>
              </a:rPr>
              <a:t>Kautsky effect, OJIP and the slow PSMT phase</a:t>
            </a:r>
            <a:endParaRPr lang="en-US" sz="1300" dirty="0"/>
          </a:p>
        </p:txBody>
      </p:sp>
      <p:sp>
        <p:nvSpPr>
          <p:cNvPr id="16" name="card"/>
          <p:cNvSpPr/>
          <p:nvPr/>
        </p:nvSpPr>
        <p:spPr>
          <a:xfrm>
            <a:off x="548640" y="2999232"/>
            <a:ext cx="3520440" cy="1417320"/>
          </a:xfrm>
          <a:prstGeom prst="roundRect">
            <a:avLst>
              <a:gd name="adj" fmla="val 5161"/>
            </a:avLst>
          </a:prstGeom>
          <a:solidFill>
            <a:schemeClr val="bg2"/>
          </a:solidFill>
          <a:ln/>
          <a:effectLst>
            <a:outerShdw blurRad="76200" dist="25400" dir="5400000" algn="bl" rotWithShape="0">
              <a:srgbClr val="000000">
                <a:alpha val="14000"/>
              </a:srgbClr>
            </a:outerShdw>
          </a:effectLst>
        </p:spPr>
      </p:sp>
      <p:sp>
        <p:nvSpPr>
          <p:cNvPr id="17" name="Text 14"/>
          <p:cNvSpPr txBox="1"/>
          <p:nvPr/>
        </p:nvSpPr>
        <p:spPr>
          <a:xfrm>
            <a:off x="731520" y="3182112"/>
            <a:ext cx="822960" cy="640080"/>
          </a:xfrm>
          <a:prstGeom prst="rect">
            <a:avLst/>
          </a:prstGeom>
          <a:noFill/>
          <a:ln/>
        </p:spPr>
        <p:txBody>
          <a:bodyPr wrap="square" lIns="0" tIns="0" rIns="0" bIns="0" rtlCol="0" anchor="ctr"/>
          <a:lstStyle/>
          <a:p>
            <a:pPr marL="0" indent="0">
              <a:buNone/>
            </a:pPr>
            <a:r>
              <a:rPr lang="en-US" sz="3000" b="1" dirty="0">
                <a:solidFill>
                  <a:schemeClr val="accent5"/>
                </a:solidFill>
                <a:latin typeface="Cambria" pitchFamily="34" charset="0"/>
                <a:ea typeface="Cambria" pitchFamily="34" charset="-122"/>
                <a:cs typeface="Cambria" pitchFamily="34" charset="-120"/>
              </a:rPr>
              <a:t>04</a:t>
            </a:r>
            <a:endParaRPr lang="en-US" sz="3000" dirty="0"/>
          </a:p>
        </p:txBody>
      </p:sp>
      <p:sp>
        <p:nvSpPr>
          <p:cNvPr id="18" name="Text 15"/>
          <p:cNvSpPr txBox="1"/>
          <p:nvPr/>
        </p:nvSpPr>
        <p:spPr>
          <a:xfrm>
            <a:off x="1600200" y="3182112"/>
            <a:ext cx="2331720" cy="411480"/>
          </a:xfrm>
          <a:prstGeom prst="rect">
            <a:avLst/>
          </a:prstGeom>
          <a:noFill/>
          <a:ln/>
        </p:spPr>
        <p:txBody>
          <a:bodyPr wrap="square" lIns="0" tIns="0" rIns="0" bIns="0" rtlCol="0" anchor="ctr"/>
          <a:lstStyle/>
          <a:p>
            <a:pPr marL="0" indent="0">
              <a:buNone/>
            </a:pPr>
            <a:r>
              <a:rPr lang="en-US" sz="1700" b="1" dirty="0">
                <a:solidFill>
                  <a:schemeClr val="tx2"/>
                </a:solidFill>
              </a:rPr>
              <a:t>PSII redox &amp; quenching</a:t>
            </a:r>
            <a:endParaRPr lang="en-US" sz="1700" dirty="0"/>
          </a:p>
        </p:txBody>
      </p:sp>
      <p:sp>
        <p:nvSpPr>
          <p:cNvPr id="19" name="Text 16"/>
          <p:cNvSpPr txBox="1"/>
          <p:nvPr/>
        </p:nvSpPr>
        <p:spPr>
          <a:xfrm>
            <a:off x="1600200" y="3621024"/>
            <a:ext cx="2331720" cy="685800"/>
          </a:xfrm>
          <a:prstGeom prst="rect">
            <a:avLst/>
          </a:prstGeom>
          <a:noFill/>
          <a:ln/>
        </p:spPr>
        <p:txBody>
          <a:bodyPr wrap="square" lIns="0" tIns="0" rIns="0" bIns="0" rtlCol="0" anchor="t"/>
          <a:lstStyle/>
          <a:p>
            <a:pPr marL="0" indent="0">
              <a:buNone/>
            </a:pPr>
            <a:r>
              <a:rPr lang="en-US" sz="1300" dirty="0">
                <a:solidFill>
                  <a:schemeClr val="tx1"/>
                </a:solidFill>
              </a:rPr>
              <a:t>Open/closed centres, qP, NPQ, saturating pulse</a:t>
            </a:r>
            <a:endParaRPr lang="en-US" sz="1300" dirty="0"/>
          </a:p>
        </p:txBody>
      </p:sp>
      <p:sp>
        <p:nvSpPr>
          <p:cNvPr id="20" name="card"/>
          <p:cNvSpPr/>
          <p:nvPr/>
        </p:nvSpPr>
        <p:spPr>
          <a:xfrm>
            <a:off x="4297680" y="2999232"/>
            <a:ext cx="3520440" cy="1417320"/>
          </a:xfrm>
          <a:prstGeom prst="roundRect">
            <a:avLst>
              <a:gd name="adj" fmla="val 5161"/>
            </a:avLst>
          </a:prstGeom>
          <a:solidFill>
            <a:schemeClr val="bg2"/>
          </a:solidFill>
          <a:ln/>
          <a:effectLst>
            <a:outerShdw blurRad="76200" dist="25400" dir="5400000" algn="bl" rotWithShape="0">
              <a:srgbClr val="000000">
                <a:alpha val="14000"/>
              </a:srgbClr>
            </a:outerShdw>
          </a:effectLst>
        </p:spPr>
      </p:sp>
      <p:sp>
        <p:nvSpPr>
          <p:cNvPr id="21" name="Text 18"/>
          <p:cNvSpPr txBox="1"/>
          <p:nvPr/>
        </p:nvSpPr>
        <p:spPr>
          <a:xfrm>
            <a:off x="4480560" y="3182112"/>
            <a:ext cx="822960" cy="640080"/>
          </a:xfrm>
          <a:prstGeom prst="rect">
            <a:avLst/>
          </a:prstGeom>
          <a:noFill/>
          <a:ln/>
        </p:spPr>
        <p:txBody>
          <a:bodyPr wrap="square" lIns="0" tIns="0" rIns="0" bIns="0" rtlCol="0" anchor="ctr"/>
          <a:lstStyle/>
          <a:p>
            <a:pPr marL="0" indent="0">
              <a:buNone/>
            </a:pPr>
            <a:r>
              <a:rPr lang="en-US" sz="3000" b="1" dirty="0">
                <a:solidFill>
                  <a:schemeClr val="accent5"/>
                </a:solidFill>
                <a:latin typeface="Cambria" pitchFamily="34" charset="0"/>
                <a:ea typeface="Cambria" pitchFamily="34" charset="-122"/>
                <a:cs typeface="Cambria" pitchFamily="34" charset="-120"/>
              </a:rPr>
              <a:t>05</a:t>
            </a:r>
            <a:endParaRPr lang="en-US" sz="3000" dirty="0"/>
          </a:p>
        </p:txBody>
      </p:sp>
      <p:sp>
        <p:nvSpPr>
          <p:cNvPr id="22" name="Text 19"/>
          <p:cNvSpPr txBox="1"/>
          <p:nvPr/>
        </p:nvSpPr>
        <p:spPr>
          <a:xfrm>
            <a:off x="5349240" y="3182112"/>
            <a:ext cx="2331720" cy="411480"/>
          </a:xfrm>
          <a:prstGeom prst="rect">
            <a:avLst/>
          </a:prstGeom>
          <a:noFill/>
          <a:ln/>
        </p:spPr>
        <p:txBody>
          <a:bodyPr wrap="square" lIns="0" tIns="0" rIns="0" bIns="0" rtlCol="0" anchor="ctr"/>
          <a:lstStyle/>
          <a:p>
            <a:pPr marL="0" indent="0">
              <a:buNone/>
            </a:pPr>
            <a:r>
              <a:rPr lang="en-US" sz="1700" b="1" dirty="0">
                <a:solidFill>
                  <a:schemeClr val="tx2"/>
                </a:solidFill>
              </a:rPr>
              <a:t>PAM parameters</a:t>
            </a:r>
            <a:endParaRPr lang="en-US" sz="1700" dirty="0"/>
          </a:p>
        </p:txBody>
      </p:sp>
      <p:sp>
        <p:nvSpPr>
          <p:cNvPr id="23" name="Text 20"/>
          <p:cNvSpPr txBox="1"/>
          <p:nvPr/>
        </p:nvSpPr>
        <p:spPr>
          <a:xfrm>
            <a:off x="5349240" y="3621024"/>
            <a:ext cx="2331720" cy="685800"/>
          </a:xfrm>
          <a:prstGeom prst="rect">
            <a:avLst/>
          </a:prstGeom>
          <a:noFill/>
          <a:ln/>
        </p:spPr>
        <p:txBody>
          <a:bodyPr wrap="square" lIns="0" tIns="0" rIns="0" bIns="0" rtlCol="0" anchor="t"/>
          <a:lstStyle/>
          <a:p>
            <a:pPr marL="0" indent="0">
              <a:buNone/>
            </a:pPr>
            <a:r>
              <a:rPr lang="en-US" sz="1300" dirty="0">
                <a:solidFill>
                  <a:schemeClr val="tx1"/>
                </a:solidFill>
              </a:rPr>
              <a:t>Fo, Fm, Fv/Fm, ΦPSII, qP, qL, NPQ, worked example</a:t>
            </a:r>
            <a:endParaRPr lang="en-US" sz="1300" dirty="0"/>
          </a:p>
        </p:txBody>
      </p:sp>
      <p:sp>
        <p:nvSpPr>
          <p:cNvPr id="24" name="card"/>
          <p:cNvSpPr/>
          <p:nvPr/>
        </p:nvSpPr>
        <p:spPr>
          <a:xfrm>
            <a:off x="8046720" y="2999232"/>
            <a:ext cx="3520440" cy="1417320"/>
          </a:xfrm>
          <a:prstGeom prst="roundRect">
            <a:avLst>
              <a:gd name="adj" fmla="val 5161"/>
            </a:avLst>
          </a:prstGeom>
          <a:solidFill>
            <a:schemeClr val="bg2"/>
          </a:solidFill>
          <a:ln/>
          <a:effectLst>
            <a:outerShdw blurRad="76200" dist="25400" dir="5400000" algn="bl" rotWithShape="0">
              <a:srgbClr val="000000">
                <a:alpha val="14000"/>
              </a:srgbClr>
            </a:outerShdw>
          </a:effectLst>
        </p:spPr>
      </p:sp>
      <p:sp>
        <p:nvSpPr>
          <p:cNvPr id="25" name="Text 22"/>
          <p:cNvSpPr txBox="1"/>
          <p:nvPr/>
        </p:nvSpPr>
        <p:spPr>
          <a:xfrm>
            <a:off x="8229600" y="3182112"/>
            <a:ext cx="822960" cy="640080"/>
          </a:xfrm>
          <a:prstGeom prst="rect">
            <a:avLst/>
          </a:prstGeom>
          <a:noFill/>
          <a:ln/>
        </p:spPr>
        <p:txBody>
          <a:bodyPr wrap="square" lIns="0" tIns="0" rIns="0" bIns="0" rtlCol="0" anchor="ctr"/>
          <a:lstStyle/>
          <a:p>
            <a:pPr marL="0" indent="0">
              <a:buNone/>
            </a:pPr>
            <a:r>
              <a:rPr lang="en-US" sz="3000" b="1" dirty="0">
                <a:solidFill>
                  <a:schemeClr val="accent5"/>
                </a:solidFill>
                <a:latin typeface="Cambria" pitchFamily="34" charset="0"/>
                <a:ea typeface="Cambria" pitchFamily="34" charset="-122"/>
                <a:cs typeface="Cambria" pitchFamily="34" charset="-120"/>
              </a:rPr>
              <a:t>06</a:t>
            </a:r>
            <a:endParaRPr lang="en-US" sz="3000" dirty="0"/>
          </a:p>
        </p:txBody>
      </p:sp>
      <p:sp>
        <p:nvSpPr>
          <p:cNvPr id="26" name="Text 23"/>
          <p:cNvSpPr txBox="1"/>
          <p:nvPr/>
        </p:nvSpPr>
        <p:spPr>
          <a:xfrm>
            <a:off x="9098280" y="3182112"/>
            <a:ext cx="2331720" cy="411480"/>
          </a:xfrm>
          <a:prstGeom prst="rect">
            <a:avLst/>
          </a:prstGeom>
          <a:noFill/>
          <a:ln/>
        </p:spPr>
        <p:txBody>
          <a:bodyPr wrap="square" lIns="0" tIns="0" rIns="0" bIns="0" rtlCol="0" anchor="ctr"/>
          <a:lstStyle/>
          <a:p>
            <a:pPr marL="0" indent="0">
              <a:buNone/>
            </a:pPr>
            <a:r>
              <a:rPr lang="en-US" sz="1700" b="1" dirty="0">
                <a:solidFill>
                  <a:schemeClr val="tx2"/>
                </a:solidFill>
              </a:rPr>
              <a:t>Good practice</a:t>
            </a:r>
            <a:endParaRPr lang="en-US" sz="1700" dirty="0"/>
          </a:p>
        </p:txBody>
      </p:sp>
      <p:sp>
        <p:nvSpPr>
          <p:cNvPr id="27" name="Text 24"/>
          <p:cNvSpPr txBox="1"/>
          <p:nvPr/>
        </p:nvSpPr>
        <p:spPr>
          <a:xfrm>
            <a:off x="9098280" y="3621024"/>
            <a:ext cx="2331720" cy="685800"/>
          </a:xfrm>
          <a:prstGeom prst="rect">
            <a:avLst/>
          </a:prstGeom>
          <a:noFill/>
          <a:ln/>
        </p:spPr>
        <p:txBody>
          <a:bodyPr wrap="square" lIns="0" tIns="0" rIns="0" bIns="0" rtlCol="0" anchor="t"/>
          <a:lstStyle/>
          <a:p>
            <a:pPr marL="0" indent="0">
              <a:buNone/>
            </a:pPr>
            <a:r>
              <a:rPr lang="en-US" sz="1300" dirty="0">
                <a:solidFill>
                  <a:schemeClr val="tx1"/>
                </a:solidFill>
              </a:rPr>
              <a:t>Dark adaptation, pitfalls, CO₂ link, protocols</a:t>
            </a:r>
            <a:endParaRPr lang="en-US" sz="1300" dirty="0"/>
          </a:p>
        </p:txBody>
      </p:sp>
      <p:sp>
        <p:nvSpPr>
          <p:cNvPr id="28" name="card"/>
          <p:cNvSpPr/>
          <p:nvPr/>
        </p:nvSpPr>
        <p:spPr>
          <a:xfrm>
            <a:off x="548640" y="4626864"/>
            <a:ext cx="3520440" cy="1417320"/>
          </a:xfrm>
          <a:prstGeom prst="roundRect">
            <a:avLst>
              <a:gd name="adj" fmla="val 5161"/>
            </a:avLst>
          </a:prstGeom>
          <a:solidFill>
            <a:schemeClr val="bg2"/>
          </a:solidFill>
          <a:ln/>
          <a:effectLst>
            <a:outerShdw blurRad="76200" dist="25400" dir="5400000" algn="bl" rotWithShape="0">
              <a:srgbClr val="000000">
                <a:alpha val="14000"/>
              </a:srgbClr>
            </a:outerShdw>
          </a:effectLst>
        </p:spPr>
      </p:sp>
      <p:sp>
        <p:nvSpPr>
          <p:cNvPr id="29" name="Text 26"/>
          <p:cNvSpPr txBox="1"/>
          <p:nvPr/>
        </p:nvSpPr>
        <p:spPr>
          <a:xfrm>
            <a:off x="731520" y="4809744"/>
            <a:ext cx="822960" cy="640080"/>
          </a:xfrm>
          <a:prstGeom prst="rect">
            <a:avLst/>
          </a:prstGeom>
          <a:noFill/>
          <a:ln/>
        </p:spPr>
        <p:txBody>
          <a:bodyPr wrap="square" lIns="0" tIns="0" rIns="0" bIns="0" rtlCol="0" anchor="ctr"/>
          <a:lstStyle/>
          <a:p>
            <a:pPr marL="0" indent="0">
              <a:buNone/>
            </a:pPr>
            <a:r>
              <a:rPr lang="en-US" sz="3000" b="1" dirty="0">
                <a:solidFill>
                  <a:schemeClr val="accent2"/>
                </a:solidFill>
                <a:latin typeface="Cambria" pitchFamily="34" charset="0"/>
                <a:ea typeface="Cambria" pitchFamily="34" charset="-122"/>
                <a:cs typeface="Cambria" pitchFamily="34" charset="-120"/>
              </a:rPr>
              <a:t>07</a:t>
            </a:r>
            <a:endParaRPr lang="en-US" sz="3000" dirty="0"/>
          </a:p>
        </p:txBody>
      </p:sp>
      <p:sp>
        <p:nvSpPr>
          <p:cNvPr id="30" name="Text 27"/>
          <p:cNvSpPr txBox="1"/>
          <p:nvPr/>
        </p:nvSpPr>
        <p:spPr>
          <a:xfrm>
            <a:off x="1600200" y="4809744"/>
            <a:ext cx="2331720" cy="411480"/>
          </a:xfrm>
          <a:prstGeom prst="rect">
            <a:avLst/>
          </a:prstGeom>
          <a:noFill/>
          <a:ln/>
        </p:spPr>
        <p:txBody>
          <a:bodyPr wrap="square" lIns="0" tIns="0" rIns="0" bIns="0" rtlCol="0" anchor="ctr"/>
          <a:lstStyle/>
          <a:p>
            <a:pPr marL="0" indent="0">
              <a:buNone/>
            </a:pPr>
            <a:r>
              <a:rPr lang="en-US" sz="1700" b="1" dirty="0">
                <a:solidFill>
                  <a:schemeClr val="tx2"/>
                </a:solidFill>
              </a:rPr>
              <a:t>Imaging &amp; monitoring</a:t>
            </a:r>
            <a:endParaRPr lang="en-US" sz="1700" dirty="0"/>
          </a:p>
        </p:txBody>
      </p:sp>
      <p:sp>
        <p:nvSpPr>
          <p:cNvPr id="31" name="Text 28"/>
          <p:cNvSpPr txBox="1"/>
          <p:nvPr/>
        </p:nvSpPr>
        <p:spPr>
          <a:xfrm>
            <a:off x="1600200" y="5248656"/>
            <a:ext cx="2331720" cy="685800"/>
          </a:xfrm>
          <a:prstGeom prst="rect">
            <a:avLst/>
          </a:prstGeom>
          <a:noFill/>
          <a:ln/>
        </p:spPr>
        <p:txBody>
          <a:bodyPr wrap="square" lIns="0" tIns="0" rIns="0" bIns="0" rtlCol="0" anchor="t"/>
          <a:lstStyle/>
          <a:p>
            <a:pPr marL="0" indent="0">
              <a:buNone/>
            </a:pPr>
            <a:r>
              <a:rPr lang="en-US" sz="1300" dirty="0">
                <a:solidFill>
                  <a:schemeClr val="tx1"/>
                </a:solidFill>
              </a:rPr>
              <a:t>Fluorescence imaging, applications, LIFT</a:t>
            </a:r>
            <a:endParaRPr lang="en-US" sz="1300" dirty="0"/>
          </a:p>
        </p:txBody>
      </p:sp>
      <p:sp>
        <p:nvSpPr>
          <p:cNvPr id="32" name="card"/>
          <p:cNvSpPr/>
          <p:nvPr/>
        </p:nvSpPr>
        <p:spPr>
          <a:xfrm>
            <a:off x="4297680" y="4626864"/>
            <a:ext cx="3520440" cy="1417320"/>
          </a:xfrm>
          <a:prstGeom prst="roundRect">
            <a:avLst>
              <a:gd name="adj" fmla="val 5161"/>
            </a:avLst>
          </a:prstGeom>
          <a:solidFill>
            <a:schemeClr val="bg2"/>
          </a:solidFill>
          <a:ln/>
          <a:effectLst>
            <a:outerShdw blurRad="76200" dist="25400" dir="5400000" algn="bl" rotWithShape="0">
              <a:srgbClr val="000000">
                <a:alpha val="14000"/>
              </a:srgbClr>
            </a:outerShdw>
          </a:effectLst>
        </p:spPr>
      </p:sp>
      <p:sp>
        <p:nvSpPr>
          <p:cNvPr id="33" name="Text 30"/>
          <p:cNvSpPr txBox="1"/>
          <p:nvPr/>
        </p:nvSpPr>
        <p:spPr>
          <a:xfrm>
            <a:off x="4480560" y="4809744"/>
            <a:ext cx="822960" cy="640080"/>
          </a:xfrm>
          <a:prstGeom prst="rect">
            <a:avLst/>
          </a:prstGeom>
          <a:noFill/>
          <a:ln/>
        </p:spPr>
        <p:txBody>
          <a:bodyPr wrap="square" lIns="0" tIns="0" rIns="0" bIns="0" rtlCol="0" anchor="ctr"/>
          <a:lstStyle/>
          <a:p>
            <a:pPr marL="0" indent="0">
              <a:buNone/>
            </a:pPr>
            <a:r>
              <a:rPr lang="en-US" sz="3000" b="1" dirty="0">
                <a:solidFill>
                  <a:schemeClr val="accent2"/>
                </a:solidFill>
                <a:latin typeface="Cambria" pitchFamily="34" charset="0"/>
                <a:ea typeface="Cambria" pitchFamily="34" charset="-122"/>
                <a:cs typeface="Cambria" pitchFamily="34" charset="-120"/>
              </a:rPr>
              <a:t>08</a:t>
            </a:r>
            <a:endParaRPr lang="en-US" sz="3000" dirty="0"/>
          </a:p>
        </p:txBody>
      </p:sp>
      <p:sp>
        <p:nvSpPr>
          <p:cNvPr id="34" name="Text 31"/>
          <p:cNvSpPr txBox="1"/>
          <p:nvPr/>
        </p:nvSpPr>
        <p:spPr>
          <a:xfrm>
            <a:off x="5349240" y="4809744"/>
            <a:ext cx="2331720" cy="411480"/>
          </a:xfrm>
          <a:prstGeom prst="rect">
            <a:avLst/>
          </a:prstGeom>
          <a:noFill/>
          <a:ln/>
        </p:spPr>
        <p:txBody>
          <a:bodyPr wrap="square" lIns="0" tIns="0" rIns="0" bIns="0" rtlCol="0" anchor="ctr"/>
          <a:lstStyle/>
          <a:p>
            <a:pPr marL="0" indent="0">
              <a:buNone/>
            </a:pPr>
            <a:r>
              <a:rPr lang="en-US" sz="1700" b="1" dirty="0">
                <a:solidFill>
                  <a:schemeClr val="tx2"/>
                </a:solidFill>
              </a:rPr>
              <a:t>Sun-induced fluorescence</a:t>
            </a:r>
            <a:endParaRPr lang="en-US" sz="1700" dirty="0"/>
          </a:p>
        </p:txBody>
      </p:sp>
      <p:sp>
        <p:nvSpPr>
          <p:cNvPr id="35" name="Text 32"/>
          <p:cNvSpPr txBox="1"/>
          <p:nvPr/>
        </p:nvSpPr>
        <p:spPr>
          <a:xfrm>
            <a:off x="5349240" y="5248656"/>
            <a:ext cx="2331720" cy="685800"/>
          </a:xfrm>
          <a:prstGeom prst="rect">
            <a:avLst/>
          </a:prstGeom>
          <a:noFill/>
          <a:ln/>
        </p:spPr>
        <p:txBody>
          <a:bodyPr wrap="square" lIns="0" tIns="0" rIns="0" bIns="0" rtlCol="0" anchor="t"/>
          <a:lstStyle/>
          <a:p>
            <a:pPr marL="0" indent="0">
              <a:buNone/>
            </a:pPr>
            <a:r>
              <a:rPr lang="en-US" sz="1300" dirty="0">
                <a:solidFill>
                  <a:schemeClr val="tx1"/>
                </a:solidFill>
              </a:rPr>
              <a:t>Spectra, retrieval, models, platforms, satellites</a:t>
            </a:r>
            <a:endParaRPr lang="en-US" sz="1300" dirty="0"/>
          </a:p>
        </p:txBody>
      </p:sp>
      <p:sp>
        <p:nvSpPr>
          <p:cNvPr id="36" name="card"/>
          <p:cNvSpPr/>
          <p:nvPr/>
        </p:nvSpPr>
        <p:spPr>
          <a:xfrm>
            <a:off x="8046720" y="4626864"/>
            <a:ext cx="3520440" cy="1417320"/>
          </a:xfrm>
          <a:prstGeom prst="roundRect">
            <a:avLst>
              <a:gd name="adj" fmla="val 5161"/>
            </a:avLst>
          </a:prstGeom>
          <a:solidFill>
            <a:schemeClr val="bg2"/>
          </a:solidFill>
          <a:ln/>
          <a:effectLst>
            <a:outerShdw blurRad="76200" dist="25400" dir="5400000" algn="bl" rotWithShape="0">
              <a:srgbClr val="000000">
                <a:alpha val="14000"/>
              </a:srgbClr>
            </a:outerShdw>
          </a:effectLst>
        </p:spPr>
      </p:sp>
      <p:sp>
        <p:nvSpPr>
          <p:cNvPr id="37" name="Text 34"/>
          <p:cNvSpPr txBox="1"/>
          <p:nvPr/>
        </p:nvSpPr>
        <p:spPr>
          <a:xfrm>
            <a:off x="8229600" y="4809744"/>
            <a:ext cx="822960" cy="640080"/>
          </a:xfrm>
          <a:prstGeom prst="rect">
            <a:avLst/>
          </a:prstGeom>
          <a:noFill/>
          <a:ln/>
        </p:spPr>
        <p:txBody>
          <a:bodyPr wrap="square" lIns="0" tIns="0" rIns="0" bIns="0" rtlCol="0" anchor="ctr"/>
          <a:lstStyle/>
          <a:p>
            <a:pPr marL="0" indent="0">
              <a:buNone/>
            </a:pPr>
            <a:r>
              <a:rPr lang="en-US" sz="3000" b="1" dirty="0">
                <a:solidFill>
                  <a:schemeClr val="accent2"/>
                </a:solidFill>
                <a:latin typeface="Cambria" pitchFamily="34" charset="0"/>
                <a:ea typeface="Cambria" pitchFamily="34" charset="-122"/>
                <a:cs typeface="Cambria" pitchFamily="34" charset="-120"/>
              </a:rPr>
              <a:t>09</a:t>
            </a:r>
            <a:endParaRPr lang="en-US" sz="3000" dirty="0"/>
          </a:p>
        </p:txBody>
      </p:sp>
      <p:sp>
        <p:nvSpPr>
          <p:cNvPr id="38" name="Text 35"/>
          <p:cNvSpPr txBox="1"/>
          <p:nvPr/>
        </p:nvSpPr>
        <p:spPr>
          <a:xfrm>
            <a:off x="9098280" y="4809744"/>
            <a:ext cx="2331720" cy="411480"/>
          </a:xfrm>
          <a:prstGeom prst="rect">
            <a:avLst/>
          </a:prstGeom>
          <a:noFill/>
          <a:ln/>
        </p:spPr>
        <p:txBody>
          <a:bodyPr wrap="square" lIns="0" tIns="0" rIns="0" bIns="0" rtlCol="0" anchor="ctr"/>
          <a:lstStyle/>
          <a:p>
            <a:pPr marL="0" indent="0">
              <a:buNone/>
            </a:pPr>
            <a:r>
              <a:rPr lang="en-US" sz="1700" b="1" dirty="0">
                <a:solidFill>
                  <a:schemeClr val="tx2"/>
                </a:solidFill>
              </a:rPr>
              <a:t>Synthesis</a:t>
            </a:r>
            <a:endParaRPr lang="en-US" sz="1700" dirty="0"/>
          </a:p>
        </p:txBody>
      </p:sp>
      <p:sp>
        <p:nvSpPr>
          <p:cNvPr id="39" name="Text 36"/>
          <p:cNvSpPr txBox="1"/>
          <p:nvPr/>
        </p:nvSpPr>
        <p:spPr>
          <a:xfrm>
            <a:off x="9098280" y="5248656"/>
            <a:ext cx="2331720" cy="685800"/>
          </a:xfrm>
          <a:prstGeom prst="rect">
            <a:avLst/>
          </a:prstGeom>
          <a:noFill/>
          <a:ln/>
        </p:spPr>
        <p:txBody>
          <a:bodyPr wrap="square" lIns="0" tIns="0" rIns="0" bIns="0" rtlCol="0" anchor="t"/>
          <a:lstStyle/>
          <a:p>
            <a:pPr marL="0" indent="0">
              <a:buNone/>
            </a:pPr>
            <a:r>
              <a:rPr lang="en-US" sz="1300" dirty="0">
                <a:solidFill>
                  <a:schemeClr val="tx1"/>
                </a:solidFill>
              </a:rPr>
              <a:t>Concept map, formula sheet, FAQs, references</a:t>
            </a:r>
            <a:endParaRPr lang="en-US" sz="13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514600"/>
            <a:ext cx="7680960" cy="1188720"/>
          </a:xfrm>
          <a:prstGeom prst="rect">
            <a:avLst/>
          </a:prstGeom>
          <a:noFill/>
          <a:ln/>
        </p:spPr>
        <p:txBody>
          <a:bodyPr wrap="square" lIns="0" tIns="0" rIns="0" bIns="0" rtlCol="0" anchor="ctr"/>
          <a:lstStyle/>
          <a:p>
            <a:pPr marL="0" indent="0" algn="l">
              <a:buNone/>
            </a:pPr>
            <a:r>
              <a:rPr lang="en-US" sz="4000" b="1" dirty="0">
                <a:solidFill>
                  <a:schemeClr val="bg1"/>
                </a:solidFill>
              </a:rPr>
              <a:t>Foundations</a:t>
            </a:r>
            <a:endParaRPr lang="en-US" sz="4000" dirty="0"/>
          </a:p>
        </p:txBody>
      </p:sp>
      <p:sp>
        <p:nvSpPr>
          <p:cNvPr id="3" name="Text 0"/>
          <p:cNvSpPr>
            <a:spLocks noGrp="1"/>
          </p:cNvSpPr>
          <p:nvPr>
            <p:ph type="body" idx="101" hasCustomPrompt="1"/>
          </p:nvPr>
        </p:nvSpPr>
        <p:spPr>
          <a:xfrm>
            <a:off x="731520" y="3794760"/>
            <a:ext cx="7498080" cy="1280160"/>
          </a:xfrm>
          <a:prstGeom prst="rect">
            <a:avLst/>
          </a:prstGeom>
          <a:noFill/>
          <a:ln/>
        </p:spPr>
        <p:txBody>
          <a:bodyPr wrap="square" lIns="0" tIns="0" rIns="0" bIns="0" rtlCol="0" anchor="t"/>
          <a:lstStyle/>
          <a:p>
            <a:pPr marL="0" indent="0">
              <a:buNone/>
            </a:pPr>
            <a:r>
              <a:rPr lang="en-US" sz="1800" dirty="0">
                <a:solidFill>
                  <a:schemeClr val="bg2"/>
                </a:solidFill>
              </a:rPr>
              <a:t>What chlorophyll fluorescence is, where it comes from, and why a tiny glow tells us so much about photosynthesis</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marL="0" indent="0">
              <a:buNone/>
            </a:pPr>
            <a:r>
              <a:rPr lang="en-US" sz="7200" b="1" dirty="0">
                <a:solidFill>
                  <a:schemeClr val="accent3"/>
                </a:solidFill>
                <a:latin typeface="Cambria" pitchFamily="34" charset="0"/>
                <a:ea typeface="Cambria" pitchFamily="34" charset="-122"/>
                <a:cs typeface="Cambria" pitchFamily="34" charset="-120"/>
              </a:rPr>
              <a:t>01</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What is chlorophyll fluorescence?</a:t>
            </a:r>
            <a:endParaRPr lang="en-US" sz="3200" dirty="0"/>
          </a:p>
        </p:txBody>
      </p:sp>
      <p:sp>
        <p:nvSpPr>
          <p:cNvPr id="4" name="Text 1"/>
          <p:cNvSpPr txBox="1"/>
          <p:nvPr/>
        </p:nvSpPr>
        <p:spPr>
          <a:xfrm>
            <a:off x="548640" y="1325880"/>
            <a:ext cx="6583680" cy="4846320"/>
          </a:xfrm>
          <a:prstGeom prst="rect">
            <a:avLst/>
          </a:prstGeom>
          <a:noFill/>
          <a:ln/>
        </p:spPr>
        <p:txBody>
          <a:bodyPr wrap="square" lIns="508" tIns="508" rIns="508" bIns="508" rtlCol="0" anchor="t"/>
          <a:lstStyle/>
          <a:p>
            <a:pPr marL="0" indent="0">
              <a:spcAft>
                <a:spcPts val="1000"/>
              </a:spcAft>
              <a:buNone/>
            </a:pPr>
            <a:r>
              <a:rPr lang="en-US" sz="1600" b="1" dirty="0">
                <a:solidFill>
                  <a:schemeClr val="tx1"/>
                </a:solidFill>
              </a:rPr>
              <a:t>Definition:</a:t>
            </a:r>
            <a:r>
              <a:rPr lang="en-US" sz="1600" dirty="0">
                <a:solidFill>
                  <a:schemeClr val="tx1"/>
                </a:solidFill>
              </a:rPr>
              <a:t> light re-emitted by chlorophyll molecules as they return from the excited to the ground (non-excited) state.</a:t>
            </a:r>
            <a:endParaRPr lang="en-US" sz="1600" dirty="0"/>
          </a:p>
          <a:p>
            <a:pPr marL="0" indent="0">
              <a:spcAft>
                <a:spcPts val="400"/>
              </a:spcAft>
              <a:buNone/>
            </a:pPr>
            <a:r>
              <a:rPr lang="en-US" sz="1600" b="1" dirty="0">
                <a:solidFill>
                  <a:schemeClr val="accent1"/>
                </a:solidFill>
              </a:rPr>
              <a:t>Why it matters</a:t>
            </a:r>
            <a:endParaRPr lang="en-US" sz="1600" dirty="0"/>
          </a:p>
          <a:p>
            <a:pPr marL="177800" indent="-177800">
              <a:spcAft>
                <a:spcPts val="600"/>
              </a:spcAft>
              <a:buSzPct val="100000"/>
              <a:buChar char="•"/>
            </a:pPr>
            <a:r>
              <a:rPr lang="en-US" sz="1600" dirty="0">
                <a:solidFill>
                  <a:schemeClr val="tx1"/>
                </a:solidFill>
              </a:rPr>
              <a:t>Non-invasive measure of </a:t>
            </a:r>
            <a:r>
              <a:rPr lang="en-US" sz="1600" b="1" dirty="0">
                <a:solidFill>
                  <a:schemeClr val="tx1"/>
                </a:solidFill>
              </a:rPr>
              <a:t>photosystem II (PSII)</a:t>
            </a:r>
            <a:r>
              <a:rPr lang="en-US" sz="1600" dirty="0">
                <a:solidFill>
                  <a:schemeClr val="tx1"/>
                </a:solidFill>
              </a:rPr>
              <a:t> activity — no harvesting, no chemicals</a:t>
            </a:r>
            <a:endParaRPr lang="en-US" sz="1600" dirty="0"/>
          </a:p>
          <a:p>
            <a:pPr marL="177800" indent="-177800">
              <a:spcAft>
                <a:spcPts val="600"/>
              </a:spcAft>
              <a:buSzPct val="100000"/>
              <a:buChar char="•"/>
            </a:pPr>
            <a:r>
              <a:rPr lang="en-US" sz="1600" dirty="0">
                <a:solidFill>
                  <a:schemeClr val="tx1"/>
                </a:solidFill>
              </a:rPr>
              <a:t>PSII is highly sensitive to abiotic and biotic factors → a broad indicator of how plants respond to environmental change</a:t>
            </a:r>
            <a:endParaRPr lang="en-US" sz="1600" dirty="0"/>
          </a:p>
          <a:p>
            <a:pPr marL="177800" indent="-177800">
              <a:spcAft>
                <a:spcPts val="600"/>
              </a:spcAft>
              <a:buSzPct val="100000"/>
              <a:buChar char="•"/>
            </a:pPr>
            <a:r>
              <a:rPr lang="en-US" sz="1600" dirty="0">
                <a:solidFill>
                  <a:schemeClr val="tx1"/>
                </a:solidFill>
              </a:rPr>
              <a:t>Indicator of photosynthetic energy conversion in higher plants, algae and bacteria</a:t>
            </a:r>
            <a:endParaRPr lang="en-US" sz="1600" dirty="0"/>
          </a:p>
          <a:p>
            <a:pPr marL="177800" indent="-177800">
              <a:spcAft>
                <a:spcPts val="1000"/>
              </a:spcAft>
              <a:buSzPct val="100000"/>
              <a:buChar char="•"/>
            </a:pPr>
            <a:r>
              <a:rPr lang="en-US" sz="1600" dirty="0">
                <a:solidFill>
                  <a:schemeClr val="tx1"/>
                </a:solidFill>
              </a:rPr>
              <a:t>Cheap, fast and portable → widely used in plant physiology, breeding and phenotyping</a:t>
            </a:r>
            <a:endParaRPr lang="en-US" sz="1600" dirty="0"/>
          </a:p>
          <a:p>
            <a:pPr marL="0" indent="0">
              <a:spcAft>
                <a:spcPts val="400"/>
              </a:spcAft>
              <a:buNone/>
            </a:pPr>
            <a:r>
              <a:rPr lang="en-US" sz="1600" b="1" dirty="0">
                <a:solidFill>
                  <a:schemeClr val="tx1"/>
                </a:solidFill>
              </a:rPr>
              <a:t>Spectral signature:</a:t>
            </a:r>
            <a:r>
              <a:rPr lang="en-US" sz="1600" dirty="0">
                <a:solidFill>
                  <a:schemeClr val="tx1"/>
                </a:solidFill>
              </a:rPr>
              <a:t> emission between ~650 and 800 nm with two peaks, ~685 nm (red) and ~740 nm (far-red)</a:t>
            </a:r>
            <a:endParaRPr lang="en-US" sz="1600" dirty="0"/>
          </a:p>
        </p:txBody>
      </p:sp>
      <p:pic>
        <p:nvPicPr>
          <p:cNvPr id="5" name="Image 0" descr="image29.jpeg"/>
          <p:cNvPicPr>
            <a:picLocks noChangeAspect="1"/>
          </p:cNvPicPr>
          <p:nvPr/>
        </p:nvPicPr>
        <p:blipFill>
          <a:blip r:embed="rId3"/>
          <a:stretch>
            <a:fillRect/>
          </a:stretch>
        </p:blipFill>
        <p:spPr>
          <a:xfrm>
            <a:off x="7635240" y="1551571"/>
            <a:ext cx="1920240" cy="2566139"/>
          </a:xfrm>
          <a:prstGeom prst="rect">
            <a:avLst/>
          </a:prstGeom>
        </p:spPr>
      </p:pic>
      <p:pic>
        <p:nvPicPr>
          <p:cNvPr id="6" name="Image 1" descr="o_leaf.png"/>
          <p:cNvPicPr>
            <a:picLocks noChangeAspect="1"/>
          </p:cNvPicPr>
          <p:nvPr/>
        </p:nvPicPr>
        <p:blipFill>
          <a:blip r:embed="rId4"/>
          <a:stretch>
            <a:fillRect/>
          </a:stretch>
        </p:blipFill>
        <p:spPr>
          <a:xfrm>
            <a:off x="9646920" y="2035126"/>
            <a:ext cx="2011680" cy="1599028"/>
          </a:xfrm>
          <a:prstGeom prst="rect">
            <a:avLst/>
          </a:prstGeom>
        </p:spPr>
      </p:pic>
      <p:sp>
        <p:nvSpPr>
          <p:cNvPr id="7" name="Text 2"/>
          <p:cNvSpPr txBox="1"/>
          <p:nvPr/>
        </p:nvSpPr>
        <p:spPr>
          <a:xfrm>
            <a:off x="7635240" y="4480560"/>
            <a:ext cx="4023360" cy="1097280"/>
          </a:xfrm>
          <a:prstGeom prst="rect">
            <a:avLst/>
          </a:prstGeom>
          <a:noFill/>
          <a:ln/>
        </p:spPr>
        <p:txBody>
          <a:bodyPr wrap="square" lIns="508" tIns="508" rIns="508" bIns="508" rtlCol="0" anchor="t"/>
          <a:lstStyle/>
          <a:p>
            <a:pPr marL="0" indent="0">
              <a:spcAft>
                <a:spcPts val="600"/>
              </a:spcAft>
              <a:buNone/>
            </a:pPr>
            <a:r>
              <a:rPr lang="en-US" sz="1200" i="1" dirty="0">
                <a:solidFill>
                  <a:schemeClr val="accent6"/>
                </a:solidFill>
              </a:rPr>
              <a:t>Left: chlorophyll extract in alcohol — green under white light (top), red fluorescence under UV (bottom). Right: absorbed solar energy is dissipated by photochemistry or by non-photochemical routes (heat, fluorescence).</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Where does it come from? The pigment–protein complexes</a:t>
            </a:r>
            <a:endParaRPr lang="en-US" sz="3200" dirty="0"/>
          </a:p>
        </p:txBody>
      </p:sp>
      <p:sp>
        <p:nvSpPr>
          <p:cNvPr id="4" name="figure frame"/>
          <p:cNvSpPr/>
          <p:nvPr/>
        </p:nvSpPr>
        <p:spPr>
          <a:xfrm>
            <a:off x="548640" y="1325880"/>
            <a:ext cx="5120640" cy="3749040"/>
          </a:xfrm>
          <a:prstGeom prst="roundRect">
            <a:avLst>
              <a:gd name="adj" fmla="val 1463"/>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5" name="Image 0" descr="Thylakoid membrane: PSII, cytochrome b₆f, PSI and ATP synthase, with water splitting on the lumen side"/>
          <p:cNvPicPr>
            <a:picLocks noChangeAspect="1"/>
          </p:cNvPicPr>
          <p:nvPr/>
        </p:nvPicPr>
        <p:blipFill>
          <a:blip r:embed="rId3"/>
          <a:stretch>
            <a:fillRect/>
          </a:stretch>
        </p:blipFill>
        <p:spPr>
          <a:xfrm>
            <a:off x="731520" y="1417320"/>
            <a:ext cx="4754880" cy="3566160"/>
          </a:xfrm>
          <a:prstGeom prst="rect">
            <a:avLst/>
          </a:prstGeom>
        </p:spPr>
      </p:pic>
      <p:sp>
        <p:nvSpPr>
          <p:cNvPr id="6" name="Text 2"/>
          <p:cNvSpPr txBox="1"/>
          <p:nvPr/>
        </p:nvSpPr>
        <p:spPr>
          <a:xfrm>
            <a:off x="548640" y="5120640"/>
            <a:ext cx="5120640" cy="411480"/>
          </a:xfrm>
          <a:prstGeom prst="rect">
            <a:avLst/>
          </a:prstGeom>
          <a:noFill/>
          <a:ln/>
        </p:spPr>
        <p:txBody>
          <a:bodyPr wrap="square" lIns="0" tIns="0" rIns="0" bIns="0" rtlCol="0" anchor="t"/>
          <a:lstStyle/>
          <a:p>
            <a:pPr marL="0" indent="0">
              <a:buNone/>
            </a:pPr>
            <a:r>
              <a:rPr lang="en-US" sz="1100" i="1" dirty="0">
                <a:solidFill>
                  <a:schemeClr val="accent6"/>
                </a:solidFill>
              </a:rPr>
              <a:t>Thylakoid membrane: PSII, cytochrome b₆f, PSI and ATP synthase, with water splitting on the lumen side</a:t>
            </a:r>
            <a:endParaRPr lang="en-US" sz="1100" dirty="0"/>
          </a:p>
        </p:txBody>
      </p:sp>
      <p:sp>
        <p:nvSpPr>
          <p:cNvPr id="7" name="card"/>
          <p:cNvSpPr/>
          <p:nvPr/>
        </p:nvSpPr>
        <p:spPr>
          <a:xfrm>
            <a:off x="5943600" y="1325880"/>
            <a:ext cx="5696712" cy="1417320"/>
          </a:xfrm>
          <a:prstGeom prst="roundRect">
            <a:avLst>
              <a:gd name="adj" fmla="val 5161"/>
            </a:avLst>
          </a:prstGeom>
          <a:solidFill>
            <a:schemeClr val="bg2"/>
          </a:solidFill>
          <a:ln/>
          <a:effectLst>
            <a:outerShdw blurRad="76200" dist="25400" dir="5400000" algn="bl" rotWithShape="0">
              <a:srgbClr val="000000">
                <a:alpha val="14000"/>
              </a:srgbClr>
            </a:outerShdw>
          </a:effectLst>
        </p:spPr>
      </p:sp>
      <p:sp>
        <p:nvSpPr>
          <p:cNvPr id="8" name="icon circle"/>
          <p:cNvSpPr/>
          <p:nvPr/>
        </p:nvSpPr>
        <p:spPr>
          <a:xfrm>
            <a:off x="6126480" y="1481328"/>
            <a:ext cx="420624" cy="420624"/>
          </a:xfrm>
          <a:prstGeom prst="ellipse">
            <a:avLst/>
          </a:prstGeom>
          <a:solidFill>
            <a:schemeClr val="accent3"/>
          </a:solidFill>
          <a:ln/>
        </p:spPr>
      </p:sp>
      <p:pic>
        <p:nvPicPr>
          <p:cNvPr id="9" name="Image 1" descr="Sun icon"/>
          <p:cNvPicPr>
            <a:picLocks noChangeAspect="1"/>
          </p:cNvPicPr>
          <p:nvPr/>
        </p:nvPicPr>
        <p:blipFill>
          <a:blip r:embed="rId4"/>
          <a:stretch>
            <a:fillRect/>
          </a:stretch>
        </p:blipFill>
        <p:spPr>
          <a:xfrm>
            <a:off x="6235842" y="1590690"/>
            <a:ext cx="201900" cy="201900"/>
          </a:xfrm>
          <a:prstGeom prst="rect">
            <a:avLst/>
          </a:prstGeom>
        </p:spPr>
      </p:pic>
      <p:sp>
        <p:nvSpPr>
          <p:cNvPr id="10" name="Text 5"/>
          <p:cNvSpPr txBox="1"/>
          <p:nvPr/>
        </p:nvSpPr>
        <p:spPr>
          <a:xfrm>
            <a:off x="6656832" y="1463040"/>
            <a:ext cx="4846320" cy="457200"/>
          </a:xfrm>
          <a:prstGeom prst="rect">
            <a:avLst/>
          </a:prstGeom>
          <a:noFill/>
          <a:ln/>
        </p:spPr>
        <p:txBody>
          <a:bodyPr wrap="square" lIns="0" tIns="0" rIns="0" bIns="0" rtlCol="0" anchor="ctr"/>
          <a:lstStyle/>
          <a:p>
            <a:pPr marL="0" indent="0">
              <a:buNone/>
            </a:pPr>
            <a:r>
              <a:rPr lang="en-US" sz="1600" b="1" dirty="0">
                <a:solidFill>
                  <a:schemeClr val="tx2"/>
                </a:solidFill>
              </a:rPr>
              <a:t>Light-harvesting complexes (LHC)</a:t>
            </a:r>
            <a:endParaRPr lang="en-US" sz="1600" dirty="0"/>
          </a:p>
        </p:txBody>
      </p:sp>
      <p:sp>
        <p:nvSpPr>
          <p:cNvPr id="11" name="Text 6"/>
          <p:cNvSpPr txBox="1"/>
          <p:nvPr/>
        </p:nvSpPr>
        <p:spPr>
          <a:xfrm>
            <a:off x="6126480" y="2011680"/>
            <a:ext cx="5330952" cy="640080"/>
          </a:xfrm>
          <a:prstGeom prst="rect">
            <a:avLst/>
          </a:prstGeom>
          <a:noFill/>
          <a:ln/>
        </p:spPr>
        <p:txBody>
          <a:bodyPr wrap="square" lIns="508" tIns="508" rIns="508" bIns="508" rtlCol="0" anchor="t"/>
          <a:lstStyle/>
          <a:p>
            <a:pPr marL="0" indent="0">
              <a:spcAft>
                <a:spcPts val="400"/>
              </a:spcAft>
              <a:buNone/>
            </a:pPr>
            <a:r>
              <a:rPr lang="en-US" sz="1400" dirty="0">
                <a:solidFill>
                  <a:schemeClr val="tx1"/>
                </a:solidFill>
              </a:rPr>
              <a:t>Antenna pigment–protein complexes (Chl a, Chl b, carotenoids) that capture photons and transfer excitation energy to a reaction centre.</a:t>
            </a:r>
            <a:endParaRPr lang="en-US" sz="1400" dirty="0"/>
          </a:p>
        </p:txBody>
      </p:sp>
      <p:sp>
        <p:nvSpPr>
          <p:cNvPr id="12" name="card"/>
          <p:cNvSpPr/>
          <p:nvPr/>
        </p:nvSpPr>
        <p:spPr>
          <a:xfrm>
            <a:off x="5943600" y="2880360"/>
            <a:ext cx="5696712" cy="1417320"/>
          </a:xfrm>
          <a:prstGeom prst="roundRect">
            <a:avLst>
              <a:gd name="adj" fmla="val 5161"/>
            </a:avLst>
          </a:prstGeom>
          <a:solidFill>
            <a:schemeClr val="bg2"/>
          </a:solidFill>
          <a:ln/>
          <a:effectLst>
            <a:outerShdw blurRad="76200" dist="25400" dir="5400000" algn="bl" rotWithShape="0">
              <a:srgbClr val="000000">
                <a:alpha val="14000"/>
              </a:srgbClr>
            </a:outerShdw>
          </a:effectLst>
        </p:spPr>
      </p:sp>
      <p:sp>
        <p:nvSpPr>
          <p:cNvPr id="13" name="icon circle"/>
          <p:cNvSpPr/>
          <p:nvPr/>
        </p:nvSpPr>
        <p:spPr>
          <a:xfrm>
            <a:off x="6126480" y="3035808"/>
            <a:ext cx="420624" cy="420624"/>
          </a:xfrm>
          <a:prstGeom prst="ellipse">
            <a:avLst/>
          </a:prstGeom>
          <a:solidFill>
            <a:schemeClr val="accent1"/>
          </a:solidFill>
          <a:ln/>
        </p:spPr>
      </p:sp>
      <p:pic>
        <p:nvPicPr>
          <p:cNvPr id="14" name="Image 2" descr="Leaf icon"/>
          <p:cNvPicPr>
            <a:picLocks noChangeAspect="1"/>
          </p:cNvPicPr>
          <p:nvPr/>
        </p:nvPicPr>
        <p:blipFill>
          <a:blip r:embed="rId5"/>
          <a:stretch>
            <a:fillRect/>
          </a:stretch>
        </p:blipFill>
        <p:spPr>
          <a:xfrm>
            <a:off x="6235842" y="3145170"/>
            <a:ext cx="201900" cy="201900"/>
          </a:xfrm>
          <a:prstGeom prst="rect">
            <a:avLst/>
          </a:prstGeom>
        </p:spPr>
      </p:pic>
      <p:sp>
        <p:nvSpPr>
          <p:cNvPr id="15" name="Text 9"/>
          <p:cNvSpPr txBox="1"/>
          <p:nvPr/>
        </p:nvSpPr>
        <p:spPr>
          <a:xfrm>
            <a:off x="6656832" y="3017520"/>
            <a:ext cx="4846320" cy="457200"/>
          </a:xfrm>
          <a:prstGeom prst="rect">
            <a:avLst/>
          </a:prstGeom>
          <a:noFill/>
          <a:ln/>
        </p:spPr>
        <p:txBody>
          <a:bodyPr wrap="square" lIns="0" tIns="0" rIns="0" bIns="0" rtlCol="0" anchor="ctr"/>
          <a:lstStyle/>
          <a:p>
            <a:pPr marL="0" indent="0">
              <a:buNone/>
            </a:pPr>
            <a:r>
              <a:rPr lang="en-US" sz="1600" b="1" dirty="0">
                <a:solidFill>
                  <a:schemeClr val="tx2"/>
                </a:solidFill>
              </a:rPr>
              <a:t>Photosystem II (P680)</a:t>
            </a:r>
            <a:endParaRPr lang="en-US" sz="1600" dirty="0"/>
          </a:p>
        </p:txBody>
      </p:sp>
      <p:sp>
        <p:nvSpPr>
          <p:cNvPr id="16" name="Text 10"/>
          <p:cNvSpPr txBox="1"/>
          <p:nvPr/>
        </p:nvSpPr>
        <p:spPr>
          <a:xfrm>
            <a:off x="6126480" y="3566160"/>
            <a:ext cx="5330952" cy="640080"/>
          </a:xfrm>
          <a:prstGeom prst="rect">
            <a:avLst/>
          </a:prstGeom>
          <a:noFill/>
          <a:ln/>
        </p:spPr>
        <p:txBody>
          <a:bodyPr wrap="square" lIns="508" tIns="508" rIns="508" bIns="508" rtlCol="0" anchor="t"/>
          <a:lstStyle/>
          <a:p>
            <a:pPr marL="0" indent="0">
              <a:spcAft>
                <a:spcPts val="400"/>
              </a:spcAft>
              <a:buNone/>
            </a:pPr>
            <a:r>
              <a:rPr lang="en-US" sz="1400" dirty="0">
                <a:solidFill>
                  <a:schemeClr val="tx1"/>
                </a:solidFill>
              </a:rPr>
              <a:t>Core proteins D1, D2, CP43, CP47; splits water (OEC), passes electrons via pheophytin → Q</a:t>
            </a:r>
            <a:r>
              <a:rPr lang="en-US" sz="1400" baseline="-40000" dirty="0">
                <a:solidFill>
                  <a:schemeClr val="tx1"/>
                </a:solidFill>
              </a:rPr>
              <a:t>A</a:t>
            </a:r>
            <a:r>
              <a:rPr lang="en-US" sz="1400" dirty="0">
                <a:solidFill>
                  <a:schemeClr val="tx1"/>
                </a:solidFill>
              </a:rPr>
              <a:t> → Q</a:t>
            </a:r>
            <a:r>
              <a:rPr lang="en-US" sz="1400" baseline="-40000" dirty="0">
                <a:solidFill>
                  <a:schemeClr val="tx1"/>
                </a:solidFill>
              </a:rPr>
              <a:t>B</a:t>
            </a:r>
            <a:r>
              <a:rPr lang="en-US" sz="1400" dirty="0">
                <a:solidFill>
                  <a:schemeClr val="tx1"/>
                </a:solidFill>
              </a:rPr>
              <a:t>. </a:t>
            </a:r>
            <a:r>
              <a:rPr lang="en-US" sz="1400" b="1" dirty="0">
                <a:solidFill>
                  <a:schemeClr val="tx1"/>
                </a:solidFill>
              </a:rPr>
              <a:t>Main source of variable fluorescence.</a:t>
            </a:r>
            <a:endParaRPr lang="en-US" sz="1400" dirty="0"/>
          </a:p>
        </p:txBody>
      </p:sp>
      <p:sp>
        <p:nvSpPr>
          <p:cNvPr id="17" name="card"/>
          <p:cNvSpPr/>
          <p:nvPr/>
        </p:nvSpPr>
        <p:spPr>
          <a:xfrm>
            <a:off x="5943600" y="4434840"/>
            <a:ext cx="5696712" cy="1417320"/>
          </a:xfrm>
          <a:prstGeom prst="roundRect">
            <a:avLst>
              <a:gd name="adj" fmla="val 5161"/>
            </a:avLst>
          </a:prstGeom>
          <a:solidFill>
            <a:schemeClr val="bg2"/>
          </a:solidFill>
          <a:ln/>
          <a:effectLst>
            <a:outerShdw blurRad="76200" dist="25400" dir="5400000" algn="bl" rotWithShape="0">
              <a:srgbClr val="000000">
                <a:alpha val="14000"/>
              </a:srgbClr>
            </a:outerShdw>
          </a:effectLst>
        </p:spPr>
      </p:sp>
      <p:sp>
        <p:nvSpPr>
          <p:cNvPr id="18" name="icon circle"/>
          <p:cNvSpPr/>
          <p:nvPr/>
        </p:nvSpPr>
        <p:spPr>
          <a:xfrm>
            <a:off x="6126480" y="4590288"/>
            <a:ext cx="420624" cy="420624"/>
          </a:xfrm>
          <a:prstGeom prst="ellipse">
            <a:avLst/>
          </a:prstGeom>
          <a:solidFill>
            <a:schemeClr val="accent5"/>
          </a:solidFill>
          <a:ln/>
        </p:spPr>
      </p:sp>
      <p:pic>
        <p:nvPicPr>
          <p:cNvPr id="19" name="Image 3" descr="Bolt icon"/>
          <p:cNvPicPr>
            <a:picLocks noChangeAspect="1"/>
          </p:cNvPicPr>
          <p:nvPr/>
        </p:nvPicPr>
        <p:blipFill>
          <a:blip r:embed="rId6"/>
          <a:stretch>
            <a:fillRect/>
          </a:stretch>
        </p:blipFill>
        <p:spPr>
          <a:xfrm>
            <a:off x="6235842" y="4699650"/>
            <a:ext cx="201900" cy="201900"/>
          </a:xfrm>
          <a:prstGeom prst="rect">
            <a:avLst/>
          </a:prstGeom>
        </p:spPr>
      </p:pic>
      <p:sp>
        <p:nvSpPr>
          <p:cNvPr id="20" name="Text 13"/>
          <p:cNvSpPr txBox="1"/>
          <p:nvPr/>
        </p:nvSpPr>
        <p:spPr>
          <a:xfrm>
            <a:off x="6656832" y="4572000"/>
            <a:ext cx="4846320" cy="457200"/>
          </a:xfrm>
          <a:prstGeom prst="rect">
            <a:avLst/>
          </a:prstGeom>
          <a:noFill/>
          <a:ln/>
        </p:spPr>
        <p:txBody>
          <a:bodyPr wrap="square" lIns="0" tIns="0" rIns="0" bIns="0" rtlCol="0" anchor="ctr"/>
          <a:lstStyle/>
          <a:p>
            <a:pPr marL="0" indent="0">
              <a:buNone/>
            </a:pPr>
            <a:r>
              <a:rPr lang="en-US" sz="1600" b="1" dirty="0">
                <a:solidFill>
                  <a:schemeClr val="tx2"/>
                </a:solidFill>
              </a:rPr>
              <a:t>Photosystem I (P700)</a:t>
            </a:r>
            <a:endParaRPr lang="en-US" sz="1600" dirty="0"/>
          </a:p>
        </p:txBody>
      </p:sp>
      <p:sp>
        <p:nvSpPr>
          <p:cNvPr id="21" name="Text 14"/>
          <p:cNvSpPr txBox="1"/>
          <p:nvPr/>
        </p:nvSpPr>
        <p:spPr>
          <a:xfrm>
            <a:off x="6126480" y="5120640"/>
            <a:ext cx="5330952" cy="640080"/>
          </a:xfrm>
          <a:prstGeom prst="rect">
            <a:avLst/>
          </a:prstGeom>
          <a:noFill/>
          <a:ln/>
        </p:spPr>
        <p:txBody>
          <a:bodyPr wrap="square" lIns="508" tIns="508" rIns="508" bIns="508" rtlCol="0" anchor="t"/>
          <a:lstStyle/>
          <a:p>
            <a:pPr marL="0" indent="0">
              <a:spcAft>
                <a:spcPts val="400"/>
              </a:spcAft>
              <a:buNone/>
            </a:pPr>
            <a:r>
              <a:rPr lang="en-US" sz="1400" dirty="0">
                <a:solidFill>
                  <a:schemeClr val="tx1"/>
                </a:solidFill>
              </a:rPr>
              <a:t>Receives electrons from plastocyanin and reduces NADP⁺ via ferredoxin. Emits weakly, mostly in the far-red (&gt;700 nm).</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The photophysics: excitation and emission</a:t>
            </a:r>
            <a:endParaRPr lang="en-US" sz="3200" dirty="0"/>
          </a:p>
        </p:txBody>
      </p:sp>
      <p:sp>
        <p:nvSpPr>
          <p:cNvPr id="4" name="energy level"/>
          <p:cNvSpPr/>
          <p:nvPr/>
        </p:nvSpPr>
        <p:spPr>
          <a:xfrm>
            <a:off x="2103120" y="5715000"/>
            <a:ext cx="4572000" cy="0"/>
          </a:xfrm>
          <a:prstGeom prst="line">
            <a:avLst/>
          </a:prstGeom>
          <a:noFill/>
          <a:ln w="38100">
            <a:solidFill>
              <a:srgbClr val="123D2E"/>
            </a:solidFill>
            <a:prstDash val="solid"/>
          </a:ln>
        </p:spPr>
      </p:sp>
      <p:sp>
        <p:nvSpPr>
          <p:cNvPr id="5" name="vibrational level"/>
          <p:cNvSpPr/>
          <p:nvPr/>
        </p:nvSpPr>
        <p:spPr>
          <a:xfrm>
            <a:off x="2103120" y="5605272"/>
            <a:ext cx="4572000" cy="0"/>
          </a:xfrm>
          <a:prstGeom prst="line">
            <a:avLst/>
          </a:prstGeom>
          <a:noFill/>
          <a:ln w="9525">
            <a:solidFill>
              <a:srgbClr val="5E7268"/>
            </a:solidFill>
            <a:prstDash val="dash"/>
          </a:ln>
        </p:spPr>
      </p:sp>
      <p:sp>
        <p:nvSpPr>
          <p:cNvPr id="6" name="vibrational level"/>
          <p:cNvSpPr/>
          <p:nvPr/>
        </p:nvSpPr>
        <p:spPr>
          <a:xfrm>
            <a:off x="2103120" y="5495544"/>
            <a:ext cx="4572000" cy="0"/>
          </a:xfrm>
          <a:prstGeom prst="line">
            <a:avLst/>
          </a:prstGeom>
          <a:noFill/>
          <a:ln w="9525">
            <a:solidFill>
              <a:srgbClr val="5E7268"/>
            </a:solidFill>
            <a:prstDash val="dash"/>
          </a:ln>
        </p:spPr>
      </p:sp>
      <p:sp>
        <p:nvSpPr>
          <p:cNvPr id="7" name="Text 4"/>
          <p:cNvSpPr txBox="1"/>
          <p:nvPr/>
        </p:nvSpPr>
        <p:spPr>
          <a:xfrm>
            <a:off x="548640" y="5303520"/>
            <a:ext cx="1463040" cy="685800"/>
          </a:xfrm>
          <a:prstGeom prst="rect">
            <a:avLst/>
          </a:prstGeom>
          <a:noFill/>
          <a:ln/>
        </p:spPr>
        <p:txBody>
          <a:bodyPr wrap="square" lIns="0" tIns="0" rIns="0" bIns="0" rtlCol="0" anchor="ctr"/>
          <a:lstStyle/>
          <a:p>
            <a:pPr marL="0" indent="0" algn="r">
              <a:buNone/>
            </a:pPr>
            <a:r>
              <a:rPr lang="en-US" sz="1800" b="1" dirty="0">
                <a:solidFill>
                  <a:schemeClr val="tx2"/>
                </a:solidFill>
              </a:rPr>
              <a:t>S₀</a:t>
            </a:r>
            <a:endParaRPr lang="en-US" sz="1800" dirty="0"/>
          </a:p>
          <a:p>
            <a:pPr marL="0" indent="0" algn="r">
              <a:buNone/>
            </a:pPr>
            <a:r>
              <a:rPr lang="en-US" sz="1100" dirty="0">
                <a:solidFill>
                  <a:schemeClr val="tx1"/>
                </a:solidFill>
              </a:rPr>
              <a:t>ground state</a:t>
            </a:r>
            <a:endParaRPr lang="en-US" sz="1800" dirty="0"/>
          </a:p>
        </p:txBody>
      </p:sp>
      <p:sp>
        <p:nvSpPr>
          <p:cNvPr id="8" name="energy level"/>
          <p:cNvSpPr/>
          <p:nvPr/>
        </p:nvSpPr>
        <p:spPr>
          <a:xfrm>
            <a:off x="2103120" y="3794760"/>
            <a:ext cx="4572000" cy="0"/>
          </a:xfrm>
          <a:prstGeom prst="line">
            <a:avLst/>
          </a:prstGeom>
          <a:noFill/>
          <a:ln w="38100">
            <a:solidFill>
              <a:srgbClr val="123D2E"/>
            </a:solidFill>
            <a:prstDash val="solid"/>
          </a:ln>
        </p:spPr>
      </p:sp>
      <p:sp>
        <p:nvSpPr>
          <p:cNvPr id="9" name="vibrational level"/>
          <p:cNvSpPr/>
          <p:nvPr/>
        </p:nvSpPr>
        <p:spPr>
          <a:xfrm>
            <a:off x="2103120" y="3685032"/>
            <a:ext cx="4572000" cy="0"/>
          </a:xfrm>
          <a:prstGeom prst="line">
            <a:avLst/>
          </a:prstGeom>
          <a:noFill/>
          <a:ln w="9525">
            <a:solidFill>
              <a:srgbClr val="5E7268"/>
            </a:solidFill>
            <a:prstDash val="dash"/>
          </a:ln>
        </p:spPr>
      </p:sp>
      <p:sp>
        <p:nvSpPr>
          <p:cNvPr id="10" name="vibrational level"/>
          <p:cNvSpPr/>
          <p:nvPr/>
        </p:nvSpPr>
        <p:spPr>
          <a:xfrm>
            <a:off x="2103120" y="3575304"/>
            <a:ext cx="4572000" cy="0"/>
          </a:xfrm>
          <a:prstGeom prst="line">
            <a:avLst/>
          </a:prstGeom>
          <a:noFill/>
          <a:ln w="9525">
            <a:solidFill>
              <a:srgbClr val="5E7268"/>
            </a:solidFill>
            <a:prstDash val="dash"/>
          </a:ln>
        </p:spPr>
      </p:sp>
      <p:sp>
        <p:nvSpPr>
          <p:cNvPr id="11" name="Text 8"/>
          <p:cNvSpPr txBox="1"/>
          <p:nvPr/>
        </p:nvSpPr>
        <p:spPr>
          <a:xfrm>
            <a:off x="548640" y="3383280"/>
            <a:ext cx="1463040" cy="685800"/>
          </a:xfrm>
          <a:prstGeom prst="rect">
            <a:avLst/>
          </a:prstGeom>
          <a:noFill/>
          <a:ln/>
        </p:spPr>
        <p:txBody>
          <a:bodyPr wrap="square" lIns="0" tIns="0" rIns="0" bIns="0" rtlCol="0" anchor="ctr"/>
          <a:lstStyle/>
          <a:p>
            <a:pPr marL="0" indent="0" algn="r">
              <a:buNone/>
            </a:pPr>
            <a:r>
              <a:rPr lang="en-US" sz="1800" b="1" dirty="0">
                <a:solidFill>
                  <a:schemeClr val="tx2"/>
                </a:solidFill>
              </a:rPr>
              <a:t>S₁</a:t>
            </a:r>
            <a:endParaRPr lang="en-US" sz="1800" dirty="0"/>
          </a:p>
          <a:p>
            <a:pPr marL="0" indent="0" algn="r">
              <a:buNone/>
            </a:pPr>
            <a:r>
              <a:rPr lang="en-US" sz="1100" dirty="0">
                <a:solidFill>
                  <a:schemeClr val="tx1"/>
                </a:solidFill>
              </a:rPr>
              <a:t>lowest excited singlet</a:t>
            </a:r>
            <a:endParaRPr lang="en-US" sz="1800" dirty="0"/>
          </a:p>
        </p:txBody>
      </p:sp>
      <p:sp>
        <p:nvSpPr>
          <p:cNvPr id="12" name="energy level"/>
          <p:cNvSpPr/>
          <p:nvPr/>
        </p:nvSpPr>
        <p:spPr>
          <a:xfrm>
            <a:off x="2103120" y="2057400"/>
            <a:ext cx="4572000" cy="0"/>
          </a:xfrm>
          <a:prstGeom prst="line">
            <a:avLst/>
          </a:prstGeom>
          <a:noFill/>
          <a:ln w="38100">
            <a:solidFill>
              <a:srgbClr val="123D2E"/>
            </a:solidFill>
            <a:prstDash val="solid"/>
          </a:ln>
        </p:spPr>
      </p:sp>
      <p:sp>
        <p:nvSpPr>
          <p:cNvPr id="13" name="vibrational level"/>
          <p:cNvSpPr/>
          <p:nvPr/>
        </p:nvSpPr>
        <p:spPr>
          <a:xfrm>
            <a:off x="2103120" y="1947672"/>
            <a:ext cx="4572000" cy="0"/>
          </a:xfrm>
          <a:prstGeom prst="line">
            <a:avLst/>
          </a:prstGeom>
          <a:noFill/>
          <a:ln w="9525">
            <a:solidFill>
              <a:srgbClr val="5E7268"/>
            </a:solidFill>
            <a:prstDash val="dash"/>
          </a:ln>
        </p:spPr>
      </p:sp>
      <p:sp>
        <p:nvSpPr>
          <p:cNvPr id="14" name="vibrational level"/>
          <p:cNvSpPr/>
          <p:nvPr/>
        </p:nvSpPr>
        <p:spPr>
          <a:xfrm>
            <a:off x="2103120" y="1837944"/>
            <a:ext cx="4572000" cy="0"/>
          </a:xfrm>
          <a:prstGeom prst="line">
            <a:avLst/>
          </a:prstGeom>
          <a:noFill/>
          <a:ln w="9525">
            <a:solidFill>
              <a:srgbClr val="5E7268"/>
            </a:solidFill>
            <a:prstDash val="dash"/>
          </a:ln>
        </p:spPr>
      </p:sp>
      <p:sp>
        <p:nvSpPr>
          <p:cNvPr id="15" name="Text 12"/>
          <p:cNvSpPr txBox="1"/>
          <p:nvPr/>
        </p:nvSpPr>
        <p:spPr>
          <a:xfrm>
            <a:off x="548640" y="1645920"/>
            <a:ext cx="1463040" cy="685800"/>
          </a:xfrm>
          <a:prstGeom prst="rect">
            <a:avLst/>
          </a:prstGeom>
          <a:noFill/>
          <a:ln/>
        </p:spPr>
        <p:txBody>
          <a:bodyPr wrap="square" lIns="0" tIns="0" rIns="0" bIns="0" rtlCol="0" anchor="ctr"/>
          <a:lstStyle/>
          <a:p>
            <a:pPr marL="0" indent="0" algn="r">
              <a:buNone/>
            </a:pPr>
            <a:r>
              <a:rPr lang="en-US" sz="1800" b="1" dirty="0">
                <a:solidFill>
                  <a:schemeClr val="tx2"/>
                </a:solidFill>
              </a:rPr>
              <a:t>S₂</a:t>
            </a:r>
            <a:endParaRPr lang="en-US" sz="1800" dirty="0"/>
          </a:p>
          <a:p>
            <a:pPr marL="0" indent="0" algn="r">
              <a:buNone/>
            </a:pPr>
            <a:r>
              <a:rPr lang="en-US" sz="1100" dirty="0">
                <a:solidFill>
                  <a:schemeClr val="tx1"/>
                </a:solidFill>
              </a:rPr>
              <a:t>higher excited singlet</a:t>
            </a:r>
            <a:endParaRPr lang="en-US" sz="1800" dirty="0"/>
          </a:p>
        </p:txBody>
      </p:sp>
      <p:sp>
        <p:nvSpPr>
          <p:cNvPr id="16" name="triplet level"/>
          <p:cNvSpPr/>
          <p:nvPr/>
        </p:nvSpPr>
        <p:spPr>
          <a:xfrm>
            <a:off x="6035040" y="4526280"/>
            <a:ext cx="640080" cy="0"/>
          </a:xfrm>
          <a:prstGeom prst="line">
            <a:avLst/>
          </a:prstGeom>
          <a:noFill/>
          <a:ln w="38100">
            <a:solidFill>
              <a:srgbClr val="7B2D43"/>
            </a:solidFill>
            <a:prstDash val="solid"/>
          </a:ln>
        </p:spPr>
      </p:sp>
      <p:sp>
        <p:nvSpPr>
          <p:cNvPr id="17" name="Text 14"/>
          <p:cNvSpPr txBox="1"/>
          <p:nvPr/>
        </p:nvSpPr>
        <p:spPr>
          <a:xfrm>
            <a:off x="5989320" y="4553712"/>
            <a:ext cx="914400" cy="274320"/>
          </a:xfrm>
          <a:prstGeom prst="rect">
            <a:avLst/>
          </a:prstGeom>
          <a:noFill/>
          <a:ln/>
        </p:spPr>
        <p:txBody>
          <a:bodyPr wrap="square" lIns="0" tIns="0" rIns="0" bIns="0" rtlCol="0" anchor="ctr"/>
          <a:lstStyle/>
          <a:p>
            <a:pPr marL="0" indent="0" algn="l">
              <a:buNone/>
            </a:pPr>
            <a:r>
              <a:rPr lang="en-US" sz="1200" b="1" dirty="0">
                <a:solidFill>
                  <a:schemeClr val="accent4"/>
                </a:solidFill>
              </a:rPr>
              <a:t>T₁ triplet</a:t>
            </a:r>
            <a:endParaRPr lang="en-US" sz="1200" dirty="0"/>
          </a:p>
        </p:txBody>
      </p:sp>
      <p:sp>
        <p:nvSpPr>
          <p:cNvPr id="18" name="arrow"/>
          <p:cNvSpPr/>
          <p:nvPr/>
        </p:nvSpPr>
        <p:spPr>
          <a:xfrm flipV="1">
            <a:off x="2331720" y="1828800"/>
            <a:ext cx="0" cy="3886200"/>
          </a:xfrm>
          <a:prstGeom prst="line">
            <a:avLst/>
          </a:prstGeom>
          <a:noFill/>
          <a:ln w="38100">
            <a:solidFill>
              <a:srgbClr val="2B6A94"/>
            </a:solidFill>
            <a:prstDash val="solid"/>
            <a:tailEnd type="triangle"/>
          </a:ln>
        </p:spPr>
      </p:sp>
      <p:sp>
        <p:nvSpPr>
          <p:cNvPr id="19" name="Text 16"/>
          <p:cNvSpPr txBox="1"/>
          <p:nvPr/>
        </p:nvSpPr>
        <p:spPr>
          <a:xfrm>
            <a:off x="2423160" y="2377440"/>
            <a:ext cx="1188720" cy="548640"/>
          </a:xfrm>
          <a:prstGeom prst="rect">
            <a:avLst/>
          </a:prstGeom>
          <a:noFill/>
          <a:ln/>
        </p:spPr>
        <p:txBody>
          <a:bodyPr wrap="square" lIns="0" tIns="0" rIns="0" bIns="0" rtlCol="0" anchor="ctr"/>
          <a:lstStyle/>
          <a:p>
            <a:pPr marL="0" indent="0" algn="l">
              <a:buNone/>
            </a:pPr>
            <a:r>
              <a:rPr lang="en-US" sz="1100" b="1" dirty="0">
                <a:solidFill>
                  <a:schemeClr val="accent5"/>
                </a:solidFill>
              </a:rPr>
              <a:t>Blue absorption</a:t>
            </a:r>
            <a:endParaRPr lang="en-US" sz="1100" dirty="0"/>
          </a:p>
          <a:p>
            <a:pPr marL="0" indent="0" algn="l">
              <a:buNone/>
            </a:pPr>
            <a:r>
              <a:rPr lang="en-US" sz="1100" b="1" dirty="0">
                <a:solidFill>
                  <a:schemeClr val="accent5"/>
                </a:solidFill>
              </a:rPr>
              <a:t>~430–450 nm</a:t>
            </a:r>
            <a:endParaRPr lang="en-US" sz="1100" dirty="0"/>
          </a:p>
        </p:txBody>
      </p:sp>
      <p:sp>
        <p:nvSpPr>
          <p:cNvPr id="20" name="arrow"/>
          <p:cNvSpPr/>
          <p:nvPr/>
        </p:nvSpPr>
        <p:spPr>
          <a:xfrm flipV="1">
            <a:off x="3063240" y="3566160"/>
            <a:ext cx="0" cy="2148840"/>
          </a:xfrm>
          <a:prstGeom prst="line">
            <a:avLst/>
          </a:prstGeom>
          <a:noFill/>
          <a:ln w="38100">
            <a:solidFill>
              <a:srgbClr val="D62839"/>
            </a:solidFill>
            <a:prstDash val="solid"/>
            <a:tailEnd type="triangle"/>
          </a:ln>
        </p:spPr>
      </p:sp>
      <p:sp>
        <p:nvSpPr>
          <p:cNvPr id="21" name="Text 18"/>
          <p:cNvSpPr txBox="1"/>
          <p:nvPr/>
        </p:nvSpPr>
        <p:spPr>
          <a:xfrm>
            <a:off x="3154680" y="4206240"/>
            <a:ext cx="1097280" cy="548640"/>
          </a:xfrm>
          <a:prstGeom prst="rect">
            <a:avLst/>
          </a:prstGeom>
          <a:noFill/>
          <a:ln/>
        </p:spPr>
        <p:txBody>
          <a:bodyPr wrap="square" lIns="0" tIns="0" rIns="0" bIns="0" rtlCol="0" anchor="ctr"/>
          <a:lstStyle/>
          <a:p>
            <a:pPr marL="0" indent="0" algn="l">
              <a:buNone/>
            </a:pPr>
            <a:r>
              <a:rPr lang="en-US" sz="1100" b="1" dirty="0">
                <a:solidFill>
                  <a:schemeClr val="accent2"/>
                </a:solidFill>
              </a:rPr>
              <a:t>Red absorption</a:t>
            </a:r>
            <a:endParaRPr lang="en-US" sz="1100" dirty="0"/>
          </a:p>
          <a:p>
            <a:pPr marL="0" indent="0" algn="l">
              <a:buNone/>
            </a:pPr>
            <a:r>
              <a:rPr lang="en-US" sz="1100" b="1" dirty="0">
                <a:solidFill>
                  <a:schemeClr val="accent2"/>
                </a:solidFill>
              </a:rPr>
              <a:t>~660–680 nm</a:t>
            </a:r>
            <a:endParaRPr lang="en-US" sz="1100" dirty="0"/>
          </a:p>
        </p:txBody>
      </p:sp>
      <p:sp>
        <p:nvSpPr>
          <p:cNvPr id="22" name="arrow"/>
          <p:cNvSpPr/>
          <p:nvPr/>
        </p:nvSpPr>
        <p:spPr>
          <a:xfrm>
            <a:off x="3703320" y="2057400"/>
            <a:ext cx="0" cy="1719072"/>
          </a:xfrm>
          <a:prstGeom prst="line">
            <a:avLst/>
          </a:prstGeom>
          <a:noFill/>
          <a:ln w="25400">
            <a:solidFill>
              <a:srgbClr val="F2A900"/>
            </a:solidFill>
            <a:prstDash val="dash"/>
            <a:tailEnd type="triangle"/>
          </a:ln>
        </p:spPr>
      </p:sp>
      <p:sp>
        <p:nvSpPr>
          <p:cNvPr id="23" name="Text 20"/>
          <p:cNvSpPr txBox="1"/>
          <p:nvPr/>
        </p:nvSpPr>
        <p:spPr>
          <a:xfrm>
            <a:off x="3794760" y="2697480"/>
            <a:ext cx="1463040" cy="548640"/>
          </a:xfrm>
          <a:prstGeom prst="rect">
            <a:avLst/>
          </a:prstGeom>
          <a:noFill/>
          <a:ln/>
        </p:spPr>
        <p:txBody>
          <a:bodyPr wrap="square" lIns="0" tIns="0" rIns="0" bIns="0" rtlCol="0" anchor="ctr"/>
          <a:lstStyle/>
          <a:p>
            <a:pPr marL="0" indent="0" algn="l">
              <a:buNone/>
            </a:pPr>
            <a:r>
              <a:rPr lang="en-US" sz="1100" dirty="0">
                <a:solidFill>
                  <a:schemeClr val="tx1"/>
                </a:solidFill>
              </a:rPr>
              <a:t>Internal conversion</a:t>
            </a:r>
            <a:endParaRPr lang="en-US" sz="1100" dirty="0"/>
          </a:p>
          <a:p>
            <a:pPr marL="0" indent="0" algn="l">
              <a:buNone/>
            </a:pPr>
            <a:r>
              <a:rPr lang="en-US" sz="1100" dirty="0">
                <a:solidFill>
                  <a:schemeClr val="tx1"/>
                </a:solidFill>
              </a:rPr>
              <a:t>(heat, femtoseconds)</a:t>
            </a:r>
            <a:endParaRPr lang="en-US" sz="1100" dirty="0"/>
          </a:p>
        </p:txBody>
      </p:sp>
      <p:sp>
        <p:nvSpPr>
          <p:cNvPr id="24" name="arrow"/>
          <p:cNvSpPr/>
          <p:nvPr/>
        </p:nvSpPr>
        <p:spPr>
          <a:xfrm>
            <a:off x="4343400" y="3794760"/>
            <a:ext cx="0" cy="1920240"/>
          </a:xfrm>
          <a:prstGeom prst="line">
            <a:avLst/>
          </a:prstGeom>
          <a:noFill/>
          <a:ln w="38100">
            <a:solidFill>
              <a:srgbClr val="D62839"/>
            </a:solidFill>
            <a:prstDash val="solid"/>
            <a:tailEnd type="triangle"/>
          </a:ln>
        </p:spPr>
      </p:sp>
      <p:sp>
        <p:nvSpPr>
          <p:cNvPr id="25" name="Text 22"/>
          <p:cNvSpPr txBox="1"/>
          <p:nvPr/>
        </p:nvSpPr>
        <p:spPr>
          <a:xfrm>
            <a:off x="4434840" y="4754880"/>
            <a:ext cx="868680" cy="548640"/>
          </a:xfrm>
          <a:prstGeom prst="rect">
            <a:avLst/>
          </a:prstGeom>
          <a:noFill/>
          <a:ln/>
        </p:spPr>
        <p:txBody>
          <a:bodyPr wrap="square" lIns="0" tIns="0" rIns="0" bIns="0" rtlCol="0" anchor="ctr"/>
          <a:lstStyle/>
          <a:p>
            <a:pPr marL="0" indent="0" algn="l">
              <a:buNone/>
            </a:pPr>
            <a:r>
              <a:rPr lang="en-US" sz="1100" b="1" dirty="0">
                <a:solidFill>
                  <a:schemeClr val="accent2"/>
                </a:solidFill>
              </a:rPr>
              <a:t>Fluorescence</a:t>
            </a:r>
            <a:endParaRPr lang="en-US" sz="1100" dirty="0"/>
          </a:p>
          <a:p>
            <a:pPr marL="0" indent="0" algn="l">
              <a:buNone/>
            </a:pPr>
            <a:r>
              <a:rPr lang="en-US" sz="1100" b="1" dirty="0">
                <a:solidFill>
                  <a:schemeClr val="accent2"/>
                </a:solidFill>
              </a:rPr>
              <a:t>650–800 nm</a:t>
            </a:r>
            <a:endParaRPr lang="en-US" sz="1100" dirty="0"/>
          </a:p>
        </p:txBody>
      </p:sp>
      <p:sp>
        <p:nvSpPr>
          <p:cNvPr id="26" name="arrow"/>
          <p:cNvSpPr/>
          <p:nvPr/>
        </p:nvSpPr>
        <p:spPr>
          <a:xfrm>
            <a:off x="5394960" y="3794760"/>
            <a:ext cx="0" cy="1920240"/>
          </a:xfrm>
          <a:prstGeom prst="line">
            <a:avLst/>
          </a:prstGeom>
          <a:noFill/>
          <a:ln w="25400">
            <a:solidFill>
              <a:srgbClr val="F2A900"/>
            </a:solidFill>
            <a:prstDash val="dash"/>
            <a:tailEnd type="triangle"/>
          </a:ln>
        </p:spPr>
      </p:sp>
      <p:sp>
        <p:nvSpPr>
          <p:cNvPr id="27" name="Text 24"/>
          <p:cNvSpPr txBox="1"/>
          <p:nvPr/>
        </p:nvSpPr>
        <p:spPr>
          <a:xfrm>
            <a:off x="5486400" y="4937760"/>
            <a:ext cx="548640" cy="457200"/>
          </a:xfrm>
          <a:prstGeom prst="rect">
            <a:avLst/>
          </a:prstGeom>
          <a:noFill/>
          <a:ln/>
        </p:spPr>
        <p:txBody>
          <a:bodyPr wrap="square" lIns="0" tIns="0" rIns="0" bIns="0" rtlCol="0" anchor="ctr"/>
          <a:lstStyle/>
          <a:p>
            <a:pPr marL="0" indent="0" algn="l">
              <a:buNone/>
            </a:pPr>
            <a:r>
              <a:rPr lang="en-US" sz="1100" b="1" dirty="0">
                <a:solidFill>
                  <a:schemeClr val="tx1"/>
                </a:solidFill>
              </a:rPr>
              <a:t>Heat</a:t>
            </a:r>
            <a:endParaRPr lang="en-US" sz="1100" dirty="0"/>
          </a:p>
          <a:p>
            <a:pPr marL="0" indent="0" algn="l">
              <a:buNone/>
            </a:pPr>
            <a:r>
              <a:rPr lang="en-US" sz="1100" b="1" dirty="0">
                <a:solidFill>
                  <a:schemeClr val="tx1"/>
                </a:solidFill>
              </a:rPr>
              <a:t>(NPQ)</a:t>
            </a:r>
            <a:endParaRPr lang="en-US" sz="1100" dirty="0"/>
          </a:p>
        </p:txBody>
      </p:sp>
      <p:sp>
        <p:nvSpPr>
          <p:cNvPr id="28" name="arrow"/>
          <p:cNvSpPr/>
          <p:nvPr/>
        </p:nvSpPr>
        <p:spPr>
          <a:xfrm>
            <a:off x="5852160" y="3794760"/>
            <a:ext cx="320040" cy="713232"/>
          </a:xfrm>
          <a:prstGeom prst="line">
            <a:avLst/>
          </a:prstGeom>
          <a:noFill/>
          <a:ln w="25400">
            <a:solidFill>
              <a:srgbClr val="7B2D43"/>
            </a:solidFill>
            <a:prstDash val="solid"/>
            <a:tailEnd type="triangle"/>
          </a:ln>
        </p:spPr>
      </p:sp>
      <p:sp>
        <p:nvSpPr>
          <p:cNvPr id="29" name="Text 26"/>
          <p:cNvSpPr txBox="1"/>
          <p:nvPr/>
        </p:nvSpPr>
        <p:spPr>
          <a:xfrm>
            <a:off x="6080760" y="4846320"/>
            <a:ext cx="822960" cy="502920"/>
          </a:xfrm>
          <a:prstGeom prst="rect">
            <a:avLst/>
          </a:prstGeom>
          <a:noFill/>
          <a:ln/>
        </p:spPr>
        <p:txBody>
          <a:bodyPr wrap="square" lIns="0" tIns="0" rIns="0" bIns="0" rtlCol="0" anchor="t"/>
          <a:lstStyle/>
          <a:p>
            <a:pPr marL="0" indent="0" algn="l">
              <a:buNone/>
            </a:pPr>
            <a:r>
              <a:rPr lang="en-US" sz="900" i="1" dirty="0">
                <a:solidFill>
                  <a:schemeClr val="accent4"/>
                </a:solidFill>
              </a:rPr>
              <a:t>¹O₂ risk; quenched by carotenoids</a:t>
            </a:r>
            <a:endParaRPr lang="en-US" sz="900" dirty="0"/>
          </a:p>
        </p:txBody>
      </p:sp>
      <p:sp>
        <p:nvSpPr>
          <p:cNvPr id="30" name="arrow"/>
          <p:cNvSpPr/>
          <p:nvPr/>
        </p:nvSpPr>
        <p:spPr>
          <a:xfrm flipV="1">
            <a:off x="5760720" y="3154680"/>
            <a:ext cx="0" cy="594360"/>
          </a:xfrm>
          <a:prstGeom prst="line">
            <a:avLst/>
          </a:prstGeom>
          <a:noFill/>
          <a:ln w="38100">
            <a:solidFill>
              <a:srgbClr val="2E8B57"/>
            </a:solidFill>
            <a:prstDash val="solid"/>
            <a:tailEnd type="triangle"/>
          </a:ln>
        </p:spPr>
      </p:sp>
      <p:sp>
        <p:nvSpPr>
          <p:cNvPr id="31" name="diagram box"/>
          <p:cNvSpPr/>
          <p:nvPr/>
        </p:nvSpPr>
        <p:spPr>
          <a:xfrm>
            <a:off x="5212080" y="2651760"/>
            <a:ext cx="1463040" cy="475488"/>
          </a:xfrm>
          <a:prstGeom prst="roundRect">
            <a:avLst>
              <a:gd name="adj" fmla="val 15385"/>
            </a:avLst>
          </a:prstGeom>
          <a:solidFill>
            <a:schemeClr val="accent1"/>
          </a:solidFill>
          <a:ln/>
        </p:spPr>
      </p:sp>
      <p:sp>
        <p:nvSpPr>
          <p:cNvPr id="32" name="Text 29"/>
          <p:cNvSpPr txBox="1"/>
          <p:nvPr/>
        </p:nvSpPr>
        <p:spPr>
          <a:xfrm>
            <a:off x="5212080" y="2651760"/>
            <a:ext cx="1463040" cy="475488"/>
          </a:xfrm>
          <a:prstGeom prst="rect">
            <a:avLst/>
          </a:prstGeom>
          <a:noFill/>
          <a:ln/>
        </p:spPr>
        <p:txBody>
          <a:bodyPr wrap="square" lIns="508" tIns="508" rIns="508" bIns="508" rtlCol="0" anchor="ctr"/>
          <a:lstStyle/>
          <a:p>
            <a:pPr marL="0" indent="0" algn="ctr">
              <a:buNone/>
            </a:pPr>
            <a:r>
              <a:rPr lang="en-US" sz="1200" b="1" dirty="0">
                <a:solidFill>
                  <a:schemeClr val="bg1"/>
                </a:solidFill>
              </a:rPr>
              <a:t>Photochemistry</a:t>
            </a:r>
            <a:endParaRPr lang="en-US" sz="1200" dirty="0"/>
          </a:p>
        </p:txBody>
      </p:sp>
      <p:sp>
        <p:nvSpPr>
          <p:cNvPr id="33" name="card"/>
          <p:cNvSpPr/>
          <p:nvPr/>
        </p:nvSpPr>
        <p:spPr>
          <a:xfrm>
            <a:off x="6949440" y="1325880"/>
            <a:ext cx="4690872"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34" name="Text 31"/>
          <p:cNvSpPr txBox="1"/>
          <p:nvPr/>
        </p:nvSpPr>
        <p:spPr>
          <a:xfrm>
            <a:off x="7132320" y="1463040"/>
            <a:ext cx="4370832" cy="365760"/>
          </a:xfrm>
          <a:prstGeom prst="rect">
            <a:avLst/>
          </a:prstGeom>
          <a:noFill/>
          <a:ln/>
        </p:spPr>
        <p:txBody>
          <a:bodyPr wrap="square" lIns="0" tIns="0" rIns="0" bIns="0" rtlCol="0" anchor="ctr"/>
          <a:lstStyle/>
          <a:p>
            <a:pPr marL="0" indent="0">
              <a:buNone/>
            </a:pPr>
            <a:r>
              <a:rPr lang="en-US" sz="1600" b="1" dirty="0">
                <a:solidFill>
                  <a:schemeClr val="tx2"/>
                </a:solidFill>
              </a:rPr>
              <a:t>Three rules that clear most doubts</a:t>
            </a:r>
            <a:endParaRPr lang="en-US" sz="1600" dirty="0"/>
          </a:p>
        </p:txBody>
      </p:sp>
      <p:sp>
        <p:nvSpPr>
          <p:cNvPr id="35" name="Text 32"/>
          <p:cNvSpPr txBox="1"/>
          <p:nvPr/>
        </p:nvSpPr>
        <p:spPr>
          <a:xfrm>
            <a:off x="7132320" y="1874520"/>
            <a:ext cx="4325112"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Excitation colour does not matter: everything relaxes to </a:t>
            </a:r>
            <a:r>
              <a:rPr lang="en-US" sz="1300" b="1" dirty="0">
                <a:solidFill>
                  <a:schemeClr val="tx1"/>
                </a:solidFill>
              </a:rPr>
              <a:t>S₁</a:t>
            </a:r>
            <a:r>
              <a:rPr lang="en-US" sz="1300" dirty="0">
                <a:solidFill>
                  <a:schemeClr val="tx1"/>
                </a:solidFill>
              </a:rPr>
              <a:t> first, so emission is always red/far-red (Kasha's rule)</a:t>
            </a:r>
            <a:endParaRPr lang="en-US" sz="1300" dirty="0"/>
          </a:p>
          <a:p>
            <a:pPr marL="177800" indent="-177800">
              <a:spcAft>
                <a:spcPts val="400"/>
              </a:spcAft>
              <a:buSzPct val="100000"/>
              <a:buChar char="•"/>
            </a:pPr>
            <a:r>
              <a:rPr lang="en-US" sz="1300" dirty="0">
                <a:solidFill>
                  <a:schemeClr val="tx1"/>
                </a:solidFill>
              </a:rPr>
              <a:t>Emission is at longer wavelength than absorption (</a:t>
            </a:r>
            <a:r>
              <a:rPr lang="en-US" sz="1300" b="1" dirty="0">
                <a:solidFill>
                  <a:schemeClr val="tx1"/>
                </a:solidFill>
              </a:rPr>
              <a:t>Stokes shift</a:t>
            </a:r>
            <a:r>
              <a:rPr lang="en-US" sz="1300" dirty="0">
                <a:solidFill>
                  <a:schemeClr val="tx1"/>
                </a:solidFill>
              </a:rPr>
              <a:t>)</a:t>
            </a:r>
            <a:endParaRPr lang="en-US" sz="1300" dirty="0"/>
          </a:p>
          <a:p>
            <a:pPr marL="177800" indent="-177800">
              <a:spcAft>
                <a:spcPts val="400"/>
              </a:spcAft>
              <a:buSzPct val="100000"/>
              <a:buChar char="•"/>
            </a:pPr>
            <a:r>
              <a:rPr lang="en-US" sz="1300" dirty="0">
                <a:solidFill>
                  <a:schemeClr val="tx1"/>
                </a:solidFill>
              </a:rPr>
              <a:t>Processes from S₁ </a:t>
            </a:r>
            <a:r>
              <a:rPr lang="en-US" sz="1300" b="1" dirty="0">
                <a:solidFill>
                  <a:schemeClr val="tx1"/>
                </a:solidFill>
              </a:rPr>
              <a:t>compete</a:t>
            </a:r>
            <a:r>
              <a:rPr lang="en-US" sz="1300" dirty="0">
                <a:solidFill>
                  <a:schemeClr val="tx1"/>
                </a:solidFill>
              </a:rPr>
              <a:t>: the faster one route is, the less goes to the others</a:t>
            </a:r>
            <a:endParaRPr lang="en-US" sz="1300" dirty="0"/>
          </a:p>
        </p:txBody>
      </p:sp>
      <p:sp>
        <p:nvSpPr>
          <p:cNvPr id="36" name="card"/>
          <p:cNvSpPr/>
          <p:nvPr/>
        </p:nvSpPr>
        <p:spPr>
          <a:xfrm>
            <a:off x="6949440" y="3703320"/>
            <a:ext cx="4690872" cy="2468880"/>
          </a:xfrm>
          <a:prstGeom prst="roundRect">
            <a:avLst>
              <a:gd name="adj" fmla="val 2963"/>
            </a:avLst>
          </a:prstGeom>
          <a:solidFill>
            <a:schemeClr val="bg2"/>
          </a:solidFill>
          <a:ln/>
          <a:effectLst>
            <a:outerShdw blurRad="76200" dist="25400" dir="5400000" algn="bl" rotWithShape="0">
              <a:srgbClr val="000000">
                <a:alpha val="14000"/>
              </a:srgbClr>
            </a:outerShdw>
          </a:effectLst>
        </p:spPr>
      </p:sp>
      <p:sp>
        <p:nvSpPr>
          <p:cNvPr id="37" name="Text 34"/>
          <p:cNvSpPr txBox="1"/>
          <p:nvPr/>
        </p:nvSpPr>
        <p:spPr>
          <a:xfrm>
            <a:off x="7132320" y="3840480"/>
            <a:ext cx="4370832" cy="365760"/>
          </a:xfrm>
          <a:prstGeom prst="rect">
            <a:avLst/>
          </a:prstGeom>
          <a:noFill/>
          <a:ln/>
        </p:spPr>
        <p:txBody>
          <a:bodyPr wrap="square" lIns="0" tIns="0" rIns="0" bIns="0" rtlCol="0" anchor="ctr"/>
          <a:lstStyle/>
          <a:p>
            <a:pPr marL="0" indent="0">
              <a:buNone/>
            </a:pPr>
            <a:r>
              <a:rPr lang="en-US" sz="1600" b="1" dirty="0">
                <a:solidFill>
                  <a:schemeClr val="tx2"/>
                </a:solidFill>
              </a:rPr>
              <a:t>Numbers worth remembering</a:t>
            </a:r>
            <a:endParaRPr lang="en-US" sz="1600" dirty="0"/>
          </a:p>
        </p:txBody>
      </p:sp>
      <p:sp>
        <p:nvSpPr>
          <p:cNvPr id="38" name="Text 35"/>
          <p:cNvSpPr txBox="1"/>
          <p:nvPr/>
        </p:nvSpPr>
        <p:spPr>
          <a:xfrm>
            <a:off x="7132320" y="4251960"/>
            <a:ext cx="4325112" cy="18288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Fluorescence quantum yield in vivo: typically </a:t>
            </a:r>
            <a:r>
              <a:rPr lang="en-US" sz="1300" b="1" dirty="0">
                <a:solidFill>
                  <a:schemeClr val="tx1"/>
                </a:solidFill>
              </a:rPr>
              <a:t>0.5–3 %</a:t>
            </a:r>
            <a:r>
              <a:rPr lang="en-US" sz="1300" dirty="0">
                <a:solidFill>
                  <a:schemeClr val="tx1"/>
                </a:solidFill>
              </a:rPr>
              <a:t> (always &lt;10 %)</a:t>
            </a:r>
            <a:endParaRPr lang="en-US" sz="1300" dirty="0"/>
          </a:p>
          <a:p>
            <a:pPr marL="177800" indent="-177800">
              <a:spcAft>
                <a:spcPts val="400"/>
              </a:spcAft>
              <a:buSzPct val="100000"/>
              <a:buChar char="•"/>
            </a:pPr>
            <a:r>
              <a:rPr lang="en-US" sz="1300" dirty="0">
                <a:solidFill>
                  <a:schemeClr val="tx1"/>
                </a:solidFill>
              </a:rPr>
              <a:t>Fluorescence lifetime: </a:t>
            </a:r>
            <a:r>
              <a:rPr lang="en-US" sz="1300" b="1" dirty="0">
                <a:solidFill>
                  <a:schemeClr val="tx1"/>
                </a:solidFill>
              </a:rPr>
              <a:t>tens to hundreds of picoseconds</a:t>
            </a:r>
            <a:endParaRPr lang="en-US" sz="1300" dirty="0"/>
          </a:p>
          <a:p>
            <a:pPr marL="177800" indent="-177800">
              <a:spcAft>
                <a:spcPts val="400"/>
              </a:spcAft>
              <a:buSzPct val="100000"/>
              <a:buChar char="•"/>
            </a:pPr>
            <a:r>
              <a:rPr lang="en-US" sz="1300" dirty="0">
                <a:solidFill>
                  <a:schemeClr val="tx1"/>
                </a:solidFill>
              </a:rPr>
              <a:t>Emission peaks: </a:t>
            </a:r>
            <a:r>
              <a:rPr lang="en-US" sz="1300" b="1" dirty="0">
                <a:solidFill>
                  <a:schemeClr val="tx1"/>
                </a:solidFill>
              </a:rPr>
              <a:t>F</a:t>
            </a:r>
            <a:r>
              <a:rPr lang="en-US" sz="1300" b="1" baseline="-40000" dirty="0">
                <a:solidFill>
                  <a:schemeClr val="tx1"/>
                </a:solidFill>
              </a:rPr>
              <a:t>685</a:t>
            </a:r>
            <a:r>
              <a:rPr lang="en-US" sz="1300" dirty="0">
                <a:solidFill>
                  <a:schemeClr val="tx1"/>
                </a:solidFill>
              </a:rPr>
              <a:t> (PSII) and </a:t>
            </a:r>
            <a:r>
              <a:rPr lang="en-US" sz="1300" b="1" dirty="0">
                <a:solidFill>
                  <a:schemeClr val="tx1"/>
                </a:solidFill>
              </a:rPr>
              <a:t>F</a:t>
            </a:r>
            <a:r>
              <a:rPr lang="en-US" sz="1300" b="1" baseline="-40000" dirty="0">
                <a:solidFill>
                  <a:schemeClr val="tx1"/>
                </a:solidFill>
              </a:rPr>
              <a:t>740</a:t>
            </a:r>
            <a:r>
              <a:rPr lang="en-US" sz="1300" dirty="0">
                <a:solidFill>
                  <a:schemeClr val="tx1"/>
                </a:solidFill>
              </a:rPr>
              <a:t> (PSII + PSI)</a:t>
            </a:r>
            <a:endParaRPr lang="en-US" sz="1300" dirty="0"/>
          </a:p>
          <a:p>
            <a:pPr marL="177800" indent="-177800">
              <a:spcAft>
                <a:spcPts val="400"/>
              </a:spcAft>
              <a:buSzPct val="100000"/>
              <a:buChar char="•"/>
            </a:pPr>
            <a:r>
              <a:rPr lang="en-US" sz="1300" dirty="0">
                <a:solidFill>
                  <a:schemeClr val="tx1"/>
                </a:solidFill>
              </a:rPr>
              <a:t>Charge separation in an open PSII centre is very fast, so photochemistry normally wins</a:t>
            </a:r>
            <a:endParaRPr lang="en-US" sz="13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Three competing fates of absorbed light energy</a:t>
            </a:r>
            <a:endParaRPr lang="en-US" sz="3200" dirty="0"/>
          </a:p>
        </p:txBody>
      </p:sp>
      <p:sp>
        <p:nvSpPr>
          <p:cNvPr id="4" name="icon circle"/>
          <p:cNvSpPr/>
          <p:nvPr/>
        </p:nvSpPr>
        <p:spPr>
          <a:xfrm>
            <a:off x="731520" y="2514600"/>
            <a:ext cx="1005840" cy="1005840"/>
          </a:xfrm>
          <a:prstGeom prst="ellipse">
            <a:avLst/>
          </a:prstGeom>
          <a:solidFill>
            <a:schemeClr val="accent3"/>
          </a:solidFill>
          <a:ln/>
        </p:spPr>
      </p:sp>
      <p:pic>
        <p:nvPicPr>
          <p:cNvPr id="5" name="Image 0" descr="Sun icon"/>
          <p:cNvPicPr>
            <a:picLocks noChangeAspect="1"/>
          </p:cNvPicPr>
          <p:nvPr/>
        </p:nvPicPr>
        <p:blipFill>
          <a:blip r:embed="rId3"/>
          <a:stretch>
            <a:fillRect/>
          </a:stretch>
        </p:blipFill>
        <p:spPr>
          <a:xfrm>
            <a:off x="993038" y="2776118"/>
            <a:ext cx="482803" cy="482803"/>
          </a:xfrm>
          <a:prstGeom prst="rect">
            <a:avLst/>
          </a:prstGeom>
        </p:spPr>
      </p:pic>
      <p:sp>
        <p:nvSpPr>
          <p:cNvPr id="6" name="Text 2"/>
          <p:cNvSpPr txBox="1"/>
          <p:nvPr/>
        </p:nvSpPr>
        <p:spPr>
          <a:xfrm>
            <a:off x="502920" y="3611880"/>
            <a:ext cx="1463040" cy="320040"/>
          </a:xfrm>
          <a:prstGeom prst="rect">
            <a:avLst/>
          </a:prstGeom>
          <a:noFill/>
          <a:ln/>
        </p:spPr>
        <p:txBody>
          <a:bodyPr wrap="square" lIns="0" tIns="0" rIns="0" bIns="0" rtlCol="0" anchor="ctr"/>
          <a:lstStyle/>
          <a:p>
            <a:pPr marL="0" indent="0" algn="ctr">
              <a:buNone/>
            </a:pPr>
            <a:r>
              <a:rPr lang="en-US" sz="1300" b="1" dirty="0">
                <a:solidFill>
                  <a:schemeClr val="tx1"/>
                </a:solidFill>
              </a:rPr>
              <a:t>Absorbed photon</a:t>
            </a:r>
            <a:endParaRPr lang="en-US" sz="1300" dirty="0"/>
          </a:p>
        </p:txBody>
      </p:sp>
      <p:sp>
        <p:nvSpPr>
          <p:cNvPr id="7" name="arrow"/>
          <p:cNvSpPr/>
          <p:nvPr/>
        </p:nvSpPr>
        <p:spPr>
          <a:xfrm>
            <a:off x="1828800" y="3017520"/>
            <a:ext cx="868680" cy="0"/>
          </a:xfrm>
          <a:prstGeom prst="line">
            <a:avLst/>
          </a:prstGeom>
          <a:noFill/>
          <a:ln w="38100">
            <a:solidFill>
              <a:srgbClr val="5E7268"/>
            </a:solidFill>
            <a:prstDash val="solid"/>
            <a:tailEnd type="triangle"/>
          </a:ln>
        </p:spPr>
      </p:sp>
      <p:sp>
        <p:nvSpPr>
          <p:cNvPr id="8" name="excited chlorophyll"/>
          <p:cNvSpPr/>
          <p:nvPr/>
        </p:nvSpPr>
        <p:spPr>
          <a:xfrm>
            <a:off x="2743200" y="2331720"/>
            <a:ext cx="1371600" cy="1371600"/>
          </a:xfrm>
          <a:prstGeom prst="ellipse">
            <a:avLst/>
          </a:prstGeom>
          <a:solidFill>
            <a:schemeClr val="tx2"/>
          </a:solidFill>
          <a:ln/>
        </p:spPr>
      </p:sp>
      <p:sp>
        <p:nvSpPr>
          <p:cNvPr id="9" name="Text 5"/>
          <p:cNvSpPr txBox="1"/>
          <p:nvPr/>
        </p:nvSpPr>
        <p:spPr>
          <a:xfrm>
            <a:off x="2743200" y="2514600"/>
            <a:ext cx="1371600" cy="640080"/>
          </a:xfrm>
          <a:prstGeom prst="rect">
            <a:avLst/>
          </a:prstGeom>
          <a:noFill/>
          <a:ln/>
        </p:spPr>
        <p:txBody>
          <a:bodyPr wrap="square" lIns="0" tIns="0" rIns="0" bIns="0" rtlCol="0" anchor="ctr"/>
          <a:lstStyle/>
          <a:p>
            <a:pPr marL="0" indent="0" algn="ctr">
              <a:buNone/>
            </a:pPr>
            <a:r>
              <a:rPr lang="en-US" sz="2600" b="1" dirty="0">
                <a:solidFill>
                  <a:schemeClr val="bg1"/>
                </a:solidFill>
              </a:rPr>
              <a:t>Chl∗</a:t>
            </a:r>
            <a:endParaRPr lang="en-US" sz="2600" dirty="0"/>
          </a:p>
        </p:txBody>
      </p:sp>
      <p:sp>
        <p:nvSpPr>
          <p:cNvPr id="10" name="Text 6"/>
          <p:cNvSpPr txBox="1"/>
          <p:nvPr/>
        </p:nvSpPr>
        <p:spPr>
          <a:xfrm>
            <a:off x="2743200" y="3108960"/>
            <a:ext cx="1371600" cy="320040"/>
          </a:xfrm>
          <a:prstGeom prst="rect">
            <a:avLst/>
          </a:prstGeom>
          <a:noFill/>
          <a:ln/>
        </p:spPr>
        <p:txBody>
          <a:bodyPr wrap="square" lIns="0" tIns="0" rIns="0" bIns="0" rtlCol="0" anchor="ctr"/>
          <a:lstStyle/>
          <a:p>
            <a:pPr marL="0" indent="0" algn="ctr">
              <a:buNone/>
            </a:pPr>
            <a:r>
              <a:rPr lang="en-US" sz="1200" dirty="0">
                <a:solidFill>
                  <a:schemeClr val="bg2"/>
                </a:solidFill>
              </a:rPr>
              <a:t>excited</a:t>
            </a:r>
            <a:endParaRPr lang="en-US" sz="1200" dirty="0"/>
          </a:p>
        </p:txBody>
      </p:sp>
      <p:sp>
        <p:nvSpPr>
          <p:cNvPr id="11" name="arrow"/>
          <p:cNvSpPr/>
          <p:nvPr/>
        </p:nvSpPr>
        <p:spPr>
          <a:xfrm flipV="1">
            <a:off x="4114800" y="1874520"/>
            <a:ext cx="777240" cy="1143000"/>
          </a:xfrm>
          <a:prstGeom prst="line">
            <a:avLst/>
          </a:prstGeom>
          <a:noFill/>
          <a:ln w="38100">
            <a:solidFill>
              <a:srgbClr val="2E8B57"/>
            </a:solidFill>
            <a:prstDash val="solid"/>
            <a:tailEnd type="triangle"/>
          </a:ln>
        </p:spPr>
      </p:sp>
      <p:sp>
        <p:nvSpPr>
          <p:cNvPr id="12" name="fate box"/>
          <p:cNvSpPr/>
          <p:nvPr/>
        </p:nvSpPr>
        <p:spPr>
          <a:xfrm>
            <a:off x="4937760" y="1371600"/>
            <a:ext cx="3291840" cy="1051560"/>
          </a:xfrm>
          <a:prstGeom prst="roundRect">
            <a:avLst>
              <a:gd name="adj" fmla="val 6957"/>
            </a:avLst>
          </a:prstGeom>
          <a:solidFill>
            <a:schemeClr val="accent1"/>
          </a:solidFill>
          <a:ln/>
        </p:spPr>
      </p:sp>
      <p:sp>
        <p:nvSpPr>
          <p:cNvPr id="13" name="Text 9"/>
          <p:cNvSpPr txBox="1"/>
          <p:nvPr/>
        </p:nvSpPr>
        <p:spPr>
          <a:xfrm>
            <a:off x="5029200" y="1417320"/>
            <a:ext cx="3108960" cy="960120"/>
          </a:xfrm>
          <a:prstGeom prst="rect">
            <a:avLst/>
          </a:prstGeom>
          <a:noFill/>
          <a:ln/>
        </p:spPr>
        <p:txBody>
          <a:bodyPr wrap="square" lIns="0" tIns="0" rIns="0" bIns="0" rtlCol="0" anchor="ctr"/>
          <a:lstStyle/>
          <a:p>
            <a:pPr marL="0" indent="0">
              <a:buNone/>
            </a:pPr>
            <a:r>
              <a:rPr lang="en-US" sz="1500" b="1" dirty="0">
                <a:solidFill>
                  <a:schemeClr val="bg1"/>
                </a:solidFill>
              </a:rPr>
              <a:t>① Photochemistry  </a:t>
            </a:r>
            <a:r>
              <a:rPr lang="en-US" sz="1200" i="1" dirty="0">
                <a:solidFill>
                  <a:schemeClr val="bg1"/>
                </a:solidFill>
              </a:rPr>
              <a:t>rate k</a:t>
            </a:r>
            <a:r>
              <a:rPr lang="en-US" sz="1200" i="1" baseline="-40000" dirty="0">
                <a:solidFill>
                  <a:schemeClr val="bg1"/>
                </a:solidFill>
              </a:rPr>
              <a:t>P</a:t>
            </a:r>
            <a:endParaRPr lang="en-US" sz="1500" dirty="0"/>
          </a:p>
          <a:p>
            <a:pPr marL="0" indent="0">
              <a:buNone/>
            </a:pPr>
            <a:r>
              <a:rPr lang="en-US" sz="1200" dirty="0">
                <a:solidFill>
                  <a:schemeClr val="bg1"/>
                </a:solidFill>
              </a:rPr>
              <a:t>Drives charge separation in PSII → electron transport → ATP + NADPH → CO₂ assimilation</a:t>
            </a:r>
            <a:endParaRPr lang="en-US" sz="1500" dirty="0"/>
          </a:p>
        </p:txBody>
      </p:sp>
      <p:sp>
        <p:nvSpPr>
          <p:cNvPr id="14" name="arrow"/>
          <p:cNvSpPr/>
          <p:nvPr/>
        </p:nvSpPr>
        <p:spPr>
          <a:xfrm>
            <a:off x="4114800" y="3017520"/>
            <a:ext cx="777240" cy="228600"/>
          </a:xfrm>
          <a:prstGeom prst="line">
            <a:avLst/>
          </a:prstGeom>
          <a:noFill/>
          <a:ln w="38100">
            <a:solidFill>
              <a:srgbClr val="F2A900"/>
            </a:solidFill>
            <a:prstDash val="solid"/>
            <a:tailEnd type="triangle"/>
          </a:ln>
        </p:spPr>
      </p:sp>
      <p:sp>
        <p:nvSpPr>
          <p:cNvPr id="15" name="fate box"/>
          <p:cNvSpPr/>
          <p:nvPr/>
        </p:nvSpPr>
        <p:spPr>
          <a:xfrm>
            <a:off x="4937760" y="2743200"/>
            <a:ext cx="3291840" cy="1051560"/>
          </a:xfrm>
          <a:prstGeom prst="roundRect">
            <a:avLst>
              <a:gd name="adj" fmla="val 6957"/>
            </a:avLst>
          </a:prstGeom>
          <a:solidFill>
            <a:schemeClr val="accent3"/>
          </a:solidFill>
          <a:ln/>
        </p:spPr>
      </p:sp>
      <p:sp>
        <p:nvSpPr>
          <p:cNvPr id="16" name="Text 12"/>
          <p:cNvSpPr txBox="1"/>
          <p:nvPr/>
        </p:nvSpPr>
        <p:spPr>
          <a:xfrm>
            <a:off x="5029200" y="2788920"/>
            <a:ext cx="3108960" cy="960120"/>
          </a:xfrm>
          <a:prstGeom prst="rect">
            <a:avLst/>
          </a:prstGeom>
          <a:noFill/>
          <a:ln/>
        </p:spPr>
        <p:txBody>
          <a:bodyPr wrap="square" lIns="0" tIns="0" rIns="0" bIns="0" rtlCol="0" anchor="ctr"/>
          <a:lstStyle/>
          <a:p>
            <a:pPr marL="0" indent="0">
              <a:buNone/>
            </a:pPr>
            <a:r>
              <a:rPr lang="en-US" sz="1500" b="1" dirty="0">
                <a:solidFill>
                  <a:schemeClr val="bg1"/>
                </a:solidFill>
              </a:rPr>
              <a:t>② Heat (NPQ)  </a:t>
            </a:r>
            <a:r>
              <a:rPr lang="en-US" sz="1200" i="1" dirty="0">
                <a:solidFill>
                  <a:schemeClr val="bg1"/>
                </a:solidFill>
              </a:rPr>
              <a:t>rate k</a:t>
            </a:r>
            <a:r>
              <a:rPr lang="en-US" sz="1200" i="1" baseline="-40000" dirty="0">
                <a:solidFill>
                  <a:schemeClr val="bg1"/>
                </a:solidFill>
              </a:rPr>
              <a:t>N</a:t>
            </a:r>
            <a:endParaRPr lang="en-US" sz="1500" dirty="0"/>
          </a:p>
          <a:p>
            <a:pPr marL="0" indent="0">
              <a:buNone/>
            </a:pPr>
            <a:r>
              <a:rPr lang="en-US" sz="1200" dirty="0">
                <a:solidFill>
                  <a:schemeClr val="bg1"/>
                </a:solidFill>
              </a:rPr>
              <a:t>Safe dissipation of excess energy; photoprotective (ΔpH, PsbS, zeaxanthin)</a:t>
            </a:r>
            <a:endParaRPr lang="en-US" sz="1500" dirty="0"/>
          </a:p>
        </p:txBody>
      </p:sp>
      <p:sp>
        <p:nvSpPr>
          <p:cNvPr id="17" name="arrow"/>
          <p:cNvSpPr/>
          <p:nvPr/>
        </p:nvSpPr>
        <p:spPr>
          <a:xfrm>
            <a:off x="4114800" y="3017520"/>
            <a:ext cx="777240" cy="1600200"/>
          </a:xfrm>
          <a:prstGeom prst="line">
            <a:avLst/>
          </a:prstGeom>
          <a:noFill/>
          <a:ln w="38100">
            <a:solidFill>
              <a:srgbClr val="D62839"/>
            </a:solidFill>
            <a:prstDash val="solid"/>
            <a:tailEnd type="triangle"/>
          </a:ln>
        </p:spPr>
      </p:sp>
      <p:sp>
        <p:nvSpPr>
          <p:cNvPr id="18" name="fate box"/>
          <p:cNvSpPr/>
          <p:nvPr/>
        </p:nvSpPr>
        <p:spPr>
          <a:xfrm>
            <a:off x="4937760" y="4114800"/>
            <a:ext cx="3291840" cy="1051560"/>
          </a:xfrm>
          <a:prstGeom prst="roundRect">
            <a:avLst>
              <a:gd name="adj" fmla="val 6957"/>
            </a:avLst>
          </a:prstGeom>
          <a:solidFill>
            <a:schemeClr val="accent2"/>
          </a:solidFill>
          <a:ln/>
        </p:spPr>
      </p:sp>
      <p:sp>
        <p:nvSpPr>
          <p:cNvPr id="19" name="Text 15"/>
          <p:cNvSpPr txBox="1"/>
          <p:nvPr/>
        </p:nvSpPr>
        <p:spPr>
          <a:xfrm>
            <a:off x="5029200" y="4160520"/>
            <a:ext cx="3108960" cy="960120"/>
          </a:xfrm>
          <a:prstGeom prst="rect">
            <a:avLst/>
          </a:prstGeom>
          <a:noFill/>
          <a:ln/>
        </p:spPr>
        <p:txBody>
          <a:bodyPr wrap="square" lIns="0" tIns="0" rIns="0" bIns="0" rtlCol="0" anchor="ctr"/>
          <a:lstStyle/>
          <a:p>
            <a:pPr marL="0" indent="0">
              <a:buNone/>
            </a:pPr>
            <a:r>
              <a:rPr lang="en-US" sz="1500" b="1" dirty="0">
                <a:solidFill>
                  <a:schemeClr val="bg1"/>
                </a:solidFill>
              </a:rPr>
              <a:t>③ Fluorescence  </a:t>
            </a:r>
            <a:r>
              <a:rPr lang="en-US" sz="1200" i="1" dirty="0">
                <a:solidFill>
                  <a:schemeClr val="bg1"/>
                </a:solidFill>
              </a:rPr>
              <a:t>rate k</a:t>
            </a:r>
            <a:r>
              <a:rPr lang="en-US" sz="1200" i="1" baseline="-40000" dirty="0">
                <a:solidFill>
                  <a:schemeClr val="bg1"/>
                </a:solidFill>
              </a:rPr>
              <a:t>F</a:t>
            </a:r>
            <a:endParaRPr lang="en-US" sz="1500" dirty="0"/>
          </a:p>
          <a:p>
            <a:pPr marL="0" indent="0">
              <a:buNone/>
            </a:pPr>
            <a:r>
              <a:rPr lang="en-US" sz="1200" dirty="0">
                <a:solidFill>
                  <a:schemeClr val="bg1"/>
                </a:solidFill>
              </a:rPr>
              <a:t>Re-emitted as red / far-red light (650–800 nm); the part we measure</a:t>
            </a:r>
            <a:endParaRPr lang="en-US" sz="1500" dirty="0"/>
          </a:p>
        </p:txBody>
      </p:sp>
      <p:sp>
        <p:nvSpPr>
          <p:cNvPr id="20" name="card"/>
          <p:cNvSpPr/>
          <p:nvPr/>
        </p:nvSpPr>
        <p:spPr>
          <a:xfrm>
            <a:off x="8549640" y="1371600"/>
            <a:ext cx="3090672" cy="3794760"/>
          </a:xfrm>
          <a:prstGeom prst="roundRect">
            <a:avLst>
              <a:gd name="adj" fmla="val 2367"/>
            </a:avLst>
          </a:prstGeom>
          <a:solidFill>
            <a:schemeClr val="bg2"/>
          </a:solidFill>
          <a:ln/>
          <a:effectLst>
            <a:outerShdw blurRad="76200" dist="25400" dir="5400000" algn="bl" rotWithShape="0">
              <a:srgbClr val="000000">
                <a:alpha val="14000"/>
              </a:srgbClr>
            </a:outerShdw>
          </a:effectLst>
        </p:spPr>
      </p:sp>
      <p:sp>
        <p:nvSpPr>
          <p:cNvPr id="21" name="Text 17"/>
          <p:cNvSpPr txBox="1"/>
          <p:nvPr/>
        </p:nvSpPr>
        <p:spPr>
          <a:xfrm>
            <a:off x="8732520" y="1508760"/>
            <a:ext cx="2770632" cy="365760"/>
          </a:xfrm>
          <a:prstGeom prst="rect">
            <a:avLst/>
          </a:prstGeom>
          <a:noFill/>
          <a:ln/>
        </p:spPr>
        <p:txBody>
          <a:bodyPr wrap="square" lIns="0" tIns="0" rIns="0" bIns="0" rtlCol="0" anchor="ctr"/>
          <a:lstStyle/>
          <a:p>
            <a:pPr marL="0" indent="0">
              <a:buNone/>
            </a:pPr>
            <a:r>
              <a:rPr lang="en-US" sz="1600" b="1" dirty="0">
                <a:solidFill>
                  <a:schemeClr val="tx2"/>
                </a:solidFill>
              </a:rPr>
              <a:t>The competition rule</a:t>
            </a:r>
            <a:endParaRPr lang="en-US" sz="1600" dirty="0"/>
          </a:p>
        </p:txBody>
      </p:sp>
      <p:sp>
        <p:nvSpPr>
          <p:cNvPr id="22" name="Text 18"/>
          <p:cNvSpPr txBox="1"/>
          <p:nvPr/>
        </p:nvSpPr>
        <p:spPr>
          <a:xfrm>
            <a:off x="8732520" y="1920240"/>
            <a:ext cx="2724912" cy="3154680"/>
          </a:xfrm>
          <a:prstGeom prst="rect">
            <a:avLst/>
          </a:prstGeom>
          <a:noFill/>
          <a:ln/>
        </p:spPr>
        <p:txBody>
          <a:bodyPr wrap="square" lIns="508" tIns="508" rIns="508" bIns="508" rtlCol="0" anchor="t"/>
          <a:lstStyle/>
          <a:p>
            <a:pPr marL="0" indent="0" algn="ctr">
              <a:spcAft>
                <a:spcPts val="800"/>
              </a:spcAft>
              <a:buNone/>
            </a:pPr>
            <a:r>
              <a:rPr lang="en-US" sz="1800" b="1" dirty="0">
                <a:solidFill>
                  <a:schemeClr val="tx2"/>
                </a:solidFill>
              </a:rPr>
              <a:t>Φ</a:t>
            </a:r>
            <a:r>
              <a:rPr lang="en-US" sz="1800" b="1" baseline="-40000" dirty="0">
                <a:solidFill>
                  <a:schemeClr val="tx2"/>
                </a:solidFill>
              </a:rPr>
              <a:t>P</a:t>
            </a:r>
            <a:r>
              <a:rPr lang="en-US" sz="1800" b="1" dirty="0">
                <a:solidFill>
                  <a:schemeClr val="tx2"/>
                </a:solidFill>
              </a:rPr>
              <a:t> + Φ</a:t>
            </a:r>
            <a:r>
              <a:rPr lang="en-US" sz="1800" b="1" baseline="-40000" dirty="0">
                <a:solidFill>
                  <a:schemeClr val="tx2"/>
                </a:solidFill>
              </a:rPr>
              <a:t>N</a:t>
            </a:r>
            <a:r>
              <a:rPr lang="en-US" sz="1800" b="1" dirty="0">
                <a:solidFill>
                  <a:schemeClr val="tx2"/>
                </a:solidFill>
              </a:rPr>
              <a:t> + Φ</a:t>
            </a:r>
            <a:r>
              <a:rPr lang="en-US" sz="1800" b="1" baseline="-40000" dirty="0">
                <a:solidFill>
                  <a:schemeClr val="tx2"/>
                </a:solidFill>
              </a:rPr>
              <a:t>F</a:t>
            </a:r>
            <a:r>
              <a:rPr lang="en-US" sz="1800" b="1" dirty="0">
                <a:solidFill>
                  <a:schemeClr val="tx2"/>
                </a:solidFill>
              </a:rPr>
              <a:t> = 1</a:t>
            </a:r>
            <a:endParaRPr lang="en-US" sz="1800" dirty="0"/>
          </a:p>
          <a:p>
            <a:pPr marL="0" indent="0" algn="ctr">
              <a:spcAft>
                <a:spcPts val="1000"/>
              </a:spcAft>
              <a:buNone/>
            </a:pPr>
            <a:r>
              <a:rPr lang="en-US" sz="1400" dirty="0">
                <a:solidFill>
                  <a:schemeClr val="tx2"/>
                </a:solidFill>
              </a:rPr>
              <a:t>Φ</a:t>
            </a:r>
            <a:r>
              <a:rPr lang="en-US" sz="1400" baseline="-40000" dirty="0">
                <a:solidFill>
                  <a:schemeClr val="tx2"/>
                </a:solidFill>
              </a:rPr>
              <a:t>F</a:t>
            </a:r>
            <a:r>
              <a:rPr lang="en-US" sz="1400" dirty="0">
                <a:solidFill>
                  <a:schemeClr val="tx2"/>
                </a:solidFill>
              </a:rPr>
              <a:t> = k</a:t>
            </a:r>
            <a:r>
              <a:rPr lang="en-US" sz="1400" baseline="-40000" dirty="0">
                <a:solidFill>
                  <a:schemeClr val="tx2"/>
                </a:solidFill>
              </a:rPr>
              <a:t>F</a:t>
            </a:r>
            <a:r>
              <a:rPr lang="en-US" sz="1400" dirty="0">
                <a:solidFill>
                  <a:schemeClr val="tx2"/>
                </a:solidFill>
              </a:rPr>
              <a:t> / (k</a:t>
            </a:r>
            <a:r>
              <a:rPr lang="en-US" sz="1400" baseline="-40000" dirty="0">
                <a:solidFill>
                  <a:schemeClr val="tx2"/>
                </a:solidFill>
              </a:rPr>
              <a:t>F</a:t>
            </a:r>
            <a:r>
              <a:rPr lang="en-US" sz="1400" dirty="0">
                <a:solidFill>
                  <a:schemeClr val="tx2"/>
                </a:solidFill>
              </a:rPr>
              <a:t> + k</a:t>
            </a:r>
            <a:r>
              <a:rPr lang="en-US" sz="1400" baseline="-40000" dirty="0">
                <a:solidFill>
                  <a:schemeClr val="tx2"/>
                </a:solidFill>
              </a:rPr>
              <a:t>P</a:t>
            </a:r>
            <a:r>
              <a:rPr lang="en-US" sz="1400" dirty="0">
                <a:solidFill>
                  <a:schemeClr val="tx2"/>
                </a:solidFill>
              </a:rPr>
              <a:t> + k</a:t>
            </a:r>
            <a:r>
              <a:rPr lang="en-US" sz="1400" baseline="-40000" dirty="0">
                <a:solidFill>
                  <a:schemeClr val="tx2"/>
                </a:solidFill>
              </a:rPr>
              <a:t>N</a:t>
            </a:r>
            <a:r>
              <a:rPr lang="en-US" sz="1400" dirty="0">
                <a:solidFill>
                  <a:schemeClr val="tx2"/>
                </a:solidFill>
              </a:rPr>
              <a:t>)</a:t>
            </a:r>
            <a:endParaRPr lang="en-US" sz="1800" dirty="0"/>
          </a:p>
          <a:p>
            <a:pPr marL="177800" indent="-177800">
              <a:spcAft>
                <a:spcPts val="400"/>
              </a:spcAft>
              <a:buSzPct val="100000"/>
              <a:buChar char="•"/>
            </a:pPr>
            <a:r>
              <a:rPr lang="en-US" sz="1300" dirty="0">
                <a:solidFill>
                  <a:schemeClr val="tx1"/>
                </a:solidFill>
              </a:rPr>
              <a:t>Centres </a:t>
            </a:r>
            <a:r>
              <a:rPr lang="en-US" sz="1300" b="1" dirty="0">
                <a:solidFill>
                  <a:schemeClr val="tx1"/>
                </a:solidFill>
              </a:rPr>
              <a:t>closed</a:t>
            </a:r>
            <a:r>
              <a:rPr lang="en-US" sz="1300" dirty="0">
                <a:solidFill>
                  <a:schemeClr val="tx1"/>
                </a:solidFill>
              </a:rPr>
              <a:t> → k</a:t>
            </a:r>
            <a:r>
              <a:rPr lang="en-US" sz="1300" baseline="-40000" dirty="0">
                <a:solidFill>
                  <a:schemeClr val="tx1"/>
                </a:solidFill>
              </a:rPr>
              <a:t>P</a:t>
            </a:r>
            <a:r>
              <a:rPr lang="en-US" sz="1300" dirty="0">
                <a:solidFill>
                  <a:schemeClr val="tx1"/>
                </a:solidFill>
              </a:rPr>
              <a:t> ≈ 0 → fluorescence </a:t>
            </a:r>
            <a:r>
              <a:rPr lang="en-US" sz="1300" b="1" dirty="0">
                <a:solidFill>
                  <a:schemeClr val="tx1"/>
                </a:solidFill>
              </a:rPr>
              <a:t>rises</a:t>
            </a:r>
            <a:endParaRPr lang="en-US" sz="1800" dirty="0"/>
          </a:p>
          <a:p>
            <a:pPr marL="177800" indent="-177800">
              <a:spcAft>
                <a:spcPts val="400"/>
              </a:spcAft>
              <a:buSzPct val="100000"/>
              <a:buChar char="•"/>
            </a:pPr>
            <a:r>
              <a:rPr lang="en-US" sz="1300" dirty="0">
                <a:solidFill>
                  <a:schemeClr val="tx1"/>
                </a:solidFill>
              </a:rPr>
              <a:t>NPQ </a:t>
            </a:r>
            <a:r>
              <a:rPr lang="en-US" sz="1300" b="1" dirty="0">
                <a:solidFill>
                  <a:schemeClr val="tx1"/>
                </a:solidFill>
              </a:rPr>
              <a:t>switched on</a:t>
            </a:r>
            <a:r>
              <a:rPr lang="en-US" sz="1300" dirty="0">
                <a:solidFill>
                  <a:schemeClr val="tx1"/>
                </a:solidFill>
              </a:rPr>
              <a:t> → k</a:t>
            </a:r>
            <a:r>
              <a:rPr lang="en-US" sz="1300" baseline="-40000" dirty="0">
                <a:solidFill>
                  <a:schemeClr val="tx1"/>
                </a:solidFill>
              </a:rPr>
              <a:t>N</a:t>
            </a:r>
            <a:r>
              <a:rPr lang="en-US" sz="1300" dirty="0">
                <a:solidFill>
                  <a:schemeClr val="tx1"/>
                </a:solidFill>
              </a:rPr>
              <a:t> ↑ → fluorescence </a:t>
            </a:r>
            <a:r>
              <a:rPr lang="en-US" sz="1300" b="1" dirty="0">
                <a:solidFill>
                  <a:schemeClr val="tx1"/>
                </a:solidFill>
              </a:rPr>
              <a:t>falls</a:t>
            </a:r>
            <a:endParaRPr lang="en-US" sz="1800" dirty="0"/>
          </a:p>
          <a:p>
            <a:pPr marL="177800" indent="-177800">
              <a:spcAft>
                <a:spcPts val="400"/>
              </a:spcAft>
              <a:buSzPct val="100000"/>
              <a:buChar char="•"/>
            </a:pPr>
            <a:r>
              <a:rPr lang="en-US" sz="1300" dirty="0">
                <a:solidFill>
                  <a:schemeClr val="tx1"/>
                </a:solidFill>
              </a:rPr>
              <a:t>So fluorescence reports photochemistry and heat loss indirectly</a:t>
            </a:r>
            <a:endParaRPr lang="en-US" sz="1800" dirty="0"/>
          </a:p>
        </p:txBody>
      </p:sp>
      <p:sp>
        <p:nvSpPr>
          <p:cNvPr id="23" name="insight"/>
          <p:cNvSpPr/>
          <p:nvPr/>
        </p:nvSpPr>
        <p:spPr>
          <a:xfrm>
            <a:off x="548640" y="5440680"/>
            <a:ext cx="11091672" cy="731520"/>
          </a:xfrm>
          <a:prstGeom prst="roundRect">
            <a:avLst>
              <a:gd name="adj" fmla="val 10000"/>
            </a:avLst>
          </a:prstGeom>
          <a:solidFill>
            <a:schemeClr val="bg2"/>
          </a:solidFill>
          <a:ln/>
        </p:spPr>
      </p:sp>
      <p:sp>
        <p:nvSpPr>
          <p:cNvPr id="24" name="icon circle"/>
          <p:cNvSpPr/>
          <p:nvPr/>
        </p:nvSpPr>
        <p:spPr>
          <a:xfrm>
            <a:off x="685800" y="5559552"/>
            <a:ext cx="493776" cy="493776"/>
          </a:xfrm>
          <a:prstGeom prst="ellipse">
            <a:avLst/>
          </a:prstGeom>
          <a:solidFill>
            <a:schemeClr val="accent3"/>
          </a:solidFill>
          <a:ln/>
        </p:spPr>
      </p:sp>
      <p:pic>
        <p:nvPicPr>
          <p:cNvPr id="25" name="Image 1" descr="Lightbulb icon"/>
          <p:cNvPicPr>
            <a:picLocks noChangeAspect="1"/>
          </p:cNvPicPr>
          <p:nvPr/>
        </p:nvPicPr>
        <p:blipFill>
          <a:blip r:embed="rId4"/>
          <a:stretch>
            <a:fillRect/>
          </a:stretch>
        </p:blipFill>
        <p:spPr>
          <a:xfrm>
            <a:off x="814182" y="5687934"/>
            <a:ext cx="237012" cy="237012"/>
          </a:xfrm>
          <a:prstGeom prst="rect">
            <a:avLst/>
          </a:prstGeom>
        </p:spPr>
      </p:pic>
      <p:sp>
        <p:nvSpPr>
          <p:cNvPr id="26" name="Text 21"/>
          <p:cNvSpPr txBox="1"/>
          <p:nvPr/>
        </p:nvSpPr>
        <p:spPr>
          <a:xfrm>
            <a:off x="1325880" y="5504688"/>
            <a:ext cx="10149840" cy="640080"/>
          </a:xfrm>
          <a:prstGeom prst="rect">
            <a:avLst/>
          </a:prstGeom>
          <a:noFill/>
          <a:ln/>
        </p:spPr>
        <p:txBody>
          <a:bodyPr wrap="square" lIns="508" tIns="508" rIns="508" bIns="508" rtlCol="0" anchor="ctr"/>
          <a:lstStyle/>
          <a:p>
            <a:pPr marL="0" indent="0">
              <a:spcAft>
                <a:spcPts val="600"/>
              </a:spcAft>
              <a:buNone/>
            </a:pPr>
            <a:r>
              <a:rPr lang="en-US" sz="1400" b="1" dirty="0">
                <a:solidFill>
                  <a:schemeClr val="tx1"/>
                </a:solidFill>
              </a:rPr>
              <a:t>Analogy:</a:t>
            </a:r>
            <a:r>
              <a:rPr lang="en-US" sz="1400" dirty="0">
                <a:solidFill>
                  <a:schemeClr val="tx1"/>
                </a:solidFill>
              </a:rPr>
              <a:t> three taps fed by one water tank. Close the photochemistry tap (saturating pulse) and the level in the fluorescence tap jumps — that jump is what PAM fluorometry measures.</a:t>
            </a:r>
            <a:endParaRPr lang="en-US" sz="14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Why we treat the signal as coming from PSII</a:t>
            </a:r>
            <a:endParaRPr lang="en-US" sz="3200" dirty="0"/>
          </a:p>
        </p:txBody>
      </p:sp>
      <p:sp>
        <p:nvSpPr>
          <p:cNvPr id="4" name="figure frame"/>
          <p:cNvSpPr/>
          <p:nvPr/>
        </p:nvSpPr>
        <p:spPr>
          <a:xfrm>
            <a:off x="548640" y="1325880"/>
            <a:ext cx="5577840" cy="3840480"/>
          </a:xfrm>
          <a:prstGeom prst="roundRect">
            <a:avLst>
              <a:gd name="adj" fmla="val 1429"/>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5" name="Image 0" descr="Z-scheme: electrons flow from water through PSII (P680) and PSI (P700) to NADP⁺; herbicides DCMU and paraquat block specific steps"/>
          <p:cNvPicPr>
            <a:picLocks noChangeAspect="1"/>
          </p:cNvPicPr>
          <p:nvPr/>
        </p:nvPicPr>
        <p:blipFill>
          <a:blip r:embed="rId3"/>
          <a:stretch>
            <a:fillRect/>
          </a:stretch>
        </p:blipFill>
        <p:spPr>
          <a:xfrm>
            <a:off x="899160" y="1417320"/>
            <a:ext cx="4876800" cy="3657600"/>
          </a:xfrm>
          <a:prstGeom prst="rect">
            <a:avLst/>
          </a:prstGeom>
        </p:spPr>
      </p:pic>
      <p:sp>
        <p:nvSpPr>
          <p:cNvPr id="6" name="Text 2"/>
          <p:cNvSpPr txBox="1"/>
          <p:nvPr/>
        </p:nvSpPr>
        <p:spPr>
          <a:xfrm>
            <a:off x="548640" y="5212080"/>
            <a:ext cx="5577840" cy="457200"/>
          </a:xfrm>
          <a:prstGeom prst="rect">
            <a:avLst/>
          </a:prstGeom>
          <a:noFill/>
          <a:ln/>
        </p:spPr>
        <p:txBody>
          <a:bodyPr wrap="square" lIns="0" tIns="0" rIns="0" bIns="0" rtlCol="0" anchor="t"/>
          <a:lstStyle/>
          <a:p>
            <a:pPr marL="0" indent="0">
              <a:buNone/>
            </a:pPr>
            <a:r>
              <a:rPr lang="en-US" sz="1100" i="1" dirty="0">
                <a:solidFill>
                  <a:schemeClr val="accent6"/>
                </a:solidFill>
              </a:rPr>
              <a:t>Z-scheme: electrons flow from water through PSII (P680) and PSI (P700) to NADP⁺; herbicides DCMU and paraquat block specific steps</a:t>
            </a:r>
            <a:endParaRPr lang="en-US" sz="1100" dirty="0"/>
          </a:p>
        </p:txBody>
      </p:sp>
      <p:sp>
        <p:nvSpPr>
          <p:cNvPr id="7" name="card"/>
          <p:cNvSpPr/>
          <p:nvPr/>
        </p:nvSpPr>
        <p:spPr>
          <a:xfrm>
            <a:off x="6446520" y="1325880"/>
            <a:ext cx="5193792" cy="2057400"/>
          </a:xfrm>
          <a:prstGeom prst="roundRect">
            <a:avLst>
              <a:gd name="adj" fmla="val 3556"/>
            </a:avLst>
          </a:prstGeom>
          <a:solidFill>
            <a:schemeClr val="bg2"/>
          </a:solidFill>
          <a:ln/>
          <a:effectLst>
            <a:outerShdw blurRad="76200" dist="25400" dir="5400000" algn="bl" rotWithShape="0">
              <a:srgbClr val="000000">
                <a:alpha val="14000"/>
              </a:srgbClr>
            </a:outerShdw>
          </a:effectLst>
        </p:spPr>
      </p:sp>
      <p:sp>
        <p:nvSpPr>
          <p:cNvPr id="8" name="icon circle"/>
          <p:cNvSpPr/>
          <p:nvPr/>
        </p:nvSpPr>
        <p:spPr>
          <a:xfrm>
            <a:off x="6629400" y="1481328"/>
            <a:ext cx="420624" cy="420624"/>
          </a:xfrm>
          <a:prstGeom prst="ellipse">
            <a:avLst/>
          </a:prstGeom>
          <a:solidFill>
            <a:schemeClr val="accent1"/>
          </a:solidFill>
          <a:ln/>
        </p:spPr>
      </p:sp>
      <p:pic>
        <p:nvPicPr>
          <p:cNvPr id="9" name="Image 1" descr="Leaf icon"/>
          <p:cNvPicPr>
            <a:picLocks noChangeAspect="1"/>
          </p:cNvPicPr>
          <p:nvPr/>
        </p:nvPicPr>
        <p:blipFill>
          <a:blip r:embed="rId4"/>
          <a:stretch>
            <a:fillRect/>
          </a:stretch>
        </p:blipFill>
        <p:spPr>
          <a:xfrm>
            <a:off x="6738762" y="1590690"/>
            <a:ext cx="201900" cy="201900"/>
          </a:xfrm>
          <a:prstGeom prst="rect">
            <a:avLst/>
          </a:prstGeom>
        </p:spPr>
      </p:pic>
      <p:sp>
        <p:nvSpPr>
          <p:cNvPr id="10" name="Text 5"/>
          <p:cNvSpPr txBox="1"/>
          <p:nvPr/>
        </p:nvSpPr>
        <p:spPr>
          <a:xfrm>
            <a:off x="7159752" y="1463040"/>
            <a:ext cx="4343400" cy="457200"/>
          </a:xfrm>
          <a:prstGeom prst="rect">
            <a:avLst/>
          </a:prstGeom>
          <a:noFill/>
          <a:ln/>
        </p:spPr>
        <p:txBody>
          <a:bodyPr wrap="square" lIns="0" tIns="0" rIns="0" bIns="0" rtlCol="0" anchor="ctr"/>
          <a:lstStyle/>
          <a:p>
            <a:pPr marL="0" indent="0">
              <a:buNone/>
            </a:pPr>
            <a:r>
              <a:rPr lang="en-US" sz="1600" b="1" dirty="0">
                <a:solidFill>
                  <a:schemeClr val="tx2"/>
                </a:solidFill>
              </a:rPr>
              <a:t>PSII dominates the variable signal</a:t>
            </a:r>
            <a:endParaRPr lang="en-US" sz="1600" dirty="0"/>
          </a:p>
        </p:txBody>
      </p:sp>
      <p:sp>
        <p:nvSpPr>
          <p:cNvPr id="11" name="Text 6"/>
          <p:cNvSpPr txBox="1"/>
          <p:nvPr/>
        </p:nvSpPr>
        <p:spPr>
          <a:xfrm>
            <a:off x="6629400" y="2011680"/>
            <a:ext cx="4828032" cy="1280160"/>
          </a:xfrm>
          <a:prstGeom prst="rect">
            <a:avLst/>
          </a:prstGeom>
          <a:noFill/>
          <a:ln/>
        </p:spPr>
        <p:txBody>
          <a:bodyPr wrap="square" lIns="508" tIns="508" rIns="508" bIns="508" rtlCol="0" anchor="t"/>
          <a:lstStyle/>
          <a:p>
            <a:pPr marL="177800" indent="-177800">
              <a:spcAft>
                <a:spcPts val="400"/>
              </a:spcAft>
              <a:buSzPct val="100000"/>
              <a:buChar char="•"/>
            </a:pPr>
            <a:r>
              <a:rPr lang="en-US" sz="1400" dirty="0">
                <a:solidFill>
                  <a:schemeClr val="tx1"/>
                </a:solidFill>
              </a:rPr>
              <a:t>At room temperature, changes in fluorescence are attributed to </a:t>
            </a:r>
            <a:r>
              <a:rPr lang="en-US" sz="1400" b="1" dirty="0">
                <a:solidFill>
                  <a:schemeClr val="tx1"/>
                </a:solidFill>
              </a:rPr>
              <a:t>PSII only</a:t>
            </a:r>
            <a:endParaRPr lang="en-US" sz="1400" dirty="0"/>
          </a:p>
          <a:p>
            <a:pPr marL="177800" indent="-177800">
              <a:spcAft>
                <a:spcPts val="400"/>
              </a:spcAft>
              <a:buSzPct val="100000"/>
              <a:buChar char="•"/>
            </a:pPr>
            <a:r>
              <a:rPr lang="en-US" sz="1400" dirty="0">
                <a:solidFill>
                  <a:schemeClr val="tx1"/>
                </a:solidFill>
              </a:rPr>
              <a:t>PSI contributes little below </a:t>
            </a:r>
            <a:r>
              <a:rPr lang="en-US" sz="1400" b="1" dirty="0">
                <a:solidFill>
                  <a:schemeClr val="tx1"/>
                </a:solidFill>
              </a:rPr>
              <a:t>700 nm</a:t>
            </a:r>
            <a:r>
              <a:rPr lang="en-US" sz="1400" dirty="0">
                <a:solidFill>
                  <a:schemeClr val="tx1"/>
                </a:solidFill>
              </a:rPr>
              <a:t> → ignored in most PAM work</a:t>
            </a:r>
            <a:endParaRPr lang="en-US" sz="1400" dirty="0"/>
          </a:p>
          <a:p>
            <a:pPr marL="177800" indent="-177800">
              <a:spcAft>
                <a:spcPts val="400"/>
              </a:spcAft>
              <a:buSzPct val="100000"/>
              <a:buChar char="•"/>
            </a:pPr>
            <a:r>
              <a:rPr lang="en-US" sz="1400" dirty="0">
                <a:solidFill>
                  <a:schemeClr val="tx1"/>
                </a:solidFill>
              </a:rPr>
              <a:t>PSII emits at both 685 and 740 nm; PSI mostly at ~740 nm</a:t>
            </a:r>
            <a:endParaRPr lang="en-US" sz="1400" dirty="0"/>
          </a:p>
        </p:txBody>
      </p:sp>
      <p:sp>
        <p:nvSpPr>
          <p:cNvPr id="12" name="card"/>
          <p:cNvSpPr/>
          <p:nvPr/>
        </p:nvSpPr>
        <p:spPr>
          <a:xfrm>
            <a:off x="6446520" y="3520440"/>
            <a:ext cx="5193792" cy="2651760"/>
          </a:xfrm>
          <a:prstGeom prst="roundRect">
            <a:avLst>
              <a:gd name="adj" fmla="val 2759"/>
            </a:avLst>
          </a:prstGeom>
          <a:solidFill>
            <a:schemeClr val="bg2"/>
          </a:solidFill>
          <a:ln/>
          <a:effectLst>
            <a:outerShdw blurRad="76200" dist="25400" dir="5400000" algn="bl" rotWithShape="0">
              <a:srgbClr val="000000">
                <a:alpha val="14000"/>
              </a:srgbClr>
            </a:outerShdw>
          </a:effectLst>
        </p:spPr>
      </p:sp>
      <p:sp>
        <p:nvSpPr>
          <p:cNvPr id="13" name="icon circle"/>
          <p:cNvSpPr/>
          <p:nvPr/>
        </p:nvSpPr>
        <p:spPr>
          <a:xfrm>
            <a:off x="6629400" y="3675888"/>
            <a:ext cx="420624" cy="420624"/>
          </a:xfrm>
          <a:prstGeom prst="ellipse">
            <a:avLst/>
          </a:prstGeom>
          <a:solidFill>
            <a:schemeClr val="accent3"/>
          </a:solidFill>
          <a:ln/>
        </p:spPr>
      </p:sp>
      <p:pic>
        <p:nvPicPr>
          <p:cNvPr id="14" name="Image 2" descr="Lightbulb icon"/>
          <p:cNvPicPr>
            <a:picLocks noChangeAspect="1"/>
          </p:cNvPicPr>
          <p:nvPr/>
        </p:nvPicPr>
        <p:blipFill>
          <a:blip r:embed="rId5"/>
          <a:stretch>
            <a:fillRect/>
          </a:stretch>
        </p:blipFill>
        <p:spPr>
          <a:xfrm>
            <a:off x="6738762" y="3785250"/>
            <a:ext cx="201900" cy="201900"/>
          </a:xfrm>
          <a:prstGeom prst="rect">
            <a:avLst/>
          </a:prstGeom>
        </p:spPr>
      </p:pic>
      <p:sp>
        <p:nvSpPr>
          <p:cNvPr id="15" name="Text 9"/>
          <p:cNvSpPr txBox="1"/>
          <p:nvPr/>
        </p:nvSpPr>
        <p:spPr>
          <a:xfrm>
            <a:off x="7159752" y="3657600"/>
            <a:ext cx="4343400" cy="457200"/>
          </a:xfrm>
          <a:prstGeom prst="rect">
            <a:avLst/>
          </a:prstGeom>
          <a:noFill/>
          <a:ln/>
        </p:spPr>
        <p:txBody>
          <a:bodyPr wrap="square" lIns="0" tIns="0" rIns="0" bIns="0" rtlCol="0" anchor="ctr"/>
          <a:lstStyle/>
          <a:p>
            <a:pPr marL="0" indent="0">
              <a:buNone/>
            </a:pPr>
            <a:r>
              <a:rPr lang="en-US" sz="1600" b="1" dirty="0">
                <a:solidFill>
                  <a:schemeClr val="tx2"/>
                </a:solidFill>
              </a:rPr>
              <a:t>Why this is useful</a:t>
            </a:r>
            <a:endParaRPr lang="en-US" sz="1600" dirty="0"/>
          </a:p>
        </p:txBody>
      </p:sp>
      <p:sp>
        <p:nvSpPr>
          <p:cNvPr id="16" name="Text 10"/>
          <p:cNvSpPr txBox="1"/>
          <p:nvPr/>
        </p:nvSpPr>
        <p:spPr>
          <a:xfrm>
            <a:off x="6629400" y="4206240"/>
            <a:ext cx="4828032" cy="1874520"/>
          </a:xfrm>
          <a:prstGeom prst="rect">
            <a:avLst/>
          </a:prstGeom>
          <a:noFill/>
          <a:ln/>
        </p:spPr>
        <p:txBody>
          <a:bodyPr wrap="square" lIns="508" tIns="508" rIns="508" bIns="508" rtlCol="0" anchor="t"/>
          <a:lstStyle/>
          <a:p>
            <a:pPr marL="177800" indent="-177800">
              <a:spcAft>
                <a:spcPts val="400"/>
              </a:spcAft>
              <a:buSzPct val="100000"/>
              <a:buChar char="•"/>
            </a:pPr>
            <a:r>
              <a:rPr lang="en-US" sz="1400" dirty="0">
                <a:solidFill>
                  <a:schemeClr val="tx1"/>
                </a:solidFill>
              </a:rPr>
              <a:t>Photochemistry supplies the </a:t>
            </a:r>
            <a:r>
              <a:rPr lang="en-US" sz="1400" b="1" dirty="0">
                <a:solidFill>
                  <a:schemeClr val="tx1"/>
                </a:solidFill>
              </a:rPr>
              <a:t>energy (ATP)</a:t>
            </a:r>
            <a:r>
              <a:rPr lang="en-US" sz="1400" dirty="0">
                <a:solidFill>
                  <a:schemeClr val="tx1"/>
                </a:solidFill>
              </a:rPr>
              <a:t> and </a:t>
            </a:r>
            <a:r>
              <a:rPr lang="en-US" sz="1400" b="1" dirty="0">
                <a:solidFill>
                  <a:schemeClr val="tx1"/>
                </a:solidFill>
              </a:rPr>
              <a:t>reducing power (NADPH)</a:t>
            </a:r>
            <a:r>
              <a:rPr lang="en-US" sz="1400" dirty="0">
                <a:solidFill>
                  <a:schemeClr val="tx1"/>
                </a:solidFill>
              </a:rPr>
              <a:t> for CO₂ assimilation</a:t>
            </a:r>
            <a:endParaRPr lang="en-US" sz="1400" dirty="0"/>
          </a:p>
          <a:p>
            <a:pPr marL="177800" indent="-177800">
              <a:spcAft>
                <a:spcPts val="400"/>
              </a:spcAft>
              <a:buSzPct val="100000"/>
              <a:buChar char="•"/>
            </a:pPr>
            <a:r>
              <a:rPr lang="en-US" sz="1400" dirty="0">
                <a:solidFill>
                  <a:schemeClr val="tx1"/>
                </a:solidFill>
              </a:rPr>
              <a:t>Fluorescence yield ⇒ quantum efficiency of PSII photochemistry and heat dissipation</a:t>
            </a:r>
            <a:endParaRPr lang="en-US" sz="1400" dirty="0"/>
          </a:p>
          <a:p>
            <a:pPr marL="177800" indent="-177800">
              <a:spcAft>
                <a:spcPts val="400"/>
              </a:spcAft>
              <a:buSzPct val="100000"/>
              <a:buChar char="•"/>
            </a:pPr>
            <a:r>
              <a:rPr lang="en-US" sz="1400" dirty="0">
                <a:solidFill>
                  <a:schemeClr val="tx1"/>
                </a:solidFill>
              </a:rPr>
              <a:t>PSII is the most stress-sensitive part of the chain → early warning of stress</a:t>
            </a:r>
            <a:endParaRPr lang="en-US" sz="1400" dirty="0"/>
          </a:p>
          <a:p>
            <a:pPr marL="177800" indent="-177800">
              <a:spcAft>
                <a:spcPts val="400"/>
              </a:spcAft>
              <a:buSzPct val="100000"/>
              <a:buChar char="•"/>
            </a:pPr>
            <a:r>
              <a:rPr lang="en-US" sz="1400" dirty="0">
                <a:solidFill>
                  <a:schemeClr val="accent2"/>
                </a:solidFill>
              </a:rPr>
              <a:t>Caveat for SIF: far-red SIF also contains PSI emission</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514600"/>
            <a:ext cx="7680960" cy="1188720"/>
          </a:xfrm>
          <a:prstGeom prst="rect">
            <a:avLst/>
          </a:prstGeom>
          <a:noFill/>
          <a:ln/>
        </p:spPr>
        <p:txBody>
          <a:bodyPr wrap="square" lIns="0" tIns="0" rIns="0" bIns="0" rtlCol="0" anchor="ctr"/>
          <a:lstStyle/>
          <a:p>
            <a:pPr marL="0" indent="0" algn="l">
              <a:buNone/>
            </a:pPr>
            <a:r>
              <a:rPr lang="en-US" sz="4000" b="1" dirty="0">
                <a:solidFill>
                  <a:schemeClr val="bg1"/>
                </a:solidFill>
              </a:rPr>
              <a:t>Measuring fluorescence</a:t>
            </a:r>
            <a:endParaRPr lang="en-US" sz="4000" dirty="0"/>
          </a:p>
        </p:txBody>
      </p:sp>
      <p:sp>
        <p:nvSpPr>
          <p:cNvPr id="3" name="Text 0"/>
          <p:cNvSpPr>
            <a:spLocks noGrp="1"/>
          </p:cNvSpPr>
          <p:nvPr>
            <p:ph type="body" idx="101" hasCustomPrompt="1"/>
          </p:nvPr>
        </p:nvSpPr>
        <p:spPr>
          <a:xfrm>
            <a:off x="731520" y="3794760"/>
            <a:ext cx="7498080" cy="1280160"/>
          </a:xfrm>
          <a:prstGeom prst="rect">
            <a:avLst/>
          </a:prstGeom>
          <a:noFill/>
          <a:ln/>
        </p:spPr>
        <p:txBody>
          <a:bodyPr wrap="square" lIns="0" tIns="0" rIns="0" bIns="0" rtlCol="0" anchor="t"/>
          <a:lstStyle/>
          <a:p>
            <a:pPr marL="0" indent="0">
              <a:buNone/>
            </a:pPr>
            <a:r>
              <a:rPr lang="en-US" sz="1800" dirty="0">
                <a:solidFill>
                  <a:schemeClr val="bg2"/>
                </a:solidFill>
              </a:rPr>
              <a:t>How to see a weak red glow against bright light: modulated (PAM) fluorometry and the instruments used</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marL="0" indent="0">
              <a:buNone/>
            </a:pPr>
            <a:r>
              <a:rPr lang="en-US" sz="7200" b="1" dirty="0">
                <a:solidFill>
                  <a:schemeClr val="accent3"/>
                </a:solidFill>
                <a:latin typeface="Cambria" pitchFamily="34" charset="0"/>
                <a:ea typeface="Cambria" pitchFamily="34" charset="-122"/>
                <a:cs typeface="Cambria" pitchFamily="34" charset="-120"/>
              </a:rPr>
              <a:t>02</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The ambient-light problem and the PAM solution</a:t>
            </a:r>
            <a:endParaRPr lang="en-US" sz="3200" dirty="0"/>
          </a:p>
        </p:txBody>
      </p:sp>
      <p:sp>
        <p:nvSpPr>
          <p:cNvPr id="4" name="Text 1"/>
          <p:cNvSpPr txBox="1"/>
          <p:nvPr/>
        </p:nvSpPr>
        <p:spPr>
          <a:xfrm>
            <a:off x="548640" y="1463040"/>
            <a:ext cx="1691640" cy="365760"/>
          </a:xfrm>
          <a:prstGeom prst="rect">
            <a:avLst/>
          </a:prstGeom>
          <a:noFill/>
          <a:ln/>
        </p:spPr>
        <p:txBody>
          <a:bodyPr wrap="square" lIns="0" tIns="0" rIns="0" bIns="0" rtlCol="0" anchor="ctr"/>
          <a:lstStyle/>
          <a:p>
            <a:pPr marL="0" indent="0" algn="l">
              <a:buNone/>
            </a:pPr>
            <a:r>
              <a:rPr lang="en-US" sz="1300" b="1" dirty="0">
                <a:solidFill>
                  <a:schemeClr val="tx2"/>
                </a:solidFill>
              </a:rPr>
              <a:t>Measuring beam</a:t>
            </a:r>
            <a:endParaRPr lang="en-US" sz="1300" dirty="0"/>
          </a:p>
        </p:txBody>
      </p:sp>
      <p:sp>
        <p:nvSpPr>
          <p:cNvPr id="5" name="Text 2"/>
          <p:cNvSpPr txBox="1"/>
          <p:nvPr/>
        </p:nvSpPr>
        <p:spPr>
          <a:xfrm>
            <a:off x="548640" y="1810512"/>
            <a:ext cx="1691640" cy="548640"/>
          </a:xfrm>
          <a:prstGeom prst="rect">
            <a:avLst/>
          </a:prstGeom>
          <a:noFill/>
          <a:ln/>
        </p:spPr>
        <p:txBody>
          <a:bodyPr wrap="square" lIns="0" tIns="0" rIns="0" bIns="0" rtlCol="0" anchor="t"/>
          <a:lstStyle/>
          <a:p>
            <a:pPr marL="0" indent="0" algn="l">
              <a:buNone/>
            </a:pPr>
            <a:r>
              <a:rPr lang="en-US" sz="1000" dirty="0">
                <a:solidFill>
                  <a:schemeClr val="accent6"/>
                </a:solidFill>
              </a:rPr>
              <a:t>weak, modulated (µs pulses at a fixed frequency)</a:t>
            </a:r>
            <a:endParaRPr lang="en-US" sz="1000" dirty="0"/>
          </a:p>
        </p:txBody>
      </p:sp>
      <p:sp>
        <p:nvSpPr>
          <p:cNvPr id="6" name="time axis"/>
          <p:cNvSpPr/>
          <p:nvPr/>
        </p:nvSpPr>
        <p:spPr>
          <a:xfrm>
            <a:off x="2286000" y="2240280"/>
            <a:ext cx="4572000" cy="0"/>
          </a:xfrm>
          <a:prstGeom prst="line">
            <a:avLst/>
          </a:prstGeom>
          <a:noFill/>
          <a:ln w="12700">
            <a:solidFill>
              <a:srgbClr val="5E7268"/>
            </a:solidFill>
            <a:prstDash val="solid"/>
          </a:ln>
        </p:spPr>
      </p:sp>
      <p:sp>
        <p:nvSpPr>
          <p:cNvPr id="7" name="Text 4"/>
          <p:cNvSpPr txBox="1"/>
          <p:nvPr/>
        </p:nvSpPr>
        <p:spPr>
          <a:xfrm>
            <a:off x="548640" y="2606040"/>
            <a:ext cx="1691640" cy="365760"/>
          </a:xfrm>
          <a:prstGeom prst="rect">
            <a:avLst/>
          </a:prstGeom>
          <a:noFill/>
          <a:ln/>
        </p:spPr>
        <p:txBody>
          <a:bodyPr wrap="square" lIns="0" tIns="0" rIns="0" bIns="0" rtlCol="0" anchor="ctr"/>
          <a:lstStyle/>
          <a:p>
            <a:pPr marL="0" indent="0" algn="l">
              <a:buNone/>
            </a:pPr>
            <a:r>
              <a:rPr lang="en-US" sz="1300" b="1" dirty="0">
                <a:solidFill>
                  <a:schemeClr val="tx2"/>
                </a:solidFill>
              </a:rPr>
              <a:t>Ambient / actinic light</a:t>
            </a:r>
            <a:endParaRPr lang="en-US" sz="1300" dirty="0"/>
          </a:p>
        </p:txBody>
      </p:sp>
      <p:sp>
        <p:nvSpPr>
          <p:cNvPr id="8" name="Text 5"/>
          <p:cNvSpPr txBox="1"/>
          <p:nvPr/>
        </p:nvSpPr>
        <p:spPr>
          <a:xfrm>
            <a:off x="548640" y="2953512"/>
            <a:ext cx="1691640" cy="548640"/>
          </a:xfrm>
          <a:prstGeom prst="rect">
            <a:avLst/>
          </a:prstGeom>
          <a:noFill/>
          <a:ln/>
        </p:spPr>
        <p:txBody>
          <a:bodyPr wrap="square" lIns="0" tIns="0" rIns="0" bIns="0" rtlCol="0" anchor="t"/>
          <a:lstStyle/>
          <a:p>
            <a:pPr marL="0" indent="0" algn="l">
              <a:buNone/>
            </a:pPr>
            <a:r>
              <a:rPr lang="en-US" sz="1000" dirty="0">
                <a:solidFill>
                  <a:schemeClr val="accent6"/>
                </a:solidFill>
              </a:rPr>
              <a:t>strong but un-modulated (constant)</a:t>
            </a:r>
            <a:endParaRPr lang="en-US" sz="1000" dirty="0"/>
          </a:p>
        </p:txBody>
      </p:sp>
      <p:sp>
        <p:nvSpPr>
          <p:cNvPr id="9" name="time axis"/>
          <p:cNvSpPr/>
          <p:nvPr/>
        </p:nvSpPr>
        <p:spPr>
          <a:xfrm>
            <a:off x="2286000" y="3383280"/>
            <a:ext cx="4572000" cy="0"/>
          </a:xfrm>
          <a:prstGeom prst="line">
            <a:avLst/>
          </a:prstGeom>
          <a:noFill/>
          <a:ln w="12700">
            <a:solidFill>
              <a:srgbClr val="5E7268"/>
            </a:solidFill>
            <a:prstDash val="solid"/>
          </a:ln>
        </p:spPr>
      </p:sp>
      <p:sp>
        <p:nvSpPr>
          <p:cNvPr id="10" name="Text 7"/>
          <p:cNvSpPr txBox="1"/>
          <p:nvPr/>
        </p:nvSpPr>
        <p:spPr>
          <a:xfrm>
            <a:off x="548640" y="3749040"/>
            <a:ext cx="1691640" cy="365760"/>
          </a:xfrm>
          <a:prstGeom prst="rect">
            <a:avLst/>
          </a:prstGeom>
          <a:noFill/>
          <a:ln/>
        </p:spPr>
        <p:txBody>
          <a:bodyPr wrap="square" lIns="0" tIns="0" rIns="0" bIns="0" rtlCol="0" anchor="ctr"/>
          <a:lstStyle/>
          <a:p>
            <a:pPr marL="0" indent="0" algn="l">
              <a:buNone/>
            </a:pPr>
            <a:r>
              <a:rPr lang="en-US" sz="1300" b="1" dirty="0">
                <a:solidFill>
                  <a:schemeClr val="tx2"/>
                </a:solidFill>
              </a:rPr>
              <a:t>Detector after lock-in</a:t>
            </a:r>
            <a:endParaRPr lang="en-US" sz="1300" dirty="0"/>
          </a:p>
        </p:txBody>
      </p:sp>
      <p:sp>
        <p:nvSpPr>
          <p:cNvPr id="11" name="Text 8"/>
          <p:cNvSpPr txBox="1"/>
          <p:nvPr/>
        </p:nvSpPr>
        <p:spPr>
          <a:xfrm>
            <a:off x="548640" y="4096512"/>
            <a:ext cx="1691640" cy="548640"/>
          </a:xfrm>
          <a:prstGeom prst="rect">
            <a:avLst/>
          </a:prstGeom>
          <a:noFill/>
          <a:ln/>
        </p:spPr>
        <p:txBody>
          <a:bodyPr wrap="square" lIns="0" tIns="0" rIns="0" bIns="0" rtlCol="0" anchor="t"/>
          <a:lstStyle/>
          <a:p>
            <a:pPr marL="0" indent="0" algn="l">
              <a:buNone/>
            </a:pPr>
            <a:r>
              <a:rPr lang="en-US" sz="1000" dirty="0">
                <a:solidFill>
                  <a:schemeClr val="accent6"/>
                </a:solidFill>
              </a:rPr>
              <a:t>only fluorescence excited by the beam is kept</a:t>
            </a:r>
            <a:endParaRPr lang="en-US" sz="1000" dirty="0"/>
          </a:p>
        </p:txBody>
      </p:sp>
      <p:sp>
        <p:nvSpPr>
          <p:cNvPr id="12" name="time axis"/>
          <p:cNvSpPr/>
          <p:nvPr/>
        </p:nvSpPr>
        <p:spPr>
          <a:xfrm>
            <a:off x="2286000" y="4526280"/>
            <a:ext cx="4572000" cy="0"/>
          </a:xfrm>
          <a:prstGeom prst="line">
            <a:avLst/>
          </a:prstGeom>
          <a:noFill/>
          <a:ln w="12700">
            <a:solidFill>
              <a:srgbClr val="5E7268"/>
            </a:solidFill>
            <a:prstDash val="solid"/>
          </a:ln>
        </p:spPr>
      </p:sp>
      <p:sp>
        <p:nvSpPr>
          <p:cNvPr id="13" name="pulse"/>
          <p:cNvSpPr/>
          <p:nvPr/>
        </p:nvSpPr>
        <p:spPr>
          <a:xfrm>
            <a:off x="2423160" y="1783080"/>
            <a:ext cx="109728" cy="457200"/>
          </a:xfrm>
          <a:prstGeom prst="rect">
            <a:avLst/>
          </a:prstGeom>
          <a:solidFill>
            <a:schemeClr val="accent1"/>
          </a:solidFill>
          <a:ln/>
        </p:spPr>
      </p:sp>
      <p:sp>
        <p:nvSpPr>
          <p:cNvPr id="14" name="detected pulse"/>
          <p:cNvSpPr/>
          <p:nvPr/>
        </p:nvSpPr>
        <p:spPr>
          <a:xfrm>
            <a:off x="2423160" y="4251960"/>
            <a:ext cx="109728" cy="274320"/>
          </a:xfrm>
          <a:prstGeom prst="rect">
            <a:avLst/>
          </a:prstGeom>
          <a:solidFill>
            <a:schemeClr val="accent2"/>
          </a:solidFill>
          <a:ln/>
        </p:spPr>
      </p:sp>
      <p:sp>
        <p:nvSpPr>
          <p:cNvPr id="15" name="pulse"/>
          <p:cNvSpPr/>
          <p:nvPr/>
        </p:nvSpPr>
        <p:spPr>
          <a:xfrm>
            <a:off x="2788920" y="1783080"/>
            <a:ext cx="109728" cy="457200"/>
          </a:xfrm>
          <a:prstGeom prst="rect">
            <a:avLst/>
          </a:prstGeom>
          <a:solidFill>
            <a:schemeClr val="accent1"/>
          </a:solidFill>
          <a:ln/>
        </p:spPr>
      </p:sp>
      <p:sp>
        <p:nvSpPr>
          <p:cNvPr id="16" name="detected pulse"/>
          <p:cNvSpPr/>
          <p:nvPr/>
        </p:nvSpPr>
        <p:spPr>
          <a:xfrm>
            <a:off x="2788920" y="4251960"/>
            <a:ext cx="109728" cy="274320"/>
          </a:xfrm>
          <a:prstGeom prst="rect">
            <a:avLst/>
          </a:prstGeom>
          <a:solidFill>
            <a:schemeClr val="accent2"/>
          </a:solidFill>
          <a:ln/>
        </p:spPr>
      </p:sp>
      <p:sp>
        <p:nvSpPr>
          <p:cNvPr id="17" name="pulse"/>
          <p:cNvSpPr/>
          <p:nvPr/>
        </p:nvSpPr>
        <p:spPr>
          <a:xfrm>
            <a:off x="3154680" y="1783080"/>
            <a:ext cx="109728" cy="457200"/>
          </a:xfrm>
          <a:prstGeom prst="rect">
            <a:avLst/>
          </a:prstGeom>
          <a:solidFill>
            <a:schemeClr val="accent1"/>
          </a:solidFill>
          <a:ln/>
        </p:spPr>
      </p:sp>
      <p:sp>
        <p:nvSpPr>
          <p:cNvPr id="18" name="detected pulse"/>
          <p:cNvSpPr/>
          <p:nvPr/>
        </p:nvSpPr>
        <p:spPr>
          <a:xfrm>
            <a:off x="3154680" y="4251960"/>
            <a:ext cx="109728" cy="274320"/>
          </a:xfrm>
          <a:prstGeom prst="rect">
            <a:avLst/>
          </a:prstGeom>
          <a:solidFill>
            <a:schemeClr val="accent2"/>
          </a:solidFill>
          <a:ln/>
        </p:spPr>
      </p:sp>
      <p:sp>
        <p:nvSpPr>
          <p:cNvPr id="19" name="pulse"/>
          <p:cNvSpPr/>
          <p:nvPr/>
        </p:nvSpPr>
        <p:spPr>
          <a:xfrm>
            <a:off x="3520440" y="1783080"/>
            <a:ext cx="109728" cy="457200"/>
          </a:xfrm>
          <a:prstGeom prst="rect">
            <a:avLst/>
          </a:prstGeom>
          <a:solidFill>
            <a:schemeClr val="accent1"/>
          </a:solidFill>
          <a:ln/>
        </p:spPr>
      </p:sp>
      <p:sp>
        <p:nvSpPr>
          <p:cNvPr id="20" name="detected pulse"/>
          <p:cNvSpPr/>
          <p:nvPr/>
        </p:nvSpPr>
        <p:spPr>
          <a:xfrm>
            <a:off x="3520440" y="4251960"/>
            <a:ext cx="109728" cy="274320"/>
          </a:xfrm>
          <a:prstGeom prst="rect">
            <a:avLst/>
          </a:prstGeom>
          <a:solidFill>
            <a:schemeClr val="accent2"/>
          </a:solidFill>
          <a:ln/>
        </p:spPr>
      </p:sp>
      <p:sp>
        <p:nvSpPr>
          <p:cNvPr id="21" name="pulse"/>
          <p:cNvSpPr/>
          <p:nvPr/>
        </p:nvSpPr>
        <p:spPr>
          <a:xfrm>
            <a:off x="3886200" y="1783080"/>
            <a:ext cx="109728" cy="457200"/>
          </a:xfrm>
          <a:prstGeom prst="rect">
            <a:avLst/>
          </a:prstGeom>
          <a:solidFill>
            <a:schemeClr val="accent1"/>
          </a:solidFill>
          <a:ln/>
        </p:spPr>
      </p:sp>
      <p:sp>
        <p:nvSpPr>
          <p:cNvPr id="22" name="detected pulse"/>
          <p:cNvSpPr/>
          <p:nvPr/>
        </p:nvSpPr>
        <p:spPr>
          <a:xfrm>
            <a:off x="3886200" y="4251960"/>
            <a:ext cx="109728" cy="274320"/>
          </a:xfrm>
          <a:prstGeom prst="rect">
            <a:avLst/>
          </a:prstGeom>
          <a:solidFill>
            <a:schemeClr val="accent2"/>
          </a:solidFill>
          <a:ln/>
        </p:spPr>
      </p:sp>
      <p:sp>
        <p:nvSpPr>
          <p:cNvPr id="23" name="pulse"/>
          <p:cNvSpPr/>
          <p:nvPr/>
        </p:nvSpPr>
        <p:spPr>
          <a:xfrm>
            <a:off x="4251960" y="1783080"/>
            <a:ext cx="109728" cy="457200"/>
          </a:xfrm>
          <a:prstGeom prst="rect">
            <a:avLst/>
          </a:prstGeom>
          <a:solidFill>
            <a:schemeClr val="accent1"/>
          </a:solidFill>
          <a:ln/>
        </p:spPr>
      </p:sp>
      <p:sp>
        <p:nvSpPr>
          <p:cNvPr id="24" name="detected pulse"/>
          <p:cNvSpPr/>
          <p:nvPr/>
        </p:nvSpPr>
        <p:spPr>
          <a:xfrm>
            <a:off x="4251960" y="4251960"/>
            <a:ext cx="109728" cy="274320"/>
          </a:xfrm>
          <a:prstGeom prst="rect">
            <a:avLst/>
          </a:prstGeom>
          <a:solidFill>
            <a:schemeClr val="accent2"/>
          </a:solidFill>
          <a:ln/>
        </p:spPr>
      </p:sp>
      <p:sp>
        <p:nvSpPr>
          <p:cNvPr id="25" name="pulse"/>
          <p:cNvSpPr/>
          <p:nvPr/>
        </p:nvSpPr>
        <p:spPr>
          <a:xfrm>
            <a:off x="4617720" y="1783080"/>
            <a:ext cx="109728" cy="457200"/>
          </a:xfrm>
          <a:prstGeom prst="rect">
            <a:avLst/>
          </a:prstGeom>
          <a:solidFill>
            <a:schemeClr val="accent1"/>
          </a:solidFill>
          <a:ln/>
        </p:spPr>
      </p:sp>
      <p:sp>
        <p:nvSpPr>
          <p:cNvPr id="26" name="detected pulse"/>
          <p:cNvSpPr/>
          <p:nvPr/>
        </p:nvSpPr>
        <p:spPr>
          <a:xfrm>
            <a:off x="4617720" y="4251960"/>
            <a:ext cx="109728" cy="274320"/>
          </a:xfrm>
          <a:prstGeom prst="rect">
            <a:avLst/>
          </a:prstGeom>
          <a:solidFill>
            <a:schemeClr val="accent2"/>
          </a:solidFill>
          <a:ln/>
        </p:spPr>
      </p:sp>
      <p:sp>
        <p:nvSpPr>
          <p:cNvPr id="27" name="pulse"/>
          <p:cNvSpPr/>
          <p:nvPr/>
        </p:nvSpPr>
        <p:spPr>
          <a:xfrm>
            <a:off x="4983480" y="1783080"/>
            <a:ext cx="109728" cy="457200"/>
          </a:xfrm>
          <a:prstGeom prst="rect">
            <a:avLst/>
          </a:prstGeom>
          <a:solidFill>
            <a:schemeClr val="accent1"/>
          </a:solidFill>
          <a:ln/>
        </p:spPr>
      </p:sp>
      <p:sp>
        <p:nvSpPr>
          <p:cNvPr id="28" name="detected pulse"/>
          <p:cNvSpPr/>
          <p:nvPr/>
        </p:nvSpPr>
        <p:spPr>
          <a:xfrm>
            <a:off x="4983480" y="4251960"/>
            <a:ext cx="109728" cy="274320"/>
          </a:xfrm>
          <a:prstGeom prst="rect">
            <a:avLst/>
          </a:prstGeom>
          <a:solidFill>
            <a:schemeClr val="accent2"/>
          </a:solidFill>
          <a:ln/>
        </p:spPr>
      </p:sp>
      <p:sp>
        <p:nvSpPr>
          <p:cNvPr id="29" name="pulse"/>
          <p:cNvSpPr/>
          <p:nvPr/>
        </p:nvSpPr>
        <p:spPr>
          <a:xfrm>
            <a:off x="5349240" y="1783080"/>
            <a:ext cx="109728" cy="457200"/>
          </a:xfrm>
          <a:prstGeom prst="rect">
            <a:avLst/>
          </a:prstGeom>
          <a:solidFill>
            <a:schemeClr val="accent1"/>
          </a:solidFill>
          <a:ln/>
        </p:spPr>
      </p:sp>
      <p:sp>
        <p:nvSpPr>
          <p:cNvPr id="30" name="detected pulse"/>
          <p:cNvSpPr/>
          <p:nvPr/>
        </p:nvSpPr>
        <p:spPr>
          <a:xfrm>
            <a:off x="5349240" y="4251960"/>
            <a:ext cx="109728" cy="274320"/>
          </a:xfrm>
          <a:prstGeom prst="rect">
            <a:avLst/>
          </a:prstGeom>
          <a:solidFill>
            <a:schemeClr val="accent2"/>
          </a:solidFill>
          <a:ln/>
        </p:spPr>
      </p:sp>
      <p:sp>
        <p:nvSpPr>
          <p:cNvPr id="31" name="pulse"/>
          <p:cNvSpPr/>
          <p:nvPr/>
        </p:nvSpPr>
        <p:spPr>
          <a:xfrm>
            <a:off x="5715000" y="1783080"/>
            <a:ext cx="109728" cy="457200"/>
          </a:xfrm>
          <a:prstGeom prst="rect">
            <a:avLst/>
          </a:prstGeom>
          <a:solidFill>
            <a:schemeClr val="accent1"/>
          </a:solidFill>
          <a:ln/>
        </p:spPr>
      </p:sp>
      <p:sp>
        <p:nvSpPr>
          <p:cNvPr id="32" name="detected pulse"/>
          <p:cNvSpPr/>
          <p:nvPr/>
        </p:nvSpPr>
        <p:spPr>
          <a:xfrm>
            <a:off x="5715000" y="4251960"/>
            <a:ext cx="109728" cy="274320"/>
          </a:xfrm>
          <a:prstGeom prst="rect">
            <a:avLst/>
          </a:prstGeom>
          <a:solidFill>
            <a:schemeClr val="accent2"/>
          </a:solidFill>
          <a:ln/>
        </p:spPr>
      </p:sp>
      <p:sp>
        <p:nvSpPr>
          <p:cNvPr id="33" name="pulse"/>
          <p:cNvSpPr/>
          <p:nvPr/>
        </p:nvSpPr>
        <p:spPr>
          <a:xfrm>
            <a:off x="6080760" y="1783080"/>
            <a:ext cx="109728" cy="457200"/>
          </a:xfrm>
          <a:prstGeom prst="rect">
            <a:avLst/>
          </a:prstGeom>
          <a:solidFill>
            <a:schemeClr val="accent1"/>
          </a:solidFill>
          <a:ln/>
        </p:spPr>
      </p:sp>
      <p:sp>
        <p:nvSpPr>
          <p:cNvPr id="34" name="detected pulse"/>
          <p:cNvSpPr/>
          <p:nvPr/>
        </p:nvSpPr>
        <p:spPr>
          <a:xfrm>
            <a:off x="6080760" y="4251960"/>
            <a:ext cx="109728" cy="274320"/>
          </a:xfrm>
          <a:prstGeom prst="rect">
            <a:avLst/>
          </a:prstGeom>
          <a:solidFill>
            <a:schemeClr val="accent2"/>
          </a:solidFill>
          <a:ln/>
        </p:spPr>
      </p:sp>
      <p:sp>
        <p:nvSpPr>
          <p:cNvPr id="35" name="pulse"/>
          <p:cNvSpPr/>
          <p:nvPr/>
        </p:nvSpPr>
        <p:spPr>
          <a:xfrm>
            <a:off x="6446520" y="1783080"/>
            <a:ext cx="109728" cy="457200"/>
          </a:xfrm>
          <a:prstGeom prst="rect">
            <a:avLst/>
          </a:prstGeom>
          <a:solidFill>
            <a:schemeClr val="accent1"/>
          </a:solidFill>
          <a:ln/>
        </p:spPr>
      </p:sp>
      <p:sp>
        <p:nvSpPr>
          <p:cNvPr id="36" name="detected pulse"/>
          <p:cNvSpPr/>
          <p:nvPr/>
        </p:nvSpPr>
        <p:spPr>
          <a:xfrm>
            <a:off x="6446520" y="4251960"/>
            <a:ext cx="109728" cy="274320"/>
          </a:xfrm>
          <a:prstGeom prst="rect">
            <a:avLst/>
          </a:prstGeom>
          <a:solidFill>
            <a:schemeClr val="accent2"/>
          </a:solidFill>
          <a:ln/>
        </p:spPr>
      </p:sp>
      <p:sp>
        <p:nvSpPr>
          <p:cNvPr id="37" name="ambient light"/>
          <p:cNvSpPr/>
          <p:nvPr/>
        </p:nvSpPr>
        <p:spPr>
          <a:xfrm>
            <a:off x="2286000" y="2697480"/>
            <a:ext cx="4572000" cy="685800"/>
          </a:xfrm>
          <a:prstGeom prst="rect">
            <a:avLst/>
          </a:prstGeom>
          <a:solidFill>
            <a:schemeClr val="accent3">
              <a:alpha val="75000"/>
            </a:schemeClr>
          </a:solidFill>
          <a:ln/>
        </p:spPr>
      </p:sp>
      <p:sp>
        <p:nvSpPr>
          <p:cNvPr id="38" name="Text 35"/>
          <p:cNvSpPr txBox="1"/>
          <p:nvPr/>
        </p:nvSpPr>
        <p:spPr>
          <a:xfrm>
            <a:off x="6126480" y="4572000"/>
            <a:ext cx="731520" cy="274320"/>
          </a:xfrm>
          <a:prstGeom prst="rect">
            <a:avLst/>
          </a:prstGeom>
          <a:noFill/>
          <a:ln/>
        </p:spPr>
        <p:txBody>
          <a:bodyPr wrap="square" lIns="0" tIns="0" rIns="0" bIns="0" rtlCol="0" anchor="ctr"/>
          <a:lstStyle/>
          <a:p>
            <a:pPr marL="0" indent="0" algn="r">
              <a:buNone/>
            </a:pPr>
            <a:r>
              <a:rPr lang="en-US" sz="1100" i="1" dirty="0">
                <a:solidFill>
                  <a:schemeClr val="accent6"/>
                </a:solidFill>
              </a:rPr>
              <a:t>Time →</a:t>
            </a:r>
            <a:endParaRPr lang="en-US" sz="1100" dirty="0"/>
          </a:p>
        </p:txBody>
      </p:sp>
      <p:sp>
        <p:nvSpPr>
          <p:cNvPr id="39" name="insight"/>
          <p:cNvSpPr/>
          <p:nvPr/>
        </p:nvSpPr>
        <p:spPr>
          <a:xfrm>
            <a:off x="548640" y="4983480"/>
            <a:ext cx="6309360" cy="1188720"/>
          </a:xfrm>
          <a:prstGeom prst="roundRect">
            <a:avLst>
              <a:gd name="adj" fmla="val 6154"/>
            </a:avLst>
          </a:prstGeom>
          <a:solidFill>
            <a:schemeClr val="bg2"/>
          </a:solidFill>
          <a:ln/>
        </p:spPr>
      </p:sp>
      <p:sp>
        <p:nvSpPr>
          <p:cNvPr id="40" name="Text 37"/>
          <p:cNvSpPr txBox="1"/>
          <p:nvPr/>
        </p:nvSpPr>
        <p:spPr>
          <a:xfrm>
            <a:off x="731520" y="5047488"/>
            <a:ext cx="5943600" cy="1051560"/>
          </a:xfrm>
          <a:prstGeom prst="rect">
            <a:avLst/>
          </a:prstGeom>
          <a:noFill/>
          <a:ln/>
        </p:spPr>
        <p:txBody>
          <a:bodyPr wrap="square" lIns="508" tIns="508" rIns="508" bIns="508" rtlCol="0" anchor="ctr"/>
          <a:lstStyle/>
          <a:p>
            <a:pPr marL="0" indent="0">
              <a:spcAft>
                <a:spcPts val="600"/>
              </a:spcAft>
              <a:buNone/>
            </a:pPr>
            <a:r>
              <a:rPr lang="en-US" sz="1300" b="1" dirty="0">
                <a:solidFill>
                  <a:schemeClr val="tx1"/>
                </a:solidFill>
              </a:rPr>
              <a:t>Result:</a:t>
            </a:r>
            <a:r>
              <a:rPr lang="en-US" sz="1300" dirty="0">
                <a:solidFill>
                  <a:schemeClr val="tx1"/>
                </a:solidFill>
              </a:rPr>
              <a:t> measurements can be made </a:t>
            </a:r>
            <a:r>
              <a:rPr lang="en-US" sz="1300" b="1" dirty="0">
                <a:solidFill>
                  <a:schemeClr val="tx1"/>
                </a:solidFill>
              </a:rPr>
              <a:t>without darkening the leaf</a:t>
            </a:r>
            <a:r>
              <a:rPr lang="en-US" sz="1300" dirty="0">
                <a:solidFill>
                  <a:schemeClr val="tx1"/>
                </a:solidFill>
              </a:rPr>
              <a:t>. Older non-modulated systems needed darkness or tightly controlled light. Non-modulated devices are returning for fast </a:t>
            </a:r>
            <a:r>
              <a:rPr lang="en-US" sz="1300" b="1" dirty="0">
                <a:solidFill>
                  <a:schemeClr val="tx1"/>
                </a:solidFill>
              </a:rPr>
              <a:t>OJIP</a:t>
            </a:r>
            <a:r>
              <a:rPr lang="en-US" sz="1300" dirty="0">
                <a:solidFill>
                  <a:schemeClr val="tx1"/>
                </a:solidFill>
              </a:rPr>
              <a:t> transients from a 1 s pulse on dark-adapted leaves.</a:t>
            </a:r>
            <a:endParaRPr lang="en-US" sz="1300" dirty="0"/>
          </a:p>
        </p:txBody>
      </p:sp>
      <p:sp>
        <p:nvSpPr>
          <p:cNvPr id="41" name="card"/>
          <p:cNvSpPr/>
          <p:nvPr/>
        </p:nvSpPr>
        <p:spPr>
          <a:xfrm>
            <a:off x="7178040" y="1325880"/>
            <a:ext cx="4462272" cy="1115568"/>
          </a:xfrm>
          <a:prstGeom prst="roundRect">
            <a:avLst>
              <a:gd name="adj" fmla="val 6557"/>
            </a:avLst>
          </a:prstGeom>
          <a:solidFill>
            <a:schemeClr val="bg2"/>
          </a:solidFill>
          <a:ln/>
          <a:effectLst>
            <a:outerShdw blurRad="76200" dist="25400" dir="5400000" algn="bl" rotWithShape="0">
              <a:srgbClr val="000000">
                <a:alpha val="14000"/>
              </a:srgbClr>
            </a:outerShdw>
          </a:effectLst>
        </p:spPr>
      </p:sp>
      <p:sp>
        <p:nvSpPr>
          <p:cNvPr id="42" name="icon circle"/>
          <p:cNvSpPr/>
          <p:nvPr/>
        </p:nvSpPr>
        <p:spPr>
          <a:xfrm>
            <a:off x="7360920" y="1481328"/>
            <a:ext cx="420624" cy="420624"/>
          </a:xfrm>
          <a:prstGeom prst="ellipse">
            <a:avLst/>
          </a:prstGeom>
          <a:solidFill>
            <a:schemeClr val="accent1"/>
          </a:solidFill>
          <a:ln/>
        </p:spPr>
      </p:sp>
      <p:pic>
        <p:nvPicPr>
          <p:cNvPr id="43" name="Image 0" descr="Eye icon"/>
          <p:cNvPicPr>
            <a:picLocks noChangeAspect="1"/>
          </p:cNvPicPr>
          <p:nvPr/>
        </p:nvPicPr>
        <p:blipFill>
          <a:blip r:embed="rId3"/>
          <a:stretch>
            <a:fillRect/>
          </a:stretch>
        </p:blipFill>
        <p:spPr>
          <a:xfrm>
            <a:off x="7470282" y="1590690"/>
            <a:ext cx="201900" cy="201900"/>
          </a:xfrm>
          <a:prstGeom prst="rect">
            <a:avLst/>
          </a:prstGeom>
        </p:spPr>
      </p:pic>
      <p:sp>
        <p:nvSpPr>
          <p:cNvPr id="44" name="Text 40"/>
          <p:cNvSpPr txBox="1"/>
          <p:nvPr/>
        </p:nvSpPr>
        <p:spPr>
          <a:xfrm>
            <a:off x="7891272" y="1463040"/>
            <a:ext cx="3611880" cy="457200"/>
          </a:xfrm>
          <a:prstGeom prst="rect">
            <a:avLst/>
          </a:prstGeom>
          <a:noFill/>
          <a:ln/>
        </p:spPr>
        <p:txBody>
          <a:bodyPr wrap="square" lIns="0" tIns="0" rIns="0" bIns="0" rtlCol="0" anchor="ctr"/>
          <a:lstStyle/>
          <a:p>
            <a:pPr marL="0" indent="0">
              <a:buNone/>
            </a:pPr>
            <a:r>
              <a:rPr lang="en-US" sz="1500" b="1" dirty="0">
                <a:solidFill>
                  <a:schemeClr val="tx2"/>
                </a:solidFill>
              </a:rPr>
              <a:t>Measuring light (ML)</a:t>
            </a:r>
            <a:endParaRPr lang="en-US" sz="1500" dirty="0"/>
          </a:p>
        </p:txBody>
      </p:sp>
      <p:sp>
        <p:nvSpPr>
          <p:cNvPr id="45" name="Text 41"/>
          <p:cNvSpPr txBox="1"/>
          <p:nvPr/>
        </p:nvSpPr>
        <p:spPr>
          <a:xfrm>
            <a:off x="7360920" y="2011680"/>
            <a:ext cx="4096512" cy="338328"/>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Too weak to drive electron transport, but enough to excite </a:t>
            </a:r>
            <a:r>
              <a:rPr lang="en-US" sz="1300" b="1" dirty="0">
                <a:solidFill>
                  <a:schemeClr val="tx1"/>
                </a:solidFill>
              </a:rPr>
              <a:t>F</a:t>
            </a:r>
            <a:r>
              <a:rPr lang="en-US" sz="1300" b="1" baseline="-40000" dirty="0">
                <a:solidFill>
                  <a:schemeClr val="tx1"/>
                </a:solidFill>
              </a:rPr>
              <a:t>o</a:t>
            </a:r>
            <a:endParaRPr lang="en-US" sz="1300" dirty="0"/>
          </a:p>
        </p:txBody>
      </p:sp>
      <p:sp>
        <p:nvSpPr>
          <p:cNvPr id="46" name="card"/>
          <p:cNvSpPr/>
          <p:nvPr/>
        </p:nvSpPr>
        <p:spPr>
          <a:xfrm>
            <a:off x="7178040" y="2551176"/>
            <a:ext cx="4462272" cy="1115568"/>
          </a:xfrm>
          <a:prstGeom prst="roundRect">
            <a:avLst>
              <a:gd name="adj" fmla="val 6557"/>
            </a:avLst>
          </a:prstGeom>
          <a:solidFill>
            <a:schemeClr val="bg2"/>
          </a:solidFill>
          <a:ln/>
          <a:effectLst>
            <a:outerShdw blurRad="76200" dist="25400" dir="5400000" algn="bl" rotWithShape="0">
              <a:srgbClr val="000000">
                <a:alpha val="14000"/>
              </a:srgbClr>
            </a:outerShdw>
          </a:effectLst>
        </p:spPr>
      </p:sp>
      <p:sp>
        <p:nvSpPr>
          <p:cNvPr id="47" name="icon circle"/>
          <p:cNvSpPr/>
          <p:nvPr/>
        </p:nvSpPr>
        <p:spPr>
          <a:xfrm>
            <a:off x="7360920" y="2706624"/>
            <a:ext cx="420624" cy="420624"/>
          </a:xfrm>
          <a:prstGeom prst="ellipse">
            <a:avLst/>
          </a:prstGeom>
          <a:solidFill>
            <a:schemeClr val="accent3"/>
          </a:solidFill>
          <a:ln/>
        </p:spPr>
      </p:sp>
      <p:pic>
        <p:nvPicPr>
          <p:cNvPr id="48" name="Image 1" descr="Sun icon"/>
          <p:cNvPicPr>
            <a:picLocks noChangeAspect="1"/>
          </p:cNvPicPr>
          <p:nvPr/>
        </p:nvPicPr>
        <p:blipFill>
          <a:blip r:embed="rId4"/>
          <a:stretch>
            <a:fillRect/>
          </a:stretch>
        </p:blipFill>
        <p:spPr>
          <a:xfrm>
            <a:off x="7470282" y="2815986"/>
            <a:ext cx="201900" cy="201900"/>
          </a:xfrm>
          <a:prstGeom prst="rect">
            <a:avLst/>
          </a:prstGeom>
        </p:spPr>
      </p:pic>
      <p:sp>
        <p:nvSpPr>
          <p:cNvPr id="49" name="Text 44"/>
          <p:cNvSpPr txBox="1"/>
          <p:nvPr/>
        </p:nvSpPr>
        <p:spPr>
          <a:xfrm>
            <a:off x="7891272" y="2688336"/>
            <a:ext cx="3611880" cy="457200"/>
          </a:xfrm>
          <a:prstGeom prst="rect">
            <a:avLst/>
          </a:prstGeom>
          <a:noFill/>
          <a:ln/>
        </p:spPr>
        <p:txBody>
          <a:bodyPr wrap="square" lIns="0" tIns="0" rIns="0" bIns="0" rtlCol="0" anchor="ctr"/>
          <a:lstStyle/>
          <a:p>
            <a:pPr marL="0" indent="0">
              <a:buNone/>
            </a:pPr>
            <a:r>
              <a:rPr lang="en-US" sz="1500" b="1" dirty="0">
                <a:solidFill>
                  <a:schemeClr val="tx2"/>
                </a:solidFill>
              </a:rPr>
              <a:t>Actinic light (AL)</a:t>
            </a:r>
            <a:endParaRPr lang="en-US" sz="1500" dirty="0"/>
          </a:p>
        </p:txBody>
      </p:sp>
      <p:sp>
        <p:nvSpPr>
          <p:cNvPr id="50" name="Text 45"/>
          <p:cNvSpPr txBox="1"/>
          <p:nvPr/>
        </p:nvSpPr>
        <p:spPr>
          <a:xfrm>
            <a:off x="7360920" y="3236976"/>
            <a:ext cx="4096512" cy="338328"/>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Drives photosynthesis (photochemistry); the leaf's 'working' light</a:t>
            </a:r>
            <a:endParaRPr lang="en-US" sz="1300" dirty="0"/>
          </a:p>
        </p:txBody>
      </p:sp>
      <p:sp>
        <p:nvSpPr>
          <p:cNvPr id="51" name="card"/>
          <p:cNvSpPr/>
          <p:nvPr/>
        </p:nvSpPr>
        <p:spPr>
          <a:xfrm>
            <a:off x="7178040" y="3776472"/>
            <a:ext cx="4462272" cy="1115568"/>
          </a:xfrm>
          <a:prstGeom prst="roundRect">
            <a:avLst>
              <a:gd name="adj" fmla="val 6557"/>
            </a:avLst>
          </a:prstGeom>
          <a:solidFill>
            <a:schemeClr val="bg2"/>
          </a:solidFill>
          <a:ln/>
          <a:effectLst>
            <a:outerShdw blurRad="76200" dist="25400" dir="5400000" algn="bl" rotWithShape="0">
              <a:srgbClr val="000000">
                <a:alpha val="14000"/>
              </a:srgbClr>
            </a:outerShdw>
          </a:effectLst>
        </p:spPr>
      </p:sp>
      <p:sp>
        <p:nvSpPr>
          <p:cNvPr id="52" name="icon circle"/>
          <p:cNvSpPr/>
          <p:nvPr/>
        </p:nvSpPr>
        <p:spPr>
          <a:xfrm>
            <a:off x="7360920" y="3931920"/>
            <a:ext cx="420624" cy="420624"/>
          </a:xfrm>
          <a:prstGeom prst="ellipse">
            <a:avLst/>
          </a:prstGeom>
          <a:solidFill>
            <a:schemeClr val="accent2"/>
          </a:solidFill>
          <a:ln/>
        </p:spPr>
      </p:sp>
      <p:pic>
        <p:nvPicPr>
          <p:cNvPr id="53" name="Image 2" descr="Bolt icon"/>
          <p:cNvPicPr>
            <a:picLocks noChangeAspect="1"/>
          </p:cNvPicPr>
          <p:nvPr/>
        </p:nvPicPr>
        <p:blipFill>
          <a:blip r:embed="rId5"/>
          <a:stretch>
            <a:fillRect/>
          </a:stretch>
        </p:blipFill>
        <p:spPr>
          <a:xfrm>
            <a:off x="7470282" y="4041282"/>
            <a:ext cx="201900" cy="201900"/>
          </a:xfrm>
          <a:prstGeom prst="rect">
            <a:avLst/>
          </a:prstGeom>
        </p:spPr>
      </p:pic>
      <p:sp>
        <p:nvSpPr>
          <p:cNvPr id="54" name="Text 48"/>
          <p:cNvSpPr txBox="1"/>
          <p:nvPr/>
        </p:nvSpPr>
        <p:spPr>
          <a:xfrm>
            <a:off x="7891272" y="3913632"/>
            <a:ext cx="3611880" cy="457200"/>
          </a:xfrm>
          <a:prstGeom prst="rect">
            <a:avLst/>
          </a:prstGeom>
          <a:noFill/>
          <a:ln/>
        </p:spPr>
        <p:txBody>
          <a:bodyPr wrap="square" lIns="0" tIns="0" rIns="0" bIns="0" rtlCol="0" anchor="ctr"/>
          <a:lstStyle/>
          <a:p>
            <a:pPr marL="0" indent="0">
              <a:buNone/>
            </a:pPr>
            <a:r>
              <a:rPr lang="en-US" sz="1500" b="1" dirty="0">
                <a:solidFill>
                  <a:schemeClr val="tx2"/>
                </a:solidFill>
              </a:rPr>
              <a:t>Saturating pulse (SP)</a:t>
            </a:r>
            <a:endParaRPr lang="en-US" sz="1500" dirty="0"/>
          </a:p>
        </p:txBody>
      </p:sp>
      <p:sp>
        <p:nvSpPr>
          <p:cNvPr id="55" name="Text 49"/>
          <p:cNvSpPr txBox="1"/>
          <p:nvPr/>
        </p:nvSpPr>
        <p:spPr>
          <a:xfrm>
            <a:off x="7360920" y="4462272"/>
            <a:ext cx="4096512" cy="338328"/>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Very bright (≥4000 µmol m⁻² s⁻¹), &lt;1 s; closes all PSII centres → </a:t>
            </a:r>
            <a:r>
              <a:rPr lang="en-US" sz="1300" b="1" dirty="0">
                <a:solidFill>
                  <a:schemeClr val="tx1"/>
                </a:solidFill>
              </a:rPr>
              <a:t>F</a:t>
            </a:r>
            <a:r>
              <a:rPr lang="en-US" sz="1300" b="1" baseline="-40000" dirty="0">
                <a:solidFill>
                  <a:schemeClr val="tx1"/>
                </a:solidFill>
              </a:rPr>
              <a:t>m</a:t>
            </a:r>
            <a:r>
              <a:rPr lang="en-US" sz="1300" dirty="0">
                <a:solidFill>
                  <a:schemeClr val="tx1"/>
                </a:solidFill>
              </a:rPr>
              <a:t>, </a:t>
            </a:r>
            <a:r>
              <a:rPr lang="en-US" sz="1300" b="1" dirty="0">
                <a:solidFill>
                  <a:schemeClr val="tx1"/>
                </a:solidFill>
              </a:rPr>
              <a:t>F</a:t>
            </a:r>
            <a:r>
              <a:rPr lang="en-US" sz="1300" b="1" baseline="-40000" dirty="0">
                <a:solidFill>
                  <a:schemeClr val="tx1"/>
                </a:solidFill>
              </a:rPr>
              <a:t>m</a:t>
            </a:r>
            <a:r>
              <a:rPr lang="en-US" sz="1300" b="1" dirty="0">
                <a:solidFill>
                  <a:schemeClr val="tx1"/>
                </a:solidFill>
              </a:rPr>
              <a:t>′</a:t>
            </a:r>
            <a:endParaRPr lang="en-US" sz="1300" dirty="0"/>
          </a:p>
        </p:txBody>
      </p:sp>
      <p:sp>
        <p:nvSpPr>
          <p:cNvPr id="56" name="card"/>
          <p:cNvSpPr/>
          <p:nvPr/>
        </p:nvSpPr>
        <p:spPr>
          <a:xfrm>
            <a:off x="7178040" y="5001768"/>
            <a:ext cx="4462272" cy="1115568"/>
          </a:xfrm>
          <a:prstGeom prst="roundRect">
            <a:avLst>
              <a:gd name="adj" fmla="val 6557"/>
            </a:avLst>
          </a:prstGeom>
          <a:solidFill>
            <a:schemeClr val="bg2"/>
          </a:solidFill>
          <a:ln/>
          <a:effectLst>
            <a:outerShdw blurRad="76200" dist="25400" dir="5400000" algn="bl" rotWithShape="0">
              <a:srgbClr val="000000">
                <a:alpha val="14000"/>
              </a:srgbClr>
            </a:outerShdw>
          </a:effectLst>
        </p:spPr>
      </p:sp>
      <p:sp>
        <p:nvSpPr>
          <p:cNvPr id="57" name="icon circle"/>
          <p:cNvSpPr/>
          <p:nvPr/>
        </p:nvSpPr>
        <p:spPr>
          <a:xfrm>
            <a:off x="7360920" y="5157216"/>
            <a:ext cx="420624" cy="420624"/>
          </a:xfrm>
          <a:prstGeom prst="ellipse">
            <a:avLst/>
          </a:prstGeom>
          <a:solidFill>
            <a:schemeClr val="accent4"/>
          </a:solidFill>
          <a:ln/>
        </p:spPr>
      </p:sp>
      <p:pic>
        <p:nvPicPr>
          <p:cNvPr id="58" name="Image 3" descr="WaveSquare icon"/>
          <p:cNvPicPr>
            <a:picLocks noChangeAspect="1"/>
          </p:cNvPicPr>
          <p:nvPr/>
        </p:nvPicPr>
        <p:blipFill>
          <a:blip r:embed="rId6"/>
          <a:stretch>
            <a:fillRect/>
          </a:stretch>
        </p:blipFill>
        <p:spPr>
          <a:xfrm>
            <a:off x="7470282" y="5266578"/>
            <a:ext cx="201900" cy="201900"/>
          </a:xfrm>
          <a:prstGeom prst="rect">
            <a:avLst/>
          </a:prstGeom>
        </p:spPr>
      </p:pic>
      <p:sp>
        <p:nvSpPr>
          <p:cNvPr id="59" name="Text 52"/>
          <p:cNvSpPr txBox="1"/>
          <p:nvPr/>
        </p:nvSpPr>
        <p:spPr>
          <a:xfrm>
            <a:off x="7891272" y="5138928"/>
            <a:ext cx="3611880" cy="457200"/>
          </a:xfrm>
          <a:prstGeom prst="rect">
            <a:avLst/>
          </a:prstGeom>
          <a:noFill/>
          <a:ln/>
        </p:spPr>
        <p:txBody>
          <a:bodyPr wrap="square" lIns="0" tIns="0" rIns="0" bIns="0" rtlCol="0" anchor="ctr"/>
          <a:lstStyle/>
          <a:p>
            <a:pPr marL="0" indent="0">
              <a:buNone/>
            </a:pPr>
            <a:r>
              <a:rPr lang="en-US" sz="1500" b="1" dirty="0">
                <a:solidFill>
                  <a:schemeClr val="tx2"/>
                </a:solidFill>
              </a:rPr>
              <a:t>Far-red light (FR)</a:t>
            </a:r>
            <a:endParaRPr lang="en-US" sz="1500" dirty="0"/>
          </a:p>
        </p:txBody>
      </p:sp>
      <p:sp>
        <p:nvSpPr>
          <p:cNvPr id="60" name="Text 53"/>
          <p:cNvSpPr txBox="1"/>
          <p:nvPr/>
        </p:nvSpPr>
        <p:spPr>
          <a:xfrm>
            <a:off x="7360920" y="5687568"/>
            <a:ext cx="4096512" cy="338328"/>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Excites PSI preferentially, drains electrons from Q</a:t>
            </a:r>
            <a:r>
              <a:rPr lang="en-US" sz="1300" baseline="-40000" dirty="0">
                <a:solidFill>
                  <a:schemeClr val="tx1"/>
                </a:solidFill>
              </a:rPr>
              <a:t>A</a:t>
            </a:r>
            <a:r>
              <a:rPr lang="en-US" sz="1300" dirty="0">
                <a:solidFill>
                  <a:schemeClr val="tx1"/>
                </a:solidFill>
              </a:rPr>
              <a:t>/PQ → accurate </a:t>
            </a:r>
            <a:r>
              <a:rPr lang="en-US" sz="1300" b="1" dirty="0">
                <a:solidFill>
                  <a:schemeClr val="tx1"/>
                </a:solidFill>
              </a:rPr>
              <a:t>F</a:t>
            </a:r>
            <a:r>
              <a:rPr lang="en-US" sz="1300" b="1" baseline="-40000" dirty="0">
                <a:solidFill>
                  <a:schemeClr val="tx1"/>
                </a:solidFill>
              </a:rPr>
              <a:t>o</a:t>
            </a:r>
            <a:r>
              <a:rPr lang="en-US" sz="1300" b="1" dirty="0">
                <a:solidFill>
                  <a:schemeClr val="tx1"/>
                </a:solidFill>
              </a:rPr>
              <a:t>′</a:t>
            </a:r>
            <a:endParaRPr lang="en-US" sz="13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Instruments: from leaf clips to imaging systems</a:t>
            </a:r>
            <a:endParaRPr lang="en-US" sz="3200" dirty="0"/>
          </a:p>
        </p:txBody>
      </p:sp>
      <p:sp>
        <p:nvSpPr>
          <p:cNvPr id="4" name="figure frame"/>
          <p:cNvSpPr/>
          <p:nvPr/>
        </p:nvSpPr>
        <p:spPr>
          <a:xfrm>
            <a:off x="548640" y="1325880"/>
            <a:ext cx="2651760" cy="2331720"/>
          </a:xfrm>
          <a:prstGeom prst="roundRect">
            <a:avLst>
              <a:gd name="adj" fmla="val 2353"/>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5" name="Image 0" descr="Dark-adaptation leaf clips"/>
          <p:cNvPicPr>
            <a:picLocks noChangeAspect="1"/>
          </p:cNvPicPr>
          <p:nvPr/>
        </p:nvPicPr>
        <p:blipFill>
          <a:blip r:embed="rId3"/>
          <a:stretch>
            <a:fillRect/>
          </a:stretch>
        </p:blipFill>
        <p:spPr>
          <a:xfrm>
            <a:off x="640080" y="1711234"/>
            <a:ext cx="2468880" cy="1561011"/>
          </a:xfrm>
          <a:prstGeom prst="rect">
            <a:avLst/>
          </a:prstGeom>
        </p:spPr>
      </p:pic>
      <p:sp>
        <p:nvSpPr>
          <p:cNvPr id="6" name="Text 2"/>
          <p:cNvSpPr txBox="1"/>
          <p:nvPr/>
        </p:nvSpPr>
        <p:spPr>
          <a:xfrm>
            <a:off x="548640" y="3703320"/>
            <a:ext cx="2651760" cy="365760"/>
          </a:xfrm>
          <a:prstGeom prst="rect">
            <a:avLst/>
          </a:prstGeom>
          <a:noFill/>
          <a:ln/>
        </p:spPr>
        <p:txBody>
          <a:bodyPr wrap="square" lIns="0" tIns="0" rIns="0" bIns="0" rtlCol="0" anchor="t"/>
          <a:lstStyle/>
          <a:p>
            <a:pPr marL="0" indent="0">
              <a:buNone/>
            </a:pPr>
            <a:r>
              <a:rPr lang="en-US" sz="1100" i="1" dirty="0">
                <a:solidFill>
                  <a:schemeClr val="accent6"/>
                </a:solidFill>
              </a:rPr>
              <a:t>Dark-adaptation leaf clips</a:t>
            </a:r>
            <a:endParaRPr lang="en-US" sz="1100" dirty="0"/>
          </a:p>
        </p:txBody>
      </p:sp>
      <p:sp>
        <p:nvSpPr>
          <p:cNvPr id="7" name="figure frame"/>
          <p:cNvSpPr/>
          <p:nvPr/>
        </p:nvSpPr>
        <p:spPr>
          <a:xfrm>
            <a:off x="3364992" y="1325880"/>
            <a:ext cx="2651760" cy="2331720"/>
          </a:xfrm>
          <a:prstGeom prst="roundRect">
            <a:avLst>
              <a:gd name="adj" fmla="val 2353"/>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8" name="Image 1" descr="Hand-held fluorometer on a leaf"/>
          <p:cNvPicPr>
            <a:picLocks noChangeAspect="1"/>
          </p:cNvPicPr>
          <p:nvPr/>
        </p:nvPicPr>
        <p:blipFill>
          <a:blip r:embed="rId4"/>
          <a:stretch>
            <a:fillRect/>
          </a:stretch>
        </p:blipFill>
        <p:spPr>
          <a:xfrm>
            <a:off x="3456432" y="1515291"/>
            <a:ext cx="2468880" cy="1952897"/>
          </a:xfrm>
          <a:prstGeom prst="rect">
            <a:avLst/>
          </a:prstGeom>
        </p:spPr>
      </p:pic>
      <p:sp>
        <p:nvSpPr>
          <p:cNvPr id="9" name="Text 4"/>
          <p:cNvSpPr txBox="1"/>
          <p:nvPr/>
        </p:nvSpPr>
        <p:spPr>
          <a:xfrm>
            <a:off x="3364992" y="3703320"/>
            <a:ext cx="2651760" cy="365760"/>
          </a:xfrm>
          <a:prstGeom prst="rect">
            <a:avLst/>
          </a:prstGeom>
          <a:noFill/>
          <a:ln/>
        </p:spPr>
        <p:txBody>
          <a:bodyPr wrap="square" lIns="0" tIns="0" rIns="0" bIns="0" rtlCol="0" anchor="t"/>
          <a:lstStyle/>
          <a:p>
            <a:pPr marL="0" indent="0">
              <a:buNone/>
            </a:pPr>
            <a:r>
              <a:rPr lang="en-US" sz="1100" i="1" dirty="0">
                <a:solidFill>
                  <a:schemeClr val="accent6"/>
                </a:solidFill>
              </a:rPr>
              <a:t>Hand-held fluorometer on a leaf</a:t>
            </a:r>
            <a:endParaRPr lang="en-US" sz="1100" dirty="0"/>
          </a:p>
        </p:txBody>
      </p:sp>
      <p:sp>
        <p:nvSpPr>
          <p:cNvPr id="10" name="figure frame"/>
          <p:cNvSpPr/>
          <p:nvPr/>
        </p:nvSpPr>
        <p:spPr>
          <a:xfrm>
            <a:off x="6181344" y="1325880"/>
            <a:ext cx="2651760" cy="2331720"/>
          </a:xfrm>
          <a:prstGeom prst="roundRect">
            <a:avLst>
              <a:gd name="adj" fmla="val 2353"/>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11" name="Image 2" descr="Laboratory chlorophyll fluorescence imaging system"/>
          <p:cNvPicPr>
            <a:picLocks noChangeAspect="1"/>
          </p:cNvPicPr>
          <p:nvPr/>
        </p:nvPicPr>
        <p:blipFill>
          <a:blip r:embed="rId5"/>
          <a:stretch>
            <a:fillRect/>
          </a:stretch>
        </p:blipFill>
        <p:spPr>
          <a:xfrm>
            <a:off x="6272784" y="2088035"/>
            <a:ext cx="2468880" cy="807410"/>
          </a:xfrm>
          <a:prstGeom prst="rect">
            <a:avLst/>
          </a:prstGeom>
        </p:spPr>
      </p:pic>
      <p:sp>
        <p:nvSpPr>
          <p:cNvPr id="12" name="Text 6"/>
          <p:cNvSpPr txBox="1"/>
          <p:nvPr/>
        </p:nvSpPr>
        <p:spPr>
          <a:xfrm>
            <a:off x="6181344" y="3703320"/>
            <a:ext cx="2651760" cy="365760"/>
          </a:xfrm>
          <a:prstGeom prst="rect">
            <a:avLst/>
          </a:prstGeom>
          <a:noFill/>
          <a:ln/>
        </p:spPr>
        <p:txBody>
          <a:bodyPr wrap="square" lIns="0" tIns="0" rIns="0" bIns="0" rtlCol="0" anchor="t"/>
          <a:lstStyle/>
          <a:p>
            <a:pPr marL="0" indent="0">
              <a:buNone/>
            </a:pPr>
            <a:r>
              <a:rPr lang="en-US" sz="1100" i="1" dirty="0">
                <a:solidFill>
                  <a:schemeClr val="accent6"/>
                </a:solidFill>
              </a:rPr>
              <a:t>Laboratory chlorophyll fluorescence imaging system</a:t>
            </a:r>
            <a:endParaRPr lang="en-US" sz="1100" dirty="0"/>
          </a:p>
        </p:txBody>
      </p:sp>
      <p:sp>
        <p:nvSpPr>
          <p:cNvPr id="13" name="figure frame"/>
          <p:cNvSpPr/>
          <p:nvPr/>
        </p:nvSpPr>
        <p:spPr>
          <a:xfrm>
            <a:off x="8997696" y="1325880"/>
            <a:ext cx="2651760" cy="2331720"/>
          </a:xfrm>
          <a:prstGeom prst="roundRect">
            <a:avLst>
              <a:gd name="adj" fmla="val 2353"/>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14" name="Image 3" descr="Imaging head and Ft image of a leaf surface"/>
          <p:cNvPicPr>
            <a:picLocks noChangeAspect="1"/>
          </p:cNvPicPr>
          <p:nvPr/>
        </p:nvPicPr>
        <p:blipFill>
          <a:blip r:embed="rId6"/>
          <a:stretch>
            <a:fillRect/>
          </a:stretch>
        </p:blipFill>
        <p:spPr>
          <a:xfrm>
            <a:off x="9226733" y="1417320"/>
            <a:ext cx="2193685" cy="2148840"/>
          </a:xfrm>
          <a:prstGeom prst="rect">
            <a:avLst/>
          </a:prstGeom>
        </p:spPr>
      </p:pic>
      <p:sp>
        <p:nvSpPr>
          <p:cNvPr id="15" name="Text 8"/>
          <p:cNvSpPr txBox="1"/>
          <p:nvPr/>
        </p:nvSpPr>
        <p:spPr>
          <a:xfrm>
            <a:off x="8997696" y="3703320"/>
            <a:ext cx="2651760" cy="365760"/>
          </a:xfrm>
          <a:prstGeom prst="rect">
            <a:avLst/>
          </a:prstGeom>
          <a:noFill/>
          <a:ln/>
        </p:spPr>
        <p:txBody>
          <a:bodyPr wrap="square" lIns="0" tIns="0" rIns="0" bIns="0" rtlCol="0" anchor="t"/>
          <a:lstStyle/>
          <a:p>
            <a:pPr marL="0" indent="0">
              <a:buNone/>
            </a:pPr>
            <a:r>
              <a:rPr lang="en-US" sz="1100" i="1" dirty="0">
                <a:solidFill>
                  <a:schemeClr val="accent6"/>
                </a:solidFill>
              </a:rPr>
              <a:t>Imaging head and Ft image of a leaf surface</a:t>
            </a:r>
            <a:endParaRPr lang="en-US" sz="1100" dirty="0"/>
          </a:p>
        </p:txBody>
      </p:sp>
      <p:sp>
        <p:nvSpPr>
          <p:cNvPr id="16" name="card"/>
          <p:cNvSpPr/>
          <p:nvPr/>
        </p:nvSpPr>
        <p:spPr>
          <a:xfrm>
            <a:off x="548640" y="4343400"/>
            <a:ext cx="5440680" cy="1828800"/>
          </a:xfrm>
          <a:prstGeom prst="roundRect">
            <a:avLst>
              <a:gd name="adj" fmla="val 4000"/>
            </a:avLst>
          </a:prstGeom>
          <a:solidFill>
            <a:schemeClr val="bg2"/>
          </a:solidFill>
          <a:ln/>
          <a:effectLst>
            <a:outerShdw blurRad="76200" dist="25400" dir="5400000" algn="bl" rotWithShape="0">
              <a:srgbClr val="000000">
                <a:alpha val="14000"/>
              </a:srgbClr>
            </a:outerShdw>
          </a:effectLst>
        </p:spPr>
      </p:sp>
      <p:sp>
        <p:nvSpPr>
          <p:cNvPr id="17" name="icon circle"/>
          <p:cNvSpPr/>
          <p:nvPr/>
        </p:nvSpPr>
        <p:spPr>
          <a:xfrm>
            <a:off x="731520" y="4498848"/>
            <a:ext cx="420624" cy="420624"/>
          </a:xfrm>
          <a:prstGeom prst="ellipse">
            <a:avLst/>
          </a:prstGeom>
          <a:solidFill>
            <a:schemeClr val="accent1"/>
          </a:solidFill>
          <a:ln/>
        </p:spPr>
      </p:sp>
      <p:pic>
        <p:nvPicPr>
          <p:cNvPr id="18" name="Image 4" descr="WaveSquare icon"/>
          <p:cNvPicPr>
            <a:picLocks noChangeAspect="1"/>
          </p:cNvPicPr>
          <p:nvPr/>
        </p:nvPicPr>
        <p:blipFill>
          <a:blip r:embed="rId7"/>
          <a:stretch>
            <a:fillRect/>
          </a:stretch>
        </p:blipFill>
        <p:spPr>
          <a:xfrm>
            <a:off x="840882" y="4608210"/>
            <a:ext cx="201900" cy="201900"/>
          </a:xfrm>
          <a:prstGeom prst="rect">
            <a:avLst/>
          </a:prstGeom>
        </p:spPr>
      </p:pic>
      <p:sp>
        <p:nvSpPr>
          <p:cNvPr id="19" name="Text 11"/>
          <p:cNvSpPr txBox="1"/>
          <p:nvPr/>
        </p:nvSpPr>
        <p:spPr>
          <a:xfrm>
            <a:off x="1261872" y="4480560"/>
            <a:ext cx="4590288" cy="457200"/>
          </a:xfrm>
          <a:prstGeom prst="rect">
            <a:avLst/>
          </a:prstGeom>
          <a:noFill/>
          <a:ln/>
        </p:spPr>
        <p:txBody>
          <a:bodyPr wrap="square" lIns="0" tIns="0" rIns="0" bIns="0" rtlCol="0" anchor="ctr"/>
          <a:lstStyle/>
          <a:p>
            <a:pPr marL="0" indent="0">
              <a:buNone/>
            </a:pPr>
            <a:r>
              <a:rPr lang="en-US" sz="1600" b="1" dirty="0">
                <a:solidFill>
                  <a:schemeClr val="tx2"/>
                </a:solidFill>
              </a:rPr>
              <a:t>Modulated (PAM) fluorometers</a:t>
            </a:r>
            <a:endParaRPr lang="en-US" sz="1600" dirty="0"/>
          </a:p>
        </p:txBody>
      </p:sp>
      <p:sp>
        <p:nvSpPr>
          <p:cNvPr id="20" name="Text 12"/>
          <p:cNvSpPr txBox="1"/>
          <p:nvPr/>
        </p:nvSpPr>
        <p:spPr>
          <a:xfrm>
            <a:off x="731520" y="5029200"/>
            <a:ext cx="5074920" cy="1051560"/>
          </a:xfrm>
          <a:prstGeom prst="rect">
            <a:avLst/>
          </a:prstGeom>
          <a:noFill/>
          <a:ln/>
        </p:spPr>
        <p:txBody>
          <a:bodyPr wrap="square" lIns="508" tIns="508" rIns="508" bIns="508" rtlCol="0" anchor="t"/>
          <a:lstStyle/>
          <a:p>
            <a:pPr marL="177800" indent="-177800">
              <a:spcAft>
                <a:spcPts val="400"/>
              </a:spcAft>
              <a:buSzPct val="100000"/>
              <a:buChar char="•"/>
            </a:pPr>
            <a:r>
              <a:rPr lang="en-US" sz="1400" dirty="0">
                <a:solidFill>
                  <a:schemeClr val="tx1"/>
                </a:solidFill>
              </a:rPr>
              <a:t>Work in light or dark; full quenching analysis (Fv/Fm, ΦPSII, NPQ, qP)</a:t>
            </a:r>
            <a:endParaRPr lang="en-US" sz="1400" dirty="0"/>
          </a:p>
          <a:p>
            <a:pPr marL="177800" indent="-177800">
              <a:spcAft>
                <a:spcPts val="400"/>
              </a:spcAft>
              <a:buSzPct val="100000"/>
              <a:buChar char="•"/>
            </a:pPr>
            <a:r>
              <a:rPr lang="en-US" sz="1400" dirty="0">
                <a:solidFill>
                  <a:schemeClr val="tx1"/>
                </a:solidFill>
              </a:rPr>
              <a:t>Large, well-tested physiological framework</a:t>
            </a:r>
            <a:endParaRPr lang="en-US" sz="1400" dirty="0"/>
          </a:p>
        </p:txBody>
      </p:sp>
      <p:sp>
        <p:nvSpPr>
          <p:cNvPr id="21" name="card"/>
          <p:cNvSpPr/>
          <p:nvPr/>
        </p:nvSpPr>
        <p:spPr>
          <a:xfrm>
            <a:off x="6199632" y="4343400"/>
            <a:ext cx="5440680" cy="1828800"/>
          </a:xfrm>
          <a:prstGeom prst="roundRect">
            <a:avLst>
              <a:gd name="adj" fmla="val 4000"/>
            </a:avLst>
          </a:prstGeom>
          <a:solidFill>
            <a:schemeClr val="bg2"/>
          </a:solidFill>
          <a:ln/>
          <a:effectLst>
            <a:outerShdw blurRad="76200" dist="25400" dir="5400000" algn="bl" rotWithShape="0">
              <a:srgbClr val="000000">
                <a:alpha val="14000"/>
              </a:srgbClr>
            </a:outerShdw>
          </a:effectLst>
        </p:spPr>
      </p:sp>
      <p:sp>
        <p:nvSpPr>
          <p:cNvPr id="22" name="icon circle"/>
          <p:cNvSpPr/>
          <p:nvPr/>
        </p:nvSpPr>
        <p:spPr>
          <a:xfrm>
            <a:off x="6382512" y="4498848"/>
            <a:ext cx="420624" cy="420624"/>
          </a:xfrm>
          <a:prstGeom prst="ellipse">
            <a:avLst/>
          </a:prstGeom>
          <a:solidFill>
            <a:schemeClr val="accent5"/>
          </a:solidFill>
          <a:ln/>
        </p:spPr>
      </p:sp>
      <p:pic>
        <p:nvPicPr>
          <p:cNvPr id="23" name="Image 5" descr="Clock icon"/>
          <p:cNvPicPr>
            <a:picLocks noChangeAspect="1"/>
          </p:cNvPicPr>
          <p:nvPr/>
        </p:nvPicPr>
        <p:blipFill>
          <a:blip r:embed="rId8"/>
          <a:stretch>
            <a:fillRect/>
          </a:stretch>
        </p:blipFill>
        <p:spPr>
          <a:xfrm>
            <a:off x="6491874" y="4608210"/>
            <a:ext cx="201900" cy="201900"/>
          </a:xfrm>
          <a:prstGeom prst="rect">
            <a:avLst/>
          </a:prstGeom>
        </p:spPr>
      </p:pic>
      <p:sp>
        <p:nvSpPr>
          <p:cNvPr id="24" name="Text 15"/>
          <p:cNvSpPr txBox="1"/>
          <p:nvPr/>
        </p:nvSpPr>
        <p:spPr>
          <a:xfrm>
            <a:off x="6912864" y="4480560"/>
            <a:ext cx="4590288" cy="457200"/>
          </a:xfrm>
          <a:prstGeom prst="rect">
            <a:avLst/>
          </a:prstGeom>
          <a:noFill/>
          <a:ln/>
        </p:spPr>
        <p:txBody>
          <a:bodyPr wrap="square" lIns="0" tIns="0" rIns="0" bIns="0" rtlCol="0" anchor="ctr"/>
          <a:lstStyle/>
          <a:p>
            <a:pPr marL="0" indent="0">
              <a:buNone/>
            </a:pPr>
            <a:r>
              <a:rPr lang="en-US" sz="1600" b="1" dirty="0">
                <a:solidFill>
                  <a:schemeClr val="tx2"/>
                </a:solidFill>
              </a:rPr>
              <a:t>Continuous-excitation (OJIP) meters</a:t>
            </a:r>
            <a:endParaRPr lang="en-US" sz="1600" dirty="0"/>
          </a:p>
        </p:txBody>
      </p:sp>
      <p:sp>
        <p:nvSpPr>
          <p:cNvPr id="25" name="Text 16"/>
          <p:cNvSpPr txBox="1"/>
          <p:nvPr/>
        </p:nvSpPr>
        <p:spPr>
          <a:xfrm>
            <a:off x="6382512" y="5029200"/>
            <a:ext cx="5074920" cy="1051560"/>
          </a:xfrm>
          <a:prstGeom prst="rect">
            <a:avLst/>
          </a:prstGeom>
          <a:noFill/>
          <a:ln/>
        </p:spPr>
        <p:txBody>
          <a:bodyPr wrap="square" lIns="508" tIns="508" rIns="508" bIns="508" rtlCol="0" anchor="t"/>
          <a:lstStyle/>
          <a:p>
            <a:pPr marL="177800" indent="-177800">
              <a:spcAft>
                <a:spcPts val="400"/>
              </a:spcAft>
              <a:buSzPct val="100000"/>
              <a:buChar char="•"/>
            </a:pPr>
            <a:r>
              <a:rPr lang="en-US" sz="1400" dirty="0">
                <a:solidFill>
                  <a:schemeClr val="tx1"/>
                </a:solidFill>
              </a:rPr>
              <a:t>Fast induction transient during a 1 s pulse on dark-adapted leaves</a:t>
            </a:r>
            <a:endParaRPr lang="en-US" sz="1400" dirty="0"/>
          </a:p>
          <a:p>
            <a:pPr marL="177800" indent="-177800">
              <a:spcAft>
                <a:spcPts val="400"/>
              </a:spcAft>
              <a:buSzPct val="100000"/>
              <a:buChar char="•"/>
            </a:pPr>
            <a:r>
              <a:rPr lang="en-US" sz="1400" dirty="0">
                <a:solidFill>
                  <a:schemeClr val="tx1"/>
                </a:solidFill>
              </a:rPr>
              <a:t>Popular for screening; complex derived parameters need caution</a:t>
            </a:r>
            <a:endParaRPr lang="en-US" sz="14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514600"/>
            <a:ext cx="7680960" cy="1188720"/>
          </a:xfrm>
          <a:prstGeom prst="rect">
            <a:avLst/>
          </a:prstGeom>
          <a:noFill/>
          <a:ln/>
        </p:spPr>
        <p:txBody>
          <a:bodyPr wrap="square" lIns="0" tIns="0" rIns="0" bIns="0" rtlCol="0" anchor="ctr"/>
          <a:lstStyle/>
          <a:p>
            <a:pPr marL="0" indent="0" algn="l">
              <a:buNone/>
            </a:pPr>
            <a:r>
              <a:rPr lang="en-US" sz="4000" b="1" dirty="0">
                <a:solidFill>
                  <a:schemeClr val="bg1"/>
                </a:solidFill>
              </a:rPr>
              <a:t>Induction kinetics</a:t>
            </a:r>
            <a:endParaRPr lang="en-US" sz="4000" dirty="0"/>
          </a:p>
        </p:txBody>
      </p:sp>
      <p:sp>
        <p:nvSpPr>
          <p:cNvPr id="3" name="Text 0"/>
          <p:cNvSpPr>
            <a:spLocks noGrp="1"/>
          </p:cNvSpPr>
          <p:nvPr>
            <p:ph type="body" idx="101" hasCustomPrompt="1"/>
          </p:nvPr>
        </p:nvSpPr>
        <p:spPr>
          <a:xfrm>
            <a:off x="731520" y="3794760"/>
            <a:ext cx="7498080" cy="1280160"/>
          </a:xfrm>
          <a:prstGeom prst="rect">
            <a:avLst/>
          </a:prstGeom>
          <a:noFill/>
          <a:ln/>
        </p:spPr>
        <p:txBody>
          <a:bodyPr wrap="square" lIns="0" tIns="0" rIns="0" bIns="0" rtlCol="0" anchor="t"/>
          <a:lstStyle/>
          <a:p>
            <a:pPr marL="0" indent="0">
              <a:buNone/>
            </a:pPr>
            <a:r>
              <a:rPr lang="en-US" sz="1800" dirty="0">
                <a:solidFill>
                  <a:schemeClr val="bg2"/>
                </a:solidFill>
              </a:rPr>
              <a:t>What happens when a dark-adapted leaf is suddenly illuminated: the Kautsky effect, the OJIP rise and the slow PSMT phase</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marL="0" indent="0">
              <a:buNone/>
            </a:pPr>
            <a:r>
              <a:rPr lang="en-US" sz="7200" b="1" dirty="0">
                <a:solidFill>
                  <a:schemeClr val="accent3"/>
                </a:solidFill>
                <a:latin typeface="Cambria" pitchFamily="34" charset="0"/>
                <a:ea typeface="Cambria" pitchFamily="34" charset="-122"/>
                <a:cs typeface="Cambria" pitchFamily="34" charset="-120"/>
              </a:rPr>
              <a:t>03</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The Kautsky effect (fluorescence induction)</a:t>
            </a:r>
            <a:endParaRPr lang="en-US" sz="3200" dirty="0"/>
          </a:p>
        </p:txBody>
      </p:sp>
      <p:sp>
        <p:nvSpPr>
          <p:cNvPr id="4" name="figure frame"/>
          <p:cNvSpPr/>
          <p:nvPr/>
        </p:nvSpPr>
        <p:spPr>
          <a:xfrm>
            <a:off x="548640" y="1325880"/>
            <a:ext cx="6400800" cy="3108960"/>
          </a:xfrm>
          <a:prstGeom prst="roundRect">
            <a:avLst>
              <a:gd name="adj" fmla="val 1765"/>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5" name="Image 0" descr="Kautsky curve of a healthy green leaf: fast rise O → P (&lt;1 s), then slow decay P → S → M → T over minutes"/>
          <p:cNvPicPr>
            <a:picLocks noChangeAspect="1"/>
          </p:cNvPicPr>
          <p:nvPr/>
        </p:nvPicPr>
        <p:blipFill>
          <a:blip r:embed="rId3"/>
          <a:stretch>
            <a:fillRect/>
          </a:stretch>
        </p:blipFill>
        <p:spPr>
          <a:xfrm>
            <a:off x="683971" y="1417320"/>
            <a:ext cx="6130138" cy="2926080"/>
          </a:xfrm>
          <a:prstGeom prst="rect">
            <a:avLst/>
          </a:prstGeom>
        </p:spPr>
      </p:pic>
      <p:sp>
        <p:nvSpPr>
          <p:cNvPr id="6" name="Text 2"/>
          <p:cNvSpPr txBox="1"/>
          <p:nvPr/>
        </p:nvSpPr>
        <p:spPr>
          <a:xfrm>
            <a:off x="548640" y="4480560"/>
            <a:ext cx="6400800" cy="365760"/>
          </a:xfrm>
          <a:prstGeom prst="rect">
            <a:avLst/>
          </a:prstGeom>
          <a:noFill/>
          <a:ln/>
        </p:spPr>
        <p:txBody>
          <a:bodyPr wrap="square" lIns="0" tIns="0" rIns="0" bIns="0" rtlCol="0" anchor="t"/>
          <a:lstStyle/>
          <a:p>
            <a:pPr marL="0" indent="0">
              <a:buNone/>
            </a:pPr>
            <a:r>
              <a:rPr lang="en-US" sz="1100" i="1" dirty="0">
                <a:solidFill>
                  <a:schemeClr val="accent6"/>
                </a:solidFill>
              </a:rPr>
              <a:t>Kautsky curve of a healthy green leaf: fast rise O → P (&lt;1 s), then slow decay P → S → M → T over minutes</a:t>
            </a:r>
            <a:endParaRPr lang="en-US" sz="1100" dirty="0"/>
          </a:p>
        </p:txBody>
      </p:sp>
      <p:sp>
        <p:nvSpPr>
          <p:cNvPr id="7" name="card"/>
          <p:cNvSpPr/>
          <p:nvPr/>
        </p:nvSpPr>
        <p:spPr>
          <a:xfrm>
            <a:off x="7223760" y="1325880"/>
            <a:ext cx="4416552"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8" name="icon circle"/>
          <p:cNvSpPr/>
          <p:nvPr/>
        </p:nvSpPr>
        <p:spPr>
          <a:xfrm>
            <a:off x="7406640" y="1481328"/>
            <a:ext cx="420624" cy="420624"/>
          </a:xfrm>
          <a:prstGeom prst="ellipse">
            <a:avLst/>
          </a:prstGeom>
          <a:solidFill>
            <a:schemeClr val="accent1"/>
          </a:solidFill>
          <a:ln/>
        </p:spPr>
      </p:sp>
      <p:pic>
        <p:nvPicPr>
          <p:cNvPr id="9" name="Image 1" descr="Eye icon"/>
          <p:cNvPicPr>
            <a:picLocks noChangeAspect="1"/>
          </p:cNvPicPr>
          <p:nvPr/>
        </p:nvPicPr>
        <p:blipFill>
          <a:blip r:embed="rId4"/>
          <a:stretch>
            <a:fillRect/>
          </a:stretch>
        </p:blipFill>
        <p:spPr>
          <a:xfrm>
            <a:off x="7516002" y="1590690"/>
            <a:ext cx="201900" cy="201900"/>
          </a:xfrm>
          <a:prstGeom prst="rect">
            <a:avLst/>
          </a:prstGeom>
        </p:spPr>
      </p:pic>
      <p:sp>
        <p:nvSpPr>
          <p:cNvPr id="10" name="Text 5"/>
          <p:cNvSpPr txBox="1"/>
          <p:nvPr/>
        </p:nvSpPr>
        <p:spPr>
          <a:xfrm>
            <a:off x="7936992" y="1463040"/>
            <a:ext cx="3566160" cy="457200"/>
          </a:xfrm>
          <a:prstGeom prst="rect">
            <a:avLst/>
          </a:prstGeom>
          <a:noFill/>
          <a:ln/>
        </p:spPr>
        <p:txBody>
          <a:bodyPr wrap="square" lIns="0" tIns="0" rIns="0" bIns="0" rtlCol="0" anchor="ctr"/>
          <a:lstStyle/>
          <a:p>
            <a:pPr marL="0" indent="0">
              <a:buNone/>
            </a:pPr>
            <a:r>
              <a:rPr lang="en-US" sz="1600" b="1" dirty="0">
                <a:solidFill>
                  <a:schemeClr val="tx2"/>
                </a:solidFill>
              </a:rPr>
              <a:t>What you see</a:t>
            </a:r>
            <a:endParaRPr lang="en-US" sz="1600" dirty="0"/>
          </a:p>
        </p:txBody>
      </p:sp>
      <p:sp>
        <p:nvSpPr>
          <p:cNvPr id="11" name="Text 6"/>
          <p:cNvSpPr txBox="1"/>
          <p:nvPr/>
        </p:nvSpPr>
        <p:spPr>
          <a:xfrm>
            <a:off x="7406640" y="2011680"/>
            <a:ext cx="4050792" cy="1463040"/>
          </a:xfrm>
          <a:prstGeom prst="rect">
            <a:avLst/>
          </a:prstGeom>
          <a:noFill/>
          <a:ln/>
        </p:spPr>
        <p:txBody>
          <a:bodyPr wrap="square" lIns="508" tIns="508" rIns="508" bIns="508" rtlCol="0" anchor="t"/>
          <a:lstStyle/>
          <a:p>
            <a:pPr marL="177800" indent="-177800">
              <a:spcAft>
                <a:spcPts val="400"/>
              </a:spcAft>
              <a:buSzPct val="100000"/>
              <a:buChar char="•"/>
            </a:pPr>
            <a:r>
              <a:rPr lang="en-US" sz="1400" dirty="0">
                <a:solidFill>
                  <a:schemeClr val="tx1"/>
                </a:solidFill>
              </a:rPr>
              <a:t>Dark-adapted leaf + continuous light</a:t>
            </a:r>
            <a:endParaRPr lang="en-US" sz="1400" dirty="0"/>
          </a:p>
          <a:p>
            <a:pPr marL="177800" indent="-177800">
              <a:spcAft>
                <a:spcPts val="400"/>
              </a:spcAft>
              <a:buSzPct val="100000"/>
              <a:buChar char="•"/>
            </a:pPr>
            <a:r>
              <a:rPr lang="en-US" sz="1400" b="1" dirty="0">
                <a:solidFill>
                  <a:schemeClr val="tx1"/>
                </a:solidFill>
              </a:rPr>
              <a:t>Fast phase</a:t>
            </a:r>
            <a:r>
              <a:rPr lang="en-US" sz="1400" dirty="0">
                <a:solidFill>
                  <a:schemeClr val="tx1"/>
                </a:solidFill>
              </a:rPr>
              <a:t> (&lt;1 s): exponential rise O → J → I → P</a:t>
            </a:r>
            <a:endParaRPr lang="en-US" sz="1400" dirty="0"/>
          </a:p>
          <a:p>
            <a:pPr marL="177800" indent="-177800">
              <a:spcAft>
                <a:spcPts val="400"/>
              </a:spcAft>
              <a:buSzPct val="100000"/>
              <a:buChar char="•"/>
            </a:pPr>
            <a:r>
              <a:rPr lang="en-US" sz="1400" b="1" dirty="0">
                <a:solidFill>
                  <a:schemeClr val="tx1"/>
                </a:solidFill>
              </a:rPr>
              <a:t>Slow phase</a:t>
            </a:r>
            <a:r>
              <a:rPr lang="en-US" sz="1400" dirty="0">
                <a:solidFill>
                  <a:schemeClr val="tx1"/>
                </a:solidFill>
              </a:rPr>
              <a:t> (minutes): decline P → S → M → T to a steady state</a:t>
            </a:r>
            <a:endParaRPr lang="en-US" sz="1400" dirty="0"/>
          </a:p>
        </p:txBody>
      </p:sp>
      <p:sp>
        <p:nvSpPr>
          <p:cNvPr id="12" name="card"/>
          <p:cNvSpPr/>
          <p:nvPr/>
        </p:nvSpPr>
        <p:spPr>
          <a:xfrm>
            <a:off x="7223760" y="3703320"/>
            <a:ext cx="4416552" cy="2468880"/>
          </a:xfrm>
          <a:prstGeom prst="roundRect">
            <a:avLst>
              <a:gd name="adj" fmla="val 2963"/>
            </a:avLst>
          </a:prstGeom>
          <a:solidFill>
            <a:schemeClr val="bg2"/>
          </a:solidFill>
          <a:ln/>
          <a:effectLst>
            <a:outerShdw blurRad="76200" dist="25400" dir="5400000" algn="bl" rotWithShape="0">
              <a:srgbClr val="000000">
                <a:alpha val="14000"/>
              </a:srgbClr>
            </a:outerShdw>
          </a:effectLst>
        </p:spPr>
      </p:sp>
      <p:sp>
        <p:nvSpPr>
          <p:cNvPr id="13" name="icon circle"/>
          <p:cNvSpPr/>
          <p:nvPr/>
        </p:nvSpPr>
        <p:spPr>
          <a:xfrm>
            <a:off x="7406640" y="3858768"/>
            <a:ext cx="420624" cy="420624"/>
          </a:xfrm>
          <a:prstGeom prst="ellipse">
            <a:avLst/>
          </a:prstGeom>
          <a:solidFill>
            <a:schemeClr val="accent3"/>
          </a:solidFill>
          <a:ln/>
        </p:spPr>
      </p:sp>
      <p:pic>
        <p:nvPicPr>
          <p:cNvPr id="14" name="Image 2" descr="Lightbulb icon"/>
          <p:cNvPicPr>
            <a:picLocks noChangeAspect="1"/>
          </p:cNvPicPr>
          <p:nvPr/>
        </p:nvPicPr>
        <p:blipFill>
          <a:blip r:embed="rId5"/>
          <a:stretch>
            <a:fillRect/>
          </a:stretch>
        </p:blipFill>
        <p:spPr>
          <a:xfrm>
            <a:off x="7516002" y="3968130"/>
            <a:ext cx="201900" cy="201900"/>
          </a:xfrm>
          <a:prstGeom prst="rect">
            <a:avLst/>
          </a:prstGeom>
        </p:spPr>
      </p:pic>
      <p:sp>
        <p:nvSpPr>
          <p:cNvPr id="15" name="Text 9"/>
          <p:cNvSpPr txBox="1"/>
          <p:nvPr/>
        </p:nvSpPr>
        <p:spPr>
          <a:xfrm>
            <a:off x="7936992" y="3840480"/>
            <a:ext cx="3566160" cy="457200"/>
          </a:xfrm>
          <a:prstGeom prst="rect">
            <a:avLst/>
          </a:prstGeom>
          <a:noFill/>
          <a:ln/>
        </p:spPr>
        <p:txBody>
          <a:bodyPr wrap="square" lIns="0" tIns="0" rIns="0" bIns="0" rtlCol="0" anchor="ctr"/>
          <a:lstStyle/>
          <a:p>
            <a:pPr marL="0" indent="0">
              <a:buNone/>
            </a:pPr>
            <a:r>
              <a:rPr lang="en-US" sz="1600" b="1" dirty="0">
                <a:solidFill>
                  <a:schemeClr val="tx2"/>
                </a:solidFill>
              </a:rPr>
              <a:t>What it means</a:t>
            </a:r>
            <a:endParaRPr lang="en-US" sz="1600" dirty="0"/>
          </a:p>
        </p:txBody>
      </p:sp>
      <p:sp>
        <p:nvSpPr>
          <p:cNvPr id="16" name="Text 10"/>
          <p:cNvSpPr txBox="1"/>
          <p:nvPr/>
        </p:nvSpPr>
        <p:spPr>
          <a:xfrm>
            <a:off x="7406640" y="4389120"/>
            <a:ext cx="4050792" cy="1691640"/>
          </a:xfrm>
          <a:prstGeom prst="rect">
            <a:avLst/>
          </a:prstGeom>
          <a:noFill/>
          <a:ln/>
        </p:spPr>
        <p:txBody>
          <a:bodyPr wrap="square" lIns="508" tIns="508" rIns="508" bIns="508" rtlCol="0" anchor="t"/>
          <a:lstStyle/>
          <a:p>
            <a:pPr marL="177800" indent="-177800">
              <a:spcAft>
                <a:spcPts val="400"/>
              </a:spcAft>
              <a:buSzPct val="100000"/>
              <a:buChar char="•"/>
            </a:pPr>
            <a:r>
              <a:rPr lang="en-US" sz="1400" dirty="0">
                <a:solidFill>
                  <a:schemeClr val="tx1"/>
                </a:solidFill>
              </a:rPr>
              <a:t>Rise = PSII acceptors (Q</a:t>
            </a:r>
            <a:r>
              <a:rPr lang="en-US" sz="1400" baseline="-40000" dirty="0">
                <a:solidFill>
                  <a:schemeClr val="tx1"/>
                </a:solidFill>
              </a:rPr>
              <a:t>A</a:t>
            </a:r>
            <a:r>
              <a:rPr lang="en-US" sz="1400" dirty="0">
                <a:solidFill>
                  <a:schemeClr val="tx1"/>
                </a:solidFill>
              </a:rPr>
              <a:t>, PQ pool) become </a:t>
            </a:r>
            <a:r>
              <a:rPr lang="en-US" sz="1400" b="1" dirty="0">
                <a:solidFill>
                  <a:schemeClr val="tx1"/>
                </a:solidFill>
              </a:rPr>
              <a:t>reduced</a:t>
            </a:r>
            <a:r>
              <a:rPr lang="en-US" sz="1400" dirty="0">
                <a:solidFill>
                  <a:schemeClr val="tx1"/>
                </a:solidFill>
              </a:rPr>
              <a:t> → centres close</a:t>
            </a:r>
            <a:endParaRPr lang="en-US" sz="1400" dirty="0"/>
          </a:p>
          <a:p>
            <a:pPr marL="177800" indent="-177800">
              <a:spcAft>
                <a:spcPts val="400"/>
              </a:spcAft>
              <a:buSzPct val="100000"/>
              <a:buChar char="•"/>
            </a:pPr>
            <a:r>
              <a:rPr lang="en-US" sz="1400" dirty="0">
                <a:solidFill>
                  <a:schemeClr val="tx1"/>
                </a:solidFill>
              </a:rPr>
              <a:t>Decline = </a:t>
            </a:r>
            <a:r>
              <a:rPr lang="en-US" sz="1400" b="1" dirty="0">
                <a:solidFill>
                  <a:schemeClr val="tx1"/>
                </a:solidFill>
              </a:rPr>
              <a:t>quenching</a:t>
            </a:r>
            <a:r>
              <a:rPr lang="en-US" sz="1400" dirty="0">
                <a:solidFill>
                  <a:schemeClr val="tx1"/>
                </a:solidFill>
              </a:rPr>
              <a:t>: Calvin cycle activation, stomatal opening and NPQ</a:t>
            </a:r>
            <a:endParaRPr lang="en-US" sz="1400" dirty="0"/>
          </a:p>
          <a:p>
            <a:pPr marL="177800" indent="-177800">
              <a:spcAft>
                <a:spcPts val="400"/>
              </a:spcAft>
              <a:buSzPct val="100000"/>
              <a:buChar char="•"/>
            </a:pPr>
            <a:r>
              <a:rPr lang="en-US" sz="1400" dirty="0">
                <a:solidFill>
                  <a:schemeClr val="tx1"/>
                </a:solidFill>
              </a:rPr>
              <a:t>Kautsky &amp; Hirsch (1931) linked the decline to the onset of CO₂ assimilation</a:t>
            </a:r>
            <a:endParaRPr lang="en-US" sz="1400" dirty="0"/>
          </a:p>
        </p:txBody>
      </p:sp>
      <p:sp>
        <p:nvSpPr>
          <p:cNvPr id="17" name="insight"/>
          <p:cNvSpPr/>
          <p:nvPr/>
        </p:nvSpPr>
        <p:spPr>
          <a:xfrm>
            <a:off x="548640" y="5120640"/>
            <a:ext cx="6400800" cy="1051560"/>
          </a:xfrm>
          <a:prstGeom prst="roundRect">
            <a:avLst>
              <a:gd name="adj" fmla="val 6957"/>
            </a:avLst>
          </a:prstGeom>
          <a:solidFill>
            <a:schemeClr val="bg2"/>
          </a:solidFill>
          <a:ln/>
        </p:spPr>
      </p:sp>
      <p:sp>
        <p:nvSpPr>
          <p:cNvPr id="18" name="Text 12"/>
          <p:cNvSpPr txBox="1"/>
          <p:nvPr/>
        </p:nvSpPr>
        <p:spPr>
          <a:xfrm>
            <a:off x="731520" y="5166360"/>
            <a:ext cx="6035040" cy="960120"/>
          </a:xfrm>
          <a:prstGeom prst="rect">
            <a:avLst/>
          </a:prstGeom>
          <a:noFill/>
          <a:ln/>
        </p:spPr>
        <p:txBody>
          <a:bodyPr wrap="square" lIns="508" tIns="508" rIns="508" bIns="508" rtlCol="0" anchor="ctr"/>
          <a:lstStyle/>
          <a:p>
            <a:pPr marL="0" indent="0">
              <a:spcAft>
                <a:spcPts val="600"/>
              </a:spcAft>
              <a:buNone/>
            </a:pPr>
            <a:r>
              <a:rPr lang="en-US" sz="1300" dirty="0">
                <a:solidFill>
                  <a:schemeClr val="tx1"/>
                </a:solidFill>
              </a:rPr>
              <a:t>A true Kautsky effect is seen at </a:t>
            </a:r>
            <a:r>
              <a:rPr lang="en-US" sz="1300" b="1" dirty="0">
                <a:solidFill>
                  <a:schemeClr val="tx1"/>
                </a:solidFill>
              </a:rPr>
              <a:t>moderate light (&lt;200 µmol m⁻² s⁻¹)</a:t>
            </a:r>
            <a:r>
              <a:rPr lang="en-US" sz="1300" dirty="0">
                <a:solidFill>
                  <a:schemeClr val="tx1"/>
                </a:solidFill>
              </a:rPr>
              <a:t>; at high irradiance (≥500 µmol m⁻² s⁻¹) the trace looks like the stylised PAM trace in Module 05.</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Zooming into the fast rise: the OJIP transient</a:t>
            </a:r>
            <a:endParaRPr lang="en-US" sz="3200" dirty="0"/>
          </a:p>
        </p:txBody>
      </p:sp>
      <p:graphicFrame>
        <p:nvGraphicFramePr>
          <p:cNvPr id="4" name="Chart 0"/>
          <p:cNvGraphicFramePr/>
          <p:nvPr/>
        </p:nvGraphicFramePr>
        <p:xfrm>
          <a:off x="548640" y="1325880"/>
          <a:ext cx="6583680" cy="388620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d"/>
          <p:cNvSpPr/>
          <p:nvPr/>
        </p:nvSpPr>
        <p:spPr>
          <a:xfrm>
            <a:off x="7406640" y="1325880"/>
            <a:ext cx="4233672" cy="868680"/>
          </a:xfrm>
          <a:prstGeom prst="roundRect">
            <a:avLst>
              <a:gd name="adj" fmla="val 8421"/>
            </a:avLst>
          </a:prstGeom>
          <a:solidFill>
            <a:schemeClr val="bg2"/>
          </a:solidFill>
          <a:ln/>
          <a:effectLst>
            <a:outerShdw blurRad="76200" dist="25400" dir="5400000" algn="bl" rotWithShape="0">
              <a:srgbClr val="000000">
                <a:alpha val="14000"/>
              </a:srgbClr>
            </a:outerShdw>
          </a:effectLst>
        </p:spPr>
      </p:sp>
      <p:sp>
        <p:nvSpPr>
          <p:cNvPr id="6" name="step marker"/>
          <p:cNvSpPr/>
          <p:nvPr/>
        </p:nvSpPr>
        <p:spPr>
          <a:xfrm>
            <a:off x="7543800" y="1508760"/>
            <a:ext cx="502920" cy="502920"/>
          </a:xfrm>
          <a:prstGeom prst="ellipse">
            <a:avLst/>
          </a:prstGeom>
          <a:solidFill>
            <a:schemeClr val="accent2"/>
          </a:solidFill>
          <a:ln/>
        </p:spPr>
      </p:sp>
      <p:sp>
        <p:nvSpPr>
          <p:cNvPr id="7" name="Text 3"/>
          <p:cNvSpPr txBox="1"/>
          <p:nvPr/>
        </p:nvSpPr>
        <p:spPr>
          <a:xfrm>
            <a:off x="7543800" y="150876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O</a:t>
            </a:r>
            <a:endParaRPr lang="en-US" sz="1800" dirty="0"/>
          </a:p>
        </p:txBody>
      </p:sp>
      <p:sp>
        <p:nvSpPr>
          <p:cNvPr id="8" name="Text 4"/>
          <p:cNvSpPr txBox="1"/>
          <p:nvPr/>
        </p:nvSpPr>
        <p:spPr>
          <a:xfrm>
            <a:off x="8183880" y="1417320"/>
            <a:ext cx="1097280" cy="320040"/>
          </a:xfrm>
          <a:prstGeom prst="rect">
            <a:avLst/>
          </a:prstGeom>
          <a:noFill/>
          <a:ln/>
        </p:spPr>
        <p:txBody>
          <a:bodyPr wrap="square" lIns="0" tIns="0" rIns="0" bIns="0" rtlCol="0" anchor="ctr"/>
          <a:lstStyle/>
          <a:p>
            <a:pPr marL="0" indent="0" algn="l">
              <a:buNone/>
            </a:pPr>
            <a:r>
              <a:rPr lang="en-US" sz="1300" b="1" dirty="0">
                <a:solidFill>
                  <a:schemeClr val="accent2"/>
                </a:solidFill>
              </a:rPr>
              <a:t>20–50 µs</a:t>
            </a:r>
            <a:endParaRPr lang="en-US" sz="1300" dirty="0"/>
          </a:p>
        </p:txBody>
      </p:sp>
      <p:sp>
        <p:nvSpPr>
          <p:cNvPr id="9" name="Text 5"/>
          <p:cNvSpPr txBox="1"/>
          <p:nvPr/>
        </p:nvSpPr>
        <p:spPr>
          <a:xfrm>
            <a:off x="8183880" y="1709928"/>
            <a:ext cx="3383280" cy="411480"/>
          </a:xfrm>
          <a:prstGeom prst="rect">
            <a:avLst/>
          </a:prstGeom>
          <a:noFill/>
          <a:ln/>
        </p:spPr>
        <p:txBody>
          <a:bodyPr wrap="square" lIns="0" tIns="0" rIns="0" bIns="0" rtlCol="0" anchor="t"/>
          <a:lstStyle/>
          <a:p>
            <a:pPr marL="0" indent="0">
              <a:buNone/>
            </a:pPr>
            <a:r>
              <a:rPr lang="en-US" sz="1300" b="1" dirty="0">
                <a:solidFill>
                  <a:schemeClr val="tx1"/>
                </a:solidFill>
              </a:rPr>
              <a:t>F</a:t>
            </a:r>
            <a:r>
              <a:rPr lang="en-US" sz="1300" b="1" baseline="-40000" dirty="0">
                <a:solidFill>
                  <a:schemeClr val="tx1"/>
                </a:solidFill>
              </a:rPr>
              <a:t>o</a:t>
            </a:r>
            <a:r>
              <a:rPr lang="en-US" sz="1300" dirty="0">
                <a:solidFill>
                  <a:schemeClr val="tx1"/>
                </a:solidFill>
              </a:rPr>
              <a:t>: all Q</a:t>
            </a:r>
            <a:r>
              <a:rPr lang="en-US" sz="1300" baseline="-40000" dirty="0">
                <a:solidFill>
                  <a:schemeClr val="tx1"/>
                </a:solidFill>
              </a:rPr>
              <a:t>A</a:t>
            </a:r>
            <a:r>
              <a:rPr lang="en-US" sz="1300" dirty="0">
                <a:solidFill>
                  <a:schemeClr val="tx1"/>
                </a:solidFill>
              </a:rPr>
              <a:t> oxidised, centres open</a:t>
            </a:r>
            <a:endParaRPr lang="en-US" sz="1300" dirty="0"/>
          </a:p>
        </p:txBody>
      </p:sp>
      <p:sp>
        <p:nvSpPr>
          <p:cNvPr id="10" name="card"/>
          <p:cNvSpPr/>
          <p:nvPr/>
        </p:nvSpPr>
        <p:spPr>
          <a:xfrm>
            <a:off x="7406640" y="2313432"/>
            <a:ext cx="4233672" cy="868680"/>
          </a:xfrm>
          <a:prstGeom prst="roundRect">
            <a:avLst>
              <a:gd name="adj" fmla="val 8421"/>
            </a:avLst>
          </a:prstGeom>
          <a:solidFill>
            <a:schemeClr val="bg2"/>
          </a:solidFill>
          <a:ln/>
          <a:effectLst>
            <a:outerShdw blurRad="76200" dist="25400" dir="5400000" algn="bl" rotWithShape="0">
              <a:srgbClr val="000000">
                <a:alpha val="14000"/>
              </a:srgbClr>
            </a:outerShdw>
          </a:effectLst>
        </p:spPr>
      </p:sp>
      <p:sp>
        <p:nvSpPr>
          <p:cNvPr id="11" name="step marker"/>
          <p:cNvSpPr/>
          <p:nvPr/>
        </p:nvSpPr>
        <p:spPr>
          <a:xfrm>
            <a:off x="7543800" y="2496312"/>
            <a:ext cx="502920" cy="502920"/>
          </a:xfrm>
          <a:prstGeom prst="ellipse">
            <a:avLst/>
          </a:prstGeom>
          <a:solidFill>
            <a:schemeClr val="accent2"/>
          </a:solidFill>
          <a:ln/>
        </p:spPr>
      </p:sp>
      <p:sp>
        <p:nvSpPr>
          <p:cNvPr id="12" name="Text 8"/>
          <p:cNvSpPr txBox="1"/>
          <p:nvPr/>
        </p:nvSpPr>
        <p:spPr>
          <a:xfrm>
            <a:off x="7543800" y="2496312"/>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J</a:t>
            </a:r>
            <a:endParaRPr lang="en-US" sz="1800" dirty="0"/>
          </a:p>
        </p:txBody>
      </p:sp>
      <p:sp>
        <p:nvSpPr>
          <p:cNvPr id="13" name="Text 9"/>
          <p:cNvSpPr txBox="1"/>
          <p:nvPr/>
        </p:nvSpPr>
        <p:spPr>
          <a:xfrm>
            <a:off x="8183880" y="2404872"/>
            <a:ext cx="1097280" cy="320040"/>
          </a:xfrm>
          <a:prstGeom prst="rect">
            <a:avLst/>
          </a:prstGeom>
          <a:noFill/>
          <a:ln/>
        </p:spPr>
        <p:txBody>
          <a:bodyPr wrap="square" lIns="0" tIns="0" rIns="0" bIns="0" rtlCol="0" anchor="ctr"/>
          <a:lstStyle/>
          <a:p>
            <a:pPr marL="0" indent="0" algn="l">
              <a:buNone/>
            </a:pPr>
            <a:r>
              <a:rPr lang="en-US" sz="1300" b="1" dirty="0">
                <a:solidFill>
                  <a:schemeClr val="accent2"/>
                </a:solidFill>
              </a:rPr>
              <a:t>~2 ms</a:t>
            </a:r>
            <a:endParaRPr lang="en-US" sz="1300" dirty="0"/>
          </a:p>
        </p:txBody>
      </p:sp>
      <p:sp>
        <p:nvSpPr>
          <p:cNvPr id="14" name="Text 10"/>
          <p:cNvSpPr txBox="1"/>
          <p:nvPr/>
        </p:nvSpPr>
        <p:spPr>
          <a:xfrm>
            <a:off x="8183880" y="2697480"/>
            <a:ext cx="3383280" cy="411480"/>
          </a:xfrm>
          <a:prstGeom prst="rect">
            <a:avLst/>
          </a:prstGeom>
          <a:noFill/>
          <a:ln/>
        </p:spPr>
        <p:txBody>
          <a:bodyPr wrap="square" lIns="0" tIns="0" rIns="0" bIns="0" rtlCol="0" anchor="t"/>
          <a:lstStyle/>
          <a:p>
            <a:pPr marL="0" indent="0">
              <a:buNone/>
            </a:pPr>
            <a:r>
              <a:rPr lang="en-US" sz="1300" dirty="0">
                <a:solidFill>
                  <a:schemeClr val="tx1"/>
                </a:solidFill>
              </a:rPr>
              <a:t>Q</a:t>
            </a:r>
            <a:r>
              <a:rPr lang="en-US" sz="1300" baseline="-40000" dirty="0">
                <a:solidFill>
                  <a:schemeClr val="tx1"/>
                </a:solidFill>
              </a:rPr>
              <a:t>A</a:t>
            </a:r>
            <a:r>
              <a:rPr lang="en-US" sz="1300" dirty="0">
                <a:solidFill>
                  <a:schemeClr val="tx1"/>
                </a:solidFill>
              </a:rPr>
              <a:t>⁻ accumulates (photochemical phase)</a:t>
            </a:r>
            <a:endParaRPr lang="en-US" sz="1300" dirty="0"/>
          </a:p>
        </p:txBody>
      </p:sp>
      <p:sp>
        <p:nvSpPr>
          <p:cNvPr id="15" name="card"/>
          <p:cNvSpPr/>
          <p:nvPr/>
        </p:nvSpPr>
        <p:spPr>
          <a:xfrm>
            <a:off x="7406640" y="3300984"/>
            <a:ext cx="4233672" cy="868680"/>
          </a:xfrm>
          <a:prstGeom prst="roundRect">
            <a:avLst>
              <a:gd name="adj" fmla="val 8421"/>
            </a:avLst>
          </a:prstGeom>
          <a:solidFill>
            <a:schemeClr val="bg2"/>
          </a:solidFill>
          <a:ln/>
          <a:effectLst>
            <a:outerShdw blurRad="76200" dist="25400" dir="5400000" algn="bl" rotWithShape="0">
              <a:srgbClr val="000000">
                <a:alpha val="14000"/>
              </a:srgbClr>
            </a:outerShdw>
          </a:effectLst>
        </p:spPr>
      </p:sp>
      <p:sp>
        <p:nvSpPr>
          <p:cNvPr id="16" name="step marker"/>
          <p:cNvSpPr/>
          <p:nvPr/>
        </p:nvSpPr>
        <p:spPr>
          <a:xfrm>
            <a:off x="7543800" y="3483864"/>
            <a:ext cx="502920" cy="502920"/>
          </a:xfrm>
          <a:prstGeom prst="ellipse">
            <a:avLst/>
          </a:prstGeom>
          <a:solidFill>
            <a:schemeClr val="accent2"/>
          </a:solidFill>
          <a:ln/>
        </p:spPr>
      </p:sp>
      <p:sp>
        <p:nvSpPr>
          <p:cNvPr id="17" name="Text 13"/>
          <p:cNvSpPr txBox="1"/>
          <p:nvPr/>
        </p:nvSpPr>
        <p:spPr>
          <a:xfrm>
            <a:off x="7543800" y="3483864"/>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I</a:t>
            </a:r>
            <a:endParaRPr lang="en-US" sz="1800" dirty="0"/>
          </a:p>
        </p:txBody>
      </p:sp>
      <p:sp>
        <p:nvSpPr>
          <p:cNvPr id="18" name="Text 14"/>
          <p:cNvSpPr txBox="1"/>
          <p:nvPr/>
        </p:nvSpPr>
        <p:spPr>
          <a:xfrm>
            <a:off x="8183880" y="3392424"/>
            <a:ext cx="1097280" cy="320040"/>
          </a:xfrm>
          <a:prstGeom prst="rect">
            <a:avLst/>
          </a:prstGeom>
          <a:noFill/>
          <a:ln/>
        </p:spPr>
        <p:txBody>
          <a:bodyPr wrap="square" lIns="0" tIns="0" rIns="0" bIns="0" rtlCol="0" anchor="ctr"/>
          <a:lstStyle/>
          <a:p>
            <a:pPr marL="0" indent="0" algn="l">
              <a:buNone/>
            </a:pPr>
            <a:r>
              <a:rPr lang="en-US" sz="1300" b="1" dirty="0">
                <a:solidFill>
                  <a:schemeClr val="accent2"/>
                </a:solidFill>
              </a:rPr>
              <a:t>~30 ms</a:t>
            </a:r>
            <a:endParaRPr lang="en-US" sz="1300" dirty="0"/>
          </a:p>
        </p:txBody>
      </p:sp>
      <p:sp>
        <p:nvSpPr>
          <p:cNvPr id="19" name="Text 15"/>
          <p:cNvSpPr txBox="1"/>
          <p:nvPr/>
        </p:nvSpPr>
        <p:spPr>
          <a:xfrm>
            <a:off x="8183880" y="3685032"/>
            <a:ext cx="3383280" cy="411480"/>
          </a:xfrm>
          <a:prstGeom prst="rect">
            <a:avLst/>
          </a:prstGeom>
          <a:noFill/>
          <a:ln/>
        </p:spPr>
        <p:txBody>
          <a:bodyPr wrap="square" lIns="0" tIns="0" rIns="0" bIns="0" rtlCol="0" anchor="t"/>
          <a:lstStyle/>
          <a:p>
            <a:pPr marL="0" indent="0">
              <a:buNone/>
            </a:pPr>
            <a:r>
              <a:rPr lang="en-US" sz="1300" dirty="0">
                <a:solidFill>
                  <a:schemeClr val="tx1"/>
                </a:solidFill>
              </a:rPr>
              <a:t>Plastoquinone pool partly reduced</a:t>
            </a:r>
            <a:endParaRPr lang="en-US" sz="1300" dirty="0"/>
          </a:p>
        </p:txBody>
      </p:sp>
      <p:sp>
        <p:nvSpPr>
          <p:cNvPr id="20" name="card"/>
          <p:cNvSpPr/>
          <p:nvPr/>
        </p:nvSpPr>
        <p:spPr>
          <a:xfrm>
            <a:off x="7406640" y="4288536"/>
            <a:ext cx="4233672" cy="868680"/>
          </a:xfrm>
          <a:prstGeom prst="roundRect">
            <a:avLst>
              <a:gd name="adj" fmla="val 8421"/>
            </a:avLst>
          </a:prstGeom>
          <a:solidFill>
            <a:schemeClr val="bg2"/>
          </a:solidFill>
          <a:ln/>
          <a:effectLst>
            <a:outerShdw blurRad="76200" dist="25400" dir="5400000" algn="bl" rotWithShape="0">
              <a:srgbClr val="000000">
                <a:alpha val="14000"/>
              </a:srgbClr>
            </a:outerShdw>
          </a:effectLst>
        </p:spPr>
      </p:sp>
      <p:sp>
        <p:nvSpPr>
          <p:cNvPr id="21" name="step marker"/>
          <p:cNvSpPr/>
          <p:nvPr/>
        </p:nvSpPr>
        <p:spPr>
          <a:xfrm>
            <a:off x="7543800" y="4471416"/>
            <a:ext cx="502920" cy="502920"/>
          </a:xfrm>
          <a:prstGeom prst="ellipse">
            <a:avLst/>
          </a:prstGeom>
          <a:solidFill>
            <a:schemeClr val="accent2"/>
          </a:solidFill>
          <a:ln/>
        </p:spPr>
      </p:sp>
      <p:sp>
        <p:nvSpPr>
          <p:cNvPr id="22" name="Text 18"/>
          <p:cNvSpPr txBox="1"/>
          <p:nvPr/>
        </p:nvSpPr>
        <p:spPr>
          <a:xfrm>
            <a:off x="7543800" y="4471416"/>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P</a:t>
            </a:r>
            <a:endParaRPr lang="en-US" sz="1800" dirty="0"/>
          </a:p>
        </p:txBody>
      </p:sp>
      <p:sp>
        <p:nvSpPr>
          <p:cNvPr id="23" name="Text 19"/>
          <p:cNvSpPr txBox="1"/>
          <p:nvPr/>
        </p:nvSpPr>
        <p:spPr>
          <a:xfrm>
            <a:off x="8183880" y="4379976"/>
            <a:ext cx="1097280" cy="320040"/>
          </a:xfrm>
          <a:prstGeom prst="rect">
            <a:avLst/>
          </a:prstGeom>
          <a:noFill/>
          <a:ln/>
        </p:spPr>
        <p:txBody>
          <a:bodyPr wrap="square" lIns="0" tIns="0" rIns="0" bIns="0" rtlCol="0" anchor="ctr"/>
          <a:lstStyle/>
          <a:p>
            <a:pPr marL="0" indent="0" algn="l">
              <a:buNone/>
            </a:pPr>
            <a:r>
              <a:rPr lang="en-US" sz="1300" b="1" dirty="0">
                <a:solidFill>
                  <a:schemeClr val="accent2"/>
                </a:solidFill>
              </a:rPr>
              <a:t>~300 ms+</a:t>
            </a:r>
            <a:endParaRPr lang="en-US" sz="1300" dirty="0"/>
          </a:p>
        </p:txBody>
      </p:sp>
      <p:sp>
        <p:nvSpPr>
          <p:cNvPr id="24" name="Text 20"/>
          <p:cNvSpPr txBox="1"/>
          <p:nvPr/>
        </p:nvSpPr>
        <p:spPr>
          <a:xfrm>
            <a:off x="8183880" y="4672584"/>
            <a:ext cx="3383280" cy="411480"/>
          </a:xfrm>
          <a:prstGeom prst="rect">
            <a:avLst/>
          </a:prstGeom>
          <a:noFill/>
          <a:ln/>
        </p:spPr>
        <p:txBody>
          <a:bodyPr wrap="square" lIns="0" tIns="0" rIns="0" bIns="0" rtlCol="0" anchor="t"/>
          <a:lstStyle/>
          <a:p>
            <a:pPr marL="0" indent="0">
              <a:buNone/>
            </a:pPr>
            <a:r>
              <a:rPr lang="en-US" sz="1300" b="1" dirty="0">
                <a:solidFill>
                  <a:schemeClr val="tx1"/>
                </a:solidFill>
              </a:rPr>
              <a:t>F</a:t>
            </a:r>
            <a:r>
              <a:rPr lang="en-US" sz="1300" b="1" baseline="-40000" dirty="0">
                <a:solidFill>
                  <a:schemeClr val="tx1"/>
                </a:solidFill>
              </a:rPr>
              <a:t>m</a:t>
            </a:r>
            <a:r>
              <a:rPr lang="en-US" sz="1300" dirty="0">
                <a:solidFill>
                  <a:schemeClr val="tx1"/>
                </a:solidFill>
              </a:rPr>
              <a:t>: all Q</a:t>
            </a:r>
            <a:r>
              <a:rPr lang="en-US" sz="1300" baseline="-40000" dirty="0">
                <a:solidFill>
                  <a:schemeClr val="tx1"/>
                </a:solidFill>
              </a:rPr>
              <a:t>A</a:t>
            </a:r>
            <a:r>
              <a:rPr lang="en-US" sz="1300" dirty="0">
                <a:solidFill>
                  <a:schemeClr val="tx1"/>
                </a:solidFill>
              </a:rPr>
              <a:t> reduced, centres closed</a:t>
            </a:r>
            <a:endParaRPr lang="en-US" sz="1300" dirty="0"/>
          </a:p>
        </p:txBody>
      </p:sp>
      <p:sp>
        <p:nvSpPr>
          <p:cNvPr id="25" name="Text 21"/>
          <p:cNvSpPr txBox="1"/>
          <p:nvPr/>
        </p:nvSpPr>
        <p:spPr>
          <a:xfrm>
            <a:off x="548640" y="5349240"/>
            <a:ext cx="11064240" cy="731520"/>
          </a:xfrm>
          <a:prstGeom prst="rect">
            <a:avLst/>
          </a:prstGeom>
          <a:noFill/>
          <a:ln/>
        </p:spPr>
        <p:txBody>
          <a:bodyPr wrap="square" lIns="508" tIns="508" rIns="508" bIns="508" rtlCol="0" anchor="t"/>
          <a:lstStyle/>
          <a:p>
            <a:pPr marL="0" indent="0">
              <a:spcAft>
                <a:spcPts val="600"/>
              </a:spcAft>
              <a:buNone/>
            </a:pPr>
            <a:r>
              <a:rPr lang="en-US" sz="1200" i="1" dirty="0">
                <a:solidFill>
                  <a:schemeClr val="accent6"/>
                </a:solidFill>
              </a:rPr>
              <a:t>Interpretation follows the JIP-test convention (Strasser et al. 2004). Murchie &amp; Lawson caution that complex OJIP-derived parameters still lack broad empirical support.</a:t>
            </a:r>
            <a:endParaRPr lang="en-US" sz="12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Fast phase vs slow phase (OJIP vs PSMT)</a:t>
            </a:r>
            <a:endParaRPr lang="en-US" sz="3200" dirty="0"/>
          </a:p>
        </p:txBody>
      </p:sp>
      <p:sp>
        <p:nvSpPr>
          <p:cNvPr id="4" name="figure frame"/>
          <p:cNvSpPr/>
          <p:nvPr/>
        </p:nvSpPr>
        <p:spPr>
          <a:xfrm>
            <a:off x="548640" y="1325880"/>
            <a:ext cx="5440680" cy="2971800"/>
          </a:xfrm>
          <a:prstGeom prst="roundRect">
            <a:avLst>
              <a:gd name="adj" fmla="val 1846"/>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5" name="Image 0" descr="Measured OJIP rise on a log time axis (inset: the whole Kautsky curve)"/>
          <p:cNvPicPr>
            <a:picLocks noChangeAspect="1"/>
          </p:cNvPicPr>
          <p:nvPr/>
        </p:nvPicPr>
        <p:blipFill>
          <a:blip r:embed="rId3"/>
          <a:stretch>
            <a:fillRect/>
          </a:stretch>
        </p:blipFill>
        <p:spPr>
          <a:xfrm>
            <a:off x="1141113" y="1417320"/>
            <a:ext cx="4255734" cy="2788920"/>
          </a:xfrm>
          <a:prstGeom prst="rect">
            <a:avLst/>
          </a:prstGeom>
        </p:spPr>
      </p:pic>
      <p:sp>
        <p:nvSpPr>
          <p:cNvPr id="6" name="Text 2"/>
          <p:cNvSpPr txBox="1"/>
          <p:nvPr/>
        </p:nvSpPr>
        <p:spPr>
          <a:xfrm>
            <a:off x="548640" y="4343400"/>
            <a:ext cx="5440680" cy="365760"/>
          </a:xfrm>
          <a:prstGeom prst="rect">
            <a:avLst/>
          </a:prstGeom>
          <a:noFill/>
          <a:ln/>
        </p:spPr>
        <p:txBody>
          <a:bodyPr wrap="square" lIns="0" tIns="0" rIns="0" bIns="0" rtlCol="0" anchor="t"/>
          <a:lstStyle/>
          <a:p>
            <a:pPr marL="0" indent="0">
              <a:buNone/>
            </a:pPr>
            <a:r>
              <a:rPr lang="en-US" sz="1100" i="1" dirty="0">
                <a:solidFill>
                  <a:schemeClr val="accent6"/>
                </a:solidFill>
              </a:rPr>
              <a:t>Measured OJIP rise on a log time axis (inset: the whole Kautsky curve)</a:t>
            </a:r>
            <a:endParaRPr lang="en-US" sz="1100" dirty="0"/>
          </a:p>
        </p:txBody>
      </p:sp>
      <p:sp>
        <p:nvSpPr>
          <p:cNvPr id="7" name="figure frame"/>
          <p:cNvSpPr/>
          <p:nvPr/>
        </p:nvSpPr>
        <p:spPr>
          <a:xfrm>
            <a:off x="6199632" y="1325880"/>
            <a:ext cx="5440680" cy="2971800"/>
          </a:xfrm>
          <a:prstGeom prst="roundRect">
            <a:avLst>
              <a:gd name="adj" fmla="val 1846"/>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8" name="Image 1" descr="Full induction: fast phase O-J-I-P (~1 s) then slow phase P-S-M-T (minutes)"/>
          <p:cNvPicPr>
            <a:picLocks noChangeAspect="1"/>
          </p:cNvPicPr>
          <p:nvPr/>
        </p:nvPicPr>
        <p:blipFill>
          <a:blip r:embed="rId4"/>
          <a:stretch>
            <a:fillRect/>
          </a:stretch>
        </p:blipFill>
        <p:spPr>
          <a:xfrm>
            <a:off x="6763627" y="1417320"/>
            <a:ext cx="4312691" cy="2788920"/>
          </a:xfrm>
          <a:prstGeom prst="rect">
            <a:avLst/>
          </a:prstGeom>
        </p:spPr>
      </p:pic>
      <p:sp>
        <p:nvSpPr>
          <p:cNvPr id="9" name="Text 4"/>
          <p:cNvSpPr txBox="1"/>
          <p:nvPr/>
        </p:nvSpPr>
        <p:spPr>
          <a:xfrm>
            <a:off x="6199632" y="4343400"/>
            <a:ext cx="5440680" cy="365760"/>
          </a:xfrm>
          <a:prstGeom prst="rect">
            <a:avLst/>
          </a:prstGeom>
          <a:noFill/>
          <a:ln/>
        </p:spPr>
        <p:txBody>
          <a:bodyPr wrap="square" lIns="0" tIns="0" rIns="0" bIns="0" rtlCol="0" anchor="t"/>
          <a:lstStyle/>
          <a:p>
            <a:pPr marL="0" indent="0">
              <a:buNone/>
            </a:pPr>
            <a:r>
              <a:rPr lang="en-US" sz="1100" i="1" dirty="0">
                <a:solidFill>
                  <a:schemeClr val="accent6"/>
                </a:solidFill>
              </a:rPr>
              <a:t>Full induction: fast phase O-J-I-P (~1 s) then slow phase P-S-M-T (minutes)</a:t>
            </a:r>
            <a:endParaRPr lang="en-US" sz="1100" dirty="0"/>
          </a:p>
        </p:txBody>
      </p:sp>
      <p:sp>
        <p:nvSpPr>
          <p:cNvPr id="10" name="card"/>
          <p:cNvSpPr/>
          <p:nvPr/>
        </p:nvSpPr>
        <p:spPr>
          <a:xfrm>
            <a:off x="548640" y="4892040"/>
            <a:ext cx="5440680" cy="1280160"/>
          </a:xfrm>
          <a:prstGeom prst="roundRect">
            <a:avLst>
              <a:gd name="adj" fmla="val 5714"/>
            </a:avLst>
          </a:prstGeom>
          <a:solidFill>
            <a:schemeClr val="bg2"/>
          </a:solidFill>
          <a:ln/>
          <a:effectLst>
            <a:outerShdw blurRad="76200" dist="25400" dir="5400000" algn="bl" rotWithShape="0">
              <a:srgbClr val="000000">
                <a:alpha val="14000"/>
              </a:srgbClr>
            </a:outerShdw>
          </a:effectLst>
        </p:spPr>
      </p:sp>
      <p:sp>
        <p:nvSpPr>
          <p:cNvPr id="11" name="Text 6"/>
          <p:cNvSpPr txBox="1"/>
          <p:nvPr/>
        </p:nvSpPr>
        <p:spPr>
          <a:xfrm>
            <a:off x="731520" y="5029200"/>
            <a:ext cx="5120640" cy="365760"/>
          </a:xfrm>
          <a:prstGeom prst="rect">
            <a:avLst/>
          </a:prstGeom>
          <a:noFill/>
          <a:ln/>
        </p:spPr>
        <p:txBody>
          <a:bodyPr wrap="square" lIns="0" tIns="0" rIns="0" bIns="0" rtlCol="0" anchor="ctr"/>
          <a:lstStyle/>
          <a:p>
            <a:pPr marL="0" indent="0">
              <a:buNone/>
            </a:pPr>
            <a:r>
              <a:rPr lang="en-US" sz="1500" b="1" dirty="0">
                <a:solidFill>
                  <a:schemeClr val="tx2"/>
                </a:solidFill>
              </a:rPr>
              <a:t>Fast phase OJIP (&lt;1 s)</a:t>
            </a:r>
            <a:endParaRPr lang="en-US" sz="1500" dirty="0"/>
          </a:p>
        </p:txBody>
      </p:sp>
      <p:sp>
        <p:nvSpPr>
          <p:cNvPr id="12" name="Text 7"/>
          <p:cNvSpPr txBox="1"/>
          <p:nvPr/>
        </p:nvSpPr>
        <p:spPr>
          <a:xfrm>
            <a:off x="731520" y="5440680"/>
            <a:ext cx="5074920" cy="64008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Reduction of PSII acceptors; used for dark-adapted parameters such as F</a:t>
            </a:r>
            <a:r>
              <a:rPr lang="en-US" sz="1300" baseline="-40000" dirty="0">
                <a:solidFill>
                  <a:schemeClr val="tx1"/>
                </a:solidFill>
              </a:rPr>
              <a:t>o</a:t>
            </a:r>
            <a:r>
              <a:rPr lang="en-US" sz="1300" dirty="0">
                <a:solidFill>
                  <a:schemeClr val="tx1"/>
                </a:solidFill>
              </a:rPr>
              <a:t>, F</a:t>
            </a:r>
            <a:r>
              <a:rPr lang="en-US" sz="1300" baseline="-40000" dirty="0">
                <a:solidFill>
                  <a:schemeClr val="tx1"/>
                </a:solidFill>
              </a:rPr>
              <a:t>m</a:t>
            </a:r>
            <a:r>
              <a:rPr lang="en-US" sz="1300" dirty="0">
                <a:solidFill>
                  <a:schemeClr val="tx1"/>
                </a:solidFill>
              </a:rPr>
              <a:t>,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a:t>
            </a:r>
            <a:endParaRPr lang="en-US" sz="1300" dirty="0"/>
          </a:p>
        </p:txBody>
      </p:sp>
      <p:sp>
        <p:nvSpPr>
          <p:cNvPr id="13" name="card"/>
          <p:cNvSpPr/>
          <p:nvPr/>
        </p:nvSpPr>
        <p:spPr>
          <a:xfrm>
            <a:off x="6199632" y="4892040"/>
            <a:ext cx="5440680" cy="1280160"/>
          </a:xfrm>
          <a:prstGeom prst="roundRect">
            <a:avLst>
              <a:gd name="adj" fmla="val 5714"/>
            </a:avLst>
          </a:prstGeom>
          <a:solidFill>
            <a:schemeClr val="bg2"/>
          </a:solidFill>
          <a:ln/>
          <a:effectLst>
            <a:outerShdw blurRad="76200" dist="25400" dir="5400000" algn="bl" rotWithShape="0">
              <a:srgbClr val="000000">
                <a:alpha val="14000"/>
              </a:srgbClr>
            </a:outerShdw>
          </a:effectLst>
        </p:spPr>
      </p:sp>
      <p:sp>
        <p:nvSpPr>
          <p:cNvPr id="14" name="Text 9"/>
          <p:cNvSpPr txBox="1"/>
          <p:nvPr/>
        </p:nvSpPr>
        <p:spPr>
          <a:xfrm>
            <a:off x="6382512" y="5029200"/>
            <a:ext cx="5120640" cy="365760"/>
          </a:xfrm>
          <a:prstGeom prst="rect">
            <a:avLst/>
          </a:prstGeom>
          <a:noFill/>
          <a:ln/>
        </p:spPr>
        <p:txBody>
          <a:bodyPr wrap="square" lIns="0" tIns="0" rIns="0" bIns="0" rtlCol="0" anchor="ctr"/>
          <a:lstStyle/>
          <a:p>
            <a:pPr marL="0" indent="0">
              <a:buNone/>
            </a:pPr>
            <a:r>
              <a:rPr lang="en-US" sz="1500" b="1" dirty="0">
                <a:solidFill>
                  <a:schemeClr val="tx2"/>
                </a:solidFill>
              </a:rPr>
              <a:t>Slow phase PSMT (minutes)</a:t>
            </a:r>
            <a:endParaRPr lang="en-US" sz="1500" dirty="0"/>
          </a:p>
        </p:txBody>
      </p:sp>
      <p:sp>
        <p:nvSpPr>
          <p:cNvPr id="15" name="Text 10"/>
          <p:cNvSpPr txBox="1"/>
          <p:nvPr/>
        </p:nvSpPr>
        <p:spPr>
          <a:xfrm>
            <a:off x="6382512" y="5440680"/>
            <a:ext cx="5074920" cy="64008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Energy transduction, ATP synthesis, CO₂ fixation, state transitions, NPQ.</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514600"/>
            <a:ext cx="7680960" cy="1188720"/>
          </a:xfrm>
          <a:prstGeom prst="rect">
            <a:avLst/>
          </a:prstGeom>
          <a:noFill/>
          <a:ln/>
        </p:spPr>
        <p:txBody>
          <a:bodyPr wrap="square" lIns="0" tIns="0" rIns="0" bIns="0" rtlCol="0" anchor="ctr"/>
          <a:lstStyle/>
          <a:p>
            <a:pPr marL="0" indent="0" algn="l">
              <a:buNone/>
            </a:pPr>
            <a:r>
              <a:rPr lang="en-US" sz="4000" b="1" dirty="0">
                <a:solidFill>
                  <a:schemeClr val="bg1"/>
                </a:solidFill>
              </a:rPr>
              <a:t>PSII redox state &amp; quenching</a:t>
            </a:r>
            <a:endParaRPr lang="en-US" sz="4000" dirty="0"/>
          </a:p>
        </p:txBody>
      </p:sp>
      <p:sp>
        <p:nvSpPr>
          <p:cNvPr id="3" name="Text 0"/>
          <p:cNvSpPr>
            <a:spLocks noGrp="1"/>
          </p:cNvSpPr>
          <p:nvPr>
            <p:ph type="body" idx="101" hasCustomPrompt="1"/>
          </p:nvPr>
        </p:nvSpPr>
        <p:spPr>
          <a:xfrm>
            <a:off x="731520" y="3794760"/>
            <a:ext cx="7498080" cy="1280160"/>
          </a:xfrm>
          <a:prstGeom prst="rect">
            <a:avLst/>
          </a:prstGeom>
          <a:noFill/>
          <a:ln/>
        </p:spPr>
        <p:txBody>
          <a:bodyPr wrap="square" lIns="0" tIns="0" rIns="0" bIns="0" rtlCol="0" anchor="t"/>
          <a:lstStyle/>
          <a:p>
            <a:pPr marL="0" indent="0">
              <a:buNone/>
            </a:pPr>
            <a:r>
              <a:rPr lang="en-US" sz="1800" dirty="0">
                <a:solidFill>
                  <a:schemeClr val="bg2"/>
                </a:solidFill>
              </a:rPr>
              <a:t>Open vs closed reaction centres, photochemical and non-photochemical quenching, and the saturating-pulse trick</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marL="0" indent="0">
              <a:buNone/>
            </a:pPr>
            <a:r>
              <a:rPr lang="en-US" sz="7200" b="1" dirty="0">
                <a:solidFill>
                  <a:schemeClr val="accent3"/>
                </a:solidFill>
                <a:latin typeface="Cambria" pitchFamily="34" charset="0"/>
                <a:ea typeface="Cambria" pitchFamily="34" charset="-122"/>
                <a:cs typeface="Cambria" pitchFamily="34" charset="-120"/>
              </a:rPr>
              <a:t>04</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Open and closed PSII reaction centres</a:t>
            </a:r>
            <a:endParaRPr lang="en-US" sz="3200" dirty="0"/>
          </a:p>
        </p:txBody>
      </p:sp>
      <p:sp>
        <p:nvSpPr>
          <p:cNvPr id="4" name="diagram box"/>
          <p:cNvSpPr/>
          <p:nvPr/>
        </p:nvSpPr>
        <p:spPr>
          <a:xfrm>
            <a:off x="548640" y="1417320"/>
            <a:ext cx="1170432" cy="685800"/>
          </a:xfrm>
          <a:prstGeom prst="roundRect">
            <a:avLst>
              <a:gd name="adj" fmla="val 10667"/>
            </a:avLst>
          </a:prstGeom>
          <a:solidFill>
            <a:schemeClr val="accent5"/>
          </a:solidFill>
          <a:ln/>
        </p:spPr>
      </p:sp>
      <p:sp>
        <p:nvSpPr>
          <p:cNvPr id="5" name="Text 2"/>
          <p:cNvSpPr txBox="1"/>
          <p:nvPr/>
        </p:nvSpPr>
        <p:spPr>
          <a:xfrm>
            <a:off x="548640" y="1417320"/>
            <a:ext cx="1170432" cy="685800"/>
          </a:xfrm>
          <a:prstGeom prst="rect">
            <a:avLst/>
          </a:prstGeom>
          <a:noFill/>
          <a:ln/>
        </p:spPr>
        <p:txBody>
          <a:bodyPr wrap="square" lIns="508" tIns="508" rIns="508" bIns="508" rtlCol="0" anchor="ctr"/>
          <a:lstStyle/>
          <a:p>
            <a:pPr marL="0" indent="0" algn="ctr">
              <a:buNone/>
            </a:pPr>
            <a:r>
              <a:rPr lang="en-US" sz="1400" b="1" dirty="0">
                <a:solidFill>
                  <a:schemeClr val="bg1"/>
                </a:solidFill>
              </a:rPr>
              <a:t>H₂O → OEC</a:t>
            </a:r>
            <a:endParaRPr lang="en-US" sz="1400" dirty="0"/>
          </a:p>
        </p:txBody>
      </p:sp>
      <p:sp>
        <p:nvSpPr>
          <p:cNvPr id="6" name="arrow"/>
          <p:cNvSpPr/>
          <p:nvPr/>
        </p:nvSpPr>
        <p:spPr>
          <a:xfrm>
            <a:off x="1737360" y="1760220"/>
            <a:ext cx="210312" cy="0"/>
          </a:xfrm>
          <a:prstGeom prst="line">
            <a:avLst/>
          </a:prstGeom>
          <a:noFill/>
          <a:ln w="25400">
            <a:solidFill>
              <a:srgbClr val="123D2E"/>
            </a:solidFill>
            <a:prstDash val="solid"/>
            <a:tailEnd type="triangle"/>
          </a:ln>
        </p:spPr>
      </p:sp>
      <p:sp>
        <p:nvSpPr>
          <p:cNvPr id="7" name="diagram box"/>
          <p:cNvSpPr/>
          <p:nvPr/>
        </p:nvSpPr>
        <p:spPr>
          <a:xfrm>
            <a:off x="1965960" y="1417320"/>
            <a:ext cx="1170432" cy="685800"/>
          </a:xfrm>
          <a:prstGeom prst="roundRect">
            <a:avLst>
              <a:gd name="adj" fmla="val 10667"/>
            </a:avLst>
          </a:prstGeom>
          <a:solidFill>
            <a:schemeClr val="accent1"/>
          </a:solidFill>
          <a:ln/>
        </p:spPr>
      </p:sp>
      <p:sp>
        <p:nvSpPr>
          <p:cNvPr id="8" name="Text 5"/>
          <p:cNvSpPr txBox="1"/>
          <p:nvPr/>
        </p:nvSpPr>
        <p:spPr>
          <a:xfrm>
            <a:off x="1965960" y="1417320"/>
            <a:ext cx="1170432" cy="685800"/>
          </a:xfrm>
          <a:prstGeom prst="rect">
            <a:avLst/>
          </a:prstGeom>
          <a:noFill/>
          <a:ln/>
        </p:spPr>
        <p:txBody>
          <a:bodyPr wrap="square" lIns="508" tIns="508" rIns="508" bIns="508" rtlCol="0" anchor="ctr"/>
          <a:lstStyle/>
          <a:p>
            <a:pPr marL="0" indent="0" algn="ctr">
              <a:buNone/>
            </a:pPr>
            <a:r>
              <a:rPr lang="en-US" sz="1400" b="1" dirty="0">
                <a:solidFill>
                  <a:schemeClr val="bg1"/>
                </a:solidFill>
              </a:rPr>
              <a:t>P680</a:t>
            </a:r>
            <a:endParaRPr lang="en-US" sz="1400" dirty="0"/>
          </a:p>
        </p:txBody>
      </p:sp>
      <p:sp>
        <p:nvSpPr>
          <p:cNvPr id="9" name="arrow"/>
          <p:cNvSpPr/>
          <p:nvPr/>
        </p:nvSpPr>
        <p:spPr>
          <a:xfrm>
            <a:off x="3154680" y="1760220"/>
            <a:ext cx="210312" cy="0"/>
          </a:xfrm>
          <a:prstGeom prst="line">
            <a:avLst/>
          </a:prstGeom>
          <a:noFill/>
          <a:ln w="25400">
            <a:solidFill>
              <a:srgbClr val="123D2E"/>
            </a:solidFill>
            <a:prstDash val="solid"/>
            <a:tailEnd type="triangle"/>
          </a:ln>
        </p:spPr>
      </p:sp>
      <p:sp>
        <p:nvSpPr>
          <p:cNvPr id="10" name="diagram box"/>
          <p:cNvSpPr/>
          <p:nvPr/>
        </p:nvSpPr>
        <p:spPr>
          <a:xfrm>
            <a:off x="3383280" y="1417320"/>
            <a:ext cx="1170432" cy="685800"/>
          </a:xfrm>
          <a:prstGeom prst="roundRect">
            <a:avLst>
              <a:gd name="adj" fmla="val 10667"/>
            </a:avLst>
          </a:prstGeom>
          <a:solidFill>
            <a:schemeClr val="accent1"/>
          </a:solidFill>
          <a:ln/>
        </p:spPr>
      </p:sp>
      <p:sp>
        <p:nvSpPr>
          <p:cNvPr id="11" name="Text 8"/>
          <p:cNvSpPr txBox="1"/>
          <p:nvPr/>
        </p:nvSpPr>
        <p:spPr>
          <a:xfrm>
            <a:off x="3383280" y="1417320"/>
            <a:ext cx="1170432" cy="685800"/>
          </a:xfrm>
          <a:prstGeom prst="rect">
            <a:avLst/>
          </a:prstGeom>
          <a:noFill/>
          <a:ln/>
        </p:spPr>
        <p:txBody>
          <a:bodyPr wrap="square" lIns="508" tIns="508" rIns="508" bIns="508" rtlCol="0" anchor="ctr"/>
          <a:lstStyle/>
          <a:p>
            <a:pPr marL="0" indent="0" algn="ctr">
              <a:buNone/>
            </a:pPr>
            <a:r>
              <a:rPr lang="en-US" sz="1400" b="1" dirty="0">
                <a:solidFill>
                  <a:schemeClr val="bg1"/>
                </a:solidFill>
              </a:rPr>
              <a:t>Pheo</a:t>
            </a:r>
            <a:endParaRPr lang="en-US" sz="1400" dirty="0"/>
          </a:p>
        </p:txBody>
      </p:sp>
      <p:sp>
        <p:nvSpPr>
          <p:cNvPr id="12" name="arrow"/>
          <p:cNvSpPr/>
          <p:nvPr/>
        </p:nvSpPr>
        <p:spPr>
          <a:xfrm>
            <a:off x="4572000" y="1760220"/>
            <a:ext cx="210312" cy="0"/>
          </a:xfrm>
          <a:prstGeom prst="line">
            <a:avLst/>
          </a:prstGeom>
          <a:noFill/>
          <a:ln w="25400">
            <a:solidFill>
              <a:srgbClr val="123D2E"/>
            </a:solidFill>
            <a:prstDash val="solid"/>
            <a:tailEnd type="triangle"/>
          </a:ln>
        </p:spPr>
      </p:sp>
      <p:sp>
        <p:nvSpPr>
          <p:cNvPr id="13" name="diagram box"/>
          <p:cNvSpPr/>
          <p:nvPr/>
        </p:nvSpPr>
        <p:spPr>
          <a:xfrm>
            <a:off x="4800600" y="1417320"/>
            <a:ext cx="1170432" cy="685800"/>
          </a:xfrm>
          <a:prstGeom prst="roundRect">
            <a:avLst>
              <a:gd name="adj" fmla="val 10667"/>
            </a:avLst>
          </a:prstGeom>
          <a:solidFill>
            <a:schemeClr val="accent2"/>
          </a:solidFill>
          <a:ln/>
        </p:spPr>
      </p:sp>
      <p:sp>
        <p:nvSpPr>
          <p:cNvPr id="14" name="Text 11"/>
          <p:cNvSpPr txBox="1"/>
          <p:nvPr/>
        </p:nvSpPr>
        <p:spPr>
          <a:xfrm>
            <a:off x="4800600" y="1417320"/>
            <a:ext cx="1170432" cy="685800"/>
          </a:xfrm>
          <a:prstGeom prst="rect">
            <a:avLst/>
          </a:prstGeom>
          <a:noFill/>
          <a:ln/>
        </p:spPr>
        <p:txBody>
          <a:bodyPr wrap="square" lIns="508" tIns="508" rIns="508" bIns="508" rtlCol="0" anchor="ctr"/>
          <a:lstStyle/>
          <a:p>
            <a:pPr marL="0" indent="0" algn="ctr">
              <a:buNone/>
            </a:pPr>
            <a:r>
              <a:rPr lang="en-US" sz="1400" b="1" dirty="0">
                <a:solidFill>
                  <a:schemeClr val="bg1"/>
                </a:solidFill>
              </a:rPr>
              <a:t>Q</a:t>
            </a:r>
            <a:r>
              <a:rPr lang="en-US" sz="1400" b="1" baseline="-40000" dirty="0">
                <a:solidFill>
                  <a:schemeClr val="bg1"/>
                </a:solidFill>
              </a:rPr>
              <a:t>A</a:t>
            </a:r>
            <a:endParaRPr lang="en-US" sz="1400" dirty="0"/>
          </a:p>
        </p:txBody>
      </p:sp>
      <p:sp>
        <p:nvSpPr>
          <p:cNvPr id="15" name="arrow"/>
          <p:cNvSpPr/>
          <p:nvPr/>
        </p:nvSpPr>
        <p:spPr>
          <a:xfrm>
            <a:off x="5989320" y="1760220"/>
            <a:ext cx="210312" cy="0"/>
          </a:xfrm>
          <a:prstGeom prst="line">
            <a:avLst/>
          </a:prstGeom>
          <a:noFill/>
          <a:ln w="25400">
            <a:solidFill>
              <a:srgbClr val="123D2E"/>
            </a:solidFill>
            <a:prstDash val="solid"/>
            <a:tailEnd type="triangle"/>
          </a:ln>
        </p:spPr>
      </p:sp>
      <p:sp>
        <p:nvSpPr>
          <p:cNvPr id="16" name="diagram box"/>
          <p:cNvSpPr/>
          <p:nvPr/>
        </p:nvSpPr>
        <p:spPr>
          <a:xfrm>
            <a:off x="6217920" y="1417320"/>
            <a:ext cx="1170432" cy="685800"/>
          </a:xfrm>
          <a:prstGeom prst="roundRect">
            <a:avLst>
              <a:gd name="adj" fmla="val 10667"/>
            </a:avLst>
          </a:prstGeom>
          <a:solidFill>
            <a:schemeClr val="accent1"/>
          </a:solidFill>
          <a:ln/>
        </p:spPr>
      </p:sp>
      <p:sp>
        <p:nvSpPr>
          <p:cNvPr id="17" name="Text 14"/>
          <p:cNvSpPr txBox="1"/>
          <p:nvPr/>
        </p:nvSpPr>
        <p:spPr>
          <a:xfrm>
            <a:off x="6217920" y="1417320"/>
            <a:ext cx="1170432" cy="685800"/>
          </a:xfrm>
          <a:prstGeom prst="rect">
            <a:avLst/>
          </a:prstGeom>
          <a:noFill/>
          <a:ln/>
        </p:spPr>
        <p:txBody>
          <a:bodyPr wrap="square" lIns="508" tIns="508" rIns="508" bIns="508" rtlCol="0" anchor="ctr"/>
          <a:lstStyle/>
          <a:p>
            <a:pPr marL="0" indent="0" algn="ctr">
              <a:buNone/>
            </a:pPr>
            <a:r>
              <a:rPr lang="en-US" sz="1400" b="1" dirty="0">
                <a:solidFill>
                  <a:schemeClr val="bg1"/>
                </a:solidFill>
              </a:rPr>
              <a:t>Q</a:t>
            </a:r>
            <a:r>
              <a:rPr lang="en-US" sz="1400" b="1" baseline="-40000" dirty="0">
                <a:solidFill>
                  <a:schemeClr val="bg1"/>
                </a:solidFill>
              </a:rPr>
              <a:t>B</a:t>
            </a:r>
            <a:endParaRPr lang="en-US" sz="1400" dirty="0"/>
          </a:p>
        </p:txBody>
      </p:sp>
      <p:sp>
        <p:nvSpPr>
          <p:cNvPr id="18" name="arrow"/>
          <p:cNvSpPr/>
          <p:nvPr/>
        </p:nvSpPr>
        <p:spPr>
          <a:xfrm>
            <a:off x="7406640" y="1760220"/>
            <a:ext cx="210312" cy="0"/>
          </a:xfrm>
          <a:prstGeom prst="line">
            <a:avLst/>
          </a:prstGeom>
          <a:noFill/>
          <a:ln w="25400">
            <a:solidFill>
              <a:srgbClr val="123D2E"/>
            </a:solidFill>
            <a:prstDash val="solid"/>
            <a:tailEnd type="triangle"/>
          </a:ln>
        </p:spPr>
      </p:sp>
      <p:sp>
        <p:nvSpPr>
          <p:cNvPr id="19" name="diagram box"/>
          <p:cNvSpPr/>
          <p:nvPr/>
        </p:nvSpPr>
        <p:spPr>
          <a:xfrm>
            <a:off x="7635240" y="1417320"/>
            <a:ext cx="1170432" cy="685800"/>
          </a:xfrm>
          <a:prstGeom prst="roundRect">
            <a:avLst>
              <a:gd name="adj" fmla="val 10667"/>
            </a:avLst>
          </a:prstGeom>
          <a:solidFill>
            <a:schemeClr val="accent1"/>
          </a:solidFill>
          <a:ln/>
        </p:spPr>
      </p:sp>
      <p:sp>
        <p:nvSpPr>
          <p:cNvPr id="20" name="Text 17"/>
          <p:cNvSpPr txBox="1"/>
          <p:nvPr/>
        </p:nvSpPr>
        <p:spPr>
          <a:xfrm>
            <a:off x="7635240" y="1417320"/>
            <a:ext cx="1170432" cy="685800"/>
          </a:xfrm>
          <a:prstGeom prst="rect">
            <a:avLst/>
          </a:prstGeom>
          <a:noFill/>
          <a:ln/>
        </p:spPr>
        <p:txBody>
          <a:bodyPr wrap="square" lIns="508" tIns="508" rIns="508" bIns="508" rtlCol="0" anchor="ctr"/>
          <a:lstStyle/>
          <a:p>
            <a:pPr marL="0" indent="0" algn="ctr">
              <a:buNone/>
            </a:pPr>
            <a:r>
              <a:rPr lang="en-US" sz="1400" b="1" dirty="0">
                <a:solidFill>
                  <a:schemeClr val="bg1"/>
                </a:solidFill>
              </a:rPr>
              <a:t>PQ pool</a:t>
            </a:r>
            <a:endParaRPr lang="en-US" sz="1400" dirty="0"/>
          </a:p>
        </p:txBody>
      </p:sp>
      <p:sp>
        <p:nvSpPr>
          <p:cNvPr id="21" name="arrow"/>
          <p:cNvSpPr/>
          <p:nvPr/>
        </p:nvSpPr>
        <p:spPr>
          <a:xfrm>
            <a:off x="8823960" y="1760220"/>
            <a:ext cx="210312" cy="0"/>
          </a:xfrm>
          <a:prstGeom prst="line">
            <a:avLst/>
          </a:prstGeom>
          <a:noFill/>
          <a:ln w="25400">
            <a:solidFill>
              <a:srgbClr val="123D2E"/>
            </a:solidFill>
            <a:prstDash val="solid"/>
            <a:tailEnd type="triangle"/>
          </a:ln>
        </p:spPr>
      </p:sp>
      <p:sp>
        <p:nvSpPr>
          <p:cNvPr id="22" name="diagram box"/>
          <p:cNvSpPr/>
          <p:nvPr/>
        </p:nvSpPr>
        <p:spPr>
          <a:xfrm>
            <a:off x="9052560" y="1417320"/>
            <a:ext cx="1170432" cy="685800"/>
          </a:xfrm>
          <a:prstGeom prst="roundRect">
            <a:avLst>
              <a:gd name="adj" fmla="val 10667"/>
            </a:avLst>
          </a:prstGeom>
          <a:solidFill>
            <a:schemeClr val="accent6"/>
          </a:solidFill>
          <a:ln/>
        </p:spPr>
      </p:sp>
      <p:sp>
        <p:nvSpPr>
          <p:cNvPr id="23" name="Text 20"/>
          <p:cNvSpPr txBox="1"/>
          <p:nvPr/>
        </p:nvSpPr>
        <p:spPr>
          <a:xfrm>
            <a:off x="9052560" y="1417320"/>
            <a:ext cx="1170432" cy="685800"/>
          </a:xfrm>
          <a:prstGeom prst="rect">
            <a:avLst/>
          </a:prstGeom>
          <a:noFill/>
          <a:ln/>
        </p:spPr>
        <p:txBody>
          <a:bodyPr wrap="square" lIns="508" tIns="508" rIns="508" bIns="508" rtlCol="0" anchor="ctr"/>
          <a:lstStyle/>
          <a:p>
            <a:pPr marL="0" indent="0" algn="ctr">
              <a:buNone/>
            </a:pPr>
            <a:r>
              <a:rPr lang="en-US" sz="1400" b="1" dirty="0">
                <a:solidFill>
                  <a:schemeClr val="bg1"/>
                </a:solidFill>
              </a:rPr>
              <a:t>Cyt b₆f</a:t>
            </a:r>
            <a:endParaRPr lang="en-US" sz="1400" dirty="0"/>
          </a:p>
        </p:txBody>
      </p:sp>
      <p:sp>
        <p:nvSpPr>
          <p:cNvPr id="24" name="arrow"/>
          <p:cNvSpPr/>
          <p:nvPr/>
        </p:nvSpPr>
        <p:spPr>
          <a:xfrm>
            <a:off x="10241280" y="1760220"/>
            <a:ext cx="210312" cy="0"/>
          </a:xfrm>
          <a:prstGeom prst="line">
            <a:avLst/>
          </a:prstGeom>
          <a:noFill/>
          <a:ln w="25400">
            <a:solidFill>
              <a:srgbClr val="123D2E"/>
            </a:solidFill>
            <a:prstDash val="solid"/>
            <a:tailEnd type="triangle"/>
          </a:ln>
        </p:spPr>
      </p:sp>
      <p:sp>
        <p:nvSpPr>
          <p:cNvPr id="25" name="diagram box"/>
          <p:cNvSpPr/>
          <p:nvPr/>
        </p:nvSpPr>
        <p:spPr>
          <a:xfrm>
            <a:off x="10469880" y="1417320"/>
            <a:ext cx="1170432" cy="685800"/>
          </a:xfrm>
          <a:prstGeom prst="roundRect">
            <a:avLst>
              <a:gd name="adj" fmla="val 10667"/>
            </a:avLst>
          </a:prstGeom>
          <a:solidFill>
            <a:schemeClr val="accent5"/>
          </a:solidFill>
          <a:ln/>
        </p:spPr>
      </p:sp>
      <p:sp>
        <p:nvSpPr>
          <p:cNvPr id="26" name="Text 23"/>
          <p:cNvSpPr txBox="1"/>
          <p:nvPr/>
        </p:nvSpPr>
        <p:spPr>
          <a:xfrm>
            <a:off x="10469880" y="1417320"/>
            <a:ext cx="1170432" cy="685800"/>
          </a:xfrm>
          <a:prstGeom prst="rect">
            <a:avLst/>
          </a:prstGeom>
          <a:noFill/>
          <a:ln/>
        </p:spPr>
        <p:txBody>
          <a:bodyPr wrap="square" lIns="508" tIns="508" rIns="508" bIns="508" rtlCol="0" anchor="ctr"/>
          <a:lstStyle/>
          <a:p>
            <a:pPr marL="0" indent="0" algn="ctr">
              <a:buNone/>
            </a:pPr>
            <a:r>
              <a:rPr lang="en-US" sz="1400" b="1" dirty="0">
                <a:solidFill>
                  <a:schemeClr val="bg1"/>
                </a:solidFill>
              </a:rPr>
              <a:t>PSI → NADPH</a:t>
            </a:r>
            <a:endParaRPr lang="en-US" sz="1400" dirty="0"/>
          </a:p>
        </p:txBody>
      </p:sp>
      <p:sp>
        <p:nvSpPr>
          <p:cNvPr id="27" name="Text 24"/>
          <p:cNvSpPr txBox="1"/>
          <p:nvPr/>
        </p:nvSpPr>
        <p:spPr>
          <a:xfrm>
            <a:off x="548640" y="2148840"/>
            <a:ext cx="2743200" cy="274320"/>
          </a:xfrm>
          <a:prstGeom prst="rect">
            <a:avLst/>
          </a:prstGeom>
          <a:noFill/>
          <a:ln/>
        </p:spPr>
        <p:txBody>
          <a:bodyPr wrap="square" lIns="0" tIns="0" rIns="0" bIns="0" rtlCol="0" anchor="ctr"/>
          <a:lstStyle/>
          <a:p>
            <a:pPr marL="0" indent="0" algn="l">
              <a:buNone/>
            </a:pPr>
            <a:r>
              <a:rPr lang="en-US" sz="1200" i="1" dirty="0">
                <a:solidFill>
                  <a:schemeClr val="accent6"/>
                </a:solidFill>
              </a:rPr>
              <a:t>e⁻ flow →</a:t>
            </a:r>
            <a:endParaRPr lang="en-US" sz="1200" dirty="0"/>
          </a:p>
        </p:txBody>
      </p:sp>
      <p:sp>
        <p:nvSpPr>
          <p:cNvPr id="28" name="Text 25"/>
          <p:cNvSpPr txBox="1"/>
          <p:nvPr/>
        </p:nvSpPr>
        <p:spPr>
          <a:xfrm>
            <a:off x="4251960" y="2148840"/>
            <a:ext cx="2377440" cy="274320"/>
          </a:xfrm>
          <a:prstGeom prst="rect">
            <a:avLst/>
          </a:prstGeom>
          <a:noFill/>
          <a:ln/>
        </p:spPr>
        <p:txBody>
          <a:bodyPr wrap="square" lIns="0" tIns="0" rIns="0" bIns="0" rtlCol="0" anchor="ctr"/>
          <a:lstStyle/>
          <a:p>
            <a:pPr marL="0" indent="0" algn="ctr">
              <a:buNone/>
            </a:pPr>
            <a:r>
              <a:rPr lang="en-US" sz="1200" b="1" dirty="0">
                <a:solidFill>
                  <a:schemeClr val="accent2"/>
                </a:solidFill>
              </a:rPr>
              <a:t>Q</a:t>
            </a:r>
            <a:r>
              <a:rPr lang="en-US" sz="1200" b="1" baseline="-40000" dirty="0">
                <a:solidFill>
                  <a:schemeClr val="accent2"/>
                </a:solidFill>
              </a:rPr>
              <a:t>A</a:t>
            </a:r>
            <a:r>
              <a:rPr lang="en-US" sz="1200" b="1" dirty="0">
                <a:solidFill>
                  <a:schemeClr val="accent2"/>
                </a:solidFill>
              </a:rPr>
              <a:t> accepts only ONE electron at a time</a:t>
            </a:r>
            <a:endParaRPr lang="en-US" sz="1200" dirty="0"/>
          </a:p>
        </p:txBody>
      </p:sp>
      <p:sp>
        <p:nvSpPr>
          <p:cNvPr id="29" name="card"/>
          <p:cNvSpPr/>
          <p:nvPr/>
        </p:nvSpPr>
        <p:spPr>
          <a:xfrm>
            <a:off x="548640" y="2606040"/>
            <a:ext cx="5440680" cy="2423160"/>
          </a:xfrm>
          <a:prstGeom prst="roundRect">
            <a:avLst>
              <a:gd name="adj" fmla="val 3019"/>
            </a:avLst>
          </a:prstGeom>
          <a:solidFill>
            <a:schemeClr val="bg2"/>
          </a:solidFill>
          <a:ln/>
          <a:effectLst>
            <a:outerShdw blurRad="76200" dist="25400" dir="5400000" algn="bl" rotWithShape="0">
              <a:srgbClr val="000000">
                <a:alpha val="14000"/>
              </a:srgbClr>
            </a:outerShdw>
          </a:effectLst>
        </p:spPr>
      </p:sp>
      <p:sp>
        <p:nvSpPr>
          <p:cNvPr id="30" name="reaction centre"/>
          <p:cNvSpPr/>
          <p:nvPr/>
        </p:nvSpPr>
        <p:spPr>
          <a:xfrm>
            <a:off x="777240" y="2788920"/>
            <a:ext cx="914400" cy="914400"/>
          </a:xfrm>
          <a:prstGeom prst="ellipse">
            <a:avLst/>
          </a:prstGeom>
          <a:solidFill>
            <a:schemeClr val="accent1"/>
          </a:solidFill>
          <a:ln/>
        </p:spPr>
      </p:sp>
      <p:sp>
        <p:nvSpPr>
          <p:cNvPr id="31" name="Text 28"/>
          <p:cNvSpPr txBox="1"/>
          <p:nvPr/>
        </p:nvSpPr>
        <p:spPr>
          <a:xfrm>
            <a:off x="777240" y="2788920"/>
            <a:ext cx="914400" cy="914400"/>
          </a:xfrm>
          <a:prstGeom prst="rect">
            <a:avLst/>
          </a:prstGeom>
          <a:noFill/>
          <a:ln/>
        </p:spPr>
        <p:txBody>
          <a:bodyPr wrap="square" lIns="0" tIns="0" rIns="0" bIns="0" rtlCol="0" anchor="ctr"/>
          <a:lstStyle/>
          <a:p>
            <a:pPr marL="0" indent="0" algn="ctr">
              <a:buNone/>
            </a:pPr>
            <a:r>
              <a:rPr lang="en-US" sz="1800" b="1" dirty="0">
                <a:solidFill>
                  <a:schemeClr val="bg1"/>
                </a:solidFill>
              </a:rPr>
              <a:t>Q</a:t>
            </a:r>
            <a:r>
              <a:rPr lang="en-US" sz="1800" b="1" baseline="-40000" dirty="0">
                <a:solidFill>
                  <a:schemeClr val="bg1"/>
                </a:solidFill>
              </a:rPr>
              <a:t>A</a:t>
            </a:r>
            <a:endParaRPr lang="en-US" sz="1800" dirty="0"/>
          </a:p>
        </p:txBody>
      </p:sp>
      <p:sp>
        <p:nvSpPr>
          <p:cNvPr id="32" name="Text 29"/>
          <p:cNvSpPr txBox="1"/>
          <p:nvPr/>
        </p:nvSpPr>
        <p:spPr>
          <a:xfrm>
            <a:off x="1874520" y="2788920"/>
            <a:ext cx="3931920" cy="384048"/>
          </a:xfrm>
          <a:prstGeom prst="rect">
            <a:avLst/>
          </a:prstGeom>
          <a:noFill/>
          <a:ln/>
        </p:spPr>
        <p:txBody>
          <a:bodyPr wrap="square" lIns="0" tIns="0" rIns="0" bIns="0" rtlCol="0" anchor="ctr"/>
          <a:lstStyle/>
          <a:p>
            <a:pPr marL="0" indent="0" algn="l">
              <a:buNone/>
            </a:pPr>
            <a:r>
              <a:rPr lang="en-US" sz="1800" b="1" dirty="0">
                <a:solidFill>
                  <a:schemeClr val="accent1"/>
                </a:solidFill>
              </a:rPr>
              <a:t>OPEN centre</a:t>
            </a:r>
            <a:endParaRPr lang="en-US" sz="1800" dirty="0"/>
          </a:p>
        </p:txBody>
      </p:sp>
      <p:sp>
        <p:nvSpPr>
          <p:cNvPr id="33" name="Text 30"/>
          <p:cNvSpPr txBox="1"/>
          <p:nvPr/>
        </p:nvSpPr>
        <p:spPr>
          <a:xfrm>
            <a:off x="1874520" y="3172968"/>
            <a:ext cx="3931920" cy="502920"/>
          </a:xfrm>
          <a:prstGeom prst="rect">
            <a:avLst/>
          </a:prstGeom>
          <a:noFill/>
          <a:ln/>
        </p:spPr>
        <p:txBody>
          <a:bodyPr wrap="square" lIns="0" tIns="0" rIns="0" bIns="0" rtlCol="0" anchor="t"/>
          <a:lstStyle/>
          <a:p>
            <a:pPr marL="0" indent="0" algn="l">
              <a:buNone/>
            </a:pPr>
            <a:r>
              <a:rPr lang="en-US" sz="1300" dirty="0">
                <a:solidFill>
                  <a:schemeClr val="tx1"/>
                </a:solidFill>
              </a:rPr>
              <a:t>Q</a:t>
            </a:r>
            <a:r>
              <a:rPr lang="en-US" sz="1300" baseline="-40000" dirty="0">
                <a:solidFill>
                  <a:schemeClr val="tx1"/>
                </a:solidFill>
              </a:rPr>
              <a:t>A</a:t>
            </a:r>
            <a:r>
              <a:rPr lang="en-US" sz="1300" dirty="0">
                <a:solidFill>
                  <a:schemeClr val="tx1"/>
                </a:solidFill>
              </a:rPr>
              <a:t> oxidised — ready to accept an electron</a:t>
            </a:r>
            <a:endParaRPr lang="en-US" sz="1300" dirty="0"/>
          </a:p>
        </p:txBody>
      </p:sp>
      <p:sp>
        <p:nvSpPr>
          <p:cNvPr id="34" name="Text 31"/>
          <p:cNvSpPr txBox="1"/>
          <p:nvPr/>
        </p:nvSpPr>
        <p:spPr>
          <a:xfrm>
            <a:off x="822960" y="3840480"/>
            <a:ext cx="4937760" cy="1143000"/>
          </a:xfrm>
          <a:prstGeom prst="rect">
            <a:avLst/>
          </a:prstGeom>
          <a:noFill/>
          <a:ln/>
        </p:spPr>
        <p:txBody>
          <a:bodyPr wrap="square" lIns="508" tIns="508" rIns="508" bIns="508" rtlCol="0" anchor="t"/>
          <a:lstStyle/>
          <a:p>
            <a:pPr marL="177800" indent="-177800">
              <a:spcAft>
                <a:spcPts val="300"/>
              </a:spcAft>
              <a:buSzPct val="100000"/>
              <a:buChar char="•"/>
            </a:pPr>
            <a:r>
              <a:rPr lang="en-US" sz="1400" dirty="0">
                <a:solidFill>
                  <a:schemeClr val="tx1"/>
                </a:solidFill>
              </a:rPr>
              <a:t>Photochemistry possible</a:t>
            </a:r>
            <a:endParaRPr lang="en-US" sz="1400" dirty="0"/>
          </a:p>
          <a:p>
            <a:pPr marL="177800" indent="-177800">
              <a:spcAft>
                <a:spcPts val="300"/>
              </a:spcAft>
              <a:buSzPct val="100000"/>
              <a:buChar char="•"/>
            </a:pPr>
            <a:r>
              <a:rPr lang="en-US" sz="1400" dirty="0">
                <a:solidFill>
                  <a:schemeClr val="tx1"/>
                </a:solidFill>
              </a:rPr>
              <a:t>Fluorescence </a:t>
            </a:r>
            <a:r>
              <a:rPr lang="en-US" sz="1400" b="1" dirty="0">
                <a:solidFill>
                  <a:schemeClr val="tx1"/>
                </a:solidFill>
              </a:rPr>
              <a:t>low</a:t>
            </a:r>
            <a:r>
              <a:rPr lang="en-US" sz="1400" dirty="0">
                <a:solidFill>
                  <a:schemeClr val="tx1"/>
                </a:solidFill>
              </a:rPr>
              <a:t> (e.g. F</a:t>
            </a:r>
            <a:r>
              <a:rPr lang="en-US" sz="1400" baseline="-40000" dirty="0">
                <a:solidFill>
                  <a:schemeClr val="tx1"/>
                </a:solidFill>
              </a:rPr>
              <a:t>o</a:t>
            </a:r>
            <a:r>
              <a:rPr lang="en-US" sz="1400" dirty="0">
                <a:solidFill>
                  <a:schemeClr val="tx1"/>
                </a:solidFill>
              </a:rPr>
              <a:t> in the dark)</a:t>
            </a:r>
            <a:endParaRPr lang="en-US" sz="1400" dirty="0"/>
          </a:p>
          <a:p>
            <a:pPr marL="177800" indent="-177800">
              <a:spcAft>
                <a:spcPts val="300"/>
              </a:spcAft>
              <a:buSzPct val="100000"/>
              <a:buChar char="•"/>
            </a:pPr>
            <a:r>
              <a:rPr lang="en-US" sz="1400" dirty="0">
                <a:solidFill>
                  <a:schemeClr val="tx1"/>
                </a:solidFill>
              </a:rPr>
              <a:t>Excitation energy is used</a:t>
            </a:r>
            <a:endParaRPr lang="en-US" sz="1400" dirty="0"/>
          </a:p>
        </p:txBody>
      </p:sp>
      <p:sp>
        <p:nvSpPr>
          <p:cNvPr id="35" name="card"/>
          <p:cNvSpPr/>
          <p:nvPr/>
        </p:nvSpPr>
        <p:spPr>
          <a:xfrm>
            <a:off x="6199632" y="2606040"/>
            <a:ext cx="5440680" cy="2423160"/>
          </a:xfrm>
          <a:prstGeom prst="roundRect">
            <a:avLst>
              <a:gd name="adj" fmla="val 3019"/>
            </a:avLst>
          </a:prstGeom>
          <a:solidFill>
            <a:schemeClr val="bg2"/>
          </a:solidFill>
          <a:ln/>
          <a:effectLst>
            <a:outerShdw blurRad="76200" dist="25400" dir="5400000" algn="bl" rotWithShape="0">
              <a:srgbClr val="000000">
                <a:alpha val="14000"/>
              </a:srgbClr>
            </a:outerShdw>
          </a:effectLst>
        </p:spPr>
      </p:sp>
      <p:sp>
        <p:nvSpPr>
          <p:cNvPr id="36" name="reaction centre"/>
          <p:cNvSpPr/>
          <p:nvPr/>
        </p:nvSpPr>
        <p:spPr>
          <a:xfrm>
            <a:off x="6428232" y="2788920"/>
            <a:ext cx="914400" cy="914400"/>
          </a:xfrm>
          <a:prstGeom prst="ellipse">
            <a:avLst/>
          </a:prstGeom>
          <a:solidFill>
            <a:schemeClr val="accent2"/>
          </a:solidFill>
          <a:ln/>
        </p:spPr>
      </p:sp>
      <p:sp>
        <p:nvSpPr>
          <p:cNvPr id="37" name="Text 34"/>
          <p:cNvSpPr txBox="1"/>
          <p:nvPr/>
        </p:nvSpPr>
        <p:spPr>
          <a:xfrm>
            <a:off x="6428232" y="2788920"/>
            <a:ext cx="914400" cy="914400"/>
          </a:xfrm>
          <a:prstGeom prst="rect">
            <a:avLst/>
          </a:prstGeom>
          <a:noFill/>
          <a:ln/>
        </p:spPr>
        <p:txBody>
          <a:bodyPr wrap="square" lIns="0" tIns="0" rIns="0" bIns="0" rtlCol="0" anchor="ctr"/>
          <a:lstStyle/>
          <a:p>
            <a:pPr marL="0" indent="0" algn="ctr">
              <a:buNone/>
            </a:pPr>
            <a:r>
              <a:rPr lang="en-US" sz="1800" b="1" dirty="0">
                <a:solidFill>
                  <a:schemeClr val="bg1"/>
                </a:solidFill>
              </a:rPr>
              <a:t>Q</a:t>
            </a:r>
            <a:r>
              <a:rPr lang="en-US" sz="1800" b="1" baseline="-40000" dirty="0">
                <a:solidFill>
                  <a:schemeClr val="bg1"/>
                </a:solidFill>
              </a:rPr>
              <a:t>A</a:t>
            </a:r>
            <a:r>
              <a:rPr lang="en-US" sz="1800" b="1" dirty="0">
                <a:solidFill>
                  <a:schemeClr val="bg1"/>
                </a:solidFill>
              </a:rPr>
              <a:t>⁻</a:t>
            </a:r>
            <a:endParaRPr lang="en-US" sz="1800" dirty="0"/>
          </a:p>
        </p:txBody>
      </p:sp>
      <p:sp>
        <p:nvSpPr>
          <p:cNvPr id="38" name="Text 35"/>
          <p:cNvSpPr txBox="1"/>
          <p:nvPr/>
        </p:nvSpPr>
        <p:spPr>
          <a:xfrm>
            <a:off x="7525512" y="2788920"/>
            <a:ext cx="3931920" cy="384048"/>
          </a:xfrm>
          <a:prstGeom prst="rect">
            <a:avLst/>
          </a:prstGeom>
          <a:noFill/>
          <a:ln/>
        </p:spPr>
        <p:txBody>
          <a:bodyPr wrap="square" lIns="0" tIns="0" rIns="0" bIns="0" rtlCol="0" anchor="ctr"/>
          <a:lstStyle/>
          <a:p>
            <a:pPr marL="0" indent="0" algn="l">
              <a:buNone/>
            </a:pPr>
            <a:r>
              <a:rPr lang="en-US" sz="1800" b="1" dirty="0">
                <a:solidFill>
                  <a:schemeClr val="accent2"/>
                </a:solidFill>
              </a:rPr>
              <a:t>CLOSED centre</a:t>
            </a:r>
            <a:endParaRPr lang="en-US" sz="1800" dirty="0"/>
          </a:p>
        </p:txBody>
      </p:sp>
      <p:sp>
        <p:nvSpPr>
          <p:cNvPr id="39" name="Text 36"/>
          <p:cNvSpPr txBox="1"/>
          <p:nvPr/>
        </p:nvSpPr>
        <p:spPr>
          <a:xfrm>
            <a:off x="7525512" y="3172968"/>
            <a:ext cx="3931920" cy="502920"/>
          </a:xfrm>
          <a:prstGeom prst="rect">
            <a:avLst/>
          </a:prstGeom>
          <a:noFill/>
          <a:ln/>
        </p:spPr>
        <p:txBody>
          <a:bodyPr wrap="square" lIns="0" tIns="0" rIns="0" bIns="0" rtlCol="0" anchor="t"/>
          <a:lstStyle/>
          <a:p>
            <a:pPr marL="0" indent="0" algn="l">
              <a:buNone/>
            </a:pPr>
            <a:r>
              <a:rPr lang="en-US" sz="1300" dirty="0">
                <a:solidFill>
                  <a:schemeClr val="tx1"/>
                </a:solidFill>
              </a:rPr>
              <a:t>Q</a:t>
            </a:r>
            <a:r>
              <a:rPr lang="en-US" sz="1300" baseline="-40000" dirty="0">
                <a:solidFill>
                  <a:schemeClr val="tx1"/>
                </a:solidFill>
              </a:rPr>
              <a:t>A</a:t>
            </a:r>
            <a:r>
              <a:rPr lang="en-US" sz="1300" dirty="0">
                <a:solidFill>
                  <a:schemeClr val="tx1"/>
                </a:solidFill>
              </a:rPr>
              <a:t>⁻ reduced — waiting to pass its electron to Q</a:t>
            </a:r>
            <a:r>
              <a:rPr lang="en-US" sz="1300" baseline="-40000" dirty="0">
                <a:solidFill>
                  <a:schemeClr val="tx1"/>
                </a:solidFill>
              </a:rPr>
              <a:t>B</a:t>
            </a:r>
            <a:endParaRPr lang="en-US" sz="1300" dirty="0"/>
          </a:p>
        </p:txBody>
      </p:sp>
      <p:sp>
        <p:nvSpPr>
          <p:cNvPr id="40" name="Text 37"/>
          <p:cNvSpPr txBox="1"/>
          <p:nvPr/>
        </p:nvSpPr>
        <p:spPr>
          <a:xfrm>
            <a:off x="6473952" y="3840480"/>
            <a:ext cx="4937760" cy="1143000"/>
          </a:xfrm>
          <a:prstGeom prst="rect">
            <a:avLst/>
          </a:prstGeom>
          <a:noFill/>
          <a:ln/>
        </p:spPr>
        <p:txBody>
          <a:bodyPr wrap="square" lIns="508" tIns="508" rIns="508" bIns="508" rtlCol="0" anchor="t"/>
          <a:lstStyle/>
          <a:p>
            <a:pPr marL="177800" indent="-177800">
              <a:spcAft>
                <a:spcPts val="300"/>
              </a:spcAft>
              <a:buSzPct val="100000"/>
              <a:buChar char="•"/>
            </a:pPr>
            <a:r>
              <a:rPr lang="en-US" sz="1400" dirty="0">
                <a:solidFill>
                  <a:schemeClr val="tx1"/>
                </a:solidFill>
              </a:rPr>
              <a:t>No photochemistry until Q</a:t>
            </a:r>
            <a:r>
              <a:rPr lang="en-US" sz="1400" baseline="-40000" dirty="0">
                <a:solidFill>
                  <a:schemeClr val="tx1"/>
                </a:solidFill>
              </a:rPr>
              <a:t>A</a:t>
            </a:r>
            <a:r>
              <a:rPr lang="en-US" sz="1400" dirty="0">
                <a:solidFill>
                  <a:schemeClr val="tx1"/>
                </a:solidFill>
              </a:rPr>
              <a:t> re-oxidises</a:t>
            </a:r>
            <a:endParaRPr lang="en-US" sz="1400" dirty="0"/>
          </a:p>
          <a:p>
            <a:pPr marL="177800" indent="-177800">
              <a:spcAft>
                <a:spcPts val="300"/>
              </a:spcAft>
              <a:buSzPct val="100000"/>
              <a:buChar char="•"/>
            </a:pPr>
            <a:r>
              <a:rPr lang="en-US" sz="1400" dirty="0">
                <a:solidFill>
                  <a:schemeClr val="tx1"/>
                </a:solidFill>
              </a:rPr>
              <a:t>Fluorescence </a:t>
            </a:r>
            <a:r>
              <a:rPr lang="en-US" sz="1400" b="1" dirty="0">
                <a:solidFill>
                  <a:schemeClr val="tx1"/>
                </a:solidFill>
              </a:rPr>
              <a:t>high</a:t>
            </a:r>
            <a:r>
              <a:rPr lang="en-US" sz="1400" dirty="0">
                <a:solidFill>
                  <a:schemeClr val="tx1"/>
                </a:solidFill>
              </a:rPr>
              <a:t> (e.g. F</a:t>
            </a:r>
            <a:r>
              <a:rPr lang="en-US" sz="1400" baseline="-40000" dirty="0">
                <a:solidFill>
                  <a:schemeClr val="tx1"/>
                </a:solidFill>
              </a:rPr>
              <a:t>m</a:t>
            </a:r>
            <a:r>
              <a:rPr lang="en-US" sz="1400" dirty="0">
                <a:solidFill>
                  <a:schemeClr val="tx1"/>
                </a:solidFill>
              </a:rPr>
              <a:t> in a pulse)</a:t>
            </a:r>
            <a:endParaRPr lang="en-US" sz="1400" dirty="0"/>
          </a:p>
          <a:p>
            <a:pPr marL="177800" indent="-177800">
              <a:spcAft>
                <a:spcPts val="300"/>
              </a:spcAft>
              <a:buSzPct val="100000"/>
              <a:buChar char="•"/>
            </a:pPr>
            <a:r>
              <a:rPr lang="en-US" sz="1400" dirty="0">
                <a:solidFill>
                  <a:schemeClr val="tx1"/>
                </a:solidFill>
              </a:rPr>
              <a:t>Quantum efficiency of PSII declines</a:t>
            </a:r>
            <a:endParaRPr lang="en-US" sz="1400" dirty="0"/>
          </a:p>
        </p:txBody>
      </p:sp>
      <p:sp>
        <p:nvSpPr>
          <p:cNvPr id="41" name="insight"/>
          <p:cNvSpPr/>
          <p:nvPr/>
        </p:nvSpPr>
        <p:spPr>
          <a:xfrm>
            <a:off x="548640" y="5212080"/>
            <a:ext cx="11091672" cy="960120"/>
          </a:xfrm>
          <a:prstGeom prst="roundRect">
            <a:avLst>
              <a:gd name="adj" fmla="val 7619"/>
            </a:avLst>
          </a:prstGeom>
          <a:solidFill>
            <a:schemeClr val="bg2"/>
          </a:solidFill>
          <a:ln/>
        </p:spPr>
      </p:sp>
      <p:sp>
        <p:nvSpPr>
          <p:cNvPr id="42" name="icon circle"/>
          <p:cNvSpPr/>
          <p:nvPr/>
        </p:nvSpPr>
        <p:spPr>
          <a:xfrm>
            <a:off x="685800" y="5440680"/>
            <a:ext cx="493776" cy="493776"/>
          </a:xfrm>
          <a:prstGeom prst="ellipse">
            <a:avLst/>
          </a:prstGeom>
          <a:solidFill>
            <a:schemeClr val="accent3"/>
          </a:solidFill>
          <a:ln/>
        </p:spPr>
      </p:sp>
      <p:pic>
        <p:nvPicPr>
          <p:cNvPr id="43" name="Image 0" descr="Lightbulb icon"/>
          <p:cNvPicPr>
            <a:picLocks noChangeAspect="1"/>
          </p:cNvPicPr>
          <p:nvPr/>
        </p:nvPicPr>
        <p:blipFill>
          <a:blip r:embed="rId3"/>
          <a:stretch>
            <a:fillRect/>
          </a:stretch>
        </p:blipFill>
        <p:spPr>
          <a:xfrm>
            <a:off x="814182" y="5569062"/>
            <a:ext cx="237012" cy="237012"/>
          </a:xfrm>
          <a:prstGeom prst="rect">
            <a:avLst/>
          </a:prstGeom>
        </p:spPr>
      </p:pic>
      <p:sp>
        <p:nvSpPr>
          <p:cNvPr id="44" name="Text 40"/>
          <p:cNvSpPr txBox="1"/>
          <p:nvPr/>
        </p:nvSpPr>
        <p:spPr>
          <a:xfrm>
            <a:off x="1325880" y="5257800"/>
            <a:ext cx="10149840" cy="868680"/>
          </a:xfrm>
          <a:prstGeom prst="rect">
            <a:avLst/>
          </a:prstGeom>
          <a:noFill/>
          <a:ln/>
        </p:spPr>
        <p:txBody>
          <a:bodyPr wrap="square" lIns="508" tIns="508" rIns="508" bIns="508" rtlCol="0" anchor="ctr"/>
          <a:lstStyle/>
          <a:p>
            <a:pPr marL="0" indent="0">
              <a:spcAft>
                <a:spcPts val="600"/>
              </a:spcAft>
              <a:buNone/>
            </a:pPr>
            <a:r>
              <a:rPr lang="en-US" sz="1400" dirty="0">
                <a:solidFill>
                  <a:schemeClr val="tx1"/>
                </a:solidFill>
              </a:rPr>
              <a:t>Light intensity and temperature (via metabolic state) set how many centres are closed at any moment. </a:t>
            </a:r>
            <a:r>
              <a:rPr lang="en-US" sz="1400" b="1" dirty="0">
                <a:solidFill>
                  <a:schemeClr val="tx1"/>
                </a:solidFill>
              </a:rPr>
              <a:t>More closure → lower PSII quantum efficiency → higher fluorescence (unless NPQ rises too).</a:t>
            </a:r>
            <a:endParaRPr lang="en-US" sz="14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Paper Figure 1: events in PSII behind the parameters</a:t>
            </a:r>
            <a:endParaRPr lang="en-US" sz="3200" dirty="0"/>
          </a:p>
        </p:txBody>
      </p:sp>
      <p:sp>
        <p:nvSpPr>
          <p:cNvPr id="4" name="figure frame"/>
          <p:cNvSpPr/>
          <p:nvPr/>
        </p:nvSpPr>
        <p:spPr>
          <a:xfrm>
            <a:off x="548640" y="1325880"/>
            <a:ext cx="6949440" cy="4434840"/>
          </a:xfrm>
          <a:prstGeom prst="roundRect">
            <a:avLst>
              <a:gd name="adj" fmla="val 1237"/>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5" name="Image 0" descr="Murchie &amp; Lawson (2013), Fig. 1 — (A) PSII electron transport, (B) Fo and Fm in a dark-adapted leaf, (C) open → closed centre"/>
          <p:cNvPicPr>
            <a:picLocks noChangeAspect="1"/>
          </p:cNvPicPr>
          <p:nvPr/>
        </p:nvPicPr>
        <p:blipFill>
          <a:blip r:embed="rId3"/>
          <a:stretch>
            <a:fillRect/>
          </a:stretch>
        </p:blipFill>
        <p:spPr>
          <a:xfrm>
            <a:off x="815366" y="1417320"/>
            <a:ext cx="6415989" cy="4251960"/>
          </a:xfrm>
          <a:prstGeom prst="rect">
            <a:avLst/>
          </a:prstGeom>
        </p:spPr>
      </p:pic>
      <p:sp>
        <p:nvSpPr>
          <p:cNvPr id="6" name="Text 2"/>
          <p:cNvSpPr txBox="1"/>
          <p:nvPr/>
        </p:nvSpPr>
        <p:spPr>
          <a:xfrm>
            <a:off x="548640" y="5806440"/>
            <a:ext cx="6949440" cy="365760"/>
          </a:xfrm>
          <a:prstGeom prst="rect">
            <a:avLst/>
          </a:prstGeom>
          <a:noFill/>
          <a:ln/>
        </p:spPr>
        <p:txBody>
          <a:bodyPr wrap="square" lIns="0" tIns="0" rIns="0" bIns="0" rtlCol="0" anchor="t"/>
          <a:lstStyle/>
          <a:p>
            <a:pPr marL="0" indent="0">
              <a:buNone/>
            </a:pPr>
            <a:r>
              <a:rPr lang="en-US" sz="1100" i="1" dirty="0">
                <a:solidFill>
                  <a:schemeClr val="accent6"/>
                </a:solidFill>
              </a:rPr>
              <a:t>Murchie &amp; Lawson (2013), Fig. 1 — (A) PSII electron transport, (B) Fo and Fm in a dark-adapted leaf, (C) open → closed centre</a:t>
            </a:r>
            <a:endParaRPr lang="en-US" sz="1100" dirty="0"/>
          </a:p>
        </p:txBody>
      </p:sp>
      <p:sp>
        <p:nvSpPr>
          <p:cNvPr id="7" name="card"/>
          <p:cNvSpPr/>
          <p:nvPr/>
        </p:nvSpPr>
        <p:spPr>
          <a:xfrm>
            <a:off x="7726680" y="1325880"/>
            <a:ext cx="3913632" cy="1463040"/>
          </a:xfrm>
          <a:prstGeom prst="roundRect">
            <a:avLst>
              <a:gd name="adj" fmla="val 5000"/>
            </a:avLst>
          </a:prstGeom>
          <a:solidFill>
            <a:schemeClr val="bg2"/>
          </a:solidFill>
          <a:ln/>
          <a:effectLst>
            <a:outerShdw blurRad="76200" dist="25400" dir="5400000" algn="bl" rotWithShape="0">
              <a:srgbClr val="000000">
                <a:alpha val="14000"/>
              </a:srgbClr>
            </a:outerShdw>
          </a:effectLst>
        </p:spPr>
      </p:sp>
      <p:sp>
        <p:nvSpPr>
          <p:cNvPr id="8" name="panel marker"/>
          <p:cNvSpPr/>
          <p:nvPr/>
        </p:nvSpPr>
        <p:spPr>
          <a:xfrm>
            <a:off x="7863840" y="1490472"/>
            <a:ext cx="457200" cy="457200"/>
          </a:xfrm>
          <a:prstGeom prst="ellipse">
            <a:avLst/>
          </a:prstGeom>
          <a:solidFill>
            <a:schemeClr val="tx2"/>
          </a:solidFill>
          <a:ln/>
        </p:spPr>
      </p:sp>
      <p:sp>
        <p:nvSpPr>
          <p:cNvPr id="9" name="Text 5"/>
          <p:cNvSpPr txBox="1"/>
          <p:nvPr/>
        </p:nvSpPr>
        <p:spPr>
          <a:xfrm>
            <a:off x="7863840" y="1490472"/>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A</a:t>
            </a:r>
            <a:endParaRPr lang="en-US" sz="1600" dirty="0"/>
          </a:p>
        </p:txBody>
      </p:sp>
      <p:sp>
        <p:nvSpPr>
          <p:cNvPr id="10" name="Text 6"/>
          <p:cNvSpPr txBox="1"/>
          <p:nvPr/>
        </p:nvSpPr>
        <p:spPr>
          <a:xfrm>
            <a:off x="8458200" y="1435608"/>
            <a:ext cx="3063240" cy="1280160"/>
          </a:xfrm>
          <a:prstGeom prst="rect">
            <a:avLst/>
          </a:prstGeom>
          <a:noFill/>
          <a:ln/>
        </p:spPr>
        <p:txBody>
          <a:bodyPr wrap="square" lIns="0" tIns="0" rIns="0" bIns="0" rtlCol="0" anchor="t"/>
          <a:lstStyle/>
          <a:p>
            <a:pPr marL="0" indent="0">
              <a:buNone/>
            </a:pPr>
            <a:r>
              <a:rPr lang="en-US" sz="1300" dirty="0">
                <a:solidFill>
                  <a:schemeClr val="tx1"/>
                </a:solidFill>
              </a:rPr>
              <a:t>Excitation energy in LHCII goes to photochemistry, heat (NPQ) or fluorescence. Electrons: H₂O → OEC → P680 → Pheo → Q</a:t>
            </a:r>
            <a:r>
              <a:rPr lang="en-US" sz="1300" baseline="-40000" dirty="0">
                <a:solidFill>
                  <a:schemeClr val="tx1"/>
                </a:solidFill>
              </a:rPr>
              <a:t>A</a:t>
            </a:r>
            <a:r>
              <a:rPr lang="en-US" sz="1300" dirty="0">
                <a:solidFill>
                  <a:schemeClr val="tx1"/>
                </a:solidFill>
              </a:rPr>
              <a:t> → Q</a:t>
            </a:r>
            <a:r>
              <a:rPr lang="en-US" sz="1300" baseline="-40000" dirty="0">
                <a:solidFill>
                  <a:schemeClr val="tx1"/>
                </a:solidFill>
              </a:rPr>
              <a:t>B</a:t>
            </a:r>
            <a:r>
              <a:rPr lang="en-US" sz="1300" dirty="0">
                <a:solidFill>
                  <a:schemeClr val="tx1"/>
                </a:solidFill>
              </a:rPr>
              <a:t> → PQ.</a:t>
            </a:r>
            <a:endParaRPr lang="en-US" sz="1300" dirty="0"/>
          </a:p>
        </p:txBody>
      </p:sp>
      <p:sp>
        <p:nvSpPr>
          <p:cNvPr id="11" name="card"/>
          <p:cNvSpPr/>
          <p:nvPr/>
        </p:nvSpPr>
        <p:spPr>
          <a:xfrm>
            <a:off x="7726680" y="2926080"/>
            <a:ext cx="3913632" cy="1463040"/>
          </a:xfrm>
          <a:prstGeom prst="roundRect">
            <a:avLst>
              <a:gd name="adj" fmla="val 5000"/>
            </a:avLst>
          </a:prstGeom>
          <a:solidFill>
            <a:schemeClr val="bg2"/>
          </a:solidFill>
          <a:ln/>
          <a:effectLst>
            <a:outerShdw blurRad="76200" dist="25400" dir="5400000" algn="bl" rotWithShape="0">
              <a:srgbClr val="000000">
                <a:alpha val="14000"/>
              </a:srgbClr>
            </a:outerShdw>
          </a:effectLst>
        </p:spPr>
      </p:sp>
      <p:sp>
        <p:nvSpPr>
          <p:cNvPr id="12" name="panel marker"/>
          <p:cNvSpPr/>
          <p:nvPr/>
        </p:nvSpPr>
        <p:spPr>
          <a:xfrm>
            <a:off x="7863840" y="3090672"/>
            <a:ext cx="457200" cy="457200"/>
          </a:xfrm>
          <a:prstGeom prst="ellipse">
            <a:avLst/>
          </a:prstGeom>
          <a:solidFill>
            <a:schemeClr val="tx2"/>
          </a:solidFill>
          <a:ln/>
        </p:spPr>
      </p:sp>
      <p:sp>
        <p:nvSpPr>
          <p:cNvPr id="13" name="Text 9"/>
          <p:cNvSpPr txBox="1"/>
          <p:nvPr/>
        </p:nvSpPr>
        <p:spPr>
          <a:xfrm>
            <a:off x="7863840" y="3090672"/>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B</a:t>
            </a:r>
            <a:endParaRPr lang="en-US" sz="1600" dirty="0"/>
          </a:p>
        </p:txBody>
      </p:sp>
      <p:sp>
        <p:nvSpPr>
          <p:cNvPr id="14" name="Text 10"/>
          <p:cNvSpPr txBox="1"/>
          <p:nvPr/>
        </p:nvSpPr>
        <p:spPr>
          <a:xfrm>
            <a:off x="8458200" y="3035808"/>
            <a:ext cx="3063240" cy="1280160"/>
          </a:xfrm>
          <a:prstGeom prst="rect">
            <a:avLst/>
          </a:prstGeom>
          <a:noFill/>
          <a:ln/>
        </p:spPr>
        <p:txBody>
          <a:bodyPr wrap="square" lIns="0" tIns="0" rIns="0" bIns="0" rtlCol="0" anchor="t"/>
          <a:lstStyle/>
          <a:p>
            <a:pPr marL="0" indent="0">
              <a:buNone/>
            </a:pPr>
            <a:r>
              <a:rPr lang="en-US" sz="1300" dirty="0">
                <a:solidFill>
                  <a:schemeClr val="tx1"/>
                </a:solidFill>
              </a:rPr>
              <a:t>Measuring beam on → </a:t>
            </a:r>
            <a:r>
              <a:rPr lang="en-US" sz="1300" b="1" dirty="0">
                <a:solidFill>
                  <a:schemeClr val="tx1"/>
                </a:solidFill>
              </a:rPr>
              <a:t>F</a:t>
            </a:r>
            <a:r>
              <a:rPr lang="en-US" sz="1300" b="1" baseline="-40000" dirty="0">
                <a:solidFill>
                  <a:schemeClr val="tx1"/>
                </a:solidFill>
              </a:rPr>
              <a:t>o</a:t>
            </a:r>
            <a:r>
              <a:rPr lang="en-US" sz="1300" dirty="0">
                <a:solidFill>
                  <a:schemeClr val="tx1"/>
                </a:solidFill>
              </a:rPr>
              <a:t> (centres open). Saturating pulse → </a:t>
            </a:r>
            <a:r>
              <a:rPr lang="en-US" sz="1300" b="1" dirty="0">
                <a:solidFill>
                  <a:schemeClr val="tx1"/>
                </a:solidFill>
              </a:rPr>
              <a:t>F</a:t>
            </a:r>
            <a:r>
              <a:rPr lang="en-US" sz="1300" b="1" baseline="-40000" dirty="0">
                <a:solidFill>
                  <a:schemeClr val="tx1"/>
                </a:solidFill>
              </a:rPr>
              <a:t>m</a:t>
            </a:r>
            <a:r>
              <a:rPr lang="en-US" sz="1300" dirty="0">
                <a:solidFill>
                  <a:schemeClr val="tx1"/>
                </a:solidFill>
              </a:rPr>
              <a:t> (centres closed). </a:t>
            </a:r>
            <a:r>
              <a:rPr lang="en-US" sz="1300" b="1" dirty="0">
                <a:solidFill>
                  <a:schemeClr val="tx1"/>
                </a:solidFill>
              </a:rPr>
              <a:t>F</a:t>
            </a:r>
            <a:r>
              <a:rPr lang="en-US" sz="1300" b="1" baseline="-40000" dirty="0">
                <a:solidFill>
                  <a:schemeClr val="tx1"/>
                </a:solidFill>
              </a:rPr>
              <a:t>v</a:t>
            </a:r>
            <a:r>
              <a:rPr lang="en-US" sz="1300" b="1" dirty="0">
                <a:solidFill>
                  <a:schemeClr val="tx1"/>
                </a:solidFill>
              </a:rPr>
              <a:t> = F</a:t>
            </a:r>
            <a:r>
              <a:rPr lang="en-US" sz="1300" b="1" baseline="-40000" dirty="0">
                <a:solidFill>
                  <a:schemeClr val="tx1"/>
                </a:solidFill>
              </a:rPr>
              <a:t>m</a:t>
            </a:r>
            <a:r>
              <a:rPr lang="en-US" sz="1300" b="1" dirty="0">
                <a:solidFill>
                  <a:schemeClr val="tx1"/>
                </a:solidFill>
              </a:rPr>
              <a:t> − F</a:t>
            </a:r>
            <a:r>
              <a:rPr lang="en-US" sz="1300" b="1" baseline="-40000" dirty="0">
                <a:solidFill>
                  <a:schemeClr val="tx1"/>
                </a:solidFill>
              </a:rPr>
              <a:t>o</a:t>
            </a:r>
            <a:r>
              <a:rPr lang="en-US" sz="1300" dirty="0">
                <a:solidFill>
                  <a:schemeClr val="tx1"/>
                </a:solidFill>
              </a:rPr>
              <a:t>.</a:t>
            </a:r>
            <a:endParaRPr lang="en-US" sz="1300" dirty="0"/>
          </a:p>
        </p:txBody>
      </p:sp>
      <p:sp>
        <p:nvSpPr>
          <p:cNvPr id="15" name="card"/>
          <p:cNvSpPr/>
          <p:nvPr/>
        </p:nvSpPr>
        <p:spPr>
          <a:xfrm>
            <a:off x="7726680" y="4526280"/>
            <a:ext cx="3913632" cy="1463040"/>
          </a:xfrm>
          <a:prstGeom prst="roundRect">
            <a:avLst>
              <a:gd name="adj" fmla="val 5000"/>
            </a:avLst>
          </a:prstGeom>
          <a:solidFill>
            <a:schemeClr val="bg2"/>
          </a:solidFill>
          <a:ln/>
          <a:effectLst>
            <a:outerShdw blurRad="76200" dist="25400" dir="5400000" algn="bl" rotWithShape="0">
              <a:srgbClr val="000000">
                <a:alpha val="14000"/>
              </a:srgbClr>
            </a:outerShdw>
          </a:effectLst>
        </p:spPr>
      </p:sp>
      <p:sp>
        <p:nvSpPr>
          <p:cNvPr id="16" name="panel marker"/>
          <p:cNvSpPr/>
          <p:nvPr/>
        </p:nvSpPr>
        <p:spPr>
          <a:xfrm>
            <a:off x="7863840" y="4690872"/>
            <a:ext cx="457200" cy="457200"/>
          </a:xfrm>
          <a:prstGeom prst="ellipse">
            <a:avLst/>
          </a:prstGeom>
          <a:solidFill>
            <a:schemeClr val="tx2"/>
          </a:solidFill>
          <a:ln/>
        </p:spPr>
      </p:sp>
      <p:sp>
        <p:nvSpPr>
          <p:cNvPr id="17" name="Text 13"/>
          <p:cNvSpPr txBox="1"/>
          <p:nvPr/>
        </p:nvSpPr>
        <p:spPr>
          <a:xfrm>
            <a:off x="7863840" y="4690872"/>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C</a:t>
            </a:r>
            <a:endParaRPr lang="en-US" sz="1600" dirty="0"/>
          </a:p>
        </p:txBody>
      </p:sp>
      <p:sp>
        <p:nvSpPr>
          <p:cNvPr id="18" name="Text 14"/>
          <p:cNvSpPr txBox="1"/>
          <p:nvPr/>
        </p:nvSpPr>
        <p:spPr>
          <a:xfrm>
            <a:off x="8458200" y="4636008"/>
            <a:ext cx="3063240" cy="1280160"/>
          </a:xfrm>
          <a:prstGeom prst="rect">
            <a:avLst/>
          </a:prstGeom>
          <a:noFill/>
          <a:ln/>
        </p:spPr>
        <p:txBody>
          <a:bodyPr wrap="square" lIns="0" tIns="0" rIns="0" bIns="0" rtlCol="0" anchor="t"/>
          <a:lstStyle/>
          <a:p>
            <a:pPr marL="0" indent="0">
              <a:buNone/>
            </a:pPr>
            <a:r>
              <a:rPr lang="en-US" sz="1300" dirty="0">
                <a:solidFill>
                  <a:schemeClr val="tx1"/>
                </a:solidFill>
              </a:rPr>
              <a:t>P680 → P680∗ (excited) → P680⁺Q</a:t>
            </a:r>
            <a:r>
              <a:rPr lang="en-US" sz="1300" baseline="-40000" dirty="0">
                <a:solidFill>
                  <a:schemeClr val="tx1"/>
                </a:solidFill>
              </a:rPr>
              <a:t>A</a:t>
            </a:r>
            <a:r>
              <a:rPr lang="en-US" sz="1300" dirty="0">
                <a:solidFill>
                  <a:schemeClr val="tx1"/>
                </a:solidFill>
              </a:rPr>
              <a:t>⁻ after charge separation. Q</a:t>
            </a:r>
            <a:r>
              <a:rPr lang="en-US" sz="1300" baseline="-40000" dirty="0">
                <a:solidFill>
                  <a:schemeClr val="tx1"/>
                </a:solidFill>
              </a:rPr>
              <a:t>A</a:t>
            </a:r>
            <a:r>
              <a:rPr lang="en-US" sz="1300" dirty="0">
                <a:solidFill>
                  <a:schemeClr val="tx1"/>
                </a:solidFill>
              </a:rPr>
              <a:t>⁻ cannot accept another electron → </a:t>
            </a:r>
            <a:r>
              <a:rPr lang="en-US" sz="1300" b="1" dirty="0">
                <a:solidFill>
                  <a:schemeClr val="tx1"/>
                </a:solidFill>
              </a:rPr>
              <a:t>closed centre</a:t>
            </a:r>
            <a:r>
              <a:rPr lang="en-US" sz="1300" dirty="0">
                <a:solidFill>
                  <a:schemeClr val="tx1"/>
                </a:solidFill>
              </a:rPr>
              <a:t>.</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What is 'quenching'?</a:t>
            </a:r>
            <a:endParaRPr lang="en-US" sz="3200" dirty="0"/>
          </a:p>
        </p:txBody>
      </p:sp>
      <p:sp>
        <p:nvSpPr>
          <p:cNvPr id="4" name="figure frame"/>
          <p:cNvSpPr/>
          <p:nvPr/>
        </p:nvSpPr>
        <p:spPr>
          <a:xfrm>
            <a:off x="548640" y="1325880"/>
            <a:ext cx="5669280" cy="3429000"/>
          </a:xfrm>
          <a:prstGeom prst="roundRect">
            <a:avLst>
              <a:gd name="adj" fmla="val 1600"/>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5" name="Image 0" descr="Dark-adapted vs light-adapted traces: Fm′ &lt; Fm because of non-photochemical quenching; Ft (F′) &lt; Fm′ because of photochemical quenching"/>
          <p:cNvPicPr>
            <a:picLocks noChangeAspect="1"/>
          </p:cNvPicPr>
          <p:nvPr/>
        </p:nvPicPr>
        <p:blipFill>
          <a:blip r:embed="rId3"/>
          <a:stretch>
            <a:fillRect/>
          </a:stretch>
        </p:blipFill>
        <p:spPr>
          <a:xfrm>
            <a:off x="1026722" y="1417320"/>
            <a:ext cx="4713117" cy="3246120"/>
          </a:xfrm>
          <a:prstGeom prst="rect">
            <a:avLst/>
          </a:prstGeom>
        </p:spPr>
      </p:pic>
      <p:sp>
        <p:nvSpPr>
          <p:cNvPr id="6" name="Text 2"/>
          <p:cNvSpPr txBox="1"/>
          <p:nvPr/>
        </p:nvSpPr>
        <p:spPr>
          <a:xfrm>
            <a:off x="548640" y="4800600"/>
            <a:ext cx="5669280" cy="457200"/>
          </a:xfrm>
          <a:prstGeom prst="rect">
            <a:avLst/>
          </a:prstGeom>
          <a:noFill/>
          <a:ln/>
        </p:spPr>
        <p:txBody>
          <a:bodyPr wrap="square" lIns="0" tIns="0" rIns="0" bIns="0" rtlCol="0" anchor="t"/>
          <a:lstStyle/>
          <a:p>
            <a:pPr marL="0" indent="0">
              <a:buNone/>
            </a:pPr>
            <a:r>
              <a:rPr lang="en-US" sz="1100" i="1" dirty="0">
                <a:solidFill>
                  <a:schemeClr val="accent6"/>
                </a:solidFill>
              </a:rPr>
              <a:t>Dark-adapted vs light-adapted traces: Fm′ &lt; Fm because of non-photochemical quenching; Ft (F′) &lt; Fm′ because of photochemical quenching</a:t>
            </a:r>
            <a:endParaRPr lang="en-US" sz="1100" dirty="0"/>
          </a:p>
        </p:txBody>
      </p:sp>
      <p:sp>
        <p:nvSpPr>
          <p:cNvPr id="7" name="card"/>
          <p:cNvSpPr/>
          <p:nvPr/>
        </p:nvSpPr>
        <p:spPr>
          <a:xfrm>
            <a:off x="6446520" y="1325880"/>
            <a:ext cx="5193792" cy="2331720"/>
          </a:xfrm>
          <a:prstGeom prst="roundRect">
            <a:avLst>
              <a:gd name="adj" fmla="val 3137"/>
            </a:avLst>
          </a:prstGeom>
          <a:solidFill>
            <a:schemeClr val="bg2"/>
          </a:solidFill>
          <a:ln/>
          <a:effectLst>
            <a:outerShdw blurRad="76200" dist="25400" dir="5400000" algn="bl" rotWithShape="0">
              <a:srgbClr val="000000">
                <a:alpha val="14000"/>
              </a:srgbClr>
            </a:outerShdw>
          </a:effectLst>
        </p:spPr>
      </p:sp>
      <p:sp>
        <p:nvSpPr>
          <p:cNvPr id="8" name="icon circle"/>
          <p:cNvSpPr/>
          <p:nvPr/>
        </p:nvSpPr>
        <p:spPr>
          <a:xfrm>
            <a:off x="6629400" y="1481328"/>
            <a:ext cx="420624" cy="420624"/>
          </a:xfrm>
          <a:prstGeom prst="ellipse">
            <a:avLst/>
          </a:prstGeom>
          <a:solidFill>
            <a:schemeClr val="accent1"/>
          </a:solidFill>
          <a:ln/>
        </p:spPr>
      </p:sp>
      <p:pic>
        <p:nvPicPr>
          <p:cNvPr id="9" name="Image 1" descr="Leaf icon"/>
          <p:cNvPicPr>
            <a:picLocks noChangeAspect="1"/>
          </p:cNvPicPr>
          <p:nvPr/>
        </p:nvPicPr>
        <p:blipFill>
          <a:blip r:embed="rId4"/>
          <a:stretch>
            <a:fillRect/>
          </a:stretch>
        </p:blipFill>
        <p:spPr>
          <a:xfrm>
            <a:off x="6738762" y="1590690"/>
            <a:ext cx="201900" cy="201900"/>
          </a:xfrm>
          <a:prstGeom prst="rect">
            <a:avLst/>
          </a:prstGeom>
        </p:spPr>
      </p:pic>
      <p:sp>
        <p:nvSpPr>
          <p:cNvPr id="10" name="Text 5"/>
          <p:cNvSpPr txBox="1"/>
          <p:nvPr/>
        </p:nvSpPr>
        <p:spPr>
          <a:xfrm>
            <a:off x="7159752" y="1463040"/>
            <a:ext cx="4343400" cy="457200"/>
          </a:xfrm>
          <a:prstGeom prst="rect">
            <a:avLst/>
          </a:prstGeom>
          <a:noFill/>
          <a:ln/>
        </p:spPr>
        <p:txBody>
          <a:bodyPr wrap="square" lIns="0" tIns="0" rIns="0" bIns="0" rtlCol="0" anchor="ctr"/>
          <a:lstStyle/>
          <a:p>
            <a:pPr marL="0" indent="0">
              <a:buNone/>
            </a:pPr>
            <a:r>
              <a:rPr lang="en-US" sz="1600" b="1" dirty="0">
                <a:solidFill>
                  <a:schemeClr val="tx2"/>
                </a:solidFill>
              </a:rPr>
              <a:t>① Photochemical quenching (qP)</a:t>
            </a:r>
            <a:endParaRPr lang="en-US" sz="1600" dirty="0"/>
          </a:p>
        </p:txBody>
      </p:sp>
      <p:sp>
        <p:nvSpPr>
          <p:cNvPr id="11" name="Text 6"/>
          <p:cNvSpPr txBox="1"/>
          <p:nvPr/>
        </p:nvSpPr>
        <p:spPr>
          <a:xfrm>
            <a:off x="6629400" y="2011680"/>
            <a:ext cx="4828032" cy="155448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Light </a:t>
            </a:r>
            <a:r>
              <a:rPr lang="en-US" sz="1300" b="1" dirty="0">
                <a:solidFill>
                  <a:schemeClr val="tx1"/>
                </a:solidFill>
              </a:rPr>
              <a:t>activates Calvin-cycle enzymes</a:t>
            </a:r>
            <a:r>
              <a:rPr lang="en-US" sz="1300" dirty="0">
                <a:solidFill>
                  <a:schemeClr val="tx1"/>
                </a:solidFill>
              </a:rPr>
              <a:t>; metabolite pools in stroma and cytosol increase</a:t>
            </a:r>
            <a:endParaRPr lang="en-US" sz="1300" dirty="0"/>
          </a:p>
          <a:p>
            <a:pPr marL="177800" indent="-177800">
              <a:spcAft>
                <a:spcPts val="400"/>
              </a:spcAft>
              <a:buSzPct val="100000"/>
              <a:buChar char="•"/>
            </a:pPr>
            <a:r>
              <a:rPr lang="en-US" sz="1300" b="1" dirty="0">
                <a:solidFill>
                  <a:schemeClr val="tx1"/>
                </a:solidFill>
              </a:rPr>
              <a:t>Stomata open</a:t>
            </a:r>
            <a:r>
              <a:rPr lang="en-US" sz="1300" dirty="0">
                <a:solidFill>
                  <a:schemeClr val="tx1"/>
                </a:solidFill>
              </a:rPr>
              <a:t> → more CO₂ for Rubisco (stomata respond ~10× slower than photosynthesis)</a:t>
            </a:r>
            <a:endParaRPr lang="en-US" sz="1300" dirty="0"/>
          </a:p>
          <a:p>
            <a:pPr marL="177800" indent="-177800">
              <a:spcAft>
                <a:spcPts val="400"/>
              </a:spcAft>
              <a:buSzPct val="100000"/>
              <a:buChar char="•"/>
            </a:pPr>
            <a:r>
              <a:rPr lang="en-US" sz="1300" dirty="0">
                <a:solidFill>
                  <a:schemeClr val="tx1"/>
                </a:solidFill>
              </a:rPr>
              <a:t>More electron sinks → Q</a:t>
            </a:r>
            <a:r>
              <a:rPr lang="en-US" sz="1300" baseline="-40000" dirty="0">
                <a:solidFill>
                  <a:schemeClr val="tx1"/>
                </a:solidFill>
              </a:rPr>
              <a:t>A</a:t>
            </a:r>
            <a:r>
              <a:rPr lang="en-US" sz="1300" dirty="0">
                <a:solidFill>
                  <a:schemeClr val="tx1"/>
                </a:solidFill>
              </a:rPr>
              <a:t> re-oxidised → centres re-open</a:t>
            </a:r>
            <a:endParaRPr lang="en-US" sz="1300" dirty="0"/>
          </a:p>
        </p:txBody>
      </p:sp>
      <p:sp>
        <p:nvSpPr>
          <p:cNvPr id="12" name="card"/>
          <p:cNvSpPr/>
          <p:nvPr/>
        </p:nvSpPr>
        <p:spPr>
          <a:xfrm>
            <a:off x="6446520" y="3794760"/>
            <a:ext cx="5193792" cy="2377440"/>
          </a:xfrm>
          <a:prstGeom prst="roundRect">
            <a:avLst>
              <a:gd name="adj" fmla="val 3077"/>
            </a:avLst>
          </a:prstGeom>
          <a:solidFill>
            <a:schemeClr val="bg2"/>
          </a:solidFill>
          <a:ln/>
          <a:effectLst>
            <a:outerShdw blurRad="76200" dist="25400" dir="5400000" algn="bl" rotWithShape="0">
              <a:srgbClr val="000000">
                <a:alpha val="14000"/>
              </a:srgbClr>
            </a:outerShdw>
          </a:effectLst>
        </p:spPr>
      </p:sp>
      <p:sp>
        <p:nvSpPr>
          <p:cNvPr id="13" name="icon circle"/>
          <p:cNvSpPr/>
          <p:nvPr/>
        </p:nvSpPr>
        <p:spPr>
          <a:xfrm>
            <a:off x="6629400" y="3950208"/>
            <a:ext cx="420624" cy="420624"/>
          </a:xfrm>
          <a:prstGeom prst="ellipse">
            <a:avLst/>
          </a:prstGeom>
          <a:solidFill>
            <a:schemeClr val="accent3"/>
          </a:solidFill>
          <a:ln/>
        </p:spPr>
      </p:sp>
      <p:pic>
        <p:nvPicPr>
          <p:cNvPr id="14" name="Image 2" descr="Fire icon"/>
          <p:cNvPicPr>
            <a:picLocks noChangeAspect="1"/>
          </p:cNvPicPr>
          <p:nvPr/>
        </p:nvPicPr>
        <p:blipFill>
          <a:blip r:embed="rId5"/>
          <a:stretch>
            <a:fillRect/>
          </a:stretch>
        </p:blipFill>
        <p:spPr>
          <a:xfrm>
            <a:off x="6738762" y="4059570"/>
            <a:ext cx="201900" cy="201900"/>
          </a:xfrm>
          <a:prstGeom prst="rect">
            <a:avLst/>
          </a:prstGeom>
        </p:spPr>
      </p:pic>
      <p:sp>
        <p:nvSpPr>
          <p:cNvPr id="15" name="Text 9"/>
          <p:cNvSpPr txBox="1"/>
          <p:nvPr/>
        </p:nvSpPr>
        <p:spPr>
          <a:xfrm>
            <a:off x="7159752" y="3931920"/>
            <a:ext cx="4343400" cy="457200"/>
          </a:xfrm>
          <a:prstGeom prst="rect">
            <a:avLst/>
          </a:prstGeom>
          <a:noFill/>
          <a:ln/>
        </p:spPr>
        <p:txBody>
          <a:bodyPr wrap="square" lIns="0" tIns="0" rIns="0" bIns="0" rtlCol="0" anchor="ctr"/>
          <a:lstStyle/>
          <a:p>
            <a:pPr marL="0" indent="0">
              <a:buNone/>
            </a:pPr>
            <a:r>
              <a:rPr lang="en-US" sz="1600" b="1" dirty="0">
                <a:solidFill>
                  <a:schemeClr val="tx2"/>
                </a:solidFill>
              </a:rPr>
              <a:t>② Non-photochemical quenching (NPQ)</a:t>
            </a:r>
            <a:endParaRPr lang="en-US" sz="1600" dirty="0"/>
          </a:p>
        </p:txBody>
      </p:sp>
      <p:sp>
        <p:nvSpPr>
          <p:cNvPr id="16" name="Text 10"/>
          <p:cNvSpPr txBox="1"/>
          <p:nvPr/>
        </p:nvSpPr>
        <p:spPr>
          <a:xfrm>
            <a:off x="6629400" y="4480560"/>
            <a:ext cx="4828032"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Rapid rise in the </a:t>
            </a:r>
            <a:r>
              <a:rPr lang="en-US" sz="1300" b="1" dirty="0">
                <a:solidFill>
                  <a:schemeClr val="tx1"/>
                </a:solidFill>
              </a:rPr>
              <a:t>rate constant of heat dissipation</a:t>
            </a:r>
            <a:r>
              <a:rPr lang="en-US" sz="1300" dirty="0">
                <a:solidFill>
                  <a:schemeClr val="tx1"/>
                </a:solidFill>
              </a:rPr>
              <a:t> on illumination</a:t>
            </a:r>
            <a:endParaRPr lang="en-US" sz="1300" dirty="0"/>
          </a:p>
          <a:p>
            <a:pPr marL="177800" indent="-177800">
              <a:spcAft>
                <a:spcPts val="400"/>
              </a:spcAft>
              <a:buSzPct val="100000"/>
              <a:buChar char="•"/>
            </a:pPr>
            <a:r>
              <a:rPr lang="en-US" sz="1300" dirty="0">
                <a:solidFill>
                  <a:schemeClr val="tx1"/>
                </a:solidFill>
              </a:rPr>
              <a:t>Photoprotective: removes excess excitation, prevents damaging free radicals</a:t>
            </a:r>
            <a:endParaRPr lang="en-US" sz="1300" dirty="0"/>
          </a:p>
          <a:p>
            <a:pPr marL="177800" indent="-177800">
              <a:spcAft>
                <a:spcPts val="400"/>
              </a:spcAft>
              <a:buSzPct val="100000"/>
              <a:buChar char="•"/>
            </a:pPr>
            <a:r>
              <a:rPr lang="en-US" sz="1300" dirty="0">
                <a:solidFill>
                  <a:schemeClr val="tx1"/>
                </a:solidFill>
              </a:rPr>
              <a:t>Competes with both fluorescence and photochemistry</a:t>
            </a:r>
            <a:endParaRPr lang="en-US" sz="1300" dirty="0"/>
          </a:p>
        </p:txBody>
      </p:sp>
      <p:sp>
        <p:nvSpPr>
          <p:cNvPr id="17" name="Text 11"/>
          <p:cNvSpPr txBox="1"/>
          <p:nvPr/>
        </p:nvSpPr>
        <p:spPr>
          <a:xfrm>
            <a:off x="548640" y="5623560"/>
            <a:ext cx="5669280" cy="548640"/>
          </a:xfrm>
          <a:prstGeom prst="rect">
            <a:avLst/>
          </a:prstGeom>
          <a:noFill/>
          <a:ln/>
        </p:spPr>
        <p:txBody>
          <a:bodyPr wrap="square" lIns="508" tIns="508" rIns="508" bIns="508" rtlCol="0" anchor="t"/>
          <a:lstStyle/>
          <a:p>
            <a:pPr marL="0" indent="0">
              <a:spcAft>
                <a:spcPts val="600"/>
              </a:spcAft>
              <a:buNone/>
            </a:pPr>
            <a:r>
              <a:rPr lang="en-US" sz="1200" i="1" dirty="0">
                <a:solidFill>
                  <a:schemeClr val="accent6"/>
                </a:solidFill>
              </a:rPr>
              <a:t>Takes several minutes or longer from darkness; varies with species and environment.</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How NPQ is switched on: the molecular mechanism</a:t>
            </a:r>
            <a:endParaRPr lang="en-US" sz="3200" dirty="0"/>
          </a:p>
        </p:txBody>
      </p:sp>
      <p:sp>
        <p:nvSpPr>
          <p:cNvPr id="4" name="diagram box"/>
          <p:cNvSpPr/>
          <p:nvPr/>
        </p:nvSpPr>
        <p:spPr>
          <a:xfrm>
            <a:off x="548640" y="1463040"/>
            <a:ext cx="2011680" cy="1097280"/>
          </a:xfrm>
          <a:prstGeom prst="roundRect">
            <a:avLst>
              <a:gd name="adj" fmla="val 6667"/>
            </a:avLst>
          </a:prstGeom>
          <a:solidFill>
            <a:schemeClr val="accent3"/>
          </a:solidFill>
          <a:ln/>
        </p:spPr>
      </p:sp>
      <p:sp>
        <p:nvSpPr>
          <p:cNvPr id="5" name="Text 2"/>
          <p:cNvSpPr txBox="1"/>
          <p:nvPr/>
        </p:nvSpPr>
        <p:spPr>
          <a:xfrm>
            <a:off x="548640" y="1463040"/>
            <a:ext cx="2011680" cy="1097280"/>
          </a:xfrm>
          <a:prstGeom prst="rect">
            <a:avLst/>
          </a:prstGeom>
          <a:noFill/>
          <a:ln/>
        </p:spPr>
        <p:txBody>
          <a:bodyPr wrap="square" lIns="508" tIns="508" rIns="508" bIns="508" rtlCol="0" anchor="ctr"/>
          <a:lstStyle/>
          <a:p>
            <a:pPr marL="0" indent="0" algn="ctr">
              <a:buNone/>
            </a:pPr>
            <a:r>
              <a:rPr lang="en-US" sz="1400" b="1" dirty="0">
                <a:solidFill>
                  <a:schemeClr val="bg1"/>
                </a:solidFill>
              </a:rPr>
              <a:t>Excess light</a:t>
            </a:r>
            <a:endParaRPr lang="en-US" sz="1400" dirty="0"/>
          </a:p>
        </p:txBody>
      </p:sp>
      <p:sp>
        <p:nvSpPr>
          <p:cNvPr id="6" name="arrow"/>
          <p:cNvSpPr/>
          <p:nvPr/>
        </p:nvSpPr>
        <p:spPr>
          <a:xfrm>
            <a:off x="2578608" y="2011680"/>
            <a:ext cx="283464" cy="0"/>
          </a:xfrm>
          <a:prstGeom prst="line">
            <a:avLst/>
          </a:prstGeom>
          <a:noFill/>
          <a:ln w="31750">
            <a:solidFill>
              <a:srgbClr val="123D2E"/>
            </a:solidFill>
            <a:prstDash val="solid"/>
            <a:tailEnd type="triangle"/>
          </a:ln>
        </p:spPr>
      </p:sp>
      <p:sp>
        <p:nvSpPr>
          <p:cNvPr id="7" name="diagram box"/>
          <p:cNvSpPr/>
          <p:nvPr/>
        </p:nvSpPr>
        <p:spPr>
          <a:xfrm>
            <a:off x="2880360" y="1463040"/>
            <a:ext cx="2011680" cy="1097280"/>
          </a:xfrm>
          <a:prstGeom prst="roundRect">
            <a:avLst>
              <a:gd name="adj" fmla="val 6667"/>
            </a:avLst>
          </a:prstGeom>
          <a:solidFill>
            <a:schemeClr val="accent5"/>
          </a:solidFill>
          <a:ln/>
        </p:spPr>
      </p:sp>
      <p:sp>
        <p:nvSpPr>
          <p:cNvPr id="8" name="Text 5"/>
          <p:cNvSpPr txBox="1"/>
          <p:nvPr/>
        </p:nvSpPr>
        <p:spPr>
          <a:xfrm>
            <a:off x="2880360" y="1463040"/>
            <a:ext cx="2011680" cy="1097280"/>
          </a:xfrm>
          <a:prstGeom prst="rect">
            <a:avLst/>
          </a:prstGeom>
          <a:noFill/>
          <a:ln/>
        </p:spPr>
        <p:txBody>
          <a:bodyPr wrap="square" lIns="508" tIns="508" rIns="508" bIns="508" rtlCol="0" anchor="ctr"/>
          <a:lstStyle/>
          <a:p>
            <a:pPr marL="0" indent="0" algn="ctr">
              <a:buNone/>
            </a:pPr>
            <a:r>
              <a:rPr lang="en-US" sz="1400" b="1" dirty="0">
                <a:solidFill>
                  <a:schemeClr val="bg1"/>
                </a:solidFill>
              </a:rPr>
              <a:t>Linear + cyclic e⁻ flow pump H⁺ into lumen</a:t>
            </a:r>
            <a:endParaRPr lang="en-US" sz="1400" dirty="0"/>
          </a:p>
        </p:txBody>
      </p:sp>
      <p:sp>
        <p:nvSpPr>
          <p:cNvPr id="9" name="arrow"/>
          <p:cNvSpPr/>
          <p:nvPr/>
        </p:nvSpPr>
        <p:spPr>
          <a:xfrm>
            <a:off x="4910328" y="2011680"/>
            <a:ext cx="283464" cy="0"/>
          </a:xfrm>
          <a:prstGeom prst="line">
            <a:avLst/>
          </a:prstGeom>
          <a:noFill/>
          <a:ln w="31750">
            <a:solidFill>
              <a:srgbClr val="123D2E"/>
            </a:solidFill>
            <a:prstDash val="solid"/>
            <a:tailEnd type="triangle"/>
          </a:ln>
        </p:spPr>
      </p:sp>
      <p:sp>
        <p:nvSpPr>
          <p:cNvPr id="10" name="diagram box"/>
          <p:cNvSpPr/>
          <p:nvPr/>
        </p:nvSpPr>
        <p:spPr>
          <a:xfrm>
            <a:off x="5212080" y="1463040"/>
            <a:ext cx="2011680" cy="1097280"/>
          </a:xfrm>
          <a:prstGeom prst="roundRect">
            <a:avLst>
              <a:gd name="adj" fmla="val 6667"/>
            </a:avLst>
          </a:prstGeom>
          <a:solidFill>
            <a:schemeClr val="accent5"/>
          </a:solidFill>
          <a:ln/>
        </p:spPr>
      </p:sp>
      <p:sp>
        <p:nvSpPr>
          <p:cNvPr id="11" name="Text 8"/>
          <p:cNvSpPr txBox="1"/>
          <p:nvPr/>
        </p:nvSpPr>
        <p:spPr>
          <a:xfrm>
            <a:off x="5212080" y="1463040"/>
            <a:ext cx="2011680" cy="1097280"/>
          </a:xfrm>
          <a:prstGeom prst="rect">
            <a:avLst/>
          </a:prstGeom>
          <a:noFill/>
          <a:ln/>
        </p:spPr>
        <p:txBody>
          <a:bodyPr wrap="square" lIns="508" tIns="508" rIns="508" bIns="508" rtlCol="0" anchor="ctr"/>
          <a:lstStyle/>
          <a:p>
            <a:pPr marL="0" indent="0" algn="ctr">
              <a:buNone/>
            </a:pPr>
            <a:r>
              <a:rPr lang="en-US" sz="1400" b="1" dirty="0">
                <a:solidFill>
                  <a:schemeClr val="bg1"/>
                </a:solidFill>
              </a:rPr>
              <a:t>Lumen acidifies: ΔpH builds up</a:t>
            </a:r>
            <a:endParaRPr lang="en-US" sz="1400" dirty="0"/>
          </a:p>
        </p:txBody>
      </p:sp>
      <p:sp>
        <p:nvSpPr>
          <p:cNvPr id="12" name="arrow"/>
          <p:cNvSpPr/>
          <p:nvPr/>
        </p:nvSpPr>
        <p:spPr>
          <a:xfrm flipH="1">
            <a:off x="2377440" y="2560320"/>
            <a:ext cx="3840480" cy="594360"/>
          </a:xfrm>
          <a:prstGeom prst="line">
            <a:avLst/>
          </a:prstGeom>
          <a:noFill/>
          <a:ln w="31750">
            <a:solidFill>
              <a:srgbClr val="123D2E"/>
            </a:solidFill>
            <a:prstDash val="solid"/>
            <a:tailEnd type="triangle"/>
          </a:ln>
        </p:spPr>
      </p:sp>
      <p:sp>
        <p:nvSpPr>
          <p:cNvPr id="13" name="arrow"/>
          <p:cNvSpPr/>
          <p:nvPr/>
        </p:nvSpPr>
        <p:spPr>
          <a:xfrm>
            <a:off x="6217920" y="2560320"/>
            <a:ext cx="548640" cy="594360"/>
          </a:xfrm>
          <a:prstGeom prst="line">
            <a:avLst/>
          </a:prstGeom>
          <a:noFill/>
          <a:ln w="31750">
            <a:solidFill>
              <a:srgbClr val="123D2E"/>
            </a:solidFill>
            <a:prstDash val="solid"/>
            <a:tailEnd type="triangle"/>
          </a:ln>
        </p:spPr>
      </p:sp>
      <p:sp>
        <p:nvSpPr>
          <p:cNvPr id="14" name="diagram box"/>
          <p:cNvSpPr/>
          <p:nvPr/>
        </p:nvSpPr>
        <p:spPr>
          <a:xfrm>
            <a:off x="1188720" y="3200400"/>
            <a:ext cx="2743200" cy="1005840"/>
          </a:xfrm>
          <a:prstGeom prst="roundRect">
            <a:avLst>
              <a:gd name="adj" fmla="val 7273"/>
            </a:avLst>
          </a:prstGeom>
          <a:solidFill>
            <a:schemeClr val="accent1"/>
          </a:solidFill>
          <a:ln/>
        </p:spPr>
      </p:sp>
      <p:sp>
        <p:nvSpPr>
          <p:cNvPr id="15" name="Text 12"/>
          <p:cNvSpPr txBox="1"/>
          <p:nvPr/>
        </p:nvSpPr>
        <p:spPr>
          <a:xfrm>
            <a:off x="1188720" y="3200400"/>
            <a:ext cx="2743200" cy="1005840"/>
          </a:xfrm>
          <a:prstGeom prst="rect">
            <a:avLst/>
          </a:prstGeom>
          <a:noFill/>
          <a:ln/>
        </p:spPr>
        <p:txBody>
          <a:bodyPr wrap="square" lIns="508" tIns="508" rIns="508" bIns="508" rtlCol="0" anchor="ctr"/>
          <a:lstStyle/>
          <a:p>
            <a:pPr marL="0" indent="0" algn="ctr">
              <a:buNone/>
            </a:pPr>
            <a:r>
              <a:rPr lang="en-US" sz="1400" b="1" dirty="0">
                <a:solidFill>
                  <a:schemeClr val="bg1"/>
                </a:solidFill>
              </a:rPr>
              <a:t>PsbS</a:t>
            </a:r>
            <a:r>
              <a:rPr lang="en-US" sz="1400" dirty="0">
                <a:solidFill>
                  <a:schemeClr val="bg1"/>
                </a:solidFill>
              </a:rPr>
              <a:t> protein</a:t>
            </a:r>
            <a:endParaRPr lang="en-US" sz="1400" dirty="0"/>
          </a:p>
          <a:p>
            <a:pPr marL="0" indent="0" algn="ctr">
              <a:buNone/>
            </a:pPr>
            <a:r>
              <a:rPr lang="en-US" sz="1400" dirty="0">
                <a:solidFill>
                  <a:schemeClr val="bg1"/>
                </a:solidFill>
              </a:rPr>
              <a:t>becomes protonated</a:t>
            </a:r>
            <a:endParaRPr lang="en-US" sz="1400" dirty="0"/>
          </a:p>
        </p:txBody>
      </p:sp>
      <p:sp>
        <p:nvSpPr>
          <p:cNvPr id="16" name="diagram box"/>
          <p:cNvSpPr/>
          <p:nvPr/>
        </p:nvSpPr>
        <p:spPr>
          <a:xfrm>
            <a:off x="5394960" y="3200400"/>
            <a:ext cx="3108960" cy="1005840"/>
          </a:xfrm>
          <a:prstGeom prst="roundRect">
            <a:avLst>
              <a:gd name="adj" fmla="val 7273"/>
            </a:avLst>
          </a:prstGeom>
          <a:solidFill>
            <a:schemeClr val="accent1"/>
          </a:solidFill>
          <a:ln/>
        </p:spPr>
      </p:sp>
      <p:sp>
        <p:nvSpPr>
          <p:cNvPr id="17" name="Text 14"/>
          <p:cNvSpPr txBox="1"/>
          <p:nvPr/>
        </p:nvSpPr>
        <p:spPr>
          <a:xfrm>
            <a:off x="5394960" y="3200400"/>
            <a:ext cx="3108960" cy="1005840"/>
          </a:xfrm>
          <a:prstGeom prst="rect">
            <a:avLst/>
          </a:prstGeom>
          <a:noFill/>
          <a:ln/>
        </p:spPr>
        <p:txBody>
          <a:bodyPr wrap="square" lIns="508" tIns="508" rIns="508" bIns="508" rtlCol="0" anchor="ctr"/>
          <a:lstStyle/>
          <a:p>
            <a:pPr marL="0" indent="0" algn="ctr">
              <a:buNone/>
            </a:pPr>
            <a:r>
              <a:rPr lang="en-US" sz="1400" b="1" dirty="0">
                <a:solidFill>
                  <a:schemeClr val="bg1"/>
                </a:solidFill>
              </a:rPr>
              <a:t>VDE</a:t>
            </a:r>
            <a:r>
              <a:rPr lang="en-US" sz="1400" dirty="0">
                <a:solidFill>
                  <a:schemeClr val="bg1"/>
                </a:solidFill>
              </a:rPr>
              <a:t> activated:</a:t>
            </a:r>
            <a:endParaRPr lang="en-US" sz="1400" dirty="0"/>
          </a:p>
          <a:p>
            <a:pPr marL="0" indent="0" algn="ctr">
              <a:buNone/>
            </a:pPr>
            <a:r>
              <a:rPr lang="en-US" sz="1400" dirty="0">
                <a:solidFill>
                  <a:schemeClr val="bg1"/>
                </a:solidFill>
              </a:rPr>
              <a:t>violaxanthin → zeaxanthin</a:t>
            </a:r>
            <a:endParaRPr lang="en-US" sz="1400" dirty="0"/>
          </a:p>
        </p:txBody>
      </p:sp>
      <p:sp>
        <p:nvSpPr>
          <p:cNvPr id="18" name="arrow"/>
          <p:cNvSpPr/>
          <p:nvPr/>
        </p:nvSpPr>
        <p:spPr>
          <a:xfrm>
            <a:off x="2560320" y="4206240"/>
            <a:ext cx="1645920" cy="502920"/>
          </a:xfrm>
          <a:prstGeom prst="line">
            <a:avLst/>
          </a:prstGeom>
          <a:noFill/>
          <a:ln w="31750">
            <a:solidFill>
              <a:srgbClr val="123D2E"/>
            </a:solidFill>
            <a:prstDash val="solid"/>
            <a:tailEnd type="triangle"/>
          </a:ln>
        </p:spPr>
      </p:sp>
      <p:sp>
        <p:nvSpPr>
          <p:cNvPr id="19" name="arrow"/>
          <p:cNvSpPr/>
          <p:nvPr/>
        </p:nvSpPr>
        <p:spPr>
          <a:xfrm flipH="1">
            <a:off x="5303520" y="4206240"/>
            <a:ext cx="1645920" cy="502920"/>
          </a:xfrm>
          <a:prstGeom prst="line">
            <a:avLst/>
          </a:prstGeom>
          <a:noFill/>
          <a:ln w="31750">
            <a:solidFill>
              <a:srgbClr val="123D2E"/>
            </a:solidFill>
            <a:prstDash val="solid"/>
            <a:tailEnd type="triangle"/>
          </a:ln>
        </p:spPr>
      </p:sp>
      <p:sp>
        <p:nvSpPr>
          <p:cNvPr id="20" name="diagram box"/>
          <p:cNvSpPr/>
          <p:nvPr/>
        </p:nvSpPr>
        <p:spPr>
          <a:xfrm>
            <a:off x="3017520" y="4754880"/>
            <a:ext cx="3566160" cy="1188720"/>
          </a:xfrm>
          <a:prstGeom prst="roundRect">
            <a:avLst>
              <a:gd name="adj" fmla="val 6154"/>
            </a:avLst>
          </a:prstGeom>
          <a:solidFill>
            <a:schemeClr val="accent2"/>
          </a:solidFill>
          <a:ln/>
        </p:spPr>
      </p:sp>
      <p:sp>
        <p:nvSpPr>
          <p:cNvPr id="21" name="Text 18"/>
          <p:cNvSpPr txBox="1"/>
          <p:nvPr/>
        </p:nvSpPr>
        <p:spPr>
          <a:xfrm>
            <a:off x="3017520" y="4754880"/>
            <a:ext cx="3566160" cy="1188720"/>
          </a:xfrm>
          <a:prstGeom prst="rect">
            <a:avLst/>
          </a:prstGeom>
          <a:noFill/>
          <a:ln/>
        </p:spPr>
        <p:txBody>
          <a:bodyPr wrap="square" lIns="508" tIns="508" rIns="508" bIns="508" rtlCol="0" anchor="ctr"/>
          <a:lstStyle/>
          <a:p>
            <a:pPr marL="0" indent="0" algn="ctr">
              <a:buNone/>
            </a:pPr>
            <a:r>
              <a:rPr lang="en-US" sz="1400" dirty="0">
                <a:solidFill>
                  <a:schemeClr val="bg1"/>
                </a:solidFill>
              </a:rPr>
              <a:t>Conformational change in PSII antenna →</a:t>
            </a:r>
            <a:endParaRPr lang="en-US" sz="1400" dirty="0"/>
          </a:p>
          <a:p>
            <a:pPr marL="0" indent="0" algn="ctr">
              <a:buNone/>
            </a:pPr>
            <a:r>
              <a:rPr lang="en-US" sz="1400" b="1" dirty="0">
                <a:solidFill>
                  <a:schemeClr val="bg1"/>
                </a:solidFill>
              </a:rPr>
              <a:t>excitation dissipated as heat (qE)</a:t>
            </a:r>
            <a:endParaRPr lang="en-US" sz="1400" dirty="0"/>
          </a:p>
        </p:txBody>
      </p:sp>
      <p:sp>
        <p:nvSpPr>
          <p:cNvPr id="22" name="card"/>
          <p:cNvSpPr/>
          <p:nvPr/>
        </p:nvSpPr>
        <p:spPr>
          <a:xfrm>
            <a:off x="8915400" y="1325880"/>
            <a:ext cx="2724912" cy="4846320"/>
          </a:xfrm>
          <a:prstGeom prst="roundRect">
            <a:avLst>
              <a:gd name="adj" fmla="val 2685"/>
            </a:avLst>
          </a:prstGeom>
          <a:solidFill>
            <a:schemeClr val="bg2"/>
          </a:solidFill>
          <a:ln/>
          <a:effectLst>
            <a:outerShdw blurRad="76200" dist="25400" dir="5400000" algn="bl" rotWithShape="0">
              <a:srgbClr val="000000">
                <a:alpha val="14000"/>
              </a:srgbClr>
            </a:outerShdw>
          </a:effectLst>
        </p:spPr>
      </p:sp>
      <p:sp>
        <p:nvSpPr>
          <p:cNvPr id="23" name="Text 20"/>
          <p:cNvSpPr txBox="1"/>
          <p:nvPr/>
        </p:nvSpPr>
        <p:spPr>
          <a:xfrm>
            <a:off x="9098280" y="1463040"/>
            <a:ext cx="2404872" cy="365760"/>
          </a:xfrm>
          <a:prstGeom prst="rect">
            <a:avLst/>
          </a:prstGeom>
          <a:noFill/>
          <a:ln/>
        </p:spPr>
        <p:txBody>
          <a:bodyPr wrap="square" lIns="0" tIns="0" rIns="0" bIns="0" rtlCol="0" anchor="ctr"/>
          <a:lstStyle/>
          <a:p>
            <a:pPr marL="0" indent="0">
              <a:buNone/>
            </a:pPr>
            <a:r>
              <a:rPr lang="en-US" sz="1600" b="1" dirty="0">
                <a:solidFill>
                  <a:schemeClr val="tx2"/>
                </a:solidFill>
              </a:rPr>
              <a:t>Key facts</a:t>
            </a:r>
            <a:endParaRPr lang="en-US" sz="1600" dirty="0"/>
          </a:p>
        </p:txBody>
      </p:sp>
      <p:sp>
        <p:nvSpPr>
          <p:cNvPr id="24" name="Text 21"/>
          <p:cNvSpPr txBox="1"/>
          <p:nvPr/>
        </p:nvSpPr>
        <p:spPr>
          <a:xfrm>
            <a:off x="9098280" y="1874520"/>
            <a:ext cx="2359152" cy="420624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Regulated by </a:t>
            </a:r>
            <a:r>
              <a:rPr lang="en-US" sz="1300" b="1" dirty="0">
                <a:solidFill>
                  <a:schemeClr val="tx1"/>
                </a:solidFill>
              </a:rPr>
              <a:t>acidification of the lumen</a:t>
            </a:r>
            <a:r>
              <a:rPr lang="en-US" sz="1300" dirty="0">
                <a:solidFill>
                  <a:schemeClr val="tx1"/>
                </a:solidFill>
              </a:rPr>
              <a:t> (ΔpH)</a:t>
            </a:r>
            <a:endParaRPr lang="en-US" sz="1300" dirty="0"/>
          </a:p>
          <a:p>
            <a:pPr marL="177800" indent="-177800">
              <a:spcAft>
                <a:spcPts val="400"/>
              </a:spcAft>
              <a:buSzPct val="100000"/>
              <a:buChar char="•"/>
            </a:pPr>
            <a:r>
              <a:rPr lang="en-US" sz="1300" dirty="0">
                <a:solidFill>
                  <a:schemeClr val="tx1"/>
                </a:solidFill>
              </a:rPr>
              <a:t>Needs </a:t>
            </a:r>
            <a:r>
              <a:rPr lang="en-US" sz="1300" b="1" dirty="0">
                <a:solidFill>
                  <a:schemeClr val="tx1"/>
                </a:solidFill>
              </a:rPr>
              <a:t>PsbS</a:t>
            </a:r>
            <a:r>
              <a:rPr lang="en-US" sz="1300" dirty="0">
                <a:solidFill>
                  <a:schemeClr val="tx1"/>
                </a:solidFill>
              </a:rPr>
              <a:t> and the </a:t>
            </a:r>
            <a:r>
              <a:rPr lang="en-US" sz="1300" b="1" dirty="0">
                <a:solidFill>
                  <a:schemeClr val="tx1"/>
                </a:solidFill>
              </a:rPr>
              <a:t>xanthophyll cycle</a:t>
            </a:r>
            <a:endParaRPr lang="en-US" sz="1300" dirty="0"/>
          </a:p>
          <a:p>
            <a:pPr marL="177800" indent="-177800">
              <a:spcAft>
                <a:spcPts val="400"/>
              </a:spcAft>
              <a:buSzPct val="100000"/>
              <a:buChar char="•"/>
            </a:pPr>
            <a:r>
              <a:rPr lang="en-US" sz="1300" dirty="0">
                <a:solidFill>
                  <a:schemeClr val="tx1"/>
                </a:solidFill>
              </a:rPr>
              <a:t>Xanthophylls are carotenoids</a:t>
            </a:r>
            <a:endParaRPr lang="en-US" sz="1300" dirty="0"/>
          </a:p>
          <a:p>
            <a:pPr marL="177800" indent="-177800">
              <a:spcAft>
                <a:spcPts val="400"/>
              </a:spcAft>
              <a:buSzPct val="100000"/>
              <a:buChar char="•"/>
            </a:pPr>
            <a:r>
              <a:rPr lang="en-US" sz="1300" dirty="0">
                <a:solidFill>
                  <a:schemeClr val="tx1"/>
                </a:solidFill>
              </a:rPr>
              <a:t>A 'safe' valve: competes with photochemistry and fluorescence</a:t>
            </a:r>
            <a:endParaRPr lang="en-US" sz="1300" dirty="0"/>
          </a:p>
          <a:p>
            <a:pPr marL="177800" indent="-177800">
              <a:spcAft>
                <a:spcPts val="400"/>
              </a:spcAft>
              <a:buSzPct val="100000"/>
              <a:buChar char="•"/>
            </a:pPr>
            <a:r>
              <a:rPr lang="en-US" sz="1300" dirty="0">
                <a:solidFill>
                  <a:schemeClr val="tx1"/>
                </a:solidFill>
              </a:rPr>
              <a:t>Lowers F</a:t>
            </a:r>
            <a:r>
              <a:rPr lang="en-US" sz="1300" baseline="-40000" dirty="0">
                <a:solidFill>
                  <a:schemeClr val="tx1"/>
                </a:solidFill>
              </a:rPr>
              <a:t>m</a:t>
            </a:r>
            <a:r>
              <a:rPr lang="en-US" sz="1300" dirty="0">
                <a:solidFill>
                  <a:schemeClr val="tx1"/>
                </a:solidFill>
              </a:rPr>
              <a:t>′ below F</a:t>
            </a:r>
            <a:r>
              <a:rPr lang="en-US" sz="1300" baseline="-40000" dirty="0">
                <a:solidFill>
                  <a:schemeClr val="tx1"/>
                </a:solidFill>
              </a:rPr>
              <a:t>m</a:t>
            </a:r>
            <a:r>
              <a:rPr lang="en-US" sz="1300" dirty="0">
                <a:solidFill>
                  <a:schemeClr val="tx1"/>
                </a:solidFill>
              </a:rPr>
              <a:t> — the basis of the NPQ parameter</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The xanthophyll cycle in detail</a:t>
            </a:r>
            <a:endParaRPr lang="en-US" sz="3200" dirty="0"/>
          </a:p>
        </p:txBody>
      </p:sp>
      <p:sp>
        <p:nvSpPr>
          <p:cNvPr id="4" name="pigment"/>
          <p:cNvSpPr/>
          <p:nvPr/>
        </p:nvSpPr>
        <p:spPr>
          <a:xfrm>
            <a:off x="731520" y="2103120"/>
            <a:ext cx="2926080" cy="1463040"/>
          </a:xfrm>
          <a:prstGeom prst="ellipse">
            <a:avLst/>
          </a:prstGeom>
          <a:solidFill>
            <a:schemeClr val="accent1"/>
          </a:solidFill>
          <a:ln/>
        </p:spPr>
      </p:sp>
      <p:sp>
        <p:nvSpPr>
          <p:cNvPr id="5" name="Text 2"/>
          <p:cNvSpPr txBox="1"/>
          <p:nvPr/>
        </p:nvSpPr>
        <p:spPr>
          <a:xfrm>
            <a:off x="731520" y="2103120"/>
            <a:ext cx="2926080" cy="1463040"/>
          </a:xfrm>
          <a:prstGeom prst="rect">
            <a:avLst/>
          </a:prstGeom>
          <a:noFill/>
          <a:ln/>
        </p:spPr>
        <p:txBody>
          <a:bodyPr wrap="square" lIns="0" tIns="0" rIns="0" bIns="0" rtlCol="0" anchor="ctr"/>
          <a:lstStyle/>
          <a:p>
            <a:pPr marL="0" indent="0" algn="ctr">
              <a:buNone/>
            </a:pPr>
            <a:r>
              <a:rPr lang="en-US" sz="1800" b="1" dirty="0">
                <a:solidFill>
                  <a:schemeClr val="bg1"/>
                </a:solidFill>
              </a:rPr>
              <a:t>Violaxanthin</a:t>
            </a:r>
            <a:endParaRPr lang="en-US" sz="1800" dirty="0"/>
          </a:p>
          <a:p>
            <a:pPr marL="0" indent="0" algn="ctr">
              <a:buNone/>
            </a:pPr>
            <a:r>
              <a:rPr lang="en-US" sz="1300" dirty="0">
                <a:solidFill>
                  <a:schemeClr val="bg1"/>
                </a:solidFill>
              </a:rPr>
              <a:t>2 epoxides</a:t>
            </a:r>
            <a:endParaRPr lang="en-US" sz="1800" dirty="0"/>
          </a:p>
        </p:txBody>
      </p:sp>
      <p:sp>
        <p:nvSpPr>
          <p:cNvPr id="6" name="arrow"/>
          <p:cNvSpPr/>
          <p:nvPr/>
        </p:nvSpPr>
        <p:spPr>
          <a:xfrm>
            <a:off x="3703320" y="2514600"/>
            <a:ext cx="777240" cy="0"/>
          </a:xfrm>
          <a:prstGeom prst="line">
            <a:avLst/>
          </a:prstGeom>
          <a:noFill/>
          <a:ln w="38100">
            <a:solidFill>
              <a:srgbClr val="D62839"/>
            </a:solidFill>
            <a:prstDash val="solid"/>
            <a:tailEnd type="triangle"/>
          </a:ln>
        </p:spPr>
      </p:sp>
      <p:sp>
        <p:nvSpPr>
          <p:cNvPr id="7" name="arrow"/>
          <p:cNvSpPr/>
          <p:nvPr/>
        </p:nvSpPr>
        <p:spPr>
          <a:xfrm flipH="1">
            <a:off x="3703320" y="3154680"/>
            <a:ext cx="777240" cy="0"/>
          </a:xfrm>
          <a:prstGeom prst="line">
            <a:avLst/>
          </a:prstGeom>
          <a:noFill/>
          <a:ln w="38100">
            <a:solidFill>
              <a:srgbClr val="2B6A94"/>
            </a:solidFill>
            <a:prstDash val="solid"/>
            <a:tailEnd type="triangle"/>
          </a:ln>
        </p:spPr>
      </p:sp>
      <p:sp>
        <p:nvSpPr>
          <p:cNvPr id="8" name="pigment"/>
          <p:cNvSpPr/>
          <p:nvPr/>
        </p:nvSpPr>
        <p:spPr>
          <a:xfrm>
            <a:off x="4526280" y="2103120"/>
            <a:ext cx="2926080" cy="1463040"/>
          </a:xfrm>
          <a:prstGeom prst="ellipse">
            <a:avLst/>
          </a:prstGeom>
          <a:solidFill>
            <a:schemeClr val="accent1"/>
          </a:solidFill>
          <a:ln/>
        </p:spPr>
      </p:sp>
      <p:sp>
        <p:nvSpPr>
          <p:cNvPr id="9" name="Text 6"/>
          <p:cNvSpPr txBox="1"/>
          <p:nvPr/>
        </p:nvSpPr>
        <p:spPr>
          <a:xfrm>
            <a:off x="4526280" y="2103120"/>
            <a:ext cx="2926080" cy="1463040"/>
          </a:xfrm>
          <a:prstGeom prst="rect">
            <a:avLst/>
          </a:prstGeom>
          <a:noFill/>
          <a:ln/>
        </p:spPr>
        <p:txBody>
          <a:bodyPr wrap="square" lIns="0" tIns="0" rIns="0" bIns="0" rtlCol="0" anchor="ctr"/>
          <a:lstStyle/>
          <a:p>
            <a:pPr marL="0" indent="0" algn="ctr">
              <a:buNone/>
            </a:pPr>
            <a:r>
              <a:rPr lang="en-US" sz="1800" b="1" dirty="0">
                <a:solidFill>
                  <a:schemeClr val="bg1"/>
                </a:solidFill>
              </a:rPr>
              <a:t>Antheraxanthin</a:t>
            </a:r>
            <a:endParaRPr lang="en-US" sz="1800" dirty="0"/>
          </a:p>
          <a:p>
            <a:pPr marL="0" indent="0" algn="ctr">
              <a:buNone/>
            </a:pPr>
            <a:r>
              <a:rPr lang="en-US" sz="1300" dirty="0">
                <a:solidFill>
                  <a:schemeClr val="bg1"/>
                </a:solidFill>
              </a:rPr>
              <a:t>1 epoxide</a:t>
            </a:r>
            <a:endParaRPr lang="en-US" sz="1800" dirty="0"/>
          </a:p>
        </p:txBody>
      </p:sp>
      <p:sp>
        <p:nvSpPr>
          <p:cNvPr id="10" name="arrow"/>
          <p:cNvSpPr/>
          <p:nvPr/>
        </p:nvSpPr>
        <p:spPr>
          <a:xfrm>
            <a:off x="7498080" y="2514600"/>
            <a:ext cx="777240" cy="0"/>
          </a:xfrm>
          <a:prstGeom prst="line">
            <a:avLst/>
          </a:prstGeom>
          <a:noFill/>
          <a:ln w="38100">
            <a:solidFill>
              <a:srgbClr val="D62839"/>
            </a:solidFill>
            <a:prstDash val="solid"/>
            <a:tailEnd type="triangle"/>
          </a:ln>
        </p:spPr>
      </p:sp>
      <p:sp>
        <p:nvSpPr>
          <p:cNvPr id="11" name="arrow"/>
          <p:cNvSpPr/>
          <p:nvPr/>
        </p:nvSpPr>
        <p:spPr>
          <a:xfrm flipH="1">
            <a:off x="7498080" y="3154680"/>
            <a:ext cx="777240" cy="0"/>
          </a:xfrm>
          <a:prstGeom prst="line">
            <a:avLst/>
          </a:prstGeom>
          <a:noFill/>
          <a:ln w="38100">
            <a:solidFill>
              <a:srgbClr val="2B6A94"/>
            </a:solidFill>
            <a:prstDash val="solid"/>
            <a:tailEnd type="triangle"/>
          </a:ln>
        </p:spPr>
      </p:sp>
      <p:sp>
        <p:nvSpPr>
          <p:cNvPr id="12" name="pigment"/>
          <p:cNvSpPr/>
          <p:nvPr/>
        </p:nvSpPr>
        <p:spPr>
          <a:xfrm>
            <a:off x="8321040" y="2103120"/>
            <a:ext cx="2926080" cy="1463040"/>
          </a:xfrm>
          <a:prstGeom prst="ellipse">
            <a:avLst/>
          </a:prstGeom>
          <a:solidFill>
            <a:schemeClr val="accent3"/>
          </a:solidFill>
          <a:ln/>
        </p:spPr>
      </p:sp>
      <p:sp>
        <p:nvSpPr>
          <p:cNvPr id="13" name="Text 10"/>
          <p:cNvSpPr txBox="1"/>
          <p:nvPr/>
        </p:nvSpPr>
        <p:spPr>
          <a:xfrm>
            <a:off x="8321040" y="2103120"/>
            <a:ext cx="2926080" cy="1463040"/>
          </a:xfrm>
          <a:prstGeom prst="rect">
            <a:avLst/>
          </a:prstGeom>
          <a:noFill/>
          <a:ln/>
        </p:spPr>
        <p:txBody>
          <a:bodyPr wrap="square" lIns="0" tIns="0" rIns="0" bIns="0" rtlCol="0" anchor="ctr"/>
          <a:lstStyle/>
          <a:p>
            <a:pPr marL="0" indent="0" algn="ctr">
              <a:buNone/>
            </a:pPr>
            <a:r>
              <a:rPr lang="en-US" sz="1800" b="1" dirty="0">
                <a:solidFill>
                  <a:schemeClr val="tx1"/>
                </a:solidFill>
              </a:rPr>
              <a:t>Zeaxanthin</a:t>
            </a:r>
            <a:endParaRPr lang="en-US" sz="1800" dirty="0"/>
          </a:p>
          <a:p>
            <a:pPr marL="0" indent="0" algn="ctr">
              <a:buNone/>
            </a:pPr>
            <a:r>
              <a:rPr lang="en-US" sz="1300" dirty="0">
                <a:solidFill>
                  <a:schemeClr val="tx1"/>
                </a:solidFill>
              </a:rPr>
              <a:t>0 epoxides · quencher</a:t>
            </a:r>
            <a:endParaRPr lang="en-US" sz="1800" dirty="0"/>
          </a:p>
        </p:txBody>
      </p:sp>
      <p:sp>
        <p:nvSpPr>
          <p:cNvPr id="14" name="Text 11"/>
          <p:cNvSpPr txBox="1"/>
          <p:nvPr/>
        </p:nvSpPr>
        <p:spPr>
          <a:xfrm>
            <a:off x="3291840" y="1508760"/>
            <a:ext cx="6858000" cy="411480"/>
          </a:xfrm>
          <a:prstGeom prst="rect">
            <a:avLst/>
          </a:prstGeom>
          <a:noFill/>
          <a:ln/>
        </p:spPr>
        <p:txBody>
          <a:bodyPr wrap="square" lIns="0" tIns="0" rIns="0" bIns="0" rtlCol="0" anchor="ctr"/>
          <a:lstStyle/>
          <a:p>
            <a:pPr marL="0" indent="0" algn="ctr">
              <a:buNone/>
            </a:pPr>
            <a:r>
              <a:rPr lang="en-US" sz="1500" b="1" dirty="0">
                <a:solidFill>
                  <a:schemeClr val="accent2"/>
                </a:solidFill>
              </a:rPr>
              <a:t>VDE: high light · acidic lumen (low pH) · ascorbate  →</a:t>
            </a:r>
            <a:endParaRPr lang="en-US" sz="1500" dirty="0"/>
          </a:p>
        </p:txBody>
      </p:sp>
      <p:sp>
        <p:nvSpPr>
          <p:cNvPr id="15" name="Text 12"/>
          <p:cNvSpPr txBox="1"/>
          <p:nvPr/>
        </p:nvSpPr>
        <p:spPr>
          <a:xfrm>
            <a:off x="3291840" y="3703320"/>
            <a:ext cx="6858000" cy="411480"/>
          </a:xfrm>
          <a:prstGeom prst="rect">
            <a:avLst/>
          </a:prstGeom>
          <a:noFill/>
          <a:ln/>
        </p:spPr>
        <p:txBody>
          <a:bodyPr wrap="square" lIns="0" tIns="0" rIns="0" bIns="0" rtlCol="0" anchor="ctr"/>
          <a:lstStyle/>
          <a:p>
            <a:pPr marL="0" indent="0" algn="ctr">
              <a:buNone/>
            </a:pPr>
            <a:r>
              <a:rPr lang="en-US" sz="1500" b="1" dirty="0">
                <a:solidFill>
                  <a:schemeClr val="accent5"/>
                </a:solidFill>
              </a:rPr>
              <a:t>←  ZE: low light / darkness</a:t>
            </a:r>
            <a:endParaRPr lang="en-US" sz="1500" dirty="0"/>
          </a:p>
        </p:txBody>
      </p:sp>
      <p:sp>
        <p:nvSpPr>
          <p:cNvPr id="16" name="card"/>
          <p:cNvSpPr/>
          <p:nvPr/>
        </p:nvSpPr>
        <p:spPr>
          <a:xfrm>
            <a:off x="548640" y="4389120"/>
            <a:ext cx="3566160" cy="1783080"/>
          </a:xfrm>
          <a:prstGeom prst="roundRect">
            <a:avLst>
              <a:gd name="adj" fmla="val 4103"/>
            </a:avLst>
          </a:prstGeom>
          <a:solidFill>
            <a:schemeClr val="bg2"/>
          </a:solidFill>
          <a:ln/>
          <a:effectLst>
            <a:outerShdw blurRad="76200" dist="25400" dir="5400000" algn="bl" rotWithShape="0">
              <a:srgbClr val="000000">
                <a:alpha val="14000"/>
              </a:srgbClr>
            </a:outerShdw>
          </a:effectLst>
        </p:spPr>
      </p:sp>
      <p:sp>
        <p:nvSpPr>
          <p:cNvPr id="17" name="icon circle"/>
          <p:cNvSpPr/>
          <p:nvPr/>
        </p:nvSpPr>
        <p:spPr>
          <a:xfrm>
            <a:off x="731520" y="4544568"/>
            <a:ext cx="420624" cy="420624"/>
          </a:xfrm>
          <a:prstGeom prst="ellipse">
            <a:avLst/>
          </a:prstGeom>
          <a:solidFill>
            <a:schemeClr val="accent1"/>
          </a:solidFill>
          <a:ln/>
        </p:spPr>
      </p:sp>
      <p:pic>
        <p:nvPicPr>
          <p:cNvPr id="18" name="Image 0" descr="Sync icon"/>
          <p:cNvPicPr>
            <a:picLocks noChangeAspect="1"/>
          </p:cNvPicPr>
          <p:nvPr/>
        </p:nvPicPr>
        <p:blipFill>
          <a:blip r:embed="rId3"/>
          <a:stretch>
            <a:fillRect/>
          </a:stretch>
        </p:blipFill>
        <p:spPr>
          <a:xfrm>
            <a:off x="840882" y="4653930"/>
            <a:ext cx="201900" cy="201900"/>
          </a:xfrm>
          <a:prstGeom prst="rect">
            <a:avLst/>
          </a:prstGeom>
        </p:spPr>
      </p:pic>
      <p:sp>
        <p:nvSpPr>
          <p:cNvPr id="19" name="Text 15"/>
          <p:cNvSpPr txBox="1"/>
          <p:nvPr/>
        </p:nvSpPr>
        <p:spPr>
          <a:xfrm>
            <a:off x="1261872" y="4526280"/>
            <a:ext cx="2715768" cy="457200"/>
          </a:xfrm>
          <a:prstGeom prst="rect">
            <a:avLst/>
          </a:prstGeom>
          <a:noFill/>
          <a:ln/>
        </p:spPr>
        <p:txBody>
          <a:bodyPr wrap="square" lIns="0" tIns="0" rIns="0" bIns="0" rtlCol="0" anchor="ctr"/>
          <a:lstStyle/>
          <a:p>
            <a:pPr marL="0" indent="0">
              <a:buNone/>
            </a:pPr>
            <a:r>
              <a:rPr lang="en-US" sz="1600" b="1" dirty="0">
                <a:solidFill>
                  <a:schemeClr val="tx2"/>
                </a:solidFill>
              </a:rPr>
              <a:t>Fast &amp; reversible</a:t>
            </a:r>
            <a:endParaRPr lang="en-US" sz="1600" dirty="0"/>
          </a:p>
        </p:txBody>
      </p:sp>
      <p:sp>
        <p:nvSpPr>
          <p:cNvPr id="20" name="Text 16"/>
          <p:cNvSpPr txBox="1"/>
          <p:nvPr/>
        </p:nvSpPr>
        <p:spPr>
          <a:xfrm>
            <a:off x="731520" y="5074920"/>
            <a:ext cx="3200400" cy="10058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Zeaxanthin + protonated PsbS give rapid qE that relaxes in seconds–minutes in the dark.</a:t>
            </a:r>
            <a:endParaRPr lang="en-US" sz="1300" dirty="0"/>
          </a:p>
        </p:txBody>
      </p:sp>
      <p:sp>
        <p:nvSpPr>
          <p:cNvPr id="21" name="card"/>
          <p:cNvSpPr/>
          <p:nvPr/>
        </p:nvSpPr>
        <p:spPr>
          <a:xfrm>
            <a:off x="4315968" y="4389120"/>
            <a:ext cx="3566160" cy="1783080"/>
          </a:xfrm>
          <a:prstGeom prst="roundRect">
            <a:avLst>
              <a:gd name="adj" fmla="val 4103"/>
            </a:avLst>
          </a:prstGeom>
          <a:solidFill>
            <a:schemeClr val="bg2"/>
          </a:solidFill>
          <a:ln/>
          <a:effectLst>
            <a:outerShdw blurRad="76200" dist="25400" dir="5400000" algn="bl" rotWithShape="0">
              <a:srgbClr val="000000">
                <a:alpha val="14000"/>
              </a:srgbClr>
            </a:outerShdw>
          </a:effectLst>
        </p:spPr>
      </p:sp>
      <p:sp>
        <p:nvSpPr>
          <p:cNvPr id="22" name="icon circle"/>
          <p:cNvSpPr/>
          <p:nvPr/>
        </p:nvSpPr>
        <p:spPr>
          <a:xfrm>
            <a:off x="4498848" y="4544568"/>
            <a:ext cx="420624" cy="420624"/>
          </a:xfrm>
          <a:prstGeom prst="ellipse">
            <a:avLst/>
          </a:prstGeom>
          <a:solidFill>
            <a:schemeClr val="accent3"/>
          </a:solidFill>
          <a:ln/>
        </p:spPr>
      </p:sp>
      <p:pic>
        <p:nvPicPr>
          <p:cNvPr id="23" name="Image 1" descr="Clock icon"/>
          <p:cNvPicPr>
            <a:picLocks noChangeAspect="1"/>
          </p:cNvPicPr>
          <p:nvPr/>
        </p:nvPicPr>
        <p:blipFill>
          <a:blip r:embed="rId4"/>
          <a:stretch>
            <a:fillRect/>
          </a:stretch>
        </p:blipFill>
        <p:spPr>
          <a:xfrm>
            <a:off x="4608210" y="4653930"/>
            <a:ext cx="201900" cy="201900"/>
          </a:xfrm>
          <a:prstGeom prst="rect">
            <a:avLst/>
          </a:prstGeom>
        </p:spPr>
      </p:pic>
      <p:sp>
        <p:nvSpPr>
          <p:cNvPr id="24" name="Text 19"/>
          <p:cNvSpPr txBox="1"/>
          <p:nvPr/>
        </p:nvSpPr>
        <p:spPr>
          <a:xfrm>
            <a:off x="5029200" y="4526280"/>
            <a:ext cx="2715768" cy="457200"/>
          </a:xfrm>
          <a:prstGeom prst="rect">
            <a:avLst/>
          </a:prstGeom>
          <a:noFill/>
          <a:ln/>
        </p:spPr>
        <p:txBody>
          <a:bodyPr wrap="square" lIns="0" tIns="0" rIns="0" bIns="0" rtlCol="0" anchor="ctr"/>
          <a:lstStyle/>
          <a:p>
            <a:pPr marL="0" indent="0">
              <a:buNone/>
            </a:pPr>
            <a:r>
              <a:rPr lang="en-US" sz="1600" b="1" dirty="0">
                <a:solidFill>
                  <a:schemeClr val="tx2"/>
                </a:solidFill>
              </a:rPr>
              <a:t>Sustained</a:t>
            </a:r>
            <a:endParaRPr lang="en-US" sz="1600" dirty="0"/>
          </a:p>
        </p:txBody>
      </p:sp>
      <p:sp>
        <p:nvSpPr>
          <p:cNvPr id="25" name="Text 20"/>
          <p:cNvSpPr txBox="1"/>
          <p:nvPr/>
        </p:nvSpPr>
        <p:spPr>
          <a:xfrm>
            <a:off x="4498848" y="5074920"/>
            <a:ext cx="3200400" cy="10058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Retained zeaxanthin (e.g. over-wintering evergreens) keeps quenching on and lowers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a:t>
            </a:r>
            <a:endParaRPr lang="en-US" sz="1300" dirty="0"/>
          </a:p>
        </p:txBody>
      </p:sp>
      <p:sp>
        <p:nvSpPr>
          <p:cNvPr id="26" name="card"/>
          <p:cNvSpPr/>
          <p:nvPr/>
        </p:nvSpPr>
        <p:spPr>
          <a:xfrm>
            <a:off x="8083296" y="4389120"/>
            <a:ext cx="3557016" cy="1783080"/>
          </a:xfrm>
          <a:prstGeom prst="roundRect">
            <a:avLst>
              <a:gd name="adj" fmla="val 4103"/>
            </a:avLst>
          </a:prstGeom>
          <a:solidFill>
            <a:schemeClr val="bg2"/>
          </a:solidFill>
          <a:ln/>
          <a:effectLst>
            <a:outerShdw blurRad="76200" dist="25400" dir="5400000" algn="bl" rotWithShape="0">
              <a:srgbClr val="000000">
                <a:alpha val="14000"/>
              </a:srgbClr>
            </a:outerShdw>
          </a:effectLst>
        </p:spPr>
      </p:sp>
      <p:sp>
        <p:nvSpPr>
          <p:cNvPr id="27" name="icon circle"/>
          <p:cNvSpPr/>
          <p:nvPr/>
        </p:nvSpPr>
        <p:spPr>
          <a:xfrm>
            <a:off x="8266176" y="4544568"/>
            <a:ext cx="420624" cy="420624"/>
          </a:xfrm>
          <a:prstGeom prst="ellipse">
            <a:avLst/>
          </a:prstGeom>
          <a:solidFill>
            <a:schemeClr val="accent5"/>
          </a:solidFill>
          <a:ln/>
        </p:spPr>
      </p:sp>
      <p:pic>
        <p:nvPicPr>
          <p:cNvPr id="28" name="Image 2" descr="Eye icon"/>
          <p:cNvPicPr>
            <a:picLocks noChangeAspect="1"/>
          </p:cNvPicPr>
          <p:nvPr/>
        </p:nvPicPr>
        <p:blipFill>
          <a:blip r:embed="rId5"/>
          <a:stretch>
            <a:fillRect/>
          </a:stretch>
        </p:blipFill>
        <p:spPr>
          <a:xfrm>
            <a:off x="8375538" y="4653930"/>
            <a:ext cx="201900" cy="201900"/>
          </a:xfrm>
          <a:prstGeom prst="rect">
            <a:avLst/>
          </a:prstGeom>
        </p:spPr>
      </p:pic>
      <p:sp>
        <p:nvSpPr>
          <p:cNvPr id="29" name="Text 23"/>
          <p:cNvSpPr txBox="1"/>
          <p:nvPr/>
        </p:nvSpPr>
        <p:spPr>
          <a:xfrm>
            <a:off x="8796528" y="4526280"/>
            <a:ext cx="2706624" cy="457200"/>
          </a:xfrm>
          <a:prstGeom prst="rect">
            <a:avLst/>
          </a:prstGeom>
          <a:noFill/>
          <a:ln/>
        </p:spPr>
        <p:txBody>
          <a:bodyPr wrap="square" lIns="0" tIns="0" rIns="0" bIns="0" rtlCol="0" anchor="ctr"/>
          <a:lstStyle/>
          <a:p>
            <a:pPr marL="0" indent="0">
              <a:buNone/>
            </a:pPr>
            <a:r>
              <a:rPr lang="en-US" sz="1600" b="1" dirty="0">
                <a:solidFill>
                  <a:schemeClr val="tx2"/>
                </a:solidFill>
              </a:rPr>
              <a:t>Optical signature</a:t>
            </a:r>
            <a:endParaRPr lang="en-US" sz="1600" dirty="0"/>
          </a:p>
        </p:txBody>
      </p:sp>
      <p:sp>
        <p:nvSpPr>
          <p:cNvPr id="30" name="Text 24"/>
          <p:cNvSpPr txBox="1"/>
          <p:nvPr/>
        </p:nvSpPr>
        <p:spPr>
          <a:xfrm>
            <a:off x="8266176" y="5074920"/>
            <a:ext cx="3191256" cy="10058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De-epoxidation changes reflectance at ~531 nm — the basis of the </a:t>
            </a:r>
            <a:r>
              <a:rPr lang="en-US" sz="1300" b="1" dirty="0">
                <a:solidFill>
                  <a:schemeClr val="tx1"/>
                </a:solidFill>
              </a:rPr>
              <a:t>PRI</a:t>
            </a:r>
            <a:r>
              <a:rPr lang="en-US" sz="1300" dirty="0">
                <a:solidFill>
                  <a:schemeClr val="tx1"/>
                </a:solidFill>
              </a:rPr>
              <a:t> index used with SIF.</a:t>
            </a:r>
            <a:endParaRPr lang="en-US" sz="13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The saturating-pulse principle</a:t>
            </a:r>
            <a:endParaRPr lang="en-US" sz="3200" dirty="0"/>
          </a:p>
        </p:txBody>
      </p:sp>
      <p:sp>
        <p:nvSpPr>
          <p:cNvPr id="4" name="card"/>
          <p:cNvSpPr/>
          <p:nvPr/>
        </p:nvSpPr>
        <p:spPr>
          <a:xfrm>
            <a:off x="548640" y="1325880"/>
            <a:ext cx="5440680" cy="2926080"/>
          </a:xfrm>
          <a:prstGeom prst="roundRect">
            <a:avLst>
              <a:gd name="adj" fmla="val 2500"/>
            </a:avLst>
          </a:prstGeom>
          <a:solidFill>
            <a:schemeClr val="bg2"/>
          </a:solidFill>
          <a:ln/>
          <a:effectLst>
            <a:outerShdw blurRad="76200" dist="25400" dir="5400000" algn="bl" rotWithShape="0">
              <a:srgbClr val="000000">
                <a:alpha val="14000"/>
              </a:srgbClr>
            </a:outerShdw>
          </a:effectLst>
        </p:spPr>
      </p:sp>
      <p:sp>
        <p:nvSpPr>
          <p:cNvPr id="5" name="Text 2"/>
          <p:cNvSpPr txBox="1"/>
          <p:nvPr/>
        </p:nvSpPr>
        <p:spPr>
          <a:xfrm>
            <a:off x="777240" y="1417320"/>
            <a:ext cx="5029200" cy="411480"/>
          </a:xfrm>
          <a:prstGeom prst="rect">
            <a:avLst/>
          </a:prstGeom>
          <a:noFill/>
          <a:ln/>
        </p:spPr>
        <p:txBody>
          <a:bodyPr wrap="square" lIns="0" tIns="0" rIns="0" bIns="0" rtlCol="0" anchor="ctr"/>
          <a:lstStyle/>
          <a:p>
            <a:pPr marL="0" indent="0" algn="l">
              <a:buNone/>
            </a:pPr>
            <a:r>
              <a:rPr lang="en-US" sz="1700" b="1" dirty="0">
                <a:solidFill>
                  <a:schemeClr val="tx2"/>
                </a:solidFill>
              </a:rPr>
              <a:t>Before the pulse (steady light)</a:t>
            </a:r>
            <a:endParaRPr lang="en-US" sz="1700" dirty="0"/>
          </a:p>
        </p:txBody>
      </p:sp>
      <p:sp>
        <p:nvSpPr>
          <p:cNvPr id="6" name="open centre"/>
          <p:cNvSpPr/>
          <p:nvPr/>
        </p:nvSpPr>
        <p:spPr>
          <a:xfrm>
            <a:off x="1051560" y="1965960"/>
            <a:ext cx="594360" cy="594360"/>
          </a:xfrm>
          <a:prstGeom prst="ellipse">
            <a:avLst/>
          </a:prstGeom>
          <a:solidFill>
            <a:schemeClr val="accent1"/>
          </a:solidFill>
          <a:ln/>
        </p:spPr>
      </p:sp>
      <p:sp>
        <p:nvSpPr>
          <p:cNvPr id="7" name="Text 4"/>
          <p:cNvSpPr txBox="1"/>
          <p:nvPr/>
        </p:nvSpPr>
        <p:spPr>
          <a:xfrm>
            <a:off x="960120" y="1965960"/>
            <a:ext cx="777240" cy="594360"/>
          </a:xfrm>
          <a:prstGeom prst="rect">
            <a:avLst/>
          </a:prstGeom>
          <a:noFill/>
          <a:ln/>
        </p:spPr>
        <p:txBody>
          <a:bodyPr wrap="square" lIns="0" tIns="0" rIns="0" bIns="0" rtlCol="0" anchor="ctr"/>
          <a:lstStyle/>
          <a:p>
            <a:pPr marL="0" indent="0" algn="ctr">
              <a:buNone/>
            </a:pPr>
            <a:r>
              <a:rPr lang="en-US" sz="900" b="1" dirty="0">
                <a:solidFill>
                  <a:schemeClr val="bg1"/>
                </a:solidFill>
              </a:rPr>
              <a:t>open</a:t>
            </a:r>
            <a:endParaRPr lang="en-US" sz="900" dirty="0"/>
          </a:p>
        </p:txBody>
      </p:sp>
      <p:sp>
        <p:nvSpPr>
          <p:cNvPr id="8" name="closed centre"/>
          <p:cNvSpPr/>
          <p:nvPr/>
        </p:nvSpPr>
        <p:spPr>
          <a:xfrm>
            <a:off x="1828800" y="1965960"/>
            <a:ext cx="594360" cy="594360"/>
          </a:xfrm>
          <a:prstGeom prst="ellipse">
            <a:avLst/>
          </a:prstGeom>
          <a:solidFill>
            <a:schemeClr val="accent2"/>
          </a:solidFill>
          <a:ln/>
        </p:spPr>
      </p:sp>
      <p:sp>
        <p:nvSpPr>
          <p:cNvPr id="9" name="Text 6"/>
          <p:cNvSpPr txBox="1"/>
          <p:nvPr/>
        </p:nvSpPr>
        <p:spPr>
          <a:xfrm>
            <a:off x="1737360" y="1965960"/>
            <a:ext cx="777240" cy="594360"/>
          </a:xfrm>
          <a:prstGeom prst="rect">
            <a:avLst/>
          </a:prstGeom>
          <a:noFill/>
          <a:ln/>
        </p:spPr>
        <p:txBody>
          <a:bodyPr wrap="square" lIns="0" tIns="0" rIns="0" bIns="0" rtlCol="0" anchor="ctr"/>
          <a:lstStyle/>
          <a:p>
            <a:pPr marL="0" indent="0" algn="ctr">
              <a:buNone/>
            </a:pPr>
            <a:r>
              <a:rPr lang="en-US" sz="900" b="1" dirty="0">
                <a:solidFill>
                  <a:schemeClr val="bg1"/>
                </a:solidFill>
              </a:rPr>
              <a:t>closed</a:t>
            </a:r>
            <a:endParaRPr lang="en-US" sz="900" dirty="0"/>
          </a:p>
        </p:txBody>
      </p:sp>
      <p:sp>
        <p:nvSpPr>
          <p:cNvPr id="10" name="open centre"/>
          <p:cNvSpPr/>
          <p:nvPr/>
        </p:nvSpPr>
        <p:spPr>
          <a:xfrm>
            <a:off x="2606040" y="1965960"/>
            <a:ext cx="594360" cy="594360"/>
          </a:xfrm>
          <a:prstGeom prst="ellipse">
            <a:avLst/>
          </a:prstGeom>
          <a:solidFill>
            <a:schemeClr val="accent1"/>
          </a:solidFill>
          <a:ln/>
        </p:spPr>
      </p:sp>
      <p:sp>
        <p:nvSpPr>
          <p:cNvPr id="11" name="Text 8"/>
          <p:cNvSpPr txBox="1"/>
          <p:nvPr/>
        </p:nvSpPr>
        <p:spPr>
          <a:xfrm>
            <a:off x="2514600" y="1965960"/>
            <a:ext cx="777240" cy="594360"/>
          </a:xfrm>
          <a:prstGeom prst="rect">
            <a:avLst/>
          </a:prstGeom>
          <a:noFill/>
          <a:ln/>
        </p:spPr>
        <p:txBody>
          <a:bodyPr wrap="square" lIns="0" tIns="0" rIns="0" bIns="0" rtlCol="0" anchor="ctr"/>
          <a:lstStyle/>
          <a:p>
            <a:pPr marL="0" indent="0" algn="ctr">
              <a:buNone/>
            </a:pPr>
            <a:r>
              <a:rPr lang="en-US" sz="900" b="1" dirty="0">
                <a:solidFill>
                  <a:schemeClr val="bg1"/>
                </a:solidFill>
              </a:rPr>
              <a:t>open</a:t>
            </a:r>
            <a:endParaRPr lang="en-US" sz="900" dirty="0"/>
          </a:p>
        </p:txBody>
      </p:sp>
      <p:sp>
        <p:nvSpPr>
          <p:cNvPr id="12" name="open centre"/>
          <p:cNvSpPr/>
          <p:nvPr/>
        </p:nvSpPr>
        <p:spPr>
          <a:xfrm>
            <a:off x="3383280" y="1965960"/>
            <a:ext cx="594360" cy="594360"/>
          </a:xfrm>
          <a:prstGeom prst="ellipse">
            <a:avLst/>
          </a:prstGeom>
          <a:solidFill>
            <a:schemeClr val="accent1"/>
          </a:solidFill>
          <a:ln/>
        </p:spPr>
      </p:sp>
      <p:sp>
        <p:nvSpPr>
          <p:cNvPr id="13" name="Text 10"/>
          <p:cNvSpPr txBox="1"/>
          <p:nvPr/>
        </p:nvSpPr>
        <p:spPr>
          <a:xfrm>
            <a:off x="3291840" y="1965960"/>
            <a:ext cx="777240" cy="594360"/>
          </a:xfrm>
          <a:prstGeom prst="rect">
            <a:avLst/>
          </a:prstGeom>
          <a:noFill/>
          <a:ln/>
        </p:spPr>
        <p:txBody>
          <a:bodyPr wrap="square" lIns="0" tIns="0" rIns="0" bIns="0" rtlCol="0" anchor="ctr"/>
          <a:lstStyle/>
          <a:p>
            <a:pPr marL="0" indent="0" algn="ctr">
              <a:buNone/>
            </a:pPr>
            <a:r>
              <a:rPr lang="en-US" sz="900" b="1" dirty="0">
                <a:solidFill>
                  <a:schemeClr val="bg1"/>
                </a:solidFill>
              </a:rPr>
              <a:t>open</a:t>
            </a:r>
            <a:endParaRPr lang="en-US" sz="900" dirty="0"/>
          </a:p>
        </p:txBody>
      </p:sp>
      <p:sp>
        <p:nvSpPr>
          <p:cNvPr id="14" name="closed centre"/>
          <p:cNvSpPr/>
          <p:nvPr/>
        </p:nvSpPr>
        <p:spPr>
          <a:xfrm>
            <a:off x="4160520" y="1965960"/>
            <a:ext cx="594360" cy="594360"/>
          </a:xfrm>
          <a:prstGeom prst="ellipse">
            <a:avLst/>
          </a:prstGeom>
          <a:solidFill>
            <a:schemeClr val="accent2"/>
          </a:solidFill>
          <a:ln/>
        </p:spPr>
      </p:sp>
      <p:sp>
        <p:nvSpPr>
          <p:cNvPr id="15" name="Text 12"/>
          <p:cNvSpPr txBox="1"/>
          <p:nvPr/>
        </p:nvSpPr>
        <p:spPr>
          <a:xfrm>
            <a:off x="4069080" y="1965960"/>
            <a:ext cx="777240" cy="594360"/>
          </a:xfrm>
          <a:prstGeom prst="rect">
            <a:avLst/>
          </a:prstGeom>
          <a:noFill/>
          <a:ln/>
        </p:spPr>
        <p:txBody>
          <a:bodyPr wrap="square" lIns="0" tIns="0" rIns="0" bIns="0" rtlCol="0" anchor="ctr"/>
          <a:lstStyle/>
          <a:p>
            <a:pPr marL="0" indent="0" algn="ctr">
              <a:buNone/>
            </a:pPr>
            <a:r>
              <a:rPr lang="en-US" sz="900" b="1" dirty="0">
                <a:solidFill>
                  <a:schemeClr val="bg1"/>
                </a:solidFill>
              </a:rPr>
              <a:t>closed</a:t>
            </a:r>
            <a:endParaRPr lang="en-US" sz="900" dirty="0"/>
          </a:p>
        </p:txBody>
      </p:sp>
      <p:sp>
        <p:nvSpPr>
          <p:cNvPr id="16" name="open centre"/>
          <p:cNvSpPr/>
          <p:nvPr/>
        </p:nvSpPr>
        <p:spPr>
          <a:xfrm>
            <a:off x="4937760" y="1965960"/>
            <a:ext cx="594360" cy="594360"/>
          </a:xfrm>
          <a:prstGeom prst="ellipse">
            <a:avLst/>
          </a:prstGeom>
          <a:solidFill>
            <a:schemeClr val="accent1"/>
          </a:solidFill>
          <a:ln/>
        </p:spPr>
      </p:sp>
      <p:sp>
        <p:nvSpPr>
          <p:cNvPr id="17" name="Text 14"/>
          <p:cNvSpPr txBox="1"/>
          <p:nvPr/>
        </p:nvSpPr>
        <p:spPr>
          <a:xfrm>
            <a:off x="4846320" y="1965960"/>
            <a:ext cx="777240" cy="594360"/>
          </a:xfrm>
          <a:prstGeom prst="rect">
            <a:avLst/>
          </a:prstGeom>
          <a:noFill/>
          <a:ln/>
        </p:spPr>
        <p:txBody>
          <a:bodyPr wrap="square" lIns="0" tIns="0" rIns="0" bIns="0" rtlCol="0" anchor="ctr"/>
          <a:lstStyle/>
          <a:p>
            <a:pPr marL="0" indent="0" algn="ctr">
              <a:buNone/>
            </a:pPr>
            <a:r>
              <a:rPr lang="en-US" sz="900" b="1" dirty="0">
                <a:solidFill>
                  <a:schemeClr val="bg1"/>
                </a:solidFill>
              </a:rPr>
              <a:t>open</a:t>
            </a:r>
            <a:endParaRPr lang="en-US" sz="900" dirty="0"/>
          </a:p>
        </p:txBody>
      </p:sp>
      <p:sp>
        <p:nvSpPr>
          <p:cNvPr id="18" name="closed centre"/>
          <p:cNvSpPr/>
          <p:nvPr/>
        </p:nvSpPr>
        <p:spPr>
          <a:xfrm>
            <a:off x="1051560" y="2743200"/>
            <a:ext cx="594360" cy="594360"/>
          </a:xfrm>
          <a:prstGeom prst="ellipse">
            <a:avLst/>
          </a:prstGeom>
          <a:solidFill>
            <a:schemeClr val="accent2"/>
          </a:solidFill>
          <a:ln/>
        </p:spPr>
      </p:sp>
      <p:sp>
        <p:nvSpPr>
          <p:cNvPr id="19" name="Text 16"/>
          <p:cNvSpPr txBox="1"/>
          <p:nvPr/>
        </p:nvSpPr>
        <p:spPr>
          <a:xfrm>
            <a:off x="960120" y="2743200"/>
            <a:ext cx="777240" cy="594360"/>
          </a:xfrm>
          <a:prstGeom prst="rect">
            <a:avLst/>
          </a:prstGeom>
          <a:noFill/>
          <a:ln/>
        </p:spPr>
        <p:txBody>
          <a:bodyPr wrap="square" lIns="0" tIns="0" rIns="0" bIns="0" rtlCol="0" anchor="ctr"/>
          <a:lstStyle/>
          <a:p>
            <a:pPr marL="0" indent="0" algn="ctr">
              <a:buNone/>
            </a:pPr>
            <a:r>
              <a:rPr lang="en-US" sz="900" b="1" dirty="0">
                <a:solidFill>
                  <a:schemeClr val="bg1"/>
                </a:solidFill>
              </a:rPr>
              <a:t>closed</a:t>
            </a:r>
            <a:endParaRPr lang="en-US" sz="900" dirty="0"/>
          </a:p>
        </p:txBody>
      </p:sp>
      <p:sp>
        <p:nvSpPr>
          <p:cNvPr id="20" name="open centre"/>
          <p:cNvSpPr/>
          <p:nvPr/>
        </p:nvSpPr>
        <p:spPr>
          <a:xfrm>
            <a:off x="1828800" y="2743200"/>
            <a:ext cx="594360" cy="594360"/>
          </a:xfrm>
          <a:prstGeom prst="ellipse">
            <a:avLst/>
          </a:prstGeom>
          <a:solidFill>
            <a:schemeClr val="accent1"/>
          </a:solidFill>
          <a:ln/>
        </p:spPr>
      </p:sp>
      <p:sp>
        <p:nvSpPr>
          <p:cNvPr id="21" name="Text 18"/>
          <p:cNvSpPr txBox="1"/>
          <p:nvPr/>
        </p:nvSpPr>
        <p:spPr>
          <a:xfrm>
            <a:off x="1737360" y="2743200"/>
            <a:ext cx="777240" cy="594360"/>
          </a:xfrm>
          <a:prstGeom prst="rect">
            <a:avLst/>
          </a:prstGeom>
          <a:noFill/>
          <a:ln/>
        </p:spPr>
        <p:txBody>
          <a:bodyPr wrap="square" lIns="0" tIns="0" rIns="0" bIns="0" rtlCol="0" anchor="ctr"/>
          <a:lstStyle/>
          <a:p>
            <a:pPr marL="0" indent="0" algn="ctr">
              <a:buNone/>
            </a:pPr>
            <a:r>
              <a:rPr lang="en-US" sz="900" b="1" dirty="0">
                <a:solidFill>
                  <a:schemeClr val="bg1"/>
                </a:solidFill>
              </a:rPr>
              <a:t>open</a:t>
            </a:r>
            <a:endParaRPr lang="en-US" sz="900" dirty="0"/>
          </a:p>
        </p:txBody>
      </p:sp>
      <p:sp>
        <p:nvSpPr>
          <p:cNvPr id="22" name="open centre"/>
          <p:cNvSpPr/>
          <p:nvPr/>
        </p:nvSpPr>
        <p:spPr>
          <a:xfrm>
            <a:off x="2606040" y="2743200"/>
            <a:ext cx="594360" cy="594360"/>
          </a:xfrm>
          <a:prstGeom prst="ellipse">
            <a:avLst/>
          </a:prstGeom>
          <a:solidFill>
            <a:schemeClr val="accent1"/>
          </a:solidFill>
          <a:ln/>
        </p:spPr>
      </p:sp>
      <p:sp>
        <p:nvSpPr>
          <p:cNvPr id="23" name="Text 20"/>
          <p:cNvSpPr txBox="1"/>
          <p:nvPr/>
        </p:nvSpPr>
        <p:spPr>
          <a:xfrm>
            <a:off x="2514600" y="2743200"/>
            <a:ext cx="777240" cy="594360"/>
          </a:xfrm>
          <a:prstGeom prst="rect">
            <a:avLst/>
          </a:prstGeom>
          <a:noFill/>
          <a:ln/>
        </p:spPr>
        <p:txBody>
          <a:bodyPr wrap="square" lIns="0" tIns="0" rIns="0" bIns="0" rtlCol="0" anchor="ctr"/>
          <a:lstStyle/>
          <a:p>
            <a:pPr marL="0" indent="0" algn="ctr">
              <a:buNone/>
            </a:pPr>
            <a:r>
              <a:rPr lang="en-US" sz="900" b="1" dirty="0">
                <a:solidFill>
                  <a:schemeClr val="bg1"/>
                </a:solidFill>
              </a:rPr>
              <a:t>open</a:t>
            </a:r>
            <a:endParaRPr lang="en-US" sz="900" dirty="0"/>
          </a:p>
        </p:txBody>
      </p:sp>
      <p:sp>
        <p:nvSpPr>
          <p:cNvPr id="24" name="closed centre"/>
          <p:cNvSpPr/>
          <p:nvPr/>
        </p:nvSpPr>
        <p:spPr>
          <a:xfrm>
            <a:off x="3383280" y="2743200"/>
            <a:ext cx="594360" cy="594360"/>
          </a:xfrm>
          <a:prstGeom prst="ellipse">
            <a:avLst/>
          </a:prstGeom>
          <a:solidFill>
            <a:schemeClr val="accent2"/>
          </a:solidFill>
          <a:ln/>
        </p:spPr>
      </p:sp>
      <p:sp>
        <p:nvSpPr>
          <p:cNvPr id="25" name="Text 22"/>
          <p:cNvSpPr txBox="1"/>
          <p:nvPr/>
        </p:nvSpPr>
        <p:spPr>
          <a:xfrm>
            <a:off x="3291840" y="2743200"/>
            <a:ext cx="777240" cy="594360"/>
          </a:xfrm>
          <a:prstGeom prst="rect">
            <a:avLst/>
          </a:prstGeom>
          <a:noFill/>
          <a:ln/>
        </p:spPr>
        <p:txBody>
          <a:bodyPr wrap="square" lIns="0" tIns="0" rIns="0" bIns="0" rtlCol="0" anchor="ctr"/>
          <a:lstStyle/>
          <a:p>
            <a:pPr marL="0" indent="0" algn="ctr">
              <a:buNone/>
            </a:pPr>
            <a:r>
              <a:rPr lang="en-US" sz="900" b="1" dirty="0">
                <a:solidFill>
                  <a:schemeClr val="bg1"/>
                </a:solidFill>
              </a:rPr>
              <a:t>closed</a:t>
            </a:r>
            <a:endParaRPr lang="en-US" sz="900" dirty="0"/>
          </a:p>
        </p:txBody>
      </p:sp>
      <p:sp>
        <p:nvSpPr>
          <p:cNvPr id="26" name="open centre"/>
          <p:cNvSpPr/>
          <p:nvPr/>
        </p:nvSpPr>
        <p:spPr>
          <a:xfrm>
            <a:off x="4160520" y="2743200"/>
            <a:ext cx="594360" cy="594360"/>
          </a:xfrm>
          <a:prstGeom prst="ellipse">
            <a:avLst/>
          </a:prstGeom>
          <a:solidFill>
            <a:schemeClr val="accent1"/>
          </a:solidFill>
          <a:ln/>
        </p:spPr>
      </p:sp>
      <p:sp>
        <p:nvSpPr>
          <p:cNvPr id="27" name="Text 24"/>
          <p:cNvSpPr txBox="1"/>
          <p:nvPr/>
        </p:nvSpPr>
        <p:spPr>
          <a:xfrm>
            <a:off x="4069080" y="2743200"/>
            <a:ext cx="777240" cy="594360"/>
          </a:xfrm>
          <a:prstGeom prst="rect">
            <a:avLst/>
          </a:prstGeom>
          <a:noFill/>
          <a:ln/>
        </p:spPr>
        <p:txBody>
          <a:bodyPr wrap="square" lIns="0" tIns="0" rIns="0" bIns="0" rtlCol="0" anchor="ctr"/>
          <a:lstStyle/>
          <a:p>
            <a:pPr marL="0" indent="0" algn="ctr">
              <a:buNone/>
            </a:pPr>
            <a:r>
              <a:rPr lang="en-US" sz="900" b="1" dirty="0">
                <a:solidFill>
                  <a:schemeClr val="bg1"/>
                </a:solidFill>
              </a:rPr>
              <a:t>open</a:t>
            </a:r>
            <a:endParaRPr lang="en-US" sz="900" dirty="0"/>
          </a:p>
        </p:txBody>
      </p:sp>
      <p:sp>
        <p:nvSpPr>
          <p:cNvPr id="28" name="closed centre"/>
          <p:cNvSpPr/>
          <p:nvPr/>
        </p:nvSpPr>
        <p:spPr>
          <a:xfrm>
            <a:off x="4937760" y="2743200"/>
            <a:ext cx="594360" cy="594360"/>
          </a:xfrm>
          <a:prstGeom prst="ellipse">
            <a:avLst/>
          </a:prstGeom>
          <a:solidFill>
            <a:schemeClr val="accent2"/>
          </a:solidFill>
          <a:ln/>
        </p:spPr>
      </p:sp>
      <p:sp>
        <p:nvSpPr>
          <p:cNvPr id="29" name="Text 26"/>
          <p:cNvSpPr txBox="1"/>
          <p:nvPr/>
        </p:nvSpPr>
        <p:spPr>
          <a:xfrm>
            <a:off x="4846320" y="2743200"/>
            <a:ext cx="777240" cy="594360"/>
          </a:xfrm>
          <a:prstGeom prst="rect">
            <a:avLst/>
          </a:prstGeom>
          <a:noFill/>
          <a:ln/>
        </p:spPr>
        <p:txBody>
          <a:bodyPr wrap="square" lIns="0" tIns="0" rIns="0" bIns="0" rtlCol="0" anchor="ctr"/>
          <a:lstStyle/>
          <a:p>
            <a:pPr marL="0" indent="0" algn="ctr">
              <a:buNone/>
            </a:pPr>
            <a:r>
              <a:rPr lang="en-US" sz="900" b="1" dirty="0">
                <a:solidFill>
                  <a:schemeClr val="bg1"/>
                </a:solidFill>
              </a:rPr>
              <a:t>closed</a:t>
            </a:r>
            <a:endParaRPr lang="en-US" sz="900" dirty="0"/>
          </a:p>
        </p:txBody>
      </p:sp>
      <p:sp>
        <p:nvSpPr>
          <p:cNvPr id="30" name="Text 27"/>
          <p:cNvSpPr txBox="1"/>
          <p:nvPr/>
        </p:nvSpPr>
        <p:spPr>
          <a:xfrm>
            <a:off x="777240" y="3611880"/>
            <a:ext cx="5029200" cy="548640"/>
          </a:xfrm>
          <a:prstGeom prst="rect">
            <a:avLst/>
          </a:prstGeom>
          <a:noFill/>
          <a:ln/>
        </p:spPr>
        <p:txBody>
          <a:bodyPr wrap="square" lIns="0" tIns="0" rIns="0" bIns="0" rtlCol="0" anchor="t"/>
          <a:lstStyle/>
          <a:p>
            <a:pPr marL="0" indent="0">
              <a:buNone/>
            </a:pPr>
            <a:r>
              <a:rPr lang="en-US" sz="1400" dirty="0">
                <a:solidFill>
                  <a:schemeClr val="tx1"/>
                </a:solidFill>
              </a:rPr>
              <a:t>Some centres open, some closed → level </a:t>
            </a:r>
            <a:r>
              <a:rPr lang="en-US" sz="1400" b="1" dirty="0">
                <a:solidFill>
                  <a:schemeClr val="tx1"/>
                </a:solidFill>
              </a:rPr>
              <a:t>F′</a:t>
            </a:r>
            <a:endParaRPr lang="en-US" sz="1400" dirty="0"/>
          </a:p>
        </p:txBody>
      </p:sp>
      <p:sp>
        <p:nvSpPr>
          <p:cNvPr id="31" name="card"/>
          <p:cNvSpPr/>
          <p:nvPr/>
        </p:nvSpPr>
        <p:spPr>
          <a:xfrm>
            <a:off x="6199632" y="1325880"/>
            <a:ext cx="5440680" cy="2926080"/>
          </a:xfrm>
          <a:prstGeom prst="roundRect">
            <a:avLst>
              <a:gd name="adj" fmla="val 2500"/>
            </a:avLst>
          </a:prstGeom>
          <a:solidFill>
            <a:schemeClr val="bg2"/>
          </a:solidFill>
          <a:ln/>
          <a:effectLst>
            <a:outerShdw blurRad="76200" dist="25400" dir="5400000" algn="bl" rotWithShape="0">
              <a:srgbClr val="000000">
                <a:alpha val="14000"/>
              </a:srgbClr>
            </a:outerShdw>
          </a:effectLst>
        </p:spPr>
      </p:sp>
      <p:sp>
        <p:nvSpPr>
          <p:cNvPr id="32" name="Text 29"/>
          <p:cNvSpPr txBox="1"/>
          <p:nvPr/>
        </p:nvSpPr>
        <p:spPr>
          <a:xfrm>
            <a:off x="6428232" y="1417320"/>
            <a:ext cx="5029200" cy="411480"/>
          </a:xfrm>
          <a:prstGeom prst="rect">
            <a:avLst/>
          </a:prstGeom>
          <a:noFill/>
          <a:ln/>
        </p:spPr>
        <p:txBody>
          <a:bodyPr wrap="square" lIns="0" tIns="0" rIns="0" bIns="0" rtlCol="0" anchor="ctr"/>
          <a:lstStyle/>
          <a:p>
            <a:pPr marL="0" indent="0" algn="l">
              <a:buNone/>
            </a:pPr>
            <a:r>
              <a:rPr lang="en-US" sz="1700" b="1" dirty="0">
                <a:solidFill>
                  <a:schemeClr val="tx2"/>
                </a:solidFill>
              </a:rPr>
              <a:t>During the saturating pulse</a:t>
            </a:r>
            <a:endParaRPr lang="en-US" sz="1700" dirty="0"/>
          </a:p>
        </p:txBody>
      </p:sp>
      <p:sp>
        <p:nvSpPr>
          <p:cNvPr id="33" name="closed centre"/>
          <p:cNvSpPr/>
          <p:nvPr/>
        </p:nvSpPr>
        <p:spPr>
          <a:xfrm>
            <a:off x="6702552" y="1965960"/>
            <a:ext cx="594360" cy="594360"/>
          </a:xfrm>
          <a:prstGeom prst="ellipse">
            <a:avLst/>
          </a:prstGeom>
          <a:solidFill>
            <a:schemeClr val="accent2"/>
          </a:solidFill>
          <a:ln/>
        </p:spPr>
      </p:sp>
      <p:sp>
        <p:nvSpPr>
          <p:cNvPr id="34" name="Text 31"/>
          <p:cNvSpPr txBox="1"/>
          <p:nvPr/>
        </p:nvSpPr>
        <p:spPr>
          <a:xfrm>
            <a:off x="6611112" y="1965960"/>
            <a:ext cx="777240" cy="594360"/>
          </a:xfrm>
          <a:prstGeom prst="rect">
            <a:avLst/>
          </a:prstGeom>
          <a:noFill/>
          <a:ln/>
        </p:spPr>
        <p:txBody>
          <a:bodyPr wrap="square" lIns="0" tIns="0" rIns="0" bIns="0" rtlCol="0" anchor="ctr"/>
          <a:lstStyle/>
          <a:p>
            <a:pPr marL="0" indent="0" algn="ctr">
              <a:buNone/>
            </a:pPr>
            <a:r>
              <a:rPr lang="en-US" sz="900" b="1" dirty="0">
                <a:solidFill>
                  <a:schemeClr val="bg1"/>
                </a:solidFill>
              </a:rPr>
              <a:t>closed</a:t>
            </a:r>
            <a:endParaRPr lang="en-US" sz="900" dirty="0"/>
          </a:p>
        </p:txBody>
      </p:sp>
      <p:sp>
        <p:nvSpPr>
          <p:cNvPr id="35" name="closed centre"/>
          <p:cNvSpPr/>
          <p:nvPr/>
        </p:nvSpPr>
        <p:spPr>
          <a:xfrm>
            <a:off x="7479792" y="1965960"/>
            <a:ext cx="594360" cy="594360"/>
          </a:xfrm>
          <a:prstGeom prst="ellipse">
            <a:avLst/>
          </a:prstGeom>
          <a:solidFill>
            <a:schemeClr val="accent2"/>
          </a:solidFill>
          <a:ln/>
        </p:spPr>
      </p:sp>
      <p:sp>
        <p:nvSpPr>
          <p:cNvPr id="36" name="Text 33"/>
          <p:cNvSpPr txBox="1"/>
          <p:nvPr/>
        </p:nvSpPr>
        <p:spPr>
          <a:xfrm>
            <a:off x="7388352" y="1965960"/>
            <a:ext cx="777240" cy="594360"/>
          </a:xfrm>
          <a:prstGeom prst="rect">
            <a:avLst/>
          </a:prstGeom>
          <a:noFill/>
          <a:ln/>
        </p:spPr>
        <p:txBody>
          <a:bodyPr wrap="square" lIns="0" tIns="0" rIns="0" bIns="0" rtlCol="0" anchor="ctr"/>
          <a:lstStyle/>
          <a:p>
            <a:pPr marL="0" indent="0" algn="ctr">
              <a:buNone/>
            </a:pPr>
            <a:r>
              <a:rPr lang="en-US" sz="900" b="1" dirty="0">
                <a:solidFill>
                  <a:schemeClr val="bg1"/>
                </a:solidFill>
              </a:rPr>
              <a:t>closed</a:t>
            </a:r>
            <a:endParaRPr lang="en-US" sz="900" dirty="0"/>
          </a:p>
        </p:txBody>
      </p:sp>
      <p:sp>
        <p:nvSpPr>
          <p:cNvPr id="37" name="closed centre"/>
          <p:cNvSpPr/>
          <p:nvPr/>
        </p:nvSpPr>
        <p:spPr>
          <a:xfrm>
            <a:off x="8257032" y="1965960"/>
            <a:ext cx="594360" cy="594360"/>
          </a:xfrm>
          <a:prstGeom prst="ellipse">
            <a:avLst/>
          </a:prstGeom>
          <a:solidFill>
            <a:schemeClr val="accent2"/>
          </a:solidFill>
          <a:ln/>
        </p:spPr>
      </p:sp>
      <p:sp>
        <p:nvSpPr>
          <p:cNvPr id="38" name="Text 35"/>
          <p:cNvSpPr txBox="1"/>
          <p:nvPr/>
        </p:nvSpPr>
        <p:spPr>
          <a:xfrm>
            <a:off x="8165592" y="1965960"/>
            <a:ext cx="777240" cy="594360"/>
          </a:xfrm>
          <a:prstGeom prst="rect">
            <a:avLst/>
          </a:prstGeom>
          <a:noFill/>
          <a:ln/>
        </p:spPr>
        <p:txBody>
          <a:bodyPr wrap="square" lIns="0" tIns="0" rIns="0" bIns="0" rtlCol="0" anchor="ctr"/>
          <a:lstStyle/>
          <a:p>
            <a:pPr marL="0" indent="0" algn="ctr">
              <a:buNone/>
            </a:pPr>
            <a:r>
              <a:rPr lang="en-US" sz="900" b="1" dirty="0">
                <a:solidFill>
                  <a:schemeClr val="bg1"/>
                </a:solidFill>
              </a:rPr>
              <a:t>closed</a:t>
            </a:r>
            <a:endParaRPr lang="en-US" sz="900" dirty="0"/>
          </a:p>
        </p:txBody>
      </p:sp>
      <p:sp>
        <p:nvSpPr>
          <p:cNvPr id="39" name="closed centre"/>
          <p:cNvSpPr/>
          <p:nvPr/>
        </p:nvSpPr>
        <p:spPr>
          <a:xfrm>
            <a:off x="9034272" y="1965960"/>
            <a:ext cx="594360" cy="594360"/>
          </a:xfrm>
          <a:prstGeom prst="ellipse">
            <a:avLst/>
          </a:prstGeom>
          <a:solidFill>
            <a:schemeClr val="accent2"/>
          </a:solidFill>
          <a:ln/>
        </p:spPr>
      </p:sp>
      <p:sp>
        <p:nvSpPr>
          <p:cNvPr id="40" name="Text 37"/>
          <p:cNvSpPr txBox="1"/>
          <p:nvPr/>
        </p:nvSpPr>
        <p:spPr>
          <a:xfrm>
            <a:off x="8942832" y="1965960"/>
            <a:ext cx="777240" cy="594360"/>
          </a:xfrm>
          <a:prstGeom prst="rect">
            <a:avLst/>
          </a:prstGeom>
          <a:noFill/>
          <a:ln/>
        </p:spPr>
        <p:txBody>
          <a:bodyPr wrap="square" lIns="0" tIns="0" rIns="0" bIns="0" rtlCol="0" anchor="ctr"/>
          <a:lstStyle/>
          <a:p>
            <a:pPr marL="0" indent="0" algn="ctr">
              <a:buNone/>
            </a:pPr>
            <a:r>
              <a:rPr lang="en-US" sz="900" b="1" dirty="0">
                <a:solidFill>
                  <a:schemeClr val="bg1"/>
                </a:solidFill>
              </a:rPr>
              <a:t>closed</a:t>
            </a:r>
            <a:endParaRPr lang="en-US" sz="900" dirty="0"/>
          </a:p>
        </p:txBody>
      </p:sp>
      <p:sp>
        <p:nvSpPr>
          <p:cNvPr id="41" name="closed centre"/>
          <p:cNvSpPr/>
          <p:nvPr/>
        </p:nvSpPr>
        <p:spPr>
          <a:xfrm>
            <a:off x="9811512" y="1965960"/>
            <a:ext cx="594360" cy="594360"/>
          </a:xfrm>
          <a:prstGeom prst="ellipse">
            <a:avLst/>
          </a:prstGeom>
          <a:solidFill>
            <a:schemeClr val="accent2"/>
          </a:solidFill>
          <a:ln/>
        </p:spPr>
      </p:sp>
      <p:sp>
        <p:nvSpPr>
          <p:cNvPr id="42" name="Text 39"/>
          <p:cNvSpPr txBox="1"/>
          <p:nvPr/>
        </p:nvSpPr>
        <p:spPr>
          <a:xfrm>
            <a:off x="9720072" y="1965960"/>
            <a:ext cx="777240" cy="594360"/>
          </a:xfrm>
          <a:prstGeom prst="rect">
            <a:avLst/>
          </a:prstGeom>
          <a:noFill/>
          <a:ln/>
        </p:spPr>
        <p:txBody>
          <a:bodyPr wrap="square" lIns="0" tIns="0" rIns="0" bIns="0" rtlCol="0" anchor="ctr"/>
          <a:lstStyle/>
          <a:p>
            <a:pPr marL="0" indent="0" algn="ctr">
              <a:buNone/>
            </a:pPr>
            <a:r>
              <a:rPr lang="en-US" sz="900" b="1" dirty="0">
                <a:solidFill>
                  <a:schemeClr val="bg1"/>
                </a:solidFill>
              </a:rPr>
              <a:t>closed</a:t>
            </a:r>
            <a:endParaRPr lang="en-US" sz="900" dirty="0"/>
          </a:p>
        </p:txBody>
      </p:sp>
      <p:sp>
        <p:nvSpPr>
          <p:cNvPr id="43" name="closed centre"/>
          <p:cNvSpPr/>
          <p:nvPr/>
        </p:nvSpPr>
        <p:spPr>
          <a:xfrm>
            <a:off x="10588752" y="1965960"/>
            <a:ext cx="594360" cy="594360"/>
          </a:xfrm>
          <a:prstGeom prst="ellipse">
            <a:avLst/>
          </a:prstGeom>
          <a:solidFill>
            <a:schemeClr val="accent2"/>
          </a:solidFill>
          <a:ln/>
        </p:spPr>
      </p:sp>
      <p:sp>
        <p:nvSpPr>
          <p:cNvPr id="44" name="Text 41"/>
          <p:cNvSpPr txBox="1"/>
          <p:nvPr/>
        </p:nvSpPr>
        <p:spPr>
          <a:xfrm>
            <a:off x="10497312" y="1965960"/>
            <a:ext cx="777240" cy="594360"/>
          </a:xfrm>
          <a:prstGeom prst="rect">
            <a:avLst/>
          </a:prstGeom>
          <a:noFill/>
          <a:ln/>
        </p:spPr>
        <p:txBody>
          <a:bodyPr wrap="square" lIns="0" tIns="0" rIns="0" bIns="0" rtlCol="0" anchor="ctr"/>
          <a:lstStyle/>
          <a:p>
            <a:pPr marL="0" indent="0" algn="ctr">
              <a:buNone/>
            </a:pPr>
            <a:r>
              <a:rPr lang="en-US" sz="900" b="1" dirty="0">
                <a:solidFill>
                  <a:schemeClr val="bg1"/>
                </a:solidFill>
              </a:rPr>
              <a:t>closed</a:t>
            </a:r>
            <a:endParaRPr lang="en-US" sz="900" dirty="0"/>
          </a:p>
        </p:txBody>
      </p:sp>
      <p:sp>
        <p:nvSpPr>
          <p:cNvPr id="45" name="closed centre"/>
          <p:cNvSpPr/>
          <p:nvPr/>
        </p:nvSpPr>
        <p:spPr>
          <a:xfrm>
            <a:off x="6702552" y="2743200"/>
            <a:ext cx="594360" cy="594360"/>
          </a:xfrm>
          <a:prstGeom prst="ellipse">
            <a:avLst/>
          </a:prstGeom>
          <a:solidFill>
            <a:schemeClr val="accent2"/>
          </a:solidFill>
          <a:ln/>
        </p:spPr>
      </p:sp>
      <p:sp>
        <p:nvSpPr>
          <p:cNvPr id="46" name="Text 43"/>
          <p:cNvSpPr txBox="1"/>
          <p:nvPr/>
        </p:nvSpPr>
        <p:spPr>
          <a:xfrm>
            <a:off x="6611112" y="2743200"/>
            <a:ext cx="777240" cy="594360"/>
          </a:xfrm>
          <a:prstGeom prst="rect">
            <a:avLst/>
          </a:prstGeom>
          <a:noFill/>
          <a:ln/>
        </p:spPr>
        <p:txBody>
          <a:bodyPr wrap="square" lIns="0" tIns="0" rIns="0" bIns="0" rtlCol="0" anchor="ctr"/>
          <a:lstStyle/>
          <a:p>
            <a:pPr marL="0" indent="0" algn="ctr">
              <a:buNone/>
            </a:pPr>
            <a:r>
              <a:rPr lang="en-US" sz="900" b="1" dirty="0">
                <a:solidFill>
                  <a:schemeClr val="bg1"/>
                </a:solidFill>
              </a:rPr>
              <a:t>closed</a:t>
            </a:r>
            <a:endParaRPr lang="en-US" sz="900" dirty="0"/>
          </a:p>
        </p:txBody>
      </p:sp>
      <p:sp>
        <p:nvSpPr>
          <p:cNvPr id="47" name="closed centre"/>
          <p:cNvSpPr/>
          <p:nvPr/>
        </p:nvSpPr>
        <p:spPr>
          <a:xfrm>
            <a:off x="7479792" y="2743200"/>
            <a:ext cx="594360" cy="594360"/>
          </a:xfrm>
          <a:prstGeom prst="ellipse">
            <a:avLst/>
          </a:prstGeom>
          <a:solidFill>
            <a:schemeClr val="accent2"/>
          </a:solidFill>
          <a:ln/>
        </p:spPr>
      </p:sp>
      <p:sp>
        <p:nvSpPr>
          <p:cNvPr id="48" name="Text 45"/>
          <p:cNvSpPr txBox="1"/>
          <p:nvPr/>
        </p:nvSpPr>
        <p:spPr>
          <a:xfrm>
            <a:off x="7388352" y="2743200"/>
            <a:ext cx="777240" cy="594360"/>
          </a:xfrm>
          <a:prstGeom prst="rect">
            <a:avLst/>
          </a:prstGeom>
          <a:noFill/>
          <a:ln/>
        </p:spPr>
        <p:txBody>
          <a:bodyPr wrap="square" lIns="0" tIns="0" rIns="0" bIns="0" rtlCol="0" anchor="ctr"/>
          <a:lstStyle/>
          <a:p>
            <a:pPr marL="0" indent="0" algn="ctr">
              <a:buNone/>
            </a:pPr>
            <a:r>
              <a:rPr lang="en-US" sz="900" b="1" dirty="0">
                <a:solidFill>
                  <a:schemeClr val="bg1"/>
                </a:solidFill>
              </a:rPr>
              <a:t>closed</a:t>
            </a:r>
            <a:endParaRPr lang="en-US" sz="900" dirty="0"/>
          </a:p>
        </p:txBody>
      </p:sp>
      <p:sp>
        <p:nvSpPr>
          <p:cNvPr id="49" name="closed centre"/>
          <p:cNvSpPr/>
          <p:nvPr/>
        </p:nvSpPr>
        <p:spPr>
          <a:xfrm>
            <a:off x="8257032" y="2743200"/>
            <a:ext cx="594360" cy="594360"/>
          </a:xfrm>
          <a:prstGeom prst="ellipse">
            <a:avLst/>
          </a:prstGeom>
          <a:solidFill>
            <a:schemeClr val="accent2"/>
          </a:solidFill>
          <a:ln/>
        </p:spPr>
      </p:sp>
      <p:sp>
        <p:nvSpPr>
          <p:cNvPr id="50" name="Text 47"/>
          <p:cNvSpPr txBox="1"/>
          <p:nvPr/>
        </p:nvSpPr>
        <p:spPr>
          <a:xfrm>
            <a:off x="8165592" y="2743200"/>
            <a:ext cx="777240" cy="594360"/>
          </a:xfrm>
          <a:prstGeom prst="rect">
            <a:avLst/>
          </a:prstGeom>
          <a:noFill/>
          <a:ln/>
        </p:spPr>
        <p:txBody>
          <a:bodyPr wrap="square" lIns="0" tIns="0" rIns="0" bIns="0" rtlCol="0" anchor="ctr"/>
          <a:lstStyle/>
          <a:p>
            <a:pPr marL="0" indent="0" algn="ctr">
              <a:buNone/>
            </a:pPr>
            <a:r>
              <a:rPr lang="en-US" sz="900" b="1" dirty="0">
                <a:solidFill>
                  <a:schemeClr val="bg1"/>
                </a:solidFill>
              </a:rPr>
              <a:t>closed</a:t>
            </a:r>
            <a:endParaRPr lang="en-US" sz="900" dirty="0"/>
          </a:p>
        </p:txBody>
      </p:sp>
      <p:sp>
        <p:nvSpPr>
          <p:cNvPr id="51" name="closed centre"/>
          <p:cNvSpPr/>
          <p:nvPr/>
        </p:nvSpPr>
        <p:spPr>
          <a:xfrm>
            <a:off x="9034272" y="2743200"/>
            <a:ext cx="594360" cy="594360"/>
          </a:xfrm>
          <a:prstGeom prst="ellipse">
            <a:avLst/>
          </a:prstGeom>
          <a:solidFill>
            <a:schemeClr val="accent2"/>
          </a:solidFill>
          <a:ln/>
        </p:spPr>
      </p:sp>
      <p:sp>
        <p:nvSpPr>
          <p:cNvPr id="52" name="Text 49"/>
          <p:cNvSpPr txBox="1"/>
          <p:nvPr/>
        </p:nvSpPr>
        <p:spPr>
          <a:xfrm>
            <a:off x="8942832" y="2743200"/>
            <a:ext cx="777240" cy="594360"/>
          </a:xfrm>
          <a:prstGeom prst="rect">
            <a:avLst/>
          </a:prstGeom>
          <a:noFill/>
          <a:ln/>
        </p:spPr>
        <p:txBody>
          <a:bodyPr wrap="square" lIns="0" tIns="0" rIns="0" bIns="0" rtlCol="0" anchor="ctr"/>
          <a:lstStyle/>
          <a:p>
            <a:pPr marL="0" indent="0" algn="ctr">
              <a:buNone/>
            </a:pPr>
            <a:r>
              <a:rPr lang="en-US" sz="900" b="1" dirty="0">
                <a:solidFill>
                  <a:schemeClr val="bg1"/>
                </a:solidFill>
              </a:rPr>
              <a:t>closed</a:t>
            </a:r>
            <a:endParaRPr lang="en-US" sz="900" dirty="0"/>
          </a:p>
        </p:txBody>
      </p:sp>
      <p:sp>
        <p:nvSpPr>
          <p:cNvPr id="53" name="closed centre"/>
          <p:cNvSpPr/>
          <p:nvPr/>
        </p:nvSpPr>
        <p:spPr>
          <a:xfrm>
            <a:off x="9811512" y="2743200"/>
            <a:ext cx="594360" cy="594360"/>
          </a:xfrm>
          <a:prstGeom prst="ellipse">
            <a:avLst/>
          </a:prstGeom>
          <a:solidFill>
            <a:schemeClr val="accent2"/>
          </a:solidFill>
          <a:ln/>
        </p:spPr>
      </p:sp>
      <p:sp>
        <p:nvSpPr>
          <p:cNvPr id="54" name="Text 51"/>
          <p:cNvSpPr txBox="1"/>
          <p:nvPr/>
        </p:nvSpPr>
        <p:spPr>
          <a:xfrm>
            <a:off x="9720072" y="2743200"/>
            <a:ext cx="777240" cy="594360"/>
          </a:xfrm>
          <a:prstGeom prst="rect">
            <a:avLst/>
          </a:prstGeom>
          <a:noFill/>
          <a:ln/>
        </p:spPr>
        <p:txBody>
          <a:bodyPr wrap="square" lIns="0" tIns="0" rIns="0" bIns="0" rtlCol="0" anchor="ctr"/>
          <a:lstStyle/>
          <a:p>
            <a:pPr marL="0" indent="0" algn="ctr">
              <a:buNone/>
            </a:pPr>
            <a:r>
              <a:rPr lang="en-US" sz="900" b="1" dirty="0">
                <a:solidFill>
                  <a:schemeClr val="bg1"/>
                </a:solidFill>
              </a:rPr>
              <a:t>closed</a:t>
            </a:r>
            <a:endParaRPr lang="en-US" sz="900" dirty="0"/>
          </a:p>
        </p:txBody>
      </p:sp>
      <p:sp>
        <p:nvSpPr>
          <p:cNvPr id="55" name="closed centre"/>
          <p:cNvSpPr/>
          <p:nvPr/>
        </p:nvSpPr>
        <p:spPr>
          <a:xfrm>
            <a:off x="10588752" y="2743200"/>
            <a:ext cx="594360" cy="594360"/>
          </a:xfrm>
          <a:prstGeom prst="ellipse">
            <a:avLst/>
          </a:prstGeom>
          <a:solidFill>
            <a:schemeClr val="accent2"/>
          </a:solidFill>
          <a:ln/>
        </p:spPr>
      </p:sp>
      <p:sp>
        <p:nvSpPr>
          <p:cNvPr id="56" name="Text 53"/>
          <p:cNvSpPr txBox="1"/>
          <p:nvPr/>
        </p:nvSpPr>
        <p:spPr>
          <a:xfrm>
            <a:off x="10497312" y="2743200"/>
            <a:ext cx="777240" cy="594360"/>
          </a:xfrm>
          <a:prstGeom prst="rect">
            <a:avLst/>
          </a:prstGeom>
          <a:noFill/>
          <a:ln/>
        </p:spPr>
        <p:txBody>
          <a:bodyPr wrap="square" lIns="0" tIns="0" rIns="0" bIns="0" rtlCol="0" anchor="ctr"/>
          <a:lstStyle/>
          <a:p>
            <a:pPr marL="0" indent="0" algn="ctr">
              <a:buNone/>
            </a:pPr>
            <a:r>
              <a:rPr lang="en-US" sz="900" b="1" dirty="0">
                <a:solidFill>
                  <a:schemeClr val="bg1"/>
                </a:solidFill>
              </a:rPr>
              <a:t>closed</a:t>
            </a:r>
            <a:endParaRPr lang="en-US" sz="900" dirty="0"/>
          </a:p>
        </p:txBody>
      </p:sp>
      <p:sp>
        <p:nvSpPr>
          <p:cNvPr id="57" name="Text 54"/>
          <p:cNvSpPr txBox="1"/>
          <p:nvPr/>
        </p:nvSpPr>
        <p:spPr>
          <a:xfrm>
            <a:off x="6428232" y="3611880"/>
            <a:ext cx="5029200" cy="548640"/>
          </a:xfrm>
          <a:prstGeom prst="rect">
            <a:avLst/>
          </a:prstGeom>
          <a:noFill/>
          <a:ln/>
        </p:spPr>
        <p:txBody>
          <a:bodyPr wrap="square" lIns="0" tIns="0" rIns="0" bIns="0" rtlCol="0" anchor="t"/>
          <a:lstStyle/>
          <a:p>
            <a:pPr marL="0" indent="0">
              <a:buNone/>
            </a:pPr>
            <a:r>
              <a:rPr lang="en-US" sz="1400" dirty="0">
                <a:solidFill>
                  <a:schemeClr val="tx1"/>
                </a:solidFill>
              </a:rPr>
              <a:t>All centres closed → q</a:t>
            </a:r>
            <a:r>
              <a:rPr lang="en-US" sz="1400" baseline="-40000" dirty="0">
                <a:solidFill>
                  <a:schemeClr val="tx1"/>
                </a:solidFill>
              </a:rPr>
              <a:t>P</a:t>
            </a:r>
            <a:r>
              <a:rPr lang="en-US" sz="1400" dirty="0">
                <a:solidFill>
                  <a:schemeClr val="tx1"/>
                </a:solidFill>
              </a:rPr>
              <a:t> = 0 → level </a:t>
            </a:r>
            <a:r>
              <a:rPr lang="en-US" sz="1400" b="1" dirty="0">
                <a:solidFill>
                  <a:schemeClr val="tx1"/>
                </a:solidFill>
              </a:rPr>
              <a:t>F</a:t>
            </a:r>
            <a:r>
              <a:rPr lang="en-US" sz="1400" b="1" baseline="-40000" dirty="0">
                <a:solidFill>
                  <a:schemeClr val="tx1"/>
                </a:solidFill>
              </a:rPr>
              <a:t>m</a:t>
            </a:r>
            <a:r>
              <a:rPr lang="en-US" sz="1400" b="1" dirty="0">
                <a:solidFill>
                  <a:schemeClr val="tx1"/>
                </a:solidFill>
              </a:rPr>
              <a:t>′</a:t>
            </a:r>
            <a:r>
              <a:rPr lang="en-US" sz="1400" dirty="0">
                <a:solidFill>
                  <a:schemeClr val="tx1"/>
                </a:solidFill>
              </a:rPr>
              <a:t> (or </a:t>
            </a:r>
            <a:r>
              <a:rPr lang="en-US" sz="1400" b="1" dirty="0">
                <a:solidFill>
                  <a:schemeClr val="tx1"/>
                </a:solidFill>
              </a:rPr>
              <a:t>F</a:t>
            </a:r>
            <a:r>
              <a:rPr lang="en-US" sz="1400" b="1" baseline="-40000" dirty="0">
                <a:solidFill>
                  <a:schemeClr val="tx1"/>
                </a:solidFill>
              </a:rPr>
              <a:t>m</a:t>
            </a:r>
            <a:r>
              <a:rPr lang="en-US" sz="1400" dirty="0">
                <a:solidFill>
                  <a:schemeClr val="tx1"/>
                </a:solidFill>
              </a:rPr>
              <a:t> if dark-adapted)</a:t>
            </a:r>
            <a:endParaRPr lang="en-US" sz="1400" dirty="0"/>
          </a:p>
        </p:txBody>
      </p:sp>
      <p:sp>
        <p:nvSpPr>
          <p:cNvPr id="58" name="card"/>
          <p:cNvSpPr/>
          <p:nvPr/>
        </p:nvSpPr>
        <p:spPr>
          <a:xfrm>
            <a:off x="548640" y="4434840"/>
            <a:ext cx="3566160" cy="1737360"/>
          </a:xfrm>
          <a:prstGeom prst="roundRect">
            <a:avLst>
              <a:gd name="adj" fmla="val 4211"/>
            </a:avLst>
          </a:prstGeom>
          <a:solidFill>
            <a:schemeClr val="bg2"/>
          </a:solidFill>
          <a:ln/>
          <a:effectLst>
            <a:outerShdw blurRad="76200" dist="25400" dir="5400000" algn="bl" rotWithShape="0">
              <a:srgbClr val="000000">
                <a:alpha val="14000"/>
              </a:srgbClr>
            </a:outerShdw>
          </a:effectLst>
        </p:spPr>
      </p:sp>
      <p:sp>
        <p:nvSpPr>
          <p:cNvPr id="59" name="icon circle"/>
          <p:cNvSpPr/>
          <p:nvPr/>
        </p:nvSpPr>
        <p:spPr>
          <a:xfrm>
            <a:off x="731520" y="4590288"/>
            <a:ext cx="420624" cy="420624"/>
          </a:xfrm>
          <a:prstGeom prst="ellipse">
            <a:avLst/>
          </a:prstGeom>
          <a:solidFill>
            <a:schemeClr val="accent2"/>
          </a:solidFill>
          <a:ln/>
        </p:spPr>
      </p:sp>
      <p:pic>
        <p:nvPicPr>
          <p:cNvPr id="60" name="Image 0" descr="Bolt icon"/>
          <p:cNvPicPr>
            <a:picLocks noChangeAspect="1"/>
          </p:cNvPicPr>
          <p:nvPr/>
        </p:nvPicPr>
        <p:blipFill>
          <a:blip r:embed="rId3"/>
          <a:stretch>
            <a:fillRect/>
          </a:stretch>
        </p:blipFill>
        <p:spPr>
          <a:xfrm>
            <a:off x="840882" y="4699650"/>
            <a:ext cx="201900" cy="201900"/>
          </a:xfrm>
          <a:prstGeom prst="rect">
            <a:avLst/>
          </a:prstGeom>
        </p:spPr>
      </p:pic>
      <p:sp>
        <p:nvSpPr>
          <p:cNvPr id="61" name="Text 57"/>
          <p:cNvSpPr txBox="1"/>
          <p:nvPr/>
        </p:nvSpPr>
        <p:spPr>
          <a:xfrm>
            <a:off x="1261872" y="4572000"/>
            <a:ext cx="2715768" cy="457200"/>
          </a:xfrm>
          <a:prstGeom prst="rect">
            <a:avLst/>
          </a:prstGeom>
          <a:noFill/>
          <a:ln/>
        </p:spPr>
        <p:txBody>
          <a:bodyPr wrap="square" lIns="0" tIns="0" rIns="0" bIns="0" rtlCol="0" anchor="ctr"/>
          <a:lstStyle/>
          <a:p>
            <a:pPr marL="0" indent="0">
              <a:buNone/>
            </a:pPr>
            <a:r>
              <a:rPr lang="en-US" sz="1600" b="1" dirty="0">
                <a:solidFill>
                  <a:schemeClr val="tx2"/>
                </a:solidFill>
              </a:rPr>
              <a:t>Pulse properties</a:t>
            </a:r>
            <a:endParaRPr lang="en-US" sz="1600" dirty="0"/>
          </a:p>
        </p:txBody>
      </p:sp>
      <p:sp>
        <p:nvSpPr>
          <p:cNvPr id="62" name="Text 58"/>
          <p:cNvSpPr txBox="1"/>
          <p:nvPr/>
        </p:nvSpPr>
        <p:spPr>
          <a:xfrm>
            <a:off x="731520" y="5120640"/>
            <a:ext cx="3200400" cy="96012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Very bright (typically ~0.8 s at ≥4000 µmol m⁻² s⁻¹), shorter than 1 s so it does not change the leaf's state.</a:t>
            </a:r>
            <a:endParaRPr lang="en-US" sz="1300" dirty="0"/>
          </a:p>
        </p:txBody>
      </p:sp>
      <p:sp>
        <p:nvSpPr>
          <p:cNvPr id="63" name="card"/>
          <p:cNvSpPr/>
          <p:nvPr/>
        </p:nvSpPr>
        <p:spPr>
          <a:xfrm>
            <a:off x="4315968" y="4434840"/>
            <a:ext cx="3566160" cy="1737360"/>
          </a:xfrm>
          <a:prstGeom prst="roundRect">
            <a:avLst>
              <a:gd name="adj" fmla="val 4211"/>
            </a:avLst>
          </a:prstGeom>
          <a:solidFill>
            <a:schemeClr val="bg2"/>
          </a:solidFill>
          <a:ln/>
          <a:effectLst>
            <a:outerShdw blurRad="76200" dist="25400" dir="5400000" algn="bl" rotWithShape="0">
              <a:srgbClr val="000000">
                <a:alpha val="14000"/>
              </a:srgbClr>
            </a:outerShdw>
          </a:effectLst>
        </p:spPr>
      </p:sp>
      <p:sp>
        <p:nvSpPr>
          <p:cNvPr id="64" name="icon circle"/>
          <p:cNvSpPr/>
          <p:nvPr/>
        </p:nvSpPr>
        <p:spPr>
          <a:xfrm>
            <a:off x="4498848" y="4590288"/>
            <a:ext cx="420624" cy="420624"/>
          </a:xfrm>
          <a:prstGeom prst="ellipse">
            <a:avLst/>
          </a:prstGeom>
          <a:solidFill>
            <a:schemeClr val="accent1"/>
          </a:solidFill>
          <a:ln/>
        </p:spPr>
      </p:sp>
      <p:pic>
        <p:nvPicPr>
          <p:cNvPr id="65" name="Image 1" descr="Calculator icon"/>
          <p:cNvPicPr>
            <a:picLocks noChangeAspect="1"/>
          </p:cNvPicPr>
          <p:nvPr/>
        </p:nvPicPr>
        <p:blipFill>
          <a:blip r:embed="rId4"/>
          <a:stretch>
            <a:fillRect/>
          </a:stretch>
        </p:blipFill>
        <p:spPr>
          <a:xfrm>
            <a:off x="4608210" y="4699650"/>
            <a:ext cx="201900" cy="201900"/>
          </a:xfrm>
          <a:prstGeom prst="rect">
            <a:avLst/>
          </a:prstGeom>
        </p:spPr>
      </p:pic>
      <p:sp>
        <p:nvSpPr>
          <p:cNvPr id="66" name="Text 61"/>
          <p:cNvSpPr txBox="1"/>
          <p:nvPr/>
        </p:nvSpPr>
        <p:spPr>
          <a:xfrm>
            <a:off x="5029200" y="4572000"/>
            <a:ext cx="2715768" cy="457200"/>
          </a:xfrm>
          <a:prstGeom prst="rect">
            <a:avLst/>
          </a:prstGeom>
          <a:noFill/>
          <a:ln/>
        </p:spPr>
        <p:txBody>
          <a:bodyPr wrap="square" lIns="0" tIns="0" rIns="0" bIns="0" rtlCol="0" anchor="ctr"/>
          <a:lstStyle/>
          <a:p>
            <a:pPr marL="0" indent="0">
              <a:buNone/>
            </a:pPr>
            <a:r>
              <a:rPr lang="en-US" sz="1600" b="1" dirty="0">
                <a:solidFill>
                  <a:schemeClr val="tx2"/>
                </a:solidFill>
              </a:rPr>
              <a:t>What it separates</a:t>
            </a:r>
            <a:endParaRPr lang="en-US" sz="1600" dirty="0"/>
          </a:p>
        </p:txBody>
      </p:sp>
      <p:sp>
        <p:nvSpPr>
          <p:cNvPr id="67" name="Text 62"/>
          <p:cNvSpPr txBox="1"/>
          <p:nvPr/>
        </p:nvSpPr>
        <p:spPr>
          <a:xfrm>
            <a:off x="4498848" y="5120640"/>
            <a:ext cx="3200400" cy="960120"/>
          </a:xfrm>
          <a:prstGeom prst="rect">
            <a:avLst/>
          </a:prstGeom>
          <a:noFill/>
          <a:ln/>
        </p:spPr>
        <p:txBody>
          <a:bodyPr wrap="square" lIns="508" tIns="508" rIns="508" bIns="508" rtlCol="0" anchor="t"/>
          <a:lstStyle/>
          <a:p>
            <a:pPr marL="0" indent="0">
              <a:spcAft>
                <a:spcPts val="400"/>
              </a:spcAft>
              <a:buNone/>
            </a:pPr>
            <a:r>
              <a:rPr lang="en-US" sz="1300" b="1" dirty="0">
                <a:solidFill>
                  <a:schemeClr val="tx1"/>
                </a:solidFill>
              </a:rPr>
              <a:t>F</a:t>
            </a:r>
            <a:r>
              <a:rPr lang="en-US" sz="1300" b="1" baseline="-40000" dirty="0">
                <a:solidFill>
                  <a:schemeClr val="tx1"/>
                </a:solidFill>
              </a:rPr>
              <a:t>q</a:t>
            </a:r>
            <a:r>
              <a:rPr lang="en-US" sz="1300" b="1" dirty="0">
                <a:solidFill>
                  <a:schemeClr val="tx1"/>
                </a:solidFill>
              </a:rPr>
              <a:t>′ = F</a:t>
            </a:r>
            <a:r>
              <a:rPr lang="en-US" sz="1300" b="1" baseline="-40000" dirty="0">
                <a:solidFill>
                  <a:schemeClr val="tx1"/>
                </a:solidFill>
              </a:rPr>
              <a:t>m</a:t>
            </a:r>
            <a:r>
              <a:rPr lang="en-US" sz="1300" b="1" dirty="0">
                <a:solidFill>
                  <a:schemeClr val="tx1"/>
                </a:solidFill>
              </a:rPr>
              <a:t>′ − F′</a:t>
            </a:r>
            <a:r>
              <a:rPr lang="en-US" sz="1300" dirty="0">
                <a:solidFill>
                  <a:schemeClr val="tx1"/>
                </a:solidFill>
              </a:rPr>
              <a:t> is the photochemical part; </a:t>
            </a:r>
            <a:r>
              <a:rPr lang="en-US" sz="1300" b="1" dirty="0">
                <a:solidFill>
                  <a:schemeClr val="tx1"/>
                </a:solidFill>
              </a:rPr>
              <a:t>F</a:t>
            </a:r>
            <a:r>
              <a:rPr lang="en-US" sz="1300" b="1" baseline="-40000" dirty="0">
                <a:solidFill>
                  <a:schemeClr val="tx1"/>
                </a:solidFill>
              </a:rPr>
              <a:t>m</a:t>
            </a:r>
            <a:r>
              <a:rPr lang="en-US" sz="1300" b="1" dirty="0">
                <a:solidFill>
                  <a:schemeClr val="tx1"/>
                </a:solidFill>
              </a:rPr>
              <a:t> − F</a:t>
            </a:r>
            <a:r>
              <a:rPr lang="en-US" sz="1300" b="1" baseline="-40000" dirty="0">
                <a:solidFill>
                  <a:schemeClr val="tx1"/>
                </a:solidFill>
              </a:rPr>
              <a:t>m</a:t>
            </a:r>
            <a:r>
              <a:rPr lang="en-US" sz="1300" b="1" dirty="0">
                <a:solidFill>
                  <a:schemeClr val="tx1"/>
                </a:solidFill>
              </a:rPr>
              <a:t>′</a:t>
            </a:r>
            <a:r>
              <a:rPr lang="en-US" sz="1300" dirty="0">
                <a:solidFill>
                  <a:schemeClr val="tx1"/>
                </a:solidFill>
              </a:rPr>
              <a:t> reflects NPQ.</a:t>
            </a:r>
            <a:endParaRPr lang="en-US" sz="1300" dirty="0"/>
          </a:p>
        </p:txBody>
      </p:sp>
      <p:sp>
        <p:nvSpPr>
          <p:cNvPr id="68" name="card"/>
          <p:cNvSpPr/>
          <p:nvPr/>
        </p:nvSpPr>
        <p:spPr>
          <a:xfrm>
            <a:off x="8083296" y="4434840"/>
            <a:ext cx="3557016" cy="1737360"/>
          </a:xfrm>
          <a:prstGeom prst="roundRect">
            <a:avLst>
              <a:gd name="adj" fmla="val 4211"/>
            </a:avLst>
          </a:prstGeom>
          <a:solidFill>
            <a:schemeClr val="bg2"/>
          </a:solidFill>
          <a:ln/>
          <a:effectLst>
            <a:outerShdw blurRad="76200" dist="25400" dir="5400000" algn="bl" rotWithShape="0">
              <a:srgbClr val="000000">
                <a:alpha val="14000"/>
              </a:srgbClr>
            </a:outerShdw>
          </a:effectLst>
        </p:spPr>
      </p:sp>
      <p:sp>
        <p:nvSpPr>
          <p:cNvPr id="69" name="icon circle"/>
          <p:cNvSpPr/>
          <p:nvPr/>
        </p:nvSpPr>
        <p:spPr>
          <a:xfrm>
            <a:off x="8266176" y="4590288"/>
            <a:ext cx="420624" cy="420624"/>
          </a:xfrm>
          <a:prstGeom prst="ellipse">
            <a:avLst/>
          </a:prstGeom>
          <a:solidFill>
            <a:schemeClr val="accent6"/>
          </a:solidFill>
          <a:ln/>
        </p:spPr>
      </p:sp>
      <p:pic>
        <p:nvPicPr>
          <p:cNvPr id="70" name="Image 2" descr="Flask icon"/>
          <p:cNvPicPr>
            <a:picLocks noChangeAspect="1"/>
          </p:cNvPicPr>
          <p:nvPr/>
        </p:nvPicPr>
        <p:blipFill>
          <a:blip r:embed="rId5"/>
          <a:stretch>
            <a:fillRect/>
          </a:stretch>
        </p:blipFill>
        <p:spPr>
          <a:xfrm>
            <a:off x="8375538" y="4699650"/>
            <a:ext cx="201900" cy="201900"/>
          </a:xfrm>
          <a:prstGeom prst="rect">
            <a:avLst/>
          </a:prstGeom>
        </p:spPr>
      </p:pic>
      <p:sp>
        <p:nvSpPr>
          <p:cNvPr id="71" name="Text 65"/>
          <p:cNvSpPr txBox="1"/>
          <p:nvPr/>
        </p:nvSpPr>
        <p:spPr>
          <a:xfrm>
            <a:off x="8796528" y="4572000"/>
            <a:ext cx="2706624" cy="457200"/>
          </a:xfrm>
          <a:prstGeom prst="rect">
            <a:avLst/>
          </a:prstGeom>
          <a:noFill/>
          <a:ln/>
        </p:spPr>
        <p:txBody>
          <a:bodyPr wrap="square" lIns="0" tIns="0" rIns="0" bIns="0" rtlCol="0" anchor="ctr"/>
          <a:lstStyle/>
          <a:p>
            <a:pPr marL="0" indent="0">
              <a:buNone/>
            </a:pPr>
            <a:r>
              <a:rPr lang="en-US" sz="1600" b="1" dirty="0">
                <a:solidFill>
                  <a:schemeClr val="tx2"/>
                </a:solidFill>
              </a:rPr>
              <a:t>Old method</a:t>
            </a:r>
            <a:endParaRPr lang="en-US" sz="1600" dirty="0"/>
          </a:p>
        </p:txBody>
      </p:sp>
      <p:sp>
        <p:nvSpPr>
          <p:cNvPr id="72" name="Text 66"/>
          <p:cNvSpPr txBox="1"/>
          <p:nvPr/>
        </p:nvSpPr>
        <p:spPr>
          <a:xfrm>
            <a:off x="8266176" y="5120640"/>
            <a:ext cx="3191256" cy="96012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Herbicides (e.g. DCMU) blocking Q</a:t>
            </a:r>
            <a:r>
              <a:rPr lang="en-US" sz="1300" baseline="-40000" dirty="0">
                <a:solidFill>
                  <a:schemeClr val="tx1"/>
                </a:solidFill>
              </a:rPr>
              <a:t>B</a:t>
            </a:r>
            <a:r>
              <a:rPr lang="en-US" sz="1300" dirty="0">
                <a:solidFill>
                  <a:schemeClr val="tx1"/>
                </a:solidFill>
              </a:rPr>
              <a:t> removed photochemistry — not practical routinely.</a:t>
            </a:r>
            <a:endParaRPr lang="en-US" sz="13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514600"/>
            <a:ext cx="7680960" cy="1188720"/>
          </a:xfrm>
          <a:prstGeom prst="rect">
            <a:avLst/>
          </a:prstGeom>
          <a:noFill/>
          <a:ln/>
        </p:spPr>
        <p:txBody>
          <a:bodyPr wrap="square" lIns="0" tIns="0" rIns="0" bIns="0" rtlCol="0" anchor="ctr"/>
          <a:lstStyle/>
          <a:p>
            <a:pPr marL="0" indent="0" algn="l">
              <a:buNone/>
            </a:pPr>
            <a:r>
              <a:rPr lang="en-US" sz="4000" b="1" dirty="0">
                <a:solidFill>
                  <a:schemeClr val="bg1"/>
                </a:solidFill>
              </a:rPr>
              <a:t>PAM protocol &amp; parameters</a:t>
            </a:r>
            <a:endParaRPr lang="en-US" sz="4000" dirty="0"/>
          </a:p>
        </p:txBody>
      </p:sp>
      <p:sp>
        <p:nvSpPr>
          <p:cNvPr id="3" name="Text 0"/>
          <p:cNvSpPr>
            <a:spLocks noGrp="1"/>
          </p:cNvSpPr>
          <p:nvPr>
            <p:ph type="body" idx="101" hasCustomPrompt="1"/>
          </p:nvPr>
        </p:nvSpPr>
        <p:spPr>
          <a:xfrm>
            <a:off x="731520" y="3794760"/>
            <a:ext cx="7498080" cy="1280160"/>
          </a:xfrm>
          <a:prstGeom prst="rect">
            <a:avLst/>
          </a:prstGeom>
          <a:noFill/>
          <a:ln/>
        </p:spPr>
        <p:txBody>
          <a:bodyPr wrap="square" lIns="0" tIns="0" rIns="0" bIns="0" rtlCol="0" anchor="t"/>
          <a:lstStyle/>
          <a:p>
            <a:pPr marL="0" indent="0">
              <a:buNone/>
            </a:pPr>
            <a:r>
              <a:rPr lang="en-US" sz="1800" dirty="0">
                <a:solidFill>
                  <a:schemeClr val="bg2"/>
                </a:solidFill>
              </a:rPr>
              <a:t>Reading a fluorescence trace: every level, every ratio, and a fully worked numerical example</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marL="0" indent="0">
              <a:buNone/>
            </a:pPr>
            <a:r>
              <a:rPr lang="en-US" sz="7200" b="1" dirty="0">
                <a:solidFill>
                  <a:schemeClr val="accent3"/>
                </a:solidFill>
                <a:latin typeface="Cambria" pitchFamily="34" charset="0"/>
                <a:ea typeface="Cambria" pitchFamily="34" charset="-122"/>
                <a:cs typeface="Cambria" pitchFamily="34" charset="-120"/>
              </a:rPr>
              <a:t>05</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The typical PAM trace, step by step</a:t>
            </a:r>
            <a:endParaRPr lang="en-US" sz="3200" dirty="0"/>
          </a:p>
        </p:txBody>
      </p:sp>
      <p:sp>
        <p:nvSpPr>
          <p:cNvPr id="4" name="figure frame"/>
          <p:cNvSpPr/>
          <p:nvPr/>
        </p:nvSpPr>
        <p:spPr>
          <a:xfrm>
            <a:off x="548640" y="1325880"/>
            <a:ext cx="6766560" cy="4434840"/>
          </a:xfrm>
          <a:prstGeom prst="roundRect">
            <a:avLst>
              <a:gd name="adj" fmla="val 1237"/>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5" name="Image 0" descr="Murchie &amp; Lawson (2013), Fig. 2 — stylised trace of a dark-adapted leaf exposed to actinic light, darkness and saturating pulses"/>
          <p:cNvPicPr>
            <a:picLocks noChangeAspect="1"/>
          </p:cNvPicPr>
          <p:nvPr/>
        </p:nvPicPr>
        <p:blipFill>
          <a:blip r:embed="rId3"/>
          <a:stretch>
            <a:fillRect/>
          </a:stretch>
        </p:blipFill>
        <p:spPr>
          <a:xfrm>
            <a:off x="773966" y="1417320"/>
            <a:ext cx="6315909" cy="4251960"/>
          </a:xfrm>
          <a:prstGeom prst="rect">
            <a:avLst/>
          </a:prstGeom>
        </p:spPr>
      </p:pic>
      <p:sp>
        <p:nvSpPr>
          <p:cNvPr id="6" name="Text 2"/>
          <p:cNvSpPr txBox="1"/>
          <p:nvPr/>
        </p:nvSpPr>
        <p:spPr>
          <a:xfrm>
            <a:off x="548640" y="5806440"/>
            <a:ext cx="6766560" cy="365760"/>
          </a:xfrm>
          <a:prstGeom prst="rect">
            <a:avLst/>
          </a:prstGeom>
          <a:noFill/>
          <a:ln/>
        </p:spPr>
        <p:txBody>
          <a:bodyPr wrap="square" lIns="0" tIns="0" rIns="0" bIns="0" rtlCol="0" anchor="t"/>
          <a:lstStyle/>
          <a:p>
            <a:pPr marL="0" indent="0">
              <a:buNone/>
            </a:pPr>
            <a:r>
              <a:rPr lang="en-US" sz="1100" i="1" dirty="0">
                <a:solidFill>
                  <a:schemeClr val="accent6"/>
                </a:solidFill>
              </a:rPr>
              <a:t>Murchie &amp; Lawson (2013), Fig. 2 — stylised trace of a dark-adapted leaf exposed to actinic light, darkness and saturating pulses</a:t>
            </a:r>
            <a:endParaRPr lang="en-US" sz="1100" dirty="0"/>
          </a:p>
        </p:txBody>
      </p:sp>
      <p:sp>
        <p:nvSpPr>
          <p:cNvPr id="7" name="step marker"/>
          <p:cNvSpPr/>
          <p:nvPr/>
        </p:nvSpPr>
        <p:spPr>
          <a:xfrm>
            <a:off x="7498080" y="1417320"/>
            <a:ext cx="457200" cy="457200"/>
          </a:xfrm>
          <a:prstGeom prst="ellipse">
            <a:avLst/>
          </a:prstGeom>
          <a:solidFill>
            <a:schemeClr val="tx2"/>
          </a:solidFill>
          <a:ln/>
        </p:spPr>
      </p:sp>
      <p:sp>
        <p:nvSpPr>
          <p:cNvPr id="8" name="Text 4"/>
          <p:cNvSpPr txBox="1"/>
          <p:nvPr/>
        </p:nvSpPr>
        <p:spPr>
          <a:xfrm>
            <a:off x="7498080" y="141732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9" name="Text 5"/>
          <p:cNvSpPr txBox="1"/>
          <p:nvPr/>
        </p:nvSpPr>
        <p:spPr>
          <a:xfrm>
            <a:off x="8092440" y="1325880"/>
            <a:ext cx="3566160" cy="301752"/>
          </a:xfrm>
          <a:prstGeom prst="rect">
            <a:avLst/>
          </a:prstGeom>
          <a:noFill/>
          <a:ln/>
        </p:spPr>
        <p:txBody>
          <a:bodyPr wrap="square" lIns="0" tIns="0" rIns="0" bIns="0" rtlCol="0" anchor="ctr"/>
          <a:lstStyle/>
          <a:p>
            <a:pPr marL="0" indent="0" algn="l">
              <a:buNone/>
            </a:pPr>
            <a:r>
              <a:rPr lang="en-US" sz="1400" b="1" dirty="0">
                <a:solidFill>
                  <a:schemeClr val="tx2"/>
                </a:solidFill>
              </a:rPr>
              <a:t>Measuring beam on (dark)</a:t>
            </a:r>
            <a:endParaRPr lang="en-US" sz="1400" dirty="0"/>
          </a:p>
        </p:txBody>
      </p:sp>
      <p:sp>
        <p:nvSpPr>
          <p:cNvPr id="10" name="Text 6"/>
          <p:cNvSpPr txBox="1"/>
          <p:nvPr/>
        </p:nvSpPr>
        <p:spPr>
          <a:xfrm>
            <a:off x="8092440" y="1627632"/>
            <a:ext cx="3566160" cy="475488"/>
          </a:xfrm>
          <a:prstGeom prst="rect">
            <a:avLst/>
          </a:prstGeom>
          <a:noFill/>
          <a:ln/>
        </p:spPr>
        <p:txBody>
          <a:bodyPr wrap="square" lIns="0" tIns="0" rIns="0" bIns="0" rtlCol="0" anchor="t"/>
          <a:lstStyle/>
          <a:p>
            <a:pPr marL="0" indent="0">
              <a:buNone/>
            </a:pPr>
            <a:r>
              <a:rPr lang="en-US" sz="1200" dirty="0">
                <a:solidFill>
                  <a:schemeClr val="tx1"/>
                </a:solidFill>
              </a:rPr>
              <a:t>Minimum fluorescence </a:t>
            </a:r>
            <a:r>
              <a:rPr lang="en-US" sz="1200" b="1" dirty="0">
                <a:solidFill>
                  <a:schemeClr val="tx1"/>
                </a:solidFill>
              </a:rPr>
              <a:t>F</a:t>
            </a:r>
            <a:r>
              <a:rPr lang="en-US" sz="1200" b="1" baseline="-40000" dirty="0">
                <a:solidFill>
                  <a:schemeClr val="tx1"/>
                </a:solidFill>
              </a:rPr>
              <a:t>o</a:t>
            </a:r>
            <a:r>
              <a:rPr lang="en-US" sz="1200" dirty="0">
                <a:solidFill>
                  <a:schemeClr val="tx1"/>
                </a:solidFill>
              </a:rPr>
              <a:t> — all centres open, no NPQ</a:t>
            </a:r>
            <a:endParaRPr lang="en-US" sz="1200" dirty="0"/>
          </a:p>
        </p:txBody>
      </p:sp>
      <p:sp>
        <p:nvSpPr>
          <p:cNvPr id="11" name="step marker"/>
          <p:cNvSpPr/>
          <p:nvPr/>
        </p:nvSpPr>
        <p:spPr>
          <a:xfrm>
            <a:off x="7498080" y="2226564"/>
            <a:ext cx="457200" cy="457200"/>
          </a:xfrm>
          <a:prstGeom prst="ellipse">
            <a:avLst/>
          </a:prstGeom>
          <a:solidFill>
            <a:schemeClr val="tx2"/>
          </a:solidFill>
          <a:ln/>
        </p:spPr>
      </p:sp>
      <p:sp>
        <p:nvSpPr>
          <p:cNvPr id="12" name="Text 8"/>
          <p:cNvSpPr txBox="1"/>
          <p:nvPr/>
        </p:nvSpPr>
        <p:spPr>
          <a:xfrm>
            <a:off x="7498080" y="2226564"/>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3" name="Text 9"/>
          <p:cNvSpPr txBox="1"/>
          <p:nvPr/>
        </p:nvSpPr>
        <p:spPr>
          <a:xfrm>
            <a:off x="8092440" y="2135124"/>
            <a:ext cx="3566160" cy="301752"/>
          </a:xfrm>
          <a:prstGeom prst="rect">
            <a:avLst/>
          </a:prstGeom>
          <a:noFill/>
          <a:ln/>
        </p:spPr>
        <p:txBody>
          <a:bodyPr wrap="square" lIns="0" tIns="0" rIns="0" bIns="0" rtlCol="0" anchor="ctr"/>
          <a:lstStyle/>
          <a:p>
            <a:pPr marL="0" indent="0" algn="l">
              <a:buNone/>
            </a:pPr>
            <a:r>
              <a:rPr lang="en-US" sz="1400" b="1" dirty="0">
                <a:solidFill>
                  <a:schemeClr val="tx2"/>
                </a:solidFill>
              </a:rPr>
              <a:t>Saturating pulse (dark)</a:t>
            </a:r>
            <a:endParaRPr lang="en-US" sz="1400" dirty="0"/>
          </a:p>
        </p:txBody>
      </p:sp>
      <p:sp>
        <p:nvSpPr>
          <p:cNvPr id="14" name="Text 10"/>
          <p:cNvSpPr txBox="1"/>
          <p:nvPr/>
        </p:nvSpPr>
        <p:spPr>
          <a:xfrm>
            <a:off x="8092440" y="2436876"/>
            <a:ext cx="3566160" cy="475488"/>
          </a:xfrm>
          <a:prstGeom prst="rect">
            <a:avLst/>
          </a:prstGeom>
          <a:noFill/>
          <a:ln/>
        </p:spPr>
        <p:txBody>
          <a:bodyPr wrap="square" lIns="0" tIns="0" rIns="0" bIns="0" rtlCol="0" anchor="t"/>
          <a:lstStyle/>
          <a:p>
            <a:pPr marL="0" indent="0">
              <a:buNone/>
            </a:pPr>
            <a:r>
              <a:rPr lang="en-US" sz="1200" dirty="0">
                <a:solidFill>
                  <a:schemeClr val="tx1"/>
                </a:solidFill>
              </a:rPr>
              <a:t>Maximum </a:t>
            </a:r>
            <a:r>
              <a:rPr lang="en-US" sz="1200" b="1" dirty="0">
                <a:solidFill>
                  <a:schemeClr val="tx1"/>
                </a:solidFill>
              </a:rPr>
              <a:t>F</a:t>
            </a:r>
            <a:r>
              <a:rPr lang="en-US" sz="1200" b="1" baseline="-40000" dirty="0">
                <a:solidFill>
                  <a:schemeClr val="tx1"/>
                </a:solidFill>
              </a:rPr>
              <a:t>m</a:t>
            </a:r>
            <a:r>
              <a:rPr lang="en-US" sz="1200" dirty="0">
                <a:solidFill>
                  <a:schemeClr val="tx1"/>
                </a:solidFill>
              </a:rPr>
              <a:t> — all centres closed; </a:t>
            </a:r>
            <a:r>
              <a:rPr lang="en-US" sz="1200" b="1" dirty="0">
                <a:solidFill>
                  <a:schemeClr val="tx1"/>
                </a:solidFill>
              </a:rPr>
              <a:t>F</a:t>
            </a:r>
            <a:r>
              <a:rPr lang="en-US" sz="1200" b="1" baseline="-40000" dirty="0">
                <a:solidFill>
                  <a:schemeClr val="tx1"/>
                </a:solidFill>
              </a:rPr>
              <a:t>v</a:t>
            </a:r>
            <a:r>
              <a:rPr lang="en-US" sz="1200" b="1" dirty="0">
                <a:solidFill>
                  <a:schemeClr val="tx1"/>
                </a:solidFill>
              </a:rPr>
              <a:t> = F</a:t>
            </a:r>
            <a:r>
              <a:rPr lang="en-US" sz="1200" b="1" baseline="-40000" dirty="0">
                <a:solidFill>
                  <a:schemeClr val="tx1"/>
                </a:solidFill>
              </a:rPr>
              <a:t>m</a:t>
            </a:r>
            <a:r>
              <a:rPr lang="en-US" sz="1200" b="1" dirty="0">
                <a:solidFill>
                  <a:schemeClr val="tx1"/>
                </a:solidFill>
              </a:rPr>
              <a:t> − F</a:t>
            </a:r>
            <a:r>
              <a:rPr lang="en-US" sz="1200" b="1" baseline="-40000" dirty="0">
                <a:solidFill>
                  <a:schemeClr val="tx1"/>
                </a:solidFill>
              </a:rPr>
              <a:t>o</a:t>
            </a:r>
            <a:endParaRPr lang="en-US" sz="1200" dirty="0"/>
          </a:p>
        </p:txBody>
      </p:sp>
      <p:sp>
        <p:nvSpPr>
          <p:cNvPr id="15" name="step marker"/>
          <p:cNvSpPr/>
          <p:nvPr/>
        </p:nvSpPr>
        <p:spPr>
          <a:xfrm>
            <a:off x="7498080" y="3035808"/>
            <a:ext cx="457200" cy="457200"/>
          </a:xfrm>
          <a:prstGeom prst="ellipse">
            <a:avLst/>
          </a:prstGeom>
          <a:solidFill>
            <a:schemeClr val="accent3"/>
          </a:solidFill>
          <a:ln/>
        </p:spPr>
      </p:sp>
      <p:sp>
        <p:nvSpPr>
          <p:cNvPr id="16" name="Text 12"/>
          <p:cNvSpPr txBox="1"/>
          <p:nvPr/>
        </p:nvSpPr>
        <p:spPr>
          <a:xfrm>
            <a:off x="7498080" y="3035808"/>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17" name="Text 13"/>
          <p:cNvSpPr txBox="1"/>
          <p:nvPr/>
        </p:nvSpPr>
        <p:spPr>
          <a:xfrm>
            <a:off x="8092440" y="2944368"/>
            <a:ext cx="3566160" cy="301752"/>
          </a:xfrm>
          <a:prstGeom prst="rect">
            <a:avLst/>
          </a:prstGeom>
          <a:noFill/>
          <a:ln/>
        </p:spPr>
        <p:txBody>
          <a:bodyPr wrap="square" lIns="0" tIns="0" rIns="0" bIns="0" rtlCol="0" anchor="ctr"/>
          <a:lstStyle/>
          <a:p>
            <a:pPr marL="0" indent="0" algn="l">
              <a:buNone/>
            </a:pPr>
            <a:r>
              <a:rPr lang="en-US" sz="1400" b="1" dirty="0">
                <a:solidFill>
                  <a:schemeClr val="tx2"/>
                </a:solidFill>
              </a:rPr>
              <a:t>Actinic light on</a:t>
            </a:r>
            <a:endParaRPr lang="en-US" sz="1400" dirty="0"/>
          </a:p>
        </p:txBody>
      </p:sp>
      <p:sp>
        <p:nvSpPr>
          <p:cNvPr id="18" name="Text 14"/>
          <p:cNvSpPr txBox="1"/>
          <p:nvPr/>
        </p:nvSpPr>
        <p:spPr>
          <a:xfrm>
            <a:off x="8092440" y="3246120"/>
            <a:ext cx="3566160" cy="475488"/>
          </a:xfrm>
          <a:prstGeom prst="rect">
            <a:avLst/>
          </a:prstGeom>
          <a:noFill/>
          <a:ln/>
        </p:spPr>
        <p:txBody>
          <a:bodyPr wrap="square" lIns="0" tIns="0" rIns="0" bIns="0" rtlCol="0" anchor="t"/>
          <a:lstStyle/>
          <a:p>
            <a:pPr marL="0" indent="0">
              <a:buNone/>
            </a:pPr>
            <a:r>
              <a:rPr lang="en-US" sz="1200" dirty="0">
                <a:solidFill>
                  <a:schemeClr val="tx1"/>
                </a:solidFill>
              </a:rPr>
              <a:t>Rise, then quenching to steady state </a:t>
            </a:r>
            <a:r>
              <a:rPr lang="en-US" sz="1200" b="1" dirty="0">
                <a:solidFill>
                  <a:schemeClr val="tx1"/>
                </a:solidFill>
              </a:rPr>
              <a:t>F′</a:t>
            </a:r>
            <a:r>
              <a:rPr lang="en-US" sz="1200" dirty="0">
                <a:solidFill>
                  <a:schemeClr val="tx1"/>
                </a:solidFill>
              </a:rPr>
              <a:t> (minutes to &gt;20 min)</a:t>
            </a:r>
            <a:endParaRPr lang="en-US" sz="1200" dirty="0"/>
          </a:p>
        </p:txBody>
      </p:sp>
      <p:sp>
        <p:nvSpPr>
          <p:cNvPr id="19" name="step marker"/>
          <p:cNvSpPr/>
          <p:nvPr/>
        </p:nvSpPr>
        <p:spPr>
          <a:xfrm>
            <a:off x="7498080" y="3845052"/>
            <a:ext cx="457200" cy="457200"/>
          </a:xfrm>
          <a:prstGeom prst="ellipse">
            <a:avLst/>
          </a:prstGeom>
          <a:solidFill>
            <a:schemeClr val="accent3"/>
          </a:solidFill>
          <a:ln/>
        </p:spPr>
      </p:sp>
      <p:sp>
        <p:nvSpPr>
          <p:cNvPr id="20" name="Text 16"/>
          <p:cNvSpPr txBox="1"/>
          <p:nvPr/>
        </p:nvSpPr>
        <p:spPr>
          <a:xfrm>
            <a:off x="7498080" y="3845052"/>
            <a:ext cx="457200" cy="457200"/>
          </a:xfrm>
          <a:prstGeom prst="rect">
            <a:avLst/>
          </a:prstGeom>
          <a:noFill/>
          <a:ln/>
        </p:spPr>
        <p:txBody>
          <a:bodyPr wrap="square" lIns="0" tIns="0" rIns="0" bIns="0" rtlCol="0" anchor="ctr"/>
          <a:lstStyle/>
          <a:p>
            <a:pPr marL="0" indent="0" algn="ctr">
              <a:buNone/>
            </a:pPr>
            <a:r>
              <a:rPr lang="en-US" sz="1500" b="1" dirty="0">
                <a:solidFill>
                  <a:schemeClr val="tx1"/>
                </a:solidFill>
              </a:rPr>
              <a:t>4</a:t>
            </a:r>
            <a:endParaRPr lang="en-US" sz="1500" dirty="0"/>
          </a:p>
        </p:txBody>
      </p:sp>
      <p:sp>
        <p:nvSpPr>
          <p:cNvPr id="21" name="Text 17"/>
          <p:cNvSpPr txBox="1"/>
          <p:nvPr/>
        </p:nvSpPr>
        <p:spPr>
          <a:xfrm>
            <a:off x="8092440" y="3753612"/>
            <a:ext cx="3566160" cy="301752"/>
          </a:xfrm>
          <a:prstGeom prst="rect">
            <a:avLst/>
          </a:prstGeom>
          <a:noFill/>
          <a:ln/>
        </p:spPr>
        <p:txBody>
          <a:bodyPr wrap="square" lIns="0" tIns="0" rIns="0" bIns="0" rtlCol="0" anchor="ctr"/>
          <a:lstStyle/>
          <a:p>
            <a:pPr marL="0" indent="0" algn="l">
              <a:buNone/>
            </a:pPr>
            <a:r>
              <a:rPr lang="en-US" sz="1400" b="1" dirty="0">
                <a:solidFill>
                  <a:schemeClr val="tx2"/>
                </a:solidFill>
              </a:rPr>
              <a:t>Pulses in the light</a:t>
            </a:r>
            <a:endParaRPr lang="en-US" sz="1400" dirty="0"/>
          </a:p>
        </p:txBody>
      </p:sp>
      <p:sp>
        <p:nvSpPr>
          <p:cNvPr id="22" name="Text 18"/>
          <p:cNvSpPr txBox="1"/>
          <p:nvPr/>
        </p:nvSpPr>
        <p:spPr>
          <a:xfrm>
            <a:off x="8092440" y="4055364"/>
            <a:ext cx="3566160" cy="475488"/>
          </a:xfrm>
          <a:prstGeom prst="rect">
            <a:avLst/>
          </a:prstGeom>
          <a:noFill/>
          <a:ln/>
        </p:spPr>
        <p:txBody>
          <a:bodyPr wrap="square" lIns="0" tIns="0" rIns="0" bIns="0" rtlCol="0" anchor="t"/>
          <a:lstStyle/>
          <a:p>
            <a:pPr marL="0" indent="0">
              <a:buNone/>
            </a:pPr>
            <a:r>
              <a:rPr lang="en-US" sz="1200" b="1" dirty="0">
                <a:solidFill>
                  <a:schemeClr val="tx1"/>
                </a:solidFill>
              </a:rPr>
              <a:t>F</a:t>
            </a:r>
            <a:r>
              <a:rPr lang="en-US" sz="1200" b="1" baseline="-40000" dirty="0">
                <a:solidFill>
                  <a:schemeClr val="tx1"/>
                </a:solidFill>
              </a:rPr>
              <a:t>m</a:t>
            </a:r>
            <a:r>
              <a:rPr lang="en-US" sz="1200" b="1" dirty="0">
                <a:solidFill>
                  <a:schemeClr val="tx1"/>
                </a:solidFill>
              </a:rPr>
              <a:t>′</a:t>
            </a:r>
            <a:r>
              <a:rPr lang="en-US" sz="1200" dirty="0">
                <a:solidFill>
                  <a:schemeClr val="tx1"/>
                </a:solidFill>
              </a:rPr>
              <a:t> &lt; F</a:t>
            </a:r>
            <a:r>
              <a:rPr lang="en-US" sz="1200" baseline="-40000" dirty="0">
                <a:solidFill>
                  <a:schemeClr val="tx1"/>
                </a:solidFill>
              </a:rPr>
              <a:t>m</a:t>
            </a:r>
            <a:r>
              <a:rPr lang="en-US" sz="1200" dirty="0">
                <a:solidFill>
                  <a:schemeClr val="tx1"/>
                </a:solidFill>
              </a:rPr>
              <a:t> because of NPQ; </a:t>
            </a:r>
            <a:r>
              <a:rPr lang="en-US" sz="1200" b="1" dirty="0">
                <a:solidFill>
                  <a:schemeClr val="tx1"/>
                </a:solidFill>
              </a:rPr>
              <a:t>F</a:t>
            </a:r>
            <a:r>
              <a:rPr lang="en-US" sz="1200" b="1" baseline="-40000" dirty="0">
                <a:solidFill>
                  <a:schemeClr val="tx1"/>
                </a:solidFill>
              </a:rPr>
              <a:t>q</a:t>
            </a:r>
            <a:r>
              <a:rPr lang="en-US" sz="1200" b="1" dirty="0">
                <a:solidFill>
                  <a:schemeClr val="tx1"/>
                </a:solidFill>
              </a:rPr>
              <a:t>′ = F</a:t>
            </a:r>
            <a:r>
              <a:rPr lang="en-US" sz="1200" b="1" baseline="-40000" dirty="0">
                <a:solidFill>
                  <a:schemeClr val="tx1"/>
                </a:solidFill>
              </a:rPr>
              <a:t>m</a:t>
            </a:r>
            <a:r>
              <a:rPr lang="en-US" sz="1200" b="1" dirty="0">
                <a:solidFill>
                  <a:schemeClr val="tx1"/>
                </a:solidFill>
              </a:rPr>
              <a:t>′ − F′</a:t>
            </a:r>
            <a:endParaRPr lang="en-US" sz="1200" dirty="0"/>
          </a:p>
        </p:txBody>
      </p:sp>
      <p:sp>
        <p:nvSpPr>
          <p:cNvPr id="23" name="step marker"/>
          <p:cNvSpPr/>
          <p:nvPr/>
        </p:nvSpPr>
        <p:spPr>
          <a:xfrm>
            <a:off x="7498080" y="4654296"/>
            <a:ext cx="457200" cy="457200"/>
          </a:xfrm>
          <a:prstGeom prst="ellipse">
            <a:avLst/>
          </a:prstGeom>
          <a:solidFill>
            <a:schemeClr val="accent5"/>
          </a:solidFill>
          <a:ln/>
        </p:spPr>
      </p:sp>
      <p:sp>
        <p:nvSpPr>
          <p:cNvPr id="24" name="Text 20"/>
          <p:cNvSpPr txBox="1"/>
          <p:nvPr/>
        </p:nvSpPr>
        <p:spPr>
          <a:xfrm>
            <a:off x="7498080" y="4654296"/>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5</a:t>
            </a:r>
            <a:endParaRPr lang="en-US" sz="1500" dirty="0"/>
          </a:p>
        </p:txBody>
      </p:sp>
      <p:sp>
        <p:nvSpPr>
          <p:cNvPr id="25" name="Text 21"/>
          <p:cNvSpPr txBox="1"/>
          <p:nvPr/>
        </p:nvSpPr>
        <p:spPr>
          <a:xfrm>
            <a:off x="8092440" y="4562856"/>
            <a:ext cx="3566160" cy="301752"/>
          </a:xfrm>
          <a:prstGeom prst="rect">
            <a:avLst/>
          </a:prstGeom>
          <a:noFill/>
          <a:ln/>
        </p:spPr>
        <p:txBody>
          <a:bodyPr wrap="square" lIns="0" tIns="0" rIns="0" bIns="0" rtlCol="0" anchor="ctr"/>
          <a:lstStyle/>
          <a:p>
            <a:pPr marL="0" indent="0" algn="l">
              <a:buNone/>
            </a:pPr>
            <a:r>
              <a:rPr lang="en-US" sz="1400" b="1" dirty="0">
                <a:solidFill>
                  <a:schemeClr val="tx2"/>
                </a:solidFill>
              </a:rPr>
              <a:t>Actinic off (+ far-red)</a:t>
            </a:r>
            <a:endParaRPr lang="en-US" sz="1400" dirty="0"/>
          </a:p>
        </p:txBody>
      </p:sp>
      <p:sp>
        <p:nvSpPr>
          <p:cNvPr id="26" name="Text 22"/>
          <p:cNvSpPr txBox="1"/>
          <p:nvPr/>
        </p:nvSpPr>
        <p:spPr>
          <a:xfrm>
            <a:off x="8092440" y="4864608"/>
            <a:ext cx="3566160" cy="475488"/>
          </a:xfrm>
          <a:prstGeom prst="rect">
            <a:avLst/>
          </a:prstGeom>
          <a:noFill/>
          <a:ln/>
        </p:spPr>
        <p:txBody>
          <a:bodyPr wrap="square" lIns="0" tIns="0" rIns="0" bIns="0" rtlCol="0" anchor="t"/>
          <a:lstStyle/>
          <a:p>
            <a:pPr marL="0" indent="0">
              <a:buNone/>
            </a:pPr>
            <a:r>
              <a:rPr lang="en-US" sz="1200" dirty="0">
                <a:solidFill>
                  <a:schemeClr val="tx1"/>
                </a:solidFill>
              </a:rPr>
              <a:t>Minimal level in light-adapted state </a:t>
            </a:r>
            <a:r>
              <a:rPr lang="en-US" sz="1200" b="1" dirty="0">
                <a:solidFill>
                  <a:schemeClr val="tx1"/>
                </a:solidFill>
              </a:rPr>
              <a:t>F</a:t>
            </a:r>
            <a:r>
              <a:rPr lang="en-US" sz="1200" b="1" baseline="-40000" dirty="0">
                <a:solidFill>
                  <a:schemeClr val="tx1"/>
                </a:solidFill>
              </a:rPr>
              <a:t>o</a:t>
            </a:r>
            <a:r>
              <a:rPr lang="en-US" sz="1200" b="1" dirty="0">
                <a:solidFill>
                  <a:schemeClr val="tx1"/>
                </a:solidFill>
              </a:rPr>
              <a:t>′</a:t>
            </a:r>
            <a:r>
              <a:rPr lang="en-US" sz="1200" dirty="0">
                <a:solidFill>
                  <a:schemeClr val="tx1"/>
                </a:solidFill>
              </a:rPr>
              <a:t>; </a:t>
            </a:r>
            <a:r>
              <a:rPr lang="en-US" sz="1200" b="1" dirty="0">
                <a:solidFill>
                  <a:schemeClr val="tx1"/>
                </a:solidFill>
              </a:rPr>
              <a:t>F</a:t>
            </a:r>
            <a:r>
              <a:rPr lang="en-US" sz="1200" b="1" baseline="-40000" dirty="0">
                <a:solidFill>
                  <a:schemeClr val="tx1"/>
                </a:solidFill>
              </a:rPr>
              <a:t>v</a:t>
            </a:r>
            <a:r>
              <a:rPr lang="en-US" sz="1200" b="1" dirty="0">
                <a:solidFill>
                  <a:schemeClr val="tx1"/>
                </a:solidFill>
              </a:rPr>
              <a:t>′ = F</a:t>
            </a:r>
            <a:r>
              <a:rPr lang="en-US" sz="1200" b="1" baseline="-40000" dirty="0">
                <a:solidFill>
                  <a:schemeClr val="tx1"/>
                </a:solidFill>
              </a:rPr>
              <a:t>m</a:t>
            </a:r>
            <a:r>
              <a:rPr lang="en-US" sz="1200" b="1" dirty="0">
                <a:solidFill>
                  <a:schemeClr val="tx1"/>
                </a:solidFill>
              </a:rPr>
              <a:t>′ − F</a:t>
            </a:r>
            <a:r>
              <a:rPr lang="en-US" sz="1200" b="1" baseline="-40000" dirty="0">
                <a:solidFill>
                  <a:schemeClr val="tx1"/>
                </a:solidFill>
              </a:rPr>
              <a:t>o</a:t>
            </a:r>
            <a:r>
              <a:rPr lang="en-US" sz="1200" b="1" dirty="0">
                <a:solidFill>
                  <a:schemeClr val="tx1"/>
                </a:solidFill>
              </a:rPr>
              <a:t>′</a:t>
            </a:r>
            <a:endParaRPr lang="en-US" sz="1200" dirty="0"/>
          </a:p>
        </p:txBody>
      </p:sp>
      <p:sp>
        <p:nvSpPr>
          <p:cNvPr id="27" name="step marker"/>
          <p:cNvSpPr/>
          <p:nvPr/>
        </p:nvSpPr>
        <p:spPr>
          <a:xfrm>
            <a:off x="7498080" y="5463540"/>
            <a:ext cx="457200" cy="457200"/>
          </a:xfrm>
          <a:prstGeom prst="ellipse">
            <a:avLst/>
          </a:prstGeom>
          <a:solidFill>
            <a:schemeClr val="accent5"/>
          </a:solidFill>
          <a:ln/>
        </p:spPr>
      </p:sp>
      <p:sp>
        <p:nvSpPr>
          <p:cNvPr id="28" name="Text 24"/>
          <p:cNvSpPr txBox="1"/>
          <p:nvPr/>
        </p:nvSpPr>
        <p:spPr>
          <a:xfrm>
            <a:off x="7498080" y="5463540"/>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6</a:t>
            </a:r>
            <a:endParaRPr lang="en-US" sz="1500" dirty="0"/>
          </a:p>
        </p:txBody>
      </p:sp>
      <p:sp>
        <p:nvSpPr>
          <p:cNvPr id="29" name="Text 25"/>
          <p:cNvSpPr txBox="1"/>
          <p:nvPr/>
        </p:nvSpPr>
        <p:spPr>
          <a:xfrm>
            <a:off x="8092440" y="5372100"/>
            <a:ext cx="3566160" cy="301752"/>
          </a:xfrm>
          <a:prstGeom prst="rect">
            <a:avLst/>
          </a:prstGeom>
          <a:noFill/>
          <a:ln/>
        </p:spPr>
        <p:txBody>
          <a:bodyPr wrap="square" lIns="0" tIns="0" rIns="0" bIns="0" rtlCol="0" anchor="ctr"/>
          <a:lstStyle/>
          <a:p>
            <a:pPr marL="0" indent="0" algn="l">
              <a:buNone/>
            </a:pPr>
            <a:r>
              <a:rPr lang="en-US" sz="1400" b="1" dirty="0">
                <a:solidFill>
                  <a:schemeClr val="tx2"/>
                </a:solidFill>
              </a:rPr>
              <a:t>Pulses in the dark</a:t>
            </a:r>
            <a:endParaRPr lang="en-US" sz="1400" dirty="0"/>
          </a:p>
        </p:txBody>
      </p:sp>
      <p:sp>
        <p:nvSpPr>
          <p:cNvPr id="30" name="Text 26"/>
          <p:cNvSpPr txBox="1"/>
          <p:nvPr/>
        </p:nvSpPr>
        <p:spPr>
          <a:xfrm>
            <a:off x="8092440" y="5673852"/>
            <a:ext cx="3566160" cy="475488"/>
          </a:xfrm>
          <a:prstGeom prst="rect">
            <a:avLst/>
          </a:prstGeom>
          <a:noFill/>
          <a:ln/>
        </p:spPr>
        <p:txBody>
          <a:bodyPr wrap="square" lIns="0" tIns="0" rIns="0" bIns="0" rtlCol="0" anchor="t"/>
          <a:lstStyle/>
          <a:p>
            <a:pPr marL="0" indent="0">
              <a:buNone/>
            </a:pPr>
            <a:r>
              <a:rPr lang="en-US" sz="1200" dirty="0">
                <a:solidFill>
                  <a:schemeClr val="tx1"/>
                </a:solidFill>
              </a:rPr>
              <a:t>F</a:t>
            </a:r>
            <a:r>
              <a:rPr lang="en-US" sz="1200" baseline="-40000" dirty="0">
                <a:solidFill>
                  <a:schemeClr val="tx1"/>
                </a:solidFill>
              </a:rPr>
              <a:t>m</a:t>
            </a:r>
            <a:r>
              <a:rPr lang="en-US" sz="1200" dirty="0">
                <a:solidFill>
                  <a:schemeClr val="tx1"/>
                </a:solidFill>
              </a:rPr>
              <a:t>′ recovers towards F</a:t>
            </a:r>
            <a:r>
              <a:rPr lang="en-US" sz="1200" baseline="-40000" dirty="0">
                <a:solidFill>
                  <a:schemeClr val="tx1"/>
                </a:solidFill>
              </a:rPr>
              <a:t>m</a:t>
            </a:r>
            <a:r>
              <a:rPr lang="en-US" sz="1200" dirty="0">
                <a:solidFill>
                  <a:schemeClr val="tx1"/>
                </a:solidFill>
              </a:rPr>
              <a:t> as NPQ relaxes (20–30 min)</a:t>
            </a:r>
            <a:endParaRPr lang="en-US" sz="12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Glossary of fluorescence levels</a:t>
            </a:r>
            <a:endParaRPr lang="en-US" sz="3200" dirty="0"/>
          </a:p>
        </p:txBody>
      </p:sp>
      <p:sp>
        <p:nvSpPr>
          <p:cNvPr id="4" name="card"/>
          <p:cNvSpPr/>
          <p:nvPr/>
        </p:nvSpPr>
        <p:spPr>
          <a:xfrm>
            <a:off x="548640" y="1371600"/>
            <a:ext cx="2651760" cy="2194560"/>
          </a:xfrm>
          <a:prstGeom prst="roundRect">
            <a:avLst>
              <a:gd name="adj" fmla="val 3333"/>
            </a:avLst>
          </a:prstGeom>
          <a:solidFill>
            <a:schemeClr val="bg2"/>
          </a:solidFill>
          <a:ln/>
          <a:effectLst>
            <a:outerShdw blurRad="76200" dist="25400" dir="5400000" algn="bl" rotWithShape="0">
              <a:srgbClr val="000000">
                <a:alpha val="14000"/>
              </a:srgbClr>
            </a:outerShdw>
          </a:effectLst>
        </p:spPr>
      </p:sp>
      <p:sp>
        <p:nvSpPr>
          <p:cNvPr id="5" name="Text 2"/>
          <p:cNvSpPr txBox="1"/>
          <p:nvPr/>
        </p:nvSpPr>
        <p:spPr>
          <a:xfrm>
            <a:off x="731520" y="1508760"/>
            <a:ext cx="2286000" cy="59436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F</a:t>
            </a:r>
            <a:r>
              <a:rPr lang="en-US" sz="2800" b="1" baseline="-40000" dirty="0">
                <a:solidFill>
                  <a:schemeClr val="tx2"/>
                </a:solidFill>
                <a:latin typeface="Cambria" pitchFamily="34" charset="0"/>
                <a:ea typeface="Cambria" pitchFamily="34" charset="-122"/>
                <a:cs typeface="Cambria" pitchFamily="34" charset="-120"/>
              </a:rPr>
              <a:t>o</a:t>
            </a:r>
            <a:endParaRPr lang="en-US" sz="2800" dirty="0"/>
          </a:p>
        </p:txBody>
      </p:sp>
      <p:sp>
        <p:nvSpPr>
          <p:cNvPr id="6" name="tag"/>
          <p:cNvSpPr/>
          <p:nvPr/>
        </p:nvSpPr>
        <p:spPr>
          <a:xfrm>
            <a:off x="2286000" y="1572768"/>
            <a:ext cx="731520" cy="292608"/>
          </a:xfrm>
          <a:prstGeom prst="roundRect">
            <a:avLst>
              <a:gd name="adj" fmla="val 50000"/>
            </a:avLst>
          </a:prstGeom>
          <a:solidFill>
            <a:schemeClr val="tx2"/>
          </a:solidFill>
          <a:ln/>
        </p:spPr>
      </p:sp>
      <p:sp>
        <p:nvSpPr>
          <p:cNvPr id="7" name="Text 4"/>
          <p:cNvSpPr txBox="1"/>
          <p:nvPr/>
        </p:nvSpPr>
        <p:spPr>
          <a:xfrm>
            <a:off x="2286000" y="1572768"/>
            <a:ext cx="731520" cy="292608"/>
          </a:xfrm>
          <a:prstGeom prst="rect">
            <a:avLst/>
          </a:prstGeom>
          <a:noFill/>
          <a:ln/>
        </p:spPr>
        <p:txBody>
          <a:bodyPr wrap="square" lIns="0" tIns="0" rIns="0" bIns="0" rtlCol="0" anchor="ctr"/>
          <a:lstStyle/>
          <a:p>
            <a:pPr marL="0" indent="0" algn="ctr">
              <a:buNone/>
            </a:pPr>
            <a:r>
              <a:rPr lang="en-US" sz="1100" b="1" dirty="0">
                <a:solidFill>
                  <a:schemeClr val="bg1"/>
                </a:solidFill>
              </a:rPr>
              <a:t>DARK</a:t>
            </a:r>
            <a:endParaRPr lang="en-US" sz="1100" dirty="0"/>
          </a:p>
        </p:txBody>
      </p:sp>
      <p:sp>
        <p:nvSpPr>
          <p:cNvPr id="8" name="Text 5"/>
          <p:cNvSpPr txBox="1"/>
          <p:nvPr/>
        </p:nvSpPr>
        <p:spPr>
          <a:xfrm>
            <a:off x="731520" y="2148840"/>
            <a:ext cx="2286000" cy="594360"/>
          </a:xfrm>
          <a:prstGeom prst="rect">
            <a:avLst/>
          </a:prstGeom>
          <a:noFill/>
          <a:ln/>
        </p:spPr>
        <p:txBody>
          <a:bodyPr wrap="square" lIns="0" tIns="0" rIns="0" bIns="0" rtlCol="0" anchor="t"/>
          <a:lstStyle/>
          <a:p>
            <a:pPr marL="0" indent="0">
              <a:buNone/>
            </a:pPr>
            <a:r>
              <a:rPr lang="en-US" sz="1400" b="1" dirty="0">
                <a:solidFill>
                  <a:schemeClr val="tx1"/>
                </a:solidFill>
              </a:rPr>
              <a:t>Minimal fluorescence, dark-adapted</a:t>
            </a:r>
            <a:endParaRPr lang="en-US" sz="1400" dirty="0"/>
          </a:p>
        </p:txBody>
      </p:sp>
      <p:sp>
        <p:nvSpPr>
          <p:cNvPr id="9" name="Text 6"/>
          <p:cNvSpPr txBox="1"/>
          <p:nvPr/>
        </p:nvSpPr>
        <p:spPr>
          <a:xfrm>
            <a:off x="731520" y="2743200"/>
            <a:ext cx="2286000" cy="731520"/>
          </a:xfrm>
          <a:prstGeom prst="rect">
            <a:avLst/>
          </a:prstGeom>
          <a:noFill/>
          <a:ln/>
        </p:spPr>
        <p:txBody>
          <a:bodyPr wrap="square" lIns="0" tIns="0" rIns="0" bIns="0" rtlCol="0" anchor="t"/>
          <a:lstStyle/>
          <a:p>
            <a:pPr marL="0" indent="0">
              <a:buNone/>
            </a:pPr>
            <a:r>
              <a:rPr lang="en-US" sz="1300" dirty="0">
                <a:solidFill>
                  <a:schemeClr val="tx1"/>
                </a:solidFill>
              </a:rPr>
              <a:t>All PSII centres open, no NPQ</a:t>
            </a:r>
            <a:endParaRPr lang="en-US" sz="1300" dirty="0"/>
          </a:p>
        </p:txBody>
      </p:sp>
      <p:sp>
        <p:nvSpPr>
          <p:cNvPr id="10" name="card"/>
          <p:cNvSpPr/>
          <p:nvPr/>
        </p:nvSpPr>
        <p:spPr>
          <a:xfrm>
            <a:off x="3364992" y="1371600"/>
            <a:ext cx="2651760" cy="2194560"/>
          </a:xfrm>
          <a:prstGeom prst="roundRect">
            <a:avLst>
              <a:gd name="adj" fmla="val 3333"/>
            </a:avLst>
          </a:prstGeom>
          <a:solidFill>
            <a:schemeClr val="bg2"/>
          </a:solidFill>
          <a:ln/>
          <a:effectLst>
            <a:outerShdw blurRad="76200" dist="25400" dir="5400000" algn="bl" rotWithShape="0">
              <a:srgbClr val="000000">
                <a:alpha val="14000"/>
              </a:srgbClr>
            </a:outerShdw>
          </a:effectLst>
        </p:spPr>
      </p:sp>
      <p:sp>
        <p:nvSpPr>
          <p:cNvPr id="11" name="Text 8"/>
          <p:cNvSpPr txBox="1"/>
          <p:nvPr/>
        </p:nvSpPr>
        <p:spPr>
          <a:xfrm>
            <a:off x="3547872" y="1508760"/>
            <a:ext cx="2286000" cy="59436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F</a:t>
            </a:r>
            <a:r>
              <a:rPr lang="en-US" sz="2800" b="1" baseline="-40000" dirty="0">
                <a:solidFill>
                  <a:schemeClr val="tx2"/>
                </a:solidFill>
                <a:latin typeface="Cambria" pitchFamily="34" charset="0"/>
                <a:ea typeface="Cambria" pitchFamily="34" charset="-122"/>
                <a:cs typeface="Cambria" pitchFamily="34" charset="-120"/>
              </a:rPr>
              <a:t>m</a:t>
            </a:r>
            <a:endParaRPr lang="en-US" sz="2800" dirty="0"/>
          </a:p>
        </p:txBody>
      </p:sp>
      <p:sp>
        <p:nvSpPr>
          <p:cNvPr id="12" name="tag"/>
          <p:cNvSpPr/>
          <p:nvPr/>
        </p:nvSpPr>
        <p:spPr>
          <a:xfrm>
            <a:off x="5102352" y="1572768"/>
            <a:ext cx="731520" cy="292608"/>
          </a:xfrm>
          <a:prstGeom prst="roundRect">
            <a:avLst>
              <a:gd name="adj" fmla="val 50000"/>
            </a:avLst>
          </a:prstGeom>
          <a:solidFill>
            <a:schemeClr val="tx2"/>
          </a:solidFill>
          <a:ln/>
        </p:spPr>
      </p:sp>
      <p:sp>
        <p:nvSpPr>
          <p:cNvPr id="13" name="Text 10"/>
          <p:cNvSpPr txBox="1"/>
          <p:nvPr/>
        </p:nvSpPr>
        <p:spPr>
          <a:xfrm>
            <a:off x="5102352" y="1572768"/>
            <a:ext cx="731520" cy="292608"/>
          </a:xfrm>
          <a:prstGeom prst="rect">
            <a:avLst/>
          </a:prstGeom>
          <a:noFill/>
          <a:ln/>
        </p:spPr>
        <p:txBody>
          <a:bodyPr wrap="square" lIns="0" tIns="0" rIns="0" bIns="0" rtlCol="0" anchor="ctr"/>
          <a:lstStyle/>
          <a:p>
            <a:pPr marL="0" indent="0" algn="ctr">
              <a:buNone/>
            </a:pPr>
            <a:r>
              <a:rPr lang="en-US" sz="1100" b="1" dirty="0">
                <a:solidFill>
                  <a:schemeClr val="bg1"/>
                </a:solidFill>
              </a:rPr>
              <a:t>DARK</a:t>
            </a:r>
            <a:endParaRPr lang="en-US" sz="1100" dirty="0"/>
          </a:p>
        </p:txBody>
      </p:sp>
      <p:sp>
        <p:nvSpPr>
          <p:cNvPr id="14" name="Text 11"/>
          <p:cNvSpPr txBox="1"/>
          <p:nvPr/>
        </p:nvSpPr>
        <p:spPr>
          <a:xfrm>
            <a:off x="3547872" y="2148840"/>
            <a:ext cx="2286000" cy="594360"/>
          </a:xfrm>
          <a:prstGeom prst="rect">
            <a:avLst/>
          </a:prstGeom>
          <a:noFill/>
          <a:ln/>
        </p:spPr>
        <p:txBody>
          <a:bodyPr wrap="square" lIns="0" tIns="0" rIns="0" bIns="0" rtlCol="0" anchor="t"/>
          <a:lstStyle/>
          <a:p>
            <a:pPr marL="0" indent="0">
              <a:buNone/>
            </a:pPr>
            <a:r>
              <a:rPr lang="en-US" sz="1400" b="1" dirty="0">
                <a:solidFill>
                  <a:schemeClr val="tx1"/>
                </a:solidFill>
              </a:rPr>
              <a:t>Maximal fluorescence, dark-adapted</a:t>
            </a:r>
            <a:endParaRPr lang="en-US" sz="1400" dirty="0"/>
          </a:p>
        </p:txBody>
      </p:sp>
      <p:sp>
        <p:nvSpPr>
          <p:cNvPr id="15" name="Text 12"/>
          <p:cNvSpPr txBox="1"/>
          <p:nvPr/>
        </p:nvSpPr>
        <p:spPr>
          <a:xfrm>
            <a:off x="3547872" y="2743200"/>
            <a:ext cx="2286000" cy="731520"/>
          </a:xfrm>
          <a:prstGeom prst="rect">
            <a:avLst/>
          </a:prstGeom>
          <a:noFill/>
          <a:ln/>
        </p:spPr>
        <p:txBody>
          <a:bodyPr wrap="square" lIns="0" tIns="0" rIns="0" bIns="0" rtlCol="0" anchor="t"/>
          <a:lstStyle/>
          <a:p>
            <a:pPr marL="0" indent="0">
              <a:buNone/>
            </a:pPr>
            <a:r>
              <a:rPr lang="en-US" sz="1300" dirty="0">
                <a:solidFill>
                  <a:schemeClr val="tx1"/>
                </a:solidFill>
              </a:rPr>
              <a:t>Saturating pulse closes all centres; no NPQ</a:t>
            </a:r>
            <a:endParaRPr lang="en-US" sz="1300" dirty="0"/>
          </a:p>
        </p:txBody>
      </p:sp>
      <p:sp>
        <p:nvSpPr>
          <p:cNvPr id="16" name="card"/>
          <p:cNvSpPr/>
          <p:nvPr/>
        </p:nvSpPr>
        <p:spPr>
          <a:xfrm>
            <a:off x="6181344" y="1371600"/>
            <a:ext cx="2651760" cy="2194560"/>
          </a:xfrm>
          <a:prstGeom prst="roundRect">
            <a:avLst>
              <a:gd name="adj" fmla="val 3333"/>
            </a:avLst>
          </a:prstGeom>
          <a:solidFill>
            <a:schemeClr val="bg2"/>
          </a:solidFill>
          <a:ln/>
          <a:effectLst>
            <a:outerShdw blurRad="76200" dist="25400" dir="5400000" algn="bl" rotWithShape="0">
              <a:srgbClr val="000000">
                <a:alpha val="14000"/>
              </a:srgbClr>
            </a:outerShdw>
          </a:effectLst>
        </p:spPr>
      </p:sp>
      <p:sp>
        <p:nvSpPr>
          <p:cNvPr id="17" name="Text 14"/>
          <p:cNvSpPr txBox="1"/>
          <p:nvPr/>
        </p:nvSpPr>
        <p:spPr>
          <a:xfrm>
            <a:off x="6364224" y="1508760"/>
            <a:ext cx="2286000" cy="59436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F</a:t>
            </a:r>
            <a:r>
              <a:rPr lang="en-US" sz="2800" b="1" baseline="-40000" dirty="0">
                <a:solidFill>
                  <a:schemeClr val="tx2"/>
                </a:solidFill>
                <a:latin typeface="Cambria" pitchFamily="34" charset="0"/>
                <a:ea typeface="Cambria" pitchFamily="34" charset="-122"/>
                <a:cs typeface="Cambria" pitchFamily="34" charset="-120"/>
              </a:rPr>
              <a:t>v</a:t>
            </a:r>
            <a:endParaRPr lang="en-US" sz="2800" dirty="0"/>
          </a:p>
        </p:txBody>
      </p:sp>
      <p:sp>
        <p:nvSpPr>
          <p:cNvPr id="18" name="tag"/>
          <p:cNvSpPr/>
          <p:nvPr/>
        </p:nvSpPr>
        <p:spPr>
          <a:xfrm>
            <a:off x="7918704" y="1572768"/>
            <a:ext cx="731520" cy="292608"/>
          </a:xfrm>
          <a:prstGeom prst="roundRect">
            <a:avLst>
              <a:gd name="adj" fmla="val 50000"/>
            </a:avLst>
          </a:prstGeom>
          <a:solidFill>
            <a:schemeClr val="tx2"/>
          </a:solidFill>
          <a:ln/>
        </p:spPr>
      </p:sp>
      <p:sp>
        <p:nvSpPr>
          <p:cNvPr id="19" name="Text 16"/>
          <p:cNvSpPr txBox="1"/>
          <p:nvPr/>
        </p:nvSpPr>
        <p:spPr>
          <a:xfrm>
            <a:off x="7918704" y="1572768"/>
            <a:ext cx="731520" cy="292608"/>
          </a:xfrm>
          <a:prstGeom prst="rect">
            <a:avLst/>
          </a:prstGeom>
          <a:noFill/>
          <a:ln/>
        </p:spPr>
        <p:txBody>
          <a:bodyPr wrap="square" lIns="0" tIns="0" rIns="0" bIns="0" rtlCol="0" anchor="ctr"/>
          <a:lstStyle/>
          <a:p>
            <a:pPr marL="0" indent="0" algn="ctr">
              <a:buNone/>
            </a:pPr>
            <a:r>
              <a:rPr lang="en-US" sz="1100" b="1" dirty="0">
                <a:solidFill>
                  <a:schemeClr val="bg1"/>
                </a:solidFill>
              </a:rPr>
              <a:t>DARK</a:t>
            </a:r>
            <a:endParaRPr lang="en-US" sz="1100" dirty="0"/>
          </a:p>
        </p:txBody>
      </p:sp>
      <p:sp>
        <p:nvSpPr>
          <p:cNvPr id="20" name="Text 17"/>
          <p:cNvSpPr txBox="1"/>
          <p:nvPr/>
        </p:nvSpPr>
        <p:spPr>
          <a:xfrm>
            <a:off x="6364224" y="2148840"/>
            <a:ext cx="2286000" cy="594360"/>
          </a:xfrm>
          <a:prstGeom prst="rect">
            <a:avLst/>
          </a:prstGeom>
          <a:noFill/>
          <a:ln/>
        </p:spPr>
        <p:txBody>
          <a:bodyPr wrap="square" lIns="0" tIns="0" rIns="0" bIns="0" rtlCol="0" anchor="t"/>
          <a:lstStyle/>
          <a:p>
            <a:pPr marL="0" indent="0">
              <a:buNone/>
            </a:pPr>
            <a:r>
              <a:rPr lang="en-US" sz="1400" b="1" dirty="0">
                <a:solidFill>
                  <a:schemeClr val="tx1"/>
                </a:solidFill>
              </a:rPr>
              <a:t>Variable fluorescence</a:t>
            </a:r>
            <a:endParaRPr lang="en-US" sz="1400" dirty="0"/>
          </a:p>
        </p:txBody>
      </p:sp>
      <p:sp>
        <p:nvSpPr>
          <p:cNvPr id="21" name="Text 18"/>
          <p:cNvSpPr txBox="1"/>
          <p:nvPr/>
        </p:nvSpPr>
        <p:spPr>
          <a:xfrm>
            <a:off x="6364224" y="2743200"/>
            <a:ext cx="2286000" cy="731520"/>
          </a:xfrm>
          <a:prstGeom prst="rect">
            <a:avLst/>
          </a:prstGeom>
          <a:noFill/>
          <a:ln/>
        </p:spPr>
        <p:txBody>
          <a:bodyPr wrap="square" lIns="0" tIns="0" rIns="0" bIns="0" rtlCol="0" anchor="t"/>
          <a:lstStyle/>
          <a:p>
            <a:pPr marL="0" indent="0">
              <a:buNone/>
            </a:pPr>
            <a:r>
              <a:rPr lang="en-US" sz="1300" dirty="0">
                <a:solidFill>
                  <a:schemeClr val="tx1"/>
                </a:solidFill>
              </a:rPr>
              <a:t>F</a:t>
            </a:r>
            <a:r>
              <a:rPr lang="en-US" sz="1300" baseline="-40000" dirty="0">
                <a:solidFill>
                  <a:schemeClr val="tx1"/>
                </a:solidFill>
              </a:rPr>
              <a:t>v</a:t>
            </a:r>
            <a:r>
              <a:rPr lang="en-US" sz="1300" dirty="0">
                <a:solidFill>
                  <a:schemeClr val="tx1"/>
                </a:solidFill>
              </a:rPr>
              <a:t> = F</a:t>
            </a:r>
            <a:r>
              <a:rPr lang="en-US" sz="1300" baseline="-40000" dirty="0">
                <a:solidFill>
                  <a:schemeClr val="tx1"/>
                </a:solidFill>
              </a:rPr>
              <a:t>m</a:t>
            </a:r>
            <a:r>
              <a:rPr lang="en-US" sz="1300" dirty="0">
                <a:solidFill>
                  <a:schemeClr val="tx1"/>
                </a:solidFill>
              </a:rPr>
              <a:t> − F</a:t>
            </a:r>
            <a:r>
              <a:rPr lang="en-US" sz="1300" baseline="-40000" dirty="0">
                <a:solidFill>
                  <a:schemeClr val="tx1"/>
                </a:solidFill>
              </a:rPr>
              <a:t>o</a:t>
            </a:r>
            <a:endParaRPr lang="en-US" sz="1300" dirty="0"/>
          </a:p>
        </p:txBody>
      </p:sp>
      <p:sp>
        <p:nvSpPr>
          <p:cNvPr id="22" name="card"/>
          <p:cNvSpPr/>
          <p:nvPr/>
        </p:nvSpPr>
        <p:spPr>
          <a:xfrm>
            <a:off x="8997696" y="1371600"/>
            <a:ext cx="2651760" cy="2194560"/>
          </a:xfrm>
          <a:prstGeom prst="roundRect">
            <a:avLst>
              <a:gd name="adj" fmla="val 3333"/>
            </a:avLst>
          </a:prstGeom>
          <a:solidFill>
            <a:schemeClr val="bg2"/>
          </a:solidFill>
          <a:ln/>
          <a:effectLst>
            <a:outerShdw blurRad="76200" dist="25400" dir="5400000" algn="bl" rotWithShape="0">
              <a:srgbClr val="000000">
                <a:alpha val="14000"/>
              </a:srgbClr>
            </a:outerShdw>
          </a:effectLst>
        </p:spPr>
      </p:sp>
      <p:sp>
        <p:nvSpPr>
          <p:cNvPr id="23" name="Text 20"/>
          <p:cNvSpPr txBox="1"/>
          <p:nvPr/>
        </p:nvSpPr>
        <p:spPr>
          <a:xfrm>
            <a:off x="9180576" y="1508760"/>
            <a:ext cx="2286000" cy="594360"/>
          </a:xfrm>
          <a:prstGeom prst="rect">
            <a:avLst/>
          </a:prstGeom>
          <a:noFill/>
          <a:ln/>
        </p:spPr>
        <p:txBody>
          <a:bodyPr wrap="square" lIns="0" tIns="0" rIns="0" bIns="0" rtlCol="0" anchor="ctr"/>
          <a:lstStyle/>
          <a:p>
            <a:pPr marL="0" indent="0">
              <a:buNone/>
            </a:pPr>
            <a:r>
              <a:rPr lang="en-US" sz="2800" b="1" dirty="0">
                <a:solidFill>
                  <a:schemeClr val="accent4"/>
                </a:solidFill>
                <a:latin typeface="Cambria" pitchFamily="34" charset="0"/>
                <a:ea typeface="Cambria" pitchFamily="34" charset="-122"/>
                <a:cs typeface="Cambria" pitchFamily="34" charset="-120"/>
              </a:rPr>
              <a:t>F′ (F</a:t>
            </a:r>
            <a:r>
              <a:rPr lang="en-US" sz="2800" b="1" baseline="-40000" dirty="0">
                <a:solidFill>
                  <a:schemeClr val="accent4"/>
                </a:solidFill>
                <a:latin typeface="Cambria" pitchFamily="34" charset="0"/>
                <a:ea typeface="Cambria" pitchFamily="34" charset="-122"/>
                <a:cs typeface="Cambria" pitchFamily="34" charset="-120"/>
              </a:rPr>
              <a:t>s</a:t>
            </a:r>
            <a:r>
              <a:rPr lang="en-US" sz="2800" b="1" dirty="0">
                <a:solidFill>
                  <a:schemeClr val="accent4"/>
                </a:solidFill>
                <a:latin typeface="Cambria" pitchFamily="34" charset="0"/>
                <a:ea typeface="Cambria" pitchFamily="34" charset="-122"/>
                <a:cs typeface="Cambria" pitchFamily="34" charset="-120"/>
              </a:rPr>
              <a:t>, F</a:t>
            </a:r>
            <a:r>
              <a:rPr lang="en-US" sz="2800" b="1" baseline="-40000" dirty="0">
                <a:solidFill>
                  <a:schemeClr val="accent4"/>
                </a:solidFill>
                <a:latin typeface="Cambria" pitchFamily="34" charset="0"/>
                <a:ea typeface="Cambria" pitchFamily="34" charset="-122"/>
                <a:cs typeface="Cambria" pitchFamily="34" charset="-120"/>
              </a:rPr>
              <a:t>t</a:t>
            </a:r>
            <a:r>
              <a:rPr lang="en-US" sz="2800" b="1" dirty="0">
                <a:solidFill>
                  <a:schemeClr val="accent4"/>
                </a:solidFill>
                <a:latin typeface="Cambria" pitchFamily="34" charset="0"/>
                <a:ea typeface="Cambria" pitchFamily="34" charset="-122"/>
                <a:cs typeface="Cambria" pitchFamily="34" charset="-120"/>
              </a:rPr>
              <a:t>)</a:t>
            </a:r>
            <a:endParaRPr lang="en-US" sz="2800" dirty="0"/>
          </a:p>
        </p:txBody>
      </p:sp>
      <p:sp>
        <p:nvSpPr>
          <p:cNvPr id="24" name="tag"/>
          <p:cNvSpPr/>
          <p:nvPr/>
        </p:nvSpPr>
        <p:spPr>
          <a:xfrm>
            <a:off x="10735056" y="1572768"/>
            <a:ext cx="731520" cy="292608"/>
          </a:xfrm>
          <a:prstGeom prst="roundRect">
            <a:avLst>
              <a:gd name="adj" fmla="val 50000"/>
            </a:avLst>
          </a:prstGeom>
          <a:solidFill>
            <a:schemeClr val="accent3"/>
          </a:solidFill>
          <a:ln/>
        </p:spPr>
      </p:sp>
      <p:sp>
        <p:nvSpPr>
          <p:cNvPr id="25" name="Text 22"/>
          <p:cNvSpPr txBox="1"/>
          <p:nvPr/>
        </p:nvSpPr>
        <p:spPr>
          <a:xfrm>
            <a:off x="10735056" y="1572768"/>
            <a:ext cx="731520" cy="292608"/>
          </a:xfrm>
          <a:prstGeom prst="rect">
            <a:avLst/>
          </a:prstGeom>
          <a:noFill/>
          <a:ln/>
        </p:spPr>
        <p:txBody>
          <a:bodyPr wrap="square" lIns="0" tIns="0" rIns="0" bIns="0" rtlCol="0" anchor="ctr"/>
          <a:lstStyle/>
          <a:p>
            <a:pPr marL="0" indent="0" algn="ctr">
              <a:buNone/>
            </a:pPr>
            <a:r>
              <a:rPr lang="en-US" sz="1100" b="1" dirty="0">
                <a:solidFill>
                  <a:schemeClr val="bg1"/>
                </a:solidFill>
              </a:rPr>
              <a:t>LIGHT</a:t>
            </a:r>
            <a:endParaRPr lang="en-US" sz="1100" dirty="0"/>
          </a:p>
        </p:txBody>
      </p:sp>
      <p:sp>
        <p:nvSpPr>
          <p:cNvPr id="26" name="Text 23"/>
          <p:cNvSpPr txBox="1"/>
          <p:nvPr/>
        </p:nvSpPr>
        <p:spPr>
          <a:xfrm>
            <a:off x="9180576" y="2148840"/>
            <a:ext cx="2286000" cy="594360"/>
          </a:xfrm>
          <a:prstGeom prst="rect">
            <a:avLst/>
          </a:prstGeom>
          <a:noFill/>
          <a:ln/>
        </p:spPr>
        <p:txBody>
          <a:bodyPr wrap="square" lIns="0" tIns="0" rIns="0" bIns="0" rtlCol="0" anchor="t"/>
          <a:lstStyle/>
          <a:p>
            <a:pPr marL="0" indent="0">
              <a:buNone/>
            </a:pPr>
            <a:r>
              <a:rPr lang="en-US" sz="1400" b="1" dirty="0">
                <a:solidFill>
                  <a:schemeClr val="tx1"/>
                </a:solidFill>
              </a:rPr>
              <a:t>Steady-state fluorescence in light</a:t>
            </a:r>
            <a:endParaRPr lang="en-US" sz="1400" dirty="0"/>
          </a:p>
        </p:txBody>
      </p:sp>
      <p:sp>
        <p:nvSpPr>
          <p:cNvPr id="27" name="Text 24"/>
          <p:cNvSpPr txBox="1"/>
          <p:nvPr/>
        </p:nvSpPr>
        <p:spPr>
          <a:xfrm>
            <a:off x="9180576" y="2743200"/>
            <a:ext cx="2286000" cy="731520"/>
          </a:xfrm>
          <a:prstGeom prst="rect">
            <a:avLst/>
          </a:prstGeom>
          <a:noFill/>
          <a:ln/>
        </p:spPr>
        <p:txBody>
          <a:bodyPr wrap="square" lIns="0" tIns="0" rIns="0" bIns="0" rtlCol="0" anchor="t"/>
          <a:lstStyle/>
          <a:p>
            <a:pPr marL="0" indent="0">
              <a:buNone/>
            </a:pPr>
            <a:r>
              <a:rPr lang="en-US" sz="1300" dirty="0">
                <a:solidFill>
                  <a:schemeClr val="tx1"/>
                </a:solidFill>
              </a:rPr>
              <a:t>Some centres closed, NPQ present</a:t>
            </a:r>
            <a:endParaRPr lang="en-US" sz="1300" dirty="0"/>
          </a:p>
        </p:txBody>
      </p:sp>
      <p:sp>
        <p:nvSpPr>
          <p:cNvPr id="28" name="card"/>
          <p:cNvSpPr/>
          <p:nvPr/>
        </p:nvSpPr>
        <p:spPr>
          <a:xfrm>
            <a:off x="548640" y="3749040"/>
            <a:ext cx="2651760" cy="2194560"/>
          </a:xfrm>
          <a:prstGeom prst="roundRect">
            <a:avLst>
              <a:gd name="adj" fmla="val 3333"/>
            </a:avLst>
          </a:prstGeom>
          <a:solidFill>
            <a:schemeClr val="bg2"/>
          </a:solidFill>
          <a:ln/>
          <a:effectLst>
            <a:outerShdw blurRad="76200" dist="25400" dir="5400000" algn="bl" rotWithShape="0">
              <a:srgbClr val="000000">
                <a:alpha val="14000"/>
              </a:srgbClr>
            </a:outerShdw>
          </a:effectLst>
        </p:spPr>
      </p:sp>
      <p:sp>
        <p:nvSpPr>
          <p:cNvPr id="29" name="Text 26"/>
          <p:cNvSpPr txBox="1"/>
          <p:nvPr/>
        </p:nvSpPr>
        <p:spPr>
          <a:xfrm>
            <a:off x="731520" y="3886200"/>
            <a:ext cx="2286000" cy="594360"/>
          </a:xfrm>
          <a:prstGeom prst="rect">
            <a:avLst/>
          </a:prstGeom>
          <a:noFill/>
          <a:ln/>
        </p:spPr>
        <p:txBody>
          <a:bodyPr wrap="square" lIns="0" tIns="0" rIns="0" bIns="0" rtlCol="0" anchor="ctr"/>
          <a:lstStyle/>
          <a:p>
            <a:pPr marL="0" indent="0">
              <a:buNone/>
            </a:pPr>
            <a:r>
              <a:rPr lang="en-US" sz="2800" b="1" dirty="0">
                <a:solidFill>
                  <a:schemeClr val="accent4"/>
                </a:solidFill>
                <a:latin typeface="Cambria" pitchFamily="34" charset="0"/>
                <a:ea typeface="Cambria" pitchFamily="34" charset="-122"/>
                <a:cs typeface="Cambria" pitchFamily="34" charset="-120"/>
              </a:rPr>
              <a:t>F</a:t>
            </a:r>
            <a:r>
              <a:rPr lang="en-US" sz="2800" b="1" baseline="-40000" dirty="0">
                <a:solidFill>
                  <a:schemeClr val="accent4"/>
                </a:solidFill>
                <a:latin typeface="Cambria" pitchFamily="34" charset="0"/>
                <a:ea typeface="Cambria" pitchFamily="34" charset="-122"/>
                <a:cs typeface="Cambria" pitchFamily="34" charset="-120"/>
              </a:rPr>
              <a:t>m</a:t>
            </a:r>
            <a:r>
              <a:rPr lang="en-US" sz="2800" b="1" dirty="0">
                <a:solidFill>
                  <a:schemeClr val="accent4"/>
                </a:solidFill>
                <a:latin typeface="Cambria" pitchFamily="34" charset="0"/>
                <a:ea typeface="Cambria" pitchFamily="34" charset="-122"/>
                <a:cs typeface="Cambria" pitchFamily="34" charset="-120"/>
              </a:rPr>
              <a:t>′</a:t>
            </a:r>
            <a:endParaRPr lang="en-US" sz="2800" dirty="0"/>
          </a:p>
        </p:txBody>
      </p:sp>
      <p:sp>
        <p:nvSpPr>
          <p:cNvPr id="30" name="tag"/>
          <p:cNvSpPr/>
          <p:nvPr/>
        </p:nvSpPr>
        <p:spPr>
          <a:xfrm>
            <a:off x="2286000" y="3950208"/>
            <a:ext cx="731520" cy="292608"/>
          </a:xfrm>
          <a:prstGeom prst="roundRect">
            <a:avLst>
              <a:gd name="adj" fmla="val 50000"/>
            </a:avLst>
          </a:prstGeom>
          <a:solidFill>
            <a:schemeClr val="accent3"/>
          </a:solidFill>
          <a:ln/>
        </p:spPr>
      </p:sp>
      <p:sp>
        <p:nvSpPr>
          <p:cNvPr id="31" name="Text 28"/>
          <p:cNvSpPr txBox="1"/>
          <p:nvPr/>
        </p:nvSpPr>
        <p:spPr>
          <a:xfrm>
            <a:off x="2286000" y="3950208"/>
            <a:ext cx="731520" cy="292608"/>
          </a:xfrm>
          <a:prstGeom prst="rect">
            <a:avLst/>
          </a:prstGeom>
          <a:noFill/>
          <a:ln/>
        </p:spPr>
        <p:txBody>
          <a:bodyPr wrap="square" lIns="0" tIns="0" rIns="0" bIns="0" rtlCol="0" anchor="ctr"/>
          <a:lstStyle/>
          <a:p>
            <a:pPr marL="0" indent="0" algn="ctr">
              <a:buNone/>
            </a:pPr>
            <a:r>
              <a:rPr lang="en-US" sz="1100" b="1" dirty="0">
                <a:solidFill>
                  <a:schemeClr val="bg1"/>
                </a:solidFill>
              </a:rPr>
              <a:t>LIGHT</a:t>
            </a:r>
            <a:endParaRPr lang="en-US" sz="1100" dirty="0"/>
          </a:p>
        </p:txBody>
      </p:sp>
      <p:sp>
        <p:nvSpPr>
          <p:cNvPr id="32" name="Text 29"/>
          <p:cNvSpPr txBox="1"/>
          <p:nvPr/>
        </p:nvSpPr>
        <p:spPr>
          <a:xfrm>
            <a:off x="731520" y="4526280"/>
            <a:ext cx="2286000" cy="594360"/>
          </a:xfrm>
          <a:prstGeom prst="rect">
            <a:avLst/>
          </a:prstGeom>
          <a:noFill/>
          <a:ln/>
        </p:spPr>
        <p:txBody>
          <a:bodyPr wrap="square" lIns="0" tIns="0" rIns="0" bIns="0" rtlCol="0" anchor="t"/>
          <a:lstStyle/>
          <a:p>
            <a:pPr marL="0" indent="0">
              <a:buNone/>
            </a:pPr>
            <a:r>
              <a:rPr lang="en-US" sz="1400" b="1" dirty="0">
                <a:solidFill>
                  <a:schemeClr val="tx1"/>
                </a:solidFill>
              </a:rPr>
              <a:t>Maximal fluorescence in light</a:t>
            </a:r>
            <a:endParaRPr lang="en-US" sz="1400" dirty="0"/>
          </a:p>
        </p:txBody>
      </p:sp>
      <p:sp>
        <p:nvSpPr>
          <p:cNvPr id="33" name="Text 30"/>
          <p:cNvSpPr txBox="1"/>
          <p:nvPr/>
        </p:nvSpPr>
        <p:spPr>
          <a:xfrm>
            <a:off x="731520" y="5120640"/>
            <a:ext cx="2286000" cy="731520"/>
          </a:xfrm>
          <a:prstGeom prst="rect">
            <a:avLst/>
          </a:prstGeom>
          <a:noFill/>
          <a:ln/>
        </p:spPr>
        <p:txBody>
          <a:bodyPr wrap="square" lIns="0" tIns="0" rIns="0" bIns="0" rtlCol="0" anchor="t"/>
          <a:lstStyle/>
          <a:p>
            <a:pPr marL="0" indent="0">
              <a:buNone/>
            </a:pPr>
            <a:r>
              <a:rPr lang="en-US" sz="1300" dirty="0">
                <a:solidFill>
                  <a:schemeClr val="tx1"/>
                </a:solidFill>
              </a:rPr>
              <a:t>Pulse under actinic light; lowered by NPQ</a:t>
            </a:r>
            <a:endParaRPr lang="en-US" sz="1300" dirty="0"/>
          </a:p>
        </p:txBody>
      </p:sp>
      <p:sp>
        <p:nvSpPr>
          <p:cNvPr id="34" name="card"/>
          <p:cNvSpPr/>
          <p:nvPr/>
        </p:nvSpPr>
        <p:spPr>
          <a:xfrm>
            <a:off x="3364992" y="3749040"/>
            <a:ext cx="2651760" cy="2194560"/>
          </a:xfrm>
          <a:prstGeom prst="roundRect">
            <a:avLst>
              <a:gd name="adj" fmla="val 3333"/>
            </a:avLst>
          </a:prstGeom>
          <a:solidFill>
            <a:schemeClr val="bg2"/>
          </a:solidFill>
          <a:ln/>
          <a:effectLst>
            <a:outerShdw blurRad="76200" dist="25400" dir="5400000" algn="bl" rotWithShape="0">
              <a:srgbClr val="000000">
                <a:alpha val="14000"/>
              </a:srgbClr>
            </a:outerShdw>
          </a:effectLst>
        </p:spPr>
      </p:sp>
      <p:sp>
        <p:nvSpPr>
          <p:cNvPr id="35" name="Text 32"/>
          <p:cNvSpPr txBox="1"/>
          <p:nvPr/>
        </p:nvSpPr>
        <p:spPr>
          <a:xfrm>
            <a:off x="3547872" y="3886200"/>
            <a:ext cx="2286000" cy="594360"/>
          </a:xfrm>
          <a:prstGeom prst="rect">
            <a:avLst/>
          </a:prstGeom>
          <a:noFill/>
          <a:ln/>
        </p:spPr>
        <p:txBody>
          <a:bodyPr wrap="square" lIns="0" tIns="0" rIns="0" bIns="0" rtlCol="0" anchor="ctr"/>
          <a:lstStyle/>
          <a:p>
            <a:pPr marL="0" indent="0">
              <a:buNone/>
            </a:pPr>
            <a:r>
              <a:rPr lang="en-US" sz="2800" b="1" dirty="0">
                <a:solidFill>
                  <a:schemeClr val="accent4"/>
                </a:solidFill>
                <a:latin typeface="Cambria" pitchFamily="34" charset="0"/>
                <a:ea typeface="Cambria" pitchFamily="34" charset="-122"/>
                <a:cs typeface="Cambria" pitchFamily="34" charset="-120"/>
              </a:rPr>
              <a:t>F</a:t>
            </a:r>
            <a:r>
              <a:rPr lang="en-US" sz="2800" b="1" baseline="-40000" dirty="0">
                <a:solidFill>
                  <a:schemeClr val="accent4"/>
                </a:solidFill>
                <a:latin typeface="Cambria" pitchFamily="34" charset="0"/>
                <a:ea typeface="Cambria" pitchFamily="34" charset="-122"/>
                <a:cs typeface="Cambria" pitchFamily="34" charset="-120"/>
              </a:rPr>
              <a:t>o</a:t>
            </a:r>
            <a:r>
              <a:rPr lang="en-US" sz="2800" b="1" dirty="0">
                <a:solidFill>
                  <a:schemeClr val="accent4"/>
                </a:solidFill>
                <a:latin typeface="Cambria" pitchFamily="34" charset="0"/>
                <a:ea typeface="Cambria" pitchFamily="34" charset="-122"/>
                <a:cs typeface="Cambria" pitchFamily="34" charset="-120"/>
              </a:rPr>
              <a:t>′</a:t>
            </a:r>
            <a:endParaRPr lang="en-US" sz="2800" dirty="0"/>
          </a:p>
        </p:txBody>
      </p:sp>
      <p:sp>
        <p:nvSpPr>
          <p:cNvPr id="36" name="tag"/>
          <p:cNvSpPr/>
          <p:nvPr/>
        </p:nvSpPr>
        <p:spPr>
          <a:xfrm>
            <a:off x="5102352" y="3950208"/>
            <a:ext cx="731520" cy="292608"/>
          </a:xfrm>
          <a:prstGeom prst="roundRect">
            <a:avLst>
              <a:gd name="adj" fmla="val 50000"/>
            </a:avLst>
          </a:prstGeom>
          <a:solidFill>
            <a:schemeClr val="accent3"/>
          </a:solidFill>
          <a:ln/>
        </p:spPr>
      </p:sp>
      <p:sp>
        <p:nvSpPr>
          <p:cNvPr id="37" name="Text 34"/>
          <p:cNvSpPr txBox="1"/>
          <p:nvPr/>
        </p:nvSpPr>
        <p:spPr>
          <a:xfrm>
            <a:off x="5102352" y="3950208"/>
            <a:ext cx="731520" cy="292608"/>
          </a:xfrm>
          <a:prstGeom prst="rect">
            <a:avLst/>
          </a:prstGeom>
          <a:noFill/>
          <a:ln/>
        </p:spPr>
        <p:txBody>
          <a:bodyPr wrap="square" lIns="0" tIns="0" rIns="0" bIns="0" rtlCol="0" anchor="ctr"/>
          <a:lstStyle/>
          <a:p>
            <a:pPr marL="0" indent="0" algn="ctr">
              <a:buNone/>
            </a:pPr>
            <a:r>
              <a:rPr lang="en-US" sz="1100" b="1" dirty="0">
                <a:solidFill>
                  <a:schemeClr val="bg1"/>
                </a:solidFill>
              </a:rPr>
              <a:t>LIGHT</a:t>
            </a:r>
            <a:endParaRPr lang="en-US" sz="1100" dirty="0"/>
          </a:p>
        </p:txBody>
      </p:sp>
      <p:sp>
        <p:nvSpPr>
          <p:cNvPr id="38" name="Text 35"/>
          <p:cNvSpPr txBox="1"/>
          <p:nvPr/>
        </p:nvSpPr>
        <p:spPr>
          <a:xfrm>
            <a:off x="3547872" y="4526280"/>
            <a:ext cx="2286000" cy="594360"/>
          </a:xfrm>
          <a:prstGeom prst="rect">
            <a:avLst/>
          </a:prstGeom>
          <a:noFill/>
          <a:ln/>
        </p:spPr>
        <p:txBody>
          <a:bodyPr wrap="square" lIns="0" tIns="0" rIns="0" bIns="0" rtlCol="0" anchor="t"/>
          <a:lstStyle/>
          <a:p>
            <a:pPr marL="0" indent="0">
              <a:buNone/>
            </a:pPr>
            <a:r>
              <a:rPr lang="en-US" sz="1400" b="1" dirty="0">
                <a:solidFill>
                  <a:schemeClr val="tx1"/>
                </a:solidFill>
              </a:rPr>
              <a:t>Minimal fluorescence in light</a:t>
            </a:r>
            <a:endParaRPr lang="en-US" sz="1400" dirty="0"/>
          </a:p>
        </p:txBody>
      </p:sp>
      <p:sp>
        <p:nvSpPr>
          <p:cNvPr id="39" name="Text 36"/>
          <p:cNvSpPr txBox="1"/>
          <p:nvPr/>
        </p:nvSpPr>
        <p:spPr>
          <a:xfrm>
            <a:off x="3547872" y="5120640"/>
            <a:ext cx="2286000" cy="731520"/>
          </a:xfrm>
          <a:prstGeom prst="rect">
            <a:avLst/>
          </a:prstGeom>
          <a:noFill/>
          <a:ln/>
        </p:spPr>
        <p:txBody>
          <a:bodyPr wrap="square" lIns="0" tIns="0" rIns="0" bIns="0" rtlCol="0" anchor="t"/>
          <a:lstStyle/>
          <a:p>
            <a:pPr marL="0" indent="0">
              <a:buNone/>
            </a:pPr>
            <a:r>
              <a:rPr lang="en-US" sz="1300" dirty="0">
                <a:solidFill>
                  <a:schemeClr val="tx1"/>
                </a:solidFill>
              </a:rPr>
              <a:t>Just after actinic off (+FR) or calculated</a:t>
            </a:r>
            <a:endParaRPr lang="en-US" sz="1300" dirty="0"/>
          </a:p>
        </p:txBody>
      </p:sp>
      <p:sp>
        <p:nvSpPr>
          <p:cNvPr id="40" name="card"/>
          <p:cNvSpPr/>
          <p:nvPr/>
        </p:nvSpPr>
        <p:spPr>
          <a:xfrm>
            <a:off x="6181344" y="3749040"/>
            <a:ext cx="2651760" cy="2194560"/>
          </a:xfrm>
          <a:prstGeom prst="roundRect">
            <a:avLst>
              <a:gd name="adj" fmla="val 3333"/>
            </a:avLst>
          </a:prstGeom>
          <a:solidFill>
            <a:schemeClr val="bg2"/>
          </a:solidFill>
          <a:ln/>
          <a:effectLst>
            <a:outerShdw blurRad="76200" dist="25400" dir="5400000" algn="bl" rotWithShape="0">
              <a:srgbClr val="000000">
                <a:alpha val="14000"/>
              </a:srgbClr>
            </a:outerShdw>
          </a:effectLst>
        </p:spPr>
      </p:sp>
      <p:sp>
        <p:nvSpPr>
          <p:cNvPr id="41" name="Text 38"/>
          <p:cNvSpPr txBox="1"/>
          <p:nvPr/>
        </p:nvSpPr>
        <p:spPr>
          <a:xfrm>
            <a:off x="6364224" y="3886200"/>
            <a:ext cx="2286000" cy="594360"/>
          </a:xfrm>
          <a:prstGeom prst="rect">
            <a:avLst/>
          </a:prstGeom>
          <a:noFill/>
          <a:ln/>
        </p:spPr>
        <p:txBody>
          <a:bodyPr wrap="square" lIns="0" tIns="0" rIns="0" bIns="0" rtlCol="0" anchor="ctr"/>
          <a:lstStyle/>
          <a:p>
            <a:pPr marL="0" indent="0">
              <a:buNone/>
            </a:pPr>
            <a:r>
              <a:rPr lang="en-US" sz="2800" b="1" dirty="0">
                <a:solidFill>
                  <a:schemeClr val="accent4"/>
                </a:solidFill>
                <a:latin typeface="Cambria" pitchFamily="34" charset="0"/>
                <a:ea typeface="Cambria" pitchFamily="34" charset="-122"/>
                <a:cs typeface="Cambria" pitchFamily="34" charset="-120"/>
              </a:rPr>
              <a:t>F</a:t>
            </a:r>
            <a:r>
              <a:rPr lang="en-US" sz="2800" b="1" baseline="-40000" dirty="0">
                <a:solidFill>
                  <a:schemeClr val="accent4"/>
                </a:solidFill>
                <a:latin typeface="Cambria" pitchFamily="34" charset="0"/>
                <a:ea typeface="Cambria" pitchFamily="34" charset="-122"/>
                <a:cs typeface="Cambria" pitchFamily="34" charset="-120"/>
              </a:rPr>
              <a:t>q</a:t>
            </a:r>
            <a:r>
              <a:rPr lang="en-US" sz="2800" b="1" dirty="0">
                <a:solidFill>
                  <a:schemeClr val="accent4"/>
                </a:solidFill>
                <a:latin typeface="Cambria" pitchFamily="34" charset="0"/>
                <a:ea typeface="Cambria" pitchFamily="34" charset="-122"/>
                <a:cs typeface="Cambria" pitchFamily="34" charset="-120"/>
              </a:rPr>
              <a:t>′</a:t>
            </a:r>
            <a:endParaRPr lang="en-US" sz="2800" dirty="0"/>
          </a:p>
        </p:txBody>
      </p:sp>
      <p:sp>
        <p:nvSpPr>
          <p:cNvPr id="42" name="tag"/>
          <p:cNvSpPr/>
          <p:nvPr/>
        </p:nvSpPr>
        <p:spPr>
          <a:xfrm>
            <a:off x="7918704" y="3950208"/>
            <a:ext cx="731520" cy="292608"/>
          </a:xfrm>
          <a:prstGeom prst="roundRect">
            <a:avLst>
              <a:gd name="adj" fmla="val 50000"/>
            </a:avLst>
          </a:prstGeom>
          <a:solidFill>
            <a:schemeClr val="accent3"/>
          </a:solidFill>
          <a:ln/>
        </p:spPr>
      </p:sp>
      <p:sp>
        <p:nvSpPr>
          <p:cNvPr id="43" name="Text 40"/>
          <p:cNvSpPr txBox="1"/>
          <p:nvPr/>
        </p:nvSpPr>
        <p:spPr>
          <a:xfrm>
            <a:off x="7918704" y="3950208"/>
            <a:ext cx="731520" cy="292608"/>
          </a:xfrm>
          <a:prstGeom prst="rect">
            <a:avLst/>
          </a:prstGeom>
          <a:noFill/>
          <a:ln/>
        </p:spPr>
        <p:txBody>
          <a:bodyPr wrap="square" lIns="0" tIns="0" rIns="0" bIns="0" rtlCol="0" anchor="ctr"/>
          <a:lstStyle/>
          <a:p>
            <a:pPr marL="0" indent="0" algn="ctr">
              <a:buNone/>
            </a:pPr>
            <a:r>
              <a:rPr lang="en-US" sz="1100" b="1" dirty="0">
                <a:solidFill>
                  <a:schemeClr val="bg1"/>
                </a:solidFill>
              </a:rPr>
              <a:t>LIGHT</a:t>
            </a:r>
            <a:endParaRPr lang="en-US" sz="1100" dirty="0"/>
          </a:p>
        </p:txBody>
      </p:sp>
      <p:sp>
        <p:nvSpPr>
          <p:cNvPr id="44" name="Text 41"/>
          <p:cNvSpPr txBox="1"/>
          <p:nvPr/>
        </p:nvSpPr>
        <p:spPr>
          <a:xfrm>
            <a:off x="6364224" y="4526280"/>
            <a:ext cx="2286000" cy="594360"/>
          </a:xfrm>
          <a:prstGeom prst="rect">
            <a:avLst/>
          </a:prstGeom>
          <a:noFill/>
          <a:ln/>
        </p:spPr>
        <p:txBody>
          <a:bodyPr wrap="square" lIns="0" tIns="0" rIns="0" bIns="0" rtlCol="0" anchor="t"/>
          <a:lstStyle/>
          <a:p>
            <a:pPr marL="0" indent="0">
              <a:buNone/>
            </a:pPr>
            <a:r>
              <a:rPr lang="en-US" sz="1400" b="1" dirty="0">
                <a:solidFill>
                  <a:schemeClr val="tx1"/>
                </a:solidFill>
              </a:rPr>
              <a:t>Photochemical quenching by open centres</a:t>
            </a:r>
            <a:endParaRPr lang="en-US" sz="1400" dirty="0"/>
          </a:p>
        </p:txBody>
      </p:sp>
      <p:sp>
        <p:nvSpPr>
          <p:cNvPr id="45" name="Text 42"/>
          <p:cNvSpPr txBox="1"/>
          <p:nvPr/>
        </p:nvSpPr>
        <p:spPr>
          <a:xfrm>
            <a:off x="6364224" y="5120640"/>
            <a:ext cx="2286000" cy="731520"/>
          </a:xfrm>
          <a:prstGeom prst="rect">
            <a:avLst/>
          </a:prstGeom>
          <a:noFill/>
          <a:ln/>
        </p:spPr>
        <p:txBody>
          <a:bodyPr wrap="square" lIns="0" tIns="0" rIns="0" bIns="0" rtlCol="0" anchor="t"/>
          <a:lstStyle/>
          <a:p>
            <a:pPr marL="0" indent="0">
              <a:buNone/>
            </a:pPr>
            <a:r>
              <a:rPr lang="en-US" sz="1300" dirty="0">
                <a:solidFill>
                  <a:schemeClr val="tx1"/>
                </a:solidFill>
              </a:rPr>
              <a:t>F</a:t>
            </a:r>
            <a:r>
              <a:rPr lang="en-US" sz="1300" baseline="-40000" dirty="0">
                <a:solidFill>
                  <a:schemeClr val="tx1"/>
                </a:solidFill>
              </a:rPr>
              <a:t>q</a:t>
            </a:r>
            <a:r>
              <a:rPr lang="en-US" sz="1300" dirty="0">
                <a:solidFill>
                  <a:schemeClr val="tx1"/>
                </a:solidFill>
              </a:rPr>
              <a:t>′ = F</a:t>
            </a:r>
            <a:r>
              <a:rPr lang="en-US" sz="1300" baseline="-40000" dirty="0">
                <a:solidFill>
                  <a:schemeClr val="tx1"/>
                </a:solidFill>
              </a:rPr>
              <a:t>m</a:t>
            </a:r>
            <a:r>
              <a:rPr lang="en-US" sz="1300" dirty="0">
                <a:solidFill>
                  <a:schemeClr val="tx1"/>
                </a:solidFill>
              </a:rPr>
              <a:t>′ − F′</a:t>
            </a:r>
            <a:endParaRPr lang="en-US" sz="1300" dirty="0"/>
          </a:p>
        </p:txBody>
      </p:sp>
      <p:sp>
        <p:nvSpPr>
          <p:cNvPr id="46" name="card"/>
          <p:cNvSpPr/>
          <p:nvPr/>
        </p:nvSpPr>
        <p:spPr>
          <a:xfrm>
            <a:off x="8997696" y="3749040"/>
            <a:ext cx="2651760" cy="2194560"/>
          </a:xfrm>
          <a:prstGeom prst="roundRect">
            <a:avLst>
              <a:gd name="adj" fmla="val 3333"/>
            </a:avLst>
          </a:prstGeom>
          <a:solidFill>
            <a:schemeClr val="bg2"/>
          </a:solidFill>
          <a:ln/>
          <a:effectLst>
            <a:outerShdw blurRad="76200" dist="25400" dir="5400000" algn="bl" rotWithShape="0">
              <a:srgbClr val="000000">
                <a:alpha val="14000"/>
              </a:srgbClr>
            </a:outerShdw>
          </a:effectLst>
        </p:spPr>
      </p:sp>
      <p:sp>
        <p:nvSpPr>
          <p:cNvPr id="47" name="Text 44"/>
          <p:cNvSpPr txBox="1"/>
          <p:nvPr/>
        </p:nvSpPr>
        <p:spPr>
          <a:xfrm>
            <a:off x="9180576" y="3886200"/>
            <a:ext cx="2286000" cy="594360"/>
          </a:xfrm>
          <a:prstGeom prst="rect">
            <a:avLst/>
          </a:prstGeom>
          <a:noFill/>
          <a:ln/>
        </p:spPr>
        <p:txBody>
          <a:bodyPr wrap="square" lIns="0" tIns="0" rIns="0" bIns="0" rtlCol="0" anchor="ctr"/>
          <a:lstStyle/>
          <a:p>
            <a:pPr marL="0" indent="0">
              <a:buNone/>
            </a:pPr>
            <a:r>
              <a:rPr lang="en-US" sz="2800" b="1" dirty="0">
                <a:solidFill>
                  <a:schemeClr val="accent4"/>
                </a:solidFill>
                <a:latin typeface="Cambria" pitchFamily="34" charset="0"/>
                <a:ea typeface="Cambria" pitchFamily="34" charset="-122"/>
                <a:cs typeface="Cambria" pitchFamily="34" charset="-120"/>
              </a:rPr>
              <a:t>F</a:t>
            </a:r>
            <a:r>
              <a:rPr lang="en-US" sz="2800" b="1" baseline="-40000" dirty="0">
                <a:solidFill>
                  <a:schemeClr val="accent4"/>
                </a:solidFill>
                <a:latin typeface="Cambria" pitchFamily="34" charset="0"/>
                <a:ea typeface="Cambria" pitchFamily="34" charset="-122"/>
                <a:cs typeface="Cambria" pitchFamily="34" charset="-120"/>
              </a:rPr>
              <a:t>v</a:t>
            </a:r>
            <a:r>
              <a:rPr lang="en-US" sz="2800" b="1" dirty="0">
                <a:solidFill>
                  <a:schemeClr val="accent4"/>
                </a:solidFill>
                <a:latin typeface="Cambria" pitchFamily="34" charset="0"/>
                <a:ea typeface="Cambria" pitchFamily="34" charset="-122"/>
                <a:cs typeface="Cambria" pitchFamily="34" charset="-120"/>
              </a:rPr>
              <a:t>′</a:t>
            </a:r>
            <a:endParaRPr lang="en-US" sz="2800" dirty="0"/>
          </a:p>
        </p:txBody>
      </p:sp>
      <p:sp>
        <p:nvSpPr>
          <p:cNvPr id="48" name="tag"/>
          <p:cNvSpPr/>
          <p:nvPr/>
        </p:nvSpPr>
        <p:spPr>
          <a:xfrm>
            <a:off x="10735056" y="3950208"/>
            <a:ext cx="731520" cy="292608"/>
          </a:xfrm>
          <a:prstGeom prst="roundRect">
            <a:avLst>
              <a:gd name="adj" fmla="val 50000"/>
            </a:avLst>
          </a:prstGeom>
          <a:solidFill>
            <a:schemeClr val="accent3"/>
          </a:solidFill>
          <a:ln/>
        </p:spPr>
      </p:sp>
      <p:sp>
        <p:nvSpPr>
          <p:cNvPr id="49" name="Text 46"/>
          <p:cNvSpPr txBox="1"/>
          <p:nvPr/>
        </p:nvSpPr>
        <p:spPr>
          <a:xfrm>
            <a:off x="10735056" y="3950208"/>
            <a:ext cx="731520" cy="292608"/>
          </a:xfrm>
          <a:prstGeom prst="rect">
            <a:avLst/>
          </a:prstGeom>
          <a:noFill/>
          <a:ln/>
        </p:spPr>
        <p:txBody>
          <a:bodyPr wrap="square" lIns="0" tIns="0" rIns="0" bIns="0" rtlCol="0" anchor="ctr"/>
          <a:lstStyle/>
          <a:p>
            <a:pPr marL="0" indent="0" algn="ctr">
              <a:buNone/>
            </a:pPr>
            <a:r>
              <a:rPr lang="en-US" sz="1100" b="1" dirty="0">
                <a:solidFill>
                  <a:schemeClr val="bg1"/>
                </a:solidFill>
              </a:rPr>
              <a:t>LIGHT</a:t>
            </a:r>
            <a:endParaRPr lang="en-US" sz="1100" dirty="0"/>
          </a:p>
        </p:txBody>
      </p:sp>
      <p:sp>
        <p:nvSpPr>
          <p:cNvPr id="50" name="Text 47"/>
          <p:cNvSpPr txBox="1"/>
          <p:nvPr/>
        </p:nvSpPr>
        <p:spPr>
          <a:xfrm>
            <a:off x="9180576" y="4526280"/>
            <a:ext cx="2286000" cy="594360"/>
          </a:xfrm>
          <a:prstGeom prst="rect">
            <a:avLst/>
          </a:prstGeom>
          <a:noFill/>
          <a:ln/>
        </p:spPr>
        <p:txBody>
          <a:bodyPr wrap="square" lIns="0" tIns="0" rIns="0" bIns="0" rtlCol="0" anchor="t"/>
          <a:lstStyle/>
          <a:p>
            <a:pPr marL="0" indent="0">
              <a:buNone/>
            </a:pPr>
            <a:r>
              <a:rPr lang="en-US" sz="1400" b="1" dirty="0">
                <a:solidFill>
                  <a:schemeClr val="tx1"/>
                </a:solidFill>
              </a:rPr>
              <a:t>Variable fluorescence in light</a:t>
            </a:r>
            <a:endParaRPr lang="en-US" sz="1400" dirty="0"/>
          </a:p>
        </p:txBody>
      </p:sp>
      <p:sp>
        <p:nvSpPr>
          <p:cNvPr id="51" name="Text 48"/>
          <p:cNvSpPr txBox="1"/>
          <p:nvPr/>
        </p:nvSpPr>
        <p:spPr>
          <a:xfrm>
            <a:off x="9180576" y="5120640"/>
            <a:ext cx="2286000" cy="731520"/>
          </a:xfrm>
          <a:prstGeom prst="rect">
            <a:avLst/>
          </a:prstGeom>
          <a:noFill/>
          <a:ln/>
        </p:spPr>
        <p:txBody>
          <a:bodyPr wrap="square" lIns="0" tIns="0" rIns="0" bIns="0" rtlCol="0" anchor="t"/>
          <a:lstStyle/>
          <a:p>
            <a:pPr marL="0" indent="0">
              <a:buNone/>
            </a:pPr>
            <a:r>
              <a:rPr lang="en-US" sz="1300" dirty="0">
                <a:solidFill>
                  <a:schemeClr val="tx1"/>
                </a:solidFill>
              </a:rPr>
              <a:t>F</a:t>
            </a:r>
            <a:r>
              <a:rPr lang="en-US" sz="1300" baseline="-40000" dirty="0">
                <a:solidFill>
                  <a:schemeClr val="tx1"/>
                </a:solidFill>
              </a:rPr>
              <a:t>v</a:t>
            </a:r>
            <a:r>
              <a:rPr lang="en-US" sz="1300" dirty="0">
                <a:solidFill>
                  <a:schemeClr val="tx1"/>
                </a:solidFill>
              </a:rPr>
              <a:t>′ = F</a:t>
            </a:r>
            <a:r>
              <a:rPr lang="en-US" sz="1300" baseline="-40000" dirty="0">
                <a:solidFill>
                  <a:schemeClr val="tx1"/>
                </a:solidFill>
              </a:rPr>
              <a:t>m</a:t>
            </a:r>
            <a:r>
              <a:rPr lang="en-US" sz="1300" dirty="0">
                <a:solidFill>
                  <a:schemeClr val="tx1"/>
                </a:solidFill>
              </a:rPr>
              <a:t>′ − F</a:t>
            </a:r>
            <a:r>
              <a:rPr lang="en-US" sz="1300" baseline="-40000" dirty="0">
                <a:solidFill>
                  <a:schemeClr val="tx1"/>
                </a:solidFill>
              </a:rPr>
              <a:t>o</a:t>
            </a:r>
            <a:r>
              <a:rPr lang="en-US" sz="1300" dirty="0">
                <a:solidFill>
                  <a:schemeClr val="tx1"/>
                </a:solidFill>
              </a:rPr>
              <a:t>′</a:t>
            </a:r>
            <a:endParaRPr lang="en-US" sz="13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F</a:t>
            </a:r>
            <a:r>
              <a:rPr lang="en-US" sz="3200" b="1" baseline="-40000" dirty="0">
                <a:solidFill>
                  <a:schemeClr val="tx2"/>
                </a:solidFill>
              </a:rPr>
              <a:t>v</a:t>
            </a:r>
            <a:r>
              <a:rPr lang="en-US" sz="3200" b="1" dirty="0">
                <a:solidFill>
                  <a:schemeClr val="tx2"/>
                </a:solidFill>
              </a:rPr>
              <a:t>/F</a:t>
            </a:r>
            <a:r>
              <a:rPr lang="en-US" sz="3200" b="1" baseline="-40000" dirty="0">
                <a:solidFill>
                  <a:schemeClr val="tx2"/>
                </a:solidFill>
              </a:rPr>
              <a:t>m</a:t>
            </a:r>
            <a:r>
              <a:rPr lang="en-US" sz="3200" b="1" dirty="0">
                <a:solidFill>
                  <a:schemeClr val="tx2"/>
                </a:solidFill>
              </a:rPr>
              <a:t>: maximum quantum efficiency of PSII</a:t>
            </a:r>
            <a:endParaRPr lang="en-US" sz="3200" dirty="0"/>
          </a:p>
        </p:txBody>
      </p:sp>
      <p:sp>
        <p:nvSpPr>
          <p:cNvPr id="4" name="card"/>
          <p:cNvSpPr/>
          <p:nvPr/>
        </p:nvSpPr>
        <p:spPr>
          <a:xfrm>
            <a:off x="548640" y="1325880"/>
            <a:ext cx="3931920" cy="2743200"/>
          </a:xfrm>
          <a:prstGeom prst="roundRect">
            <a:avLst>
              <a:gd name="adj" fmla="val 2667"/>
            </a:avLst>
          </a:prstGeom>
          <a:solidFill>
            <a:schemeClr val="tx2"/>
          </a:solidFill>
          <a:ln/>
          <a:effectLst>
            <a:outerShdw blurRad="76200" dist="25400" dir="5400000" algn="bl" rotWithShape="0">
              <a:srgbClr val="000000">
                <a:alpha val="14000"/>
              </a:srgbClr>
            </a:outerShdw>
          </a:effectLst>
        </p:spPr>
      </p:sp>
      <p:sp>
        <p:nvSpPr>
          <p:cNvPr id="5" name="Text 2"/>
          <p:cNvSpPr txBox="1"/>
          <p:nvPr/>
        </p:nvSpPr>
        <p:spPr>
          <a:xfrm>
            <a:off x="548640" y="1463040"/>
            <a:ext cx="3931920" cy="1188720"/>
          </a:xfrm>
          <a:prstGeom prst="rect">
            <a:avLst/>
          </a:prstGeom>
          <a:noFill/>
          <a:ln/>
        </p:spPr>
        <p:txBody>
          <a:bodyPr wrap="square" lIns="0" tIns="0" rIns="0" bIns="0" rtlCol="0" anchor="ctr"/>
          <a:lstStyle/>
          <a:p>
            <a:pPr marL="0" indent="0" algn="ctr">
              <a:buNone/>
            </a:pPr>
            <a:r>
              <a:rPr lang="en-US" sz="6600" b="1" dirty="0">
                <a:solidFill>
                  <a:schemeClr val="bg1"/>
                </a:solidFill>
              </a:rPr>
              <a:t>~0.83</a:t>
            </a:r>
            <a:endParaRPr lang="en-US" sz="6600" dirty="0"/>
          </a:p>
        </p:txBody>
      </p:sp>
      <p:sp>
        <p:nvSpPr>
          <p:cNvPr id="6" name="Text 3"/>
          <p:cNvSpPr txBox="1"/>
          <p:nvPr/>
        </p:nvSpPr>
        <p:spPr>
          <a:xfrm>
            <a:off x="731520" y="2697480"/>
            <a:ext cx="3566160" cy="411480"/>
          </a:xfrm>
          <a:prstGeom prst="rect">
            <a:avLst/>
          </a:prstGeom>
          <a:noFill/>
          <a:ln/>
        </p:spPr>
        <p:txBody>
          <a:bodyPr wrap="square" lIns="0" tIns="0" rIns="0" bIns="0" rtlCol="0" anchor="ctr"/>
          <a:lstStyle/>
          <a:p>
            <a:pPr marL="0" indent="0" algn="ctr">
              <a:buNone/>
            </a:pPr>
            <a:r>
              <a:rPr lang="en-US" sz="1400" dirty="0">
                <a:solidFill>
                  <a:schemeClr val="bg2"/>
                </a:solidFill>
              </a:rPr>
              <a:t>typical F</a:t>
            </a:r>
            <a:r>
              <a:rPr lang="en-US" sz="1400" baseline="-40000" dirty="0">
                <a:solidFill>
                  <a:schemeClr val="bg2"/>
                </a:solidFill>
              </a:rPr>
              <a:t>v</a:t>
            </a:r>
            <a:r>
              <a:rPr lang="en-US" sz="1400" dirty="0">
                <a:solidFill>
                  <a:schemeClr val="bg2"/>
                </a:solidFill>
              </a:rPr>
              <a:t>/F</a:t>
            </a:r>
            <a:r>
              <a:rPr lang="en-US" sz="1400" baseline="-40000" dirty="0">
                <a:solidFill>
                  <a:schemeClr val="bg2"/>
                </a:solidFill>
              </a:rPr>
              <a:t>m</a:t>
            </a:r>
            <a:r>
              <a:rPr lang="en-US" sz="1400" dirty="0">
                <a:solidFill>
                  <a:schemeClr val="bg2"/>
                </a:solidFill>
              </a:rPr>
              <a:t> of an unstressed leaf</a:t>
            </a:r>
            <a:endParaRPr lang="en-US" sz="1400" dirty="0"/>
          </a:p>
        </p:txBody>
      </p:sp>
      <p:sp>
        <p:nvSpPr>
          <p:cNvPr id="7" name="Text 4"/>
          <p:cNvSpPr txBox="1"/>
          <p:nvPr/>
        </p:nvSpPr>
        <p:spPr>
          <a:xfrm>
            <a:off x="731520" y="3246120"/>
            <a:ext cx="3566160" cy="548640"/>
          </a:xfrm>
          <a:prstGeom prst="rect">
            <a:avLst/>
          </a:prstGeom>
          <a:noFill/>
          <a:ln/>
        </p:spPr>
        <p:txBody>
          <a:bodyPr wrap="square" lIns="0" tIns="0" rIns="0" bIns="0" rtlCol="0" anchor="ctr"/>
          <a:lstStyle/>
          <a:p>
            <a:pPr marL="0" indent="0" algn="ctr">
              <a:buNone/>
            </a:pPr>
            <a:r>
              <a:rPr lang="en-US" sz="2000" b="1" dirty="0">
                <a:solidFill>
                  <a:schemeClr val="accent3"/>
                </a:solidFill>
              </a:rPr>
              <a:t>F</a:t>
            </a:r>
            <a:r>
              <a:rPr lang="en-US" sz="2000" b="1" baseline="-40000" dirty="0">
                <a:solidFill>
                  <a:schemeClr val="accent3"/>
                </a:solidFill>
              </a:rPr>
              <a:t>v</a:t>
            </a:r>
            <a:r>
              <a:rPr lang="en-US" sz="2000" b="1" dirty="0">
                <a:solidFill>
                  <a:schemeClr val="accent3"/>
                </a:solidFill>
              </a:rPr>
              <a:t>/F</a:t>
            </a:r>
            <a:r>
              <a:rPr lang="en-US" sz="2000" b="1" baseline="-40000" dirty="0">
                <a:solidFill>
                  <a:schemeClr val="accent3"/>
                </a:solidFill>
              </a:rPr>
              <a:t>m</a:t>
            </a:r>
            <a:r>
              <a:rPr lang="en-US" sz="2000" b="1" dirty="0">
                <a:solidFill>
                  <a:schemeClr val="accent3"/>
                </a:solidFill>
              </a:rPr>
              <a:t> = (F</a:t>
            </a:r>
            <a:r>
              <a:rPr lang="en-US" sz="2000" b="1" baseline="-40000" dirty="0">
                <a:solidFill>
                  <a:schemeClr val="accent3"/>
                </a:solidFill>
              </a:rPr>
              <a:t>m</a:t>
            </a:r>
            <a:r>
              <a:rPr lang="en-US" sz="2000" b="1" dirty="0">
                <a:solidFill>
                  <a:schemeClr val="accent3"/>
                </a:solidFill>
              </a:rPr>
              <a:t> − F</a:t>
            </a:r>
            <a:r>
              <a:rPr lang="en-US" sz="2000" b="1" baseline="-40000" dirty="0">
                <a:solidFill>
                  <a:schemeClr val="accent3"/>
                </a:solidFill>
              </a:rPr>
              <a:t>o</a:t>
            </a:r>
            <a:r>
              <a:rPr lang="en-US" sz="2000" b="1" dirty="0">
                <a:solidFill>
                  <a:schemeClr val="accent3"/>
                </a:solidFill>
              </a:rPr>
              <a:t>) / F</a:t>
            </a:r>
            <a:r>
              <a:rPr lang="en-US" sz="2000" b="1" baseline="-40000" dirty="0">
                <a:solidFill>
                  <a:schemeClr val="accent3"/>
                </a:solidFill>
              </a:rPr>
              <a:t>m</a:t>
            </a:r>
            <a:endParaRPr lang="en-US" sz="2000" dirty="0"/>
          </a:p>
        </p:txBody>
      </p:sp>
      <p:sp>
        <p:nvSpPr>
          <p:cNvPr id="8" name="Text 5"/>
          <p:cNvSpPr txBox="1"/>
          <p:nvPr/>
        </p:nvSpPr>
        <p:spPr>
          <a:xfrm>
            <a:off x="4846320" y="1280160"/>
            <a:ext cx="6766560" cy="274320"/>
          </a:xfrm>
          <a:prstGeom prst="rect">
            <a:avLst/>
          </a:prstGeom>
          <a:noFill/>
          <a:ln/>
        </p:spPr>
        <p:txBody>
          <a:bodyPr wrap="square" lIns="0" tIns="0" rIns="0" bIns="0" rtlCol="0" anchor="ctr"/>
          <a:lstStyle/>
          <a:p>
            <a:pPr marL="0" indent="0" algn="l">
              <a:buNone/>
            </a:pPr>
            <a:r>
              <a:rPr lang="en-US" sz="1400" b="1" dirty="0">
                <a:solidFill>
                  <a:schemeClr val="tx2"/>
                </a:solidFill>
              </a:rPr>
              <a:t>Reading the value (dark-adapted leaf)</a:t>
            </a:r>
            <a:endParaRPr lang="en-US" sz="1400" dirty="0"/>
          </a:p>
        </p:txBody>
      </p:sp>
      <p:sp>
        <p:nvSpPr>
          <p:cNvPr id="9" name="gauge segment"/>
          <p:cNvSpPr/>
          <p:nvPr/>
        </p:nvSpPr>
        <p:spPr>
          <a:xfrm>
            <a:off x="4846320" y="1874520"/>
            <a:ext cx="1933303" cy="411480"/>
          </a:xfrm>
          <a:prstGeom prst="rect">
            <a:avLst/>
          </a:prstGeom>
          <a:solidFill>
            <a:schemeClr val="accent2"/>
          </a:solidFill>
          <a:ln w="12700">
            <a:solidFill>
              <a:srgbClr val="FFFFFF"/>
            </a:solidFill>
            <a:prstDash val="solid"/>
          </a:ln>
        </p:spPr>
      </p:sp>
      <p:sp>
        <p:nvSpPr>
          <p:cNvPr id="10" name="Text 7"/>
          <p:cNvSpPr txBox="1"/>
          <p:nvPr/>
        </p:nvSpPr>
        <p:spPr>
          <a:xfrm>
            <a:off x="4892040" y="2331720"/>
            <a:ext cx="1841863" cy="457200"/>
          </a:xfrm>
          <a:prstGeom prst="rect">
            <a:avLst/>
          </a:prstGeom>
          <a:noFill/>
          <a:ln/>
        </p:spPr>
        <p:txBody>
          <a:bodyPr wrap="square" lIns="0" tIns="0" rIns="0" bIns="0" rtlCol="0" anchor="t"/>
          <a:lstStyle/>
          <a:p>
            <a:pPr marL="0" indent="0" algn="l">
              <a:buNone/>
            </a:pPr>
            <a:r>
              <a:rPr lang="en-US" sz="1100" dirty="0">
                <a:solidFill>
                  <a:schemeClr val="tx1"/>
                </a:solidFill>
              </a:rPr>
              <a:t>&lt; 0.6: severe PSII damage</a:t>
            </a:r>
            <a:endParaRPr lang="en-US" sz="1100" dirty="0"/>
          </a:p>
        </p:txBody>
      </p:sp>
      <p:sp>
        <p:nvSpPr>
          <p:cNvPr id="11" name="gauge segment"/>
          <p:cNvSpPr/>
          <p:nvPr/>
        </p:nvSpPr>
        <p:spPr>
          <a:xfrm>
            <a:off x="6779623" y="1874520"/>
            <a:ext cx="3479945" cy="411480"/>
          </a:xfrm>
          <a:prstGeom prst="rect">
            <a:avLst/>
          </a:prstGeom>
          <a:solidFill>
            <a:schemeClr val="accent3"/>
          </a:solidFill>
          <a:ln w="12700">
            <a:solidFill>
              <a:srgbClr val="FFFFFF"/>
            </a:solidFill>
            <a:prstDash val="solid"/>
          </a:ln>
        </p:spPr>
      </p:sp>
      <p:sp>
        <p:nvSpPr>
          <p:cNvPr id="12" name="Text 9"/>
          <p:cNvSpPr txBox="1"/>
          <p:nvPr/>
        </p:nvSpPr>
        <p:spPr>
          <a:xfrm>
            <a:off x="6825343" y="2331720"/>
            <a:ext cx="3388505" cy="457200"/>
          </a:xfrm>
          <a:prstGeom prst="rect">
            <a:avLst/>
          </a:prstGeom>
          <a:noFill/>
          <a:ln/>
        </p:spPr>
        <p:txBody>
          <a:bodyPr wrap="square" lIns="0" tIns="0" rIns="0" bIns="0" rtlCol="0" anchor="t"/>
          <a:lstStyle/>
          <a:p>
            <a:pPr marL="0" indent="0" algn="l">
              <a:buNone/>
            </a:pPr>
            <a:r>
              <a:rPr lang="en-US" sz="1100" dirty="0">
                <a:solidFill>
                  <a:schemeClr val="tx1"/>
                </a:solidFill>
              </a:rPr>
              <a:t>0.6–0.78: photoinhibition / sustained quenching</a:t>
            </a:r>
            <a:endParaRPr lang="en-US" sz="1100" dirty="0"/>
          </a:p>
        </p:txBody>
      </p:sp>
      <p:sp>
        <p:nvSpPr>
          <p:cNvPr id="13" name="gauge segment"/>
          <p:cNvSpPr/>
          <p:nvPr/>
        </p:nvSpPr>
        <p:spPr>
          <a:xfrm>
            <a:off x="10259568" y="1874520"/>
            <a:ext cx="1353312" cy="411480"/>
          </a:xfrm>
          <a:prstGeom prst="rect">
            <a:avLst/>
          </a:prstGeom>
          <a:solidFill>
            <a:schemeClr val="accent1"/>
          </a:solidFill>
          <a:ln w="12700">
            <a:solidFill>
              <a:srgbClr val="FFFFFF"/>
            </a:solidFill>
            <a:prstDash val="solid"/>
          </a:ln>
        </p:spPr>
      </p:sp>
      <p:sp>
        <p:nvSpPr>
          <p:cNvPr id="14" name="Text 11"/>
          <p:cNvSpPr txBox="1"/>
          <p:nvPr/>
        </p:nvSpPr>
        <p:spPr>
          <a:xfrm>
            <a:off x="10305288" y="2331720"/>
            <a:ext cx="1261872" cy="457200"/>
          </a:xfrm>
          <a:prstGeom prst="rect">
            <a:avLst/>
          </a:prstGeom>
          <a:noFill/>
          <a:ln/>
        </p:spPr>
        <p:txBody>
          <a:bodyPr wrap="square" lIns="0" tIns="0" rIns="0" bIns="0" rtlCol="0" anchor="t"/>
          <a:lstStyle/>
          <a:p>
            <a:pPr marL="0" indent="0" algn="l">
              <a:buNone/>
            </a:pPr>
            <a:r>
              <a:rPr lang="en-US" sz="1100" dirty="0">
                <a:solidFill>
                  <a:schemeClr val="tx1"/>
                </a:solidFill>
              </a:rPr>
              <a:t>≈ 0.8–0.83: healthy</a:t>
            </a:r>
            <a:endParaRPr lang="en-US" sz="1100" dirty="0"/>
          </a:p>
        </p:txBody>
      </p:sp>
      <p:sp>
        <p:nvSpPr>
          <p:cNvPr id="15" name="Text 12"/>
          <p:cNvSpPr txBox="1"/>
          <p:nvPr/>
        </p:nvSpPr>
        <p:spPr>
          <a:xfrm>
            <a:off x="4617720" y="1600200"/>
            <a:ext cx="457200" cy="256032"/>
          </a:xfrm>
          <a:prstGeom prst="rect">
            <a:avLst/>
          </a:prstGeom>
          <a:noFill/>
          <a:ln/>
        </p:spPr>
        <p:txBody>
          <a:bodyPr wrap="square" lIns="0" tIns="0" rIns="0" bIns="0" rtlCol="0" anchor="ctr"/>
          <a:lstStyle/>
          <a:p>
            <a:pPr marL="0" indent="0" algn="ctr">
              <a:buNone/>
            </a:pPr>
            <a:r>
              <a:rPr lang="en-US" sz="1000" dirty="0">
                <a:solidFill>
                  <a:schemeClr val="accent6"/>
                </a:solidFill>
              </a:rPr>
              <a:t>0.5</a:t>
            </a:r>
            <a:endParaRPr lang="en-US" sz="1000" dirty="0"/>
          </a:p>
        </p:txBody>
      </p:sp>
      <p:sp>
        <p:nvSpPr>
          <p:cNvPr id="16" name="Text 13"/>
          <p:cNvSpPr txBox="1"/>
          <p:nvPr/>
        </p:nvSpPr>
        <p:spPr>
          <a:xfrm>
            <a:off x="6551023" y="1600200"/>
            <a:ext cx="457200" cy="256032"/>
          </a:xfrm>
          <a:prstGeom prst="rect">
            <a:avLst/>
          </a:prstGeom>
          <a:noFill/>
          <a:ln/>
        </p:spPr>
        <p:txBody>
          <a:bodyPr wrap="square" lIns="0" tIns="0" rIns="0" bIns="0" rtlCol="0" anchor="ctr"/>
          <a:lstStyle/>
          <a:p>
            <a:pPr marL="0" indent="0" algn="ctr">
              <a:buNone/>
            </a:pPr>
            <a:r>
              <a:rPr lang="en-US" sz="1000" dirty="0">
                <a:solidFill>
                  <a:schemeClr val="accent6"/>
                </a:solidFill>
              </a:rPr>
              <a:t>0.6</a:t>
            </a:r>
            <a:endParaRPr lang="en-US" sz="1000" dirty="0"/>
          </a:p>
        </p:txBody>
      </p:sp>
      <p:sp>
        <p:nvSpPr>
          <p:cNvPr id="17" name="Text 14"/>
          <p:cNvSpPr txBox="1"/>
          <p:nvPr/>
        </p:nvSpPr>
        <p:spPr>
          <a:xfrm>
            <a:off x="8484326" y="1600200"/>
            <a:ext cx="457200" cy="256032"/>
          </a:xfrm>
          <a:prstGeom prst="rect">
            <a:avLst/>
          </a:prstGeom>
          <a:noFill/>
          <a:ln/>
        </p:spPr>
        <p:txBody>
          <a:bodyPr wrap="square" lIns="0" tIns="0" rIns="0" bIns="0" rtlCol="0" anchor="ctr"/>
          <a:lstStyle/>
          <a:p>
            <a:pPr marL="0" indent="0" algn="ctr">
              <a:buNone/>
            </a:pPr>
            <a:r>
              <a:rPr lang="en-US" sz="1000" dirty="0">
                <a:solidFill>
                  <a:schemeClr val="accent6"/>
                </a:solidFill>
              </a:rPr>
              <a:t>0.7</a:t>
            </a:r>
            <a:endParaRPr lang="en-US" sz="1000" dirty="0"/>
          </a:p>
        </p:txBody>
      </p:sp>
      <p:sp>
        <p:nvSpPr>
          <p:cNvPr id="18" name="Text 15"/>
          <p:cNvSpPr txBox="1"/>
          <p:nvPr/>
        </p:nvSpPr>
        <p:spPr>
          <a:xfrm>
            <a:off x="10417629" y="1600200"/>
            <a:ext cx="457200" cy="256032"/>
          </a:xfrm>
          <a:prstGeom prst="rect">
            <a:avLst/>
          </a:prstGeom>
          <a:noFill/>
          <a:ln/>
        </p:spPr>
        <p:txBody>
          <a:bodyPr wrap="square" lIns="0" tIns="0" rIns="0" bIns="0" rtlCol="0" anchor="ctr"/>
          <a:lstStyle/>
          <a:p>
            <a:pPr marL="0" indent="0" algn="ctr">
              <a:buNone/>
            </a:pPr>
            <a:r>
              <a:rPr lang="en-US" sz="1000" dirty="0">
                <a:solidFill>
                  <a:schemeClr val="accent6"/>
                </a:solidFill>
              </a:rPr>
              <a:t>0.8</a:t>
            </a:r>
            <a:endParaRPr lang="en-US" sz="1000" dirty="0"/>
          </a:p>
        </p:txBody>
      </p:sp>
      <p:sp>
        <p:nvSpPr>
          <p:cNvPr id="19" name="Text 16"/>
          <p:cNvSpPr txBox="1"/>
          <p:nvPr/>
        </p:nvSpPr>
        <p:spPr>
          <a:xfrm>
            <a:off x="4846320" y="2816352"/>
            <a:ext cx="6766560" cy="274320"/>
          </a:xfrm>
          <a:prstGeom prst="rect">
            <a:avLst/>
          </a:prstGeom>
          <a:noFill/>
          <a:ln/>
        </p:spPr>
        <p:txBody>
          <a:bodyPr wrap="square" lIns="508" tIns="508" rIns="508" bIns="508" rtlCol="0" anchor="t"/>
          <a:lstStyle/>
          <a:p>
            <a:pPr marL="0" indent="0">
              <a:spcAft>
                <a:spcPts val="600"/>
              </a:spcAft>
              <a:buNone/>
            </a:pPr>
            <a:r>
              <a:rPr lang="en-US" sz="1100" i="1" dirty="0">
                <a:solidFill>
                  <a:schemeClr val="accent6"/>
                </a:solidFill>
              </a:rPr>
              <a:t>Scale starts at 0.5. Zone limits are approximate; compare with non-stressed controls of the same species.</a:t>
            </a:r>
            <a:endParaRPr lang="en-US" sz="1100" dirty="0"/>
          </a:p>
        </p:txBody>
      </p:sp>
      <p:sp>
        <p:nvSpPr>
          <p:cNvPr id="20" name="card"/>
          <p:cNvSpPr/>
          <p:nvPr/>
        </p:nvSpPr>
        <p:spPr>
          <a:xfrm>
            <a:off x="4846320" y="3154680"/>
            <a:ext cx="3291840" cy="3017520"/>
          </a:xfrm>
          <a:prstGeom prst="roundRect">
            <a:avLst>
              <a:gd name="adj" fmla="val 2424"/>
            </a:avLst>
          </a:prstGeom>
          <a:solidFill>
            <a:schemeClr val="bg2"/>
          </a:solidFill>
          <a:ln/>
          <a:effectLst>
            <a:outerShdw blurRad="76200" dist="25400" dir="5400000" algn="bl" rotWithShape="0">
              <a:srgbClr val="000000">
                <a:alpha val="14000"/>
              </a:srgbClr>
            </a:outerShdw>
          </a:effectLst>
        </p:spPr>
      </p:sp>
      <p:sp>
        <p:nvSpPr>
          <p:cNvPr id="21" name="Text 18"/>
          <p:cNvSpPr txBox="1"/>
          <p:nvPr/>
        </p:nvSpPr>
        <p:spPr>
          <a:xfrm>
            <a:off x="5029200" y="3291840"/>
            <a:ext cx="2971800" cy="365760"/>
          </a:xfrm>
          <a:prstGeom prst="rect">
            <a:avLst/>
          </a:prstGeom>
          <a:noFill/>
          <a:ln/>
        </p:spPr>
        <p:txBody>
          <a:bodyPr wrap="square" lIns="0" tIns="0" rIns="0" bIns="0" rtlCol="0" anchor="ctr"/>
          <a:lstStyle/>
          <a:p>
            <a:pPr marL="0" indent="0">
              <a:buNone/>
            </a:pPr>
            <a:r>
              <a:rPr lang="en-US" sz="1600" b="1" dirty="0">
                <a:solidFill>
                  <a:schemeClr val="tx2"/>
                </a:solidFill>
              </a:rPr>
              <a:t>How to measure</a:t>
            </a:r>
            <a:endParaRPr lang="en-US" sz="1600" dirty="0"/>
          </a:p>
        </p:txBody>
      </p:sp>
      <p:sp>
        <p:nvSpPr>
          <p:cNvPr id="22" name="Text 19"/>
          <p:cNvSpPr txBox="1"/>
          <p:nvPr/>
        </p:nvSpPr>
        <p:spPr>
          <a:xfrm>
            <a:off x="5029200" y="3703320"/>
            <a:ext cx="2926080" cy="237744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Dark-adapt ≥20 min (leaf clip)</a:t>
            </a:r>
            <a:endParaRPr lang="en-US" sz="1300" dirty="0"/>
          </a:p>
          <a:p>
            <a:pPr marL="177800" indent="-177800">
              <a:spcAft>
                <a:spcPts val="400"/>
              </a:spcAft>
              <a:buSzPct val="100000"/>
              <a:buChar char="•"/>
            </a:pPr>
            <a:r>
              <a:rPr lang="en-US" sz="1300" dirty="0">
                <a:solidFill>
                  <a:schemeClr val="tx1"/>
                </a:solidFill>
              </a:rPr>
              <a:t>Check zero; set measuring beam so it causes no rise</a:t>
            </a:r>
            <a:endParaRPr lang="en-US" sz="1300" dirty="0"/>
          </a:p>
          <a:p>
            <a:pPr marL="177800" indent="-177800">
              <a:spcAft>
                <a:spcPts val="400"/>
              </a:spcAft>
              <a:buSzPct val="100000"/>
              <a:buChar char="•"/>
            </a:pPr>
            <a:r>
              <a:rPr lang="en-US" sz="1300" dirty="0">
                <a:solidFill>
                  <a:schemeClr val="tx1"/>
                </a:solidFill>
              </a:rPr>
              <a:t>Measure </a:t>
            </a:r>
            <a:r>
              <a:rPr lang="en-US" sz="1300" b="1" dirty="0">
                <a:solidFill>
                  <a:schemeClr val="tx1"/>
                </a:solidFill>
              </a:rPr>
              <a:t>F</a:t>
            </a:r>
            <a:r>
              <a:rPr lang="en-US" sz="1300" b="1" baseline="-40000" dirty="0">
                <a:solidFill>
                  <a:schemeClr val="tx1"/>
                </a:solidFill>
              </a:rPr>
              <a:t>o</a:t>
            </a:r>
            <a:r>
              <a:rPr lang="en-US" sz="1300" dirty="0">
                <a:solidFill>
                  <a:schemeClr val="tx1"/>
                </a:solidFill>
              </a:rPr>
              <a:t>, then a saturating pulse → </a:t>
            </a:r>
            <a:r>
              <a:rPr lang="en-US" sz="1300" b="1" dirty="0">
                <a:solidFill>
                  <a:schemeClr val="tx1"/>
                </a:solidFill>
              </a:rPr>
              <a:t>F</a:t>
            </a:r>
            <a:r>
              <a:rPr lang="en-US" sz="1300" b="1" baseline="-40000" dirty="0">
                <a:solidFill>
                  <a:schemeClr val="tx1"/>
                </a:solidFill>
              </a:rPr>
              <a:t>m</a:t>
            </a:r>
            <a:endParaRPr lang="en-US" sz="1300" dirty="0"/>
          </a:p>
          <a:p>
            <a:pPr marL="177800" indent="-177800">
              <a:spcAft>
                <a:spcPts val="400"/>
              </a:spcAft>
              <a:buSzPct val="100000"/>
              <a:buChar char="•"/>
            </a:pPr>
            <a:r>
              <a:rPr lang="en-US" sz="1300" dirty="0">
                <a:solidFill>
                  <a:schemeClr val="tx1"/>
                </a:solidFill>
              </a:rPr>
              <a:t>Pre-dawn values for long-term stress</a:t>
            </a:r>
            <a:endParaRPr lang="en-US" sz="1300" dirty="0"/>
          </a:p>
        </p:txBody>
      </p:sp>
      <p:sp>
        <p:nvSpPr>
          <p:cNvPr id="23" name="card"/>
          <p:cNvSpPr/>
          <p:nvPr/>
        </p:nvSpPr>
        <p:spPr>
          <a:xfrm>
            <a:off x="8348472" y="3154680"/>
            <a:ext cx="3291840" cy="3017520"/>
          </a:xfrm>
          <a:prstGeom prst="roundRect">
            <a:avLst>
              <a:gd name="adj" fmla="val 2424"/>
            </a:avLst>
          </a:prstGeom>
          <a:solidFill>
            <a:schemeClr val="bg2"/>
          </a:solidFill>
          <a:ln/>
          <a:effectLst>
            <a:outerShdw blurRad="76200" dist="25400" dir="5400000" algn="bl" rotWithShape="0">
              <a:srgbClr val="000000">
                <a:alpha val="14000"/>
              </a:srgbClr>
            </a:outerShdw>
          </a:effectLst>
        </p:spPr>
      </p:sp>
      <p:sp>
        <p:nvSpPr>
          <p:cNvPr id="24" name="Text 21"/>
          <p:cNvSpPr txBox="1"/>
          <p:nvPr/>
        </p:nvSpPr>
        <p:spPr>
          <a:xfrm>
            <a:off x="8531352" y="3291840"/>
            <a:ext cx="2971800" cy="365760"/>
          </a:xfrm>
          <a:prstGeom prst="rect">
            <a:avLst/>
          </a:prstGeom>
          <a:noFill/>
          <a:ln/>
        </p:spPr>
        <p:txBody>
          <a:bodyPr wrap="square" lIns="0" tIns="0" rIns="0" bIns="0" rtlCol="0" anchor="ctr"/>
          <a:lstStyle/>
          <a:p>
            <a:pPr marL="0" indent="0">
              <a:buNone/>
            </a:pPr>
            <a:r>
              <a:rPr lang="en-US" sz="1600" b="1" dirty="0">
                <a:solidFill>
                  <a:schemeClr val="accent2"/>
                </a:solidFill>
              </a:rPr>
              <a:t>What lowers it</a:t>
            </a:r>
            <a:endParaRPr lang="en-US" sz="1600" dirty="0"/>
          </a:p>
        </p:txBody>
      </p:sp>
      <p:sp>
        <p:nvSpPr>
          <p:cNvPr id="25" name="Text 22"/>
          <p:cNvSpPr txBox="1"/>
          <p:nvPr/>
        </p:nvSpPr>
        <p:spPr>
          <a:xfrm>
            <a:off x="8531352" y="3703320"/>
            <a:ext cx="2926080" cy="2377440"/>
          </a:xfrm>
          <a:prstGeom prst="rect">
            <a:avLst/>
          </a:prstGeom>
          <a:noFill/>
          <a:ln/>
        </p:spPr>
        <p:txBody>
          <a:bodyPr wrap="square" lIns="508" tIns="508" rIns="508" bIns="508" rtlCol="0" anchor="t"/>
          <a:lstStyle/>
          <a:p>
            <a:pPr marL="177800" indent="-177800">
              <a:spcAft>
                <a:spcPts val="400"/>
              </a:spcAft>
              <a:buSzPct val="100000"/>
              <a:buChar char="•"/>
            </a:pPr>
            <a:r>
              <a:rPr lang="en-US" sz="1300" b="1" dirty="0">
                <a:solidFill>
                  <a:schemeClr val="tx1"/>
                </a:solidFill>
              </a:rPr>
              <a:t>Photoinhibition</a:t>
            </a:r>
            <a:r>
              <a:rPr lang="en-US" sz="1300" dirty="0">
                <a:solidFill>
                  <a:schemeClr val="tx1"/>
                </a:solidFill>
              </a:rPr>
              <a:t>: inactivation/damage of PSII (D1 protein)</a:t>
            </a:r>
            <a:endParaRPr lang="en-US" sz="1300" dirty="0"/>
          </a:p>
          <a:p>
            <a:pPr marL="177800" indent="-177800">
              <a:spcAft>
                <a:spcPts val="400"/>
              </a:spcAft>
              <a:buSzPct val="100000"/>
              <a:buChar char="•"/>
            </a:pPr>
            <a:r>
              <a:rPr lang="en-US" sz="1300" b="1" dirty="0">
                <a:solidFill>
                  <a:schemeClr val="tx1"/>
                </a:solidFill>
              </a:rPr>
              <a:t>Sustained quenching</a:t>
            </a:r>
            <a:r>
              <a:rPr lang="en-US" sz="1300" dirty="0">
                <a:solidFill>
                  <a:schemeClr val="tx1"/>
                </a:solidFill>
              </a:rPr>
              <a:t> (e.g. retained zeaxanthin, drought, winter)</a:t>
            </a:r>
            <a:endParaRPr lang="en-US" sz="1300" dirty="0"/>
          </a:p>
          <a:p>
            <a:pPr marL="177800" indent="-177800">
              <a:spcAft>
                <a:spcPts val="400"/>
              </a:spcAft>
              <a:buSzPct val="100000"/>
              <a:buChar char="•"/>
            </a:pPr>
            <a:r>
              <a:rPr lang="en-US" sz="1300" dirty="0">
                <a:solidFill>
                  <a:schemeClr val="tx1"/>
                </a:solidFill>
              </a:rPr>
              <a:t>Rise in F</a:t>
            </a:r>
            <a:r>
              <a:rPr lang="en-US" sz="1300" baseline="-40000" dirty="0">
                <a:solidFill>
                  <a:schemeClr val="tx1"/>
                </a:solidFill>
              </a:rPr>
              <a:t>o</a:t>
            </a:r>
            <a:r>
              <a:rPr lang="en-US" sz="1300" dirty="0">
                <a:solidFill>
                  <a:schemeClr val="tx1"/>
                </a:solidFill>
              </a:rPr>
              <a:t> → damage; fall in F</a:t>
            </a:r>
            <a:r>
              <a:rPr lang="en-US" sz="1300" baseline="-40000" dirty="0">
                <a:solidFill>
                  <a:schemeClr val="tx1"/>
                </a:solidFill>
              </a:rPr>
              <a:t>m</a:t>
            </a:r>
            <a:r>
              <a:rPr lang="en-US" sz="1300" dirty="0">
                <a:solidFill>
                  <a:schemeClr val="tx1"/>
                </a:solidFill>
              </a:rPr>
              <a:t> → quenching</a:t>
            </a:r>
            <a:endParaRPr lang="en-US" sz="1300" dirty="0"/>
          </a:p>
        </p:txBody>
      </p:sp>
      <p:sp>
        <p:nvSpPr>
          <p:cNvPr id="26" name="card"/>
          <p:cNvSpPr/>
          <p:nvPr/>
        </p:nvSpPr>
        <p:spPr>
          <a:xfrm>
            <a:off x="548640" y="4206240"/>
            <a:ext cx="3931920" cy="1965960"/>
          </a:xfrm>
          <a:prstGeom prst="roundRect">
            <a:avLst>
              <a:gd name="adj" fmla="val 3721"/>
            </a:avLst>
          </a:prstGeom>
          <a:solidFill>
            <a:schemeClr val="bg2"/>
          </a:solidFill>
          <a:ln/>
          <a:effectLst>
            <a:outerShdw blurRad="76200" dist="25400" dir="5400000" algn="bl" rotWithShape="0">
              <a:srgbClr val="000000">
                <a:alpha val="14000"/>
              </a:srgbClr>
            </a:outerShdw>
          </a:effectLst>
        </p:spPr>
      </p:sp>
      <p:sp>
        <p:nvSpPr>
          <p:cNvPr id="27" name="Text 24"/>
          <p:cNvSpPr txBox="1"/>
          <p:nvPr/>
        </p:nvSpPr>
        <p:spPr>
          <a:xfrm>
            <a:off x="731520" y="4343400"/>
            <a:ext cx="3611880" cy="365760"/>
          </a:xfrm>
          <a:prstGeom prst="rect">
            <a:avLst/>
          </a:prstGeom>
          <a:noFill/>
          <a:ln/>
        </p:spPr>
        <p:txBody>
          <a:bodyPr wrap="square" lIns="0" tIns="0" rIns="0" bIns="0" rtlCol="0" anchor="ctr"/>
          <a:lstStyle/>
          <a:p>
            <a:pPr marL="0" indent="0">
              <a:buNone/>
            </a:pPr>
            <a:r>
              <a:rPr lang="en-US" sz="1600" b="1" dirty="0">
                <a:solidFill>
                  <a:schemeClr val="tx2"/>
                </a:solidFill>
              </a:rPr>
              <a:t>Meaning</a:t>
            </a:r>
            <a:endParaRPr lang="en-US" sz="1600" dirty="0"/>
          </a:p>
        </p:txBody>
      </p:sp>
      <p:sp>
        <p:nvSpPr>
          <p:cNvPr id="28" name="Text 25"/>
          <p:cNvSpPr txBox="1"/>
          <p:nvPr/>
        </p:nvSpPr>
        <p:spPr>
          <a:xfrm>
            <a:off x="731520" y="4754880"/>
            <a:ext cx="3566160" cy="132588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Correlates with the maximum quantum yield of photosynthesis (O₂ or CO₂ per photon) at limiting light.</a:t>
            </a:r>
            <a:endParaRPr lang="en-US" sz="13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Φ</a:t>
            </a:r>
            <a:r>
              <a:rPr lang="en-US" sz="3200" b="1" baseline="-40000" dirty="0">
                <a:solidFill>
                  <a:schemeClr val="tx2"/>
                </a:solidFill>
              </a:rPr>
              <a:t>PSII</a:t>
            </a:r>
            <a:r>
              <a:rPr lang="en-US" sz="3200" b="1" dirty="0">
                <a:solidFill>
                  <a:schemeClr val="tx2"/>
                </a:solidFill>
              </a:rPr>
              <a:t> = F</a:t>
            </a:r>
            <a:r>
              <a:rPr lang="en-US" sz="3200" b="1" baseline="-40000" dirty="0">
                <a:solidFill>
                  <a:schemeClr val="tx2"/>
                </a:solidFill>
              </a:rPr>
              <a:t>q</a:t>
            </a:r>
            <a:r>
              <a:rPr lang="en-US" sz="3200" b="1" dirty="0">
                <a:solidFill>
                  <a:schemeClr val="tx2"/>
                </a:solidFill>
              </a:rPr>
              <a:t>′/F</a:t>
            </a:r>
            <a:r>
              <a:rPr lang="en-US" sz="3200" b="1" baseline="-40000" dirty="0">
                <a:solidFill>
                  <a:schemeClr val="tx2"/>
                </a:solidFill>
              </a:rPr>
              <a:t>m</a:t>
            </a:r>
            <a:r>
              <a:rPr lang="en-US" sz="3200" b="1" dirty="0">
                <a:solidFill>
                  <a:schemeClr val="tx2"/>
                </a:solidFill>
              </a:rPr>
              <a:t>′: PSII operating efficiency</a:t>
            </a:r>
            <a:endParaRPr lang="en-US" sz="3200" dirty="0"/>
          </a:p>
        </p:txBody>
      </p:sp>
      <p:sp>
        <p:nvSpPr>
          <p:cNvPr id="4" name="card"/>
          <p:cNvSpPr/>
          <p:nvPr/>
        </p:nvSpPr>
        <p:spPr>
          <a:xfrm>
            <a:off x="548640" y="1325880"/>
            <a:ext cx="11091672" cy="1325880"/>
          </a:xfrm>
          <a:prstGeom prst="roundRect">
            <a:avLst>
              <a:gd name="adj" fmla="val 5517"/>
            </a:avLst>
          </a:prstGeom>
          <a:solidFill>
            <a:schemeClr val="tx2"/>
          </a:solidFill>
          <a:ln/>
          <a:effectLst>
            <a:outerShdw blurRad="76200" dist="25400" dir="5400000" algn="bl" rotWithShape="0">
              <a:srgbClr val="000000">
                <a:alpha val="14000"/>
              </a:srgbClr>
            </a:outerShdw>
          </a:effectLst>
        </p:spPr>
      </p:sp>
      <p:sp>
        <p:nvSpPr>
          <p:cNvPr id="5" name="Text 2"/>
          <p:cNvSpPr txBox="1"/>
          <p:nvPr/>
        </p:nvSpPr>
        <p:spPr>
          <a:xfrm>
            <a:off x="822960" y="1417320"/>
            <a:ext cx="5943600" cy="1143000"/>
          </a:xfrm>
          <a:prstGeom prst="rect">
            <a:avLst/>
          </a:prstGeom>
          <a:noFill/>
          <a:ln/>
        </p:spPr>
        <p:txBody>
          <a:bodyPr wrap="square" lIns="0" tIns="0" rIns="0" bIns="0" rtlCol="0" anchor="ctr"/>
          <a:lstStyle/>
          <a:p>
            <a:pPr marL="0" indent="0" algn="l">
              <a:buNone/>
            </a:pPr>
            <a:r>
              <a:rPr lang="en-US" sz="2400" b="1" dirty="0">
                <a:solidFill>
                  <a:schemeClr val="bg1"/>
                </a:solidFill>
              </a:rPr>
              <a:t>Φ</a:t>
            </a:r>
            <a:r>
              <a:rPr lang="en-US" sz="2400" b="1" baseline="-40000" dirty="0">
                <a:solidFill>
                  <a:schemeClr val="bg1"/>
                </a:solidFill>
              </a:rPr>
              <a:t>PSII</a:t>
            </a:r>
            <a:r>
              <a:rPr lang="en-US" sz="2400" b="1" dirty="0">
                <a:solidFill>
                  <a:schemeClr val="bg1"/>
                </a:solidFill>
              </a:rPr>
              <a:t> = F</a:t>
            </a:r>
            <a:r>
              <a:rPr lang="en-US" sz="2400" b="1" baseline="-40000" dirty="0">
                <a:solidFill>
                  <a:schemeClr val="bg1"/>
                </a:solidFill>
              </a:rPr>
              <a:t>q</a:t>
            </a:r>
            <a:r>
              <a:rPr lang="en-US" sz="2400" b="1" dirty="0">
                <a:solidFill>
                  <a:schemeClr val="bg1"/>
                </a:solidFill>
              </a:rPr>
              <a:t>′ / F</a:t>
            </a:r>
            <a:r>
              <a:rPr lang="en-US" sz="2400" b="1" baseline="-40000" dirty="0">
                <a:solidFill>
                  <a:schemeClr val="bg1"/>
                </a:solidFill>
              </a:rPr>
              <a:t>m</a:t>
            </a:r>
            <a:r>
              <a:rPr lang="en-US" sz="2400" b="1" dirty="0">
                <a:solidFill>
                  <a:schemeClr val="bg1"/>
                </a:solidFill>
              </a:rPr>
              <a:t>′ = (F</a:t>
            </a:r>
            <a:r>
              <a:rPr lang="en-US" sz="2400" b="1" baseline="-40000" dirty="0">
                <a:solidFill>
                  <a:schemeClr val="bg1"/>
                </a:solidFill>
              </a:rPr>
              <a:t>m</a:t>
            </a:r>
            <a:r>
              <a:rPr lang="en-US" sz="2400" b="1" dirty="0">
                <a:solidFill>
                  <a:schemeClr val="bg1"/>
                </a:solidFill>
              </a:rPr>
              <a:t>′ − F′) / F</a:t>
            </a:r>
            <a:r>
              <a:rPr lang="en-US" sz="2400" b="1" baseline="-40000" dirty="0">
                <a:solidFill>
                  <a:schemeClr val="bg1"/>
                </a:solidFill>
              </a:rPr>
              <a:t>m</a:t>
            </a:r>
            <a:r>
              <a:rPr lang="en-US" sz="2400" b="1" dirty="0">
                <a:solidFill>
                  <a:schemeClr val="bg1"/>
                </a:solidFill>
              </a:rPr>
              <a:t>′</a:t>
            </a:r>
            <a:endParaRPr lang="en-US" sz="2400" dirty="0"/>
          </a:p>
        </p:txBody>
      </p:sp>
      <p:sp>
        <p:nvSpPr>
          <p:cNvPr id="6" name="Text 3"/>
          <p:cNvSpPr txBox="1"/>
          <p:nvPr/>
        </p:nvSpPr>
        <p:spPr>
          <a:xfrm>
            <a:off x="6675120" y="1417320"/>
            <a:ext cx="4754880" cy="1143000"/>
          </a:xfrm>
          <a:prstGeom prst="rect">
            <a:avLst/>
          </a:prstGeom>
          <a:noFill/>
          <a:ln/>
        </p:spPr>
        <p:txBody>
          <a:bodyPr wrap="square" lIns="0" tIns="0" rIns="0" bIns="0" rtlCol="0" anchor="ctr"/>
          <a:lstStyle/>
          <a:p>
            <a:pPr marL="0" indent="0" algn="r">
              <a:buNone/>
            </a:pPr>
            <a:r>
              <a:rPr lang="en-US" sz="1600" dirty="0">
                <a:solidFill>
                  <a:schemeClr val="bg2"/>
                </a:solidFill>
              </a:rPr>
              <a:t>also written ΔF/F</a:t>
            </a:r>
            <a:r>
              <a:rPr lang="en-US" sz="1600" baseline="-40000" dirty="0">
                <a:solidFill>
                  <a:schemeClr val="bg2"/>
                </a:solidFill>
              </a:rPr>
              <a:t>m</a:t>
            </a:r>
            <a:r>
              <a:rPr lang="en-US" sz="1600" dirty="0">
                <a:solidFill>
                  <a:schemeClr val="bg2"/>
                </a:solidFill>
              </a:rPr>
              <a:t>′ · Y(II) · 'yield'</a:t>
            </a:r>
            <a:endParaRPr lang="en-US" sz="1600" dirty="0"/>
          </a:p>
        </p:txBody>
      </p:sp>
      <p:sp>
        <p:nvSpPr>
          <p:cNvPr id="7" name="Text 4"/>
          <p:cNvSpPr txBox="1"/>
          <p:nvPr/>
        </p:nvSpPr>
        <p:spPr>
          <a:xfrm>
            <a:off x="548640" y="2834640"/>
            <a:ext cx="4572000" cy="320040"/>
          </a:xfrm>
          <a:prstGeom prst="rect">
            <a:avLst/>
          </a:prstGeom>
          <a:noFill/>
          <a:ln/>
        </p:spPr>
        <p:txBody>
          <a:bodyPr wrap="square" lIns="0" tIns="0" rIns="0" bIns="0" rtlCol="0" anchor="ctr"/>
          <a:lstStyle/>
          <a:p>
            <a:pPr marL="0" indent="0" algn="l">
              <a:buNone/>
            </a:pPr>
            <a:r>
              <a:rPr lang="en-US" sz="1500" b="1" dirty="0">
                <a:solidFill>
                  <a:schemeClr val="tx2"/>
                </a:solidFill>
              </a:rPr>
              <a:t>Decomposition</a:t>
            </a:r>
            <a:endParaRPr lang="en-US" sz="1500" dirty="0"/>
          </a:p>
        </p:txBody>
      </p:sp>
      <p:sp>
        <p:nvSpPr>
          <p:cNvPr id="8" name="diagram box"/>
          <p:cNvSpPr/>
          <p:nvPr/>
        </p:nvSpPr>
        <p:spPr>
          <a:xfrm>
            <a:off x="548640" y="3200400"/>
            <a:ext cx="2743200" cy="1005840"/>
          </a:xfrm>
          <a:prstGeom prst="roundRect">
            <a:avLst>
              <a:gd name="adj" fmla="val 7273"/>
            </a:avLst>
          </a:prstGeom>
          <a:solidFill>
            <a:schemeClr val="accent1"/>
          </a:solidFill>
          <a:ln/>
        </p:spPr>
      </p:sp>
      <p:sp>
        <p:nvSpPr>
          <p:cNvPr id="9" name="Text 6"/>
          <p:cNvSpPr txBox="1"/>
          <p:nvPr/>
        </p:nvSpPr>
        <p:spPr>
          <a:xfrm>
            <a:off x="548640" y="3200400"/>
            <a:ext cx="2743200" cy="1005840"/>
          </a:xfrm>
          <a:prstGeom prst="rect">
            <a:avLst/>
          </a:prstGeom>
          <a:noFill/>
          <a:ln/>
        </p:spPr>
        <p:txBody>
          <a:bodyPr wrap="square" lIns="508" tIns="508" rIns="508" bIns="508" rtlCol="0" anchor="ctr"/>
          <a:lstStyle/>
          <a:p>
            <a:pPr marL="0" indent="0" algn="ctr">
              <a:buNone/>
            </a:pPr>
            <a:r>
              <a:rPr lang="en-US" sz="1400" b="1" dirty="0">
                <a:solidFill>
                  <a:schemeClr val="bg1"/>
                </a:solidFill>
              </a:rPr>
              <a:t>F</a:t>
            </a:r>
            <a:r>
              <a:rPr lang="en-US" sz="1400" b="1" baseline="-40000" dirty="0">
                <a:solidFill>
                  <a:schemeClr val="bg1"/>
                </a:solidFill>
              </a:rPr>
              <a:t>q</a:t>
            </a:r>
            <a:r>
              <a:rPr lang="en-US" sz="1400" b="1" dirty="0">
                <a:solidFill>
                  <a:schemeClr val="bg1"/>
                </a:solidFill>
              </a:rPr>
              <a:t>′/F</a:t>
            </a:r>
            <a:r>
              <a:rPr lang="en-US" sz="1400" b="1" baseline="-40000" dirty="0">
                <a:solidFill>
                  <a:schemeClr val="bg1"/>
                </a:solidFill>
              </a:rPr>
              <a:t>m</a:t>
            </a:r>
            <a:r>
              <a:rPr lang="en-US" sz="1400" b="1" dirty="0">
                <a:solidFill>
                  <a:schemeClr val="bg1"/>
                </a:solidFill>
              </a:rPr>
              <a:t>′</a:t>
            </a:r>
            <a:endParaRPr lang="en-US" sz="1400" dirty="0"/>
          </a:p>
          <a:p>
            <a:pPr marL="0" indent="0" algn="ctr">
              <a:buNone/>
            </a:pPr>
            <a:r>
              <a:rPr lang="en-US" sz="1400" dirty="0">
                <a:solidFill>
                  <a:schemeClr val="bg1"/>
                </a:solidFill>
              </a:rPr>
              <a:t>operating efficiency</a:t>
            </a:r>
            <a:endParaRPr lang="en-US" sz="1400" dirty="0"/>
          </a:p>
        </p:txBody>
      </p:sp>
      <p:sp>
        <p:nvSpPr>
          <p:cNvPr id="10" name="Text 7"/>
          <p:cNvSpPr txBox="1"/>
          <p:nvPr/>
        </p:nvSpPr>
        <p:spPr>
          <a:xfrm>
            <a:off x="3291840" y="3200400"/>
            <a:ext cx="548640" cy="1005840"/>
          </a:xfrm>
          <a:prstGeom prst="rect">
            <a:avLst/>
          </a:prstGeom>
          <a:noFill/>
          <a:ln/>
        </p:spPr>
        <p:txBody>
          <a:bodyPr wrap="square" lIns="0" tIns="0" rIns="0" bIns="0" rtlCol="0" anchor="ctr"/>
          <a:lstStyle/>
          <a:p>
            <a:pPr marL="0" indent="0" algn="ctr">
              <a:buNone/>
            </a:pPr>
            <a:r>
              <a:rPr lang="en-US" sz="3000" b="1" dirty="0">
                <a:solidFill>
                  <a:schemeClr val="tx2"/>
                </a:solidFill>
              </a:rPr>
              <a:t>=</a:t>
            </a:r>
            <a:endParaRPr lang="en-US" sz="3000" dirty="0"/>
          </a:p>
        </p:txBody>
      </p:sp>
      <p:sp>
        <p:nvSpPr>
          <p:cNvPr id="11" name="diagram box"/>
          <p:cNvSpPr/>
          <p:nvPr/>
        </p:nvSpPr>
        <p:spPr>
          <a:xfrm>
            <a:off x="3840480" y="3200400"/>
            <a:ext cx="2743200" cy="1005840"/>
          </a:xfrm>
          <a:prstGeom prst="roundRect">
            <a:avLst>
              <a:gd name="adj" fmla="val 7273"/>
            </a:avLst>
          </a:prstGeom>
          <a:solidFill>
            <a:schemeClr val="accent5"/>
          </a:solidFill>
          <a:ln/>
        </p:spPr>
      </p:sp>
      <p:sp>
        <p:nvSpPr>
          <p:cNvPr id="12" name="Text 9"/>
          <p:cNvSpPr txBox="1"/>
          <p:nvPr/>
        </p:nvSpPr>
        <p:spPr>
          <a:xfrm>
            <a:off x="3840480" y="3200400"/>
            <a:ext cx="2743200" cy="1005840"/>
          </a:xfrm>
          <a:prstGeom prst="rect">
            <a:avLst/>
          </a:prstGeom>
          <a:noFill/>
          <a:ln/>
        </p:spPr>
        <p:txBody>
          <a:bodyPr wrap="square" lIns="508" tIns="508" rIns="508" bIns="508" rtlCol="0" anchor="ctr"/>
          <a:lstStyle/>
          <a:p>
            <a:pPr marL="0" indent="0" algn="ctr">
              <a:buNone/>
            </a:pPr>
            <a:r>
              <a:rPr lang="en-US" sz="1400" b="1" dirty="0">
                <a:solidFill>
                  <a:schemeClr val="bg1"/>
                </a:solidFill>
              </a:rPr>
              <a:t>F</a:t>
            </a:r>
            <a:r>
              <a:rPr lang="en-US" sz="1400" b="1" baseline="-40000" dirty="0">
                <a:solidFill>
                  <a:schemeClr val="bg1"/>
                </a:solidFill>
              </a:rPr>
              <a:t>q</a:t>
            </a:r>
            <a:r>
              <a:rPr lang="en-US" sz="1400" b="1" dirty="0">
                <a:solidFill>
                  <a:schemeClr val="bg1"/>
                </a:solidFill>
              </a:rPr>
              <a:t>′/F</a:t>
            </a:r>
            <a:r>
              <a:rPr lang="en-US" sz="1400" b="1" baseline="-40000" dirty="0">
                <a:solidFill>
                  <a:schemeClr val="bg1"/>
                </a:solidFill>
              </a:rPr>
              <a:t>v</a:t>
            </a:r>
            <a:r>
              <a:rPr lang="en-US" sz="1400" b="1" dirty="0">
                <a:solidFill>
                  <a:schemeClr val="bg1"/>
                </a:solidFill>
              </a:rPr>
              <a:t>′ (qP)</a:t>
            </a:r>
            <a:endParaRPr lang="en-US" sz="1400" dirty="0"/>
          </a:p>
          <a:p>
            <a:pPr marL="0" indent="0" algn="ctr">
              <a:buNone/>
            </a:pPr>
            <a:r>
              <a:rPr lang="en-US" sz="1400" dirty="0">
                <a:solidFill>
                  <a:schemeClr val="bg1"/>
                </a:solidFill>
              </a:rPr>
              <a:t>fraction of centres open</a:t>
            </a:r>
            <a:endParaRPr lang="en-US" sz="1400" dirty="0"/>
          </a:p>
        </p:txBody>
      </p:sp>
      <p:sp>
        <p:nvSpPr>
          <p:cNvPr id="13" name="Text 10"/>
          <p:cNvSpPr txBox="1"/>
          <p:nvPr/>
        </p:nvSpPr>
        <p:spPr>
          <a:xfrm>
            <a:off x="6583680" y="3200400"/>
            <a:ext cx="548640" cy="1005840"/>
          </a:xfrm>
          <a:prstGeom prst="rect">
            <a:avLst/>
          </a:prstGeom>
          <a:noFill/>
          <a:ln/>
        </p:spPr>
        <p:txBody>
          <a:bodyPr wrap="square" lIns="0" tIns="0" rIns="0" bIns="0" rtlCol="0" anchor="ctr"/>
          <a:lstStyle/>
          <a:p>
            <a:pPr marL="0" indent="0" algn="ctr">
              <a:buNone/>
            </a:pPr>
            <a:r>
              <a:rPr lang="en-US" sz="3000" b="1" dirty="0">
                <a:solidFill>
                  <a:schemeClr val="tx2"/>
                </a:solidFill>
              </a:rPr>
              <a:t>×</a:t>
            </a:r>
            <a:endParaRPr lang="en-US" sz="3000" dirty="0"/>
          </a:p>
        </p:txBody>
      </p:sp>
      <p:sp>
        <p:nvSpPr>
          <p:cNvPr id="14" name="diagram box"/>
          <p:cNvSpPr/>
          <p:nvPr/>
        </p:nvSpPr>
        <p:spPr>
          <a:xfrm>
            <a:off x="7132320" y="3200400"/>
            <a:ext cx="2743200" cy="1005840"/>
          </a:xfrm>
          <a:prstGeom prst="roundRect">
            <a:avLst>
              <a:gd name="adj" fmla="val 7273"/>
            </a:avLst>
          </a:prstGeom>
          <a:solidFill>
            <a:schemeClr val="accent3"/>
          </a:solidFill>
          <a:ln/>
        </p:spPr>
      </p:sp>
      <p:sp>
        <p:nvSpPr>
          <p:cNvPr id="15" name="Text 12"/>
          <p:cNvSpPr txBox="1"/>
          <p:nvPr/>
        </p:nvSpPr>
        <p:spPr>
          <a:xfrm>
            <a:off x="7132320" y="3200400"/>
            <a:ext cx="2743200" cy="1005840"/>
          </a:xfrm>
          <a:prstGeom prst="rect">
            <a:avLst/>
          </a:prstGeom>
          <a:noFill/>
          <a:ln/>
        </p:spPr>
        <p:txBody>
          <a:bodyPr wrap="square" lIns="508" tIns="508" rIns="508" bIns="508" rtlCol="0" anchor="ctr"/>
          <a:lstStyle/>
          <a:p>
            <a:pPr marL="0" indent="0" algn="ctr">
              <a:buNone/>
            </a:pPr>
            <a:r>
              <a:rPr lang="en-US" sz="1400" b="1" dirty="0">
                <a:solidFill>
                  <a:schemeClr val="tx1"/>
                </a:solidFill>
              </a:rPr>
              <a:t>F</a:t>
            </a:r>
            <a:r>
              <a:rPr lang="en-US" sz="1400" b="1" baseline="-40000" dirty="0">
                <a:solidFill>
                  <a:schemeClr val="tx1"/>
                </a:solidFill>
              </a:rPr>
              <a:t>v</a:t>
            </a:r>
            <a:r>
              <a:rPr lang="en-US" sz="1400" b="1" dirty="0">
                <a:solidFill>
                  <a:schemeClr val="tx1"/>
                </a:solidFill>
              </a:rPr>
              <a:t>′/F</a:t>
            </a:r>
            <a:r>
              <a:rPr lang="en-US" sz="1400" b="1" baseline="-40000" dirty="0">
                <a:solidFill>
                  <a:schemeClr val="tx1"/>
                </a:solidFill>
              </a:rPr>
              <a:t>m</a:t>
            </a:r>
            <a:r>
              <a:rPr lang="en-US" sz="1400" b="1" dirty="0">
                <a:solidFill>
                  <a:schemeClr val="tx1"/>
                </a:solidFill>
              </a:rPr>
              <a:t>′</a:t>
            </a:r>
            <a:endParaRPr lang="en-US" sz="1400" dirty="0"/>
          </a:p>
          <a:p>
            <a:pPr marL="0" indent="0" algn="ctr">
              <a:buNone/>
            </a:pPr>
            <a:r>
              <a:rPr lang="en-US" sz="1400" dirty="0">
                <a:solidFill>
                  <a:schemeClr val="tx1"/>
                </a:solidFill>
              </a:rPr>
              <a:t>max efficiency in light</a:t>
            </a:r>
            <a:endParaRPr lang="en-US" sz="1400" dirty="0"/>
          </a:p>
        </p:txBody>
      </p:sp>
      <p:sp>
        <p:nvSpPr>
          <p:cNvPr id="16" name="Text 13"/>
          <p:cNvSpPr txBox="1"/>
          <p:nvPr/>
        </p:nvSpPr>
        <p:spPr>
          <a:xfrm>
            <a:off x="10012680" y="3337560"/>
            <a:ext cx="1645920" cy="822960"/>
          </a:xfrm>
          <a:prstGeom prst="rect">
            <a:avLst/>
          </a:prstGeom>
          <a:noFill/>
          <a:ln/>
        </p:spPr>
        <p:txBody>
          <a:bodyPr wrap="square" lIns="508" tIns="508" rIns="508" bIns="508" rtlCol="0" anchor="t"/>
          <a:lstStyle/>
          <a:p>
            <a:pPr marL="0" indent="0">
              <a:spcAft>
                <a:spcPts val="600"/>
              </a:spcAft>
              <a:buNone/>
            </a:pPr>
            <a:r>
              <a:rPr lang="en-US" sz="1300" i="1" dirty="0">
                <a:solidFill>
                  <a:schemeClr val="accent6"/>
                </a:solidFill>
              </a:rPr>
              <a:t>↓ F</a:t>
            </a:r>
            <a:r>
              <a:rPr lang="en-US" sz="1300" i="1" baseline="-40000" dirty="0">
                <a:solidFill>
                  <a:schemeClr val="accent6"/>
                </a:solidFill>
              </a:rPr>
              <a:t>v</a:t>
            </a:r>
            <a:r>
              <a:rPr lang="en-US" sz="1300" i="1" dirty="0">
                <a:solidFill>
                  <a:schemeClr val="accent6"/>
                </a:solidFill>
              </a:rPr>
              <a:t>′/F</a:t>
            </a:r>
            <a:r>
              <a:rPr lang="en-US" sz="1300" i="1" baseline="-40000" dirty="0">
                <a:solidFill>
                  <a:schemeClr val="accent6"/>
                </a:solidFill>
              </a:rPr>
              <a:t>m</a:t>
            </a:r>
            <a:r>
              <a:rPr lang="en-US" sz="1300" i="1" dirty="0">
                <a:solidFill>
                  <a:schemeClr val="accent6"/>
                </a:solidFill>
              </a:rPr>
              <a:t>′ means NPQ ↑</a:t>
            </a:r>
            <a:endParaRPr lang="en-US" sz="1300" dirty="0"/>
          </a:p>
        </p:txBody>
      </p:sp>
      <p:sp>
        <p:nvSpPr>
          <p:cNvPr id="17" name="card"/>
          <p:cNvSpPr/>
          <p:nvPr/>
        </p:nvSpPr>
        <p:spPr>
          <a:xfrm>
            <a:off x="548640" y="4434840"/>
            <a:ext cx="5440680" cy="1737360"/>
          </a:xfrm>
          <a:prstGeom prst="roundRect">
            <a:avLst>
              <a:gd name="adj" fmla="val 4211"/>
            </a:avLst>
          </a:prstGeom>
          <a:solidFill>
            <a:schemeClr val="bg2"/>
          </a:solidFill>
          <a:ln/>
          <a:effectLst>
            <a:outerShdw blurRad="76200" dist="25400" dir="5400000" algn="bl" rotWithShape="0">
              <a:srgbClr val="000000">
                <a:alpha val="14000"/>
              </a:srgbClr>
            </a:outerShdw>
          </a:effectLst>
        </p:spPr>
      </p:sp>
      <p:sp>
        <p:nvSpPr>
          <p:cNvPr id="18" name="icon circle"/>
          <p:cNvSpPr/>
          <p:nvPr/>
        </p:nvSpPr>
        <p:spPr>
          <a:xfrm>
            <a:off x="731520" y="4590288"/>
            <a:ext cx="420624" cy="420624"/>
          </a:xfrm>
          <a:prstGeom prst="ellipse">
            <a:avLst/>
          </a:prstGeom>
          <a:solidFill>
            <a:schemeClr val="accent1"/>
          </a:solidFill>
          <a:ln/>
        </p:spPr>
      </p:sp>
      <p:pic>
        <p:nvPicPr>
          <p:cNvPr id="19" name="Image 0" descr="Calculator icon"/>
          <p:cNvPicPr>
            <a:picLocks noChangeAspect="1"/>
          </p:cNvPicPr>
          <p:nvPr/>
        </p:nvPicPr>
        <p:blipFill>
          <a:blip r:embed="rId3"/>
          <a:stretch>
            <a:fillRect/>
          </a:stretch>
        </p:blipFill>
        <p:spPr>
          <a:xfrm>
            <a:off x="840882" y="4699650"/>
            <a:ext cx="201900" cy="201900"/>
          </a:xfrm>
          <a:prstGeom prst="rect">
            <a:avLst/>
          </a:prstGeom>
        </p:spPr>
      </p:pic>
      <p:sp>
        <p:nvSpPr>
          <p:cNvPr id="20" name="Text 16"/>
          <p:cNvSpPr txBox="1"/>
          <p:nvPr/>
        </p:nvSpPr>
        <p:spPr>
          <a:xfrm>
            <a:off x="1261872" y="4572000"/>
            <a:ext cx="4590288" cy="457200"/>
          </a:xfrm>
          <a:prstGeom prst="rect">
            <a:avLst/>
          </a:prstGeom>
          <a:noFill/>
          <a:ln/>
        </p:spPr>
        <p:txBody>
          <a:bodyPr wrap="square" lIns="0" tIns="0" rIns="0" bIns="0" rtlCol="0" anchor="ctr"/>
          <a:lstStyle/>
          <a:p>
            <a:pPr marL="0" indent="0">
              <a:buNone/>
            </a:pPr>
            <a:r>
              <a:rPr lang="en-US" sz="1600" b="1" dirty="0">
                <a:solidFill>
                  <a:schemeClr val="tx2"/>
                </a:solidFill>
              </a:rPr>
              <a:t>Electron transport rate (ETR)</a:t>
            </a:r>
            <a:endParaRPr lang="en-US" sz="1600" dirty="0"/>
          </a:p>
        </p:txBody>
      </p:sp>
      <p:sp>
        <p:nvSpPr>
          <p:cNvPr id="21" name="Text 17"/>
          <p:cNvSpPr txBox="1"/>
          <p:nvPr/>
        </p:nvSpPr>
        <p:spPr>
          <a:xfrm>
            <a:off x="731520" y="5120640"/>
            <a:ext cx="5074920" cy="960120"/>
          </a:xfrm>
          <a:prstGeom prst="rect">
            <a:avLst/>
          </a:prstGeom>
          <a:noFill/>
          <a:ln/>
        </p:spPr>
        <p:txBody>
          <a:bodyPr wrap="square" lIns="508" tIns="508" rIns="508" bIns="508" rtlCol="0" anchor="t"/>
          <a:lstStyle/>
          <a:p>
            <a:pPr marL="0" indent="0">
              <a:spcAft>
                <a:spcPts val="400"/>
              </a:spcAft>
              <a:buNone/>
            </a:pPr>
            <a:r>
              <a:rPr lang="en-US" sz="1400" b="1" dirty="0">
                <a:solidFill>
                  <a:schemeClr val="tx1"/>
                </a:solidFill>
              </a:rPr>
              <a:t>ETR = Φ</a:t>
            </a:r>
            <a:r>
              <a:rPr lang="en-US" sz="1400" b="1" baseline="-40000" dirty="0">
                <a:solidFill>
                  <a:schemeClr val="tx1"/>
                </a:solidFill>
              </a:rPr>
              <a:t>PSII</a:t>
            </a:r>
            <a:r>
              <a:rPr lang="en-US" sz="1400" b="1" dirty="0">
                <a:solidFill>
                  <a:schemeClr val="tx1"/>
                </a:solidFill>
              </a:rPr>
              <a:t> × PAR × 0.84 × 0.5</a:t>
            </a:r>
            <a:endParaRPr lang="en-US" sz="1400" dirty="0"/>
          </a:p>
          <a:p>
            <a:pPr marL="0" indent="0">
              <a:spcAft>
                <a:spcPts val="400"/>
              </a:spcAft>
              <a:buNone/>
            </a:pPr>
            <a:r>
              <a:rPr lang="en-US" sz="1200" dirty="0">
                <a:solidFill>
                  <a:schemeClr val="tx1"/>
                </a:solidFill>
              </a:rPr>
              <a:t>0.84 = typical leaf absorptance; 0.5 = share of light to PSII (both are assumptions)</a:t>
            </a:r>
            <a:endParaRPr lang="en-US" sz="1400" dirty="0"/>
          </a:p>
        </p:txBody>
      </p:sp>
      <p:sp>
        <p:nvSpPr>
          <p:cNvPr id="22" name="card"/>
          <p:cNvSpPr/>
          <p:nvPr/>
        </p:nvSpPr>
        <p:spPr>
          <a:xfrm>
            <a:off x="6199632" y="4434840"/>
            <a:ext cx="5440680" cy="1737360"/>
          </a:xfrm>
          <a:prstGeom prst="roundRect">
            <a:avLst>
              <a:gd name="adj" fmla="val 4211"/>
            </a:avLst>
          </a:prstGeom>
          <a:solidFill>
            <a:schemeClr val="bg2"/>
          </a:solidFill>
          <a:ln/>
          <a:effectLst>
            <a:outerShdw blurRad="76200" dist="25400" dir="5400000" algn="bl" rotWithShape="0">
              <a:srgbClr val="000000">
                <a:alpha val="14000"/>
              </a:srgbClr>
            </a:outerShdw>
          </a:effectLst>
        </p:spPr>
      </p:sp>
      <p:sp>
        <p:nvSpPr>
          <p:cNvPr id="23" name="icon circle"/>
          <p:cNvSpPr/>
          <p:nvPr/>
        </p:nvSpPr>
        <p:spPr>
          <a:xfrm>
            <a:off x="6382512" y="4590288"/>
            <a:ext cx="420624" cy="420624"/>
          </a:xfrm>
          <a:prstGeom prst="ellipse">
            <a:avLst/>
          </a:prstGeom>
          <a:solidFill>
            <a:schemeClr val="accent2"/>
          </a:solidFill>
          <a:ln/>
        </p:spPr>
      </p:sp>
      <p:pic>
        <p:nvPicPr>
          <p:cNvPr id="24" name="Image 1" descr="ExclamationTriangle icon"/>
          <p:cNvPicPr>
            <a:picLocks noChangeAspect="1"/>
          </p:cNvPicPr>
          <p:nvPr/>
        </p:nvPicPr>
        <p:blipFill>
          <a:blip r:embed="rId4"/>
          <a:stretch>
            <a:fillRect/>
          </a:stretch>
        </p:blipFill>
        <p:spPr>
          <a:xfrm>
            <a:off x="6491874" y="4699650"/>
            <a:ext cx="201900" cy="201900"/>
          </a:xfrm>
          <a:prstGeom prst="rect">
            <a:avLst/>
          </a:prstGeom>
        </p:spPr>
      </p:pic>
      <p:sp>
        <p:nvSpPr>
          <p:cNvPr id="25" name="Text 20"/>
          <p:cNvSpPr txBox="1"/>
          <p:nvPr/>
        </p:nvSpPr>
        <p:spPr>
          <a:xfrm>
            <a:off x="6912864" y="4572000"/>
            <a:ext cx="4590288" cy="457200"/>
          </a:xfrm>
          <a:prstGeom prst="rect">
            <a:avLst/>
          </a:prstGeom>
          <a:noFill/>
          <a:ln/>
        </p:spPr>
        <p:txBody>
          <a:bodyPr wrap="square" lIns="0" tIns="0" rIns="0" bIns="0" rtlCol="0" anchor="ctr"/>
          <a:lstStyle/>
          <a:p>
            <a:pPr marL="0" indent="0">
              <a:buNone/>
            </a:pPr>
            <a:r>
              <a:rPr lang="en-US" sz="1600" b="1" dirty="0">
                <a:solidFill>
                  <a:schemeClr val="tx2"/>
                </a:solidFill>
              </a:rPr>
              <a:t>Why it is popular — and the catch</a:t>
            </a:r>
            <a:endParaRPr lang="en-US" sz="1600" dirty="0"/>
          </a:p>
        </p:txBody>
      </p:sp>
      <p:sp>
        <p:nvSpPr>
          <p:cNvPr id="26" name="Text 21"/>
          <p:cNvSpPr txBox="1"/>
          <p:nvPr/>
        </p:nvSpPr>
        <p:spPr>
          <a:xfrm>
            <a:off x="6382512" y="5120640"/>
            <a:ext cx="5074920" cy="96012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No dark adaptation needed; quick in the field</a:t>
            </a:r>
            <a:endParaRPr lang="en-US" sz="1300" dirty="0"/>
          </a:p>
          <a:p>
            <a:pPr marL="177800" indent="-177800">
              <a:spcAft>
                <a:spcPts val="400"/>
              </a:spcAft>
              <a:buSzPct val="100000"/>
              <a:buChar char="•"/>
            </a:pPr>
            <a:r>
              <a:rPr lang="en-US" sz="1300" dirty="0">
                <a:solidFill>
                  <a:schemeClr val="tx1"/>
                </a:solidFill>
              </a:rPr>
              <a:t>Strongly depends on </a:t>
            </a:r>
            <a:r>
              <a:rPr lang="en-US" sz="1300" b="1" dirty="0">
                <a:solidFill>
                  <a:schemeClr val="tx1"/>
                </a:solidFill>
              </a:rPr>
              <a:t>current PAR</a:t>
            </a:r>
            <a:r>
              <a:rPr lang="en-US" sz="1300" dirty="0">
                <a:solidFill>
                  <a:schemeClr val="tx1"/>
                </a:solidFill>
              </a:rPr>
              <a:t> — always record light at the leaf surface</a:t>
            </a:r>
            <a:endParaRPr lang="en-US" sz="13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qP and qL: how many PSII centres are open?</a:t>
            </a:r>
            <a:endParaRPr lang="en-US" sz="3200" dirty="0"/>
          </a:p>
        </p:txBody>
      </p:sp>
      <p:sp>
        <p:nvSpPr>
          <p:cNvPr id="4" name="card"/>
          <p:cNvSpPr/>
          <p:nvPr/>
        </p:nvSpPr>
        <p:spPr>
          <a:xfrm>
            <a:off x="548640" y="1325880"/>
            <a:ext cx="5440680" cy="2377440"/>
          </a:xfrm>
          <a:prstGeom prst="roundRect">
            <a:avLst>
              <a:gd name="adj" fmla="val 3077"/>
            </a:avLst>
          </a:prstGeom>
          <a:solidFill>
            <a:schemeClr val="bg2"/>
          </a:solidFill>
          <a:ln/>
          <a:effectLst>
            <a:outerShdw blurRad="76200" dist="25400" dir="5400000" algn="bl" rotWithShape="0">
              <a:srgbClr val="000000">
                <a:alpha val="14000"/>
              </a:srgbClr>
            </a:outerShdw>
          </a:effectLst>
        </p:spPr>
      </p:sp>
      <p:sp>
        <p:nvSpPr>
          <p:cNvPr id="5" name="icon circle"/>
          <p:cNvSpPr/>
          <p:nvPr/>
        </p:nvSpPr>
        <p:spPr>
          <a:xfrm>
            <a:off x="731520" y="1481328"/>
            <a:ext cx="420624" cy="420624"/>
          </a:xfrm>
          <a:prstGeom prst="ellipse">
            <a:avLst/>
          </a:prstGeom>
          <a:solidFill>
            <a:schemeClr val="accent5"/>
          </a:solidFill>
          <a:ln/>
        </p:spPr>
      </p:sp>
      <p:pic>
        <p:nvPicPr>
          <p:cNvPr id="6" name="Image 0" descr="ChartLine icon"/>
          <p:cNvPicPr>
            <a:picLocks noChangeAspect="1"/>
          </p:cNvPicPr>
          <p:nvPr/>
        </p:nvPicPr>
        <p:blipFill>
          <a:blip r:embed="rId3"/>
          <a:stretch>
            <a:fillRect/>
          </a:stretch>
        </p:blipFill>
        <p:spPr>
          <a:xfrm>
            <a:off x="840882" y="1590690"/>
            <a:ext cx="201900" cy="201900"/>
          </a:xfrm>
          <a:prstGeom prst="rect">
            <a:avLst/>
          </a:prstGeom>
        </p:spPr>
      </p:pic>
      <p:sp>
        <p:nvSpPr>
          <p:cNvPr id="7" name="Text 3"/>
          <p:cNvSpPr txBox="1"/>
          <p:nvPr/>
        </p:nvSpPr>
        <p:spPr>
          <a:xfrm>
            <a:off x="1261872" y="1463040"/>
            <a:ext cx="4590288" cy="457200"/>
          </a:xfrm>
          <a:prstGeom prst="rect">
            <a:avLst/>
          </a:prstGeom>
          <a:noFill/>
          <a:ln/>
        </p:spPr>
        <p:txBody>
          <a:bodyPr wrap="square" lIns="0" tIns="0" rIns="0" bIns="0" rtlCol="0" anchor="ctr"/>
          <a:lstStyle/>
          <a:p>
            <a:pPr marL="0" indent="0">
              <a:buNone/>
            </a:pPr>
            <a:r>
              <a:rPr lang="en-US" sz="1600" b="1" dirty="0">
                <a:solidFill>
                  <a:schemeClr val="tx2"/>
                </a:solidFill>
              </a:rPr>
              <a:t>qP — photochemical quenching</a:t>
            </a:r>
            <a:endParaRPr lang="en-US" sz="1600" dirty="0"/>
          </a:p>
        </p:txBody>
      </p:sp>
      <p:sp>
        <p:nvSpPr>
          <p:cNvPr id="8" name="Text 4"/>
          <p:cNvSpPr txBox="1"/>
          <p:nvPr/>
        </p:nvSpPr>
        <p:spPr>
          <a:xfrm>
            <a:off x="731520" y="2011680"/>
            <a:ext cx="5074920" cy="1600200"/>
          </a:xfrm>
          <a:prstGeom prst="rect">
            <a:avLst/>
          </a:prstGeom>
          <a:noFill/>
          <a:ln/>
        </p:spPr>
        <p:txBody>
          <a:bodyPr wrap="square" lIns="508" tIns="508" rIns="508" bIns="508" rtlCol="0" anchor="t"/>
          <a:lstStyle/>
          <a:p>
            <a:pPr marL="0" indent="0">
              <a:spcAft>
                <a:spcPts val="800"/>
              </a:spcAft>
              <a:buNone/>
            </a:pPr>
            <a:r>
              <a:rPr lang="en-US" sz="1600" b="1" dirty="0">
                <a:solidFill>
                  <a:schemeClr val="tx1"/>
                </a:solidFill>
              </a:rPr>
              <a:t>qP = F</a:t>
            </a:r>
            <a:r>
              <a:rPr lang="en-US" sz="1600" b="1" baseline="-40000" dirty="0">
                <a:solidFill>
                  <a:schemeClr val="tx1"/>
                </a:solidFill>
              </a:rPr>
              <a:t>q</a:t>
            </a:r>
            <a:r>
              <a:rPr lang="en-US" sz="1600" b="1" dirty="0">
                <a:solidFill>
                  <a:schemeClr val="tx1"/>
                </a:solidFill>
              </a:rPr>
              <a:t>′/F</a:t>
            </a:r>
            <a:r>
              <a:rPr lang="en-US" sz="1600" b="1" baseline="-40000" dirty="0">
                <a:solidFill>
                  <a:schemeClr val="tx1"/>
                </a:solidFill>
              </a:rPr>
              <a:t>v</a:t>
            </a:r>
            <a:r>
              <a:rPr lang="en-US" sz="1600" b="1" dirty="0">
                <a:solidFill>
                  <a:schemeClr val="tx1"/>
                </a:solidFill>
              </a:rPr>
              <a:t>′ = (F</a:t>
            </a:r>
            <a:r>
              <a:rPr lang="en-US" sz="1600" b="1" baseline="-40000" dirty="0">
                <a:solidFill>
                  <a:schemeClr val="tx1"/>
                </a:solidFill>
              </a:rPr>
              <a:t>m</a:t>
            </a:r>
            <a:r>
              <a:rPr lang="en-US" sz="1600" b="1" dirty="0">
                <a:solidFill>
                  <a:schemeClr val="tx1"/>
                </a:solidFill>
              </a:rPr>
              <a:t>′ − F′)/(F</a:t>
            </a:r>
            <a:r>
              <a:rPr lang="en-US" sz="1600" b="1" baseline="-40000" dirty="0">
                <a:solidFill>
                  <a:schemeClr val="tx1"/>
                </a:solidFill>
              </a:rPr>
              <a:t>m</a:t>
            </a:r>
            <a:r>
              <a:rPr lang="en-US" sz="1600" b="1" dirty="0">
                <a:solidFill>
                  <a:schemeClr val="tx1"/>
                </a:solidFill>
              </a:rPr>
              <a:t>′ − F</a:t>
            </a:r>
            <a:r>
              <a:rPr lang="en-US" sz="1600" b="1" baseline="-40000" dirty="0">
                <a:solidFill>
                  <a:schemeClr val="tx1"/>
                </a:solidFill>
              </a:rPr>
              <a:t>o</a:t>
            </a:r>
            <a:r>
              <a:rPr lang="en-US" sz="1600" b="1" dirty="0">
                <a:solidFill>
                  <a:schemeClr val="tx1"/>
                </a:solidFill>
              </a:rPr>
              <a:t>′)</a:t>
            </a:r>
            <a:endParaRPr lang="en-US" sz="1600" dirty="0"/>
          </a:p>
          <a:p>
            <a:pPr marL="177800" indent="-177800">
              <a:spcAft>
                <a:spcPts val="400"/>
              </a:spcAft>
              <a:buSzPct val="100000"/>
              <a:buChar char="•"/>
            </a:pPr>
            <a:r>
              <a:rPr lang="en-US" sz="1400" dirty="0">
                <a:solidFill>
                  <a:schemeClr val="tx1"/>
                </a:solidFill>
              </a:rPr>
              <a:t>Proportion of PSII centres that are open (approx.)</a:t>
            </a:r>
            <a:endParaRPr lang="en-US" sz="1600" dirty="0"/>
          </a:p>
          <a:p>
            <a:pPr marL="177800" indent="-177800">
              <a:spcAft>
                <a:spcPts val="400"/>
              </a:spcAft>
              <a:buSzPct val="100000"/>
              <a:buChar char="•"/>
            </a:pPr>
            <a:r>
              <a:rPr lang="en-US" sz="1400" b="1" dirty="0">
                <a:solidFill>
                  <a:schemeClr val="tx1"/>
                </a:solidFill>
              </a:rPr>
              <a:t>1 − qP</a:t>
            </a:r>
            <a:r>
              <a:rPr lang="en-US" sz="1400" dirty="0">
                <a:solidFill>
                  <a:schemeClr val="tx1"/>
                </a:solidFill>
              </a:rPr>
              <a:t> ≈ closed centres (excitation pressure)</a:t>
            </a:r>
            <a:endParaRPr lang="en-US" sz="1600" dirty="0"/>
          </a:p>
          <a:p>
            <a:pPr marL="177800" indent="-177800">
              <a:spcAft>
                <a:spcPts val="400"/>
              </a:spcAft>
              <a:buSzPct val="100000"/>
              <a:buChar char="•"/>
            </a:pPr>
            <a:r>
              <a:rPr lang="en-US" sz="1400" dirty="0">
                <a:solidFill>
                  <a:schemeClr val="tx1"/>
                </a:solidFill>
              </a:rPr>
              <a:t>Non-linear with true open fraction — use with care</a:t>
            </a:r>
            <a:endParaRPr lang="en-US" sz="1600" dirty="0"/>
          </a:p>
        </p:txBody>
      </p:sp>
      <p:sp>
        <p:nvSpPr>
          <p:cNvPr id="9" name="card"/>
          <p:cNvSpPr/>
          <p:nvPr/>
        </p:nvSpPr>
        <p:spPr>
          <a:xfrm>
            <a:off x="6199632" y="1325880"/>
            <a:ext cx="5440680" cy="2377440"/>
          </a:xfrm>
          <a:prstGeom prst="roundRect">
            <a:avLst>
              <a:gd name="adj" fmla="val 3077"/>
            </a:avLst>
          </a:prstGeom>
          <a:solidFill>
            <a:schemeClr val="bg2"/>
          </a:solidFill>
          <a:ln/>
          <a:effectLst>
            <a:outerShdw blurRad="76200" dist="25400" dir="5400000" algn="bl" rotWithShape="0">
              <a:srgbClr val="000000">
                <a:alpha val="14000"/>
              </a:srgbClr>
            </a:outerShdw>
          </a:effectLst>
        </p:spPr>
      </p:sp>
      <p:sp>
        <p:nvSpPr>
          <p:cNvPr id="10" name="icon circle"/>
          <p:cNvSpPr/>
          <p:nvPr/>
        </p:nvSpPr>
        <p:spPr>
          <a:xfrm>
            <a:off x="6382512" y="1481328"/>
            <a:ext cx="420624" cy="420624"/>
          </a:xfrm>
          <a:prstGeom prst="ellipse">
            <a:avLst/>
          </a:prstGeom>
          <a:solidFill>
            <a:schemeClr val="accent1"/>
          </a:solidFill>
          <a:ln/>
        </p:spPr>
      </p:sp>
      <p:pic>
        <p:nvPicPr>
          <p:cNvPr id="11" name="Image 1" descr="LayerGroup icon"/>
          <p:cNvPicPr>
            <a:picLocks noChangeAspect="1"/>
          </p:cNvPicPr>
          <p:nvPr/>
        </p:nvPicPr>
        <p:blipFill>
          <a:blip r:embed="rId4"/>
          <a:stretch>
            <a:fillRect/>
          </a:stretch>
        </p:blipFill>
        <p:spPr>
          <a:xfrm>
            <a:off x="6491874" y="1590690"/>
            <a:ext cx="201900" cy="201900"/>
          </a:xfrm>
          <a:prstGeom prst="rect">
            <a:avLst/>
          </a:prstGeom>
        </p:spPr>
      </p:pic>
      <p:sp>
        <p:nvSpPr>
          <p:cNvPr id="12" name="Text 7"/>
          <p:cNvSpPr txBox="1"/>
          <p:nvPr/>
        </p:nvSpPr>
        <p:spPr>
          <a:xfrm>
            <a:off x="6912864" y="1463040"/>
            <a:ext cx="4590288" cy="457200"/>
          </a:xfrm>
          <a:prstGeom prst="rect">
            <a:avLst/>
          </a:prstGeom>
          <a:noFill/>
          <a:ln/>
        </p:spPr>
        <p:txBody>
          <a:bodyPr wrap="square" lIns="0" tIns="0" rIns="0" bIns="0" rtlCol="0" anchor="ctr"/>
          <a:lstStyle/>
          <a:p>
            <a:pPr marL="0" indent="0">
              <a:buNone/>
            </a:pPr>
            <a:r>
              <a:rPr lang="en-US" sz="1600" b="1" dirty="0">
                <a:solidFill>
                  <a:schemeClr val="tx2"/>
                </a:solidFill>
              </a:rPr>
              <a:t>qL — the 'lake model' version</a:t>
            </a:r>
            <a:endParaRPr lang="en-US" sz="1600" dirty="0"/>
          </a:p>
        </p:txBody>
      </p:sp>
      <p:sp>
        <p:nvSpPr>
          <p:cNvPr id="13" name="Text 8"/>
          <p:cNvSpPr txBox="1"/>
          <p:nvPr/>
        </p:nvSpPr>
        <p:spPr>
          <a:xfrm>
            <a:off x="6382512" y="2011680"/>
            <a:ext cx="5074920" cy="1600200"/>
          </a:xfrm>
          <a:prstGeom prst="rect">
            <a:avLst/>
          </a:prstGeom>
          <a:noFill/>
          <a:ln/>
        </p:spPr>
        <p:txBody>
          <a:bodyPr wrap="square" lIns="508" tIns="508" rIns="508" bIns="508" rtlCol="0" anchor="t"/>
          <a:lstStyle/>
          <a:p>
            <a:pPr marL="0" indent="0">
              <a:spcAft>
                <a:spcPts val="800"/>
              </a:spcAft>
              <a:buNone/>
            </a:pPr>
            <a:r>
              <a:rPr lang="en-US" sz="1600" b="1" dirty="0">
                <a:solidFill>
                  <a:schemeClr val="tx1"/>
                </a:solidFill>
              </a:rPr>
              <a:t>qL = (F</a:t>
            </a:r>
            <a:r>
              <a:rPr lang="en-US" sz="1600" b="1" baseline="-40000" dirty="0">
                <a:solidFill>
                  <a:schemeClr val="tx1"/>
                </a:solidFill>
              </a:rPr>
              <a:t>q</a:t>
            </a:r>
            <a:r>
              <a:rPr lang="en-US" sz="1600" b="1" dirty="0">
                <a:solidFill>
                  <a:schemeClr val="tx1"/>
                </a:solidFill>
              </a:rPr>
              <a:t>′/F</a:t>
            </a:r>
            <a:r>
              <a:rPr lang="en-US" sz="1600" b="1" baseline="-40000" dirty="0">
                <a:solidFill>
                  <a:schemeClr val="tx1"/>
                </a:solidFill>
              </a:rPr>
              <a:t>v</a:t>
            </a:r>
            <a:r>
              <a:rPr lang="en-US" sz="1600" b="1" dirty="0">
                <a:solidFill>
                  <a:schemeClr val="tx1"/>
                </a:solidFill>
              </a:rPr>
              <a:t>′) × (F</a:t>
            </a:r>
            <a:r>
              <a:rPr lang="en-US" sz="1600" b="1" baseline="-40000" dirty="0">
                <a:solidFill>
                  <a:schemeClr val="tx1"/>
                </a:solidFill>
              </a:rPr>
              <a:t>o</a:t>
            </a:r>
            <a:r>
              <a:rPr lang="en-US" sz="1600" b="1" dirty="0">
                <a:solidFill>
                  <a:schemeClr val="tx1"/>
                </a:solidFill>
              </a:rPr>
              <a:t>′/F′) = qP × F</a:t>
            </a:r>
            <a:r>
              <a:rPr lang="en-US" sz="1600" b="1" baseline="-40000" dirty="0">
                <a:solidFill>
                  <a:schemeClr val="tx1"/>
                </a:solidFill>
              </a:rPr>
              <a:t>o</a:t>
            </a:r>
            <a:r>
              <a:rPr lang="en-US" sz="1600" b="1" dirty="0">
                <a:solidFill>
                  <a:schemeClr val="tx1"/>
                </a:solidFill>
              </a:rPr>
              <a:t>′/F′</a:t>
            </a:r>
            <a:endParaRPr lang="en-US" sz="1600" dirty="0"/>
          </a:p>
          <a:p>
            <a:pPr marL="177800" indent="-177800">
              <a:spcAft>
                <a:spcPts val="400"/>
              </a:spcAft>
              <a:buSzPct val="100000"/>
              <a:buChar char="•"/>
            </a:pPr>
            <a:r>
              <a:rPr lang="en-US" sz="1400" dirty="0">
                <a:solidFill>
                  <a:schemeClr val="tx1"/>
                </a:solidFill>
              </a:rPr>
              <a:t>Estimates the fraction of open PSII centres</a:t>
            </a:r>
            <a:endParaRPr lang="en-US" sz="1600" dirty="0"/>
          </a:p>
          <a:p>
            <a:pPr marL="177800" indent="-177800">
              <a:spcAft>
                <a:spcPts val="400"/>
              </a:spcAft>
              <a:buSzPct val="100000"/>
              <a:buChar char="•"/>
            </a:pPr>
            <a:r>
              <a:rPr lang="en-US" sz="1400" dirty="0">
                <a:solidFill>
                  <a:schemeClr val="tx1"/>
                </a:solidFill>
              </a:rPr>
              <a:t>Accounts for energy sharing between connected PSII units</a:t>
            </a:r>
            <a:endParaRPr lang="en-US" sz="1600" dirty="0"/>
          </a:p>
          <a:p>
            <a:pPr marL="177800" indent="-177800">
              <a:spcAft>
                <a:spcPts val="400"/>
              </a:spcAft>
              <a:buSzPct val="100000"/>
              <a:buChar char="•"/>
            </a:pPr>
            <a:r>
              <a:rPr lang="en-US" sz="1400" dirty="0">
                <a:solidFill>
                  <a:schemeClr val="tx1"/>
                </a:solidFill>
              </a:rPr>
              <a:t>Considered a more accurate redox-state indicator</a:t>
            </a:r>
            <a:endParaRPr lang="en-US" sz="1600" dirty="0"/>
          </a:p>
        </p:txBody>
      </p:sp>
      <p:sp>
        <p:nvSpPr>
          <p:cNvPr id="14" name="Text 9"/>
          <p:cNvSpPr txBox="1"/>
          <p:nvPr/>
        </p:nvSpPr>
        <p:spPr>
          <a:xfrm>
            <a:off x="548640" y="3931920"/>
            <a:ext cx="7315200" cy="320040"/>
          </a:xfrm>
          <a:prstGeom prst="rect">
            <a:avLst/>
          </a:prstGeom>
          <a:noFill/>
          <a:ln/>
        </p:spPr>
        <p:txBody>
          <a:bodyPr wrap="square" lIns="0" tIns="0" rIns="0" bIns="0" rtlCol="0" anchor="ctr"/>
          <a:lstStyle/>
          <a:p>
            <a:pPr marL="0" indent="0" algn="l">
              <a:buNone/>
            </a:pPr>
            <a:r>
              <a:rPr lang="en-US" sz="1500" b="1" dirty="0">
                <a:solidFill>
                  <a:schemeClr val="tx2"/>
                </a:solidFill>
              </a:rPr>
              <a:t>Picture it: 10 PSII centres under actinic light</a:t>
            </a:r>
            <a:endParaRPr lang="en-US" sz="1500" dirty="0"/>
          </a:p>
        </p:txBody>
      </p:sp>
      <p:sp>
        <p:nvSpPr>
          <p:cNvPr id="15" name="open centre"/>
          <p:cNvSpPr/>
          <p:nvPr/>
        </p:nvSpPr>
        <p:spPr>
          <a:xfrm>
            <a:off x="548640" y="4389120"/>
            <a:ext cx="548640" cy="548640"/>
          </a:xfrm>
          <a:prstGeom prst="ellipse">
            <a:avLst/>
          </a:prstGeom>
          <a:solidFill>
            <a:schemeClr val="accent1"/>
          </a:solidFill>
          <a:ln/>
        </p:spPr>
      </p:sp>
      <p:sp>
        <p:nvSpPr>
          <p:cNvPr id="16" name="open centre"/>
          <p:cNvSpPr/>
          <p:nvPr/>
        </p:nvSpPr>
        <p:spPr>
          <a:xfrm>
            <a:off x="1234440" y="4389120"/>
            <a:ext cx="548640" cy="548640"/>
          </a:xfrm>
          <a:prstGeom prst="ellipse">
            <a:avLst/>
          </a:prstGeom>
          <a:solidFill>
            <a:schemeClr val="accent1"/>
          </a:solidFill>
          <a:ln/>
        </p:spPr>
      </p:sp>
      <p:sp>
        <p:nvSpPr>
          <p:cNvPr id="17" name="open centre"/>
          <p:cNvSpPr/>
          <p:nvPr/>
        </p:nvSpPr>
        <p:spPr>
          <a:xfrm>
            <a:off x="1920240" y="4389120"/>
            <a:ext cx="548640" cy="548640"/>
          </a:xfrm>
          <a:prstGeom prst="ellipse">
            <a:avLst/>
          </a:prstGeom>
          <a:solidFill>
            <a:schemeClr val="accent1"/>
          </a:solidFill>
          <a:ln/>
        </p:spPr>
      </p:sp>
      <p:sp>
        <p:nvSpPr>
          <p:cNvPr id="18" name="open centre"/>
          <p:cNvSpPr/>
          <p:nvPr/>
        </p:nvSpPr>
        <p:spPr>
          <a:xfrm>
            <a:off x="2606040" y="4389120"/>
            <a:ext cx="548640" cy="548640"/>
          </a:xfrm>
          <a:prstGeom prst="ellipse">
            <a:avLst/>
          </a:prstGeom>
          <a:solidFill>
            <a:schemeClr val="accent1"/>
          </a:solidFill>
          <a:ln/>
        </p:spPr>
      </p:sp>
      <p:sp>
        <p:nvSpPr>
          <p:cNvPr id="19" name="open centre"/>
          <p:cNvSpPr/>
          <p:nvPr/>
        </p:nvSpPr>
        <p:spPr>
          <a:xfrm>
            <a:off x="3291840" y="4389120"/>
            <a:ext cx="548640" cy="548640"/>
          </a:xfrm>
          <a:prstGeom prst="ellipse">
            <a:avLst/>
          </a:prstGeom>
          <a:solidFill>
            <a:schemeClr val="accent1"/>
          </a:solidFill>
          <a:ln/>
        </p:spPr>
      </p:sp>
      <p:sp>
        <p:nvSpPr>
          <p:cNvPr id="20" name="open centre"/>
          <p:cNvSpPr/>
          <p:nvPr/>
        </p:nvSpPr>
        <p:spPr>
          <a:xfrm>
            <a:off x="3977640" y="4389120"/>
            <a:ext cx="548640" cy="548640"/>
          </a:xfrm>
          <a:prstGeom prst="ellipse">
            <a:avLst/>
          </a:prstGeom>
          <a:solidFill>
            <a:schemeClr val="accent1"/>
          </a:solidFill>
          <a:ln/>
        </p:spPr>
      </p:sp>
      <p:sp>
        <p:nvSpPr>
          <p:cNvPr id="21" name="closed centre"/>
          <p:cNvSpPr/>
          <p:nvPr/>
        </p:nvSpPr>
        <p:spPr>
          <a:xfrm>
            <a:off x="4663440" y="4389120"/>
            <a:ext cx="548640" cy="548640"/>
          </a:xfrm>
          <a:prstGeom prst="ellipse">
            <a:avLst/>
          </a:prstGeom>
          <a:solidFill>
            <a:schemeClr val="accent2"/>
          </a:solidFill>
          <a:ln/>
        </p:spPr>
      </p:sp>
      <p:sp>
        <p:nvSpPr>
          <p:cNvPr id="22" name="closed centre"/>
          <p:cNvSpPr/>
          <p:nvPr/>
        </p:nvSpPr>
        <p:spPr>
          <a:xfrm>
            <a:off x="5349240" y="4389120"/>
            <a:ext cx="548640" cy="548640"/>
          </a:xfrm>
          <a:prstGeom prst="ellipse">
            <a:avLst/>
          </a:prstGeom>
          <a:solidFill>
            <a:schemeClr val="accent2"/>
          </a:solidFill>
          <a:ln/>
        </p:spPr>
      </p:sp>
      <p:sp>
        <p:nvSpPr>
          <p:cNvPr id="23" name="closed centre"/>
          <p:cNvSpPr/>
          <p:nvPr/>
        </p:nvSpPr>
        <p:spPr>
          <a:xfrm>
            <a:off x="6035040" y="4389120"/>
            <a:ext cx="548640" cy="548640"/>
          </a:xfrm>
          <a:prstGeom prst="ellipse">
            <a:avLst/>
          </a:prstGeom>
          <a:solidFill>
            <a:schemeClr val="accent2"/>
          </a:solidFill>
          <a:ln/>
        </p:spPr>
      </p:sp>
      <p:sp>
        <p:nvSpPr>
          <p:cNvPr id="24" name="closed centre"/>
          <p:cNvSpPr/>
          <p:nvPr/>
        </p:nvSpPr>
        <p:spPr>
          <a:xfrm>
            <a:off x="6720840" y="4389120"/>
            <a:ext cx="548640" cy="548640"/>
          </a:xfrm>
          <a:prstGeom prst="ellipse">
            <a:avLst/>
          </a:prstGeom>
          <a:solidFill>
            <a:schemeClr val="accent2"/>
          </a:solidFill>
          <a:ln/>
        </p:spPr>
      </p:sp>
      <p:sp>
        <p:nvSpPr>
          <p:cNvPr id="25" name="Text 20"/>
          <p:cNvSpPr txBox="1"/>
          <p:nvPr/>
        </p:nvSpPr>
        <p:spPr>
          <a:xfrm>
            <a:off x="548640" y="5029200"/>
            <a:ext cx="6949440" cy="365760"/>
          </a:xfrm>
          <a:prstGeom prst="rect">
            <a:avLst/>
          </a:prstGeom>
          <a:noFill/>
          <a:ln/>
        </p:spPr>
        <p:txBody>
          <a:bodyPr wrap="square" lIns="0" tIns="0" rIns="0" bIns="0" rtlCol="0" anchor="ctr"/>
          <a:lstStyle/>
          <a:p>
            <a:pPr marL="0" indent="0" algn="l">
              <a:buNone/>
            </a:pPr>
            <a:r>
              <a:rPr lang="en-US" sz="1400" dirty="0">
                <a:solidFill>
                  <a:schemeClr val="tx1"/>
                </a:solidFill>
              </a:rPr>
              <a:t>6 open (green) · 4 closed (red) → q</a:t>
            </a:r>
            <a:r>
              <a:rPr lang="en-US" sz="1400" baseline="-40000" dirty="0">
                <a:solidFill>
                  <a:schemeClr val="tx1"/>
                </a:solidFill>
              </a:rPr>
              <a:t>L</a:t>
            </a:r>
            <a:r>
              <a:rPr lang="en-US" sz="1400" dirty="0">
                <a:solidFill>
                  <a:schemeClr val="tx1"/>
                </a:solidFill>
              </a:rPr>
              <a:t> ≈ 0.6 ; 1 − q</a:t>
            </a:r>
            <a:r>
              <a:rPr lang="en-US" sz="1400" baseline="-40000" dirty="0">
                <a:solidFill>
                  <a:schemeClr val="tx1"/>
                </a:solidFill>
              </a:rPr>
              <a:t>L</a:t>
            </a:r>
            <a:r>
              <a:rPr lang="en-US" sz="1400" dirty="0">
                <a:solidFill>
                  <a:schemeClr val="tx1"/>
                </a:solidFill>
              </a:rPr>
              <a:t> ≈ 0.4</a:t>
            </a:r>
            <a:endParaRPr lang="en-US" sz="1400" dirty="0"/>
          </a:p>
        </p:txBody>
      </p:sp>
      <p:sp>
        <p:nvSpPr>
          <p:cNvPr id="26" name="card"/>
          <p:cNvSpPr/>
          <p:nvPr/>
        </p:nvSpPr>
        <p:spPr>
          <a:xfrm>
            <a:off x="7589520" y="3931920"/>
            <a:ext cx="4050792"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27" name="Text 22"/>
          <p:cNvSpPr txBox="1"/>
          <p:nvPr/>
        </p:nvSpPr>
        <p:spPr>
          <a:xfrm>
            <a:off x="7772400" y="4069080"/>
            <a:ext cx="3730752" cy="365760"/>
          </a:xfrm>
          <a:prstGeom prst="rect">
            <a:avLst/>
          </a:prstGeom>
          <a:noFill/>
          <a:ln/>
        </p:spPr>
        <p:txBody>
          <a:bodyPr wrap="square" lIns="0" tIns="0" rIns="0" bIns="0" rtlCol="0" anchor="ctr"/>
          <a:lstStyle/>
          <a:p>
            <a:pPr marL="0" indent="0">
              <a:buNone/>
            </a:pPr>
            <a:r>
              <a:rPr lang="en-US" sz="1600" b="1" dirty="0">
                <a:solidFill>
                  <a:schemeClr val="tx2"/>
                </a:solidFill>
              </a:rPr>
              <a:t>Use cases</a:t>
            </a:r>
            <a:endParaRPr lang="en-US" sz="1600" dirty="0"/>
          </a:p>
        </p:txBody>
      </p:sp>
      <p:sp>
        <p:nvSpPr>
          <p:cNvPr id="28" name="Text 23"/>
          <p:cNvSpPr txBox="1"/>
          <p:nvPr/>
        </p:nvSpPr>
        <p:spPr>
          <a:xfrm>
            <a:off x="7772400" y="4480560"/>
            <a:ext cx="3685032"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Onset of photoinhibition</a:t>
            </a:r>
            <a:endParaRPr lang="en-US" sz="1300" dirty="0"/>
          </a:p>
          <a:p>
            <a:pPr marL="177800" indent="-177800">
              <a:spcAft>
                <a:spcPts val="400"/>
              </a:spcAft>
              <a:buSzPct val="100000"/>
              <a:buChar char="•"/>
            </a:pPr>
            <a:r>
              <a:rPr lang="en-US" sz="1300" dirty="0">
                <a:solidFill>
                  <a:schemeClr val="tx1"/>
                </a:solidFill>
              </a:rPr>
              <a:t>Level of photoprotective quenching</a:t>
            </a:r>
            <a:endParaRPr lang="en-US" sz="1300" dirty="0"/>
          </a:p>
          <a:p>
            <a:pPr marL="177800" indent="-177800">
              <a:spcAft>
                <a:spcPts val="400"/>
              </a:spcAft>
              <a:buSzPct val="100000"/>
              <a:buChar char="•"/>
            </a:pPr>
            <a:r>
              <a:rPr lang="en-US" sz="1300" dirty="0">
                <a:solidFill>
                  <a:schemeClr val="tx1"/>
                </a:solidFill>
              </a:rPr>
              <a:t>Requires F</a:t>
            </a:r>
            <a:r>
              <a:rPr lang="en-US" sz="1300" baseline="-40000" dirty="0">
                <a:solidFill>
                  <a:schemeClr val="tx1"/>
                </a:solidFill>
              </a:rPr>
              <a:t>o</a:t>
            </a:r>
            <a:r>
              <a:rPr lang="en-US" sz="1300" dirty="0">
                <a:solidFill>
                  <a:schemeClr val="tx1"/>
                </a:solidFill>
              </a:rPr>
              <a:t>′ (measured with FR or calculated)</a:t>
            </a:r>
            <a:endParaRPr lang="en-US" sz="1300" dirty="0"/>
          </a:p>
        </p:txBody>
      </p:sp>
      <p:sp>
        <p:nvSpPr>
          <p:cNvPr id="29" name="Text 24"/>
          <p:cNvSpPr txBox="1"/>
          <p:nvPr/>
        </p:nvSpPr>
        <p:spPr>
          <a:xfrm>
            <a:off x="548640" y="5486400"/>
            <a:ext cx="6858000" cy="640080"/>
          </a:xfrm>
          <a:prstGeom prst="rect">
            <a:avLst/>
          </a:prstGeom>
          <a:noFill/>
          <a:ln/>
        </p:spPr>
        <p:txBody>
          <a:bodyPr wrap="square" lIns="508" tIns="508" rIns="508" bIns="508" rtlCol="0" anchor="t"/>
          <a:lstStyle/>
          <a:p>
            <a:pPr marL="0" indent="0">
              <a:spcAft>
                <a:spcPts val="600"/>
              </a:spcAft>
              <a:buNone/>
            </a:pPr>
            <a:r>
              <a:rPr lang="en-US" sz="1200" i="1" dirty="0">
                <a:solidFill>
                  <a:schemeClr val="accent6"/>
                </a:solidFill>
              </a:rPr>
              <a:t>qP and qL are both 1 when all centres are open; they differ in between because of antenna connectivity.</a:t>
            </a:r>
            <a:endParaRPr lang="en-US" sz="12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NPQ: non-photochemical quenching</a:t>
            </a:r>
            <a:endParaRPr lang="en-US" sz="3200" dirty="0"/>
          </a:p>
        </p:txBody>
      </p:sp>
      <p:sp>
        <p:nvSpPr>
          <p:cNvPr id="4" name="card"/>
          <p:cNvSpPr/>
          <p:nvPr/>
        </p:nvSpPr>
        <p:spPr>
          <a:xfrm>
            <a:off x="548640" y="1325880"/>
            <a:ext cx="6035040" cy="1371600"/>
          </a:xfrm>
          <a:prstGeom prst="roundRect">
            <a:avLst>
              <a:gd name="adj" fmla="val 5333"/>
            </a:avLst>
          </a:prstGeom>
          <a:solidFill>
            <a:schemeClr val="tx2"/>
          </a:solidFill>
          <a:ln/>
          <a:effectLst>
            <a:outerShdw blurRad="76200" dist="25400" dir="5400000" algn="bl" rotWithShape="0">
              <a:srgbClr val="000000">
                <a:alpha val="14000"/>
              </a:srgbClr>
            </a:outerShdw>
          </a:effectLst>
        </p:spPr>
      </p:sp>
      <p:sp>
        <p:nvSpPr>
          <p:cNvPr id="5" name="Text 2"/>
          <p:cNvSpPr txBox="1"/>
          <p:nvPr/>
        </p:nvSpPr>
        <p:spPr>
          <a:xfrm>
            <a:off x="822960" y="1417320"/>
            <a:ext cx="5486400" cy="1188720"/>
          </a:xfrm>
          <a:prstGeom prst="rect">
            <a:avLst/>
          </a:prstGeom>
          <a:noFill/>
          <a:ln/>
        </p:spPr>
        <p:txBody>
          <a:bodyPr wrap="square" lIns="0" tIns="0" rIns="0" bIns="0" rtlCol="0" anchor="ctr"/>
          <a:lstStyle/>
          <a:p>
            <a:pPr marL="0" indent="0" algn="ctr">
              <a:buNone/>
            </a:pPr>
            <a:r>
              <a:rPr lang="en-US" sz="2800" b="1" dirty="0">
                <a:solidFill>
                  <a:schemeClr val="bg1"/>
                </a:solidFill>
              </a:rPr>
              <a:t>NPQ = (F</a:t>
            </a:r>
            <a:r>
              <a:rPr lang="en-US" sz="2800" b="1" baseline="-40000" dirty="0">
                <a:solidFill>
                  <a:schemeClr val="bg1"/>
                </a:solidFill>
              </a:rPr>
              <a:t>m</a:t>
            </a:r>
            <a:r>
              <a:rPr lang="en-US" sz="2800" b="1" dirty="0">
                <a:solidFill>
                  <a:schemeClr val="bg1"/>
                </a:solidFill>
              </a:rPr>
              <a:t> − F</a:t>
            </a:r>
            <a:r>
              <a:rPr lang="en-US" sz="2800" b="1" baseline="-40000" dirty="0">
                <a:solidFill>
                  <a:schemeClr val="bg1"/>
                </a:solidFill>
              </a:rPr>
              <a:t>m</a:t>
            </a:r>
            <a:r>
              <a:rPr lang="en-US" sz="2800" b="1" dirty="0">
                <a:solidFill>
                  <a:schemeClr val="bg1"/>
                </a:solidFill>
              </a:rPr>
              <a:t>′) / F</a:t>
            </a:r>
            <a:r>
              <a:rPr lang="en-US" sz="2800" b="1" baseline="-40000" dirty="0">
                <a:solidFill>
                  <a:schemeClr val="bg1"/>
                </a:solidFill>
              </a:rPr>
              <a:t>m</a:t>
            </a:r>
            <a:r>
              <a:rPr lang="en-US" sz="2800" b="1" dirty="0">
                <a:solidFill>
                  <a:schemeClr val="bg1"/>
                </a:solidFill>
              </a:rPr>
              <a:t>′</a:t>
            </a:r>
            <a:endParaRPr lang="en-US" sz="2800" dirty="0"/>
          </a:p>
        </p:txBody>
      </p:sp>
      <p:sp>
        <p:nvSpPr>
          <p:cNvPr id="6" name="card"/>
          <p:cNvSpPr/>
          <p:nvPr/>
        </p:nvSpPr>
        <p:spPr>
          <a:xfrm>
            <a:off x="548640" y="2880360"/>
            <a:ext cx="6035040" cy="1600200"/>
          </a:xfrm>
          <a:prstGeom prst="roundRect">
            <a:avLst>
              <a:gd name="adj" fmla="val 4571"/>
            </a:avLst>
          </a:prstGeom>
          <a:solidFill>
            <a:schemeClr val="bg2"/>
          </a:solidFill>
          <a:ln/>
          <a:effectLst>
            <a:outerShdw blurRad="76200" dist="25400" dir="5400000" algn="bl" rotWithShape="0">
              <a:srgbClr val="000000">
                <a:alpha val="14000"/>
              </a:srgbClr>
            </a:outerShdw>
          </a:effectLst>
        </p:spPr>
      </p:sp>
      <p:sp>
        <p:nvSpPr>
          <p:cNvPr id="7" name="icon circle"/>
          <p:cNvSpPr/>
          <p:nvPr/>
        </p:nvSpPr>
        <p:spPr>
          <a:xfrm>
            <a:off x="731520" y="3035808"/>
            <a:ext cx="420624" cy="420624"/>
          </a:xfrm>
          <a:prstGeom prst="ellipse">
            <a:avLst/>
          </a:prstGeom>
          <a:solidFill>
            <a:schemeClr val="accent3"/>
          </a:solidFill>
          <a:ln/>
        </p:spPr>
      </p:sp>
      <p:pic>
        <p:nvPicPr>
          <p:cNvPr id="8" name="Image 0" descr="Fire icon"/>
          <p:cNvPicPr>
            <a:picLocks noChangeAspect="1"/>
          </p:cNvPicPr>
          <p:nvPr/>
        </p:nvPicPr>
        <p:blipFill>
          <a:blip r:embed="rId3"/>
          <a:stretch>
            <a:fillRect/>
          </a:stretch>
        </p:blipFill>
        <p:spPr>
          <a:xfrm>
            <a:off x="840882" y="3145170"/>
            <a:ext cx="201900" cy="201900"/>
          </a:xfrm>
          <a:prstGeom prst="rect">
            <a:avLst/>
          </a:prstGeom>
        </p:spPr>
      </p:pic>
      <p:sp>
        <p:nvSpPr>
          <p:cNvPr id="9" name="Text 5"/>
          <p:cNvSpPr txBox="1"/>
          <p:nvPr/>
        </p:nvSpPr>
        <p:spPr>
          <a:xfrm>
            <a:off x="1261872" y="3017520"/>
            <a:ext cx="5184648" cy="457200"/>
          </a:xfrm>
          <a:prstGeom prst="rect">
            <a:avLst/>
          </a:prstGeom>
          <a:noFill/>
          <a:ln/>
        </p:spPr>
        <p:txBody>
          <a:bodyPr wrap="square" lIns="0" tIns="0" rIns="0" bIns="0" rtlCol="0" anchor="ctr"/>
          <a:lstStyle/>
          <a:p>
            <a:pPr marL="0" indent="0">
              <a:buNone/>
            </a:pPr>
            <a:r>
              <a:rPr lang="en-US" sz="1600" b="1" dirty="0">
                <a:solidFill>
                  <a:schemeClr val="tx2"/>
                </a:solidFill>
              </a:rPr>
              <a:t>Meaning</a:t>
            </a:r>
            <a:endParaRPr lang="en-US" sz="1600" dirty="0"/>
          </a:p>
        </p:txBody>
      </p:sp>
      <p:sp>
        <p:nvSpPr>
          <p:cNvPr id="10" name="Text 6"/>
          <p:cNvSpPr txBox="1"/>
          <p:nvPr/>
        </p:nvSpPr>
        <p:spPr>
          <a:xfrm>
            <a:off x="731520" y="3566160"/>
            <a:ext cx="5669280" cy="82296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Estimates the </a:t>
            </a:r>
            <a:r>
              <a:rPr lang="en-US" sz="1300" b="1" dirty="0">
                <a:solidFill>
                  <a:schemeClr val="tx1"/>
                </a:solidFill>
              </a:rPr>
              <a:t>rate constant for heat loss</a:t>
            </a:r>
            <a:r>
              <a:rPr lang="en-US" sz="1300" dirty="0">
                <a:solidFill>
                  <a:schemeClr val="tx1"/>
                </a:solidFill>
              </a:rPr>
              <a:t> from PSII</a:t>
            </a:r>
            <a:endParaRPr lang="en-US" sz="1300" dirty="0"/>
          </a:p>
          <a:p>
            <a:pPr marL="177800" indent="-177800">
              <a:spcAft>
                <a:spcPts val="400"/>
              </a:spcAft>
              <a:buSzPct val="100000"/>
              <a:buChar char="•"/>
            </a:pPr>
            <a:r>
              <a:rPr lang="en-US" sz="1300" dirty="0">
                <a:solidFill>
                  <a:schemeClr val="tx1"/>
                </a:solidFill>
              </a:rPr>
              <a:t>0 in a fully dark-adapted leaf; typically rises to ~1–3+ in high light</a:t>
            </a:r>
            <a:endParaRPr lang="en-US" sz="1300" dirty="0"/>
          </a:p>
        </p:txBody>
      </p:sp>
      <p:sp>
        <p:nvSpPr>
          <p:cNvPr id="11" name="card"/>
          <p:cNvSpPr/>
          <p:nvPr/>
        </p:nvSpPr>
        <p:spPr>
          <a:xfrm>
            <a:off x="548640" y="4617720"/>
            <a:ext cx="6035040" cy="1554480"/>
          </a:xfrm>
          <a:prstGeom prst="roundRect">
            <a:avLst>
              <a:gd name="adj" fmla="val 4706"/>
            </a:avLst>
          </a:prstGeom>
          <a:solidFill>
            <a:schemeClr val="bg2"/>
          </a:solidFill>
          <a:ln/>
          <a:effectLst>
            <a:outerShdw blurRad="76200" dist="25400" dir="5400000" algn="bl" rotWithShape="0">
              <a:srgbClr val="000000">
                <a:alpha val="14000"/>
              </a:srgbClr>
            </a:outerShdw>
          </a:effectLst>
        </p:spPr>
      </p:sp>
      <p:sp>
        <p:nvSpPr>
          <p:cNvPr id="12" name="icon circle"/>
          <p:cNvSpPr/>
          <p:nvPr/>
        </p:nvSpPr>
        <p:spPr>
          <a:xfrm>
            <a:off x="731520" y="4773168"/>
            <a:ext cx="420624" cy="420624"/>
          </a:xfrm>
          <a:prstGeom prst="ellipse">
            <a:avLst/>
          </a:prstGeom>
          <a:solidFill>
            <a:schemeClr val="accent2"/>
          </a:solidFill>
          <a:ln/>
        </p:spPr>
      </p:sp>
      <p:pic>
        <p:nvPicPr>
          <p:cNvPr id="13" name="Image 1" descr="ExclamationTriangle icon"/>
          <p:cNvPicPr>
            <a:picLocks noChangeAspect="1"/>
          </p:cNvPicPr>
          <p:nvPr/>
        </p:nvPicPr>
        <p:blipFill>
          <a:blip r:embed="rId4"/>
          <a:stretch>
            <a:fillRect/>
          </a:stretch>
        </p:blipFill>
        <p:spPr>
          <a:xfrm>
            <a:off x="840882" y="4882530"/>
            <a:ext cx="201900" cy="201900"/>
          </a:xfrm>
          <a:prstGeom prst="rect">
            <a:avLst/>
          </a:prstGeom>
        </p:spPr>
      </p:pic>
      <p:sp>
        <p:nvSpPr>
          <p:cNvPr id="14" name="Text 9"/>
          <p:cNvSpPr txBox="1"/>
          <p:nvPr/>
        </p:nvSpPr>
        <p:spPr>
          <a:xfrm>
            <a:off x="1261872" y="4754880"/>
            <a:ext cx="5184648" cy="457200"/>
          </a:xfrm>
          <a:prstGeom prst="rect">
            <a:avLst/>
          </a:prstGeom>
          <a:noFill/>
          <a:ln/>
        </p:spPr>
        <p:txBody>
          <a:bodyPr wrap="square" lIns="0" tIns="0" rIns="0" bIns="0" rtlCol="0" anchor="ctr"/>
          <a:lstStyle/>
          <a:p>
            <a:pPr marL="0" indent="0">
              <a:buNone/>
            </a:pPr>
            <a:r>
              <a:rPr lang="en-US" sz="1600" b="1" dirty="0">
                <a:solidFill>
                  <a:schemeClr val="tx2"/>
                </a:solidFill>
              </a:rPr>
              <a:t>Caution</a:t>
            </a:r>
            <a:endParaRPr lang="en-US" sz="1600" dirty="0"/>
          </a:p>
        </p:txBody>
      </p:sp>
      <p:sp>
        <p:nvSpPr>
          <p:cNvPr id="15" name="Text 10"/>
          <p:cNvSpPr txBox="1"/>
          <p:nvPr/>
        </p:nvSpPr>
        <p:spPr>
          <a:xfrm>
            <a:off x="731520" y="5303520"/>
            <a:ext cx="5669280" cy="77724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Needs a true F</a:t>
            </a:r>
            <a:r>
              <a:rPr lang="en-US" sz="1300" baseline="-40000" dirty="0">
                <a:solidFill>
                  <a:schemeClr val="tx1"/>
                </a:solidFill>
              </a:rPr>
              <a:t>m</a:t>
            </a:r>
            <a:r>
              <a:rPr lang="en-US" sz="1300" dirty="0">
                <a:solidFill>
                  <a:schemeClr val="tx1"/>
                </a:solidFill>
              </a:rPr>
              <a:t>: if dark-adapted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 is well below 0.83, treat NPQ with caution</a:t>
            </a:r>
            <a:endParaRPr lang="en-US" sz="1300" dirty="0"/>
          </a:p>
          <a:p>
            <a:pPr marL="177800" indent="-177800">
              <a:spcAft>
                <a:spcPts val="400"/>
              </a:spcAft>
              <a:buSzPct val="100000"/>
              <a:buChar char="•"/>
            </a:pPr>
            <a:r>
              <a:rPr lang="en-US" sz="1300" dirty="0">
                <a:solidFill>
                  <a:schemeClr val="tx1"/>
                </a:solidFill>
              </a:rPr>
              <a:t>Photoinhibited leaves have lower F</a:t>
            </a:r>
            <a:r>
              <a:rPr lang="en-US" sz="1300" baseline="-40000" dirty="0">
                <a:solidFill>
                  <a:schemeClr val="tx1"/>
                </a:solidFill>
              </a:rPr>
              <a:t>m</a:t>
            </a:r>
            <a:r>
              <a:rPr lang="en-US" sz="1300" dirty="0">
                <a:solidFill>
                  <a:schemeClr val="tx1"/>
                </a:solidFill>
              </a:rPr>
              <a:t> → NPQ underestimated → don't compare across different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endParaRPr lang="en-US" sz="1300" dirty="0"/>
          </a:p>
        </p:txBody>
      </p:sp>
      <p:sp>
        <p:nvSpPr>
          <p:cNvPr id="16" name="figure frame"/>
          <p:cNvSpPr/>
          <p:nvPr/>
        </p:nvSpPr>
        <p:spPr>
          <a:xfrm>
            <a:off x="6812280" y="1325880"/>
            <a:ext cx="4828032" cy="4343400"/>
          </a:xfrm>
          <a:prstGeom prst="roundRect">
            <a:avLst>
              <a:gd name="adj" fmla="val 1263"/>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17" name="Image 2" descr="Classic notation: Y = (Fm′−F)/Fm′, qP = (Fm′−F)/(Fm′−Fo′), qN = 1 − (Fm′−Fo′)/(Fm−Fo); ML, SP, AL, FR markers"/>
          <p:cNvPicPr>
            <a:picLocks noChangeAspect="1"/>
          </p:cNvPicPr>
          <p:nvPr/>
        </p:nvPicPr>
        <p:blipFill>
          <a:blip r:embed="rId5"/>
          <a:stretch>
            <a:fillRect/>
          </a:stretch>
        </p:blipFill>
        <p:spPr>
          <a:xfrm>
            <a:off x="7066282" y="1417320"/>
            <a:ext cx="4320029" cy="4160520"/>
          </a:xfrm>
          <a:prstGeom prst="rect">
            <a:avLst/>
          </a:prstGeom>
        </p:spPr>
      </p:pic>
      <p:sp>
        <p:nvSpPr>
          <p:cNvPr id="18" name="Text 12"/>
          <p:cNvSpPr txBox="1"/>
          <p:nvPr/>
        </p:nvSpPr>
        <p:spPr>
          <a:xfrm>
            <a:off x="6812280" y="5715000"/>
            <a:ext cx="4828032" cy="457200"/>
          </a:xfrm>
          <a:prstGeom prst="rect">
            <a:avLst/>
          </a:prstGeom>
          <a:noFill/>
          <a:ln/>
        </p:spPr>
        <p:txBody>
          <a:bodyPr wrap="square" lIns="0" tIns="0" rIns="0" bIns="0" rtlCol="0" anchor="t"/>
          <a:lstStyle/>
          <a:p>
            <a:pPr marL="0" indent="0">
              <a:buNone/>
            </a:pPr>
            <a:r>
              <a:rPr lang="en-US" sz="1100" i="1" dirty="0">
                <a:solidFill>
                  <a:schemeClr val="accent6"/>
                </a:solidFill>
              </a:rPr>
              <a:t>Classic notation: Y = (Fm′−F)/Fm′, qP = (Fm′−F)/(Fm′−Fo′), qN = 1 − (Fm′−Fo′)/(Fm−Fo); ML, SP, AL, FR markers</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Summary table of commonly used parameters</a:t>
            </a:r>
            <a:endParaRPr lang="en-US" sz="3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4352544"/>
        </p:xfrm>
        <a:graphic>
          <a:graphicData uri="http://schemas.openxmlformats.org/drawingml/2006/table">
            <a:tbl>
              <a:tblPr/>
              <a:tblGrid>
                <a:gridCol w="15544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867912">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621792">
                <a:tc>
                  <a:txBody>
                    <a:bodyPr/>
                    <a:lstStyle/>
                    <a:p>
                      <a:pPr marL="0" indent="0">
                        <a:buNone/>
                      </a:pPr>
                      <a:r>
                        <a:rPr lang="en-US" sz="1400" b="1" dirty="0">
                          <a:solidFill>
                            <a:schemeClr val="bg1"/>
                          </a:solidFill>
                        </a:rPr>
                        <a:t>Parameter</a:t>
                      </a:r>
                      <a:endParaRPr lang="en-US" sz="14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Also known as</a:t>
                      </a:r>
                      <a:endParaRPr lang="en-US" sz="14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Formula</a:t>
                      </a:r>
                      <a:endParaRPr lang="en-US" sz="14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Description</a:t>
                      </a:r>
                      <a:endParaRPr lang="en-US" sz="14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Needs</a:t>
                      </a:r>
                      <a:endParaRPr lang="en-US" sz="14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21792">
                <a:tc>
                  <a:txBody>
                    <a:bodyPr/>
                    <a:lstStyle/>
                    <a:p>
                      <a:pPr marL="0" indent="0">
                        <a:buNone/>
                      </a:pPr>
                      <a:r>
                        <a:rPr lang="en-US" sz="1300" b="1" dirty="0">
                          <a:solidFill>
                            <a:schemeClr val="tx2"/>
                          </a:solidFill>
                        </a:rPr>
                        <a:t>F</a:t>
                      </a:r>
                      <a:r>
                        <a:rPr lang="en-US" sz="1300" b="1" baseline="-40000" dirty="0">
                          <a:solidFill>
                            <a:schemeClr val="tx2"/>
                          </a:solidFill>
                        </a:rPr>
                        <a:t>v</a:t>
                      </a:r>
                      <a:r>
                        <a:rPr lang="en-US" sz="1300" b="1" dirty="0">
                          <a:solidFill>
                            <a:schemeClr val="tx2"/>
                          </a:solidFill>
                        </a:rPr>
                        <a:t>/F</a:t>
                      </a:r>
                      <a:r>
                        <a:rPr lang="en-US" sz="1300" b="1" baseline="-40000" dirty="0">
                          <a:solidFill>
                            <a:schemeClr val="tx2"/>
                          </a:solidFill>
                        </a:rPr>
                        <a:t>m</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(F</a:t>
                      </a:r>
                      <a:r>
                        <a:rPr lang="en-US" sz="1300" baseline="-40000" dirty="0">
                          <a:solidFill>
                            <a:schemeClr val="tx1"/>
                          </a:solidFill>
                        </a:rPr>
                        <a:t>m</a:t>
                      </a:r>
                      <a:r>
                        <a:rPr lang="en-US" sz="1300" dirty="0">
                          <a:solidFill>
                            <a:schemeClr val="tx1"/>
                          </a:solidFill>
                        </a:rPr>
                        <a:t> − F</a:t>
                      </a:r>
                      <a:r>
                        <a:rPr lang="en-US" sz="1300" baseline="-40000" dirty="0">
                          <a:solidFill>
                            <a:schemeClr val="tx1"/>
                          </a:solidFill>
                        </a:rPr>
                        <a:t>o</a:t>
                      </a:r>
                      <a:r>
                        <a:rPr lang="en-US" sz="1300" dirty="0">
                          <a:solidFill>
                            <a:schemeClr val="tx1"/>
                          </a:solidFill>
                        </a:rPr>
                        <a:t>)/F</a:t>
                      </a:r>
                      <a:r>
                        <a:rPr lang="en-US" sz="1300" baseline="-40000" dirty="0">
                          <a:solidFill>
                            <a:schemeClr val="tx1"/>
                          </a:solidFill>
                        </a:rPr>
                        <a:t>m</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Maximum quantum efficiency of PSII photochemistry</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b="1" dirty="0">
                          <a:solidFill>
                            <a:schemeClr val="accent2"/>
                          </a:solidFill>
                        </a:rPr>
                        <a:t>dark</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21792">
                <a:tc>
                  <a:txBody>
                    <a:bodyPr/>
                    <a:lstStyle/>
                    <a:p>
                      <a:pPr marL="0" indent="0">
                        <a:buNone/>
                      </a:pPr>
                      <a:r>
                        <a:rPr lang="en-US" sz="1300" b="1" dirty="0">
                          <a:solidFill>
                            <a:schemeClr val="tx2"/>
                          </a:solidFill>
                        </a:rPr>
                        <a:t>F</a:t>
                      </a:r>
                      <a:r>
                        <a:rPr lang="en-US" sz="1300" b="1" baseline="-40000" dirty="0">
                          <a:solidFill>
                            <a:schemeClr val="tx2"/>
                          </a:solidFill>
                        </a:rPr>
                        <a:t>v</a:t>
                      </a:r>
                      <a:r>
                        <a:rPr lang="en-US" sz="1300" b="1" dirty="0">
                          <a:solidFill>
                            <a:schemeClr val="tx2"/>
                          </a:solidFill>
                        </a:rPr>
                        <a:t>′/F</a:t>
                      </a:r>
                      <a:r>
                        <a:rPr lang="en-US" sz="1300" b="1" baseline="-40000" dirty="0">
                          <a:solidFill>
                            <a:schemeClr val="tx2"/>
                          </a:solidFill>
                        </a:rPr>
                        <a:t>m</a:t>
                      </a:r>
                      <a:r>
                        <a:rPr lang="en-US" sz="1300" b="1" dirty="0">
                          <a:solidFill>
                            <a:schemeClr val="tx2"/>
                          </a:solidFill>
                        </a:rPr>
                        <a:t>′</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(F</a:t>
                      </a:r>
                      <a:r>
                        <a:rPr lang="en-US" sz="1300" baseline="-40000" dirty="0">
                          <a:solidFill>
                            <a:schemeClr val="tx1"/>
                          </a:solidFill>
                        </a:rPr>
                        <a:t>m</a:t>
                      </a:r>
                      <a:r>
                        <a:rPr lang="en-US" sz="1300" dirty="0">
                          <a:solidFill>
                            <a:schemeClr val="tx1"/>
                          </a:solidFill>
                        </a:rPr>
                        <a:t>′ − F</a:t>
                      </a:r>
                      <a:r>
                        <a:rPr lang="en-US" sz="1300" baseline="-40000" dirty="0">
                          <a:solidFill>
                            <a:schemeClr val="tx1"/>
                          </a:solidFill>
                        </a:rPr>
                        <a:t>o</a:t>
                      </a:r>
                      <a:r>
                        <a:rPr lang="en-US" sz="1300" dirty="0">
                          <a:solidFill>
                            <a:schemeClr val="tx1"/>
                          </a:solidFill>
                        </a:rPr>
                        <a:t>′)/F</a:t>
                      </a:r>
                      <a:r>
                        <a:rPr lang="en-US" sz="1300" baseline="-40000" dirty="0">
                          <a:solidFill>
                            <a:schemeClr val="tx1"/>
                          </a:solidFill>
                        </a:rPr>
                        <a:t>m</a:t>
                      </a:r>
                      <a:r>
                        <a:rPr lang="en-US" sz="1300" dirty="0">
                          <a:solidFill>
                            <a:schemeClr val="tx1"/>
                          </a:solidFill>
                        </a:rPr>
                        <a:t>′</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Maximum efficiency of PSII in the light, if all centres were open</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5"/>
                          </a:solidFill>
                        </a:rPr>
                        <a:t>F</a:t>
                      </a:r>
                      <a:r>
                        <a:rPr lang="en-US" sz="1300" b="1" baseline="-40000" dirty="0">
                          <a:solidFill>
                            <a:schemeClr val="accent5"/>
                          </a:solidFill>
                        </a:rPr>
                        <a:t>o</a:t>
                      </a:r>
                      <a:r>
                        <a:rPr lang="en-US" sz="1300" b="1" dirty="0">
                          <a:solidFill>
                            <a:schemeClr val="accent5"/>
                          </a:solidFill>
                        </a:rPr>
                        <a:t>′</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21792">
                <a:tc>
                  <a:txBody>
                    <a:bodyPr/>
                    <a:lstStyle/>
                    <a:p>
                      <a:pPr marL="0" indent="0">
                        <a:buNone/>
                      </a:pPr>
                      <a:r>
                        <a:rPr lang="en-US" sz="1300" b="1" dirty="0">
                          <a:solidFill>
                            <a:schemeClr val="tx2"/>
                          </a:solidFill>
                        </a:rPr>
                        <a:t>F</a:t>
                      </a:r>
                      <a:r>
                        <a:rPr lang="en-US" sz="1300" b="1" baseline="-40000" dirty="0">
                          <a:solidFill>
                            <a:schemeClr val="tx2"/>
                          </a:solidFill>
                        </a:rPr>
                        <a:t>q</a:t>
                      </a:r>
                      <a:r>
                        <a:rPr lang="en-US" sz="1300" b="1" dirty="0">
                          <a:solidFill>
                            <a:schemeClr val="tx2"/>
                          </a:solidFill>
                        </a:rPr>
                        <a:t>′/F</a:t>
                      </a:r>
                      <a:r>
                        <a:rPr lang="en-US" sz="1300" b="1" baseline="-40000" dirty="0">
                          <a:solidFill>
                            <a:schemeClr val="tx2"/>
                          </a:solidFill>
                        </a:rPr>
                        <a:t>m</a:t>
                      </a:r>
                      <a:r>
                        <a:rPr lang="en-US" sz="1300" b="1" dirty="0">
                          <a:solidFill>
                            <a:schemeClr val="tx2"/>
                          </a:solidFill>
                        </a:rPr>
                        <a:t>′</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Φ</a:t>
                      </a:r>
                      <a:r>
                        <a:rPr lang="en-US" sz="1300" baseline="-40000" dirty="0">
                          <a:solidFill>
                            <a:schemeClr val="tx1"/>
                          </a:solidFill>
                        </a:rPr>
                        <a:t>PSII</a:t>
                      </a:r>
                      <a:r>
                        <a:rPr lang="en-US" sz="1300" dirty="0">
                          <a:solidFill>
                            <a:schemeClr val="tx1"/>
                          </a:solidFill>
                        </a:rPr>
                        <a:t>, ΔF/F</a:t>
                      </a:r>
                      <a:r>
                        <a:rPr lang="en-US" sz="1300" baseline="-40000" dirty="0">
                          <a:solidFill>
                            <a:schemeClr val="tx1"/>
                          </a:solidFill>
                        </a:rPr>
                        <a:t>m</a:t>
                      </a:r>
                      <a:r>
                        <a:rPr lang="en-US" sz="1300" dirty="0">
                          <a:solidFill>
                            <a:schemeClr val="tx1"/>
                          </a:solidFill>
                        </a:rPr>
                        <a:t>′, Y(II)</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(F</a:t>
                      </a:r>
                      <a:r>
                        <a:rPr lang="en-US" sz="1300" baseline="-40000" dirty="0">
                          <a:solidFill>
                            <a:schemeClr val="tx1"/>
                          </a:solidFill>
                        </a:rPr>
                        <a:t>m</a:t>
                      </a:r>
                      <a:r>
                        <a:rPr lang="en-US" sz="1300" dirty="0">
                          <a:solidFill>
                            <a:schemeClr val="tx1"/>
                          </a:solidFill>
                        </a:rPr>
                        <a:t>′ − F′)/F</a:t>
                      </a:r>
                      <a:r>
                        <a:rPr lang="en-US" sz="1300" baseline="-40000" dirty="0">
                          <a:solidFill>
                            <a:schemeClr val="tx1"/>
                          </a:solidFill>
                        </a:rPr>
                        <a:t>m</a:t>
                      </a:r>
                      <a:r>
                        <a:rPr lang="en-US" sz="1300" dirty="0">
                          <a:solidFill>
                            <a:schemeClr val="tx1"/>
                          </a:solidFill>
                        </a:rPr>
                        <a:t>′</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PSII operating efficiency: quantum efficiency of PSII electron transport in the light</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b="1" dirty="0">
                          <a:solidFill>
                            <a:schemeClr val="accent5"/>
                          </a:solidFill>
                        </a:rPr>
                        <a:t>—</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21792">
                <a:tc>
                  <a:txBody>
                    <a:bodyPr/>
                    <a:lstStyle/>
                    <a:p>
                      <a:pPr marL="0" indent="0">
                        <a:buNone/>
                      </a:pPr>
                      <a:r>
                        <a:rPr lang="en-US" sz="1300" b="1" dirty="0">
                          <a:solidFill>
                            <a:schemeClr val="tx2"/>
                          </a:solidFill>
                        </a:rPr>
                        <a:t>F</a:t>
                      </a:r>
                      <a:r>
                        <a:rPr lang="en-US" sz="1300" b="1" baseline="-40000" dirty="0">
                          <a:solidFill>
                            <a:schemeClr val="tx2"/>
                          </a:solidFill>
                        </a:rPr>
                        <a:t>q</a:t>
                      </a:r>
                      <a:r>
                        <a:rPr lang="en-US" sz="1300" b="1" dirty="0">
                          <a:solidFill>
                            <a:schemeClr val="tx2"/>
                          </a:solidFill>
                        </a:rPr>
                        <a:t>′/F</a:t>
                      </a:r>
                      <a:r>
                        <a:rPr lang="en-US" sz="1300" b="1" baseline="-40000" dirty="0">
                          <a:solidFill>
                            <a:schemeClr val="tx2"/>
                          </a:solidFill>
                        </a:rPr>
                        <a:t>v</a:t>
                      </a:r>
                      <a:r>
                        <a:rPr lang="en-US" sz="1300" b="1" dirty="0">
                          <a:solidFill>
                            <a:schemeClr val="tx2"/>
                          </a:solidFill>
                        </a:rPr>
                        <a:t>′</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qP</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(F</a:t>
                      </a:r>
                      <a:r>
                        <a:rPr lang="en-US" sz="1300" baseline="-40000" dirty="0">
                          <a:solidFill>
                            <a:schemeClr val="tx1"/>
                          </a:solidFill>
                        </a:rPr>
                        <a:t>m</a:t>
                      </a:r>
                      <a:r>
                        <a:rPr lang="en-US" sz="1300" dirty="0">
                          <a:solidFill>
                            <a:schemeClr val="tx1"/>
                          </a:solidFill>
                        </a:rPr>
                        <a:t>′ − F′)/(F</a:t>
                      </a:r>
                      <a:r>
                        <a:rPr lang="en-US" sz="1300" baseline="-40000" dirty="0">
                          <a:solidFill>
                            <a:schemeClr val="tx1"/>
                          </a:solidFill>
                        </a:rPr>
                        <a:t>m</a:t>
                      </a:r>
                      <a:r>
                        <a:rPr lang="en-US" sz="1300" dirty="0">
                          <a:solidFill>
                            <a:schemeClr val="tx1"/>
                          </a:solidFill>
                        </a:rPr>
                        <a:t>′ − F</a:t>
                      </a:r>
                      <a:r>
                        <a:rPr lang="en-US" sz="1300" baseline="-40000" dirty="0">
                          <a:solidFill>
                            <a:schemeClr val="tx1"/>
                          </a:solidFill>
                        </a:rPr>
                        <a:t>o</a:t>
                      </a:r>
                      <a:r>
                        <a:rPr lang="en-US" sz="1300" dirty="0">
                          <a:solidFill>
                            <a:schemeClr val="tx1"/>
                          </a:solidFill>
                        </a:rPr>
                        <a:t>′)</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Photochemical quenching; non-linear with fraction of open centres (see qL)</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5"/>
                          </a:solidFill>
                        </a:rPr>
                        <a:t>F</a:t>
                      </a:r>
                      <a:r>
                        <a:rPr lang="en-US" sz="1300" b="1" baseline="-40000" dirty="0">
                          <a:solidFill>
                            <a:schemeClr val="accent5"/>
                          </a:solidFill>
                        </a:rPr>
                        <a:t>o</a:t>
                      </a:r>
                      <a:r>
                        <a:rPr lang="en-US" sz="1300" b="1" dirty="0">
                          <a:solidFill>
                            <a:schemeClr val="accent5"/>
                          </a:solidFill>
                        </a:rPr>
                        <a:t>′</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21792">
                <a:tc>
                  <a:txBody>
                    <a:bodyPr/>
                    <a:lstStyle/>
                    <a:p>
                      <a:pPr marL="0" indent="0">
                        <a:buNone/>
                      </a:pPr>
                      <a:r>
                        <a:rPr lang="en-US" sz="1300" b="1" dirty="0">
                          <a:solidFill>
                            <a:schemeClr val="tx2"/>
                          </a:solidFill>
                        </a:rPr>
                        <a:t>NPQ</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(F</a:t>
                      </a:r>
                      <a:r>
                        <a:rPr lang="en-US" sz="1300" baseline="-40000" dirty="0">
                          <a:solidFill>
                            <a:schemeClr val="tx1"/>
                          </a:solidFill>
                        </a:rPr>
                        <a:t>m</a:t>
                      </a:r>
                      <a:r>
                        <a:rPr lang="en-US" sz="1300" dirty="0">
                          <a:solidFill>
                            <a:schemeClr val="tx1"/>
                          </a:solidFill>
                        </a:rPr>
                        <a:t> − F</a:t>
                      </a:r>
                      <a:r>
                        <a:rPr lang="en-US" sz="1300" baseline="-40000" dirty="0">
                          <a:solidFill>
                            <a:schemeClr val="tx1"/>
                          </a:solidFill>
                        </a:rPr>
                        <a:t>m</a:t>
                      </a:r>
                      <a:r>
                        <a:rPr lang="en-US" sz="1300" dirty="0">
                          <a:solidFill>
                            <a:schemeClr val="tx1"/>
                          </a:solidFill>
                        </a:rPr>
                        <a:t>′)/F</a:t>
                      </a:r>
                      <a:r>
                        <a:rPr lang="en-US" sz="1300" baseline="-40000" dirty="0">
                          <a:solidFill>
                            <a:schemeClr val="tx1"/>
                          </a:solidFill>
                        </a:rPr>
                        <a:t>m</a:t>
                      </a:r>
                      <a:r>
                        <a:rPr lang="en-US" sz="1300" dirty="0">
                          <a:solidFill>
                            <a:schemeClr val="tx1"/>
                          </a:solidFill>
                        </a:rPr>
                        <a:t>′</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Non-photochemical quenching: rate constant for heat loss from PSII</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b="1" dirty="0">
                          <a:solidFill>
                            <a:schemeClr val="accent2"/>
                          </a:solidFill>
                        </a:rPr>
                        <a:t>dark</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621792">
                <a:tc>
                  <a:txBody>
                    <a:bodyPr/>
                    <a:lstStyle/>
                    <a:p>
                      <a:pPr marL="0" indent="0">
                        <a:buNone/>
                      </a:pPr>
                      <a:r>
                        <a:rPr lang="en-US" sz="1300" b="1" dirty="0">
                          <a:solidFill>
                            <a:schemeClr val="tx2"/>
                          </a:solidFill>
                        </a:rPr>
                        <a:t>qL</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(F</a:t>
                      </a:r>
                      <a:r>
                        <a:rPr lang="en-US" sz="1300" baseline="-40000" dirty="0">
                          <a:solidFill>
                            <a:schemeClr val="tx1"/>
                          </a:solidFill>
                        </a:rPr>
                        <a:t>q</a:t>
                      </a:r>
                      <a:r>
                        <a:rPr lang="en-US" sz="1300" dirty="0">
                          <a:solidFill>
                            <a:schemeClr val="tx1"/>
                          </a:solidFill>
                        </a:rPr>
                        <a:t>′/F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o</a:t>
                      </a:r>
                      <a:r>
                        <a:rPr lang="en-US" sz="1300" dirty="0">
                          <a:solidFill>
                            <a:schemeClr val="tx1"/>
                          </a:solidFill>
                        </a:rPr>
                        <a:t>′/F′)</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Estimates the fraction of open PSII centres</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5"/>
                          </a:solidFill>
                        </a:rPr>
                        <a:t>F</a:t>
                      </a:r>
                      <a:r>
                        <a:rPr lang="en-US" sz="1300" b="1" baseline="-40000" dirty="0">
                          <a:solidFill>
                            <a:schemeClr val="accent5"/>
                          </a:solidFill>
                        </a:rPr>
                        <a:t>o</a:t>
                      </a:r>
                      <a:r>
                        <a:rPr lang="en-US" sz="1300" b="1" dirty="0">
                          <a:solidFill>
                            <a:schemeClr val="accent5"/>
                          </a:solidFill>
                        </a:rPr>
                        <a:t>′</a:t>
                      </a:r>
                      <a:endParaRPr lang="en-US" sz="1200" dirty="0"/>
                    </a:p>
                  </a:txBody>
                  <a:tcPr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5" name="Text 1"/>
          <p:cNvSpPr txBox="1"/>
          <p:nvPr/>
        </p:nvSpPr>
        <p:spPr>
          <a:xfrm>
            <a:off x="548640" y="5852160"/>
            <a:ext cx="10972800" cy="365760"/>
          </a:xfrm>
          <a:prstGeom prst="rect">
            <a:avLst/>
          </a:prstGeom>
          <a:noFill/>
          <a:ln/>
        </p:spPr>
        <p:txBody>
          <a:bodyPr wrap="square" lIns="508" tIns="508" rIns="508" bIns="508" rtlCol="0" anchor="t"/>
          <a:lstStyle/>
          <a:p>
            <a:pPr marL="0" indent="0">
              <a:spcAft>
                <a:spcPts val="600"/>
              </a:spcAft>
              <a:buNone/>
            </a:pPr>
            <a:r>
              <a:rPr lang="en-US" sz="1300" dirty="0">
                <a:solidFill>
                  <a:schemeClr val="accent6"/>
                </a:solidFill>
              </a:rPr>
              <a:t>'Needs': </a:t>
            </a:r>
            <a:r>
              <a:rPr lang="en-US" sz="1300" b="1" dirty="0">
                <a:solidFill>
                  <a:schemeClr val="accent6"/>
                </a:solidFill>
              </a:rPr>
              <a:t>dark</a:t>
            </a:r>
            <a:r>
              <a:rPr lang="en-US" sz="1300" dirty="0">
                <a:solidFill>
                  <a:schemeClr val="accent6"/>
                </a:solidFill>
              </a:rPr>
              <a:t> = requires dark-adapted F</a:t>
            </a:r>
            <a:r>
              <a:rPr lang="en-US" sz="1300" baseline="-40000" dirty="0">
                <a:solidFill>
                  <a:schemeClr val="accent6"/>
                </a:solidFill>
              </a:rPr>
              <a:t>o</a:t>
            </a:r>
            <a:r>
              <a:rPr lang="en-US" sz="1300" dirty="0">
                <a:solidFill>
                  <a:schemeClr val="accent6"/>
                </a:solidFill>
              </a:rPr>
              <a:t>/F</a:t>
            </a:r>
            <a:r>
              <a:rPr lang="en-US" sz="1300" baseline="-40000" dirty="0">
                <a:solidFill>
                  <a:schemeClr val="accent6"/>
                </a:solidFill>
              </a:rPr>
              <a:t>m</a:t>
            </a:r>
            <a:r>
              <a:rPr lang="en-US" sz="1300" dirty="0">
                <a:solidFill>
                  <a:schemeClr val="accent6"/>
                </a:solidFill>
              </a:rPr>
              <a:t>;  </a:t>
            </a:r>
            <a:r>
              <a:rPr lang="en-US" sz="1300" b="1" dirty="0">
                <a:solidFill>
                  <a:schemeClr val="accent6"/>
                </a:solidFill>
              </a:rPr>
              <a:t>F</a:t>
            </a:r>
            <a:r>
              <a:rPr lang="en-US" sz="1300" b="1" baseline="-40000" dirty="0">
                <a:solidFill>
                  <a:schemeClr val="accent6"/>
                </a:solidFill>
              </a:rPr>
              <a:t>o</a:t>
            </a:r>
            <a:r>
              <a:rPr lang="en-US" sz="1300" b="1" dirty="0">
                <a:solidFill>
                  <a:schemeClr val="accent6"/>
                </a:solidFill>
              </a:rPr>
              <a:t>′</a:t>
            </a:r>
            <a:r>
              <a:rPr lang="en-US" sz="1300" dirty="0">
                <a:solidFill>
                  <a:schemeClr val="accent6"/>
                </a:solidFill>
              </a:rPr>
              <a:t> = requires measured (far-red) or calculated F</a:t>
            </a:r>
            <a:r>
              <a:rPr lang="en-US" sz="1300" baseline="-40000" dirty="0">
                <a:solidFill>
                  <a:schemeClr val="accent6"/>
                </a:solidFill>
              </a:rPr>
              <a:t>o</a:t>
            </a:r>
            <a:r>
              <a:rPr lang="en-US" sz="1300" dirty="0">
                <a:solidFill>
                  <a:schemeClr val="accent6"/>
                </a:solidFill>
              </a:rPr>
              <a:t>′.</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Worked example: calculate every parameter</a:t>
            </a:r>
            <a:endParaRPr lang="en-US" sz="3200" dirty="0"/>
          </a:p>
        </p:txBody>
      </p:sp>
      <p:sp>
        <p:nvSpPr>
          <p:cNvPr id="4" name="Text 1"/>
          <p:cNvSpPr txBox="1"/>
          <p:nvPr/>
        </p:nvSpPr>
        <p:spPr>
          <a:xfrm>
            <a:off x="548640" y="1325880"/>
            <a:ext cx="3657600" cy="320040"/>
          </a:xfrm>
          <a:prstGeom prst="rect">
            <a:avLst/>
          </a:prstGeom>
          <a:noFill/>
          <a:ln/>
        </p:spPr>
        <p:txBody>
          <a:bodyPr wrap="square" lIns="0" tIns="0" rIns="0" bIns="0" rtlCol="0" anchor="ctr"/>
          <a:lstStyle/>
          <a:p>
            <a:pPr marL="0" indent="0" algn="l">
              <a:buNone/>
            </a:pPr>
            <a:r>
              <a:rPr lang="en-US" sz="1500" b="1" dirty="0">
                <a:solidFill>
                  <a:schemeClr val="tx2"/>
                </a:solidFill>
              </a:rPr>
              <a:t>Readings from one leaf (arbitrary units)</a:t>
            </a:r>
            <a:endParaRPr lang="en-US" sz="1500" dirty="0"/>
          </a:p>
        </p:txBody>
      </p:sp>
      <p:sp>
        <p:nvSpPr>
          <p:cNvPr id="5" name="card"/>
          <p:cNvSpPr/>
          <p:nvPr/>
        </p:nvSpPr>
        <p:spPr>
          <a:xfrm>
            <a:off x="548640" y="1737360"/>
            <a:ext cx="1645920" cy="960120"/>
          </a:xfrm>
          <a:prstGeom prst="roundRect">
            <a:avLst>
              <a:gd name="adj" fmla="val 7619"/>
            </a:avLst>
          </a:prstGeom>
          <a:solidFill>
            <a:schemeClr val="tx2"/>
          </a:solidFill>
          <a:ln/>
          <a:effectLst>
            <a:outerShdw blurRad="76200" dist="25400" dir="5400000" algn="bl" rotWithShape="0">
              <a:srgbClr val="000000">
                <a:alpha val="14000"/>
              </a:srgbClr>
            </a:outerShdw>
          </a:effectLst>
        </p:spPr>
      </p:sp>
      <p:sp>
        <p:nvSpPr>
          <p:cNvPr id="6" name="Text 3"/>
          <p:cNvSpPr txBox="1"/>
          <p:nvPr/>
        </p:nvSpPr>
        <p:spPr>
          <a:xfrm>
            <a:off x="548640" y="1810512"/>
            <a:ext cx="1645920" cy="365760"/>
          </a:xfrm>
          <a:prstGeom prst="rect">
            <a:avLst/>
          </a:prstGeom>
          <a:noFill/>
          <a:ln/>
        </p:spPr>
        <p:txBody>
          <a:bodyPr wrap="square" lIns="0" tIns="0" rIns="0" bIns="0" rtlCol="0" anchor="ctr"/>
          <a:lstStyle/>
          <a:p>
            <a:pPr marL="0" indent="0" algn="ctr">
              <a:buNone/>
            </a:pPr>
            <a:r>
              <a:rPr lang="en-US" sz="1600" b="1" dirty="0">
                <a:solidFill>
                  <a:schemeClr val="bg1"/>
                </a:solidFill>
              </a:rPr>
              <a:t>F</a:t>
            </a:r>
            <a:r>
              <a:rPr lang="en-US" sz="1600" b="1" baseline="-40000" dirty="0">
                <a:solidFill>
                  <a:schemeClr val="bg1"/>
                </a:solidFill>
              </a:rPr>
              <a:t>o</a:t>
            </a:r>
            <a:endParaRPr lang="en-US" sz="1600" dirty="0"/>
          </a:p>
        </p:txBody>
      </p:sp>
      <p:sp>
        <p:nvSpPr>
          <p:cNvPr id="7" name="Text 4"/>
          <p:cNvSpPr txBox="1"/>
          <p:nvPr/>
        </p:nvSpPr>
        <p:spPr>
          <a:xfrm>
            <a:off x="548640" y="2148840"/>
            <a:ext cx="1645920" cy="457200"/>
          </a:xfrm>
          <a:prstGeom prst="rect">
            <a:avLst/>
          </a:prstGeom>
          <a:noFill/>
          <a:ln/>
        </p:spPr>
        <p:txBody>
          <a:bodyPr wrap="square" lIns="0" tIns="0" rIns="0" bIns="0" rtlCol="0" anchor="ctr"/>
          <a:lstStyle/>
          <a:p>
            <a:pPr marL="0" indent="0" algn="ctr">
              <a:buNone/>
            </a:pPr>
            <a:r>
              <a:rPr lang="en-US" sz="2200" b="1" dirty="0">
                <a:solidFill>
                  <a:schemeClr val="bg1"/>
                </a:solidFill>
              </a:rPr>
              <a:t>200</a:t>
            </a:r>
            <a:endParaRPr lang="en-US" sz="2200" dirty="0"/>
          </a:p>
        </p:txBody>
      </p:sp>
      <p:sp>
        <p:nvSpPr>
          <p:cNvPr id="8" name="card"/>
          <p:cNvSpPr/>
          <p:nvPr/>
        </p:nvSpPr>
        <p:spPr>
          <a:xfrm>
            <a:off x="2331720" y="1737360"/>
            <a:ext cx="1645920" cy="960120"/>
          </a:xfrm>
          <a:prstGeom prst="roundRect">
            <a:avLst>
              <a:gd name="adj" fmla="val 7619"/>
            </a:avLst>
          </a:prstGeom>
          <a:solidFill>
            <a:schemeClr val="tx2"/>
          </a:solidFill>
          <a:ln/>
          <a:effectLst>
            <a:outerShdw blurRad="76200" dist="25400" dir="5400000" algn="bl" rotWithShape="0">
              <a:srgbClr val="000000">
                <a:alpha val="14000"/>
              </a:srgbClr>
            </a:outerShdw>
          </a:effectLst>
        </p:spPr>
      </p:sp>
      <p:sp>
        <p:nvSpPr>
          <p:cNvPr id="9" name="Text 6"/>
          <p:cNvSpPr txBox="1"/>
          <p:nvPr/>
        </p:nvSpPr>
        <p:spPr>
          <a:xfrm>
            <a:off x="2331720" y="1810512"/>
            <a:ext cx="1645920" cy="365760"/>
          </a:xfrm>
          <a:prstGeom prst="rect">
            <a:avLst/>
          </a:prstGeom>
          <a:noFill/>
          <a:ln/>
        </p:spPr>
        <p:txBody>
          <a:bodyPr wrap="square" lIns="0" tIns="0" rIns="0" bIns="0" rtlCol="0" anchor="ctr"/>
          <a:lstStyle/>
          <a:p>
            <a:pPr marL="0" indent="0" algn="ctr">
              <a:buNone/>
            </a:pPr>
            <a:r>
              <a:rPr lang="en-US" sz="1600" b="1" dirty="0">
                <a:solidFill>
                  <a:schemeClr val="bg1"/>
                </a:solidFill>
              </a:rPr>
              <a:t>F</a:t>
            </a:r>
            <a:r>
              <a:rPr lang="en-US" sz="1600" b="1" baseline="-40000" dirty="0">
                <a:solidFill>
                  <a:schemeClr val="bg1"/>
                </a:solidFill>
              </a:rPr>
              <a:t>m</a:t>
            </a:r>
            <a:endParaRPr lang="en-US" sz="1600" dirty="0"/>
          </a:p>
        </p:txBody>
      </p:sp>
      <p:sp>
        <p:nvSpPr>
          <p:cNvPr id="10" name="Text 7"/>
          <p:cNvSpPr txBox="1"/>
          <p:nvPr/>
        </p:nvSpPr>
        <p:spPr>
          <a:xfrm>
            <a:off x="2331720" y="2148840"/>
            <a:ext cx="1645920" cy="457200"/>
          </a:xfrm>
          <a:prstGeom prst="rect">
            <a:avLst/>
          </a:prstGeom>
          <a:noFill/>
          <a:ln/>
        </p:spPr>
        <p:txBody>
          <a:bodyPr wrap="square" lIns="0" tIns="0" rIns="0" bIns="0" rtlCol="0" anchor="ctr"/>
          <a:lstStyle/>
          <a:p>
            <a:pPr marL="0" indent="0" algn="ctr">
              <a:buNone/>
            </a:pPr>
            <a:r>
              <a:rPr lang="en-US" sz="2200" b="1" dirty="0">
                <a:solidFill>
                  <a:schemeClr val="bg1"/>
                </a:solidFill>
              </a:rPr>
              <a:t>1000</a:t>
            </a:r>
            <a:endParaRPr lang="en-US" sz="2200" dirty="0"/>
          </a:p>
        </p:txBody>
      </p:sp>
      <p:sp>
        <p:nvSpPr>
          <p:cNvPr id="11" name="card"/>
          <p:cNvSpPr/>
          <p:nvPr/>
        </p:nvSpPr>
        <p:spPr>
          <a:xfrm>
            <a:off x="548640" y="2834640"/>
            <a:ext cx="1645920" cy="960120"/>
          </a:xfrm>
          <a:prstGeom prst="roundRect">
            <a:avLst>
              <a:gd name="adj" fmla="val 7619"/>
            </a:avLst>
          </a:prstGeom>
          <a:solidFill>
            <a:schemeClr val="accent3"/>
          </a:solidFill>
          <a:ln/>
          <a:effectLst>
            <a:outerShdw blurRad="76200" dist="25400" dir="5400000" algn="bl" rotWithShape="0">
              <a:srgbClr val="000000">
                <a:alpha val="14000"/>
              </a:srgbClr>
            </a:outerShdw>
          </a:effectLst>
        </p:spPr>
      </p:sp>
      <p:sp>
        <p:nvSpPr>
          <p:cNvPr id="12" name="Text 9"/>
          <p:cNvSpPr txBox="1"/>
          <p:nvPr/>
        </p:nvSpPr>
        <p:spPr>
          <a:xfrm>
            <a:off x="548640" y="2907792"/>
            <a:ext cx="1645920" cy="365760"/>
          </a:xfrm>
          <a:prstGeom prst="rect">
            <a:avLst/>
          </a:prstGeom>
          <a:noFill/>
          <a:ln/>
        </p:spPr>
        <p:txBody>
          <a:bodyPr wrap="square" lIns="0" tIns="0" rIns="0" bIns="0" rtlCol="0" anchor="ctr"/>
          <a:lstStyle/>
          <a:p>
            <a:pPr marL="0" indent="0" algn="ctr">
              <a:buNone/>
            </a:pPr>
            <a:r>
              <a:rPr lang="en-US" sz="1600" b="1" dirty="0">
                <a:solidFill>
                  <a:schemeClr val="tx1"/>
                </a:solidFill>
              </a:rPr>
              <a:t>F′</a:t>
            </a:r>
            <a:endParaRPr lang="en-US" sz="1600" dirty="0"/>
          </a:p>
        </p:txBody>
      </p:sp>
      <p:sp>
        <p:nvSpPr>
          <p:cNvPr id="13" name="Text 10"/>
          <p:cNvSpPr txBox="1"/>
          <p:nvPr/>
        </p:nvSpPr>
        <p:spPr>
          <a:xfrm>
            <a:off x="548640" y="3246120"/>
            <a:ext cx="1645920" cy="457200"/>
          </a:xfrm>
          <a:prstGeom prst="rect">
            <a:avLst/>
          </a:prstGeom>
          <a:noFill/>
          <a:ln/>
        </p:spPr>
        <p:txBody>
          <a:bodyPr wrap="square" lIns="0" tIns="0" rIns="0" bIns="0" rtlCol="0" anchor="ctr"/>
          <a:lstStyle/>
          <a:p>
            <a:pPr marL="0" indent="0" algn="ctr">
              <a:buNone/>
            </a:pPr>
            <a:r>
              <a:rPr lang="en-US" sz="2200" b="1" dirty="0">
                <a:solidFill>
                  <a:schemeClr val="tx1"/>
                </a:solidFill>
              </a:rPr>
              <a:t>400</a:t>
            </a:r>
            <a:endParaRPr lang="en-US" sz="2200" dirty="0"/>
          </a:p>
        </p:txBody>
      </p:sp>
      <p:sp>
        <p:nvSpPr>
          <p:cNvPr id="14" name="card"/>
          <p:cNvSpPr/>
          <p:nvPr/>
        </p:nvSpPr>
        <p:spPr>
          <a:xfrm>
            <a:off x="2331720" y="2834640"/>
            <a:ext cx="1645920" cy="960120"/>
          </a:xfrm>
          <a:prstGeom prst="roundRect">
            <a:avLst>
              <a:gd name="adj" fmla="val 7619"/>
            </a:avLst>
          </a:prstGeom>
          <a:solidFill>
            <a:schemeClr val="accent3"/>
          </a:solidFill>
          <a:ln/>
          <a:effectLst>
            <a:outerShdw blurRad="76200" dist="25400" dir="5400000" algn="bl" rotWithShape="0">
              <a:srgbClr val="000000">
                <a:alpha val="14000"/>
              </a:srgbClr>
            </a:outerShdw>
          </a:effectLst>
        </p:spPr>
      </p:sp>
      <p:sp>
        <p:nvSpPr>
          <p:cNvPr id="15" name="Text 12"/>
          <p:cNvSpPr txBox="1"/>
          <p:nvPr/>
        </p:nvSpPr>
        <p:spPr>
          <a:xfrm>
            <a:off x="2331720" y="2907792"/>
            <a:ext cx="1645920" cy="365760"/>
          </a:xfrm>
          <a:prstGeom prst="rect">
            <a:avLst/>
          </a:prstGeom>
          <a:noFill/>
          <a:ln/>
        </p:spPr>
        <p:txBody>
          <a:bodyPr wrap="square" lIns="0" tIns="0" rIns="0" bIns="0" rtlCol="0" anchor="ctr"/>
          <a:lstStyle/>
          <a:p>
            <a:pPr marL="0" indent="0" algn="ctr">
              <a:buNone/>
            </a:pPr>
            <a:r>
              <a:rPr lang="en-US" sz="1600" b="1" dirty="0">
                <a:solidFill>
                  <a:schemeClr val="tx1"/>
                </a:solidFill>
              </a:rPr>
              <a:t>F</a:t>
            </a:r>
            <a:r>
              <a:rPr lang="en-US" sz="1600" b="1" baseline="-40000" dirty="0">
                <a:solidFill>
                  <a:schemeClr val="tx1"/>
                </a:solidFill>
              </a:rPr>
              <a:t>m</a:t>
            </a:r>
            <a:r>
              <a:rPr lang="en-US" sz="1600" b="1" dirty="0">
                <a:solidFill>
                  <a:schemeClr val="tx1"/>
                </a:solidFill>
              </a:rPr>
              <a:t>′</a:t>
            </a:r>
            <a:endParaRPr lang="en-US" sz="1600" dirty="0"/>
          </a:p>
        </p:txBody>
      </p:sp>
      <p:sp>
        <p:nvSpPr>
          <p:cNvPr id="16" name="Text 13"/>
          <p:cNvSpPr txBox="1"/>
          <p:nvPr/>
        </p:nvSpPr>
        <p:spPr>
          <a:xfrm>
            <a:off x="2331720" y="3246120"/>
            <a:ext cx="1645920" cy="457200"/>
          </a:xfrm>
          <a:prstGeom prst="rect">
            <a:avLst/>
          </a:prstGeom>
          <a:noFill/>
          <a:ln/>
        </p:spPr>
        <p:txBody>
          <a:bodyPr wrap="square" lIns="0" tIns="0" rIns="0" bIns="0" rtlCol="0" anchor="ctr"/>
          <a:lstStyle/>
          <a:p>
            <a:pPr marL="0" indent="0" algn="ctr">
              <a:buNone/>
            </a:pPr>
            <a:r>
              <a:rPr lang="en-US" sz="2200" b="1" dirty="0">
                <a:solidFill>
                  <a:schemeClr val="tx1"/>
                </a:solidFill>
              </a:rPr>
              <a:t>600</a:t>
            </a:r>
            <a:endParaRPr lang="en-US" sz="2200" dirty="0"/>
          </a:p>
        </p:txBody>
      </p:sp>
      <p:sp>
        <p:nvSpPr>
          <p:cNvPr id="17" name="card"/>
          <p:cNvSpPr/>
          <p:nvPr/>
        </p:nvSpPr>
        <p:spPr>
          <a:xfrm>
            <a:off x="548640" y="3931920"/>
            <a:ext cx="1645920" cy="960120"/>
          </a:xfrm>
          <a:prstGeom prst="roundRect">
            <a:avLst>
              <a:gd name="adj" fmla="val 7619"/>
            </a:avLst>
          </a:prstGeom>
          <a:solidFill>
            <a:schemeClr val="accent3"/>
          </a:solidFill>
          <a:ln/>
          <a:effectLst>
            <a:outerShdw blurRad="76200" dist="25400" dir="5400000" algn="bl" rotWithShape="0">
              <a:srgbClr val="000000">
                <a:alpha val="14000"/>
              </a:srgbClr>
            </a:outerShdw>
          </a:effectLst>
        </p:spPr>
      </p:sp>
      <p:sp>
        <p:nvSpPr>
          <p:cNvPr id="18" name="Text 15"/>
          <p:cNvSpPr txBox="1"/>
          <p:nvPr/>
        </p:nvSpPr>
        <p:spPr>
          <a:xfrm>
            <a:off x="548640" y="4005072"/>
            <a:ext cx="1645920" cy="365760"/>
          </a:xfrm>
          <a:prstGeom prst="rect">
            <a:avLst/>
          </a:prstGeom>
          <a:noFill/>
          <a:ln/>
        </p:spPr>
        <p:txBody>
          <a:bodyPr wrap="square" lIns="0" tIns="0" rIns="0" bIns="0" rtlCol="0" anchor="ctr"/>
          <a:lstStyle/>
          <a:p>
            <a:pPr marL="0" indent="0" algn="ctr">
              <a:buNone/>
            </a:pPr>
            <a:r>
              <a:rPr lang="en-US" sz="1600" b="1" dirty="0">
                <a:solidFill>
                  <a:schemeClr val="tx1"/>
                </a:solidFill>
              </a:rPr>
              <a:t>F</a:t>
            </a:r>
            <a:r>
              <a:rPr lang="en-US" sz="1600" b="1" baseline="-40000" dirty="0">
                <a:solidFill>
                  <a:schemeClr val="tx1"/>
                </a:solidFill>
              </a:rPr>
              <a:t>o</a:t>
            </a:r>
            <a:r>
              <a:rPr lang="en-US" sz="1600" b="1" dirty="0">
                <a:solidFill>
                  <a:schemeClr val="tx1"/>
                </a:solidFill>
              </a:rPr>
              <a:t>′</a:t>
            </a:r>
            <a:endParaRPr lang="en-US" sz="1600" dirty="0"/>
          </a:p>
        </p:txBody>
      </p:sp>
      <p:sp>
        <p:nvSpPr>
          <p:cNvPr id="19" name="Text 16"/>
          <p:cNvSpPr txBox="1"/>
          <p:nvPr/>
        </p:nvSpPr>
        <p:spPr>
          <a:xfrm>
            <a:off x="548640" y="4343400"/>
            <a:ext cx="1645920" cy="457200"/>
          </a:xfrm>
          <a:prstGeom prst="rect">
            <a:avLst/>
          </a:prstGeom>
          <a:noFill/>
          <a:ln/>
        </p:spPr>
        <p:txBody>
          <a:bodyPr wrap="square" lIns="0" tIns="0" rIns="0" bIns="0" rtlCol="0" anchor="ctr"/>
          <a:lstStyle/>
          <a:p>
            <a:pPr marL="0" indent="0" algn="ctr">
              <a:buNone/>
            </a:pPr>
            <a:r>
              <a:rPr lang="en-US" sz="2200" b="1" dirty="0">
                <a:solidFill>
                  <a:schemeClr val="tx1"/>
                </a:solidFill>
              </a:rPr>
              <a:t>180</a:t>
            </a:r>
            <a:endParaRPr lang="en-US" sz="2200" dirty="0"/>
          </a:p>
        </p:txBody>
      </p:sp>
      <p:sp>
        <p:nvSpPr>
          <p:cNvPr id="20" name="card"/>
          <p:cNvSpPr/>
          <p:nvPr/>
        </p:nvSpPr>
        <p:spPr>
          <a:xfrm>
            <a:off x="2331720" y="3931920"/>
            <a:ext cx="1645920" cy="960120"/>
          </a:xfrm>
          <a:prstGeom prst="roundRect">
            <a:avLst>
              <a:gd name="adj" fmla="val 7619"/>
            </a:avLst>
          </a:prstGeom>
          <a:solidFill>
            <a:schemeClr val="accent3"/>
          </a:solidFill>
          <a:ln/>
          <a:effectLst>
            <a:outerShdw blurRad="76200" dist="25400" dir="5400000" algn="bl" rotWithShape="0">
              <a:srgbClr val="000000">
                <a:alpha val="14000"/>
              </a:srgbClr>
            </a:outerShdw>
          </a:effectLst>
        </p:spPr>
      </p:sp>
      <p:sp>
        <p:nvSpPr>
          <p:cNvPr id="21" name="Text 18"/>
          <p:cNvSpPr txBox="1"/>
          <p:nvPr/>
        </p:nvSpPr>
        <p:spPr>
          <a:xfrm>
            <a:off x="2331720" y="4005072"/>
            <a:ext cx="1645920" cy="365760"/>
          </a:xfrm>
          <a:prstGeom prst="rect">
            <a:avLst/>
          </a:prstGeom>
          <a:noFill/>
          <a:ln/>
        </p:spPr>
        <p:txBody>
          <a:bodyPr wrap="square" lIns="0" tIns="0" rIns="0" bIns="0" rtlCol="0" anchor="ctr"/>
          <a:lstStyle/>
          <a:p>
            <a:pPr marL="0" indent="0" algn="ctr">
              <a:buNone/>
            </a:pPr>
            <a:r>
              <a:rPr lang="en-US" sz="1600" b="1" dirty="0">
                <a:solidFill>
                  <a:schemeClr val="tx1"/>
                </a:solidFill>
              </a:rPr>
              <a:t>PAR</a:t>
            </a:r>
            <a:endParaRPr lang="en-US" sz="1600" dirty="0"/>
          </a:p>
        </p:txBody>
      </p:sp>
      <p:sp>
        <p:nvSpPr>
          <p:cNvPr id="22" name="Text 19"/>
          <p:cNvSpPr txBox="1"/>
          <p:nvPr/>
        </p:nvSpPr>
        <p:spPr>
          <a:xfrm>
            <a:off x="2331720" y="4343400"/>
            <a:ext cx="1645920" cy="457200"/>
          </a:xfrm>
          <a:prstGeom prst="rect">
            <a:avLst/>
          </a:prstGeom>
          <a:noFill/>
          <a:ln/>
        </p:spPr>
        <p:txBody>
          <a:bodyPr wrap="square" lIns="0" tIns="0" rIns="0" bIns="0" rtlCol="0" anchor="ctr"/>
          <a:lstStyle/>
          <a:p>
            <a:pPr marL="0" indent="0" algn="ctr">
              <a:buNone/>
            </a:pPr>
            <a:r>
              <a:rPr lang="en-US" sz="2200" b="1" dirty="0">
                <a:solidFill>
                  <a:schemeClr val="tx1"/>
                </a:solidFill>
              </a:rPr>
              <a:t>1000</a:t>
            </a:r>
            <a:endParaRPr lang="en-US" sz="2200" dirty="0"/>
          </a:p>
        </p:txBody>
      </p:sp>
      <p:sp>
        <p:nvSpPr>
          <p:cNvPr id="23" name="Text 20"/>
          <p:cNvSpPr txBox="1"/>
          <p:nvPr/>
        </p:nvSpPr>
        <p:spPr>
          <a:xfrm>
            <a:off x="548640" y="5029200"/>
            <a:ext cx="3566160" cy="365760"/>
          </a:xfrm>
          <a:prstGeom prst="rect">
            <a:avLst/>
          </a:prstGeom>
          <a:noFill/>
          <a:ln/>
        </p:spPr>
        <p:txBody>
          <a:bodyPr wrap="square" lIns="508" tIns="508" rIns="508" bIns="508" rtlCol="0" anchor="t"/>
          <a:lstStyle/>
          <a:p>
            <a:pPr marL="0" indent="0">
              <a:spcAft>
                <a:spcPts val="600"/>
              </a:spcAft>
              <a:buNone/>
            </a:pPr>
            <a:r>
              <a:rPr lang="en-US" sz="1100" i="1" dirty="0">
                <a:solidFill>
                  <a:schemeClr val="accent6"/>
                </a:solidFill>
              </a:rPr>
              <a:t>Dark (navy) · light-adapted (amber). PAR in µmol m⁻² s⁻¹.</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297680" y="1325880"/>
          <a:ext cx="7342632" cy="4754880"/>
        </p:xfrm>
        <a:graphic>
          <a:graphicData uri="http://schemas.openxmlformats.org/drawingml/2006/table">
            <a:tbl>
              <a:tblPr/>
              <a:tblGrid>
                <a:gridCol w="13258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2404872">
                  <a:extLst>
                    <a:ext uri="{9D8B030D-6E8A-4147-A177-3AD203B41FA5}">
                      <a16:colId xmlns:a16="http://schemas.microsoft.com/office/drawing/2014/main" val="20003"/>
                    </a:ext>
                  </a:extLst>
                </a:gridCol>
              </a:tblGrid>
              <a:tr h="475488">
                <a:tc>
                  <a:txBody>
                    <a:bodyPr/>
                    <a:lstStyle/>
                    <a:p>
                      <a:pPr marL="0" indent="0">
                        <a:buNone/>
                      </a:pPr>
                      <a:r>
                        <a:rPr lang="en-US" sz="1400" b="1" dirty="0">
                          <a:solidFill>
                            <a:schemeClr val="bg1"/>
                          </a:solidFill>
                        </a:rPr>
                        <a:t>Parameter</a:t>
                      </a:r>
                      <a:endParaRPr lang="en-US" sz="14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Calculation</a:t>
                      </a:r>
                      <a:endParaRPr lang="en-US" sz="14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Result</a:t>
                      </a:r>
                      <a:endParaRPr lang="en-US" sz="14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Meaning</a:t>
                      </a:r>
                      <a:endParaRPr lang="en-US" sz="14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75488">
                <a:tc>
                  <a:txBody>
                    <a:bodyPr/>
                    <a:lstStyle/>
                    <a:p>
                      <a:pPr marL="0" indent="0">
                        <a:buNone/>
                      </a:pPr>
                      <a:r>
                        <a:rPr lang="en-US" sz="1300" b="1" dirty="0">
                          <a:solidFill>
                            <a:schemeClr val="tx2"/>
                          </a:solidFill>
                        </a:rPr>
                        <a:t>F</a:t>
                      </a:r>
                      <a:r>
                        <a:rPr lang="en-US" sz="1300" b="1" baseline="-40000" dirty="0">
                          <a:solidFill>
                            <a:schemeClr val="tx2"/>
                          </a:solidFill>
                        </a:rPr>
                        <a:t>v</a:t>
                      </a:r>
                      <a:r>
                        <a:rPr lang="en-US" sz="1300" b="1" dirty="0">
                          <a:solidFill>
                            <a:schemeClr val="tx2"/>
                          </a:solidFill>
                        </a:rPr>
                        <a:t>/F</a:t>
                      </a:r>
                      <a:r>
                        <a:rPr lang="en-US" sz="1300" b="1" baseline="-40000" dirty="0">
                          <a:solidFill>
                            <a:schemeClr val="tx2"/>
                          </a:solidFill>
                        </a:rPr>
                        <a:t>m</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(1000 − 200)/1000</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b="1" dirty="0">
                          <a:solidFill>
                            <a:schemeClr val="accent2"/>
                          </a:solidFill>
                        </a:rPr>
                        <a:t>0.80</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Healthy PSII</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75488">
                <a:tc>
                  <a:txBody>
                    <a:bodyPr/>
                    <a:lstStyle/>
                    <a:p>
                      <a:pPr marL="0" indent="0">
                        <a:buNone/>
                      </a:pPr>
                      <a:r>
                        <a:rPr lang="en-US" sz="1300" b="1" dirty="0">
                          <a:solidFill>
                            <a:schemeClr val="tx2"/>
                          </a:solidFill>
                        </a:rPr>
                        <a:t>F</a:t>
                      </a:r>
                      <a:r>
                        <a:rPr lang="en-US" sz="1300" b="1" baseline="-40000" dirty="0">
                          <a:solidFill>
                            <a:schemeClr val="tx2"/>
                          </a:solidFill>
                        </a:rPr>
                        <a:t>v</a:t>
                      </a:r>
                      <a:r>
                        <a:rPr lang="en-US" sz="1300" b="1" dirty="0">
                          <a:solidFill>
                            <a:schemeClr val="tx2"/>
                          </a:solidFill>
                        </a:rPr>
                        <a:t>′/F</a:t>
                      </a:r>
                      <a:r>
                        <a:rPr lang="en-US" sz="1300" b="1" baseline="-40000" dirty="0">
                          <a:solidFill>
                            <a:schemeClr val="tx2"/>
                          </a:solidFill>
                        </a:rPr>
                        <a:t>m</a:t>
                      </a:r>
                      <a:r>
                        <a:rPr lang="en-US" sz="1300" b="1" dirty="0">
                          <a:solidFill>
                            <a:schemeClr val="tx2"/>
                          </a:solidFill>
                        </a:rPr>
                        <a:t>′</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(600 − 180)/600</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2"/>
                          </a:solidFill>
                        </a:rPr>
                        <a:t>0.70</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Max efficiency in light (NPQ lowers it)</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75488">
                <a:tc>
                  <a:txBody>
                    <a:bodyPr/>
                    <a:lstStyle/>
                    <a:p>
                      <a:pPr marL="0" indent="0">
                        <a:buNone/>
                      </a:pPr>
                      <a:r>
                        <a:rPr lang="en-US" sz="1300" b="1" dirty="0">
                          <a:solidFill>
                            <a:schemeClr val="tx2"/>
                          </a:solidFill>
                        </a:rPr>
                        <a:t>Φ</a:t>
                      </a:r>
                      <a:r>
                        <a:rPr lang="en-US" sz="1300" b="1" baseline="-40000" dirty="0">
                          <a:solidFill>
                            <a:schemeClr val="tx2"/>
                          </a:solidFill>
                        </a:rPr>
                        <a:t>PSII</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(600 − 400)/600</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b="1" dirty="0">
                          <a:solidFill>
                            <a:schemeClr val="accent2"/>
                          </a:solidFill>
                        </a:rPr>
                        <a:t>0.33</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⅓ of absorbed light used by PSII</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75488">
                <a:tc>
                  <a:txBody>
                    <a:bodyPr/>
                    <a:lstStyle/>
                    <a:p>
                      <a:pPr marL="0" indent="0">
                        <a:buNone/>
                      </a:pPr>
                      <a:r>
                        <a:rPr lang="en-US" sz="1300" b="1" dirty="0">
                          <a:solidFill>
                            <a:schemeClr val="tx2"/>
                          </a:solidFill>
                        </a:rPr>
                        <a:t>qP</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(600 − 400)/(600 − 180)</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2"/>
                          </a:solidFill>
                        </a:rPr>
                        <a:t>0.48</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 half of centres open</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75488">
                <a:tc>
                  <a:txBody>
                    <a:bodyPr/>
                    <a:lstStyle/>
                    <a:p>
                      <a:pPr marL="0" indent="0">
                        <a:buNone/>
                      </a:pPr>
                      <a:r>
                        <a:rPr lang="en-US" sz="1300" b="1" dirty="0">
                          <a:solidFill>
                            <a:schemeClr val="tx2"/>
                          </a:solidFill>
                        </a:rPr>
                        <a:t>Check</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qP ×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 = 0.476 × 0.70</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b="1" dirty="0">
                          <a:solidFill>
                            <a:schemeClr val="accent2"/>
                          </a:solidFill>
                        </a:rPr>
                        <a:t>0.33</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 Φ</a:t>
                      </a:r>
                      <a:r>
                        <a:rPr lang="en-US" sz="1300" baseline="-40000" dirty="0">
                          <a:solidFill>
                            <a:schemeClr val="tx1"/>
                          </a:solidFill>
                        </a:rPr>
                        <a:t>PSII</a:t>
                      </a:r>
                      <a:r>
                        <a:rPr lang="en-US" sz="1300" dirty="0">
                          <a:solidFill>
                            <a:schemeClr val="tx1"/>
                          </a:solidFill>
                        </a:rPr>
                        <a:t> ✓</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475488">
                <a:tc>
                  <a:txBody>
                    <a:bodyPr/>
                    <a:lstStyle/>
                    <a:p>
                      <a:pPr marL="0" indent="0">
                        <a:buNone/>
                      </a:pPr>
                      <a:r>
                        <a:rPr lang="en-US" sz="1300" b="1" dirty="0">
                          <a:solidFill>
                            <a:schemeClr val="tx2"/>
                          </a:solidFill>
                        </a:rPr>
                        <a:t>qL</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0.476 × 180/400</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2"/>
                          </a:solidFill>
                        </a:rPr>
                        <a:t>0.21</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Lake-model open fraction</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75488">
                <a:tc>
                  <a:txBody>
                    <a:bodyPr/>
                    <a:lstStyle/>
                    <a:p>
                      <a:pPr marL="0" indent="0">
                        <a:buNone/>
                      </a:pPr>
                      <a:r>
                        <a:rPr lang="en-US" sz="1300" b="1" dirty="0">
                          <a:solidFill>
                            <a:schemeClr val="tx2"/>
                          </a:solidFill>
                        </a:rPr>
                        <a:t>NPQ</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(1000 − 600)/600</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b="1" dirty="0">
                          <a:solidFill>
                            <a:schemeClr val="accent2"/>
                          </a:solidFill>
                        </a:rPr>
                        <a:t>0.67</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Moderate heat dissipation</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r h="475488">
                <a:tc>
                  <a:txBody>
                    <a:bodyPr/>
                    <a:lstStyle/>
                    <a:p>
                      <a:pPr marL="0" indent="0">
                        <a:buNone/>
                      </a:pPr>
                      <a:r>
                        <a:rPr lang="en-US" sz="1300" b="1" dirty="0">
                          <a:solidFill>
                            <a:schemeClr val="tx2"/>
                          </a:solidFill>
                        </a:rPr>
                        <a:t>ETR</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0.333 × 1000 × 0.84 × 0.5</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b="1" dirty="0">
                          <a:solidFill>
                            <a:schemeClr val="accent2"/>
                          </a:solidFill>
                        </a:rPr>
                        <a:t>140</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µmol e⁻ m⁻² s⁻¹</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75488">
                <a:tc>
                  <a:txBody>
                    <a:bodyPr/>
                    <a:lstStyle/>
                    <a:p>
                      <a:pPr marL="0" indent="0">
                        <a:buNone/>
                      </a:pPr>
                      <a:r>
                        <a:rPr lang="en-US" sz="1300" b="1" dirty="0">
                          <a:solidFill>
                            <a:schemeClr val="tx2"/>
                          </a:solidFill>
                        </a:rPr>
                        <a:t>F</a:t>
                      </a:r>
                      <a:r>
                        <a:rPr lang="en-US" sz="1300" b="1" baseline="-40000" dirty="0">
                          <a:solidFill>
                            <a:schemeClr val="tx2"/>
                          </a:solidFill>
                        </a:rPr>
                        <a:t>o</a:t>
                      </a:r>
                      <a:r>
                        <a:rPr lang="en-US" sz="1300" b="1" dirty="0">
                          <a:solidFill>
                            <a:schemeClr val="tx2"/>
                          </a:solidFill>
                        </a:rPr>
                        <a:t>′ calc.</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200/(0.80 + 200/600)</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b="1" dirty="0">
                          <a:solidFill>
                            <a:schemeClr val="accent2"/>
                          </a:solidFill>
                        </a:rPr>
                        <a:t>176</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vs 180 measured ✓</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514600"/>
            <a:ext cx="7680960" cy="1188720"/>
          </a:xfrm>
          <a:prstGeom prst="rect">
            <a:avLst/>
          </a:prstGeom>
          <a:noFill/>
          <a:ln/>
        </p:spPr>
        <p:txBody>
          <a:bodyPr wrap="square" lIns="0" tIns="0" rIns="0" bIns="0" rtlCol="0" anchor="ctr"/>
          <a:lstStyle/>
          <a:p>
            <a:pPr marL="0" indent="0" algn="l">
              <a:buNone/>
            </a:pPr>
            <a:r>
              <a:rPr lang="en-US" sz="4000" b="1" dirty="0">
                <a:solidFill>
                  <a:schemeClr val="bg1"/>
                </a:solidFill>
              </a:rPr>
              <a:t>Good practice &amp; pitfalls</a:t>
            </a:r>
            <a:endParaRPr lang="en-US" sz="4000" dirty="0"/>
          </a:p>
        </p:txBody>
      </p:sp>
      <p:sp>
        <p:nvSpPr>
          <p:cNvPr id="3" name="Text 0"/>
          <p:cNvSpPr>
            <a:spLocks noGrp="1"/>
          </p:cNvSpPr>
          <p:nvPr>
            <p:ph type="body" idx="101" hasCustomPrompt="1"/>
          </p:nvPr>
        </p:nvSpPr>
        <p:spPr>
          <a:xfrm>
            <a:off x="731520" y="3794760"/>
            <a:ext cx="7498080" cy="1280160"/>
          </a:xfrm>
          <a:prstGeom prst="rect">
            <a:avLst/>
          </a:prstGeom>
          <a:noFill/>
          <a:ln/>
        </p:spPr>
        <p:txBody>
          <a:bodyPr wrap="square" lIns="0" tIns="0" rIns="0" bIns="0" rtlCol="0" anchor="t"/>
          <a:lstStyle/>
          <a:p>
            <a:pPr marL="0" indent="0">
              <a:buNone/>
            </a:pPr>
            <a:r>
              <a:rPr lang="en-US" sz="1800" dirty="0">
                <a:solidFill>
                  <a:schemeClr val="bg2"/>
                </a:solidFill>
              </a:rPr>
              <a:t>How long to dark-adapt, what Fv/Fm can and cannot tell you, problems in the light, and the link to CO₂ assimilation</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marL="0" indent="0">
              <a:buNone/>
            </a:pPr>
            <a:r>
              <a:rPr lang="en-US" sz="7200" b="1" dirty="0">
                <a:solidFill>
                  <a:schemeClr val="accent3"/>
                </a:solidFill>
                <a:latin typeface="Cambria" pitchFamily="34" charset="0"/>
                <a:ea typeface="Cambria" pitchFamily="34" charset="-122"/>
                <a:cs typeface="Cambria" pitchFamily="34" charset="-120"/>
              </a:rPr>
              <a:t>06</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To dark-adapt or not? The components of NPQ</a:t>
            </a:r>
            <a:endParaRPr lang="en-US" sz="3200" dirty="0"/>
          </a:p>
        </p:txBody>
      </p:sp>
      <p:sp>
        <p:nvSpPr>
          <p:cNvPr id="4" name="time axis"/>
          <p:cNvSpPr/>
          <p:nvPr/>
        </p:nvSpPr>
        <p:spPr>
          <a:xfrm>
            <a:off x="731520" y="3931920"/>
            <a:ext cx="6035040" cy="0"/>
          </a:xfrm>
          <a:prstGeom prst="line">
            <a:avLst/>
          </a:prstGeom>
          <a:noFill/>
          <a:ln w="25400">
            <a:solidFill>
              <a:srgbClr val="123D2E"/>
            </a:solidFill>
            <a:prstDash val="solid"/>
            <a:tailEnd type="triangle"/>
          </a:ln>
        </p:spPr>
      </p:sp>
      <p:sp>
        <p:nvSpPr>
          <p:cNvPr id="5" name="tick"/>
          <p:cNvSpPr/>
          <p:nvPr/>
        </p:nvSpPr>
        <p:spPr>
          <a:xfrm>
            <a:off x="731520" y="3858768"/>
            <a:ext cx="0" cy="146304"/>
          </a:xfrm>
          <a:prstGeom prst="line">
            <a:avLst/>
          </a:prstGeom>
          <a:noFill/>
          <a:ln w="19050">
            <a:solidFill>
              <a:srgbClr val="123D2E"/>
            </a:solidFill>
            <a:prstDash val="solid"/>
          </a:ln>
        </p:spPr>
      </p:sp>
      <p:sp>
        <p:nvSpPr>
          <p:cNvPr id="6" name="Text 3"/>
          <p:cNvSpPr txBox="1"/>
          <p:nvPr/>
        </p:nvSpPr>
        <p:spPr>
          <a:xfrm>
            <a:off x="182880" y="4041648"/>
            <a:ext cx="1097280" cy="274320"/>
          </a:xfrm>
          <a:prstGeom prst="rect">
            <a:avLst/>
          </a:prstGeom>
          <a:noFill/>
          <a:ln/>
        </p:spPr>
        <p:txBody>
          <a:bodyPr wrap="square" lIns="0" tIns="0" rIns="0" bIns="0" rtlCol="0" anchor="ctr"/>
          <a:lstStyle/>
          <a:p>
            <a:pPr marL="0" indent="0" algn="ctr">
              <a:buNone/>
            </a:pPr>
            <a:r>
              <a:rPr lang="en-US" sz="1200" dirty="0">
                <a:solidFill>
                  <a:schemeClr val="tx1"/>
                </a:solidFill>
              </a:rPr>
              <a:t>seconds</a:t>
            </a:r>
            <a:endParaRPr lang="en-US" sz="1200" dirty="0"/>
          </a:p>
        </p:txBody>
      </p:sp>
      <p:sp>
        <p:nvSpPr>
          <p:cNvPr id="7" name="tick"/>
          <p:cNvSpPr/>
          <p:nvPr/>
        </p:nvSpPr>
        <p:spPr>
          <a:xfrm>
            <a:off x="2148840" y="3858768"/>
            <a:ext cx="0" cy="146304"/>
          </a:xfrm>
          <a:prstGeom prst="line">
            <a:avLst/>
          </a:prstGeom>
          <a:noFill/>
          <a:ln w="19050">
            <a:solidFill>
              <a:srgbClr val="123D2E"/>
            </a:solidFill>
            <a:prstDash val="solid"/>
          </a:ln>
        </p:spPr>
      </p:sp>
      <p:sp>
        <p:nvSpPr>
          <p:cNvPr id="8" name="Text 5"/>
          <p:cNvSpPr txBox="1"/>
          <p:nvPr/>
        </p:nvSpPr>
        <p:spPr>
          <a:xfrm>
            <a:off x="1600200" y="4041648"/>
            <a:ext cx="1097280" cy="274320"/>
          </a:xfrm>
          <a:prstGeom prst="rect">
            <a:avLst/>
          </a:prstGeom>
          <a:noFill/>
          <a:ln/>
        </p:spPr>
        <p:txBody>
          <a:bodyPr wrap="square" lIns="0" tIns="0" rIns="0" bIns="0" rtlCol="0" anchor="ctr"/>
          <a:lstStyle/>
          <a:p>
            <a:pPr marL="0" indent="0" algn="ctr">
              <a:buNone/>
            </a:pPr>
            <a:r>
              <a:rPr lang="en-US" sz="1200" dirty="0">
                <a:solidFill>
                  <a:schemeClr val="tx1"/>
                </a:solidFill>
              </a:rPr>
              <a:t>minutes</a:t>
            </a:r>
            <a:endParaRPr lang="en-US" sz="1200" dirty="0"/>
          </a:p>
        </p:txBody>
      </p:sp>
      <p:sp>
        <p:nvSpPr>
          <p:cNvPr id="9" name="tick"/>
          <p:cNvSpPr/>
          <p:nvPr/>
        </p:nvSpPr>
        <p:spPr>
          <a:xfrm>
            <a:off x="3566160" y="3858768"/>
            <a:ext cx="0" cy="146304"/>
          </a:xfrm>
          <a:prstGeom prst="line">
            <a:avLst/>
          </a:prstGeom>
          <a:noFill/>
          <a:ln w="19050">
            <a:solidFill>
              <a:srgbClr val="123D2E"/>
            </a:solidFill>
            <a:prstDash val="solid"/>
          </a:ln>
        </p:spPr>
      </p:sp>
      <p:sp>
        <p:nvSpPr>
          <p:cNvPr id="10" name="Text 7"/>
          <p:cNvSpPr txBox="1"/>
          <p:nvPr/>
        </p:nvSpPr>
        <p:spPr>
          <a:xfrm>
            <a:off x="3017520" y="4041648"/>
            <a:ext cx="1097280" cy="274320"/>
          </a:xfrm>
          <a:prstGeom prst="rect">
            <a:avLst/>
          </a:prstGeom>
          <a:noFill/>
          <a:ln/>
        </p:spPr>
        <p:txBody>
          <a:bodyPr wrap="square" lIns="0" tIns="0" rIns="0" bIns="0" rtlCol="0" anchor="ctr"/>
          <a:lstStyle/>
          <a:p>
            <a:pPr marL="0" indent="0" algn="ctr">
              <a:buNone/>
            </a:pPr>
            <a:r>
              <a:rPr lang="en-US" sz="1200" dirty="0">
                <a:solidFill>
                  <a:schemeClr val="tx1"/>
                </a:solidFill>
              </a:rPr>
              <a:t>~30 min</a:t>
            </a:r>
            <a:endParaRPr lang="en-US" sz="1200" dirty="0"/>
          </a:p>
        </p:txBody>
      </p:sp>
      <p:sp>
        <p:nvSpPr>
          <p:cNvPr id="11" name="tick"/>
          <p:cNvSpPr/>
          <p:nvPr/>
        </p:nvSpPr>
        <p:spPr>
          <a:xfrm>
            <a:off x="4983480" y="3858768"/>
            <a:ext cx="0" cy="146304"/>
          </a:xfrm>
          <a:prstGeom prst="line">
            <a:avLst/>
          </a:prstGeom>
          <a:noFill/>
          <a:ln w="19050">
            <a:solidFill>
              <a:srgbClr val="123D2E"/>
            </a:solidFill>
            <a:prstDash val="solid"/>
          </a:ln>
        </p:spPr>
      </p:sp>
      <p:sp>
        <p:nvSpPr>
          <p:cNvPr id="12" name="Text 9"/>
          <p:cNvSpPr txBox="1"/>
          <p:nvPr/>
        </p:nvSpPr>
        <p:spPr>
          <a:xfrm>
            <a:off x="4434840" y="4041648"/>
            <a:ext cx="1097280" cy="274320"/>
          </a:xfrm>
          <a:prstGeom prst="rect">
            <a:avLst/>
          </a:prstGeom>
          <a:noFill/>
          <a:ln/>
        </p:spPr>
        <p:txBody>
          <a:bodyPr wrap="square" lIns="0" tIns="0" rIns="0" bIns="0" rtlCol="0" anchor="ctr"/>
          <a:lstStyle/>
          <a:p>
            <a:pPr marL="0" indent="0" algn="ctr">
              <a:buNone/>
            </a:pPr>
            <a:r>
              <a:rPr lang="en-US" sz="1200" dirty="0">
                <a:solidFill>
                  <a:schemeClr val="tx1"/>
                </a:solidFill>
              </a:rPr>
              <a:t>hours</a:t>
            </a:r>
            <a:endParaRPr lang="en-US" sz="1200" dirty="0"/>
          </a:p>
        </p:txBody>
      </p:sp>
      <p:sp>
        <p:nvSpPr>
          <p:cNvPr id="13" name="tick"/>
          <p:cNvSpPr/>
          <p:nvPr/>
        </p:nvSpPr>
        <p:spPr>
          <a:xfrm>
            <a:off x="6400800" y="3858768"/>
            <a:ext cx="0" cy="146304"/>
          </a:xfrm>
          <a:prstGeom prst="line">
            <a:avLst/>
          </a:prstGeom>
          <a:noFill/>
          <a:ln w="19050">
            <a:solidFill>
              <a:srgbClr val="123D2E"/>
            </a:solidFill>
            <a:prstDash val="solid"/>
          </a:ln>
        </p:spPr>
      </p:sp>
      <p:sp>
        <p:nvSpPr>
          <p:cNvPr id="14" name="Text 11"/>
          <p:cNvSpPr txBox="1"/>
          <p:nvPr/>
        </p:nvSpPr>
        <p:spPr>
          <a:xfrm>
            <a:off x="5852160" y="4041648"/>
            <a:ext cx="1097280" cy="274320"/>
          </a:xfrm>
          <a:prstGeom prst="rect">
            <a:avLst/>
          </a:prstGeom>
          <a:noFill/>
          <a:ln/>
        </p:spPr>
        <p:txBody>
          <a:bodyPr wrap="square" lIns="0" tIns="0" rIns="0" bIns="0" rtlCol="0" anchor="ctr"/>
          <a:lstStyle/>
          <a:p>
            <a:pPr marL="0" indent="0" algn="ctr">
              <a:buNone/>
            </a:pPr>
            <a:r>
              <a:rPr lang="en-US" sz="1200" dirty="0">
                <a:solidFill>
                  <a:schemeClr val="tx1"/>
                </a:solidFill>
              </a:rPr>
              <a:t>days</a:t>
            </a:r>
            <a:endParaRPr lang="en-US" sz="1200" dirty="0"/>
          </a:p>
        </p:txBody>
      </p:sp>
      <p:sp>
        <p:nvSpPr>
          <p:cNvPr id="15" name="relaxation bar"/>
          <p:cNvSpPr/>
          <p:nvPr/>
        </p:nvSpPr>
        <p:spPr>
          <a:xfrm>
            <a:off x="731520" y="1828800"/>
            <a:ext cx="2338578" cy="502920"/>
          </a:xfrm>
          <a:prstGeom prst="roundRect">
            <a:avLst>
              <a:gd name="adj" fmla="val 18182"/>
            </a:avLst>
          </a:prstGeom>
          <a:solidFill>
            <a:schemeClr val="accent1"/>
          </a:solidFill>
          <a:ln/>
        </p:spPr>
      </p:sp>
      <p:sp>
        <p:nvSpPr>
          <p:cNvPr id="16" name="Text 13"/>
          <p:cNvSpPr txBox="1"/>
          <p:nvPr/>
        </p:nvSpPr>
        <p:spPr>
          <a:xfrm>
            <a:off x="822960" y="1828800"/>
            <a:ext cx="2201418" cy="502920"/>
          </a:xfrm>
          <a:prstGeom prst="rect">
            <a:avLst/>
          </a:prstGeom>
          <a:noFill/>
          <a:ln/>
        </p:spPr>
        <p:txBody>
          <a:bodyPr wrap="square" lIns="0" tIns="0" rIns="0" bIns="0" rtlCol="0" anchor="ctr"/>
          <a:lstStyle/>
          <a:p>
            <a:pPr marL="0" indent="0" algn="l">
              <a:buNone/>
            </a:pPr>
            <a:r>
              <a:rPr lang="en-US" sz="1200" b="1" dirty="0">
                <a:solidFill>
                  <a:schemeClr val="bg1"/>
                </a:solidFill>
              </a:rPr>
              <a:t>qE · ΔpH, PsbS, zeaxanthin</a:t>
            </a:r>
            <a:endParaRPr lang="en-US" sz="1200" dirty="0"/>
          </a:p>
        </p:txBody>
      </p:sp>
      <p:sp>
        <p:nvSpPr>
          <p:cNvPr id="17" name="relaxation bar"/>
          <p:cNvSpPr/>
          <p:nvPr/>
        </p:nvSpPr>
        <p:spPr>
          <a:xfrm>
            <a:off x="1865376" y="2468880"/>
            <a:ext cx="2055114" cy="502920"/>
          </a:xfrm>
          <a:prstGeom prst="roundRect">
            <a:avLst>
              <a:gd name="adj" fmla="val 18182"/>
            </a:avLst>
          </a:prstGeom>
          <a:solidFill>
            <a:schemeClr val="accent5"/>
          </a:solidFill>
          <a:ln/>
        </p:spPr>
      </p:sp>
      <p:sp>
        <p:nvSpPr>
          <p:cNvPr id="18" name="Text 15"/>
          <p:cNvSpPr txBox="1"/>
          <p:nvPr/>
        </p:nvSpPr>
        <p:spPr>
          <a:xfrm>
            <a:off x="1956816" y="2468880"/>
            <a:ext cx="1917954" cy="502920"/>
          </a:xfrm>
          <a:prstGeom prst="rect">
            <a:avLst/>
          </a:prstGeom>
          <a:noFill/>
          <a:ln/>
        </p:spPr>
        <p:txBody>
          <a:bodyPr wrap="square" lIns="0" tIns="0" rIns="0" bIns="0" rtlCol="0" anchor="ctr"/>
          <a:lstStyle/>
          <a:p>
            <a:pPr marL="0" indent="0" algn="l">
              <a:buNone/>
            </a:pPr>
            <a:r>
              <a:rPr lang="en-US" sz="1200" b="1" dirty="0">
                <a:solidFill>
                  <a:schemeClr val="bg1"/>
                </a:solidFill>
              </a:rPr>
              <a:t>qT · state transitions</a:t>
            </a:r>
            <a:endParaRPr lang="en-US" sz="1200" dirty="0"/>
          </a:p>
        </p:txBody>
      </p:sp>
      <p:sp>
        <p:nvSpPr>
          <p:cNvPr id="19" name="relaxation bar"/>
          <p:cNvSpPr/>
          <p:nvPr/>
        </p:nvSpPr>
        <p:spPr>
          <a:xfrm>
            <a:off x="3566160" y="3108960"/>
            <a:ext cx="2834640" cy="502920"/>
          </a:xfrm>
          <a:prstGeom prst="roundRect">
            <a:avLst>
              <a:gd name="adj" fmla="val 18182"/>
            </a:avLst>
          </a:prstGeom>
          <a:solidFill>
            <a:schemeClr val="accent2"/>
          </a:solidFill>
          <a:ln/>
        </p:spPr>
      </p:sp>
      <p:sp>
        <p:nvSpPr>
          <p:cNvPr id="20" name="Text 17"/>
          <p:cNvSpPr txBox="1"/>
          <p:nvPr/>
        </p:nvSpPr>
        <p:spPr>
          <a:xfrm>
            <a:off x="3657600" y="3108960"/>
            <a:ext cx="2697480" cy="502920"/>
          </a:xfrm>
          <a:prstGeom prst="rect">
            <a:avLst/>
          </a:prstGeom>
          <a:noFill/>
          <a:ln/>
        </p:spPr>
        <p:txBody>
          <a:bodyPr wrap="square" lIns="0" tIns="0" rIns="0" bIns="0" rtlCol="0" anchor="ctr"/>
          <a:lstStyle/>
          <a:p>
            <a:pPr marL="0" indent="0" algn="l">
              <a:buNone/>
            </a:pPr>
            <a:r>
              <a:rPr lang="en-US" sz="1200" b="1" dirty="0">
                <a:solidFill>
                  <a:schemeClr val="bg1"/>
                </a:solidFill>
              </a:rPr>
              <a:t>qI · photoinhibition, D1 repair, retained zeaxanthin</a:t>
            </a:r>
            <a:endParaRPr lang="en-US" sz="1200" dirty="0"/>
          </a:p>
        </p:txBody>
      </p:sp>
      <p:sp>
        <p:nvSpPr>
          <p:cNvPr id="21" name="Text 18"/>
          <p:cNvSpPr txBox="1"/>
          <p:nvPr/>
        </p:nvSpPr>
        <p:spPr>
          <a:xfrm>
            <a:off x="731520" y="1325880"/>
            <a:ext cx="4572000" cy="320040"/>
          </a:xfrm>
          <a:prstGeom prst="rect">
            <a:avLst/>
          </a:prstGeom>
          <a:noFill/>
          <a:ln/>
        </p:spPr>
        <p:txBody>
          <a:bodyPr wrap="square" lIns="0" tIns="0" rIns="0" bIns="0" rtlCol="0" anchor="ctr"/>
          <a:lstStyle/>
          <a:p>
            <a:pPr marL="0" indent="0" algn="l">
              <a:buNone/>
            </a:pPr>
            <a:r>
              <a:rPr lang="en-US" sz="1500" b="1" dirty="0">
                <a:solidFill>
                  <a:schemeClr val="tx2"/>
                </a:solidFill>
              </a:rPr>
              <a:t>Relaxation time in darkness</a:t>
            </a:r>
            <a:endParaRPr lang="en-US" sz="1500" dirty="0"/>
          </a:p>
        </p:txBody>
      </p:sp>
      <p:sp>
        <p:nvSpPr>
          <p:cNvPr id="22" name="figure frame"/>
          <p:cNvSpPr/>
          <p:nvPr/>
        </p:nvSpPr>
        <p:spPr>
          <a:xfrm>
            <a:off x="7132320" y="1325880"/>
            <a:ext cx="4507992" cy="2651760"/>
          </a:xfrm>
          <a:prstGeom prst="roundRect">
            <a:avLst>
              <a:gd name="adj" fmla="val 2069"/>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23" name="Image 0" descr="NPQ relaxation after actinic light off: qE (fast), qT and qI (slow) separate"/>
          <p:cNvPicPr>
            <a:picLocks noChangeAspect="1"/>
          </p:cNvPicPr>
          <p:nvPr/>
        </p:nvPicPr>
        <p:blipFill>
          <a:blip r:embed="rId3"/>
          <a:stretch>
            <a:fillRect/>
          </a:stretch>
        </p:blipFill>
        <p:spPr>
          <a:xfrm>
            <a:off x="7714906" y="1417320"/>
            <a:ext cx="3342820" cy="2468880"/>
          </a:xfrm>
          <a:prstGeom prst="rect">
            <a:avLst/>
          </a:prstGeom>
        </p:spPr>
      </p:pic>
      <p:sp>
        <p:nvSpPr>
          <p:cNvPr id="24" name="Text 20"/>
          <p:cNvSpPr txBox="1"/>
          <p:nvPr/>
        </p:nvSpPr>
        <p:spPr>
          <a:xfrm>
            <a:off x="7132320" y="4023360"/>
            <a:ext cx="4507992" cy="365760"/>
          </a:xfrm>
          <a:prstGeom prst="rect">
            <a:avLst/>
          </a:prstGeom>
          <a:noFill/>
          <a:ln/>
        </p:spPr>
        <p:txBody>
          <a:bodyPr wrap="square" lIns="0" tIns="0" rIns="0" bIns="0" rtlCol="0" anchor="t"/>
          <a:lstStyle/>
          <a:p>
            <a:pPr marL="0" indent="0">
              <a:buNone/>
            </a:pPr>
            <a:r>
              <a:rPr lang="en-US" sz="1100" i="1" dirty="0">
                <a:solidFill>
                  <a:schemeClr val="accent6"/>
                </a:solidFill>
              </a:rPr>
              <a:t>NPQ relaxation after actinic light off: qE (fast), qT and qI (slow) separate</a:t>
            </a:r>
            <a:endParaRPr lang="en-US" sz="1100" dirty="0"/>
          </a:p>
        </p:txBody>
      </p:sp>
      <p:sp>
        <p:nvSpPr>
          <p:cNvPr id="25" name="card"/>
          <p:cNvSpPr/>
          <p:nvPr/>
        </p:nvSpPr>
        <p:spPr>
          <a:xfrm>
            <a:off x="548640" y="4526280"/>
            <a:ext cx="3566160" cy="1645920"/>
          </a:xfrm>
          <a:prstGeom prst="roundRect">
            <a:avLst>
              <a:gd name="adj" fmla="val 4444"/>
            </a:avLst>
          </a:prstGeom>
          <a:solidFill>
            <a:schemeClr val="bg2"/>
          </a:solidFill>
          <a:ln/>
          <a:effectLst>
            <a:outerShdw blurRad="76200" dist="25400" dir="5400000" algn="bl" rotWithShape="0">
              <a:srgbClr val="000000">
                <a:alpha val="14000"/>
              </a:srgbClr>
            </a:outerShdw>
          </a:effectLst>
        </p:spPr>
      </p:sp>
      <p:sp>
        <p:nvSpPr>
          <p:cNvPr id="26" name="icon circle"/>
          <p:cNvSpPr/>
          <p:nvPr/>
        </p:nvSpPr>
        <p:spPr>
          <a:xfrm>
            <a:off x="731520" y="4681728"/>
            <a:ext cx="420624" cy="420624"/>
          </a:xfrm>
          <a:prstGeom prst="ellipse">
            <a:avLst/>
          </a:prstGeom>
          <a:solidFill>
            <a:schemeClr val="accent1"/>
          </a:solidFill>
          <a:ln/>
        </p:spPr>
      </p:sp>
      <p:pic>
        <p:nvPicPr>
          <p:cNvPr id="27" name="Image 1" descr="Clock icon"/>
          <p:cNvPicPr>
            <a:picLocks noChangeAspect="1"/>
          </p:cNvPicPr>
          <p:nvPr/>
        </p:nvPicPr>
        <p:blipFill>
          <a:blip r:embed="rId4"/>
          <a:stretch>
            <a:fillRect/>
          </a:stretch>
        </p:blipFill>
        <p:spPr>
          <a:xfrm>
            <a:off x="840882" y="4791090"/>
            <a:ext cx="201900" cy="201900"/>
          </a:xfrm>
          <a:prstGeom prst="rect">
            <a:avLst/>
          </a:prstGeom>
        </p:spPr>
      </p:pic>
      <p:sp>
        <p:nvSpPr>
          <p:cNvPr id="28" name="Text 23"/>
          <p:cNvSpPr txBox="1"/>
          <p:nvPr/>
        </p:nvSpPr>
        <p:spPr>
          <a:xfrm>
            <a:off x="1261872" y="4663440"/>
            <a:ext cx="2715768" cy="457200"/>
          </a:xfrm>
          <a:prstGeom prst="rect">
            <a:avLst/>
          </a:prstGeom>
          <a:noFill/>
          <a:ln/>
        </p:spPr>
        <p:txBody>
          <a:bodyPr wrap="square" lIns="0" tIns="0" rIns="0" bIns="0" rtlCol="0" anchor="ctr"/>
          <a:lstStyle/>
          <a:p>
            <a:pPr marL="0" indent="0">
              <a:buNone/>
            </a:pPr>
            <a:r>
              <a:rPr lang="en-US" sz="1600" b="1" dirty="0">
                <a:solidFill>
                  <a:schemeClr val="tx2"/>
                </a:solidFill>
              </a:rPr>
              <a:t>Practical rule</a:t>
            </a:r>
            <a:endParaRPr lang="en-US" sz="1600" dirty="0"/>
          </a:p>
        </p:txBody>
      </p:sp>
      <p:sp>
        <p:nvSpPr>
          <p:cNvPr id="29" name="Text 24"/>
          <p:cNvSpPr txBox="1"/>
          <p:nvPr/>
        </p:nvSpPr>
        <p:spPr>
          <a:xfrm>
            <a:off x="731520" y="5212080"/>
            <a:ext cx="3200400" cy="86868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20–30 min dark usually removes qE and qT for a plant in a moderate environment.</a:t>
            </a:r>
            <a:endParaRPr lang="en-US" sz="1300" dirty="0"/>
          </a:p>
        </p:txBody>
      </p:sp>
      <p:sp>
        <p:nvSpPr>
          <p:cNvPr id="30" name="card"/>
          <p:cNvSpPr/>
          <p:nvPr/>
        </p:nvSpPr>
        <p:spPr>
          <a:xfrm>
            <a:off x="4315968" y="4526280"/>
            <a:ext cx="3566160" cy="1645920"/>
          </a:xfrm>
          <a:prstGeom prst="roundRect">
            <a:avLst>
              <a:gd name="adj" fmla="val 4444"/>
            </a:avLst>
          </a:prstGeom>
          <a:solidFill>
            <a:schemeClr val="bg2"/>
          </a:solidFill>
          <a:ln/>
          <a:effectLst>
            <a:outerShdw blurRad="76200" dist="25400" dir="5400000" algn="bl" rotWithShape="0">
              <a:srgbClr val="000000">
                <a:alpha val="14000"/>
              </a:srgbClr>
            </a:outerShdw>
          </a:effectLst>
        </p:spPr>
      </p:sp>
      <p:sp>
        <p:nvSpPr>
          <p:cNvPr id="31" name="icon circle"/>
          <p:cNvSpPr/>
          <p:nvPr/>
        </p:nvSpPr>
        <p:spPr>
          <a:xfrm>
            <a:off x="4498848" y="4681728"/>
            <a:ext cx="420624" cy="420624"/>
          </a:xfrm>
          <a:prstGeom prst="ellipse">
            <a:avLst/>
          </a:prstGeom>
          <a:solidFill>
            <a:schemeClr val="accent5"/>
          </a:solidFill>
          <a:ln/>
        </p:spPr>
      </p:sp>
      <p:pic>
        <p:nvPicPr>
          <p:cNvPr id="32" name="Image 2" descr="Check icon"/>
          <p:cNvPicPr>
            <a:picLocks noChangeAspect="1"/>
          </p:cNvPicPr>
          <p:nvPr/>
        </p:nvPicPr>
        <p:blipFill>
          <a:blip r:embed="rId5"/>
          <a:stretch>
            <a:fillRect/>
          </a:stretch>
        </p:blipFill>
        <p:spPr>
          <a:xfrm>
            <a:off x="4608210" y="4791090"/>
            <a:ext cx="201900" cy="201900"/>
          </a:xfrm>
          <a:prstGeom prst="rect">
            <a:avLst/>
          </a:prstGeom>
        </p:spPr>
      </p:pic>
      <p:sp>
        <p:nvSpPr>
          <p:cNvPr id="33" name="Text 27"/>
          <p:cNvSpPr txBox="1"/>
          <p:nvPr/>
        </p:nvSpPr>
        <p:spPr>
          <a:xfrm>
            <a:off x="5029200" y="4663440"/>
            <a:ext cx="2715768" cy="457200"/>
          </a:xfrm>
          <a:prstGeom prst="rect">
            <a:avLst/>
          </a:prstGeom>
          <a:noFill/>
          <a:ln/>
        </p:spPr>
        <p:txBody>
          <a:bodyPr wrap="square" lIns="0" tIns="0" rIns="0" bIns="0" rtlCol="0" anchor="ctr"/>
          <a:lstStyle/>
          <a:p>
            <a:pPr marL="0" indent="0">
              <a:buNone/>
            </a:pPr>
            <a:r>
              <a:rPr lang="en-US" sz="1600" b="1" dirty="0">
                <a:solidFill>
                  <a:schemeClr val="tx2"/>
                </a:solidFill>
              </a:rPr>
              <a:t>Best answer</a:t>
            </a:r>
            <a:endParaRPr lang="en-US" sz="1600" dirty="0"/>
          </a:p>
        </p:txBody>
      </p:sp>
      <p:sp>
        <p:nvSpPr>
          <p:cNvPr id="34" name="Text 28"/>
          <p:cNvSpPr txBox="1"/>
          <p:nvPr/>
        </p:nvSpPr>
        <p:spPr>
          <a:xfrm>
            <a:off x="4498848" y="5212080"/>
            <a:ext cx="3200400" cy="86868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Test it: dark-adapt non-stressed controls and measure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 every 5–10 min until stable.</a:t>
            </a:r>
            <a:endParaRPr lang="en-US" sz="1300" dirty="0"/>
          </a:p>
        </p:txBody>
      </p:sp>
      <p:sp>
        <p:nvSpPr>
          <p:cNvPr id="35" name="card"/>
          <p:cNvSpPr/>
          <p:nvPr/>
        </p:nvSpPr>
        <p:spPr>
          <a:xfrm>
            <a:off x="8083296" y="4526280"/>
            <a:ext cx="3557016" cy="1645920"/>
          </a:xfrm>
          <a:prstGeom prst="roundRect">
            <a:avLst>
              <a:gd name="adj" fmla="val 4444"/>
            </a:avLst>
          </a:prstGeom>
          <a:solidFill>
            <a:schemeClr val="bg2"/>
          </a:solidFill>
          <a:ln/>
          <a:effectLst>
            <a:outerShdw blurRad="76200" dist="25400" dir="5400000" algn="bl" rotWithShape="0">
              <a:srgbClr val="000000">
                <a:alpha val="14000"/>
              </a:srgbClr>
            </a:outerShdw>
          </a:effectLst>
        </p:spPr>
      </p:sp>
      <p:sp>
        <p:nvSpPr>
          <p:cNvPr id="36" name="icon circle"/>
          <p:cNvSpPr/>
          <p:nvPr/>
        </p:nvSpPr>
        <p:spPr>
          <a:xfrm>
            <a:off x="8266176" y="4681728"/>
            <a:ext cx="420624" cy="420624"/>
          </a:xfrm>
          <a:prstGeom prst="ellipse">
            <a:avLst/>
          </a:prstGeom>
          <a:solidFill>
            <a:schemeClr val="accent4"/>
          </a:solidFill>
          <a:ln/>
        </p:spPr>
      </p:sp>
      <p:pic>
        <p:nvPicPr>
          <p:cNvPr id="37" name="Image 3" descr="Moon icon"/>
          <p:cNvPicPr>
            <a:picLocks noChangeAspect="1"/>
          </p:cNvPicPr>
          <p:nvPr/>
        </p:nvPicPr>
        <p:blipFill>
          <a:blip r:embed="rId6"/>
          <a:stretch>
            <a:fillRect/>
          </a:stretch>
        </p:blipFill>
        <p:spPr>
          <a:xfrm>
            <a:off x="8375538" y="4791090"/>
            <a:ext cx="201900" cy="201900"/>
          </a:xfrm>
          <a:prstGeom prst="rect">
            <a:avLst/>
          </a:prstGeom>
        </p:spPr>
      </p:pic>
      <p:sp>
        <p:nvSpPr>
          <p:cNvPr id="38" name="Text 31"/>
          <p:cNvSpPr txBox="1"/>
          <p:nvPr/>
        </p:nvSpPr>
        <p:spPr>
          <a:xfrm>
            <a:off x="8796528" y="4663440"/>
            <a:ext cx="2706624" cy="457200"/>
          </a:xfrm>
          <a:prstGeom prst="rect">
            <a:avLst/>
          </a:prstGeom>
          <a:noFill/>
          <a:ln/>
        </p:spPr>
        <p:txBody>
          <a:bodyPr wrap="square" lIns="0" tIns="0" rIns="0" bIns="0" rtlCol="0" anchor="ctr"/>
          <a:lstStyle/>
          <a:p>
            <a:pPr marL="0" indent="0">
              <a:buNone/>
            </a:pPr>
            <a:r>
              <a:rPr lang="en-US" sz="1600" b="1" dirty="0">
                <a:solidFill>
                  <a:schemeClr val="tx2"/>
                </a:solidFill>
              </a:rPr>
              <a:t>Long-term stress</a:t>
            </a:r>
            <a:endParaRPr lang="en-US" sz="1600" dirty="0"/>
          </a:p>
        </p:txBody>
      </p:sp>
      <p:sp>
        <p:nvSpPr>
          <p:cNvPr id="39" name="Text 32"/>
          <p:cNvSpPr txBox="1"/>
          <p:nvPr/>
        </p:nvSpPr>
        <p:spPr>
          <a:xfrm>
            <a:off x="8266176" y="5212080"/>
            <a:ext cx="3191256" cy="86868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Use </a:t>
            </a:r>
            <a:r>
              <a:rPr lang="en-US" sz="1300" b="1" dirty="0">
                <a:solidFill>
                  <a:schemeClr val="tx1"/>
                </a:solidFill>
              </a:rPr>
              <a:t>pre-dawn F</a:t>
            </a:r>
            <a:r>
              <a:rPr lang="en-US" sz="1300" b="1" baseline="-40000" dirty="0">
                <a:solidFill>
                  <a:schemeClr val="tx1"/>
                </a:solidFill>
              </a:rPr>
              <a:t>v</a:t>
            </a:r>
            <a:r>
              <a:rPr lang="en-US" sz="1300" b="1" dirty="0">
                <a:solidFill>
                  <a:schemeClr val="tx1"/>
                </a:solidFill>
              </a:rPr>
              <a:t>/F</a:t>
            </a:r>
            <a:r>
              <a:rPr lang="en-US" sz="1300" b="1" baseline="-40000" dirty="0">
                <a:solidFill>
                  <a:schemeClr val="tx1"/>
                </a:solidFill>
              </a:rPr>
              <a:t>m</a:t>
            </a:r>
            <a:r>
              <a:rPr lang="en-US" sz="1300" dirty="0">
                <a:solidFill>
                  <a:schemeClr val="tx1"/>
                </a:solidFill>
              </a:rPr>
              <a:t> (e.g. drought, over-wintering evergreens).</a:t>
            </a:r>
            <a:endParaRPr lang="en-US" sz="13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Pitfalls in measuring F</a:t>
            </a:r>
            <a:r>
              <a:rPr lang="en-US" sz="3200" b="1" baseline="-40000" dirty="0">
                <a:solidFill>
                  <a:schemeClr val="tx2"/>
                </a:solidFill>
              </a:rPr>
              <a:t>o</a:t>
            </a:r>
            <a:r>
              <a:rPr lang="en-US" sz="3200" b="1" dirty="0">
                <a:solidFill>
                  <a:schemeClr val="tx2"/>
                </a:solidFill>
              </a:rPr>
              <a:t> and F</a:t>
            </a:r>
            <a:r>
              <a:rPr lang="en-US" sz="3200" b="1" baseline="-40000" dirty="0">
                <a:solidFill>
                  <a:schemeClr val="tx2"/>
                </a:solidFill>
              </a:rPr>
              <a:t>m</a:t>
            </a:r>
            <a:endParaRPr lang="en-US" sz="3200" dirty="0"/>
          </a:p>
        </p:txBody>
      </p:sp>
      <p:sp>
        <p:nvSpPr>
          <p:cNvPr id="4" name="card"/>
          <p:cNvSpPr/>
          <p:nvPr/>
        </p:nvSpPr>
        <p:spPr>
          <a:xfrm>
            <a:off x="548640" y="1371600"/>
            <a:ext cx="3547872"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5" name="icon circle"/>
          <p:cNvSpPr/>
          <p:nvPr/>
        </p:nvSpPr>
        <p:spPr>
          <a:xfrm>
            <a:off x="731520" y="1527048"/>
            <a:ext cx="420624" cy="420624"/>
          </a:xfrm>
          <a:prstGeom prst="ellipse">
            <a:avLst/>
          </a:prstGeom>
          <a:solidFill>
            <a:schemeClr val="accent2"/>
          </a:solidFill>
          <a:ln/>
        </p:spPr>
      </p:sp>
      <p:pic>
        <p:nvPicPr>
          <p:cNvPr id="6" name="Image 0" descr="Eye icon"/>
          <p:cNvPicPr>
            <a:picLocks noChangeAspect="1"/>
          </p:cNvPicPr>
          <p:nvPr/>
        </p:nvPicPr>
        <p:blipFill>
          <a:blip r:embed="rId3"/>
          <a:stretch>
            <a:fillRect/>
          </a:stretch>
        </p:blipFill>
        <p:spPr>
          <a:xfrm>
            <a:off x="840882" y="1636410"/>
            <a:ext cx="201900" cy="201900"/>
          </a:xfrm>
          <a:prstGeom prst="rect">
            <a:avLst/>
          </a:prstGeom>
        </p:spPr>
      </p:pic>
      <p:sp>
        <p:nvSpPr>
          <p:cNvPr id="7" name="Text 3"/>
          <p:cNvSpPr txBox="1"/>
          <p:nvPr/>
        </p:nvSpPr>
        <p:spPr>
          <a:xfrm>
            <a:off x="1261872" y="1508760"/>
            <a:ext cx="2697480" cy="457200"/>
          </a:xfrm>
          <a:prstGeom prst="rect">
            <a:avLst/>
          </a:prstGeom>
          <a:noFill/>
          <a:ln/>
        </p:spPr>
        <p:txBody>
          <a:bodyPr wrap="square" lIns="0" tIns="0" rIns="0" bIns="0" rtlCol="0" anchor="ctr"/>
          <a:lstStyle/>
          <a:p>
            <a:pPr marL="0" indent="0">
              <a:buNone/>
            </a:pPr>
            <a:r>
              <a:rPr lang="en-US" sz="1500" b="1" dirty="0">
                <a:solidFill>
                  <a:schemeClr val="tx2"/>
                </a:solidFill>
              </a:rPr>
              <a:t>Measuring beam too strong</a:t>
            </a:r>
            <a:endParaRPr lang="en-US" sz="1500" dirty="0"/>
          </a:p>
        </p:txBody>
      </p:sp>
      <p:sp>
        <p:nvSpPr>
          <p:cNvPr id="8" name="Text 4"/>
          <p:cNvSpPr txBox="1"/>
          <p:nvPr/>
        </p:nvSpPr>
        <p:spPr>
          <a:xfrm>
            <a:off x="731520" y="2057400"/>
            <a:ext cx="3182112"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Induces electron transport → false (high) F</a:t>
            </a:r>
            <a:r>
              <a:rPr lang="en-US" sz="1300" baseline="-40000" dirty="0">
                <a:solidFill>
                  <a:schemeClr val="tx1"/>
                </a:solidFill>
              </a:rPr>
              <a:t>o</a:t>
            </a:r>
            <a:r>
              <a:rPr lang="en-US" sz="1300" dirty="0">
                <a:solidFill>
                  <a:schemeClr val="tx1"/>
                </a:solidFill>
              </a:rPr>
              <a:t>. Lower intensity / frequency if F</a:t>
            </a:r>
            <a:r>
              <a:rPr lang="en-US" sz="1300" baseline="-40000" dirty="0">
                <a:solidFill>
                  <a:schemeClr val="tx1"/>
                </a:solidFill>
              </a:rPr>
              <a:t>o</a:t>
            </a:r>
            <a:r>
              <a:rPr lang="en-US" sz="1300" dirty="0">
                <a:solidFill>
                  <a:schemeClr val="tx1"/>
                </a:solidFill>
              </a:rPr>
              <a:t> drifts up.</a:t>
            </a:r>
            <a:endParaRPr lang="en-US" sz="1300" dirty="0"/>
          </a:p>
        </p:txBody>
      </p:sp>
      <p:sp>
        <p:nvSpPr>
          <p:cNvPr id="9" name="card"/>
          <p:cNvSpPr/>
          <p:nvPr/>
        </p:nvSpPr>
        <p:spPr>
          <a:xfrm>
            <a:off x="4297680" y="1371600"/>
            <a:ext cx="3547872"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10" name="icon circle"/>
          <p:cNvSpPr/>
          <p:nvPr/>
        </p:nvSpPr>
        <p:spPr>
          <a:xfrm>
            <a:off x="4480560" y="1527048"/>
            <a:ext cx="420624" cy="420624"/>
          </a:xfrm>
          <a:prstGeom prst="ellipse">
            <a:avLst/>
          </a:prstGeom>
          <a:solidFill>
            <a:schemeClr val="accent4"/>
          </a:solidFill>
          <a:ln/>
        </p:spPr>
      </p:sp>
      <p:pic>
        <p:nvPicPr>
          <p:cNvPr id="11" name="Image 1" descr="WaveSquare icon"/>
          <p:cNvPicPr>
            <a:picLocks noChangeAspect="1"/>
          </p:cNvPicPr>
          <p:nvPr/>
        </p:nvPicPr>
        <p:blipFill>
          <a:blip r:embed="rId4"/>
          <a:stretch>
            <a:fillRect/>
          </a:stretch>
        </p:blipFill>
        <p:spPr>
          <a:xfrm>
            <a:off x="4589922" y="1636410"/>
            <a:ext cx="201900" cy="201900"/>
          </a:xfrm>
          <a:prstGeom prst="rect">
            <a:avLst/>
          </a:prstGeom>
        </p:spPr>
      </p:pic>
      <p:sp>
        <p:nvSpPr>
          <p:cNvPr id="12" name="Text 7"/>
          <p:cNvSpPr txBox="1"/>
          <p:nvPr/>
        </p:nvSpPr>
        <p:spPr>
          <a:xfrm>
            <a:off x="5010912" y="1508760"/>
            <a:ext cx="2697480" cy="457200"/>
          </a:xfrm>
          <a:prstGeom prst="rect">
            <a:avLst/>
          </a:prstGeom>
          <a:noFill/>
          <a:ln/>
        </p:spPr>
        <p:txBody>
          <a:bodyPr wrap="square" lIns="0" tIns="0" rIns="0" bIns="0" rtlCol="0" anchor="ctr"/>
          <a:lstStyle/>
          <a:p>
            <a:pPr marL="0" indent="0">
              <a:buNone/>
            </a:pPr>
            <a:r>
              <a:rPr lang="en-US" sz="1500" b="1" dirty="0">
                <a:solidFill>
                  <a:schemeClr val="tx2"/>
                </a:solidFill>
              </a:rPr>
              <a:t>Q</a:t>
            </a:r>
            <a:r>
              <a:rPr lang="en-US" sz="1500" b="1" baseline="-40000" dirty="0">
                <a:solidFill>
                  <a:schemeClr val="tx2"/>
                </a:solidFill>
              </a:rPr>
              <a:t>A</a:t>
            </a:r>
            <a:r>
              <a:rPr lang="en-US" sz="1500" b="1" dirty="0">
                <a:solidFill>
                  <a:schemeClr val="tx2"/>
                </a:solidFill>
              </a:rPr>
              <a:t> partly reduced in the dark</a:t>
            </a:r>
            <a:endParaRPr lang="en-US" sz="1500" dirty="0"/>
          </a:p>
        </p:txBody>
      </p:sp>
      <p:sp>
        <p:nvSpPr>
          <p:cNvPr id="13" name="Text 8"/>
          <p:cNvSpPr txBox="1"/>
          <p:nvPr/>
        </p:nvSpPr>
        <p:spPr>
          <a:xfrm>
            <a:off x="4480560" y="2057400"/>
            <a:ext cx="3182112"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Chlororespiration reduces PQ. Use a </a:t>
            </a:r>
            <a:r>
              <a:rPr lang="en-US" sz="1300" b="1" dirty="0">
                <a:solidFill>
                  <a:schemeClr val="tx1"/>
                </a:solidFill>
              </a:rPr>
              <a:t>far-red</a:t>
            </a:r>
            <a:r>
              <a:rPr lang="en-US" sz="1300" dirty="0">
                <a:solidFill>
                  <a:schemeClr val="tx1"/>
                </a:solidFill>
              </a:rPr>
              <a:t> pulse to oxidise Q</a:t>
            </a:r>
            <a:r>
              <a:rPr lang="en-US" sz="1300" baseline="-40000" dirty="0">
                <a:solidFill>
                  <a:schemeClr val="tx1"/>
                </a:solidFill>
              </a:rPr>
              <a:t>A</a:t>
            </a:r>
            <a:r>
              <a:rPr lang="en-US" sz="1300" dirty="0">
                <a:solidFill>
                  <a:schemeClr val="tx1"/>
                </a:solidFill>
              </a:rPr>
              <a:t> before F</a:t>
            </a:r>
            <a:r>
              <a:rPr lang="en-US" sz="1300" baseline="-40000" dirty="0">
                <a:solidFill>
                  <a:schemeClr val="tx1"/>
                </a:solidFill>
              </a:rPr>
              <a:t>o</a:t>
            </a:r>
            <a:r>
              <a:rPr lang="en-US" sz="1300" dirty="0">
                <a:solidFill>
                  <a:schemeClr val="tx1"/>
                </a:solidFill>
              </a:rPr>
              <a:t>.</a:t>
            </a:r>
            <a:endParaRPr lang="en-US" sz="1300" dirty="0"/>
          </a:p>
        </p:txBody>
      </p:sp>
      <p:sp>
        <p:nvSpPr>
          <p:cNvPr id="14" name="card"/>
          <p:cNvSpPr/>
          <p:nvPr/>
        </p:nvSpPr>
        <p:spPr>
          <a:xfrm>
            <a:off x="8046720" y="1371600"/>
            <a:ext cx="3547872"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15" name="icon circle"/>
          <p:cNvSpPr/>
          <p:nvPr/>
        </p:nvSpPr>
        <p:spPr>
          <a:xfrm>
            <a:off x="8229600" y="1527048"/>
            <a:ext cx="420624" cy="420624"/>
          </a:xfrm>
          <a:prstGeom prst="ellipse">
            <a:avLst/>
          </a:prstGeom>
          <a:solidFill>
            <a:schemeClr val="accent3"/>
          </a:solidFill>
          <a:ln/>
        </p:spPr>
      </p:sp>
      <p:pic>
        <p:nvPicPr>
          <p:cNvPr id="16" name="Image 2" descr="Clock icon"/>
          <p:cNvPicPr>
            <a:picLocks noChangeAspect="1"/>
          </p:cNvPicPr>
          <p:nvPr/>
        </p:nvPicPr>
        <p:blipFill>
          <a:blip r:embed="rId5"/>
          <a:stretch>
            <a:fillRect/>
          </a:stretch>
        </p:blipFill>
        <p:spPr>
          <a:xfrm>
            <a:off x="8338962" y="1636410"/>
            <a:ext cx="201900" cy="201900"/>
          </a:xfrm>
          <a:prstGeom prst="rect">
            <a:avLst/>
          </a:prstGeom>
        </p:spPr>
      </p:pic>
      <p:sp>
        <p:nvSpPr>
          <p:cNvPr id="17" name="Text 11"/>
          <p:cNvSpPr txBox="1"/>
          <p:nvPr/>
        </p:nvSpPr>
        <p:spPr>
          <a:xfrm>
            <a:off x="8759952" y="1508760"/>
            <a:ext cx="2697480" cy="457200"/>
          </a:xfrm>
          <a:prstGeom prst="rect">
            <a:avLst/>
          </a:prstGeom>
          <a:noFill/>
          <a:ln/>
        </p:spPr>
        <p:txBody>
          <a:bodyPr wrap="square" lIns="0" tIns="0" rIns="0" bIns="0" rtlCol="0" anchor="ctr"/>
          <a:lstStyle/>
          <a:p>
            <a:pPr marL="0" indent="0">
              <a:buNone/>
            </a:pPr>
            <a:r>
              <a:rPr lang="en-US" sz="1500" b="1" dirty="0">
                <a:solidFill>
                  <a:schemeClr val="tx2"/>
                </a:solidFill>
              </a:rPr>
              <a:t>NPQ not fully relaxed</a:t>
            </a:r>
            <a:endParaRPr lang="en-US" sz="1500" dirty="0"/>
          </a:p>
        </p:txBody>
      </p:sp>
      <p:sp>
        <p:nvSpPr>
          <p:cNvPr id="18" name="Text 12"/>
          <p:cNvSpPr txBox="1"/>
          <p:nvPr/>
        </p:nvSpPr>
        <p:spPr>
          <a:xfrm>
            <a:off x="8229600" y="2057400"/>
            <a:ext cx="3182112"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Zeaxanthin quenching relaxes slowly → F</a:t>
            </a:r>
            <a:r>
              <a:rPr lang="en-US" sz="1300" baseline="-40000" dirty="0">
                <a:solidFill>
                  <a:schemeClr val="tx1"/>
                </a:solidFill>
              </a:rPr>
              <a:t>m</a:t>
            </a:r>
            <a:r>
              <a:rPr lang="en-US" sz="1300" dirty="0">
                <a:solidFill>
                  <a:schemeClr val="tx1"/>
                </a:solidFill>
              </a:rPr>
              <a:t> underestimated. Dark-adapt long enough.</a:t>
            </a:r>
            <a:endParaRPr lang="en-US" sz="1300" dirty="0"/>
          </a:p>
        </p:txBody>
      </p:sp>
      <p:sp>
        <p:nvSpPr>
          <p:cNvPr id="19" name="card"/>
          <p:cNvSpPr/>
          <p:nvPr/>
        </p:nvSpPr>
        <p:spPr>
          <a:xfrm>
            <a:off x="548640" y="3794760"/>
            <a:ext cx="3547872"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20" name="icon circle"/>
          <p:cNvSpPr/>
          <p:nvPr/>
        </p:nvSpPr>
        <p:spPr>
          <a:xfrm>
            <a:off x="731520" y="3950208"/>
            <a:ext cx="420624" cy="420624"/>
          </a:xfrm>
          <a:prstGeom prst="ellipse">
            <a:avLst/>
          </a:prstGeom>
          <a:solidFill>
            <a:schemeClr val="accent5"/>
          </a:solidFill>
          <a:ln/>
        </p:spPr>
      </p:sp>
      <p:pic>
        <p:nvPicPr>
          <p:cNvPr id="21" name="Image 3" descr="Bolt icon"/>
          <p:cNvPicPr>
            <a:picLocks noChangeAspect="1"/>
          </p:cNvPicPr>
          <p:nvPr/>
        </p:nvPicPr>
        <p:blipFill>
          <a:blip r:embed="rId6"/>
          <a:stretch>
            <a:fillRect/>
          </a:stretch>
        </p:blipFill>
        <p:spPr>
          <a:xfrm>
            <a:off x="840882" y="4059570"/>
            <a:ext cx="201900" cy="201900"/>
          </a:xfrm>
          <a:prstGeom prst="rect">
            <a:avLst/>
          </a:prstGeom>
        </p:spPr>
      </p:pic>
      <p:sp>
        <p:nvSpPr>
          <p:cNvPr id="22" name="Text 15"/>
          <p:cNvSpPr txBox="1"/>
          <p:nvPr/>
        </p:nvSpPr>
        <p:spPr>
          <a:xfrm>
            <a:off x="1261872" y="3931920"/>
            <a:ext cx="2697480" cy="457200"/>
          </a:xfrm>
          <a:prstGeom prst="rect">
            <a:avLst/>
          </a:prstGeom>
          <a:noFill/>
          <a:ln/>
        </p:spPr>
        <p:txBody>
          <a:bodyPr wrap="square" lIns="0" tIns="0" rIns="0" bIns="0" rtlCol="0" anchor="ctr"/>
          <a:lstStyle/>
          <a:p>
            <a:pPr marL="0" indent="0">
              <a:buNone/>
            </a:pPr>
            <a:r>
              <a:rPr lang="en-US" sz="1500" b="1" dirty="0">
                <a:solidFill>
                  <a:schemeClr val="tx2"/>
                </a:solidFill>
              </a:rPr>
              <a:t>Pulse not saturating</a:t>
            </a:r>
            <a:endParaRPr lang="en-US" sz="1500" dirty="0"/>
          </a:p>
        </p:txBody>
      </p:sp>
      <p:sp>
        <p:nvSpPr>
          <p:cNvPr id="23" name="Text 16"/>
          <p:cNvSpPr txBox="1"/>
          <p:nvPr/>
        </p:nvSpPr>
        <p:spPr>
          <a:xfrm>
            <a:off x="731520" y="4480560"/>
            <a:ext cx="3182112"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~2000 µmol m⁻² s⁻¹ may miss true F</a:t>
            </a:r>
            <a:r>
              <a:rPr lang="en-US" sz="1300" baseline="-40000" dirty="0">
                <a:solidFill>
                  <a:schemeClr val="tx1"/>
                </a:solidFill>
              </a:rPr>
              <a:t>m</a:t>
            </a:r>
            <a:r>
              <a:rPr lang="en-US" sz="1300" dirty="0">
                <a:solidFill>
                  <a:schemeClr val="tx1"/>
                </a:solidFill>
              </a:rPr>
              <a:t>′ in high light; aim 4000–8000 (more for C₄).</a:t>
            </a:r>
            <a:endParaRPr lang="en-US" sz="1300" dirty="0"/>
          </a:p>
        </p:txBody>
      </p:sp>
      <p:sp>
        <p:nvSpPr>
          <p:cNvPr id="24" name="card"/>
          <p:cNvSpPr/>
          <p:nvPr/>
        </p:nvSpPr>
        <p:spPr>
          <a:xfrm>
            <a:off x="4297680" y="3794760"/>
            <a:ext cx="3547872"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25" name="icon circle"/>
          <p:cNvSpPr/>
          <p:nvPr/>
        </p:nvSpPr>
        <p:spPr>
          <a:xfrm>
            <a:off x="4480560" y="3950208"/>
            <a:ext cx="420624" cy="420624"/>
          </a:xfrm>
          <a:prstGeom prst="ellipse">
            <a:avLst/>
          </a:prstGeom>
          <a:solidFill>
            <a:schemeClr val="accent6"/>
          </a:solidFill>
          <a:ln/>
        </p:spPr>
      </p:sp>
      <p:pic>
        <p:nvPicPr>
          <p:cNvPr id="26" name="Image 4" descr="Sync icon"/>
          <p:cNvPicPr>
            <a:picLocks noChangeAspect="1"/>
          </p:cNvPicPr>
          <p:nvPr/>
        </p:nvPicPr>
        <p:blipFill>
          <a:blip r:embed="rId7"/>
          <a:stretch>
            <a:fillRect/>
          </a:stretch>
        </p:blipFill>
        <p:spPr>
          <a:xfrm>
            <a:off x="4589922" y="4059570"/>
            <a:ext cx="201900" cy="201900"/>
          </a:xfrm>
          <a:prstGeom prst="rect">
            <a:avLst/>
          </a:prstGeom>
        </p:spPr>
      </p:pic>
      <p:sp>
        <p:nvSpPr>
          <p:cNvPr id="27" name="Text 19"/>
          <p:cNvSpPr txBox="1"/>
          <p:nvPr/>
        </p:nvSpPr>
        <p:spPr>
          <a:xfrm>
            <a:off x="5010912" y="3931920"/>
            <a:ext cx="2697480" cy="457200"/>
          </a:xfrm>
          <a:prstGeom prst="rect">
            <a:avLst/>
          </a:prstGeom>
          <a:noFill/>
          <a:ln/>
        </p:spPr>
        <p:txBody>
          <a:bodyPr wrap="square" lIns="0" tIns="0" rIns="0" bIns="0" rtlCol="0" anchor="ctr"/>
          <a:lstStyle/>
          <a:p>
            <a:pPr marL="0" indent="0">
              <a:buNone/>
            </a:pPr>
            <a:r>
              <a:rPr lang="en-US" sz="1500" b="1" dirty="0">
                <a:solidFill>
                  <a:schemeClr val="tx2"/>
                </a:solidFill>
              </a:rPr>
              <a:t>High modulation frequency in the dark</a:t>
            </a:r>
            <a:endParaRPr lang="en-US" sz="1500" dirty="0"/>
          </a:p>
        </p:txBody>
      </p:sp>
      <p:sp>
        <p:nvSpPr>
          <p:cNvPr id="28" name="Text 20"/>
          <p:cNvSpPr txBox="1"/>
          <p:nvPr/>
        </p:nvSpPr>
        <p:spPr>
          <a:xfrm>
            <a:off x="4480560" y="4480560"/>
            <a:ext cx="3182112"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Useful during pulses but not for F</a:t>
            </a:r>
            <a:r>
              <a:rPr lang="en-US" sz="1300" baseline="-40000" dirty="0">
                <a:solidFill>
                  <a:schemeClr val="tx1"/>
                </a:solidFill>
              </a:rPr>
              <a:t>o</a:t>
            </a:r>
            <a:r>
              <a:rPr lang="en-US" sz="1300" dirty="0">
                <a:solidFill>
                  <a:schemeClr val="tx1"/>
                </a:solidFill>
              </a:rPr>
              <a:t>; most devices switch automatically.</a:t>
            </a:r>
            <a:endParaRPr lang="en-US" sz="1300" dirty="0"/>
          </a:p>
        </p:txBody>
      </p:sp>
      <p:sp>
        <p:nvSpPr>
          <p:cNvPr id="29" name="card"/>
          <p:cNvSpPr/>
          <p:nvPr/>
        </p:nvSpPr>
        <p:spPr>
          <a:xfrm>
            <a:off x="8046720" y="3794760"/>
            <a:ext cx="3547872"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30" name="icon circle"/>
          <p:cNvSpPr/>
          <p:nvPr/>
        </p:nvSpPr>
        <p:spPr>
          <a:xfrm>
            <a:off x="8229600" y="3950208"/>
            <a:ext cx="420624" cy="420624"/>
          </a:xfrm>
          <a:prstGeom prst="ellipse">
            <a:avLst/>
          </a:prstGeom>
          <a:solidFill>
            <a:schemeClr val="accent2"/>
          </a:solidFill>
          <a:ln/>
        </p:spPr>
      </p:sp>
      <p:pic>
        <p:nvPicPr>
          <p:cNvPr id="31" name="Image 5" descr="ExclamationTriangle icon"/>
          <p:cNvPicPr>
            <a:picLocks noChangeAspect="1"/>
          </p:cNvPicPr>
          <p:nvPr/>
        </p:nvPicPr>
        <p:blipFill>
          <a:blip r:embed="rId8"/>
          <a:stretch>
            <a:fillRect/>
          </a:stretch>
        </p:blipFill>
        <p:spPr>
          <a:xfrm>
            <a:off x="8338962" y="4059570"/>
            <a:ext cx="201900" cy="201900"/>
          </a:xfrm>
          <a:prstGeom prst="rect">
            <a:avLst/>
          </a:prstGeom>
        </p:spPr>
      </p:pic>
      <p:sp>
        <p:nvSpPr>
          <p:cNvPr id="32" name="Text 23"/>
          <p:cNvSpPr txBox="1"/>
          <p:nvPr/>
        </p:nvSpPr>
        <p:spPr>
          <a:xfrm>
            <a:off x="8759952" y="3931920"/>
            <a:ext cx="2697480" cy="457200"/>
          </a:xfrm>
          <a:prstGeom prst="rect">
            <a:avLst/>
          </a:prstGeom>
          <a:noFill/>
          <a:ln/>
        </p:spPr>
        <p:txBody>
          <a:bodyPr wrap="square" lIns="0" tIns="0" rIns="0" bIns="0" rtlCol="0" anchor="ctr"/>
          <a:lstStyle/>
          <a:p>
            <a:pPr marL="0" indent="0">
              <a:buNone/>
            </a:pPr>
            <a:r>
              <a:rPr lang="en-US" sz="1500" b="1" dirty="0">
                <a:solidFill>
                  <a:schemeClr val="tx2"/>
                </a:solidFill>
              </a:rPr>
              <a:t>Quenching during the pulse</a:t>
            </a:r>
            <a:endParaRPr lang="en-US" sz="1500" dirty="0"/>
          </a:p>
        </p:txBody>
      </p:sp>
      <p:sp>
        <p:nvSpPr>
          <p:cNvPr id="33" name="Text 24"/>
          <p:cNvSpPr txBox="1"/>
          <p:nvPr/>
        </p:nvSpPr>
        <p:spPr>
          <a:xfrm>
            <a:off x="8229600" y="4480560"/>
            <a:ext cx="3182112"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Check there is no decline during the pulse (pulse too long).</a:t>
            </a:r>
            <a:endParaRPr lang="en-US" sz="13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Interpreting F</a:t>
            </a:r>
            <a:r>
              <a:rPr lang="en-US" sz="3200" b="1" baseline="-40000" dirty="0">
                <a:solidFill>
                  <a:schemeClr val="tx2"/>
                </a:solidFill>
              </a:rPr>
              <a:t>v</a:t>
            </a:r>
            <a:r>
              <a:rPr lang="en-US" sz="3200" b="1" dirty="0">
                <a:solidFill>
                  <a:schemeClr val="tx2"/>
                </a:solidFill>
              </a:rPr>
              <a:t>/F</a:t>
            </a:r>
            <a:r>
              <a:rPr lang="en-US" sz="3200" b="1" baseline="-40000" dirty="0">
                <a:solidFill>
                  <a:schemeClr val="tx2"/>
                </a:solidFill>
              </a:rPr>
              <a:t>m</a:t>
            </a:r>
            <a:r>
              <a:rPr lang="en-US" sz="3200" b="1" dirty="0">
                <a:solidFill>
                  <a:schemeClr val="tx2"/>
                </a:solidFill>
              </a:rPr>
              <a:t>: four common misconceptions</a:t>
            </a:r>
            <a:endParaRPr lang="en-US" sz="3200" dirty="0"/>
          </a:p>
        </p:txBody>
      </p:sp>
      <p:sp>
        <p:nvSpPr>
          <p:cNvPr id="4" name="card"/>
          <p:cNvSpPr/>
          <p:nvPr/>
        </p:nvSpPr>
        <p:spPr>
          <a:xfrm>
            <a:off x="548640" y="1371600"/>
            <a:ext cx="3977640"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5" name="Text 2"/>
          <p:cNvSpPr txBox="1"/>
          <p:nvPr/>
        </p:nvSpPr>
        <p:spPr>
          <a:xfrm>
            <a:off x="731520" y="1508760"/>
            <a:ext cx="3657600" cy="365760"/>
          </a:xfrm>
          <a:prstGeom prst="rect">
            <a:avLst/>
          </a:prstGeom>
          <a:noFill/>
          <a:ln/>
        </p:spPr>
        <p:txBody>
          <a:bodyPr wrap="square" lIns="0" tIns="0" rIns="0" bIns="0" rtlCol="0" anchor="ctr"/>
          <a:lstStyle/>
          <a:p>
            <a:pPr marL="0" indent="0">
              <a:buNone/>
            </a:pPr>
            <a:r>
              <a:rPr lang="en-US" sz="1500" b="1" dirty="0">
                <a:solidFill>
                  <a:schemeClr val="accent2"/>
                </a:solidFill>
              </a:rPr>
              <a:t>(i) Cause is hard to assign</a:t>
            </a:r>
            <a:endParaRPr lang="en-US" sz="1500" dirty="0"/>
          </a:p>
        </p:txBody>
      </p:sp>
      <p:sp>
        <p:nvSpPr>
          <p:cNvPr id="6" name="Text 3"/>
          <p:cNvSpPr txBox="1"/>
          <p:nvPr/>
        </p:nvSpPr>
        <p:spPr>
          <a:xfrm>
            <a:off x="731520" y="1920240"/>
            <a:ext cx="3611880" cy="160020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Leaf optical properties change under stress (e.g. drought) → F</a:t>
            </a:r>
            <a:r>
              <a:rPr lang="en-US" sz="1300" baseline="-40000" dirty="0">
                <a:solidFill>
                  <a:schemeClr val="tx1"/>
                </a:solidFill>
              </a:rPr>
              <a:t>m</a:t>
            </a:r>
            <a:r>
              <a:rPr lang="en-US" sz="1300" dirty="0">
                <a:solidFill>
                  <a:schemeClr val="tx1"/>
                </a:solidFill>
              </a:rPr>
              <a:t> and F</a:t>
            </a:r>
            <a:r>
              <a:rPr lang="en-US" sz="1300" baseline="-40000" dirty="0">
                <a:solidFill>
                  <a:schemeClr val="tx1"/>
                </a:solidFill>
              </a:rPr>
              <a:t>o</a:t>
            </a:r>
            <a:r>
              <a:rPr lang="en-US" sz="1300" dirty="0">
                <a:solidFill>
                  <a:schemeClr val="tx1"/>
                </a:solidFill>
              </a:rPr>
              <a:t> change via absorptance. The </a:t>
            </a:r>
            <a:r>
              <a:rPr lang="en-US" sz="1300" b="1" dirty="0">
                <a:solidFill>
                  <a:schemeClr val="tx1"/>
                </a:solidFill>
              </a:rPr>
              <a:t>ratio</a:t>
            </a:r>
            <a:r>
              <a:rPr lang="en-US" sz="1300" dirty="0">
                <a:solidFill>
                  <a:schemeClr val="tx1"/>
                </a:solidFill>
              </a:rPr>
              <a:t> removes this, but its cause still needs other data.</a:t>
            </a:r>
            <a:endParaRPr lang="en-US" sz="1300" dirty="0"/>
          </a:p>
        </p:txBody>
      </p:sp>
      <p:sp>
        <p:nvSpPr>
          <p:cNvPr id="7" name="card"/>
          <p:cNvSpPr/>
          <p:nvPr/>
        </p:nvSpPr>
        <p:spPr>
          <a:xfrm>
            <a:off x="4709160" y="1371600"/>
            <a:ext cx="3977640"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8" name="Text 5"/>
          <p:cNvSpPr txBox="1"/>
          <p:nvPr/>
        </p:nvSpPr>
        <p:spPr>
          <a:xfrm>
            <a:off x="4892040" y="1508760"/>
            <a:ext cx="3657600" cy="365760"/>
          </a:xfrm>
          <a:prstGeom prst="rect">
            <a:avLst/>
          </a:prstGeom>
          <a:noFill/>
          <a:ln/>
        </p:spPr>
        <p:txBody>
          <a:bodyPr wrap="square" lIns="0" tIns="0" rIns="0" bIns="0" rtlCol="0" anchor="ctr"/>
          <a:lstStyle/>
          <a:p>
            <a:pPr marL="0" indent="0">
              <a:buNone/>
            </a:pPr>
            <a:r>
              <a:rPr lang="en-US" sz="1500" b="1" dirty="0">
                <a:solidFill>
                  <a:schemeClr val="accent2"/>
                </a:solidFill>
              </a:rPr>
              <a:t>(ii) Lower F</a:t>
            </a:r>
            <a:r>
              <a:rPr lang="en-US" sz="1500" b="1" baseline="-40000" dirty="0">
                <a:solidFill>
                  <a:schemeClr val="accent2"/>
                </a:solidFill>
              </a:rPr>
              <a:t>v</a:t>
            </a:r>
            <a:r>
              <a:rPr lang="en-US" sz="1500" b="1" dirty="0">
                <a:solidFill>
                  <a:schemeClr val="accent2"/>
                </a:solidFill>
              </a:rPr>
              <a:t>/F</a:t>
            </a:r>
            <a:r>
              <a:rPr lang="en-US" sz="1500" b="1" baseline="-40000" dirty="0">
                <a:solidFill>
                  <a:schemeClr val="accent2"/>
                </a:solidFill>
              </a:rPr>
              <a:t>m</a:t>
            </a:r>
            <a:r>
              <a:rPr lang="en-US" sz="1500" b="1" dirty="0">
                <a:solidFill>
                  <a:schemeClr val="accent2"/>
                </a:solidFill>
              </a:rPr>
              <a:t> ≠ lower photosynthesis</a:t>
            </a:r>
            <a:endParaRPr lang="en-US" sz="1500" dirty="0"/>
          </a:p>
        </p:txBody>
      </p:sp>
      <p:sp>
        <p:nvSpPr>
          <p:cNvPr id="9" name="Text 6"/>
          <p:cNvSpPr txBox="1"/>
          <p:nvPr/>
        </p:nvSpPr>
        <p:spPr>
          <a:xfrm>
            <a:off x="4892040" y="1920240"/>
            <a:ext cx="3611880" cy="160020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 relates to the </a:t>
            </a:r>
            <a:r>
              <a:rPr lang="en-US" sz="1300" b="1" dirty="0">
                <a:solidFill>
                  <a:schemeClr val="tx1"/>
                </a:solidFill>
              </a:rPr>
              <a:t>light-limited</a:t>
            </a:r>
            <a:r>
              <a:rPr lang="en-US" sz="1300" dirty="0">
                <a:solidFill>
                  <a:schemeClr val="tx1"/>
                </a:solidFill>
              </a:rPr>
              <a:t> quantum yield. A leaf can have reduced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 with </a:t>
            </a:r>
            <a:r>
              <a:rPr lang="en-US" sz="1300" b="1" dirty="0">
                <a:solidFill>
                  <a:schemeClr val="tx1"/>
                </a:solidFill>
              </a:rPr>
              <a:t>no penalty</a:t>
            </a:r>
            <a:r>
              <a:rPr lang="en-US" sz="1300" dirty="0">
                <a:solidFill>
                  <a:schemeClr val="tx1"/>
                </a:solidFill>
              </a:rPr>
              <a:t> at high, saturating light.</a:t>
            </a:r>
            <a:endParaRPr lang="en-US" sz="1300" dirty="0"/>
          </a:p>
        </p:txBody>
      </p:sp>
      <p:sp>
        <p:nvSpPr>
          <p:cNvPr id="10" name="card"/>
          <p:cNvSpPr/>
          <p:nvPr/>
        </p:nvSpPr>
        <p:spPr>
          <a:xfrm>
            <a:off x="548640" y="3794760"/>
            <a:ext cx="3977640"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11" name="Text 8"/>
          <p:cNvSpPr txBox="1"/>
          <p:nvPr/>
        </p:nvSpPr>
        <p:spPr>
          <a:xfrm>
            <a:off x="731520" y="3931920"/>
            <a:ext cx="3657600" cy="365760"/>
          </a:xfrm>
          <a:prstGeom prst="rect">
            <a:avLst/>
          </a:prstGeom>
          <a:noFill/>
          <a:ln/>
        </p:spPr>
        <p:txBody>
          <a:bodyPr wrap="square" lIns="0" tIns="0" rIns="0" bIns="0" rtlCol="0" anchor="ctr"/>
          <a:lstStyle/>
          <a:p>
            <a:pPr marL="0" indent="0">
              <a:buNone/>
            </a:pPr>
            <a:r>
              <a:rPr lang="en-US" sz="1500" b="1" dirty="0">
                <a:solidFill>
                  <a:schemeClr val="accent2"/>
                </a:solidFill>
              </a:rPr>
              <a:t>(iii) Stress may need high light to show</a:t>
            </a:r>
            <a:endParaRPr lang="en-US" sz="1500" dirty="0"/>
          </a:p>
        </p:txBody>
      </p:sp>
      <p:sp>
        <p:nvSpPr>
          <p:cNvPr id="12" name="Text 9"/>
          <p:cNvSpPr txBox="1"/>
          <p:nvPr/>
        </p:nvSpPr>
        <p:spPr>
          <a:xfrm>
            <a:off x="731520" y="4343400"/>
            <a:ext cx="3611880" cy="160020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Inactivation of PSII may only appear when light is high enough; otherwise no difference between treatments.</a:t>
            </a:r>
            <a:endParaRPr lang="en-US" sz="1300" dirty="0"/>
          </a:p>
        </p:txBody>
      </p:sp>
      <p:sp>
        <p:nvSpPr>
          <p:cNvPr id="13" name="card"/>
          <p:cNvSpPr/>
          <p:nvPr/>
        </p:nvSpPr>
        <p:spPr>
          <a:xfrm>
            <a:off x="4709160" y="3794760"/>
            <a:ext cx="3977640"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14" name="Text 11"/>
          <p:cNvSpPr txBox="1"/>
          <p:nvPr/>
        </p:nvSpPr>
        <p:spPr>
          <a:xfrm>
            <a:off x="4892040" y="3931920"/>
            <a:ext cx="3657600" cy="365760"/>
          </a:xfrm>
          <a:prstGeom prst="rect">
            <a:avLst/>
          </a:prstGeom>
          <a:noFill/>
          <a:ln/>
        </p:spPr>
        <p:txBody>
          <a:bodyPr wrap="square" lIns="0" tIns="0" rIns="0" bIns="0" rtlCol="0" anchor="ctr"/>
          <a:lstStyle/>
          <a:p>
            <a:pPr marL="0" indent="0">
              <a:buNone/>
            </a:pPr>
            <a:r>
              <a:rPr lang="en-US" sz="1500" b="1" dirty="0">
                <a:solidFill>
                  <a:schemeClr val="accent2"/>
                </a:solidFill>
              </a:rPr>
              <a:t>(iv) It only sees PSII</a:t>
            </a:r>
            <a:endParaRPr lang="en-US" sz="1500" dirty="0"/>
          </a:p>
        </p:txBody>
      </p:sp>
      <p:sp>
        <p:nvSpPr>
          <p:cNvPr id="15" name="Text 12"/>
          <p:cNvSpPr txBox="1"/>
          <p:nvPr/>
        </p:nvSpPr>
        <p:spPr>
          <a:xfrm>
            <a:off x="4892040" y="4343400"/>
            <a:ext cx="3611880" cy="160020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Stress elsewhere (e.g. roots) may not change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 Fluorescence is </a:t>
            </a:r>
            <a:r>
              <a:rPr lang="en-US" sz="1300" b="1" dirty="0">
                <a:solidFill>
                  <a:schemeClr val="tx1"/>
                </a:solidFill>
              </a:rPr>
              <a:t>not a generic stress detector</a:t>
            </a:r>
            <a:r>
              <a:rPr lang="en-US" sz="1300" dirty="0">
                <a:solidFill>
                  <a:schemeClr val="tx1"/>
                </a:solidFill>
              </a:rPr>
              <a:t>.</a:t>
            </a:r>
            <a:endParaRPr lang="en-US" sz="1300" dirty="0"/>
          </a:p>
        </p:txBody>
      </p:sp>
      <p:sp>
        <p:nvSpPr>
          <p:cNvPr id="16" name="figure frame"/>
          <p:cNvSpPr/>
          <p:nvPr/>
        </p:nvSpPr>
        <p:spPr>
          <a:xfrm>
            <a:off x="9006840" y="1371600"/>
            <a:ext cx="2633472" cy="1874520"/>
          </a:xfrm>
          <a:prstGeom prst="roundRect">
            <a:avLst>
              <a:gd name="adj" fmla="val 2927"/>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17" name="Image 0" descr="Imaging F_{v}/F_{m} of plants"/>
          <p:cNvPicPr>
            <a:picLocks noChangeAspect="1"/>
          </p:cNvPicPr>
          <p:nvPr/>
        </p:nvPicPr>
        <p:blipFill>
          <a:blip r:embed="rId3"/>
          <a:stretch>
            <a:fillRect/>
          </a:stretch>
        </p:blipFill>
        <p:spPr>
          <a:xfrm>
            <a:off x="9098280" y="1908145"/>
            <a:ext cx="2450592" cy="801429"/>
          </a:xfrm>
          <a:prstGeom prst="rect">
            <a:avLst/>
          </a:prstGeom>
        </p:spPr>
      </p:pic>
      <p:sp>
        <p:nvSpPr>
          <p:cNvPr id="18" name="Text 14"/>
          <p:cNvSpPr txBox="1"/>
          <p:nvPr/>
        </p:nvSpPr>
        <p:spPr>
          <a:xfrm>
            <a:off x="9006840" y="3291840"/>
            <a:ext cx="2633472" cy="320040"/>
          </a:xfrm>
          <a:prstGeom prst="rect">
            <a:avLst/>
          </a:prstGeom>
          <a:noFill/>
          <a:ln/>
        </p:spPr>
        <p:txBody>
          <a:bodyPr wrap="square" lIns="0" tIns="0" rIns="0" bIns="0" rtlCol="0" anchor="t"/>
          <a:lstStyle/>
          <a:p>
            <a:pPr marL="0" indent="0">
              <a:buNone/>
            </a:pPr>
            <a:r>
              <a:rPr lang="en-US" sz="1100" i="1" dirty="0">
                <a:solidFill>
                  <a:schemeClr val="accent6"/>
                </a:solidFill>
              </a:rPr>
              <a:t>Imaging F</a:t>
            </a:r>
            <a:r>
              <a:rPr lang="en-US" sz="1100" i="1" baseline="-40000" dirty="0">
                <a:solidFill>
                  <a:schemeClr val="accent6"/>
                </a:solidFill>
              </a:rPr>
              <a:t>v</a:t>
            </a:r>
            <a:r>
              <a:rPr lang="en-US" sz="1100" i="1" dirty="0">
                <a:solidFill>
                  <a:schemeClr val="accent6"/>
                </a:solidFill>
              </a:rPr>
              <a:t>/F</a:t>
            </a:r>
            <a:r>
              <a:rPr lang="en-US" sz="1100" i="1" baseline="-40000" dirty="0">
                <a:solidFill>
                  <a:schemeClr val="accent6"/>
                </a:solidFill>
              </a:rPr>
              <a:t>m</a:t>
            </a:r>
            <a:r>
              <a:rPr lang="en-US" sz="1100" i="1" dirty="0">
                <a:solidFill>
                  <a:schemeClr val="accent6"/>
                </a:solidFill>
              </a:rPr>
              <a:t> of plants</a:t>
            </a:r>
            <a:endParaRPr lang="en-US" sz="1100" dirty="0"/>
          </a:p>
        </p:txBody>
      </p:sp>
      <p:sp>
        <p:nvSpPr>
          <p:cNvPr id="19" name="card"/>
          <p:cNvSpPr/>
          <p:nvPr/>
        </p:nvSpPr>
        <p:spPr>
          <a:xfrm>
            <a:off x="9006840" y="3794760"/>
            <a:ext cx="2633472"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20" name="icon circle"/>
          <p:cNvSpPr/>
          <p:nvPr/>
        </p:nvSpPr>
        <p:spPr>
          <a:xfrm>
            <a:off x="9189720" y="3950208"/>
            <a:ext cx="420624" cy="420624"/>
          </a:xfrm>
          <a:prstGeom prst="ellipse">
            <a:avLst/>
          </a:prstGeom>
          <a:solidFill>
            <a:schemeClr val="accent3"/>
          </a:solidFill>
          <a:ln/>
        </p:spPr>
      </p:sp>
      <p:pic>
        <p:nvPicPr>
          <p:cNvPr id="21" name="Image 1" descr="Lightbulb icon"/>
          <p:cNvPicPr>
            <a:picLocks noChangeAspect="1"/>
          </p:cNvPicPr>
          <p:nvPr/>
        </p:nvPicPr>
        <p:blipFill>
          <a:blip r:embed="rId4"/>
          <a:stretch>
            <a:fillRect/>
          </a:stretch>
        </p:blipFill>
        <p:spPr>
          <a:xfrm>
            <a:off x="9299082" y="4059570"/>
            <a:ext cx="201900" cy="201900"/>
          </a:xfrm>
          <a:prstGeom prst="rect">
            <a:avLst/>
          </a:prstGeom>
        </p:spPr>
      </p:pic>
      <p:sp>
        <p:nvSpPr>
          <p:cNvPr id="22" name="Text 17"/>
          <p:cNvSpPr txBox="1"/>
          <p:nvPr/>
        </p:nvSpPr>
        <p:spPr>
          <a:xfrm>
            <a:off x="9720072" y="3931920"/>
            <a:ext cx="1783080" cy="457200"/>
          </a:xfrm>
          <a:prstGeom prst="rect">
            <a:avLst/>
          </a:prstGeom>
          <a:noFill/>
          <a:ln/>
        </p:spPr>
        <p:txBody>
          <a:bodyPr wrap="square" lIns="0" tIns="0" rIns="0" bIns="0" rtlCol="0" anchor="ctr"/>
          <a:lstStyle/>
          <a:p>
            <a:pPr marL="0" indent="0">
              <a:buNone/>
            </a:pPr>
            <a:r>
              <a:rPr lang="en-US" sz="1600" b="1" dirty="0">
                <a:solidFill>
                  <a:schemeClr val="tx2"/>
                </a:solidFill>
              </a:rPr>
              <a:t>Takeaway</a:t>
            </a:r>
            <a:endParaRPr lang="en-US" sz="1600" dirty="0"/>
          </a:p>
        </p:txBody>
      </p:sp>
      <p:sp>
        <p:nvSpPr>
          <p:cNvPr id="23" name="Text 18"/>
          <p:cNvSpPr txBox="1"/>
          <p:nvPr/>
        </p:nvSpPr>
        <p:spPr>
          <a:xfrm>
            <a:off x="9189720" y="4480560"/>
            <a:ext cx="2267712"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Use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 with light-adapted data, controls and other measurements.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Problems with measurements in the light</a:t>
            </a:r>
            <a:endParaRPr lang="en-US" sz="3200" dirty="0"/>
          </a:p>
        </p:txBody>
      </p:sp>
      <p:sp>
        <p:nvSpPr>
          <p:cNvPr id="4" name="card"/>
          <p:cNvSpPr/>
          <p:nvPr/>
        </p:nvSpPr>
        <p:spPr>
          <a:xfrm>
            <a:off x="548640" y="1325880"/>
            <a:ext cx="5440680" cy="2377440"/>
          </a:xfrm>
          <a:prstGeom prst="roundRect">
            <a:avLst>
              <a:gd name="adj" fmla="val 3077"/>
            </a:avLst>
          </a:prstGeom>
          <a:solidFill>
            <a:schemeClr val="bg2"/>
          </a:solidFill>
          <a:ln/>
          <a:effectLst>
            <a:outerShdw blurRad="76200" dist="25400" dir="5400000" algn="bl" rotWithShape="0">
              <a:srgbClr val="000000">
                <a:alpha val="14000"/>
              </a:srgbClr>
            </a:outerShdw>
          </a:effectLst>
        </p:spPr>
      </p:sp>
      <p:sp>
        <p:nvSpPr>
          <p:cNvPr id="5" name="icon circle"/>
          <p:cNvSpPr/>
          <p:nvPr/>
        </p:nvSpPr>
        <p:spPr>
          <a:xfrm>
            <a:off x="731520" y="1481328"/>
            <a:ext cx="420624" cy="420624"/>
          </a:xfrm>
          <a:prstGeom prst="ellipse">
            <a:avLst/>
          </a:prstGeom>
          <a:solidFill>
            <a:schemeClr val="accent3"/>
          </a:solidFill>
          <a:ln/>
        </p:spPr>
      </p:sp>
      <p:pic>
        <p:nvPicPr>
          <p:cNvPr id="6" name="Image 0" descr="Sun icon"/>
          <p:cNvPicPr>
            <a:picLocks noChangeAspect="1"/>
          </p:cNvPicPr>
          <p:nvPr/>
        </p:nvPicPr>
        <p:blipFill>
          <a:blip r:embed="rId3"/>
          <a:stretch>
            <a:fillRect/>
          </a:stretch>
        </p:blipFill>
        <p:spPr>
          <a:xfrm>
            <a:off x="840882" y="1590690"/>
            <a:ext cx="201900" cy="201900"/>
          </a:xfrm>
          <a:prstGeom prst="rect">
            <a:avLst/>
          </a:prstGeom>
        </p:spPr>
      </p:pic>
      <p:sp>
        <p:nvSpPr>
          <p:cNvPr id="7" name="Text 3"/>
          <p:cNvSpPr txBox="1"/>
          <p:nvPr/>
        </p:nvSpPr>
        <p:spPr>
          <a:xfrm>
            <a:off x="1261872" y="1463040"/>
            <a:ext cx="4590288" cy="457200"/>
          </a:xfrm>
          <a:prstGeom prst="rect">
            <a:avLst/>
          </a:prstGeom>
          <a:noFill/>
          <a:ln/>
        </p:spPr>
        <p:txBody>
          <a:bodyPr wrap="square" lIns="0" tIns="0" rIns="0" bIns="0" rtlCol="0" anchor="ctr"/>
          <a:lstStyle/>
          <a:p>
            <a:pPr marL="0" indent="0">
              <a:buNone/>
            </a:pPr>
            <a:r>
              <a:rPr lang="en-US" sz="1600" b="1" dirty="0">
                <a:solidFill>
                  <a:schemeClr val="tx2"/>
                </a:solidFill>
              </a:rPr>
              <a:t>Φ</a:t>
            </a:r>
            <a:r>
              <a:rPr lang="en-US" sz="1600" b="1" baseline="-40000" dirty="0">
                <a:solidFill>
                  <a:schemeClr val="tx2"/>
                </a:solidFill>
              </a:rPr>
              <a:t>PSII</a:t>
            </a:r>
            <a:r>
              <a:rPr lang="en-US" sz="1600" b="1" dirty="0">
                <a:solidFill>
                  <a:schemeClr val="tx2"/>
                </a:solidFill>
              </a:rPr>
              <a:t> depends on light</a:t>
            </a:r>
            <a:endParaRPr lang="en-US" sz="1600" dirty="0"/>
          </a:p>
        </p:txBody>
      </p:sp>
      <p:sp>
        <p:nvSpPr>
          <p:cNvPr id="8" name="Text 4"/>
          <p:cNvSpPr txBox="1"/>
          <p:nvPr/>
        </p:nvSpPr>
        <p:spPr>
          <a:xfrm>
            <a:off x="731520" y="2011680"/>
            <a:ext cx="5074920"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Varies substantially with even small PAR changes</a:t>
            </a:r>
            <a:endParaRPr lang="en-US" sz="1300" dirty="0"/>
          </a:p>
          <a:p>
            <a:pPr marL="177800" indent="-177800">
              <a:spcAft>
                <a:spcPts val="400"/>
              </a:spcAft>
              <a:buSzPct val="100000"/>
              <a:buChar char="•"/>
            </a:pPr>
            <a:r>
              <a:rPr lang="en-US" sz="1300" dirty="0">
                <a:solidFill>
                  <a:schemeClr val="tx1"/>
                </a:solidFill>
              </a:rPr>
              <a:t>Record </a:t>
            </a:r>
            <a:r>
              <a:rPr lang="en-US" sz="1300" b="1" dirty="0">
                <a:solidFill>
                  <a:schemeClr val="tx1"/>
                </a:solidFill>
              </a:rPr>
              <a:t>PAR at the leaf surface</a:t>
            </a:r>
            <a:r>
              <a:rPr lang="en-US" sz="1300" dirty="0">
                <a:solidFill>
                  <a:schemeClr val="tx1"/>
                </a:solidFill>
              </a:rPr>
              <a:t>, or measure when PAR is saturating</a:t>
            </a:r>
            <a:endParaRPr lang="en-US" sz="1300" dirty="0"/>
          </a:p>
          <a:p>
            <a:pPr marL="177800" indent="-177800">
              <a:spcAft>
                <a:spcPts val="400"/>
              </a:spcAft>
              <a:buSzPct val="100000"/>
              <a:buChar char="•"/>
            </a:pPr>
            <a:r>
              <a:rPr lang="en-US" sz="1300" dirty="0">
                <a:solidFill>
                  <a:schemeClr val="tx1"/>
                </a:solidFill>
              </a:rPr>
              <a:t>Ensure steady state (F′ stable) before the pulse</a:t>
            </a:r>
            <a:endParaRPr lang="en-US" sz="1300" dirty="0"/>
          </a:p>
        </p:txBody>
      </p:sp>
      <p:sp>
        <p:nvSpPr>
          <p:cNvPr id="9" name="card"/>
          <p:cNvSpPr/>
          <p:nvPr/>
        </p:nvSpPr>
        <p:spPr>
          <a:xfrm>
            <a:off x="548640" y="3840480"/>
            <a:ext cx="5440680" cy="2331720"/>
          </a:xfrm>
          <a:prstGeom prst="roundRect">
            <a:avLst>
              <a:gd name="adj" fmla="val 3137"/>
            </a:avLst>
          </a:prstGeom>
          <a:solidFill>
            <a:schemeClr val="bg2"/>
          </a:solidFill>
          <a:ln/>
          <a:effectLst>
            <a:outerShdw blurRad="76200" dist="25400" dir="5400000" algn="bl" rotWithShape="0">
              <a:srgbClr val="000000">
                <a:alpha val="14000"/>
              </a:srgbClr>
            </a:outerShdw>
          </a:effectLst>
        </p:spPr>
      </p:sp>
      <p:sp>
        <p:nvSpPr>
          <p:cNvPr id="10" name="icon circle"/>
          <p:cNvSpPr/>
          <p:nvPr/>
        </p:nvSpPr>
        <p:spPr>
          <a:xfrm>
            <a:off x="731520" y="3995928"/>
            <a:ext cx="420624" cy="420624"/>
          </a:xfrm>
          <a:prstGeom prst="ellipse">
            <a:avLst/>
          </a:prstGeom>
          <a:solidFill>
            <a:schemeClr val="accent1"/>
          </a:solidFill>
          <a:ln/>
        </p:spPr>
      </p:sp>
      <p:pic>
        <p:nvPicPr>
          <p:cNvPr id="11" name="Image 1" descr="Calculator icon"/>
          <p:cNvPicPr>
            <a:picLocks noChangeAspect="1"/>
          </p:cNvPicPr>
          <p:nvPr/>
        </p:nvPicPr>
        <p:blipFill>
          <a:blip r:embed="rId4"/>
          <a:stretch>
            <a:fillRect/>
          </a:stretch>
        </p:blipFill>
        <p:spPr>
          <a:xfrm>
            <a:off x="840882" y="4105290"/>
            <a:ext cx="201900" cy="201900"/>
          </a:xfrm>
          <a:prstGeom prst="rect">
            <a:avLst/>
          </a:prstGeom>
        </p:spPr>
      </p:pic>
      <p:sp>
        <p:nvSpPr>
          <p:cNvPr id="12" name="Text 7"/>
          <p:cNvSpPr txBox="1"/>
          <p:nvPr/>
        </p:nvSpPr>
        <p:spPr>
          <a:xfrm>
            <a:off x="1261872" y="3977640"/>
            <a:ext cx="4590288" cy="457200"/>
          </a:xfrm>
          <a:prstGeom prst="rect">
            <a:avLst/>
          </a:prstGeom>
          <a:noFill/>
          <a:ln/>
        </p:spPr>
        <p:txBody>
          <a:bodyPr wrap="square" lIns="0" tIns="0" rIns="0" bIns="0" rtlCol="0" anchor="ctr"/>
          <a:lstStyle/>
          <a:p>
            <a:pPr marL="0" indent="0">
              <a:buNone/>
            </a:pPr>
            <a:r>
              <a:rPr lang="en-US" sz="1600" b="1" dirty="0">
                <a:solidFill>
                  <a:schemeClr val="tx2"/>
                </a:solidFill>
              </a:rPr>
              <a:t>ETR assumptions</a:t>
            </a:r>
            <a:endParaRPr lang="en-US" sz="1600" dirty="0"/>
          </a:p>
        </p:txBody>
      </p:sp>
      <p:sp>
        <p:nvSpPr>
          <p:cNvPr id="13" name="Text 8"/>
          <p:cNvSpPr txBox="1"/>
          <p:nvPr/>
        </p:nvSpPr>
        <p:spPr>
          <a:xfrm>
            <a:off x="731520" y="4526280"/>
            <a:ext cx="5074920" cy="155448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Absorptance </a:t>
            </a:r>
            <a:r>
              <a:rPr lang="en-US" sz="1300" b="1" dirty="0">
                <a:solidFill>
                  <a:schemeClr val="tx1"/>
                </a:solidFill>
              </a:rPr>
              <a:t>0.84</a:t>
            </a:r>
            <a:r>
              <a:rPr lang="en-US" sz="1300" dirty="0">
                <a:solidFill>
                  <a:schemeClr val="tx1"/>
                </a:solidFill>
              </a:rPr>
              <a:t> and PSII share </a:t>
            </a:r>
            <a:r>
              <a:rPr lang="en-US" sz="1300" b="1" dirty="0">
                <a:solidFill>
                  <a:schemeClr val="tx1"/>
                </a:solidFill>
              </a:rPr>
              <a:t>0.5</a:t>
            </a:r>
            <a:r>
              <a:rPr lang="en-US" sz="1300" dirty="0">
                <a:solidFill>
                  <a:schemeClr val="tx1"/>
                </a:solidFill>
              </a:rPr>
              <a:t> are averages, not constants</a:t>
            </a:r>
            <a:endParaRPr lang="en-US" sz="1300" dirty="0"/>
          </a:p>
          <a:p>
            <a:pPr marL="177800" indent="-177800">
              <a:spcAft>
                <a:spcPts val="400"/>
              </a:spcAft>
              <a:buSzPct val="100000"/>
              <a:buChar char="•"/>
            </a:pPr>
            <a:r>
              <a:rPr lang="en-US" sz="1300" dirty="0">
                <a:solidFill>
                  <a:schemeClr val="tx1"/>
                </a:solidFill>
              </a:rPr>
              <a:t>Don't compare ETR of drought-stressed (low turgor) vs hydrated leaves</a:t>
            </a:r>
            <a:endParaRPr lang="en-US" sz="1300" dirty="0"/>
          </a:p>
          <a:p>
            <a:pPr marL="177800" indent="-177800">
              <a:spcAft>
                <a:spcPts val="400"/>
              </a:spcAft>
              <a:buSzPct val="100000"/>
              <a:buChar char="•"/>
            </a:pPr>
            <a:r>
              <a:rPr lang="en-US" sz="1300" dirty="0">
                <a:solidFill>
                  <a:schemeClr val="tx1"/>
                </a:solidFill>
              </a:rPr>
              <a:t>Pigment content and PSII:PSI stoichiometry change these values</a:t>
            </a:r>
            <a:endParaRPr lang="en-US" sz="1300" dirty="0"/>
          </a:p>
        </p:txBody>
      </p:sp>
      <p:sp>
        <p:nvSpPr>
          <p:cNvPr id="14" name="card"/>
          <p:cNvSpPr/>
          <p:nvPr/>
        </p:nvSpPr>
        <p:spPr>
          <a:xfrm>
            <a:off x="6199632" y="1325880"/>
            <a:ext cx="5440680" cy="2377440"/>
          </a:xfrm>
          <a:prstGeom prst="roundRect">
            <a:avLst>
              <a:gd name="adj" fmla="val 3077"/>
            </a:avLst>
          </a:prstGeom>
          <a:solidFill>
            <a:schemeClr val="tx2"/>
          </a:solidFill>
          <a:ln/>
          <a:effectLst>
            <a:outerShdw blurRad="76200" dist="25400" dir="5400000" algn="bl" rotWithShape="0">
              <a:srgbClr val="000000">
                <a:alpha val="14000"/>
              </a:srgbClr>
            </a:outerShdw>
          </a:effectLst>
        </p:spPr>
      </p:sp>
      <p:sp>
        <p:nvSpPr>
          <p:cNvPr id="15" name="Text 10"/>
          <p:cNvSpPr txBox="1"/>
          <p:nvPr/>
        </p:nvSpPr>
        <p:spPr>
          <a:xfrm>
            <a:off x="6400800" y="1417320"/>
            <a:ext cx="5029200" cy="411480"/>
          </a:xfrm>
          <a:prstGeom prst="rect">
            <a:avLst/>
          </a:prstGeom>
          <a:noFill/>
          <a:ln/>
        </p:spPr>
        <p:txBody>
          <a:bodyPr wrap="square" lIns="0" tIns="0" rIns="0" bIns="0" rtlCol="0" anchor="ctr"/>
          <a:lstStyle/>
          <a:p>
            <a:pPr marL="0" indent="0" algn="l">
              <a:buNone/>
            </a:pPr>
            <a:r>
              <a:rPr lang="en-US" sz="1600" b="1" dirty="0">
                <a:solidFill>
                  <a:schemeClr val="bg1"/>
                </a:solidFill>
              </a:rPr>
              <a:t>Errors in F</a:t>
            </a:r>
            <a:r>
              <a:rPr lang="en-US" sz="1600" b="1" baseline="-40000" dirty="0">
                <a:solidFill>
                  <a:schemeClr val="bg1"/>
                </a:solidFill>
              </a:rPr>
              <a:t>o</a:t>
            </a:r>
            <a:r>
              <a:rPr lang="en-US" sz="1600" b="1" dirty="0">
                <a:solidFill>
                  <a:schemeClr val="bg1"/>
                </a:solidFill>
              </a:rPr>
              <a:t>′ → calculate it</a:t>
            </a:r>
            <a:endParaRPr lang="en-US" sz="1600" dirty="0"/>
          </a:p>
        </p:txBody>
      </p:sp>
      <p:sp>
        <p:nvSpPr>
          <p:cNvPr id="16" name="Text 11"/>
          <p:cNvSpPr txBox="1"/>
          <p:nvPr/>
        </p:nvSpPr>
        <p:spPr>
          <a:xfrm>
            <a:off x="6400800" y="1874520"/>
            <a:ext cx="5029200" cy="640080"/>
          </a:xfrm>
          <a:prstGeom prst="rect">
            <a:avLst/>
          </a:prstGeom>
          <a:noFill/>
          <a:ln/>
        </p:spPr>
        <p:txBody>
          <a:bodyPr wrap="square" lIns="0" tIns="0" rIns="0" bIns="0" rtlCol="0" anchor="ctr"/>
          <a:lstStyle/>
          <a:p>
            <a:pPr marL="0" indent="0" algn="ctr">
              <a:buNone/>
            </a:pPr>
            <a:r>
              <a:rPr lang="en-US" sz="2200" b="1" dirty="0">
                <a:solidFill>
                  <a:schemeClr val="accent3"/>
                </a:solidFill>
              </a:rPr>
              <a:t>F</a:t>
            </a:r>
            <a:r>
              <a:rPr lang="en-US" sz="2200" b="1" baseline="-40000" dirty="0">
                <a:solidFill>
                  <a:schemeClr val="accent3"/>
                </a:solidFill>
              </a:rPr>
              <a:t>o</a:t>
            </a:r>
            <a:r>
              <a:rPr lang="en-US" sz="2200" b="1" dirty="0">
                <a:solidFill>
                  <a:schemeClr val="accent3"/>
                </a:solidFill>
              </a:rPr>
              <a:t>′ = F</a:t>
            </a:r>
            <a:r>
              <a:rPr lang="en-US" sz="2200" b="1" baseline="-40000" dirty="0">
                <a:solidFill>
                  <a:schemeClr val="accent3"/>
                </a:solidFill>
              </a:rPr>
              <a:t>o</a:t>
            </a:r>
            <a:r>
              <a:rPr lang="en-US" sz="2200" b="1" dirty="0">
                <a:solidFill>
                  <a:schemeClr val="accent3"/>
                </a:solidFill>
              </a:rPr>
              <a:t> / [ (F</a:t>
            </a:r>
            <a:r>
              <a:rPr lang="en-US" sz="2200" b="1" baseline="-40000" dirty="0">
                <a:solidFill>
                  <a:schemeClr val="accent3"/>
                </a:solidFill>
              </a:rPr>
              <a:t>v</a:t>
            </a:r>
            <a:r>
              <a:rPr lang="en-US" sz="2200" b="1" dirty="0">
                <a:solidFill>
                  <a:schemeClr val="accent3"/>
                </a:solidFill>
              </a:rPr>
              <a:t>/F</a:t>
            </a:r>
            <a:r>
              <a:rPr lang="en-US" sz="2200" b="1" baseline="-40000" dirty="0">
                <a:solidFill>
                  <a:schemeClr val="accent3"/>
                </a:solidFill>
              </a:rPr>
              <a:t>m</a:t>
            </a:r>
            <a:r>
              <a:rPr lang="en-US" sz="2200" b="1" dirty="0">
                <a:solidFill>
                  <a:schemeClr val="accent3"/>
                </a:solidFill>
              </a:rPr>
              <a:t>) + (F</a:t>
            </a:r>
            <a:r>
              <a:rPr lang="en-US" sz="2200" b="1" baseline="-40000" dirty="0">
                <a:solidFill>
                  <a:schemeClr val="accent3"/>
                </a:solidFill>
              </a:rPr>
              <a:t>o</a:t>
            </a:r>
            <a:r>
              <a:rPr lang="en-US" sz="2200" b="1" dirty="0">
                <a:solidFill>
                  <a:schemeClr val="accent3"/>
                </a:solidFill>
              </a:rPr>
              <a:t>/F</a:t>
            </a:r>
            <a:r>
              <a:rPr lang="en-US" sz="2200" b="1" baseline="-40000" dirty="0">
                <a:solidFill>
                  <a:schemeClr val="accent3"/>
                </a:solidFill>
              </a:rPr>
              <a:t>m</a:t>
            </a:r>
            <a:r>
              <a:rPr lang="en-US" sz="2200" b="1" dirty="0">
                <a:solidFill>
                  <a:schemeClr val="accent3"/>
                </a:solidFill>
              </a:rPr>
              <a:t>′) ]</a:t>
            </a:r>
            <a:endParaRPr lang="en-US" sz="2200" dirty="0"/>
          </a:p>
        </p:txBody>
      </p:sp>
      <p:sp>
        <p:nvSpPr>
          <p:cNvPr id="17" name="Text 12"/>
          <p:cNvSpPr txBox="1"/>
          <p:nvPr/>
        </p:nvSpPr>
        <p:spPr>
          <a:xfrm>
            <a:off x="6400800" y="2560320"/>
            <a:ext cx="5029200" cy="1097280"/>
          </a:xfrm>
          <a:prstGeom prst="rect">
            <a:avLst/>
          </a:prstGeom>
          <a:noFill/>
          <a:ln/>
        </p:spPr>
        <p:txBody>
          <a:bodyPr wrap="square" lIns="508" tIns="508" rIns="508" bIns="508" rtlCol="0" anchor="t"/>
          <a:lstStyle/>
          <a:p>
            <a:pPr marL="0" indent="0">
              <a:spcAft>
                <a:spcPts val="600"/>
              </a:spcAft>
              <a:buNone/>
            </a:pPr>
            <a:r>
              <a:rPr lang="en-US" sz="1200" dirty="0">
                <a:solidFill>
                  <a:schemeClr val="bg2"/>
                </a:solidFill>
              </a:rPr>
              <a:t>Oxborough &amp; Baker (1997). Valid if: PSII centres open at F</a:t>
            </a:r>
            <a:r>
              <a:rPr lang="en-US" sz="1200" baseline="-40000" dirty="0">
                <a:solidFill>
                  <a:schemeClr val="bg2"/>
                </a:solidFill>
              </a:rPr>
              <a:t>o</a:t>
            </a:r>
            <a:r>
              <a:rPr lang="en-US" sz="1200" dirty="0">
                <a:solidFill>
                  <a:schemeClr val="bg2"/>
                </a:solidFill>
              </a:rPr>
              <a:t>; no change in down-regulation between F</a:t>
            </a:r>
            <a:r>
              <a:rPr lang="en-US" sz="1200" baseline="-40000" dirty="0">
                <a:solidFill>
                  <a:schemeClr val="bg2"/>
                </a:solidFill>
              </a:rPr>
              <a:t>o</a:t>
            </a:r>
            <a:r>
              <a:rPr lang="en-US" sz="1200" dirty="0">
                <a:solidFill>
                  <a:schemeClr val="bg2"/>
                </a:solidFill>
              </a:rPr>
              <a:t>/F</a:t>
            </a:r>
            <a:r>
              <a:rPr lang="en-US" sz="1200" baseline="-40000" dirty="0">
                <a:solidFill>
                  <a:schemeClr val="bg2"/>
                </a:solidFill>
              </a:rPr>
              <a:t>m</a:t>
            </a:r>
            <a:r>
              <a:rPr lang="en-US" sz="1200" dirty="0">
                <a:solidFill>
                  <a:schemeClr val="bg2"/>
                </a:solidFill>
              </a:rPr>
              <a:t>; no change in photoinhibition between F</a:t>
            </a:r>
            <a:r>
              <a:rPr lang="en-US" sz="1200" baseline="-40000" dirty="0">
                <a:solidFill>
                  <a:schemeClr val="bg2"/>
                </a:solidFill>
              </a:rPr>
              <a:t>m</a:t>
            </a:r>
            <a:r>
              <a:rPr lang="en-US" sz="1200" dirty="0">
                <a:solidFill>
                  <a:schemeClr val="bg2"/>
                </a:solidFill>
              </a:rPr>
              <a:t>′ and F</a:t>
            </a:r>
            <a:r>
              <a:rPr lang="en-US" sz="1200" baseline="-40000" dirty="0">
                <a:solidFill>
                  <a:schemeClr val="bg2"/>
                </a:solidFill>
              </a:rPr>
              <a:t>m</a:t>
            </a:r>
            <a:r>
              <a:rPr lang="en-US" sz="1200" dirty="0">
                <a:solidFill>
                  <a:schemeClr val="bg2"/>
                </a:solidFill>
              </a:rPr>
              <a:t>.</a:t>
            </a:r>
            <a:endParaRPr lang="en-US" sz="1200" dirty="0"/>
          </a:p>
        </p:txBody>
      </p:sp>
      <p:sp>
        <p:nvSpPr>
          <p:cNvPr id="18" name="card"/>
          <p:cNvSpPr/>
          <p:nvPr/>
        </p:nvSpPr>
        <p:spPr>
          <a:xfrm>
            <a:off x="6199632" y="3840480"/>
            <a:ext cx="5440680" cy="2331720"/>
          </a:xfrm>
          <a:prstGeom prst="roundRect">
            <a:avLst>
              <a:gd name="adj" fmla="val 3137"/>
            </a:avLst>
          </a:prstGeom>
          <a:solidFill>
            <a:schemeClr val="bg2"/>
          </a:solidFill>
          <a:ln/>
          <a:effectLst>
            <a:outerShdw blurRad="76200" dist="25400" dir="5400000" algn="bl" rotWithShape="0">
              <a:srgbClr val="000000">
                <a:alpha val="14000"/>
              </a:srgbClr>
            </a:outerShdw>
          </a:effectLst>
        </p:spPr>
      </p:sp>
      <p:sp>
        <p:nvSpPr>
          <p:cNvPr id="19" name="icon circle"/>
          <p:cNvSpPr/>
          <p:nvPr/>
        </p:nvSpPr>
        <p:spPr>
          <a:xfrm>
            <a:off x="6382512" y="3995928"/>
            <a:ext cx="420624" cy="420624"/>
          </a:xfrm>
          <a:prstGeom prst="ellipse">
            <a:avLst/>
          </a:prstGeom>
          <a:solidFill>
            <a:schemeClr val="accent2"/>
          </a:solidFill>
          <a:ln/>
        </p:spPr>
      </p:sp>
      <p:pic>
        <p:nvPicPr>
          <p:cNvPr id="20" name="Image 2" descr="ExclamationTriangle icon"/>
          <p:cNvPicPr>
            <a:picLocks noChangeAspect="1"/>
          </p:cNvPicPr>
          <p:nvPr/>
        </p:nvPicPr>
        <p:blipFill>
          <a:blip r:embed="rId5"/>
          <a:stretch>
            <a:fillRect/>
          </a:stretch>
        </p:blipFill>
        <p:spPr>
          <a:xfrm>
            <a:off x="6491874" y="4105290"/>
            <a:ext cx="201900" cy="201900"/>
          </a:xfrm>
          <a:prstGeom prst="rect">
            <a:avLst/>
          </a:prstGeom>
        </p:spPr>
      </p:pic>
      <p:sp>
        <p:nvSpPr>
          <p:cNvPr id="21" name="Text 15"/>
          <p:cNvSpPr txBox="1"/>
          <p:nvPr/>
        </p:nvSpPr>
        <p:spPr>
          <a:xfrm>
            <a:off x="6912864" y="3977640"/>
            <a:ext cx="4590288" cy="457200"/>
          </a:xfrm>
          <a:prstGeom prst="rect">
            <a:avLst/>
          </a:prstGeom>
          <a:noFill/>
          <a:ln/>
        </p:spPr>
        <p:txBody>
          <a:bodyPr wrap="square" lIns="0" tIns="0" rIns="0" bIns="0" rtlCol="0" anchor="ctr"/>
          <a:lstStyle/>
          <a:p>
            <a:pPr marL="0" indent="0">
              <a:buNone/>
            </a:pPr>
            <a:r>
              <a:rPr lang="en-US" sz="1600" b="1" dirty="0">
                <a:solidFill>
                  <a:schemeClr val="tx2"/>
                </a:solidFill>
              </a:rPr>
              <a:t>Other small errors</a:t>
            </a:r>
            <a:endParaRPr lang="en-US" sz="1600" dirty="0"/>
          </a:p>
        </p:txBody>
      </p:sp>
      <p:sp>
        <p:nvSpPr>
          <p:cNvPr id="22" name="Text 16"/>
          <p:cNvSpPr txBox="1"/>
          <p:nvPr/>
        </p:nvSpPr>
        <p:spPr>
          <a:xfrm>
            <a:off x="6382512" y="4526280"/>
            <a:ext cx="5074920" cy="155448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PSI fluorescence above </a:t>
            </a:r>
            <a:r>
              <a:rPr lang="en-US" sz="1300" b="1" dirty="0">
                <a:solidFill>
                  <a:schemeClr val="tx1"/>
                </a:solidFill>
              </a:rPr>
              <a:t>700 nm</a:t>
            </a:r>
            <a:r>
              <a:rPr lang="en-US" sz="1300" dirty="0">
                <a:solidFill>
                  <a:schemeClr val="tx1"/>
                </a:solidFill>
              </a:rPr>
              <a:t> adds to the signal</a:t>
            </a:r>
            <a:endParaRPr lang="en-US" sz="1300" dirty="0"/>
          </a:p>
          <a:p>
            <a:pPr marL="177800" indent="-177800">
              <a:spcAft>
                <a:spcPts val="400"/>
              </a:spcAft>
              <a:buSzPct val="100000"/>
              <a:buChar char="•"/>
            </a:pPr>
            <a:r>
              <a:rPr lang="en-US" sz="1300" dirty="0">
                <a:solidFill>
                  <a:schemeClr val="tx1"/>
                </a:solidFill>
              </a:rPr>
              <a:t>Multiple turnovers of PSII during the pulse</a:t>
            </a:r>
            <a:endParaRPr lang="en-US" sz="1300" dirty="0"/>
          </a:p>
          <a:p>
            <a:pPr marL="177800" indent="-177800">
              <a:spcAft>
                <a:spcPts val="400"/>
              </a:spcAft>
              <a:buSzPct val="100000"/>
              <a:buChar char="•"/>
            </a:pPr>
            <a:r>
              <a:rPr lang="en-US" sz="1300" dirty="0">
                <a:solidFill>
                  <a:schemeClr val="tx1"/>
                </a:solidFill>
              </a:rPr>
              <a:t>Mostly minor: Φ</a:t>
            </a:r>
            <a:r>
              <a:rPr lang="en-US" sz="1300" baseline="-40000" dirty="0">
                <a:solidFill>
                  <a:schemeClr val="tx1"/>
                </a:solidFill>
              </a:rPr>
              <a:t>PSII</a:t>
            </a:r>
            <a:r>
              <a:rPr lang="en-US" sz="1300" dirty="0">
                <a:solidFill>
                  <a:schemeClr val="tx1"/>
                </a:solidFill>
              </a:rPr>
              <a:t> agrees well with quantum yield of CO₂ assimilation</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Linking fluorescence to CO₂ assimilation</a:t>
            </a:r>
            <a:endParaRPr lang="en-US" sz="3200" dirty="0"/>
          </a:p>
        </p:txBody>
      </p:sp>
      <p:sp>
        <p:nvSpPr>
          <p:cNvPr id="4" name="diagram box"/>
          <p:cNvSpPr/>
          <p:nvPr/>
        </p:nvSpPr>
        <p:spPr>
          <a:xfrm>
            <a:off x="548640" y="2377440"/>
            <a:ext cx="2194560" cy="1188720"/>
          </a:xfrm>
          <a:prstGeom prst="roundRect">
            <a:avLst>
              <a:gd name="adj" fmla="val 6154"/>
            </a:avLst>
          </a:prstGeom>
          <a:solidFill>
            <a:schemeClr val="accent1"/>
          </a:solidFill>
          <a:ln/>
        </p:spPr>
      </p:sp>
      <p:sp>
        <p:nvSpPr>
          <p:cNvPr id="5" name="Text 2"/>
          <p:cNvSpPr txBox="1"/>
          <p:nvPr/>
        </p:nvSpPr>
        <p:spPr>
          <a:xfrm>
            <a:off x="548640" y="2377440"/>
            <a:ext cx="2194560" cy="1188720"/>
          </a:xfrm>
          <a:prstGeom prst="rect">
            <a:avLst/>
          </a:prstGeom>
          <a:noFill/>
          <a:ln/>
        </p:spPr>
        <p:txBody>
          <a:bodyPr wrap="square" lIns="508" tIns="508" rIns="508" bIns="508" rtlCol="0" anchor="ctr"/>
          <a:lstStyle/>
          <a:p>
            <a:pPr marL="0" indent="0" algn="ctr">
              <a:buNone/>
            </a:pPr>
            <a:r>
              <a:rPr lang="en-US" sz="1500" b="1" dirty="0">
                <a:solidFill>
                  <a:schemeClr val="bg1"/>
                </a:solidFill>
              </a:rPr>
              <a:t>PSII electron</a:t>
            </a:r>
            <a:endParaRPr lang="en-US" sz="1500" dirty="0"/>
          </a:p>
          <a:p>
            <a:pPr marL="0" indent="0" algn="ctr">
              <a:buNone/>
            </a:pPr>
            <a:r>
              <a:rPr lang="en-US" sz="1500" b="1" dirty="0">
                <a:solidFill>
                  <a:schemeClr val="bg1"/>
                </a:solidFill>
              </a:rPr>
              <a:t>transport (ETR)</a:t>
            </a:r>
            <a:endParaRPr lang="en-US" sz="1500" dirty="0"/>
          </a:p>
        </p:txBody>
      </p:sp>
      <p:sp>
        <p:nvSpPr>
          <p:cNvPr id="6" name="arrow"/>
          <p:cNvSpPr/>
          <p:nvPr/>
        </p:nvSpPr>
        <p:spPr>
          <a:xfrm flipV="1">
            <a:off x="2788920" y="1828800"/>
            <a:ext cx="548640" cy="1143000"/>
          </a:xfrm>
          <a:prstGeom prst="line">
            <a:avLst/>
          </a:prstGeom>
          <a:noFill/>
          <a:ln w="31750">
            <a:solidFill>
              <a:srgbClr val="2E8B57"/>
            </a:solidFill>
            <a:prstDash val="solid"/>
            <a:tailEnd type="triangle"/>
          </a:ln>
        </p:spPr>
      </p:sp>
      <p:sp>
        <p:nvSpPr>
          <p:cNvPr id="7" name="card"/>
          <p:cNvSpPr/>
          <p:nvPr/>
        </p:nvSpPr>
        <p:spPr>
          <a:xfrm>
            <a:off x="3383280" y="1371600"/>
            <a:ext cx="3474720" cy="960120"/>
          </a:xfrm>
          <a:prstGeom prst="roundRect">
            <a:avLst>
              <a:gd name="adj" fmla="val 7619"/>
            </a:avLst>
          </a:prstGeom>
          <a:solidFill>
            <a:schemeClr val="accent1"/>
          </a:solidFill>
          <a:ln/>
          <a:effectLst>
            <a:outerShdw blurRad="76200" dist="25400" dir="5400000" algn="bl" rotWithShape="0">
              <a:srgbClr val="000000">
                <a:alpha val="14000"/>
              </a:srgbClr>
            </a:outerShdw>
          </a:effectLst>
        </p:spPr>
      </p:sp>
      <p:sp>
        <p:nvSpPr>
          <p:cNvPr id="8" name="Text 5"/>
          <p:cNvSpPr txBox="1"/>
          <p:nvPr/>
        </p:nvSpPr>
        <p:spPr>
          <a:xfrm>
            <a:off x="3520440" y="1417320"/>
            <a:ext cx="3246120" cy="868680"/>
          </a:xfrm>
          <a:prstGeom prst="rect">
            <a:avLst/>
          </a:prstGeom>
          <a:noFill/>
          <a:ln/>
        </p:spPr>
        <p:txBody>
          <a:bodyPr wrap="square" lIns="0" tIns="0" rIns="0" bIns="0" rtlCol="0" anchor="ctr"/>
          <a:lstStyle/>
          <a:p>
            <a:pPr marL="0" indent="0">
              <a:buNone/>
            </a:pPr>
            <a:r>
              <a:rPr lang="en-US" sz="1400" b="1" dirty="0">
                <a:solidFill>
                  <a:schemeClr val="bg1"/>
                </a:solidFill>
              </a:rPr>
              <a:t>CO₂ assimilation (Calvin cycle)</a:t>
            </a:r>
            <a:endParaRPr lang="en-US" sz="1400" dirty="0"/>
          </a:p>
          <a:p>
            <a:pPr marL="0" indent="0">
              <a:buNone/>
            </a:pPr>
            <a:r>
              <a:rPr lang="en-US" sz="1200" dirty="0">
                <a:solidFill>
                  <a:schemeClr val="bg1"/>
                </a:solidFill>
              </a:rPr>
              <a:t>~4 e⁻ per CO₂ when photorespiration is blocked</a:t>
            </a:r>
            <a:endParaRPr lang="en-US" sz="1400" dirty="0"/>
          </a:p>
        </p:txBody>
      </p:sp>
      <p:sp>
        <p:nvSpPr>
          <p:cNvPr id="9" name="arrow"/>
          <p:cNvSpPr/>
          <p:nvPr/>
        </p:nvSpPr>
        <p:spPr>
          <a:xfrm>
            <a:off x="2788920" y="2971800"/>
            <a:ext cx="548640" cy="0"/>
          </a:xfrm>
          <a:prstGeom prst="line">
            <a:avLst/>
          </a:prstGeom>
          <a:noFill/>
          <a:ln w="31750">
            <a:solidFill>
              <a:srgbClr val="F2A900"/>
            </a:solidFill>
            <a:prstDash val="solid"/>
            <a:tailEnd type="triangle"/>
          </a:ln>
        </p:spPr>
      </p:sp>
      <p:sp>
        <p:nvSpPr>
          <p:cNvPr id="10" name="card"/>
          <p:cNvSpPr/>
          <p:nvPr/>
        </p:nvSpPr>
        <p:spPr>
          <a:xfrm>
            <a:off x="3383280" y="2514600"/>
            <a:ext cx="3474720" cy="960120"/>
          </a:xfrm>
          <a:prstGeom prst="roundRect">
            <a:avLst>
              <a:gd name="adj" fmla="val 7619"/>
            </a:avLst>
          </a:prstGeom>
          <a:solidFill>
            <a:schemeClr val="accent3"/>
          </a:solidFill>
          <a:ln/>
          <a:effectLst>
            <a:outerShdw blurRad="76200" dist="25400" dir="5400000" algn="bl" rotWithShape="0">
              <a:srgbClr val="000000">
                <a:alpha val="14000"/>
              </a:srgbClr>
            </a:outerShdw>
          </a:effectLst>
        </p:spPr>
      </p:sp>
      <p:sp>
        <p:nvSpPr>
          <p:cNvPr id="11" name="Text 8"/>
          <p:cNvSpPr txBox="1"/>
          <p:nvPr/>
        </p:nvSpPr>
        <p:spPr>
          <a:xfrm>
            <a:off x="3520440" y="2560320"/>
            <a:ext cx="3246120" cy="868680"/>
          </a:xfrm>
          <a:prstGeom prst="rect">
            <a:avLst/>
          </a:prstGeom>
          <a:noFill/>
          <a:ln/>
        </p:spPr>
        <p:txBody>
          <a:bodyPr wrap="square" lIns="0" tIns="0" rIns="0" bIns="0" rtlCol="0" anchor="ctr"/>
          <a:lstStyle/>
          <a:p>
            <a:pPr marL="0" indent="0">
              <a:buNone/>
            </a:pPr>
            <a:r>
              <a:rPr lang="en-US" sz="1400" b="1" dirty="0">
                <a:solidFill>
                  <a:schemeClr val="tx1"/>
                </a:solidFill>
              </a:rPr>
              <a:t>Photorespiration (C₃)</a:t>
            </a:r>
            <a:endParaRPr lang="en-US" sz="1400" dirty="0"/>
          </a:p>
          <a:p>
            <a:pPr marL="0" indent="0">
              <a:buNone/>
            </a:pPr>
            <a:r>
              <a:rPr lang="en-US" sz="1200" dirty="0">
                <a:solidFill>
                  <a:schemeClr val="tx1"/>
                </a:solidFill>
              </a:rPr>
              <a:t>Rises with stomatal closure, heat</a:t>
            </a:r>
            <a:endParaRPr lang="en-US" sz="1400" dirty="0"/>
          </a:p>
        </p:txBody>
      </p:sp>
      <p:sp>
        <p:nvSpPr>
          <p:cNvPr id="12" name="arrow"/>
          <p:cNvSpPr/>
          <p:nvPr/>
        </p:nvSpPr>
        <p:spPr>
          <a:xfrm>
            <a:off x="2788920" y="2971800"/>
            <a:ext cx="548640" cy="1143000"/>
          </a:xfrm>
          <a:prstGeom prst="line">
            <a:avLst/>
          </a:prstGeom>
          <a:noFill/>
          <a:ln w="31750">
            <a:solidFill>
              <a:srgbClr val="2B6A94"/>
            </a:solidFill>
            <a:prstDash val="solid"/>
            <a:tailEnd type="triangle"/>
          </a:ln>
        </p:spPr>
      </p:sp>
      <p:sp>
        <p:nvSpPr>
          <p:cNvPr id="13" name="card"/>
          <p:cNvSpPr/>
          <p:nvPr/>
        </p:nvSpPr>
        <p:spPr>
          <a:xfrm>
            <a:off x="3383280" y="3657600"/>
            <a:ext cx="3474720" cy="960120"/>
          </a:xfrm>
          <a:prstGeom prst="roundRect">
            <a:avLst>
              <a:gd name="adj" fmla="val 7619"/>
            </a:avLst>
          </a:prstGeom>
          <a:solidFill>
            <a:schemeClr val="accent5"/>
          </a:solidFill>
          <a:ln/>
          <a:effectLst>
            <a:outerShdw blurRad="76200" dist="25400" dir="5400000" algn="bl" rotWithShape="0">
              <a:srgbClr val="000000">
                <a:alpha val="14000"/>
              </a:srgbClr>
            </a:outerShdw>
          </a:effectLst>
        </p:spPr>
      </p:sp>
      <p:sp>
        <p:nvSpPr>
          <p:cNvPr id="14" name="Text 11"/>
          <p:cNvSpPr txBox="1"/>
          <p:nvPr/>
        </p:nvSpPr>
        <p:spPr>
          <a:xfrm>
            <a:off x="3520440" y="3703320"/>
            <a:ext cx="3246120" cy="868680"/>
          </a:xfrm>
          <a:prstGeom prst="rect">
            <a:avLst/>
          </a:prstGeom>
          <a:noFill/>
          <a:ln/>
        </p:spPr>
        <p:txBody>
          <a:bodyPr wrap="square" lIns="0" tIns="0" rIns="0" bIns="0" rtlCol="0" anchor="ctr"/>
          <a:lstStyle/>
          <a:p>
            <a:pPr marL="0" indent="0">
              <a:buNone/>
            </a:pPr>
            <a:r>
              <a:rPr lang="en-US" sz="1400" b="1" dirty="0">
                <a:solidFill>
                  <a:schemeClr val="bg1"/>
                </a:solidFill>
              </a:rPr>
              <a:t>Mehler reaction / cyclic flow</a:t>
            </a:r>
            <a:endParaRPr lang="en-US" sz="1400" dirty="0"/>
          </a:p>
          <a:p>
            <a:pPr marL="0" indent="0">
              <a:buNone/>
            </a:pPr>
            <a:r>
              <a:rPr lang="en-US" sz="1200" dirty="0">
                <a:solidFill>
                  <a:schemeClr val="bg1"/>
                </a:solidFill>
              </a:rPr>
              <a:t>Alternative sinks under stress</a:t>
            </a:r>
            <a:endParaRPr lang="en-US" sz="1400" dirty="0"/>
          </a:p>
        </p:txBody>
      </p:sp>
      <p:sp>
        <p:nvSpPr>
          <p:cNvPr id="15" name="card"/>
          <p:cNvSpPr/>
          <p:nvPr/>
        </p:nvSpPr>
        <p:spPr>
          <a:xfrm>
            <a:off x="548640" y="4846320"/>
            <a:ext cx="6309360" cy="1325880"/>
          </a:xfrm>
          <a:prstGeom prst="roundRect">
            <a:avLst>
              <a:gd name="adj" fmla="val 5517"/>
            </a:avLst>
          </a:prstGeom>
          <a:solidFill>
            <a:schemeClr val="bg2"/>
          </a:solidFill>
          <a:ln/>
          <a:effectLst>
            <a:outerShdw blurRad="76200" dist="25400" dir="5400000" algn="bl" rotWithShape="0">
              <a:srgbClr val="000000">
                <a:alpha val="14000"/>
              </a:srgbClr>
            </a:outerShdw>
          </a:effectLst>
        </p:spPr>
      </p:sp>
      <p:sp>
        <p:nvSpPr>
          <p:cNvPr id="16" name="icon circle"/>
          <p:cNvSpPr/>
          <p:nvPr/>
        </p:nvSpPr>
        <p:spPr>
          <a:xfrm>
            <a:off x="731520" y="5001768"/>
            <a:ext cx="420624" cy="420624"/>
          </a:xfrm>
          <a:prstGeom prst="ellipse">
            <a:avLst/>
          </a:prstGeom>
          <a:solidFill>
            <a:schemeClr val="accent3"/>
          </a:solidFill>
          <a:ln/>
        </p:spPr>
      </p:sp>
      <p:pic>
        <p:nvPicPr>
          <p:cNvPr id="17" name="Image 0" descr="Lightbulb icon"/>
          <p:cNvPicPr>
            <a:picLocks noChangeAspect="1"/>
          </p:cNvPicPr>
          <p:nvPr/>
        </p:nvPicPr>
        <p:blipFill>
          <a:blip r:embed="rId3"/>
          <a:stretch>
            <a:fillRect/>
          </a:stretch>
        </p:blipFill>
        <p:spPr>
          <a:xfrm>
            <a:off x="840882" y="5111130"/>
            <a:ext cx="201900" cy="201900"/>
          </a:xfrm>
          <a:prstGeom prst="rect">
            <a:avLst/>
          </a:prstGeom>
        </p:spPr>
      </p:pic>
      <p:sp>
        <p:nvSpPr>
          <p:cNvPr id="18" name="Text 14"/>
          <p:cNvSpPr txBox="1"/>
          <p:nvPr/>
        </p:nvSpPr>
        <p:spPr>
          <a:xfrm>
            <a:off x="1261872" y="4983480"/>
            <a:ext cx="5458968" cy="457200"/>
          </a:xfrm>
          <a:prstGeom prst="rect">
            <a:avLst/>
          </a:prstGeom>
          <a:noFill/>
          <a:ln/>
        </p:spPr>
        <p:txBody>
          <a:bodyPr wrap="square" lIns="0" tIns="0" rIns="0" bIns="0" rtlCol="0" anchor="ctr"/>
          <a:lstStyle/>
          <a:p>
            <a:pPr marL="0" indent="0">
              <a:buNone/>
            </a:pPr>
            <a:r>
              <a:rPr lang="en-US" sz="1600" b="1" dirty="0">
                <a:solidFill>
                  <a:schemeClr val="tx2"/>
                </a:solidFill>
              </a:rPr>
              <a:t>Implication</a:t>
            </a:r>
            <a:endParaRPr lang="en-US" sz="1600" dirty="0"/>
          </a:p>
        </p:txBody>
      </p:sp>
      <p:sp>
        <p:nvSpPr>
          <p:cNvPr id="19" name="Text 15"/>
          <p:cNvSpPr txBox="1"/>
          <p:nvPr/>
        </p:nvSpPr>
        <p:spPr>
          <a:xfrm>
            <a:off x="731520" y="5532120"/>
            <a:ext cx="5943600" cy="5486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Linear F</a:t>
            </a:r>
            <a:r>
              <a:rPr lang="en-US" sz="1300" baseline="-40000" dirty="0">
                <a:solidFill>
                  <a:schemeClr val="tx1"/>
                </a:solidFill>
              </a:rPr>
              <a:t>q</a:t>
            </a:r>
            <a:r>
              <a:rPr lang="en-US" sz="1300" dirty="0">
                <a:solidFill>
                  <a:schemeClr val="tx1"/>
                </a:solidFill>
              </a:rPr>
              <a:t>′/F</a:t>
            </a:r>
            <a:r>
              <a:rPr lang="en-US" sz="1300" baseline="-40000" dirty="0">
                <a:solidFill>
                  <a:schemeClr val="tx1"/>
                </a:solidFill>
              </a:rPr>
              <a:t>m</a:t>
            </a:r>
            <a:r>
              <a:rPr lang="en-US" sz="1300" dirty="0">
                <a:solidFill>
                  <a:schemeClr val="tx1"/>
                </a:solidFill>
              </a:rPr>
              <a:t>′ ↔ CO₂ uptake only holds when the allocation of electrons is constant — hard to guarantee in the field.</a:t>
            </a:r>
            <a:endParaRPr lang="en-US" sz="1300" dirty="0"/>
          </a:p>
        </p:txBody>
      </p:sp>
      <p:sp>
        <p:nvSpPr>
          <p:cNvPr id="20" name="card"/>
          <p:cNvSpPr/>
          <p:nvPr/>
        </p:nvSpPr>
        <p:spPr>
          <a:xfrm>
            <a:off x="7178040" y="1325880"/>
            <a:ext cx="4462272" cy="2331720"/>
          </a:xfrm>
          <a:prstGeom prst="roundRect">
            <a:avLst>
              <a:gd name="adj" fmla="val 3137"/>
            </a:avLst>
          </a:prstGeom>
          <a:solidFill>
            <a:schemeClr val="bg2"/>
          </a:solidFill>
          <a:ln/>
          <a:effectLst>
            <a:outerShdw blurRad="76200" dist="25400" dir="5400000" algn="bl" rotWithShape="0">
              <a:srgbClr val="000000">
                <a:alpha val="14000"/>
              </a:srgbClr>
            </a:outerShdw>
          </a:effectLst>
        </p:spPr>
      </p:sp>
      <p:sp>
        <p:nvSpPr>
          <p:cNvPr id="21" name="icon circle"/>
          <p:cNvSpPr/>
          <p:nvPr/>
        </p:nvSpPr>
        <p:spPr>
          <a:xfrm>
            <a:off x="7360920" y="1481328"/>
            <a:ext cx="420624" cy="420624"/>
          </a:xfrm>
          <a:prstGeom prst="ellipse">
            <a:avLst/>
          </a:prstGeom>
          <a:solidFill>
            <a:schemeClr val="accent1"/>
          </a:solidFill>
          <a:ln/>
        </p:spPr>
      </p:sp>
      <p:pic>
        <p:nvPicPr>
          <p:cNvPr id="22" name="Image 1" descr="Seedling icon"/>
          <p:cNvPicPr>
            <a:picLocks noChangeAspect="1"/>
          </p:cNvPicPr>
          <p:nvPr/>
        </p:nvPicPr>
        <p:blipFill>
          <a:blip r:embed="rId4"/>
          <a:stretch>
            <a:fillRect/>
          </a:stretch>
        </p:blipFill>
        <p:spPr>
          <a:xfrm>
            <a:off x="7470282" y="1590690"/>
            <a:ext cx="201900" cy="201900"/>
          </a:xfrm>
          <a:prstGeom prst="rect">
            <a:avLst/>
          </a:prstGeom>
        </p:spPr>
      </p:pic>
      <p:sp>
        <p:nvSpPr>
          <p:cNvPr id="23" name="Text 18"/>
          <p:cNvSpPr txBox="1"/>
          <p:nvPr/>
        </p:nvSpPr>
        <p:spPr>
          <a:xfrm>
            <a:off x="7891272" y="1463040"/>
            <a:ext cx="3611880" cy="457200"/>
          </a:xfrm>
          <a:prstGeom prst="rect">
            <a:avLst/>
          </a:prstGeom>
          <a:noFill/>
          <a:ln/>
        </p:spPr>
        <p:txBody>
          <a:bodyPr wrap="square" lIns="0" tIns="0" rIns="0" bIns="0" rtlCol="0" anchor="ctr"/>
          <a:lstStyle/>
          <a:p>
            <a:pPr marL="0" indent="0">
              <a:buNone/>
            </a:pPr>
            <a:r>
              <a:rPr lang="en-US" sz="1600" b="1" dirty="0">
                <a:solidFill>
                  <a:schemeClr val="tx2"/>
                </a:solidFill>
              </a:rPr>
              <a:t>C₃ vs C₄</a:t>
            </a:r>
            <a:endParaRPr lang="en-US" sz="1600" dirty="0"/>
          </a:p>
        </p:txBody>
      </p:sp>
      <p:sp>
        <p:nvSpPr>
          <p:cNvPr id="24" name="Text 19"/>
          <p:cNvSpPr txBox="1"/>
          <p:nvPr/>
        </p:nvSpPr>
        <p:spPr>
          <a:xfrm>
            <a:off x="7360920" y="2011680"/>
            <a:ext cx="4096512" cy="1554480"/>
          </a:xfrm>
          <a:prstGeom prst="rect">
            <a:avLst/>
          </a:prstGeom>
          <a:noFill/>
          <a:ln/>
        </p:spPr>
        <p:txBody>
          <a:bodyPr wrap="square" lIns="508" tIns="508" rIns="508" bIns="508" rtlCol="0" anchor="t"/>
          <a:lstStyle/>
          <a:p>
            <a:pPr marL="177800" indent="-177800">
              <a:spcAft>
                <a:spcPts val="400"/>
              </a:spcAft>
              <a:buSzPct val="100000"/>
              <a:buChar char="•"/>
            </a:pPr>
            <a:r>
              <a:rPr lang="en-US" sz="1300" b="1" dirty="0">
                <a:solidFill>
                  <a:schemeClr val="tx1"/>
                </a:solidFill>
              </a:rPr>
              <a:t>C₃:</a:t>
            </a:r>
            <a:r>
              <a:rPr lang="en-US" sz="1300" dirty="0">
                <a:solidFill>
                  <a:schemeClr val="tx1"/>
                </a:solidFill>
              </a:rPr>
              <a:t> close correlation at 2 % O₂; photorespiration breaks linearity</a:t>
            </a:r>
            <a:endParaRPr lang="en-US" sz="1300" dirty="0"/>
          </a:p>
          <a:p>
            <a:pPr marL="177800" indent="-177800">
              <a:spcAft>
                <a:spcPts val="400"/>
              </a:spcAft>
              <a:buSzPct val="100000"/>
              <a:buChar char="•"/>
            </a:pPr>
            <a:r>
              <a:rPr lang="en-US" sz="1300" b="1" dirty="0">
                <a:solidFill>
                  <a:schemeClr val="tx1"/>
                </a:solidFill>
              </a:rPr>
              <a:t>C₄:</a:t>
            </a:r>
            <a:r>
              <a:rPr lang="en-US" sz="1300" dirty="0">
                <a:solidFill>
                  <a:schemeClr val="tx1"/>
                </a:solidFill>
              </a:rPr>
              <a:t> CO₂-concentrating mechanism suppresses photorespiration → more linear</a:t>
            </a:r>
            <a:endParaRPr lang="en-US" sz="1300" dirty="0"/>
          </a:p>
        </p:txBody>
      </p:sp>
      <p:sp>
        <p:nvSpPr>
          <p:cNvPr id="25" name="card"/>
          <p:cNvSpPr/>
          <p:nvPr/>
        </p:nvSpPr>
        <p:spPr>
          <a:xfrm>
            <a:off x="7178040" y="3794760"/>
            <a:ext cx="4462272" cy="2377440"/>
          </a:xfrm>
          <a:prstGeom prst="roundRect">
            <a:avLst>
              <a:gd name="adj" fmla="val 3077"/>
            </a:avLst>
          </a:prstGeom>
          <a:solidFill>
            <a:schemeClr val="bg2"/>
          </a:solidFill>
          <a:ln/>
          <a:effectLst>
            <a:outerShdw blurRad="76200" dist="25400" dir="5400000" algn="bl" rotWithShape="0">
              <a:srgbClr val="000000">
                <a:alpha val="14000"/>
              </a:srgbClr>
            </a:outerShdw>
          </a:effectLst>
        </p:spPr>
      </p:sp>
      <p:sp>
        <p:nvSpPr>
          <p:cNvPr id="26" name="icon circle"/>
          <p:cNvSpPr/>
          <p:nvPr/>
        </p:nvSpPr>
        <p:spPr>
          <a:xfrm>
            <a:off x="7360920" y="3950208"/>
            <a:ext cx="420624" cy="420624"/>
          </a:xfrm>
          <a:prstGeom prst="ellipse">
            <a:avLst/>
          </a:prstGeom>
          <a:solidFill>
            <a:schemeClr val="accent5"/>
          </a:solidFill>
          <a:ln/>
        </p:spPr>
      </p:sp>
      <p:pic>
        <p:nvPicPr>
          <p:cNvPr id="27" name="Image 2" descr="Bolt icon"/>
          <p:cNvPicPr>
            <a:picLocks noChangeAspect="1"/>
          </p:cNvPicPr>
          <p:nvPr/>
        </p:nvPicPr>
        <p:blipFill>
          <a:blip r:embed="rId5"/>
          <a:stretch>
            <a:fillRect/>
          </a:stretch>
        </p:blipFill>
        <p:spPr>
          <a:xfrm>
            <a:off x="7470282" y="4059570"/>
            <a:ext cx="201900" cy="201900"/>
          </a:xfrm>
          <a:prstGeom prst="rect">
            <a:avLst/>
          </a:prstGeom>
        </p:spPr>
      </p:pic>
      <p:sp>
        <p:nvSpPr>
          <p:cNvPr id="28" name="Text 22"/>
          <p:cNvSpPr txBox="1"/>
          <p:nvPr/>
        </p:nvSpPr>
        <p:spPr>
          <a:xfrm>
            <a:off x="7891272" y="3931920"/>
            <a:ext cx="3611880" cy="457200"/>
          </a:xfrm>
          <a:prstGeom prst="rect">
            <a:avLst/>
          </a:prstGeom>
          <a:noFill/>
          <a:ln/>
        </p:spPr>
        <p:txBody>
          <a:bodyPr wrap="square" lIns="0" tIns="0" rIns="0" bIns="0" rtlCol="0" anchor="ctr"/>
          <a:lstStyle/>
          <a:p>
            <a:pPr marL="0" indent="0">
              <a:buNone/>
            </a:pPr>
            <a:r>
              <a:rPr lang="en-US" sz="1600" b="1" dirty="0">
                <a:solidFill>
                  <a:schemeClr val="tx2"/>
                </a:solidFill>
              </a:rPr>
              <a:t>Measuring PSI too</a:t>
            </a:r>
            <a:endParaRPr lang="en-US" sz="1600" dirty="0"/>
          </a:p>
        </p:txBody>
      </p:sp>
      <p:sp>
        <p:nvSpPr>
          <p:cNvPr id="29" name="Text 23"/>
          <p:cNvSpPr txBox="1"/>
          <p:nvPr/>
        </p:nvSpPr>
        <p:spPr>
          <a:xfrm>
            <a:off x="7360920" y="4480560"/>
            <a:ext cx="4096512"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P700 redox via near-infrared absorbance (</a:t>
            </a:r>
            <a:r>
              <a:rPr lang="en-US" sz="1300" b="1" dirty="0">
                <a:solidFill>
                  <a:schemeClr val="tx1"/>
                </a:solidFill>
              </a:rPr>
              <a:t>810–840 nm</a:t>
            </a:r>
            <a:r>
              <a:rPr lang="en-US" sz="1300" dirty="0">
                <a:solidFill>
                  <a:schemeClr val="tx1"/>
                </a:solidFill>
              </a:rPr>
              <a:t>)</a:t>
            </a:r>
            <a:endParaRPr lang="en-US" sz="1300" dirty="0"/>
          </a:p>
          <a:p>
            <a:pPr marL="177800" indent="-177800">
              <a:spcAft>
                <a:spcPts val="400"/>
              </a:spcAft>
              <a:buSzPct val="100000"/>
              <a:buChar char="•"/>
            </a:pPr>
            <a:r>
              <a:rPr lang="en-US" sz="1300" dirty="0">
                <a:solidFill>
                  <a:schemeClr val="tx1"/>
                </a:solidFill>
              </a:rPr>
              <a:t>Combine Φ</a:t>
            </a:r>
            <a:r>
              <a:rPr lang="en-US" sz="1300" baseline="-40000" dirty="0">
                <a:solidFill>
                  <a:schemeClr val="tx1"/>
                </a:solidFill>
              </a:rPr>
              <a:t>PSI</a:t>
            </a:r>
            <a:r>
              <a:rPr lang="en-US" sz="1300" dirty="0">
                <a:solidFill>
                  <a:schemeClr val="tx1"/>
                </a:solidFill>
              </a:rPr>
              <a:t> with Φ</a:t>
            </a:r>
            <a:r>
              <a:rPr lang="en-US" sz="1300" baseline="-40000" dirty="0">
                <a:solidFill>
                  <a:schemeClr val="tx1"/>
                </a:solidFill>
              </a:rPr>
              <a:t>PSII</a:t>
            </a:r>
            <a:r>
              <a:rPr lang="en-US" sz="1300" dirty="0">
                <a:solidFill>
                  <a:schemeClr val="tx1"/>
                </a:solidFill>
              </a:rPr>
              <a:t>; cyclic flow affects ΔpH and NPQ</a:t>
            </a:r>
            <a:endParaRPr lang="en-US" sz="1300" dirty="0"/>
          </a:p>
          <a:p>
            <a:pPr marL="177800" indent="-177800">
              <a:spcAft>
                <a:spcPts val="400"/>
              </a:spcAft>
              <a:buSzPct val="100000"/>
              <a:buChar char="•"/>
            </a:pPr>
            <a:r>
              <a:rPr lang="en-US" sz="1300" dirty="0">
                <a:solidFill>
                  <a:schemeClr val="tx1"/>
                </a:solidFill>
              </a:rPr>
              <a:t>PSII:PSI ETR ratios need stoichiometry corrections</a:t>
            </a:r>
            <a:endParaRPr lang="en-US" sz="13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Standard measurement protocols (A, B, C)</a:t>
            </a:r>
            <a:endParaRPr lang="en-US" sz="3200" dirty="0"/>
          </a:p>
        </p:txBody>
      </p:sp>
      <p:sp>
        <p:nvSpPr>
          <p:cNvPr id="4" name="card"/>
          <p:cNvSpPr/>
          <p:nvPr/>
        </p:nvSpPr>
        <p:spPr>
          <a:xfrm>
            <a:off x="548640" y="1325880"/>
            <a:ext cx="3566160" cy="4846320"/>
          </a:xfrm>
          <a:prstGeom prst="roundRect">
            <a:avLst>
              <a:gd name="adj" fmla="val 2051"/>
            </a:avLst>
          </a:prstGeom>
          <a:solidFill>
            <a:schemeClr val="bg2"/>
          </a:solidFill>
          <a:ln/>
          <a:effectLst>
            <a:outerShdw blurRad="76200" dist="25400" dir="5400000" algn="bl" rotWithShape="0">
              <a:srgbClr val="000000">
                <a:alpha val="14000"/>
              </a:srgbClr>
            </a:outerShdw>
          </a:effectLst>
        </p:spPr>
      </p:sp>
      <p:sp>
        <p:nvSpPr>
          <p:cNvPr id="5" name="protocol header"/>
          <p:cNvSpPr/>
          <p:nvPr/>
        </p:nvSpPr>
        <p:spPr>
          <a:xfrm>
            <a:off x="685800" y="1463040"/>
            <a:ext cx="3291840" cy="548640"/>
          </a:xfrm>
          <a:prstGeom prst="roundRect">
            <a:avLst>
              <a:gd name="adj" fmla="val 13333"/>
            </a:avLst>
          </a:prstGeom>
          <a:solidFill>
            <a:schemeClr val="tx2"/>
          </a:solidFill>
          <a:ln/>
        </p:spPr>
      </p:sp>
      <p:sp>
        <p:nvSpPr>
          <p:cNvPr id="6" name="Text 3"/>
          <p:cNvSpPr txBox="1"/>
          <p:nvPr/>
        </p:nvSpPr>
        <p:spPr>
          <a:xfrm>
            <a:off x="685800" y="1463040"/>
            <a:ext cx="3291840" cy="548640"/>
          </a:xfrm>
          <a:prstGeom prst="rect">
            <a:avLst/>
          </a:prstGeom>
          <a:noFill/>
          <a:ln/>
        </p:spPr>
        <p:txBody>
          <a:bodyPr wrap="square" lIns="0" tIns="0" rIns="0" bIns="0" rtlCol="0" anchor="ctr"/>
          <a:lstStyle/>
          <a:p>
            <a:pPr marL="0" indent="0" algn="ctr">
              <a:buNone/>
            </a:pPr>
            <a:r>
              <a:rPr lang="en-US" sz="1800" b="1" dirty="0">
                <a:solidFill>
                  <a:schemeClr val="bg1"/>
                </a:solidFill>
              </a:rPr>
              <a:t>A · F</a:t>
            </a:r>
            <a:r>
              <a:rPr lang="en-US" sz="1800" b="1" baseline="-40000" dirty="0">
                <a:solidFill>
                  <a:schemeClr val="bg1"/>
                </a:solidFill>
              </a:rPr>
              <a:t>v</a:t>
            </a:r>
            <a:r>
              <a:rPr lang="en-US" sz="1800" b="1" dirty="0">
                <a:solidFill>
                  <a:schemeClr val="bg1"/>
                </a:solidFill>
              </a:rPr>
              <a:t>/F</a:t>
            </a:r>
            <a:r>
              <a:rPr lang="en-US" sz="1800" b="1" baseline="-40000" dirty="0">
                <a:solidFill>
                  <a:schemeClr val="bg1"/>
                </a:solidFill>
              </a:rPr>
              <a:t>m</a:t>
            </a:r>
            <a:endParaRPr lang="en-US" sz="1800" dirty="0"/>
          </a:p>
        </p:txBody>
      </p:sp>
      <p:sp>
        <p:nvSpPr>
          <p:cNvPr id="7" name="step"/>
          <p:cNvSpPr/>
          <p:nvPr/>
        </p:nvSpPr>
        <p:spPr>
          <a:xfrm>
            <a:off x="731520" y="2240280"/>
            <a:ext cx="347472" cy="347472"/>
          </a:xfrm>
          <a:prstGeom prst="ellipse">
            <a:avLst/>
          </a:prstGeom>
          <a:solidFill>
            <a:schemeClr val="tx2"/>
          </a:solidFill>
          <a:ln/>
        </p:spPr>
      </p:sp>
      <p:sp>
        <p:nvSpPr>
          <p:cNvPr id="8" name="Text 5"/>
          <p:cNvSpPr txBox="1"/>
          <p:nvPr/>
        </p:nvSpPr>
        <p:spPr>
          <a:xfrm>
            <a:off x="731520" y="2240280"/>
            <a:ext cx="347472" cy="347472"/>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9" name="Text 6"/>
          <p:cNvSpPr txBox="1"/>
          <p:nvPr/>
        </p:nvSpPr>
        <p:spPr>
          <a:xfrm>
            <a:off x="1188720" y="2194560"/>
            <a:ext cx="2788920" cy="502920"/>
          </a:xfrm>
          <a:prstGeom prst="rect">
            <a:avLst/>
          </a:prstGeom>
          <a:noFill/>
          <a:ln/>
        </p:spPr>
        <p:txBody>
          <a:bodyPr wrap="square" lIns="0" tIns="0" rIns="0" bIns="0" rtlCol="0" anchor="ctr"/>
          <a:lstStyle/>
          <a:p>
            <a:pPr marL="0" indent="0">
              <a:buNone/>
            </a:pPr>
            <a:r>
              <a:rPr lang="en-US" sz="1200" dirty="0">
                <a:solidFill>
                  <a:schemeClr val="tx1"/>
                </a:solidFill>
              </a:rPr>
              <a:t>Dark-adapt ≥20 min (leaf clip); keep dark throughout</a:t>
            </a:r>
            <a:endParaRPr lang="en-US" sz="1200" dirty="0"/>
          </a:p>
        </p:txBody>
      </p:sp>
      <p:sp>
        <p:nvSpPr>
          <p:cNvPr id="10" name="step"/>
          <p:cNvSpPr/>
          <p:nvPr/>
        </p:nvSpPr>
        <p:spPr>
          <a:xfrm>
            <a:off x="731520" y="2788920"/>
            <a:ext cx="347472" cy="347472"/>
          </a:xfrm>
          <a:prstGeom prst="ellipse">
            <a:avLst/>
          </a:prstGeom>
          <a:solidFill>
            <a:schemeClr val="tx2"/>
          </a:solidFill>
          <a:ln/>
        </p:spPr>
      </p:sp>
      <p:sp>
        <p:nvSpPr>
          <p:cNvPr id="11" name="Text 8"/>
          <p:cNvSpPr txBox="1"/>
          <p:nvPr/>
        </p:nvSpPr>
        <p:spPr>
          <a:xfrm>
            <a:off x="731520" y="2788920"/>
            <a:ext cx="347472" cy="347472"/>
          </a:xfrm>
          <a:prstGeom prst="rect">
            <a:avLst/>
          </a:prstGeom>
          <a:noFill/>
          <a:ln/>
        </p:spPr>
        <p:txBody>
          <a:bodyPr wrap="square" lIns="0" tIns="0" rIns="0" bIns="0" rtlCol="0" anchor="ctr"/>
          <a:lstStyle/>
          <a:p>
            <a:pPr marL="0" indent="0" algn="ctr">
              <a:buNone/>
            </a:pPr>
            <a:r>
              <a:rPr lang="en-US" sz="1100" b="1" dirty="0">
                <a:solidFill>
                  <a:schemeClr val="bg1"/>
                </a:solidFill>
              </a:rPr>
              <a:t>2</a:t>
            </a:r>
            <a:endParaRPr lang="en-US" sz="1100" dirty="0"/>
          </a:p>
        </p:txBody>
      </p:sp>
      <p:sp>
        <p:nvSpPr>
          <p:cNvPr id="12" name="Text 9"/>
          <p:cNvSpPr txBox="1"/>
          <p:nvPr/>
        </p:nvSpPr>
        <p:spPr>
          <a:xfrm>
            <a:off x="1188720" y="2743200"/>
            <a:ext cx="2788920" cy="502920"/>
          </a:xfrm>
          <a:prstGeom prst="rect">
            <a:avLst/>
          </a:prstGeom>
          <a:noFill/>
          <a:ln/>
        </p:spPr>
        <p:txBody>
          <a:bodyPr wrap="square" lIns="0" tIns="0" rIns="0" bIns="0" rtlCol="0" anchor="ctr"/>
          <a:lstStyle/>
          <a:p>
            <a:pPr marL="0" indent="0">
              <a:buNone/>
            </a:pPr>
            <a:r>
              <a:rPr lang="en-US" sz="1200" dirty="0">
                <a:solidFill>
                  <a:schemeClr val="tx1"/>
                </a:solidFill>
              </a:rPr>
              <a:t>Detector on, measuring beam off: check zero</a:t>
            </a:r>
            <a:endParaRPr lang="en-US" sz="1200" dirty="0"/>
          </a:p>
        </p:txBody>
      </p:sp>
      <p:sp>
        <p:nvSpPr>
          <p:cNvPr id="13" name="step"/>
          <p:cNvSpPr/>
          <p:nvPr/>
        </p:nvSpPr>
        <p:spPr>
          <a:xfrm>
            <a:off x="731520" y="3337560"/>
            <a:ext cx="347472" cy="347472"/>
          </a:xfrm>
          <a:prstGeom prst="ellipse">
            <a:avLst/>
          </a:prstGeom>
          <a:solidFill>
            <a:schemeClr val="tx2"/>
          </a:solidFill>
          <a:ln/>
        </p:spPr>
      </p:sp>
      <p:sp>
        <p:nvSpPr>
          <p:cNvPr id="14" name="Text 11"/>
          <p:cNvSpPr txBox="1"/>
          <p:nvPr/>
        </p:nvSpPr>
        <p:spPr>
          <a:xfrm>
            <a:off x="731520" y="3337560"/>
            <a:ext cx="347472" cy="347472"/>
          </a:xfrm>
          <a:prstGeom prst="rect">
            <a:avLst/>
          </a:prstGeom>
          <a:noFill/>
          <a:ln/>
        </p:spPr>
        <p:txBody>
          <a:bodyPr wrap="square" lIns="0" tIns="0" rIns="0" bIns="0" rtlCol="0" anchor="ctr"/>
          <a:lstStyle/>
          <a:p>
            <a:pPr marL="0" indent="0" algn="ctr">
              <a:buNone/>
            </a:pPr>
            <a:r>
              <a:rPr lang="en-US" sz="1100" b="1" dirty="0">
                <a:solidFill>
                  <a:schemeClr val="bg1"/>
                </a:solidFill>
              </a:rPr>
              <a:t>3</a:t>
            </a:r>
            <a:endParaRPr lang="en-US" sz="1100" dirty="0"/>
          </a:p>
        </p:txBody>
      </p:sp>
      <p:sp>
        <p:nvSpPr>
          <p:cNvPr id="15" name="Text 12"/>
          <p:cNvSpPr txBox="1"/>
          <p:nvPr/>
        </p:nvSpPr>
        <p:spPr>
          <a:xfrm>
            <a:off x="1188720" y="3291840"/>
            <a:ext cx="2788920" cy="502920"/>
          </a:xfrm>
          <a:prstGeom prst="rect">
            <a:avLst/>
          </a:prstGeom>
          <a:noFill/>
          <a:ln/>
        </p:spPr>
        <p:txBody>
          <a:bodyPr wrap="square" lIns="0" tIns="0" rIns="0" bIns="0" rtlCol="0" anchor="ctr"/>
          <a:lstStyle/>
          <a:p>
            <a:pPr marL="0" indent="0">
              <a:buNone/>
            </a:pPr>
            <a:r>
              <a:rPr lang="en-US" sz="1200" dirty="0">
                <a:solidFill>
                  <a:schemeClr val="tx1"/>
                </a:solidFill>
              </a:rPr>
              <a:t>Beam on: check it causes no rise; adjust</a:t>
            </a:r>
            <a:endParaRPr lang="en-US" sz="1200" dirty="0"/>
          </a:p>
        </p:txBody>
      </p:sp>
      <p:sp>
        <p:nvSpPr>
          <p:cNvPr id="16" name="step"/>
          <p:cNvSpPr/>
          <p:nvPr/>
        </p:nvSpPr>
        <p:spPr>
          <a:xfrm>
            <a:off x="731520" y="3886200"/>
            <a:ext cx="347472" cy="347472"/>
          </a:xfrm>
          <a:prstGeom prst="ellipse">
            <a:avLst/>
          </a:prstGeom>
          <a:solidFill>
            <a:schemeClr val="tx2"/>
          </a:solidFill>
          <a:ln/>
        </p:spPr>
      </p:sp>
      <p:sp>
        <p:nvSpPr>
          <p:cNvPr id="17" name="Text 14"/>
          <p:cNvSpPr txBox="1"/>
          <p:nvPr/>
        </p:nvSpPr>
        <p:spPr>
          <a:xfrm>
            <a:off x="731520" y="3886200"/>
            <a:ext cx="347472" cy="347472"/>
          </a:xfrm>
          <a:prstGeom prst="rect">
            <a:avLst/>
          </a:prstGeom>
          <a:noFill/>
          <a:ln/>
        </p:spPr>
        <p:txBody>
          <a:bodyPr wrap="square" lIns="0" tIns="0" rIns="0" bIns="0" rtlCol="0" anchor="ctr"/>
          <a:lstStyle/>
          <a:p>
            <a:pPr marL="0" indent="0" algn="ctr">
              <a:buNone/>
            </a:pPr>
            <a:r>
              <a:rPr lang="en-US" sz="1100" b="1" dirty="0">
                <a:solidFill>
                  <a:schemeClr val="bg1"/>
                </a:solidFill>
              </a:rPr>
              <a:t>4</a:t>
            </a:r>
            <a:endParaRPr lang="en-US" sz="1100" dirty="0"/>
          </a:p>
        </p:txBody>
      </p:sp>
      <p:sp>
        <p:nvSpPr>
          <p:cNvPr id="18" name="Text 15"/>
          <p:cNvSpPr txBox="1"/>
          <p:nvPr/>
        </p:nvSpPr>
        <p:spPr>
          <a:xfrm>
            <a:off x="1188720" y="3840480"/>
            <a:ext cx="2788920" cy="502920"/>
          </a:xfrm>
          <a:prstGeom prst="rect">
            <a:avLst/>
          </a:prstGeom>
          <a:noFill/>
          <a:ln/>
        </p:spPr>
        <p:txBody>
          <a:bodyPr wrap="square" lIns="0" tIns="0" rIns="0" bIns="0" rtlCol="0" anchor="ctr"/>
          <a:lstStyle/>
          <a:p>
            <a:pPr marL="0" indent="0">
              <a:buNone/>
            </a:pPr>
            <a:r>
              <a:rPr lang="en-US" sz="1200" dirty="0">
                <a:solidFill>
                  <a:schemeClr val="tx1"/>
                </a:solidFill>
              </a:rPr>
              <a:t>Measure </a:t>
            </a:r>
            <a:r>
              <a:rPr lang="en-US" sz="1200" b="1" dirty="0">
                <a:solidFill>
                  <a:schemeClr val="tx1"/>
                </a:solidFill>
              </a:rPr>
              <a:t>F</a:t>
            </a:r>
            <a:r>
              <a:rPr lang="en-US" sz="1200" b="1" baseline="-40000" dirty="0">
                <a:solidFill>
                  <a:schemeClr val="tx1"/>
                </a:solidFill>
              </a:rPr>
              <a:t>o</a:t>
            </a:r>
            <a:endParaRPr lang="en-US" sz="1200" dirty="0"/>
          </a:p>
        </p:txBody>
      </p:sp>
      <p:sp>
        <p:nvSpPr>
          <p:cNvPr id="19" name="step"/>
          <p:cNvSpPr/>
          <p:nvPr/>
        </p:nvSpPr>
        <p:spPr>
          <a:xfrm>
            <a:off x="731520" y="4434840"/>
            <a:ext cx="347472" cy="347472"/>
          </a:xfrm>
          <a:prstGeom prst="ellipse">
            <a:avLst/>
          </a:prstGeom>
          <a:solidFill>
            <a:schemeClr val="tx2"/>
          </a:solidFill>
          <a:ln/>
        </p:spPr>
      </p:sp>
      <p:sp>
        <p:nvSpPr>
          <p:cNvPr id="20" name="Text 17"/>
          <p:cNvSpPr txBox="1"/>
          <p:nvPr/>
        </p:nvSpPr>
        <p:spPr>
          <a:xfrm>
            <a:off x="731520" y="4434840"/>
            <a:ext cx="347472" cy="347472"/>
          </a:xfrm>
          <a:prstGeom prst="rect">
            <a:avLst/>
          </a:prstGeom>
          <a:noFill/>
          <a:ln/>
        </p:spPr>
        <p:txBody>
          <a:bodyPr wrap="square" lIns="0" tIns="0" rIns="0" bIns="0" rtlCol="0" anchor="ctr"/>
          <a:lstStyle/>
          <a:p>
            <a:pPr marL="0" indent="0" algn="ctr">
              <a:buNone/>
            </a:pPr>
            <a:r>
              <a:rPr lang="en-US" sz="1100" b="1" dirty="0">
                <a:solidFill>
                  <a:schemeClr val="bg1"/>
                </a:solidFill>
              </a:rPr>
              <a:t>5</a:t>
            </a:r>
            <a:endParaRPr lang="en-US" sz="1100" dirty="0"/>
          </a:p>
        </p:txBody>
      </p:sp>
      <p:sp>
        <p:nvSpPr>
          <p:cNvPr id="21" name="Text 18"/>
          <p:cNvSpPr txBox="1"/>
          <p:nvPr/>
        </p:nvSpPr>
        <p:spPr>
          <a:xfrm>
            <a:off x="1188720" y="4389120"/>
            <a:ext cx="2788920" cy="502920"/>
          </a:xfrm>
          <a:prstGeom prst="rect">
            <a:avLst/>
          </a:prstGeom>
          <a:noFill/>
          <a:ln/>
        </p:spPr>
        <p:txBody>
          <a:bodyPr wrap="square" lIns="0" tIns="0" rIns="0" bIns="0" rtlCol="0" anchor="ctr"/>
          <a:lstStyle/>
          <a:p>
            <a:pPr marL="0" indent="0">
              <a:buNone/>
            </a:pPr>
            <a:r>
              <a:rPr lang="en-US" sz="1200" dirty="0">
                <a:solidFill>
                  <a:schemeClr val="tx1"/>
                </a:solidFill>
              </a:rPr>
              <a:t>Saturating pulse ~0.8 s at ≥4000 µmol m⁻² s⁻¹ → </a:t>
            </a:r>
            <a:r>
              <a:rPr lang="en-US" sz="1200" b="1" dirty="0">
                <a:solidFill>
                  <a:schemeClr val="tx1"/>
                </a:solidFill>
              </a:rPr>
              <a:t>F</a:t>
            </a:r>
            <a:r>
              <a:rPr lang="en-US" sz="1200" b="1" baseline="-40000" dirty="0">
                <a:solidFill>
                  <a:schemeClr val="tx1"/>
                </a:solidFill>
              </a:rPr>
              <a:t>m</a:t>
            </a:r>
            <a:endParaRPr lang="en-US" sz="1200" dirty="0"/>
          </a:p>
        </p:txBody>
      </p:sp>
      <p:sp>
        <p:nvSpPr>
          <p:cNvPr id="22" name="step"/>
          <p:cNvSpPr/>
          <p:nvPr/>
        </p:nvSpPr>
        <p:spPr>
          <a:xfrm>
            <a:off x="731520" y="4983480"/>
            <a:ext cx="347472" cy="347472"/>
          </a:xfrm>
          <a:prstGeom prst="ellipse">
            <a:avLst/>
          </a:prstGeom>
          <a:solidFill>
            <a:schemeClr val="tx2"/>
          </a:solidFill>
          <a:ln/>
        </p:spPr>
      </p:sp>
      <p:sp>
        <p:nvSpPr>
          <p:cNvPr id="23" name="Text 20"/>
          <p:cNvSpPr txBox="1"/>
          <p:nvPr/>
        </p:nvSpPr>
        <p:spPr>
          <a:xfrm>
            <a:off x="731520" y="4983480"/>
            <a:ext cx="347472" cy="347472"/>
          </a:xfrm>
          <a:prstGeom prst="rect">
            <a:avLst/>
          </a:prstGeom>
          <a:noFill/>
          <a:ln/>
        </p:spPr>
        <p:txBody>
          <a:bodyPr wrap="square" lIns="0" tIns="0" rIns="0" bIns="0" rtlCol="0" anchor="ctr"/>
          <a:lstStyle/>
          <a:p>
            <a:pPr marL="0" indent="0" algn="ctr">
              <a:buNone/>
            </a:pPr>
            <a:r>
              <a:rPr lang="en-US" sz="1100" b="1" dirty="0">
                <a:solidFill>
                  <a:schemeClr val="bg1"/>
                </a:solidFill>
              </a:rPr>
              <a:t>6</a:t>
            </a:r>
            <a:endParaRPr lang="en-US" sz="1100" dirty="0"/>
          </a:p>
        </p:txBody>
      </p:sp>
      <p:sp>
        <p:nvSpPr>
          <p:cNvPr id="24" name="Text 21"/>
          <p:cNvSpPr txBox="1"/>
          <p:nvPr/>
        </p:nvSpPr>
        <p:spPr>
          <a:xfrm>
            <a:off x="1188720" y="4937760"/>
            <a:ext cx="2788920" cy="502920"/>
          </a:xfrm>
          <a:prstGeom prst="rect">
            <a:avLst/>
          </a:prstGeom>
          <a:noFill/>
          <a:ln/>
        </p:spPr>
        <p:txBody>
          <a:bodyPr wrap="square" lIns="0" tIns="0" rIns="0" bIns="0" rtlCol="0" anchor="ctr"/>
          <a:lstStyle/>
          <a:p>
            <a:pPr marL="0" indent="0">
              <a:buNone/>
            </a:pPr>
            <a:r>
              <a:rPr lang="en-US" sz="1200" dirty="0">
                <a:solidFill>
                  <a:schemeClr val="tx1"/>
                </a:solidFill>
              </a:rPr>
              <a:t>Check no quenching during pulse</a:t>
            </a:r>
            <a:endParaRPr lang="en-US" sz="1200" dirty="0"/>
          </a:p>
        </p:txBody>
      </p:sp>
      <p:sp>
        <p:nvSpPr>
          <p:cNvPr id="25" name="step"/>
          <p:cNvSpPr/>
          <p:nvPr/>
        </p:nvSpPr>
        <p:spPr>
          <a:xfrm>
            <a:off x="731520" y="5532120"/>
            <a:ext cx="347472" cy="347472"/>
          </a:xfrm>
          <a:prstGeom prst="ellipse">
            <a:avLst/>
          </a:prstGeom>
          <a:solidFill>
            <a:schemeClr val="tx2"/>
          </a:solidFill>
          <a:ln/>
        </p:spPr>
      </p:sp>
      <p:sp>
        <p:nvSpPr>
          <p:cNvPr id="26" name="Text 23"/>
          <p:cNvSpPr txBox="1"/>
          <p:nvPr/>
        </p:nvSpPr>
        <p:spPr>
          <a:xfrm>
            <a:off x="731520" y="5532120"/>
            <a:ext cx="347472" cy="347472"/>
          </a:xfrm>
          <a:prstGeom prst="rect">
            <a:avLst/>
          </a:prstGeom>
          <a:noFill/>
          <a:ln/>
        </p:spPr>
        <p:txBody>
          <a:bodyPr wrap="square" lIns="0" tIns="0" rIns="0" bIns="0" rtlCol="0" anchor="ctr"/>
          <a:lstStyle/>
          <a:p>
            <a:pPr marL="0" indent="0" algn="ctr">
              <a:buNone/>
            </a:pPr>
            <a:r>
              <a:rPr lang="en-US" sz="1100" b="1" dirty="0">
                <a:solidFill>
                  <a:schemeClr val="bg1"/>
                </a:solidFill>
              </a:rPr>
              <a:t>7</a:t>
            </a:r>
            <a:endParaRPr lang="en-US" sz="1100" dirty="0"/>
          </a:p>
        </p:txBody>
      </p:sp>
      <p:sp>
        <p:nvSpPr>
          <p:cNvPr id="27" name="Text 24"/>
          <p:cNvSpPr txBox="1"/>
          <p:nvPr/>
        </p:nvSpPr>
        <p:spPr>
          <a:xfrm>
            <a:off x="1188720" y="5486400"/>
            <a:ext cx="2788920" cy="502920"/>
          </a:xfrm>
          <a:prstGeom prst="rect">
            <a:avLst/>
          </a:prstGeom>
          <a:noFill/>
          <a:ln/>
        </p:spPr>
        <p:txBody>
          <a:bodyPr wrap="square" lIns="0" tIns="0" rIns="0" bIns="0" rtlCol="0" anchor="ctr"/>
          <a:lstStyle/>
          <a:p>
            <a:pPr marL="0" indent="0">
              <a:buNone/>
            </a:pPr>
            <a:r>
              <a:rPr lang="en-US" sz="1200" dirty="0">
                <a:solidFill>
                  <a:schemeClr val="tx1"/>
                </a:solidFill>
              </a:rPr>
              <a:t>Non-stressed control should give 0.81–0.83</a:t>
            </a:r>
            <a:endParaRPr lang="en-US" sz="1200" dirty="0"/>
          </a:p>
        </p:txBody>
      </p:sp>
      <p:sp>
        <p:nvSpPr>
          <p:cNvPr id="28" name="card"/>
          <p:cNvSpPr/>
          <p:nvPr/>
        </p:nvSpPr>
        <p:spPr>
          <a:xfrm>
            <a:off x="4297680" y="1325880"/>
            <a:ext cx="3566160" cy="4846320"/>
          </a:xfrm>
          <a:prstGeom prst="roundRect">
            <a:avLst>
              <a:gd name="adj" fmla="val 2051"/>
            </a:avLst>
          </a:prstGeom>
          <a:solidFill>
            <a:schemeClr val="bg2"/>
          </a:solidFill>
          <a:ln/>
          <a:effectLst>
            <a:outerShdw blurRad="76200" dist="25400" dir="5400000" algn="bl" rotWithShape="0">
              <a:srgbClr val="000000">
                <a:alpha val="14000"/>
              </a:srgbClr>
            </a:outerShdw>
          </a:effectLst>
        </p:spPr>
      </p:sp>
      <p:sp>
        <p:nvSpPr>
          <p:cNvPr id="29" name="protocol header"/>
          <p:cNvSpPr/>
          <p:nvPr/>
        </p:nvSpPr>
        <p:spPr>
          <a:xfrm>
            <a:off x="4434840" y="1463040"/>
            <a:ext cx="3291840" cy="548640"/>
          </a:xfrm>
          <a:prstGeom prst="roundRect">
            <a:avLst>
              <a:gd name="adj" fmla="val 13333"/>
            </a:avLst>
          </a:prstGeom>
          <a:solidFill>
            <a:schemeClr val="accent3"/>
          </a:solidFill>
          <a:ln/>
        </p:spPr>
      </p:sp>
      <p:sp>
        <p:nvSpPr>
          <p:cNvPr id="30" name="Text 27"/>
          <p:cNvSpPr txBox="1"/>
          <p:nvPr/>
        </p:nvSpPr>
        <p:spPr>
          <a:xfrm>
            <a:off x="4434840" y="1463040"/>
            <a:ext cx="3291840" cy="548640"/>
          </a:xfrm>
          <a:prstGeom prst="rect">
            <a:avLst/>
          </a:prstGeom>
          <a:noFill/>
          <a:ln/>
        </p:spPr>
        <p:txBody>
          <a:bodyPr wrap="square" lIns="0" tIns="0" rIns="0" bIns="0" rtlCol="0" anchor="ctr"/>
          <a:lstStyle/>
          <a:p>
            <a:pPr marL="0" indent="0" algn="ctr">
              <a:buNone/>
            </a:pPr>
            <a:r>
              <a:rPr lang="en-US" sz="1800" b="1" dirty="0">
                <a:solidFill>
                  <a:schemeClr val="tx1"/>
                </a:solidFill>
              </a:rPr>
              <a:t>B · Φ</a:t>
            </a:r>
            <a:r>
              <a:rPr lang="en-US" sz="1800" b="1" baseline="-40000" dirty="0">
                <a:solidFill>
                  <a:schemeClr val="tx1"/>
                </a:solidFill>
              </a:rPr>
              <a:t>PSII</a:t>
            </a:r>
            <a:r>
              <a:rPr lang="en-US" sz="1800" b="1" dirty="0">
                <a:solidFill>
                  <a:schemeClr val="tx1"/>
                </a:solidFill>
              </a:rPr>
              <a:t> and NPQ</a:t>
            </a:r>
            <a:endParaRPr lang="en-US" sz="1800" dirty="0"/>
          </a:p>
        </p:txBody>
      </p:sp>
      <p:sp>
        <p:nvSpPr>
          <p:cNvPr id="31" name="step"/>
          <p:cNvSpPr/>
          <p:nvPr/>
        </p:nvSpPr>
        <p:spPr>
          <a:xfrm>
            <a:off x="4480560" y="2240280"/>
            <a:ext cx="347472" cy="347472"/>
          </a:xfrm>
          <a:prstGeom prst="ellipse">
            <a:avLst/>
          </a:prstGeom>
          <a:solidFill>
            <a:schemeClr val="accent3"/>
          </a:solidFill>
          <a:ln/>
        </p:spPr>
      </p:sp>
      <p:sp>
        <p:nvSpPr>
          <p:cNvPr id="32" name="Text 29"/>
          <p:cNvSpPr txBox="1"/>
          <p:nvPr/>
        </p:nvSpPr>
        <p:spPr>
          <a:xfrm>
            <a:off x="4480560" y="2240280"/>
            <a:ext cx="347472" cy="347472"/>
          </a:xfrm>
          <a:prstGeom prst="rect">
            <a:avLst/>
          </a:prstGeom>
          <a:noFill/>
          <a:ln/>
        </p:spPr>
        <p:txBody>
          <a:bodyPr wrap="square" lIns="0" tIns="0" rIns="0" bIns="0" rtlCol="0" anchor="ctr"/>
          <a:lstStyle/>
          <a:p>
            <a:pPr marL="0" indent="0" algn="ctr">
              <a:buNone/>
            </a:pPr>
            <a:r>
              <a:rPr lang="en-US" sz="1100" b="1" dirty="0">
                <a:solidFill>
                  <a:schemeClr val="tx1"/>
                </a:solidFill>
              </a:rPr>
              <a:t>1</a:t>
            </a:r>
            <a:endParaRPr lang="en-US" sz="1100" dirty="0"/>
          </a:p>
        </p:txBody>
      </p:sp>
      <p:sp>
        <p:nvSpPr>
          <p:cNvPr id="33" name="Text 30"/>
          <p:cNvSpPr txBox="1"/>
          <p:nvPr/>
        </p:nvSpPr>
        <p:spPr>
          <a:xfrm>
            <a:off x="4937760" y="2194560"/>
            <a:ext cx="2788920" cy="502920"/>
          </a:xfrm>
          <a:prstGeom prst="rect">
            <a:avLst/>
          </a:prstGeom>
          <a:noFill/>
          <a:ln/>
        </p:spPr>
        <p:txBody>
          <a:bodyPr wrap="square" lIns="0" tIns="0" rIns="0" bIns="0" rtlCol="0" anchor="ctr"/>
          <a:lstStyle/>
          <a:p>
            <a:pPr marL="0" indent="0">
              <a:buNone/>
            </a:pPr>
            <a:r>
              <a:rPr lang="en-US" sz="1200" dirty="0">
                <a:solidFill>
                  <a:schemeClr val="tx1"/>
                </a:solidFill>
              </a:rPr>
              <a:t>Follow A, then switch on actinic light</a:t>
            </a:r>
            <a:endParaRPr lang="en-US" sz="1200" dirty="0"/>
          </a:p>
        </p:txBody>
      </p:sp>
      <p:sp>
        <p:nvSpPr>
          <p:cNvPr id="34" name="step"/>
          <p:cNvSpPr/>
          <p:nvPr/>
        </p:nvSpPr>
        <p:spPr>
          <a:xfrm>
            <a:off x="4480560" y="2788920"/>
            <a:ext cx="347472" cy="347472"/>
          </a:xfrm>
          <a:prstGeom prst="ellipse">
            <a:avLst/>
          </a:prstGeom>
          <a:solidFill>
            <a:schemeClr val="accent3"/>
          </a:solidFill>
          <a:ln/>
        </p:spPr>
      </p:sp>
      <p:sp>
        <p:nvSpPr>
          <p:cNvPr id="35" name="Text 32"/>
          <p:cNvSpPr txBox="1"/>
          <p:nvPr/>
        </p:nvSpPr>
        <p:spPr>
          <a:xfrm>
            <a:off x="4480560" y="2788920"/>
            <a:ext cx="347472" cy="347472"/>
          </a:xfrm>
          <a:prstGeom prst="rect">
            <a:avLst/>
          </a:prstGeom>
          <a:noFill/>
          <a:ln/>
        </p:spPr>
        <p:txBody>
          <a:bodyPr wrap="square" lIns="0" tIns="0" rIns="0" bIns="0" rtlCol="0" anchor="ctr"/>
          <a:lstStyle/>
          <a:p>
            <a:pPr marL="0" indent="0" algn="ctr">
              <a:buNone/>
            </a:pPr>
            <a:r>
              <a:rPr lang="en-US" sz="1100" b="1" dirty="0">
                <a:solidFill>
                  <a:schemeClr val="tx1"/>
                </a:solidFill>
              </a:rPr>
              <a:t>2</a:t>
            </a:r>
            <a:endParaRPr lang="en-US" sz="1100" dirty="0"/>
          </a:p>
        </p:txBody>
      </p:sp>
      <p:sp>
        <p:nvSpPr>
          <p:cNvPr id="36" name="Text 33"/>
          <p:cNvSpPr txBox="1"/>
          <p:nvPr/>
        </p:nvSpPr>
        <p:spPr>
          <a:xfrm>
            <a:off x="4937760" y="2743200"/>
            <a:ext cx="2788920" cy="502920"/>
          </a:xfrm>
          <a:prstGeom prst="rect">
            <a:avLst/>
          </a:prstGeom>
          <a:noFill/>
          <a:ln/>
        </p:spPr>
        <p:txBody>
          <a:bodyPr wrap="square" lIns="0" tIns="0" rIns="0" bIns="0" rtlCol="0" anchor="ctr"/>
          <a:lstStyle/>
          <a:p>
            <a:pPr marL="0" indent="0">
              <a:buNone/>
            </a:pPr>
            <a:r>
              <a:rPr lang="en-US" sz="1200" dirty="0">
                <a:solidFill>
                  <a:schemeClr val="tx1"/>
                </a:solidFill>
              </a:rPr>
              <a:t>Wait for steady state (minutes); record PAR</a:t>
            </a:r>
            <a:endParaRPr lang="en-US" sz="1200" dirty="0"/>
          </a:p>
        </p:txBody>
      </p:sp>
      <p:sp>
        <p:nvSpPr>
          <p:cNvPr id="37" name="step"/>
          <p:cNvSpPr/>
          <p:nvPr/>
        </p:nvSpPr>
        <p:spPr>
          <a:xfrm>
            <a:off x="4480560" y="3337560"/>
            <a:ext cx="347472" cy="347472"/>
          </a:xfrm>
          <a:prstGeom prst="ellipse">
            <a:avLst/>
          </a:prstGeom>
          <a:solidFill>
            <a:schemeClr val="accent3"/>
          </a:solidFill>
          <a:ln/>
        </p:spPr>
      </p:sp>
      <p:sp>
        <p:nvSpPr>
          <p:cNvPr id="38" name="Text 35"/>
          <p:cNvSpPr txBox="1"/>
          <p:nvPr/>
        </p:nvSpPr>
        <p:spPr>
          <a:xfrm>
            <a:off x="4480560" y="3337560"/>
            <a:ext cx="347472" cy="347472"/>
          </a:xfrm>
          <a:prstGeom prst="rect">
            <a:avLst/>
          </a:prstGeom>
          <a:noFill/>
          <a:ln/>
        </p:spPr>
        <p:txBody>
          <a:bodyPr wrap="square" lIns="0" tIns="0" rIns="0" bIns="0" rtlCol="0" anchor="ctr"/>
          <a:lstStyle/>
          <a:p>
            <a:pPr marL="0" indent="0" algn="ctr">
              <a:buNone/>
            </a:pPr>
            <a:r>
              <a:rPr lang="en-US" sz="1100" b="1" dirty="0">
                <a:solidFill>
                  <a:schemeClr val="tx1"/>
                </a:solidFill>
              </a:rPr>
              <a:t>3</a:t>
            </a:r>
            <a:endParaRPr lang="en-US" sz="1100" dirty="0"/>
          </a:p>
        </p:txBody>
      </p:sp>
      <p:sp>
        <p:nvSpPr>
          <p:cNvPr id="39" name="Text 36"/>
          <p:cNvSpPr txBox="1"/>
          <p:nvPr/>
        </p:nvSpPr>
        <p:spPr>
          <a:xfrm>
            <a:off x="4937760" y="3291840"/>
            <a:ext cx="2788920" cy="502920"/>
          </a:xfrm>
          <a:prstGeom prst="rect">
            <a:avLst/>
          </a:prstGeom>
          <a:noFill/>
          <a:ln/>
        </p:spPr>
        <p:txBody>
          <a:bodyPr wrap="square" lIns="0" tIns="0" rIns="0" bIns="0" rtlCol="0" anchor="ctr"/>
          <a:lstStyle/>
          <a:p>
            <a:pPr marL="0" indent="0">
              <a:buNone/>
            </a:pPr>
            <a:r>
              <a:rPr lang="en-US" sz="1200" dirty="0">
                <a:solidFill>
                  <a:schemeClr val="tx1"/>
                </a:solidFill>
              </a:rPr>
              <a:t>If ambient light: wait until F′ is stable</a:t>
            </a:r>
            <a:endParaRPr lang="en-US" sz="1200" dirty="0"/>
          </a:p>
        </p:txBody>
      </p:sp>
      <p:sp>
        <p:nvSpPr>
          <p:cNvPr id="40" name="step"/>
          <p:cNvSpPr/>
          <p:nvPr/>
        </p:nvSpPr>
        <p:spPr>
          <a:xfrm>
            <a:off x="4480560" y="3886200"/>
            <a:ext cx="347472" cy="347472"/>
          </a:xfrm>
          <a:prstGeom prst="ellipse">
            <a:avLst/>
          </a:prstGeom>
          <a:solidFill>
            <a:schemeClr val="accent3"/>
          </a:solidFill>
          <a:ln/>
        </p:spPr>
      </p:sp>
      <p:sp>
        <p:nvSpPr>
          <p:cNvPr id="41" name="Text 38"/>
          <p:cNvSpPr txBox="1"/>
          <p:nvPr/>
        </p:nvSpPr>
        <p:spPr>
          <a:xfrm>
            <a:off x="4480560" y="3886200"/>
            <a:ext cx="347472" cy="347472"/>
          </a:xfrm>
          <a:prstGeom prst="rect">
            <a:avLst/>
          </a:prstGeom>
          <a:noFill/>
          <a:ln/>
        </p:spPr>
        <p:txBody>
          <a:bodyPr wrap="square" lIns="0" tIns="0" rIns="0" bIns="0" rtlCol="0" anchor="ctr"/>
          <a:lstStyle/>
          <a:p>
            <a:pPr marL="0" indent="0" algn="ctr">
              <a:buNone/>
            </a:pPr>
            <a:r>
              <a:rPr lang="en-US" sz="1100" b="1" dirty="0">
                <a:solidFill>
                  <a:schemeClr val="tx1"/>
                </a:solidFill>
              </a:rPr>
              <a:t>4</a:t>
            </a:r>
            <a:endParaRPr lang="en-US" sz="1100" dirty="0"/>
          </a:p>
        </p:txBody>
      </p:sp>
      <p:sp>
        <p:nvSpPr>
          <p:cNvPr id="42" name="Text 39"/>
          <p:cNvSpPr txBox="1"/>
          <p:nvPr/>
        </p:nvSpPr>
        <p:spPr>
          <a:xfrm>
            <a:off x="4937760" y="3840480"/>
            <a:ext cx="2788920" cy="502920"/>
          </a:xfrm>
          <a:prstGeom prst="rect">
            <a:avLst/>
          </a:prstGeom>
          <a:noFill/>
          <a:ln/>
        </p:spPr>
        <p:txBody>
          <a:bodyPr wrap="square" lIns="0" tIns="0" rIns="0" bIns="0" rtlCol="0" anchor="ctr"/>
          <a:lstStyle/>
          <a:p>
            <a:pPr marL="0" indent="0">
              <a:buNone/>
            </a:pPr>
            <a:r>
              <a:rPr lang="en-US" sz="1200" dirty="0">
                <a:solidFill>
                  <a:schemeClr val="tx1"/>
                </a:solidFill>
              </a:rPr>
              <a:t>Apply saturating pulse → </a:t>
            </a:r>
            <a:r>
              <a:rPr lang="en-US" sz="1200" b="1" dirty="0">
                <a:solidFill>
                  <a:schemeClr val="tx1"/>
                </a:solidFill>
              </a:rPr>
              <a:t>F</a:t>
            </a:r>
            <a:r>
              <a:rPr lang="en-US" sz="1200" b="1" baseline="-40000" dirty="0">
                <a:solidFill>
                  <a:schemeClr val="tx1"/>
                </a:solidFill>
              </a:rPr>
              <a:t>m</a:t>
            </a:r>
            <a:r>
              <a:rPr lang="en-US" sz="1200" b="1" dirty="0">
                <a:solidFill>
                  <a:schemeClr val="tx1"/>
                </a:solidFill>
              </a:rPr>
              <a:t>′</a:t>
            </a:r>
            <a:endParaRPr lang="en-US" sz="1200" dirty="0"/>
          </a:p>
        </p:txBody>
      </p:sp>
      <p:sp>
        <p:nvSpPr>
          <p:cNvPr id="43" name="step"/>
          <p:cNvSpPr/>
          <p:nvPr/>
        </p:nvSpPr>
        <p:spPr>
          <a:xfrm>
            <a:off x="4480560" y="4434840"/>
            <a:ext cx="347472" cy="347472"/>
          </a:xfrm>
          <a:prstGeom prst="ellipse">
            <a:avLst/>
          </a:prstGeom>
          <a:solidFill>
            <a:schemeClr val="accent3"/>
          </a:solidFill>
          <a:ln/>
        </p:spPr>
      </p:sp>
      <p:sp>
        <p:nvSpPr>
          <p:cNvPr id="44" name="Text 41"/>
          <p:cNvSpPr txBox="1"/>
          <p:nvPr/>
        </p:nvSpPr>
        <p:spPr>
          <a:xfrm>
            <a:off x="4480560" y="4434840"/>
            <a:ext cx="347472" cy="347472"/>
          </a:xfrm>
          <a:prstGeom prst="rect">
            <a:avLst/>
          </a:prstGeom>
          <a:noFill/>
          <a:ln/>
        </p:spPr>
        <p:txBody>
          <a:bodyPr wrap="square" lIns="0" tIns="0" rIns="0" bIns="0" rtlCol="0" anchor="ctr"/>
          <a:lstStyle/>
          <a:p>
            <a:pPr marL="0" indent="0" algn="ctr">
              <a:buNone/>
            </a:pPr>
            <a:r>
              <a:rPr lang="en-US" sz="1100" b="1" dirty="0">
                <a:solidFill>
                  <a:schemeClr val="tx1"/>
                </a:solidFill>
              </a:rPr>
              <a:t>5</a:t>
            </a:r>
            <a:endParaRPr lang="en-US" sz="1100" dirty="0"/>
          </a:p>
        </p:txBody>
      </p:sp>
      <p:sp>
        <p:nvSpPr>
          <p:cNvPr id="45" name="Text 42"/>
          <p:cNvSpPr txBox="1"/>
          <p:nvPr/>
        </p:nvSpPr>
        <p:spPr>
          <a:xfrm>
            <a:off x="4937760" y="4389120"/>
            <a:ext cx="2788920" cy="502920"/>
          </a:xfrm>
          <a:prstGeom prst="rect">
            <a:avLst/>
          </a:prstGeom>
          <a:noFill/>
          <a:ln/>
        </p:spPr>
        <p:txBody>
          <a:bodyPr wrap="square" lIns="0" tIns="0" rIns="0" bIns="0" rtlCol="0" anchor="ctr"/>
          <a:lstStyle/>
          <a:p>
            <a:pPr marL="0" indent="0">
              <a:buNone/>
            </a:pPr>
            <a:r>
              <a:rPr lang="en-US" sz="1200" dirty="0">
                <a:solidFill>
                  <a:schemeClr val="tx1"/>
                </a:solidFill>
              </a:rPr>
              <a:t>NPQ needs dark-adapted F</a:t>
            </a:r>
            <a:r>
              <a:rPr lang="en-US" sz="1200" baseline="-40000" dirty="0">
                <a:solidFill>
                  <a:schemeClr val="tx1"/>
                </a:solidFill>
              </a:rPr>
              <a:t>m</a:t>
            </a:r>
            <a:r>
              <a:rPr lang="en-US" sz="1200" dirty="0">
                <a:solidFill>
                  <a:schemeClr val="tx1"/>
                </a:solidFill>
              </a:rPr>
              <a:t> from A</a:t>
            </a:r>
            <a:endParaRPr lang="en-US" sz="1200" dirty="0"/>
          </a:p>
        </p:txBody>
      </p:sp>
      <p:sp>
        <p:nvSpPr>
          <p:cNvPr id="46" name="step"/>
          <p:cNvSpPr/>
          <p:nvPr/>
        </p:nvSpPr>
        <p:spPr>
          <a:xfrm>
            <a:off x="4480560" y="4983480"/>
            <a:ext cx="347472" cy="347472"/>
          </a:xfrm>
          <a:prstGeom prst="ellipse">
            <a:avLst/>
          </a:prstGeom>
          <a:solidFill>
            <a:schemeClr val="accent3"/>
          </a:solidFill>
          <a:ln/>
        </p:spPr>
      </p:sp>
      <p:sp>
        <p:nvSpPr>
          <p:cNvPr id="47" name="Text 44"/>
          <p:cNvSpPr txBox="1"/>
          <p:nvPr/>
        </p:nvSpPr>
        <p:spPr>
          <a:xfrm>
            <a:off x="4480560" y="4983480"/>
            <a:ext cx="347472" cy="347472"/>
          </a:xfrm>
          <a:prstGeom prst="rect">
            <a:avLst/>
          </a:prstGeom>
          <a:noFill/>
          <a:ln/>
        </p:spPr>
        <p:txBody>
          <a:bodyPr wrap="square" lIns="0" tIns="0" rIns="0" bIns="0" rtlCol="0" anchor="ctr"/>
          <a:lstStyle/>
          <a:p>
            <a:pPr marL="0" indent="0" algn="ctr">
              <a:buNone/>
            </a:pPr>
            <a:r>
              <a:rPr lang="en-US" sz="1100" b="1" dirty="0">
                <a:solidFill>
                  <a:schemeClr val="tx1"/>
                </a:solidFill>
              </a:rPr>
              <a:t>6</a:t>
            </a:r>
            <a:endParaRPr lang="en-US" sz="1100" dirty="0"/>
          </a:p>
        </p:txBody>
      </p:sp>
      <p:sp>
        <p:nvSpPr>
          <p:cNvPr id="48" name="Text 45"/>
          <p:cNvSpPr txBox="1"/>
          <p:nvPr/>
        </p:nvSpPr>
        <p:spPr>
          <a:xfrm>
            <a:off x="4937760" y="4937760"/>
            <a:ext cx="2788920" cy="502920"/>
          </a:xfrm>
          <a:prstGeom prst="rect">
            <a:avLst/>
          </a:prstGeom>
          <a:noFill/>
          <a:ln/>
        </p:spPr>
        <p:txBody>
          <a:bodyPr wrap="square" lIns="0" tIns="0" rIns="0" bIns="0" rtlCol="0" anchor="ctr"/>
          <a:lstStyle/>
          <a:p>
            <a:pPr marL="0" indent="0">
              <a:buNone/>
            </a:pPr>
            <a:r>
              <a:rPr lang="en-US" sz="1200" dirty="0">
                <a:solidFill>
                  <a:schemeClr val="tx1"/>
                </a:solidFill>
              </a:rPr>
              <a:t>Calculate using Table 1</a:t>
            </a:r>
            <a:endParaRPr lang="en-US" sz="1200" dirty="0"/>
          </a:p>
        </p:txBody>
      </p:sp>
      <p:sp>
        <p:nvSpPr>
          <p:cNvPr id="49" name="card"/>
          <p:cNvSpPr/>
          <p:nvPr/>
        </p:nvSpPr>
        <p:spPr>
          <a:xfrm>
            <a:off x="8046720" y="1325880"/>
            <a:ext cx="3566160" cy="4846320"/>
          </a:xfrm>
          <a:prstGeom prst="roundRect">
            <a:avLst>
              <a:gd name="adj" fmla="val 2051"/>
            </a:avLst>
          </a:prstGeom>
          <a:solidFill>
            <a:schemeClr val="bg2"/>
          </a:solidFill>
          <a:ln/>
          <a:effectLst>
            <a:outerShdw blurRad="76200" dist="25400" dir="5400000" algn="bl" rotWithShape="0">
              <a:srgbClr val="000000">
                <a:alpha val="14000"/>
              </a:srgbClr>
            </a:outerShdw>
          </a:effectLst>
        </p:spPr>
      </p:sp>
      <p:sp>
        <p:nvSpPr>
          <p:cNvPr id="50" name="protocol header"/>
          <p:cNvSpPr/>
          <p:nvPr/>
        </p:nvSpPr>
        <p:spPr>
          <a:xfrm>
            <a:off x="8183880" y="1463040"/>
            <a:ext cx="3291840" cy="548640"/>
          </a:xfrm>
          <a:prstGeom prst="roundRect">
            <a:avLst>
              <a:gd name="adj" fmla="val 13333"/>
            </a:avLst>
          </a:prstGeom>
          <a:solidFill>
            <a:schemeClr val="accent5"/>
          </a:solidFill>
          <a:ln/>
        </p:spPr>
      </p:sp>
      <p:sp>
        <p:nvSpPr>
          <p:cNvPr id="51" name="Text 48"/>
          <p:cNvSpPr txBox="1"/>
          <p:nvPr/>
        </p:nvSpPr>
        <p:spPr>
          <a:xfrm>
            <a:off x="8183880" y="1463040"/>
            <a:ext cx="3291840" cy="548640"/>
          </a:xfrm>
          <a:prstGeom prst="rect">
            <a:avLst/>
          </a:prstGeom>
          <a:noFill/>
          <a:ln/>
        </p:spPr>
        <p:txBody>
          <a:bodyPr wrap="square" lIns="0" tIns="0" rIns="0" bIns="0" rtlCol="0" anchor="ctr"/>
          <a:lstStyle/>
          <a:p>
            <a:pPr marL="0" indent="0" algn="ctr">
              <a:buNone/>
            </a:pPr>
            <a:r>
              <a:rPr lang="en-US" sz="1800" b="1" dirty="0">
                <a:solidFill>
                  <a:schemeClr val="bg1"/>
                </a:solidFill>
              </a:rPr>
              <a:t>C · qP (F</a:t>
            </a:r>
            <a:r>
              <a:rPr lang="en-US" sz="1800" b="1" baseline="-40000" dirty="0">
                <a:solidFill>
                  <a:schemeClr val="bg1"/>
                </a:solidFill>
              </a:rPr>
              <a:t>q</a:t>
            </a:r>
            <a:r>
              <a:rPr lang="en-US" sz="1800" b="1" dirty="0">
                <a:solidFill>
                  <a:schemeClr val="bg1"/>
                </a:solidFill>
              </a:rPr>
              <a:t>′/F</a:t>
            </a:r>
            <a:r>
              <a:rPr lang="en-US" sz="1800" b="1" baseline="-40000" dirty="0">
                <a:solidFill>
                  <a:schemeClr val="bg1"/>
                </a:solidFill>
              </a:rPr>
              <a:t>v</a:t>
            </a:r>
            <a:r>
              <a:rPr lang="en-US" sz="1800" b="1" dirty="0">
                <a:solidFill>
                  <a:schemeClr val="bg1"/>
                </a:solidFill>
              </a:rPr>
              <a:t>′)</a:t>
            </a:r>
            <a:endParaRPr lang="en-US" sz="1800" dirty="0"/>
          </a:p>
        </p:txBody>
      </p:sp>
      <p:sp>
        <p:nvSpPr>
          <p:cNvPr id="52" name="step"/>
          <p:cNvSpPr/>
          <p:nvPr/>
        </p:nvSpPr>
        <p:spPr>
          <a:xfrm>
            <a:off x="8229600" y="2240280"/>
            <a:ext cx="347472" cy="347472"/>
          </a:xfrm>
          <a:prstGeom prst="ellipse">
            <a:avLst/>
          </a:prstGeom>
          <a:solidFill>
            <a:schemeClr val="accent5"/>
          </a:solidFill>
          <a:ln/>
        </p:spPr>
      </p:sp>
      <p:sp>
        <p:nvSpPr>
          <p:cNvPr id="53" name="Text 50"/>
          <p:cNvSpPr txBox="1"/>
          <p:nvPr/>
        </p:nvSpPr>
        <p:spPr>
          <a:xfrm>
            <a:off x="8229600" y="2240280"/>
            <a:ext cx="347472" cy="347472"/>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54" name="Text 51"/>
          <p:cNvSpPr txBox="1"/>
          <p:nvPr/>
        </p:nvSpPr>
        <p:spPr>
          <a:xfrm>
            <a:off x="8686800" y="2194560"/>
            <a:ext cx="2788920" cy="502920"/>
          </a:xfrm>
          <a:prstGeom prst="rect">
            <a:avLst/>
          </a:prstGeom>
          <a:noFill/>
          <a:ln/>
        </p:spPr>
        <p:txBody>
          <a:bodyPr wrap="square" lIns="0" tIns="0" rIns="0" bIns="0" rtlCol="0" anchor="ctr"/>
          <a:lstStyle/>
          <a:p>
            <a:pPr marL="0" indent="0">
              <a:buNone/>
            </a:pPr>
            <a:r>
              <a:rPr lang="en-US" sz="1200" dirty="0">
                <a:solidFill>
                  <a:schemeClr val="tx1"/>
                </a:solidFill>
              </a:rPr>
              <a:t>As B, but F</a:t>
            </a:r>
            <a:r>
              <a:rPr lang="en-US" sz="1200" baseline="-40000" dirty="0">
                <a:solidFill>
                  <a:schemeClr val="tx1"/>
                </a:solidFill>
              </a:rPr>
              <a:t>o</a:t>
            </a:r>
            <a:r>
              <a:rPr lang="en-US" sz="1200" dirty="0">
                <a:solidFill>
                  <a:schemeClr val="tx1"/>
                </a:solidFill>
              </a:rPr>
              <a:t>′ is also needed</a:t>
            </a:r>
            <a:endParaRPr lang="en-US" sz="1200" dirty="0"/>
          </a:p>
        </p:txBody>
      </p:sp>
      <p:sp>
        <p:nvSpPr>
          <p:cNvPr id="55" name="step"/>
          <p:cNvSpPr/>
          <p:nvPr/>
        </p:nvSpPr>
        <p:spPr>
          <a:xfrm>
            <a:off x="8229600" y="2788920"/>
            <a:ext cx="347472" cy="347472"/>
          </a:xfrm>
          <a:prstGeom prst="ellipse">
            <a:avLst/>
          </a:prstGeom>
          <a:solidFill>
            <a:schemeClr val="accent5"/>
          </a:solidFill>
          <a:ln/>
        </p:spPr>
      </p:sp>
      <p:sp>
        <p:nvSpPr>
          <p:cNvPr id="56" name="Text 53"/>
          <p:cNvSpPr txBox="1"/>
          <p:nvPr/>
        </p:nvSpPr>
        <p:spPr>
          <a:xfrm>
            <a:off x="8229600" y="2788920"/>
            <a:ext cx="347472" cy="347472"/>
          </a:xfrm>
          <a:prstGeom prst="rect">
            <a:avLst/>
          </a:prstGeom>
          <a:noFill/>
          <a:ln/>
        </p:spPr>
        <p:txBody>
          <a:bodyPr wrap="square" lIns="0" tIns="0" rIns="0" bIns="0" rtlCol="0" anchor="ctr"/>
          <a:lstStyle/>
          <a:p>
            <a:pPr marL="0" indent="0" algn="ctr">
              <a:buNone/>
            </a:pPr>
            <a:r>
              <a:rPr lang="en-US" sz="1100" b="1" dirty="0">
                <a:solidFill>
                  <a:schemeClr val="bg1"/>
                </a:solidFill>
              </a:rPr>
              <a:t>2</a:t>
            </a:r>
            <a:endParaRPr lang="en-US" sz="1100" dirty="0"/>
          </a:p>
        </p:txBody>
      </p:sp>
      <p:sp>
        <p:nvSpPr>
          <p:cNvPr id="57" name="Text 54"/>
          <p:cNvSpPr txBox="1"/>
          <p:nvPr/>
        </p:nvSpPr>
        <p:spPr>
          <a:xfrm>
            <a:off x="8686800" y="2743200"/>
            <a:ext cx="2788920" cy="502920"/>
          </a:xfrm>
          <a:prstGeom prst="rect">
            <a:avLst/>
          </a:prstGeom>
          <a:noFill/>
          <a:ln/>
        </p:spPr>
        <p:txBody>
          <a:bodyPr wrap="square" lIns="0" tIns="0" rIns="0" bIns="0" rtlCol="0" anchor="ctr"/>
          <a:lstStyle/>
          <a:p>
            <a:pPr marL="0" indent="0">
              <a:buNone/>
            </a:pPr>
            <a:r>
              <a:rPr lang="en-US" sz="1200" dirty="0">
                <a:solidFill>
                  <a:schemeClr val="tx1"/>
                </a:solidFill>
              </a:rPr>
              <a:t>After the pulse switch actinic off</a:t>
            </a:r>
            <a:endParaRPr lang="en-US" sz="1200" dirty="0"/>
          </a:p>
        </p:txBody>
      </p:sp>
      <p:sp>
        <p:nvSpPr>
          <p:cNvPr id="58" name="step"/>
          <p:cNvSpPr/>
          <p:nvPr/>
        </p:nvSpPr>
        <p:spPr>
          <a:xfrm>
            <a:off x="8229600" y="3337560"/>
            <a:ext cx="347472" cy="347472"/>
          </a:xfrm>
          <a:prstGeom prst="ellipse">
            <a:avLst/>
          </a:prstGeom>
          <a:solidFill>
            <a:schemeClr val="accent5"/>
          </a:solidFill>
          <a:ln/>
        </p:spPr>
      </p:sp>
      <p:sp>
        <p:nvSpPr>
          <p:cNvPr id="59" name="Text 56"/>
          <p:cNvSpPr txBox="1"/>
          <p:nvPr/>
        </p:nvSpPr>
        <p:spPr>
          <a:xfrm>
            <a:off x="8229600" y="3337560"/>
            <a:ext cx="347472" cy="347472"/>
          </a:xfrm>
          <a:prstGeom prst="rect">
            <a:avLst/>
          </a:prstGeom>
          <a:noFill/>
          <a:ln/>
        </p:spPr>
        <p:txBody>
          <a:bodyPr wrap="square" lIns="0" tIns="0" rIns="0" bIns="0" rtlCol="0" anchor="ctr"/>
          <a:lstStyle/>
          <a:p>
            <a:pPr marL="0" indent="0" algn="ctr">
              <a:buNone/>
            </a:pPr>
            <a:r>
              <a:rPr lang="en-US" sz="1100" b="1" dirty="0">
                <a:solidFill>
                  <a:schemeClr val="bg1"/>
                </a:solidFill>
              </a:rPr>
              <a:t>3</a:t>
            </a:r>
            <a:endParaRPr lang="en-US" sz="1100" dirty="0"/>
          </a:p>
        </p:txBody>
      </p:sp>
      <p:sp>
        <p:nvSpPr>
          <p:cNvPr id="60" name="Text 57"/>
          <p:cNvSpPr txBox="1"/>
          <p:nvPr/>
        </p:nvSpPr>
        <p:spPr>
          <a:xfrm>
            <a:off x="8686800" y="3291840"/>
            <a:ext cx="2788920" cy="502920"/>
          </a:xfrm>
          <a:prstGeom prst="rect">
            <a:avLst/>
          </a:prstGeom>
          <a:noFill/>
          <a:ln/>
        </p:spPr>
        <p:txBody>
          <a:bodyPr wrap="square" lIns="0" tIns="0" rIns="0" bIns="0" rtlCol="0" anchor="ctr"/>
          <a:lstStyle/>
          <a:p>
            <a:pPr marL="0" indent="0">
              <a:buNone/>
            </a:pPr>
            <a:r>
              <a:rPr lang="en-US" sz="1200" dirty="0">
                <a:solidFill>
                  <a:schemeClr val="tx1"/>
                </a:solidFill>
              </a:rPr>
              <a:t>Measure </a:t>
            </a:r>
            <a:r>
              <a:rPr lang="en-US" sz="1200" b="1" dirty="0">
                <a:solidFill>
                  <a:schemeClr val="tx1"/>
                </a:solidFill>
              </a:rPr>
              <a:t>F</a:t>
            </a:r>
            <a:r>
              <a:rPr lang="en-US" sz="1200" b="1" baseline="-40000" dirty="0">
                <a:solidFill>
                  <a:schemeClr val="tx1"/>
                </a:solidFill>
              </a:rPr>
              <a:t>o</a:t>
            </a:r>
            <a:r>
              <a:rPr lang="en-US" sz="1200" b="1" dirty="0">
                <a:solidFill>
                  <a:schemeClr val="tx1"/>
                </a:solidFill>
              </a:rPr>
              <a:t>′</a:t>
            </a:r>
            <a:r>
              <a:rPr lang="en-US" sz="1200" dirty="0">
                <a:solidFill>
                  <a:schemeClr val="tx1"/>
                </a:solidFill>
              </a:rPr>
              <a:t> after a few seconds</a:t>
            </a:r>
            <a:endParaRPr lang="en-US" sz="1200" dirty="0"/>
          </a:p>
        </p:txBody>
      </p:sp>
      <p:sp>
        <p:nvSpPr>
          <p:cNvPr id="61" name="step"/>
          <p:cNvSpPr/>
          <p:nvPr/>
        </p:nvSpPr>
        <p:spPr>
          <a:xfrm>
            <a:off x="8229600" y="3886200"/>
            <a:ext cx="347472" cy="347472"/>
          </a:xfrm>
          <a:prstGeom prst="ellipse">
            <a:avLst/>
          </a:prstGeom>
          <a:solidFill>
            <a:schemeClr val="accent5"/>
          </a:solidFill>
          <a:ln/>
        </p:spPr>
      </p:sp>
      <p:sp>
        <p:nvSpPr>
          <p:cNvPr id="62" name="Text 59"/>
          <p:cNvSpPr txBox="1"/>
          <p:nvPr/>
        </p:nvSpPr>
        <p:spPr>
          <a:xfrm>
            <a:off x="8229600" y="3886200"/>
            <a:ext cx="347472" cy="347472"/>
          </a:xfrm>
          <a:prstGeom prst="rect">
            <a:avLst/>
          </a:prstGeom>
          <a:noFill/>
          <a:ln/>
        </p:spPr>
        <p:txBody>
          <a:bodyPr wrap="square" lIns="0" tIns="0" rIns="0" bIns="0" rtlCol="0" anchor="ctr"/>
          <a:lstStyle/>
          <a:p>
            <a:pPr marL="0" indent="0" algn="ctr">
              <a:buNone/>
            </a:pPr>
            <a:r>
              <a:rPr lang="en-US" sz="1100" b="1" dirty="0">
                <a:solidFill>
                  <a:schemeClr val="bg1"/>
                </a:solidFill>
              </a:rPr>
              <a:t>4</a:t>
            </a:r>
            <a:endParaRPr lang="en-US" sz="1100" dirty="0"/>
          </a:p>
        </p:txBody>
      </p:sp>
      <p:sp>
        <p:nvSpPr>
          <p:cNvPr id="63" name="Text 60"/>
          <p:cNvSpPr txBox="1"/>
          <p:nvPr/>
        </p:nvSpPr>
        <p:spPr>
          <a:xfrm>
            <a:off x="8686800" y="3840480"/>
            <a:ext cx="2788920" cy="502920"/>
          </a:xfrm>
          <a:prstGeom prst="rect">
            <a:avLst/>
          </a:prstGeom>
          <a:noFill/>
          <a:ln/>
        </p:spPr>
        <p:txBody>
          <a:bodyPr wrap="square" lIns="0" tIns="0" rIns="0" bIns="0" rtlCol="0" anchor="ctr"/>
          <a:lstStyle/>
          <a:p>
            <a:pPr marL="0" indent="0">
              <a:buNone/>
            </a:pPr>
            <a:r>
              <a:rPr lang="en-US" sz="1200" dirty="0">
                <a:solidFill>
                  <a:schemeClr val="tx1"/>
                </a:solidFill>
              </a:rPr>
              <a:t>Use far-red to oxidise PSI, Q</a:t>
            </a:r>
            <a:r>
              <a:rPr lang="en-US" sz="1200" baseline="-40000" dirty="0">
                <a:solidFill>
                  <a:schemeClr val="tx1"/>
                </a:solidFill>
              </a:rPr>
              <a:t>A</a:t>
            </a:r>
            <a:r>
              <a:rPr lang="en-US" sz="1200" dirty="0">
                <a:solidFill>
                  <a:schemeClr val="tx1"/>
                </a:solidFill>
              </a:rPr>
              <a:t> and carriers</a:t>
            </a:r>
            <a:endParaRPr lang="en-US" sz="1200" dirty="0"/>
          </a:p>
        </p:txBody>
      </p:sp>
      <p:sp>
        <p:nvSpPr>
          <p:cNvPr id="64" name="step"/>
          <p:cNvSpPr/>
          <p:nvPr/>
        </p:nvSpPr>
        <p:spPr>
          <a:xfrm>
            <a:off x="8229600" y="4434840"/>
            <a:ext cx="347472" cy="347472"/>
          </a:xfrm>
          <a:prstGeom prst="ellipse">
            <a:avLst/>
          </a:prstGeom>
          <a:solidFill>
            <a:schemeClr val="accent5"/>
          </a:solidFill>
          <a:ln/>
        </p:spPr>
      </p:sp>
      <p:sp>
        <p:nvSpPr>
          <p:cNvPr id="65" name="Text 62"/>
          <p:cNvSpPr txBox="1"/>
          <p:nvPr/>
        </p:nvSpPr>
        <p:spPr>
          <a:xfrm>
            <a:off x="8229600" y="4434840"/>
            <a:ext cx="347472" cy="347472"/>
          </a:xfrm>
          <a:prstGeom prst="rect">
            <a:avLst/>
          </a:prstGeom>
          <a:noFill/>
          <a:ln/>
        </p:spPr>
        <p:txBody>
          <a:bodyPr wrap="square" lIns="0" tIns="0" rIns="0" bIns="0" rtlCol="0" anchor="ctr"/>
          <a:lstStyle/>
          <a:p>
            <a:pPr marL="0" indent="0" algn="ctr">
              <a:buNone/>
            </a:pPr>
            <a:r>
              <a:rPr lang="en-US" sz="1100" b="1" dirty="0">
                <a:solidFill>
                  <a:schemeClr val="bg1"/>
                </a:solidFill>
              </a:rPr>
              <a:t>5</a:t>
            </a:r>
            <a:endParaRPr lang="en-US" sz="1100" dirty="0"/>
          </a:p>
        </p:txBody>
      </p:sp>
      <p:sp>
        <p:nvSpPr>
          <p:cNvPr id="66" name="Text 63"/>
          <p:cNvSpPr txBox="1"/>
          <p:nvPr/>
        </p:nvSpPr>
        <p:spPr>
          <a:xfrm>
            <a:off x="8686800" y="4389120"/>
            <a:ext cx="2788920" cy="502920"/>
          </a:xfrm>
          <a:prstGeom prst="rect">
            <a:avLst/>
          </a:prstGeom>
          <a:noFill/>
          <a:ln/>
        </p:spPr>
        <p:txBody>
          <a:bodyPr wrap="square" lIns="0" tIns="0" rIns="0" bIns="0" rtlCol="0" anchor="ctr"/>
          <a:lstStyle/>
          <a:p>
            <a:pPr marL="0" indent="0">
              <a:buNone/>
            </a:pPr>
            <a:r>
              <a:rPr lang="en-US" sz="1200" dirty="0">
                <a:solidFill>
                  <a:schemeClr val="tx1"/>
                </a:solidFill>
              </a:rPr>
              <a:t>Or calculate F</a:t>
            </a:r>
            <a:r>
              <a:rPr lang="en-US" sz="1200" baseline="-40000" dirty="0">
                <a:solidFill>
                  <a:schemeClr val="tx1"/>
                </a:solidFill>
              </a:rPr>
              <a:t>o</a:t>
            </a:r>
            <a:r>
              <a:rPr lang="en-US" sz="1200" dirty="0">
                <a:solidFill>
                  <a:schemeClr val="tx1"/>
                </a:solidFill>
              </a:rPr>
              <a:t>′ from F</a:t>
            </a:r>
            <a:r>
              <a:rPr lang="en-US" sz="1200" baseline="-40000" dirty="0">
                <a:solidFill>
                  <a:schemeClr val="tx1"/>
                </a:solidFill>
              </a:rPr>
              <a:t>o</a:t>
            </a:r>
            <a:r>
              <a:rPr lang="en-US" sz="1200" dirty="0">
                <a:solidFill>
                  <a:schemeClr val="tx1"/>
                </a:solidFill>
              </a:rPr>
              <a:t> (Oxborough &amp; Baker)</a:t>
            </a:r>
            <a:endParaRPr lang="en-US" sz="12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514600"/>
            <a:ext cx="7680960" cy="1188720"/>
          </a:xfrm>
          <a:prstGeom prst="rect">
            <a:avLst/>
          </a:prstGeom>
          <a:noFill/>
          <a:ln/>
        </p:spPr>
        <p:txBody>
          <a:bodyPr wrap="square" lIns="0" tIns="0" rIns="0" bIns="0" rtlCol="0" anchor="ctr"/>
          <a:lstStyle/>
          <a:p>
            <a:pPr marL="0" indent="0" algn="l">
              <a:buNone/>
            </a:pPr>
            <a:r>
              <a:rPr lang="en-US" sz="4000" b="1" dirty="0">
                <a:solidFill>
                  <a:schemeClr val="bg1"/>
                </a:solidFill>
              </a:rPr>
              <a:t>Imaging, applications &amp; monitoring</a:t>
            </a:r>
            <a:endParaRPr lang="en-US" sz="4000" dirty="0"/>
          </a:p>
        </p:txBody>
      </p:sp>
      <p:sp>
        <p:nvSpPr>
          <p:cNvPr id="3" name="Text 0"/>
          <p:cNvSpPr>
            <a:spLocks noGrp="1"/>
          </p:cNvSpPr>
          <p:nvPr>
            <p:ph type="body" idx="101" hasCustomPrompt="1"/>
          </p:nvPr>
        </p:nvSpPr>
        <p:spPr>
          <a:xfrm>
            <a:off x="731520" y="3794760"/>
            <a:ext cx="7498080" cy="1280160"/>
          </a:xfrm>
          <a:prstGeom prst="rect">
            <a:avLst/>
          </a:prstGeom>
          <a:noFill/>
          <a:ln/>
        </p:spPr>
        <p:txBody>
          <a:bodyPr wrap="square" lIns="0" tIns="0" rIns="0" bIns="0" rtlCol="0" anchor="t"/>
          <a:lstStyle/>
          <a:p>
            <a:pPr marL="0" indent="0">
              <a:buNone/>
            </a:pPr>
            <a:r>
              <a:rPr lang="en-US" sz="1800" dirty="0">
                <a:solidFill>
                  <a:schemeClr val="bg2"/>
                </a:solidFill>
              </a:rPr>
              <a:t>From single-spot measurements to images, screening platforms and remote, long-term monitoring</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marL="0" indent="0">
              <a:buNone/>
            </a:pPr>
            <a:r>
              <a:rPr lang="en-US" sz="7200" b="1" dirty="0">
                <a:solidFill>
                  <a:schemeClr val="accent3"/>
                </a:solidFill>
                <a:latin typeface="Cambria" pitchFamily="34" charset="0"/>
                <a:ea typeface="Cambria" pitchFamily="34" charset="-122"/>
                <a:cs typeface="Cambria" pitchFamily="34" charset="-120"/>
              </a:rPr>
              <a:t>07</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Chlorophyll fluorescence imaging</a:t>
            </a:r>
            <a:endParaRPr lang="en-US" sz="3200" dirty="0"/>
          </a:p>
        </p:txBody>
      </p:sp>
      <p:sp>
        <p:nvSpPr>
          <p:cNvPr id="4" name="card"/>
          <p:cNvSpPr/>
          <p:nvPr/>
        </p:nvSpPr>
        <p:spPr>
          <a:xfrm>
            <a:off x="548640" y="1325880"/>
            <a:ext cx="3657600" cy="2377440"/>
          </a:xfrm>
          <a:prstGeom prst="roundRect">
            <a:avLst>
              <a:gd name="adj" fmla="val 3077"/>
            </a:avLst>
          </a:prstGeom>
          <a:solidFill>
            <a:schemeClr val="bg2"/>
          </a:solidFill>
          <a:ln/>
          <a:effectLst>
            <a:outerShdw blurRad="76200" dist="25400" dir="5400000" algn="bl" rotWithShape="0">
              <a:srgbClr val="000000">
                <a:alpha val="14000"/>
              </a:srgbClr>
            </a:outerShdw>
          </a:effectLst>
        </p:spPr>
      </p:sp>
      <p:sp>
        <p:nvSpPr>
          <p:cNvPr id="5" name="icon circle"/>
          <p:cNvSpPr/>
          <p:nvPr/>
        </p:nvSpPr>
        <p:spPr>
          <a:xfrm>
            <a:off x="731520" y="1481328"/>
            <a:ext cx="420624" cy="420624"/>
          </a:xfrm>
          <a:prstGeom prst="ellipse">
            <a:avLst/>
          </a:prstGeom>
          <a:solidFill>
            <a:schemeClr val="accent1"/>
          </a:solidFill>
          <a:ln/>
        </p:spPr>
      </p:sp>
      <p:pic>
        <p:nvPicPr>
          <p:cNvPr id="6" name="Image 0" descr="Eye icon"/>
          <p:cNvPicPr>
            <a:picLocks noChangeAspect="1"/>
          </p:cNvPicPr>
          <p:nvPr/>
        </p:nvPicPr>
        <p:blipFill>
          <a:blip r:embed="rId3"/>
          <a:stretch>
            <a:fillRect/>
          </a:stretch>
        </p:blipFill>
        <p:spPr>
          <a:xfrm>
            <a:off x="840882" y="1590690"/>
            <a:ext cx="201900" cy="201900"/>
          </a:xfrm>
          <a:prstGeom prst="rect">
            <a:avLst/>
          </a:prstGeom>
        </p:spPr>
      </p:pic>
      <p:sp>
        <p:nvSpPr>
          <p:cNvPr id="7" name="Text 3"/>
          <p:cNvSpPr txBox="1"/>
          <p:nvPr/>
        </p:nvSpPr>
        <p:spPr>
          <a:xfrm>
            <a:off x="1261872" y="1463040"/>
            <a:ext cx="2807208" cy="457200"/>
          </a:xfrm>
          <a:prstGeom prst="rect">
            <a:avLst/>
          </a:prstGeom>
          <a:noFill/>
          <a:ln/>
        </p:spPr>
        <p:txBody>
          <a:bodyPr wrap="square" lIns="0" tIns="0" rIns="0" bIns="0" rtlCol="0" anchor="ctr"/>
          <a:lstStyle/>
          <a:p>
            <a:pPr marL="0" indent="0">
              <a:buNone/>
            </a:pPr>
            <a:r>
              <a:rPr lang="en-US" sz="1600" b="1" dirty="0">
                <a:solidFill>
                  <a:schemeClr val="tx2"/>
                </a:solidFill>
              </a:rPr>
              <a:t>Advantages</a:t>
            </a:r>
            <a:endParaRPr lang="en-US" sz="1600" dirty="0"/>
          </a:p>
        </p:txBody>
      </p:sp>
      <p:sp>
        <p:nvSpPr>
          <p:cNvPr id="8" name="Text 4"/>
          <p:cNvSpPr txBox="1"/>
          <p:nvPr/>
        </p:nvSpPr>
        <p:spPr>
          <a:xfrm>
            <a:off x="731520" y="2011680"/>
            <a:ext cx="3291840"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Spatial </a:t>
            </a:r>
            <a:r>
              <a:rPr lang="en-US" sz="1300" b="1" dirty="0">
                <a:solidFill>
                  <a:schemeClr val="tx1"/>
                </a:solidFill>
              </a:rPr>
              <a:t>heterogeneity</a:t>
            </a:r>
            <a:r>
              <a:rPr lang="en-US" sz="1300" dirty="0">
                <a:solidFill>
                  <a:schemeClr val="tx1"/>
                </a:solidFill>
              </a:rPr>
              <a:t> within leaves/plants</a:t>
            </a:r>
            <a:endParaRPr lang="en-US" sz="1300" dirty="0"/>
          </a:p>
          <a:p>
            <a:pPr marL="177800" indent="-177800">
              <a:spcAft>
                <a:spcPts val="400"/>
              </a:spcAft>
              <a:buSzPct val="100000"/>
              <a:buChar char="•"/>
            </a:pPr>
            <a:r>
              <a:rPr lang="en-US" sz="1300" dirty="0">
                <a:solidFill>
                  <a:schemeClr val="tx1"/>
                </a:solidFill>
              </a:rPr>
              <a:t>Screening many plants under identical conditions</a:t>
            </a:r>
            <a:endParaRPr lang="en-US" sz="1300" dirty="0"/>
          </a:p>
          <a:p>
            <a:pPr marL="177800" indent="-177800">
              <a:spcAft>
                <a:spcPts val="400"/>
              </a:spcAft>
              <a:buSzPct val="100000"/>
              <a:buChar char="•"/>
            </a:pPr>
            <a:r>
              <a:rPr lang="en-US" sz="1300" dirty="0">
                <a:solidFill>
                  <a:schemeClr val="tx1"/>
                </a:solidFill>
              </a:rPr>
              <a:t>Resolution from chloroplasts and guard cells to whole plants</a:t>
            </a:r>
            <a:endParaRPr lang="en-US" sz="1300" dirty="0"/>
          </a:p>
        </p:txBody>
      </p:sp>
      <p:sp>
        <p:nvSpPr>
          <p:cNvPr id="9" name="card"/>
          <p:cNvSpPr/>
          <p:nvPr/>
        </p:nvSpPr>
        <p:spPr>
          <a:xfrm>
            <a:off x="548640" y="3840480"/>
            <a:ext cx="3657600" cy="2331720"/>
          </a:xfrm>
          <a:prstGeom prst="roundRect">
            <a:avLst>
              <a:gd name="adj" fmla="val 3137"/>
            </a:avLst>
          </a:prstGeom>
          <a:solidFill>
            <a:schemeClr val="bg2"/>
          </a:solidFill>
          <a:ln/>
          <a:effectLst>
            <a:outerShdw blurRad="76200" dist="25400" dir="5400000" algn="bl" rotWithShape="0">
              <a:srgbClr val="000000">
                <a:alpha val="14000"/>
              </a:srgbClr>
            </a:outerShdw>
          </a:effectLst>
        </p:spPr>
      </p:sp>
      <p:sp>
        <p:nvSpPr>
          <p:cNvPr id="10" name="icon circle"/>
          <p:cNvSpPr/>
          <p:nvPr/>
        </p:nvSpPr>
        <p:spPr>
          <a:xfrm>
            <a:off x="731520" y="3995928"/>
            <a:ext cx="420624" cy="420624"/>
          </a:xfrm>
          <a:prstGeom prst="ellipse">
            <a:avLst/>
          </a:prstGeom>
          <a:solidFill>
            <a:schemeClr val="accent5"/>
          </a:solidFill>
          <a:ln/>
        </p:spPr>
      </p:sp>
      <p:pic>
        <p:nvPicPr>
          <p:cNvPr id="11" name="Image 1" descr="LayerGroup icon"/>
          <p:cNvPicPr>
            <a:picLocks noChangeAspect="1"/>
          </p:cNvPicPr>
          <p:nvPr/>
        </p:nvPicPr>
        <p:blipFill>
          <a:blip r:embed="rId4"/>
          <a:stretch>
            <a:fillRect/>
          </a:stretch>
        </p:blipFill>
        <p:spPr>
          <a:xfrm>
            <a:off x="840882" y="4105290"/>
            <a:ext cx="201900" cy="201900"/>
          </a:xfrm>
          <a:prstGeom prst="rect">
            <a:avLst/>
          </a:prstGeom>
        </p:spPr>
      </p:pic>
      <p:sp>
        <p:nvSpPr>
          <p:cNvPr id="12" name="Text 7"/>
          <p:cNvSpPr txBox="1"/>
          <p:nvPr/>
        </p:nvSpPr>
        <p:spPr>
          <a:xfrm>
            <a:off x="1261872" y="3977640"/>
            <a:ext cx="2807208" cy="457200"/>
          </a:xfrm>
          <a:prstGeom prst="rect">
            <a:avLst/>
          </a:prstGeom>
          <a:noFill/>
          <a:ln/>
        </p:spPr>
        <p:txBody>
          <a:bodyPr wrap="square" lIns="0" tIns="0" rIns="0" bIns="0" rtlCol="0" anchor="ctr"/>
          <a:lstStyle/>
          <a:p>
            <a:pPr marL="0" indent="0">
              <a:buNone/>
            </a:pPr>
            <a:r>
              <a:rPr lang="en-US" sz="1600" b="1" dirty="0">
                <a:solidFill>
                  <a:schemeClr val="tx2"/>
                </a:solidFill>
              </a:rPr>
              <a:t>Combined techniques</a:t>
            </a:r>
            <a:endParaRPr lang="en-US" sz="1600" dirty="0"/>
          </a:p>
        </p:txBody>
      </p:sp>
      <p:sp>
        <p:nvSpPr>
          <p:cNvPr id="13" name="Text 8"/>
          <p:cNvSpPr txBox="1"/>
          <p:nvPr/>
        </p:nvSpPr>
        <p:spPr>
          <a:xfrm>
            <a:off x="731520" y="4526280"/>
            <a:ext cx="3291840" cy="155448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 IRGA gas exchange: CO₂ diffusion, guard-cell photosynthesis</a:t>
            </a:r>
            <a:endParaRPr lang="en-US" sz="1300" dirty="0"/>
          </a:p>
          <a:p>
            <a:pPr marL="177800" indent="-177800">
              <a:spcAft>
                <a:spcPts val="400"/>
              </a:spcAft>
              <a:buSzPct val="100000"/>
              <a:buChar char="•"/>
            </a:pPr>
            <a:r>
              <a:rPr lang="en-US" sz="1300" dirty="0">
                <a:solidFill>
                  <a:schemeClr val="tx1"/>
                </a:solidFill>
              </a:rPr>
              <a:t>+ thermography: stomatal behaviour, water-use efficiency</a:t>
            </a:r>
            <a:endParaRPr lang="en-US" sz="1300" dirty="0"/>
          </a:p>
          <a:p>
            <a:pPr marL="177800" indent="-177800">
              <a:spcAft>
                <a:spcPts val="400"/>
              </a:spcAft>
              <a:buSzPct val="100000"/>
              <a:buChar char="•"/>
            </a:pPr>
            <a:r>
              <a:rPr lang="en-US" sz="1300" dirty="0">
                <a:solidFill>
                  <a:schemeClr val="tx1"/>
                </a:solidFill>
              </a:rPr>
              <a:t>+ hyperspectral: disease detection (e.g. head blight)</a:t>
            </a:r>
            <a:endParaRPr lang="en-US" sz="1300" dirty="0"/>
          </a:p>
        </p:txBody>
      </p:sp>
      <p:sp>
        <p:nvSpPr>
          <p:cNvPr id="14" name="card"/>
          <p:cNvSpPr/>
          <p:nvPr/>
        </p:nvSpPr>
        <p:spPr>
          <a:xfrm>
            <a:off x="4416552" y="1325880"/>
            <a:ext cx="3566160" cy="2377440"/>
          </a:xfrm>
          <a:prstGeom prst="roundRect">
            <a:avLst>
              <a:gd name="adj" fmla="val 3077"/>
            </a:avLst>
          </a:prstGeom>
          <a:solidFill>
            <a:schemeClr val="bg2"/>
          </a:solidFill>
          <a:ln/>
          <a:effectLst>
            <a:outerShdw blurRad="76200" dist="25400" dir="5400000" algn="bl" rotWithShape="0">
              <a:srgbClr val="000000">
                <a:alpha val="14000"/>
              </a:srgbClr>
            </a:outerShdw>
          </a:effectLst>
        </p:spPr>
      </p:sp>
      <p:sp>
        <p:nvSpPr>
          <p:cNvPr id="15" name="icon circle"/>
          <p:cNvSpPr/>
          <p:nvPr/>
        </p:nvSpPr>
        <p:spPr>
          <a:xfrm>
            <a:off x="4599432" y="1481328"/>
            <a:ext cx="420624" cy="420624"/>
          </a:xfrm>
          <a:prstGeom prst="ellipse">
            <a:avLst/>
          </a:prstGeom>
          <a:solidFill>
            <a:schemeClr val="accent1"/>
          </a:solidFill>
          <a:ln/>
        </p:spPr>
      </p:sp>
      <p:pic>
        <p:nvPicPr>
          <p:cNvPr id="16" name="Image 2" descr="Check icon"/>
          <p:cNvPicPr>
            <a:picLocks noChangeAspect="1"/>
          </p:cNvPicPr>
          <p:nvPr/>
        </p:nvPicPr>
        <p:blipFill>
          <a:blip r:embed="rId5"/>
          <a:stretch>
            <a:fillRect/>
          </a:stretch>
        </p:blipFill>
        <p:spPr>
          <a:xfrm>
            <a:off x="4708794" y="1590690"/>
            <a:ext cx="201900" cy="201900"/>
          </a:xfrm>
          <a:prstGeom prst="rect">
            <a:avLst/>
          </a:prstGeom>
        </p:spPr>
      </p:pic>
      <p:sp>
        <p:nvSpPr>
          <p:cNvPr id="17" name="Text 11"/>
          <p:cNvSpPr txBox="1"/>
          <p:nvPr/>
        </p:nvSpPr>
        <p:spPr>
          <a:xfrm>
            <a:off x="5129784" y="1463040"/>
            <a:ext cx="2715768" cy="457200"/>
          </a:xfrm>
          <a:prstGeom prst="rect">
            <a:avLst/>
          </a:prstGeom>
          <a:noFill/>
          <a:ln/>
        </p:spPr>
        <p:txBody>
          <a:bodyPr wrap="square" lIns="0" tIns="0" rIns="0" bIns="0" rtlCol="0" anchor="ctr"/>
          <a:lstStyle/>
          <a:p>
            <a:pPr marL="0" indent="0">
              <a:buNone/>
            </a:pPr>
            <a:r>
              <a:rPr lang="en-US" sz="1600" b="1" dirty="0">
                <a:solidFill>
                  <a:schemeClr val="tx2"/>
                </a:solidFill>
              </a:rPr>
              <a:t>Requirements</a:t>
            </a:r>
            <a:endParaRPr lang="en-US" sz="1600" dirty="0"/>
          </a:p>
        </p:txBody>
      </p:sp>
      <p:sp>
        <p:nvSpPr>
          <p:cNvPr id="18" name="Text 12"/>
          <p:cNvSpPr txBox="1"/>
          <p:nvPr/>
        </p:nvSpPr>
        <p:spPr>
          <a:xfrm>
            <a:off x="4599432" y="2011680"/>
            <a:ext cx="3200400"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Leaf flat, horizontal, at correct height</a:t>
            </a:r>
            <a:endParaRPr lang="en-US" sz="1300" dirty="0"/>
          </a:p>
          <a:p>
            <a:pPr marL="177800" indent="-177800">
              <a:spcAft>
                <a:spcPts val="400"/>
              </a:spcAft>
              <a:buSzPct val="100000"/>
              <a:buChar char="•"/>
            </a:pPr>
            <a:r>
              <a:rPr lang="en-US" sz="1300" dirty="0">
                <a:solidFill>
                  <a:schemeClr val="tx1"/>
                </a:solidFill>
              </a:rPr>
              <a:t>Even actinic illumination over the area</a:t>
            </a:r>
            <a:endParaRPr lang="en-US" sz="1300" dirty="0"/>
          </a:p>
          <a:p>
            <a:pPr marL="177800" indent="-177800">
              <a:spcAft>
                <a:spcPts val="400"/>
              </a:spcAft>
              <a:buSzPct val="100000"/>
              <a:buChar char="•"/>
            </a:pPr>
            <a:r>
              <a:rPr lang="en-US" sz="1300" dirty="0">
                <a:solidFill>
                  <a:schemeClr val="tx1"/>
                </a:solidFill>
              </a:rPr>
              <a:t>Pulse saturating everywhere (4000–8000 µmol m⁻² s⁻¹)</a:t>
            </a:r>
            <a:endParaRPr lang="en-US" sz="1300" dirty="0"/>
          </a:p>
        </p:txBody>
      </p:sp>
      <p:sp>
        <p:nvSpPr>
          <p:cNvPr id="19" name="card"/>
          <p:cNvSpPr/>
          <p:nvPr/>
        </p:nvSpPr>
        <p:spPr>
          <a:xfrm>
            <a:off x="4416552" y="3840480"/>
            <a:ext cx="3566160" cy="2331720"/>
          </a:xfrm>
          <a:prstGeom prst="roundRect">
            <a:avLst>
              <a:gd name="adj" fmla="val 3137"/>
            </a:avLst>
          </a:prstGeom>
          <a:solidFill>
            <a:schemeClr val="bg2"/>
          </a:solidFill>
          <a:ln/>
          <a:effectLst>
            <a:outerShdw blurRad="76200" dist="25400" dir="5400000" algn="bl" rotWithShape="0">
              <a:srgbClr val="000000">
                <a:alpha val="14000"/>
              </a:srgbClr>
            </a:outerShdw>
          </a:effectLst>
        </p:spPr>
      </p:sp>
      <p:sp>
        <p:nvSpPr>
          <p:cNvPr id="20" name="icon circle"/>
          <p:cNvSpPr/>
          <p:nvPr/>
        </p:nvSpPr>
        <p:spPr>
          <a:xfrm>
            <a:off x="4599432" y="3995928"/>
            <a:ext cx="420624" cy="420624"/>
          </a:xfrm>
          <a:prstGeom prst="ellipse">
            <a:avLst/>
          </a:prstGeom>
          <a:solidFill>
            <a:schemeClr val="accent2"/>
          </a:solidFill>
          <a:ln/>
        </p:spPr>
      </p:sp>
      <p:pic>
        <p:nvPicPr>
          <p:cNvPr id="21" name="Image 3" descr="ExclamationTriangle icon"/>
          <p:cNvPicPr>
            <a:picLocks noChangeAspect="1"/>
          </p:cNvPicPr>
          <p:nvPr/>
        </p:nvPicPr>
        <p:blipFill>
          <a:blip r:embed="rId6"/>
          <a:stretch>
            <a:fillRect/>
          </a:stretch>
        </p:blipFill>
        <p:spPr>
          <a:xfrm>
            <a:off x="4708794" y="4105290"/>
            <a:ext cx="201900" cy="201900"/>
          </a:xfrm>
          <a:prstGeom prst="rect">
            <a:avLst/>
          </a:prstGeom>
        </p:spPr>
      </p:pic>
      <p:sp>
        <p:nvSpPr>
          <p:cNvPr id="22" name="Text 15"/>
          <p:cNvSpPr txBox="1"/>
          <p:nvPr/>
        </p:nvSpPr>
        <p:spPr>
          <a:xfrm>
            <a:off x="5129784" y="3977640"/>
            <a:ext cx="2715768" cy="457200"/>
          </a:xfrm>
          <a:prstGeom prst="rect">
            <a:avLst/>
          </a:prstGeom>
          <a:noFill/>
          <a:ln/>
        </p:spPr>
        <p:txBody>
          <a:bodyPr wrap="square" lIns="0" tIns="0" rIns="0" bIns="0" rtlCol="0" anchor="ctr"/>
          <a:lstStyle/>
          <a:p>
            <a:pPr marL="0" indent="0">
              <a:buNone/>
            </a:pPr>
            <a:r>
              <a:rPr lang="en-US" sz="1600" b="1" dirty="0">
                <a:solidFill>
                  <a:schemeClr val="tx2"/>
                </a:solidFill>
              </a:rPr>
              <a:t>Limitations</a:t>
            </a:r>
            <a:endParaRPr lang="en-US" sz="1600" dirty="0"/>
          </a:p>
        </p:txBody>
      </p:sp>
      <p:sp>
        <p:nvSpPr>
          <p:cNvPr id="23" name="Text 16"/>
          <p:cNvSpPr txBox="1"/>
          <p:nvPr/>
        </p:nvSpPr>
        <p:spPr>
          <a:xfrm>
            <a:off x="4599432" y="4526280"/>
            <a:ext cx="3200400" cy="155448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Costlier; large LED banks; mostly lab-based</a:t>
            </a:r>
            <a:endParaRPr lang="en-US" sz="1300" dirty="0"/>
          </a:p>
          <a:p>
            <a:pPr marL="177800" indent="-177800">
              <a:spcAft>
                <a:spcPts val="400"/>
              </a:spcAft>
              <a:buSzPct val="100000"/>
              <a:buChar char="•"/>
            </a:pPr>
            <a:r>
              <a:rPr lang="en-US" sz="1300" dirty="0">
                <a:solidFill>
                  <a:schemeClr val="tx1"/>
                </a:solidFill>
              </a:rPr>
              <a:t>Often no FR source → F</a:t>
            </a:r>
            <a:r>
              <a:rPr lang="en-US" sz="1300" baseline="-40000" dirty="0">
                <a:solidFill>
                  <a:schemeClr val="tx1"/>
                </a:solidFill>
              </a:rPr>
              <a:t>o</a:t>
            </a:r>
            <a:r>
              <a:rPr lang="en-US" sz="1300" dirty="0">
                <a:solidFill>
                  <a:schemeClr val="tx1"/>
                </a:solidFill>
              </a:rPr>
              <a:t>′ is </a:t>
            </a:r>
            <a:r>
              <a:rPr lang="en-US" sz="1300" b="1" dirty="0">
                <a:solidFill>
                  <a:schemeClr val="tx1"/>
                </a:solidFill>
              </a:rPr>
              <a:t>calculated</a:t>
            </a:r>
            <a:endParaRPr lang="en-US" sz="1300" dirty="0"/>
          </a:p>
          <a:p>
            <a:pPr marL="177800" indent="-177800">
              <a:spcAft>
                <a:spcPts val="400"/>
              </a:spcAft>
              <a:buSzPct val="100000"/>
              <a:buChar char="•"/>
            </a:pPr>
            <a:r>
              <a:rPr lang="en-US" sz="1300" dirty="0">
                <a:solidFill>
                  <a:schemeClr val="tx1"/>
                </a:solidFill>
              </a:rPr>
              <a:t>Field versions: e.g. Imaging-PAM MINI, FluorCam, rover systems</a:t>
            </a:r>
            <a:endParaRPr lang="en-US" sz="1300" dirty="0"/>
          </a:p>
        </p:txBody>
      </p:sp>
      <p:sp>
        <p:nvSpPr>
          <p:cNvPr id="24" name="figure frame"/>
          <p:cNvSpPr/>
          <p:nvPr/>
        </p:nvSpPr>
        <p:spPr>
          <a:xfrm>
            <a:off x="8183880" y="1325880"/>
            <a:ext cx="3456432" cy="4297680"/>
          </a:xfrm>
          <a:prstGeom prst="roundRect">
            <a:avLst>
              <a:gd name="adj" fmla="val 1587"/>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25" name="Image 4" descr="Pixel-to-pixel image arithmetic: measured F₀, Fm, Fs, Fm′ → calculated Fv/Fm, ΦPSII, NPQ maps"/>
          <p:cNvPicPr>
            <a:picLocks noChangeAspect="1"/>
          </p:cNvPicPr>
          <p:nvPr/>
        </p:nvPicPr>
        <p:blipFill>
          <a:blip r:embed="rId7"/>
          <a:stretch>
            <a:fillRect/>
          </a:stretch>
        </p:blipFill>
        <p:spPr>
          <a:xfrm>
            <a:off x="8275320" y="2279371"/>
            <a:ext cx="3273552" cy="2390698"/>
          </a:xfrm>
          <a:prstGeom prst="rect">
            <a:avLst/>
          </a:prstGeom>
        </p:spPr>
      </p:pic>
      <p:sp>
        <p:nvSpPr>
          <p:cNvPr id="26" name="Text 18"/>
          <p:cNvSpPr txBox="1"/>
          <p:nvPr/>
        </p:nvSpPr>
        <p:spPr>
          <a:xfrm>
            <a:off x="8183880" y="5669280"/>
            <a:ext cx="3456432" cy="502920"/>
          </a:xfrm>
          <a:prstGeom prst="rect">
            <a:avLst/>
          </a:prstGeom>
          <a:noFill/>
          <a:ln/>
        </p:spPr>
        <p:txBody>
          <a:bodyPr wrap="square" lIns="0" tIns="0" rIns="0" bIns="0" rtlCol="0" anchor="t"/>
          <a:lstStyle/>
          <a:p>
            <a:pPr marL="0" indent="0">
              <a:buNone/>
            </a:pPr>
            <a:r>
              <a:rPr lang="en-US" sz="1100" i="1" dirty="0">
                <a:solidFill>
                  <a:schemeClr val="accent6"/>
                </a:solidFill>
              </a:rPr>
              <a:t>Pixel-to-pixel image arithmetic: measured F₀, Fm, Fs, Fm′ → calculated Fv/Fm, ΦPSII, NPQ maps</a:t>
            </a:r>
            <a:endParaRPr lang="en-US" sz="11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Paper Figure 3: what imaging can reveal</a:t>
            </a:r>
            <a:endParaRPr lang="en-US" sz="3200" dirty="0"/>
          </a:p>
        </p:txBody>
      </p:sp>
      <p:sp>
        <p:nvSpPr>
          <p:cNvPr id="4" name="figure frame"/>
          <p:cNvSpPr/>
          <p:nvPr/>
        </p:nvSpPr>
        <p:spPr>
          <a:xfrm>
            <a:off x="548640" y="1325880"/>
            <a:ext cx="4846320" cy="4846320"/>
          </a:xfrm>
          <a:prstGeom prst="roundRect">
            <a:avLst>
              <a:gd name="adj" fmla="val 1132"/>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5" name="Image 0" descr="clfu_fig3.png"/>
          <p:cNvPicPr>
            <a:picLocks noChangeAspect="1"/>
          </p:cNvPicPr>
          <p:nvPr/>
        </p:nvPicPr>
        <p:blipFill>
          <a:blip r:embed="rId3"/>
          <a:stretch>
            <a:fillRect/>
          </a:stretch>
        </p:blipFill>
        <p:spPr>
          <a:xfrm>
            <a:off x="1060554" y="1417320"/>
            <a:ext cx="3822492" cy="4663440"/>
          </a:xfrm>
          <a:prstGeom prst="rect">
            <a:avLst/>
          </a:prstGeom>
        </p:spPr>
      </p:pic>
      <p:sp>
        <p:nvSpPr>
          <p:cNvPr id="6" name="tag"/>
          <p:cNvSpPr/>
          <p:nvPr/>
        </p:nvSpPr>
        <p:spPr>
          <a:xfrm>
            <a:off x="5669280" y="1435608"/>
            <a:ext cx="777240" cy="292608"/>
          </a:xfrm>
          <a:prstGeom prst="roundRect">
            <a:avLst>
              <a:gd name="adj" fmla="val 50000"/>
            </a:avLst>
          </a:prstGeom>
          <a:solidFill>
            <a:schemeClr val="accent2"/>
          </a:solidFill>
          <a:ln/>
        </p:spPr>
      </p:sp>
      <p:sp>
        <p:nvSpPr>
          <p:cNvPr id="7" name="Text 3"/>
          <p:cNvSpPr txBox="1"/>
          <p:nvPr/>
        </p:nvSpPr>
        <p:spPr>
          <a:xfrm>
            <a:off x="5669280" y="1435608"/>
            <a:ext cx="777240" cy="292608"/>
          </a:xfrm>
          <a:prstGeom prst="rect">
            <a:avLst/>
          </a:prstGeom>
          <a:noFill/>
          <a:ln/>
        </p:spPr>
        <p:txBody>
          <a:bodyPr wrap="square" lIns="0" tIns="0" rIns="0" bIns="0" rtlCol="0" anchor="ctr"/>
          <a:lstStyle/>
          <a:p>
            <a:pPr marL="0" indent="0" algn="ctr">
              <a:buNone/>
            </a:pPr>
            <a:r>
              <a:rPr lang="en-US" sz="1100" b="1" dirty="0">
                <a:solidFill>
                  <a:schemeClr val="bg1"/>
                </a:solidFill>
              </a:rPr>
              <a:t>a · b</a:t>
            </a:r>
            <a:endParaRPr lang="en-US" sz="1100" dirty="0"/>
          </a:p>
        </p:txBody>
      </p:sp>
      <p:sp>
        <p:nvSpPr>
          <p:cNvPr id="8" name="Text 4"/>
          <p:cNvSpPr txBox="1"/>
          <p:nvPr/>
        </p:nvSpPr>
        <p:spPr>
          <a:xfrm>
            <a:off x="6583680" y="1325880"/>
            <a:ext cx="5074920" cy="548640"/>
          </a:xfrm>
          <a:prstGeom prst="rect">
            <a:avLst/>
          </a:prstGeom>
          <a:noFill/>
          <a:ln/>
        </p:spPr>
        <p:txBody>
          <a:bodyPr wrap="square" lIns="0" tIns="0" rIns="0" bIns="0" rtlCol="0" anchor="ctr"/>
          <a:lstStyle/>
          <a:p>
            <a:pPr marL="0" indent="0">
              <a:buNone/>
            </a:pPr>
            <a:r>
              <a:rPr lang="en-US" sz="1300" dirty="0">
                <a:solidFill>
                  <a:schemeClr val="tx1"/>
                </a:solidFill>
              </a:rPr>
              <a:t>Steady-state F′ and Φ</a:t>
            </a:r>
            <a:r>
              <a:rPr lang="en-US" sz="1300" baseline="-40000" dirty="0">
                <a:solidFill>
                  <a:schemeClr val="tx1"/>
                </a:solidFill>
              </a:rPr>
              <a:t>PSII</a:t>
            </a:r>
            <a:r>
              <a:rPr lang="en-US" sz="1300" dirty="0">
                <a:solidFill>
                  <a:schemeClr val="tx1"/>
                </a:solidFill>
              </a:rPr>
              <a:t> of a leaf in a chamber: </a:t>
            </a:r>
            <a:r>
              <a:rPr lang="en-US" sz="1300" b="1" dirty="0">
                <a:solidFill>
                  <a:schemeClr val="tx1"/>
                </a:solidFill>
              </a:rPr>
              <a:t>patchy stomatal closure</a:t>
            </a:r>
            <a:r>
              <a:rPr lang="en-US" sz="1300" dirty="0">
                <a:solidFill>
                  <a:schemeClr val="tx1"/>
                </a:solidFill>
              </a:rPr>
              <a:t> after humidity drop</a:t>
            </a:r>
            <a:endParaRPr lang="en-US" sz="1300" dirty="0"/>
          </a:p>
        </p:txBody>
      </p:sp>
      <p:sp>
        <p:nvSpPr>
          <p:cNvPr id="9" name="tag"/>
          <p:cNvSpPr/>
          <p:nvPr/>
        </p:nvSpPr>
        <p:spPr>
          <a:xfrm>
            <a:off x="5669280" y="2043684"/>
            <a:ext cx="777240" cy="292608"/>
          </a:xfrm>
          <a:prstGeom prst="roundRect">
            <a:avLst>
              <a:gd name="adj" fmla="val 50000"/>
            </a:avLst>
          </a:prstGeom>
          <a:solidFill>
            <a:schemeClr val="accent2"/>
          </a:solidFill>
          <a:ln/>
        </p:spPr>
      </p:sp>
      <p:sp>
        <p:nvSpPr>
          <p:cNvPr id="10" name="Text 6"/>
          <p:cNvSpPr txBox="1"/>
          <p:nvPr/>
        </p:nvSpPr>
        <p:spPr>
          <a:xfrm>
            <a:off x="5669280" y="2043684"/>
            <a:ext cx="777240" cy="292608"/>
          </a:xfrm>
          <a:prstGeom prst="rect">
            <a:avLst/>
          </a:prstGeom>
          <a:noFill/>
          <a:ln/>
        </p:spPr>
        <p:txBody>
          <a:bodyPr wrap="square" lIns="0" tIns="0" rIns="0" bIns="0" rtlCol="0" anchor="ctr"/>
          <a:lstStyle/>
          <a:p>
            <a:pPr marL="0" indent="0" algn="ctr">
              <a:buNone/>
            </a:pPr>
            <a:r>
              <a:rPr lang="en-US" sz="1100" b="1" dirty="0">
                <a:solidFill>
                  <a:schemeClr val="bg1"/>
                </a:solidFill>
              </a:rPr>
              <a:t>c</a:t>
            </a:r>
            <a:endParaRPr lang="en-US" sz="1100" dirty="0"/>
          </a:p>
        </p:txBody>
      </p:sp>
      <p:sp>
        <p:nvSpPr>
          <p:cNvPr id="11" name="Text 7"/>
          <p:cNvSpPr txBox="1"/>
          <p:nvPr/>
        </p:nvSpPr>
        <p:spPr>
          <a:xfrm>
            <a:off x="6583680" y="1933956"/>
            <a:ext cx="5074920" cy="548640"/>
          </a:xfrm>
          <a:prstGeom prst="rect">
            <a:avLst/>
          </a:prstGeom>
          <a:noFill/>
          <a:ln/>
        </p:spPr>
        <p:txBody>
          <a:bodyPr wrap="square" lIns="0" tIns="0" rIns="0" bIns="0" rtlCol="0" anchor="ctr"/>
          <a:lstStyle/>
          <a:p>
            <a:pPr marL="0" indent="0">
              <a:buNone/>
            </a:pPr>
            <a:r>
              <a:rPr lang="en-US" sz="1300" b="1" dirty="0">
                <a:solidFill>
                  <a:schemeClr val="tx1"/>
                </a:solidFill>
              </a:rPr>
              <a:t>Herbicide screening</a:t>
            </a:r>
            <a:r>
              <a:rPr lang="en-US" sz="1300" dirty="0">
                <a:solidFill>
                  <a:schemeClr val="tx1"/>
                </a:solidFill>
              </a:rPr>
              <a:t> of Arabidopsis seedlings in a 96-well plate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a:t>
            </a:r>
            <a:endParaRPr lang="en-US" sz="1300" dirty="0"/>
          </a:p>
        </p:txBody>
      </p:sp>
      <p:sp>
        <p:nvSpPr>
          <p:cNvPr id="12" name="tag"/>
          <p:cNvSpPr/>
          <p:nvPr/>
        </p:nvSpPr>
        <p:spPr>
          <a:xfrm>
            <a:off x="5669280" y="2651760"/>
            <a:ext cx="777240" cy="292608"/>
          </a:xfrm>
          <a:prstGeom prst="roundRect">
            <a:avLst>
              <a:gd name="adj" fmla="val 50000"/>
            </a:avLst>
          </a:prstGeom>
          <a:solidFill>
            <a:schemeClr val="accent2"/>
          </a:solidFill>
          <a:ln/>
        </p:spPr>
      </p:sp>
      <p:sp>
        <p:nvSpPr>
          <p:cNvPr id="13" name="Text 9"/>
          <p:cNvSpPr txBox="1"/>
          <p:nvPr/>
        </p:nvSpPr>
        <p:spPr>
          <a:xfrm>
            <a:off x="5669280" y="2651760"/>
            <a:ext cx="777240" cy="292608"/>
          </a:xfrm>
          <a:prstGeom prst="rect">
            <a:avLst/>
          </a:prstGeom>
          <a:noFill/>
          <a:ln/>
        </p:spPr>
        <p:txBody>
          <a:bodyPr wrap="square" lIns="0" tIns="0" rIns="0" bIns="0" rtlCol="0" anchor="ctr"/>
          <a:lstStyle/>
          <a:p>
            <a:pPr marL="0" indent="0" algn="ctr">
              <a:buNone/>
            </a:pPr>
            <a:r>
              <a:rPr lang="en-US" sz="1100" b="1" dirty="0">
                <a:solidFill>
                  <a:schemeClr val="bg1"/>
                </a:solidFill>
              </a:rPr>
              <a:t>d</a:t>
            </a:r>
            <a:endParaRPr lang="en-US" sz="1100" dirty="0"/>
          </a:p>
        </p:txBody>
      </p:sp>
      <p:sp>
        <p:nvSpPr>
          <p:cNvPr id="14" name="Text 10"/>
          <p:cNvSpPr txBox="1"/>
          <p:nvPr/>
        </p:nvSpPr>
        <p:spPr>
          <a:xfrm>
            <a:off x="6583680" y="2542032"/>
            <a:ext cx="5074920" cy="548640"/>
          </a:xfrm>
          <a:prstGeom prst="rect">
            <a:avLst/>
          </a:prstGeom>
          <a:noFill/>
          <a:ln/>
        </p:spPr>
        <p:txBody>
          <a:bodyPr wrap="square" lIns="0" tIns="0" rIns="0" bIns="0" rtlCol="0" anchor="ctr"/>
          <a:lstStyle/>
          <a:p>
            <a:pPr marL="0" indent="0">
              <a:buNone/>
            </a:pPr>
            <a:r>
              <a:rPr lang="en-US" sz="1300" dirty="0">
                <a:solidFill>
                  <a:schemeClr val="tx1"/>
                </a:solidFill>
              </a:rPr>
              <a:t>Φ</a:t>
            </a:r>
            <a:r>
              <a:rPr lang="en-US" sz="1300" baseline="-40000" dirty="0">
                <a:solidFill>
                  <a:schemeClr val="tx1"/>
                </a:solidFill>
              </a:rPr>
              <a:t>PSII</a:t>
            </a:r>
            <a:r>
              <a:rPr lang="en-US" sz="1300" dirty="0">
                <a:solidFill>
                  <a:schemeClr val="tx1"/>
                </a:solidFill>
              </a:rPr>
              <a:t> </a:t>
            </a:r>
            <a:r>
              <a:rPr lang="en-US" sz="1300" b="1" dirty="0">
                <a:solidFill>
                  <a:schemeClr val="tx1"/>
                </a:solidFill>
              </a:rPr>
              <a:t>heterogeneity</a:t>
            </a:r>
            <a:r>
              <a:rPr lang="en-US" sz="1300" dirty="0">
                <a:solidFill>
                  <a:schemeClr val="tx1"/>
                </a:solidFill>
              </a:rPr>
              <a:t> of Arabidopsis after high light</a:t>
            </a:r>
            <a:endParaRPr lang="en-US" sz="1300" dirty="0"/>
          </a:p>
        </p:txBody>
      </p:sp>
      <p:sp>
        <p:nvSpPr>
          <p:cNvPr id="15" name="tag"/>
          <p:cNvSpPr/>
          <p:nvPr/>
        </p:nvSpPr>
        <p:spPr>
          <a:xfrm>
            <a:off x="5669280" y="3259836"/>
            <a:ext cx="777240" cy="292608"/>
          </a:xfrm>
          <a:prstGeom prst="roundRect">
            <a:avLst>
              <a:gd name="adj" fmla="val 50000"/>
            </a:avLst>
          </a:prstGeom>
          <a:solidFill>
            <a:schemeClr val="accent2"/>
          </a:solidFill>
          <a:ln/>
        </p:spPr>
      </p:sp>
      <p:sp>
        <p:nvSpPr>
          <p:cNvPr id="16" name="Text 12"/>
          <p:cNvSpPr txBox="1"/>
          <p:nvPr/>
        </p:nvSpPr>
        <p:spPr>
          <a:xfrm>
            <a:off x="5669280" y="3259836"/>
            <a:ext cx="777240" cy="292608"/>
          </a:xfrm>
          <a:prstGeom prst="rect">
            <a:avLst/>
          </a:prstGeom>
          <a:noFill/>
          <a:ln/>
        </p:spPr>
        <p:txBody>
          <a:bodyPr wrap="square" lIns="0" tIns="0" rIns="0" bIns="0" rtlCol="0" anchor="ctr"/>
          <a:lstStyle/>
          <a:p>
            <a:pPr marL="0" indent="0" algn="ctr">
              <a:buNone/>
            </a:pPr>
            <a:r>
              <a:rPr lang="en-US" sz="1100" b="1" dirty="0">
                <a:solidFill>
                  <a:schemeClr val="bg1"/>
                </a:solidFill>
              </a:rPr>
              <a:t>e</a:t>
            </a:r>
            <a:endParaRPr lang="en-US" sz="1100" dirty="0"/>
          </a:p>
        </p:txBody>
      </p:sp>
      <p:sp>
        <p:nvSpPr>
          <p:cNvPr id="17" name="Text 13"/>
          <p:cNvSpPr txBox="1"/>
          <p:nvPr/>
        </p:nvSpPr>
        <p:spPr>
          <a:xfrm>
            <a:off x="6583680" y="3150108"/>
            <a:ext cx="5074920" cy="548640"/>
          </a:xfrm>
          <a:prstGeom prst="rect">
            <a:avLst/>
          </a:prstGeom>
          <a:noFill/>
          <a:ln/>
        </p:spPr>
        <p:txBody>
          <a:bodyPr wrap="square" lIns="0" tIns="0" rIns="0" bIns="0" rtlCol="0" anchor="ctr"/>
          <a:lstStyle/>
          <a:p>
            <a:pPr marL="0" indent="0">
              <a:buNone/>
            </a:pPr>
            <a:r>
              <a:rPr lang="en-US" sz="1300" dirty="0">
                <a:solidFill>
                  <a:schemeClr val="tx1"/>
                </a:solidFill>
              </a:rPr>
              <a:t>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 of </a:t>
            </a:r>
            <a:r>
              <a:rPr lang="en-US" sz="1300" b="1" dirty="0">
                <a:solidFill>
                  <a:schemeClr val="tx1"/>
                </a:solidFill>
              </a:rPr>
              <a:t>guard-cell chloroplasts</a:t>
            </a:r>
            <a:r>
              <a:rPr lang="en-US" sz="1300" dirty="0">
                <a:solidFill>
                  <a:schemeClr val="tx1"/>
                </a:solidFill>
              </a:rPr>
              <a:t> (high-resolution microscope)</a:t>
            </a:r>
            <a:endParaRPr lang="en-US" sz="1300" dirty="0"/>
          </a:p>
        </p:txBody>
      </p:sp>
      <p:sp>
        <p:nvSpPr>
          <p:cNvPr id="18" name="tag"/>
          <p:cNvSpPr/>
          <p:nvPr/>
        </p:nvSpPr>
        <p:spPr>
          <a:xfrm>
            <a:off x="5669280" y="3867912"/>
            <a:ext cx="777240" cy="292608"/>
          </a:xfrm>
          <a:prstGeom prst="roundRect">
            <a:avLst>
              <a:gd name="adj" fmla="val 50000"/>
            </a:avLst>
          </a:prstGeom>
          <a:solidFill>
            <a:schemeClr val="accent2"/>
          </a:solidFill>
          <a:ln/>
        </p:spPr>
      </p:sp>
      <p:sp>
        <p:nvSpPr>
          <p:cNvPr id="19" name="Text 15"/>
          <p:cNvSpPr txBox="1"/>
          <p:nvPr/>
        </p:nvSpPr>
        <p:spPr>
          <a:xfrm>
            <a:off x="5669280" y="3867912"/>
            <a:ext cx="777240" cy="292608"/>
          </a:xfrm>
          <a:prstGeom prst="rect">
            <a:avLst/>
          </a:prstGeom>
          <a:noFill/>
          <a:ln/>
        </p:spPr>
        <p:txBody>
          <a:bodyPr wrap="square" lIns="0" tIns="0" rIns="0" bIns="0" rtlCol="0" anchor="ctr"/>
          <a:lstStyle/>
          <a:p>
            <a:pPr marL="0" indent="0" algn="ctr">
              <a:buNone/>
            </a:pPr>
            <a:r>
              <a:rPr lang="en-US" sz="1100" b="1" dirty="0">
                <a:solidFill>
                  <a:schemeClr val="bg1"/>
                </a:solidFill>
              </a:rPr>
              <a:t>f</a:t>
            </a:r>
            <a:endParaRPr lang="en-US" sz="1100" dirty="0"/>
          </a:p>
        </p:txBody>
      </p:sp>
      <p:sp>
        <p:nvSpPr>
          <p:cNvPr id="20" name="Text 16"/>
          <p:cNvSpPr txBox="1"/>
          <p:nvPr/>
        </p:nvSpPr>
        <p:spPr>
          <a:xfrm>
            <a:off x="6583680" y="3758184"/>
            <a:ext cx="5074920" cy="548640"/>
          </a:xfrm>
          <a:prstGeom prst="rect">
            <a:avLst/>
          </a:prstGeom>
          <a:noFill/>
          <a:ln/>
        </p:spPr>
        <p:txBody>
          <a:bodyPr wrap="square" lIns="0" tIns="0" rIns="0" bIns="0" rtlCol="0" anchor="ctr"/>
          <a:lstStyle/>
          <a:p>
            <a:pPr marL="0" indent="0">
              <a:buNone/>
            </a:pPr>
            <a:r>
              <a:rPr lang="en-US" sz="1300" dirty="0">
                <a:solidFill>
                  <a:schemeClr val="tx1"/>
                </a:solidFill>
              </a:rPr>
              <a:t>Screening </a:t>
            </a:r>
            <a:r>
              <a:rPr lang="en-US" sz="1300" b="1" dirty="0">
                <a:solidFill>
                  <a:schemeClr val="tx1"/>
                </a:solidFill>
              </a:rPr>
              <a:t>transgenic</a:t>
            </a:r>
            <a:r>
              <a:rPr lang="en-US" sz="1300" dirty="0">
                <a:solidFill>
                  <a:schemeClr val="tx1"/>
                </a:solidFill>
              </a:rPr>
              <a:t> plants with reduced SBPase</a:t>
            </a:r>
            <a:endParaRPr lang="en-US" sz="1300" dirty="0"/>
          </a:p>
        </p:txBody>
      </p:sp>
      <p:sp>
        <p:nvSpPr>
          <p:cNvPr id="21" name="tag"/>
          <p:cNvSpPr/>
          <p:nvPr/>
        </p:nvSpPr>
        <p:spPr>
          <a:xfrm>
            <a:off x="5669280" y="4475988"/>
            <a:ext cx="777240" cy="292608"/>
          </a:xfrm>
          <a:prstGeom prst="roundRect">
            <a:avLst>
              <a:gd name="adj" fmla="val 50000"/>
            </a:avLst>
          </a:prstGeom>
          <a:solidFill>
            <a:schemeClr val="accent2"/>
          </a:solidFill>
          <a:ln/>
        </p:spPr>
      </p:sp>
      <p:sp>
        <p:nvSpPr>
          <p:cNvPr id="22" name="Text 18"/>
          <p:cNvSpPr txBox="1"/>
          <p:nvPr/>
        </p:nvSpPr>
        <p:spPr>
          <a:xfrm>
            <a:off x="5669280" y="4475988"/>
            <a:ext cx="777240" cy="292608"/>
          </a:xfrm>
          <a:prstGeom prst="rect">
            <a:avLst/>
          </a:prstGeom>
          <a:noFill/>
          <a:ln/>
        </p:spPr>
        <p:txBody>
          <a:bodyPr wrap="square" lIns="0" tIns="0" rIns="0" bIns="0" rtlCol="0" anchor="ctr"/>
          <a:lstStyle/>
          <a:p>
            <a:pPr marL="0" indent="0" algn="ctr">
              <a:buNone/>
            </a:pPr>
            <a:r>
              <a:rPr lang="en-US" sz="1100" b="1" dirty="0">
                <a:solidFill>
                  <a:schemeClr val="bg1"/>
                </a:solidFill>
              </a:rPr>
              <a:t>g</a:t>
            </a:r>
            <a:endParaRPr lang="en-US" sz="1100" dirty="0"/>
          </a:p>
        </p:txBody>
      </p:sp>
      <p:sp>
        <p:nvSpPr>
          <p:cNvPr id="23" name="Text 19"/>
          <p:cNvSpPr txBox="1"/>
          <p:nvPr/>
        </p:nvSpPr>
        <p:spPr>
          <a:xfrm>
            <a:off x="6583680" y="4366260"/>
            <a:ext cx="5074920" cy="548640"/>
          </a:xfrm>
          <a:prstGeom prst="rect">
            <a:avLst/>
          </a:prstGeom>
          <a:noFill/>
          <a:ln/>
        </p:spPr>
        <p:txBody>
          <a:bodyPr wrap="square" lIns="0" tIns="0" rIns="0" bIns="0" rtlCol="0" anchor="ctr"/>
          <a:lstStyle/>
          <a:p>
            <a:pPr marL="0" indent="0">
              <a:buNone/>
            </a:pPr>
            <a:r>
              <a:rPr lang="en-US" sz="1300" dirty="0">
                <a:solidFill>
                  <a:schemeClr val="tx1"/>
                </a:solidFill>
              </a:rPr>
              <a:t>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 of wheat varieties: </a:t>
            </a:r>
            <a:r>
              <a:rPr lang="en-US" sz="1300" b="1" dirty="0">
                <a:solidFill>
                  <a:schemeClr val="tx1"/>
                </a:solidFill>
              </a:rPr>
              <a:t>rust susceptibility</a:t>
            </a:r>
            <a:endParaRPr lang="en-US" sz="1300" dirty="0"/>
          </a:p>
        </p:txBody>
      </p:sp>
      <p:sp>
        <p:nvSpPr>
          <p:cNvPr id="24" name="tag"/>
          <p:cNvSpPr/>
          <p:nvPr/>
        </p:nvSpPr>
        <p:spPr>
          <a:xfrm>
            <a:off x="5669280" y="5084064"/>
            <a:ext cx="777240" cy="292608"/>
          </a:xfrm>
          <a:prstGeom prst="roundRect">
            <a:avLst>
              <a:gd name="adj" fmla="val 50000"/>
            </a:avLst>
          </a:prstGeom>
          <a:solidFill>
            <a:schemeClr val="accent2"/>
          </a:solidFill>
          <a:ln/>
        </p:spPr>
      </p:sp>
      <p:sp>
        <p:nvSpPr>
          <p:cNvPr id="25" name="Text 21"/>
          <p:cNvSpPr txBox="1"/>
          <p:nvPr/>
        </p:nvSpPr>
        <p:spPr>
          <a:xfrm>
            <a:off x="5669280" y="5084064"/>
            <a:ext cx="777240" cy="292608"/>
          </a:xfrm>
          <a:prstGeom prst="rect">
            <a:avLst/>
          </a:prstGeom>
          <a:noFill/>
          <a:ln/>
        </p:spPr>
        <p:txBody>
          <a:bodyPr wrap="square" lIns="0" tIns="0" rIns="0" bIns="0" rtlCol="0" anchor="ctr"/>
          <a:lstStyle/>
          <a:p>
            <a:pPr marL="0" indent="0" algn="ctr">
              <a:buNone/>
            </a:pPr>
            <a:r>
              <a:rPr lang="en-US" sz="1100" b="1" dirty="0">
                <a:solidFill>
                  <a:schemeClr val="bg1"/>
                </a:solidFill>
              </a:rPr>
              <a:t>h</a:t>
            </a:r>
            <a:endParaRPr lang="en-US" sz="1100" dirty="0"/>
          </a:p>
        </p:txBody>
      </p:sp>
      <p:sp>
        <p:nvSpPr>
          <p:cNvPr id="26" name="Text 22"/>
          <p:cNvSpPr txBox="1"/>
          <p:nvPr/>
        </p:nvSpPr>
        <p:spPr>
          <a:xfrm>
            <a:off x="6583680" y="4974336"/>
            <a:ext cx="5074920" cy="548640"/>
          </a:xfrm>
          <a:prstGeom prst="rect">
            <a:avLst/>
          </a:prstGeom>
          <a:noFill/>
          <a:ln/>
        </p:spPr>
        <p:txBody>
          <a:bodyPr wrap="square" lIns="0" tIns="0" rIns="0" bIns="0" rtlCol="0" anchor="ctr"/>
          <a:lstStyle/>
          <a:p>
            <a:pPr marL="0" indent="0">
              <a:buNone/>
            </a:pPr>
            <a:r>
              <a:rPr lang="en-US" sz="1300" dirty="0">
                <a:solidFill>
                  <a:schemeClr val="tx1"/>
                </a:solidFill>
              </a:rPr>
              <a:t>Φ</a:t>
            </a:r>
            <a:r>
              <a:rPr lang="en-US" sz="1300" baseline="-40000" dirty="0">
                <a:solidFill>
                  <a:schemeClr val="tx1"/>
                </a:solidFill>
              </a:rPr>
              <a:t>PSII</a:t>
            </a:r>
            <a:r>
              <a:rPr lang="en-US" sz="1300" dirty="0">
                <a:solidFill>
                  <a:schemeClr val="tx1"/>
                </a:solidFill>
              </a:rPr>
              <a:t> decline as </a:t>
            </a:r>
            <a:r>
              <a:rPr lang="en-US" sz="1300" b="1" dirty="0">
                <a:solidFill>
                  <a:schemeClr val="tx1"/>
                </a:solidFill>
              </a:rPr>
              <a:t>DCMU</a:t>
            </a:r>
            <a:r>
              <a:rPr lang="en-US" sz="1300" dirty="0">
                <a:solidFill>
                  <a:schemeClr val="tx1"/>
                </a:solidFill>
              </a:rPr>
              <a:t> travels in via the petiole</a:t>
            </a:r>
            <a:endParaRPr lang="en-US" sz="1300" dirty="0"/>
          </a:p>
        </p:txBody>
      </p:sp>
      <p:sp>
        <p:nvSpPr>
          <p:cNvPr id="27" name="tag"/>
          <p:cNvSpPr/>
          <p:nvPr/>
        </p:nvSpPr>
        <p:spPr>
          <a:xfrm>
            <a:off x="5669280" y="5692140"/>
            <a:ext cx="777240" cy="292608"/>
          </a:xfrm>
          <a:prstGeom prst="roundRect">
            <a:avLst>
              <a:gd name="adj" fmla="val 50000"/>
            </a:avLst>
          </a:prstGeom>
          <a:solidFill>
            <a:schemeClr val="accent2"/>
          </a:solidFill>
          <a:ln/>
        </p:spPr>
      </p:sp>
      <p:sp>
        <p:nvSpPr>
          <p:cNvPr id="28" name="Text 24"/>
          <p:cNvSpPr txBox="1"/>
          <p:nvPr/>
        </p:nvSpPr>
        <p:spPr>
          <a:xfrm>
            <a:off x="5669280" y="5692140"/>
            <a:ext cx="777240" cy="292608"/>
          </a:xfrm>
          <a:prstGeom prst="rect">
            <a:avLst/>
          </a:prstGeom>
          <a:noFill/>
          <a:ln/>
        </p:spPr>
        <p:txBody>
          <a:bodyPr wrap="square" lIns="0" tIns="0" rIns="0" bIns="0" rtlCol="0" anchor="ctr"/>
          <a:lstStyle/>
          <a:p>
            <a:pPr marL="0" indent="0" algn="ctr">
              <a:buNone/>
            </a:pPr>
            <a:r>
              <a:rPr lang="en-US" sz="1100" b="1" dirty="0">
                <a:solidFill>
                  <a:schemeClr val="bg1"/>
                </a:solidFill>
              </a:rPr>
              <a:t>i</a:t>
            </a:r>
            <a:endParaRPr lang="en-US" sz="1100" dirty="0"/>
          </a:p>
        </p:txBody>
      </p:sp>
      <p:sp>
        <p:nvSpPr>
          <p:cNvPr id="29" name="Text 25"/>
          <p:cNvSpPr txBox="1"/>
          <p:nvPr/>
        </p:nvSpPr>
        <p:spPr>
          <a:xfrm>
            <a:off x="6583680" y="5582412"/>
            <a:ext cx="5074920" cy="548640"/>
          </a:xfrm>
          <a:prstGeom prst="rect">
            <a:avLst/>
          </a:prstGeom>
          <a:noFill/>
          <a:ln/>
        </p:spPr>
        <p:txBody>
          <a:bodyPr wrap="square" lIns="0" tIns="0" rIns="0" bIns="0" rtlCol="0" anchor="ctr"/>
          <a:lstStyle/>
          <a:p>
            <a:pPr marL="0" indent="0">
              <a:buNone/>
            </a:pPr>
            <a:r>
              <a:rPr lang="en-US" sz="1300" b="1" dirty="0">
                <a:solidFill>
                  <a:schemeClr val="tx1"/>
                </a:solidFill>
              </a:rPr>
              <a:t>Cadmium</a:t>
            </a:r>
            <a:r>
              <a:rPr lang="en-US" sz="1300" dirty="0">
                <a:solidFill>
                  <a:schemeClr val="tx1"/>
                </a:solidFill>
              </a:rPr>
              <a:t> effect on Φ</a:t>
            </a:r>
            <a:r>
              <a:rPr lang="en-US" sz="1300" baseline="-40000" dirty="0">
                <a:solidFill>
                  <a:schemeClr val="tx1"/>
                </a:solidFill>
              </a:rPr>
              <a:t>PSII</a:t>
            </a:r>
            <a:r>
              <a:rPr lang="en-US" sz="1300" dirty="0">
                <a:solidFill>
                  <a:schemeClr val="tx1"/>
                </a:solidFill>
              </a:rPr>
              <a:t> in </a:t>
            </a:r>
            <a:r>
              <a:rPr lang="en-US" sz="1300" i="1" dirty="0">
                <a:solidFill>
                  <a:schemeClr val="tx1"/>
                </a:solidFill>
              </a:rPr>
              <a:t>Lemna</a:t>
            </a:r>
            <a:endParaRPr lang="en-US" sz="13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Imaging applications: fruit, development and cyanobacteria</a:t>
            </a:r>
            <a:endParaRPr lang="en-US" sz="3200" dirty="0"/>
          </a:p>
        </p:txBody>
      </p:sp>
      <p:sp>
        <p:nvSpPr>
          <p:cNvPr id="4" name="figure frame"/>
          <p:cNvSpPr/>
          <p:nvPr/>
        </p:nvSpPr>
        <p:spPr>
          <a:xfrm>
            <a:off x="548640" y="1325880"/>
            <a:ext cx="5440680" cy="1965960"/>
          </a:xfrm>
          <a:prstGeom prst="roundRect">
            <a:avLst>
              <a:gd name="adj" fmla="val 2791"/>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5" name="Image 0" descr="Post-harvest lemon damage: F₀, Fs, Fm and Fv/Fm images reveal damaged areas"/>
          <p:cNvPicPr>
            <a:picLocks noChangeAspect="1"/>
          </p:cNvPicPr>
          <p:nvPr/>
        </p:nvPicPr>
        <p:blipFill>
          <a:blip r:embed="rId3"/>
          <a:stretch>
            <a:fillRect/>
          </a:stretch>
        </p:blipFill>
        <p:spPr>
          <a:xfrm>
            <a:off x="1960457" y="1417320"/>
            <a:ext cx="2617045" cy="1783080"/>
          </a:xfrm>
          <a:prstGeom prst="rect">
            <a:avLst/>
          </a:prstGeom>
        </p:spPr>
      </p:pic>
      <p:sp>
        <p:nvSpPr>
          <p:cNvPr id="6" name="Text 2"/>
          <p:cNvSpPr txBox="1"/>
          <p:nvPr/>
        </p:nvSpPr>
        <p:spPr>
          <a:xfrm>
            <a:off x="548640" y="3337560"/>
            <a:ext cx="5440680" cy="365760"/>
          </a:xfrm>
          <a:prstGeom prst="rect">
            <a:avLst/>
          </a:prstGeom>
          <a:noFill/>
          <a:ln/>
        </p:spPr>
        <p:txBody>
          <a:bodyPr wrap="square" lIns="0" tIns="0" rIns="0" bIns="0" rtlCol="0" anchor="t"/>
          <a:lstStyle/>
          <a:p>
            <a:pPr marL="0" indent="0">
              <a:buNone/>
            </a:pPr>
            <a:r>
              <a:rPr lang="en-US" sz="1100" i="1" dirty="0">
                <a:solidFill>
                  <a:schemeClr val="accent6"/>
                </a:solidFill>
              </a:rPr>
              <a:t>Post-harvest lemon damage: F₀, Fs, Fm and Fv/Fm images reveal damaged areas</a:t>
            </a:r>
            <a:endParaRPr lang="en-US" sz="1100" dirty="0"/>
          </a:p>
        </p:txBody>
      </p:sp>
      <p:sp>
        <p:nvSpPr>
          <p:cNvPr id="7" name="figure frame"/>
          <p:cNvSpPr/>
          <p:nvPr/>
        </p:nvSpPr>
        <p:spPr>
          <a:xfrm>
            <a:off x="6199632" y="1325880"/>
            <a:ext cx="5440680" cy="1965960"/>
          </a:xfrm>
          <a:prstGeom prst="roundRect">
            <a:avLst>
              <a:gd name="adj" fmla="val 2791"/>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8" name="Image 1" descr="Green mould infection of lemons over 0–84 h"/>
          <p:cNvPicPr>
            <a:picLocks noChangeAspect="1"/>
          </p:cNvPicPr>
          <p:nvPr/>
        </p:nvPicPr>
        <p:blipFill>
          <a:blip r:embed="rId4"/>
          <a:stretch>
            <a:fillRect/>
          </a:stretch>
        </p:blipFill>
        <p:spPr>
          <a:xfrm>
            <a:off x="7731252" y="1417320"/>
            <a:ext cx="2377440" cy="1783080"/>
          </a:xfrm>
          <a:prstGeom prst="rect">
            <a:avLst/>
          </a:prstGeom>
        </p:spPr>
      </p:pic>
      <p:sp>
        <p:nvSpPr>
          <p:cNvPr id="9" name="Text 4"/>
          <p:cNvSpPr txBox="1"/>
          <p:nvPr/>
        </p:nvSpPr>
        <p:spPr>
          <a:xfrm>
            <a:off x="6199632" y="3337560"/>
            <a:ext cx="5440680" cy="365760"/>
          </a:xfrm>
          <a:prstGeom prst="rect">
            <a:avLst/>
          </a:prstGeom>
          <a:noFill/>
          <a:ln/>
        </p:spPr>
        <p:txBody>
          <a:bodyPr wrap="square" lIns="0" tIns="0" rIns="0" bIns="0" rtlCol="0" anchor="t"/>
          <a:lstStyle/>
          <a:p>
            <a:pPr marL="0" indent="0">
              <a:buNone/>
            </a:pPr>
            <a:r>
              <a:rPr lang="en-US" sz="1100" i="1" dirty="0">
                <a:solidFill>
                  <a:schemeClr val="accent6"/>
                </a:solidFill>
              </a:rPr>
              <a:t>Green mould infection of lemons over 0–84 h</a:t>
            </a:r>
            <a:endParaRPr lang="en-US" sz="1100" dirty="0"/>
          </a:p>
        </p:txBody>
      </p:sp>
      <p:sp>
        <p:nvSpPr>
          <p:cNvPr id="10" name="figure frame"/>
          <p:cNvSpPr/>
          <p:nvPr/>
        </p:nvSpPr>
        <p:spPr>
          <a:xfrm>
            <a:off x="548640" y="3840480"/>
            <a:ext cx="5440680" cy="1920240"/>
          </a:xfrm>
          <a:prstGeom prst="roundRect">
            <a:avLst>
              <a:gd name="adj" fmla="val 2857"/>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11" name="Image 2" descr="Leaf development: young vs old leaf images and kinetics"/>
          <p:cNvPicPr>
            <a:picLocks noChangeAspect="1"/>
          </p:cNvPicPr>
          <p:nvPr/>
        </p:nvPicPr>
        <p:blipFill>
          <a:blip r:embed="rId5"/>
          <a:stretch>
            <a:fillRect/>
          </a:stretch>
        </p:blipFill>
        <p:spPr>
          <a:xfrm>
            <a:off x="2110740" y="3931920"/>
            <a:ext cx="2316480" cy="1737360"/>
          </a:xfrm>
          <a:prstGeom prst="rect">
            <a:avLst/>
          </a:prstGeom>
        </p:spPr>
      </p:pic>
      <p:sp>
        <p:nvSpPr>
          <p:cNvPr id="12" name="Text 6"/>
          <p:cNvSpPr txBox="1"/>
          <p:nvPr/>
        </p:nvSpPr>
        <p:spPr>
          <a:xfrm>
            <a:off x="548640" y="5806440"/>
            <a:ext cx="5440680" cy="365760"/>
          </a:xfrm>
          <a:prstGeom prst="rect">
            <a:avLst/>
          </a:prstGeom>
          <a:noFill/>
          <a:ln/>
        </p:spPr>
        <p:txBody>
          <a:bodyPr wrap="square" lIns="0" tIns="0" rIns="0" bIns="0" rtlCol="0" anchor="t"/>
          <a:lstStyle/>
          <a:p>
            <a:pPr marL="0" indent="0">
              <a:buNone/>
            </a:pPr>
            <a:r>
              <a:rPr lang="en-US" sz="1100" i="1" dirty="0">
                <a:solidFill>
                  <a:schemeClr val="accent6"/>
                </a:solidFill>
              </a:rPr>
              <a:t>Leaf development: young vs old leaf images and kinetics</a:t>
            </a:r>
            <a:endParaRPr lang="en-US" sz="1100" dirty="0"/>
          </a:p>
        </p:txBody>
      </p:sp>
      <p:sp>
        <p:nvSpPr>
          <p:cNvPr id="13" name="figure frame"/>
          <p:cNvSpPr/>
          <p:nvPr/>
        </p:nvSpPr>
        <p:spPr>
          <a:xfrm>
            <a:off x="6199632" y="3840480"/>
            <a:ext cx="5440680" cy="1920240"/>
          </a:xfrm>
          <a:prstGeom prst="roundRect">
            <a:avLst>
              <a:gd name="adj" fmla="val 2857"/>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14" name="Image 3" descr="Heterocysts (arrows) in cyanobacteria are dark in Fm fluorescence"/>
          <p:cNvPicPr>
            <a:picLocks noChangeAspect="1"/>
          </p:cNvPicPr>
          <p:nvPr/>
        </p:nvPicPr>
        <p:blipFill>
          <a:blip r:embed="rId6"/>
          <a:stretch>
            <a:fillRect/>
          </a:stretch>
        </p:blipFill>
        <p:spPr>
          <a:xfrm>
            <a:off x="7761732" y="3931920"/>
            <a:ext cx="2316480" cy="1737360"/>
          </a:xfrm>
          <a:prstGeom prst="rect">
            <a:avLst/>
          </a:prstGeom>
        </p:spPr>
      </p:pic>
      <p:sp>
        <p:nvSpPr>
          <p:cNvPr id="15" name="Text 8"/>
          <p:cNvSpPr txBox="1"/>
          <p:nvPr/>
        </p:nvSpPr>
        <p:spPr>
          <a:xfrm>
            <a:off x="6199632" y="5806440"/>
            <a:ext cx="5440680" cy="365760"/>
          </a:xfrm>
          <a:prstGeom prst="rect">
            <a:avLst/>
          </a:prstGeom>
          <a:noFill/>
          <a:ln/>
        </p:spPr>
        <p:txBody>
          <a:bodyPr wrap="square" lIns="0" tIns="0" rIns="0" bIns="0" rtlCol="0" anchor="t"/>
          <a:lstStyle/>
          <a:p>
            <a:pPr marL="0" indent="0">
              <a:buNone/>
            </a:pPr>
            <a:r>
              <a:rPr lang="en-US" sz="1100" i="1" dirty="0">
                <a:solidFill>
                  <a:schemeClr val="accent6"/>
                </a:solidFill>
              </a:rPr>
              <a:t>Heterocysts (arrows) in cyanobacteria are dark in Fm fluorescence</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Stress phenotyping example: cadmium and salt</a:t>
            </a:r>
            <a:endParaRPr lang="en-US" sz="3200" dirty="0"/>
          </a:p>
        </p:txBody>
      </p:sp>
      <p:sp>
        <p:nvSpPr>
          <p:cNvPr id="4" name="figure frame"/>
          <p:cNvSpPr/>
          <p:nvPr/>
        </p:nvSpPr>
        <p:spPr>
          <a:xfrm>
            <a:off x="548640" y="1325880"/>
            <a:ext cx="6949440" cy="4480560"/>
          </a:xfrm>
          <a:prstGeom prst="roundRect">
            <a:avLst>
              <a:gd name="adj" fmla="val 1224"/>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5" name="Image 0" descr="Fv/Fm, YII and NPQ images and time courses under Cd, NaCl and Cd+NaCl stress"/>
          <p:cNvPicPr>
            <a:picLocks noChangeAspect="1"/>
          </p:cNvPicPr>
          <p:nvPr/>
        </p:nvPicPr>
        <p:blipFill>
          <a:blip r:embed="rId3"/>
          <a:stretch>
            <a:fillRect/>
          </a:stretch>
        </p:blipFill>
        <p:spPr>
          <a:xfrm>
            <a:off x="1244722" y="1417320"/>
            <a:ext cx="5557277" cy="4297680"/>
          </a:xfrm>
          <a:prstGeom prst="rect">
            <a:avLst/>
          </a:prstGeom>
        </p:spPr>
      </p:pic>
      <p:sp>
        <p:nvSpPr>
          <p:cNvPr id="6" name="Text 2"/>
          <p:cNvSpPr txBox="1"/>
          <p:nvPr/>
        </p:nvSpPr>
        <p:spPr>
          <a:xfrm>
            <a:off x="548640" y="5852160"/>
            <a:ext cx="6949440" cy="320040"/>
          </a:xfrm>
          <a:prstGeom prst="rect">
            <a:avLst/>
          </a:prstGeom>
          <a:noFill/>
          <a:ln/>
        </p:spPr>
        <p:txBody>
          <a:bodyPr wrap="square" lIns="0" tIns="0" rIns="0" bIns="0" rtlCol="0" anchor="t"/>
          <a:lstStyle/>
          <a:p>
            <a:pPr marL="0" indent="0">
              <a:buNone/>
            </a:pPr>
            <a:r>
              <a:rPr lang="en-US" sz="1100" i="1" dirty="0">
                <a:solidFill>
                  <a:schemeClr val="accent6"/>
                </a:solidFill>
              </a:rPr>
              <a:t>Fv/Fm, YII and NPQ images and time courses under Cd, NaCl and Cd+NaCl stress</a:t>
            </a:r>
            <a:endParaRPr lang="en-US" sz="1100" dirty="0"/>
          </a:p>
        </p:txBody>
      </p:sp>
      <p:sp>
        <p:nvSpPr>
          <p:cNvPr id="7" name="card"/>
          <p:cNvSpPr/>
          <p:nvPr/>
        </p:nvSpPr>
        <p:spPr>
          <a:xfrm>
            <a:off x="7726680" y="1325880"/>
            <a:ext cx="3913632" cy="2331720"/>
          </a:xfrm>
          <a:prstGeom prst="roundRect">
            <a:avLst>
              <a:gd name="adj" fmla="val 3137"/>
            </a:avLst>
          </a:prstGeom>
          <a:solidFill>
            <a:schemeClr val="bg2"/>
          </a:solidFill>
          <a:ln/>
          <a:effectLst>
            <a:outerShdw blurRad="76200" dist="25400" dir="5400000" algn="bl" rotWithShape="0">
              <a:srgbClr val="000000">
                <a:alpha val="14000"/>
              </a:srgbClr>
            </a:outerShdw>
          </a:effectLst>
        </p:spPr>
      </p:sp>
      <p:sp>
        <p:nvSpPr>
          <p:cNvPr id="8" name="Text 4"/>
          <p:cNvSpPr txBox="1"/>
          <p:nvPr/>
        </p:nvSpPr>
        <p:spPr>
          <a:xfrm>
            <a:off x="7909560" y="1463040"/>
            <a:ext cx="3593592" cy="365760"/>
          </a:xfrm>
          <a:prstGeom prst="rect">
            <a:avLst/>
          </a:prstGeom>
          <a:noFill/>
          <a:ln/>
        </p:spPr>
        <p:txBody>
          <a:bodyPr wrap="square" lIns="0" tIns="0" rIns="0" bIns="0" rtlCol="0" anchor="ctr"/>
          <a:lstStyle/>
          <a:p>
            <a:pPr marL="0" indent="0">
              <a:buNone/>
            </a:pPr>
            <a:r>
              <a:rPr lang="en-US" sz="1600" b="1" dirty="0">
                <a:solidFill>
                  <a:schemeClr val="tx2"/>
                </a:solidFill>
              </a:rPr>
              <a:t>How to read it</a:t>
            </a:r>
            <a:endParaRPr lang="en-US" sz="1600" dirty="0"/>
          </a:p>
        </p:txBody>
      </p:sp>
      <p:sp>
        <p:nvSpPr>
          <p:cNvPr id="9" name="Text 5"/>
          <p:cNvSpPr txBox="1"/>
          <p:nvPr/>
        </p:nvSpPr>
        <p:spPr>
          <a:xfrm>
            <a:off x="7909560" y="1874520"/>
            <a:ext cx="3547872" cy="169164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Rows: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 Y(II), NPQ</a:t>
            </a:r>
            <a:endParaRPr lang="en-US" sz="1300" dirty="0"/>
          </a:p>
          <a:p>
            <a:pPr marL="177800" indent="-177800">
              <a:spcAft>
                <a:spcPts val="400"/>
              </a:spcAft>
              <a:buSzPct val="100000"/>
              <a:buChar char="•"/>
            </a:pPr>
            <a:r>
              <a:rPr lang="en-US" sz="1300" dirty="0">
                <a:solidFill>
                  <a:schemeClr val="tx1"/>
                </a:solidFill>
              </a:rPr>
              <a:t>Columns: Control, Cd, Na, Cd+Na at 2 and 3 weeks</a:t>
            </a:r>
            <a:endParaRPr lang="en-US" sz="1300" dirty="0"/>
          </a:p>
          <a:p>
            <a:pPr marL="177800" indent="-177800">
              <a:spcAft>
                <a:spcPts val="400"/>
              </a:spcAft>
              <a:buSzPct val="100000"/>
              <a:buChar char="•"/>
            </a:pPr>
            <a:r>
              <a:rPr lang="en-US" sz="1300" dirty="0">
                <a:solidFill>
                  <a:schemeClr val="tx1"/>
                </a:solidFill>
              </a:rPr>
              <a:t>Colour scale: blue/purple = high, yellow/red = low</a:t>
            </a:r>
            <a:endParaRPr lang="en-US" sz="1300" dirty="0"/>
          </a:p>
        </p:txBody>
      </p:sp>
      <p:sp>
        <p:nvSpPr>
          <p:cNvPr id="10" name="card"/>
          <p:cNvSpPr/>
          <p:nvPr/>
        </p:nvSpPr>
        <p:spPr>
          <a:xfrm>
            <a:off x="7726680" y="3794760"/>
            <a:ext cx="3913632" cy="2377440"/>
          </a:xfrm>
          <a:prstGeom prst="roundRect">
            <a:avLst>
              <a:gd name="adj" fmla="val 3077"/>
            </a:avLst>
          </a:prstGeom>
          <a:solidFill>
            <a:schemeClr val="bg2"/>
          </a:solidFill>
          <a:ln/>
          <a:effectLst>
            <a:outerShdw blurRad="76200" dist="25400" dir="5400000" algn="bl" rotWithShape="0">
              <a:srgbClr val="000000">
                <a:alpha val="14000"/>
              </a:srgbClr>
            </a:outerShdw>
          </a:effectLst>
        </p:spPr>
      </p:sp>
      <p:sp>
        <p:nvSpPr>
          <p:cNvPr id="11" name="icon circle"/>
          <p:cNvSpPr/>
          <p:nvPr/>
        </p:nvSpPr>
        <p:spPr>
          <a:xfrm>
            <a:off x="7909560" y="3950208"/>
            <a:ext cx="420624" cy="420624"/>
          </a:xfrm>
          <a:prstGeom prst="ellipse">
            <a:avLst/>
          </a:prstGeom>
          <a:solidFill>
            <a:schemeClr val="accent3"/>
          </a:solidFill>
          <a:ln/>
        </p:spPr>
      </p:sp>
      <p:pic>
        <p:nvPicPr>
          <p:cNvPr id="12" name="Image 1" descr="Lightbulb icon"/>
          <p:cNvPicPr>
            <a:picLocks noChangeAspect="1"/>
          </p:cNvPicPr>
          <p:nvPr/>
        </p:nvPicPr>
        <p:blipFill>
          <a:blip r:embed="rId4"/>
          <a:stretch>
            <a:fillRect/>
          </a:stretch>
        </p:blipFill>
        <p:spPr>
          <a:xfrm>
            <a:off x="8018922" y="4059570"/>
            <a:ext cx="201900" cy="201900"/>
          </a:xfrm>
          <a:prstGeom prst="rect">
            <a:avLst/>
          </a:prstGeom>
        </p:spPr>
      </p:pic>
      <p:sp>
        <p:nvSpPr>
          <p:cNvPr id="13" name="Text 8"/>
          <p:cNvSpPr txBox="1"/>
          <p:nvPr/>
        </p:nvSpPr>
        <p:spPr>
          <a:xfrm>
            <a:off x="8439912" y="3931920"/>
            <a:ext cx="3063240" cy="457200"/>
          </a:xfrm>
          <a:prstGeom prst="rect">
            <a:avLst/>
          </a:prstGeom>
          <a:noFill/>
          <a:ln/>
        </p:spPr>
        <p:txBody>
          <a:bodyPr wrap="square" lIns="0" tIns="0" rIns="0" bIns="0" rtlCol="0" anchor="ctr"/>
          <a:lstStyle/>
          <a:p>
            <a:pPr marL="0" indent="0">
              <a:buNone/>
            </a:pPr>
            <a:r>
              <a:rPr lang="en-US" sz="1600" b="1" dirty="0">
                <a:solidFill>
                  <a:schemeClr val="tx2"/>
                </a:solidFill>
              </a:rPr>
              <a:t>Lessons</a:t>
            </a:r>
            <a:endParaRPr lang="en-US" sz="1600" dirty="0"/>
          </a:p>
        </p:txBody>
      </p:sp>
      <p:sp>
        <p:nvSpPr>
          <p:cNvPr id="14" name="Text 9"/>
          <p:cNvSpPr txBox="1"/>
          <p:nvPr/>
        </p:nvSpPr>
        <p:spPr>
          <a:xfrm>
            <a:off x="7909560" y="4480560"/>
            <a:ext cx="3547872"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Parameters respond differently and over different times</a:t>
            </a:r>
            <a:endParaRPr lang="en-US" sz="1300" dirty="0"/>
          </a:p>
          <a:p>
            <a:pPr marL="177800" indent="-177800">
              <a:spcAft>
                <a:spcPts val="400"/>
              </a:spcAft>
              <a:buSzPct val="100000"/>
              <a:buChar char="•"/>
            </a:pPr>
            <a:r>
              <a:rPr lang="en-US" sz="1300" dirty="0">
                <a:solidFill>
                  <a:schemeClr val="tx1"/>
                </a:solidFill>
              </a:rPr>
              <a:t>Images show where in the leaf damage starts</a:t>
            </a:r>
            <a:endParaRPr lang="en-US" sz="1300" dirty="0"/>
          </a:p>
          <a:p>
            <a:pPr marL="177800" indent="-177800">
              <a:spcAft>
                <a:spcPts val="400"/>
              </a:spcAft>
              <a:buSzPct val="100000"/>
              <a:buChar char="•"/>
            </a:pPr>
            <a:r>
              <a:rPr lang="en-US" sz="1300" dirty="0">
                <a:solidFill>
                  <a:schemeClr val="tx1"/>
                </a:solidFill>
              </a:rPr>
              <a:t>Combine dark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 and light (Y(II), NPQ) parameters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Towards long-term and remote monitoring</a:t>
            </a:r>
            <a:endParaRPr lang="en-US" sz="3200" dirty="0"/>
          </a:p>
        </p:txBody>
      </p:sp>
      <p:sp>
        <p:nvSpPr>
          <p:cNvPr id="4" name="icon circle"/>
          <p:cNvSpPr/>
          <p:nvPr/>
        </p:nvSpPr>
        <p:spPr>
          <a:xfrm>
            <a:off x="1143000" y="1463040"/>
            <a:ext cx="914400" cy="914400"/>
          </a:xfrm>
          <a:prstGeom prst="ellipse">
            <a:avLst/>
          </a:prstGeom>
          <a:solidFill>
            <a:schemeClr val="accent1"/>
          </a:solidFill>
          <a:ln/>
        </p:spPr>
      </p:sp>
      <p:pic>
        <p:nvPicPr>
          <p:cNvPr id="5" name="Image 0" descr="HandPaper icon"/>
          <p:cNvPicPr>
            <a:picLocks noChangeAspect="1"/>
          </p:cNvPicPr>
          <p:nvPr/>
        </p:nvPicPr>
        <p:blipFill>
          <a:blip r:embed="rId3"/>
          <a:stretch>
            <a:fillRect/>
          </a:stretch>
        </p:blipFill>
        <p:spPr>
          <a:xfrm>
            <a:off x="1380744" y="1700784"/>
            <a:ext cx="438912" cy="438912"/>
          </a:xfrm>
          <a:prstGeom prst="rect">
            <a:avLst/>
          </a:prstGeom>
        </p:spPr>
      </p:pic>
      <p:sp>
        <p:nvSpPr>
          <p:cNvPr id="6" name="Text 2"/>
          <p:cNvSpPr txBox="1"/>
          <p:nvPr/>
        </p:nvSpPr>
        <p:spPr>
          <a:xfrm>
            <a:off x="548640" y="2468880"/>
            <a:ext cx="2103120" cy="365760"/>
          </a:xfrm>
          <a:prstGeom prst="rect">
            <a:avLst/>
          </a:prstGeom>
          <a:noFill/>
          <a:ln/>
        </p:spPr>
        <p:txBody>
          <a:bodyPr wrap="square" lIns="0" tIns="0" rIns="0" bIns="0" rtlCol="0" anchor="ctr"/>
          <a:lstStyle/>
          <a:p>
            <a:pPr marL="0" indent="0" algn="ctr">
              <a:buNone/>
            </a:pPr>
            <a:r>
              <a:rPr lang="en-US" sz="1500" b="1" dirty="0">
                <a:solidFill>
                  <a:schemeClr val="tx2"/>
                </a:solidFill>
              </a:rPr>
              <a:t>Leaf clip PAM</a:t>
            </a:r>
            <a:endParaRPr lang="en-US" sz="1500" dirty="0"/>
          </a:p>
        </p:txBody>
      </p:sp>
      <p:sp>
        <p:nvSpPr>
          <p:cNvPr id="7" name="Text 3"/>
          <p:cNvSpPr txBox="1"/>
          <p:nvPr/>
        </p:nvSpPr>
        <p:spPr>
          <a:xfrm>
            <a:off x="548640" y="2834640"/>
            <a:ext cx="2103120" cy="365760"/>
          </a:xfrm>
          <a:prstGeom prst="rect">
            <a:avLst/>
          </a:prstGeom>
          <a:noFill/>
          <a:ln/>
        </p:spPr>
        <p:txBody>
          <a:bodyPr wrap="square" lIns="0" tIns="0" rIns="0" bIns="0" rtlCol="0" anchor="ctr"/>
          <a:lstStyle/>
          <a:p>
            <a:pPr marL="0" indent="0" algn="ctr">
              <a:buNone/>
            </a:pPr>
            <a:r>
              <a:rPr lang="en-US" sz="1200" dirty="0">
                <a:solidFill>
                  <a:schemeClr val="tx1"/>
                </a:solidFill>
              </a:rPr>
              <a:t>mm–cm · seconds</a:t>
            </a:r>
            <a:endParaRPr lang="en-US" sz="1200" dirty="0"/>
          </a:p>
        </p:txBody>
      </p:sp>
      <p:sp>
        <p:nvSpPr>
          <p:cNvPr id="8" name="arrow"/>
          <p:cNvSpPr/>
          <p:nvPr/>
        </p:nvSpPr>
        <p:spPr>
          <a:xfrm>
            <a:off x="2148840" y="1920240"/>
            <a:ext cx="1188720" cy="0"/>
          </a:xfrm>
          <a:prstGeom prst="line">
            <a:avLst/>
          </a:prstGeom>
          <a:noFill/>
          <a:ln w="25400">
            <a:solidFill>
              <a:srgbClr val="5E7268"/>
            </a:solidFill>
            <a:prstDash val="solid"/>
            <a:tailEnd type="triangle"/>
          </a:ln>
        </p:spPr>
      </p:sp>
      <p:sp>
        <p:nvSpPr>
          <p:cNvPr id="9" name="icon circle"/>
          <p:cNvSpPr/>
          <p:nvPr/>
        </p:nvSpPr>
        <p:spPr>
          <a:xfrm>
            <a:off x="3429000" y="1463040"/>
            <a:ext cx="914400" cy="914400"/>
          </a:xfrm>
          <a:prstGeom prst="ellipse">
            <a:avLst/>
          </a:prstGeom>
          <a:solidFill>
            <a:schemeClr val="accent1"/>
          </a:solidFill>
          <a:ln/>
        </p:spPr>
      </p:sp>
      <p:pic>
        <p:nvPicPr>
          <p:cNvPr id="10" name="Image 1" descr="Clock icon"/>
          <p:cNvPicPr>
            <a:picLocks noChangeAspect="1"/>
          </p:cNvPicPr>
          <p:nvPr/>
        </p:nvPicPr>
        <p:blipFill>
          <a:blip r:embed="rId4"/>
          <a:stretch>
            <a:fillRect/>
          </a:stretch>
        </p:blipFill>
        <p:spPr>
          <a:xfrm>
            <a:off x="3666744" y="1700784"/>
            <a:ext cx="438912" cy="438912"/>
          </a:xfrm>
          <a:prstGeom prst="rect">
            <a:avLst/>
          </a:prstGeom>
        </p:spPr>
      </p:pic>
      <p:sp>
        <p:nvSpPr>
          <p:cNvPr id="11" name="Text 6"/>
          <p:cNvSpPr txBox="1"/>
          <p:nvPr/>
        </p:nvSpPr>
        <p:spPr>
          <a:xfrm>
            <a:off x="2834640" y="2468880"/>
            <a:ext cx="2103120" cy="365760"/>
          </a:xfrm>
          <a:prstGeom prst="rect">
            <a:avLst/>
          </a:prstGeom>
          <a:noFill/>
          <a:ln/>
        </p:spPr>
        <p:txBody>
          <a:bodyPr wrap="square" lIns="0" tIns="0" rIns="0" bIns="0" rtlCol="0" anchor="ctr"/>
          <a:lstStyle/>
          <a:p>
            <a:pPr marL="0" indent="0" algn="ctr">
              <a:buNone/>
            </a:pPr>
            <a:r>
              <a:rPr lang="en-US" sz="1500" b="1" dirty="0">
                <a:solidFill>
                  <a:schemeClr val="tx2"/>
                </a:solidFill>
              </a:rPr>
              <a:t>Monitoring PAM</a:t>
            </a:r>
            <a:endParaRPr lang="en-US" sz="1500" dirty="0"/>
          </a:p>
        </p:txBody>
      </p:sp>
      <p:sp>
        <p:nvSpPr>
          <p:cNvPr id="12" name="Text 7"/>
          <p:cNvSpPr txBox="1"/>
          <p:nvPr/>
        </p:nvSpPr>
        <p:spPr>
          <a:xfrm>
            <a:off x="2834640" y="2834640"/>
            <a:ext cx="2103120" cy="365760"/>
          </a:xfrm>
          <a:prstGeom prst="rect">
            <a:avLst/>
          </a:prstGeom>
          <a:noFill/>
          <a:ln/>
        </p:spPr>
        <p:txBody>
          <a:bodyPr wrap="square" lIns="0" tIns="0" rIns="0" bIns="0" rtlCol="0" anchor="ctr"/>
          <a:lstStyle/>
          <a:p>
            <a:pPr marL="0" indent="0" algn="ctr">
              <a:buNone/>
            </a:pPr>
            <a:r>
              <a:rPr lang="en-US" sz="1200" dirty="0">
                <a:solidFill>
                  <a:schemeClr val="tx1"/>
                </a:solidFill>
              </a:rPr>
              <a:t>fixed heads · weeks–seasons</a:t>
            </a:r>
            <a:endParaRPr lang="en-US" sz="1200" dirty="0"/>
          </a:p>
        </p:txBody>
      </p:sp>
      <p:sp>
        <p:nvSpPr>
          <p:cNvPr id="13" name="arrow"/>
          <p:cNvSpPr/>
          <p:nvPr/>
        </p:nvSpPr>
        <p:spPr>
          <a:xfrm>
            <a:off x="4434840" y="1920240"/>
            <a:ext cx="1188720" cy="0"/>
          </a:xfrm>
          <a:prstGeom prst="line">
            <a:avLst/>
          </a:prstGeom>
          <a:noFill/>
          <a:ln w="25400">
            <a:solidFill>
              <a:srgbClr val="5E7268"/>
            </a:solidFill>
            <a:prstDash val="solid"/>
            <a:tailEnd type="triangle"/>
          </a:ln>
        </p:spPr>
      </p:sp>
      <p:sp>
        <p:nvSpPr>
          <p:cNvPr id="14" name="icon circle"/>
          <p:cNvSpPr/>
          <p:nvPr/>
        </p:nvSpPr>
        <p:spPr>
          <a:xfrm>
            <a:off x="5715000" y="1463040"/>
            <a:ext cx="914400" cy="914400"/>
          </a:xfrm>
          <a:prstGeom prst="ellipse">
            <a:avLst/>
          </a:prstGeom>
          <a:solidFill>
            <a:schemeClr val="accent5"/>
          </a:solidFill>
          <a:ln/>
        </p:spPr>
      </p:sp>
      <p:pic>
        <p:nvPicPr>
          <p:cNvPr id="15" name="Image 2" descr="BroadcastTower icon"/>
          <p:cNvPicPr>
            <a:picLocks noChangeAspect="1"/>
          </p:cNvPicPr>
          <p:nvPr/>
        </p:nvPicPr>
        <p:blipFill>
          <a:blip r:embed="rId5"/>
          <a:stretch>
            <a:fillRect/>
          </a:stretch>
        </p:blipFill>
        <p:spPr>
          <a:xfrm>
            <a:off x="5952744" y="1700784"/>
            <a:ext cx="438912" cy="438912"/>
          </a:xfrm>
          <a:prstGeom prst="rect">
            <a:avLst/>
          </a:prstGeom>
        </p:spPr>
      </p:pic>
      <p:sp>
        <p:nvSpPr>
          <p:cNvPr id="16" name="Text 10"/>
          <p:cNvSpPr txBox="1"/>
          <p:nvPr/>
        </p:nvSpPr>
        <p:spPr>
          <a:xfrm>
            <a:off x="5120640" y="2468880"/>
            <a:ext cx="2103120" cy="365760"/>
          </a:xfrm>
          <a:prstGeom prst="rect">
            <a:avLst/>
          </a:prstGeom>
          <a:noFill/>
          <a:ln/>
        </p:spPr>
        <p:txBody>
          <a:bodyPr wrap="square" lIns="0" tIns="0" rIns="0" bIns="0" rtlCol="0" anchor="ctr"/>
          <a:lstStyle/>
          <a:p>
            <a:pPr marL="0" indent="0" algn="ctr">
              <a:buNone/>
            </a:pPr>
            <a:r>
              <a:rPr lang="en-US" sz="1500" b="1" dirty="0">
                <a:solidFill>
                  <a:schemeClr val="tx2"/>
                </a:solidFill>
              </a:rPr>
              <a:t>LIFT (laser)</a:t>
            </a:r>
            <a:endParaRPr lang="en-US" sz="1500" dirty="0"/>
          </a:p>
        </p:txBody>
      </p:sp>
      <p:sp>
        <p:nvSpPr>
          <p:cNvPr id="17" name="Text 11"/>
          <p:cNvSpPr txBox="1"/>
          <p:nvPr/>
        </p:nvSpPr>
        <p:spPr>
          <a:xfrm>
            <a:off x="5120640" y="2834640"/>
            <a:ext cx="2103120" cy="365760"/>
          </a:xfrm>
          <a:prstGeom prst="rect">
            <a:avLst/>
          </a:prstGeom>
          <a:noFill/>
          <a:ln/>
        </p:spPr>
        <p:txBody>
          <a:bodyPr wrap="square" lIns="0" tIns="0" rIns="0" bIns="0" rtlCol="0" anchor="ctr"/>
          <a:lstStyle/>
          <a:p>
            <a:pPr marL="0" indent="0" algn="ctr">
              <a:buNone/>
            </a:pPr>
            <a:r>
              <a:rPr lang="en-US" sz="1200" dirty="0">
                <a:solidFill>
                  <a:schemeClr val="tx1"/>
                </a:solidFill>
              </a:rPr>
              <a:t>5–50 m · canopy, active</a:t>
            </a:r>
            <a:endParaRPr lang="en-US" sz="1200" dirty="0"/>
          </a:p>
        </p:txBody>
      </p:sp>
      <p:sp>
        <p:nvSpPr>
          <p:cNvPr id="18" name="arrow"/>
          <p:cNvSpPr/>
          <p:nvPr/>
        </p:nvSpPr>
        <p:spPr>
          <a:xfrm>
            <a:off x="6720840" y="1920240"/>
            <a:ext cx="1188720" cy="0"/>
          </a:xfrm>
          <a:prstGeom prst="line">
            <a:avLst/>
          </a:prstGeom>
          <a:noFill/>
          <a:ln w="25400">
            <a:solidFill>
              <a:srgbClr val="5E7268"/>
            </a:solidFill>
            <a:prstDash val="solid"/>
            <a:tailEnd type="triangle"/>
          </a:ln>
        </p:spPr>
      </p:sp>
      <p:sp>
        <p:nvSpPr>
          <p:cNvPr id="19" name="icon circle"/>
          <p:cNvSpPr/>
          <p:nvPr/>
        </p:nvSpPr>
        <p:spPr>
          <a:xfrm>
            <a:off x="8001000" y="1463040"/>
            <a:ext cx="914400" cy="914400"/>
          </a:xfrm>
          <a:prstGeom prst="ellipse">
            <a:avLst/>
          </a:prstGeom>
          <a:solidFill>
            <a:schemeClr val="accent2"/>
          </a:solidFill>
          <a:ln/>
        </p:spPr>
      </p:sp>
      <p:pic>
        <p:nvPicPr>
          <p:cNvPr id="20" name="Image 3" descr="Plane icon"/>
          <p:cNvPicPr>
            <a:picLocks noChangeAspect="1"/>
          </p:cNvPicPr>
          <p:nvPr/>
        </p:nvPicPr>
        <p:blipFill>
          <a:blip r:embed="rId6"/>
          <a:stretch>
            <a:fillRect/>
          </a:stretch>
        </p:blipFill>
        <p:spPr>
          <a:xfrm>
            <a:off x="8238744" y="1700784"/>
            <a:ext cx="438912" cy="438912"/>
          </a:xfrm>
          <a:prstGeom prst="rect">
            <a:avLst/>
          </a:prstGeom>
        </p:spPr>
      </p:pic>
      <p:sp>
        <p:nvSpPr>
          <p:cNvPr id="21" name="Text 14"/>
          <p:cNvSpPr txBox="1"/>
          <p:nvPr/>
        </p:nvSpPr>
        <p:spPr>
          <a:xfrm>
            <a:off x="7406640" y="2468880"/>
            <a:ext cx="2103120" cy="365760"/>
          </a:xfrm>
          <a:prstGeom prst="rect">
            <a:avLst/>
          </a:prstGeom>
          <a:noFill/>
          <a:ln/>
        </p:spPr>
        <p:txBody>
          <a:bodyPr wrap="square" lIns="0" tIns="0" rIns="0" bIns="0" rtlCol="0" anchor="ctr"/>
          <a:lstStyle/>
          <a:p>
            <a:pPr marL="0" indent="0" algn="ctr">
              <a:buNone/>
            </a:pPr>
            <a:r>
              <a:rPr lang="en-US" sz="1500" b="1" dirty="0">
                <a:solidFill>
                  <a:schemeClr val="tx2"/>
                </a:solidFill>
              </a:rPr>
              <a:t>UAV / airborne</a:t>
            </a:r>
            <a:endParaRPr lang="en-US" sz="1500" dirty="0"/>
          </a:p>
        </p:txBody>
      </p:sp>
      <p:sp>
        <p:nvSpPr>
          <p:cNvPr id="22" name="Text 15"/>
          <p:cNvSpPr txBox="1"/>
          <p:nvPr/>
        </p:nvSpPr>
        <p:spPr>
          <a:xfrm>
            <a:off x="7406640" y="2834640"/>
            <a:ext cx="2103120" cy="365760"/>
          </a:xfrm>
          <a:prstGeom prst="rect">
            <a:avLst/>
          </a:prstGeom>
          <a:noFill/>
          <a:ln/>
        </p:spPr>
        <p:txBody>
          <a:bodyPr wrap="square" lIns="0" tIns="0" rIns="0" bIns="0" rtlCol="0" anchor="ctr"/>
          <a:lstStyle/>
          <a:p>
            <a:pPr marL="0" indent="0" algn="ctr">
              <a:buNone/>
            </a:pPr>
            <a:r>
              <a:rPr lang="en-US" sz="1200" dirty="0">
                <a:solidFill>
                  <a:schemeClr val="tx1"/>
                </a:solidFill>
              </a:rPr>
              <a:t>m · passive SIF</a:t>
            </a:r>
            <a:endParaRPr lang="en-US" sz="1200" dirty="0"/>
          </a:p>
        </p:txBody>
      </p:sp>
      <p:sp>
        <p:nvSpPr>
          <p:cNvPr id="23" name="arrow"/>
          <p:cNvSpPr/>
          <p:nvPr/>
        </p:nvSpPr>
        <p:spPr>
          <a:xfrm>
            <a:off x="9006840" y="1920240"/>
            <a:ext cx="1188720" cy="0"/>
          </a:xfrm>
          <a:prstGeom prst="line">
            <a:avLst/>
          </a:prstGeom>
          <a:noFill/>
          <a:ln w="25400">
            <a:solidFill>
              <a:srgbClr val="5E7268"/>
            </a:solidFill>
            <a:prstDash val="solid"/>
            <a:tailEnd type="triangle"/>
          </a:ln>
        </p:spPr>
      </p:sp>
      <p:sp>
        <p:nvSpPr>
          <p:cNvPr id="24" name="icon circle"/>
          <p:cNvSpPr/>
          <p:nvPr/>
        </p:nvSpPr>
        <p:spPr>
          <a:xfrm>
            <a:off x="10287000" y="1463040"/>
            <a:ext cx="914400" cy="914400"/>
          </a:xfrm>
          <a:prstGeom prst="ellipse">
            <a:avLst/>
          </a:prstGeom>
          <a:solidFill>
            <a:schemeClr val="accent2"/>
          </a:solidFill>
          <a:ln/>
        </p:spPr>
      </p:sp>
      <p:pic>
        <p:nvPicPr>
          <p:cNvPr id="25" name="Image 4" descr="Satellite icon"/>
          <p:cNvPicPr>
            <a:picLocks noChangeAspect="1"/>
          </p:cNvPicPr>
          <p:nvPr/>
        </p:nvPicPr>
        <p:blipFill>
          <a:blip r:embed="rId7"/>
          <a:stretch>
            <a:fillRect/>
          </a:stretch>
        </p:blipFill>
        <p:spPr>
          <a:xfrm>
            <a:off x="10524744" y="1700784"/>
            <a:ext cx="438912" cy="438912"/>
          </a:xfrm>
          <a:prstGeom prst="rect">
            <a:avLst/>
          </a:prstGeom>
        </p:spPr>
      </p:pic>
      <p:sp>
        <p:nvSpPr>
          <p:cNvPr id="26" name="Text 18"/>
          <p:cNvSpPr txBox="1"/>
          <p:nvPr/>
        </p:nvSpPr>
        <p:spPr>
          <a:xfrm>
            <a:off x="9692640" y="2468880"/>
            <a:ext cx="2103120" cy="365760"/>
          </a:xfrm>
          <a:prstGeom prst="rect">
            <a:avLst/>
          </a:prstGeom>
          <a:noFill/>
          <a:ln/>
        </p:spPr>
        <p:txBody>
          <a:bodyPr wrap="square" lIns="0" tIns="0" rIns="0" bIns="0" rtlCol="0" anchor="ctr"/>
          <a:lstStyle/>
          <a:p>
            <a:pPr marL="0" indent="0" algn="ctr">
              <a:buNone/>
            </a:pPr>
            <a:r>
              <a:rPr lang="en-US" sz="1500" b="1" dirty="0">
                <a:solidFill>
                  <a:schemeClr val="tx2"/>
                </a:solidFill>
              </a:rPr>
              <a:t>Satellite</a:t>
            </a:r>
            <a:endParaRPr lang="en-US" sz="1500" dirty="0"/>
          </a:p>
        </p:txBody>
      </p:sp>
      <p:sp>
        <p:nvSpPr>
          <p:cNvPr id="27" name="Text 19"/>
          <p:cNvSpPr txBox="1"/>
          <p:nvPr/>
        </p:nvSpPr>
        <p:spPr>
          <a:xfrm>
            <a:off x="9692640" y="2834640"/>
            <a:ext cx="2103120" cy="365760"/>
          </a:xfrm>
          <a:prstGeom prst="rect">
            <a:avLst/>
          </a:prstGeom>
          <a:noFill/>
          <a:ln/>
        </p:spPr>
        <p:txBody>
          <a:bodyPr wrap="square" lIns="0" tIns="0" rIns="0" bIns="0" rtlCol="0" anchor="ctr"/>
          <a:lstStyle/>
          <a:p>
            <a:pPr marL="0" indent="0" algn="ctr">
              <a:buNone/>
            </a:pPr>
            <a:r>
              <a:rPr lang="en-US" sz="1200" dirty="0">
                <a:solidFill>
                  <a:schemeClr val="tx1"/>
                </a:solidFill>
              </a:rPr>
              <a:t>300 m–km · passive SIF</a:t>
            </a:r>
            <a:endParaRPr lang="en-US" sz="1200" dirty="0"/>
          </a:p>
        </p:txBody>
      </p:sp>
      <p:sp>
        <p:nvSpPr>
          <p:cNvPr id="28" name="Text 20"/>
          <p:cNvSpPr txBox="1"/>
          <p:nvPr/>
        </p:nvSpPr>
        <p:spPr>
          <a:xfrm>
            <a:off x="548640" y="3291840"/>
            <a:ext cx="6675120" cy="365760"/>
          </a:xfrm>
          <a:prstGeom prst="rect">
            <a:avLst/>
          </a:prstGeom>
          <a:noFill/>
          <a:ln/>
        </p:spPr>
        <p:txBody>
          <a:bodyPr wrap="square" lIns="0" tIns="0" rIns="0" bIns="0" rtlCol="0" anchor="ctr"/>
          <a:lstStyle/>
          <a:p>
            <a:pPr marL="0" indent="0" algn="l">
              <a:buNone/>
            </a:pPr>
            <a:r>
              <a:rPr lang="en-US" sz="1300" b="1" dirty="0">
                <a:solidFill>
                  <a:schemeClr val="accent1"/>
                </a:solidFill>
              </a:rPr>
              <a:t>ACTIVE (instrument supplies the light)</a:t>
            </a:r>
            <a:endParaRPr lang="en-US" sz="1300" dirty="0"/>
          </a:p>
        </p:txBody>
      </p:sp>
      <p:sp>
        <p:nvSpPr>
          <p:cNvPr id="29" name="Text 21"/>
          <p:cNvSpPr txBox="1"/>
          <p:nvPr/>
        </p:nvSpPr>
        <p:spPr>
          <a:xfrm>
            <a:off x="7498080" y="3291840"/>
            <a:ext cx="4114800" cy="365760"/>
          </a:xfrm>
          <a:prstGeom prst="rect">
            <a:avLst/>
          </a:prstGeom>
          <a:noFill/>
          <a:ln/>
        </p:spPr>
        <p:txBody>
          <a:bodyPr wrap="square" lIns="0" tIns="0" rIns="0" bIns="0" rtlCol="0" anchor="ctr"/>
          <a:lstStyle/>
          <a:p>
            <a:pPr marL="0" indent="0" algn="r">
              <a:buNone/>
            </a:pPr>
            <a:r>
              <a:rPr lang="en-US" sz="1300" b="1" dirty="0">
                <a:solidFill>
                  <a:schemeClr val="accent2"/>
                </a:solidFill>
              </a:rPr>
              <a:t>PASSIVE (sunlight only) →</a:t>
            </a:r>
            <a:endParaRPr lang="en-US" sz="1300" dirty="0"/>
          </a:p>
        </p:txBody>
      </p:sp>
      <p:sp>
        <p:nvSpPr>
          <p:cNvPr id="30" name="card"/>
          <p:cNvSpPr/>
          <p:nvPr/>
        </p:nvSpPr>
        <p:spPr>
          <a:xfrm>
            <a:off x="548640" y="3840480"/>
            <a:ext cx="3566160" cy="2331720"/>
          </a:xfrm>
          <a:prstGeom prst="roundRect">
            <a:avLst>
              <a:gd name="adj" fmla="val 3137"/>
            </a:avLst>
          </a:prstGeom>
          <a:solidFill>
            <a:schemeClr val="bg2"/>
          </a:solidFill>
          <a:ln/>
          <a:effectLst>
            <a:outerShdw blurRad="76200" dist="25400" dir="5400000" algn="bl" rotWithShape="0">
              <a:srgbClr val="000000">
                <a:alpha val="14000"/>
              </a:srgbClr>
            </a:outerShdw>
          </a:effectLst>
        </p:spPr>
      </p:sp>
      <p:sp>
        <p:nvSpPr>
          <p:cNvPr id="31" name="Text 23"/>
          <p:cNvSpPr txBox="1"/>
          <p:nvPr/>
        </p:nvSpPr>
        <p:spPr>
          <a:xfrm>
            <a:off x="731520" y="3977640"/>
            <a:ext cx="3246120" cy="365760"/>
          </a:xfrm>
          <a:prstGeom prst="rect">
            <a:avLst/>
          </a:prstGeom>
          <a:noFill/>
          <a:ln/>
        </p:spPr>
        <p:txBody>
          <a:bodyPr wrap="square" lIns="0" tIns="0" rIns="0" bIns="0" rtlCol="0" anchor="ctr"/>
          <a:lstStyle/>
          <a:p>
            <a:pPr marL="0" indent="0">
              <a:buNone/>
            </a:pPr>
            <a:r>
              <a:rPr lang="en-US" sz="1600" b="1" dirty="0">
                <a:solidFill>
                  <a:schemeClr val="tx2"/>
                </a:solidFill>
              </a:rPr>
              <a:t>Monitoring PAM</a:t>
            </a:r>
            <a:endParaRPr lang="en-US" sz="1600" dirty="0"/>
          </a:p>
        </p:txBody>
      </p:sp>
      <p:sp>
        <p:nvSpPr>
          <p:cNvPr id="32" name="Text 24"/>
          <p:cNvSpPr txBox="1"/>
          <p:nvPr/>
        </p:nvSpPr>
        <p:spPr>
          <a:xfrm>
            <a:off x="731520" y="4389120"/>
            <a:ext cx="3200400" cy="16916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Modular heads measure F′ and, with pulses, F</a:t>
            </a:r>
            <a:r>
              <a:rPr lang="en-US" sz="1300" baseline="-40000" dirty="0">
                <a:solidFill>
                  <a:schemeClr val="tx1"/>
                </a:solidFill>
              </a:rPr>
              <a:t>m</a:t>
            </a:r>
            <a:r>
              <a:rPr lang="en-US" sz="1300" dirty="0">
                <a:solidFill>
                  <a:schemeClr val="tx1"/>
                </a:solidFill>
              </a:rPr>
              <a:t>′; used for annual NPQ in boreal forest and rice canopies.</a:t>
            </a:r>
            <a:endParaRPr lang="en-US" sz="1300" dirty="0"/>
          </a:p>
        </p:txBody>
      </p:sp>
      <p:sp>
        <p:nvSpPr>
          <p:cNvPr id="33" name="card"/>
          <p:cNvSpPr/>
          <p:nvPr/>
        </p:nvSpPr>
        <p:spPr>
          <a:xfrm>
            <a:off x="4315968" y="3840480"/>
            <a:ext cx="3566160" cy="2331720"/>
          </a:xfrm>
          <a:prstGeom prst="roundRect">
            <a:avLst>
              <a:gd name="adj" fmla="val 3137"/>
            </a:avLst>
          </a:prstGeom>
          <a:solidFill>
            <a:schemeClr val="bg2"/>
          </a:solidFill>
          <a:ln/>
          <a:effectLst>
            <a:outerShdw blurRad="76200" dist="25400" dir="5400000" algn="bl" rotWithShape="0">
              <a:srgbClr val="000000">
                <a:alpha val="14000"/>
              </a:srgbClr>
            </a:outerShdw>
          </a:effectLst>
        </p:spPr>
      </p:sp>
      <p:sp>
        <p:nvSpPr>
          <p:cNvPr id="34" name="Text 26"/>
          <p:cNvSpPr txBox="1"/>
          <p:nvPr/>
        </p:nvSpPr>
        <p:spPr>
          <a:xfrm>
            <a:off x="4498848" y="3977640"/>
            <a:ext cx="3246120" cy="365760"/>
          </a:xfrm>
          <a:prstGeom prst="rect">
            <a:avLst/>
          </a:prstGeom>
          <a:noFill/>
          <a:ln/>
        </p:spPr>
        <p:txBody>
          <a:bodyPr wrap="square" lIns="0" tIns="0" rIns="0" bIns="0" rtlCol="0" anchor="ctr"/>
          <a:lstStyle/>
          <a:p>
            <a:pPr marL="0" indent="0">
              <a:buNone/>
            </a:pPr>
            <a:r>
              <a:rPr lang="en-US" sz="1600" b="1" dirty="0">
                <a:solidFill>
                  <a:schemeClr val="tx2"/>
                </a:solidFill>
              </a:rPr>
              <a:t>LIFT</a:t>
            </a:r>
            <a:endParaRPr lang="en-US" sz="1600" dirty="0"/>
          </a:p>
        </p:txBody>
      </p:sp>
      <p:sp>
        <p:nvSpPr>
          <p:cNvPr id="35" name="Text 27"/>
          <p:cNvSpPr txBox="1"/>
          <p:nvPr/>
        </p:nvSpPr>
        <p:spPr>
          <a:xfrm>
            <a:off x="4498848" y="4389120"/>
            <a:ext cx="3200400" cy="16916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Laser projects a ~100 mm spot onto the canopy; telescope + photodiode give PSII yield and electron transport at 5–50 m.</a:t>
            </a:r>
            <a:endParaRPr lang="en-US" sz="1300" dirty="0"/>
          </a:p>
        </p:txBody>
      </p:sp>
      <p:sp>
        <p:nvSpPr>
          <p:cNvPr id="36" name="card"/>
          <p:cNvSpPr/>
          <p:nvPr/>
        </p:nvSpPr>
        <p:spPr>
          <a:xfrm>
            <a:off x="8083296" y="3840480"/>
            <a:ext cx="3557016" cy="2331720"/>
          </a:xfrm>
          <a:prstGeom prst="roundRect">
            <a:avLst>
              <a:gd name="adj" fmla="val 3137"/>
            </a:avLst>
          </a:prstGeom>
          <a:solidFill>
            <a:schemeClr val="bg2"/>
          </a:solidFill>
          <a:ln/>
          <a:effectLst>
            <a:outerShdw blurRad="76200" dist="25400" dir="5400000" algn="bl" rotWithShape="0">
              <a:srgbClr val="000000">
                <a:alpha val="14000"/>
              </a:srgbClr>
            </a:outerShdw>
          </a:effectLst>
        </p:spPr>
      </p:sp>
      <p:sp>
        <p:nvSpPr>
          <p:cNvPr id="37" name="Text 29"/>
          <p:cNvSpPr txBox="1"/>
          <p:nvPr/>
        </p:nvSpPr>
        <p:spPr>
          <a:xfrm>
            <a:off x="8266176" y="3977640"/>
            <a:ext cx="3236976" cy="365760"/>
          </a:xfrm>
          <a:prstGeom prst="rect">
            <a:avLst/>
          </a:prstGeom>
          <a:noFill/>
          <a:ln/>
        </p:spPr>
        <p:txBody>
          <a:bodyPr wrap="square" lIns="0" tIns="0" rIns="0" bIns="0" rtlCol="0" anchor="ctr"/>
          <a:lstStyle/>
          <a:p>
            <a:pPr marL="0" indent="0">
              <a:buNone/>
            </a:pPr>
            <a:r>
              <a:rPr lang="en-US" sz="1600" b="1" dirty="0">
                <a:solidFill>
                  <a:schemeClr val="accent2"/>
                </a:solidFill>
              </a:rPr>
              <a:t>Passive sensing</a:t>
            </a:r>
            <a:endParaRPr lang="en-US" sz="1600" dirty="0"/>
          </a:p>
        </p:txBody>
      </p:sp>
      <p:sp>
        <p:nvSpPr>
          <p:cNvPr id="38" name="Text 30"/>
          <p:cNvSpPr txBox="1"/>
          <p:nvPr/>
        </p:nvSpPr>
        <p:spPr>
          <a:xfrm>
            <a:off x="8266176" y="4389120"/>
            <a:ext cx="3191256" cy="16916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No saturating pulse and uneven illumination, but continuous, large-area coverage → </a:t>
            </a:r>
            <a:r>
              <a:rPr lang="en-US" sz="1300" b="1" dirty="0">
                <a:solidFill>
                  <a:schemeClr val="tx1"/>
                </a:solidFill>
              </a:rPr>
              <a:t>SIF</a:t>
            </a:r>
            <a:r>
              <a:rPr lang="en-US" sz="1300" dirty="0">
                <a:solidFill>
                  <a:schemeClr val="tx1"/>
                </a:solidFill>
              </a:rPr>
              <a:t>.</a:t>
            </a:r>
            <a:endParaRPr lang="en-US" sz="13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514600"/>
            <a:ext cx="7680960" cy="1188720"/>
          </a:xfrm>
          <a:prstGeom prst="rect">
            <a:avLst/>
          </a:prstGeom>
          <a:noFill/>
          <a:ln/>
        </p:spPr>
        <p:txBody>
          <a:bodyPr wrap="square" lIns="0" tIns="0" rIns="0" bIns="0" rtlCol="0" anchor="ctr"/>
          <a:lstStyle/>
          <a:p>
            <a:pPr marL="0" indent="0" algn="l">
              <a:buNone/>
            </a:pPr>
            <a:r>
              <a:rPr lang="en-US" sz="4000" b="1" dirty="0">
                <a:solidFill>
                  <a:schemeClr val="bg1"/>
                </a:solidFill>
              </a:rPr>
              <a:t>Sun-induced fluorescence (SIF)</a:t>
            </a:r>
            <a:endParaRPr lang="en-US" sz="4000" dirty="0"/>
          </a:p>
        </p:txBody>
      </p:sp>
      <p:sp>
        <p:nvSpPr>
          <p:cNvPr id="3" name="Text 0"/>
          <p:cNvSpPr>
            <a:spLocks noGrp="1"/>
          </p:cNvSpPr>
          <p:nvPr>
            <p:ph type="body" idx="101" hasCustomPrompt="1"/>
          </p:nvPr>
        </p:nvSpPr>
        <p:spPr>
          <a:xfrm>
            <a:off x="731520" y="3794760"/>
            <a:ext cx="7498080" cy="1280160"/>
          </a:xfrm>
          <a:prstGeom prst="rect">
            <a:avLst/>
          </a:prstGeom>
          <a:noFill/>
          <a:ln/>
        </p:spPr>
        <p:txBody>
          <a:bodyPr wrap="square" lIns="0" tIns="0" rIns="0" bIns="0" rtlCol="0" anchor="t"/>
          <a:lstStyle/>
          <a:p>
            <a:pPr marL="0" indent="0">
              <a:buNone/>
            </a:pPr>
            <a:r>
              <a:rPr lang="en-US" sz="1800" dirty="0">
                <a:solidFill>
                  <a:schemeClr val="bg2"/>
                </a:solidFill>
              </a:rPr>
              <a:t>Measuring the same red glow passively under sunlight — from leaf to satellite. Based on Mohammed et al. (2019), '50 years of progress'</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marL="0" indent="0">
              <a:buNone/>
            </a:pPr>
            <a:r>
              <a:rPr lang="en-US" sz="7200" b="1" dirty="0">
                <a:solidFill>
                  <a:schemeClr val="accent3"/>
                </a:solidFill>
                <a:latin typeface="Cambria" pitchFamily="34" charset="0"/>
                <a:ea typeface="Cambria" pitchFamily="34" charset="-122"/>
                <a:cs typeface="Cambria" pitchFamily="34" charset="-120"/>
              </a:rPr>
              <a:t>08</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Active (PAM) vs passive (SIF) fluorescence</a:t>
            </a:r>
            <a:endParaRPr lang="en-US" sz="32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4535424"/>
        </p:xfrm>
        <a:graphic>
          <a:graphicData uri="http://schemas.openxmlformats.org/drawingml/2006/table">
            <a:tbl>
              <a:tblPr/>
              <a:tblGrid>
                <a:gridCol w="210312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507992">
                  <a:extLst>
                    <a:ext uri="{9D8B030D-6E8A-4147-A177-3AD203B41FA5}">
                      <a16:colId xmlns:a16="http://schemas.microsoft.com/office/drawing/2014/main" val="20002"/>
                    </a:ext>
                  </a:extLst>
                </a:gridCol>
              </a:tblGrid>
              <a:tr h="566928">
                <a:tc>
                  <a:txBody>
                    <a:bodyPr/>
                    <a:lstStyle/>
                    <a:p>
                      <a:pPr marL="0" indent="0">
                        <a:buNone/>
                      </a:pPr>
                      <a:endParaRPr lang="en-US" sz="15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marL="0" indent="0">
                        <a:buNone/>
                      </a:pPr>
                      <a:r>
                        <a:rPr lang="en-US" sz="1500" b="1" dirty="0">
                          <a:solidFill>
                            <a:schemeClr val="bg1"/>
                          </a:solidFill>
                        </a:rPr>
                        <a:t>Active — PAM fluorometry</a:t>
                      </a:r>
                      <a:endParaRPr lang="en-US" sz="15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accent1"/>
                    </a:solidFill>
                  </a:tcPr>
                </a:tc>
                <a:tc>
                  <a:txBody>
                    <a:bodyPr/>
                    <a:lstStyle/>
                    <a:p>
                      <a:pPr marL="0" indent="0">
                        <a:buNone/>
                      </a:pPr>
                      <a:r>
                        <a:rPr lang="en-US" sz="1500" b="1" dirty="0">
                          <a:solidFill>
                            <a:schemeClr val="bg1"/>
                          </a:solidFill>
                        </a:rPr>
                        <a:t>Passive — SIF</a:t>
                      </a:r>
                      <a:endParaRPr lang="en-US" sz="15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566928">
                <a:tc>
                  <a:txBody>
                    <a:bodyPr/>
                    <a:lstStyle/>
                    <a:p>
                      <a:pPr marL="0" indent="0">
                        <a:buNone/>
                      </a:pPr>
                      <a:r>
                        <a:rPr lang="en-US" sz="1300" b="1" dirty="0">
                          <a:solidFill>
                            <a:schemeClr val="tx2"/>
                          </a:solidFill>
                        </a:rPr>
                        <a:t>Light source</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Instrument (ML, AL, SP, FR)</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The sun</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66928">
                <a:tc>
                  <a:txBody>
                    <a:bodyPr/>
                    <a:lstStyle/>
                    <a:p>
                      <a:pPr marL="0" indent="0">
                        <a:buNone/>
                      </a:pPr>
                      <a:r>
                        <a:rPr lang="en-US" sz="1300" b="1" dirty="0">
                          <a:solidFill>
                            <a:schemeClr val="tx2"/>
                          </a:solidFill>
                        </a:rPr>
                        <a:t>Saturating pulse</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Yes → F</a:t>
                      </a:r>
                      <a:r>
                        <a:rPr lang="en-US" sz="1300" baseline="-40000" dirty="0">
                          <a:solidFill>
                            <a:schemeClr val="tx1"/>
                          </a:solidFill>
                        </a:rPr>
                        <a:t>m</a:t>
                      </a:r>
                      <a:r>
                        <a:rPr lang="en-US" sz="1300" dirty="0">
                          <a:solidFill>
                            <a:schemeClr val="tx1"/>
                          </a:solidFill>
                        </a:rPr>
                        <a:t>, F</a:t>
                      </a:r>
                      <a:r>
                        <a:rPr lang="en-US" sz="1300" baseline="-40000" dirty="0">
                          <a:solidFill>
                            <a:schemeClr val="tx1"/>
                          </a:solidFill>
                        </a:rPr>
                        <a:t>m</a:t>
                      </a:r>
                      <a:r>
                        <a:rPr lang="en-US" sz="1300" dirty="0">
                          <a:solidFill>
                            <a:schemeClr val="tx1"/>
                          </a:solidFill>
                        </a:rPr>
                        <a:t>′</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No</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66928">
                <a:tc>
                  <a:txBody>
                    <a:bodyPr/>
                    <a:lstStyle/>
                    <a:p>
                      <a:pPr marL="0" indent="0">
                        <a:buNone/>
                      </a:pPr>
                      <a:r>
                        <a:rPr lang="en-US" sz="1300" b="1" dirty="0">
                          <a:solidFill>
                            <a:schemeClr val="tx2"/>
                          </a:solidFill>
                        </a:rPr>
                        <a:t>What it gives</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Yields and ratios (F</a:t>
                      </a:r>
                      <a:r>
                        <a:rPr lang="en-US" sz="1300" baseline="-40000" dirty="0">
                          <a:solidFill>
                            <a:schemeClr val="tx1"/>
                          </a:solidFill>
                        </a:rPr>
                        <a:t>v</a:t>
                      </a:r>
                      <a:r>
                        <a:rPr lang="en-US" sz="1300" dirty="0">
                          <a:solidFill>
                            <a:schemeClr val="tx1"/>
                          </a:solidFill>
                        </a:rPr>
                        <a:t>/F</a:t>
                      </a:r>
                      <a:r>
                        <a:rPr lang="en-US" sz="1300" baseline="-40000" dirty="0">
                          <a:solidFill>
                            <a:schemeClr val="tx1"/>
                          </a:solidFill>
                        </a:rPr>
                        <a:t>m</a:t>
                      </a:r>
                      <a:r>
                        <a:rPr lang="en-US" sz="1300" dirty="0">
                          <a:solidFill>
                            <a:schemeClr val="tx1"/>
                          </a:solidFill>
                        </a:rPr>
                        <a:t>, Φ</a:t>
                      </a:r>
                      <a:r>
                        <a:rPr lang="en-US" sz="1300" baseline="-40000" dirty="0">
                          <a:solidFill>
                            <a:schemeClr val="tx1"/>
                          </a:solidFill>
                        </a:rPr>
                        <a:t>PSII</a:t>
                      </a:r>
                      <a:r>
                        <a:rPr lang="en-US" sz="1300" dirty="0">
                          <a:solidFill>
                            <a:schemeClr val="tx1"/>
                          </a:solidFill>
                        </a:rPr>
                        <a:t>, NPQ)</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Absolute flux (mW m⁻² sr⁻¹ nm⁻¹)</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66928">
                <a:tc>
                  <a:txBody>
                    <a:bodyPr/>
                    <a:lstStyle/>
                    <a:p>
                      <a:pPr marL="0" indent="0">
                        <a:buNone/>
                      </a:pPr>
                      <a:r>
                        <a:rPr lang="en-US" sz="1300" b="1" dirty="0">
                          <a:solidFill>
                            <a:schemeClr val="tx2"/>
                          </a:solidFill>
                        </a:rPr>
                        <a:t>Scale</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Leaf, single plants (cm–m)</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Leaf to globe (m–km)</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66928">
                <a:tc>
                  <a:txBody>
                    <a:bodyPr/>
                    <a:lstStyle/>
                    <a:p>
                      <a:pPr marL="0" indent="0">
                        <a:buNone/>
                      </a:pPr>
                      <a:r>
                        <a:rPr lang="en-US" sz="1300" b="1" dirty="0">
                          <a:solidFill>
                            <a:schemeClr val="tx2"/>
                          </a:solidFill>
                        </a:rPr>
                        <a:t>Spectral bands</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Usually one broad band &gt;700 nm</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Red (~687) and far-red (~760) bands or full 650–800 nm</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566928">
                <a:tc>
                  <a:txBody>
                    <a:bodyPr/>
                    <a:lstStyle/>
                    <a:p>
                      <a:pPr marL="0" indent="0">
                        <a:buNone/>
                      </a:pPr>
                      <a:r>
                        <a:rPr lang="en-US" sz="1300" b="1" dirty="0">
                          <a:solidFill>
                            <a:schemeClr val="tx2"/>
                          </a:solidFill>
                        </a:rPr>
                        <a:t>Main challenge</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Protocol, dark adaptation</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Signal is ~1–5 % of reflected radiance; atmosphere; canopy structure</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66928">
                <a:tc>
                  <a:txBody>
                    <a:bodyPr/>
                    <a:lstStyle/>
                    <a:p>
                      <a:pPr marL="0" indent="0">
                        <a:buNone/>
                      </a:pPr>
                      <a:r>
                        <a:rPr lang="en-US" sz="1300" b="1" dirty="0">
                          <a:solidFill>
                            <a:schemeClr val="tx2"/>
                          </a:solidFill>
                        </a:rPr>
                        <a:t>Typical use</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Plant physiology, phenotyping</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GPP, stress mapping, ecosystem monitoring</a:t>
                      </a:r>
                      <a:endParaRPr lang="en-US" sz="1200" dirty="0"/>
                    </a:p>
                  </a:txBody>
                  <a:tcPr marL="109728" marR="109728" marT="36576" marB="36576"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A short history of SIF</a:t>
            </a:r>
            <a:endParaRPr lang="en-US" sz="3200" dirty="0"/>
          </a:p>
        </p:txBody>
      </p:sp>
      <p:sp>
        <p:nvSpPr>
          <p:cNvPr id="4" name="timeline"/>
          <p:cNvSpPr/>
          <p:nvPr/>
        </p:nvSpPr>
        <p:spPr>
          <a:xfrm>
            <a:off x="731520" y="3657600"/>
            <a:ext cx="10728655" cy="0"/>
          </a:xfrm>
          <a:prstGeom prst="line">
            <a:avLst/>
          </a:prstGeom>
          <a:noFill/>
          <a:ln w="38100">
            <a:solidFill>
              <a:srgbClr val="123D2E"/>
            </a:solidFill>
            <a:prstDash val="solid"/>
          </a:ln>
        </p:spPr>
      </p:sp>
      <p:sp>
        <p:nvSpPr>
          <p:cNvPr id="5" name="milestone"/>
          <p:cNvSpPr/>
          <p:nvPr/>
        </p:nvSpPr>
        <p:spPr>
          <a:xfrm>
            <a:off x="603504" y="3529584"/>
            <a:ext cx="256032" cy="256032"/>
          </a:xfrm>
          <a:prstGeom prst="ellipse">
            <a:avLst/>
          </a:prstGeom>
          <a:solidFill>
            <a:schemeClr val="accent1"/>
          </a:solidFill>
          <a:ln w="25400">
            <a:solidFill>
              <a:srgbClr val="FFFFFF"/>
            </a:solidFill>
            <a:prstDash val="solid"/>
          </a:ln>
        </p:spPr>
      </p:sp>
      <p:sp>
        <p:nvSpPr>
          <p:cNvPr id="6" name="connector"/>
          <p:cNvSpPr/>
          <p:nvPr/>
        </p:nvSpPr>
        <p:spPr>
          <a:xfrm>
            <a:off x="731520" y="2834640"/>
            <a:ext cx="0" cy="694944"/>
          </a:xfrm>
          <a:prstGeom prst="line">
            <a:avLst/>
          </a:prstGeom>
          <a:noFill/>
          <a:ln w="12700">
            <a:solidFill>
              <a:srgbClr val="5E7268"/>
            </a:solidFill>
            <a:prstDash val="solid"/>
          </a:ln>
        </p:spPr>
      </p:sp>
      <p:sp>
        <p:nvSpPr>
          <p:cNvPr id="7" name="Text 4"/>
          <p:cNvSpPr txBox="1"/>
          <p:nvPr/>
        </p:nvSpPr>
        <p:spPr>
          <a:xfrm>
            <a:off x="594360" y="2468880"/>
            <a:ext cx="1371600" cy="365760"/>
          </a:xfrm>
          <a:prstGeom prst="rect">
            <a:avLst/>
          </a:prstGeom>
          <a:noFill/>
          <a:ln/>
        </p:spPr>
        <p:txBody>
          <a:bodyPr wrap="square" lIns="0" tIns="0" rIns="0" bIns="0" rtlCol="0" anchor="ctr"/>
          <a:lstStyle/>
          <a:p>
            <a:pPr marL="0" indent="0" algn="l">
              <a:buNone/>
            </a:pPr>
            <a:r>
              <a:rPr lang="en-US" sz="1600" b="1" dirty="0">
                <a:solidFill>
                  <a:schemeClr val="accent1"/>
                </a:solidFill>
              </a:rPr>
              <a:t>1834</a:t>
            </a:r>
            <a:endParaRPr lang="en-US" sz="1600" dirty="0"/>
          </a:p>
        </p:txBody>
      </p:sp>
      <p:sp>
        <p:nvSpPr>
          <p:cNvPr id="8" name="Text 5"/>
          <p:cNvSpPr txBox="1"/>
          <p:nvPr/>
        </p:nvSpPr>
        <p:spPr>
          <a:xfrm>
            <a:off x="594360" y="1508760"/>
            <a:ext cx="1371600" cy="914400"/>
          </a:xfrm>
          <a:prstGeom prst="rect">
            <a:avLst/>
          </a:prstGeom>
          <a:noFill/>
          <a:ln/>
        </p:spPr>
        <p:txBody>
          <a:bodyPr wrap="square" lIns="0" tIns="0" rIns="0" bIns="0" rtlCol="0" anchor="b"/>
          <a:lstStyle/>
          <a:p>
            <a:pPr marL="0" indent="0" algn="l">
              <a:buNone/>
            </a:pPr>
            <a:r>
              <a:rPr lang="en-US" sz="1100" dirty="0">
                <a:solidFill>
                  <a:schemeClr val="tx1"/>
                </a:solidFill>
              </a:rPr>
              <a:t>Brewster: red light from laurel leaf extract</a:t>
            </a:r>
            <a:endParaRPr lang="en-US" sz="1100" dirty="0"/>
          </a:p>
        </p:txBody>
      </p:sp>
      <p:sp>
        <p:nvSpPr>
          <p:cNvPr id="9" name="milestone"/>
          <p:cNvSpPr/>
          <p:nvPr/>
        </p:nvSpPr>
        <p:spPr>
          <a:xfrm>
            <a:off x="1578836" y="3529584"/>
            <a:ext cx="256032" cy="256032"/>
          </a:xfrm>
          <a:prstGeom prst="ellipse">
            <a:avLst/>
          </a:prstGeom>
          <a:solidFill>
            <a:schemeClr val="accent1"/>
          </a:solidFill>
          <a:ln w="25400">
            <a:solidFill>
              <a:srgbClr val="FFFFFF"/>
            </a:solidFill>
            <a:prstDash val="solid"/>
          </a:ln>
        </p:spPr>
      </p:sp>
      <p:sp>
        <p:nvSpPr>
          <p:cNvPr id="10" name="connector"/>
          <p:cNvSpPr/>
          <p:nvPr/>
        </p:nvSpPr>
        <p:spPr>
          <a:xfrm>
            <a:off x="1706852" y="3785616"/>
            <a:ext cx="0" cy="694944"/>
          </a:xfrm>
          <a:prstGeom prst="line">
            <a:avLst/>
          </a:prstGeom>
          <a:noFill/>
          <a:ln w="12700">
            <a:solidFill>
              <a:srgbClr val="5E7268"/>
            </a:solidFill>
            <a:prstDash val="solid"/>
          </a:ln>
        </p:spPr>
      </p:sp>
      <p:sp>
        <p:nvSpPr>
          <p:cNvPr id="11" name="Text 8"/>
          <p:cNvSpPr txBox="1"/>
          <p:nvPr/>
        </p:nvSpPr>
        <p:spPr>
          <a:xfrm>
            <a:off x="1021052" y="4526280"/>
            <a:ext cx="1371600" cy="365760"/>
          </a:xfrm>
          <a:prstGeom prst="rect">
            <a:avLst/>
          </a:prstGeom>
          <a:noFill/>
          <a:ln/>
        </p:spPr>
        <p:txBody>
          <a:bodyPr wrap="square" lIns="0" tIns="0" rIns="0" bIns="0" rtlCol="0" anchor="ctr"/>
          <a:lstStyle/>
          <a:p>
            <a:pPr marL="0" indent="0" algn="ctr">
              <a:buNone/>
            </a:pPr>
            <a:r>
              <a:rPr lang="en-US" sz="1600" b="1" dirty="0">
                <a:solidFill>
                  <a:schemeClr val="accent1"/>
                </a:solidFill>
              </a:rPr>
              <a:t>1852</a:t>
            </a:r>
            <a:endParaRPr lang="en-US" sz="1600" dirty="0"/>
          </a:p>
        </p:txBody>
      </p:sp>
      <p:sp>
        <p:nvSpPr>
          <p:cNvPr id="12" name="Text 9"/>
          <p:cNvSpPr txBox="1"/>
          <p:nvPr/>
        </p:nvSpPr>
        <p:spPr>
          <a:xfrm>
            <a:off x="1021052" y="4892040"/>
            <a:ext cx="1371600" cy="914400"/>
          </a:xfrm>
          <a:prstGeom prst="rect">
            <a:avLst/>
          </a:prstGeom>
          <a:noFill/>
          <a:ln/>
        </p:spPr>
        <p:txBody>
          <a:bodyPr wrap="square" lIns="0" tIns="0" rIns="0" bIns="0" rtlCol="0" anchor="t"/>
          <a:lstStyle/>
          <a:p>
            <a:pPr marL="0" indent="0" algn="ctr">
              <a:buNone/>
            </a:pPr>
            <a:r>
              <a:rPr lang="en-US" sz="1100" dirty="0">
                <a:solidFill>
                  <a:schemeClr val="tx1"/>
                </a:solidFill>
              </a:rPr>
              <a:t>Stokes coins 'fluorescence'</a:t>
            </a:r>
            <a:endParaRPr lang="en-US" sz="1100" dirty="0"/>
          </a:p>
        </p:txBody>
      </p:sp>
      <p:sp>
        <p:nvSpPr>
          <p:cNvPr id="13" name="milestone"/>
          <p:cNvSpPr/>
          <p:nvPr/>
        </p:nvSpPr>
        <p:spPr>
          <a:xfrm>
            <a:off x="2554169" y="3529584"/>
            <a:ext cx="256032" cy="256032"/>
          </a:xfrm>
          <a:prstGeom prst="ellipse">
            <a:avLst/>
          </a:prstGeom>
          <a:solidFill>
            <a:schemeClr val="accent1"/>
          </a:solidFill>
          <a:ln w="25400">
            <a:solidFill>
              <a:srgbClr val="FFFFFF"/>
            </a:solidFill>
            <a:prstDash val="solid"/>
          </a:ln>
        </p:spPr>
      </p:sp>
      <p:sp>
        <p:nvSpPr>
          <p:cNvPr id="14" name="connector"/>
          <p:cNvSpPr/>
          <p:nvPr/>
        </p:nvSpPr>
        <p:spPr>
          <a:xfrm>
            <a:off x="2682185" y="2834640"/>
            <a:ext cx="0" cy="694944"/>
          </a:xfrm>
          <a:prstGeom prst="line">
            <a:avLst/>
          </a:prstGeom>
          <a:noFill/>
          <a:ln w="12700">
            <a:solidFill>
              <a:srgbClr val="5E7268"/>
            </a:solidFill>
            <a:prstDash val="solid"/>
          </a:ln>
        </p:spPr>
      </p:sp>
      <p:sp>
        <p:nvSpPr>
          <p:cNvPr id="15" name="Text 12"/>
          <p:cNvSpPr txBox="1"/>
          <p:nvPr/>
        </p:nvSpPr>
        <p:spPr>
          <a:xfrm>
            <a:off x="1996385" y="2468880"/>
            <a:ext cx="1371600" cy="365760"/>
          </a:xfrm>
          <a:prstGeom prst="rect">
            <a:avLst/>
          </a:prstGeom>
          <a:noFill/>
          <a:ln/>
        </p:spPr>
        <p:txBody>
          <a:bodyPr wrap="square" lIns="0" tIns="0" rIns="0" bIns="0" rtlCol="0" anchor="ctr"/>
          <a:lstStyle/>
          <a:p>
            <a:pPr marL="0" indent="0" algn="ctr">
              <a:buNone/>
            </a:pPr>
            <a:r>
              <a:rPr lang="en-US" sz="1600" b="1" dirty="0">
                <a:solidFill>
                  <a:schemeClr val="accent1"/>
                </a:solidFill>
              </a:rPr>
              <a:t>1874</a:t>
            </a:r>
            <a:endParaRPr lang="en-US" sz="1600" dirty="0"/>
          </a:p>
        </p:txBody>
      </p:sp>
      <p:sp>
        <p:nvSpPr>
          <p:cNvPr id="16" name="Text 13"/>
          <p:cNvSpPr txBox="1"/>
          <p:nvPr/>
        </p:nvSpPr>
        <p:spPr>
          <a:xfrm>
            <a:off x="1996385" y="1508760"/>
            <a:ext cx="1371600" cy="914400"/>
          </a:xfrm>
          <a:prstGeom prst="rect">
            <a:avLst/>
          </a:prstGeom>
          <a:noFill/>
          <a:ln/>
        </p:spPr>
        <p:txBody>
          <a:bodyPr wrap="square" lIns="0" tIns="0" rIns="0" bIns="0" rtlCol="0" anchor="b"/>
          <a:lstStyle/>
          <a:p>
            <a:pPr marL="0" indent="0" algn="ctr">
              <a:buNone/>
            </a:pPr>
            <a:r>
              <a:rPr lang="en-US" sz="1100" dirty="0">
                <a:solidFill>
                  <a:schemeClr val="tx1"/>
                </a:solidFill>
              </a:rPr>
              <a:t>Müller: link to assimilation</a:t>
            </a:r>
            <a:endParaRPr lang="en-US" sz="1100" dirty="0"/>
          </a:p>
        </p:txBody>
      </p:sp>
      <p:sp>
        <p:nvSpPr>
          <p:cNvPr id="17" name="milestone"/>
          <p:cNvSpPr/>
          <p:nvPr/>
        </p:nvSpPr>
        <p:spPr>
          <a:xfrm>
            <a:off x="3529501" y="3529584"/>
            <a:ext cx="256032" cy="256032"/>
          </a:xfrm>
          <a:prstGeom prst="ellipse">
            <a:avLst/>
          </a:prstGeom>
          <a:solidFill>
            <a:schemeClr val="accent1"/>
          </a:solidFill>
          <a:ln w="25400">
            <a:solidFill>
              <a:srgbClr val="FFFFFF"/>
            </a:solidFill>
            <a:prstDash val="solid"/>
          </a:ln>
        </p:spPr>
      </p:sp>
      <p:sp>
        <p:nvSpPr>
          <p:cNvPr id="18" name="connector"/>
          <p:cNvSpPr/>
          <p:nvPr/>
        </p:nvSpPr>
        <p:spPr>
          <a:xfrm>
            <a:off x="3657517" y="3785616"/>
            <a:ext cx="0" cy="694944"/>
          </a:xfrm>
          <a:prstGeom prst="line">
            <a:avLst/>
          </a:prstGeom>
          <a:noFill/>
          <a:ln w="12700">
            <a:solidFill>
              <a:srgbClr val="5E7268"/>
            </a:solidFill>
            <a:prstDash val="solid"/>
          </a:ln>
        </p:spPr>
      </p:sp>
      <p:sp>
        <p:nvSpPr>
          <p:cNvPr id="19" name="Text 16"/>
          <p:cNvSpPr txBox="1"/>
          <p:nvPr/>
        </p:nvSpPr>
        <p:spPr>
          <a:xfrm>
            <a:off x="2971717" y="4526280"/>
            <a:ext cx="1371600" cy="365760"/>
          </a:xfrm>
          <a:prstGeom prst="rect">
            <a:avLst/>
          </a:prstGeom>
          <a:noFill/>
          <a:ln/>
        </p:spPr>
        <p:txBody>
          <a:bodyPr wrap="square" lIns="0" tIns="0" rIns="0" bIns="0" rtlCol="0" anchor="ctr"/>
          <a:lstStyle/>
          <a:p>
            <a:pPr marL="0" indent="0" algn="ctr">
              <a:buNone/>
            </a:pPr>
            <a:r>
              <a:rPr lang="en-US" sz="1600" b="1" dirty="0">
                <a:solidFill>
                  <a:schemeClr val="accent1"/>
                </a:solidFill>
              </a:rPr>
              <a:t>1931</a:t>
            </a:r>
            <a:endParaRPr lang="en-US" sz="1600" dirty="0"/>
          </a:p>
        </p:txBody>
      </p:sp>
      <p:sp>
        <p:nvSpPr>
          <p:cNvPr id="20" name="Text 17"/>
          <p:cNvSpPr txBox="1"/>
          <p:nvPr/>
        </p:nvSpPr>
        <p:spPr>
          <a:xfrm>
            <a:off x="2971717" y="4892040"/>
            <a:ext cx="1371600" cy="914400"/>
          </a:xfrm>
          <a:prstGeom prst="rect">
            <a:avLst/>
          </a:prstGeom>
          <a:noFill/>
          <a:ln/>
        </p:spPr>
        <p:txBody>
          <a:bodyPr wrap="square" lIns="0" tIns="0" rIns="0" bIns="0" rtlCol="0" anchor="t"/>
          <a:lstStyle/>
          <a:p>
            <a:pPr marL="0" indent="0" algn="ctr">
              <a:buNone/>
            </a:pPr>
            <a:r>
              <a:rPr lang="en-US" sz="1100" dirty="0">
                <a:solidFill>
                  <a:schemeClr val="tx1"/>
                </a:solidFill>
              </a:rPr>
              <a:t>Kautsky &amp; Hirsch: induction kinetics</a:t>
            </a:r>
            <a:endParaRPr lang="en-US" sz="1100" dirty="0"/>
          </a:p>
        </p:txBody>
      </p:sp>
      <p:sp>
        <p:nvSpPr>
          <p:cNvPr id="21" name="milestone"/>
          <p:cNvSpPr/>
          <p:nvPr/>
        </p:nvSpPr>
        <p:spPr>
          <a:xfrm>
            <a:off x="4504833" y="3529584"/>
            <a:ext cx="256032" cy="256032"/>
          </a:xfrm>
          <a:prstGeom prst="ellipse">
            <a:avLst/>
          </a:prstGeom>
          <a:solidFill>
            <a:schemeClr val="accent1"/>
          </a:solidFill>
          <a:ln w="25400">
            <a:solidFill>
              <a:srgbClr val="FFFFFF"/>
            </a:solidFill>
            <a:prstDash val="solid"/>
          </a:ln>
        </p:spPr>
      </p:sp>
      <p:sp>
        <p:nvSpPr>
          <p:cNvPr id="22" name="connector"/>
          <p:cNvSpPr/>
          <p:nvPr/>
        </p:nvSpPr>
        <p:spPr>
          <a:xfrm>
            <a:off x="4632849" y="2834640"/>
            <a:ext cx="0" cy="694944"/>
          </a:xfrm>
          <a:prstGeom prst="line">
            <a:avLst/>
          </a:prstGeom>
          <a:noFill/>
          <a:ln w="12700">
            <a:solidFill>
              <a:srgbClr val="5E7268"/>
            </a:solidFill>
            <a:prstDash val="solid"/>
          </a:ln>
        </p:spPr>
      </p:sp>
      <p:sp>
        <p:nvSpPr>
          <p:cNvPr id="23" name="Text 20"/>
          <p:cNvSpPr txBox="1"/>
          <p:nvPr/>
        </p:nvSpPr>
        <p:spPr>
          <a:xfrm>
            <a:off x="3947049" y="2468880"/>
            <a:ext cx="1371600" cy="365760"/>
          </a:xfrm>
          <a:prstGeom prst="rect">
            <a:avLst/>
          </a:prstGeom>
          <a:noFill/>
          <a:ln/>
        </p:spPr>
        <p:txBody>
          <a:bodyPr wrap="square" lIns="0" tIns="0" rIns="0" bIns="0" rtlCol="0" anchor="ctr"/>
          <a:lstStyle/>
          <a:p>
            <a:pPr marL="0" indent="0" algn="ctr">
              <a:buNone/>
            </a:pPr>
            <a:r>
              <a:rPr lang="en-US" sz="1600" b="1" dirty="0">
                <a:solidFill>
                  <a:schemeClr val="accent1"/>
                </a:solidFill>
              </a:rPr>
              <a:t>1940</a:t>
            </a:r>
            <a:endParaRPr lang="en-US" sz="1600" dirty="0"/>
          </a:p>
        </p:txBody>
      </p:sp>
      <p:sp>
        <p:nvSpPr>
          <p:cNvPr id="24" name="Text 21"/>
          <p:cNvSpPr txBox="1"/>
          <p:nvPr/>
        </p:nvSpPr>
        <p:spPr>
          <a:xfrm>
            <a:off x="3947049" y="1508760"/>
            <a:ext cx="1371600" cy="914400"/>
          </a:xfrm>
          <a:prstGeom prst="rect">
            <a:avLst/>
          </a:prstGeom>
          <a:noFill/>
          <a:ln/>
        </p:spPr>
        <p:txBody>
          <a:bodyPr wrap="square" lIns="0" tIns="0" rIns="0" bIns="0" rtlCol="0" anchor="b"/>
          <a:lstStyle/>
          <a:p>
            <a:pPr marL="0" indent="0" algn="ctr">
              <a:buNone/>
            </a:pPr>
            <a:r>
              <a:rPr lang="en-US" sz="1100" dirty="0">
                <a:solidFill>
                  <a:schemeClr val="tx1"/>
                </a:solidFill>
              </a:rPr>
              <a:t>McAlister &amp; Myers: two processes vs CO₂</a:t>
            </a:r>
            <a:endParaRPr lang="en-US" sz="1100" dirty="0"/>
          </a:p>
        </p:txBody>
      </p:sp>
      <p:sp>
        <p:nvSpPr>
          <p:cNvPr id="25" name="milestone"/>
          <p:cNvSpPr/>
          <p:nvPr/>
        </p:nvSpPr>
        <p:spPr>
          <a:xfrm>
            <a:off x="5480165" y="3529584"/>
            <a:ext cx="256032" cy="256032"/>
          </a:xfrm>
          <a:prstGeom prst="ellipse">
            <a:avLst/>
          </a:prstGeom>
          <a:solidFill>
            <a:schemeClr val="accent1"/>
          </a:solidFill>
          <a:ln w="25400">
            <a:solidFill>
              <a:srgbClr val="FFFFFF"/>
            </a:solidFill>
            <a:prstDash val="solid"/>
          </a:ln>
        </p:spPr>
      </p:sp>
      <p:sp>
        <p:nvSpPr>
          <p:cNvPr id="26" name="connector"/>
          <p:cNvSpPr/>
          <p:nvPr/>
        </p:nvSpPr>
        <p:spPr>
          <a:xfrm>
            <a:off x="5608181" y="3785616"/>
            <a:ext cx="0" cy="694944"/>
          </a:xfrm>
          <a:prstGeom prst="line">
            <a:avLst/>
          </a:prstGeom>
          <a:noFill/>
          <a:ln w="12700">
            <a:solidFill>
              <a:srgbClr val="5E7268"/>
            </a:solidFill>
            <a:prstDash val="solid"/>
          </a:ln>
        </p:spPr>
      </p:sp>
      <p:sp>
        <p:nvSpPr>
          <p:cNvPr id="27" name="Text 24"/>
          <p:cNvSpPr txBox="1"/>
          <p:nvPr/>
        </p:nvSpPr>
        <p:spPr>
          <a:xfrm>
            <a:off x="4922381" y="4526280"/>
            <a:ext cx="1371600" cy="365760"/>
          </a:xfrm>
          <a:prstGeom prst="rect">
            <a:avLst/>
          </a:prstGeom>
          <a:noFill/>
          <a:ln/>
        </p:spPr>
        <p:txBody>
          <a:bodyPr wrap="square" lIns="0" tIns="0" rIns="0" bIns="0" rtlCol="0" anchor="ctr"/>
          <a:lstStyle/>
          <a:p>
            <a:pPr marL="0" indent="0" algn="ctr">
              <a:buNone/>
            </a:pPr>
            <a:r>
              <a:rPr lang="en-US" sz="1600" b="1" dirty="0">
                <a:solidFill>
                  <a:schemeClr val="accent1"/>
                </a:solidFill>
              </a:rPr>
              <a:t>1963</a:t>
            </a:r>
            <a:endParaRPr lang="en-US" sz="1600" dirty="0"/>
          </a:p>
        </p:txBody>
      </p:sp>
      <p:sp>
        <p:nvSpPr>
          <p:cNvPr id="28" name="Text 25"/>
          <p:cNvSpPr txBox="1"/>
          <p:nvPr/>
        </p:nvSpPr>
        <p:spPr>
          <a:xfrm>
            <a:off x="4922381" y="4892040"/>
            <a:ext cx="1371600" cy="914400"/>
          </a:xfrm>
          <a:prstGeom prst="rect">
            <a:avLst/>
          </a:prstGeom>
          <a:noFill/>
          <a:ln/>
        </p:spPr>
        <p:txBody>
          <a:bodyPr wrap="square" lIns="0" tIns="0" rIns="0" bIns="0" rtlCol="0" anchor="t"/>
          <a:lstStyle/>
          <a:p>
            <a:pPr marL="0" indent="0" algn="ctr">
              <a:buNone/>
            </a:pPr>
            <a:r>
              <a:rPr lang="en-US" sz="1100" dirty="0">
                <a:solidFill>
                  <a:schemeClr val="tx1"/>
                </a:solidFill>
              </a:rPr>
              <a:t>Duysens &amp; Sweers: modulated light, NPQ concept</a:t>
            </a:r>
            <a:endParaRPr lang="en-US" sz="1100" dirty="0"/>
          </a:p>
        </p:txBody>
      </p:sp>
      <p:sp>
        <p:nvSpPr>
          <p:cNvPr id="29" name="milestone"/>
          <p:cNvSpPr/>
          <p:nvPr/>
        </p:nvSpPr>
        <p:spPr>
          <a:xfrm>
            <a:off x="6455498" y="3529584"/>
            <a:ext cx="256032" cy="256032"/>
          </a:xfrm>
          <a:prstGeom prst="ellipse">
            <a:avLst/>
          </a:prstGeom>
          <a:solidFill>
            <a:schemeClr val="accent1"/>
          </a:solidFill>
          <a:ln w="25400">
            <a:solidFill>
              <a:srgbClr val="FFFFFF"/>
            </a:solidFill>
            <a:prstDash val="solid"/>
          </a:ln>
        </p:spPr>
      </p:sp>
      <p:sp>
        <p:nvSpPr>
          <p:cNvPr id="30" name="connector"/>
          <p:cNvSpPr/>
          <p:nvPr/>
        </p:nvSpPr>
        <p:spPr>
          <a:xfrm>
            <a:off x="6583514" y="2834640"/>
            <a:ext cx="0" cy="694944"/>
          </a:xfrm>
          <a:prstGeom prst="line">
            <a:avLst/>
          </a:prstGeom>
          <a:noFill/>
          <a:ln w="12700">
            <a:solidFill>
              <a:srgbClr val="5E7268"/>
            </a:solidFill>
            <a:prstDash val="solid"/>
          </a:ln>
        </p:spPr>
      </p:sp>
      <p:sp>
        <p:nvSpPr>
          <p:cNvPr id="31" name="Text 28"/>
          <p:cNvSpPr txBox="1"/>
          <p:nvPr/>
        </p:nvSpPr>
        <p:spPr>
          <a:xfrm>
            <a:off x="5897714" y="2468880"/>
            <a:ext cx="1371600" cy="365760"/>
          </a:xfrm>
          <a:prstGeom prst="rect">
            <a:avLst/>
          </a:prstGeom>
          <a:noFill/>
          <a:ln/>
        </p:spPr>
        <p:txBody>
          <a:bodyPr wrap="square" lIns="0" tIns="0" rIns="0" bIns="0" rtlCol="0" anchor="ctr"/>
          <a:lstStyle/>
          <a:p>
            <a:pPr marL="0" indent="0" algn="ctr">
              <a:buNone/>
            </a:pPr>
            <a:r>
              <a:rPr lang="en-US" sz="1600" b="1" dirty="0">
                <a:solidFill>
                  <a:schemeClr val="accent1"/>
                </a:solidFill>
              </a:rPr>
              <a:t>1975</a:t>
            </a:r>
            <a:endParaRPr lang="en-US" sz="1600" dirty="0"/>
          </a:p>
        </p:txBody>
      </p:sp>
      <p:sp>
        <p:nvSpPr>
          <p:cNvPr id="32" name="Text 29"/>
          <p:cNvSpPr txBox="1"/>
          <p:nvPr/>
        </p:nvSpPr>
        <p:spPr>
          <a:xfrm>
            <a:off x="5897714" y="1508760"/>
            <a:ext cx="1371600" cy="914400"/>
          </a:xfrm>
          <a:prstGeom prst="rect">
            <a:avLst/>
          </a:prstGeom>
          <a:noFill/>
          <a:ln/>
        </p:spPr>
        <p:txBody>
          <a:bodyPr wrap="square" lIns="0" tIns="0" rIns="0" bIns="0" rtlCol="0" anchor="b"/>
          <a:lstStyle/>
          <a:p>
            <a:pPr marL="0" indent="0" algn="ctr">
              <a:buNone/>
            </a:pPr>
            <a:r>
              <a:rPr lang="en-US" sz="1100" dirty="0">
                <a:solidFill>
                  <a:schemeClr val="tx1"/>
                </a:solidFill>
              </a:rPr>
              <a:t>Plascyk: Fraunhofer Line Discriminator (FLD)</a:t>
            </a:r>
            <a:endParaRPr lang="en-US" sz="1100" dirty="0"/>
          </a:p>
        </p:txBody>
      </p:sp>
      <p:sp>
        <p:nvSpPr>
          <p:cNvPr id="33" name="milestone"/>
          <p:cNvSpPr/>
          <p:nvPr/>
        </p:nvSpPr>
        <p:spPr>
          <a:xfrm>
            <a:off x="7430830" y="3529584"/>
            <a:ext cx="256032" cy="256032"/>
          </a:xfrm>
          <a:prstGeom prst="ellipse">
            <a:avLst/>
          </a:prstGeom>
          <a:solidFill>
            <a:schemeClr val="accent1"/>
          </a:solidFill>
          <a:ln w="25400">
            <a:solidFill>
              <a:srgbClr val="FFFFFF"/>
            </a:solidFill>
            <a:prstDash val="solid"/>
          </a:ln>
        </p:spPr>
      </p:sp>
      <p:sp>
        <p:nvSpPr>
          <p:cNvPr id="34" name="connector"/>
          <p:cNvSpPr/>
          <p:nvPr/>
        </p:nvSpPr>
        <p:spPr>
          <a:xfrm>
            <a:off x="7558846" y="3785616"/>
            <a:ext cx="0" cy="694944"/>
          </a:xfrm>
          <a:prstGeom prst="line">
            <a:avLst/>
          </a:prstGeom>
          <a:noFill/>
          <a:ln w="12700">
            <a:solidFill>
              <a:srgbClr val="5E7268"/>
            </a:solidFill>
            <a:prstDash val="solid"/>
          </a:ln>
        </p:spPr>
      </p:sp>
      <p:sp>
        <p:nvSpPr>
          <p:cNvPr id="35" name="Text 32"/>
          <p:cNvSpPr txBox="1"/>
          <p:nvPr/>
        </p:nvSpPr>
        <p:spPr>
          <a:xfrm>
            <a:off x="6873046" y="4526280"/>
            <a:ext cx="1371600" cy="365760"/>
          </a:xfrm>
          <a:prstGeom prst="rect">
            <a:avLst/>
          </a:prstGeom>
          <a:noFill/>
          <a:ln/>
        </p:spPr>
        <p:txBody>
          <a:bodyPr wrap="square" lIns="0" tIns="0" rIns="0" bIns="0" rtlCol="0" anchor="ctr"/>
          <a:lstStyle/>
          <a:p>
            <a:pPr marL="0" indent="0" algn="ctr">
              <a:buNone/>
            </a:pPr>
            <a:r>
              <a:rPr lang="en-US" sz="1600" b="1" dirty="0">
                <a:solidFill>
                  <a:schemeClr val="accent1"/>
                </a:solidFill>
              </a:rPr>
              <a:t>1986</a:t>
            </a:r>
            <a:endParaRPr lang="en-US" sz="1600" dirty="0"/>
          </a:p>
        </p:txBody>
      </p:sp>
      <p:sp>
        <p:nvSpPr>
          <p:cNvPr id="36" name="Text 33"/>
          <p:cNvSpPr txBox="1"/>
          <p:nvPr/>
        </p:nvSpPr>
        <p:spPr>
          <a:xfrm>
            <a:off x="6873046" y="4892040"/>
            <a:ext cx="1371600" cy="914400"/>
          </a:xfrm>
          <a:prstGeom prst="rect">
            <a:avLst/>
          </a:prstGeom>
          <a:noFill/>
          <a:ln/>
        </p:spPr>
        <p:txBody>
          <a:bodyPr wrap="square" lIns="0" tIns="0" rIns="0" bIns="0" rtlCol="0" anchor="t"/>
          <a:lstStyle/>
          <a:p>
            <a:pPr marL="0" indent="0" algn="ctr">
              <a:buNone/>
            </a:pPr>
            <a:r>
              <a:rPr lang="en-US" sz="1100" dirty="0">
                <a:solidFill>
                  <a:schemeClr val="tx1"/>
                </a:solidFill>
              </a:rPr>
              <a:t>Schreiber: PAM fluorometer</a:t>
            </a:r>
            <a:endParaRPr lang="en-US" sz="1100" dirty="0"/>
          </a:p>
        </p:txBody>
      </p:sp>
      <p:sp>
        <p:nvSpPr>
          <p:cNvPr id="37" name="milestone"/>
          <p:cNvSpPr/>
          <p:nvPr/>
        </p:nvSpPr>
        <p:spPr>
          <a:xfrm>
            <a:off x="8406162" y="3529584"/>
            <a:ext cx="256032" cy="256032"/>
          </a:xfrm>
          <a:prstGeom prst="ellipse">
            <a:avLst/>
          </a:prstGeom>
          <a:solidFill>
            <a:schemeClr val="accent2"/>
          </a:solidFill>
          <a:ln w="25400">
            <a:solidFill>
              <a:srgbClr val="FFFFFF"/>
            </a:solidFill>
            <a:prstDash val="solid"/>
          </a:ln>
        </p:spPr>
      </p:sp>
      <p:sp>
        <p:nvSpPr>
          <p:cNvPr id="38" name="connector"/>
          <p:cNvSpPr/>
          <p:nvPr/>
        </p:nvSpPr>
        <p:spPr>
          <a:xfrm>
            <a:off x="8534178" y="2834640"/>
            <a:ext cx="0" cy="694944"/>
          </a:xfrm>
          <a:prstGeom prst="line">
            <a:avLst/>
          </a:prstGeom>
          <a:noFill/>
          <a:ln w="12700">
            <a:solidFill>
              <a:srgbClr val="5E7268"/>
            </a:solidFill>
            <a:prstDash val="solid"/>
          </a:ln>
        </p:spPr>
      </p:sp>
      <p:sp>
        <p:nvSpPr>
          <p:cNvPr id="39" name="Text 36"/>
          <p:cNvSpPr txBox="1"/>
          <p:nvPr/>
        </p:nvSpPr>
        <p:spPr>
          <a:xfrm>
            <a:off x="7848378" y="2468880"/>
            <a:ext cx="1371600" cy="365760"/>
          </a:xfrm>
          <a:prstGeom prst="rect">
            <a:avLst/>
          </a:prstGeom>
          <a:noFill/>
          <a:ln/>
        </p:spPr>
        <p:txBody>
          <a:bodyPr wrap="square" lIns="0" tIns="0" rIns="0" bIns="0" rtlCol="0" anchor="ctr"/>
          <a:lstStyle/>
          <a:p>
            <a:pPr marL="0" indent="0" algn="ctr">
              <a:buNone/>
            </a:pPr>
            <a:r>
              <a:rPr lang="en-US" sz="1600" b="1" dirty="0">
                <a:solidFill>
                  <a:schemeClr val="accent2"/>
                </a:solidFill>
              </a:rPr>
              <a:t>2000</a:t>
            </a:r>
            <a:endParaRPr lang="en-US" sz="1600" dirty="0"/>
          </a:p>
        </p:txBody>
      </p:sp>
      <p:sp>
        <p:nvSpPr>
          <p:cNvPr id="40" name="Text 37"/>
          <p:cNvSpPr txBox="1"/>
          <p:nvPr/>
        </p:nvSpPr>
        <p:spPr>
          <a:xfrm>
            <a:off x="7848378" y="1508760"/>
            <a:ext cx="1371600" cy="914400"/>
          </a:xfrm>
          <a:prstGeom prst="rect">
            <a:avLst/>
          </a:prstGeom>
          <a:noFill/>
          <a:ln/>
        </p:spPr>
        <p:txBody>
          <a:bodyPr wrap="square" lIns="0" tIns="0" rIns="0" bIns="0" rtlCol="0" anchor="b"/>
          <a:lstStyle/>
          <a:p>
            <a:pPr marL="0" indent="0" algn="ctr">
              <a:buNone/>
            </a:pPr>
            <a:r>
              <a:rPr lang="en-US" sz="1100" dirty="0">
                <a:solidFill>
                  <a:schemeClr val="tx1"/>
                </a:solidFill>
              </a:rPr>
              <a:t>Zarco-Tejada: SIF in canopy reflectance</a:t>
            </a:r>
            <a:endParaRPr lang="en-US" sz="1100" dirty="0"/>
          </a:p>
        </p:txBody>
      </p:sp>
      <p:sp>
        <p:nvSpPr>
          <p:cNvPr id="41" name="milestone"/>
          <p:cNvSpPr/>
          <p:nvPr/>
        </p:nvSpPr>
        <p:spPr>
          <a:xfrm>
            <a:off x="9381495" y="3529584"/>
            <a:ext cx="256032" cy="256032"/>
          </a:xfrm>
          <a:prstGeom prst="ellipse">
            <a:avLst/>
          </a:prstGeom>
          <a:solidFill>
            <a:schemeClr val="accent2"/>
          </a:solidFill>
          <a:ln w="25400">
            <a:solidFill>
              <a:srgbClr val="FFFFFF"/>
            </a:solidFill>
            <a:prstDash val="solid"/>
          </a:ln>
        </p:spPr>
      </p:sp>
      <p:sp>
        <p:nvSpPr>
          <p:cNvPr id="42" name="connector"/>
          <p:cNvSpPr/>
          <p:nvPr/>
        </p:nvSpPr>
        <p:spPr>
          <a:xfrm>
            <a:off x="9509511" y="3785616"/>
            <a:ext cx="0" cy="694944"/>
          </a:xfrm>
          <a:prstGeom prst="line">
            <a:avLst/>
          </a:prstGeom>
          <a:noFill/>
          <a:ln w="12700">
            <a:solidFill>
              <a:srgbClr val="5E7268"/>
            </a:solidFill>
            <a:prstDash val="solid"/>
          </a:ln>
        </p:spPr>
      </p:sp>
      <p:sp>
        <p:nvSpPr>
          <p:cNvPr id="43" name="Text 40"/>
          <p:cNvSpPr txBox="1"/>
          <p:nvPr/>
        </p:nvSpPr>
        <p:spPr>
          <a:xfrm>
            <a:off x="8823711" y="4526280"/>
            <a:ext cx="1371600" cy="365760"/>
          </a:xfrm>
          <a:prstGeom prst="rect">
            <a:avLst/>
          </a:prstGeom>
          <a:noFill/>
          <a:ln/>
        </p:spPr>
        <p:txBody>
          <a:bodyPr wrap="square" lIns="0" tIns="0" rIns="0" bIns="0" rtlCol="0" anchor="ctr"/>
          <a:lstStyle/>
          <a:p>
            <a:pPr marL="0" indent="0" algn="ctr">
              <a:buNone/>
            </a:pPr>
            <a:r>
              <a:rPr lang="en-US" sz="1600" b="1" dirty="0">
                <a:solidFill>
                  <a:schemeClr val="accent2"/>
                </a:solidFill>
              </a:rPr>
              <a:t>2011</a:t>
            </a:r>
            <a:endParaRPr lang="en-US" sz="1600" dirty="0"/>
          </a:p>
        </p:txBody>
      </p:sp>
      <p:sp>
        <p:nvSpPr>
          <p:cNvPr id="44" name="Text 41"/>
          <p:cNvSpPr txBox="1"/>
          <p:nvPr/>
        </p:nvSpPr>
        <p:spPr>
          <a:xfrm>
            <a:off x="8823711" y="4892040"/>
            <a:ext cx="1371600" cy="914400"/>
          </a:xfrm>
          <a:prstGeom prst="rect">
            <a:avLst/>
          </a:prstGeom>
          <a:noFill/>
          <a:ln/>
        </p:spPr>
        <p:txBody>
          <a:bodyPr wrap="square" lIns="0" tIns="0" rIns="0" bIns="0" rtlCol="0" anchor="t"/>
          <a:lstStyle/>
          <a:p>
            <a:pPr marL="0" indent="0" algn="ctr">
              <a:buNone/>
            </a:pPr>
            <a:r>
              <a:rPr lang="en-US" sz="1100" dirty="0">
                <a:solidFill>
                  <a:schemeClr val="tx1"/>
                </a:solidFill>
              </a:rPr>
              <a:t>GOSAT: first global SIF maps</a:t>
            </a:r>
            <a:endParaRPr lang="en-US" sz="1100" dirty="0"/>
          </a:p>
        </p:txBody>
      </p:sp>
      <p:sp>
        <p:nvSpPr>
          <p:cNvPr id="45" name="milestone"/>
          <p:cNvSpPr/>
          <p:nvPr/>
        </p:nvSpPr>
        <p:spPr>
          <a:xfrm>
            <a:off x="10356827" y="3529584"/>
            <a:ext cx="256032" cy="256032"/>
          </a:xfrm>
          <a:prstGeom prst="ellipse">
            <a:avLst/>
          </a:prstGeom>
          <a:solidFill>
            <a:schemeClr val="accent2"/>
          </a:solidFill>
          <a:ln w="25400">
            <a:solidFill>
              <a:srgbClr val="FFFFFF"/>
            </a:solidFill>
            <a:prstDash val="solid"/>
          </a:ln>
        </p:spPr>
      </p:sp>
      <p:sp>
        <p:nvSpPr>
          <p:cNvPr id="46" name="connector"/>
          <p:cNvSpPr/>
          <p:nvPr/>
        </p:nvSpPr>
        <p:spPr>
          <a:xfrm>
            <a:off x="10484843" y="2834640"/>
            <a:ext cx="0" cy="694944"/>
          </a:xfrm>
          <a:prstGeom prst="line">
            <a:avLst/>
          </a:prstGeom>
          <a:noFill/>
          <a:ln w="12700">
            <a:solidFill>
              <a:srgbClr val="5E7268"/>
            </a:solidFill>
            <a:prstDash val="solid"/>
          </a:ln>
        </p:spPr>
      </p:sp>
      <p:sp>
        <p:nvSpPr>
          <p:cNvPr id="47" name="Text 44"/>
          <p:cNvSpPr txBox="1"/>
          <p:nvPr/>
        </p:nvSpPr>
        <p:spPr>
          <a:xfrm>
            <a:off x="9799043" y="2468880"/>
            <a:ext cx="1371600" cy="365760"/>
          </a:xfrm>
          <a:prstGeom prst="rect">
            <a:avLst/>
          </a:prstGeom>
          <a:noFill/>
          <a:ln/>
        </p:spPr>
        <p:txBody>
          <a:bodyPr wrap="square" lIns="0" tIns="0" rIns="0" bIns="0" rtlCol="0" anchor="ctr"/>
          <a:lstStyle/>
          <a:p>
            <a:pPr marL="0" indent="0" algn="ctr">
              <a:buNone/>
            </a:pPr>
            <a:r>
              <a:rPr lang="en-US" sz="1600" b="1" dirty="0">
                <a:solidFill>
                  <a:schemeClr val="accent2"/>
                </a:solidFill>
              </a:rPr>
              <a:t>2015</a:t>
            </a:r>
            <a:endParaRPr lang="en-US" sz="1600" dirty="0"/>
          </a:p>
        </p:txBody>
      </p:sp>
      <p:sp>
        <p:nvSpPr>
          <p:cNvPr id="48" name="Text 45"/>
          <p:cNvSpPr txBox="1"/>
          <p:nvPr/>
        </p:nvSpPr>
        <p:spPr>
          <a:xfrm>
            <a:off x="9799043" y="1508760"/>
            <a:ext cx="1371600" cy="914400"/>
          </a:xfrm>
          <a:prstGeom prst="rect">
            <a:avLst/>
          </a:prstGeom>
          <a:noFill/>
          <a:ln/>
        </p:spPr>
        <p:txBody>
          <a:bodyPr wrap="square" lIns="0" tIns="0" rIns="0" bIns="0" rtlCol="0" anchor="b"/>
          <a:lstStyle/>
          <a:p>
            <a:pPr marL="0" indent="0" algn="ctr">
              <a:buNone/>
            </a:pPr>
            <a:r>
              <a:rPr lang="en-US" sz="1100" dirty="0">
                <a:solidFill>
                  <a:schemeClr val="tx1"/>
                </a:solidFill>
              </a:rPr>
              <a:t>ESA selects FLEX (8th Earth Explorer)</a:t>
            </a:r>
            <a:endParaRPr lang="en-US" sz="1100" dirty="0"/>
          </a:p>
        </p:txBody>
      </p:sp>
      <p:sp>
        <p:nvSpPr>
          <p:cNvPr id="49" name="milestone"/>
          <p:cNvSpPr/>
          <p:nvPr/>
        </p:nvSpPr>
        <p:spPr>
          <a:xfrm>
            <a:off x="11332159" y="3529584"/>
            <a:ext cx="256032" cy="256032"/>
          </a:xfrm>
          <a:prstGeom prst="ellipse">
            <a:avLst/>
          </a:prstGeom>
          <a:solidFill>
            <a:schemeClr val="accent2"/>
          </a:solidFill>
          <a:ln w="25400">
            <a:solidFill>
              <a:srgbClr val="FFFFFF"/>
            </a:solidFill>
            <a:prstDash val="solid"/>
          </a:ln>
        </p:spPr>
      </p:sp>
      <p:sp>
        <p:nvSpPr>
          <p:cNvPr id="50" name="connector"/>
          <p:cNvSpPr/>
          <p:nvPr/>
        </p:nvSpPr>
        <p:spPr>
          <a:xfrm>
            <a:off x="11460175" y="3785616"/>
            <a:ext cx="0" cy="694944"/>
          </a:xfrm>
          <a:prstGeom prst="line">
            <a:avLst/>
          </a:prstGeom>
          <a:noFill/>
          <a:ln w="12700">
            <a:solidFill>
              <a:srgbClr val="5E7268"/>
            </a:solidFill>
            <a:prstDash val="solid"/>
          </a:ln>
        </p:spPr>
      </p:sp>
      <p:sp>
        <p:nvSpPr>
          <p:cNvPr id="51" name="Text 48"/>
          <p:cNvSpPr txBox="1"/>
          <p:nvPr/>
        </p:nvSpPr>
        <p:spPr>
          <a:xfrm>
            <a:off x="10225735" y="4526280"/>
            <a:ext cx="1371600" cy="365760"/>
          </a:xfrm>
          <a:prstGeom prst="rect">
            <a:avLst/>
          </a:prstGeom>
          <a:noFill/>
          <a:ln/>
        </p:spPr>
        <p:txBody>
          <a:bodyPr wrap="square" lIns="0" tIns="0" rIns="0" bIns="0" rtlCol="0" anchor="ctr"/>
          <a:lstStyle/>
          <a:p>
            <a:pPr marL="0" indent="0" algn="r">
              <a:buNone/>
            </a:pPr>
            <a:r>
              <a:rPr lang="en-US" sz="1600" b="1" dirty="0">
                <a:solidFill>
                  <a:schemeClr val="accent2"/>
                </a:solidFill>
              </a:rPr>
              <a:t>2017</a:t>
            </a:r>
            <a:endParaRPr lang="en-US" sz="1600" dirty="0"/>
          </a:p>
        </p:txBody>
      </p:sp>
      <p:sp>
        <p:nvSpPr>
          <p:cNvPr id="52" name="Text 49"/>
          <p:cNvSpPr txBox="1"/>
          <p:nvPr/>
        </p:nvSpPr>
        <p:spPr>
          <a:xfrm>
            <a:off x="10225735" y="4892040"/>
            <a:ext cx="1371600" cy="914400"/>
          </a:xfrm>
          <a:prstGeom prst="rect">
            <a:avLst/>
          </a:prstGeom>
          <a:noFill/>
          <a:ln/>
        </p:spPr>
        <p:txBody>
          <a:bodyPr wrap="square" lIns="0" tIns="0" rIns="0" bIns="0" rtlCol="0" anchor="t"/>
          <a:lstStyle/>
          <a:p>
            <a:pPr marL="0" indent="0" algn="r">
              <a:buNone/>
            </a:pPr>
            <a:r>
              <a:rPr lang="en-US" sz="1100" dirty="0">
                <a:solidFill>
                  <a:schemeClr val="tx1"/>
                </a:solidFill>
              </a:rPr>
              <a:t>TROPOMI (Sentinel-5P) launched</a:t>
            </a:r>
            <a:endParaRPr lang="en-US" sz="1100" dirty="0"/>
          </a:p>
        </p:txBody>
      </p:sp>
      <p:sp>
        <p:nvSpPr>
          <p:cNvPr id="53" name="tag"/>
          <p:cNvSpPr/>
          <p:nvPr/>
        </p:nvSpPr>
        <p:spPr>
          <a:xfrm>
            <a:off x="548640" y="5806440"/>
            <a:ext cx="2377440" cy="292608"/>
          </a:xfrm>
          <a:prstGeom prst="roundRect">
            <a:avLst>
              <a:gd name="adj" fmla="val 50000"/>
            </a:avLst>
          </a:prstGeom>
          <a:solidFill>
            <a:schemeClr val="accent1"/>
          </a:solidFill>
          <a:ln/>
        </p:spPr>
      </p:sp>
      <p:sp>
        <p:nvSpPr>
          <p:cNvPr id="54" name="Text 51"/>
          <p:cNvSpPr txBox="1"/>
          <p:nvPr/>
        </p:nvSpPr>
        <p:spPr>
          <a:xfrm>
            <a:off x="548640" y="5806440"/>
            <a:ext cx="2377440" cy="292608"/>
          </a:xfrm>
          <a:prstGeom prst="rect">
            <a:avLst/>
          </a:prstGeom>
          <a:noFill/>
          <a:ln/>
        </p:spPr>
        <p:txBody>
          <a:bodyPr wrap="square" lIns="0" tIns="0" rIns="0" bIns="0" rtlCol="0" anchor="ctr"/>
          <a:lstStyle/>
          <a:p>
            <a:pPr marL="0" indent="0" algn="ctr">
              <a:buNone/>
            </a:pPr>
            <a:r>
              <a:rPr lang="en-US" sz="1100" b="1" dirty="0">
                <a:solidFill>
                  <a:schemeClr val="bg1"/>
                </a:solidFill>
              </a:rPr>
              <a:t>Active, leaf-level science</a:t>
            </a:r>
            <a:endParaRPr lang="en-US" sz="1100" dirty="0"/>
          </a:p>
        </p:txBody>
      </p:sp>
      <p:sp>
        <p:nvSpPr>
          <p:cNvPr id="55" name="tag"/>
          <p:cNvSpPr/>
          <p:nvPr/>
        </p:nvSpPr>
        <p:spPr>
          <a:xfrm>
            <a:off x="3108960" y="5806440"/>
            <a:ext cx="2194560" cy="292608"/>
          </a:xfrm>
          <a:prstGeom prst="roundRect">
            <a:avLst>
              <a:gd name="adj" fmla="val 50000"/>
            </a:avLst>
          </a:prstGeom>
          <a:solidFill>
            <a:schemeClr val="accent2"/>
          </a:solidFill>
          <a:ln/>
        </p:spPr>
      </p:sp>
      <p:sp>
        <p:nvSpPr>
          <p:cNvPr id="56" name="Text 53"/>
          <p:cNvSpPr txBox="1"/>
          <p:nvPr/>
        </p:nvSpPr>
        <p:spPr>
          <a:xfrm>
            <a:off x="3108960" y="5806440"/>
            <a:ext cx="2194560" cy="292608"/>
          </a:xfrm>
          <a:prstGeom prst="rect">
            <a:avLst/>
          </a:prstGeom>
          <a:noFill/>
          <a:ln/>
        </p:spPr>
        <p:txBody>
          <a:bodyPr wrap="square" lIns="0" tIns="0" rIns="0" bIns="0" rtlCol="0" anchor="ctr"/>
          <a:lstStyle/>
          <a:p>
            <a:pPr marL="0" indent="0" algn="ctr">
              <a:buNone/>
            </a:pPr>
            <a:r>
              <a:rPr lang="en-US" sz="1100" b="1" dirty="0">
                <a:solidFill>
                  <a:schemeClr val="bg1"/>
                </a:solidFill>
              </a:rPr>
              <a:t>Passive, remote sensing</a:t>
            </a:r>
            <a:endParaRPr lang="en-US" sz="11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The SIF emission spectrum</a:t>
            </a:r>
            <a:endParaRPr lang="en-US" sz="3200" dirty="0"/>
          </a:p>
        </p:txBody>
      </p:sp>
      <p:sp>
        <p:nvSpPr>
          <p:cNvPr id="4" name="figure frame"/>
          <p:cNvSpPr/>
          <p:nvPr/>
        </p:nvSpPr>
        <p:spPr>
          <a:xfrm>
            <a:off x="548640" y="1325880"/>
            <a:ext cx="5120640" cy="4434840"/>
          </a:xfrm>
          <a:prstGeom prst="roundRect">
            <a:avLst>
              <a:gd name="adj" fmla="val 1237"/>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5" name="Image 0" descr="Mohammed et al. (2019), Fig. 1 — energy partitioning and the leaf fluorescence spectrum (PSII + PSI contributions)"/>
          <p:cNvPicPr>
            <a:picLocks noChangeAspect="1"/>
          </p:cNvPicPr>
          <p:nvPr/>
        </p:nvPicPr>
        <p:blipFill>
          <a:blip r:embed="rId3"/>
          <a:stretch>
            <a:fillRect/>
          </a:stretch>
        </p:blipFill>
        <p:spPr>
          <a:xfrm>
            <a:off x="1062562" y="1417320"/>
            <a:ext cx="4092796" cy="4251960"/>
          </a:xfrm>
          <a:prstGeom prst="rect">
            <a:avLst/>
          </a:prstGeom>
        </p:spPr>
      </p:pic>
      <p:sp>
        <p:nvSpPr>
          <p:cNvPr id="6" name="Text 2"/>
          <p:cNvSpPr txBox="1"/>
          <p:nvPr/>
        </p:nvSpPr>
        <p:spPr>
          <a:xfrm>
            <a:off x="548640" y="5806440"/>
            <a:ext cx="5120640" cy="365760"/>
          </a:xfrm>
          <a:prstGeom prst="rect">
            <a:avLst/>
          </a:prstGeom>
          <a:noFill/>
          <a:ln/>
        </p:spPr>
        <p:txBody>
          <a:bodyPr wrap="square" lIns="0" tIns="0" rIns="0" bIns="0" rtlCol="0" anchor="t"/>
          <a:lstStyle/>
          <a:p>
            <a:pPr marL="0" indent="0">
              <a:buNone/>
            </a:pPr>
            <a:r>
              <a:rPr lang="en-US" sz="1100" i="1" dirty="0">
                <a:solidFill>
                  <a:schemeClr val="accent6"/>
                </a:solidFill>
              </a:rPr>
              <a:t>Mohammed et al. (2019), Fig. 1 — energy partitioning and the leaf fluorescence spectrum (PSII + PSI contributions)</a:t>
            </a:r>
            <a:endParaRPr lang="en-US" sz="1100" dirty="0"/>
          </a:p>
        </p:txBody>
      </p:sp>
      <p:sp>
        <p:nvSpPr>
          <p:cNvPr id="7" name="card"/>
          <p:cNvSpPr/>
          <p:nvPr/>
        </p:nvSpPr>
        <p:spPr>
          <a:xfrm>
            <a:off x="5897880" y="1325880"/>
            <a:ext cx="2788920" cy="2377440"/>
          </a:xfrm>
          <a:prstGeom prst="roundRect">
            <a:avLst>
              <a:gd name="adj" fmla="val 3077"/>
            </a:avLst>
          </a:prstGeom>
          <a:solidFill>
            <a:schemeClr val="bg2"/>
          </a:solidFill>
          <a:ln/>
          <a:effectLst>
            <a:outerShdw blurRad="76200" dist="25400" dir="5400000" algn="bl" rotWithShape="0">
              <a:srgbClr val="000000">
                <a:alpha val="14000"/>
              </a:srgbClr>
            </a:outerShdw>
          </a:effectLst>
        </p:spPr>
      </p:sp>
      <p:sp>
        <p:nvSpPr>
          <p:cNvPr id="8" name="Text 4"/>
          <p:cNvSpPr txBox="1"/>
          <p:nvPr/>
        </p:nvSpPr>
        <p:spPr>
          <a:xfrm>
            <a:off x="6080760" y="1463040"/>
            <a:ext cx="2468880" cy="365760"/>
          </a:xfrm>
          <a:prstGeom prst="rect">
            <a:avLst/>
          </a:prstGeom>
          <a:noFill/>
          <a:ln/>
        </p:spPr>
        <p:txBody>
          <a:bodyPr wrap="square" lIns="0" tIns="0" rIns="0" bIns="0" rtlCol="0" anchor="ctr"/>
          <a:lstStyle/>
          <a:p>
            <a:pPr marL="0" indent="0">
              <a:buNone/>
            </a:pPr>
            <a:r>
              <a:rPr lang="en-US" sz="1600" b="1" dirty="0">
                <a:solidFill>
                  <a:schemeClr val="accent2"/>
                </a:solidFill>
              </a:rPr>
              <a:t>Red peak F</a:t>
            </a:r>
            <a:r>
              <a:rPr lang="en-US" sz="1600" b="1" baseline="-40000" dirty="0">
                <a:solidFill>
                  <a:schemeClr val="accent2"/>
                </a:solidFill>
              </a:rPr>
              <a:t>685</a:t>
            </a:r>
            <a:endParaRPr lang="en-US" sz="1600" dirty="0"/>
          </a:p>
        </p:txBody>
      </p:sp>
      <p:sp>
        <p:nvSpPr>
          <p:cNvPr id="9" name="Text 5"/>
          <p:cNvSpPr txBox="1"/>
          <p:nvPr/>
        </p:nvSpPr>
        <p:spPr>
          <a:xfrm>
            <a:off x="6080760" y="1874520"/>
            <a:ext cx="2423160" cy="173736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~685–690 nm</a:t>
            </a:r>
            <a:endParaRPr lang="en-US" sz="1300" dirty="0"/>
          </a:p>
          <a:p>
            <a:pPr marL="177800" indent="-177800">
              <a:spcAft>
                <a:spcPts val="400"/>
              </a:spcAft>
              <a:buSzPct val="100000"/>
              <a:buChar char="•"/>
            </a:pPr>
            <a:r>
              <a:rPr lang="en-US" sz="1300" dirty="0">
                <a:solidFill>
                  <a:schemeClr val="tx1"/>
                </a:solidFill>
              </a:rPr>
              <a:t>Mostly </a:t>
            </a:r>
            <a:r>
              <a:rPr lang="en-US" sz="1300" b="1" dirty="0">
                <a:solidFill>
                  <a:schemeClr val="tx1"/>
                </a:solidFill>
              </a:rPr>
              <a:t>PSII</a:t>
            </a:r>
            <a:endParaRPr lang="en-US" sz="1300" dirty="0"/>
          </a:p>
          <a:p>
            <a:pPr marL="177800" indent="-177800">
              <a:spcAft>
                <a:spcPts val="400"/>
              </a:spcAft>
              <a:buSzPct val="100000"/>
              <a:buChar char="•"/>
            </a:pPr>
            <a:r>
              <a:rPr lang="en-US" sz="1300" dirty="0">
                <a:solidFill>
                  <a:schemeClr val="tx1"/>
                </a:solidFill>
              </a:rPr>
              <a:t>Strongly re-absorbed by chlorophyll</a:t>
            </a:r>
            <a:endParaRPr lang="en-US" sz="1300" dirty="0"/>
          </a:p>
        </p:txBody>
      </p:sp>
      <p:sp>
        <p:nvSpPr>
          <p:cNvPr id="10" name="card"/>
          <p:cNvSpPr/>
          <p:nvPr/>
        </p:nvSpPr>
        <p:spPr>
          <a:xfrm>
            <a:off x="8851392" y="1325880"/>
            <a:ext cx="2788920" cy="2377440"/>
          </a:xfrm>
          <a:prstGeom prst="roundRect">
            <a:avLst>
              <a:gd name="adj" fmla="val 3077"/>
            </a:avLst>
          </a:prstGeom>
          <a:solidFill>
            <a:schemeClr val="bg2"/>
          </a:solidFill>
          <a:ln/>
          <a:effectLst>
            <a:outerShdw blurRad="76200" dist="25400" dir="5400000" algn="bl" rotWithShape="0">
              <a:srgbClr val="000000">
                <a:alpha val="14000"/>
              </a:srgbClr>
            </a:outerShdw>
          </a:effectLst>
        </p:spPr>
      </p:sp>
      <p:sp>
        <p:nvSpPr>
          <p:cNvPr id="11" name="Text 7"/>
          <p:cNvSpPr txBox="1"/>
          <p:nvPr/>
        </p:nvSpPr>
        <p:spPr>
          <a:xfrm>
            <a:off x="9034272" y="1463040"/>
            <a:ext cx="2468880" cy="365760"/>
          </a:xfrm>
          <a:prstGeom prst="rect">
            <a:avLst/>
          </a:prstGeom>
          <a:noFill/>
          <a:ln/>
        </p:spPr>
        <p:txBody>
          <a:bodyPr wrap="square" lIns="0" tIns="0" rIns="0" bIns="0" rtlCol="0" anchor="ctr"/>
          <a:lstStyle/>
          <a:p>
            <a:pPr marL="0" indent="0">
              <a:buNone/>
            </a:pPr>
            <a:r>
              <a:rPr lang="en-US" sz="1600" b="1" dirty="0">
                <a:solidFill>
                  <a:schemeClr val="accent4"/>
                </a:solidFill>
              </a:rPr>
              <a:t>Far-red peak F</a:t>
            </a:r>
            <a:r>
              <a:rPr lang="en-US" sz="1600" b="1" baseline="-40000" dirty="0">
                <a:solidFill>
                  <a:schemeClr val="accent4"/>
                </a:solidFill>
              </a:rPr>
              <a:t>740</a:t>
            </a:r>
            <a:endParaRPr lang="en-US" sz="1600" dirty="0"/>
          </a:p>
        </p:txBody>
      </p:sp>
      <p:sp>
        <p:nvSpPr>
          <p:cNvPr id="12" name="Text 8"/>
          <p:cNvSpPr txBox="1"/>
          <p:nvPr/>
        </p:nvSpPr>
        <p:spPr>
          <a:xfrm>
            <a:off x="9034272" y="1874520"/>
            <a:ext cx="2423160" cy="173736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~730–740 nm</a:t>
            </a:r>
            <a:endParaRPr lang="en-US" sz="1300" dirty="0"/>
          </a:p>
          <a:p>
            <a:pPr marL="177800" indent="-177800">
              <a:spcAft>
                <a:spcPts val="400"/>
              </a:spcAft>
              <a:buSzPct val="100000"/>
              <a:buChar char="•"/>
            </a:pPr>
            <a:r>
              <a:rPr lang="en-US" sz="1300" b="1" dirty="0">
                <a:solidFill>
                  <a:schemeClr val="tx1"/>
                </a:solidFill>
              </a:rPr>
              <a:t>PSII + PSI</a:t>
            </a:r>
            <a:endParaRPr lang="en-US" sz="1300" dirty="0"/>
          </a:p>
          <a:p>
            <a:pPr marL="177800" indent="-177800">
              <a:spcAft>
                <a:spcPts val="400"/>
              </a:spcAft>
              <a:buSzPct val="100000"/>
              <a:buChar char="•"/>
            </a:pPr>
            <a:r>
              <a:rPr lang="en-US" sz="1300" dirty="0">
                <a:solidFill>
                  <a:schemeClr val="tx1"/>
                </a:solidFill>
              </a:rPr>
              <a:t>Escapes the canopy more easily</a:t>
            </a:r>
            <a:endParaRPr lang="en-US" sz="1300" dirty="0"/>
          </a:p>
        </p:txBody>
      </p:sp>
      <p:sp>
        <p:nvSpPr>
          <p:cNvPr id="13" name="card"/>
          <p:cNvSpPr/>
          <p:nvPr/>
        </p:nvSpPr>
        <p:spPr>
          <a:xfrm>
            <a:off x="5897880" y="3840480"/>
            <a:ext cx="5742432" cy="2331720"/>
          </a:xfrm>
          <a:prstGeom prst="roundRect">
            <a:avLst>
              <a:gd name="adj" fmla="val 3137"/>
            </a:avLst>
          </a:prstGeom>
          <a:solidFill>
            <a:schemeClr val="bg2"/>
          </a:solidFill>
          <a:ln/>
          <a:effectLst>
            <a:outerShdw blurRad="76200" dist="25400" dir="5400000" algn="bl" rotWithShape="0">
              <a:srgbClr val="000000">
                <a:alpha val="14000"/>
              </a:srgbClr>
            </a:outerShdw>
          </a:effectLst>
        </p:spPr>
      </p:sp>
      <p:sp>
        <p:nvSpPr>
          <p:cNvPr id="14" name="icon circle"/>
          <p:cNvSpPr/>
          <p:nvPr/>
        </p:nvSpPr>
        <p:spPr>
          <a:xfrm>
            <a:off x="6080760" y="3995928"/>
            <a:ext cx="420624" cy="420624"/>
          </a:xfrm>
          <a:prstGeom prst="ellipse">
            <a:avLst/>
          </a:prstGeom>
          <a:solidFill>
            <a:schemeClr val="accent1"/>
          </a:solidFill>
          <a:ln/>
        </p:spPr>
      </p:sp>
      <p:pic>
        <p:nvPicPr>
          <p:cNvPr id="15" name="Image 1" descr="ChartLine icon"/>
          <p:cNvPicPr>
            <a:picLocks noChangeAspect="1"/>
          </p:cNvPicPr>
          <p:nvPr/>
        </p:nvPicPr>
        <p:blipFill>
          <a:blip r:embed="rId4"/>
          <a:stretch>
            <a:fillRect/>
          </a:stretch>
        </p:blipFill>
        <p:spPr>
          <a:xfrm>
            <a:off x="6190122" y="4105290"/>
            <a:ext cx="201900" cy="201900"/>
          </a:xfrm>
          <a:prstGeom prst="rect">
            <a:avLst/>
          </a:prstGeom>
        </p:spPr>
      </p:pic>
      <p:sp>
        <p:nvSpPr>
          <p:cNvPr id="16" name="Text 11"/>
          <p:cNvSpPr txBox="1"/>
          <p:nvPr/>
        </p:nvSpPr>
        <p:spPr>
          <a:xfrm>
            <a:off x="6611112" y="3977640"/>
            <a:ext cx="4892040" cy="457200"/>
          </a:xfrm>
          <a:prstGeom prst="rect">
            <a:avLst/>
          </a:prstGeom>
          <a:noFill/>
          <a:ln/>
        </p:spPr>
        <p:txBody>
          <a:bodyPr wrap="square" lIns="0" tIns="0" rIns="0" bIns="0" rtlCol="0" anchor="ctr"/>
          <a:lstStyle/>
          <a:p>
            <a:pPr marL="0" indent="0">
              <a:buNone/>
            </a:pPr>
            <a:r>
              <a:rPr lang="en-US" sz="1600" b="1" dirty="0">
                <a:solidFill>
                  <a:schemeClr val="tx2"/>
                </a:solidFill>
              </a:rPr>
              <a:t>Key numbers &amp; terms</a:t>
            </a:r>
            <a:endParaRPr lang="en-US" sz="1600" dirty="0"/>
          </a:p>
        </p:txBody>
      </p:sp>
      <p:sp>
        <p:nvSpPr>
          <p:cNvPr id="17" name="Text 12"/>
          <p:cNvSpPr txBox="1"/>
          <p:nvPr/>
        </p:nvSpPr>
        <p:spPr>
          <a:xfrm>
            <a:off x="6080760" y="4526280"/>
            <a:ext cx="5376672" cy="155448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Fluorescence quantum yield in vivo </a:t>
            </a:r>
            <a:r>
              <a:rPr lang="en-US" sz="1300" b="1" dirty="0">
                <a:solidFill>
                  <a:schemeClr val="tx1"/>
                </a:solidFill>
              </a:rPr>
              <a:t>&lt;10 %</a:t>
            </a:r>
            <a:r>
              <a:rPr lang="en-US" sz="1300" dirty="0">
                <a:solidFill>
                  <a:schemeClr val="tx1"/>
                </a:solidFill>
              </a:rPr>
              <a:t>, typically </a:t>
            </a:r>
            <a:r>
              <a:rPr lang="en-US" sz="1300" b="1" dirty="0">
                <a:solidFill>
                  <a:schemeClr val="tx1"/>
                </a:solidFill>
              </a:rPr>
              <a:t>0.5–3 %</a:t>
            </a:r>
            <a:endParaRPr lang="en-US" sz="1300" dirty="0"/>
          </a:p>
          <a:p>
            <a:pPr marL="177800" indent="-177800">
              <a:spcAft>
                <a:spcPts val="400"/>
              </a:spcAft>
              <a:buSzPct val="100000"/>
              <a:buChar char="•"/>
            </a:pPr>
            <a:r>
              <a:rPr lang="en-US" sz="1300" dirty="0">
                <a:solidFill>
                  <a:schemeClr val="tx1"/>
                </a:solidFill>
              </a:rPr>
              <a:t>Steady-state fluorescence (F</a:t>
            </a:r>
            <a:r>
              <a:rPr lang="en-US" sz="1300" baseline="-40000" dirty="0">
                <a:solidFill>
                  <a:schemeClr val="tx1"/>
                </a:solidFill>
              </a:rPr>
              <a:t>s</a:t>
            </a:r>
            <a:r>
              <a:rPr lang="en-US" sz="1300" dirty="0">
                <a:solidFill>
                  <a:schemeClr val="tx1"/>
                </a:solidFill>
              </a:rPr>
              <a:t>, F</a:t>
            </a:r>
            <a:r>
              <a:rPr lang="en-US" sz="1300" baseline="-40000" dirty="0">
                <a:solidFill>
                  <a:schemeClr val="tx1"/>
                </a:solidFill>
              </a:rPr>
              <a:t>t</a:t>
            </a:r>
            <a:r>
              <a:rPr lang="en-US" sz="1300" dirty="0">
                <a:solidFill>
                  <a:schemeClr val="tx1"/>
                </a:solidFill>
              </a:rPr>
              <a:t>) is what SIF measures under sunlight</a:t>
            </a:r>
            <a:endParaRPr lang="en-US" sz="1300" dirty="0"/>
          </a:p>
          <a:p>
            <a:pPr marL="177800" indent="-177800">
              <a:spcAft>
                <a:spcPts val="400"/>
              </a:spcAft>
              <a:buSzPct val="100000"/>
              <a:buChar char="•"/>
            </a:pPr>
            <a:r>
              <a:rPr lang="en-US" sz="1300" dirty="0">
                <a:solidFill>
                  <a:schemeClr val="tx1"/>
                </a:solidFill>
              </a:rPr>
              <a:t>Thermal dissipation: </a:t>
            </a:r>
            <a:r>
              <a:rPr lang="en-US" sz="1300" b="1" dirty="0">
                <a:solidFill>
                  <a:schemeClr val="tx1"/>
                </a:solidFill>
              </a:rPr>
              <a:t>constitutive</a:t>
            </a:r>
            <a:r>
              <a:rPr lang="en-US" sz="1300" dirty="0">
                <a:solidFill>
                  <a:schemeClr val="tx1"/>
                </a:solidFill>
              </a:rPr>
              <a:t> (basal) + </a:t>
            </a:r>
            <a:r>
              <a:rPr lang="en-US" sz="1300" b="1" dirty="0">
                <a:solidFill>
                  <a:schemeClr val="tx1"/>
                </a:solidFill>
              </a:rPr>
              <a:t>regulated</a:t>
            </a:r>
            <a:r>
              <a:rPr lang="en-US" sz="1300" dirty="0">
                <a:solidFill>
                  <a:schemeClr val="tx1"/>
                </a:solidFill>
              </a:rPr>
              <a:t> (NPQ, xanthophyll cycle)</a:t>
            </a:r>
            <a:endParaRPr lang="en-US" sz="1300" dirty="0"/>
          </a:p>
          <a:p>
            <a:pPr marL="177800" indent="-177800">
              <a:spcAft>
                <a:spcPts val="400"/>
              </a:spcAft>
              <a:buSzPct val="100000"/>
              <a:buChar char="•"/>
            </a:pPr>
            <a:r>
              <a:rPr lang="en-US" sz="1300" dirty="0">
                <a:solidFill>
                  <a:schemeClr val="tx1"/>
                </a:solidFill>
              </a:rPr>
              <a:t>Units: mW m⁻² sr⁻¹ nm⁻¹ (radiance)</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Re-absorption and scattering: leaf to canopy</a:t>
            </a:r>
            <a:endParaRPr lang="en-US" sz="3200" dirty="0"/>
          </a:p>
        </p:txBody>
      </p:sp>
      <p:sp>
        <p:nvSpPr>
          <p:cNvPr id="4" name="figure frame"/>
          <p:cNvSpPr/>
          <p:nvPr/>
        </p:nvSpPr>
        <p:spPr>
          <a:xfrm>
            <a:off x="548640" y="1325880"/>
            <a:ext cx="6309360" cy="3474720"/>
          </a:xfrm>
          <a:prstGeom prst="roundRect">
            <a:avLst>
              <a:gd name="adj" fmla="val 1579"/>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5" name="Image 0" descr="Mohammed et al. (2019), Fig. 7 — SCOPE: (a) reflectance, (b) escape probability f_esc, (c) emitted fluorescence, (d) top-of-canopy SIF for Cab 5–80 µg cm⁻²"/>
          <p:cNvPicPr>
            <a:picLocks noChangeAspect="1"/>
          </p:cNvPicPr>
          <p:nvPr/>
        </p:nvPicPr>
        <p:blipFill>
          <a:blip r:embed="rId3"/>
          <a:stretch>
            <a:fillRect/>
          </a:stretch>
        </p:blipFill>
        <p:spPr>
          <a:xfrm>
            <a:off x="974816" y="1417320"/>
            <a:ext cx="5457009" cy="3291840"/>
          </a:xfrm>
          <a:prstGeom prst="rect">
            <a:avLst/>
          </a:prstGeom>
        </p:spPr>
      </p:pic>
      <p:sp>
        <p:nvSpPr>
          <p:cNvPr id="6" name="Text 2"/>
          <p:cNvSpPr txBox="1"/>
          <p:nvPr/>
        </p:nvSpPr>
        <p:spPr>
          <a:xfrm>
            <a:off x="548640" y="4846320"/>
            <a:ext cx="6309360" cy="502920"/>
          </a:xfrm>
          <a:prstGeom prst="rect">
            <a:avLst/>
          </a:prstGeom>
          <a:noFill/>
          <a:ln/>
        </p:spPr>
        <p:txBody>
          <a:bodyPr wrap="square" lIns="0" tIns="0" rIns="0" bIns="0" rtlCol="0" anchor="t"/>
          <a:lstStyle/>
          <a:p>
            <a:pPr marL="0" indent="0">
              <a:buNone/>
            </a:pPr>
            <a:r>
              <a:rPr lang="en-US" sz="1100" i="1" dirty="0">
                <a:solidFill>
                  <a:schemeClr val="accent6"/>
                </a:solidFill>
              </a:rPr>
              <a:t>Mohammed et al. (2019), Fig. 7 — SCOPE: (a) reflectance, (b) escape probability f_esc, (c) emitted fluorescence, (d) top-of-canopy SIF for Cab 5–80 µg cm⁻²</a:t>
            </a:r>
            <a:endParaRPr lang="en-US" sz="1100" dirty="0"/>
          </a:p>
        </p:txBody>
      </p:sp>
      <p:sp>
        <p:nvSpPr>
          <p:cNvPr id="7" name="card"/>
          <p:cNvSpPr/>
          <p:nvPr/>
        </p:nvSpPr>
        <p:spPr>
          <a:xfrm>
            <a:off x="7086600" y="1325880"/>
            <a:ext cx="4553712" cy="1828800"/>
          </a:xfrm>
          <a:prstGeom prst="roundRect">
            <a:avLst>
              <a:gd name="adj" fmla="val 4000"/>
            </a:avLst>
          </a:prstGeom>
          <a:solidFill>
            <a:schemeClr val="bg2"/>
          </a:solidFill>
          <a:ln/>
          <a:effectLst>
            <a:outerShdw blurRad="76200" dist="25400" dir="5400000" algn="bl" rotWithShape="0">
              <a:srgbClr val="000000">
                <a:alpha val="14000"/>
              </a:srgbClr>
            </a:outerShdw>
          </a:effectLst>
        </p:spPr>
      </p:sp>
      <p:sp>
        <p:nvSpPr>
          <p:cNvPr id="8" name="icon circle"/>
          <p:cNvSpPr/>
          <p:nvPr/>
        </p:nvSpPr>
        <p:spPr>
          <a:xfrm>
            <a:off x="7269480" y="1481328"/>
            <a:ext cx="420624" cy="420624"/>
          </a:xfrm>
          <a:prstGeom prst="ellipse">
            <a:avLst/>
          </a:prstGeom>
          <a:solidFill>
            <a:schemeClr val="accent1"/>
          </a:solidFill>
          <a:ln/>
        </p:spPr>
      </p:sp>
      <p:pic>
        <p:nvPicPr>
          <p:cNvPr id="9" name="Image 1" descr="Leaf icon"/>
          <p:cNvPicPr>
            <a:picLocks noChangeAspect="1"/>
          </p:cNvPicPr>
          <p:nvPr/>
        </p:nvPicPr>
        <p:blipFill>
          <a:blip r:embed="rId4"/>
          <a:stretch>
            <a:fillRect/>
          </a:stretch>
        </p:blipFill>
        <p:spPr>
          <a:xfrm>
            <a:off x="7378842" y="1590690"/>
            <a:ext cx="201900" cy="201900"/>
          </a:xfrm>
          <a:prstGeom prst="rect">
            <a:avLst/>
          </a:prstGeom>
        </p:spPr>
      </p:pic>
      <p:sp>
        <p:nvSpPr>
          <p:cNvPr id="10" name="Text 5"/>
          <p:cNvSpPr txBox="1"/>
          <p:nvPr/>
        </p:nvSpPr>
        <p:spPr>
          <a:xfrm>
            <a:off x="7799832" y="1463040"/>
            <a:ext cx="3703320" cy="457200"/>
          </a:xfrm>
          <a:prstGeom prst="rect">
            <a:avLst/>
          </a:prstGeom>
          <a:noFill/>
          <a:ln/>
        </p:spPr>
        <p:txBody>
          <a:bodyPr wrap="square" lIns="0" tIns="0" rIns="0" bIns="0" rtlCol="0" anchor="ctr"/>
          <a:lstStyle/>
          <a:p>
            <a:pPr marL="0" indent="0">
              <a:buNone/>
            </a:pPr>
            <a:r>
              <a:rPr lang="en-US" sz="1600" b="1" dirty="0">
                <a:solidFill>
                  <a:schemeClr val="tx2"/>
                </a:solidFill>
              </a:rPr>
              <a:t>Leaf level</a:t>
            </a:r>
            <a:endParaRPr lang="en-US" sz="1600" dirty="0"/>
          </a:p>
        </p:txBody>
      </p:sp>
      <p:sp>
        <p:nvSpPr>
          <p:cNvPr id="11" name="Text 6"/>
          <p:cNvSpPr txBox="1"/>
          <p:nvPr/>
        </p:nvSpPr>
        <p:spPr>
          <a:xfrm>
            <a:off x="7269480" y="2011680"/>
            <a:ext cx="4187952" cy="105156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Red emission overlaps chlorophyll absorption → re-absorbed</a:t>
            </a:r>
            <a:endParaRPr lang="en-US" sz="1300" dirty="0"/>
          </a:p>
          <a:p>
            <a:pPr marL="177800" indent="-177800">
              <a:spcAft>
                <a:spcPts val="400"/>
              </a:spcAft>
              <a:buSzPct val="100000"/>
              <a:buChar char="•"/>
            </a:pPr>
            <a:r>
              <a:rPr lang="en-US" sz="1300" dirty="0">
                <a:solidFill>
                  <a:schemeClr val="tx1"/>
                </a:solidFill>
              </a:rPr>
              <a:t>Red/far-red ratio ↓ as chlorophyll ↑</a:t>
            </a:r>
            <a:endParaRPr lang="en-US" sz="1300" dirty="0"/>
          </a:p>
        </p:txBody>
      </p:sp>
      <p:sp>
        <p:nvSpPr>
          <p:cNvPr id="12" name="card"/>
          <p:cNvSpPr/>
          <p:nvPr/>
        </p:nvSpPr>
        <p:spPr>
          <a:xfrm>
            <a:off x="7086600" y="3291840"/>
            <a:ext cx="4553712" cy="2057400"/>
          </a:xfrm>
          <a:prstGeom prst="roundRect">
            <a:avLst>
              <a:gd name="adj" fmla="val 3556"/>
            </a:avLst>
          </a:prstGeom>
          <a:solidFill>
            <a:schemeClr val="bg2"/>
          </a:solidFill>
          <a:ln/>
          <a:effectLst>
            <a:outerShdw blurRad="76200" dist="25400" dir="5400000" algn="bl" rotWithShape="0">
              <a:srgbClr val="000000">
                <a:alpha val="14000"/>
              </a:srgbClr>
            </a:outerShdw>
          </a:effectLst>
        </p:spPr>
      </p:sp>
      <p:sp>
        <p:nvSpPr>
          <p:cNvPr id="13" name="icon circle"/>
          <p:cNvSpPr/>
          <p:nvPr/>
        </p:nvSpPr>
        <p:spPr>
          <a:xfrm>
            <a:off x="7269480" y="3447288"/>
            <a:ext cx="420624" cy="420624"/>
          </a:xfrm>
          <a:prstGeom prst="ellipse">
            <a:avLst/>
          </a:prstGeom>
          <a:solidFill>
            <a:schemeClr val="accent5"/>
          </a:solidFill>
          <a:ln/>
        </p:spPr>
      </p:sp>
      <p:pic>
        <p:nvPicPr>
          <p:cNvPr id="14" name="Image 2" descr="Tree icon"/>
          <p:cNvPicPr>
            <a:picLocks noChangeAspect="1"/>
          </p:cNvPicPr>
          <p:nvPr/>
        </p:nvPicPr>
        <p:blipFill>
          <a:blip r:embed="rId5"/>
          <a:stretch>
            <a:fillRect/>
          </a:stretch>
        </p:blipFill>
        <p:spPr>
          <a:xfrm>
            <a:off x="7378842" y="3556650"/>
            <a:ext cx="201900" cy="201900"/>
          </a:xfrm>
          <a:prstGeom prst="rect">
            <a:avLst/>
          </a:prstGeom>
        </p:spPr>
      </p:pic>
      <p:sp>
        <p:nvSpPr>
          <p:cNvPr id="15" name="Text 9"/>
          <p:cNvSpPr txBox="1"/>
          <p:nvPr/>
        </p:nvSpPr>
        <p:spPr>
          <a:xfrm>
            <a:off x="7799832" y="3429000"/>
            <a:ext cx="3703320" cy="457200"/>
          </a:xfrm>
          <a:prstGeom prst="rect">
            <a:avLst/>
          </a:prstGeom>
          <a:noFill/>
          <a:ln/>
        </p:spPr>
        <p:txBody>
          <a:bodyPr wrap="square" lIns="0" tIns="0" rIns="0" bIns="0" rtlCol="0" anchor="ctr"/>
          <a:lstStyle/>
          <a:p>
            <a:pPr marL="0" indent="0">
              <a:buNone/>
            </a:pPr>
            <a:r>
              <a:rPr lang="en-US" sz="1600" b="1" dirty="0">
                <a:solidFill>
                  <a:schemeClr val="tx2"/>
                </a:solidFill>
              </a:rPr>
              <a:t>Canopy level</a:t>
            </a:r>
            <a:endParaRPr lang="en-US" sz="1600" dirty="0"/>
          </a:p>
        </p:txBody>
      </p:sp>
      <p:sp>
        <p:nvSpPr>
          <p:cNvPr id="16" name="Text 10"/>
          <p:cNvSpPr txBox="1"/>
          <p:nvPr/>
        </p:nvSpPr>
        <p:spPr>
          <a:xfrm>
            <a:off x="7269480" y="3977640"/>
            <a:ext cx="4187952" cy="128016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Escape probability </a:t>
            </a:r>
            <a:r>
              <a:rPr lang="en-US" sz="1300" b="1" dirty="0">
                <a:solidFill>
                  <a:schemeClr val="tx1"/>
                </a:solidFill>
              </a:rPr>
              <a:t>f</a:t>
            </a:r>
            <a:r>
              <a:rPr lang="en-US" sz="1300" b="1" baseline="-40000" dirty="0">
                <a:solidFill>
                  <a:schemeClr val="tx1"/>
                </a:solidFill>
              </a:rPr>
              <a:t>esc</a:t>
            </a:r>
            <a:r>
              <a:rPr lang="en-US" sz="1300" dirty="0">
                <a:solidFill>
                  <a:schemeClr val="tx1"/>
                </a:solidFill>
              </a:rPr>
              <a:t> ≈ shape of reflectance</a:t>
            </a:r>
            <a:endParaRPr lang="en-US" sz="1300" dirty="0"/>
          </a:p>
          <a:p>
            <a:pPr marL="177800" indent="-177800">
              <a:spcAft>
                <a:spcPts val="400"/>
              </a:spcAft>
              <a:buSzPct val="100000"/>
              <a:buChar char="•"/>
            </a:pPr>
            <a:r>
              <a:rPr lang="en-US" sz="1300" dirty="0">
                <a:solidFill>
                  <a:schemeClr val="tx1"/>
                </a:solidFill>
              </a:rPr>
              <a:t>LAI, leaf angle, clumping, sun/shade leaves change SIF</a:t>
            </a:r>
            <a:endParaRPr lang="en-US" sz="1300" dirty="0"/>
          </a:p>
          <a:p>
            <a:pPr marL="177800" indent="-177800">
              <a:spcAft>
                <a:spcPts val="400"/>
              </a:spcAft>
              <a:buSzPct val="100000"/>
              <a:buChar char="•"/>
            </a:pPr>
            <a:r>
              <a:rPr lang="en-US" sz="1300" dirty="0">
                <a:solidFill>
                  <a:schemeClr val="tx1"/>
                </a:solidFill>
              </a:rPr>
              <a:t>Only a little red SIF leaves the shaded side of leaves</a:t>
            </a:r>
            <a:endParaRPr lang="en-US" sz="1300" dirty="0"/>
          </a:p>
        </p:txBody>
      </p:sp>
      <p:sp>
        <p:nvSpPr>
          <p:cNvPr id="17" name="insight"/>
          <p:cNvSpPr/>
          <p:nvPr/>
        </p:nvSpPr>
        <p:spPr>
          <a:xfrm>
            <a:off x="548640" y="5486400"/>
            <a:ext cx="11091672" cy="685800"/>
          </a:xfrm>
          <a:prstGeom prst="roundRect">
            <a:avLst>
              <a:gd name="adj" fmla="val 10667"/>
            </a:avLst>
          </a:prstGeom>
          <a:solidFill>
            <a:schemeClr val="bg2"/>
          </a:solidFill>
          <a:ln/>
        </p:spPr>
      </p:sp>
      <p:sp>
        <p:nvSpPr>
          <p:cNvPr id="18" name="Text 12"/>
          <p:cNvSpPr txBox="1"/>
          <p:nvPr/>
        </p:nvSpPr>
        <p:spPr>
          <a:xfrm>
            <a:off x="731520" y="5513832"/>
            <a:ext cx="10698480" cy="640080"/>
          </a:xfrm>
          <a:prstGeom prst="rect">
            <a:avLst/>
          </a:prstGeom>
          <a:noFill/>
          <a:ln/>
        </p:spPr>
        <p:txBody>
          <a:bodyPr wrap="square" lIns="508" tIns="508" rIns="508" bIns="508" rtlCol="0" anchor="ctr"/>
          <a:lstStyle/>
          <a:p>
            <a:pPr marL="0" indent="0">
              <a:spcAft>
                <a:spcPts val="600"/>
              </a:spcAft>
              <a:buNone/>
            </a:pPr>
            <a:r>
              <a:rPr lang="en-US" sz="1400" b="1" dirty="0">
                <a:solidFill>
                  <a:schemeClr val="tx1"/>
                </a:solidFill>
              </a:rPr>
              <a:t>Consequence:</a:t>
            </a:r>
            <a:r>
              <a:rPr lang="en-US" sz="1400" dirty="0">
                <a:solidFill>
                  <a:schemeClr val="tx1"/>
                </a:solidFill>
              </a:rPr>
              <a:t> a change in SIF may come from physiology </a:t>
            </a:r>
            <a:r>
              <a:rPr lang="en-US" sz="1400" b="1" dirty="0">
                <a:solidFill>
                  <a:schemeClr val="tx1"/>
                </a:solidFill>
              </a:rPr>
              <a:t>or</a:t>
            </a:r>
            <a:r>
              <a:rPr lang="en-US" sz="1400" dirty="0">
                <a:solidFill>
                  <a:schemeClr val="tx1"/>
                </a:solidFill>
              </a:rPr>
              <a:t> from structure and pigments — models are needed to tell them apart.</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The core difficulty: SIF is tiny compared with reflected light</a:t>
            </a:r>
            <a:endParaRPr lang="en-US" sz="3200" dirty="0"/>
          </a:p>
        </p:txBody>
      </p:sp>
      <p:sp>
        <p:nvSpPr>
          <p:cNvPr id="4" name="figure frame"/>
          <p:cNvSpPr/>
          <p:nvPr/>
        </p:nvSpPr>
        <p:spPr>
          <a:xfrm>
            <a:off x="548640" y="1325880"/>
            <a:ext cx="5943600" cy="4297680"/>
          </a:xfrm>
          <a:prstGeom prst="roundRect">
            <a:avLst>
              <a:gd name="adj" fmla="val 1277"/>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5" name="Image 0" descr="Mohammed et al. (2019), Fig. 8 — SIF (red, right axis %) vs total radiance (grey) at 0.1 nm; insets: O₂-B (left) and O₂-A (right)"/>
          <p:cNvPicPr>
            <a:picLocks noChangeAspect="1"/>
          </p:cNvPicPr>
          <p:nvPr/>
        </p:nvPicPr>
        <p:blipFill>
          <a:blip r:embed="rId3"/>
          <a:stretch>
            <a:fillRect/>
          </a:stretch>
        </p:blipFill>
        <p:spPr>
          <a:xfrm>
            <a:off x="1280926" y="1417320"/>
            <a:ext cx="4479029" cy="4114800"/>
          </a:xfrm>
          <a:prstGeom prst="rect">
            <a:avLst/>
          </a:prstGeom>
        </p:spPr>
      </p:pic>
      <p:sp>
        <p:nvSpPr>
          <p:cNvPr id="6" name="Text 2"/>
          <p:cNvSpPr txBox="1"/>
          <p:nvPr/>
        </p:nvSpPr>
        <p:spPr>
          <a:xfrm>
            <a:off x="548640" y="5669280"/>
            <a:ext cx="5943600" cy="502920"/>
          </a:xfrm>
          <a:prstGeom prst="rect">
            <a:avLst/>
          </a:prstGeom>
          <a:noFill/>
          <a:ln/>
        </p:spPr>
        <p:txBody>
          <a:bodyPr wrap="square" lIns="0" tIns="0" rIns="0" bIns="0" rtlCol="0" anchor="t"/>
          <a:lstStyle/>
          <a:p>
            <a:pPr marL="0" indent="0">
              <a:buNone/>
            </a:pPr>
            <a:r>
              <a:rPr lang="en-US" sz="1100" i="1" dirty="0">
                <a:solidFill>
                  <a:schemeClr val="accent6"/>
                </a:solidFill>
              </a:rPr>
              <a:t>Mohammed et al. (2019), Fig. 8 — SIF (red, right axis %) vs total radiance (grey) at 0.1 nm; insets: O₂-B (left) and O₂-A (right)</a:t>
            </a:r>
            <a:endParaRPr lang="en-US" sz="1100" dirty="0"/>
          </a:p>
        </p:txBody>
      </p:sp>
      <p:sp>
        <p:nvSpPr>
          <p:cNvPr id="7" name="card"/>
          <p:cNvSpPr/>
          <p:nvPr/>
        </p:nvSpPr>
        <p:spPr>
          <a:xfrm>
            <a:off x="6720840" y="1325880"/>
            <a:ext cx="2377440" cy="2011680"/>
          </a:xfrm>
          <a:prstGeom prst="roundRect">
            <a:avLst>
              <a:gd name="adj" fmla="val 3636"/>
            </a:avLst>
          </a:prstGeom>
          <a:solidFill>
            <a:schemeClr val="tx2"/>
          </a:solidFill>
          <a:ln/>
          <a:effectLst>
            <a:outerShdw blurRad="76200" dist="25400" dir="5400000" algn="bl" rotWithShape="0">
              <a:srgbClr val="000000">
                <a:alpha val="14000"/>
              </a:srgbClr>
            </a:outerShdw>
          </a:effectLst>
        </p:spPr>
      </p:sp>
      <p:sp>
        <p:nvSpPr>
          <p:cNvPr id="8" name="Text 4"/>
          <p:cNvSpPr txBox="1"/>
          <p:nvPr/>
        </p:nvSpPr>
        <p:spPr>
          <a:xfrm>
            <a:off x="6720840" y="1417320"/>
            <a:ext cx="2377440" cy="914400"/>
          </a:xfrm>
          <a:prstGeom prst="rect">
            <a:avLst/>
          </a:prstGeom>
          <a:noFill/>
          <a:ln/>
        </p:spPr>
        <p:txBody>
          <a:bodyPr wrap="square" lIns="0" tIns="0" rIns="0" bIns="0" rtlCol="0" anchor="ctr"/>
          <a:lstStyle/>
          <a:p>
            <a:pPr marL="0" indent="0" algn="ctr">
              <a:buNone/>
            </a:pPr>
            <a:r>
              <a:rPr lang="en-US" sz="3600" b="1" dirty="0">
                <a:solidFill>
                  <a:schemeClr val="bg1"/>
                </a:solidFill>
              </a:rPr>
              <a:t>~1–5 %</a:t>
            </a:r>
            <a:endParaRPr lang="en-US" sz="3600" dirty="0"/>
          </a:p>
        </p:txBody>
      </p:sp>
      <p:sp>
        <p:nvSpPr>
          <p:cNvPr id="9" name="Text 5"/>
          <p:cNvSpPr txBox="1"/>
          <p:nvPr/>
        </p:nvSpPr>
        <p:spPr>
          <a:xfrm>
            <a:off x="6858000" y="2331720"/>
            <a:ext cx="2103120" cy="868680"/>
          </a:xfrm>
          <a:prstGeom prst="rect">
            <a:avLst/>
          </a:prstGeom>
          <a:noFill/>
          <a:ln/>
        </p:spPr>
        <p:txBody>
          <a:bodyPr wrap="square" lIns="0" tIns="0" rIns="0" bIns="0" rtlCol="0" anchor="t"/>
          <a:lstStyle/>
          <a:p>
            <a:pPr marL="0" indent="0" algn="ctr">
              <a:buNone/>
            </a:pPr>
            <a:r>
              <a:rPr lang="en-US" sz="1200" dirty="0">
                <a:solidFill>
                  <a:schemeClr val="bg2"/>
                </a:solidFill>
              </a:rPr>
              <a:t>of total radiance outside absorption bands</a:t>
            </a:r>
            <a:endParaRPr lang="en-US" sz="1200" dirty="0"/>
          </a:p>
        </p:txBody>
      </p:sp>
      <p:sp>
        <p:nvSpPr>
          <p:cNvPr id="10" name="card"/>
          <p:cNvSpPr/>
          <p:nvPr/>
        </p:nvSpPr>
        <p:spPr>
          <a:xfrm>
            <a:off x="9262872" y="1325880"/>
            <a:ext cx="2377440" cy="2011680"/>
          </a:xfrm>
          <a:prstGeom prst="roundRect">
            <a:avLst>
              <a:gd name="adj" fmla="val 3636"/>
            </a:avLst>
          </a:prstGeom>
          <a:solidFill>
            <a:schemeClr val="accent2"/>
          </a:solidFill>
          <a:ln/>
          <a:effectLst>
            <a:outerShdw blurRad="76200" dist="25400" dir="5400000" algn="bl" rotWithShape="0">
              <a:srgbClr val="000000">
                <a:alpha val="14000"/>
              </a:srgbClr>
            </a:outerShdw>
          </a:effectLst>
        </p:spPr>
      </p:sp>
      <p:sp>
        <p:nvSpPr>
          <p:cNvPr id="11" name="Text 7"/>
          <p:cNvSpPr txBox="1"/>
          <p:nvPr/>
        </p:nvSpPr>
        <p:spPr>
          <a:xfrm>
            <a:off x="9262872" y="1417320"/>
            <a:ext cx="2377440" cy="914400"/>
          </a:xfrm>
          <a:prstGeom prst="rect">
            <a:avLst/>
          </a:prstGeom>
          <a:noFill/>
          <a:ln/>
        </p:spPr>
        <p:txBody>
          <a:bodyPr wrap="square" lIns="0" tIns="0" rIns="0" bIns="0" rtlCol="0" anchor="ctr"/>
          <a:lstStyle/>
          <a:p>
            <a:pPr marL="0" indent="0" algn="ctr">
              <a:buNone/>
            </a:pPr>
            <a:r>
              <a:rPr lang="en-US" sz="3600" b="1" dirty="0">
                <a:solidFill>
                  <a:schemeClr val="bg1"/>
                </a:solidFill>
              </a:rPr>
              <a:t>&gt;10 %</a:t>
            </a:r>
            <a:endParaRPr lang="en-US" sz="3600" dirty="0"/>
          </a:p>
        </p:txBody>
      </p:sp>
      <p:sp>
        <p:nvSpPr>
          <p:cNvPr id="12" name="Text 8"/>
          <p:cNvSpPr txBox="1"/>
          <p:nvPr/>
        </p:nvSpPr>
        <p:spPr>
          <a:xfrm>
            <a:off x="9400032" y="2331720"/>
            <a:ext cx="2103120" cy="868680"/>
          </a:xfrm>
          <a:prstGeom prst="rect">
            <a:avLst/>
          </a:prstGeom>
          <a:noFill/>
          <a:ln/>
        </p:spPr>
        <p:txBody>
          <a:bodyPr wrap="square" lIns="0" tIns="0" rIns="0" bIns="0" rtlCol="0" anchor="t"/>
          <a:lstStyle/>
          <a:p>
            <a:pPr marL="0" indent="0" algn="ctr">
              <a:buNone/>
            </a:pPr>
            <a:r>
              <a:rPr lang="en-US" sz="1200" dirty="0">
                <a:solidFill>
                  <a:schemeClr val="bg1"/>
                </a:solidFill>
              </a:rPr>
              <a:t>inside the O₂-A and O₂-B bands</a:t>
            </a:r>
            <a:endParaRPr lang="en-US" sz="1200" dirty="0"/>
          </a:p>
        </p:txBody>
      </p:sp>
      <p:sp>
        <p:nvSpPr>
          <p:cNvPr id="13" name="card"/>
          <p:cNvSpPr/>
          <p:nvPr/>
        </p:nvSpPr>
        <p:spPr>
          <a:xfrm>
            <a:off x="6720840" y="3520440"/>
            <a:ext cx="4919472" cy="2651760"/>
          </a:xfrm>
          <a:prstGeom prst="roundRect">
            <a:avLst>
              <a:gd name="adj" fmla="val 2759"/>
            </a:avLst>
          </a:prstGeom>
          <a:solidFill>
            <a:schemeClr val="bg2"/>
          </a:solidFill>
          <a:ln/>
          <a:effectLst>
            <a:outerShdw blurRad="76200" dist="25400" dir="5400000" algn="bl" rotWithShape="0">
              <a:srgbClr val="000000">
                <a:alpha val="14000"/>
              </a:srgbClr>
            </a:outerShdw>
          </a:effectLst>
        </p:spPr>
      </p:sp>
      <p:sp>
        <p:nvSpPr>
          <p:cNvPr id="14" name="icon circle"/>
          <p:cNvSpPr/>
          <p:nvPr/>
        </p:nvSpPr>
        <p:spPr>
          <a:xfrm>
            <a:off x="6903720" y="3675888"/>
            <a:ext cx="420624" cy="420624"/>
          </a:xfrm>
          <a:prstGeom prst="ellipse">
            <a:avLst/>
          </a:prstGeom>
          <a:solidFill>
            <a:schemeClr val="accent3"/>
          </a:solidFill>
          <a:ln/>
        </p:spPr>
      </p:sp>
      <p:pic>
        <p:nvPicPr>
          <p:cNvPr id="15" name="Image 1" descr="Lightbulb icon"/>
          <p:cNvPicPr>
            <a:picLocks noChangeAspect="1"/>
          </p:cNvPicPr>
          <p:nvPr/>
        </p:nvPicPr>
        <p:blipFill>
          <a:blip r:embed="rId4"/>
          <a:stretch>
            <a:fillRect/>
          </a:stretch>
        </p:blipFill>
        <p:spPr>
          <a:xfrm>
            <a:off x="7013082" y="3785250"/>
            <a:ext cx="201900" cy="201900"/>
          </a:xfrm>
          <a:prstGeom prst="rect">
            <a:avLst/>
          </a:prstGeom>
        </p:spPr>
      </p:pic>
      <p:sp>
        <p:nvSpPr>
          <p:cNvPr id="16" name="Text 11"/>
          <p:cNvSpPr txBox="1"/>
          <p:nvPr/>
        </p:nvSpPr>
        <p:spPr>
          <a:xfrm>
            <a:off x="7434072" y="3657600"/>
            <a:ext cx="4069080" cy="457200"/>
          </a:xfrm>
          <a:prstGeom prst="rect">
            <a:avLst/>
          </a:prstGeom>
          <a:noFill/>
          <a:ln/>
        </p:spPr>
        <p:txBody>
          <a:bodyPr wrap="square" lIns="0" tIns="0" rIns="0" bIns="0" rtlCol="0" anchor="ctr"/>
          <a:lstStyle/>
          <a:p>
            <a:pPr marL="0" indent="0">
              <a:buNone/>
            </a:pPr>
            <a:r>
              <a:rPr lang="en-US" sz="1600" b="1" dirty="0">
                <a:solidFill>
                  <a:schemeClr val="tx2"/>
                </a:solidFill>
              </a:rPr>
              <a:t>Why the bands help</a:t>
            </a:r>
            <a:endParaRPr lang="en-US" sz="1600" dirty="0"/>
          </a:p>
        </p:txBody>
      </p:sp>
      <p:sp>
        <p:nvSpPr>
          <p:cNvPr id="17" name="Text 12"/>
          <p:cNvSpPr txBox="1"/>
          <p:nvPr/>
        </p:nvSpPr>
        <p:spPr>
          <a:xfrm>
            <a:off x="6903720" y="4206240"/>
            <a:ext cx="4553712" cy="187452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Inside a band the sun's light is strongly attenuated → reflected radiance is low</a:t>
            </a:r>
            <a:endParaRPr lang="en-US" sz="1300" dirty="0"/>
          </a:p>
          <a:p>
            <a:pPr marL="177800" indent="-177800">
              <a:spcAft>
                <a:spcPts val="400"/>
              </a:spcAft>
              <a:buSzPct val="100000"/>
              <a:buChar char="•"/>
            </a:pPr>
            <a:r>
              <a:rPr lang="en-US" sz="1300" dirty="0">
                <a:solidFill>
                  <a:schemeClr val="tx1"/>
                </a:solidFill>
              </a:rPr>
              <a:t>Fluorescence is emitted at all wavelengths → it </a:t>
            </a:r>
            <a:r>
              <a:rPr lang="en-US" sz="1300" b="1" dirty="0">
                <a:solidFill>
                  <a:schemeClr val="tx1"/>
                </a:solidFill>
              </a:rPr>
              <a:t>fills in</a:t>
            </a:r>
            <a:r>
              <a:rPr lang="en-US" sz="1300" dirty="0">
                <a:solidFill>
                  <a:schemeClr val="tx1"/>
                </a:solidFill>
              </a:rPr>
              <a:t> the band</a:t>
            </a:r>
            <a:endParaRPr lang="en-US" sz="1300" dirty="0"/>
          </a:p>
          <a:p>
            <a:pPr marL="177800" indent="-177800">
              <a:spcAft>
                <a:spcPts val="400"/>
              </a:spcAft>
              <a:buSzPct val="100000"/>
              <a:buChar char="•"/>
            </a:pPr>
            <a:r>
              <a:rPr lang="en-US" sz="1300" dirty="0">
                <a:solidFill>
                  <a:schemeClr val="tx1"/>
                </a:solidFill>
              </a:rPr>
              <a:t>Red: SIF fraction high (reflectance is low) despite re-absorption</a:t>
            </a:r>
            <a:endParaRPr lang="en-US" sz="1300" dirty="0"/>
          </a:p>
          <a:p>
            <a:pPr marL="177800" indent="-177800">
              <a:spcAft>
                <a:spcPts val="400"/>
              </a:spcAft>
              <a:buSzPct val="100000"/>
              <a:buChar char="•"/>
            </a:pPr>
            <a:r>
              <a:rPr lang="en-US" sz="1300" dirty="0">
                <a:solidFill>
                  <a:schemeClr val="tx1"/>
                </a:solidFill>
              </a:rPr>
              <a:t>Needs high spectral resolution (sub-nm) and high SNR</a:t>
            </a:r>
            <a:endParaRPr lang="en-US" sz="1300" dirty="0"/>
          </a:p>
        </p:txBody>
      </p:sp>
      <p:sp>
        <p:nvSpPr>
          <p:cNvPr id="18" name="Text 13"/>
          <p:cNvSpPr txBox="1"/>
          <p:nvPr/>
        </p:nvSpPr>
        <p:spPr>
          <a:xfrm>
            <a:off x="6720840" y="3337560"/>
            <a:ext cx="4937760" cy="228600"/>
          </a:xfrm>
          <a:prstGeom prst="rect">
            <a:avLst/>
          </a:prstGeom>
          <a:noFill/>
          <a:ln/>
        </p:spPr>
        <p:txBody>
          <a:bodyPr wrap="square" lIns="508" tIns="508" rIns="508" bIns="508" rtlCol="0" anchor="t"/>
          <a:lstStyle/>
          <a:p>
            <a:pPr marL="0" indent="0">
              <a:spcAft>
                <a:spcPts val="600"/>
              </a:spcAft>
              <a:buNone/>
            </a:pPr>
            <a:r>
              <a:rPr lang="en-US" sz="1100" i="1" dirty="0">
                <a:solidFill>
                  <a:schemeClr val="accent6"/>
                </a:solidFill>
              </a:rPr>
              <a:t>1–5 % is an approximate range for the overall contribution.</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Where to look: Fraunhofer lines and oxygen bands</a:t>
            </a:r>
            <a:endParaRPr lang="en-US" sz="3200" dirty="0"/>
          </a:p>
        </p:txBody>
      </p:sp>
      <p:sp>
        <p:nvSpPr>
          <p:cNvPr id="4" name="figure frame"/>
          <p:cNvSpPr/>
          <p:nvPr/>
        </p:nvSpPr>
        <p:spPr>
          <a:xfrm>
            <a:off x="548640" y="1325880"/>
            <a:ext cx="6583680" cy="2286000"/>
          </a:xfrm>
          <a:prstGeom prst="roundRect">
            <a:avLst>
              <a:gd name="adj" fmla="val 2400"/>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5" name="Image 0" descr="Mohammed et al. (2019), Fig. 4 — olive canopy radiance showing O₂-B and O₂-A (left) and the O₂-A band in detail (right)"/>
          <p:cNvPicPr>
            <a:picLocks noChangeAspect="1"/>
          </p:cNvPicPr>
          <p:nvPr/>
        </p:nvPicPr>
        <p:blipFill>
          <a:blip r:embed="rId3"/>
          <a:stretch>
            <a:fillRect/>
          </a:stretch>
        </p:blipFill>
        <p:spPr>
          <a:xfrm>
            <a:off x="1091520" y="1417320"/>
            <a:ext cx="5497920" cy="2103120"/>
          </a:xfrm>
          <a:prstGeom prst="rect">
            <a:avLst/>
          </a:prstGeom>
        </p:spPr>
      </p:pic>
      <p:sp>
        <p:nvSpPr>
          <p:cNvPr id="6" name="Text 2"/>
          <p:cNvSpPr txBox="1"/>
          <p:nvPr/>
        </p:nvSpPr>
        <p:spPr>
          <a:xfrm>
            <a:off x="548640" y="3657600"/>
            <a:ext cx="6583680" cy="411480"/>
          </a:xfrm>
          <a:prstGeom prst="rect">
            <a:avLst/>
          </a:prstGeom>
          <a:noFill/>
          <a:ln/>
        </p:spPr>
        <p:txBody>
          <a:bodyPr wrap="square" lIns="0" tIns="0" rIns="0" bIns="0" rtlCol="0" anchor="t"/>
          <a:lstStyle/>
          <a:p>
            <a:pPr marL="0" indent="0">
              <a:buNone/>
            </a:pPr>
            <a:r>
              <a:rPr lang="en-US" sz="1100" i="1" dirty="0">
                <a:solidFill>
                  <a:schemeClr val="accent6"/>
                </a:solidFill>
              </a:rPr>
              <a:t>Mohammed et al. (2019), Fig. 4 — olive canopy radiance showing O₂-B and O₂-A (left) and the O₂-A band in detail (right)</a:t>
            </a:r>
            <a:endParaRPr lang="en-US" sz="11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4251960"/>
          <a:ext cx="6583680" cy="2121408"/>
        </p:xfrm>
        <a:graphic>
          <a:graphicData uri="http://schemas.openxmlformats.org/drawingml/2006/table">
            <a:tbl>
              <a:tblPr/>
              <a:tblGrid>
                <a:gridCol w="14630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tblGrid>
              <a:tr h="384048">
                <a:tc>
                  <a:txBody>
                    <a:bodyPr/>
                    <a:lstStyle/>
                    <a:p>
                      <a:pPr marL="0" indent="0">
                        <a:buNone/>
                      </a:pPr>
                      <a:r>
                        <a:rPr lang="en-US" sz="1400" b="1" dirty="0">
                          <a:solidFill>
                            <a:schemeClr val="bg1"/>
                          </a:solidFill>
                        </a:rPr>
                        <a:t>Feature</a:t>
                      </a:r>
                      <a:endParaRPr lang="en-US" sz="14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Wavelength</a:t>
                      </a:r>
                      <a:endParaRPr lang="en-US" sz="14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Origin</a:t>
                      </a:r>
                      <a:endParaRPr lang="en-US" sz="14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Used for</a:t>
                      </a:r>
                      <a:endParaRPr lang="en-US" sz="14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buNone/>
                      </a:pPr>
                      <a:r>
                        <a:rPr lang="en-US" sz="1300" b="1" dirty="0">
                          <a:solidFill>
                            <a:schemeClr val="tx2"/>
                          </a:solidFill>
                        </a:rPr>
                        <a:t>Hα</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656.3 nm</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Fraunhofer line</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Early FLD work (narrow, ~0.1 nm)</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84048">
                <a:tc>
                  <a:txBody>
                    <a:bodyPr/>
                    <a:lstStyle/>
                    <a:p>
                      <a:pPr marL="0" indent="0">
                        <a:buNone/>
                      </a:pPr>
                      <a:r>
                        <a:rPr lang="en-US" sz="1300" b="1" dirty="0">
                          <a:solidFill>
                            <a:schemeClr val="tx2"/>
                          </a:solidFill>
                        </a:rPr>
                        <a:t>O₂-B</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~687 nm</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Telluric (Earth O₂)</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Red SIF</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84048">
                <a:tc>
                  <a:txBody>
                    <a:bodyPr/>
                    <a:lstStyle/>
                    <a:p>
                      <a:pPr marL="0" indent="0">
                        <a:buNone/>
                      </a:pPr>
                      <a:r>
                        <a:rPr lang="en-US" sz="1300" b="1" dirty="0">
                          <a:solidFill>
                            <a:schemeClr val="tx2"/>
                          </a:solidFill>
                        </a:rPr>
                        <a:t>Fraunhofer lines</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745–758 nm, K I 770 nm</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Solar atmosphere</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Far-red SIF from satellites</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84048">
                <a:tc>
                  <a:txBody>
                    <a:bodyPr/>
                    <a:lstStyle/>
                    <a:p>
                      <a:pPr marL="0" indent="0">
                        <a:buNone/>
                      </a:pPr>
                      <a:r>
                        <a:rPr lang="en-US" sz="1300" b="1" dirty="0">
                          <a:solidFill>
                            <a:schemeClr val="tx2"/>
                          </a:solidFill>
                        </a:rPr>
                        <a:t>O₂-A</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~760 nm</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Telluric (Earth O₂)</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Far-red SIF; deepest band</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8" name="card"/>
          <p:cNvSpPr/>
          <p:nvPr/>
        </p:nvSpPr>
        <p:spPr>
          <a:xfrm>
            <a:off x="7360920" y="1325880"/>
            <a:ext cx="4279392" cy="2331720"/>
          </a:xfrm>
          <a:prstGeom prst="roundRect">
            <a:avLst>
              <a:gd name="adj" fmla="val 3137"/>
            </a:avLst>
          </a:prstGeom>
          <a:solidFill>
            <a:schemeClr val="bg2"/>
          </a:solidFill>
          <a:ln/>
          <a:effectLst>
            <a:outerShdw blurRad="76200" dist="25400" dir="5400000" algn="bl" rotWithShape="0">
              <a:srgbClr val="000000">
                <a:alpha val="14000"/>
              </a:srgbClr>
            </a:outerShdw>
          </a:effectLst>
        </p:spPr>
      </p:sp>
      <p:sp>
        <p:nvSpPr>
          <p:cNvPr id="9" name="icon circle"/>
          <p:cNvSpPr/>
          <p:nvPr/>
        </p:nvSpPr>
        <p:spPr>
          <a:xfrm>
            <a:off x="7543800" y="1481328"/>
            <a:ext cx="420624" cy="420624"/>
          </a:xfrm>
          <a:prstGeom prst="ellipse">
            <a:avLst/>
          </a:prstGeom>
          <a:solidFill>
            <a:schemeClr val="accent3"/>
          </a:solidFill>
          <a:ln/>
        </p:spPr>
      </p:sp>
      <p:pic>
        <p:nvPicPr>
          <p:cNvPr id="10" name="Image 1" descr="Sun icon"/>
          <p:cNvPicPr>
            <a:picLocks noChangeAspect="1"/>
          </p:cNvPicPr>
          <p:nvPr/>
        </p:nvPicPr>
        <p:blipFill>
          <a:blip r:embed="rId4"/>
          <a:stretch>
            <a:fillRect/>
          </a:stretch>
        </p:blipFill>
        <p:spPr>
          <a:xfrm>
            <a:off x="7653162" y="1590690"/>
            <a:ext cx="201900" cy="201900"/>
          </a:xfrm>
          <a:prstGeom prst="rect">
            <a:avLst/>
          </a:prstGeom>
        </p:spPr>
      </p:pic>
      <p:sp>
        <p:nvSpPr>
          <p:cNvPr id="11" name="Text 5"/>
          <p:cNvSpPr txBox="1"/>
          <p:nvPr/>
        </p:nvSpPr>
        <p:spPr>
          <a:xfrm>
            <a:off x="8074152" y="1463040"/>
            <a:ext cx="3429000" cy="457200"/>
          </a:xfrm>
          <a:prstGeom prst="rect">
            <a:avLst/>
          </a:prstGeom>
          <a:noFill/>
          <a:ln/>
        </p:spPr>
        <p:txBody>
          <a:bodyPr wrap="square" lIns="0" tIns="0" rIns="0" bIns="0" rtlCol="0" anchor="ctr"/>
          <a:lstStyle/>
          <a:p>
            <a:pPr marL="0" indent="0">
              <a:buNone/>
            </a:pPr>
            <a:r>
              <a:rPr lang="en-US" sz="1600" b="1" dirty="0">
                <a:solidFill>
                  <a:schemeClr val="tx2"/>
                </a:solidFill>
              </a:rPr>
              <a:t>Fraunhofer lines (solar)</a:t>
            </a:r>
            <a:endParaRPr lang="en-US" sz="1600" dirty="0"/>
          </a:p>
        </p:txBody>
      </p:sp>
      <p:sp>
        <p:nvSpPr>
          <p:cNvPr id="12" name="Text 6"/>
          <p:cNvSpPr txBox="1"/>
          <p:nvPr/>
        </p:nvSpPr>
        <p:spPr>
          <a:xfrm>
            <a:off x="7543800" y="2011680"/>
            <a:ext cx="3913632" cy="155448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Narrow; small in-filling signal</a:t>
            </a:r>
            <a:endParaRPr lang="en-US" sz="1300" dirty="0"/>
          </a:p>
          <a:p>
            <a:pPr marL="177800" indent="-177800">
              <a:spcAft>
                <a:spcPts val="400"/>
              </a:spcAft>
              <a:buSzPct val="100000"/>
              <a:buChar char="•"/>
            </a:pPr>
            <a:r>
              <a:rPr lang="en-US" sz="1300" dirty="0">
                <a:solidFill>
                  <a:schemeClr val="tx1"/>
                </a:solidFill>
              </a:rPr>
              <a:t>Earth's atmosphere does not change relative depth → simpler correction</a:t>
            </a:r>
            <a:endParaRPr lang="en-US" sz="1300" dirty="0"/>
          </a:p>
          <a:p>
            <a:pPr marL="177800" indent="-177800">
              <a:spcAft>
                <a:spcPts val="400"/>
              </a:spcAft>
              <a:buSzPct val="100000"/>
              <a:buChar char="•"/>
            </a:pPr>
            <a:r>
              <a:rPr lang="en-US" sz="1300" dirty="0">
                <a:solidFill>
                  <a:schemeClr val="tx1"/>
                </a:solidFill>
              </a:rPr>
              <a:t>Used by GOSAT, GOME-2, OCO-2, TROPOMI</a:t>
            </a:r>
            <a:endParaRPr lang="en-US" sz="1300" dirty="0"/>
          </a:p>
        </p:txBody>
      </p:sp>
      <p:sp>
        <p:nvSpPr>
          <p:cNvPr id="13" name="card"/>
          <p:cNvSpPr/>
          <p:nvPr/>
        </p:nvSpPr>
        <p:spPr>
          <a:xfrm>
            <a:off x="7360920" y="3794760"/>
            <a:ext cx="4279392" cy="2377440"/>
          </a:xfrm>
          <a:prstGeom prst="roundRect">
            <a:avLst>
              <a:gd name="adj" fmla="val 3077"/>
            </a:avLst>
          </a:prstGeom>
          <a:solidFill>
            <a:schemeClr val="bg2"/>
          </a:solidFill>
          <a:ln/>
          <a:effectLst>
            <a:outerShdw blurRad="76200" dist="25400" dir="5400000" algn="bl" rotWithShape="0">
              <a:srgbClr val="000000">
                <a:alpha val="14000"/>
              </a:srgbClr>
            </a:outerShdw>
          </a:effectLst>
        </p:spPr>
      </p:sp>
      <p:sp>
        <p:nvSpPr>
          <p:cNvPr id="14" name="icon circle"/>
          <p:cNvSpPr/>
          <p:nvPr/>
        </p:nvSpPr>
        <p:spPr>
          <a:xfrm>
            <a:off x="7543800" y="3950208"/>
            <a:ext cx="420624" cy="420624"/>
          </a:xfrm>
          <a:prstGeom prst="ellipse">
            <a:avLst/>
          </a:prstGeom>
          <a:solidFill>
            <a:schemeClr val="accent5"/>
          </a:solidFill>
          <a:ln/>
        </p:spPr>
      </p:sp>
      <p:pic>
        <p:nvPicPr>
          <p:cNvPr id="15" name="Image 2" descr="Cloud icon"/>
          <p:cNvPicPr>
            <a:picLocks noChangeAspect="1"/>
          </p:cNvPicPr>
          <p:nvPr/>
        </p:nvPicPr>
        <p:blipFill>
          <a:blip r:embed="rId5"/>
          <a:stretch>
            <a:fillRect/>
          </a:stretch>
        </p:blipFill>
        <p:spPr>
          <a:xfrm>
            <a:off x="7653162" y="4059570"/>
            <a:ext cx="201900" cy="201900"/>
          </a:xfrm>
          <a:prstGeom prst="rect">
            <a:avLst/>
          </a:prstGeom>
        </p:spPr>
      </p:pic>
      <p:sp>
        <p:nvSpPr>
          <p:cNvPr id="16" name="Text 9"/>
          <p:cNvSpPr txBox="1"/>
          <p:nvPr/>
        </p:nvSpPr>
        <p:spPr>
          <a:xfrm>
            <a:off x="8074152" y="3931920"/>
            <a:ext cx="3429000" cy="457200"/>
          </a:xfrm>
          <a:prstGeom prst="rect">
            <a:avLst/>
          </a:prstGeom>
          <a:noFill/>
          <a:ln/>
        </p:spPr>
        <p:txBody>
          <a:bodyPr wrap="square" lIns="0" tIns="0" rIns="0" bIns="0" rtlCol="0" anchor="ctr"/>
          <a:lstStyle/>
          <a:p>
            <a:pPr marL="0" indent="0">
              <a:buNone/>
            </a:pPr>
            <a:r>
              <a:rPr lang="en-US" sz="1600" b="1" dirty="0">
                <a:solidFill>
                  <a:schemeClr val="tx2"/>
                </a:solidFill>
              </a:rPr>
              <a:t>O₂ bands (telluric)</a:t>
            </a:r>
            <a:endParaRPr lang="en-US" sz="1600" dirty="0"/>
          </a:p>
        </p:txBody>
      </p:sp>
      <p:sp>
        <p:nvSpPr>
          <p:cNvPr id="17" name="Text 10"/>
          <p:cNvSpPr txBox="1"/>
          <p:nvPr/>
        </p:nvSpPr>
        <p:spPr>
          <a:xfrm>
            <a:off x="7543800" y="4480560"/>
            <a:ext cx="3913632"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Wide and deep → strong in-filling</a:t>
            </a:r>
            <a:endParaRPr lang="en-US" sz="1300" dirty="0"/>
          </a:p>
          <a:p>
            <a:pPr marL="177800" indent="-177800">
              <a:spcAft>
                <a:spcPts val="400"/>
              </a:spcAft>
              <a:buSzPct val="100000"/>
              <a:buChar char="•"/>
            </a:pPr>
            <a:r>
              <a:rPr lang="en-US" sz="1300" dirty="0">
                <a:solidFill>
                  <a:schemeClr val="tx1"/>
                </a:solidFill>
              </a:rPr>
              <a:t>Depth depends on path length, pressure, aerosols, direct/diffuse light</a:t>
            </a:r>
            <a:endParaRPr lang="en-US" sz="1300" dirty="0"/>
          </a:p>
          <a:p>
            <a:pPr marL="177800" indent="-177800">
              <a:spcAft>
                <a:spcPts val="400"/>
              </a:spcAft>
              <a:buSzPct val="100000"/>
              <a:buChar char="•"/>
            </a:pPr>
            <a:r>
              <a:rPr lang="en-US" sz="1300" dirty="0">
                <a:solidFill>
                  <a:schemeClr val="tx1"/>
                </a:solidFill>
              </a:rPr>
              <a:t>Needs accurate atmospheric modelling (FLEX design)</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The retrieval equation and the FLD principle</a:t>
            </a:r>
            <a:endParaRPr lang="en-US" sz="3200" dirty="0"/>
          </a:p>
        </p:txBody>
      </p:sp>
      <p:sp>
        <p:nvSpPr>
          <p:cNvPr id="4" name="card"/>
          <p:cNvSpPr/>
          <p:nvPr/>
        </p:nvSpPr>
        <p:spPr>
          <a:xfrm>
            <a:off x="548640" y="1325880"/>
            <a:ext cx="11091672" cy="868680"/>
          </a:xfrm>
          <a:prstGeom prst="roundRect">
            <a:avLst>
              <a:gd name="adj" fmla="val 8421"/>
            </a:avLst>
          </a:prstGeom>
          <a:solidFill>
            <a:schemeClr val="tx2"/>
          </a:solidFill>
          <a:ln/>
          <a:effectLst>
            <a:outerShdw blurRad="76200" dist="25400" dir="5400000" algn="bl" rotWithShape="0">
              <a:srgbClr val="000000">
                <a:alpha val="14000"/>
              </a:srgbClr>
            </a:outerShdw>
          </a:effectLst>
        </p:spPr>
      </p:sp>
      <p:sp>
        <p:nvSpPr>
          <p:cNvPr id="5" name="Text 2"/>
          <p:cNvSpPr txBox="1"/>
          <p:nvPr/>
        </p:nvSpPr>
        <p:spPr>
          <a:xfrm>
            <a:off x="822960" y="1371600"/>
            <a:ext cx="5486400" cy="777240"/>
          </a:xfrm>
          <a:prstGeom prst="rect">
            <a:avLst/>
          </a:prstGeom>
          <a:noFill/>
          <a:ln/>
        </p:spPr>
        <p:txBody>
          <a:bodyPr wrap="square" lIns="0" tIns="0" rIns="0" bIns="0" rtlCol="0" anchor="ctr"/>
          <a:lstStyle/>
          <a:p>
            <a:pPr marL="0" indent="0" algn="l">
              <a:buNone/>
            </a:pPr>
            <a:r>
              <a:rPr lang="en-US" sz="2600" b="1" dirty="0">
                <a:solidFill>
                  <a:schemeClr val="bg1"/>
                </a:solidFill>
              </a:rPr>
              <a:t>L(λ) = r(λ)·E(λ)/π + SIF(λ)</a:t>
            </a:r>
            <a:endParaRPr lang="en-US" sz="2600" dirty="0"/>
          </a:p>
        </p:txBody>
      </p:sp>
      <p:sp>
        <p:nvSpPr>
          <p:cNvPr id="6" name="Text 3"/>
          <p:cNvSpPr txBox="1"/>
          <p:nvPr/>
        </p:nvSpPr>
        <p:spPr>
          <a:xfrm>
            <a:off x="6035040" y="1371600"/>
            <a:ext cx="5486400" cy="777240"/>
          </a:xfrm>
          <a:prstGeom prst="rect">
            <a:avLst/>
          </a:prstGeom>
          <a:noFill/>
          <a:ln/>
        </p:spPr>
        <p:txBody>
          <a:bodyPr wrap="square" lIns="0" tIns="0" rIns="0" bIns="0" rtlCol="0" anchor="ctr"/>
          <a:lstStyle/>
          <a:p>
            <a:pPr marL="0" indent="0" algn="r">
              <a:buNone/>
            </a:pPr>
            <a:r>
              <a:rPr lang="en-US" sz="1400" dirty="0">
                <a:solidFill>
                  <a:schemeClr val="bg2"/>
                </a:solidFill>
              </a:rPr>
              <a:t>L = radiance at sensor · E = incident irradiance · r = reflectance</a:t>
            </a:r>
            <a:endParaRPr lang="en-US" sz="1400" dirty="0"/>
          </a:p>
        </p:txBody>
      </p:sp>
      <p:graphicFrame>
        <p:nvGraphicFramePr>
          <p:cNvPr id="7" name="Chart 0"/>
          <p:cNvGraphicFramePr/>
          <p:nvPr/>
        </p:nvGraphicFramePr>
        <p:xfrm>
          <a:off x="548640" y="2377440"/>
          <a:ext cx="630936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8" name="card"/>
          <p:cNvSpPr/>
          <p:nvPr/>
        </p:nvSpPr>
        <p:spPr>
          <a:xfrm>
            <a:off x="7086600" y="2377440"/>
            <a:ext cx="4553712" cy="2286000"/>
          </a:xfrm>
          <a:prstGeom prst="roundRect">
            <a:avLst>
              <a:gd name="adj" fmla="val 3200"/>
            </a:avLst>
          </a:prstGeom>
          <a:solidFill>
            <a:schemeClr val="bg2"/>
          </a:solidFill>
          <a:ln/>
          <a:effectLst>
            <a:outerShdw blurRad="76200" dist="25400" dir="5400000" algn="bl" rotWithShape="0">
              <a:srgbClr val="000000">
                <a:alpha val="14000"/>
              </a:srgbClr>
            </a:outerShdw>
          </a:effectLst>
        </p:spPr>
      </p:sp>
      <p:sp>
        <p:nvSpPr>
          <p:cNvPr id="9" name="icon circle"/>
          <p:cNvSpPr/>
          <p:nvPr/>
        </p:nvSpPr>
        <p:spPr>
          <a:xfrm>
            <a:off x="7269480" y="2532888"/>
            <a:ext cx="420624" cy="420624"/>
          </a:xfrm>
          <a:prstGeom prst="ellipse">
            <a:avLst/>
          </a:prstGeom>
          <a:solidFill>
            <a:schemeClr val="accent1"/>
          </a:solidFill>
          <a:ln/>
        </p:spPr>
      </p:sp>
      <p:pic>
        <p:nvPicPr>
          <p:cNvPr id="10" name="Image 0" descr="Calculator icon"/>
          <p:cNvPicPr>
            <a:picLocks noChangeAspect="1"/>
          </p:cNvPicPr>
          <p:nvPr/>
        </p:nvPicPr>
        <p:blipFill>
          <a:blip r:embed="rId4"/>
          <a:stretch>
            <a:fillRect/>
          </a:stretch>
        </p:blipFill>
        <p:spPr>
          <a:xfrm>
            <a:off x="7378842" y="2642250"/>
            <a:ext cx="201900" cy="201900"/>
          </a:xfrm>
          <a:prstGeom prst="rect">
            <a:avLst/>
          </a:prstGeom>
        </p:spPr>
      </p:pic>
      <p:sp>
        <p:nvSpPr>
          <p:cNvPr id="11" name="Text 6"/>
          <p:cNvSpPr txBox="1"/>
          <p:nvPr/>
        </p:nvSpPr>
        <p:spPr>
          <a:xfrm>
            <a:off x="7799832" y="2514600"/>
            <a:ext cx="3703320" cy="457200"/>
          </a:xfrm>
          <a:prstGeom prst="rect">
            <a:avLst/>
          </a:prstGeom>
          <a:noFill/>
          <a:ln/>
        </p:spPr>
        <p:txBody>
          <a:bodyPr wrap="square" lIns="0" tIns="0" rIns="0" bIns="0" rtlCol="0" anchor="ctr"/>
          <a:lstStyle/>
          <a:p>
            <a:pPr marL="0" indent="0">
              <a:buNone/>
            </a:pPr>
            <a:r>
              <a:rPr lang="en-US" sz="1600" b="1" dirty="0">
                <a:solidFill>
                  <a:schemeClr val="tx2"/>
                </a:solidFill>
              </a:rPr>
              <a:t>Two-band FLD solution</a:t>
            </a:r>
            <a:endParaRPr lang="en-US" sz="1600" dirty="0"/>
          </a:p>
        </p:txBody>
      </p:sp>
      <p:sp>
        <p:nvSpPr>
          <p:cNvPr id="12" name="Text 7"/>
          <p:cNvSpPr txBox="1"/>
          <p:nvPr/>
        </p:nvSpPr>
        <p:spPr>
          <a:xfrm>
            <a:off x="7269480" y="3063240"/>
            <a:ext cx="4187952" cy="1508760"/>
          </a:xfrm>
          <a:prstGeom prst="rect">
            <a:avLst/>
          </a:prstGeom>
          <a:noFill/>
          <a:ln/>
        </p:spPr>
        <p:txBody>
          <a:bodyPr wrap="square" lIns="508" tIns="508" rIns="508" bIns="508" rtlCol="0" anchor="t"/>
          <a:lstStyle/>
          <a:p>
            <a:pPr marL="0" indent="0">
              <a:spcAft>
                <a:spcPts val="400"/>
              </a:spcAft>
              <a:buNone/>
            </a:pPr>
            <a:r>
              <a:rPr lang="en-US" sz="1400" dirty="0">
                <a:solidFill>
                  <a:schemeClr val="tx1"/>
                </a:solidFill>
              </a:rPr>
              <a:t>Inside band: L</a:t>
            </a:r>
            <a:r>
              <a:rPr lang="en-US" sz="1400" baseline="-40000" dirty="0">
                <a:solidFill>
                  <a:schemeClr val="tx1"/>
                </a:solidFill>
              </a:rPr>
              <a:t>in</a:t>
            </a:r>
            <a:r>
              <a:rPr lang="en-US" sz="1400" dirty="0">
                <a:solidFill>
                  <a:schemeClr val="tx1"/>
                </a:solidFill>
              </a:rPr>
              <a:t> = r·E</a:t>
            </a:r>
            <a:r>
              <a:rPr lang="en-US" sz="1400" baseline="-40000" dirty="0">
                <a:solidFill>
                  <a:schemeClr val="tx1"/>
                </a:solidFill>
              </a:rPr>
              <a:t>in</a:t>
            </a:r>
            <a:r>
              <a:rPr lang="en-US" sz="1400" dirty="0">
                <a:solidFill>
                  <a:schemeClr val="tx1"/>
                </a:solidFill>
              </a:rPr>
              <a:t>/π + F</a:t>
            </a:r>
            <a:endParaRPr lang="en-US" sz="1400" dirty="0"/>
          </a:p>
          <a:p>
            <a:pPr marL="0" indent="0">
              <a:spcAft>
                <a:spcPts val="600"/>
              </a:spcAft>
              <a:buNone/>
            </a:pPr>
            <a:r>
              <a:rPr lang="en-US" sz="1400" dirty="0">
                <a:solidFill>
                  <a:schemeClr val="tx1"/>
                </a:solidFill>
              </a:rPr>
              <a:t>Outside band: L</a:t>
            </a:r>
            <a:r>
              <a:rPr lang="en-US" sz="1400" baseline="-40000" dirty="0">
                <a:solidFill>
                  <a:schemeClr val="tx1"/>
                </a:solidFill>
              </a:rPr>
              <a:t>out</a:t>
            </a:r>
            <a:r>
              <a:rPr lang="en-US" sz="1400" dirty="0">
                <a:solidFill>
                  <a:schemeClr val="tx1"/>
                </a:solidFill>
              </a:rPr>
              <a:t> = r·E</a:t>
            </a:r>
            <a:r>
              <a:rPr lang="en-US" sz="1400" baseline="-40000" dirty="0">
                <a:solidFill>
                  <a:schemeClr val="tx1"/>
                </a:solidFill>
              </a:rPr>
              <a:t>out</a:t>
            </a:r>
            <a:r>
              <a:rPr lang="en-US" sz="1400" dirty="0">
                <a:solidFill>
                  <a:schemeClr val="tx1"/>
                </a:solidFill>
              </a:rPr>
              <a:t>/π + F</a:t>
            </a:r>
            <a:endParaRPr lang="en-US" sz="1400" dirty="0"/>
          </a:p>
          <a:p>
            <a:pPr marL="0" indent="0">
              <a:spcAft>
                <a:spcPts val="400"/>
              </a:spcAft>
              <a:buNone/>
            </a:pPr>
            <a:r>
              <a:rPr lang="en-US" sz="1400" b="1" dirty="0">
                <a:solidFill>
                  <a:schemeClr val="accent2"/>
                </a:solidFill>
              </a:rPr>
              <a:t>F = (E</a:t>
            </a:r>
            <a:r>
              <a:rPr lang="en-US" sz="1400" b="1" baseline="-40000" dirty="0">
                <a:solidFill>
                  <a:schemeClr val="accent2"/>
                </a:solidFill>
              </a:rPr>
              <a:t>out</a:t>
            </a:r>
            <a:r>
              <a:rPr lang="en-US" sz="1400" b="1" dirty="0">
                <a:solidFill>
                  <a:schemeClr val="accent2"/>
                </a:solidFill>
              </a:rPr>
              <a:t>·L</a:t>
            </a:r>
            <a:r>
              <a:rPr lang="en-US" sz="1400" b="1" baseline="-40000" dirty="0">
                <a:solidFill>
                  <a:schemeClr val="accent2"/>
                </a:solidFill>
              </a:rPr>
              <a:t>in</a:t>
            </a:r>
            <a:r>
              <a:rPr lang="en-US" sz="1400" b="1" dirty="0">
                <a:solidFill>
                  <a:schemeClr val="accent2"/>
                </a:solidFill>
              </a:rPr>
              <a:t> − E</a:t>
            </a:r>
            <a:r>
              <a:rPr lang="en-US" sz="1400" b="1" baseline="-40000" dirty="0">
                <a:solidFill>
                  <a:schemeClr val="accent2"/>
                </a:solidFill>
              </a:rPr>
              <a:t>in</a:t>
            </a:r>
            <a:r>
              <a:rPr lang="en-US" sz="1400" b="1" dirty="0">
                <a:solidFill>
                  <a:schemeClr val="accent2"/>
                </a:solidFill>
              </a:rPr>
              <a:t>·L</a:t>
            </a:r>
            <a:r>
              <a:rPr lang="en-US" sz="1400" b="1" baseline="-40000" dirty="0">
                <a:solidFill>
                  <a:schemeClr val="accent2"/>
                </a:solidFill>
              </a:rPr>
              <a:t>out</a:t>
            </a:r>
            <a:r>
              <a:rPr lang="en-US" sz="1400" b="1" dirty="0">
                <a:solidFill>
                  <a:schemeClr val="accent2"/>
                </a:solidFill>
              </a:rPr>
              <a:t>) / (E</a:t>
            </a:r>
            <a:r>
              <a:rPr lang="en-US" sz="1400" b="1" baseline="-40000" dirty="0">
                <a:solidFill>
                  <a:schemeClr val="accent2"/>
                </a:solidFill>
              </a:rPr>
              <a:t>out</a:t>
            </a:r>
            <a:r>
              <a:rPr lang="en-US" sz="1400" b="1" dirty="0">
                <a:solidFill>
                  <a:schemeClr val="accent2"/>
                </a:solidFill>
              </a:rPr>
              <a:t> − E</a:t>
            </a:r>
            <a:r>
              <a:rPr lang="en-US" sz="1400" b="1" baseline="-40000" dirty="0">
                <a:solidFill>
                  <a:schemeClr val="accent2"/>
                </a:solidFill>
              </a:rPr>
              <a:t>in</a:t>
            </a:r>
            <a:r>
              <a:rPr lang="en-US" sz="1400" b="1" dirty="0">
                <a:solidFill>
                  <a:schemeClr val="accent2"/>
                </a:solidFill>
              </a:rPr>
              <a:t>)</a:t>
            </a:r>
            <a:endParaRPr lang="en-US" sz="1400" dirty="0"/>
          </a:p>
        </p:txBody>
      </p:sp>
      <p:sp>
        <p:nvSpPr>
          <p:cNvPr id="13" name="card"/>
          <p:cNvSpPr/>
          <p:nvPr/>
        </p:nvSpPr>
        <p:spPr>
          <a:xfrm>
            <a:off x="7086600" y="4800600"/>
            <a:ext cx="4553712" cy="1371600"/>
          </a:xfrm>
          <a:prstGeom prst="roundRect">
            <a:avLst>
              <a:gd name="adj" fmla="val 5333"/>
            </a:avLst>
          </a:prstGeom>
          <a:solidFill>
            <a:schemeClr val="bg2"/>
          </a:solidFill>
          <a:ln/>
          <a:effectLst>
            <a:outerShdw blurRad="76200" dist="25400" dir="5400000" algn="bl" rotWithShape="0">
              <a:srgbClr val="000000">
                <a:alpha val="14000"/>
              </a:srgbClr>
            </a:outerShdw>
          </a:effectLst>
        </p:spPr>
      </p:sp>
      <p:sp>
        <p:nvSpPr>
          <p:cNvPr id="14" name="icon circle"/>
          <p:cNvSpPr/>
          <p:nvPr/>
        </p:nvSpPr>
        <p:spPr>
          <a:xfrm>
            <a:off x="7269480" y="4956048"/>
            <a:ext cx="420624" cy="420624"/>
          </a:xfrm>
          <a:prstGeom prst="ellipse">
            <a:avLst/>
          </a:prstGeom>
          <a:solidFill>
            <a:schemeClr val="accent2"/>
          </a:solidFill>
          <a:ln/>
        </p:spPr>
      </p:sp>
      <p:pic>
        <p:nvPicPr>
          <p:cNvPr id="15" name="Image 1" descr="ExclamationTriangle icon"/>
          <p:cNvPicPr>
            <a:picLocks noChangeAspect="1"/>
          </p:cNvPicPr>
          <p:nvPr/>
        </p:nvPicPr>
        <p:blipFill>
          <a:blip r:embed="rId5"/>
          <a:stretch>
            <a:fillRect/>
          </a:stretch>
        </p:blipFill>
        <p:spPr>
          <a:xfrm>
            <a:off x="7378842" y="5065410"/>
            <a:ext cx="201900" cy="201900"/>
          </a:xfrm>
          <a:prstGeom prst="rect">
            <a:avLst/>
          </a:prstGeom>
        </p:spPr>
      </p:pic>
      <p:sp>
        <p:nvSpPr>
          <p:cNvPr id="16" name="Text 10"/>
          <p:cNvSpPr txBox="1"/>
          <p:nvPr/>
        </p:nvSpPr>
        <p:spPr>
          <a:xfrm>
            <a:off x="7799832" y="4937760"/>
            <a:ext cx="3703320" cy="457200"/>
          </a:xfrm>
          <a:prstGeom prst="rect">
            <a:avLst/>
          </a:prstGeom>
          <a:noFill/>
          <a:ln/>
        </p:spPr>
        <p:txBody>
          <a:bodyPr wrap="square" lIns="0" tIns="0" rIns="0" bIns="0" rtlCol="0" anchor="ctr"/>
          <a:lstStyle/>
          <a:p>
            <a:pPr marL="0" indent="0">
              <a:buNone/>
            </a:pPr>
            <a:r>
              <a:rPr lang="en-US" sz="1600" b="1" dirty="0">
                <a:solidFill>
                  <a:schemeClr val="tx2"/>
                </a:solidFill>
              </a:rPr>
              <a:t>Assumption to remember</a:t>
            </a:r>
            <a:endParaRPr lang="en-US" sz="1600" dirty="0"/>
          </a:p>
        </p:txBody>
      </p:sp>
      <p:sp>
        <p:nvSpPr>
          <p:cNvPr id="17" name="Text 11"/>
          <p:cNvSpPr txBox="1"/>
          <p:nvPr/>
        </p:nvSpPr>
        <p:spPr>
          <a:xfrm>
            <a:off x="7269480" y="5486400"/>
            <a:ext cx="4187952" cy="59436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r and F are constant across the narrow window — refined by 3FLD, iFLD, cFLD and spectral fitting.</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Families of SIF retrieval methods</a:t>
            </a:r>
            <a:endParaRPr lang="en-US" sz="3200" dirty="0"/>
          </a:p>
        </p:txBody>
      </p:sp>
      <p:sp>
        <p:nvSpPr>
          <p:cNvPr id="4" name="diagram box"/>
          <p:cNvSpPr/>
          <p:nvPr/>
        </p:nvSpPr>
        <p:spPr>
          <a:xfrm>
            <a:off x="4270248" y="1325880"/>
            <a:ext cx="3657600" cy="640080"/>
          </a:xfrm>
          <a:prstGeom prst="roundRect">
            <a:avLst>
              <a:gd name="adj" fmla="val 11429"/>
            </a:avLst>
          </a:prstGeom>
          <a:solidFill>
            <a:schemeClr val="tx2"/>
          </a:solidFill>
          <a:ln/>
        </p:spPr>
      </p:sp>
      <p:sp>
        <p:nvSpPr>
          <p:cNvPr id="5" name="Text 2"/>
          <p:cNvSpPr txBox="1"/>
          <p:nvPr/>
        </p:nvSpPr>
        <p:spPr>
          <a:xfrm>
            <a:off x="4270248" y="1325880"/>
            <a:ext cx="3657600" cy="640080"/>
          </a:xfrm>
          <a:prstGeom prst="rect">
            <a:avLst/>
          </a:prstGeom>
          <a:noFill/>
          <a:ln/>
        </p:spPr>
        <p:txBody>
          <a:bodyPr wrap="square" lIns="508" tIns="508" rIns="508" bIns="508" rtlCol="0" anchor="ctr"/>
          <a:lstStyle/>
          <a:p>
            <a:pPr marL="0" indent="0" algn="ctr">
              <a:buNone/>
            </a:pPr>
            <a:r>
              <a:rPr lang="en-US" sz="1800" b="1" dirty="0">
                <a:solidFill>
                  <a:schemeClr val="bg1"/>
                </a:solidFill>
              </a:rPr>
              <a:t>SIF retrieval methods</a:t>
            </a:r>
            <a:endParaRPr lang="en-US" sz="1800" dirty="0"/>
          </a:p>
        </p:txBody>
      </p:sp>
      <p:sp>
        <p:nvSpPr>
          <p:cNvPr id="6" name="diagram box"/>
          <p:cNvSpPr/>
          <p:nvPr/>
        </p:nvSpPr>
        <p:spPr>
          <a:xfrm>
            <a:off x="1188720" y="2331720"/>
            <a:ext cx="4023360" cy="640080"/>
          </a:xfrm>
          <a:prstGeom prst="roundRect">
            <a:avLst>
              <a:gd name="adj" fmla="val 11429"/>
            </a:avLst>
          </a:prstGeom>
          <a:solidFill>
            <a:schemeClr val="accent1"/>
          </a:solidFill>
          <a:ln/>
        </p:spPr>
      </p:sp>
      <p:sp>
        <p:nvSpPr>
          <p:cNvPr id="7" name="Text 4"/>
          <p:cNvSpPr txBox="1"/>
          <p:nvPr/>
        </p:nvSpPr>
        <p:spPr>
          <a:xfrm>
            <a:off x="1188720" y="2331720"/>
            <a:ext cx="4023360" cy="640080"/>
          </a:xfrm>
          <a:prstGeom prst="rect">
            <a:avLst/>
          </a:prstGeom>
          <a:noFill/>
          <a:ln/>
        </p:spPr>
        <p:txBody>
          <a:bodyPr wrap="square" lIns="508" tIns="508" rIns="508" bIns="508" rtlCol="0" anchor="ctr"/>
          <a:lstStyle/>
          <a:p>
            <a:pPr marL="0" indent="0" algn="ctr">
              <a:buNone/>
            </a:pPr>
            <a:r>
              <a:rPr lang="en-US" sz="1600" b="1" dirty="0">
                <a:solidFill>
                  <a:schemeClr val="bg1"/>
                </a:solidFill>
              </a:rPr>
              <a:t>① Selected absorption bands</a:t>
            </a:r>
            <a:endParaRPr lang="en-US" sz="1600" dirty="0"/>
          </a:p>
        </p:txBody>
      </p:sp>
      <p:sp>
        <p:nvSpPr>
          <p:cNvPr id="8" name="diagram box"/>
          <p:cNvSpPr/>
          <p:nvPr/>
        </p:nvSpPr>
        <p:spPr>
          <a:xfrm>
            <a:off x="6995160" y="2331720"/>
            <a:ext cx="4023360" cy="640080"/>
          </a:xfrm>
          <a:prstGeom prst="roundRect">
            <a:avLst>
              <a:gd name="adj" fmla="val 11429"/>
            </a:avLst>
          </a:prstGeom>
          <a:solidFill>
            <a:schemeClr val="accent2"/>
          </a:solidFill>
          <a:ln/>
        </p:spPr>
      </p:sp>
      <p:sp>
        <p:nvSpPr>
          <p:cNvPr id="9" name="Text 6"/>
          <p:cNvSpPr txBox="1"/>
          <p:nvPr/>
        </p:nvSpPr>
        <p:spPr>
          <a:xfrm>
            <a:off x="6995160" y="2331720"/>
            <a:ext cx="4023360" cy="640080"/>
          </a:xfrm>
          <a:prstGeom prst="rect">
            <a:avLst/>
          </a:prstGeom>
          <a:noFill/>
          <a:ln/>
        </p:spPr>
        <p:txBody>
          <a:bodyPr wrap="square" lIns="508" tIns="508" rIns="508" bIns="508" rtlCol="0" anchor="ctr"/>
          <a:lstStyle/>
          <a:p>
            <a:pPr marL="0" indent="0" algn="ctr">
              <a:buNone/>
            </a:pPr>
            <a:r>
              <a:rPr lang="en-US" sz="1600" b="1" dirty="0">
                <a:solidFill>
                  <a:schemeClr val="bg1"/>
                </a:solidFill>
              </a:rPr>
              <a:t>② Full SIF spectrum (650–800 nm)</a:t>
            </a:r>
            <a:endParaRPr lang="en-US" sz="1600" dirty="0"/>
          </a:p>
        </p:txBody>
      </p:sp>
      <p:sp>
        <p:nvSpPr>
          <p:cNvPr id="10" name="arrow"/>
          <p:cNvSpPr/>
          <p:nvPr/>
        </p:nvSpPr>
        <p:spPr>
          <a:xfrm flipH="1">
            <a:off x="3200400" y="1965960"/>
            <a:ext cx="2898648" cy="365760"/>
          </a:xfrm>
          <a:prstGeom prst="line">
            <a:avLst/>
          </a:prstGeom>
          <a:noFill/>
          <a:ln w="25400">
            <a:solidFill>
              <a:srgbClr val="123D2E"/>
            </a:solidFill>
            <a:prstDash val="solid"/>
            <a:tailEnd type="triangle"/>
          </a:ln>
        </p:spPr>
      </p:sp>
      <p:sp>
        <p:nvSpPr>
          <p:cNvPr id="11" name="arrow"/>
          <p:cNvSpPr/>
          <p:nvPr/>
        </p:nvSpPr>
        <p:spPr>
          <a:xfrm>
            <a:off x="6099048" y="1965960"/>
            <a:ext cx="2907792" cy="365760"/>
          </a:xfrm>
          <a:prstGeom prst="line">
            <a:avLst/>
          </a:prstGeom>
          <a:noFill/>
          <a:ln w="25400">
            <a:solidFill>
              <a:srgbClr val="123D2E"/>
            </a:solidFill>
            <a:prstDash val="solid"/>
            <a:tailEnd type="triangle"/>
          </a:ln>
        </p:spPr>
      </p:sp>
      <p:sp>
        <p:nvSpPr>
          <p:cNvPr id="12" name="arrow"/>
          <p:cNvSpPr/>
          <p:nvPr/>
        </p:nvSpPr>
        <p:spPr>
          <a:xfrm flipH="1">
            <a:off x="1828800" y="2971800"/>
            <a:ext cx="1371600" cy="320040"/>
          </a:xfrm>
          <a:prstGeom prst="line">
            <a:avLst/>
          </a:prstGeom>
          <a:noFill/>
          <a:ln w="19050">
            <a:solidFill>
              <a:srgbClr val="2E8B57"/>
            </a:solidFill>
            <a:prstDash val="solid"/>
            <a:tailEnd type="triangle"/>
          </a:ln>
        </p:spPr>
      </p:sp>
      <p:sp>
        <p:nvSpPr>
          <p:cNvPr id="13" name="card"/>
          <p:cNvSpPr/>
          <p:nvPr/>
        </p:nvSpPr>
        <p:spPr>
          <a:xfrm>
            <a:off x="548640" y="3291840"/>
            <a:ext cx="2587752" cy="2880360"/>
          </a:xfrm>
          <a:prstGeom prst="roundRect">
            <a:avLst>
              <a:gd name="adj" fmla="val 2827"/>
            </a:avLst>
          </a:prstGeom>
          <a:solidFill>
            <a:schemeClr val="bg2"/>
          </a:solidFill>
          <a:ln/>
          <a:effectLst>
            <a:outerShdw blurRad="76200" dist="25400" dir="5400000" algn="bl" rotWithShape="0">
              <a:srgbClr val="000000">
                <a:alpha val="14000"/>
              </a:srgbClr>
            </a:outerShdw>
          </a:effectLst>
        </p:spPr>
      </p:sp>
      <p:sp>
        <p:nvSpPr>
          <p:cNvPr id="14" name="Text 11"/>
          <p:cNvSpPr txBox="1"/>
          <p:nvPr/>
        </p:nvSpPr>
        <p:spPr>
          <a:xfrm>
            <a:off x="685800" y="3383280"/>
            <a:ext cx="2331720" cy="384048"/>
          </a:xfrm>
          <a:prstGeom prst="rect">
            <a:avLst/>
          </a:prstGeom>
          <a:noFill/>
          <a:ln/>
        </p:spPr>
        <p:txBody>
          <a:bodyPr wrap="square" lIns="0" tIns="0" rIns="0" bIns="0" rtlCol="0" anchor="ctr"/>
          <a:lstStyle/>
          <a:p>
            <a:pPr marL="0" indent="0" algn="l">
              <a:buNone/>
            </a:pPr>
            <a:r>
              <a:rPr lang="en-US" sz="1600" b="1" dirty="0">
                <a:solidFill>
                  <a:schemeClr val="accent1"/>
                </a:solidFill>
              </a:rPr>
              <a:t>O₂ bands</a:t>
            </a:r>
            <a:endParaRPr lang="en-US" sz="1600" dirty="0"/>
          </a:p>
        </p:txBody>
      </p:sp>
      <p:sp>
        <p:nvSpPr>
          <p:cNvPr id="15" name="Text 12"/>
          <p:cNvSpPr txBox="1"/>
          <p:nvPr/>
        </p:nvSpPr>
        <p:spPr>
          <a:xfrm>
            <a:off x="658368" y="3794760"/>
            <a:ext cx="2395728" cy="2331720"/>
          </a:xfrm>
          <a:prstGeom prst="rect">
            <a:avLst/>
          </a:prstGeom>
          <a:noFill/>
          <a:ln/>
        </p:spPr>
        <p:txBody>
          <a:bodyPr wrap="square" lIns="508" tIns="508" rIns="508" bIns="508" rtlCol="0" anchor="t"/>
          <a:lstStyle/>
          <a:p>
            <a:pPr marL="177800" indent="-177800">
              <a:spcAft>
                <a:spcPts val="400"/>
              </a:spcAft>
              <a:buSzPct val="100000"/>
              <a:buChar char="•"/>
            </a:pPr>
            <a:r>
              <a:rPr lang="en-US" sz="1300" b="1" dirty="0">
                <a:solidFill>
                  <a:schemeClr val="tx1"/>
                </a:solidFill>
              </a:rPr>
              <a:t>FLD</a:t>
            </a:r>
            <a:r>
              <a:rPr lang="en-US" sz="1300" dirty="0">
                <a:solidFill>
                  <a:schemeClr val="tx1"/>
                </a:solidFill>
              </a:rPr>
              <a:t> (Plascyk 1975)</a:t>
            </a:r>
            <a:endParaRPr lang="en-US" sz="1300" dirty="0"/>
          </a:p>
          <a:p>
            <a:pPr marL="177800" indent="-177800">
              <a:spcAft>
                <a:spcPts val="400"/>
              </a:spcAft>
              <a:buSzPct val="100000"/>
              <a:buChar char="•"/>
            </a:pPr>
            <a:r>
              <a:rPr lang="en-US" sz="1300" b="1" dirty="0">
                <a:solidFill>
                  <a:schemeClr val="tx1"/>
                </a:solidFill>
              </a:rPr>
              <a:t>3FLD, iFLD, cFLD</a:t>
            </a:r>
            <a:r>
              <a:rPr lang="en-US" sz="1300" dirty="0">
                <a:solidFill>
                  <a:schemeClr val="tx1"/>
                </a:solidFill>
              </a:rPr>
              <a:t> (refined r, F shapes)</a:t>
            </a:r>
            <a:endParaRPr lang="en-US" sz="1300" dirty="0"/>
          </a:p>
          <a:p>
            <a:pPr marL="177800" indent="-177800">
              <a:spcAft>
                <a:spcPts val="400"/>
              </a:spcAft>
              <a:buSzPct val="100000"/>
              <a:buChar char="•"/>
            </a:pPr>
            <a:r>
              <a:rPr lang="en-US" sz="1300" b="1" dirty="0">
                <a:solidFill>
                  <a:schemeClr val="tx1"/>
                </a:solidFill>
              </a:rPr>
              <a:t>SFM</a:t>
            </a:r>
            <a:r>
              <a:rPr lang="en-US" sz="1300" dirty="0">
                <a:solidFill>
                  <a:schemeClr val="tx1"/>
                </a:solidFill>
              </a:rPr>
              <a:t> spectral fitting over tens of nm</a:t>
            </a:r>
            <a:endParaRPr lang="en-US" sz="1300" dirty="0"/>
          </a:p>
        </p:txBody>
      </p:sp>
      <p:sp>
        <p:nvSpPr>
          <p:cNvPr id="16" name="arrow"/>
          <p:cNvSpPr/>
          <p:nvPr/>
        </p:nvSpPr>
        <p:spPr>
          <a:xfrm>
            <a:off x="3200400" y="2971800"/>
            <a:ext cx="1463040" cy="320040"/>
          </a:xfrm>
          <a:prstGeom prst="line">
            <a:avLst/>
          </a:prstGeom>
          <a:noFill/>
          <a:ln w="19050">
            <a:solidFill>
              <a:srgbClr val="2E8B57"/>
            </a:solidFill>
            <a:prstDash val="solid"/>
            <a:tailEnd type="triangle"/>
          </a:ln>
        </p:spPr>
      </p:sp>
      <p:sp>
        <p:nvSpPr>
          <p:cNvPr id="17" name="card"/>
          <p:cNvSpPr/>
          <p:nvPr/>
        </p:nvSpPr>
        <p:spPr>
          <a:xfrm>
            <a:off x="3383280" y="3291840"/>
            <a:ext cx="2587752" cy="2880360"/>
          </a:xfrm>
          <a:prstGeom prst="roundRect">
            <a:avLst>
              <a:gd name="adj" fmla="val 2827"/>
            </a:avLst>
          </a:prstGeom>
          <a:solidFill>
            <a:schemeClr val="bg2"/>
          </a:solidFill>
          <a:ln/>
          <a:effectLst>
            <a:outerShdw blurRad="76200" dist="25400" dir="5400000" algn="bl" rotWithShape="0">
              <a:srgbClr val="000000">
                <a:alpha val="14000"/>
              </a:srgbClr>
            </a:outerShdw>
          </a:effectLst>
        </p:spPr>
      </p:sp>
      <p:sp>
        <p:nvSpPr>
          <p:cNvPr id="18" name="Text 15"/>
          <p:cNvSpPr txBox="1"/>
          <p:nvPr/>
        </p:nvSpPr>
        <p:spPr>
          <a:xfrm>
            <a:off x="3520440" y="3383280"/>
            <a:ext cx="2331720" cy="384048"/>
          </a:xfrm>
          <a:prstGeom prst="rect">
            <a:avLst/>
          </a:prstGeom>
          <a:noFill/>
          <a:ln/>
        </p:spPr>
        <p:txBody>
          <a:bodyPr wrap="square" lIns="0" tIns="0" rIns="0" bIns="0" rtlCol="0" anchor="ctr"/>
          <a:lstStyle/>
          <a:p>
            <a:pPr marL="0" indent="0" algn="l">
              <a:buNone/>
            </a:pPr>
            <a:r>
              <a:rPr lang="en-US" sz="1600" b="1" dirty="0">
                <a:solidFill>
                  <a:schemeClr val="accent1"/>
                </a:solidFill>
              </a:rPr>
              <a:t>Fraunhofer lines</a:t>
            </a:r>
            <a:endParaRPr lang="en-US" sz="1600" dirty="0"/>
          </a:p>
        </p:txBody>
      </p:sp>
      <p:sp>
        <p:nvSpPr>
          <p:cNvPr id="19" name="Text 16"/>
          <p:cNvSpPr txBox="1"/>
          <p:nvPr/>
        </p:nvSpPr>
        <p:spPr>
          <a:xfrm>
            <a:off x="3493008" y="3794760"/>
            <a:ext cx="2395728" cy="233172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Physically based (Frankenberg 2011)</a:t>
            </a:r>
            <a:endParaRPr lang="en-US" sz="1300" dirty="0"/>
          </a:p>
          <a:p>
            <a:pPr marL="177800" indent="-177800">
              <a:spcAft>
                <a:spcPts val="400"/>
              </a:spcAft>
              <a:buSzPct val="100000"/>
              <a:buChar char="•"/>
            </a:pPr>
            <a:r>
              <a:rPr lang="en-US" sz="1300" dirty="0">
                <a:solidFill>
                  <a:schemeClr val="tx1"/>
                </a:solidFill>
              </a:rPr>
              <a:t>Data-driven </a:t>
            </a:r>
            <a:r>
              <a:rPr lang="en-US" sz="1300" b="1" dirty="0">
                <a:solidFill>
                  <a:schemeClr val="tx1"/>
                </a:solidFill>
              </a:rPr>
              <a:t>PCA / SVD</a:t>
            </a:r>
            <a:r>
              <a:rPr lang="en-US" sz="1300" dirty="0">
                <a:solidFill>
                  <a:schemeClr val="tx1"/>
                </a:solidFill>
              </a:rPr>
              <a:t> (Guanter, Joiner, Köhler)</a:t>
            </a:r>
            <a:endParaRPr lang="en-US" sz="1300" dirty="0"/>
          </a:p>
          <a:p>
            <a:pPr marL="177800" indent="-177800">
              <a:spcAft>
                <a:spcPts val="400"/>
              </a:spcAft>
              <a:buSzPct val="100000"/>
              <a:buChar char="•"/>
            </a:pPr>
            <a:r>
              <a:rPr lang="en-US" sz="1300" dirty="0">
                <a:solidFill>
                  <a:schemeClr val="tx1"/>
                </a:solidFill>
              </a:rPr>
              <a:t>Used by satellites (GOSAT, GOME-2, OCO-2, TROPOMI)</a:t>
            </a:r>
            <a:endParaRPr lang="en-US" sz="1300" dirty="0"/>
          </a:p>
        </p:txBody>
      </p:sp>
      <p:sp>
        <p:nvSpPr>
          <p:cNvPr id="20" name="arrow"/>
          <p:cNvSpPr/>
          <p:nvPr/>
        </p:nvSpPr>
        <p:spPr>
          <a:xfrm flipH="1">
            <a:off x="7498080" y="2971800"/>
            <a:ext cx="1508760" cy="320040"/>
          </a:xfrm>
          <a:prstGeom prst="line">
            <a:avLst/>
          </a:prstGeom>
          <a:noFill/>
          <a:ln w="19050">
            <a:solidFill>
              <a:srgbClr val="D62839"/>
            </a:solidFill>
            <a:prstDash val="solid"/>
            <a:tailEnd type="triangle"/>
          </a:ln>
        </p:spPr>
      </p:sp>
      <p:sp>
        <p:nvSpPr>
          <p:cNvPr id="21" name="card"/>
          <p:cNvSpPr/>
          <p:nvPr/>
        </p:nvSpPr>
        <p:spPr>
          <a:xfrm>
            <a:off x="6217920" y="3291840"/>
            <a:ext cx="2587752" cy="2880360"/>
          </a:xfrm>
          <a:prstGeom prst="roundRect">
            <a:avLst>
              <a:gd name="adj" fmla="val 2827"/>
            </a:avLst>
          </a:prstGeom>
          <a:solidFill>
            <a:schemeClr val="bg2"/>
          </a:solidFill>
          <a:ln/>
          <a:effectLst>
            <a:outerShdw blurRad="76200" dist="25400" dir="5400000" algn="bl" rotWithShape="0">
              <a:srgbClr val="000000">
                <a:alpha val="14000"/>
              </a:srgbClr>
            </a:outerShdw>
          </a:effectLst>
        </p:spPr>
      </p:sp>
      <p:sp>
        <p:nvSpPr>
          <p:cNvPr id="22" name="Text 19"/>
          <p:cNvSpPr txBox="1"/>
          <p:nvPr/>
        </p:nvSpPr>
        <p:spPr>
          <a:xfrm>
            <a:off x="6355080" y="3383280"/>
            <a:ext cx="2331720" cy="384048"/>
          </a:xfrm>
          <a:prstGeom prst="rect">
            <a:avLst/>
          </a:prstGeom>
          <a:noFill/>
          <a:ln/>
        </p:spPr>
        <p:txBody>
          <a:bodyPr wrap="square" lIns="0" tIns="0" rIns="0" bIns="0" rtlCol="0" anchor="ctr"/>
          <a:lstStyle/>
          <a:p>
            <a:pPr marL="0" indent="0" algn="l">
              <a:buNone/>
            </a:pPr>
            <a:r>
              <a:rPr lang="en-US" sz="1600" b="1" dirty="0">
                <a:solidFill>
                  <a:schemeClr val="accent2"/>
                </a:solidFill>
              </a:rPr>
              <a:t>Spectrum fitting</a:t>
            </a:r>
            <a:endParaRPr lang="en-US" sz="1600" dirty="0"/>
          </a:p>
        </p:txBody>
      </p:sp>
      <p:sp>
        <p:nvSpPr>
          <p:cNvPr id="23" name="Text 20"/>
          <p:cNvSpPr txBox="1"/>
          <p:nvPr/>
        </p:nvSpPr>
        <p:spPr>
          <a:xfrm>
            <a:off x="6327648" y="3794760"/>
            <a:ext cx="2395728" cy="2331720"/>
          </a:xfrm>
          <a:prstGeom prst="rect">
            <a:avLst/>
          </a:prstGeom>
          <a:noFill/>
          <a:ln/>
        </p:spPr>
        <p:txBody>
          <a:bodyPr wrap="square" lIns="508" tIns="508" rIns="508" bIns="508" rtlCol="0" anchor="t"/>
          <a:lstStyle/>
          <a:p>
            <a:pPr marL="177800" indent="-177800">
              <a:spcAft>
                <a:spcPts val="400"/>
              </a:spcAft>
              <a:buSzPct val="100000"/>
              <a:buChar char="•"/>
            </a:pPr>
            <a:r>
              <a:rPr lang="en-US" sz="1300" b="1" dirty="0">
                <a:solidFill>
                  <a:schemeClr val="tx1"/>
                </a:solidFill>
              </a:rPr>
              <a:t>FSR, aFSR</a:t>
            </a:r>
            <a:r>
              <a:rPr lang="en-US" sz="1300" dirty="0">
                <a:solidFill>
                  <a:schemeClr val="tx1"/>
                </a:solidFill>
              </a:rPr>
              <a:t> (basis spectra from SCOPE)</a:t>
            </a:r>
            <a:endParaRPr lang="en-US" sz="1300" dirty="0"/>
          </a:p>
          <a:p>
            <a:pPr marL="177800" indent="-177800">
              <a:spcAft>
                <a:spcPts val="400"/>
              </a:spcAft>
              <a:buSzPct val="100000"/>
              <a:buChar char="•"/>
            </a:pPr>
            <a:r>
              <a:rPr lang="en-US" sz="1300" b="1" dirty="0">
                <a:solidFill>
                  <a:schemeClr val="tx1"/>
                </a:solidFill>
              </a:rPr>
              <a:t>F-SFM</a:t>
            </a:r>
            <a:r>
              <a:rPr lang="en-US" sz="1300" dirty="0">
                <a:solidFill>
                  <a:schemeClr val="tx1"/>
                </a:solidFill>
              </a:rPr>
              <a:t> full-spectrum fitting</a:t>
            </a:r>
            <a:endParaRPr lang="en-US" sz="1300" dirty="0"/>
          </a:p>
          <a:p>
            <a:pPr marL="177800" indent="-177800">
              <a:spcAft>
                <a:spcPts val="400"/>
              </a:spcAft>
              <a:buSzPct val="100000"/>
              <a:buChar char="•"/>
            </a:pPr>
            <a:r>
              <a:rPr lang="en-US" sz="1300" b="1" dirty="0">
                <a:solidFill>
                  <a:schemeClr val="tx1"/>
                </a:solidFill>
              </a:rPr>
              <a:t>SpecFit</a:t>
            </a:r>
            <a:r>
              <a:rPr lang="en-US" sz="1300" dirty="0">
                <a:solidFill>
                  <a:schemeClr val="tx1"/>
                </a:solidFill>
              </a:rPr>
              <a:t> (piecewise cubic spline)</a:t>
            </a:r>
            <a:endParaRPr lang="en-US" sz="1300" dirty="0"/>
          </a:p>
        </p:txBody>
      </p:sp>
      <p:sp>
        <p:nvSpPr>
          <p:cNvPr id="24" name="arrow"/>
          <p:cNvSpPr/>
          <p:nvPr/>
        </p:nvSpPr>
        <p:spPr>
          <a:xfrm>
            <a:off x="9006840" y="2971800"/>
            <a:ext cx="1325880" cy="320040"/>
          </a:xfrm>
          <a:prstGeom prst="line">
            <a:avLst/>
          </a:prstGeom>
          <a:noFill/>
          <a:ln w="19050">
            <a:solidFill>
              <a:srgbClr val="D62839"/>
            </a:solidFill>
            <a:prstDash val="solid"/>
            <a:tailEnd type="triangle"/>
          </a:ln>
        </p:spPr>
      </p:sp>
      <p:sp>
        <p:nvSpPr>
          <p:cNvPr id="25" name="card"/>
          <p:cNvSpPr/>
          <p:nvPr/>
        </p:nvSpPr>
        <p:spPr>
          <a:xfrm>
            <a:off x="9052560" y="3291840"/>
            <a:ext cx="2587752" cy="2880360"/>
          </a:xfrm>
          <a:prstGeom prst="roundRect">
            <a:avLst>
              <a:gd name="adj" fmla="val 2827"/>
            </a:avLst>
          </a:prstGeom>
          <a:solidFill>
            <a:schemeClr val="bg2"/>
          </a:solidFill>
          <a:ln/>
          <a:effectLst>
            <a:outerShdw blurRad="76200" dist="25400" dir="5400000" algn="bl" rotWithShape="0">
              <a:srgbClr val="000000">
                <a:alpha val="14000"/>
              </a:srgbClr>
            </a:outerShdw>
          </a:effectLst>
        </p:spPr>
      </p:sp>
      <p:sp>
        <p:nvSpPr>
          <p:cNvPr id="26" name="Text 23"/>
          <p:cNvSpPr txBox="1"/>
          <p:nvPr/>
        </p:nvSpPr>
        <p:spPr>
          <a:xfrm>
            <a:off x="9189720" y="3383280"/>
            <a:ext cx="2331720" cy="384048"/>
          </a:xfrm>
          <a:prstGeom prst="rect">
            <a:avLst/>
          </a:prstGeom>
          <a:noFill/>
          <a:ln/>
        </p:spPr>
        <p:txBody>
          <a:bodyPr wrap="square" lIns="0" tIns="0" rIns="0" bIns="0" rtlCol="0" anchor="ctr"/>
          <a:lstStyle/>
          <a:p>
            <a:pPr marL="0" indent="0" algn="l">
              <a:buNone/>
            </a:pPr>
            <a:r>
              <a:rPr lang="en-US" sz="1600" b="1" dirty="0">
                <a:solidFill>
                  <a:schemeClr val="accent2"/>
                </a:solidFill>
              </a:rPr>
              <a:t>Model inversion</a:t>
            </a:r>
            <a:endParaRPr lang="en-US" sz="1600" dirty="0"/>
          </a:p>
        </p:txBody>
      </p:sp>
      <p:sp>
        <p:nvSpPr>
          <p:cNvPr id="27" name="Text 24"/>
          <p:cNvSpPr txBox="1"/>
          <p:nvPr/>
        </p:nvSpPr>
        <p:spPr>
          <a:xfrm>
            <a:off x="9162288" y="3794760"/>
            <a:ext cx="2395728" cy="233172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Invert canopy RTM (SCOPE) at TOA/TOC</a:t>
            </a:r>
            <a:endParaRPr lang="en-US" sz="1300" dirty="0"/>
          </a:p>
          <a:p>
            <a:pPr marL="177800" indent="-177800">
              <a:spcAft>
                <a:spcPts val="400"/>
              </a:spcAft>
              <a:buSzPct val="100000"/>
              <a:buChar char="•"/>
            </a:pPr>
            <a:r>
              <a:rPr lang="en-US" sz="1300" dirty="0">
                <a:solidFill>
                  <a:schemeClr val="tx1"/>
                </a:solidFill>
              </a:rPr>
              <a:t>Verhoef 2018 (FLEX + Sentinel-3)</a:t>
            </a:r>
            <a:endParaRPr lang="en-US" sz="1300" dirty="0"/>
          </a:p>
          <a:p>
            <a:pPr marL="177800" indent="-177800">
              <a:spcAft>
                <a:spcPts val="400"/>
              </a:spcAft>
              <a:buSzPct val="100000"/>
              <a:buChar char="•"/>
            </a:pPr>
            <a:r>
              <a:rPr lang="en-US" sz="1300" dirty="0">
                <a:solidFill>
                  <a:schemeClr val="tx1"/>
                </a:solidFill>
              </a:rPr>
              <a:t>Celesti 2018 · also gives Cab, LAI, fAPAR</a:t>
            </a:r>
            <a:endParaRPr lang="en-US" sz="13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Atmosphere, illumination and observation: the confounders</a:t>
            </a:r>
            <a:endParaRPr lang="en-US" sz="3200" dirty="0"/>
          </a:p>
        </p:txBody>
      </p:sp>
      <p:sp>
        <p:nvSpPr>
          <p:cNvPr id="4" name="card"/>
          <p:cNvSpPr/>
          <p:nvPr/>
        </p:nvSpPr>
        <p:spPr>
          <a:xfrm>
            <a:off x="548640" y="1371600"/>
            <a:ext cx="3547872"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5" name="icon circle"/>
          <p:cNvSpPr/>
          <p:nvPr/>
        </p:nvSpPr>
        <p:spPr>
          <a:xfrm>
            <a:off x="731520" y="1527048"/>
            <a:ext cx="420624" cy="420624"/>
          </a:xfrm>
          <a:prstGeom prst="ellipse">
            <a:avLst/>
          </a:prstGeom>
          <a:solidFill>
            <a:schemeClr val="accent5"/>
          </a:solidFill>
          <a:ln/>
        </p:spPr>
      </p:sp>
      <p:pic>
        <p:nvPicPr>
          <p:cNvPr id="6" name="Image 0" descr="Cloud icon"/>
          <p:cNvPicPr>
            <a:picLocks noChangeAspect="1"/>
          </p:cNvPicPr>
          <p:nvPr/>
        </p:nvPicPr>
        <p:blipFill>
          <a:blip r:embed="rId3"/>
          <a:stretch>
            <a:fillRect/>
          </a:stretch>
        </p:blipFill>
        <p:spPr>
          <a:xfrm>
            <a:off x="840882" y="1636410"/>
            <a:ext cx="201900" cy="201900"/>
          </a:xfrm>
          <a:prstGeom prst="rect">
            <a:avLst/>
          </a:prstGeom>
        </p:spPr>
      </p:pic>
      <p:sp>
        <p:nvSpPr>
          <p:cNvPr id="7" name="Text 3"/>
          <p:cNvSpPr txBox="1"/>
          <p:nvPr/>
        </p:nvSpPr>
        <p:spPr>
          <a:xfrm>
            <a:off x="1261872" y="1508760"/>
            <a:ext cx="2697480" cy="457200"/>
          </a:xfrm>
          <a:prstGeom prst="rect">
            <a:avLst/>
          </a:prstGeom>
          <a:noFill/>
          <a:ln/>
        </p:spPr>
        <p:txBody>
          <a:bodyPr wrap="square" lIns="0" tIns="0" rIns="0" bIns="0" rtlCol="0" anchor="ctr"/>
          <a:lstStyle/>
          <a:p>
            <a:pPr marL="0" indent="0">
              <a:buNone/>
            </a:pPr>
            <a:r>
              <a:rPr lang="en-US" sz="1500" b="1" dirty="0">
                <a:solidFill>
                  <a:schemeClr val="tx2"/>
                </a:solidFill>
              </a:rPr>
              <a:t>Atmospheric correction</a:t>
            </a:r>
            <a:endParaRPr lang="en-US" sz="1500" dirty="0"/>
          </a:p>
        </p:txBody>
      </p:sp>
      <p:sp>
        <p:nvSpPr>
          <p:cNvPr id="8" name="Text 4"/>
          <p:cNvSpPr txBox="1"/>
          <p:nvPr/>
        </p:nvSpPr>
        <p:spPr>
          <a:xfrm>
            <a:off x="731520" y="2057400"/>
            <a:ext cx="3182112"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O₂ bands need accurate RT (MODTRAN, T-18 system); one-step vs two-step schemes</a:t>
            </a:r>
            <a:endParaRPr lang="en-US" sz="1300" dirty="0"/>
          </a:p>
        </p:txBody>
      </p:sp>
      <p:sp>
        <p:nvSpPr>
          <p:cNvPr id="9" name="card"/>
          <p:cNvSpPr/>
          <p:nvPr/>
        </p:nvSpPr>
        <p:spPr>
          <a:xfrm>
            <a:off x="4297680" y="1371600"/>
            <a:ext cx="3547872"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10" name="icon circle"/>
          <p:cNvSpPr/>
          <p:nvPr/>
        </p:nvSpPr>
        <p:spPr>
          <a:xfrm>
            <a:off x="4480560" y="1527048"/>
            <a:ext cx="420624" cy="420624"/>
          </a:xfrm>
          <a:prstGeom prst="ellipse">
            <a:avLst/>
          </a:prstGeom>
          <a:solidFill>
            <a:schemeClr val="accent3"/>
          </a:solidFill>
          <a:ln/>
        </p:spPr>
      </p:sp>
      <p:pic>
        <p:nvPicPr>
          <p:cNvPr id="11" name="Image 1" descr="Sun icon"/>
          <p:cNvPicPr>
            <a:picLocks noChangeAspect="1"/>
          </p:cNvPicPr>
          <p:nvPr/>
        </p:nvPicPr>
        <p:blipFill>
          <a:blip r:embed="rId4"/>
          <a:stretch>
            <a:fillRect/>
          </a:stretch>
        </p:blipFill>
        <p:spPr>
          <a:xfrm>
            <a:off x="4589922" y="1636410"/>
            <a:ext cx="201900" cy="201900"/>
          </a:xfrm>
          <a:prstGeom prst="rect">
            <a:avLst/>
          </a:prstGeom>
        </p:spPr>
      </p:pic>
      <p:sp>
        <p:nvSpPr>
          <p:cNvPr id="12" name="Text 7"/>
          <p:cNvSpPr txBox="1"/>
          <p:nvPr/>
        </p:nvSpPr>
        <p:spPr>
          <a:xfrm>
            <a:off x="5010912" y="1508760"/>
            <a:ext cx="2697480" cy="457200"/>
          </a:xfrm>
          <a:prstGeom prst="rect">
            <a:avLst/>
          </a:prstGeom>
          <a:noFill/>
          <a:ln/>
        </p:spPr>
        <p:txBody>
          <a:bodyPr wrap="square" lIns="0" tIns="0" rIns="0" bIns="0" rtlCol="0" anchor="ctr"/>
          <a:lstStyle/>
          <a:p>
            <a:pPr marL="0" indent="0">
              <a:buNone/>
            </a:pPr>
            <a:r>
              <a:rPr lang="en-US" sz="1500" b="1" dirty="0">
                <a:solidFill>
                  <a:schemeClr val="tx2"/>
                </a:solidFill>
              </a:rPr>
              <a:t>Direct vs diffuse light</a:t>
            </a:r>
            <a:endParaRPr lang="en-US" sz="1500" dirty="0"/>
          </a:p>
        </p:txBody>
      </p:sp>
      <p:sp>
        <p:nvSpPr>
          <p:cNvPr id="13" name="Text 8"/>
          <p:cNvSpPr txBox="1"/>
          <p:nvPr/>
        </p:nvSpPr>
        <p:spPr>
          <a:xfrm>
            <a:off x="4480560" y="2057400"/>
            <a:ext cx="3182112"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Diffuse light travels a longer path → deeper band → SIF over/under-estimated (up to 20 % at O₂-A)</a:t>
            </a:r>
            <a:endParaRPr lang="en-US" sz="1300" dirty="0"/>
          </a:p>
        </p:txBody>
      </p:sp>
      <p:sp>
        <p:nvSpPr>
          <p:cNvPr id="14" name="card"/>
          <p:cNvSpPr/>
          <p:nvPr/>
        </p:nvSpPr>
        <p:spPr>
          <a:xfrm>
            <a:off x="8046720" y="1371600"/>
            <a:ext cx="3547872"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15" name="icon circle"/>
          <p:cNvSpPr/>
          <p:nvPr/>
        </p:nvSpPr>
        <p:spPr>
          <a:xfrm>
            <a:off x="8229600" y="1527048"/>
            <a:ext cx="420624" cy="420624"/>
          </a:xfrm>
          <a:prstGeom prst="ellipse">
            <a:avLst/>
          </a:prstGeom>
          <a:solidFill>
            <a:schemeClr val="accent1"/>
          </a:solidFill>
          <a:ln/>
        </p:spPr>
      </p:sp>
      <p:pic>
        <p:nvPicPr>
          <p:cNvPr id="16" name="Image 2" descr="Compass icon"/>
          <p:cNvPicPr>
            <a:picLocks noChangeAspect="1"/>
          </p:cNvPicPr>
          <p:nvPr/>
        </p:nvPicPr>
        <p:blipFill>
          <a:blip r:embed="rId5"/>
          <a:stretch>
            <a:fillRect/>
          </a:stretch>
        </p:blipFill>
        <p:spPr>
          <a:xfrm>
            <a:off x="8338962" y="1636410"/>
            <a:ext cx="201900" cy="201900"/>
          </a:xfrm>
          <a:prstGeom prst="rect">
            <a:avLst/>
          </a:prstGeom>
        </p:spPr>
      </p:pic>
      <p:sp>
        <p:nvSpPr>
          <p:cNvPr id="17" name="Text 11"/>
          <p:cNvSpPr txBox="1"/>
          <p:nvPr/>
        </p:nvSpPr>
        <p:spPr>
          <a:xfrm>
            <a:off x="8759952" y="1508760"/>
            <a:ext cx="2697480" cy="457200"/>
          </a:xfrm>
          <a:prstGeom prst="rect">
            <a:avLst/>
          </a:prstGeom>
          <a:noFill/>
          <a:ln/>
        </p:spPr>
        <p:txBody>
          <a:bodyPr wrap="square" lIns="0" tIns="0" rIns="0" bIns="0" rtlCol="0" anchor="ctr"/>
          <a:lstStyle/>
          <a:p>
            <a:pPr marL="0" indent="0">
              <a:buNone/>
            </a:pPr>
            <a:r>
              <a:rPr lang="en-US" sz="1500" b="1" dirty="0">
                <a:solidFill>
                  <a:schemeClr val="tx2"/>
                </a:solidFill>
              </a:rPr>
              <a:t>Anisotropy &amp; geometry</a:t>
            </a:r>
            <a:endParaRPr lang="en-US" sz="1500" dirty="0"/>
          </a:p>
        </p:txBody>
      </p:sp>
      <p:sp>
        <p:nvSpPr>
          <p:cNvPr id="18" name="Text 12"/>
          <p:cNvSpPr txBox="1"/>
          <p:nvPr/>
        </p:nvSpPr>
        <p:spPr>
          <a:xfrm>
            <a:off x="8229600" y="2057400"/>
            <a:ext cx="3182112"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Sun/view angles change sunlit vs shaded fraction seen by the sensor</a:t>
            </a:r>
            <a:endParaRPr lang="en-US" sz="1300" dirty="0"/>
          </a:p>
        </p:txBody>
      </p:sp>
      <p:sp>
        <p:nvSpPr>
          <p:cNvPr id="19" name="card"/>
          <p:cNvSpPr/>
          <p:nvPr/>
        </p:nvSpPr>
        <p:spPr>
          <a:xfrm>
            <a:off x="548640" y="3794760"/>
            <a:ext cx="3547872"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20" name="icon circle"/>
          <p:cNvSpPr/>
          <p:nvPr/>
        </p:nvSpPr>
        <p:spPr>
          <a:xfrm>
            <a:off x="731520" y="3950208"/>
            <a:ext cx="420624" cy="420624"/>
          </a:xfrm>
          <a:prstGeom prst="ellipse">
            <a:avLst/>
          </a:prstGeom>
          <a:solidFill>
            <a:schemeClr val="accent6"/>
          </a:solidFill>
          <a:ln/>
        </p:spPr>
      </p:sp>
      <p:pic>
        <p:nvPicPr>
          <p:cNvPr id="21" name="Image 3" descr="Wind icon"/>
          <p:cNvPicPr>
            <a:picLocks noChangeAspect="1"/>
          </p:cNvPicPr>
          <p:nvPr/>
        </p:nvPicPr>
        <p:blipFill>
          <a:blip r:embed="rId6"/>
          <a:stretch>
            <a:fillRect/>
          </a:stretch>
        </p:blipFill>
        <p:spPr>
          <a:xfrm>
            <a:off x="840882" y="4059570"/>
            <a:ext cx="201900" cy="201900"/>
          </a:xfrm>
          <a:prstGeom prst="rect">
            <a:avLst/>
          </a:prstGeom>
        </p:spPr>
      </p:pic>
      <p:sp>
        <p:nvSpPr>
          <p:cNvPr id="22" name="Text 15"/>
          <p:cNvSpPr txBox="1"/>
          <p:nvPr/>
        </p:nvSpPr>
        <p:spPr>
          <a:xfrm>
            <a:off x="1261872" y="3931920"/>
            <a:ext cx="2697480" cy="457200"/>
          </a:xfrm>
          <a:prstGeom prst="rect">
            <a:avLst/>
          </a:prstGeom>
          <a:noFill/>
          <a:ln/>
        </p:spPr>
        <p:txBody>
          <a:bodyPr wrap="square" lIns="0" tIns="0" rIns="0" bIns="0" rtlCol="0" anchor="ctr"/>
          <a:lstStyle/>
          <a:p>
            <a:pPr marL="0" indent="0">
              <a:buNone/>
            </a:pPr>
            <a:r>
              <a:rPr lang="en-US" sz="1500" b="1" dirty="0">
                <a:solidFill>
                  <a:schemeClr val="tx2"/>
                </a:solidFill>
              </a:rPr>
              <a:t>Clouds &amp; aerosols</a:t>
            </a:r>
            <a:endParaRPr lang="en-US" sz="1500" dirty="0"/>
          </a:p>
        </p:txBody>
      </p:sp>
      <p:sp>
        <p:nvSpPr>
          <p:cNvPr id="23" name="Text 16"/>
          <p:cNvSpPr txBox="1"/>
          <p:nvPr/>
        </p:nvSpPr>
        <p:spPr>
          <a:xfrm>
            <a:off x="731520" y="4480560"/>
            <a:ext cx="3182112"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Contaminate large footprints; moderate broken clouds tolerated for Fraunhofer lines</a:t>
            </a:r>
            <a:endParaRPr lang="en-US" sz="1300" dirty="0"/>
          </a:p>
        </p:txBody>
      </p:sp>
      <p:sp>
        <p:nvSpPr>
          <p:cNvPr id="24" name="card"/>
          <p:cNvSpPr/>
          <p:nvPr/>
        </p:nvSpPr>
        <p:spPr>
          <a:xfrm>
            <a:off x="4297680" y="3794760"/>
            <a:ext cx="3547872"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25" name="icon circle"/>
          <p:cNvSpPr/>
          <p:nvPr/>
        </p:nvSpPr>
        <p:spPr>
          <a:xfrm>
            <a:off x="4480560" y="3950208"/>
            <a:ext cx="420624" cy="420624"/>
          </a:xfrm>
          <a:prstGeom prst="ellipse">
            <a:avLst/>
          </a:prstGeom>
          <a:solidFill>
            <a:schemeClr val="accent2"/>
          </a:solidFill>
          <a:ln/>
        </p:spPr>
      </p:sp>
      <p:pic>
        <p:nvPicPr>
          <p:cNvPr id="26" name="Image 4" descr="ExclamationTriangle icon"/>
          <p:cNvPicPr>
            <a:picLocks noChangeAspect="1"/>
          </p:cNvPicPr>
          <p:nvPr/>
        </p:nvPicPr>
        <p:blipFill>
          <a:blip r:embed="rId7"/>
          <a:stretch>
            <a:fillRect/>
          </a:stretch>
        </p:blipFill>
        <p:spPr>
          <a:xfrm>
            <a:off x="4589922" y="4059570"/>
            <a:ext cx="201900" cy="201900"/>
          </a:xfrm>
          <a:prstGeom prst="rect">
            <a:avLst/>
          </a:prstGeom>
        </p:spPr>
      </p:pic>
      <p:sp>
        <p:nvSpPr>
          <p:cNvPr id="27" name="Text 19"/>
          <p:cNvSpPr txBox="1"/>
          <p:nvPr/>
        </p:nvSpPr>
        <p:spPr>
          <a:xfrm>
            <a:off x="5010912" y="3931920"/>
            <a:ext cx="2697480" cy="457200"/>
          </a:xfrm>
          <a:prstGeom prst="rect">
            <a:avLst/>
          </a:prstGeom>
          <a:noFill/>
          <a:ln/>
        </p:spPr>
        <p:txBody>
          <a:bodyPr wrap="square" lIns="0" tIns="0" rIns="0" bIns="0" rtlCol="0" anchor="ctr"/>
          <a:lstStyle/>
          <a:p>
            <a:pPr marL="0" indent="0">
              <a:buNone/>
            </a:pPr>
            <a:r>
              <a:rPr lang="en-US" sz="1500" b="1" dirty="0">
                <a:solidFill>
                  <a:schemeClr val="tx2"/>
                </a:solidFill>
              </a:rPr>
              <a:t>Zero-level offset</a:t>
            </a:r>
            <a:endParaRPr lang="en-US" sz="1500" dirty="0"/>
          </a:p>
        </p:txBody>
      </p:sp>
      <p:sp>
        <p:nvSpPr>
          <p:cNvPr id="28" name="Text 20"/>
          <p:cNvSpPr txBox="1"/>
          <p:nvPr/>
        </p:nvSpPr>
        <p:spPr>
          <a:xfrm>
            <a:off x="4480560" y="4480560"/>
            <a:ext cx="3182112"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Non-zero SIF retrieved where none exists (e.g. Sahara) — found first in GOSAT</a:t>
            </a:r>
            <a:endParaRPr lang="en-US" sz="1300" dirty="0"/>
          </a:p>
        </p:txBody>
      </p:sp>
      <p:sp>
        <p:nvSpPr>
          <p:cNvPr id="29" name="card"/>
          <p:cNvSpPr/>
          <p:nvPr/>
        </p:nvSpPr>
        <p:spPr>
          <a:xfrm>
            <a:off x="8046720" y="3794760"/>
            <a:ext cx="3547872"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30" name="icon circle"/>
          <p:cNvSpPr/>
          <p:nvPr/>
        </p:nvSpPr>
        <p:spPr>
          <a:xfrm>
            <a:off x="8229600" y="3950208"/>
            <a:ext cx="420624" cy="420624"/>
          </a:xfrm>
          <a:prstGeom prst="ellipse">
            <a:avLst/>
          </a:prstGeom>
          <a:solidFill>
            <a:schemeClr val="accent4"/>
          </a:solidFill>
          <a:ln/>
        </p:spPr>
      </p:sp>
      <p:pic>
        <p:nvPicPr>
          <p:cNvPr id="31" name="Image 5" descr="Cogs icon"/>
          <p:cNvPicPr>
            <a:picLocks noChangeAspect="1"/>
          </p:cNvPicPr>
          <p:nvPr/>
        </p:nvPicPr>
        <p:blipFill>
          <a:blip r:embed="rId8"/>
          <a:stretch>
            <a:fillRect/>
          </a:stretch>
        </p:blipFill>
        <p:spPr>
          <a:xfrm>
            <a:off x="8338962" y="4059570"/>
            <a:ext cx="201900" cy="201900"/>
          </a:xfrm>
          <a:prstGeom prst="rect">
            <a:avLst/>
          </a:prstGeom>
        </p:spPr>
      </p:pic>
      <p:sp>
        <p:nvSpPr>
          <p:cNvPr id="32" name="Text 23"/>
          <p:cNvSpPr txBox="1"/>
          <p:nvPr/>
        </p:nvSpPr>
        <p:spPr>
          <a:xfrm>
            <a:off x="8759952" y="3931920"/>
            <a:ext cx="2697480" cy="457200"/>
          </a:xfrm>
          <a:prstGeom prst="rect">
            <a:avLst/>
          </a:prstGeom>
          <a:noFill/>
          <a:ln/>
        </p:spPr>
        <p:txBody>
          <a:bodyPr wrap="square" lIns="0" tIns="0" rIns="0" bIns="0" rtlCol="0" anchor="ctr"/>
          <a:lstStyle/>
          <a:p>
            <a:pPr marL="0" indent="0">
              <a:buNone/>
            </a:pPr>
            <a:r>
              <a:rPr lang="en-US" sz="1500" b="1" dirty="0">
                <a:solidFill>
                  <a:schemeClr val="tx2"/>
                </a:solidFill>
              </a:rPr>
              <a:t>Sensor performance</a:t>
            </a:r>
            <a:endParaRPr lang="en-US" sz="1500" dirty="0"/>
          </a:p>
        </p:txBody>
      </p:sp>
      <p:sp>
        <p:nvSpPr>
          <p:cNvPr id="33" name="Text 24"/>
          <p:cNvSpPr txBox="1"/>
          <p:nvPr/>
        </p:nvSpPr>
        <p:spPr>
          <a:xfrm>
            <a:off x="8229600" y="4480560"/>
            <a:ext cx="3182112"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Spectral resolution, SNR, stray light, calibration drift and degradation</a:t>
            </a:r>
            <a:endParaRPr lang="en-US" sz="13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Modelling SIF: from photosystem to globe</a:t>
            </a:r>
            <a:endParaRPr lang="en-US" sz="3200" dirty="0"/>
          </a:p>
        </p:txBody>
      </p:sp>
      <p:sp>
        <p:nvSpPr>
          <p:cNvPr id="4" name="figure frame"/>
          <p:cNvSpPr/>
          <p:nvPr/>
        </p:nvSpPr>
        <p:spPr>
          <a:xfrm>
            <a:off x="548640" y="1325880"/>
            <a:ext cx="6766560" cy="3749040"/>
          </a:xfrm>
          <a:prstGeom prst="roundRect">
            <a:avLst>
              <a:gd name="adj" fmla="val 1463"/>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5" name="Image 0" descr="Mohammed et al. (2019), Fig. 5 — history of leaf and canopy models; blue = models without fluorescence"/>
          <p:cNvPicPr>
            <a:picLocks noChangeAspect="1"/>
          </p:cNvPicPr>
          <p:nvPr/>
        </p:nvPicPr>
        <p:blipFill>
          <a:blip r:embed="rId3"/>
          <a:stretch>
            <a:fillRect/>
          </a:stretch>
        </p:blipFill>
        <p:spPr>
          <a:xfrm>
            <a:off x="997811" y="1417320"/>
            <a:ext cx="5868218" cy="3566160"/>
          </a:xfrm>
          <a:prstGeom prst="rect">
            <a:avLst/>
          </a:prstGeom>
        </p:spPr>
      </p:pic>
      <p:sp>
        <p:nvSpPr>
          <p:cNvPr id="6" name="Text 2"/>
          <p:cNvSpPr txBox="1"/>
          <p:nvPr/>
        </p:nvSpPr>
        <p:spPr>
          <a:xfrm>
            <a:off x="548640" y="5120640"/>
            <a:ext cx="6766560" cy="365760"/>
          </a:xfrm>
          <a:prstGeom prst="rect">
            <a:avLst/>
          </a:prstGeom>
          <a:noFill/>
          <a:ln/>
        </p:spPr>
        <p:txBody>
          <a:bodyPr wrap="square" lIns="0" tIns="0" rIns="0" bIns="0" rtlCol="0" anchor="t"/>
          <a:lstStyle/>
          <a:p>
            <a:pPr marL="0" indent="0">
              <a:buNone/>
            </a:pPr>
            <a:r>
              <a:rPr lang="en-US" sz="1100" i="1" dirty="0">
                <a:solidFill>
                  <a:schemeClr val="accent6"/>
                </a:solidFill>
              </a:rPr>
              <a:t>Mohammed et al. (2019), Fig. 5 — history of leaf and canopy models; blue = models without fluorescence</a:t>
            </a:r>
            <a:endParaRPr lang="en-US" sz="1100" dirty="0"/>
          </a:p>
        </p:txBody>
      </p:sp>
      <p:sp>
        <p:nvSpPr>
          <p:cNvPr id="7" name="diagram box"/>
          <p:cNvSpPr/>
          <p:nvPr/>
        </p:nvSpPr>
        <p:spPr>
          <a:xfrm>
            <a:off x="7589520" y="1325880"/>
            <a:ext cx="1463040" cy="713232"/>
          </a:xfrm>
          <a:prstGeom prst="roundRect">
            <a:avLst>
              <a:gd name="adj" fmla="val 10256"/>
            </a:avLst>
          </a:prstGeom>
          <a:solidFill>
            <a:schemeClr val="accent1"/>
          </a:solidFill>
          <a:ln/>
        </p:spPr>
      </p:sp>
      <p:sp>
        <p:nvSpPr>
          <p:cNvPr id="8" name="Text 4"/>
          <p:cNvSpPr txBox="1"/>
          <p:nvPr/>
        </p:nvSpPr>
        <p:spPr>
          <a:xfrm>
            <a:off x="7589520" y="1325880"/>
            <a:ext cx="1463040" cy="713232"/>
          </a:xfrm>
          <a:prstGeom prst="rect">
            <a:avLst/>
          </a:prstGeom>
          <a:noFill/>
          <a:ln/>
        </p:spPr>
        <p:txBody>
          <a:bodyPr wrap="square" lIns="508" tIns="508" rIns="508" bIns="508" rtlCol="0" anchor="ctr"/>
          <a:lstStyle/>
          <a:p>
            <a:pPr marL="0" indent="0" algn="ctr">
              <a:buNone/>
            </a:pPr>
            <a:r>
              <a:rPr lang="en-US" sz="1300" b="1" dirty="0">
                <a:solidFill>
                  <a:schemeClr val="bg1"/>
                </a:solidFill>
              </a:rPr>
              <a:t>Photosystem</a:t>
            </a:r>
            <a:endParaRPr lang="en-US" sz="1300" dirty="0"/>
          </a:p>
        </p:txBody>
      </p:sp>
      <p:sp>
        <p:nvSpPr>
          <p:cNvPr id="9" name="Text 5"/>
          <p:cNvSpPr txBox="1"/>
          <p:nvPr/>
        </p:nvSpPr>
        <p:spPr>
          <a:xfrm>
            <a:off x="9189720" y="1325880"/>
            <a:ext cx="2450592" cy="713232"/>
          </a:xfrm>
          <a:prstGeom prst="rect">
            <a:avLst/>
          </a:prstGeom>
          <a:noFill/>
          <a:ln/>
        </p:spPr>
        <p:txBody>
          <a:bodyPr wrap="square" lIns="0" tIns="0" rIns="0" bIns="0" rtlCol="0" anchor="ctr"/>
          <a:lstStyle/>
          <a:p>
            <a:pPr marL="0" indent="0">
              <a:buNone/>
            </a:pPr>
            <a:r>
              <a:rPr lang="en-US" sz="1300" dirty="0">
                <a:solidFill>
                  <a:schemeClr val="tx1"/>
                </a:solidFill>
              </a:rPr>
              <a:t>Kautsky, Genty, Rosema NPQ, van der Tol &amp; Berry</a:t>
            </a:r>
            <a:endParaRPr lang="en-US" sz="1300" dirty="0"/>
          </a:p>
        </p:txBody>
      </p:sp>
      <p:sp>
        <p:nvSpPr>
          <p:cNvPr id="10" name="diagram box"/>
          <p:cNvSpPr/>
          <p:nvPr/>
        </p:nvSpPr>
        <p:spPr>
          <a:xfrm>
            <a:off x="7589520" y="2167128"/>
            <a:ext cx="1463040" cy="713232"/>
          </a:xfrm>
          <a:prstGeom prst="roundRect">
            <a:avLst>
              <a:gd name="adj" fmla="val 10256"/>
            </a:avLst>
          </a:prstGeom>
          <a:solidFill>
            <a:schemeClr val="accent1"/>
          </a:solidFill>
          <a:ln/>
        </p:spPr>
      </p:sp>
      <p:sp>
        <p:nvSpPr>
          <p:cNvPr id="11" name="Text 7"/>
          <p:cNvSpPr txBox="1"/>
          <p:nvPr/>
        </p:nvSpPr>
        <p:spPr>
          <a:xfrm>
            <a:off x="7589520" y="2167128"/>
            <a:ext cx="1463040" cy="713232"/>
          </a:xfrm>
          <a:prstGeom prst="rect">
            <a:avLst/>
          </a:prstGeom>
          <a:noFill/>
          <a:ln/>
        </p:spPr>
        <p:txBody>
          <a:bodyPr wrap="square" lIns="508" tIns="508" rIns="508" bIns="508" rtlCol="0" anchor="ctr"/>
          <a:lstStyle/>
          <a:p>
            <a:pPr marL="0" indent="0" algn="ctr">
              <a:buNone/>
            </a:pPr>
            <a:r>
              <a:rPr lang="en-US" sz="1300" b="1" dirty="0">
                <a:solidFill>
                  <a:schemeClr val="bg1"/>
                </a:solidFill>
              </a:rPr>
              <a:t>Leaf RTM</a:t>
            </a:r>
            <a:endParaRPr lang="en-US" sz="1300" dirty="0"/>
          </a:p>
        </p:txBody>
      </p:sp>
      <p:sp>
        <p:nvSpPr>
          <p:cNvPr id="12" name="Text 8"/>
          <p:cNvSpPr txBox="1"/>
          <p:nvPr/>
        </p:nvSpPr>
        <p:spPr>
          <a:xfrm>
            <a:off x="9189720" y="2167128"/>
            <a:ext cx="2450592" cy="713232"/>
          </a:xfrm>
          <a:prstGeom prst="rect">
            <a:avLst/>
          </a:prstGeom>
          <a:noFill/>
          <a:ln/>
        </p:spPr>
        <p:txBody>
          <a:bodyPr wrap="square" lIns="0" tIns="0" rIns="0" bIns="0" rtlCol="0" anchor="ctr"/>
          <a:lstStyle/>
          <a:p>
            <a:pPr marL="0" indent="0">
              <a:buNone/>
            </a:pPr>
            <a:r>
              <a:rPr lang="en-US" sz="1300" dirty="0">
                <a:solidFill>
                  <a:schemeClr val="tx1"/>
                </a:solidFill>
              </a:rPr>
              <a:t>PROSPECT → FluorMODleaf → Fluspect</a:t>
            </a:r>
            <a:endParaRPr lang="en-US" sz="1300" dirty="0"/>
          </a:p>
        </p:txBody>
      </p:sp>
      <p:sp>
        <p:nvSpPr>
          <p:cNvPr id="13" name="diagram box"/>
          <p:cNvSpPr/>
          <p:nvPr/>
        </p:nvSpPr>
        <p:spPr>
          <a:xfrm>
            <a:off x="7589520" y="3008376"/>
            <a:ext cx="1463040" cy="713232"/>
          </a:xfrm>
          <a:prstGeom prst="roundRect">
            <a:avLst>
              <a:gd name="adj" fmla="val 10256"/>
            </a:avLst>
          </a:prstGeom>
          <a:solidFill>
            <a:schemeClr val="accent5"/>
          </a:solidFill>
          <a:ln/>
        </p:spPr>
      </p:sp>
      <p:sp>
        <p:nvSpPr>
          <p:cNvPr id="14" name="Text 10"/>
          <p:cNvSpPr txBox="1"/>
          <p:nvPr/>
        </p:nvSpPr>
        <p:spPr>
          <a:xfrm>
            <a:off x="7589520" y="3008376"/>
            <a:ext cx="1463040" cy="713232"/>
          </a:xfrm>
          <a:prstGeom prst="rect">
            <a:avLst/>
          </a:prstGeom>
          <a:noFill/>
          <a:ln/>
        </p:spPr>
        <p:txBody>
          <a:bodyPr wrap="square" lIns="508" tIns="508" rIns="508" bIns="508" rtlCol="0" anchor="ctr"/>
          <a:lstStyle/>
          <a:p>
            <a:pPr marL="0" indent="0" algn="ctr">
              <a:buNone/>
            </a:pPr>
            <a:r>
              <a:rPr lang="en-US" sz="1300" b="1" dirty="0">
                <a:solidFill>
                  <a:schemeClr val="bg1"/>
                </a:solidFill>
              </a:rPr>
              <a:t>Canopy 1D</a:t>
            </a:r>
            <a:endParaRPr lang="en-US" sz="1300" dirty="0"/>
          </a:p>
        </p:txBody>
      </p:sp>
      <p:sp>
        <p:nvSpPr>
          <p:cNvPr id="15" name="Text 11"/>
          <p:cNvSpPr txBox="1"/>
          <p:nvPr/>
        </p:nvSpPr>
        <p:spPr>
          <a:xfrm>
            <a:off x="9189720" y="3008376"/>
            <a:ext cx="2450592" cy="713232"/>
          </a:xfrm>
          <a:prstGeom prst="rect">
            <a:avLst/>
          </a:prstGeom>
          <a:noFill/>
          <a:ln/>
        </p:spPr>
        <p:txBody>
          <a:bodyPr wrap="square" lIns="0" tIns="0" rIns="0" bIns="0" rtlCol="0" anchor="ctr"/>
          <a:lstStyle/>
          <a:p>
            <a:pPr marL="0" indent="0">
              <a:buNone/>
            </a:pPr>
            <a:r>
              <a:rPr lang="en-US" sz="1300" dirty="0">
                <a:solidFill>
                  <a:schemeClr val="tx1"/>
                </a:solidFill>
              </a:rPr>
              <a:t>SAIL → FluorSAIL → </a:t>
            </a:r>
            <a:r>
              <a:rPr lang="en-US" sz="1300" b="1" dirty="0">
                <a:solidFill>
                  <a:schemeClr val="tx1"/>
                </a:solidFill>
              </a:rPr>
              <a:t>SCOPE</a:t>
            </a:r>
            <a:r>
              <a:rPr lang="en-US" sz="1300" dirty="0">
                <a:solidFill>
                  <a:schemeClr val="tx1"/>
                </a:solidFill>
              </a:rPr>
              <a:t> (with energy balance)</a:t>
            </a:r>
            <a:endParaRPr lang="en-US" sz="1300" dirty="0"/>
          </a:p>
        </p:txBody>
      </p:sp>
      <p:sp>
        <p:nvSpPr>
          <p:cNvPr id="16" name="diagram box"/>
          <p:cNvSpPr/>
          <p:nvPr/>
        </p:nvSpPr>
        <p:spPr>
          <a:xfrm>
            <a:off x="7589520" y="3849624"/>
            <a:ext cx="1463040" cy="713232"/>
          </a:xfrm>
          <a:prstGeom prst="roundRect">
            <a:avLst>
              <a:gd name="adj" fmla="val 10256"/>
            </a:avLst>
          </a:prstGeom>
          <a:solidFill>
            <a:schemeClr val="accent5"/>
          </a:solidFill>
          <a:ln/>
        </p:spPr>
      </p:sp>
      <p:sp>
        <p:nvSpPr>
          <p:cNvPr id="17" name="Text 13"/>
          <p:cNvSpPr txBox="1"/>
          <p:nvPr/>
        </p:nvSpPr>
        <p:spPr>
          <a:xfrm>
            <a:off x="7589520" y="3849624"/>
            <a:ext cx="1463040" cy="713232"/>
          </a:xfrm>
          <a:prstGeom prst="rect">
            <a:avLst/>
          </a:prstGeom>
          <a:noFill/>
          <a:ln/>
        </p:spPr>
        <p:txBody>
          <a:bodyPr wrap="square" lIns="508" tIns="508" rIns="508" bIns="508" rtlCol="0" anchor="ctr"/>
          <a:lstStyle/>
          <a:p>
            <a:pPr marL="0" indent="0" algn="ctr">
              <a:buNone/>
            </a:pPr>
            <a:r>
              <a:rPr lang="en-US" sz="1300" b="1" dirty="0">
                <a:solidFill>
                  <a:schemeClr val="bg1"/>
                </a:solidFill>
              </a:rPr>
              <a:t>Canopy 3D</a:t>
            </a:r>
            <a:endParaRPr lang="en-US" sz="1300" dirty="0"/>
          </a:p>
        </p:txBody>
      </p:sp>
      <p:sp>
        <p:nvSpPr>
          <p:cNvPr id="18" name="Text 14"/>
          <p:cNvSpPr txBox="1"/>
          <p:nvPr/>
        </p:nvSpPr>
        <p:spPr>
          <a:xfrm>
            <a:off x="9189720" y="3849624"/>
            <a:ext cx="2450592" cy="713232"/>
          </a:xfrm>
          <a:prstGeom prst="rect">
            <a:avLst/>
          </a:prstGeom>
          <a:noFill/>
          <a:ln/>
        </p:spPr>
        <p:txBody>
          <a:bodyPr wrap="square" lIns="0" tIns="0" rIns="0" bIns="0" rtlCol="0" anchor="ctr"/>
          <a:lstStyle/>
          <a:p>
            <a:pPr marL="0" indent="0">
              <a:buNone/>
            </a:pPr>
            <a:r>
              <a:rPr lang="en-US" sz="1300" b="1" dirty="0">
                <a:solidFill>
                  <a:schemeClr val="tx1"/>
                </a:solidFill>
              </a:rPr>
              <a:t>DART</a:t>
            </a:r>
            <a:r>
              <a:rPr lang="en-US" sz="1300" dirty="0">
                <a:solidFill>
                  <a:schemeClr val="tx1"/>
                </a:solidFill>
              </a:rPr>
              <a:t>, FluorFLIGHT, FluorWPS</a:t>
            </a:r>
            <a:endParaRPr lang="en-US" sz="1300" dirty="0"/>
          </a:p>
        </p:txBody>
      </p:sp>
      <p:sp>
        <p:nvSpPr>
          <p:cNvPr id="19" name="diagram box"/>
          <p:cNvSpPr/>
          <p:nvPr/>
        </p:nvSpPr>
        <p:spPr>
          <a:xfrm>
            <a:off x="7589520" y="4690872"/>
            <a:ext cx="1463040" cy="713232"/>
          </a:xfrm>
          <a:prstGeom prst="roundRect">
            <a:avLst>
              <a:gd name="adj" fmla="val 10256"/>
            </a:avLst>
          </a:prstGeom>
          <a:solidFill>
            <a:schemeClr val="accent2"/>
          </a:solidFill>
          <a:ln/>
        </p:spPr>
      </p:sp>
      <p:sp>
        <p:nvSpPr>
          <p:cNvPr id="20" name="Text 16"/>
          <p:cNvSpPr txBox="1"/>
          <p:nvPr/>
        </p:nvSpPr>
        <p:spPr>
          <a:xfrm>
            <a:off x="7589520" y="4690872"/>
            <a:ext cx="1463040" cy="713232"/>
          </a:xfrm>
          <a:prstGeom prst="rect">
            <a:avLst/>
          </a:prstGeom>
          <a:noFill/>
          <a:ln/>
        </p:spPr>
        <p:txBody>
          <a:bodyPr wrap="square" lIns="508" tIns="508" rIns="508" bIns="508" rtlCol="0" anchor="ctr"/>
          <a:lstStyle/>
          <a:p>
            <a:pPr marL="0" indent="0" algn="ctr">
              <a:buNone/>
            </a:pPr>
            <a:r>
              <a:rPr lang="en-US" sz="1300" b="1" dirty="0">
                <a:solidFill>
                  <a:schemeClr val="bg1"/>
                </a:solidFill>
              </a:rPr>
              <a:t>Global LSM</a:t>
            </a:r>
            <a:endParaRPr lang="en-US" sz="1300" dirty="0"/>
          </a:p>
        </p:txBody>
      </p:sp>
      <p:sp>
        <p:nvSpPr>
          <p:cNvPr id="21" name="Text 17"/>
          <p:cNvSpPr txBox="1"/>
          <p:nvPr/>
        </p:nvSpPr>
        <p:spPr>
          <a:xfrm>
            <a:off x="9189720" y="4690872"/>
            <a:ext cx="2450592" cy="713232"/>
          </a:xfrm>
          <a:prstGeom prst="rect">
            <a:avLst/>
          </a:prstGeom>
          <a:noFill/>
          <a:ln/>
        </p:spPr>
        <p:txBody>
          <a:bodyPr wrap="square" lIns="0" tIns="0" rIns="0" bIns="0" rtlCol="0" anchor="ctr"/>
          <a:lstStyle/>
          <a:p>
            <a:pPr marL="0" indent="0">
              <a:buNone/>
            </a:pPr>
            <a:r>
              <a:rPr lang="en-US" sz="1300" dirty="0">
                <a:solidFill>
                  <a:schemeClr val="tx1"/>
                </a:solidFill>
              </a:rPr>
              <a:t>CLM, BETHY, ORCHIDEE assimilate SIF</a:t>
            </a:r>
            <a:endParaRPr lang="en-US" sz="1300" dirty="0"/>
          </a:p>
        </p:txBody>
      </p:sp>
      <p:sp>
        <p:nvSpPr>
          <p:cNvPr id="22" name="card"/>
          <p:cNvSpPr/>
          <p:nvPr/>
        </p:nvSpPr>
        <p:spPr>
          <a:xfrm>
            <a:off x="548640" y="5577840"/>
            <a:ext cx="11091672" cy="594360"/>
          </a:xfrm>
          <a:prstGeom prst="roundRect">
            <a:avLst>
              <a:gd name="adj" fmla="val 12308"/>
            </a:avLst>
          </a:prstGeom>
          <a:solidFill>
            <a:schemeClr val="bg2"/>
          </a:solidFill>
          <a:ln/>
        </p:spPr>
      </p:sp>
      <p:sp>
        <p:nvSpPr>
          <p:cNvPr id="23" name="Text 19"/>
          <p:cNvSpPr txBox="1"/>
          <p:nvPr/>
        </p:nvSpPr>
        <p:spPr>
          <a:xfrm>
            <a:off x="731520" y="5715000"/>
            <a:ext cx="10771632" cy="365760"/>
          </a:xfrm>
          <a:prstGeom prst="rect">
            <a:avLst/>
          </a:prstGeom>
          <a:noFill/>
          <a:ln/>
        </p:spPr>
        <p:txBody>
          <a:bodyPr wrap="square" lIns="0" tIns="0" rIns="0" bIns="0" rtlCol="0" anchor="ctr"/>
          <a:lstStyle/>
          <a:p>
            <a:pPr marL="0" indent="0">
              <a:buNone/>
            </a:pPr>
            <a:r>
              <a:rPr lang="en-US" sz="1300" b="1" dirty="0">
                <a:solidFill>
                  <a:schemeClr val="tx2"/>
                </a:solidFill>
              </a:rPr>
              <a:t>SCOPE = Soil–Canopy Observation of Photosynthesis and Energy fluxes; DART = Discrete Anisotropic Radiative Transfer</a:t>
            </a:r>
            <a:endParaRPr lang="en-US" sz="1300" dirty="0"/>
          </a:p>
        </p:txBody>
      </p:sp>
      <p:sp>
        <p:nvSpPr>
          <p:cNvPr id="24" name="Text 20"/>
          <p:cNvSpPr txBox="1"/>
          <p:nvPr/>
        </p:nvSpPr>
        <p:spPr>
          <a:xfrm>
            <a:off x="731520" y="6126480"/>
            <a:ext cx="10725912" cy="0"/>
          </a:xfrm>
          <a:prstGeom prst="rect">
            <a:avLst/>
          </a:prstGeom>
          <a:noFill/>
          <a:ln/>
        </p:spPr>
        <p:txBody>
          <a:bodyPr wrap="square" lIns="508" tIns="508" rIns="508" bIns="508" rtlCol="0" anchor="t"/>
          <a:lstStyle/>
          <a:p>
            <a:pPr marL="0" indent="0">
              <a:spcAft>
                <a:spcPts val="400"/>
              </a:spcAft>
              <a:buNone/>
            </a:pPr>
            <a:r>
              <a:rPr lang="en-US" sz="1200" dirty="0">
                <a:solidFill>
                  <a:schemeClr val="tx1"/>
                </a:solidFill>
              </a:rPr>
              <a:t> </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3D modelling example: DART simulation of a maize canopy</a:t>
            </a:r>
            <a:endParaRPr lang="en-US" sz="3200" dirty="0"/>
          </a:p>
        </p:txBody>
      </p:sp>
      <p:sp>
        <p:nvSpPr>
          <p:cNvPr id="4" name="figure frame"/>
          <p:cNvSpPr/>
          <p:nvPr/>
        </p:nvSpPr>
        <p:spPr>
          <a:xfrm>
            <a:off x="548640" y="1325880"/>
            <a:ext cx="11091672" cy="2240280"/>
          </a:xfrm>
          <a:prstGeom prst="roundRect">
            <a:avLst>
              <a:gd name="adj" fmla="val 2449"/>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5" name="Image 0" descr="Mohammed et al. (2019), Fig. 6 — (a) irradiance, (b) sunlit (red) and shaded (blue) leaves, (c) true-colour reflectance, (d) PSII SIF image, (e) hourly PSII and PSI SIF at 742.5 nm"/>
          <p:cNvPicPr>
            <a:picLocks noChangeAspect="1"/>
          </p:cNvPicPr>
          <p:nvPr/>
        </p:nvPicPr>
        <p:blipFill>
          <a:blip r:embed="rId3"/>
          <a:stretch>
            <a:fillRect/>
          </a:stretch>
        </p:blipFill>
        <p:spPr>
          <a:xfrm>
            <a:off x="981232" y="1417320"/>
            <a:ext cx="10226488" cy="2057400"/>
          </a:xfrm>
          <a:prstGeom prst="rect">
            <a:avLst/>
          </a:prstGeom>
        </p:spPr>
      </p:pic>
      <p:sp>
        <p:nvSpPr>
          <p:cNvPr id="6" name="Text 2"/>
          <p:cNvSpPr txBox="1"/>
          <p:nvPr/>
        </p:nvSpPr>
        <p:spPr>
          <a:xfrm>
            <a:off x="548640" y="3611880"/>
            <a:ext cx="11091672" cy="411480"/>
          </a:xfrm>
          <a:prstGeom prst="rect">
            <a:avLst/>
          </a:prstGeom>
          <a:noFill/>
          <a:ln/>
        </p:spPr>
        <p:txBody>
          <a:bodyPr wrap="square" lIns="0" tIns="0" rIns="0" bIns="0" rtlCol="0" anchor="t"/>
          <a:lstStyle/>
          <a:p>
            <a:pPr marL="0" indent="0">
              <a:buNone/>
            </a:pPr>
            <a:r>
              <a:rPr lang="en-US" sz="1100" i="1" dirty="0">
                <a:solidFill>
                  <a:schemeClr val="accent6"/>
                </a:solidFill>
              </a:rPr>
              <a:t>Mohammed et al. (2019), Fig. 6 — (a) irradiance, (b) sunlit (red) and shaded (blue) leaves, (c) true-colour reflectance, (d) PSII SIF image, (e) hourly PSII and PSI SIF at 742.5 nm</a:t>
            </a:r>
            <a:endParaRPr lang="en-US" sz="1100" dirty="0"/>
          </a:p>
        </p:txBody>
      </p:sp>
      <p:sp>
        <p:nvSpPr>
          <p:cNvPr id="7" name="card"/>
          <p:cNvSpPr/>
          <p:nvPr/>
        </p:nvSpPr>
        <p:spPr>
          <a:xfrm>
            <a:off x="548640" y="4206240"/>
            <a:ext cx="3566160" cy="1965960"/>
          </a:xfrm>
          <a:prstGeom prst="roundRect">
            <a:avLst>
              <a:gd name="adj" fmla="val 3721"/>
            </a:avLst>
          </a:prstGeom>
          <a:solidFill>
            <a:schemeClr val="bg2"/>
          </a:solidFill>
          <a:ln/>
          <a:effectLst>
            <a:outerShdw blurRad="76200" dist="25400" dir="5400000" algn="bl" rotWithShape="0">
              <a:srgbClr val="000000">
                <a:alpha val="14000"/>
              </a:srgbClr>
            </a:outerShdw>
          </a:effectLst>
        </p:spPr>
      </p:sp>
      <p:sp>
        <p:nvSpPr>
          <p:cNvPr id="8" name="icon circle"/>
          <p:cNvSpPr/>
          <p:nvPr/>
        </p:nvSpPr>
        <p:spPr>
          <a:xfrm>
            <a:off x="731520" y="4361688"/>
            <a:ext cx="420624" cy="420624"/>
          </a:xfrm>
          <a:prstGeom prst="ellipse">
            <a:avLst/>
          </a:prstGeom>
          <a:solidFill>
            <a:schemeClr val="accent1"/>
          </a:solidFill>
          <a:ln/>
        </p:spPr>
      </p:sp>
      <p:pic>
        <p:nvPicPr>
          <p:cNvPr id="9" name="Image 1" descr="LayerGroup icon"/>
          <p:cNvPicPr>
            <a:picLocks noChangeAspect="1"/>
          </p:cNvPicPr>
          <p:nvPr/>
        </p:nvPicPr>
        <p:blipFill>
          <a:blip r:embed="rId4"/>
          <a:stretch>
            <a:fillRect/>
          </a:stretch>
        </p:blipFill>
        <p:spPr>
          <a:xfrm>
            <a:off x="840882" y="4471050"/>
            <a:ext cx="201900" cy="201900"/>
          </a:xfrm>
          <a:prstGeom prst="rect">
            <a:avLst/>
          </a:prstGeom>
        </p:spPr>
      </p:pic>
      <p:sp>
        <p:nvSpPr>
          <p:cNvPr id="10" name="Text 5"/>
          <p:cNvSpPr txBox="1"/>
          <p:nvPr/>
        </p:nvSpPr>
        <p:spPr>
          <a:xfrm>
            <a:off x="1261872" y="4343400"/>
            <a:ext cx="2715768" cy="457200"/>
          </a:xfrm>
          <a:prstGeom prst="rect">
            <a:avLst/>
          </a:prstGeom>
          <a:noFill/>
          <a:ln/>
        </p:spPr>
        <p:txBody>
          <a:bodyPr wrap="square" lIns="0" tIns="0" rIns="0" bIns="0" rtlCol="0" anchor="ctr"/>
          <a:lstStyle/>
          <a:p>
            <a:pPr marL="0" indent="0">
              <a:buNone/>
            </a:pPr>
            <a:r>
              <a:rPr lang="en-US" sz="1600" b="1" dirty="0">
                <a:solidFill>
                  <a:schemeClr val="tx2"/>
                </a:solidFill>
              </a:rPr>
              <a:t>What 3D models add</a:t>
            </a:r>
            <a:endParaRPr lang="en-US" sz="1600" dirty="0"/>
          </a:p>
        </p:txBody>
      </p:sp>
      <p:sp>
        <p:nvSpPr>
          <p:cNvPr id="11" name="Text 6"/>
          <p:cNvSpPr txBox="1"/>
          <p:nvPr/>
        </p:nvSpPr>
        <p:spPr>
          <a:xfrm>
            <a:off x="731520" y="4892040"/>
            <a:ext cx="3200400" cy="118872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Shadows, clumping, row structure, leaf angles — effects 1D models cannot represent.</a:t>
            </a:r>
            <a:endParaRPr lang="en-US" sz="1300" dirty="0"/>
          </a:p>
        </p:txBody>
      </p:sp>
      <p:sp>
        <p:nvSpPr>
          <p:cNvPr id="12" name="card"/>
          <p:cNvSpPr/>
          <p:nvPr/>
        </p:nvSpPr>
        <p:spPr>
          <a:xfrm>
            <a:off x="4315968" y="4206240"/>
            <a:ext cx="3566160" cy="1965960"/>
          </a:xfrm>
          <a:prstGeom prst="roundRect">
            <a:avLst>
              <a:gd name="adj" fmla="val 3721"/>
            </a:avLst>
          </a:prstGeom>
          <a:solidFill>
            <a:schemeClr val="bg2"/>
          </a:solidFill>
          <a:ln/>
          <a:effectLst>
            <a:outerShdw blurRad="76200" dist="25400" dir="5400000" algn="bl" rotWithShape="0">
              <a:srgbClr val="000000">
                <a:alpha val="14000"/>
              </a:srgbClr>
            </a:outerShdw>
          </a:effectLst>
        </p:spPr>
      </p:sp>
      <p:sp>
        <p:nvSpPr>
          <p:cNvPr id="13" name="icon circle"/>
          <p:cNvSpPr/>
          <p:nvPr/>
        </p:nvSpPr>
        <p:spPr>
          <a:xfrm>
            <a:off x="4498848" y="4361688"/>
            <a:ext cx="420624" cy="420624"/>
          </a:xfrm>
          <a:prstGeom prst="ellipse">
            <a:avLst/>
          </a:prstGeom>
          <a:solidFill>
            <a:schemeClr val="accent5"/>
          </a:solidFill>
          <a:ln/>
        </p:spPr>
      </p:sp>
      <p:pic>
        <p:nvPicPr>
          <p:cNvPr id="14" name="Image 2" descr="Cogs icon"/>
          <p:cNvPicPr>
            <a:picLocks noChangeAspect="1"/>
          </p:cNvPicPr>
          <p:nvPr/>
        </p:nvPicPr>
        <p:blipFill>
          <a:blip r:embed="rId5"/>
          <a:stretch>
            <a:fillRect/>
          </a:stretch>
        </p:blipFill>
        <p:spPr>
          <a:xfrm>
            <a:off x="4608210" y="4471050"/>
            <a:ext cx="201900" cy="201900"/>
          </a:xfrm>
          <a:prstGeom prst="rect">
            <a:avLst/>
          </a:prstGeom>
        </p:spPr>
      </p:pic>
      <p:sp>
        <p:nvSpPr>
          <p:cNvPr id="15" name="Text 9"/>
          <p:cNvSpPr txBox="1"/>
          <p:nvPr/>
        </p:nvSpPr>
        <p:spPr>
          <a:xfrm>
            <a:off x="5029200" y="4343400"/>
            <a:ext cx="2715768" cy="457200"/>
          </a:xfrm>
          <a:prstGeom prst="rect">
            <a:avLst/>
          </a:prstGeom>
          <a:noFill/>
          <a:ln/>
        </p:spPr>
        <p:txBody>
          <a:bodyPr wrap="square" lIns="0" tIns="0" rIns="0" bIns="0" rtlCol="0" anchor="ctr"/>
          <a:lstStyle/>
          <a:p>
            <a:pPr marL="0" indent="0">
              <a:buNone/>
            </a:pPr>
            <a:r>
              <a:rPr lang="en-US" sz="1600" b="1" dirty="0">
                <a:solidFill>
                  <a:schemeClr val="tx2"/>
                </a:solidFill>
              </a:rPr>
              <a:t>SCOPE's niche</a:t>
            </a:r>
            <a:endParaRPr lang="en-US" sz="1600" dirty="0"/>
          </a:p>
        </p:txBody>
      </p:sp>
      <p:sp>
        <p:nvSpPr>
          <p:cNvPr id="16" name="Text 10"/>
          <p:cNvSpPr txBox="1"/>
          <p:nvPr/>
        </p:nvSpPr>
        <p:spPr>
          <a:xfrm>
            <a:off x="4498848" y="4892040"/>
            <a:ext cx="3200400" cy="118872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The only canopy model with leaf energy balance → links SIF, photosynthesis and temperature.</a:t>
            </a:r>
            <a:endParaRPr lang="en-US" sz="1300" dirty="0"/>
          </a:p>
        </p:txBody>
      </p:sp>
      <p:sp>
        <p:nvSpPr>
          <p:cNvPr id="17" name="card"/>
          <p:cNvSpPr/>
          <p:nvPr/>
        </p:nvSpPr>
        <p:spPr>
          <a:xfrm>
            <a:off x="8083296" y="4206240"/>
            <a:ext cx="3557016" cy="1965960"/>
          </a:xfrm>
          <a:prstGeom prst="roundRect">
            <a:avLst>
              <a:gd name="adj" fmla="val 3721"/>
            </a:avLst>
          </a:prstGeom>
          <a:solidFill>
            <a:schemeClr val="bg2"/>
          </a:solidFill>
          <a:ln/>
          <a:effectLst>
            <a:outerShdw blurRad="76200" dist="25400" dir="5400000" algn="bl" rotWithShape="0">
              <a:srgbClr val="000000">
                <a:alpha val="14000"/>
              </a:srgbClr>
            </a:outerShdw>
          </a:effectLst>
        </p:spPr>
      </p:sp>
      <p:sp>
        <p:nvSpPr>
          <p:cNvPr id="18" name="icon circle"/>
          <p:cNvSpPr/>
          <p:nvPr/>
        </p:nvSpPr>
        <p:spPr>
          <a:xfrm>
            <a:off x="8266176" y="4361688"/>
            <a:ext cx="420624" cy="420624"/>
          </a:xfrm>
          <a:prstGeom prst="ellipse">
            <a:avLst/>
          </a:prstGeom>
          <a:solidFill>
            <a:schemeClr val="accent2"/>
          </a:solidFill>
          <a:ln/>
        </p:spPr>
      </p:sp>
      <p:pic>
        <p:nvPicPr>
          <p:cNvPr id="19" name="Image 3" descr="Route icon"/>
          <p:cNvPicPr>
            <a:picLocks noChangeAspect="1"/>
          </p:cNvPicPr>
          <p:nvPr/>
        </p:nvPicPr>
        <p:blipFill>
          <a:blip r:embed="rId6"/>
          <a:stretch>
            <a:fillRect/>
          </a:stretch>
        </p:blipFill>
        <p:spPr>
          <a:xfrm>
            <a:off x="8375538" y="4471050"/>
            <a:ext cx="201900" cy="201900"/>
          </a:xfrm>
          <a:prstGeom prst="rect">
            <a:avLst/>
          </a:prstGeom>
        </p:spPr>
      </p:pic>
      <p:sp>
        <p:nvSpPr>
          <p:cNvPr id="20" name="Text 13"/>
          <p:cNvSpPr txBox="1"/>
          <p:nvPr/>
        </p:nvSpPr>
        <p:spPr>
          <a:xfrm>
            <a:off x="8796528" y="4343400"/>
            <a:ext cx="2706624" cy="457200"/>
          </a:xfrm>
          <a:prstGeom prst="rect">
            <a:avLst/>
          </a:prstGeom>
          <a:noFill/>
          <a:ln/>
        </p:spPr>
        <p:txBody>
          <a:bodyPr wrap="square" lIns="0" tIns="0" rIns="0" bIns="0" rtlCol="0" anchor="ctr"/>
          <a:lstStyle/>
          <a:p>
            <a:pPr marL="0" indent="0">
              <a:buNone/>
            </a:pPr>
            <a:r>
              <a:rPr lang="en-US" sz="1600" b="1" dirty="0">
                <a:solidFill>
                  <a:schemeClr val="tx2"/>
                </a:solidFill>
              </a:rPr>
              <a:t>Uses</a:t>
            </a:r>
            <a:endParaRPr lang="en-US" sz="1600" dirty="0"/>
          </a:p>
        </p:txBody>
      </p:sp>
      <p:sp>
        <p:nvSpPr>
          <p:cNvPr id="21" name="Text 14"/>
          <p:cNvSpPr txBox="1"/>
          <p:nvPr/>
        </p:nvSpPr>
        <p:spPr>
          <a:xfrm>
            <a:off x="8266176" y="4892040"/>
            <a:ext cx="3191256" cy="118872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Interpret signals, design sensors, correct scattering/re-absorption, downscale SIF to photosystems.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Why SIF tracks photosynthesis (GPP)</a:t>
            </a:r>
            <a:endParaRPr lang="en-US" sz="3200" dirty="0"/>
          </a:p>
        </p:txBody>
      </p:sp>
      <p:sp>
        <p:nvSpPr>
          <p:cNvPr id="4" name="card"/>
          <p:cNvSpPr/>
          <p:nvPr/>
        </p:nvSpPr>
        <p:spPr>
          <a:xfrm>
            <a:off x="548640" y="1325880"/>
            <a:ext cx="5440680" cy="1188720"/>
          </a:xfrm>
          <a:prstGeom prst="roundRect">
            <a:avLst>
              <a:gd name="adj" fmla="val 6154"/>
            </a:avLst>
          </a:prstGeom>
          <a:solidFill>
            <a:schemeClr val="accent1"/>
          </a:solidFill>
          <a:ln/>
          <a:effectLst>
            <a:outerShdw blurRad="76200" dist="25400" dir="5400000" algn="bl" rotWithShape="0">
              <a:srgbClr val="000000">
                <a:alpha val="14000"/>
              </a:srgbClr>
            </a:outerShdw>
          </a:effectLst>
        </p:spPr>
      </p:sp>
      <p:sp>
        <p:nvSpPr>
          <p:cNvPr id="5" name="Text 2"/>
          <p:cNvSpPr txBox="1"/>
          <p:nvPr/>
        </p:nvSpPr>
        <p:spPr>
          <a:xfrm>
            <a:off x="548640" y="1325880"/>
            <a:ext cx="5440680" cy="1188720"/>
          </a:xfrm>
          <a:prstGeom prst="rect">
            <a:avLst/>
          </a:prstGeom>
          <a:noFill/>
          <a:ln/>
        </p:spPr>
        <p:txBody>
          <a:bodyPr wrap="square" lIns="0" tIns="0" rIns="0" bIns="0" rtlCol="0" anchor="ctr"/>
          <a:lstStyle/>
          <a:p>
            <a:pPr marL="0" indent="0" algn="ctr">
              <a:buNone/>
            </a:pPr>
            <a:r>
              <a:rPr lang="en-US" sz="2600" b="1" dirty="0">
                <a:solidFill>
                  <a:schemeClr val="bg1"/>
                </a:solidFill>
              </a:rPr>
              <a:t>GPP = </a:t>
            </a:r>
            <a:r>
              <a:rPr lang="en-US" sz="2600" b="1" dirty="0">
                <a:solidFill>
                  <a:schemeClr val="accent3"/>
                </a:solidFill>
              </a:rPr>
              <a:t>APAR</a:t>
            </a:r>
            <a:r>
              <a:rPr lang="en-US" sz="2600" b="1" dirty="0">
                <a:solidFill>
                  <a:schemeClr val="bg1"/>
                </a:solidFill>
              </a:rPr>
              <a:t> × LUE</a:t>
            </a:r>
            <a:endParaRPr lang="en-US" sz="2600" dirty="0"/>
          </a:p>
        </p:txBody>
      </p:sp>
      <p:sp>
        <p:nvSpPr>
          <p:cNvPr id="6" name="card"/>
          <p:cNvSpPr/>
          <p:nvPr/>
        </p:nvSpPr>
        <p:spPr>
          <a:xfrm>
            <a:off x="6199632" y="1325880"/>
            <a:ext cx="5440680" cy="1188720"/>
          </a:xfrm>
          <a:prstGeom prst="roundRect">
            <a:avLst>
              <a:gd name="adj" fmla="val 6154"/>
            </a:avLst>
          </a:prstGeom>
          <a:solidFill>
            <a:schemeClr val="accent2"/>
          </a:solidFill>
          <a:ln/>
          <a:effectLst>
            <a:outerShdw blurRad="76200" dist="25400" dir="5400000" algn="bl" rotWithShape="0">
              <a:srgbClr val="000000">
                <a:alpha val="14000"/>
              </a:srgbClr>
            </a:outerShdw>
          </a:effectLst>
        </p:spPr>
      </p:sp>
      <p:sp>
        <p:nvSpPr>
          <p:cNvPr id="7" name="Text 4"/>
          <p:cNvSpPr txBox="1"/>
          <p:nvPr/>
        </p:nvSpPr>
        <p:spPr>
          <a:xfrm>
            <a:off x="6199632" y="1325880"/>
            <a:ext cx="5440680" cy="1188720"/>
          </a:xfrm>
          <a:prstGeom prst="rect">
            <a:avLst/>
          </a:prstGeom>
          <a:noFill/>
          <a:ln/>
        </p:spPr>
        <p:txBody>
          <a:bodyPr wrap="square" lIns="0" tIns="0" rIns="0" bIns="0" rtlCol="0" anchor="ctr"/>
          <a:lstStyle/>
          <a:p>
            <a:pPr marL="0" indent="0" algn="ctr">
              <a:buNone/>
            </a:pPr>
            <a:r>
              <a:rPr lang="en-US" sz="2600" b="1" dirty="0">
                <a:solidFill>
                  <a:schemeClr val="bg1"/>
                </a:solidFill>
              </a:rPr>
              <a:t>SIF = </a:t>
            </a:r>
            <a:r>
              <a:rPr lang="en-US" sz="2600" b="1" dirty="0">
                <a:solidFill>
                  <a:schemeClr val="accent3"/>
                </a:solidFill>
              </a:rPr>
              <a:t>APAR</a:t>
            </a:r>
            <a:r>
              <a:rPr lang="en-US" sz="2600" b="1" dirty="0">
                <a:solidFill>
                  <a:schemeClr val="bg1"/>
                </a:solidFill>
              </a:rPr>
              <a:t> × Φ</a:t>
            </a:r>
            <a:r>
              <a:rPr lang="en-US" sz="2600" b="1" baseline="-40000" dirty="0">
                <a:solidFill>
                  <a:schemeClr val="bg1"/>
                </a:solidFill>
              </a:rPr>
              <a:t>F</a:t>
            </a:r>
            <a:r>
              <a:rPr lang="en-US" sz="2600" b="1" dirty="0">
                <a:solidFill>
                  <a:schemeClr val="bg1"/>
                </a:solidFill>
              </a:rPr>
              <a:t> × f</a:t>
            </a:r>
            <a:r>
              <a:rPr lang="en-US" sz="2600" b="1" baseline="-40000" dirty="0">
                <a:solidFill>
                  <a:schemeClr val="bg1"/>
                </a:solidFill>
              </a:rPr>
              <a:t>esc</a:t>
            </a:r>
            <a:endParaRPr lang="en-US" sz="2600" dirty="0"/>
          </a:p>
        </p:txBody>
      </p:sp>
      <p:sp>
        <p:nvSpPr>
          <p:cNvPr id="8" name="Text 5"/>
          <p:cNvSpPr txBox="1"/>
          <p:nvPr/>
        </p:nvSpPr>
        <p:spPr>
          <a:xfrm>
            <a:off x="548640" y="2606040"/>
            <a:ext cx="11091672" cy="548640"/>
          </a:xfrm>
          <a:prstGeom prst="rect">
            <a:avLst/>
          </a:prstGeom>
          <a:noFill/>
          <a:ln/>
        </p:spPr>
        <p:txBody>
          <a:bodyPr wrap="square" lIns="508" tIns="508" rIns="508" bIns="508" rtlCol="0" anchor="t"/>
          <a:lstStyle/>
          <a:p>
            <a:pPr marL="0" indent="0">
              <a:spcAft>
                <a:spcPts val="600"/>
              </a:spcAft>
              <a:buNone/>
            </a:pPr>
            <a:r>
              <a:rPr lang="en-US" sz="1300" dirty="0">
                <a:solidFill>
                  <a:schemeClr val="accent6"/>
                </a:solidFill>
              </a:rPr>
              <a:t>Shared term </a:t>
            </a:r>
            <a:r>
              <a:rPr lang="en-US" sz="1300" b="1" dirty="0">
                <a:solidFill>
                  <a:schemeClr val="accent6"/>
                </a:solidFill>
              </a:rPr>
              <a:t>APAR</a:t>
            </a:r>
            <a:r>
              <a:rPr lang="en-US" sz="1300" dirty="0">
                <a:solidFill>
                  <a:schemeClr val="accent6"/>
                </a:solidFill>
              </a:rPr>
              <a:t> (absorbed photosynthetically active radiation) explains much of the correlation. LUE = light-use efficiency; Φ</a:t>
            </a:r>
            <a:r>
              <a:rPr lang="en-US" sz="1300" baseline="-40000" dirty="0">
                <a:solidFill>
                  <a:schemeClr val="accent6"/>
                </a:solidFill>
              </a:rPr>
              <a:t>F</a:t>
            </a:r>
            <a:r>
              <a:rPr lang="en-US" sz="1300" dirty="0">
                <a:solidFill>
                  <a:schemeClr val="accent6"/>
                </a:solidFill>
              </a:rPr>
              <a:t> = fluorescence yield; f</a:t>
            </a:r>
            <a:r>
              <a:rPr lang="en-US" sz="1300" baseline="-40000" dirty="0">
                <a:solidFill>
                  <a:schemeClr val="accent6"/>
                </a:solidFill>
              </a:rPr>
              <a:t>esc</a:t>
            </a:r>
            <a:r>
              <a:rPr lang="en-US" sz="1300" dirty="0">
                <a:solidFill>
                  <a:schemeClr val="accent6"/>
                </a:solidFill>
              </a:rPr>
              <a:t> = escape probability.</a:t>
            </a:r>
            <a:endParaRPr lang="en-US" sz="1300" dirty="0"/>
          </a:p>
        </p:txBody>
      </p:sp>
      <p:sp>
        <p:nvSpPr>
          <p:cNvPr id="9" name="card"/>
          <p:cNvSpPr/>
          <p:nvPr/>
        </p:nvSpPr>
        <p:spPr>
          <a:xfrm>
            <a:off x="548640" y="3291840"/>
            <a:ext cx="3566160" cy="2880360"/>
          </a:xfrm>
          <a:prstGeom prst="roundRect">
            <a:avLst>
              <a:gd name="adj" fmla="val 2540"/>
            </a:avLst>
          </a:prstGeom>
          <a:solidFill>
            <a:schemeClr val="bg2"/>
          </a:solidFill>
          <a:ln/>
          <a:effectLst>
            <a:outerShdw blurRad="76200" dist="25400" dir="5400000" algn="bl" rotWithShape="0">
              <a:srgbClr val="000000">
                <a:alpha val="14000"/>
              </a:srgbClr>
            </a:outerShdw>
          </a:effectLst>
        </p:spPr>
      </p:sp>
      <p:sp>
        <p:nvSpPr>
          <p:cNvPr id="10" name="icon circle"/>
          <p:cNvSpPr/>
          <p:nvPr/>
        </p:nvSpPr>
        <p:spPr>
          <a:xfrm>
            <a:off x="731520" y="3447288"/>
            <a:ext cx="420624" cy="420624"/>
          </a:xfrm>
          <a:prstGeom prst="ellipse">
            <a:avLst/>
          </a:prstGeom>
          <a:solidFill>
            <a:schemeClr val="accent1"/>
          </a:solidFill>
          <a:ln/>
        </p:spPr>
      </p:sp>
      <p:pic>
        <p:nvPicPr>
          <p:cNvPr id="11" name="Image 0" descr="ChartLine icon"/>
          <p:cNvPicPr>
            <a:picLocks noChangeAspect="1"/>
          </p:cNvPicPr>
          <p:nvPr/>
        </p:nvPicPr>
        <p:blipFill>
          <a:blip r:embed="rId3"/>
          <a:stretch>
            <a:fillRect/>
          </a:stretch>
        </p:blipFill>
        <p:spPr>
          <a:xfrm>
            <a:off x="840882" y="3556650"/>
            <a:ext cx="201900" cy="201900"/>
          </a:xfrm>
          <a:prstGeom prst="rect">
            <a:avLst/>
          </a:prstGeom>
        </p:spPr>
      </p:pic>
      <p:sp>
        <p:nvSpPr>
          <p:cNvPr id="12" name="Text 8"/>
          <p:cNvSpPr txBox="1"/>
          <p:nvPr/>
        </p:nvSpPr>
        <p:spPr>
          <a:xfrm>
            <a:off x="1261872" y="3429000"/>
            <a:ext cx="2715768" cy="457200"/>
          </a:xfrm>
          <a:prstGeom prst="rect">
            <a:avLst/>
          </a:prstGeom>
          <a:noFill/>
          <a:ln/>
        </p:spPr>
        <p:txBody>
          <a:bodyPr wrap="square" lIns="0" tIns="0" rIns="0" bIns="0" rtlCol="0" anchor="ctr"/>
          <a:lstStyle/>
          <a:p>
            <a:pPr marL="0" indent="0">
              <a:buNone/>
            </a:pPr>
            <a:r>
              <a:rPr lang="en-US" sz="1600" b="1" dirty="0">
                <a:solidFill>
                  <a:schemeClr val="tx2"/>
                </a:solidFill>
              </a:rPr>
              <a:t>What studies show</a:t>
            </a:r>
            <a:endParaRPr lang="en-US" sz="1600" dirty="0"/>
          </a:p>
        </p:txBody>
      </p:sp>
      <p:sp>
        <p:nvSpPr>
          <p:cNvPr id="13" name="Text 9"/>
          <p:cNvSpPr txBox="1"/>
          <p:nvPr/>
        </p:nvSpPr>
        <p:spPr>
          <a:xfrm>
            <a:off x="731520" y="3977640"/>
            <a:ext cx="3200400" cy="210312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Strong far-red SIF–GPP correlation from tower to satellite</a:t>
            </a:r>
            <a:endParaRPr lang="en-US" sz="1300" dirty="0"/>
          </a:p>
          <a:p>
            <a:pPr marL="177800" indent="-177800">
              <a:spcAft>
                <a:spcPts val="400"/>
              </a:spcAft>
              <a:buSzPct val="100000"/>
              <a:buChar char="•"/>
            </a:pPr>
            <a:r>
              <a:rPr lang="en-US" sz="1300" dirty="0">
                <a:solidFill>
                  <a:schemeClr val="tx1"/>
                </a:solidFill>
              </a:rPr>
              <a:t>Mostly driven by APAR &amp; chlorophyll</a:t>
            </a:r>
            <a:endParaRPr lang="en-US" sz="1300" dirty="0"/>
          </a:p>
          <a:p>
            <a:pPr marL="177800" indent="-177800">
              <a:spcAft>
                <a:spcPts val="400"/>
              </a:spcAft>
              <a:buSzPct val="100000"/>
              <a:buChar char="•"/>
            </a:pPr>
            <a:r>
              <a:rPr lang="en-US" sz="1300" dirty="0">
                <a:solidFill>
                  <a:schemeClr val="tx1"/>
                </a:solidFill>
              </a:rPr>
              <a:t>At constant APAR, SIF explained </a:t>
            </a:r>
            <a:r>
              <a:rPr lang="en-US" sz="1300" b="1" dirty="0">
                <a:solidFill>
                  <a:schemeClr val="tx1"/>
                </a:solidFill>
              </a:rPr>
              <a:t>&lt;35 %</a:t>
            </a:r>
            <a:r>
              <a:rPr lang="en-US" sz="1300" dirty="0">
                <a:solidFill>
                  <a:schemeClr val="tx1"/>
                </a:solidFill>
              </a:rPr>
              <a:t> of GPP variability (Wohlfahrt 2018)</a:t>
            </a:r>
            <a:endParaRPr lang="en-US" sz="1300" dirty="0"/>
          </a:p>
        </p:txBody>
      </p:sp>
      <p:sp>
        <p:nvSpPr>
          <p:cNvPr id="14" name="card"/>
          <p:cNvSpPr/>
          <p:nvPr/>
        </p:nvSpPr>
        <p:spPr>
          <a:xfrm>
            <a:off x="4315968" y="3291840"/>
            <a:ext cx="3566160" cy="2880360"/>
          </a:xfrm>
          <a:prstGeom prst="roundRect">
            <a:avLst>
              <a:gd name="adj" fmla="val 2540"/>
            </a:avLst>
          </a:prstGeom>
          <a:solidFill>
            <a:schemeClr val="bg2"/>
          </a:solidFill>
          <a:ln/>
          <a:effectLst>
            <a:outerShdw blurRad="76200" dist="25400" dir="5400000" algn="bl" rotWithShape="0">
              <a:srgbClr val="000000">
                <a:alpha val="14000"/>
              </a:srgbClr>
            </a:outerShdw>
          </a:effectLst>
        </p:spPr>
      </p:sp>
      <p:sp>
        <p:nvSpPr>
          <p:cNvPr id="15" name="icon circle"/>
          <p:cNvSpPr/>
          <p:nvPr/>
        </p:nvSpPr>
        <p:spPr>
          <a:xfrm>
            <a:off x="4498848" y="3447288"/>
            <a:ext cx="420624" cy="420624"/>
          </a:xfrm>
          <a:prstGeom prst="ellipse">
            <a:avLst/>
          </a:prstGeom>
          <a:solidFill>
            <a:schemeClr val="accent5"/>
          </a:solidFill>
          <a:ln/>
        </p:spPr>
      </p:sp>
      <p:pic>
        <p:nvPicPr>
          <p:cNvPr id="16" name="Image 1" descr="Seedling icon"/>
          <p:cNvPicPr>
            <a:picLocks noChangeAspect="1"/>
          </p:cNvPicPr>
          <p:nvPr/>
        </p:nvPicPr>
        <p:blipFill>
          <a:blip r:embed="rId4"/>
          <a:stretch>
            <a:fillRect/>
          </a:stretch>
        </p:blipFill>
        <p:spPr>
          <a:xfrm>
            <a:off x="4608210" y="3556650"/>
            <a:ext cx="201900" cy="201900"/>
          </a:xfrm>
          <a:prstGeom prst="rect">
            <a:avLst/>
          </a:prstGeom>
        </p:spPr>
      </p:pic>
      <p:sp>
        <p:nvSpPr>
          <p:cNvPr id="17" name="Text 12"/>
          <p:cNvSpPr txBox="1"/>
          <p:nvPr/>
        </p:nvSpPr>
        <p:spPr>
          <a:xfrm>
            <a:off x="5029200" y="3429000"/>
            <a:ext cx="2715768" cy="457200"/>
          </a:xfrm>
          <a:prstGeom prst="rect">
            <a:avLst/>
          </a:prstGeom>
          <a:noFill/>
          <a:ln/>
        </p:spPr>
        <p:txBody>
          <a:bodyPr wrap="square" lIns="0" tIns="0" rIns="0" bIns="0" rtlCol="0" anchor="ctr"/>
          <a:lstStyle/>
          <a:p>
            <a:pPr marL="0" indent="0">
              <a:buNone/>
            </a:pPr>
            <a:r>
              <a:rPr lang="en-US" sz="1600" b="1" dirty="0">
                <a:solidFill>
                  <a:schemeClr val="tx2"/>
                </a:solidFill>
              </a:rPr>
              <a:t>Shape of the relation</a:t>
            </a:r>
            <a:endParaRPr lang="en-US" sz="1600" dirty="0"/>
          </a:p>
        </p:txBody>
      </p:sp>
      <p:sp>
        <p:nvSpPr>
          <p:cNvPr id="18" name="Text 13"/>
          <p:cNvSpPr txBox="1"/>
          <p:nvPr/>
        </p:nvSpPr>
        <p:spPr>
          <a:xfrm>
            <a:off x="4498848" y="3977640"/>
            <a:ext cx="3200400" cy="210312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Hyperbolic on stress-free days, linear under stress</a:t>
            </a:r>
            <a:endParaRPr lang="en-US" sz="1300" dirty="0"/>
          </a:p>
          <a:p>
            <a:pPr marL="177800" indent="-177800">
              <a:spcAft>
                <a:spcPts val="400"/>
              </a:spcAft>
              <a:buSzPct val="100000"/>
              <a:buChar char="•"/>
            </a:pPr>
            <a:r>
              <a:rPr lang="en-US" sz="1300" dirty="0">
                <a:solidFill>
                  <a:schemeClr val="tx1"/>
                </a:solidFill>
              </a:rPr>
              <a:t>Becomes linear when aggregated over space/time</a:t>
            </a:r>
            <a:endParaRPr lang="en-US" sz="1300" dirty="0"/>
          </a:p>
          <a:p>
            <a:pPr marL="177800" indent="-177800">
              <a:spcAft>
                <a:spcPts val="400"/>
              </a:spcAft>
              <a:buSzPct val="100000"/>
              <a:buChar char="•"/>
            </a:pPr>
            <a:r>
              <a:rPr lang="en-US" sz="1300" dirty="0">
                <a:solidFill>
                  <a:schemeClr val="tx1"/>
                </a:solidFill>
              </a:rPr>
              <a:t>Differs for C₃ vs C₄ (e.g. Indo-Gangetic Plains)</a:t>
            </a:r>
            <a:endParaRPr lang="en-US" sz="1300" dirty="0"/>
          </a:p>
        </p:txBody>
      </p:sp>
      <p:sp>
        <p:nvSpPr>
          <p:cNvPr id="19" name="card"/>
          <p:cNvSpPr/>
          <p:nvPr/>
        </p:nvSpPr>
        <p:spPr>
          <a:xfrm>
            <a:off x="8083296" y="3291840"/>
            <a:ext cx="3557016" cy="2880360"/>
          </a:xfrm>
          <a:prstGeom prst="roundRect">
            <a:avLst>
              <a:gd name="adj" fmla="val 2540"/>
            </a:avLst>
          </a:prstGeom>
          <a:solidFill>
            <a:schemeClr val="bg2"/>
          </a:solidFill>
          <a:ln/>
          <a:effectLst>
            <a:outerShdw blurRad="76200" dist="25400" dir="5400000" algn="bl" rotWithShape="0">
              <a:srgbClr val="000000">
                <a:alpha val="14000"/>
              </a:srgbClr>
            </a:outerShdw>
          </a:effectLst>
        </p:spPr>
      </p:sp>
      <p:sp>
        <p:nvSpPr>
          <p:cNvPr id="20" name="icon circle"/>
          <p:cNvSpPr/>
          <p:nvPr/>
        </p:nvSpPr>
        <p:spPr>
          <a:xfrm>
            <a:off x="8266176" y="3447288"/>
            <a:ext cx="420624" cy="420624"/>
          </a:xfrm>
          <a:prstGeom prst="ellipse">
            <a:avLst/>
          </a:prstGeom>
          <a:solidFill>
            <a:schemeClr val="accent3"/>
          </a:solidFill>
          <a:ln/>
        </p:spPr>
      </p:sp>
      <p:pic>
        <p:nvPicPr>
          <p:cNvPr id="21" name="Image 2" descr="Fire icon"/>
          <p:cNvPicPr>
            <a:picLocks noChangeAspect="1"/>
          </p:cNvPicPr>
          <p:nvPr/>
        </p:nvPicPr>
        <p:blipFill>
          <a:blip r:embed="rId5"/>
          <a:stretch>
            <a:fillRect/>
          </a:stretch>
        </p:blipFill>
        <p:spPr>
          <a:xfrm>
            <a:off x="8375538" y="3556650"/>
            <a:ext cx="201900" cy="201900"/>
          </a:xfrm>
          <a:prstGeom prst="rect">
            <a:avLst/>
          </a:prstGeom>
        </p:spPr>
      </p:pic>
      <p:sp>
        <p:nvSpPr>
          <p:cNvPr id="22" name="Text 16"/>
          <p:cNvSpPr txBox="1"/>
          <p:nvPr/>
        </p:nvSpPr>
        <p:spPr>
          <a:xfrm>
            <a:off x="8796528" y="3429000"/>
            <a:ext cx="2706624" cy="457200"/>
          </a:xfrm>
          <a:prstGeom prst="rect">
            <a:avLst/>
          </a:prstGeom>
          <a:noFill/>
          <a:ln/>
        </p:spPr>
        <p:txBody>
          <a:bodyPr wrap="square" lIns="0" tIns="0" rIns="0" bIns="0" rtlCol="0" anchor="ctr"/>
          <a:lstStyle/>
          <a:p>
            <a:pPr marL="0" indent="0">
              <a:buNone/>
            </a:pPr>
            <a:r>
              <a:rPr lang="en-US" sz="1600" b="1" dirty="0">
                <a:solidFill>
                  <a:schemeClr val="tx2"/>
                </a:solidFill>
              </a:rPr>
              <a:t>Why NPQ matters</a:t>
            </a:r>
            <a:endParaRPr lang="en-US" sz="1600" dirty="0"/>
          </a:p>
        </p:txBody>
      </p:sp>
      <p:sp>
        <p:nvSpPr>
          <p:cNvPr id="23" name="Text 17"/>
          <p:cNvSpPr txBox="1"/>
          <p:nvPr/>
        </p:nvSpPr>
        <p:spPr>
          <a:xfrm>
            <a:off x="8266176" y="3977640"/>
            <a:ext cx="3191256" cy="210312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In high light NPQ diverts energy from both P and F</a:t>
            </a:r>
            <a:endParaRPr lang="en-US" sz="1300" dirty="0"/>
          </a:p>
          <a:p>
            <a:pPr marL="177800" indent="-177800">
              <a:spcAft>
                <a:spcPts val="400"/>
              </a:spcAft>
              <a:buSzPct val="100000"/>
              <a:buChar char="•"/>
            </a:pPr>
            <a:r>
              <a:rPr lang="en-US" sz="1300" dirty="0">
                <a:solidFill>
                  <a:schemeClr val="tx1"/>
                </a:solidFill>
              </a:rPr>
              <a:t>Midday depression of far-red SIF linked to NPQ</a:t>
            </a:r>
            <a:endParaRPr lang="en-US" sz="1300" dirty="0"/>
          </a:p>
          <a:p>
            <a:pPr marL="177800" indent="-177800">
              <a:spcAft>
                <a:spcPts val="400"/>
              </a:spcAft>
              <a:buSzPct val="100000"/>
              <a:buChar char="•"/>
            </a:pPr>
            <a:r>
              <a:rPr lang="en-US" sz="1300" dirty="0">
                <a:solidFill>
                  <a:schemeClr val="tx1"/>
                </a:solidFill>
              </a:rPr>
              <a:t>PRI (531 nm) helps track NPQ alongside SIF</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Measurement platforms: leaf to aircraft</a:t>
            </a:r>
            <a:endParaRPr lang="en-US" sz="3200" dirty="0"/>
          </a:p>
        </p:txBody>
      </p:sp>
      <p:sp>
        <p:nvSpPr>
          <p:cNvPr id="4" name="figure frame"/>
          <p:cNvSpPr/>
          <p:nvPr/>
        </p:nvSpPr>
        <p:spPr>
          <a:xfrm>
            <a:off x="548640" y="1325880"/>
            <a:ext cx="6035040" cy="3154680"/>
          </a:xfrm>
          <a:prstGeom prst="roundRect">
            <a:avLst>
              <a:gd name="adj" fmla="val 1739"/>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5" name="Image 0" descr="Mohammed et al. (2019), Fig. 9 — trade-offs of hand-held, top-of-canopy and airborne instruments"/>
          <p:cNvPicPr>
            <a:picLocks noChangeAspect="1"/>
          </p:cNvPicPr>
          <p:nvPr/>
        </p:nvPicPr>
        <p:blipFill>
          <a:blip r:embed="rId3"/>
          <a:stretch>
            <a:fillRect/>
          </a:stretch>
        </p:blipFill>
        <p:spPr>
          <a:xfrm>
            <a:off x="901019" y="1417320"/>
            <a:ext cx="5330283" cy="2971800"/>
          </a:xfrm>
          <a:prstGeom prst="rect">
            <a:avLst/>
          </a:prstGeom>
        </p:spPr>
      </p:pic>
      <p:sp>
        <p:nvSpPr>
          <p:cNvPr id="6" name="Text 2"/>
          <p:cNvSpPr txBox="1"/>
          <p:nvPr/>
        </p:nvSpPr>
        <p:spPr>
          <a:xfrm>
            <a:off x="548640" y="4526280"/>
            <a:ext cx="6035040" cy="365760"/>
          </a:xfrm>
          <a:prstGeom prst="rect">
            <a:avLst/>
          </a:prstGeom>
          <a:noFill/>
          <a:ln/>
        </p:spPr>
        <p:txBody>
          <a:bodyPr wrap="square" lIns="0" tIns="0" rIns="0" bIns="0" rtlCol="0" anchor="t"/>
          <a:lstStyle/>
          <a:p>
            <a:pPr marL="0" indent="0">
              <a:buNone/>
            </a:pPr>
            <a:r>
              <a:rPr lang="en-US" sz="1100" i="1" dirty="0">
                <a:solidFill>
                  <a:schemeClr val="accent6"/>
                </a:solidFill>
              </a:rPr>
              <a:t>Mohammed et al. (2019), Fig. 9 — trade-offs of hand-held, top-of-canopy and airborne instruments</a:t>
            </a:r>
            <a:endParaRPr lang="en-US" sz="1100" dirty="0"/>
          </a:p>
        </p:txBody>
      </p:sp>
      <p:sp>
        <p:nvSpPr>
          <p:cNvPr id="7" name="card"/>
          <p:cNvSpPr/>
          <p:nvPr/>
        </p:nvSpPr>
        <p:spPr>
          <a:xfrm>
            <a:off x="6812280" y="1325880"/>
            <a:ext cx="4828032" cy="1115568"/>
          </a:xfrm>
          <a:prstGeom prst="roundRect">
            <a:avLst>
              <a:gd name="adj" fmla="val 6557"/>
            </a:avLst>
          </a:prstGeom>
          <a:solidFill>
            <a:schemeClr val="bg2"/>
          </a:solidFill>
          <a:ln/>
          <a:effectLst>
            <a:outerShdw blurRad="76200" dist="25400" dir="5400000" algn="bl" rotWithShape="0">
              <a:srgbClr val="000000">
                <a:alpha val="14000"/>
              </a:srgbClr>
            </a:outerShdw>
          </a:effectLst>
        </p:spPr>
      </p:sp>
      <p:sp>
        <p:nvSpPr>
          <p:cNvPr id="8" name="icon circle"/>
          <p:cNvSpPr/>
          <p:nvPr/>
        </p:nvSpPr>
        <p:spPr>
          <a:xfrm>
            <a:off x="6995160" y="1481328"/>
            <a:ext cx="420624" cy="420624"/>
          </a:xfrm>
          <a:prstGeom prst="ellipse">
            <a:avLst/>
          </a:prstGeom>
          <a:solidFill>
            <a:schemeClr val="accent1"/>
          </a:solidFill>
          <a:ln/>
        </p:spPr>
      </p:sp>
      <p:pic>
        <p:nvPicPr>
          <p:cNvPr id="9" name="Image 1" descr="HandPaper icon"/>
          <p:cNvPicPr>
            <a:picLocks noChangeAspect="1"/>
          </p:cNvPicPr>
          <p:nvPr/>
        </p:nvPicPr>
        <p:blipFill>
          <a:blip r:embed="rId4"/>
          <a:stretch>
            <a:fillRect/>
          </a:stretch>
        </p:blipFill>
        <p:spPr>
          <a:xfrm>
            <a:off x="7104522" y="1590690"/>
            <a:ext cx="201900" cy="201900"/>
          </a:xfrm>
          <a:prstGeom prst="rect">
            <a:avLst/>
          </a:prstGeom>
        </p:spPr>
      </p:pic>
      <p:sp>
        <p:nvSpPr>
          <p:cNvPr id="10" name="Text 5"/>
          <p:cNvSpPr txBox="1"/>
          <p:nvPr/>
        </p:nvSpPr>
        <p:spPr>
          <a:xfrm>
            <a:off x="7525512" y="1463040"/>
            <a:ext cx="3977640" cy="457200"/>
          </a:xfrm>
          <a:prstGeom prst="rect">
            <a:avLst/>
          </a:prstGeom>
          <a:noFill/>
          <a:ln/>
        </p:spPr>
        <p:txBody>
          <a:bodyPr wrap="square" lIns="0" tIns="0" rIns="0" bIns="0" rtlCol="0" anchor="ctr"/>
          <a:lstStyle/>
          <a:p>
            <a:pPr marL="0" indent="0">
              <a:buNone/>
            </a:pPr>
            <a:r>
              <a:rPr lang="en-US" sz="1400" b="1" dirty="0">
                <a:solidFill>
                  <a:schemeClr val="tx2"/>
                </a:solidFill>
              </a:rPr>
              <a:t>Hand-held leaf</a:t>
            </a:r>
            <a:endParaRPr lang="en-US" sz="1400" dirty="0"/>
          </a:p>
        </p:txBody>
      </p:sp>
      <p:sp>
        <p:nvSpPr>
          <p:cNvPr id="11" name="Text 6"/>
          <p:cNvSpPr txBox="1"/>
          <p:nvPr/>
        </p:nvSpPr>
        <p:spPr>
          <a:xfrm>
            <a:off x="6995160" y="2011680"/>
            <a:ext cx="4462272" cy="338328"/>
          </a:xfrm>
          <a:prstGeom prst="rect">
            <a:avLst/>
          </a:prstGeom>
          <a:noFill/>
          <a:ln/>
        </p:spPr>
        <p:txBody>
          <a:bodyPr wrap="square" lIns="508" tIns="508" rIns="508" bIns="508" rtlCol="0" anchor="t"/>
          <a:lstStyle/>
          <a:p>
            <a:pPr marL="0" indent="0">
              <a:spcAft>
                <a:spcPts val="400"/>
              </a:spcAft>
              <a:buNone/>
            </a:pPr>
            <a:r>
              <a:rPr lang="en-US" sz="1200" dirty="0">
                <a:solidFill>
                  <a:schemeClr val="tx1"/>
                </a:solidFill>
              </a:rPr>
              <a:t>FluoWat clip + spectrometer; full spectrum; up- or downward SIF</a:t>
            </a:r>
            <a:endParaRPr lang="en-US" sz="1200" dirty="0"/>
          </a:p>
        </p:txBody>
      </p:sp>
      <p:sp>
        <p:nvSpPr>
          <p:cNvPr id="12" name="card"/>
          <p:cNvSpPr/>
          <p:nvPr/>
        </p:nvSpPr>
        <p:spPr>
          <a:xfrm>
            <a:off x="6812280" y="2551176"/>
            <a:ext cx="4828032" cy="1115568"/>
          </a:xfrm>
          <a:prstGeom prst="roundRect">
            <a:avLst>
              <a:gd name="adj" fmla="val 6557"/>
            </a:avLst>
          </a:prstGeom>
          <a:solidFill>
            <a:schemeClr val="bg2"/>
          </a:solidFill>
          <a:ln/>
          <a:effectLst>
            <a:outerShdw blurRad="76200" dist="25400" dir="5400000" algn="bl" rotWithShape="0">
              <a:srgbClr val="000000">
                <a:alpha val="14000"/>
              </a:srgbClr>
            </a:outerShdw>
          </a:effectLst>
        </p:spPr>
      </p:sp>
      <p:sp>
        <p:nvSpPr>
          <p:cNvPr id="13" name="icon circle"/>
          <p:cNvSpPr/>
          <p:nvPr/>
        </p:nvSpPr>
        <p:spPr>
          <a:xfrm>
            <a:off x="6995160" y="2706624"/>
            <a:ext cx="420624" cy="420624"/>
          </a:xfrm>
          <a:prstGeom prst="ellipse">
            <a:avLst/>
          </a:prstGeom>
          <a:solidFill>
            <a:schemeClr val="accent1"/>
          </a:solidFill>
          <a:ln/>
        </p:spPr>
      </p:sp>
      <p:pic>
        <p:nvPicPr>
          <p:cNvPr id="14" name="Image 2" descr="BroadcastTower icon"/>
          <p:cNvPicPr>
            <a:picLocks noChangeAspect="1"/>
          </p:cNvPicPr>
          <p:nvPr/>
        </p:nvPicPr>
        <p:blipFill>
          <a:blip r:embed="rId5"/>
          <a:stretch>
            <a:fillRect/>
          </a:stretch>
        </p:blipFill>
        <p:spPr>
          <a:xfrm>
            <a:off x="7104522" y="2815986"/>
            <a:ext cx="201900" cy="201900"/>
          </a:xfrm>
          <a:prstGeom prst="rect">
            <a:avLst/>
          </a:prstGeom>
        </p:spPr>
      </p:pic>
      <p:sp>
        <p:nvSpPr>
          <p:cNvPr id="15" name="Text 9"/>
          <p:cNvSpPr txBox="1"/>
          <p:nvPr/>
        </p:nvSpPr>
        <p:spPr>
          <a:xfrm>
            <a:off x="7525512" y="2688336"/>
            <a:ext cx="3977640" cy="457200"/>
          </a:xfrm>
          <a:prstGeom prst="rect">
            <a:avLst/>
          </a:prstGeom>
          <a:noFill/>
          <a:ln/>
        </p:spPr>
        <p:txBody>
          <a:bodyPr wrap="square" lIns="0" tIns="0" rIns="0" bIns="0" rtlCol="0" anchor="ctr"/>
          <a:lstStyle/>
          <a:p>
            <a:pPr marL="0" indent="0">
              <a:buNone/>
            </a:pPr>
            <a:r>
              <a:rPr lang="en-US" sz="1400" b="1" dirty="0">
                <a:solidFill>
                  <a:schemeClr val="tx2"/>
                </a:solidFill>
              </a:rPr>
              <a:t>Top-of-canopy</a:t>
            </a:r>
            <a:endParaRPr lang="en-US" sz="1400" dirty="0"/>
          </a:p>
        </p:txBody>
      </p:sp>
      <p:sp>
        <p:nvSpPr>
          <p:cNvPr id="16" name="Text 10"/>
          <p:cNvSpPr txBox="1"/>
          <p:nvPr/>
        </p:nvSpPr>
        <p:spPr>
          <a:xfrm>
            <a:off x="6995160" y="3236976"/>
            <a:ext cx="4462272" cy="338328"/>
          </a:xfrm>
          <a:prstGeom prst="rect">
            <a:avLst/>
          </a:prstGeom>
          <a:noFill/>
          <a:ln/>
        </p:spPr>
        <p:txBody>
          <a:bodyPr wrap="square" lIns="508" tIns="508" rIns="508" bIns="508" rtlCol="0" anchor="t"/>
          <a:lstStyle/>
          <a:p>
            <a:pPr marL="0" indent="0">
              <a:spcAft>
                <a:spcPts val="400"/>
              </a:spcAft>
              <a:buNone/>
            </a:pPr>
            <a:r>
              <a:rPr lang="en-US" sz="1200" dirty="0">
                <a:solidFill>
                  <a:schemeClr val="tx1"/>
                </a:solidFill>
              </a:rPr>
              <a:t>FloX, FluoSpec (0.13 nm), PhotoSpec, AutoSIF, NASA FUSION; diurnal &amp; seasonal</a:t>
            </a:r>
            <a:endParaRPr lang="en-US" sz="1200" dirty="0"/>
          </a:p>
        </p:txBody>
      </p:sp>
      <p:sp>
        <p:nvSpPr>
          <p:cNvPr id="17" name="card"/>
          <p:cNvSpPr/>
          <p:nvPr/>
        </p:nvSpPr>
        <p:spPr>
          <a:xfrm>
            <a:off x="6812280" y="3776472"/>
            <a:ext cx="4828032" cy="1115568"/>
          </a:xfrm>
          <a:prstGeom prst="roundRect">
            <a:avLst>
              <a:gd name="adj" fmla="val 6557"/>
            </a:avLst>
          </a:prstGeom>
          <a:solidFill>
            <a:schemeClr val="bg2"/>
          </a:solidFill>
          <a:ln/>
          <a:effectLst>
            <a:outerShdw blurRad="76200" dist="25400" dir="5400000" algn="bl" rotWithShape="0">
              <a:srgbClr val="000000">
                <a:alpha val="14000"/>
              </a:srgbClr>
            </a:outerShdw>
          </a:effectLst>
        </p:spPr>
      </p:sp>
      <p:sp>
        <p:nvSpPr>
          <p:cNvPr id="18" name="icon circle"/>
          <p:cNvSpPr/>
          <p:nvPr/>
        </p:nvSpPr>
        <p:spPr>
          <a:xfrm>
            <a:off x="6995160" y="3931920"/>
            <a:ext cx="420624" cy="420624"/>
          </a:xfrm>
          <a:prstGeom prst="ellipse">
            <a:avLst/>
          </a:prstGeom>
          <a:solidFill>
            <a:schemeClr val="accent5"/>
          </a:solidFill>
          <a:ln/>
        </p:spPr>
      </p:sp>
      <p:pic>
        <p:nvPicPr>
          <p:cNvPr id="19" name="Image 3" descr="Plane icon"/>
          <p:cNvPicPr>
            <a:picLocks noChangeAspect="1"/>
          </p:cNvPicPr>
          <p:nvPr/>
        </p:nvPicPr>
        <p:blipFill>
          <a:blip r:embed="rId6"/>
          <a:stretch>
            <a:fillRect/>
          </a:stretch>
        </p:blipFill>
        <p:spPr>
          <a:xfrm>
            <a:off x="7104522" y="4041282"/>
            <a:ext cx="201900" cy="201900"/>
          </a:xfrm>
          <a:prstGeom prst="rect">
            <a:avLst/>
          </a:prstGeom>
        </p:spPr>
      </p:pic>
      <p:sp>
        <p:nvSpPr>
          <p:cNvPr id="20" name="Text 13"/>
          <p:cNvSpPr txBox="1"/>
          <p:nvPr/>
        </p:nvSpPr>
        <p:spPr>
          <a:xfrm>
            <a:off x="7525512" y="3913632"/>
            <a:ext cx="3977640" cy="457200"/>
          </a:xfrm>
          <a:prstGeom prst="rect">
            <a:avLst/>
          </a:prstGeom>
          <a:noFill/>
          <a:ln/>
        </p:spPr>
        <p:txBody>
          <a:bodyPr wrap="square" lIns="0" tIns="0" rIns="0" bIns="0" rtlCol="0" anchor="ctr"/>
          <a:lstStyle/>
          <a:p>
            <a:pPr marL="0" indent="0">
              <a:buNone/>
            </a:pPr>
            <a:r>
              <a:rPr lang="en-US" sz="1400" b="1" dirty="0">
                <a:solidFill>
                  <a:schemeClr val="tx2"/>
                </a:solidFill>
              </a:rPr>
              <a:t>UAV</a:t>
            </a:r>
            <a:endParaRPr lang="en-US" sz="1400" dirty="0"/>
          </a:p>
        </p:txBody>
      </p:sp>
      <p:sp>
        <p:nvSpPr>
          <p:cNvPr id="21" name="Text 14"/>
          <p:cNvSpPr txBox="1"/>
          <p:nvPr/>
        </p:nvSpPr>
        <p:spPr>
          <a:xfrm>
            <a:off x="6995160" y="4462272"/>
            <a:ext cx="4462272" cy="338328"/>
          </a:xfrm>
          <a:prstGeom prst="rect">
            <a:avLst/>
          </a:prstGeom>
          <a:noFill/>
          <a:ln/>
        </p:spPr>
        <p:txBody>
          <a:bodyPr wrap="square" lIns="508" tIns="508" rIns="508" bIns="508" rtlCol="0" anchor="t"/>
          <a:lstStyle/>
          <a:p>
            <a:pPr marL="0" indent="0">
              <a:spcAft>
                <a:spcPts val="400"/>
              </a:spcAft>
              <a:buNone/>
            </a:pPr>
            <a:r>
              <a:rPr lang="en-US" sz="1200" dirty="0">
                <a:solidFill>
                  <a:schemeClr val="tx1"/>
                </a:solidFill>
              </a:rPr>
              <a:t>AirSIF, HyUAS, Piccolo doppio; 30–40 cm pixels over tree crowns</a:t>
            </a:r>
            <a:endParaRPr lang="en-US" sz="1200" dirty="0"/>
          </a:p>
        </p:txBody>
      </p:sp>
      <p:sp>
        <p:nvSpPr>
          <p:cNvPr id="22" name="card"/>
          <p:cNvSpPr/>
          <p:nvPr/>
        </p:nvSpPr>
        <p:spPr>
          <a:xfrm>
            <a:off x="6812280" y="5001768"/>
            <a:ext cx="4828032" cy="1115568"/>
          </a:xfrm>
          <a:prstGeom prst="roundRect">
            <a:avLst>
              <a:gd name="adj" fmla="val 6557"/>
            </a:avLst>
          </a:prstGeom>
          <a:solidFill>
            <a:schemeClr val="bg2"/>
          </a:solidFill>
          <a:ln/>
          <a:effectLst>
            <a:outerShdw blurRad="76200" dist="25400" dir="5400000" algn="bl" rotWithShape="0">
              <a:srgbClr val="000000">
                <a:alpha val="14000"/>
              </a:srgbClr>
            </a:outerShdw>
          </a:effectLst>
        </p:spPr>
      </p:sp>
      <p:sp>
        <p:nvSpPr>
          <p:cNvPr id="23" name="icon circle"/>
          <p:cNvSpPr/>
          <p:nvPr/>
        </p:nvSpPr>
        <p:spPr>
          <a:xfrm>
            <a:off x="6995160" y="5157216"/>
            <a:ext cx="420624" cy="420624"/>
          </a:xfrm>
          <a:prstGeom prst="ellipse">
            <a:avLst/>
          </a:prstGeom>
          <a:solidFill>
            <a:schemeClr val="accent2"/>
          </a:solidFill>
          <a:ln/>
        </p:spPr>
      </p:sp>
      <p:pic>
        <p:nvPicPr>
          <p:cNvPr id="24" name="Image 4" descr="Plane icon"/>
          <p:cNvPicPr>
            <a:picLocks noChangeAspect="1"/>
          </p:cNvPicPr>
          <p:nvPr/>
        </p:nvPicPr>
        <p:blipFill>
          <a:blip r:embed="rId6"/>
          <a:stretch>
            <a:fillRect/>
          </a:stretch>
        </p:blipFill>
        <p:spPr>
          <a:xfrm>
            <a:off x="7104522" y="5266578"/>
            <a:ext cx="201900" cy="201900"/>
          </a:xfrm>
          <a:prstGeom prst="rect">
            <a:avLst/>
          </a:prstGeom>
        </p:spPr>
      </p:pic>
      <p:sp>
        <p:nvSpPr>
          <p:cNvPr id="25" name="Text 17"/>
          <p:cNvSpPr txBox="1"/>
          <p:nvPr/>
        </p:nvSpPr>
        <p:spPr>
          <a:xfrm>
            <a:off x="7525512" y="5138928"/>
            <a:ext cx="3977640" cy="457200"/>
          </a:xfrm>
          <a:prstGeom prst="rect">
            <a:avLst/>
          </a:prstGeom>
          <a:noFill/>
          <a:ln/>
        </p:spPr>
        <p:txBody>
          <a:bodyPr wrap="square" lIns="0" tIns="0" rIns="0" bIns="0" rtlCol="0" anchor="ctr"/>
          <a:lstStyle/>
          <a:p>
            <a:pPr marL="0" indent="0">
              <a:buNone/>
            </a:pPr>
            <a:r>
              <a:rPr lang="en-US" sz="1400" b="1" dirty="0">
                <a:solidFill>
                  <a:schemeClr val="tx2"/>
                </a:solidFill>
              </a:rPr>
              <a:t>Airborne</a:t>
            </a:r>
            <a:endParaRPr lang="en-US" sz="1400" dirty="0"/>
          </a:p>
        </p:txBody>
      </p:sp>
      <p:sp>
        <p:nvSpPr>
          <p:cNvPr id="26" name="Text 18"/>
          <p:cNvSpPr txBox="1"/>
          <p:nvPr/>
        </p:nvSpPr>
        <p:spPr>
          <a:xfrm>
            <a:off x="6995160" y="5687568"/>
            <a:ext cx="4462272" cy="338328"/>
          </a:xfrm>
          <a:prstGeom prst="rect">
            <a:avLst/>
          </a:prstGeom>
          <a:noFill/>
          <a:ln/>
        </p:spPr>
        <p:txBody>
          <a:bodyPr wrap="square" lIns="508" tIns="508" rIns="508" bIns="508" rtlCol="0" anchor="t"/>
          <a:lstStyle/>
          <a:p>
            <a:pPr marL="0" indent="0">
              <a:spcAft>
                <a:spcPts val="400"/>
              </a:spcAft>
              <a:buNone/>
            </a:pPr>
            <a:r>
              <a:rPr lang="en-US" sz="1200" dirty="0">
                <a:solidFill>
                  <a:schemeClr val="tx1"/>
                </a:solidFill>
              </a:rPr>
              <a:t>AIRFLEX, </a:t>
            </a:r>
            <a:r>
              <a:rPr lang="en-US" sz="1200" b="1" dirty="0">
                <a:solidFill>
                  <a:schemeClr val="tx1"/>
                </a:solidFill>
              </a:rPr>
              <a:t>HyPlant</a:t>
            </a:r>
            <a:r>
              <a:rPr lang="en-US" sz="1200" dirty="0">
                <a:solidFill>
                  <a:schemeClr val="tx1"/>
                </a:solidFill>
              </a:rPr>
              <a:t> (FLEX demonstrator), </a:t>
            </a:r>
            <a:r>
              <a:rPr lang="en-US" sz="1200" b="1" dirty="0">
                <a:solidFill>
                  <a:schemeClr val="tx1"/>
                </a:solidFill>
              </a:rPr>
              <a:t>CFIS</a:t>
            </a:r>
            <a:r>
              <a:rPr lang="en-US" sz="1200" dirty="0">
                <a:solidFill>
                  <a:schemeClr val="tx1"/>
                </a:solidFill>
              </a:rPr>
              <a:t> (OCO-2 validation)</a:t>
            </a:r>
            <a:endParaRPr lang="en-US" sz="1200" dirty="0"/>
          </a:p>
        </p:txBody>
      </p:sp>
      <p:sp>
        <p:nvSpPr>
          <p:cNvPr id="27" name="card"/>
          <p:cNvSpPr/>
          <p:nvPr/>
        </p:nvSpPr>
        <p:spPr>
          <a:xfrm>
            <a:off x="548640" y="5029200"/>
            <a:ext cx="6035040" cy="1143000"/>
          </a:xfrm>
          <a:prstGeom prst="roundRect">
            <a:avLst>
              <a:gd name="adj" fmla="val 6400"/>
            </a:avLst>
          </a:prstGeom>
          <a:solidFill>
            <a:schemeClr val="bg2"/>
          </a:solidFill>
          <a:ln/>
        </p:spPr>
      </p:sp>
      <p:sp>
        <p:nvSpPr>
          <p:cNvPr id="28" name="Text 20"/>
          <p:cNvSpPr txBox="1"/>
          <p:nvPr/>
        </p:nvSpPr>
        <p:spPr>
          <a:xfrm>
            <a:off x="731520" y="5166360"/>
            <a:ext cx="5715000" cy="365760"/>
          </a:xfrm>
          <a:prstGeom prst="rect">
            <a:avLst/>
          </a:prstGeom>
          <a:noFill/>
          <a:ln/>
        </p:spPr>
        <p:txBody>
          <a:bodyPr wrap="square" lIns="0" tIns="0" rIns="0" bIns="0" rtlCol="0" anchor="ctr"/>
          <a:lstStyle/>
          <a:p>
            <a:pPr marL="0" indent="0">
              <a:buNone/>
            </a:pPr>
            <a:r>
              <a:rPr lang="en-US" sz="1600" b="1" dirty="0">
                <a:solidFill>
                  <a:schemeClr val="tx2"/>
                </a:solidFill>
              </a:rPr>
              <a:t>Trade-off</a:t>
            </a:r>
            <a:endParaRPr lang="en-US" sz="1600" dirty="0"/>
          </a:p>
        </p:txBody>
      </p:sp>
      <p:sp>
        <p:nvSpPr>
          <p:cNvPr id="29" name="Text 21"/>
          <p:cNvSpPr txBox="1"/>
          <p:nvPr/>
        </p:nvSpPr>
        <p:spPr>
          <a:xfrm>
            <a:off x="731520" y="5577840"/>
            <a:ext cx="5669280" cy="50292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Higher platforms → larger area and lower cost per area, but less physiological detail per pixel.</a:t>
            </a:r>
            <a:endParaRPr lang="en-US" sz="13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UAV and airborne SIF maps</a:t>
            </a:r>
            <a:endParaRPr lang="en-US" sz="3200" dirty="0"/>
          </a:p>
        </p:txBody>
      </p:sp>
      <p:sp>
        <p:nvSpPr>
          <p:cNvPr id="4" name="figure frame"/>
          <p:cNvSpPr/>
          <p:nvPr/>
        </p:nvSpPr>
        <p:spPr>
          <a:xfrm>
            <a:off x="548640" y="1325880"/>
            <a:ext cx="5440680" cy="3108960"/>
          </a:xfrm>
          <a:prstGeom prst="roundRect">
            <a:avLst>
              <a:gd name="adj" fmla="val 1765"/>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5" name="Image 0" descr="Fig. 10 — UAV SIF (O₂-A, 3FLD) over an olive orchard (left) and water-stressed citrus (right)"/>
          <p:cNvPicPr>
            <a:picLocks noChangeAspect="1"/>
          </p:cNvPicPr>
          <p:nvPr/>
        </p:nvPicPr>
        <p:blipFill>
          <a:blip r:embed="rId3"/>
          <a:stretch>
            <a:fillRect/>
          </a:stretch>
        </p:blipFill>
        <p:spPr>
          <a:xfrm>
            <a:off x="640080" y="1457161"/>
            <a:ext cx="5257800" cy="2846399"/>
          </a:xfrm>
          <a:prstGeom prst="rect">
            <a:avLst/>
          </a:prstGeom>
        </p:spPr>
      </p:pic>
      <p:sp>
        <p:nvSpPr>
          <p:cNvPr id="6" name="Text 2"/>
          <p:cNvSpPr txBox="1"/>
          <p:nvPr/>
        </p:nvSpPr>
        <p:spPr>
          <a:xfrm>
            <a:off x="548640" y="4480560"/>
            <a:ext cx="5440680" cy="365760"/>
          </a:xfrm>
          <a:prstGeom prst="rect">
            <a:avLst/>
          </a:prstGeom>
          <a:noFill/>
          <a:ln/>
        </p:spPr>
        <p:txBody>
          <a:bodyPr wrap="square" lIns="0" tIns="0" rIns="0" bIns="0" rtlCol="0" anchor="t"/>
          <a:lstStyle/>
          <a:p>
            <a:pPr marL="0" indent="0">
              <a:buNone/>
            </a:pPr>
            <a:r>
              <a:rPr lang="en-US" sz="1100" i="1" dirty="0">
                <a:solidFill>
                  <a:schemeClr val="accent6"/>
                </a:solidFill>
              </a:rPr>
              <a:t>Fig. 10 — UAV SIF (O₂-A, 3FLD) over an olive orchard (left) and water-stressed citrus (right)</a:t>
            </a:r>
            <a:endParaRPr lang="en-US" sz="1100" dirty="0"/>
          </a:p>
        </p:txBody>
      </p:sp>
      <p:sp>
        <p:nvSpPr>
          <p:cNvPr id="7" name="figure frame"/>
          <p:cNvSpPr/>
          <p:nvPr/>
        </p:nvSpPr>
        <p:spPr>
          <a:xfrm>
            <a:off x="6199632" y="1325880"/>
            <a:ext cx="5440680" cy="3108960"/>
          </a:xfrm>
          <a:prstGeom prst="roundRect">
            <a:avLst>
              <a:gd name="adj" fmla="val 1765"/>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8" name="Image 1" descr="Fig. 11 — HyPlant reflectance (top) vs F₇₆₀ SIF (bottom); fields A and B differ only in SIF"/>
          <p:cNvPicPr>
            <a:picLocks noChangeAspect="1"/>
          </p:cNvPicPr>
          <p:nvPr/>
        </p:nvPicPr>
        <p:blipFill>
          <a:blip r:embed="rId4"/>
          <a:stretch>
            <a:fillRect/>
          </a:stretch>
        </p:blipFill>
        <p:spPr>
          <a:xfrm>
            <a:off x="6291072" y="1555262"/>
            <a:ext cx="5257800" cy="2650196"/>
          </a:xfrm>
          <a:prstGeom prst="rect">
            <a:avLst/>
          </a:prstGeom>
        </p:spPr>
      </p:pic>
      <p:sp>
        <p:nvSpPr>
          <p:cNvPr id="9" name="Text 4"/>
          <p:cNvSpPr txBox="1"/>
          <p:nvPr/>
        </p:nvSpPr>
        <p:spPr>
          <a:xfrm>
            <a:off x="6199632" y="4480560"/>
            <a:ext cx="5440680" cy="365760"/>
          </a:xfrm>
          <a:prstGeom prst="rect">
            <a:avLst/>
          </a:prstGeom>
          <a:noFill/>
          <a:ln/>
        </p:spPr>
        <p:txBody>
          <a:bodyPr wrap="square" lIns="0" tIns="0" rIns="0" bIns="0" rtlCol="0" anchor="t"/>
          <a:lstStyle/>
          <a:p>
            <a:pPr marL="0" indent="0">
              <a:buNone/>
            </a:pPr>
            <a:r>
              <a:rPr lang="en-US" sz="1100" i="1" dirty="0">
                <a:solidFill>
                  <a:schemeClr val="accent6"/>
                </a:solidFill>
              </a:rPr>
              <a:t>Fig. 11 — HyPlant reflectance (top) vs F₇₆₀ SIF (bottom); fields A and B differ only in SIF</a:t>
            </a:r>
            <a:endParaRPr lang="en-US" sz="1100" dirty="0"/>
          </a:p>
        </p:txBody>
      </p:sp>
      <p:sp>
        <p:nvSpPr>
          <p:cNvPr id="10" name="card"/>
          <p:cNvSpPr/>
          <p:nvPr/>
        </p:nvSpPr>
        <p:spPr>
          <a:xfrm>
            <a:off x="548640" y="5029200"/>
            <a:ext cx="5440680" cy="1143000"/>
          </a:xfrm>
          <a:prstGeom prst="roundRect">
            <a:avLst>
              <a:gd name="adj" fmla="val 6400"/>
            </a:avLst>
          </a:prstGeom>
          <a:solidFill>
            <a:schemeClr val="bg2"/>
          </a:solidFill>
          <a:ln/>
          <a:effectLst>
            <a:outerShdw blurRad="76200" dist="25400" dir="5400000" algn="bl" rotWithShape="0">
              <a:srgbClr val="000000">
                <a:alpha val="14000"/>
              </a:srgbClr>
            </a:outerShdw>
          </a:effectLst>
        </p:spPr>
      </p:sp>
      <p:sp>
        <p:nvSpPr>
          <p:cNvPr id="11" name="icon circle"/>
          <p:cNvSpPr/>
          <p:nvPr/>
        </p:nvSpPr>
        <p:spPr>
          <a:xfrm>
            <a:off x="731520" y="5184648"/>
            <a:ext cx="420624" cy="420624"/>
          </a:xfrm>
          <a:prstGeom prst="ellipse">
            <a:avLst/>
          </a:prstGeom>
          <a:solidFill>
            <a:schemeClr val="accent5"/>
          </a:solidFill>
          <a:ln/>
        </p:spPr>
      </p:sp>
      <p:pic>
        <p:nvPicPr>
          <p:cNvPr id="12" name="Image 2" descr="Plane icon"/>
          <p:cNvPicPr>
            <a:picLocks noChangeAspect="1"/>
          </p:cNvPicPr>
          <p:nvPr/>
        </p:nvPicPr>
        <p:blipFill>
          <a:blip r:embed="rId5"/>
          <a:stretch>
            <a:fillRect/>
          </a:stretch>
        </p:blipFill>
        <p:spPr>
          <a:xfrm>
            <a:off x="840882" y="5294010"/>
            <a:ext cx="201900" cy="201900"/>
          </a:xfrm>
          <a:prstGeom prst="rect">
            <a:avLst/>
          </a:prstGeom>
        </p:spPr>
      </p:pic>
      <p:sp>
        <p:nvSpPr>
          <p:cNvPr id="13" name="Text 7"/>
          <p:cNvSpPr txBox="1"/>
          <p:nvPr/>
        </p:nvSpPr>
        <p:spPr>
          <a:xfrm>
            <a:off x="1261872" y="5166360"/>
            <a:ext cx="4590288" cy="457200"/>
          </a:xfrm>
          <a:prstGeom prst="rect">
            <a:avLst/>
          </a:prstGeom>
          <a:noFill/>
          <a:ln/>
        </p:spPr>
        <p:txBody>
          <a:bodyPr wrap="square" lIns="0" tIns="0" rIns="0" bIns="0" rtlCol="0" anchor="ctr"/>
          <a:lstStyle/>
          <a:p>
            <a:pPr marL="0" indent="0">
              <a:buNone/>
            </a:pPr>
            <a:r>
              <a:rPr lang="en-US" sz="1600" b="1" dirty="0">
                <a:solidFill>
                  <a:schemeClr val="tx2"/>
                </a:solidFill>
              </a:rPr>
              <a:t>UAV strength</a:t>
            </a:r>
            <a:endParaRPr lang="en-US" sz="1600" dirty="0"/>
          </a:p>
        </p:txBody>
      </p:sp>
      <p:sp>
        <p:nvSpPr>
          <p:cNvPr id="14" name="Text 8"/>
          <p:cNvSpPr txBox="1"/>
          <p:nvPr/>
        </p:nvSpPr>
        <p:spPr>
          <a:xfrm>
            <a:off x="731520" y="5715000"/>
            <a:ext cx="5074920" cy="36576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Very high spatial resolution, flexible on-demand flights; must stay light yet keep SNR.</a:t>
            </a:r>
            <a:endParaRPr lang="en-US" sz="1300" dirty="0"/>
          </a:p>
        </p:txBody>
      </p:sp>
      <p:sp>
        <p:nvSpPr>
          <p:cNvPr id="15" name="card"/>
          <p:cNvSpPr/>
          <p:nvPr/>
        </p:nvSpPr>
        <p:spPr>
          <a:xfrm>
            <a:off x="6199632" y="5029200"/>
            <a:ext cx="5440680" cy="1143000"/>
          </a:xfrm>
          <a:prstGeom prst="roundRect">
            <a:avLst>
              <a:gd name="adj" fmla="val 6400"/>
            </a:avLst>
          </a:prstGeom>
          <a:solidFill>
            <a:schemeClr val="bg2"/>
          </a:solidFill>
          <a:ln/>
          <a:effectLst>
            <a:outerShdw blurRad="76200" dist="25400" dir="5400000" algn="bl" rotWithShape="0">
              <a:srgbClr val="000000">
                <a:alpha val="14000"/>
              </a:srgbClr>
            </a:outerShdw>
          </a:effectLst>
        </p:spPr>
      </p:sp>
      <p:sp>
        <p:nvSpPr>
          <p:cNvPr id="16" name="icon circle"/>
          <p:cNvSpPr/>
          <p:nvPr/>
        </p:nvSpPr>
        <p:spPr>
          <a:xfrm>
            <a:off x="6382512" y="5184648"/>
            <a:ext cx="420624" cy="420624"/>
          </a:xfrm>
          <a:prstGeom prst="ellipse">
            <a:avLst/>
          </a:prstGeom>
          <a:solidFill>
            <a:schemeClr val="accent2"/>
          </a:solidFill>
          <a:ln/>
        </p:spPr>
      </p:sp>
      <p:pic>
        <p:nvPicPr>
          <p:cNvPr id="17" name="Image 3" descr="Eye icon"/>
          <p:cNvPicPr>
            <a:picLocks noChangeAspect="1"/>
          </p:cNvPicPr>
          <p:nvPr/>
        </p:nvPicPr>
        <p:blipFill>
          <a:blip r:embed="rId6"/>
          <a:stretch>
            <a:fillRect/>
          </a:stretch>
        </p:blipFill>
        <p:spPr>
          <a:xfrm>
            <a:off x="6491874" y="5294010"/>
            <a:ext cx="201900" cy="201900"/>
          </a:xfrm>
          <a:prstGeom prst="rect">
            <a:avLst/>
          </a:prstGeom>
        </p:spPr>
      </p:pic>
      <p:sp>
        <p:nvSpPr>
          <p:cNvPr id="18" name="Text 11"/>
          <p:cNvSpPr txBox="1"/>
          <p:nvPr/>
        </p:nvSpPr>
        <p:spPr>
          <a:xfrm>
            <a:off x="6912864" y="5166360"/>
            <a:ext cx="4590288" cy="457200"/>
          </a:xfrm>
          <a:prstGeom prst="rect">
            <a:avLst/>
          </a:prstGeom>
          <a:noFill/>
          <a:ln/>
        </p:spPr>
        <p:txBody>
          <a:bodyPr wrap="square" lIns="0" tIns="0" rIns="0" bIns="0" rtlCol="0" anchor="ctr"/>
          <a:lstStyle/>
          <a:p>
            <a:pPr marL="0" indent="0">
              <a:buNone/>
            </a:pPr>
            <a:r>
              <a:rPr lang="en-US" sz="1600" b="1" dirty="0">
                <a:solidFill>
                  <a:schemeClr val="tx2"/>
                </a:solidFill>
              </a:rPr>
              <a:t>Airborne strength</a:t>
            </a:r>
            <a:endParaRPr lang="en-US" sz="1600" dirty="0"/>
          </a:p>
        </p:txBody>
      </p:sp>
      <p:sp>
        <p:nvSpPr>
          <p:cNvPr id="19" name="Text 12"/>
          <p:cNvSpPr txBox="1"/>
          <p:nvPr/>
        </p:nvSpPr>
        <p:spPr>
          <a:xfrm>
            <a:off x="6382512" y="5715000"/>
            <a:ext cx="5074920" cy="36576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HyPlant: 0.25 nm resolution, 670–780 nm; maps both red and far-red SIF.</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Satellites that measure SIF</a:t>
            </a:r>
            <a:endParaRPr lang="en-US" sz="32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3803904"/>
        </p:xfrm>
        <a:graphic>
          <a:graphicData uri="http://schemas.openxmlformats.org/drawingml/2006/table">
            <a:tbl>
              <a:tblPr/>
              <a:tblGrid>
                <a:gridCol w="23317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gridCol w="1993392">
                  <a:extLst>
                    <a:ext uri="{9D8B030D-6E8A-4147-A177-3AD203B41FA5}">
                      <a16:colId xmlns:a16="http://schemas.microsoft.com/office/drawing/2014/main" val="20007"/>
                    </a:ext>
                  </a:extLst>
                </a:gridCol>
              </a:tblGrid>
              <a:tr h="475488">
                <a:tc>
                  <a:txBody>
                    <a:bodyPr/>
                    <a:lstStyle/>
                    <a:p>
                      <a:pPr marL="0" indent="0">
                        <a:buNone/>
                      </a:pPr>
                      <a:r>
                        <a:rPr lang="en-US" sz="1300" b="1" dirty="0">
                          <a:solidFill>
                            <a:schemeClr val="bg1"/>
                          </a:solidFill>
                        </a:rPr>
                        <a:t>Mission / sensor</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Status (2019)</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Footprint (km²)</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Overpass</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Repeat</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Range (nm)</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FWHM (nm)</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SIF</a:t>
                      </a:r>
                      <a:endParaRPr lang="en-US" sz="13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chemeClr val="accent2"/>
                          </a:solidFill>
                        </a:rPr>
                        <a:t>FLEX / FLORIS</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accent2"/>
                          </a:solidFill>
                        </a:rPr>
                        <a:t>Selected</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accent2"/>
                          </a:solidFill>
                        </a:rPr>
                        <a:t>0.3 × 0.3</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accent2"/>
                          </a:solidFill>
                        </a:rPr>
                        <a:t>10:00</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accent2"/>
                          </a:solidFill>
                        </a:rPr>
                        <a:t>27 day</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accent2"/>
                          </a:solidFill>
                        </a:rPr>
                        <a:t>500–780</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accent2"/>
                          </a:solidFill>
                        </a:rPr>
                        <a:t>0.3–2.0</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accent2"/>
                          </a:solidFill>
                        </a:rPr>
                        <a:t>Red, far-red, full, PRI</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chemeClr val="tx2"/>
                          </a:solidFill>
                        </a:rPr>
                        <a:t>Sentinel-5P / TROPOMI</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In orbit</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7 × 7</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13:30</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16 day†</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675–775 +</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0.5</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Far-red, full, (red)</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chemeClr val="tx2"/>
                          </a:solidFill>
                        </a:rPr>
                        <a:t>MetOp / GOME-2</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In orbit</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40 × 40 / 40 × 80</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09:30</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29 day†</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270–790</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0.5</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Far-red, full, (red)</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chemeClr val="tx2"/>
                          </a:solidFill>
                        </a:rPr>
                        <a:t>OCO-2</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In orbit</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1.3 × 2.25</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13:30</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16 day</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757–775</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0.04</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Far-red</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chemeClr val="tx2"/>
                          </a:solidFill>
                        </a:rPr>
                        <a:t>GOSAT / TANSO-FTS</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In orbit</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10 × 10</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13:00</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3 day</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758–775 +</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0.025</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Far-red</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chemeClr val="tx2"/>
                          </a:solidFill>
                        </a:rPr>
                        <a:t>TanSat / ACGS</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In orbit</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2 × 2</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13:30</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16 day</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758–778 +</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0.04</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Far-red</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chemeClr val="tx2"/>
                          </a:solidFill>
                        </a:rPr>
                        <a:t>TEMPO · Sentinel-4 · GeoCARB</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Selected (GEO)</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~3–8 km</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GEO</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hourly</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various</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0.05–0.6</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Far-red (± red)</a:t>
                      </a:r>
                      <a:endParaRPr lang="en-US" sz="1200" dirty="0"/>
                    </a:p>
                  </a:txBody>
                  <a:tcPr marL="73152" marR="73152" marT="27432" marB="27432" anchor="ctr">
                    <a:lnL w="6350" cap="flat" cmpd="sng" algn="ctr">
                      <a:solidFill>
                        <a:srgbClr val="D5DED8"/>
                      </a:solidFill>
                      <a:prstDash val="solid"/>
                      <a:round/>
                      <a:headEnd type="none" w="med" len="med"/>
                      <a:tailEnd type="none" w="med" len="med"/>
                    </a:lnL>
                    <a:lnR w="6350" cap="flat" cmpd="sng" algn="ctr">
                      <a:solidFill>
                        <a:srgbClr val="D5DED8"/>
                      </a:solidFill>
                      <a:prstDash val="solid"/>
                      <a:round/>
                      <a:headEnd type="none" w="med" len="med"/>
                      <a:tailEnd type="none" w="med" len="med"/>
                    </a:lnR>
                    <a:lnT w="6350" cap="flat" cmpd="sng" algn="ctr">
                      <a:solidFill>
                        <a:srgbClr val="D5DED8"/>
                      </a:solidFill>
                      <a:prstDash val="solid"/>
                      <a:round/>
                      <a:headEnd type="none" w="med" len="med"/>
                      <a:tailEnd type="none" w="med" len="med"/>
                    </a:lnT>
                    <a:lnB w="6350" cap="flat" cmpd="sng" algn="ctr">
                      <a:solidFill>
                        <a:srgbClr val="D5DED8"/>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bl>
          </a:graphicData>
        </a:graphic>
      </p:graphicFrame>
      <p:sp>
        <p:nvSpPr>
          <p:cNvPr id="5" name="Text 1"/>
          <p:cNvSpPr txBox="1"/>
          <p:nvPr/>
        </p:nvSpPr>
        <p:spPr>
          <a:xfrm>
            <a:off x="548640" y="5257800"/>
            <a:ext cx="11091672" cy="457200"/>
          </a:xfrm>
          <a:prstGeom prst="rect">
            <a:avLst/>
          </a:prstGeom>
          <a:noFill/>
          <a:ln/>
        </p:spPr>
        <p:txBody>
          <a:bodyPr wrap="square" lIns="508" tIns="508" rIns="508" bIns="508" rtlCol="0" anchor="t"/>
          <a:lstStyle/>
          <a:p>
            <a:pPr marL="0" indent="0">
              <a:spcAft>
                <a:spcPts val="600"/>
              </a:spcAft>
              <a:buNone/>
            </a:pPr>
            <a:r>
              <a:rPr lang="en-US" sz="1100" i="1" dirty="0">
                <a:solidFill>
                  <a:schemeClr val="accent6"/>
                </a:solidFill>
              </a:rPr>
              <a:t>Simplified from Table 3 of Mohammed et al. (2019). †Daily near-global coverage thanks to wide swaths; repeat cycle refers to identical orbit tracks. '+' = additional bands at longer wavelengths.</a:t>
            </a:r>
            <a:endParaRPr lang="en-US" sz="1100" dirty="0"/>
          </a:p>
        </p:txBody>
      </p:sp>
      <p:sp>
        <p:nvSpPr>
          <p:cNvPr id="6" name="card"/>
          <p:cNvSpPr/>
          <p:nvPr/>
        </p:nvSpPr>
        <p:spPr>
          <a:xfrm>
            <a:off x="548640" y="5623560"/>
            <a:ext cx="11091672" cy="548640"/>
          </a:xfrm>
          <a:prstGeom prst="roundRect">
            <a:avLst>
              <a:gd name="adj" fmla="val 13333"/>
            </a:avLst>
          </a:prstGeom>
          <a:solidFill>
            <a:schemeClr val="bg2"/>
          </a:solidFill>
          <a:ln/>
        </p:spPr>
      </p:sp>
      <p:sp>
        <p:nvSpPr>
          <p:cNvPr id="7" name="Text 3"/>
          <p:cNvSpPr txBox="1"/>
          <p:nvPr/>
        </p:nvSpPr>
        <p:spPr>
          <a:xfrm>
            <a:off x="731520" y="5760720"/>
            <a:ext cx="10771632" cy="365760"/>
          </a:xfrm>
          <a:prstGeom prst="rect">
            <a:avLst/>
          </a:prstGeom>
          <a:noFill/>
          <a:ln/>
        </p:spPr>
        <p:txBody>
          <a:bodyPr wrap="square" lIns="0" tIns="0" rIns="0" bIns="0" rtlCol="0" anchor="ctr"/>
          <a:lstStyle/>
          <a:p>
            <a:pPr marL="0" indent="0">
              <a:buNone/>
            </a:pPr>
            <a:r>
              <a:rPr lang="en-US" sz="1300" b="1" dirty="0">
                <a:solidFill>
                  <a:schemeClr val="tx2"/>
                </a:solidFill>
              </a:rPr>
              <a:t>Rule of thumb: high spectral resolution, high SNR, small footprint and frequent revisit cannot all be maximised at once.</a:t>
            </a:r>
            <a:endParaRPr lang="en-US" sz="1300" dirty="0"/>
          </a:p>
        </p:txBody>
      </p:sp>
      <p:sp>
        <p:nvSpPr>
          <p:cNvPr id="8" name="Text 4"/>
          <p:cNvSpPr txBox="1"/>
          <p:nvPr/>
        </p:nvSpPr>
        <p:spPr>
          <a:xfrm>
            <a:off x="731520" y="6172200"/>
            <a:ext cx="10725912" cy="0"/>
          </a:xfrm>
          <a:prstGeom prst="rect">
            <a:avLst/>
          </a:prstGeom>
          <a:noFill/>
          <a:ln/>
        </p:spPr>
        <p:txBody>
          <a:bodyPr wrap="square" lIns="508" tIns="508" rIns="508" bIns="508" rtlCol="0" anchor="t"/>
          <a:lstStyle/>
          <a:p>
            <a:pPr marL="0" indent="0">
              <a:spcAft>
                <a:spcPts val="400"/>
              </a:spcAft>
              <a:buNone/>
            </a:pPr>
            <a:r>
              <a:rPr lang="en-US" sz="1400" dirty="0">
                <a:solidFill>
                  <a:schemeClr val="tx1"/>
                </a:solidFill>
              </a:rPr>
              <a:t> </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Global far-red SIF from space</a:t>
            </a:r>
            <a:endParaRPr lang="en-US" sz="3200" dirty="0"/>
          </a:p>
        </p:txBody>
      </p:sp>
      <p:sp>
        <p:nvSpPr>
          <p:cNvPr id="4" name="figure frame"/>
          <p:cNvSpPr/>
          <p:nvPr/>
        </p:nvSpPr>
        <p:spPr>
          <a:xfrm>
            <a:off x="548640" y="1325880"/>
            <a:ext cx="7315200" cy="4434840"/>
          </a:xfrm>
          <a:prstGeom prst="roundRect">
            <a:avLst>
              <a:gd name="adj" fmla="val 1237"/>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5" name="Image 0" descr="Mohammed et al. (2019), Fig. 13 — 2009 annual average far-red SIF from GOME-2 (Joiner et al. 2013)"/>
          <p:cNvPicPr>
            <a:picLocks noChangeAspect="1"/>
          </p:cNvPicPr>
          <p:nvPr/>
        </p:nvPicPr>
        <p:blipFill>
          <a:blip r:embed="rId3"/>
          <a:stretch>
            <a:fillRect/>
          </a:stretch>
        </p:blipFill>
        <p:spPr>
          <a:xfrm>
            <a:off x="640080" y="1550082"/>
            <a:ext cx="7132320" cy="3986435"/>
          </a:xfrm>
          <a:prstGeom prst="rect">
            <a:avLst/>
          </a:prstGeom>
        </p:spPr>
      </p:pic>
      <p:sp>
        <p:nvSpPr>
          <p:cNvPr id="6" name="Text 2"/>
          <p:cNvSpPr txBox="1"/>
          <p:nvPr/>
        </p:nvSpPr>
        <p:spPr>
          <a:xfrm>
            <a:off x="548640" y="5806440"/>
            <a:ext cx="7315200" cy="365760"/>
          </a:xfrm>
          <a:prstGeom prst="rect">
            <a:avLst/>
          </a:prstGeom>
          <a:noFill/>
          <a:ln/>
        </p:spPr>
        <p:txBody>
          <a:bodyPr wrap="square" lIns="0" tIns="0" rIns="0" bIns="0" rtlCol="0" anchor="t"/>
          <a:lstStyle/>
          <a:p>
            <a:pPr marL="0" indent="0">
              <a:buNone/>
            </a:pPr>
            <a:r>
              <a:rPr lang="en-US" sz="1100" i="1" dirty="0">
                <a:solidFill>
                  <a:schemeClr val="accent6"/>
                </a:solidFill>
              </a:rPr>
              <a:t>Mohammed et al. (2019), Fig. 13 — 2009 annual average far-red SIF from GOME-2 (Joiner et al. 2013)</a:t>
            </a:r>
            <a:endParaRPr lang="en-US" sz="1100" dirty="0"/>
          </a:p>
        </p:txBody>
      </p:sp>
      <p:sp>
        <p:nvSpPr>
          <p:cNvPr id="7" name="card"/>
          <p:cNvSpPr/>
          <p:nvPr/>
        </p:nvSpPr>
        <p:spPr>
          <a:xfrm>
            <a:off x="8092440" y="1325880"/>
            <a:ext cx="3547872" cy="2331720"/>
          </a:xfrm>
          <a:prstGeom prst="roundRect">
            <a:avLst>
              <a:gd name="adj" fmla="val 3137"/>
            </a:avLst>
          </a:prstGeom>
          <a:solidFill>
            <a:schemeClr val="bg2"/>
          </a:solidFill>
          <a:ln/>
          <a:effectLst>
            <a:outerShdw blurRad="76200" dist="25400" dir="5400000" algn="bl" rotWithShape="0">
              <a:srgbClr val="000000">
                <a:alpha val="14000"/>
              </a:srgbClr>
            </a:outerShdw>
          </a:effectLst>
        </p:spPr>
      </p:sp>
      <p:sp>
        <p:nvSpPr>
          <p:cNvPr id="8" name="icon circle"/>
          <p:cNvSpPr/>
          <p:nvPr/>
        </p:nvSpPr>
        <p:spPr>
          <a:xfrm>
            <a:off x="8275320" y="1481328"/>
            <a:ext cx="420624" cy="420624"/>
          </a:xfrm>
          <a:prstGeom prst="ellipse">
            <a:avLst/>
          </a:prstGeom>
          <a:solidFill>
            <a:schemeClr val="accent1"/>
          </a:solidFill>
          <a:ln/>
        </p:spPr>
      </p:sp>
      <p:pic>
        <p:nvPicPr>
          <p:cNvPr id="9" name="Image 1" descr="GlobeAmericas icon"/>
          <p:cNvPicPr>
            <a:picLocks noChangeAspect="1"/>
          </p:cNvPicPr>
          <p:nvPr/>
        </p:nvPicPr>
        <p:blipFill>
          <a:blip r:embed="rId4"/>
          <a:stretch>
            <a:fillRect/>
          </a:stretch>
        </p:blipFill>
        <p:spPr>
          <a:xfrm>
            <a:off x="8384682" y="1590690"/>
            <a:ext cx="201900" cy="201900"/>
          </a:xfrm>
          <a:prstGeom prst="rect">
            <a:avLst/>
          </a:prstGeom>
        </p:spPr>
      </p:pic>
      <p:sp>
        <p:nvSpPr>
          <p:cNvPr id="10" name="Text 5"/>
          <p:cNvSpPr txBox="1"/>
          <p:nvPr/>
        </p:nvSpPr>
        <p:spPr>
          <a:xfrm>
            <a:off x="8805672" y="1463040"/>
            <a:ext cx="2697480" cy="457200"/>
          </a:xfrm>
          <a:prstGeom prst="rect">
            <a:avLst/>
          </a:prstGeom>
          <a:noFill/>
          <a:ln/>
        </p:spPr>
        <p:txBody>
          <a:bodyPr wrap="square" lIns="0" tIns="0" rIns="0" bIns="0" rtlCol="0" anchor="ctr"/>
          <a:lstStyle/>
          <a:p>
            <a:pPr marL="0" indent="0">
              <a:buNone/>
            </a:pPr>
            <a:r>
              <a:rPr lang="en-US" sz="1600" b="1" dirty="0">
                <a:solidFill>
                  <a:schemeClr val="tx2"/>
                </a:solidFill>
              </a:rPr>
              <a:t>Reading the map</a:t>
            </a:r>
            <a:endParaRPr lang="en-US" sz="1600" dirty="0"/>
          </a:p>
        </p:txBody>
      </p:sp>
      <p:sp>
        <p:nvSpPr>
          <p:cNvPr id="11" name="Text 6"/>
          <p:cNvSpPr txBox="1"/>
          <p:nvPr/>
        </p:nvSpPr>
        <p:spPr>
          <a:xfrm>
            <a:off x="8275320" y="2011680"/>
            <a:ext cx="3182112" cy="155448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Red/yellow: highest SIF (tropics, intensive cropland)</a:t>
            </a:r>
            <a:endParaRPr lang="en-US" sz="1300" dirty="0"/>
          </a:p>
          <a:p>
            <a:pPr marL="177800" indent="-177800">
              <a:spcAft>
                <a:spcPts val="400"/>
              </a:spcAft>
              <a:buSzPct val="100000"/>
              <a:buChar char="•"/>
            </a:pPr>
            <a:r>
              <a:rPr lang="en-US" sz="1300" dirty="0">
                <a:solidFill>
                  <a:schemeClr val="tx1"/>
                </a:solidFill>
              </a:rPr>
              <a:t>Black: deserts, ice — no vegetation</a:t>
            </a:r>
            <a:endParaRPr lang="en-US" sz="1300" dirty="0"/>
          </a:p>
          <a:p>
            <a:pPr marL="177800" indent="-177800">
              <a:spcAft>
                <a:spcPts val="400"/>
              </a:spcAft>
              <a:buSzPct val="100000"/>
              <a:buChar char="•"/>
            </a:pPr>
            <a:r>
              <a:rPr lang="en-US" sz="1300" dirty="0">
                <a:solidFill>
                  <a:schemeClr val="tx1"/>
                </a:solidFill>
              </a:rPr>
              <a:t>Seasonal maps reveal phenology and drought</a:t>
            </a:r>
            <a:endParaRPr lang="en-US" sz="1300" dirty="0"/>
          </a:p>
        </p:txBody>
      </p:sp>
      <p:sp>
        <p:nvSpPr>
          <p:cNvPr id="12" name="card"/>
          <p:cNvSpPr/>
          <p:nvPr/>
        </p:nvSpPr>
        <p:spPr>
          <a:xfrm>
            <a:off x="8092440" y="3794760"/>
            <a:ext cx="3547872" cy="2377440"/>
          </a:xfrm>
          <a:prstGeom prst="roundRect">
            <a:avLst>
              <a:gd name="adj" fmla="val 3077"/>
            </a:avLst>
          </a:prstGeom>
          <a:solidFill>
            <a:schemeClr val="bg2"/>
          </a:solidFill>
          <a:ln/>
          <a:effectLst>
            <a:outerShdw blurRad="76200" dist="25400" dir="5400000" algn="bl" rotWithShape="0">
              <a:srgbClr val="000000">
                <a:alpha val="14000"/>
              </a:srgbClr>
            </a:outerShdw>
          </a:effectLst>
        </p:spPr>
      </p:sp>
      <p:sp>
        <p:nvSpPr>
          <p:cNvPr id="13" name="icon circle"/>
          <p:cNvSpPr/>
          <p:nvPr/>
        </p:nvSpPr>
        <p:spPr>
          <a:xfrm>
            <a:off x="8275320" y="3950208"/>
            <a:ext cx="420624" cy="420624"/>
          </a:xfrm>
          <a:prstGeom prst="ellipse">
            <a:avLst/>
          </a:prstGeom>
          <a:solidFill>
            <a:schemeClr val="accent2"/>
          </a:solidFill>
          <a:ln/>
        </p:spPr>
      </p:sp>
      <p:pic>
        <p:nvPicPr>
          <p:cNvPr id="14" name="Image 2" descr="Satellite icon"/>
          <p:cNvPicPr>
            <a:picLocks noChangeAspect="1"/>
          </p:cNvPicPr>
          <p:nvPr/>
        </p:nvPicPr>
        <p:blipFill>
          <a:blip r:embed="rId5"/>
          <a:stretch>
            <a:fillRect/>
          </a:stretch>
        </p:blipFill>
        <p:spPr>
          <a:xfrm>
            <a:off x="8384682" y="4059570"/>
            <a:ext cx="201900" cy="201900"/>
          </a:xfrm>
          <a:prstGeom prst="rect">
            <a:avLst/>
          </a:prstGeom>
        </p:spPr>
      </p:pic>
      <p:sp>
        <p:nvSpPr>
          <p:cNvPr id="15" name="Text 9"/>
          <p:cNvSpPr txBox="1"/>
          <p:nvPr/>
        </p:nvSpPr>
        <p:spPr>
          <a:xfrm>
            <a:off x="8805672" y="3931920"/>
            <a:ext cx="2697480" cy="457200"/>
          </a:xfrm>
          <a:prstGeom prst="rect">
            <a:avLst/>
          </a:prstGeom>
          <a:noFill/>
          <a:ln/>
        </p:spPr>
        <p:txBody>
          <a:bodyPr wrap="square" lIns="0" tIns="0" rIns="0" bIns="0" rtlCol="0" anchor="ctr"/>
          <a:lstStyle/>
          <a:p>
            <a:pPr marL="0" indent="0">
              <a:buNone/>
            </a:pPr>
            <a:r>
              <a:rPr lang="en-US" sz="1600" b="1" dirty="0">
                <a:solidFill>
                  <a:schemeClr val="tx2"/>
                </a:solidFill>
              </a:rPr>
              <a:t>Satellite findings</a:t>
            </a:r>
            <a:endParaRPr lang="en-US" sz="1600" dirty="0"/>
          </a:p>
        </p:txBody>
      </p:sp>
      <p:sp>
        <p:nvSpPr>
          <p:cNvPr id="16" name="Text 10"/>
          <p:cNvSpPr txBox="1"/>
          <p:nvPr/>
        </p:nvSpPr>
        <p:spPr>
          <a:xfrm>
            <a:off x="8275320" y="4480560"/>
            <a:ext cx="3182112"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GOME-2 SIF captured high US Corn Belt GPP that vegetation indices missed</a:t>
            </a:r>
            <a:endParaRPr lang="en-US" sz="1300" dirty="0"/>
          </a:p>
          <a:p>
            <a:pPr marL="177800" indent="-177800">
              <a:spcAft>
                <a:spcPts val="400"/>
              </a:spcAft>
              <a:buSzPct val="100000"/>
              <a:buChar char="•"/>
            </a:pPr>
            <a:r>
              <a:rPr lang="en-US" sz="1300" dirty="0">
                <a:solidFill>
                  <a:schemeClr val="tx1"/>
                </a:solidFill>
              </a:rPr>
              <a:t>Drought &amp; heat stress signals at ecosystem scale</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FLEX: the first satellite designed for SIF</a:t>
            </a:r>
            <a:endParaRPr lang="en-US" sz="3200" dirty="0"/>
          </a:p>
        </p:txBody>
      </p:sp>
      <p:sp>
        <p:nvSpPr>
          <p:cNvPr id="4" name="figure frame"/>
          <p:cNvSpPr/>
          <p:nvPr/>
        </p:nvSpPr>
        <p:spPr>
          <a:xfrm>
            <a:off x="548640" y="1325880"/>
            <a:ext cx="5669280" cy="4297680"/>
          </a:xfrm>
          <a:prstGeom prst="roundRect">
            <a:avLst>
              <a:gd name="adj" fmla="val 1277"/>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5" name="Image 0" descr="Mohammed et al. (2019), Fig. 12 — FLEX (FLORIS, 150 km swath) in tandem with Sentinel-3 (OLCI 1270 km; SLSTR nadir 1400 km, backward 740 km)"/>
          <p:cNvPicPr>
            <a:picLocks noChangeAspect="1"/>
          </p:cNvPicPr>
          <p:nvPr/>
        </p:nvPicPr>
        <p:blipFill>
          <a:blip r:embed="rId3"/>
          <a:stretch>
            <a:fillRect/>
          </a:stretch>
        </p:blipFill>
        <p:spPr>
          <a:xfrm>
            <a:off x="1000191" y="1417320"/>
            <a:ext cx="4766178" cy="4114800"/>
          </a:xfrm>
          <a:prstGeom prst="rect">
            <a:avLst/>
          </a:prstGeom>
        </p:spPr>
      </p:pic>
      <p:sp>
        <p:nvSpPr>
          <p:cNvPr id="6" name="Text 2"/>
          <p:cNvSpPr txBox="1"/>
          <p:nvPr/>
        </p:nvSpPr>
        <p:spPr>
          <a:xfrm>
            <a:off x="548640" y="5669280"/>
            <a:ext cx="5669280" cy="502920"/>
          </a:xfrm>
          <a:prstGeom prst="rect">
            <a:avLst/>
          </a:prstGeom>
          <a:noFill/>
          <a:ln/>
        </p:spPr>
        <p:txBody>
          <a:bodyPr wrap="square" lIns="0" tIns="0" rIns="0" bIns="0" rtlCol="0" anchor="t"/>
          <a:lstStyle/>
          <a:p>
            <a:pPr marL="0" indent="0">
              <a:buNone/>
            </a:pPr>
            <a:r>
              <a:rPr lang="en-US" sz="1100" i="1" dirty="0">
                <a:solidFill>
                  <a:schemeClr val="accent6"/>
                </a:solidFill>
              </a:rPr>
              <a:t>Mohammed et al. (2019), Fig. 12 — FLEX (FLORIS, 150 km swath) in tandem with Sentinel-3 (OLCI 1270 km; SLSTR nadir 1400 km, backward 740 km)</a:t>
            </a:r>
            <a:endParaRPr lang="en-US" sz="1100" dirty="0"/>
          </a:p>
        </p:txBody>
      </p:sp>
      <p:sp>
        <p:nvSpPr>
          <p:cNvPr id="7" name="card"/>
          <p:cNvSpPr/>
          <p:nvPr/>
        </p:nvSpPr>
        <p:spPr>
          <a:xfrm>
            <a:off x="6446520" y="1325880"/>
            <a:ext cx="2514600" cy="1188720"/>
          </a:xfrm>
          <a:prstGeom prst="roundRect">
            <a:avLst>
              <a:gd name="adj" fmla="val 6154"/>
            </a:avLst>
          </a:prstGeom>
          <a:solidFill>
            <a:schemeClr val="tx2"/>
          </a:solidFill>
          <a:ln/>
          <a:effectLst>
            <a:outerShdw blurRad="76200" dist="25400" dir="5400000" algn="bl" rotWithShape="0">
              <a:srgbClr val="000000">
                <a:alpha val="14000"/>
              </a:srgbClr>
            </a:outerShdw>
          </a:effectLst>
        </p:spPr>
      </p:sp>
      <p:sp>
        <p:nvSpPr>
          <p:cNvPr id="8" name="Text 4"/>
          <p:cNvSpPr txBox="1"/>
          <p:nvPr/>
        </p:nvSpPr>
        <p:spPr>
          <a:xfrm>
            <a:off x="6446520" y="1417320"/>
            <a:ext cx="2514600" cy="640080"/>
          </a:xfrm>
          <a:prstGeom prst="rect">
            <a:avLst/>
          </a:prstGeom>
          <a:noFill/>
          <a:ln/>
        </p:spPr>
        <p:txBody>
          <a:bodyPr wrap="square" lIns="0" tIns="0" rIns="0" bIns="0" rtlCol="0" anchor="ctr"/>
          <a:lstStyle/>
          <a:p>
            <a:pPr marL="0" indent="0" algn="ctr">
              <a:buNone/>
            </a:pPr>
            <a:r>
              <a:rPr lang="en-US" sz="2800" b="1" dirty="0">
                <a:solidFill>
                  <a:schemeClr val="bg1"/>
                </a:solidFill>
              </a:rPr>
              <a:t>300 m</a:t>
            </a:r>
            <a:endParaRPr lang="en-US" sz="2800" dirty="0"/>
          </a:p>
        </p:txBody>
      </p:sp>
      <p:sp>
        <p:nvSpPr>
          <p:cNvPr id="9" name="Text 5"/>
          <p:cNvSpPr txBox="1"/>
          <p:nvPr/>
        </p:nvSpPr>
        <p:spPr>
          <a:xfrm>
            <a:off x="6446520" y="2057400"/>
            <a:ext cx="2514600" cy="365760"/>
          </a:xfrm>
          <a:prstGeom prst="rect">
            <a:avLst/>
          </a:prstGeom>
          <a:noFill/>
          <a:ln/>
        </p:spPr>
        <p:txBody>
          <a:bodyPr wrap="square" lIns="0" tIns="0" rIns="0" bIns="0" rtlCol="0" anchor="ctr"/>
          <a:lstStyle/>
          <a:p>
            <a:pPr marL="0" indent="0" algn="ctr">
              <a:buNone/>
            </a:pPr>
            <a:r>
              <a:rPr lang="en-US" sz="1300" dirty="0">
                <a:solidFill>
                  <a:schemeClr val="bg2"/>
                </a:solidFill>
              </a:rPr>
              <a:t>pixel size</a:t>
            </a:r>
            <a:endParaRPr lang="en-US" sz="1300" dirty="0"/>
          </a:p>
        </p:txBody>
      </p:sp>
      <p:sp>
        <p:nvSpPr>
          <p:cNvPr id="10" name="card"/>
          <p:cNvSpPr/>
          <p:nvPr/>
        </p:nvSpPr>
        <p:spPr>
          <a:xfrm>
            <a:off x="9098280" y="1325880"/>
            <a:ext cx="2514600" cy="1188720"/>
          </a:xfrm>
          <a:prstGeom prst="roundRect">
            <a:avLst>
              <a:gd name="adj" fmla="val 6154"/>
            </a:avLst>
          </a:prstGeom>
          <a:solidFill>
            <a:schemeClr val="accent1"/>
          </a:solidFill>
          <a:ln/>
          <a:effectLst>
            <a:outerShdw blurRad="76200" dist="25400" dir="5400000" algn="bl" rotWithShape="0">
              <a:srgbClr val="000000">
                <a:alpha val="14000"/>
              </a:srgbClr>
            </a:outerShdw>
          </a:effectLst>
        </p:spPr>
      </p:sp>
      <p:sp>
        <p:nvSpPr>
          <p:cNvPr id="11" name="Text 7"/>
          <p:cNvSpPr txBox="1"/>
          <p:nvPr/>
        </p:nvSpPr>
        <p:spPr>
          <a:xfrm>
            <a:off x="9098280" y="1417320"/>
            <a:ext cx="2514600" cy="640080"/>
          </a:xfrm>
          <a:prstGeom prst="rect">
            <a:avLst/>
          </a:prstGeom>
          <a:noFill/>
          <a:ln/>
        </p:spPr>
        <p:txBody>
          <a:bodyPr wrap="square" lIns="0" tIns="0" rIns="0" bIns="0" rtlCol="0" anchor="ctr"/>
          <a:lstStyle/>
          <a:p>
            <a:pPr marL="0" indent="0" algn="ctr">
              <a:buNone/>
            </a:pPr>
            <a:r>
              <a:rPr lang="en-US" sz="2800" b="1" dirty="0">
                <a:solidFill>
                  <a:schemeClr val="bg1"/>
                </a:solidFill>
              </a:rPr>
              <a:t>500–780</a:t>
            </a:r>
            <a:endParaRPr lang="en-US" sz="2800" dirty="0"/>
          </a:p>
        </p:txBody>
      </p:sp>
      <p:sp>
        <p:nvSpPr>
          <p:cNvPr id="12" name="Text 8"/>
          <p:cNvSpPr txBox="1"/>
          <p:nvPr/>
        </p:nvSpPr>
        <p:spPr>
          <a:xfrm>
            <a:off x="9098280" y="2057400"/>
            <a:ext cx="2514600" cy="365760"/>
          </a:xfrm>
          <a:prstGeom prst="rect">
            <a:avLst/>
          </a:prstGeom>
          <a:noFill/>
          <a:ln/>
        </p:spPr>
        <p:txBody>
          <a:bodyPr wrap="square" lIns="0" tIns="0" rIns="0" bIns="0" rtlCol="0" anchor="ctr"/>
          <a:lstStyle/>
          <a:p>
            <a:pPr marL="0" indent="0" algn="ctr">
              <a:buNone/>
            </a:pPr>
            <a:r>
              <a:rPr lang="en-US" sz="1300" dirty="0">
                <a:solidFill>
                  <a:schemeClr val="bg2"/>
                </a:solidFill>
              </a:rPr>
              <a:t>nm spectral range</a:t>
            </a:r>
            <a:endParaRPr lang="en-US" sz="1300" dirty="0"/>
          </a:p>
        </p:txBody>
      </p:sp>
      <p:sp>
        <p:nvSpPr>
          <p:cNvPr id="13" name="card"/>
          <p:cNvSpPr/>
          <p:nvPr/>
        </p:nvSpPr>
        <p:spPr>
          <a:xfrm>
            <a:off x="6446520" y="2651760"/>
            <a:ext cx="2514600" cy="1188720"/>
          </a:xfrm>
          <a:prstGeom prst="roundRect">
            <a:avLst>
              <a:gd name="adj" fmla="val 6154"/>
            </a:avLst>
          </a:prstGeom>
          <a:solidFill>
            <a:schemeClr val="accent1"/>
          </a:solidFill>
          <a:ln/>
          <a:effectLst>
            <a:outerShdw blurRad="76200" dist="25400" dir="5400000" algn="bl" rotWithShape="0">
              <a:srgbClr val="000000">
                <a:alpha val="14000"/>
              </a:srgbClr>
            </a:outerShdw>
          </a:effectLst>
        </p:spPr>
      </p:sp>
      <p:sp>
        <p:nvSpPr>
          <p:cNvPr id="14" name="Text 10"/>
          <p:cNvSpPr txBox="1"/>
          <p:nvPr/>
        </p:nvSpPr>
        <p:spPr>
          <a:xfrm>
            <a:off x="6446520" y="2743200"/>
            <a:ext cx="2514600" cy="640080"/>
          </a:xfrm>
          <a:prstGeom prst="rect">
            <a:avLst/>
          </a:prstGeom>
          <a:noFill/>
          <a:ln/>
        </p:spPr>
        <p:txBody>
          <a:bodyPr wrap="square" lIns="0" tIns="0" rIns="0" bIns="0" rtlCol="0" anchor="ctr"/>
          <a:lstStyle/>
          <a:p>
            <a:pPr marL="0" indent="0" algn="ctr">
              <a:buNone/>
            </a:pPr>
            <a:r>
              <a:rPr lang="en-US" sz="2800" b="1" dirty="0">
                <a:solidFill>
                  <a:schemeClr val="bg1"/>
                </a:solidFill>
              </a:rPr>
              <a:t>10:00</a:t>
            </a:r>
            <a:endParaRPr lang="en-US" sz="2800" dirty="0"/>
          </a:p>
        </p:txBody>
      </p:sp>
      <p:sp>
        <p:nvSpPr>
          <p:cNvPr id="15" name="Text 11"/>
          <p:cNvSpPr txBox="1"/>
          <p:nvPr/>
        </p:nvSpPr>
        <p:spPr>
          <a:xfrm>
            <a:off x="6446520" y="3383280"/>
            <a:ext cx="2514600" cy="365760"/>
          </a:xfrm>
          <a:prstGeom prst="rect">
            <a:avLst/>
          </a:prstGeom>
          <a:noFill/>
          <a:ln/>
        </p:spPr>
        <p:txBody>
          <a:bodyPr wrap="square" lIns="0" tIns="0" rIns="0" bIns="0" rtlCol="0" anchor="ctr"/>
          <a:lstStyle/>
          <a:p>
            <a:pPr marL="0" indent="0" algn="ctr">
              <a:buNone/>
            </a:pPr>
            <a:r>
              <a:rPr lang="en-US" sz="1300" dirty="0">
                <a:solidFill>
                  <a:schemeClr val="bg2"/>
                </a:solidFill>
              </a:rPr>
              <a:t>equatorial overpass</a:t>
            </a:r>
            <a:endParaRPr lang="en-US" sz="1300" dirty="0"/>
          </a:p>
        </p:txBody>
      </p:sp>
      <p:sp>
        <p:nvSpPr>
          <p:cNvPr id="16" name="card"/>
          <p:cNvSpPr/>
          <p:nvPr/>
        </p:nvSpPr>
        <p:spPr>
          <a:xfrm>
            <a:off x="9098280" y="2651760"/>
            <a:ext cx="2514600" cy="1188720"/>
          </a:xfrm>
          <a:prstGeom prst="roundRect">
            <a:avLst>
              <a:gd name="adj" fmla="val 6154"/>
            </a:avLst>
          </a:prstGeom>
          <a:solidFill>
            <a:schemeClr val="tx2"/>
          </a:solidFill>
          <a:ln/>
          <a:effectLst>
            <a:outerShdw blurRad="76200" dist="25400" dir="5400000" algn="bl" rotWithShape="0">
              <a:srgbClr val="000000">
                <a:alpha val="14000"/>
              </a:srgbClr>
            </a:outerShdw>
          </a:effectLst>
        </p:spPr>
      </p:sp>
      <p:sp>
        <p:nvSpPr>
          <p:cNvPr id="17" name="Text 13"/>
          <p:cNvSpPr txBox="1"/>
          <p:nvPr/>
        </p:nvSpPr>
        <p:spPr>
          <a:xfrm>
            <a:off x="9098280" y="2743200"/>
            <a:ext cx="2514600" cy="640080"/>
          </a:xfrm>
          <a:prstGeom prst="rect">
            <a:avLst/>
          </a:prstGeom>
          <a:noFill/>
          <a:ln/>
        </p:spPr>
        <p:txBody>
          <a:bodyPr wrap="square" lIns="0" tIns="0" rIns="0" bIns="0" rtlCol="0" anchor="ctr"/>
          <a:lstStyle/>
          <a:p>
            <a:pPr marL="0" indent="0" algn="ctr">
              <a:buNone/>
            </a:pPr>
            <a:r>
              <a:rPr lang="en-US" sz="2800" b="1" dirty="0">
                <a:solidFill>
                  <a:schemeClr val="bg1"/>
                </a:solidFill>
              </a:rPr>
              <a:t>150 km</a:t>
            </a:r>
            <a:endParaRPr lang="en-US" sz="2800" dirty="0"/>
          </a:p>
        </p:txBody>
      </p:sp>
      <p:sp>
        <p:nvSpPr>
          <p:cNvPr id="18" name="Text 14"/>
          <p:cNvSpPr txBox="1"/>
          <p:nvPr/>
        </p:nvSpPr>
        <p:spPr>
          <a:xfrm>
            <a:off x="9098280" y="3383280"/>
            <a:ext cx="2514600" cy="365760"/>
          </a:xfrm>
          <a:prstGeom prst="rect">
            <a:avLst/>
          </a:prstGeom>
          <a:noFill/>
          <a:ln/>
        </p:spPr>
        <p:txBody>
          <a:bodyPr wrap="square" lIns="0" tIns="0" rIns="0" bIns="0" rtlCol="0" anchor="ctr"/>
          <a:lstStyle/>
          <a:p>
            <a:pPr marL="0" indent="0" algn="ctr">
              <a:buNone/>
            </a:pPr>
            <a:r>
              <a:rPr lang="en-US" sz="1300" dirty="0">
                <a:solidFill>
                  <a:schemeClr val="bg2"/>
                </a:solidFill>
              </a:rPr>
              <a:t>FLORIS swath</a:t>
            </a:r>
            <a:endParaRPr lang="en-US" sz="1300" dirty="0"/>
          </a:p>
        </p:txBody>
      </p:sp>
      <p:sp>
        <p:nvSpPr>
          <p:cNvPr id="19" name="card"/>
          <p:cNvSpPr/>
          <p:nvPr/>
        </p:nvSpPr>
        <p:spPr>
          <a:xfrm>
            <a:off x="6446520" y="4023360"/>
            <a:ext cx="5193792" cy="2148840"/>
          </a:xfrm>
          <a:prstGeom prst="roundRect">
            <a:avLst>
              <a:gd name="adj" fmla="val 3404"/>
            </a:avLst>
          </a:prstGeom>
          <a:solidFill>
            <a:schemeClr val="bg2"/>
          </a:solidFill>
          <a:ln/>
          <a:effectLst>
            <a:outerShdw blurRad="76200" dist="25400" dir="5400000" algn="bl" rotWithShape="0">
              <a:srgbClr val="000000">
                <a:alpha val="14000"/>
              </a:srgbClr>
            </a:outerShdw>
          </a:effectLst>
        </p:spPr>
      </p:sp>
      <p:sp>
        <p:nvSpPr>
          <p:cNvPr id="20" name="icon circle"/>
          <p:cNvSpPr/>
          <p:nvPr/>
        </p:nvSpPr>
        <p:spPr>
          <a:xfrm>
            <a:off x="6629400" y="4178808"/>
            <a:ext cx="420624" cy="420624"/>
          </a:xfrm>
          <a:prstGeom prst="ellipse">
            <a:avLst/>
          </a:prstGeom>
          <a:solidFill>
            <a:schemeClr val="accent2"/>
          </a:solidFill>
          <a:ln/>
        </p:spPr>
      </p:sp>
      <p:pic>
        <p:nvPicPr>
          <p:cNvPr id="21" name="Image 1" descr="SatelliteDish icon"/>
          <p:cNvPicPr>
            <a:picLocks noChangeAspect="1"/>
          </p:cNvPicPr>
          <p:nvPr/>
        </p:nvPicPr>
        <p:blipFill>
          <a:blip r:embed="rId4"/>
          <a:stretch>
            <a:fillRect/>
          </a:stretch>
        </p:blipFill>
        <p:spPr>
          <a:xfrm>
            <a:off x="6738762" y="4288170"/>
            <a:ext cx="201900" cy="201900"/>
          </a:xfrm>
          <a:prstGeom prst="rect">
            <a:avLst/>
          </a:prstGeom>
        </p:spPr>
      </p:pic>
      <p:sp>
        <p:nvSpPr>
          <p:cNvPr id="22" name="Text 17"/>
          <p:cNvSpPr txBox="1"/>
          <p:nvPr/>
        </p:nvSpPr>
        <p:spPr>
          <a:xfrm>
            <a:off x="7159752" y="4160520"/>
            <a:ext cx="4343400" cy="457200"/>
          </a:xfrm>
          <a:prstGeom prst="rect">
            <a:avLst/>
          </a:prstGeom>
          <a:noFill/>
          <a:ln/>
        </p:spPr>
        <p:txBody>
          <a:bodyPr wrap="square" lIns="0" tIns="0" rIns="0" bIns="0" rtlCol="0" anchor="ctr"/>
          <a:lstStyle/>
          <a:p>
            <a:pPr marL="0" indent="0">
              <a:buNone/>
            </a:pPr>
            <a:r>
              <a:rPr lang="en-US" sz="1600" b="1" dirty="0">
                <a:solidFill>
                  <a:schemeClr val="tx2"/>
                </a:solidFill>
              </a:rPr>
              <a:t>Planned products</a:t>
            </a:r>
            <a:endParaRPr lang="en-US" sz="1600" dirty="0"/>
          </a:p>
        </p:txBody>
      </p:sp>
      <p:sp>
        <p:nvSpPr>
          <p:cNvPr id="23" name="Text 18"/>
          <p:cNvSpPr txBox="1"/>
          <p:nvPr/>
        </p:nvSpPr>
        <p:spPr>
          <a:xfrm>
            <a:off x="6629400" y="4709160"/>
            <a:ext cx="4828032" cy="13716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Total fluorescence F</a:t>
            </a:r>
            <a:r>
              <a:rPr lang="en-US" sz="1300" baseline="-40000" dirty="0">
                <a:solidFill>
                  <a:schemeClr val="tx1"/>
                </a:solidFill>
              </a:rPr>
              <a:t>tot</a:t>
            </a:r>
            <a:r>
              <a:rPr lang="en-US" sz="1300" dirty="0">
                <a:solidFill>
                  <a:schemeClr val="tx1"/>
                </a:solidFill>
              </a:rPr>
              <a:t> (650–780 nm); F</a:t>
            </a:r>
            <a:r>
              <a:rPr lang="en-US" sz="1300" baseline="-40000" dirty="0">
                <a:solidFill>
                  <a:schemeClr val="tx1"/>
                </a:solidFill>
              </a:rPr>
              <a:t>685</a:t>
            </a:r>
            <a:r>
              <a:rPr lang="en-US" sz="1300" dirty="0">
                <a:solidFill>
                  <a:schemeClr val="tx1"/>
                </a:solidFill>
              </a:rPr>
              <a:t>, F</a:t>
            </a:r>
            <a:r>
              <a:rPr lang="en-US" sz="1300" baseline="-40000" dirty="0">
                <a:solidFill>
                  <a:schemeClr val="tx1"/>
                </a:solidFill>
              </a:rPr>
              <a:t>740</a:t>
            </a:r>
            <a:r>
              <a:rPr lang="en-US" sz="1300" dirty="0">
                <a:solidFill>
                  <a:schemeClr val="tx1"/>
                </a:solidFill>
              </a:rPr>
              <a:t>; F</a:t>
            </a:r>
            <a:r>
              <a:rPr lang="en-US" sz="1300" baseline="-40000" dirty="0">
                <a:solidFill>
                  <a:schemeClr val="tx1"/>
                </a:solidFill>
              </a:rPr>
              <a:t>687</a:t>
            </a:r>
            <a:r>
              <a:rPr lang="en-US" sz="1300" dirty="0">
                <a:solidFill>
                  <a:schemeClr val="tx1"/>
                </a:solidFill>
              </a:rPr>
              <a:t>, F</a:t>
            </a:r>
            <a:r>
              <a:rPr lang="en-US" sz="1300" baseline="-40000" dirty="0">
                <a:solidFill>
                  <a:schemeClr val="tx1"/>
                </a:solidFill>
              </a:rPr>
              <a:t>760</a:t>
            </a:r>
            <a:endParaRPr lang="en-US" sz="1300" dirty="0"/>
          </a:p>
          <a:p>
            <a:pPr marL="177800" indent="-177800">
              <a:spcAft>
                <a:spcPts val="400"/>
              </a:spcAft>
              <a:buSzPct val="100000"/>
              <a:buChar char="•"/>
            </a:pPr>
            <a:r>
              <a:rPr lang="en-US" sz="1300" dirty="0">
                <a:solidFill>
                  <a:schemeClr val="tx1"/>
                </a:solidFill>
              </a:rPr>
              <a:t>Photosynthetic activity, NPQ indicators (PRI), fAPAR</a:t>
            </a:r>
            <a:r>
              <a:rPr lang="en-US" sz="1300" baseline="-40000" dirty="0">
                <a:solidFill>
                  <a:schemeClr val="tx1"/>
                </a:solidFill>
              </a:rPr>
              <a:t>chl</a:t>
            </a:r>
            <a:r>
              <a:rPr lang="en-US" sz="1300" dirty="0">
                <a:solidFill>
                  <a:schemeClr val="tx1"/>
                </a:solidFill>
              </a:rPr>
              <a:t>, LAI, chlorophyll</a:t>
            </a:r>
            <a:endParaRPr lang="en-US" sz="1300" dirty="0"/>
          </a:p>
          <a:p>
            <a:pPr marL="177800" indent="-177800">
              <a:spcAft>
                <a:spcPts val="400"/>
              </a:spcAft>
              <a:buSzPct val="100000"/>
              <a:buChar char="•"/>
            </a:pPr>
            <a:r>
              <a:rPr lang="en-US" sz="1300" dirty="0">
                <a:solidFill>
                  <a:schemeClr val="tx1"/>
                </a:solidFill>
              </a:rPr>
              <a:t>5-year mission, 56°S–75°N land and coastal zones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What SIF is used for</a:t>
            </a:r>
            <a:endParaRPr lang="en-US" sz="3200" dirty="0"/>
          </a:p>
        </p:txBody>
      </p:sp>
      <p:sp>
        <p:nvSpPr>
          <p:cNvPr id="4" name="card"/>
          <p:cNvSpPr/>
          <p:nvPr/>
        </p:nvSpPr>
        <p:spPr>
          <a:xfrm>
            <a:off x="548640" y="1371600"/>
            <a:ext cx="2651760"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5" name="icon circle"/>
          <p:cNvSpPr/>
          <p:nvPr/>
        </p:nvSpPr>
        <p:spPr>
          <a:xfrm>
            <a:off x="731520" y="1527048"/>
            <a:ext cx="420624" cy="420624"/>
          </a:xfrm>
          <a:prstGeom prst="ellipse">
            <a:avLst/>
          </a:prstGeom>
          <a:solidFill>
            <a:schemeClr val="accent1"/>
          </a:solidFill>
          <a:ln/>
        </p:spPr>
      </p:sp>
      <p:pic>
        <p:nvPicPr>
          <p:cNvPr id="6" name="Image 0" descr="Leaf icon"/>
          <p:cNvPicPr>
            <a:picLocks noChangeAspect="1"/>
          </p:cNvPicPr>
          <p:nvPr/>
        </p:nvPicPr>
        <p:blipFill>
          <a:blip r:embed="rId3"/>
          <a:stretch>
            <a:fillRect/>
          </a:stretch>
        </p:blipFill>
        <p:spPr>
          <a:xfrm>
            <a:off x="840882" y="1636410"/>
            <a:ext cx="201900" cy="201900"/>
          </a:xfrm>
          <a:prstGeom prst="rect">
            <a:avLst/>
          </a:prstGeom>
        </p:spPr>
      </p:pic>
      <p:sp>
        <p:nvSpPr>
          <p:cNvPr id="7" name="Text 3"/>
          <p:cNvSpPr txBox="1"/>
          <p:nvPr/>
        </p:nvSpPr>
        <p:spPr>
          <a:xfrm>
            <a:off x="1261872" y="1508760"/>
            <a:ext cx="1801368" cy="457200"/>
          </a:xfrm>
          <a:prstGeom prst="rect">
            <a:avLst/>
          </a:prstGeom>
          <a:noFill/>
          <a:ln/>
        </p:spPr>
        <p:txBody>
          <a:bodyPr wrap="square" lIns="0" tIns="0" rIns="0" bIns="0" rtlCol="0" anchor="ctr"/>
          <a:lstStyle/>
          <a:p>
            <a:pPr marL="0" indent="0">
              <a:buNone/>
            </a:pPr>
            <a:r>
              <a:rPr lang="en-US" sz="1500" b="1" dirty="0">
                <a:solidFill>
                  <a:schemeClr val="tx2"/>
                </a:solidFill>
              </a:rPr>
              <a:t>GPP &amp; carbon uptake</a:t>
            </a:r>
            <a:endParaRPr lang="en-US" sz="1500" dirty="0"/>
          </a:p>
        </p:txBody>
      </p:sp>
      <p:sp>
        <p:nvSpPr>
          <p:cNvPr id="8" name="Text 4"/>
          <p:cNvSpPr txBox="1"/>
          <p:nvPr/>
        </p:nvSpPr>
        <p:spPr>
          <a:xfrm>
            <a:off x="731520" y="2057400"/>
            <a:ext cx="2286000"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Empirical and model-based GPP from tower to globe</a:t>
            </a:r>
            <a:endParaRPr lang="en-US" sz="1300" dirty="0"/>
          </a:p>
        </p:txBody>
      </p:sp>
      <p:sp>
        <p:nvSpPr>
          <p:cNvPr id="9" name="card"/>
          <p:cNvSpPr/>
          <p:nvPr/>
        </p:nvSpPr>
        <p:spPr>
          <a:xfrm>
            <a:off x="3364992" y="1371600"/>
            <a:ext cx="2651760"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10" name="icon circle"/>
          <p:cNvSpPr/>
          <p:nvPr/>
        </p:nvSpPr>
        <p:spPr>
          <a:xfrm>
            <a:off x="3547872" y="1527048"/>
            <a:ext cx="420624" cy="420624"/>
          </a:xfrm>
          <a:prstGeom prst="ellipse">
            <a:avLst/>
          </a:prstGeom>
          <a:solidFill>
            <a:schemeClr val="accent1"/>
          </a:solidFill>
          <a:ln/>
        </p:spPr>
      </p:sp>
      <p:pic>
        <p:nvPicPr>
          <p:cNvPr id="11" name="Image 1" descr="Sync icon"/>
          <p:cNvPicPr>
            <a:picLocks noChangeAspect="1"/>
          </p:cNvPicPr>
          <p:nvPr/>
        </p:nvPicPr>
        <p:blipFill>
          <a:blip r:embed="rId4"/>
          <a:stretch>
            <a:fillRect/>
          </a:stretch>
        </p:blipFill>
        <p:spPr>
          <a:xfrm>
            <a:off x="3657234" y="1636410"/>
            <a:ext cx="201900" cy="201900"/>
          </a:xfrm>
          <a:prstGeom prst="rect">
            <a:avLst/>
          </a:prstGeom>
        </p:spPr>
      </p:pic>
      <p:sp>
        <p:nvSpPr>
          <p:cNvPr id="12" name="Text 7"/>
          <p:cNvSpPr txBox="1"/>
          <p:nvPr/>
        </p:nvSpPr>
        <p:spPr>
          <a:xfrm>
            <a:off x="4078224" y="1508760"/>
            <a:ext cx="1801368" cy="457200"/>
          </a:xfrm>
          <a:prstGeom prst="rect">
            <a:avLst/>
          </a:prstGeom>
          <a:noFill/>
          <a:ln/>
        </p:spPr>
        <p:txBody>
          <a:bodyPr wrap="square" lIns="0" tIns="0" rIns="0" bIns="0" rtlCol="0" anchor="ctr"/>
          <a:lstStyle/>
          <a:p>
            <a:pPr marL="0" indent="0">
              <a:buNone/>
            </a:pPr>
            <a:r>
              <a:rPr lang="en-US" sz="1500" b="1" dirty="0">
                <a:solidFill>
                  <a:schemeClr val="tx2"/>
                </a:solidFill>
              </a:rPr>
              <a:t>Phenology &amp; seasons</a:t>
            </a:r>
            <a:endParaRPr lang="en-US" sz="1500" dirty="0"/>
          </a:p>
        </p:txBody>
      </p:sp>
      <p:sp>
        <p:nvSpPr>
          <p:cNvPr id="13" name="Text 8"/>
          <p:cNvSpPr txBox="1"/>
          <p:nvPr/>
        </p:nvSpPr>
        <p:spPr>
          <a:xfrm>
            <a:off x="3547872" y="2057400"/>
            <a:ext cx="2286000"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Green-up, peak, senescence; seasonal dynamics</a:t>
            </a:r>
            <a:endParaRPr lang="en-US" sz="1300" dirty="0"/>
          </a:p>
        </p:txBody>
      </p:sp>
      <p:sp>
        <p:nvSpPr>
          <p:cNvPr id="14" name="card"/>
          <p:cNvSpPr/>
          <p:nvPr/>
        </p:nvSpPr>
        <p:spPr>
          <a:xfrm>
            <a:off x="6181344" y="1371600"/>
            <a:ext cx="2651760"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15" name="icon circle"/>
          <p:cNvSpPr/>
          <p:nvPr/>
        </p:nvSpPr>
        <p:spPr>
          <a:xfrm>
            <a:off x="6364224" y="1527048"/>
            <a:ext cx="420624" cy="420624"/>
          </a:xfrm>
          <a:prstGeom prst="ellipse">
            <a:avLst/>
          </a:prstGeom>
          <a:solidFill>
            <a:schemeClr val="accent5"/>
          </a:solidFill>
          <a:ln/>
        </p:spPr>
      </p:sp>
      <p:pic>
        <p:nvPicPr>
          <p:cNvPr id="16" name="Image 2" descr="Tint icon"/>
          <p:cNvPicPr>
            <a:picLocks noChangeAspect="1"/>
          </p:cNvPicPr>
          <p:nvPr/>
        </p:nvPicPr>
        <p:blipFill>
          <a:blip r:embed="rId5"/>
          <a:stretch>
            <a:fillRect/>
          </a:stretch>
        </p:blipFill>
        <p:spPr>
          <a:xfrm>
            <a:off x="6473586" y="1636410"/>
            <a:ext cx="201900" cy="201900"/>
          </a:xfrm>
          <a:prstGeom prst="rect">
            <a:avLst/>
          </a:prstGeom>
        </p:spPr>
      </p:pic>
      <p:sp>
        <p:nvSpPr>
          <p:cNvPr id="17" name="Text 11"/>
          <p:cNvSpPr txBox="1"/>
          <p:nvPr/>
        </p:nvSpPr>
        <p:spPr>
          <a:xfrm>
            <a:off x="6894576" y="1508760"/>
            <a:ext cx="1801368" cy="457200"/>
          </a:xfrm>
          <a:prstGeom prst="rect">
            <a:avLst/>
          </a:prstGeom>
          <a:noFill/>
          <a:ln/>
        </p:spPr>
        <p:txBody>
          <a:bodyPr wrap="square" lIns="0" tIns="0" rIns="0" bIns="0" rtlCol="0" anchor="ctr"/>
          <a:lstStyle/>
          <a:p>
            <a:pPr marL="0" indent="0">
              <a:buNone/>
            </a:pPr>
            <a:r>
              <a:rPr lang="en-US" sz="1500" b="1" dirty="0">
                <a:solidFill>
                  <a:schemeClr val="tx2"/>
                </a:solidFill>
              </a:rPr>
              <a:t>Drought &amp; water stress</a:t>
            </a:r>
            <a:endParaRPr lang="en-US" sz="1500" dirty="0"/>
          </a:p>
        </p:txBody>
      </p:sp>
      <p:sp>
        <p:nvSpPr>
          <p:cNvPr id="18" name="Text 12"/>
          <p:cNvSpPr txBox="1"/>
          <p:nvPr/>
        </p:nvSpPr>
        <p:spPr>
          <a:xfrm>
            <a:off x="6364224" y="2057400"/>
            <a:ext cx="2286000"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SIF ↓ with water deficit; pair with canopy–air temperature</a:t>
            </a:r>
            <a:endParaRPr lang="en-US" sz="1300" dirty="0"/>
          </a:p>
        </p:txBody>
      </p:sp>
      <p:sp>
        <p:nvSpPr>
          <p:cNvPr id="19" name="card"/>
          <p:cNvSpPr/>
          <p:nvPr/>
        </p:nvSpPr>
        <p:spPr>
          <a:xfrm>
            <a:off x="8997696" y="1371600"/>
            <a:ext cx="2651760"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20" name="icon circle"/>
          <p:cNvSpPr/>
          <p:nvPr/>
        </p:nvSpPr>
        <p:spPr>
          <a:xfrm>
            <a:off x="9180576" y="1527048"/>
            <a:ext cx="420624" cy="420624"/>
          </a:xfrm>
          <a:prstGeom prst="ellipse">
            <a:avLst/>
          </a:prstGeom>
          <a:solidFill>
            <a:schemeClr val="accent2"/>
          </a:solidFill>
          <a:ln/>
        </p:spPr>
      </p:sp>
      <p:pic>
        <p:nvPicPr>
          <p:cNvPr id="21" name="Image 3" descr="ThermometerHalf icon"/>
          <p:cNvPicPr>
            <a:picLocks noChangeAspect="1"/>
          </p:cNvPicPr>
          <p:nvPr/>
        </p:nvPicPr>
        <p:blipFill>
          <a:blip r:embed="rId6"/>
          <a:stretch>
            <a:fillRect/>
          </a:stretch>
        </p:blipFill>
        <p:spPr>
          <a:xfrm>
            <a:off x="9289938" y="1636410"/>
            <a:ext cx="201900" cy="201900"/>
          </a:xfrm>
          <a:prstGeom prst="rect">
            <a:avLst/>
          </a:prstGeom>
        </p:spPr>
      </p:pic>
      <p:sp>
        <p:nvSpPr>
          <p:cNvPr id="22" name="Text 15"/>
          <p:cNvSpPr txBox="1"/>
          <p:nvPr/>
        </p:nvSpPr>
        <p:spPr>
          <a:xfrm>
            <a:off x="9710928" y="1508760"/>
            <a:ext cx="1801368" cy="457200"/>
          </a:xfrm>
          <a:prstGeom prst="rect">
            <a:avLst/>
          </a:prstGeom>
          <a:noFill/>
          <a:ln/>
        </p:spPr>
        <p:txBody>
          <a:bodyPr wrap="square" lIns="0" tIns="0" rIns="0" bIns="0" rtlCol="0" anchor="ctr"/>
          <a:lstStyle/>
          <a:p>
            <a:pPr marL="0" indent="0">
              <a:buNone/>
            </a:pPr>
            <a:r>
              <a:rPr lang="en-US" sz="1500" b="1" dirty="0">
                <a:solidFill>
                  <a:schemeClr val="tx2"/>
                </a:solidFill>
              </a:rPr>
              <a:t>Heat stress</a:t>
            </a:r>
            <a:endParaRPr lang="en-US" sz="1500" dirty="0"/>
          </a:p>
        </p:txBody>
      </p:sp>
      <p:sp>
        <p:nvSpPr>
          <p:cNvPr id="23" name="Text 16"/>
          <p:cNvSpPr txBox="1"/>
          <p:nvPr/>
        </p:nvSpPr>
        <p:spPr>
          <a:xfrm>
            <a:off x="9180576" y="2057400"/>
            <a:ext cx="2286000"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Detected from satellite during heat waves</a:t>
            </a:r>
            <a:endParaRPr lang="en-US" sz="1300" dirty="0"/>
          </a:p>
        </p:txBody>
      </p:sp>
      <p:sp>
        <p:nvSpPr>
          <p:cNvPr id="24" name="card"/>
          <p:cNvSpPr/>
          <p:nvPr/>
        </p:nvSpPr>
        <p:spPr>
          <a:xfrm>
            <a:off x="548640" y="3794760"/>
            <a:ext cx="2651760"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25" name="icon circle"/>
          <p:cNvSpPr/>
          <p:nvPr/>
        </p:nvSpPr>
        <p:spPr>
          <a:xfrm>
            <a:off x="731520" y="3950208"/>
            <a:ext cx="420624" cy="420624"/>
          </a:xfrm>
          <a:prstGeom prst="ellipse">
            <a:avLst/>
          </a:prstGeom>
          <a:solidFill>
            <a:schemeClr val="accent3"/>
          </a:solidFill>
          <a:ln/>
        </p:spPr>
      </p:sp>
      <p:pic>
        <p:nvPicPr>
          <p:cNvPr id="26" name="Image 4" descr="Vial icon"/>
          <p:cNvPicPr>
            <a:picLocks noChangeAspect="1"/>
          </p:cNvPicPr>
          <p:nvPr/>
        </p:nvPicPr>
        <p:blipFill>
          <a:blip r:embed="rId7"/>
          <a:stretch>
            <a:fillRect/>
          </a:stretch>
        </p:blipFill>
        <p:spPr>
          <a:xfrm>
            <a:off x="840882" y="4059570"/>
            <a:ext cx="201900" cy="201900"/>
          </a:xfrm>
          <a:prstGeom prst="rect">
            <a:avLst/>
          </a:prstGeom>
        </p:spPr>
      </p:pic>
      <p:sp>
        <p:nvSpPr>
          <p:cNvPr id="27" name="Text 19"/>
          <p:cNvSpPr txBox="1"/>
          <p:nvPr/>
        </p:nvSpPr>
        <p:spPr>
          <a:xfrm>
            <a:off x="1261872" y="3931920"/>
            <a:ext cx="1801368" cy="457200"/>
          </a:xfrm>
          <a:prstGeom prst="rect">
            <a:avLst/>
          </a:prstGeom>
          <a:noFill/>
          <a:ln/>
        </p:spPr>
        <p:txBody>
          <a:bodyPr wrap="square" lIns="0" tIns="0" rIns="0" bIns="0" rtlCol="0" anchor="ctr"/>
          <a:lstStyle/>
          <a:p>
            <a:pPr marL="0" indent="0">
              <a:buNone/>
            </a:pPr>
            <a:r>
              <a:rPr lang="en-US" sz="1500" b="1" dirty="0">
                <a:solidFill>
                  <a:schemeClr val="tx2"/>
                </a:solidFill>
              </a:rPr>
              <a:t>Nitrogen deficit</a:t>
            </a:r>
            <a:endParaRPr lang="en-US" sz="1500" dirty="0"/>
          </a:p>
        </p:txBody>
      </p:sp>
      <p:sp>
        <p:nvSpPr>
          <p:cNvPr id="28" name="Text 20"/>
          <p:cNvSpPr txBox="1"/>
          <p:nvPr/>
        </p:nvSpPr>
        <p:spPr>
          <a:xfrm>
            <a:off x="731520" y="4480560"/>
            <a:ext cx="2286000"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Red/far-red SIF ratio ↑ with N deficiency</a:t>
            </a:r>
            <a:endParaRPr lang="en-US" sz="1300" dirty="0"/>
          </a:p>
        </p:txBody>
      </p:sp>
      <p:sp>
        <p:nvSpPr>
          <p:cNvPr id="29" name="card"/>
          <p:cNvSpPr/>
          <p:nvPr/>
        </p:nvSpPr>
        <p:spPr>
          <a:xfrm>
            <a:off x="3364992" y="3794760"/>
            <a:ext cx="2651760"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30" name="icon circle"/>
          <p:cNvSpPr/>
          <p:nvPr/>
        </p:nvSpPr>
        <p:spPr>
          <a:xfrm>
            <a:off x="3547872" y="3950208"/>
            <a:ext cx="420624" cy="420624"/>
          </a:xfrm>
          <a:prstGeom prst="ellipse">
            <a:avLst/>
          </a:prstGeom>
          <a:solidFill>
            <a:schemeClr val="accent4"/>
          </a:solidFill>
          <a:ln/>
        </p:spPr>
      </p:sp>
      <p:pic>
        <p:nvPicPr>
          <p:cNvPr id="31" name="Image 5" descr="Bug icon"/>
          <p:cNvPicPr>
            <a:picLocks noChangeAspect="1"/>
          </p:cNvPicPr>
          <p:nvPr/>
        </p:nvPicPr>
        <p:blipFill>
          <a:blip r:embed="rId8"/>
          <a:stretch>
            <a:fillRect/>
          </a:stretch>
        </p:blipFill>
        <p:spPr>
          <a:xfrm>
            <a:off x="3657234" y="4059570"/>
            <a:ext cx="201900" cy="201900"/>
          </a:xfrm>
          <a:prstGeom prst="rect">
            <a:avLst/>
          </a:prstGeom>
        </p:spPr>
      </p:pic>
      <p:sp>
        <p:nvSpPr>
          <p:cNvPr id="32" name="Text 23"/>
          <p:cNvSpPr txBox="1"/>
          <p:nvPr/>
        </p:nvSpPr>
        <p:spPr>
          <a:xfrm>
            <a:off x="4078224" y="3931920"/>
            <a:ext cx="1801368" cy="457200"/>
          </a:xfrm>
          <a:prstGeom prst="rect">
            <a:avLst/>
          </a:prstGeom>
          <a:noFill/>
          <a:ln/>
        </p:spPr>
        <p:txBody>
          <a:bodyPr wrap="square" lIns="0" tIns="0" rIns="0" bIns="0" rtlCol="0" anchor="ctr"/>
          <a:lstStyle/>
          <a:p>
            <a:pPr marL="0" indent="0">
              <a:buNone/>
            </a:pPr>
            <a:r>
              <a:rPr lang="en-US" sz="1500" b="1" dirty="0">
                <a:solidFill>
                  <a:schemeClr val="tx2"/>
                </a:solidFill>
              </a:rPr>
              <a:t>Plant disease</a:t>
            </a:r>
            <a:endParaRPr lang="en-US" sz="1500" dirty="0"/>
          </a:p>
        </p:txBody>
      </p:sp>
      <p:sp>
        <p:nvSpPr>
          <p:cNvPr id="33" name="Text 24"/>
          <p:cNvSpPr txBox="1"/>
          <p:nvPr/>
        </p:nvSpPr>
        <p:spPr>
          <a:xfrm>
            <a:off x="3547872" y="4480560"/>
            <a:ext cx="2286000"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Xylella in olive (&gt;80 %), Verticillium, Phytophthora</a:t>
            </a:r>
            <a:endParaRPr lang="en-US" sz="1300" dirty="0"/>
          </a:p>
        </p:txBody>
      </p:sp>
      <p:sp>
        <p:nvSpPr>
          <p:cNvPr id="34" name="card"/>
          <p:cNvSpPr/>
          <p:nvPr/>
        </p:nvSpPr>
        <p:spPr>
          <a:xfrm>
            <a:off x="6181344" y="3794760"/>
            <a:ext cx="2651760"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35" name="icon circle"/>
          <p:cNvSpPr/>
          <p:nvPr/>
        </p:nvSpPr>
        <p:spPr>
          <a:xfrm>
            <a:off x="6364224" y="3950208"/>
            <a:ext cx="420624" cy="420624"/>
          </a:xfrm>
          <a:prstGeom prst="ellipse">
            <a:avLst/>
          </a:prstGeom>
          <a:solidFill>
            <a:schemeClr val="accent6"/>
          </a:solidFill>
          <a:ln/>
        </p:spPr>
      </p:sp>
      <p:pic>
        <p:nvPicPr>
          <p:cNvPr id="36" name="Image 6" descr="Flask icon"/>
          <p:cNvPicPr>
            <a:picLocks noChangeAspect="1"/>
          </p:cNvPicPr>
          <p:nvPr/>
        </p:nvPicPr>
        <p:blipFill>
          <a:blip r:embed="rId9"/>
          <a:stretch>
            <a:fillRect/>
          </a:stretch>
        </p:blipFill>
        <p:spPr>
          <a:xfrm>
            <a:off x="6473586" y="4059570"/>
            <a:ext cx="201900" cy="201900"/>
          </a:xfrm>
          <a:prstGeom prst="rect">
            <a:avLst/>
          </a:prstGeom>
        </p:spPr>
      </p:pic>
      <p:sp>
        <p:nvSpPr>
          <p:cNvPr id="37" name="Text 27"/>
          <p:cNvSpPr txBox="1"/>
          <p:nvPr/>
        </p:nvSpPr>
        <p:spPr>
          <a:xfrm>
            <a:off x="6894576" y="3931920"/>
            <a:ext cx="1801368" cy="457200"/>
          </a:xfrm>
          <a:prstGeom prst="rect">
            <a:avLst/>
          </a:prstGeom>
          <a:noFill/>
          <a:ln/>
        </p:spPr>
        <p:txBody>
          <a:bodyPr wrap="square" lIns="0" tIns="0" rIns="0" bIns="0" rtlCol="0" anchor="ctr"/>
          <a:lstStyle/>
          <a:p>
            <a:pPr marL="0" indent="0">
              <a:buNone/>
            </a:pPr>
            <a:r>
              <a:rPr lang="en-US" sz="1500" b="1" dirty="0">
                <a:solidFill>
                  <a:schemeClr val="tx2"/>
                </a:solidFill>
              </a:rPr>
              <a:t>Herbicide damage</a:t>
            </a:r>
            <a:endParaRPr lang="en-US" sz="1500" dirty="0"/>
          </a:p>
        </p:txBody>
      </p:sp>
      <p:sp>
        <p:nvSpPr>
          <p:cNvPr id="38" name="Text 28"/>
          <p:cNvSpPr txBox="1"/>
          <p:nvPr/>
        </p:nvSpPr>
        <p:spPr>
          <a:xfrm>
            <a:off x="6364224" y="4480560"/>
            <a:ext cx="2286000"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Detected before visible symptoms; reflectance unchanged</a:t>
            </a:r>
            <a:endParaRPr lang="en-US" sz="1300" dirty="0"/>
          </a:p>
        </p:txBody>
      </p:sp>
      <p:sp>
        <p:nvSpPr>
          <p:cNvPr id="39" name="card"/>
          <p:cNvSpPr/>
          <p:nvPr/>
        </p:nvSpPr>
        <p:spPr>
          <a:xfrm>
            <a:off x="8997696" y="3794760"/>
            <a:ext cx="2651760"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40" name="icon circle"/>
          <p:cNvSpPr/>
          <p:nvPr/>
        </p:nvSpPr>
        <p:spPr>
          <a:xfrm>
            <a:off x="9180576" y="3950208"/>
            <a:ext cx="420624" cy="420624"/>
          </a:xfrm>
          <a:prstGeom prst="ellipse">
            <a:avLst/>
          </a:prstGeom>
          <a:solidFill>
            <a:schemeClr val="accent5"/>
          </a:solidFill>
          <a:ln/>
        </p:spPr>
      </p:sp>
      <p:pic>
        <p:nvPicPr>
          <p:cNvPr id="41" name="Image 7" descr="Cloud icon"/>
          <p:cNvPicPr>
            <a:picLocks noChangeAspect="1"/>
          </p:cNvPicPr>
          <p:nvPr/>
        </p:nvPicPr>
        <p:blipFill>
          <a:blip r:embed="rId10"/>
          <a:stretch>
            <a:fillRect/>
          </a:stretch>
        </p:blipFill>
        <p:spPr>
          <a:xfrm>
            <a:off x="9289938" y="4059570"/>
            <a:ext cx="201900" cy="201900"/>
          </a:xfrm>
          <a:prstGeom prst="rect">
            <a:avLst/>
          </a:prstGeom>
        </p:spPr>
      </p:pic>
      <p:sp>
        <p:nvSpPr>
          <p:cNvPr id="42" name="Text 31"/>
          <p:cNvSpPr txBox="1"/>
          <p:nvPr/>
        </p:nvSpPr>
        <p:spPr>
          <a:xfrm>
            <a:off x="9710928" y="3931920"/>
            <a:ext cx="1801368" cy="457200"/>
          </a:xfrm>
          <a:prstGeom prst="rect">
            <a:avLst/>
          </a:prstGeom>
          <a:noFill/>
          <a:ln/>
        </p:spPr>
        <p:txBody>
          <a:bodyPr wrap="square" lIns="0" tIns="0" rIns="0" bIns="0" rtlCol="0" anchor="ctr"/>
          <a:lstStyle/>
          <a:p>
            <a:pPr marL="0" indent="0">
              <a:buNone/>
            </a:pPr>
            <a:r>
              <a:rPr lang="en-US" sz="1500" b="1" dirty="0">
                <a:solidFill>
                  <a:schemeClr val="tx2"/>
                </a:solidFill>
              </a:rPr>
              <a:t>Transpiration</a:t>
            </a:r>
            <a:endParaRPr lang="en-US" sz="1500" dirty="0"/>
          </a:p>
        </p:txBody>
      </p:sp>
      <p:sp>
        <p:nvSpPr>
          <p:cNvPr id="43" name="Text 32"/>
          <p:cNvSpPr txBox="1"/>
          <p:nvPr/>
        </p:nvSpPr>
        <p:spPr>
          <a:xfrm>
            <a:off x="9180576" y="4480560"/>
            <a:ext cx="2286000"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Linked to stomatal behaviour in unstressed crops</a:t>
            </a:r>
            <a:endParaRPr lang="en-US" sz="13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What drives SIF? (Table 5 of the review)</a:t>
            </a:r>
            <a:endParaRPr lang="en-US" sz="3200" dirty="0"/>
          </a:p>
        </p:txBody>
      </p:sp>
      <p:sp>
        <p:nvSpPr>
          <p:cNvPr id="4" name="figure frame"/>
          <p:cNvSpPr/>
          <p:nvPr/>
        </p:nvSpPr>
        <p:spPr>
          <a:xfrm>
            <a:off x="548640" y="1325880"/>
            <a:ext cx="5440680" cy="3840480"/>
          </a:xfrm>
          <a:prstGeom prst="roundRect">
            <a:avLst>
              <a:gd name="adj" fmla="val 1429"/>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5" name="Image 0" descr="Table 5 (part 1): vegetation traits and processes"/>
          <p:cNvPicPr>
            <a:picLocks noChangeAspect="1"/>
          </p:cNvPicPr>
          <p:nvPr/>
        </p:nvPicPr>
        <p:blipFill>
          <a:blip r:embed="rId3"/>
          <a:stretch>
            <a:fillRect/>
          </a:stretch>
        </p:blipFill>
        <p:spPr>
          <a:xfrm>
            <a:off x="702243" y="1417320"/>
            <a:ext cx="5133474" cy="3657600"/>
          </a:xfrm>
          <a:prstGeom prst="rect">
            <a:avLst/>
          </a:prstGeom>
        </p:spPr>
      </p:pic>
      <p:sp>
        <p:nvSpPr>
          <p:cNvPr id="6" name="Text 2"/>
          <p:cNvSpPr txBox="1"/>
          <p:nvPr/>
        </p:nvSpPr>
        <p:spPr>
          <a:xfrm>
            <a:off x="548640" y="5212080"/>
            <a:ext cx="5440680" cy="274320"/>
          </a:xfrm>
          <a:prstGeom prst="rect">
            <a:avLst/>
          </a:prstGeom>
          <a:noFill/>
          <a:ln/>
        </p:spPr>
        <p:txBody>
          <a:bodyPr wrap="square" lIns="0" tIns="0" rIns="0" bIns="0" rtlCol="0" anchor="t"/>
          <a:lstStyle/>
          <a:p>
            <a:pPr marL="0" indent="0">
              <a:buNone/>
            </a:pPr>
            <a:r>
              <a:rPr lang="en-US" sz="1100" i="1" dirty="0">
                <a:solidFill>
                  <a:schemeClr val="accent6"/>
                </a:solidFill>
              </a:rPr>
              <a:t>Table 5 (part 1): vegetation traits and processes</a:t>
            </a:r>
            <a:endParaRPr lang="en-US" sz="1100" dirty="0"/>
          </a:p>
        </p:txBody>
      </p:sp>
      <p:sp>
        <p:nvSpPr>
          <p:cNvPr id="7" name="figure frame"/>
          <p:cNvSpPr/>
          <p:nvPr/>
        </p:nvSpPr>
        <p:spPr>
          <a:xfrm>
            <a:off x="6199632" y="1325880"/>
            <a:ext cx="5440680" cy="3840480"/>
          </a:xfrm>
          <a:prstGeom prst="roundRect">
            <a:avLst>
              <a:gd name="adj" fmla="val 1429"/>
            </a:avLst>
          </a:prstGeom>
          <a:solidFill>
            <a:schemeClr val="bg1"/>
          </a:solidFill>
          <a:ln w="12700">
            <a:solidFill>
              <a:schemeClr val="bg2"/>
            </a:solidFill>
            <a:prstDash val="solid"/>
          </a:ln>
          <a:effectLst>
            <a:outerShdw blurRad="76200" dist="25400" dir="5400000" algn="bl" rotWithShape="0">
              <a:srgbClr val="000000">
                <a:alpha val="14000"/>
              </a:srgbClr>
            </a:outerShdw>
          </a:effectLst>
        </p:spPr>
      </p:sp>
      <p:pic>
        <p:nvPicPr>
          <p:cNvPr id="8" name="Image 1" descr="Table 5 (part 2): environmental, atmospheric and stress factors"/>
          <p:cNvPicPr>
            <a:picLocks noChangeAspect="1"/>
          </p:cNvPicPr>
          <p:nvPr/>
        </p:nvPicPr>
        <p:blipFill>
          <a:blip r:embed="rId4"/>
          <a:stretch>
            <a:fillRect/>
          </a:stretch>
        </p:blipFill>
        <p:spPr>
          <a:xfrm>
            <a:off x="6291072" y="1438751"/>
            <a:ext cx="5257800" cy="3614738"/>
          </a:xfrm>
          <a:prstGeom prst="rect">
            <a:avLst/>
          </a:prstGeom>
        </p:spPr>
      </p:pic>
      <p:sp>
        <p:nvSpPr>
          <p:cNvPr id="9" name="Text 4"/>
          <p:cNvSpPr txBox="1"/>
          <p:nvPr/>
        </p:nvSpPr>
        <p:spPr>
          <a:xfrm>
            <a:off x="6199632" y="5212080"/>
            <a:ext cx="5440680" cy="274320"/>
          </a:xfrm>
          <a:prstGeom prst="rect">
            <a:avLst/>
          </a:prstGeom>
          <a:noFill/>
          <a:ln/>
        </p:spPr>
        <p:txBody>
          <a:bodyPr wrap="square" lIns="0" tIns="0" rIns="0" bIns="0" rtlCol="0" anchor="t"/>
          <a:lstStyle/>
          <a:p>
            <a:pPr marL="0" indent="0">
              <a:buNone/>
            </a:pPr>
            <a:r>
              <a:rPr lang="en-US" sz="1100" i="1" dirty="0">
                <a:solidFill>
                  <a:schemeClr val="accent6"/>
                </a:solidFill>
              </a:rPr>
              <a:t>Table 5 (part 2): environmental, atmospheric and stress factors</a:t>
            </a:r>
            <a:endParaRPr lang="en-US" sz="1100" dirty="0"/>
          </a:p>
        </p:txBody>
      </p:sp>
      <p:sp>
        <p:nvSpPr>
          <p:cNvPr id="10" name="legend"/>
          <p:cNvSpPr/>
          <p:nvPr/>
        </p:nvSpPr>
        <p:spPr>
          <a:xfrm>
            <a:off x="548640" y="5577840"/>
            <a:ext cx="11091672" cy="594360"/>
          </a:xfrm>
          <a:prstGeom prst="roundRect">
            <a:avLst>
              <a:gd name="adj" fmla="val 12308"/>
            </a:avLst>
          </a:prstGeom>
          <a:solidFill>
            <a:schemeClr val="bg2"/>
          </a:solidFill>
          <a:ln/>
        </p:spPr>
      </p:sp>
      <p:sp>
        <p:nvSpPr>
          <p:cNvPr id="11" name="Text 6"/>
          <p:cNvSpPr txBox="1"/>
          <p:nvPr/>
        </p:nvSpPr>
        <p:spPr>
          <a:xfrm>
            <a:off x="685800" y="5596128"/>
            <a:ext cx="10835640" cy="548640"/>
          </a:xfrm>
          <a:prstGeom prst="rect">
            <a:avLst/>
          </a:prstGeom>
          <a:noFill/>
          <a:ln/>
        </p:spPr>
        <p:txBody>
          <a:bodyPr wrap="square" lIns="508" tIns="508" rIns="508" bIns="508" rtlCol="0" anchor="ctr"/>
          <a:lstStyle/>
          <a:p>
            <a:pPr marL="0" indent="0">
              <a:spcAft>
                <a:spcPts val="600"/>
              </a:spcAft>
              <a:buNone/>
            </a:pPr>
            <a:r>
              <a:rPr lang="en-US" sz="1200" b="1" dirty="0">
                <a:solidFill>
                  <a:schemeClr val="tx1"/>
                </a:solidFill>
              </a:rPr>
              <a:t>Process:</a:t>
            </a:r>
            <a:r>
              <a:rPr lang="en-US" sz="1200" dirty="0">
                <a:solidFill>
                  <a:schemeClr val="tx1"/>
                </a:solidFill>
              </a:rPr>
              <a:t> A absorption · R re-absorption · S scattering · PQ photochemical quenching · NPQ · OP other photoprotection   </a:t>
            </a:r>
            <a:r>
              <a:rPr lang="en-US" sz="1200" b="1" dirty="0">
                <a:solidFill>
                  <a:schemeClr val="tx1"/>
                </a:solidFill>
              </a:rPr>
              <a:t>Scale:</a:t>
            </a:r>
            <a:r>
              <a:rPr lang="en-US" sz="1200" dirty="0">
                <a:solidFill>
                  <a:schemeClr val="tx1"/>
                </a:solidFill>
              </a:rPr>
              <a:t> L leaf · C canopy · E ecosystem · B biome   </a:t>
            </a:r>
            <a:r>
              <a:rPr lang="en-US" sz="1200" b="1" dirty="0">
                <a:solidFill>
                  <a:schemeClr val="tx1"/>
                </a:solidFill>
              </a:rPr>
              <a:t>Time:</a:t>
            </a:r>
            <a:r>
              <a:rPr lang="en-US" sz="1200" dirty="0">
                <a:solidFill>
                  <a:schemeClr val="tx1"/>
                </a:solidFill>
              </a:rPr>
              <a:t> ST short · MT medium · LT long-term · SV seasonal</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Challenges and future directions</a:t>
            </a:r>
            <a:endParaRPr lang="en-US" sz="3200" dirty="0"/>
          </a:p>
        </p:txBody>
      </p:sp>
      <p:sp>
        <p:nvSpPr>
          <p:cNvPr id="4" name="card"/>
          <p:cNvSpPr/>
          <p:nvPr/>
        </p:nvSpPr>
        <p:spPr>
          <a:xfrm>
            <a:off x="548640" y="1371600"/>
            <a:ext cx="3547872"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5" name="icon circle"/>
          <p:cNvSpPr/>
          <p:nvPr/>
        </p:nvSpPr>
        <p:spPr>
          <a:xfrm>
            <a:off x="731520" y="1527048"/>
            <a:ext cx="420624" cy="420624"/>
          </a:xfrm>
          <a:prstGeom prst="ellipse">
            <a:avLst/>
          </a:prstGeom>
          <a:solidFill>
            <a:schemeClr val="accent1"/>
          </a:solidFill>
          <a:ln/>
        </p:spPr>
      </p:sp>
      <p:pic>
        <p:nvPicPr>
          <p:cNvPr id="6" name="Image 0" descr="LayerGroup icon"/>
          <p:cNvPicPr>
            <a:picLocks noChangeAspect="1"/>
          </p:cNvPicPr>
          <p:nvPr/>
        </p:nvPicPr>
        <p:blipFill>
          <a:blip r:embed="rId3"/>
          <a:stretch>
            <a:fillRect/>
          </a:stretch>
        </p:blipFill>
        <p:spPr>
          <a:xfrm>
            <a:off x="840882" y="1636410"/>
            <a:ext cx="201900" cy="201900"/>
          </a:xfrm>
          <a:prstGeom prst="rect">
            <a:avLst/>
          </a:prstGeom>
        </p:spPr>
      </p:pic>
      <p:sp>
        <p:nvSpPr>
          <p:cNvPr id="7" name="Text 3"/>
          <p:cNvSpPr txBox="1"/>
          <p:nvPr/>
        </p:nvSpPr>
        <p:spPr>
          <a:xfrm>
            <a:off x="1261872" y="1508760"/>
            <a:ext cx="2697480" cy="457200"/>
          </a:xfrm>
          <a:prstGeom prst="rect">
            <a:avLst/>
          </a:prstGeom>
          <a:noFill/>
          <a:ln/>
        </p:spPr>
        <p:txBody>
          <a:bodyPr wrap="square" lIns="0" tIns="0" rIns="0" bIns="0" rtlCol="0" anchor="ctr"/>
          <a:lstStyle/>
          <a:p>
            <a:pPr marL="0" indent="0">
              <a:buNone/>
            </a:pPr>
            <a:r>
              <a:rPr lang="en-US" sz="1500" b="1" dirty="0">
                <a:solidFill>
                  <a:schemeClr val="tx2"/>
                </a:solidFill>
              </a:rPr>
              <a:t>Disentangle drivers</a:t>
            </a:r>
            <a:endParaRPr lang="en-US" sz="1500" dirty="0"/>
          </a:p>
        </p:txBody>
      </p:sp>
      <p:sp>
        <p:nvSpPr>
          <p:cNvPr id="8" name="Text 4"/>
          <p:cNvSpPr txBox="1"/>
          <p:nvPr/>
        </p:nvSpPr>
        <p:spPr>
          <a:xfrm>
            <a:off x="731520" y="2057400"/>
            <a:ext cx="3182112"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Separate physiology from structure, pigments and illumination using models + ancillary data</a:t>
            </a:r>
            <a:endParaRPr lang="en-US" sz="1300" dirty="0"/>
          </a:p>
        </p:txBody>
      </p:sp>
      <p:sp>
        <p:nvSpPr>
          <p:cNvPr id="9" name="card"/>
          <p:cNvSpPr/>
          <p:nvPr/>
        </p:nvSpPr>
        <p:spPr>
          <a:xfrm>
            <a:off x="4297680" y="1371600"/>
            <a:ext cx="3547872"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10" name="icon circle"/>
          <p:cNvSpPr/>
          <p:nvPr/>
        </p:nvSpPr>
        <p:spPr>
          <a:xfrm>
            <a:off x="4480560" y="1527048"/>
            <a:ext cx="420624" cy="420624"/>
          </a:xfrm>
          <a:prstGeom prst="ellipse">
            <a:avLst/>
          </a:prstGeom>
          <a:solidFill>
            <a:schemeClr val="accent3"/>
          </a:solidFill>
          <a:ln/>
        </p:spPr>
      </p:sp>
      <p:pic>
        <p:nvPicPr>
          <p:cNvPr id="11" name="Image 1" descr="Fire icon"/>
          <p:cNvPicPr>
            <a:picLocks noChangeAspect="1"/>
          </p:cNvPicPr>
          <p:nvPr/>
        </p:nvPicPr>
        <p:blipFill>
          <a:blip r:embed="rId4"/>
          <a:stretch>
            <a:fillRect/>
          </a:stretch>
        </p:blipFill>
        <p:spPr>
          <a:xfrm>
            <a:off x="4589922" y="1636410"/>
            <a:ext cx="201900" cy="201900"/>
          </a:xfrm>
          <a:prstGeom prst="rect">
            <a:avLst/>
          </a:prstGeom>
        </p:spPr>
      </p:pic>
      <p:sp>
        <p:nvSpPr>
          <p:cNvPr id="12" name="Text 7"/>
          <p:cNvSpPr txBox="1"/>
          <p:nvPr/>
        </p:nvSpPr>
        <p:spPr>
          <a:xfrm>
            <a:off x="5010912" y="1508760"/>
            <a:ext cx="2697480" cy="457200"/>
          </a:xfrm>
          <a:prstGeom prst="rect">
            <a:avLst/>
          </a:prstGeom>
          <a:noFill/>
          <a:ln/>
        </p:spPr>
        <p:txBody>
          <a:bodyPr wrap="square" lIns="0" tIns="0" rIns="0" bIns="0" rtlCol="0" anchor="ctr"/>
          <a:lstStyle/>
          <a:p>
            <a:pPr marL="0" indent="0">
              <a:buNone/>
            </a:pPr>
            <a:r>
              <a:rPr lang="en-US" sz="1500" b="1" dirty="0">
                <a:solidFill>
                  <a:schemeClr val="tx2"/>
                </a:solidFill>
              </a:rPr>
              <a:t>Quantify NPQ</a:t>
            </a:r>
            <a:endParaRPr lang="en-US" sz="1500" dirty="0"/>
          </a:p>
        </p:txBody>
      </p:sp>
      <p:sp>
        <p:nvSpPr>
          <p:cNvPr id="13" name="Text 8"/>
          <p:cNvSpPr txBox="1"/>
          <p:nvPr/>
        </p:nvSpPr>
        <p:spPr>
          <a:xfrm>
            <a:off x="4480560" y="2057400"/>
            <a:ext cx="3182112"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PRI, reflectance 500–600 nm, canopy–air temperature to constrain the SIF–photosynthesis link</a:t>
            </a:r>
            <a:endParaRPr lang="en-US" sz="1300" dirty="0"/>
          </a:p>
        </p:txBody>
      </p:sp>
      <p:sp>
        <p:nvSpPr>
          <p:cNvPr id="14" name="card"/>
          <p:cNvSpPr/>
          <p:nvPr/>
        </p:nvSpPr>
        <p:spPr>
          <a:xfrm>
            <a:off x="8046720" y="1371600"/>
            <a:ext cx="3547872"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15" name="icon circle"/>
          <p:cNvSpPr/>
          <p:nvPr/>
        </p:nvSpPr>
        <p:spPr>
          <a:xfrm>
            <a:off x="8229600" y="1527048"/>
            <a:ext cx="420624" cy="420624"/>
          </a:xfrm>
          <a:prstGeom prst="ellipse">
            <a:avLst/>
          </a:prstGeom>
          <a:solidFill>
            <a:schemeClr val="accent5"/>
          </a:solidFill>
          <a:ln/>
        </p:spPr>
      </p:sp>
      <p:pic>
        <p:nvPicPr>
          <p:cNvPr id="16" name="Image 2" descr="Check icon"/>
          <p:cNvPicPr>
            <a:picLocks noChangeAspect="1"/>
          </p:cNvPicPr>
          <p:nvPr/>
        </p:nvPicPr>
        <p:blipFill>
          <a:blip r:embed="rId5"/>
          <a:stretch>
            <a:fillRect/>
          </a:stretch>
        </p:blipFill>
        <p:spPr>
          <a:xfrm>
            <a:off x="8338962" y="1636410"/>
            <a:ext cx="201900" cy="201900"/>
          </a:xfrm>
          <a:prstGeom prst="rect">
            <a:avLst/>
          </a:prstGeom>
        </p:spPr>
      </p:pic>
      <p:sp>
        <p:nvSpPr>
          <p:cNvPr id="17" name="Text 11"/>
          <p:cNvSpPr txBox="1"/>
          <p:nvPr/>
        </p:nvSpPr>
        <p:spPr>
          <a:xfrm>
            <a:off x="8759952" y="1508760"/>
            <a:ext cx="2697480" cy="457200"/>
          </a:xfrm>
          <a:prstGeom prst="rect">
            <a:avLst/>
          </a:prstGeom>
          <a:noFill/>
          <a:ln/>
        </p:spPr>
        <p:txBody>
          <a:bodyPr wrap="square" lIns="0" tIns="0" rIns="0" bIns="0" rtlCol="0" anchor="ctr"/>
          <a:lstStyle/>
          <a:p>
            <a:pPr marL="0" indent="0">
              <a:buNone/>
            </a:pPr>
            <a:r>
              <a:rPr lang="en-US" sz="1500" b="1" dirty="0">
                <a:solidFill>
                  <a:schemeClr val="tx2"/>
                </a:solidFill>
              </a:rPr>
              <a:t>Validate retrievals</a:t>
            </a:r>
            <a:endParaRPr lang="en-US" sz="1500" dirty="0"/>
          </a:p>
        </p:txBody>
      </p:sp>
      <p:sp>
        <p:nvSpPr>
          <p:cNvPr id="18" name="Text 12"/>
          <p:cNvSpPr txBox="1"/>
          <p:nvPr/>
        </p:nvSpPr>
        <p:spPr>
          <a:xfrm>
            <a:off x="8229600" y="2057400"/>
            <a:ext cx="3182112"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Ground towers, UAVs and airborne demonstrators (HyPlant, CFIS) under satellite tracks</a:t>
            </a:r>
            <a:endParaRPr lang="en-US" sz="1300" dirty="0"/>
          </a:p>
        </p:txBody>
      </p:sp>
      <p:sp>
        <p:nvSpPr>
          <p:cNvPr id="19" name="card"/>
          <p:cNvSpPr/>
          <p:nvPr/>
        </p:nvSpPr>
        <p:spPr>
          <a:xfrm>
            <a:off x="548640" y="3794760"/>
            <a:ext cx="3547872"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20" name="icon circle"/>
          <p:cNvSpPr/>
          <p:nvPr/>
        </p:nvSpPr>
        <p:spPr>
          <a:xfrm>
            <a:off x="731520" y="3950208"/>
            <a:ext cx="420624" cy="420624"/>
          </a:xfrm>
          <a:prstGeom prst="ellipse">
            <a:avLst/>
          </a:prstGeom>
          <a:solidFill>
            <a:schemeClr val="accent2"/>
          </a:solidFill>
          <a:ln/>
        </p:spPr>
      </p:sp>
      <p:pic>
        <p:nvPicPr>
          <p:cNvPr id="21" name="Image 3" descr="Ruler icon"/>
          <p:cNvPicPr>
            <a:picLocks noChangeAspect="1"/>
          </p:cNvPicPr>
          <p:nvPr/>
        </p:nvPicPr>
        <p:blipFill>
          <a:blip r:embed="rId6"/>
          <a:stretch>
            <a:fillRect/>
          </a:stretch>
        </p:blipFill>
        <p:spPr>
          <a:xfrm>
            <a:off x="840882" y="4059570"/>
            <a:ext cx="201900" cy="201900"/>
          </a:xfrm>
          <a:prstGeom prst="rect">
            <a:avLst/>
          </a:prstGeom>
        </p:spPr>
      </p:pic>
      <p:sp>
        <p:nvSpPr>
          <p:cNvPr id="22" name="Text 15"/>
          <p:cNvSpPr txBox="1"/>
          <p:nvPr/>
        </p:nvSpPr>
        <p:spPr>
          <a:xfrm>
            <a:off x="1261872" y="3931920"/>
            <a:ext cx="2697480" cy="457200"/>
          </a:xfrm>
          <a:prstGeom prst="rect">
            <a:avLst/>
          </a:prstGeom>
          <a:noFill/>
          <a:ln/>
        </p:spPr>
        <p:txBody>
          <a:bodyPr wrap="square" lIns="0" tIns="0" rIns="0" bIns="0" rtlCol="0" anchor="ctr"/>
          <a:lstStyle/>
          <a:p>
            <a:pPr marL="0" indent="0">
              <a:buNone/>
            </a:pPr>
            <a:r>
              <a:rPr lang="en-US" sz="1500" b="1" dirty="0">
                <a:solidFill>
                  <a:schemeClr val="tx2"/>
                </a:solidFill>
              </a:rPr>
              <a:t>Scale bridging</a:t>
            </a:r>
            <a:endParaRPr lang="en-US" sz="1500" dirty="0"/>
          </a:p>
        </p:txBody>
      </p:sp>
      <p:sp>
        <p:nvSpPr>
          <p:cNvPr id="23" name="Text 16"/>
          <p:cNvSpPr txBox="1"/>
          <p:nvPr/>
        </p:nvSpPr>
        <p:spPr>
          <a:xfrm>
            <a:off x="731520" y="4480560"/>
            <a:ext cx="3182112"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Downscale coarse satellite SIF; correct directional effects; combine sensors</a:t>
            </a:r>
            <a:endParaRPr lang="en-US" sz="1300" dirty="0"/>
          </a:p>
        </p:txBody>
      </p:sp>
      <p:sp>
        <p:nvSpPr>
          <p:cNvPr id="24" name="card"/>
          <p:cNvSpPr/>
          <p:nvPr/>
        </p:nvSpPr>
        <p:spPr>
          <a:xfrm>
            <a:off x="4297680" y="3794760"/>
            <a:ext cx="3547872"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25" name="icon circle"/>
          <p:cNvSpPr/>
          <p:nvPr/>
        </p:nvSpPr>
        <p:spPr>
          <a:xfrm>
            <a:off x="4480560" y="3950208"/>
            <a:ext cx="420624" cy="420624"/>
          </a:xfrm>
          <a:prstGeom prst="ellipse">
            <a:avLst/>
          </a:prstGeom>
          <a:solidFill>
            <a:schemeClr val="accent4"/>
          </a:solidFill>
          <a:ln/>
        </p:spPr>
      </p:sp>
      <p:pic>
        <p:nvPicPr>
          <p:cNvPr id="26" name="Image 4" descr="Satellite icon"/>
          <p:cNvPicPr>
            <a:picLocks noChangeAspect="1"/>
          </p:cNvPicPr>
          <p:nvPr/>
        </p:nvPicPr>
        <p:blipFill>
          <a:blip r:embed="rId7"/>
          <a:stretch>
            <a:fillRect/>
          </a:stretch>
        </p:blipFill>
        <p:spPr>
          <a:xfrm>
            <a:off x="4589922" y="4059570"/>
            <a:ext cx="201900" cy="201900"/>
          </a:xfrm>
          <a:prstGeom prst="rect">
            <a:avLst/>
          </a:prstGeom>
        </p:spPr>
      </p:pic>
      <p:sp>
        <p:nvSpPr>
          <p:cNvPr id="27" name="Text 19"/>
          <p:cNvSpPr txBox="1"/>
          <p:nvPr/>
        </p:nvSpPr>
        <p:spPr>
          <a:xfrm>
            <a:off x="5010912" y="3931920"/>
            <a:ext cx="2697480" cy="457200"/>
          </a:xfrm>
          <a:prstGeom prst="rect">
            <a:avLst/>
          </a:prstGeom>
          <a:noFill/>
          <a:ln/>
        </p:spPr>
        <p:txBody>
          <a:bodyPr wrap="square" lIns="0" tIns="0" rIns="0" bIns="0" rtlCol="0" anchor="ctr"/>
          <a:lstStyle/>
          <a:p>
            <a:pPr marL="0" indent="0">
              <a:buNone/>
            </a:pPr>
            <a:r>
              <a:rPr lang="en-US" sz="1500" b="1" dirty="0">
                <a:solidFill>
                  <a:schemeClr val="tx2"/>
                </a:solidFill>
              </a:rPr>
              <a:t>Better sensors</a:t>
            </a:r>
            <a:endParaRPr lang="en-US" sz="1500" dirty="0"/>
          </a:p>
        </p:txBody>
      </p:sp>
      <p:sp>
        <p:nvSpPr>
          <p:cNvPr id="28" name="Text 20"/>
          <p:cNvSpPr txBox="1"/>
          <p:nvPr/>
        </p:nvSpPr>
        <p:spPr>
          <a:xfrm>
            <a:off x="4480560" y="4480560"/>
            <a:ext cx="3182112"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Red + far-red + full spectrum; high spectral resolution and SNR; VNIR for inversion</a:t>
            </a:r>
            <a:endParaRPr lang="en-US" sz="1300" dirty="0"/>
          </a:p>
        </p:txBody>
      </p:sp>
      <p:sp>
        <p:nvSpPr>
          <p:cNvPr id="29" name="card"/>
          <p:cNvSpPr/>
          <p:nvPr/>
        </p:nvSpPr>
        <p:spPr>
          <a:xfrm>
            <a:off x="8046720" y="3794760"/>
            <a:ext cx="3547872"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30" name="icon circle"/>
          <p:cNvSpPr/>
          <p:nvPr/>
        </p:nvSpPr>
        <p:spPr>
          <a:xfrm>
            <a:off x="8229600" y="3950208"/>
            <a:ext cx="420624" cy="420624"/>
          </a:xfrm>
          <a:prstGeom prst="ellipse">
            <a:avLst/>
          </a:prstGeom>
          <a:solidFill>
            <a:schemeClr val="accent6"/>
          </a:solidFill>
          <a:ln/>
        </p:spPr>
      </p:sp>
      <p:pic>
        <p:nvPicPr>
          <p:cNvPr id="31" name="Image 5" descr="Cogs icon"/>
          <p:cNvPicPr>
            <a:picLocks noChangeAspect="1"/>
          </p:cNvPicPr>
          <p:nvPr/>
        </p:nvPicPr>
        <p:blipFill>
          <a:blip r:embed="rId8"/>
          <a:stretch>
            <a:fillRect/>
          </a:stretch>
        </p:blipFill>
        <p:spPr>
          <a:xfrm>
            <a:off x="8338962" y="4059570"/>
            <a:ext cx="201900" cy="201900"/>
          </a:xfrm>
          <a:prstGeom prst="rect">
            <a:avLst/>
          </a:prstGeom>
        </p:spPr>
      </p:pic>
      <p:sp>
        <p:nvSpPr>
          <p:cNvPr id="32" name="Text 23"/>
          <p:cNvSpPr txBox="1"/>
          <p:nvPr/>
        </p:nvSpPr>
        <p:spPr>
          <a:xfrm>
            <a:off x="8759952" y="3931920"/>
            <a:ext cx="2697480" cy="457200"/>
          </a:xfrm>
          <a:prstGeom prst="rect">
            <a:avLst/>
          </a:prstGeom>
          <a:noFill/>
          <a:ln/>
        </p:spPr>
        <p:txBody>
          <a:bodyPr wrap="square" lIns="0" tIns="0" rIns="0" bIns="0" rtlCol="0" anchor="ctr"/>
          <a:lstStyle/>
          <a:p>
            <a:pPr marL="0" indent="0">
              <a:buNone/>
            </a:pPr>
            <a:r>
              <a:rPr lang="en-US" sz="1500" b="1" dirty="0">
                <a:solidFill>
                  <a:schemeClr val="tx2"/>
                </a:solidFill>
              </a:rPr>
              <a:t>Operational products</a:t>
            </a:r>
            <a:endParaRPr lang="en-US" sz="1500" dirty="0"/>
          </a:p>
        </p:txBody>
      </p:sp>
      <p:sp>
        <p:nvSpPr>
          <p:cNvPr id="33" name="Text 24"/>
          <p:cNvSpPr txBox="1"/>
          <p:nvPr/>
        </p:nvSpPr>
        <p:spPr>
          <a:xfrm>
            <a:off x="8229600" y="4480560"/>
            <a:ext cx="3182112" cy="1463040"/>
          </a:xfrm>
          <a:prstGeom prst="rect">
            <a:avLst/>
          </a:prstGeom>
          <a:noFill/>
          <a:ln/>
        </p:spPr>
        <p:txBody>
          <a:bodyPr wrap="square" lIns="508" tIns="508" rIns="508" bIns="508" rtlCol="0" anchor="t"/>
          <a:lstStyle/>
          <a:p>
            <a:pPr marL="0" indent="0">
              <a:spcAft>
                <a:spcPts val="400"/>
              </a:spcAft>
              <a:buNone/>
            </a:pPr>
            <a:r>
              <a:rPr lang="en-US" sz="1300" dirty="0">
                <a:solidFill>
                  <a:schemeClr val="tx1"/>
                </a:solidFill>
              </a:rPr>
              <a:t>Assimilation in land surface models; ML emulators; tools for non-experts</a:t>
            </a:r>
            <a:endParaRPr lang="en-US" sz="13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514600"/>
            <a:ext cx="7680960" cy="1188720"/>
          </a:xfrm>
          <a:prstGeom prst="rect">
            <a:avLst/>
          </a:prstGeom>
          <a:noFill/>
          <a:ln/>
        </p:spPr>
        <p:txBody>
          <a:bodyPr wrap="square" lIns="0" tIns="0" rIns="0" bIns="0" rtlCol="0" anchor="ctr"/>
          <a:lstStyle/>
          <a:p>
            <a:pPr marL="0" indent="0" algn="l">
              <a:buNone/>
            </a:pPr>
            <a:r>
              <a:rPr lang="en-US" sz="4000" b="1" dirty="0">
                <a:solidFill>
                  <a:schemeClr val="bg1"/>
                </a:solidFill>
              </a:rPr>
              <a:t>Synthesis &amp; self-check</a:t>
            </a:r>
            <a:endParaRPr lang="en-US" sz="4000" dirty="0"/>
          </a:p>
        </p:txBody>
      </p:sp>
      <p:sp>
        <p:nvSpPr>
          <p:cNvPr id="3" name="Text 0"/>
          <p:cNvSpPr>
            <a:spLocks noGrp="1"/>
          </p:cNvSpPr>
          <p:nvPr>
            <p:ph type="body" idx="101" hasCustomPrompt="1"/>
          </p:nvPr>
        </p:nvSpPr>
        <p:spPr>
          <a:xfrm>
            <a:off x="731520" y="3794760"/>
            <a:ext cx="7498080" cy="1280160"/>
          </a:xfrm>
          <a:prstGeom prst="rect">
            <a:avLst/>
          </a:prstGeom>
          <a:noFill/>
          <a:ln/>
        </p:spPr>
        <p:txBody>
          <a:bodyPr wrap="square" lIns="0" tIns="0" rIns="0" bIns="0" rtlCol="0" anchor="t"/>
          <a:lstStyle/>
          <a:p>
            <a:pPr marL="0" indent="0">
              <a:buNone/>
            </a:pPr>
            <a:r>
              <a:rPr lang="en-US" sz="1800" dirty="0">
                <a:solidFill>
                  <a:schemeClr val="bg2"/>
                </a:solidFill>
              </a:rPr>
              <a:t>Bringing PAM and SIF together, a one-page formula sheet, and answers to the most common doubts</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marL="0" indent="0">
              <a:buNone/>
            </a:pPr>
            <a:r>
              <a:rPr lang="en-US" sz="7200" b="1" dirty="0">
                <a:solidFill>
                  <a:schemeClr val="accent3"/>
                </a:solidFill>
                <a:latin typeface="Cambria" pitchFamily="34" charset="0"/>
                <a:ea typeface="Cambria" pitchFamily="34" charset="-122"/>
                <a:cs typeface="Cambria" pitchFamily="34" charset="-120"/>
              </a:rPr>
              <a:t>09</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One concept, two ways of measuring it</a:t>
            </a:r>
            <a:endParaRPr lang="en-US" sz="3200" dirty="0"/>
          </a:p>
        </p:txBody>
      </p:sp>
      <p:sp>
        <p:nvSpPr>
          <p:cNvPr id="4" name="diagram box"/>
          <p:cNvSpPr/>
          <p:nvPr/>
        </p:nvSpPr>
        <p:spPr>
          <a:xfrm>
            <a:off x="4270248" y="1371600"/>
            <a:ext cx="3657600" cy="1188720"/>
          </a:xfrm>
          <a:prstGeom prst="roundRect">
            <a:avLst>
              <a:gd name="adj" fmla="val 6154"/>
            </a:avLst>
          </a:prstGeom>
          <a:solidFill>
            <a:schemeClr val="tx2"/>
          </a:solidFill>
          <a:ln/>
        </p:spPr>
      </p:sp>
      <p:sp>
        <p:nvSpPr>
          <p:cNvPr id="5" name="Text 2"/>
          <p:cNvSpPr txBox="1"/>
          <p:nvPr/>
        </p:nvSpPr>
        <p:spPr>
          <a:xfrm>
            <a:off x="4270248" y="1371600"/>
            <a:ext cx="3657600" cy="1188720"/>
          </a:xfrm>
          <a:prstGeom prst="rect">
            <a:avLst/>
          </a:prstGeom>
          <a:noFill/>
          <a:ln/>
        </p:spPr>
        <p:txBody>
          <a:bodyPr wrap="square" lIns="508" tIns="508" rIns="508" bIns="508" rtlCol="0" anchor="ctr"/>
          <a:lstStyle/>
          <a:p>
            <a:pPr marL="0" indent="0" algn="ctr">
              <a:buNone/>
            </a:pPr>
            <a:r>
              <a:rPr lang="en-US" sz="1600" b="1" dirty="0">
                <a:solidFill>
                  <a:schemeClr val="bg1"/>
                </a:solidFill>
              </a:rPr>
              <a:t>Absorbed light energy</a:t>
            </a:r>
            <a:endParaRPr lang="en-US" sz="1600" dirty="0"/>
          </a:p>
          <a:p>
            <a:pPr marL="0" indent="0" algn="ctr">
              <a:buNone/>
            </a:pPr>
            <a:r>
              <a:rPr lang="en-US" sz="1600" b="1" dirty="0">
                <a:solidFill>
                  <a:schemeClr val="bg1"/>
                </a:solidFill>
              </a:rPr>
              <a:t>Φ</a:t>
            </a:r>
            <a:r>
              <a:rPr lang="en-US" sz="1600" b="1" baseline="-40000" dirty="0">
                <a:solidFill>
                  <a:schemeClr val="bg1"/>
                </a:solidFill>
              </a:rPr>
              <a:t>P</a:t>
            </a:r>
            <a:r>
              <a:rPr lang="en-US" sz="1600" b="1" dirty="0">
                <a:solidFill>
                  <a:schemeClr val="bg1"/>
                </a:solidFill>
              </a:rPr>
              <a:t> + Φ</a:t>
            </a:r>
            <a:r>
              <a:rPr lang="en-US" sz="1600" b="1" baseline="-40000" dirty="0">
                <a:solidFill>
                  <a:schemeClr val="bg1"/>
                </a:solidFill>
              </a:rPr>
              <a:t>N</a:t>
            </a:r>
            <a:r>
              <a:rPr lang="en-US" sz="1600" b="1" dirty="0">
                <a:solidFill>
                  <a:schemeClr val="bg1"/>
                </a:solidFill>
              </a:rPr>
              <a:t> + Φ</a:t>
            </a:r>
            <a:r>
              <a:rPr lang="en-US" sz="1600" b="1" baseline="-40000" dirty="0">
                <a:solidFill>
                  <a:schemeClr val="bg1"/>
                </a:solidFill>
              </a:rPr>
              <a:t>F</a:t>
            </a:r>
            <a:r>
              <a:rPr lang="en-US" sz="1600" b="1" dirty="0">
                <a:solidFill>
                  <a:schemeClr val="bg1"/>
                </a:solidFill>
              </a:rPr>
              <a:t> = 1</a:t>
            </a:r>
            <a:endParaRPr lang="en-US" sz="1600" dirty="0"/>
          </a:p>
        </p:txBody>
      </p:sp>
      <p:sp>
        <p:nvSpPr>
          <p:cNvPr id="6" name="arrow"/>
          <p:cNvSpPr/>
          <p:nvPr/>
        </p:nvSpPr>
        <p:spPr>
          <a:xfrm flipH="1">
            <a:off x="3108960" y="2560320"/>
            <a:ext cx="1645920" cy="548640"/>
          </a:xfrm>
          <a:prstGeom prst="line">
            <a:avLst/>
          </a:prstGeom>
          <a:noFill/>
          <a:ln w="31750">
            <a:solidFill>
              <a:srgbClr val="2E8B57"/>
            </a:solidFill>
            <a:prstDash val="solid"/>
            <a:tailEnd type="triangle"/>
          </a:ln>
        </p:spPr>
      </p:sp>
      <p:sp>
        <p:nvSpPr>
          <p:cNvPr id="7" name="arrow"/>
          <p:cNvSpPr/>
          <p:nvPr/>
        </p:nvSpPr>
        <p:spPr>
          <a:xfrm>
            <a:off x="7406640" y="2560320"/>
            <a:ext cx="1645920" cy="548640"/>
          </a:xfrm>
          <a:prstGeom prst="line">
            <a:avLst/>
          </a:prstGeom>
          <a:noFill/>
          <a:ln w="31750">
            <a:solidFill>
              <a:srgbClr val="D62839"/>
            </a:solidFill>
            <a:prstDash val="solid"/>
            <a:tailEnd type="triangle"/>
          </a:ln>
        </p:spPr>
      </p:sp>
      <p:sp>
        <p:nvSpPr>
          <p:cNvPr id="8" name="card"/>
          <p:cNvSpPr/>
          <p:nvPr/>
        </p:nvSpPr>
        <p:spPr>
          <a:xfrm>
            <a:off x="548640" y="3154680"/>
            <a:ext cx="5440680" cy="3017520"/>
          </a:xfrm>
          <a:prstGeom prst="roundRect">
            <a:avLst>
              <a:gd name="adj" fmla="val 2424"/>
            </a:avLst>
          </a:prstGeom>
          <a:solidFill>
            <a:schemeClr val="bg2"/>
          </a:solidFill>
          <a:ln/>
          <a:effectLst>
            <a:outerShdw blurRad="76200" dist="25400" dir="5400000" algn="bl" rotWithShape="0">
              <a:srgbClr val="000000">
                <a:alpha val="14000"/>
              </a:srgbClr>
            </a:outerShdw>
          </a:effectLst>
        </p:spPr>
      </p:sp>
      <p:sp>
        <p:nvSpPr>
          <p:cNvPr id="9" name="icon circle"/>
          <p:cNvSpPr/>
          <p:nvPr/>
        </p:nvSpPr>
        <p:spPr>
          <a:xfrm>
            <a:off x="731520" y="3310128"/>
            <a:ext cx="420624" cy="420624"/>
          </a:xfrm>
          <a:prstGeom prst="ellipse">
            <a:avLst/>
          </a:prstGeom>
          <a:solidFill>
            <a:schemeClr val="accent1"/>
          </a:solidFill>
          <a:ln/>
        </p:spPr>
      </p:sp>
      <p:pic>
        <p:nvPicPr>
          <p:cNvPr id="10" name="Image 0" descr="Bolt icon"/>
          <p:cNvPicPr>
            <a:picLocks noChangeAspect="1"/>
          </p:cNvPicPr>
          <p:nvPr/>
        </p:nvPicPr>
        <p:blipFill>
          <a:blip r:embed="rId3"/>
          <a:stretch>
            <a:fillRect/>
          </a:stretch>
        </p:blipFill>
        <p:spPr>
          <a:xfrm>
            <a:off x="840882" y="3419490"/>
            <a:ext cx="201900" cy="201900"/>
          </a:xfrm>
          <a:prstGeom prst="rect">
            <a:avLst/>
          </a:prstGeom>
        </p:spPr>
      </p:pic>
      <p:sp>
        <p:nvSpPr>
          <p:cNvPr id="11" name="Text 7"/>
          <p:cNvSpPr txBox="1"/>
          <p:nvPr/>
        </p:nvSpPr>
        <p:spPr>
          <a:xfrm>
            <a:off x="1261872" y="3291840"/>
            <a:ext cx="4590288" cy="457200"/>
          </a:xfrm>
          <a:prstGeom prst="rect">
            <a:avLst/>
          </a:prstGeom>
          <a:noFill/>
          <a:ln/>
        </p:spPr>
        <p:txBody>
          <a:bodyPr wrap="square" lIns="0" tIns="0" rIns="0" bIns="0" rtlCol="0" anchor="ctr"/>
          <a:lstStyle/>
          <a:p>
            <a:pPr marL="0" indent="0">
              <a:buNone/>
            </a:pPr>
            <a:r>
              <a:rPr lang="en-US" sz="1600" b="1" dirty="0">
                <a:solidFill>
                  <a:schemeClr val="accent1"/>
                </a:solidFill>
              </a:rPr>
              <a:t>ACTIVE · PAM fluorometry</a:t>
            </a:r>
            <a:endParaRPr lang="en-US" sz="1600" dirty="0"/>
          </a:p>
        </p:txBody>
      </p:sp>
      <p:sp>
        <p:nvSpPr>
          <p:cNvPr id="12" name="Text 8"/>
          <p:cNvSpPr txBox="1"/>
          <p:nvPr/>
        </p:nvSpPr>
        <p:spPr>
          <a:xfrm>
            <a:off x="731520" y="3840480"/>
            <a:ext cx="5074920" cy="2240280"/>
          </a:xfrm>
          <a:prstGeom prst="rect">
            <a:avLst/>
          </a:prstGeom>
          <a:noFill/>
          <a:ln/>
        </p:spPr>
        <p:txBody>
          <a:bodyPr wrap="square" lIns="508" tIns="508" rIns="508" bIns="508" rtlCol="0" anchor="t"/>
          <a:lstStyle/>
          <a:p>
            <a:pPr marL="177800" indent="-177800">
              <a:spcAft>
                <a:spcPts val="400"/>
              </a:spcAft>
              <a:buSzPct val="100000"/>
              <a:buChar char="•"/>
            </a:pPr>
            <a:r>
              <a:rPr lang="en-US" sz="1400" dirty="0">
                <a:solidFill>
                  <a:schemeClr val="tx1"/>
                </a:solidFill>
              </a:rPr>
              <a:t>Controls light: ML, AL, saturating pulse, FR</a:t>
            </a:r>
            <a:endParaRPr lang="en-US" sz="1400" dirty="0"/>
          </a:p>
          <a:p>
            <a:pPr marL="177800" indent="-177800">
              <a:spcAft>
                <a:spcPts val="400"/>
              </a:spcAft>
              <a:buSzPct val="100000"/>
              <a:buChar char="•"/>
            </a:pPr>
            <a:r>
              <a:rPr lang="en-US" sz="1400" dirty="0">
                <a:solidFill>
                  <a:schemeClr val="tx1"/>
                </a:solidFill>
              </a:rPr>
              <a:t>Measures </a:t>
            </a:r>
            <a:r>
              <a:rPr lang="en-US" sz="1400" b="1" dirty="0">
                <a:solidFill>
                  <a:schemeClr val="tx1"/>
                </a:solidFill>
              </a:rPr>
              <a:t>yields</a:t>
            </a:r>
            <a:r>
              <a:rPr lang="en-US" sz="1400" dirty="0">
                <a:solidFill>
                  <a:schemeClr val="tx1"/>
                </a:solidFill>
              </a:rPr>
              <a:t>: F</a:t>
            </a:r>
            <a:r>
              <a:rPr lang="en-US" sz="1400" baseline="-40000" dirty="0">
                <a:solidFill>
                  <a:schemeClr val="tx1"/>
                </a:solidFill>
              </a:rPr>
              <a:t>v</a:t>
            </a:r>
            <a:r>
              <a:rPr lang="en-US" sz="1400" dirty="0">
                <a:solidFill>
                  <a:schemeClr val="tx1"/>
                </a:solidFill>
              </a:rPr>
              <a:t>/F</a:t>
            </a:r>
            <a:r>
              <a:rPr lang="en-US" sz="1400" baseline="-40000" dirty="0">
                <a:solidFill>
                  <a:schemeClr val="tx1"/>
                </a:solidFill>
              </a:rPr>
              <a:t>m</a:t>
            </a:r>
            <a:r>
              <a:rPr lang="en-US" sz="1400" dirty="0">
                <a:solidFill>
                  <a:schemeClr val="tx1"/>
                </a:solidFill>
              </a:rPr>
              <a:t>, Φ</a:t>
            </a:r>
            <a:r>
              <a:rPr lang="en-US" sz="1400" baseline="-40000" dirty="0">
                <a:solidFill>
                  <a:schemeClr val="tx1"/>
                </a:solidFill>
              </a:rPr>
              <a:t>PSII</a:t>
            </a:r>
            <a:r>
              <a:rPr lang="en-US" sz="1400" dirty="0">
                <a:solidFill>
                  <a:schemeClr val="tx1"/>
                </a:solidFill>
              </a:rPr>
              <a:t>, qP, qL, NPQ</a:t>
            </a:r>
            <a:endParaRPr lang="en-US" sz="1400" dirty="0"/>
          </a:p>
          <a:p>
            <a:pPr marL="177800" indent="-177800">
              <a:spcAft>
                <a:spcPts val="400"/>
              </a:spcAft>
              <a:buSzPct val="100000"/>
              <a:buChar char="•"/>
            </a:pPr>
            <a:r>
              <a:rPr lang="en-US" sz="1400" dirty="0">
                <a:solidFill>
                  <a:schemeClr val="tx1"/>
                </a:solidFill>
              </a:rPr>
              <a:t>Separates photochemical vs non-photochemical quenching</a:t>
            </a:r>
            <a:endParaRPr lang="en-US" sz="1400" dirty="0"/>
          </a:p>
          <a:p>
            <a:pPr marL="177800" indent="-177800">
              <a:spcAft>
                <a:spcPts val="400"/>
              </a:spcAft>
              <a:buSzPct val="100000"/>
              <a:buChar char="•"/>
            </a:pPr>
            <a:r>
              <a:rPr lang="en-US" sz="1400" dirty="0">
                <a:solidFill>
                  <a:schemeClr val="tx1"/>
                </a:solidFill>
              </a:rPr>
              <a:t>Leaf / plant scale; mechanistic understanding</a:t>
            </a:r>
            <a:endParaRPr lang="en-US" sz="1400" dirty="0"/>
          </a:p>
        </p:txBody>
      </p:sp>
      <p:sp>
        <p:nvSpPr>
          <p:cNvPr id="13" name="card"/>
          <p:cNvSpPr/>
          <p:nvPr/>
        </p:nvSpPr>
        <p:spPr>
          <a:xfrm>
            <a:off x="6199632" y="3154680"/>
            <a:ext cx="5440680" cy="3017520"/>
          </a:xfrm>
          <a:prstGeom prst="roundRect">
            <a:avLst>
              <a:gd name="adj" fmla="val 2424"/>
            </a:avLst>
          </a:prstGeom>
          <a:solidFill>
            <a:schemeClr val="bg2"/>
          </a:solidFill>
          <a:ln/>
          <a:effectLst>
            <a:outerShdw blurRad="76200" dist="25400" dir="5400000" algn="bl" rotWithShape="0">
              <a:srgbClr val="000000">
                <a:alpha val="14000"/>
              </a:srgbClr>
            </a:outerShdw>
          </a:effectLst>
        </p:spPr>
      </p:sp>
      <p:sp>
        <p:nvSpPr>
          <p:cNvPr id="14" name="icon circle"/>
          <p:cNvSpPr/>
          <p:nvPr/>
        </p:nvSpPr>
        <p:spPr>
          <a:xfrm>
            <a:off x="6382512" y="3310128"/>
            <a:ext cx="420624" cy="420624"/>
          </a:xfrm>
          <a:prstGeom prst="ellipse">
            <a:avLst/>
          </a:prstGeom>
          <a:solidFill>
            <a:schemeClr val="accent2"/>
          </a:solidFill>
          <a:ln/>
        </p:spPr>
      </p:sp>
      <p:pic>
        <p:nvPicPr>
          <p:cNvPr id="15" name="Image 1" descr="Satellite icon"/>
          <p:cNvPicPr>
            <a:picLocks noChangeAspect="1"/>
          </p:cNvPicPr>
          <p:nvPr/>
        </p:nvPicPr>
        <p:blipFill>
          <a:blip r:embed="rId4"/>
          <a:stretch>
            <a:fillRect/>
          </a:stretch>
        </p:blipFill>
        <p:spPr>
          <a:xfrm>
            <a:off x="6491874" y="3419490"/>
            <a:ext cx="201900" cy="201900"/>
          </a:xfrm>
          <a:prstGeom prst="rect">
            <a:avLst/>
          </a:prstGeom>
        </p:spPr>
      </p:pic>
      <p:sp>
        <p:nvSpPr>
          <p:cNvPr id="16" name="Text 11"/>
          <p:cNvSpPr txBox="1"/>
          <p:nvPr/>
        </p:nvSpPr>
        <p:spPr>
          <a:xfrm>
            <a:off x="6912864" y="3291840"/>
            <a:ext cx="4590288" cy="457200"/>
          </a:xfrm>
          <a:prstGeom prst="rect">
            <a:avLst/>
          </a:prstGeom>
          <a:noFill/>
          <a:ln/>
        </p:spPr>
        <p:txBody>
          <a:bodyPr wrap="square" lIns="0" tIns="0" rIns="0" bIns="0" rtlCol="0" anchor="ctr"/>
          <a:lstStyle/>
          <a:p>
            <a:pPr marL="0" indent="0">
              <a:buNone/>
            </a:pPr>
            <a:r>
              <a:rPr lang="en-US" sz="1600" b="1" dirty="0">
                <a:solidFill>
                  <a:schemeClr val="accent2"/>
                </a:solidFill>
              </a:rPr>
              <a:t>PASSIVE · Sun-induced fluorescence</a:t>
            </a:r>
            <a:endParaRPr lang="en-US" sz="1600" dirty="0"/>
          </a:p>
        </p:txBody>
      </p:sp>
      <p:sp>
        <p:nvSpPr>
          <p:cNvPr id="17" name="Text 12"/>
          <p:cNvSpPr txBox="1"/>
          <p:nvPr/>
        </p:nvSpPr>
        <p:spPr>
          <a:xfrm>
            <a:off x="6382512" y="3840480"/>
            <a:ext cx="5074920" cy="2240280"/>
          </a:xfrm>
          <a:prstGeom prst="rect">
            <a:avLst/>
          </a:prstGeom>
          <a:noFill/>
          <a:ln/>
        </p:spPr>
        <p:txBody>
          <a:bodyPr wrap="square" lIns="508" tIns="508" rIns="508" bIns="508" rtlCol="0" anchor="t"/>
          <a:lstStyle/>
          <a:p>
            <a:pPr marL="177800" indent="-177800">
              <a:spcAft>
                <a:spcPts val="400"/>
              </a:spcAft>
              <a:buSzPct val="100000"/>
              <a:buChar char="•"/>
            </a:pPr>
            <a:r>
              <a:rPr lang="en-US" sz="1400" dirty="0">
                <a:solidFill>
                  <a:schemeClr val="tx1"/>
                </a:solidFill>
              </a:rPr>
              <a:t>Sunlight as source; in-filling of O₂ bands / Fraunhofer lines</a:t>
            </a:r>
            <a:endParaRPr lang="en-US" sz="1400" dirty="0"/>
          </a:p>
          <a:p>
            <a:pPr marL="177800" indent="-177800">
              <a:spcAft>
                <a:spcPts val="400"/>
              </a:spcAft>
              <a:buSzPct val="100000"/>
              <a:buChar char="•"/>
            </a:pPr>
            <a:r>
              <a:rPr lang="en-US" sz="1400" dirty="0">
                <a:solidFill>
                  <a:schemeClr val="tx1"/>
                </a:solidFill>
              </a:rPr>
              <a:t>Measures </a:t>
            </a:r>
            <a:r>
              <a:rPr lang="en-US" sz="1400" b="1" dirty="0">
                <a:solidFill>
                  <a:schemeClr val="tx1"/>
                </a:solidFill>
              </a:rPr>
              <a:t>flux</a:t>
            </a:r>
            <a:r>
              <a:rPr lang="en-US" sz="1400" dirty="0">
                <a:solidFill>
                  <a:schemeClr val="tx1"/>
                </a:solidFill>
              </a:rPr>
              <a:t>: SIF = APAR × Φ</a:t>
            </a:r>
            <a:r>
              <a:rPr lang="en-US" sz="1400" baseline="-40000" dirty="0">
                <a:solidFill>
                  <a:schemeClr val="tx1"/>
                </a:solidFill>
              </a:rPr>
              <a:t>F</a:t>
            </a:r>
            <a:r>
              <a:rPr lang="en-US" sz="1400" dirty="0">
                <a:solidFill>
                  <a:schemeClr val="tx1"/>
                </a:solidFill>
              </a:rPr>
              <a:t> × f</a:t>
            </a:r>
            <a:r>
              <a:rPr lang="en-US" sz="1400" baseline="-40000" dirty="0">
                <a:solidFill>
                  <a:schemeClr val="tx1"/>
                </a:solidFill>
              </a:rPr>
              <a:t>esc</a:t>
            </a:r>
            <a:endParaRPr lang="en-US" sz="1400" dirty="0"/>
          </a:p>
          <a:p>
            <a:pPr marL="177800" indent="-177800">
              <a:spcAft>
                <a:spcPts val="400"/>
              </a:spcAft>
              <a:buSzPct val="100000"/>
              <a:buChar char="•"/>
            </a:pPr>
            <a:r>
              <a:rPr lang="en-US" sz="1400" dirty="0">
                <a:solidFill>
                  <a:schemeClr val="tx1"/>
                </a:solidFill>
              </a:rPr>
              <a:t>Linked to GPP mainly via APAR; NPQ and structure confound</a:t>
            </a:r>
            <a:endParaRPr lang="en-US" sz="1400" dirty="0"/>
          </a:p>
          <a:p>
            <a:pPr marL="177800" indent="-177800">
              <a:spcAft>
                <a:spcPts val="400"/>
              </a:spcAft>
              <a:buSzPct val="100000"/>
              <a:buChar char="•"/>
            </a:pPr>
            <a:r>
              <a:rPr lang="en-US" sz="1400" dirty="0">
                <a:solidFill>
                  <a:schemeClr val="tx1"/>
                </a:solidFill>
              </a:rPr>
              <a:t>Canopy to global scale; ecosystem monitoring</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Formula sheet</a:t>
            </a:r>
            <a:endParaRPr lang="en-US" sz="3200" dirty="0"/>
          </a:p>
        </p:txBody>
      </p:sp>
      <p:sp>
        <p:nvSpPr>
          <p:cNvPr id="4" name="formula row"/>
          <p:cNvSpPr/>
          <p:nvPr/>
        </p:nvSpPr>
        <p:spPr>
          <a:xfrm>
            <a:off x="548640" y="1325880"/>
            <a:ext cx="5440680" cy="566928"/>
          </a:xfrm>
          <a:prstGeom prst="roundRect">
            <a:avLst>
              <a:gd name="adj" fmla="val 9677"/>
            </a:avLst>
          </a:prstGeom>
          <a:solidFill>
            <a:schemeClr val="bg2"/>
          </a:solidFill>
          <a:ln w="9525">
            <a:solidFill>
              <a:srgbClr val="D5DED8"/>
            </a:solidFill>
            <a:prstDash val="solid"/>
          </a:ln>
        </p:spPr>
      </p:sp>
      <p:sp>
        <p:nvSpPr>
          <p:cNvPr id="5" name="Text 2"/>
          <p:cNvSpPr txBox="1"/>
          <p:nvPr/>
        </p:nvSpPr>
        <p:spPr>
          <a:xfrm>
            <a:off x="685800" y="1325880"/>
            <a:ext cx="1508760" cy="566928"/>
          </a:xfrm>
          <a:prstGeom prst="rect">
            <a:avLst/>
          </a:prstGeom>
          <a:noFill/>
          <a:ln/>
        </p:spPr>
        <p:txBody>
          <a:bodyPr wrap="square" lIns="0" tIns="0" rIns="0" bIns="0" rtlCol="0" anchor="ctr"/>
          <a:lstStyle/>
          <a:p>
            <a:pPr marL="0" indent="0">
              <a:buNone/>
            </a:pPr>
            <a:r>
              <a:rPr lang="en-US" sz="1500" b="1" dirty="0">
                <a:solidFill>
                  <a:schemeClr val="accent1"/>
                </a:solidFill>
              </a:rPr>
              <a:t>F</a:t>
            </a:r>
            <a:r>
              <a:rPr lang="en-US" sz="1500" b="1" baseline="-40000" dirty="0">
                <a:solidFill>
                  <a:schemeClr val="accent1"/>
                </a:solidFill>
              </a:rPr>
              <a:t>v</a:t>
            </a:r>
            <a:endParaRPr lang="en-US" sz="1500" dirty="0"/>
          </a:p>
        </p:txBody>
      </p:sp>
      <p:sp>
        <p:nvSpPr>
          <p:cNvPr id="6" name="Text 3"/>
          <p:cNvSpPr txBox="1"/>
          <p:nvPr/>
        </p:nvSpPr>
        <p:spPr>
          <a:xfrm>
            <a:off x="2240280" y="1325880"/>
            <a:ext cx="3657600" cy="566928"/>
          </a:xfrm>
          <a:prstGeom prst="rect">
            <a:avLst/>
          </a:prstGeom>
          <a:noFill/>
          <a:ln/>
        </p:spPr>
        <p:txBody>
          <a:bodyPr wrap="square" lIns="0" tIns="0" rIns="0" bIns="0" rtlCol="0" anchor="ctr"/>
          <a:lstStyle/>
          <a:p>
            <a:pPr marL="0" indent="0">
              <a:buNone/>
            </a:pPr>
            <a:r>
              <a:rPr lang="en-US" sz="1500" dirty="0">
                <a:solidFill>
                  <a:schemeClr val="tx1"/>
                </a:solidFill>
              </a:rPr>
              <a:t>F</a:t>
            </a:r>
            <a:r>
              <a:rPr lang="en-US" sz="1500" baseline="-40000" dirty="0">
                <a:solidFill>
                  <a:schemeClr val="tx1"/>
                </a:solidFill>
              </a:rPr>
              <a:t>m</a:t>
            </a:r>
            <a:r>
              <a:rPr lang="en-US" sz="1500" dirty="0">
                <a:solidFill>
                  <a:schemeClr val="tx1"/>
                </a:solidFill>
              </a:rPr>
              <a:t> − F</a:t>
            </a:r>
            <a:r>
              <a:rPr lang="en-US" sz="1500" baseline="-40000" dirty="0">
                <a:solidFill>
                  <a:schemeClr val="tx1"/>
                </a:solidFill>
              </a:rPr>
              <a:t>o</a:t>
            </a:r>
            <a:endParaRPr lang="en-US" sz="1500" dirty="0"/>
          </a:p>
        </p:txBody>
      </p:sp>
      <p:sp>
        <p:nvSpPr>
          <p:cNvPr id="7" name="formula row"/>
          <p:cNvSpPr/>
          <p:nvPr/>
        </p:nvSpPr>
        <p:spPr>
          <a:xfrm>
            <a:off x="548640" y="1984248"/>
            <a:ext cx="5440680" cy="566928"/>
          </a:xfrm>
          <a:prstGeom prst="roundRect">
            <a:avLst>
              <a:gd name="adj" fmla="val 9677"/>
            </a:avLst>
          </a:prstGeom>
          <a:solidFill>
            <a:schemeClr val="bg1"/>
          </a:solidFill>
          <a:ln w="9525">
            <a:solidFill>
              <a:srgbClr val="D5DED8"/>
            </a:solidFill>
            <a:prstDash val="solid"/>
          </a:ln>
        </p:spPr>
      </p:sp>
      <p:sp>
        <p:nvSpPr>
          <p:cNvPr id="8" name="Text 5"/>
          <p:cNvSpPr txBox="1"/>
          <p:nvPr/>
        </p:nvSpPr>
        <p:spPr>
          <a:xfrm>
            <a:off x="685800" y="1984248"/>
            <a:ext cx="1508760" cy="566928"/>
          </a:xfrm>
          <a:prstGeom prst="rect">
            <a:avLst/>
          </a:prstGeom>
          <a:noFill/>
          <a:ln/>
        </p:spPr>
        <p:txBody>
          <a:bodyPr wrap="square" lIns="0" tIns="0" rIns="0" bIns="0" rtlCol="0" anchor="ctr"/>
          <a:lstStyle/>
          <a:p>
            <a:pPr marL="0" indent="0">
              <a:buNone/>
            </a:pPr>
            <a:r>
              <a:rPr lang="en-US" sz="1500" b="1" dirty="0">
                <a:solidFill>
                  <a:schemeClr val="accent1"/>
                </a:solidFill>
              </a:rPr>
              <a:t>F</a:t>
            </a:r>
            <a:r>
              <a:rPr lang="en-US" sz="1500" b="1" baseline="-40000" dirty="0">
                <a:solidFill>
                  <a:schemeClr val="accent1"/>
                </a:solidFill>
              </a:rPr>
              <a:t>v</a:t>
            </a:r>
            <a:r>
              <a:rPr lang="en-US" sz="1500" b="1" dirty="0">
                <a:solidFill>
                  <a:schemeClr val="accent1"/>
                </a:solidFill>
              </a:rPr>
              <a:t>/F</a:t>
            </a:r>
            <a:r>
              <a:rPr lang="en-US" sz="1500" b="1" baseline="-40000" dirty="0">
                <a:solidFill>
                  <a:schemeClr val="accent1"/>
                </a:solidFill>
              </a:rPr>
              <a:t>m</a:t>
            </a:r>
            <a:endParaRPr lang="en-US" sz="1500" dirty="0"/>
          </a:p>
        </p:txBody>
      </p:sp>
      <p:sp>
        <p:nvSpPr>
          <p:cNvPr id="9" name="Text 6"/>
          <p:cNvSpPr txBox="1"/>
          <p:nvPr/>
        </p:nvSpPr>
        <p:spPr>
          <a:xfrm>
            <a:off x="2240280" y="1984248"/>
            <a:ext cx="3657600" cy="566928"/>
          </a:xfrm>
          <a:prstGeom prst="rect">
            <a:avLst/>
          </a:prstGeom>
          <a:noFill/>
          <a:ln/>
        </p:spPr>
        <p:txBody>
          <a:bodyPr wrap="square" lIns="0" tIns="0" rIns="0" bIns="0" rtlCol="0" anchor="ctr"/>
          <a:lstStyle/>
          <a:p>
            <a:pPr marL="0" indent="0">
              <a:buNone/>
            </a:pPr>
            <a:r>
              <a:rPr lang="en-US" sz="1500" dirty="0">
                <a:solidFill>
                  <a:schemeClr val="tx1"/>
                </a:solidFill>
              </a:rPr>
              <a:t>(F</a:t>
            </a:r>
            <a:r>
              <a:rPr lang="en-US" sz="1500" baseline="-40000" dirty="0">
                <a:solidFill>
                  <a:schemeClr val="tx1"/>
                </a:solidFill>
              </a:rPr>
              <a:t>m</a:t>
            </a:r>
            <a:r>
              <a:rPr lang="en-US" sz="1500" dirty="0">
                <a:solidFill>
                  <a:schemeClr val="tx1"/>
                </a:solidFill>
              </a:rPr>
              <a:t> − F</a:t>
            </a:r>
            <a:r>
              <a:rPr lang="en-US" sz="1500" baseline="-40000" dirty="0">
                <a:solidFill>
                  <a:schemeClr val="tx1"/>
                </a:solidFill>
              </a:rPr>
              <a:t>o</a:t>
            </a:r>
            <a:r>
              <a:rPr lang="en-US" sz="1500" dirty="0">
                <a:solidFill>
                  <a:schemeClr val="tx1"/>
                </a:solidFill>
              </a:rPr>
              <a:t>)/F</a:t>
            </a:r>
            <a:r>
              <a:rPr lang="en-US" sz="1500" baseline="-40000" dirty="0">
                <a:solidFill>
                  <a:schemeClr val="tx1"/>
                </a:solidFill>
              </a:rPr>
              <a:t>m</a:t>
            </a:r>
            <a:r>
              <a:rPr lang="en-US" sz="1500" dirty="0">
                <a:solidFill>
                  <a:schemeClr val="tx1"/>
                </a:solidFill>
              </a:rPr>
              <a:t>  ≈ 0.83 healthy</a:t>
            </a:r>
            <a:endParaRPr lang="en-US" sz="1500" dirty="0"/>
          </a:p>
        </p:txBody>
      </p:sp>
      <p:sp>
        <p:nvSpPr>
          <p:cNvPr id="10" name="formula row"/>
          <p:cNvSpPr/>
          <p:nvPr/>
        </p:nvSpPr>
        <p:spPr>
          <a:xfrm>
            <a:off x="548640" y="2642616"/>
            <a:ext cx="5440680" cy="566928"/>
          </a:xfrm>
          <a:prstGeom prst="roundRect">
            <a:avLst>
              <a:gd name="adj" fmla="val 9677"/>
            </a:avLst>
          </a:prstGeom>
          <a:solidFill>
            <a:schemeClr val="bg2"/>
          </a:solidFill>
          <a:ln w="9525">
            <a:solidFill>
              <a:srgbClr val="D5DED8"/>
            </a:solidFill>
            <a:prstDash val="solid"/>
          </a:ln>
        </p:spPr>
      </p:sp>
      <p:sp>
        <p:nvSpPr>
          <p:cNvPr id="11" name="Text 8"/>
          <p:cNvSpPr txBox="1"/>
          <p:nvPr/>
        </p:nvSpPr>
        <p:spPr>
          <a:xfrm>
            <a:off x="685800" y="2642616"/>
            <a:ext cx="1508760" cy="566928"/>
          </a:xfrm>
          <a:prstGeom prst="rect">
            <a:avLst/>
          </a:prstGeom>
          <a:noFill/>
          <a:ln/>
        </p:spPr>
        <p:txBody>
          <a:bodyPr wrap="square" lIns="0" tIns="0" rIns="0" bIns="0" rtlCol="0" anchor="ctr"/>
          <a:lstStyle/>
          <a:p>
            <a:pPr marL="0" indent="0">
              <a:buNone/>
            </a:pPr>
            <a:r>
              <a:rPr lang="en-US" sz="1500" b="1" dirty="0">
                <a:solidFill>
                  <a:schemeClr val="accent1"/>
                </a:solidFill>
              </a:rPr>
              <a:t>F</a:t>
            </a:r>
            <a:r>
              <a:rPr lang="en-US" sz="1500" b="1" baseline="-40000" dirty="0">
                <a:solidFill>
                  <a:schemeClr val="accent1"/>
                </a:solidFill>
              </a:rPr>
              <a:t>q</a:t>
            </a:r>
            <a:r>
              <a:rPr lang="en-US" sz="1500" b="1" dirty="0">
                <a:solidFill>
                  <a:schemeClr val="accent1"/>
                </a:solidFill>
              </a:rPr>
              <a:t>′</a:t>
            </a:r>
            <a:endParaRPr lang="en-US" sz="1500" dirty="0"/>
          </a:p>
        </p:txBody>
      </p:sp>
      <p:sp>
        <p:nvSpPr>
          <p:cNvPr id="12" name="Text 9"/>
          <p:cNvSpPr txBox="1"/>
          <p:nvPr/>
        </p:nvSpPr>
        <p:spPr>
          <a:xfrm>
            <a:off x="2240280" y="2642616"/>
            <a:ext cx="3657600" cy="566928"/>
          </a:xfrm>
          <a:prstGeom prst="rect">
            <a:avLst/>
          </a:prstGeom>
          <a:noFill/>
          <a:ln/>
        </p:spPr>
        <p:txBody>
          <a:bodyPr wrap="square" lIns="0" tIns="0" rIns="0" bIns="0" rtlCol="0" anchor="ctr"/>
          <a:lstStyle/>
          <a:p>
            <a:pPr marL="0" indent="0">
              <a:buNone/>
            </a:pPr>
            <a:r>
              <a:rPr lang="en-US" sz="1500" dirty="0">
                <a:solidFill>
                  <a:schemeClr val="tx1"/>
                </a:solidFill>
              </a:rPr>
              <a:t>F</a:t>
            </a:r>
            <a:r>
              <a:rPr lang="en-US" sz="1500" baseline="-40000" dirty="0">
                <a:solidFill>
                  <a:schemeClr val="tx1"/>
                </a:solidFill>
              </a:rPr>
              <a:t>m</a:t>
            </a:r>
            <a:r>
              <a:rPr lang="en-US" sz="1500" dirty="0">
                <a:solidFill>
                  <a:schemeClr val="tx1"/>
                </a:solidFill>
              </a:rPr>
              <a:t>′ − F′</a:t>
            </a:r>
            <a:endParaRPr lang="en-US" sz="1500" dirty="0"/>
          </a:p>
        </p:txBody>
      </p:sp>
      <p:sp>
        <p:nvSpPr>
          <p:cNvPr id="13" name="formula row"/>
          <p:cNvSpPr/>
          <p:nvPr/>
        </p:nvSpPr>
        <p:spPr>
          <a:xfrm>
            <a:off x="548640" y="3300984"/>
            <a:ext cx="5440680" cy="566928"/>
          </a:xfrm>
          <a:prstGeom prst="roundRect">
            <a:avLst>
              <a:gd name="adj" fmla="val 9677"/>
            </a:avLst>
          </a:prstGeom>
          <a:solidFill>
            <a:schemeClr val="bg1"/>
          </a:solidFill>
          <a:ln w="9525">
            <a:solidFill>
              <a:srgbClr val="D5DED8"/>
            </a:solidFill>
            <a:prstDash val="solid"/>
          </a:ln>
        </p:spPr>
      </p:sp>
      <p:sp>
        <p:nvSpPr>
          <p:cNvPr id="14" name="Text 11"/>
          <p:cNvSpPr txBox="1"/>
          <p:nvPr/>
        </p:nvSpPr>
        <p:spPr>
          <a:xfrm>
            <a:off x="685800" y="3300984"/>
            <a:ext cx="1508760" cy="566928"/>
          </a:xfrm>
          <a:prstGeom prst="rect">
            <a:avLst/>
          </a:prstGeom>
          <a:noFill/>
          <a:ln/>
        </p:spPr>
        <p:txBody>
          <a:bodyPr wrap="square" lIns="0" tIns="0" rIns="0" bIns="0" rtlCol="0" anchor="ctr"/>
          <a:lstStyle/>
          <a:p>
            <a:pPr marL="0" indent="0">
              <a:buNone/>
            </a:pPr>
            <a:r>
              <a:rPr lang="en-US" sz="1500" b="1" dirty="0">
                <a:solidFill>
                  <a:schemeClr val="accent1"/>
                </a:solidFill>
              </a:rPr>
              <a:t>F</a:t>
            </a:r>
            <a:r>
              <a:rPr lang="en-US" sz="1500" b="1" baseline="-40000" dirty="0">
                <a:solidFill>
                  <a:schemeClr val="accent1"/>
                </a:solidFill>
              </a:rPr>
              <a:t>v</a:t>
            </a:r>
            <a:r>
              <a:rPr lang="en-US" sz="1500" b="1" dirty="0">
                <a:solidFill>
                  <a:schemeClr val="accent1"/>
                </a:solidFill>
              </a:rPr>
              <a:t>′</a:t>
            </a:r>
            <a:endParaRPr lang="en-US" sz="1500" dirty="0"/>
          </a:p>
        </p:txBody>
      </p:sp>
      <p:sp>
        <p:nvSpPr>
          <p:cNvPr id="15" name="Text 12"/>
          <p:cNvSpPr txBox="1"/>
          <p:nvPr/>
        </p:nvSpPr>
        <p:spPr>
          <a:xfrm>
            <a:off x="2240280" y="3300984"/>
            <a:ext cx="3657600" cy="566928"/>
          </a:xfrm>
          <a:prstGeom prst="rect">
            <a:avLst/>
          </a:prstGeom>
          <a:noFill/>
          <a:ln/>
        </p:spPr>
        <p:txBody>
          <a:bodyPr wrap="square" lIns="0" tIns="0" rIns="0" bIns="0" rtlCol="0" anchor="ctr"/>
          <a:lstStyle/>
          <a:p>
            <a:pPr marL="0" indent="0">
              <a:buNone/>
            </a:pPr>
            <a:r>
              <a:rPr lang="en-US" sz="1500" dirty="0">
                <a:solidFill>
                  <a:schemeClr val="tx1"/>
                </a:solidFill>
              </a:rPr>
              <a:t>F</a:t>
            </a:r>
            <a:r>
              <a:rPr lang="en-US" sz="1500" baseline="-40000" dirty="0">
                <a:solidFill>
                  <a:schemeClr val="tx1"/>
                </a:solidFill>
              </a:rPr>
              <a:t>m</a:t>
            </a:r>
            <a:r>
              <a:rPr lang="en-US" sz="1500" dirty="0">
                <a:solidFill>
                  <a:schemeClr val="tx1"/>
                </a:solidFill>
              </a:rPr>
              <a:t>′ − F</a:t>
            </a:r>
            <a:r>
              <a:rPr lang="en-US" sz="1500" baseline="-40000" dirty="0">
                <a:solidFill>
                  <a:schemeClr val="tx1"/>
                </a:solidFill>
              </a:rPr>
              <a:t>o</a:t>
            </a:r>
            <a:r>
              <a:rPr lang="en-US" sz="1500" dirty="0">
                <a:solidFill>
                  <a:schemeClr val="tx1"/>
                </a:solidFill>
              </a:rPr>
              <a:t>′</a:t>
            </a:r>
            <a:endParaRPr lang="en-US" sz="1500" dirty="0"/>
          </a:p>
        </p:txBody>
      </p:sp>
      <p:sp>
        <p:nvSpPr>
          <p:cNvPr id="16" name="formula row"/>
          <p:cNvSpPr/>
          <p:nvPr/>
        </p:nvSpPr>
        <p:spPr>
          <a:xfrm>
            <a:off x="548640" y="3959352"/>
            <a:ext cx="5440680" cy="566928"/>
          </a:xfrm>
          <a:prstGeom prst="roundRect">
            <a:avLst>
              <a:gd name="adj" fmla="val 9677"/>
            </a:avLst>
          </a:prstGeom>
          <a:solidFill>
            <a:schemeClr val="bg2"/>
          </a:solidFill>
          <a:ln w="9525">
            <a:solidFill>
              <a:srgbClr val="D5DED8"/>
            </a:solidFill>
            <a:prstDash val="solid"/>
          </a:ln>
        </p:spPr>
      </p:sp>
      <p:sp>
        <p:nvSpPr>
          <p:cNvPr id="17" name="Text 14"/>
          <p:cNvSpPr txBox="1"/>
          <p:nvPr/>
        </p:nvSpPr>
        <p:spPr>
          <a:xfrm>
            <a:off x="685800" y="3959352"/>
            <a:ext cx="1508760" cy="566928"/>
          </a:xfrm>
          <a:prstGeom prst="rect">
            <a:avLst/>
          </a:prstGeom>
          <a:noFill/>
          <a:ln/>
        </p:spPr>
        <p:txBody>
          <a:bodyPr wrap="square" lIns="0" tIns="0" rIns="0" bIns="0" rtlCol="0" anchor="ctr"/>
          <a:lstStyle/>
          <a:p>
            <a:pPr marL="0" indent="0">
              <a:buNone/>
            </a:pPr>
            <a:r>
              <a:rPr lang="en-US" sz="1500" b="1" dirty="0">
                <a:solidFill>
                  <a:schemeClr val="accent1"/>
                </a:solidFill>
              </a:rPr>
              <a:t>Φ</a:t>
            </a:r>
            <a:r>
              <a:rPr lang="en-US" sz="1500" b="1" baseline="-40000" dirty="0">
                <a:solidFill>
                  <a:schemeClr val="accent1"/>
                </a:solidFill>
              </a:rPr>
              <a:t>PSII</a:t>
            </a:r>
            <a:endParaRPr lang="en-US" sz="1500" dirty="0"/>
          </a:p>
        </p:txBody>
      </p:sp>
      <p:sp>
        <p:nvSpPr>
          <p:cNvPr id="18" name="Text 15"/>
          <p:cNvSpPr txBox="1"/>
          <p:nvPr/>
        </p:nvSpPr>
        <p:spPr>
          <a:xfrm>
            <a:off x="2240280" y="3959352"/>
            <a:ext cx="3657600" cy="566928"/>
          </a:xfrm>
          <a:prstGeom prst="rect">
            <a:avLst/>
          </a:prstGeom>
          <a:noFill/>
          <a:ln/>
        </p:spPr>
        <p:txBody>
          <a:bodyPr wrap="square" lIns="0" tIns="0" rIns="0" bIns="0" rtlCol="0" anchor="ctr"/>
          <a:lstStyle/>
          <a:p>
            <a:pPr marL="0" indent="0">
              <a:buNone/>
            </a:pPr>
            <a:r>
              <a:rPr lang="en-US" sz="1500" dirty="0">
                <a:solidFill>
                  <a:schemeClr val="tx1"/>
                </a:solidFill>
              </a:rPr>
              <a:t>(F</a:t>
            </a:r>
            <a:r>
              <a:rPr lang="en-US" sz="1500" baseline="-40000" dirty="0">
                <a:solidFill>
                  <a:schemeClr val="tx1"/>
                </a:solidFill>
              </a:rPr>
              <a:t>m</a:t>
            </a:r>
            <a:r>
              <a:rPr lang="en-US" sz="1500" dirty="0">
                <a:solidFill>
                  <a:schemeClr val="tx1"/>
                </a:solidFill>
              </a:rPr>
              <a:t>′ − F′)/F</a:t>
            </a:r>
            <a:r>
              <a:rPr lang="en-US" sz="1500" baseline="-40000" dirty="0">
                <a:solidFill>
                  <a:schemeClr val="tx1"/>
                </a:solidFill>
              </a:rPr>
              <a:t>m</a:t>
            </a:r>
            <a:r>
              <a:rPr lang="en-US" sz="1500" dirty="0">
                <a:solidFill>
                  <a:schemeClr val="tx1"/>
                </a:solidFill>
              </a:rPr>
              <a:t>′ = qP × F</a:t>
            </a:r>
            <a:r>
              <a:rPr lang="en-US" sz="1500" baseline="-40000" dirty="0">
                <a:solidFill>
                  <a:schemeClr val="tx1"/>
                </a:solidFill>
              </a:rPr>
              <a:t>v</a:t>
            </a:r>
            <a:r>
              <a:rPr lang="en-US" sz="1500" dirty="0">
                <a:solidFill>
                  <a:schemeClr val="tx1"/>
                </a:solidFill>
              </a:rPr>
              <a:t>′/F</a:t>
            </a:r>
            <a:r>
              <a:rPr lang="en-US" sz="1500" baseline="-40000" dirty="0">
                <a:solidFill>
                  <a:schemeClr val="tx1"/>
                </a:solidFill>
              </a:rPr>
              <a:t>m</a:t>
            </a:r>
            <a:r>
              <a:rPr lang="en-US" sz="1500" dirty="0">
                <a:solidFill>
                  <a:schemeClr val="tx1"/>
                </a:solidFill>
              </a:rPr>
              <a:t>′</a:t>
            </a:r>
            <a:endParaRPr lang="en-US" sz="1500" dirty="0"/>
          </a:p>
        </p:txBody>
      </p:sp>
      <p:sp>
        <p:nvSpPr>
          <p:cNvPr id="19" name="formula row"/>
          <p:cNvSpPr/>
          <p:nvPr/>
        </p:nvSpPr>
        <p:spPr>
          <a:xfrm>
            <a:off x="548640" y="4617720"/>
            <a:ext cx="5440680" cy="566928"/>
          </a:xfrm>
          <a:prstGeom prst="roundRect">
            <a:avLst>
              <a:gd name="adj" fmla="val 9677"/>
            </a:avLst>
          </a:prstGeom>
          <a:solidFill>
            <a:schemeClr val="bg1"/>
          </a:solidFill>
          <a:ln w="9525">
            <a:solidFill>
              <a:srgbClr val="D5DED8"/>
            </a:solidFill>
            <a:prstDash val="solid"/>
          </a:ln>
        </p:spPr>
      </p:sp>
      <p:sp>
        <p:nvSpPr>
          <p:cNvPr id="20" name="Text 17"/>
          <p:cNvSpPr txBox="1"/>
          <p:nvPr/>
        </p:nvSpPr>
        <p:spPr>
          <a:xfrm>
            <a:off x="685800" y="4617720"/>
            <a:ext cx="1508760" cy="566928"/>
          </a:xfrm>
          <a:prstGeom prst="rect">
            <a:avLst/>
          </a:prstGeom>
          <a:noFill/>
          <a:ln/>
        </p:spPr>
        <p:txBody>
          <a:bodyPr wrap="square" lIns="0" tIns="0" rIns="0" bIns="0" rtlCol="0" anchor="ctr"/>
          <a:lstStyle/>
          <a:p>
            <a:pPr marL="0" indent="0">
              <a:buNone/>
            </a:pPr>
            <a:r>
              <a:rPr lang="en-US" sz="1500" b="1" dirty="0">
                <a:solidFill>
                  <a:schemeClr val="accent1"/>
                </a:solidFill>
              </a:rPr>
              <a:t>qP</a:t>
            </a:r>
            <a:endParaRPr lang="en-US" sz="1500" dirty="0"/>
          </a:p>
        </p:txBody>
      </p:sp>
      <p:sp>
        <p:nvSpPr>
          <p:cNvPr id="21" name="Text 18"/>
          <p:cNvSpPr txBox="1"/>
          <p:nvPr/>
        </p:nvSpPr>
        <p:spPr>
          <a:xfrm>
            <a:off x="2240280" y="4617720"/>
            <a:ext cx="3657600" cy="566928"/>
          </a:xfrm>
          <a:prstGeom prst="rect">
            <a:avLst/>
          </a:prstGeom>
          <a:noFill/>
          <a:ln/>
        </p:spPr>
        <p:txBody>
          <a:bodyPr wrap="square" lIns="0" tIns="0" rIns="0" bIns="0" rtlCol="0" anchor="ctr"/>
          <a:lstStyle/>
          <a:p>
            <a:pPr marL="0" indent="0">
              <a:buNone/>
            </a:pPr>
            <a:r>
              <a:rPr lang="en-US" sz="1500" dirty="0">
                <a:solidFill>
                  <a:schemeClr val="tx1"/>
                </a:solidFill>
              </a:rPr>
              <a:t>(F</a:t>
            </a:r>
            <a:r>
              <a:rPr lang="en-US" sz="1500" baseline="-40000" dirty="0">
                <a:solidFill>
                  <a:schemeClr val="tx1"/>
                </a:solidFill>
              </a:rPr>
              <a:t>m</a:t>
            </a:r>
            <a:r>
              <a:rPr lang="en-US" sz="1500" dirty="0">
                <a:solidFill>
                  <a:schemeClr val="tx1"/>
                </a:solidFill>
              </a:rPr>
              <a:t>′ − F′)/(F</a:t>
            </a:r>
            <a:r>
              <a:rPr lang="en-US" sz="1500" baseline="-40000" dirty="0">
                <a:solidFill>
                  <a:schemeClr val="tx1"/>
                </a:solidFill>
              </a:rPr>
              <a:t>m</a:t>
            </a:r>
            <a:r>
              <a:rPr lang="en-US" sz="1500" dirty="0">
                <a:solidFill>
                  <a:schemeClr val="tx1"/>
                </a:solidFill>
              </a:rPr>
              <a:t>′ − F</a:t>
            </a:r>
            <a:r>
              <a:rPr lang="en-US" sz="1500" baseline="-40000" dirty="0">
                <a:solidFill>
                  <a:schemeClr val="tx1"/>
                </a:solidFill>
              </a:rPr>
              <a:t>o</a:t>
            </a:r>
            <a:r>
              <a:rPr lang="en-US" sz="1500" dirty="0">
                <a:solidFill>
                  <a:schemeClr val="tx1"/>
                </a:solidFill>
              </a:rPr>
              <a:t>′)</a:t>
            </a:r>
            <a:endParaRPr lang="en-US" sz="1500" dirty="0"/>
          </a:p>
        </p:txBody>
      </p:sp>
      <p:sp>
        <p:nvSpPr>
          <p:cNvPr id="22" name="formula row"/>
          <p:cNvSpPr/>
          <p:nvPr/>
        </p:nvSpPr>
        <p:spPr>
          <a:xfrm>
            <a:off x="548640" y="5276088"/>
            <a:ext cx="5440680" cy="566928"/>
          </a:xfrm>
          <a:prstGeom prst="roundRect">
            <a:avLst>
              <a:gd name="adj" fmla="val 9677"/>
            </a:avLst>
          </a:prstGeom>
          <a:solidFill>
            <a:schemeClr val="bg2"/>
          </a:solidFill>
          <a:ln w="9525">
            <a:solidFill>
              <a:srgbClr val="D5DED8"/>
            </a:solidFill>
            <a:prstDash val="solid"/>
          </a:ln>
        </p:spPr>
      </p:sp>
      <p:sp>
        <p:nvSpPr>
          <p:cNvPr id="23" name="Text 20"/>
          <p:cNvSpPr txBox="1"/>
          <p:nvPr/>
        </p:nvSpPr>
        <p:spPr>
          <a:xfrm>
            <a:off x="685800" y="5276088"/>
            <a:ext cx="1508760" cy="566928"/>
          </a:xfrm>
          <a:prstGeom prst="rect">
            <a:avLst/>
          </a:prstGeom>
          <a:noFill/>
          <a:ln/>
        </p:spPr>
        <p:txBody>
          <a:bodyPr wrap="square" lIns="0" tIns="0" rIns="0" bIns="0" rtlCol="0" anchor="ctr"/>
          <a:lstStyle/>
          <a:p>
            <a:pPr marL="0" indent="0">
              <a:buNone/>
            </a:pPr>
            <a:r>
              <a:rPr lang="en-US" sz="1500" b="1" dirty="0">
                <a:solidFill>
                  <a:schemeClr val="accent1"/>
                </a:solidFill>
              </a:rPr>
              <a:t>qL</a:t>
            </a:r>
            <a:endParaRPr lang="en-US" sz="1500" dirty="0"/>
          </a:p>
        </p:txBody>
      </p:sp>
      <p:sp>
        <p:nvSpPr>
          <p:cNvPr id="24" name="Text 21"/>
          <p:cNvSpPr txBox="1"/>
          <p:nvPr/>
        </p:nvSpPr>
        <p:spPr>
          <a:xfrm>
            <a:off x="2240280" y="5276088"/>
            <a:ext cx="3657600" cy="566928"/>
          </a:xfrm>
          <a:prstGeom prst="rect">
            <a:avLst/>
          </a:prstGeom>
          <a:noFill/>
          <a:ln/>
        </p:spPr>
        <p:txBody>
          <a:bodyPr wrap="square" lIns="0" tIns="0" rIns="0" bIns="0" rtlCol="0" anchor="ctr"/>
          <a:lstStyle/>
          <a:p>
            <a:pPr marL="0" indent="0">
              <a:buNone/>
            </a:pPr>
            <a:r>
              <a:rPr lang="en-US" sz="1500" dirty="0">
                <a:solidFill>
                  <a:schemeClr val="tx1"/>
                </a:solidFill>
              </a:rPr>
              <a:t>qP × F</a:t>
            </a:r>
            <a:r>
              <a:rPr lang="en-US" sz="1500" baseline="-40000" dirty="0">
                <a:solidFill>
                  <a:schemeClr val="tx1"/>
                </a:solidFill>
              </a:rPr>
              <a:t>o</a:t>
            </a:r>
            <a:r>
              <a:rPr lang="en-US" sz="1500" dirty="0">
                <a:solidFill>
                  <a:schemeClr val="tx1"/>
                </a:solidFill>
              </a:rPr>
              <a:t>′/F′</a:t>
            </a:r>
            <a:endParaRPr lang="en-US" sz="1500" dirty="0"/>
          </a:p>
        </p:txBody>
      </p:sp>
      <p:sp>
        <p:nvSpPr>
          <p:cNvPr id="25" name="formula row"/>
          <p:cNvSpPr/>
          <p:nvPr/>
        </p:nvSpPr>
        <p:spPr>
          <a:xfrm>
            <a:off x="6199632" y="1325880"/>
            <a:ext cx="5440680" cy="566928"/>
          </a:xfrm>
          <a:prstGeom prst="roundRect">
            <a:avLst>
              <a:gd name="adj" fmla="val 9677"/>
            </a:avLst>
          </a:prstGeom>
          <a:solidFill>
            <a:schemeClr val="bg2"/>
          </a:solidFill>
          <a:ln w="9525">
            <a:solidFill>
              <a:srgbClr val="D5DED8"/>
            </a:solidFill>
            <a:prstDash val="solid"/>
          </a:ln>
        </p:spPr>
      </p:sp>
      <p:sp>
        <p:nvSpPr>
          <p:cNvPr id="26" name="Text 23"/>
          <p:cNvSpPr txBox="1"/>
          <p:nvPr/>
        </p:nvSpPr>
        <p:spPr>
          <a:xfrm>
            <a:off x="6336792" y="1325880"/>
            <a:ext cx="1508760" cy="566928"/>
          </a:xfrm>
          <a:prstGeom prst="rect">
            <a:avLst/>
          </a:prstGeom>
          <a:noFill/>
          <a:ln/>
        </p:spPr>
        <p:txBody>
          <a:bodyPr wrap="square" lIns="0" tIns="0" rIns="0" bIns="0" rtlCol="0" anchor="ctr"/>
          <a:lstStyle/>
          <a:p>
            <a:pPr marL="0" indent="0">
              <a:buNone/>
            </a:pPr>
            <a:r>
              <a:rPr lang="en-US" sz="1500" b="1" dirty="0">
                <a:solidFill>
                  <a:schemeClr val="accent2"/>
                </a:solidFill>
              </a:rPr>
              <a:t>NPQ</a:t>
            </a:r>
            <a:endParaRPr lang="en-US" sz="1500" dirty="0"/>
          </a:p>
        </p:txBody>
      </p:sp>
      <p:sp>
        <p:nvSpPr>
          <p:cNvPr id="27" name="Text 24"/>
          <p:cNvSpPr txBox="1"/>
          <p:nvPr/>
        </p:nvSpPr>
        <p:spPr>
          <a:xfrm>
            <a:off x="7891272" y="1325880"/>
            <a:ext cx="3657600" cy="566928"/>
          </a:xfrm>
          <a:prstGeom prst="rect">
            <a:avLst/>
          </a:prstGeom>
          <a:noFill/>
          <a:ln/>
        </p:spPr>
        <p:txBody>
          <a:bodyPr wrap="square" lIns="0" tIns="0" rIns="0" bIns="0" rtlCol="0" anchor="ctr"/>
          <a:lstStyle/>
          <a:p>
            <a:pPr marL="0" indent="0">
              <a:buNone/>
            </a:pPr>
            <a:r>
              <a:rPr lang="en-US" sz="1500" dirty="0">
                <a:solidFill>
                  <a:schemeClr val="tx1"/>
                </a:solidFill>
              </a:rPr>
              <a:t>(F</a:t>
            </a:r>
            <a:r>
              <a:rPr lang="en-US" sz="1500" baseline="-40000" dirty="0">
                <a:solidFill>
                  <a:schemeClr val="tx1"/>
                </a:solidFill>
              </a:rPr>
              <a:t>m</a:t>
            </a:r>
            <a:r>
              <a:rPr lang="en-US" sz="1500" dirty="0">
                <a:solidFill>
                  <a:schemeClr val="tx1"/>
                </a:solidFill>
              </a:rPr>
              <a:t> − F</a:t>
            </a:r>
            <a:r>
              <a:rPr lang="en-US" sz="1500" baseline="-40000" dirty="0">
                <a:solidFill>
                  <a:schemeClr val="tx1"/>
                </a:solidFill>
              </a:rPr>
              <a:t>m</a:t>
            </a:r>
            <a:r>
              <a:rPr lang="en-US" sz="1500" dirty="0">
                <a:solidFill>
                  <a:schemeClr val="tx1"/>
                </a:solidFill>
              </a:rPr>
              <a:t>′)/F</a:t>
            </a:r>
            <a:r>
              <a:rPr lang="en-US" sz="1500" baseline="-40000" dirty="0">
                <a:solidFill>
                  <a:schemeClr val="tx1"/>
                </a:solidFill>
              </a:rPr>
              <a:t>m</a:t>
            </a:r>
            <a:r>
              <a:rPr lang="en-US" sz="1500" dirty="0">
                <a:solidFill>
                  <a:schemeClr val="tx1"/>
                </a:solidFill>
              </a:rPr>
              <a:t>′</a:t>
            </a:r>
            <a:endParaRPr lang="en-US" sz="1500" dirty="0"/>
          </a:p>
        </p:txBody>
      </p:sp>
      <p:sp>
        <p:nvSpPr>
          <p:cNvPr id="28" name="formula row"/>
          <p:cNvSpPr/>
          <p:nvPr/>
        </p:nvSpPr>
        <p:spPr>
          <a:xfrm>
            <a:off x="6199632" y="1984248"/>
            <a:ext cx="5440680" cy="566928"/>
          </a:xfrm>
          <a:prstGeom prst="roundRect">
            <a:avLst>
              <a:gd name="adj" fmla="val 9677"/>
            </a:avLst>
          </a:prstGeom>
          <a:solidFill>
            <a:schemeClr val="bg1"/>
          </a:solidFill>
          <a:ln w="9525">
            <a:solidFill>
              <a:srgbClr val="D5DED8"/>
            </a:solidFill>
            <a:prstDash val="solid"/>
          </a:ln>
        </p:spPr>
      </p:sp>
      <p:sp>
        <p:nvSpPr>
          <p:cNvPr id="29" name="Text 26"/>
          <p:cNvSpPr txBox="1"/>
          <p:nvPr/>
        </p:nvSpPr>
        <p:spPr>
          <a:xfrm>
            <a:off x="6336792" y="1984248"/>
            <a:ext cx="1508760" cy="566928"/>
          </a:xfrm>
          <a:prstGeom prst="rect">
            <a:avLst/>
          </a:prstGeom>
          <a:noFill/>
          <a:ln/>
        </p:spPr>
        <p:txBody>
          <a:bodyPr wrap="square" lIns="0" tIns="0" rIns="0" bIns="0" rtlCol="0" anchor="ctr"/>
          <a:lstStyle/>
          <a:p>
            <a:pPr marL="0" indent="0">
              <a:buNone/>
            </a:pPr>
            <a:r>
              <a:rPr lang="en-US" sz="1500" b="1" dirty="0">
                <a:solidFill>
                  <a:schemeClr val="accent2"/>
                </a:solidFill>
              </a:rPr>
              <a:t>qN (old)</a:t>
            </a:r>
            <a:endParaRPr lang="en-US" sz="1500" dirty="0"/>
          </a:p>
        </p:txBody>
      </p:sp>
      <p:sp>
        <p:nvSpPr>
          <p:cNvPr id="30" name="Text 27"/>
          <p:cNvSpPr txBox="1"/>
          <p:nvPr/>
        </p:nvSpPr>
        <p:spPr>
          <a:xfrm>
            <a:off x="7891272" y="1984248"/>
            <a:ext cx="3657600" cy="566928"/>
          </a:xfrm>
          <a:prstGeom prst="rect">
            <a:avLst/>
          </a:prstGeom>
          <a:noFill/>
          <a:ln/>
        </p:spPr>
        <p:txBody>
          <a:bodyPr wrap="square" lIns="0" tIns="0" rIns="0" bIns="0" rtlCol="0" anchor="ctr"/>
          <a:lstStyle/>
          <a:p>
            <a:pPr marL="0" indent="0">
              <a:buNone/>
            </a:pPr>
            <a:r>
              <a:rPr lang="en-US" sz="1500" dirty="0">
                <a:solidFill>
                  <a:schemeClr val="tx1"/>
                </a:solidFill>
              </a:rPr>
              <a:t>1 − (F</a:t>
            </a:r>
            <a:r>
              <a:rPr lang="en-US" sz="1500" baseline="-40000" dirty="0">
                <a:solidFill>
                  <a:schemeClr val="tx1"/>
                </a:solidFill>
              </a:rPr>
              <a:t>m</a:t>
            </a:r>
            <a:r>
              <a:rPr lang="en-US" sz="1500" dirty="0">
                <a:solidFill>
                  <a:schemeClr val="tx1"/>
                </a:solidFill>
              </a:rPr>
              <a:t>′ − F</a:t>
            </a:r>
            <a:r>
              <a:rPr lang="en-US" sz="1500" baseline="-40000" dirty="0">
                <a:solidFill>
                  <a:schemeClr val="tx1"/>
                </a:solidFill>
              </a:rPr>
              <a:t>o</a:t>
            </a:r>
            <a:r>
              <a:rPr lang="en-US" sz="1500" dirty="0">
                <a:solidFill>
                  <a:schemeClr val="tx1"/>
                </a:solidFill>
              </a:rPr>
              <a:t>′)/(F</a:t>
            </a:r>
            <a:r>
              <a:rPr lang="en-US" sz="1500" baseline="-40000" dirty="0">
                <a:solidFill>
                  <a:schemeClr val="tx1"/>
                </a:solidFill>
              </a:rPr>
              <a:t>m</a:t>
            </a:r>
            <a:r>
              <a:rPr lang="en-US" sz="1500" dirty="0">
                <a:solidFill>
                  <a:schemeClr val="tx1"/>
                </a:solidFill>
              </a:rPr>
              <a:t> − F</a:t>
            </a:r>
            <a:r>
              <a:rPr lang="en-US" sz="1500" baseline="-40000" dirty="0">
                <a:solidFill>
                  <a:schemeClr val="tx1"/>
                </a:solidFill>
              </a:rPr>
              <a:t>o</a:t>
            </a:r>
            <a:r>
              <a:rPr lang="en-US" sz="1500" dirty="0">
                <a:solidFill>
                  <a:schemeClr val="tx1"/>
                </a:solidFill>
              </a:rPr>
              <a:t>)</a:t>
            </a:r>
            <a:endParaRPr lang="en-US" sz="1500" dirty="0"/>
          </a:p>
        </p:txBody>
      </p:sp>
      <p:sp>
        <p:nvSpPr>
          <p:cNvPr id="31" name="formula row"/>
          <p:cNvSpPr/>
          <p:nvPr/>
        </p:nvSpPr>
        <p:spPr>
          <a:xfrm>
            <a:off x="6199632" y="2642616"/>
            <a:ext cx="5440680" cy="566928"/>
          </a:xfrm>
          <a:prstGeom prst="roundRect">
            <a:avLst>
              <a:gd name="adj" fmla="val 9677"/>
            </a:avLst>
          </a:prstGeom>
          <a:solidFill>
            <a:schemeClr val="bg2"/>
          </a:solidFill>
          <a:ln w="9525">
            <a:solidFill>
              <a:srgbClr val="D5DED8"/>
            </a:solidFill>
            <a:prstDash val="solid"/>
          </a:ln>
        </p:spPr>
      </p:sp>
      <p:sp>
        <p:nvSpPr>
          <p:cNvPr id="32" name="Text 29"/>
          <p:cNvSpPr txBox="1"/>
          <p:nvPr/>
        </p:nvSpPr>
        <p:spPr>
          <a:xfrm>
            <a:off x="6336792" y="2642616"/>
            <a:ext cx="1508760" cy="566928"/>
          </a:xfrm>
          <a:prstGeom prst="rect">
            <a:avLst/>
          </a:prstGeom>
          <a:noFill/>
          <a:ln/>
        </p:spPr>
        <p:txBody>
          <a:bodyPr wrap="square" lIns="0" tIns="0" rIns="0" bIns="0" rtlCol="0" anchor="ctr"/>
          <a:lstStyle/>
          <a:p>
            <a:pPr marL="0" indent="0">
              <a:buNone/>
            </a:pPr>
            <a:r>
              <a:rPr lang="en-US" sz="1500" b="1" dirty="0">
                <a:solidFill>
                  <a:schemeClr val="accent2"/>
                </a:solidFill>
              </a:rPr>
              <a:t>ETR</a:t>
            </a:r>
            <a:endParaRPr lang="en-US" sz="1500" dirty="0"/>
          </a:p>
        </p:txBody>
      </p:sp>
      <p:sp>
        <p:nvSpPr>
          <p:cNvPr id="33" name="Text 30"/>
          <p:cNvSpPr txBox="1"/>
          <p:nvPr/>
        </p:nvSpPr>
        <p:spPr>
          <a:xfrm>
            <a:off x="7891272" y="2642616"/>
            <a:ext cx="3657600" cy="566928"/>
          </a:xfrm>
          <a:prstGeom prst="rect">
            <a:avLst/>
          </a:prstGeom>
          <a:noFill/>
          <a:ln/>
        </p:spPr>
        <p:txBody>
          <a:bodyPr wrap="square" lIns="0" tIns="0" rIns="0" bIns="0" rtlCol="0" anchor="ctr"/>
          <a:lstStyle/>
          <a:p>
            <a:pPr marL="0" indent="0">
              <a:buNone/>
            </a:pPr>
            <a:r>
              <a:rPr lang="en-US" sz="1500" dirty="0">
                <a:solidFill>
                  <a:schemeClr val="tx1"/>
                </a:solidFill>
              </a:rPr>
              <a:t>Φ</a:t>
            </a:r>
            <a:r>
              <a:rPr lang="en-US" sz="1500" baseline="-40000" dirty="0">
                <a:solidFill>
                  <a:schemeClr val="tx1"/>
                </a:solidFill>
              </a:rPr>
              <a:t>PSII</a:t>
            </a:r>
            <a:r>
              <a:rPr lang="en-US" sz="1500" dirty="0">
                <a:solidFill>
                  <a:schemeClr val="tx1"/>
                </a:solidFill>
              </a:rPr>
              <a:t> × PAR × 0.84 × 0.5</a:t>
            </a:r>
            <a:endParaRPr lang="en-US" sz="1500" dirty="0"/>
          </a:p>
        </p:txBody>
      </p:sp>
      <p:sp>
        <p:nvSpPr>
          <p:cNvPr id="34" name="formula row"/>
          <p:cNvSpPr/>
          <p:nvPr/>
        </p:nvSpPr>
        <p:spPr>
          <a:xfrm>
            <a:off x="6199632" y="3300984"/>
            <a:ext cx="5440680" cy="566928"/>
          </a:xfrm>
          <a:prstGeom prst="roundRect">
            <a:avLst>
              <a:gd name="adj" fmla="val 9677"/>
            </a:avLst>
          </a:prstGeom>
          <a:solidFill>
            <a:schemeClr val="bg1"/>
          </a:solidFill>
          <a:ln w="9525">
            <a:solidFill>
              <a:srgbClr val="D5DED8"/>
            </a:solidFill>
            <a:prstDash val="solid"/>
          </a:ln>
        </p:spPr>
      </p:sp>
      <p:sp>
        <p:nvSpPr>
          <p:cNvPr id="35" name="Text 32"/>
          <p:cNvSpPr txBox="1"/>
          <p:nvPr/>
        </p:nvSpPr>
        <p:spPr>
          <a:xfrm>
            <a:off x="6336792" y="3300984"/>
            <a:ext cx="1508760" cy="566928"/>
          </a:xfrm>
          <a:prstGeom prst="rect">
            <a:avLst/>
          </a:prstGeom>
          <a:noFill/>
          <a:ln/>
        </p:spPr>
        <p:txBody>
          <a:bodyPr wrap="square" lIns="0" tIns="0" rIns="0" bIns="0" rtlCol="0" anchor="ctr"/>
          <a:lstStyle/>
          <a:p>
            <a:pPr marL="0" indent="0">
              <a:buNone/>
            </a:pPr>
            <a:r>
              <a:rPr lang="en-US" sz="1500" b="1" dirty="0">
                <a:solidFill>
                  <a:schemeClr val="accent2"/>
                </a:solidFill>
              </a:rPr>
              <a:t>F</a:t>
            </a:r>
            <a:r>
              <a:rPr lang="en-US" sz="1500" b="1" baseline="-40000" dirty="0">
                <a:solidFill>
                  <a:schemeClr val="accent2"/>
                </a:solidFill>
              </a:rPr>
              <a:t>o</a:t>
            </a:r>
            <a:r>
              <a:rPr lang="en-US" sz="1500" b="1" dirty="0">
                <a:solidFill>
                  <a:schemeClr val="accent2"/>
                </a:solidFill>
              </a:rPr>
              <a:t>′ (calc.)</a:t>
            </a:r>
            <a:endParaRPr lang="en-US" sz="1500" dirty="0"/>
          </a:p>
        </p:txBody>
      </p:sp>
      <p:sp>
        <p:nvSpPr>
          <p:cNvPr id="36" name="Text 33"/>
          <p:cNvSpPr txBox="1"/>
          <p:nvPr/>
        </p:nvSpPr>
        <p:spPr>
          <a:xfrm>
            <a:off x="7891272" y="3300984"/>
            <a:ext cx="3657600" cy="566928"/>
          </a:xfrm>
          <a:prstGeom prst="rect">
            <a:avLst/>
          </a:prstGeom>
          <a:noFill/>
          <a:ln/>
        </p:spPr>
        <p:txBody>
          <a:bodyPr wrap="square" lIns="0" tIns="0" rIns="0" bIns="0" rtlCol="0" anchor="ctr"/>
          <a:lstStyle/>
          <a:p>
            <a:pPr marL="0" indent="0">
              <a:buNone/>
            </a:pPr>
            <a:r>
              <a:rPr lang="en-US" sz="1500" dirty="0">
                <a:solidFill>
                  <a:schemeClr val="tx1"/>
                </a:solidFill>
              </a:rPr>
              <a:t>F</a:t>
            </a:r>
            <a:r>
              <a:rPr lang="en-US" sz="1500" baseline="-40000" dirty="0">
                <a:solidFill>
                  <a:schemeClr val="tx1"/>
                </a:solidFill>
              </a:rPr>
              <a:t>o</a:t>
            </a:r>
            <a:r>
              <a:rPr lang="en-US" sz="1500" dirty="0">
                <a:solidFill>
                  <a:schemeClr val="tx1"/>
                </a:solidFill>
              </a:rPr>
              <a:t>/[(F</a:t>
            </a:r>
            <a:r>
              <a:rPr lang="en-US" sz="1500" baseline="-40000" dirty="0">
                <a:solidFill>
                  <a:schemeClr val="tx1"/>
                </a:solidFill>
              </a:rPr>
              <a:t>v</a:t>
            </a:r>
            <a:r>
              <a:rPr lang="en-US" sz="1500" dirty="0">
                <a:solidFill>
                  <a:schemeClr val="tx1"/>
                </a:solidFill>
              </a:rPr>
              <a:t>/F</a:t>
            </a:r>
            <a:r>
              <a:rPr lang="en-US" sz="1500" baseline="-40000" dirty="0">
                <a:solidFill>
                  <a:schemeClr val="tx1"/>
                </a:solidFill>
              </a:rPr>
              <a:t>m</a:t>
            </a:r>
            <a:r>
              <a:rPr lang="en-US" sz="1500" dirty="0">
                <a:solidFill>
                  <a:schemeClr val="tx1"/>
                </a:solidFill>
              </a:rPr>
              <a:t>) + (F</a:t>
            </a:r>
            <a:r>
              <a:rPr lang="en-US" sz="1500" baseline="-40000" dirty="0">
                <a:solidFill>
                  <a:schemeClr val="tx1"/>
                </a:solidFill>
              </a:rPr>
              <a:t>o</a:t>
            </a:r>
            <a:r>
              <a:rPr lang="en-US" sz="1500" dirty="0">
                <a:solidFill>
                  <a:schemeClr val="tx1"/>
                </a:solidFill>
              </a:rPr>
              <a:t>/F</a:t>
            </a:r>
            <a:r>
              <a:rPr lang="en-US" sz="1500" baseline="-40000" dirty="0">
                <a:solidFill>
                  <a:schemeClr val="tx1"/>
                </a:solidFill>
              </a:rPr>
              <a:t>m</a:t>
            </a:r>
            <a:r>
              <a:rPr lang="en-US" sz="1500" dirty="0">
                <a:solidFill>
                  <a:schemeClr val="tx1"/>
                </a:solidFill>
              </a:rPr>
              <a:t>′)]</a:t>
            </a:r>
            <a:endParaRPr lang="en-US" sz="1500" dirty="0"/>
          </a:p>
        </p:txBody>
      </p:sp>
      <p:sp>
        <p:nvSpPr>
          <p:cNvPr id="37" name="formula row"/>
          <p:cNvSpPr/>
          <p:nvPr/>
        </p:nvSpPr>
        <p:spPr>
          <a:xfrm>
            <a:off x="6199632" y="3959352"/>
            <a:ext cx="5440680" cy="566928"/>
          </a:xfrm>
          <a:prstGeom prst="roundRect">
            <a:avLst>
              <a:gd name="adj" fmla="val 9677"/>
            </a:avLst>
          </a:prstGeom>
          <a:solidFill>
            <a:schemeClr val="bg2"/>
          </a:solidFill>
          <a:ln w="9525">
            <a:solidFill>
              <a:srgbClr val="D5DED8"/>
            </a:solidFill>
            <a:prstDash val="solid"/>
          </a:ln>
        </p:spPr>
      </p:sp>
      <p:sp>
        <p:nvSpPr>
          <p:cNvPr id="38" name="Text 35"/>
          <p:cNvSpPr txBox="1"/>
          <p:nvPr/>
        </p:nvSpPr>
        <p:spPr>
          <a:xfrm>
            <a:off x="6336792" y="3959352"/>
            <a:ext cx="1508760" cy="566928"/>
          </a:xfrm>
          <a:prstGeom prst="rect">
            <a:avLst/>
          </a:prstGeom>
          <a:noFill/>
          <a:ln/>
        </p:spPr>
        <p:txBody>
          <a:bodyPr wrap="square" lIns="0" tIns="0" rIns="0" bIns="0" rtlCol="0" anchor="ctr"/>
          <a:lstStyle/>
          <a:p>
            <a:pPr marL="0" indent="0">
              <a:buNone/>
            </a:pPr>
            <a:r>
              <a:rPr lang="en-US" sz="1500" b="1" dirty="0">
                <a:solidFill>
                  <a:schemeClr val="accent2"/>
                </a:solidFill>
              </a:rPr>
              <a:t>TOC radiance</a:t>
            </a:r>
            <a:endParaRPr lang="en-US" sz="1500" dirty="0"/>
          </a:p>
        </p:txBody>
      </p:sp>
      <p:sp>
        <p:nvSpPr>
          <p:cNvPr id="39" name="Text 36"/>
          <p:cNvSpPr txBox="1"/>
          <p:nvPr/>
        </p:nvSpPr>
        <p:spPr>
          <a:xfrm>
            <a:off x="7891272" y="3959352"/>
            <a:ext cx="3657600" cy="566928"/>
          </a:xfrm>
          <a:prstGeom prst="rect">
            <a:avLst/>
          </a:prstGeom>
          <a:noFill/>
          <a:ln/>
        </p:spPr>
        <p:txBody>
          <a:bodyPr wrap="square" lIns="0" tIns="0" rIns="0" bIns="0" rtlCol="0" anchor="ctr"/>
          <a:lstStyle/>
          <a:p>
            <a:pPr marL="0" indent="0">
              <a:buNone/>
            </a:pPr>
            <a:r>
              <a:rPr lang="en-US" sz="1500" dirty="0">
                <a:solidFill>
                  <a:schemeClr val="tx1"/>
                </a:solidFill>
              </a:rPr>
              <a:t>L = r·E/π + SIF</a:t>
            </a:r>
            <a:endParaRPr lang="en-US" sz="1500" dirty="0"/>
          </a:p>
        </p:txBody>
      </p:sp>
      <p:sp>
        <p:nvSpPr>
          <p:cNvPr id="40" name="formula row"/>
          <p:cNvSpPr/>
          <p:nvPr/>
        </p:nvSpPr>
        <p:spPr>
          <a:xfrm>
            <a:off x="6199632" y="4617720"/>
            <a:ext cx="5440680" cy="566928"/>
          </a:xfrm>
          <a:prstGeom prst="roundRect">
            <a:avLst>
              <a:gd name="adj" fmla="val 9677"/>
            </a:avLst>
          </a:prstGeom>
          <a:solidFill>
            <a:schemeClr val="bg1"/>
          </a:solidFill>
          <a:ln w="9525">
            <a:solidFill>
              <a:srgbClr val="D5DED8"/>
            </a:solidFill>
            <a:prstDash val="solid"/>
          </a:ln>
        </p:spPr>
      </p:sp>
      <p:sp>
        <p:nvSpPr>
          <p:cNvPr id="41" name="Text 38"/>
          <p:cNvSpPr txBox="1"/>
          <p:nvPr/>
        </p:nvSpPr>
        <p:spPr>
          <a:xfrm>
            <a:off x="6336792" y="4617720"/>
            <a:ext cx="1508760" cy="566928"/>
          </a:xfrm>
          <a:prstGeom prst="rect">
            <a:avLst/>
          </a:prstGeom>
          <a:noFill/>
          <a:ln/>
        </p:spPr>
        <p:txBody>
          <a:bodyPr wrap="square" lIns="0" tIns="0" rIns="0" bIns="0" rtlCol="0" anchor="ctr"/>
          <a:lstStyle/>
          <a:p>
            <a:pPr marL="0" indent="0">
              <a:buNone/>
            </a:pPr>
            <a:r>
              <a:rPr lang="en-US" sz="1500" b="1" dirty="0">
                <a:solidFill>
                  <a:schemeClr val="accent2"/>
                </a:solidFill>
              </a:rPr>
              <a:t>FLD</a:t>
            </a:r>
            <a:endParaRPr lang="en-US" sz="1500" dirty="0"/>
          </a:p>
        </p:txBody>
      </p:sp>
      <p:sp>
        <p:nvSpPr>
          <p:cNvPr id="42" name="Text 39"/>
          <p:cNvSpPr txBox="1"/>
          <p:nvPr/>
        </p:nvSpPr>
        <p:spPr>
          <a:xfrm>
            <a:off x="7891272" y="4617720"/>
            <a:ext cx="3657600" cy="566928"/>
          </a:xfrm>
          <a:prstGeom prst="rect">
            <a:avLst/>
          </a:prstGeom>
          <a:noFill/>
          <a:ln/>
        </p:spPr>
        <p:txBody>
          <a:bodyPr wrap="square" lIns="0" tIns="0" rIns="0" bIns="0" rtlCol="0" anchor="ctr"/>
          <a:lstStyle/>
          <a:p>
            <a:pPr marL="0" indent="0">
              <a:buNone/>
            </a:pPr>
            <a:r>
              <a:rPr lang="en-US" sz="1500" dirty="0">
                <a:solidFill>
                  <a:schemeClr val="tx1"/>
                </a:solidFill>
              </a:rPr>
              <a:t>F = (E</a:t>
            </a:r>
            <a:r>
              <a:rPr lang="en-US" sz="1500" baseline="-40000" dirty="0">
                <a:solidFill>
                  <a:schemeClr val="tx1"/>
                </a:solidFill>
              </a:rPr>
              <a:t>out</a:t>
            </a:r>
            <a:r>
              <a:rPr lang="en-US" sz="1500" dirty="0">
                <a:solidFill>
                  <a:schemeClr val="tx1"/>
                </a:solidFill>
              </a:rPr>
              <a:t>L</a:t>
            </a:r>
            <a:r>
              <a:rPr lang="en-US" sz="1500" baseline="-40000" dirty="0">
                <a:solidFill>
                  <a:schemeClr val="tx1"/>
                </a:solidFill>
              </a:rPr>
              <a:t>in</a:t>
            </a:r>
            <a:r>
              <a:rPr lang="en-US" sz="1500" dirty="0">
                <a:solidFill>
                  <a:schemeClr val="tx1"/>
                </a:solidFill>
              </a:rPr>
              <a:t> − E</a:t>
            </a:r>
            <a:r>
              <a:rPr lang="en-US" sz="1500" baseline="-40000" dirty="0">
                <a:solidFill>
                  <a:schemeClr val="tx1"/>
                </a:solidFill>
              </a:rPr>
              <a:t>in</a:t>
            </a:r>
            <a:r>
              <a:rPr lang="en-US" sz="1500" dirty="0">
                <a:solidFill>
                  <a:schemeClr val="tx1"/>
                </a:solidFill>
              </a:rPr>
              <a:t>L</a:t>
            </a:r>
            <a:r>
              <a:rPr lang="en-US" sz="1500" baseline="-40000" dirty="0">
                <a:solidFill>
                  <a:schemeClr val="tx1"/>
                </a:solidFill>
              </a:rPr>
              <a:t>out</a:t>
            </a:r>
            <a:r>
              <a:rPr lang="en-US" sz="1500" dirty="0">
                <a:solidFill>
                  <a:schemeClr val="tx1"/>
                </a:solidFill>
              </a:rPr>
              <a:t>)/(E</a:t>
            </a:r>
            <a:r>
              <a:rPr lang="en-US" sz="1500" baseline="-40000" dirty="0">
                <a:solidFill>
                  <a:schemeClr val="tx1"/>
                </a:solidFill>
              </a:rPr>
              <a:t>out</a:t>
            </a:r>
            <a:r>
              <a:rPr lang="en-US" sz="1500" dirty="0">
                <a:solidFill>
                  <a:schemeClr val="tx1"/>
                </a:solidFill>
              </a:rPr>
              <a:t> − E</a:t>
            </a:r>
            <a:r>
              <a:rPr lang="en-US" sz="1500" baseline="-40000" dirty="0">
                <a:solidFill>
                  <a:schemeClr val="tx1"/>
                </a:solidFill>
              </a:rPr>
              <a:t>in</a:t>
            </a:r>
            <a:r>
              <a:rPr lang="en-US" sz="1500" dirty="0">
                <a:solidFill>
                  <a:schemeClr val="tx1"/>
                </a:solidFill>
              </a:rPr>
              <a:t>)</a:t>
            </a:r>
            <a:endParaRPr lang="en-US" sz="1500" dirty="0"/>
          </a:p>
        </p:txBody>
      </p:sp>
      <p:sp>
        <p:nvSpPr>
          <p:cNvPr id="43" name="formula row"/>
          <p:cNvSpPr/>
          <p:nvPr/>
        </p:nvSpPr>
        <p:spPr>
          <a:xfrm>
            <a:off x="6199632" y="5276088"/>
            <a:ext cx="5440680" cy="566928"/>
          </a:xfrm>
          <a:prstGeom prst="roundRect">
            <a:avLst>
              <a:gd name="adj" fmla="val 9677"/>
            </a:avLst>
          </a:prstGeom>
          <a:solidFill>
            <a:schemeClr val="bg2"/>
          </a:solidFill>
          <a:ln w="9525">
            <a:solidFill>
              <a:srgbClr val="D5DED8"/>
            </a:solidFill>
            <a:prstDash val="solid"/>
          </a:ln>
        </p:spPr>
      </p:sp>
      <p:sp>
        <p:nvSpPr>
          <p:cNvPr id="44" name="Text 41"/>
          <p:cNvSpPr txBox="1"/>
          <p:nvPr/>
        </p:nvSpPr>
        <p:spPr>
          <a:xfrm>
            <a:off x="6336792" y="5276088"/>
            <a:ext cx="1508760" cy="566928"/>
          </a:xfrm>
          <a:prstGeom prst="rect">
            <a:avLst/>
          </a:prstGeom>
          <a:noFill/>
          <a:ln/>
        </p:spPr>
        <p:txBody>
          <a:bodyPr wrap="square" lIns="0" tIns="0" rIns="0" bIns="0" rtlCol="0" anchor="ctr"/>
          <a:lstStyle/>
          <a:p>
            <a:pPr marL="0" indent="0">
              <a:buNone/>
            </a:pPr>
            <a:r>
              <a:rPr lang="en-US" sz="1500" b="1" dirty="0">
                <a:solidFill>
                  <a:schemeClr val="accent2"/>
                </a:solidFill>
              </a:rPr>
              <a:t>SIF / GPP</a:t>
            </a:r>
            <a:endParaRPr lang="en-US" sz="1500" dirty="0"/>
          </a:p>
        </p:txBody>
      </p:sp>
      <p:sp>
        <p:nvSpPr>
          <p:cNvPr id="45" name="Text 42"/>
          <p:cNvSpPr txBox="1"/>
          <p:nvPr/>
        </p:nvSpPr>
        <p:spPr>
          <a:xfrm>
            <a:off x="7891272" y="5276088"/>
            <a:ext cx="3657600" cy="566928"/>
          </a:xfrm>
          <a:prstGeom prst="rect">
            <a:avLst/>
          </a:prstGeom>
          <a:noFill/>
          <a:ln/>
        </p:spPr>
        <p:txBody>
          <a:bodyPr wrap="square" lIns="0" tIns="0" rIns="0" bIns="0" rtlCol="0" anchor="ctr"/>
          <a:lstStyle/>
          <a:p>
            <a:pPr marL="0" indent="0">
              <a:buNone/>
            </a:pPr>
            <a:r>
              <a:rPr lang="en-US" sz="1500" dirty="0">
                <a:solidFill>
                  <a:schemeClr val="tx1"/>
                </a:solidFill>
              </a:rPr>
              <a:t>SIF = APAR·Φ</a:t>
            </a:r>
            <a:r>
              <a:rPr lang="en-US" sz="1500" baseline="-40000" dirty="0">
                <a:solidFill>
                  <a:schemeClr val="tx1"/>
                </a:solidFill>
              </a:rPr>
              <a:t>F</a:t>
            </a:r>
            <a:r>
              <a:rPr lang="en-US" sz="1500" dirty="0">
                <a:solidFill>
                  <a:schemeClr val="tx1"/>
                </a:solidFill>
              </a:rPr>
              <a:t>·f</a:t>
            </a:r>
            <a:r>
              <a:rPr lang="en-US" sz="1500" baseline="-40000" dirty="0">
                <a:solidFill>
                  <a:schemeClr val="tx1"/>
                </a:solidFill>
              </a:rPr>
              <a:t>esc</a:t>
            </a:r>
            <a:r>
              <a:rPr lang="en-US" sz="1500" dirty="0">
                <a:solidFill>
                  <a:schemeClr val="tx1"/>
                </a:solidFill>
              </a:rPr>
              <a:t> ; GPP = APAR·LUE</a:t>
            </a:r>
            <a:endParaRPr lang="en-US" sz="1500" dirty="0"/>
          </a:p>
        </p:txBody>
      </p:sp>
      <p:sp>
        <p:nvSpPr>
          <p:cNvPr id="46" name="Text 43"/>
          <p:cNvSpPr txBox="1"/>
          <p:nvPr/>
        </p:nvSpPr>
        <p:spPr>
          <a:xfrm>
            <a:off x="548640" y="5943600"/>
            <a:ext cx="10972800" cy="320040"/>
          </a:xfrm>
          <a:prstGeom prst="rect">
            <a:avLst/>
          </a:prstGeom>
          <a:noFill/>
          <a:ln/>
        </p:spPr>
        <p:txBody>
          <a:bodyPr wrap="square" lIns="508" tIns="508" rIns="508" bIns="508" rtlCol="0" anchor="t"/>
          <a:lstStyle/>
          <a:p>
            <a:pPr marL="0" indent="0">
              <a:spcAft>
                <a:spcPts val="600"/>
              </a:spcAft>
              <a:buNone/>
            </a:pPr>
            <a:r>
              <a:rPr lang="en-US" sz="1200" i="1" dirty="0">
                <a:solidFill>
                  <a:schemeClr val="accent6"/>
                </a:solidFill>
              </a:rPr>
              <a:t>Prime (′) = light-adapted. No prime = dark-adapted. Green = PAM parameters; red = PAM extras and SIF.</a:t>
            </a:r>
            <a:endParaRPr lang="en-US" sz="1200" dirty="0"/>
          </a:p>
        </p:txBody>
      </p:sp>
      <p:sp>
        <p:nvSpPr>
          <p:cNvPr id="3"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Clearing common doubts (1/2): PAM</a:t>
            </a:r>
            <a:endParaRPr lang="en-US" sz="3200" dirty="0"/>
          </a:p>
        </p:txBody>
      </p:sp>
      <p:sp>
        <p:nvSpPr>
          <p:cNvPr id="4" name="card"/>
          <p:cNvSpPr/>
          <p:nvPr/>
        </p:nvSpPr>
        <p:spPr>
          <a:xfrm>
            <a:off x="548640" y="1371600"/>
            <a:ext cx="5440680"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5" name="icon circle"/>
          <p:cNvSpPr/>
          <p:nvPr/>
        </p:nvSpPr>
        <p:spPr>
          <a:xfrm>
            <a:off x="731520" y="1554480"/>
            <a:ext cx="457200" cy="457200"/>
          </a:xfrm>
          <a:prstGeom prst="ellipse">
            <a:avLst/>
          </a:prstGeom>
          <a:solidFill>
            <a:schemeClr val="accent1"/>
          </a:solidFill>
          <a:ln/>
        </p:spPr>
      </p:sp>
      <p:pic>
        <p:nvPicPr>
          <p:cNvPr id="6" name="Image 0" descr="Question icon"/>
          <p:cNvPicPr>
            <a:picLocks noChangeAspect="1"/>
          </p:cNvPicPr>
          <p:nvPr/>
        </p:nvPicPr>
        <p:blipFill>
          <a:blip r:embed="rId3"/>
          <a:stretch>
            <a:fillRect/>
          </a:stretch>
        </p:blipFill>
        <p:spPr>
          <a:xfrm>
            <a:off x="850392" y="1673352"/>
            <a:ext cx="219456" cy="219456"/>
          </a:xfrm>
          <a:prstGeom prst="rect">
            <a:avLst/>
          </a:prstGeom>
        </p:spPr>
      </p:pic>
      <p:sp>
        <p:nvSpPr>
          <p:cNvPr id="7" name="Text 3"/>
          <p:cNvSpPr txBox="1"/>
          <p:nvPr/>
        </p:nvSpPr>
        <p:spPr>
          <a:xfrm>
            <a:off x="1325880" y="1481328"/>
            <a:ext cx="4526280" cy="731520"/>
          </a:xfrm>
          <a:prstGeom prst="rect">
            <a:avLst/>
          </a:prstGeom>
          <a:noFill/>
          <a:ln/>
        </p:spPr>
        <p:txBody>
          <a:bodyPr wrap="square" lIns="0" tIns="0" rIns="0" bIns="0" rtlCol="0" anchor="ctr"/>
          <a:lstStyle/>
          <a:p>
            <a:pPr marL="0" indent="0">
              <a:buNone/>
            </a:pPr>
            <a:r>
              <a:rPr lang="en-US" sz="1500" b="1" dirty="0">
                <a:solidFill>
                  <a:schemeClr val="tx2"/>
                </a:solidFill>
              </a:rPr>
              <a:t>Why does fluorescence rise when reaction centres close?</a:t>
            </a:r>
            <a:endParaRPr lang="en-US" sz="1500" dirty="0"/>
          </a:p>
        </p:txBody>
      </p:sp>
      <p:sp>
        <p:nvSpPr>
          <p:cNvPr id="8" name="Text 4"/>
          <p:cNvSpPr txBox="1"/>
          <p:nvPr/>
        </p:nvSpPr>
        <p:spPr>
          <a:xfrm>
            <a:off x="777240" y="2286000"/>
            <a:ext cx="5029200" cy="1234440"/>
          </a:xfrm>
          <a:prstGeom prst="rect">
            <a:avLst/>
          </a:prstGeom>
          <a:noFill/>
          <a:ln/>
        </p:spPr>
        <p:txBody>
          <a:bodyPr wrap="square" lIns="0" tIns="0" rIns="0" bIns="0" rtlCol="0" anchor="t"/>
          <a:lstStyle/>
          <a:p>
            <a:pPr marL="0" indent="0">
              <a:buNone/>
            </a:pPr>
            <a:r>
              <a:rPr lang="en-US" sz="1400" dirty="0">
                <a:solidFill>
                  <a:schemeClr val="tx1"/>
                </a:solidFill>
              </a:rPr>
              <a:t>Photochemistry stops (k</a:t>
            </a:r>
            <a:r>
              <a:rPr lang="en-US" sz="1400" baseline="-40000" dirty="0">
                <a:solidFill>
                  <a:schemeClr val="tx1"/>
                </a:solidFill>
              </a:rPr>
              <a:t>P</a:t>
            </a:r>
            <a:r>
              <a:rPr lang="en-US" sz="1400" dirty="0">
                <a:solidFill>
                  <a:schemeClr val="tx1"/>
                </a:solidFill>
              </a:rPr>
              <a:t> ≈ 0), so the same excitation must leave by heat or fluorescence. Competition → fluorescence yield rises to F</a:t>
            </a:r>
            <a:r>
              <a:rPr lang="en-US" sz="1400" baseline="-40000" dirty="0">
                <a:solidFill>
                  <a:schemeClr val="tx1"/>
                </a:solidFill>
              </a:rPr>
              <a:t>m</a:t>
            </a:r>
            <a:r>
              <a:rPr lang="en-US" sz="1400" dirty="0">
                <a:solidFill>
                  <a:schemeClr val="tx1"/>
                </a:solidFill>
              </a:rPr>
              <a:t>.</a:t>
            </a:r>
            <a:endParaRPr lang="en-US" sz="1400" dirty="0"/>
          </a:p>
        </p:txBody>
      </p:sp>
      <p:sp>
        <p:nvSpPr>
          <p:cNvPr id="9" name="card"/>
          <p:cNvSpPr/>
          <p:nvPr/>
        </p:nvSpPr>
        <p:spPr>
          <a:xfrm>
            <a:off x="6199632" y="1371600"/>
            <a:ext cx="5440680"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10" name="icon circle"/>
          <p:cNvSpPr/>
          <p:nvPr/>
        </p:nvSpPr>
        <p:spPr>
          <a:xfrm>
            <a:off x="6382512" y="1554480"/>
            <a:ext cx="457200" cy="457200"/>
          </a:xfrm>
          <a:prstGeom prst="ellipse">
            <a:avLst/>
          </a:prstGeom>
          <a:solidFill>
            <a:schemeClr val="accent2"/>
          </a:solidFill>
          <a:ln/>
        </p:spPr>
      </p:sp>
      <p:pic>
        <p:nvPicPr>
          <p:cNvPr id="11" name="Image 1" descr="Question icon"/>
          <p:cNvPicPr>
            <a:picLocks noChangeAspect="1"/>
          </p:cNvPicPr>
          <p:nvPr/>
        </p:nvPicPr>
        <p:blipFill>
          <a:blip r:embed="rId3"/>
          <a:stretch>
            <a:fillRect/>
          </a:stretch>
        </p:blipFill>
        <p:spPr>
          <a:xfrm>
            <a:off x="6501384" y="1673352"/>
            <a:ext cx="219456" cy="219456"/>
          </a:xfrm>
          <a:prstGeom prst="rect">
            <a:avLst/>
          </a:prstGeom>
        </p:spPr>
      </p:pic>
      <p:sp>
        <p:nvSpPr>
          <p:cNvPr id="12" name="Text 7"/>
          <p:cNvSpPr txBox="1"/>
          <p:nvPr/>
        </p:nvSpPr>
        <p:spPr>
          <a:xfrm>
            <a:off x="6976872" y="1481328"/>
            <a:ext cx="4526280" cy="731520"/>
          </a:xfrm>
          <a:prstGeom prst="rect">
            <a:avLst/>
          </a:prstGeom>
          <a:noFill/>
          <a:ln/>
        </p:spPr>
        <p:txBody>
          <a:bodyPr wrap="square" lIns="0" tIns="0" rIns="0" bIns="0" rtlCol="0" anchor="ctr"/>
          <a:lstStyle/>
          <a:p>
            <a:pPr marL="0" indent="0">
              <a:buNone/>
            </a:pPr>
            <a:r>
              <a:rPr lang="en-US" sz="1500" b="1" dirty="0">
                <a:solidFill>
                  <a:schemeClr val="tx2"/>
                </a:solidFill>
              </a:rPr>
              <a:t>Why is F</a:t>
            </a:r>
            <a:r>
              <a:rPr lang="en-US" sz="1500" b="1" baseline="-40000" dirty="0">
                <a:solidFill>
                  <a:schemeClr val="tx2"/>
                </a:solidFill>
              </a:rPr>
              <a:t>m</a:t>
            </a:r>
            <a:r>
              <a:rPr lang="en-US" sz="1500" b="1" dirty="0">
                <a:solidFill>
                  <a:schemeClr val="tx2"/>
                </a:solidFill>
              </a:rPr>
              <a:t>′ lower than F</a:t>
            </a:r>
            <a:r>
              <a:rPr lang="en-US" sz="1500" b="1" baseline="-40000" dirty="0">
                <a:solidFill>
                  <a:schemeClr val="tx2"/>
                </a:solidFill>
              </a:rPr>
              <a:t>m</a:t>
            </a:r>
            <a:r>
              <a:rPr lang="en-US" sz="1500" b="1" dirty="0">
                <a:solidFill>
                  <a:schemeClr val="tx2"/>
                </a:solidFill>
              </a:rPr>
              <a:t>?</a:t>
            </a:r>
            <a:endParaRPr lang="en-US" sz="1500" dirty="0"/>
          </a:p>
        </p:txBody>
      </p:sp>
      <p:sp>
        <p:nvSpPr>
          <p:cNvPr id="13" name="Text 8"/>
          <p:cNvSpPr txBox="1"/>
          <p:nvPr/>
        </p:nvSpPr>
        <p:spPr>
          <a:xfrm>
            <a:off x="6428232" y="2286000"/>
            <a:ext cx="5029200" cy="1234440"/>
          </a:xfrm>
          <a:prstGeom prst="rect">
            <a:avLst/>
          </a:prstGeom>
          <a:noFill/>
          <a:ln/>
        </p:spPr>
        <p:txBody>
          <a:bodyPr wrap="square" lIns="0" tIns="0" rIns="0" bIns="0" rtlCol="0" anchor="t"/>
          <a:lstStyle/>
          <a:p>
            <a:pPr marL="0" indent="0">
              <a:buNone/>
            </a:pPr>
            <a:r>
              <a:rPr lang="en-US" sz="1400" dirty="0">
                <a:solidFill>
                  <a:schemeClr val="tx1"/>
                </a:solidFill>
              </a:rPr>
              <a:t>In the light NPQ is active. Even with all centres closed by the pulse, extra heat dissipation competes with fluorescence.</a:t>
            </a:r>
            <a:endParaRPr lang="en-US" sz="1400" dirty="0"/>
          </a:p>
        </p:txBody>
      </p:sp>
      <p:sp>
        <p:nvSpPr>
          <p:cNvPr id="14" name="card"/>
          <p:cNvSpPr/>
          <p:nvPr/>
        </p:nvSpPr>
        <p:spPr>
          <a:xfrm>
            <a:off x="548640" y="3794760"/>
            <a:ext cx="5440680"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15" name="icon circle"/>
          <p:cNvSpPr/>
          <p:nvPr/>
        </p:nvSpPr>
        <p:spPr>
          <a:xfrm>
            <a:off x="731520" y="3977640"/>
            <a:ext cx="457200" cy="457200"/>
          </a:xfrm>
          <a:prstGeom prst="ellipse">
            <a:avLst/>
          </a:prstGeom>
          <a:solidFill>
            <a:schemeClr val="accent1"/>
          </a:solidFill>
          <a:ln/>
        </p:spPr>
      </p:sp>
      <p:pic>
        <p:nvPicPr>
          <p:cNvPr id="16" name="Image 2" descr="Question icon"/>
          <p:cNvPicPr>
            <a:picLocks noChangeAspect="1"/>
          </p:cNvPicPr>
          <p:nvPr/>
        </p:nvPicPr>
        <p:blipFill>
          <a:blip r:embed="rId3"/>
          <a:stretch>
            <a:fillRect/>
          </a:stretch>
        </p:blipFill>
        <p:spPr>
          <a:xfrm>
            <a:off x="850392" y="4096512"/>
            <a:ext cx="219456" cy="219456"/>
          </a:xfrm>
          <a:prstGeom prst="rect">
            <a:avLst/>
          </a:prstGeom>
        </p:spPr>
      </p:pic>
      <p:sp>
        <p:nvSpPr>
          <p:cNvPr id="17" name="Text 11"/>
          <p:cNvSpPr txBox="1"/>
          <p:nvPr/>
        </p:nvSpPr>
        <p:spPr>
          <a:xfrm>
            <a:off x="1325880" y="3904488"/>
            <a:ext cx="4526280" cy="731520"/>
          </a:xfrm>
          <a:prstGeom prst="rect">
            <a:avLst/>
          </a:prstGeom>
          <a:noFill/>
          <a:ln/>
        </p:spPr>
        <p:txBody>
          <a:bodyPr wrap="square" lIns="0" tIns="0" rIns="0" bIns="0" rtlCol="0" anchor="ctr"/>
          <a:lstStyle/>
          <a:p>
            <a:pPr marL="0" indent="0">
              <a:buNone/>
            </a:pPr>
            <a:r>
              <a:rPr lang="en-US" sz="1500" b="1" dirty="0">
                <a:solidFill>
                  <a:schemeClr val="tx2"/>
                </a:solidFill>
              </a:rPr>
              <a:t>Why measure F</a:t>
            </a:r>
            <a:r>
              <a:rPr lang="en-US" sz="1500" b="1" baseline="-40000" dirty="0">
                <a:solidFill>
                  <a:schemeClr val="tx2"/>
                </a:solidFill>
              </a:rPr>
              <a:t>v</a:t>
            </a:r>
            <a:r>
              <a:rPr lang="en-US" sz="1500" b="1" dirty="0">
                <a:solidFill>
                  <a:schemeClr val="tx2"/>
                </a:solidFill>
              </a:rPr>
              <a:t>/F</a:t>
            </a:r>
            <a:r>
              <a:rPr lang="en-US" sz="1500" b="1" baseline="-40000" dirty="0">
                <a:solidFill>
                  <a:schemeClr val="tx2"/>
                </a:solidFill>
              </a:rPr>
              <a:t>m</a:t>
            </a:r>
            <a:r>
              <a:rPr lang="en-US" sz="1500" b="1" dirty="0">
                <a:solidFill>
                  <a:schemeClr val="tx2"/>
                </a:solidFill>
              </a:rPr>
              <a:t> in the dark but Φ</a:t>
            </a:r>
            <a:r>
              <a:rPr lang="en-US" sz="1500" b="1" baseline="-40000" dirty="0">
                <a:solidFill>
                  <a:schemeClr val="tx2"/>
                </a:solidFill>
              </a:rPr>
              <a:t>PSII</a:t>
            </a:r>
            <a:r>
              <a:rPr lang="en-US" sz="1500" b="1" dirty="0">
                <a:solidFill>
                  <a:schemeClr val="tx2"/>
                </a:solidFill>
              </a:rPr>
              <a:t> in the light?</a:t>
            </a:r>
            <a:endParaRPr lang="en-US" sz="1500" dirty="0"/>
          </a:p>
        </p:txBody>
      </p:sp>
      <p:sp>
        <p:nvSpPr>
          <p:cNvPr id="18" name="Text 12"/>
          <p:cNvSpPr txBox="1"/>
          <p:nvPr/>
        </p:nvSpPr>
        <p:spPr>
          <a:xfrm>
            <a:off x="777240" y="4709160"/>
            <a:ext cx="5029200" cy="1234440"/>
          </a:xfrm>
          <a:prstGeom prst="rect">
            <a:avLst/>
          </a:prstGeom>
          <a:noFill/>
          <a:ln/>
        </p:spPr>
        <p:txBody>
          <a:bodyPr wrap="square" lIns="0" tIns="0" rIns="0" bIns="0" rtlCol="0" anchor="t"/>
          <a:lstStyle/>
          <a:p>
            <a:pPr marL="0" indent="0">
              <a:buNone/>
            </a:pPr>
            <a:r>
              <a:rPr lang="en-US" sz="1400" dirty="0">
                <a:solidFill>
                  <a:schemeClr val="tx1"/>
                </a:solidFill>
              </a:rPr>
              <a:t>F</a:t>
            </a:r>
            <a:r>
              <a:rPr lang="en-US" sz="1400" baseline="-40000" dirty="0">
                <a:solidFill>
                  <a:schemeClr val="tx1"/>
                </a:solidFill>
              </a:rPr>
              <a:t>v</a:t>
            </a:r>
            <a:r>
              <a:rPr lang="en-US" sz="1400" dirty="0">
                <a:solidFill>
                  <a:schemeClr val="tx1"/>
                </a:solidFill>
              </a:rPr>
              <a:t>/F</a:t>
            </a:r>
            <a:r>
              <a:rPr lang="en-US" sz="1400" baseline="-40000" dirty="0">
                <a:solidFill>
                  <a:schemeClr val="tx1"/>
                </a:solidFill>
              </a:rPr>
              <a:t>m</a:t>
            </a:r>
            <a:r>
              <a:rPr lang="en-US" sz="1400" dirty="0">
                <a:solidFill>
                  <a:schemeClr val="tx1"/>
                </a:solidFill>
              </a:rPr>
              <a:t> needs all centres open and NPQ = 0 (maximum potential). Φ</a:t>
            </a:r>
            <a:r>
              <a:rPr lang="en-US" sz="1400" baseline="-40000" dirty="0">
                <a:solidFill>
                  <a:schemeClr val="tx1"/>
                </a:solidFill>
              </a:rPr>
              <a:t>PSII</a:t>
            </a:r>
            <a:r>
              <a:rPr lang="en-US" sz="1400" dirty="0">
                <a:solidFill>
                  <a:schemeClr val="tx1"/>
                </a:solidFill>
              </a:rPr>
              <a:t> describes actual efficiency under the current light.</a:t>
            </a:r>
            <a:endParaRPr lang="en-US" sz="1400" dirty="0"/>
          </a:p>
        </p:txBody>
      </p:sp>
      <p:sp>
        <p:nvSpPr>
          <p:cNvPr id="19" name="card"/>
          <p:cNvSpPr/>
          <p:nvPr/>
        </p:nvSpPr>
        <p:spPr>
          <a:xfrm>
            <a:off x="6199632" y="3794760"/>
            <a:ext cx="5440680"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20" name="icon circle"/>
          <p:cNvSpPr/>
          <p:nvPr/>
        </p:nvSpPr>
        <p:spPr>
          <a:xfrm>
            <a:off x="6382512" y="3977640"/>
            <a:ext cx="457200" cy="457200"/>
          </a:xfrm>
          <a:prstGeom prst="ellipse">
            <a:avLst/>
          </a:prstGeom>
          <a:solidFill>
            <a:schemeClr val="accent2"/>
          </a:solidFill>
          <a:ln/>
        </p:spPr>
      </p:sp>
      <p:pic>
        <p:nvPicPr>
          <p:cNvPr id="21" name="Image 3" descr="Question icon"/>
          <p:cNvPicPr>
            <a:picLocks noChangeAspect="1"/>
          </p:cNvPicPr>
          <p:nvPr/>
        </p:nvPicPr>
        <p:blipFill>
          <a:blip r:embed="rId3"/>
          <a:stretch>
            <a:fillRect/>
          </a:stretch>
        </p:blipFill>
        <p:spPr>
          <a:xfrm>
            <a:off x="6501384" y="4096512"/>
            <a:ext cx="219456" cy="219456"/>
          </a:xfrm>
          <a:prstGeom prst="rect">
            <a:avLst/>
          </a:prstGeom>
        </p:spPr>
      </p:pic>
      <p:sp>
        <p:nvSpPr>
          <p:cNvPr id="22" name="Text 15"/>
          <p:cNvSpPr txBox="1"/>
          <p:nvPr/>
        </p:nvSpPr>
        <p:spPr>
          <a:xfrm>
            <a:off x="6976872" y="3904488"/>
            <a:ext cx="4526280" cy="731520"/>
          </a:xfrm>
          <a:prstGeom prst="rect">
            <a:avLst/>
          </a:prstGeom>
          <a:noFill/>
          <a:ln/>
        </p:spPr>
        <p:txBody>
          <a:bodyPr wrap="square" lIns="0" tIns="0" rIns="0" bIns="0" rtlCol="0" anchor="ctr"/>
          <a:lstStyle/>
          <a:p>
            <a:pPr marL="0" indent="0">
              <a:buNone/>
            </a:pPr>
            <a:r>
              <a:rPr lang="en-US" sz="1500" b="1" dirty="0">
                <a:solidFill>
                  <a:schemeClr val="tx2"/>
                </a:solidFill>
              </a:rPr>
              <a:t>Does a drop in F</a:t>
            </a:r>
            <a:r>
              <a:rPr lang="en-US" sz="1500" b="1" baseline="-40000" dirty="0">
                <a:solidFill>
                  <a:schemeClr val="tx2"/>
                </a:solidFill>
              </a:rPr>
              <a:t>v</a:t>
            </a:r>
            <a:r>
              <a:rPr lang="en-US" sz="1500" b="1" dirty="0">
                <a:solidFill>
                  <a:schemeClr val="tx2"/>
                </a:solidFill>
              </a:rPr>
              <a:t>/F</a:t>
            </a:r>
            <a:r>
              <a:rPr lang="en-US" sz="1500" b="1" baseline="-40000" dirty="0">
                <a:solidFill>
                  <a:schemeClr val="tx2"/>
                </a:solidFill>
              </a:rPr>
              <a:t>m</a:t>
            </a:r>
            <a:r>
              <a:rPr lang="en-US" sz="1500" b="1" dirty="0">
                <a:solidFill>
                  <a:schemeClr val="tx2"/>
                </a:solidFill>
              </a:rPr>
              <a:t> mean lower photosynthesis?</a:t>
            </a:r>
            <a:endParaRPr lang="en-US" sz="1500" dirty="0"/>
          </a:p>
        </p:txBody>
      </p:sp>
      <p:sp>
        <p:nvSpPr>
          <p:cNvPr id="23" name="Text 16"/>
          <p:cNvSpPr txBox="1"/>
          <p:nvPr/>
        </p:nvSpPr>
        <p:spPr>
          <a:xfrm>
            <a:off x="6428232" y="4709160"/>
            <a:ext cx="5029200" cy="1234440"/>
          </a:xfrm>
          <a:prstGeom prst="rect">
            <a:avLst/>
          </a:prstGeom>
          <a:noFill/>
          <a:ln/>
        </p:spPr>
        <p:txBody>
          <a:bodyPr wrap="square" lIns="0" tIns="0" rIns="0" bIns="0" rtlCol="0" anchor="t"/>
          <a:lstStyle/>
          <a:p>
            <a:pPr marL="0" indent="0">
              <a:buNone/>
            </a:pPr>
            <a:r>
              <a:rPr lang="en-US" sz="1400" dirty="0">
                <a:solidFill>
                  <a:schemeClr val="tx1"/>
                </a:solidFill>
              </a:rPr>
              <a:t>Not necessarily: it reflects light-limited yield; light-saturated photosynthesis may be unchanged, and stress elsewhere may not show.</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Clearing common doubts (2/2): SIF</a:t>
            </a:r>
            <a:endParaRPr lang="en-US" sz="3200" dirty="0"/>
          </a:p>
        </p:txBody>
      </p:sp>
      <p:sp>
        <p:nvSpPr>
          <p:cNvPr id="4" name="card"/>
          <p:cNvSpPr/>
          <p:nvPr/>
        </p:nvSpPr>
        <p:spPr>
          <a:xfrm>
            <a:off x="548640" y="1371600"/>
            <a:ext cx="5440680"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5" name="icon circle"/>
          <p:cNvSpPr/>
          <p:nvPr/>
        </p:nvSpPr>
        <p:spPr>
          <a:xfrm>
            <a:off x="731520" y="1554480"/>
            <a:ext cx="457200" cy="457200"/>
          </a:xfrm>
          <a:prstGeom prst="ellipse">
            <a:avLst/>
          </a:prstGeom>
          <a:solidFill>
            <a:schemeClr val="accent1"/>
          </a:solidFill>
          <a:ln/>
        </p:spPr>
      </p:sp>
      <p:pic>
        <p:nvPicPr>
          <p:cNvPr id="6" name="Image 0" descr="Question icon"/>
          <p:cNvPicPr>
            <a:picLocks noChangeAspect="1"/>
          </p:cNvPicPr>
          <p:nvPr/>
        </p:nvPicPr>
        <p:blipFill>
          <a:blip r:embed="rId3"/>
          <a:stretch>
            <a:fillRect/>
          </a:stretch>
        </p:blipFill>
        <p:spPr>
          <a:xfrm>
            <a:off x="850392" y="1673352"/>
            <a:ext cx="219456" cy="219456"/>
          </a:xfrm>
          <a:prstGeom prst="rect">
            <a:avLst/>
          </a:prstGeom>
        </p:spPr>
      </p:pic>
      <p:sp>
        <p:nvSpPr>
          <p:cNvPr id="7" name="Text 3"/>
          <p:cNvSpPr txBox="1"/>
          <p:nvPr/>
        </p:nvSpPr>
        <p:spPr>
          <a:xfrm>
            <a:off x="1325880" y="1481328"/>
            <a:ext cx="4526280" cy="731520"/>
          </a:xfrm>
          <a:prstGeom prst="rect">
            <a:avLst/>
          </a:prstGeom>
          <a:noFill/>
          <a:ln/>
        </p:spPr>
        <p:txBody>
          <a:bodyPr wrap="square" lIns="0" tIns="0" rIns="0" bIns="0" rtlCol="0" anchor="ctr"/>
          <a:lstStyle/>
          <a:p>
            <a:pPr marL="0" indent="0">
              <a:buNone/>
            </a:pPr>
            <a:r>
              <a:rPr lang="en-US" sz="1500" b="1" dirty="0">
                <a:solidFill>
                  <a:schemeClr val="tx2"/>
                </a:solidFill>
              </a:rPr>
              <a:t>If fluorescence competes with photosynthesis, why does SIF correlate positively with GPP?</a:t>
            </a:r>
            <a:endParaRPr lang="en-US" sz="1500" dirty="0"/>
          </a:p>
        </p:txBody>
      </p:sp>
      <p:sp>
        <p:nvSpPr>
          <p:cNvPr id="8" name="Text 4"/>
          <p:cNvSpPr txBox="1"/>
          <p:nvPr/>
        </p:nvSpPr>
        <p:spPr>
          <a:xfrm>
            <a:off x="777240" y="2286000"/>
            <a:ext cx="5029200" cy="1234440"/>
          </a:xfrm>
          <a:prstGeom prst="rect">
            <a:avLst/>
          </a:prstGeom>
          <a:noFill/>
          <a:ln/>
        </p:spPr>
        <p:txBody>
          <a:bodyPr wrap="square" lIns="0" tIns="0" rIns="0" bIns="0" rtlCol="0" anchor="t"/>
          <a:lstStyle/>
          <a:p>
            <a:pPr marL="0" indent="0">
              <a:buNone/>
            </a:pPr>
            <a:r>
              <a:rPr lang="en-US" sz="1400" dirty="0">
                <a:solidFill>
                  <a:schemeClr val="tx1"/>
                </a:solidFill>
              </a:rPr>
              <a:t>Both scale with absorbed light (APAR). Across space and seasons, APAR variation dominates; yield changes are smaller and partly co-vary.</a:t>
            </a:r>
            <a:endParaRPr lang="en-US" sz="1400" dirty="0"/>
          </a:p>
        </p:txBody>
      </p:sp>
      <p:sp>
        <p:nvSpPr>
          <p:cNvPr id="9" name="card"/>
          <p:cNvSpPr/>
          <p:nvPr/>
        </p:nvSpPr>
        <p:spPr>
          <a:xfrm>
            <a:off x="6199632" y="1371600"/>
            <a:ext cx="5440680"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10" name="icon circle"/>
          <p:cNvSpPr/>
          <p:nvPr/>
        </p:nvSpPr>
        <p:spPr>
          <a:xfrm>
            <a:off x="6382512" y="1554480"/>
            <a:ext cx="457200" cy="457200"/>
          </a:xfrm>
          <a:prstGeom prst="ellipse">
            <a:avLst/>
          </a:prstGeom>
          <a:solidFill>
            <a:schemeClr val="accent2"/>
          </a:solidFill>
          <a:ln/>
        </p:spPr>
      </p:sp>
      <p:pic>
        <p:nvPicPr>
          <p:cNvPr id="11" name="Image 1" descr="Question icon"/>
          <p:cNvPicPr>
            <a:picLocks noChangeAspect="1"/>
          </p:cNvPicPr>
          <p:nvPr/>
        </p:nvPicPr>
        <p:blipFill>
          <a:blip r:embed="rId3"/>
          <a:stretch>
            <a:fillRect/>
          </a:stretch>
        </p:blipFill>
        <p:spPr>
          <a:xfrm>
            <a:off x="6501384" y="1673352"/>
            <a:ext cx="219456" cy="219456"/>
          </a:xfrm>
          <a:prstGeom prst="rect">
            <a:avLst/>
          </a:prstGeom>
        </p:spPr>
      </p:pic>
      <p:sp>
        <p:nvSpPr>
          <p:cNvPr id="12" name="Text 7"/>
          <p:cNvSpPr txBox="1"/>
          <p:nvPr/>
        </p:nvSpPr>
        <p:spPr>
          <a:xfrm>
            <a:off x="6976872" y="1481328"/>
            <a:ext cx="4526280" cy="731520"/>
          </a:xfrm>
          <a:prstGeom prst="rect">
            <a:avLst/>
          </a:prstGeom>
          <a:noFill/>
          <a:ln/>
        </p:spPr>
        <p:txBody>
          <a:bodyPr wrap="square" lIns="0" tIns="0" rIns="0" bIns="0" rtlCol="0" anchor="ctr"/>
          <a:lstStyle/>
          <a:p>
            <a:pPr marL="0" indent="0">
              <a:buNone/>
            </a:pPr>
            <a:r>
              <a:rPr lang="en-US" sz="1500" b="1" dirty="0">
                <a:solidFill>
                  <a:schemeClr val="tx2"/>
                </a:solidFill>
              </a:rPr>
              <a:t>Why is red SIF lower than far-red SIF?</a:t>
            </a:r>
            <a:endParaRPr lang="en-US" sz="1500" dirty="0"/>
          </a:p>
        </p:txBody>
      </p:sp>
      <p:sp>
        <p:nvSpPr>
          <p:cNvPr id="13" name="Text 8"/>
          <p:cNvSpPr txBox="1"/>
          <p:nvPr/>
        </p:nvSpPr>
        <p:spPr>
          <a:xfrm>
            <a:off x="6428232" y="2286000"/>
            <a:ext cx="5029200" cy="1234440"/>
          </a:xfrm>
          <a:prstGeom prst="rect">
            <a:avLst/>
          </a:prstGeom>
          <a:noFill/>
          <a:ln/>
        </p:spPr>
        <p:txBody>
          <a:bodyPr wrap="square" lIns="0" tIns="0" rIns="0" bIns="0" rtlCol="0" anchor="t"/>
          <a:lstStyle/>
          <a:p>
            <a:pPr marL="0" indent="0">
              <a:buNone/>
            </a:pPr>
            <a:r>
              <a:rPr lang="en-US" sz="1400" dirty="0">
                <a:solidFill>
                  <a:schemeClr val="tx1"/>
                </a:solidFill>
              </a:rPr>
              <a:t>Chlorophyll re-absorbs red light (absorption up to ~720 nm); far-red mostly escapes. PSI also adds far-red.</a:t>
            </a:r>
            <a:endParaRPr lang="en-US" sz="1400" dirty="0"/>
          </a:p>
        </p:txBody>
      </p:sp>
      <p:sp>
        <p:nvSpPr>
          <p:cNvPr id="14" name="card"/>
          <p:cNvSpPr/>
          <p:nvPr/>
        </p:nvSpPr>
        <p:spPr>
          <a:xfrm>
            <a:off x="548640" y="3794760"/>
            <a:ext cx="5440680"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15" name="icon circle"/>
          <p:cNvSpPr/>
          <p:nvPr/>
        </p:nvSpPr>
        <p:spPr>
          <a:xfrm>
            <a:off x="731520" y="3977640"/>
            <a:ext cx="457200" cy="457200"/>
          </a:xfrm>
          <a:prstGeom prst="ellipse">
            <a:avLst/>
          </a:prstGeom>
          <a:solidFill>
            <a:schemeClr val="accent1"/>
          </a:solidFill>
          <a:ln/>
        </p:spPr>
      </p:sp>
      <p:pic>
        <p:nvPicPr>
          <p:cNvPr id="16" name="Image 2" descr="Question icon"/>
          <p:cNvPicPr>
            <a:picLocks noChangeAspect="1"/>
          </p:cNvPicPr>
          <p:nvPr/>
        </p:nvPicPr>
        <p:blipFill>
          <a:blip r:embed="rId3"/>
          <a:stretch>
            <a:fillRect/>
          </a:stretch>
        </p:blipFill>
        <p:spPr>
          <a:xfrm>
            <a:off x="850392" y="4096512"/>
            <a:ext cx="219456" cy="219456"/>
          </a:xfrm>
          <a:prstGeom prst="rect">
            <a:avLst/>
          </a:prstGeom>
        </p:spPr>
      </p:pic>
      <p:sp>
        <p:nvSpPr>
          <p:cNvPr id="17" name="Text 11"/>
          <p:cNvSpPr txBox="1"/>
          <p:nvPr/>
        </p:nvSpPr>
        <p:spPr>
          <a:xfrm>
            <a:off x="1325880" y="3904488"/>
            <a:ext cx="4526280" cy="731520"/>
          </a:xfrm>
          <a:prstGeom prst="rect">
            <a:avLst/>
          </a:prstGeom>
          <a:noFill/>
          <a:ln/>
        </p:spPr>
        <p:txBody>
          <a:bodyPr wrap="square" lIns="0" tIns="0" rIns="0" bIns="0" rtlCol="0" anchor="ctr"/>
          <a:lstStyle/>
          <a:p>
            <a:pPr marL="0" indent="0">
              <a:buNone/>
            </a:pPr>
            <a:r>
              <a:rPr lang="en-US" sz="1500" b="1" dirty="0">
                <a:solidFill>
                  <a:schemeClr val="tx2"/>
                </a:solidFill>
              </a:rPr>
              <a:t>Why use absorption bands at all?</a:t>
            </a:r>
            <a:endParaRPr lang="en-US" sz="1500" dirty="0"/>
          </a:p>
        </p:txBody>
      </p:sp>
      <p:sp>
        <p:nvSpPr>
          <p:cNvPr id="18" name="Text 12"/>
          <p:cNvSpPr txBox="1"/>
          <p:nvPr/>
        </p:nvSpPr>
        <p:spPr>
          <a:xfrm>
            <a:off x="777240" y="4709160"/>
            <a:ext cx="5029200" cy="1234440"/>
          </a:xfrm>
          <a:prstGeom prst="rect">
            <a:avLst/>
          </a:prstGeom>
          <a:noFill/>
          <a:ln/>
        </p:spPr>
        <p:txBody>
          <a:bodyPr wrap="square" lIns="0" tIns="0" rIns="0" bIns="0" rtlCol="0" anchor="t"/>
          <a:lstStyle/>
          <a:p>
            <a:pPr marL="0" indent="0">
              <a:buNone/>
            </a:pPr>
            <a:r>
              <a:rPr lang="en-US" sz="1400" dirty="0">
                <a:solidFill>
                  <a:schemeClr val="tx1"/>
                </a:solidFill>
              </a:rPr>
              <a:t>Outside the bands SIF is ~1–5 % of reflected radiance; inside O₂ bands sunlight is dim and in-filling by SIF can exceed 10 %.</a:t>
            </a:r>
            <a:endParaRPr lang="en-US" sz="1400" dirty="0"/>
          </a:p>
        </p:txBody>
      </p:sp>
      <p:sp>
        <p:nvSpPr>
          <p:cNvPr id="19" name="card"/>
          <p:cNvSpPr/>
          <p:nvPr/>
        </p:nvSpPr>
        <p:spPr>
          <a:xfrm>
            <a:off x="6199632" y="3794760"/>
            <a:ext cx="5440680" cy="2240280"/>
          </a:xfrm>
          <a:prstGeom prst="roundRect">
            <a:avLst>
              <a:gd name="adj" fmla="val 3265"/>
            </a:avLst>
          </a:prstGeom>
          <a:solidFill>
            <a:schemeClr val="bg2"/>
          </a:solidFill>
          <a:ln/>
          <a:effectLst>
            <a:outerShdw blurRad="76200" dist="25400" dir="5400000" algn="bl" rotWithShape="0">
              <a:srgbClr val="000000">
                <a:alpha val="14000"/>
              </a:srgbClr>
            </a:outerShdw>
          </a:effectLst>
        </p:spPr>
      </p:sp>
      <p:sp>
        <p:nvSpPr>
          <p:cNvPr id="20" name="icon circle"/>
          <p:cNvSpPr/>
          <p:nvPr/>
        </p:nvSpPr>
        <p:spPr>
          <a:xfrm>
            <a:off x="6382512" y="3977640"/>
            <a:ext cx="457200" cy="457200"/>
          </a:xfrm>
          <a:prstGeom prst="ellipse">
            <a:avLst/>
          </a:prstGeom>
          <a:solidFill>
            <a:schemeClr val="accent2"/>
          </a:solidFill>
          <a:ln/>
        </p:spPr>
      </p:sp>
      <p:pic>
        <p:nvPicPr>
          <p:cNvPr id="21" name="Image 3" descr="Question icon"/>
          <p:cNvPicPr>
            <a:picLocks noChangeAspect="1"/>
          </p:cNvPicPr>
          <p:nvPr/>
        </p:nvPicPr>
        <p:blipFill>
          <a:blip r:embed="rId3"/>
          <a:stretch>
            <a:fillRect/>
          </a:stretch>
        </p:blipFill>
        <p:spPr>
          <a:xfrm>
            <a:off x="6501384" y="4096512"/>
            <a:ext cx="219456" cy="219456"/>
          </a:xfrm>
          <a:prstGeom prst="rect">
            <a:avLst/>
          </a:prstGeom>
        </p:spPr>
      </p:pic>
      <p:sp>
        <p:nvSpPr>
          <p:cNvPr id="22" name="Text 15"/>
          <p:cNvSpPr txBox="1"/>
          <p:nvPr/>
        </p:nvSpPr>
        <p:spPr>
          <a:xfrm>
            <a:off x="6976872" y="3904488"/>
            <a:ext cx="4526280" cy="731520"/>
          </a:xfrm>
          <a:prstGeom prst="rect">
            <a:avLst/>
          </a:prstGeom>
          <a:noFill/>
          <a:ln/>
        </p:spPr>
        <p:txBody>
          <a:bodyPr wrap="square" lIns="0" tIns="0" rIns="0" bIns="0" rtlCol="0" anchor="ctr"/>
          <a:lstStyle/>
          <a:p>
            <a:pPr marL="0" indent="0">
              <a:buNone/>
            </a:pPr>
            <a:r>
              <a:rPr lang="en-US" sz="1500" b="1" dirty="0">
                <a:solidFill>
                  <a:schemeClr val="tx2"/>
                </a:solidFill>
              </a:rPr>
              <a:t>Why can't satellites measure NPQ like PAM?</a:t>
            </a:r>
            <a:endParaRPr lang="en-US" sz="1500" dirty="0"/>
          </a:p>
        </p:txBody>
      </p:sp>
      <p:sp>
        <p:nvSpPr>
          <p:cNvPr id="23" name="Text 16"/>
          <p:cNvSpPr txBox="1"/>
          <p:nvPr/>
        </p:nvSpPr>
        <p:spPr>
          <a:xfrm>
            <a:off x="6428232" y="4709160"/>
            <a:ext cx="5029200" cy="1234440"/>
          </a:xfrm>
          <a:prstGeom prst="rect">
            <a:avLst/>
          </a:prstGeom>
          <a:noFill/>
          <a:ln/>
        </p:spPr>
        <p:txBody>
          <a:bodyPr wrap="square" lIns="0" tIns="0" rIns="0" bIns="0" rtlCol="0" anchor="t"/>
          <a:lstStyle/>
          <a:p>
            <a:pPr marL="0" indent="0">
              <a:buNone/>
            </a:pPr>
            <a:r>
              <a:rPr lang="en-US" sz="1400" dirty="0">
                <a:solidFill>
                  <a:schemeClr val="tx1"/>
                </a:solidFill>
              </a:rPr>
              <a:t>No saturating pulse can be applied from space. NPQ is approached indirectly, e.g. with PRI or temperature.</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92608"/>
            <a:ext cx="11094415" cy="777240"/>
          </a:xfrm>
          <a:prstGeom prst="rect">
            <a:avLst/>
          </a:prstGeom>
          <a:noFill/>
          <a:ln/>
        </p:spPr>
        <p:txBody>
          <a:bodyPr wrap="square" lIns="0" tIns="0" rIns="0" bIns="0" rtlCol="0" anchor="ctr"/>
          <a:lstStyle/>
          <a:p>
            <a:pPr marL="0" indent="0" algn="l">
              <a:buNone/>
            </a:pPr>
            <a:r>
              <a:rPr lang="en-US" sz="3200" b="1" dirty="0">
                <a:solidFill>
                  <a:schemeClr val="tx2"/>
                </a:solidFill>
              </a:rPr>
              <a:t>Key references</a:t>
            </a:r>
            <a:endParaRPr lang="en-US" sz="3200" dirty="0"/>
          </a:p>
        </p:txBody>
      </p:sp>
      <p:sp>
        <p:nvSpPr>
          <p:cNvPr id="4" name="Text 1"/>
          <p:cNvSpPr txBox="1"/>
          <p:nvPr/>
        </p:nvSpPr>
        <p:spPr>
          <a:xfrm>
            <a:off x="548640" y="1325880"/>
            <a:ext cx="11091672" cy="4937760"/>
          </a:xfrm>
          <a:prstGeom prst="rect">
            <a:avLst/>
          </a:prstGeom>
          <a:noFill/>
          <a:ln/>
        </p:spPr>
        <p:txBody>
          <a:bodyPr wrap="square" lIns="508" tIns="508" rIns="508" bIns="508" rtlCol="0" anchor="t"/>
          <a:lstStyle/>
          <a:p>
            <a:pPr marL="0" indent="0">
              <a:spcAft>
                <a:spcPts val="1000"/>
              </a:spcAft>
              <a:buNone/>
            </a:pPr>
            <a:r>
              <a:rPr lang="en-US" sz="1300" b="1" dirty="0">
                <a:solidFill>
                  <a:schemeClr val="tx1"/>
                </a:solidFill>
              </a:rPr>
              <a:t>Murchie E.H., Lawson T. (2013).</a:t>
            </a:r>
            <a:r>
              <a:rPr lang="en-US" sz="1300" dirty="0">
                <a:solidFill>
                  <a:schemeClr val="tx1"/>
                </a:solidFill>
              </a:rPr>
              <a:t> Chlorophyll fluorescence analysis: a guide to good practice and understanding some new applications. </a:t>
            </a:r>
            <a:r>
              <a:rPr lang="en-US" sz="1300" i="1" dirty="0">
                <a:solidFill>
                  <a:schemeClr val="tx1"/>
                </a:solidFill>
              </a:rPr>
              <a:t>J. Exp. Bot.</a:t>
            </a:r>
            <a:r>
              <a:rPr lang="en-US" sz="1300" dirty="0">
                <a:solidFill>
                  <a:schemeClr val="tx1"/>
                </a:solidFill>
              </a:rPr>
              <a:t> 64(13): 3983–3998. doi:10.1093/jxb/ert208</a:t>
            </a:r>
            <a:endParaRPr lang="en-US" sz="1300" dirty="0"/>
          </a:p>
          <a:p>
            <a:pPr marL="0" indent="0">
              <a:spcAft>
                <a:spcPts val="1000"/>
              </a:spcAft>
              <a:buNone/>
            </a:pPr>
            <a:r>
              <a:rPr lang="en-US" sz="1300" b="1" dirty="0">
                <a:solidFill>
                  <a:schemeClr val="tx1"/>
                </a:solidFill>
              </a:rPr>
              <a:t>Mohammed G.H. et al. (2019).</a:t>
            </a:r>
            <a:r>
              <a:rPr lang="en-US" sz="1300" dirty="0">
                <a:solidFill>
                  <a:schemeClr val="tx1"/>
                </a:solidFill>
              </a:rPr>
              <a:t> Remote sensing of solar-induced chlorophyll fluorescence (SIF) in vegetation: 50 years of progress. </a:t>
            </a:r>
            <a:r>
              <a:rPr lang="en-US" sz="1300" i="1" dirty="0">
                <a:solidFill>
                  <a:schemeClr val="tx1"/>
                </a:solidFill>
              </a:rPr>
              <a:t>Remote Sens. Environ.</a:t>
            </a:r>
            <a:r>
              <a:rPr lang="en-US" sz="1300" dirty="0">
                <a:solidFill>
                  <a:schemeClr val="tx1"/>
                </a:solidFill>
              </a:rPr>
              <a:t> 231: 111177. doi:10.1016/j.rse.2019.04.030</a:t>
            </a:r>
            <a:endParaRPr lang="en-US" sz="1300" dirty="0"/>
          </a:p>
          <a:p>
            <a:pPr marL="0" indent="0">
              <a:spcAft>
                <a:spcPts val="600"/>
              </a:spcAft>
              <a:buNone/>
            </a:pPr>
            <a:r>
              <a:rPr lang="en-US" sz="1300" dirty="0">
                <a:solidFill>
                  <a:schemeClr val="tx1"/>
                </a:solidFill>
              </a:rPr>
              <a:t>Baker N.R. (2008). Chlorophyll fluorescence: a probe of photosynthesis in vivo. </a:t>
            </a:r>
            <a:r>
              <a:rPr lang="en-US" sz="1300" i="1" dirty="0">
                <a:solidFill>
                  <a:schemeClr val="tx1"/>
                </a:solidFill>
              </a:rPr>
              <a:t>Annu. Rev. Plant Biol.</a:t>
            </a:r>
            <a:r>
              <a:rPr lang="en-US" sz="1300" dirty="0">
                <a:solidFill>
                  <a:schemeClr val="tx1"/>
                </a:solidFill>
              </a:rPr>
              <a:t> 59: 89–113.</a:t>
            </a:r>
            <a:endParaRPr lang="en-US" sz="1300" dirty="0"/>
          </a:p>
          <a:p>
            <a:pPr marL="0" indent="0">
              <a:spcAft>
                <a:spcPts val="600"/>
              </a:spcAft>
              <a:buNone/>
            </a:pPr>
            <a:r>
              <a:rPr lang="en-US" sz="1300" dirty="0">
                <a:solidFill>
                  <a:schemeClr val="tx1"/>
                </a:solidFill>
              </a:rPr>
              <a:t>Maxwell K., Johnson G.N. (2000). Chlorophyll fluorescence — a practical guide. </a:t>
            </a:r>
            <a:r>
              <a:rPr lang="en-US" sz="1300" i="1" dirty="0">
                <a:solidFill>
                  <a:schemeClr val="tx1"/>
                </a:solidFill>
              </a:rPr>
              <a:t>J. Exp. Bot.</a:t>
            </a:r>
            <a:r>
              <a:rPr lang="en-US" sz="1300" dirty="0">
                <a:solidFill>
                  <a:schemeClr val="tx1"/>
                </a:solidFill>
              </a:rPr>
              <a:t> 51: 659–668.</a:t>
            </a:r>
            <a:endParaRPr lang="en-US" sz="1300" dirty="0"/>
          </a:p>
          <a:p>
            <a:pPr marL="0" indent="0">
              <a:spcAft>
                <a:spcPts val="600"/>
              </a:spcAft>
              <a:buNone/>
            </a:pPr>
            <a:r>
              <a:rPr lang="en-US" sz="1300" dirty="0">
                <a:solidFill>
                  <a:schemeClr val="tx1"/>
                </a:solidFill>
              </a:rPr>
              <a:t>Genty B., Briantais J.M., Baker N.R. (1989). Quantum yield of photosynthetic electron transport and quenching of chlorophyll fluorescence. </a:t>
            </a:r>
            <a:r>
              <a:rPr lang="en-US" sz="1300" i="1" dirty="0">
                <a:solidFill>
                  <a:schemeClr val="tx1"/>
                </a:solidFill>
              </a:rPr>
              <a:t>BBA</a:t>
            </a:r>
            <a:r>
              <a:rPr lang="en-US" sz="1300" dirty="0">
                <a:solidFill>
                  <a:schemeClr val="tx1"/>
                </a:solidFill>
              </a:rPr>
              <a:t> 990: 87–92.</a:t>
            </a:r>
            <a:endParaRPr lang="en-US" sz="1300" dirty="0"/>
          </a:p>
          <a:p>
            <a:pPr marL="0" indent="0">
              <a:spcAft>
                <a:spcPts val="600"/>
              </a:spcAft>
              <a:buNone/>
            </a:pPr>
            <a:r>
              <a:rPr lang="en-US" sz="1300" dirty="0">
                <a:solidFill>
                  <a:schemeClr val="tx1"/>
                </a:solidFill>
              </a:rPr>
              <a:t>Kramer D.M. et al. (2004). New fluorescence parameters for the determination of Q</a:t>
            </a:r>
            <a:r>
              <a:rPr lang="en-US" sz="1300" baseline="-40000" dirty="0">
                <a:solidFill>
                  <a:schemeClr val="tx1"/>
                </a:solidFill>
              </a:rPr>
              <a:t>A</a:t>
            </a:r>
            <a:r>
              <a:rPr lang="en-US" sz="1300" dirty="0">
                <a:solidFill>
                  <a:schemeClr val="tx1"/>
                </a:solidFill>
              </a:rPr>
              <a:t> redox state. </a:t>
            </a:r>
            <a:r>
              <a:rPr lang="en-US" sz="1300" i="1" dirty="0">
                <a:solidFill>
                  <a:schemeClr val="tx1"/>
                </a:solidFill>
              </a:rPr>
              <a:t>Photosynth. Res.</a:t>
            </a:r>
            <a:r>
              <a:rPr lang="en-US" sz="1300" dirty="0">
                <a:solidFill>
                  <a:schemeClr val="tx1"/>
                </a:solidFill>
              </a:rPr>
              <a:t> 79: 209–218.</a:t>
            </a:r>
            <a:endParaRPr lang="en-US" sz="1300" dirty="0"/>
          </a:p>
          <a:p>
            <a:pPr marL="0" indent="0">
              <a:spcAft>
                <a:spcPts val="600"/>
              </a:spcAft>
              <a:buNone/>
            </a:pPr>
            <a:r>
              <a:rPr lang="en-US" sz="1300" dirty="0">
                <a:solidFill>
                  <a:schemeClr val="tx1"/>
                </a:solidFill>
              </a:rPr>
              <a:t>Oxborough K., Baker N.R. (1997). Resolving chlorophyll a fluorescence images… calculation of qP and Fv′/Fm′ without measuring Fo′. </a:t>
            </a:r>
            <a:r>
              <a:rPr lang="en-US" sz="1300" i="1" dirty="0">
                <a:solidFill>
                  <a:schemeClr val="tx1"/>
                </a:solidFill>
              </a:rPr>
              <a:t>Photosynth. Res.</a:t>
            </a:r>
            <a:r>
              <a:rPr lang="en-US" sz="1300" dirty="0">
                <a:solidFill>
                  <a:schemeClr val="tx1"/>
                </a:solidFill>
              </a:rPr>
              <a:t> 54: 135–142.</a:t>
            </a:r>
            <a:endParaRPr lang="en-US" sz="1300" dirty="0"/>
          </a:p>
          <a:p>
            <a:pPr marL="0" indent="0">
              <a:spcAft>
                <a:spcPts val="600"/>
              </a:spcAft>
              <a:buNone/>
            </a:pPr>
            <a:r>
              <a:rPr lang="en-US" sz="1300" dirty="0">
                <a:solidFill>
                  <a:schemeClr val="tx1"/>
                </a:solidFill>
              </a:rPr>
              <a:t>Strasser R.J. et al. (2004). Analysis of the chlorophyll a fluorescence transient. In: </a:t>
            </a:r>
            <a:r>
              <a:rPr lang="en-US" sz="1300" i="1" dirty="0">
                <a:solidFill>
                  <a:schemeClr val="tx1"/>
                </a:solidFill>
              </a:rPr>
              <a:t>Advances in Photosynthesis and Respiration</a:t>
            </a:r>
            <a:r>
              <a:rPr lang="en-US" sz="1300" dirty="0">
                <a:solidFill>
                  <a:schemeClr val="tx1"/>
                </a:solidFill>
              </a:rPr>
              <a:t> 19: 321–362.</a:t>
            </a:r>
            <a:endParaRPr lang="en-US" sz="1300" dirty="0"/>
          </a:p>
          <a:p>
            <a:pPr marL="0" indent="0">
              <a:spcAft>
                <a:spcPts val="600"/>
              </a:spcAft>
              <a:buNone/>
            </a:pPr>
            <a:r>
              <a:rPr lang="en-US" sz="1300" dirty="0">
                <a:solidFill>
                  <a:schemeClr val="tx1"/>
                </a:solidFill>
              </a:rPr>
              <a:t>Meroni M. et al. (2009). Remote sensing of solar-induced chlorophyll fluorescence: review of methods and applications. </a:t>
            </a:r>
            <a:r>
              <a:rPr lang="en-US" sz="1300" i="1" dirty="0">
                <a:solidFill>
                  <a:schemeClr val="tx1"/>
                </a:solidFill>
              </a:rPr>
              <a:t>Remote Sens. Environ.</a:t>
            </a:r>
            <a:r>
              <a:rPr lang="en-US" sz="1300" dirty="0">
                <a:solidFill>
                  <a:schemeClr val="tx1"/>
                </a:solidFill>
              </a:rPr>
              <a:t> 113: 2037–2051.</a:t>
            </a:r>
            <a:endParaRPr lang="en-US" sz="1300" dirty="0"/>
          </a:p>
          <a:p>
            <a:pPr marL="0" indent="0">
              <a:spcAft>
                <a:spcPts val="600"/>
              </a:spcAft>
              <a:buNone/>
            </a:pPr>
            <a:r>
              <a:rPr lang="en-US" sz="1300" dirty="0">
                <a:solidFill>
                  <a:schemeClr val="tx1"/>
                </a:solidFill>
              </a:rPr>
              <a:t>Drusch M. et al. (2017). The FLuorescence EXplorer mission concept — ESA's Earth Explorer 8. </a:t>
            </a:r>
            <a:r>
              <a:rPr lang="en-US" sz="1300" i="1" dirty="0">
                <a:solidFill>
                  <a:schemeClr val="tx1"/>
                </a:solidFill>
              </a:rPr>
              <a:t>IEEE TGRS</a:t>
            </a:r>
            <a:r>
              <a:rPr lang="en-US" sz="1300" dirty="0">
                <a:solidFill>
                  <a:schemeClr val="tx1"/>
                </a:solidFill>
              </a:rPr>
              <a:t> 55: 1273–1284.</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71</a:t>
            </a:fld>
            <a:endParaRPr lang="en-US"/>
          </a:p>
        </p:txBody>
      </p:sp>
    </p:spTree>
  </p:cSld>
  <p:clrMapOvr>
    <a:masterClrMapping/>
  </p:clrMapOvr>
</p:sld>
</file>

<file path=ppt/theme/theme1.xml><?xml version="1.0" encoding="utf-8"?>
<a:theme xmlns:a="http://schemas.openxmlformats.org/drawingml/2006/main" name="Chlorophyll Glow">
  <a:themeElements>
    <a:clrScheme name="Chlorophyll Glow">
      <a:dk1>
        <a:srgbClr val="1C2B24"/>
      </a:dk1>
      <a:lt1>
        <a:srgbClr val="FFFFFF"/>
      </a:lt1>
      <a:dk2>
        <a:srgbClr val="123D2E"/>
      </a:dk2>
      <a:lt2>
        <a:srgbClr val="EDF4EE"/>
      </a:lt2>
      <a:accent1>
        <a:srgbClr val="2E8B57"/>
      </a:accent1>
      <a:accent2>
        <a:srgbClr val="D62839"/>
      </a:accent2>
      <a:accent3>
        <a:srgbClr val="F2A900"/>
      </a:accent3>
      <a:accent4>
        <a:srgbClr val="7B2D43"/>
      </a:accent4>
      <a:accent5>
        <a:srgbClr val="2B6A94"/>
      </a:accent5>
      <a:accent6>
        <a:srgbClr val="5E7268"/>
      </a:accent6>
      <a:hlink>
        <a:srgbClr val="2B6A94"/>
      </a:hlink>
      <a:folHlink>
        <a:srgbClr val="7B2D43"/>
      </a:folHlink>
    </a:clrScheme>
    <a:fontScheme name="Chlorophyll Glo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13258</Words>
  <Application>Microsoft Office PowerPoint</Application>
  <PresentationFormat>Widescreen</PresentationFormat>
  <Paragraphs>1334</Paragraphs>
  <Slides>71</Slides>
  <Notes>71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71</vt:i4>
      </vt:variant>
    </vt:vector>
  </HeadingPairs>
  <TitlesOfParts>
    <vt:vector size="75" baseType="lpstr">
      <vt:lpstr>Arial</vt:lpstr>
      <vt:lpstr>Calibri</vt:lpstr>
      <vt:lpstr>Cambria</vt:lpstr>
      <vt:lpstr>Chlorophyll Glow</vt:lpstr>
      <vt:lpstr>Chlorophyll Fluorescence &amp; Sun-Induced Fluorescence</vt:lpstr>
      <vt:lpstr>Roadmap of this deck</vt:lpstr>
      <vt:lpstr>Foundations</vt:lpstr>
      <vt:lpstr>What is chlorophyll fluorescence?</vt:lpstr>
      <vt:lpstr>Where does it come from? The pigment–protein complexes</vt:lpstr>
      <vt:lpstr>The photophysics: excitation and emission</vt:lpstr>
      <vt:lpstr>Three competing fates of absorbed light energy</vt:lpstr>
      <vt:lpstr>Why we treat the signal as coming from PSII</vt:lpstr>
      <vt:lpstr>Measuring fluorescence</vt:lpstr>
      <vt:lpstr>The ambient-light problem and the PAM solution</vt:lpstr>
      <vt:lpstr>Instruments: from leaf clips to imaging systems</vt:lpstr>
      <vt:lpstr>Induction kinetics</vt:lpstr>
      <vt:lpstr>The Kautsky effect (fluorescence induction)</vt:lpstr>
      <vt:lpstr>Zooming into the fast rise: the OJIP transient</vt:lpstr>
      <vt:lpstr>Fast phase vs slow phase (OJIP vs PSMT)</vt:lpstr>
      <vt:lpstr>PSII redox state &amp; quenching</vt:lpstr>
      <vt:lpstr>Open and closed PSII reaction centres</vt:lpstr>
      <vt:lpstr>Paper Figure 1: events in PSII behind the parameters</vt:lpstr>
      <vt:lpstr>What is 'quenching'?</vt:lpstr>
      <vt:lpstr>How NPQ is switched on: the molecular mechanism</vt:lpstr>
      <vt:lpstr>The xanthophyll cycle in detail</vt:lpstr>
      <vt:lpstr>The saturating-pulse principle</vt:lpstr>
      <vt:lpstr>PAM protocol &amp; parameters</vt:lpstr>
      <vt:lpstr>The typical PAM trace, step by step</vt:lpstr>
      <vt:lpstr>Glossary of fluorescence levels</vt:lpstr>
      <vt:lpstr>Fv/Fm: maximum quantum efficiency of PSII</vt:lpstr>
      <vt:lpstr>ΦPSII = Fq′/Fm′: PSII operating efficiency</vt:lpstr>
      <vt:lpstr>qP and qL: how many PSII centres are open?</vt:lpstr>
      <vt:lpstr>NPQ: non-photochemical quenching</vt:lpstr>
      <vt:lpstr>Summary table of commonly used parameters</vt:lpstr>
      <vt:lpstr>Worked example: calculate every parameter</vt:lpstr>
      <vt:lpstr>Good practice &amp; pitfalls</vt:lpstr>
      <vt:lpstr>To dark-adapt or not? The components of NPQ</vt:lpstr>
      <vt:lpstr>Pitfalls in measuring Fo and Fm</vt:lpstr>
      <vt:lpstr>Interpreting Fv/Fm: four common misconceptions</vt:lpstr>
      <vt:lpstr>Problems with measurements in the light</vt:lpstr>
      <vt:lpstr>Linking fluorescence to CO₂ assimilation</vt:lpstr>
      <vt:lpstr>Standard measurement protocols (A, B, C)</vt:lpstr>
      <vt:lpstr>Imaging, applications &amp; monitoring</vt:lpstr>
      <vt:lpstr>Chlorophyll fluorescence imaging</vt:lpstr>
      <vt:lpstr>Paper Figure 3: what imaging can reveal</vt:lpstr>
      <vt:lpstr>Imaging applications: fruit, development and cyanobacteria</vt:lpstr>
      <vt:lpstr>Stress phenotyping example: cadmium and salt</vt:lpstr>
      <vt:lpstr>Towards long-term and remote monitoring</vt:lpstr>
      <vt:lpstr>Sun-induced fluorescence (SIF)</vt:lpstr>
      <vt:lpstr>Active (PAM) vs passive (SIF) fluorescence</vt:lpstr>
      <vt:lpstr>A short history of SIF</vt:lpstr>
      <vt:lpstr>The SIF emission spectrum</vt:lpstr>
      <vt:lpstr>Re-absorption and scattering: leaf to canopy</vt:lpstr>
      <vt:lpstr>The core difficulty: SIF is tiny compared with reflected light</vt:lpstr>
      <vt:lpstr>Where to look: Fraunhofer lines and oxygen bands</vt:lpstr>
      <vt:lpstr>The retrieval equation and the FLD principle</vt:lpstr>
      <vt:lpstr>Families of SIF retrieval methods</vt:lpstr>
      <vt:lpstr>Atmosphere, illumination and observation: the confounders</vt:lpstr>
      <vt:lpstr>Modelling SIF: from photosystem to globe</vt:lpstr>
      <vt:lpstr>3D modelling example: DART simulation of a maize canopy</vt:lpstr>
      <vt:lpstr>Why SIF tracks photosynthesis (GPP)</vt:lpstr>
      <vt:lpstr>Measurement platforms: leaf to aircraft</vt:lpstr>
      <vt:lpstr>UAV and airborne SIF maps</vt:lpstr>
      <vt:lpstr>Satellites that measure SIF</vt:lpstr>
      <vt:lpstr>Global far-red SIF from space</vt:lpstr>
      <vt:lpstr>FLEX: the first satellite designed for SIF</vt:lpstr>
      <vt:lpstr>What SIF is used for</vt:lpstr>
      <vt:lpstr>What drives SIF? (Table 5 of the review)</vt:lpstr>
      <vt:lpstr>Challenges and future directions</vt:lpstr>
      <vt:lpstr>Synthesis &amp; self-check</vt:lpstr>
      <vt:lpstr>One concept, two ways of measuring it</vt:lpstr>
      <vt:lpstr>Formula sheet</vt:lpstr>
      <vt:lpstr>Clearing common doubts (1/2): PAM</vt:lpstr>
      <vt:lpstr>Clearing common doubts (2/2): SIF</vt:lpstr>
      <vt:lpstr>Key 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Chlorophyll Fluorescence and Sun-Induced Fluorescence</dc:title>
  <dc:subject>Chlorophyll fluorescence analysis and remote sensing of SIF</dc:subject>
  <dc:creator>Animesh</dc:creator>
  <cp:lastModifiedBy>A panda</cp:lastModifiedBy>
  <cp:revision>2</cp:revision>
  <dcterms:created xsi:type="dcterms:W3CDTF">2026-10-28T17:54:55Z</dcterms:created>
  <dcterms:modified xsi:type="dcterms:W3CDTF">2026-10-28T18:09:35Z</dcterms:modified>
</cp:coreProperties>
</file>