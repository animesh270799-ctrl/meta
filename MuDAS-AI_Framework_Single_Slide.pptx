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framework on one slide. 1 Problem: white rust pustules hide under the leaf, so it is spotted too late to spray. 2 UAV data: one drone flight gives RGB, multispectral, hyperspectral and thermal images (shown from our trial), with field Disease Index scores as labels. 3 AI engine: Phase 1 keeps only disease-specific features (ANOVA or Kruskal-Wallis, JM distance, ReliefF, Boruta). Phase 2 removes redundant features (VIF, SPA), picks the best subset with SFFS and trains RF, SVM and KNN for each sensor. Phase 3 joins the selected features of all four sensors and classifies into six severity classes; always tested on unseen plots. 4 Severity map: every plot from healthy (DI 0) to very high (DI above 50%). Impact: early detection, targeted spraying, less fungicide, protected yield, cleaner soil and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MuDAS-AI · Conceptual Framework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drone flight → AI → a white rust severity 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36576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1737360" cy="3931920"/>
          </a:xfrm>
          <a:prstGeom prst="roundRect">
            <a:avLst>
              <a:gd name="adj" fmla="val 7368"/>
            </a:avLst>
          </a:prstGeom>
          <a:solidFill>
            <a:srgbClr val="F4F9F9"/>
          </a:solidFill>
          <a:ln/>
        </p:spPr>
      </p:sp>
      <p:sp>
        <p:nvSpPr>
          <p:cNvPr id="6" name="Shape 4"/>
          <p:cNvSpPr/>
          <p:nvPr/>
        </p:nvSpPr>
        <p:spPr>
          <a:xfrm>
            <a:off x="2578608" y="1417320"/>
            <a:ext cx="2148840" cy="3931920"/>
          </a:xfrm>
          <a:prstGeom prst="roundRect">
            <a:avLst>
              <a:gd name="adj" fmla="val 5957"/>
            </a:avLst>
          </a:prstGeom>
          <a:solidFill>
            <a:srgbClr val="F4F9F9"/>
          </a:solidFill>
          <a:ln/>
        </p:spPr>
      </p:sp>
      <p:sp>
        <p:nvSpPr>
          <p:cNvPr id="7" name="Shape 5"/>
          <p:cNvSpPr/>
          <p:nvPr/>
        </p:nvSpPr>
        <p:spPr>
          <a:xfrm>
            <a:off x="5111496" y="1417320"/>
            <a:ext cx="4206240" cy="3931920"/>
          </a:xfrm>
          <a:prstGeom prst="roundRect">
            <a:avLst>
              <a:gd name="adj" fmla="val 3256"/>
            </a:avLst>
          </a:prstGeom>
          <a:solidFill>
            <a:srgbClr val="F4F9F9"/>
          </a:solidFill>
          <a:ln/>
        </p:spPr>
      </p:sp>
      <p:sp>
        <p:nvSpPr>
          <p:cNvPr id="8" name="Shape 6"/>
          <p:cNvSpPr/>
          <p:nvPr/>
        </p:nvSpPr>
        <p:spPr>
          <a:xfrm>
            <a:off x="9701784" y="1417320"/>
            <a:ext cx="2029968" cy="3931920"/>
          </a:xfrm>
          <a:prstGeom prst="roundRect">
            <a:avLst>
              <a:gd name="adj" fmla="val 6306"/>
            </a:avLst>
          </a:prstGeom>
          <a:solidFill>
            <a:srgbClr val="F4F9F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057400"/>
            <a:ext cx="548640" cy="960120"/>
          </a:xfrm>
          <a:custGeom>
            <a:avLst/>
            <a:gdLst/>
            <a:ahLst/>
            <a:cxnLst/>
            <a:rect l="l" t="t" r="r" b="b"/>
            <a:pathLst>
              <a:path w="548640" h="960120">
                <a:moveTo>
                  <a:pt x="274320" y="0"/>
                </a:moveTo>
                <a:cubicBezTo>
                  <a:pt x="576072" y="144018"/>
                  <a:pt x="548640" y="595274"/>
                  <a:pt x="274320" y="960120"/>
                </a:cubicBezTo>
                <a:cubicBezTo>
                  <a:pt x="0" y="595274"/>
                  <a:pt x="-27432" y="144018"/>
                  <a:pt x="274320" y="0"/>
                </a:cubicBezTo>
                <a:close/>
              </a:path>
            </a:pathLst>
          </a:custGeom>
          <a:solidFill>
            <a:srgbClr val="5FA83A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103120"/>
            <a:ext cx="914" cy="868680"/>
          </a:xfrm>
          <a:prstGeom prst="line">
            <a:avLst/>
          </a:prstGeom>
          <a:noFill/>
          <a:ln w="15875">
            <a:solidFill>
              <a:srgbClr val="3D7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258568"/>
            <a:ext cx="155448" cy="100584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478024"/>
            <a:ext cx="182880" cy="91440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0120" y="2258568"/>
            <a:ext cx="155448" cy="100584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60120" y="2478024"/>
            <a:ext cx="182880" cy="91440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441448"/>
            <a:ext cx="100584" cy="100584"/>
          </a:xfrm>
          <a:prstGeom prst="ellipse">
            <a:avLst/>
          </a:prstGeom>
          <a:solidFill>
            <a:srgbClr val="D4DC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" y="2660904"/>
            <a:ext cx="82296" cy="82296"/>
          </a:xfrm>
          <a:prstGeom prst="ellipse">
            <a:avLst/>
          </a:prstGeom>
          <a:solidFill>
            <a:srgbClr val="D4DC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417320" y="2057400"/>
            <a:ext cx="548640" cy="960120"/>
          </a:xfrm>
          <a:custGeom>
            <a:avLst/>
            <a:gdLst/>
            <a:ahLst/>
            <a:cxnLst/>
            <a:rect l="l" t="t" r="r" b="b"/>
            <a:pathLst>
              <a:path w="548640" h="960120">
                <a:moveTo>
                  <a:pt x="274320" y="0"/>
                </a:moveTo>
                <a:cubicBezTo>
                  <a:pt x="576072" y="144018"/>
                  <a:pt x="548640" y="595274"/>
                  <a:pt x="274320" y="960120"/>
                </a:cubicBezTo>
                <a:cubicBezTo>
                  <a:pt x="0" y="595274"/>
                  <a:pt x="-27432" y="144018"/>
                  <a:pt x="274320" y="0"/>
                </a:cubicBezTo>
                <a:close/>
              </a:path>
            </a:pathLst>
          </a:custGeom>
          <a:solidFill>
            <a:srgbClr val="8FBF6A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1640" y="2103120"/>
            <a:ext cx="914" cy="868680"/>
          </a:xfrm>
          <a:prstGeom prst="line">
            <a:avLst/>
          </a:prstGeom>
          <a:noFill/>
          <a:ln w="15875">
            <a:solidFill>
              <a:srgbClr val="6E9C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2340864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2423160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48" y="2514600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764792" y="2313432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46504" y="2423160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801368" y="2523744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572768" y="2642616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755648" y="2660904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664208" y="2788920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627632" y="2249424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700784" y="2560320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3063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3063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Underside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33375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Pustules </a:t>
            </a:r>
            <a:pPr algn="ctr" indent="0" marL="0">
              <a:buNone/>
            </a:pPr>
            <a:r>
              <a:rPr lang="en-US" sz="11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under the leaf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" y="3968496"/>
            <a:ext cx="384048" cy="384048"/>
          </a:xfrm>
          <a:prstGeom prst="ellipse">
            <a:avLst/>
          </a:prstGeom>
          <a:ln w="31750">
            <a:solidFill>
              <a:srgbClr val="E0A5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4041648"/>
            <a:ext cx="914" cy="118872"/>
          </a:xfrm>
          <a:prstGeom prst="line">
            <a:avLst/>
          </a:prstGeom>
          <a:noFill/>
          <a:ln w="31750">
            <a:solidFill>
              <a:srgbClr val="E0A5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160520"/>
            <a:ext cx="91440" cy="54864"/>
          </a:xfrm>
          <a:prstGeom prst="line">
            <a:avLst/>
          </a:prstGeom>
          <a:noFill/>
          <a:ln w="31750">
            <a:solidFill>
              <a:srgbClr val="E0A5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15568" y="3931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Spotted </a:t>
            </a:r>
            <a:pPr indent="0" marL="0">
              <a:buNone/>
            </a:pPr>
            <a:r>
              <a:rPr lang="en-US" sz="11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late</a:t>
            </a:r>
            <a:pPr indent="0" marL="0">
              <a:buNone/>
            </a:pPr>
            <a:r>
              <a:rPr lang="en-US" sz="110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spray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81888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CB8B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48188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&amp; when to spray?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84348" y="2167128"/>
            <a:ext cx="1737360" cy="457200"/>
          </a:xfrm>
          <a:prstGeom prst="triangle">
            <a:avLst/>
          </a:prstGeom>
          <a:solidFill>
            <a:srgbClr val="9FD8D3">
              <a:alpha val="5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23844" y="2011680"/>
            <a:ext cx="219456" cy="64008"/>
          </a:xfrm>
          <a:prstGeom prst="line">
            <a:avLst/>
          </a:prstGeom>
          <a:noFill/>
          <a:ln w="31750">
            <a:solidFill>
              <a:srgbClr val="1F2D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762756" y="2011680"/>
            <a:ext cx="219456" cy="64008"/>
          </a:xfrm>
          <a:prstGeom prst="line">
            <a:avLst/>
          </a:prstGeom>
          <a:noFill/>
          <a:ln w="31750">
            <a:solidFill>
              <a:srgbClr val="1F2D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05556" y="1956816"/>
            <a:ext cx="27432" cy="7315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43" name="Shape 41"/>
          <p:cNvSpPr/>
          <p:nvPr/>
        </p:nvSpPr>
        <p:spPr>
          <a:xfrm>
            <a:off x="3973068" y="1956816"/>
            <a:ext cx="27432" cy="7315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44" name="Shape 42"/>
          <p:cNvSpPr/>
          <p:nvPr/>
        </p:nvSpPr>
        <p:spPr>
          <a:xfrm>
            <a:off x="3140964" y="1933956"/>
            <a:ext cx="365760" cy="457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45" name="Shape 43"/>
          <p:cNvSpPr/>
          <p:nvPr/>
        </p:nvSpPr>
        <p:spPr>
          <a:xfrm>
            <a:off x="3799332" y="1933956"/>
            <a:ext cx="365760" cy="457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46" name="Shape 44"/>
          <p:cNvSpPr/>
          <p:nvPr/>
        </p:nvSpPr>
        <p:spPr>
          <a:xfrm>
            <a:off x="3479292" y="2029968"/>
            <a:ext cx="347472" cy="109728"/>
          </a:xfrm>
          <a:prstGeom prst="roundRect">
            <a:avLst>
              <a:gd name="adj" fmla="val 33333"/>
            </a:avLst>
          </a:prstGeom>
          <a:solidFill>
            <a:srgbClr val="1F2D30"/>
          </a:solidFill>
          <a:ln/>
        </p:spPr>
      </p:sp>
      <p:sp>
        <p:nvSpPr>
          <p:cNvPr id="47" name="Shape 45"/>
          <p:cNvSpPr/>
          <p:nvPr/>
        </p:nvSpPr>
        <p:spPr>
          <a:xfrm>
            <a:off x="3607308" y="2130552"/>
            <a:ext cx="91440" cy="91440"/>
          </a:xfrm>
          <a:prstGeom prst="ellipse">
            <a:avLst/>
          </a:prstGeom>
          <a:solidFill>
            <a:srgbClr val="1CB8B2"/>
          </a:solidFill>
          <a:ln w="19050">
            <a:solidFill>
              <a:srgbClr val="1F2D30"/>
            </a:solidFill>
            <a:prstDash val="solid"/>
          </a:ln>
        </p:spPr>
      </p:sp>
      <p:pic>
        <p:nvPicPr>
          <p:cNvPr id="48" name="Image 0" descr="RGB drone image of the mustard trial pl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2052" y="2624328"/>
            <a:ext cx="914400" cy="914400"/>
          </a:xfrm>
          <a:prstGeom prst="rect">
            <a:avLst/>
          </a:prstGeom>
        </p:spPr>
      </p:pic>
      <p:sp>
        <p:nvSpPr>
          <p:cNvPr id="49" name="Shape 46"/>
          <p:cNvSpPr/>
          <p:nvPr/>
        </p:nvSpPr>
        <p:spPr>
          <a:xfrm>
            <a:off x="2702052" y="3337560"/>
            <a:ext cx="914400" cy="201168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2702052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850" dirty="0"/>
          </a:p>
        </p:txBody>
      </p:sp>
      <p:pic>
        <p:nvPicPr>
          <p:cNvPr id="51" name="Image 1" descr="Multispectral drone image of the mustard trial pl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624328"/>
            <a:ext cx="914400" cy="914400"/>
          </a:xfrm>
          <a:prstGeom prst="rect">
            <a:avLst/>
          </a:prstGeom>
        </p:spPr>
      </p:pic>
      <p:sp>
        <p:nvSpPr>
          <p:cNvPr id="52" name="Shape 48"/>
          <p:cNvSpPr/>
          <p:nvPr/>
        </p:nvSpPr>
        <p:spPr>
          <a:xfrm>
            <a:off x="3689604" y="3337560"/>
            <a:ext cx="914400" cy="201168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3689604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Multispectral</a:t>
            </a:r>
            <a:endParaRPr lang="en-US" sz="850" dirty="0"/>
          </a:p>
        </p:txBody>
      </p:sp>
      <p:pic>
        <p:nvPicPr>
          <p:cNvPr id="54" name="Image 2" descr="Hyperspectral drone image of the mustard trial plo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3611880"/>
            <a:ext cx="914400" cy="914400"/>
          </a:xfrm>
          <a:prstGeom prst="rect">
            <a:avLst/>
          </a:prstGeom>
        </p:spPr>
      </p:pic>
      <p:sp>
        <p:nvSpPr>
          <p:cNvPr id="55" name="Shape 50"/>
          <p:cNvSpPr/>
          <p:nvPr/>
        </p:nvSpPr>
        <p:spPr>
          <a:xfrm>
            <a:off x="2702052" y="4325112"/>
            <a:ext cx="914400" cy="201168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2702052" y="4325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Hyperspectral</a:t>
            </a:r>
            <a:endParaRPr lang="en-US" sz="850" dirty="0"/>
          </a:p>
        </p:txBody>
      </p:sp>
      <p:pic>
        <p:nvPicPr>
          <p:cNvPr id="57" name="Image 3" descr="Thermal drone image of the mustard trial plo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3611880"/>
            <a:ext cx="914400" cy="914400"/>
          </a:xfrm>
          <a:prstGeom prst="rect">
            <a:avLst/>
          </a:prstGeom>
        </p:spPr>
      </p:pic>
      <p:sp>
        <p:nvSpPr>
          <p:cNvPr id="58" name="Shape 52"/>
          <p:cNvSpPr/>
          <p:nvPr/>
        </p:nvSpPr>
        <p:spPr>
          <a:xfrm>
            <a:off x="3689604" y="4325112"/>
            <a:ext cx="914400" cy="201168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3689604" y="4325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</a:t>
            </a:r>
            <a:endParaRPr lang="en-US" sz="850" dirty="0"/>
          </a:p>
        </p:txBody>
      </p:sp>
      <p:sp>
        <p:nvSpPr>
          <p:cNvPr id="60" name="Shape 54"/>
          <p:cNvSpPr/>
          <p:nvPr/>
        </p:nvSpPr>
        <p:spPr>
          <a:xfrm>
            <a:off x="2706624" y="4818888"/>
            <a:ext cx="1892808" cy="329184"/>
          </a:xfrm>
          <a:prstGeom prst="roundRect">
            <a:avLst>
              <a:gd name="adj" fmla="val 50000"/>
            </a:avLst>
          </a:prstGeom>
          <a:solidFill>
            <a:srgbClr val="E8F3DD"/>
          </a:solidFill>
          <a:ln w="12700">
            <a:solidFill>
              <a:srgbClr val="7DBE4B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2706624" y="481888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Field DI scores (labels)</a:t>
            </a:r>
            <a:endParaRPr lang="en-US" sz="950" dirty="0"/>
          </a:p>
        </p:txBody>
      </p:sp>
      <p:sp>
        <p:nvSpPr>
          <p:cNvPr id="62" name="Shape 56"/>
          <p:cNvSpPr/>
          <p:nvPr/>
        </p:nvSpPr>
        <p:spPr>
          <a:xfrm>
            <a:off x="5239512" y="1947672"/>
            <a:ext cx="1243584" cy="23957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3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5239512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850" dirty="0"/>
          </a:p>
        </p:txBody>
      </p:sp>
      <p:sp>
        <p:nvSpPr>
          <p:cNvPr id="64" name="Text 58"/>
          <p:cNvSpPr txBox="1"/>
          <p:nvPr/>
        </p:nvSpPr>
        <p:spPr>
          <a:xfrm>
            <a:off x="5239512" y="22219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features</a:t>
            </a:r>
            <a:endParaRPr lang="en-US" sz="1000" dirty="0"/>
          </a:p>
        </p:txBody>
      </p:sp>
      <p:sp>
        <p:nvSpPr>
          <p:cNvPr id="65" name="Shape 59"/>
          <p:cNvSpPr/>
          <p:nvPr/>
        </p:nvSpPr>
        <p:spPr>
          <a:xfrm>
            <a:off x="6515100" y="3054096"/>
            <a:ext cx="91440" cy="182880"/>
          </a:xfrm>
          <a:prstGeom prst="chevron">
            <a:avLst/>
          </a:prstGeom>
          <a:solidFill>
            <a:srgbClr val="1CB8B2"/>
          </a:solidFill>
          <a:ln/>
        </p:spPr>
      </p:sp>
      <p:sp>
        <p:nvSpPr>
          <p:cNvPr id="66" name="Shape 60"/>
          <p:cNvSpPr/>
          <p:nvPr/>
        </p:nvSpPr>
        <p:spPr>
          <a:xfrm>
            <a:off x="6638544" y="1947672"/>
            <a:ext cx="1243584" cy="23957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3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6638544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850" dirty="0"/>
          </a:p>
        </p:txBody>
      </p:sp>
      <p:sp>
        <p:nvSpPr>
          <p:cNvPr id="68" name="Text 62"/>
          <p:cNvSpPr txBox="1"/>
          <p:nvPr/>
        </p:nvSpPr>
        <p:spPr>
          <a:xfrm>
            <a:off x="6638544" y="22219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per sensor</a:t>
            </a:r>
            <a:endParaRPr lang="en-US" sz="1000" dirty="0"/>
          </a:p>
        </p:txBody>
      </p:sp>
      <p:sp>
        <p:nvSpPr>
          <p:cNvPr id="69" name="Shape 63"/>
          <p:cNvSpPr/>
          <p:nvPr/>
        </p:nvSpPr>
        <p:spPr>
          <a:xfrm>
            <a:off x="7914132" y="3054096"/>
            <a:ext cx="91440" cy="182880"/>
          </a:xfrm>
          <a:prstGeom prst="chevron">
            <a:avLst/>
          </a:prstGeom>
          <a:solidFill>
            <a:srgbClr val="1CB8B2"/>
          </a:solidFill>
          <a:ln/>
        </p:spPr>
      </p:sp>
      <p:sp>
        <p:nvSpPr>
          <p:cNvPr id="70" name="Shape 64"/>
          <p:cNvSpPr/>
          <p:nvPr/>
        </p:nvSpPr>
        <p:spPr>
          <a:xfrm>
            <a:off x="8037576" y="1947672"/>
            <a:ext cx="1243584" cy="23957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3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8037576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850" dirty="0"/>
          </a:p>
        </p:txBody>
      </p:sp>
      <p:sp>
        <p:nvSpPr>
          <p:cNvPr id="72" name="Text 66"/>
          <p:cNvSpPr txBox="1"/>
          <p:nvPr/>
        </p:nvSpPr>
        <p:spPr>
          <a:xfrm>
            <a:off x="8037576" y="22219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fusion</a:t>
            </a:r>
            <a:endParaRPr lang="en-US" sz="1000" dirty="0"/>
          </a:p>
        </p:txBody>
      </p:sp>
      <p:sp>
        <p:nvSpPr>
          <p:cNvPr id="73" name="Shape 67"/>
          <p:cNvSpPr/>
          <p:nvPr/>
        </p:nvSpPr>
        <p:spPr>
          <a:xfrm>
            <a:off x="5358384" y="2743200"/>
            <a:ext cx="68580" cy="685800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4" name="Shape 68"/>
          <p:cNvSpPr/>
          <p:nvPr/>
        </p:nvSpPr>
        <p:spPr>
          <a:xfrm>
            <a:off x="5463540" y="2807208"/>
            <a:ext cx="68580" cy="621792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5" name="Shape 69"/>
          <p:cNvSpPr/>
          <p:nvPr/>
        </p:nvSpPr>
        <p:spPr>
          <a:xfrm>
            <a:off x="5568696" y="2880360"/>
            <a:ext cx="68580" cy="548640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6" name="Shape 70"/>
          <p:cNvSpPr/>
          <p:nvPr/>
        </p:nvSpPr>
        <p:spPr>
          <a:xfrm>
            <a:off x="5673852" y="2971800"/>
            <a:ext cx="68580" cy="457200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7" name="Shape 71"/>
          <p:cNvSpPr/>
          <p:nvPr/>
        </p:nvSpPr>
        <p:spPr>
          <a:xfrm>
            <a:off x="5779008" y="3044952"/>
            <a:ext cx="68580" cy="384048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8" name="Shape 72"/>
          <p:cNvSpPr/>
          <p:nvPr/>
        </p:nvSpPr>
        <p:spPr>
          <a:xfrm>
            <a:off x="5884164" y="3154680"/>
            <a:ext cx="68580" cy="274320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79" name="Shape 73"/>
          <p:cNvSpPr/>
          <p:nvPr/>
        </p:nvSpPr>
        <p:spPr>
          <a:xfrm>
            <a:off x="5989320" y="3209544"/>
            <a:ext cx="68580" cy="21945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80" name="Shape 74"/>
          <p:cNvSpPr/>
          <p:nvPr/>
        </p:nvSpPr>
        <p:spPr>
          <a:xfrm>
            <a:off x="6094476" y="3255264"/>
            <a:ext cx="68580" cy="17373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81" name="Shape 75"/>
          <p:cNvSpPr/>
          <p:nvPr/>
        </p:nvSpPr>
        <p:spPr>
          <a:xfrm>
            <a:off x="6199632" y="3300984"/>
            <a:ext cx="68580" cy="12801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82" name="Shape 76"/>
          <p:cNvSpPr/>
          <p:nvPr/>
        </p:nvSpPr>
        <p:spPr>
          <a:xfrm>
            <a:off x="6304788" y="3337560"/>
            <a:ext cx="68580" cy="91440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83" name="Shape 77"/>
          <p:cNvSpPr/>
          <p:nvPr/>
        </p:nvSpPr>
        <p:spPr>
          <a:xfrm>
            <a:off x="5312664" y="3429000"/>
            <a:ext cx="1097280" cy="914"/>
          </a:xfrm>
          <a:prstGeom prst="line">
            <a:avLst/>
          </a:prstGeom>
          <a:noFill/>
          <a:ln w="12700">
            <a:solidFill>
              <a:srgbClr val="0D1B1F"/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>
            <a:off x="5312664" y="3063240"/>
            <a:ext cx="1097280" cy="914"/>
          </a:xfrm>
          <a:prstGeom prst="line">
            <a:avLst/>
          </a:prstGeom>
          <a:noFill/>
          <a:ln w="15875">
            <a:solidFill>
              <a:srgbClr val="E0A526"/>
            </a:solidFill>
            <a:prstDash val="dash"/>
          </a:ln>
        </p:spPr>
      </p:sp>
      <p:sp>
        <p:nvSpPr>
          <p:cNvPr id="85" name="Text 79"/>
          <p:cNvSpPr txBox="1"/>
          <p:nvPr/>
        </p:nvSpPr>
        <p:spPr>
          <a:xfrm>
            <a:off x="5971032" y="288036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08A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</a:t>
            </a:r>
            <a:endParaRPr lang="en-US" sz="750" dirty="0"/>
          </a:p>
        </p:txBody>
      </p:sp>
      <p:sp>
        <p:nvSpPr>
          <p:cNvPr id="86" name="Shape 80"/>
          <p:cNvSpPr/>
          <p:nvPr/>
        </p:nvSpPr>
        <p:spPr>
          <a:xfrm>
            <a:off x="5303520" y="3639312"/>
            <a:ext cx="539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87" name="Text 81"/>
          <p:cNvSpPr txBox="1"/>
          <p:nvPr/>
        </p:nvSpPr>
        <p:spPr>
          <a:xfrm>
            <a:off x="5303520" y="3639312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ANOVA</a:t>
            </a:r>
            <a:endParaRPr lang="en-US" sz="750" dirty="0"/>
          </a:p>
        </p:txBody>
      </p:sp>
      <p:sp>
        <p:nvSpPr>
          <p:cNvPr id="88" name="Shape 82"/>
          <p:cNvSpPr/>
          <p:nvPr/>
        </p:nvSpPr>
        <p:spPr>
          <a:xfrm>
            <a:off x="5879592" y="3639312"/>
            <a:ext cx="539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5879592" y="3639312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</a:t>
            </a:r>
            <a:endParaRPr lang="en-US" sz="750" dirty="0"/>
          </a:p>
        </p:txBody>
      </p:sp>
      <p:sp>
        <p:nvSpPr>
          <p:cNvPr id="90" name="Shape 84"/>
          <p:cNvSpPr/>
          <p:nvPr/>
        </p:nvSpPr>
        <p:spPr>
          <a:xfrm>
            <a:off x="5303520" y="3941064"/>
            <a:ext cx="539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91" name="Text 85"/>
          <p:cNvSpPr txBox="1"/>
          <p:nvPr/>
        </p:nvSpPr>
        <p:spPr>
          <a:xfrm>
            <a:off x="5303520" y="3941064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ReliefF</a:t>
            </a:r>
            <a:endParaRPr lang="en-US" sz="750" dirty="0"/>
          </a:p>
        </p:txBody>
      </p:sp>
      <p:sp>
        <p:nvSpPr>
          <p:cNvPr id="92" name="Shape 86"/>
          <p:cNvSpPr/>
          <p:nvPr/>
        </p:nvSpPr>
        <p:spPr>
          <a:xfrm>
            <a:off x="5879592" y="3941064"/>
            <a:ext cx="539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93" name="Text 87"/>
          <p:cNvSpPr txBox="1"/>
          <p:nvPr/>
        </p:nvSpPr>
        <p:spPr>
          <a:xfrm>
            <a:off x="5879592" y="3941064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Boruta</a:t>
            </a:r>
            <a:endParaRPr lang="en-US" sz="750" dirty="0"/>
          </a:p>
        </p:txBody>
      </p:sp>
      <p:sp>
        <p:nvSpPr>
          <p:cNvPr id="94" name="Shape 88"/>
          <p:cNvSpPr/>
          <p:nvPr/>
        </p:nvSpPr>
        <p:spPr>
          <a:xfrm>
            <a:off x="6711696" y="266090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/>
        </p:spPr>
      </p:sp>
      <p:sp>
        <p:nvSpPr>
          <p:cNvPr id="95" name="Text 89"/>
          <p:cNvSpPr txBox="1"/>
          <p:nvPr/>
        </p:nvSpPr>
        <p:spPr>
          <a:xfrm>
            <a:off x="6711696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VIF/SPA → SFFS</a:t>
            </a:r>
            <a:endParaRPr lang="en-US" sz="850" dirty="0"/>
          </a:p>
        </p:txBody>
      </p:sp>
      <p:sp>
        <p:nvSpPr>
          <p:cNvPr id="96" name="Shape 90"/>
          <p:cNvSpPr/>
          <p:nvPr/>
        </p:nvSpPr>
        <p:spPr>
          <a:xfrm flipV="1">
            <a:off x="6766560" y="3090672"/>
            <a:ext cx="91440" cy="137160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6858000" y="3090672"/>
            <a:ext cx="91440" cy="137160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 flipV="1">
            <a:off x="6720840" y="3227832"/>
            <a:ext cx="45720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6766560" y="3227832"/>
            <a:ext cx="45720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 flipV="1">
            <a:off x="6903720" y="3227832"/>
            <a:ext cx="45720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101" name="Shape 95"/>
          <p:cNvSpPr/>
          <p:nvPr/>
        </p:nvSpPr>
        <p:spPr>
          <a:xfrm>
            <a:off x="6949440" y="3227832"/>
            <a:ext cx="45720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6821424" y="3054096"/>
            <a:ext cx="73152" cy="7315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03" name="Shape 97"/>
          <p:cNvSpPr/>
          <p:nvPr/>
        </p:nvSpPr>
        <p:spPr>
          <a:xfrm>
            <a:off x="6737299" y="3198571"/>
            <a:ext cx="58522" cy="5852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04" name="Shape 98"/>
          <p:cNvSpPr/>
          <p:nvPr/>
        </p:nvSpPr>
        <p:spPr>
          <a:xfrm>
            <a:off x="6920179" y="3198571"/>
            <a:ext cx="58522" cy="5852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05" name="Shape 99"/>
          <p:cNvSpPr/>
          <p:nvPr/>
        </p:nvSpPr>
        <p:spPr>
          <a:xfrm>
            <a:off x="6698894" y="3352190"/>
            <a:ext cx="43891" cy="43891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6" name="Shape 100"/>
          <p:cNvSpPr/>
          <p:nvPr/>
        </p:nvSpPr>
        <p:spPr>
          <a:xfrm>
            <a:off x="6790334" y="3352190"/>
            <a:ext cx="43891" cy="43891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7" name="Shape 101"/>
          <p:cNvSpPr/>
          <p:nvPr/>
        </p:nvSpPr>
        <p:spPr>
          <a:xfrm>
            <a:off x="6881774" y="3352190"/>
            <a:ext cx="43891" cy="43891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8" name="Shape 102"/>
          <p:cNvSpPr/>
          <p:nvPr/>
        </p:nvSpPr>
        <p:spPr>
          <a:xfrm>
            <a:off x="6973214" y="3352190"/>
            <a:ext cx="43891" cy="43891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9" name="Shape 103"/>
          <p:cNvSpPr/>
          <p:nvPr/>
        </p:nvSpPr>
        <p:spPr>
          <a:xfrm flipV="1">
            <a:off x="7123176" y="3063240"/>
            <a:ext cx="292608" cy="329184"/>
          </a:xfrm>
          <a:prstGeom prst="line">
            <a:avLst/>
          </a:prstGeom>
          <a:noFill/>
          <a:ln w="19050">
            <a:solidFill>
              <a:srgbClr val="1F2D30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 flipV="1">
            <a:off x="7068312" y="3026664"/>
            <a:ext cx="265176" cy="292608"/>
          </a:xfrm>
          <a:prstGeom prst="line">
            <a:avLst/>
          </a:prstGeom>
          <a:noFill/>
          <a:ln w="9525">
            <a:solidFill>
              <a:srgbClr val="8FA3A6"/>
            </a:solidFill>
            <a:prstDash val="dash"/>
          </a:ln>
        </p:spPr>
      </p:sp>
      <p:sp>
        <p:nvSpPr>
          <p:cNvPr id="111" name="Shape 105"/>
          <p:cNvSpPr/>
          <p:nvPr/>
        </p:nvSpPr>
        <p:spPr>
          <a:xfrm flipV="1">
            <a:off x="7196328" y="3118104"/>
            <a:ext cx="274320" cy="310896"/>
          </a:xfrm>
          <a:prstGeom prst="line">
            <a:avLst/>
          </a:prstGeom>
          <a:noFill/>
          <a:ln w="9525">
            <a:solidFill>
              <a:srgbClr val="8FA3A6"/>
            </a:solidFill>
            <a:prstDash val="dash"/>
          </a:ln>
        </p:spPr>
      </p:sp>
      <p:sp>
        <p:nvSpPr>
          <p:cNvPr id="112" name="Shape 106"/>
          <p:cNvSpPr/>
          <p:nvPr/>
        </p:nvSpPr>
        <p:spPr>
          <a:xfrm>
            <a:off x="7100316" y="3076956"/>
            <a:ext cx="45720" cy="457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3" name="Shape 107"/>
          <p:cNvSpPr/>
          <p:nvPr/>
        </p:nvSpPr>
        <p:spPr>
          <a:xfrm>
            <a:off x="7164324" y="3140964"/>
            <a:ext cx="45720" cy="457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4" name="Shape 108"/>
          <p:cNvSpPr/>
          <p:nvPr/>
        </p:nvSpPr>
        <p:spPr>
          <a:xfrm>
            <a:off x="7091172" y="3186684"/>
            <a:ext cx="45720" cy="457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5" name="Shape 109"/>
          <p:cNvSpPr/>
          <p:nvPr/>
        </p:nvSpPr>
        <p:spPr>
          <a:xfrm>
            <a:off x="7338060" y="3296412"/>
            <a:ext cx="45720" cy="457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16" name="Shape 110"/>
          <p:cNvSpPr/>
          <p:nvPr/>
        </p:nvSpPr>
        <p:spPr>
          <a:xfrm>
            <a:off x="7392924" y="3223260"/>
            <a:ext cx="45720" cy="457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17" name="Shape 111"/>
          <p:cNvSpPr/>
          <p:nvPr/>
        </p:nvSpPr>
        <p:spPr>
          <a:xfrm>
            <a:off x="7292340" y="3369564"/>
            <a:ext cx="45720" cy="457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18" name="Shape 112"/>
          <p:cNvSpPr/>
          <p:nvPr/>
        </p:nvSpPr>
        <p:spPr>
          <a:xfrm>
            <a:off x="7534656" y="3099816"/>
            <a:ext cx="256032" cy="256032"/>
          </a:xfrm>
          <a:prstGeom prst="ellipse">
            <a:avLst/>
          </a:prstGeom>
          <a:ln w="15875">
            <a:solidFill>
              <a:srgbClr val="1CB8B2"/>
            </a:solidFill>
            <a:prstDash val="solid"/>
          </a:ln>
        </p:spPr>
      </p:sp>
      <p:sp>
        <p:nvSpPr>
          <p:cNvPr id="119" name="Shape 113"/>
          <p:cNvSpPr/>
          <p:nvPr/>
        </p:nvSpPr>
        <p:spPr>
          <a:xfrm>
            <a:off x="7585862" y="3151022"/>
            <a:ext cx="43891" cy="43891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0" name="Shape 114"/>
          <p:cNvSpPr/>
          <p:nvPr/>
        </p:nvSpPr>
        <p:spPr>
          <a:xfrm>
            <a:off x="7704734" y="3169310"/>
            <a:ext cx="43891" cy="43891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1" name="Shape 115"/>
          <p:cNvSpPr/>
          <p:nvPr/>
        </p:nvSpPr>
        <p:spPr>
          <a:xfrm>
            <a:off x="7649870" y="3279038"/>
            <a:ext cx="43891" cy="43891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2" name="Shape 116"/>
          <p:cNvSpPr/>
          <p:nvPr/>
        </p:nvSpPr>
        <p:spPr>
          <a:xfrm>
            <a:off x="7457846" y="3315614"/>
            <a:ext cx="43891" cy="43891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3" name="Shape 117"/>
          <p:cNvSpPr/>
          <p:nvPr/>
        </p:nvSpPr>
        <p:spPr>
          <a:xfrm>
            <a:off x="7823606" y="3087014"/>
            <a:ext cx="43891" cy="43891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4" name="Shape 118"/>
          <p:cNvSpPr/>
          <p:nvPr/>
        </p:nvSpPr>
        <p:spPr>
          <a:xfrm>
            <a:off x="7814462" y="3315614"/>
            <a:ext cx="43891" cy="43891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5" name="Shape 119"/>
          <p:cNvSpPr/>
          <p:nvPr/>
        </p:nvSpPr>
        <p:spPr>
          <a:xfrm>
            <a:off x="7630668" y="3195828"/>
            <a:ext cx="64008" cy="64008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26" name="Text 120"/>
          <p:cNvSpPr txBox="1"/>
          <p:nvPr/>
        </p:nvSpPr>
        <p:spPr>
          <a:xfrm>
            <a:off x="6656832" y="34838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850" dirty="0"/>
          </a:p>
        </p:txBody>
      </p:sp>
      <p:sp>
        <p:nvSpPr>
          <p:cNvPr id="127" name="Text 121"/>
          <p:cNvSpPr txBox="1"/>
          <p:nvPr/>
        </p:nvSpPr>
        <p:spPr>
          <a:xfrm>
            <a:off x="7059168" y="34838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</a:t>
            </a:r>
            <a:endParaRPr lang="en-US" sz="850" dirty="0"/>
          </a:p>
        </p:txBody>
      </p:sp>
      <p:sp>
        <p:nvSpPr>
          <p:cNvPr id="128" name="Text 122"/>
          <p:cNvSpPr txBox="1"/>
          <p:nvPr/>
        </p:nvSpPr>
        <p:spPr>
          <a:xfrm>
            <a:off x="7461504" y="34838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850" dirty="0"/>
          </a:p>
        </p:txBody>
      </p:sp>
      <p:sp>
        <p:nvSpPr>
          <p:cNvPr id="129" name="Text 123"/>
          <p:cNvSpPr txBox="1"/>
          <p:nvPr/>
        </p:nvSpPr>
        <p:spPr>
          <a:xfrm>
            <a:off x="6711696" y="3776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feature set &amp; model for each sensor</a:t>
            </a:r>
            <a:endParaRPr lang="en-US" sz="850" dirty="0"/>
          </a:p>
        </p:txBody>
      </p:sp>
      <p:sp>
        <p:nvSpPr>
          <p:cNvPr id="130" name="Shape 124"/>
          <p:cNvSpPr/>
          <p:nvPr/>
        </p:nvSpPr>
        <p:spPr>
          <a:xfrm>
            <a:off x="8101584" y="2679192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31" name="Text 125"/>
          <p:cNvSpPr txBox="1"/>
          <p:nvPr/>
        </p:nvSpPr>
        <p:spPr>
          <a:xfrm>
            <a:off x="8101584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750" dirty="0"/>
          </a:p>
        </p:txBody>
      </p:sp>
      <p:sp>
        <p:nvSpPr>
          <p:cNvPr id="132" name="Shape 126"/>
          <p:cNvSpPr/>
          <p:nvPr/>
        </p:nvSpPr>
        <p:spPr>
          <a:xfrm>
            <a:off x="8467344" y="2679192"/>
            <a:ext cx="329184" cy="914400"/>
          </a:xfrm>
          <a:custGeom>
            <a:avLst/>
            <a:gdLst/>
            <a:ahLst/>
            <a:cxnLst/>
            <a:rect l="l" t="t" r="r" b="b"/>
            <a:pathLst>
              <a:path w="329184" h="914400">
                <a:moveTo>
                  <a:pt x="0" y="91440"/>
                </a:moveTo>
                <a:cubicBezTo>
                  <a:pt x="201168" y="91440"/>
                  <a:pt x="128016" y="507492"/>
                  <a:pt x="329184" y="507492"/>
                </a:cubicBezTo>
              </a:path>
            </a:pathLst>
          </a:custGeom>
          <a:ln w="22225">
            <a:solidFill>
              <a:srgbClr val="3B82F6"/>
            </a:solidFill>
            <a:prstDash val="solid"/>
          </a:ln>
        </p:spPr>
      </p:sp>
      <p:sp>
        <p:nvSpPr>
          <p:cNvPr id="133" name="Shape 127"/>
          <p:cNvSpPr/>
          <p:nvPr/>
        </p:nvSpPr>
        <p:spPr>
          <a:xfrm>
            <a:off x="8796528" y="2948940"/>
            <a:ext cx="118872" cy="1188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4" name="Shape 128"/>
          <p:cNvSpPr/>
          <p:nvPr/>
        </p:nvSpPr>
        <p:spPr>
          <a:xfrm>
            <a:off x="8101584" y="2926080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22B455"/>
          </a:solidFill>
          <a:ln/>
        </p:spPr>
      </p:sp>
      <p:sp>
        <p:nvSpPr>
          <p:cNvPr id="135" name="Text 129"/>
          <p:cNvSpPr txBox="1"/>
          <p:nvPr/>
        </p:nvSpPr>
        <p:spPr>
          <a:xfrm>
            <a:off x="8101584" y="29260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750" dirty="0"/>
          </a:p>
        </p:txBody>
      </p:sp>
      <p:sp>
        <p:nvSpPr>
          <p:cNvPr id="136" name="Shape 130"/>
          <p:cNvSpPr/>
          <p:nvPr/>
        </p:nvSpPr>
        <p:spPr>
          <a:xfrm>
            <a:off x="8467344" y="2679192"/>
            <a:ext cx="329184" cy="914400"/>
          </a:xfrm>
          <a:custGeom>
            <a:avLst/>
            <a:gdLst/>
            <a:ahLst/>
            <a:cxnLst/>
            <a:rect l="l" t="t" r="r" b="b"/>
            <a:pathLst>
              <a:path w="329184" h="914400">
                <a:moveTo>
                  <a:pt x="0" y="338328"/>
                </a:moveTo>
                <a:cubicBezTo>
                  <a:pt x="201168" y="338328"/>
                  <a:pt x="128016" y="507492"/>
                  <a:pt x="329184" y="507492"/>
                </a:cubicBezTo>
              </a:path>
            </a:pathLst>
          </a:custGeom>
          <a:ln w="22225">
            <a:solidFill>
              <a:srgbClr val="22B455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8796528" y="3067812"/>
            <a:ext cx="118872" cy="118872"/>
          </a:xfrm>
          <a:prstGeom prst="rect">
            <a:avLst/>
          </a:prstGeom>
          <a:solidFill>
            <a:srgbClr val="22B455"/>
          </a:solidFill>
          <a:ln/>
        </p:spPr>
      </p:sp>
      <p:sp>
        <p:nvSpPr>
          <p:cNvPr id="138" name="Shape 132"/>
          <p:cNvSpPr/>
          <p:nvPr/>
        </p:nvSpPr>
        <p:spPr>
          <a:xfrm>
            <a:off x="8101584" y="3172968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8E5BD6"/>
          </a:solidFill>
          <a:ln/>
        </p:spPr>
      </p:sp>
      <p:sp>
        <p:nvSpPr>
          <p:cNvPr id="139" name="Text 133"/>
          <p:cNvSpPr txBox="1"/>
          <p:nvPr/>
        </p:nvSpPr>
        <p:spPr>
          <a:xfrm>
            <a:off x="8101584" y="3172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</a:t>
            </a:r>
            <a:endParaRPr lang="en-US" sz="750" dirty="0"/>
          </a:p>
        </p:txBody>
      </p:sp>
      <p:sp>
        <p:nvSpPr>
          <p:cNvPr id="140" name="Shape 134"/>
          <p:cNvSpPr/>
          <p:nvPr/>
        </p:nvSpPr>
        <p:spPr>
          <a:xfrm>
            <a:off x="8467344" y="2679192"/>
            <a:ext cx="329184" cy="914400"/>
          </a:xfrm>
          <a:custGeom>
            <a:avLst/>
            <a:gdLst/>
            <a:ahLst/>
            <a:cxnLst/>
            <a:rect l="l" t="t" r="r" b="b"/>
            <a:pathLst>
              <a:path w="329184" h="914400">
                <a:moveTo>
                  <a:pt x="0" y="585216"/>
                </a:moveTo>
                <a:cubicBezTo>
                  <a:pt x="201168" y="585216"/>
                  <a:pt x="128016" y="507492"/>
                  <a:pt x="329184" y="507492"/>
                </a:cubicBezTo>
              </a:path>
            </a:pathLst>
          </a:custGeom>
          <a:ln w="22225">
            <a:solidFill>
              <a:srgbClr val="8E5BD6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796528" y="3186684"/>
            <a:ext cx="118872" cy="118872"/>
          </a:xfrm>
          <a:prstGeom prst="rect">
            <a:avLst/>
          </a:prstGeom>
          <a:solidFill>
            <a:srgbClr val="8E5BD6"/>
          </a:solidFill>
          <a:ln/>
        </p:spPr>
      </p:sp>
      <p:sp>
        <p:nvSpPr>
          <p:cNvPr id="142" name="Shape 136"/>
          <p:cNvSpPr/>
          <p:nvPr/>
        </p:nvSpPr>
        <p:spPr>
          <a:xfrm>
            <a:off x="8101584" y="3419856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E5484D"/>
          </a:solidFill>
          <a:ln/>
        </p:spPr>
      </p:sp>
      <p:sp>
        <p:nvSpPr>
          <p:cNvPr id="143" name="Text 137"/>
          <p:cNvSpPr txBox="1"/>
          <p:nvPr/>
        </p:nvSpPr>
        <p:spPr>
          <a:xfrm>
            <a:off x="8101584" y="34198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TIR</a:t>
            </a:r>
            <a:endParaRPr lang="en-US" sz="750" dirty="0"/>
          </a:p>
        </p:txBody>
      </p:sp>
      <p:sp>
        <p:nvSpPr>
          <p:cNvPr id="144" name="Shape 138"/>
          <p:cNvSpPr/>
          <p:nvPr/>
        </p:nvSpPr>
        <p:spPr>
          <a:xfrm>
            <a:off x="8467344" y="2679192"/>
            <a:ext cx="329184" cy="914400"/>
          </a:xfrm>
          <a:custGeom>
            <a:avLst/>
            <a:gdLst/>
            <a:ahLst/>
            <a:cxnLst/>
            <a:rect l="l" t="t" r="r" b="b"/>
            <a:pathLst>
              <a:path w="329184" h="914400">
                <a:moveTo>
                  <a:pt x="0" y="832104"/>
                </a:moveTo>
                <a:cubicBezTo>
                  <a:pt x="201168" y="832104"/>
                  <a:pt x="128016" y="507492"/>
                  <a:pt x="329184" y="507492"/>
                </a:cubicBezTo>
              </a:path>
            </a:pathLst>
          </a:custGeom>
          <a:ln w="22225">
            <a:solidFill>
              <a:srgbClr val="E5484D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8796528" y="3305556"/>
            <a:ext cx="118872" cy="118872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46" name="Shape 140"/>
          <p:cNvSpPr/>
          <p:nvPr/>
        </p:nvSpPr>
        <p:spPr>
          <a:xfrm>
            <a:off x="8951976" y="3049524"/>
            <a:ext cx="274320" cy="2743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47" name="Text 141"/>
          <p:cNvSpPr txBox="1"/>
          <p:nvPr/>
        </p:nvSpPr>
        <p:spPr>
          <a:xfrm>
            <a:off x="8951976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00" dirty="0"/>
          </a:p>
        </p:txBody>
      </p:sp>
      <p:sp>
        <p:nvSpPr>
          <p:cNvPr id="148" name="Text 142"/>
          <p:cNvSpPr txBox="1"/>
          <p:nvPr/>
        </p:nvSpPr>
        <p:spPr>
          <a:xfrm>
            <a:off x="8110728" y="3776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Feature-level fusion + SFFS</a:t>
            </a:r>
            <a:endParaRPr lang="en-US" sz="850" dirty="0"/>
          </a:p>
        </p:txBody>
      </p:sp>
      <p:sp>
        <p:nvSpPr>
          <p:cNvPr id="149" name="Text 143"/>
          <p:cNvSpPr txBox="1"/>
          <p:nvPr/>
        </p:nvSpPr>
        <p:spPr>
          <a:xfrm>
            <a:off x="5239512" y="46177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classes</a:t>
            </a:r>
            <a:endParaRPr lang="en-US" sz="1000" dirty="0"/>
          </a:p>
        </p:txBody>
      </p:sp>
      <p:sp>
        <p:nvSpPr>
          <p:cNvPr id="150" name="Shape 144"/>
          <p:cNvSpPr/>
          <p:nvPr/>
        </p:nvSpPr>
        <p:spPr>
          <a:xfrm>
            <a:off x="5934456" y="4645152"/>
            <a:ext cx="246888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1" name="Text 145"/>
          <p:cNvSpPr txBox="1"/>
          <p:nvPr/>
        </p:nvSpPr>
        <p:spPr>
          <a:xfrm>
            <a:off x="593445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152" name="Shape 146"/>
          <p:cNvSpPr/>
          <p:nvPr/>
        </p:nvSpPr>
        <p:spPr>
          <a:xfrm>
            <a:off x="6208776" y="4645152"/>
            <a:ext cx="246888" cy="27432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53" name="Text 147"/>
          <p:cNvSpPr txBox="1"/>
          <p:nvPr/>
        </p:nvSpPr>
        <p:spPr>
          <a:xfrm>
            <a:off x="620877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54" name="Shape 148"/>
          <p:cNvSpPr/>
          <p:nvPr/>
        </p:nvSpPr>
        <p:spPr>
          <a:xfrm>
            <a:off x="6483096" y="4645152"/>
            <a:ext cx="246888" cy="274320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55" name="Text 149"/>
          <p:cNvSpPr txBox="1"/>
          <p:nvPr/>
        </p:nvSpPr>
        <p:spPr>
          <a:xfrm>
            <a:off x="648309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6" name="Shape 150"/>
          <p:cNvSpPr/>
          <p:nvPr/>
        </p:nvSpPr>
        <p:spPr>
          <a:xfrm>
            <a:off x="6757416" y="4645152"/>
            <a:ext cx="246888" cy="2743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7" name="Text 151"/>
          <p:cNvSpPr txBox="1"/>
          <p:nvPr/>
        </p:nvSpPr>
        <p:spPr>
          <a:xfrm>
            <a:off x="675741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8" name="Shape 152"/>
          <p:cNvSpPr/>
          <p:nvPr/>
        </p:nvSpPr>
        <p:spPr>
          <a:xfrm>
            <a:off x="7031736" y="4645152"/>
            <a:ext cx="246888" cy="274320"/>
          </a:xfrm>
          <a:prstGeom prst="rect">
            <a:avLst/>
          </a:prstGeom>
          <a:solidFill>
            <a:srgbClr val="F4511E"/>
          </a:solidFill>
          <a:ln/>
        </p:spPr>
      </p:sp>
      <p:sp>
        <p:nvSpPr>
          <p:cNvPr id="159" name="Text 153"/>
          <p:cNvSpPr txBox="1"/>
          <p:nvPr/>
        </p:nvSpPr>
        <p:spPr>
          <a:xfrm>
            <a:off x="703173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60" name="Shape 154"/>
          <p:cNvSpPr/>
          <p:nvPr/>
        </p:nvSpPr>
        <p:spPr>
          <a:xfrm>
            <a:off x="7306056" y="4645152"/>
            <a:ext cx="246888" cy="2743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61" name="Text 155"/>
          <p:cNvSpPr txBox="1"/>
          <p:nvPr/>
        </p:nvSpPr>
        <p:spPr>
          <a:xfrm>
            <a:off x="730605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62" name="Shape 156"/>
          <p:cNvSpPr/>
          <p:nvPr/>
        </p:nvSpPr>
        <p:spPr>
          <a:xfrm>
            <a:off x="7653528" y="461772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1CB8B2"/>
          </a:solidFill>
          <a:ln/>
        </p:spPr>
      </p:sp>
      <p:sp>
        <p:nvSpPr>
          <p:cNvPr id="163" name="Text 157"/>
          <p:cNvSpPr txBox="1"/>
          <p:nvPr/>
        </p:nvSpPr>
        <p:spPr>
          <a:xfrm>
            <a:off x="7653528" y="46177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on unseen plots</a:t>
            </a:r>
            <a:endParaRPr lang="en-US" sz="850" dirty="0"/>
          </a:p>
        </p:txBody>
      </p:sp>
      <p:sp>
        <p:nvSpPr>
          <p:cNvPr id="164" name="Shape 158"/>
          <p:cNvSpPr/>
          <p:nvPr/>
        </p:nvSpPr>
        <p:spPr>
          <a:xfrm>
            <a:off x="9857232" y="1947672"/>
            <a:ext cx="1719072" cy="144475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165" name="Shape 159"/>
          <p:cNvSpPr/>
          <p:nvPr/>
        </p:nvSpPr>
        <p:spPr>
          <a:xfrm>
            <a:off x="9893808" y="198424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10168128" y="198424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10442448" y="198424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10716768" y="198424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10991088" y="1984248"/>
            <a:ext cx="274320" cy="274320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11265408" y="198424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9893808" y="225856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10168128" y="225856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10442448" y="225856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10716768" y="2258568"/>
            <a:ext cx="274320" cy="274320"/>
          </a:xfrm>
          <a:prstGeom prst="rect">
            <a:avLst/>
          </a:prstGeom>
          <a:solidFill>
            <a:srgbClr val="F451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10991088" y="2258568"/>
            <a:ext cx="274320" cy="274320"/>
          </a:xfrm>
          <a:prstGeom prst="rect">
            <a:avLst/>
          </a:prstGeom>
          <a:solidFill>
            <a:srgbClr val="B71C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11265408" y="2258568"/>
            <a:ext cx="274320" cy="274320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9893808" y="253288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8" name="Shape 172"/>
          <p:cNvSpPr/>
          <p:nvPr/>
        </p:nvSpPr>
        <p:spPr>
          <a:xfrm>
            <a:off x="10168128" y="253288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10442448" y="253288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10716768" y="2532888"/>
            <a:ext cx="274320" cy="274320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10991088" y="2532888"/>
            <a:ext cx="274320" cy="274320"/>
          </a:xfrm>
          <a:prstGeom prst="rect">
            <a:avLst/>
          </a:prstGeom>
          <a:solidFill>
            <a:srgbClr val="F451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11265408" y="253288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9893808" y="280720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10168128" y="280720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10442448" y="280720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10716768" y="280720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10991088" y="280720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11265408" y="280720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9893808" y="308152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10168128" y="308152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10442448" y="308152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10716768" y="308152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10991088" y="308152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11265408" y="308152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9884664" y="3621024"/>
            <a:ext cx="155448" cy="1554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6" name="Text 190"/>
          <p:cNvSpPr txBox="1"/>
          <p:nvPr/>
        </p:nvSpPr>
        <p:spPr>
          <a:xfrm>
            <a:off x="10113264" y="359359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 Healthy</a:t>
            </a:r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0</a:t>
            </a:r>
            <a:endParaRPr lang="en-US" sz="950" dirty="0"/>
          </a:p>
        </p:txBody>
      </p:sp>
      <p:sp>
        <p:nvSpPr>
          <p:cNvPr id="197" name="Shape 191"/>
          <p:cNvSpPr/>
          <p:nvPr/>
        </p:nvSpPr>
        <p:spPr>
          <a:xfrm>
            <a:off x="9884664" y="3867912"/>
            <a:ext cx="155448" cy="155448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98" name="Text 192"/>
          <p:cNvSpPr txBox="1"/>
          <p:nvPr/>
        </p:nvSpPr>
        <p:spPr>
          <a:xfrm>
            <a:off x="10113264" y="3840480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Very low</a:t>
            </a:r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1–5%</a:t>
            </a:r>
            <a:endParaRPr lang="en-US" sz="950" dirty="0"/>
          </a:p>
        </p:txBody>
      </p:sp>
      <p:sp>
        <p:nvSpPr>
          <p:cNvPr id="199" name="Shape 193"/>
          <p:cNvSpPr/>
          <p:nvPr/>
        </p:nvSpPr>
        <p:spPr>
          <a:xfrm>
            <a:off x="9884664" y="4114800"/>
            <a:ext cx="155448" cy="155448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200" name="Text 194"/>
          <p:cNvSpPr txBox="1"/>
          <p:nvPr/>
        </p:nvSpPr>
        <p:spPr>
          <a:xfrm>
            <a:off x="10113264" y="4087368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Low</a:t>
            </a:r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6–10%</a:t>
            </a:r>
            <a:endParaRPr lang="en-US" sz="950" dirty="0"/>
          </a:p>
        </p:txBody>
      </p:sp>
      <p:sp>
        <p:nvSpPr>
          <p:cNvPr id="201" name="Shape 195"/>
          <p:cNvSpPr/>
          <p:nvPr/>
        </p:nvSpPr>
        <p:spPr>
          <a:xfrm>
            <a:off x="9884664" y="4361688"/>
            <a:ext cx="155448" cy="1554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02" name="Text 196"/>
          <p:cNvSpPr txBox="1"/>
          <p:nvPr/>
        </p:nvSpPr>
        <p:spPr>
          <a:xfrm>
            <a:off x="10113264" y="4334256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Moderate</a:t>
            </a:r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11–25%</a:t>
            </a:r>
            <a:endParaRPr lang="en-US" sz="950" dirty="0"/>
          </a:p>
        </p:txBody>
      </p:sp>
      <p:sp>
        <p:nvSpPr>
          <p:cNvPr id="203" name="Shape 197"/>
          <p:cNvSpPr/>
          <p:nvPr/>
        </p:nvSpPr>
        <p:spPr>
          <a:xfrm>
            <a:off x="9884664" y="4608576"/>
            <a:ext cx="155448" cy="155448"/>
          </a:xfrm>
          <a:prstGeom prst="rect">
            <a:avLst/>
          </a:prstGeom>
          <a:solidFill>
            <a:srgbClr val="F4511E"/>
          </a:solidFill>
          <a:ln/>
        </p:spPr>
      </p:sp>
      <p:sp>
        <p:nvSpPr>
          <p:cNvPr id="204" name="Text 198"/>
          <p:cNvSpPr txBox="1"/>
          <p:nvPr/>
        </p:nvSpPr>
        <p:spPr>
          <a:xfrm>
            <a:off x="10113264" y="4581144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High</a:t>
            </a:r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26–50%</a:t>
            </a:r>
            <a:endParaRPr lang="en-US" sz="950" dirty="0"/>
          </a:p>
        </p:txBody>
      </p:sp>
      <p:sp>
        <p:nvSpPr>
          <p:cNvPr id="205" name="Shape 199"/>
          <p:cNvSpPr/>
          <p:nvPr/>
        </p:nvSpPr>
        <p:spPr>
          <a:xfrm>
            <a:off x="9884664" y="4855464"/>
            <a:ext cx="155448" cy="1554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06" name="Text 200"/>
          <p:cNvSpPr txBox="1"/>
          <p:nvPr/>
        </p:nvSpPr>
        <p:spPr>
          <a:xfrm>
            <a:off x="10113264" y="482803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Very high</a:t>
            </a:r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&gt;50%</a:t>
            </a:r>
            <a:endParaRPr lang="en-US" sz="950" dirty="0"/>
          </a:p>
        </p:txBody>
      </p:sp>
      <p:sp>
        <p:nvSpPr>
          <p:cNvPr id="207" name="Shape 201"/>
          <p:cNvSpPr/>
          <p:nvPr/>
        </p:nvSpPr>
        <p:spPr>
          <a:xfrm>
            <a:off x="457200" y="1417320"/>
            <a:ext cx="1737360" cy="3931920"/>
          </a:xfrm>
          <a:prstGeom prst="roundRect">
            <a:avLst>
              <a:gd name="adj" fmla="val 7368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585216" y="1545336"/>
            <a:ext cx="274320" cy="2743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09" name="Text 203"/>
          <p:cNvSpPr txBox="1"/>
          <p:nvPr/>
        </p:nvSpPr>
        <p:spPr>
          <a:xfrm>
            <a:off x="585216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10" name="Text 204"/>
          <p:cNvSpPr txBox="1"/>
          <p:nvPr/>
        </p:nvSpPr>
        <p:spPr>
          <a:xfrm>
            <a:off x="932688" y="1545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00" dirty="0"/>
          </a:p>
        </p:txBody>
      </p:sp>
      <p:sp>
        <p:nvSpPr>
          <p:cNvPr id="211" name="Shape 205"/>
          <p:cNvSpPr/>
          <p:nvPr/>
        </p:nvSpPr>
        <p:spPr>
          <a:xfrm>
            <a:off x="2258568" y="3236976"/>
            <a:ext cx="256032" cy="29260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12" name="Shape 206"/>
          <p:cNvSpPr/>
          <p:nvPr/>
        </p:nvSpPr>
        <p:spPr>
          <a:xfrm>
            <a:off x="2578608" y="1417320"/>
            <a:ext cx="2148840" cy="3931920"/>
          </a:xfrm>
          <a:prstGeom prst="roundRect">
            <a:avLst>
              <a:gd name="adj" fmla="val 5957"/>
            </a:avLst>
          </a:prstGeom>
          <a:ln w="25400">
            <a:solidFill>
              <a:srgbClr val="7DBE4B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2706624" y="1545336"/>
            <a:ext cx="274320" cy="274320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14" name="Text 208"/>
          <p:cNvSpPr txBox="1"/>
          <p:nvPr/>
        </p:nvSpPr>
        <p:spPr>
          <a:xfrm>
            <a:off x="2706624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15" name="Text 209"/>
          <p:cNvSpPr txBox="1"/>
          <p:nvPr/>
        </p:nvSpPr>
        <p:spPr>
          <a:xfrm>
            <a:off x="3054096" y="15453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UAV data</a:t>
            </a:r>
            <a:endParaRPr lang="en-US" sz="1400" dirty="0"/>
          </a:p>
        </p:txBody>
      </p:sp>
      <p:sp>
        <p:nvSpPr>
          <p:cNvPr id="216" name="Shape 210"/>
          <p:cNvSpPr/>
          <p:nvPr/>
        </p:nvSpPr>
        <p:spPr>
          <a:xfrm>
            <a:off x="4791456" y="3236976"/>
            <a:ext cx="256032" cy="29260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17" name="Shape 211"/>
          <p:cNvSpPr/>
          <p:nvPr/>
        </p:nvSpPr>
        <p:spPr>
          <a:xfrm>
            <a:off x="5111496" y="1417320"/>
            <a:ext cx="4206240" cy="3931920"/>
          </a:xfrm>
          <a:prstGeom prst="roundRect">
            <a:avLst>
              <a:gd name="adj" fmla="val 3256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5239512" y="1545336"/>
            <a:ext cx="274320" cy="2743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19" name="Text 213"/>
          <p:cNvSpPr txBox="1"/>
          <p:nvPr/>
        </p:nvSpPr>
        <p:spPr>
          <a:xfrm>
            <a:off x="5239512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20" name="Text 214"/>
          <p:cNvSpPr txBox="1"/>
          <p:nvPr/>
        </p:nvSpPr>
        <p:spPr>
          <a:xfrm>
            <a:off x="5586984" y="1545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21" name="Shape 215"/>
          <p:cNvSpPr/>
          <p:nvPr/>
        </p:nvSpPr>
        <p:spPr>
          <a:xfrm>
            <a:off x="9381744" y="3236976"/>
            <a:ext cx="256032" cy="29260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22" name="Shape 216"/>
          <p:cNvSpPr/>
          <p:nvPr/>
        </p:nvSpPr>
        <p:spPr>
          <a:xfrm>
            <a:off x="9701784" y="1417320"/>
            <a:ext cx="2029968" cy="3931920"/>
          </a:xfrm>
          <a:prstGeom prst="roundRect">
            <a:avLst>
              <a:gd name="adj" fmla="val 6306"/>
            </a:avLst>
          </a:prstGeom>
          <a:ln w="25400">
            <a:solidFill>
              <a:srgbClr val="7DBE4B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829800" y="1545336"/>
            <a:ext cx="274320" cy="274320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24" name="Text 218"/>
          <p:cNvSpPr txBox="1"/>
          <p:nvPr/>
        </p:nvSpPr>
        <p:spPr>
          <a:xfrm>
            <a:off x="9829800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5" name="Text 219"/>
          <p:cNvSpPr txBox="1"/>
          <p:nvPr/>
        </p:nvSpPr>
        <p:spPr>
          <a:xfrm>
            <a:off x="10177272" y="1545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map</a:t>
            </a:r>
            <a:endParaRPr lang="en-US" sz="1400" dirty="0"/>
          </a:p>
        </p:txBody>
      </p:sp>
      <p:sp>
        <p:nvSpPr>
          <p:cNvPr id="226" name="Shape 220"/>
          <p:cNvSpPr/>
          <p:nvPr/>
        </p:nvSpPr>
        <p:spPr>
          <a:xfrm>
            <a:off x="457200" y="5687568"/>
            <a:ext cx="475488" cy="4754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27" name="Shape 221"/>
          <p:cNvSpPr/>
          <p:nvPr/>
        </p:nvSpPr>
        <p:spPr>
          <a:xfrm>
            <a:off x="595245" y="5825613"/>
            <a:ext cx="145714" cy="145714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721786" y="5952154"/>
            <a:ext cx="72857" cy="72857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229" name="Text 223"/>
          <p:cNvSpPr txBox="1"/>
          <p:nvPr/>
        </p:nvSpPr>
        <p:spPr>
          <a:xfrm>
            <a:off x="1042416" y="56875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detection</a:t>
            </a:r>
            <a:endParaRPr lang="en-US" sz="1300" dirty="0"/>
          </a:p>
        </p:txBody>
      </p:sp>
      <p:sp>
        <p:nvSpPr>
          <p:cNvPr id="230" name="Shape 224"/>
          <p:cNvSpPr/>
          <p:nvPr/>
        </p:nvSpPr>
        <p:spPr>
          <a:xfrm>
            <a:off x="2743200" y="5687568"/>
            <a:ext cx="475488" cy="47548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31" name="Shape 225"/>
          <p:cNvSpPr/>
          <p:nvPr/>
        </p:nvSpPr>
        <p:spPr>
          <a:xfrm>
            <a:off x="2865907" y="5810275"/>
            <a:ext cx="230075" cy="230075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2919591" y="5863959"/>
            <a:ext cx="122707" cy="122707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233" name="Shape 227"/>
          <p:cNvSpPr/>
          <p:nvPr/>
        </p:nvSpPr>
        <p:spPr>
          <a:xfrm>
            <a:off x="2958084" y="5902452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4" name="Text 228"/>
          <p:cNvSpPr txBox="1"/>
          <p:nvPr/>
        </p:nvSpPr>
        <p:spPr>
          <a:xfrm>
            <a:off x="3328416" y="56875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spraying</a:t>
            </a:r>
            <a:endParaRPr lang="en-US" sz="1300" dirty="0"/>
          </a:p>
        </p:txBody>
      </p:sp>
      <p:sp>
        <p:nvSpPr>
          <p:cNvPr id="235" name="Shape 229"/>
          <p:cNvSpPr/>
          <p:nvPr/>
        </p:nvSpPr>
        <p:spPr>
          <a:xfrm>
            <a:off x="5029200" y="5687568"/>
            <a:ext cx="475488" cy="4754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36" name="Shape 230"/>
          <p:cNvSpPr/>
          <p:nvPr/>
        </p:nvSpPr>
        <p:spPr>
          <a:xfrm>
            <a:off x="5186418" y="5814109"/>
            <a:ext cx="161052" cy="222406"/>
          </a:xfrm>
          <a:custGeom>
            <a:avLst/>
            <a:gdLst/>
            <a:ahLst/>
            <a:cxnLst/>
            <a:rect l="l" t="t" r="r" b="b"/>
            <a:pathLst>
              <a:path w="161052" h="222406">
                <a:moveTo>
                  <a:pt x="80526" y="0"/>
                </a:moveTo>
                <a:cubicBezTo>
                  <a:pt x="96631" y="40033"/>
                  <a:pt x="161052" y="88962"/>
                  <a:pt x="161052" y="144564"/>
                </a:cubicBezTo>
                <a:cubicBezTo>
                  <a:pt x="161052" y="195717"/>
                  <a:pt x="125621" y="222406"/>
                  <a:pt x="80526" y="222406"/>
                </a:cubicBezTo>
                <a:cubicBezTo>
                  <a:pt x="35432" y="222406"/>
                  <a:pt x="0" y="195717"/>
                  <a:pt x="0" y="144564"/>
                </a:cubicBezTo>
                <a:cubicBezTo>
                  <a:pt x="0" y="88962"/>
                  <a:pt x="64421" y="40033"/>
                  <a:pt x="8052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7" name="Shape 231"/>
          <p:cNvSpPr/>
          <p:nvPr/>
        </p:nvSpPr>
        <p:spPr>
          <a:xfrm>
            <a:off x="5216652" y="5952744"/>
            <a:ext cx="100584" cy="27432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238" name="Text 232"/>
          <p:cNvSpPr txBox="1"/>
          <p:nvPr/>
        </p:nvSpPr>
        <p:spPr>
          <a:xfrm>
            <a:off x="5614416" y="56875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fungicide</a:t>
            </a:r>
            <a:endParaRPr lang="en-US" sz="1300" dirty="0"/>
          </a:p>
        </p:txBody>
      </p:sp>
      <p:sp>
        <p:nvSpPr>
          <p:cNvPr id="239" name="Shape 233"/>
          <p:cNvSpPr/>
          <p:nvPr/>
        </p:nvSpPr>
        <p:spPr>
          <a:xfrm>
            <a:off x="7315200" y="5687568"/>
            <a:ext cx="475488" cy="47548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40" name="Shape 234"/>
          <p:cNvSpPr/>
          <p:nvPr/>
        </p:nvSpPr>
        <p:spPr>
          <a:xfrm>
            <a:off x="7460914" y="5814109"/>
            <a:ext cx="184060" cy="222406"/>
          </a:xfrm>
          <a:custGeom>
            <a:avLst/>
            <a:gdLst/>
            <a:ahLst/>
            <a:cxnLst/>
            <a:rect l="l" t="t" r="r" b="b"/>
            <a:pathLst>
              <a:path w="184060" h="222406">
                <a:moveTo>
                  <a:pt x="92030" y="0"/>
                </a:moveTo>
                <a:lnTo>
                  <a:pt x="184060" y="35585"/>
                </a:lnTo>
                <a:lnTo>
                  <a:pt x="184060" y="111203"/>
                </a:lnTo>
                <a:cubicBezTo>
                  <a:pt x="184060" y="173476"/>
                  <a:pt x="138045" y="206837"/>
                  <a:pt x="92030" y="222406"/>
                </a:cubicBezTo>
                <a:cubicBezTo>
                  <a:pt x="46015" y="206837"/>
                  <a:pt x="0" y="173476"/>
                  <a:pt x="0" y="111203"/>
                </a:cubicBezTo>
                <a:lnTo>
                  <a:pt x="0" y="355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1" name="Shape 235"/>
          <p:cNvSpPr/>
          <p:nvPr/>
        </p:nvSpPr>
        <p:spPr>
          <a:xfrm>
            <a:off x="7502652" y="5925312"/>
            <a:ext cx="36576" cy="45720"/>
          </a:xfrm>
          <a:prstGeom prst="line">
            <a:avLst/>
          </a:prstGeom>
          <a:noFill/>
          <a:ln w="25400">
            <a:solidFill>
              <a:srgbClr val="7DBE4B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 flipV="1">
            <a:off x="7539228" y="5879592"/>
            <a:ext cx="68580" cy="91440"/>
          </a:xfrm>
          <a:prstGeom prst="line">
            <a:avLst/>
          </a:prstGeom>
          <a:noFill/>
          <a:ln w="25400">
            <a:solidFill>
              <a:srgbClr val="7DBE4B"/>
            </a:solidFill>
            <a:prstDash val="solid"/>
          </a:ln>
        </p:spPr>
      </p:sp>
      <p:sp>
        <p:nvSpPr>
          <p:cNvPr id="243" name="Text 237"/>
          <p:cNvSpPr txBox="1"/>
          <p:nvPr/>
        </p:nvSpPr>
        <p:spPr>
          <a:xfrm>
            <a:off x="7900416" y="56875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yield</a:t>
            </a:r>
            <a:endParaRPr lang="en-US" sz="1300" dirty="0"/>
          </a:p>
        </p:txBody>
      </p:sp>
      <p:sp>
        <p:nvSpPr>
          <p:cNvPr id="244" name="Shape 238"/>
          <p:cNvSpPr/>
          <p:nvPr/>
        </p:nvSpPr>
        <p:spPr>
          <a:xfrm>
            <a:off x="9601200" y="5687568"/>
            <a:ext cx="475488" cy="4754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45" name="Shape 239"/>
          <p:cNvSpPr/>
          <p:nvPr/>
        </p:nvSpPr>
        <p:spPr>
          <a:xfrm>
            <a:off x="9758418" y="5814109"/>
            <a:ext cx="161052" cy="222406"/>
          </a:xfrm>
          <a:custGeom>
            <a:avLst/>
            <a:gdLst/>
            <a:ahLst/>
            <a:cxnLst/>
            <a:rect l="l" t="t" r="r" b="b"/>
            <a:pathLst>
              <a:path w="161052" h="222406">
                <a:moveTo>
                  <a:pt x="80526" y="0"/>
                </a:moveTo>
                <a:cubicBezTo>
                  <a:pt x="96631" y="40033"/>
                  <a:pt x="161052" y="88962"/>
                  <a:pt x="161052" y="144564"/>
                </a:cubicBezTo>
                <a:cubicBezTo>
                  <a:pt x="161052" y="195717"/>
                  <a:pt x="125621" y="222406"/>
                  <a:pt x="80526" y="222406"/>
                </a:cubicBezTo>
                <a:cubicBezTo>
                  <a:pt x="35432" y="222406"/>
                  <a:pt x="0" y="195717"/>
                  <a:pt x="0" y="144564"/>
                </a:cubicBezTo>
                <a:cubicBezTo>
                  <a:pt x="0" y="88962"/>
                  <a:pt x="64421" y="40033"/>
                  <a:pt x="8052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6" name="Text 240"/>
          <p:cNvSpPr txBox="1"/>
          <p:nvPr/>
        </p:nvSpPr>
        <p:spPr>
          <a:xfrm>
            <a:off x="10186416" y="56875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Cleaner soil &amp; water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MuDAS-AI Conceptual Framework</dc:title>
  <dc:subject>PptxGenJS Presentation</dc:subject>
  <dc:creator>PptxGenJS</dc:creator>
  <cp:lastModifiedBy>PptxGenJS</cp:lastModifiedBy>
  <cp:revision>1</cp:revision>
  <dcterms:created xsi:type="dcterms:W3CDTF">2026-10-07T14:13:46Z</dcterms:created>
  <dcterms:modified xsi:type="dcterms:W3CDTF">2026-10-07T14:13:46Z</dcterms:modified>
</cp:coreProperties>
</file>