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60" r:id="rId4"/>
    <p:sldId id="259" r:id="rId5"/>
    <p:sldId id="261" r:id="rId1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60"/>
    <p:restoredTop sz="93617"/>
  </p:normalViewPr>
  <p:slideViewPr>
    <p:cSldViewPr snapToGrid="0">
      <p:cViewPr varScale="1">
        <p:scale>
          <a:sx n="77" d="100"/>
          <a:sy n="77" d="100"/>
        </p:scale>
        <p:origin x="47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  <Relationship Id="rId11" Type="http://schemas.openxmlformats.org/officeDocument/2006/relationships/slide" Target="slides/slide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9ECB0-08A3-6B49-9192-DE4C9E8A836A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F6DD5-2610-2547-8B32-C0E8B3B972B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0762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6DD5-2610-2547-8B32-C0E8B3B972BF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87600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92FF-D310-646F-CBEA-B87EDA999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48133-19A2-4975-3ED8-4AAC28771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4E9B4-0778-EDE3-D5CC-79CB01F0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83D6-3516-07C0-0431-2460CC141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056F0-7EC6-9AF5-1180-8068E8B8E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445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86DC-6082-7863-3E50-92FAA794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95939-3D49-9D89-8C8E-E41F3C6B6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835F4-91C1-A1A0-5ED3-75125F4A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0D2D-2EC0-1E42-CCBF-352E46AA3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91D01-AC41-DC34-0568-E9AD991A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0951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ECBF6-CD82-CFD2-E1AD-F99BACCD1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E4F5C-6848-F7FD-0555-8383565A6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94205-DCC1-9353-A2A9-A8B74115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092E1-355D-0A4C-D8A3-76A33F1B7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E7041-7C41-8EC3-5F7A-7F836C5E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1906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607F-166A-B49C-AF8B-5B0043B6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0BC06-7F16-B0CF-5BA2-3BBE2BC5B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3F72E-17A8-990D-2851-CA22217AF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E2016-ADB1-A5BB-2FA5-04FF9FBF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3B7A4-412D-AE0C-D29E-319BC75BF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B5A36-335F-9EA3-EF13-2A299525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5562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1174-2BED-A143-0866-0D05013E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9778C-BF7F-D676-2E32-31325B1B2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4183D-10A2-26A2-1293-EFEB7BF95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BE57E-6769-50AC-488A-43E297343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E97E10-7F0E-5345-5BE0-F7409A1F5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F7CF39-7637-EEAB-5BB4-5113D7AC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46FED-3725-A3E9-6707-577E4EA3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8FB1F0-0482-3EC6-2DBC-DBB2569FB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901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3944-5A77-32E6-18AE-904745619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839C81-68BD-30D7-A30D-AFBF44FD1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EC1C6-B88B-0B12-AB09-0D786DBD0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35D7B-AC52-AE97-8576-2D199CEF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4138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78081-8255-2ADF-D9F6-B8D59DCB3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72ECF-36F7-F023-F982-B587755F6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FD72E-3975-BE6E-7C88-6023F1280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9160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DD4F-D1B6-5D43-B05A-F7571E1B9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A15EB-5B7A-DD3F-6855-8741D9707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5D399-F3E2-42E1-6A08-958CA6FE2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A5931-7A66-1BE5-DCDD-37417863A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3165B-BA8D-20F7-38F4-6A6089EE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BEEE-5979-4FA7-3689-4D3FCEF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95506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C2ACB-2B6F-8596-8E01-8A2F0C513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769DEE-9F69-CC4B-2927-EDEA434F0F6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C3C1D-2B1C-7D11-3590-01C610E64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40100-3F20-6EE2-12B8-DCBFED40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B58E9-BCD5-B156-750D-73B91AFE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700AC-B3D4-F1A4-8A4A-75A6B094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8232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151B-1897-8D67-0ED4-B6896083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50B93-F844-4AD7-980B-C6CC9B850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6521C-163B-D9F5-9841-1274A8AC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6825E-8A56-6B20-B2FD-C4B119CA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DBEFA-A658-9212-059B-C8AD551E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725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A3ED3-8324-B7DF-79CF-AE4F51364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58DF6-8A02-C9A3-1453-7103261D1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7BBB-B035-5BEB-3CC2-30013418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A187-2A9E-6042-BB50-9BD847E14183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0C6A8-5CDF-A9EA-BBD4-7676B566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4D669-C945-6B82-B1B4-6AA6FFD4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1391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D2F347-172C-10EF-520C-FD89B85F3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EEAC4-75B0-4452-6133-59020CCD1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EA27E-F952-E38E-C0AC-D2F71866B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1A187-2A9E-6042-BB50-9BD847E14183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FCA67-6A06-CB6F-AF42-56D2FC1CC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FB2F2-A3D1-B2CF-1A5E-A00CE41E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BB5B4-BF02-3042-B545-32750E71A7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8051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F77C0-9256-72AB-7F66-AF75438CFC6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0F3C9B-9304-AEB0-B8DD-A07748C19B80}"/>
              </a:ext>
            </a:extLst>
          </p:cNvPr>
          <p:cNvSpPr/>
          <p:nvPr/>
        </p:nvSpPr>
        <p:spPr>
          <a:xfrm>
            <a:off x="870645" y="2782308"/>
            <a:ext cx="7535935" cy="2084660"/>
          </a:xfrm>
          <a:prstGeom prst="roundRect">
            <a:avLst/>
          </a:prstGeom>
          <a:solidFill>
            <a:srgbClr val="000000"/>
          </a:solidFill>
          <a:ln w="1651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2EBBEE-5ABA-61F4-7814-AD603B3CDA5A}"/>
              </a:ext>
            </a:extLst>
          </p:cNvPr>
          <p:cNvSpPr txBox="1"/>
          <p:nvPr/>
        </p:nvSpPr>
        <p:spPr>
          <a:xfrm>
            <a:off x="932688" y="2900000"/>
            <a:ext cx="73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1CB8B2"/>
                </a:solidFill>
                <a:latin typeface="Aptos"/>
              </a:rPr>
              <a:t>Team: MuDAS-AI</a:t>
            </a:r>
          </a:p>
          <a:p>
            <a:pPr algn="l"/>
            <a:r>
              <a:rPr lang="en-US" sz="1400" b="0" i="1" dirty="0">
                <a:solidFill>
                  <a:srgbClr val="E0E8E9"/>
                </a:solidFill>
                <a:latin typeface="Aptos"/>
              </a:rPr>
              <a:t>Multimodal Disease Assessment using Artificial Intelligence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E02202-B357-B67A-3F16-D105EDF2FF5A}"/>
              </a:ext>
            </a:extLst>
          </p:cNvPr>
          <p:cNvSpPr txBox="1"/>
          <p:nvPr/>
        </p:nvSpPr>
        <p:spPr>
          <a:xfrm>
            <a:off x="932688" y="3600000"/>
            <a:ext cx="73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ptos"/>
              </a:rPr>
              <a:t>Solution: Multimodal UAV + AI for white rust severity mapping in mustard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AAF01F-5A5D-A83D-CFC1-1B0266C48E27}"/>
              </a:ext>
            </a:extLst>
          </p:cNvPr>
          <p:cNvSpPr txBox="1"/>
          <p:nvPr/>
        </p:nvSpPr>
        <p:spPr>
          <a:xfrm>
            <a:off x="932688" y="4060000"/>
            <a:ext cx="73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E0E8E9"/>
                </a:solidFill>
                <a:latin typeface="Aptos"/>
              </a:rPr>
              <a:t>Thematic Area: Crop Intelligence and Decision Support</a:t>
            </a:r>
          </a:p>
          <a:p>
            <a:pPr algn="l"/>
            <a:r>
              <a:rPr lang="en-US" sz="1400" b="0" i="0" dirty="0">
                <a:solidFill>
                  <a:srgbClr val="E0E8E9"/>
                </a:solidFill>
                <a:latin typeface="Aptos"/>
              </a:rPr>
              <a:t>Presenter: Animesh Panda, PhD Scholar, ICAR-IARI, New Delhi</a:t>
            </a:r>
          </a:p>
        </p:txBody>
      </p:sp>
    </p:spTree>
    <p:extLst>
      <p:ext uri="{BB962C8B-B14F-4D97-AF65-F5344CB8AC3E}">
        <p14:creationId xmlns:p14="http://schemas.microsoft.com/office/powerpoint/2010/main" val="1210940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411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0D1B1F"/>
                </a:solidFill>
                <a:latin typeface="Aptos"/>
              </a:rPr>
              <a:t>02  PROBLEM &amp; TARGET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1" dirty="0">
                <a:solidFill>
                  <a:srgbClr val="33474D"/>
                </a:solidFill>
                <a:latin typeface="Aptos"/>
              </a:rPr>
              <a:t>White rust is seen too late, by eye, plot by plot, so spraying is blanket or 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143000" cy="36576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Albugo candida white rust causes 20–60% yield loss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Pustules form on the leaf underside, hidden from above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Visible signs (chlorosis, staghead) appear after the spray window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Manual scouting is slow, subjective and not scalable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UAV studies use single sensors; no multimodal fusion exists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766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1CB8B2"/>
                </a:solidFill>
                <a:latin typeface="Aptos"/>
              </a:rPr>
              <a:t>Gap: no objective field-scale severity map at spray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7D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7DBE4B"/>
                </a:solidFill>
                <a:latin typeface="Aptos"/>
              </a:rPr>
              <a:t>Target user / beneficiary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Small and marginal mustard farmers (1–2 ha)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Rajasthan, MP, UP, Haryana, Gujarat, West Bengal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Reached via drone service providers, CHCs and FPOs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Extension: KVKs and state agriculture departments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1" i="0" dirty="0">
                <a:solidFill>
                  <a:srgbClr val="E0E8E9"/>
                </a:solidFill>
                <a:latin typeface="Aptos"/>
              </a:rPr>
              <a:t>Unmet need:</a:t>
            </a:r>
            <a:r>
              <a:rPr lang="en-US" sz="1250" b="0" i="0" dirty="0">
                <a:solidFill>
                  <a:srgbClr val="E0E8E9"/>
                </a:solidFill>
                <a:latin typeface="Aptos"/>
              </a:rPr>
              <a:t> where and when to spray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766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7DBE4B"/>
                </a:solidFill>
                <a:latin typeface="Aptos"/>
              </a:rPr>
              <a:t>Priority: smallholders served through FPOs and drone operators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Mustard: &gt;6 Mha, ~27% of India’s oilseed output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Priority crop of NMEO-OS to cut edible-oil imports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Late or blanket spraying: yield loss, cost, chemical load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Drone access is expanding (Kisan Drones, Namo Drone Didi)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3766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1CB8B2"/>
                </a:solidFill>
                <a:latin typeface="Aptos"/>
              </a:rPr>
              <a:t>Now: AI can turn routine drone flights into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0D1B1F"/>
                </a:solidFill>
                <a:latin typeface="Aptos"/>
              </a:rPr>
              <a:t>03  PROPOSED AI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1" dirty="0">
                <a:solidFill>
                  <a:srgbClr val="33474D"/>
                </a:solidFill>
                <a:latin typeface="Aptos"/>
              </a:rPr>
              <a:t>One drone flight → fused sensor features → plot-wise severity and spray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143000" cy="36576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Your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0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Drone carries RGB, multispectral, thermal, hyperspectral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Plot or grid-wise severity in 6 classes (Healthy–Very high)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Output: geo-referenced map with Skip / Spray / Too-late zones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1" i="0" dirty="0">
                <a:solidFill>
                  <a:srgbClr val="E0E8E9"/>
                </a:solidFill>
                <a:latin typeface="Aptos"/>
              </a:rPr>
              <a:t>Workflow:</a:t>
            </a:r>
            <a:r>
              <a:rPr lang="en-US" sz="1250" b="0" i="0" dirty="0">
                <a:solidFill>
                  <a:srgbClr val="E0E8E9"/>
                </a:solidFill>
                <a:latin typeface="Aptos"/>
              </a:rPr>
              <a:t> fly → pre-process → features → fuse → classify →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766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1CB8B2"/>
                </a:solidFill>
                <a:latin typeface="Aptos"/>
              </a:rPr>
              <a:t>User gets: one flight, one spray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7D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7DBE4B"/>
                </a:solidFill>
                <a:latin typeface="Aptos"/>
              </a:rPr>
              <a:t>AI, data &amp;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10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1" i="0" dirty="0">
                <a:solidFill>
                  <a:srgbClr val="E0E8E9"/>
                </a:solidFill>
                <a:latin typeface="Aptos"/>
              </a:rPr>
              <a:t>Phase 1:</a:t>
            </a:r>
            <a:r>
              <a:rPr lang="en-US" sz="1250" b="0" i="0" dirty="0">
                <a:solidFill>
                  <a:srgbClr val="E0E8E9"/>
                </a:solidFill>
                <a:latin typeface="Aptos"/>
              </a:rPr>
              <a:t> disease-specific features (FDR, JM, ReliefF, Boruta)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1" i="0" dirty="0">
                <a:solidFill>
                  <a:srgbClr val="E0E8E9"/>
                </a:solidFill>
                <a:latin typeface="Aptos"/>
              </a:rPr>
              <a:t>Phase 2:</a:t>
            </a:r>
            <a:r>
              <a:rPr lang="en-US" sz="1250" b="0" i="0" dirty="0">
                <a:solidFill>
                  <a:srgbClr val="E0E8E9"/>
                </a:solidFill>
                <a:latin typeface="Aptos"/>
              </a:rPr>
              <a:t> per-sensor VIF/SPA + SFFS → RF, SVM, KNN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1" i="0" dirty="0">
                <a:solidFill>
                  <a:srgbClr val="E0E8E9"/>
                </a:solidFill>
                <a:latin typeface="Aptos"/>
              </a:rPr>
              <a:t>Phase 3:</a:t>
            </a:r>
            <a:r>
              <a:rPr lang="en-US" sz="1250" b="0" i="0" dirty="0">
                <a:solidFill>
                  <a:srgbClr val="E0E8E9"/>
                </a:solidFill>
                <a:latin typeface="Aptos"/>
              </a:rPr>
              <a:t> feature-level fusion of all sensors + SFFS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Nested plot-grouped CV; SHAP explains predictions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1" i="0" dirty="0">
                <a:solidFill>
                  <a:srgbClr val="E0E8E9"/>
                </a:solidFill>
                <a:latin typeface="Aptos"/>
              </a:rPr>
              <a:t>Data:</a:t>
            </a:r>
            <a:r>
              <a:rPr lang="en-US" sz="1250" b="0" i="0" dirty="0">
                <a:solidFill>
                  <a:srgbClr val="E0E8E9"/>
                </a:solidFill>
                <a:latin typeface="Aptos"/>
              </a:rPr>
              <a:t> UAV imagery + field Disease Index (0–6 scale)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766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7DBE4B"/>
                </a:solidFill>
                <a:latin typeface="Aptos"/>
              </a:rPr>
              <a:t>AI fits: high-dimensional, non-linear multi-sensor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Innovation &amp; interoperability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510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First multimodal fusion framework for mustard white rust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Interpretable features linked to plant physiology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Finds the cheapest sensor set that is accurate enough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Open Python pipeline; GeoTIFF / GeoPackage outputs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Can run as a GI-AI4AFS service (API)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3766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1CB8B2"/>
                </a:solidFill>
                <a:latin typeface="Aptos"/>
              </a:rPr>
              <a:t>Responsible AI: open code, explainable output, data consent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0D1B1F"/>
                </a:solidFill>
                <a:latin typeface="Aptos"/>
              </a:rPr>
              <a:t>04  IMPACT, FEASIBILITY &amp; HACKATHON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1" dirty="0">
                <a:solidFill>
                  <a:srgbClr val="33474D"/>
                </a:solidFill>
                <a:latin typeface="Aptos"/>
              </a:rPr>
              <a:t>From a 48-plot field trial at IARI to a working severity-mapping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143000" cy="36576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Potential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Targeted spraying above the economic threshold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Expected 15–30% less fungicide (to be validated)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Action within the spray window protects yield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Less chemical load on soil and water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District maps for surveillance, insurance, NMEO-OS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766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1CB8B2"/>
                </a:solidFill>
                <a:latin typeface="Aptos"/>
              </a:rPr>
              <a:t>Measure: accuracy, fungicide saved, yield protected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7D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7DBE4B"/>
                </a:solidFill>
                <a:latin typeface="Aptos"/>
              </a:rPr>
              <a:t>Feasibility &amp;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IARI trial: 48 plots (12 healthy, 36 inoculated), 4 sensors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Python pipeline built and tested end to end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3-tier validation: IARI → IIRMR Bharatpur → farmers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Retrain with local labels for new regions or diseases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1" i="0" dirty="0">
                <a:solidFill>
                  <a:srgbClr val="E0E8E9"/>
                </a:solidFill>
                <a:latin typeface="Aptos"/>
              </a:rPr>
              <a:t>Partners:</a:t>
            </a:r>
            <a:r>
              <a:rPr lang="en-US" sz="1250" b="0" i="0" dirty="0">
                <a:solidFill>
                  <a:srgbClr val="E0E8E9"/>
                </a:solidFill>
                <a:latin typeface="Aptos"/>
              </a:rPr>
              <a:t> ICAR, KVKs, FPOs, drone service providers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766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7DBE4B"/>
                </a:solidFill>
                <a:latin typeface="Aptos"/>
              </a:rPr>
              <a:t>Key assumption: canopy signals track severity across sites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What you will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Prototype: drone imagery in → severity + spray map out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Benchmark: single-sensor vs multi-sensor fusion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Simple map viewer for FPOs and drone operators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1" i="0" dirty="0">
                <a:solidFill>
                  <a:srgbClr val="E0E8E9"/>
                </a:solidFill>
                <a:latin typeface="Aptos"/>
              </a:rPr>
              <a:t>Mentoring needs:</a:t>
            </a:r>
            <a:r>
              <a:rPr lang="en-US" sz="1250" b="0" i="0" dirty="0">
                <a:solidFill>
                  <a:srgbClr val="E0E8E9"/>
                </a:solidFill>
                <a:latin typeface="Aptos"/>
              </a:rPr>
              <a:t> cloud/API deployment, GI-AI4AFS link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User feedback from FPOs and extension 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3766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1CB8B2"/>
                </a:solidFill>
                <a:latin typeface="Aptos"/>
              </a:rPr>
              <a:t>Ask: compute support and FPO / drone-operator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0D1B1F"/>
                </a:solidFill>
                <a:latin typeface="Aptos"/>
              </a:rPr>
              <a:t>A1  METHODOLOGY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1" dirty="0">
                <a:solidFill>
                  <a:srgbClr val="33474D"/>
                </a:solidFill>
                <a:latin typeface="Aptos"/>
              </a:rPr>
              <a:t>Three phases; validated with nested, plot-grouped cross-validation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143000" cy="36576"/>
          </a:xfrm>
          <a:prstGeom prst="rect">
            <a:avLst/>
          </a:prstGeom>
          <a:solidFill>
            <a:srgbClr val="1CB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Phase 1 · Characterise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1" i="0" dirty="0">
                <a:solidFill>
                  <a:srgbClr val="E0E8E9"/>
                </a:solidFill>
                <a:latin typeface="Aptos"/>
              </a:rPr>
              <a:t>RGB:</a:t>
            </a:r>
            <a:r>
              <a:rPr lang="en-US" sz="1250" b="0" i="0" dirty="0">
                <a:solidFill>
                  <a:srgbClr val="E0E8E9"/>
                </a:solidFill>
                <a:latin typeface="Aptos"/>
              </a:rPr>
              <a:t> GLCM texture; </a:t>
            </a:r>
            <a:r>
              <a:rPr lang="en-US" sz="1250" b="1" i="0" dirty="0">
                <a:solidFill>
                  <a:srgbClr val="E0E8E9"/>
                </a:solidFill>
                <a:latin typeface="Aptos"/>
              </a:rPr>
              <a:t>MS/HS:</a:t>
            </a:r>
            <a:r>
              <a:rPr lang="en-US" sz="1250" b="0" i="0" dirty="0">
                <a:solidFill>
                  <a:srgbClr val="E0E8E9"/>
                </a:solidFill>
                <a:latin typeface="Aptos"/>
              </a:rPr>
              <a:t> VIs, derivatives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1" i="0" dirty="0">
                <a:solidFill>
                  <a:srgbClr val="E0E8E9"/>
                </a:solidFill>
                <a:latin typeface="Aptos"/>
              </a:rPr>
              <a:t>HS:</a:t>
            </a:r>
            <a:r>
              <a:rPr lang="en-US" sz="1250" b="0" i="0" dirty="0">
                <a:solidFill>
                  <a:srgbClr val="E0E8E9"/>
                </a:solidFill>
                <a:latin typeface="Aptos"/>
              </a:rPr>
              <a:t> continuum removal; </a:t>
            </a:r>
            <a:r>
              <a:rPr lang="en-US" sz="1250" b="1" i="0" dirty="0">
                <a:solidFill>
                  <a:srgbClr val="E0E8E9"/>
                </a:solidFill>
                <a:latin typeface="Aptos"/>
              </a:rPr>
              <a:t>thermal:</a:t>
            </a:r>
            <a:r>
              <a:rPr lang="en-US" sz="1250" b="0" i="0" dirty="0">
                <a:solidFill>
                  <a:srgbClr val="E0E8E9"/>
                </a:solidFill>
                <a:latin typeface="Aptos"/>
              </a:rPr>
              <a:t> CTD, CTR, NRCT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ANOVA / Kruskal–Wallis + FDR correction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JM distance; HS bands kept if &gt; 1.94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ReliefF, RF importance, Boruta → consensus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766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1CB8B2"/>
                </a:solidFill>
                <a:latin typeface="Aptos"/>
              </a:rPr>
              <a:t>Output: disease-specific features (DSFs) per sensor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7D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7DBE4B"/>
                </a:solidFill>
                <a:latin typeface="Aptos"/>
              </a:rPr>
              <a:t>Phase 2 · Single sensor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Remove redundancy: VIF &lt; 10; SPA for raw HS bands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SFFS per classifier → optimal feature combination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RF, SVM, KNN → 6 severity classes</a:t>
            </a:r>
          </a:p>
          <a:p>
            <a:pPr marL="171450" indent="-171450">
              <a:spcAft>
                <a:spcPts val="700"/>
              </a:spcAft>
              <a:buClr>
                <a:srgbClr val="7DBE4B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Metrics: OA, macro-F1, Cohen’s kappa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766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7DBE4B"/>
                </a:solidFill>
                <a:latin typeface="Aptos"/>
              </a:rPr>
              <a:t>Output: best stand-alone sensor (baseline)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27632"/>
            <a:ext cx="3520440" cy="4343400"/>
          </a:xfrm>
          <a:prstGeom prst="roundRect">
            <a:avLst/>
          </a:prstGeom>
          <a:solidFill>
            <a:srgbClr val="0D1B1F"/>
          </a:solidFill>
          <a:ln w="13970">
            <a:solidFill>
              <a:srgbClr val="1CB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b="1" i="0" dirty="0">
                <a:solidFill>
                  <a:srgbClr val="1CB8B2"/>
                </a:solidFill>
                <a:latin typeface="Aptos"/>
              </a:rPr>
              <a:t>Phase 3 ·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Concatenate DSFs of all sensors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Pooled VIF → normalise → SFFS per classifier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Fusion gain vs best single sensor (McNemar test)</a:t>
            </a:r>
          </a:p>
          <a:p>
            <a:pPr marL="171450" indent="-171450">
              <a:spcAft>
                <a:spcPts val="700"/>
              </a:spcAft>
              <a:buClr>
                <a:srgbClr val="1CB8B2"/>
              </a:buClr>
              <a:buFont typeface="Arial"/>
              <a:buChar char="•"/>
            </a:pPr>
            <a:r>
              <a:rPr lang="en-US" sz="1250" b="0" i="0" dirty="0">
                <a:solidFill>
                  <a:srgbClr val="E0E8E9"/>
                </a:solidFill>
                <a:latin typeface="Aptos"/>
              </a:rPr>
              <a:t>SHAP: contribution of each sensor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3766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dirty="0">
                <a:solidFill>
                  <a:srgbClr val="1CB8B2"/>
                </a:solidFill>
                <a:latin typeface="Aptos"/>
              </a:rPr>
              <a:t>Output: severity map → spray zones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467</Words>
  <Application>Microsoft Office PowerPoint</Application>
  <PresentationFormat>Widescreen</PresentationFormat>
  <Paragraphs>55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chaliganti</dc:creator>
  <cp:lastModifiedBy>A panda</cp:lastModifiedBy>
  <cp:revision>1</cp:revision>
  <dcterms:created xsi:type="dcterms:W3CDTF">2026-10-03T15:49:48Z</dcterms:created>
  <dcterms:modified xsi:type="dcterms:W3CDTF">2026-10-06T13:00:59Z</dcterms:modified>
</cp:coreProperties>
</file>