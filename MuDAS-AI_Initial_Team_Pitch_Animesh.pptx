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62" r:id="rId5"/>
    <p:sldId id="259" r:id="rId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60"/>
    <p:restoredTop sz="93617"/>
  </p:normalViewPr>
  <p:slideViewPr>
    <p:cSldViewPr snapToGrid="0">
      <p:cViewPr varScale="1">
        <p:scale>
          <a:sx n="77" d="100"/>
          <a:sy n="77" d="100"/>
        </p:scale>
        <p:origin x="4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9ECB0-08A3-6B49-9192-DE4C9E8A836A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F6DD5-2610-2547-8B32-C0E8B3B972B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0762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6DD5-2610-2547-8B32-C0E8B3B972B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7600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92FF-D310-646F-CBEA-B87EDA999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48133-19A2-4975-3ED8-4AAC28771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4E9B4-0778-EDE3-D5CC-79CB01F0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83D6-3516-07C0-0431-2460CC14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056F0-7EC6-9AF5-1180-8068E8B8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445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86DC-6082-7863-3E50-92FAA794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95939-3D49-9D89-8C8E-E41F3C6B6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35F4-91C1-A1A0-5ED3-75125F4A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0D2D-2EC0-1E42-CCBF-352E46AA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1D01-AC41-DC34-0568-E9AD991A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951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CBF6-CD82-CFD2-E1AD-F99BACCD1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E4F5C-6848-F7FD-0555-8383565A6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94205-DCC1-9353-A2A9-A8B74115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92E1-355D-0A4C-D8A3-76A33F1B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E7041-7C41-8EC3-5F7A-7F836C5E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906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607F-166A-B49C-AF8B-5B0043B6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BC06-7F16-B0CF-5BA2-3BBE2BC5B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3F72E-17A8-990D-2851-CA22217AF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E2016-ADB1-A5BB-2FA5-04FF9FBF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3B7A4-412D-AE0C-D29E-319BC75BF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B5A36-335F-9EA3-EF13-2A299525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5562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1174-2BED-A143-0866-0D05013E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9778C-BF7F-D676-2E32-31325B1B2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4183D-10A2-26A2-1293-EFEB7BF95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BE57E-6769-50AC-488A-43E297343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E97E10-7F0E-5345-5BE0-F7409A1F5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F7CF39-7637-EEAB-5BB4-5113D7AC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46FED-3725-A3E9-6707-577E4EA3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8FB1F0-0482-3EC6-2DBC-DBB2569F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901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3944-5A77-32E6-18AE-904745619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39C81-68BD-30D7-A30D-AFBF44FD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EC1C6-B88B-0B12-AB09-0D786DBD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35D7B-AC52-AE97-8576-2D199CEF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138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78081-8255-2ADF-D9F6-B8D59DCB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72ECF-36F7-F023-F982-B587755F6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FD72E-3975-BE6E-7C88-6023F128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916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DD4F-D1B6-5D43-B05A-F7571E1B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A15EB-5B7A-DD3F-6855-8741D9707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5D399-F3E2-42E1-6A08-958CA6FE2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A5931-7A66-1BE5-DCDD-37417863A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3165B-BA8D-20F7-38F4-6A6089EE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BEEE-5979-4FA7-3689-4D3FCEF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550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C2ACB-2B6F-8596-8E01-8A2F0C51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69DEE-9F69-CC4B-2927-EDEA434F0F6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C3C1D-2B1C-7D11-3590-01C610E64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40100-3F20-6EE2-12B8-DCBFED40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B58E9-BCD5-B156-750D-73B91AFE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700AC-B3D4-F1A4-8A4A-75A6B094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232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151B-1897-8D67-0ED4-B6896083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50B93-F844-4AD7-980B-C6CC9B850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6521C-163B-D9F5-9841-1274A8AC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6825E-8A56-6B20-B2FD-C4B119CA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DBEFA-A658-9212-059B-C8AD551E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725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A3ED3-8324-B7DF-79CF-AE4F51364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58DF6-8A02-C9A3-1453-7103261D1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7BBB-B035-5BEB-3CC2-30013418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0C6A8-5CDF-A9EA-BBD4-7676B566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D669-C945-6B82-B1B4-6AA6FFD4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3910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72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D2F347-172C-10EF-520C-FD89B85F3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EEAC4-75B0-4452-6133-59020CCD1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EA27E-F952-E38E-C0AC-D2F71866B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1A187-2A9E-6042-BB50-9BD847E14183}" type="datetimeFigureOut">
              <a:rPr lang="en-DE" smtClean="0"/>
              <a:t>10/08/2026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FCA67-6A06-CB6F-AF42-56D2FC1CC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FB2F2-A3D1-B2CF-1A5E-A00CE41E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051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F77C0-9256-72AB-7F66-AF75438CFC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0F3C9B-9304-AEB0-B8DD-A07748C19B80}"/>
              </a:ext>
            </a:extLst>
          </p:cNvPr>
          <p:cNvSpPr/>
          <p:nvPr/>
        </p:nvSpPr>
        <p:spPr>
          <a:xfrm>
            <a:off x="870645" y="2782308"/>
            <a:ext cx="7535935" cy="2084660"/>
          </a:xfrm>
          <a:prstGeom prst="roundRect">
            <a:avLst/>
          </a:prstGeom>
          <a:solidFill>
            <a:srgbClr val="000000"/>
          </a:solidFill>
          <a:ln w="1651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EBBEE-5ABA-61F4-7814-AD603B3CDA5A}"/>
              </a:ext>
            </a:extLst>
          </p:cNvPr>
          <p:cNvSpPr txBox="1"/>
          <p:nvPr/>
        </p:nvSpPr>
        <p:spPr>
          <a:xfrm>
            <a:off x="932688" y="2900000"/>
            <a:ext cx="73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CB8B2"/>
                </a:solidFill>
                <a:latin typeface="Aptos"/>
              </a:rPr>
              <a:t>Team: MuDAS-AI</a:t>
            </a:r>
          </a:p>
          <a:p>
            <a:pPr algn="l"/>
            <a:r>
              <a:rPr lang="en-US" sz="1400" b="0" i="1" dirty="0">
                <a:solidFill>
                  <a:srgbClr val="E0E8E9"/>
                </a:solidFill>
                <a:latin typeface="Aptos"/>
              </a:rPr>
              <a:t>Multimodal Disease Assessment using Artificial 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AAF01F-5A5D-A83D-CFC1-1B0266C48E27}"/>
              </a:ext>
            </a:extLst>
          </p:cNvPr>
          <p:cNvSpPr txBox="1"/>
          <p:nvPr/>
        </p:nvSpPr>
        <p:spPr>
          <a:xfrm>
            <a:off x="932688" y="3758973"/>
            <a:ext cx="730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E0E8E9"/>
                </a:solidFill>
                <a:latin typeface="Aptos"/>
              </a:rPr>
              <a:t>Thematic Area: </a:t>
            </a:r>
            <a:r>
              <a:rPr lang="en-US" sz="1400" b="1" i="0" dirty="0">
                <a:solidFill>
                  <a:srgbClr val="E0E8E9"/>
                </a:solidFill>
                <a:latin typeface="Aptos"/>
              </a:rPr>
              <a:t>Crop Intelligence and Decision Support</a:t>
            </a:r>
          </a:p>
          <a:p>
            <a:pPr algn="l"/>
            <a:endParaRPr lang="en-US" sz="1400" b="1" i="0" dirty="0">
              <a:solidFill>
                <a:srgbClr val="E0E8E9"/>
              </a:solidFill>
              <a:latin typeface="Aptos"/>
            </a:endParaRPr>
          </a:p>
          <a:p>
            <a:r>
              <a:rPr lang="en-US" sz="1400" b="0" i="0" dirty="0">
                <a:solidFill>
                  <a:srgbClr val="E0E8E9"/>
                </a:solidFill>
                <a:latin typeface="Aptos"/>
              </a:rPr>
              <a:t>Presenter: Animesh Panda (ICAR-IARI)</a:t>
            </a:r>
          </a:p>
        </p:txBody>
      </p:sp>
    </p:spTree>
    <p:extLst>
      <p:ext uri="{BB962C8B-B14F-4D97-AF65-F5344CB8AC3E}">
        <p14:creationId xmlns:p14="http://schemas.microsoft.com/office/powerpoint/2010/main" val="1210940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63240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Mustard white rust causes 20–60% yield loss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Pustules form on the leaf underside, hidden from above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Visible signs (chlorosis, staghead) appear after the spray window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Manual scouting is slow, subjective and not scalable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UAV studies use single sensors; no multimodal fusion exists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7DBE4B"/>
                </a:solidFill>
                <a:latin typeface="Aptos"/>
              </a:rPr>
              <a:t>Target user / beneficiary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063240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Small and marginal mustard farmers (1–2 ha)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Rajasthan, MP, UP, Haryana, Gujarat, West Bengal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Reached via drone service providers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and FPOs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Extension: KVKs and state agriculture departments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Unmet need: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when and where to spray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06324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Mustard: &gt;6 Mha, ~27% of India’s oilseed output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Priority crop of NMEO-OS to cut edible-oil imports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Late or blanket spraying: yield loss, cost, chemical load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Drone access is expanding (Kisan Drones, Namo Drone Didi)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2C061-C7A6-C58F-F135-F634D73CD56D}"/>
              </a:ext>
            </a:extLst>
          </p:cNvPr>
          <p:cNvSpPr txBox="1"/>
          <p:nvPr/>
        </p:nvSpPr>
        <p:spPr>
          <a:xfrm>
            <a:off x="552217" y="702302"/>
            <a:ext cx="10619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Farmers need to know when and where to spray before it is too 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Your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0854"/>
            <a:ext cx="306324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Using UAV based RGB, multispectral, thermal, hyperspectral data, AI maps every plot / grid into 6 severity classes.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Drone flight → one geo-referenced disease severity map: decide Skip / Spray / Too late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Workflow: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fly → pre-process </a:t>
            </a:r>
            <a:r>
              <a:rPr lang="en-US" sz="1400" dirty="0">
                <a:solidFill>
                  <a:schemeClr val="bg1"/>
                </a:solidFill>
              </a:rPr>
              <a:t>→  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feature selection → fusion → classify →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7DBE4B"/>
                </a:solidFill>
                <a:latin typeface="Aptos"/>
              </a:rPr>
              <a:t>AI, data &amp;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50976"/>
            <a:ext cx="3063240" cy="346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Why AI: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fuses weak, non-linear signals of 4 sensors that no single 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sensor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or human eye can detect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Phase 1: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disease-specific features (ANOVA, JM, Relief, Boruta, RFE etc.)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Phase 2: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per-sensor VIF/SPA + ML-SFFS → </a:t>
            </a:r>
            <a:r>
              <a:rPr lang="en-US" sz="1400" dirty="0">
                <a:solidFill>
                  <a:schemeClr val="bg1"/>
                </a:solidFill>
              </a:rPr>
              <a:t>OFCs →ML classification</a:t>
            </a:r>
            <a:endParaRPr lang="en-US" sz="1400" b="0" i="0" dirty="0">
              <a:solidFill>
                <a:schemeClr val="bg1"/>
              </a:solidFill>
              <a:latin typeface="Aptos"/>
            </a:endParaRP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Phase 3: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feature-level fusion of all sensors + ML-SFFS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Validated in three tiers, IARI research plots → IIRMR </a:t>
            </a:r>
            <a:r>
              <a:rPr lang="en-IN" sz="1400" dirty="0" err="1">
                <a:solidFill>
                  <a:schemeClr val="bg1"/>
                </a:solidFill>
              </a:rPr>
              <a:t>Bharatpur</a:t>
            </a:r>
            <a:r>
              <a:rPr lang="en-IN" sz="1400" dirty="0">
                <a:solidFill>
                  <a:schemeClr val="bg1"/>
                </a:solidFill>
              </a:rPr>
              <a:t>→ farmers' fields, so the model is accurate, transferable and usable.</a:t>
            </a:r>
            <a:endParaRPr lang="en-US" sz="1400" b="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Innovation &amp; interoperability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90732"/>
            <a:ext cx="306324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First multimodal fusion framework for mustard white rust and 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i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nterpretable features linked to plant physiology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Aptos"/>
              </a:rPr>
              <a:t>Interested in integrating with the GI-AI4AFS Open Reference Architecture</a:t>
            </a:r>
            <a:endParaRPr lang="en-US" sz="1400" b="0" i="0" dirty="0">
              <a:solidFill>
                <a:schemeClr val="bg1"/>
              </a:solidFill>
              <a:latin typeface="Aptos"/>
            </a:endParaRP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0" i="0" dirty="0">
                <a:solidFill>
                  <a:schemeClr val="bg1"/>
                </a:solidFill>
                <a:latin typeface="Aptos"/>
              </a:rPr>
              <a:t>Finds the best model and the cheapest sensor set that is accurate enough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FEA51-F0A9-A359-4FFE-36FD4770F7C7}"/>
              </a:ext>
            </a:extLst>
          </p:cNvPr>
          <p:cNvSpPr txBox="1"/>
          <p:nvPr/>
        </p:nvSpPr>
        <p:spPr>
          <a:xfrm>
            <a:off x="568021" y="702302"/>
            <a:ext cx="10804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One drone flight, and AI turns it into a disease severity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MuDAS-AI · Conceptual Framework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r>
              <a:rPr lang="en-US" sz="1800" dirty="0">
                <a:solidFill>
                  <a:srgbClr val="334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rone flight → AI → a white rust severity 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36576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1737360" cy="3931920"/>
          </a:xfrm>
          <a:prstGeom prst="roundRect">
            <a:avLst>
              <a:gd name="adj" fmla="val 7368"/>
            </a:avLst>
          </a:prstGeom>
          <a:solidFill>
            <a:srgbClr val="F4F9F9"/>
          </a:solidFill>
          <a:ln/>
        </p:spPr>
      </p:sp>
      <p:sp>
        <p:nvSpPr>
          <p:cNvPr id="6" name="Shape 4"/>
          <p:cNvSpPr/>
          <p:nvPr/>
        </p:nvSpPr>
        <p:spPr>
          <a:xfrm>
            <a:off x="2578608" y="1417320"/>
            <a:ext cx="2148840" cy="3931920"/>
          </a:xfrm>
          <a:prstGeom prst="roundRect">
            <a:avLst>
              <a:gd name="adj" fmla="val 5957"/>
            </a:avLst>
          </a:prstGeom>
          <a:solidFill>
            <a:srgbClr val="F4F9F9"/>
          </a:solidFill>
          <a:ln/>
        </p:spPr>
      </p:sp>
      <p:sp>
        <p:nvSpPr>
          <p:cNvPr id="7" name="Shape 5"/>
          <p:cNvSpPr/>
          <p:nvPr/>
        </p:nvSpPr>
        <p:spPr>
          <a:xfrm>
            <a:off x="5111496" y="1417320"/>
            <a:ext cx="4206240" cy="3931920"/>
          </a:xfrm>
          <a:prstGeom prst="roundRect">
            <a:avLst>
              <a:gd name="adj" fmla="val 3256"/>
            </a:avLst>
          </a:prstGeom>
          <a:solidFill>
            <a:srgbClr val="F4F9F9"/>
          </a:solidFill>
          <a:ln/>
        </p:spPr>
      </p:sp>
      <p:sp>
        <p:nvSpPr>
          <p:cNvPr id="8" name="Shape 6"/>
          <p:cNvSpPr/>
          <p:nvPr/>
        </p:nvSpPr>
        <p:spPr>
          <a:xfrm>
            <a:off x="9701784" y="1417320"/>
            <a:ext cx="2029968" cy="3931920"/>
          </a:xfrm>
          <a:prstGeom prst="roundRect">
            <a:avLst>
              <a:gd name="adj" fmla="val 6306"/>
            </a:avLst>
          </a:prstGeom>
          <a:solidFill>
            <a:srgbClr val="F4F9F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057400"/>
            <a:ext cx="548640" cy="960120"/>
          </a:xfrm>
          <a:custGeom>
            <a:avLst/>
            <a:gdLst/>
            <a:ahLst/>
            <a:cxnLst/>
            <a:rect l="l" t="t" r="r" b="b"/>
            <a:pathLst>
              <a:path w="548640" h="960120">
                <a:moveTo>
                  <a:pt x="274320" y="0"/>
                </a:moveTo>
                <a:cubicBezTo>
                  <a:pt x="576072" y="144018"/>
                  <a:pt x="548640" y="595274"/>
                  <a:pt x="274320" y="960120"/>
                </a:cubicBezTo>
                <a:cubicBezTo>
                  <a:pt x="0" y="595274"/>
                  <a:pt x="-27432" y="144018"/>
                  <a:pt x="274320" y="0"/>
                </a:cubicBezTo>
                <a:close/>
              </a:path>
            </a:pathLst>
          </a:custGeom>
          <a:solidFill>
            <a:srgbClr val="5FA83A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103120"/>
            <a:ext cx="914" cy="868680"/>
          </a:xfrm>
          <a:prstGeom prst="line">
            <a:avLst/>
          </a:prstGeom>
          <a:noFill/>
          <a:ln w="15875">
            <a:solidFill>
              <a:srgbClr val="3D7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258568"/>
            <a:ext cx="155448" cy="100584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478024"/>
            <a:ext cx="182880" cy="91440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0120" y="2258568"/>
            <a:ext cx="155448" cy="100584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60120" y="2478024"/>
            <a:ext cx="182880" cy="91440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441448"/>
            <a:ext cx="100584" cy="100584"/>
          </a:xfrm>
          <a:prstGeom prst="ellipse">
            <a:avLst/>
          </a:prstGeom>
          <a:solidFill>
            <a:srgbClr val="D4DC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" y="2660904"/>
            <a:ext cx="82296" cy="82296"/>
          </a:xfrm>
          <a:prstGeom prst="ellipse">
            <a:avLst/>
          </a:prstGeom>
          <a:solidFill>
            <a:srgbClr val="D4DC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417320" y="2057400"/>
            <a:ext cx="548640" cy="960120"/>
          </a:xfrm>
          <a:custGeom>
            <a:avLst/>
            <a:gdLst/>
            <a:ahLst/>
            <a:cxnLst/>
            <a:rect l="l" t="t" r="r" b="b"/>
            <a:pathLst>
              <a:path w="548640" h="960120">
                <a:moveTo>
                  <a:pt x="274320" y="0"/>
                </a:moveTo>
                <a:cubicBezTo>
                  <a:pt x="576072" y="144018"/>
                  <a:pt x="548640" y="595274"/>
                  <a:pt x="274320" y="960120"/>
                </a:cubicBezTo>
                <a:cubicBezTo>
                  <a:pt x="0" y="595274"/>
                  <a:pt x="-27432" y="144018"/>
                  <a:pt x="274320" y="0"/>
                </a:cubicBezTo>
                <a:close/>
              </a:path>
            </a:pathLst>
          </a:custGeom>
          <a:solidFill>
            <a:srgbClr val="8FBF6A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1640" y="2103120"/>
            <a:ext cx="914" cy="868680"/>
          </a:xfrm>
          <a:prstGeom prst="line">
            <a:avLst/>
          </a:prstGeom>
          <a:noFill/>
          <a:ln w="15875">
            <a:solidFill>
              <a:srgbClr val="6E9C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2340864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2423160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48" y="2514600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764792" y="2313432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46504" y="2423160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801368" y="2523744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572768" y="2642616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755648" y="2660904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664208" y="2788920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627632" y="2249424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700784" y="2560320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3063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3063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Underside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33375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Pustules </a:t>
            </a:r>
            <a:r>
              <a:rPr lang="en-US" sz="11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under the leaf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" y="3968496"/>
            <a:ext cx="384048" cy="384048"/>
          </a:xfrm>
          <a:prstGeom prst="ellipse">
            <a:avLst/>
          </a:prstGeom>
          <a:ln w="31750">
            <a:solidFill>
              <a:srgbClr val="E0A5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4041648"/>
            <a:ext cx="914" cy="118872"/>
          </a:xfrm>
          <a:prstGeom prst="line">
            <a:avLst/>
          </a:prstGeom>
          <a:noFill/>
          <a:ln w="31750">
            <a:solidFill>
              <a:srgbClr val="E0A5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160520"/>
            <a:ext cx="91440" cy="54864"/>
          </a:xfrm>
          <a:prstGeom prst="line">
            <a:avLst/>
          </a:prstGeom>
          <a:noFill/>
          <a:ln w="31750">
            <a:solidFill>
              <a:srgbClr val="E0A5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15568" y="3931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Spotted </a:t>
            </a:r>
            <a:r>
              <a:rPr lang="en-US" sz="11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late</a:t>
            </a:r>
            <a:r>
              <a:rPr lang="en-US" sz="110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spray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81888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CB8B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48188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&amp; when to spray?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84348" y="2167128"/>
            <a:ext cx="1737360" cy="457200"/>
          </a:xfrm>
          <a:prstGeom prst="triangle">
            <a:avLst/>
          </a:prstGeom>
          <a:solidFill>
            <a:srgbClr val="9FD8D3">
              <a:alpha val="5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23844" y="2011680"/>
            <a:ext cx="219456" cy="64008"/>
          </a:xfrm>
          <a:prstGeom prst="line">
            <a:avLst/>
          </a:prstGeom>
          <a:noFill/>
          <a:ln w="31750">
            <a:solidFill>
              <a:srgbClr val="1F2D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762756" y="2011680"/>
            <a:ext cx="219456" cy="64008"/>
          </a:xfrm>
          <a:prstGeom prst="line">
            <a:avLst/>
          </a:prstGeom>
          <a:noFill/>
          <a:ln w="31750">
            <a:solidFill>
              <a:srgbClr val="1F2D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05556" y="1956816"/>
            <a:ext cx="27432" cy="7315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43" name="Shape 41"/>
          <p:cNvSpPr/>
          <p:nvPr/>
        </p:nvSpPr>
        <p:spPr>
          <a:xfrm>
            <a:off x="3973068" y="1956816"/>
            <a:ext cx="27432" cy="7315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44" name="Shape 42"/>
          <p:cNvSpPr/>
          <p:nvPr/>
        </p:nvSpPr>
        <p:spPr>
          <a:xfrm>
            <a:off x="3140964" y="1933956"/>
            <a:ext cx="365760" cy="457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45" name="Shape 43"/>
          <p:cNvSpPr/>
          <p:nvPr/>
        </p:nvSpPr>
        <p:spPr>
          <a:xfrm>
            <a:off x="3799332" y="1933956"/>
            <a:ext cx="365760" cy="457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46" name="Shape 44"/>
          <p:cNvSpPr/>
          <p:nvPr/>
        </p:nvSpPr>
        <p:spPr>
          <a:xfrm>
            <a:off x="3479292" y="2029968"/>
            <a:ext cx="347472" cy="109728"/>
          </a:xfrm>
          <a:prstGeom prst="roundRect">
            <a:avLst>
              <a:gd name="adj" fmla="val 33333"/>
            </a:avLst>
          </a:prstGeom>
          <a:solidFill>
            <a:srgbClr val="1F2D30"/>
          </a:solidFill>
          <a:ln/>
        </p:spPr>
      </p:sp>
      <p:sp>
        <p:nvSpPr>
          <p:cNvPr id="47" name="Shape 45"/>
          <p:cNvSpPr/>
          <p:nvPr/>
        </p:nvSpPr>
        <p:spPr>
          <a:xfrm>
            <a:off x="3607308" y="2130552"/>
            <a:ext cx="91440" cy="91440"/>
          </a:xfrm>
          <a:prstGeom prst="ellipse">
            <a:avLst/>
          </a:prstGeom>
          <a:solidFill>
            <a:srgbClr val="1CB8B2"/>
          </a:solidFill>
          <a:ln w="19050">
            <a:solidFill>
              <a:srgbClr val="1F2D30"/>
            </a:solidFill>
            <a:prstDash val="solid"/>
          </a:ln>
        </p:spPr>
      </p:sp>
      <p:pic>
        <p:nvPicPr>
          <p:cNvPr id="48" name="Image 0" descr="RGB drone image of the mustard trial p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2624328"/>
            <a:ext cx="914400" cy="914400"/>
          </a:xfrm>
          <a:prstGeom prst="rect">
            <a:avLst/>
          </a:prstGeom>
        </p:spPr>
      </p:pic>
      <p:sp>
        <p:nvSpPr>
          <p:cNvPr id="49" name="Shape 46"/>
          <p:cNvSpPr/>
          <p:nvPr/>
        </p:nvSpPr>
        <p:spPr>
          <a:xfrm>
            <a:off x="2702052" y="3337560"/>
            <a:ext cx="914400" cy="201168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2702052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850" dirty="0"/>
          </a:p>
        </p:txBody>
      </p:sp>
      <p:pic>
        <p:nvPicPr>
          <p:cNvPr id="51" name="Image 1" descr="Multispectral drone image of the mustard trial plo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2624328"/>
            <a:ext cx="914400" cy="914400"/>
          </a:xfrm>
          <a:prstGeom prst="rect">
            <a:avLst/>
          </a:prstGeom>
        </p:spPr>
      </p:pic>
      <p:sp>
        <p:nvSpPr>
          <p:cNvPr id="52" name="Shape 48"/>
          <p:cNvSpPr/>
          <p:nvPr/>
        </p:nvSpPr>
        <p:spPr>
          <a:xfrm>
            <a:off x="3689604" y="3337560"/>
            <a:ext cx="914400" cy="201168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3689604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Multispectral</a:t>
            </a:r>
            <a:endParaRPr lang="en-US" sz="850" dirty="0"/>
          </a:p>
        </p:txBody>
      </p:sp>
      <p:pic>
        <p:nvPicPr>
          <p:cNvPr id="54" name="Image 2" descr="Hyperspectral drone image of the mustard trial plo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2052" y="3611880"/>
            <a:ext cx="914400" cy="914400"/>
          </a:xfrm>
          <a:prstGeom prst="rect">
            <a:avLst/>
          </a:prstGeom>
        </p:spPr>
      </p:pic>
      <p:sp>
        <p:nvSpPr>
          <p:cNvPr id="55" name="Shape 50"/>
          <p:cNvSpPr/>
          <p:nvPr/>
        </p:nvSpPr>
        <p:spPr>
          <a:xfrm>
            <a:off x="2702052" y="4325112"/>
            <a:ext cx="914400" cy="201168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2702052" y="4325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Hyperspectral</a:t>
            </a:r>
            <a:endParaRPr lang="en-US" sz="850" dirty="0"/>
          </a:p>
        </p:txBody>
      </p:sp>
      <p:pic>
        <p:nvPicPr>
          <p:cNvPr id="57" name="Image 3" descr="Thermal drone image of the mustard trial plo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604" y="3611880"/>
            <a:ext cx="914400" cy="914400"/>
          </a:xfrm>
          <a:prstGeom prst="rect">
            <a:avLst/>
          </a:prstGeom>
        </p:spPr>
      </p:pic>
      <p:sp>
        <p:nvSpPr>
          <p:cNvPr id="58" name="Shape 52"/>
          <p:cNvSpPr/>
          <p:nvPr/>
        </p:nvSpPr>
        <p:spPr>
          <a:xfrm>
            <a:off x="3689604" y="4325112"/>
            <a:ext cx="914400" cy="201168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3689604" y="4325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</a:t>
            </a:r>
            <a:endParaRPr lang="en-US" sz="850" dirty="0"/>
          </a:p>
        </p:txBody>
      </p:sp>
      <p:sp>
        <p:nvSpPr>
          <p:cNvPr id="60" name="Shape 54"/>
          <p:cNvSpPr/>
          <p:nvPr/>
        </p:nvSpPr>
        <p:spPr>
          <a:xfrm>
            <a:off x="2706624" y="4818888"/>
            <a:ext cx="1892808" cy="329184"/>
          </a:xfrm>
          <a:prstGeom prst="roundRect">
            <a:avLst>
              <a:gd name="adj" fmla="val 50000"/>
            </a:avLst>
          </a:prstGeom>
          <a:solidFill>
            <a:srgbClr val="E8F3DD"/>
          </a:solidFill>
          <a:ln w="12700">
            <a:solidFill>
              <a:srgbClr val="7DBE4B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2706624" y="4818888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Field DI scores (labels)</a:t>
            </a:r>
            <a:endParaRPr lang="en-US" sz="950" dirty="0"/>
          </a:p>
        </p:txBody>
      </p:sp>
      <p:sp>
        <p:nvSpPr>
          <p:cNvPr id="62" name="Shape 56"/>
          <p:cNvSpPr/>
          <p:nvPr/>
        </p:nvSpPr>
        <p:spPr>
          <a:xfrm>
            <a:off x="5239512" y="1947672"/>
            <a:ext cx="1243584" cy="23957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3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5239512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850" dirty="0"/>
          </a:p>
        </p:txBody>
      </p:sp>
      <p:sp>
        <p:nvSpPr>
          <p:cNvPr id="64" name="Text 58"/>
          <p:cNvSpPr txBox="1"/>
          <p:nvPr/>
        </p:nvSpPr>
        <p:spPr>
          <a:xfrm>
            <a:off x="5239512" y="22219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features</a:t>
            </a:r>
            <a:endParaRPr lang="en-US" sz="1000" dirty="0"/>
          </a:p>
        </p:txBody>
      </p:sp>
      <p:sp>
        <p:nvSpPr>
          <p:cNvPr id="65" name="Shape 59"/>
          <p:cNvSpPr/>
          <p:nvPr/>
        </p:nvSpPr>
        <p:spPr>
          <a:xfrm>
            <a:off x="6515100" y="3054096"/>
            <a:ext cx="91440" cy="182880"/>
          </a:xfrm>
          <a:prstGeom prst="chevron">
            <a:avLst/>
          </a:prstGeom>
          <a:solidFill>
            <a:srgbClr val="1CB8B2"/>
          </a:solidFill>
          <a:ln/>
        </p:spPr>
      </p:sp>
      <p:sp>
        <p:nvSpPr>
          <p:cNvPr id="66" name="Shape 60"/>
          <p:cNvSpPr/>
          <p:nvPr/>
        </p:nvSpPr>
        <p:spPr>
          <a:xfrm>
            <a:off x="6638544" y="1947672"/>
            <a:ext cx="1243584" cy="23957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3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6638544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850" dirty="0"/>
          </a:p>
        </p:txBody>
      </p:sp>
      <p:sp>
        <p:nvSpPr>
          <p:cNvPr id="68" name="Text 62"/>
          <p:cNvSpPr txBox="1"/>
          <p:nvPr/>
        </p:nvSpPr>
        <p:spPr>
          <a:xfrm>
            <a:off x="6638544" y="22219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per sensor</a:t>
            </a:r>
            <a:endParaRPr lang="en-US" sz="1000" dirty="0"/>
          </a:p>
        </p:txBody>
      </p:sp>
      <p:sp>
        <p:nvSpPr>
          <p:cNvPr id="69" name="Shape 63"/>
          <p:cNvSpPr/>
          <p:nvPr/>
        </p:nvSpPr>
        <p:spPr>
          <a:xfrm>
            <a:off x="7914132" y="3054096"/>
            <a:ext cx="91440" cy="182880"/>
          </a:xfrm>
          <a:prstGeom prst="chevron">
            <a:avLst/>
          </a:prstGeom>
          <a:solidFill>
            <a:srgbClr val="1CB8B2"/>
          </a:solidFill>
          <a:ln/>
        </p:spPr>
      </p:sp>
      <p:sp>
        <p:nvSpPr>
          <p:cNvPr id="70" name="Shape 64"/>
          <p:cNvSpPr/>
          <p:nvPr/>
        </p:nvSpPr>
        <p:spPr>
          <a:xfrm>
            <a:off x="8037576" y="1947672"/>
            <a:ext cx="1243584" cy="23957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3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8037576" y="203911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850" dirty="0"/>
          </a:p>
        </p:txBody>
      </p:sp>
      <p:sp>
        <p:nvSpPr>
          <p:cNvPr id="72" name="Text 66"/>
          <p:cNvSpPr txBox="1"/>
          <p:nvPr/>
        </p:nvSpPr>
        <p:spPr>
          <a:xfrm>
            <a:off x="8037576" y="22219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fusion</a:t>
            </a:r>
            <a:endParaRPr lang="en-US" sz="1000" dirty="0"/>
          </a:p>
        </p:txBody>
      </p:sp>
      <p:sp>
        <p:nvSpPr>
          <p:cNvPr id="73" name="Shape 67"/>
          <p:cNvSpPr/>
          <p:nvPr/>
        </p:nvSpPr>
        <p:spPr>
          <a:xfrm>
            <a:off x="5358384" y="2743200"/>
            <a:ext cx="68580" cy="685800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4" name="Shape 68"/>
          <p:cNvSpPr/>
          <p:nvPr/>
        </p:nvSpPr>
        <p:spPr>
          <a:xfrm>
            <a:off x="5463540" y="2807208"/>
            <a:ext cx="68580" cy="621792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5" name="Shape 69"/>
          <p:cNvSpPr/>
          <p:nvPr/>
        </p:nvSpPr>
        <p:spPr>
          <a:xfrm>
            <a:off x="5568696" y="2880360"/>
            <a:ext cx="68580" cy="548640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6" name="Shape 70"/>
          <p:cNvSpPr/>
          <p:nvPr/>
        </p:nvSpPr>
        <p:spPr>
          <a:xfrm>
            <a:off x="5673852" y="2971800"/>
            <a:ext cx="68580" cy="457200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7" name="Shape 71"/>
          <p:cNvSpPr/>
          <p:nvPr/>
        </p:nvSpPr>
        <p:spPr>
          <a:xfrm>
            <a:off x="5779008" y="3044952"/>
            <a:ext cx="68580" cy="384048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78" name="Shape 72"/>
          <p:cNvSpPr/>
          <p:nvPr/>
        </p:nvSpPr>
        <p:spPr>
          <a:xfrm>
            <a:off x="5884164" y="3154680"/>
            <a:ext cx="68580" cy="274320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79" name="Shape 73"/>
          <p:cNvSpPr/>
          <p:nvPr/>
        </p:nvSpPr>
        <p:spPr>
          <a:xfrm>
            <a:off x="5989320" y="3209544"/>
            <a:ext cx="68580" cy="21945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80" name="Shape 74"/>
          <p:cNvSpPr/>
          <p:nvPr/>
        </p:nvSpPr>
        <p:spPr>
          <a:xfrm>
            <a:off x="6094476" y="3255264"/>
            <a:ext cx="68580" cy="17373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81" name="Shape 75"/>
          <p:cNvSpPr/>
          <p:nvPr/>
        </p:nvSpPr>
        <p:spPr>
          <a:xfrm>
            <a:off x="6199632" y="3300984"/>
            <a:ext cx="68580" cy="12801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82" name="Shape 76"/>
          <p:cNvSpPr/>
          <p:nvPr/>
        </p:nvSpPr>
        <p:spPr>
          <a:xfrm>
            <a:off x="6304788" y="3337560"/>
            <a:ext cx="68580" cy="91440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83" name="Shape 77"/>
          <p:cNvSpPr/>
          <p:nvPr/>
        </p:nvSpPr>
        <p:spPr>
          <a:xfrm>
            <a:off x="5312664" y="3429000"/>
            <a:ext cx="1097280" cy="914"/>
          </a:xfrm>
          <a:prstGeom prst="line">
            <a:avLst/>
          </a:prstGeom>
          <a:noFill/>
          <a:ln w="12700">
            <a:solidFill>
              <a:srgbClr val="0D1B1F"/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>
            <a:off x="5312664" y="3063240"/>
            <a:ext cx="1097280" cy="914"/>
          </a:xfrm>
          <a:prstGeom prst="line">
            <a:avLst/>
          </a:prstGeom>
          <a:noFill/>
          <a:ln w="15875">
            <a:solidFill>
              <a:srgbClr val="E0A526"/>
            </a:solidFill>
            <a:prstDash val="dash"/>
          </a:ln>
        </p:spPr>
      </p:sp>
      <p:sp>
        <p:nvSpPr>
          <p:cNvPr id="85" name="Text 79"/>
          <p:cNvSpPr txBox="1"/>
          <p:nvPr/>
        </p:nvSpPr>
        <p:spPr>
          <a:xfrm>
            <a:off x="5971032" y="288036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08A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</a:t>
            </a:r>
            <a:endParaRPr lang="en-US" sz="750" dirty="0"/>
          </a:p>
        </p:txBody>
      </p:sp>
      <p:sp>
        <p:nvSpPr>
          <p:cNvPr id="86" name="Shape 80"/>
          <p:cNvSpPr/>
          <p:nvPr/>
        </p:nvSpPr>
        <p:spPr>
          <a:xfrm>
            <a:off x="5303520" y="3639312"/>
            <a:ext cx="539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87" name="Text 81"/>
          <p:cNvSpPr txBox="1"/>
          <p:nvPr/>
        </p:nvSpPr>
        <p:spPr>
          <a:xfrm>
            <a:off x="5303520" y="3639312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ANOVA</a:t>
            </a:r>
            <a:endParaRPr lang="en-US" sz="750" dirty="0"/>
          </a:p>
        </p:txBody>
      </p:sp>
      <p:sp>
        <p:nvSpPr>
          <p:cNvPr id="88" name="Shape 82"/>
          <p:cNvSpPr/>
          <p:nvPr/>
        </p:nvSpPr>
        <p:spPr>
          <a:xfrm>
            <a:off x="5879592" y="3639312"/>
            <a:ext cx="539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5879592" y="3639312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</a:t>
            </a:r>
            <a:endParaRPr lang="en-US" sz="750" dirty="0"/>
          </a:p>
        </p:txBody>
      </p:sp>
      <p:sp>
        <p:nvSpPr>
          <p:cNvPr id="90" name="Shape 84"/>
          <p:cNvSpPr/>
          <p:nvPr/>
        </p:nvSpPr>
        <p:spPr>
          <a:xfrm>
            <a:off x="5303520" y="3941064"/>
            <a:ext cx="539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91" name="Text 85"/>
          <p:cNvSpPr txBox="1"/>
          <p:nvPr/>
        </p:nvSpPr>
        <p:spPr>
          <a:xfrm>
            <a:off x="5303520" y="3941064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ReliefF</a:t>
            </a:r>
            <a:endParaRPr lang="en-US" sz="750" dirty="0"/>
          </a:p>
        </p:txBody>
      </p:sp>
      <p:sp>
        <p:nvSpPr>
          <p:cNvPr id="92" name="Shape 86"/>
          <p:cNvSpPr/>
          <p:nvPr/>
        </p:nvSpPr>
        <p:spPr>
          <a:xfrm>
            <a:off x="5879592" y="3941064"/>
            <a:ext cx="5394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93" name="Text 87"/>
          <p:cNvSpPr txBox="1"/>
          <p:nvPr/>
        </p:nvSpPr>
        <p:spPr>
          <a:xfrm>
            <a:off x="5879592" y="3941064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Boruta</a:t>
            </a:r>
            <a:endParaRPr lang="en-US" sz="750" dirty="0"/>
          </a:p>
        </p:txBody>
      </p:sp>
      <p:sp>
        <p:nvSpPr>
          <p:cNvPr id="94" name="Shape 88"/>
          <p:cNvSpPr/>
          <p:nvPr/>
        </p:nvSpPr>
        <p:spPr>
          <a:xfrm>
            <a:off x="6711696" y="266090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/>
        </p:spPr>
      </p:sp>
      <p:sp>
        <p:nvSpPr>
          <p:cNvPr id="95" name="Text 89"/>
          <p:cNvSpPr txBox="1"/>
          <p:nvPr/>
        </p:nvSpPr>
        <p:spPr>
          <a:xfrm>
            <a:off x="6711696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VIF/SPA → SFFS</a:t>
            </a:r>
            <a:endParaRPr lang="en-US" sz="850" dirty="0"/>
          </a:p>
        </p:txBody>
      </p:sp>
      <p:sp>
        <p:nvSpPr>
          <p:cNvPr id="96" name="Shape 90"/>
          <p:cNvSpPr/>
          <p:nvPr/>
        </p:nvSpPr>
        <p:spPr>
          <a:xfrm flipV="1">
            <a:off x="6766560" y="3090672"/>
            <a:ext cx="91440" cy="137160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6858000" y="3090672"/>
            <a:ext cx="91440" cy="137160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 flipV="1">
            <a:off x="6720840" y="3227832"/>
            <a:ext cx="45720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6766560" y="3227832"/>
            <a:ext cx="45720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 flipV="1">
            <a:off x="6903720" y="3227832"/>
            <a:ext cx="45720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101" name="Shape 95"/>
          <p:cNvSpPr/>
          <p:nvPr/>
        </p:nvSpPr>
        <p:spPr>
          <a:xfrm>
            <a:off x="6949440" y="3227832"/>
            <a:ext cx="45720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6821424" y="3054096"/>
            <a:ext cx="73152" cy="7315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03" name="Shape 97"/>
          <p:cNvSpPr/>
          <p:nvPr/>
        </p:nvSpPr>
        <p:spPr>
          <a:xfrm>
            <a:off x="6737299" y="3198571"/>
            <a:ext cx="58522" cy="5852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04" name="Shape 98"/>
          <p:cNvSpPr/>
          <p:nvPr/>
        </p:nvSpPr>
        <p:spPr>
          <a:xfrm>
            <a:off x="6920179" y="3198571"/>
            <a:ext cx="58522" cy="5852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05" name="Shape 99"/>
          <p:cNvSpPr/>
          <p:nvPr/>
        </p:nvSpPr>
        <p:spPr>
          <a:xfrm>
            <a:off x="6698894" y="3352190"/>
            <a:ext cx="43891" cy="43891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6" name="Shape 100"/>
          <p:cNvSpPr/>
          <p:nvPr/>
        </p:nvSpPr>
        <p:spPr>
          <a:xfrm>
            <a:off x="6790334" y="3352190"/>
            <a:ext cx="43891" cy="43891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7" name="Shape 101"/>
          <p:cNvSpPr/>
          <p:nvPr/>
        </p:nvSpPr>
        <p:spPr>
          <a:xfrm>
            <a:off x="6881774" y="3352190"/>
            <a:ext cx="43891" cy="43891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8" name="Shape 102"/>
          <p:cNvSpPr/>
          <p:nvPr/>
        </p:nvSpPr>
        <p:spPr>
          <a:xfrm>
            <a:off x="6973214" y="3352190"/>
            <a:ext cx="43891" cy="43891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9" name="Shape 103"/>
          <p:cNvSpPr/>
          <p:nvPr/>
        </p:nvSpPr>
        <p:spPr>
          <a:xfrm flipV="1">
            <a:off x="7123176" y="3063240"/>
            <a:ext cx="292608" cy="329184"/>
          </a:xfrm>
          <a:prstGeom prst="line">
            <a:avLst/>
          </a:prstGeom>
          <a:noFill/>
          <a:ln w="19050">
            <a:solidFill>
              <a:srgbClr val="1F2D30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 flipV="1">
            <a:off x="7068312" y="3026664"/>
            <a:ext cx="265176" cy="292608"/>
          </a:xfrm>
          <a:prstGeom prst="line">
            <a:avLst/>
          </a:prstGeom>
          <a:noFill/>
          <a:ln w="9525">
            <a:solidFill>
              <a:srgbClr val="8FA3A6"/>
            </a:solidFill>
            <a:prstDash val="dash"/>
          </a:ln>
        </p:spPr>
      </p:sp>
      <p:sp>
        <p:nvSpPr>
          <p:cNvPr id="111" name="Shape 105"/>
          <p:cNvSpPr/>
          <p:nvPr/>
        </p:nvSpPr>
        <p:spPr>
          <a:xfrm flipV="1">
            <a:off x="7196328" y="3118104"/>
            <a:ext cx="274320" cy="310896"/>
          </a:xfrm>
          <a:prstGeom prst="line">
            <a:avLst/>
          </a:prstGeom>
          <a:noFill/>
          <a:ln w="9525">
            <a:solidFill>
              <a:srgbClr val="8FA3A6"/>
            </a:solidFill>
            <a:prstDash val="dash"/>
          </a:ln>
        </p:spPr>
      </p:sp>
      <p:sp>
        <p:nvSpPr>
          <p:cNvPr id="112" name="Shape 106"/>
          <p:cNvSpPr/>
          <p:nvPr/>
        </p:nvSpPr>
        <p:spPr>
          <a:xfrm>
            <a:off x="7100316" y="3076956"/>
            <a:ext cx="45720" cy="457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3" name="Shape 107"/>
          <p:cNvSpPr/>
          <p:nvPr/>
        </p:nvSpPr>
        <p:spPr>
          <a:xfrm>
            <a:off x="7164324" y="3140964"/>
            <a:ext cx="45720" cy="457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4" name="Shape 108"/>
          <p:cNvSpPr/>
          <p:nvPr/>
        </p:nvSpPr>
        <p:spPr>
          <a:xfrm>
            <a:off x="7091172" y="3186684"/>
            <a:ext cx="45720" cy="457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5" name="Shape 109"/>
          <p:cNvSpPr/>
          <p:nvPr/>
        </p:nvSpPr>
        <p:spPr>
          <a:xfrm>
            <a:off x="7338060" y="3296412"/>
            <a:ext cx="45720" cy="457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16" name="Shape 110"/>
          <p:cNvSpPr/>
          <p:nvPr/>
        </p:nvSpPr>
        <p:spPr>
          <a:xfrm>
            <a:off x="7392924" y="3223260"/>
            <a:ext cx="45720" cy="457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17" name="Shape 111"/>
          <p:cNvSpPr/>
          <p:nvPr/>
        </p:nvSpPr>
        <p:spPr>
          <a:xfrm>
            <a:off x="7292340" y="3369564"/>
            <a:ext cx="45720" cy="457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18" name="Shape 112"/>
          <p:cNvSpPr/>
          <p:nvPr/>
        </p:nvSpPr>
        <p:spPr>
          <a:xfrm>
            <a:off x="7534656" y="3099816"/>
            <a:ext cx="256032" cy="256032"/>
          </a:xfrm>
          <a:prstGeom prst="ellipse">
            <a:avLst/>
          </a:prstGeom>
          <a:ln w="15875">
            <a:solidFill>
              <a:srgbClr val="1CB8B2"/>
            </a:solidFill>
            <a:prstDash val="solid"/>
          </a:ln>
        </p:spPr>
      </p:sp>
      <p:sp>
        <p:nvSpPr>
          <p:cNvPr id="119" name="Shape 113"/>
          <p:cNvSpPr/>
          <p:nvPr/>
        </p:nvSpPr>
        <p:spPr>
          <a:xfrm>
            <a:off x="7585862" y="3151022"/>
            <a:ext cx="43891" cy="43891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0" name="Shape 114"/>
          <p:cNvSpPr/>
          <p:nvPr/>
        </p:nvSpPr>
        <p:spPr>
          <a:xfrm>
            <a:off x="7704734" y="3169310"/>
            <a:ext cx="43891" cy="43891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1" name="Shape 115"/>
          <p:cNvSpPr/>
          <p:nvPr/>
        </p:nvSpPr>
        <p:spPr>
          <a:xfrm>
            <a:off x="7649870" y="3279038"/>
            <a:ext cx="43891" cy="43891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2" name="Shape 116"/>
          <p:cNvSpPr/>
          <p:nvPr/>
        </p:nvSpPr>
        <p:spPr>
          <a:xfrm>
            <a:off x="7457846" y="3315614"/>
            <a:ext cx="43891" cy="43891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3" name="Shape 117"/>
          <p:cNvSpPr/>
          <p:nvPr/>
        </p:nvSpPr>
        <p:spPr>
          <a:xfrm>
            <a:off x="7823606" y="3087014"/>
            <a:ext cx="43891" cy="43891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4" name="Shape 118"/>
          <p:cNvSpPr/>
          <p:nvPr/>
        </p:nvSpPr>
        <p:spPr>
          <a:xfrm>
            <a:off x="7814462" y="3315614"/>
            <a:ext cx="43891" cy="43891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5" name="Shape 119"/>
          <p:cNvSpPr/>
          <p:nvPr/>
        </p:nvSpPr>
        <p:spPr>
          <a:xfrm>
            <a:off x="7630668" y="3195828"/>
            <a:ext cx="64008" cy="64008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26" name="Text 120"/>
          <p:cNvSpPr txBox="1"/>
          <p:nvPr/>
        </p:nvSpPr>
        <p:spPr>
          <a:xfrm>
            <a:off x="6656832" y="34838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850" dirty="0"/>
          </a:p>
        </p:txBody>
      </p:sp>
      <p:sp>
        <p:nvSpPr>
          <p:cNvPr id="127" name="Text 121"/>
          <p:cNvSpPr txBox="1"/>
          <p:nvPr/>
        </p:nvSpPr>
        <p:spPr>
          <a:xfrm>
            <a:off x="7059168" y="34838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</a:t>
            </a:r>
            <a:endParaRPr lang="en-US" sz="850" dirty="0"/>
          </a:p>
        </p:txBody>
      </p:sp>
      <p:sp>
        <p:nvSpPr>
          <p:cNvPr id="128" name="Text 122"/>
          <p:cNvSpPr txBox="1"/>
          <p:nvPr/>
        </p:nvSpPr>
        <p:spPr>
          <a:xfrm>
            <a:off x="7461504" y="34838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850" dirty="0"/>
          </a:p>
        </p:txBody>
      </p:sp>
      <p:sp>
        <p:nvSpPr>
          <p:cNvPr id="129" name="Text 123"/>
          <p:cNvSpPr txBox="1"/>
          <p:nvPr/>
        </p:nvSpPr>
        <p:spPr>
          <a:xfrm>
            <a:off x="6711696" y="3776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feature set &amp; model for each sensor</a:t>
            </a:r>
            <a:endParaRPr lang="en-US" sz="850" dirty="0"/>
          </a:p>
        </p:txBody>
      </p:sp>
      <p:sp>
        <p:nvSpPr>
          <p:cNvPr id="130" name="Shape 124"/>
          <p:cNvSpPr/>
          <p:nvPr/>
        </p:nvSpPr>
        <p:spPr>
          <a:xfrm>
            <a:off x="8101584" y="2679192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31" name="Text 125"/>
          <p:cNvSpPr txBox="1"/>
          <p:nvPr/>
        </p:nvSpPr>
        <p:spPr>
          <a:xfrm>
            <a:off x="8101584" y="2679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750" dirty="0"/>
          </a:p>
        </p:txBody>
      </p:sp>
      <p:sp>
        <p:nvSpPr>
          <p:cNvPr id="132" name="Shape 126"/>
          <p:cNvSpPr/>
          <p:nvPr/>
        </p:nvSpPr>
        <p:spPr>
          <a:xfrm>
            <a:off x="8467344" y="2679192"/>
            <a:ext cx="329184" cy="914400"/>
          </a:xfrm>
          <a:custGeom>
            <a:avLst/>
            <a:gdLst/>
            <a:ahLst/>
            <a:cxnLst/>
            <a:rect l="l" t="t" r="r" b="b"/>
            <a:pathLst>
              <a:path w="329184" h="914400">
                <a:moveTo>
                  <a:pt x="0" y="91440"/>
                </a:moveTo>
                <a:cubicBezTo>
                  <a:pt x="201168" y="91440"/>
                  <a:pt x="128016" y="507492"/>
                  <a:pt x="329184" y="507492"/>
                </a:cubicBezTo>
              </a:path>
            </a:pathLst>
          </a:custGeom>
          <a:ln w="22225">
            <a:solidFill>
              <a:srgbClr val="3B82F6"/>
            </a:solidFill>
            <a:prstDash val="solid"/>
          </a:ln>
        </p:spPr>
      </p:sp>
      <p:sp>
        <p:nvSpPr>
          <p:cNvPr id="133" name="Shape 127"/>
          <p:cNvSpPr/>
          <p:nvPr/>
        </p:nvSpPr>
        <p:spPr>
          <a:xfrm>
            <a:off x="8796528" y="2948940"/>
            <a:ext cx="118872" cy="1188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4" name="Shape 128"/>
          <p:cNvSpPr/>
          <p:nvPr/>
        </p:nvSpPr>
        <p:spPr>
          <a:xfrm>
            <a:off x="8101584" y="2926080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22B455"/>
          </a:solidFill>
          <a:ln/>
        </p:spPr>
      </p:sp>
      <p:sp>
        <p:nvSpPr>
          <p:cNvPr id="135" name="Text 129"/>
          <p:cNvSpPr txBox="1"/>
          <p:nvPr/>
        </p:nvSpPr>
        <p:spPr>
          <a:xfrm>
            <a:off x="8101584" y="29260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750" dirty="0"/>
          </a:p>
        </p:txBody>
      </p:sp>
      <p:sp>
        <p:nvSpPr>
          <p:cNvPr id="136" name="Shape 130"/>
          <p:cNvSpPr/>
          <p:nvPr/>
        </p:nvSpPr>
        <p:spPr>
          <a:xfrm>
            <a:off x="8467344" y="2679192"/>
            <a:ext cx="329184" cy="914400"/>
          </a:xfrm>
          <a:custGeom>
            <a:avLst/>
            <a:gdLst/>
            <a:ahLst/>
            <a:cxnLst/>
            <a:rect l="l" t="t" r="r" b="b"/>
            <a:pathLst>
              <a:path w="329184" h="914400">
                <a:moveTo>
                  <a:pt x="0" y="338328"/>
                </a:moveTo>
                <a:cubicBezTo>
                  <a:pt x="201168" y="338328"/>
                  <a:pt x="128016" y="507492"/>
                  <a:pt x="329184" y="507492"/>
                </a:cubicBezTo>
              </a:path>
            </a:pathLst>
          </a:custGeom>
          <a:ln w="22225">
            <a:solidFill>
              <a:srgbClr val="22B455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8796528" y="3067812"/>
            <a:ext cx="118872" cy="118872"/>
          </a:xfrm>
          <a:prstGeom prst="rect">
            <a:avLst/>
          </a:prstGeom>
          <a:solidFill>
            <a:srgbClr val="22B455"/>
          </a:solidFill>
          <a:ln/>
        </p:spPr>
      </p:sp>
      <p:sp>
        <p:nvSpPr>
          <p:cNvPr id="138" name="Shape 132"/>
          <p:cNvSpPr/>
          <p:nvPr/>
        </p:nvSpPr>
        <p:spPr>
          <a:xfrm>
            <a:off x="8101584" y="3172968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8E5BD6"/>
          </a:solidFill>
          <a:ln/>
        </p:spPr>
      </p:sp>
      <p:sp>
        <p:nvSpPr>
          <p:cNvPr id="139" name="Text 133"/>
          <p:cNvSpPr txBox="1"/>
          <p:nvPr/>
        </p:nvSpPr>
        <p:spPr>
          <a:xfrm>
            <a:off x="8101584" y="3172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</a:t>
            </a:r>
            <a:endParaRPr lang="en-US" sz="750" dirty="0"/>
          </a:p>
        </p:txBody>
      </p:sp>
      <p:sp>
        <p:nvSpPr>
          <p:cNvPr id="140" name="Shape 134"/>
          <p:cNvSpPr/>
          <p:nvPr/>
        </p:nvSpPr>
        <p:spPr>
          <a:xfrm>
            <a:off x="8467344" y="2679192"/>
            <a:ext cx="329184" cy="914400"/>
          </a:xfrm>
          <a:custGeom>
            <a:avLst/>
            <a:gdLst/>
            <a:ahLst/>
            <a:cxnLst/>
            <a:rect l="l" t="t" r="r" b="b"/>
            <a:pathLst>
              <a:path w="329184" h="914400">
                <a:moveTo>
                  <a:pt x="0" y="585216"/>
                </a:moveTo>
                <a:cubicBezTo>
                  <a:pt x="201168" y="585216"/>
                  <a:pt x="128016" y="507492"/>
                  <a:pt x="329184" y="507492"/>
                </a:cubicBezTo>
              </a:path>
            </a:pathLst>
          </a:custGeom>
          <a:ln w="22225">
            <a:solidFill>
              <a:srgbClr val="8E5BD6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796528" y="3186684"/>
            <a:ext cx="118872" cy="118872"/>
          </a:xfrm>
          <a:prstGeom prst="rect">
            <a:avLst/>
          </a:prstGeom>
          <a:solidFill>
            <a:srgbClr val="8E5BD6"/>
          </a:solidFill>
          <a:ln/>
        </p:spPr>
      </p:sp>
      <p:sp>
        <p:nvSpPr>
          <p:cNvPr id="142" name="Shape 136"/>
          <p:cNvSpPr/>
          <p:nvPr/>
        </p:nvSpPr>
        <p:spPr>
          <a:xfrm>
            <a:off x="8101584" y="3419856"/>
            <a:ext cx="365760" cy="182880"/>
          </a:xfrm>
          <a:prstGeom prst="roundRect">
            <a:avLst>
              <a:gd name="adj" fmla="val 20000"/>
            </a:avLst>
          </a:prstGeom>
          <a:solidFill>
            <a:srgbClr val="E5484D"/>
          </a:solidFill>
          <a:ln/>
        </p:spPr>
      </p:sp>
      <p:sp>
        <p:nvSpPr>
          <p:cNvPr id="143" name="Text 137"/>
          <p:cNvSpPr txBox="1"/>
          <p:nvPr/>
        </p:nvSpPr>
        <p:spPr>
          <a:xfrm>
            <a:off x="8101584" y="34198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TIR</a:t>
            </a:r>
            <a:endParaRPr lang="en-US" sz="750" dirty="0"/>
          </a:p>
        </p:txBody>
      </p:sp>
      <p:sp>
        <p:nvSpPr>
          <p:cNvPr id="144" name="Shape 138"/>
          <p:cNvSpPr/>
          <p:nvPr/>
        </p:nvSpPr>
        <p:spPr>
          <a:xfrm>
            <a:off x="8467344" y="2679192"/>
            <a:ext cx="329184" cy="914400"/>
          </a:xfrm>
          <a:custGeom>
            <a:avLst/>
            <a:gdLst/>
            <a:ahLst/>
            <a:cxnLst/>
            <a:rect l="l" t="t" r="r" b="b"/>
            <a:pathLst>
              <a:path w="329184" h="914400">
                <a:moveTo>
                  <a:pt x="0" y="832104"/>
                </a:moveTo>
                <a:cubicBezTo>
                  <a:pt x="201168" y="832104"/>
                  <a:pt x="128016" y="507492"/>
                  <a:pt x="329184" y="507492"/>
                </a:cubicBezTo>
              </a:path>
            </a:pathLst>
          </a:custGeom>
          <a:ln w="22225">
            <a:solidFill>
              <a:srgbClr val="E5484D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8796528" y="3305556"/>
            <a:ext cx="118872" cy="118872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46" name="Shape 140"/>
          <p:cNvSpPr/>
          <p:nvPr/>
        </p:nvSpPr>
        <p:spPr>
          <a:xfrm>
            <a:off x="8951976" y="3049524"/>
            <a:ext cx="274320" cy="2743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47" name="Text 141"/>
          <p:cNvSpPr txBox="1"/>
          <p:nvPr/>
        </p:nvSpPr>
        <p:spPr>
          <a:xfrm>
            <a:off x="8951976" y="3049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00" dirty="0"/>
          </a:p>
        </p:txBody>
      </p:sp>
      <p:sp>
        <p:nvSpPr>
          <p:cNvPr id="148" name="Text 142"/>
          <p:cNvSpPr txBox="1"/>
          <p:nvPr/>
        </p:nvSpPr>
        <p:spPr>
          <a:xfrm>
            <a:off x="8110728" y="3776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Feature-level fusion + SFFS</a:t>
            </a:r>
            <a:endParaRPr lang="en-US" sz="850" dirty="0"/>
          </a:p>
        </p:txBody>
      </p:sp>
      <p:sp>
        <p:nvSpPr>
          <p:cNvPr id="149" name="Text 143"/>
          <p:cNvSpPr txBox="1"/>
          <p:nvPr/>
        </p:nvSpPr>
        <p:spPr>
          <a:xfrm>
            <a:off x="5239512" y="46177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classes</a:t>
            </a:r>
            <a:endParaRPr lang="en-US" sz="1000" dirty="0"/>
          </a:p>
        </p:txBody>
      </p:sp>
      <p:sp>
        <p:nvSpPr>
          <p:cNvPr id="150" name="Shape 144"/>
          <p:cNvSpPr/>
          <p:nvPr/>
        </p:nvSpPr>
        <p:spPr>
          <a:xfrm>
            <a:off x="5934456" y="4645152"/>
            <a:ext cx="246888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1" name="Text 145"/>
          <p:cNvSpPr txBox="1"/>
          <p:nvPr/>
        </p:nvSpPr>
        <p:spPr>
          <a:xfrm>
            <a:off x="593445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152" name="Shape 146"/>
          <p:cNvSpPr/>
          <p:nvPr/>
        </p:nvSpPr>
        <p:spPr>
          <a:xfrm>
            <a:off x="6208776" y="4645152"/>
            <a:ext cx="246888" cy="27432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53" name="Text 147"/>
          <p:cNvSpPr txBox="1"/>
          <p:nvPr/>
        </p:nvSpPr>
        <p:spPr>
          <a:xfrm>
            <a:off x="620877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54" name="Shape 148"/>
          <p:cNvSpPr/>
          <p:nvPr/>
        </p:nvSpPr>
        <p:spPr>
          <a:xfrm>
            <a:off x="6483096" y="4645152"/>
            <a:ext cx="246888" cy="274320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55" name="Text 149"/>
          <p:cNvSpPr txBox="1"/>
          <p:nvPr/>
        </p:nvSpPr>
        <p:spPr>
          <a:xfrm>
            <a:off x="648309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6" name="Shape 150"/>
          <p:cNvSpPr/>
          <p:nvPr/>
        </p:nvSpPr>
        <p:spPr>
          <a:xfrm>
            <a:off x="6757416" y="4645152"/>
            <a:ext cx="246888" cy="2743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7" name="Text 151"/>
          <p:cNvSpPr txBox="1"/>
          <p:nvPr/>
        </p:nvSpPr>
        <p:spPr>
          <a:xfrm>
            <a:off x="675741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8" name="Shape 152"/>
          <p:cNvSpPr/>
          <p:nvPr/>
        </p:nvSpPr>
        <p:spPr>
          <a:xfrm>
            <a:off x="7031736" y="4645152"/>
            <a:ext cx="246888" cy="274320"/>
          </a:xfrm>
          <a:prstGeom prst="rect">
            <a:avLst/>
          </a:prstGeom>
          <a:solidFill>
            <a:srgbClr val="F4511E"/>
          </a:solidFill>
          <a:ln/>
        </p:spPr>
      </p:sp>
      <p:sp>
        <p:nvSpPr>
          <p:cNvPr id="159" name="Text 153"/>
          <p:cNvSpPr txBox="1"/>
          <p:nvPr/>
        </p:nvSpPr>
        <p:spPr>
          <a:xfrm>
            <a:off x="703173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60" name="Shape 154"/>
          <p:cNvSpPr/>
          <p:nvPr/>
        </p:nvSpPr>
        <p:spPr>
          <a:xfrm>
            <a:off x="7306056" y="4645152"/>
            <a:ext cx="246888" cy="2743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61" name="Text 155"/>
          <p:cNvSpPr txBox="1"/>
          <p:nvPr/>
        </p:nvSpPr>
        <p:spPr>
          <a:xfrm>
            <a:off x="7306056" y="464515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62" name="Shape 156"/>
          <p:cNvSpPr/>
          <p:nvPr/>
        </p:nvSpPr>
        <p:spPr>
          <a:xfrm>
            <a:off x="7653528" y="4617720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1CB8B2"/>
          </a:solidFill>
          <a:ln/>
        </p:spPr>
      </p:sp>
      <p:sp>
        <p:nvSpPr>
          <p:cNvPr id="163" name="Text 157"/>
          <p:cNvSpPr txBox="1"/>
          <p:nvPr/>
        </p:nvSpPr>
        <p:spPr>
          <a:xfrm>
            <a:off x="7653528" y="46177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on unseen plots</a:t>
            </a:r>
            <a:endParaRPr lang="en-US" sz="850" dirty="0"/>
          </a:p>
        </p:txBody>
      </p:sp>
      <p:sp>
        <p:nvSpPr>
          <p:cNvPr id="164" name="Shape 158"/>
          <p:cNvSpPr/>
          <p:nvPr/>
        </p:nvSpPr>
        <p:spPr>
          <a:xfrm>
            <a:off x="9857232" y="1947672"/>
            <a:ext cx="1719072" cy="144475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165" name="Shape 159"/>
          <p:cNvSpPr/>
          <p:nvPr/>
        </p:nvSpPr>
        <p:spPr>
          <a:xfrm>
            <a:off x="9893808" y="198424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10168128" y="198424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10442448" y="198424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10716768" y="198424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10991088" y="1984248"/>
            <a:ext cx="274320" cy="274320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11265408" y="198424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9893808" y="225856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10168128" y="225856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10442448" y="225856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10716768" y="2258568"/>
            <a:ext cx="274320" cy="274320"/>
          </a:xfrm>
          <a:prstGeom prst="rect">
            <a:avLst/>
          </a:prstGeom>
          <a:solidFill>
            <a:srgbClr val="F451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10991088" y="2258568"/>
            <a:ext cx="274320" cy="274320"/>
          </a:xfrm>
          <a:prstGeom prst="rect">
            <a:avLst/>
          </a:prstGeom>
          <a:solidFill>
            <a:srgbClr val="B71C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11265408" y="2258568"/>
            <a:ext cx="274320" cy="274320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9893808" y="253288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8" name="Shape 172"/>
          <p:cNvSpPr/>
          <p:nvPr/>
        </p:nvSpPr>
        <p:spPr>
          <a:xfrm>
            <a:off x="10168128" y="253288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10442448" y="253288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10716768" y="2532888"/>
            <a:ext cx="274320" cy="274320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10991088" y="2532888"/>
            <a:ext cx="274320" cy="274320"/>
          </a:xfrm>
          <a:prstGeom prst="rect">
            <a:avLst/>
          </a:prstGeom>
          <a:solidFill>
            <a:srgbClr val="F451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11265408" y="253288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9893808" y="280720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10168128" y="280720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10442448" y="280720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10716768" y="280720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10991088" y="2807208"/>
            <a:ext cx="274320" cy="274320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11265408" y="280720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9893808" y="308152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10168128" y="308152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10442448" y="308152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10716768" y="3081528"/>
            <a:ext cx="274320" cy="274320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10991088" y="308152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11265408" y="3081528"/>
            <a:ext cx="274320" cy="274320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9884664" y="3621024"/>
            <a:ext cx="155448" cy="1554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6" name="Text 190"/>
          <p:cNvSpPr txBox="1"/>
          <p:nvPr/>
        </p:nvSpPr>
        <p:spPr>
          <a:xfrm>
            <a:off x="10113264" y="359359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 Healthy</a:t>
            </a: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0</a:t>
            </a:r>
            <a:endParaRPr lang="en-US" sz="950" dirty="0"/>
          </a:p>
        </p:txBody>
      </p:sp>
      <p:sp>
        <p:nvSpPr>
          <p:cNvPr id="197" name="Shape 191"/>
          <p:cNvSpPr/>
          <p:nvPr/>
        </p:nvSpPr>
        <p:spPr>
          <a:xfrm>
            <a:off x="9884664" y="3867912"/>
            <a:ext cx="155448" cy="155448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98" name="Text 192"/>
          <p:cNvSpPr txBox="1"/>
          <p:nvPr/>
        </p:nvSpPr>
        <p:spPr>
          <a:xfrm>
            <a:off x="10113264" y="3840480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Very low</a:t>
            </a: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1–5%</a:t>
            </a:r>
            <a:endParaRPr lang="en-US" sz="950" dirty="0"/>
          </a:p>
        </p:txBody>
      </p:sp>
      <p:sp>
        <p:nvSpPr>
          <p:cNvPr id="199" name="Shape 193"/>
          <p:cNvSpPr/>
          <p:nvPr/>
        </p:nvSpPr>
        <p:spPr>
          <a:xfrm>
            <a:off x="9884664" y="4114800"/>
            <a:ext cx="155448" cy="155448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200" name="Text 194"/>
          <p:cNvSpPr txBox="1"/>
          <p:nvPr/>
        </p:nvSpPr>
        <p:spPr>
          <a:xfrm>
            <a:off x="10113264" y="4087368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Low</a:t>
            </a: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6–10%</a:t>
            </a:r>
            <a:endParaRPr lang="en-US" sz="950" dirty="0"/>
          </a:p>
        </p:txBody>
      </p:sp>
      <p:sp>
        <p:nvSpPr>
          <p:cNvPr id="201" name="Shape 195"/>
          <p:cNvSpPr/>
          <p:nvPr/>
        </p:nvSpPr>
        <p:spPr>
          <a:xfrm>
            <a:off x="9884664" y="4361688"/>
            <a:ext cx="155448" cy="1554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02" name="Text 196"/>
          <p:cNvSpPr txBox="1"/>
          <p:nvPr/>
        </p:nvSpPr>
        <p:spPr>
          <a:xfrm>
            <a:off x="10113264" y="4334256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Moderate</a:t>
            </a: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11–25%</a:t>
            </a:r>
            <a:endParaRPr lang="en-US" sz="950" dirty="0"/>
          </a:p>
        </p:txBody>
      </p:sp>
      <p:sp>
        <p:nvSpPr>
          <p:cNvPr id="203" name="Shape 197"/>
          <p:cNvSpPr/>
          <p:nvPr/>
        </p:nvSpPr>
        <p:spPr>
          <a:xfrm>
            <a:off x="9884664" y="4608576"/>
            <a:ext cx="155448" cy="155448"/>
          </a:xfrm>
          <a:prstGeom prst="rect">
            <a:avLst/>
          </a:prstGeom>
          <a:solidFill>
            <a:srgbClr val="F4511E"/>
          </a:solidFill>
          <a:ln/>
        </p:spPr>
      </p:sp>
      <p:sp>
        <p:nvSpPr>
          <p:cNvPr id="204" name="Text 198"/>
          <p:cNvSpPr txBox="1"/>
          <p:nvPr/>
        </p:nvSpPr>
        <p:spPr>
          <a:xfrm>
            <a:off x="10113264" y="4581144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High</a:t>
            </a: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26–50%</a:t>
            </a:r>
            <a:endParaRPr lang="en-US" sz="950" dirty="0"/>
          </a:p>
        </p:txBody>
      </p:sp>
      <p:sp>
        <p:nvSpPr>
          <p:cNvPr id="205" name="Shape 199"/>
          <p:cNvSpPr/>
          <p:nvPr/>
        </p:nvSpPr>
        <p:spPr>
          <a:xfrm>
            <a:off x="9884664" y="4855464"/>
            <a:ext cx="155448" cy="1554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06" name="Text 200"/>
          <p:cNvSpPr txBox="1"/>
          <p:nvPr/>
        </p:nvSpPr>
        <p:spPr>
          <a:xfrm>
            <a:off x="10113264" y="482803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Very high</a:t>
            </a:r>
            <a:r>
              <a:rPr lang="en-US" sz="9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&gt;50%</a:t>
            </a:r>
            <a:endParaRPr lang="en-US" sz="950" dirty="0"/>
          </a:p>
        </p:txBody>
      </p:sp>
      <p:sp>
        <p:nvSpPr>
          <p:cNvPr id="207" name="Shape 201"/>
          <p:cNvSpPr/>
          <p:nvPr/>
        </p:nvSpPr>
        <p:spPr>
          <a:xfrm>
            <a:off x="457200" y="1417320"/>
            <a:ext cx="1737360" cy="3931920"/>
          </a:xfrm>
          <a:prstGeom prst="roundRect">
            <a:avLst>
              <a:gd name="adj" fmla="val 7368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585216" y="1545336"/>
            <a:ext cx="274320" cy="2743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09" name="Text 203"/>
          <p:cNvSpPr txBox="1"/>
          <p:nvPr/>
        </p:nvSpPr>
        <p:spPr>
          <a:xfrm>
            <a:off x="585216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10" name="Text 204"/>
          <p:cNvSpPr txBox="1"/>
          <p:nvPr/>
        </p:nvSpPr>
        <p:spPr>
          <a:xfrm>
            <a:off x="932688" y="1545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00" dirty="0"/>
          </a:p>
        </p:txBody>
      </p:sp>
      <p:sp>
        <p:nvSpPr>
          <p:cNvPr id="211" name="Shape 205"/>
          <p:cNvSpPr/>
          <p:nvPr/>
        </p:nvSpPr>
        <p:spPr>
          <a:xfrm>
            <a:off x="2258568" y="3236976"/>
            <a:ext cx="256032" cy="29260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12" name="Shape 206"/>
          <p:cNvSpPr/>
          <p:nvPr/>
        </p:nvSpPr>
        <p:spPr>
          <a:xfrm>
            <a:off x="2578608" y="1417320"/>
            <a:ext cx="2148840" cy="3931920"/>
          </a:xfrm>
          <a:prstGeom prst="roundRect">
            <a:avLst>
              <a:gd name="adj" fmla="val 5957"/>
            </a:avLst>
          </a:prstGeom>
          <a:ln w="25400">
            <a:solidFill>
              <a:srgbClr val="7DBE4B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2706624" y="1545336"/>
            <a:ext cx="274320" cy="274320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14" name="Text 208"/>
          <p:cNvSpPr txBox="1"/>
          <p:nvPr/>
        </p:nvSpPr>
        <p:spPr>
          <a:xfrm>
            <a:off x="2706624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15" name="Text 209"/>
          <p:cNvSpPr txBox="1"/>
          <p:nvPr/>
        </p:nvSpPr>
        <p:spPr>
          <a:xfrm>
            <a:off x="3054096" y="15453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UAV data</a:t>
            </a:r>
            <a:endParaRPr lang="en-US" sz="1400" dirty="0"/>
          </a:p>
        </p:txBody>
      </p:sp>
      <p:sp>
        <p:nvSpPr>
          <p:cNvPr id="216" name="Shape 210"/>
          <p:cNvSpPr/>
          <p:nvPr/>
        </p:nvSpPr>
        <p:spPr>
          <a:xfrm>
            <a:off x="4791456" y="3236976"/>
            <a:ext cx="256032" cy="29260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17" name="Shape 211"/>
          <p:cNvSpPr/>
          <p:nvPr/>
        </p:nvSpPr>
        <p:spPr>
          <a:xfrm>
            <a:off x="5111496" y="1417320"/>
            <a:ext cx="4206240" cy="3931920"/>
          </a:xfrm>
          <a:prstGeom prst="roundRect">
            <a:avLst>
              <a:gd name="adj" fmla="val 3256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5239512" y="1545336"/>
            <a:ext cx="274320" cy="2743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19" name="Text 213"/>
          <p:cNvSpPr txBox="1"/>
          <p:nvPr/>
        </p:nvSpPr>
        <p:spPr>
          <a:xfrm>
            <a:off x="5239512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20" name="Text 214"/>
          <p:cNvSpPr txBox="1"/>
          <p:nvPr/>
        </p:nvSpPr>
        <p:spPr>
          <a:xfrm>
            <a:off x="5586984" y="1545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21" name="Shape 215"/>
          <p:cNvSpPr/>
          <p:nvPr/>
        </p:nvSpPr>
        <p:spPr>
          <a:xfrm>
            <a:off x="9381744" y="3236976"/>
            <a:ext cx="256032" cy="29260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22" name="Shape 216"/>
          <p:cNvSpPr/>
          <p:nvPr/>
        </p:nvSpPr>
        <p:spPr>
          <a:xfrm>
            <a:off x="9701784" y="1417320"/>
            <a:ext cx="2029968" cy="3931920"/>
          </a:xfrm>
          <a:prstGeom prst="roundRect">
            <a:avLst>
              <a:gd name="adj" fmla="val 6306"/>
            </a:avLst>
          </a:prstGeom>
          <a:ln w="25400">
            <a:solidFill>
              <a:srgbClr val="7DBE4B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829800" y="1545336"/>
            <a:ext cx="274320" cy="274320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24" name="Text 218"/>
          <p:cNvSpPr txBox="1"/>
          <p:nvPr/>
        </p:nvSpPr>
        <p:spPr>
          <a:xfrm>
            <a:off x="9829800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5" name="Text 219"/>
          <p:cNvSpPr txBox="1"/>
          <p:nvPr/>
        </p:nvSpPr>
        <p:spPr>
          <a:xfrm>
            <a:off x="10177272" y="1545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map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1CB8B2"/>
                </a:solidFill>
                <a:latin typeface="Aptos"/>
              </a:rPr>
              <a:t>Potential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6324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Value for farmers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: 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Early detection and t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argeted spraying at early stages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Outcomes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: Expected 15-30% less pesticide, 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a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ction within the spray window protects yield.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Sustainability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: Less chemical load on soil and water. 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M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aps for surveillance, insurance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7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7DBE4B"/>
                </a:solidFill>
                <a:latin typeface="Aptos"/>
              </a:rPr>
              <a:t>Feasibility &amp;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00601"/>
            <a:ext cx="3063240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dirty="0">
                <a:solidFill>
                  <a:srgbClr val="E0E8E9"/>
                </a:solidFill>
              </a:rPr>
              <a:t>Technical and operational feasibility</a:t>
            </a:r>
            <a:r>
              <a:rPr lang="en-US" sz="1400" dirty="0">
                <a:solidFill>
                  <a:srgbClr val="E0E8E9"/>
                </a:solidFill>
              </a:rPr>
              <a:t>: </a:t>
            </a:r>
            <a:r>
              <a:rPr lang="en-IN" sz="1400" dirty="0">
                <a:solidFill>
                  <a:schemeClr val="bg1"/>
                </a:solidFill>
              </a:rPr>
              <a:t>Availability of commercial drone sensors and lightweight ML models.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Data, Partners, Resources:</a:t>
            </a:r>
            <a:r>
              <a:rPr lang="en-US" sz="1400" dirty="0">
                <a:solidFill>
                  <a:schemeClr val="bg1"/>
                </a:solidFill>
              </a:rPr>
              <a:t> UAV based images from different sensors, ICAR, KVKs, FPOs, drone service providers</a:t>
            </a:r>
            <a:endParaRPr lang="en-IN" sz="14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400" b="1" dirty="0">
                <a:solidFill>
                  <a:srgbClr val="E0E8E9"/>
                </a:solidFill>
              </a:rPr>
              <a:t>Reused and Rescale</a:t>
            </a:r>
            <a:r>
              <a:rPr lang="en-US" sz="1400" dirty="0">
                <a:solidFill>
                  <a:srgbClr val="E0E8E9"/>
                </a:solidFill>
              </a:rPr>
              <a:t>: </a:t>
            </a:r>
            <a:r>
              <a:rPr lang="en-IN" sz="1400" dirty="0">
                <a:solidFill>
                  <a:schemeClr val="bg1"/>
                </a:solidFill>
              </a:rPr>
              <a:t>Other crops and diseases: same pipeline, new disease specific features and can be applied in wider coverage</a:t>
            </a:r>
            <a:endParaRPr lang="en-US" sz="1400" b="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1CB8B2"/>
                </a:solidFill>
                <a:latin typeface="Aptos"/>
              </a:rPr>
              <a:t>What you will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06324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Aptos"/>
              </a:rPr>
              <a:t>Pipeline</a:t>
            </a:r>
            <a:r>
              <a:rPr lang="en-US" sz="1400" b="1" i="0" dirty="0">
                <a:solidFill>
                  <a:schemeClr val="bg1"/>
                </a:solidFill>
                <a:latin typeface="Aptos"/>
              </a:rPr>
              <a:t>:</a:t>
            </a:r>
            <a:r>
              <a:rPr lang="en-US" sz="1400" dirty="0">
                <a:solidFill>
                  <a:schemeClr val="bg1"/>
                </a:solidFill>
              </a:rPr>
              <a:t> Image pre processing → disease feature extraction →AI severity classification, comparing single sensors with fusion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Upload drone images and get back a severity map 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400" b="1" i="0" dirty="0">
                <a:solidFill>
                  <a:schemeClr val="bg1"/>
                </a:solidFill>
                <a:latin typeface="Aptos"/>
              </a:rPr>
              <a:t>Mentoring needs: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cloud deployment, GI-AI4AFS integration and how DL based pixel leve</a:t>
            </a:r>
            <a:r>
              <a:rPr lang="en-US" sz="1400" dirty="0">
                <a:solidFill>
                  <a:schemeClr val="bg1"/>
                </a:solidFill>
                <a:latin typeface="Aptos"/>
              </a:rPr>
              <a:t>l fusion can be done</a:t>
            </a:r>
            <a:endParaRPr lang="en-US" sz="1400" b="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BCA8D-8AAD-71DD-A7D3-06C1DCDD9F0D}"/>
              </a:ext>
            </a:extLst>
          </p:cNvPr>
          <p:cNvSpPr txBox="1"/>
          <p:nvPr/>
        </p:nvSpPr>
        <p:spPr>
          <a:xfrm>
            <a:off x="524288" y="501488"/>
            <a:ext cx="10814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Targeted spraying saves farmers money and fungicide, and the approach can scale to other regions, crops and diseases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707</Words>
  <Application>Microsoft Office PowerPoint</Application>
  <PresentationFormat>Widescreen</PresentationFormat>
  <Paragraphs>109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chaliganti</dc:creator>
  <cp:lastModifiedBy>A panda</cp:lastModifiedBy>
  <cp:revision>58</cp:revision>
  <dcterms:created xsi:type="dcterms:W3CDTF">2026-10-03T15:49:48Z</dcterms:created>
  <dcterms:modified xsi:type="dcterms:W3CDTF">2026-10-08T04:38:18Z</dcterms:modified>
</cp:coreProperties>
</file>