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263" r:id="rId9"/>
    <p:sldId id="306" r:id="rId57"/>
    <p:sldId id="307" r:id="rId58"/>
    <p:sldId id="308" r:id="rId59"/>
    <p:sldId id="309" r:id="rId60"/>
    <p:sldId id="310" r:id="rId61"/>
    <p:sldId id="311" r:id="rId62"/>
    <p:sldId id="312" r:id="rId63"/>
    <p:sldId id="313" r:id="rId64"/>
    <p:sldId id="264" r:id="rId10"/>
    <p:sldId id="265" r:id="rId11"/>
    <p:sldId id="266" r:id="rId12"/>
    <p:sldId id="267" r:id="rId13"/>
    <p:sldId id="314" r:id="rId65"/>
    <p:sldId id="315" r:id="rId66"/>
    <p:sldId id="316" r:id="rId67"/>
    <p:sldId id="317" r:id="rId68"/>
    <p:sldId id="318" r:id="rId69"/>
    <p:sldId id="319" r:id="rId70"/>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3468B3-C5F5-E877-A82D-FDBFE26883E7}">
          <p14:sldIdLst>
            <p14:sldId id="256"/>
            <p14:sldId id="257"/>
          </p14:sldIdLst>
        </p14:section>
        <p14:section name="Concepts of digital soil mapping" id="{3FEE3E77-0F3E-3A1B-04C6-397DD8E9B145}">
          <p14:sldIdLst>
            <p14:sldId id="258"/>
            <p14:sldId id="259"/>
            <p14:sldId id="260"/>
            <p14:sldId id="261"/>
            <p14:sldId id="262"/>
          </p14:sldIdLst>
        </p14:section>
        <p14:section name="Conventional approach: geostatistics" id="{1912BDE5-769F-6719-AFD9-7B35A65A45EA}">
          <p14:sldIdLst>
            <p14:sldId id="263"/>
            <p14:sldId id="264"/>
            <p14:sldId id="265"/>
            <p14:sldId id="266"/>
            <p14:sldId id="267"/>
            <p14:sldId id="268"/>
            <p14:sldId id="269"/>
            <p14:sldId id="270"/>
          </p14:sldIdLst>
        </p14:section>
        <p14:section name="Machine-learning approaches" id="{BC5A3F6D-17C3-138C-2E3C-9FB6CE0A607C}">
          <p14:sldIdLst>
            <p14:sldId id="271"/>
            <p14:sldId id="272"/>
            <p14:sldId id="273"/>
            <p14:sldId id="274"/>
          </p14:sldIdLst>
        </p14:section>
        <p14:section name="Case study I: SOC mapping in the Indian Himalaya" id="{E990E1B4-5227-CB1D-A4FD-45B2F6071BE2}">
          <p14:sldIdLst>
            <p14:sldId id="275"/>
            <p14:sldId id="276"/>
            <p14:sldId id="277"/>
            <p14:sldId id="278"/>
            <p14:sldId id="279"/>
            <p14:sldId id="280"/>
          </p14:sldIdLst>
        </p14:section>
        <p14:section name="Case study II: Surface soil moisture mapping" id="{19EE8B5E-1D54-BE54-D5E9-4203DB077855}">
          <p14:sldIdLst>
            <p14:sldId id="281"/>
            <p14:sldId id="282"/>
            <p14:sldId id="283"/>
            <p14:sldId id="284"/>
            <p14:sldId id="285"/>
          </p14:sldIdLst>
        </p14:section>
        <p14:section name="Synthesis" id="{371E2344-5FF4-DAAB-B856-0415EC14CA83}">
          <p14:sldIdLst>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22.xml"/><Relationship Id="rId10" Type="http://schemas.openxmlformats.org/officeDocument/2006/relationships/slide" Target="slides/slide23.xml"/><Relationship Id="rId11" Type="http://schemas.openxmlformats.org/officeDocument/2006/relationships/slide" Target="slides/slide24.xml"/><Relationship Id="rId12" Type="http://schemas.openxmlformats.org/officeDocument/2006/relationships/slide" Target="slides/slide25.xml"/><Relationship Id="rId13" Type="http://schemas.openxmlformats.org/officeDocument/2006/relationships/slide" Target="slides/slide26.xml"/><Relationship Id="rId14" Type="http://schemas.openxmlformats.org/officeDocument/2006/relationships/slide" Target="slides/slide27.xml"/><Relationship Id="rId15" Type="http://schemas.openxmlformats.org/officeDocument/2006/relationships/slide" Target="slides/slide28.xml"/><Relationship Id="rId16" Type="http://schemas.openxmlformats.org/officeDocument/2006/relationships/slide" Target="slides/slide29.xml"/><Relationship Id="rId17" Type="http://schemas.openxmlformats.org/officeDocument/2006/relationships/slide" Target="slides/slide30.xml"/><Relationship Id="rId18" Type="http://schemas.openxmlformats.org/officeDocument/2006/relationships/slide" Target="slides/slide31.xml"/><Relationship Id="rId19" Type="http://schemas.openxmlformats.org/officeDocument/2006/relationships/slide" Target="slides/slide32.xml"/><Relationship Id="rId20" Type="http://schemas.openxmlformats.org/officeDocument/2006/relationships/slide" Target="slides/slide33.xml"/><Relationship Id="rId21" Type="http://schemas.openxmlformats.org/officeDocument/2006/relationships/slide" Target="slides/slide34.xml"/><Relationship Id="rId22" Type="http://schemas.openxmlformats.org/officeDocument/2006/relationships/slide" Target="slides/slide35.xml"/><Relationship Id="rId23" Type="http://schemas.openxmlformats.org/officeDocument/2006/relationships/slide" Target="slides/slide36.xml"/><Relationship Id="rId24" Type="http://schemas.openxmlformats.org/officeDocument/2006/relationships/slide" Target="slides/slide37.xml"/><Relationship Id="rId25" Type="http://schemas.openxmlformats.org/officeDocument/2006/relationships/slide" Target="slides/slide38.xml"/><Relationship Id="rId26" Type="http://schemas.openxmlformats.org/officeDocument/2006/relationships/slide" Target="slides/slide39.xml"/><Relationship Id="rId27" Type="http://schemas.openxmlformats.org/officeDocument/2006/relationships/slide" Target="slides/slide40.xml"/><Relationship Id="rId28" Type="http://schemas.openxmlformats.org/officeDocument/2006/relationships/slide" Target="slides/slide41.xml"/><Relationship Id="rId29" Type="http://schemas.openxmlformats.org/officeDocument/2006/relationships/slide" Target="slides/slide42.xml"/><Relationship Id="rId30" Type="http://schemas.openxmlformats.org/officeDocument/2006/relationships/slide" Target="slides/slide43.xml"/><Relationship Id="rId31" Type="http://schemas.openxmlformats.org/officeDocument/2006/relationships/slide" Target="slides/slide44.xml"/><Relationship Id="rId32" Type="http://schemas.openxmlformats.org/officeDocument/2006/relationships/slide" Target="slides/slide45.xml"/><Relationship Id="rId33" Type="http://schemas.openxmlformats.org/officeDocument/2006/relationships/slide" Target="slides/slide46.xml"/><Relationship Id="rId34" Type="http://schemas.openxmlformats.org/officeDocument/2006/relationships/slide" Target="slides/slide47.xml"/><Relationship Id="rId35" Type="http://schemas.openxmlformats.org/officeDocument/2006/relationships/slide" Target="slides/slide48.xml"/><Relationship Id="rId36" Type="http://schemas.openxmlformats.org/officeDocument/2006/relationships/slide" Target="slides/slide49.xml"/><Relationship Id="rId37" Type="http://schemas.openxmlformats.org/officeDocument/2006/relationships/slide" Target="slides/slide50.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8.xml"/><Relationship Id="rId44" Type="http://schemas.openxmlformats.org/officeDocument/2006/relationships/slide" Target="slides/slide9.xml"/><Relationship Id="rId45" Type="http://schemas.openxmlformats.org/officeDocument/2006/relationships/slide" Target="slides/slide10.xml"/><Relationship Id="rId46" Type="http://schemas.openxmlformats.org/officeDocument/2006/relationships/slide" Target="slides/slide11.xml"/><Relationship Id="rId47" Type="http://schemas.openxmlformats.org/officeDocument/2006/relationships/slide" Target="slides/slide12.xml"/><Relationship Id="rId48" Type="http://schemas.openxmlformats.org/officeDocument/2006/relationships/slide" Target="slides/slide13.xml"/><Relationship Id="rId49" Type="http://schemas.openxmlformats.org/officeDocument/2006/relationships/slide" Target="slides/slide14.xml"/><Relationship Id="rId50" Type="http://schemas.openxmlformats.org/officeDocument/2006/relationships/slide" Target="slides/slide15.xml"/><Relationship Id="rId51" Type="http://schemas.openxmlformats.org/officeDocument/2006/relationships/slide" Target="slides/slide16.xml"/><Relationship Id="rId52" Type="http://schemas.openxmlformats.org/officeDocument/2006/relationships/slide" Target="slides/slide17.xml"/><Relationship Id="rId53" Type="http://schemas.openxmlformats.org/officeDocument/2006/relationships/slide" Target="slides/slide18.xml"/><Relationship Id="rId54" Type="http://schemas.openxmlformats.org/officeDocument/2006/relationships/slide" Target="slides/slide19.xml"/><Relationship Id="rId55" Type="http://schemas.openxmlformats.org/officeDocument/2006/relationships/slide" Target="slides/slide20.xml"/><Relationship Id="rId56" Type="http://schemas.openxmlformats.org/officeDocument/2006/relationships/slide" Target="slides/slide21.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B2118"/>
                </a:solidFill>
                <a:latin typeface="+mn-lt"/>
              </a:defRPr>
            </a:pPr>
            <a:r>
              <a:rPr sz="1400" b="0" i="0" u="none" strike="noStrike">
                <a:solidFill>
                  <a:srgbClr val="2B2118"/>
                </a:solidFill>
                <a:latin typeface="+mn-lt"/>
              </a:rPr>
              <a:t>Relative RMSE at validation points (%)</a:t>
            </a:r>
          </a:p>
        </c:rich>
      </c:tx>
      <c:overlay val="0"/>
    </c:title>
    <c:autoTitleDeleted val="0"/>
    <c:plotArea>
      <c:layout/>
      <c:barChart>
        <c:barDir val="col"/>
        <c:grouping val="clustered"/>
        <c:varyColors val="0"/>
        <c:ser>
          <c:idx val="0"/>
          <c:order val="0"/>
          <c:tx>
            <c:strRef>
              <c:f>Sheet1!$B$1</c:f>
              <c:strCache>
                <c:ptCount val="1"/>
                <c:pt idx="0">
                  <c:v>Soil map only</c:v>
                </c:pt>
              </c:strCache>
            </c:strRef>
          </c:tx>
          <c:spPr>
            <a:solidFill>
              <a:srgbClr val="C9C1B6"/>
            </a:solidFill>
            <a:effectLst/>
          </c:spPr>
          <c:invertIfNegative val="0"/>
          <c:dLbls>
            <c:numFmt formatCode="#,##0" sourceLinked="0"/>
            <c:spPr>
              <a:noFill/>
              <a:ln>
                <a:noFill/>
              </a:ln>
              <a:effectLst/>
            </c:spPr>
            <c:txPr>
              <a:bodyPr/>
              <a:lstStyle/>
              <a:p>
                <a:pPr>
                  <a:defRPr sz="1000" b="0" i="0" u="none" strike="noStrike">
                    <a:solidFill>
                      <a:srgbClr val="2B211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Organic matter</c:v>
                </c:pt>
                <c:pt idx="1">
                  <c:v>Topsoil pH</c:v>
                </c:pt>
                <c:pt idx="2">
                  <c:v>Topsoil depth</c:v>
                </c:pt>
              </c:strCache>
            </c:strRef>
          </c:cat>
          <c:val>
            <c:numRef>
              <c:f>Sheet1!$B$2:$B$4</c:f>
              <c:numCache>
                <c:formatCode>General</c:formatCode>
                <c:ptCount val="3"/>
                <c:pt idx="0">
                  <c:v>68.2</c:v>
                </c:pt>
                <c:pt idx="1">
                  <c:v>128.1</c:v>
                </c:pt>
                <c:pt idx="2">
                  <c:v>88.7</c:v>
                </c:pt>
              </c:numCache>
            </c:numRef>
          </c:val>
          <c:extLst>
            <c:ext xmlns:c16="http://schemas.microsoft.com/office/drawing/2014/chart" uri="{C3380CC4-5D6E-409C-BE32-E72D297353CC}">
              <c16:uniqueId val="{00000000-2171-46F3-B0EB-D7985B32B68D}"/>
            </c:ext>
          </c:extLst>
        </c:ser>
        <c:ser>
          <c:idx val="1"/>
          <c:order val="1"/>
          <c:tx>
            <c:strRef>
              <c:f>Sheet1!$C$1</c:f>
              <c:strCache>
                <c:ptCount val="1"/>
                <c:pt idx="0">
                  <c:v>Ordinary kriging</c:v>
                </c:pt>
              </c:strCache>
            </c:strRef>
          </c:tx>
          <c:spPr>
            <a:solidFill>
              <a:srgbClr val="8C5A2B"/>
            </a:solidFill>
            <a:effectLst/>
          </c:spPr>
          <c:invertIfNegative val="0"/>
          <c:dLbls>
            <c:numFmt formatCode="#,##0" sourceLinked="0"/>
            <c:spPr>
              <a:noFill/>
              <a:ln>
                <a:noFill/>
              </a:ln>
              <a:effectLst/>
            </c:spPr>
            <c:txPr>
              <a:bodyPr/>
              <a:lstStyle/>
              <a:p>
                <a:pPr>
                  <a:defRPr sz="1000" b="0" i="0" u="none" strike="noStrike">
                    <a:solidFill>
                      <a:srgbClr val="2B211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Organic matter</c:v>
                </c:pt>
                <c:pt idx="1">
                  <c:v>Topsoil pH</c:v>
                </c:pt>
                <c:pt idx="2">
                  <c:v>Topsoil depth</c:v>
                </c:pt>
              </c:strCache>
            </c:strRef>
          </c:cat>
          <c:val>
            <c:numRef>
              <c:f>Sheet1!$C$2:$C$4</c:f>
              <c:numCache>
                <c:formatCode>General</c:formatCode>
                <c:ptCount val="3"/>
                <c:pt idx="0">
                  <c:v>66.5</c:v>
                </c:pt>
                <c:pt idx="1">
                  <c:v>116.6</c:v>
                </c:pt>
                <c:pt idx="2">
                  <c:v>83.3</c:v>
                </c:pt>
              </c:numCache>
            </c:numRef>
          </c:val>
          <c:extLst>
            <c:ext xmlns:c16="http://schemas.microsoft.com/office/drawing/2014/chart" uri="{C3380CC4-5D6E-409C-BE32-E72D297353CC}">
              <c16:uniqueId val="{00000001-2171-46F3-B0EB-D7985B32B68D}"/>
            </c:ext>
          </c:extLst>
        </c:ser>
        <c:ser>
          <c:idx val="2"/>
          <c:order val="2"/>
          <c:tx>
            <c:strRef>
              <c:f>Sheet1!$D$1</c:f>
              <c:strCache>
                <c:ptCount val="1"/>
                <c:pt idx="0">
                  <c:v>Multiple regression</c:v>
                </c:pt>
              </c:strCache>
            </c:strRef>
          </c:tx>
          <c:spPr>
            <a:solidFill>
              <a:srgbClr val="C9A227"/>
            </a:solidFill>
            <a:effectLst/>
          </c:spPr>
          <c:invertIfNegative val="0"/>
          <c:dLbls>
            <c:numFmt formatCode="#,##0" sourceLinked="0"/>
            <c:spPr>
              <a:noFill/>
              <a:ln>
                <a:noFill/>
              </a:ln>
              <a:effectLst/>
            </c:spPr>
            <c:txPr>
              <a:bodyPr/>
              <a:lstStyle/>
              <a:p>
                <a:pPr>
                  <a:defRPr sz="1000" b="0" i="0" u="none" strike="noStrike">
                    <a:solidFill>
                      <a:srgbClr val="2B211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Organic matter</c:v>
                </c:pt>
                <c:pt idx="1">
                  <c:v>Topsoil pH</c:v>
                </c:pt>
                <c:pt idx="2">
                  <c:v>Topsoil depth</c:v>
                </c:pt>
              </c:strCache>
            </c:strRef>
          </c:cat>
          <c:val>
            <c:numRef>
              <c:f>Sheet1!$D$2:$D$4</c:f>
              <c:numCache>
                <c:formatCode>General</c:formatCode>
                <c:ptCount val="3"/>
                <c:pt idx="0">
                  <c:v>44.1</c:v>
                </c:pt>
                <c:pt idx="1">
                  <c:v>111.5</c:v>
                </c:pt>
                <c:pt idx="2">
                  <c:v>85.4</c:v>
                </c:pt>
              </c:numCache>
            </c:numRef>
          </c:val>
          <c:extLst>
            <c:ext xmlns:c16="http://schemas.microsoft.com/office/drawing/2014/chart" uri="{C3380CC4-5D6E-409C-BE32-E72D297353CC}">
              <c16:uniqueId val="{00000002-2171-46F3-B0EB-D7985B32B68D}"/>
            </c:ext>
          </c:extLst>
        </c:ser>
        <c:ser>
          <c:idx val="3"/>
          <c:order val="3"/>
          <c:tx>
            <c:strRef>
              <c:f>Sheet1!$E$1</c:f>
              <c:strCache>
                <c:ptCount val="1"/>
                <c:pt idx="0">
                  <c:v>Regression-kriging</c:v>
                </c:pt>
              </c:strCache>
            </c:strRef>
          </c:tx>
          <c:spPr>
            <a:solidFill>
              <a:srgbClr val="2E7D7A"/>
            </a:solidFill>
            <a:effectLst/>
          </c:spPr>
          <c:invertIfNegative val="0"/>
          <c:dLbls>
            <c:numFmt formatCode="#,##0" sourceLinked="0"/>
            <c:spPr>
              <a:noFill/>
              <a:ln>
                <a:noFill/>
              </a:ln>
              <a:effectLst/>
            </c:spPr>
            <c:txPr>
              <a:bodyPr/>
              <a:lstStyle/>
              <a:p>
                <a:pPr>
                  <a:defRPr sz="1000" b="0" i="0" u="none" strike="noStrike">
                    <a:solidFill>
                      <a:srgbClr val="2B211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Organic matter</c:v>
                </c:pt>
                <c:pt idx="1">
                  <c:v>Topsoil pH</c:v>
                </c:pt>
                <c:pt idx="2">
                  <c:v>Topsoil depth</c:v>
                </c:pt>
              </c:strCache>
            </c:strRef>
          </c:cat>
          <c:val>
            <c:numRef>
              <c:f>Sheet1!$E$2:$E$4</c:f>
              <c:numCache>
                <c:formatCode>General</c:formatCode>
                <c:ptCount val="3"/>
                <c:pt idx="0">
                  <c:v>53.3</c:v>
                </c:pt>
                <c:pt idx="1">
                  <c:v>110.7</c:v>
                </c:pt>
                <c:pt idx="2">
                  <c:v>66.5</c:v>
                </c:pt>
              </c:numCache>
            </c:numRef>
          </c:val>
          <c:extLst>
            <c:ext xmlns:c16="http://schemas.microsoft.com/office/drawing/2014/chart" uri="{C3380CC4-5D6E-409C-BE32-E72D297353CC}">
              <c16:uniqueId val="{00000003-2171-46F3-B0EB-D7985B32B68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3B2E"/>
                </a:solidFill>
                <a:latin typeface="+mn-lt"/>
              </a:defRPr>
            </a:pPr>
            <a:endParaRPr lang="en-US"/>
          </a:p>
        </c:txPr>
        <c:crossAx val="2094734552"/>
        <c:crosses val="autoZero"/>
        <c:auto val="1"/>
        <c:lblAlgn val="ctr"/>
        <c:lblOffset val="100"/>
        <c:noMultiLvlLbl val="1"/>
      </c:catAx>
      <c:valAx>
        <c:axId val="2094734552"/>
        <c:scaling>
          <c:orientation val="minMax"/>
          <c:max val="140"/>
          <c:min val="0"/>
        </c:scaling>
        <c:delete val="0"/>
        <c:axPos val="l"/>
        <c:majorGridlines>
          <c:spPr>
            <a:ln w="6350" cap="flat">
              <a:solidFill>
                <a:srgbClr val="E6E1D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81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B2118"/>
                </a:solidFill>
                <a:latin typeface="+mn-lt"/>
              </a:defRPr>
            </a:pPr>
            <a:r>
              <a:rPr sz="1400" b="0" i="0" u="none" strike="noStrike">
                <a:solidFill>
                  <a:srgbClr val="2B2118"/>
                </a:solidFill>
                <a:latin typeface="+mn-lt"/>
              </a:rPr>
              <a:t>R² by model</a:t>
            </a:r>
          </a:p>
        </c:rich>
      </c:tx>
      <c:overlay val="0"/>
    </c:title>
    <c:autoTitleDeleted val="0"/>
    <c:plotArea>
      <c:layout/>
      <c:barChart>
        <c:barDir val="col"/>
        <c:grouping val="clustered"/>
        <c:varyColors val="0"/>
        <c:ser>
          <c:idx val="0"/>
          <c:order val="0"/>
          <c:tx>
            <c:strRef>
              <c:f>Sheet1!$B$1</c:f>
              <c:strCache>
                <c:ptCount val="1"/>
                <c:pt idx="0">
                  <c:v>Training</c:v>
                </c:pt>
              </c:strCache>
            </c:strRef>
          </c:tx>
          <c:spPr>
            <a:solidFill>
              <a:srgbClr val="C9C1B6"/>
            </a:solidFill>
            <a:effectLst/>
          </c:spPr>
          <c:invertIfNegative val="0"/>
          <c:dLbls>
            <c:numFmt formatCode="0.00" sourceLinked="0"/>
            <c:spPr>
              <a:noFill/>
              <a:ln>
                <a:noFill/>
              </a:ln>
              <a:effectLst/>
            </c:spPr>
            <c:txPr>
              <a:bodyPr/>
              <a:lstStyle/>
              <a:p>
                <a:pPr>
                  <a:defRPr sz="1100" b="0" i="0" u="none" strike="noStrike">
                    <a:solidFill>
                      <a:srgbClr val="2B211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RF</c:v>
                </c:pt>
                <c:pt idx="1">
                  <c:v>SVR</c:v>
                </c:pt>
                <c:pt idx="2">
                  <c:v>XGB</c:v>
                </c:pt>
              </c:strCache>
            </c:strRef>
          </c:cat>
          <c:val>
            <c:numRef>
              <c:f>Sheet1!$B$2:$B$4</c:f>
              <c:numCache>
                <c:formatCode>General</c:formatCode>
                <c:ptCount val="3"/>
                <c:pt idx="0">
                  <c:v>0.92</c:v>
                </c:pt>
                <c:pt idx="1">
                  <c:v>0.53</c:v>
                </c:pt>
                <c:pt idx="2">
                  <c:v>0.59</c:v>
                </c:pt>
              </c:numCache>
            </c:numRef>
          </c:val>
          <c:extLst>
            <c:ext xmlns:c16="http://schemas.microsoft.com/office/drawing/2014/chart" uri="{C3380CC4-5D6E-409C-BE32-E72D297353CC}">
              <c16:uniqueId val="{00000000-A436-4AC1-BAF6-42C0E430C438}"/>
            </c:ext>
          </c:extLst>
        </c:ser>
        <c:ser>
          <c:idx val="1"/>
          <c:order val="1"/>
          <c:tx>
            <c:strRef>
              <c:f>Sheet1!$C$1</c:f>
              <c:strCache>
                <c:ptCount val="1"/>
                <c:pt idx="0">
                  <c:v>Testing</c:v>
                </c:pt>
              </c:strCache>
            </c:strRef>
          </c:tx>
          <c:spPr>
            <a:solidFill>
              <a:srgbClr val="8C5A2B"/>
            </a:solidFill>
            <a:effectLst/>
          </c:spPr>
          <c:invertIfNegative val="0"/>
          <c:dLbls>
            <c:numFmt formatCode="0.00" sourceLinked="0"/>
            <c:spPr>
              <a:noFill/>
              <a:ln>
                <a:noFill/>
              </a:ln>
              <a:effectLst/>
            </c:spPr>
            <c:txPr>
              <a:bodyPr/>
              <a:lstStyle/>
              <a:p>
                <a:pPr>
                  <a:defRPr sz="1100" b="0" i="0" u="none" strike="noStrike">
                    <a:solidFill>
                      <a:srgbClr val="2B211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RF</c:v>
                </c:pt>
                <c:pt idx="1">
                  <c:v>SVR</c:v>
                </c:pt>
                <c:pt idx="2">
                  <c:v>XGB</c:v>
                </c:pt>
              </c:strCache>
            </c:strRef>
          </c:cat>
          <c:val>
            <c:numRef>
              <c:f>Sheet1!$C$2:$C$4</c:f>
              <c:numCache>
                <c:formatCode>General</c:formatCode>
                <c:ptCount val="3"/>
                <c:pt idx="0">
                  <c:v>0.72</c:v>
                </c:pt>
                <c:pt idx="1">
                  <c:v>0.35</c:v>
                </c:pt>
                <c:pt idx="2">
                  <c:v>0.37</c:v>
                </c:pt>
              </c:numCache>
            </c:numRef>
          </c:val>
          <c:extLst>
            <c:ext xmlns:c16="http://schemas.microsoft.com/office/drawing/2014/chart" uri="{C3380CC4-5D6E-409C-BE32-E72D297353CC}">
              <c16:uniqueId val="{00000001-A436-4AC1-BAF6-42C0E430C438}"/>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3B2E"/>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6E1D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81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B2118"/>
                </a:solidFill>
                <a:latin typeface="+mn-lt"/>
              </a:defRPr>
            </a:pPr>
            <a:r>
              <a:rPr sz="1400" b="0" i="0" u="none" strike="noStrike">
                <a:solidFill>
                  <a:srgbClr val="2B2118"/>
                </a:solidFill>
                <a:latin typeface="+mn-lt"/>
              </a:rPr>
              <a:t>RMSE (% v/v) by model</a:t>
            </a:r>
          </a:p>
        </c:rich>
      </c:tx>
      <c:overlay val="0"/>
    </c:title>
    <c:autoTitleDeleted val="0"/>
    <c:plotArea>
      <c:layout/>
      <c:barChart>
        <c:barDir val="col"/>
        <c:grouping val="clustered"/>
        <c:varyColors val="0"/>
        <c:ser>
          <c:idx val="0"/>
          <c:order val="0"/>
          <c:tx>
            <c:strRef>
              <c:f>Sheet1!$B$1</c:f>
              <c:strCache>
                <c:ptCount val="1"/>
                <c:pt idx="0">
                  <c:v>Calibration</c:v>
                </c:pt>
              </c:strCache>
            </c:strRef>
          </c:tx>
          <c:spPr>
            <a:solidFill>
              <a:srgbClr val="C9C1B6"/>
            </a:solidFill>
            <a:effectLst/>
          </c:spPr>
          <c:invertIfNegative val="0"/>
          <c:dLbls>
            <c:numFmt formatCode="0.00" sourceLinked="0"/>
            <c:spPr>
              <a:noFill/>
              <a:ln>
                <a:noFill/>
              </a:ln>
              <a:effectLst/>
            </c:spPr>
            <c:txPr>
              <a:bodyPr/>
              <a:lstStyle/>
              <a:p>
                <a:pPr>
                  <a:defRPr sz="1100" b="0" i="0" u="none" strike="noStrike">
                    <a:solidFill>
                      <a:srgbClr val="2B211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Cubist</c:v>
                </c:pt>
                <c:pt idx="1">
                  <c:v>GBM</c:v>
                </c:pt>
                <c:pt idx="2">
                  <c:v>RF</c:v>
                </c:pt>
                <c:pt idx="3">
                  <c:v>Stack</c:v>
                </c:pt>
              </c:strCache>
            </c:strRef>
          </c:cat>
          <c:val>
            <c:numRef>
              <c:f>Sheet1!$B$2:$B$5</c:f>
              <c:numCache>
                <c:formatCode>General</c:formatCode>
                <c:ptCount val="4"/>
                <c:pt idx="0">
                  <c:v>4.1399999999999997</c:v>
                </c:pt>
                <c:pt idx="1">
                  <c:v>5.67</c:v>
                </c:pt>
                <c:pt idx="2">
                  <c:v>2.9</c:v>
                </c:pt>
                <c:pt idx="3">
                  <c:v>4.3099999999999996</c:v>
                </c:pt>
              </c:numCache>
            </c:numRef>
          </c:val>
          <c:extLst>
            <c:ext xmlns:c16="http://schemas.microsoft.com/office/drawing/2014/chart" uri="{C3380CC4-5D6E-409C-BE32-E72D297353CC}">
              <c16:uniqueId val="{00000000-DBB9-46BA-949A-65AE514BDA8C}"/>
            </c:ext>
          </c:extLst>
        </c:ser>
        <c:ser>
          <c:idx val="1"/>
          <c:order val="1"/>
          <c:tx>
            <c:strRef>
              <c:f>Sheet1!$C$1</c:f>
              <c:strCache>
                <c:ptCount val="1"/>
                <c:pt idx="0">
                  <c:v>Validation</c:v>
                </c:pt>
              </c:strCache>
            </c:strRef>
          </c:tx>
          <c:spPr>
            <a:solidFill>
              <a:srgbClr val="2E7D7A"/>
            </a:solidFill>
            <a:effectLst/>
          </c:spPr>
          <c:invertIfNegative val="0"/>
          <c:dLbls>
            <c:numFmt formatCode="0.00" sourceLinked="0"/>
            <c:spPr>
              <a:noFill/>
              <a:ln>
                <a:noFill/>
              </a:ln>
              <a:effectLst/>
            </c:spPr>
            <c:txPr>
              <a:bodyPr/>
              <a:lstStyle/>
              <a:p>
                <a:pPr>
                  <a:defRPr sz="1100" b="0" i="0" u="none" strike="noStrike">
                    <a:solidFill>
                      <a:srgbClr val="2B211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Cubist</c:v>
                </c:pt>
                <c:pt idx="1">
                  <c:v>GBM</c:v>
                </c:pt>
                <c:pt idx="2">
                  <c:v>RF</c:v>
                </c:pt>
                <c:pt idx="3">
                  <c:v>Stack</c:v>
                </c:pt>
              </c:strCache>
            </c:strRef>
          </c:cat>
          <c:val>
            <c:numRef>
              <c:f>Sheet1!$C$2:$C$5</c:f>
              <c:numCache>
                <c:formatCode>General</c:formatCode>
                <c:ptCount val="4"/>
                <c:pt idx="0">
                  <c:v>5.3</c:v>
                </c:pt>
                <c:pt idx="1">
                  <c:v>5.46</c:v>
                </c:pt>
                <c:pt idx="2">
                  <c:v>5.17</c:v>
                </c:pt>
                <c:pt idx="3">
                  <c:v>5.03</c:v>
                </c:pt>
              </c:numCache>
            </c:numRef>
          </c:val>
          <c:extLst>
            <c:ext xmlns:c16="http://schemas.microsoft.com/office/drawing/2014/chart" uri="{C3380CC4-5D6E-409C-BE32-E72D297353CC}">
              <c16:uniqueId val="{00000001-DBB9-46BA-949A-65AE514BDA8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3B2E"/>
                </a:solidFill>
                <a:latin typeface="+mn-lt"/>
              </a:defRPr>
            </a:pPr>
            <a:endParaRPr lang="en-US"/>
          </a:p>
        </c:txPr>
        <c:crossAx val="2094734552"/>
        <c:crosses val="autoZero"/>
        <c:auto val="1"/>
        <c:lblAlgn val="ctr"/>
        <c:lblOffset val="100"/>
        <c:noMultiLvlLbl val="1"/>
      </c:catAx>
      <c:valAx>
        <c:axId val="2094734552"/>
        <c:scaling>
          <c:orientation val="minMax"/>
          <c:max val="7"/>
          <c:min val="0"/>
        </c:scaling>
        <c:delete val="0"/>
        <c:axPos val="l"/>
        <c:majorGridlines>
          <c:spPr>
            <a:ln w="6350" cap="flat">
              <a:solidFill>
                <a:srgbClr val="E6E1D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81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9758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talk covers what DSM is, the conventional geostatistical toolkit (variograms, kriging, regression-kriging), the machine-learning toolkit, two case studies (SOC in the Himalaya and surface soil moisture at the IARI farm) and a synthesis.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Spend most time on parts 2 to 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Conventional survey relies on the surveyor's mental model of soil-landscape relationships, drawn as polygons. DSM makes that model explicit and numerical: point observations plus exhaustive covariates feed a statistical or ML model, and the output is a raster with an uncertainty layer that can be updated when new data arrive.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Jenny's clorpt factors were extended by McBratney et al. (2003) with s (existing soil information) and n (spatial position). In practice every factor is represented by one or more raster covariates. The examples here are the ones actually used in the Himalayan SOC study (55 covariates).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input streams meet at the overlay step: point observations from the field and lab, and an exhaustive covariate stack on a common grid. Everything after the regression matrix is model building and checking. Both case studies follow this skeleton.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Sampling must cover the covariate space, not just geographic space. cLHS stratifies each covariate into equal-probability intervals and picks sites so the sample reproduces the multivariate distribution. Stratified random sampling is easier to explain and was used in the Himalayan SOC work where access is the constraint.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of points are binned by separation distance; half the mean squared difference is plotted against lag. Close points are similar (low semivariance); beyond the range the pairs are independent and semivariance levels at the sill. A nugget-to-sill ratio below 25% is usually called strong spatial dependence, 25–75% moderate, above 75% weak (Cambardella et al. 1994).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authorised (conditional negative semi-definite) functions guarantee non-negative kriging variances. Fit by weighted least squares and choose with AIC or cross-validation. Oliver and Webster show how the empirical variogram from 87 points is much noisier than from 434 points of the same field.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kriging variants are best linear unbiased predictors that differ in how they treat the mean. Deterministic interpolators give no error estimate. Regression-kriging (equivalent in prediction to kriging with external drift / universal kriging) is the bridge to covariate-based DSM.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kriging weights come from solving the variogram-based system with a Lagrange multiplier that forces the weights to sum to one. Compared with IDW, kriging removes the bull's-eye artefacts around samples and, importantly, gives the kriging variance, which is lowest at sampled points and grows in gaps. The demo is synthetic: 60 points on a smooth field, spherical variogram.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tutorial closes with a five-step checklist; these are the steps and what to report. Cross-validation: leave each point out, krige it, then compute ME (should be about 0), MSE (small) and MSDR, the mean squared error divided by the kriging variance (should be about 1). MSDR is the most telling of the three.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RK splits the target into a deterministic part explained by covariates and a stochastic residual. Hengl et al. logit-transform the target to keep predictions in the physical range, replace correlated predictors by principal components (SPCs) plus soil-mapping-unit indicators, fit stepwise regression by GLS, krige the residuals and add them back. The final map can be shown together with its relative error.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Relative RMSE at the 35 validation profiles (lower is better). RK beat OK for OM and depth and gave the lowest error and bias for depth. For OM the plain regression had the lowest RMSE in this table, so the gain depends on how strongly covariates explain the target versus how much spatial structure remains in the residuals; pH was hard for every method. The right panel is the authors' decision diagram.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Bagging (random forest) trains many trees on bootstrap samples in parallel and averages them, reducing variance. Boosting (GBM, XGBoost) adds shallow trees one after another, each fitted to the remaining errors, reducing bias. Stacking trains different algorithms and lets a meta-learner (here elastic net) learn how to combine them. Both case studies use these families.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Boruta is a wrapper around random forest. Every covariate gets a shuffled copy (a shadow feature) that has no real relationship with the target. A covariate is confirmed only if its importance is consistently higher than the best shadow feature, rejected if consistently lower, otherwise tentative. In the soil-moisture study all 30 covariates were confirmed; in the SOC study 32 of 55 were kept.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Train/test split (70:30) plus 10-fold cross-validation for tuning. Report several metrics, because R² alone hides bias. RPD classes after Chang et al. (2001) are used in both papers. For uncertainty, the SOC paper refits each model on 50 bootstrap samples and maps the 5th and 95th percentiles; PICP checks whether a nominal 90% interval really contains about 90% of observations.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Tehri Garhwal district, Uttarakhand, North-Western Himalaya. Steep terrain from Shivaliks to Higher Himalaya; inaccessible strata were skipped but represented by similar strata. Samples were sieved and analysed for SOC by Walkley–Black wet digestion at IIRS Dehradun.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selection by Boruta kept 32 of 55 covariates. Data were split 70:30 at random; hyperparameters were tuned by 10-fold CV on RMSE. Permutation importance (%IncMSE) ranked covariates. Fifty bootstrap refits gave the mean map and the 5th–95th percentile limits (90% prediction interval), checked with PICP.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 had the highest R² and CCC and lowest RMSE in both phases. All models lost accuracy from training to testing, RF the most in absolute terms (0.92 to 0.72) but it still stayed clearly ahead; RPD 1.80 at testing is in the good class. SVR and XGB testing RPD values (1.19, 1.27) fall in the poor class.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RF the top covariates were NIR, Bio10, Bio17, slope, Bio19, MRRTF and TRI: vegetation, climate and topography contribute three each to the top ten. Seasonal precipitation and temperature (Bio17, Bio10, Bio19) mattered more than annual means; elevation itself ranked low. Maps show higher SOC in the north, north-east and north-west under evergreen forest, lower SOC in the warmer, cultivated south and south-west.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and upper limits of the 90% prediction interval from 50 bootstrap refits. RF's interval range (0.16–7.72%) matched the observed SOC range best. PICP plots tracked the 1:1 line, with slight over-coverage at 40–80% confidence. Uncertainty was greatest in the north-east: few samples, snow-adjacent and inaccessible terrain, and coarse 1 km climate covariates. These maps can guide future sampling.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IARI research farm, New Delhi: semi-arid, Typic Haplustepts, wheat on about 70% of 242 ha in rabi. Six dates were chosen where Sentinel-1 and cloud-free Landsat-8 coincided between October 2020 and March 2021. The ThetaProbe was laboratory-calibrated (±1.5–2% v/v).</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Sentinel-1 GRD was processed in SNAP: orbit file, thermal and border noise removal, radiometric calibration, refined Lee speckle filter, Range-Doppler terrain correction with SRTM, conversion to dB. Landsat-8 was corrected by dark-object subtraction in RStoolbox. LST came from band 10 with the Qin et al. (2001) mono-window algorithm using NDVI-threshold emissivity and transmittance from water vapour.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calibration RF looked excellent (r 0.95, RPD 2.74) but dropped to r 0.71 at validation, a sign of overfitting. The stacked model had the lowest validation RMSE (5.03%) and bias (0.18%) and the highest RPD (1.43); stacking cut RMSE by 5.1, 7.8 and 2.7% relative to Cubist, GBM and RF. Gains are modest, and all validation RPDs sit near the 1.4 good/poor boundary.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Classes from measured wilting point and field capacity: dry &lt;8%, moderately wet 8–15%, wet 15–26%, very wet &gt;26% v/v. Dry patches on 30 October match fields being prepared for sowing; wet area peaks in February with frequent irrigation at grain filling; dry area expands again by 24 March as irrigation stops at maturity. High-SSM zones overlap irrigated wheat; dry pockets match pulses and bare plots.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method wins everywhere. Kriging is best when the target has strong spatial structure and enough samples; ML wins when exhaustive covariates explain much of the variation; hybrids capture both. For soil moisture, physical and semi-empirical retrieval and downscaling of coarse satellite products are complementary to the data-driven ML route used in the case study.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studies share the DSM skeleton: purposive sampling, a 30 m covariate stack, Boruta selection, 70:30 split with cross-validated tuning and multi-metric validation. They differ in target dynamics: SOC is a slowly changing property mapped once; SSM changes within days, so the covariates have to be date-matched and the maps form a time series.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gaps are mostly stated as limitations by the authors themselves: date-matching between SAR and cloud-free optical scenes limits temporal resolution; C-band saturates under dense canopy; coarse climate layers blur mountain microclimates; and random train/test splits can overstate accuracy where samples are clustered.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main message: method choice follows data density and how well covariates explain the target; always report uncertainty.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papers presented, plus key method references.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section explains the methodology of digital soil mapping in detail, using two papers. Minasny, McBratney, Malone and Wheeler (2013) review digital mapping of soil carbon and set out the five general activities of any DSM study, plus the practical problems of depth, bulk density, sampling, covariates, uncertainty and change. Sindhushree et al. (2025) review DSM concepts and techniques, from geostatistics to deep learning. Each step is shown as a flow chart with figures from the papers.</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Sindhushree et al. describe DSM as three linked components. Soil data come from surveys: profiles, sample analyses and existing maps. Spatial data represent the soil-forming environment: climate, digital elevation models, satellite imagery and vegetation maps. Numerical models, statistical, geostatistical and machine learning, link the two so soil properties can be predicted everywhere. The output is a continuous map with an uncertainty estimate. Compared with conventional survey, DSM is standardised, continuous rather than polygon-based, scalable to large or remote areas, and cheaper because it relies on remote sensing and predictive models.</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Traditional soil mapping rests on three core techniques: soil sampling, field surveys and laboratory analysis. DSM keeps these as the source of training data but adds three concepts. Predictive soil mapping is the heart of DSM: statistical and machine learning models extrapolate soil properties from limited samples using environmental variables. Prediction of soil properties means estimating texture, moisture or organic carbon at unsampled places. GIS integrates and visualises all the layers. Techniques are of two types: classification predicts discrete soil classes, regression predicts continuous properties. Supporting technologies are satellite imagery, drones, kriging, variogram analysis, and open data and crowdsourcing.</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Minasny et al. reviewed many soil carbon mapping studies and found they all follow five activities. One: build a database of soil observations for the area. Two: compile covariates that represent the scorpan soil-forming factors. Three: calibrate or train a spatial prediction function on the observations. Four: interpolate or extrapolate that function over the whole area to make the map. Five: validate with existing or independent data and report uncertainty. Where uncertainty is high, new samples can be added and the loop repeated. The next slides open up each step.</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Soil carbon is measured as a concentration on a mass basis, for example grams per 100 grams. To know how much carbon is stored, it must be converted to a volume basis by multiplying by bulk density, then integrated over depth to give carbon density per square metre, which is the stock. Total carbon is measured by dry combustion and organic carbon by wet oxidation. Visible, near- and mid-infrared spectroscopy is a cheaper alternative, but it needs a spectral library calibrated against a standard method. Because carbon concentration is positively skewed, most studies log-transform it before modelling.</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Soil samples come from horizons or depth layers that differ between surveys, so depths must be harmonised before modelling. Carbon usually declines exponentially with depth, so early studies fitted an exponential function. But a single local deviation spoils the whole fit. The equal-area spline is more flexible: it is a series of local quadratic pieces joined at horizon boundaries, and the area under the curve in each layer equals the measured layer value, so layer means are preserved. The fitted spline is then averaged over standard depths, for example the six GlobalSoilMap depths. The figure shows the four stages: observed layers, fitted mass-preserving spline, the continuous curve, and averages at standard depths.</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Carbon stock needs bulk density, but legacy data rarely include it, so it is predicted with a pedotransfer function. Tranter's model splits bulk density into a mineral part that depends on sand and depth, plus a structural part related to organic matter and tillage. A second issue is that tillage, compaction and swelling change bulk density, so a fixed depth contains different soil masses at different times or sites. Comparing stocks at a fixed depth is then unfair. The equivalent soil mass method corrects to the heaviest layer, but the simpler approach is the mass coordinate system: plot cumulative carbon against cumulative mineral soil mass. The figure shows that dryland and irrigated soils that look different by depth can be compared fairly at 400 or 1200 kilograms of mineral soil per square metre.</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Sampling design decides map quality. With no covariate information, a grid or even geographic coverage is recommended. With covariates, the area is stratified: cluster analysis groups the covariates into similar classes and a fixed number of samples is taken in each. Conditioned Latin hypercube sampling chooses sites so that the full distribution of every covariate is covered. Regional and national studies usually depend on legacy data from traditional surveys, which have no statistical design and can be biased. Their coverage can be checked by dividing covariate space into hypercubes and seeing which are over- or under-observed; new samples then go into the empty hypercubes. The review found sampling densities from 0.002 to 1100 per square kilometre and that accuracy rises with the logarithm of sampling density.</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Jenny's 1968 model was an early empirical carbon model using rainfall, temperature, parent rock, slope, flora and latitude; rainfall was the strongest predictor. Minasny et al. stress that covariates should have a biophysical reason: they represent carbon input through productivity and decomposition through temperature and moisture. Which covariates matter depends on scale. At continental to regional scale climate dominates. Regionally, native vegetation and gamma radiometrics, which track clay and wetness, are important. At landscape scale, terrain controls erosion and deposition: below about 100 m resolution local slope, aspect and curvature work; above 100 m, landscape position matters more. At farm scale current land use and management dominate. NDVI is a good proxy for productivity, and bare-soil spectra can map carbon directly.</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Sindhushree et al. group DSM models into families. Statistical and machine learning models learn the relationship between soil and covariates: artificial neural networks, support vector machines, regression trees, and random forest, which is the most widely used. Geostatistical and hybrid models also use spatial autocorrelation at the sample points: co-kriging uses a correlated auxiliary variable, regression-kriging adds kriged residuals to a regression trend, and geographically weighted regression lets coefficients vary in space. Deep learning extracts features automatically: convolutional networks use windows of covariate images to capture spatial context, 1-D CNNs work on spectra, and residual networks such as LSM-ResNet predicted soil organic matter better than random forest. Limitations include data needs, preprocessing and assumptions such as stationarity.</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Most soil carbon maps are 2-D: one depth interval at a time. Mapping carbon as a continuous function of depth lets the stock be calculated to any depth. In the Edgeroi example, 1500 square kilometres in Australia, 341 profiles were used, 210 on a 2.8 km triangular grid, sampled at six depths. The steps were: compile observations and covariates; predict bulk density with a pedotransfer function; convert carbon to a volume basis; fit equal-area splines to carbon and bulk density; join with covariates; model the spline parameters from the covariates; map them over the whole area at 90 m; and calculate uncertainty. The figure shows the carbon density map to 1 m with depth profiles at two points.</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 DSM product should come with uncertainty, yet the review found most studies did not report it. Geostatistical methods give kriging variance directly. Monte Carlo, bootstrapping and Bayesian methods are general but expensive, because thousands of map realisations are needed. Malone et al. 2011 proposed an empirical method: cluster the covariate space with fuzzy k-means with extragrades, derive a prediction interval for each cluster from the model errors, and give each pixel a prediction interval weighted by its cluster memberships; extragrades flag pixels outside the calibration domain. For validation, half the studies did none. Options are leave-one-out or n-fold cross-validation, random holdback of about 30%, or independent probability sampling, which Brus et al. 2011 recommend because only it gives unbiased map accuracy.</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 DSM map shows carbon at one time. Change can be mapped where there is a monitoring network; for example, England and Wales lost carbon at about 0.6 percent per year between 1978 and 2003. To predict change there are two routes. The dynamic-mechanistic route feeds the map into a carbon model run in each pixel under a scenario. Minasny et al. used the two-compartment Hénin–Dupuis model for a Hunter Valley area where vineyards were assumed to change to pasture: mean SOC was predicted to rise from 2.9 to 3.3 grams per 100 grams between 2010 and 2020. A spatial version adds vertical mixing and lateral gains and losses. The static-empirical route is the semi-dynamic scorpan model: change a scorpan factor, such as climate, by its expected trend and re-run the prediction function.</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review's conclusions: representative samples are essential because the scorpan model only learns the correlations in the data; maps reflect the quality of the covariates; covariate importance changes with scale; and soil carbon changes with time, so maps need a time dimension and links to process models. The question cards give short answers to likely interview questions on this section.</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Spatial interpolation predicts a soil property at an unsampled location from nearby measured points. It rests on Tobler's first law of geography: near things are more alike than distant things. Almost every method can be written as a weighted average of the observed values, with weights that sum to one. The methods differ only in how the weights are chosen. Deterministic methods use geometry alone: nearest neighbour, inverse distance, splines and trend surfaces. Geostatistical methods derive the weights from a model of spatial autocorrelation, the variogram, and so also give a prediction error. Hybrid methods add covariates. Methods are also classified as exact or inexact, global or local, and gradual or abrupt.</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Whatever the method, the workflow is similar. First check and clean the data and look for clustering. Then explore the data: histogram and skewness, a log transform if needed, outliers, and any trend with coordinates or covariates. Choose a method. A deterministic method needs only its parameters, such as the IDW power, number of neighbours or spline tension. A geostatistical method needs the experimental variogram and a fitted model. Predict on a regular grid. Cross-validate: leave one point out, predict it, and compute mean error and RMSE, plus the mean squared deviation ratio for kriging. If the result is poor, go back and change the method or parameters. Finally back-transform and map the prediction and its uncertainty.</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simplest method. Perpendicular bisectors between neighbouring points divide the area into Thiessen, or Voronoi, polygons. Every location inside a polygon gets the value of the sample point in it, so the weight is one for the nearest point and zero for all others. The surface is exact but abrupt, with jumps at polygon edges, and gives no error estimate. It is quick and useful for categorical data and for areal averages, for example the Thiessen polygon method for areal rainfall from rain gauges, where each gauge's value is weighted by its polygon area.</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IDW assumes each sample's influence falls with distance. For each grid node, the method finds the neighbours within a search radius or the nearest k points, computes their distances, gives each a weight proportional to one over distance to the power p, normalises the weights to sum to one, and takes the weighted average. The power controls smoothness: p equal to one gives a smooth surface, two is the default, and large powers approach nearest neighbour. IDW is exact and simple but produces bull's-eyes around isolated points, cannot predict beyond the data range, ignores clustering and direction, and gives no error estimate. The figure shows the same data with powers 1, 2 and 4.</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 spline fits a smooth surface through the points that minimises total curvature, like bending a thin flexible sheet so it touches every point. The thin-plate spline is the classic case: the surface is a low-order polynomial plus a weighted sum of radial basis functions, r squared log r, centred on each data point. The weights come from solving one linear system. With no smoothing it is exact; adding a smoothing parameter makes it inexact, which is useful when data are noisy. Tension controls stiffness. Splines suit gently varying surfaces such as elevation, rainfall and temperature; ANUSPLIN thin-plate splines underlie many climate grids. They can overshoot where data change sharply, and give no direct error estimate. On our test data the thin-plate spline had the lowest cross-validation error.</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Trend surface analysis fits one polynomial in the x and y coordinates to all the data by least squares. A first-order trend is a tilted plane; a second-order trend is a quadratic bowl or saddle. It is global and inexact, so it captures broad regional patterns but misses local detail; on our test data it had by far the largest error. Its main use is to describe and remove large-scale drift: the residuals from the trend are then kriged, which is the idea behind universal kriging and regression-kriging. Local polynomial interpolation fits the polynomial in a moving window instead, which keeps more local detail. Watch for edge effects with higher orders.</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Here all five methods are applied to the same 70 samples from a known synthetic field, and each is scored by leave-one-out cross-validation. On this smooth field, the thin-plate spline had the lowest RMSE, ordinary kriging was close behind, nearest neighbour and IDW were worse, and the global trend surface was much worse because it ignores local variation. The lesson is that no interpolator is always best; the choice should be made by cross-validation on your own data. Kriging's advantage is that it also gives a prediction variance and handles clustering properly.</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Geostatistics, from Matheron's regionalised variable theory, treats a soil property as one realisation of a random function. The value at a location is a deterministic mean or trend, plus a spatially autocorrelated random component, plus uncorrelated noise. To estimate the autocorrelation from one realisation we need stationarity: second-order stationarity means a constant mean and a covariance that depends only on separation; the weaker intrinsic hypothesis needs only that the variance of differences depends on separation, which is exactly what the variogram measures. Kriging is then the best linear unbiased predictor: unbiased because the weights sum to one, and best because it minimises the estimation variance. The workflow runs from exploratory analysis to the experimental variogram, model fitting, the kriging system, prediction with kriging variance, and cross-validation.</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Kriging chooses the weights that minimise the estimation variance subject to the unbiasedness constraint that the weights sum to one. Using a Lagrange multiplier gives a set of linear equations, the kriging system, built entirely from variogram values between the samples and between each sample and the target. The figure contrasts IDW and kriging weights for the same configuration. IDW gives the three clustered points on the left a large combined weight because it only sees distance. Kriging recognises they carry redundant information and reduces their combined weight, which is declustering. Points hidden behind closer points can even get negative weights, the screening effect. Because the kriging variance does not depend on the data values, it can be used to plan sampling before any measurements are made.</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main kriging types differ in how they treat the mean. Simple kriging assumes the mean is known and constant everywhere, so it predicts deviations from that mean and needs no constraint on the weights. Ordinary kriging, the workhorse, assumes the mean is constant but unknown within each search neighbourhood; the weights must sum to one. Universal kriging models the mean as a trend in the coordinates, and kriging with external drift models it as a function of covariates available at every pixel, such as elevation or NDVI; both add constraints so the weights reproduce the trend functions, and both need the variogram of the residuals. The decision tree shows how to choose.</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Co-kriging is used when the target variable is expensive and sparsely sampled, but a cheaper correlated variable is measured more densely: for example lab soil organic carbon with many apparent electrical conductivity readings or spectroscopy predictions, or clay with gamma radiometrics. It needs the variograms of both variables and their cross-variogram, fitted together with a linear model of coregionalisation so the system is valid. The prediction is a weighted sum of both variables; the primary weights sum to one and the secondary weights sum to zero. It helps most when the secondary variable is dense and well correlated. If the secondary variable is available at every pixel, kriging with external drift or regression-kriging is simpler.</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Indicator kriging is non-parametric: it does not need normally distributed data. Each observation is converted to an indicator, one if it exceeds a threshold and zero otherwise. The indicator variogram is computed and modelled, and the indicators are kriged. Because the indicators are zeros and ones, the kriged value is an estimate of the probability that the property exceeds the threshold. Repeating for several thresholds builds a full conditional distribution at every location. Typical uses are risk maps: the probability that salinity exceeds 4 deciSiemens per metre, that a heavy metal exceeds a regulatory limit, or that soil carbon is below a critical level. In the illustration the threshold is the 60th percentile of the samples, and the brown contour marks a probability of one half.</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Two extensions. Block kriging predicts the average over an area, such as a 30 metre pixel or a whole field, rather than at a point. Point-to-sample variogram values are replaced by their averages over the block. Block estimates have much smaller variance, because the nugget averages out, which suits management units. Kriging maps are smooth: they under-represent the real variability. Sequential Gaussian simulation fixes this. Data are transformed to normal scores, the variogram is modelled, and grid nodes are visited in random order. At each node the simple kriging mean and variance are computed from the data and previously simulated nodes, a random value is drawn from that distribution and added to the data. Each run gives an equally probable realisation that honours the data and the variogram. Many realisations quantify uncertainty, for example for spatial totals or risk. In our example the kriging map's standard deviation was lower than the true field's, while the simulations reproduced it.</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table summarises all the methods: whether they are exact, what they need, whether they give an error estimate, and when each is best. In an interview, the key points are: deterministic methods need no model but give no error; kriging gives the best linear unbiased prediction with an error map but needs enough data for a reliable variogram, roughly 100 to 150 points; use universal kriging, kriging with external drift or regression-kriging when there is a trend or good covariates; co-kriging when a correlated variable is densely sampled; indicator kriging for probability or risk; block kriging for area averages; simulation when you need realistic variability and uncertainty for totals.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2B211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73736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731520" y="3703320"/>
            <a:ext cx="10698480" cy="2194560"/>
          </a:xfrm>
          <a:prstGeom prst="rect">
            <a:avLst/>
          </a:prstGeom>
          <a:noFill/>
          <a:ln/>
        </p:spPr>
        <p:txBody>
          <a:bodyPr wrap="square" rtlCol="0"/>
          <a:lstStyle>
            <a:lvl1pPr marL="0" indent="0">
              <a:buNone/>
              <a:defRPr lang="en-US" sz="1800" dirty="0">
                <a:solidFill>
                  <a:srgbClr val="E8DCCB"/>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2B211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468880"/>
            <a:ext cx="10698480" cy="11887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rtlCol="0"/>
          <a:lstStyle>
            <a:lvl1pPr marL="0" indent="0">
              <a:buNone/>
              <a:defRPr lang="en-US" sz="1800" dirty="0">
                <a:solidFill>
                  <a:srgbClr val="E8DCCB"/>
                </a:solidFill>
              </a:defRPr>
            </a:lvl1pPr>
          </a:lstStyle>
          <a:p>
            <a:pPr marL="0" indent="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A99A"/>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lstStyle>
            <a:lvl1pPr marL="0" indent="0">
              <a:buNone/>
              <a:defRPr lang="en-US" sz="3200" b="1" dirty="0">
                <a:solidFill>
                  <a:schemeClr val="tx1"/>
                </a:solidFill>
              </a:defRPr>
            </a:lvl1pPr>
          </a:lstStyle>
          <a:p>
            <a:pPr marL="0" indent="0">
              <a:buNone/>
            </a:pPr>
            <a:endParaRPr lang="en-US" sz="3200" dirty="0"/>
          </a:p>
        </p:txBody>
      </p:sp>
      <p:sp>
        <p:nvSpPr>
          <p:cNvPr id="3" name="Text 0"/>
          <p:cNvSpPr/>
          <p:nvPr/>
        </p:nvSpPr>
        <p:spPr>
          <a:xfrm>
            <a:off x="548640" y="6473952"/>
            <a:ext cx="5486400" cy="256032"/>
          </a:xfrm>
          <a:prstGeom prst="rect">
            <a:avLst/>
          </a:prstGeom>
          <a:noFill/>
          <a:ln/>
        </p:spPr>
        <p:txBody>
          <a:bodyPr wrap="square" lIns="0" tIns="0" rIns="0" bIns="0" rtlCol="0" anchor="ctr"/>
          <a:lstStyle/>
          <a:p>
            <a:pPr marL="0" indent="0">
              <a:buNone/>
            </a:pPr>
            <a:r>
              <a:rPr lang="en-US" sz="1000" dirty="0">
                <a:solidFill>
                  <a:srgbClr val="8A8178"/>
                </a:solidFill>
              </a:rPr>
              <a:t>Digital soil mapping &amp; soil moisture mapping</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A99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chart" Target="../charts/chart1.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chart" Target="../charts/chart2.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chart" Target="../charts/chart3.xml"/><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3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3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3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3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3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3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3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3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73736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Digital Soil Mapping and Soil Moisture Mapping</a:t>
            </a:r>
            <a:endParaRPr lang="en-US" sz="4000" dirty="0"/>
          </a:p>
        </p:txBody>
      </p:sp>
      <p:sp>
        <p:nvSpPr>
          <p:cNvPr id="3" name="Text 0"/>
          <p:cNvSpPr>
            <a:spLocks noGrp="1"/>
          </p:cNvSpPr>
          <p:nvPr>
            <p:ph type="body" idx="101" hasCustomPrompt="1"/>
          </p:nvPr>
        </p:nvSpPr>
        <p:spPr>
          <a:xfrm>
            <a:off x="731520" y="3703320"/>
            <a:ext cx="10698480" cy="2194560"/>
          </a:xfrm>
          <a:prstGeom prst="rect">
            <a:avLst/>
          </a:prstGeom>
          <a:noFill/>
          <a:ln/>
        </p:spPr>
        <p:txBody>
          <a:bodyPr wrap="square" rtlCol="0" anchor="t"/>
          <a:lstStyle/>
          <a:p>
            <a:pPr marL="0" indent="0">
              <a:buNone/>
            </a:pPr>
            <a:r>
              <a:rPr lang="en-US" sz="1800" dirty="0">
                <a:solidFill>
                  <a:srgbClr val="E8DCCB"/>
                </a:solidFill>
              </a:rPr>
              <a:t>Concepts, geostatistics, machine learning and two Indian case studies</a:t>
            </a:r>
            <a:endParaRPr lang="en-US" sz="1800" dirty="0"/>
          </a:p>
          <a:p>
            <a:pPr marL="0" indent="0">
              <a:buNone/>
            </a:pPr>
            <a:r>
              <a:rPr lang="en-US" sz="1000" dirty="0">
                <a:solidFill>
                  <a:srgbClr val="E8DCCB"/>
                </a:solidFill>
              </a:rPr>
              <a:t> </a:t>
            </a:r>
            <a:endParaRPr lang="en-US" sz="1800" dirty="0"/>
          </a:p>
          <a:p>
            <a:pPr marL="0" indent="0">
              <a:buNone/>
            </a:pPr>
            <a:r>
              <a:rPr lang="en-US" sz="1800" b="1" dirty="0">
                <a:solidFill>
                  <a:srgbClr val="FFFFFF"/>
                </a:solidFill>
              </a:rPr>
              <a:t>Animesh Panda</a:t>
            </a:r>
            <a:endParaRPr lang="en-US" sz="1800" dirty="0"/>
          </a:p>
          <a:p>
            <a:pPr marL="0" indent="0">
              <a:buNone/>
            </a:pPr>
            <a:r>
              <a:rPr lang="en-US" sz="1500" dirty="0">
                <a:solidFill>
                  <a:srgbClr val="E8DCCB"/>
                </a:solidFill>
              </a:rPr>
              <a:t>Division of Agricultural Physics, ICAR-Indian Agricultural Research Institute, New Delhi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Outline of the talk</a:t>
            </a:r>
            <a:endParaRPr lang="en-US" sz="3200" dirty="0"/>
          </a:p>
        </p:txBody>
      </p:sp>
      <p:sp>
        <p:nvSpPr>
          <p:cNvPr id="4" name="Shape 1"/>
          <p:cNvSpPr/>
          <p:nvPr/>
        </p:nvSpPr>
        <p:spPr>
          <a:xfrm>
            <a:off x="548640" y="1417320"/>
            <a:ext cx="5440680" cy="1325880"/>
          </a:xfrm>
          <a:prstGeom prst="roundRect">
            <a:avLst>
              <a:gd name="adj" fmla="val 5517"/>
            </a:avLst>
          </a:prstGeom>
          <a:solidFill>
            <a:srgbClr val="F3F0EB"/>
          </a:solidFill>
          <a:ln/>
        </p:spPr>
      </p:sp>
      <p:sp>
        <p:nvSpPr>
          <p:cNvPr id="5" name="Text 2"/>
          <p:cNvSpPr txBox="1"/>
          <p:nvPr/>
        </p:nvSpPr>
        <p:spPr>
          <a:xfrm>
            <a:off x="777240" y="1709928"/>
            <a:ext cx="731520" cy="731520"/>
          </a:xfrm>
          <a:prstGeom prst="ellipse">
            <a:avLst/>
          </a:prstGeom>
          <a:solidFill>
            <a:srgbClr val="8C5A2B"/>
          </a:solid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Text 3"/>
          <p:cNvSpPr txBox="1"/>
          <p:nvPr/>
        </p:nvSpPr>
        <p:spPr>
          <a:xfrm>
            <a:off x="1737360" y="1600200"/>
            <a:ext cx="4114800" cy="960120"/>
          </a:xfrm>
          <a:prstGeom prst="rect">
            <a:avLst/>
          </a:prstGeom>
          <a:noFill/>
          <a:ln/>
        </p:spPr>
        <p:txBody>
          <a:bodyPr wrap="square" lIns="0" tIns="0" rIns="0" bIns="0" rtlCol="0" anchor="ctr"/>
          <a:lstStyle/>
          <a:p>
            <a:pPr marL="0" indent="0">
              <a:buNone/>
            </a:pPr>
            <a:r>
              <a:rPr lang="en-US" sz="1900" b="1" dirty="0">
                <a:solidFill>
                  <a:srgbClr val="2B2118"/>
                </a:solidFill>
              </a:rPr>
              <a:t>Concepts of DSM</a:t>
            </a:r>
            <a:endParaRPr lang="en-US" sz="1900" dirty="0"/>
          </a:p>
          <a:p>
            <a:pPr marL="0" indent="0">
              <a:buNone/>
            </a:pPr>
            <a:r>
              <a:rPr lang="en-US" sz="1400" dirty="0">
                <a:solidFill>
                  <a:srgbClr val="4A3B2E"/>
                </a:solidFill>
              </a:rPr>
              <a:t>scorpan model, workflow, sampling design</a:t>
            </a:r>
            <a:endParaRPr lang="en-US" sz="1900" dirty="0"/>
          </a:p>
        </p:txBody>
      </p:sp>
      <p:sp>
        <p:nvSpPr>
          <p:cNvPr id="7" name="Shape 4"/>
          <p:cNvSpPr/>
          <p:nvPr/>
        </p:nvSpPr>
        <p:spPr>
          <a:xfrm>
            <a:off x="6172200" y="1417320"/>
            <a:ext cx="5440680" cy="1325880"/>
          </a:xfrm>
          <a:prstGeom prst="roundRect">
            <a:avLst>
              <a:gd name="adj" fmla="val 5517"/>
            </a:avLst>
          </a:prstGeom>
          <a:solidFill>
            <a:srgbClr val="F3F0EB"/>
          </a:solidFill>
          <a:ln/>
        </p:spPr>
      </p:sp>
      <p:sp>
        <p:nvSpPr>
          <p:cNvPr id="8" name="Text 5"/>
          <p:cNvSpPr txBox="1"/>
          <p:nvPr/>
        </p:nvSpPr>
        <p:spPr>
          <a:xfrm>
            <a:off x="6400800" y="1709928"/>
            <a:ext cx="731520" cy="731520"/>
          </a:xfrm>
          <a:prstGeom prst="ellipse">
            <a:avLst/>
          </a:prstGeom>
          <a:solidFill>
            <a:srgbClr val="8C5A2B"/>
          </a:solid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9" name="Text 6"/>
          <p:cNvSpPr txBox="1"/>
          <p:nvPr/>
        </p:nvSpPr>
        <p:spPr>
          <a:xfrm>
            <a:off x="7360920" y="1600200"/>
            <a:ext cx="4114800" cy="960120"/>
          </a:xfrm>
          <a:prstGeom prst="rect">
            <a:avLst/>
          </a:prstGeom>
          <a:noFill/>
          <a:ln/>
        </p:spPr>
        <p:txBody>
          <a:bodyPr wrap="square" lIns="0" tIns="0" rIns="0" bIns="0" rtlCol="0" anchor="ctr"/>
          <a:lstStyle/>
          <a:p>
            <a:pPr marL="0" indent="0">
              <a:buNone/>
            </a:pPr>
            <a:r>
              <a:rPr lang="en-US" sz="1900" b="1" dirty="0">
                <a:solidFill>
                  <a:srgbClr val="2B2118"/>
                </a:solidFill>
              </a:rPr>
              <a:t>Conventional geostatistics</a:t>
            </a:r>
            <a:endParaRPr lang="en-US" sz="1900" dirty="0"/>
          </a:p>
          <a:p>
            <a:pPr marL="0" indent="0">
              <a:buNone/>
            </a:pPr>
            <a:r>
              <a:rPr lang="en-US" sz="1400" dirty="0">
                <a:solidFill>
                  <a:srgbClr val="4A3B2E"/>
                </a:solidFill>
              </a:rPr>
              <a:t>semivariogram, kriging family, regression-kriging</a:t>
            </a:r>
            <a:endParaRPr lang="en-US" sz="1900" dirty="0"/>
          </a:p>
        </p:txBody>
      </p:sp>
      <p:sp>
        <p:nvSpPr>
          <p:cNvPr id="10" name="Shape 7"/>
          <p:cNvSpPr/>
          <p:nvPr/>
        </p:nvSpPr>
        <p:spPr>
          <a:xfrm>
            <a:off x="548640" y="2971800"/>
            <a:ext cx="5440680" cy="1325880"/>
          </a:xfrm>
          <a:prstGeom prst="roundRect">
            <a:avLst>
              <a:gd name="adj" fmla="val 5517"/>
            </a:avLst>
          </a:prstGeom>
          <a:solidFill>
            <a:srgbClr val="F3F0EB"/>
          </a:solidFill>
          <a:ln/>
        </p:spPr>
      </p:sp>
      <p:sp>
        <p:nvSpPr>
          <p:cNvPr id="11" name="Text 8"/>
          <p:cNvSpPr txBox="1"/>
          <p:nvPr/>
        </p:nvSpPr>
        <p:spPr>
          <a:xfrm>
            <a:off x="777240" y="3264408"/>
            <a:ext cx="731520" cy="731520"/>
          </a:xfrm>
          <a:prstGeom prst="ellipse">
            <a:avLst/>
          </a:prstGeom>
          <a:solidFill>
            <a:srgbClr val="C9A227"/>
          </a:solid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2" name="Text 9"/>
          <p:cNvSpPr txBox="1"/>
          <p:nvPr/>
        </p:nvSpPr>
        <p:spPr>
          <a:xfrm>
            <a:off x="1737360" y="3154680"/>
            <a:ext cx="4114800" cy="960120"/>
          </a:xfrm>
          <a:prstGeom prst="rect">
            <a:avLst/>
          </a:prstGeom>
          <a:noFill/>
          <a:ln/>
        </p:spPr>
        <p:txBody>
          <a:bodyPr wrap="square" lIns="0" tIns="0" rIns="0" bIns="0" rtlCol="0" anchor="ctr"/>
          <a:lstStyle/>
          <a:p>
            <a:pPr marL="0" indent="0">
              <a:buNone/>
            </a:pPr>
            <a:r>
              <a:rPr lang="en-US" sz="1900" b="1" dirty="0">
                <a:solidFill>
                  <a:srgbClr val="2B2118"/>
                </a:solidFill>
              </a:rPr>
              <a:t>Machine-learning approaches</a:t>
            </a:r>
            <a:endParaRPr lang="en-US" sz="1900" dirty="0"/>
          </a:p>
          <a:p>
            <a:pPr marL="0" indent="0">
              <a:buNone/>
            </a:pPr>
            <a:r>
              <a:rPr lang="en-US" sz="1400" dirty="0">
                <a:solidFill>
                  <a:srgbClr val="4A3B2E"/>
                </a:solidFill>
              </a:rPr>
              <a:t>bagging, boosting, stacking, feature selection, validation</a:t>
            </a:r>
            <a:endParaRPr lang="en-US" sz="1900" dirty="0"/>
          </a:p>
        </p:txBody>
      </p:sp>
      <p:sp>
        <p:nvSpPr>
          <p:cNvPr id="13" name="Shape 10"/>
          <p:cNvSpPr/>
          <p:nvPr/>
        </p:nvSpPr>
        <p:spPr>
          <a:xfrm>
            <a:off x="6172200" y="2971800"/>
            <a:ext cx="5440680" cy="1325880"/>
          </a:xfrm>
          <a:prstGeom prst="roundRect">
            <a:avLst>
              <a:gd name="adj" fmla="val 5517"/>
            </a:avLst>
          </a:prstGeom>
          <a:solidFill>
            <a:srgbClr val="F3F0EB"/>
          </a:solidFill>
          <a:ln/>
        </p:spPr>
      </p:sp>
      <p:sp>
        <p:nvSpPr>
          <p:cNvPr id="14" name="Text 11"/>
          <p:cNvSpPr txBox="1"/>
          <p:nvPr/>
        </p:nvSpPr>
        <p:spPr>
          <a:xfrm>
            <a:off x="6400800" y="3264408"/>
            <a:ext cx="731520" cy="731520"/>
          </a:xfrm>
          <a:prstGeom prst="ellipse">
            <a:avLst/>
          </a:prstGeom>
          <a:solidFill>
            <a:srgbClr val="2E7D7A"/>
          </a:solid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5" name="Text 12"/>
          <p:cNvSpPr txBox="1"/>
          <p:nvPr/>
        </p:nvSpPr>
        <p:spPr>
          <a:xfrm>
            <a:off x="7360920" y="3154680"/>
            <a:ext cx="4114800" cy="960120"/>
          </a:xfrm>
          <a:prstGeom prst="rect">
            <a:avLst/>
          </a:prstGeom>
          <a:noFill/>
          <a:ln/>
        </p:spPr>
        <p:txBody>
          <a:bodyPr wrap="square" lIns="0" tIns="0" rIns="0" bIns="0" rtlCol="0" anchor="ctr"/>
          <a:lstStyle/>
          <a:p>
            <a:pPr marL="0" indent="0">
              <a:buNone/>
            </a:pPr>
            <a:r>
              <a:rPr lang="en-US" sz="1900" b="1" dirty="0">
                <a:solidFill>
                  <a:srgbClr val="2B2118"/>
                </a:solidFill>
              </a:rPr>
              <a:t>Case study I: SOC mapping</a:t>
            </a:r>
            <a:endParaRPr lang="en-US" sz="1900" dirty="0"/>
          </a:p>
          <a:p>
            <a:pPr marL="0" indent="0">
              <a:buNone/>
            </a:pPr>
            <a:r>
              <a:rPr lang="en-US" sz="1400" dirty="0">
                <a:solidFill>
                  <a:srgbClr val="4A3B2E"/>
                </a:solidFill>
              </a:rPr>
              <a:t>Indian Himalayan region, RF vs SVR vs XGB at 30 m</a:t>
            </a:r>
            <a:endParaRPr lang="en-US" sz="1900" dirty="0"/>
          </a:p>
        </p:txBody>
      </p:sp>
      <p:sp>
        <p:nvSpPr>
          <p:cNvPr id="16" name="Shape 13"/>
          <p:cNvSpPr/>
          <p:nvPr/>
        </p:nvSpPr>
        <p:spPr>
          <a:xfrm>
            <a:off x="548640" y="4526280"/>
            <a:ext cx="5440680" cy="1325880"/>
          </a:xfrm>
          <a:prstGeom prst="roundRect">
            <a:avLst>
              <a:gd name="adj" fmla="val 5517"/>
            </a:avLst>
          </a:prstGeom>
          <a:solidFill>
            <a:srgbClr val="F3F0EB"/>
          </a:solidFill>
          <a:ln/>
        </p:spPr>
      </p:sp>
      <p:sp>
        <p:nvSpPr>
          <p:cNvPr id="17" name="Text 14"/>
          <p:cNvSpPr txBox="1"/>
          <p:nvPr/>
        </p:nvSpPr>
        <p:spPr>
          <a:xfrm>
            <a:off x="777240" y="4818888"/>
            <a:ext cx="731520" cy="731520"/>
          </a:xfrm>
          <a:prstGeom prst="ellipse">
            <a:avLst/>
          </a:prstGeom>
          <a:solidFill>
            <a:srgbClr val="2E7D7A"/>
          </a:solid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18" name="Text 15"/>
          <p:cNvSpPr txBox="1"/>
          <p:nvPr/>
        </p:nvSpPr>
        <p:spPr>
          <a:xfrm>
            <a:off x="1737360" y="4709160"/>
            <a:ext cx="4114800" cy="960120"/>
          </a:xfrm>
          <a:prstGeom prst="rect">
            <a:avLst/>
          </a:prstGeom>
          <a:noFill/>
          <a:ln/>
        </p:spPr>
        <p:txBody>
          <a:bodyPr wrap="square" lIns="0" tIns="0" rIns="0" bIns="0" rtlCol="0" anchor="ctr"/>
          <a:lstStyle/>
          <a:p>
            <a:pPr marL="0" indent="0">
              <a:buNone/>
            </a:pPr>
            <a:r>
              <a:rPr lang="en-US" sz="1900" b="1" dirty="0">
                <a:solidFill>
                  <a:srgbClr val="2B2118"/>
                </a:solidFill>
              </a:rPr>
              <a:t>Case study II: Soil moisture mapping</a:t>
            </a:r>
            <a:endParaRPr lang="en-US" sz="1900" dirty="0"/>
          </a:p>
          <a:p>
            <a:pPr marL="0" indent="0">
              <a:buNone/>
            </a:pPr>
            <a:r>
              <a:rPr lang="en-US" sz="1400" dirty="0">
                <a:solidFill>
                  <a:srgbClr val="4A3B2E"/>
                </a:solidFill>
              </a:rPr>
              <a:t>Sentinel-1 + Landsat-8 fusion, stacking ensemble</a:t>
            </a:r>
            <a:endParaRPr lang="en-US" sz="1900" dirty="0"/>
          </a:p>
        </p:txBody>
      </p:sp>
      <p:sp>
        <p:nvSpPr>
          <p:cNvPr id="19" name="Shape 16"/>
          <p:cNvSpPr/>
          <p:nvPr/>
        </p:nvSpPr>
        <p:spPr>
          <a:xfrm>
            <a:off x="6172200" y="4526280"/>
            <a:ext cx="5440680" cy="1325880"/>
          </a:xfrm>
          <a:prstGeom prst="roundRect">
            <a:avLst>
              <a:gd name="adj" fmla="val 5517"/>
            </a:avLst>
          </a:prstGeom>
          <a:solidFill>
            <a:srgbClr val="F3F0EB"/>
          </a:solidFill>
          <a:ln/>
        </p:spPr>
      </p:sp>
      <p:sp>
        <p:nvSpPr>
          <p:cNvPr id="20" name="Text 17"/>
          <p:cNvSpPr txBox="1"/>
          <p:nvPr/>
        </p:nvSpPr>
        <p:spPr>
          <a:xfrm>
            <a:off x="6400800" y="4818888"/>
            <a:ext cx="731520" cy="731520"/>
          </a:xfrm>
          <a:prstGeom prst="ellipse">
            <a:avLst/>
          </a:prstGeom>
          <a:solidFill>
            <a:srgbClr val="2E7D7A"/>
          </a:solid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6</a:t>
            </a:r>
            <a:endParaRPr lang="en-US" sz="2400" dirty="0"/>
          </a:p>
        </p:txBody>
      </p:sp>
      <p:sp>
        <p:nvSpPr>
          <p:cNvPr id="21" name="Text 18"/>
          <p:cNvSpPr txBox="1"/>
          <p:nvPr/>
        </p:nvSpPr>
        <p:spPr>
          <a:xfrm>
            <a:off x="7360920" y="4709160"/>
            <a:ext cx="4114800" cy="960120"/>
          </a:xfrm>
          <a:prstGeom prst="rect">
            <a:avLst/>
          </a:prstGeom>
          <a:noFill/>
          <a:ln/>
        </p:spPr>
        <p:txBody>
          <a:bodyPr wrap="square" lIns="0" tIns="0" rIns="0" bIns="0" rtlCol="0" anchor="ctr"/>
          <a:lstStyle/>
          <a:p>
            <a:pPr marL="0" indent="0">
              <a:buNone/>
            </a:pPr>
            <a:r>
              <a:rPr lang="en-US" sz="1900" b="1" dirty="0">
                <a:solidFill>
                  <a:srgbClr val="2B2118"/>
                </a:solidFill>
              </a:rPr>
              <a:t>Synthesis</a:t>
            </a:r>
            <a:endParaRPr lang="en-US" sz="1900" dirty="0"/>
          </a:p>
          <a:p>
            <a:pPr marL="0" indent="0">
              <a:buNone/>
            </a:pPr>
            <a:r>
              <a:rPr lang="en-US" sz="1400" dirty="0">
                <a:solidFill>
                  <a:srgbClr val="4A3B2E"/>
                </a:solidFill>
              </a:rPr>
              <a:t>comparison of approaches, gaps, conclusions</a:t>
            </a:r>
            <a:endParaRPr lang="en-US" sz="19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468880"/>
            <a:ext cx="10698480" cy="1188720"/>
          </a:xfrm>
          <a:prstGeom prst="rect">
            <a:avLst/>
          </a:prstGeom>
          <a:noFill/>
          <a:ln/>
        </p:spPr>
        <p:txBody>
          <a:bodyPr wrap="square" rtlCol="0" anchor="b"/>
          <a:lstStyle/>
          <a:p>
            <a:pPr marL="0" indent="0" algn="l">
              <a:buNone/>
            </a:pPr>
            <a:r>
              <a:rPr lang="en-US" sz="4000" b="1" dirty="0">
                <a:solidFill>
                  <a:schemeClr val="bg1"/>
                </a:solidFill>
              </a:rPr>
              <a:t>Concepts of digital soil mapping</a:t>
            </a: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rtlCol="0" anchor="t"/>
          <a:lstStyle/>
          <a:p>
            <a:pPr marL="0" indent="0">
              <a:buNone/>
            </a:pPr>
            <a:r>
              <a:rPr lang="en-US" sz="1800" dirty="0">
                <a:solidFill>
                  <a:srgbClr val="E8DCCB"/>
                </a:solidFill>
              </a:rPr>
              <a:t>Why soil information must become quantitative, spatial and uncertainty-aware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A99A"/>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From conventional soil survey to digital soil mapping</a:t>
            </a:r>
            <a:endParaRPr lang="en-US" sz="3200" dirty="0"/>
          </a:p>
        </p:txBody>
      </p:sp>
      <p:sp>
        <p:nvSpPr>
          <p:cNvPr id="4" name="Shape 1"/>
          <p:cNvSpPr/>
          <p:nvPr/>
        </p:nvSpPr>
        <p:spPr>
          <a:xfrm>
            <a:off x="548640" y="1371600"/>
            <a:ext cx="5212080" cy="3566160"/>
          </a:xfrm>
          <a:prstGeom prst="roundRect">
            <a:avLst>
              <a:gd name="adj" fmla="val 2051"/>
            </a:avLst>
          </a:prstGeom>
          <a:solidFill>
            <a:srgbClr val="F3F0EB"/>
          </a:solidFill>
          <a:ln/>
        </p:spPr>
      </p:sp>
      <p:sp>
        <p:nvSpPr>
          <p:cNvPr id="5" name="Text 2"/>
          <p:cNvSpPr txBox="1"/>
          <p:nvPr/>
        </p:nvSpPr>
        <p:spPr>
          <a:xfrm>
            <a:off x="822960" y="1508760"/>
            <a:ext cx="4663440" cy="502920"/>
          </a:xfrm>
          <a:prstGeom prst="rect">
            <a:avLst/>
          </a:prstGeom>
          <a:noFill/>
          <a:ln/>
        </p:spPr>
        <p:txBody>
          <a:bodyPr wrap="square" lIns="0" tIns="0" rIns="0" bIns="0" rtlCol="0" anchor="ctr"/>
          <a:lstStyle/>
          <a:p>
            <a:pPr marL="0" indent="0">
              <a:buNone/>
            </a:pPr>
            <a:r>
              <a:rPr lang="en-US" sz="2000" b="1" dirty="0">
                <a:solidFill>
                  <a:srgbClr val="8A8178"/>
                </a:solidFill>
                <a:latin typeface="Cambria" pitchFamily="34" charset="0"/>
                <a:ea typeface="Cambria" pitchFamily="34" charset="-122"/>
                <a:cs typeface="Cambria" pitchFamily="34" charset="-120"/>
              </a:rPr>
              <a:t>Conventional soil survey</a:t>
            </a:r>
            <a:endParaRPr lang="en-US" sz="2000" dirty="0"/>
          </a:p>
        </p:txBody>
      </p:sp>
      <p:sp>
        <p:nvSpPr>
          <p:cNvPr id="6" name="Text 3"/>
          <p:cNvSpPr txBox="1"/>
          <p:nvPr/>
        </p:nvSpPr>
        <p:spPr>
          <a:xfrm>
            <a:off x="822960" y="2148840"/>
            <a:ext cx="4754880" cy="2743200"/>
          </a:xfrm>
          <a:prstGeom prst="rect">
            <a:avLst/>
          </a:prstGeom>
          <a:noFill/>
          <a:ln/>
        </p:spPr>
        <p:txBody>
          <a:bodyPr wrap="square" lIns="25400" tIns="25400" rIns="25400" bIns="25400" rtlCol="0" anchor="t"/>
          <a:lstStyle/>
          <a:p>
            <a:pPr marL="190500" indent="-190500">
              <a:spcAft>
                <a:spcPts val="600"/>
              </a:spcAft>
              <a:buSzPct val="100000"/>
              <a:buChar char="•"/>
            </a:pPr>
            <a:r>
              <a:rPr lang="en-US" sz="1700" dirty="0">
                <a:solidFill>
                  <a:srgbClr val="2B2118"/>
                </a:solidFill>
              </a:rPr>
              <a:t>Tacit soil–landscape model in the surveyor's head</a:t>
            </a:r>
            <a:endParaRPr lang="en-US" sz="1700" dirty="0"/>
          </a:p>
          <a:p>
            <a:pPr marL="190500" indent="-190500">
              <a:spcAft>
                <a:spcPts val="600"/>
              </a:spcAft>
              <a:buSzPct val="100000"/>
              <a:buChar char="•"/>
            </a:pPr>
            <a:r>
              <a:rPr lang="en-US" sz="1700" dirty="0">
                <a:solidFill>
                  <a:srgbClr val="2B2118"/>
                </a:solidFill>
              </a:rPr>
              <a:t>Polygon maps of soil series / mapping units</a:t>
            </a:r>
            <a:endParaRPr lang="en-US" sz="1700" dirty="0"/>
          </a:p>
          <a:p>
            <a:pPr marL="190500" indent="-190500">
              <a:spcAft>
                <a:spcPts val="600"/>
              </a:spcAft>
              <a:buSzPct val="100000"/>
              <a:buChar char="•"/>
            </a:pPr>
            <a:r>
              <a:rPr lang="en-US" sz="1700" dirty="0">
                <a:solidFill>
                  <a:srgbClr val="2B2118"/>
                </a:solidFill>
              </a:rPr>
              <a:t>Typical scale 1:50,000 to 1:250,000</a:t>
            </a:r>
            <a:endParaRPr lang="en-US" sz="1700" dirty="0"/>
          </a:p>
          <a:p>
            <a:pPr marL="190500" indent="-190500">
              <a:spcAft>
                <a:spcPts val="600"/>
              </a:spcAft>
              <a:buSzPct val="100000"/>
              <a:buChar char="•"/>
            </a:pPr>
            <a:r>
              <a:rPr lang="en-US" sz="1700" dirty="0">
                <a:solidFill>
                  <a:srgbClr val="2B2118"/>
                </a:solidFill>
              </a:rPr>
              <a:t>Static, labour intensive, hard to update</a:t>
            </a:r>
            <a:endParaRPr lang="en-US" sz="1700" dirty="0"/>
          </a:p>
          <a:p>
            <a:pPr marL="190500" indent="-190500">
              <a:spcAft>
                <a:spcPts val="600"/>
              </a:spcAft>
              <a:buSzPct val="100000"/>
              <a:buChar char="•"/>
            </a:pPr>
            <a:r>
              <a:rPr lang="en-US" sz="1700" dirty="0">
                <a:solidFill>
                  <a:srgbClr val="2B2118"/>
                </a:solidFill>
              </a:rPr>
              <a:t>Within-polygon variation and accuracy unknown</a:t>
            </a:r>
            <a:endParaRPr lang="en-US" sz="1700" dirty="0"/>
          </a:p>
        </p:txBody>
      </p:sp>
      <p:sp>
        <p:nvSpPr>
          <p:cNvPr id="7" name="Shape 4"/>
          <p:cNvSpPr/>
          <p:nvPr/>
        </p:nvSpPr>
        <p:spPr>
          <a:xfrm>
            <a:off x="6400800" y="1371600"/>
            <a:ext cx="5212080" cy="3566160"/>
          </a:xfrm>
          <a:prstGeom prst="roundRect">
            <a:avLst>
              <a:gd name="adj" fmla="val 2051"/>
            </a:avLst>
          </a:prstGeom>
          <a:solidFill>
            <a:srgbClr val="F3F0EB"/>
          </a:solidFill>
          <a:ln/>
        </p:spPr>
      </p:sp>
      <p:sp>
        <p:nvSpPr>
          <p:cNvPr id="8" name="Text 5"/>
          <p:cNvSpPr txBox="1"/>
          <p:nvPr/>
        </p:nvSpPr>
        <p:spPr>
          <a:xfrm>
            <a:off x="6675120" y="1508760"/>
            <a:ext cx="4663440" cy="502920"/>
          </a:xfrm>
          <a:prstGeom prst="rect">
            <a:avLst/>
          </a:prstGeom>
          <a:noFill/>
          <a:ln/>
        </p:spPr>
        <p:txBody>
          <a:bodyPr wrap="square" lIns="0" tIns="0" rIns="0" bIns="0" rtlCol="0" anchor="ctr"/>
          <a:lstStyle/>
          <a:p>
            <a:pPr marL="0" indent="0">
              <a:buNone/>
            </a:pPr>
            <a:r>
              <a:rPr lang="en-US" sz="2000" b="1" dirty="0">
                <a:solidFill>
                  <a:srgbClr val="2E7D7A"/>
                </a:solidFill>
                <a:latin typeface="Cambria" pitchFamily="34" charset="0"/>
                <a:ea typeface="Cambria" pitchFamily="34" charset="-122"/>
                <a:cs typeface="Cambria" pitchFamily="34" charset="-120"/>
              </a:rPr>
              <a:t>Digital soil mapping (DSM)</a:t>
            </a:r>
            <a:endParaRPr lang="en-US" sz="2000" dirty="0"/>
          </a:p>
        </p:txBody>
      </p:sp>
      <p:sp>
        <p:nvSpPr>
          <p:cNvPr id="9" name="Text 6"/>
          <p:cNvSpPr txBox="1"/>
          <p:nvPr/>
        </p:nvSpPr>
        <p:spPr>
          <a:xfrm>
            <a:off x="6675120" y="2148840"/>
            <a:ext cx="4754880" cy="2743200"/>
          </a:xfrm>
          <a:prstGeom prst="rect">
            <a:avLst/>
          </a:prstGeom>
          <a:noFill/>
          <a:ln/>
        </p:spPr>
        <p:txBody>
          <a:bodyPr wrap="square" lIns="25400" tIns="25400" rIns="25400" bIns="25400" rtlCol="0" anchor="t"/>
          <a:lstStyle/>
          <a:p>
            <a:pPr marL="190500" indent="-190500">
              <a:spcAft>
                <a:spcPts val="600"/>
              </a:spcAft>
              <a:buSzPct val="100000"/>
              <a:buChar char="•"/>
            </a:pPr>
            <a:r>
              <a:rPr lang="en-US" sz="1700" dirty="0">
                <a:solidFill>
                  <a:srgbClr val="2B2118"/>
                </a:solidFill>
              </a:rPr>
              <a:t>Explicit numerical model: soil = f(covariates) + spatial error</a:t>
            </a:r>
            <a:endParaRPr lang="en-US" sz="1700" dirty="0"/>
          </a:p>
          <a:p>
            <a:pPr marL="190500" indent="-190500">
              <a:spcAft>
                <a:spcPts val="600"/>
              </a:spcAft>
              <a:buSzPct val="100000"/>
              <a:buChar char="•"/>
            </a:pPr>
            <a:r>
              <a:rPr lang="en-US" sz="1700" dirty="0">
                <a:solidFill>
                  <a:srgbClr val="2B2118"/>
                </a:solidFill>
              </a:rPr>
              <a:t>Raster maps of properties (30 m to 250 m pixels)</a:t>
            </a:r>
            <a:endParaRPr lang="en-US" sz="1700" dirty="0"/>
          </a:p>
          <a:p>
            <a:pPr marL="190500" indent="-190500">
              <a:spcAft>
                <a:spcPts val="600"/>
              </a:spcAft>
              <a:buSzPct val="100000"/>
              <a:buChar char="•"/>
            </a:pPr>
            <a:r>
              <a:rPr lang="en-US" sz="1700" dirty="0">
                <a:solidFill>
                  <a:srgbClr val="2B2118"/>
                </a:solidFill>
              </a:rPr>
              <a:t>Covariates from RS, DEM, climate and geology layers</a:t>
            </a:r>
            <a:endParaRPr lang="en-US" sz="1700" dirty="0"/>
          </a:p>
          <a:p>
            <a:pPr marL="190500" indent="-190500">
              <a:spcAft>
                <a:spcPts val="600"/>
              </a:spcAft>
              <a:buSzPct val="100000"/>
              <a:buChar char="•"/>
            </a:pPr>
            <a:r>
              <a:rPr lang="en-US" sz="1700" dirty="0">
                <a:solidFill>
                  <a:srgbClr val="2B2118"/>
                </a:solidFill>
              </a:rPr>
              <a:t>Reproducible, updatable, cloud-scale (GEE)</a:t>
            </a:r>
            <a:endParaRPr lang="en-US" sz="1700" dirty="0"/>
          </a:p>
          <a:p>
            <a:pPr marL="190500" indent="-190500">
              <a:spcAft>
                <a:spcPts val="600"/>
              </a:spcAft>
              <a:buSzPct val="100000"/>
              <a:buChar char="•"/>
            </a:pPr>
            <a:r>
              <a:rPr lang="en-US" sz="1700" dirty="0">
                <a:solidFill>
                  <a:srgbClr val="2B2118"/>
                </a:solidFill>
              </a:rPr>
              <a:t>Pixel-wise uncertainty (kriging variance, bootstrap PI)</a:t>
            </a:r>
            <a:endParaRPr lang="en-US" sz="1700" dirty="0"/>
          </a:p>
        </p:txBody>
      </p:sp>
      <p:sp>
        <p:nvSpPr>
          <p:cNvPr id="10" name="Shape 7"/>
          <p:cNvSpPr/>
          <p:nvPr/>
        </p:nvSpPr>
        <p:spPr>
          <a:xfrm>
            <a:off x="5852160" y="2926080"/>
            <a:ext cx="457200" cy="457200"/>
          </a:xfrm>
          <a:prstGeom prst="rightArrow">
            <a:avLst/>
          </a:prstGeom>
          <a:solidFill>
            <a:srgbClr val="C9A227"/>
          </a:solidFill>
          <a:ln/>
        </p:spPr>
      </p:sp>
      <p:sp>
        <p:nvSpPr>
          <p:cNvPr id="11" name="Text 8"/>
          <p:cNvSpPr txBox="1"/>
          <p:nvPr/>
        </p:nvSpPr>
        <p:spPr>
          <a:xfrm>
            <a:off x="548640" y="5166360"/>
            <a:ext cx="11064240" cy="822960"/>
          </a:xfrm>
          <a:prstGeom prst="roundRect">
            <a:avLst>
              <a:gd name="adj" fmla="val 8889"/>
            </a:avLst>
          </a:prstGeom>
          <a:solidFill>
            <a:srgbClr val="FFFFFF"/>
          </a:solidFill>
          <a:ln w="12700">
            <a:solidFill>
              <a:srgbClr val="8C5A2B"/>
            </a:solidFill>
          </a:ln>
        </p:spPr>
        <p:txBody>
          <a:bodyPr wrap="square" lIns="127000" tIns="127000" rIns="127000" bIns="127000" rtlCol="0" anchor="ctr"/>
          <a:lstStyle/>
          <a:p>
            <a:pPr marL="0" indent="0" algn="l">
              <a:buNone/>
            </a:pPr>
            <a:r>
              <a:rPr lang="en-US" sz="1500" dirty="0">
                <a:solidFill>
                  <a:srgbClr val="2B2118"/>
                </a:solidFill>
              </a:rPr>
              <a:t>DSM: building spatial soil information systems with numerical models that infer the spatial (and temporal) variation of soil types and properties from soil observations and related environmental variables.</a:t>
            </a:r>
            <a:endParaRPr lang="en-US" sz="1500" dirty="0"/>
          </a:p>
        </p:txBody>
      </p:sp>
      <p:sp>
        <p:nvSpPr>
          <p:cNvPr id="12" name="Text 9"/>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Definition paraphrased from McBratney et al. (2003) Geoderma 117:3–52</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The scorpan model: covariates for the soil-forming factors</a:t>
            </a:r>
            <a:endParaRPr lang="en-US" sz="3200" dirty="0"/>
          </a:p>
        </p:txBody>
      </p:sp>
      <p:sp>
        <p:nvSpPr>
          <p:cNvPr id="4" name="Text 1"/>
          <p:cNvSpPr txBox="1"/>
          <p:nvPr/>
        </p:nvSpPr>
        <p:spPr>
          <a:xfrm>
            <a:off x="548640" y="1234440"/>
            <a:ext cx="11064240" cy="685800"/>
          </a:xfrm>
          <a:prstGeom prst="rect">
            <a:avLst/>
          </a:prstGeom>
          <a:noFill/>
          <a:ln/>
        </p:spPr>
        <p:txBody>
          <a:bodyPr wrap="square" rtlCol="0" anchor="ctr"/>
          <a:lstStyle/>
          <a:p>
            <a:pPr marL="0" indent="0" algn="ctr">
              <a:buNone/>
            </a:pPr>
            <a:r>
              <a:rPr lang="en-US" sz="3000" b="1" dirty="0">
                <a:solidFill>
                  <a:srgbClr val="8C5A2B"/>
                </a:solidFill>
                <a:latin typeface="Cambria" pitchFamily="34" charset="0"/>
                <a:ea typeface="Cambria" pitchFamily="34" charset="-122"/>
                <a:cs typeface="Cambria" pitchFamily="34" charset="-120"/>
              </a:rPr>
              <a:t>S</a:t>
            </a:r>
            <a:r>
              <a:rPr lang="en-US" sz="3000" dirty="0">
                <a:solidFill>
                  <a:srgbClr val="2B2118"/>
                </a:solidFill>
                <a:latin typeface="Cambria" pitchFamily="34" charset="0"/>
                <a:ea typeface="Cambria" pitchFamily="34" charset="-122"/>
                <a:cs typeface="Cambria" pitchFamily="34" charset="-120"/>
              </a:rPr>
              <a:t> = f ( s, c, o, r, p, a, n ) + ε</a:t>
            </a:r>
            <a:endParaRPr lang="en-US" sz="3000" dirty="0"/>
          </a:p>
        </p:txBody>
      </p:sp>
      <p:sp>
        <p:nvSpPr>
          <p:cNvPr id="5" name="Text 2"/>
          <p:cNvSpPr txBox="1"/>
          <p:nvPr/>
        </p:nvSpPr>
        <p:spPr>
          <a:xfrm>
            <a:off x="868680" y="2148840"/>
            <a:ext cx="822960" cy="822960"/>
          </a:xfrm>
          <a:prstGeom prst="ellipse">
            <a:avLst/>
          </a:prstGeom>
          <a:solidFill>
            <a:srgbClr val="8C5A2B"/>
          </a:solid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s</a:t>
            </a:r>
            <a:endParaRPr lang="en-US" sz="3000" dirty="0"/>
          </a:p>
        </p:txBody>
      </p:sp>
      <p:sp>
        <p:nvSpPr>
          <p:cNvPr id="6" name="Text 3"/>
          <p:cNvSpPr txBox="1"/>
          <p:nvPr/>
        </p:nvSpPr>
        <p:spPr>
          <a:xfrm>
            <a:off x="548640" y="3063240"/>
            <a:ext cx="1463040" cy="411480"/>
          </a:xfrm>
          <a:prstGeom prst="rect">
            <a:avLst/>
          </a:prstGeom>
          <a:noFill/>
          <a:ln/>
        </p:spPr>
        <p:txBody>
          <a:bodyPr wrap="square" lIns="0" tIns="0" rIns="0" bIns="0" rtlCol="0" anchor="ctr"/>
          <a:lstStyle/>
          <a:p>
            <a:pPr marL="0" indent="0" algn="ctr">
              <a:buNone/>
            </a:pPr>
            <a:r>
              <a:rPr lang="en-US" sz="1600" b="1" dirty="0">
                <a:solidFill>
                  <a:srgbClr val="2B2118"/>
                </a:solidFill>
              </a:rPr>
              <a:t>Soil</a:t>
            </a:r>
            <a:endParaRPr lang="en-US" sz="1600" dirty="0"/>
          </a:p>
        </p:txBody>
      </p:sp>
      <p:sp>
        <p:nvSpPr>
          <p:cNvPr id="7" name="Shape 4"/>
          <p:cNvSpPr/>
          <p:nvPr/>
        </p:nvSpPr>
        <p:spPr>
          <a:xfrm>
            <a:off x="548640" y="3520440"/>
            <a:ext cx="1463040" cy="1828800"/>
          </a:xfrm>
          <a:prstGeom prst="roundRect">
            <a:avLst>
              <a:gd name="adj" fmla="val 3750"/>
            </a:avLst>
          </a:prstGeom>
          <a:solidFill>
            <a:srgbClr val="F3F0EB"/>
          </a:solidFill>
          <a:ln/>
        </p:spPr>
      </p:sp>
      <p:sp>
        <p:nvSpPr>
          <p:cNvPr id="8" name="Text 5"/>
          <p:cNvSpPr txBox="1"/>
          <p:nvPr/>
        </p:nvSpPr>
        <p:spPr>
          <a:xfrm>
            <a:off x="621792" y="3584448"/>
            <a:ext cx="1316736" cy="1700784"/>
          </a:xfrm>
          <a:prstGeom prst="rect">
            <a:avLst/>
          </a:prstGeom>
          <a:noFill/>
          <a:ln/>
        </p:spPr>
        <p:txBody>
          <a:bodyPr wrap="square" lIns="25400" tIns="25400" rIns="25400" bIns="25400" rtlCol="0" anchor="t"/>
          <a:lstStyle/>
          <a:p>
            <a:pPr marL="0" indent="0" algn="l">
              <a:buNone/>
            </a:pPr>
            <a:r>
              <a:rPr lang="en-US" sz="1300" dirty="0">
                <a:solidFill>
                  <a:srgbClr val="4A3B2E"/>
                </a:solidFill>
              </a:rPr>
              <a:t>Legacy maps; brightness, coloration, redness, clay &amp; bare-soil indices</a:t>
            </a:r>
            <a:endParaRPr lang="en-US" sz="1300" dirty="0"/>
          </a:p>
        </p:txBody>
      </p:sp>
      <p:sp>
        <p:nvSpPr>
          <p:cNvPr id="9" name="Text 6"/>
          <p:cNvSpPr txBox="1"/>
          <p:nvPr/>
        </p:nvSpPr>
        <p:spPr>
          <a:xfrm>
            <a:off x="2462479" y="2148840"/>
            <a:ext cx="822960" cy="822960"/>
          </a:xfrm>
          <a:prstGeom prst="ellipse">
            <a:avLst/>
          </a:prstGeom>
          <a:solidFill>
            <a:srgbClr val="2E7D7A"/>
          </a:solid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c</a:t>
            </a:r>
            <a:endParaRPr lang="en-US" sz="3000" dirty="0"/>
          </a:p>
        </p:txBody>
      </p:sp>
      <p:sp>
        <p:nvSpPr>
          <p:cNvPr id="10" name="Text 7"/>
          <p:cNvSpPr txBox="1"/>
          <p:nvPr/>
        </p:nvSpPr>
        <p:spPr>
          <a:xfrm>
            <a:off x="2142439" y="3063240"/>
            <a:ext cx="1463040" cy="411480"/>
          </a:xfrm>
          <a:prstGeom prst="rect">
            <a:avLst/>
          </a:prstGeom>
          <a:noFill/>
          <a:ln/>
        </p:spPr>
        <p:txBody>
          <a:bodyPr wrap="square" lIns="0" tIns="0" rIns="0" bIns="0" rtlCol="0" anchor="ctr"/>
          <a:lstStyle/>
          <a:p>
            <a:pPr marL="0" indent="0" algn="ctr">
              <a:buNone/>
            </a:pPr>
            <a:r>
              <a:rPr lang="en-US" sz="1600" b="1" dirty="0">
                <a:solidFill>
                  <a:srgbClr val="2B2118"/>
                </a:solidFill>
              </a:rPr>
              <a:t>Climate</a:t>
            </a:r>
            <a:endParaRPr lang="en-US" sz="1600" dirty="0"/>
          </a:p>
        </p:txBody>
      </p:sp>
      <p:sp>
        <p:nvSpPr>
          <p:cNvPr id="11" name="Shape 8"/>
          <p:cNvSpPr/>
          <p:nvPr/>
        </p:nvSpPr>
        <p:spPr>
          <a:xfrm>
            <a:off x="2142439" y="3520440"/>
            <a:ext cx="1463040" cy="1828800"/>
          </a:xfrm>
          <a:prstGeom prst="roundRect">
            <a:avLst>
              <a:gd name="adj" fmla="val 3750"/>
            </a:avLst>
          </a:prstGeom>
          <a:solidFill>
            <a:srgbClr val="F3F0EB"/>
          </a:solidFill>
          <a:ln/>
        </p:spPr>
      </p:sp>
      <p:sp>
        <p:nvSpPr>
          <p:cNvPr id="12" name="Text 9"/>
          <p:cNvSpPr txBox="1"/>
          <p:nvPr/>
        </p:nvSpPr>
        <p:spPr>
          <a:xfrm>
            <a:off x="2215591" y="3584448"/>
            <a:ext cx="1316736" cy="1700784"/>
          </a:xfrm>
          <a:prstGeom prst="rect">
            <a:avLst/>
          </a:prstGeom>
          <a:noFill/>
          <a:ln/>
        </p:spPr>
        <p:txBody>
          <a:bodyPr wrap="square" lIns="25400" tIns="25400" rIns="25400" bIns="25400" rtlCol="0" anchor="t"/>
          <a:lstStyle/>
          <a:p>
            <a:pPr marL="0" indent="0" algn="l">
              <a:buNone/>
            </a:pPr>
            <a:r>
              <a:rPr lang="en-US" sz="1300" dirty="0">
                <a:solidFill>
                  <a:srgbClr val="4A3B2E"/>
                </a:solidFill>
              </a:rPr>
              <a:t>CHELSA bioclim (MAT, MAP, Bio1–19); MODIS LST mean &amp; SD</a:t>
            </a:r>
            <a:endParaRPr lang="en-US" sz="1300" dirty="0"/>
          </a:p>
        </p:txBody>
      </p:sp>
      <p:sp>
        <p:nvSpPr>
          <p:cNvPr id="13" name="Text 10"/>
          <p:cNvSpPr txBox="1"/>
          <p:nvPr/>
        </p:nvSpPr>
        <p:spPr>
          <a:xfrm>
            <a:off x="4056278" y="2148840"/>
            <a:ext cx="822960" cy="822960"/>
          </a:xfrm>
          <a:prstGeom prst="ellipse">
            <a:avLst/>
          </a:prstGeom>
          <a:solidFill>
            <a:srgbClr val="6B8E4E"/>
          </a:solid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o</a:t>
            </a:r>
            <a:endParaRPr lang="en-US" sz="3000" dirty="0"/>
          </a:p>
        </p:txBody>
      </p:sp>
      <p:sp>
        <p:nvSpPr>
          <p:cNvPr id="14" name="Text 11"/>
          <p:cNvSpPr txBox="1"/>
          <p:nvPr/>
        </p:nvSpPr>
        <p:spPr>
          <a:xfrm>
            <a:off x="3736238" y="3063240"/>
            <a:ext cx="1463040" cy="411480"/>
          </a:xfrm>
          <a:prstGeom prst="rect">
            <a:avLst/>
          </a:prstGeom>
          <a:noFill/>
          <a:ln/>
        </p:spPr>
        <p:txBody>
          <a:bodyPr wrap="square" lIns="0" tIns="0" rIns="0" bIns="0" rtlCol="0" anchor="ctr"/>
          <a:lstStyle/>
          <a:p>
            <a:pPr marL="0" indent="0" algn="ctr">
              <a:buNone/>
            </a:pPr>
            <a:r>
              <a:rPr lang="en-US" sz="1600" b="1" dirty="0">
                <a:solidFill>
                  <a:srgbClr val="2B2118"/>
                </a:solidFill>
              </a:rPr>
              <a:t>Organisms</a:t>
            </a:r>
            <a:endParaRPr lang="en-US" sz="1600" dirty="0"/>
          </a:p>
        </p:txBody>
      </p:sp>
      <p:sp>
        <p:nvSpPr>
          <p:cNvPr id="15" name="Shape 12"/>
          <p:cNvSpPr/>
          <p:nvPr/>
        </p:nvSpPr>
        <p:spPr>
          <a:xfrm>
            <a:off x="3736238" y="3520440"/>
            <a:ext cx="1463040" cy="1828800"/>
          </a:xfrm>
          <a:prstGeom prst="roundRect">
            <a:avLst>
              <a:gd name="adj" fmla="val 3750"/>
            </a:avLst>
          </a:prstGeom>
          <a:solidFill>
            <a:srgbClr val="F3F0EB"/>
          </a:solidFill>
          <a:ln/>
        </p:spPr>
      </p:sp>
      <p:sp>
        <p:nvSpPr>
          <p:cNvPr id="16" name="Text 13"/>
          <p:cNvSpPr txBox="1"/>
          <p:nvPr/>
        </p:nvSpPr>
        <p:spPr>
          <a:xfrm>
            <a:off x="3809390" y="3584448"/>
            <a:ext cx="1316736" cy="1700784"/>
          </a:xfrm>
          <a:prstGeom prst="rect">
            <a:avLst/>
          </a:prstGeom>
          <a:noFill/>
          <a:ln/>
        </p:spPr>
        <p:txBody>
          <a:bodyPr wrap="square" lIns="25400" tIns="25400" rIns="25400" bIns="25400" rtlCol="0" anchor="t"/>
          <a:lstStyle/>
          <a:p>
            <a:pPr marL="0" indent="0" algn="l">
              <a:buNone/>
            </a:pPr>
            <a:r>
              <a:rPr lang="en-US" sz="1300" dirty="0">
                <a:solidFill>
                  <a:srgbClr val="4A3B2E"/>
                </a:solidFill>
              </a:rPr>
              <a:t>Landsat bands, EVI mean &amp; SD, NDVI; LULC map</a:t>
            </a:r>
            <a:endParaRPr lang="en-US" sz="1300" dirty="0"/>
          </a:p>
        </p:txBody>
      </p:sp>
      <p:sp>
        <p:nvSpPr>
          <p:cNvPr id="17" name="Text 14"/>
          <p:cNvSpPr txBox="1"/>
          <p:nvPr/>
        </p:nvSpPr>
        <p:spPr>
          <a:xfrm>
            <a:off x="5650078" y="2148840"/>
            <a:ext cx="822960" cy="822960"/>
          </a:xfrm>
          <a:prstGeom prst="ellipse">
            <a:avLst/>
          </a:prstGeom>
          <a:solidFill>
            <a:srgbClr val="C9A227"/>
          </a:solid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r</a:t>
            </a:r>
            <a:endParaRPr lang="en-US" sz="3000" dirty="0"/>
          </a:p>
        </p:txBody>
      </p:sp>
      <p:sp>
        <p:nvSpPr>
          <p:cNvPr id="18" name="Text 15"/>
          <p:cNvSpPr txBox="1"/>
          <p:nvPr/>
        </p:nvSpPr>
        <p:spPr>
          <a:xfrm>
            <a:off x="5330038" y="3063240"/>
            <a:ext cx="1463040" cy="411480"/>
          </a:xfrm>
          <a:prstGeom prst="rect">
            <a:avLst/>
          </a:prstGeom>
          <a:noFill/>
          <a:ln/>
        </p:spPr>
        <p:txBody>
          <a:bodyPr wrap="square" lIns="0" tIns="0" rIns="0" bIns="0" rtlCol="0" anchor="ctr"/>
          <a:lstStyle/>
          <a:p>
            <a:pPr marL="0" indent="0" algn="ctr">
              <a:buNone/>
            </a:pPr>
            <a:r>
              <a:rPr lang="en-US" sz="1600" b="1" dirty="0">
                <a:solidFill>
                  <a:srgbClr val="2B2118"/>
                </a:solidFill>
              </a:rPr>
              <a:t>Relief</a:t>
            </a:r>
            <a:endParaRPr lang="en-US" sz="1600" dirty="0"/>
          </a:p>
        </p:txBody>
      </p:sp>
      <p:sp>
        <p:nvSpPr>
          <p:cNvPr id="19" name="Shape 16"/>
          <p:cNvSpPr/>
          <p:nvPr/>
        </p:nvSpPr>
        <p:spPr>
          <a:xfrm>
            <a:off x="5330038" y="3520440"/>
            <a:ext cx="1463040" cy="1828800"/>
          </a:xfrm>
          <a:prstGeom prst="roundRect">
            <a:avLst>
              <a:gd name="adj" fmla="val 3750"/>
            </a:avLst>
          </a:prstGeom>
          <a:solidFill>
            <a:srgbClr val="F3F0EB"/>
          </a:solidFill>
          <a:ln/>
        </p:spPr>
      </p:sp>
      <p:sp>
        <p:nvSpPr>
          <p:cNvPr id="20" name="Text 17"/>
          <p:cNvSpPr txBox="1"/>
          <p:nvPr/>
        </p:nvSpPr>
        <p:spPr>
          <a:xfrm>
            <a:off x="5403190" y="3584448"/>
            <a:ext cx="1316736" cy="1700784"/>
          </a:xfrm>
          <a:prstGeom prst="rect">
            <a:avLst/>
          </a:prstGeom>
          <a:noFill/>
          <a:ln/>
        </p:spPr>
        <p:txBody>
          <a:bodyPr wrap="square" lIns="25400" tIns="25400" rIns="25400" bIns="25400" rtlCol="0" anchor="t"/>
          <a:lstStyle/>
          <a:p>
            <a:pPr marL="0" indent="0" algn="l">
              <a:buNone/>
            </a:pPr>
            <a:r>
              <a:rPr lang="en-US" sz="1300" dirty="0">
                <a:solidFill>
                  <a:srgbClr val="4A3B2E"/>
                </a:solidFill>
              </a:rPr>
              <a:t>SRTM DEM: slope, aspect, curvature, TPI, TRI, MRVBF, MRRTF, LS</a:t>
            </a:r>
            <a:endParaRPr lang="en-US" sz="1300" dirty="0"/>
          </a:p>
        </p:txBody>
      </p:sp>
      <p:sp>
        <p:nvSpPr>
          <p:cNvPr id="21" name="Text 18"/>
          <p:cNvSpPr txBox="1"/>
          <p:nvPr/>
        </p:nvSpPr>
        <p:spPr>
          <a:xfrm>
            <a:off x="7243877" y="2148840"/>
            <a:ext cx="822960" cy="822960"/>
          </a:xfrm>
          <a:prstGeom prst="ellipse">
            <a:avLst/>
          </a:prstGeom>
          <a:solidFill>
            <a:srgbClr val="A44A3F"/>
          </a:solid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p</a:t>
            </a:r>
            <a:endParaRPr lang="en-US" sz="3000" dirty="0"/>
          </a:p>
        </p:txBody>
      </p:sp>
      <p:sp>
        <p:nvSpPr>
          <p:cNvPr id="22" name="Text 19"/>
          <p:cNvSpPr txBox="1"/>
          <p:nvPr/>
        </p:nvSpPr>
        <p:spPr>
          <a:xfrm>
            <a:off x="6923837" y="3063240"/>
            <a:ext cx="1463040" cy="411480"/>
          </a:xfrm>
          <a:prstGeom prst="rect">
            <a:avLst/>
          </a:prstGeom>
          <a:noFill/>
          <a:ln/>
        </p:spPr>
        <p:txBody>
          <a:bodyPr wrap="square" lIns="0" tIns="0" rIns="0" bIns="0" rtlCol="0" anchor="ctr"/>
          <a:lstStyle/>
          <a:p>
            <a:pPr marL="0" indent="0" algn="ctr">
              <a:buNone/>
            </a:pPr>
            <a:r>
              <a:rPr lang="en-US" sz="1600" b="1" dirty="0">
                <a:solidFill>
                  <a:srgbClr val="2B2118"/>
                </a:solidFill>
              </a:rPr>
              <a:t>Parent material</a:t>
            </a:r>
            <a:endParaRPr lang="en-US" sz="1600" dirty="0"/>
          </a:p>
        </p:txBody>
      </p:sp>
      <p:sp>
        <p:nvSpPr>
          <p:cNvPr id="23" name="Shape 20"/>
          <p:cNvSpPr/>
          <p:nvPr/>
        </p:nvSpPr>
        <p:spPr>
          <a:xfrm>
            <a:off x="6923837" y="3520440"/>
            <a:ext cx="1463040" cy="1828800"/>
          </a:xfrm>
          <a:prstGeom prst="roundRect">
            <a:avLst>
              <a:gd name="adj" fmla="val 3750"/>
            </a:avLst>
          </a:prstGeom>
          <a:solidFill>
            <a:srgbClr val="F3F0EB"/>
          </a:solidFill>
          <a:ln/>
        </p:spPr>
      </p:sp>
      <p:sp>
        <p:nvSpPr>
          <p:cNvPr id="24" name="Text 21"/>
          <p:cNvSpPr txBox="1"/>
          <p:nvPr/>
        </p:nvSpPr>
        <p:spPr>
          <a:xfrm>
            <a:off x="6996989" y="3584448"/>
            <a:ext cx="1316736" cy="1700784"/>
          </a:xfrm>
          <a:prstGeom prst="rect">
            <a:avLst/>
          </a:prstGeom>
          <a:noFill/>
          <a:ln/>
        </p:spPr>
        <p:txBody>
          <a:bodyPr wrap="square" lIns="25400" tIns="25400" rIns="25400" bIns="25400" rtlCol="0" anchor="t"/>
          <a:lstStyle/>
          <a:p>
            <a:pPr marL="0" indent="0" algn="l">
              <a:buNone/>
            </a:pPr>
            <a:r>
              <a:rPr lang="en-US" sz="1300" dirty="0">
                <a:solidFill>
                  <a:srgbClr val="4A3B2E"/>
                </a:solidFill>
              </a:rPr>
              <a:t>Lithological groups (GSI 1:50k), geology map</a:t>
            </a:r>
            <a:endParaRPr lang="en-US" sz="1300" dirty="0"/>
          </a:p>
        </p:txBody>
      </p:sp>
      <p:sp>
        <p:nvSpPr>
          <p:cNvPr id="25" name="Text 22"/>
          <p:cNvSpPr txBox="1"/>
          <p:nvPr/>
        </p:nvSpPr>
        <p:spPr>
          <a:xfrm>
            <a:off x="8837676" y="2148840"/>
            <a:ext cx="822960" cy="822960"/>
          </a:xfrm>
          <a:prstGeom prst="ellipse">
            <a:avLst/>
          </a:prstGeom>
          <a:solidFill>
            <a:srgbClr val="8A8178"/>
          </a:solid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a</a:t>
            </a:r>
            <a:endParaRPr lang="en-US" sz="3000" dirty="0"/>
          </a:p>
        </p:txBody>
      </p:sp>
      <p:sp>
        <p:nvSpPr>
          <p:cNvPr id="26" name="Text 23"/>
          <p:cNvSpPr txBox="1"/>
          <p:nvPr/>
        </p:nvSpPr>
        <p:spPr>
          <a:xfrm>
            <a:off x="8517636" y="3063240"/>
            <a:ext cx="1463040" cy="411480"/>
          </a:xfrm>
          <a:prstGeom prst="rect">
            <a:avLst/>
          </a:prstGeom>
          <a:noFill/>
          <a:ln/>
        </p:spPr>
        <p:txBody>
          <a:bodyPr wrap="square" lIns="0" tIns="0" rIns="0" bIns="0" rtlCol="0" anchor="ctr"/>
          <a:lstStyle/>
          <a:p>
            <a:pPr marL="0" indent="0" algn="ctr">
              <a:buNone/>
            </a:pPr>
            <a:r>
              <a:rPr lang="en-US" sz="1600" b="1" dirty="0">
                <a:solidFill>
                  <a:srgbClr val="2B2118"/>
                </a:solidFill>
              </a:rPr>
              <a:t>Age</a:t>
            </a:r>
            <a:endParaRPr lang="en-US" sz="1600" dirty="0"/>
          </a:p>
        </p:txBody>
      </p:sp>
      <p:sp>
        <p:nvSpPr>
          <p:cNvPr id="27" name="Shape 24"/>
          <p:cNvSpPr/>
          <p:nvPr/>
        </p:nvSpPr>
        <p:spPr>
          <a:xfrm>
            <a:off x="8517636" y="3520440"/>
            <a:ext cx="1463040" cy="1828800"/>
          </a:xfrm>
          <a:prstGeom prst="roundRect">
            <a:avLst>
              <a:gd name="adj" fmla="val 3750"/>
            </a:avLst>
          </a:prstGeom>
          <a:solidFill>
            <a:srgbClr val="F3F0EB"/>
          </a:solidFill>
          <a:ln/>
        </p:spPr>
      </p:sp>
      <p:sp>
        <p:nvSpPr>
          <p:cNvPr id="28" name="Text 25"/>
          <p:cNvSpPr txBox="1"/>
          <p:nvPr/>
        </p:nvSpPr>
        <p:spPr>
          <a:xfrm>
            <a:off x="8590788" y="3584448"/>
            <a:ext cx="1316736" cy="1700784"/>
          </a:xfrm>
          <a:prstGeom prst="rect">
            <a:avLst/>
          </a:prstGeom>
          <a:noFill/>
          <a:ln/>
        </p:spPr>
        <p:txBody>
          <a:bodyPr wrap="square" lIns="25400" tIns="25400" rIns="25400" bIns="25400" rtlCol="0" anchor="t"/>
          <a:lstStyle/>
          <a:p>
            <a:pPr marL="0" indent="0" algn="l">
              <a:buNone/>
            </a:pPr>
            <a:r>
              <a:rPr lang="en-US" sz="1300" dirty="0">
                <a:solidFill>
                  <a:srgbClr val="4A3B2E"/>
                </a:solidFill>
              </a:rPr>
              <a:t>Geomorphic surface age, landform stage</a:t>
            </a:r>
            <a:endParaRPr lang="en-US" sz="1300" dirty="0"/>
          </a:p>
        </p:txBody>
      </p:sp>
      <p:sp>
        <p:nvSpPr>
          <p:cNvPr id="29" name="Text 26"/>
          <p:cNvSpPr txBox="1"/>
          <p:nvPr/>
        </p:nvSpPr>
        <p:spPr>
          <a:xfrm>
            <a:off x="10431475" y="2148840"/>
            <a:ext cx="822960" cy="822960"/>
          </a:xfrm>
          <a:prstGeom prst="ellipse">
            <a:avLst/>
          </a:prstGeom>
          <a:solidFill>
            <a:srgbClr val="4A3B2E"/>
          </a:solid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n</a:t>
            </a:r>
            <a:endParaRPr lang="en-US" sz="3000" dirty="0"/>
          </a:p>
        </p:txBody>
      </p:sp>
      <p:sp>
        <p:nvSpPr>
          <p:cNvPr id="30" name="Text 27"/>
          <p:cNvSpPr txBox="1"/>
          <p:nvPr/>
        </p:nvSpPr>
        <p:spPr>
          <a:xfrm>
            <a:off x="10111435" y="3063240"/>
            <a:ext cx="1463040" cy="411480"/>
          </a:xfrm>
          <a:prstGeom prst="rect">
            <a:avLst/>
          </a:prstGeom>
          <a:noFill/>
          <a:ln/>
        </p:spPr>
        <p:txBody>
          <a:bodyPr wrap="square" lIns="0" tIns="0" rIns="0" bIns="0" rtlCol="0" anchor="ctr"/>
          <a:lstStyle/>
          <a:p>
            <a:pPr marL="0" indent="0" algn="ctr">
              <a:buNone/>
            </a:pPr>
            <a:r>
              <a:rPr lang="en-US" sz="1600" b="1" dirty="0">
                <a:solidFill>
                  <a:srgbClr val="2B2118"/>
                </a:solidFill>
              </a:rPr>
              <a:t>Space</a:t>
            </a:r>
            <a:endParaRPr lang="en-US" sz="1600" dirty="0"/>
          </a:p>
        </p:txBody>
      </p:sp>
      <p:sp>
        <p:nvSpPr>
          <p:cNvPr id="31" name="Shape 28"/>
          <p:cNvSpPr/>
          <p:nvPr/>
        </p:nvSpPr>
        <p:spPr>
          <a:xfrm>
            <a:off x="10111435" y="3520440"/>
            <a:ext cx="1463040" cy="1828800"/>
          </a:xfrm>
          <a:prstGeom prst="roundRect">
            <a:avLst>
              <a:gd name="adj" fmla="val 3750"/>
            </a:avLst>
          </a:prstGeom>
          <a:solidFill>
            <a:srgbClr val="F3F0EB"/>
          </a:solidFill>
          <a:ln/>
        </p:spPr>
      </p:sp>
      <p:sp>
        <p:nvSpPr>
          <p:cNvPr id="32" name="Text 29"/>
          <p:cNvSpPr txBox="1"/>
          <p:nvPr/>
        </p:nvSpPr>
        <p:spPr>
          <a:xfrm>
            <a:off x="10184587" y="3584448"/>
            <a:ext cx="1316736" cy="1700784"/>
          </a:xfrm>
          <a:prstGeom prst="rect">
            <a:avLst/>
          </a:prstGeom>
          <a:noFill/>
          <a:ln/>
        </p:spPr>
        <p:txBody>
          <a:bodyPr wrap="square" lIns="25400" tIns="25400" rIns="25400" bIns="25400" rtlCol="0" anchor="t"/>
          <a:lstStyle/>
          <a:p>
            <a:pPr marL="0" indent="0" algn="l">
              <a:buNone/>
            </a:pPr>
            <a:r>
              <a:rPr lang="en-US" sz="1300" dirty="0">
                <a:solidFill>
                  <a:srgbClr val="4A3B2E"/>
                </a:solidFill>
              </a:rPr>
              <a:t>Coordinates, distance fields, neighbourhood terms</a:t>
            </a:r>
            <a:endParaRPr lang="en-US" sz="1300" dirty="0"/>
          </a:p>
        </p:txBody>
      </p:sp>
      <p:sp>
        <p:nvSpPr>
          <p:cNvPr id="33" name="Text 30"/>
          <p:cNvSpPr txBox="1"/>
          <p:nvPr/>
        </p:nvSpPr>
        <p:spPr>
          <a:xfrm>
            <a:off x="548640" y="5486400"/>
            <a:ext cx="11064240" cy="548640"/>
          </a:xfrm>
          <a:prstGeom prst="roundRect">
            <a:avLst>
              <a:gd name="adj" fmla="val 13333"/>
            </a:avLst>
          </a:prstGeom>
          <a:solidFill>
            <a:srgbClr val="FFFFFF"/>
          </a:solidFill>
          <a:ln/>
        </p:spPr>
        <p:txBody>
          <a:bodyPr wrap="square" lIns="76200" tIns="76200" rIns="76200" bIns="76200" rtlCol="0" anchor="ctr"/>
          <a:lstStyle/>
          <a:p>
            <a:pPr marL="0" indent="0" algn="l">
              <a:buNone/>
            </a:pPr>
            <a:r>
              <a:rPr lang="en-US" sz="1400" dirty="0">
                <a:solidFill>
                  <a:srgbClr val="4A3B2E"/>
                </a:solidFill>
              </a:rPr>
              <a:t>ε = spatially auto-correlated residual. Geostatistics models ε; regression/ML models f; hybrid methods model both.</a:t>
            </a:r>
            <a:endParaRPr lang="en-US" sz="1400" dirty="0"/>
          </a:p>
        </p:txBody>
      </p:sp>
      <p:sp>
        <p:nvSpPr>
          <p:cNvPr id="34" name="Text 31"/>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Jenny (1941); McBratney et al. (2003); covariate examples from Kalambukattu et al. (2025) Discover Soil 2:35, Table 1</a:t>
            </a:r>
            <a:endParaRPr lang="en-US" sz="1000" dirty="0"/>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Generic DSM workflow</a:t>
            </a:r>
            <a:endParaRPr lang="en-US" sz="3200" dirty="0"/>
          </a:p>
        </p:txBody>
      </p:sp>
      <p:sp>
        <p:nvSpPr>
          <p:cNvPr id="4" name="Text 1"/>
          <p:cNvSpPr txBox="1"/>
          <p:nvPr/>
        </p:nvSpPr>
        <p:spPr>
          <a:xfrm>
            <a:off x="548640" y="1417320"/>
            <a:ext cx="2103120" cy="777240"/>
          </a:xfrm>
          <a:prstGeom prst="roundRect">
            <a:avLst>
              <a:gd name="adj" fmla="val 9412"/>
            </a:avLst>
          </a:prstGeom>
          <a:solidFill>
            <a:srgbClr val="F3F0EB"/>
          </a:solidFill>
          <a:ln/>
        </p:spPr>
        <p:txBody>
          <a:bodyPr wrap="square" lIns="50800" tIns="50800" rIns="50800" bIns="50800" rtlCol="0" anchor="ctr"/>
          <a:lstStyle/>
          <a:p>
            <a:pPr marL="0" indent="0" algn="ctr">
              <a:buNone/>
            </a:pPr>
            <a:r>
              <a:rPr lang="en-US" sz="1300" dirty="0">
                <a:solidFill>
                  <a:srgbClr val="2B2118"/>
                </a:solidFill>
              </a:rPr>
              <a:t>Sampling design</a:t>
            </a:r>
            <a:endParaRPr lang="en-US" sz="1300" dirty="0"/>
          </a:p>
          <a:p>
            <a:pPr marL="0" indent="0" algn="ctr">
              <a:buNone/>
            </a:pPr>
            <a:r>
              <a:rPr lang="en-US" sz="1300" dirty="0">
                <a:solidFill>
                  <a:srgbClr val="2B2118"/>
                </a:solidFill>
              </a:rPr>
              <a:t>(stratified, cLHS, grid)</a:t>
            </a:r>
            <a:endParaRPr lang="en-US" sz="1300" dirty="0"/>
          </a:p>
        </p:txBody>
      </p:sp>
      <p:sp>
        <p:nvSpPr>
          <p:cNvPr id="5" name="Shape 2"/>
          <p:cNvSpPr/>
          <p:nvPr/>
        </p:nvSpPr>
        <p:spPr>
          <a:xfrm>
            <a:off x="2651760" y="1805940"/>
            <a:ext cx="320040" cy="914"/>
          </a:xfrm>
          <a:prstGeom prst="line">
            <a:avLst/>
          </a:prstGeom>
          <a:noFill/>
          <a:ln w="22225">
            <a:solidFill>
              <a:srgbClr val="8A8178"/>
            </a:solidFill>
            <a:prstDash val="solid"/>
            <a:tailEnd type="triangle"/>
          </a:ln>
        </p:spPr>
      </p:sp>
      <p:sp>
        <p:nvSpPr>
          <p:cNvPr id="6" name="Text 3"/>
          <p:cNvSpPr txBox="1"/>
          <p:nvPr/>
        </p:nvSpPr>
        <p:spPr>
          <a:xfrm>
            <a:off x="2971800" y="1417320"/>
            <a:ext cx="2103120" cy="777240"/>
          </a:xfrm>
          <a:prstGeom prst="roundRect">
            <a:avLst>
              <a:gd name="adj" fmla="val 9412"/>
            </a:avLst>
          </a:prstGeom>
          <a:solidFill>
            <a:srgbClr val="F3F0EB"/>
          </a:solidFill>
          <a:ln/>
        </p:spPr>
        <p:txBody>
          <a:bodyPr wrap="square" lIns="50800" tIns="50800" rIns="50800" bIns="50800" rtlCol="0" anchor="ctr"/>
          <a:lstStyle/>
          <a:p>
            <a:pPr marL="0" indent="0" algn="ctr">
              <a:buNone/>
            </a:pPr>
            <a:r>
              <a:rPr lang="en-US" sz="1300" dirty="0">
                <a:solidFill>
                  <a:srgbClr val="2B2118"/>
                </a:solidFill>
              </a:rPr>
              <a:t>Field sampling</a:t>
            </a:r>
            <a:endParaRPr lang="en-US" sz="1300" dirty="0"/>
          </a:p>
          <a:p>
            <a:pPr marL="0" indent="0" algn="ctr">
              <a:buNone/>
            </a:pPr>
            <a:r>
              <a:rPr lang="en-US" sz="1300" dirty="0">
                <a:solidFill>
                  <a:srgbClr val="2B2118"/>
                </a:solidFill>
              </a:rPr>
              <a:t>(GPS, depth 0–15 cm)</a:t>
            </a:r>
            <a:endParaRPr lang="en-US" sz="1300" dirty="0"/>
          </a:p>
        </p:txBody>
      </p:sp>
      <p:sp>
        <p:nvSpPr>
          <p:cNvPr id="7" name="Shape 4"/>
          <p:cNvSpPr/>
          <p:nvPr/>
        </p:nvSpPr>
        <p:spPr>
          <a:xfrm>
            <a:off x="5074920" y="1805940"/>
            <a:ext cx="320040" cy="914"/>
          </a:xfrm>
          <a:prstGeom prst="line">
            <a:avLst/>
          </a:prstGeom>
          <a:noFill/>
          <a:ln w="22225">
            <a:solidFill>
              <a:srgbClr val="8A8178"/>
            </a:solidFill>
            <a:prstDash val="solid"/>
            <a:tailEnd type="triangle"/>
          </a:ln>
        </p:spPr>
      </p:sp>
      <p:sp>
        <p:nvSpPr>
          <p:cNvPr id="8" name="Text 5"/>
          <p:cNvSpPr txBox="1"/>
          <p:nvPr/>
        </p:nvSpPr>
        <p:spPr>
          <a:xfrm>
            <a:off x="5394960" y="1417320"/>
            <a:ext cx="2103120" cy="777240"/>
          </a:xfrm>
          <a:prstGeom prst="roundRect">
            <a:avLst>
              <a:gd name="adj" fmla="val 9412"/>
            </a:avLst>
          </a:prstGeom>
          <a:solidFill>
            <a:srgbClr val="F3F0EB"/>
          </a:solidFill>
          <a:ln/>
        </p:spPr>
        <p:txBody>
          <a:bodyPr wrap="square" lIns="50800" tIns="50800" rIns="50800" bIns="50800" rtlCol="0" anchor="ctr"/>
          <a:lstStyle/>
          <a:p>
            <a:pPr marL="0" indent="0" algn="ctr">
              <a:buNone/>
            </a:pPr>
            <a:r>
              <a:rPr lang="en-US" sz="1300" dirty="0">
                <a:solidFill>
                  <a:srgbClr val="2B2118"/>
                </a:solidFill>
              </a:rPr>
              <a:t>Lab / sensor analysis</a:t>
            </a:r>
            <a:endParaRPr lang="en-US" sz="1300" dirty="0"/>
          </a:p>
          <a:p>
            <a:pPr marL="0" indent="0" algn="ctr">
              <a:buNone/>
            </a:pPr>
            <a:r>
              <a:rPr lang="en-US" sz="1300" dirty="0">
                <a:solidFill>
                  <a:srgbClr val="2B2118"/>
                </a:solidFill>
              </a:rPr>
              <a:t>(Walkley–Black, ThetaProbe)</a:t>
            </a:r>
            <a:endParaRPr lang="en-US" sz="1300" dirty="0"/>
          </a:p>
        </p:txBody>
      </p:sp>
      <p:sp>
        <p:nvSpPr>
          <p:cNvPr id="9" name="Shape 6"/>
          <p:cNvSpPr/>
          <p:nvPr/>
        </p:nvSpPr>
        <p:spPr>
          <a:xfrm>
            <a:off x="7498080" y="1805940"/>
            <a:ext cx="320040" cy="914"/>
          </a:xfrm>
          <a:prstGeom prst="line">
            <a:avLst/>
          </a:prstGeom>
          <a:noFill/>
          <a:ln w="22225">
            <a:solidFill>
              <a:srgbClr val="8A8178"/>
            </a:solidFill>
            <a:prstDash val="solid"/>
            <a:tailEnd type="triangle"/>
          </a:ln>
        </p:spPr>
      </p:sp>
      <p:sp>
        <p:nvSpPr>
          <p:cNvPr id="10" name="Text 7"/>
          <p:cNvSpPr txBox="1"/>
          <p:nvPr/>
        </p:nvSpPr>
        <p:spPr>
          <a:xfrm>
            <a:off x="7818120" y="1417320"/>
            <a:ext cx="2103120" cy="777240"/>
          </a:xfrm>
          <a:prstGeom prst="roundRect">
            <a:avLst>
              <a:gd name="adj" fmla="val 9412"/>
            </a:avLst>
          </a:prstGeom>
          <a:solidFill>
            <a:srgbClr val="8C5A2B"/>
          </a:solidFill>
          <a:ln/>
        </p:spPr>
        <p:txBody>
          <a:bodyPr wrap="square" lIns="50800" tIns="50800" rIns="50800" bIns="50800" rtlCol="0" anchor="ctr"/>
          <a:lstStyle/>
          <a:p>
            <a:pPr marL="0" indent="0" algn="ctr">
              <a:buNone/>
            </a:pPr>
            <a:r>
              <a:rPr lang="en-US" sz="1300" b="1" dirty="0">
                <a:solidFill>
                  <a:srgbClr val="FFFFFF"/>
                </a:solidFill>
              </a:rPr>
              <a:t>Point database</a:t>
            </a:r>
            <a:endParaRPr lang="en-US" sz="1300" dirty="0"/>
          </a:p>
          <a:p>
            <a:pPr marL="0" indent="0" algn="ctr">
              <a:buNone/>
            </a:pPr>
            <a:r>
              <a:rPr lang="en-US" sz="1300" b="1" dirty="0">
                <a:solidFill>
                  <a:srgbClr val="FFFFFF"/>
                </a:solidFill>
              </a:rPr>
              <a:t>(x, y, z)</a:t>
            </a:r>
            <a:endParaRPr lang="en-US" sz="1300" dirty="0"/>
          </a:p>
        </p:txBody>
      </p:sp>
      <p:sp>
        <p:nvSpPr>
          <p:cNvPr id="11" name="Text 8"/>
          <p:cNvSpPr txBox="1"/>
          <p:nvPr/>
        </p:nvSpPr>
        <p:spPr>
          <a:xfrm>
            <a:off x="548640" y="2743200"/>
            <a:ext cx="2103120" cy="777240"/>
          </a:xfrm>
          <a:prstGeom prst="roundRect">
            <a:avLst>
              <a:gd name="adj" fmla="val 9412"/>
            </a:avLst>
          </a:prstGeom>
          <a:solidFill>
            <a:srgbClr val="F3F0EB"/>
          </a:solidFill>
          <a:ln/>
        </p:spPr>
        <p:txBody>
          <a:bodyPr wrap="square" lIns="50800" tIns="50800" rIns="50800" bIns="50800" rtlCol="0" anchor="ctr"/>
          <a:lstStyle/>
          <a:p>
            <a:pPr marL="0" indent="0" algn="ctr">
              <a:buNone/>
            </a:pPr>
            <a:r>
              <a:rPr lang="en-US" sz="1300" dirty="0">
                <a:solidFill>
                  <a:srgbClr val="2B2118"/>
                </a:solidFill>
              </a:rPr>
              <a:t>Remote sensing</a:t>
            </a:r>
            <a:endParaRPr lang="en-US" sz="1300" dirty="0"/>
          </a:p>
          <a:p>
            <a:pPr marL="0" indent="0" algn="ctr">
              <a:buNone/>
            </a:pPr>
            <a:r>
              <a:rPr lang="en-US" sz="1300" dirty="0">
                <a:solidFill>
                  <a:srgbClr val="2B2118"/>
                </a:solidFill>
              </a:rPr>
              <a:t>(Landsat, Sentinel-1/2)</a:t>
            </a:r>
            <a:endParaRPr lang="en-US" sz="1300" dirty="0"/>
          </a:p>
        </p:txBody>
      </p:sp>
      <p:sp>
        <p:nvSpPr>
          <p:cNvPr id="12" name="Shape 9"/>
          <p:cNvSpPr/>
          <p:nvPr/>
        </p:nvSpPr>
        <p:spPr>
          <a:xfrm>
            <a:off x="2651760" y="3131820"/>
            <a:ext cx="320040" cy="914"/>
          </a:xfrm>
          <a:prstGeom prst="line">
            <a:avLst/>
          </a:prstGeom>
          <a:noFill/>
          <a:ln w="22225">
            <a:solidFill>
              <a:srgbClr val="8A8178"/>
            </a:solidFill>
            <a:prstDash val="solid"/>
            <a:tailEnd type="triangle"/>
          </a:ln>
        </p:spPr>
      </p:sp>
      <p:sp>
        <p:nvSpPr>
          <p:cNvPr id="13" name="Text 10"/>
          <p:cNvSpPr txBox="1"/>
          <p:nvPr/>
        </p:nvSpPr>
        <p:spPr>
          <a:xfrm>
            <a:off x="2971800" y="2743200"/>
            <a:ext cx="2103120" cy="777240"/>
          </a:xfrm>
          <a:prstGeom prst="roundRect">
            <a:avLst>
              <a:gd name="adj" fmla="val 9412"/>
            </a:avLst>
          </a:prstGeom>
          <a:solidFill>
            <a:srgbClr val="F3F0EB"/>
          </a:solidFill>
          <a:ln/>
        </p:spPr>
        <p:txBody>
          <a:bodyPr wrap="square" lIns="50800" tIns="50800" rIns="50800" bIns="50800" rtlCol="0" anchor="ctr"/>
          <a:lstStyle/>
          <a:p>
            <a:pPr marL="0" indent="0" algn="ctr">
              <a:buNone/>
            </a:pPr>
            <a:r>
              <a:rPr lang="en-US" sz="1300" dirty="0">
                <a:solidFill>
                  <a:srgbClr val="2B2118"/>
                </a:solidFill>
              </a:rPr>
              <a:t>DEM derivatives</a:t>
            </a:r>
            <a:endParaRPr lang="en-US" sz="1300" dirty="0"/>
          </a:p>
          <a:p>
            <a:pPr marL="0" indent="0" algn="ctr">
              <a:buNone/>
            </a:pPr>
            <a:r>
              <a:rPr lang="en-US" sz="1300" dirty="0">
                <a:solidFill>
                  <a:srgbClr val="2B2118"/>
                </a:solidFill>
              </a:rPr>
              <a:t>(SRTM 30 m)</a:t>
            </a:r>
            <a:endParaRPr lang="en-US" sz="1300" dirty="0"/>
          </a:p>
        </p:txBody>
      </p:sp>
      <p:sp>
        <p:nvSpPr>
          <p:cNvPr id="14" name="Shape 11"/>
          <p:cNvSpPr/>
          <p:nvPr/>
        </p:nvSpPr>
        <p:spPr>
          <a:xfrm>
            <a:off x="5074920" y="3131820"/>
            <a:ext cx="320040" cy="914"/>
          </a:xfrm>
          <a:prstGeom prst="line">
            <a:avLst/>
          </a:prstGeom>
          <a:noFill/>
          <a:ln w="22225">
            <a:solidFill>
              <a:srgbClr val="8A8178"/>
            </a:solidFill>
            <a:prstDash val="solid"/>
            <a:tailEnd type="triangle"/>
          </a:ln>
        </p:spPr>
      </p:sp>
      <p:sp>
        <p:nvSpPr>
          <p:cNvPr id="15" name="Text 12"/>
          <p:cNvSpPr txBox="1"/>
          <p:nvPr/>
        </p:nvSpPr>
        <p:spPr>
          <a:xfrm>
            <a:off x="5394960" y="2743200"/>
            <a:ext cx="2103120" cy="777240"/>
          </a:xfrm>
          <a:prstGeom prst="roundRect">
            <a:avLst>
              <a:gd name="adj" fmla="val 9412"/>
            </a:avLst>
          </a:prstGeom>
          <a:solidFill>
            <a:srgbClr val="F3F0EB"/>
          </a:solidFill>
          <a:ln/>
        </p:spPr>
        <p:txBody>
          <a:bodyPr wrap="square" lIns="50800" tIns="50800" rIns="50800" bIns="50800" rtlCol="0" anchor="ctr"/>
          <a:lstStyle/>
          <a:p>
            <a:pPr marL="0" indent="0" algn="ctr">
              <a:buNone/>
            </a:pPr>
            <a:r>
              <a:rPr lang="en-US" sz="1300" dirty="0">
                <a:solidFill>
                  <a:srgbClr val="2B2118"/>
                </a:solidFill>
              </a:rPr>
              <a:t>Climate, LULC,</a:t>
            </a:r>
            <a:endParaRPr lang="en-US" sz="1300" dirty="0"/>
          </a:p>
          <a:p>
            <a:pPr marL="0" indent="0" algn="ctr">
              <a:buNone/>
            </a:pPr>
            <a:r>
              <a:rPr lang="en-US" sz="1300" dirty="0">
                <a:solidFill>
                  <a:srgbClr val="2B2118"/>
                </a:solidFill>
              </a:rPr>
              <a:t>lithology layers</a:t>
            </a:r>
            <a:endParaRPr lang="en-US" sz="1300" dirty="0"/>
          </a:p>
        </p:txBody>
      </p:sp>
      <p:sp>
        <p:nvSpPr>
          <p:cNvPr id="16" name="Shape 13"/>
          <p:cNvSpPr/>
          <p:nvPr/>
        </p:nvSpPr>
        <p:spPr>
          <a:xfrm>
            <a:off x="7498080" y="3131820"/>
            <a:ext cx="320040" cy="914"/>
          </a:xfrm>
          <a:prstGeom prst="line">
            <a:avLst/>
          </a:prstGeom>
          <a:noFill/>
          <a:ln w="22225">
            <a:solidFill>
              <a:srgbClr val="8A8178"/>
            </a:solidFill>
            <a:prstDash val="solid"/>
            <a:tailEnd type="triangle"/>
          </a:ln>
        </p:spPr>
      </p:sp>
      <p:sp>
        <p:nvSpPr>
          <p:cNvPr id="17" name="Text 14"/>
          <p:cNvSpPr txBox="1"/>
          <p:nvPr/>
        </p:nvSpPr>
        <p:spPr>
          <a:xfrm>
            <a:off x="7818120" y="2743200"/>
            <a:ext cx="2103120" cy="777240"/>
          </a:xfrm>
          <a:prstGeom prst="roundRect">
            <a:avLst>
              <a:gd name="adj" fmla="val 9412"/>
            </a:avLst>
          </a:prstGeom>
          <a:solidFill>
            <a:srgbClr val="2E7D7A"/>
          </a:solidFill>
          <a:ln/>
        </p:spPr>
        <p:txBody>
          <a:bodyPr wrap="square" lIns="50800" tIns="50800" rIns="50800" bIns="50800" rtlCol="0" anchor="ctr"/>
          <a:lstStyle/>
          <a:p>
            <a:pPr marL="0" indent="0" algn="ctr">
              <a:buNone/>
            </a:pPr>
            <a:r>
              <a:rPr lang="en-US" sz="1300" b="1" dirty="0">
                <a:solidFill>
                  <a:srgbClr val="FFFFFF"/>
                </a:solidFill>
              </a:rPr>
              <a:t>Covariate stack</a:t>
            </a:r>
            <a:endParaRPr lang="en-US" sz="1300" dirty="0"/>
          </a:p>
          <a:p>
            <a:pPr marL="0" indent="0" algn="ctr">
              <a:buNone/>
            </a:pPr>
            <a:r>
              <a:rPr lang="en-US" sz="1300" b="1" dirty="0">
                <a:solidFill>
                  <a:srgbClr val="FFFFFF"/>
                </a:solidFill>
              </a:rPr>
              <a:t>(resample, reproject)</a:t>
            </a:r>
            <a:endParaRPr lang="en-US" sz="1300" dirty="0"/>
          </a:p>
        </p:txBody>
      </p:sp>
      <p:sp>
        <p:nvSpPr>
          <p:cNvPr id="18" name="Text 15"/>
          <p:cNvSpPr txBox="1"/>
          <p:nvPr/>
        </p:nvSpPr>
        <p:spPr>
          <a:xfrm>
            <a:off x="10195560" y="1874520"/>
            <a:ext cx="1417320" cy="1188720"/>
          </a:xfrm>
          <a:prstGeom prst="roundRect">
            <a:avLst>
              <a:gd name="adj" fmla="val 6154"/>
            </a:avLst>
          </a:prstGeom>
          <a:solidFill>
            <a:srgbClr val="2B2118"/>
          </a:solidFill>
          <a:ln/>
        </p:spPr>
        <p:txBody>
          <a:bodyPr wrap="square" lIns="50800" tIns="50800" rIns="50800" bIns="50800" rtlCol="0" anchor="ctr"/>
          <a:lstStyle/>
          <a:p>
            <a:pPr marL="0" indent="0" algn="ctr">
              <a:buNone/>
            </a:pPr>
            <a:r>
              <a:rPr lang="en-US" sz="1300" b="1" dirty="0">
                <a:solidFill>
                  <a:srgbClr val="FFFFFF"/>
                </a:solidFill>
              </a:rPr>
              <a:t>Overlay →</a:t>
            </a:r>
            <a:endParaRPr lang="en-US" sz="1300" dirty="0"/>
          </a:p>
          <a:p>
            <a:pPr marL="0" indent="0" algn="ctr">
              <a:buNone/>
            </a:pPr>
            <a:r>
              <a:rPr lang="en-US" sz="1300" b="1" dirty="0">
                <a:solidFill>
                  <a:srgbClr val="FFFFFF"/>
                </a:solidFill>
              </a:rPr>
              <a:t>regression</a:t>
            </a:r>
            <a:endParaRPr lang="en-US" sz="1300" dirty="0"/>
          </a:p>
          <a:p>
            <a:pPr marL="0" indent="0" algn="ctr">
              <a:buNone/>
            </a:pPr>
            <a:r>
              <a:rPr lang="en-US" sz="1300" b="1" dirty="0">
                <a:solidFill>
                  <a:srgbClr val="FFFFFF"/>
                </a:solidFill>
              </a:rPr>
              <a:t>matrix</a:t>
            </a:r>
            <a:endParaRPr lang="en-US" sz="1300" dirty="0"/>
          </a:p>
        </p:txBody>
      </p:sp>
      <p:sp>
        <p:nvSpPr>
          <p:cNvPr id="19" name="Shape 16"/>
          <p:cNvSpPr/>
          <p:nvPr/>
        </p:nvSpPr>
        <p:spPr>
          <a:xfrm>
            <a:off x="9921240" y="1805940"/>
            <a:ext cx="274320" cy="434340"/>
          </a:xfrm>
          <a:prstGeom prst="line">
            <a:avLst/>
          </a:prstGeom>
          <a:noFill/>
          <a:ln w="22225">
            <a:solidFill>
              <a:srgbClr val="8A8178"/>
            </a:solidFill>
            <a:prstDash val="solid"/>
            <a:tailEnd type="triangle"/>
          </a:ln>
        </p:spPr>
      </p:sp>
      <p:sp>
        <p:nvSpPr>
          <p:cNvPr id="20" name="Shape 17"/>
          <p:cNvSpPr/>
          <p:nvPr/>
        </p:nvSpPr>
        <p:spPr>
          <a:xfrm flipV="1">
            <a:off x="9921240" y="2697480"/>
            <a:ext cx="274320" cy="434340"/>
          </a:xfrm>
          <a:prstGeom prst="line">
            <a:avLst/>
          </a:prstGeom>
          <a:noFill/>
          <a:ln w="22225">
            <a:solidFill>
              <a:srgbClr val="8A8178"/>
            </a:solidFill>
            <a:prstDash val="solid"/>
            <a:tailEnd type="triangle"/>
          </a:ln>
        </p:spPr>
      </p:sp>
      <p:sp>
        <p:nvSpPr>
          <p:cNvPr id="21" name="Shape 18"/>
          <p:cNvSpPr/>
          <p:nvPr/>
        </p:nvSpPr>
        <p:spPr>
          <a:xfrm>
            <a:off x="10899648" y="3063240"/>
            <a:ext cx="914" cy="685800"/>
          </a:xfrm>
          <a:prstGeom prst="line">
            <a:avLst/>
          </a:prstGeom>
          <a:noFill/>
          <a:ln w="22225">
            <a:solidFill>
              <a:srgbClr val="8A8178"/>
            </a:solidFill>
            <a:prstDash val="solid"/>
            <a:tailEnd type="triangle"/>
          </a:ln>
        </p:spPr>
      </p:sp>
      <p:sp>
        <p:nvSpPr>
          <p:cNvPr id="22" name="Shape 19"/>
          <p:cNvSpPr/>
          <p:nvPr/>
        </p:nvSpPr>
        <p:spPr>
          <a:xfrm flipH="1">
            <a:off x="1508760" y="3749040"/>
            <a:ext cx="9390888" cy="914"/>
          </a:xfrm>
          <a:prstGeom prst="line">
            <a:avLst/>
          </a:prstGeom>
          <a:noFill/>
          <a:ln w="22225">
            <a:solidFill>
              <a:srgbClr val="8A8178"/>
            </a:solidFill>
            <a:prstDash val="solid"/>
            <a:tailEnd type="triangle"/>
          </a:ln>
        </p:spPr>
      </p:sp>
      <p:sp>
        <p:nvSpPr>
          <p:cNvPr id="23" name="Shape 20"/>
          <p:cNvSpPr/>
          <p:nvPr/>
        </p:nvSpPr>
        <p:spPr>
          <a:xfrm>
            <a:off x="1508760" y="3749040"/>
            <a:ext cx="914" cy="411480"/>
          </a:xfrm>
          <a:prstGeom prst="line">
            <a:avLst/>
          </a:prstGeom>
          <a:noFill/>
          <a:ln w="22225">
            <a:solidFill>
              <a:srgbClr val="8A8178"/>
            </a:solidFill>
            <a:prstDash val="solid"/>
            <a:tailEnd type="triangle"/>
          </a:ln>
        </p:spPr>
      </p:sp>
      <p:sp>
        <p:nvSpPr>
          <p:cNvPr id="24" name="Text 21"/>
          <p:cNvSpPr txBox="1"/>
          <p:nvPr/>
        </p:nvSpPr>
        <p:spPr>
          <a:xfrm>
            <a:off x="548640" y="4160520"/>
            <a:ext cx="1920240" cy="1234440"/>
          </a:xfrm>
          <a:prstGeom prst="roundRect">
            <a:avLst>
              <a:gd name="adj" fmla="val 5926"/>
            </a:avLst>
          </a:prstGeom>
          <a:solidFill>
            <a:srgbClr val="FFFFFF"/>
          </a:solidFill>
          <a:ln w="15875">
            <a:solidFill>
              <a:srgbClr val="C9A227"/>
            </a:solidFill>
          </a:ln>
        </p:spPr>
        <p:txBody>
          <a:bodyPr wrap="square" lIns="50800" tIns="50800" rIns="50800" bIns="50800" rtlCol="0" anchor="ctr"/>
          <a:lstStyle/>
          <a:p>
            <a:pPr marL="0" indent="0" algn="ctr">
              <a:buNone/>
            </a:pPr>
            <a:r>
              <a:rPr lang="en-US" sz="1500" b="1" dirty="0">
                <a:solidFill>
                  <a:srgbClr val="2B2118"/>
                </a:solidFill>
              </a:rPr>
              <a:t>Feature selection</a:t>
            </a:r>
            <a:endParaRPr lang="en-US" sz="1500" dirty="0"/>
          </a:p>
          <a:p>
            <a:pPr marL="0" indent="0" algn="ctr">
              <a:buNone/>
            </a:pPr>
            <a:r>
              <a:rPr lang="en-US" sz="1300" dirty="0">
                <a:solidFill>
                  <a:srgbClr val="4A3B2E"/>
                </a:solidFill>
              </a:rPr>
              <a:t>Boruta, RFE,</a:t>
            </a:r>
            <a:endParaRPr lang="en-US" sz="1500" dirty="0"/>
          </a:p>
          <a:p>
            <a:pPr marL="0" indent="0" algn="ctr">
              <a:buNone/>
            </a:pPr>
            <a:r>
              <a:rPr lang="en-US" sz="1300" dirty="0">
                <a:solidFill>
                  <a:srgbClr val="4A3B2E"/>
                </a:solidFill>
              </a:rPr>
              <a:t>correlation</a:t>
            </a:r>
            <a:endParaRPr lang="en-US" sz="1500" dirty="0"/>
          </a:p>
        </p:txBody>
      </p:sp>
      <p:sp>
        <p:nvSpPr>
          <p:cNvPr id="25" name="Shape 22"/>
          <p:cNvSpPr/>
          <p:nvPr/>
        </p:nvSpPr>
        <p:spPr>
          <a:xfrm>
            <a:off x="2468880" y="4773168"/>
            <a:ext cx="365760" cy="914"/>
          </a:xfrm>
          <a:prstGeom prst="line">
            <a:avLst/>
          </a:prstGeom>
          <a:noFill/>
          <a:ln w="22225">
            <a:solidFill>
              <a:srgbClr val="8A8178"/>
            </a:solidFill>
            <a:prstDash val="solid"/>
            <a:tailEnd type="triangle"/>
          </a:ln>
        </p:spPr>
      </p:sp>
      <p:sp>
        <p:nvSpPr>
          <p:cNvPr id="26" name="Text 23"/>
          <p:cNvSpPr txBox="1"/>
          <p:nvPr/>
        </p:nvSpPr>
        <p:spPr>
          <a:xfrm>
            <a:off x="2834640" y="4160520"/>
            <a:ext cx="1920240" cy="1234440"/>
          </a:xfrm>
          <a:prstGeom prst="roundRect">
            <a:avLst>
              <a:gd name="adj" fmla="val 5926"/>
            </a:avLst>
          </a:prstGeom>
          <a:solidFill>
            <a:srgbClr val="FFFFFF"/>
          </a:solidFill>
          <a:ln w="15875">
            <a:solidFill>
              <a:srgbClr val="C9A227"/>
            </a:solidFill>
          </a:ln>
        </p:spPr>
        <p:txBody>
          <a:bodyPr wrap="square" lIns="50800" tIns="50800" rIns="50800" bIns="50800" rtlCol="0" anchor="ctr"/>
          <a:lstStyle/>
          <a:p>
            <a:pPr marL="0" indent="0" algn="ctr">
              <a:buNone/>
            </a:pPr>
            <a:r>
              <a:rPr lang="en-US" sz="1500" b="1" dirty="0">
                <a:solidFill>
                  <a:srgbClr val="2B2118"/>
                </a:solidFill>
              </a:rPr>
              <a:t>Model calibration</a:t>
            </a:r>
            <a:endParaRPr lang="en-US" sz="1500" dirty="0"/>
          </a:p>
          <a:p>
            <a:pPr marL="0" indent="0" algn="ctr">
              <a:buNone/>
            </a:pPr>
            <a:r>
              <a:rPr lang="en-US" sz="1300" dirty="0">
                <a:solidFill>
                  <a:srgbClr val="4A3B2E"/>
                </a:solidFill>
              </a:rPr>
              <a:t>Kriging / ML /</a:t>
            </a:r>
            <a:endParaRPr lang="en-US" sz="1500" dirty="0"/>
          </a:p>
          <a:p>
            <a:pPr marL="0" indent="0" algn="ctr">
              <a:buNone/>
            </a:pPr>
            <a:r>
              <a:rPr lang="en-US" sz="1300" dirty="0">
                <a:solidFill>
                  <a:srgbClr val="4A3B2E"/>
                </a:solidFill>
              </a:rPr>
              <a:t>hybrid; k-fold CV</a:t>
            </a:r>
            <a:endParaRPr lang="en-US" sz="1500" dirty="0"/>
          </a:p>
        </p:txBody>
      </p:sp>
      <p:sp>
        <p:nvSpPr>
          <p:cNvPr id="27" name="Shape 24"/>
          <p:cNvSpPr/>
          <p:nvPr/>
        </p:nvSpPr>
        <p:spPr>
          <a:xfrm>
            <a:off x="4754880" y="4773168"/>
            <a:ext cx="365760" cy="914"/>
          </a:xfrm>
          <a:prstGeom prst="line">
            <a:avLst/>
          </a:prstGeom>
          <a:noFill/>
          <a:ln w="22225">
            <a:solidFill>
              <a:srgbClr val="8A8178"/>
            </a:solidFill>
            <a:prstDash val="solid"/>
            <a:tailEnd type="triangle"/>
          </a:ln>
        </p:spPr>
      </p:sp>
      <p:sp>
        <p:nvSpPr>
          <p:cNvPr id="28" name="Text 25"/>
          <p:cNvSpPr txBox="1"/>
          <p:nvPr/>
        </p:nvSpPr>
        <p:spPr>
          <a:xfrm>
            <a:off x="5120640" y="4160520"/>
            <a:ext cx="1920240" cy="1234440"/>
          </a:xfrm>
          <a:prstGeom prst="roundRect">
            <a:avLst>
              <a:gd name="adj" fmla="val 5926"/>
            </a:avLst>
          </a:prstGeom>
          <a:solidFill>
            <a:srgbClr val="FFFFFF"/>
          </a:solidFill>
          <a:ln w="15875">
            <a:solidFill>
              <a:srgbClr val="C9A227"/>
            </a:solidFill>
          </a:ln>
        </p:spPr>
        <p:txBody>
          <a:bodyPr wrap="square" lIns="50800" tIns="50800" rIns="50800" bIns="50800" rtlCol="0" anchor="ctr"/>
          <a:lstStyle/>
          <a:p>
            <a:pPr marL="0" indent="0" algn="ctr">
              <a:buNone/>
            </a:pPr>
            <a:r>
              <a:rPr lang="en-US" sz="1500" b="1" dirty="0">
                <a:solidFill>
                  <a:srgbClr val="2B2118"/>
                </a:solidFill>
              </a:rPr>
              <a:t>Validation</a:t>
            </a:r>
            <a:endParaRPr lang="en-US" sz="1500" dirty="0"/>
          </a:p>
          <a:p>
            <a:pPr marL="0" indent="0" algn="ctr">
              <a:buNone/>
            </a:pPr>
            <a:r>
              <a:rPr lang="en-US" sz="1300" dirty="0">
                <a:solidFill>
                  <a:srgbClr val="4A3B2E"/>
                </a:solidFill>
              </a:rPr>
              <a:t>R², RMSE, CCC,</a:t>
            </a:r>
            <a:endParaRPr lang="en-US" sz="1500" dirty="0"/>
          </a:p>
          <a:p>
            <a:pPr marL="0" indent="0" algn="ctr">
              <a:buNone/>
            </a:pPr>
            <a:r>
              <a:rPr lang="en-US" sz="1300" dirty="0">
                <a:solidFill>
                  <a:srgbClr val="4A3B2E"/>
                </a:solidFill>
              </a:rPr>
              <a:t>RPD, bias</a:t>
            </a:r>
            <a:endParaRPr lang="en-US" sz="1500" dirty="0"/>
          </a:p>
        </p:txBody>
      </p:sp>
      <p:sp>
        <p:nvSpPr>
          <p:cNvPr id="29" name="Shape 26"/>
          <p:cNvSpPr/>
          <p:nvPr/>
        </p:nvSpPr>
        <p:spPr>
          <a:xfrm>
            <a:off x="7040880" y="4773168"/>
            <a:ext cx="365760" cy="914"/>
          </a:xfrm>
          <a:prstGeom prst="line">
            <a:avLst/>
          </a:prstGeom>
          <a:noFill/>
          <a:ln w="22225">
            <a:solidFill>
              <a:srgbClr val="8A8178"/>
            </a:solidFill>
            <a:prstDash val="solid"/>
            <a:tailEnd type="triangle"/>
          </a:ln>
        </p:spPr>
      </p:sp>
      <p:sp>
        <p:nvSpPr>
          <p:cNvPr id="30" name="Text 27"/>
          <p:cNvSpPr txBox="1"/>
          <p:nvPr/>
        </p:nvSpPr>
        <p:spPr>
          <a:xfrm>
            <a:off x="7406640" y="4160520"/>
            <a:ext cx="1920240" cy="1234440"/>
          </a:xfrm>
          <a:prstGeom prst="roundRect">
            <a:avLst>
              <a:gd name="adj" fmla="val 5926"/>
            </a:avLst>
          </a:prstGeom>
          <a:solidFill>
            <a:srgbClr val="C9A227"/>
          </a:solidFill>
          <a:ln w="15875">
            <a:solidFill>
              <a:srgbClr val="C9A227"/>
            </a:solidFill>
          </a:ln>
        </p:spPr>
        <p:txBody>
          <a:bodyPr wrap="square" lIns="50800" tIns="50800" rIns="50800" bIns="50800" rtlCol="0" anchor="ctr"/>
          <a:lstStyle/>
          <a:p>
            <a:pPr marL="0" indent="0" algn="ctr">
              <a:buNone/>
            </a:pPr>
            <a:r>
              <a:rPr lang="en-US" sz="1500" b="1" dirty="0">
                <a:solidFill>
                  <a:srgbClr val="FFFFFF"/>
                </a:solidFill>
              </a:rPr>
              <a:t>Prediction map</a:t>
            </a:r>
            <a:endParaRPr lang="en-US" sz="1500" dirty="0"/>
          </a:p>
          <a:p>
            <a:pPr marL="0" indent="0" algn="ctr">
              <a:buNone/>
            </a:pPr>
            <a:r>
              <a:rPr lang="en-US" sz="1300" dirty="0">
                <a:solidFill>
                  <a:srgbClr val="FFFFFF"/>
                </a:solidFill>
              </a:rPr>
              <a:t>apply to every</a:t>
            </a:r>
            <a:endParaRPr lang="en-US" sz="1500" dirty="0"/>
          </a:p>
          <a:p>
            <a:pPr marL="0" indent="0" algn="ctr">
              <a:buNone/>
            </a:pPr>
            <a:r>
              <a:rPr lang="en-US" sz="1300" dirty="0">
                <a:solidFill>
                  <a:srgbClr val="FFFFFF"/>
                </a:solidFill>
              </a:rPr>
              <a:t>30 m pixel</a:t>
            </a:r>
            <a:endParaRPr lang="en-US" sz="1500" dirty="0"/>
          </a:p>
        </p:txBody>
      </p:sp>
      <p:sp>
        <p:nvSpPr>
          <p:cNvPr id="31" name="Shape 28"/>
          <p:cNvSpPr/>
          <p:nvPr/>
        </p:nvSpPr>
        <p:spPr>
          <a:xfrm>
            <a:off x="9326880" y="4773168"/>
            <a:ext cx="365760" cy="914"/>
          </a:xfrm>
          <a:prstGeom prst="line">
            <a:avLst/>
          </a:prstGeom>
          <a:noFill/>
          <a:ln w="22225">
            <a:solidFill>
              <a:srgbClr val="8A8178"/>
            </a:solidFill>
            <a:prstDash val="solid"/>
            <a:tailEnd type="triangle"/>
          </a:ln>
        </p:spPr>
      </p:sp>
      <p:sp>
        <p:nvSpPr>
          <p:cNvPr id="32" name="Text 29"/>
          <p:cNvSpPr txBox="1"/>
          <p:nvPr/>
        </p:nvSpPr>
        <p:spPr>
          <a:xfrm>
            <a:off x="9692640" y="4160520"/>
            <a:ext cx="1920240" cy="1234440"/>
          </a:xfrm>
          <a:prstGeom prst="roundRect">
            <a:avLst>
              <a:gd name="adj" fmla="val 5926"/>
            </a:avLst>
          </a:prstGeom>
          <a:solidFill>
            <a:srgbClr val="C9A227"/>
          </a:solidFill>
          <a:ln w="15875">
            <a:solidFill>
              <a:srgbClr val="C9A227"/>
            </a:solidFill>
          </a:ln>
        </p:spPr>
        <p:txBody>
          <a:bodyPr wrap="square" lIns="50800" tIns="50800" rIns="50800" bIns="50800" rtlCol="0" anchor="ctr"/>
          <a:lstStyle/>
          <a:p>
            <a:pPr marL="0" indent="0" algn="ctr">
              <a:buNone/>
            </a:pPr>
            <a:r>
              <a:rPr lang="en-US" sz="1500" b="1" dirty="0">
                <a:solidFill>
                  <a:srgbClr val="FFFFFF"/>
                </a:solidFill>
              </a:rPr>
              <a:t>Uncertainty map</a:t>
            </a:r>
            <a:endParaRPr lang="en-US" sz="1500" dirty="0"/>
          </a:p>
          <a:p>
            <a:pPr marL="0" indent="0" algn="ctr">
              <a:buNone/>
            </a:pPr>
            <a:r>
              <a:rPr lang="en-US" sz="1300" dirty="0">
                <a:solidFill>
                  <a:srgbClr val="FFFFFF"/>
                </a:solidFill>
              </a:rPr>
              <a:t>kriging variance,</a:t>
            </a:r>
            <a:endParaRPr lang="en-US" sz="1500" dirty="0"/>
          </a:p>
          <a:p>
            <a:pPr marL="0" indent="0" algn="ctr">
              <a:buNone/>
            </a:pPr>
            <a:r>
              <a:rPr lang="en-US" sz="1300" dirty="0">
                <a:solidFill>
                  <a:srgbClr val="FFFFFF"/>
                </a:solidFill>
              </a:rPr>
              <a:t>bootstrap 90% PI</a:t>
            </a:r>
            <a:endParaRPr lang="en-US" sz="1500" dirty="0"/>
          </a:p>
        </p:txBody>
      </p:sp>
      <p:sp>
        <p:nvSpPr>
          <p:cNvPr id="33" name="Text 30"/>
          <p:cNvSpPr txBox="1"/>
          <p:nvPr/>
        </p:nvSpPr>
        <p:spPr>
          <a:xfrm>
            <a:off x="548640" y="5486400"/>
            <a:ext cx="6583680" cy="320040"/>
          </a:xfrm>
          <a:prstGeom prst="rect">
            <a:avLst/>
          </a:prstGeom>
          <a:noFill/>
          <a:ln/>
        </p:spPr>
        <p:txBody>
          <a:bodyPr wrap="square" rtlCol="0" anchor="ctr"/>
          <a:lstStyle/>
          <a:p>
            <a:pPr marL="0" indent="0" algn="ctr">
              <a:buNone/>
            </a:pPr>
            <a:r>
              <a:rPr lang="en-US" sz="1200" i="1" dirty="0">
                <a:solidFill>
                  <a:srgbClr val="8A8178"/>
                </a:solidFill>
              </a:rPr>
              <a:t>model-building loop</a:t>
            </a:r>
            <a:endParaRPr lang="en-US" sz="1200" dirty="0"/>
          </a:p>
        </p:txBody>
      </p:sp>
      <p:sp>
        <p:nvSpPr>
          <p:cNvPr id="34" name="Shape 31"/>
          <p:cNvSpPr/>
          <p:nvPr/>
        </p:nvSpPr>
        <p:spPr>
          <a:xfrm>
            <a:off x="1508760" y="5486400"/>
            <a:ext cx="4572000" cy="0"/>
          </a:xfrm>
          <a:prstGeom prst="line">
            <a:avLst/>
          </a:prstGeom>
          <a:noFill/>
          <a:ln w="12700">
            <a:solidFill>
              <a:srgbClr val="C9C1B6"/>
            </a:solidFill>
            <a:prstDash val="dash"/>
          </a:ln>
        </p:spPr>
      </p:sp>
      <p:sp>
        <p:nvSpPr>
          <p:cNvPr id="35" name="Text 32"/>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Synthesised from Kalambukattu et al. (2025) Fig. 2 and Das et al. (2022) Fig. 2</a:t>
            </a:r>
            <a:endParaRPr lang="en-US" sz="1000" dirty="0"/>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Sampling design decides map quality</a:t>
            </a:r>
            <a:endParaRPr lang="en-US" sz="3200" dirty="0"/>
          </a:p>
        </p:txBody>
      </p:sp>
      <p:pic>
        <p:nvPicPr>
          <p:cNvPr id="4" name="Image 0" descr="my_sampling"/>
          <p:cNvPicPr>
            <a:picLocks noChangeAspect="1"/>
          </p:cNvPicPr>
          <p:nvPr/>
        </p:nvPicPr>
        <p:blipFill>
          <a:blip r:embed="rId3"/>
          <a:stretch>
            <a:fillRect/>
          </a:stretch>
        </p:blipFill>
        <p:spPr>
          <a:xfrm>
            <a:off x="755725" y="1325880"/>
            <a:ext cx="10650071" cy="3017520"/>
          </a:xfrm>
          <a:prstGeom prst="rect">
            <a:avLst/>
          </a:prstGeom>
        </p:spPr>
      </p:pic>
      <p:sp>
        <p:nvSpPr>
          <p:cNvPr id="5" name="Shape 1"/>
          <p:cNvSpPr/>
          <p:nvPr/>
        </p:nvSpPr>
        <p:spPr>
          <a:xfrm>
            <a:off x="548640" y="4526280"/>
            <a:ext cx="3566160" cy="1508760"/>
          </a:xfrm>
          <a:prstGeom prst="roundRect">
            <a:avLst>
              <a:gd name="adj" fmla="val 4848"/>
            </a:avLst>
          </a:prstGeom>
          <a:solidFill>
            <a:srgbClr val="F3F0EB"/>
          </a:solidFill>
          <a:ln/>
        </p:spPr>
      </p:sp>
      <p:sp>
        <p:nvSpPr>
          <p:cNvPr id="6" name="Text 2"/>
          <p:cNvSpPr txBox="1"/>
          <p:nvPr/>
        </p:nvSpPr>
        <p:spPr>
          <a:xfrm>
            <a:off x="731520" y="4590288"/>
            <a:ext cx="3200400" cy="1371600"/>
          </a:xfrm>
          <a:prstGeom prst="rect">
            <a:avLst/>
          </a:prstGeom>
          <a:noFill/>
          <a:ln/>
        </p:spPr>
        <p:txBody>
          <a:bodyPr wrap="square" lIns="25400" tIns="25400" rIns="25400" bIns="25400" rtlCol="0" anchor="t"/>
          <a:lstStyle/>
          <a:p>
            <a:pPr marL="0" indent="0">
              <a:buNone/>
            </a:pPr>
            <a:r>
              <a:rPr lang="en-US" sz="1600" b="1" dirty="0">
                <a:solidFill>
                  <a:srgbClr val="8C5A2B"/>
                </a:solidFill>
              </a:rPr>
              <a:t>Stratified random</a:t>
            </a:r>
            <a:endParaRPr lang="en-US" sz="1600" dirty="0"/>
          </a:p>
          <a:p>
            <a:pPr marL="0" indent="0">
              <a:buNone/>
            </a:pPr>
            <a:r>
              <a:rPr lang="en-US" sz="1400" dirty="0">
                <a:solidFill>
                  <a:srgbClr val="2B2118"/>
                </a:solidFill>
              </a:rPr>
              <a:t>SOC study: 21 strata (elevation × LULC × geology) covering &gt;80% of the district; 421 sites.</a:t>
            </a:r>
            <a:endParaRPr lang="en-US" sz="1600" dirty="0"/>
          </a:p>
        </p:txBody>
      </p:sp>
      <p:sp>
        <p:nvSpPr>
          <p:cNvPr id="7" name="Shape 3"/>
          <p:cNvSpPr/>
          <p:nvPr/>
        </p:nvSpPr>
        <p:spPr>
          <a:xfrm>
            <a:off x="4297680" y="4526280"/>
            <a:ext cx="3566160" cy="1508760"/>
          </a:xfrm>
          <a:prstGeom prst="roundRect">
            <a:avLst>
              <a:gd name="adj" fmla="val 4848"/>
            </a:avLst>
          </a:prstGeom>
          <a:solidFill>
            <a:srgbClr val="F3F0EB"/>
          </a:solidFill>
          <a:ln/>
        </p:spPr>
      </p:sp>
      <p:sp>
        <p:nvSpPr>
          <p:cNvPr id="8" name="Text 4"/>
          <p:cNvSpPr txBox="1"/>
          <p:nvPr/>
        </p:nvSpPr>
        <p:spPr>
          <a:xfrm>
            <a:off x="4480560" y="4590288"/>
            <a:ext cx="3200400" cy="1371600"/>
          </a:xfrm>
          <a:prstGeom prst="rect">
            <a:avLst/>
          </a:prstGeom>
          <a:noFill/>
          <a:ln/>
        </p:spPr>
        <p:txBody>
          <a:bodyPr wrap="square" lIns="25400" tIns="25400" rIns="25400" bIns="25400" rtlCol="0" anchor="t"/>
          <a:lstStyle/>
          <a:p>
            <a:pPr marL="0" indent="0">
              <a:buNone/>
            </a:pPr>
            <a:r>
              <a:rPr lang="en-US" sz="1600" b="1" dirty="0">
                <a:solidFill>
                  <a:srgbClr val="2E7D7A"/>
                </a:solidFill>
              </a:rPr>
              <a:t>cLHS</a:t>
            </a:r>
            <a:endParaRPr lang="en-US" sz="1600" dirty="0"/>
          </a:p>
          <a:p>
            <a:pPr marL="0" indent="0">
              <a:buNone/>
            </a:pPr>
            <a:r>
              <a:rPr lang="en-US" sz="1400" dirty="0">
                <a:solidFill>
                  <a:srgbClr val="2B2118"/>
                </a:solidFill>
              </a:rPr>
              <a:t>Soil-moisture study: sites chosen with the clhs R package; 622 readings over 6 satellite dates.</a:t>
            </a:r>
            <a:endParaRPr lang="en-US" sz="1600" dirty="0"/>
          </a:p>
        </p:txBody>
      </p:sp>
      <p:sp>
        <p:nvSpPr>
          <p:cNvPr id="9" name="Shape 5"/>
          <p:cNvSpPr/>
          <p:nvPr/>
        </p:nvSpPr>
        <p:spPr>
          <a:xfrm>
            <a:off x="8046720" y="4526280"/>
            <a:ext cx="3566160" cy="1508760"/>
          </a:xfrm>
          <a:prstGeom prst="roundRect">
            <a:avLst>
              <a:gd name="adj" fmla="val 4848"/>
            </a:avLst>
          </a:prstGeom>
          <a:solidFill>
            <a:srgbClr val="F3F0EB"/>
          </a:solidFill>
          <a:ln/>
        </p:spPr>
      </p:sp>
      <p:sp>
        <p:nvSpPr>
          <p:cNvPr id="10" name="Text 6"/>
          <p:cNvSpPr txBox="1"/>
          <p:nvPr/>
        </p:nvSpPr>
        <p:spPr>
          <a:xfrm>
            <a:off x="8229600" y="4590288"/>
            <a:ext cx="3200400" cy="1371600"/>
          </a:xfrm>
          <a:prstGeom prst="rect">
            <a:avLst/>
          </a:prstGeom>
          <a:noFill/>
          <a:ln/>
        </p:spPr>
        <p:txBody>
          <a:bodyPr wrap="square" lIns="25400" tIns="25400" rIns="25400" bIns="25400" rtlCol="0" anchor="t"/>
          <a:lstStyle/>
          <a:p>
            <a:pPr marL="0" indent="0">
              <a:buNone/>
            </a:pPr>
            <a:r>
              <a:rPr lang="en-US" sz="1600" b="1" dirty="0">
                <a:solidFill>
                  <a:srgbClr val="C9A227"/>
                </a:solidFill>
              </a:rPr>
              <a:t>Rule of thumb</a:t>
            </a:r>
            <a:endParaRPr lang="en-US" sz="1600" dirty="0"/>
          </a:p>
          <a:p>
            <a:pPr marL="0" indent="0">
              <a:buNone/>
            </a:pPr>
            <a:r>
              <a:rPr lang="en-US" sz="1400" dirty="0">
                <a:solidFill>
                  <a:srgbClr val="2B2118"/>
                </a:solidFill>
              </a:rPr>
              <a:t>For a reliable variogram aim for at least 100–150 points; for kriging, spacing below half the effective range.</a:t>
            </a:r>
            <a:endParaRPr lang="en-US" sz="1600" dirty="0"/>
          </a:p>
        </p:txBody>
      </p:sp>
      <p:sp>
        <p:nvSpPr>
          <p:cNvPr id="11" name="Text 7"/>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Schematic drawn for this talk; facts from Kalambukattu et al. (2025), Das et al. (2022) and Oliver &amp; Webster (2014) Catena 113:56–69</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DSM methodology step by step</a:t>
            </a:r>
          </a:p>
        </p:txBody>
      </p:sp>
      <p:sp>
        <p:nvSpPr>
          <p:cNvPr id="3" name="Text Placeholder 2"/>
          <p:cNvSpPr>
            <a:spLocks noGrp="1"/>
          </p:cNvSpPr>
          <p:nvPr>
            <p:ph type="body" idx="101"/>
          </p:nvPr>
        </p:nvSpPr>
        <p:spPr/>
        <p:txBody>
          <a:bodyPr/>
          <a:lstStyle/>
          <a:p>
            <a:r>
              <a:t>Five-step workflow from Minasny et al. (2013) Adv. Agron. 118:1–47, with techniques reviewed by Sindhushree et al. (2025)</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DSM is made of: soil data, spatial data and models</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71600"/>
            <a:ext cx="2331720" cy="123444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2B2118"/>
                </a:solidFill>
              </a:rPr>
              <a:t>Soil data</a:t>
            </a:r>
          </a:p>
          <a:p>
            <a:pPr marL="0" indent="0" algn="ctr">
              <a:spcAft>
                <a:spcPts val="100"/>
              </a:spcAft>
              <a:buNone/>
            </a:pPr>
            <a:r>
              <a:rPr sz="1300" b="0" i="0">
                <a:solidFill>
                  <a:srgbClr val="2B2118"/>
                </a:solidFill>
              </a:rPr>
              <a:t>profiles, lab analyses, legacy maps</a:t>
            </a:r>
          </a:p>
        </p:txBody>
      </p:sp>
      <p:sp>
        <p:nvSpPr>
          <p:cNvPr id="5" name="Rounded Rectangle 4"/>
          <p:cNvSpPr/>
          <p:nvPr/>
        </p:nvSpPr>
        <p:spPr>
          <a:xfrm>
            <a:off x="548640" y="2788920"/>
            <a:ext cx="2331720" cy="123444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2B2118"/>
                </a:solidFill>
              </a:rPr>
              <a:t>Spatial data</a:t>
            </a:r>
          </a:p>
          <a:p>
            <a:pPr marL="0" indent="0" algn="ctr">
              <a:spcAft>
                <a:spcPts val="100"/>
              </a:spcAft>
              <a:buNone/>
            </a:pPr>
            <a:r>
              <a:rPr sz="1300" b="0" i="0">
                <a:solidFill>
                  <a:srgbClr val="2B2118"/>
                </a:solidFill>
              </a:rPr>
              <a:t>climate, DEM, satellite imagery, vegetation</a:t>
            </a:r>
          </a:p>
        </p:txBody>
      </p:sp>
      <p:sp>
        <p:nvSpPr>
          <p:cNvPr id="6" name="Rounded Rectangle 5"/>
          <p:cNvSpPr/>
          <p:nvPr/>
        </p:nvSpPr>
        <p:spPr>
          <a:xfrm>
            <a:off x="3246120" y="1783080"/>
            <a:ext cx="1737360" cy="182880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Numerical model</a:t>
            </a:r>
          </a:p>
          <a:p>
            <a:pPr marL="0" indent="0" algn="ctr">
              <a:spcAft>
                <a:spcPts val="100"/>
              </a:spcAft>
              <a:buNone/>
            </a:pPr>
            <a:r>
              <a:rPr sz="1300" b="0" i="0">
                <a:solidFill>
                  <a:srgbClr val="FFFFFF"/>
                </a:solidFill>
              </a:rPr>
              <a:t>statistics, geostatistics, ML / DL</a:t>
            </a:r>
          </a:p>
        </p:txBody>
      </p:sp>
      <p:sp>
        <p:nvSpPr>
          <p:cNvPr id="7" name="Rounded Rectangle 6"/>
          <p:cNvSpPr/>
          <p:nvPr/>
        </p:nvSpPr>
        <p:spPr>
          <a:xfrm>
            <a:off x="5349240" y="1371600"/>
            <a:ext cx="1600200" cy="123444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Soil property / class map</a:t>
            </a:r>
          </a:p>
        </p:txBody>
      </p:sp>
      <p:sp>
        <p:nvSpPr>
          <p:cNvPr id="8" name="Rounded Rectangle 7"/>
          <p:cNvSpPr/>
          <p:nvPr/>
        </p:nvSpPr>
        <p:spPr>
          <a:xfrm>
            <a:off x="5349240" y="2788920"/>
            <a:ext cx="1600200" cy="123444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Uncertainty map</a:t>
            </a:r>
          </a:p>
        </p:txBody>
      </p:sp>
      <p:cxnSp>
        <p:nvCxnSpPr>
          <p:cNvPr id="9" name="Connector 8"/>
          <p:cNvCxnSpPr/>
          <p:nvPr/>
        </p:nvCxnSpPr>
        <p:spPr>
          <a:xfrm>
            <a:off x="2880360" y="1993392"/>
            <a:ext cx="365760" cy="384048"/>
          </a:xfrm>
          <a:prstGeom prst="line">
            <a:avLst/>
          </a:prstGeom>
          <a:ln w="22225">
            <a:solidFill>
              <a:srgbClr val="8A817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880360" y="3017520"/>
            <a:ext cx="365760" cy="384048"/>
          </a:xfrm>
          <a:prstGeom prst="line">
            <a:avLst/>
          </a:prstGeom>
          <a:ln w="22225">
            <a:solidFill>
              <a:srgbClr val="8A817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983480" y="1993392"/>
            <a:ext cx="365760" cy="384048"/>
          </a:xfrm>
          <a:prstGeom prst="line">
            <a:avLst/>
          </a:prstGeom>
          <a:ln w="22225">
            <a:solidFill>
              <a:srgbClr val="8A817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983480" y="3017520"/>
            <a:ext cx="365760" cy="384048"/>
          </a:xfrm>
          <a:prstGeom prst="line">
            <a:avLst/>
          </a:prstGeom>
          <a:ln w="22225">
            <a:solidFill>
              <a:srgbClr val="8A8178"/>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269480" y="1325880"/>
            <a:ext cx="4343400" cy="242316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_params.png"/>
          <p:cNvPicPr>
            <a:picLocks noChangeAspect="1"/>
          </p:cNvPicPr>
          <p:nvPr/>
        </p:nvPicPr>
        <p:blipFill>
          <a:blip r:embed="rId3"/>
          <a:stretch>
            <a:fillRect/>
          </a:stretch>
        </p:blipFill>
        <p:spPr>
          <a:xfrm>
            <a:off x="7574835" y="1399032"/>
            <a:ext cx="3732689" cy="2276856"/>
          </a:xfrm>
          <a:prstGeom prst="rect">
            <a:avLst/>
          </a:prstGeom>
        </p:spPr>
      </p:pic>
      <p:sp>
        <p:nvSpPr>
          <p:cNvPr id="15" name="TextBox 14"/>
          <p:cNvSpPr txBox="1"/>
          <p:nvPr/>
        </p:nvSpPr>
        <p:spPr>
          <a:xfrm>
            <a:off x="7269480" y="3785615"/>
            <a:ext cx="434340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Fig. 1 of Sindhushree et al. (2025): key soil parameters mapped and why they matter</a:t>
            </a:r>
          </a:p>
        </p:txBody>
      </p:sp>
      <p:sp>
        <p:nvSpPr>
          <p:cNvPr id="16" name="Rounded Rectangle 15"/>
          <p:cNvSpPr/>
          <p:nvPr/>
        </p:nvSpPr>
        <p:spPr>
          <a:xfrm>
            <a:off x="548640" y="4343400"/>
            <a:ext cx="2606040" cy="16459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16552"/>
            <a:ext cx="2331720" cy="1508760"/>
          </a:xfrm>
          <a:prstGeom prst="rect">
            <a:avLst/>
          </a:prstGeom>
          <a:noFill/>
        </p:spPr>
        <p:txBody>
          <a:bodyPr wrap="square" lIns="27432" rIns="27432" tIns="27432" bIns="27432" anchor="t">
            <a:spAutoFit/>
          </a:bodyPr>
          <a:lstStyle/>
          <a:p>
            <a:pPr marL="0" indent="0">
              <a:spcAft>
                <a:spcPts val="400"/>
              </a:spcAft>
              <a:buNone/>
            </a:pPr>
            <a:r>
              <a:rPr sz="1600" b="1" i="0">
                <a:solidFill>
                  <a:srgbClr val="8C5A2B"/>
                </a:solidFill>
              </a:rPr>
              <a:t>Standardisation</a:t>
            </a:r>
          </a:p>
          <a:p>
            <a:pPr marL="0" indent="0">
              <a:spcAft>
                <a:spcPts val="400"/>
              </a:spcAft>
              <a:buNone/>
            </a:pPr>
            <a:r>
              <a:rPr sz="1400" b="0" i="0">
                <a:solidFill>
                  <a:srgbClr val="2B2118"/>
                </a:solidFill>
              </a:rPr>
              <a:t>consistent data and models; less surveyor bias</a:t>
            </a:r>
          </a:p>
        </p:txBody>
      </p:sp>
      <p:sp>
        <p:nvSpPr>
          <p:cNvPr id="18" name="Rounded Rectangle 17"/>
          <p:cNvSpPr/>
          <p:nvPr/>
        </p:nvSpPr>
        <p:spPr>
          <a:xfrm>
            <a:off x="3337560" y="4343400"/>
            <a:ext cx="2606040" cy="16459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4416552"/>
            <a:ext cx="2331720" cy="1508760"/>
          </a:xfrm>
          <a:prstGeom prst="rect">
            <a:avLst/>
          </a:prstGeom>
          <a:noFill/>
        </p:spPr>
        <p:txBody>
          <a:bodyPr wrap="square" lIns="27432" rIns="27432" tIns="27432" bIns="27432" anchor="t">
            <a:spAutoFit/>
          </a:bodyPr>
          <a:lstStyle/>
          <a:p>
            <a:pPr marL="0" indent="0">
              <a:spcAft>
                <a:spcPts val="400"/>
              </a:spcAft>
              <a:buNone/>
            </a:pPr>
            <a:r>
              <a:rPr sz="1600" b="1" i="0">
                <a:solidFill>
                  <a:srgbClr val="2E7D7A"/>
                </a:solidFill>
              </a:rPr>
              <a:t>Continuity</a:t>
            </a:r>
          </a:p>
          <a:p>
            <a:pPr marL="0" indent="0">
              <a:spcAft>
                <a:spcPts val="400"/>
              </a:spcAft>
              <a:buNone/>
            </a:pPr>
            <a:r>
              <a:rPr sz="1400" b="0" i="0">
                <a:solidFill>
                  <a:srgbClr val="2B2118"/>
                </a:solidFill>
              </a:rPr>
              <a:t>continuous surfaces, not fixed polygon boundaries</a:t>
            </a:r>
          </a:p>
        </p:txBody>
      </p:sp>
      <p:sp>
        <p:nvSpPr>
          <p:cNvPr id="20" name="Rounded Rectangle 19"/>
          <p:cNvSpPr/>
          <p:nvPr/>
        </p:nvSpPr>
        <p:spPr>
          <a:xfrm>
            <a:off x="6126479" y="4343400"/>
            <a:ext cx="2606040" cy="16459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4416552"/>
            <a:ext cx="2331720" cy="1508760"/>
          </a:xfrm>
          <a:prstGeom prst="rect">
            <a:avLst/>
          </a:prstGeom>
          <a:noFill/>
        </p:spPr>
        <p:txBody>
          <a:bodyPr wrap="square" lIns="27432" rIns="27432" tIns="27432" bIns="27432" anchor="t">
            <a:spAutoFit/>
          </a:bodyPr>
          <a:lstStyle/>
          <a:p>
            <a:pPr marL="0" indent="0">
              <a:spcAft>
                <a:spcPts val="400"/>
              </a:spcAft>
              <a:buNone/>
            </a:pPr>
            <a:r>
              <a:rPr sz="1600" b="1" i="0">
                <a:solidFill>
                  <a:srgbClr val="C9A227"/>
                </a:solidFill>
              </a:rPr>
              <a:t>Scalability</a:t>
            </a:r>
          </a:p>
          <a:p>
            <a:pPr marL="0" indent="0">
              <a:spcAft>
                <a:spcPts val="400"/>
              </a:spcAft>
              <a:buNone/>
            </a:pPr>
            <a:r>
              <a:rPr sz="1400" b="0" i="0">
                <a:solidFill>
                  <a:srgbClr val="2B2118"/>
                </a:solidFill>
              </a:rPr>
              <a:t>large or hard-to-reach areas from fewer samples</a:t>
            </a:r>
          </a:p>
        </p:txBody>
      </p:sp>
      <p:sp>
        <p:nvSpPr>
          <p:cNvPr id="22" name="Rounded Rectangle 21"/>
          <p:cNvSpPr/>
          <p:nvPr/>
        </p:nvSpPr>
        <p:spPr>
          <a:xfrm>
            <a:off x="8915399" y="4343400"/>
            <a:ext cx="2606040" cy="16459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59" y="4416552"/>
            <a:ext cx="2331720" cy="1508760"/>
          </a:xfrm>
          <a:prstGeom prst="rect">
            <a:avLst/>
          </a:prstGeom>
          <a:noFill/>
        </p:spPr>
        <p:txBody>
          <a:bodyPr wrap="square" lIns="27432" rIns="27432" tIns="27432" bIns="27432" anchor="t">
            <a:spAutoFit/>
          </a:bodyPr>
          <a:lstStyle/>
          <a:p>
            <a:pPr marL="0" indent="0">
              <a:spcAft>
                <a:spcPts val="400"/>
              </a:spcAft>
              <a:buNone/>
            </a:pPr>
            <a:r>
              <a:rPr sz="1600" b="1" i="0">
                <a:solidFill>
                  <a:srgbClr val="6B8E4E"/>
                </a:solidFill>
              </a:rPr>
              <a:t>Cost efficiency</a:t>
            </a:r>
          </a:p>
          <a:p>
            <a:pPr marL="0" indent="0">
              <a:spcAft>
                <a:spcPts val="400"/>
              </a:spcAft>
              <a:buNone/>
            </a:pPr>
            <a:r>
              <a:rPr sz="1400" b="0" i="0">
                <a:solidFill>
                  <a:srgbClr val="2B2118"/>
                </a:solidFill>
              </a:rPr>
              <a:t>remote sensing + models replace much field and lab work</a:t>
            </a:r>
          </a:p>
        </p:txBody>
      </p:sp>
      <p:sp>
        <p:nvSpPr>
          <p:cNvPr id="24" name="TextBox 23"/>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Components and advantages from Sindhushree et al. (2025) Digital soil mapping: a review of techniques, applications and emerging trends. J. Sci. Res. Rep. 31(7):1151–58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From traditional survey to predictive soil mapping</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3291840" cy="310896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core.png"/>
          <p:cNvPicPr>
            <a:picLocks noChangeAspect="1"/>
          </p:cNvPicPr>
          <p:nvPr/>
        </p:nvPicPr>
        <p:blipFill>
          <a:blip r:embed="rId3"/>
          <a:stretch>
            <a:fillRect/>
          </a:stretch>
        </p:blipFill>
        <p:spPr>
          <a:xfrm>
            <a:off x="632634" y="1399032"/>
            <a:ext cx="3123851" cy="2962656"/>
          </a:xfrm>
          <a:prstGeom prst="rect">
            <a:avLst/>
          </a:prstGeom>
        </p:spPr>
      </p:pic>
      <p:sp>
        <p:nvSpPr>
          <p:cNvPr id="6" name="TextBox 5"/>
          <p:cNvSpPr txBox="1"/>
          <p:nvPr/>
        </p:nvSpPr>
        <p:spPr>
          <a:xfrm>
            <a:off x="548640" y="4471416"/>
            <a:ext cx="329184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Fig. 2 of Sindhushree et al. (2025): core techniques of traditional soil mapping</a:t>
            </a:r>
          </a:p>
        </p:txBody>
      </p:sp>
      <p:sp>
        <p:nvSpPr>
          <p:cNvPr id="7" name="Rounded Rectangle 6"/>
          <p:cNvSpPr/>
          <p:nvPr/>
        </p:nvSpPr>
        <p:spPr>
          <a:xfrm>
            <a:off x="4114800" y="1325880"/>
            <a:ext cx="3657600" cy="46634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1417320"/>
            <a:ext cx="3291840" cy="4480560"/>
          </a:xfrm>
          <a:prstGeom prst="rect">
            <a:avLst/>
          </a:prstGeom>
          <a:noFill/>
        </p:spPr>
        <p:txBody>
          <a:bodyPr wrap="square" lIns="27432" rIns="27432" tIns="27432" bIns="27432" anchor="t">
            <a:spAutoFit/>
          </a:bodyPr>
          <a:lstStyle/>
          <a:p>
            <a:pPr marL="0" indent="0">
              <a:spcAft>
                <a:spcPts val="400"/>
              </a:spcAft>
              <a:buNone/>
            </a:pPr>
            <a:r>
              <a:rPr sz="1600" b="1" i="0">
                <a:solidFill>
                  <a:srgbClr val="8C5A2B"/>
                </a:solidFill>
              </a:rPr>
              <a:t>Three DSM concepts</a:t>
            </a:r>
          </a:p>
          <a:p>
            <a:pPr marL="228600" indent="-228600">
              <a:spcAft>
                <a:spcPts val="400"/>
              </a:spcAft>
              <a:buFont typeface="Arial"/>
              <a:buChar char="•"/>
            </a:pPr>
            <a:r>
              <a:rPr sz="1300" b="1" i="0">
                <a:solidFill>
                  <a:srgbClr val="2B2118"/>
                </a:solidFill>
              </a:rPr>
              <a:t>Predictive soil mapping (PSM)</a:t>
            </a:r>
            <a:r>
              <a:rPr sz="1300" b="0" i="0">
                <a:solidFill>
                  <a:srgbClr val="2B2118"/>
                </a:solidFill>
              </a:rPr>
              <a:t>: statistical / ML models extrapolate properties from limited samples + environmental variables</a:t>
            </a:r>
          </a:p>
          <a:p>
            <a:pPr marL="228600" indent="-228600">
              <a:spcAft>
                <a:spcPts val="400"/>
              </a:spcAft>
              <a:buFont typeface="Arial"/>
              <a:buChar char="•"/>
            </a:pPr>
            <a:r>
              <a:rPr sz="1300" b="1" i="0">
                <a:solidFill>
                  <a:srgbClr val="2B2118"/>
                </a:solidFill>
              </a:rPr>
              <a:t>Prediction of soil properties</a:t>
            </a:r>
            <a:r>
              <a:rPr sz="1300" b="0" i="0">
                <a:solidFill>
                  <a:srgbClr val="2B2118"/>
                </a:solidFill>
              </a:rPr>
              <a:t>: texture, moisture, organic carbon at unsampled locations</a:t>
            </a:r>
          </a:p>
          <a:p>
            <a:pPr marL="228600" indent="-228600">
              <a:spcAft>
                <a:spcPts val="400"/>
              </a:spcAft>
              <a:buFont typeface="Arial"/>
              <a:buChar char="•"/>
            </a:pPr>
            <a:r>
              <a:rPr sz="1300" b="1" i="0">
                <a:solidFill>
                  <a:srgbClr val="2B2118"/>
                </a:solidFill>
              </a:rPr>
              <a:t>GIS</a:t>
            </a:r>
            <a:r>
              <a:rPr sz="1300" b="0" i="0">
                <a:solidFill>
                  <a:srgbClr val="2B2118"/>
                </a:solidFill>
              </a:rPr>
              <a:t>: integrates, overlays and visualises terrain, land use, vegetation and samples</a:t>
            </a:r>
          </a:p>
        </p:txBody>
      </p:sp>
      <p:sp>
        <p:nvSpPr>
          <p:cNvPr id="9" name="Rounded Rectangle 8"/>
          <p:cNvSpPr/>
          <p:nvPr/>
        </p:nvSpPr>
        <p:spPr>
          <a:xfrm>
            <a:off x="8001000" y="1325880"/>
            <a:ext cx="3611880" cy="46634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1417320"/>
            <a:ext cx="3246120" cy="4480560"/>
          </a:xfrm>
          <a:prstGeom prst="rect">
            <a:avLst/>
          </a:prstGeom>
          <a:noFill/>
        </p:spPr>
        <p:txBody>
          <a:bodyPr wrap="square" lIns="27432" rIns="27432" tIns="27432" bIns="27432" anchor="t">
            <a:spAutoFit/>
          </a:bodyPr>
          <a:lstStyle/>
          <a:p>
            <a:pPr marL="0" indent="0">
              <a:spcAft>
                <a:spcPts val="400"/>
              </a:spcAft>
              <a:buNone/>
            </a:pPr>
            <a:r>
              <a:rPr sz="1600" b="1" i="0">
                <a:solidFill>
                  <a:srgbClr val="2E7D7A"/>
                </a:solidFill>
              </a:rPr>
              <a:t>Technique types</a:t>
            </a:r>
          </a:p>
          <a:p>
            <a:pPr marL="228600" indent="-228600">
              <a:spcAft>
                <a:spcPts val="400"/>
              </a:spcAft>
              <a:buFont typeface="Arial"/>
              <a:buChar char="•"/>
            </a:pPr>
            <a:r>
              <a:rPr sz="1300" b="1" i="0">
                <a:solidFill>
                  <a:srgbClr val="2B2118"/>
                </a:solidFill>
              </a:rPr>
              <a:t>Classification</a:t>
            </a:r>
            <a:r>
              <a:rPr sz="1300" b="0" i="0">
                <a:solidFill>
                  <a:srgbClr val="2B2118"/>
                </a:solidFill>
              </a:rPr>
              <a:t> → discrete soil types or classes</a:t>
            </a:r>
          </a:p>
          <a:p>
            <a:pPr marL="228600" indent="-228600">
              <a:spcAft>
                <a:spcPts val="400"/>
              </a:spcAft>
              <a:buFont typeface="Arial"/>
              <a:buChar char="•"/>
            </a:pPr>
            <a:r>
              <a:rPr sz="1300" b="1" i="0">
                <a:solidFill>
                  <a:srgbClr val="2B2118"/>
                </a:solidFill>
              </a:rPr>
              <a:t>Regression</a:t>
            </a:r>
            <a:r>
              <a:rPr sz="1300" b="0" i="0">
                <a:solidFill>
                  <a:srgbClr val="2B2118"/>
                </a:solidFill>
              </a:rPr>
              <a:t> → continuous pH, organic matter, moisture</a:t>
            </a:r>
          </a:p>
          <a:p>
            <a:pPr marL="0" indent="0">
              <a:spcAft>
                <a:spcPts val="200"/>
              </a:spcAft>
              <a:buNone/>
            </a:pPr>
            <a:r>
              <a:rPr sz="1400" b="1" i="0">
                <a:solidFill>
                  <a:srgbClr val="2E7D7A"/>
                </a:solidFill>
              </a:rPr>
              <a:t>Supporting technologies</a:t>
            </a:r>
          </a:p>
          <a:p>
            <a:pPr marL="228600" indent="-228600">
              <a:spcAft>
                <a:spcPts val="400"/>
              </a:spcAft>
              <a:buFont typeface="Arial"/>
              <a:buChar char="•"/>
            </a:pPr>
            <a:r>
              <a:rPr sz="1300" b="0" i="0">
                <a:solidFill>
                  <a:srgbClr val="2B2118"/>
                </a:solidFill>
              </a:rPr>
              <a:t>Satellite imagery; drones</a:t>
            </a:r>
          </a:p>
          <a:p>
            <a:pPr marL="228600" indent="-228600">
              <a:spcAft>
                <a:spcPts val="400"/>
              </a:spcAft>
              <a:buFont typeface="Arial"/>
              <a:buChar char="•"/>
            </a:pPr>
            <a:r>
              <a:rPr sz="1300" b="0" i="0">
                <a:solidFill>
                  <a:srgbClr val="2B2118"/>
                </a:solidFill>
              </a:rPr>
              <a:t>Kriging and variogram analysis</a:t>
            </a:r>
          </a:p>
          <a:p>
            <a:pPr marL="228600" indent="-228600">
              <a:spcAft>
                <a:spcPts val="400"/>
              </a:spcAft>
              <a:buFont typeface="Arial"/>
              <a:buChar char="•"/>
            </a:pPr>
            <a:r>
              <a:rPr sz="1300" b="0" i="0">
                <a:solidFill>
                  <a:srgbClr val="2B2118"/>
                </a:solidFill>
              </a:rPr>
              <a:t>Open data and crowdsourcing to fill data gaps</a:t>
            </a:r>
          </a:p>
        </p:txBody>
      </p:sp>
      <p:sp>
        <p:nvSpPr>
          <p:cNvPr id="11" name="TextBox 10"/>
          <p:cNvSpPr txBox="1"/>
          <p:nvPr/>
        </p:nvSpPr>
        <p:spPr>
          <a:xfrm>
            <a:off x="548640" y="4892040"/>
            <a:ext cx="3291840" cy="1097280"/>
          </a:xfrm>
          <a:prstGeom prst="rect">
            <a:avLst/>
          </a:prstGeom>
          <a:noFill/>
        </p:spPr>
        <p:txBody>
          <a:bodyPr wrap="square" lIns="27432" rIns="27432" tIns="27432" bIns="27432" anchor="t">
            <a:spAutoFit/>
          </a:bodyPr>
          <a:lstStyle/>
          <a:p>
            <a:pPr marL="0" indent="0">
              <a:spcAft>
                <a:spcPts val="400"/>
              </a:spcAft>
              <a:buNone/>
            </a:pPr>
            <a:r>
              <a:rPr sz="1300" b="0" i="0">
                <a:solidFill>
                  <a:srgbClr val="4A3B2E"/>
                </a:solidFill>
              </a:rPr>
              <a:t>Traditional data stay essential: they become the </a:t>
            </a:r>
            <a:r>
              <a:rPr sz="1300" b="1" i="0">
                <a:solidFill>
                  <a:srgbClr val="4A3B2E"/>
                </a:solidFill>
              </a:rPr>
              <a:t>training and validation points</a:t>
            </a:r>
            <a:r>
              <a:rPr sz="1300" b="0" i="0">
                <a:solidFill>
                  <a:srgbClr val="4A3B2E"/>
                </a:solidFill>
              </a:rPr>
              <a:t> for DSM models.</a:t>
            </a:r>
          </a:p>
        </p:txBody>
      </p:sp>
      <p:sp>
        <p:nvSpPr>
          <p:cNvPr id="12" name="TextBox 11"/>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Sindhushree et al. (2025) Digital soil mapping: a review of techniques, applications and emerging trends. J. Sci. Res. Rep. 31(7):1151–58, Sections 1.2–1.3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five-step DSM workflow (Minasny et al., 2013)</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417320"/>
            <a:ext cx="1965960" cy="91440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400" b="1" i="0">
                <a:solidFill>
                  <a:srgbClr val="FFFFFF"/>
                </a:solidFill>
              </a:rPr>
              <a:t>1. Soil observations</a:t>
            </a:r>
          </a:p>
        </p:txBody>
      </p:sp>
      <p:sp>
        <p:nvSpPr>
          <p:cNvPr id="5" name="Rounded Rectangle 4"/>
          <p:cNvSpPr/>
          <p:nvPr/>
        </p:nvSpPr>
        <p:spPr>
          <a:xfrm>
            <a:off x="548640" y="2468880"/>
            <a:ext cx="1965960" cy="196596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42032"/>
            <a:ext cx="1783080" cy="1828800"/>
          </a:xfrm>
          <a:prstGeom prst="rect">
            <a:avLst/>
          </a:prstGeom>
          <a:noFill/>
        </p:spPr>
        <p:txBody>
          <a:bodyPr wrap="square" lIns="27432" rIns="27432" tIns="27432" bIns="27432" anchor="t">
            <a:spAutoFit/>
          </a:bodyPr>
          <a:lstStyle/>
          <a:p>
            <a:pPr marL="0" indent="0">
              <a:spcAft>
                <a:spcPts val="400"/>
              </a:spcAft>
              <a:buNone/>
            </a:pPr>
            <a:r>
              <a:rPr sz="1400" b="0" i="0">
                <a:solidFill>
                  <a:srgbClr val="2B2118"/>
                </a:solidFill>
              </a:rPr>
              <a:t>Database of profiles / samples; harmonise depth, units, bulk density</a:t>
            </a:r>
          </a:p>
        </p:txBody>
      </p:sp>
      <p:cxnSp>
        <p:nvCxnSpPr>
          <p:cNvPr id="7" name="Connector 6"/>
          <p:cNvCxnSpPr/>
          <p:nvPr/>
        </p:nvCxnSpPr>
        <p:spPr>
          <a:xfrm>
            <a:off x="2514600" y="1874519"/>
            <a:ext cx="292608"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07208" y="1417320"/>
            <a:ext cx="1965960" cy="91440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400" b="1" i="0">
                <a:solidFill>
                  <a:srgbClr val="FFFFFF"/>
                </a:solidFill>
              </a:rPr>
              <a:t>2. Covariates</a:t>
            </a:r>
          </a:p>
        </p:txBody>
      </p:sp>
      <p:sp>
        <p:nvSpPr>
          <p:cNvPr id="9" name="Rounded Rectangle 8"/>
          <p:cNvSpPr/>
          <p:nvPr/>
        </p:nvSpPr>
        <p:spPr>
          <a:xfrm>
            <a:off x="2807208" y="2468880"/>
            <a:ext cx="1965960" cy="196596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98648" y="2542032"/>
            <a:ext cx="1783080" cy="1828800"/>
          </a:xfrm>
          <a:prstGeom prst="rect">
            <a:avLst/>
          </a:prstGeom>
          <a:noFill/>
        </p:spPr>
        <p:txBody>
          <a:bodyPr wrap="square" lIns="27432" rIns="27432" tIns="27432" bIns="27432" anchor="t">
            <a:spAutoFit/>
          </a:bodyPr>
          <a:lstStyle/>
          <a:p>
            <a:pPr marL="0" indent="0">
              <a:spcAft>
                <a:spcPts val="400"/>
              </a:spcAft>
              <a:buNone/>
            </a:pPr>
            <a:r>
              <a:rPr sz="1400" b="0" i="0">
                <a:solidFill>
                  <a:srgbClr val="2B2118"/>
                </a:solidFill>
              </a:rPr>
              <a:t>Compile scorpan layers: climate, organisms, relief, parent material, age, space</a:t>
            </a:r>
          </a:p>
        </p:txBody>
      </p:sp>
      <p:cxnSp>
        <p:nvCxnSpPr>
          <p:cNvPr id="11" name="Connector 10"/>
          <p:cNvCxnSpPr/>
          <p:nvPr/>
        </p:nvCxnSpPr>
        <p:spPr>
          <a:xfrm>
            <a:off x="4773168" y="1874519"/>
            <a:ext cx="292608"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65776" y="1417320"/>
            <a:ext cx="1965960" cy="91440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400" b="1" i="0">
                <a:solidFill>
                  <a:srgbClr val="FFFFFF"/>
                </a:solidFill>
              </a:rPr>
              <a:t>3. Calibrate</a:t>
            </a:r>
          </a:p>
        </p:txBody>
      </p:sp>
      <p:sp>
        <p:nvSpPr>
          <p:cNvPr id="13" name="Rounded Rectangle 12"/>
          <p:cNvSpPr/>
          <p:nvPr/>
        </p:nvSpPr>
        <p:spPr>
          <a:xfrm>
            <a:off x="5065776" y="2468880"/>
            <a:ext cx="1965960" cy="196596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57216" y="2542032"/>
            <a:ext cx="1783080" cy="1828800"/>
          </a:xfrm>
          <a:prstGeom prst="rect">
            <a:avLst/>
          </a:prstGeom>
          <a:noFill/>
        </p:spPr>
        <p:txBody>
          <a:bodyPr wrap="square" lIns="27432" rIns="27432" tIns="27432" bIns="27432" anchor="t">
            <a:spAutoFit/>
          </a:bodyPr>
          <a:lstStyle/>
          <a:p>
            <a:pPr marL="0" indent="0">
              <a:spcAft>
                <a:spcPts val="400"/>
              </a:spcAft>
              <a:buNone/>
            </a:pPr>
            <a:r>
              <a:rPr sz="1400" b="0" i="0">
                <a:solidFill>
                  <a:srgbClr val="2B2118"/>
                </a:solidFill>
              </a:rPr>
              <a:t>Train S = f(scorpan) + e: regression, trees, RF, NN, regression-kriging</a:t>
            </a:r>
          </a:p>
        </p:txBody>
      </p:sp>
      <p:cxnSp>
        <p:nvCxnSpPr>
          <p:cNvPr id="15" name="Connector 14"/>
          <p:cNvCxnSpPr/>
          <p:nvPr/>
        </p:nvCxnSpPr>
        <p:spPr>
          <a:xfrm>
            <a:off x="7031736" y="1874519"/>
            <a:ext cx="292608"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24344" y="1417320"/>
            <a:ext cx="1965960" cy="914400"/>
          </a:xfrm>
          <a:prstGeom prst="roundRect">
            <a:avLst>
              <a:gd name="adj" fmla="val 9000"/>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400" b="1" i="0">
                <a:solidFill>
                  <a:srgbClr val="FFFFFF"/>
                </a:solidFill>
              </a:rPr>
              <a:t>4. Predict</a:t>
            </a:r>
          </a:p>
        </p:txBody>
      </p:sp>
      <p:sp>
        <p:nvSpPr>
          <p:cNvPr id="17" name="Rounded Rectangle 16"/>
          <p:cNvSpPr/>
          <p:nvPr/>
        </p:nvSpPr>
        <p:spPr>
          <a:xfrm>
            <a:off x="7324344" y="2468880"/>
            <a:ext cx="1965960" cy="196596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15783" y="2542032"/>
            <a:ext cx="1783080" cy="1828800"/>
          </a:xfrm>
          <a:prstGeom prst="rect">
            <a:avLst/>
          </a:prstGeom>
          <a:noFill/>
        </p:spPr>
        <p:txBody>
          <a:bodyPr wrap="square" lIns="27432" rIns="27432" tIns="27432" bIns="27432" anchor="t">
            <a:spAutoFit/>
          </a:bodyPr>
          <a:lstStyle/>
          <a:p>
            <a:pPr marL="0" indent="0">
              <a:spcAft>
                <a:spcPts val="400"/>
              </a:spcAft>
              <a:buNone/>
            </a:pPr>
            <a:r>
              <a:rPr sz="1400" b="0" i="0">
                <a:solidFill>
                  <a:srgbClr val="2B2118"/>
                </a:solidFill>
              </a:rPr>
              <a:t>Apply the function to every grid cell: 2-D map or pseudo-3-D with depth</a:t>
            </a:r>
          </a:p>
        </p:txBody>
      </p:sp>
      <p:cxnSp>
        <p:nvCxnSpPr>
          <p:cNvPr id="19" name="Connector 18"/>
          <p:cNvCxnSpPr/>
          <p:nvPr/>
        </p:nvCxnSpPr>
        <p:spPr>
          <a:xfrm>
            <a:off x="9290304" y="1874519"/>
            <a:ext cx="292608"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582912" y="1417320"/>
            <a:ext cx="1965960" cy="914400"/>
          </a:xfrm>
          <a:prstGeom prst="roundRect">
            <a:avLst>
              <a:gd name="adj" fmla="val 9000"/>
            </a:avLst>
          </a:prstGeom>
          <a:solidFill>
            <a:srgbClr val="A44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400" b="1" i="0">
                <a:solidFill>
                  <a:srgbClr val="FFFFFF"/>
                </a:solidFill>
              </a:rPr>
              <a:t>5. Validate + uncertainty</a:t>
            </a:r>
          </a:p>
        </p:txBody>
      </p:sp>
      <p:sp>
        <p:nvSpPr>
          <p:cNvPr id="21" name="Rounded Rectangle 20"/>
          <p:cNvSpPr/>
          <p:nvPr/>
        </p:nvSpPr>
        <p:spPr>
          <a:xfrm>
            <a:off x="9582912" y="2468880"/>
            <a:ext cx="1965960" cy="196596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74352" y="2542032"/>
            <a:ext cx="1783080" cy="1828800"/>
          </a:xfrm>
          <a:prstGeom prst="rect">
            <a:avLst/>
          </a:prstGeom>
          <a:noFill/>
        </p:spPr>
        <p:txBody>
          <a:bodyPr wrap="square" lIns="27432" rIns="27432" tIns="27432" bIns="27432" anchor="t">
            <a:spAutoFit/>
          </a:bodyPr>
          <a:lstStyle/>
          <a:p>
            <a:pPr marL="0" indent="0">
              <a:spcAft>
                <a:spcPts val="400"/>
              </a:spcAft>
              <a:buNone/>
            </a:pPr>
            <a:r>
              <a:rPr sz="1400" b="0" i="0">
                <a:solidFill>
                  <a:srgbClr val="2B2118"/>
                </a:solidFill>
              </a:rPr>
              <a:t>Cross-validation, holdback, independent sample; prediction intervals</a:t>
            </a:r>
          </a:p>
        </p:txBody>
      </p:sp>
      <p:cxnSp>
        <p:nvCxnSpPr>
          <p:cNvPr id="23" name="Connector 22"/>
          <p:cNvCxnSpPr/>
          <p:nvPr/>
        </p:nvCxnSpPr>
        <p:spPr>
          <a:xfrm>
            <a:off x="10863072" y="4434840"/>
            <a:ext cx="0" cy="457200"/>
          </a:xfrm>
          <a:prstGeom prst="line">
            <a:avLst/>
          </a:prstGeom>
          <a:ln w="22225">
            <a:solidFill>
              <a:srgbClr val="8A817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536192" y="4892040"/>
            <a:ext cx="9326880" cy="0"/>
          </a:xfrm>
          <a:prstGeom prst="line">
            <a:avLst/>
          </a:prstGeom>
          <a:ln w="22225">
            <a:solidFill>
              <a:srgbClr val="8A817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536192" y="4443984"/>
            <a:ext cx="0" cy="448056"/>
          </a:xfrm>
          <a:prstGeom prst="line">
            <a:avLst/>
          </a:prstGeom>
          <a:ln w="22225">
            <a:solidFill>
              <a:srgbClr val="8A8178"/>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200400" y="4956048"/>
            <a:ext cx="5760720" cy="320040"/>
          </a:xfrm>
          <a:prstGeom prst="rect">
            <a:avLst/>
          </a:prstGeom>
          <a:noFill/>
        </p:spPr>
        <p:txBody>
          <a:bodyPr wrap="square" lIns="27432" rIns="27432" tIns="27432" bIns="27432" anchor="t">
            <a:spAutoFit/>
          </a:bodyPr>
          <a:lstStyle/>
          <a:p>
            <a:pPr marL="0" indent="0" algn="ctr">
              <a:spcAft>
                <a:spcPts val="400"/>
              </a:spcAft>
              <a:buNone/>
            </a:pPr>
            <a:r>
              <a:rPr sz="1200" b="0" i="1">
                <a:solidFill>
                  <a:srgbClr val="8A8178"/>
                </a:solidFill>
              </a:rPr>
              <a:t>Feedback: add samples where uncertainty is high, then re-train</a:t>
            </a:r>
          </a:p>
        </p:txBody>
      </p:sp>
      <p:sp>
        <p:nvSpPr>
          <p:cNvPr id="27" name="Rounded Rectangle 26"/>
          <p:cNvSpPr/>
          <p:nvPr/>
        </p:nvSpPr>
        <p:spPr>
          <a:xfrm>
            <a:off x="2377440" y="5349240"/>
            <a:ext cx="7406640" cy="6858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68880" y="5349240"/>
            <a:ext cx="7223759" cy="685800"/>
          </a:xfrm>
          <a:prstGeom prst="rect">
            <a:avLst/>
          </a:prstGeom>
          <a:noFill/>
        </p:spPr>
        <p:txBody>
          <a:bodyPr wrap="square" lIns="27432" rIns="27432" tIns="27432" bIns="27432" anchor="ctr">
            <a:spAutoFit/>
          </a:bodyPr>
          <a:lstStyle/>
          <a:p>
            <a:pPr marL="0" indent="0" algn="ctr">
              <a:spcAft>
                <a:spcPts val="400"/>
              </a:spcAft>
              <a:buNone/>
            </a:pPr>
            <a:r>
              <a:rPr sz="2000" b="0" i="0">
                <a:solidFill>
                  <a:srgbClr val="2B2118"/>
                </a:solidFill>
                <a:latin typeface="Cambria"/>
              </a:rPr>
              <a:t>S = f( s, c, o, r, p, a, n ) + ε</a:t>
            </a:r>
          </a:p>
        </p:txBody>
      </p:sp>
      <p:sp>
        <p:nvSpPr>
          <p:cNvPr id="29" name="TextBox 28"/>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Minasny, McBratney, Malone &amp; Wheeler (2013) Digital mapping of soil carbon. Adv. Agron. 118:1–47, Section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Step 1a: carbon concentration, density and stock</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417320"/>
            <a:ext cx="1645920" cy="82296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2B2118"/>
                </a:solidFill>
              </a:rPr>
              <a:t>Soil sample</a:t>
            </a:r>
          </a:p>
        </p:txBody>
      </p:sp>
      <p:cxnSp>
        <p:nvCxnSpPr>
          <p:cNvPr id="5" name="Connector 4"/>
          <p:cNvCxnSpPr/>
          <p:nvPr/>
        </p:nvCxnSpPr>
        <p:spPr>
          <a:xfrm>
            <a:off x="2194560" y="1828800"/>
            <a:ext cx="22860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423160" y="1417320"/>
            <a:ext cx="1645920" cy="82296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2B2118"/>
                </a:solidFill>
              </a:rPr>
              <a:t>Lab: C</a:t>
            </a:r>
            <a:r>
              <a:rPr sz="1300" b="1" i="0" baseline="-25000">
                <a:solidFill>
                  <a:srgbClr val="2B2118"/>
                </a:solidFill>
              </a:rPr>
              <a:t>m</a:t>
            </a:r>
            <a:r>
              <a:rPr sz="1300" b="1" i="0">
                <a:solidFill>
                  <a:srgbClr val="2B2118"/>
                </a:solidFill>
              </a:rPr>
              <a:t> (kg kg</a:t>
            </a:r>
            <a:r>
              <a:rPr sz="1300" b="1" i="0" baseline="30000">
                <a:solidFill>
                  <a:srgbClr val="2B2118"/>
                </a:solidFill>
              </a:rPr>
              <a:t>−1</a:t>
            </a:r>
            <a:r>
              <a:rPr sz="1300" b="1" i="0">
                <a:solidFill>
                  <a:srgbClr val="2B2118"/>
                </a:solidFill>
              </a:rPr>
              <a:t>)</a:t>
            </a:r>
          </a:p>
        </p:txBody>
      </p:sp>
      <p:cxnSp>
        <p:nvCxnSpPr>
          <p:cNvPr id="7" name="Connector 6"/>
          <p:cNvCxnSpPr/>
          <p:nvPr/>
        </p:nvCxnSpPr>
        <p:spPr>
          <a:xfrm>
            <a:off x="4069080" y="1828800"/>
            <a:ext cx="228599"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297679" y="1417320"/>
            <a:ext cx="1645920" cy="82296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 bulk density ρ</a:t>
            </a:r>
            <a:r>
              <a:rPr sz="1300" b="1" i="0" baseline="-25000">
                <a:solidFill>
                  <a:srgbClr val="FFFFFF"/>
                </a:solidFill>
              </a:rPr>
              <a:t>b</a:t>
            </a:r>
          </a:p>
        </p:txBody>
      </p:sp>
      <p:cxnSp>
        <p:nvCxnSpPr>
          <p:cNvPr id="9" name="Connector 8"/>
          <p:cNvCxnSpPr/>
          <p:nvPr/>
        </p:nvCxnSpPr>
        <p:spPr>
          <a:xfrm>
            <a:off x="5943599" y="1828800"/>
            <a:ext cx="22860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172199" y="1417320"/>
            <a:ext cx="1645920" cy="82296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C</a:t>
            </a:r>
            <a:r>
              <a:rPr sz="1300" b="1" i="0" baseline="-25000">
                <a:solidFill>
                  <a:srgbClr val="FFFFFF"/>
                </a:solidFill>
              </a:rPr>
              <a:t>v</a:t>
            </a:r>
            <a:r>
              <a:rPr sz="1300" b="1" i="0">
                <a:solidFill>
                  <a:srgbClr val="FFFFFF"/>
                </a:solidFill>
              </a:rPr>
              <a:t> (kg m</a:t>
            </a:r>
            <a:r>
              <a:rPr sz="1300" b="1" i="0" baseline="30000">
                <a:solidFill>
                  <a:srgbClr val="FFFFFF"/>
                </a:solidFill>
              </a:rPr>
              <a:t>−3</a:t>
            </a:r>
            <a:r>
              <a:rPr sz="1300" b="1" i="0">
                <a:solidFill>
                  <a:srgbClr val="FFFFFF"/>
                </a:solidFill>
              </a:rPr>
              <a:t>)</a:t>
            </a:r>
          </a:p>
        </p:txBody>
      </p:sp>
      <p:cxnSp>
        <p:nvCxnSpPr>
          <p:cNvPr id="11" name="Connector 10"/>
          <p:cNvCxnSpPr/>
          <p:nvPr/>
        </p:nvCxnSpPr>
        <p:spPr>
          <a:xfrm>
            <a:off x="7818119" y="1828800"/>
            <a:ext cx="22860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046719" y="1417320"/>
            <a:ext cx="1645920" cy="82296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 over depth</a:t>
            </a:r>
          </a:p>
        </p:txBody>
      </p:sp>
      <p:cxnSp>
        <p:nvCxnSpPr>
          <p:cNvPr id="13" name="Connector 12"/>
          <p:cNvCxnSpPr/>
          <p:nvPr/>
        </p:nvCxnSpPr>
        <p:spPr>
          <a:xfrm>
            <a:off x="9692640" y="1828800"/>
            <a:ext cx="228599"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921240" y="1417320"/>
            <a:ext cx="1645920" cy="82296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Stock C</a:t>
            </a:r>
            <a:r>
              <a:rPr sz="1300" b="1" i="0" baseline="-25000">
                <a:solidFill>
                  <a:srgbClr val="FFFFFF"/>
                </a:solidFill>
              </a:rPr>
              <a:t>d</a:t>
            </a:r>
            <a:r>
              <a:rPr sz="1300" b="1" i="0">
                <a:solidFill>
                  <a:srgbClr val="FFFFFF"/>
                </a:solidFill>
              </a:rPr>
              <a:t> (kg m</a:t>
            </a:r>
            <a:r>
              <a:rPr sz="1300" b="1" i="0" baseline="30000">
                <a:solidFill>
                  <a:srgbClr val="FFFFFF"/>
                </a:solidFill>
              </a:rPr>
              <a:t>−2</a:t>
            </a:r>
            <a:r>
              <a:rPr sz="1300" b="1" i="0">
                <a:solidFill>
                  <a:srgbClr val="FFFFFF"/>
                </a:solidFill>
              </a:rPr>
              <a:t>)</a:t>
            </a:r>
          </a:p>
        </p:txBody>
      </p:sp>
      <p:sp>
        <p:nvSpPr>
          <p:cNvPr id="15" name="Rounded Rectangle 14"/>
          <p:cNvSpPr/>
          <p:nvPr/>
        </p:nvSpPr>
        <p:spPr>
          <a:xfrm>
            <a:off x="548640" y="2514600"/>
            <a:ext cx="5394960" cy="7315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514600"/>
            <a:ext cx="5212080" cy="731520"/>
          </a:xfrm>
          <a:prstGeom prst="rect">
            <a:avLst/>
          </a:prstGeom>
          <a:noFill/>
        </p:spPr>
        <p:txBody>
          <a:bodyPr wrap="square" lIns="27432" rIns="27432" tIns="27432" bIns="27432" anchor="ctr">
            <a:spAutoFit/>
          </a:bodyPr>
          <a:lstStyle/>
          <a:p>
            <a:pPr marL="0" indent="0" algn="ctr">
              <a:spcAft>
                <a:spcPts val="400"/>
              </a:spcAft>
              <a:buNone/>
            </a:pPr>
            <a:r>
              <a:rPr sz="2000" b="0" i="0">
                <a:solidFill>
                  <a:srgbClr val="2B2118"/>
                </a:solidFill>
                <a:latin typeface="Cambria"/>
              </a:rPr>
              <a:t>C</a:t>
            </a:r>
            <a:r>
              <a:rPr sz="2000" b="0" i="0" baseline="-25000">
                <a:solidFill>
                  <a:srgbClr val="2B2118"/>
                </a:solidFill>
              </a:rPr>
              <a:t>v</a:t>
            </a:r>
            <a:r>
              <a:rPr sz="2000" b="0" i="0">
                <a:solidFill>
                  <a:srgbClr val="2B2118"/>
                </a:solidFill>
              </a:rPr>
              <a:t> = C</a:t>
            </a:r>
            <a:r>
              <a:rPr sz="2000" b="0" i="0" baseline="-25000">
                <a:solidFill>
                  <a:srgbClr val="2B2118"/>
                </a:solidFill>
              </a:rPr>
              <a:t>m</a:t>
            </a:r>
            <a:r>
              <a:rPr sz="2000" b="0" i="0">
                <a:solidFill>
                  <a:srgbClr val="2B2118"/>
                </a:solidFill>
              </a:rPr>
              <a:t> × ρ</a:t>
            </a:r>
            <a:r>
              <a:rPr sz="2000" b="0" i="0" baseline="-25000">
                <a:solidFill>
                  <a:srgbClr val="2B2118"/>
                </a:solidFill>
              </a:rPr>
              <a:t>b</a:t>
            </a:r>
          </a:p>
        </p:txBody>
      </p:sp>
      <p:sp>
        <p:nvSpPr>
          <p:cNvPr id="17" name="Rounded Rectangle 16"/>
          <p:cNvSpPr/>
          <p:nvPr/>
        </p:nvSpPr>
        <p:spPr>
          <a:xfrm>
            <a:off x="6217920" y="2514600"/>
            <a:ext cx="5394960" cy="7315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59" y="2514600"/>
            <a:ext cx="5212080" cy="731520"/>
          </a:xfrm>
          <a:prstGeom prst="rect">
            <a:avLst/>
          </a:prstGeom>
          <a:noFill/>
        </p:spPr>
        <p:txBody>
          <a:bodyPr wrap="square" lIns="27432" rIns="27432" tIns="27432" bIns="27432" anchor="ctr">
            <a:spAutoFit/>
          </a:bodyPr>
          <a:lstStyle/>
          <a:p>
            <a:pPr marL="0" indent="0" algn="ctr">
              <a:spcAft>
                <a:spcPts val="400"/>
              </a:spcAft>
              <a:buNone/>
            </a:pPr>
            <a:r>
              <a:rPr sz="2000" b="0" i="0">
                <a:solidFill>
                  <a:srgbClr val="2B2118"/>
                </a:solidFill>
                <a:latin typeface="Cambria"/>
              </a:rPr>
              <a:t>C</a:t>
            </a:r>
            <a:r>
              <a:rPr sz="2000" b="0" i="0" baseline="-25000">
                <a:solidFill>
                  <a:srgbClr val="2B2118"/>
                </a:solidFill>
              </a:rPr>
              <a:t>d</a:t>
            </a:r>
            <a:r>
              <a:rPr sz="2000" b="0" i="0">
                <a:solidFill>
                  <a:srgbClr val="2B2118"/>
                </a:solidFill>
              </a:rPr>
              <a:t> = ∫</a:t>
            </a:r>
            <a:r>
              <a:rPr sz="2000" b="0" i="0" baseline="-25000">
                <a:solidFill>
                  <a:srgbClr val="2B2118"/>
                </a:solidFill>
              </a:rPr>
              <a:t>0</a:t>
            </a:r>
            <a:r>
              <a:rPr sz="2000" b="0" i="0" baseline="30000">
                <a:solidFill>
                  <a:srgbClr val="2B2118"/>
                </a:solidFill>
              </a:rPr>
              <a:t>z</a:t>
            </a:r>
            <a:r>
              <a:rPr sz="2000" b="0" i="0">
                <a:solidFill>
                  <a:srgbClr val="2B2118"/>
                </a:solidFill>
              </a:rPr>
              <a:t> C</a:t>
            </a:r>
            <a:r>
              <a:rPr sz="2000" b="0" i="0" baseline="-25000">
                <a:solidFill>
                  <a:srgbClr val="2B2118"/>
                </a:solidFill>
              </a:rPr>
              <a:t>v</a:t>
            </a:r>
            <a:r>
              <a:rPr sz="2000" b="0" i="0">
                <a:solidFill>
                  <a:srgbClr val="2B2118"/>
                </a:solidFill>
              </a:rPr>
              <a:t>(z) dz</a:t>
            </a:r>
          </a:p>
        </p:txBody>
      </p:sp>
      <p:sp>
        <p:nvSpPr>
          <p:cNvPr id="19" name="Rounded Rectangle 18"/>
          <p:cNvSpPr/>
          <p:nvPr/>
        </p:nvSpPr>
        <p:spPr>
          <a:xfrm>
            <a:off x="548640" y="3474720"/>
            <a:ext cx="3520440" cy="25603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47872"/>
            <a:ext cx="3246120" cy="2423160"/>
          </a:xfrm>
          <a:prstGeom prst="rect">
            <a:avLst/>
          </a:prstGeom>
          <a:noFill/>
        </p:spPr>
        <p:txBody>
          <a:bodyPr wrap="square" lIns="27432" rIns="27432" tIns="27432" bIns="27432" anchor="t">
            <a:spAutoFit/>
          </a:bodyPr>
          <a:lstStyle/>
          <a:p>
            <a:pPr marL="0" indent="0">
              <a:spcAft>
                <a:spcPts val="400"/>
              </a:spcAft>
              <a:buNone/>
            </a:pPr>
            <a:r>
              <a:rPr sz="1500" b="1" i="0">
                <a:solidFill>
                  <a:srgbClr val="8C5A2B"/>
                </a:solidFill>
              </a:rPr>
              <a:t>Laboratory methods</a:t>
            </a:r>
          </a:p>
          <a:p>
            <a:pPr marL="228600" indent="-228600">
              <a:spcAft>
                <a:spcPts val="400"/>
              </a:spcAft>
              <a:buFont typeface="Arial"/>
              <a:buChar char="•"/>
            </a:pPr>
            <a:r>
              <a:rPr sz="1300" b="0" i="0">
                <a:solidFill>
                  <a:srgbClr val="2B2118"/>
                </a:solidFill>
              </a:rPr>
              <a:t>Dry combustion → total C</a:t>
            </a:r>
          </a:p>
          <a:p>
            <a:pPr marL="228600" indent="-228600">
              <a:spcAft>
                <a:spcPts val="400"/>
              </a:spcAft>
              <a:buFont typeface="Arial"/>
              <a:buChar char="•"/>
            </a:pPr>
            <a:r>
              <a:rPr sz="1300" b="0" i="0">
                <a:solidFill>
                  <a:srgbClr val="2B2118"/>
                </a:solidFill>
              </a:rPr>
              <a:t>Wet oxidation → SOC</a:t>
            </a:r>
          </a:p>
          <a:p>
            <a:pPr marL="228600" indent="-228600">
              <a:spcAft>
                <a:spcPts val="400"/>
              </a:spcAft>
              <a:buFont typeface="Arial"/>
              <a:buChar char="•"/>
            </a:pPr>
            <a:r>
              <a:rPr sz="1300" b="0" i="0">
                <a:solidFill>
                  <a:srgbClr val="2B2118"/>
                </a:solidFill>
              </a:rPr>
              <a:t>Vis–NIR / MIR spectroscopy: cheap, but needs a calibrated spectral library</a:t>
            </a:r>
          </a:p>
        </p:txBody>
      </p:sp>
      <p:sp>
        <p:nvSpPr>
          <p:cNvPr id="21" name="Rounded Rectangle 20"/>
          <p:cNvSpPr/>
          <p:nvPr/>
        </p:nvSpPr>
        <p:spPr>
          <a:xfrm>
            <a:off x="4315968" y="3474720"/>
            <a:ext cx="3520440" cy="25603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53128" y="3547872"/>
            <a:ext cx="3246120" cy="2423160"/>
          </a:xfrm>
          <a:prstGeom prst="rect">
            <a:avLst/>
          </a:prstGeom>
          <a:noFill/>
        </p:spPr>
        <p:txBody>
          <a:bodyPr wrap="square" lIns="27432" rIns="27432" tIns="27432" bIns="27432" anchor="t">
            <a:spAutoFit/>
          </a:bodyPr>
          <a:lstStyle/>
          <a:p>
            <a:pPr marL="0" indent="0">
              <a:spcAft>
                <a:spcPts val="400"/>
              </a:spcAft>
              <a:buNone/>
            </a:pPr>
            <a:r>
              <a:rPr sz="1500" b="1" i="0">
                <a:solidFill>
                  <a:srgbClr val="2E7D7A"/>
                </a:solidFill>
              </a:rPr>
              <a:t>Before modelling</a:t>
            </a:r>
          </a:p>
          <a:p>
            <a:pPr marL="228600" indent="-228600">
              <a:spcAft>
                <a:spcPts val="400"/>
              </a:spcAft>
              <a:buFont typeface="Arial"/>
              <a:buChar char="•"/>
            </a:pPr>
            <a:r>
              <a:rPr sz="1300" b="0" i="0">
                <a:solidFill>
                  <a:srgbClr val="2B2118"/>
                </a:solidFill>
              </a:rPr>
              <a:t>SOC is positively skewed → </a:t>
            </a:r>
            <a:r>
              <a:rPr sz="1300" b="1" i="0">
                <a:solidFill>
                  <a:srgbClr val="2B2118"/>
                </a:solidFill>
              </a:rPr>
              <a:t>log</a:t>
            </a:r>
            <a:r>
              <a:rPr sz="1300" b="0" i="0">
                <a:solidFill>
                  <a:srgbClr val="2B2118"/>
                </a:solidFill>
              </a:rPr>
              <a:t> (or square-root) transform</a:t>
            </a:r>
          </a:p>
          <a:p>
            <a:pPr marL="228600" indent="-228600">
              <a:spcAft>
                <a:spcPts val="400"/>
              </a:spcAft>
              <a:buFont typeface="Arial"/>
              <a:buChar char="•"/>
            </a:pPr>
            <a:r>
              <a:rPr sz="1300" b="0" i="0">
                <a:solidFill>
                  <a:srgbClr val="2B2118"/>
                </a:solidFill>
              </a:rPr>
              <a:t>Separate SOC from inorganic C (CaCO</a:t>
            </a:r>
            <a:r>
              <a:rPr sz="1300" b="0" i="0" baseline="-25000">
                <a:solidFill>
                  <a:srgbClr val="2B2118"/>
                </a:solidFill>
              </a:rPr>
              <a:t>3</a:t>
            </a:r>
            <a:r>
              <a:rPr sz="1300" b="0" i="0">
                <a:solidFill>
                  <a:srgbClr val="2B2118"/>
                </a:solidFill>
              </a:rPr>
              <a:t>)</a:t>
            </a:r>
          </a:p>
          <a:p>
            <a:pPr marL="228600" indent="-228600">
              <a:spcAft>
                <a:spcPts val="400"/>
              </a:spcAft>
              <a:buFont typeface="Arial"/>
              <a:buChar char="•"/>
            </a:pPr>
            <a:r>
              <a:rPr sz="1300" b="0" i="0">
                <a:solidFill>
                  <a:srgbClr val="2B2118"/>
                </a:solidFill>
              </a:rPr>
              <a:t>Map C fractions or C/N if needed</a:t>
            </a:r>
          </a:p>
        </p:txBody>
      </p:sp>
      <p:sp>
        <p:nvSpPr>
          <p:cNvPr id="23" name="Rounded Rectangle 22"/>
          <p:cNvSpPr/>
          <p:nvPr/>
        </p:nvSpPr>
        <p:spPr>
          <a:xfrm>
            <a:off x="8092440" y="3474720"/>
            <a:ext cx="3520440" cy="2560320"/>
          </a:xfrm>
          <a:prstGeom prst="roundRect">
            <a:avLst>
              <a:gd name="adj" fmla="val 6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3547872"/>
            <a:ext cx="3246120" cy="2423160"/>
          </a:xfrm>
          <a:prstGeom prst="rect">
            <a:avLst/>
          </a:prstGeom>
          <a:noFill/>
        </p:spPr>
        <p:txBody>
          <a:bodyPr wrap="square" lIns="27432" rIns="27432" tIns="27432" bIns="27432" anchor="t">
            <a:spAutoFit/>
          </a:bodyPr>
          <a:lstStyle/>
          <a:p>
            <a:pPr marL="0" indent="0">
              <a:spcAft>
                <a:spcPts val="400"/>
              </a:spcAft>
              <a:buNone/>
            </a:pPr>
            <a:r>
              <a:rPr sz="1500" b="1" i="0">
                <a:solidFill>
                  <a:srgbClr val="C9A227"/>
                </a:solidFill>
              </a:rPr>
              <a:t>Worked example</a:t>
            </a:r>
          </a:p>
          <a:p>
            <a:pPr marL="0" indent="0">
              <a:spcAft>
                <a:spcPts val="400"/>
              </a:spcAft>
              <a:buNone/>
            </a:pPr>
            <a:r>
              <a:rPr sz="1300" b="0" i="0">
                <a:solidFill>
                  <a:srgbClr val="FFFFFF"/>
                </a:solidFill>
              </a:rPr>
              <a:t>C</a:t>
            </a:r>
            <a:r>
              <a:rPr sz="1300" b="0" i="0" baseline="-25000">
                <a:solidFill>
                  <a:srgbClr val="FFFFFF"/>
                </a:solidFill>
              </a:rPr>
              <a:t>m</a:t>
            </a:r>
            <a:r>
              <a:rPr sz="1300" b="0" i="0">
                <a:solidFill>
                  <a:srgbClr val="FFFFFF"/>
                </a:solidFill>
              </a:rPr>
              <a:t> = 1 g 100 g</a:t>
            </a:r>
            <a:r>
              <a:rPr sz="1300" b="0" i="0" baseline="30000">
                <a:solidFill>
                  <a:srgbClr val="FFFFFF"/>
                </a:solidFill>
              </a:rPr>
              <a:t>−1</a:t>
            </a:r>
            <a:r>
              <a:rPr sz="1300" b="0" i="0">
                <a:solidFill>
                  <a:srgbClr val="FFFFFF"/>
                </a:solidFill>
              </a:rPr>
              <a:t> = 0.01 kg kg</a:t>
            </a:r>
            <a:r>
              <a:rPr sz="1300" b="0" i="0" baseline="30000">
                <a:solidFill>
                  <a:srgbClr val="FFFFFF"/>
                </a:solidFill>
              </a:rPr>
              <a:t>−1</a:t>
            </a:r>
          </a:p>
          <a:p>
            <a:pPr marL="0" indent="0">
              <a:spcAft>
                <a:spcPts val="400"/>
              </a:spcAft>
              <a:buNone/>
            </a:pPr>
            <a:r>
              <a:rPr sz="1300" b="0" i="0">
                <a:solidFill>
                  <a:srgbClr val="FFFFFF"/>
                </a:solidFill>
              </a:rPr>
              <a:t>ρ</a:t>
            </a:r>
            <a:r>
              <a:rPr sz="1300" b="0" i="0" baseline="-25000">
                <a:solidFill>
                  <a:srgbClr val="FFFFFF"/>
                </a:solidFill>
              </a:rPr>
              <a:t>b</a:t>
            </a:r>
            <a:r>
              <a:rPr sz="1300" b="0" i="0">
                <a:solidFill>
                  <a:srgbClr val="FFFFFF"/>
                </a:solidFill>
              </a:rPr>
              <a:t> = 1.3 Mg m</a:t>
            </a:r>
            <a:r>
              <a:rPr sz="1300" b="0" i="0" baseline="30000">
                <a:solidFill>
                  <a:srgbClr val="FFFFFF"/>
                </a:solidFill>
              </a:rPr>
              <a:t>−3</a:t>
            </a:r>
            <a:r>
              <a:rPr sz="1300" b="0" i="0">
                <a:solidFill>
                  <a:srgbClr val="FFFFFF"/>
                </a:solidFill>
              </a:rPr>
              <a:t>, layer = 0.10 m</a:t>
            </a:r>
          </a:p>
          <a:p>
            <a:pPr marL="0" indent="0">
              <a:spcAft>
                <a:spcPts val="400"/>
              </a:spcAft>
              <a:buNone/>
            </a:pPr>
            <a:r>
              <a:rPr sz="1300" b="0" i="0">
                <a:solidFill>
                  <a:srgbClr val="FFFFFF"/>
                </a:solidFill>
              </a:rPr>
              <a:t>C</a:t>
            </a:r>
            <a:r>
              <a:rPr sz="1300" b="0" i="0" baseline="-25000">
                <a:solidFill>
                  <a:srgbClr val="FFFFFF"/>
                </a:solidFill>
              </a:rPr>
              <a:t>v</a:t>
            </a:r>
            <a:r>
              <a:rPr sz="1300" b="0" i="0">
                <a:solidFill>
                  <a:srgbClr val="FFFFFF"/>
                </a:solidFill>
              </a:rPr>
              <a:t> = 0.01 × 1300 = 13 kg m</a:t>
            </a:r>
            <a:r>
              <a:rPr sz="1300" b="0" i="0" baseline="30000">
                <a:solidFill>
                  <a:srgbClr val="FFFFFF"/>
                </a:solidFill>
              </a:rPr>
              <a:t>−3</a:t>
            </a:r>
          </a:p>
          <a:p>
            <a:pPr marL="0" indent="0">
              <a:spcAft>
                <a:spcPts val="400"/>
              </a:spcAft>
              <a:buNone/>
            </a:pPr>
            <a:r>
              <a:rPr sz="1300" b="0" i="0">
                <a:solidFill>
                  <a:srgbClr val="FFFFFF"/>
                </a:solidFill>
              </a:rPr>
              <a:t>Stock = 13 × 0.10 = </a:t>
            </a:r>
            <a:r>
              <a:rPr sz="1300" b="1" i="0">
                <a:solidFill>
                  <a:srgbClr val="FFFFFF"/>
                </a:solidFill>
              </a:rPr>
              <a:t>1.3 kg C m</a:t>
            </a:r>
            <a:r>
              <a:rPr sz="1300" b="1" i="0" baseline="30000">
                <a:solidFill>
                  <a:srgbClr val="FFFFFF"/>
                </a:solidFill>
              </a:rPr>
              <a:t>−2</a:t>
            </a:r>
            <a:r>
              <a:rPr sz="1300" b="0" i="0">
                <a:solidFill>
                  <a:srgbClr val="FFFFFF"/>
                </a:solidFill>
              </a:rPr>
              <a:t> (13 t C ha</a:t>
            </a:r>
            <a:r>
              <a:rPr sz="1300" b="0" i="0" baseline="30000">
                <a:solidFill>
                  <a:srgbClr val="FFFFFF"/>
                </a:solidFill>
              </a:rPr>
              <a:t>−1</a:t>
            </a:r>
            <a:r>
              <a:rPr sz="1300" b="0" i="0">
                <a:solidFill>
                  <a:srgbClr val="FFFFFF"/>
                </a:solidFill>
              </a:rPr>
              <a:t>)</a:t>
            </a:r>
          </a:p>
        </p:txBody>
      </p:sp>
      <p:sp>
        <p:nvSpPr>
          <p:cNvPr id="25" name="TextBox 24"/>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Minasny, McBratney, Malone &amp; Wheeler (2013) Digital mapping of soil carbon. Adv. Agron. 118:1–47, Section 3.1 (Eqs. 2–3); worked example added for this talk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Step 1b: harmonising depth with the equal-area spline</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6949440" cy="228600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_spline.png"/>
          <p:cNvPicPr>
            <a:picLocks noChangeAspect="1"/>
          </p:cNvPicPr>
          <p:nvPr/>
        </p:nvPicPr>
        <p:blipFill>
          <a:blip r:embed="rId3"/>
          <a:stretch>
            <a:fillRect/>
          </a:stretch>
        </p:blipFill>
        <p:spPr>
          <a:xfrm>
            <a:off x="699560" y="1399032"/>
            <a:ext cx="6647599" cy="2139696"/>
          </a:xfrm>
          <a:prstGeom prst="rect">
            <a:avLst/>
          </a:prstGeom>
        </p:spPr>
      </p:pic>
      <p:sp>
        <p:nvSpPr>
          <p:cNvPr id="6" name="TextBox 5"/>
          <p:cNvSpPr txBox="1"/>
          <p:nvPr/>
        </p:nvSpPr>
        <p:spPr>
          <a:xfrm>
            <a:off x="548640" y="3648456"/>
            <a:ext cx="694944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Fig. 1.2 of Minasny et al. (2013): equal-area spline fitted to a profile and averaged to standard depths (Edgeroi, Australia)</a:t>
            </a:r>
          </a:p>
        </p:txBody>
      </p:sp>
      <p:sp>
        <p:nvSpPr>
          <p:cNvPr id="7" name="Rounded Rectangle 6"/>
          <p:cNvSpPr/>
          <p:nvPr/>
        </p:nvSpPr>
        <p:spPr>
          <a:xfrm>
            <a:off x="548640" y="4160520"/>
            <a:ext cx="1572768" cy="86868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Horizon / layer data</a:t>
            </a:r>
          </a:p>
        </p:txBody>
      </p:sp>
      <p:cxnSp>
        <p:nvCxnSpPr>
          <p:cNvPr id="8" name="Connector 7"/>
          <p:cNvCxnSpPr/>
          <p:nvPr/>
        </p:nvCxnSpPr>
        <p:spPr>
          <a:xfrm>
            <a:off x="2121408" y="4590288"/>
            <a:ext cx="22860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350008" y="4160520"/>
            <a:ext cx="1572768" cy="86868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Fit equal-area spline</a:t>
            </a:r>
          </a:p>
        </p:txBody>
      </p:sp>
      <p:cxnSp>
        <p:nvCxnSpPr>
          <p:cNvPr id="10" name="Connector 9"/>
          <p:cNvCxnSpPr/>
          <p:nvPr/>
        </p:nvCxnSpPr>
        <p:spPr>
          <a:xfrm>
            <a:off x="3922776" y="4590288"/>
            <a:ext cx="22860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51376" y="4160520"/>
            <a:ext cx="1572768" cy="86868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Continuous depth curve</a:t>
            </a:r>
          </a:p>
        </p:txBody>
      </p:sp>
      <p:cxnSp>
        <p:nvCxnSpPr>
          <p:cNvPr id="12" name="Connector 11"/>
          <p:cNvCxnSpPr/>
          <p:nvPr/>
        </p:nvCxnSpPr>
        <p:spPr>
          <a:xfrm>
            <a:off x="5724144" y="4590288"/>
            <a:ext cx="22860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52744" y="4160520"/>
            <a:ext cx="1572768" cy="86868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Average at standard depths</a:t>
            </a:r>
          </a:p>
        </p:txBody>
      </p:sp>
      <p:sp>
        <p:nvSpPr>
          <p:cNvPr id="14" name="TextBox 13"/>
          <p:cNvSpPr txBox="1"/>
          <p:nvPr/>
        </p:nvSpPr>
        <p:spPr>
          <a:xfrm>
            <a:off x="548640" y="5166360"/>
            <a:ext cx="6949440" cy="868680"/>
          </a:xfrm>
          <a:prstGeom prst="rect">
            <a:avLst/>
          </a:prstGeom>
          <a:noFill/>
        </p:spPr>
        <p:txBody>
          <a:bodyPr wrap="square" lIns="27432" rIns="27432" tIns="27432" bIns="27432" anchor="t">
            <a:spAutoFit/>
          </a:bodyPr>
          <a:lstStyle/>
          <a:p>
            <a:pPr marL="0" indent="0">
              <a:spcAft>
                <a:spcPts val="400"/>
              </a:spcAft>
              <a:buNone/>
            </a:pPr>
            <a:r>
              <a:rPr sz="1300" b="0" i="0">
                <a:solidFill>
                  <a:srgbClr val="4A3B2E"/>
                </a:solidFill>
              </a:rPr>
              <a:t>GlobalSoilMap depths: </a:t>
            </a:r>
            <a:r>
              <a:rPr sz="1300" b="1" i="0">
                <a:solidFill>
                  <a:srgbClr val="4A3B2E"/>
                </a:solidFill>
              </a:rPr>
              <a:t>0–5, 5–15, 15–30, 30–60, 60–100, 100–200 cm</a:t>
            </a:r>
            <a:r>
              <a:rPr sz="1300" b="0" i="0">
                <a:solidFill>
                  <a:srgbClr val="4A3B2E"/>
                </a:solidFill>
              </a:rPr>
              <a:t> at 3 arc-sec (~90 m) with prediction confidence</a:t>
            </a:r>
          </a:p>
        </p:txBody>
      </p:sp>
      <p:sp>
        <p:nvSpPr>
          <p:cNvPr id="15" name="Rounded Rectangle 14"/>
          <p:cNvSpPr/>
          <p:nvPr/>
        </p:nvSpPr>
        <p:spPr>
          <a:xfrm>
            <a:off x="7772400" y="1325880"/>
            <a:ext cx="3840480" cy="470916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1399032"/>
            <a:ext cx="3566160" cy="4572000"/>
          </a:xfrm>
          <a:prstGeom prst="rect">
            <a:avLst/>
          </a:prstGeom>
          <a:noFill/>
        </p:spPr>
        <p:txBody>
          <a:bodyPr wrap="square" lIns="27432" rIns="27432" tIns="27432" bIns="27432" anchor="t">
            <a:spAutoFit/>
          </a:bodyPr>
          <a:lstStyle/>
          <a:p>
            <a:pPr marL="0" indent="0">
              <a:spcAft>
                <a:spcPts val="400"/>
              </a:spcAft>
              <a:buNone/>
            </a:pPr>
            <a:r>
              <a:rPr sz="1600" b="1" i="0">
                <a:solidFill>
                  <a:srgbClr val="8C5A2B"/>
                </a:solidFill>
              </a:rPr>
              <a:t>Depth functions</a:t>
            </a:r>
          </a:p>
          <a:p>
            <a:pPr marL="0" indent="0">
              <a:spcAft>
                <a:spcPts val="100"/>
              </a:spcAft>
              <a:buNone/>
            </a:pPr>
            <a:r>
              <a:rPr sz="1300" b="1" i="0">
                <a:solidFill>
                  <a:srgbClr val="2B2118"/>
                </a:solidFill>
              </a:rPr>
              <a:t>Exponential</a:t>
            </a:r>
            <a:r>
              <a:rPr sz="1300" b="0" i="0">
                <a:solidFill>
                  <a:srgbClr val="2B2118"/>
                </a:solidFill>
              </a:rPr>
              <a:t> (Russell &amp; Moore 1968):</a:t>
            </a:r>
          </a:p>
          <a:p>
            <a:pPr marL="0" indent="0">
              <a:spcAft>
                <a:spcPts val="400"/>
              </a:spcAft>
              <a:buNone/>
            </a:pPr>
            <a:r>
              <a:rPr sz="1500" b="0" i="0">
                <a:solidFill>
                  <a:srgbClr val="2B2118"/>
                </a:solidFill>
                <a:latin typeface="Cambria"/>
              </a:rPr>
              <a:t>C = C</a:t>
            </a:r>
            <a:r>
              <a:rPr sz="1500" b="0" i="0" baseline="-25000">
                <a:solidFill>
                  <a:srgbClr val="2B2118"/>
                </a:solidFill>
                <a:latin typeface="Cambria"/>
              </a:rPr>
              <a:t>0</a:t>
            </a:r>
            <a:r>
              <a:rPr sz="1500" b="0" i="0">
                <a:solidFill>
                  <a:srgbClr val="2B2118"/>
                </a:solidFill>
                <a:latin typeface="Cambria"/>
              </a:rPr>
              <a:t> e</a:t>
            </a:r>
            <a:r>
              <a:rPr sz="1500" b="0" i="0" baseline="30000">
                <a:solidFill>
                  <a:srgbClr val="2B2118"/>
                </a:solidFill>
                <a:latin typeface="Cambria"/>
              </a:rPr>
              <a:t>−kz</a:t>
            </a:r>
          </a:p>
          <a:p>
            <a:pPr marL="0" indent="0">
              <a:spcAft>
                <a:spcPts val="100"/>
              </a:spcAft>
              <a:buNone/>
            </a:pPr>
            <a:r>
              <a:rPr sz="1300" b="1" i="0">
                <a:solidFill>
                  <a:srgbClr val="2B2118"/>
                </a:solidFill>
              </a:rPr>
              <a:t>Generalised</a:t>
            </a:r>
            <a:r>
              <a:rPr sz="1300" b="0" i="0">
                <a:solidFill>
                  <a:srgbClr val="2B2118"/>
                </a:solidFill>
              </a:rPr>
              <a:t> (Minasny 2006):</a:t>
            </a:r>
          </a:p>
          <a:p>
            <a:pPr marL="0" indent="0">
              <a:spcAft>
                <a:spcPts val="400"/>
              </a:spcAft>
              <a:buNone/>
            </a:pPr>
            <a:r>
              <a:rPr sz="1500" b="0" i="0">
                <a:solidFill>
                  <a:srgbClr val="2B2118"/>
                </a:solidFill>
                <a:latin typeface="Cambria"/>
              </a:rPr>
              <a:t>C = C</a:t>
            </a:r>
            <a:r>
              <a:rPr sz="1500" b="0" i="0" baseline="-25000">
                <a:solidFill>
                  <a:srgbClr val="2B2118"/>
                </a:solidFill>
                <a:latin typeface="Cambria"/>
              </a:rPr>
              <a:t>a</a:t>
            </a:r>
            <a:r>
              <a:rPr sz="1500" b="0" i="0">
                <a:solidFill>
                  <a:srgbClr val="2B2118"/>
                </a:solidFill>
                <a:latin typeface="Cambria"/>
              </a:rPr>
              <a:t> e</a:t>
            </a:r>
            <a:r>
              <a:rPr sz="1500" b="0" i="0" baseline="30000">
                <a:solidFill>
                  <a:srgbClr val="2B2118"/>
                </a:solidFill>
                <a:latin typeface="Cambria"/>
              </a:rPr>
              <a:t>−kz</a:t>
            </a:r>
            <a:r>
              <a:rPr sz="1500" b="0" i="0">
                <a:solidFill>
                  <a:srgbClr val="2B2118"/>
                </a:solidFill>
                <a:latin typeface="Cambria"/>
              </a:rPr>
              <a:t> + C</a:t>
            </a:r>
            <a:r>
              <a:rPr sz="1500" b="0" i="0" baseline="-25000">
                <a:solidFill>
                  <a:srgbClr val="2B2118"/>
                </a:solidFill>
                <a:latin typeface="Cambria"/>
              </a:rPr>
              <a:t>b</a:t>
            </a:r>
          </a:p>
          <a:p>
            <a:pPr marL="228600" indent="-228600">
              <a:spcAft>
                <a:spcPts val="400"/>
              </a:spcAft>
              <a:buFont typeface="Arial"/>
              <a:buChar char="•"/>
            </a:pPr>
            <a:r>
              <a:rPr sz="1250" b="0" i="0">
                <a:solidFill>
                  <a:srgbClr val="2B2118"/>
                </a:solidFill>
              </a:rPr>
              <a:t>Problem: one local deviation degrades the whole fit</a:t>
            </a:r>
          </a:p>
          <a:p>
            <a:pPr marL="0" indent="0">
              <a:spcAft>
                <a:spcPts val="200"/>
              </a:spcAft>
              <a:buNone/>
            </a:pPr>
            <a:r>
              <a:rPr sz="1300" b="1" i="0">
                <a:solidFill>
                  <a:srgbClr val="2B2118"/>
                </a:solidFill>
              </a:rPr>
              <a:t>Equal-area spline</a:t>
            </a:r>
            <a:r>
              <a:rPr sz="1300" b="0" i="0">
                <a:solidFill>
                  <a:srgbClr val="2B2118"/>
                </a:solidFill>
              </a:rPr>
              <a:t> (Ponce-Hernandez 1986; Bishop 1999)</a:t>
            </a:r>
          </a:p>
          <a:p>
            <a:pPr marL="228600" indent="-228600">
              <a:spcAft>
                <a:spcPts val="400"/>
              </a:spcAft>
              <a:buFont typeface="Arial"/>
              <a:buChar char="•"/>
            </a:pPr>
            <a:r>
              <a:rPr sz="1250" b="0" i="0">
                <a:solidFill>
                  <a:srgbClr val="2B2118"/>
                </a:solidFill>
              </a:rPr>
              <a:t>Local quadratics, knots at horizon boundaries</a:t>
            </a:r>
          </a:p>
          <a:p>
            <a:pPr marL="228600" indent="-228600">
              <a:spcAft>
                <a:spcPts val="400"/>
              </a:spcAft>
              <a:buFont typeface="Arial"/>
              <a:buChar char="•"/>
            </a:pPr>
            <a:r>
              <a:rPr sz="1250" b="0" i="0">
                <a:solidFill>
                  <a:srgbClr val="2B2118"/>
                </a:solidFill>
              </a:rPr>
              <a:t>Area under curve = layer value → layer mean preserved</a:t>
            </a:r>
          </a:p>
        </p:txBody>
      </p:sp>
      <p:sp>
        <p:nvSpPr>
          <p:cNvPr id="17" name="TextBox 16"/>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Minasny, McBratney, Malone &amp; Wheeler (2013) Digital mapping of soil carbon. Adv. Agron. 118:1–47, Sections 3.2 and 5.5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Step 1c: bulk density and the mass coordinate system</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5120640" cy="397764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_mass.png"/>
          <p:cNvPicPr>
            <a:picLocks noChangeAspect="1"/>
          </p:cNvPicPr>
          <p:nvPr/>
        </p:nvPicPr>
        <p:blipFill>
          <a:blip r:embed="rId3"/>
          <a:stretch>
            <a:fillRect/>
          </a:stretch>
        </p:blipFill>
        <p:spPr>
          <a:xfrm>
            <a:off x="621792" y="2181306"/>
            <a:ext cx="4974336" cy="2266786"/>
          </a:xfrm>
          <a:prstGeom prst="rect">
            <a:avLst/>
          </a:prstGeom>
        </p:spPr>
      </p:pic>
      <p:sp>
        <p:nvSpPr>
          <p:cNvPr id="6" name="TextBox 5"/>
          <p:cNvSpPr txBox="1"/>
          <p:nvPr/>
        </p:nvSpPr>
        <p:spPr>
          <a:xfrm>
            <a:off x="548640" y="5340096"/>
            <a:ext cx="512064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Fig. 1.3 of Minasny et al. (2013): C density by depth (left) and cumulative C vs cumulative mineral mass (right) for two sites</a:t>
            </a:r>
          </a:p>
        </p:txBody>
      </p:sp>
      <p:sp>
        <p:nvSpPr>
          <p:cNvPr id="7" name="Rounded Rectangle 6"/>
          <p:cNvSpPr/>
          <p:nvPr/>
        </p:nvSpPr>
        <p:spPr>
          <a:xfrm>
            <a:off x="5943600" y="1325880"/>
            <a:ext cx="5669280" cy="22402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80760" y="1389888"/>
            <a:ext cx="5394960" cy="2148840"/>
          </a:xfrm>
          <a:prstGeom prst="rect">
            <a:avLst/>
          </a:prstGeom>
          <a:noFill/>
        </p:spPr>
        <p:txBody>
          <a:bodyPr wrap="square" lIns="27432" rIns="27432" tIns="27432" bIns="27432" anchor="t">
            <a:spAutoFit/>
          </a:bodyPr>
          <a:lstStyle/>
          <a:p>
            <a:pPr marL="0" indent="0">
              <a:spcAft>
                <a:spcPts val="400"/>
              </a:spcAft>
              <a:buNone/>
            </a:pPr>
            <a:r>
              <a:rPr sz="1500" b="1" i="0">
                <a:solidFill>
                  <a:srgbClr val="8C5A2B"/>
                </a:solidFill>
              </a:rPr>
              <a:t>Pedotransfer function for bulk density (Tranter 2009)</a:t>
            </a:r>
          </a:p>
          <a:p>
            <a:pPr marL="0" indent="0">
              <a:spcAft>
                <a:spcPts val="400"/>
              </a:spcAft>
              <a:buNone/>
            </a:pPr>
            <a:r>
              <a:rPr sz="1600" b="0" i="0">
                <a:solidFill>
                  <a:srgbClr val="2B2118"/>
                </a:solidFill>
                <a:latin typeface="Cambria"/>
              </a:rPr>
              <a:t>ρ</a:t>
            </a:r>
            <a:r>
              <a:rPr sz="1600" b="0" i="0" baseline="-25000">
                <a:solidFill>
                  <a:srgbClr val="2B2118"/>
                </a:solidFill>
                <a:latin typeface="Cambria"/>
              </a:rPr>
              <a:t>b</a:t>
            </a:r>
            <a:r>
              <a:rPr sz="1600" b="0" i="0">
                <a:solidFill>
                  <a:srgbClr val="2B2118"/>
                </a:solidFill>
                <a:latin typeface="Cambria"/>
              </a:rPr>
              <a:t> = ρ</a:t>
            </a:r>
            <a:r>
              <a:rPr sz="1600" b="0" i="0" baseline="-25000">
                <a:solidFill>
                  <a:srgbClr val="2B2118"/>
                </a:solidFill>
                <a:latin typeface="Cambria"/>
              </a:rPr>
              <a:t>m</a:t>
            </a:r>
            <a:r>
              <a:rPr sz="1600" b="0" i="0">
                <a:solidFill>
                  <a:srgbClr val="2B2118"/>
                </a:solidFill>
                <a:latin typeface="Cambria"/>
              </a:rPr>
              <a:t> + Δρ + ε</a:t>
            </a:r>
          </a:p>
          <a:p>
            <a:pPr marL="0" indent="0">
              <a:spcAft>
                <a:spcPts val="400"/>
              </a:spcAft>
              <a:buNone/>
            </a:pPr>
            <a:r>
              <a:rPr sz="1500" b="0" i="0">
                <a:solidFill>
                  <a:srgbClr val="2B2118"/>
                </a:solidFill>
                <a:latin typeface="Cambria"/>
              </a:rPr>
              <a:t>ρ</a:t>
            </a:r>
            <a:r>
              <a:rPr sz="1500" b="0" i="0" baseline="-25000">
                <a:solidFill>
                  <a:srgbClr val="2B2118"/>
                </a:solidFill>
                <a:latin typeface="Cambria"/>
              </a:rPr>
              <a:t>m</a:t>
            </a:r>
            <a:r>
              <a:rPr sz="1500" b="0" i="0">
                <a:solidFill>
                  <a:srgbClr val="2B2118"/>
                </a:solidFill>
                <a:latin typeface="Cambria"/>
              </a:rPr>
              <a:t> = a + b·sand + c·sand² + d·log(depth)</a:t>
            </a:r>
          </a:p>
          <a:p>
            <a:pPr marL="0" indent="0">
              <a:spcAft>
                <a:spcPts val="400"/>
              </a:spcAft>
              <a:buNone/>
            </a:pPr>
            <a:r>
              <a:rPr sz="1250" b="0" i="0">
                <a:solidFill>
                  <a:srgbClr val="4A3B2E"/>
                </a:solidFill>
              </a:rPr>
              <a:t>ρ</a:t>
            </a:r>
            <a:r>
              <a:rPr sz="1250" b="0" i="0" baseline="-25000">
                <a:solidFill>
                  <a:srgbClr val="4A3B2E"/>
                </a:solidFill>
              </a:rPr>
              <a:t>m</a:t>
            </a:r>
            <a:r>
              <a:rPr sz="1250" b="0" i="0">
                <a:solidFill>
                  <a:srgbClr val="4A3B2E"/>
                </a:solidFill>
              </a:rPr>
              <a:t> mineral part (texture, depth); Δρ structure (organic C, tillage)</a:t>
            </a:r>
          </a:p>
          <a:p>
            <a:pPr marL="0" indent="0">
              <a:spcAft>
                <a:spcPts val="400"/>
              </a:spcAft>
              <a:buNone/>
            </a:pPr>
            <a:r>
              <a:rPr sz="1250" b="0" i="0">
                <a:solidFill>
                  <a:srgbClr val="2B2118"/>
                </a:solidFill>
              </a:rPr>
              <a:t>Organic matter effect: ρ</a:t>
            </a:r>
            <a:r>
              <a:rPr sz="1250" b="0" i="0" baseline="-25000">
                <a:solidFill>
                  <a:srgbClr val="2B2118"/>
                </a:solidFill>
              </a:rPr>
              <a:t>b</a:t>
            </a:r>
            <a:r>
              <a:rPr sz="1250" b="0" i="0">
                <a:solidFill>
                  <a:srgbClr val="2B2118"/>
                </a:solidFill>
              </a:rPr>
              <a:t> = 100 / [OM%/ρ</a:t>
            </a:r>
            <a:r>
              <a:rPr sz="1250" b="0" i="0" baseline="-25000">
                <a:solidFill>
                  <a:srgbClr val="2B2118"/>
                </a:solidFill>
              </a:rPr>
              <a:t>OM</a:t>
            </a:r>
            <a:r>
              <a:rPr sz="1250" b="0" i="0">
                <a:solidFill>
                  <a:srgbClr val="2B2118"/>
                </a:solidFill>
              </a:rPr>
              <a:t> + (100 − OM%)/ρ</a:t>
            </a:r>
            <a:r>
              <a:rPr sz="1250" b="0" i="0" baseline="-25000">
                <a:solidFill>
                  <a:srgbClr val="2B2118"/>
                </a:solidFill>
              </a:rPr>
              <a:t>m</a:t>
            </a:r>
            <a:r>
              <a:rPr sz="1250" b="0" i="0">
                <a:solidFill>
                  <a:srgbClr val="2B2118"/>
                </a:solidFill>
              </a:rPr>
              <a:t>], ρ</a:t>
            </a:r>
            <a:r>
              <a:rPr sz="1250" b="0" i="0" baseline="-25000">
                <a:solidFill>
                  <a:srgbClr val="2B2118"/>
                </a:solidFill>
              </a:rPr>
              <a:t>OM</a:t>
            </a:r>
            <a:r>
              <a:rPr sz="1250" b="0" i="0">
                <a:solidFill>
                  <a:srgbClr val="2B2118"/>
                </a:solidFill>
              </a:rPr>
              <a:t> = 0.224 g cm</a:t>
            </a:r>
            <a:r>
              <a:rPr sz="1250" b="0" i="0" baseline="30000">
                <a:solidFill>
                  <a:srgbClr val="2B2118"/>
                </a:solidFill>
              </a:rPr>
              <a:t>−3</a:t>
            </a:r>
          </a:p>
        </p:txBody>
      </p:sp>
      <p:sp>
        <p:nvSpPr>
          <p:cNvPr id="9" name="Rounded Rectangle 8"/>
          <p:cNvSpPr/>
          <p:nvPr/>
        </p:nvSpPr>
        <p:spPr>
          <a:xfrm>
            <a:off x="5943600" y="3703320"/>
            <a:ext cx="5669280" cy="23317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3767328"/>
            <a:ext cx="5394960" cy="2240280"/>
          </a:xfrm>
          <a:prstGeom prst="rect">
            <a:avLst/>
          </a:prstGeom>
          <a:noFill/>
        </p:spPr>
        <p:txBody>
          <a:bodyPr wrap="square" lIns="27432" rIns="27432" tIns="27432" bIns="27432" anchor="t">
            <a:spAutoFit/>
          </a:bodyPr>
          <a:lstStyle/>
          <a:p>
            <a:pPr marL="0" indent="0">
              <a:spcAft>
                <a:spcPts val="400"/>
              </a:spcAft>
              <a:buNone/>
            </a:pPr>
            <a:r>
              <a:rPr sz="1500" b="1" i="0">
                <a:solidFill>
                  <a:srgbClr val="2E7D7A"/>
                </a:solidFill>
              </a:rPr>
              <a:t>Why fixed depths mislead</a:t>
            </a:r>
          </a:p>
          <a:p>
            <a:pPr marL="228600" indent="-228600">
              <a:spcAft>
                <a:spcPts val="400"/>
              </a:spcAft>
              <a:buFont typeface="Arial"/>
              <a:buChar char="•"/>
            </a:pPr>
            <a:r>
              <a:rPr sz="1250" b="0" i="0">
                <a:solidFill>
                  <a:srgbClr val="2B2118"/>
                </a:solidFill>
              </a:rPr>
              <a:t>Same 1% C, 10 cm layer: ρ</a:t>
            </a:r>
            <a:r>
              <a:rPr sz="1250" b="0" i="0" baseline="-25000">
                <a:solidFill>
                  <a:srgbClr val="2B2118"/>
                </a:solidFill>
              </a:rPr>
              <a:t>b</a:t>
            </a:r>
            <a:r>
              <a:rPr sz="1250" b="0" i="0">
                <a:solidFill>
                  <a:srgbClr val="2B2118"/>
                </a:solidFill>
              </a:rPr>
              <a:t> 1.0 vs 1.3 Mg m</a:t>
            </a:r>
            <a:r>
              <a:rPr sz="1250" b="0" i="0" baseline="30000">
                <a:solidFill>
                  <a:srgbClr val="2B2118"/>
                </a:solidFill>
              </a:rPr>
              <a:t>−3</a:t>
            </a:r>
            <a:r>
              <a:rPr sz="1250" b="0" i="0">
                <a:solidFill>
                  <a:srgbClr val="2B2118"/>
                </a:solidFill>
              </a:rPr>
              <a:t> → stock 1.0 vs 1.3 kg m</a:t>
            </a:r>
            <a:r>
              <a:rPr sz="1250" b="0" i="0" baseline="30000">
                <a:solidFill>
                  <a:srgbClr val="2B2118"/>
                </a:solidFill>
              </a:rPr>
              <a:t>−2</a:t>
            </a:r>
          </a:p>
          <a:p>
            <a:pPr marL="228600" indent="-228600">
              <a:spcAft>
                <a:spcPts val="400"/>
              </a:spcAft>
              <a:buFont typeface="Arial"/>
              <a:buChar char="•"/>
            </a:pPr>
            <a:r>
              <a:rPr sz="1250" b="0" i="0">
                <a:solidFill>
                  <a:srgbClr val="2B2118"/>
                </a:solidFill>
              </a:rPr>
              <a:t>Tillage, compaction, swelling change mass per depth</a:t>
            </a:r>
          </a:p>
          <a:p>
            <a:pPr marL="228600" indent="-228600">
              <a:spcAft>
                <a:spcPts val="400"/>
              </a:spcAft>
              <a:buFont typeface="Arial"/>
              <a:buChar char="•"/>
            </a:pPr>
            <a:r>
              <a:rPr sz="1250" b="0" i="0">
                <a:solidFill>
                  <a:srgbClr val="2B2118"/>
                </a:solidFill>
              </a:rPr>
              <a:t>Fix: </a:t>
            </a:r>
            <a:r>
              <a:rPr sz="1250" b="1" i="0">
                <a:solidFill>
                  <a:srgbClr val="2B2118"/>
                </a:solidFill>
              </a:rPr>
              <a:t>equivalent soil mass</a:t>
            </a:r>
            <a:r>
              <a:rPr sz="1250" b="0" i="0">
                <a:solidFill>
                  <a:srgbClr val="2B2118"/>
                </a:solidFill>
              </a:rPr>
              <a:t> (Ellert &amp; Bettany 1995) or </a:t>
            </a:r>
            <a:r>
              <a:rPr sz="1250" b="1" i="0">
                <a:solidFill>
                  <a:srgbClr val="2B2118"/>
                </a:solidFill>
              </a:rPr>
              <a:t>mass coordinate system</a:t>
            </a:r>
            <a:r>
              <a:rPr sz="1250" b="0" i="0">
                <a:solidFill>
                  <a:srgbClr val="2B2118"/>
                </a:solidFill>
              </a:rPr>
              <a:t> (Gifford &amp; Roderick 2003): C vs cumulative mineral mass</a:t>
            </a:r>
          </a:p>
        </p:txBody>
      </p:sp>
      <p:sp>
        <p:nvSpPr>
          <p:cNvPr id="11" name="TextBox 10"/>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Minasny, McBratney, Malone &amp; Wheeler (2013) Digital mapping of soil carbon. Adv. Agron. 118:1–47, Sections 3.3 and 5.3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Step 1d: where to sample, and how to use legacy data</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71600"/>
            <a:ext cx="2377440" cy="777240"/>
          </a:xfrm>
          <a:prstGeom prst="roundRect">
            <a:avLst>
              <a:gd name="adj" fmla="val 9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Covariates available?</a:t>
            </a:r>
          </a:p>
        </p:txBody>
      </p:sp>
      <p:sp>
        <p:nvSpPr>
          <p:cNvPr id="5" name="Rounded Rectangle 4"/>
          <p:cNvSpPr/>
          <p:nvPr/>
        </p:nvSpPr>
        <p:spPr>
          <a:xfrm>
            <a:off x="548640" y="2606040"/>
            <a:ext cx="2377440" cy="91440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No</a:t>
            </a:r>
            <a:r>
              <a:rPr sz="1250" b="0" i="0">
                <a:solidFill>
                  <a:srgbClr val="2B2118"/>
                </a:solidFill>
              </a:rPr>
              <a:t> → grid / geographic coverage</a:t>
            </a:r>
          </a:p>
        </p:txBody>
      </p:sp>
      <p:sp>
        <p:nvSpPr>
          <p:cNvPr id="6" name="Rounded Rectangle 5"/>
          <p:cNvSpPr/>
          <p:nvPr/>
        </p:nvSpPr>
        <p:spPr>
          <a:xfrm>
            <a:off x="3246120" y="1371600"/>
            <a:ext cx="2743200" cy="91440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Yes</a:t>
            </a:r>
            <a:r>
              <a:rPr sz="1250" b="0" i="0">
                <a:solidFill>
                  <a:srgbClr val="FFFFFF"/>
                </a:solidFill>
              </a:rPr>
              <a:t> → stratify: cluster covariates, fixed n per stratum</a:t>
            </a:r>
          </a:p>
        </p:txBody>
      </p:sp>
      <p:sp>
        <p:nvSpPr>
          <p:cNvPr id="7" name="Rounded Rectangle 6"/>
          <p:cNvSpPr/>
          <p:nvPr/>
        </p:nvSpPr>
        <p:spPr>
          <a:xfrm>
            <a:off x="3246120" y="2606040"/>
            <a:ext cx="2743200" cy="91440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cLHS</a:t>
            </a:r>
            <a:r>
              <a:rPr sz="1250" b="0" i="0">
                <a:solidFill>
                  <a:srgbClr val="FFFFFF"/>
                </a:solidFill>
              </a:rPr>
              <a:t>: cover the full distribution of every covariate</a:t>
            </a:r>
          </a:p>
        </p:txBody>
      </p:sp>
      <p:cxnSp>
        <p:nvCxnSpPr>
          <p:cNvPr id="8" name="Connector 7"/>
          <p:cNvCxnSpPr/>
          <p:nvPr/>
        </p:nvCxnSpPr>
        <p:spPr>
          <a:xfrm>
            <a:off x="1737360" y="2148840"/>
            <a:ext cx="0" cy="45720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926080" y="1783080"/>
            <a:ext cx="32004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617720" y="2286000"/>
            <a:ext cx="0" cy="32004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3886200"/>
            <a:ext cx="2377440" cy="960120"/>
          </a:xfrm>
          <a:prstGeom prst="roundRect">
            <a:avLst>
              <a:gd name="adj" fmla="val 9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00" b="1" i="0">
                <a:solidFill>
                  <a:srgbClr val="FFFFFF"/>
                </a:solidFill>
              </a:rPr>
              <a:t>Only legacy data?</a:t>
            </a:r>
          </a:p>
          <a:p>
            <a:pPr marL="0" indent="0" algn="ctr">
              <a:spcAft>
                <a:spcPts val="100"/>
              </a:spcAft>
              <a:buNone/>
            </a:pPr>
            <a:r>
              <a:rPr sz="1200" b="0" i="0">
                <a:solidFill>
                  <a:srgbClr val="FFFFFF"/>
                </a:solidFill>
              </a:rPr>
              <a:t>no statistical design, may be biased</a:t>
            </a:r>
          </a:p>
        </p:txBody>
      </p:sp>
      <p:sp>
        <p:nvSpPr>
          <p:cNvPr id="12" name="Rounded Rectangle 11"/>
          <p:cNvSpPr/>
          <p:nvPr/>
        </p:nvSpPr>
        <p:spPr>
          <a:xfrm>
            <a:off x="3246120" y="3886200"/>
            <a:ext cx="2743200" cy="96012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FFFFFF"/>
                </a:solidFill>
              </a:rPr>
              <a:t>Check </a:t>
            </a:r>
            <a:r>
              <a:rPr sz="1250" b="1" i="0">
                <a:solidFill>
                  <a:srgbClr val="FFFFFF"/>
                </a:solidFill>
              </a:rPr>
              <a:t>hypercube occupancy</a:t>
            </a:r>
            <a:r>
              <a:rPr sz="1250" b="0" i="0">
                <a:solidFill>
                  <a:srgbClr val="FFFFFF"/>
                </a:solidFill>
              </a:rPr>
              <a:t> in covariate space (Carré 2007)</a:t>
            </a:r>
          </a:p>
        </p:txBody>
      </p:sp>
      <p:sp>
        <p:nvSpPr>
          <p:cNvPr id="13" name="Rounded Rectangle 12"/>
          <p:cNvSpPr/>
          <p:nvPr/>
        </p:nvSpPr>
        <p:spPr>
          <a:xfrm>
            <a:off x="3246120" y="5029200"/>
            <a:ext cx="2743200" cy="914400"/>
          </a:xfrm>
          <a:prstGeom prst="roundRect">
            <a:avLst>
              <a:gd name="adj" fmla="val 9000"/>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FFFFFF"/>
                </a:solidFill>
              </a:rPr>
              <a:t>Weight data; add samples in under-observed hypercubes</a:t>
            </a:r>
          </a:p>
        </p:txBody>
      </p:sp>
      <p:cxnSp>
        <p:nvCxnSpPr>
          <p:cNvPr id="14" name="Connector 13"/>
          <p:cNvCxnSpPr/>
          <p:nvPr/>
        </p:nvCxnSpPr>
        <p:spPr>
          <a:xfrm>
            <a:off x="2926080" y="4370832"/>
            <a:ext cx="32004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617720" y="4846320"/>
            <a:ext cx="0" cy="18288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09360" y="1325880"/>
            <a:ext cx="5303520" cy="219456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_sampling.png"/>
          <p:cNvPicPr>
            <a:picLocks noChangeAspect="1"/>
          </p:cNvPicPr>
          <p:nvPr/>
        </p:nvPicPr>
        <p:blipFill>
          <a:blip r:embed="rId3"/>
          <a:stretch>
            <a:fillRect/>
          </a:stretch>
        </p:blipFill>
        <p:spPr>
          <a:xfrm>
            <a:off x="6382512" y="1525251"/>
            <a:ext cx="5157216" cy="1795816"/>
          </a:xfrm>
          <a:prstGeom prst="rect">
            <a:avLst/>
          </a:prstGeom>
        </p:spPr>
      </p:pic>
      <p:sp>
        <p:nvSpPr>
          <p:cNvPr id="18" name="TextBox 17"/>
          <p:cNvSpPr txBox="1"/>
          <p:nvPr/>
        </p:nvSpPr>
        <p:spPr>
          <a:xfrm>
            <a:off x="6309360" y="3557015"/>
            <a:ext cx="530352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Fig. 1.1 of Minasny et al. (2013): (A) grid spacing vs extent, (B) sampling density vs grid spacing, (C) density vs R²</a:t>
            </a:r>
          </a:p>
        </p:txBody>
      </p:sp>
      <p:sp>
        <p:nvSpPr>
          <p:cNvPr id="19" name="Rounded Rectangle 18"/>
          <p:cNvSpPr/>
          <p:nvPr/>
        </p:nvSpPr>
        <p:spPr>
          <a:xfrm>
            <a:off x="6309360" y="4114800"/>
            <a:ext cx="5303520" cy="1874519"/>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187952"/>
            <a:ext cx="5029200" cy="1737360"/>
          </a:xfrm>
          <a:prstGeom prst="rect">
            <a:avLst/>
          </a:prstGeom>
          <a:noFill/>
        </p:spPr>
        <p:txBody>
          <a:bodyPr wrap="square" lIns="27432" rIns="27432" tIns="27432" bIns="27432" anchor="t">
            <a:spAutoFit/>
          </a:bodyPr>
          <a:lstStyle/>
          <a:p>
            <a:pPr marL="0" indent="0">
              <a:spcAft>
                <a:spcPts val="400"/>
              </a:spcAft>
              <a:buNone/>
            </a:pPr>
            <a:r>
              <a:rPr sz="1500" b="1" i="0">
                <a:solidFill>
                  <a:srgbClr val="8C5A2B"/>
                </a:solidFill>
              </a:rPr>
              <a:t>What the review of past studies shows</a:t>
            </a:r>
          </a:p>
          <a:p>
            <a:pPr marL="228600" indent="-228600">
              <a:spcAft>
                <a:spcPts val="400"/>
              </a:spcAft>
              <a:buFont typeface="Arial"/>
              <a:buChar char="•"/>
            </a:pPr>
            <a:r>
              <a:rPr sz="1250" b="0" i="0">
                <a:solidFill>
                  <a:srgbClr val="2B2118"/>
                </a:solidFill>
              </a:rPr>
              <a:t>Densities ranged </a:t>
            </a:r>
            <a:r>
              <a:rPr sz="1250" b="1" i="0">
                <a:solidFill>
                  <a:srgbClr val="2B2118"/>
                </a:solidFill>
              </a:rPr>
              <a:t>0.002 to 1100 samples km</a:t>
            </a:r>
            <a:r>
              <a:rPr sz="1250" b="1" i="0" baseline="30000">
                <a:solidFill>
                  <a:srgbClr val="2B2118"/>
                </a:solidFill>
              </a:rPr>
              <a:t>−2</a:t>
            </a:r>
          </a:p>
          <a:p>
            <a:pPr marL="228600" indent="-228600">
              <a:spcAft>
                <a:spcPts val="400"/>
              </a:spcAft>
              <a:buFont typeface="Arial"/>
              <a:buChar char="•"/>
            </a:pPr>
            <a:r>
              <a:rPr sz="1250" b="0" i="0">
                <a:solidFill>
                  <a:srgbClr val="2B2118"/>
                </a:solidFill>
              </a:rPr>
              <a:t>Map resolution coarsens with extent; finer with denser sampling</a:t>
            </a:r>
          </a:p>
          <a:p>
            <a:pPr marL="228600" indent="-228600">
              <a:spcAft>
                <a:spcPts val="400"/>
              </a:spcAft>
              <a:buFont typeface="Arial"/>
              <a:buChar char="•"/>
            </a:pPr>
            <a:r>
              <a:rPr sz="1250" b="0" i="0">
                <a:solidFill>
                  <a:srgbClr val="2B2118"/>
                </a:solidFill>
              </a:rPr>
              <a:t>Accuracy (R²) rises </a:t>
            </a:r>
            <a:r>
              <a:rPr sz="1250" b="1" i="0">
                <a:solidFill>
                  <a:srgbClr val="2B2118"/>
                </a:solidFill>
              </a:rPr>
              <a:t>logarithmically</a:t>
            </a:r>
            <a:r>
              <a:rPr sz="1250" b="0" i="0">
                <a:solidFill>
                  <a:srgbClr val="2B2118"/>
                </a:solidFill>
              </a:rPr>
              <a:t> with sampling density</a:t>
            </a:r>
          </a:p>
        </p:txBody>
      </p:sp>
      <p:sp>
        <p:nvSpPr>
          <p:cNvPr id="21" name="TextBox 20"/>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Minasny, McBratney, Malone &amp; Wheeler (2013) Digital mapping of soil carbon. Adv. Agron. 118:1–47, Sections 2.2.2 and 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Step 2: covariates, and why they change with scale</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11064240" cy="6858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10881360" cy="685800"/>
          </a:xfrm>
          <a:prstGeom prst="rect">
            <a:avLst/>
          </a:prstGeom>
          <a:noFill/>
        </p:spPr>
        <p:txBody>
          <a:bodyPr wrap="square" lIns="27432" rIns="27432" tIns="27432" bIns="27432" anchor="ctr">
            <a:spAutoFit/>
          </a:bodyPr>
          <a:lstStyle/>
          <a:p>
            <a:pPr marL="0" indent="0" algn="ctr">
              <a:spcAft>
                <a:spcPts val="400"/>
              </a:spcAft>
              <a:buNone/>
            </a:pPr>
            <a:r>
              <a:rPr sz="1700" b="0" i="0">
                <a:solidFill>
                  <a:srgbClr val="2B2118"/>
                </a:solidFill>
                <a:latin typeface="Cambria"/>
              </a:rPr>
              <a:t>C = k</a:t>
            </a:r>
            <a:r>
              <a:rPr sz="1700" b="0" i="0" baseline="-25000">
                <a:solidFill>
                  <a:srgbClr val="2B2118"/>
                </a:solidFill>
              </a:rPr>
              <a:t>0</a:t>
            </a:r>
            <a:r>
              <a:rPr sz="1700" b="0" i="0">
                <a:solidFill>
                  <a:srgbClr val="2B2118"/>
                </a:solidFill>
              </a:rPr>
              <a:t> + k</a:t>
            </a:r>
            <a:r>
              <a:rPr sz="1700" b="0" i="0" baseline="-25000">
                <a:solidFill>
                  <a:srgbClr val="2B2118"/>
                </a:solidFill>
              </a:rPr>
              <a:t>1</a:t>
            </a:r>
            <a:r>
              <a:rPr sz="1700" b="0" i="0">
                <a:solidFill>
                  <a:srgbClr val="2B2118"/>
                </a:solidFill>
              </a:rPr>
              <a:t>MAP + k</a:t>
            </a:r>
            <a:r>
              <a:rPr sz="1700" b="0" i="0" baseline="-25000">
                <a:solidFill>
                  <a:srgbClr val="2B2118"/>
                </a:solidFill>
              </a:rPr>
              <a:t>2</a:t>
            </a:r>
            <a:r>
              <a:rPr sz="1700" b="0" i="0">
                <a:solidFill>
                  <a:srgbClr val="2B2118"/>
                </a:solidFill>
              </a:rPr>
              <a:t>MAT + k</a:t>
            </a:r>
            <a:r>
              <a:rPr sz="1700" b="0" i="0" baseline="-25000">
                <a:solidFill>
                  <a:srgbClr val="2B2118"/>
                </a:solidFill>
              </a:rPr>
              <a:t>3</a:t>
            </a:r>
            <a:r>
              <a:rPr sz="1700" b="0" i="0">
                <a:solidFill>
                  <a:srgbClr val="2B2118"/>
                </a:solidFill>
              </a:rPr>
              <a:t>parent rock + k</a:t>
            </a:r>
            <a:r>
              <a:rPr sz="1700" b="0" i="0" baseline="-25000">
                <a:solidFill>
                  <a:srgbClr val="2B2118"/>
                </a:solidFill>
              </a:rPr>
              <a:t>4</a:t>
            </a:r>
            <a:r>
              <a:rPr sz="1700" b="0" i="0">
                <a:solidFill>
                  <a:srgbClr val="2B2118"/>
                </a:solidFill>
              </a:rPr>
              <a:t>slope + k</a:t>
            </a:r>
            <a:r>
              <a:rPr sz="1700" b="0" i="0" baseline="-25000">
                <a:solidFill>
                  <a:srgbClr val="2B2118"/>
                </a:solidFill>
              </a:rPr>
              <a:t>5</a:t>
            </a:r>
            <a:r>
              <a:rPr sz="1700" b="0" i="0">
                <a:solidFill>
                  <a:srgbClr val="2B2118"/>
                </a:solidFill>
              </a:rPr>
              <a:t>flora + k</a:t>
            </a:r>
            <a:r>
              <a:rPr sz="1700" b="0" i="0" baseline="-25000">
                <a:solidFill>
                  <a:srgbClr val="2B2118"/>
                </a:solidFill>
              </a:rPr>
              <a:t>6</a:t>
            </a:r>
            <a:r>
              <a:rPr sz="1700" b="0" i="0">
                <a:solidFill>
                  <a:srgbClr val="2B2118"/>
                </a:solidFill>
              </a:rPr>
              <a:t>latitude      (Jenny 1968)</a:t>
            </a:r>
          </a:p>
        </p:txBody>
      </p:sp>
      <p:sp>
        <p:nvSpPr>
          <p:cNvPr id="6" name="Rounded Rectangle 5"/>
          <p:cNvSpPr/>
          <p:nvPr/>
        </p:nvSpPr>
        <p:spPr>
          <a:xfrm>
            <a:off x="548640" y="2240280"/>
            <a:ext cx="11064240" cy="749808"/>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Continental / global</a:t>
            </a:r>
            <a:r>
              <a:rPr sz="1300" b="0" i="0">
                <a:solidFill>
                  <a:srgbClr val="FFFFFF"/>
                </a:solidFill>
              </a:rPr>
              <a:t>: Climate: rainfall (MAP), temperature (MAT), moisture index</a:t>
            </a:r>
          </a:p>
        </p:txBody>
      </p:sp>
      <p:sp>
        <p:nvSpPr>
          <p:cNvPr id="7" name="Rounded Rectangle 6"/>
          <p:cNvSpPr/>
          <p:nvPr/>
        </p:nvSpPr>
        <p:spPr>
          <a:xfrm>
            <a:off x="1234440" y="3108960"/>
            <a:ext cx="9692640" cy="749808"/>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Regional</a:t>
            </a:r>
            <a:r>
              <a:rPr sz="1300" b="0" i="0">
                <a:solidFill>
                  <a:srgbClr val="FFFFFF"/>
                </a:solidFill>
              </a:rPr>
              <a:t>: Native vegetation; gamma radiometrics (clay, wetness); lithology</a:t>
            </a:r>
          </a:p>
        </p:txBody>
      </p:sp>
      <p:sp>
        <p:nvSpPr>
          <p:cNvPr id="8" name="Rounded Rectangle 7"/>
          <p:cNvSpPr/>
          <p:nvPr/>
        </p:nvSpPr>
        <p:spPr>
          <a:xfrm>
            <a:off x="1920240" y="3977639"/>
            <a:ext cx="8321040" cy="749808"/>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Landscape</a:t>
            </a:r>
            <a:r>
              <a:rPr sz="1300" b="0" i="0">
                <a:solidFill>
                  <a:srgbClr val="FFFFFF"/>
                </a:solidFill>
              </a:rPr>
              <a:t>: Terrain: &lt;100 m → slope, aspect, curvature; &gt;100 m → landscape position (n)</a:t>
            </a:r>
          </a:p>
        </p:txBody>
      </p:sp>
      <p:sp>
        <p:nvSpPr>
          <p:cNvPr id="9" name="Rounded Rectangle 8"/>
          <p:cNvSpPr/>
          <p:nvPr/>
        </p:nvSpPr>
        <p:spPr>
          <a:xfrm>
            <a:off x="2606040" y="4846320"/>
            <a:ext cx="6949440" cy="749808"/>
          </a:xfrm>
          <a:prstGeom prst="roundRect">
            <a:avLst>
              <a:gd name="adj" fmla="val 9000"/>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Field / farm</a:t>
            </a:r>
            <a:r>
              <a:rPr sz="1300" b="0" i="0">
                <a:solidFill>
                  <a:srgbClr val="FFFFFF"/>
                </a:solidFill>
              </a:rPr>
              <a:t>: Current land use and management; erosion and deposition</a:t>
            </a:r>
          </a:p>
        </p:txBody>
      </p:sp>
      <p:sp>
        <p:nvSpPr>
          <p:cNvPr id="10" name="TextBox 9"/>
          <p:cNvSpPr txBox="1"/>
          <p:nvPr/>
        </p:nvSpPr>
        <p:spPr>
          <a:xfrm>
            <a:off x="548640" y="5760720"/>
            <a:ext cx="11064240" cy="365760"/>
          </a:xfrm>
          <a:prstGeom prst="rect">
            <a:avLst/>
          </a:prstGeom>
          <a:noFill/>
        </p:spPr>
        <p:txBody>
          <a:bodyPr wrap="square" lIns="27432" rIns="27432" tIns="27432" bIns="27432" anchor="t">
            <a:spAutoFit/>
          </a:bodyPr>
          <a:lstStyle/>
          <a:p>
            <a:pPr marL="0" indent="0" algn="ctr">
              <a:spcAft>
                <a:spcPts val="400"/>
              </a:spcAft>
              <a:buNone/>
            </a:pPr>
            <a:r>
              <a:rPr sz="1300" b="0" i="0">
                <a:solidFill>
                  <a:srgbClr val="4A3B2E"/>
                </a:solidFill>
              </a:rPr>
              <a:t>Remote sensing: </a:t>
            </a:r>
            <a:r>
              <a:rPr sz="1300" b="1" i="0">
                <a:solidFill>
                  <a:srgbClr val="4A3B2E"/>
                </a:solidFill>
              </a:rPr>
              <a:t>NDVI</a:t>
            </a:r>
            <a:r>
              <a:rPr sz="1300" b="0" i="0">
                <a:solidFill>
                  <a:srgbClr val="4A3B2E"/>
                </a:solidFill>
              </a:rPr>
              <a:t> = productivity proxy; </a:t>
            </a:r>
            <a:r>
              <a:rPr sz="1300" b="1" i="0">
                <a:solidFill>
                  <a:srgbClr val="4A3B2E"/>
                </a:solidFill>
              </a:rPr>
              <a:t>bare-soil Vis–NIR / hyperspectral</a:t>
            </a:r>
            <a:r>
              <a:rPr sz="1300" b="0" i="0">
                <a:solidFill>
                  <a:srgbClr val="4A3B2E"/>
                </a:solidFill>
              </a:rPr>
              <a:t> maps C directly where vegetation is absent</a:t>
            </a:r>
          </a:p>
        </p:txBody>
      </p:sp>
      <p:sp>
        <p:nvSpPr>
          <p:cNvPr id="11" name="TextBox 10"/>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Minasny, McBratney, Malone &amp; Wheeler (2013) Digital mapping of soil carbon. Adv. Agron. 118:1–47, Section 5.2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Step 3: models for the spatial prediction function</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4023360" y="1325880"/>
            <a:ext cx="4114800" cy="685800"/>
          </a:xfrm>
          <a:prstGeom prst="roundRect">
            <a:avLst>
              <a:gd name="adj" fmla="val 9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400" b="1" i="0">
                <a:solidFill>
                  <a:srgbClr val="FFFFFF"/>
                </a:solidFill>
              </a:rPr>
              <a:t>Spatial prediction function  S = f(covariates) + e</a:t>
            </a:r>
          </a:p>
        </p:txBody>
      </p:sp>
      <p:cxnSp>
        <p:nvCxnSpPr>
          <p:cNvPr id="5" name="Connector 4"/>
          <p:cNvCxnSpPr/>
          <p:nvPr/>
        </p:nvCxnSpPr>
        <p:spPr>
          <a:xfrm flipH="1">
            <a:off x="2331720" y="2011680"/>
            <a:ext cx="3749040" cy="365760"/>
          </a:xfrm>
          <a:prstGeom prst="line">
            <a:avLst/>
          </a:prstGeom>
          <a:ln w="22225">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 y="2377440"/>
            <a:ext cx="3566160" cy="59436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500" b="1" i="0">
                <a:solidFill>
                  <a:srgbClr val="FFFFFF"/>
                </a:solidFill>
              </a:rPr>
              <a:t>Statistical / ML</a:t>
            </a:r>
          </a:p>
        </p:txBody>
      </p:sp>
      <p:sp>
        <p:nvSpPr>
          <p:cNvPr id="7" name="Rounded Rectangle 6"/>
          <p:cNvSpPr/>
          <p:nvPr/>
        </p:nvSpPr>
        <p:spPr>
          <a:xfrm>
            <a:off x="548640" y="3063240"/>
            <a:ext cx="3566160" cy="21488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154680"/>
            <a:ext cx="3291840" cy="2011680"/>
          </a:xfrm>
          <a:prstGeom prst="rect">
            <a:avLst/>
          </a:prstGeom>
          <a:noFill/>
        </p:spPr>
        <p:txBody>
          <a:bodyPr wrap="square" lIns="27432" rIns="27432" tIns="27432" bIns="27432" anchor="t">
            <a:spAutoFit/>
          </a:bodyPr>
          <a:lstStyle/>
          <a:p>
            <a:pPr marL="228600" indent="-228600">
              <a:spcAft>
                <a:spcPts val="400"/>
              </a:spcAft>
              <a:buFont typeface="Arial"/>
              <a:buChar char="•"/>
            </a:pPr>
            <a:r>
              <a:rPr sz="1300" b="0" i="0">
                <a:solidFill>
                  <a:srgbClr val="2B2118"/>
                </a:solidFill>
              </a:rPr>
              <a:t>Linear &amp; non-linear regression</a:t>
            </a:r>
          </a:p>
          <a:p>
            <a:pPr marL="228600" indent="-228600">
              <a:spcAft>
                <a:spcPts val="400"/>
              </a:spcAft>
              <a:buFont typeface="Arial"/>
              <a:buChar char="•"/>
            </a:pPr>
            <a:r>
              <a:rPr sz="1300" b="0" i="0">
                <a:solidFill>
                  <a:srgbClr val="2B2118"/>
                </a:solidFill>
              </a:rPr>
              <a:t>ANN, SVM</a:t>
            </a:r>
          </a:p>
          <a:p>
            <a:pPr marL="228600" indent="-228600">
              <a:spcAft>
                <a:spcPts val="400"/>
              </a:spcAft>
              <a:buFont typeface="Arial"/>
              <a:buChar char="•"/>
            </a:pPr>
            <a:r>
              <a:rPr sz="1300" b="0" i="0">
                <a:solidFill>
                  <a:srgbClr val="2B2118"/>
                </a:solidFill>
              </a:rPr>
              <a:t>Regression trees</a:t>
            </a:r>
          </a:p>
          <a:p>
            <a:pPr marL="228600" indent="-228600">
              <a:spcAft>
                <a:spcPts val="400"/>
              </a:spcAft>
              <a:buFont typeface="Arial"/>
              <a:buChar char="•"/>
            </a:pPr>
            <a:r>
              <a:rPr sz="1300" b="1" i="0">
                <a:solidFill>
                  <a:srgbClr val="2B2118"/>
                </a:solidFill>
              </a:rPr>
              <a:t>Random forest</a:t>
            </a:r>
            <a:r>
              <a:rPr sz="1300" b="0" i="0">
                <a:solidFill>
                  <a:srgbClr val="2B2118"/>
                </a:solidFill>
              </a:rPr>
              <a:t>: most used</a:t>
            </a:r>
          </a:p>
        </p:txBody>
      </p:sp>
      <p:cxnSp>
        <p:nvCxnSpPr>
          <p:cNvPr id="9" name="Connector 8"/>
          <p:cNvCxnSpPr/>
          <p:nvPr/>
        </p:nvCxnSpPr>
        <p:spPr>
          <a:xfrm flipH="1">
            <a:off x="6080759" y="2011680"/>
            <a:ext cx="1" cy="365760"/>
          </a:xfrm>
          <a:prstGeom prst="line">
            <a:avLst/>
          </a:prstGeom>
          <a:ln w="22225">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97679" y="2377440"/>
            <a:ext cx="3566160" cy="59436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500" b="1" i="0">
                <a:solidFill>
                  <a:srgbClr val="FFFFFF"/>
                </a:solidFill>
              </a:rPr>
              <a:t>Geostatistical / hybrid</a:t>
            </a:r>
          </a:p>
        </p:txBody>
      </p:sp>
      <p:sp>
        <p:nvSpPr>
          <p:cNvPr id="11" name="Rounded Rectangle 10"/>
          <p:cNvSpPr/>
          <p:nvPr/>
        </p:nvSpPr>
        <p:spPr>
          <a:xfrm>
            <a:off x="4297679" y="3063240"/>
            <a:ext cx="3566160" cy="21488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3154680"/>
            <a:ext cx="3291840" cy="2011680"/>
          </a:xfrm>
          <a:prstGeom prst="rect">
            <a:avLst/>
          </a:prstGeom>
          <a:noFill/>
        </p:spPr>
        <p:txBody>
          <a:bodyPr wrap="square" lIns="27432" rIns="27432" tIns="27432" bIns="27432" anchor="t">
            <a:spAutoFit/>
          </a:bodyPr>
          <a:lstStyle/>
          <a:p>
            <a:pPr marL="228600" indent="-228600">
              <a:spcAft>
                <a:spcPts val="400"/>
              </a:spcAft>
              <a:buFont typeface="Arial"/>
              <a:buChar char="•"/>
            </a:pPr>
            <a:r>
              <a:rPr sz="1300" b="0" i="0">
                <a:solidFill>
                  <a:srgbClr val="2B2118"/>
                </a:solidFill>
              </a:rPr>
              <a:t>Kriging, co-kriging</a:t>
            </a:r>
          </a:p>
          <a:p>
            <a:pPr marL="228600" indent="-228600">
              <a:spcAft>
                <a:spcPts val="400"/>
              </a:spcAft>
              <a:buFont typeface="Arial"/>
              <a:buChar char="•"/>
            </a:pPr>
            <a:r>
              <a:rPr sz="1300" b="1" i="0">
                <a:solidFill>
                  <a:srgbClr val="2B2118"/>
                </a:solidFill>
              </a:rPr>
              <a:t>Regression-kriging</a:t>
            </a:r>
            <a:r>
              <a:rPr sz="1300" b="0" i="0">
                <a:solidFill>
                  <a:srgbClr val="2B2118"/>
                </a:solidFill>
              </a:rPr>
              <a:t>: trend + kriged residuals</a:t>
            </a:r>
          </a:p>
          <a:p>
            <a:pPr marL="228600" indent="-228600">
              <a:spcAft>
                <a:spcPts val="400"/>
              </a:spcAft>
              <a:buFont typeface="Arial"/>
              <a:buChar char="•"/>
            </a:pPr>
            <a:r>
              <a:rPr sz="1300" b="0" i="0">
                <a:solidFill>
                  <a:srgbClr val="2B2118"/>
                </a:solidFill>
              </a:rPr>
              <a:t>GWR: coefficients vary in space</a:t>
            </a:r>
          </a:p>
        </p:txBody>
      </p:sp>
      <p:cxnSp>
        <p:nvCxnSpPr>
          <p:cNvPr id="13" name="Connector 12"/>
          <p:cNvCxnSpPr/>
          <p:nvPr/>
        </p:nvCxnSpPr>
        <p:spPr>
          <a:xfrm>
            <a:off x="6080760" y="2011680"/>
            <a:ext cx="3749039" cy="365760"/>
          </a:xfrm>
          <a:prstGeom prst="line">
            <a:avLst/>
          </a:prstGeom>
          <a:ln w="22225">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46719" y="2377440"/>
            <a:ext cx="3566160" cy="59436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500" b="1" i="0">
                <a:solidFill>
                  <a:srgbClr val="FFFFFF"/>
                </a:solidFill>
              </a:rPr>
              <a:t>Deep learning</a:t>
            </a:r>
          </a:p>
        </p:txBody>
      </p:sp>
      <p:sp>
        <p:nvSpPr>
          <p:cNvPr id="15" name="Rounded Rectangle 14"/>
          <p:cNvSpPr/>
          <p:nvPr/>
        </p:nvSpPr>
        <p:spPr>
          <a:xfrm>
            <a:off x="8046719" y="3063240"/>
            <a:ext cx="3566160" cy="21488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3154680"/>
            <a:ext cx="3291840" cy="2011680"/>
          </a:xfrm>
          <a:prstGeom prst="rect">
            <a:avLst/>
          </a:prstGeom>
          <a:noFill/>
        </p:spPr>
        <p:txBody>
          <a:bodyPr wrap="square" lIns="27432" rIns="27432" tIns="27432" bIns="27432" anchor="t">
            <a:spAutoFit/>
          </a:bodyPr>
          <a:lstStyle/>
          <a:p>
            <a:pPr marL="228600" indent="-228600">
              <a:spcAft>
                <a:spcPts val="400"/>
              </a:spcAft>
              <a:buFont typeface="Arial"/>
              <a:buChar char="•"/>
            </a:pPr>
            <a:r>
              <a:rPr sz="1300" b="1" i="0">
                <a:solidFill>
                  <a:srgbClr val="2B2118"/>
                </a:solidFill>
              </a:rPr>
              <a:t>CNN</a:t>
            </a:r>
            <a:r>
              <a:rPr sz="1300" b="0" i="0">
                <a:solidFill>
                  <a:srgbClr val="2B2118"/>
                </a:solidFill>
              </a:rPr>
              <a:t>: covariate image windows → spatial context</a:t>
            </a:r>
          </a:p>
          <a:p>
            <a:pPr marL="228600" indent="-228600">
              <a:spcAft>
                <a:spcPts val="400"/>
              </a:spcAft>
              <a:buFont typeface="Arial"/>
              <a:buChar char="•"/>
            </a:pPr>
            <a:r>
              <a:rPr sz="1300" b="0" i="0">
                <a:solidFill>
                  <a:srgbClr val="2B2118"/>
                </a:solidFill>
              </a:rPr>
              <a:t>1-D CNN on soil spectra</a:t>
            </a:r>
          </a:p>
          <a:p>
            <a:pPr marL="228600" indent="-228600">
              <a:spcAft>
                <a:spcPts val="400"/>
              </a:spcAft>
              <a:buFont typeface="Arial"/>
              <a:buChar char="•"/>
            </a:pPr>
            <a:r>
              <a:rPr sz="1300" b="1" i="0">
                <a:solidFill>
                  <a:srgbClr val="2B2118"/>
                </a:solidFill>
              </a:rPr>
              <a:t>ResNet / LSM-ResNet</a:t>
            </a:r>
            <a:r>
              <a:rPr sz="1300" b="0" i="0">
                <a:solidFill>
                  <a:srgbClr val="2B2118"/>
                </a:solidFill>
              </a:rPr>
              <a:t> for SOM</a:t>
            </a:r>
          </a:p>
        </p:txBody>
      </p:sp>
      <p:sp>
        <p:nvSpPr>
          <p:cNvPr id="17" name="Rounded Rectangle 16"/>
          <p:cNvSpPr/>
          <p:nvPr/>
        </p:nvSpPr>
        <p:spPr>
          <a:xfrm>
            <a:off x="548640" y="5349240"/>
            <a:ext cx="11064240" cy="685800"/>
          </a:xfrm>
          <a:prstGeom prst="roundRect">
            <a:avLst>
              <a:gd name="adj" fmla="val 6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376672"/>
            <a:ext cx="10698480" cy="640080"/>
          </a:xfrm>
          <a:prstGeom prst="rect">
            <a:avLst/>
          </a:prstGeom>
          <a:noFill/>
        </p:spPr>
        <p:txBody>
          <a:bodyPr wrap="square" lIns="27432" rIns="27432" tIns="27432" bIns="27432" anchor="ctr">
            <a:spAutoFit/>
          </a:bodyPr>
          <a:lstStyle/>
          <a:p>
            <a:pPr marL="0" indent="0">
              <a:spcAft>
                <a:spcPts val="400"/>
              </a:spcAft>
              <a:buNone/>
            </a:pPr>
            <a:r>
              <a:rPr sz="1300" b="0" i="0">
                <a:solidFill>
                  <a:srgbClr val="FFFFFF"/>
                </a:solidFill>
              </a:rPr>
              <a:t>Output type: </a:t>
            </a:r>
            <a:r>
              <a:rPr sz="1300" b="1" i="0">
                <a:solidFill>
                  <a:srgbClr val="FFFFFF"/>
                </a:solidFill>
              </a:rPr>
              <a:t>classification</a:t>
            </a:r>
            <a:r>
              <a:rPr sz="1300" b="0" i="0">
                <a:solidFill>
                  <a:srgbClr val="FFFFFF"/>
                </a:solidFill>
              </a:rPr>
              <a:t> → soil classes · </a:t>
            </a:r>
            <a:r>
              <a:rPr sz="1300" b="1" i="0">
                <a:solidFill>
                  <a:srgbClr val="FFFFFF"/>
                </a:solidFill>
              </a:rPr>
              <a:t>regression</a:t>
            </a:r>
            <a:r>
              <a:rPr sz="1300" b="0" i="0">
                <a:solidFill>
                  <a:srgbClr val="FFFFFF"/>
                </a:solidFill>
              </a:rPr>
              <a:t> → continuous properties.  Limits: data needs, non-linearity, preprocessing, stationarity assumptions</a:t>
            </a:r>
          </a:p>
        </p:txBody>
      </p:sp>
      <p:sp>
        <p:nvSpPr>
          <p:cNvPr id="19" name="TextBox 18"/>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Sindhushree et al. (2025) Digital soil mapping: a review of techniques, applications and emerging trends. J. Sci. Res. Rep. 31(7):1151–58, Section 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Step 4: from 2-D maps to pseudo-3-D soil carbon (Edgeroi)</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Oval 3"/>
          <p:cNvSpPr/>
          <p:nvPr/>
        </p:nvSpPr>
        <p:spPr>
          <a:xfrm>
            <a:off x="548640" y="1389888"/>
            <a:ext cx="365760" cy="365760"/>
          </a:xfrm>
          <a:prstGeom prst="ellipse">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1</a:t>
            </a:r>
          </a:p>
        </p:txBody>
      </p:sp>
      <p:sp>
        <p:nvSpPr>
          <p:cNvPr id="5" name="Rounded Rectangle 4"/>
          <p:cNvSpPr/>
          <p:nvPr/>
        </p:nvSpPr>
        <p:spPr>
          <a:xfrm>
            <a:off x="1005840" y="1325880"/>
            <a:ext cx="3931920" cy="493776"/>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2B2118"/>
                </a:solidFill>
              </a:rPr>
              <a:t>Compile soil observations + covariates</a:t>
            </a:r>
          </a:p>
        </p:txBody>
      </p:sp>
      <p:cxnSp>
        <p:nvCxnSpPr>
          <p:cNvPr id="6" name="Connector 5"/>
          <p:cNvCxnSpPr/>
          <p:nvPr/>
        </p:nvCxnSpPr>
        <p:spPr>
          <a:xfrm>
            <a:off x="731520" y="1755648"/>
            <a:ext cx="0" cy="219456"/>
          </a:xfrm>
          <a:prstGeom prst="line">
            <a:avLst/>
          </a:prstGeom>
          <a:ln w="15875">
            <a:solidFill>
              <a:srgbClr val="8A8178"/>
            </a:solidFill>
            <a:tailEnd type="triangle"/>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48640" y="1975103"/>
            <a:ext cx="365760" cy="365760"/>
          </a:xfrm>
          <a:prstGeom prst="ellipse">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2</a:t>
            </a:r>
          </a:p>
        </p:txBody>
      </p:sp>
      <p:sp>
        <p:nvSpPr>
          <p:cNvPr id="8" name="Rounded Rectangle 7"/>
          <p:cNvSpPr/>
          <p:nvPr/>
        </p:nvSpPr>
        <p:spPr>
          <a:xfrm>
            <a:off x="1005840" y="1911095"/>
            <a:ext cx="3931920" cy="493776"/>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2B2118"/>
                </a:solidFill>
              </a:rPr>
              <a:t>Bulk density by pedotransfer function</a:t>
            </a:r>
          </a:p>
        </p:txBody>
      </p:sp>
      <p:cxnSp>
        <p:nvCxnSpPr>
          <p:cNvPr id="9" name="Connector 8"/>
          <p:cNvCxnSpPr/>
          <p:nvPr/>
        </p:nvCxnSpPr>
        <p:spPr>
          <a:xfrm>
            <a:off x="731520" y="2340863"/>
            <a:ext cx="0" cy="219457"/>
          </a:xfrm>
          <a:prstGeom prst="line">
            <a:avLst/>
          </a:prstGeom>
          <a:ln w="15875">
            <a:solidFill>
              <a:srgbClr val="8A8178"/>
            </a:solidFill>
            <a:tailEnd type="triangle"/>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48640" y="2560320"/>
            <a:ext cx="365760" cy="365760"/>
          </a:xfrm>
          <a:prstGeom prst="ellipse">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3</a:t>
            </a:r>
          </a:p>
        </p:txBody>
      </p:sp>
      <p:sp>
        <p:nvSpPr>
          <p:cNvPr id="11" name="Rounded Rectangle 10"/>
          <p:cNvSpPr/>
          <p:nvPr/>
        </p:nvSpPr>
        <p:spPr>
          <a:xfrm>
            <a:off x="1005840" y="2496312"/>
            <a:ext cx="3931920" cy="493776"/>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2B2118"/>
                </a:solidFill>
              </a:rPr>
              <a:t>SOC on volume basis (kg m</a:t>
            </a:r>
            <a:r>
              <a:rPr sz="1250" b="0" i="0" baseline="30000">
                <a:solidFill>
                  <a:srgbClr val="2B2118"/>
                </a:solidFill>
              </a:rPr>
              <a:t>−3</a:t>
            </a:r>
            <a:r>
              <a:rPr sz="1250" b="0" i="0">
                <a:solidFill>
                  <a:srgbClr val="2B2118"/>
                </a:solidFill>
              </a:rPr>
              <a:t>)</a:t>
            </a:r>
          </a:p>
        </p:txBody>
      </p:sp>
      <p:cxnSp>
        <p:nvCxnSpPr>
          <p:cNvPr id="12" name="Connector 11"/>
          <p:cNvCxnSpPr/>
          <p:nvPr/>
        </p:nvCxnSpPr>
        <p:spPr>
          <a:xfrm>
            <a:off x="731520" y="2926080"/>
            <a:ext cx="0" cy="219456"/>
          </a:xfrm>
          <a:prstGeom prst="line">
            <a:avLst/>
          </a:prstGeom>
          <a:ln w="15875">
            <a:solidFill>
              <a:srgbClr val="8A8178"/>
            </a:solidFill>
            <a:tailEnd type="triangle"/>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48640" y="3145536"/>
            <a:ext cx="365760" cy="365760"/>
          </a:xfrm>
          <a:prstGeom prst="ellipse">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4</a:t>
            </a:r>
          </a:p>
        </p:txBody>
      </p:sp>
      <p:sp>
        <p:nvSpPr>
          <p:cNvPr id="14" name="Rounded Rectangle 13"/>
          <p:cNvSpPr/>
          <p:nvPr/>
        </p:nvSpPr>
        <p:spPr>
          <a:xfrm>
            <a:off x="1005840" y="3081528"/>
            <a:ext cx="3931920" cy="493776"/>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2B2118"/>
                </a:solidFill>
              </a:rPr>
              <a:t>Fit equal-area spline to SOC and ρ</a:t>
            </a:r>
            <a:r>
              <a:rPr sz="1250" b="0" i="0" baseline="-25000">
                <a:solidFill>
                  <a:srgbClr val="2B2118"/>
                </a:solidFill>
              </a:rPr>
              <a:t>b</a:t>
            </a:r>
          </a:p>
        </p:txBody>
      </p:sp>
      <p:cxnSp>
        <p:nvCxnSpPr>
          <p:cNvPr id="15" name="Connector 14"/>
          <p:cNvCxnSpPr/>
          <p:nvPr/>
        </p:nvCxnSpPr>
        <p:spPr>
          <a:xfrm>
            <a:off x="731520" y="3511296"/>
            <a:ext cx="0" cy="219456"/>
          </a:xfrm>
          <a:prstGeom prst="line">
            <a:avLst/>
          </a:prstGeom>
          <a:ln w="15875">
            <a:solidFill>
              <a:srgbClr val="8A8178"/>
            </a:solidFill>
            <a:tailEnd type="triangle"/>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48640" y="3730752"/>
            <a:ext cx="365760" cy="36576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5</a:t>
            </a:r>
          </a:p>
        </p:txBody>
      </p:sp>
      <p:sp>
        <p:nvSpPr>
          <p:cNvPr id="17" name="Rounded Rectangle 16"/>
          <p:cNvSpPr/>
          <p:nvPr/>
        </p:nvSpPr>
        <p:spPr>
          <a:xfrm>
            <a:off x="1005840" y="3666744"/>
            <a:ext cx="3931920" cy="493776"/>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2B2118"/>
                </a:solidFill>
              </a:rPr>
              <a:t>Join with covariates → calibration set</a:t>
            </a:r>
          </a:p>
        </p:txBody>
      </p:sp>
      <p:cxnSp>
        <p:nvCxnSpPr>
          <p:cNvPr id="18" name="Connector 17"/>
          <p:cNvCxnSpPr/>
          <p:nvPr/>
        </p:nvCxnSpPr>
        <p:spPr>
          <a:xfrm>
            <a:off x="731520" y="4096511"/>
            <a:ext cx="0" cy="219457"/>
          </a:xfrm>
          <a:prstGeom prst="line">
            <a:avLst/>
          </a:prstGeom>
          <a:ln w="15875">
            <a:solidFill>
              <a:srgbClr val="8A8178"/>
            </a:solidFill>
            <a:tailEnd type="triangle"/>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48640" y="4315968"/>
            <a:ext cx="365760" cy="36576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6</a:t>
            </a:r>
          </a:p>
        </p:txBody>
      </p:sp>
      <p:sp>
        <p:nvSpPr>
          <p:cNvPr id="20" name="Rounded Rectangle 19"/>
          <p:cNvSpPr/>
          <p:nvPr/>
        </p:nvSpPr>
        <p:spPr>
          <a:xfrm>
            <a:off x="1005840" y="4251960"/>
            <a:ext cx="3931920" cy="493776"/>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2B2118"/>
                </a:solidFill>
              </a:rPr>
              <a:t>Model spline parameters from covariates</a:t>
            </a:r>
          </a:p>
        </p:txBody>
      </p:sp>
      <p:cxnSp>
        <p:nvCxnSpPr>
          <p:cNvPr id="21" name="Connector 20"/>
          <p:cNvCxnSpPr/>
          <p:nvPr/>
        </p:nvCxnSpPr>
        <p:spPr>
          <a:xfrm>
            <a:off x="731520" y="4681728"/>
            <a:ext cx="0" cy="219456"/>
          </a:xfrm>
          <a:prstGeom prst="line">
            <a:avLst/>
          </a:prstGeom>
          <a:ln w="15875">
            <a:solidFill>
              <a:srgbClr val="8A8178"/>
            </a:solidFill>
            <a:tailEnd type="triangle"/>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548640" y="4901184"/>
            <a:ext cx="365760" cy="365760"/>
          </a:xfrm>
          <a:prstGeom prst="ellipse">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7</a:t>
            </a:r>
          </a:p>
        </p:txBody>
      </p:sp>
      <p:sp>
        <p:nvSpPr>
          <p:cNvPr id="23" name="Rounded Rectangle 22"/>
          <p:cNvSpPr/>
          <p:nvPr/>
        </p:nvSpPr>
        <p:spPr>
          <a:xfrm>
            <a:off x="1005840" y="4837176"/>
            <a:ext cx="3931920" cy="493776"/>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2B2118"/>
                </a:solidFill>
              </a:rPr>
              <a:t>Map whole area (90 m) for SOC and ρ</a:t>
            </a:r>
            <a:r>
              <a:rPr sz="1250" b="0" i="0" baseline="-25000">
                <a:solidFill>
                  <a:srgbClr val="2B2118"/>
                </a:solidFill>
              </a:rPr>
              <a:t>b</a:t>
            </a:r>
          </a:p>
        </p:txBody>
      </p:sp>
      <p:cxnSp>
        <p:nvCxnSpPr>
          <p:cNvPr id="24" name="Connector 23"/>
          <p:cNvCxnSpPr/>
          <p:nvPr/>
        </p:nvCxnSpPr>
        <p:spPr>
          <a:xfrm>
            <a:off x="731520" y="5266944"/>
            <a:ext cx="0" cy="219456"/>
          </a:xfrm>
          <a:prstGeom prst="line">
            <a:avLst/>
          </a:prstGeom>
          <a:ln w="15875">
            <a:solidFill>
              <a:srgbClr val="8A8178"/>
            </a:solidFill>
            <a:tailEnd type="triangle"/>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548640" y="5486400"/>
            <a:ext cx="365760" cy="365760"/>
          </a:xfrm>
          <a:prstGeom prst="ellipse">
            <a:avLst/>
          </a:prstGeom>
          <a:solidFill>
            <a:srgbClr val="A44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8</a:t>
            </a:r>
          </a:p>
        </p:txBody>
      </p:sp>
      <p:sp>
        <p:nvSpPr>
          <p:cNvPr id="26" name="Rounded Rectangle 25"/>
          <p:cNvSpPr/>
          <p:nvPr/>
        </p:nvSpPr>
        <p:spPr>
          <a:xfrm>
            <a:off x="1005840" y="5422392"/>
            <a:ext cx="3931920" cy="493776"/>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2B2118"/>
                </a:solidFill>
              </a:rPr>
              <a:t>Calculate prediction uncertainty</a:t>
            </a:r>
          </a:p>
        </p:txBody>
      </p:sp>
      <p:sp>
        <p:nvSpPr>
          <p:cNvPr id="27" name="Rounded Rectangle 26"/>
          <p:cNvSpPr/>
          <p:nvPr/>
        </p:nvSpPr>
        <p:spPr>
          <a:xfrm>
            <a:off x="5212080" y="1325880"/>
            <a:ext cx="6400800" cy="301752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m_edgeroi.png"/>
          <p:cNvPicPr>
            <a:picLocks noChangeAspect="1"/>
          </p:cNvPicPr>
          <p:nvPr/>
        </p:nvPicPr>
        <p:blipFill>
          <a:blip r:embed="rId3"/>
          <a:stretch>
            <a:fillRect/>
          </a:stretch>
        </p:blipFill>
        <p:spPr>
          <a:xfrm>
            <a:off x="5311566" y="1399032"/>
            <a:ext cx="6201826" cy="2871215"/>
          </a:xfrm>
          <a:prstGeom prst="rect">
            <a:avLst/>
          </a:prstGeom>
        </p:spPr>
      </p:pic>
      <p:sp>
        <p:nvSpPr>
          <p:cNvPr id="29" name="TextBox 28"/>
          <p:cNvSpPr txBox="1"/>
          <p:nvPr/>
        </p:nvSpPr>
        <p:spPr>
          <a:xfrm>
            <a:off x="5212080" y="4379976"/>
            <a:ext cx="640080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Fig. 1.8 of Minasny et al. (2013): carbon density to 1 m, Edgeroi; profiles of C density and cumulative C vs soil mass at two points</a:t>
            </a:r>
          </a:p>
        </p:txBody>
      </p:sp>
      <p:sp>
        <p:nvSpPr>
          <p:cNvPr id="30" name="Rounded Rectangle 29"/>
          <p:cNvSpPr/>
          <p:nvPr/>
        </p:nvSpPr>
        <p:spPr>
          <a:xfrm>
            <a:off x="5212080" y="4892040"/>
            <a:ext cx="6400800" cy="11430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49240" y="4937760"/>
            <a:ext cx="6126480" cy="1051560"/>
          </a:xfrm>
          <a:prstGeom prst="rect">
            <a:avLst/>
          </a:prstGeom>
          <a:noFill/>
        </p:spPr>
        <p:txBody>
          <a:bodyPr wrap="square" lIns="27432" rIns="27432" tIns="27432" bIns="27432" anchor="t">
            <a:spAutoFit/>
          </a:bodyPr>
          <a:lstStyle/>
          <a:p>
            <a:pPr marL="0" indent="0">
              <a:spcAft>
                <a:spcPts val="400"/>
              </a:spcAft>
              <a:buNone/>
            </a:pPr>
            <a:r>
              <a:rPr sz="1250" b="1" i="0">
                <a:solidFill>
                  <a:srgbClr val="2B2118"/>
                </a:solidFill>
              </a:rPr>
              <a:t>Edgeroi, NSW</a:t>
            </a:r>
            <a:r>
              <a:rPr sz="1250" b="0" i="0">
                <a:solidFill>
                  <a:srgbClr val="2B2118"/>
                </a:solidFill>
              </a:rPr>
              <a:t>: 1500 km²; 341 profiles (210 on a 2.8 km triangular grid); 6 depths to 2.6 m; covariates: DEM derivatives, Landsat TM, gamma radiometrics</a:t>
            </a:r>
          </a:p>
        </p:txBody>
      </p:sp>
      <p:sp>
        <p:nvSpPr>
          <p:cNvPr id="32" name="TextBox 31"/>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Minasny, McBratney, Malone &amp; Wheeler (2013) Digital mapping of soil carbon. Adv. Agron. 118:1–47, Sections 5.4–5.6 (after Malone et al. 2009)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Step 5: uncertainty and validation</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TextBox 3"/>
          <p:cNvSpPr txBox="1"/>
          <p:nvPr/>
        </p:nvSpPr>
        <p:spPr>
          <a:xfrm>
            <a:off x="548640" y="1325880"/>
            <a:ext cx="5760720" cy="365760"/>
          </a:xfrm>
          <a:prstGeom prst="rect">
            <a:avLst/>
          </a:prstGeom>
          <a:noFill/>
        </p:spPr>
        <p:txBody>
          <a:bodyPr wrap="square" lIns="27432" rIns="27432" tIns="27432" bIns="27432" anchor="t">
            <a:spAutoFit/>
          </a:bodyPr>
          <a:lstStyle/>
          <a:p>
            <a:pPr marL="0" indent="0">
              <a:spcAft>
                <a:spcPts val="400"/>
              </a:spcAft>
              <a:buNone/>
            </a:pPr>
            <a:r>
              <a:rPr sz="1600" b="1" i="0">
                <a:solidFill>
                  <a:srgbClr val="8C5A2B"/>
                </a:solidFill>
              </a:rPr>
              <a:t>Empirical uncertainty (Malone et al. 2011)</a:t>
            </a:r>
          </a:p>
        </p:txBody>
      </p:sp>
      <p:sp>
        <p:nvSpPr>
          <p:cNvPr id="5" name="Rounded Rectangle 4"/>
          <p:cNvSpPr/>
          <p:nvPr/>
        </p:nvSpPr>
        <p:spPr>
          <a:xfrm>
            <a:off x="548640" y="1783080"/>
            <a:ext cx="3657600" cy="64008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Covariate space</a:t>
            </a:r>
          </a:p>
        </p:txBody>
      </p:sp>
      <p:cxnSp>
        <p:nvCxnSpPr>
          <p:cNvPr id="6" name="Connector 5"/>
          <p:cNvCxnSpPr/>
          <p:nvPr/>
        </p:nvCxnSpPr>
        <p:spPr>
          <a:xfrm>
            <a:off x="2377440" y="2423160"/>
            <a:ext cx="0" cy="18288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48640" y="2606040"/>
            <a:ext cx="3657600" cy="64008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FFFFFF"/>
                </a:solidFill>
              </a:rPr>
              <a:t>Fuzzy k-means with extragrades → clusters</a:t>
            </a:r>
          </a:p>
        </p:txBody>
      </p:sp>
      <p:cxnSp>
        <p:nvCxnSpPr>
          <p:cNvPr id="8" name="Connector 7"/>
          <p:cNvCxnSpPr/>
          <p:nvPr/>
        </p:nvCxnSpPr>
        <p:spPr>
          <a:xfrm>
            <a:off x="2377440" y="3246120"/>
            <a:ext cx="0" cy="18288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3429000"/>
            <a:ext cx="3657600" cy="64008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FFFFFF"/>
                </a:solidFill>
              </a:rPr>
              <a:t>Model errors per cluster → prediction interval</a:t>
            </a:r>
          </a:p>
        </p:txBody>
      </p:sp>
      <p:cxnSp>
        <p:nvCxnSpPr>
          <p:cNvPr id="10" name="Connector 9"/>
          <p:cNvCxnSpPr/>
          <p:nvPr/>
        </p:nvCxnSpPr>
        <p:spPr>
          <a:xfrm>
            <a:off x="2377440" y="4069080"/>
            <a:ext cx="0" cy="18288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4251960"/>
            <a:ext cx="3657600" cy="64008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0" i="0">
                <a:solidFill>
                  <a:srgbClr val="FFFFFF"/>
                </a:solidFill>
              </a:rPr>
              <a:t>Pixel PI = membership-weighted average</a:t>
            </a:r>
          </a:p>
        </p:txBody>
      </p:sp>
      <p:cxnSp>
        <p:nvCxnSpPr>
          <p:cNvPr id="12" name="Connector 11"/>
          <p:cNvCxnSpPr/>
          <p:nvPr/>
        </p:nvCxnSpPr>
        <p:spPr>
          <a:xfrm>
            <a:off x="2377440" y="4892040"/>
            <a:ext cx="0" cy="18288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5074920"/>
            <a:ext cx="3657600" cy="640080"/>
          </a:xfrm>
          <a:prstGeom prst="roundRect">
            <a:avLst>
              <a:gd name="adj" fmla="val 9000"/>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Upper / lower limit maps</a:t>
            </a:r>
          </a:p>
        </p:txBody>
      </p:sp>
      <p:sp>
        <p:nvSpPr>
          <p:cNvPr id="14" name="Rounded Rectangle 13"/>
          <p:cNvSpPr/>
          <p:nvPr/>
        </p:nvSpPr>
        <p:spPr>
          <a:xfrm>
            <a:off x="4434840" y="1783080"/>
            <a:ext cx="2103120" cy="39319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828800"/>
            <a:ext cx="1920240" cy="3840480"/>
          </a:xfrm>
          <a:prstGeom prst="rect">
            <a:avLst/>
          </a:prstGeom>
          <a:noFill/>
        </p:spPr>
        <p:txBody>
          <a:bodyPr wrap="square" lIns="27432" rIns="27432" tIns="27432" bIns="27432" anchor="t">
            <a:spAutoFit/>
          </a:bodyPr>
          <a:lstStyle/>
          <a:p>
            <a:pPr marL="0" indent="0">
              <a:spcAft>
                <a:spcPts val="400"/>
              </a:spcAft>
              <a:buNone/>
            </a:pPr>
            <a:r>
              <a:rPr sz="1400" b="1" i="0">
                <a:solidFill>
                  <a:srgbClr val="2E7D7A"/>
                </a:solidFill>
              </a:rPr>
              <a:t>Other methods</a:t>
            </a:r>
          </a:p>
          <a:p>
            <a:pPr marL="228600" indent="-228600">
              <a:spcAft>
                <a:spcPts val="400"/>
              </a:spcAft>
              <a:buFont typeface="Arial"/>
              <a:buChar char="•"/>
            </a:pPr>
            <a:r>
              <a:rPr sz="1200" b="0" i="0">
                <a:solidFill>
                  <a:srgbClr val="2B2118"/>
                </a:solidFill>
              </a:rPr>
              <a:t>Kriging variance</a:t>
            </a:r>
          </a:p>
          <a:p>
            <a:pPr marL="228600" indent="-228600">
              <a:spcAft>
                <a:spcPts val="400"/>
              </a:spcAft>
              <a:buFont typeface="Arial"/>
              <a:buChar char="•"/>
            </a:pPr>
            <a:r>
              <a:rPr sz="1200" b="0" i="0">
                <a:solidFill>
                  <a:srgbClr val="2B2118"/>
                </a:solidFill>
              </a:rPr>
              <a:t>Monte Carlo, bootstrap, Bayesian (1000–10 000 runs: costly)</a:t>
            </a:r>
          </a:p>
          <a:p>
            <a:pPr marL="228600" indent="-228600">
              <a:spcAft>
                <a:spcPts val="400"/>
              </a:spcAft>
              <a:buFont typeface="Arial"/>
              <a:buChar char="•"/>
            </a:pPr>
            <a:r>
              <a:rPr sz="1200" b="0" i="0">
                <a:solidFill>
                  <a:srgbClr val="2B2118"/>
                </a:solidFill>
              </a:rPr>
              <a:t>Error propagation (Goidts 2009): main sources = SOC concentration and rock fragments</a:t>
            </a:r>
          </a:p>
        </p:txBody>
      </p:sp>
      <p:sp>
        <p:nvSpPr>
          <p:cNvPr id="16" name="TextBox 15"/>
          <p:cNvSpPr txBox="1"/>
          <p:nvPr/>
        </p:nvSpPr>
        <p:spPr>
          <a:xfrm>
            <a:off x="6812280" y="1325880"/>
            <a:ext cx="4800600" cy="365760"/>
          </a:xfrm>
          <a:prstGeom prst="rect">
            <a:avLst/>
          </a:prstGeom>
          <a:noFill/>
        </p:spPr>
        <p:txBody>
          <a:bodyPr wrap="square" lIns="27432" rIns="27432" tIns="27432" bIns="27432" anchor="t">
            <a:spAutoFit/>
          </a:bodyPr>
          <a:lstStyle/>
          <a:p>
            <a:pPr marL="0" indent="0">
              <a:spcAft>
                <a:spcPts val="400"/>
              </a:spcAft>
              <a:buNone/>
            </a:pPr>
            <a:r>
              <a:rPr sz="1600" b="1" i="0">
                <a:solidFill>
                  <a:srgbClr val="8C5A2B"/>
                </a:solidFill>
              </a:rPr>
              <a:t>Validation options</a:t>
            </a:r>
          </a:p>
        </p:txBody>
      </p:sp>
      <p:sp>
        <p:nvSpPr>
          <p:cNvPr id="17" name="Rounded Rectangle 16"/>
          <p:cNvSpPr/>
          <p:nvPr/>
        </p:nvSpPr>
        <p:spPr>
          <a:xfrm>
            <a:off x="6812280" y="1783080"/>
            <a:ext cx="4800600" cy="86868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Cross-validation</a:t>
            </a:r>
          </a:p>
          <a:p>
            <a:pPr marL="0" indent="0" algn="ctr">
              <a:spcAft>
                <a:spcPts val="100"/>
              </a:spcAft>
              <a:buNone/>
            </a:pPr>
            <a:r>
              <a:rPr sz="1250" b="0" i="0">
                <a:solidFill>
                  <a:srgbClr val="2B2118"/>
                </a:solidFill>
              </a:rPr>
              <a:t>Leave-one-out or n-fold</a:t>
            </a:r>
          </a:p>
        </p:txBody>
      </p:sp>
      <p:sp>
        <p:nvSpPr>
          <p:cNvPr id="18" name="Rounded Rectangle 17"/>
          <p:cNvSpPr/>
          <p:nvPr/>
        </p:nvSpPr>
        <p:spPr>
          <a:xfrm>
            <a:off x="6812280" y="2807208"/>
            <a:ext cx="4800600" cy="86868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Random holdback</a:t>
            </a:r>
          </a:p>
          <a:p>
            <a:pPr marL="0" indent="0" algn="ctr">
              <a:spcAft>
                <a:spcPts val="100"/>
              </a:spcAft>
              <a:buNone/>
            </a:pPr>
            <a:r>
              <a:rPr sz="1250" b="0" i="0">
                <a:solidFill>
                  <a:srgbClr val="2B2118"/>
                </a:solidFill>
              </a:rPr>
              <a:t>~30% withheld from calibration</a:t>
            </a:r>
          </a:p>
        </p:txBody>
      </p:sp>
      <p:sp>
        <p:nvSpPr>
          <p:cNvPr id="19" name="Rounded Rectangle 18"/>
          <p:cNvSpPr/>
          <p:nvPr/>
        </p:nvSpPr>
        <p:spPr>
          <a:xfrm>
            <a:off x="6812280" y="3831336"/>
            <a:ext cx="4800600" cy="86868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Independent probability sample</a:t>
            </a:r>
          </a:p>
          <a:p>
            <a:pPr marL="0" indent="0" algn="ctr">
              <a:spcAft>
                <a:spcPts val="100"/>
              </a:spcAft>
              <a:buNone/>
            </a:pPr>
            <a:r>
              <a:rPr sz="1250" b="0" i="0">
                <a:solidFill>
                  <a:srgbClr val="FFFFFF"/>
                </a:solidFill>
              </a:rPr>
              <a:t>Stratified simple random; unbiased map accuracy (Brus 2011)</a:t>
            </a:r>
          </a:p>
        </p:txBody>
      </p:sp>
      <p:sp>
        <p:nvSpPr>
          <p:cNvPr id="20" name="Rounded Rectangle 19"/>
          <p:cNvSpPr/>
          <p:nvPr/>
        </p:nvSpPr>
        <p:spPr>
          <a:xfrm>
            <a:off x="6812280" y="4892040"/>
            <a:ext cx="4800600" cy="822960"/>
          </a:xfrm>
          <a:prstGeom prst="roundRect">
            <a:avLst>
              <a:gd name="adj" fmla="val 6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0" y="4919472"/>
            <a:ext cx="4526280" cy="777240"/>
          </a:xfrm>
          <a:prstGeom prst="rect">
            <a:avLst/>
          </a:prstGeom>
          <a:noFill/>
        </p:spPr>
        <p:txBody>
          <a:bodyPr wrap="square" lIns="27432" rIns="27432" tIns="27432" bIns="27432" anchor="ctr">
            <a:spAutoFit/>
          </a:bodyPr>
          <a:lstStyle/>
          <a:p>
            <a:pPr marL="0" indent="0">
              <a:spcAft>
                <a:spcPts val="400"/>
              </a:spcAft>
              <a:buNone/>
            </a:pPr>
            <a:r>
              <a:rPr sz="1250" b="0" i="0">
                <a:solidFill>
                  <a:srgbClr val="FFFFFF"/>
                </a:solidFill>
              </a:rPr>
              <a:t>Half the reviewed studies reported </a:t>
            </a:r>
            <a:r>
              <a:rPr sz="1250" b="1" i="0">
                <a:solidFill>
                  <a:srgbClr val="FFFFFF"/>
                </a:solidFill>
              </a:rPr>
              <a:t>no validation</a:t>
            </a:r>
            <a:r>
              <a:rPr sz="1250" b="0" i="0">
                <a:solidFill>
                  <a:srgbClr val="FFFFFF"/>
                </a:solidFill>
              </a:rPr>
              <a:t>; most reported </a:t>
            </a:r>
            <a:r>
              <a:rPr sz="1250" b="1" i="0">
                <a:solidFill>
                  <a:srgbClr val="FFFFFF"/>
                </a:solidFill>
              </a:rPr>
              <a:t>no uncertainty</a:t>
            </a:r>
          </a:p>
        </p:txBody>
      </p:sp>
      <p:sp>
        <p:nvSpPr>
          <p:cNvPr id="22" name="TextBox 21"/>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Minasny, McBratney, Malone &amp; Wheeler (2013) Digital mapping of soil carbon. Adv. Agron. 118:1–47, Section 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Mapping and predicting soil carbon change</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4572000" cy="411480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_change.png"/>
          <p:cNvPicPr>
            <a:picLocks noChangeAspect="1"/>
          </p:cNvPicPr>
          <p:nvPr/>
        </p:nvPicPr>
        <p:blipFill>
          <a:blip r:embed="rId3"/>
          <a:stretch>
            <a:fillRect/>
          </a:stretch>
        </p:blipFill>
        <p:spPr>
          <a:xfrm>
            <a:off x="621792" y="1993334"/>
            <a:ext cx="4425696" cy="2779890"/>
          </a:xfrm>
          <a:prstGeom prst="rect">
            <a:avLst/>
          </a:prstGeom>
        </p:spPr>
      </p:pic>
      <p:sp>
        <p:nvSpPr>
          <p:cNvPr id="6" name="TextBox 5"/>
          <p:cNvSpPr txBox="1"/>
          <p:nvPr/>
        </p:nvSpPr>
        <p:spPr>
          <a:xfrm>
            <a:off x="548640" y="5477256"/>
            <a:ext cx="457200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Fig. 1.11 of Minasny et al. (2013): current SOC 0–10 cm (left) and simulated change 2010–2020 after land-use change (right), Hunter Valley</a:t>
            </a:r>
          </a:p>
        </p:txBody>
      </p:sp>
      <p:sp>
        <p:nvSpPr>
          <p:cNvPr id="7" name="Rounded Rectangle 6"/>
          <p:cNvSpPr/>
          <p:nvPr/>
        </p:nvSpPr>
        <p:spPr>
          <a:xfrm>
            <a:off x="5486400" y="1325880"/>
            <a:ext cx="6126480" cy="548640"/>
          </a:xfrm>
          <a:prstGeom prst="roundRect">
            <a:avLst>
              <a:gd name="adj" fmla="val 9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400" b="1" i="0">
                <a:solidFill>
                  <a:srgbClr val="FFFFFF"/>
                </a:solidFill>
              </a:rPr>
              <a:t>DSM map of current soil carbon</a:t>
            </a:r>
          </a:p>
        </p:txBody>
      </p:sp>
      <p:cxnSp>
        <p:nvCxnSpPr>
          <p:cNvPr id="8" name="Connector 7"/>
          <p:cNvCxnSpPr/>
          <p:nvPr/>
        </p:nvCxnSpPr>
        <p:spPr>
          <a:xfrm>
            <a:off x="6949440" y="1874519"/>
            <a:ext cx="0" cy="365761"/>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149840" y="1874519"/>
            <a:ext cx="0" cy="365761"/>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0" y="2240280"/>
            <a:ext cx="2971800" cy="54864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(1) Dynamic–mechanistic</a:t>
            </a:r>
          </a:p>
        </p:txBody>
      </p:sp>
      <p:sp>
        <p:nvSpPr>
          <p:cNvPr id="11" name="Rounded Rectangle 10"/>
          <p:cNvSpPr/>
          <p:nvPr/>
        </p:nvSpPr>
        <p:spPr>
          <a:xfrm>
            <a:off x="8641080" y="2240280"/>
            <a:ext cx="2971800" cy="54864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(2) Static–empirical</a:t>
            </a:r>
          </a:p>
        </p:txBody>
      </p:sp>
      <p:sp>
        <p:nvSpPr>
          <p:cNvPr id="12" name="Rounded Rectangle 11"/>
          <p:cNvSpPr/>
          <p:nvPr/>
        </p:nvSpPr>
        <p:spPr>
          <a:xfrm>
            <a:off x="5486400" y="2880360"/>
            <a:ext cx="2971800" cy="288036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77840" y="2926080"/>
            <a:ext cx="2788920" cy="2788920"/>
          </a:xfrm>
          <a:prstGeom prst="rect">
            <a:avLst/>
          </a:prstGeom>
          <a:noFill/>
        </p:spPr>
        <p:txBody>
          <a:bodyPr wrap="square" lIns="27432" rIns="27432" tIns="27432" bIns="27432" anchor="t">
            <a:spAutoFit/>
          </a:bodyPr>
          <a:lstStyle/>
          <a:p>
            <a:pPr marL="0" indent="0">
              <a:spcAft>
                <a:spcPts val="400"/>
              </a:spcAft>
              <a:buNone/>
            </a:pPr>
            <a:r>
              <a:rPr sz="1250" b="0" i="0">
                <a:solidFill>
                  <a:srgbClr val="2B2118"/>
                </a:solidFill>
              </a:rPr>
              <a:t>Run a C model in every pixel under a scenario</a:t>
            </a:r>
          </a:p>
          <a:p>
            <a:pPr marL="0" indent="0" algn="ctr">
              <a:spcAft>
                <a:spcPts val="400"/>
              </a:spcAft>
              <a:buNone/>
            </a:pPr>
            <a:r>
              <a:rPr sz="1500" b="0" i="0">
                <a:solidFill>
                  <a:srgbClr val="2B2118"/>
                </a:solidFill>
                <a:latin typeface="Cambria"/>
              </a:rPr>
              <a:t>dC/dt = hI − kC</a:t>
            </a:r>
          </a:p>
          <a:p>
            <a:pPr marL="0" indent="0">
              <a:spcAft>
                <a:spcPts val="400"/>
              </a:spcAft>
              <a:buNone/>
            </a:pPr>
            <a:r>
              <a:rPr sz="1250" b="0" i="0">
                <a:solidFill>
                  <a:srgbClr val="2B2118"/>
                </a:solidFill>
                <a:latin typeface="Cambria"/>
              </a:rPr>
              <a:t>Spatial: dC/dt = I − kC + q</a:t>
            </a:r>
            <a:r>
              <a:rPr sz="1250" b="0" i="0" baseline="-25000">
                <a:solidFill>
                  <a:srgbClr val="2B2118"/>
                </a:solidFill>
                <a:latin typeface="Cambria"/>
              </a:rPr>
              <a:t>m</a:t>
            </a:r>
            <a:r>
              <a:rPr sz="1250" b="0" i="0">
                <a:solidFill>
                  <a:srgbClr val="2B2118"/>
                </a:solidFill>
                <a:latin typeface="Cambria"/>
              </a:rPr>
              <a:t> + (q</a:t>
            </a:r>
            <a:r>
              <a:rPr sz="1250" b="0" i="0" baseline="-25000">
                <a:solidFill>
                  <a:srgbClr val="2B2118"/>
                </a:solidFill>
                <a:latin typeface="Cambria"/>
              </a:rPr>
              <a:t>a</a:t>
            </a:r>
            <a:r>
              <a:rPr sz="1250" b="0" i="0">
                <a:solidFill>
                  <a:srgbClr val="2B2118"/>
                </a:solidFill>
                <a:latin typeface="Cambria"/>
              </a:rPr>
              <a:t> − q</a:t>
            </a:r>
            <a:r>
              <a:rPr sz="1250" b="0" i="0" baseline="-25000">
                <a:solidFill>
                  <a:srgbClr val="2B2118"/>
                </a:solidFill>
                <a:latin typeface="Cambria"/>
              </a:rPr>
              <a:t>l</a:t>
            </a:r>
            <a:r>
              <a:rPr sz="1250" b="0" i="0">
                <a:solidFill>
                  <a:srgbClr val="2B2118"/>
                </a:solidFill>
                <a:latin typeface="Cambria"/>
              </a:rPr>
              <a:t>)</a:t>
            </a:r>
          </a:p>
          <a:p>
            <a:pPr marL="0" indent="0">
              <a:spcAft>
                <a:spcPts val="400"/>
              </a:spcAft>
              <a:buNone/>
            </a:pPr>
            <a:r>
              <a:rPr sz="1200" b="0" i="0">
                <a:solidFill>
                  <a:srgbClr val="4A3B2E"/>
                </a:solidFill>
              </a:rPr>
              <a:t>Hunter Valley, vineyard → pasture: SOC 2.9 → 3.3 g 100 g</a:t>
            </a:r>
            <a:r>
              <a:rPr sz="1200" b="0" i="0" baseline="30000">
                <a:solidFill>
                  <a:srgbClr val="4A3B2E"/>
                </a:solidFill>
              </a:rPr>
              <a:t>−1</a:t>
            </a:r>
            <a:r>
              <a:rPr sz="1200" b="0" i="0">
                <a:solidFill>
                  <a:srgbClr val="4A3B2E"/>
                </a:solidFill>
              </a:rPr>
              <a:t> (2010–2020)</a:t>
            </a:r>
          </a:p>
        </p:txBody>
      </p:sp>
      <p:sp>
        <p:nvSpPr>
          <p:cNvPr id="14" name="Rounded Rectangle 13"/>
          <p:cNvSpPr/>
          <p:nvPr/>
        </p:nvSpPr>
        <p:spPr>
          <a:xfrm>
            <a:off x="8641080" y="2880360"/>
            <a:ext cx="2971800" cy="288036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32520" y="2926080"/>
            <a:ext cx="2788920" cy="2788920"/>
          </a:xfrm>
          <a:prstGeom prst="rect">
            <a:avLst/>
          </a:prstGeom>
          <a:noFill/>
        </p:spPr>
        <p:txBody>
          <a:bodyPr wrap="square" lIns="27432" rIns="27432" tIns="27432" bIns="27432" anchor="t">
            <a:spAutoFit/>
          </a:bodyPr>
          <a:lstStyle/>
          <a:p>
            <a:pPr marL="0" indent="0">
              <a:spcAft>
                <a:spcPts val="400"/>
              </a:spcAft>
              <a:buNone/>
            </a:pPr>
            <a:r>
              <a:rPr sz="1250" b="0" i="0">
                <a:solidFill>
                  <a:srgbClr val="2B2118"/>
                </a:solidFill>
              </a:rPr>
              <a:t>Semi-dynamic scorpan: shift a factor by its trend and re-predict</a:t>
            </a:r>
          </a:p>
          <a:p>
            <a:pPr marL="0" indent="0" algn="ctr">
              <a:spcAft>
                <a:spcPts val="400"/>
              </a:spcAft>
              <a:buNone/>
            </a:pPr>
            <a:r>
              <a:rPr sz="1500" b="0" i="0">
                <a:solidFill>
                  <a:srgbClr val="2B2118"/>
                </a:solidFill>
                <a:latin typeface="Cambria"/>
              </a:rPr>
              <a:t>c(t + Δt) = c + (Δc/Δt)·Δt</a:t>
            </a:r>
          </a:p>
          <a:p>
            <a:pPr marL="0" indent="0">
              <a:spcAft>
                <a:spcPts val="400"/>
              </a:spcAft>
              <a:buNone/>
            </a:pPr>
            <a:r>
              <a:rPr sz="1200" b="0" i="0">
                <a:solidFill>
                  <a:srgbClr val="4A3B2E"/>
                </a:solidFill>
              </a:rPr>
              <a:t>Monitoring networks map observed change (England &amp; Wales: −0.6% yr</a:t>
            </a:r>
            <a:r>
              <a:rPr sz="1200" b="0" i="0" baseline="30000">
                <a:solidFill>
                  <a:srgbClr val="4A3B2E"/>
                </a:solidFill>
              </a:rPr>
              <a:t>−1</a:t>
            </a:r>
            <a:r>
              <a:rPr sz="1200" b="0" i="0">
                <a:solidFill>
                  <a:srgbClr val="4A3B2E"/>
                </a:solidFill>
              </a:rPr>
              <a:t>, 1978–2003)</a:t>
            </a:r>
          </a:p>
        </p:txBody>
      </p:sp>
      <p:sp>
        <p:nvSpPr>
          <p:cNvPr id="16" name="TextBox 15"/>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Minasny, McBratney, Malone &amp; Wheeler (2013) Digital mapping of soil carbon. Adv. Agron. 118:1–47, Section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Methodology lessons and interview one-liners</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2606040" cy="11430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2331720" cy="1051560"/>
          </a:xfrm>
          <a:prstGeom prst="rect">
            <a:avLst/>
          </a:prstGeom>
          <a:noFill/>
        </p:spPr>
        <p:txBody>
          <a:bodyPr wrap="square" lIns="27432" rIns="27432" tIns="27432" bIns="27432" anchor="t">
            <a:spAutoFit/>
          </a:bodyPr>
          <a:lstStyle/>
          <a:p>
            <a:pPr marL="0" indent="0">
              <a:spcAft>
                <a:spcPts val="400"/>
              </a:spcAft>
              <a:buNone/>
            </a:pPr>
            <a:r>
              <a:rPr sz="1400" b="1" i="0">
                <a:solidFill>
                  <a:srgbClr val="8C5A2B"/>
                </a:solidFill>
              </a:rPr>
              <a:t>Representative samples</a:t>
            </a:r>
          </a:p>
          <a:p>
            <a:pPr marL="0" indent="0">
              <a:spcAft>
                <a:spcPts val="400"/>
              </a:spcAft>
              <a:buNone/>
            </a:pPr>
            <a:r>
              <a:rPr sz="1250" b="0" i="0">
                <a:solidFill>
                  <a:srgbClr val="2B2118"/>
                </a:solidFill>
              </a:rPr>
              <a:t>Biased samples give a biased model</a:t>
            </a:r>
          </a:p>
        </p:txBody>
      </p:sp>
      <p:sp>
        <p:nvSpPr>
          <p:cNvPr id="6" name="Rounded Rectangle 5"/>
          <p:cNvSpPr/>
          <p:nvPr/>
        </p:nvSpPr>
        <p:spPr>
          <a:xfrm>
            <a:off x="3337560" y="1325880"/>
            <a:ext cx="2606040" cy="11430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0" y="1371600"/>
            <a:ext cx="2331720" cy="1051560"/>
          </a:xfrm>
          <a:prstGeom prst="rect">
            <a:avLst/>
          </a:prstGeom>
          <a:noFill/>
        </p:spPr>
        <p:txBody>
          <a:bodyPr wrap="square" lIns="27432" rIns="27432" tIns="27432" bIns="27432" anchor="t">
            <a:spAutoFit/>
          </a:bodyPr>
          <a:lstStyle/>
          <a:p>
            <a:pPr marL="0" indent="0">
              <a:spcAft>
                <a:spcPts val="400"/>
              </a:spcAft>
              <a:buNone/>
            </a:pPr>
            <a:r>
              <a:rPr sz="1400" b="1" i="0">
                <a:solidFill>
                  <a:srgbClr val="2E7D7A"/>
                </a:solidFill>
              </a:rPr>
              <a:t>Covariate quality</a:t>
            </a:r>
          </a:p>
          <a:p>
            <a:pPr marL="0" indent="0">
              <a:spcAft>
                <a:spcPts val="400"/>
              </a:spcAft>
              <a:buNone/>
            </a:pPr>
            <a:r>
              <a:rPr sz="1250" b="0" i="0">
                <a:solidFill>
                  <a:srgbClr val="2B2118"/>
                </a:solidFill>
              </a:rPr>
              <a:t>Poor covariates → map artefacts</a:t>
            </a:r>
          </a:p>
        </p:txBody>
      </p:sp>
      <p:sp>
        <p:nvSpPr>
          <p:cNvPr id="8" name="Rounded Rectangle 7"/>
          <p:cNvSpPr/>
          <p:nvPr/>
        </p:nvSpPr>
        <p:spPr>
          <a:xfrm>
            <a:off x="6126479" y="1325880"/>
            <a:ext cx="2606040" cy="11430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371600"/>
            <a:ext cx="2331720" cy="1051560"/>
          </a:xfrm>
          <a:prstGeom prst="rect">
            <a:avLst/>
          </a:prstGeom>
          <a:noFill/>
        </p:spPr>
        <p:txBody>
          <a:bodyPr wrap="square" lIns="27432" rIns="27432" tIns="27432" bIns="27432" anchor="t">
            <a:spAutoFit/>
          </a:bodyPr>
          <a:lstStyle/>
          <a:p>
            <a:pPr marL="0" indent="0">
              <a:spcAft>
                <a:spcPts val="400"/>
              </a:spcAft>
              <a:buNone/>
            </a:pPr>
            <a:r>
              <a:rPr sz="1400" b="1" i="0">
                <a:solidFill>
                  <a:srgbClr val="C9A227"/>
                </a:solidFill>
              </a:rPr>
              <a:t>Scale</a:t>
            </a:r>
          </a:p>
          <a:p>
            <a:pPr marL="0" indent="0">
              <a:spcAft>
                <a:spcPts val="400"/>
              </a:spcAft>
              <a:buNone/>
            </a:pPr>
            <a:r>
              <a:rPr sz="1250" b="0" i="0">
                <a:solidFill>
                  <a:srgbClr val="2B2118"/>
                </a:solidFill>
              </a:rPr>
              <a:t>Covariate–soil links change with resolution</a:t>
            </a:r>
          </a:p>
        </p:txBody>
      </p:sp>
      <p:sp>
        <p:nvSpPr>
          <p:cNvPr id="10" name="Rounded Rectangle 9"/>
          <p:cNvSpPr/>
          <p:nvPr/>
        </p:nvSpPr>
        <p:spPr>
          <a:xfrm>
            <a:off x="8915399" y="1325880"/>
            <a:ext cx="2606040" cy="11430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59" y="1371600"/>
            <a:ext cx="2331720" cy="1051560"/>
          </a:xfrm>
          <a:prstGeom prst="rect">
            <a:avLst/>
          </a:prstGeom>
          <a:noFill/>
        </p:spPr>
        <p:txBody>
          <a:bodyPr wrap="square" lIns="27432" rIns="27432" tIns="27432" bIns="27432" anchor="t">
            <a:spAutoFit/>
          </a:bodyPr>
          <a:lstStyle/>
          <a:p>
            <a:pPr marL="0" indent="0">
              <a:spcAft>
                <a:spcPts val="400"/>
              </a:spcAft>
              <a:buNone/>
            </a:pPr>
            <a:r>
              <a:rPr sz="1400" b="1" i="0">
                <a:solidFill>
                  <a:srgbClr val="6B8E4E"/>
                </a:solidFill>
              </a:rPr>
              <a:t>Time</a:t>
            </a:r>
          </a:p>
          <a:p>
            <a:pPr marL="0" indent="0">
              <a:spcAft>
                <a:spcPts val="400"/>
              </a:spcAft>
              <a:buNone/>
            </a:pPr>
            <a:r>
              <a:rPr sz="1250" b="0" i="0">
                <a:solidFill>
                  <a:srgbClr val="2B2118"/>
                </a:solidFill>
              </a:rPr>
              <a:t>Standardise legacy data; link to process models</a:t>
            </a:r>
          </a:p>
        </p:txBody>
      </p:sp>
      <p:sp>
        <p:nvSpPr>
          <p:cNvPr id="12" name="Rounded Rectangle 11"/>
          <p:cNvSpPr/>
          <p:nvPr/>
        </p:nvSpPr>
        <p:spPr>
          <a:xfrm>
            <a:off x="548640" y="2697480"/>
            <a:ext cx="3547872" cy="15544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70632"/>
            <a:ext cx="3273552" cy="1417320"/>
          </a:xfrm>
          <a:prstGeom prst="rect">
            <a:avLst/>
          </a:prstGeom>
          <a:noFill/>
        </p:spPr>
        <p:txBody>
          <a:bodyPr wrap="square" lIns="27432" rIns="27432" tIns="27432" bIns="27432" anchor="t">
            <a:spAutoFit/>
          </a:bodyPr>
          <a:lstStyle/>
          <a:p>
            <a:pPr marL="0" indent="0">
              <a:spcAft>
                <a:spcPts val="400"/>
              </a:spcAft>
              <a:buNone/>
            </a:pPr>
            <a:r>
              <a:rPr sz="1350" b="1" i="0">
                <a:solidFill>
                  <a:srgbClr val="2B2118"/>
                </a:solidFill>
              </a:rPr>
              <a:t>Q. Five steps of DSM?</a:t>
            </a:r>
          </a:p>
          <a:p>
            <a:pPr marL="0" indent="0">
              <a:spcAft>
                <a:spcPts val="400"/>
              </a:spcAft>
              <a:buNone/>
            </a:pPr>
            <a:r>
              <a:rPr sz="1350" b="1" i="0">
                <a:solidFill>
                  <a:srgbClr val="8C5A2B"/>
                </a:solidFill>
              </a:rPr>
              <a:t>→ Observations → covariates → calibrate → predict → validate + uncertainty</a:t>
            </a:r>
          </a:p>
        </p:txBody>
      </p:sp>
      <p:sp>
        <p:nvSpPr>
          <p:cNvPr id="14" name="Rounded Rectangle 13"/>
          <p:cNvSpPr/>
          <p:nvPr/>
        </p:nvSpPr>
        <p:spPr>
          <a:xfrm>
            <a:off x="4270248" y="2697480"/>
            <a:ext cx="3547872" cy="15544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2770632"/>
            <a:ext cx="3273552" cy="1417320"/>
          </a:xfrm>
          <a:prstGeom prst="rect">
            <a:avLst/>
          </a:prstGeom>
          <a:noFill/>
        </p:spPr>
        <p:txBody>
          <a:bodyPr wrap="square" lIns="27432" rIns="27432" tIns="27432" bIns="27432" anchor="t">
            <a:spAutoFit/>
          </a:bodyPr>
          <a:lstStyle/>
          <a:p>
            <a:pPr marL="0" indent="0">
              <a:spcAft>
                <a:spcPts val="400"/>
              </a:spcAft>
              <a:buNone/>
            </a:pPr>
            <a:r>
              <a:rPr sz="1350" b="1" i="0">
                <a:solidFill>
                  <a:srgbClr val="2B2118"/>
                </a:solidFill>
              </a:rPr>
              <a:t>Q. What is an equal-area spline?</a:t>
            </a:r>
          </a:p>
          <a:p>
            <a:pPr marL="0" indent="0">
              <a:spcAft>
                <a:spcPts val="400"/>
              </a:spcAft>
              <a:buNone/>
            </a:pPr>
            <a:r>
              <a:rPr sz="1350" b="1" i="0">
                <a:solidFill>
                  <a:srgbClr val="8C5A2B"/>
                </a:solidFill>
              </a:rPr>
              <a:t>→ Quadratic pieces joined at horizons; preserves each layer mean</a:t>
            </a:r>
          </a:p>
        </p:txBody>
      </p:sp>
      <p:sp>
        <p:nvSpPr>
          <p:cNvPr id="16" name="Rounded Rectangle 15"/>
          <p:cNvSpPr/>
          <p:nvPr/>
        </p:nvSpPr>
        <p:spPr>
          <a:xfrm>
            <a:off x="7991856" y="2697480"/>
            <a:ext cx="3547872" cy="15544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9016" y="2770632"/>
            <a:ext cx="3273552" cy="1417320"/>
          </a:xfrm>
          <a:prstGeom prst="rect">
            <a:avLst/>
          </a:prstGeom>
          <a:noFill/>
        </p:spPr>
        <p:txBody>
          <a:bodyPr wrap="square" lIns="27432" rIns="27432" tIns="27432" bIns="27432" anchor="t">
            <a:spAutoFit/>
          </a:bodyPr>
          <a:lstStyle/>
          <a:p>
            <a:pPr marL="0" indent="0">
              <a:spcAft>
                <a:spcPts val="400"/>
              </a:spcAft>
              <a:buNone/>
            </a:pPr>
            <a:r>
              <a:rPr sz="1350" b="1" i="0">
                <a:solidFill>
                  <a:srgbClr val="2B2118"/>
                </a:solidFill>
              </a:rPr>
              <a:t>Q. Why bulk density?</a:t>
            </a:r>
          </a:p>
          <a:p>
            <a:pPr marL="0" indent="0">
              <a:spcAft>
                <a:spcPts val="400"/>
              </a:spcAft>
              <a:buNone/>
            </a:pPr>
            <a:r>
              <a:rPr sz="1350" b="1" i="0">
                <a:solidFill>
                  <a:srgbClr val="8C5A2B"/>
                </a:solidFill>
              </a:rPr>
              <a:t>→ To convert concentration to stock: C</a:t>
            </a:r>
            <a:r>
              <a:rPr sz="1350" b="1" i="0" baseline="-25000">
                <a:solidFill>
                  <a:srgbClr val="8C5A2B"/>
                </a:solidFill>
              </a:rPr>
              <a:t>v</a:t>
            </a:r>
            <a:r>
              <a:rPr sz="1350" b="1" i="0">
                <a:solidFill>
                  <a:srgbClr val="8C5A2B"/>
                </a:solidFill>
              </a:rPr>
              <a:t> = C</a:t>
            </a:r>
            <a:r>
              <a:rPr sz="1350" b="1" i="0" baseline="-25000">
                <a:solidFill>
                  <a:srgbClr val="8C5A2B"/>
                </a:solidFill>
              </a:rPr>
              <a:t>m</a:t>
            </a:r>
            <a:r>
              <a:rPr sz="1350" b="1" i="0">
                <a:solidFill>
                  <a:srgbClr val="8C5A2B"/>
                </a:solidFill>
              </a:rPr>
              <a:t>·ρ</a:t>
            </a:r>
            <a:r>
              <a:rPr sz="1350" b="1" i="0" baseline="-25000">
                <a:solidFill>
                  <a:srgbClr val="8C5A2B"/>
                </a:solidFill>
              </a:rPr>
              <a:t>b</a:t>
            </a:r>
            <a:r>
              <a:rPr sz="1350" b="1" i="0">
                <a:solidFill>
                  <a:srgbClr val="8C5A2B"/>
                </a:solidFill>
              </a:rPr>
              <a:t>, integrate over depth</a:t>
            </a:r>
          </a:p>
        </p:txBody>
      </p:sp>
      <p:sp>
        <p:nvSpPr>
          <p:cNvPr id="18" name="Rounded Rectangle 17"/>
          <p:cNvSpPr/>
          <p:nvPr/>
        </p:nvSpPr>
        <p:spPr>
          <a:xfrm>
            <a:off x="548640" y="4389120"/>
            <a:ext cx="3547872" cy="15544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462272"/>
            <a:ext cx="3273552" cy="1417320"/>
          </a:xfrm>
          <a:prstGeom prst="rect">
            <a:avLst/>
          </a:prstGeom>
          <a:noFill/>
        </p:spPr>
        <p:txBody>
          <a:bodyPr wrap="square" lIns="27432" rIns="27432" tIns="27432" bIns="27432" anchor="t">
            <a:spAutoFit/>
          </a:bodyPr>
          <a:lstStyle/>
          <a:p>
            <a:pPr marL="0" indent="0">
              <a:spcAft>
                <a:spcPts val="400"/>
              </a:spcAft>
              <a:buNone/>
            </a:pPr>
            <a:r>
              <a:rPr sz="1350" b="1" i="0">
                <a:solidFill>
                  <a:srgbClr val="2B2118"/>
                </a:solidFill>
              </a:rPr>
              <a:t>Q. What is cLHS?</a:t>
            </a:r>
          </a:p>
          <a:p>
            <a:pPr marL="0" indent="0">
              <a:spcAft>
                <a:spcPts val="400"/>
              </a:spcAft>
              <a:buNone/>
            </a:pPr>
            <a:r>
              <a:rPr sz="1350" b="1" i="0">
                <a:solidFill>
                  <a:srgbClr val="8C5A2B"/>
                </a:solidFill>
              </a:rPr>
              <a:t>→ Sampling that covers the full distribution of every covariate</a:t>
            </a:r>
          </a:p>
        </p:txBody>
      </p:sp>
      <p:sp>
        <p:nvSpPr>
          <p:cNvPr id="20" name="Rounded Rectangle 19"/>
          <p:cNvSpPr/>
          <p:nvPr/>
        </p:nvSpPr>
        <p:spPr>
          <a:xfrm>
            <a:off x="4270248" y="4389120"/>
            <a:ext cx="3547872" cy="15544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07408" y="4462272"/>
            <a:ext cx="3273552" cy="1417320"/>
          </a:xfrm>
          <a:prstGeom prst="rect">
            <a:avLst/>
          </a:prstGeom>
          <a:noFill/>
        </p:spPr>
        <p:txBody>
          <a:bodyPr wrap="square" lIns="27432" rIns="27432" tIns="27432" bIns="27432" anchor="t">
            <a:spAutoFit/>
          </a:bodyPr>
          <a:lstStyle/>
          <a:p>
            <a:pPr marL="0" indent="0">
              <a:spcAft>
                <a:spcPts val="400"/>
              </a:spcAft>
              <a:buNone/>
            </a:pPr>
            <a:r>
              <a:rPr sz="1350" b="1" i="0">
                <a:solidFill>
                  <a:srgbClr val="2B2118"/>
                </a:solidFill>
              </a:rPr>
              <a:t>Q. How is a DSM map validated?</a:t>
            </a:r>
          </a:p>
          <a:p>
            <a:pPr marL="0" indent="0">
              <a:spcAft>
                <a:spcPts val="400"/>
              </a:spcAft>
              <a:buNone/>
            </a:pPr>
            <a:r>
              <a:rPr sz="1350" b="1" i="0">
                <a:solidFill>
                  <a:srgbClr val="8C5A2B"/>
                </a:solidFill>
              </a:rPr>
              <a:t>→ CV, 30% holdback or independent probability sample; report R², RMSE</a:t>
            </a:r>
          </a:p>
        </p:txBody>
      </p:sp>
      <p:sp>
        <p:nvSpPr>
          <p:cNvPr id="22" name="Rounded Rectangle 21"/>
          <p:cNvSpPr/>
          <p:nvPr/>
        </p:nvSpPr>
        <p:spPr>
          <a:xfrm>
            <a:off x="7991856" y="4389120"/>
            <a:ext cx="3547872" cy="15544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9016" y="4462272"/>
            <a:ext cx="3273552" cy="1417320"/>
          </a:xfrm>
          <a:prstGeom prst="rect">
            <a:avLst/>
          </a:prstGeom>
          <a:noFill/>
        </p:spPr>
        <p:txBody>
          <a:bodyPr wrap="square" lIns="27432" rIns="27432" tIns="27432" bIns="27432" anchor="t">
            <a:spAutoFit/>
          </a:bodyPr>
          <a:lstStyle/>
          <a:p>
            <a:pPr marL="0" indent="0">
              <a:spcAft>
                <a:spcPts val="400"/>
              </a:spcAft>
              <a:buNone/>
            </a:pPr>
            <a:r>
              <a:rPr sz="1350" b="1" i="0">
                <a:solidFill>
                  <a:srgbClr val="2B2118"/>
                </a:solidFill>
              </a:rPr>
              <a:t>Q. Pseudo-3-D map?</a:t>
            </a:r>
          </a:p>
          <a:p>
            <a:pPr marL="0" indent="0">
              <a:spcAft>
                <a:spcPts val="400"/>
              </a:spcAft>
              <a:buNone/>
            </a:pPr>
            <a:r>
              <a:rPr sz="1350" b="1" i="0">
                <a:solidFill>
                  <a:srgbClr val="8C5A2B"/>
                </a:solidFill>
              </a:rPr>
              <a:t>→ Map depth-function parameters → carbon at any depth</a:t>
            </a:r>
          </a:p>
        </p:txBody>
      </p:sp>
      <p:sp>
        <p:nvSpPr>
          <p:cNvPr id="24" name="TextBox 23"/>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Minasny, McBratney, Malone &amp; Wheeler (2013) Digital mapping of soil carbon. Adv. Agron. 118:1–47, Section 8; Sindhushree et al. (2025)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468880"/>
            <a:ext cx="10698480" cy="1188720"/>
          </a:xfrm>
          <a:prstGeom prst="rect">
            <a:avLst/>
          </a:prstGeom>
          <a:noFill/>
          <a:ln/>
        </p:spPr>
        <p:txBody>
          <a:bodyPr wrap="square" rtlCol="0" anchor="b"/>
          <a:lstStyle/>
          <a:p>
            <a:pPr marL="0" indent="0" algn="l">
              <a:buNone/>
            </a:pPr>
            <a:r>
              <a:rPr lang="en-US" sz="4000" b="1" dirty="0">
                <a:solidFill>
                  <a:schemeClr val="bg1"/>
                </a:solidFill>
              </a:rPr>
              <a:t>Conventional approach: geostatistics</a:t>
            </a: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rtlCol="0" anchor="t"/>
          <a:lstStyle/>
          <a:p>
            <a:pPr marL="0" indent="0">
              <a:buNone/>
            </a:pPr>
            <a:r>
              <a:rPr lang="en-US" sz="1800" dirty="0">
                <a:solidFill>
                  <a:srgbClr val="E8DCCB"/>
                </a:solidFill>
              </a:rPr>
              <a:t>Regionalised variable theory: model the spatial autocorrelation, then predict by kriging</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A99A"/>
                </a:solidFill>
              </a:defRPr>
            </a:lvl1pPr>
          </a:lstStyle>
          <a:p>
            <a:pPr algn="r"/>
            <a:fld id="{F7021451-1387-4CA6-816F-3879F97B5CBC}" type="slidenum">
              <a:rPr lang="en-US" b="0"/>
              <a:t>8</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The semivariogram: describing spatial dependence</a:t>
            </a:r>
            <a:endParaRPr lang="en-US" sz="3200" dirty="0"/>
          </a:p>
        </p:txBody>
      </p:sp>
      <p:pic>
        <p:nvPicPr>
          <p:cNvPr id="4" name="Image 0" descr="my_semivariogram"/>
          <p:cNvPicPr>
            <a:picLocks noChangeAspect="1"/>
          </p:cNvPicPr>
          <p:nvPr/>
        </p:nvPicPr>
        <p:blipFill>
          <a:blip r:embed="rId3"/>
          <a:stretch>
            <a:fillRect/>
          </a:stretch>
        </p:blipFill>
        <p:spPr>
          <a:xfrm>
            <a:off x="457200" y="1537970"/>
            <a:ext cx="6492240" cy="4147820"/>
          </a:xfrm>
          <a:prstGeom prst="rect">
            <a:avLst/>
          </a:prstGeom>
        </p:spPr>
      </p:pic>
      <p:sp>
        <p:nvSpPr>
          <p:cNvPr id="5" name="Shape 1"/>
          <p:cNvSpPr/>
          <p:nvPr/>
        </p:nvSpPr>
        <p:spPr>
          <a:xfrm>
            <a:off x="7178040" y="1325880"/>
            <a:ext cx="4434840" cy="1417320"/>
          </a:xfrm>
          <a:prstGeom prst="roundRect">
            <a:avLst>
              <a:gd name="adj" fmla="val 5161"/>
            </a:avLst>
          </a:prstGeom>
          <a:solidFill>
            <a:srgbClr val="F3F0EB"/>
          </a:solidFill>
          <a:ln/>
        </p:spPr>
      </p:sp>
      <p:sp>
        <p:nvSpPr>
          <p:cNvPr id="6" name="Text 2"/>
          <p:cNvSpPr txBox="1"/>
          <p:nvPr/>
        </p:nvSpPr>
        <p:spPr>
          <a:xfrm>
            <a:off x="7269480" y="1417320"/>
            <a:ext cx="4251960" cy="640080"/>
          </a:xfrm>
          <a:prstGeom prst="rect">
            <a:avLst/>
          </a:prstGeom>
          <a:noFill/>
          <a:ln/>
        </p:spPr>
        <p:txBody>
          <a:bodyPr wrap="square" rtlCol="0" anchor="ctr"/>
          <a:lstStyle/>
          <a:p>
            <a:pPr marL="0" indent="0" algn="ctr">
              <a:buNone/>
            </a:pPr>
            <a:r>
              <a:rPr lang="en-US" sz="2000" dirty="0">
                <a:solidFill>
                  <a:srgbClr val="2B2118"/>
                </a:solidFill>
                <a:latin typeface="Cambria" pitchFamily="34" charset="0"/>
                <a:ea typeface="Cambria" pitchFamily="34" charset="-122"/>
                <a:cs typeface="Cambria" pitchFamily="34" charset="-120"/>
              </a:rPr>
              <a:t>γ(h) = 1 ⁄ 2N(h)  Σ [ z(xᵢ) − z(xᵢ + h) ]²</a:t>
            </a:r>
            <a:endParaRPr lang="en-US" sz="2000" dirty="0"/>
          </a:p>
        </p:txBody>
      </p:sp>
      <p:sp>
        <p:nvSpPr>
          <p:cNvPr id="7" name="Text 3"/>
          <p:cNvSpPr txBox="1"/>
          <p:nvPr/>
        </p:nvSpPr>
        <p:spPr>
          <a:xfrm>
            <a:off x="7269480" y="2057400"/>
            <a:ext cx="4251960" cy="594360"/>
          </a:xfrm>
          <a:prstGeom prst="rect">
            <a:avLst/>
          </a:prstGeom>
          <a:noFill/>
          <a:ln/>
        </p:spPr>
        <p:txBody>
          <a:bodyPr wrap="square" rtlCol="0" anchor="ctr"/>
          <a:lstStyle/>
          <a:p>
            <a:pPr marL="0" indent="0" algn="ctr">
              <a:buNone/>
            </a:pPr>
            <a:r>
              <a:rPr lang="en-US" sz="1300" dirty="0">
                <a:solidFill>
                  <a:srgbClr val="4A3B2E"/>
                </a:solidFill>
              </a:rPr>
              <a:t>Matheron's method-of-moments estimator; N(h) = number of pairs at lag h</a:t>
            </a:r>
            <a:endParaRPr lang="en-US" sz="1300" dirty="0"/>
          </a:p>
        </p:txBody>
      </p:sp>
      <p:sp>
        <p:nvSpPr>
          <p:cNvPr id="8" name="Text 4"/>
          <p:cNvSpPr txBox="1"/>
          <p:nvPr/>
        </p:nvSpPr>
        <p:spPr>
          <a:xfrm>
            <a:off x="7178040" y="2926080"/>
            <a:ext cx="4434840" cy="3108960"/>
          </a:xfrm>
          <a:prstGeom prst="rect">
            <a:avLst/>
          </a:prstGeom>
          <a:noFill/>
          <a:ln/>
        </p:spPr>
        <p:txBody>
          <a:bodyPr wrap="square" lIns="25400" tIns="25400" rIns="25400" bIns="25400" rtlCol="0" anchor="t"/>
          <a:lstStyle/>
          <a:p>
            <a:pPr marL="190500" indent="-190500">
              <a:spcAft>
                <a:spcPts val="600"/>
              </a:spcAft>
              <a:buSzPct val="100000"/>
              <a:buChar char="•"/>
            </a:pPr>
            <a:r>
              <a:rPr lang="en-US" sz="1500" b="1" dirty="0">
                <a:solidFill>
                  <a:srgbClr val="2B2118"/>
                </a:solidFill>
              </a:rPr>
              <a:t>Nugget (c₀): </a:t>
            </a:r>
            <a:r>
              <a:rPr lang="en-US" sz="1500" dirty="0">
                <a:solidFill>
                  <a:srgbClr val="2B2118"/>
                </a:solidFill>
              </a:rPr>
              <a:t>variance at zero lag — measurement error plus variation finer than the sampling interval</a:t>
            </a:r>
            <a:endParaRPr lang="en-US" sz="1500" dirty="0"/>
          </a:p>
          <a:p>
            <a:pPr marL="190500" indent="-190500">
              <a:spcAft>
                <a:spcPts val="600"/>
              </a:spcAft>
              <a:buSzPct val="100000"/>
              <a:buChar char="•"/>
            </a:pPr>
            <a:r>
              <a:rPr lang="en-US" sz="1500" b="1" dirty="0">
                <a:solidFill>
                  <a:srgbClr val="2B2118"/>
                </a:solidFill>
              </a:rPr>
              <a:t>Sill (c₀ + c): </a:t>
            </a:r>
            <a:r>
              <a:rPr lang="en-US" sz="1500" dirty="0">
                <a:solidFill>
                  <a:srgbClr val="2B2118"/>
                </a:solidFill>
              </a:rPr>
              <a:t>total variance once pairs are independent</a:t>
            </a:r>
            <a:endParaRPr lang="en-US" sz="1500" dirty="0"/>
          </a:p>
          <a:p>
            <a:pPr marL="190500" indent="-190500">
              <a:spcAft>
                <a:spcPts val="600"/>
              </a:spcAft>
              <a:buSzPct val="100000"/>
              <a:buChar char="•"/>
            </a:pPr>
            <a:r>
              <a:rPr lang="en-US" sz="1500" b="1" dirty="0">
                <a:solidFill>
                  <a:srgbClr val="2B2118"/>
                </a:solidFill>
              </a:rPr>
              <a:t>Range (a): </a:t>
            </a:r>
            <a:r>
              <a:rPr lang="en-US" sz="1500" dirty="0">
                <a:solidFill>
                  <a:srgbClr val="2B2118"/>
                </a:solidFill>
              </a:rPr>
              <a:t>distance limit of autocorrelation; guides sample spacing and kriging neighbourhood</a:t>
            </a:r>
            <a:endParaRPr lang="en-US" sz="1500" dirty="0"/>
          </a:p>
          <a:p>
            <a:pPr marL="190500" indent="-190500">
              <a:spcAft>
                <a:spcPts val="600"/>
              </a:spcAft>
              <a:buSzPct val="100000"/>
              <a:buChar char="•"/>
            </a:pPr>
            <a:r>
              <a:rPr lang="en-US" sz="1500" b="1" dirty="0">
                <a:solidFill>
                  <a:srgbClr val="2B2118"/>
                </a:solidFill>
              </a:rPr>
              <a:t>Nugget : sill ratio </a:t>
            </a:r>
            <a:r>
              <a:rPr lang="en-US" sz="1500" dirty="0">
                <a:solidFill>
                  <a:srgbClr val="2B2118"/>
                </a:solidFill>
              </a:rPr>
              <a:t>&lt;25% strong, 25–75% moderate, &gt;75% weak spatial dependence</a:t>
            </a:r>
            <a:endParaRPr lang="en-US" sz="1500" dirty="0"/>
          </a:p>
        </p:txBody>
      </p:sp>
      <p:sp>
        <p:nvSpPr>
          <p:cNvPr id="9" name="Text 5"/>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Illustrative variogram drawn for this talk; formula after Oliver &amp; Webster (2014); dependence classes after Cambardella et al. (1994)</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9</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Choosing and fitting a variogram model</a:t>
            </a:r>
            <a:endParaRPr lang="en-US" sz="3200" dirty="0"/>
          </a:p>
        </p:txBody>
      </p:sp>
      <p:pic>
        <p:nvPicPr>
          <p:cNvPr id="4" name="Image 0" descr="my_models"/>
          <p:cNvPicPr>
            <a:picLocks noChangeAspect="1"/>
          </p:cNvPicPr>
          <p:nvPr/>
        </p:nvPicPr>
        <p:blipFill>
          <a:blip r:embed="rId3"/>
          <a:stretch>
            <a:fillRect/>
          </a:stretch>
        </p:blipFill>
        <p:spPr>
          <a:xfrm>
            <a:off x="457200" y="1310640"/>
            <a:ext cx="5120640" cy="3413760"/>
          </a:xfrm>
          <a:prstGeom prst="rect">
            <a:avLst/>
          </a:prstGeom>
        </p:spPr>
      </p:pic>
      <p:sp>
        <p:nvSpPr>
          <p:cNvPr id="5" name="Text 1"/>
          <p:cNvSpPr txBox="1"/>
          <p:nvPr/>
        </p:nvSpPr>
        <p:spPr>
          <a:xfrm>
            <a:off x="457200" y="4800600"/>
            <a:ext cx="5120640" cy="274320"/>
          </a:xfrm>
          <a:prstGeom prst="rect">
            <a:avLst/>
          </a:prstGeom>
          <a:noFill/>
          <a:ln/>
        </p:spPr>
        <p:txBody>
          <a:bodyPr wrap="square" lIns="0" tIns="0" rIns="0" bIns="0" rtlCol="0" anchor="ctr"/>
          <a:lstStyle/>
          <a:p>
            <a:pPr marL="0" indent="0" algn="ctr">
              <a:buNone/>
            </a:pPr>
            <a:r>
              <a:rPr lang="en-US" sz="1100" i="1" dirty="0">
                <a:solidFill>
                  <a:srgbClr val="8A8178"/>
                </a:solidFill>
              </a:rPr>
              <a:t>Common authorised models (same nugget, sill and range)</a:t>
            </a:r>
            <a:endParaRPr lang="en-US" sz="1100" dirty="0"/>
          </a:p>
        </p:txBody>
      </p:sp>
      <p:pic>
        <p:nvPicPr>
          <p:cNvPr id="6" name="Image 1" descr="k2_fig1_models"/>
          <p:cNvPicPr>
            <a:picLocks noChangeAspect="1"/>
          </p:cNvPicPr>
          <p:nvPr/>
        </p:nvPicPr>
        <p:blipFill>
          <a:blip r:embed="rId4"/>
          <a:stretch>
            <a:fillRect/>
          </a:stretch>
        </p:blipFill>
        <p:spPr>
          <a:xfrm>
            <a:off x="7281609" y="1234440"/>
            <a:ext cx="2993263" cy="4160520"/>
          </a:xfrm>
          <a:prstGeom prst="rect">
            <a:avLst/>
          </a:prstGeom>
        </p:spPr>
      </p:pic>
      <p:sp>
        <p:nvSpPr>
          <p:cNvPr id="7" name="Shape 2"/>
          <p:cNvSpPr/>
          <p:nvPr/>
        </p:nvSpPr>
        <p:spPr>
          <a:xfrm>
            <a:off x="7281609" y="1234440"/>
            <a:ext cx="2993263" cy="4160520"/>
          </a:xfrm>
          <a:prstGeom prst="rect">
            <a:avLst/>
          </a:prstGeom>
          <a:ln w="9525">
            <a:solidFill>
              <a:srgbClr val="D9D2C8"/>
            </a:solidFill>
            <a:prstDash val="solid"/>
          </a:ln>
        </p:spPr>
      </p:sp>
      <p:sp>
        <p:nvSpPr>
          <p:cNvPr id="8" name="Text 3"/>
          <p:cNvSpPr txBox="1"/>
          <p:nvPr/>
        </p:nvSpPr>
        <p:spPr>
          <a:xfrm>
            <a:off x="5943600" y="5440680"/>
            <a:ext cx="5669280" cy="274320"/>
          </a:xfrm>
          <a:prstGeom prst="rect">
            <a:avLst/>
          </a:prstGeom>
          <a:noFill/>
          <a:ln/>
        </p:spPr>
        <p:txBody>
          <a:bodyPr wrap="square" lIns="0" tIns="0" rIns="0" bIns="0" rtlCol="0" anchor="ctr"/>
          <a:lstStyle/>
          <a:p>
            <a:pPr marL="0" indent="0" algn="ctr">
              <a:buNone/>
            </a:pPr>
            <a:r>
              <a:rPr lang="en-US" sz="1100" i="1" dirty="0">
                <a:solidFill>
                  <a:srgbClr val="8A8178"/>
                </a:solidFill>
              </a:rPr>
              <a:t>Experimental variograms of log₁₀K⁺: 87 points (left) vs 434 points (right)</a:t>
            </a:r>
            <a:endParaRPr lang="en-US" sz="1100" dirty="0"/>
          </a:p>
        </p:txBody>
      </p:sp>
      <p:sp>
        <p:nvSpPr>
          <p:cNvPr id="9" name="Text 4"/>
          <p:cNvSpPr txBox="1"/>
          <p:nvPr/>
        </p:nvSpPr>
        <p:spPr>
          <a:xfrm>
            <a:off x="548640" y="5120640"/>
            <a:ext cx="5120640" cy="1005840"/>
          </a:xfrm>
          <a:prstGeom prst="rect">
            <a:avLst/>
          </a:prstGeom>
          <a:noFill/>
          <a:ln/>
        </p:spPr>
        <p:txBody>
          <a:bodyPr wrap="square" lIns="25400" tIns="25400" rIns="25400" bIns="25400" rtlCol="0" anchor="t"/>
          <a:lstStyle/>
          <a:p>
            <a:pPr marL="190500" indent="-190500">
              <a:spcAft>
                <a:spcPts val="600"/>
              </a:spcAft>
              <a:buSzPct val="100000"/>
              <a:buChar char="•"/>
            </a:pPr>
            <a:r>
              <a:rPr lang="en-US" sz="1400" b="1" dirty="0">
                <a:solidFill>
                  <a:srgbClr val="2B2118"/>
                </a:solidFill>
              </a:rPr>
              <a:t>Spherical / exponential: </a:t>
            </a:r>
            <a:r>
              <a:rPr lang="en-US" sz="1400" dirty="0">
                <a:solidFill>
                  <a:srgbClr val="2B2118"/>
                </a:solidFill>
              </a:rPr>
              <a:t>bounded; the workhorses of soil science</a:t>
            </a:r>
            <a:endParaRPr lang="en-US" sz="1400" dirty="0"/>
          </a:p>
          <a:p>
            <a:pPr marL="190500" indent="-190500">
              <a:spcAft>
                <a:spcPts val="600"/>
              </a:spcAft>
              <a:buSzPct val="100000"/>
              <a:buChar char="•"/>
            </a:pPr>
            <a:r>
              <a:rPr lang="en-US" sz="1400" b="1" dirty="0">
                <a:solidFill>
                  <a:srgbClr val="2B2118"/>
                </a:solidFill>
              </a:rPr>
              <a:t>Gaussian: </a:t>
            </a:r>
            <a:r>
              <a:rPr lang="en-US" sz="1400" dirty="0">
                <a:solidFill>
                  <a:srgbClr val="2B2118"/>
                </a:solidFill>
              </a:rPr>
              <a:t>very smooth processes (e.g. elevation)</a:t>
            </a:r>
            <a:endParaRPr lang="en-US" sz="1400" dirty="0"/>
          </a:p>
          <a:p>
            <a:pPr marL="190500" indent="-190500">
              <a:spcAft>
                <a:spcPts val="600"/>
              </a:spcAft>
              <a:buSzPct val="100000"/>
              <a:buChar char="•"/>
            </a:pPr>
            <a:r>
              <a:rPr lang="en-US" sz="1400" b="1" dirty="0">
                <a:solidFill>
                  <a:srgbClr val="2B2118"/>
                </a:solidFill>
              </a:rPr>
              <a:t>Power: </a:t>
            </a:r>
            <a:r>
              <a:rPr lang="en-US" sz="1400" dirty="0">
                <a:solidFill>
                  <a:srgbClr val="2B2118"/>
                </a:solidFill>
              </a:rPr>
              <a:t>unbounded — signals a trend or large-scale drift</a:t>
            </a:r>
            <a:endParaRPr lang="en-US" sz="1400" dirty="0"/>
          </a:p>
        </p:txBody>
      </p:sp>
      <p:sp>
        <p:nvSpPr>
          <p:cNvPr id="10" name="Text 5"/>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Right panel: Oliver &amp; Webster (2014) Catena 113:56–69, Fig. 1</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10</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The kriging family and its relatives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8346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512064">
                <a:tc>
                  <a:txBody>
                    <a:bodyPr/>
                    <a:lstStyle/>
                    <a:p>
                      <a:pPr marL="0" indent="0">
                        <a:buNone/>
                      </a:pPr>
                      <a:r>
                        <a:rPr lang="en-US" sz="1500" b="1" dirty="0">
                          <a:solidFill>
                            <a:srgbClr val="FFFFFF"/>
                          </a:solidFill>
                        </a:rPr>
                        <a:t>Method</a:t>
                      </a:r>
                      <a:endParaRPr lang="en-US" sz="15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8C5A2B"/>
                    </a:solidFill>
                  </a:tcPr>
                </a:tc>
                <a:tc>
                  <a:txBody>
                    <a:bodyPr/>
                    <a:lstStyle/>
                    <a:p>
                      <a:pPr marL="0" indent="0">
                        <a:buNone/>
                      </a:pPr>
                      <a:r>
                        <a:rPr lang="en-US" sz="1500" b="1" dirty="0">
                          <a:solidFill>
                            <a:srgbClr val="FFFFFF"/>
                          </a:solidFill>
                        </a:rPr>
                        <a:t>Treatment of the mean / extra information</a:t>
                      </a:r>
                      <a:endParaRPr lang="en-US" sz="15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8C5A2B"/>
                    </a:solidFill>
                  </a:tcPr>
                </a:tc>
                <a:tc>
                  <a:txBody>
                    <a:bodyPr/>
                    <a:lstStyle/>
                    <a:p>
                      <a:pPr marL="0" indent="0">
                        <a:buNone/>
                      </a:pPr>
                      <a:r>
                        <a:rPr lang="en-US" sz="1500" b="1" dirty="0">
                          <a:solidFill>
                            <a:srgbClr val="FFFFFF"/>
                          </a:solidFill>
                        </a:rPr>
                        <a:t>Typical soil use</a:t>
                      </a:r>
                      <a:endParaRPr lang="en-US" sz="15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8C5A2B"/>
                    </a:solidFill>
                  </a:tcPr>
                </a:tc>
                <a:extLst>
                  <a:ext uri="{0D108BD9-81ED-4DB2-BD59-A6C34878D82A}">
                    <a16:rowId xmlns:a16="http://schemas.microsoft.com/office/drawing/2014/main" val="10000"/>
                  </a:ext>
                </a:extLst>
              </a:tr>
              <a:tr h="512064">
                <a:tc>
                  <a:txBody>
                    <a:bodyPr/>
                    <a:lstStyle/>
                    <a:p>
                      <a:pPr marL="0" indent="0">
                        <a:buNone/>
                      </a:pPr>
                      <a:r>
                        <a:rPr lang="en-US" sz="1400" b="1" dirty="0">
                          <a:solidFill>
                            <a:srgbClr val="2B2118"/>
                          </a:solidFill>
                        </a:rPr>
                        <a:t>IDW, splines, Thiessen</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Deterministic weights by distance; no variogram, no error estimate</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Quick exploratory maps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400" b="1" dirty="0">
                          <a:solidFill>
                            <a:srgbClr val="2B2118"/>
                          </a:solidFill>
                        </a:rPr>
                        <a:t>Simple kriging (SK)</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Known, constant mean over the area</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Residuals with mean zero</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2"/>
                  </a:ext>
                </a:extLst>
              </a:tr>
              <a:tr h="512064">
                <a:tc>
                  <a:txBody>
                    <a:bodyPr/>
                    <a:lstStyle/>
                    <a:p>
                      <a:pPr marL="0" indent="0">
                        <a:buNone/>
                      </a:pPr>
                      <a:r>
                        <a:rPr lang="en-US" sz="1400" b="1" dirty="0">
                          <a:solidFill>
                            <a:srgbClr val="2B2118"/>
                          </a:solidFill>
                        </a:rPr>
                        <a:t>Ordinary kriging (OK)</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Unknown, locally constant mean; Σλ = 1</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Default for a single soil property</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400" b="1" dirty="0">
                          <a:solidFill>
                            <a:srgbClr val="2B2118"/>
                          </a:solidFill>
                        </a:rPr>
                        <a:t>Universal kriging / KED</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Mean is a trend in coordinates or covariates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Properties tied to relief or climate</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4"/>
                  </a:ext>
                </a:extLst>
              </a:tr>
              <a:tr h="512064">
                <a:tc>
                  <a:txBody>
                    <a:bodyPr/>
                    <a:lstStyle/>
                    <a:p>
                      <a:pPr marL="0" indent="0">
                        <a:buNone/>
                      </a:pPr>
                      <a:r>
                        <a:rPr lang="en-US" sz="1400" b="1" dirty="0">
                          <a:solidFill>
                            <a:srgbClr val="2B2118"/>
                          </a:solidFill>
                        </a:rPr>
                        <a:t>Co-kriging</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Uses a correlated secondary variable sampled at points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Sparse target, dense cheap proxy (e.g. EC)</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1400" b="1" dirty="0">
                          <a:solidFill>
                            <a:srgbClr val="2B2118"/>
                          </a:solidFill>
                        </a:rPr>
                        <a:t>Regression-kriging (RK)</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Regression on raster covariates + OK of residuals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DSM with RS/DEM covariates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6"/>
                  </a:ext>
                </a:extLst>
              </a:tr>
              <a:tr h="512064">
                <a:tc>
                  <a:txBody>
                    <a:bodyPr/>
                    <a:lstStyle/>
                    <a:p>
                      <a:pPr marL="0" indent="0">
                        <a:buNone/>
                      </a:pPr>
                      <a:r>
                        <a:rPr lang="en-US" sz="1400" b="1" dirty="0">
                          <a:solidFill>
                            <a:srgbClr val="2B2118"/>
                          </a:solidFill>
                        </a:rPr>
                        <a:t>Indicator kriging</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Probability of exceeding a threshold</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Risk maps (salinity, contamination)</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12064">
                <a:tc>
                  <a:txBody>
                    <a:bodyPr/>
                    <a:lstStyle/>
                    <a:p>
                      <a:pPr marL="0" indent="0">
                        <a:buNone/>
                      </a:pPr>
                      <a:r>
                        <a:rPr lang="en-US" sz="1400" b="1" dirty="0">
                          <a:solidFill>
                            <a:srgbClr val="2B2118"/>
                          </a:solidFill>
                        </a:rPr>
                        <a:t>Block kriging</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Predicts block averages, lower variance</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Field- or management-zone means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8"/>
                  </a:ext>
                </a:extLst>
              </a:tr>
            </a:tbl>
          </a:graphicData>
        </a:graphic>
      </p:graphicFrame>
      <p:sp>
        <p:nvSpPr>
          <p:cNvPr id="5" name="Text 1"/>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Compiled from Oliver &amp; Webster (2014) and Hengl et al. (2004) Geoderma 120:75–93</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11</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Ordinary kriging: prediction plus its own error map</a:t>
            </a:r>
            <a:endParaRPr lang="en-US" sz="3200" dirty="0"/>
          </a:p>
        </p:txBody>
      </p:sp>
      <p:pic>
        <p:nvPicPr>
          <p:cNvPr id="4" name="Image 0" descr="my_idw_ok"/>
          <p:cNvPicPr>
            <a:picLocks noChangeAspect="1"/>
          </p:cNvPicPr>
          <p:nvPr/>
        </p:nvPicPr>
        <p:blipFill>
          <a:blip r:embed="rId3"/>
          <a:stretch>
            <a:fillRect/>
          </a:stretch>
        </p:blipFill>
        <p:spPr>
          <a:xfrm>
            <a:off x="457200" y="1234440"/>
            <a:ext cx="11247120" cy="3749040"/>
          </a:xfrm>
          <a:prstGeom prst="rect">
            <a:avLst/>
          </a:prstGeom>
        </p:spPr>
      </p:pic>
      <p:sp>
        <p:nvSpPr>
          <p:cNvPr id="5" name="Shape 1"/>
          <p:cNvSpPr/>
          <p:nvPr/>
        </p:nvSpPr>
        <p:spPr>
          <a:xfrm>
            <a:off x="548640" y="5074920"/>
            <a:ext cx="3566160" cy="1005840"/>
          </a:xfrm>
          <a:prstGeom prst="roundRect">
            <a:avLst>
              <a:gd name="adj" fmla="val 7273"/>
            </a:avLst>
          </a:prstGeom>
          <a:solidFill>
            <a:srgbClr val="F3F0EB"/>
          </a:solidFill>
          <a:ln/>
        </p:spPr>
      </p:sp>
      <p:sp>
        <p:nvSpPr>
          <p:cNvPr id="6" name="Text 2"/>
          <p:cNvSpPr txBox="1"/>
          <p:nvPr/>
        </p:nvSpPr>
        <p:spPr>
          <a:xfrm>
            <a:off x="685800" y="5120640"/>
            <a:ext cx="3291840" cy="914400"/>
          </a:xfrm>
          <a:prstGeom prst="rect">
            <a:avLst/>
          </a:prstGeom>
          <a:noFill/>
          <a:ln/>
        </p:spPr>
        <p:txBody>
          <a:bodyPr wrap="square" lIns="25400" tIns="25400" rIns="25400" bIns="25400" rtlCol="0" anchor="ctr"/>
          <a:lstStyle/>
          <a:p>
            <a:pPr marL="0" indent="0" algn="ctr">
              <a:buNone/>
            </a:pPr>
            <a:r>
              <a:rPr lang="en-US" sz="1400" b="1" dirty="0">
                <a:solidFill>
                  <a:srgbClr val="8C5A2B"/>
                </a:solidFill>
              </a:rPr>
              <a:t>Predictor</a:t>
            </a:r>
            <a:endParaRPr lang="en-US" sz="1400" dirty="0"/>
          </a:p>
          <a:p>
            <a:pPr marL="0" indent="0" algn="ctr">
              <a:buNone/>
            </a:pPr>
            <a:r>
              <a:rPr lang="en-US" sz="1500" dirty="0">
                <a:solidFill>
                  <a:srgbClr val="2B2118"/>
                </a:solidFill>
                <a:latin typeface="Cambria" pitchFamily="34" charset="0"/>
                <a:ea typeface="Cambria" pitchFamily="34" charset="-122"/>
                <a:cs typeface="Cambria" pitchFamily="34" charset="-120"/>
              </a:rPr>
              <a:t>Ẑ(x₀) = Σ λᵢ z(xᵢ),   Σ λᵢ = 1</a:t>
            </a:r>
            <a:endParaRPr lang="en-US" sz="1400" dirty="0"/>
          </a:p>
        </p:txBody>
      </p:sp>
      <p:sp>
        <p:nvSpPr>
          <p:cNvPr id="7" name="Shape 3"/>
          <p:cNvSpPr/>
          <p:nvPr/>
        </p:nvSpPr>
        <p:spPr>
          <a:xfrm>
            <a:off x="4297680" y="5074920"/>
            <a:ext cx="3566160" cy="1005840"/>
          </a:xfrm>
          <a:prstGeom prst="roundRect">
            <a:avLst>
              <a:gd name="adj" fmla="val 7273"/>
            </a:avLst>
          </a:prstGeom>
          <a:solidFill>
            <a:srgbClr val="F3F0EB"/>
          </a:solidFill>
          <a:ln/>
        </p:spPr>
      </p:sp>
      <p:sp>
        <p:nvSpPr>
          <p:cNvPr id="8" name="Text 4"/>
          <p:cNvSpPr txBox="1"/>
          <p:nvPr/>
        </p:nvSpPr>
        <p:spPr>
          <a:xfrm>
            <a:off x="4434840" y="5120640"/>
            <a:ext cx="3291840" cy="914400"/>
          </a:xfrm>
          <a:prstGeom prst="rect">
            <a:avLst/>
          </a:prstGeom>
          <a:noFill/>
          <a:ln/>
        </p:spPr>
        <p:txBody>
          <a:bodyPr wrap="square" lIns="25400" tIns="25400" rIns="25400" bIns="25400" rtlCol="0" anchor="ctr"/>
          <a:lstStyle/>
          <a:p>
            <a:pPr marL="0" indent="0" algn="ctr">
              <a:buNone/>
            </a:pPr>
            <a:r>
              <a:rPr lang="en-US" sz="1400" b="1" dirty="0">
                <a:solidFill>
                  <a:srgbClr val="8C5A2B"/>
                </a:solidFill>
              </a:rPr>
              <a:t>Kriging system</a:t>
            </a:r>
            <a:endParaRPr lang="en-US" sz="1400" dirty="0"/>
          </a:p>
          <a:p>
            <a:pPr marL="0" indent="0" algn="ctr">
              <a:buNone/>
            </a:pPr>
            <a:r>
              <a:rPr lang="en-US" sz="1500" dirty="0">
                <a:solidFill>
                  <a:srgbClr val="2B2118"/>
                </a:solidFill>
                <a:latin typeface="Cambria" pitchFamily="34" charset="0"/>
                <a:ea typeface="Cambria" pitchFamily="34" charset="-122"/>
                <a:cs typeface="Cambria" pitchFamily="34" charset="-120"/>
              </a:rPr>
              <a:t>Σ λⱼ γ(xᵢ, xⱼ) + ψ = γ(xᵢ, x₀),  i = 1…n</a:t>
            </a:r>
            <a:endParaRPr lang="en-US" sz="1400" dirty="0"/>
          </a:p>
        </p:txBody>
      </p:sp>
      <p:sp>
        <p:nvSpPr>
          <p:cNvPr id="9" name="Shape 5"/>
          <p:cNvSpPr/>
          <p:nvPr/>
        </p:nvSpPr>
        <p:spPr>
          <a:xfrm>
            <a:off x="8046720" y="5074920"/>
            <a:ext cx="3566160" cy="1005840"/>
          </a:xfrm>
          <a:prstGeom prst="roundRect">
            <a:avLst>
              <a:gd name="adj" fmla="val 7273"/>
            </a:avLst>
          </a:prstGeom>
          <a:solidFill>
            <a:srgbClr val="F3F0EB"/>
          </a:solidFill>
          <a:ln/>
        </p:spPr>
      </p:sp>
      <p:sp>
        <p:nvSpPr>
          <p:cNvPr id="10" name="Text 6"/>
          <p:cNvSpPr txBox="1"/>
          <p:nvPr/>
        </p:nvSpPr>
        <p:spPr>
          <a:xfrm>
            <a:off x="8183880" y="5120640"/>
            <a:ext cx="3291840" cy="914400"/>
          </a:xfrm>
          <a:prstGeom prst="rect">
            <a:avLst/>
          </a:prstGeom>
          <a:noFill/>
          <a:ln/>
        </p:spPr>
        <p:txBody>
          <a:bodyPr wrap="square" lIns="25400" tIns="25400" rIns="25400" bIns="25400" rtlCol="0" anchor="ctr"/>
          <a:lstStyle/>
          <a:p>
            <a:pPr marL="0" indent="0" algn="ctr">
              <a:buNone/>
            </a:pPr>
            <a:r>
              <a:rPr lang="en-US" sz="1400" b="1" dirty="0">
                <a:solidFill>
                  <a:srgbClr val="8C5A2B"/>
                </a:solidFill>
              </a:rPr>
              <a:t>Kriging variance</a:t>
            </a:r>
            <a:endParaRPr lang="en-US" sz="1400" dirty="0"/>
          </a:p>
          <a:p>
            <a:pPr marL="0" indent="0" algn="ctr">
              <a:buNone/>
            </a:pPr>
            <a:r>
              <a:rPr lang="en-US" sz="1500" dirty="0">
                <a:solidFill>
                  <a:srgbClr val="2B2118"/>
                </a:solidFill>
                <a:latin typeface="Cambria" pitchFamily="34" charset="0"/>
                <a:ea typeface="Cambria" pitchFamily="34" charset="-122"/>
                <a:cs typeface="Cambria" pitchFamily="34" charset="-120"/>
              </a:rPr>
              <a:t>σ²(x₀) = Σ λᵢ γ(xᵢ, x₀) + ψ</a:t>
            </a:r>
            <a:endParaRPr lang="en-US" sz="1400" dirty="0"/>
          </a:p>
        </p:txBody>
      </p:sp>
      <p:sp>
        <p:nvSpPr>
          <p:cNvPr id="11" name="Text 7"/>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Synthetic illustration computed for this talk (spherical model, 60 samples); equations after Oliver &amp; Webster (2014), Appendix A</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12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Good geostatistical practice (Oliver &amp; Webster, 2014)</a:t>
            </a:r>
            <a:endParaRPr lang="en-US" sz="3200" dirty="0"/>
          </a:p>
        </p:txBody>
      </p:sp>
      <p:sp>
        <p:nvSpPr>
          <p:cNvPr id="4" name="Text 1"/>
          <p:cNvSpPr txBox="1"/>
          <p:nvPr/>
        </p:nvSpPr>
        <p:spPr>
          <a:xfrm>
            <a:off x="548640" y="1417320"/>
            <a:ext cx="640080" cy="640080"/>
          </a:xfrm>
          <a:prstGeom prst="ellipse">
            <a:avLst/>
          </a:prstGeom>
          <a:solidFill>
            <a:srgbClr val="2E7D7A"/>
          </a:solid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2"/>
          <p:cNvSpPr txBox="1"/>
          <p:nvPr/>
        </p:nvSpPr>
        <p:spPr>
          <a:xfrm>
            <a:off x="1371600" y="1325880"/>
            <a:ext cx="4572000" cy="822960"/>
          </a:xfrm>
          <a:prstGeom prst="rect">
            <a:avLst/>
          </a:prstGeom>
          <a:noFill/>
          <a:ln/>
        </p:spPr>
        <p:txBody>
          <a:bodyPr wrap="square" lIns="0" tIns="0" rIns="0" bIns="0" rtlCol="0" anchor="ctr"/>
          <a:lstStyle/>
          <a:p>
            <a:pPr marL="0" indent="0">
              <a:buNone/>
            </a:pPr>
            <a:r>
              <a:rPr lang="en-US" sz="1600" b="1" dirty="0">
                <a:solidFill>
                  <a:srgbClr val="2B2118"/>
                </a:solidFill>
              </a:rPr>
              <a:t>Sample enough, without bias</a:t>
            </a:r>
            <a:endParaRPr lang="en-US" sz="1600" dirty="0"/>
          </a:p>
          <a:p>
            <a:pPr marL="0" indent="0">
              <a:buNone/>
            </a:pPr>
            <a:r>
              <a:rPr lang="en-US" sz="1400" dirty="0">
                <a:solidFill>
                  <a:srgbClr val="4A3B2E"/>
                </a:solidFill>
              </a:rPr>
              <a:t>≥100–150 points; even coverage at &lt; ½ effective range</a:t>
            </a:r>
            <a:endParaRPr lang="en-US" sz="1600" dirty="0"/>
          </a:p>
        </p:txBody>
      </p:sp>
      <p:sp>
        <p:nvSpPr>
          <p:cNvPr id="6" name="Text 3"/>
          <p:cNvSpPr txBox="1"/>
          <p:nvPr/>
        </p:nvSpPr>
        <p:spPr>
          <a:xfrm>
            <a:off x="548640" y="2359152"/>
            <a:ext cx="640080" cy="640080"/>
          </a:xfrm>
          <a:prstGeom prst="ellipse">
            <a:avLst/>
          </a:prstGeom>
          <a:solidFill>
            <a:srgbClr val="2E7D7A"/>
          </a:solid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7" name="Text 4"/>
          <p:cNvSpPr txBox="1"/>
          <p:nvPr/>
        </p:nvSpPr>
        <p:spPr>
          <a:xfrm>
            <a:off x="1371600" y="2267712"/>
            <a:ext cx="4572000" cy="822960"/>
          </a:xfrm>
          <a:prstGeom prst="rect">
            <a:avLst/>
          </a:prstGeom>
          <a:noFill/>
          <a:ln/>
        </p:spPr>
        <p:txBody>
          <a:bodyPr wrap="square" lIns="0" tIns="0" rIns="0" bIns="0" rtlCol="0" anchor="ctr"/>
          <a:lstStyle/>
          <a:p>
            <a:pPr marL="0" indent="0">
              <a:buNone/>
            </a:pPr>
            <a:r>
              <a:rPr lang="en-US" sz="1600" b="1" dirty="0">
                <a:solidFill>
                  <a:srgbClr val="2B2118"/>
                </a:solidFill>
              </a:rPr>
              <a:t>Explore the data</a:t>
            </a:r>
            <a:endParaRPr lang="en-US" sz="1600" dirty="0"/>
          </a:p>
          <a:p>
            <a:pPr marL="0" indent="0">
              <a:buNone/>
            </a:pPr>
            <a:r>
              <a:rPr lang="en-US" sz="1400" dirty="0">
                <a:solidFill>
                  <a:srgbClr val="4A3B2E"/>
                </a:solidFill>
              </a:rPr>
              <a:t>Marginal distribution, outliers, transform (log) if skewed</a:t>
            </a:r>
            <a:endParaRPr lang="en-US" sz="1600" dirty="0"/>
          </a:p>
        </p:txBody>
      </p:sp>
      <p:sp>
        <p:nvSpPr>
          <p:cNvPr id="8" name="Text 5"/>
          <p:cNvSpPr txBox="1"/>
          <p:nvPr/>
        </p:nvSpPr>
        <p:spPr>
          <a:xfrm>
            <a:off x="548640" y="3300984"/>
            <a:ext cx="640080" cy="640080"/>
          </a:xfrm>
          <a:prstGeom prst="ellipse">
            <a:avLst/>
          </a:prstGeom>
          <a:solidFill>
            <a:srgbClr val="2E7D7A"/>
          </a:solid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9" name="Text 6"/>
          <p:cNvSpPr txBox="1"/>
          <p:nvPr/>
        </p:nvSpPr>
        <p:spPr>
          <a:xfrm>
            <a:off x="1371600" y="3209544"/>
            <a:ext cx="4572000" cy="822960"/>
          </a:xfrm>
          <a:prstGeom prst="rect">
            <a:avLst/>
          </a:prstGeom>
          <a:noFill/>
          <a:ln/>
        </p:spPr>
        <p:txBody>
          <a:bodyPr wrap="square" lIns="0" tIns="0" rIns="0" bIns="0" rtlCol="0" anchor="ctr"/>
          <a:lstStyle/>
          <a:p>
            <a:pPr marL="0" indent="0">
              <a:buNone/>
            </a:pPr>
            <a:r>
              <a:rPr lang="en-US" sz="1600" b="1" dirty="0">
                <a:solidFill>
                  <a:srgbClr val="2B2118"/>
                </a:solidFill>
              </a:rPr>
              <a:t>Compute &amp; fit the variogram</a:t>
            </a:r>
            <a:endParaRPr lang="en-US" sz="1600" dirty="0"/>
          </a:p>
          <a:p>
            <a:pPr marL="0" indent="0">
              <a:buNone/>
            </a:pPr>
            <a:r>
              <a:rPr lang="en-US" sz="1400" dirty="0">
                <a:solidFill>
                  <a:srgbClr val="4A3B2E"/>
                </a:solidFill>
              </a:rPr>
              <a:t>Method of moments, WLS fit; REML on residuals if trend</a:t>
            </a:r>
            <a:endParaRPr lang="en-US" sz="1600" dirty="0"/>
          </a:p>
        </p:txBody>
      </p:sp>
      <p:sp>
        <p:nvSpPr>
          <p:cNvPr id="10" name="Text 7"/>
          <p:cNvSpPr txBox="1"/>
          <p:nvPr/>
        </p:nvSpPr>
        <p:spPr>
          <a:xfrm>
            <a:off x="548640" y="4242816"/>
            <a:ext cx="640080" cy="640080"/>
          </a:xfrm>
          <a:prstGeom prst="ellipse">
            <a:avLst/>
          </a:prstGeom>
          <a:solidFill>
            <a:srgbClr val="2E7D7A"/>
          </a:solid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1" name="Text 8"/>
          <p:cNvSpPr txBox="1"/>
          <p:nvPr/>
        </p:nvSpPr>
        <p:spPr>
          <a:xfrm>
            <a:off x="1371600" y="4151376"/>
            <a:ext cx="4572000" cy="822960"/>
          </a:xfrm>
          <a:prstGeom prst="rect">
            <a:avLst/>
          </a:prstGeom>
          <a:noFill/>
          <a:ln/>
        </p:spPr>
        <p:txBody>
          <a:bodyPr wrap="square" lIns="0" tIns="0" rIns="0" bIns="0" rtlCol="0" anchor="ctr"/>
          <a:lstStyle/>
          <a:p>
            <a:pPr marL="0" indent="0">
              <a:buNone/>
            </a:pPr>
            <a:r>
              <a:rPr lang="en-US" sz="1600" b="1" dirty="0">
                <a:solidFill>
                  <a:srgbClr val="2B2118"/>
                </a:solidFill>
              </a:rPr>
              <a:t>Krige</a:t>
            </a:r>
            <a:endParaRPr lang="en-US" sz="1600" dirty="0"/>
          </a:p>
          <a:p>
            <a:pPr marL="0" indent="0">
              <a:buNone/>
            </a:pPr>
            <a:r>
              <a:rPr lang="en-US" sz="1400" dirty="0">
                <a:solidFill>
                  <a:srgbClr val="4A3B2E"/>
                </a:solidFill>
              </a:rPr>
              <a:t>OK without trend, UK with trend; neighbourhood ≈ 7–25 points</a:t>
            </a:r>
            <a:endParaRPr lang="en-US" sz="1600" dirty="0"/>
          </a:p>
        </p:txBody>
      </p:sp>
      <p:sp>
        <p:nvSpPr>
          <p:cNvPr id="12" name="Text 9"/>
          <p:cNvSpPr txBox="1"/>
          <p:nvPr/>
        </p:nvSpPr>
        <p:spPr>
          <a:xfrm>
            <a:off x="548640" y="5184648"/>
            <a:ext cx="640080" cy="640080"/>
          </a:xfrm>
          <a:prstGeom prst="ellipse">
            <a:avLst/>
          </a:prstGeom>
          <a:solidFill>
            <a:srgbClr val="2E7D7A"/>
          </a:solid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3" name="Text 10"/>
          <p:cNvSpPr txBox="1"/>
          <p:nvPr/>
        </p:nvSpPr>
        <p:spPr>
          <a:xfrm>
            <a:off x="1371600" y="5093208"/>
            <a:ext cx="4572000" cy="822960"/>
          </a:xfrm>
          <a:prstGeom prst="rect">
            <a:avLst/>
          </a:prstGeom>
          <a:noFill/>
          <a:ln/>
        </p:spPr>
        <p:txBody>
          <a:bodyPr wrap="square" lIns="0" tIns="0" rIns="0" bIns="0" rtlCol="0" anchor="ctr"/>
          <a:lstStyle/>
          <a:p>
            <a:pPr marL="0" indent="0">
              <a:buNone/>
            </a:pPr>
            <a:r>
              <a:rPr lang="en-US" sz="1600" b="1" dirty="0">
                <a:solidFill>
                  <a:srgbClr val="2B2118"/>
                </a:solidFill>
              </a:rPr>
              <a:t>Map and validate</a:t>
            </a:r>
            <a:endParaRPr lang="en-US" sz="1600" dirty="0"/>
          </a:p>
          <a:p>
            <a:pPr marL="0" indent="0">
              <a:buNone/>
            </a:pPr>
            <a:r>
              <a:rPr lang="en-US" sz="1400" dirty="0">
                <a:solidFill>
                  <a:srgbClr val="4A3B2E"/>
                </a:solidFill>
              </a:rPr>
              <a:t>Map estimates and kriging variances; cross-validate</a:t>
            </a:r>
            <a:endParaRPr lang="en-US" sz="1600" dirty="0"/>
          </a:p>
        </p:txBody>
      </p:sp>
      <p:pic>
        <p:nvPicPr>
          <p:cNvPr id="14" name="Image 0" descr="k2_fig2_sample"/>
          <p:cNvPicPr>
            <a:picLocks noChangeAspect="1"/>
          </p:cNvPicPr>
          <p:nvPr/>
        </p:nvPicPr>
        <p:blipFill>
          <a:blip r:embed="rId3"/>
          <a:stretch>
            <a:fillRect/>
          </a:stretch>
        </p:blipFill>
        <p:spPr>
          <a:xfrm>
            <a:off x="6126480" y="1325880"/>
            <a:ext cx="3337560" cy="2328780"/>
          </a:xfrm>
          <a:prstGeom prst="rect">
            <a:avLst/>
          </a:prstGeom>
        </p:spPr>
      </p:pic>
      <p:sp>
        <p:nvSpPr>
          <p:cNvPr id="15" name="Shape 11"/>
          <p:cNvSpPr/>
          <p:nvPr/>
        </p:nvSpPr>
        <p:spPr>
          <a:xfrm>
            <a:off x="6126480" y="1325880"/>
            <a:ext cx="3337560" cy="2328780"/>
          </a:xfrm>
          <a:prstGeom prst="rect">
            <a:avLst/>
          </a:prstGeom>
          <a:ln w="9525">
            <a:solidFill>
              <a:srgbClr val="D9D2C8"/>
            </a:solidFill>
            <a:prstDash val="solid"/>
          </a:ln>
        </p:spPr>
      </p:sp>
      <p:pic>
        <p:nvPicPr>
          <p:cNvPr id="16" name="Image 1" descr="k2_fig11_cv"/>
          <p:cNvPicPr>
            <a:picLocks noChangeAspect="1"/>
          </p:cNvPicPr>
          <p:nvPr/>
        </p:nvPicPr>
        <p:blipFill>
          <a:blip r:embed="rId4"/>
          <a:stretch>
            <a:fillRect/>
          </a:stretch>
        </p:blipFill>
        <p:spPr>
          <a:xfrm>
            <a:off x="9646920" y="1325880"/>
            <a:ext cx="1965960" cy="2175966"/>
          </a:xfrm>
          <a:prstGeom prst="rect">
            <a:avLst/>
          </a:prstGeom>
        </p:spPr>
      </p:pic>
      <p:sp>
        <p:nvSpPr>
          <p:cNvPr id="17" name="Shape 12"/>
          <p:cNvSpPr/>
          <p:nvPr/>
        </p:nvSpPr>
        <p:spPr>
          <a:xfrm>
            <a:off x="9646920" y="1325880"/>
            <a:ext cx="1965960" cy="2175966"/>
          </a:xfrm>
          <a:prstGeom prst="rect">
            <a:avLst/>
          </a:prstGeom>
          <a:ln w="9525">
            <a:solidFill>
              <a:srgbClr val="D9D2C8"/>
            </a:solidFill>
            <a:prstDash val="solid"/>
          </a:ln>
        </p:spPr>
      </p:sp>
      <p:sp>
        <p:nvSpPr>
          <p:cNvPr id="18" name="Text 13"/>
          <p:cNvSpPr txBox="1"/>
          <p:nvPr/>
        </p:nvSpPr>
        <p:spPr>
          <a:xfrm>
            <a:off x="6126480" y="3700380"/>
            <a:ext cx="3337560" cy="274320"/>
          </a:xfrm>
          <a:prstGeom prst="rect">
            <a:avLst/>
          </a:prstGeom>
          <a:noFill/>
          <a:ln/>
        </p:spPr>
        <p:txBody>
          <a:bodyPr wrap="square" lIns="0" tIns="0" rIns="0" bIns="0" rtlCol="0" anchor="ctr"/>
          <a:lstStyle/>
          <a:p>
            <a:pPr marL="0" indent="0" algn="ctr">
              <a:buNone/>
            </a:pPr>
            <a:r>
              <a:rPr lang="en-US" sz="1100" i="1" dirty="0">
                <a:solidFill>
                  <a:srgbClr val="8A8178"/>
                </a:solidFill>
              </a:rPr>
              <a:t>Variograms at increasing sample size</a:t>
            </a:r>
            <a:endParaRPr lang="en-US" sz="1100" dirty="0"/>
          </a:p>
        </p:txBody>
      </p:sp>
      <p:sp>
        <p:nvSpPr>
          <p:cNvPr id="19" name="Text 14"/>
          <p:cNvSpPr txBox="1"/>
          <p:nvPr/>
        </p:nvSpPr>
        <p:spPr>
          <a:xfrm>
            <a:off x="9646920" y="3547566"/>
            <a:ext cx="1965960" cy="274320"/>
          </a:xfrm>
          <a:prstGeom prst="rect">
            <a:avLst/>
          </a:prstGeom>
          <a:noFill/>
          <a:ln/>
        </p:spPr>
        <p:txBody>
          <a:bodyPr wrap="square" lIns="0" tIns="0" rIns="0" bIns="0" rtlCol="0" anchor="ctr"/>
          <a:lstStyle/>
          <a:p>
            <a:pPr marL="0" indent="0" algn="ctr">
              <a:buNone/>
            </a:pPr>
            <a:r>
              <a:rPr lang="en-US" sz="1100" i="1" dirty="0">
                <a:solidFill>
                  <a:srgbClr val="8A8178"/>
                </a:solidFill>
              </a:rPr>
              <a:t>Cross-validation scatter</a:t>
            </a:r>
            <a:endParaRPr lang="en-US" sz="1100" dirty="0"/>
          </a:p>
        </p:txBody>
      </p:sp>
      <p:sp>
        <p:nvSpPr>
          <p:cNvPr id="20" name="Shape 15"/>
          <p:cNvSpPr/>
          <p:nvPr/>
        </p:nvSpPr>
        <p:spPr>
          <a:xfrm>
            <a:off x="6126480" y="4160520"/>
            <a:ext cx="5486400" cy="1874520"/>
          </a:xfrm>
          <a:prstGeom prst="roundRect">
            <a:avLst>
              <a:gd name="adj" fmla="val 3902"/>
            </a:avLst>
          </a:prstGeom>
          <a:solidFill>
            <a:srgbClr val="F3F0EB"/>
          </a:solidFill>
          <a:ln/>
        </p:spPr>
      </p:sp>
      <p:sp>
        <p:nvSpPr>
          <p:cNvPr id="21" name="Text 16"/>
          <p:cNvSpPr txBox="1"/>
          <p:nvPr/>
        </p:nvSpPr>
        <p:spPr>
          <a:xfrm>
            <a:off x="6263640" y="4224528"/>
            <a:ext cx="5212080" cy="1737360"/>
          </a:xfrm>
          <a:prstGeom prst="rect">
            <a:avLst/>
          </a:prstGeom>
          <a:noFill/>
          <a:ln/>
        </p:spPr>
        <p:txBody>
          <a:bodyPr wrap="square" lIns="25400" tIns="25400" rIns="25400" bIns="25400" rtlCol="0" anchor="t"/>
          <a:lstStyle/>
          <a:p>
            <a:pPr marL="0" indent="0">
              <a:spcAft>
                <a:spcPts val="400"/>
              </a:spcAft>
              <a:buNone/>
            </a:pPr>
            <a:r>
              <a:rPr lang="en-US" sz="1500" b="1" dirty="0">
                <a:solidFill>
                  <a:srgbClr val="2E7D7A"/>
                </a:solidFill>
              </a:rPr>
              <a:t>Leave-one-out cross-validation diagnostics</a:t>
            </a:r>
            <a:endParaRPr lang="en-US" sz="1400" dirty="0"/>
          </a:p>
          <a:p>
            <a:pPr marL="177800" indent="-177800">
              <a:spcAft>
                <a:spcPts val="400"/>
              </a:spcAft>
              <a:buSzPct val="100000"/>
              <a:buChar char="•"/>
            </a:pPr>
            <a:r>
              <a:rPr lang="en-US" sz="1400" dirty="0">
                <a:solidFill>
                  <a:srgbClr val="2B2118"/>
                </a:solidFill>
              </a:rPr>
              <a:t>ME, mean error ≈ 0 (unbiased)</a:t>
            </a:r>
            <a:endParaRPr lang="en-US" sz="1400" dirty="0"/>
          </a:p>
          <a:p>
            <a:pPr marL="177800" indent="-177800">
              <a:spcAft>
                <a:spcPts val="400"/>
              </a:spcAft>
              <a:buSzPct val="100000"/>
              <a:buChar char="•"/>
            </a:pPr>
            <a:r>
              <a:rPr lang="en-US" sz="1400" dirty="0">
                <a:solidFill>
                  <a:srgbClr val="2B2118"/>
                </a:solidFill>
              </a:rPr>
              <a:t>MSE, mean squared error: as small as possible</a:t>
            </a:r>
            <a:endParaRPr lang="en-US" sz="1400" dirty="0"/>
          </a:p>
          <a:p>
            <a:pPr marL="177800" indent="-177800">
              <a:spcAft>
                <a:spcPts val="400"/>
              </a:spcAft>
              <a:buSzPct val="100000"/>
              <a:buChar char="•"/>
            </a:pPr>
            <a:r>
              <a:rPr lang="en-US" sz="1400" dirty="0">
                <a:solidFill>
                  <a:srgbClr val="2B2118"/>
                </a:solidFill>
              </a:rPr>
              <a:t>MSDR = mean(squared error ⁄ kriging variance) ≈ 1: the most telling check of the variogram</a:t>
            </a:r>
            <a:endParaRPr lang="en-US" sz="1400" dirty="0"/>
          </a:p>
        </p:txBody>
      </p:sp>
      <p:sp>
        <p:nvSpPr>
          <p:cNvPr id="22" name="Text 17"/>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Oliver &amp; Webster (2014) Catena 113:56–69, Section 5 and Figs. 2 &amp; 11</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13</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Regression-kriging: a hybrid framework (Hengl et al., 2004)</a:t>
            </a:r>
            <a:endParaRPr lang="en-US" sz="3200" dirty="0"/>
          </a:p>
        </p:txBody>
      </p:sp>
      <p:pic>
        <p:nvPicPr>
          <p:cNvPr id="4" name="Image 0" descr="k1_fig1_flow"/>
          <p:cNvPicPr>
            <a:picLocks noChangeAspect="1"/>
          </p:cNvPicPr>
          <p:nvPr/>
        </p:nvPicPr>
        <p:blipFill>
          <a:blip r:embed="rId3"/>
          <a:stretch>
            <a:fillRect/>
          </a:stretch>
        </p:blipFill>
        <p:spPr>
          <a:xfrm>
            <a:off x="1182708" y="1234440"/>
            <a:ext cx="4309703" cy="4846320"/>
          </a:xfrm>
          <a:prstGeom prst="rect">
            <a:avLst/>
          </a:prstGeom>
        </p:spPr>
      </p:pic>
      <p:sp>
        <p:nvSpPr>
          <p:cNvPr id="5" name="Shape 1"/>
          <p:cNvSpPr/>
          <p:nvPr/>
        </p:nvSpPr>
        <p:spPr>
          <a:xfrm>
            <a:off x="1182708" y="1234440"/>
            <a:ext cx="4309703" cy="4846320"/>
          </a:xfrm>
          <a:prstGeom prst="rect">
            <a:avLst/>
          </a:prstGeom>
          <a:ln w="9525">
            <a:solidFill>
              <a:srgbClr val="D9D2C8"/>
            </a:solidFill>
            <a:prstDash val="solid"/>
          </a:ln>
        </p:spPr>
      </p:sp>
      <p:sp>
        <p:nvSpPr>
          <p:cNvPr id="6" name="Shape 2"/>
          <p:cNvSpPr/>
          <p:nvPr/>
        </p:nvSpPr>
        <p:spPr>
          <a:xfrm>
            <a:off x="6492240" y="1280160"/>
            <a:ext cx="5120640" cy="1143000"/>
          </a:xfrm>
          <a:prstGeom prst="roundRect">
            <a:avLst>
              <a:gd name="adj" fmla="val 6400"/>
            </a:avLst>
          </a:prstGeom>
          <a:solidFill>
            <a:srgbClr val="F3F0EB"/>
          </a:solidFill>
          <a:ln/>
        </p:spPr>
      </p:sp>
      <p:sp>
        <p:nvSpPr>
          <p:cNvPr id="7" name="Text 3"/>
          <p:cNvSpPr txBox="1"/>
          <p:nvPr/>
        </p:nvSpPr>
        <p:spPr>
          <a:xfrm>
            <a:off x="6583680" y="1325880"/>
            <a:ext cx="4937760" cy="594360"/>
          </a:xfrm>
          <a:prstGeom prst="rect">
            <a:avLst/>
          </a:prstGeom>
          <a:noFill/>
          <a:ln/>
        </p:spPr>
        <p:txBody>
          <a:bodyPr wrap="square" rtlCol="0" anchor="ctr"/>
          <a:lstStyle/>
          <a:p>
            <a:pPr marL="0" indent="0" algn="ctr">
              <a:buNone/>
            </a:pPr>
            <a:r>
              <a:rPr lang="en-US" sz="2200" dirty="0">
                <a:solidFill>
                  <a:srgbClr val="2B2118"/>
                </a:solidFill>
                <a:latin typeface="Cambria" pitchFamily="34" charset="0"/>
                <a:ea typeface="Cambria" pitchFamily="34" charset="-122"/>
                <a:cs typeface="Cambria" pitchFamily="34" charset="-120"/>
              </a:rPr>
              <a:t>ẑ(s₀) = </a:t>
            </a:r>
            <a:r>
              <a:rPr lang="en-US" sz="2200" b="1" dirty="0">
                <a:solidFill>
                  <a:srgbClr val="8C5A2B"/>
                </a:solidFill>
                <a:latin typeface="Cambria" pitchFamily="34" charset="0"/>
                <a:ea typeface="Cambria" pitchFamily="34" charset="-122"/>
                <a:cs typeface="Cambria" pitchFamily="34" charset="-120"/>
              </a:rPr>
              <a:t>Σ β̂ₖ qₖ(s₀)</a:t>
            </a:r>
            <a:r>
              <a:rPr lang="en-US" sz="2200" dirty="0">
                <a:solidFill>
                  <a:srgbClr val="2B2118"/>
                </a:solidFill>
                <a:latin typeface="Cambria" pitchFamily="34" charset="0"/>
                <a:ea typeface="Cambria" pitchFamily="34" charset="-122"/>
                <a:cs typeface="Cambria" pitchFamily="34" charset="-120"/>
              </a:rPr>
              <a:t>  +  </a:t>
            </a:r>
            <a:r>
              <a:rPr lang="en-US" sz="2200" b="1" dirty="0">
                <a:solidFill>
                  <a:srgbClr val="2E7D7A"/>
                </a:solidFill>
                <a:latin typeface="Cambria" pitchFamily="34" charset="0"/>
                <a:ea typeface="Cambria" pitchFamily="34" charset="-122"/>
                <a:cs typeface="Cambria" pitchFamily="34" charset="-120"/>
              </a:rPr>
              <a:t>Σ λᵢ e(sᵢ)</a:t>
            </a:r>
            <a:endParaRPr lang="en-US" sz="2200" dirty="0"/>
          </a:p>
        </p:txBody>
      </p:sp>
      <p:sp>
        <p:nvSpPr>
          <p:cNvPr id="8" name="Text 4"/>
          <p:cNvSpPr txBox="1"/>
          <p:nvPr/>
        </p:nvSpPr>
        <p:spPr>
          <a:xfrm>
            <a:off x="6583680" y="1901952"/>
            <a:ext cx="4937760" cy="411480"/>
          </a:xfrm>
          <a:prstGeom prst="rect">
            <a:avLst/>
          </a:prstGeom>
          <a:noFill/>
          <a:ln/>
        </p:spPr>
        <p:txBody>
          <a:bodyPr wrap="square" rtlCol="0" anchor="ctr"/>
          <a:lstStyle/>
          <a:p>
            <a:pPr marL="0" indent="0" algn="ctr">
              <a:buNone/>
            </a:pPr>
            <a:r>
              <a:rPr lang="en-US" sz="1400" dirty="0">
                <a:solidFill>
                  <a:srgbClr val="8C5A2B"/>
                </a:solidFill>
              </a:rPr>
              <a:t>trend from covariates</a:t>
            </a:r>
            <a:r>
              <a:rPr lang="en-US" sz="1400" dirty="0">
                <a:solidFill>
                  <a:srgbClr val="4A3B2E"/>
                </a:solidFill>
              </a:rPr>
              <a:t>   +   </a:t>
            </a:r>
            <a:r>
              <a:rPr lang="en-US" sz="1400" dirty="0">
                <a:solidFill>
                  <a:srgbClr val="2E7D7A"/>
                </a:solidFill>
              </a:rPr>
              <a:t>kriged residuals</a:t>
            </a:r>
            <a:endParaRPr lang="en-US" sz="1400" dirty="0"/>
          </a:p>
        </p:txBody>
      </p:sp>
      <p:sp>
        <p:nvSpPr>
          <p:cNvPr id="9" name="Text 5"/>
          <p:cNvSpPr txBox="1"/>
          <p:nvPr/>
        </p:nvSpPr>
        <p:spPr>
          <a:xfrm>
            <a:off x="6492240" y="2606040"/>
            <a:ext cx="5120640" cy="3474720"/>
          </a:xfrm>
          <a:prstGeom prst="rect">
            <a:avLst/>
          </a:prstGeom>
          <a:noFill/>
          <a:ln/>
        </p:spPr>
        <p:txBody>
          <a:bodyPr wrap="square" lIns="25400" tIns="25400" rIns="25400" bIns="25400" rtlCol="0" anchor="t"/>
          <a:lstStyle/>
          <a:p>
            <a:pPr marL="190500" indent="-190500">
              <a:spcAft>
                <a:spcPts val="600"/>
              </a:spcAft>
              <a:buSzPct val="100000"/>
              <a:buChar char="•"/>
            </a:pPr>
            <a:r>
              <a:rPr lang="en-US" sz="1500" b="1" dirty="0">
                <a:solidFill>
                  <a:srgbClr val="2B2118"/>
                </a:solidFill>
              </a:rPr>
              <a:t>Data: </a:t>
            </a:r>
            <a:r>
              <a:rPr lang="en-US" sz="1500" dirty="0">
                <a:solidFill>
                  <a:srgbClr val="2B2118"/>
                </a:solidFill>
              </a:rPr>
              <a:t>135 soil profiles, Croatia (100 for interpolation, 35 for validation); targets OM, topsoil pH, topsoil depth</a:t>
            </a:r>
            <a:endParaRPr lang="en-US" sz="1500" dirty="0"/>
          </a:p>
          <a:p>
            <a:pPr marL="190500" indent="-190500">
              <a:spcAft>
                <a:spcPts val="600"/>
              </a:spcAft>
              <a:buSzPct val="100000"/>
              <a:buChar char="•"/>
            </a:pPr>
            <a:r>
              <a:rPr lang="en-US" sz="1500" b="1" dirty="0">
                <a:solidFill>
                  <a:srgbClr val="2B2118"/>
                </a:solidFill>
              </a:rPr>
              <a:t>Predictors: </a:t>
            </a:r>
            <a:r>
              <a:rPr lang="en-US" sz="1500" dirty="0">
                <a:solidFill>
                  <a:srgbClr val="2B2118"/>
                </a:solidFill>
              </a:rPr>
              <a:t>6 relief parameters (DEM, slope, curvature, CTI, SPI, viewshed) + 9 soil-mapping units</a:t>
            </a:r>
            <a:endParaRPr lang="en-US" sz="1500" dirty="0"/>
          </a:p>
          <a:p>
            <a:pPr marL="190500" indent="-190500">
              <a:spcAft>
                <a:spcPts val="600"/>
              </a:spcAft>
              <a:buSzPct val="100000"/>
              <a:buChar char="•"/>
            </a:pPr>
            <a:r>
              <a:rPr lang="en-US" sz="1500" b="1" dirty="0">
                <a:solidFill>
                  <a:srgbClr val="2B2118"/>
                </a:solidFill>
              </a:rPr>
              <a:t>Steps: </a:t>
            </a:r>
            <a:r>
              <a:rPr lang="en-US" sz="1500" dirty="0">
                <a:solidFill>
                  <a:srgbClr val="2B2118"/>
                </a:solidFill>
              </a:rPr>
              <a:t>logit transform → PCA of predictors → stepwise GLS regression → OK of residuals → back-transform</a:t>
            </a:r>
            <a:endParaRPr lang="en-US" sz="1500" dirty="0"/>
          </a:p>
          <a:p>
            <a:pPr marL="190500" indent="-190500">
              <a:spcAft>
                <a:spcPts val="600"/>
              </a:spcAft>
              <a:buSzPct val="100000"/>
              <a:buChar char="•"/>
            </a:pPr>
            <a:r>
              <a:rPr lang="en-US" sz="1500" b="1" dirty="0">
                <a:solidFill>
                  <a:srgbClr val="2B2118"/>
                </a:solidFill>
              </a:rPr>
              <a:t>Output: </a:t>
            </a:r>
            <a:r>
              <a:rPr lang="en-US" sz="1500" dirty="0">
                <a:solidFill>
                  <a:srgbClr val="2B2118"/>
                </a:solidFill>
              </a:rPr>
              <a:t>prediction and relative error shown together (HSI colour visualisation)</a:t>
            </a:r>
            <a:endParaRPr lang="en-US" sz="1500" dirty="0"/>
          </a:p>
        </p:txBody>
      </p:sp>
      <p:sp>
        <p:nvSpPr>
          <p:cNvPr id="10" name="Text 6"/>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Left: Hengl et al. (2004) Geoderma 120:75–93, Fig. 1</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14</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Regression-kriging vs ordinary kriging: results</a:t>
            </a:r>
            <a:endParaRPr lang="en-US" sz="3200" dirty="0"/>
          </a:p>
        </p:txBody>
      </p:sp>
      <p:graphicFrame>
        <p:nvGraphicFramePr>
          <p:cNvPr id="4" name="Chart 0"/>
          <p:cNvGraphicFramePr/>
          <p:nvPr/>
        </p:nvGraphicFramePr>
        <p:xfrm>
          <a:off x="457200" y="1234440"/>
          <a:ext cx="6675120" cy="4206240"/>
        </p:xfrm>
        <a:graphic>
          <a:graphicData uri="http://schemas.openxmlformats.org/drawingml/2006/chart">
            <c:chart xmlns:c="http://schemas.openxmlformats.org/drawingml/2006/chart" xmlns:r="http://schemas.openxmlformats.org/officeDocument/2006/relationships" r:id="rId3"/>
          </a:graphicData>
        </a:graphic>
      </p:graphicFrame>
      <p:pic>
        <p:nvPicPr>
          <p:cNvPr id="5" name="Image 0" descr="k1_fig9_concept"/>
          <p:cNvPicPr>
            <a:picLocks noChangeAspect="1"/>
          </p:cNvPicPr>
          <p:nvPr/>
        </p:nvPicPr>
        <p:blipFill>
          <a:blip r:embed="rId4"/>
          <a:stretch>
            <a:fillRect/>
          </a:stretch>
        </p:blipFill>
        <p:spPr>
          <a:xfrm>
            <a:off x="7459579" y="1325880"/>
            <a:ext cx="4100362" cy="2743200"/>
          </a:xfrm>
          <a:prstGeom prst="rect">
            <a:avLst/>
          </a:prstGeom>
        </p:spPr>
      </p:pic>
      <p:sp>
        <p:nvSpPr>
          <p:cNvPr id="6" name="Shape 1"/>
          <p:cNvSpPr/>
          <p:nvPr/>
        </p:nvSpPr>
        <p:spPr>
          <a:xfrm>
            <a:off x="7459579" y="1325880"/>
            <a:ext cx="4100362" cy="2743200"/>
          </a:xfrm>
          <a:prstGeom prst="rect">
            <a:avLst/>
          </a:prstGeom>
          <a:ln w="9525">
            <a:solidFill>
              <a:srgbClr val="D9D2C8"/>
            </a:solidFill>
            <a:prstDash val="solid"/>
          </a:ln>
        </p:spPr>
      </p:sp>
      <p:sp>
        <p:nvSpPr>
          <p:cNvPr id="7" name="Text 2"/>
          <p:cNvSpPr txBox="1"/>
          <p:nvPr/>
        </p:nvSpPr>
        <p:spPr>
          <a:xfrm>
            <a:off x="7406640" y="4114800"/>
            <a:ext cx="4206240" cy="274320"/>
          </a:xfrm>
          <a:prstGeom prst="rect">
            <a:avLst/>
          </a:prstGeom>
          <a:noFill/>
          <a:ln/>
        </p:spPr>
        <p:txBody>
          <a:bodyPr wrap="square" lIns="0" tIns="0" rIns="0" bIns="0" rtlCol="0" anchor="ctr"/>
          <a:lstStyle/>
          <a:p>
            <a:pPr marL="0" indent="0" algn="ctr">
              <a:buNone/>
            </a:pPr>
            <a:r>
              <a:rPr lang="en-US" sz="1100" i="1" dirty="0">
                <a:solidFill>
                  <a:srgbClr val="8A8178"/>
                </a:solidFill>
              </a:rPr>
              <a:t>When each method suits: R² of regression vs residual range</a:t>
            </a:r>
            <a:endParaRPr lang="en-US" sz="1100" dirty="0"/>
          </a:p>
        </p:txBody>
      </p:sp>
      <p:sp>
        <p:nvSpPr>
          <p:cNvPr id="8" name="Text 3"/>
          <p:cNvSpPr txBox="1"/>
          <p:nvPr/>
        </p:nvSpPr>
        <p:spPr>
          <a:xfrm>
            <a:off x="7406640" y="4526280"/>
            <a:ext cx="4206240" cy="1554480"/>
          </a:xfrm>
          <a:prstGeom prst="rect">
            <a:avLst/>
          </a:prstGeom>
          <a:noFill/>
          <a:ln/>
        </p:spPr>
        <p:txBody>
          <a:bodyPr wrap="square" lIns="25400" tIns="25400" rIns="25400" bIns="25400" rtlCol="0" anchor="t"/>
          <a:lstStyle/>
          <a:p>
            <a:pPr marL="190500" indent="-190500">
              <a:spcAft>
                <a:spcPts val="600"/>
              </a:spcAft>
              <a:buSzPct val="100000"/>
              <a:buChar char="•"/>
            </a:pPr>
            <a:r>
              <a:rPr lang="en-US" sz="1500" b="1" dirty="0">
                <a:solidFill>
                  <a:srgbClr val="2B2118"/>
                </a:solidFill>
              </a:rPr>
              <a:t>Depth: </a:t>
            </a:r>
            <a:r>
              <a:rPr lang="en-US" sz="1500" dirty="0">
                <a:solidFill>
                  <a:srgbClr val="2B2118"/>
                </a:solidFill>
              </a:rPr>
              <a:t>RK 66.5% vs OK 83.3%; bias 0.15 vs 0.69 cm</a:t>
            </a:r>
            <a:endParaRPr lang="en-US" sz="1500" dirty="0"/>
          </a:p>
          <a:p>
            <a:pPr marL="190500" indent="-190500">
              <a:spcAft>
                <a:spcPts val="600"/>
              </a:spcAft>
              <a:buSzPct val="100000"/>
              <a:buChar char="•"/>
            </a:pPr>
            <a:r>
              <a:rPr lang="en-US" sz="1500" b="1" dirty="0">
                <a:solidFill>
                  <a:srgbClr val="2B2118"/>
                </a:solidFill>
              </a:rPr>
              <a:t>OM: </a:t>
            </a:r>
            <a:r>
              <a:rPr lang="en-US" sz="1500" dirty="0">
                <a:solidFill>
                  <a:srgbClr val="2B2118"/>
                </a:solidFill>
              </a:rPr>
              <a:t>RK 53.3% vs OK 66.5%</a:t>
            </a:r>
            <a:endParaRPr lang="en-US" sz="1500" dirty="0"/>
          </a:p>
          <a:p>
            <a:pPr marL="190500" indent="-190500">
              <a:spcAft>
                <a:spcPts val="600"/>
              </a:spcAft>
              <a:buSzPct val="100000"/>
              <a:buChar char="•"/>
            </a:pPr>
            <a:r>
              <a:rPr lang="en-US" sz="1500" b="1" dirty="0">
                <a:solidFill>
                  <a:srgbClr val="2B2118"/>
                </a:solidFill>
              </a:rPr>
              <a:t>pH: </a:t>
            </a:r>
            <a:r>
              <a:rPr lang="en-US" sz="1500" dirty="0">
                <a:solidFill>
                  <a:srgbClr val="2B2118"/>
                </a:solidFill>
              </a:rPr>
              <a:t>&gt;110% for all methods</a:t>
            </a:r>
            <a:endParaRPr lang="en-US" sz="1500" dirty="0"/>
          </a:p>
        </p:txBody>
      </p:sp>
      <p:sp>
        <p:nvSpPr>
          <p:cNvPr id="9" name="Text 4"/>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Data: Hengl et al. (2004) Table 3; right panel: Hengl et al. (2004) Fig. 9</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15</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468880"/>
            <a:ext cx="10698480" cy="1188720"/>
          </a:xfrm>
          <a:prstGeom prst="rect">
            <a:avLst/>
          </a:prstGeom>
          <a:noFill/>
          <a:ln/>
        </p:spPr>
        <p:txBody>
          <a:bodyPr wrap="square" rtlCol="0" anchor="b"/>
          <a:lstStyle/>
          <a:p>
            <a:pPr marL="0" indent="0" algn="l">
              <a:buNone/>
            </a:pPr>
            <a:r>
              <a:rPr lang="en-US" sz="4000" b="1" dirty="0">
                <a:solidFill>
                  <a:schemeClr val="bg1"/>
                </a:solidFill>
              </a:rPr>
              <a:t>Machine-learning approaches</a:t>
            </a: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rtlCol="0" anchor="t"/>
          <a:lstStyle/>
          <a:p>
            <a:pPr marL="0" indent="0">
              <a:buNone/>
            </a:pPr>
            <a:r>
              <a:rPr lang="en-US" sz="1800" dirty="0">
                <a:solidFill>
                  <a:srgbClr val="E8DCCB"/>
                </a:solidFill>
              </a:rPr>
              <a:t>Learning non-linear soil–covariate relationships from data</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A99A"/>
                </a:solidFill>
              </a:defRPr>
            </a:lvl1pPr>
          </a:lstStyle>
          <a:p>
            <a:pPr algn="r"/>
            <a:fld id="{F7021451-1387-4CA6-816F-3879F97B5CBC}" type="slidenum">
              <a:rPr lang="en-US" b="0"/>
              <a:t>16</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Ensemble learning: bagging, boosting and stacking</a:t>
            </a:r>
            <a:endParaRPr lang="en-US" sz="3200" dirty="0"/>
          </a:p>
        </p:txBody>
      </p:sp>
      <p:sp>
        <p:nvSpPr>
          <p:cNvPr id="4" name="Shape 1"/>
          <p:cNvSpPr/>
          <p:nvPr/>
        </p:nvSpPr>
        <p:spPr>
          <a:xfrm>
            <a:off x="548640" y="1280160"/>
            <a:ext cx="3566160" cy="3794760"/>
          </a:xfrm>
          <a:prstGeom prst="roundRect">
            <a:avLst>
              <a:gd name="adj" fmla="val 2051"/>
            </a:avLst>
          </a:prstGeom>
          <a:solidFill>
            <a:srgbClr val="F3F0EB"/>
          </a:solidFill>
          <a:ln/>
        </p:spPr>
      </p:sp>
      <p:sp>
        <p:nvSpPr>
          <p:cNvPr id="5" name="Text 2"/>
          <p:cNvSpPr txBox="1"/>
          <p:nvPr/>
        </p:nvSpPr>
        <p:spPr>
          <a:xfrm>
            <a:off x="685800" y="1371600"/>
            <a:ext cx="3291840" cy="457200"/>
          </a:xfrm>
          <a:prstGeom prst="rect">
            <a:avLst/>
          </a:prstGeom>
          <a:noFill/>
          <a:ln/>
        </p:spPr>
        <p:txBody>
          <a:bodyPr wrap="square" lIns="0" tIns="0" rIns="0" bIns="0" rtlCol="0" anchor="ctr"/>
          <a:lstStyle/>
          <a:p>
            <a:pPr marL="0" indent="0">
              <a:buNone/>
            </a:pPr>
            <a:r>
              <a:rPr lang="en-US" sz="1700" b="1" dirty="0">
                <a:solidFill>
                  <a:srgbClr val="8C5A2B"/>
                </a:solidFill>
              </a:rPr>
              <a:t>Bagging → lower variance</a:t>
            </a:r>
            <a:endParaRPr lang="en-US" sz="1700" dirty="0"/>
          </a:p>
        </p:txBody>
      </p:sp>
      <p:sp>
        <p:nvSpPr>
          <p:cNvPr id="6" name="Text 3"/>
          <p:cNvSpPr txBox="1"/>
          <p:nvPr/>
        </p:nvSpPr>
        <p:spPr>
          <a:xfrm>
            <a:off x="1508760" y="1965960"/>
            <a:ext cx="1645920" cy="457200"/>
          </a:xfrm>
          <a:prstGeom prst="roundRect">
            <a:avLst>
              <a:gd name="adj" fmla="val 16000"/>
            </a:avLst>
          </a:prstGeom>
          <a:solidFill>
            <a:srgbClr val="FFFFFF"/>
          </a:solidFill>
          <a:ln w="12700">
            <a:solidFill>
              <a:srgbClr val="8C5A2B"/>
            </a:solidFill>
          </a:ln>
        </p:spPr>
        <p:txBody>
          <a:bodyPr wrap="square" lIns="50800" tIns="50800" rIns="50800" bIns="50800" rtlCol="0" anchor="ctr"/>
          <a:lstStyle/>
          <a:p>
            <a:pPr marL="0" indent="0" algn="ctr">
              <a:buNone/>
            </a:pPr>
            <a:r>
              <a:rPr lang="en-US" sz="1300" dirty="0">
                <a:solidFill>
                  <a:srgbClr val="2B2118"/>
                </a:solidFill>
              </a:rPr>
              <a:t>Training data</a:t>
            </a:r>
            <a:endParaRPr lang="en-US" sz="1300" dirty="0"/>
          </a:p>
        </p:txBody>
      </p:sp>
      <p:sp>
        <p:nvSpPr>
          <p:cNvPr id="7" name="Shape 4"/>
          <p:cNvSpPr/>
          <p:nvPr/>
        </p:nvSpPr>
        <p:spPr>
          <a:xfrm flipH="1">
            <a:off x="1234440" y="2423160"/>
            <a:ext cx="1097280" cy="274320"/>
          </a:xfrm>
          <a:prstGeom prst="line">
            <a:avLst/>
          </a:prstGeom>
          <a:noFill/>
          <a:ln w="22225">
            <a:solidFill>
              <a:srgbClr val="8A8178"/>
            </a:solidFill>
            <a:prstDash val="solid"/>
            <a:tailEnd type="triangle"/>
          </a:ln>
        </p:spPr>
      </p:sp>
      <p:sp>
        <p:nvSpPr>
          <p:cNvPr id="8" name="Text 5"/>
          <p:cNvSpPr txBox="1"/>
          <p:nvPr/>
        </p:nvSpPr>
        <p:spPr>
          <a:xfrm>
            <a:off x="777240" y="2697480"/>
            <a:ext cx="914400" cy="685800"/>
          </a:xfrm>
          <a:prstGeom prst="roundRect">
            <a:avLst>
              <a:gd name="adj" fmla="val 10667"/>
            </a:avLst>
          </a:prstGeom>
          <a:solidFill>
            <a:srgbClr val="8C5A2B"/>
          </a:solidFill>
          <a:ln/>
        </p:spPr>
        <p:txBody>
          <a:bodyPr wrap="square" lIns="50800" tIns="50800" rIns="50800" bIns="50800" rtlCol="0" anchor="ctr"/>
          <a:lstStyle/>
          <a:p>
            <a:pPr marL="0" indent="0" algn="ctr">
              <a:buNone/>
            </a:pPr>
            <a:r>
              <a:rPr lang="en-US" sz="1200" dirty="0">
                <a:solidFill>
                  <a:srgbClr val="FFFFFF"/>
                </a:solidFill>
              </a:rPr>
              <a:t>Bootstrap 1</a:t>
            </a:r>
            <a:endParaRPr lang="en-US" sz="1200" dirty="0"/>
          </a:p>
          <a:p>
            <a:pPr marL="0" indent="0" algn="ctr">
              <a:buNone/>
            </a:pPr>
            <a:r>
              <a:rPr lang="en-US" sz="1200" dirty="0">
                <a:solidFill>
                  <a:srgbClr val="FFFFFF"/>
                </a:solidFill>
              </a:rPr>
              <a:t>→ tree</a:t>
            </a:r>
            <a:endParaRPr lang="en-US" sz="1200" dirty="0"/>
          </a:p>
        </p:txBody>
      </p:sp>
      <p:sp>
        <p:nvSpPr>
          <p:cNvPr id="9" name="Shape 6"/>
          <p:cNvSpPr/>
          <p:nvPr/>
        </p:nvSpPr>
        <p:spPr>
          <a:xfrm>
            <a:off x="1234440" y="3383280"/>
            <a:ext cx="1097280" cy="411480"/>
          </a:xfrm>
          <a:prstGeom prst="line">
            <a:avLst/>
          </a:prstGeom>
          <a:noFill/>
          <a:ln w="22225">
            <a:solidFill>
              <a:srgbClr val="8A8178"/>
            </a:solidFill>
            <a:prstDash val="solid"/>
            <a:tailEnd type="triangle"/>
          </a:ln>
        </p:spPr>
      </p:sp>
      <p:sp>
        <p:nvSpPr>
          <p:cNvPr id="10" name="Shape 7"/>
          <p:cNvSpPr/>
          <p:nvPr/>
        </p:nvSpPr>
        <p:spPr>
          <a:xfrm>
            <a:off x="2331720" y="2423160"/>
            <a:ext cx="914" cy="274320"/>
          </a:xfrm>
          <a:prstGeom prst="line">
            <a:avLst/>
          </a:prstGeom>
          <a:noFill/>
          <a:ln w="22225">
            <a:solidFill>
              <a:srgbClr val="8A8178"/>
            </a:solidFill>
            <a:prstDash val="solid"/>
            <a:tailEnd type="triangle"/>
          </a:ln>
        </p:spPr>
      </p:sp>
      <p:sp>
        <p:nvSpPr>
          <p:cNvPr id="11" name="Text 8"/>
          <p:cNvSpPr txBox="1"/>
          <p:nvPr/>
        </p:nvSpPr>
        <p:spPr>
          <a:xfrm>
            <a:off x="1874520" y="2697480"/>
            <a:ext cx="914400" cy="685800"/>
          </a:xfrm>
          <a:prstGeom prst="roundRect">
            <a:avLst>
              <a:gd name="adj" fmla="val 10667"/>
            </a:avLst>
          </a:prstGeom>
          <a:solidFill>
            <a:srgbClr val="8C5A2B"/>
          </a:solidFill>
          <a:ln/>
        </p:spPr>
        <p:txBody>
          <a:bodyPr wrap="square" lIns="50800" tIns="50800" rIns="50800" bIns="50800" rtlCol="0" anchor="ctr"/>
          <a:lstStyle/>
          <a:p>
            <a:pPr marL="0" indent="0" algn="ctr">
              <a:buNone/>
            </a:pPr>
            <a:r>
              <a:rPr lang="en-US" sz="1200" dirty="0">
                <a:solidFill>
                  <a:srgbClr val="FFFFFF"/>
                </a:solidFill>
              </a:rPr>
              <a:t>Bootstrap 2</a:t>
            </a:r>
            <a:endParaRPr lang="en-US" sz="1200" dirty="0"/>
          </a:p>
          <a:p>
            <a:pPr marL="0" indent="0" algn="ctr">
              <a:buNone/>
            </a:pPr>
            <a:r>
              <a:rPr lang="en-US" sz="1200" dirty="0">
                <a:solidFill>
                  <a:srgbClr val="FFFFFF"/>
                </a:solidFill>
              </a:rPr>
              <a:t>→ tree</a:t>
            </a:r>
            <a:endParaRPr lang="en-US" sz="1200" dirty="0"/>
          </a:p>
        </p:txBody>
      </p:sp>
      <p:sp>
        <p:nvSpPr>
          <p:cNvPr id="12" name="Shape 9"/>
          <p:cNvSpPr/>
          <p:nvPr/>
        </p:nvSpPr>
        <p:spPr>
          <a:xfrm>
            <a:off x="2331720" y="3383280"/>
            <a:ext cx="914" cy="411480"/>
          </a:xfrm>
          <a:prstGeom prst="line">
            <a:avLst/>
          </a:prstGeom>
          <a:noFill/>
          <a:ln w="22225">
            <a:solidFill>
              <a:srgbClr val="8A8178"/>
            </a:solidFill>
            <a:prstDash val="solid"/>
            <a:tailEnd type="triangle"/>
          </a:ln>
        </p:spPr>
      </p:sp>
      <p:sp>
        <p:nvSpPr>
          <p:cNvPr id="13" name="Shape 10"/>
          <p:cNvSpPr/>
          <p:nvPr/>
        </p:nvSpPr>
        <p:spPr>
          <a:xfrm>
            <a:off x="2331720" y="2423160"/>
            <a:ext cx="1097280" cy="274320"/>
          </a:xfrm>
          <a:prstGeom prst="line">
            <a:avLst/>
          </a:prstGeom>
          <a:noFill/>
          <a:ln w="22225">
            <a:solidFill>
              <a:srgbClr val="8A8178"/>
            </a:solidFill>
            <a:prstDash val="solid"/>
            <a:tailEnd type="triangle"/>
          </a:ln>
        </p:spPr>
      </p:sp>
      <p:sp>
        <p:nvSpPr>
          <p:cNvPr id="14" name="Text 11"/>
          <p:cNvSpPr txBox="1"/>
          <p:nvPr/>
        </p:nvSpPr>
        <p:spPr>
          <a:xfrm>
            <a:off x="2971800" y="2697480"/>
            <a:ext cx="914400" cy="685800"/>
          </a:xfrm>
          <a:prstGeom prst="roundRect">
            <a:avLst>
              <a:gd name="adj" fmla="val 10667"/>
            </a:avLst>
          </a:prstGeom>
          <a:solidFill>
            <a:srgbClr val="8C5A2B"/>
          </a:solidFill>
          <a:ln/>
        </p:spPr>
        <p:txBody>
          <a:bodyPr wrap="square" lIns="50800" tIns="50800" rIns="50800" bIns="50800" rtlCol="0" anchor="ctr"/>
          <a:lstStyle/>
          <a:p>
            <a:pPr marL="0" indent="0" algn="ctr">
              <a:buNone/>
            </a:pPr>
            <a:r>
              <a:rPr lang="en-US" sz="1200" dirty="0">
                <a:solidFill>
                  <a:srgbClr val="FFFFFF"/>
                </a:solidFill>
              </a:rPr>
              <a:t>Bootstrap 3</a:t>
            </a:r>
            <a:endParaRPr lang="en-US" sz="1200" dirty="0"/>
          </a:p>
          <a:p>
            <a:pPr marL="0" indent="0" algn="ctr">
              <a:buNone/>
            </a:pPr>
            <a:r>
              <a:rPr lang="en-US" sz="1200" dirty="0">
                <a:solidFill>
                  <a:srgbClr val="FFFFFF"/>
                </a:solidFill>
              </a:rPr>
              <a:t>→ tree</a:t>
            </a:r>
            <a:endParaRPr lang="en-US" sz="1200" dirty="0"/>
          </a:p>
        </p:txBody>
      </p:sp>
      <p:sp>
        <p:nvSpPr>
          <p:cNvPr id="15" name="Shape 12"/>
          <p:cNvSpPr/>
          <p:nvPr/>
        </p:nvSpPr>
        <p:spPr>
          <a:xfrm flipH="1">
            <a:off x="2331720" y="3383280"/>
            <a:ext cx="1097280" cy="411480"/>
          </a:xfrm>
          <a:prstGeom prst="line">
            <a:avLst/>
          </a:prstGeom>
          <a:noFill/>
          <a:ln w="22225">
            <a:solidFill>
              <a:srgbClr val="8A8178"/>
            </a:solidFill>
            <a:prstDash val="solid"/>
            <a:tailEnd type="triangle"/>
          </a:ln>
        </p:spPr>
      </p:sp>
      <p:sp>
        <p:nvSpPr>
          <p:cNvPr id="16" name="Text 13"/>
          <p:cNvSpPr txBox="1"/>
          <p:nvPr/>
        </p:nvSpPr>
        <p:spPr>
          <a:xfrm>
            <a:off x="1508760" y="3794760"/>
            <a:ext cx="1645920" cy="502920"/>
          </a:xfrm>
          <a:prstGeom prst="roundRect">
            <a:avLst>
              <a:gd name="adj" fmla="val 14545"/>
            </a:avLst>
          </a:prstGeom>
          <a:solidFill>
            <a:srgbClr val="2B2118"/>
          </a:solidFill>
          <a:ln/>
        </p:spPr>
        <p:txBody>
          <a:bodyPr wrap="square" lIns="50800" tIns="50800" rIns="50800" bIns="50800" rtlCol="0" anchor="ctr"/>
          <a:lstStyle/>
          <a:p>
            <a:pPr marL="0" indent="0" algn="ctr">
              <a:buNone/>
            </a:pPr>
            <a:r>
              <a:rPr lang="en-US" sz="1300" b="1" dirty="0">
                <a:solidFill>
                  <a:srgbClr val="FFFFFF"/>
                </a:solidFill>
              </a:rPr>
              <a:t>Average</a:t>
            </a:r>
            <a:endParaRPr lang="en-US" sz="1300" dirty="0"/>
          </a:p>
        </p:txBody>
      </p:sp>
      <p:sp>
        <p:nvSpPr>
          <p:cNvPr id="17" name="Text 14"/>
          <p:cNvSpPr txBox="1"/>
          <p:nvPr/>
        </p:nvSpPr>
        <p:spPr>
          <a:xfrm>
            <a:off x="685800" y="4526280"/>
            <a:ext cx="3291840" cy="457200"/>
          </a:xfrm>
          <a:prstGeom prst="rect">
            <a:avLst/>
          </a:prstGeom>
          <a:noFill/>
          <a:ln/>
        </p:spPr>
        <p:txBody>
          <a:bodyPr wrap="square" lIns="0" tIns="0" rIns="0" bIns="0" rtlCol="0" anchor="ctr"/>
          <a:lstStyle/>
          <a:p>
            <a:pPr marL="0" indent="0">
              <a:buNone/>
            </a:pPr>
            <a:r>
              <a:rPr lang="en-US" sz="1400" b="1" dirty="0">
                <a:solidFill>
                  <a:srgbClr val="2B2118"/>
                </a:solidFill>
              </a:rPr>
              <a:t>Example: </a:t>
            </a:r>
            <a:r>
              <a:rPr lang="en-US" sz="1400" dirty="0">
                <a:solidFill>
                  <a:srgbClr val="2B2118"/>
                </a:solidFill>
              </a:rPr>
              <a:t>Random forest</a:t>
            </a:r>
            <a:endParaRPr lang="en-US" sz="1400" dirty="0"/>
          </a:p>
        </p:txBody>
      </p:sp>
      <p:sp>
        <p:nvSpPr>
          <p:cNvPr id="18" name="Shape 15"/>
          <p:cNvSpPr/>
          <p:nvPr/>
        </p:nvSpPr>
        <p:spPr>
          <a:xfrm>
            <a:off x="4297680" y="1280160"/>
            <a:ext cx="3566160" cy="3794760"/>
          </a:xfrm>
          <a:prstGeom prst="roundRect">
            <a:avLst>
              <a:gd name="adj" fmla="val 2051"/>
            </a:avLst>
          </a:prstGeom>
          <a:solidFill>
            <a:srgbClr val="F3F0EB"/>
          </a:solidFill>
          <a:ln/>
        </p:spPr>
      </p:sp>
      <p:sp>
        <p:nvSpPr>
          <p:cNvPr id="19" name="Text 16"/>
          <p:cNvSpPr txBox="1"/>
          <p:nvPr/>
        </p:nvSpPr>
        <p:spPr>
          <a:xfrm>
            <a:off x="4434840" y="1371600"/>
            <a:ext cx="3291840" cy="457200"/>
          </a:xfrm>
          <a:prstGeom prst="rect">
            <a:avLst/>
          </a:prstGeom>
          <a:noFill/>
          <a:ln/>
        </p:spPr>
        <p:txBody>
          <a:bodyPr wrap="square" lIns="0" tIns="0" rIns="0" bIns="0" rtlCol="0" anchor="ctr"/>
          <a:lstStyle/>
          <a:p>
            <a:pPr marL="0" indent="0">
              <a:buNone/>
            </a:pPr>
            <a:r>
              <a:rPr lang="en-US" sz="1700" b="1" dirty="0">
                <a:solidFill>
                  <a:srgbClr val="C9A227"/>
                </a:solidFill>
              </a:rPr>
              <a:t>Boosting → lower bias</a:t>
            </a:r>
            <a:endParaRPr lang="en-US" sz="1700" dirty="0"/>
          </a:p>
        </p:txBody>
      </p:sp>
      <p:sp>
        <p:nvSpPr>
          <p:cNvPr id="20" name="Text 17"/>
          <p:cNvSpPr txBox="1"/>
          <p:nvPr/>
        </p:nvSpPr>
        <p:spPr>
          <a:xfrm>
            <a:off x="4572000" y="1965960"/>
            <a:ext cx="1371600" cy="548640"/>
          </a:xfrm>
          <a:prstGeom prst="roundRect">
            <a:avLst>
              <a:gd name="adj" fmla="val 13333"/>
            </a:avLst>
          </a:prstGeom>
          <a:solidFill>
            <a:srgbClr val="C9A227"/>
          </a:solidFill>
          <a:ln/>
        </p:spPr>
        <p:txBody>
          <a:bodyPr wrap="square" lIns="50800" tIns="50800" rIns="50800" bIns="50800" rtlCol="0" anchor="ctr"/>
          <a:lstStyle/>
          <a:p>
            <a:pPr marL="0" indent="0" algn="ctr">
              <a:buNone/>
            </a:pPr>
            <a:r>
              <a:rPr lang="en-US" sz="1300" b="1" dirty="0">
                <a:solidFill>
                  <a:srgbClr val="2B2118"/>
                </a:solidFill>
              </a:rPr>
              <a:t>Tree 1</a:t>
            </a:r>
            <a:endParaRPr lang="en-US" sz="1300" dirty="0"/>
          </a:p>
        </p:txBody>
      </p:sp>
      <p:sp>
        <p:nvSpPr>
          <p:cNvPr id="21" name="Text 18"/>
          <p:cNvSpPr txBox="1"/>
          <p:nvPr/>
        </p:nvSpPr>
        <p:spPr>
          <a:xfrm>
            <a:off x="6263640" y="1965960"/>
            <a:ext cx="1325880" cy="548640"/>
          </a:xfrm>
          <a:prstGeom prst="roundRect">
            <a:avLst>
              <a:gd name="adj" fmla="val 13333"/>
            </a:avLst>
          </a:prstGeom>
          <a:solidFill>
            <a:srgbClr val="FFFFFF"/>
          </a:solidFill>
          <a:ln w="12700">
            <a:solidFill>
              <a:srgbClr val="C9A227"/>
            </a:solidFill>
          </a:ln>
        </p:spPr>
        <p:txBody>
          <a:bodyPr wrap="square" lIns="50800" tIns="50800" rIns="50800" bIns="50800" rtlCol="0" anchor="ctr"/>
          <a:lstStyle/>
          <a:p>
            <a:pPr marL="0" indent="0" algn="ctr">
              <a:buNone/>
            </a:pPr>
            <a:r>
              <a:rPr lang="en-US" sz="1200" dirty="0">
                <a:solidFill>
                  <a:srgbClr val="2B2118"/>
                </a:solidFill>
              </a:rPr>
              <a:t>fit y</a:t>
            </a:r>
            <a:endParaRPr lang="en-US" sz="1200" dirty="0"/>
          </a:p>
        </p:txBody>
      </p:sp>
      <p:sp>
        <p:nvSpPr>
          <p:cNvPr id="22" name="Shape 19"/>
          <p:cNvSpPr/>
          <p:nvPr/>
        </p:nvSpPr>
        <p:spPr>
          <a:xfrm>
            <a:off x="5257800" y="2514600"/>
            <a:ext cx="914" cy="228600"/>
          </a:xfrm>
          <a:prstGeom prst="line">
            <a:avLst/>
          </a:prstGeom>
          <a:noFill/>
          <a:ln w="22225">
            <a:solidFill>
              <a:srgbClr val="8A8178"/>
            </a:solidFill>
            <a:prstDash val="solid"/>
            <a:tailEnd type="triangle"/>
          </a:ln>
        </p:spPr>
      </p:sp>
      <p:sp>
        <p:nvSpPr>
          <p:cNvPr id="23" name="Text 20"/>
          <p:cNvSpPr txBox="1"/>
          <p:nvPr/>
        </p:nvSpPr>
        <p:spPr>
          <a:xfrm>
            <a:off x="4572000" y="2743200"/>
            <a:ext cx="1371600" cy="548640"/>
          </a:xfrm>
          <a:prstGeom prst="roundRect">
            <a:avLst>
              <a:gd name="adj" fmla="val 13333"/>
            </a:avLst>
          </a:prstGeom>
          <a:solidFill>
            <a:srgbClr val="C9A227"/>
          </a:solidFill>
          <a:ln/>
        </p:spPr>
        <p:txBody>
          <a:bodyPr wrap="square" lIns="50800" tIns="50800" rIns="50800" bIns="50800" rtlCol="0" anchor="ctr"/>
          <a:lstStyle/>
          <a:p>
            <a:pPr marL="0" indent="0" algn="ctr">
              <a:buNone/>
            </a:pPr>
            <a:r>
              <a:rPr lang="en-US" sz="1300" b="1" dirty="0">
                <a:solidFill>
                  <a:srgbClr val="2B2118"/>
                </a:solidFill>
              </a:rPr>
              <a:t>Tree 2</a:t>
            </a:r>
            <a:endParaRPr lang="en-US" sz="1300" dirty="0"/>
          </a:p>
        </p:txBody>
      </p:sp>
      <p:sp>
        <p:nvSpPr>
          <p:cNvPr id="24" name="Text 21"/>
          <p:cNvSpPr txBox="1"/>
          <p:nvPr/>
        </p:nvSpPr>
        <p:spPr>
          <a:xfrm>
            <a:off x="6263640" y="2743200"/>
            <a:ext cx="1325880" cy="548640"/>
          </a:xfrm>
          <a:prstGeom prst="roundRect">
            <a:avLst>
              <a:gd name="adj" fmla="val 13333"/>
            </a:avLst>
          </a:prstGeom>
          <a:solidFill>
            <a:srgbClr val="FFFFFF"/>
          </a:solidFill>
          <a:ln w="12700">
            <a:solidFill>
              <a:srgbClr val="C9A227"/>
            </a:solidFill>
          </a:ln>
        </p:spPr>
        <p:txBody>
          <a:bodyPr wrap="square" lIns="50800" tIns="50800" rIns="50800" bIns="50800" rtlCol="0" anchor="ctr"/>
          <a:lstStyle/>
          <a:p>
            <a:pPr marL="0" indent="0" algn="ctr">
              <a:buNone/>
            </a:pPr>
            <a:r>
              <a:rPr lang="en-US" sz="1200" dirty="0">
                <a:solidFill>
                  <a:srgbClr val="2B2118"/>
                </a:solidFill>
              </a:rPr>
              <a:t>fit residual 1</a:t>
            </a:r>
            <a:endParaRPr lang="en-US" sz="1200" dirty="0"/>
          </a:p>
        </p:txBody>
      </p:sp>
      <p:sp>
        <p:nvSpPr>
          <p:cNvPr id="25" name="Shape 22"/>
          <p:cNvSpPr/>
          <p:nvPr/>
        </p:nvSpPr>
        <p:spPr>
          <a:xfrm>
            <a:off x="5257800" y="3291840"/>
            <a:ext cx="914" cy="228600"/>
          </a:xfrm>
          <a:prstGeom prst="line">
            <a:avLst/>
          </a:prstGeom>
          <a:noFill/>
          <a:ln w="22225">
            <a:solidFill>
              <a:srgbClr val="8A8178"/>
            </a:solidFill>
            <a:prstDash val="solid"/>
            <a:tailEnd type="triangle"/>
          </a:ln>
        </p:spPr>
      </p:sp>
      <p:sp>
        <p:nvSpPr>
          <p:cNvPr id="26" name="Text 23"/>
          <p:cNvSpPr txBox="1"/>
          <p:nvPr/>
        </p:nvSpPr>
        <p:spPr>
          <a:xfrm>
            <a:off x="4572000" y="3520440"/>
            <a:ext cx="1371600" cy="548640"/>
          </a:xfrm>
          <a:prstGeom prst="roundRect">
            <a:avLst>
              <a:gd name="adj" fmla="val 13333"/>
            </a:avLst>
          </a:prstGeom>
          <a:solidFill>
            <a:srgbClr val="C9A227"/>
          </a:solidFill>
          <a:ln/>
        </p:spPr>
        <p:txBody>
          <a:bodyPr wrap="square" lIns="50800" tIns="50800" rIns="50800" bIns="50800" rtlCol="0" anchor="ctr"/>
          <a:lstStyle/>
          <a:p>
            <a:pPr marL="0" indent="0" algn="ctr">
              <a:buNone/>
            </a:pPr>
            <a:r>
              <a:rPr lang="en-US" sz="1300" b="1" dirty="0">
                <a:solidFill>
                  <a:srgbClr val="2B2118"/>
                </a:solidFill>
              </a:rPr>
              <a:t>Tree 3</a:t>
            </a:r>
            <a:endParaRPr lang="en-US" sz="1300" dirty="0"/>
          </a:p>
        </p:txBody>
      </p:sp>
      <p:sp>
        <p:nvSpPr>
          <p:cNvPr id="27" name="Text 24"/>
          <p:cNvSpPr txBox="1"/>
          <p:nvPr/>
        </p:nvSpPr>
        <p:spPr>
          <a:xfrm>
            <a:off x="6263640" y="3520440"/>
            <a:ext cx="1325880" cy="548640"/>
          </a:xfrm>
          <a:prstGeom prst="roundRect">
            <a:avLst>
              <a:gd name="adj" fmla="val 13333"/>
            </a:avLst>
          </a:prstGeom>
          <a:solidFill>
            <a:srgbClr val="FFFFFF"/>
          </a:solidFill>
          <a:ln w="12700">
            <a:solidFill>
              <a:srgbClr val="C9A227"/>
            </a:solidFill>
          </a:ln>
        </p:spPr>
        <p:txBody>
          <a:bodyPr wrap="square" lIns="50800" tIns="50800" rIns="50800" bIns="50800" rtlCol="0" anchor="ctr"/>
          <a:lstStyle/>
          <a:p>
            <a:pPr marL="0" indent="0" algn="ctr">
              <a:buNone/>
            </a:pPr>
            <a:r>
              <a:rPr lang="en-US" sz="1200" dirty="0">
                <a:solidFill>
                  <a:srgbClr val="2B2118"/>
                </a:solidFill>
              </a:rPr>
              <a:t>fit residual 2</a:t>
            </a:r>
            <a:endParaRPr lang="en-US" sz="1200" dirty="0"/>
          </a:p>
        </p:txBody>
      </p:sp>
      <p:sp>
        <p:nvSpPr>
          <p:cNvPr id="28" name="Text 25"/>
          <p:cNvSpPr txBox="1"/>
          <p:nvPr/>
        </p:nvSpPr>
        <p:spPr>
          <a:xfrm>
            <a:off x="4572000" y="4206240"/>
            <a:ext cx="3017520" cy="457200"/>
          </a:xfrm>
          <a:prstGeom prst="roundRect">
            <a:avLst>
              <a:gd name="adj" fmla="val 16000"/>
            </a:avLst>
          </a:prstGeom>
          <a:solidFill>
            <a:srgbClr val="2B2118"/>
          </a:solidFill>
          <a:ln/>
        </p:spPr>
        <p:txBody>
          <a:bodyPr wrap="square" lIns="50800" tIns="50800" rIns="50800" bIns="50800" rtlCol="0" anchor="ctr"/>
          <a:lstStyle/>
          <a:p>
            <a:pPr marL="0" indent="0" algn="ctr">
              <a:buNone/>
            </a:pPr>
            <a:r>
              <a:rPr lang="en-US" sz="1300" b="1" dirty="0">
                <a:solidFill>
                  <a:srgbClr val="FFFFFF"/>
                </a:solidFill>
              </a:rPr>
              <a:t>Weighted sum (learning rate η)</a:t>
            </a:r>
            <a:endParaRPr lang="en-US" sz="1300" dirty="0"/>
          </a:p>
        </p:txBody>
      </p:sp>
      <p:sp>
        <p:nvSpPr>
          <p:cNvPr id="29" name="Shape 26"/>
          <p:cNvSpPr/>
          <p:nvPr/>
        </p:nvSpPr>
        <p:spPr>
          <a:xfrm>
            <a:off x="5257800" y="3566160"/>
            <a:ext cx="914" cy="640080"/>
          </a:xfrm>
          <a:prstGeom prst="line">
            <a:avLst/>
          </a:prstGeom>
          <a:noFill/>
          <a:ln w="22225">
            <a:solidFill>
              <a:srgbClr val="8A8178"/>
            </a:solidFill>
            <a:prstDash val="solid"/>
            <a:tailEnd type="triangle"/>
          </a:ln>
        </p:spPr>
      </p:sp>
      <p:sp>
        <p:nvSpPr>
          <p:cNvPr id="30" name="Text 27"/>
          <p:cNvSpPr txBox="1"/>
          <p:nvPr/>
        </p:nvSpPr>
        <p:spPr>
          <a:xfrm>
            <a:off x="4434840" y="4526280"/>
            <a:ext cx="3291840" cy="457200"/>
          </a:xfrm>
          <a:prstGeom prst="rect">
            <a:avLst/>
          </a:prstGeom>
          <a:noFill/>
          <a:ln/>
        </p:spPr>
        <p:txBody>
          <a:bodyPr wrap="square" lIns="0" tIns="0" rIns="0" bIns="0" rtlCol="0" anchor="ctr"/>
          <a:lstStyle/>
          <a:p>
            <a:pPr marL="0" indent="0">
              <a:buNone/>
            </a:pPr>
            <a:r>
              <a:rPr lang="en-US" sz="1400" b="1" dirty="0">
                <a:solidFill>
                  <a:srgbClr val="2B2118"/>
                </a:solidFill>
              </a:rPr>
              <a:t>Example: </a:t>
            </a:r>
            <a:r>
              <a:rPr lang="en-US" sz="1400" dirty="0">
                <a:solidFill>
                  <a:srgbClr val="2B2118"/>
                </a:solidFill>
              </a:rPr>
              <a:t>GBM, XGBoost</a:t>
            </a:r>
            <a:endParaRPr lang="en-US" sz="1400" dirty="0"/>
          </a:p>
        </p:txBody>
      </p:sp>
      <p:sp>
        <p:nvSpPr>
          <p:cNvPr id="31" name="Shape 28"/>
          <p:cNvSpPr/>
          <p:nvPr/>
        </p:nvSpPr>
        <p:spPr>
          <a:xfrm>
            <a:off x="8046720" y="1280160"/>
            <a:ext cx="3566160" cy="3794760"/>
          </a:xfrm>
          <a:prstGeom prst="roundRect">
            <a:avLst>
              <a:gd name="adj" fmla="val 2051"/>
            </a:avLst>
          </a:prstGeom>
          <a:solidFill>
            <a:srgbClr val="F3F0EB"/>
          </a:solidFill>
          <a:ln/>
        </p:spPr>
      </p:sp>
      <p:sp>
        <p:nvSpPr>
          <p:cNvPr id="32" name="Text 29"/>
          <p:cNvSpPr txBox="1"/>
          <p:nvPr/>
        </p:nvSpPr>
        <p:spPr>
          <a:xfrm>
            <a:off x="8183880" y="1371600"/>
            <a:ext cx="3291840" cy="457200"/>
          </a:xfrm>
          <a:prstGeom prst="rect">
            <a:avLst/>
          </a:prstGeom>
          <a:noFill/>
          <a:ln/>
        </p:spPr>
        <p:txBody>
          <a:bodyPr wrap="square" lIns="0" tIns="0" rIns="0" bIns="0" rtlCol="0" anchor="ctr"/>
          <a:lstStyle/>
          <a:p>
            <a:pPr marL="0" indent="0">
              <a:buNone/>
            </a:pPr>
            <a:r>
              <a:rPr lang="en-US" sz="1700" b="1" dirty="0">
                <a:solidFill>
                  <a:srgbClr val="2E7D7A"/>
                </a:solidFill>
              </a:rPr>
              <a:t>Stacking → combine strengths</a:t>
            </a:r>
            <a:endParaRPr lang="en-US" sz="1700" dirty="0"/>
          </a:p>
        </p:txBody>
      </p:sp>
      <p:sp>
        <p:nvSpPr>
          <p:cNvPr id="33" name="Text 30"/>
          <p:cNvSpPr txBox="1"/>
          <p:nvPr/>
        </p:nvSpPr>
        <p:spPr>
          <a:xfrm>
            <a:off x="8275320" y="1965960"/>
            <a:ext cx="914400" cy="548640"/>
          </a:xfrm>
          <a:prstGeom prst="roundRect">
            <a:avLst>
              <a:gd name="adj" fmla="val 13333"/>
            </a:avLst>
          </a:prstGeom>
          <a:solidFill>
            <a:srgbClr val="2E7D7A"/>
          </a:solidFill>
          <a:ln/>
        </p:spPr>
        <p:txBody>
          <a:bodyPr wrap="square" lIns="50800" tIns="50800" rIns="50800" bIns="50800" rtlCol="0" anchor="ctr"/>
          <a:lstStyle/>
          <a:p>
            <a:pPr marL="0" indent="0" algn="ctr">
              <a:buNone/>
            </a:pPr>
            <a:r>
              <a:rPr lang="en-US" sz="1300" b="1" dirty="0">
                <a:solidFill>
                  <a:srgbClr val="FFFFFF"/>
                </a:solidFill>
              </a:rPr>
              <a:t>Cubist</a:t>
            </a:r>
            <a:endParaRPr lang="en-US" sz="1300" dirty="0"/>
          </a:p>
        </p:txBody>
      </p:sp>
      <p:sp>
        <p:nvSpPr>
          <p:cNvPr id="34" name="Shape 31"/>
          <p:cNvSpPr/>
          <p:nvPr/>
        </p:nvSpPr>
        <p:spPr>
          <a:xfrm>
            <a:off x="8732520" y="2514600"/>
            <a:ext cx="1097280" cy="548640"/>
          </a:xfrm>
          <a:prstGeom prst="line">
            <a:avLst/>
          </a:prstGeom>
          <a:noFill/>
          <a:ln w="22225">
            <a:solidFill>
              <a:srgbClr val="8A8178"/>
            </a:solidFill>
            <a:prstDash val="solid"/>
            <a:tailEnd type="triangle"/>
          </a:ln>
        </p:spPr>
      </p:sp>
      <p:sp>
        <p:nvSpPr>
          <p:cNvPr id="35" name="Text 32"/>
          <p:cNvSpPr txBox="1"/>
          <p:nvPr/>
        </p:nvSpPr>
        <p:spPr>
          <a:xfrm>
            <a:off x="9372600" y="1965960"/>
            <a:ext cx="914400" cy="548640"/>
          </a:xfrm>
          <a:prstGeom prst="roundRect">
            <a:avLst>
              <a:gd name="adj" fmla="val 13333"/>
            </a:avLst>
          </a:prstGeom>
          <a:solidFill>
            <a:srgbClr val="2E7D7A"/>
          </a:solidFill>
          <a:ln/>
        </p:spPr>
        <p:txBody>
          <a:bodyPr wrap="square" lIns="50800" tIns="50800" rIns="50800" bIns="50800" rtlCol="0" anchor="ctr"/>
          <a:lstStyle/>
          <a:p>
            <a:pPr marL="0" indent="0" algn="ctr">
              <a:buNone/>
            </a:pPr>
            <a:r>
              <a:rPr lang="en-US" sz="1300" b="1" dirty="0">
                <a:solidFill>
                  <a:srgbClr val="FFFFFF"/>
                </a:solidFill>
              </a:rPr>
              <a:t>GBM</a:t>
            </a:r>
            <a:endParaRPr lang="en-US" sz="1300" dirty="0"/>
          </a:p>
        </p:txBody>
      </p:sp>
      <p:sp>
        <p:nvSpPr>
          <p:cNvPr id="36" name="Shape 33"/>
          <p:cNvSpPr/>
          <p:nvPr/>
        </p:nvSpPr>
        <p:spPr>
          <a:xfrm>
            <a:off x="9829800" y="2514600"/>
            <a:ext cx="914" cy="548640"/>
          </a:xfrm>
          <a:prstGeom prst="line">
            <a:avLst/>
          </a:prstGeom>
          <a:noFill/>
          <a:ln w="22225">
            <a:solidFill>
              <a:srgbClr val="8A8178"/>
            </a:solidFill>
            <a:prstDash val="solid"/>
            <a:tailEnd type="triangle"/>
          </a:ln>
        </p:spPr>
      </p:sp>
      <p:sp>
        <p:nvSpPr>
          <p:cNvPr id="37" name="Text 34"/>
          <p:cNvSpPr txBox="1"/>
          <p:nvPr/>
        </p:nvSpPr>
        <p:spPr>
          <a:xfrm>
            <a:off x="10469880" y="1965960"/>
            <a:ext cx="914400" cy="548640"/>
          </a:xfrm>
          <a:prstGeom prst="roundRect">
            <a:avLst>
              <a:gd name="adj" fmla="val 13333"/>
            </a:avLst>
          </a:prstGeom>
          <a:solidFill>
            <a:srgbClr val="2E7D7A"/>
          </a:solidFill>
          <a:ln/>
        </p:spPr>
        <p:txBody>
          <a:bodyPr wrap="square" lIns="50800" tIns="50800" rIns="50800" bIns="50800" rtlCol="0" anchor="ctr"/>
          <a:lstStyle/>
          <a:p>
            <a:pPr marL="0" indent="0" algn="ctr">
              <a:buNone/>
            </a:pPr>
            <a:r>
              <a:rPr lang="en-US" sz="1300" b="1" dirty="0">
                <a:solidFill>
                  <a:srgbClr val="FFFFFF"/>
                </a:solidFill>
              </a:rPr>
              <a:t>RF</a:t>
            </a:r>
            <a:endParaRPr lang="en-US" sz="1300" dirty="0"/>
          </a:p>
        </p:txBody>
      </p:sp>
      <p:sp>
        <p:nvSpPr>
          <p:cNvPr id="38" name="Shape 35"/>
          <p:cNvSpPr/>
          <p:nvPr/>
        </p:nvSpPr>
        <p:spPr>
          <a:xfrm flipH="1">
            <a:off x="9829800" y="2514600"/>
            <a:ext cx="1097280" cy="548640"/>
          </a:xfrm>
          <a:prstGeom prst="line">
            <a:avLst/>
          </a:prstGeom>
          <a:noFill/>
          <a:ln w="22225">
            <a:solidFill>
              <a:srgbClr val="8A8178"/>
            </a:solidFill>
            <a:prstDash val="solid"/>
            <a:tailEnd type="triangle"/>
          </a:ln>
        </p:spPr>
      </p:sp>
      <p:sp>
        <p:nvSpPr>
          <p:cNvPr id="39" name="Text 36"/>
          <p:cNvSpPr txBox="1"/>
          <p:nvPr/>
        </p:nvSpPr>
        <p:spPr>
          <a:xfrm>
            <a:off x="8183880" y="2560320"/>
            <a:ext cx="1280160" cy="457200"/>
          </a:xfrm>
          <a:prstGeom prst="rect">
            <a:avLst/>
          </a:prstGeom>
          <a:noFill/>
          <a:ln/>
        </p:spPr>
        <p:txBody>
          <a:bodyPr wrap="square" lIns="0" tIns="0" rIns="0" bIns="0" rtlCol="0" anchor="ctr"/>
          <a:lstStyle/>
          <a:p>
            <a:pPr marL="0" indent="0">
              <a:buNone/>
            </a:pPr>
            <a:r>
              <a:rPr lang="en-US" sz="1100" dirty="0">
                <a:solidFill>
                  <a:srgbClr val="4A3B2E"/>
                </a:solidFill>
              </a:rPr>
              <a:t>Level 0: base learners</a:t>
            </a:r>
            <a:endParaRPr lang="en-US" sz="1100" dirty="0"/>
          </a:p>
        </p:txBody>
      </p:sp>
      <p:sp>
        <p:nvSpPr>
          <p:cNvPr id="40" name="Text 37"/>
          <p:cNvSpPr txBox="1"/>
          <p:nvPr/>
        </p:nvSpPr>
        <p:spPr>
          <a:xfrm>
            <a:off x="8823960" y="3063240"/>
            <a:ext cx="2011680" cy="640080"/>
          </a:xfrm>
          <a:prstGeom prst="roundRect">
            <a:avLst>
              <a:gd name="adj" fmla="val 11429"/>
            </a:avLst>
          </a:prstGeom>
          <a:solidFill>
            <a:srgbClr val="2B2118"/>
          </a:solidFill>
          <a:ln/>
        </p:spPr>
        <p:txBody>
          <a:bodyPr wrap="square" lIns="50800" tIns="50800" rIns="50800" bIns="50800" rtlCol="0" anchor="ctr"/>
          <a:lstStyle/>
          <a:p>
            <a:pPr marL="0" indent="0" algn="ctr">
              <a:buNone/>
            </a:pPr>
            <a:r>
              <a:rPr lang="en-US" sz="1300" b="1" dirty="0">
                <a:solidFill>
                  <a:srgbClr val="FFFFFF"/>
                </a:solidFill>
              </a:rPr>
              <a:t>Meta-learner</a:t>
            </a:r>
            <a:endParaRPr lang="en-US" sz="1300" dirty="0"/>
          </a:p>
          <a:p>
            <a:pPr marL="0" indent="0" algn="ctr">
              <a:buNone/>
            </a:pPr>
            <a:r>
              <a:rPr lang="en-US" sz="1300" b="1" dirty="0">
                <a:solidFill>
                  <a:srgbClr val="FFFFFF"/>
                </a:solidFill>
              </a:rPr>
              <a:t>(elastic net)</a:t>
            </a:r>
            <a:endParaRPr lang="en-US" sz="1300" dirty="0"/>
          </a:p>
        </p:txBody>
      </p:sp>
      <p:sp>
        <p:nvSpPr>
          <p:cNvPr id="41" name="Text 38"/>
          <p:cNvSpPr txBox="1"/>
          <p:nvPr/>
        </p:nvSpPr>
        <p:spPr>
          <a:xfrm>
            <a:off x="10881360" y="3200400"/>
            <a:ext cx="640080" cy="365760"/>
          </a:xfrm>
          <a:prstGeom prst="rect">
            <a:avLst/>
          </a:prstGeom>
          <a:noFill/>
          <a:ln/>
        </p:spPr>
        <p:txBody>
          <a:bodyPr wrap="square" lIns="0" tIns="0" rIns="0" bIns="0" rtlCol="0" anchor="ctr"/>
          <a:lstStyle/>
          <a:p>
            <a:pPr marL="0" indent="0">
              <a:buNone/>
            </a:pPr>
            <a:r>
              <a:rPr lang="en-US" sz="1100" dirty="0">
                <a:solidFill>
                  <a:srgbClr val="4A3B2E"/>
                </a:solidFill>
              </a:rPr>
              <a:t>Level 1</a:t>
            </a:r>
            <a:endParaRPr lang="en-US" sz="1100" dirty="0"/>
          </a:p>
        </p:txBody>
      </p:sp>
      <p:sp>
        <p:nvSpPr>
          <p:cNvPr id="42" name="Shape 39"/>
          <p:cNvSpPr/>
          <p:nvPr/>
        </p:nvSpPr>
        <p:spPr>
          <a:xfrm>
            <a:off x="9829800" y="3703320"/>
            <a:ext cx="914" cy="320040"/>
          </a:xfrm>
          <a:prstGeom prst="line">
            <a:avLst/>
          </a:prstGeom>
          <a:noFill/>
          <a:ln w="22225">
            <a:solidFill>
              <a:srgbClr val="8A8178"/>
            </a:solidFill>
            <a:prstDash val="solid"/>
            <a:tailEnd type="triangle"/>
          </a:ln>
        </p:spPr>
      </p:sp>
      <p:sp>
        <p:nvSpPr>
          <p:cNvPr id="43" name="Text 40"/>
          <p:cNvSpPr txBox="1"/>
          <p:nvPr/>
        </p:nvSpPr>
        <p:spPr>
          <a:xfrm>
            <a:off x="8823960" y="4023360"/>
            <a:ext cx="2011680" cy="411480"/>
          </a:xfrm>
          <a:prstGeom prst="roundRect">
            <a:avLst>
              <a:gd name="adj" fmla="val 17778"/>
            </a:avLst>
          </a:prstGeom>
          <a:solidFill>
            <a:srgbClr val="FFFFFF"/>
          </a:solidFill>
          <a:ln w="12700">
            <a:solidFill>
              <a:srgbClr val="2E7D7A"/>
            </a:solidFill>
          </a:ln>
        </p:spPr>
        <p:txBody>
          <a:bodyPr wrap="square" lIns="50800" tIns="50800" rIns="50800" bIns="50800" rtlCol="0" anchor="ctr"/>
          <a:lstStyle/>
          <a:p>
            <a:pPr marL="0" indent="0" algn="ctr">
              <a:buNone/>
            </a:pPr>
            <a:r>
              <a:rPr lang="en-US" sz="1300" dirty="0">
                <a:solidFill>
                  <a:srgbClr val="2B2118"/>
                </a:solidFill>
              </a:rPr>
              <a:t>Final prediction</a:t>
            </a:r>
            <a:endParaRPr lang="en-US" sz="1300" dirty="0"/>
          </a:p>
        </p:txBody>
      </p:sp>
      <p:sp>
        <p:nvSpPr>
          <p:cNvPr id="44" name="Text 41"/>
          <p:cNvSpPr txBox="1"/>
          <p:nvPr/>
        </p:nvSpPr>
        <p:spPr>
          <a:xfrm>
            <a:off x="8183880" y="4526280"/>
            <a:ext cx="3291840" cy="457200"/>
          </a:xfrm>
          <a:prstGeom prst="rect">
            <a:avLst/>
          </a:prstGeom>
          <a:noFill/>
          <a:ln/>
        </p:spPr>
        <p:txBody>
          <a:bodyPr wrap="square" lIns="0" tIns="0" rIns="0" bIns="0" rtlCol="0" anchor="ctr"/>
          <a:lstStyle/>
          <a:p>
            <a:pPr marL="0" indent="0">
              <a:buNone/>
            </a:pPr>
            <a:r>
              <a:rPr lang="en-US" sz="1400" b="1" dirty="0">
                <a:solidFill>
                  <a:srgbClr val="2B2118"/>
                </a:solidFill>
              </a:rPr>
              <a:t>Example: </a:t>
            </a:r>
            <a:r>
              <a:rPr lang="en-US" sz="1400" dirty="0">
                <a:solidFill>
                  <a:srgbClr val="2B2118"/>
                </a:solidFill>
              </a:rPr>
              <a:t>Cubist + GBM + RF → ELNET</a:t>
            </a:r>
            <a:endParaRPr lang="en-US" sz="1400" dirty="0"/>
          </a:p>
        </p:txBody>
      </p:sp>
      <p:sp>
        <p:nvSpPr>
          <p:cNvPr id="45" name="Text 42"/>
          <p:cNvSpPr txBox="1"/>
          <p:nvPr/>
        </p:nvSpPr>
        <p:spPr>
          <a:xfrm>
            <a:off x="548640" y="5257800"/>
            <a:ext cx="2103120" cy="822960"/>
          </a:xfrm>
          <a:prstGeom prst="roundRect">
            <a:avLst>
              <a:gd name="adj" fmla="val 8889"/>
            </a:avLst>
          </a:prstGeom>
          <a:solidFill>
            <a:srgbClr val="FFFFFF"/>
          </a:solidFill>
          <a:ln w="12700">
            <a:solidFill>
              <a:srgbClr val="D9D2C8"/>
            </a:solidFill>
          </a:ln>
        </p:spPr>
        <p:txBody>
          <a:bodyPr wrap="square" lIns="38100" tIns="38100" rIns="38100" bIns="38100" rtlCol="0" anchor="ctr"/>
          <a:lstStyle/>
          <a:p>
            <a:pPr marL="0" indent="0" algn="ctr">
              <a:buNone/>
            </a:pPr>
            <a:r>
              <a:rPr lang="en-US" sz="1400" b="1" dirty="0">
                <a:solidFill>
                  <a:srgbClr val="8C5A2B"/>
                </a:solidFill>
              </a:rPr>
              <a:t>Cubist</a:t>
            </a:r>
            <a:endParaRPr lang="en-US" sz="1400" dirty="0"/>
          </a:p>
          <a:p>
            <a:pPr marL="0" indent="0" algn="ctr">
              <a:buNone/>
            </a:pPr>
            <a:r>
              <a:rPr lang="en-US" sz="1300" dirty="0">
                <a:solidFill>
                  <a:srgbClr val="4A3B2E"/>
                </a:solidFill>
              </a:rPr>
              <a:t>rules + local linear models</a:t>
            </a:r>
            <a:endParaRPr lang="en-US" sz="1400" dirty="0"/>
          </a:p>
        </p:txBody>
      </p:sp>
      <p:sp>
        <p:nvSpPr>
          <p:cNvPr id="46" name="Text 43"/>
          <p:cNvSpPr txBox="1"/>
          <p:nvPr/>
        </p:nvSpPr>
        <p:spPr>
          <a:xfrm>
            <a:off x="2779776" y="5257800"/>
            <a:ext cx="2103120" cy="822960"/>
          </a:xfrm>
          <a:prstGeom prst="roundRect">
            <a:avLst>
              <a:gd name="adj" fmla="val 8889"/>
            </a:avLst>
          </a:prstGeom>
          <a:solidFill>
            <a:srgbClr val="FFFFFF"/>
          </a:solidFill>
          <a:ln w="12700">
            <a:solidFill>
              <a:srgbClr val="D9D2C8"/>
            </a:solidFill>
          </a:ln>
        </p:spPr>
        <p:txBody>
          <a:bodyPr wrap="square" lIns="38100" tIns="38100" rIns="38100" bIns="38100" rtlCol="0" anchor="ctr"/>
          <a:lstStyle/>
          <a:p>
            <a:pPr marL="0" indent="0" algn="ctr">
              <a:buNone/>
            </a:pPr>
            <a:r>
              <a:rPr lang="en-US" sz="1400" b="1" dirty="0">
                <a:solidFill>
                  <a:srgbClr val="8C5A2B"/>
                </a:solidFill>
              </a:rPr>
              <a:t>SVR (RBF)</a:t>
            </a:r>
            <a:endParaRPr lang="en-US" sz="1400" dirty="0"/>
          </a:p>
          <a:p>
            <a:pPr marL="0" indent="0" algn="ctr">
              <a:buNone/>
            </a:pPr>
            <a:r>
              <a:rPr lang="en-US" sz="1300" dirty="0">
                <a:solidFill>
                  <a:srgbClr val="4A3B2E"/>
                </a:solidFill>
              </a:rPr>
              <a:t>kernel regression in ε-tube</a:t>
            </a:r>
            <a:endParaRPr lang="en-US" sz="1400" dirty="0"/>
          </a:p>
        </p:txBody>
      </p:sp>
      <p:sp>
        <p:nvSpPr>
          <p:cNvPr id="47" name="Text 44"/>
          <p:cNvSpPr txBox="1"/>
          <p:nvPr/>
        </p:nvSpPr>
        <p:spPr>
          <a:xfrm>
            <a:off x="5010912" y="5257800"/>
            <a:ext cx="2103120" cy="822960"/>
          </a:xfrm>
          <a:prstGeom prst="roundRect">
            <a:avLst>
              <a:gd name="adj" fmla="val 8889"/>
            </a:avLst>
          </a:prstGeom>
          <a:solidFill>
            <a:srgbClr val="FFFFFF"/>
          </a:solidFill>
          <a:ln w="12700">
            <a:solidFill>
              <a:srgbClr val="D9D2C8"/>
            </a:solidFill>
          </a:ln>
        </p:spPr>
        <p:txBody>
          <a:bodyPr wrap="square" lIns="38100" tIns="38100" rIns="38100" bIns="38100" rtlCol="0" anchor="ctr"/>
          <a:lstStyle/>
          <a:p>
            <a:pPr marL="0" indent="0" algn="ctr">
              <a:buNone/>
            </a:pPr>
            <a:r>
              <a:rPr lang="en-US" sz="1400" b="1" dirty="0">
                <a:solidFill>
                  <a:srgbClr val="8C5A2B"/>
                </a:solidFill>
              </a:rPr>
              <a:t>ANN / DNN</a:t>
            </a:r>
            <a:endParaRPr lang="en-US" sz="1400" dirty="0"/>
          </a:p>
          <a:p>
            <a:pPr marL="0" indent="0" algn="ctr">
              <a:buNone/>
            </a:pPr>
            <a:r>
              <a:rPr lang="en-US" sz="1300" dirty="0">
                <a:solidFill>
                  <a:srgbClr val="4A3B2E"/>
                </a:solidFill>
              </a:rPr>
              <a:t>multilayer non-linear fits</a:t>
            </a:r>
            <a:endParaRPr lang="en-US" sz="1400" dirty="0"/>
          </a:p>
        </p:txBody>
      </p:sp>
      <p:sp>
        <p:nvSpPr>
          <p:cNvPr id="48" name="Text 45"/>
          <p:cNvSpPr txBox="1"/>
          <p:nvPr/>
        </p:nvSpPr>
        <p:spPr>
          <a:xfrm>
            <a:off x="7242048" y="5257800"/>
            <a:ext cx="2103120" cy="822960"/>
          </a:xfrm>
          <a:prstGeom prst="roundRect">
            <a:avLst>
              <a:gd name="adj" fmla="val 8889"/>
            </a:avLst>
          </a:prstGeom>
          <a:solidFill>
            <a:srgbClr val="FFFFFF"/>
          </a:solidFill>
          <a:ln w="12700">
            <a:solidFill>
              <a:srgbClr val="D9D2C8"/>
            </a:solidFill>
          </a:ln>
        </p:spPr>
        <p:txBody>
          <a:bodyPr wrap="square" lIns="38100" tIns="38100" rIns="38100" bIns="38100" rtlCol="0" anchor="ctr"/>
          <a:lstStyle/>
          <a:p>
            <a:pPr marL="0" indent="0" algn="ctr">
              <a:buNone/>
            </a:pPr>
            <a:r>
              <a:rPr lang="en-US" sz="1400" b="1" dirty="0">
                <a:solidFill>
                  <a:srgbClr val="8C5A2B"/>
                </a:solidFill>
              </a:rPr>
              <a:t>QRF</a:t>
            </a:r>
            <a:endParaRPr lang="en-US" sz="1400" dirty="0"/>
          </a:p>
          <a:p>
            <a:pPr marL="0" indent="0" algn="ctr">
              <a:buNone/>
            </a:pPr>
            <a:r>
              <a:rPr lang="en-US" sz="1300" dirty="0">
                <a:solidFill>
                  <a:srgbClr val="4A3B2E"/>
                </a:solidFill>
              </a:rPr>
              <a:t>quantiles → prediction intervals</a:t>
            </a:r>
            <a:endParaRPr lang="en-US" sz="1400" dirty="0"/>
          </a:p>
        </p:txBody>
      </p:sp>
      <p:sp>
        <p:nvSpPr>
          <p:cNvPr id="49" name="Text 46"/>
          <p:cNvSpPr txBox="1"/>
          <p:nvPr/>
        </p:nvSpPr>
        <p:spPr>
          <a:xfrm>
            <a:off x="9473184" y="5257800"/>
            <a:ext cx="2103120" cy="822960"/>
          </a:xfrm>
          <a:prstGeom prst="roundRect">
            <a:avLst>
              <a:gd name="adj" fmla="val 8889"/>
            </a:avLst>
          </a:prstGeom>
          <a:solidFill>
            <a:srgbClr val="FFFFFF"/>
          </a:solidFill>
          <a:ln w="12700">
            <a:solidFill>
              <a:srgbClr val="D9D2C8"/>
            </a:solidFill>
          </a:ln>
        </p:spPr>
        <p:txBody>
          <a:bodyPr wrap="square" lIns="38100" tIns="38100" rIns="38100" bIns="38100" rtlCol="0" anchor="ctr"/>
          <a:lstStyle/>
          <a:p>
            <a:pPr marL="0" indent="0" algn="ctr">
              <a:buNone/>
            </a:pPr>
            <a:r>
              <a:rPr lang="en-US" sz="1400" b="1" dirty="0">
                <a:solidFill>
                  <a:srgbClr val="8C5A2B"/>
                </a:solidFill>
              </a:rPr>
              <a:t>CNN</a:t>
            </a:r>
            <a:endParaRPr lang="en-US" sz="1400" dirty="0"/>
          </a:p>
          <a:p>
            <a:pPr marL="0" indent="0" algn="ctr">
              <a:buNone/>
            </a:pPr>
            <a:r>
              <a:rPr lang="en-US" sz="1300" dirty="0">
                <a:solidFill>
                  <a:srgbClr val="4A3B2E"/>
                </a:solidFill>
              </a:rPr>
              <a:t>uses covariate neighbourhoods</a:t>
            </a:r>
            <a:endParaRPr lang="en-US" sz="1400" dirty="0"/>
          </a:p>
        </p:txBody>
      </p:sp>
      <p:sp>
        <p:nvSpPr>
          <p:cNvPr id="50" name="Text 47"/>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Schematics drawn for this talk after Das et al. (2022) Sections 2.5.2–2.5.5</a:t>
            </a:r>
            <a:endParaRPr lang="en-US" sz="1000" dirty="0"/>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17</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Feature selection with the Boruta algorithm</a:t>
            </a:r>
            <a:endParaRPr lang="en-US" sz="3200" dirty="0"/>
          </a:p>
        </p:txBody>
      </p:sp>
      <p:sp>
        <p:nvSpPr>
          <p:cNvPr id="4" name="Text 1"/>
          <p:cNvSpPr txBox="1"/>
          <p:nvPr/>
        </p:nvSpPr>
        <p:spPr>
          <a:xfrm>
            <a:off x="548640" y="1435608"/>
            <a:ext cx="594360" cy="594360"/>
          </a:xfrm>
          <a:prstGeom prst="ellipse">
            <a:avLst/>
          </a:prstGeom>
          <a:solidFill>
            <a:srgbClr val="6B8E4E"/>
          </a:solid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2"/>
          <p:cNvSpPr txBox="1"/>
          <p:nvPr/>
        </p:nvSpPr>
        <p:spPr>
          <a:xfrm>
            <a:off x="1325880" y="1325880"/>
            <a:ext cx="4023360" cy="868680"/>
          </a:xfrm>
          <a:prstGeom prst="rect">
            <a:avLst/>
          </a:prstGeom>
          <a:noFill/>
          <a:ln/>
        </p:spPr>
        <p:txBody>
          <a:bodyPr wrap="square" lIns="0" tIns="0" rIns="0" bIns="0" rtlCol="0" anchor="ctr"/>
          <a:lstStyle/>
          <a:p>
            <a:pPr marL="0" indent="0">
              <a:buNone/>
            </a:pPr>
            <a:r>
              <a:rPr lang="en-US" sz="1600" b="1" dirty="0">
                <a:solidFill>
                  <a:srgbClr val="2B2118"/>
                </a:solidFill>
              </a:rPr>
              <a:t>Shuffle copies</a:t>
            </a:r>
            <a:endParaRPr lang="en-US" sz="1600" dirty="0"/>
          </a:p>
          <a:p>
            <a:pPr marL="0" indent="0">
              <a:buNone/>
            </a:pPr>
            <a:r>
              <a:rPr lang="en-US" sz="1400" dirty="0">
                <a:solidFill>
                  <a:srgbClr val="4A3B2E"/>
                </a:solidFill>
              </a:rPr>
              <a:t>Create a shadow copy of every covariate with values permuted</a:t>
            </a:r>
            <a:endParaRPr lang="en-US" sz="1600" dirty="0"/>
          </a:p>
        </p:txBody>
      </p:sp>
      <p:sp>
        <p:nvSpPr>
          <p:cNvPr id="6" name="Shape 3"/>
          <p:cNvSpPr/>
          <p:nvPr/>
        </p:nvSpPr>
        <p:spPr>
          <a:xfrm>
            <a:off x="845820" y="2029968"/>
            <a:ext cx="914" cy="429768"/>
          </a:xfrm>
          <a:prstGeom prst="line">
            <a:avLst/>
          </a:prstGeom>
          <a:noFill/>
          <a:ln w="22225">
            <a:solidFill>
              <a:srgbClr val="6B8E4E"/>
            </a:solidFill>
            <a:prstDash val="solid"/>
            <a:tailEnd type="triangle"/>
          </a:ln>
        </p:spPr>
      </p:sp>
      <p:sp>
        <p:nvSpPr>
          <p:cNvPr id="7" name="Text 4"/>
          <p:cNvSpPr txBox="1"/>
          <p:nvPr/>
        </p:nvSpPr>
        <p:spPr>
          <a:xfrm>
            <a:off x="548640" y="2459736"/>
            <a:ext cx="594360" cy="594360"/>
          </a:xfrm>
          <a:prstGeom prst="ellipse">
            <a:avLst/>
          </a:prstGeom>
          <a:solidFill>
            <a:srgbClr val="6B8E4E"/>
          </a:solid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8" name="Text 5"/>
          <p:cNvSpPr txBox="1"/>
          <p:nvPr/>
        </p:nvSpPr>
        <p:spPr>
          <a:xfrm>
            <a:off x="1325880" y="2350008"/>
            <a:ext cx="4023360" cy="868680"/>
          </a:xfrm>
          <a:prstGeom prst="rect">
            <a:avLst/>
          </a:prstGeom>
          <a:noFill/>
          <a:ln/>
        </p:spPr>
        <p:txBody>
          <a:bodyPr wrap="square" lIns="0" tIns="0" rIns="0" bIns="0" rtlCol="0" anchor="ctr"/>
          <a:lstStyle/>
          <a:p>
            <a:pPr marL="0" indent="0">
              <a:buNone/>
            </a:pPr>
            <a:r>
              <a:rPr lang="en-US" sz="1600" b="1" dirty="0">
                <a:solidFill>
                  <a:srgbClr val="2B2118"/>
                </a:solidFill>
              </a:rPr>
              <a:t>Train RF</a:t>
            </a:r>
            <a:endParaRPr lang="en-US" sz="1600" dirty="0"/>
          </a:p>
          <a:p>
            <a:pPr marL="0" indent="0">
              <a:buNone/>
            </a:pPr>
            <a:r>
              <a:rPr lang="en-US" sz="1400" dirty="0">
                <a:solidFill>
                  <a:srgbClr val="4A3B2E"/>
                </a:solidFill>
              </a:rPr>
              <a:t>Fit RF on real + shadow covariates; compute importance Z-scores</a:t>
            </a:r>
            <a:endParaRPr lang="en-US" sz="1600" dirty="0"/>
          </a:p>
        </p:txBody>
      </p:sp>
      <p:sp>
        <p:nvSpPr>
          <p:cNvPr id="9" name="Shape 6"/>
          <p:cNvSpPr/>
          <p:nvPr/>
        </p:nvSpPr>
        <p:spPr>
          <a:xfrm>
            <a:off x="845820" y="3054096"/>
            <a:ext cx="914" cy="429768"/>
          </a:xfrm>
          <a:prstGeom prst="line">
            <a:avLst/>
          </a:prstGeom>
          <a:noFill/>
          <a:ln w="22225">
            <a:solidFill>
              <a:srgbClr val="6B8E4E"/>
            </a:solidFill>
            <a:prstDash val="solid"/>
            <a:tailEnd type="triangle"/>
          </a:ln>
        </p:spPr>
      </p:sp>
      <p:sp>
        <p:nvSpPr>
          <p:cNvPr id="10" name="Text 7"/>
          <p:cNvSpPr txBox="1"/>
          <p:nvPr/>
        </p:nvSpPr>
        <p:spPr>
          <a:xfrm>
            <a:off x="548640" y="3483864"/>
            <a:ext cx="594360" cy="594360"/>
          </a:xfrm>
          <a:prstGeom prst="ellipse">
            <a:avLst/>
          </a:prstGeom>
          <a:solidFill>
            <a:srgbClr val="6B8E4E"/>
          </a:solid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1" name="Text 8"/>
          <p:cNvSpPr txBox="1"/>
          <p:nvPr/>
        </p:nvSpPr>
        <p:spPr>
          <a:xfrm>
            <a:off x="1325880" y="3374136"/>
            <a:ext cx="4023360" cy="868680"/>
          </a:xfrm>
          <a:prstGeom prst="rect">
            <a:avLst/>
          </a:prstGeom>
          <a:noFill/>
          <a:ln/>
        </p:spPr>
        <p:txBody>
          <a:bodyPr wrap="square" lIns="0" tIns="0" rIns="0" bIns="0" rtlCol="0" anchor="ctr"/>
          <a:lstStyle/>
          <a:p>
            <a:pPr marL="0" indent="0">
              <a:buNone/>
            </a:pPr>
            <a:r>
              <a:rPr lang="en-US" sz="1600" b="1" dirty="0">
                <a:solidFill>
                  <a:srgbClr val="2B2118"/>
                </a:solidFill>
              </a:rPr>
              <a:t>Compare</a:t>
            </a:r>
            <a:endParaRPr lang="en-US" sz="1600" dirty="0"/>
          </a:p>
          <a:p>
            <a:pPr marL="0" indent="0">
              <a:buNone/>
            </a:pPr>
            <a:r>
              <a:rPr lang="en-US" sz="1400" dirty="0">
                <a:solidFill>
                  <a:srgbClr val="4A3B2E"/>
                </a:solidFill>
              </a:rPr>
              <a:t>Test each covariate against the maximum shadow Z-score (MZSA)</a:t>
            </a:r>
            <a:endParaRPr lang="en-US" sz="1600" dirty="0"/>
          </a:p>
        </p:txBody>
      </p:sp>
      <p:sp>
        <p:nvSpPr>
          <p:cNvPr id="12" name="Shape 9"/>
          <p:cNvSpPr/>
          <p:nvPr/>
        </p:nvSpPr>
        <p:spPr>
          <a:xfrm>
            <a:off x="845820" y="4078224"/>
            <a:ext cx="914" cy="429768"/>
          </a:xfrm>
          <a:prstGeom prst="line">
            <a:avLst/>
          </a:prstGeom>
          <a:noFill/>
          <a:ln w="22225">
            <a:solidFill>
              <a:srgbClr val="6B8E4E"/>
            </a:solidFill>
            <a:prstDash val="solid"/>
            <a:tailEnd type="triangle"/>
          </a:ln>
        </p:spPr>
      </p:sp>
      <p:sp>
        <p:nvSpPr>
          <p:cNvPr id="13" name="Text 10"/>
          <p:cNvSpPr txBox="1"/>
          <p:nvPr/>
        </p:nvSpPr>
        <p:spPr>
          <a:xfrm>
            <a:off x="548640" y="4507992"/>
            <a:ext cx="594360" cy="594360"/>
          </a:xfrm>
          <a:prstGeom prst="ellipse">
            <a:avLst/>
          </a:prstGeom>
          <a:solidFill>
            <a:srgbClr val="6B8E4E"/>
          </a:solid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4" name="Text 11"/>
          <p:cNvSpPr txBox="1"/>
          <p:nvPr/>
        </p:nvSpPr>
        <p:spPr>
          <a:xfrm>
            <a:off x="1325880" y="4398264"/>
            <a:ext cx="4023360" cy="868680"/>
          </a:xfrm>
          <a:prstGeom prst="rect">
            <a:avLst/>
          </a:prstGeom>
          <a:noFill/>
          <a:ln/>
        </p:spPr>
        <p:txBody>
          <a:bodyPr wrap="square" lIns="0" tIns="0" rIns="0" bIns="0" rtlCol="0" anchor="ctr"/>
          <a:lstStyle/>
          <a:p>
            <a:pPr marL="0" indent="0">
              <a:buNone/>
            </a:pPr>
            <a:r>
              <a:rPr lang="en-US" sz="1600" b="1" dirty="0">
                <a:solidFill>
                  <a:srgbClr val="2B2118"/>
                </a:solidFill>
              </a:rPr>
              <a:t>Decide</a:t>
            </a:r>
            <a:endParaRPr lang="en-US" sz="1600" dirty="0"/>
          </a:p>
          <a:p>
            <a:pPr marL="0" indent="0">
              <a:buNone/>
            </a:pPr>
            <a:r>
              <a:rPr lang="en-US" sz="1400" dirty="0">
                <a:solidFill>
                  <a:srgbClr val="4A3B2E"/>
                </a:solidFill>
              </a:rPr>
              <a:t>Confirm, reject or keep tentative; repeat until stable</a:t>
            </a:r>
            <a:endParaRPr lang="en-US" sz="1600" dirty="0"/>
          </a:p>
        </p:txBody>
      </p:sp>
      <p:pic>
        <p:nvPicPr>
          <p:cNvPr id="15" name="Image 0" descr="ssm_fig3_boruta"/>
          <p:cNvPicPr>
            <a:picLocks noChangeAspect="1"/>
          </p:cNvPicPr>
          <p:nvPr/>
        </p:nvPicPr>
        <p:blipFill>
          <a:blip r:embed="rId3"/>
          <a:stretch>
            <a:fillRect/>
          </a:stretch>
        </p:blipFill>
        <p:spPr>
          <a:xfrm>
            <a:off x="5937569" y="1234440"/>
            <a:ext cx="5407022" cy="3291840"/>
          </a:xfrm>
          <a:prstGeom prst="rect">
            <a:avLst/>
          </a:prstGeom>
        </p:spPr>
      </p:pic>
      <p:sp>
        <p:nvSpPr>
          <p:cNvPr id="16" name="Shape 12"/>
          <p:cNvSpPr/>
          <p:nvPr/>
        </p:nvSpPr>
        <p:spPr>
          <a:xfrm>
            <a:off x="5937569" y="1234440"/>
            <a:ext cx="5407022" cy="3291840"/>
          </a:xfrm>
          <a:prstGeom prst="rect">
            <a:avLst/>
          </a:prstGeom>
          <a:ln w="9525">
            <a:solidFill>
              <a:srgbClr val="D9D2C8"/>
            </a:solidFill>
            <a:prstDash val="solid"/>
          </a:ln>
        </p:spPr>
      </p:sp>
      <p:sp>
        <p:nvSpPr>
          <p:cNvPr id="17" name="Text 13"/>
          <p:cNvSpPr txBox="1"/>
          <p:nvPr/>
        </p:nvSpPr>
        <p:spPr>
          <a:xfrm>
            <a:off x="5669280" y="4572000"/>
            <a:ext cx="5943600" cy="274320"/>
          </a:xfrm>
          <a:prstGeom prst="rect">
            <a:avLst/>
          </a:prstGeom>
          <a:noFill/>
          <a:ln/>
        </p:spPr>
        <p:txBody>
          <a:bodyPr wrap="square" lIns="0" tIns="0" rIns="0" bIns="0" rtlCol="0" anchor="ctr"/>
          <a:lstStyle/>
          <a:p>
            <a:pPr marL="0" indent="0" algn="ctr">
              <a:buNone/>
            </a:pPr>
            <a:r>
              <a:rPr lang="en-US" sz="1100" i="1" dirty="0">
                <a:solidFill>
                  <a:srgbClr val="8A8178"/>
                </a:solidFill>
              </a:rPr>
              <a:t>Soil-moisture study: Sigma0_VV, MNDWI and LST stand out (blue = shadow features)</a:t>
            </a:r>
            <a:endParaRPr lang="en-US" sz="1100" dirty="0"/>
          </a:p>
        </p:txBody>
      </p:sp>
      <p:sp>
        <p:nvSpPr>
          <p:cNvPr id="18" name="Text 14"/>
          <p:cNvSpPr txBox="1"/>
          <p:nvPr/>
        </p:nvSpPr>
        <p:spPr>
          <a:xfrm>
            <a:off x="5669280" y="4983480"/>
            <a:ext cx="2880360" cy="1051560"/>
          </a:xfrm>
          <a:prstGeom prst="roundRect">
            <a:avLst>
              <a:gd name="adj" fmla="val 6957"/>
            </a:avLst>
          </a:prstGeom>
          <a:solidFill>
            <a:srgbClr val="F3F0EB"/>
          </a:solidFill>
          <a:ln/>
        </p:spPr>
        <p:txBody>
          <a:bodyPr wrap="square" lIns="50800" tIns="50800" rIns="50800" bIns="50800" rtlCol="0" anchor="ctr"/>
          <a:lstStyle/>
          <a:p>
            <a:pPr marL="0" indent="0" algn="ctr">
              <a:buNone/>
            </a:pPr>
            <a:r>
              <a:rPr lang="en-US" sz="1500" b="1" dirty="0">
                <a:solidFill>
                  <a:srgbClr val="8C5A2B"/>
                </a:solidFill>
              </a:rPr>
              <a:t>SOC study</a:t>
            </a:r>
            <a:endParaRPr lang="en-US" sz="1500" dirty="0"/>
          </a:p>
          <a:p>
            <a:pPr marL="0" indent="0" algn="ctr">
              <a:buNone/>
            </a:pPr>
            <a:r>
              <a:rPr lang="en-US" sz="1500" b="1" dirty="0">
                <a:solidFill>
                  <a:srgbClr val="8C5A2B"/>
                </a:solidFill>
              </a:rPr>
              <a:t>55 → 32 covariates kept</a:t>
            </a:r>
            <a:endParaRPr lang="en-US" sz="1500" dirty="0"/>
          </a:p>
        </p:txBody>
      </p:sp>
      <p:sp>
        <p:nvSpPr>
          <p:cNvPr id="19" name="Text 15"/>
          <p:cNvSpPr txBox="1"/>
          <p:nvPr/>
        </p:nvSpPr>
        <p:spPr>
          <a:xfrm>
            <a:off x="8732520" y="4983480"/>
            <a:ext cx="2880360" cy="1051560"/>
          </a:xfrm>
          <a:prstGeom prst="roundRect">
            <a:avLst>
              <a:gd name="adj" fmla="val 6957"/>
            </a:avLst>
          </a:prstGeom>
          <a:solidFill>
            <a:srgbClr val="F3F0EB"/>
          </a:solidFill>
          <a:ln/>
        </p:spPr>
        <p:txBody>
          <a:bodyPr wrap="square" lIns="50800" tIns="50800" rIns="50800" bIns="50800" rtlCol="0" anchor="ctr"/>
          <a:lstStyle/>
          <a:p>
            <a:pPr marL="0" indent="0" algn="ctr">
              <a:buNone/>
            </a:pPr>
            <a:r>
              <a:rPr lang="en-US" sz="1500" b="1" dirty="0">
                <a:solidFill>
                  <a:srgbClr val="2E7D7A"/>
                </a:solidFill>
              </a:rPr>
              <a:t>Soil-moisture study</a:t>
            </a:r>
            <a:endParaRPr lang="en-US" sz="1500" dirty="0"/>
          </a:p>
          <a:p>
            <a:pPr marL="0" indent="0" algn="ctr">
              <a:buNone/>
            </a:pPr>
            <a:r>
              <a:rPr lang="en-US" sz="1500" b="1" dirty="0">
                <a:solidFill>
                  <a:srgbClr val="2E7D7A"/>
                </a:solidFill>
              </a:rPr>
              <a:t>30 of 30 confirmed</a:t>
            </a:r>
            <a:endParaRPr lang="en-US" sz="1500" dirty="0"/>
          </a:p>
        </p:txBody>
      </p:sp>
      <p:sp>
        <p:nvSpPr>
          <p:cNvPr id="20" name="Text 16"/>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Kursa &amp; Rudnicki (2010); figure: Das et al. (2022) Catena 217:106485, Fig. 3</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18</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Validation metrics and uncertainty</a:t>
            </a:r>
            <a:endParaRPr lang="en-US" sz="3200" dirty="0"/>
          </a:p>
        </p:txBody>
      </p:sp>
      <p:sp>
        <p:nvSpPr>
          <p:cNvPr id="4" name="Shape 1"/>
          <p:cNvSpPr/>
          <p:nvPr/>
        </p:nvSpPr>
        <p:spPr>
          <a:xfrm>
            <a:off x="548640" y="1325880"/>
            <a:ext cx="2377440" cy="1463040"/>
          </a:xfrm>
          <a:prstGeom prst="roundRect">
            <a:avLst>
              <a:gd name="adj" fmla="val 5000"/>
            </a:avLst>
          </a:prstGeom>
          <a:solidFill>
            <a:srgbClr val="F3F0EB"/>
          </a:solidFill>
          <a:ln/>
        </p:spPr>
      </p:sp>
      <p:sp>
        <p:nvSpPr>
          <p:cNvPr id="5" name="Text 2"/>
          <p:cNvSpPr txBox="1"/>
          <p:nvPr/>
        </p:nvSpPr>
        <p:spPr>
          <a:xfrm>
            <a:off x="685800" y="1417320"/>
            <a:ext cx="2103120" cy="1280160"/>
          </a:xfrm>
          <a:prstGeom prst="rect">
            <a:avLst/>
          </a:prstGeom>
          <a:noFill/>
          <a:ln/>
        </p:spPr>
        <p:txBody>
          <a:bodyPr wrap="square" lIns="25400" tIns="25400" rIns="25400" bIns="25400" rtlCol="0" anchor="t"/>
          <a:lstStyle/>
          <a:p>
            <a:pPr marL="0" indent="0">
              <a:buNone/>
            </a:pPr>
            <a:r>
              <a:rPr lang="en-US" sz="1800" b="1" dirty="0">
                <a:solidFill>
                  <a:srgbClr val="8C5A2B"/>
                </a:solidFill>
              </a:rPr>
              <a:t>R² / r</a:t>
            </a:r>
            <a:endParaRPr lang="en-US" sz="1800" dirty="0"/>
          </a:p>
          <a:p>
            <a:pPr marL="0" indent="0">
              <a:buNone/>
            </a:pPr>
            <a:r>
              <a:rPr lang="en-US" sz="1300" dirty="0">
                <a:solidFill>
                  <a:srgbClr val="2B2118"/>
                </a:solidFill>
              </a:rPr>
              <a:t>Share of variance explained (correlation)</a:t>
            </a:r>
            <a:endParaRPr lang="en-US" sz="1800" dirty="0"/>
          </a:p>
        </p:txBody>
      </p:sp>
      <p:sp>
        <p:nvSpPr>
          <p:cNvPr id="6" name="Shape 3"/>
          <p:cNvSpPr/>
          <p:nvPr/>
        </p:nvSpPr>
        <p:spPr>
          <a:xfrm>
            <a:off x="3063240" y="1325880"/>
            <a:ext cx="2377440" cy="1463040"/>
          </a:xfrm>
          <a:prstGeom prst="roundRect">
            <a:avLst>
              <a:gd name="adj" fmla="val 5000"/>
            </a:avLst>
          </a:prstGeom>
          <a:solidFill>
            <a:srgbClr val="F3F0EB"/>
          </a:solidFill>
          <a:ln/>
        </p:spPr>
      </p:sp>
      <p:sp>
        <p:nvSpPr>
          <p:cNvPr id="7" name="Text 4"/>
          <p:cNvSpPr txBox="1"/>
          <p:nvPr/>
        </p:nvSpPr>
        <p:spPr>
          <a:xfrm>
            <a:off x="3200400" y="1417320"/>
            <a:ext cx="2103120" cy="1280160"/>
          </a:xfrm>
          <a:prstGeom prst="rect">
            <a:avLst/>
          </a:prstGeom>
          <a:noFill/>
          <a:ln/>
        </p:spPr>
        <p:txBody>
          <a:bodyPr wrap="square" lIns="25400" tIns="25400" rIns="25400" bIns="25400" rtlCol="0" anchor="t"/>
          <a:lstStyle/>
          <a:p>
            <a:pPr marL="0" indent="0">
              <a:buNone/>
            </a:pPr>
            <a:r>
              <a:rPr lang="en-US" sz="1800" b="1" dirty="0">
                <a:solidFill>
                  <a:srgbClr val="8C5A2B"/>
                </a:solidFill>
              </a:rPr>
              <a:t>RMSE</a:t>
            </a:r>
            <a:endParaRPr lang="en-US" sz="1800" dirty="0"/>
          </a:p>
          <a:p>
            <a:pPr marL="0" indent="0">
              <a:buNone/>
            </a:pPr>
            <a:r>
              <a:rPr lang="en-US" sz="1300" dirty="0">
                <a:solidFill>
                  <a:srgbClr val="2B2118"/>
                </a:solidFill>
              </a:rPr>
              <a:t>Typical error size, in units of the target</a:t>
            </a:r>
            <a:endParaRPr lang="en-US" sz="1800" dirty="0"/>
          </a:p>
        </p:txBody>
      </p:sp>
      <p:sp>
        <p:nvSpPr>
          <p:cNvPr id="8" name="Shape 5"/>
          <p:cNvSpPr/>
          <p:nvPr/>
        </p:nvSpPr>
        <p:spPr>
          <a:xfrm>
            <a:off x="5577840" y="1325880"/>
            <a:ext cx="2377440" cy="1463040"/>
          </a:xfrm>
          <a:prstGeom prst="roundRect">
            <a:avLst>
              <a:gd name="adj" fmla="val 5000"/>
            </a:avLst>
          </a:prstGeom>
          <a:solidFill>
            <a:srgbClr val="F3F0EB"/>
          </a:solidFill>
          <a:ln/>
        </p:spPr>
      </p:sp>
      <p:sp>
        <p:nvSpPr>
          <p:cNvPr id="9" name="Text 6"/>
          <p:cNvSpPr txBox="1"/>
          <p:nvPr/>
        </p:nvSpPr>
        <p:spPr>
          <a:xfrm>
            <a:off x="5715000" y="1417320"/>
            <a:ext cx="2103120" cy="1280160"/>
          </a:xfrm>
          <a:prstGeom prst="rect">
            <a:avLst/>
          </a:prstGeom>
          <a:noFill/>
          <a:ln/>
        </p:spPr>
        <p:txBody>
          <a:bodyPr wrap="square" lIns="25400" tIns="25400" rIns="25400" bIns="25400" rtlCol="0" anchor="t"/>
          <a:lstStyle/>
          <a:p>
            <a:pPr marL="0" indent="0">
              <a:buNone/>
            </a:pPr>
            <a:r>
              <a:rPr lang="en-US" sz="1800" b="1" dirty="0">
                <a:solidFill>
                  <a:srgbClr val="8C5A2B"/>
                </a:solidFill>
              </a:rPr>
              <a:t>MAE</a:t>
            </a:r>
            <a:endParaRPr lang="en-US" sz="1800" dirty="0"/>
          </a:p>
          <a:p>
            <a:pPr marL="0" indent="0">
              <a:buNone/>
            </a:pPr>
            <a:r>
              <a:rPr lang="en-US" sz="1300" dirty="0">
                <a:solidFill>
                  <a:srgbClr val="2B2118"/>
                </a:solidFill>
              </a:rPr>
              <a:t>Mean absolute error, less outlier-sensitive</a:t>
            </a:r>
            <a:endParaRPr lang="en-US" sz="1800" dirty="0"/>
          </a:p>
        </p:txBody>
      </p:sp>
      <p:sp>
        <p:nvSpPr>
          <p:cNvPr id="10" name="Shape 7"/>
          <p:cNvSpPr/>
          <p:nvPr/>
        </p:nvSpPr>
        <p:spPr>
          <a:xfrm>
            <a:off x="548640" y="2926080"/>
            <a:ext cx="2377440" cy="1463040"/>
          </a:xfrm>
          <a:prstGeom prst="roundRect">
            <a:avLst>
              <a:gd name="adj" fmla="val 5000"/>
            </a:avLst>
          </a:prstGeom>
          <a:solidFill>
            <a:srgbClr val="F3F0EB"/>
          </a:solidFill>
          <a:ln/>
        </p:spPr>
      </p:sp>
      <p:sp>
        <p:nvSpPr>
          <p:cNvPr id="11" name="Text 8"/>
          <p:cNvSpPr txBox="1"/>
          <p:nvPr/>
        </p:nvSpPr>
        <p:spPr>
          <a:xfrm>
            <a:off x="685800" y="3017520"/>
            <a:ext cx="2103120" cy="1280160"/>
          </a:xfrm>
          <a:prstGeom prst="rect">
            <a:avLst/>
          </a:prstGeom>
          <a:noFill/>
          <a:ln/>
        </p:spPr>
        <p:txBody>
          <a:bodyPr wrap="square" lIns="25400" tIns="25400" rIns="25400" bIns="25400" rtlCol="0" anchor="t"/>
          <a:lstStyle/>
          <a:p>
            <a:pPr marL="0" indent="0">
              <a:buNone/>
            </a:pPr>
            <a:r>
              <a:rPr lang="en-US" sz="1800" b="1" dirty="0">
                <a:solidFill>
                  <a:srgbClr val="C9A227"/>
                </a:solidFill>
              </a:rPr>
              <a:t>Bias / MBE</a:t>
            </a:r>
            <a:endParaRPr lang="en-US" sz="1800" dirty="0"/>
          </a:p>
          <a:p>
            <a:pPr marL="0" indent="0">
              <a:buNone/>
            </a:pPr>
            <a:r>
              <a:rPr lang="en-US" sz="1300" dirty="0">
                <a:solidFill>
                  <a:srgbClr val="2B2118"/>
                </a:solidFill>
              </a:rPr>
              <a:t>Mean (predicted − observed): over- or under-prediction</a:t>
            </a:r>
            <a:endParaRPr lang="en-US" sz="1800" dirty="0"/>
          </a:p>
        </p:txBody>
      </p:sp>
      <p:sp>
        <p:nvSpPr>
          <p:cNvPr id="12" name="Shape 9"/>
          <p:cNvSpPr/>
          <p:nvPr/>
        </p:nvSpPr>
        <p:spPr>
          <a:xfrm>
            <a:off x="3063240" y="2926080"/>
            <a:ext cx="2377440" cy="1463040"/>
          </a:xfrm>
          <a:prstGeom prst="roundRect">
            <a:avLst>
              <a:gd name="adj" fmla="val 5000"/>
            </a:avLst>
          </a:prstGeom>
          <a:solidFill>
            <a:srgbClr val="F3F0EB"/>
          </a:solidFill>
          <a:ln/>
        </p:spPr>
      </p:sp>
      <p:sp>
        <p:nvSpPr>
          <p:cNvPr id="13" name="Text 10"/>
          <p:cNvSpPr txBox="1"/>
          <p:nvPr/>
        </p:nvSpPr>
        <p:spPr>
          <a:xfrm>
            <a:off x="3200400" y="3017520"/>
            <a:ext cx="2103120" cy="1280160"/>
          </a:xfrm>
          <a:prstGeom prst="rect">
            <a:avLst/>
          </a:prstGeom>
          <a:noFill/>
          <a:ln/>
        </p:spPr>
        <p:txBody>
          <a:bodyPr wrap="square" lIns="25400" tIns="25400" rIns="25400" bIns="25400" rtlCol="0" anchor="t"/>
          <a:lstStyle/>
          <a:p>
            <a:pPr marL="0" indent="0">
              <a:buNone/>
            </a:pPr>
            <a:r>
              <a:rPr lang="en-US" sz="1800" b="1" dirty="0">
                <a:solidFill>
                  <a:srgbClr val="C9A227"/>
                </a:solidFill>
              </a:rPr>
              <a:t>CCC</a:t>
            </a:r>
            <a:endParaRPr lang="en-US" sz="1800" dirty="0"/>
          </a:p>
          <a:p>
            <a:pPr marL="0" indent="0">
              <a:buNone/>
            </a:pPr>
            <a:r>
              <a:rPr lang="en-US" sz="1300" dirty="0">
                <a:solidFill>
                  <a:srgbClr val="2B2118"/>
                </a:solidFill>
              </a:rPr>
              <a:t>Lin's concordance: agreement with the 1:1 line</a:t>
            </a:r>
            <a:endParaRPr lang="en-US" sz="1800" dirty="0"/>
          </a:p>
        </p:txBody>
      </p:sp>
      <p:sp>
        <p:nvSpPr>
          <p:cNvPr id="14" name="Shape 11"/>
          <p:cNvSpPr/>
          <p:nvPr/>
        </p:nvSpPr>
        <p:spPr>
          <a:xfrm>
            <a:off x="5577840" y="2926080"/>
            <a:ext cx="2377440" cy="1463040"/>
          </a:xfrm>
          <a:prstGeom prst="roundRect">
            <a:avLst>
              <a:gd name="adj" fmla="val 5000"/>
            </a:avLst>
          </a:prstGeom>
          <a:solidFill>
            <a:srgbClr val="F3F0EB"/>
          </a:solidFill>
          <a:ln/>
        </p:spPr>
      </p:sp>
      <p:sp>
        <p:nvSpPr>
          <p:cNvPr id="15" name="Text 12"/>
          <p:cNvSpPr txBox="1"/>
          <p:nvPr/>
        </p:nvSpPr>
        <p:spPr>
          <a:xfrm>
            <a:off x="5715000" y="3017520"/>
            <a:ext cx="2103120" cy="1280160"/>
          </a:xfrm>
          <a:prstGeom prst="rect">
            <a:avLst/>
          </a:prstGeom>
          <a:noFill/>
          <a:ln/>
        </p:spPr>
        <p:txBody>
          <a:bodyPr wrap="square" lIns="25400" tIns="25400" rIns="25400" bIns="25400" rtlCol="0" anchor="t"/>
          <a:lstStyle/>
          <a:p>
            <a:pPr marL="0" indent="0">
              <a:buNone/>
            </a:pPr>
            <a:r>
              <a:rPr lang="en-US" sz="1800" b="1" dirty="0">
                <a:solidFill>
                  <a:srgbClr val="C9A227"/>
                </a:solidFill>
              </a:rPr>
              <a:t>RPD</a:t>
            </a:r>
            <a:endParaRPr lang="en-US" sz="1800" dirty="0"/>
          </a:p>
          <a:p>
            <a:pPr marL="0" indent="0">
              <a:buNone/>
            </a:pPr>
            <a:r>
              <a:rPr lang="en-US" sz="1300" dirty="0">
                <a:solidFill>
                  <a:srgbClr val="2B2118"/>
                </a:solidFill>
              </a:rPr>
              <a:t>SD ⁄ RMSE: ≥2 excellent, 1.4–2 good, &lt;1.4 poor</a:t>
            </a:r>
            <a:endParaRPr lang="en-US" sz="1800" dirty="0"/>
          </a:p>
        </p:txBody>
      </p:sp>
      <p:sp>
        <p:nvSpPr>
          <p:cNvPr id="16" name="Shape 13"/>
          <p:cNvSpPr/>
          <p:nvPr/>
        </p:nvSpPr>
        <p:spPr>
          <a:xfrm>
            <a:off x="8183880" y="1325880"/>
            <a:ext cx="3429000" cy="2834640"/>
          </a:xfrm>
          <a:prstGeom prst="roundRect">
            <a:avLst>
              <a:gd name="adj" fmla="val 2581"/>
            </a:avLst>
          </a:prstGeom>
          <a:solidFill>
            <a:srgbClr val="2B2118"/>
          </a:solidFill>
          <a:ln/>
        </p:spPr>
      </p:sp>
      <p:sp>
        <p:nvSpPr>
          <p:cNvPr id="17" name="Text 14"/>
          <p:cNvSpPr txBox="1"/>
          <p:nvPr/>
        </p:nvSpPr>
        <p:spPr>
          <a:xfrm>
            <a:off x="8321040" y="1417320"/>
            <a:ext cx="3200400" cy="2651760"/>
          </a:xfrm>
          <a:prstGeom prst="rect">
            <a:avLst/>
          </a:prstGeom>
          <a:noFill/>
          <a:ln/>
        </p:spPr>
        <p:txBody>
          <a:bodyPr wrap="square" lIns="25400" tIns="25400" rIns="25400" bIns="25400" rtlCol="0" anchor="t"/>
          <a:lstStyle/>
          <a:p>
            <a:pPr marL="0" indent="0">
              <a:spcAft>
                <a:spcPts val="600"/>
              </a:spcAft>
              <a:buNone/>
            </a:pPr>
            <a:r>
              <a:rPr lang="en-US" sz="1800" b="1" dirty="0">
                <a:solidFill>
                  <a:srgbClr val="C9A227"/>
                </a:solidFill>
              </a:rPr>
              <a:t>Uncertainty</a:t>
            </a:r>
            <a:endParaRPr lang="en-US" sz="1400" dirty="0"/>
          </a:p>
          <a:p>
            <a:pPr marL="177800" indent="-177800">
              <a:spcAft>
                <a:spcPts val="600"/>
              </a:spcAft>
              <a:buSzPct val="100000"/>
              <a:buChar char="•"/>
            </a:pPr>
            <a:r>
              <a:rPr lang="en-US" sz="1400" dirty="0">
                <a:solidFill>
                  <a:srgbClr val="FFFFFF"/>
                </a:solidFill>
              </a:rPr>
              <a:t>Kriging variance (geostatistics)</a:t>
            </a:r>
            <a:endParaRPr lang="en-US" sz="1400" dirty="0"/>
          </a:p>
          <a:p>
            <a:pPr marL="177800" indent="-177800">
              <a:spcAft>
                <a:spcPts val="600"/>
              </a:spcAft>
              <a:buSzPct val="100000"/>
              <a:buChar char="•"/>
            </a:pPr>
            <a:r>
              <a:rPr lang="en-US" sz="1400" dirty="0">
                <a:solidFill>
                  <a:srgbClr val="FFFFFF"/>
                </a:solidFill>
              </a:rPr>
              <a:t>Bootstrap: 50 refits → 5th &amp; 95th percentile = 90% PI</a:t>
            </a:r>
            <a:endParaRPr lang="en-US" sz="1400" dirty="0"/>
          </a:p>
          <a:p>
            <a:pPr marL="177800" indent="-177800">
              <a:spcAft>
                <a:spcPts val="600"/>
              </a:spcAft>
              <a:buSzPct val="100000"/>
              <a:buChar char="•"/>
            </a:pPr>
            <a:r>
              <a:rPr lang="en-US" sz="1400" dirty="0">
                <a:solidFill>
                  <a:srgbClr val="FFFFFF"/>
                </a:solidFill>
              </a:rPr>
              <a:t>Quantile regression forest</a:t>
            </a:r>
            <a:endParaRPr lang="en-US" sz="1400" dirty="0"/>
          </a:p>
          <a:p>
            <a:pPr marL="177800" indent="-177800">
              <a:spcAft>
                <a:spcPts val="600"/>
              </a:spcAft>
              <a:buSzPct val="100000"/>
              <a:buChar char="•"/>
            </a:pPr>
            <a:r>
              <a:rPr lang="en-US" sz="1400" dirty="0">
                <a:solidFill>
                  <a:srgbClr val="FFFFFF"/>
                </a:solidFill>
              </a:rPr>
              <a:t>PICP vs confidence level should follow 1:1</a:t>
            </a:r>
            <a:endParaRPr lang="en-US" sz="1400" dirty="0"/>
          </a:p>
        </p:txBody>
      </p:sp>
      <p:pic>
        <p:nvPicPr>
          <p:cNvPr id="18" name="Image 0" descr="dsm_fig7_taylor"/>
          <p:cNvPicPr>
            <a:picLocks noChangeAspect="1"/>
          </p:cNvPicPr>
          <p:nvPr/>
        </p:nvPicPr>
        <p:blipFill>
          <a:blip r:embed="rId3"/>
          <a:stretch>
            <a:fillRect/>
          </a:stretch>
        </p:blipFill>
        <p:spPr>
          <a:xfrm>
            <a:off x="8523880" y="4297680"/>
            <a:ext cx="2749000" cy="1828800"/>
          </a:xfrm>
          <a:prstGeom prst="rect">
            <a:avLst/>
          </a:prstGeom>
        </p:spPr>
      </p:pic>
      <p:sp>
        <p:nvSpPr>
          <p:cNvPr id="19" name="Shape 15"/>
          <p:cNvSpPr/>
          <p:nvPr/>
        </p:nvSpPr>
        <p:spPr>
          <a:xfrm>
            <a:off x="8523880" y="4297680"/>
            <a:ext cx="2749000" cy="1828800"/>
          </a:xfrm>
          <a:prstGeom prst="rect">
            <a:avLst/>
          </a:prstGeom>
          <a:ln w="9525">
            <a:solidFill>
              <a:srgbClr val="D9D2C8"/>
            </a:solidFill>
            <a:prstDash val="solid"/>
          </a:ln>
        </p:spPr>
      </p:sp>
      <p:sp>
        <p:nvSpPr>
          <p:cNvPr id="20" name="Text 16"/>
          <p:cNvSpPr txBox="1"/>
          <p:nvPr/>
        </p:nvSpPr>
        <p:spPr>
          <a:xfrm>
            <a:off x="548640" y="4617720"/>
            <a:ext cx="7406640" cy="1325880"/>
          </a:xfrm>
          <a:prstGeom prst="roundRect">
            <a:avLst>
              <a:gd name="adj" fmla="val 5517"/>
            </a:avLst>
          </a:prstGeom>
          <a:solidFill>
            <a:srgbClr val="FFFFFF"/>
          </a:solidFill>
          <a:ln w="12700">
            <a:solidFill>
              <a:srgbClr val="D9D2C8"/>
            </a:solidFill>
          </a:ln>
        </p:spPr>
        <p:txBody>
          <a:bodyPr wrap="square" lIns="127000" tIns="127000" rIns="127000" bIns="127000" rtlCol="0" anchor="ctr"/>
          <a:lstStyle/>
          <a:p>
            <a:pPr marL="0" indent="0" algn="l">
              <a:buNone/>
            </a:pPr>
            <a:r>
              <a:rPr lang="en-US" sz="1400" dirty="0">
                <a:solidFill>
                  <a:srgbClr val="4A3B2E"/>
                </a:solidFill>
              </a:rPr>
              <a:t>Model comparison at a glance: a Taylor diagram (right, SOC study) places each model by its correlation with observations, its standard deviation and its centred RMSE. Points nearer the "observed" marker are better; RF calibration and validation sit closest.</a:t>
            </a:r>
            <a:endParaRPr lang="en-US" sz="1400" dirty="0"/>
          </a:p>
        </p:txBody>
      </p:sp>
      <p:sp>
        <p:nvSpPr>
          <p:cNvPr id="21" name="Text 17"/>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Chang et al. (2001); Kalambukattu et al. (2025) Sections 2.10–2.11 and Fig. 7</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19</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468880"/>
            <a:ext cx="10698480" cy="1188720"/>
          </a:xfrm>
          <a:prstGeom prst="rect">
            <a:avLst/>
          </a:prstGeom>
          <a:noFill/>
          <a:ln/>
        </p:spPr>
        <p:txBody>
          <a:bodyPr wrap="square" rtlCol="0" anchor="b"/>
          <a:lstStyle/>
          <a:p>
            <a:pPr marL="0" indent="0" algn="l">
              <a:buNone/>
            </a:pPr>
            <a:r>
              <a:rPr lang="en-US" sz="4000" b="1" dirty="0">
                <a:solidFill>
                  <a:schemeClr val="bg1"/>
                </a:solidFill>
              </a:rPr>
              <a:t>Case study I: SOC mapping in the Indian Himalaya</a:t>
            </a: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rtlCol="0" anchor="t"/>
          <a:lstStyle/>
          <a:p>
            <a:pPr marL="0" indent="0">
              <a:buNone/>
            </a:pPr>
            <a:r>
              <a:rPr lang="en-US" sz="1800" dirty="0">
                <a:solidFill>
                  <a:srgbClr val="E8DCCB"/>
                </a:solidFill>
              </a:rPr>
              <a:t>Kalambukattu, Kumar, Das &amp; Roy (2025) Discover Soil 2:35 — RF, SVR and XGB at 30 m</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A99A"/>
                </a:solidFill>
              </a:defRPr>
            </a:lvl1pPr>
          </a:lstStyle>
          <a:p>
            <a:pPr algn="r"/>
            <a:fld id="{F7021451-1387-4CA6-816F-3879F97B5CBC}" type="slidenum">
              <a:rPr lang="en-US" b="0"/>
              <a:t>20</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Study area and soil database</a:t>
            </a:r>
            <a:endParaRPr lang="en-US" sz="3200" dirty="0"/>
          </a:p>
        </p:txBody>
      </p:sp>
      <p:pic>
        <p:nvPicPr>
          <p:cNvPr id="4" name="Image 0" descr="dsm_fig1_study"/>
          <p:cNvPicPr>
            <a:picLocks noChangeAspect="1"/>
          </p:cNvPicPr>
          <p:nvPr/>
        </p:nvPicPr>
        <p:blipFill>
          <a:blip r:embed="rId3"/>
          <a:stretch>
            <a:fillRect/>
          </a:stretch>
        </p:blipFill>
        <p:spPr>
          <a:xfrm>
            <a:off x="457200" y="1403083"/>
            <a:ext cx="6035040" cy="4417593"/>
          </a:xfrm>
          <a:prstGeom prst="rect">
            <a:avLst/>
          </a:prstGeom>
        </p:spPr>
      </p:pic>
      <p:sp>
        <p:nvSpPr>
          <p:cNvPr id="5" name="Shape 1"/>
          <p:cNvSpPr/>
          <p:nvPr/>
        </p:nvSpPr>
        <p:spPr>
          <a:xfrm>
            <a:off x="457200" y="1403083"/>
            <a:ext cx="6035040" cy="4417593"/>
          </a:xfrm>
          <a:prstGeom prst="rect">
            <a:avLst/>
          </a:prstGeom>
          <a:ln w="9525">
            <a:solidFill>
              <a:srgbClr val="D9D2C8"/>
            </a:solidFill>
            <a:prstDash val="solid"/>
          </a:ln>
        </p:spPr>
      </p:sp>
      <p:sp>
        <p:nvSpPr>
          <p:cNvPr id="6" name="Text 2"/>
          <p:cNvSpPr txBox="1"/>
          <p:nvPr/>
        </p:nvSpPr>
        <p:spPr>
          <a:xfrm>
            <a:off x="6766560" y="1280160"/>
            <a:ext cx="1920240" cy="868680"/>
          </a:xfrm>
          <a:prstGeom prst="rect">
            <a:avLst/>
          </a:prstGeom>
          <a:noFill/>
          <a:ln/>
        </p:spPr>
        <p:txBody>
          <a:bodyPr wrap="square" lIns="0" tIns="0" rIns="0" bIns="0" rtlCol="0" anchor="ctr"/>
          <a:lstStyle/>
          <a:p>
            <a:pPr marL="0" indent="0">
              <a:buNone/>
            </a:pPr>
            <a:r>
              <a:rPr lang="en-US" sz="2800" b="1" dirty="0">
                <a:solidFill>
                  <a:srgbClr val="8C5A2B"/>
                </a:solidFill>
                <a:latin typeface="Cambria" pitchFamily="34" charset="0"/>
                <a:ea typeface="Cambria" pitchFamily="34" charset="-122"/>
                <a:cs typeface="Cambria" pitchFamily="34" charset="-120"/>
              </a:rPr>
              <a:t>~4,400 km²</a:t>
            </a:r>
            <a:endParaRPr lang="en-US" sz="2800" dirty="0"/>
          </a:p>
        </p:txBody>
      </p:sp>
      <p:sp>
        <p:nvSpPr>
          <p:cNvPr id="7" name="Text 3"/>
          <p:cNvSpPr txBox="1"/>
          <p:nvPr/>
        </p:nvSpPr>
        <p:spPr>
          <a:xfrm>
            <a:off x="8732520" y="1280160"/>
            <a:ext cx="2880360" cy="868680"/>
          </a:xfrm>
          <a:prstGeom prst="rect">
            <a:avLst/>
          </a:prstGeom>
          <a:noFill/>
          <a:ln/>
        </p:spPr>
        <p:txBody>
          <a:bodyPr wrap="square" lIns="0" tIns="0" rIns="0" bIns="0" rtlCol="0" anchor="ctr"/>
          <a:lstStyle/>
          <a:p>
            <a:pPr marL="0" indent="0">
              <a:buNone/>
            </a:pPr>
            <a:r>
              <a:rPr lang="en-US" sz="1400" dirty="0">
                <a:solidFill>
                  <a:srgbClr val="2B2118"/>
                </a:solidFill>
              </a:rPr>
              <a:t>district area; 300–3,400 m elevation</a:t>
            </a:r>
            <a:endParaRPr lang="en-US" sz="1400" dirty="0"/>
          </a:p>
        </p:txBody>
      </p:sp>
      <p:sp>
        <p:nvSpPr>
          <p:cNvPr id="8" name="Text 4"/>
          <p:cNvSpPr txBox="1"/>
          <p:nvPr/>
        </p:nvSpPr>
        <p:spPr>
          <a:xfrm>
            <a:off x="6766560" y="2267712"/>
            <a:ext cx="1920240" cy="868680"/>
          </a:xfrm>
          <a:prstGeom prst="rect">
            <a:avLst/>
          </a:prstGeom>
          <a:noFill/>
          <a:ln/>
        </p:spPr>
        <p:txBody>
          <a:bodyPr wrap="square" lIns="0" tIns="0" rIns="0" bIns="0" rtlCol="0" anchor="ctr"/>
          <a:lstStyle/>
          <a:p>
            <a:pPr marL="0" indent="0">
              <a:buNone/>
            </a:pPr>
            <a:r>
              <a:rPr lang="en-US" sz="2800" b="1" dirty="0">
                <a:solidFill>
                  <a:srgbClr val="8C5A2B"/>
                </a:solidFill>
                <a:latin typeface="Cambria" pitchFamily="34" charset="0"/>
                <a:ea typeface="Cambria" pitchFamily="34" charset="-122"/>
                <a:cs typeface="Cambria" pitchFamily="34" charset="-120"/>
              </a:rPr>
              <a:t>421</a:t>
            </a:r>
            <a:endParaRPr lang="en-US" sz="2800" dirty="0"/>
          </a:p>
        </p:txBody>
      </p:sp>
      <p:sp>
        <p:nvSpPr>
          <p:cNvPr id="9" name="Text 5"/>
          <p:cNvSpPr txBox="1"/>
          <p:nvPr/>
        </p:nvSpPr>
        <p:spPr>
          <a:xfrm>
            <a:off x="8732520" y="2267712"/>
            <a:ext cx="2880360" cy="868680"/>
          </a:xfrm>
          <a:prstGeom prst="rect">
            <a:avLst/>
          </a:prstGeom>
          <a:noFill/>
          <a:ln/>
        </p:spPr>
        <p:txBody>
          <a:bodyPr wrap="square" lIns="0" tIns="0" rIns="0" bIns="0" rtlCol="0" anchor="ctr"/>
          <a:lstStyle/>
          <a:p>
            <a:pPr marL="0" indent="0">
              <a:buNone/>
            </a:pPr>
            <a:r>
              <a:rPr lang="en-US" sz="1400" dirty="0">
                <a:solidFill>
                  <a:srgbClr val="2B2118"/>
                </a:solidFill>
              </a:rPr>
              <a:t>surface samples (0–15 cm), stratified random, 21 strata</a:t>
            </a:r>
            <a:endParaRPr lang="en-US" sz="1400" dirty="0"/>
          </a:p>
        </p:txBody>
      </p:sp>
      <p:sp>
        <p:nvSpPr>
          <p:cNvPr id="10" name="Text 6"/>
          <p:cNvSpPr txBox="1"/>
          <p:nvPr/>
        </p:nvSpPr>
        <p:spPr>
          <a:xfrm>
            <a:off x="6766560" y="3255264"/>
            <a:ext cx="1920240" cy="868680"/>
          </a:xfrm>
          <a:prstGeom prst="rect">
            <a:avLst/>
          </a:prstGeom>
          <a:noFill/>
          <a:ln/>
        </p:spPr>
        <p:txBody>
          <a:bodyPr wrap="square" lIns="0" tIns="0" rIns="0" bIns="0" rtlCol="0" anchor="ctr"/>
          <a:lstStyle/>
          <a:p>
            <a:pPr marL="0" indent="0">
              <a:buNone/>
            </a:pPr>
            <a:r>
              <a:rPr lang="en-US" sz="2800" b="1" dirty="0">
                <a:solidFill>
                  <a:srgbClr val="8C5A2B"/>
                </a:solidFill>
                <a:latin typeface="Cambria" pitchFamily="34" charset="0"/>
                <a:ea typeface="Cambria" pitchFamily="34" charset="-122"/>
                <a:cs typeface="Cambria" pitchFamily="34" charset="-120"/>
              </a:rPr>
              <a:t>55</a:t>
            </a:r>
            <a:endParaRPr lang="en-US" sz="2800" dirty="0"/>
          </a:p>
        </p:txBody>
      </p:sp>
      <p:sp>
        <p:nvSpPr>
          <p:cNvPr id="11" name="Text 7"/>
          <p:cNvSpPr txBox="1"/>
          <p:nvPr/>
        </p:nvSpPr>
        <p:spPr>
          <a:xfrm>
            <a:off x="8732520" y="3255264"/>
            <a:ext cx="2880360" cy="868680"/>
          </a:xfrm>
          <a:prstGeom prst="rect">
            <a:avLst/>
          </a:prstGeom>
          <a:noFill/>
          <a:ln/>
        </p:spPr>
        <p:txBody>
          <a:bodyPr wrap="square" lIns="0" tIns="0" rIns="0" bIns="0" rtlCol="0" anchor="ctr"/>
          <a:lstStyle/>
          <a:p>
            <a:pPr marL="0" indent="0">
              <a:buNone/>
            </a:pPr>
            <a:r>
              <a:rPr lang="en-US" sz="1400" dirty="0">
                <a:solidFill>
                  <a:srgbClr val="2B2118"/>
                </a:solidFill>
              </a:rPr>
              <a:t>covariates: terrain, climate, spectral, LULC, lithology</a:t>
            </a:r>
            <a:endParaRPr lang="en-US" sz="1400" dirty="0"/>
          </a:p>
        </p:txBody>
      </p:sp>
      <p:sp>
        <p:nvSpPr>
          <p:cNvPr id="12" name="Text 8"/>
          <p:cNvSpPr txBox="1"/>
          <p:nvPr/>
        </p:nvSpPr>
        <p:spPr>
          <a:xfrm>
            <a:off x="6766560" y="4242816"/>
            <a:ext cx="1920240" cy="868680"/>
          </a:xfrm>
          <a:prstGeom prst="rect">
            <a:avLst/>
          </a:prstGeom>
          <a:noFill/>
          <a:ln/>
        </p:spPr>
        <p:txBody>
          <a:bodyPr wrap="square" lIns="0" tIns="0" rIns="0" bIns="0" rtlCol="0" anchor="ctr"/>
          <a:lstStyle/>
          <a:p>
            <a:pPr marL="0" indent="0">
              <a:buNone/>
            </a:pPr>
            <a:r>
              <a:rPr lang="en-US" sz="2800" b="1" dirty="0">
                <a:solidFill>
                  <a:srgbClr val="8C5A2B"/>
                </a:solidFill>
                <a:latin typeface="Cambria" pitchFamily="34" charset="0"/>
                <a:ea typeface="Cambria" pitchFamily="34" charset="-122"/>
                <a:cs typeface="Cambria" pitchFamily="34" charset="-120"/>
              </a:rPr>
              <a:t>30 m</a:t>
            </a:r>
            <a:endParaRPr lang="en-US" sz="2800" dirty="0"/>
          </a:p>
        </p:txBody>
      </p:sp>
      <p:sp>
        <p:nvSpPr>
          <p:cNvPr id="13" name="Text 9"/>
          <p:cNvSpPr txBox="1"/>
          <p:nvPr/>
        </p:nvSpPr>
        <p:spPr>
          <a:xfrm>
            <a:off x="8732520" y="4242816"/>
            <a:ext cx="2880360" cy="868680"/>
          </a:xfrm>
          <a:prstGeom prst="rect">
            <a:avLst/>
          </a:prstGeom>
          <a:noFill/>
          <a:ln/>
        </p:spPr>
        <p:txBody>
          <a:bodyPr wrap="square" lIns="0" tIns="0" rIns="0" bIns="0" rtlCol="0" anchor="ctr"/>
          <a:lstStyle/>
          <a:p>
            <a:pPr marL="0" indent="0">
              <a:buNone/>
            </a:pPr>
            <a:r>
              <a:rPr lang="en-US" sz="1400" dirty="0">
                <a:solidFill>
                  <a:srgbClr val="2B2118"/>
                </a:solidFill>
              </a:rPr>
              <a:t>common grid (SRTM DEM resolution, bilinear resampling)</a:t>
            </a:r>
            <a:endParaRPr lang="en-US" sz="1400" dirty="0"/>
          </a:p>
        </p:txBody>
      </p:sp>
      <p:sp>
        <p:nvSpPr>
          <p:cNvPr id="14" name="Text 10"/>
          <p:cNvSpPr txBox="1"/>
          <p:nvPr/>
        </p:nvSpPr>
        <p:spPr>
          <a:xfrm>
            <a:off x="6766560" y="5303520"/>
            <a:ext cx="4846320" cy="731520"/>
          </a:xfrm>
          <a:prstGeom prst="roundRect">
            <a:avLst>
              <a:gd name="adj" fmla="val 10000"/>
            </a:avLst>
          </a:prstGeom>
          <a:solidFill>
            <a:srgbClr val="F3F0EB"/>
          </a:solidFill>
          <a:ln/>
        </p:spPr>
        <p:txBody>
          <a:bodyPr wrap="square" lIns="101600" tIns="101600" rIns="101600" bIns="101600" rtlCol="0" anchor="ctr"/>
          <a:lstStyle/>
          <a:p>
            <a:pPr marL="0" indent="0" algn="l">
              <a:buNone/>
            </a:pPr>
            <a:r>
              <a:rPr lang="en-US" sz="1400" dirty="0">
                <a:solidFill>
                  <a:srgbClr val="2B2118"/>
                </a:solidFill>
              </a:rPr>
              <a:t>SOC: 0.105–7.11% (mean 2.35%, median 2.16%, CV 50.4%), positively skewed</a:t>
            </a:r>
            <a:endParaRPr lang="en-US" sz="1400" dirty="0"/>
          </a:p>
        </p:txBody>
      </p:sp>
      <p:sp>
        <p:nvSpPr>
          <p:cNvPr id="15" name="Text 11"/>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Figure: Kalambukattu et al. (2025) Fig. 1; values from Sections 2.1–2.4 and Table 2</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21</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Methodology</a:t>
            </a:r>
            <a:endParaRPr lang="en-US" sz="3200" dirty="0"/>
          </a:p>
        </p:txBody>
      </p:sp>
      <p:pic>
        <p:nvPicPr>
          <p:cNvPr id="4" name="Image 0" descr="dsm_fig2_workflow"/>
          <p:cNvPicPr>
            <a:picLocks noChangeAspect="1"/>
          </p:cNvPicPr>
          <p:nvPr/>
        </p:nvPicPr>
        <p:blipFill>
          <a:blip r:embed="rId3"/>
          <a:stretch>
            <a:fillRect/>
          </a:stretch>
        </p:blipFill>
        <p:spPr>
          <a:xfrm>
            <a:off x="457200" y="1313507"/>
            <a:ext cx="6400800" cy="4048107"/>
          </a:xfrm>
          <a:prstGeom prst="rect">
            <a:avLst/>
          </a:prstGeom>
        </p:spPr>
      </p:pic>
      <p:sp>
        <p:nvSpPr>
          <p:cNvPr id="5" name="Shape 1"/>
          <p:cNvSpPr/>
          <p:nvPr/>
        </p:nvSpPr>
        <p:spPr>
          <a:xfrm>
            <a:off x="457200" y="1313507"/>
            <a:ext cx="6400800" cy="4048107"/>
          </a:xfrm>
          <a:prstGeom prst="rect">
            <a:avLst/>
          </a:prstGeom>
          <a:ln w="9525">
            <a:solidFill>
              <a:srgbClr val="D9D2C8"/>
            </a:solidFill>
            <a:prstDash val="solid"/>
          </a:ln>
        </p:spPr>
      </p:sp>
      <p:sp>
        <p:nvSpPr>
          <p:cNvPr id="6" name="Text 2"/>
          <p:cNvSpPr txBox="1"/>
          <p:nvPr/>
        </p:nvSpPr>
        <p:spPr>
          <a:xfrm>
            <a:off x="457200" y="5486400"/>
            <a:ext cx="6400800" cy="274320"/>
          </a:xfrm>
          <a:prstGeom prst="rect">
            <a:avLst/>
          </a:prstGeom>
          <a:noFill/>
          <a:ln/>
        </p:spPr>
        <p:txBody>
          <a:bodyPr wrap="square" lIns="0" tIns="0" rIns="0" bIns="0" rtlCol="0" anchor="ctr"/>
          <a:lstStyle/>
          <a:p>
            <a:pPr marL="0" indent="0" algn="ctr">
              <a:buNone/>
            </a:pPr>
            <a:r>
              <a:rPr lang="en-US" sz="1100" i="1" dirty="0">
                <a:solidFill>
                  <a:srgbClr val="8A8178"/>
                </a:solidFill>
              </a:rPr>
              <a:t>Workflow from the paper (Fig. 2)</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132320" y="1280160"/>
          <a:ext cx="4480560" cy="914400"/>
        </p:xfrm>
        <a:graphic>
          <a:graphicData uri="http://schemas.openxmlformats.org/drawingml/2006/table">
            <a:tbl>
              <a:tblPr/>
              <a:tblGrid>
                <a:gridCol w="10515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rPr>
                        <a:t>Model</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8C5A2B"/>
                    </a:solidFill>
                  </a:tcPr>
                </a:tc>
                <a:tc>
                  <a:txBody>
                    <a:bodyPr/>
                    <a:lstStyle/>
                    <a:p>
                      <a:pPr marL="0" indent="0">
                        <a:buNone/>
                      </a:pPr>
                      <a:r>
                        <a:rPr lang="en-US" sz="1300" b="1" dirty="0">
                          <a:solidFill>
                            <a:srgbClr val="FFFFFF"/>
                          </a:solidFill>
                        </a:rPr>
                        <a:t>Package</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8C5A2B"/>
                    </a:solidFill>
                  </a:tcPr>
                </a:tc>
                <a:tc>
                  <a:txBody>
                    <a:bodyPr/>
                    <a:lstStyle/>
                    <a:p>
                      <a:pPr marL="0" indent="0">
                        <a:buNone/>
                      </a:pPr>
                      <a:r>
                        <a:rPr lang="en-US" sz="1300" b="1" dirty="0">
                          <a:solidFill>
                            <a:srgbClr val="FFFFFF"/>
                          </a:solidFill>
                        </a:rPr>
                        <a:t>Tuned hyperparameters</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8C5A2B"/>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2B2118"/>
                          </a:solidFill>
                        </a:rPr>
                        <a:t>RF</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caret</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ntree 500, mtry 2, Nmin 5</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2B2118"/>
                          </a:solidFill>
                        </a:rPr>
                        <a:t>SVR (RBF)</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e1071</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C 0.25, σ 0.0303</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2"/>
                  </a:ext>
                </a:extLst>
              </a:tr>
              <a:tr h="640080">
                <a:tc>
                  <a:txBody>
                    <a:bodyPr/>
                    <a:lstStyle/>
                    <a:p>
                      <a:pPr marL="0" indent="0">
                        <a:buNone/>
                      </a:pPr>
                      <a:r>
                        <a:rPr lang="en-US" sz="1300" b="1" dirty="0">
                          <a:solidFill>
                            <a:srgbClr val="2B2118"/>
                          </a:solidFill>
                        </a:rPr>
                        <a:t>XGB</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xgboost</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gbtree, depth 1, η 0.3, subsample 0.5, colsample 0.8</a:t>
                      </a:r>
                      <a:endParaRPr lang="en-US" sz="1300" dirty="0"/>
                    </a:p>
                  </a:txBody>
                  <a:tcPr marL="45720" marR="45720"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3"/>
          <p:cNvSpPr txBox="1"/>
          <p:nvPr/>
        </p:nvSpPr>
        <p:spPr>
          <a:xfrm>
            <a:off x="7132320" y="3429000"/>
            <a:ext cx="4480560" cy="2651760"/>
          </a:xfrm>
          <a:prstGeom prst="rect">
            <a:avLst/>
          </a:prstGeom>
          <a:noFill/>
          <a:ln/>
        </p:spPr>
        <p:txBody>
          <a:bodyPr wrap="square" lIns="25400" tIns="25400" rIns="25400" bIns="25400" rtlCol="0" anchor="t"/>
          <a:lstStyle/>
          <a:p>
            <a:pPr marL="190500" indent="-190500">
              <a:spcAft>
                <a:spcPts val="600"/>
              </a:spcAft>
              <a:buSzPct val="100000"/>
              <a:buChar char="•"/>
            </a:pPr>
            <a:r>
              <a:rPr lang="en-US" sz="1500" b="1" dirty="0">
                <a:solidFill>
                  <a:srgbClr val="2B2118"/>
                </a:solidFill>
              </a:rPr>
              <a:t>Selection: </a:t>
            </a:r>
            <a:r>
              <a:rPr lang="en-US" sz="1500" dirty="0">
                <a:solidFill>
                  <a:srgbClr val="2B2118"/>
                </a:solidFill>
              </a:rPr>
              <a:t>Boruta (R) → 32 covariates</a:t>
            </a:r>
            <a:endParaRPr lang="en-US" sz="1500" dirty="0"/>
          </a:p>
          <a:p>
            <a:pPr marL="190500" indent="-190500">
              <a:spcAft>
                <a:spcPts val="600"/>
              </a:spcAft>
              <a:buSzPct val="100000"/>
              <a:buChar char="•"/>
            </a:pPr>
            <a:r>
              <a:rPr lang="en-US" sz="1500" b="1" dirty="0">
                <a:solidFill>
                  <a:srgbClr val="2B2118"/>
                </a:solidFill>
              </a:rPr>
              <a:t>Split: </a:t>
            </a:r>
            <a:r>
              <a:rPr lang="en-US" sz="1500" dirty="0">
                <a:solidFill>
                  <a:srgbClr val="2B2118"/>
                </a:solidFill>
              </a:rPr>
              <a:t>70% calibration, 30% validation; 10-fold CV</a:t>
            </a:r>
            <a:endParaRPr lang="en-US" sz="1500" dirty="0"/>
          </a:p>
          <a:p>
            <a:pPr marL="190500" indent="-190500">
              <a:spcAft>
                <a:spcPts val="600"/>
              </a:spcAft>
              <a:buSzPct val="100000"/>
              <a:buChar char="•"/>
            </a:pPr>
            <a:r>
              <a:rPr lang="en-US" sz="1500" b="1" dirty="0">
                <a:solidFill>
                  <a:srgbClr val="2B2118"/>
                </a:solidFill>
              </a:rPr>
              <a:t>Importance: </a:t>
            </a:r>
            <a:r>
              <a:rPr lang="en-US" sz="1500" dirty="0">
                <a:solidFill>
                  <a:srgbClr val="2B2118"/>
                </a:solidFill>
              </a:rPr>
              <a:t>permutation %IncMSE</a:t>
            </a:r>
            <a:endParaRPr lang="en-US" sz="1500" dirty="0"/>
          </a:p>
          <a:p>
            <a:pPr marL="190500" indent="-190500">
              <a:spcAft>
                <a:spcPts val="600"/>
              </a:spcAft>
              <a:buSzPct val="100000"/>
              <a:buChar char="•"/>
            </a:pPr>
            <a:r>
              <a:rPr lang="en-US" sz="1500" b="1" dirty="0">
                <a:solidFill>
                  <a:srgbClr val="2B2118"/>
                </a:solidFill>
              </a:rPr>
              <a:t>Uncertainty: </a:t>
            </a:r>
            <a:r>
              <a:rPr lang="en-US" sz="1500" dirty="0">
                <a:solidFill>
                  <a:srgbClr val="2B2118"/>
                </a:solidFill>
              </a:rPr>
              <a:t>50 bootstraps → 90% PI; PICP</a:t>
            </a:r>
            <a:endParaRPr lang="en-US" sz="1500" dirty="0"/>
          </a:p>
        </p:txBody>
      </p:sp>
      <p:sp>
        <p:nvSpPr>
          <p:cNvPr id="9" name="Text 4"/>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Kalambukattu et al. (2025) Sections 2.5–2.11 and 3.3</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22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Results: random forest predicts SOC best</a:t>
            </a:r>
            <a:endParaRPr lang="en-US" sz="3200" dirty="0"/>
          </a:p>
        </p:txBody>
      </p:sp>
      <p:graphicFrame>
        <p:nvGraphicFramePr>
          <p:cNvPr id="4" name="Chart 0"/>
          <p:cNvGraphicFramePr/>
          <p:nvPr/>
        </p:nvGraphicFramePr>
        <p:xfrm>
          <a:off x="457200" y="1234440"/>
          <a:ext cx="420624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4114800" cy="914400"/>
        </p:xfrm>
        <a:graphic>
          <a:graphicData uri="http://schemas.openxmlformats.org/drawingml/2006/table">
            <a:tbl>
              <a:tblPr/>
              <a:tblGrid>
                <a:gridCol w="12344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274320">
                <a:tc>
                  <a:txBody>
                    <a:bodyPr/>
                    <a:lstStyle/>
                    <a:p>
                      <a:pPr marL="0" indent="0" algn="l">
                        <a:buNone/>
                      </a:pPr>
                      <a:r>
                        <a:rPr lang="en-US" sz="1200" b="1" dirty="0">
                          <a:solidFill>
                            <a:srgbClr val="FFFFFF"/>
                          </a:solidFill>
                        </a:rPr>
                        <a:t>Testing</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B2118"/>
                    </a:solidFill>
                  </a:tcPr>
                </a:tc>
                <a:tc>
                  <a:txBody>
                    <a:bodyPr/>
                    <a:lstStyle/>
                    <a:p>
                      <a:pPr marL="0" indent="0" algn="ctr">
                        <a:buNone/>
                      </a:pPr>
                      <a:r>
                        <a:rPr lang="en-US" sz="1200" b="1" dirty="0">
                          <a:solidFill>
                            <a:srgbClr val="FFFFFF"/>
                          </a:solidFill>
                        </a:rPr>
                        <a:t>RF</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B2118"/>
                    </a:solidFill>
                  </a:tcPr>
                </a:tc>
                <a:tc>
                  <a:txBody>
                    <a:bodyPr/>
                    <a:lstStyle/>
                    <a:p>
                      <a:pPr marL="0" indent="0" algn="ctr">
                        <a:buNone/>
                      </a:pPr>
                      <a:r>
                        <a:rPr lang="en-US" sz="1200" b="1" dirty="0">
                          <a:solidFill>
                            <a:srgbClr val="FFFFFF"/>
                          </a:solidFill>
                        </a:rPr>
                        <a:t>SVR</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B2118"/>
                    </a:solidFill>
                  </a:tcPr>
                </a:tc>
                <a:tc>
                  <a:txBody>
                    <a:bodyPr/>
                    <a:lstStyle/>
                    <a:p>
                      <a:pPr marL="0" indent="0" algn="ctr">
                        <a:buNone/>
                      </a:pPr>
                      <a:r>
                        <a:rPr lang="en-US" sz="1200" b="1" dirty="0">
                          <a:solidFill>
                            <a:srgbClr val="FFFFFF"/>
                          </a:solidFill>
                        </a:rPr>
                        <a:t>XGB</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B2118"/>
                    </a:solidFill>
                  </a:tcPr>
                </a:tc>
                <a:extLst>
                  <a:ext uri="{0D108BD9-81ED-4DB2-BD59-A6C34878D82A}">
                    <a16:rowId xmlns:a16="http://schemas.microsoft.com/office/drawing/2014/main" val="10000"/>
                  </a:ext>
                </a:extLst>
              </a:tr>
              <a:tr h="274320">
                <a:tc>
                  <a:txBody>
                    <a:bodyPr/>
                    <a:lstStyle/>
                    <a:p>
                      <a:pPr marL="0" indent="0" algn="l">
                        <a:buNone/>
                      </a:pPr>
                      <a:r>
                        <a:rPr lang="en-US" sz="1200" b="1" dirty="0">
                          <a:solidFill>
                            <a:srgbClr val="2B2118"/>
                          </a:solidFill>
                        </a:rPr>
                        <a:t>RMSE (%)</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8C5A2B"/>
                          </a:solidFill>
                        </a:rPr>
                        <a:t>0.59</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118"/>
                          </a:solidFill>
                        </a:rPr>
                        <a:t>1.03</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118"/>
                          </a:solidFill>
                        </a:rPr>
                        <a:t>0.97</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200" b="1" dirty="0">
                          <a:solidFill>
                            <a:srgbClr val="2B2118"/>
                          </a:solidFill>
                        </a:rPr>
                        <a:t>CCC</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lgn="ctr">
                        <a:buNone/>
                      </a:pPr>
                      <a:r>
                        <a:rPr lang="en-US" sz="1200" b="1" dirty="0">
                          <a:solidFill>
                            <a:srgbClr val="8C5A2B"/>
                          </a:solidFill>
                        </a:rPr>
                        <a:t>0.78</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lgn="ctr">
                        <a:buNone/>
                      </a:pPr>
                      <a:r>
                        <a:rPr lang="en-US" sz="1200" dirty="0">
                          <a:solidFill>
                            <a:srgbClr val="2B2118"/>
                          </a:solidFill>
                        </a:rPr>
                        <a:t>0.37</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lgn="ctr">
                        <a:buNone/>
                      </a:pPr>
                      <a:r>
                        <a:rPr lang="en-US" sz="1200" dirty="0">
                          <a:solidFill>
                            <a:srgbClr val="2B2118"/>
                          </a:solidFill>
                        </a:rPr>
                        <a:t>0.52</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2"/>
                  </a:ext>
                </a:extLst>
              </a:tr>
              <a:tr h="274320">
                <a:tc>
                  <a:txBody>
                    <a:bodyPr/>
                    <a:lstStyle/>
                    <a:p>
                      <a:pPr marL="0" indent="0" algn="l">
                        <a:buNone/>
                      </a:pPr>
                      <a:r>
                        <a:rPr lang="en-US" sz="1200" b="1" dirty="0">
                          <a:solidFill>
                            <a:srgbClr val="2B2118"/>
                          </a:solidFill>
                        </a:rPr>
                        <a:t>MAE (%)</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8C5A2B"/>
                          </a:solidFill>
                        </a:rPr>
                        <a:t>0.49</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118"/>
                          </a:solidFill>
                        </a:rPr>
                        <a:t>0.79</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118"/>
                          </a:solidFill>
                        </a:rPr>
                        <a:t>0.81</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200" b="1" dirty="0">
                          <a:solidFill>
                            <a:srgbClr val="2B2118"/>
                          </a:solidFill>
                        </a:rPr>
                        <a:t>Bias</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lgn="ctr">
                        <a:buNone/>
                      </a:pPr>
                      <a:r>
                        <a:rPr lang="en-US" sz="1200" b="1" dirty="0">
                          <a:solidFill>
                            <a:srgbClr val="8C5A2B"/>
                          </a:solidFill>
                        </a:rPr>
                        <a:t>0.097</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lgn="ctr">
                        <a:buNone/>
                      </a:pPr>
                      <a:r>
                        <a:rPr lang="en-US" sz="1200" dirty="0">
                          <a:solidFill>
                            <a:srgbClr val="2B2118"/>
                          </a:solidFill>
                        </a:rPr>
                        <a:t>−0.098</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lgn="ctr">
                        <a:buNone/>
                      </a:pPr>
                      <a:r>
                        <a:rPr lang="en-US" sz="1200" dirty="0">
                          <a:solidFill>
                            <a:srgbClr val="2B2118"/>
                          </a:solidFill>
                        </a:rPr>
                        <a:t>0.038</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4"/>
                  </a:ext>
                </a:extLst>
              </a:tr>
              <a:tr h="274320">
                <a:tc>
                  <a:txBody>
                    <a:bodyPr/>
                    <a:lstStyle/>
                    <a:p>
                      <a:pPr marL="0" indent="0" algn="l">
                        <a:buNone/>
                      </a:pPr>
                      <a:r>
                        <a:rPr lang="en-US" sz="1200" b="1" dirty="0">
                          <a:solidFill>
                            <a:srgbClr val="2B2118"/>
                          </a:solidFill>
                        </a:rPr>
                        <a:t>RPD</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8C5A2B"/>
                          </a:solidFill>
                        </a:rPr>
                        <a:t>1.80</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118"/>
                          </a:solidFill>
                        </a:rPr>
                        <a:t>1.19</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118"/>
                          </a:solidFill>
                        </a:rPr>
                        <a:t>1.27</a:t>
                      </a:r>
                      <a:endParaRPr lang="en-US" sz="12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6" name="Image 0" descr="dsm_fig6_scatter"/>
          <p:cNvPicPr>
            <a:picLocks noChangeAspect="1"/>
          </p:cNvPicPr>
          <p:nvPr/>
        </p:nvPicPr>
        <p:blipFill>
          <a:blip r:embed="rId4"/>
          <a:stretch>
            <a:fillRect/>
          </a:stretch>
        </p:blipFill>
        <p:spPr>
          <a:xfrm>
            <a:off x="4983480" y="1266633"/>
            <a:ext cx="6629400" cy="4507615"/>
          </a:xfrm>
          <a:prstGeom prst="rect">
            <a:avLst/>
          </a:prstGeom>
        </p:spPr>
      </p:pic>
      <p:sp>
        <p:nvSpPr>
          <p:cNvPr id="7" name="Shape 1"/>
          <p:cNvSpPr/>
          <p:nvPr/>
        </p:nvSpPr>
        <p:spPr>
          <a:xfrm>
            <a:off x="4983480" y="1266633"/>
            <a:ext cx="6629400" cy="4507615"/>
          </a:xfrm>
          <a:prstGeom prst="rect">
            <a:avLst/>
          </a:prstGeom>
          <a:ln w="9525">
            <a:solidFill>
              <a:srgbClr val="D9D2C8"/>
            </a:solidFill>
            <a:prstDash val="solid"/>
          </a:ln>
        </p:spPr>
      </p:sp>
      <p:sp>
        <p:nvSpPr>
          <p:cNvPr id="8" name="Text 2"/>
          <p:cNvSpPr txBox="1"/>
          <p:nvPr/>
        </p:nvSpPr>
        <p:spPr>
          <a:xfrm>
            <a:off x="4983480" y="5852160"/>
            <a:ext cx="6629400" cy="274320"/>
          </a:xfrm>
          <a:prstGeom prst="rect">
            <a:avLst/>
          </a:prstGeom>
          <a:noFill/>
          <a:ln/>
        </p:spPr>
        <p:txBody>
          <a:bodyPr wrap="square" lIns="0" tIns="0" rIns="0" bIns="0" rtlCol="0" anchor="ctr"/>
          <a:lstStyle/>
          <a:p>
            <a:pPr marL="0" indent="0" algn="ctr">
              <a:buNone/>
            </a:pPr>
            <a:r>
              <a:rPr lang="en-US" sz="1100" i="1" dirty="0">
                <a:solidFill>
                  <a:srgbClr val="8A8178"/>
                </a:solidFill>
              </a:rPr>
              <a:t>Observed vs predicted SOC: training (a RF, b SVR, c XGB) and testing (d–f)</a:t>
            </a:r>
            <a:endParaRPr lang="en-US" sz="1100" dirty="0"/>
          </a:p>
        </p:txBody>
      </p:sp>
      <p:sp>
        <p:nvSpPr>
          <p:cNvPr id="9" name="Text 3"/>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Kalambukattu et al. (2025) Table 4 and Fig. 6</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23</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Drivers of SOC and the 30 m maps</a:t>
            </a:r>
            <a:endParaRPr lang="en-US" sz="3200" dirty="0"/>
          </a:p>
        </p:txBody>
      </p:sp>
      <p:pic>
        <p:nvPicPr>
          <p:cNvPr id="4" name="Image 0" descr="dsm_fig8_importance"/>
          <p:cNvPicPr>
            <a:picLocks noChangeAspect="1"/>
          </p:cNvPicPr>
          <p:nvPr/>
        </p:nvPicPr>
        <p:blipFill>
          <a:blip r:embed="rId3"/>
          <a:stretch>
            <a:fillRect/>
          </a:stretch>
        </p:blipFill>
        <p:spPr>
          <a:xfrm>
            <a:off x="921336" y="1234440"/>
            <a:ext cx="6021167" cy="3246120"/>
          </a:xfrm>
          <a:prstGeom prst="rect">
            <a:avLst/>
          </a:prstGeom>
        </p:spPr>
      </p:pic>
      <p:sp>
        <p:nvSpPr>
          <p:cNvPr id="5" name="Shape 1"/>
          <p:cNvSpPr/>
          <p:nvPr/>
        </p:nvSpPr>
        <p:spPr>
          <a:xfrm>
            <a:off x="921336" y="1234440"/>
            <a:ext cx="6021167" cy="3246120"/>
          </a:xfrm>
          <a:prstGeom prst="rect">
            <a:avLst/>
          </a:prstGeom>
          <a:ln w="9525">
            <a:solidFill>
              <a:srgbClr val="D9D2C8"/>
            </a:solidFill>
            <a:prstDash val="solid"/>
          </a:ln>
        </p:spPr>
      </p:sp>
      <p:sp>
        <p:nvSpPr>
          <p:cNvPr id="6" name="Text 2"/>
          <p:cNvSpPr txBox="1"/>
          <p:nvPr/>
        </p:nvSpPr>
        <p:spPr>
          <a:xfrm>
            <a:off x="457200" y="4507992"/>
            <a:ext cx="6949440" cy="274320"/>
          </a:xfrm>
          <a:prstGeom prst="rect">
            <a:avLst/>
          </a:prstGeom>
          <a:noFill/>
          <a:ln/>
        </p:spPr>
        <p:txBody>
          <a:bodyPr wrap="square" lIns="0" tIns="0" rIns="0" bIns="0" rtlCol="0" anchor="ctr"/>
          <a:lstStyle/>
          <a:p>
            <a:pPr marL="0" indent="0" algn="ctr">
              <a:buNone/>
            </a:pPr>
            <a:r>
              <a:rPr lang="en-US" sz="1100" i="1" dirty="0">
                <a:solidFill>
                  <a:srgbClr val="8A8178"/>
                </a:solidFill>
              </a:rPr>
              <a:t>Permutation importance (%IncMSE) for RF, SVR and XGB</a:t>
            </a:r>
            <a:endParaRPr lang="en-US" sz="1100" dirty="0"/>
          </a:p>
        </p:txBody>
      </p:sp>
      <p:sp>
        <p:nvSpPr>
          <p:cNvPr id="7" name="Text 3"/>
          <p:cNvSpPr txBox="1"/>
          <p:nvPr/>
        </p:nvSpPr>
        <p:spPr>
          <a:xfrm>
            <a:off x="548640" y="4846320"/>
            <a:ext cx="6858000" cy="1325880"/>
          </a:xfrm>
          <a:prstGeom prst="rect">
            <a:avLst/>
          </a:prstGeom>
          <a:noFill/>
          <a:ln/>
        </p:spPr>
        <p:txBody>
          <a:bodyPr wrap="square" lIns="25400" tIns="25400" rIns="25400" bIns="25400" rtlCol="0" anchor="t"/>
          <a:lstStyle/>
          <a:p>
            <a:pPr marL="190500" indent="-190500">
              <a:spcAft>
                <a:spcPts val="600"/>
              </a:spcAft>
              <a:buSzPct val="100000"/>
              <a:buChar char="•"/>
            </a:pPr>
            <a:r>
              <a:rPr lang="en-US" sz="1400" b="1" dirty="0">
                <a:solidFill>
                  <a:srgbClr val="2B2118"/>
                </a:solidFill>
              </a:rPr>
              <a:t>RF ranking: </a:t>
            </a:r>
            <a:r>
              <a:rPr lang="en-US" sz="1400" dirty="0">
                <a:solidFill>
                  <a:srgbClr val="2B2118"/>
                </a:solidFill>
              </a:rPr>
              <a:t>NIR &gt; Bio10 &gt; Bio17 &gt; Slope &gt; Bio19 &gt; MRRTF &gt; TRI</a:t>
            </a:r>
            <a:endParaRPr lang="en-US" sz="1400" dirty="0"/>
          </a:p>
          <a:p>
            <a:pPr marL="190500" indent="-190500">
              <a:spcAft>
                <a:spcPts val="600"/>
              </a:spcAft>
              <a:buSzPct val="100000"/>
              <a:buChar char="•"/>
            </a:pPr>
            <a:r>
              <a:rPr lang="en-US" sz="1400" b="1" dirty="0">
                <a:solidFill>
                  <a:srgbClr val="2B2118"/>
                </a:solidFill>
              </a:rPr>
              <a:t>Common to all models: </a:t>
            </a:r>
            <a:r>
              <a:rPr lang="en-US" sz="1400" dirty="0">
                <a:solidFill>
                  <a:srgbClr val="2B2118"/>
                </a:solidFill>
              </a:rPr>
              <a:t>NIR, Bio17, Bio10, Bio19, MRRTF, slope</a:t>
            </a:r>
            <a:endParaRPr lang="en-US" sz="1400" dirty="0"/>
          </a:p>
          <a:p>
            <a:pPr marL="190500" indent="-190500">
              <a:spcAft>
                <a:spcPts val="600"/>
              </a:spcAft>
              <a:buSzPct val="100000"/>
              <a:buChar char="•"/>
            </a:pPr>
            <a:r>
              <a:rPr lang="en-US" sz="1400" b="1" dirty="0">
                <a:solidFill>
                  <a:srgbClr val="2B2118"/>
                </a:solidFill>
              </a:rPr>
              <a:t>Land use: </a:t>
            </a:r>
            <a:r>
              <a:rPr lang="en-US" sz="1400" dirty="0">
                <a:solidFill>
                  <a:srgbClr val="2B2118"/>
                </a:solidFill>
              </a:rPr>
              <a:t>evergreen forest mean 2.88% SOC; croplands 2.32% (low input, tillage, erosion, residue removal)</a:t>
            </a:r>
            <a:endParaRPr lang="en-US" sz="1400" dirty="0"/>
          </a:p>
        </p:txBody>
      </p:sp>
      <p:pic>
        <p:nvPicPr>
          <p:cNvPr id="8" name="Image 1" descr="dsm_fig9_maps"/>
          <p:cNvPicPr>
            <a:picLocks noChangeAspect="1"/>
          </p:cNvPicPr>
          <p:nvPr/>
        </p:nvPicPr>
        <p:blipFill>
          <a:blip r:embed="rId4"/>
          <a:stretch>
            <a:fillRect/>
          </a:stretch>
        </p:blipFill>
        <p:spPr>
          <a:xfrm>
            <a:off x="8632522" y="1234440"/>
            <a:ext cx="2028797" cy="4892040"/>
          </a:xfrm>
          <a:prstGeom prst="rect">
            <a:avLst/>
          </a:prstGeom>
        </p:spPr>
      </p:pic>
      <p:sp>
        <p:nvSpPr>
          <p:cNvPr id="9" name="Shape 4"/>
          <p:cNvSpPr/>
          <p:nvPr/>
        </p:nvSpPr>
        <p:spPr>
          <a:xfrm>
            <a:off x="8632522" y="1234440"/>
            <a:ext cx="2028797" cy="4892040"/>
          </a:xfrm>
          <a:prstGeom prst="rect">
            <a:avLst/>
          </a:prstGeom>
          <a:ln w="9525">
            <a:solidFill>
              <a:srgbClr val="D9D2C8"/>
            </a:solidFill>
            <a:prstDash val="solid"/>
          </a:ln>
        </p:spPr>
      </p:sp>
      <p:sp>
        <p:nvSpPr>
          <p:cNvPr id="10" name="Text 5"/>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Kalambukattu et al. (2025) Figs. 8 and 9, Sections 3.4–3.5</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24</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Mapping the uncertainty</a:t>
            </a:r>
            <a:endParaRPr lang="en-US" sz="3200" dirty="0"/>
          </a:p>
        </p:txBody>
      </p:sp>
      <p:pic>
        <p:nvPicPr>
          <p:cNvPr id="4" name="Image 0" descr="dsm_fig10_uncert"/>
          <p:cNvPicPr>
            <a:picLocks noChangeAspect="1"/>
          </p:cNvPicPr>
          <p:nvPr/>
        </p:nvPicPr>
        <p:blipFill>
          <a:blip r:embed="rId3"/>
          <a:stretch>
            <a:fillRect/>
          </a:stretch>
        </p:blipFill>
        <p:spPr>
          <a:xfrm>
            <a:off x="1210616" y="1234440"/>
            <a:ext cx="4162447" cy="4846320"/>
          </a:xfrm>
          <a:prstGeom prst="rect">
            <a:avLst/>
          </a:prstGeom>
        </p:spPr>
      </p:pic>
      <p:sp>
        <p:nvSpPr>
          <p:cNvPr id="5" name="Shape 1"/>
          <p:cNvSpPr/>
          <p:nvPr/>
        </p:nvSpPr>
        <p:spPr>
          <a:xfrm>
            <a:off x="1210616" y="1234440"/>
            <a:ext cx="4162447" cy="4846320"/>
          </a:xfrm>
          <a:prstGeom prst="rect">
            <a:avLst/>
          </a:prstGeom>
          <a:ln w="9525">
            <a:solidFill>
              <a:srgbClr val="D9D2C8"/>
            </a:solidFill>
            <a:prstDash val="solid"/>
          </a:ln>
        </p:spPr>
      </p:sp>
      <p:sp>
        <p:nvSpPr>
          <p:cNvPr id="6" name="Text 2"/>
          <p:cNvSpPr txBox="1"/>
          <p:nvPr/>
        </p:nvSpPr>
        <p:spPr>
          <a:xfrm>
            <a:off x="6400800" y="1280160"/>
            <a:ext cx="5212080" cy="411480"/>
          </a:xfrm>
          <a:prstGeom prst="rect">
            <a:avLst/>
          </a:prstGeom>
          <a:noFill/>
          <a:ln/>
        </p:spPr>
        <p:txBody>
          <a:bodyPr wrap="square" lIns="0" tIns="0" rIns="0" bIns="0" rtlCol="0" anchor="ctr"/>
          <a:lstStyle/>
          <a:p>
            <a:pPr marL="0" indent="0">
              <a:buNone/>
            </a:pPr>
            <a:r>
              <a:rPr lang="en-US" sz="1600" b="1" dirty="0">
                <a:solidFill>
                  <a:srgbClr val="2B2118"/>
                </a:solidFill>
              </a:rPr>
              <a:t>90% prediction-interval range</a:t>
            </a:r>
            <a:endParaRPr lang="en-US" sz="1600" dirty="0"/>
          </a:p>
        </p:txBody>
      </p:sp>
      <p:sp>
        <p:nvSpPr>
          <p:cNvPr id="7" name="Shape 3"/>
          <p:cNvSpPr/>
          <p:nvPr/>
        </p:nvSpPr>
        <p:spPr>
          <a:xfrm>
            <a:off x="6400800" y="1783080"/>
            <a:ext cx="1645920" cy="1097280"/>
          </a:xfrm>
          <a:prstGeom prst="roundRect">
            <a:avLst>
              <a:gd name="adj" fmla="val 6667"/>
            </a:avLst>
          </a:prstGeom>
          <a:solidFill>
            <a:srgbClr val="8C5A2B"/>
          </a:solidFill>
          <a:ln/>
        </p:spPr>
      </p:sp>
      <p:sp>
        <p:nvSpPr>
          <p:cNvPr id="8" name="Text 4"/>
          <p:cNvSpPr txBox="1"/>
          <p:nvPr/>
        </p:nvSpPr>
        <p:spPr>
          <a:xfrm>
            <a:off x="6400800" y="1783080"/>
            <a:ext cx="1645920" cy="1097280"/>
          </a:xfrm>
          <a:prstGeom prst="rect">
            <a:avLst/>
          </a:prstGeom>
          <a:noFill/>
          <a:ln/>
        </p:spPr>
        <p:txBody>
          <a:bodyPr wrap="square" lIns="25400" tIns="25400" rIns="25400" bIns="25400" rtlCol="0" anchor="ctr"/>
          <a:lstStyle/>
          <a:p>
            <a:pPr marL="0" indent="0" algn="ctr">
              <a:buNone/>
            </a:pPr>
            <a:r>
              <a:rPr lang="en-US" sz="1600" b="1" dirty="0">
                <a:solidFill>
                  <a:srgbClr val="FFFFFF"/>
                </a:solidFill>
              </a:rPr>
              <a:t>RF</a:t>
            </a:r>
            <a:endParaRPr lang="en-US" sz="1600" dirty="0"/>
          </a:p>
          <a:p>
            <a:pPr marL="0" indent="0" algn="ctr">
              <a:buNone/>
            </a:pPr>
            <a:r>
              <a:rPr lang="en-US" sz="1500" dirty="0">
                <a:solidFill>
                  <a:srgbClr val="FFFFFF"/>
                </a:solidFill>
              </a:rPr>
              <a:t>0.16–7.72%</a:t>
            </a:r>
            <a:endParaRPr lang="en-US" sz="1600" dirty="0"/>
          </a:p>
        </p:txBody>
      </p:sp>
      <p:sp>
        <p:nvSpPr>
          <p:cNvPr id="9" name="Shape 5"/>
          <p:cNvSpPr/>
          <p:nvPr/>
        </p:nvSpPr>
        <p:spPr>
          <a:xfrm>
            <a:off x="8183880" y="1783080"/>
            <a:ext cx="1645920" cy="1097280"/>
          </a:xfrm>
          <a:prstGeom prst="roundRect">
            <a:avLst>
              <a:gd name="adj" fmla="val 6667"/>
            </a:avLst>
          </a:prstGeom>
          <a:solidFill>
            <a:srgbClr val="F3F0EB"/>
          </a:solidFill>
          <a:ln/>
        </p:spPr>
      </p:sp>
      <p:sp>
        <p:nvSpPr>
          <p:cNvPr id="10" name="Text 6"/>
          <p:cNvSpPr txBox="1"/>
          <p:nvPr/>
        </p:nvSpPr>
        <p:spPr>
          <a:xfrm>
            <a:off x="8183880" y="1783080"/>
            <a:ext cx="1645920" cy="1097280"/>
          </a:xfrm>
          <a:prstGeom prst="rect">
            <a:avLst/>
          </a:prstGeom>
          <a:noFill/>
          <a:ln/>
        </p:spPr>
        <p:txBody>
          <a:bodyPr wrap="square" lIns="25400" tIns="25400" rIns="25400" bIns="25400" rtlCol="0" anchor="ctr"/>
          <a:lstStyle/>
          <a:p>
            <a:pPr marL="0" indent="0" algn="ctr">
              <a:buNone/>
            </a:pPr>
            <a:r>
              <a:rPr lang="en-US" sz="1600" b="1" dirty="0">
                <a:solidFill>
                  <a:srgbClr val="2B2118"/>
                </a:solidFill>
              </a:rPr>
              <a:t>XGB</a:t>
            </a:r>
            <a:endParaRPr lang="en-US" sz="1600" dirty="0"/>
          </a:p>
          <a:p>
            <a:pPr marL="0" indent="0" algn="ctr">
              <a:buNone/>
            </a:pPr>
            <a:r>
              <a:rPr lang="en-US" sz="1500" dirty="0">
                <a:solidFill>
                  <a:srgbClr val="2B2118"/>
                </a:solidFill>
              </a:rPr>
              <a:t>0.66–8.69%</a:t>
            </a:r>
            <a:endParaRPr lang="en-US" sz="1600" dirty="0"/>
          </a:p>
        </p:txBody>
      </p:sp>
      <p:sp>
        <p:nvSpPr>
          <p:cNvPr id="11" name="Shape 7"/>
          <p:cNvSpPr/>
          <p:nvPr/>
        </p:nvSpPr>
        <p:spPr>
          <a:xfrm>
            <a:off x="9966960" y="1783080"/>
            <a:ext cx="1645920" cy="1097280"/>
          </a:xfrm>
          <a:prstGeom prst="roundRect">
            <a:avLst>
              <a:gd name="adj" fmla="val 6667"/>
            </a:avLst>
          </a:prstGeom>
          <a:solidFill>
            <a:srgbClr val="F3F0EB"/>
          </a:solidFill>
          <a:ln/>
        </p:spPr>
      </p:sp>
      <p:sp>
        <p:nvSpPr>
          <p:cNvPr id="12" name="Text 8"/>
          <p:cNvSpPr txBox="1"/>
          <p:nvPr/>
        </p:nvSpPr>
        <p:spPr>
          <a:xfrm>
            <a:off x="9966960" y="1783080"/>
            <a:ext cx="1645920" cy="1097280"/>
          </a:xfrm>
          <a:prstGeom prst="rect">
            <a:avLst/>
          </a:prstGeom>
          <a:noFill/>
          <a:ln/>
        </p:spPr>
        <p:txBody>
          <a:bodyPr wrap="square" lIns="25400" tIns="25400" rIns="25400" bIns="25400" rtlCol="0" anchor="ctr"/>
          <a:lstStyle/>
          <a:p>
            <a:pPr marL="0" indent="0" algn="ctr">
              <a:buNone/>
            </a:pPr>
            <a:r>
              <a:rPr lang="en-US" sz="1600" b="1" dirty="0">
                <a:solidFill>
                  <a:srgbClr val="2B2118"/>
                </a:solidFill>
              </a:rPr>
              <a:t>SVR</a:t>
            </a:r>
            <a:endParaRPr lang="en-US" sz="1600" dirty="0"/>
          </a:p>
          <a:p>
            <a:pPr marL="0" indent="0" algn="ctr">
              <a:buNone/>
            </a:pPr>
            <a:r>
              <a:rPr lang="en-US" sz="1500" dirty="0">
                <a:solidFill>
                  <a:srgbClr val="2B2118"/>
                </a:solidFill>
              </a:rPr>
              <a:t>0.44–5.34%</a:t>
            </a:r>
            <a:endParaRPr lang="en-US" sz="1600" dirty="0"/>
          </a:p>
        </p:txBody>
      </p:sp>
      <p:sp>
        <p:nvSpPr>
          <p:cNvPr id="13" name="Text 9"/>
          <p:cNvSpPr txBox="1"/>
          <p:nvPr/>
        </p:nvSpPr>
        <p:spPr>
          <a:xfrm>
            <a:off x="6400800" y="3108960"/>
            <a:ext cx="5212080" cy="3017520"/>
          </a:xfrm>
          <a:prstGeom prst="rect">
            <a:avLst/>
          </a:prstGeom>
          <a:noFill/>
          <a:ln/>
        </p:spPr>
        <p:txBody>
          <a:bodyPr wrap="square" lIns="25400" tIns="25400" rIns="25400" bIns="25400" rtlCol="0" anchor="t"/>
          <a:lstStyle/>
          <a:p>
            <a:pPr marL="190500" indent="-190500">
              <a:spcAft>
                <a:spcPts val="600"/>
              </a:spcAft>
              <a:buSzPct val="100000"/>
              <a:buChar char="•"/>
            </a:pPr>
            <a:r>
              <a:rPr lang="en-US" sz="1500" b="1" dirty="0">
                <a:solidFill>
                  <a:srgbClr val="2B2118"/>
                </a:solidFill>
              </a:rPr>
              <a:t>Calibration: </a:t>
            </a:r>
            <a:r>
              <a:rPr lang="en-US" sz="1500" dirty="0">
                <a:solidFill>
                  <a:srgbClr val="2B2118"/>
                </a:solidFill>
              </a:rPr>
              <a:t>PICP close to nominal levels; slight over-coverage at 40–80%</a:t>
            </a:r>
            <a:endParaRPr lang="en-US" sz="1500" dirty="0"/>
          </a:p>
          <a:p>
            <a:pPr marL="190500" indent="-190500">
              <a:spcAft>
                <a:spcPts val="600"/>
              </a:spcAft>
              <a:buSzPct val="100000"/>
              <a:buChar char="•"/>
            </a:pPr>
            <a:r>
              <a:rPr lang="en-US" sz="1500" b="1" dirty="0">
                <a:solidFill>
                  <a:srgbClr val="2B2118"/>
                </a:solidFill>
              </a:rPr>
              <a:t>Hot spot: </a:t>
            </a:r>
            <a:r>
              <a:rPr lang="en-US" sz="1500" dirty="0">
                <a:solidFill>
                  <a:srgbClr val="2B2118"/>
                </a:solidFill>
              </a:rPr>
              <a:t>north-east (low sampling density, snow, rugged terrain)</a:t>
            </a:r>
            <a:endParaRPr lang="en-US" sz="1500" dirty="0"/>
          </a:p>
          <a:p>
            <a:pPr marL="190500" indent="-190500">
              <a:spcAft>
                <a:spcPts val="600"/>
              </a:spcAft>
              <a:buSzPct val="100000"/>
              <a:buChar char="•"/>
            </a:pPr>
            <a:r>
              <a:rPr lang="en-US" sz="1500" b="1" dirty="0">
                <a:solidFill>
                  <a:srgbClr val="2B2118"/>
                </a:solidFill>
              </a:rPr>
              <a:t>Likely cause: </a:t>
            </a:r>
            <a:r>
              <a:rPr lang="en-US" sz="1500" dirty="0">
                <a:solidFill>
                  <a:srgbClr val="2B2118"/>
                </a:solidFill>
              </a:rPr>
              <a:t>1 km climate covariates miss mountain microclimate</a:t>
            </a:r>
            <a:endParaRPr lang="en-US" sz="1500" dirty="0"/>
          </a:p>
          <a:p>
            <a:pPr marL="190500" indent="-190500">
              <a:spcAft>
                <a:spcPts val="600"/>
              </a:spcAft>
              <a:buSzPct val="100000"/>
              <a:buChar char="•"/>
            </a:pPr>
            <a:r>
              <a:rPr lang="en-US" sz="1500" b="1" dirty="0">
                <a:solidFill>
                  <a:srgbClr val="2B2118"/>
                </a:solidFill>
              </a:rPr>
              <a:t>Use: </a:t>
            </a:r>
            <a:r>
              <a:rPr lang="en-US" sz="1500" dirty="0">
                <a:solidFill>
                  <a:srgbClr val="2B2118"/>
                </a:solidFill>
              </a:rPr>
              <a:t>target new samples where the interval is widest</a:t>
            </a:r>
            <a:endParaRPr lang="en-US" sz="1500" dirty="0"/>
          </a:p>
        </p:txBody>
      </p:sp>
      <p:sp>
        <p:nvSpPr>
          <p:cNvPr id="14" name="Text 10"/>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Kalambukattu et al. (2025) Fig. 10 and Section 3.5</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25</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468880"/>
            <a:ext cx="10698480" cy="1188720"/>
          </a:xfrm>
          <a:prstGeom prst="rect">
            <a:avLst/>
          </a:prstGeom>
          <a:noFill/>
          <a:ln/>
        </p:spPr>
        <p:txBody>
          <a:bodyPr wrap="square" rtlCol="0" anchor="b"/>
          <a:lstStyle/>
          <a:p>
            <a:pPr marL="0" indent="0" algn="l">
              <a:buNone/>
            </a:pPr>
            <a:r>
              <a:rPr lang="en-US" sz="4000" b="1" dirty="0">
                <a:solidFill>
                  <a:schemeClr val="bg1"/>
                </a:solidFill>
              </a:rPr>
              <a:t>Case study II: Surface soil moisture mapping</a:t>
            </a: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rtlCol="0" anchor="t"/>
          <a:lstStyle/>
          <a:p>
            <a:pPr marL="0" indent="0">
              <a:buNone/>
            </a:pPr>
            <a:r>
              <a:rPr lang="en-US" sz="1800" dirty="0">
                <a:solidFill>
                  <a:srgbClr val="E8DCCB"/>
                </a:solidFill>
              </a:rPr>
              <a:t>Das, Rathore, Roy, Chakraborty et al. (2022) Catena 217:106485 — optical–thermal–microwave fusion with ensembles</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A99A"/>
                </a:solidFill>
              </a:defRPr>
            </a:lvl1pPr>
          </a:lstStyle>
          <a:p>
            <a:pPr algn="r"/>
            <a:fld id="{F7021451-1387-4CA6-816F-3879F97B5CBC}" type="slidenum">
              <a:rPr lang="en-US" b="0"/>
              <a:t>26</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Study area and data</a:t>
            </a:r>
            <a:endParaRPr lang="en-US" sz="3200" dirty="0"/>
          </a:p>
        </p:txBody>
      </p:sp>
      <p:pic>
        <p:nvPicPr>
          <p:cNvPr id="4" name="Image 0" descr="ssm_fig1_study"/>
          <p:cNvPicPr>
            <a:picLocks noChangeAspect="1"/>
          </p:cNvPicPr>
          <p:nvPr/>
        </p:nvPicPr>
        <p:blipFill>
          <a:blip r:embed="rId3"/>
          <a:stretch>
            <a:fillRect/>
          </a:stretch>
        </p:blipFill>
        <p:spPr>
          <a:xfrm>
            <a:off x="457200" y="1492930"/>
            <a:ext cx="5394960" cy="4329340"/>
          </a:xfrm>
          <a:prstGeom prst="rect">
            <a:avLst/>
          </a:prstGeom>
        </p:spPr>
      </p:pic>
      <p:sp>
        <p:nvSpPr>
          <p:cNvPr id="5" name="Shape 1"/>
          <p:cNvSpPr/>
          <p:nvPr/>
        </p:nvSpPr>
        <p:spPr>
          <a:xfrm>
            <a:off x="457200" y="1492930"/>
            <a:ext cx="5394960" cy="4329340"/>
          </a:xfrm>
          <a:prstGeom prst="rect">
            <a:avLst/>
          </a:prstGeom>
          <a:ln w="9525">
            <a:solidFill>
              <a:srgbClr val="D9D2C8"/>
            </a:solidFill>
            <a:prstDash val="solid"/>
          </a:ln>
        </p:spPr>
      </p:sp>
      <p:sp>
        <p:nvSpPr>
          <p:cNvPr id="6" name="Text 2"/>
          <p:cNvSpPr txBox="1"/>
          <p:nvPr/>
        </p:nvSpPr>
        <p:spPr>
          <a:xfrm>
            <a:off x="6172200" y="1280160"/>
            <a:ext cx="1920240" cy="868680"/>
          </a:xfrm>
          <a:prstGeom prst="rect">
            <a:avLst/>
          </a:prstGeom>
          <a:noFill/>
          <a:ln/>
        </p:spPr>
        <p:txBody>
          <a:bodyPr wrap="square" lIns="0" tIns="0" rIns="0" bIns="0" rtlCol="0" anchor="ctr"/>
          <a:lstStyle/>
          <a:p>
            <a:pPr marL="0" indent="0">
              <a:buNone/>
            </a:pPr>
            <a:r>
              <a:rPr lang="en-US" sz="2800" b="1" dirty="0">
                <a:solidFill>
                  <a:srgbClr val="2E7D7A"/>
                </a:solidFill>
                <a:latin typeface="Cambria" pitchFamily="34" charset="0"/>
                <a:ea typeface="Cambria" pitchFamily="34" charset="-122"/>
                <a:cs typeface="Cambria" pitchFamily="34" charset="-120"/>
              </a:rPr>
              <a:t>622</a:t>
            </a:r>
            <a:endParaRPr lang="en-US" sz="2800" dirty="0"/>
          </a:p>
        </p:txBody>
      </p:sp>
      <p:sp>
        <p:nvSpPr>
          <p:cNvPr id="7" name="Text 3"/>
          <p:cNvSpPr txBox="1"/>
          <p:nvPr/>
        </p:nvSpPr>
        <p:spPr>
          <a:xfrm>
            <a:off x="8138160" y="1280160"/>
            <a:ext cx="3474720" cy="868680"/>
          </a:xfrm>
          <a:prstGeom prst="rect">
            <a:avLst/>
          </a:prstGeom>
          <a:noFill/>
          <a:ln/>
        </p:spPr>
        <p:txBody>
          <a:bodyPr wrap="square" lIns="0" tIns="0" rIns="0" bIns="0" rtlCol="0" anchor="ctr"/>
          <a:lstStyle/>
          <a:p>
            <a:pPr marL="0" indent="0">
              <a:buNone/>
            </a:pPr>
            <a:r>
              <a:rPr lang="en-US" sz="1400" dirty="0">
                <a:solidFill>
                  <a:srgbClr val="2B2118"/>
                </a:solidFill>
              </a:rPr>
              <a:t>in-situ SSM readings (0–5 cm), ML3 ThetaProbe, sites by cLHS</a:t>
            </a:r>
            <a:endParaRPr lang="en-US" sz="1400" dirty="0"/>
          </a:p>
        </p:txBody>
      </p:sp>
      <p:sp>
        <p:nvSpPr>
          <p:cNvPr id="8" name="Text 4"/>
          <p:cNvSpPr txBox="1"/>
          <p:nvPr/>
        </p:nvSpPr>
        <p:spPr>
          <a:xfrm>
            <a:off x="6172200" y="2267712"/>
            <a:ext cx="1920240" cy="868680"/>
          </a:xfrm>
          <a:prstGeom prst="rect">
            <a:avLst/>
          </a:prstGeom>
          <a:noFill/>
          <a:ln/>
        </p:spPr>
        <p:txBody>
          <a:bodyPr wrap="square" lIns="0" tIns="0" rIns="0" bIns="0" rtlCol="0" anchor="ctr"/>
          <a:lstStyle/>
          <a:p>
            <a:pPr marL="0" indent="0">
              <a:buNone/>
            </a:pPr>
            <a:r>
              <a:rPr lang="en-US" sz="2800" b="1" dirty="0">
                <a:solidFill>
                  <a:srgbClr val="2E7D7A"/>
                </a:solidFill>
                <a:latin typeface="Cambria" pitchFamily="34" charset="0"/>
                <a:ea typeface="Cambria" pitchFamily="34" charset="-122"/>
                <a:cs typeface="Cambria" pitchFamily="34" charset="-120"/>
              </a:rPr>
              <a:t>6 dates</a:t>
            </a:r>
            <a:endParaRPr lang="en-US" sz="2800" dirty="0"/>
          </a:p>
        </p:txBody>
      </p:sp>
      <p:sp>
        <p:nvSpPr>
          <p:cNvPr id="9" name="Text 5"/>
          <p:cNvSpPr txBox="1"/>
          <p:nvPr/>
        </p:nvSpPr>
        <p:spPr>
          <a:xfrm>
            <a:off x="8138160" y="2267712"/>
            <a:ext cx="3474720" cy="868680"/>
          </a:xfrm>
          <a:prstGeom prst="rect">
            <a:avLst/>
          </a:prstGeom>
          <a:noFill/>
          <a:ln/>
        </p:spPr>
        <p:txBody>
          <a:bodyPr wrap="square" lIns="0" tIns="0" rIns="0" bIns="0" rtlCol="0" anchor="ctr"/>
          <a:lstStyle/>
          <a:p>
            <a:pPr marL="0" indent="0">
              <a:buNone/>
            </a:pPr>
            <a:r>
              <a:rPr lang="en-US" sz="1400" dirty="0">
                <a:solidFill>
                  <a:srgbClr val="2B2118"/>
                </a:solidFill>
              </a:rPr>
              <a:t>Oct 2020 – Mar 2021, synchronous with satellite passes</a:t>
            </a:r>
            <a:endParaRPr lang="en-US" sz="1400" dirty="0"/>
          </a:p>
        </p:txBody>
      </p:sp>
      <p:sp>
        <p:nvSpPr>
          <p:cNvPr id="10" name="Text 6"/>
          <p:cNvSpPr txBox="1"/>
          <p:nvPr/>
        </p:nvSpPr>
        <p:spPr>
          <a:xfrm>
            <a:off x="6172200" y="3255264"/>
            <a:ext cx="1920240" cy="868680"/>
          </a:xfrm>
          <a:prstGeom prst="rect">
            <a:avLst/>
          </a:prstGeom>
          <a:noFill/>
          <a:ln/>
        </p:spPr>
        <p:txBody>
          <a:bodyPr wrap="square" lIns="0" tIns="0" rIns="0" bIns="0" rtlCol="0" anchor="ctr"/>
          <a:lstStyle/>
          <a:p>
            <a:pPr marL="0" indent="0">
              <a:buNone/>
            </a:pPr>
            <a:r>
              <a:rPr lang="en-US" sz="2800" b="1" dirty="0">
                <a:solidFill>
                  <a:srgbClr val="2E7D7A"/>
                </a:solidFill>
                <a:latin typeface="Cambria" pitchFamily="34" charset="0"/>
                <a:ea typeface="Cambria" pitchFamily="34" charset="-122"/>
                <a:cs typeface="Cambria" pitchFamily="34" charset="-120"/>
              </a:rPr>
              <a:t>30</a:t>
            </a:r>
            <a:endParaRPr lang="en-US" sz="2800" dirty="0"/>
          </a:p>
        </p:txBody>
      </p:sp>
      <p:sp>
        <p:nvSpPr>
          <p:cNvPr id="11" name="Text 7"/>
          <p:cNvSpPr txBox="1"/>
          <p:nvPr/>
        </p:nvSpPr>
        <p:spPr>
          <a:xfrm>
            <a:off x="8138160" y="3255264"/>
            <a:ext cx="3474720" cy="868680"/>
          </a:xfrm>
          <a:prstGeom prst="rect">
            <a:avLst/>
          </a:prstGeom>
          <a:noFill/>
          <a:ln/>
        </p:spPr>
        <p:txBody>
          <a:bodyPr wrap="square" lIns="0" tIns="0" rIns="0" bIns="0" rtlCol="0" anchor="ctr"/>
          <a:lstStyle/>
          <a:p>
            <a:pPr marL="0" indent="0">
              <a:buNone/>
            </a:pPr>
            <a:r>
              <a:rPr lang="en-US" sz="1400" dirty="0">
                <a:solidFill>
                  <a:srgbClr val="2B2118"/>
                </a:solidFill>
              </a:rPr>
              <a:t>covariates: Sentinel-1 σ° VV/VH, Landsat-8 bands, indices, LST</a:t>
            </a:r>
            <a:endParaRPr lang="en-US" sz="1400" dirty="0"/>
          </a:p>
        </p:txBody>
      </p:sp>
      <p:sp>
        <p:nvSpPr>
          <p:cNvPr id="12" name="Text 8"/>
          <p:cNvSpPr txBox="1"/>
          <p:nvPr/>
        </p:nvSpPr>
        <p:spPr>
          <a:xfrm>
            <a:off x="6172200" y="4242816"/>
            <a:ext cx="1920240" cy="868680"/>
          </a:xfrm>
          <a:prstGeom prst="rect">
            <a:avLst/>
          </a:prstGeom>
          <a:noFill/>
          <a:ln/>
        </p:spPr>
        <p:txBody>
          <a:bodyPr wrap="square" lIns="0" tIns="0" rIns="0" bIns="0" rtlCol="0" anchor="ctr"/>
          <a:lstStyle/>
          <a:p>
            <a:pPr marL="0" indent="0">
              <a:buNone/>
            </a:pPr>
            <a:r>
              <a:rPr lang="en-US" sz="2800" b="1" dirty="0">
                <a:solidFill>
                  <a:srgbClr val="2E7D7A"/>
                </a:solidFill>
                <a:latin typeface="Cambria" pitchFamily="34" charset="0"/>
                <a:ea typeface="Cambria" pitchFamily="34" charset="-122"/>
                <a:cs typeface="Cambria" pitchFamily="34" charset="-120"/>
              </a:rPr>
              <a:t>30 m</a:t>
            </a:r>
            <a:endParaRPr lang="en-US" sz="2800" dirty="0"/>
          </a:p>
        </p:txBody>
      </p:sp>
      <p:sp>
        <p:nvSpPr>
          <p:cNvPr id="13" name="Text 9"/>
          <p:cNvSpPr txBox="1"/>
          <p:nvPr/>
        </p:nvSpPr>
        <p:spPr>
          <a:xfrm>
            <a:off x="8138160" y="4242816"/>
            <a:ext cx="3474720" cy="868680"/>
          </a:xfrm>
          <a:prstGeom prst="rect">
            <a:avLst/>
          </a:prstGeom>
          <a:noFill/>
          <a:ln/>
        </p:spPr>
        <p:txBody>
          <a:bodyPr wrap="square" lIns="0" tIns="0" rIns="0" bIns="0" rtlCol="0" anchor="ctr"/>
          <a:lstStyle/>
          <a:p>
            <a:pPr marL="0" indent="0">
              <a:buNone/>
            </a:pPr>
            <a:r>
              <a:rPr lang="en-US" sz="1400" dirty="0">
                <a:solidFill>
                  <a:srgbClr val="2B2118"/>
                </a:solidFill>
              </a:rPr>
              <a:t>all layers resampled (bilinear), UTM 43N</a:t>
            </a:r>
            <a:endParaRPr lang="en-US" sz="1400" dirty="0"/>
          </a:p>
        </p:txBody>
      </p:sp>
      <p:sp>
        <p:nvSpPr>
          <p:cNvPr id="14" name="Text 10"/>
          <p:cNvSpPr txBox="1"/>
          <p:nvPr/>
        </p:nvSpPr>
        <p:spPr>
          <a:xfrm>
            <a:off x="6172200" y="5303520"/>
            <a:ext cx="5440680" cy="731520"/>
          </a:xfrm>
          <a:prstGeom prst="roundRect">
            <a:avLst>
              <a:gd name="adj" fmla="val 10000"/>
            </a:avLst>
          </a:prstGeom>
          <a:solidFill>
            <a:srgbClr val="F3F0EB"/>
          </a:solidFill>
          <a:ln/>
        </p:spPr>
        <p:txBody>
          <a:bodyPr wrap="square" lIns="101600" tIns="101600" rIns="101600" bIns="101600" rtlCol="0" anchor="ctr"/>
          <a:lstStyle/>
          <a:p>
            <a:pPr marL="0" indent="0" algn="l">
              <a:buNone/>
            </a:pPr>
            <a:r>
              <a:rPr lang="en-US" sz="1300" dirty="0">
                <a:solidFill>
                  <a:srgbClr val="2B2118"/>
                </a:solidFill>
              </a:rPr>
              <a:t>SSM: calibration mean 14.7% (SD 8.0), validation 14.0% (SD 7.3); 70:30 split tested equal by t, F, Mann–Whitney and K–S</a:t>
            </a:r>
            <a:endParaRPr lang="en-US" sz="1300" dirty="0"/>
          </a:p>
        </p:txBody>
      </p:sp>
      <p:sp>
        <p:nvSpPr>
          <p:cNvPr id="15" name="Text 11"/>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Figure: Das et al. (2022) Fig. 1; values from Sections 2.1–2.4 and 3.1</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27</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Methodology: three sensors, four models</a:t>
            </a:r>
            <a:endParaRPr lang="en-US" sz="3200" dirty="0"/>
          </a:p>
        </p:txBody>
      </p:sp>
      <p:pic>
        <p:nvPicPr>
          <p:cNvPr id="4" name="Image 0" descr="ssm_fig2_flow"/>
          <p:cNvPicPr>
            <a:picLocks noChangeAspect="1"/>
          </p:cNvPicPr>
          <p:nvPr/>
        </p:nvPicPr>
        <p:blipFill>
          <a:blip r:embed="rId3"/>
          <a:stretch>
            <a:fillRect/>
          </a:stretch>
        </p:blipFill>
        <p:spPr>
          <a:xfrm>
            <a:off x="457200" y="1395013"/>
            <a:ext cx="7315200" cy="3610774"/>
          </a:xfrm>
          <a:prstGeom prst="rect">
            <a:avLst/>
          </a:prstGeom>
        </p:spPr>
      </p:pic>
      <p:sp>
        <p:nvSpPr>
          <p:cNvPr id="5" name="Shape 1"/>
          <p:cNvSpPr/>
          <p:nvPr/>
        </p:nvSpPr>
        <p:spPr>
          <a:xfrm>
            <a:off x="457200" y="1395013"/>
            <a:ext cx="7315200" cy="3610774"/>
          </a:xfrm>
          <a:prstGeom prst="rect">
            <a:avLst/>
          </a:prstGeom>
          <a:ln w="9525">
            <a:solidFill>
              <a:srgbClr val="D9D2C8"/>
            </a:solidFill>
            <a:prstDash val="solid"/>
          </a:ln>
        </p:spPr>
      </p:sp>
      <p:sp>
        <p:nvSpPr>
          <p:cNvPr id="6" name="Text 2"/>
          <p:cNvSpPr txBox="1"/>
          <p:nvPr/>
        </p:nvSpPr>
        <p:spPr>
          <a:xfrm>
            <a:off x="457200" y="5212080"/>
            <a:ext cx="7315200" cy="274320"/>
          </a:xfrm>
          <a:prstGeom prst="rect">
            <a:avLst/>
          </a:prstGeom>
          <a:noFill/>
          <a:ln/>
        </p:spPr>
        <p:txBody>
          <a:bodyPr wrap="square" lIns="0" tIns="0" rIns="0" bIns="0" rtlCol="0" anchor="ctr"/>
          <a:lstStyle/>
          <a:p>
            <a:pPr marL="0" indent="0" algn="ctr">
              <a:buNone/>
            </a:pPr>
            <a:r>
              <a:rPr lang="en-US" sz="1100" i="1" dirty="0">
                <a:solidFill>
                  <a:srgbClr val="8A8178"/>
                </a:solidFill>
              </a:rPr>
              <a:t>Workflow from the paper (Fig. 2)</a:t>
            </a:r>
            <a:endParaRPr lang="en-US" sz="1100" dirty="0"/>
          </a:p>
        </p:txBody>
      </p:sp>
      <p:sp>
        <p:nvSpPr>
          <p:cNvPr id="7" name="Text 3"/>
          <p:cNvSpPr txBox="1"/>
          <p:nvPr/>
        </p:nvSpPr>
        <p:spPr>
          <a:xfrm>
            <a:off x="8046720" y="1280160"/>
            <a:ext cx="3566160" cy="804672"/>
          </a:xfrm>
          <a:prstGeom prst="roundRect">
            <a:avLst>
              <a:gd name="adj" fmla="val 9091"/>
            </a:avLst>
          </a:prstGeom>
          <a:solidFill>
            <a:srgbClr val="F3F0EB"/>
          </a:solidFill>
          <a:ln/>
        </p:spPr>
        <p:txBody>
          <a:bodyPr wrap="square" lIns="76200" tIns="76200" rIns="76200" bIns="76200" rtlCol="0" anchor="ctr"/>
          <a:lstStyle/>
          <a:p>
            <a:pPr marL="0" indent="0">
              <a:buNone/>
            </a:pPr>
            <a:r>
              <a:rPr lang="en-US" sz="1500" b="1" dirty="0">
                <a:solidFill>
                  <a:srgbClr val="2E7D7A"/>
                </a:solidFill>
              </a:rPr>
              <a:t>Microwave</a:t>
            </a:r>
            <a:endParaRPr lang="en-US" sz="1500" dirty="0"/>
          </a:p>
          <a:p>
            <a:pPr marL="0" indent="0">
              <a:buNone/>
            </a:pPr>
            <a:r>
              <a:rPr lang="en-US" sz="1300" dirty="0">
                <a:solidFill>
                  <a:srgbClr val="2B2118"/>
                </a:solidFill>
              </a:rPr>
              <a:t>Sentinel-1 C-band σ° VV, VH (IW, GRD)</a:t>
            </a:r>
            <a:endParaRPr lang="en-US" sz="1500" dirty="0"/>
          </a:p>
        </p:txBody>
      </p:sp>
      <p:sp>
        <p:nvSpPr>
          <p:cNvPr id="8" name="Text 4"/>
          <p:cNvSpPr txBox="1"/>
          <p:nvPr/>
        </p:nvSpPr>
        <p:spPr>
          <a:xfrm>
            <a:off x="8046720" y="2194560"/>
            <a:ext cx="3566160" cy="804672"/>
          </a:xfrm>
          <a:prstGeom prst="roundRect">
            <a:avLst>
              <a:gd name="adj" fmla="val 9091"/>
            </a:avLst>
          </a:prstGeom>
          <a:solidFill>
            <a:srgbClr val="F3F0EB"/>
          </a:solidFill>
          <a:ln/>
        </p:spPr>
        <p:txBody>
          <a:bodyPr wrap="square" lIns="76200" tIns="76200" rIns="76200" bIns="76200" rtlCol="0" anchor="ctr"/>
          <a:lstStyle/>
          <a:p>
            <a:pPr marL="0" indent="0">
              <a:buNone/>
            </a:pPr>
            <a:r>
              <a:rPr lang="en-US" sz="1500" b="1" dirty="0">
                <a:solidFill>
                  <a:srgbClr val="6B8E4E"/>
                </a:solidFill>
              </a:rPr>
              <a:t>Optical</a:t>
            </a:r>
            <a:endParaRPr lang="en-US" sz="1500" dirty="0"/>
          </a:p>
          <a:p>
            <a:pPr marL="0" indent="0">
              <a:buNone/>
            </a:pPr>
            <a:r>
              <a:rPr lang="en-US" sz="1300" dirty="0">
                <a:solidFill>
                  <a:srgbClr val="2B2118"/>
                </a:solidFill>
              </a:rPr>
              <a:t>Landsat-8 bands B2–B7 + ~20 indices (MNDWI, NDWI, SATVI, NBRI…)</a:t>
            </a:r>
            <a:endParaRPr lang="en-US" sz="1500" dirty="0"/>
          </a:p>
        </p:txBody>
      </p:sp>
      <p:sp>
        <p:nvSpPr>
          <p:cNvPr id="9" name="Text 5"/>
          <p:cNvSpPr txBox="1"/>
          <p:nvPr/>
        </p:nvSpPr>
        <p:spPr>
          <a:xfrm>
            <a:off x="8046720" y="3108960"/>
            <a:ext cx="3566160" cy="804672"/>
          </a:xfrm>
          <a:prstGeom prst="roundRect">
            <a:avLst>
              <a:gd name="adj" fmla="val 9091"/>
            </a:avLst>
          </a:prstGeom>
          <a:solidFill>
            <a:srgbClr val="F3F0EB"/>
          </a:solidFill>
          <a:ln/>
        </p:spPr>
        <p:txBody>
          <a:bodyPr wrap="square" lIns="76200" tIns="76200" rIns="76200" bIns="76200" rtlCol="0" anchor="ctr"/>
          <a:lstStyle/>
          <a:p>
            <a:pPr marL="0" indent="0">
              <a:buNone/>
            </a:pPr>
            <a:r>
              <a:rPr lang="en-US" sz="1500" b="1" dirty="0">
                <a:solidFill>
                  <a:srgbClr val="A44A3F"/>
                </a:solidFill>
              </a:rPr>
              <a:t>Thermal</a:t>
            </a:r>
            <a:endParaRPr lang="en-US" sz="1500" dirty="0"/>
          </a:p>
          <a:p>
            <a:pPr marL="0" indent="0">
              <a:buNone/>
            </a:pPr>
            <a:r>
              <a:rPr lang="en-US" sz="1300" dirty="0">
                <a:solidFill>
                  <a:srgbClr val="2B2118"/>
                </a:solidFill>
              </a:rPr>
              <a:t>Landsat-8 B10 → LST (mono-window)</a:t>
            </a:r>
            <a:endParaRPr lang="en-US" sz="1500" dirty="0"/>
          </a:p>
        </p:txBody>
      </p:sp>
      <p:sp>
        <p:nvSpPr>
          <p:cNvPr id="10" name="Text 6"/>
          <p:cNvSpPr txBox="1"/>
          <p:nvPr/>
        </p:nvSpPr>
        <p:spPr>
          <a:xfrm>
            <a:off x="8046720" y="4114800"/>
            <a:ext cx="3566160" cy="1920240"/>
          </a:xfrm>
          <a:prstGeom prst="rect">
            <a:avLst/>
          </a:prstGeom>
          <a:noFill/>
          <a:ln/>
        </p:spPr>
        <p:txBody>
          <a:bodyPr wrap="square" lIns="25400" tIns="25400" rIns="25400" bIns="25400" rtlCol="0" anchor="t"/>
          <a:lstStyle/>
          <a:p>
            <a:pPr marL="190500" indent="-190500">
              <a:spcAft>
                <a:spcPts val="600"/>
              </a:spcAft>
              <a:buSzPct val="100000"/>
              <a:buChar char="•"/>
            </a:pPr>
            <a:r>
              <a:rPr lang="en-US" sz="1400" b="1" dirty="0">
                <a:solidFill>
                  <a:srgbClr val="2B2118"/>
                </a:solidFill>
              </a:rPr>
              <a:t>Level 0: </a:t>
            </a:r>
            <a:r>
              <a:rPr lang="en-US" sz="1400" dirty="0">
                <a:solidFill>
                  <a:srgbClr val="2B2118"/>
                </a:solidFill>
              </a:rPr>
              <a:t>Cubist, GBM (boosting), RF (bagging)</a:t>
            </a:r>
            <a:endParaRPr lang="en-US" sz="1400" dirty="0"/>
          </a:p>
          <a:p>
            <a:pPr marL="190500" indent="-190500">
              <a:spcAft>
                <a:spcPts val="600"/>
              </a:spcAft>
              <a:buSzPct val="100000"/>
              <a:buChar char="•"/>
            </a:pPr>
            <a:r>
              <a:rPr lang="en-US" sz="1400" b="1" dirty="0">
                <a:solidFill>
                  <a:srgbClr val="2B2118"/>
                </a:solidFill>
              </a:rPr>
              <a:t>Level 1: </a:t>
            </a:r>
            <a:r>
              <a:rPr lang="en-US" sz="1400" dirty="0">
                <a:solidFill>
                  <a:srgbClr val="2B2118"/>
                </a:solidFill>
              </a:rPr>
              <a:t>elastic-net meta-learner (stacking)</a:t>
            </a:r>
            <a:endParaRPr lang="en-US" sz="1400" dirty="0"/>
          </a:p>
          <a:p>
            <a:pPr marL="190500" indent="-190500">
              <a:spcAft>
                <a:spcPts val="600"/>
              </a:spcAft>
              <a:buSzPct val="100000"/>
              <a:buChar char="•"/>
            </a:pPr>
            <a:r>
              <a:rPr lang="en-US" sz="1400" b="1" dirty="0">
                <a:solidFill>
                  <a:srgbClr val="2B2118"/>
                </a:solidFill>
              </a:rPr>
              <a:t>Tuning: </a:t>
            </a:r>
            <a:r>
              <a:rPr lang="en-US" sz="1400" dirty="0">
                <a:solidFill>
                  <a:srgbClr val="2B2118"/>
                </a:solidFill>
              </a:rPr>
              <a:t>10-fold CV × 5 repeats (caret)</a:t>
            </a:r>
            <a:endParaRPr lang="en-US" sz="1400" dirty="0"/>
          </a:p>
        </p:txBody>
      </p:sp>
      <p:sp>
        <p:nvSpPr>
          <p:cNvPr id="11" name="Text 7"/>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Das et al. (2022) Sections 2.2–2.5 and Fig. 2</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28</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Results: stacking gives the lowest validation error</a:t>
            </a:r>
            <a:endParaRPr lang="en-US" sz="3200" dirty="0"/>
          </a:p>
        </p:txBody>
      </p:sp>
      <p:graphicFrame>
        <p:nvGraphicFramePr>
          <p:cNvPr id="4" name="Chart 0"/>
          <p:cNvGraphicFramePr/>
          <p:nvPr/>
        </p:nvGraphicFramePr>
        <p:xfrm>
          <a:off x="457200" y="1234440"/>
          <a:ext cx="457200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4480560"/>
          <a:ext cx="448056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29184">
                <a:tc>
                  <a:txBody>
                    <a:bodyPr/>
                    <a:lstStyle/>
                    <a:p>
                      <a:pPr marL="0" indent="0" algn="l">
                        <a:buNone/>
                      </a:pPr>
                      <a:r>
                        <a:rPr lang="en-US" sz="1300" b="1" dirty="0">
                          <a:solidFill>
                            <a:srgbClr val="FFFFFF"/>
                          </a:solidFill>
                        </a:rPr>
                        <a:t>Validation</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B2118"/>
                    </a:solidFill>
                  </a:tcPr>
                </a:tc>
                <a:tc>
                  <a:txBody>
                    <a:bodyPr/>
                    <a:lstStyle/>
                    <a:p>
                      <a:pPr marL="0" indent="0" algn="ctr">
                        <a:buNone/>
                      </a:pPr>
                      <a:r>
                        <a:rPr lang="en-US" sz="1300" b="1" dirty="0">
                          <a:solidFill>
                            <a:srgbClr val="FFFFFF"/>
                          </a:solidFill>
                        </a:rPr>
                        <a:t>Cubist</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B2118"/>
                    </a:solidFill>
                  </a:tcPr>
                </a:tc>
                <a:tc>
                  <a:txBody>
                    <a:bodyPr/>
                    <a:lstStyle/>
                    <a:p>
                      <a:pPr marL="0" indent="0" algn="ctr">
                        <a:buNone/>
                      </a:pPr>
                      <a:r>
                        <a:rPr lang="en-US" sz="1300" b="1" dirty="0">
                          <a:solidFill>
                            <a:srgbClr val="FFFFFF"/>
                          </a:solidFill>
                        </a:rPr>
                        <a:t>GBM</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B2118"/>
                    </a:solidFill>
                  </a:tcPr>
                </a:tc>
                <a:tc>
                  <a:txBody>
                    <a:bodyPr/>
                    <a:lstStyle/>
                    <a:p>
                      <a:pPr marL="0" indent="0" algn="ctr">
                        <a:buNone/>
                      </a:pPr>
                      <a:r>
                        <a:rPr lang="en-US" sz="1300" b="1" dirty="0">
                          <a:solidFill>
                            <a:srgbClr val="FFFFFF"/>
                          </a:solidFill>
                        </a:rPr>
                        <a:t>RF</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B2118"/>
                    </a:solidFill>
                  </a:tcPr>
                </a:tc>
                <a:tc>
                  <a:txBody>
                    <a:bodyPr/>
                    <a:lstStyle/>
                    <a:p>
                      <a:pPr marL="0" indent="0" algn="ctr">
                        <a:buNone/>
                      </a:pPr>
                      <a:r>
                        <a:rPr lang="en-US" sz="1300" b="1" dirty="0">
                          <a:solidFill>
                            <a:srgbClr val="FFFFFF"/>
                          </a:solidFill>
                        </a:rPr>
                        <a:t>Stack</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B2118"/>
                    </a:solidFill>
                  </a:tcPr>
                </a:tc>
                <a:extLst>
                  <a:ext uri="{0D108BD9-81ED-4DB2-BD59-A6C34878D82A}">
                    <a16:rowId xmlns:a16="http://schemas.microsoft.com/office/drawing/2014/main" val="10000"/>
                  </a:ext>
                </a:extLst>
              </a:tr>
              <a:tr h="329184">
                <a:tc>
                  <a:txBody>
                    <a:bodyPr/>
                    <a:lstStyle/>
                    <a:p>
                      <a:pPr marL="0" indent="0" algn="l">
                        <a:buNone/>
                      </a:pPr>
                      <a:r>
                        <a:rPr lang="en-US" sz="1300" b="1" dirty="0">
                          <a:solidFill>
                            <a:srgbClr val="2B2118"/>
                          </a:solidFill>
                        </a:rPr>
                        <a:t>r</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118"/>
                          </a:solidFill>
                        </a:rPr>
                        <a:t>0.69</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118"/>
                          </a:solidFill>
                        </a:rPr>
                        <a:t>0.68</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118"/>
                          </a:solidFill>
                        </a:rPr>
                        <a:t>0.71</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7A"/>
                          </a:solidFill>
                        </a:rPr>
                        <a:t>0.71</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300" b="1" dirty="0">
                          <a:solidFill>
                            <a:srgbClr val="2B2118"/>
                          </a:solidFill>
                        </a:rPr>
                        <a:t>MBE (%)</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lgn="ctr">
                        <a:buNone/>
                      </a:pPr>
                      <a:r>
                        <a:rPr lang="en-US" sz="1300" dirty="0">
                          <a:solidFill>
                            <a:srgbClr val="2B2118"/>
                          </a:solidFill>
                        </a:rPr>
                        <a:t>0.21</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lgn="ctr">
                        <a:buNone/>
                      </a:pPr>
                      <a:r>
                        <a:rPr lang="en-US" sz="1300" dirty="0">
                          <a:solidFill>
                            <a:srgbClr val="2B2118"/>
                          </a:solidFill>
                        </a:rPr>
                        <a:t>0.49</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lgn="ctr">
                        <a:buNone/>
                      </a:pPr>
                      <a:r>
                        <a:rPr lang="en-US" sz="1300" dirty="0">
                          <a:solidFill>
                            <a:srgbClr val="2B2118"/>
                          </a:solidFill>
                        </a:rPr>
                        <a:t>0.59</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lgn="ctr">
                        <a:buNone/>
                      </a:pPr>
                      <a:r>
                        <a:rPr lang="en-US" sz="1300" b="1" dirty="0">
                          <a:solidFill>
                            <a:srgbClr val="2E7D7A"/>
                          </a:solidFill>
                        </a:rPr>
                        <a:t>0.18</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2"/>
                  </a:ext>
                </a:extLst>
              </a:tr>
              <a:tr h="329184">
                <a:tc>
                  <a:txBody>
                    <a:bodyPr/>
                    <a:lstStyle/>
                    <a:p>
                      <a:pPr marL="0" indent="0" algn="l">
                        <a:buNone/>
                      </a:pPr>
                      <a:r>
                        <a:rPr lang="en-US" sz="1300" b="1" dirty="0">
                          <a:solidFill>
                            <a:srgbClr val="2B2118"/>
                          </a:solidFill>
                        </a:rPr>
                        <a:t>RPD</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118"/>
                          </a:solidFill>
                        </a:rPr>
                        <a:t>1.38</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118"/>
                          </a:solidFill>
                        </a:rPr>
                        <a:t>1.35</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118"/>
                          </a:solidFill>
                        </a:rPr>
                        <a:t>1.41</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7A"/>
                          </a:solidFill>
                        </a:rPr>
                        <a:t>1.43</a:t>
                      </a:r>
                      <a:endParaRPr lang="en-US" sz="1300" dirty="0"/>
                    </a:p>
                  </a:txBody>
                  <a:tcPr marL="27432" marR="27432" marT="27432" marB="27432">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6" name="Image 0" descr="ssm_fig4_scatter"/>
          <p:cNvPicPr>
            <a:picLocks noChangeAspect="1"/>
          </p:cNvPicPr>
          <p:nvPr/>
        </p:nvPicPr>
        <p:blipFill>
          <a:blip r:embed="rId4"/>
          <a:stretch>
            <a:fillRect/>
          </a:stretch>
        </p:blipFill>
        <p:spPr>
          <a:xfrm>
            <a:off x="5349240" y="1507549"/>
            <a:ext cx="6263640" cy="3660022"/>
          </a:xfrm>
          <a:prstGeom prst="rect">
            <a:avLst/>
          </a:prstGeom>
        </p:spPr>
      </p:pic>
      <p:sp>
        <p:nvSpPr>
          <p:cNvPr id="7" name="Shape 1"/>
          <p:cNvSpPr/>
          <p:nvPr/>
        </p:nvSpPr>
        <p:spPr>
          <a:xfrm>
            <a:off x="5349240" y="1507549"/>
            <a:ext cx="6263640" cy="3660022"/>
          </a:xfrm>
          <a:prstGeom prst="rect">
            <a:avLst/>
          </a:prstGeom>
          <a:ln w="9525">
            <a:solidFill>
              <a:srgbClr val="D9D2C8"/>
            </a:solidFill>
            <a:prstDash val="solid"/>
          </a:ln>
        </p:spPr>
      </p:sp>
      <p:sp>
        <p:nvSpPr>
          <p:cNvPr id="8" name="Text 2"/>
          <p:cNvSpPr txBox="1"/>
          <p:nvPr/>
        </p:nvSpPr>
        <p:spPr>
          <a:xfrm>
            <a:off x="5349240" y="5486400"/>
            <a:ext cx="6263640" cy="274320"/>
          </a:xfrm>
          <a:prstGeom prst="rect">
            <a:avLst/>
          </a:prstGeom>
          <a:noFill/>
          <a:ln/>
        </p:spPr>
        <p:txBody>
          <a:bodyPr wrap="square" lIns="0" tIns="0" rIns="0" bIns="0" rtlCol="0" anchor="ctr"/>
          <a:lstStyle/>
          <a:p>
            <a:pPr marL="0" indent="0" algn="ctr">
              <a:buNone/>
            </a:pPr>
            <a:r>
              <a:rPr lang="en-US" sz="1100" i="1" dirty="0">
                <a:solidFill>
                  <a:srgbClr val="8A8178"/>
                </a:solidFill>
              </a:rPr>
              <a:t>Predicted vs measured SSM, calibration (top) and validation (bottom)</a:t>
            </a:r>
            <a:endParaRPr lang="en-US" sz="1100" dirty="0"/>
          </a:p>
        </p:txBody>
      </p:sp>
      <p:sp>
        <p:nvSpPr>
          <p:cNvPr id="9" name="Text 3"/>
          <p:cNvSpPr txBox="1"/>
          <p:nvPr/>
        </p:nvSpPr>
        <p:spPr>
          <a:xfrm>
            <a:off x="5349240" y="5760720"/>
            <a:ext cx="6263640" cy="365760"/>
          </a:xfrm>
          <a:prstGeom prst="roundRect">
            <a:avLst>
              <a:gd name="adj" fmla="val 20000"/>
            </a:avLst>
          </a:prstGeom>
          <a:solidFill>
            <a:srgbClr val="FFFFFF"/>
          </a:solidFill>
          <a:ln/>
        </p:spPr>
        <p:txBody>
          <a:bodyPr wrap="square" lIns="50800" tIns="50800" rIns="50800" bIns="50800" rtlCol="0" anchor="ctr"/>
          <a:lstStyle/>
          <a:p>
            <a:pPr marL="0" indent="0" algn="ctr">
              <a:buNone/>
            </a:pPr>
            <a:r>
              <a:rPr lang="en-US" sz="1300" dirty="0">
                <a:solidFill>
                  <a:srgbClr val="4A3B2E"/>
                </a:solidFill>
              </a:rPr>
              <a:t>Top covariates: MNDWI (GBM, RF), Sigma0_VV, LST</a:t>
            </a:r>
            <a:endParaRPr lang="en-US" sz="1300" dirty="0"/>
          </a:p>
        </p:txBody>
      </p:sp>
      <p:sp>
        <p:nvSpPr>
          <p:cNvPr id="10" name="Text 4"/>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Das et al. (2022) Fig. 4, Table 1 and Section 3.3</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29</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Spatio-temporal soil moisture through the rabi season</a:t>
            </a:r>
            <a:endParaRPr lang="en-US" sz="3200" dirty="0"/>
          </a:p>
        </p:txBody>
      </p:sp>
      <p:pic>
        <p:nvPicPr>
          <p:cNvPr id="4" name="Image 0" descr="ssm_fig5_maps"/>
          <p:cNvPicPr>
            <a:picLocks noChangeAspect="1"/>
          </p:cNvPicPr>
          <p:nvPr/>
        </p:nvPicPr>
        <p:blipFill>
          <a:blip r:embed="rId3"/>
          <a:stretch>
            <a:fillRect/>
          </a:stretch>
        </p:blipFill>
        <p:spPr>
          <a:xfrm>
            <a:off x="513013" y="1234440"/>
            <a:ext cx="6837813" cy="4846320"/>
          </a:xfrm>
          <a:prstGeom prst="rect">
            <a:avLst/>
          </a:prstGeom>
        </p:spPr>
      </p:pic>
      <p:sp>
        <p:nvSpPr>
          <p:cNvPr id="5" name="Shape 1"/>
          <p:cNvSpPr/>
          <p:nvPr/>
        </p:nvSpPr>
        <p:spPr>
          <a:xfrm>
            <a:off x="513013" y="1234440"/>
            <a:ext cx="6837813" cy="4846320"/>
          </a:xfrm>
          <a:prstGeom prst="rect">
            <a:avLst/>
          </a:prstGeom>
          <a:ln w="9525">
            <a:solidFill>
              <a:srgbClr val="D9D2C8"/>
            </a:solidFill>
            <a:prstDash val="solid"/>
          </a:ln>
        </p:spPr>
      </p:sp>
      <p:pic>
        <p:nvPicPr>
          <p:cNvPr id="6" name="Image 1" descr="ssm_fig6_area"/>
          <p:cNvPicPr>
            <a:picLocks noChangeAspect="1"/>
          </p:cNvPicPr>
          <p:nvPr/>
        </p:nvPicPr>
        <p:blipFill>
          <a:blip r:embed="rId4"/>
          <a:stretch>
            <a:fillRect/>
          </a:stretch>
        </p:blipFill>
        <p:spPr>
          <a:xfrm>
            <a:off x="7680960" y="1251489"/>
            <a:ext cx="3931920" cy="2663382"/>
          </a:xfrm>
          <a:prstGeom prst="rect">
            <a:avLst/>
          </a:prstGeom>
        </p:spPr>
      </p:pic>
      <p:sp>
        <p:nvSpPr>
          <p:cNvPr id="7" name="Shape 2"/>
          <p:cNvSpPr/>
          <p:nvPr/>
        </p:nvSpPr>
        <p:spPr>
          <a:xfrm>
            <a:off x="7680960" y="1251489"/>
            <a:ext cx="3931920" cy="2663382"/>
          </a:xfrm>
          <a:prstGeom prst="rect">
            <a:avLst/>
          </a:prstGeom>
          <a:ln w="9525">
            <a:solidFill>
              <a:srgbClr val="D9D2C8"/>
            </a:solidFill>
            <a:prstDash val="solid"/>
          </a:ln>
        </p:spPr>
      </p:sp>
      <p:sp>
        <p:nvSpPr>
          <p:cNvPr id="8" name="Text 3"/>
          <p:cNvSpPr txBox="1"/>
          <p:nvPr/>
        </p:nvSpPr>
        <p:spPr>
          <a:xfrm>
            <a:off x="7680960" y="3950208"/>
            <a:ext cx="3931920" cy="274320"/>
          </a:xfrm>
          <a:prstGeom prst="rect">
            <a:avLst/>
          </a:prstGeom>
          <a:noFill/>
          <a:ln/>
        </p:spPr>
        <p:txBody>
          <a:bodyPr wrap="square" lIns="0" tIns="0" rIns="0" bIns="0" rtlCol="0" anchor="ctr"/>
          <a:lstStyle/>
          <a:p>
            <a:pPr marL="0" indent="0" algn="ctr">
              <a:buNone/>
            </a:pPr>
            <a:r>
              <a:rPr lang="en-US" sz="1100" i="1" dirty="0">
                <a:solidFill>
                  <a:srgbClr val="8A8178"/>
                </a:solidFill>
              </a:rPr>
              <a:t>Area (%) under each moisture class, stacked model</a:t>
            </a:r>
            <a:endParaRPr lang="en-US" sz="1100" dirty="0"/>
          </a:p>
        </p:txBody>
      </p:sp>
      <p:sp>
        <p:nvSpPr>
          <p:cNvPr id="9" name="Text 4"/>
          <p:cNvSpPr txBox="1"/>
          <p:nvPr/>
        </p:nvSpPr>
        <p:spPr>
          <a:xfrm>
            <a:off x="7680960" y="4297680"/>
            <a:ext cx="3931920" cy="1828800"/>
          </a:xfrm>
          <a:prstGeom prst="rect">
            <a:avLst/>
          </a:prstGeom>
          <a:noFill/>
          <a:ln/>
        </p:spPr>
        <p:txBody>
          <a:bodyPr wrap="square" lIns="25400" tIns="25400" rIns="25400" bIns="25400" rtlCol="0" anchor="t"/>
          <a:lstStyle/>
          <a:p>
            <a:pPr marL="190500" indent="-190500">
              <a:spcAft>
                <a:spcPts val="600"/>
              </a:spcAft>
              <a:buSzPct val="100000"/>
              <a:buChar char="•"/>
            </a:pPr>
            <a:r>
              <a:rPr lang="en-US" sz="1400" b="1" dirty="0">
                <a:solidFill>
                  <a:srgbClr val="2B2118"/>
                </a:solidFill>
              </a:rPr>
              <a:t>Oct 30: </a:t>
            </a:r>
            <a:r>
              <a:rPr lang="en-US" sz="1400" dirty="0">
                <a:solidFill>
                  <a:srgbClr val="2B2118"/>
                </a:solidFill>
              </a:rPr>
              <a:t>20–25% area dry around sowing</a:t>
            </a:r>
            <a:endParaRPr lang="en-US" sz="1400" dirty="0"/>
          </a:p>
          <a:p>
            <a:pPr marL="190500" indent="-190500">
              <a:spcAft>
                <a:spcPts val="600"/>
              </a:spcAft>
              <a:buSzPct val="100000"/>
              <a:buChar char="•"/>
            </a:pPr>
            <a:r>
              <a:rPr lang="en-US" sz="1400" b="1" dirty="0">
                <a:solidFill>
                  <a:srgbClr val="2B2118"/>
                </a:solidFill>
              </a:rPr>
              <a:t>Feb 19: </a:t>
            </a:r>
            <a:r>
              <a:rPr lang="en-US" sz="1400" dirty="0">
                <a:solidFill>
                  <a:srgbClr val="2B2118"/>
                </a:solidFill>
              </a:rPr>
              <a:t>wet + very wet dominate (irrigation at grain filling)</a:t>
            </a:r>
            <a:endParaRPr lang="en-US" sz="1400" dirty="0"/>
          </a:p>
          <a:p>
            <a:pPr marL="190500" indent="-190500">
              <a:spcAft>
                <a:spcPts val="600"/>
              </a:spcAft>
              <a:buSzPct val="100000"/>
              <a:buChar char="•"/>
            </a:pPr>
            <a:r>
              <a:rPr lang="en-US" sz="1400" b="1" dirty="0">
                <a:solidFill>
                  <a:srgbClr val="2B2118"/>
                </a:solidFill>
              </a:rPr>
              <a:t>Mar 24: </a:t>
            </a:r>
            <a:r>
              <a:rPr lang="en-US" sz="1400" dirty="0">
                <a:solidFill>
                  <a:srgbClr val="2B2118"/>
                </a:solidFill>
              </a:rPr>
              <a:t>drying at crop maturity</a:t>
            </a:r>
            <a:endParaRPr lang="en-US" sz="1400" dirty="0"/>
          </a:p>
          <a:p>
            <a:pPr marL="190500" indent="-190500">
              <a:spcAft>
                <a:spcPts val="600"/>
              </a:spcAft>
              <a:buSzPct val="100000"/>
              <a:buChar char="•"/>
            </a:pPr>
            <a:r>
              <a:rPr lang="en-US" sz="1400" b="1" dirty="0">
                <a:solidFill>
                  <a:srgbClr val="2B2118"/>
                </a:solidFill>
              </a:rPr>
              <a:t>Pattern: </a:t>
            </a:r>
            <a:r>
              <a:rPr lang="en-US" sz="1400" dirty="0">
                <a:solidFill>
                  <a:srgbClr val="2B2118"/>
                </a:solidFill>
              </a:rPr>
              <a:t>wet = wheat fields; dry = pulses, bare plots</a:t>
            </a:r>
            <a:endParaRPr lang="en-US" sz="1400" dirty="0"/>
          </a:p>
        </p:txBody>
      </p:sp>
      <p:sp>
        <p:nvSpPr>
          <p:cNvPr id="10" name="Text 5"/>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Das et al. (2022) Figs. 5 and 6, Section 3.4</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30</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468880"/>
            <a:ext cx="10698480" cy="1188720"/>
          </a:xfrm>
          <a:prstGeom prst="rect">
            <a:avLst/>
          </a:prstGeom>
          <a:noFill/>
          <a:ln/>
        </p:spPr>
        <p:txBody>
          <a:bodyPr wrap="square" rtlCol="0" anchor="b"/>
          <a:lstStyle/>
          <a:p>
            <a:pPr marL="0" indent="0" algn="l">
              <a:buNone/>
            </a:pPr>
            <a:r>
              <a:rPr lang="en-US" sz="4000" b="1" dirty="0">
                <a:solidFill>
                  <a:schemeClr val="bg1"/>
                </a:solidFill>
              </a:rPr>
              <a:t>Synthesis</a:t>
            </a: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rtlCol="0" anchor="t"/>
          <a:lstStyle/>
          <a:p>
            <a:pPr marL="0" indent="0">
              <a:buNone/>
            </a:pPr>
            <a:r>
              <a:rPr lang="en-US" sz="1800" dirty="0">
                <a:solidFill>
                  <a:srgbClr val="E8DCCB"/>
                </a:solidFill>
              </a:rPr>
              <a:t>Choosing an approach for soil properties and soil moisture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A99A"/>
                </a:solidFill>
              </a:defRPr>
            </a:lvl1pPr>
          </a:lstStyle>
          <a:p>
            <a:pPr algn="r"/>
            <a:fld id="{F7021451-1387-4CA6-816F-3879F97B5CBC}" type="slidenum">
              <a:rPr lang="en-US" b="0"/>
              <a:t>31</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Approaches for mapping soil parameters at a glance</a:t>
            </a:r>
            <a:endParaRPr lang="en-US" sz="3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512064">
                <a:tc>
                  <a:txBody>
                    <a:bodyPr/>
                    <a:lstStyle/>
                    <a:p>
                      <a:pPr marL="0" indent="0">
                        <a:buNone/>
                      </a:pPr>
                      <a:r>
                        <a:rPr lang="en-US" sz="1400" b="1" dirty="0">
                          <a:solidFill>
                            <a:srgbClr val="FFFFFF"/>
                          </a:solidFill>
                        </a:rPr>
                        <a:t>Approach</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E7D7A"/>
                    </a:solidFill>
                  </a:tcPr>
                </a:tc>
                <a:tc>
                  <a:txBody>
                    <a:bodyPr/>
                    <a:lstStyle/>
                    <a:p>
                      <a:pPr marL="0" indent="0">
                        <a:buNone/>
                      </a:pPr>
                      <a:r>
                        <a:rPr lang="en-US" sz="1400" b="1" dirty="0">
                          <a:solidFill>
                            <a:srgbClr val="FFFFFF"/>
                          </a:solidFill>
                        </a:rPr>
                        <a:t>Examples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E7D7A"/>
                    </a:solidFill>
                  </a:tcPr>
                </a:tc>
                <a:tc>
                  <a:txBody>
                    <a:bodyPr/>
                    <a:lstStyle/>
                    <a:p>
                      <a:pPr marL="0" indent="0">
                        <a:buNone/>
                      </a:pPr>
                      <a:r>
                        <a:rPr lang="en-US" sz="1400" b="1" dirty="0">
                          <a:solidFill>
                            <a:srgbClr val="FFFFFF"/>
                          </a:solidFill>
                        </a:rPr>
                        <a:t>Strength</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E7D7A"/>
                    </a:solidFill>
                  </a:tcPr>
                </a:tc>
                <a:tc>
                  <a:txBody>
                    <a:bodyPr/>
                    <a:lstStyle/>
                    <a:p>
                      <a:pPr marL="0" indent="0">
                        <a:buNone/>
                      </a:pPr>
                      <a:r>
                        <a:rPr lang="en-US" sz="1400" b="1" dirty="0">
                          <a:solidFill>
                            <a:srgbClr val="FFFFFF"/>
                          </a:solidFill>
                        </a:rPr>
                        <a:t>Limitation</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E7D7A"/>
                    </a:solidFill>
                  </a:tcPr>
                </a:tc>
                <a:extLst>
                  <a:ext uri="{0D108BD9-81ED-4DB2-BD59-A6C34878D82A}">
                    <a16:rowId xmlns:a16="http://schemas.microsoft.com/office/drawing/2014/main" val="10000"/>
                  </a:ext>
                </a:extLst>
              </a:tr>
              <a:tr h="512064">
                <a:tc>
                  <a:txBody>
                    <a:bodyPr/>
                    <a:lstStyle/>
                    <a:p>
                      <a:pPr marL="0" indent="0">
                        <a:buNone/>
                      </a:pPr>
                      <a:r>
                        <a:rPr lang="en-US" sz="1300" b="1" dirty="0">
                          <a:solidFill>
                            <a:srgbClr val="2B2118"/>
                          </a:solidFill>
                        </a:rPr>
                        <a:t>Conventional survey</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Soil series polygons</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Pedological insight</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Coarse, static, no uncertainty</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300" b="1" dirty="0">
                          <a:solidFill>
                            <a:srgbClr val="2B2118"/>
                          </a:solidFill>
                        </a:rPr>
                        <a:t>Deterministic interpolation</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IDW, splines, Thiessen</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Simple, fast</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No error map, artefacts</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2"/>
                  </a:ext>
                </a:extLst>
              </a:tr>
              <a:tr h="512064">
                <a:tc>
                  <a:txBody>
                    <a:bodyPr/>
                    <a:lstStyle/>
                    <a:p>
                      <a:pPr marL="0" indent="0">
                        <a:buNone/>
                      </a:pPr>
                      <a:r>
                        <a:rPr lang="en-US" sz="1300" b="1" dirty="0">
                          <a:solidFill>
                            <a:srgbClr val="2B2118"/>
                          </a:solidFill>
                        </a:rPr>
                        <a:t>Geostatistics</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OK, co-kriging, block kriging</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BLUP + kriging variance</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Needs dense points, stationarity</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300" b="1" dirty="0">
                          <a:solidFill>
                            <a:srgbClr val="2B2118"/>
                          </a:solidFill>
                        </a:rPr>
                        <a:t>Hybrid</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RK / KED, RF + residual kriging</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Covariates + spatial residual</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More modelling steps</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4"/>
                  </a:ext>
                </a:extLst>
              </a:tr>
              <a:tr h="512064">
                <a:tc>
                  <a:txBody>
                    <a:bodyPr/>
                    <a:lstStyle/>
                    <a:p>
                      <a:pPr marL="0" indent="0">
                        <a:buNone/>
                      </a:pPr>
                      <a:r>
                        <a:rPr lang="en-US" sz="1300" b="1" dirty="0">
                          <a:solidFill>
                            <a:srgbClr val="2B2118"/>
                          </a:solidFill>
                        </a:rPr>
                        <a:t>Machine learning</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RF, Cubist, SVR, XGB, ANN</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Non-linear, many covariates</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Overfitting, extrapolation risk</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1300" b="1" dirty="0">
                          <a:solidFill>
                            <a:srgbClr val="2B2118"/>
                          </a:solidFill>
                        </a:rPr>
                        <a:t>Ensembles / deep learning</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Stacking, CNN, LSTM</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Lower bias / variance</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Data hungry, less interpretable</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6"/>
                  </a:ext>
                </a:extLst>
              </a:tr>
              <a:tr h="512064">
                <a:tc>
                  <a:txBody>
                    <a:bodyPr/>
                    <a:lstStyle/>
                    <a:p>
                      <a:pPr marL="0" indent="0">
                        <a:buNone/>
                      </a:pPr>
                      <a:r>
                        <a:rPr lang="en-US" sz="1300" b="1" dirty="0">
                          <a:solidFill>
                            <a:srgbClr val="2B2118"/>
                          </a:solidFill>
                        </a:rPr>
                        <a:t>Physical SM retrieval</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Water-cloud model, change detection</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Physically based, transferable</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300" dirty="0">
                          <a:solidFill>
                            <a:srgbClr val="2B2118"/>
                          </a:solidFill>
                        </a:rPr>
                        <a:t>Needs roughness, vegetation data</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12064">
                <a:tc>
                  <a:txBody>
                    <a:bodyPr/>
                    <a:lstStyle/>
                    <a:p>
                      <a:pPr marL="0" indent="0">
                        <a:buNone/>
                      </a:pPr>
                      <a:r>
                        <a:rPr lang="en-US" sz="1300" b="1" dirty="0">
                          <a:solidFill>
                            <a:srgbClr val="2B2118"/>
                          </a:solidFill>
                        </a:rPr>
                        <a:t>Downscaling &amp; proximal</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SMAP/SMOS downscaling; vis-NIR, EMI, GPR</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Dense or frequent data</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300" dirty="0">
                          <a:solidFill>
                            <a:srgbClr val="2B2118"/>
                          </a:solidFill>
                        </a:rPr>
                        <a:t>Calibration, scale mismatch</a:t>
                      </a:r>
                      <a:endParaRPr lang="en-US" sz="13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8"/>
                  </a:ext>
                </a:extLst>
              </a:tr>
            </a:tbl>
          </a:graphicData>
        </a:graphic>
      </p:graphicFrame>
      <p:sp>
        <p:nvSpPr>
          <p:cNvPr id="5" name="Text 1"/>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Compiled from the four papers presented; physical SM methods as discussed in Das et al. (2022)</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32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The two case studies side by side</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12064">
                <a:tc>
                  <a:txBody>
                    <a:bodyPr/>
                    <a:lstStyle/>
                    <a:p>
                      <a:pPr marL="0" indent="0">
                        <a:buNone/>
                      </a:pPr>
                      <a:endParaRPr lang="en-US" sz="15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B2118"/>
                    </a:solidFill>
                  </a:tcPr>
                </a:tc>
                <a:tc>
                  <a:txBody>
                    <a:bodyPr/>
                    <a:lstStyle/>
                    <a:p>
                      <a:pPr marL="0" indent="0">
                        <a:buNone/>
                      </a:pPr>
                      <a:r>
                        <a:rPr lang="en-US" sz="1500" b="1" dirty="0">
                          <a:solidFill>
                            <a:srgbClr val="FFFFFF"/>
                          </a:solidFill>
                        </a:rPr>
                        <a:t>SOC — Himalaya (2025)</a:t>
                      </a:r>
                      <a:endParaRPr lang="en-US" sz="15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8C5A2B"/>
                    </a:solidFill>
                  </a:tcPr>
                </a:tc>
                <a:tc>
                  <a:txBody>
                    <a:bodyPr/>
                    <a:lstStyle/>
                    <a:p>
                      <a:pPr marL="0" indent="0">
                        <a:buNone/>
                      </a:pPr>
                      <a:r>
                        <a:rPr lang="en-US" sz="1500" b="1" dirty="0">
                          <a:solidFill>
                            <a:srgbClr val="FFFFFF"/>
                          </a:solidFill>
                        </a:rPr>
                        <a:t>Surface soil moisture — IARI farm (2022)</a:t>
                      </a:r>
                      <a:endParaRPr lang="en-US" sz="15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2E7D7A"/>
                    </a:solidFill>
                  </a:tcPr>
                </a:tc>
                <a:extLst>
                  <a:ext uri="{0D108BD9-81ED-4DB2-BD59-A6C34878D82A}">
                    <a16:rowId xmlns:a16="http://schemas.microsoft.com/office/drawing/2014/main" val="10000"/>
                  </a:ext>
                </a:extLst>
              </a:tr>
              <a:tr h="512064">
                <a:tc>
                  <a:txBody>
                    <a:bodyPr/>
                    <a:lstStyle/>
                    <a:p>
                      <a:pPr marL="0" indent="0">
                        <a:buNone/>
                      </a:pPr>
                      <a:r>
                        <a:rPr lang="en-US" sz="1400" b="1" dirty="0">
                          <a:solidFill>
                            <a:srgbClr val="2B2118"/>
                          </a:solidFill>
                        </a:rPr>
                        <a:t>Target, depth</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SOC (%), 0–15 cm</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Volumetric SSM (%), 0–5 cm</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400" b="1" dirty="0">
                          <a:solidFill>
                            <a:srgbClr val="2B2118"/>
                          </a:solidFill>
                        </a:rPr>
                        <a:t>Extent, terrain</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~4,400 km² mountainous district</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242 ha flat irrigated farm</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2"/>
                  </a:ext>
                </a:extLst>
              </a:tr>
              <a:tr h="512064">
                <a:tc>
                  <a:txBody>
                    <a:bodyPr/>
                    <a:lstStyle/>
                    <a:p>
                      <a:pPr marL="0" indent="0">
                        <a:buNone/>
                      </a:pPr>
                      <a:r>
                        <a:rPr lang="en-US" sz="1400" b="1" dirty="0">
                          <a:solidFill>
                            <a:srgbClr val="2B2118"/>
                          </a:solidFill>
                        </a:rPr>
                        <a:t>Samples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421, stratified random</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622 over 6 dates, cLHS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400" b="1" dirty="0">
                          <a:solidFill>
                            <a:srgbClr val="2B2118"/>
                          </a:solidFill>
                        </a:rPr>
                        <a:t>Covariates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55 → 32 (terrain, climate, spectral, LULC, lithology)</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30 (σ° VV/VH, Landsat bands &amp; indices, LST)</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4"/>
                  </a:ext>
                </a:extLst>
              </a:tr>
              <a:tr h="512064">
                <a:tc>
                  <a:txBody>
                    <a:bodyPr/>
                    <a:lstStyle/>
                    <a:p>
                      <a:pPr marL="0" indent="0">
                        <a:buNone/>
                      </a:pPr>
                      <a:r>
                        <a:rPr lang="en-US" sz="1400" b="1" dirty="0">
                          <a:solidFill>
                            <a:srgbClr val="2B2118"/>
                          </a:solidFill>
                        </a:rPr>
                        <a:t>Models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RF, SVR, XGB</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Cubist, GBM, RF, stacking (ELNET)</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1400" b="1" dirty="0">
                          <a:solidFill>
                            <a:srgbClr val="2B2118"/>
                          </a:solidFill>
                        </a:rPr>
                        <a:t>Best model (test)</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RF: R² 0.72, RMSE 0.59%, RPD 1.80</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Stack: r 0.71, RMSE 5.03%, RPD 1.43</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6"/>
                  </a:ext>
                </a:extLst>
              </a:tr>
              <a:tr h="512064">
                <a:tc>
                  <a:txBody>
                    <a:bodyPr/>
                    <a:lstStyle/>
                    <a:p>
                      <a:pPr marL="0" indent="0">
                        <a:buNone/>
                      </a:pPr>
                      <a:r>
                        <a:rPr lang="en-US" sz="1400" b="1" dirty="0">
                          <a:solidFill>
                            <a:srgbClr val="2B2118"/>
                          </a:solidFill>
                        </a:rPr>
                        <a:t>Key drivers</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NIR, Bio10, Bio17, slope, Bio19</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tc>
                  <a:txBody>
                    <a:bodyPr/>
                    <a:lstStyle/>
                    <a:p>
                      <a:pPr marL="0" indent="0">
                        <a:buNone/>
                      </a:pPr>
                      <a:r>
                        <a:rPr lang="en-US" sz="1400" dirty="0">
                          <a:solidFill>
                            <a:srgbClr val="2B2118"/>
                          </a:solidFill>
                        </a:rPr>
                        <a:t>Sigma0_VV, MNDWI, LST</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12064">
                <a:tc>
                  <a:txBody>
                    <a:bodyPr/>
                    <a:lstStyle/>
                    <a:p>
                      <a:pPr marL="0" indent="0">
                        <a:buNone/>
                      </a:pPr>
                      <a:r>
                        <a:rPr lang="en-US" sz="1400" b="1" dirty="0">
                          <a:solidFill>
                            <a:srgbClr val="2B2118"/>
                          </a:solidFill>
                        </a:rPr>
                        <a:t>Uncertainty</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Bootstrap 90% PI maps + PICP</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tc>
                  <a:txBody>
                    <a:bodyPr/>
                    <a:lstStyle/>
                    <a:p>
                      <a:pPr marL="0" indent="0">
                        <a:buNone/>
                      </a:pPr>
                      <a:r>
                        <a:rPr lang="en-US" sz="1400" dirty="0">
                          <a:solidFill>
                            <a:srgbClr val="2B2118"/>
                          </a:solidFill>
                        </a:rPr>
                        <a:t>Train vs validation gap (RF overfit)</a:t>
                      </a:r>
                      <a:endParaRPr lang="en-US" sz="1400" dirty="0"/>
                    </a:p>
                  </a:txBody>
                  <a:tcPr marL="54864" marR="54864" marT="54864" marB="54864" anchor="ctr">
                    <a:lnL w="6350" cap="flat" cmpd="sng" algn="ctr">
                      <a:solidFill>
                        <a:srgbClr val="E2DBD1"/>
                      </a:solidFill>
                      <a:prstDash val="solid"/>
                      <a:round/>
                      <a:headEnd type="none" w="med" len="med"/>
                      <a:tailEnd type="none" w="med" len="med"/>
                    </a:lnL>
                    <a:lnR w="6350" cap="flat" cmpd="sng" algn="ctr">
                      <a:solidFill>
                        <a:srgbClr val="E2DBD1"/>
                      </a:solidFill>
                      <a:prstDash val="solid"/>
                      <a:round/>
                      <a:headEnd type="none" w="med" len="med"/>
                      <a:tailEnd type="none" w="med" len="med"/>
                    </a:lnR>
                    <a:lnT w="6350" cap="flat" cmpd="sng" algn="ctr">
                      <a:solidFill>
                        <a:srgbClr val="E2DBD1"/>
                      </a:solidFill>
                      <a:prstDash val="solid"/>
                      <a:round/>
                      <a:headEnd type="none" w="med" len="med"/>
                      <a:tailEnd type="none" w="med" len="med"/>
                    </a:lnT>
                    <a:lnB w="6350" cap="flat" cmpd="sng" algn="ctr">
                      <a:solidFill>
                        <a:srgbClr val="E2DBD1"/>
                      </a:solidFill>
                      <a:prstDash val="solid"/>
                      <a:round/>
                      <a:headEnd type="none" w="med" len="med"/>
                      <a:tailEnd type="none" w="med" len="med"/>
                    </a:lnB>
                    <a:solidFill>
                      <a:srgbClr val="F3F0EB"/>
                    </a:solidFill>
                  </a:tcPr>
                </a:tc>
                <a:extLst>
                  <a:ext uri="{0D108BD9-81ED-4DB2-BD59-A6C34878D82A}">
                    <a16:rowId xmlns:a16="http://schemas.microsoft.com/office/drawing/2014/main" val="10008"/>
                  </a:ext>
                </a:extLst>
              </a:tr>
            </a:tbl>
          </a:graphicData>
        </a:graphic>
      </p:graphicFrame>
      <p:sp>
        <p:nvSpPr>
          <p:cNvPr id="5" name="Text 1"/>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Kalambukattu et al. (2025); Das et al. (2022)</a:t>
            </a:r>
            <a:endParaRPr lang="en-US" sz="10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33</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Research gaps and way forward</a:t>
            </a:r>
            <a:endParaRPr lang="en-US" sz="3200" dirty="0"/>
          </a:p>
        </p:txBody>
      </p:sp>
      <p:sp>
        <p:nvSpPr>
          <p:cNvPr id="4" name="Shape 1"/>
          <p:cNvSpPr/>
          <p:nvPr/>
        </p:nvSpPr>
        <p:spPr>
          <a:xfrm>
            <a:off x="548640" y="1325880"/>
            <a:ext cx="3566160" cy="2194560"/>
          </a:xfrm>
          <a:prstGeom prst="roundRect">
            <a:avLst>
              <a:gd name="adj" fmla="val 3333"/>
            </a:avLst>
          </a:prstGeom>
          <a:solidFill>
            <a:srgbClr val="F3F0EB"/>
          </a:solidFill>
          <a:ln/>
        </p:spPr>
      </p:sp>
      <p:sp>
        <p:nvSpPr>
          <p:cNvPr id="5" name="Shape 2"/>
          <p:cNvSpPr/>
          <p:nvPr/>
        </p:nvSpPr>
        <p:spPr>
          <a:xfrm>
            <a:off x="777240" y="1554480"/>
            <a:ext cx="411480" cy="411480"/>
          </a:xfrm>
          <a:prstGeom prst="ellipse">
            <a:avLst/>
          </a:prstGeom>
          <a:solidFill>
            <a:srgbClr val="2E7D7A"/>
          </a:solidFill>
          <a:ln/>
        </p:spPr>
      </p:sp>
      <p:sp>
        <p:nvSpPr>
          <p:cNvPr id="6" name="Text 3"/>
          <p:cNvSpPr txBox="1"/>
          <p:nvPr/>
        </p:nvSpPr>
        <p:spPr>
          <a:xfrm>
            <a:off x="1325880" y="1508760"/>
            <a:ext cx="2651760" cy="502920"/>
          </a:xfrm>
          <a:prstGeom prst="rect">
            <a:avLst/>
          </a:prstGeom>
          <a:noFill/>
          <a:ln/>
        </p:spPr>
        <p:txBody>
          <a:bodyPr wrap="square" lIns="0" tIns="0" rIns="0" bIns="0" rtlCol="0" anchor="ctr"/>
          <a:lstStyle/>
          <a:p>
            <a:pPr marL="0" indent="0">
              <a:buNone/>
            </a:pPr>
            <a:r>
              <a:rPr lang="en-US" sz="1700" b="1" dirty="0">
                <a:solidFill>
                  <a:srgbClr val="2B2118"/>
                </a:solidFill>
              </a:rPr>
              <a:t>Temporal density</a:t>
            </a:r>
            <a:endParaRPr lang="en-US" sz="1700" dirty="0"/>
          </a:p>
        </p:txBody>
      </p:sp>
      <p:sp>
        <p:nvSpPr>
          <p:cNvPr id="7" name="Text 4"/>
          <p:cNvSpPr txBox="1"/>
          <p:nvPr/>
        </p:nvSpPr>
        <p:spPr>
          <a:xfrm>
            <a:off x="777240" y="2103120"/>
            <a:ext cx="3154680" cy="1325880"/>
          </a:xfrm>
          <a:prstGeom prst="rect">
            <a:avLst/>
          </a:prstGeom>
          <a:noFill/>
          <a:ln/>
        </p:spPr>
        <p:txBody>
          <a:bodyPr wrap="square" lIns="0" tIns="0" rIns="0" bIns="0" rtlCol="0" anchor="t"/>
          <a:lstStyle/>
          <a:p>
            <a:pPr marL="0" indent="0">
              <a:buNone/>
            </a:pPr>
            <a:r>
              <a:rPr lang="en-US" sz="1400" dirty="0">
                <a:solidFill>
                  <a:srgbClr val="4A3B2E"/>
                </a:solidFill>
              </a:rPr>
              <a:t>Few co-incident S-1 / cloud-free Landsat dates; add Sentinel-2, harmonised Landsat–Sentinel and GEE time series</a:t>
            </a:r>
            <a:endParaRPr lang="en-US" sz="1400" dirty="0"/>
          </a:p>
        </p:txBody>
      </p:sp>
      <p:sp>
        <p:nvSpPr>
          <p:cNvPr id="8" name="Shape 5"/>
          <p:cNvSpPr/>
          <p:nvPr/>
        </p:nvSpPr>
        <p:spPr>
          <a:xfrm>
            <a:off x="4297680" y="1325880"/>
            <a:ext cx="3566160" cy="2194560"/>
          </a:xfrm>
          <a:prstGeom prst="roundRect">
            <a:avLst>
              <a:gd name="adj" fmla="val 3333"/>
            </a:avLst>
          </a:prstGeom>
          <a:solidFill>
            <a:srgbClr val="F3F0EB"/>
          </a:solidFill>
          <a:ln/>
        </p:spPr>
      </p:sp>
      <p:sp>
        <p:nvSpPr>
          <p:cNvPr id="9" name="Shape 6"/>
          <p:cNvSpPr/>
          <p:nvPr/>
        </p:nvSpPr>
        <p:spPr>
          <a:xfrm>
            <a:off x="4526280" y="1554480"/>
            <a:ext cx="411480" cy="411480"/>
          </a:xfrm>
          <a:prstGeom prst="ellipse">
            <a:avLst/>
          </a:prstGeom>
          <a:solidFill>
            <a:srgbClr val="2E7D7A"/>
          </a:solidFill>
          <a:ln/>
        </p:spPr>
      </p:sp>
      <p:sp>
        <p:nvSpPr>
          <p:cNvPr id="10" name="Text 7"/>
          <p:cNvSpPr txBox="1"/>
          <p:nvPr/>
        </p:nvSpPr>
        <p:spPr>
          <a:xfrm>
            <a:off x="5074920" y="1508760"/>
            <a:ext cx="2651760" cy="502920"/>
          </a:xfrm>
          <a:prstGeom prst="rect">
            <a:avLst/>
          </a:prstGeom>
          <a:noFill/>
          <a:ln/>
        </p:spPr>
        <p:txBody>
          <a:bodyPr wrap="square" lIns="0" tIns="0" rIns="0" bIns="0" rtlCol="0" anchor="ctr"/>
          <a:lstStyle/>
          <a:p>
            <a:pPr marL="0" indent="0">
              <a:buNone/>
            </a:pPr>
            <a:r>
              <a:rPr lang="en-US" sz="1700" b="1" dirty="0">
                <a:solidFill>
                  <a:srgbClr val="2B2118"/>
                </a:solidFill>
              </a:rPr>
              <a:t>Longer wavelengths</a:t>
            </a:r>
            <a:endParaRPr lang="en-US" sz="1700" dirty="0"/>
          </a:p>
        </p:txBody>
      </p:sp>
      <p:sp>
        <p:nvSpPr>
          <p:cNvPr id="11" name="Text 8"/>
          <p:cNvSpPr txBox="1"/>
          <p:nvPr/>
        </p:nvSpPr>
        <p:spPr>
          <a:xfrm>
            <a:off x="4526280" y="2103120"/>
            <a:ext cx="3154680" cy="1325880"/>
          </a:xfrm>
          <a:prstGeom prst="rect">
            <a:avLst/>
          </a:prstGeom>
          <a:noFill/>
          <a:ln/>
        </p:spPr>
        <p:txBody>
          <a:bodyPr wrap="square" lIns="0" tIns="0" rIns="0" bIns="0" rtlCol="0" anchor="t"/>
          <a:lstStyle/>
          <a:p>
            <a:pPr marL="0" indent="0">
              <a:buNone/>
            </a:pPr>
            <a:r>
              <a:rPr lang="en-US" sz="1400" dirty="0">
                <a:solidFill>
                  <a:srgbClr val="4A3B2E"/>
                </a:solidFill>
              </a:rPr>
              <a:t>C-band loses soil signal under dense canopy; L- and S-band SAR (NISAR) can see through more vegetation</a:t>
            </a:r>
            <a:endParaRPr lang="en-US" sz="1400" dirty="0"/>
          </a:p>
        </p:txBody>
      </p:sp>
      <p:sp>
        <p:nvSpPr>
          <p:cNvPr id="12" name="Shape 9"/>
          <p:cNvSpPr/>
          <p:nvPr/>
        </p:nvSpPr>
        <p:spPr>
          <a:xfrm>
            <a:off x="8046720" y="1325880"/>
            <a:ext cx="3566160" cy="2194560"/>
          </a:xfrm>
          <a:prstGeom prst="roundRect">
            <a:avLst>
              <a:gd name="adj" fmla="val 3333"/>
            </a:avLst>
          </a:prstGeom>
          <a:solidFill>
            <a:srgbClr val="F3F0EB"/>
          </a:solidFill>
          <a:ln/>
        </p:spPr>
      </p:sp>
      <p:sp>
        <p:nvSpPr>
          <p:cNvPr id="13" name="Shape 10"/>
          <p:cNvSpPr/>
          <p:nvPr/>
        </p:nvSpPr>
        <p:spPr>
          <a:xfrm>
            <a:off x="8275320" y="1554480"/>
            <a:ext cx="411480" cy="411480"/>
          </a:xfrm>
          <a:prstGeom prst="ellipse">
            <a:avLst/>
          </a:prstGeom>
          <a:solidFill>
            <a:srgbClr val="8C5A2B"/>
          </a:solidFill>
          <a:ln/>
        </p:spPr>
      </p:sp>
      <p:sp>
        <p:nvSpPr>
          <p:cNvPr id="14" name="Text 11"/>
          <p:cNvSpPr txBox="1"/>
          <p:nvPr/>
        </p:nvSpPr>
        <p:spPr>
          <a:xfrm>
            <a:off x="8823960" y="1508760"/>
            <a:ext cx="2651760" cy="502920"/>
          </a:xfrm>
          <a:prstGeom prst="rect">
            <a:avLst/>
          </a:prstGeom>
          <a:noFill/>
          <a:ln/>
        </p:spPr>
        <p:txBody>
          <a:bodyPr wrap="square" lIns="0" tIns="0" rIns="0" bIns="0" rtlCol="0" anchor="ctr"/>
          <a:lstStyle/>
          <a:p>
            <a:pPr marL="0" indent="0">
              <a:buNone/>
            </a:pPr>
            <a:r>
              <a:rPr lang="en-US" sz="1700" b="1" dirty="0">
                <a:solidFill>
                  <a:srgbClr val="2B2118"/>
                </a:solidFill>
              </a:rPr>
              <a:t>Better covariates</a:t>
            </a:r>
            <a:endParaRPr lang="en-US" sz="1700" dirty="0"/>
          </a:p>
        </p:txBody>
      </p:sp>
      <p:sp>
        <p:nvSpPr>
          <p:cNvPr id="15" name="Text 12"/>
          <p:cNvSpPr txBox="1"/>
          <p:nvPr/>
        </p:nvSpPr>
        <p:spPr>
          <a:xfrm>
            <a:off x="8275320" y="2103120"/>
            <a:ext cx="3154680" cy="1325880"/>
          </a:xfrm>
          <a:prstGeom prst="rect">
            <a:avLst/>
          </a:prstGeom>
          <a:noFill/>
          <a:ln/>
        </p:spPr>
        <p:txBody>
          <a:bodyPr wrap="square" lIns="0" tIns="0" rIns="0" bIns="0" rtlCol="0" anchor="t"/>
          <a:lstStyle/>
          <a:p>
            <a:pPr marL="0" indent="0">
              <a:buNone/>
            </a:pPr>
            <a:r>
              <a:rPr lang="en-US" sz="1400" dirty="0">
                <a:solidFill>
                  <a:srgbClr val="4A3B2E"/>
                </a:solidFill>
              </a:rPr>
              <a:t>Terrain and soil texture, bulk density for SSM; fine-resolution climate for mountains</a:t>
            </a:r>
            <a:endParaRPr lang="en-US" sz="1400" dirty="0"/>
          </a:p>
        </p:txBody>
      </p:sp>
      <p:sp>
        <p:nvSpPr>
          <p:cNvPr id="16" name="Shape 13"/>
          <p:cNvSpPr/>
          <p:nvPr/>
        </p:nvSpPr>
        <p:spPr>
          <a:xfrm>
            <a:off x="548640" y="3703320"/>
            <a:ext cx="3566160" cy="2194560"/>
          </a:xfrm>
          <a:prstGeom prst="roundRect">
            <a:avLst>
              <a:gd name="adj" fmla="val 3333"/>
            </a:avLst>
          </a:prstGeom>
          <a:solidFill>
            <a:srgbClr val="F3F0EB"/>
          </a:solidFill>
          <a:ln/>
        </p:spPr>
      </p:sp>
      <p:sp>
        <p:nvSpPr>
          <p:cNvPr id="17" name="Shape 14"/>
          <p:cNvSpPr/>
          <p:nvPr/>
        </p:nvSpPr>
        <p:spPr>
          <a:xfrm>
            <a:off x="777240" y="3931920"/>
            <a:ext cx="411480" cy="411480"/>
          </a:xfrm>
          <a:prstGeom prst="ellipse">
            <a:avLst/>
          </a:prstGeom>
          <a:solidFill>
            <a:srgbClr val="8C5A2B"/>
          </a:solidFill>
          <a:ln/>
        </p:spPr>
      </p:sp>
      <p:sp>
        <p:nvSpPr>
          <p:cNvPr id="18" name="Text 15"/>
          <p:cNvSpPr txBox="1"/>
          <p:nvPr/>
        </p:nvSpPr>
        <p:spPr>
          <a:xfrm>
            <a:off x="1325880" y="3886200"/>
            <a:ext cx="2651760" cy="502920"/>
          </a:xfrm>
          <a:prstGeom prst="rect">
            <a:avLst/>
          </a:prstGeom>
          <a:noFill/>
          <a:ln/>
        </p:spPr>
        <p:txBody>
          <a:bodyPr wrap="square" lIns="0" tIns="0" rIns="0" bIns="0" rtlCol="0" anchor="ctr"/>
          <a:lstStyle/>
          <a:p>
            <a:pPr marL="0" indent="0">
              <a:buNone/>
            </a:pPr>
            <a:r>
              <a:rPr lang="en-US" sz="1700" b="1" dirty="0">
                <a:solidFill>
                  <a:srgbClr val="2B2118"/>
                </a:solidFill>
              </a:rPr>
              <a:t>Hybrid models</a:t>
            </a:r>
            <a:endParaRPr lang="en-US" sz="1700" dirty="0"/>
          </a:p>
        </p:txBody>
      </p:sp>
      <p:sp>
        <p:nvSpPr>
          <p:cNvPr id="19" name="Text 16"/>
          <p:cNvSpPr txBox="1"/>
          <p:nvPr/>
        </p:nvSpPr>
        <p:spPr>
          <a:xfrm>
            <a:off x="777240" y="4480560"/>
            <a:ext cx="3154680" cy="1325880"/>
          </a:xfrm>
          <a:prstGeom prst="rect">
            <a:avLst/>
          </a:prstGeom>
          <a:noFill/>
          <a:ln/>
        </p:spPr>
        <p:txBody>
          <a:bodyPr wrap="square" lIns="0" tIns="0" rIns="0" bIns="0" rtlCol="0" anchor="t"/>
          <a:lstStyle/>
          <a:p>
            <a:pPr marL="0" indent="0">
              <a:buNone/>
            </a:pPr>
            <a:r>
              <a:rPr lang="en-US" sz="1400" dirty="0">
                <a:solidFill>
                  <a:srgbClr val="4A3B2E"/>
                </a:solidFill>
              </a:rPr>
              <a:t>Krige ML residuals (RF-RK), spatial cross-validation, QRF intervals</a:t>
            </a:r>
            <a:endParaRPr lang="en-US" sz="1400" dirty="0"/>
          </a:p>
        </p:txBody>
      </p:sp>
      <p:sp>
        <p:nvSpPr>
          <p:cNvPr id="20" name="Shape 17"/>
          <p:cNvSpPr/>
          <p:nvPr/>
        </p:nvSpPr>
        <p:spPr>
          <a:xfrm>
            <a:off x="4297680" y="3703320"/>
            <a:ext cx="3566160" cy="2194560"/>
          </a:xfrm>
          <a:prstGeom prst="roundRect">
            <a:avLst>
              <a:gd name="adj" fmla="val 3333"/>
            </a:avLst>
          </a:prstGeom>
          <a:solidFill>
            <a:srgbClr val="F3F0EB"/>
          </a:solidFill>
          <a:ln/>
        </p:spPr>
      </p:sp>
      <p:sp>
        <p:nvSpPr>
          <p:cNvPr id="21" name="Shape 18"/>
          <p:cNvSpPr/>
          <p:nvPr/>
        </p:nvSpPr>
        <p:spPr>
          <a:xfrm>
            <a:off x="4526280" y="3931920"/>
            <a:ext cx="411480" cy="411480"/>
          </a:xfrm>
          <a:prstGeom prst="ellipse">
            <a:avLst/>
          </a:prstGeom>
          <a:solidFill>
            <a:srgbClr val="C9A227"/>
          </a:solidFill>
          <a:ln/>
        </p:spPr>
      </p:sp>
      <p:sp>
        <p:nvSpPr>
          <p:cNvPr id="22" name="Text 19"/>
          <p:cNvSpPr txBox="1"/>
          <p:nvPr/>
        </p:nvSpPr>
        <p:spPr>
          <a:xfrm>
            <a:off x="5074920" y="3886200"/>
            <a:ext cx="2651760" cy="502920"/>
          </a:xfrm>
          <a:prstGeom prst="rect">
            <a:avLst/>
          </a:prstGeom>
          <a:noFill/>
          <a:ln/>
        </p:spPr>
        <p:txBody>
          <a:bodyPr wrap="square" lIns="0" tIns="0" rIns="0" bIns="0" rtlCol="0" anchor="ctr"/>
          <a:lstStyle/>
          <a:p>
            <a:pPr marL="0" indent="0">
              <a:buNone/>
            </a:pPr>
            <a:r>
              <a:rPr lang="en-US" sz="1700" b="1" dirty="0">
                <a:solidFill>
                  <a:srgbClr val="2B2118"/>
                </a:solidFill>
              </a:rPr>
              <a:t>Explainability</a:t>
            </a:r>
            <a:endParaRPr lang="en-US" sz="1700" dirty="0"/>
          </a:p>
        </p:txBody>
      </p:sp>
      <p:sp>
        <p:nvSpPr>
          <p:cNvPr id="23" name="Text 20"/>
          <p:cNvSpPr txBox="1"/>
          <p:nvPr/>
        </p:nvSpPr>
        <p:spPr>
          <a:xfrm>
            <a:off x="4526280" y="4480560"/>
            <a:ext cx="3154680" cy="1325880"/>
          </a:xfrm>
          <a:prstGeom prst="rect">
            <a:avLst/>
          </a:prstGeom>
          <a:noFill/>
          <a:ln/>
        </p:spPr>
        <p:txBody>
          <a:bodyPr wrap="square" lIns="0" tIns="0" rIns="0" bIns="0" rtlCol="0" anchor="t"/>
          <a:lstStyle/>
          <a:p>
            <a:pPr marL="0" indent="0">
              <a:buNone/>
            </a:pPr>
            <a:r>
              <a:rPr lang="en-US" sz="1400" dirty="0">
                <a:solidFill>
                  <a:srgbClr val="4A3B2E"/>
                </a:solidFill>
              </a:rPr>
              <a:t>SHAP / partial dependence to link drivers to soil processes</a:t>
            </a:r>
            <a:endParaRPr lang="en-US" sz="1400" dirty="0"/>
          </a:p>
        </p:txBody>
      </p:sp>
      <p:sp>
        <p:nvSpPr>
          <p:cNvPr id="24" name="Shape 21"/>
          <p:cNvSpPr/>
          <p:nvPr/>
        </p:nvSpPr>
        <p:spPr>
          <a:xfrm>
            <a:off x="8046720" y="3703320"/>
            <a:ext cx="3566160" cy="2194560"/>
          </a:xfrm>
          <a:prstGeom prst="roundRect">
            <a:avLst>
              <a:gd name="adj" fmla="val 3333"/>
            </a:avLst>
          </a:prstGeom>
          <a:solidFill>
            <a:srgbClr val="F3F0EB"/>
          </a:solidFill>
          <a:ln/>
        </p:spPr>
      </p:sp>
      <p:sp>
        <p:nvSpPr>
          <p:cNvPr id="25" name="Shape 22"/>
          <p:cNvSpPr/>
          <p:nvPr/>
        </p:nvSpPr>
        <p:spPr>
          <a:xfrm>
            <a:off x="8275320" y="3931920"/>
            <a:ext cx="411480" cy="411480"/>
          </a:xfrm>
          <a:prstGeom prst="ellipse">
            <a:avLst/>
          </a:prstGeom>
          <a:solidFill>
            <a:srgbClr val="C9A227"/>
          </a:solidFill>
          <a:ln/>
        </p:spPr>
      </p:sp>
      <p:sp>
        <p:nvSpPr>
          <p:cNvPr id="26" name="Text 23"/>
          <p:cNvSpPr txBox="1"/>
          <p:nvPr/>
        </p:nvSpPr>
        <p:spPr>
          <a:xfrm>
            <a:off x="8823960" y="3886200"/>
            <a:ext cx="2651760" cy="502920"/>
          </a:xfrm>
          <a:prstGeom prst="rect">
            <a:avLst/>
          </a:prstGeom>
          <a:noFill/>
          <a:ln/>
        </p:spPr>
        <p:txBody>
          <a:bodyPr wrap="square" lIns="0" tIns="0" rIns="0" bIns="0" rtlCol="0" anchor="ctr"/>
          <a:lstStyle/>
          <a:p>
            <a:pPr marL="0" indent="0">
              <a:buNone/>
            </a:pPr>
            <a:r>
              <a:rPr lang="en-US" sz="1700" b="1" dirty="0">
                <a:solidFill>
                  <a:srgbClr val="2B2118"/>
                </a:solidFill>
              </a:rPr>
              <a:t>More soil parameters</a:t>
            </a:r>
            <a:endParaRPr lang="en-US" sz="1700" dirty="0"/>
          </a:p>
        </p:txBody>
      </p:sp>
      <p:sp>
        <p:nvSpPr>
          <p:cNvPr id="27" name="Text 24"/>
          <p:cNvSpPr txBox="1"/>
          <p:nvPr/>
        </p:nvSpPr>
        <p:spPr>
          <a:xfrm>
            <a:off x="8275320" y="4480560"/>
            <a:ext cx="3154680" cy="1325880"/>
          </a:xfrm>
          <a:prstGeom prst="rect">
            <a:avLst/>
          </a:prstGeom>
          <a:noFill/>
          <a:ln/>
        </p:spPr>
        <p:txBody>
          <a:bodyPr wrap="square" lIns="0" tIns="0" rIns="0" bIns="0" rtlCol="0" anchor="t"/>
          <a:lstStyle/>
          <a:p>
            <a:pPr marL="0" indent="0">
              <a:buNone/>
            </a:pPr>
            <a:r>
              <a:rPr lang="en-US" sz="1400" dirty="0">
                <a:solidFill>
                  <a:srgbClr val="4A3B2E"/>
                </a:solidFill>
              </a:rPr>
              <a:t>Same framework for pH, texture, micronutrients, salinity, soil health indices</a:t>
            </a:r>
            <a:endParaRPr lang="en-US" sz="1400" dirty="0"/>
          </a:p>
        </p:txBody>
      </p:sp>
      <p:sp>
        <p:nvSpPr>
          <p:cNvPr id="28" name="Text 25"/>
          <p:cNvSpPr txBox="1"/>
          <p:nvPr/>
        </p:nvSpPr>
        <p:spPr>
          <a:xfrm>
            <a:off x="548640" y="6163056"/>
            <a:ext cx="11064240" cy="274320"/>
          </a:xfrm>
          <a:prstGeom prst="rect">
            <a:avLst/>
          </a:prstGeom>
          <a:noFill/>
          <a:ln/>
        </p:spPr>
        <p:txBody>
          <a:bodyPr wrap="square" lIns="0" tIns="0" rIns="0" bIns="0" rtlCol="0" anchor="ctr"/>
          <a:lstStyle/>
          <a:p>
            <a:pPr marL="0" indent="0">
              <a:buNone/>
            </a:pPr>
            <a:r>
              <a:rPr lang="en-US" sz="1000" i="1" dirty="0">
                <a:solidFill>
                  <a:srgbClr val="8A8178"/>
                </a:solidFill>
              </a:rPr>
              <a:t>Based on limitations stated in Das et al. (2022) Section 3.6 and Kalambukattu et al. (2025) Section 3.5</a:t>
            </a:r>
            <a:endParaRPr lang="en-US" sz="1000" dirty="0"/>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34</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73736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Conclusions</a:t>
            </a:r>
            <a:endParaRPr lang="en-US" sz="4000" dirty="0"/>
          </a:p>
        </p:txBody>
      </p:sp>
      <p:sp>
        <p:nvSpPr>
          <p:cNvPr id="3" name="Text 0"/>
          <p:cNvSpPr>
            <a:spLocks noGrp="1"/>
          </p:cNvSpPr>
          <p:nvPr>
            <p:ph type="body" idx="101" hasCustomPrompt="1"/>
          </p:nvPr>
        </p:nvSpPr>
        <p:spPr>
          <a:xfrm>
            <a:off x="731520" y="3703320"/>
            <a:ext cx="10698480" cy="2194560"/>
          </a:xfrm>
          <a:prstGeom prst="rect">
            <a:avLst/>
          </a:prstGeom>
          <a:noFill/>
          <a:ln/>
        </p:spPr>
        <p:txBody>
          <a:bodyPr wrap="square" rtlCol="0" anchor="t"/>
          <a:lstStyle/>
          <a:p>
            <a:pPr marL="228600" indent="-228600">
              <a:spcAft>
                <a:spcPts val="800"/>
              </a:spcAft>
              <a:buSzPct val="100000"/>
              <a:buChar char="•"/>
            </a:pPr>
            <a:r>
              <a:rPr lang="en-US" sz="1800" dirty="0">
                <a:solidFill>
                  <a:srgbClr val="E8DCCB"/>
                </a:solidFill>
              </a:rPr>
              <a:t>DSM turns point soil data and exhaustive covariates into 30 m property maps with explicit uncertainty.</a:t>
            </a:r>
            <a:endParaRPr lang="en-US" sz="1800" dirty="0"/>
          </a:p>
          <a:p>
            <a:pPr marL="228600" indent="-228600">
              <a:spcAft>
                <a:spcPts val="800"/>
              </a:spcAft>
              <a:buSzPct val="100000"/>
              <a:buChar char="•"/>
            </a:pPr>
            <a:r>
              <a:rPr lang="en-US" sz="1800" dirty="0">
                <a:solidFill>
                  <a:srgbClr val="E8DCCB"/>
                </a:solidFill>
              </a:rPr>
              <a:t>Geostatistics (variogram + kriging) remains the reference when spatial structure is strong; regression-kriging adds covariates.</a:t>
            </a:r>
            <a:endParaRPr lang="en-US" sz="1800" dirty="0"/>
          </a:p>
          <a:p>
            <a:pPr marL="228600" indent="-228600">
              <a:spcAft>
                <a:spcPts val="800"/>
              </a:spcAft>
              <a:buSzPct val="100000"/>
              <a:buChar char="•"/>
            </a:pPr>
            <a:r>
              <a:rPr lang="en-US" sz="1800" dirty="0">
                <a:solidFill>
                  <a:srgbClr val="E8DCCB"/>
                </a:solidFill>
              </a:rPr>
              <a:t>Random forest gave the best SOC map in the Himalaya (test R² 0.72); stacking gave the lowest soil-moisture error (RMSE 5.03%).</a:t>
            </a:r>
            <a:endParaRPr lang="en-US" sz="1800" dirty="0"/>
          </a:p>
          <a:p>
            <a:pPr marL="228600" indent="-228600">
              <a:spcAft>
                <a:spcPts val="800"/>
              </a:spcAft>
              <a:buSzPct val="100000"/>
              <a:buChar char="•"/>
            </a:pPr>
            <a:r>
              <a:rPr lang="en-US" sz="1800" dirty="0">
                <a:solidFill>
                  <a:srgbClr val="E8DCCB"/>
                </a:solidFill>
              </a:rPr>
              <a:t>Feature selection, honest validation and uncertainty maps matter as much as the algorithm.</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64240" cy="777240"/>
          </a:xfrm>
          <a:prstGeom prst="rect">
            <a:avLst/>
          </a:prstGeom>
          <a:noFill/>
          <a:ln/>
        </p:spPr>
        <p:txBody>
          <a:bodyPr wrap="square" rtlCol="0" anchor="ctr"/>
          <a:lstStyle/>
          <a:p>
            <a:pPr marL="0" indent="0">
              <a:buNone/>
            </a:pPr>
            <a:r>
              <a:rPr lang="en-US" sz="3200" b="1" dirty="0">
                <a:solidFill>
                  <a:schemeClr val="tx1"/>
                </a:solidFill>
              </a:rPr>
              <a:t>References</a:t>
            </a:r>
            <a:endParaRPr lang="en-US" sz="3200" dirty="0"/>
          </a:p>
        </p:txBody>
      </p:sp>
      <p:sp>
        <p:nvSpPr>
          <p:cNvPr id="4" name="Text 1"/>
          <p:cNvSpPr txBox="1"/>
          <p:nvPr/>
        </p:nvSpPr>
        <p:spPr>
          <a:xfrm>
            <a:off x="548640" y="1234440"/>
            <a:ext cx="11064240" cy="5074920"/>
          </a:xfrm>
          <a:prstGeom prst="rect">
            <a:avLst/>
          </a:prstGeom>
          <a:noFill/>
          <a:ln/>
        </p:spPr>
        <p:txBody>
          <a:bodyPr wrap="square" lIns="25400" tIns="25400" rIns="25400" bIns="25400" rtlCol="0" anchor="t"/>
          <a:lstStyle/>
          <a:p>
            <a:pPr marL="0" indent="0">
              <a:spcAft>
                <a:spcPts val="600"/>
              </a:spcAft>
              <a:buNone/>
            </a:pPr>
            <a:r>
              <a:rPr lang="en-US" sz="1100" dirty="0">
                <a:solidFill>
                  <a:srgbClr val="2B2118"/>
                </a:solidFill>
              </a:rPr>
              <a:t>Kalambukattu JG, Kumar S, Das B, Roy T (2025). Digital mapping of soil organic carbon in the hilly and mountainous landscape of Indian Himalayan region employing machine-learning techniques. Discover Soil 2:35. doi:10.1007/s44378-025-00060-5</a:t>
            </a:r>
            <a:endParaRPr lang="en-US" sz="1300" dirty="0"/>
          </a:p>
          <a:p>
            <a:pPr marL="0" indent="0">
              <a:spcAft>
                <a:spcPts val="600"/>
              </a:spcAft>
              <a:buNone/>
            </a:pPr>
            <a:r>
              <a:rPr lang="en-US" sz="1100" dirty="0">
                <a:solidFill>
                  <a:srgbClr val="2B2118"/>
                </a:solidFill>
              </a:rPr>
              <a:t>Das B, Rathore P, Roy D, Chakraborty D, Jatav RS, Sethi D, Kumar P (2022). Comparison of bagging, boosting and stacking algorithms for surface soil moisture mapping using optical-thermal-microwave remote sensing synergies. Catena 217:106485. doi:10.1016/j.catena.2022.106485</a:t>
            </a:r>
            <a:endParaRPr lang="en-US" sz="1300" dirty="0"/>
          </a:p>
          <a:p>
            <a:pPr marL="0" indent="0">
              <a:spcAft>
                <a:spcPts val="600"/>
              </a:spcAft>
              <a:buNone/>
            </a:pPr>
            <a:r>
              <a:rPr lang="en-US" sz="1100" dirty="0">
                <a:solidFill>
                  <a:srgbClr val="2B2118"/>
                </a:solidFill>
              </a:rPr>
              <a:t>Hengl T, Heuvelink GBM, Stein A (2004). A generic framework for spatial prediction of soil variables based on regression-kriging. Geoderma 120:75–93. doi:10.1016/j.geoderma.2003.08.018</a:t>
            </a:r>
            <a:endParaRPr lang="en-US" sz="1300" dirty="0"/>
          </a:p>
          <a:p>
            <a:pPr marL="0" indent="0">
              <a:spcAft>
                <a:spcPts val="600"/>
              </a:spcAft>
              <a:buNone/>
            </a:pPr>
            <a:r>
              <a:rPr lang="en-US" sz="1100" dirty="0">
                <a:solidFill>
                  <a:srgbClr val="2B2118"/>
                </a:solidFill>
              </a:rPr>
              <a:t>Oliver MA, Webster R (2014). A tutorial guide to geostatistics: computing and modelling variograms and kriging. Catena 113:56–69.</a:t>
            </a:r>
            <a:endParaRPr lang="en-US" sz="1300" dirty="0"/>
          </a:p>
          <a:p>
            <a:pPr marL="0" indent="0">
              <a:spcAft>
                <a:spcPts val="600"/>
              </a:spcAft>
              <a:buNone/>
            </a:pPr>
            <a:r>
              <a:rPr lang="en-US" sz="1100" dirty="0">
                <a:solidFill>
                  <a:srgbClr val="2B2118"/>
                </a:solidFill>
              </a:rPr>
              <a:t>McBratney AB, Mendonça Santos ML, Minasny B (2003). On digital soil mapping. Geoderma 117:3–52.</a:t>
            </a:r>
            <a:endParaRPr lang="en-US" sz="1300" dirty="0"/>
          </a:p>
          <a:p>
            <a:pPr marL="0" indent="0">
              <a:spcAft>
                <a:spcPts val="600"/>
              </a:spcAft>
              <a:buNone/>
            </a:pPr>
            <a:r>
              <a:rPr lang="en-US" sz="1100" dirty="0">
                <a:solidFill>
                  <a:srgbClr val="2B2118"/>
                </a:solidFill>
              </a:rPr>
              <a:t>Kursa MB, Rudnicki WR (2010). Feature selection with the Boruta package. J. Stat. Softw. 36(11).</a:t>
            </a:r>
            <a:endParaRPr lang="en-US" sz="1300" dirty="0"/>
          </a:p>
          <a:p>
            <a:pPr marL="0" indent="0">
              <a:spcAft>
                <a:spcPts val="600"/>
              </a:spcAft>
              <a:buNone/>
            </a:pPr>
            <a:r>
              <a:rPr lang="en-US" sz="1100" dirty="0">
                <a:solidFill>
                  <a:srgbClr val="2B2118"/>
                </a:solidFill>
              </a:rPr>
              <a:t>Chang CW, Laird DA, Mausbach MJ, Hurburgh CR (2001). Near-infrared reflectance spectroscopy–principal components regression analyses of soil properties. SSSAJ 65:480–490.</a:t>
            </a:r>
            <a:endParaRPr lang="en-US" sz="1300" dirty="0"/>
          </a:p>
          <a:p>
            <a:pPr marL="0" indent="0">
              <a:spcAft>
                <a:spcPts val="600"/>
              </a:spcAft>
              <a:buNone/>
            </a:pPr>
            <a:r>
              <a:rPr lang="en-US" sz="1100" dirty="0">
                <a:solidFill>
                  <a:srgbClr val="2B2118"/>
                </a:solidFill>
              </a:rPr>
              <a:t>Cambardella CA et al. (1994). Field-scale variability of soil properties in central Iowa soils. SSSAJ 58:1501–1511.</a:t>
            </a:r>
            <a:endParaRPr lang="en-US" sz="1300" dirty="0"/>
          </a:p>
          <a:p>
            <a:pPr marL="0" indent="0">
              <a:spcAft>
                <a:spcPts val="600"/>
              </a:spcAft>
              <a:buNone/>
            </a:pPr>
            <a:r>
              <a:rPr lang="en-US" sz="1100" dirty="0">
                <a:solidFill>
                  <a:srgbClr val="2B2118"/>
                </a:solidFill>
              </a:rPr>
              <a:t>Qin Z, Karnieli A, Berliner P (2001). A mono-window algorithm for retrieving land surface temperature from Landsat TM data. Int. J. Remote Sens. 22:3719–3746.</a:t>
            </a:r>
            <a:endParaRPr lang="en-US" sz="1300" dirty="0"/>
          </a:p>
          <a:p>
            <a:pPr marL="0" indent="0">
              <a:spcAft>
                <a:spcPts val="600"/>
              </a:spcAft>
              <a:buNone/>
            </a:pPr>
            <a:r>
              <a:rPr lang="en-US" sz="1100" dirty="0">
                <a:solidFill>
                  <a:srgbClr val="2B2118"/>
                </a:solidFill>
              </a:rPr>
              <a:t>Minasny B, McBratney AB, Malone BP, Wheeler I (2013). Digital mapping of soil carbon. Advances in Agronomy 118:1–47. doi:10.1016/B978-0-12-405942-9.00001-3</a:t>
            </a:r>
            <a:endParaRPr lang="en-US" sz="1300" dirty="0"/>
          </a:p>
          <a:p>
            <a:pPr marL="0" indent="0">
              <a:spcAft>
                <a:spcPts val="600"/>
              </a:spcAft>
              <a:buNone/>
            </a:pPr>
            <a:r>
              <a:rPr lang="en-US" sz="1100" dirty="0">
                <a:solidFill>
                  <a:srgbClr val="2B2118"/>
                </a:solidFill>
              </a:rPr>
              <a:t>Sindhushree TS, Kavya D, Jitendra GH, Tongali NC, Rajeswari B, Phukan P (2025). Digital soil mapping: a review of techniques, applications and emerging trends. Journal of Scientific Research and Reports 31(7):1151–1158. doi:10.9734/jsrr/2025/v31i73329</a:t>
            </a:r>
            <a:endParaRPr lang="en-US" sz="1300" dirty="0"/>
          </a:p>
          <a:p>
            <a:pPr marL="0" indent="0">
              <a:spcAft>
                <a:spcPts val="600"/>
              </a:spcAft>
              <a:buNone/>
            </a:pPr>
            <a:r>
              <a:rPr lang="en-US" sz="1100" dirty="0">
                <a:solidFill>
                  <a:srgbClr val="2B2118"/>
                </a:solidFill>
              </a:rPr>
              <a:t>Hengl T, Heuvelink GBM, Rossiter DG (2007). About regression-kriging: from equations to case studies. Computers &amp; Geosciences 33:1301–1315.</a:t>
            </a:r>
            <a:endParaRPr lang="en-US" sz="1300" dirty="0"/>
          </a:p>
          <a:p>
            <a:pPr marL="0" indent="0">
              <a:spcAft>
                <a:spcPts val="600"/>
              </a:spcAft>
              <a:buNone/>
            </a:pPr>
            <a:r>
              <a:rPr lang="en-US" sz="1100" dirty="0">
                <a:solidFill>
                  <a:srgbClr val="2B2118"/>
                </a:solidFill>
              </a:rPr>
              <a:t>Webster R, Oliver MA (2007). Geostatistics for Environmental Scientists, 2nd ed. Wiley.</a:t>
            </a:r>
            <a:endParaRPr lang="en-US" sz="1300" dirty="0"/>
          </a:p>
        </p:txBody>
      </p:sp>
      <p:sp>
        <p:nvSpPr>
          <p:cNvPr id="25"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36</a:t>
            </a:fld>
            <a:endParaRPr lang="en-US"/>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Spatial interpolation: concept and method families</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5486400" cy="7315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5303520" cy="731520"/>
          </a:xfrm>
          <a:prstGeom prst="rect">
            <a:avLst/>
          </a:prstGeom>
          <a:noFill/>
        </p:spPr>
        <p:txBody>
          <a:bodyPr wrap="square" lIns="27432" rIns="27432" tIns="27432" bIns="27432" anchor="ctr">
            <a:spAutoFit/>
          </a:bodyPr>
          <a:lstStyle/>
          <a:p>
            <a:pPr marL="0" indent="0" algn="ctr">
              <a:spcAft>
                <a:spcPts val="400"/>
              </a:spcAft>
              <a:buNone/>
            </a:pPr>
            <a:r>
              <a:rPr sz="1900" b="0" i="0">
                <a:solidFill>
                  <a:srgbClr val="2B2118"/>
                </a:solidFill>
                <a:latin typeface="Cambria"/>
              </a:rPr>
              <a:t>Ẑ(x</a:t>
            </a:r>
            <a:r>
              <a:rPr sz="1900" b="0" i="0" baseline="-25000">
                <a:solidFill>
                  <a:srgbClr val="2B2118"/>
                </a:solidFill>
              </a:rPr>
              <a:t>0</a:t>
            </a:r>
            <a:r>
              <a:rPr sz="1900" b="0" i="0">
                <a:solidFill>
                  <a:srgbClr val="2B2118"/>
                </a:solidFill>
              </a:rPr>
              <a:t>) = Σ λ</a:t>
            </a:r>
            <a:r>
              <a:rPr sz="1900" b="0" i="0" baseline="-25000">
                <a:solidFill>
                  <a:srgbClr val="2B2118"/>
                </a:solidFill>
              </a:rPr>
              <a:t>i</a:t>
            </a:r>
            <a:r>
              <a:rPr sz="1900" b="0" i="0">
                <a:solidFill>
                  <a:srgbClr val="2B2118"/>
                </a:solidFill>
              </a:rPr>
              <a:t> z(x</a:t>
            </a:r>
            <a:r>
              <a:rPr sz="1900" b="0" i="0" baseline="-25000">
                <a:solidFill>
                  <a:srgbClr val="2B2118"/>
                </a:solidFill>
              </a:rPr>
              <a:t>i</a:t>
            </a:r>
            <a:r>
              <a:rPr sz="1900" b="0" i="0">
                <a:solidFill>
                  <a:srgbClr val="2B2118"/>
                </a:solidFill>
              </a:rPr>
              <a:t>),    Σ λ</a:t>
            </a:r>
            <a:r>
              <a:rPr sz="1900" b="0" i="0" baseline="-25000">
                <a:solidFill>
                  <a:srgbClr val="2B2118"/>
                </a:solidFill>
              </a:rPr>
              <a:t>i</a:t>
            </a:r>
            <a:r>
              <a:rPr sz="1900" b="0" i="0">
                <a:solidFill>
                  <a:srgbClr val="2B2118"/>
                </a:solidFill>
              </a:rPr>
              <a:t> = 1</a:t>
            </a:r>
          </a:p>
        </p:txBody>
      </p:sp>
      <p:sp>
        <p:nvSpPr>
          <p:cNvPr id="6" name="TextBox 5"/>
          <p:cNvSpPr txBox="1"/>
          <p:nvPr/>
        </p:nvSpPr>
        <p:spPr>
          <a:xfrm>
            <a:off x="548640" y="2121408"/>
            <a:ext cx="5486400" cy="548640"/>
          </a:xfrm>
          <a:prstGeom prst="rect">
            <a:avLst/>
          </a:prstGeom>
          <a:noFill/>
        </p:spPr>
        <p:txBody>
          <a:bodyPr wrap="square" lIns="27432" rIns="27432" tIns="27432" bIns="27432" anchor="t">
            <a:spAutoFit/>
          </a:bodyPr>
          <a:lstStyle/>
          <a:p>
            <a:pPr marL="0" indent="0">
              <a:spcAft>
                <a:spcPts val="400"/>
              </a:spcAft>
              <a:buNone/>
            </a:pPr>
            <a:r>
              <a:rPr sz="1300" b="0" i="0">
                <a:solidFill>
                  <a:srgbClr val="4A3B2E"/>
                </a:solidFill>
              </a:rPr>
              <a:t>Every method is a weighted average of neighbours; methods differ only in </a:t>
            </a:r>
            <a:r>
              <a:rPr sz="1300" b="1" i="0">
                <a:solidFill>
                  <a:srgbClr val="4A3B2E"/>
                </a:solidFill>
              </a:rPr>
              <a:t>how the weights λ</a:t>
            </a:r>
            <a:r>
              <a:rPr sz="1300" b="1" i="0" baseline="-25000">
                <a:solidFill>
                  <a:srgbClr val="4A3B2E"/>
                </a:solidFill>
              </a:rPr>
              <a:t>i</a:t>
            </a:r>
            <a:r>
              <a:rPr sz="1300" b="1" i="0">
                <a:solidFill>
                  <a:srgbClr val="4A3B2E"/>
                </a:solidFill>
              </a:rPr>
              <a:t> are chosen</a:t>
            </a:r>
            <a:r>
              <a:rPr sz="1300" b="0" i="0">
                <a:solidFill>
                  <a:srgbClr val="4A3B2E"/>
                </a:solidFill>
              </a:rPr>
              <a:t>. Tobler: near things are more alike than distant things.</a:t>
            </a:r>
          </a:p>
        </p:txBody>
      </p:sp>
      <p:sp>
        <p:nvSpPr>
          <p:cNvPr id="7" name="Rounded Rectangle 6"/>
          <p:cNvSpPr/>
          <p:nvPr/>
        </p:nvSpPr>
        <p:spPr>
          <a:xfrm>
            <a:off x="4160520" y="2788920"/>
            <a:ext cx="3840480" cy="594360"/>
          </a:xfrm>
          <a:prstGeom prst="roundRect">
            <a:avLst>
              <a:gd name="adj" fmla="val 9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500" b="1" i="0">
                <a:solidFill>
                  <a:srgbClr val="FFFFFF"/>
                </a:solidFill>
              </a:rPr>
              <a:t>Spatial interpolation</a:t>
            </a:r>
          </a:p>
        </p:txBody>
      </p:sp>
      <p:cxnSp>
        <p:nvCxnSpPr>
          <p:cNvPr id="8" name="Connector 7"/>
          <p:cNvCxnSpPr/>
          <p:nvPr/>
        </p:nvCxnSpPr>
        <p:spPr>
          <a:xfrm flipH="1">
            <a:off x="2331720" y="3383280"/>
            <a:ext cx="3749040" cy="320040"/>
          </a:xfrm>
          <a:prstGeom prst="line">
            <a:avLst/>
          </a:prstGeom>
          <a:ln w="22225">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3703320"/>
            <a:ext cx="3566160" cy="64008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Deterministic</a:t>
            </a:r>
          </a:p>
          <a:p>
            <a:pPr marL="0" indent="0" algn="ctr">
              <a:spcAft>
                <a:spcPts val="100"/>
              </a:spcAft>
              <a:buNone/>
            </a:pPr>
            <a:r>
              <a:rPr sz="1250" b="0" i="0">
                <a:solidFill>
                  <a:srgbClr val="FFFFFF"/>
                </a:solidFill>
              </a:rPr>
              <a:t>geometry only, no error estimate</a:t>
            </a:r>
          </a:p>
        </p:txBody>
      </p:sp>
      <p:sp>
        <p:nvSpPr>
          <p:cNvPr id="10" name="Rounded Rectangle 9"/>
          <p:cNvSpPr/>
          <p:nvPr/>
        </p:nvSpPr>
        <p:spPr>
          <a:xfrm>
            <a:off x="548640" y="4434840"/>
            <a:ext cx="3566160" cy="16002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498848"/>
            <a:ext cx="3346704" cy="1508760"/>
          </a:xfrm>
          <a:prstGeom prst="rect">
            <a:avLst/>
          </a:prstGeom>
          <a:noFill/>
        </p:spPr>
        <p:txBody>
          <a:bodyPr wrap="square" lIns="27432" rIns="27432" tIns="27432" bIns="27432" anchor="t">
            <a:spAutoFit/>
          </a:bodyPr>
          <a:lstStyle/>
          <a:p>
            <a:pPr marL="228600" indent="-228600">
              <a:spcAft>
                <a:spcPts val="400"/>
              </a:spcAft>
              <a:buFont typeface="Arial"/>
              <a:buChar char="•"/>
            </a:pPr>
            <a:r>
              <a:rPr sz="1250" b="1" i="0">
                <a:solidFill>
                  <a:srgbClr val="2B2118"/>
                </a:solidFill>
              </a:rPr>
              <a:t>Global</a:t>
            </a:r>
            <a:r>
              <a:rPr sz="1250" b="0" i="0">
                <a:solidFill>
                  <a:srgbClr val="2B2118"/>
                </a:solidFill>
              </a:rPr>
              <a:t>: trend surface</a:t>
            </a:r>
          </a:p>
          <a:p>
            <a:pPr marL="228600" indent="-228600">
              <a:spcAft>
                <a:spcPts val="400"/>
              </a:spcAft>
              <a:buFont typeface="Arial"/>
              <a:buChar char="•"/>
            </a:pPr>
            <a:r>
              <a:rPr sz="1250" b="1" i="0">
                <a:solidFill>
                  <a:srgbClr val="2B2118"/>
                </a:solidFill>
              </a:rPr>
              <a:t>Local</a:t>
            </a:r>
            <a:r>
              <a:rPr sz="1250" b="0" i="0">
                <a:solidFill>
                  <a:srgbClr val="2B2118"/>
                </a:solidFill>
              </a:rPr>
              <a:t>: Thiessen / nearest neighbour, IDW, splines / RBF, local polynomial, natural neighbour</a:t>
            </a:r>
          </a:p>
        </p:txBody>
      </p:sp>
      <p:cxnSp>
        <p:nvCxnSpPr>
          <p:cNvPr id="12" name="Connector 11"/>
          <p:cNvCxnSpPr/>
          <p:nvPr/>
        </p:nvCxnSpPr>
        <p:spPr>
          <a:xfrm flipH="1">
            <a:off x="6080759" y="3383280"/>
            <a:ext cx="1" cy="320040"/>
          </a:xfrm>
          <a:prstGeom prst="line">
            <a:avLst/>
          </a:prstGeom>
          <a:ln w="22225">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97679" y="3703320"/>
            <a:ext cx="3566160" cy="64008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Geostatistical</a:t>
            </a:r>
          </a:p>
          <a:p>
            <a:pPr marL="0" indent="0" algn="ctr">
              <a:spcAft>
                <a:spcPts val="100"/>
              </a:spcAft>
              <a:buNone/>
            </a:pPr>
            <a:r>
              <a:rPr sz="1250" b="0" i="0">
                <a:solidFill>
                  <a:srgbClr val="FFFFFF"/>
                </a:solidFill>
              </a:rPr>
              <a:t>weights from the variogram + error</a:t>
            </a:r>
          </a:p>
        </p:txBody>
      </p:sp>
      <p:sp>
        <p:nvSpPr>
          <p:cNvPr id="14" name="Rounded Rectangle 13"/>
          <p:cNvSpPr/>
          <p:nvPr/>
        </p:nvSpPr>
        <p:spPr>
          <a:xfrm>
            <a:off x="4297679" y="4434840"/>
            <a:ext cx="3566160" cy="16002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7" y="4498848"/>
            <a:ext cx="3346704" cy="1508760"/>
          </a:xfrm>
          <a:prstGeom prst="rect">
            <a:avLst/>
          </a:prstGeom>
          <a:noFill/>
        </p:spPr>
        <p:txBody>
          <a:bodyPr wrap="square" lIns="27432" rIns="27432" tIns="27432" bIns="27432" anchor="t">
            <a:spAutoFit/>
          </a:bodyPr>
          <a:lstStyle/>
          <a:p>
            <a:pPr marL="228600" indent="-228600">
              <a:spcAft>
                <a:spcPts val="400"/>
              </a:spcAft>
              <a:buFont typeface="Arial"/>
              <a:buChar char="•"/>
            </a:pPr>
            <a:r>
              <a:rPr sz="1250" b="1" i="0">
                <a:solidFill>
                  <a:srgbClr val="2B2118"/>
                </a:solidFill>
              </a:rPr>
              <a:t>Kriging</a:t>
            </a:r>
            <a:r>
              <a:rPr sz="1250" b="0" i="0">
                <a:solidFill>
                  <a:srgbClr val="2B2118"/>
                </a:solidFill>
              </a:rPr>
              <a:t>: simple, ordinary, universal / KED, co-kriging, indicator, block</a:t>
            </a:r>
          </a:p>
          <a:p>
            <a:pPr marL="228600" indent="-228600">
              <a:spcAft>
                <a:spcPts val="400"/>
              </a:spcAft>
              <a:buFont typeface="Arial"/>
              <a:buChar char="•"/>
            </a:pPr>
            <a:r>
              <a:rPr sz="1250" b="1" i="0">
                <a:solidFill>
                  <a:srgbClr val="2B2118"/>
                </a:solidFill>
              </a:rPr>
              <a:t>Simulation</a:t>
            </a:r>
            <a:r>
              <a:rPr sz="1250" b="0" i="0">
                <a:solidFill>
                  <a:srgbClr val="2B2118"/>
                </a:solidFill>
              </a:rPr>
              <a:t>: sequential Gaussian</a:t>
            </a:r>
          </a:p>
        </p:txBody>
      </p:sp>
      <p:cxnSp>
        <p:nvCxnSpPr>
          <p:cNvPr id="16" name="Connector 15"/>
          <p:cNvCxnSpPr/>
          <p:nvPr/>
        </p:nvCxnSpPr>
        <p:spPr>
          <a:xfrm>
            <a:off x="6080760" y="3383280"/>
            <a:ext cx="3749039" cy="320040"/>
          </a:xfrm>
          <a:prstGeom prst="line">
            <a:avLst/>
          </a:prstGeom>
          <a:ln w="22225">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046719" y="3703320"/>
            <a:ext cx="3566160" cy="64008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Hybrid</a:t>
            </a:r>
          </a:p>
          <a:p>
            <a:pPr marL="0" indent="0" algn="ctr">
              <a:spcAft>
                <a:spcPts val="100"/>
              </a:spcAft>
              <a:buNone/>
            </a:pPr>
            <a:r>
              <a:rPr sz="1250" b="0" i="0">
                <a:solidFill>
                  <a:srgbClr val="FFFFFF"/>
                </a:solidFill>
              </a:rPr>
              <a:t>covariates + spatial residuals</a:t>
            </a:r>
          </a:p>
        </p:txBody>
      </p:sp>
      <p:sp>
        <p:nvSpPr>
          <p:cNvPr id="18" name="Rounded Rectangle 17"/>
          <p:cNvSpPr/>
          <p:nvPr/>
        </p:nvSpPr>
        <p:spPr>
          <a:xfrm>
            <a:off x="8046719" y="4434840"/>
            <a:ext cx="3566160" cy="16002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6447" y="4498848"/>
            <a:ext cx="3346704" cy="1508760"/>
          </a:xfrm>
          <a:prstGeom prst="rect">
            <a:avLst/>
          </a:prstGeom>
          <a:noFill/>
        </p:spPr>
        <p:txBody>
          <a:bodyPr wrap="square" lIns="27432" rIns="27432" tIns="27432" bIns="27432" anchor="t">
            <a:spAutoFit/>
          </a:bodyPr>
          <a:lstStyle/>
          <a:p>
            <a:pPr marL="228600" indent="-228600">
              <a:spcAft>
                <a:spcPts val="400"/>
              </a:spcAft>
              <a:buFont typeface="Arial"/>
              <a:buChar char="•"/>
            </a:pPr>
            <a:r>
              <a:rPr sz="1250" b="0" i="0">
                <a:solidFill>
                  <a:srgbClr val="2B2118"/>
                </a:solidFill>
              </a:rPr>
              <a:t>Regression-kriging</a:t>
            </a:r>
          </a:p>
          <a:p>
            <a:pPr marL="228600" indent="-228600">
              <a:spcAft>
                <a:spcPts val="400"/>
              </a:spcAft>
              <a:buFont typeface="Arial"/>
              <a:buChar char="•"/>
            </a:pPr>
            <a:r>
              <a:rPr sz="1250" b="0" i="0">
                <a:solidFill>
                  <a:srgbClr val="2B2118"/>
                </a:solidFill>
              </a:rPr>
              <a:t>Kriging with external drift</a:t>
            </a:r>
          </a:p>
          <a:p>
            <a:pPr marL="228600" indent="-228600">
              <a:spcAft>
                <a:spcPts val="400"/>
              </a:spcAft>
              <a:buFont typeface="Arial"/>
              <a:buChar char="•"/>
            </a:pPr>
            <a:r>
              <a:rPr sz="1250" b="0" i="0">
                <a:solidFill>
                  <a:srgbClr val="2B2118"/>
                </a:solidFill>
              </a:rPr>
              <a:t>ML + kriged residuals</a:t>
            </a:r>
          </a:p>
        </p:txBody>
      </p:sp>
      <p:sp>
        <p:nvSpPr>
          <p:cNvPr id="20" name="Rounded Rectangle 19"/>
          <p:cNvSpPr/>
          <p:nvPr/>
        </p:nvSpPr>
        <p:spPr>
          <a:xfrm>
            <a:off x="6309360" y="1325880"/>
            <a:ext cx="5303520" cy="13258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1371600"/>
            <a:ext cx="5029200" cy="1261872"/>
          </a:xfrm>
          <a:prstGeom prst="rect">
            <a:avLst/>
          </a:prstGeom>
          <a:noFill/>
        </p:spPr>
        <p:txBody>
          <a:bodyPr wrap="square" lIns="27432" rIns="27432" tIns="27432" bIns="27432" anchor="t">
            <a:spAutoFit/>
          </a:bodyPr>
          <a:lstStyle/>
          <a:p>
            <a:pPr marL="0" indent="0">
              <a:spcAft>
                <a:spcPts val="100"/>
              </a:spcAft>
              <a:buNone/>
            </a:pPr>
            <a:r>
              <a:rPr sz="1400" b="1" i="0">
                <a:solidFill>
                  <a:srgbClr val="8C5A2B"/>
                </a:solidFill>
              </a:rPr>
              <a:t>Ways to classify a method</a:t>
            </a:r>
          </a:p>
          <a:p>
            <a:pPr marL="228600" indent="-228600">
              <a:spcAft>
                <a:spcPts val="100"/>
              </a:spcAft>
              <a:buFont typeface="Arial"/>
              <a:buChar char="•"/>
            </a:pPr>
            <a:r>
              <a:rPr sz="1250" b="1" i="0">
                <a:solidFill>
                  <a:srgbClr val="2B2118"/>
                </a:solidFill>
              </a:rPr>
              <a:t>Exact</a:t>
            </a:r>
            <a:r>
              <a:rPr sz="1250" b="0" i="0">
                <a:solidFill>
                  <a:srgbClr val="2B2118"/>
                </a:solidFill>
              </a:rPr>
              <a:t> (honours data) vs </a:t>
            </a:r>
            <a:r>
              <a:rPr sz="1250" b="1" i="0">
                <a:solidFill>
                  <a:srgbClr val="2B2118"/>
                </a:solidFill>
              </a:rPr>
              <a:t>inexact</a:t>
            </a:r>
            <a:r>
              <a:rPr sz="1250" b="0" i="0">
                <a:solidFill>
                  <a:srgbClr val="2B2118"/>
                </a:solidFill>
              </a:rPr>
              <a:t> (smooths)</a:t>
            </a:r>
          </a:p>
          <a:p>
            <a:pPr marL="228600" indent="-228600">
              <a:spcAft>
                <a:spcPts val="100"/>
              </a:spcAft>
              <a:buFont typeface="Arial"/>
              <a:buChar char="•"/>
            </a:pPr>
            <a:r>
              <a:rPr sz="1250" b="1" i="0">
                <a:solidFill>
                  <a:srgbClr val="2B2118"/>
                </a:solidFill>
              </a:rPr>
              <a:t>Global</a:t>
            </a:r>
            <a:r>
              <a:rPr sz="1250" b="0" i="0">
                <a:solidFill>
                  <a:srgbClr val="2B2118"/>
                </a:solidFill>
              </a:rPr>
              <a:t> (all points) vs </a:t>
            </a:r>
            <a:r>
              <a:rPr sz="1250" b="1" i="0">
                <a:solidFill>
                  <a:srgbClr val="2B2118"/>
                </a:solidFill>
              </a:rPr>
              <a:t>local</a:t>
            </a:r>
            <a:r>
              <a:rPr sz="1250" b="0" i="0">
                <a:solidFill>
                  <a:srgbClr val="2B2118"/>
                </a:solidFill>
              </a:rPr>
              <a:t> (neighbourhood)</a:t>
            </a:r>
          </a:p>
          <a:p>
            <a:pPr marL="228600" indent="-228600">
              <a:spcAft>
                <a:spcPts val="100"/>
              </a:spcAft>
              <a:buFont typeface="Arial"/>
              <a:buChar char="•"/>
            </a:pPr>
            <a:r>
              <a:rPr sz="1250" b="1" i="0">
                <a:solidFill>
                  <a:srgbClr val="2B2118"/>
                </a:solidFill>
              </a:rPr>
              <a:t>Deterministic</a:t>
            </a:r>
            <a:r>
              <a:rPr sz="1250" b="0" i="0">
                <a:solidFill>
                  <a:srgbClr val="2B2118"/>
                </a:solidFill>
              </a:rPr>
              <a:t> (no error) vs </a:t>
            </a:r>
            <a:r>
              <a:rPr sz="1250" b="1" i="0">
                <a:solidFill>
                  <a:srgbClr val="2B2118"/>
                </a:solidFill>
              </a:rPr>
              <a:t>stochastic</a:t>
            </a:r>
            <a:r>
              <a:rPr sz="1250" b="0" i="0">
                <a:solidFill>
                  <a:srgbClr val="2B2118"/>
                </a:solidFill>
              </a:rPr>
              <a:t> (error map)</a:t>
            </a:r>
          </a:p>
        </p:txBody>
      </p:sp>
      <p:sp>
        <p:nvSpPr>
          <p:cNvPr id="22" name="TextBox 21"/>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Compiled from Oliver &amp; Webster (2014) Catena 113:56–69; Webster &amp; Oliver (2007) Geostatistics for Environmental Scientists; Sindhushree et al. (2025)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 general workflow for any interpolation</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417320"/>
            <a:ext cx="2194560" cy="91440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1. Data QC</a:t>
            </a:r>
          </a:p>
          <a:p>
            <a:pPr marL="0" indent="0" algn="ctr">
              <a:spcAft>
                <a:spcPts val="100"/>
              </a:spcAft>
              <a:buNone/>
            </a:pPr>
            <a:r>
              <a:rPr sz="1250" b="0" i="0">
                <a:solidFill>
                  <a:srgbClr val="2B2118"/>
                </a:solidFill>
              </a:rPr>
              <a:t>outliers, duplicates, clustering</a:t>
            </a:r>
          </a:p>
        </p:txBody>
      </p:sp>
      <p:cxnSp>
        <p:nvCxnSpPr>
          <p:cNvPr id="5" name="Connector 4"/>
          <p:cNvCxnSpPr/>
          <p:nvPr/>
        </p:nvCxnSpPr>
        <p:spPr>
          <a:xfrm>
            <a:off x="2743200" y="1874519"/>
            <a:ext cx="32004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063240" y="1417320"/>
            <a:ext cx="2194560" cy="91440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2. Explore (EDA)</a:t>
            </a:r>
          </a:p>
          <a:p>
            <a:pPr marL="0" indent="0" algn="ctr">
              <a:spcAft>
                <a:spcPts val="100"/>
              </a:spcAft>
              <a:buNone/>
            </a:pPr>
            <a:r>
              <a:rPr sz="1250" b="0" i="0">
                <a:solidFill>
                  <a:srgbClr val="2B2118"/>
                </a:solidFill>
              </a:rPr>
              <a:t>histogram, skew → log; trend?</a:t>
            </a:r>
          </a:p>
        </p:txBody>
      </p:sp>
      <p:cxnSp>
        <p:nvCxnSpPr>
          <p:cNvPr id="7" name="Connector 6"/>
          <p:cNvCxnSpPr/>
          <p:nvPr/>
        </p:nvCxnSpPr>
        <p:spPr>
          <a:xfrm>
            <a:off x="5257800" y="1874519"/>
            <a:ext cx="32004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577840" y="1417320"/>
            <a:ext cx="2194560" cy="91440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3. Choose method</a:t>
            </a:r>
          </a:p>
          <a:p>
            <a:pPr marL="0" indent="0" algn="ctr">
              <a:spcAft>
                <a:spcPts val="100"/>
              </a:spcAft>
              <a:buNone/>
            </a:pPr>
            <a:r>
              <a:rPr sz="1250" b="0" i="0">
                <a:solidFill>
                  <a:srgbClr val="FFFFFF"/>
                </a:solidFill>
              </a:rPr>
              <a:t>deterministic or geostatistical</a:t>
            </a:r>
          </a:p>
        </p:txBody>
      </p:sp>
      <p:sp>
        <p:nvSpPr>
          <p:cNvPr id="9" name="Rounded Rectangle 8"/>
          <p:cNvSpPr/>
          <p:nvPr/>
        </p:nvSpPr>
        <p:spPr>
          <a:xfrm>
            <a:off x="5806440" y="2788920"/>
            <a:ext cx="2560320" cy="960120"/>
          </a:xfrm>
          <a:prstGeom prst="roundRect">
            <a:avLst>
              <a:gd name="adj" fmla="val 9000"/>
            </a:avLst>
          </a:prstGeom>
          <a:solidFill>
            <a:srgbClr val="F3F0EB"/>
          </a:solidFill>
          <a:ln w="15875">
            <a:solidFill>
              <a:srgbClr val="8C5A2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Deterministic</a:t>
            </a:r>
          </a:p>
          <a:p>
            <a:pPr marL="0" indent="0" algn="ctr">
              <a:spcAft>
                <a:spcPts val="100"/>
              </a:spcAft>
              <a:buNone/>
            </a:pPr>
            <a:r>
              <a:rPr sz="1250" b="0" i="0">
                <a:solidFill>
                  <a:srgbClr val="2B2118"/>
                </a:solidFill>
              </a:rPr>
              <a:t>set power, neighbours, tension</a:t>
            </a:r>
          </a:p>
        </p:txBody>
      </p:sp>
      <p:sp>
        <p:nvSpPr>
          <p:cNvPr id="10" name="Rounded Rectangle 9"/>
          <p:cNvSpPr/>
          <p:nvPr/>
        </p:nvSpPr>
        <p:spPr>
          <a:xfrm>
            <a:off x="8732520" y="2788920"/>
            <a:ext cx="2880360" cy="960120"/>
          </a:xfrm>
          <a:prstGeom prst="roundRect">
            <a:avLst>
              <a:gd name="adj" fmla="val 9000"/>
            </a:avLst>
          </a:prstGeom>
          <a:solidFill>
            <a:srgbClr val="F3F0EB"/>
          </a:solidFill>
          <a:ln w="15875">
            <a:solidFill>
              <a:srgbClr val="2E7D7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Geostatistical</a:t>
            </a:r>
          </a:p>
          <a:p>
            <a:pPr marL="0" indent="0" algn="ctr">
              <a:spcAft>
                <a:spcPts val="100"/>
              </a:spcAft>
              <a:buNone/>
            </a:pPr>
            <a:r>
              <a:rPr sz="1250" b="0" i="0">
                <a:solidFill>
                  <a:srgbClr val="2B2118"/>
                </a:solidFill>
              </a:rPr>
              <a:t>experimental variogram → fit model</a:t>
            </a:r>
          </a:p>
        </p:txBody>
      </p:sp>
      <p:cxnSp>
        <p:nvCxnSpPr>
          <p:cNvPr id="11" name="Connector 10"/>
          <p:cNvCxnSpPr/>
          <p:nvPr/>
        </p:nvCxnSpPr>
        <p:spPr>
          <a:xfrm>
            <a:off x="6400800" y="2331720"/>
            <a:ext cx="548640" cy="45720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23760" y="2331720"/>
            <a:ext cx="2926080" cy="45720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06440" y="4114800"/>
            <a:ext cx="5806440" cy="73152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4. Predict on a regular grid</a:t>
            </a:r>
            <a:r>
              <a:rPr sz="1300" b="0" i="0">
                <a:solidFill>
                  <a:srgbClr val="FFFFFF"/>
                </a:solidFill>
              </a:rPr>
              <a:t>  (search neighbourhood: 7–25 points)</a:t>
            </a:r>
          </a:p>
        </p:txBody>
      </p:sp>
      <p:cxnSp>
        <p:nvCxnSpPr>
          <p:cNvPr id="14" name="Connector 13"/>
          <p:cNvCxnSpPr/>
          <p:nvPr/>
        </p:nvCxnSpPr>
        <p:spPr>
          <a:xfrm>
            <a:off x="7086600" y="3749039"/>
            <a:ext cx="0" cy="365761"/>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149840" y="3749039"/>
            <a:ext cx="0" cy="365761"/>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806440" y="5120640"/>
            <a:ext cx="2788920" cy="86868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5. Cross-validate</a:t>
            </a:r>
          </a:p>
          <a:p>
            <a:pPr marL="0" indent="0" algn="ctr">
              <a:spcAft>
                <a:spcPts val="100"/>
              </a:spcAft>
              <a:buNone/>
            </a:pPr>
            <a:r>
              <a:rPr sz="1250" b="0" i="0">
                <a:solidFill>
                  <a:srgbClr val="FFFFFF"/>
                </a:solidFill>
              </a:rPr>
              <a:t>ME ≈ 0, RMSE small, MSDR ≈ 1</a:t>
            </a:r>
          </a:p>
        </p:txBody>
      </p:sp>
      <p:sp>
        <p:nvSpPr>
          <p:cNvPr id="17" name="Rounded Rectangle 16"/>
          <p:cNvSpPr/>
          <p:nvPr/>
        </p:nvSpPr>
        <p:spPr>
          <a:xfrm>
            <a:off x="8823960" y="5120640"/>
            <a:ext cx="2788920" cy="868680"/>
          </a:xfrm>
          <a:prstGeom prst="roundRect">
            <a:avLst>
              <a:gd name="adj" fmla="val 9000"/>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6. Map</a:t>
            </a:r>
          </a:p>
          <a:p>
            <a:pPr marL="0" indent="0" algn="ctr">
              <a:spcAft>
                <a:spcPts val="100"/>
              </a:spcAft>
              <a:buNone/>
            </a:pPr>
            <a:r>
              <a:rPr sz="1250" b="0" i="0">
                <a:solidFill>
                  <a:srgbClr val="FFFFFF"/>
                </a:solidFill>
              </a:rPr>
              <a:t>back-transform; prediction + error</a:t>
            </a:r>
          </a:p>
        </p:txBody>
      </p:sp>
      <p:cxnSp>
        <p:nvCxnSpPr>
          <p:cNvPr id="18" name="Connector 17"/>
          <p:cNvCxnSpPr/>
          <p:nvPr/>
        </p:nvCxnSpPr>
        <p:spPr>
          <a:xfrm flipH="1">
            <a:off x="7223760" y="4846320"/>
            <a:ext cx="1490472" cy="27432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95360" y="5550408"/>
            <a:ext cx="228600"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5440680" y="5550408"/>
            <a:ext cx="365760" cy="0"/>
          </a:xfrm>
          <a:prstGeom prst="line">
            <a:avLst/>
          </a:prstGeom>
          <a:ln w="22225">
            <a:solidFill>
              <a:srgbClr val="A44A3F"/>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440680" y="2606040"/>
            <a:ext cx="0" cy="2944368"/>
          </a:xfrm>
          <a:prstGeom prst="line">
            <a:avLst/>
          </a:prstGeom>
          <a:ln w="22225">
            <a:solidFill>
              <a:srgbClr val="A44A3F"/>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440680" y="2350008"/>
            <a:ext cx="548640" cy="256032"/>
          </a:xfrm>
          <a:prstGeom prst="line">
            <a:avLst/>
          </a:prstGeom>
          <a:ln w="22225">
            <a:solidFill>
              <a:srgbClr val="A44A3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566160"/>
            <a:ext cx="1737360" cy="914400"/>
          </a:xfrm>
          <a:prstGeom prst="rect">
            <a:avLst/>
          </a:prstGeom>
          <a:noFill/>
        </p:spPr>
        <p:txBody>
          <a:bodyPr wrap="square" lIns="27432" rIns="27432" tIns="27432" bIns="27432" anchor="t">
            <a:spAutoFit/>
          </a:bodyPr>
          <a:lstStyle/>
          <a:p>
            <a:pPr marL="0" indent="0" algn="r">
              <a:spcAft>
                <a:spcPts val="400"/>
              </a:spcAft>
              <a:buNone/>
            </a:pPr>
            <a:r>
              <a:rPr sz="1100" b="0" i="1">
                <a:solidFill>
                  <a:srgbClr val="A44A3F"/>
                </a:solidFill>
              </a:rPr>
              <a:t>poor CV → change method / parameters</a:t>
            </a:r>
          </a:p>
        </p:txBody>
      </p:sp>
      <p:sp>
        <p:nvSpPr>
          <p:cNvPr id="24" name="Rounded Rectangle 23"/>
          <p:cNvSpPr/>
          <p:nvPr/>
        </p:nvSpPr>
        <p:spPr>
          <a:xfrm>
            <a:off x="548640" y="2788920"/>
            <a:ext cx="2880360" cy="3200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2852928"/>
            <a:ext cx="2606040" cy="3090672"/>
          </a:xfrm>
          <a:prstGeom prst="rect">
            <a:avLst/>
          </a:prstGeom>
          <a:noFill/>
        </p:spPr>
        <p:txBody>
          <a:bodyPr wrap="square" lIns="27432" rIns="27432" tIns="27432" bIns="27432" anchor="t">
            <a:spAutoFit/>
          </a:bodyPr>
          <a:lstStyle/>
          <a:p>
            <a:pPr marL="0" indent="0">
              <a:spcAft>
                <a:spcPts val="400"/>
              </a:spcAft>
              <a:buNone/>
            </a:pPr>
            <a:r>
              <a:rPr sz="1400" b="1" i="0">
                <a:solidFill>
                  <a:srgbClr val="8C5A2B"/>
                </a:solidFill>
              </a:rPr>
              <a:t>Cross-validation metrics</a:t>
            </a:r>
          </a:p>
          <a:p>
            <a:pPr marL="228600" indent="-228600">
              <a:spcAft>
                <a:spcPts val="400"/>
              </a:spcAft>
              <a:buFont typeface="Arial"/>
              <a:buChar char="•"/>
            </a:pPr>
            <a:r>
              <a:rPr sz="1250" b="1" i="0">
                <a:solidFill>
                  <a:srgbClr val="2B2118"/>
                </a:solidFill>
              </a:rPr>
              <a:t>ME</a:t>
            </a:r>
            <a:r>
              <a:rPr sz="1250" b="0" i="0">
                <a:solidFill>
                  <a:srgbClr val="2B2118"/>
                </a:solidFill>
              </a:rPr>
              <a:t> = mean(Ẑ − z): bias</a:t>
            </a:r>
          </a:p>
          <a:p>
            <a:pPr marL="228600" indent="-228600">
              <a:spcAft>
                <a:spcPts val="400"/>
              </a:spcAft>
              <a:buFont typeface="Arial"/>
              <a:buChar char="•"/>
            </a:pPr>
            <a:r>
              <a:rPr sz="1250" b="1" i="0">
                <a:solidFill>
                  <a:srgbClr val="2B2118"/>
                </a:solidFill>
              </a:rPr>
              <a:t>RMSE</a:t>
            </a:r>
            <a:r>
              <a:rPr sz="1250" b="0" i="0">
                <a:solidFill>
                  <a:srgbClr val="2B2118"/>
                </a:solidFill>
              </a:rPr>
              <a:t> = √mean(Ẑ − z)²: accuracy</a:t>
            </a:r>
          </a:p>
          <a:p>
            <a:pPr marL="228600" indent="-228600">
              <a:spcAft>
                <a:spcPts val="400"/>
              </a:spcAft>
              <a:buFont typeface="Arial"/>
              <a:buChar char="•"/>
            </a:pPr>
            <a:r>
              <a:rPr sz="1250" b="1" i="0">
                <a:solidFill>
                  <a:srgbClr val="2B2118"/>
                </a:solidFill>
              </a:rPr>
              <a:t>MSDR</a:t>
            </a:r>
            <a:r>
              <a:rPr sz="1250" b="0" i="0">
                <a:solidFill>
                  <a:srgbClr val="2B2118"/>
                </a:solidFill>
              </a:rPr>
              <a:t> = mean[(Ẑ − z)²/σ²</a:t>
            </a:r>
            <a:r>
              <a:rPr sz="1250" b="0" i="0" baseline="-25000">
                <a:solidFill>
                  <a:srgbClr val="2B2118"/>
                </a:solidFill>
              </a:rPr>
              <a:t>K</a:t>
            </a:r>
            <a:r>
              <a:rPr sz="1250" b="0" i="0">
                <a:solidFill>
                  <a:srgbClr val="2B2118"/>
                </a:solidFill>
              </a:rPr>
              <a:t>]: kriging variance correct if ≈ 1</a:t>
            </a:r>
          </a:p>
          <a:p>
            <a:pPr marL="228600" indent="-228600">
              <a:spcAft>
                <a:spcPts val="400"/>
              </a:spcAft>
              <a:buFont typeface="Arial"/>
              <a:buChar char="•"/>
            </a:pPr>
            <a:r>
              <a:rPr sz="1250" b="0" i="0">
                <a:solidFill>
                  <a:srgbClr val="2B2118"/>
                </a:solidFill>
              </a:rPr>
              <a:t>Also R², bias, RPD</a:t>
            </a:r>
          </a:p>
        </p:txBody>
      </p:sp>
      <p:sp>
        <p:nvSpPr>
          <p:cNvPr id="26" name="TextBox 25"/>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Workflow compiled from Oliver &amp; Webster (2014) Catena 113:56–69; Webster &amp; Oliver (2007) Geostatistics for Environmental Scientists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Thiessen polygons and nearest-neighbour interpolation</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6766560" cy="329184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_voronoi.png"/>
          <p:cNvPicPr>
            <a:picLocks noChangeAspect="1"/>
          </p:cNvPicPr>
          <p:nvPr/>
        </p:nvPicPr>
        <p:blipFill>
          <a:blip r:embed="rId3"/>
          <a:stretch>
            <a:fillRect/>
          </a:stretch>
        </p:blipFill>
        <p:spPr>
          <a:xfrm>
            <a:off x="629107" y="1399032"/>
            <a:ext cx="6605625" cy="3145536"/>
          </a:xfrm>
          <a:prstGeom prst="rect">
            <a:avLst/>
          </a:prstGeom>
        </p:spPr>
      </p:pic>
      <p:sp>
        <p:nvSpPr>
          <p:cNvPr id="6" name="TextBox 5"/>
          <p:cNvSpPr txBox="1"/>
          <p:nvPr/>
        </p:nvSpPr>
        <p:spPr>
          <a:xfrm>
            <a:off x="548640" y="4654296"/>
            <a:ext cx="676656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Voronoi tessellation (left) and the resulting nearest-neighbour map (right)</a:t>
            </a:r>
          </a:p>
        </p:txBody>
      </p:sp>
      <p:sp>
        <p:nvSpPr>
          <p:cNvPr id="7" name="Rounded Rectangle 6"/>
          <p:cNvSpPr/>
          <p:nvPr/>
        </p:nvSpPr>
        <p:spPr>
          <a:xfrm>
            <a:off x="7589520" y="1325880"/>
            <a:ext cx="4023360" cy="6858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325880"/>
            <a:ext cx="3840480" cy="685800"/>
          </a:xfrm>
          <a:prstGeom prst="rect">
            <a:avLst/>
          </a:prstGeom>
          <a:noFill/>
        </p:spPr>
        <p:txBody>
          <a:bodyPr wrap="square" lIns="27432" rIns="27432" tIns="27432" bIns="27432" anchor="ctr">
            <a:spAutoFit/>
          </a:bodyPr>
          <a:lstStyle/>
          <a:p>
            <a:pPr marL="0" indent="0" algn="ctr">
              <a:spcAft>
                <a:spcPts val="400"/>
              </a:spcAft>
              <a:buNone/>
            </a:pPr>
            <a:r>
              <a:rPr sz="1800" b="0" i="0">
                <a:solidFill>
                  <a:srgbClr val="2B2118"/>
                </a:solidFill>
                <a:latin typeface="Cambria"/>
              </a:rPr>
              <a:t>Ẑ(x</a:t>
            </a:r>
            <a:r>
              <a:rPr sz="1800" b="0" i="0" baseline="-25000">
                <a:solidFill>
                  <a:srgbClr val="2B2118"/>
                </a:solidFill>
              </a:rPr>
              <a:t>0</a:t>
            </a:r>
            <a:r>
              <a:rPr sz="1800" b="0" i="0">
                <a:solidFill>
                  <a:srgbClr val="2B2118"/>
                </a:solidFill>
              </a:rPr>
              <a:t>) = z(x</a:t>
            </a:r>
            <a:r>
              <a:rPr sz="1800" b="0" i="0" baseline="-25000">
                <a:solidFill>
                  <a:srgbClr val="2B2118"/>
                </a:solidFill>
              </a:rPr>
              <a:t>nearest</a:t>
            </a:r>
            <a:r>
              <a:rPr sz="1800" b="0" i="0">
                <a:solidFill>
                  <a:srgbClr val="2B2118"/>
                </a:solidFill>
              </a:rPr>
              <a:t>)</a:t>
            </a:r>
          </a:p>
        </p:txBody>
      </p:sp>
      <p:sp>
        <p:nvSpPr>
          <p:cNvPr id="9" name="TextBox 8"/>
          <p:cNvSpPr txBox="1"/>
          <p:nvPr/>
        </p:nvSpPr>
        <p:spPr>
          <a:xfrm>
            <a:off x="7589520" y="2103120"/>
            <a:ext cx="4023360" cy="365760"/>
          </a:xfrm>
          <a:prstGeom prst="rect">
            <a:avLst/>
          </a:prstGeom>
          <a:noFill/>
        </p:spPr>
        <p:txBody>
          <a:bodyPr wrap="square" lIns="27432" rIns="27432" tIns="27432" bIns="27432" anchor="t">
            <a:spAutoFit/>
          </a:bodyPr>
          <a:lstStyle/>
          <a:p>
            <a:pPr marL="0" indent="0">
              <a:spcAft>
                <a:spcPts val="400"/>
              </a:spcAft>
              <a:buNone/>
            </a:pPr>
            <a:r>
              <a:rPr sz="1250" b="0" i="0">
                <a:solidFill>
                  <a:srgbClr val="4A3B2E"/>
                </a:solidFill>
              </a:rPr>
              <a:t>λ = 1 for the nearest point, 0 for all others</a:t>
            </a:r>
          </a:p>
        </p:txBody>
      </p:sp>
      <p:sp>
        <p:nvSpPr>
          <p:cNvPr id="10" name="Oval 9"/>
          <p:cNvSpPr/>
          <p:nvPr/>
        </p:nvSpPr>
        <p:spPr>
          <a:xfrm>
            <a:off x="7589520" y="2606039"/>
            <a:ext cx="365760" cy="365760"/>
          </a:xfrm>
          <a:prstGeom prst="ellipse">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1</a:t>
            </a:r>
          </a:p>
        </p:txBody>
      </p:sp>
      <p:sp>
        <p:nvSpPr>
          <p:cNvPr id="11" name="TextBox 10"/>
          <p:cNvSpPr txBox="1"/>
          <p:nvPr/>
        </p:nvSpPr>
        <p:spPr>
          <a:xfrm>
            <a:off x="8046720" y="2560320"/>
            <a:ext cx="3566160" cy="502920"/>
          </a:xfrm>
          <a:prstGeom prst="rect">
            <a:avLst/>
          </a:prstGeom>
          <a:noFill/>
        </p:spPr>
        <p:txBody>
          <a:bodyPr wrap="square" lIns="27432" rIns="27432" tIns="27432" bIns="27432" anchor="ctr">
            <a:spAutoFit/>
          </a:bodyPr>
          <a:lstStyle/>
          <a:p>
            <a:pPr marL="0" indent="0">
              <a:spcAft>
                <a:spcPts val="400"/>
              </a:spcAft>
              <a:buNone/>
            </a:pPr>
            <a:r>
              <a:rPr sz="1250" b="0" i="0">
                <a:solidFill>
                  <a:srgbClr val="2B2118"/>
                </a:solidFill>
              </a:rPr>
              <a:t>Join neighbouring points (Delaunay triangles)</a:t>
            </a:r>
          </a:p>
        </p:txBody>
      </p:sp>
      <p:sp>
        <p:nvSpPr>
          <p:cNvPr id="12" name="Oval 11"/>
          <p:cNvSpPr/>
          <p:nvPr/>
        </p:nvSpPr>
        <p:spPr>
          <a:xfrm>
            <a:off x="7589520" y="3172968"/>
            <a:ext cx="365760" cy="365760"/>
          </a:xfrm>
          <a:prstGeom prst="ellipse">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2</a:t>
            </a:r>
          </a:p>
        </p:txBody>
      </p:sp>
      <p:sp>
        <p:nvSpPr>
          <p:cNvPr id="13" name="TextBox 12"/>
          <p:cNvSpPr txBox="1"/>
          <p:nvPr/>
        </p:nvSpPr>
        <p:spPr>
          <a:xfrm>
            <a:off x="8046720" y="3127248"/>
            <a:ext cx="3566160" cy="502920"/>
          </a:xfrm>
          <a:prstGeom prst="rect">
            <a:avLst/>
          </a:prstGeom>
          <a:noFill/>
        </p:spPr>
        <p:txBody>
          <a:bodyPr wrap="square" lIns="27432" rIns="27432" tIns="27432" bIns="27432" anchor="ctr">
            <a:spAutoFit/>
          </a:bodyPr>
          <a:lstStyle/>
          <a:p>
            <a:pPr marL="0" indent="0">
              <a:spcAft>
                <a:spcPts val="400"/>
              </a:spcAft>
              <a:buNone/>
            </a:pPr>
            <a:r>
              <a:rPr sz="1250" b="0" i="0">
                <a:solidFill>
                  <a:srgbClr val="2B2118"/>
                </a:solidFill>
              </a:rPr>
              <a:t>Draw perpendicular bisectors → polygons</a:t>
            </a:r>
          </a:p>
        </p:txBody>
      </p:sp>
      <p:sp>
        <p:nvSpPr>
          <p:cNvPr id="14" name="Oval 13"/>
          <p:cNvSpPr/>
          <p:nvPr/>
        </p:nvSpPr>
        <p:spPr>
          <a:xfrm>
            <a:off x="7589520" y="3739896"/>
            <a:ext cx="365760" cy="365760"/>
          </a:xfrm>
          <a:prstGeom prst="ellipse">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marL="0" indent="0">
              <a:spcAft>
                <a:spcPts val="400"/>
              </a:spcAft>
              <a:buNone/>
            </a:pPr>
            <a:r>
              <a:rPr sz="1300" b="1" i="0">
                <a:solidFill>
                  <a:srgbClr val="FFFFFF"/>
                </a:solidFill>
              </a:rPr>
              <a:t>3</a:t>
            </a:r>
          </a:p>
        </p:txBody>
      </p:sp>
      <p:sp>
        <p:nvSpPr>
          <p:cNvPr id="15" name="TextBox 14"/>
          <p:cNvSpPr txBox="1"/>
          <p:nvPr/>
        </p:nvSpPr>
        <p:spPr>
          <a:xfrm>
            <a:off x="8046720" y="3694176"/>
            <a:ext cx="3566160" cy="502920"/>
          </a:xfrm>
          <a:prstGeom prst="rect">
            <a:avLst/>
          </a:prstGeom>
          <a:noFill/>
        </p:spPr>
        <p:txBody>
          <a:bodyPr wrap="square" lIns="27432" rIns="27432" tIns="27432" bIns="27432" anchor="ctr">
            <a:spAutoFit/>
          </a:bodyPr>
          <a:lstStyle/>
          <a:p>
            <a:pPr marL="0" indent="0">
              <a:spcAft>
                <a:spcPts val="400"/>
              </a:spcAft>
              <a:buNone/>
            </a:pPr>
            <a:r>
              <a:rPr sz="1250" b="0" i="0">
                <a:solidFill>
                  <a:srgbClr val="2B2118"/>
                </a:solidFill>
              </a:rPr>
              <a:t>Assign each polygon its point's value</a:t>
            </a:r>
          </a:p>
        </p:txBody>
      </p:sp>
      <p:sp>
        <p:nvSpPr>
          <p:cNvPr id="16" name="Rounded Rectangle 15"/>
          <p:cNvSpPr/>
          <p:nvPr/>
        </p:nvSpPr>
        <p:spPr>
          <a:xfrm>
            <a:off x="548640" y="5120640"/>
            <a:ext cx="1106424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157216"/>
            <a:ext cx="10789920" cy="841248"/>
          </a:xfrm>
          <a:prstGeom prst="rect">
            <a:avLst/>
          </a:prstGeom>
          <a:noFill/>
        </p:spPr>
        <p:txBody>
          <a:bodyPr wrap="square" lIns="27432" rIns="27432" tIns="27432" bIns="27432" anchor="ctr">
            <a:spAutoFit/>
          </a:bodyPr>
          <a:lstStyle/>
          <a:p>
            <a:pPr marL="0" indent="0">
              <a:spcAft>
                <a:spcPts val="400"/>
              </a:spcAft>
              <a:buNone/>
            </a:pPr>
            <a:r>
              <a:rPr sz="1300" b="1" i="0">
                <a:solidFill>
                  <a:srgbClr val="2B2118"/>
                </a:solidFill>
              </a:rPr>
              <a:t>+</a:t>
            </a:r>
            <a:r>
              <a:rPr sz="1300" b="0" i="0">
                <a:solidFill>
                  <a:srgbClr val="2B2118"/>
                </a:solidFill>
              </a:rPr>
              <a:t> exact, fast, no parameters; good for categorical data and </a:t>
            </a:r>
            <a:r>
              <a:rPr sz="1300" b="1" i="0">
                <a:solidFill>
                  <a:srgbClr val="2B2118"/>
                </a:solidFill>
              </a:rPr>
              <a:t>areal rainfall</a:t>
            </a:r>
            <a:r>
              <a:rPr sz="1300" b="0" i="0">
                <a:solidFill>
                  <a:srgbClr val="2B2118"/>
                </a:solidFill>
              </a:rPr>
              <a:t> (gauge value × polygon area).   </a:t>
            </a:r>
            <a:r>
              <a:rPr sz="1300" b="1" i="0">
                <a:solidFill>
                  <a:srgbClr val="2B2118"/>
                </a:solidFill>
              </a:rPr>
              <a:t>−</a:t>
            </a:r>
            <a:r>
              <a:rPr sz="1300" b="0" i="0">
                <a:solidFill>
                  <a:srgbClr val="2B2118"/>
                </a:solidFill>
              </a:rPr>
              <a:t> abrupt jumps at edges, ignores all but one point, no error estimate</a:t>
            </a:r>
          </a:p>
        </p:txBody>
      </p:sp>
      <p:sp>
        <p:nvSpPr>
          <p:cNvPr id="18" name="Rounded Rectangle 17"/>
          <p:cNvSpPr/>
          <p:nvPr/>
        </p:nvSpPr>
        <p:spPr>
          <a:xfrm>
            <a:off x="7589520" y="4343400"/>
            <a:ext cx="4023360" cy="6400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26679" y="4370832"/>
            <a:ext cx="3749039" cy="585216"/>
          </a:xfrm>
          <a:prstGeom prst="rect">
            <a:avLst/>
          </a:prstGeom>
          <a:noFill/>
        </p:spPr>
        <p:txBody>
          <a:bodyPr wrap="square" lIns="27432" rIns="27432" tIns="27432" bIns="27432" anchor="ctr">
            <a:spAutoFit/>
          </a:bodyPr>
          <a:lstStyle/>
          <a:p>
            <a:pPr marL="0" indent="0">
              <a:spcAft>
                <a:spcPts val="400"/>
              </a:spcAft>
              <a:buNone/>
            </a:pPr>
            <a:r>
              <a:rPr sz="1300" b="0" i="0">
                <a:solidFill>
                  <a:srgbClr val="2B2118"/>
                </a:solidFill>
              </a:rPr>
              <a:t>LOOCV RMSE here: </a:t>
            </a:r>
            <a:r>
              <a:rPr sz="1300" b="1" i="0">
                <a:solidFill>
                  <a:srgbClr val="2B2118"/>
                </a:solidFill>
              </a:rPr>
              <a:t>0.184</a:t>
            </a:r>
          </a:p>
        </p:txBody>
      </p:sp>
      <p:sp>
        <p:nvSpPr>
          <p:cNvPr id="20" name="TextBox 19"/>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method after Thiessen (1911)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Inverse distance weighting (IDW)</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11064240" cy="256032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_idw.png"/>
          <p:cNvPicPr>
            <a:picLocks noChangeAspect="1"/>
          </p:cNvPicPr>
          <p:nvPr/>
        </p:nvPicPr>
        <p:blipFill>
          <a:blip r:embed="rId3"/>
          <a:stretch>
            <a:fillRect/>
          </a:stretch>
        </p:blipFill>
        <p:spPr>
          <a:xfrm>
            <a:off x="2340250" y="1399032"/>
            <a:ext cx="7481019" cy="2414015"/>
          </a:xfrm>
          <a:prstGeom prst="rect">
            <a:avLst/>
          </a:prstGeom>
        </p:spPr>
      </p:pic>
      <p:sp>
        <p:nvSpPr>
          <p:cNvPr id="6" name="TextBox 5"/>
          <p:cNvSpPr txBox="1"/>
          <p:nvPr/>
        </p:nvSpPr>
        <p:spPr>
          <a:xfrm>
            <a:off x="548640" y="3922776"/>
            <a:ext cx="1106424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larger power → more local, 'bull's-eye' surface</a:t>
            </a:r>
          </a:p>
        </p:txBody>
      </p:sp>
      <p:sp>
        <p:nvSpPr>
          <p:cNvPr id="7" name="Rounded Rectangle 6"/>
          <p:cNvSpPr/>
          <p:nvPr/>
        </p:nvSpPr>
        <p:spPr>
          <a:xfrm>
            <a:off x="548640" y="4434840"/>
            <a:ext cx="420624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434840"/>
            <a:ext cx="4023359" cy="914400"/>
          </a:xfrm>
          <a:prstGeom prst="rect">
            <a:avLst/>
          </a:prstGeom>
          <a:noFill/>
        </p:spPr>
        <p:txBody>
          <a:bodyPr wrap="square" lIns="27432" rIns="27432" tIns="27432" bIns="27432" anchor="ctr">
            <a:spAutoFit/>
          </a:bodyPr>
          <a:lstStyle/>
          <a:p>
            <a:pPr marL="0" indent="0" algn="ctr">
              <a:spcAft>
                <a:spcPts val="400"/>
              </a:spcAft>
              <a:buNone/>
            </a:pPr>
            <a:r>
              <a:rPr sz="1800" b="0" i="0">
                <a:solidFill>
                  <a:srgbClr val="2B2118"/>
                </a:solidFill>
                <a:latin typeface="Cambria"/>
              </a:rPr>
              <a:t>Ẑ(x</a:t>
            </a:r>
            <a:r>
              <a:rPr sz="1800" b="0" i="0" baseline="-25000">
                <a:solidFill>
                  <a:srgbClr val="2B2118"/>
                </a:solidFill>
              </a:rPr>
              <a:t>0</a:t>
            </a:r>
            <a:r>
              <a:rPr sz="1800" b="0" i="0">
                <a:solidFill>
                  <a:srgbClr val="2B2118"/>
                </a:solidFill>
              </a:rPr>
              <a:t>) = Σ z</a:t>
            </a:r>
            <a:r>
              <a:rPr sz="1800" b="0" i="0" baseline="-25000">
                <a:solidFill>
                  <a:srgbClr val="2B2118"/>
                </a:solidFill>
              </a:rPr>
              <a:t>i</a:t>
            </a:r>
            <a:r>
              <a:rPr sz="1800" b="0" i="0">
                <a:solidFill>
                  <a:srgbClr val="2B2118"/>
                </a:solidFill>
              </a:rPr>
              <a:t> d</a:t>
            </a:r>
            <a:r>
              <a:rPr sz="1800" b="0" i="0" baseline="-25000">
                <a:solidFill>
                  <a:srgbClr val="2B2118"/>
                </a:solidFill>
              </a:rPr>
              <a:t>i</a:t>
            </a:r>
            <a:r>
              <a:rPr sz="1800" b="0" i="0" baseline="30000">
                <a:solidFill>
                  <a:srgbClr val="2B2118"/>
                </a:solidFill>
              </a:rPr>
              <a:t>−p</a:t>
            </a:r>
            <a:r>
              <a:rPr sz="1800" b="0" i="0">
                <a:solidFill>
                  <a:srgbClr val="2B2118"/>
                </a:solidFill>
              </a:rPr>
              <a:t> / Σ d</a:t>
            </a:r>
            <a:r>
              <a:rPr sz="1800" b="0" i="0" baseline="-25000">
                <a:solidFill>
                  <a:srgbClr val="2B2118"/>
                </a:solidFill>
              </a:rPr>
              <a:t>i</a:t>
            </a:r>
            <a:r>
              <a:rPr sz="1800" b="0" i="0" baseline="30000">
                <a:solidFill>
                  <a:srgbClr val="2B2118"/>
                </a:solidFill>
              </a:rPr>
              <a:t>−p</a:t>
            </a:r>
          </a:p>
        </p:txBody>
      </p:sp>
      <p:sp>
        <p:nvSpPr>
          <p:cNvPr id="9" name="TextBox 8"/>
          <p:cNvSpPr txBox="1"/>
          <p:nvPr/>
        </p:nvSpPr>
        <p:spPr>
          <a:xfrm>
            <a:off x="548640" y="5394960"/>
            <a:ext cx="4206240" cy="640080"/>
          </a:xfrm>
          <a:prstGeom prst="rect">
            <a:avLst/>
          </a:prstGeom>
          <a:noFill/>
        </p:spPr>
        <p:txBody>
          <a:bodyPr wrap="square" lIns="27432" rIns="27432" tIns="27432" bIns="27432" anchor="t">
            <a:spAutoFit/>
          </a:bodyPr>
          <a:lstStyle/>
          <a:p>
            <a:pPr marL="0" indent="0">
              <a:spcAft>
                <a:spcPts val="400"/>
              </a:spcAft>
              <a:buNone/>
            </a:pPr>
            <a:r>
              <a:rPr sz="1250" b="0" i="0">
                <a:solidFill>
                  <a:srgbClr val="4A3B2E"/>
                </a:solidFill>
              </a:rPr>
              <a:t>d</a:t>
            </a:r>
            <a:r>
              <a:rPr sz="1250" b="0" i="0" baseline="-25000">
                <a:solidFill>
                  <a:srgbClr val="4A3B2E"/>
                </a:solidFill>
              </a:rPr>
              <a:t>i</a:t>
            </a:r>
            <a:r>
              <a:rPr sz="1250" b="0" i="0">
                <a:solidFill>
                  <a:srgbClr val="4A3B2E"/>
                </a:solidFill>
              </a:rPr>
              <a:t> = distance to point i;  p = power (usually 2)</a:t>
            </a:r>
          </a:p>
        </p:txBody>
      </p:sp>
      <p:sp>
        <p:nvSpPr>
          <p:cNvPr id="10" name="Rounded Rectangle 9"/>
          <p:cNvSpPr/>
          <p:nvPr/>
        </p:nvSpPr>
        <p:spPr>
          <a:xfrm>
            <a:off x="5029200" y="4434840"/>
            <a:ext cx="1463040" cy="86868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00" b="0" i="0">
                <a:solidFill>
                  <a:srgbClr val="2B2118"/>
                </a:solidFill>
              </a:rPr>
              <a:t>Search neighbours (k or radius)</a:t>
            </a:r>
          </a:p>
        </p:txBody>
      </p:sp>
      <p:cxnSp>
        <p:nvCxnSpPr>
          <p:cNvPr id="11" name="Connector 10"/>
          <p:cNvCxnSpPr/>
          <p:nvPr/>
        </p:nvCxnSpPr>
        <p:spPr>
          <a:xfrm>
            <a:off x="6492240" y="4864608"/>
            <a:ext cx="201168"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693408" y="4434840"/>
            <a:ext cx="1463040" cy="86868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00" b="0" i="0">
                <a:solidFill>
                  <a:srgbClr val="2B2118"/>
                </a:solidFill>
              </a:rPr>
              <a:t>Distances d</a:t>
            </a:r>
            <a:r>
              <a:rPr sz="1200" b="0" i="0" baseline="-25000">
                <a:solidFill>
                  <a:srgbClr val="2B2118"/>
                </a:solidFill>
              </a:rPr>
              <a:t>i</a:t>
            </a:r>
          </a:p>
        </p:txBody>
      </p:sp>
      <p:cxnSp>
        <p:nvCxnSpPr>
          <p:cNvPr id="13" name="Connector 12"/>
          <p:cNvCxnSpPr/>
          <p:nvPr/>
        </p:nvCxnSpPr>
        <p:spPr>
          <a:xfrm>
            <a:off x="8156448" y="4864608"/>
            <a:ext cx="201168"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357616" y="4434840"/>
            <a:ext cx="1463040" cy="86868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00" b="0" i="0">
                <a:solidFill>
                  <a:srgbClr val="FFFFFF"/>
                </a:solidFill>
              </a:rPr>
              <a:t>Weights d</a:t>
            </a:r>
            <a:r>
              <a:rPr sz="1200" b="0" i="0" baseline="-25000">
                <a:solidFill>
                  <a:srgbClr val="FFFFFF"/>
                </a:solidFill>
              </a:rPr>
              <a:t>i</a:t>
            </a:r>
            <a:r>
              <a:rPr sz="1200" b="0" i="0" baseline="30000">
                <a:solidFill>
                  <a:srgbClr val="FFFFFF"/>
                </a:solidFill>
              </a:rPr>
              <a:t>−p</a:t>
            </a:r>
            <a:r>
              <a:rPr sz="1200" b="0" i="0">
                <a:solidFill>
                  <a:srgbClr val="FFFFFF"/>
                </a:solidFill>
              </a:rPr>
              <a:t>, normalise</a:t>
            </a:r>
          </a:p>
        </p:txBody>
      </p:sp>
      <p:cxnSp>
        <p:nvCxnSpPr>
          <p:cNvPr id="15" name="Connector 14"/>
          <p:cNvCxnSpPr/>
          <p:nvPr/>
        </p:nvCxnSpPr>
        <p:spPr>
          <a:xfrm>
            <a:off x="9820656" y="4864608"/>
            <a:ext cx="201168" cy="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021824" y="4434840"/>
            <a:ext cx="1463040" cy="86868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00" b="0" i="0">
                <a:solidFill>
                  <a:srgbClr val="FFFFFF"/>
                </a:solidFill>
              </a:rPr>
              <a:t>Weighted average</a:t>
            </a:r>
          </a:p>
        </p:txBody>
      </p:sp>
      <p:sp>
        <p:nvSpPr>
          <p:cNvPr id="17" name="TextBox 16"/>
          <p:cNvSpPr txBox="1"/>
          <p:nvPr/>
        </p:nvSpPr>
        <p:spPr>
          <a:xfrm>
            <a:off x="5029200" y="5394960"/>
            <a:ext cx="6583680" cy="685800"/>
          </a:xfrm>
          <a:prstGeom prst="rect">
            <a:avLst/>
          </a:prstGeom>
          <a:noFill/>
        </p:spPr>
        <p:txBody>
          <a:bodyPr wrap="square" lIns="27432" rIns="27432" tIns="27432" bIns="27432" anchor="t">
            <a:spAutoFit/>
          </a:bodyPr>
          <a:lstStyle/>
          <a:p>
            <a:pPr marL="0" indent="0">
              <a:spcAft>
                <a:spcPts val="400"/>
              </a:spcAft>
              <a:buNone/>
            </a:pPr>
            <a:r>
              <a:rPr sz="1250" b="1" i="0">
                <a:solidFill>
                  <a:srgbClr val="2B2118"/>
                </a:solidFill>
              </a:rPr>
              <a:t>+</a:t>
            </a:r>
            <a:r>
              <a:rPr sz="1250" b="0" i="0">
                <a:solidFill>
                  <a:srgbClr val="2B2118"/>
                </a:solidFill>
              </a:rPr>
              <a:t> exact, simple, few assumptions.  </a:t>
            </a:r>
            <a:r>
              <a:rPr sz="1250" b="1" i="0">
                <a:solidFill>
                  <a:srgbClr val="2B2118"/>
                </a:solidFill>
              </a:rPr>
              <a:t>−</a:t>
            </a:r>
            <a:r>
              <a:rPr sz="1250" b="0" i="0">
                <a:solidFill>
                  <a:srgbClr val="2B2118"/>
                </a:solidFill>
              </a:rPr>
              <a:t> bull's-eyes; no extrapolation beyond data range; ignores clustering and anisotropy; no error map. LOOCV RMSE (p = 2): </a:t>
            </a:r>
            <a:r>
              <a:rPr sz="1250" b="1" i="0">
                <a:solidFill>
                  <a:srgbClr val="2B2118"/>
                </a:solidFill>
              </a:rPr>
              <a:t>0.203</a:t>
            </a:r>
          </a:p>
        </p:txBody>
      </p:sp>
      <p:sp>
        <p:nvSpPr>
          <p:cNvPr id="18" name="TextBox 17"/>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IDW after Shepard (1968)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Splines and radial basis functions</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6766560" cy="329184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_spline.png"/>
          <p:cNvPicPr>
            <a:picLocks noChangeAspect="1"/>
          </p:cNvPicPr>
          <p:nvPr/>
        </p:nvPicPr>
        <p:blipFill>
          <a:blip r:embed="rId3"/>
          <a:stretch>
            <a:fillRect/>
          </a:stretch>
        </p:blipFill>
        <p:spPr>
          <a:xfrm>
            <a:off x="629107" y="1399032"/>
            <a:ext cx="6605625" cy="3145536"/>
          </a:xfrm>
          <a:prstGeom prst="rect">
            <a:avLst/>
          </a:prstGeom>
        </p:spPr>
      </p:pic>
      <p:sp>
        <p:nvSpPr>
          <p:cNvPr id="6" name="TextBox 5"/>
          <p:cNvSpPr txBox="1"/>
          <p:nvPr/>
        </p:nvSpPr>
        <p:spPr>
          <a:xfrm>
            <a:off x="548640" y="4654296"/>
            <a:ext cx="676656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exact thin-plate spline vs smoothing spline</a:t>
            </a:r>
          </a:p>
        </p:txBody>
      </p:sp>
      <p:sp>
        <p:nvSpPr>
          <p:cNvPr id="7" name="Rounded Rectangle 6"/>
          <p:cNvSpPr/>
          <p:nvPr/>
        </p:nvSpPr>
        <p:spPr>
          <a:xfrm>
            <a:off x="7589520" y="1325880"/>
            <a:ext cx="4023360" cy="9601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325880"/>
            <a:ext cx="3840480" cy="960120"/>
          </a:xfrm>
          <a:prstGeom prst="rect">
            <a:avLst/>
          </a:prstGeom>
          <a:noFill/>
        </p:spPr>
        <p:txBody>
          <a:bodyPr wrap="square" lIns="27432" rIns="27432" tIns="27432" bIns="27432" anchor="ctr">
            <a:spAutoFit/>
          </a:bodyPr>
          <a:lstStyle/>
          <a:p>
            <a:pPr marL="0" indent="0" algn="ctr">
              <a:spcAft>
                <a:spcPts val="400"/>
              </a:spcAft>
              <a:buNone/>
            </a:pPr>
            <a:r>
              <a:rPr sz="1600" b="0" i="0">
                <a:solidFill>
                  <a:srgbClr val="2B2118"/>
                </a:solidFill>
                <a:latin typeface="Cambria"/>
              </a:rPr>
              <a:t>Ẑ(x) = a</a:t>
            </a:r>
            <a:r>
              <a:rPr sz="1600" b="0" i="0" baseline="-25000">
                <a:solidFill>
                  <a:srgbClr val="2B2118"/>
                </a:solidFill>
              </a:rPr>
              <a:t>0</a:t>
            </a:r>
            <a:r>
              <a:rPr sz="1600" b="0" i="0">
                <a:solidFill>
                  <a:srgbClr val="2B2118"/>
                </a:solidFill>
              </a:rPr>
              <a:t> + a</a:t>
            </a:r>
            <a:r>
              <a:rPr sz="1600" b="0" i="0" baseline="-25000">
                <a:solidFill>
                  <a:srgbClr val="2B2118"/>
                </a:solidFill>
              </a:rPr>
              <a:t>1</a:t>
            </a:r>
            <a:r>
              <a:rPr sz="1600" b="0" i="0">
                <a:solidFill>
                  <a:srgbClr val="2B2118"/>
                </a:solidFill>
              </a:rPr>
              <a:t>x + a</a:t>
            </a:r>
            <a:r>
              <a:rPr sz="1600" b="0" i="0" baseline="-25000">
                <a:solidFill>
                  <a:srgbClr val="2B2118"/>
                </a:solidFill>
              </a:rPr>
              <a:t>2</a:t>
            </a:r>
            <a:r>
              <a:rPr sz="1600" b="0" i="0">
                <a:solidFill>
                  <a:srgbClr val="2B2118"/>
                </a:solidFill>
              </a:rPr>
              <a:t>y + Σ w</a:t>
            </a:r>
            <a:r>
              <a:rPr sz="1600" b="0" i="0" baseline="-25000">
                <a:solidFill>
                  <a:srgbClr val="2B2118"/>
                </a:solidFill>
              </a:rPr>
              <a:t>i</a:t>
            </a:r>
            <a:r>
              <a:rPr sz="1600" b="0" i="0">
                <a:solidFill>
                  <a:srgbClr val="2B2118"/>
                </a:solidFill>
              </a:rPr>
              <a:t> φ(r</a:t>
            </a:r>
            <a:r>
              <a:rPr sz="1600" b="0" i="0" baseline="-25000">
                <a:solidFill>
                  <a:srgbClr val="2B2118"/>
                </a:solidFill>
              </a:rPr>
              <a:t>i</a:t>
            </a:r>
            <a:r>
              <a:rPr sz="1600" b="0" i="0">
                <a:solidFill>
                  <a:srgbClr val="2B2118"/>
                </a:solidFill>
              </a:rPr>
              <a:t>)</a:t>
            </a:r>
          </a:p>
        </p:txBody>
      </p:sp>
      <p:sp>
        <p:nvSpPr>
          <p:cNvPr id="9" name="TextBox 8"/>
          <p:cNvSpPr txBox="1"/>
          <p:nvPr/>
        </p:nvSpPr>
        <p:spPr>
          <a:xfrm>
            <a:off x="7589520" y="2331720"/>
            <a:ext cx="4023360" cy="365760"/>
          </a:xfrm>
          <a:prstGeom prst="rect">
            <a:avLst/>
          </a:prstGeom>
          <a:noFill/>
        </p:spPr>
        <p:txBody>
          <a:bodyPr wrap="square" lIns="27432" rIns="27432" tIns="27432" bIns="27432" anchor="t">
            <a:spAutoFit/>
          </a:bodyPr>
          <a:lstStyle/>
          <a:p>
            <a:pPr marL="0" indent="0" algn="ctr">
              <a:spcAft>
                <a:spcPts val="400"/>
              </a:spcAft>
              <a:buNone/>
            </a:pPr>
            <a:r>
              <a:rPr sz="1300" b="0" i="0">
                <a:solidFill>
                  <a:srgbClr val="4A3B2E"/>
                </a:solidFill>
              </a:rPr>
              <a:t>Thin-plate: φ(r) = r² log r</a:t>
            </a:r>
          </a:p>
        </p:txBody>
      </p:sp>
      <p:sp>
        <p:nvSpPr>
          <p:cNvPr id="10" name="Rounded Rectangle 9"/>
          <p:cNvSpPr/>
          <p:nvPr/>
        </p:nvSpPr>
        <p:spPr>
          <a:xfrm>
            <a:off x="7589520" y="2743200"/>
            <a:ext cx="4023360" cy="219456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2798064"/>
            <a:ext cx="3749039" cy="2103120"/>
          </a:xfrm>
          <a:prstGeom prst="rect">
            <a:avLst/>
          </a:prstGeom>
          <a:noFill/>
        </p:spPr>
        <p:txBody>
          <a:bodyPr wrap="square" lIns="27432" rIns="27432" tIns="27432" bIns="27432" anchor="t">
            <a:spAutoFit/>
          </a:bodyPr>
          <a:lstStyle/>
          <a:p>
            <a:pPr marL="0" indent="0">
              <a:spcAft>
                <a:spcPts val="400"/>
              </a:spcAft>
              <a:buNone/>
            </a:pPr>
            <a:r>
              <a:rPr sz="1400" b="1" i="0">
                <a:solidFill>
                  <a:srgbClr val="8C5A2B"/>
                </a:solidFill>
              </a:rPr>
              <a:t>Mechanism</a:t>
            </a:r>
          </a:p>
          <a:p>
            <a:pPr marL="228600" indent="-228600">
              <a:spcAft>
                <a:spcPts val="400"/>
              </a:spcAft>
              <a:buFont typeface="Arial"/>
              <a:buChar char="•"/>
            </a:pPr>
            <a:r>
              <a:rPr sz="1250" b="0" i="0">
                <a:solidFill>
                  <a:srgbClr val="2B2118"/>
                </a:solidFill>
              </a:rPr>
              <a:t>Minimise surface curvature (bending energy)</a:t>
            </a:r>
          </a:p>
          <a:p>
            <a:pPr marL="228600" indent="-228600">
              <a:spcAft>
                <a:spcPts val="400"/>
              </a:spcAft>
              <a:buFont typeface="Arial"/>
              <a:buChar char="•"/>
            </a:pPr>
            <a:r>
              <a:rPr sz="1250" b="0" i="0">
                <a:solidFill>
                  <a:srgbClr val="2B2118"/>
                </a:solidFill>
              </a:rPr>
              <a:t>Solve one linear system for w</a:t>
            </a:r>
            <a:r>
              <a:rPr sz="1250" b="0" i="0" baseline="-25000">
                <a:solidFill>
                  <a:srgbClr val="2B2118"/>
                </a:solidFill>
              </a:rPr>
              <a:t>i</a:t>
            </a:r>
            <a:r>
              <a:rPr sz="1250" b="0" i="0">
                <a:solidFill>
                  <a:srgbClr val="2B2118"/>
                </a:solidFill>
              </a:rPr>
              <a:t> and a</a:t>
            </a:r>
            <a:r>
              <a:rPr sz="1250" b="0" i="0" baseline="-25000">
                <a:solidFill>
                  <a:srgbClr val="2B2118"/>
                </a:solidFill>
              </a:rPr>
              <a:t>k</a:t>
            </a:r>
          </a:p>
          <a:p>
            <a:pPr marL="228600" indent="-228600">
              <a:spcAft>
                <a:spcPts val="400"/>
              </a:spcAft>
              <a:buFont typeface="Arial"/>
              <a:buChar char="•"/>
            </a:pPr>
            <a:r>
              <a:rPr sz="1250" b="0" i="0">
                <a:solidFill>
                  <a:srgbClr val="2B2118"/>
                </a:solidFill>
              </a:rPr>
              <a:t>Smoothing parameter → inexact; tension → stiffness</a:t>
            </a:r>
          </a:p>
        </p:txBody>
      </p:sp>
      <p:sp>
        <p:nvSpPr>
          <p:cNvPr id="12" name="Rounded Rectangle 11"/>
          <p:cNvSpPr/>
          <p:nvPr/>
        </p:nvSpPr>
        <p:spPr>
          <a:xfrm>
            <a:off x="548640" y="5120640"/>
            <a:ext cx="1106424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157216"/>
            <a:ext cx="10789920" cy="841248"/>
          </a:xfrm>
          <a:prstGeom prst="rect">
            <a:avLst/>
          </a:prstGeom>
          <a:noFill/>
        </p:spPr>
        <p:txBody>
          <a:bodyPr wrap="square" lIns="27432" rIns="27432" tIns="27432" bIns="27432" anchor="ctr">
            <a:spAutoFit/>
          </a:bodyPr>
          <a:lstStyle/>
          <a:p>
            <a:pPr marL="0" indent="0">
              <a:spcAft>
                <a:spcPts val="400"/>
              </a:spcAft>
              <a:buNone/>
            </a:pPr>
            <a:r>
              <a:rPr sz="1300" b="1" i="0">
                <a:solidFill>
                  <a:srgbClr val="2B2118"/>
                </a:solidFill>
              </a:rPr>
              <a:t>+</a:t>
            </a:r>
            <a:r>
              <a:rPr sz="1300" b="0" i="0">
                <a:solidFill>
                  <a:srgbClr val="2B2118"/>
                </a:solidFill>
              </a:rPr>
              <a:t> smooth, visually realistic; best for gently varying surfaces (elevation, rainfall, temperature; ANUSPLIN climate grids).  </a:t>
            </a:r>
            <a:r>
              <a:rPr sz="1300" b="1" i="0">
                <a:solidFill>
                  <a:srgbClr val="2B2118"/>
                </a:solidFill>
              </a:rPr>
              <a:t>−</a:t>
            </a:r>
            <a:r>
              <a:rPr sz="1300" b="0" i="0">
                <a:solidFill>
                  <a:srgbClr val="2B2118"/>
                </a:solidFill>
              </a:rPr>
              <a:t> overshoots near sharp changes; no error map.  LOOCV RMSE here: </a:t>
            </a:r>
            <a:r>
              <a:rPr sz="1300" b="1" i="0">
                <a:solidFill>
                  <a:srgbClr val="2B2118"/>
                </a:solidFill>
              </a:rPr>
              <a:t>0.148</a:t>
            </a:r>
            <a:r>
              <a:rPr sz="1300" b="0" i="0">
                <a:solidFill>
                  <a:srgbClr val="2B2118"/>
                </a:solidFill>
              </a:rPr>
              <a:t> (lowest of all methods)</a:t>
            </a:r>
          </a:p>
        </p:txBody>
      </p:sp>
      <p:sp>
        <p:nvSpPr>
          <p:cNvPr id="14" name="TextBox 13"/>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thin-plate splines after Hutchinson (1995)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Trend surface analysis and local polynomial interpolation</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6766560" cy="329184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_trend.png"/>
          <p:cNvPicPr>
            <a:picLocks noChangeAspect="1"/>
          </p:cNvPicPr>
          <p:nvPr/>
        </p:nvPicPr>
        <p:blipFill>
          <a:blip r:embed="rId3"/>
          <a:stretch>
            <a:fillRect/>
          </a:stretch>
        </p:blipFill>
        <p:spPr>
          <a:xfrm>
            <a:off x="629107" y="1399032"/>
            <a:ext cx="6605625" cy="3145536"/>
          </a:xfrm>
          <a:prstGeom prst="rect">
            <a:avLst/>
          </a:prstGeom>
        </p:spPr>
      </p:pic>
      <p:sp>
        <p:nvSpPr>
          <p:cNvPr id="6" name="TextBox 5"/>
          <p:cNvSpPr txBox="1"/>
          <p:nvPr/>
        </p:nvSpPr>
        <p:spPr>
          <a:xfrm>
            <a:off x="548640" y="4654296"/>
            <a:ext cx="676656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the trend captures only the broad gradient</a:t>
            </a:r>
          </a:p>
        </p:txBody>
      </p:sp>
      <p:sp>
        <p:nvSpPr>
          <p:cNvPr id="7" name="Rounded Rectangle 6"/>
          <p:cNvSpPr/>
          <p:nvPr/>
        </p:nvSpPr>
        <p:spPr>
          <a:xfrm>
            <a:off x="7589520" y="1325880"/>
            <a:ext cx="4023360" cy="9601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325880"/>
            <a:ext cx="3840480" cy="960120"/>
          </a:xfrm>
          <a:prstGeom prst="rect">
            <a:avLst/>
          </a:prstGeom>
          <a:noFill/>
        </p:spPr>
        <p:txBody>
          <a:bodyPr wrap="square" lIns="27432" rIns="27432" tIns="27432" bIns="27432" anchor="ctr">
            <a:spAutoFit/>
          </a:bodyPr>
          <a:lstStyle/>
          <a:p>
            <a:pPr marL="0" indent="0" algn="ctr">
              <a:spcAft>
                <a:spcPts val="400"/>
              </a:spcAft>
              <a:buNone/>
            </a:pPr>
            <a:r>
              <a:rPr sz="1450" b="0" i="0">
                <a:solidFill>
                  <a:srgbClr val="2B2118"/>
                </a:solidFill>
                <a:latin typeface="Cambria"/>
              </a:rPr>
              <a:t>z = b</a:t>
            </a:r>
            <a:r>
              <a:rPr sz="1450" b="0" i="0" baseline="-25000">
                <a:solidFill>
                  <a:srgbClr val="2B2118"/>
                </a:solidFill>
              </a:rPr>
              <a:t>0</a:t>
            </a:r>
            <a:r>
              <a:rPr sz="1450" b="0" i="0">
                <a:solidFill>
                  <a:srgbClr val="2B2118"/>
                </a:solidFill>
              </a:rPr>
              <a:t> + b</a:t>
            </a:r>
            <a:r>
              <a:rPr sz="1450" b="0" i="0" baseline="-25000">
                <a:solidFill>
                  <a:srgbClr val="2B2118"/>
                </a:solidFill>
              </a:rPr>
              <a:t>1</a:t>
            </a:r>
            <a:r>
              <a:rPr sz="1450" b="0" i="0">
                <a:solidFill>
                  <a:srgbClr val="2B2118"/>
                </a:solidFill>
              </a:rPr>
              <a:t>x + b</a:t>
            </a:r>
            <a:r>
              <a:rPr sz="1450" b="0" i="0" baseline="-25000">
                <a:solidFill>
                  <a:srgbClr val="2B2118"/>
                </a:solidFill>
              </a:rPr>
              <a:t>2</a:t>
            </a:r>
            <a:r>
              <a:rPr sz="1450" b="0" i="0">
                <a:solidFill>
                  <a:srgbClr val="2B2118"/>
                </a:solidFill>
              </a:rPr>
              <a:t>y + b</a:t>
            </a:r>
            <a:r>
              <a:rPr sz="1450" b="0" i="0" baseline="-25000">
                <a:solidFill>
                  <a:srgbClr val="2B2118"/>
                </a:solidFill>
              </a:rPr>
              <a:t>3</a:t>
            </a:r>
            <a:r>
              <a:rPr sz="1450" b="0" i="0">
                <a:solidFill>
                  <a:srgbClr val="2B2118"/>
                </a:solidFill>
              </a:rPr>
              <a:t>x² + b</a:t>
            </a:r>
            <a:r>
              <a:rPr sz="1450" b="0" i="0" baseline="-25000">
                <a:solidFill>
                  <a:srgbClr val="2B2118"/>
                </a:solidFill>
              </a:rPr>
              <a:t>4</a:t>
            </a:r>
            <a:r>
              <a:rPr sz="1450" b="0" i="0">
                <a:solidFill>
                  <a:srgbClr val="2B2118"/>
                </a:solidFill>
              </a:rPr>
              <a:t>xy + b</a:t>
            </a:r>
            <a:r>
              <a:rPr sz="1450" b="0" i="0" baseline="-25000">
                <a:solidFill>
                  <a:srgbClr val="2B2118"/>
                </a:solidFill>
              </a:rPr>
              <a:t>5</a:t>
            </a:r>
            <a:r>
              <a:rPr sz="1450" b="0" i="0">
                <a:solidFill>
                  <a:srgbClr val="2B2118"/>
                </a:solidFill>
              </a:rPr>
              <a:t>y² + ε</a:t>
            </a:r>
          </a:p>
        </p:txBody>
      </p:sp>
      <p:sp>
        <p:nvSpPr>
          <p:cNvPr id="9" name="Rounded Rectangle 8"/>
          <p:cNvSpPr/>
          <p:nvPr/>
        </p:nvSpPr>
        <p:spPr>
          <a:xfrm>
            <a:off x="7589520" y="2423160"/>
            <a:ext cx="4023360" cy="25146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26679" y="2468880"/>
            <a:ext cx="3749039" cy="2423160"/>
          </a:xfrm>
          <a:prstGeom prst="rect">
            <a:avLst/>
          </a:prstGeom>
          <a:noFill/>
        </p:spPr>
        <p:txBody>
          <a:bodyPr wrap="square" lIns="27432" rIns="27432" tIns="27432" bIns="27432" anchor="t">
            <a:spAutoFit/>
          </a:bodyPr>
          <a:lstStyle/>
          <a:p>
            <a:pPr marL="0" indent="0">
              <a:spcAft>
                <a:spcPts val="400"/>
              </a:spcAft>
              <a:buNone/>
            </a:pPr>
            <a:r>
              <a:rPr sz="1400" b="1" i="0">
                <a:solidFill>
                  <a:srgbClr val="8C5A2B"/>
                </a:solidFill>
              </a:rPr>
              <a:t>Mechanism</a:t>
            </a:r>
          </a:p>
          <a:p>
            <a:pPr marL="228600" indent="-228600">
              <a:spcAft>
                <a:spcPts val="400"/>
              </a:spcAft>
              <a:buFont typeface="Arial"/>
              <a:buChar char="•"/>
            </a:pPr>
            <a:r>
              <a:rPr sz="1250" b="0" i="0">
                <a:solidFill>
                  <a:srgbClr val="2B2118"/>
                </a:solidFill>
              </a:rPr>
              <a:t>Fit polynomial in coordinates by least squares (global)</a:t>
            </a:r>
          </a:p>
          <a:p>
            <a:pPr marL="228600" indent="-228600">
              <a:spcAft>
                <a:spcPts val="400"/>
              </a:spcAft>
              <a:buFont typeface="Arial"/>
              <a:buChar char="•"/>
            </a:pPr>
            <a:r>
              <a:rPr sz="1250" b="0" i="0">
                <a:solidFill>
                  <a:srgbClr val="2B2118"/>
                </a:solidFill>
              </a:rPr>
              <a:t>Test order by R² / F-test; avoid high orders (edge effects)</a:t>
            </a:r>
          </a:p>
          <a:p>
            <a:pPr marL="228600" indent="-228600">
              <a:spcAft>
                <a:spcPts val="400"/>
              </a:spcAft>
              <a:buFont typeface="Arial"/>
              <a:buChar char="•"/>
            </a:pPr>
            <a:r>
              <a:rPr sz="1250" b="1" i="0">
                <a:solidFill>
                  <a:srgbClr val="2B2118"/>
                </a:solidFill>
              </a:rPr>
              <a:t>Local polynomial</a:t>
            </a:r>
            <a:r>
              <a:rPr sz="1250" b="0" i="0">
                <a:solidFill>
                  <a:srgbClr val="2B2118"/>
                </a:solidFill>
              </a:rPr>
              <a:t>: same fit in a moving window</a:t>
            </a:r>
          </a:p>
          <a:p>
            <a:pPr marL="228600" indent="-228600">
              <a:spcAft>
                <a:spcPts val="400"/>
              </a:spcAft>
              <a:buFont typeface="Arial"/>
              <a:buChar char="•"/>
            </a:pPr>
            <a:r>
              <a:rPr sz="1250" b="0" i="0">
                <a:solidFill>
                  <a:srgbClr val="2B2118"/>
                </a:solidFill>
              </a:rPr>
              <a:t>Residuals = local variation → krige them</a:t>
            </a:r>
          </a:p>
        </p:txBody>
      </p:sp>
      <p:sp>
        <p:nvSpPr>
          <p:cNvPr id="11" name="Rounded Rectangle 10"/>
          <p:cNvSpPr/>
          <p:nvPr/>
        </p:nvSpPr>
        <p:spPr>
          <a:xfrm>
            <a:off x="548640" y="5120640"/>
            <a:ext cx="1106424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157216"/>
            <a:ext cx="10789920" cy="841248"/>
          </a:xfrm>
          <a:prstGeom prst="rect">
            <a:avLst/>
          </a:prstGeom>
          <a:noFill/>
        </p:spPr>
        <p:txBody>
          <a:bodyPr wrap="square" lIns="27432" rIns="27432" tIns="27432" bIns="27432" anchor="ctr">
            <a:spAutoFit/>
          </a:bodyPr>
          <a:lstStyle/>
          <a:p>
            <a:pPr marL="0" indent="0">
              <a:spcAft>
                <a:spcPts val="400"/>
              </a:spcAft>
              <a:buNone/>
            </a:pPr>
            <a:r>
              <a:rPr sz="1300" b="1" i="0">
                <a:solidFill>
                  <a:srgbClr val="2B2118"/>
                </a:solidFill>
              </a:rPr>
              <a:t>+</a:t>
            </a:r>
            <a:r>
              <a:rPr sz="1300" b="0" i="0">
                <a:solidFill>
                  <a:srgbClr val="2B2118"/>
                </a:solidFill>
              </a:rPr>
              <a:t> simple; separates regional trend (drift) from local variation — the first step of universal kriging and regression-kriging.  </a:t>
            </a:r>
            <a:r>
              <a:rPr sz="1300" b="1" i="0">
                <a:solidFill>
                  <a:srgbClr val="2B2118"/>
                </a:solidFill>
              </a:rPr>
              <a:t>−</a:t>
            </a:r>
            <a:r>
              <a:rPr sz="1300" b="0" i="0">
                <a:solidFill>
                  <a:srgbClr val="2B2118"/>
                </a:solidFill>
              </a:rPr>
              <a:t> inexact, misses local detail.  LOOCV RMSE here: </a:t>
            </a:r>
            <a:r>
              <a:rPr sz="1300" b="1" i="0">
                <a:solidFill>
                  <a:srgbClr val="2B2118"/>
                </a:solidFill>
              </a:rPr>
              <a:t>0.399</a:t>
            </a:r>
            <a:r>
              <a:rPr sz="1300" b="0" i="0">
                <a:solidFill>
                  <a:srgbClr val="2B2118"/>
                </a:solidFill>
              </a:rPr>
              <a:t> (worst)</a:t>
            </a:r>
          </a:p>
        </p:txBody>
      </p:sp>
      <p:sp>
        <p:nvSpPr>
          <p:cNvPr id="13" name="TextBox 12"/>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Oliver &amp; Webster (2014) Catena 113:56–69; Webster &amp; Oliver (2007) Geostatistics for Environmental Scientists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Same data, five methods: which interpolator wins?</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6949440" cy="475488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_compare.png"/>
          <p:cNvPicPr>
            <a:picLocks noChangeAspect="1"/>
          </p:cNvPicPr>
          <p:nvPr/>
        </p:nvPicPr>
        <p:blipFill>
          <a:blip r:embed="rId3"/>
          <a:stretch>
            <a:fillRect/>
          </a:stretch>
        </p:blipFill>
        <p:spPr>
          <a:xfrm>
            <a:off x="621792" y="1452904"/>
            <a:ext cx="6803136" cy="4500831"/>
          </a:xfrm>
          <a:prstGeom prst="rect">
            <a:avLst/>
          </a:prstGeom>
        </p:spPr>
      </p:pic>
      <p:graphicFrame>
        <p:nvGraphicFramePr>
          <p:cNvPr id="6" name="Table 5"/>
          <p:cNvGraphicFramePr>
            <a:graphicFrameLocks noGrp="1"/>
          </p:cNvGraphicFramePr>
          <p:nvPr/>
        </p:nvGraphicFramePr>
        <p:xfrm>
          <a:off x="7772400" y="1325880"/>
          <a:ext cx="3840480" cy="2468880"/>
        </p:xfrm>
        <a:graphic>
          <a:graphicData uri="http://schemas.openxmlformats.org/drawingml/2006/table">
            <a:tbl>
              <a:tblPr firstRow="0" bandRow="0">
                <a:tableStyleId>{5940675A-B579-460E-94D1-54222C63F5DA}</a:tableStyleId>
              </a:tblPr>
              <a:tblGrid>
                <a:gridCol w="2103120"/>
                <a:gridCol w="868680"/>
                <a:gridCol w="868680"/>
              </a:tblGrid>
              <a:tr h="411480">
                <a:tc>
                  <a:txBody>
                    <a:bodyPr wrap="square"/>
                    <a:lstStyle/>
                    <a:p>
                      <a:pPr marL="0" indent="0">
                        <a:spcAft>
                          <a:spcPts val="0"/>
                        </a:spcAft>
                        <a:buNone/>
                      </a:pPr>
                      <a:r>
                        <a:rPr sz="1200" b="1" i="0">
                          <a:solidFill>
                            <a:srgbClr val="FFFFFF"/>
                          </a:solidFill>
                        </a:rPr>
                        <a:t>Method</a:t>
                      </a:r>
                    </a:p>
                  </a:txBody>
                  <a:tcPr marL="54864" marR="54864" marT="27432" marB="27432" anchor="ctr">
                    <a:solidFill>
                      <a:srgbClr val="8C5A2B"/>
                    </a:solidFill>
                  </a:tcPr>
                </a:tc>
                <a:tc>
                  <a:txBody>
                    <a:bodyPr wrap="square"/>
                    <a:lstStyle/>
                    <a:p>
                      <a:pPr marL="0" indent="0">
                        <a:spcAft>
                          <a:spcPts val="0"/>
                        </a:spcAft>
                        <a:buNone/>
                      </a:pPr>
                      <a:r>
                        <a:rPr sz="1200" b="1" i="0">
                          <a:solidFill>
                            <a:srgbClr val="FFFFFF"/>
                          </a:solidFill>
                        </a:rPr>
                        <a:t>RMSE</a:t>
                      </a:r>
                    </a:p>
                  </a:txBody>
                  <a:tcPr marL="54864" marR="54864" marT="27432" marB="27432" anchor="ctr">
                    <a:solidFill>
                      <a:srgbClr val="8C5A2B"/>
                    </a:solidFill>
                  </a:tcPr>
                </a:tc>
                <a:tc>
                  <a:txBody>
                    <a:bodyPr wrap="square"/>
                    <a:lstStyle/>
                    <a:p>
                      <a:pPr marL="0" indent="0">
                        <a:spcAft>
                          <a:spcPts val="0"/>
                        </a:spcAft>
                        <a:buNone/>
                      </a:pPr>
                      <a:r>
                        <a:rPr sz="1200" b="1" i="0">
                          <a:solidFill>
                            <a:srgbClr val="FFFFFF"/>
                          </a:solidFill>
                        </a:rPr>
                        <a:t>ME</a:t>
                      </a:r>
                    </a:p>
                  </a:txBody>
                  <a:tcPr marL="54864" marR="54864" marT="27432" marB="27432" anchor="ctr">
                    <a:solidFill>
                      <a:srgbClr val="8C5A2B"/>
                    </a:solidFill>
                  </a:tcPr>
                </a:tc>
              </a:tr>
              <a:tr h="411480">
                <a:tc>
                  <a:txBody>
                    <a:bodyPr wrap="square"/>
                    <a:lstStyle/>
                    <a:p>
                      <a:pPr marL="0" indent="0">
                        <a:spcAft>
                          <a:spcPts val="0"/>
                        </a:spcAft>
                        <a:buNone/>
                      </a:pPr>
                      <a:r>
                        <a:rPr sz="1200" b="1" i="0">
                          <a:solidFill>
                            <a:srgbClr val="2B2118"/>
                          </a:solidFill>
                        </a:rPr>
                        <a:t>Thin-plate spline</a:t>
                      </a:r>
                    </a:p>
                  </a:txBody>
                  <a:tcPr marL="54864" marR="54864" marT="27432" marB="27432" anchor="ctr">
                    <a:solidFill>
                      <a:srgbClr val="F3F0EB"/>
                    </a:solidFill>
                  </a:tcPr>
                </a:tc>
                <a:tc>
                  <a:txBody>
                    <a:bodyPr wrap="square"/>
                    <a:lstStyle/>
                    <a:p>
                      <a:pPr marL="0" indent="0">
                        <a:spcAft>
                          <a:spcPts val="0"/>
                        </a:spcAft>
                        <a:buNone/>
                      </a:pPr>
                      <a:r>
                        <a:rPr sz="1200" b="0" i="0">
                          <a:solidFill>
                            <a:srgbClr val="2B2118"/>
                          </a:solidFill>
                        </a:rPr>
                        <a:t>0.148</a:t>
                      </a:r>
                    </a:p>
                  </a:txBody>
                  <a:tcPr marL="54864" marR="54864" marT="27432" marB="27432" anchor="ctr">
                    <a:solidFill>
                      <a:srgbClr val="F3F0EB"/>
                    </a:solidFill>
                  </a:tcPr>
                </a:tc>
                <a:tc>
                  <a:txBody>
                    <a:bodyPr wrap="square"/>
                    <a:lstStyle/>
                    <a:p>
                      <a:pPr marL="0" indent="0">
                        <a:spcAft>
                          <a:spcPts val="0"/>
                        </a:spcAft>
                        <a:buNone/>
                      </a:pPr>
                      <a:r>
                        <a:rPr sz="1200" b="0" i="0">
                          <a:solidFill>
                            <a:srgbClr val="2B2118"/>
                          </a:solidFill>
                        </a:rPr>
                        <a:t>+0.006</a:t>
                      </a:r>
                    </a:p>
                  </a:txBody>
                  <a:tcPr marL="54864" marR="54864" marT="27432" marB="27432" anchor="ctr">
                    <a:solidFill>
                      <a:srgbClr val="F3F0EB"/>
                    </a:solidFill>
                  </a:tcPr>
                </a:tc>
              </a:tr>
              <a:tr h="411480">
                <a:tc>
                  <a:txBody>
                    <a:bodyPr wrap="square"/>
                    <a:lstStyle/>
                    <a:p>
                      <a:pPr marL="0" indent="0">
                        <a:spcAft>
                          <a:spcPts val="0"/>
                        </a:spcAft>
                        <a:buNone/>
                      </a:pPr>
                      <a:r>
                        <a:rPr sz="1200" b="1" i="0">
                          <a:solidFill>
                            <a:srgbClr val="2B2118"/>
                          </a:solidFill>
                        </a:rPr>
                        <a:t>Ordinary kriging</a:t>
                      </a:r>
                    </a:p>
                  </a:txBody>
                  <a:tcPr marL="54864" marR="54864" marT="27432" marB="27432" anchor="ctr">
                    <a:solidFill>
                      <a:srgbClr val="FFFFFF"/>
                    </a:solidFill>
                  </a:tcPr>
                </a:tc>
                <a:tc>
                  <a:txBody>
                    <a:bodyPr wrap="square"/>
                    <a:lstStyle/>
                    <a:p>
                      <a:pPr marL="0" indent="0">
                        <a:spcAft>
                          <a:spcPts val="0"/>
                        </a:spcAft>
                        <a:buNone/>
                      </a:pPr>
                      <a:r>
                        <a:rPr sz="1200" b="0" i="0">
                          <a:solidFill>
                            <a:srgbClr val="2B2118"/>
                          </a:solidFill>
                        </a:rPr>
                        <a:t>0.168</a:t>
                      </a:r>
                    </a:p>
                  </a:txBody>
                  <a:tcPr marL="54864" marR="54864" marT="27432" marB="27432" anchor="ctr">
                    <a:solidFill>
                      <a:srgbClr val="FFFFFF"/>
                    </a:solidFill>
                  </a:tcPr>
                </a:tc>
                <a:tc>
                  <a:txBody>
                    <a:bodyPr wrap="square"/>
                    <a:lstStyle/>
                    <a:p>
                      <a:pPr marL="0" indent="0">
                        <a:spcAft>
                          <a:spcPts val="0"/>
                        </a:spcAft>
                        <a:buNone/>
                      </a:pPr>
                      <a:r>
                        <a:rPr sz="1200" b="0" i="0">
                          <a:solidFill>
                            <a:srgbClr val="2B2118"/>
                          </a:solidFill>
                        </a:rPr>
                        <a:t>+0.010</a:t>
                      </a:r>
                    </a:p>
                  </a:txBody>
                  <a:tcPr marL="54864" marR="54864" marT="27432" marB="27432" anchor="ctr">
                    <a:solidFill>
                      <a:srgbClr val="FFFFFF"/>
                    </a:solidFill>
                  </a:tcPr>
                </a:tc>
              </a:tr>
              <a:tr h="411480">
                <a:tc>
                  <a:txBody>
                    <a:bodyPr wrap="square"/>
                    <a:lstStyle/>
                    <a:p>
                      <a:pPr marL="0" indent="0">
                        <a:spcAft>
                          <a:spcPts val="0"/>
                        </a:spcAft>
                        <a:buNone/>
                      </a:pPr>
                      <a:r>
                        <a:rPr sz="1200" b="1" i="0">
                          <a:solidFill>
                            <a:srgbClr val="2B2118"/>
                          </a:solidFill>
                        </a:rPr>
                        <a:t>Nearest neighbour</a:t>
                      </a:r>
                    </a:p>
                  </a:txBody>
                  <a:tcPr marL="54864" marR="54864" marT="27432" marB="27432" anchor="ctr">
                    <a:solidFill>
                      <a:srgbClr val="F3F0EB"/>
                    </a:solidFill>
                  </a:tcPr>
                </a:tc>
                <a:tc>
                  <a:txBody>
                    <a:bodyPr wrap="square"/>
                    <a:lstStyle/>
                    <a:p>
                      <a:pPr marL="0" indent="0">
                        <a:spcAft>
                          <a:spcPts val="0"/>
                        </a:spcAft>
                        <a:buNone/>
                      </a:pPr>
                      <a:r>
                        <a:rPr sz="1200" b="0" i="0">
                          <a:solidFill>
                            <a:srgbClr val="2B2118"/>
                          </a:solidFill>
                        </a:rPr>
                        <a:t>0.184</a:t>
                      </a:r>
                    </a:p>
                  </a:txBody>
                  <a:tcPr marL="54864" marR="54864" marT="27432" marB="27432" anchor="ctr">
                    <a:solidFill>
                      <a:srgbClr val="F3F0EB"/>
                    </a:solidFill>
                  </a:tcPr>
                </a:tc>
                <a:tc>
                  <a:txBody>
                    <a:bodyPr wrap="square"/>
                    <a:lstStyle/>
                    <a:p>
                      <a:pPr marL="0" indent="0">
                        <a:spcAft>
                          <a:spcPts val="0"/>
                        </a:spcAft>
                        <a:buNone/>
                      </a:pPr>
                      <a:r>
                        <a:rPr sz="1200" b="0" i="0">
                          <a:solidFill>
                            <a:srgbClr val="2B2118"/>
                          </a:solidFill>
                        </a:rPr>
                        <a:t>+0.011</a:t>
                      </a:r>
                    </a:p>
                  </a:txBody>
                  <a:tcPr marL="54864" marR="54864" marT="27432" marB="27432" anchor="ctr">
                    <a:solidFill>
                      <a:srgbClr val="F3F0EB"/>
                    </a:solidFill>
                  </a:tcPr>
                </a:tc>
              </a:tr>
              <a:tr h="411480">
                <a:tc>
                  <a:txBody>
                    <a:bodyPr wrap="square"/>
                    <a:lstStyle/>
                    <a:p>
                      <a:pPr marL="0" indent="0">
                        <a:spcAft>
                          <a:spcPts val="0"/>
                        </a:spcAft>
                        <a:buNone/>
                      </a:pPr>
                      <a:r>
                        <a:rPr sz="1200" b="1" i="0">
                          <a:solidFill>
                            <a:srgbClr val="2B2118"/>
                          </a:solidFill>
                        </a:rPr>
                        <a:t>IDW (p = 2)</a:t>
                      </a:r>
                    </a:p>
                  </a:txBody>
                  <a:tcPr marL="54864" marR="54864" marT="27432" marB="27432" anchor="ctr">
                    <a:solidFill>
                      <a:srgbClr val="FFFFFF"/>
                    </a:solidFill>
                  </a:tcPr>
                </a:tc>
                <a:tc>
                  <a:txBody>
                    <a:bodyPr wrap="square"/>
                    <a:lstStyle/>
                    <a:p>
                      <a:pPr marL="0" indent="0">
                        <a:spcAft>
                          <a:spcPts val="0"/>
                        </a:spcAft>
                        <a:buNone/>
                      </a:pPr>
                      <a:r>
                        <a:rPr sz="1200" b="0" i="0">
                          <a:solidFill>
                            <a:srgbClr val="2B2118"/>
                          </a:solidFill>
                        </a:rPr>
                        <a:t>0.203</a:t>
                      </a:r>
                    </a:p>
                  </a:txBody>
                  <a:tcPr marL="54864" marR="54864" marT="27432" marB="27432" anchor="ctr">
                    <a:solidFill>
                      <a:srgbClr val="FFFFFF"/>
                    </a:solidFill>
                  </a:tcPr>
                </a:tc>
                <a:tc>
                  <a:txBody>
                    <a:bodyPr wrap="square"/>
                    <a:lstStyle/>
                    <a:p>
                      <a:pPr marL="0" indent="0">
                        <a:spcAft>
                          <a:spcPts val="0"/>
                        </a:spcAft>
                        <a:buNone/>
                      </a:pPr>
                      <a:r>
                        <a:rPr sz="1200" b="0" i="0">
                          <a:solidFill>
                            <a:srgbClr val="2B2118"/>
                          </a:solidFill>
                        </a:rPr>
                        <a:t>+0.029</a:t>
                      </a:r>
                    </a:p>
                  </a:txBody>
                  <a:tcPr marL="54864" marR="54864" marT="27432" marB="27432" anchor="ctr">
                    <a:solidFill>
                      <a:srgbClr val="FFFFFF"/>
                    </a:solidFill>
                  </a:tcPr>
                </a:tc>
              </a:tr>
              <a:tr h="411480">
                <a:tc>
                  <a:txBody>
                    <a:bodyPr wrap="square"/>
                    <a:lstStyle/>
                    <a:p>
                      <a:pPr marL="0" indent="0">
                        <a:spcAft>
                          <a:spcPts val="0"/>
                        </a:spcAft>
                        <a:buNone/>
                      </a:pPr>
                      <a:r>
                        <a:rPr sz="1200" b="1" i="0">
                          <a:solidFill>
                            <a:srgbClr val="2B2118"/>
                          </a:solidFill>
                        </a:rPr>
                        <a:t>Trend surface (2nd order)</a:t>
                      </a:r>
                    </a:p>
                  </a:txBody>
                  <a:tcPr marL="54864" marR="54864" marT="27432" marB="27432" anchor="ctr">
                    <a:solidFill>
                      <a:srgbClr val="F3F0EB"/>
                    </a:solidFill>
                  </a:tcPr>
                </a:tc>
                <a:tc>
                  <a:txBody>
                    <a:bodyPr wrap="square"/>
                    <a:lstStyle/>
                    <a:p>
                      <a:pPr marL="0" indent="0">
                        <a:spcAft>
                          <a:spcPts val="0"/>
                        </a:spcAft>
                        <a:buNone/>
                      </a:pPr>
                      <a:r>
                        <a:rPr sz="1200" b="0" i="0">
                          <a:solidFill>
                            <a:srgbClr val="2B2118"/>
                          </a:solidFill>
                        </a:rPr>
                        <a:t>0.399</a:t>
                      </a:r>
                    </a:p>
                  </a:txBody>
                  <a:tcPr marL="54864" marR="54864" marT="27432" marB="27432" anchor="ctr">
                    <a:solidFill>
                      <a:srgbClr val="F3F0EB"/>
                    </a:solidFill>
                  </a:tcPr>
                </a:tc>
                <a:tc>
                  <a:txBody>
                    <a:bodyPr wrap="square"/>
                    <a:lstStyle/>
                    <a:p>
                      <a:pPr marL="0" indent="0">
                        <a:spcAft>
                          <a:spcPts val="0"/>
                        </a:spcAft>
                        <a:buNone/>
                      </a:pPr>
                      <a:r>
                        <a:rPr sz="1200" b="0" i="0">
                          <a:solidFill>
                            <a:srgbClr val="2B2118"/>
                          </a:solidFill>
                        </a:rPr>
                        <a:t>+0.002</a:t>
                      </a:r>
                    </a:p>
                  </a:txBody>
                  <a:tcPr marL="54864" marR="54864" marT="27432" marB="27432" anchor="ctr">
                    <a:solidFill>
                      <a:srgbClr val="F3F0EB"/>
                    </a:solidFill>
                  </a:tcPr>
                </a:tc>
              </a:tr>
            </a:tbl>
          </a:graphicData>
        </a:graphic>
      </p:graphicFrame>
      <p:sp>
        <p:nvSpPr>
          <p:cNvPr id="7" name="Rounded Rectangle 6"/>
          <p:cNvSpPr/>
          <p:nvPr/>
        </p:nvSpPr>
        <p:spPr>
          <a:xfrm>
            <a:off x="7772400" y="3977639"/>
            <a:ext cx="3840480" cy="210312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4023360"/>
            <a:ext cx="3566160" cy="2011680"/>
          </a:xfrm>
          <a:prstGeom prst="rect">
            <a:avLst/>
          </a:prstGeom>
          <a:noFill/>
        </p:spPr>
        <p:txBody>
          <a:bodyPr wrap="square" lIns="27432" rIns="27432" tIns="27432" bIns="27432" anchor="t">
            <a:spAutoFit/>
          </a:bodyPr>
          <a:lstStyle/>
          <a:p>
            <a:pPr marL="0" indent="0">
              <a:spcAft>
                <a:spcPts val="400"/>
              </a:spcAft>
              <a:buNone/>
            </a:pPr>
            <a:r>
              <a:rPr sz="1400" b="1" i="0">
                <a:solidFill>
                  <a:srgbClr val="8C5A2B"/>
                </a:solidFill>
              </a:rPr>
              <a:t>Lessons</a:t>
            </a:r>
          </a:p>
          <a:p>
            <a:pPr marL="228600" indent="-228600">
              <a:spcAft>
                <a:spcPts val="400"/>
              </a:spcAft>
              <a:buFont typeface="Arial"/>
              <a:buChar char="•"/>
            </a:pPr>
            <a:r>
              <a:rPr sz="1250" b="1" i="0">
                <a:solidFill>
                  <a:srgbClr val="2B2118"/>
                </a:solidFill>
              </a:rPr>
              <a:t>No universal winner</a:t>
            </a:r>
            <a:r>
              <a:rPr sz="1250" b="0" i="0">
                <a:solidFill>
                  <a:srgbClr val="2B2118"/>
                </a:solidFill>
              </a:rPr>
              <a:t> — choose by cross-validation</a:t>
            </a:r>
          </a:p>
          <a:p>
            <a:pPr marL="228600" indent="-228600">
              <a:spcAft>
                <a:spcPts val="400"/>
              </a:spcAft>
              <a:buFont typeface="Arial"/>
              <a:buChar char="•"/>
            </a:pPr>
            <a:r>
              <a:rPr sz="1250" b="0" i="0">
                <a:solidFill>
                  <a:srgbClr val="2B2118"/>
                </a:solidFill>
              </a:rPr>
              <a:t>Smooth fields favour splines and kriging</a:t>
            </a:r>
          </a:p>
          <a:p>
            <a:pPr marL="228600" indent="-228600">
              <a:spcAft>
                <a:spcPts val="400"/>
              </a:spcAft>
              <a:buFont typeface="Arial"/>
              <a:buChar char="•"/>
            </a:pPr>
            <a:r>
              <a:rPr sz="1250" b="0" i="0">
                <a:solidFill>
                  <a:srgbClr val="2B2118"/>
                </a:solidFill>
              </a:rPr>
              <a:t>Only kriging also gives an error map</a:t>
            </a:r>
          </a:p>
        </p:txBody>
      </p:sp>
      <p:sp>
        <p:nvSpPr>
          <p:cNvPr id="9" name="TextBox 8"/>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leave-one-out cross-validation; true field shown top-left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Geostatistics: concept, assumptions and workflow</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5669280" cy="7772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5486400" cy="777240"/>
          </a:xfrm>
          <a:prstGeom prst="rect">
            <a:avLst/>
          </a:prstGeom>
          <a:noFill/>
        </p:spPr>
        <p:txBody>
          <a:bodyPr wrap="square" lIns="27432" rIns="27432" tIns="27432" bIns="27432" anchor="ctr">
            <a:spAutoFit/>
          </a:bodyPr>
          <a:lstStyle/>
          <a:p>
            <a:pPr marL="0" indent="0" algn="ctr">
              <a:spcAft>
                <a:spcPts val="400"/>
              </a:spcAft>
              <a:buNone/>
            </a:pPr>
            <a:r>
              <a:rPr sz="2000" b="0" i="0">
                <a:solidFill>
                  <a:srgbClr val="2B2118"/>
                </a:solidFill>
                <a:latin typeface="Cambria"/>
              </a:rPr>
              <a:t>Z(x) = m(x) + ε′(x) + ε″</a:t>
            </a:r>
          </a:p>
        </p:txBody>
      </p:sp>
      <p:sp>
        <p:nvSpPr>
          <p:cNvPr id="6" name="TextBox 5"/>
          <p:cNvSpPr txBox="1"/>
          <p:nvPr/>
        </p:nvSpPr>
        <p:spPr>
          <a:xfrm>
            <a:off x="548640" y="2148840"/>
            <a:ext cx="5669280" cy="685800"/>
          </a:xfrm>
          <a:prstGeom prst="rect">
            <a:avLst/>
          </a:prstGeom>
          <a:noFill/>
        </p:spPr>
        <p:txBody>
          <a:bodyPr wrap="square" lIns="27432" rIns="27432" tIns="27432" bIns="27432" anchor="t">
            <a:spAutoFit/>
          </a:bodyPr>
          <a:lstStyle/>
          <a:p>
            <a:pPr marL="0" indent="0">
              <a:spcAft>
                <a:spcPts val="400"/>
              </a:spcAft>
              <a:buNone/>
            </a:pPr>
            <a:r>
              <a:rPr sz="1250" b="0" i="0">
                <a:solidFill>
                  <a:srgbClr val="4A3B2E"/>
                </a:solidFill>
              </a:rPr>
              <a:t>m(x) mean or trend · ε′(x) spatially autocorrelated part · ε″ uncorrelated noise (nugget)  — Matheron's regionalised variable theory</a:t>
            </a:r>
          </a:p>
        </p:txBody>
      </p:sp>
      <p:sp>
        <p:nvSpPr>
          <p:cNvPr id="7" name="Rounded Rectangle 6"/>
          <p:cNvSpPr/>
          <p:nvPr/>
        </p:nvSpPr>
        <p:spPr>
          <a:xfrm>
            <a:off x="548640" y="2880360"/>
            <a:ext cx="5669280" cy="31546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926080"/>
            <a:ext cx="5394960" cy="3063240"/>
          </a:xfrm>
          <a:prstGeom prst="rect">
            <a:avLst/>
          </a:prstGeom>
          <a:noFill/>
        </p:spPr>
        <p:txBody>
          <a:bodyPr wrap="square" lIns="27432" rIns="27432" tIns="27432" bIns="27432" anchor="t">
            <a:spAutoFit/>
          </a:bodyPr>
          <a:lstStyle/>
          <a:p>
            <a:pPr marL="0" indent="0">
              <a:spcAft>
                <a:spcPts val="400"/>
              </a:spcAft>
              <a:buNone/>
            </a:pPr>
            <a:r>
              <a:rPr sz="1400" b="1" i="0">
                <a:solidFill>
                  <a:srgbClr val="8C5A2B"/>
                </a:solidFill>
              </a:rPr>
              <a:t>Assumptions and principles</a:t>
            </a:r>
          </a:p>
          <a:p>
            <a:pPr marL="228600" indent="-228600">
              <a:spcAft>
                <a:spcPts val="400"/>
              </a:spcAft>
              <a:buFont typeface="Arial"/>
              <a:buChar char="•"/>
            </a:pPr>
            <a:r>
              <a:rPr sz="1250" b="1" i="0">
                <a:solidFill>
                  <a:srgbClr val="2B2118"/>
                </a:solidFill>
              </a:rPr>
              <a:t>Second-order stationarity</a:t>
            </a:r>
            <a:r>
              <a:rPr sz="1250" b="0" i="0">
                <a:solidFill>
                  <a:srgbClr val="2B2118"/>
                </a:solidFill>
              </a:rPr>
              <a:t>: constant mean; covariance depends only on lag h</a:t>
            </a:r>
          </a:p>
          <a:p>
            <a:pPr marL="228600" indent="-228600">
              <a:spcAft>
                <a:spcPts val="400"/>
              </a:spcAft>
              <a:buFont typeface="Arial"/>
              <a:buChar char="•"/>
            </a:pPr>
            <a:r>
              <a:rPr sz="1250" b="1" i="0">
                <a:solidFill>
                  <a:srgbClr val="2B2118"/>
                </a:solidFill>
              </a:rPr>
              <a:t>Intrinsic hypothesis</a:t>
            </a:r>
            <a:r>
              <a:rPr sz="1250" b="0" i="0">
                <a:solidFill>
                  <a:srgbClr val="2B2118"/>
                </a:solidFill>
              </a:rPr>
              <a:t>: Var[Z(x) − Z(x+h)] = 2γ(h) depends only on h</a:t>
            </a:r>
          </a:p>
          <a:p>
            <a:pPr marL="228600" indent="-228600">
              <a:spcAft>
                <a:spcPts val="400"/>
              </a:spcAft>
              <a:buFont typeface="Arial"/>
              <a:buChar char="•"/>
            </a:pPr>
            <a:r>
              <a:rPr sz="1250" b="1" i="0">
                <a:solidFill>
                  <a:srgbClr val="2B2118"/>
                </a:solidFill>
              </a:rPr>
              <a:t>BLUE</a:t>
            </a:r>
            <a:r>
              <a:rPr sz="1250" b="0" i="0">
                <a:solidFill>
                  <a:srgbClr val="2B2118"/>
                </a:solidFill>
              </a:rPr>
              <a:t>: best (minimum variance), linear, unbiased (Σλ = 1) estimator</a:t>
            </a:r>
          </a:p>
          <a:p>
            <a:pPr marL="228600" indent="-228600">
              <a:spcAft>
                <a:spcPts val="400"/>
              </a:spcAft>
              <a:buFont typeface="Arial"/>
              <a:buChar char="•"/>
            </a:pPr>
            <a:r>
              <a:rPr sz="1250" b="0" i="0">
                <a:solidFill>
                  <a:srgbClr val="2B2118"/>
                </a:solidFill>
              </a:rPr>
              <a:t>Kriging variance depends on sample layout and variogram, not on data values → can </a:t>
            </a:r>
            <a:r>
              <a:rPr sz="1250" b="1" i="0">
                <a:solidFill>
                  <a:srgbClr val="2B2118"/>
                </a:solidFill>
              </a:rPr>
              <a:t>design sampling</a:t>
            </a:r>
            <a:r>
              <a:rPr sz="1250" b="0" i="0">
                <a:solidFill>
                  <a:srgbClr val="2B2118"/>
                </a:solidFill>
              </a:rPr>
              <a:t> before measuring</a:t>
            </a:r>
          </a:p>
          <a:p>
            <a:pPr marL="228600" indent="-228600">
              <a:spcAft>
                <a:spcPts val="400"/>
              </a:spcAft>
              <a:buFont typeface="Arial"/>
              <a:buChar char="•"/>
            </a:pPr>
            <a:r>
              <a:rPr sz="1250" b="0" i="0">
                <a:solidFill>
                  <a:srgbClr val="2B2118"/>
                </a:solidFill>
              </a:rPr>
              <a:t>Non-stationary mean → universal kriging / regression-kriging</a:t>
            </a:r>
          </a:p>
        </p:txBody>
      </p:sp>
      <p:sp>
        <p:nvSpPr>
          <p:cNvPr id="9" name="Rounded Rectangle 8"/>
          <p:cNvSpPr/>
          <p:nvPr/>
        </p:nvSpPr>
        <p:spPr>
          <a:xfrm>
            <a:off x="6629400" y="1325880"/>
            <a:ext cx="4983480" cy="621792"/>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2B2118"/>
                </a:solidFill>
              </a:rPr>
              <a:t>EDA: normality, trend, outliers</a:t>
            </a:r>
          </a:p>
        </p:txBody>
      </p:sp>
      <p:cxnSp>
        <p:nvCxnSpPr>
          <p:cNvPr id="10" name="Connector 9"/>
          <p:cNvCxnSpPr/>
          <p:nvPr/>
        </p:nvCxnSpPr>
        <p:spPr>
          <a:xfrm>
            <a:off x="9116568" y="1947672"/>
            <a:ext cx="0" cy="173736"/>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629400" y="2121408"/>
            <a:ext cx="4983480" cy="621792"/>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Experimental variogram γ(h)</a:t>
            </a:r>
          </a:p>
        </p:txBody>
      </p:sp>
      <p:cxnSp>
        <p:nvCxnSpPr>
          <p:cNvPr id="12" name="Connector 11"/>
          <p:cNvCxnSpPr/>
          <p:nvPr/>
        </p:nvCxnSpPr>
        <p:spPr>
          <a:xfrm>
            <a:off x="9116568" y="2743200"/>
            <a:ext cx="0" cy="173736"/>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629400" y="2916936"/>
            <a:ext cx="4983480" cy="621792"/>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Fit model: nugget, sill, range, anisotropy</a:t>
            </a:r>
          </a:p>
        </p:txBody>
      </p:sp>
      <p:cxnSp>
        <p:nvCxnSpPr>
          <p:cNvPr id="14" name="Connector 13"/>
          <p:cNvCxnSpPr/>
          <p:nvPr/>
        </p:nvCxnSpPr>
        <p:spPr>
          <a:xfrm>
            <a:off x="9116568" y="3538728"/>
            <a:ext cx="0" cy="173735"/>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629400" y="3712463"/>
            <a:ext cx="4983480" cy="621792"/>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Solve kriging system for λ</a:t>
            </a:r>
          </a:p>
        </p:txBody>
      </p:sp>
      <p:cxnSp>
        <p:nvCxnSpPr>
          <p:cNvPr id="16" name="Connector 15"/>
          <p:cNvCxnSpPr/>
          <p:nvPr/>
        </p:nvCxnSpPr>
        <p:spPr>
          <a:xfrm>
            <a:off x="9116568" y="4334255"/>
            <a:ext cx="0" cy="173737"/>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29400" y="4507992"/>
            <a:ext cx="4983480" cy="621792"/>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Prediction Ẑ + kriging variance σ²</a:t>
            </a:r>
            <a:r>
              <a:rPr sz="1300" b="1" i="0" baseline="-25000">
                <a:solidFill>
                  <a:srgbClr val="FFFFFF"/>
                </a:solidFill>
              </a:rPr>
              <a:t>K</a:t>
            </a:r>
          </a:p>
        </p:txBody>
      </p:sp>
      <p:cxnSp>
        <p:nvCxnSpPr>
          <p:cNvPr id="18" name="Connector 17"/>
          <p:cNvCxnSpPr/>
          <p:nvPr/>
        </p:nvCxnSpPr>
        <p:spPr>
          <a:xfrm>
            <a:off x="9116568" y="5129783"/>
            <a:ext cx="0" cy="173737"/>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629400" y="5303520"/>
            <a:ext cx="4983480" cy="621792"/>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Cross-validate: ME, RMSE, MSDR</a:t>
            </a:r>
          </a:p>
        </p:txBody>
      </p:sp>
      <p:sp>
        <p:nvSpPr>
          <p:cNvPr id="20" name="TextBox 19"/>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Matheron (1963); Oliver &amp; Webster (2014) Catena 113:56–69; Webster &amp; Oliver (2007) Geostatistics for Environmental Scientists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How kriging chooses its weights</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6126480" cy="297180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_weights.png"/>
          <p:cNvPicPr>
            <a:picLocks noChangeAspect="1"/>
          </p:cNvPicPr>
          <p:nvPr/>
        </p:nvPicPr>
        <p:blipFill>
          <a:blip r:embed="rId3"/>
          <a:stretch>
            <a:fillRect/>
          </a:stretch>
        </p:blipFill>
        <p:spPr>
          <a:xfrm>
            <a:off x="651836" y="1399032"/>
            <a:ext cx="5920086" cy="2825496"/>
          </a:xfrm>
          <a:prstGeom prst="rect">
            <a:avLst/>
          </a:prstGeom>
        </p:spPr>
      </p:pic>
      <p:sp>
        <p:nvSpPr>
          <p:cNvPr id="6" name="TextBox 5"/>
          <p:cNvSpPr txBox="1"/>
          <p:nvPr/>
        </p:nvSpPr>
        <p:spPr>
          <a:xfrm>
            <a:off x="548640" y="4334256"/>
            <a:ext cx="612648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Weights for one target (✕), same 9 points; ordinary kriging with a spherical variogram (range 400 m). Computed for this talk</a:t>
            </a:r>
          </a:p>
        </p:txBody>
      </p:sp>
      <p:sp>
        <p:nvSpPr>
          <p:cNvPr id="7" name="Rounded Rectangle 6"/>
          <p:cNvSpPr/>
          <p:nvPr/>
        </p:nvSpPr>
        <p:spPr>
          <a:xfrm>
            <a:off x="6903720" y="1325880"/>
            <a:ext cx="4709160" cy="23774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1371600"/>
            <a:ext cx="4434840" cy="2286000"/>
          </a:xfrm>
          <a:prstGeom prst="rect">
            <a:avLst/>
          </a:prstGeom>
          <a:noFill/>
        </p:spPr>
        <p:txBody>
          <a:bodyPr wrap="square" lIns="27432" rIns="27432" tIns="27432" bIns="27432" anchor="t">
            <a:spAutoFit/>
          </a:bodyPr>
          <a:lstStyle/>
          <a:p>
            <a:pPr marL="0" indent="0">
              <a:spcAft>
                <a:spcPts val="400"/>
              </a:spcAft>
              <a:buNone/>
            </a:pPr>
            <a:r>
              <a:rPr sz="1400" b="1" i="0">
                <a:solidFill>
                  <a:srgbClr val="8C5A2B"/>
                </a:solidFill>
              </a:rPr>
              <a:t>Kriging system (ordinary kriging)</a:t>
            </a:r>
          </a:p>
          <a:p>
            <a:pPr marL="0" indent="0">
              <a:spcAft>
                <a:spcPts val="400"/>
              </a:spcAft>
              <a:buNone/>
            </a:pPr>
            <a:r>
              <a:rPr sz="1400" b="0" i="0">
                <a:solidFill>
                  <a:srgbClr val="2B2118"/>
                </a:solidFill>
                <a:latin typeface="Cambria"/>
              </a:rPr>
              <a:t>Σ</a:t>
            </a:r>
            <a:r>
              <a:rPr sz="1400" b="0" i="0" baseline="-25000">
                <a:solidFill>
                  <a:srgbClr val="2B2118"/>
                </a:solidFill>
                <a:latin typeface="Cambria"/>
              </a:rPr>
              <a:t>j</a:t>
            </a:r>
            <a:r>
              <a:rPr sz="1400" b="0" i="0">
                <a:solidFill>
                  <a:srgbClr val="2B2118"/>
                </a:solidFill>
                <a:latin typeface="Cambria"/>
              </a:rPr>
              <a:t> λ</a:t>
            </a:r>
            <a:r>
              <a:rPr sz="1400" b="0" i="0" baseline="-25000">
                <a:solidFill>
                  <a:srgbClr val="2B2118"/>
                </a:solidFill>
                <a:latin typeface="Cambria"/>
              </a:rPr>
              <a:t>j</a:t>
            </a:r>
            <a:r>
              <a:rPr sz="1400" b="0" i="0">
                <a:solidFill>
                  <a:srgbClr val="2B2118"/>
                </a:solidFill>
                <a:latin typeface="Cambria"/>
              </a:rPr>
              <a:t> γ(x</a:t>
            </a:r>
            <a:r>
              <a:rPr sz="1400" b="0" i="0" baseline="-25000">
                <a:solidFill>
                  <a:srgbClr val="2B2118"/>
                </a:solidFill>
                <a:latin typeface="Cambria"/>
              </a:rPr>
              <a:t>i</a:t>
            </a:r>
            <a:r>
              <a:rPr sz="1400" b="0" i="0">
                <a:solidFill>
                  <a:srgbClr val="2B2118"/>
                </a:solidFill>
                <a:latin typeface="Cambria"/>
              </a:rPr>
              <a:t>, x</a:t>
            </a:r>
            <a:r>
              <a:rPr sz="1400" b="0" i="0" baseline="-25000">
                <a:solidFill>
                  <a:srgbClr val="2B2118"/>
                </a:solidFill>
                <a:latin typeface="Cambria"/>
              </a:rPr>
              <a:t>j</a:t>
            </a:r>
            <a:r>
              <a:rPr sz="1400" b="0" i="0">
                <a:solidFill>
                  <a:srgbClr val="2B2118"/>
                </a:solidFill>
                <a:latin typeface="Cambria"/>
              </a:rPr>
              <a:t>) + ψ = γ(x</a:t>
            </a:r>
            <a:r>
              <a:rPr sz="1400" b="0" i="0" baseline="-25000">
                <a:solidFill>
                  <a:srgbClr val="2B2118"/>
                </a:solidFill>
                <a:latin typeface="Cambria"/>
              </a:rPr>
              <a:t>i</a:t>
            </a:r>
            <a:r>
              <a:rPr sz="1400" b="0" i="0">
                <a:solidFill>
                  <a:srgbClr val="2B2118"/>
                </a:solidFill>
                <a:latin typeface="Cambria"/>
              </a:rPr>
              <a:t>, x</a:t>
            </a:r>
            <a:r>
              <a:rPr sz="1400" b="0" i="0" baseline="-25000">
                <a:solidFill>
                  <a:srgbClr val="2B2118"/>
                </a:solidFill>
                <a:latin typeface="Cambria"/>
              </a:rPr>
              <a:t>0</a:t>
            </a:r>
            <a:r>
              <a:rPr sz="1400" b="0" i="0">
                <a:solidFill>
                  <a:srgbClr val="2B2118"/>
                </a:solidFill>
                <a:latin typeface="Cambria"/>
              </a:rPr>
              <a:t>),   i = 1…n</a:t>
            </a:r>
          </a:p>
          <a:p>
            <a:pPr marL="0" indent="0">
              <a:spcAft>
                <a:spcPts val="400"/>
              </a:spcAft>
              <a:buNone/>
            </a:pPr>
            <a:r>
              <a:rPr sz="1400" b="0" i="0">
                <a:solidFill>
                  <a:srgbClr val="2B2118"/>
                </a:solidFill>
                <a:latin typeface="Cambria"/>
              </a:rPr>
              <a:t>Σ</a:t>
            </a:r>
            <a:r>
              <a:rPr sz="1400" b="0" i="0" baseline="-25000">
                <a:solidFill>
                  <a:srgbClr val="2B2118"/>
                </a:solidFill>
                <a:latin typeface="Cambria"/>
              </a:rPr>
              <a:t>j</a:t>
            </a:r>
            <a:r>
              <a:rPr sz="1400" b="0" i="0">
                <a:solidFill>
                  <a:srgbClr val="2B2118"/>
                </a:solidFill>
                <a:latin typeface="Cambria"/>
              </a:rPr>
              <a:t> λ</a:t>
            </a:r>
            <a:r>
              <a:rPr sz="1400" b="0" i="0" baseline="-25000">
                <a:solidFill>
                  <a:srgbClr val="2B2118"/>
                </a:solidFill>
                <a:latin typeface="Cambria"/>
              </a:rPr>
              <a:t>j</a:t>
            </a:r>
            <a:r>
              <a:rPr sz="1400" b="0" i="0">
                <a:solidFill>
                  <a:srgbClr val="2B2118"/>
                </a:solidFill>
                <a:latin typeface="Cambria"/>
              </a:rPr>
              <a:t> = 1</a:t>
            </a:r>
          </a:p>
          <a:p>
            <a:pPr marL="0" indent="0">
              <a:spcAft>
                <a:spcPts val="400"/>
              </a:spcAft>
              <a:buNone/>
            </a:pPr>
            <a:r>
              <a:rPr sz="1400" b="0" i="0">
                <a:solidFill>
                  <a:srgbClr val="2B2118"/>
                </a:solidFill>
                <a:latin typeface="Cambria"/>
              </a:rPr>
              <a:t>σ²</a:t>
            </a:r>
            <a:r>
              <a:rPr sz="1400" b="0" i="0" baseline="-25000">
                <a:solidFill>
                  <a:srgbClr val="2B2118"/>
                </a:solidFill>
                <a:latin typeface="Cambria"/>
              </a:rPr>
              <a:t>K</a:t>
            </a:r>
            <a:r>
              <a:rPr sz="1400" b="0" i="0">
                <a:solidFill>
                  <a:srgbClr val="2B2118"/>
                </a:solidFill>
                <a:latin typeface="Cambria"/>
              </a:rPr>
              <a:t>(x</a:t>
            </a:r>
            <a:r>
              <a:rPr sz="1400" b="0" i="0" baseline="-25000">
                <a:solidFill>
                  <a:srgbClr val="2B2118"/>
                </a:solidFill>
                <a:latin typeface="Cambria"/>
              </a:rPr>
              <a:t>0</a:t>
            </a:r>
            <a:r>
              <a:rPr sz="1400" b="0" i="0">
                <a:solidFill>
                  <a:srgbClr val="2B2118"/>
                </a:solidFill>
                <a:latin typeface="Cambria"/>
              </a:rPr>
              <a:t>) = Σ λ</a:t>
            </a:r>
            <a:r>
              <a:rPr sz="1400" b="0" i="0" baseline="-25000">
                <a:solidFill>
                  <a:srgbClr val="2B2118"/>
                </a:solidFill>
                <a:latin typeface="Cambria"/>
              </a:rPr>
              <a:t>i</a:t>
            </a:r>
            <a:r>
              <a:rPr sz="1400" b="0" i="0">
                <a:solidFill>
                  <a:srgbClr val="2B2118"/>
                </a:solidFill>
                <a:latin typeface="Cambria"/>
              </a:rPr>
              <a:t> γ(x</a:t>
            </a:r>
            <a:r>
              <a:rPr sz="1400" b="0" i="0" baseline="-25000">
                <a:solidFill>
                  <a:srgbClr val="2B2118"/>
                </a:solidFill>
                <a:latin typeface="Cambria"/>
              </a:rPr>
              <a:t>i</a:t>
            </a:r>
            <a:r>
              <a:rPr sz="1400" b="0" i="0">
                <a:solidFill>
                  <a:srgbClr val="2B2118"/>
                </a:solidFill>
                <a:latin typeface="Cambria"/>
              </a:rPr>
              <a:t>, x</a:t>
            </a:r>
            <a:r>
              <a:rPr sz="1400" b="0" i="0" baseline="-25000">
                <a:solidFill>
                  <a:srgbClr val="2B2118"/>
                </a:solidFill>
                <a:latin typeface="Cambria"/>
              </a:rPr>
              <a:t>0</a:t>
            </a:r>
            <a:r>
              <a:rPr sz="1400" b="0" i="0">
                <a:solidFill>
                  <a:srgbClr val="2B2118"/>
                </a:solidFill>
                <a:latin typeface="Cambria"/>
              </a:rPr>
              <a:t>) + ψ</a:t>
            </a:r>
          </a:p>
          <a:p>
            <a:pPr marL="0" indent="0">
              <a:spcAft>
                <a:spcPts val="400"/>
              </a:spcAft>
              <a:buNone/>
            </a:pPr>
            <a:r>
              <a:rPr sz="1200" b="0" i="0">
                <a:solidFill>
                  <a:srgbClr val="4A3B2E"/>
                </a:solidFill>
              </a:rPr>
              <a:t>Minimise estimation variance subject to Σλ = 1 (Lagrange multiplier ψ)</a:t>
            </a:r>
          </a:p>
        </p:txBody>
      </p:sp>
      <p:sp>
        <p:nvSpPr>
          <p:cNvPr id="9" name="Rounded Rectangle 8"/>
          <p:cNvSpPr/>
          <p:nvPr/>
        </p:nvSpPr>
        <p:spPr>
          <a:xfrm>
            <a:off x="6903720" y="3840480"/>
            <a:ext cx="4709160" cy="219456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0" y="3886200"/>
            <a:ext cx="4434840" cy="2103120"/>
          </a:xfrm>
          <a:prstGeom prst="rect">
            <a:avLst/>
          </a:prstGeom>
          <a:noFill/>
        </p:spPr>
        <p:txBody>
          <a:bodyPr wrap="square" lIns="27432" rIns="27432" tIns="27432" bIns="27432" anchor="t">
            <a:spAutoFit/>
          </a:bodyPr>
          <a:lstStyle/>
          <a:p>
            <a:pPr marL="0" indent="0">
              <a:spcAft>
                <a:spcPts val="400"/>
              </a:spcAft>
              <a:buNone/>
            </a:pPr>
            <a:r>
              <a:rPr sz="1400" b="1" i="0">
                <a:solidFill>
                  <a:srgbClr val="2E7D7A"/>
                </a:solidFill>
              </a:rPr>
              <a:t>What the figure shows</a:t>
            </a:r>
          </a:p>
          <a:p>
            <a:pPr marL="228600" indent="-228600">
              <a:spcAft>
                <a:spcPts val="400"/>
              </a:spcAft>
              <a:buFont typeface="Arial"/>
              <a:buChar char="•"/>
            </a:pPr>
            <a:r>
              <a:rPr sz="1250" b="1" i="0">
                <a:solidFill>
                  <a:srgbClr val="2B2118"/>
                </a:solidFill>
              </a:rPr>
              <a:t>Declustering</a:t>
            </a:r>
            <a:r>
              <a:rPr sz="1250" b="0" i="0">
                <a:solidFill>
                  <a:srgbClr val="2B2118"/>
                </a:solidFill>
              </a:rPr>
              <a:t>: 3-point cluster total weight 0.33 (IDW) → 0.27 (kriging)</a:t>
            </a:r>
          </a:p>
          <a:p>
            <a:pPr marL="228600" indent="-228600">
              <a:spcAft>
                <a:spcPts val="400"/>
              </a:spcAft>
              <a:buFont typeface="Arial"/>
              <a:buChar char="•"/>
            </a:pPr>
            <a:r>
              <a:rPr sz="1250" b="1" i="0">
                <a:solidFill>
                  <a:srgbClr val="2B2118"/>
                </a:solidFill>
              </a:rPr>
              <a:t>Screening</a:t>
            </a:r>
            <a:r>
              <a:rPr sz="1250" b="0" i="0">
                <a:solidFill>
                  <a:srgbClr val="2B2118"/>
                </a:solidFill>
              </a:rPr>
              <a:t>: points hidden behind nearer points get </a:t>
            </a:r>
            <a:r>
              <a:rPr sz="1250" b="1" i="0">
                <a:solidFill>
                  <a:srgbClr val="2B2118"/>
                </a:solidFill>
              </a:rPr>
              <a:t>negative</a:t>
            </a:r>
            <a:r>
              <a:rPr sz="1250" b="0" i="0">
                <a:solidFill>
                  <a:srgbClr val="2B2118"/>
                </a:solidFill>
              </a:rPr>
              <a:t> weights</a:t>
            </a:r>
          </a:p>
          <a:p>
            <a:pPr marL="228600" indent="-228600">
              <a:spcAft>
                <a:spcPts val="400"/>
              </a:spcAft>
              <a:buFont typeface="Arial"/>
              <a:buChar char="•"/>
            </a:pPr>
            <a:r>
              <a:rPr sz="1250" b="0" i="0">
                <a:solidFill>
                  <a:srgbClr val="2B2118"/>
                </a:solidFill>
              </a:rPr>
              <a:t>Weights follow the variogram, not distance alone</a:t>
            </a:r>
          </a:p>
        </p:txBody>
      </p:sp>
      <p:sp>
        <p:nvSpPr>
          <p:cNvPr id="11" name="Rounded Rectangle 10"/>
          <p:cNvSpPr/>
          <p:nvPr/>
        </p:nvSpPr>
        <p:spPr>
          <a:xfrm>
            <a:off x="548640" y="4892040"/>
            <a:ext cx="6126480" cy="1143000"/>
          </a:xfrm>
          <a:prstGeom prst="roundRect">
            <a:avLst>
              <a:gd name="adj" fmla="val 6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937760"/>
            <a:ext cx="5852160" cy="1051560"/>
          </a:xfrm>
          <a:prstGeom prst="rect">
            <a:avLst/>
          </a:prstGeom>
          <a:noFill/>
        </p:spPr>
        <p:txBody>
          <a:bodyPr wrap="square" lIns="27432" rIns="27432" tIns="27432" bIns="27432" anchor="ctr">
            <a:spAutoFit/>
          </a:bodyPr>
          <a:lstStyle/>
          <a:p>
            <a:pPr marL="0" indent="0">
              <a:spcAft>
                <a:spcPts val="400"/>
              </a:spcAft>
              <a:buNone/>
            </a:pPr>
            <a:r>
              <a:rPr sz="1300" b="0" i="0">
                <a:solidFill>
                  <a:srgbClr val="FFFFFF"/>
                </a:solidFill>
              </a:rPr>
              <a:t>σ²</a:t>
            </a:r>
            <a:r>
              <a:rPr sz="1300" b="0" i="0" baseline="-25000">
                <a:solidFill>
                  <a:srgbClr val="FFFFFF"/>
                </a:solidFill>
              </a:rPr>
              <a:t>K</a:t>
            </a:r>
            <a:r>
              <a:rPr sz="1300" b="0" i="0">
                <a:solidFill>
                  <a:srgbClr val="FFFFFF"/>
                </a:solidFill>
              </a:rPr>
              <a:t> needs only the sample layout + variogram, not the data values → </a:t>
            </a:r>
            <a:r>
              <a:rPr sz="1300" b="1" i="0">
                <a:solidFill>
                  <a:srgbClr val="FFFFFF"/>
                </a:solidFill>
              </a:rPr>
              <a:t>optimise sampling design before going to the field</a:t>
            </a:r>
          </a:p>
        </p:txBody>
      </p:sp>
      <p:sp>
        <p:nvSpPr>
          <p:cNvPr id="13" name="TextBox 12"/>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Oliver &amp; Webster (2014) Catena 113:56–69; Webster &amp; Oliver (2007) Geostatistics for Environmental Scientists; illustration computed for this talk</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Simple, ordinary and universal kriging (and KED)</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2286000" cy="132588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50" b="1" i="0">
                <a:solidFill>
                  <a:srgbClr val="FFFFFF"/>
                </a:solidFill>
              </a:rPr>
              <a:t>Simple kriging (SK)</a:t>
            </a:r>
          </a:p>
        </p:txBody>
      </p:sp>
      <p:sp>
        <p:nvSpPr>
          <p:cNvPr id="5" name="Rounded Rectangle 4"/>
          <p:cNvSpPr/>
          <p:nvPr/>
        </p:nvSpPr>
        <p:spPr>
          <a:xfrm>
            <a:off x="2926080" y="1325880"/>
            <a:ext cx="4114800" cy="13258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063240" y="1371600"/>
            <a:ext cx="3840480" cy="1234440"/>
          </a:xfrm>
          <a:prstGeom prst="rect">
            <a:avLst/>
          </a:prstGeom>
          <a:noFill/>
        </p:spPr>
        <p:txBody>
          <a:bodyPr wrap="square" lIns="27432" rIns="27432" tIns="27432" bIns="27432" anchor="t">
            <a:spAutoFit/>
          </a:bodyPr>
          <a:lstStyle/>
          <a:p>
            <a:pPr marL="0" indent="0">
              <a:spcAft>
                <a:spcPts val="400"/>
              </a:spcAft>
              <a:buNone/>
            </a:pPr>
            <a:r>
              <a:rPr sz="1250" b="0" i="0">
                <a:solidFill>
                  <a:srgbClr val="4A3B2E"/>
                </a:solidFill>
              </a:rPr>
              <a:t>Mean m known, constant</a:t>
            </a:r>
          </a:p>
          <a:p>
            <a:pPr marL="0" indent="0">
              <a:spcAft>
                <a:spcPts val="400"/>
              </a:spcAft>
              <a:buNone/>
            </a:pPr>
            <a:r>
              <a:rPr sz="1500" b="0" i="0">
                <a:solidFill>
                  <a:srgbClr val="2B2118"/>
                </a:solidFill>
                <a:latin typeface="Cambria"/>
              </a:rPr>
              <a:t>Ẑ = m + Σλ</a:t>
            </a:r>
            <a:r>
              <a:rPr sz="1500" b="0" i="0" baseline="-25000">
                <a:solidFill>
                  <a:srgbClr val="2B2118"/>
                </a:solidFill>
                <a:latin typeface="Cambria"/>
              </a:rPr>
              <a:t>i</a:t>
            </a:r>
            <a:r>
              <a:rPr sz="1500" b="0" i="0">
                <a:solidFill>
                  <a:srgbClr val="2B2118"/>
                </a:solidFill>
                <a:latin typeface="Cambria"/>
              </a:rPr>
              <a:t>[z(x</a:t>
            </a:r>
            <a:r>
              <a:rPr sz="1500" b="0" i="0" baseline="-25000">
                <a:solidFill>
                  <a:srgbClr val="2B2118"/>
                </a:solidFill>
                <a:latin typeface="Cambria"/>
              </a:rPr>
              <a:t>i</a:t>
            </a:r>
            <a:r>
              <a:rPr sz="1500" b="0" i="0">
                <a:solidFill>
                  <a:srgbClr val="2B2118"/>
                </a:solidFill>
                <a:latin typeface="Cambria"/>
              </a:rPr>
              <a:t>) − m]</a:t>
            </a:r>
          </a:p>
          <a:p>
            <a:pPr marL="0" indent="0">
              <a:spcAft>
                <a:spcPts val="400"/>
              </a:spcAft>
              <a:buNone/>
            </a:pPr>
            <a:r>
              <a:rPr sz="1200" b="0" i="0">
                <a:solidFill>
                  <a:srgbClr val="2B2118"/>
                </a:solidFill>
              </a:rPr>
              <a:t>Constraint: no constraint on λ</a:t>
            </a:r>
          </a:p>
        </p:txBody>
      </p:sp>
      <p:sp>
        <p:nvSpPr>
          <p:cNvPr id="7" name="Rounded Rectangle 6"/>
          <p:cNvSpPr/>
          <p:nvPr/>
        </p:nvSpPr>
        <p:spPr>
          <a:xfrm>
            <a:off x="548640" y="2807208"/>
            <a:ext cx="2286000" cy="132588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50" b="1" i="0">
                <a:solidFill>
                  <a:srgbClr val="FFFFFF"/>
                </a:solidFill>
              </a:rPr>
              <a:t>Ordinary kriging (OK)</a:t>
            </a:r>
          </a:p>
        </p:txBody>
      </p:sp>
      <p:sp>
        <p:nvSpPr>
          <p:cNvPr id="8" name="Rounded Rectangle 7"/>
          <p:cNvSpPr/>
          <p:nvPr/>
        </p:nvSpPr>
        <p:spPr>
          <a:xfrm>
            <a:off x="2926080" y="2807208"/>
            <a:ext cx="4114800" cy="13258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2852928"/>
            <a:ext cx="3840480" cy="1234440"/>
          </a:xfrm>
          <a:prstGeom prst="rect">
            <a:avLst/>
          </a:prstGeom>
          <a:noFill/>
        </p:spPr>
        <p:txBody>
          <a:bodyPr wrap="square" lIns="27432" rIns="27432" tIns="27432" bIns="27432" anchor="t">
            <a:spAutoFit/>
          </a:bodyPr>
          <a:lstStyle/>
          <a:p>
            <a:pPr marL="0" indent="0">
              <a:spcAft>
                <a:spcPts val="400"/>
              </a:spcAft>
              <a:buNone/>
            </a:pPr>
            <a:r>
              <a:rPr sz="1250" b="0" i="0">
                <a:solidFill>
                  <a:srgbClr val="4A3B2E"/>
                </a:solidFill>
              </a:rPr>
              <a:t>Mean constant but unknown (locally)</a:t>
            </a:r>
          </a:p>
          <a:p>
            <a:pPr marL="0" indent="0">
              <a:spcAft>
                <a:spcPts val="400"/>
              </a:spcAft>
              <a:buNone/>
            </a:pPr>
            <a:r>
              <a:rPr sz="1500" b="0" i="0">
                <a:solidFill>
                  <a:srgbClr val="2B2118"/>
                </a:solidFill>
                <a:latin typeface="Cambria"/>
              </a:rPr>
              <a:t>Ẑ = Σλ</a:t>
            </a:r>
            <a:r>
              <a:rPr sz="1500" b="0" i="0" baseline="-25000">
                <a:solidFill>
                  <a:srgbClr val="2B2118"/>
                </a:solidFill>
                <a:latin typeface="Cambria"/>
              </a:rPr>
              <a:t>i</a:t>
            </a:r>
            <a:r>
              <a:rPr sz="1500" b="0" i="0">
                <a:solidFill>
                  <a:srgbClr val="2B2118"/>
                </a:solidFill>
                <a:latin typeface="Cambria"/>
              </a:rPr>
              <a:t> z(x</a:t>
            </a:r>
            <a:r>
              <a:rPr sz="1500" b="0" i="0" baseline="-25000">
                <a:solidFill>
                  <a:srgbClr val="2B2118"/>
                </a:solidFill>
                <a:latin typeface="Cambria"/>
              </a:rPr>
              <a:t>i</a:t>
            </a:r>
            <a:r>
              <a:rPr sz="1500" b="0" i="0">
                <a:solidFill>
                  <a:srgbClr val="2B2118"/>
                </a:solidFill>
                <a:latin typeface="Cambria"/>
              </a:rPr>
              <a:t>)</a:t>
            </a:r>
          </a:p>
          <a:p>
            <a:pPr marL="0" indent="0">
              <a:spcAft>
                <a:spcPts val="400"/>
              </a:spcAft>
              <a:buNone/>
            </a:pPr>
            <a:r>
              <a:rPr sz="1200" b="0" i="0">
                <a:solidFill>
                  <a:srgbClr val="2B2118"/>
                </a:solidFill>
              </a:rPr>
              <a:t>Constraint: Σλ</a:t>
            </a:r>
            <a:r>
              <a:rPr sz="1200" b="0" i="0" baseline="-25000">
                <a:solidFill>
                  <a:srgbClr val="2B2118"/>
                </a:solidFill>
              </a:rPr>
              <a:t>i</a:t>
            </a:r>
            <a:r>
              <a:rPr sz="1200" b="0" i="0">
                <a:solidFill>
                  <a:srgbClr val="2B2118"/>
                </a:solidFill>
              </a:rPr>
              <a:t> = 1</a:t>
            </a:r>
          </a:p>
        </p:txBody>
      </p:sp>
      <p:sp>
        <p:nvSpPr>
          <p:cNvPr id="10" name="Rounded Rectangle 9"/>
          <p:cNvSpPr/>
          <p:nvPr/>
        </p:nvSpPr>
        <p:spPr>
          <a:xfrm>
            <a:off x="548640" y="4288536"/>
            <a:ext cx="2286000" cy="132588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50" b="1" i="0">
                <a:solidFill>
                  <a:srgbClr val="FFFFFF"/>
                </a:solidFill>
              </a:rPr>
              <a:t>Universal kriging / KED</a:t>
            </a:r>
          </a:p>
        </p:txBody>
      </p:sp>
      <p:sp>
        <p:nvSpPr>
          <p:cNvPr id="11" name="Rounded Rectangle 10"/>
          <p:cNvSpPr/>
          <p:nvPr/>
        </p:nvSpPr>
        <p:spPr>
          <a:xfrm>
            <a:off x="2926080" y="4288536"/>
            <a:ext cx="4114800" cy="132588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4334256"/>
            <a:ext cx="3840480" cy="1234440"/>
          </a:xfrm>
          <a:prstGeom prst="rect">
            <a:avLst/>
          </a:prstGeom>
          <a:noFill/>
        </p:spPr>
        <p:txBody>
          <a:bodyPr wrap="square" lIns="27432" rIns="27432" tIns="27432" bIns="27432" anchor="t">
            <a:spAutoFit/>
          </a:bodyPr>
          <a:lstStyle/>
          <a:p>
            <a:pPr marL="0" indent="0">
              <a:spcAft>
                <a:spcPts val="400"/>
              </a:spcAft>
              <a:buNone/>
            </a:pPr>
            <a:r>
              <a:rPr sz="1250" b="0" i="0">
                <a:solidFill>
                  <a:srgbClr val="4A3B2E"/>
                </a:solidFill>
              </a:rPr>
              <a:t>Mean = trend in coordinates (UK) or covariates (KED)</a:t>
            </a:r>
          </a:p>
          <a:p>
            <a:pPr marL="0" indent="0">
              <a:spcAft>
                <a:spcPts val="400"/>
              </a:spcAft>
              <a:buNone/>
            </a:pPr>
            <a:r>
              <a:rPr sz="1500" b="0" i="0">
                <a:solidFill>
                  <a:srgbClr val="2B2118"/>
                </a:solidFill>
                <a:latin typeface="Cambria"/>
              </a:rPr>
              <a:t>m(x) = Σ β</a:t>
            </a:r>
            <a:r>
              <a:rPr sz="1500" b="0" i="0" baseline="-25000">
                <a:solidFill>
                  <a:srgbClr val="2B2118"/>
                </a:solidFill>
                <a:latin typeface="Cambria"/>
              </a:rPr>
              <a:t>k</a:t>
            </a:r>
            <a:r>
              <a:rPr sz="1500" b="0" i="0">
                <a:solidFill>
                  <a:srgbClr val="2B2118"/>
                </a:solidFill>
                <a:latin typeface="Cambria"/>
              </a:rPr>
              <a:t> f</a:t>
            </a:r>
            <a:r>
              <a:rPr sz="1500" b="0" i="0" baseline="-25000">
                <a:solidFill>
                  <a:srgbClr val="2B2118"/>
                </a:solidFill>
                <a:latin typeface="Cambria"/>
              </a:rPr>
              <a:t>k</a:t>
            </a:r>
            <a:r>
              <a:rPr sz="1500" b="0" i="0">
                <a:solidFill>
                  <a:srgbClr val="2B2118"/>
                </a:solidFill>
                <a:latin typeface="Cambria"/>
              </a:rPr>
              <a:t>(x)</a:t>
            </a:r>
          </a:p>
          <a:p>
            <a:pPr marL="0" indent="0">
              <a:spcAft>
                <a:spcPts val="400"/>
              </a:spcAft>
              <a:buNone/>
            </a:pPr>
            <a:r>
              <a:rPr sz="1200" b="0" i="0">
                <a:solidFill>
                  <a:srgbClr val="2B2118"/>
                </a:solidFill>
              </a:rPr>
              <a:t>Constraint: Σλ</a:t>
            </a:r>
            <a:r>
              <a:rPr sz="1200" b="0" i="0" baseline="-25000">
                <a:solidFill>
                  <a:srgbClr val="2B2118"/>
                </a:solidFill>
              </a:rPr>
              <a:t>i</a:t>
            </a:r>
            <a:r>
              <a:rPr sz="1200" b="0" i="0">
                <a:solidFill>
                  <a:srgbClr val="2B2118"/>
                </a:solidFill>
              </a:rPr>
              <a:t> f</a:t>
            </a:r>
            <a:r>
              <a:rPr sz="1200" b="0" i="0" baseline="-25000">
                <a:solidFill>
                  <a:srgbClr val="2B2118"/>
                </a:solidFill>
              </a:rPr>
              <a:t>k</a:t>
            </a:r>
            <a:r>
              <a:rPr sz="1200" b="0" i="0">
                <a:solidFill>
                  <a:srgbClr val="2B2118"/>
                </a:solidFill>
              </a:rPr>
              <a:t>(x</a:t>
            </a:r>
            <a:r>
              <a:rPr sz="1200" b="0" i="0" baseline="-25000">
                <a:solidFill>
                  <a:srgbClr val="2B2118"/>
                </a:solidFill>
              </a:rPr>
              <a:t>i</a:t>
            </a:r>
            <a:r>
              <a:rPr sz="1200" b="0" i="0">
                <a:solidFill>
                  <a:srgbClr val="2B2118"/>
                </a:solidFill>
              </a:rPr>
              <a:t>) = f</a:t>
            </a:r>
            <a:r>
              <a:rPr sz="1200" b="0" i="0" baseline="-25000">
                <a:solidFill>
                  <a:srgbClr val="2B2118"/>
                </a:solidFill>
              </a:rPr>
              <a:t>k</a:t>
            </a:r>
            <a:r>
              <a:rPr sz="1200" b="0" i="0">
                <a:solidFill>
                  <a:srgbClr val="2B2118"/>
                </a:solidFill>
              </a:rPr>
              <a:t>(x</a:t>
            </a:r>
            <a:r>
              <a:rPr sz="1200" b="0" i="0" baseline="-25000">
                <a:solidFill>
                  <a:srgbClr val="2B2118"/>
                </a:solidFill>
              </a:rPr>
              <a:t>0</a:t>
            </a:r>
            <a:r>
              <a:rPr sz="1200" b="0" i="0">
                <a:solidFill>
                  <a:srgbClr val="2B2118"/>
                </a:solidFill>
              </a:rPr>
              <a:t>); residual variogram</a:t>
            </a:r>
          </a:p>
        </p:txBody>
      </p:sp>
      <p:sp>
        <p:nvSpPr>
          <p:cNvPr id="13" name="TextBox 12"/>
          <p:cNvSpPr txBox="1"/>
          <p:nvPr/>
        </p:nvSpPr>
        <p:spPr>
          <a:xfrm>
            <a:off x="7315200" y="1325880"/>
            <a:ext cx="4297680" cy="365760"/>
          </a:xfrm>
          <a:prstGeom prst="rect">
            <a:avLst/>
          </a:prstGeom>
          <a:noFill/>
        </p:spPr>
        <p:txBody>
          <a:bodyPr wrap="square" lIns="27432" rIns="27432" tIns="27432" bIns="27432" anchor="t">
            <a:spAutoFit/>
          </a:bodyPr>
          <a:lstStyle/>
          <a:p>
            <a:pPr marL="0" indent="0">
              <a:spcAft>
                <a:spcPts val="400"/>
              </a:spcAft>
              <a:buNone/>
            </a:pPr>
            <a:r>
              <a:rPr sz="1400" b="1" i="0">
                <a:solidFill>
                  <a:srgbClr val="8C5A2B"/>
                </a:solidFill>
              </a:rPr>
              <a:t>Which one? Decision tree</a:t>
            </a:r>
          </a:p>
        </p:txBody>
      </p:sp>
      <p:sp>
        <p:nvSpPr>
          <p:cNvPr id="14" name="Rounded Rectangle 13"/>
          <p:cNvSpPr/>
          <p:nvPr/>
        </p:nvSpPr>
        <p:spPr>
          <a:xfrm>
            <a:off x="7315200" y="1783080"/>
            <a:ext cx="4297680" cy="594360"/>
          </a:xfrm>
          <a:prstGeom prst="roundRect">
            <a:avLst>
              <a:gd name="adj" fmla="val 9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Trend in the data?</a:t>
            </a:r>
          </a:p>
        </p:txBody>
      </p:sp>
      <p:sp>
        <p:nvSpPr>
          <p:cNvPr id="15" name="Rounded Rectangle 14"/>
          <p:cNvSpPr/>
          <p:nvPr/>
        </p:nvSpPr>
        <p:spPr>
          <a:xfrm>
            <a:off x="7315200" y="2697480"/>
            <a:ext cx="2057400" cy="68580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No</a:t>
            </a:r>
            <a:r>
              <a:rPr sz="1250" b="0" i="0">
                <a:solidFill>
                  <a:srgbClr val="2B2118"/>
                </a:solidFill>
              </a:rPr>
              <a:t> → mean known?</a:t>
            </a:r>
          </a:p>
        </p:txBody>
      </p:sp>
      <p:sp>
        <p:nvSpPr>
          <p:cNvPr id="16" name="Rounded Rectangle 15"/>
          <p:cNvSpPr/>
          <p:nvPr/>
        </p:nvSpPr>
        <p:spPr>
          <a:xfrm>
            <a:off x="9555480" y="2697480"/>
            <a:ext cx="2057400" cy="68580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Yes</a:t>
            </a:r>
            <a:r>
              <a:rPr sz="1250" b="0" i="0">
                <a:solidFill>
                  <a:srgbClr val="2B2118"/>
                </a:solidFill>
              </a:rPr>
              <a:t> → trend from?</a:t>
            </a:r>
          </a:p>
        </p:txBody>
      </p:sp>
      <p:cxnSp>
        <p:nvCxnSpPr>
          <p:cNvPr id="17" name="Connector 16"/>
          <p:cNvCxnSpPr/>
          <p:nvPr/>
        </p:nvCxnSpPr>
        <p:spPr>
          <a:xfrm>
            <a:off x="8321040" y="2377440"/>
            <a:ext cx="0" cy="32004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07040" y="2377440"/>
            <a:ext cx="0" cy="320040"/>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15200" y="3703320"/>
            <a:ext cx="1005840" cy="960120"/>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150" b="0" i="0">
                <a:solidFill>
                  <a:srgbClr val="FFFFFF"/>
                </a:solidFill>
              </a:rPr>
              <a:t>Yes → </a:t>
            </a:r>
            <a:r>
              <a:rPr sz="1150" b="1" i="0">
                <a:solidFill>
                  <a:srgbClr val="FFFFFF"/>
                </a:solidFill>
              </a:rPr>
              <a:t>SK</a:t>
            </a:r>
          </a:p>
        </p:txBody>
      </p:sp>
      <p:sp>
        <p:nvSpPr>
          <p:cNvPr id="20" name="Rounded Rectangle 19"/>
          <p:cNvSpPr/>
          <p:nvPr/>
        </p:nvSpPr>
        <p:spPr>
          <a:xfrm>
            <a:off x="8366760" y="3703320"/>
            <a:ext cx="1005840" cy="96012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150" b="0" i="0">
                <a:solidFill>
                  <a:srgbClr val="FFFFFF"/>
                </a:solidFill>
              </a:rPr>
              <a:t>No → </a:t>
            </a:r>
            <a:r>
              <a:rPr sz="1150" b="1" i="0">
                <a:solidFill>
                  <a:srgbClr val="FFFFFF"/>
                </a:solidFill>
              </a:rPr>
              <a:t>OK</a:t>
            </a:r>
          </a:p>
        </p:txBody>
      </p:sp>
      <p:sp>
        <p:nvSpPr>
          <p:cNvPr id="21" name="Rounded Rectangle 20"/>
          <p:cNvSpPr/>
          <p:nvPr/>
        </p:nvSpPr>
        <p:spPr>
          <a:xfrm>
            <a:off x="9555480" y="3703320"/>
            <a:ext cx="1005840" cy="960120"/>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150" b="0" i="0">
                <a:solidFill>
                  <a:srgbClr val="FFFFFF"/>
                </a:solidFill>
              </a:rPr>
              <a:t>Coordinates → </a:t>
            </a:r>
            <a:r>
              <a:rPr sz="1150" b="1" i="0">
                <a:solidFill>
                  <a:srgbClr val="FFFFFF"/>
                </a:solidFill>
              </a:rPr>
              <a:t>UK</a:t>
            </a:r>
          </a:p>
        </p:txBody>
      </p:sp>
      <p:sp>
        <p:nvSpPr>
          <p:cNvPr id="22" name="Rounded Rectangle 21"/>
          <p:cNvSpPr/>
          <p:nvPr/>
        </p:nvSpPr>
        <p:spPr>
          <a:xfrm>
            <a:off x="10607040" y="3703320"/>
            <a:ext cx="1005840" cy="960120"/>
          </a:xfrm>
          <a:prstGeom prst="roundRect">
            <a:avLst>
              <a:gd name="adj" fmla="val 9000"/>
            </a:avLst>
          </a:prstGeom>
          <a:solidFill>
            <a:srgbClr val="6B8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150" b="0" i="0">
                <a:solidFill>
                  <a:srgbClr val="FFFFFF"/>
                </a:solidFill>
              </a:rPr>
              <a:t>Covariates → </a:t>
            </a:r>
            <a:r>
              <a:rPr sz="1150" b="1" i="0">
                <a:solidFill>
                  <a:srgbClr val="FFFFFF"/>
                </a:solidFill>
              </a:rPr>
              <a:t>KED / RK</a:t>
            </a:r>
          </a:p>
        </p:txBody>
      </p:sp>
      <p:cxnSp>
        <p:nvCxnSpPr>
          <p:cNvPr id="23" name="Connector 22"/>
          <p:cNvCxnSpPr/>
          <p:nvPr/>
        </p:nvCxnSpPr>
        <p:spPr>
          <a:xfrm>
            <a:off x="7818120" y="3383280"/>
            <a:ext cx="0" cy="320040"/>
          </a:xfrm>
          <a:prstGeom prst="line">
            <a:avLst/>
          </a:prstGeom>
          <a:ln w="1905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869680" y="3383280"/>
            <a:ext cx="0" cy="320040"/>
          </a:xfrm>
          <a:prstGeom prst="line">
            <a:avLst/>
          </a:prstGeom>
          <a:ln w="1905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058400" y="3383280"/>
            <a:ext cx="0" cy="320040"/>
          </a:xfrm>
          <a:prstGeom prst="line">
            <a:avLst/>
          </a:prstGeom>
          <a:ln w="19050">
            <a:solidFill>
              <a:srgbClr val="2B2118"/>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109960" y="3383280"/>
            <a:ext cx="0" cy="320040"/>
          </a:xfrm>
          <a:prstGeom prst="line">
            <a:avLst/>
          </a:prstGeom>
          <a:ln w="1905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15200" y="4892040"/>
            <a:ext cx="4297680" cy="11430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52360" y="4937760"/>
            <a:ext cx="4023360" cy="1051560"/>
          </a:xfrm>
          <a:prstGeom prst="rect">
            <a:avLst/>
          </a:prstGeom>
          <a:noFill/>
        </p:spPr>
        <p:txBody>
          <a:bodyPr wrap="square" lIns="27432" rIns="27432" tIns="27432" bIns="27432" anchor="ctr">
            <a:spAutoFit/>
          </a:bodyPr>
          <a:lstStyle/>
          <a:p>
            <a:pPr marL="0" indent="0">
              <a:spcAft>
                <a:spcPts val="400"/>
              </a:spcAft>
              <a:buNone/>
            </a:pPr>
            <a:r>
              <a:rPr sz="1200" b="0" i="0">
                <a:solidFill>
                  <a:srgbClr val="4A3B2E"/>
                </a:solidFill>
              </a:rPr>
              <a:t>KED and regression-kriging give the same prediction when the same covariates and residual variogram are used (Hengl et al. 2007)</a:t>
            </a:r>
          </a:p>
        </p:txBody>
      </p:sp>
      <p:sp>
        <p:nvSpPr>
          <p:cNvPr id="29" name="TextBox 28"/>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Oliver &amp; Webster (2014) Catena 113:56–69; Webster &amp; Oliver (2007) Geostatistics for Environmental Scientists; Hengl, Heuvelink &amp; Rossiter (2007) Comput. Geosci. 33:1301–1315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Co-kriging: borrowing strength from a secondary variable</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5760720" cy="7772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5577840" cy="777240"/>
          </a:xfrm>
          <a:prstGeom prst="rect">
            <a:avLst/>
          </a:prstGeom>
          <a:noFill/>
        </p:spPr>
        <p:txBody>
          <a:bodyPr wrap="square" lIns="27432" rIns="27432" tIns="27432" bIns="27432" anchor="ctr">
            <a:spAutoFit/>
          </a:bodyPr>
          <a:lstStyle/>
          <a:p>
            <a:pPr marL="0" indent="0" algn="ctr">
              <a:spcAft>
                <a:spcPts val="400"/>
              </a:spcAft>
              <a:buNone/>
            </a:pPr>
            <a:r>
              <a:rPr sz="1700" b="0" i="0">
                <a:solidFill>
                  <a:srgbClr val="2B2118"/>
                </a:solidFill>
                <a:latin typeface="Cambria"/>
              </a:rPr>
              <a:t>Ẑ</a:t>
            </a:r>
            <a:r>
              <a:rPr sz="1700" b="0" i="0" baseline="-25000">
                <a:solidFill>
                  <a:srgbClr val="2B2118"/>
                </a:solidFill>
              </a:rPr>
              <a:t>1</a:t>
            </a:r>
            <a:r>
              <a:rPr sz="1700" b="0" i="0">
                <a:solidFill>
                  <a:srgbClr val="2B2118"/>
                </a:solidFill>
              </a:rPr>
              <a:t>(x</a:t>
            </a:r>
            <a:r>
              <a:rPr sz="1700" b="0" i="0" baseline="-25000">
                <a:solidFill>
                  <a:srgbClr val="2B2118"/>
                </a:solidFill>
              </a:rPr>
              <a:t>0</a:t>
            </a:r>
            <a:r>
              <a:rPr sz="1700" b="0" i="0">
                <a:solidFill>
                  <a:srgbClr val="2B2118"/>
                </a:solidFill>
              </a:rPr>
              <a:t>) = Σ λ</a:t>
            </a:r>
            <a:r>
              <a:rPr sz="1700" b="0" i="0" baseline="-25000">
                <a:solidFill>
                  <a:srgbClr val="2B2118"/>
                </a:solidFill>
              </a:rPr>
              <a:t>1i</a:t>
            </a:r>
            <a:r>
              <a:rPr sz="1700" b="0" i="0">
                <a:solidFill>
                  <a:srgbClr val="2B2118"/>
                </a:solidFill>
              </a:rPr>
              <a:t> z</a:t>
            </a:r>
            <a:r>
              <a:rPr sz="1700" b="0" i="0" baseline="-25000">
                <a:solidFill>
                  <a:srgbClr val="2B2118"/>
                </a:solidFill>
              </a:rPr>
              <a:t>1</a:t>
            </a:r>
            <a:r>
              <a:rPr sz="1700" b="0" i="0">
                <a:solidFill>
                  <a:srgbClr val="2B2118"/>
                </a:solidFill>
              </a:rPr>
              <a:t>(x</a:t>
            </a:r>
            <a:r>
              <a:rPr sz="1700" b="0" i="0" baseline="-25000">
                <a:solidFill>
                  <a:srgbClr val="2B2118"/>
                </a:solidFill>
              </a:rPr>
              <a:t>i</a:t>
            </a:r>
            <a:r>
              <a:rPr sz="1700" b="0" i="0">
                <a:solidFill>
                  <a:srgbClr val="2B2118"/>
                </a:solidFill>
              </a:rPr>
              <a:t>) + Σ λ</a:t>
            </a:r>
            <a:r>
              <a:rPr sz="1700" b="0" i="0" baseline="-25000">
                <a:solidFill>
                  <a:srgbClr val="2B2118"/>
                </a:solidFill>
              </a:rPr>
              <a:t>2j</a:t>
            </a:r>
            <a:r>
              <a:rPr sz="1700" b="0" i="0">
                <a:solidFill>
                  <a:srgbClr val="2B2118"/>
                </a:solidFill>
              </a:rPr>
              <a:t> z</a:t>
            </a:r>
            <a:r>
              <a:rPr sz="1700" b="0" i="0" baseline="-25000">
                <a:solidFill>
                  <a:srgbClr val="2B2118"/>
                </a:solidFill>
              </a:rPr>
              <a:t>2</a:t>
            </a:r>
            <a:r>
              <a:rPr sz="1700" b="0" i="0">
                <a:solidFill>
                  <a:srgbClr val="2B2118"/>
                </a:solidFill>
              </a:rPr>
              <a:t>(x</a:t>
            </a:r>
            <a:r>
              <a:rPr sz="1700" b="0" i="0" baseline="-25000">
                <a:solidFill>
                  <a:srgbClr val="2B2118"/>
                </a:solidFill>
              </a:rPr>
              <a:t>j</a:t>
            </a:r>
            <a:r>
              <a:rPr sz="1700" b="0" i="0">
                <a:solidFill>
                  <a:srgbClr val="2B2118"/>
                </a:solidFill>
              </a:rPr>
              <a:t>)</a:t>
            </a:r>
          </a:p>
        </p:txBody>
      </p:sp>
      <p:sp>
        <p:nvSpPr>
          <p:cNvPr id="6" name="TextBox 5"/>
          <p:cNvSpPr txBox="1"/>
          <p:nvPr/>
        </p:nvSpPr>
        <p:spPr>
          <a:xfrm>
            <a:off x="548640" y="2148840"/>
            <a:ext cx="5760720" cy="411480"/>
          </a:xfrm>
          <a:prstGeom prst="rect">
            <a:avLst/>
          </a:prstGeom>
          <a:noFill/>
        </p:spPr>
        <p:txBody>
          <a:bodyPr wrap="square" lIns="27432" rIns="27432" tIns="27432" bIns="27432" anchor="t">
            <a:spAutoFit/>
          </a:bodyPr>
          <a:lstStyle/>
          <a:p>
            <a:pPr marL="0" indent="0" algn="ctr">
              <a:spcAft>
                <a:spcPts val="400"/>
              </a:spcAft>
              <a:buNone/>
            </a:pPr>
            <a:r>
              <a:rPr sz="1300" b="0" i="0">
                <a:solidFill>
                  <a:srgbClr val="4A3B2E"/>
                </a:solidFill>
              </a:rPr>
              <a:t>Constraints: Σλ</a:t>
            </a:r>
            <a:r>
              <a:rPr sz="1300" b="0" i="0" baseline="-25000">
                <a:solidFill>
                  <a:srgbClr val="4A3B2E"/>
                </a:solidFill>
              </a:rPr>
              <a:t>1i</a:t>
            </a:r>
            <a:r>
              <a:rPr sz="1300" b="0" i="0">
                <a:solidFill>
                  <a:srgbClr val="4A3B2E"/>
                </a:solidFill>
              </a:rPr>
              <a:t> = 1,  Σλ</a:t>
            </a:r>
            <a:r>
              <a:rPr sz="1300" b="0" i="0" baseline="-25000">
                <a:solidFill>
                  <a:srgbClr val="4A3B2E"/>
                </a:solidFill>
              </a:rPr>
              <a:t>2j</a:t>
            </a:r>
            <a:r>
              <a:rPr sz="1300" b="0" i="0">
                <a:solidFill>
                  <a:srgbClr val="4A3B2E"/>
                </a:solidFill>
              </a:rPr>
              <a:t> = 0</a:t>
            </a:r>
          </a:p>
        </p:txBody>
      </p:sp>
      <p:sp>
        <p:nvSpPr>
          <p:cNvPr id="7" name="Rounded Rectangle 6"/>
          <p:cNvSpPr/>
          <p:nvPr/>
        </p:nvSpPr>
        <p:spPr>
          <a:xfrm>
            <a:off x="548640" y="2651760"/>
            <a:ext cx="5760720" cy="77724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651760"/>
            <a:ext cx="5577840" cy="777240"/>
          </a:xfrm>
          <a:prstGeom prst="rect">
            <a:avLst/>
          </a:prstGeom>
          <a:noFill/>
        </p:spPr>
        <p:txBody>
          <a:bodyPr wrap="square" lIns="27432" rIns="27432" tIns="27432" bIns="27432" anchor="ctr">
            <a:spAutoFit/>
          </a:bodyPr>
          <a:lstStyle/>
          <a:p>
            <a:pPr marL="0" indent="0" algn="ctr">
              <a:spcAft>
                <a:spcPts val="400"/>
              </a:spcAft>
              <a:buNone/>
            </a:pPr>
            <a:r>
              <a:rPr sz="1500" b="0" i="0">
                <a:solidFill>
                  <a:srgbClr val="2B2118"/>
                </a:solidFill>
                <a:latin typeface="Cambria"/>
              </a:rPr>
              <a:t>γ</a:t>
            </a:r>
            <a:r>
              <a:rPr sz="1500" b="0" i="0" baseline="-25000">
                <a:solidFill>
                  <a:srgbClr val="2B2118"/>
                </a:solidFill>
              </a:rPr>
              <a:t>12</a:t>
            </a:r>
            <a:r>
              <a:rPr sz="1500" b="0" i="0">
                <a:solidFill>
                  <a:srgbClr val="2B2118"/>
                </a:solidFill>
              </a:rPr>
              <a:t>(h) = ½ E{[z</a:t>
            </a:r>
            <a:r>
              <a:rPr sz="1500" b="0" i="0" baseline="-25000">
                <a:solidFill>
                  <a:srgbClr val="2B2118"/>
                </a:solidFill>
              </a:rPr>
              <a:t>1</a:t>
            </a:r>
            <a:r>
              <a:rPr sz="1500" b="0" i="0">
                <a:solidFill>
                  <a:srgbClr val="2B2118"/>
                </a:solidFill>
              </a:rPr>
              <a:t>(x) − z</a:t>
            </a:r>
            <a:r>
              <a:rPr sz="1500" b="0" i="0" baseline="-25000">
                <a:solidFill>
                  <a:srgbClr val="2B2118"/>
                </a:solidFill>
              </a:rPr>
              <a:t>1</a:t>
            </a:r>
            <a:r>
              <a:rPr sz="1500" b="0" i="0">
                <a:solidFill>
                  <a:srgbClr val="2B2118"/>
                </a:solidFill>
              </a:rPr>
              <a:t>(x+h)][z</a:t>
            </a:r>
            <a:r>
              <a:rPr sz="1500" b="0" i="0" baseline="-25000">
                <a:solidFill>
                  <a:srgbClr val="2B2118"/>
                </a:solidFill>
              </a:rPr>
              <a:t>2</a:t>
            </a:r>
            <a:r>
              <a:rPr sz="1500" b="0" i="0">
                <a:solidFill>
                  <a:srgbClr val="2B2118"/>
                </a:solidFill>
              </a:rPr>
              <a:t>(x) − z</a:t>
            </a:r>
            <a:r>
              <a:rPr sz="1500" b="0" i="0" baseline="-25000">
                <a:solidFill>
                  <a:srgbClr val="2B2118"/>
                </a:solidFill>
              </a:rPr>
              <a:t>2</a:t>
            </a:r>
            <a:r>
              <a:rPr sz="1500" b="0" i="0">
                <a:solidFill>
                  <a:srgbClr val="2B2118"/>
                </a:solidFill>
              </a:rPr>
              <a:t>(x+h)]}</a:t>
            </a:r>
          </a:p>
        </p:txBody>
      </p:sp>
      <p:sp>
        <p:nvSpPr>
          <p:cNvPr id="9" name="TextBox 8"/>
          <p:cNvSpPr txBox="1"/>
          <p:nvPr/>
        </p:nvSpPr>
        <p:spPr>
          <a:xfrm>
            <a:off x="548640" y="3474720"/>
            <a:ext cx="5760720" cy="365760"/>
          </a:xfrm>
          <a:prstGeom prst="rect">
            <a:avLst/>
          </a:prstGeom>
          <a:noFill/>
        </p:spPr>
        <p:txBody>
          <a:bodyPr wrap="square" lIns="27432" rIns="27432" tIns="27432" bIns="27432" anchor="t">
            <a:spAutoFit/>
          </a:bodyPr>
          <a:lstStyle/>
          <a:p>
            <a:pPr marL="0" indent="0" algn="ctr">
              <a:spcAft>
                <a:spcPts val="400"/>
              </a:spcAft>
              <a:buNone/>
            </a:pPr>
            <a:r>
              <a:rPr sz="1250" b="0" i="0">
                <a:solidFill>
                  <a:srgbClr val="4A3B2E"/>
                </a:solidFill>
              </a:rPr>
              <a:t>Cross-variogram: how the two variables co-vary with distance</a:t>
            </a:r>
          </a:p>
        </p:txBody>
      </p:sp>
      <p:sp>
        <p:nvSpPr>
          <p:cNvPr id="10" name="Rounded Rectangle 9"/>
          <p:cNvSpPr/>
          <p:nvPr/>
        </p:nvSpPr>
        <p:spPr>
          <a:xfrm>
            <a:off x="548640" y="3977639"/>
            <a:ext cx="5760720" cy="2057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23360"/>
            <a:ext cx="5486400" cy="1965960"/>
          </a:xfrm>
          <a:prstGeom prst="rect">
            <a:avLst/>
          </a:prstGeom>
          <a:noFill/>
        </p:spPr>
        <p:txBody>
          <a:bodyPr wrap="square" lIns="27432" rIns="27432" tIns="27432" bIns="27432" anchor="t">
            <a:spAutoFit/>
          </a:bodyPr>
          <a:lstStyle/>
          <a:p>
            <a:pPr marL="0" indent="0">
              <a:spcAft>
                <a:spcPts val="400"/>
              </a:spcAft>
              <a:buNone/>
            </a:pPr>
            <a:r>
              <a:rPr sz="1400" b="1" i="0">
                <a:solidFill>
                  <a:srgbClr val="8C5A2B"/>
                </a:solidFill>
              </a:rPr>
              <a:t>When to use</a:t>
            </a:r>
          </a:p>
          <a:p>
            <a:pPr marL="228600" indent="-228600">
              <a:spcAft>
                <a:spcPts val="400"/>
              </a:spcAft>
              <a:buFont typeface="Arial"/>
              <a:buChar char="•"/>
            </a:pPr>
            <a:r>
              <a:rPr sz="1250" b="0" i="0">
                <a:solidFill>
                  <a:srgbClr val="2B2118"/>
                </a:solidFill>
              </a:rPr>
              <a:t>Primary sparse and costly (lab SOC, clay); secondary dense and cheap (EC</a:t>
            </a:r>
            <a:r>
              <a:rPr sz="1250" b="0" i="0" baseline="-25000">
                <a:solidFill>
                  <a:srgbClr val="2B2118"/>
                </a:solidFill>
              </a:rPr>
              <a:t>a</a:t>
            </a:r>
            <a:r>
              <a:rPr sz="1250" b="0" i="0">
                <a:solidFill>
                  <a:srgbClr val="2B2118"/>
                </a:solidFill>
              </a:rPr>
              <a:t>, Vis–NIR, gamma radiometrics, yield)</a:t>
            </a:r>
          </a:p>
          <a:p>
            <a:pPr marL="228600" indent="-228600">
              <a:spcAft>
                <a:spcPts val="400"/>
              </a:spcAft>
              <a:buFont typeface="Arial"/>
              <a:buChar char="•"/>
            </a:pPr>
            <a:r>
              <a:rPr sz="1250" b="0" i="0">
                <a:solidFill>
                  <a:srgbClr val="2B2118"/>
                </a:solidFill>
              </a:rPr>
              <a:t>Works best when correlation is strong (|r| ≳ 0.5)</a:t>
            </a:r>
          </a:p>
          <a:p>
            <a:pPr marL="228600" indent="-228600">
              <a:spcAft>
                <a:spcPts val="400"/>
              </a:spcAft>
              <a:buFont typeface="Arial"/>
              <a:buChar char="•"/>
            </a:pPr>
            <a:r>
              <a:rPr sz="1250" b="0" i="0">
                <a:solidFill>
                  <a:srgbClr val="2B2118"/>
                </a:solidFill>
              </a:rPr>
              <a:t>Secondary known at every pixel → use KED / RK instead</a:t>
            </a:r>
          </a:p>
        </p:txBody>
      </p:sp>
      <p:sp>
        <p:nvSpPr>
          <p:cNvPr id="12" name="Rounded Rectangle 11"/>
          <p:cNvSpPr/>
          <p:nvPr/>
        </p:nvSpPr>
        <p:spPr>
          <a:xfrm>
            <a:off x="6629400" y="1325880"/>
            <a:ext cx="4983480" cy="621792"/>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2B2118"/>
                </a:solidFill>
              </a:rPr>
              <a:t>Primary z</a:t>
            </a:r>
            <a:r>
              <a:rPr sz="1300" b="1" i="0" baseline="-25000">
                <a:solidFill>
                  <a:srgbClr val="2B2118"/>
                </a:solidFill>
              </a:rPr>
              <a:t>1</a:t>
            </a:r>
            <a:r>
              <a:rPr sz="1300" b="1" i="0">
                <a:solidFill>
                  <a:srgbClr val="2B2118"/>
                </a:solidFill>
              </a:rPr>
              <a:t> (sparse) + secondary z</a:t>
            </a:r>
            <a:r>
              <a:rPr sz="1300" b="1" i="0" baseline="-25000">
                <a:solidFill>
                  <a:srgbClr val="2B2118"/>
                </a:solidFill>
              </a:rPr>
              <a:t>2</a:t>
            </a:r>
            <a:r>
              <a:rPr sz="1300" b="1" i="0">
                <a:solidFill>
                  <a:srgbClr val="2B2118"/>
                </a:solidFill>
              </a:rPr>
              <a:t> (dense)</a:t>
            </a:r>
          </a:p>
        </p:txBody>
      </p:sp>
      <p:cxnSp>
        <p:nvCxnSpPr>
          <p:cNvPr id="13" name="Connector 12"/>
          <p:cNvCxnSpPr/>
          <p:nvPr/>
        </p:nvCxnSpPr>
        <p:spPr>
          <a:xfrm>
            <a:off x="9116568" y="1947672"/>
            <a:ext cx="0" cy="173736"/>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629400" y="2121408"/>
            <a:ext cx="4983480" cy="621792"/>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Direct variograms γ</a:t>
            </a:r>
            <a:r>
              <a:rPr sz="1300" b="1" i="0" baseline="-25000">
                <a:solidFill>
                  <a:srgbClr val="FFFFFF"/>
                </a:solidFill>
              </a:rPr>
              <a:t>11</a:t>
            </a:r>
            <a:r>
              <a:rPr sz="1300" b="1" i="0">
                <a:solidFill>
                  <a:srgbClr val="FFFFFF"/>
                </a:solidFill>
              </a:rPr>
              <a:t>, γ</a:t>
            </a:r>
            <a:r>
              <a:rPr sz="1300" b="1" i="0" baseline="-25000">
                <a:solidFill>
                  <a:srgbClr val="FFFFFF"/>
                </a:solidFill>
              </a:rPr>
              <a:t>22</a:t>
            </a:r>
          </a:p>
        </p:txBody>
      </p:sp>
      <p:cxnSp>
        <p:nvCxnSpPr>
          <p:cNvPr id="15" name="Connector 14"/>
          <p:cNvCxnSpPr/>
          <p:nvPr/>
        </p:nvCxnSpPr>
        <p:spPr>
          <a:xfrm>
            <a:off x="9116568" y="2743200"/>
            <a:ext cx="0" cy="173736"/>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629400" y="2916936"/>
            <a:ext cx="4983480" cy="621792"/>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Cross-variogram γ</a:t>
            </a:r>
            <a:r>
              <a:rPr sz="1300" b="1" i="0" baseline="-25000">
                <a:solidFill>
                  <a:srgbClr val="FFFFFF"/>
                </a:solidFill>
              </a:rPr>
              <a:t>12</a:t>
            </a:r>
          </a:p>
        </p:txBody>
      </p:sp>
      <p:cxnSp>
        <p:nvCxnSpPr>
          <p:cNvPr id="17" name="Connector 16"/>
          <p:cNvCxnSpPr/>
          <p:nvPr/>
        </p:nvCxnSpPr>
        <p:spPr>
          <a:xfrm>
            <a:off x="9116568" y="3538728"/>
            <a:ext cx="0" cy="173735"/>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29400" y="3712463"/>
            <a:ext cx="4983480" cy="621792"/>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Linear model of coregionalisation (valid fit)</a:t>
            </a:r>
          </a:p>
        </p:txBody>
      </p:sp>
      <p:cxnSp>
        <p:nvCxnSpPr>
          <p:cNvPr id="19" name="Connector 18"/>
          <p:cNvCxnSpPr/>
          <p:nvPr/>
        </p:nvCxnSpPr>
        <p:spPr>
          <a:xfrm>
            <a:off x="9116568" y="4334255"/>
            <a:ext cx="0" cy="173737"/>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629400" y="4507992"/>
            <a:ext cx="4983480" cy="621792"/>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Co-kriging system → λ</a:t>
            </a:r>
            <a:r>
              <a:rPr sz="1300" b="1" i="0" baseline="-25000">
                <a:solidFill>
                  <a:srgbClr val="FFFFFF"/>
                </a:solidFill>
              </a:rPr>
              <a:t>1</a:t>
            </a:r>
            <a:r>
              <a:rPr sz="1300" b="1" i="0">
                <a:solidFill>
                  <a:srgbClr val="FFFFFF"/>
                </a:solidFill>
              </a:rPr>
              <a:t>, λ</a:t>
            </a:r>
            <a:r>
              <a:rPr sz="1300" b="1" i="0" baseline="-25000">
                <a:solidFill>
                  <a:srgbClr val="FFFFFF"/>
                </a:solidFill>
              </a:rPr>
              <a:t>2</a:t>
            </a:r>
          </a:p>
        </p:txBody>
      </p:sp>
      <p:cxnSp>
        <p:nvCxnSpPr>
          <p:cNvPr id="21" name="Connector 20"/>
          <p:cNvCxnSpPr/>
          <p:nvPr/>
        </p:nvCxnSpPr>
        <p:spPr>
          <a:xfrm>
            <a:off x="9116568" y="5129783"/>
            <a:ext cx="0" cy="173737"/>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629400" y="5303520"/>
            <a:ext cx="4983480" cy="621792"/>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300" b="1" i="0">
                <a:solidFill>
                  <a:srgbClr val="FFFFFF"/>
                </a:solidFill>
              </a:rPr>
              <a:t>Map Ẑ</a:t>
            </a:r>
            <a:r>
              <a:rPr sz="1300" b="1" i="0" baseline="-25000">
                <a:solidFill>
                  <a:srgbClr val="FFFFFF"/>
                </a:solidFill>
              </a:rPr>
              <a:t>1</a:t>
            </a:r>
            <a:r>
              <a:rPr sz="1300" b="1" i="0">
                <a:solidFill>
                  <a:srgbClr val="FFFFFF"/>
                </a:solidFill>
              </a:rPr>
              <a:t> + co-kriging variance</a:t>
            </a:r>
          </a:p>
        </p:txBody>
      </p:sp>
      <p:sp>
        <p:nvSpPr>
          <p:cNvPr id="23" name="TextBox 22"/>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Oliver &amp; Webster (2014) Catena 113:56–69; Webster &amp; Oliver (2007) Geostatistics for Environmental Scientists; Webster &amp; Oliver (2007) Ch. 10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Indicator kriging: probability and risk maps</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6766560" cy="329184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_indicator.png"/>
          <p:cNvPicPr>
            <a:picLocks noChangeAspect="1"/>
          </p:cNvPicPr>
          <p:nvPr/>
        </p:nvPicPr>
        <p:blipFill>
          <a:blip r:embed="rId3"/>
          <a:stretch>
            <a:fillRect/>
          </a:stretch>
        </p:blipFill>
        <p:spPr>
          <a:xfrm>
            <a:off x="629107" y="1399032"/>
            <a:ext cx="6605625" cy="3145536"/>
          </a:xfrm>
          <a:prstGeom prst="rect">
            <a:avLst/>
          </a:prstGeom>
        </p:spPr>
      </p:pic>
      <p:sp>
        <p:nvSpPr>
          <p:cNvPr id="6" name="TextBox 5"/>
          <p:cNvSpPr txBox="1"/>
          <p:nvPr/>
        </p:nvSpPr>
        <p:spPr>
          <a:xfrm>
            <a:off x="548640" y="4654296"/>
            <a:ext cx="676656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threshold = 60th percentile (2.24% SOC); contour = P = 0.5</a:t>
            </a:r>
          </a:p>
        </p:txBody>
      </p:sp>
      <p:sp>
        <p:nvSpPr>
          <p:cNvPr id="7" name="Rounded Rectangle 6"/>
          <p:cNvSpPr/>
          <p:nvPr/>
        </p:nvSpPr>
        <p:spPr>
          <a:xfrm>
            <a:off x="7589520" y="1325880"/>
            <a:ext cx="4023360" cy="566928"/>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2B2118"/>
                </a:solidFill>
              </a:rPr>
              <a:t>Choose threshold z</a:t>
            </a:r>
            <a:r>
              <a:rPr sz="1250" b="1" i="0" baseline="-25000">
                <a:solidFill>
                  <a:srgbClr val="2B2118"/>
                </a:solidFill>
              </a:rPr>
              <a:t>k</a:t>
            </a:r>
          </a:p>
        </p:txBody>
      </p:sp>
      <p:cxnSp>
        <p:nvCxnSpPr>
          <p:cNvPr id="8" name="Connector 7"/>
          <p:cNvCxnSpPr/>
          <p:nvPr/>
        </p:nvCxnSpPr>
        <p:spPr>
          <a:xfrm>
            <a:off x="9601200" y="1892807"/>
            <a:ext cx="0" cy="164593"/>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589520" y="2057400"/>
            <a:ext cx="4023360" cy="566928"/>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Indicator i(x) = 1 if z &gt; z</a:t>
            </a:r>
            <a:r>
              <a:rPr sz="1250" b="1" i="0" baseline="-25000">
                <a:solidFill>
                  <a:srgbClr val="FFFFFF"/>
                </a:solidFill>
              </a:rPr>
              <a:t>k</a:t>
            </a:r>
            <a:r>
              <a:rPr sz="1250" b="1" i="0">
                <a:solidFill>
                  <a:srgbClr val="FFFFFF"/>
                </a:solidFill>
              </a:rPr>
              <a:t>, else 0</a:t>
            </a:r>
          </a:p>
        </p:txBody>
      </p:sp>
      <p:cxnSp>
        <p:nvCxnSpPr>
          <p:cNvPr id="10" name="Connector 9"/>
          <p:cNvCxnSpPr/>
          <p:nvPr/>
        </p:nvCxnSpPr>
        <p:spPr>
          <a:xfrm>
            <a:off x="9601200" y="2624328"/>
            <a:ext cx="0" cy="164592"/>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589520" y="2788920"/>
            <a:ext cx="4023360" cy="566928"/>
          </a:xfrm>
          <a:prstGeom prst="roundRect">
            <a:avLst>
              <a:gd name="adj" fmla="val 9000"/>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Indicator variogram → fit model</a:t>
            </a:r>
          </a:p>
        </p:txBody>
      </p:sp>
      <p:cxnSp>
        <p:nvCxnSpPr>
          <p:cNvPr id="12" name="Connector 11"/>
          <p:cNvCxnSpPr/>
          <p:nvPr/>
        </p:nvCxnSpPr>
        <p:spPr>
          <a:xfrm>
            <a:off x="9601200" y="3355848"/>
            <a:ext cx="0" cy="164591"/>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89520" y="3520440"/>
            <a:ext cx="4023360" cy="566928"/>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Krige indicators → P(Z &gt; z</a:t>
            </a:r>
            <a:r>
              <a:rPr sz="1250" b="1" i="0" baseline="-25000">
                <a:solidFill>
                  <a:srgbClr val="FFFFFF"/>
                </a:solidFill>
              </a:rPr>
              <a:t>k</a:t>
            </a:r>
            <a:r>
              <a:rPr sz="1250" b="1" i="0">
                <a:solidFill>
                  <a:srgbClr val="FFFFFF"/>
                </a:solidFill>
              </a:rPr>
              <a:t>)</a:t>
            </a:r>
          </a:p>
        </p:txBody>
      </p:sp>
      <p:cxnSp>
        <p:nvCxnSpPr>
          <p:cNvPr id="14" name="Connector 13"/>
          <p:cNvCxnSpPr/>
          <p:nvPr/>
        </p:nvCxnSpPr>
        <p:spPr>
          <a:xfrm>
            <a:off x="9601200" y="4087368"/>
            <a:ext cx="0" cy="164592"/>
          </a:xfrm>
          <a:prstGeom prst="line">
            <a:avLst/>
          </a:prstGeom>
          <a:ln w="2540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589520" y="4251960"/>
            <a:ext cx="4023360" cy="566928"/>
          </a:xfrm>
          <a:prstGeom prst="roundRect">
            <a:avLst>
              <a:gd name="adj" fmla="val 9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250" b="1" i="0">
                <a:solidFill>
                  <a:srgbClr val="FFFFFF"/>
                </a:solidFill>
              </a:rPr>
              <a:t>Probability / risk map</a:t>
            </a:r>
          </a:p>
        </p:txBody>
      </p:sp>
      <p:sp>
        <p:nvSpPr>
          <p:cNvPr id="16" name="Rounded Rectangle 15"/>
          <p:cNvSpPr/>
          <p:nvPr/>
        </p:nvSpPr>
        <p:spPr>
          <a:xfrm>
            <a:off x="548640" y="5120640"/>
            <a:ext cx="11064240" cy="9144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157216"/>
            <a:ext cx="10789920" cy="841248"/>
          </a:xfrm>
          <a:prstGeom prst="rect">
            <a:avLst/>
          </a:prstGeom>
          <a:noFill/>
        </p:spPr>
        <p:txBody>
          <a:bodyPr wrap="square" lIns="27432" rIns="27432" tIns="27432" bIns="27432" anchor="ctr">
            <a:spAutoFit/>
          </a:bodyPr>
          <a:lstStyle/>
          <a:p>
            <a:pPr marL="0" indent="0">
              <a:spcAft>
                <a:spcPts val="400"/>
              </a:spcAft>
              <a:buNone/>
            </a:pPr>
            <a:r>
              <a:rPr sz="1250" b="1" i="0">
                <a:solidFill>
                  <a:srgbClr val="2B2118"/>
                </a:solidFill>
              </a:rPr>
              <a:t>+</a:t>
            </a:r>
            <a:r>
              <a:rPr sz="1250" b="0" i="0">
                <a:solidFill>
                  <a:srgbClr val="2B2118"/>
                </a:solidFill>
              </a:rPr>
              <a:t> no normality assumption; gives probabilities; several thresholds → full distribution.  </a:t>
            </a:r>
            <a:r>
              <a:rPr sz="1250" b="1" i="0">
                <a:solidFill>
                  <a:srgbClr val="2B2118"/>
                </a:solidFill>
              </a:rPr>
              <a:t>Uses</a:t>
            </a:r>
            <a:r>
              <a:rPr sz="1250" b="0" i="0">
                <a:solidFill>
                  <a:srgbClr val="2B2118"/>
                </a:solidFill>
              </a:rPr>
              <a:t>: P(EC</a:t>
            </a:r>
            <a:r>
              <a:rPr sz="1250" b="0" i="0" baseline="-25000">
                <a:solidFill>
                  <a:srgbClr val="2B2118"/>
                </a:solidFill>
              </a:rPr>
              <a:t>e</a:t>
            </a:r>
            <a:r>
              <a:rPr sz="1250" b="0" i="0">
                <a:solidFill>
                  <a:srgbClr val="2B2118"/>
                </a:solidFill>
              </a:rPr>
              <a:t> &gt; 4 dS m</a:t>
            </a:r>
            <a:r>
              <a:rPr sz="1250" b="0" i="0" baseline="30000">
                <a:solidFill>
                  <a:srgbClr val="2B2118"/>
                </a:solidFill>
              </a:rPr>
              <a:t>−1</a:t>
            </a:r>
            <a:r>
              <a:rPr sz="1250" b="0" i="0">
                <a:solidFill>
                  <a:srgbClr val="2B2118"/>
                </a:solidFill>
              </a:rPr>
              <a:t>) salinity risk, heavy metal above limit, SOC below critical level.  </a:t>
            </a:r>
            <a:r>
              <a:rPr sz="1250" b="1" i="0">
                <a:solidFill>
                  <a:srgbClr val="2B2118"/>
                </a:solidFill>
              </a:rPr>
              <a:t>−</a:t>
            </a:r>
            <a:r>
              <a:rPr sz="1250" b="0" i="0">
                <a:solidFill>
                  <a:srgbClr val="2B2118"/>
                </a:solidFill>
              </a:rPr>
              <a:t> order-relation corrections; information lost by coding</a:t>
            </a:r>
          </a:p>
        </p:txBody>
      </p:sp>
      <p:sp>
        <p:nvSpPr>
          <p:cNvPr id="18" name="TextBox 17"/>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Journel (1983); Oliver &amp; Webster (2014) Catena 113:56–69; Webster &amp; Oliver (2007) Geostatistics for Environmental Scientists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Block kriging and conditional simulation</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sp>
        <p:nvSpPr>
          <p:cNvPr id="4" name="Rounded Rectangle 3"/>
          <p:cNvSpPr/>
          <p:nvPr/>
        </p:nvSpPr>
        <p:spPr>
          <a:xfrm>
            <a:off x="548640" y="1325880"/>
            <a:ext cx="11064240" cy="2606040"/>
          </a:xfrm>
          <a:prstGeom prst="roundRect">
            <a:avLst>
              <a:gd name="adj" fmla="val 6000"/>
            </a:avLst>
          </a:prstGeom>
          <a:solidFill>
            <a:srgbClr val="FFFFFF"/>
          </a:solidFill>
          <a:ln w="15875">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_sgs.png"/>
          <p:cNvPicPr>
            <a:picLocks noChangeAspect="1"/>
          </p:cNvPicPr>
          <p:nvPr/>
        </p:nvPicPr>
        <p:blipFill>
          <a:blip r:embed="rId3"/>
          <a:stretch>
            <a:fillRect/>
          </a:stretch>
        </p:blipFill>
        <p:spPr>
          <a:xfrm>
            <a:off x="2269407" y="1399032"/>
            <a:ext cx="7622705" cy="2459736"/>
          </a:xfrm>
          <a:prstGeom prst="rect">
            <a:avLst/>
          </a:prstGeom>
        </p:spPr>
      </p:pic>
      <p:sp>
        <p:nvSpPr>
          <p:cNvPr id="6" name="TextBox 5"/>
          <p:cNvSpPr txBox="1"/>
          <p:nvPr/>
        </p:nvSpPr>
        <p:spPr>
          <a:xfrm>
            <a:off x="548640" y="3968496"/>
            <a:ext cx="11064240" cy="283464"/>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SD of true field 0.46, kriging 0.42 (smoothed), simulations 0.48</a:t>
            </a:r>
          </a:p>
        </p:txBody>
      </p:sp>
      <p:sp>
        <p:nvSpPr>
          <p:cNvPr id="7" name="Rounded Rectangle 6"/>
          <p:cNvSpPr/>
          <p:nvPr/>
        </p:nvSpPr>
        <p:spPr>
          <a:xfrm>
            <a:off x="548640" y="4434840"/>
            <a:ext cx="3931920" cy="1600200"/>
          </a:xfrm>
          <a:prstGeom prst="roundRect">
            <a:avLst>
              <a:gd name="adj" fmla="val 6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480560"/>
            <a:ext cx="3657600" cy="1508760"/>
          </a:xfrm>
          <a:prstGeom prst="rect">
            <a:avLst/>
          </a:prstGeom>
          <a:noFill/>
        </p:spPr>
        <p:txBody>
          <a:bodyPr wrap="square" lIns="27432" rIns="27432" tIns="27432" bIns="27432" anchor="t">
            <a:spAutoFit/>
          </a:bodyPr>
          <a:lstStyle/>
          <a:p>
            <a:pPr marL="0" indent="0">
              <a:spcAft>
                <a:spcPts val="400"/>
              </a:spcAft>
              <a:buNone/>
            </a:pPr>
            <a:r>
              <a:rPr sz="1400" b="1" i="0">
                <a:solidFill>
                  <a:srgbClr val="8C5A2B"/>
                </a:solidFill>
              </a:rPr>
              <a:t>Block kriging</a:t>
            </a:r>
          </a:p>
          <a:p>
            <a:pPr marL="228600" indent="-228600">
              <a:spcAft>
                <a:spcPts val="400"/>
              </a:spcAft>
              <a:buFont typeface="Arial"/>
              <a:buChar char="•"/>
            </a:pPr>
            <a:r>
              <a:rPr sz="1200" b="0" i="0">
                <a:solidFill>
                  <a:srgbClr val="2B2118"/>
                </a:solidFill>
              </a:rPr>
              <a:t>Predict mean over a block V (pixel, field): γ(x</a:t>
            </a:r>
            <a:r>
              <a:rPr sz="1200" b="0" i="0" baseline="-25000">
                <a:solidFill>
                  <a:srgbClr val="2B2118"/>
                </a:solidFill>
              </a:rPr>
              <a:t>i</a:t>
            </a:r>
            <a:r>
              <a:rPr sz="1200" b="0" i="0">
                <a:solidFill>
                  <a:srgbClr val="2B2118"/>
                </a:solidFill>
              </a:rPr>
              <a:t>, x</a:t>
            </a:r>
            <a:r>
              <a:rPr sz="1200" b="0" i="0" baseline="-25000">
                <a:solidFill>
                  <a:srgbClr val="2B2118"/>
                </a:solidFill>
              </a:rPr>
              <a:t>0</a:t>
            </a:r>
            <a:r>
              <a:rPr sz="1200" b="0" i="0">
                <a:solidFill>
                  <a:srgbClr val="2B2118"/>
                </a:solidFill>
              </a:rPr>
              <a:t>) → γ̄(x</a:t>
            </a:r>
            <a:r>
              <a:rPr sz="1200" b="0" i="0" baseline="-25000">
                <a:solidFill>
                  <a:srgbClr val="2B2118"/>
                </a:solidFill>
              </a:rPr>
              <a:t>i</a:t>
            </a:r>
            <a:r>
              <a:rPr sz="1200" b="0" i="0">
                <a:solidFill>
                  <a:srgbClr val="2B2118"/>
                </a:solidFill>
              </a:rPr>
              <a:t>, V)</a:t>
            </a:r>
          </a:p>
          <a:p>
            <a:pPr marL="228600" indent="-228600">
              <a:spcAft>
                <a:spcPts val="400"/>
              </a:spcAft>
              <a:buFont typeface="Arial"/>
              <a:buChar char="•"/>
            </a:pPr>
            <a:r>
              <a:rPr sz="1200" b="0" i="0">
                <a:solidFill>
                  <a:srgbClr val="2B2118"/>
                </a:solidFill>
              </a:rPr>
              <a:t>Smaller variance (nugget averages out) → management zones</a:t>
            </a:r>
          </a:p>
        </p:txBody>
      </p:sp>
      <p:sp>
        <p:nvSpPr>
          <p:cNvPr id="9" name="TextBox 8"/>
          <p:cNvSpPr txBox="1"/>
          <p:nvPr/>
        </p:nvSpPr>
        <p:spPr>
          <a:xfrm>
            <a:off x="4709160" y="4407408"/>
            <a:ext cx="6903720" cy="320040"/>
          </a:xfrm>
          <a:prstGeom prst="rect">
            <a:avLst/>
          </a:prstGeom>
          <a:noFill/>
        </p:spPr>
        <p:txBody>
          <a:bodyPr wrap="square" lIns="27432" rIns="27432" tIns="27432" bIns="27432" anchor="t">
            <a:spAutoFit/>
          </a:bodyPr>
          <a:lstStyle/>
          <a:p>
            <a:pPr marL="0" indent="0">
              <a:spcAft>
                <a:spcPts val="400"/>
              </a:spcAft>
              <a:buNone/>
            </a:pPr>
            <a:r>
              <a:rPr sz="1400" b="1" i="0">
                <a:solidFill>
                  <a:srgbClr val="2E7D7A"/>
                </a:solidFill>
              </a:rPr>
              <a:t>Sequential Gaussian simulation</a:t>
            </a:r>
          </a:p>
        </p:txBody>
      </p:sp>
      <p:sp>
        <p:nvSpPr>
          <p:cNvPr id="10" name="Rounded Rectangle 9"/>
          <p:cNvSpPr/>
          <p:nvPr/>
        </p:nvSpPr>
        <p:spPr>
          <a:xfrm>
            <a:off x="4709160" y="4754880"/>
            <a:ext cx="2103120" cy="54864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150" b="0" i="0">
                <a:solidFill>
                  <a:srgbClr val="2B2118"/>
                </a:solidFill>
              </a:rPr>
              <a:t>Normal-score transform</a:t>
            </a:r>
          </a:p>
        </p:txBody>
      </p:sp>
      <p:cxnSp>
        <p:nvCxnSpPr>
          <p:cNvPr id="11" name="Connector 10"/>
          <p:cNvCxnSpPr/>
          <p:nvPr/>
        </p:nvCxnSpPr>
        <p:spPr>
          <a:xfrm>
            <a:off x="6812280" y="5029200"/>
            <a:ext cx="228600" cy="0"/>
          </a:xfrm>
          <a:prstGeom prst="line">
            <a:avLst/>
          </a:prstGeom>
          <a:ln w="1905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040880" y="4754880"/>
            <a:ext cx="2103120" cy="54864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150" b="0" i="0">
                <a:solidFill>
                  <a:srgbClr val="2B2118"/>
                </a:solidFill>
              </a:rPr>
              <a:t>Variogram of normal scores</a:t>
            </a:r>
          </a:p>
        </p:txBody>
      </p:sp>
      <p:cxnSp>
        <p:nvCxnSpPr>
          <p:cNvPr id="13" name="Connector 12"/>
          <p:cNvCxnSpPr/>
          <p:nvPr/>
        </p:nvCxnSpPr>
        <p:spPr>
          <a:xfrm>
            <a:off x="9144000" y="5029200"/>
            <a:ext cx="228600" cy="0"/>
          </a:xfrm>
          <a:prstGeom prst="line">
            <a:avLst/>
          </a:prstGeom>
          <a:ln w="1905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372600" y="4754880"/>
            <a:ext cx="2103120" cy="54864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150" b="0" i="0">
                <a:solidFill>
                  <a:srgbClr val="2B2118"/>
                </a:solidFill>
              </a:rPr>
              <a:t>Random path through nodes</a:t>
            </a:r>
          </a:p>
        </p:txBody>
      </p:sp>
      <p:sp>
        <p:nvSpPr>
          <p:cNvPr id="15" name="Rounded Rectangle 14"/>
          <p:cNvSpPr/>
          <p:nvPr/>
        </p:nvSpPr>
        <p:spPr>
          <a:xfrm>
            <a:off x="4709160" y="5413248"/>
            <a:ext cx="2103120" cy="54864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150" b="0" i="0">
                <a:solidFill>
                  <a:srgbClr val="FFFFFF"/>
                </a:solidFill>
              </a:rPr>
              <a:t>SK mean + variance from data + simulated</a:t>
            </a:r>
          </a:p>
        </p:txBody>
      </p:sp>
      <p:cxnSp>
        <p:nvCxnSpPr>
          <p:cNvPr id="16" name="Connector 15"/>
          <p:cNvCxnSpPr/>
          <p:nvPr/>
        </p:nvCxnSpPr>
        <p:spPr>
          <a:xfrm>
            <a:off x="6812280" y="5687568"/>
            <a:ext cx="228600" cy="0"/>
          </a:xfrm>
          <a:prstGeom prst="line">
            <a:avLst/>
          </a:prstGeom>
          <a:ln w="1905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040880" y="5413248"/>
            <a:ext cx="2103120" cy="548640"/>
          </a:xfrm>
          <a:prstGeom prst="roundRect">
            <a:avLst>
              <a:gd name="adj" fmla="val 9000"/>
            </a:avLst>
          </a:prstGeom>
          <a:solidFill>
            <a:srgbClr val="2E7D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150" b="0" i="0">
                <a:solidFill>
                  <a:srgbClr val="FFFFFF"/>
                </a:solidFill>
              </a:rPr>
              <a:t>Draw value, add to data</a:t>
            </a:r>
          </a:p>
        </p:txBody>
      </p:sp>
      <p:cxnSp>
        <p:nvCxnSpPr>
          <p:cNvPr id="18" name="Connector 17"/>
          <p:cNvCxnSpPr/>
          <p:nvPr/>
        </p:nvCxnSpPr>
        <p:spPr>
          <a:xfrm>
            <a:off x="9144000" y="5687568"/>
            <a:ext cx="228600" cy="0"/>
          </a:xfrm>
          <a:prstGeom prst="line">
            <a:avLst/>
          </a:prstGeom>
          <a:ln w="19050">
            <a:solidFill>
              <a:srgbClr val="2B2118"/>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72600" y="5413248"/>
            <a:ext cx="2103120" cy="548640"/>
          </a:xfrm>
          <a:prstGeom prst="roundRect">
            <a:avLst>
              <a:gd name="adj" fmla="val 9000"/>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marL="0" indent="0">
              <a:spcAft>
                <a:spcPts val="100"/>
              </a:spcAft>
              <a:buNone/>
            </a:pPr>
            <a:r>
              <a:rPr sz="1150" b="0" i="0">
                <a:solidFill>
                  <a:srgbClr val="2B2118"/>
                </a:solidFill>
              </a:rPr>
              <a:t>Back-transform; repeat → realisations</a:t>
            </a:r>
          </a:p>
        </p:txBody>
      </p:sp>
      <p:sp>
        <p:nvSpPr>
          <p:cNvPr id="20" name="TextBox 19"/>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Illustration computed for this talk on a synthetic SOC field (1 km × 1 km, 70 samples); Oliver &amp; Webster (2014) Catena 113:56–69; Webster &amp; Oliver (2007) Geostatistics for Environmental Scientists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Choosing an interpolation method</a:t>
            </a:r>
          </a:p>
        </p:txBody>
      </p:sp>
      <p:sp>
        <p:nvSpPr>
          <p:cNvPr id="3" name="Slide Number Placeholder 0"/>
          <p:cNvSpPr>
            <a:spLocks noGrp="1"/>
          </p:cNvSpPr>
          <p:nvPr>
            <p:ph type="sldNum" sz="quarter" idx="4294967295"/>
          </p:nvPr>
        </p:nvSpPr>
        <p:spPr>
          <a:xfrm>
            <a:off x="1124712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178"/>
                </a:solidFill>
              </a:defRPr>
            </a:lvl1pPr>
          </a:lstStyle>
          <a:p>
            <a:pPr algn="r"/>
            <a:fld id="{F7021451-1387-4CA6-816F-3879F97B5CBC}" type="slidenum">
              <a:rPr lang="en-US" b="0"/>
              <a:t>6</a:t>
            </a:fld>
            <a:endParaRPr lang="en-US"/>
          </a:p>
        </p:txBody>
      </p:sp>
      <p:graphicFrame>
        <p:nvGraphicFramePr>
          <p:cNvPr id="4" name="Table 3"/>
          <p:cNvGraphicFramePr>
            <a:graphicFrameLocks noGrp="1"/>
          </p:cNvGraphicFramePr>
          <p:nvPr/>
        </p:nvGraphicFramePr>
        <p:xfrm>
          <a:off x="548640" y="1280160"/>
          <a:ext cx="11064240" cy="4425696"/>
        </p:xfrm>
        <a:graphic>
          <a:graphicData uri="http://schemas.openxmlformats.org/drawingml/2006/table">
            <a:tbl>
              <a:tblPr firstRow="0" bandRow="0">
                <a:tableStyleId>{5940675A-B579-460E-94D1-54222C63F5DA}</a:tableStyleId>
              </a:tblPr>
              <a:tblGrid>
                <a:gridCol w="2743200"/>
                <a:gridCol w="1005840"/>
                <a:gridCol w="2651760"/>
                <a:gridCol w="1737360"/>
                <a:gridCol w="2926080"/>
              </a:tblGrid>
              <a:tr h="402336">
                <a:tc>
                  <a:txBody>
                    <a:bodyPr wrap="square"/>
                    <a:lstStyle/>
                    <a:p>
                      <a:pPr marL="0" indent="0">
                        <a:spcAft>
                          <a:spcPts val="0"/>
                        </a:spcAft>
                        <a:buNone/>
                      </a:pPr>
                      <a:r>
                        <a:rPr sz="1150" b="1" i="0">
                          <a:solidFill>
                            <a:srgbClr val="FFFFFF"/>
                          </a:solidFill>
                        </a:rPr>
                        <a:t>Method</a:t>
                      </a:r>
                    </a:p>
                  </a:txBody>
                  <a:tcPr marL="54864" marR="54864" marT="27432" marB="27432" anchor="ctr">
                    <a:solidFill>
                      <a:srgbClr val="8C5A2B"/>
                    </a:solidFill>
                  </a:tcPr>
                </a:tc>
                <a:tc>
                  <a:txBody>
                    <a:bodyPr wrap="square"/>
                    <a:lstStyle/>
                    <a:p>
                      <a:pPr marL="0" indent="0">
                        <a:spcAft>
                          <a:spcPts val="0"/>
                        </a:spcAft>
                        <a:buNone/>
                      </a:pPr>
                      <a:r>
                        <a:rPr sz="1150" b="1" i="0">
                          <a:solidFill>
                            <a:srgbClr val="FFFFFF"/>
                          </a:solidFill>
                        </a:rPr>
                        <a:t>Exact?</a:t>
                      </a:r>
                    </a:p>
                  </a:txBody>
                  <a:tcPr marL="54864" marR="54864" marT="27432" marB="27432" anchor="ctr">
                    <a:solidFill>
                      <a:srgbClr val="8C5A2B"/>
                    </a:solidFill>
                  </a:tcPr>
                </a:tc>
                <a:tc>
                  <a:txBody>
                    <a:bodyPr wrap="square"/>
                    <a:lstStyle/>
                    <a:p>
                      <a:pPr marL="0" indent="0">
                        <a:spcAft>
                          <a:spcPts val="0"/>
                        </a:spcAft>
                        <a:buNone/>
                      </a:pPr>
                      <a:r>
                        <a:rPr sz="1150" b="1" i="0">
                          <a:solidFill>
                            <a:srgbClr val="FFFFFF"/>
                          </a:solidFill>
                        </a:rPr>
                        <a:t>Needs</a:t>
                      </a:r>
                    </a:p>
                  </a:txBody>
                  <a:tcPr marL="54864" marR="54864" marT="27432" marB="27432" anchor="ctr">
                    <a:solidFill>
                      <a:srgbClr val="8C5A2B"/>
                    </a:solidFill>
                  </a:tcPr>
                </a:tc>
                <a:tc>
                  <a:txBody>
                    <a:bodyPr wrap="square"/>
                    <a:lstStyle/>
                    <a:p>
                      <a:pPr marL="0" indent="0">
                        <a:spcAft>
                          <a:spcPts val="0"/>
                        </a:spcAft>
                        <a:buNone/>
                      </a:pPr>
                      <a:r>
                        <a:rPr sz="1150" b="1" i="0">
                          <a:solidFill>
                            <a:srgbClr val="FFFFFF"/>
                          </a:solidFill>
                        </a:rPr>
                        <a:t>Error estimate</a:t>
                      </a:r>
                    </a:p>
                  </a:txBody>
                  <a:tcPr marL="54864" marR="54864" marT="27432" marB="27432" anchor="ctr">
                    <a:solidFill>
                      <a:srgbClr val="8C5A2B"/>
                    </a:solidFill>
                  </a:tcPr>
                </a:tc>
                <a:tc>
                  <a:txBody>
                    <a:bodyPr wrap="square"/>
                    <a:lstStyle/>
                    <a:p>
                      <a:pPr marL="0" indent="0">
                        <a:spcAft>
                          <a:spcPts val="0"/>
                        </a:spcAft>
                        <a:buNone/>
                      </a:pPr>
                      <a:r>
                        <a:rPr sz="1150" b="1" i="0">
                          <a:solidFill>
                            <a:srgbClr val="FFFFFF"/>
                          </a:solidFill>
                        </a:rPr>
                        <a:t>Best for</a:t>
                      </a:r>
                    </a:p>
                  </a:txBody>
                  <a:tcPr marL="54864" marR="54864" marT="27432" marB="27432" anchor="ctr">
                    <a:solidFill>
                      <a:srgbClr val="8C5A2B"/>
                    </a:solidFill>
                  </a:tcPr>
                </a:tc>
              </a:tr>
              <a:tr h="402336">
                <a:tc>
                  <a:txBody>
                    <a:bodyPr wrap="square"/>
                    <a:lstStyle/>
                    <a:p>
                      <a:pPr marL="0" indent="0">
                        <a:spcAft>
                          <a:spcPts val="0"/>
                        </a:spcAft>
                        <a:buNone/>
                      </a:pPr>
                      <a:r>
                        <a:rPr sz="1150" b="1" i="0">
                          <a:solidFill>
                            <a:srgbClr val="2B2118"/>
                          </a:solidFill>
                        </a:rPr>
                        <a:t>Thiessen / nearest neighbour</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Yes</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Points only</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No</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Categorical data, areal rainfall</a:t>
                      </a:r>
                    </a:p>
                  </a:txBody>
                  <a:tcPr marL="54864" marR="54864" marT="27432" marB="27432" anchor="ctr">
                    <a:solidFill>
                      <a:srgbClr val="F3F0EB"/>
                    </a:solidFill>
                  </a:tcPr>
                </a:tc>
              </a:tr>
              <a:tr h="402336">
                <a:tc>
                  <a:txBody>
                    <a:bodyPr wrap="square"/>
                    <a:lstStyle/>
                    <a:p>
                      <a:pPr marL="0" indent="0">
                        <a:spcAft>
                          <a:spcPts val="0"/>
                        </a:spcAft>
                        <a:buNone/>
                      </a:pPr>
                      <a:r>
                        <a:rPr sz="1150" b="1" i="0">
                          <a:solidFill>
                            <a:srgbClr val="2B2118"/>
                          </a:solidFill>
                        </a:rPr>
                        <a:t>IDW</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Yes</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Power, neighbours</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No</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Quick maps, dense even data</a:t>
                      </a:r>
                    </a:p>
                  </a:txBody>
                  <a:tcPr marL="54864" marR="54864" marT="27432" marB="27432" anchor="ctr">
                    <a:solidFill>
                      <a:srgbClr val="FFFFFF"/>
                    </a:solidFill>
                  </a:tcPr>
                </a:tc>
              </a:tr>
              <a:tr h="402336">
                <a:tc>
                  <a:txBody>
                    <a:bodyPr wrap="square"/>
                    <a:lstStyle/>
                    <a:p>
                      <a:pPr marL="0" indent="0">
                        <a:spcAft>
                          <a:spcPts val="0"/>
                        </a:spcAft>
                        <a:buNone/>
                      </a:pPr>
                      <a:r>
                        <a:rPr sz="1150" b="1" i="0">
                          <a:solidFill>
                            <a:srgbClr val="2B2118"/>
                          </a:solidFill>
                        </a:rPr>
                        <a:t>Splines / RBF</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Yes / no</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Tension, smoothing</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No</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Smooth surfaces: DEM, climate</a:t>
                      </a:r>
                    </a:p>
                  </a:txBody>
                  <a:tcPr marL="54864" marR="54864" marT="27432" marB="27432" anchor="ctr">
                    <a:solidFill>
                      <a:srgbClr val="F3F0EB"/>
                    </a:solidFill>
                  </a:tcPr>
                </a:tc>
              </a:tr>
              <a:tr h="402336">
                <a:tc>
                  <a:txBody>
                    <a:bodyPr wrap="square"/>
                    <a:lstStyle/>
                    <a:p>
                      <a:pPr marL="0" indent="0">
                        <a:spcAft>
                          <a:spcPts val="0"/>
                        </a:spcAft>
                        <a:buNone/>
                      </a:pPr>
                      <a:r>
                        <a:rPr sz="1150" b="1" i="0">
                          <a:solidFill>
                            <a:srgbClr val="2B2118"/>
                          </a:solidFill>
                        </a:rPr>
                        <a:t>Trend surface</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No</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Polynomial order</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Regression SE</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Regional drift; detrending</a:t>
                      </a:r>
                    </a:p>
                  </a:txBody>
                  <a:tcPr marL="54864" marR="54864" marT="27432" marB="27432" anchor="ctr">
                    <a:solidFill>
                      <a:srgbClr val="FFFFFF"/>
                    </a:solidFill>
                  </a:tcPr>
                </a:tc>
              </a:tr>
              <a:tr h="402336">
                <a:tc>
                  <a:txBody>
                    <a:bodyPr wrap="square"/>
                    <a:lstStyle/>
                    <a:p>
                      <a:pPr marL="0" indent="0">
                        <a:spcAft>
                          <a:spcPts val="0"/>
                        </a:spcAft>
                        <a:buNone/>
                      </a:pPr>
                      <a:r>
                        <a:rPr sz="1150" b="1" i="0">
                          <a:solidFill>
                            <a:srgbClr val="2B2118"/>
                          </a:solidFill>
                        </a:rPr>
                        <a:t>Ordinary kriging</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Yes</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Variogram (≥100–150 pts)</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Yes</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Single property, no trend</a:t>
                      </a:r>
                    </a:p>
                  </a:txBody>
                  <a:tcPr marL="54864" marR="54864" marT="27432" marB="27432" anchor="ctr">
                    <a:solidFill>
                      <a:srgbClr val="F3F0EB"/>
                    </a:solidFill>
                  </a:tcPr>
                </a:tc>
              </a:tr>
              <a:tr h="402336">
                <a:tc>
                  <a:txBody>
                    <a:bodyPr wrap="square"/>
                    <a:lstStyle/>
                    <a:p>
                      <a:pPr marL="0" indent="0">
                        <a:spcAft>
                          <a:spcPts val="0"/>
                        </a:spcAft>
                        <a:buNone/>
                      </a:pPr>
                      <a:r>
                        <a:rPr sz="1150" b="1" i="0">
                          <a:solidFill>
                            <a:srgbClr val="2B2118"/>
                          </a:solidFill>
                        </a:rPr>
                        <a:t>Universal kriging / KED / RK</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Yes</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Trend + residual variogram</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Yes</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Trend or strong covariates</a:t>
                      </a:r>
                    </a:p>
                  </a:txBody>
                  <a:tcPr marL="54864" marR="54864" marT="27432" marB="27432" anchor="ctr">
                    <a:solidFill>
                      <a:srgbClr val="FFFFFF"/>
                    </a:solidFill>
                  </a:tcPr>
                </a:tc>
              </a:tr>
              <a:tr h="402336">
                <a:tc>
                  <a:txBody>
                    <a:bodyPr wrap="square"/>
                    <a:lstStyle/>
                    <a:p>
                      <a:pPr marL="0" indent="0">
                        <a:spcAft>
                          <a:spcPts val="0"/>
                        </a:spcAft>
                        <a:buNone/>
                      </a:pPr>
                      <a:r>
                        <a:rPr sz="1150" b="1" i="0">
                          <a:solidFill>
                            <a:srgbClr val="2B2118"/>
                          </a:solidFill>
                        </a:rPr>
                        <a:t>Co-kriging</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Yes</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Cross-variogram</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Yes</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Dense correlated secondary</a:t>
                      </a:r>
                    </a:p>
                  </a:txBody>
                  <a:tcPr marL="54864" marR="54864" marT="27432" marB="27432" anchor="ctr">
                    <a:solidFill>
                      <a:srgbClr val="F3F0EB"/>
                    </a:solidFill>
                  </a:tcPr>
                </a:tc>
              </a:tr>
              <a:tr h="402336">
                <a:tc>
                  <a:txBody>
                    <a:bodyPr wrap="square"/>
                    <a:lstStyle/>
                    <a:p>
                      <a:pPr marL="0" indent="0">
                        <a:spcAft>
                          <a:spcPts val="0"/>
                        </a:spcAft>
                        <a:buNone/>
                      </a:pPr>
                      <a:r>
                        <a:rPr sz="1150" b="1" i="0">
                          <a:solidFill>
                            <a:srgbClr val="2B2118"/>
                          </a:solidFill>
                        </a:rPr>
                        <a:t>Indicator kriging</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Thresholds, indicator variograms</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Probability</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Risk / exceedance maps</a:t>
                      </a:r>
                    </a:p>
                  </a:txBody>
                  <a:tcPr marL="54864" marR="54864" marT="27432" marB="27432" anchor="ctr">
                    <a:solidFill>
                      <a:srgbClr val="FFFFFF"/>
                    </a:solidFill>
                  </a:tcPr>
                </a:tc>
              </a:tr>
              <a:tr h="402336">
                <a:tc>
                  <a:txBody>
                    <a:bodyPr wrap="square"/>
                    <a:lstStyle/>
                    <a:p>
                      <a:pPr marL="0" indent="0">
                        <a:spcAft>
                          <a:spcPts val="0"/>
                        </a:spcAft>
                        <a:buNone/>
                      </a:pPr>
                      <a:r>
                        <a:rPr sz="1150" b="1" i="0">
                          <a:solidFill>
                            <a:srgbClr val="2B2118"/>
                          </a:solidFill>
                        </a:rPr>
                        <a:t>Block kriging</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Variogram, block size</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Yes (smaller)</a:t>
                      </a:r>
                    </a:p>
                  </a:txBody>
                  <a:tcPr marL="54864" marR="54864" marT="27432" marB="27432" anchor="ctr">
                    <a:solidFill>
                      <a:srgbClr val="F3F0EB"/>
                    </a:solidFill>
                  </a:tcPr>
                </a:tc>
                <a:tc>
                  <a:txBody>
                    <a:bodyPr wrap="square"/>
                    <a:lstStyle/>
                    <a:p>
                      <a:pPr marL="0" indent="0">
                        <a:spcAft>
                          <a:spcPts val="0"/>
                        </a:spcAft>
                        <a:buNone/>
                      </a:pPr>
                      <a:r>
                        <a:rPr sz="1150" b="0" i="0">
                          <a:solidFill>
                            <a:srgbClr val="2B2118"/>
                          </a:solidFill>
                        </a:rPr>
                        <a:t>Field or pixel averages</a:t>
                      </a:r>
                    </a:p>
                  </a:txBody>
                  <a:tcPr marL="54864" marR="54864" marT="27432" marB="27432" anchor="ctr">
                    <a:solidFill>
                      <a:srgbClr val="F3F0EB"/>
                    </a:solidFill>
                  </a:tcPr>
                </a:tc>
              </a:tr>
              <a:tr h="402336">
                <a:tc>
                  <a:txBody>
                    <a:bodyPr wrap="square"/>
                    <a:lstStyle/>
                    <a:p>
                      <a:pPr marL="0" indent="0">
                        <a:spcAft>
                          <a:spcPts val="0"/>
                        </a:spcAft>
                        <a:buNone/>
                      </a:pPr>
                      <a:r>
                        <a:rPr sz="1150" b="1" i="0">
                          <a:solidFill>
                            <a:srgbClr val="2B2118"/>
                          </a:solidFill>
                        </a:rPr>
                        <a:t>Gaussian simulation</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Yes</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Normal scores, variogram</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Many realisations</a:t>
                      </a:r>
                    </a:p>
                  </a:txBody>
                  <a:tcPr marL="54864" marR="54864" marT="27432" marB="27432" anchor="ctr">
                    <a:solidFill>
                      <a:srgbClr val="FFFFFF"/>
                    </a:solidFill>
                  </a:tcPr>
                </a:tc>
                <a:tc>
                  <a:txBody>
                    <a:bodyPr wrap="square"/>
                    <a:lstStyle/>
                    <a:p>
                      <a:pPr marL="0" indent="0">
                        <a:spcAft>
                          <a:spcPts val="0"/>
                        </a:spcAft>
                        <a:buNone/>
                      </a:pPr>
                      <a:r>
                        <a:rPr sz="1150" b="0" i="0">
                          <a:solidFill>
                            <a:srgbClr val="2B2118"/>
                          </a:solidFill>
                        </a:rPr>
                        <a:t>Uncertainty of totals, risk</a:t>
                      </a:r>
                    </a:p>
                  </a:txBody>
                  <a:tcPr marL="54864" marR="54864" marT="27432" marB="27432" anchor="ctr">
                    <a:solidFill>
                      <a:srgbClr val="FFFFFF"/>
                    </a:solidFill>
                  </a:tcPr>
                </a:tc>
              </a:tr>
            </a:tbl>
          </a:graphicData>
        </a:graphic>
      </p:graphicFrame>
      <p:sp>
        <p:nvSpPr>
          <p:cNvPr id="5" name="Rounded Rectangle 4"/>
          <p:cNvSpPr/>
          <p:nvPr/>
        </p:nvSpPr>
        <p:spPr>
          <a:xfrm>
            <a:off x="548640" y="5788152"/>
            <a:ext cx="11064240" cy="329184"/>
          </a:xfrm>
          <a:prstGeom prst="roundRect">
            <a:avLst>
              <a:gd name="adj" fmla="val 6000"/>
            </a:avLst>
          </a:prstGeom>
          <a:solidFill>
            <a:srgbClr val="2B2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788152"/>
            <a:ext cx="10789920" cy="329184"/>
          </a:xfrm>
          <a:prstGeom prst="rect">
            <a:avLst/>
          </a:prstGeom>
          <a:noFill/>
        </p:spPr>
        <p:txBody>
          <a:bodyPr wrap="square" lIns="27432" rIns="27432" tIns="27432" bIns="27432" anchor="ctr">
            <a:spAutoFit/>
          </a:bodyPr>
          <a:lstStyle/>
          <a:p>
            <a:pPr marL="0" indent="0" algn="ctr">
              <a:spcAft>
                <a:spcPts val="400"/>
              </a:spcAft>
              <a:buNone/>
            </a:pPr>
            <a:r>
              <a:rPr sz="1200" b="0" i="0">
                <a:solidFill>
                  <a:srgbClr val="FFFFFF"/>
                </a:solidFill>
              </a:rPr>
              <a:t>Rule: pick by data density, trend, covariates and purpose — then confirm with cross-validation</a:t>
            </a:r>
          </a:p>
        </p:txBody>
      </p:sp>
      <p:sp>
        <p:nvSpPr>
          <p:cNvPr id="7" name="TextBox 6"/>
          <p:cNvSpPr txBox="1"/>
          <p:nvPr/>
        </p:nvSpPr>
        <p:spPr>
          <a:xfrm>
            <a:off x="548640" y="6163056"/>
            <a:ext cx="11064240" cy="274320"/>
          </a:xfrm>
          <a:prstGeom prst="rect">
            <a:avLst/>
          </a:prstGeom>
          <a:noFill/>
        </p:spPr>
        <p:txBody>
          <a:bodyPr wrap="square" lIns="27432" rIns="27432" tIns="27432" bIns="27432" anchor="t">
            <a:spAutoFit/>
          </a:bodyPr>
          <a:lstStyle/>
          <a:p>
            <a:pPr marL="0" indent="0">
              <a:spcAft>
                <a:spcPts val="400"/>
              </a:spcAft>
              <a:buNone/>
            </a:pPr>
            <a:r>
              <a:rPr sz="1000" b="0" i="1">
                <a:solidFill>
                  <a:srgbClr val="8A8178"/>
                </a:solidFill>
              </a:rPr>
              <a:t>Compiled from Oliver &amp; Webster (2014) Catena 113:56–69; Webster &amp; Oliver (2007) Geostatistics for Environmental Scientists; Hengl et al. (2007)</a:t>
            </a:r>
          </a:p>
        </p:txBody>
      </p:sp>
    </p:spTree>
  </p:cSld>
  <p:clrMapOvr>
    <a:masterClrMapping/>
  </p:clrMapOvr>
</p:sld>
</file>

<file path=ppt/theme/theme1.xml><?xml version="1.0" encoding="utf-8"?>
<a:theme xmlns:a="http://schemas.openxmlformats.org/drawingml/2006/main" name="Soil and Water">
  <a:themeElements>
    <a:clrScheme name="Soil and Water">
      <a:dk1>
        <a:srgbClr val="2B2118"/>
      </a:dk1>
      <a:lt1>
        <a:srgbClr val="FFFFFF"/>
      </a:lt1>
      <a:dk2>
        <a:srgbClr val="4A3B2E"/>
      </a:dk2>
      <a:lt2>
        <a:srgbClr val="F3F0EB"/>
      </a:lt2>
      <a:accent1>
        <a:srgbClr val="8C5A2B"/>
      </a:accent1>
      <a:accent2>
        <a:srgbClr val="2E7D7A"/>
      </a:accent2>
      <a:accent3>
        <a:srgbClr val="C9A227"/>
      </a:accent3>
      <a:accent4>
        <a:srgbClr val="6B8E4E"/>
      </a:accent4>
      <a:accent5>
        <a:srgbClr val="A44A3F"/>
      </a:accent5>
      <a:accent6>
        <a:srgbClr val="8A8178"/>
      </a:accent6>
      <a:hlink>
        <a:srgbClr val="2E7D7A"/>
      </a:hlink>
      <a:folHlink>
        <a:srgbClr val="8C5A2B"/>
      </a:folHlink>
    </a:clrScheme>
    <a:fontScheme name="Soil and Wa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5483</Words>
  <Application>Microsoft Office PowerPoint</Application>
  <PresentationFormat>Widescreen</PresentationFormat>
  <Paragraphs>618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Cambria</vt:lpstr>
      <vt:lpstr>Soil and Water</vt:lpstr>
      <vt:lpstr>Digital Soil Mapping and Soil Moisture Mapping</vt:lpstr>
      <vt:lpstr>Outline of the talk</vt:lpstr>
      <vt:lpstr>Concepts of digital soil mapping</vt:lpstr>
      <vt:lpstr>From conventional soil survey to digital soil mapping</vt:lpstr>
      <vt:lpstr>The scorpan model: covariates for the soil-forming factors</vt:lpstr>
      <vt:lpstr>Generic DSM workflow</vt:lpstr>
      <vt:lpstr>Sampling design decides map quality</vt:lpstr>
      <vt:lpstr>Conventional approach: geostatistics</vt:lpstr>
      <vt:lpstr>The semivariogram: describing spatial dependence</vt:lpstr>
      <vt:lpstr>Choosing and fitting a variogram model</vt:lpstr>
      <vt:lpstr>The kriging family and its relatives</vt:lpstr>
      <vt:lpstr>Ordinary kriging: prediction plus its own error map</vt:lpstr>
      <vt:lpstr>Good geostatistical practice (Oliver &amp; Webster, 2014)</vt:lpstr>
      <vt:lpstr>Regression-kriging: a hybrid framework (Hengl et al., 2004)</vt:lpstr>
      <vt:lpstr>Regression-kriging vs ordinary kriging: results</vt:lpstr>
      <vt:lpstr>Machine-learning approaches</vt:lpstr>
      <vt:lpstr>Ensemble learning: bagging, boosting and stacking</vt:lpstr>
      <vt:lpstr>Feature selection with the Boruta algorithm</vt:lpstr>
      <vt:lpstr>Validation metrics and uncertainty</vt:lpstr>
      <vt:lpstr>Case study I: SOC mapping in the Indian Himalaya</vt:lpstr>
      <vt:lpstr>Study area and soil database</vt:lpstr>
      <vt:lpstr>Methodology</vt:lpstr>
      <vt:lpstr>Results: random forest predicts SOC best</vt:lpstr>
      <vt:lpstr>Drivers of SOC and the 30 m maps</vt:lpstr>
      <vt:lpstr>Mapping the uncertainty</vt:lpstr>
      <vt:lpstr>Case study II: Surface soil moisture mapping</vt:lpstr>
      <vt:lpstr>Study area and data</vt:lpstr>
      <vt:lpstr>Methodology: three sensors, four models</vt:lpstr>
      <vt:lpstr>Results: stacking gives the lowest validation error</vt:lpstr>
      <vt:lpstr>Spatio-temporal soil moisture through the rabi season</vt:lpstr>
      <vt:lpstr>Synthesis</vt:lpstr>
      <vt:lpstr>Approaches for mapping soil parameters at a glance</vt:lpstr>
      <vt:lpstr>The two case studies side by side</vt:lpstr>
      <vt:lpstr>Research gaps and way forward</vt:lpstr>
      <vt:lpstr>Conclusions</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soil mapping and soil moisture mapping</dc:title>
  <dc:subject>PptxGenJS Presentation</dc:subject>
  <dc:creator>Animesh Panda</dc:creator>
  <cp:lastModifiedBy>A panda</cp:lastModifiedBy>
  <cp:revision>1</cp:revision>
  <dcterms:created xsi:type="dcterms:W3CDTF">2026-10-29T14:38:05Z</dcterms:created>
  <dcterms:modified xsi:type="dcterms:W3CDTF">2026-10-30T09:07:51Z</dcterms:modified>
</cp:coreProperties>
</file>