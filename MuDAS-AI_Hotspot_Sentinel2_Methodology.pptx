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087bae08-2ec9-d1b6-8a12-3a1debf679d5}">
          <p14:sldIdLst>
            <p14:sldId id="256"/>
            <p14:sldId id="257"/>
          </p14:sldIdLst>
        </p14:section>
        <p14:section name="A · Within-plot hotspots" id="{4e5b04a7-5784-6137-4ffa-108c46389399}">
          <p14:sldIdLst>
            <p14:sldId id="258"/>
            <p14:sldId id="259"/>
            <p14:sldId id="260"/>
            <p14:sldId id="261"/>
            <p14:sldId id="262"/>
            <p14:sldId id="263"/>
            <p14:sldId id="264"/>
            <p14:sldId id="265"/>
          </p14:sldIdLst>
        </p14:section>
        <p14:section name="B · Sentinel-2 simulation" id="{4abdfcff-c73d-cd5a-a992-7c0271b7f398}">
          <p14:sldIdLst>
            <p14:sldId id="266"/>
            <p14:sldId id="267"/>
            <p14:sldId id="268"/>
            <p14:sldId id="269"/>
            <p14:sldId id="270"/>
            <p14:sldId id="271"/>
            <p14:sldId id="272"/>
          </p14:sldIdLst>
        </p14:section>
        <p14:section name="Implementation &amp; references" id="{30fc6fac-aea3-adc2-65a3-91b160f20dcb}">
          <p14:sldIdLst>
            <p14:sldId id="273"/>
            <p14:sldId id="274"/>
            <p14:sldId id="275"/>
            <p14:sldId id="276"/>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extensions to the existing pipeline (s01-s08). Part A asks whether disease is clustered inside a plot and where. Part B asks whether the spectral information needed to detect white rust survives when UAV hyperspectral data are reduced to Sentinel-2 bands. Both are post-hoc analyses that reuse outputs already produced by the pipeline (unmixing abundances, plot spectra, trained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A works below the plot scale and is descriptive and spatial-statistical; it is validated with quadrat scores. Part B is a spectral-feasibility test: it keeps the plot scale but degrades the spectral resolution to Sentinel-2. It does NOT test Sentinel-2 spatial resolution, which needs farmer fields (slide on upscaling).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workflow for every inoculated plot and every healthy control plot on each flight date. Healthy controls provide the null reference: any clustering they show comes from soil, irrigation or edge effects, not disease.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 1 uses outputs already in the pipeline (s04 writes HS_&lt;date&gt;_abundance.tif). Option 2 is simple and transparent: healthy control plots of the same flight define 'normal'; use a robust covariance (e.g., Minimum Covariance Determinant) if a few healthy cells are outliers. Option 3 suffers from the change-of-support problem discussed earlier: the classifier learned plot means, so applying it to small cells extrapolates.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 regular raster grid, libpysal.weights.lat2W(nrows, ncols, rook=False) gives queen contiguity. Remove cells without enough canopy and rebuild W on the remaining cells (libpysal.weights.w_subset). Row-standardisation (W.transform='r') makes each cell's neighbour weights sum to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Moran's I is a correlation between each cell value and the weighted average of its neighbours. With 40 cells the analytic normal approximation is unreliable, so use the permutation (conditional randomisation) pseudo-p-value reported by esda.Moran (p_sim). Healthy control plots are crucial because canopy density and soil also create spatial 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 (star) includes the cell itself in the neighbourhood, which is the usual choice for hotspot mapping. In esda use G_Local(y, w, star=True, permutations=999) and read Zs and p_sim; LISA with Moran_Local(y, w, permutations=999) gives q (1=HH, 2=LH, 3=LL, 4=HL). Apply FDR across the cells of a plot (esda has esda.fdr). Report both hotspots and coldspots.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Focal expansion (hotspot growing from one point) suggests spread from a local inoculum source; a uniform increase suggests airborne inoculum arriving everywhere. The semivariogram range estimates the patch size; with 0.5 m cells and a 4.2 x 2.7 m plot, only ranges below about 1.5 m are estimable, so use the 0.25 m grid for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Statistics only show where the image signal clusters. The quadrat comparison shows whether disease is actually concentrated there. Report the hit rate (proportion of hotspot quadrats with higher DI than nearby non-hotspot quadrats) and the false-positive rate in controls.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Zhang et al. (2012) simulated Landsat TM broad bands from leaf hyperspectral data with each band's relative spectral response and found broadband features still detected powdery mildew. Zheng et al. (2018) used canopy hyperspectral data resampled to Sentinel-2 to derive REDSI for yellow rust and then applied it to real Sentinel-2 imagery. The same logic is applied here to UAV plot spectra.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Band centres and widths differ slightly between Sentinel-2A, 2B and 2C. Always convolve with the ESA spectral response function table rather than a box approximation. Check the wavelength range of your UAV hyperspectral camera first; many VNIR snapshot cameras cover about 450-950 nm, which covers B2 (partly), B3-B8A.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weighted average is the standard way to synthesise a multispectral band from hyperspectral data. Use reflectance, not SNV-normalised values, because indices require positive reflectance. Because this step uses no labels it can be done for all plots before cross-validation.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Sentinel-2 adaptations widely used in the literature. PSRI was originally (R680 − R500)/R750 (Merzlyak et al., 1999); with Sentinel-2 it is commonly computed as (B4 − B2)/B6. For REDSI, use the exact equation from Zheng et al. (2018), Sensors 18:868.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full existing pipeline (Phases 1-3, nested plot-grouped CV) once per configuration; nothing else changes. The MS-real vs MS-sim comparison shows how much of any difference is due to the simulation itself rather than to band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Simulation answers the spectral question on research plots; this protocol answers the spatial question in real fields. The UAV map acts as dense ground truth for thousands of satellite pixels. Spatially grouped validation avoids the inflation seen with random pixel splits (Ploton et al., 2020).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scripts are proposed; they are not yet written. They plug into the existing folder structure (project/09_hotspots and project/10_s2sim) and reuse run_nested() from s07 for the Sentinel-2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1"/>
        </a:solidFill>
      </p:bgPr>
    </p:bg>
    <p:spTree>
      <p:nvGrpSpPr>
        <p:cNvPr id="1" name=""/>
        <p:cNvGrpSpPr/>
        <p:nvPr/>
      </p:nvGrpSpPr>
      <p:grpSpPr>
        <a:xfrm>
          <a:off x="0" y="0"/>
          <a:ext cx="0" cy="0"/>
          <a:chOff x="0" y="0"/>
          <a:chExt cx="0" cy="0"/>
        </a:xfrm>
      </p:grpSpPr>
      <p:sp>
        <p:nvSpPr>
          <p:cNvPr id="2" name="Shape 0"/>
          <p:cNvSpPr/>
          <p:nvPr/>
        </p:nvSpPr>
        <p:spPr>
          <a:xfrm>
            <a:off x="548640" y="4224528"/>
            <a:ext cx="1280160" cy="54864"/>
          </a:xfrm>
          <a:prstGeom prst="rect">
            <a:avLst/>
          </a:prstGeom>
          <a:solidFill>
            <a:schemeClr val="accent1"/>
          </a:solidFill>
          <a:ln/>
        </p:spPr>
      </p:sp>
      <p:sp>
        <p:nvSpPr>
          <p:cNvPr id="3" name="Text 1"/>
          <p:cNvSpPr/>
          <p:nvPr>
            <p:ph idx="101" type="title" hasCustomPrompt="1"/>
          </p:nvPr>
        </p:nvSpPr>
        <p:spPr>
          <a:xfrm>
            <a:off x="548640" y="1828800"/>
            <a:ext cx="11064240" cy="2286000"/>
          </a:xfrm>
          <a:prstGeom prst="rect">
            <a:avLst/>
          </a:prstGeom>
          <a:noFill/>
          <a:ln/>
        </p:spPr>
        <p:txBody>
          <a:bodyPr wrap="square" rtlCol="0"/>
          <a:lstStyle>
            <a:lvl1pPr algn="l" indent="0" marL="0">
              <a:buNone/>
              <a:defRPr lang="en-US" sz="3800" b="1" dirty="0">
                <a:solidFill>
                  <a:schemeClr val="bg1"/>
                </a:solidFill>
              </a:defRPr>
            </a:lvl1pPr>
          </a:lstStyle>
          <a:p>
            <a:pPr algn="l" indent="0" marL="0">
              <a:buNone/>
            </a:pPr>
            <a:endParaRPr lang="en-US" sz="3800" dirty="0"/>
          </a:p>
        </p:txBody>
      </p:sp>
      <p:sp>
        <p:nvSpPr>
          <p:cNvPr id="4" name="Text 1"/>
          <p:cNvSpPr/>
          <p:nvPr>
            <p:ph idx="102" type="body" hasCustomPrompt="1"/>
          </p:nvPr>
        </p:nvSpPr>
        <p:spPr>
          <a:xfrm>
            <a:off x="548640" y="4434840"/>
            <a:ext cx="11064240" cy="1463040"/>
          </a:xfrm>
          <a:prstGeom prst="rect">
            <a:avLst/>
          </a:prstGeom>
          <a:noFill/>
          <a:ln/>
        </p:spPr>
        <p:txBody>
          <a:bodyPr wrap="square" rtlCol="0"/>
          <a:lstStyle>
            <a:lvl1pPr algn="l" indent="0" marL="0">
              <a:buNone/>
              <a:defRPr lang="en-US" sz="1800" dirty="0">
                <a:solidFill>
                  <a:schemeClr val="accent1"/>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2"/>
        </a:solidFill>
      </p:bgPr>
    </p:bg>
    <p:spTree>
      <p:nvGrpSpPr>
        <p:cNvPr id="1" name=""/>
        <p:cNvGrpSpPr/>
        <p:nvPr/>
      </p:nvGrpSpPr>
      <p:grpSpPr>
        <a:xfrm>
          <a:off x="0" y="0"/>
          <a:ext cx="0" cy="0"/>
          <a:chOff x="0" y="0"/>
          <a:chExt cx="0" cy="0"/>
        </a:xfrm>
      </p:grpSpPr>
      <p:sp>
        <p:nvSpPr>
          <p:cNvPr id="2" name="Shape 0"/>
          <p:cNvSpPr/>
          <p:nvPr/>
        </p:nvSpPr>
        <p:spPr>
          <a:xfrm>
            <a:off x="548640" y="2788920"/>
            <a:ext cx="109728" cy="1371600"/>
          </a:xfrm>
          <a:prstGeom prst="rect">
            <a:avLst/>
          </a:prstGeom>
          <a:solidFill>
            <a:schemeClr val="accent1"/>
          </a:solidFill>
          <a:ln/>
        </p:spPr>
      </p:sp>
      <p:sp>
        <p:nvSpPr>
          <p:cNvPr id="3" name="Text 1"/>
          <p:cNvSpPr/>
          <p:nvPr>
            <p:ph idx="101" type="title" hasCustomPrompt="1"/>
          </p:nvPr>
        </p:nvSpPr>
        <p:spPr>
          <a:xfrm>
            <a:off x="868680" y="2651760"/>
            <a:ext cx="10789920" cy="91440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4" name="Text 1"/>
          <p:cNvSpPr/>
          <p:nvPr>
            <p:ph idx="102" type="body" hasCustomPrompt="1"/>
          </p:nvPr>
        </p:nvSpPr>
        <p:spPr>
          <a:xfrm>
            <a:off x="868680" y="3566160"/>
            <a:ext cx="10789920" cy="731520"/>
          </a:xfrm>
          <a:prstGeom prst="rect">
            <a:avLst/>
          </a:prstGeom>
          <a:noFill/>
          <a:ln/>
        </p:spPr>
        <p:txBody>
          <a:bodyPr wrap="square" rtlCol="0"/>
          <a:lstStyle>
            <a:lvl1pPr algn="l" indent="0" marL="0">
              <a:buNone/>
              <a:defRPr lang="en-US" sz="1800" dirty="0">
                <a:solidFill>
                  <a:schemeClr val="accent1"/>
                </a:solidFill>
              </a:defRPr>
            </a:lvl1pPr>
          </a:lstStyle>
          <a:p>
            <a:pPr algn="l" indent="0" marL="0">
              <a:buNone/>
            </a:pPr>
            <a:endParaRPr lang="en-US" sz="1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84048"/>
            <a:ext cx="11247120" cy="640080"/>
          </a:xfrm>
          <a:prstGeom prst="rect">
            <a:avLst/>
          </a:prstGeom>
          <a:noFill/>
          <a:ln/>
        </p:spPr>
        <p:txBody>
          <a:bodyPr wrap="square" rtlCol="0"/>
          <a:lstStyle>
            <a:lvl1pPr algn="l" indent="0" marL="0">
              <a:buNone/>
              <a:defRPr lang="en-US" sz="2600" b="1" dirty="0">
                <a:solidFill>
                  <a:schemeClr val="tx1"/>
                </a:solidFill>
              </a:defRPr>
            </a:lvl1pPr>
          </a:lstStyle>
          <a:p>
            <a:pPr algn="l" indent="0" marL="0">
              <a:buNone/>
            </a:pPr>
            <a:endParaRPr lang="en-US" sz="2600" dirty="0"/>
          </a:p>
        </p:txBody>
      </p:sp>
      <p:sp>
        <p:nvSpPr>
          <p:cNvPr id="3" name="Shape 0"/>
          <p:cNvSpPr/>
          <p:nvPr/>
        </p:nvSpPr>
        <p:spPr>
          <a:xfrm>
            <a:off x="457200" y="6400800"/>
            <a:ext cx="11274552" cy="0"/>
          </a:xfrm>
          <a:prstGeom prst="line">
            <a:avLst/>
          </a:prstGeom>
          <a:noFill/>
          <a:ln w="12700">
            <a:solidFill>
              <a:schemeClr val="bg2"/>
            </a:solidFill>
            <a:prstDash val="solid"/>
          </a:ln>
        </p:spPr>
      </p:sp>
      <p:sp>
        <p:nvSpPr>
          <p:cNvPr id="4" name="Text 1"/>
          <p:cNvSpPr/>
          <p:nvPr/>
        </p:nvSpPr>
        <p:spPr>
          <a:xfrm>
            <a:off x="457200" y="6446520"/>
            <a:ext cx="8229600" cy="274320"/>
          </a:xfrm>
          <a:prstGeom prst="rect">
            <a:avLst/>
          </a:prstGeom>
          <a:noFill/>
          <a:ln/>
        </p:spPr>
        <p:txBody>
          <a:bodyPr wrap="square" lIns="0" tIns="0" rIns="0" bIns="0" rtlCol="0" anchor="ctr"/>
          <a:lstStyle/>
          <a:p>
            <a:pPr indent="0" marL="0">
              <a:buNone/>
            </a:pPr>
            <a:r>
              <a:rPr lang="en-US" sz="1000" dirty="0">
                <a:solidFill>
                  <a:schemeClr val="tx2"/>
                </a:solidFill>
              </a:rPr>
              <a:t>MuDAS-AI · Methodology extension: hotspots &amp; Sentinel-2 simulation</a:t>
            </a:r>
            <a:endParaRPr lang="en-US" sz="1000" dirty="0"/>
          </a:p>
        </p:txBody>
      </p:sp>
      <p:sp>
        <p:nvSpPr>
          <p:cNvPr id="25" name="Slide Number Placeholder 0"/>
          <p:cNvSpPr>
            <a:spLocks noGrp="1"/>
          </p:cNvSpPr>
          <p:nvPr>
            <p:ph type="sldNum" sz="quarter" idx="4294967295"/>
          </p:nvPr>
        </p:nvSpPr>
        <p:spPr>
          <a:xfrm>
            <a:off x="11247120" y="644652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4652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1" type="title" hasCustomPrompt="1"/>
          </p:nvPr>
        </p:nvSpPr>
        <p:spPr>
          <a:xfrm>
            <a:off x="548640" y="1828800"/>
            <a:ext cx="11064240" cy="2286000"/>
          </a:xfrm>
          <a:prstGeom prst="rect">
            <a:avLst/>
          </a:prstGeom>
          <a:noFill/>
          <a:ln/>
        </p:spPr>
        <p:txBody>
          <a:bodyPr wrap="square" lIns="0" tIns="0" rIns="0" bIns="0" rtlCol="0" anchor="b"/>
          <a:lstStyle/>
          <a:p>
            <a:pPr algn="l" indent="0" marL="0">
              <a:buNone/>
            </a:pPr>
            <a:r>
              <a:rPr lang="en-US" sz="3800" b="1" dirty="0">
                <a:solidFill>
                  <a:schemeClr val="bg1"/>
                </a:solidFill>
              </a:rPr>
              <a:t>Within-plot disease hotspot analysis and Sentinel-2 band simulation</a:t>
            </a:r>
            <a:endParaRPr lang="en-US" sz="3800" dirty="0"/>
          </a:p>
        </p:txBody>
      </p:sp>
      <p:sp>
        <p:nvSpPr>
          <p:cNvPr id="3" name="Text 1"/>
          <p:cNvSpPr/>
          <p:nvPr>
            <p:ph idx="102" type="body" hasCustomPrompt="1"/>
          </p:nvPr>
        </p:nvSpPr>
        <p:spPr>
          <a:xfrm>
            <a:off x="548640" y="4434840"/>
            <a:ext cx="11064240" cy="1463040"/>
          </a:xfrm>
          <a:prstGeom prst="rect">
            <a:avLst/>
          </a:prstGeom>
          <a:noFill/>
          <a:ln/>
        </p:spPr>
        <p:txBody>
          <a:bodyPr wrap="square" lIns="0" tIns="0" rIns="0" bIns="0" rtlCol="0" anchor="t"/>
          <a:lstStyle/>
          <a:p>
            <a:pPr algn="l" indent="0" marL="0">
              <a:buNone/>
            </a:pPr>
            <a:r>
              <a:rPr lang="en-US" sz="1800" dirty="0">
                <a:solidFill>
                  <a:schemeClr val="accent1"/>
                </a:solidFill>
              </a:rPr>
              <a:t>Methodology extension for UAV multimodal white rust (Albugo candida) assessment in mustard  ·  MuDAS-AI  ·  Animesh Panda, ICAR-IARI</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384048"/>
            <a:ext cx="11247120" cy="640080"/>
          </a:xfrm>
          <a:prstGeom prst="rect">
            <a:avLst/>
          </a:prstGeom>
          <a:noFill/>
          <a:ln/>
        </p:spPr>
        <p:txBody>
          <a:bodyPr wrap="square" lIns="0" tIns="0" rIns="0" bIns="0" rtlCol="0" anchor="ctr"/>
          <a:lstStyle/>
          <a:p>
            <a:pPr algn="l" indent="0" marL="0">
              <a:buNone/>
            </a:pPr>
            <a:r>
              <a:rPr lang="en-US" sz="2600" b="1" dirty="0">
                <a:solidFill>
                  <a:schemeClr val="tx1"/>
                </a:solidFill>
              </a:rPr>
              <a:t>Two questions this extension answers</a:t>
            </a:r>
            <a:endParaRPr lang="en-US" sz="2600" dirty="0"/>
          </a:p>
        </p:txBody>
      </p:sp>
      <p:sp>
        <p:nvSpPr>
          <p:cNvPr id="3" name="Text 1"/>
          <p:cNvSpPr txBox="1"/>
          <p:nvPr/>
        </p:nvSpPr>
        <p:spPr>
          <a:xfrm>
            <a:off x="457200" y="164592"/>
            <a:ext cx="7315200" cy="237744"/>
          </a:xfrm>
          <a:prstGeom prst="rect">
            <a:avLst/>
          </a:prstGeom>
          <a:noFill/>
          <a:ln/>
        </p:spPr>
        <p:txBody>
          <a:bodyPr wrap="square" lIns="0" tIns="0" rIns="0" bIns="0" rtlCol="0" anchor="t"/>
          <a:lstStyle/>
          <a:p>
            <a:pPr indent="0" marL="0">
              <a:buNone/>
            </a:pPr>
            <a:r>
              <a:rPr lang="en-US" sz="1100" b="1" spc="200" kern="0" dirty="0">
                <a:solidFill>
                  <a:schemeClr val="accent1"/>
                </a:solidFill>
              </a:rPr>
              <a:t>OVERVIEW</a:t>
            </a:r>
            <a:endParaRPr lang="en-US" sz="1100" dirty="0"/>
          </a:p>
        </p:txBody>
      </p:sp>
      <p:sp>
        <p:nvSpPr>
          <p:cNvPr id="4" name="Shape 2"/>
          <p:cNvSpPr/>
          <p:nvPr/>
        </p:nvSpPr>
        <p:spPr>
          <a:xfrm>
            <a:off x="457200" y="1325880"/>
            <a:ext cx="5486400" cy="2880360"/>
          </a:xfrm>
          <a:prstGeom prst="roundRect">
            <a:avLst>
              <a:gd name="adj" fmla="val 2540"/>
            </a:avLst>
          </a:prstGeom>
          <a:solidFill>
            <a:schemeClr val="bg2"/>
          </a:solidFill>
          <a:ln/>
        </p:spPr>
      </p:sp>
      <p:sp>
        <p:nvSpPr>
          <p:cNvPr id="5" name="Shape 3"/>
          <p:cNvSpPr/>
          <p:nvPr/>
        </p:nvSpPr>
        <p:spPr>
          <a:xfrm>
            <a:off x="457200" y="1453896"/>
            <a:ext cx="64008" cy="384048"/>
          </a:xfrm>
          <a:prstGeom prst="rect">
            <a:avLst/>
          </a:prstGeom>
          <a:solidFill>
            <a:schemeClr val="accent1"/>
          </a:solidFill>
          <a:ln/>
        </p:spPr>
      </p:sp>
      <p:sp>
        <p:nvSpPr>
          <p:cNvPr id="6" name="Text 4"/>
          <p:cNvSpPr txBox="1"/>
          <p:nvPr/>
        </p:nvSpPr>
        <p:spPr>
          <a:xfrm>
            <a:off x="658368" y="1435608"/>
            <a:ext cx="5166360" cy="420624"/>
          </a:xfrm>
          <a:prstGeom prst="rect">
            <a:avLst/>
          </a:prstGeom>
          <a:noFill/>
          <a:ln/>
        </p:spPr>
        <p:txBody>
          <a:bodyPr wrap="square" lIns="0" tIns="0" rIns="0" bIns="0" rtlCol="0" anchor="ctr"/>
          <a:lstStyle/>
          <a:p>
            <a:pPr indent="0" marL="0">
              <a:buNone/>
            </a:pPr>
            <a:r>
              <a:rPr lang="en-US" sz="1500" b="1" dirty="0">
                <a:solidFill>
                  <a:schemeClr val="tx1"/>
                </a:solidFill>
              </a:rPr>
              <a:t>A · Within-plot hotspots</a:t>
            </a:r>
            <a:endParaRPr lang="en-US" sz="1500" dirty="0"/>
          </a:p>
        </p:txBody>
      </p:sp>
      <p:sp>
        <p:nvSpPr>
          <p:cNvPr id="7" name="Text 5"/>
          <p:cNvSpPr txBox="1"/>
          <p:nvPr/>
        </p:nvSpPr>
        <p:spPr>
          <a:xfrm>
            <a:off x="658368" y="1929384"/>
            <a:ext cx="5120640" cy="2148840"/>
          </a:xfrm>
          <a:prstGeom prst="rect">
            <a:avLst/>
          </a:prstGeom>
          <a:noFill/>
          <a:ln/>
        </p:spPr>
        <p:txBody>
          <a:bodyPr wrap="square" lIns="0" tIns="0" rIns="0" bIns="0" rtlCol="0" anchor="t"/>
          <a:lstStyle/>
          <a:p>
            <a:pPr marL="177800" indent="-177800">
              <a:spcAft>
                <a:spcPts val="500"/>
              </a:spcAft>
              <a:buSzPct val="100000"/>
              <a:buChar char="•"/>
            </a:pPr>
            <a:r>
              <a:rPr lang="en-US" sz="1300" b="1" dirty="0">
                <a:solidFill>
                  <a:schemeClr val="tx1"/>
                </a:solidFill>
              </a:rPr>
              <a:t>Q1: </a:t>
            </a:r>
            <a:pPr indent="0" marL="0">
              <a:spcAft>
                <a:spcPts val="500"/>
              </a:spcAft>
              <a:buNone/>
            </a:pPr>
            <a:r>
              <a:rPr lang="en-US" sz="1300" dirty="0">
                <a:solidFill>
                  <a:schemeClr val="tx1"/>
                </a:solidFill>
              </a:rPr>
              <a:t>Is white rust spread evenly in a plot, or clustered?</a:t>
            </a:r>
            <a:endParaRPr lang="en-US" sz="1250" dirty="0"/>
          </a:p>
          <a:p>
            <a:pPr marL="177800" indent="-177800">
              <a:spcAft>
                <a:spcPts val="500"/>
              </a:spcAft>
              <a:buSzPct val="100000"/>
              <a:buChar char="•"/>
            </a:pPr>
            <a:r>
              <a:rPr lang="en-US" sz="1300" b="1" dirty="0">
                <a:solidFill>
                  <a:schemeClr val="tx1"/>
                </a:solidFill>
              </a:rPr>
              <a:t>Q2: </a:t>
            </a:r>
            <a:pPr indent="0" marL="0">
              <a:spcAft>
                <a:spcPts val="500"/>
              </a:spcAft>
              <a:buNone/>
            </a:pPr>
            <a:r>
              <a:rPr lang="en-US" sz="1300" dirty="0">
                <a:solidFill>
                  <a:schemeClr val="tx1"/>
                </a:solidFill>
              </a:rPr>
              <a:t>Where are the hotspots, how large, and do they grow between flights?</a:t>
            </a:r>
            <a:endParaRPr lang="en-US" sz="1250" dirty="0"/>
          </a:p>
          <a:p>
            <a:pPr marL="177800" indent="-177800">
              <a:spcAft>
                <a:spcPts val="500"/>
              </a:spcAft>
              <a:buSzPct val="100000"/>
              <a:buChar char="•"/>
            </a:pPr>
            <a:r>
              <a:rPr lang="en-US" sz="1300" b="1" dirty="0">
                <a:solidFill>
                  <a:schemeClr val="tx1"/>
                </a:solidFill>
              </a:rPr>
              <a:t>Output: </a:t>
            </a:r>
            <a:pPr indent="0" marL="0">
              <a:spcAft>
                <a:spcPts val="500"/>
              </a:spcAft>
              <a:buNone/>
            </a:pPr>
            <a:r>
              <a:rPr lang="en-US" sz="1300" dirty="0">
                <a:solidFill>
                  <a:schemeClr val="tx1"/>
                </a:solidFill>
              </a:rPr>
              <a:t>hotspot maps, % hotspot area, Moran's I per plot × date</a:t>
            </a:r>
            <a:endParaRPr lang="en-US" sz="1250" dirty="0"/>
          </a:p>
          <a:p>
            <a:pPr marL="177800" indent="-177800">
              <a:spcAft>
                <a:spcPts val="500"/>
              </a:spcAft>
              <a:buSzPct val="100000"/>
              <a:buChar char="•"/>
            </a:pPr>
            <a:r>
              <a:rPr lang="en-US" sz="1300" b="1" dirty="0">
                <a:solidFill>
                  <a:schemeClr val="tx1"/>
                </a:solidFill>
              </a:rPr>
              <a:t>Uses: </a:t>
            </a:r>
            <a:pPr indent="0" marL="0">
              <a:spcAft>
                <a:spcPts val="500"/>
              </a:spcAft>
              <a:buNone/>
            </a:pPr>
            <a:r>
              <a:rPr lang="en-US" sz="1300" dirty="0">
                <a:solidFill>
                  <a:schemeClr val="tx1"/>
                </a:solidFill>
              </a:rPr>
              <a:t>unmixing abundance rasters (s04), plot polygons (s01)</a:t>
            </a:r>
            <a:endParaRPr lang="en-US" sz="1250" dirty="0"/>
          </a:p>
        </p:txBody>
      </p:sp>
      <p:sp>
        <p:nvSpPr>
          <p:cNvPr id="8" name="Shape 6"/>
          <p:cNvSpPr/>
          <p:nvPr/>
        </p:nvSpPr>
        <p:spPr>
          <a:xfrm>
            <a:off x="6245352" y="1325880"/>
            <a:ext cx="5486400" cy="2880360"/>
          </a:xfrm>
          <a:prstGeom prst="roundRect">
            <a:avLst>
              <a:gd name="adj" fmla="val 2540"/>
            </a:avLst>
          </a:prstGeom>
          <a:solidFill>
            <a:schemeClr val="bg2"/>
          </a:solidFill>
          <a:ln/>
        </p:spPr>
      </p:sp>
      <p:sp>
        <p:nvSpPr>
          <p:cNvPr id="9" name="Shape 7"/>
          <p:cNvSpPr/>
          <p:nvPr/>
        </p:nvSpPr>
        <p:spPr>
          <a:xfrm>
            <a:off x="6245352" y="1453896"/>
            <a:ext cx="64008" cy="384048"/>
          </a:xfrm>
          <a:prstGeom prst="rect">
            <a:avLst/>
          </a:prstGeom>
          <a:solidFill>
            <a:schemeClr val="accent2"/>
          </a:solidFill>
          <a:ln/>
        </p:spPr>
      </p:sp>
      <p:sp>
        <p:nvSpPr>
          <p:cNvPr id="10" name="Text 8"/>
          <p:cNvSpPr txBox="1"/>
          <p:nvPr/>
        </p:nvSpPr>
        <p:spPr>
          <a:xfrm>
            <a:off x="6446520" y="1435608"/>
            <a:ext cx="5166360" cy="420624"/>
          </a:xfrm>
          <a:prstGeom prst="rect">
            <a:avLst/>
          </a:prstGeom>
          <a:noFill/>
          <a:ln/>
        </p:spPr>
        <p:txBody>
          <a:bodyPr wrap="square" lIns="0" tIns="0" rIns="0" bIns="0" rtlCol="0" anchor="ctr"/>
          <a:lstStyle/>
          <a:p>
            <a:pPr indent="0" marL="0">
              <a:buNone/>
            </a:pPr>
            <a:r>
              <a:rPr lang="en-US" sz="1500" b="1" dirty="0">
                <a:solidFill>
                  <a:schemeClr val="tx1"/>
                </a:solidFill>
              </a:rPr>
              <a:t>B · Sentinel-2 band simulation</a:t>
            </a:r>
            <a:endParaRPr lang="en-US" sz="1500" dirty="0"/>
          </a:p>
        </p:txBody>
      </p:sp>
      <p:sp>
        <p:nvSpPr>
          <p:cNvPr id="11" name="Text 9"/>
          <p:cNvSpPr txBox="1"/>
          <p:nvPr/>
        </p:nvSpPr>
        <p:spPr>
          <a:xfrm>
            <a:off x="6446520" y="1929384"/>
            <a:ext cx="5120640" cy="2148840"/>
          </a:xfrm>
          <a:prstGeom prst="rect">
            <a:avLst/>
          </a:prstGeom>
          <a:noFill/>
          <a:ln/>
        </p:spPr>
        <p:txBody>
          <a:bodyPr wrap="square" lIns="0" tIns="0" rIns="0" bIns="0" rtlCol="0" anchor="t"/>
          <a:lstStyle/>
          <a:p>
            <a:pPr marL="177800" indent="-177800">
              <a:spcAft>
                <a:spcPts val="500"/>
              </a:spcAft>
              <a:buSzPct val="100000"/>
              <a:buChar char="•"/>
            </a:pPr>
            <a:r>
              <a:rPr lang="en-US" sz="1300" b="1" dirty="0">
                <a:solidFill>
                  <a:schemeClr val="tx1"/>
                </a:solidFill>
              </a:rPr>
              <a:t>Q3: </a:t>
            </a:r>
            <a:pPr indent="0" marL="0">
              <a:spcAft>
                <a:spcPts val="500"/>
              </a:spcAft>
              <a:buNone/>
            </a:pPr>
            <a:r>
              <a:rPr lang="en-US" sz="1300" dirty="0">
                <a:solidFill>
                  <a:schemeClr val="tx1"/>
                </a:solidFill>
              </a:rPr>
              <a:t>With Sentinel-2's bands, can white rust severity still be detected?</a:t>
            </a:r>
            <a:endParaRPr lang="en-US" sz="1250" dirty="0"/>
          </a:p>
          <a:p>
            <a:pPr marL="177800" indent="-177800">
              <a:spcAft>
                <a:spcPts val="500"/>
              </a:spcAft>
              <a:buSzPct val="100000"/>
              <a:buChar char="•"/>
            </a:pPr>
            <a:r>
              <a:rPr lang="en-US" sz="1300" b="1" dirty="0">
                <a:solidFill>
                  <a:schemeClr val="tx1"/>
                </a:solidFill>
              </a:rPr>
              <a:t>Q4: </a:t>
            </a:r>
            <a:pPr indent="0" marL="0">
              <a:spcAft>
                <a:spcPts val="500"/>
              </a:spcAft>
              <a:buNone/>
            </a:pPr>
            <a:r>
              <a:rPr lang="en-US" sz="1300" dirty="0">
                <a:solidFill>
                  <a:schemeClr val="tx1"/>
                </a:solidFill>
              </a:rPr>
              <a:t>How much information is lost: hyperspectral → MicaSense → Sentinel-2?</a:t>
            </a:r>
            <a:endParaRPr lang="en-US" sz="1250" dirty="0"/>
          </a:p>
          <a:p>
            <a:pPr marL="177800" indent="-177800">
              <a:spcAft>
                <a:spcPts val="500"/>
              </a:spcAft>
              <a:buSzPct val="100000"/>
              <a:buChar char="•"/>
            </a:pPr>
            <a:r>
              <a:rPr lang="en-US" sz="1300" b="1" dirty="0">
                <a:solidFill>
                  <a:schemeClr val="tx1"/>
                </a:solidFill>
              </a:rPr>
              <a:t>Output: </a:t>
            </a:r>
            <a:pPr indent="0" marL="0">
              <a:spcAft>
                <a:spcPts val="500"/>
              </a:spcAft>
              <a:buNone/>
            </a:pPr>
            <a:r>
              <a:rPr lang="en-US" sz="1300" dirty="0">
                <a:solidFill>
                  <a:schemeClr val="tx1"/>
                </a:solidFill>
              </a:rPr>
              <a:t>simulated S2 bands &amp; indices, nested-CV accuracy, loss table</a:t>
            </a:r>
            <a:endParaRPr lang="en-US" sz="1250" dirty="0"/>
          </a:p>
          <a:p>
            <a:pPr marL="177800" indent="-177800">
              <a:spcAft>
                <a:spcPts val="500"/>
              </a:spcAft>
              <a:buSzPct val="100000"/>
              <a:buChar char="•"/>
            </a:pPr>
            <a:r>
              <a:rPr lang="en-US" sz="1300" b="1" dirty="0">
                <a:solidFill>
                  <a:schemeClr val="tx1"/>
                </a:solidFill>
              </a:rPr>
              <a:t>Uses: </a:t>
            </a:r>
            <a:pPr indent="0" marL="0">
              <a:spcAft>
                <a:spcPts val="500"/>
              </a:spcAft>
              <a:buNone/>
            </a:pPr>
            <a:r>
              <a:rPr lang="en-US" sz="1300" dirty="0">
                <a:solidFill>
                  <a:schemeClr val="tx1"/>
                </a:solidFill>
              </a:rPr>
              <a:t>hyperspectral plot spectra (s05), models (s07–s08)</a:t>
            </a:r>
            <a:endParaRPr lang="en-US" sz="1250" dirty="0"/>
          </a:p>
        </p:txBody>
      </p:sp>
      <p:sp>
        <p:nvSpPr>
          <p:cNvPr id="12" name="Text 10"/>
          <p:cNvSpPr/>
          <p:nvPr/>
        </p:nvSpPr>
        <p:spPr>
          <a:xfrm>
            <a:off x="457200" y="4572000"/>
            <a:ext cx="1787652" cy="822960"/>
          </a:xfrm>
          <a:prstGeom prst="homePlate">
            <a:avLst/>
          </a:prstGeom>
          <a:solidFill>
            <a:schemeClr val="tx2"/>
          </a:solidFill>
          <a:ln/>
        </p:spPr>
        <p:txBody>
          <a:bodyPr wrap="square" lIns="0" tIns="50800" rIns="76200" bIns="0" rtlCol="0" anchor="ctr"/>
          <a:lstStyle/>
          <a:p>
            <a:pPr algn="ctr" indent="0" marL="0">
              <a:buNone/>
            </a:pPr>
            <a:r>
              <a:rPr lang="en-US" sz="1100" b="1" dirty="0">
                <a:solidFill>
                  <a:schemeClr val="bg1"/>
                </a:solidFill>
              </a:rPr>
              <a:t>UAV data (s02)</a:t>
            </a:r>
            <a:endParaRPr lang="en-US" sz="1100" dirty="0"/>
          </a:p>
        </p:txBody>
      </p:sp>
      <p:sp>
        <p:nvSpPr>
          <p:cNvPr id="13" name="Text 11"/>
          <p:cNvSpPr/>
          <p:nvPr/>
        </p:nvSpPr>
        <p:spPr>
          <a:xfrm>
            <a:off x="2354580" y="4572000"/>
            <a:ext cx="1787652" cy="822960"/>
          </a:xfrm>
          <a:prstGeom prst="chevron">
            <a:avLst/>
          </a:prstGeom>
          <a:solidFill>
            <a:schemeClr val="tx2"/>
          </a:solidFill>
          <a:ln/>
        </p:spPr>
        <p:txBody>
          <a:bodyPr wrap="square" lIns="0" tIns="152400" rIns="76200" bIns="0" rtlCol="0" anchor="ctr"/>
          <a:lstStyle/>
          <a:p>
            <a:pPr algn="ctr" indent="0" marL="0">
              <a:buNone/>
            </a:pPr>
            <a:r>
              <a:rPr lang="en-US" sz="1100" b="1" dirty="0">
                <a:solidFill>
                  <a:schemeClr val="bg1"/>
                </a:solidFill>
              </a:rPr>
              <a:t>Mask &amp; unmix (s03–04)</a:t>
            </a:r>
            <a:endParaRPr lang="en-US" sz="1100" dirty="0"/>
          </a:p>
        </p:txBody>
      </p:sp>
      <p:sp>
        <p:nvSpPr>
          <p:cNvPr id="14" name="Text 12"/>
          <p:cNvSpPr/>
          <p:nvPr/>
        </p:nvSpPr>
        <p:spPr>
          <a:xfrm>
            <a:off x="4251960" y="4572000"/>
            <a:ext cx="1787652" cy="822960"/>
          </a:xfrm>
          <a:prstGeom prst="chevron">
            <a:avLst/>
          </a:prstGeom>
          <a:solidFill>
            <a:schemeClr val="tx2"/>
          </a:solidFill>
          <a:ln/>
        </p:spPr>
        <p:txBody>
          <a:bodyPr wrap="square" lIns="0" tIns="152400" rIns="76200" bIns="0" rtlCol="0" anchor="ctr"/>
          <a:lstStyle/>
          <a:p>
            <a:pPr algn="ctr" indent="0" marL="0">
              <a:buNone/>
            </a:pPr>
            <a:r>
              <a:rPr lang="en-US" sz="1100" b="1" dirty="0">
                <a:solidFill>
                  <a:schemeClr val="bg1"/>
                </a:solidFill>
              </a:rPr>
              <a:t>Features (s05)</a:t>
            </a:r>
            <a:endParaRPr lang="en-US" sz="1100" dirty="0"/>
          </a:p>
        </p:txBody>
      </p:sp>
      <p:sp>
        <p:nvSpPr>
          <p:cNvPr id="15" name="Text 13"/>
          <p:cNvSpPr/>
          <p:nvPr/>
        </p:nvSpPr>
        <p:spPr>
          <a:xfrm>
            <a:off x="6149340" y="4572000"/>
            <a:ext cx="1787652" cy="822960"/>
          </a:xfrm>
          <a:prstGeom prst="chevron">
            <a:avLst/>
          </a:prstGeom>
          <a:solidFill>
            <a:schemeClr val="tx2"/>
          </a:solidFill>
          <a:ln/>
        </p:spPr>
        <p:txBody>
          <a:bodyPr wrap="square" lIns="0" tIns="152400" rIns="76200" bIns="0" rtlCol="0" anchor="ctr"/>
          <a:lstStyle/>
          <a:p>
            <a:pPr algn="ctr" indent="0" marL="0">
              <a:buNone/>
            </a:pPr>
            <a:r>
              <a:rPr lang="en-US" sz="1100" b="1" dirty="0">
                <a:solidFill>
                  <a:schemeClr val="bg1"/>
                </a:solidFill>
              </a:rPr>
              <a:t>Phases 1–3 (s06–08)</a:t>
            </a:r>
            <a:endParaRPr lang="en-US" sz="1100" dirty="0"/>
          </a:p>
        </p:txBody>
      </p:sp>
      <p:sp>
        <p:nvSpPr>
          <p:cNvPr id="16" name="Text 14"/>
          <p:cNvSpPr/>
          <p:nvPr/>
        </p:nvSpPr>
        <p:spPr>
          <a:xfrm>
            <a:off x="8046720" y="4572000"/>
            <a:ext cx="1787652" cy="822960"/>
          </a:xfrm>
          <a:prstGeom prst="chevron">
            <a:avLst/>
          </a:prstGeom>
          <a:solidFill>
            <a:schemeClr val="accent1"/>
          </a:solidFill>
          <a:ln/>
        </p:spPr>
        <p:txBody>
          <a:bodyPr wrap="square" lIns="0" tIns="152400" rIns="76200" bIns="0" rtlCol="0" anchor="ctr"/>
          <a:lstStyle/>
          <a:p>
            <a:pPr algn="ctr" indent="0" marL="0">
              <a:buNone/>
            </a:pPr>
            <a:r>
              <a:rPr lang="en-US" sz="1100" b="1" dirty="0">
                <a:solidFill>
                  <a:schemeClr val="bg1"/>
                </a:solidFill>
              </a:rPr>
              <a:t>A: hotspots (s09)</a:t>
            </a:r>
            <a:endParaRPr lang="en-US" sz="1100" dirty="0"/>
          </a:p>
        </p:txBody>
      </p:sp>
      <p:sp>
        <p:nvSpPr>
          <p:cNvPr id="17" name="Text 15"/>
          <p:cNvSpPr/>
          <p:nvPr/>
        </p:nvSpPr>
        <p:spPr>
          <a:xfrm>
            <a:off x="9944100" y="4572000"/>
            <a:ext cx="1787652" cy="822960"/>
          </a:xfrm>
          <a:prstGeom prst="chevron">
            <a:avLst/>
          </a:prstGeom>
          <a:solidFill>
            <a:schemeClr val="accent2"/>
          </a:solidFill>
          <a:ln/>
        </p:spPr>
        <p:txBody>
          <a:bodyPr wrap="square" lIns="0" tIns="152400" rIns="76200" bIns="0" rtlCol="0" anchor="ctr"/>
          <a:lstStyle/>
          <a:p>
            <a:pPr algn="ctr" indent="0" marL="0">
              <a:buNone/>
            </a:pPr>
            <a:r>
              <a:rPr lang="en-US" sz="1100" b="1" dirty="0">
                <a:solidFill>
                  <a:schemeClr val="bg1"/>
                </a:solidFill>
              </a:rPr>
              <a:t>B: S2 sim. (s10)</a:t>
            </a:r>
            <a:endParaRPr lang="en-US" sz="1100" dirty="0"/>
          </a:p>
        </p:txBody>
      </p:sp>
      <p:sp>
        <p:nvSpPr>
          <p:cNvPr id="18" name="Text 16"/>
          <p:cNvSpPr txBox="1"/>
          <p:nvPr/>
        </p:nvSpPr>
        <p:spPr>
          <a:xfrm>
            <a:off x="457200" y="5577840"/>
            <a:ext cx="11247120" cy="365760"/>
          </a:xfrm>
          <a:prstGeom prst="rect">
            <a:avLst/>
          </a:prstGeom>
          <a:noFill/>
          <a:ln/>
        </p:spPr>
        <p:txBody>
          <a:bodyPr wrap="square" lIns="0" tIns="0" rIns="0" bIns="0" rtlCol="0" anchor="t"/>
          <a:lstStyle/>
          <a:p>
            <a:pPr indent="0" marL="0">
              <a:buNone/>
            </a:pPr>
            <a:r>
              <a:rPr lang="en-US" sz="1200" i="1" dirty="0">
                <a:solidFill>
                  <a:schemeClr val="tx2"/>
                </a:solidFill>
              </a:rPr>
              <a:t>s09 and s10 are proposed new pipeline steps; they read existing outputs and do not change Phases 1–3.</a:t>
            </a:r>
            <a:endParaRPr lang="en-US" sz="1200" dirty="0"/>
          </a:p>
        </p:txBody>
      </p:sp>
      <p:sp>
        <p:nvSpPr>
          <p:cNvPr id="25" name="Slide Number Placeholder 0"/>
          <p:cNvSpPr>
            <a:spLocks noGrp="1"/>
          </p:cNvSpPr>
          <p:nvPr>
            <p:ph type="sldNum" sz="quarter" idx="4294967295"/>
          </p:nvPr>
        </p:nvSpPr>
        <p:spPr>
          <a:xfrm>
            <a:off x="11247120" y="644652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868680" y="2651760"/>
            <a:ext cx="10789920" cy="914400"/>
          </a:xfrm>
          <a:prstGeom prst="rect">
            <a:avLst/>
          </a:prstGeom>
          <a:noFill/>
          <a:ln/>
        </p:spPr>
        <p:txBody>
          <a:bodyPr wrap="square" lIns="0" tIns="0" rIns="0" bIns="0" rtlCol="0" anchor="ctr"/>
          <a:lstStyle/>
          <a:p>
            <a:pPr algn="l" indent="0" marL="0">
              <a:buNone/>
            </a:pPr>
            <a:r>
              <a:rPr lang="en-US" sz="3600" b="1" dirty="0">
                <a:solidFill>
                  <a:schemeClr val="bg1"/>
                </a:solidFill>
              </a:rPr>
              <a:t>A · Within-plot hotspot analysis</a:t>
            </a:r>
            <a:endParaRPr lang="en-US" sz="3600" dirty="0"/>
          </a:p>
        </p:txBody>
      </p:sp>
      <p:sp>
        <p:nvSpPr>
          <p:cNvPr id="3" name="Text 1"/>
          <p:cNvSpPr/>
          <p:nvPr>
            <p:ph idx="102" type="body" hasCustomPrompt="1"/>
          </p:nvPr>
        </p:nvSpPr>
        <p:spPr>
          <a:xfrm>
            <a:off x="868680" y="3566160"/>
            <a:ext cx="10789920" cy="731520"/>
          </a:xfrm>
          <a:prstGeom prst="rect">
            <a:avLst/>
          </a:prstGeom>
          <a:noFill/>
          <a:ln/>
        </p:spPr>
        <p:txBody>
          <a:bodyPr wrap="square" lIns="0" tIns="0" rIns="0" bIns="0" rtlCol="0" anchor="t"/>
          <a:lstStyle/>
          <a:p>
            <a:pPr algn="l" indent="0" marL="0">
              <a:buNone/>
            </a:pPr>
            <a:r>
              <a:rPr lang="en-US" sz="1800" dirty="0">
                <a:solidFill>
                  <a:schemeClr val="accent1"/>
                </a:solidFill>
              </a:rPr>
              <a:t>Disease surface → cell grid → global Moran's I → local Gi* / LISA → metrics → validation</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384048"/>
            <a:ext cx="11247120" cy="640080"/>
          </a:xfrm>
          <a:prstGeom prst="rect">
            <a:avLst/>
          </a:prstGeom>
          <a:noFill/>
          <a:ln/>
        </p:spPr>
        <p:txBody>
          <a:bodyPr wrap="square" lIns="0" tIns="0" rIns="0" bIns="0" rtlCol="0" anchor="ctr"/>
          <a:lstStyle/>
          <a:p>
            <a:pPr algn="l" indent="0" marL="0">
              <a:buNone/>
            </a:pPr>
            <a:r>
              <a:rPr lang="en-US" sz="2600" b="1" dirty="0">
                <a:solidFill>
                  <a:schemeClr val="tx1"/>
                </a:solidFill>
              </a:rPr>
              <a:t>Workflow for within-plot hotspot detection</a:t>
            </a:r>
            <a:endParaRPr lang="en-US" sz="2600" dirty="0"/>
          </a:p>
        </p:txBody>
      </p:sp>
      <p:sp>
        <p:nvSpPr>
          <p:cNvPr id="3" name="Text 1"/>
          <p:cNvSpPr txBox="1"/>
          <p:nvPr/>
        </p:nvSpPr>
        <p:spPr>
          <a:xfrm>
            <a:off x="457200" y="164592"/>
            <a:ext cx="7315200" cy="237744"/>
          </a:xfrm>
          <a:prstGeom prst="rect">
            <a:avLst/>
          </a:prstGeom>
          <a:noFill/>
          <a:ln/>
        </p:spPr>
        <p:txBody>
          <a:bodyPr wrap="square" lIns="0" tIns="0" rIns="0" bIns="0" rtlCol="0" anchor="t"/>
          <a:lstStyle/>
          <a:p>
            <a:pPr indent="0" marL="0">
              <a:buNone/>
            </a:pPr>
            <a:r>
              <a:rPr lang="en-US" sz="1100" b="1" spc="200" kern="0" dirty="0">
                <a:solidFill>
                  <a:schemeClr val="accent1"/>
                </a:solidFill>
              </a:rPr>
              <a:t>PART A · WORKFLOW</a:t>
            </a:r>
            <a:endParaRPr lang="en-US" sz="1100" dirty="0"/>
          </a:p>
        </p:txBody>
      </p:sp>
      <p:sp>
        <p:nvSpPr>
          <p:cNvPr id="4" name="Text 2"/>
          <p:cNvSpPr/>
          <p:nvPr/>
        </p:nvSpPr>
        <p:spPr>
          <a:xfrm>
            <a:off x="457200" y="1325880"/>
            <a:ext cx="1787652" cy="822960"/>
          </a:xfrm>
          <a:prstGeom prst="homePlate">
            <a:avLst/>
          </a:prstGeom>
          <a:solidFill>
            <a:schemeClr val="accent1"/>
          </a:solidFill>
          <a:ln/>
        </p:spPr>
        <p:txBody>
          <a:bodyPr wrap="square" lIns="0" tIns="50800" rIns="76200" bIns="0" rtlCol="0" anchor="ctr"/>
          <a:lstStyle/>
          <a:p>
            <a:pPr algn="ctr" indent="0" marL="0">
              <a:buNone/>
            </a:pPr>
            <a:r>
              <a:rPr lang="en-US" sz="1100" b="1" dirty="0">
                <a:solidFill>
                  <a:schemeClr val="bg1"/>
                </a:solidFill>
              </a:rPr>
              <a:t>A1 Disease surface</a:t>
            </a:r>
            <a:endParaRPr lang="en-US" sz="1100" dirty="0"/>
          </a:p>
        </p:txBody>
      </p:sp>
      <p:sp>
        <p:nvSpPr>
          <p:cNvPr id="5" name="Text 3"/>
          <p:cNvSpPr/>
          <p:nvPr/>
        </p:nvSpPr>
        <p:spPr>
          <a:xfrm>
            <a:off x="2354580" y="1325880"/>
            <a:ext cx="1787652" cy="822960"/>
          </a:xfrm>
          <a:prstGeom prst="chevron">
            <a:avLst/>
          </a:prstGeom>
          <a:solidFill>
            <a:schemeClr val="accent1"/>
          </a:solidFill>
          <a:ln/>
        </p:spPr>
        <p:txBody>
          <a:bodyPr wrap="square" lIns="0" tIns="152400" rIns="76200" bIns="0" rtlCol="0" anchor="ctr"/>
          <a:lstStyle/>
          <a:p>
            <a:pPr algn="ctr" indent="0" marL="0">
              <a:buNone/>
            </a:pPr>
            <a:r>
              <a:rPr lang="en-US" sz="1100" b="1" dirty="0">
                <a:solidFill>
                  <a:schemeClr val="bg1"/>
                </a:solidFill>
              </a:rPr>
              <a:t>A2 Cell grid &amp; weights</a:t>
            </a:r>
            <a:endParaRPr lang="en-US" sz="1100" dirty="0"/>
          </a:p>
        </p:txBody>
      </p:sp>
      <p:sp>
        <p:nvSpPr>
          <p:cNvPr id="6" name="Text 4"/>
          <p:cNvSpPr/>
          <p:nvPr/>
        </p:nvSpPr>
        <p:spPr>
          <a:xfrm>
            <a:off x="4251960" y="1325880"/>
            <a:ext cx="1787652" cy="822960"/>
          </a:xfrm>
          <a:prstGeom prst="chevron">
            <a:avLst/>
          </a:prstGeom>
          <a:solidFill>
            <a:schemeClr val="tx2"/>
          </a:solidFill>
          <a:ln/>
        </p:spPr>
        <p:txBody>
          <a:bodyPr wrap="square" lIns="0" tIns="152400" rIns="76200" bIns="0" rtlCol="0" anchor="ctr"/>
          <a:lstStyle/>
          <a:p>
            <a:pPr algn="ctr" indent="0" marL="0">
              <a:buNone/>
            </a:pPr>
            <a:r>
              <a:rPr lang="en-US" sz="1100" b="1" dirty="0">
                <a:solidFill>
                  <a:schemeClr val="bg1"/>
                </a:solidFill>
              </a:rPr>
              <a:t>A3 Global Moran's I</a:t>
            </a:r>
            <a:endParaRPr lang="en-US" sz="1100" dirty="0"/>
          </a:p>
        </p:txBody>
      </p:sp>
      <p:sp>
        <p:nvSpPr>
          <p:cNvPr id="7" name="Text 5"/>
          <p:cNvSpPr/>
          <p:nvPr/>
        </p:nvSpPr>
        <p:spPr>
          <a:xfrm>
            <a:off x="6149340" y="1325880"/>
            <a:ext cx="1787652" cy="822960"/>
          </a:xfrm>
          <a:prstGeom prst="chevron">
            <a:avLst/>
          </a:prstGeom>
          <a:solidFill>
            <a:schemeClr val="tx2"/>
          </a:solidFill>
          <a:ln/>
        </p:spPr>
        <p:txBody>
          <a:bodyPr wrap="square" lIns="0" tIns="152400" rIns="76200" bIns="0" rtlCol="0" anchor="ctr"/>
          <a:lstStyle/>
          <a:p>
            <a:pPr algn="ctr" indent="0" marL="0">
              <a:buNone/>
            </a:pPr>
            <a:r>
              <a:rPr lang="en-US" sz="1100" b="1" dirty="0">
                <a:solidFill>
                  <a:schemeClr val="bg1"/>
                </a:solidFill>
              </a:rPr>
              <a:t>A4 Local Gi* &amp; LISA</a:t>
            </a:r>
            <a:endParaRPr lang="en-US" sz="1100" dirty="0"/>
          </a:p>
        </p:txBody>
      </p:sp>
      <p:sp>
        <p:nvSpPr>
          <p:cNvPr id="8" name="Text 6"/>
          <p:cNvSpPr/>
          <p:nvPr/>
        </p:nvSpPr>
        <p:spPr>
          <a:xfrm>
            <a:off x="8046720" y="1325880"/>
            <a:ext cx="1787652" cy="822960"/>
          </a:xfrm>
          <a:prstGeom prst="chevron">
            <a:avLst/>
          </a:prstGeom>
          <a:solidFill>
            <a:schemeClr val="accent2"/>
          </a:solidFill>
          <a:ln/>
        </p:spPr>
        <p:txBody>
          <a:bodyPr wrap="square" lIns="0" tIns="152400" rIns="76200" bIns="0" rtlCol="0" anchor="ctr"/>
          <a:lstStyle/>
          <a:p>
            <a:pPr algn="ctr" indent="0" marL="0">
              <a:buNone/>
            </a:pPr>
            <a:r>
              <a:rPr lang="en-US" sz="1100" b="1" dirty="0">
                <a:solidFill>
                  <a:schemeClr val="bg1"/>
                </a:solidFill>
              </a:rPr>
              <a:t>A5 Metrics &amp; spread</a:t>
            </a:r>
            <a:endParaRPr lang="en-US" sz="1100" dirty="0"/>
          </a:p>
        </p:txBody>
      </p:sp>
      <p:sp>
        <p:nvSpPr>
          <p:cNvPr id="9" name="Text 7"/>
          <p:cNvSpPr/>
          <p:nvPr/>
        </p:nvSpPr>
        <p:spPr>
          <a:xfrm>
            <a:off x="9944100" y="1325880"/>
            <a:ext cx="1787652" cy="822960"/>
          </a:xfrm>
          <a:prstGeom prst="chevron">
            <a:avLst/>
          </a:prstGeom>
          <a:solidFill>
            <a:schemeClr val="accent3"/>
          </a:solidFill>
          <a:ln/>
        </p:spPr>
        <p:txBody>
          <a:bodyPr wrap="square" lIns="0" tIns="152400" rIns="76200" bIns="0" rtlCol="0" anchor="ctr"/>
          <a:lstStyle/>
          <a:p>
            <a:pPr algn="ctr" indent="0" marL="0">
              <a:buNone/>
            </a:pPr>
            <a:r>
              <a:rPr lang="en-US" sz="1100" b="1" dirty="0">
                <a:solidFill>
                  <a:schemeClr val="bg1"/>
                </a:solidFill>
              </a:rPr>
              <a:t>A6 Validation</a:t>
            </a:r>
            <a:endParaRPr lang="en-US" sz="11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2423160"/>
          <a:ext cx="11274552" cy="914400"/>
        </p:xfrm>
        <a:graphic>
          <a:graphicData uri="http://schemas.openxmlformats.org/drawingml/2006/table">
            <a:tbl>
              <a:tblPr/>
              <a:tblGrid>
                <a:gridCol w="731520"/>
                <a:gridCol w="4023360"/>
                <a:gridCol w="3657600"/>
                <a:gridCol w="2862072"/>
              </a:tblGrid>
              <a:tr h="0">
                <a:tc>
                  <a:txBody>
                    <a:bodyPr/>
                    <a:lstStyle/>
                    <a:p>
                      <a:pPr indent="0" marL="0">
                        <a:buNone/>
                      </a:pPr>
                      <a:r>
                        <a:rPr lang="en-US" sz="1250" b="1" dirty="0">
                          <a:solidFill>
                            <a:schemeClr val="bg1"/>
                          </a:solidFill>
                        </a:rPr>
                        <a:t>Step</a:t>
                      </a:r>
                      <a:endParaRPr lang="en-US" sz="125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solidFill>
                      <a:schemeClr val="tx2"/>
                    </a:solidFill>
                  </a:tcPr>
                </a:tc>
                <a:tc>
                  <a:txBody>
                    <a:bodyPr/>
                    <a:lstStyle/>
                    <a:p>
                      <a:pPr indent="0" marL="0">
                        <a:buNone/>
                      </a:pPr>
                      <a:r>
                        <a:rPr lang="en-US" sz="1250" b="1" dirty="0">
                          <a:solidFill>
                            <a:schemeClr val="bg1"/>
                          </a:solidFill>
                        </a:rPr>
                        <a:t>What is done</a:t>
                      </a:r>
                      <a:endParaRPr lang="en-US" sz="125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solidFill>
                      <a:schemeClr val="tx2"/>
                    </a:solidFill>
                  </a:tcPr>
                </a:tc>
                <a:tc>
                  <a:txBody>
                    <a:bodyPr/>
                    <a:lstStyle/>
                    <a:p>
                      <a:pPr indent="0" marL="0">
                        <a:buNone/>
                      </a:pPr>
                      <a:r>
                        <a:rPr lang="en-US" sz="1250" b="1" dirty="0">
                          <a:solidFill>
                            <a:schemeClr val="bg1"/>
                          </a:solidFill>
                        </a:rPr>
                        <a:t>Key setting</a:t>
                      </a:r>
                      <a:endParaRPr lang="en-US" sz="125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solidFill>
                      <a:schemeClr val="tx2"/>
                    </a:solidFill>
                  </a:tcPr>
                </a:tc>
                <a:tc>
                  <a:txBody>
                    <a:bodyPr/>
                    <a:lstStyle/>
                    <a:p>
                      <a:pPr indent="0" marL="0">
                        <a:buNone/>
                      </a:pPr>
                      <a:r>
                        <a:rPr lang="en-US" sz="1250" b="1" dirty="0">
                          <a:solidFill>
                            <a:schemeClr val="bg1"/>
                          </a:solidFill>
                        </a:rPr>
                        <a:t>Output</a:t>
                      </a:r>
                      <a:endParaRPr lang="en-US" sz="125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solidFill>
                      <a:schemeClr val="tx2"/>
                    </a:solidFill>
                  </a:tcPr>
                </a:tc>
              </a:tr>
              <a:tr h="0">
                <a:tc>
                  <a:txBody>
                    <a:bodyPr/>
                    <a:lstStyle/>
                    <a:p>
                      <a:pPr indent="0" marL="0">
                        <a:buNone/>
                      </a:pPr>
                      <a:r>
                        <a:rPr lang="en-US" sz="1250" dirty="0">
                          <a:solidFill>
                            <a:schemeClr val="tx1"/>
                          </a:solidFill>
                        </a:rPr>
                        <a:t>A1</a:t>
                      </a:r>
                      <a:endParaRPr lang="en-US" sz="125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250" dirty="0">
                          <a:solidFill>
                            <a:schemeClr val="tx1"/>
                          </a:solidFill>
                        </a:rPr>
                        <a:t>Per-pixel disease indicator without pixel labels</a:t>
                      </a:r>
                      <a:endParaRPr lang="en-US" sz="125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250" dirty="0">
                          <a:solidFill>
                            <a:schemeClr val="tx1"/>
                          </a:solidFill>
                        </a:rPr>
                        <a:t>Unmixing diseased fraction (preferred)</a:t>
                      </a:r>
                      <a:endParaRPr lang="en-US" sz="125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250" dirty="0">
                          <a:solidFill>
                            <a:schemeClr val="tx1"/>
                          </a:solidFill>
                        </a:rPr>
                        <a:t>Disease raster per plot × date</a:t>
                      </a:r>
                      <a:endParaRPr lang="en-US" sz="125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r>
              <a:tr h="0">
                <a:tc>
                  <a:txBody>
                    <a:bodyPr/>
                    <a:lstStyle/>
                    <a:p>
                      <a:pPr indent="0" marL="0">
                        <a:buNone/>
                      </a:pPr>
                      <a:r>
                        <a:rPr lang="en-US" sz="1250" dirty="0">
                          <a:solidFill>
                            <a:schemeClr val="tx1"/>
                          </a:solidFill>
                        </a:rPr>
                        <a:t>A2</a:t>
                      </a:r>
                      <a:endParaRPr lang="en-US" sz="125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250" dirty="0">
                          <a:solidFill>
                            <a:schemeClr val="tx1"/>
                          </a:solidFill>
                        </a:rPr>
                        <a:t>Aggregate canopy pixels to regular cells; define neighbours</a:t>
                      </a:r>
                      <a:endParaRPr lang="en-US" sz="125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250" dirty="0">
                          <a:solidFill>
                            <a:schemeClr val="tx1"/>
                          </a:solidFill>
                        </a:rPr>
                        <a:t>0.25–0.5 m cells; ≥ 50 % canopy; queen contiguity</a:t>
                      </a:r>
                      <a:endParaRPr lang="en-US" sz="125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250" dirty="0">
                          <a:solidFill>
                            <a:schemeClr val="tx1"/>
                          </a:solidFill>
                        </a:rPr>
                        <a:t>Cell table + weights matrix W</a:t>
                      </a:r>
                      <a:endParaRPr lang="en-US" sz="125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r>
              <a:tr h="0">
                <a:tc>
                  <a:txBody>
                    <a:bodyPr/>
                    <a:lstStyle/>
                    <a:p>
                      <a:pPr indent="0" marL="0">
                        <a:buNone/>
                      </a:pPr>
                      <a:r>
                        <a:rPr lang="en-US" sz="1250" dirty="0">
                          <a:solidFill>
                            <a:schemeClr val="tx1"/>
                          </a:solidFill>
                        </a:rPr>
                        <a:t>A3</a:t>
                      </a:r>
                      <a:endParaRPr lang="en-US" sz="125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250" dirty="0">
                          <a:solidFill>
                            <a:schemeClr val="tx1"/>
                          </a:solidFill>
                        </a:rPr>
                        <a:t>Test overall clustering in each plot</a:t>
                      </a:r>
                      <a:endParaRPr lang="en-US" sz="125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250" dirty="0">
                          <a:solidFill>
                            <a:schemeClr val="tx1"/>
                          </a:solidFill>
                        </a:rPr>
                        <a:t>999 permutations; compare with healthy controls</a:t>
                      </a:r>
                      <a:endParaRPr lang="en-US" sz="125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250" dirty="0">
                          <a:solidFill>
                            <a:schemeClr val="tx1"/>
                          </a:solidFill>
                        </a:rPr>
                        <a:t>Moran's I, pseudo-p</a:t>
                      </a:r>
                      <a:endParaRPr lang="en-US" sz="125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r>
              <a:tr h="0">
                <a:tc>
                  <a:txBody>
                    <a:bodyPr/>
                    <a:lstStyle/>
                    <a:p>
                      <a:pPr indent="0" marL="0">
                        <a:buNone/>
                      </a:pPr>
                      <a:r>
                        <a:rPr lang="en-US" sz="1250" dirty="0">
                          <a:solidFill>
                            <a:schemeClr val="tx1"/>
                          </a:solidFill>
                        </a:rPr>
                        <a:t>A4</a:t>
                      </a:r>
                      <a:endParaRPr lang="en-US" sz="125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250" dirty="0">
                          <a:solidFill>
                            <a:schemeClr val="tx1"/>
                          </a:solidFill>
                        </a:rPr>
                        <a:t>Locate significant hot / cold cells</a:t>
                      </a:r>
                      <a:endParaRPr lang="en-US" sz="125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250" dirty="0">
                          <a:solidFill>
                            <a:schemeClr val="tx1"/>
                          </a:solidFill>
                        </a:rPr>
                        <a:t>Getis–Ord Gi* + LISA; FDR q &lt; 0.05</a:t>
                      </a:r>
                      <a:endParaRPr lang="en-US" sz="125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250" dirty="0">
                          <a:solidFill>
                            <a:schemeClr val="tx1"/>
                          </a:solidFill>
                        </a:rPr>
                        <a:t>Hotspot map</a:t>
                      </a:r>
                      <a:endParaRPr lang="en-US" sz="125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r>
              <a:tr h="0">
                <a:tc>
                  <a:txBody>
                    <a:bodyPr/>
                    <a:lstStyle/>
                    <a:p>
                      <a:pPr indent="0" marL="0">
                        <a:buNone/>
                      </a:pPr>
                      <a:r>
                        <a:rPr lang="en-US" sz="1250" dirty="0">
                          <a:solidFill>
                            <a:schemeClr val="tx1"/>
                          </a:solidFill>
                        </a:rPr>
                        <a:t>A5</a:t>
                      </a:r>
                      <a:endParaRPr lang="en-US" sz="125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250" dirty="0">
                          <a:solidFill>
                            <a:schemeClr val="tx1"/>
                          </a:solidFill>
                        </a:rPr>
                        <a:t>Describe hotspot size, position, growth</a:t>
                      </a:r>
                      <a:endParaRPr lang="en-US" sz="125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250" dirty="0">
                          <a:solidFill>
                            <a:schemeClr val="tx1"/>
                          </a:solidFill>
                        </a:rPr>
                        <a:t>Area %, centroid, semivariogram range</a:t>
                      </a:r>
                      <a:endParaRPr lang="en-US" sz="125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250" dirty="0">
                          <a:solidFill>
                            <a:schemeClr val="tx1"/>
                          </a:solidFill>
                        </a:rPr>
                        <a:t>Hotspot metrics table</a:t>
                      </a:r>
                      <a:endParaRPr lang="en-US" sz="125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r>
              <a:tr h="0">
                <a:tc>
                  <a:txBody>
                    <a:bodyPr/>
                    <a:lstStyle/>
                    <a:p>
                      <a:pPr indent="0" marL="0">
                        <a:buNone/>
                      </a:pPr>
                      <a:r>
                        <a:rPr lang="en-US" sz="1250" dirty="0">
                          <a:solidFill>
                            <a:schemeClr val="tx1"/>
                          </a:solidFill>
                        </a:rPr>
                        <a:t>A6</a:t>
                      </a:r>
                      <a:endParaRPr lang="en-US" sz="125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250" dirty="0">
                          <a:solidFill>
                            <a:schemeClr val="tx1"/>
                          </a:solidFill>
                        </a:rPr>
                        <a:t>Check against ground scores</a:t>
                      </a:r>
                      <a:endParaRPr lang="en-US" sz="125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250" dirty="0">
                          <a:solidFill>
                            <a:schemeClr val="tx1"/>
                          </a:solidFill>
                        </a:rPr>
                        <a:t>Geotagged quadrats, blind scoring</a:t>
                      </a:r>
                      <a:endParaRPr lang="en-US" sz="125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250" dirty="0">
                          <a:solidFill>
                            <a:schemeClr val="tx1"/>
                          </a:solidFill>
                        </a:rPr>
                        <a:t>Hit rate, false-positive rate</a:t>
                      </a:r>
                      <a:endParaRPr lang="en-US" sz="125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r>
            </a:tbl>
          </a:graphicData>
        </a:graphic>
      </p:graphicFrame>
      <p:sp>
        <p:nvSpPr>
          <p:cNvPr id="11" name="Text 8"/>
          <p:cNvSpPr txBox="1"/>
          <p:nvPr/>
        </p:nvSpPr>
        <p:spPr>
          <a:xfrm>
            <a:off x="457200" y="6035040"/>
            <a:ext cx="11247120" cy="310896"/>
          </a:xfrm>
          <a:prstGeom prst="rect">
            <a:avLst/>
          </a:prstGeom>
          <a:noFill/>
          <a:ln/>
        </p:spPr>
        <p:txBody>
          <a:bodyPr wrap="square" lIns="0" tIns="0" rIns="0" bIns="0" rtlCol="0" anchor="b"/>
          <a:lstStyle/>
          <a:p>
            <a:pPr indent="0" marL="0">
              <a:buNone/>
            </a:pPr>
            <a:r>
              <a:rPr lang="en-US" sz="1000" i="1" dirty="0">
                <a:solidFill>
                  <a:schemeClr val="tx2"/>
                </a:solidFill>
              </a:rPr>
              <a:t>Spatial statistics: Moran (1950); Getis &amp; Ord (1992); Ord &amp; Getis (1995); Anselin (1995). Implementation: PySAL / esda (Rey &amp; Anselin, 2007; Rey et al., 2022).</a:t>
            </a:r>
            <a:endParaRPr lang="en-US" sz="1000" dirty="0"/>
          </a:p>
        </p:txBody>
      </p:sp>
      <p:sp>
        <p:nvSpPr>
          <p:cNvPr id="25" name="Slide Number Placeholder 0"/>
          <p:cNvSpPr>
            <a:spLocks noGrp="1"/>
          </p:cNvSpPr>
          <p:nvPr>
            <p:ph type="sldNum" sz="quarter" idx="4294967295"/>
          </p:nvPr>
        </p:nvSpPr>
        <p:spPr>
          <a:xfrm>
            <a:off x="11247120" y="644652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384048"/>
            <a:ext cx="11247120" cy="640080"/>
          </a:xfrm>
          <a:prstGeom prst="rect">
            <a:avLst/>
          </a:prstGeom>
          <a:noFill/>
          <a:ln/>
        </p:spPr>
        <p:txBody>
          <a:bodyPr wrap="square" lIns="0" tIns="0" rIns="0" bIns="0" rtlCol="0" anchor="ctr"/>
          <a:lstStyle/>
          <a:p>
            <a:pPr algn="l" indent="0" marL="0">
              <a:buNone/>
            </a:pPr>
            <a:r>
              <a:rPr lang="en-US" sz="2600" b="1" dirty="0">
                <a:solidFill>
                  <a:schemeClr val="tx1"/>
                </a:solidFill>
              </a:rPr>
              <a:t>A1 · Building a sub-plot disease surface without pixel labels</a:t>
            </a:r>
            <a:endParaRPr lang="en-US" sz="2600" dirty="0"/>
          </a:p>
        </p:txBody>
      </p:sp>
      <p:sp>
        <p:nvSpPr>
          <p:cNvPr id="3" name="Text 1"/>
          <p:cNvSpPr txBox="1"/>
          <p:nvPr/>
        </p:nvSpPr>
        <p:spPr>
          <a:xfrm>
            <a:off x="457200" y="164592"/>
            <a:ext cx="7315200" cy="237744"/>
          </a:xfrm>
          <a:prstGeom prst="rect">
            <a:avLst/>
          </a:prstGeom>
          <a:noFill/>
          <a:ln/>
        </p:spPr>
        <p:txBody>
          <a:bodyPr wrap="square" lIns="0" tIns="0" rIns="0" bIns="0" rtlCol="0" anchor="t"/>
          <a:lstStyle/>
          <a:p>
            <a:pPr indent="0" marL="0">
              <a:buNone/>
            </a:pPr>
            <a:r>
              <a:rPr lang="en-US" sz="1100" b="1" spc="200" kern="0" dirty="0">
                <a:solidFill>
                  <a:schemeClr val="accent1"/>
                </a:solidFill>
              </a:rPr>
              <a:t>PART A · STEP A1</a:t>
            </a:r>
            <a:endParaRPr lang="en-US" sz="1100" dirty="0"/>
          </a:p>
        </p:txBody>
      </p:sp>
      <p:sp>
        <p:nvSpPr>
          <p:cNvPr id="4" name="Shape 2"/>
          <p:cNvSpPr/>
          <p:nvPr/>
        </p:nvSpPr>
        <p:spPr>
          <a:xfrm>
            <a:off x="457200" y="1325880"/>
            <a:ext cx="3657600" cy="3657600"/>
          </a:xfrm>
          <a:prstGeom prst="roundRect">
            <a:avLst>
              <a:gd name="adj" fmla="val 2000"/>
            </a:avLst>
          </a:prstGeom>
          <a:solidFill>
            <a:schemeClr val="bg2"/>
          </a:solidFill>
          <a:ln/>
        </p:spPr>
      </p:sp>
      <p:sp>
        <p:nvSpPr>
          <p:cNvPr id="5" name="Shape 3"/>
          <p:cNvSpPr/>
          <p:nvPr/>
        </p:nvSpPr>
        <p:spPr>
          <a:xfrm>
            <a:off x="457200" y="1453896"/>
            <a:ext cx="64008" cy="384048"/>
          </a:xfrm>
          <a:prstGeom prst="rect">
            <a:avLst/>
          </a:prstGeom>
          <a:solidFill>
            <a:schemeClr val="accent1"/>
          </a:solidFill>
          <a:ln/>
        </p:spPr>
      </p:sp>
      <p:sp>
        <p:nvSpPr>
          <p:cNvPr id="6" name="Text 4"/>
          <p:cNvSpPr txBox="1"/>
          <p:nvPr/>
        </p:nvSpPr>
        <p:spPr>
          <a:xfrm>
            <a:off x="658368" y="1435608"/>
            <a:ext cx="3337560" cy="420624"/>
          </a:xfrm>
          <a:prstGeom prst="rect">
            <a:avLst/>
          </a:prstGeom>
          <a:noFill/>
          <a:ln/>
        </p:spPr>
        <p:txBody>
          <a:bodyPr wrap="square" lIns="0" tIns="0" rIns="0" bIns="0" rtlCol="0" anchor="ctr"/>
          <a:lstStyle/>
          <a:p>
            <a:pPr indent="0" marL="0">
              <a:buNone/>
            </a:pPr>
            <a:r>
              <a:rPr lang="en-US" sz="1500" b="1" dirty="0">
                <a:solidFill>
                  <a:schemeClr val="tx1"/>
                </a:solidFill>
              </a:rPr>
              <a:t>① Unmixing (preferred)</a:t>
            </a:r>
            <a:endParaRPr lang="en-US" sz="1500" dirty="0"/>
          </a:p>
        </p:txBody>
      </p:sp>
      <p:sp>
        <p:nvSpPr>
          <p:cNvPr id="7" name="Text 5"/>
          <p:cNvSpPr txBox="1"/>
          <p:nvPr/>
        </p:nvSpPr>
        <p:spPr>
          <a:xfrm>
            <a:off x="658368" y="1929384"/>
            <a:ext cx="3291840" cy="2926080"/>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chemeClr val="tx1"/>
                </a:solidFill>
              </a:rPr>
              <a:t>Endmembers: soil, healthy canopy, diseased canopy, shadow (VCA)</a:t>
            </a:r>
            <a:endParaRPr lang="en-US" sz="1250" dirty="0"/>
          </a:p>
          <a:p>
            <a:pPr marL="177800" indent="-177800">
              <a:spcAft>
                <a:spcPts val="500"/>
              </a:spcAft>
              <a:buSzPct val="100000"/>
              <a:buChar char="•"/>
            </a:pPr>
            <a:r>
              <a:rPr lang="en-US" sz="1250" dirty="0">
                <a:solidFill>
                  <a:schemeClr val="tx1"/>
                </a:solidFill>
              </a:rPr>
              <a:t>Abundances per pixel by fully constrained least squares (≥ 0, sum = 1)</a:t>
            </a:r>
            <a:endParaRPr lang="en-US" sz="1250" dirty="0"/>
          </a:p>
          <a:p>
            <a:pPr marL="177800" indent="-177800">
              <a:spcAft>
                <a:spcPts val="500"/>
              </a:spcAft>
              <a:buSzPct val="100000"/>
              <a:buChar char="•"/>
            </a:pPr>
            <a:r>
              <a:rPr lang="en-US" sz="1250" dirty="0">
                <a:solidFill>
                  <a:schemeClr val="tx1"/>
                </a:solidFill>
              </a:rPr>
              <a:t>Use the diseased-canopy abundance raster written by s04</a:t>
            </a:r>
            <a:endParaRPr lang="en-US" sz="1250" dirty="0"/>
          </a:p>
          <a:p>
            <a:pPr marL="177800" indent="-177800">
              <a:spcAft>
                <a:spcPts val="500"/>
              </a:spcAft>
              <a:buSzPct val="100000"/>
              <a:buChar char="•"/>
            </a:pPr>
            <a:r>
              <a:rPr lang="en-US" sz="1250" dirty="0">
                <a:solidFill>
                  <a:schemeClr val="tx1"/>
                </a:solidFill>
              </a:rPr>
              <a:t>Physically based; no labels needed</a:t>
            </a:r>
            <a:endParaRPr lang="en-US" sz="1250" dirty="0"/>
          </a:p>
        </p:txBody>
      </p:sp>
      <p:sp>
        <p:nvSpPr>
          <p:cNvPr id="8" name="Shape 6"/>
          <p:cNvSpPr/>
          <p:nvPr/>
        </p:nvSpPr>
        <p:spPr>
          <a:xfrm>
            <a:off x="4270248" y="1325880"/>
            <a:ext cx="3657600" cy="3657600"/>
          </a:xfrm>
          <a:prstGeom prst="roundRect">
            <a:avLst>
              <a:gd name="adj" fmla="val 2000"/>
            </a:avLst>
          </a:prstGeom>
          <a:solidFill>
            <a:schemeClr val="bg2"/>
          </a:solidFill>
          <a:ln/>
        </p:spPr>
      </p:sp>
      <p:sp>
        <p:nvSpPr>
          <p:cNvPr id="9" name="Shape 7"/>
          <p:cNvSpPr/>
          <p:nvPr/>
        </p:nvSpPr>
        <p:spPr>
          <a:xfrm>
            <a:off x="4270248" y="1453896"/>
            <a:ext cx="64008" cy="384048"/>
          </a:xfrm>
          <a:prstGeom prst="rect">
            <a:avLst/>
          </a:prstGeom>
          <a:solidFill>
            <a:schemeClr val="accent2"/>
          </a:solidFill>
          <a:ln/>
        </p:spPr>
      </p:sp>
      <p:sp>
        <p:nvSpPr>
          <p:cNvPr id="10" name="Text 8"/>
          <p:cNvSpPr txBox="1"/>
          <p:nvPr/>
        </p:nvSpPr>
        <p:spPr>
          <a:xfrm>
            <a:off x="4471416" y="1435608"/>
            <a:ext cx="3337560" cy="420624"/>
          </a:xfrm>
          <a:prstGeom prst="rect">
            <a:avLst/>
          </a:prstGeom>
          <a:noFill/>
          <a:ln/>
        </p:spPr>
        <p:txBody>
          <a:bodyPr wrap="square" lIns="0" tIns="0" rIns="0" bIns="0" rtlCol="0" anchor="ctr"/>
          <a:lstStyle/>
          <a:p>
            <a:pPr indent="0" marL="0">
              <a:buNone/>
            </a:pPr>
            <a:r>
              <a:rPr lang="en-US" sz="1500" b="1" dirty="0">
                <a:solidFill>
                  <a:schemeClr val="tx1"/>
                </a:solidFill>
              </a:rPr>
              <a:t>② Anomaly vs healthy controls</a:t>
            </a:r>
            <a:endParaRPr lang="en-US" sz="1500" dirty="0"/>
          </a:p>
        </p:txBody>
      </p:sp>
      <p:sp>
        <p:nvSpPr>
          <p:cNvPr id="11" name="Text 9"/>
          <p:cNvSpPr txBox="1"/>
          <p:nvPr/>
        </p:nvSpPr>
        <p:spPr>
          <a:xfrm>
            <a:off x="4471416" y="1929384"/>
            <a:ext cx="3291840" cy="2926080"/>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chemeClr val="tx1"/>
                </a:solidFill>
              </a:rPr>
              <a:t>Per cell, features x = (NDRE, PSRI, REP, CTD …)</a:t>
            </a:r>
            <a:endParaRPr lang="en-US" sz="1250" dirty="0"/>
          </a:p>
          <a:p>
            <a:pPr marL="177800" indent="-177800">
              <a:spcAft>
                <a:spcPts val="500"/>
              </a:spcAft>
              <a:buSzPct val="100000"/>
              <a:buChar char="•"/>
            </a:pPr>
            <a:r>
              <a:rPr lang="en-US" sz="1250" dirty="0">
                <a:solidFill>
                  <a:schemeClr val="tx1"/>
                </a:solidFill>
              </a:rPr>
              <a:t>μH, ΣH from healthy control cells of the same flight</a:t>
            </a:r>
            <a:endParaRPr lang="en-US" sz="1250" dirty="0"/>
          </a:p>
          <a:p>
            <a:pPr marL="177800" indent="-177800">
              <a:spcAft>
                <a:spcPts val="500"/>
              </a:spcAft>
              <a:buSzPct val="100000"/>
              <a:buChar char="•"/>
            </a:pPr>
            <a:r>
              <a:rPr lang="en-US" sz="1250" dirty="0">
                <a:solidFill>
                  <a:schemeClr val="tx1"/>
                </a:solidFill>
              </a:rPr>
              <a:t>Mahalanobis distance Dᵢ = √[(xᵢ − μH)ᵀ ΣH⁻¹ (xᵢ − μH)]</a:t>
            </a:r>
            <a:endParaRPr lang="en-US" sz="1250" dirty="0"/>
          </a:p>
          <a:p>
            <a:pPr marL="177800" indent="-177800">
              <a:spcAft>
                <a:spcPts val="500"/>
              </a:spcAft>
              <a:buSzPct val="100000"/>
              <a:buChar char="•"/>
            </a:pPr>
            <a:r>
              <a:rPr lang="en-US" sz="1250" dirty="0">
                <a:solidFill>
                  <a:schemeClr val="tx1"/>
                </a:solidFill>
              </a:rPr>
              <a:t>Large Dᵢ = departure from healthy canopy</a:t>
            </a:r>
            <a:endParaRPr lang="en-US" sz="1250" dirty="0"/>
          </a:p>
        </p:txBody>
      </p:sp>
      <p:sp>
        <p:nvSpPr>
          <p:cNvPr id="12" name="Shape 10"/>
          <p:cNvSpPr/>
          <p:nvPr/>
        </p:nvSpPr>
        <p:spPr>
          <a:xfrm>
            <a:off x="8074152" y="1325880"/>
            <a:ext cx="3657600" cy="3657600"/>
          </a:xfrm>
          <a:prstGeom prst="roundRect">
            <a:avLst>
              <a:gd name="adj" fmla="val 2000"/>
            </a:avLst>
          </a:prstGeom>
          <a:solidFill>
            <a:schemeClr val="bg2"/>
          </a:solidFill>
          <a:ln/>
        </p:spPr>
      </p:sp>
      <p:sp>
        <p:nvSpPr>
          <p:cNvPr id="13" name="Shape 11"/>
          <p:cNvSpPr/>
          <p:nvPr/>
        </p:nvSpPr>
        <p:spPr>
          <a:xfrm>
            <a:off x="8074152" y="1453896"/>
            <a:ext cx="64008" cy="384048"/>
          </a:xfrm>
          <a:prstGeom prst="rect">
            <a:avLst/>
          </a:prstGeom>
          <a:solidFill>
            <a:schemeClr val="accent3"/>
          </a:solidFill>
          <a:ln/>
        </p:spPr>
      </p:sp>
      <p:sp>
        <p:nvSpPr>
          <p:cNvPr id="14" name="Text 12"/>
          <p:cNvSpPr txBox="1"/>
          <p:nvPr/>
        </p:nvSpPr>
        <p:spPr>
          <a:xfrm>
            <a:off x="8275320" y="1435608"/>
            <a:ext cx="3337560" cy="420624"/>
          </a:xfrm>
          <a:prstGeom prst="rect">
            <a:avLst/>
          </a:prstGeom>
          <a:noFill/>
          <a:ln/>
        </p:spPr>
        <p:txBody>
          <a:bodyPr wrap="square" lIns="0" tIns="0" rIns="0" bIns="0" rtlCol="0" anchor="ctr"/>
          <a:lstStyle/>
          <a:p>
            <a:pPr indent="0" marL="0">
              <a:buNone/>
            </a:pPr>
            <a:r>
              <a:rPr lang="en-US" sz="1500" b="1" dirty="0">
                <a:solidFill>
                  <a:schemeClr val="tx1"/>
                </a:solidFill>
              </a:rPr>
              <a:t>③ Cell-level model score</a:t>
            </a:r>
            <a:endParaRPr lang="en-US" sz="1500" dirty="0"/>
          </a:p>
        </p:txBody>
      </p:sp>
      <p:sp>
        <p:nvSpPr>
          <p:cNvPr id="15" name="Text 13"/>
          <p:cNvSpPr txBox="1"/>
          <p:nvPr/>
        </p:nvSpPr>
        <p:spPr>
          <a:xfrm>
            <a:off x="8275320" y="1929384"/>
            <a:ext cx="3291840" cy="2926080"/>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chemeClr val="tx1"/>
                </a:solidFill>
              </a:rPr>
              <a:t>Apply the plot model (s08) to each cell's features</a:t>
            </a:r>
            <a:endParaRPr lang="en-US" sz="1250" dirty="0"/>
          </a:p>
          <a:p>
            <a:pPr marL="177800" indent="-177800">
              <a:spcAft>
                <a:spcPts val="500"/>
              </a:spcAft>
              <a:buSzPct val="100000"/>
              <a:buChar char="•"/>
            </a:pPr>
            <a:r>
              <a:rPr lang="en-US" sz="1250" dirty="0">
                <a:solidFill>
                  <a:schemeClr val="tx1"/>
                </a:solidFill>
              </a:rPr>
              <a:t>Only if cell ≥ ~1 m², close to the scale the model learned</a:t>
            </a:r>
            <a:endParaRPr lang="en-US" sz="1250" dirty="0"/>
          </a:p>
          <a:p>
            <a:pPr marL="177800" indent="-177800">
              <a:spcAft>
                <a:spcPts val="500"/>
              </a:spcAft>
              <a:buSzPct val="100000"/>
              <a:buChar char="•"/>
            </a:pPr>
            <a:r>
              <a:rPr lang="en-US" sz="1250" dirty="0">
                <a:solidFill>
                  <a:schemeClr val="tx1"/>
                </a:solidFill>
              </a:rPr>
              <a:t>Report as relative severity, not validated DI</a:t>
            </a:r>
            <a:endParaRPr lang="en-US" sz="1250" dirty="0"/>
          </a:p>
          <a:p>
            <a:pPr marL="177800" indent="-177800">
              <a:spcAft>
                <a:spcPts val="500"/>
              </a:spcAft>
              <a:buSzPct val="100000"/>
              <a:buChar char="•"/>
            </a:pPr>
            <a:r>
              <a:rPr lang="en-US" sz="1250" dirty="0">
                <a:solidFill>
                  <a:schemeClr val="tx1"/>
                </a:solidFill>
              </a:rPr>
              <a:t>Least preferred (change-of-support)</a:t>
            </a:r>
            <a:endParaRPr lang="en-US" sz="1250" dirty="0"/>
          </a:p>
        </p:txBody>
      </p:sp>
      <p:sp>
        <p:nvSpPr>
          <p:cNvPr id="16" name="Text 14"/>
          <p:cNvSpPr txBox="1"/>
          <p:nvPr/>
        </p:nvSpPr>
        <p:spPr>
          <a:xfrm>
            <a:off x="457200" y="5166360"/>
            <a:ext cx="11274552" cy="548640"/>
          </a:xfrm>
          <a:prstGeom prst="rect">
            <a:avLst/>
          </a:prstGeom>
          <a:noFill/>
          <a:ln/>
        </p:spPr>
        <p:txBody>
          <a:bodyPr wrap="square" lIns="0" tIns="0" rIns="0" bIns="0" rtlCol="0" anchor="t"/>
          <a:lstStyle/>
          <a:p>
            <a:pPr indent="0" marL="0">
              <a:buNone/>
            </a:pPr>
            <a:r>
              <a:rPr lang="en-US" sz="1300" b="1" dirty="0">
                <a:solidFill>
                  <a:schemeClr val="tx1"/>
                </a:solidFill>
              </a:rPr>
              <a:t>Rule: </a:t>
            </a:r>
            <a:pPr indent="0" marL="0">
              <a:buNone/>
            </a:pPr>
            <a:r>
              <a:rPr lang="en-US" sz="1300" dirty="0">
                <a:solidFill>
                  <a:schemeClr val="tx1"/>
                </a:solidFill>
              </a:rPr>
              <a:t>validate any surface at plot level first — plot-mean diseased fraction (or mean Dᵢ) must correlate with field DI (Spearman ρ, R²) before within-plot patterns are interpreted.</a:t>
            </a:r>
            <a:endParaRPr lang="en-US" sz="1300" dirty="0"/>
          </a:p>
        </p:txBody>
      </p:sp>
      <p:sp>
        <p:nvSpPr>
          <p:cNvPr id="17" name="Text 15"/>
          <p:cNvSpPr txBox="1"/>
          <p:nvPr/>
        </p:nvSpPr>
        <p:spPr>
          <a:xfrm>
            <a:off x="457200" y="6035040"/>
            <a:ext cx="11247120" cy="310896"/>
          </a:xfrm>
          <a:prstGeom prst="rect">
            <a:avLst/>
          </a:prstGeom>
          <a:noFill/>
          <a:ln/>
        </p:spPr>
        <p:txBody>
          <a:bodyPr wrap="square" lIns="0" tIns="0" rIns="0" bIns="0" rtlCol="0" anchor="b"/>
          <a:lstStyle/>
          <a:p>
            <a:pPr indent="0" marL="0">
              <a:buNone/>
            </a:pPr>
            <a:r>
              <a:rPr lang="en-US" sz="1000" i="1" dirty="0">
                <a:solidFill>
                  <a:schemeClr val="tx2"/>
                </a:solidFill>
              </a:rPr>
              <a:t>Nascimento &amp; Bioucas-Dias (2005) VCA; Heinz &amp; Chang (2001) FCLS; Mahlein (2016) imaging sensors for disease detection.</a:t>
            </a:r>
            <a:endParaRPr lang="en-US" sz="1000" dirty="0"/>
          </a:p>
        </p:txBody>
      </p:sp>
      <p:sp>
        <p:nvSpPr>
          <p:cNvPr id="25" name="Slide Number Placeholder 0"/>
          <p:cNvSpPr>
            <a:spLocks noGrp="1"/>
          </p:cNvSpPr>
          <p:nvPr>
            <p:ph type="sldNum" sz="quarter" idx="4294967295"/>
          </p:nvPr>
        </p:nvSpPr>
        <p:spPr>
          <a:xfrm>
            <a:off x="11247120" y="644652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384048"/>
            <a:ext cx="11247120" cy="640080"/>
          </a:xfrm>
          <a:prstGeom prst="rect">
            <a:avLst/>
          </a:prstGeom>
          <a:noFill/>
          <a:ln/>
        </p:spPr>
        <p:txBody>
          <a:bodyPr wrap="square" lIns="0" tIns="0" rIns="0" bIns="0" rtlCol="0" anchor="ctr"/>
          <a:lstStyle/>
          <a:p>
            <a:pPr algn="l" indent="0" marL="0">
              <a:buNone/>
            </a:pPr>
            <a:r>
              <a:rPr lang="en-US" sz="2600" b="1" dirty="0">
                <a:solidFill>
                  <a:schemeClr val="tx1"/>
                </a:solidFill>
              </a:rPr>
              <a:t>A2 · Cell grid and spatial weights</a:t>
            </a:r>
            <a:endParaRPr lang="en-US" sz="2600" dirty="0"/>
          </a:p>
        </p:txBody>
      </p:sp>
      <p:sp>
        <p:nvSpPr>
          <p:cNvPr id="3" name="Text 1"/>
          <p:cNvSpPr txBox="1"/>
          <p:nvPr/>
        </p:nvSpPr>
        <p:spPr>
          <a:xfrm>
            <a:off x="457200" y="164592"/>
            <a:ext cx="7315200" cy="237744"/>
          </a:xfrm>
          <a:prstGeom prst="rect">
            <a:avLst/>
          </a:prstGeom>
          <a:noFill/>
          <a:ln/>
        </p:spPr>
        <p:txBody>
          <a:bodyPr wrap="square" lIns="0" tIns="0" rIns="0" bIns="0" rtlCol="0" anchor="t"/>
          <a:lstStyle/>
          <a:p>
            <a:pPr indent="0" marL="0">
              <a:buNone/>
            </a:pPr>
            <a:r>
              <a:rPr lang="en-US" sz="1100" b="1" spc="200" kern="0" dirty="0">
                <a:solidFill>
                  <a:schemeClr val="accent1"/>
                </a:solidFill>
              </a:rPr>
              <a:t>PART A · STEP A2</a:t>
            </a:r>
            <a:endParaRPr lang="en-US" sz="1100" dirty="0"/>
          </a:p>
        </p:txBody>
      </p:sp>
      <p:sp>
        <p:nvSpPr>
          <p:cNvPr id="4" name="Shape 2"/>
          <p:cNvSpPr/>
          <p:nvPr/>
        </p:nvSpPr>
        <p:spPr>
          <a:xfrm>
            <a:off x="640080" y="1600200"/>
            <a:ext cx="512064" cy="512064"/>
          </a:xfrm>
          <a:prstGeom prst="rect">
            <a:avLst/>
          </a:prstGeom>
          <a:solidFill>
            <a:srgbClr val="B9E2DE"/>
          </a:solidFill>
          <a:ln w="12700">
            <a:solidFill>
              <a:srgbClr val="FFFFFF"/>
            </a:solidFill>
            <a:prstDash val="solid"/>
          </a:ln>
        </p:spPr>
      </p:sp>
      <p:sp>
        <p:nvSpPr>
          <p:cNvPr id="5" name="Shape 3"/>
          <p:cNvSpPr/>
          <p:nvPr/>
        </p:nvSpPr>
        <p:spPr>
          <a:xfrm>
            <a:off x="1152144" y="1600200"/>
            <a:ext cx="512064" cy="512064"/>
          </a:xfrm>
          <a:prstGeom prst="rect">
            <a:avLst/>
          </a:prstGeom>
          <a:solidFill>
            <a:srgbClr val="B9E2DE"/>
          </a:solidFill>
          <a:ln w="12700">
            <a:solidFill>
              <a:srgbClr val="FFFFFF"/>
            </a:solidFill>
            <a:prstDash val="solid"/>
          </a:ln>
        </p:spPr>
      </p:sp>
      <p:sp>
        <p:nvSpPr>
          <p:cNvPr id="6" name="Shape 4"/>
          <p:cNvSpPr/>
          <p:nvPr/>
        </p:nvSpPr>
        <p:spPr>
          <a:xfrm>
            <a:off x="1664208" y="1600200"/>
            <a:ext cx="512064" cy="512064"/>
          </a:xfrm>
          <a:prstGeom prst="rect">
            <a:avLst/>
          </a:prstGeom>
          <a:solidFill>
            <a:srgbClr val="B9E2DE"/>
          </a:solidFill>
          <a:ln w="12700">
            <a:solidFill>
              <a:srgbClr val="FFFFFF"/>
            </a:solidFill>
            <a:prstDash val="solid"/>
          </a:ln>
        </p:spPr>
      </p:sp>
      <p:sp>
        <p:nvSpPr>
          <p:cNvPr id="7" name="Shape 5"/>
          <p:cNvSpPr/>
          <p:nvPr/>
        </p:nvSpPr>
        <p:spPr>
          <a:xfrm>
            <a:off x="2176272" y="1600200"/>
            <a:ext cx="512064" cy="512064"/>
          </a:xfrm>
          <a:prstGeom prst="rect">
            <a:avLst/>
          </a:prstGeom>
          <a:solidFill>
            <a:srgbClr val="7FCDC8"/>
          </a:solidFill>
          <a:ln w="12700">
            <a:solidFill>
              <a:srgbClr val="FFFFFF"/>
            </a:solidFill>
            <a:prstDash val="solid"/>
          </a:ln>
        </p:spPr>
      </p:sp>
      <p:sp>
        <p:nvSpPr>
          <p:cNvPr id="8" name="Shape 6"/>
          <p:cNvSpPr/>
          <p:nvPr/>
        </p:nvSpPr>
        <p:spPr>
          <a:xfrm>
            <a:off x="2688336" y="1600200"/>
            <a:ext cx="512064" cy="512064"/>
          </a:xfrm>
          <a:prstGeom prst="rect">
            <a:avLst/>
          </a:prstGeom>
          <a:solidFill>
            <a:srgbClr val="7FCDC8"/>
          </a:solidFill>
          <a:ln w="12700">
            <a:solidFill>
              <a:srgbClr val="FFFFFF"/>
            </a:solidFill>
            <a:prstDash val="solid"/>
          </a:ln>
        </p:spPr>
      </p:sp>
      <p:sp>
        <p:nvSpPr>
          <p:cNvPr id="9" name="Shape 7"/>
          <p:cNvSpPr/>
          <p:nvPr/>
        </p:nvSpPr>
        <p:spPr>
          <a:xfrm>
            <a:off x="3200400" y="1600200"/>
            <a:ext cx="512064" cy="512064"/>
          </a:xfrm>
          <a:prstGeom prst="rect">
            <a:avLst/>
          </a:prstGeom>
          <a:solidFill>
            <a:srgbClr val="7FCDC8"/>
          </a:solidFill>
          <a:ln w="12700">
            <a:solidFill>
              <a:srgbClr val="FFFFFF"/>
            </a:solidFill>
            <a:prstDash val="solid"/>
          </a:ln>
        </p:spPr>
      </p:sp>
      <p:sp>
        <p:nvSpPr>
          <p:cNvPr id="10" name="Shape 8"/>
          <p:cNvSpPr/>
          <p:nvPr/>
        </p:nvSpPr>
        <p:spPr>
          <a:xfrm>
            <a:off x="3712464" y="1600200"/>
            <a:ext cx="512064" cy="512064"/>
          </a:xfrm>
          <a:prstGeom prst="rect">
            <a:avLst/>
          </a:prstGeom>
          <a:solidFill>
            <a:srgbClr val="E0A526"/>
          </a:solidFill>
          <a:ln w="12700">
            <a:solidFill>
              <a:srgbClr val="FFFFFF"/>
            </a:solidFill>
            <a:prstDash val="solid"/>
          </a:ln>
        </p:spPr>
      </p:sp>
      <p:sp>
        <p:nvSpPr>
          <p:cNvPr id="11" name="Shape 9"/>
          <p:cNvSpPr/>
          <p:nvPr/>
        </p:nvSpPr>
        <p:spPr>
          <a:xfrm>
            <a:off x="4224528" y="1600200"/>
            <a:ext cx="512064" cy="512064"/>
          </a:xfrm>
          <a:prstGeom prst="rect">
            <a:avLst/>
          </a:prstGeom>
          <a:solidFill>
            <a:srgbClr val="E0A526"/>
          </a:solidFill>
          <a:ln w="12700">
            <a:solidFill>
              <a:srgbClr val="FFFFFF"/>
            </a:solidFill>
            <a:prstDash val="solid"/>
          </a:ln>
        </p:spPr>
      </p:sp>
      <p:sp>
        <p:nvSpPr>
          <p:cNvPr id="12" name="Shape 10"/>
          <p:cNvSpPr/>
          <p:nvPr/>
        </p:nvSpPr>
        <p:spPr>
          <a:xfrm>
            <a:off x="640080" y="2112264"/>
            <a:ext cx="512064" cy="512064"/>
          </a:xfrm>
          <a:prstGeom prst="rect">
            <a:avLst/>
          </a:prstGeom>
          <a:solidFill>
            <a:srgbClr val="B9E2DE"/>
          </a:solidFill>
          <a:ln w="12700">
            <a:solidFill>
              <a:srgbClr val="FFFFFF"/>
            </a:solidFill>
            <a:prstDash val="solid"/>
          </a:ln>
        </p:spPr>
      </p:sp>
      <p:sp>
        <p:nvSpPr>
          <p:cNvPr id="13" name="Shape 11"/>
          <p:cNvSpPr/>
          <p:nvPr/>
        </p:nvSpPr>
        <p:spPr>
          <a:xfrm>
            <a:off x="1152144" y="2112264"/>
            <a:ext cx="512064" cy="512064"/>
          </a:xfrm>
          <a:prstGeom prst="rect">
            <a:avLst/>
          </a:prstGeom>
          <a:solidFill>
            <a:srgbClr val="B9E2DE"/>
          </a:solidFill>
          <a:ln w="12700">
            <a:solidFill>
              <a:srgbClr val="FFFFFF"/>
            </a:solidFill>
            <a:prstDash val="solid"/>
          </a:ln>
        </p:spPr>
      </p:sp>
      <p:sp>
        <p:nvSpPr>
          <p:cNvPr id="14" name="Shape 12"/>
          <p:cNvSpPr/>
          <p:nvPr/>
        </p:nvSpPr>
        <p:spPr>
          <a:xfrm>
            <a:off x="1664208" y="2112264"/>
            <a:ext cx="512064" cy="512064"/>
          </a:xfrm>
          <a:prstGeom prst="rect">
            <a:avLst/>
          </a:prstGeom>
          <a:solidFill>
            <a:srgbClr val="7FCDC8"/>
          </a:solidFill>
          <a:ln w="12700">
            <a:solidFill>
              <a:srgbClr val="FFFFFF"/>
            </a:solidFill>
            <a:prstDash val="solid"/>
          </a:ln>
        </p:spPr>
      </p:sp>
      <p:sp>
        <p:nvSpPr>
          <p:cNvPr id="15" name="Shape 13"/>
          <p:cNvSpPr/>
          <p:nvPr/>
        </p:nvSpPr>
        <p:spPr>
          <a:xfrm>
            <a:off x="2176272" y="2112264"/>
            <a:ext cx="512064" cy="512064"/>
          </a:xfrm>
          <a:prstGeom prst="rect">
            <a:avLst/>
          </a:prstGeom>
          <a:solidFill>
            <a:srgbClr val="7FCDC8"/>
          </a:solidFill>
          <a:ln w="12700">
            <a:solidFill>
              <a:srgbClr val="FFFFFF"/>
            </a:solidFill>
            <a:prstDash val="solid"/>
          </a:ln>
        </p:spPr>
      </p:sp>
      <p:sp>
        <p:nvSpPr>
          <p:cNvPr id="16" name="Shape 14"/>
          <p:cNvSpPr/>
          <p:nvPr/>
        </p:nvSpPr>
        <p:spPr>
          <a:xfrm>
            <a:off x="2688336" y="2112264"/>
            <a:ext cx="512064" cy="512064"/>
          </a:xfrm>
          <a:prstGeom prst="rect">
            <a:avLst/>
          </a:prstGeom>
          <a:solidFill>
            <a:srgbClr val="E0A526"/>
          </a:solidFill>
          <a:ln w="12700">
            <a:solidFill>
              <a:srgbClr val="FFFFFF"/>
            </a:solidFill>
            <a:prstDash val="solid"/>
          </a:ln>
        </p:spPr>
      </p:sp>
      <p:sp>
        <p:nvSpPr>
          <p:cNvPr id="17" name="Shape 15"/>
          <p:cNvSpPr/>
          <p:nvPr/>
        </p:nvSpPr>
        <p:spPr>
          <a:xfrm>
            <a:off x="3200400" y="2112264"/>
            <a:ext cx="512064" cy="512064"/>
          </a:xfrm>
          <a:prstGeom prst="rect">
            <a:avLst/>
          </a:prstGeom>
          <a:solidFill>
            <a:srgbClr val="D2793A"/>
          </a:solidFill>
          <a:ln w="12700">
            <a:solidFill>
              <a:srgbClr val="FFFFFF"/>
            </a:solidFill>
            <a:prstDash val="solid"/>
          </a:ln>
        </p:spPr>
      </p:sp>
      <p:sp>
        <p:nvSpPr>
          <p:cNvPr id="18" name="Shape 16"/>
          <p:cNvSpPr/>
          <p:nvPr/>
        </p:nvSpPr>
        <p:spPr>
          <a:xfrm>
            <a:off x="3712464" y="2112264"/>
            <a:ext cx="512064" cy="512064"/>
          </a:xfrm>
          <a:prstGeom prst="rect">
            <a:avLst/>
          </a:prstGeom>
          <a:solidFill>
            <a:srgbClr val="D2793A"/>
          </a:solidFill>
          <a:ln w="12700">
            <a:solidFill>
              <a:srgbClr val="FFFFFF"/>
            </a:solidFill>
            <a:prstDash val="solid"/>
          </a:ln>
        </p:spPr>
      </p:sp>
      <p:sp>
        <p:nvSpPr>
          <p:cNvPr id="19" name="Shape 17"/>
          <p:cNvSpPr/>
          <p:nvPr/>
        </p:nvSpPr>
        <p:spPr>
          <a:xfrm>
            <a:off x="4224528" y="2112264"/>
            <a:ext cx="512064" cy="512064"/>
          </a:xfrm>
          <a:prstGeom prst="rect">
            <a:avLst/>
          </a:prstGeom>
          <a:solidFill>
            <a:srgbClr val="E0A526"/>
          </a:solidFill>
          <a:ln w="12700">
            <a:solidFill>
              <a:srgbClr val="FFFFFF"/>
            </a:solidFill>
            <a:prstDash val="solid"/>
          </a:ln>
        </p:spPr>
      </p:sp>
      <p:sp>
        <p:nvSpPr>
          <p:cNvPr id="20" name="Shape 18"/>
          <p:cNvSpPr/>
          <p:nvPr/>
        </p:nvSpPr>
        <p:spPr>
          <a:xfrm>
            <a:off x="640080" y="2624328"/>
            <a:ext cx="512064" cy="512064"/>
          </a:xfrm>
          <a:prstGeom prst="rect">
            <a:avLst/>
          </a:prstGeom>
          <a:solidFill>
            <a:srgbClr val="B9E2DE"/>
          </a:solidFill>
          <a:ln w="12700">
            <a:solidFill>
              <a:srgbClr val="FFFFFF"/>
            </a:solidFill>
            <a:prstDash val="solid"/>
          </a:ln>
        </p:spPr>
      </p:sp>
      <p:sp>
        <p:nvSpPr>
          <p:cNvPr id="21" name="Shape 19"/>
          <p:cNvSpPr/>
          <p:nvPr/>
        </p:nvSpPr>
        <p:spPr>
          <a:xfrm>
            <a:off x="1152144" y="2624328"/>
            <a:ext cx="512064" cy="512064"/>
          </a:xfrm>
          <a:prstGeom prst="rect">
            <a:avLst/>
          </a:prstGeom>
          <a:solidFill>
            <a:srgbClr val="B9E2DE"/>
          </a:solidFill>
          <a:ln w="12700">
            <a:solidFill>
              <a:srgbClr val="FFFFFF"/>
            </a:solidFill>
            <a:prstDash val="solid"/>
          </a:ln>
        </p:spPr>
      </p:sp>
      <p:sp>
        <p:nvSpPr>
          <p:cNvPr id="22" name="Shape 20"/>
          <p:cNvSpPr/>
          <p:nvPr/>
        </p:nvSpPr>
        <p:spPr>
          <a:xfrm>
            <a:off x="1664208" y="2624328"/>
            <a:ext cx="512064" cy="512064"/>
          </a:xfrm>
          <a:prstGeom prst="rect">
            <a:avLst/>
          </a:prstGeom>
          <a:solidFill>
            <a:srgbClr val="7FCDC8"/>
          </a:solidFill>
          <a:ln w="12700">
            <a:solidFill>
              <a:srgbClr val="FFFFFF"/>
            </a:solidFill>
            <a:prstDash val="solid"/>
          </a:ln>
        </p:spPr>
      </p:sp>
      <p:sp>
        <p:nvSpPr>
          <p:cNvPr id="23" name="Shape 21"/>
          <p:cNvSpPr/>
          <p:nvPr/>
        </p:nvSpPr>
        <p:spPr>
          <a:xfrm>
            <a:off x="2176272" y="2624328"/>
            <a:ext cx="512064" cy="512064"/>
          </a:xfrm>
          <a:prstGeom prst="rect">
            <a:avLst/>
          </a:prstGeom>
          <a:solidFill>
            <a:srgbClr val="E0A526"/>
          </a:solidFill>
          <a:ln w="12700">
            <a:solidFill>
              <a:srgbClr val="FFFFFF"/>
            </a:solidFill>
            <a:prstDash val="solid"/>
          </a:ln>
        </p:spPr>
      </p:sp>
      <p:sp>
        <p:nvSpPr>
          <p:cNvPr id="24" name="Shape 22"/>
          <p:cNvSpPr/>
          <p:nvPr/>
        </p:nvSpPr>
        <p:spPr>
          <a:xfrm>
            <a:off x="2688336" y="2624328"/>
            <a:ext cx="512064" cy="512064"/>
          </a:xfrm>
          <a:prstGeom prst="rect">
            <a:avLst/>
          </a:prstGeom>
          <a:solidFill>
            <a:srgbClr val="D2793A"/>
          </a:solidFill>
          <a:ln w="12700">
            <a:solidFill>
              <a:srgbClr val="FFFFFF"/>
            </a:solidFill>
            <a:prstDash val="solid"/>
          </a:ln>
        </p:spPr>
      </p:sp>
      <p:sp>
        <p:nvSpPr>
          <p:cNvPr id="25" name="Shape 23"/>
          <p:cNvSpPr/>
          <p:nvPr/>
        </p:nvSpPr>
        <p:spPr>
          <a:xfrm>
            <a:off x="3200400" y="2624328"/>
            <a:ext cx="512064" cy="512064"/>
          </a:xfrm>
          <a:prstGeom prst="rect">
            <a:avLst/>
          </a:prstGeom>
          <a:solidFill>
            <a:srgbClr val="C0503A"/>
          </a:solidFill>
          <a:ln w="12700">
            <a:solidFill>
              <a:srgbClr val="FFFFFF"/>
            </a:solidFill>
            <a:prstDash val="solid"/>
          </a:ln>
        </p:spPr>
      </p:sp>
      <p:sp>
        <p:nvSpPr>
          <p:cNvPr id="26" name="Shape 24"/>
          <p:cNvSpPr/>
          <p:nvPr/>
        </p:nvSpPr>
        <p:spPr>
          <a:xfrm>
            <a:off x="3712464" y="2624328"/>
            <a:ext cx="512064" cy="512064"/>
          </a:xfrm>
          <a:prstGeom prst="rect">
            <a:avLst/>
          </a:prstGeom>
          <a:solidFill>
            <a:srgbClr val="C0503A"/>
          </a:solidFill>
          <a:ln w="12700">
            <a:solidFill>
              <a:srgbClr val="FFFFFF"/>
            </a:solidFill>
            <a:prstDash val="solid"/>
          </a:ln>
        </p:spPr>
      </p:sp>
      <p:sp>
        <p:nvSpPr>
          <p:cNvPr id="27" name="Shape 25"/>
          <p:cNvSpPr/>
          <p:nvPr/>
        </p:nvSpPr>
        <p:spPr>
          <a:xfrm>
            <a:off x="4224528" y="2624328"/>
            <a:ext cx="512064" cy="512064"/>
          </a:xfrm>
          <a:prstGeom prst="rect">
            <a:avLst/>
          </a:prstGeom>
          <a:solidFill>
            <a:srgbClr val="E0A526"/>
          </a:solidFill>
          <a:ln w="12700">
            <a:solidFill>
              <a:srgbClr val="FFFFFF"/>
            </a:solidFill>
            <a:prstDash val="solid"/>
          </a:ln>
        </p:spPr>
      </p:sp>
      <p:sp>
        <p:nvSpPr>
          <p:cNvPr id="28" name="Shape 26"/>
          <p:cNvSpPr/>
          <p:nvPr/>
        </p:nvSpPr>
        <p:spPr>
          <a:xfrm>
            <a:off x="640080" y="3136392"/>
            <a:ext cx="512064" cy="512064"/>
          </a:xfrm>
          <a:prstGeom prst="rect">
            <a:avLst/>
          </a:prstGeom>
          <a:solidFill>
            <a:srgbClr val="B9E2DE"/>
          </a:solidFill>
          <a:ln w="12700">
            <a:solidFill>
              <a:srgbClr val="FFFFFF"/>
            </a:solidFill>
            <a:prstDash val="solid"/>
          </a:ln>
        </p:spPr>
      </p:sp>
      <p:sp>
        <p:nvSpPr>
          <p:cNvPr id="29" name="Shape 27"/>
          <p:cNvSpPr/>
          <p:nvPr/>
        </p:nvSpPr>
        <p:spPr>
          <a:xfrm>
            <a:off x="1152144" y="3136392"/>
            <a:ext cx="512064" cy="512064"/>
          </a:xfrm>
          <a:prstGeom prst="rect">
            <a:avLst/>
          </a:prstGeom>
          <a:solidFill>
            <a:srgbClr val="B9E2DE"/>
          </a:solidFill>
          <a:ln w="12700">
            <a:solidFill>
              <a:srgbClr val="FFFFFF"/>
            </a:solidFill>
            <a:prstDash val="solid"/>
          </a:ln>
        </p:spPr>
      </p:sp>
      <p:sp>
        <p:nvSpPr>
          <p:cNvPr id="30" name="Shape 28"/>
          <p:cNvSpPr/>
          <p:nvPr/>
        </p:nvSpPr>
        <p:spPr>
          <a:xfrm>
            <a:off x="1664208" y="3136392"/>
            <a:ext cx="512064" cy="512064"/>
          </a:xfrm>
          <a:prstGeom prst="rect">
            <a:avLst/>
          </a:prstGeom>
          <a:solidFill>
            <a:srgbClr val="B9E2DE"/>
          </a:solidFill>
          <a:ln w="12700">
            <a:solidFill>
              <a:srgbClr val="FFFFFF"/>
            </a:solidFill>
            <a:prstDash val="solid"/>
          </a:ln>
        </p:spPr>
      </p:sp>
      <p:sp>
        <p:nvSpPr>
          <p:cNvPr id="31" name="Shape 29"/>
          <p:cNvSpPr/>
          <p:nvPr/>
        </p:nvSpPr>
        <p:spPr>
          <a:xfrm>
            <a:off x="2176272" y="3136392"/>
            <a:ext cx="512064" cy="512064"/>
          </a:xfrm>
          <a:prstGeom prst="rect">
            <a:avLst/>
          </a:prstGeom>
          <a:solidFill>
            <a:srgbClr val="7FCDC8"/>
          </a:solidFill>
          <a:ln w="12700">
            <a:solidFill>
              <a:srgbClr val="FFFFFF"/>
            </a:solidFill>
            <a:prstDash val="solid"/>
          </a:ln>
        </p:spPr>
      </p:sp>
      <p:sp>
        <p:nvSpPr>
          <p:cNvPr id="32" name="Shape 30"/>
          <p:cNvSpPr/>
          <p:nvPr/>
        </p:nvSpPr>
        <p:spPr>
          <a:xfrm>
            <a:off x="2688336" y="3136392"/>
            <a:ext cx="512064" cy="512064"/>
          </a:xfrm>
          <a:prstGeom prst="rect">
            <a:avLst/>
          </a:prstGeom>
          <a:solidFill>
            <a:srgbClr val="E0A526"/>
          </a:solidFill>
          <a:ln w="12700">
            <a:solidFill>
              <a:srgbClr val="FFFFFF"/>
            </a:solidFill>
            <a:prstDash val="solid"/>
          </a:ln>
        </p:spPr>
      </p:sp>
      <p:sp>
        <p:nvSpPr>
          <p:cNvPr id="33" name="Shape 31"/>
          <p:cNvSpPr/>
          <p:nvPr/>
        </p:nvSpPr>
        <p:spPr>
          <a:xfrm>
            <a:off x="3200400" y="3136392"/>
            <a:ext cx="512064" cy="512064"/>
          </a:xfrm>
          <a:prstGeom prst="rect">
            <a:avLst/>
          </a:prstGeom>
          <a:solidFill>
            <a:srgbClr val="E0A526"/>
          </a:solidFill>
          <a:ln w="12700">
            <a:solidFill>
              <a:srgbClr val="FFFFFF"/>
            </a:solidFill>
            <a:prstDash val="solid"/>
          </a:ln>
        </p:spPr>
      </p:sp>
      <p:sp>
        <p:nvSpPr>
          <p:cNvPr id="34" name="Shape 32"/>
          <p:cNvSpPr/>
          <p:nvPr/>
        </p:nvSpPr>
        <p:spPr>
          <a:xfrm>
            <a:off x="3712464" y="3136392"/>
            <a:ext cx="512064" cy="512064"/>
          </a:xfrm>
          <a:prstGeom prst="rect">
            <a:avLst/>
          </a:prstGeom>
          <a:solidFill>
            <a:srgbClr val="E0A526"/>
          </a:solidFill>
          <a:ln w="12700">
            <a:solidFill>
              <a:srgbClr val="FFFFFF"/>
            </a:solidFill>
            <a:prstDash val="solid"/>
          </a:ln>
        </p:spPr>
      </p:sp>
      <p:sp>
        <p:nvSpPr>
          <p:cNvPr id="35" name="Shape 33"/>
          <p:cNvSpPr/>
          <p:nvPr/>
        </p:nvSpPr>
        <p:spPr>
          <a:xfrm>
            <a:off x="4224528" y="3136392"/>
            <a:ext cx="512064" cy="512064"/>
          </a:xfrm>
          <a:prstGeom prst="rect">
            <a:avLst/>
          </a:prstGeom>
          <a:solidFill>
            <a:srgbClr val="7FCDC8"/>
          </a:solidFill>
          <a:ln w="12700">
            <a:solidFill>
              <a:srgbClr val="FFFFFF"/>
            </a:solidFill>
            <a:prstDash val="solid"/>
          </a:ln>
        </p:spPr>
      </p:sp>
      <p:sp>
        <p:nvSpPr>
          <p:cNvPr id="36" name="Shape 34"/>
          <p:cNvSpPr/>
          <p:nvPr/>
        </p:nvSpPr>
        <p:spPr>
          <a:xfrm>
            <a:off x="640080" y="3648456"/>
            <a:ext cx="512064" cy="512064"/>
          </a:xfrm>
          <a:prstGeom prst="rect">
            <a:avLst/>
          </a:prstGeom>
          <a:solidFill>
            <a:srgbClr val="B9E2DE"/>
          </a:solidFill>
          <a:ln w="12700">
            <a:solidFill>
              <a:srgbClr val="FFFFFF"/>
            </a:solidFill>
            <a:prstDash val="solid"/>
          </a:ln>
        </p:spPr>
      </p:sp>
      <p:sp>
        <p:nvSpPr>
          <p:cNvPr id="37" name="Shape 35"/>
          <p:cNvSpPr/>
          <p:nvPr/>
        </p:nvSpPr>
        <p:spPr>
          <a:xfrm>
            <a:off x="1152144" y="3648456"/>
            <a:ext cx="512064" cy="512064"/>
          </a:xfrm>
          <a:prstGeom prst="rect">
            <a:avLst/>
          </a:prstGeom>
          <a:solidFill>
            <a:srgbClr val="B9E2DE"/>
          </a:solidFill>
          <a:ln w="12700">
            <a:solidFill>
              <a:srgbClr val="FFFFFF"/>
            </a:solidFill>
            <a:prstDash val="solid"/>
          </a:ln>
        </p:spPr>
      </p:sp>
      <p:sp>
        <p:nvSpPr>
          <p:cNvPr id="38" name="Shape 36"/>
          <p:cNvSpPr/>
          <p:nvPr/>
        </p:nvSpPr>
        <p:spPr>
          <a:xfrm>
            <a:off x="1664208" y="3648456"/>
            <a:ext cx="512064" cy="512064"/>
          </a:xfrm>
          <a:prstGeom prst="rect">
            <a:avLst/>
          </a:prstGeom>
          <a:solidFill>
            <a:srgbClr val="B9E2DE"/>
          </a:solidFill>
          <a:ln w="12700">
            <a:solidFill>
              <a:srgbClr val="FFFFFF"/>
            </a:solidFill>
            <a:prstDash val="solid"/>
          </a:ln>
        </p:spPr>
      </p:sp>
      <p:sp>
        <p:nvSpPr>
          <p:cNvPr id="39" name="Shape 37"/>
          <p:cNvSpPr/>
          <p:nvPr/>
        </p:nvSpPr>
        <p:spPr>
          <a:xfrm>
            <a:off x="2176272" y="3648456"/>
            <a:ext cx="512064" cy="512064"/>
          </a:xfrm>
          <a:prstGeom prst="rect">
            <a:avLst/>
          </a:prstGeom>
          <a:solidFill>
            <a:srgbClr val="B9E2DE"/>
          </a:solidFill>
          <a:ln w="12700">
            <a:solidFill>
              <a:srgbClr val="FFFFFF"/>
            </a:solidFill>
            <a:prstDash val="solid"/>
          </a:ln>
        </p:spPr>
      </p:sp>
      <p:sp>
        <p:nvSpPr>
          <p:cNvPr id="40" name="Shape 38"/>
          <p:cNvSpPr/>
          <p:nvPr/>
        </p:nvSpPr>
        <p:spPr>
          <a:xfrm>
            <a:off x="2688336" y="3648456"/>
            <a:ext cx="512064" cy="512064"/>
          </a:xfrm>
          <a:prstGeom prst="rect">
            <a:avLst/>
          </a:prstGeom>
          <a:solidFill>
            <a:srgbClr val="7FCDC8"/>
          </a:solidFill>
          <a:ln w="12700">
            <a:solidFill>
              <a:srgbClr val="FFFFFF"/>
            </a:solidFill>
            <a:prstDash val="solid"/>
          </a:ln>
        </p:spPr>
      </p:sp>
      <p:sp>
        <p:nvSpPr>
          <p:cNvPr id="41" name="Shape 39"/>
          <p:cNvSpPr/>
          <p:nvPr/>
        </p:nvSpPr>
        <p:spPr>
          <a:xfrm>
            <a:off x="3200400" y="3648456"/>
            <a:ext cx="512064" cy="512064"/>
          </a:xfrm>
          <a:prstGeom prst="rect">
            <a:avLst/>
          </a:prstGeom>
          <a:solidFill>
            <a:srgbClr val="7FCDC8"/>
          </a:solidFill>
          <a:ln w="12700">
            <a:solidFill>
              <a:srgbClr val="FFFFFF"/>
            </a:solidFill>
            <a:prstDash val="solid"/>
          </a:ln>
        </p:spPr>
      </p:sp>
      <p:sp>
        <p:nvSpPr>
          <p:cNvPr id="42" name="Shape 40"/>
          <p:cNvSpPr/>
          <p:nvPr/>
        </p:nvSpPr>
        <p:spPr>
          <a:xfrm>
            <a:off x="3712464" y="3648456"/>
            <a:ext cx="512064" cy="512064"/>
          </a:xfrm>
          <a:prstGeom prst="rect">
            <a:avLst/>
          </a:prstGeom>
          <a:solidFill>
            <a:srgbClr val="7FCDC8"/>
          </a:solidFill>
          <a:ln w="12700">
            <a:solidFill>
              <a:srgbClr val="FFFFFF"/>
            </a:solidFill>
            <a:prstDash val="solid"/>
          </a:ln>
        </p:spPr>
      </p:sp>
      <p:sp>
        <p:nvSpPr>
          <p:cNvPr id="43" name="Shape 41"/>
          <p:cNvSpPr/>
          <p:nvPr/>
        </p:nvSpPr>
        <p:spPr>
          <a:xfrm>
            <a:off x="4224528" y="3648456"/>
            <a:ext cx="512064" cy="512064"/>
          </a:xfrm>
          <a:prstGeom prst="rect">
            <a:avLst/>
          </a:prstGeom>
          <a:solidFill>
            <a:srgbClr val="B9E2DE"/>
          </a:solidFill>
          <a:ln w="12700">
            <a:solidFill>
              <a:srgbClr val="FFFFFF"/>
            </a:solidFill>
            <a:prstDash val="solid"/>
          </a:ln>
        </p:spPr>
      </p:sp>
      <p:sp>
        <p:nvSpPr>
          <p:cNvPr id="44" name="Shape 42"/>
          <p:cNvSpPr/>
          <p:nvPr/>
        </p:nvSpPr>
        <p:spPr>
          <a:xfrm>
            <a:off x="2688336" y="2112264"/>
            <a:ext cx="1536192" cy="1536192"/>
          </a:xfrm>
          <a:prstGeom prst="rect">
            <a:avLst/>
          </a:prstGeom>
          <a:ln w="31750">
            <a:solidFill>
              <a:schemeClr val="tx1"/>
            </a:solidFill>
            <a:prstDash val="dash"/>
          </a:ln>
        </p:spPr>
      </p:sp>
      <p:sp>
        <p:nvSpPr>
          <p:cNvPr id="45" name="Shape 43"/>
          <p:cNvSpPr/>
          <p:nvPr/>
        </p:nvSpPr>
        <p:spPr>
          <a:xfrm>
            <a:off x="3200400" y="2624328"/>
            <a:ext cx="512064" cy="512064"/>
          </a:xfrm>
          <a:prstGeom prst="rect">
            <a:avLst/>
          </a:prstGeom>
          <a:ln w="38100">
            <a:solidFill>
              <a:schemeClr val="tx1"/>
            </a:solidFill>
            <a:prstDash val="solid"/>
          </a:ln>
        </p:spPr>
      </p:sp>
      <p:sp>
        <p:nvSpPr>
          <p:cNvPr id="46" name="Text 44"/>
          <p:cNvSpPr txBox="1"/>
          <p:nvPr/>
        </p:nvSpPr>
        <p:spPr>
          <a:xfrm>
            <a:off x="640080" y="4251960"/>
            <a:ext cx="4206240" cy="822960"/>
          </a:xfrm>
          <a:prstGeom prst="rect">
            <a:avLst/>
          </a:prstGeom>
          <a:noFill/>
          <a:ln/>
        </p:spPr>
        <p:txBody>
          <a:bodyPr wrap="square" lIns="0" tIns="0" rIns="0" bIns="0" rtlCol="0" anchor="t"/>
          <a:lstStyle/>
          <a:p>
            <a:pPr indent="0" marL="0">
              <a:buNone/>
            </a:pPr>
            <a:r>
              <a:rPr lang="en-US" sz="1150" dirty="0">
                <a:solidFill>
                  <a:schemeClr val="tx2"/>
                </a:solidFill>
              </a:rPr>
              <a:t>Plot after 0.4 m inset: 4.2 × 2.7 m → 8 × 5 cells of ≈ 0.5 m. Shading = diseased fraction. Dashed box = queen neighbours of the centre cell.</a:t>
            </a:r>
            <a:endParaRPr lang="en-US" sz="1150" dirty="0"/>
          </a:p>
        </p:txBody>
      </p:sp>
      <p:sp>
        <p:nvSpPr>
          <p:cNvPr id="47" name="Shape 45"/>
          <p:cNvSpPr/>
          <p:nvPr/>
        </p:nvSpPr>
        <p:spPr>
          <a:xfrm>
            <a:off x="5257800" y="1325880"/>
            <a:ext cx="6473952" cy="3840480"/>
          </a:xfrm>
          <a:prstGeom prst="roundRect">
            <a:avLst>
              <a:gd name="adj" fmla="val 1905"/>
            </a:avLst>
          </a:prstGeom>
          <a:solidFill>
            <a:schemeClr val="bg2"/>
          </a:solidFill>
          <a:ln/>
        </p:spPr>
      </p:sp>
      <p:sp>
        <p:nvSpPr>
          <p:cNvPr id="48" name="Shape 46"/>
          <p:cNvSpPr/>
          <p:nvPr/>
        </p:nvSpPr>
        <p:spPr>
          <a:xfrm>
            <a:off x="5257800" y="1453896"/>
            <a:ext cx="64008" cy="384048"/>
          </a:xfrm>
          <a:prstGeom prst="rect">
            <a:avLst/>
          </a:prstGeom>
          <a:solidFill>
            <a:schemeClr val="accent1"/>
          </a:solidFill>
          <a:ln/>
        </p:spPr>
      </p:sp>
      <p:sp>
        <p:nvSpPr>
          <p:cNvPr id="49" name="Text 47"/>
          <p:cNvSpPr txBox="1"/>
          <p:nvPr/>
        </p:nvSpPr>
        <p:spPr>
          <a:xfrm>
            <a:off x="5458968" y="1435608"/>
            <a:ext cx="6153912" cy="420624"/>
          </a:xfrm>
          <a:prstGeom prst="rect">
            <a:avLst/>
          </a:prstGeom>
          <a:noFill/>
          <a:ln/>
        </p:spPr>
        <p:txBody>
          <a:bodyPr wrap="square" lIns="0" tIns="0" rIns="0" bIns="0" rtlCol="0" anchor="ctr"/>
          <a:lstStyle/>
          <a:p>
            <a:pPr indent="0" marL="0">
              <a:buNone/>
            </a:pPr>
            <a:r>
              <a:rPr lang="en-US" sz="1500" b="1" dirty="0">
                <a:solidFill>
                  <a:schemeClr val="tx1"/>
                </a:solidFill>
              </a:rPr>
              <a:t>Settings</a:t>
            </a:r>
            <a:endParaRPr lang="en-US" sz="1500" dirty="0"/>
          </a:p>
        </p:txBody>
      </p:sp>
      <p:sp>
        <p:nvSpPr>
          <p:cNvPr id="50" name="Text 48"/>
          <p:cNvSpPr txBox="1"/>
          <p:nvPr/>
        </p:nvSpPr>
        <p:spPr>
          <a:xfrm>
            <a:off x="5458968" y="1929384"/>
            <a:ext cx="6108192" cy="3108960"/>
          </a:xfrm>
          <a:prstGeom prst="rect">
            <a:avLst/>
          </a:prstGeom>
          <a:noFill/>
          <a:ln/>
        </p:spPr>
        <p:txBody>
          <a:bodyPr wrap="square" lIns="0" tIns="0" rIns="0" bIns="0" rtlCol="0" anchor="t"/>
          <a:lstStyle/>
          <a:p>
            <a:pPr marL="177800" indent="-177800">
              <a:spcAft>
                <a:spcPts val="500"/>
              </a:spcAft>
              <a:buSzPct val="100000"/>
              <a:buChar char="•"/>
            </a:pPr>
            <a:r>
              <a:rPr lang="en-US" sz="1250" b="1" dirty="0">
                <a:solidFill>
                  <a:schemeClr val="tx1"/>
                </a:solidFill>
              </a:rPr>
              <a:t>Cell size: </a:t>
            </a:r>
            <a:pPr indent="0" marL="0">
              <a:spcAft>
                <a:spcPts val="500"/>
              </a:spcAft>
              <a:buNone/>
            </a:pPr>
            <a:r>
              <a:rPr lang="en-US" sz="1250" dirty="0">
                <a:solidFill>
                  <a:schemeClr val="tx1"/>
                </a:solidFill>
              </a:rPr>
              <a:t>0.5 m main (≈ 40 cells/plot); 0.25 m sensitivity run (≈ 170 cells). Single 2–3 cm pixels are too noisy (leaf, gap, flower).</a:t>
            </a:r>
            <a:endParaRPr lang="en-US" sz="1250" dirty="0"/>
          </a:p>
          <a:p>
            <a:pPr marL="177800" indent="-177800">
              <a:spcAft>
                <a:spcPts val="500"/>
              </a:spcAft>
              <a:buSzPct val="100000"/>
              <a:buChar char="•"/>
            </a:pPr>
            <a:r>
              <a:rPr lang="en-US" sz="1250" b="1" dirty="0">
                <a:solidFill>
                  <a:schemeClr val="tx1"/>
                </a:solidFill>
              </a:rPr>
              <a:t>Cell value: </a:t>
            </a:r>
            <a:pPr indent="0" marL="0">
              <a:spcAft>
                <a:spcPts val="500"/>
              </a:spcAft>
              <a:buNone/>
            </a:pPr>
            <a:r>
              <a:rPr lang="en-US" sz="1250" dirty="0">
                <a:solidFill>
                  <a:schemeClr val="tx1"/>
                </a:solidFill>
              </a:rPr>
              <a:t>mean of canopy pixels only (s03 mask); drop cells with &lt; 50 % canopy.</a:t>
            </a:r>
            <a:endParaRPr lang="en-US" sz="1250" dirty="0"/>
          </a:p>
          <a:p>
            <a:pPr marL="177800" indent="-177800">
              <a:spcAft>
                <a:spcPts val="500"/>
              </a:spcAft>
              <a:buSzPct val="100000"/>
              <a:buChar char="•"/>
            </a:pPr>
            <a:r>
              <a:rPr lang="en-US" sz="1250" b="1" dirty="0">
                <a:solidFill>
                  <a:schemeClr val="tx1"/>
                </a:solidFill>
              </a:rPr>
              <a:t>Neighbours: </a:t>
            </a:r>
            <a:pPr indent="0" marL="0">
              <a:spcAft>
                <a:spcPts val="500"/>
              </a:spcAft>
              <a:buNone/>
            </a:pPr>
            <a:r>
              <a:rPr lang="en-US" sz="1250" dirty="0">
                <a:solidFill>
                  <a:schemeClr val="tx1"/>
                </a:solidFill>
              </a:rPr>
              <a:t>queen contiguity (8 neighbours), row-standardised W; rook (4) as sensitivity check.</a:t>
            </a:r>
            <a:endParaRPr lang="en-US" sz="1250" dirty="0"/>
          </a:p>
          <a:p>
            <a:pPr marL="177800" indent="-177800">
              <a:spcAft>
                <a:spcPts val="500"/>
              </a:spcAft>
              <a:buSzPct val="100000"/>
              <a:buChar char="•"/>
            </a:pPr>
            <a:r>
              <a:rPr lang="en-US" sz="1250" b="1" dirty="0">
                <a:solidFill>
                  <a:schemeClr val="tx1"/>
                </a:solidFill>
              </a:rPr>
              <a:t>Flowers / pods: </a:t>
            </a:r>
            <a:pPr indent="0" marL="0">
              <a:spcAft>
                <a:spcPts val="500"/>
              </a:spcAft>
              <a:buNone/>
            </a:pPr>
            <a:r>
              <a:rPr lang="en-US" sz="1250" dirty="0">
                <a:solidFill>
                  <a:schemeClr val="tx1"/>
                </a:solidFill>
              </a:rPr>
              <a:t>mask bright-yellow pixels or analyse pre-flowering dates.</a:t>
            </a:r>
            <a:endParaRPr lang="en-US" sz="1250" dirty="0"/>
          </a:p>
          <a:p>
            <a:pPr marL="177800" indent="-177800">
              <a:spcAft>
                <a:spcPts val="500"/>
              </a:spcAft>
              <a:buSzPct val="100000"/>
              <a:buChar char="•"/>
            </a:pPr>
            <a:r>
              <a:rPr lang="en-US" sz="1250" b="1" dirty="0">
                <a:solidFill>
                  <a:schemeClr val="tx1"/>
                </a:solidFill>
              </a:rPr>
              <a:t>Same grid on all dates </a:t>
            </a:r>
            <a:pPr indent="0" marL="0">
              <a:spcAft>
                <a:spcPts val="500"/>
              </a:spcAft>
              <a:buNone/>
            </a:pPr>
            <a:r>
              <a:rPr lang="en-US" sz="1250" dirty="0">
                <a:solidFill>
                  <a:schemeClr val="tx1"/>
                </a:solidFill>
              </a:rPr>
              <a:t>(co-registered, s02) so cells can be tracked over time.</a:t>
            </a:r>
            <a:endParaRPr lang="en-US" sz="1250" dirty="0"/>
          </a:p>
        </p:txBody>
      </p:sp>
      <p:sp>
        <p:nvSpPr>
          <p:cNvPr id="51" name="Text 49"/>
          <p:cNvSpPr txBox="1"/>
          <p:nvPr/>
        </p:nvSpPr>
        <p:spPr>
          <a:xfrm>
            <a:off x="457200" y="6035040"/>
            <a:ext cx="11247120" cy="310896"/>
          </a:xfrm>
          <a:prstGeom prst="rect">
            <a:avLst/>
          </a:prstGeom>
          <a:noFill/>
          <a:ln/>
        </p:spPr>
        <p:txBody>
          <a:bodyPr wrap="square" lIns="0" tIns="0" rIns="0" bIns="0" rtlCol="0" anchor="b"/>
          <a:lstStyle/>
          <a:p>
            <a:pPr indent="0" marL="0">
              <a:buNone/>
            </a:pPr>
            <a:r>
              <a:rPr lang="en-US" sz="1000" i="1" dirty="0">
                <a:solidFill>
                  <a:schemeClr val="tx2"/>
                </a:solidFill>
              </a:rPr>
              <a:t>Spatial weights and contiguity: Anselin (1995); Rey &amp; Anselin (2007) PySAL (libpysal.weights.lat2W / Queen).</a:t>
            </a:r>
            <a:endParaRPr lang="en-US" sz="1000" dirty="0"/>
          </a:p>
        </p:txBody>
      </p:sp>
      <p:sp>
        <p:nvSpPr>
          <p:cNvPr id="25" name="Slide Number Placeholder 0"/>
          <p:cNvSpPr>
            <a:spLocks noGrp="1"/>
          </p:cNvSpPr>
          <p:nvPr>
            <p:ph type="sldNum" sz="quarter" idx="4294967295"/>
          </p:nvPr>
        </p:nvSpPr>
        <p:spPr>
          <a:xfrm>
            <a:off x="11247120" y="644652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384048"/>
            <a:ext cx="11247120" cy="640080"/>
          </a:xfrm>
          <a:prstGeom prst="rect">
            <a:avLst/>
          </a:prstGeom>
          <a:noFill/>
          <a:ln/>
        </p:spPr>
        <p:txBody>
          <a:bodyPr wrap="square" lIns="0" tIns="0" rIns="0" bIns="0" rtlCol="0" anchor="ctr"/>
          <a:lstStyle/>
          <a:p>
            <a:pPr algn="l" indent="0" marL="0">
              <a:buNone/>
            </a:pPr>
            <a:r>
              <a:rPr lang="en-US" sz="2600" b="1" dirty="0">
                <a:solidFill>
                  <a:schemeClr val="tx1"/>
                </a:solidFill>
              </a:rPr>
              <a:t>A3 · Global Moran's I: is the plot clustered?</a:t>
            </a:r>
            <a:endParaRPr lang="en-US" sz="2600" dirty="0"/>
          </a:p>
        </p:txBody>
      </p:sp>
      <p:sp>
        <p:nvSpPr>
          <p:cNvPr id="3" name="Text 1"/>
          <p:cNvSpPr txBox="1"/>
          <p:nvPr/>
        </p:nvSpPr>
        <p:spPr>
          <a:xfrm>
            <a:off x="457200" y="164592"/>
            <a:ext cx="7315200" cy="237744"/>
          </a:xfrm>
          <a:prstGeom prst="rect">
            <a:avLst/>
          </a:prstGeom>
          <a:noFill/>
          <a:ln/>
        </p:spPr>
        <p:txBody>
          <a:bodyPr wrap="square" lIns="0" tIns="0" rIns="0" bIns="0" rtlCol="0" anchor="t"/>
          <a:lstStyle/>
          <a:p>
            <a:pPr indent="0" marL="0">
              <a:buNone/>
            </a:pPr>
            <a:r>
              <a:rPr lang="en-US" sz="1100" b="1" spc="200" kern="0" dirty="0">
                <a:solidFill>
                  <a:schemeClr val="accent1"/>
                </a:solidFill>
              </a:rPr>
              <a:t>PART A · STEP A3</a:t>
            </a:r>
            <a:endParaRPr lang="en-US" sz="1100" dirty="0"/>
          </a:p>
        </p:txBody>
      </p:sp>
      <p:sp>
        <p:nvSpPr>
          <p:cNvPr id="4" name="Shape 2"/>
          <p:cNvSpPr/>
          <p:nvPr/>
        </p:nvSpPr>
        <p:spPr>
          <a:xfrm>
            <a:off x="457200" y="1325880"/>
            <a:ext cx="6583680" cy="1005840"/>
          </a:xfrm>
          <a:prstGeom prst="roundRect">
            <a:avLst>
              <a:gd name="adj" fmla="val 7273"/>
            </a:avLst>
          </a:prstGeom>
          <a:solidFill>
            <a:schemeClr val="bg1"/>
          </a:solidFill>
          <a:ln w="15875">
            <a:solidFill>
              <a:schemeClr val="accent1"/>
            </a:solidFill>
            <a:prstDash val="solid"/>
          </a:ln>
        </p:spPr>
      </p:sp>
      <p:sp>
        <p:nvSpPr>
          <p:cNvPr id="5" name="Text 3"/>
          <p:cNvSpPr txBox="1"/>
          <p:nvPr/>
        </p:nvSpPr>
        <p:spPr>
          <a:xfrm>
            <a:off x="640080" y="1325880"/>
            <a:ext cx="6217920" cy="1005840"/>
          </a:xfrm>
          <a:prstGeom prst="rect">
            <a:avLst/>
          </a:prstGeom>
          <a:noFill/>
          <a:ln/>
        </p:spPr>
        <p:txBody>
          <a:bodyPr wrap="square" lIns="0" tIns="0" rIns="0" bIns="0" rtlCol="0" anchor="ctr"/>
          <a:lstStyle/>
          <a:p>
            <a:pPr algn="ctr" indent="0" marL="0">
              <a:buNone/>
            </a:pPr>
            <a:r>
              <a:rPr lang="en-US" sz="1800" dirty="0">
                <a:solidFill>
                  <a:schemeClr val="tx1"/>
                </a:solidFill>
                <a:latin typeface="Cambria Math" pitchFamily="34" charset="0"/>
                <a:ea typeface="Cambria Math" pitchFamily="34" charset="-122"/>
                <a:cs typeface="Cambria Math" pitchFamily="34" charset="-120"/>
              </a:rPr>
              <a:t>I = (n / W) · Σᵢ Σⱼ wᵢⱼ (xᵢ − x̄)(xⱼ − x̄)  /  Σᵢ (xᵢ − x̄)²</a:t>
            </a:r>
            <a:endParaRPr lang="en-US" sz="1800" dirty="0"/>
          </a:p>
        </p:txBody>
      </p:sp>
      <p:sp>
        <p:nvSpPr>
          <p:cNvPr id="6" name="Text 4"/>
          <p:cNvSpPr txBox="1"/>
          <p:nvPr/>
        </p:nvSpPr>
        <p:spPr>
          <a:xfrm>
            <a:off x="457200" y="2423160"/>
            <a:ext cx="6583680" cy="320040"/>
          </a:xfrm>
          <a:prstGeom prst="rect">
            <a:avLst/>
          </a:prstGeom>
          <a:noFill/>
          <a:ln/>
        </p:spPr>
        <p:txBody>
          <a:bodyPr wrap="square" lIns="0" tIns="0" rIns="0" bIns="0" rtlCol="0" anchor="t"/>
          <a:lstStyle/>
          <a:p>
            <a:pPr indent="0" marL="0">
              <a:buNone/>
            </a:pPr>
            <a:r>
              <a:rPr lang="en-US" sz="1200" dirty="0">
                <a:solidFill>
                  <a:schemeClr val="tx2"/>
                </a:solidFill>
              </a:rPr>
              <a:t>n = number of cells; xᵢ = cell value; wᵢⱼ = neighbour weight; W = Σᵢ Σⱼ wᵢⱼ</a:t>
            </a:r>
            <a:endParaRPr lang="en-US" sz="1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2880360"/>
          <a:ext cx="6583680" cy="914400"/>
        </p:xfrm>
        <a:graphic>
          <a:graphicData uri="http://schemas.openxmlformats.org/drawingml/2006/table">
            <a:tbl>
              <a:tblPr/>
              <a:tblGrid>
                <a:gridCol w="2377440"/>
                <a:gridCol w="4206240"/>
              </a:tblGrid>
              <a:tr h="0">
                <a:tc>
                  <a:txBody>
                    <a:bodyPr/>
                    <a:lstStyle/>
                    <a:p>
                      <a:pPr indent="0" marL="0">
                        <a:buNone/>
                      </a:pPr>
                      <a:r>
                        <a:rPr lang="en-US" sz="1250" b="1" dirty="0">
                          <a:solidFill>
                            <a:schemeClr val="bg1"/>
                          </a:solidFill>
                        </a:rPr>
                        <a:t>Result</a:t>
                      </a:r>
                      <a:endParaRPr lang="en-US" sz="125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solidFill>
                      <a:schemeClr val="tx2"/>
                    </a:solidFill>
                  </a:tcPr>
                </a:tc>
                <a:tc>
                  <a:txBody>
                    <a:bodyPr/>
                    <a:lstStyle/>
                    <a:p>
                      <a:pPr indent="0" marL="0">
                        <a:buNone/>
                      </a:pPr>
                      <a:r>
                        <a:rPr lang="en-US" sz="1250" b="1" dirty="0">
                          <a:solidFill>
                            <a:schemeClr val="bg1"/>
                          </a:solidFill>
                        </a:rPr>
                        <a:t>Interpretation</a:t>
                      </a:r>
                      <a:endParaRPr lang="en-US" sz="125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solidFill>
                      <a:schemeClr val="tx2"/>
                    </a:solidFill>
                  </a:tcPr>
                </a:tc>
              </a:tr>
              <a:tr h="0">
                <a:tc>
                  <a:txBody>
                    <a:bodyPr/>
                    <a:lstStyle/>
                    <a:p>
                      <a:pPr indent="0" marL="0">
                        <a:buNone/>
                      </a:pPr>
                      <a:r>
                        <a:rPr lang="en-US" sz="1250" dirty="0">
                          <a:solidFill>
                            <a:schemeClr val="tx1"/>
                          </a:solidFill>
                        </a:rPr>
                        <a:t>I ≈ E[I] = −1/(n−1)</a:t>
                      </a:r>
                      <a:endParaRPr lang="en-US" sz="125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250" dirty="0">
                          <a:solidFill>
                            <a:schemeClr val="tx1"/>
                          </a:solidFill>
                        </a:rPr>
                        <a:t>Disease randomly scattered in the plot</a:t>
                      </a:r>
                      <a:endParaRPr lang="en-US" sz="125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r>
              <a:tr h="0">
                <a:tc>
                  <a:txBody>
                    <a:bodyPr/>
                    <a:lstStyle/>
                    <a:p>
                      <a:pPr indent="0" marL="0">
                        <a:buNone/>
                      </a:pPr>
                      <a:r>
                        <a:rPr lang="en-US" sz="1250" dirty="0">
                          <a:solidFill>
                            <a:schemeClr val="tx1"/>
                          </a:solidFill>
                        </a:rPr>
                        <a:t>I &gt; 0, pseudo-p &lt; 0.05</a:t>
                      </a:r>
                      <a:endParaRPr lang="en-US" sz="125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250" dirty="0">
                          <a:solidFill>
                            <a:schemeClr val="tx1"/>
                          </a:solidFill>
                        </a:rPr>
                        <a:t>Clustered — one or more hotspots</a:t>
                      </a:r>
                      <a:endParaRPr lang="en-US" sz="125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r>
              <a:tr h="0">
                <a:tc>
                  <a:txBody>
                    <a:bodyPr/>
                    <a:lstStyle/>
                    <a:p>
                      <a:pPr indent="0" marL="0">
                        <a:buNone/>
                      </a:pPr>
                      <a:r>
                        <a:rPr lang="en-US" sz="1250" dirty="0">
                          <a:solidFill>
                            <a:schemeClr val="tx1"/>
                          </a:solidFill>
                        </a:rPr>
                        <a:t>I &lt; 0</a:t>
                      </a:r>
                      <a:endParaRPr lang="en-US" sz="125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250" dirty="0">
                          <a:solidFill>
                            <a:schemeClr val="tx1"/>
                          </a:solidFill>
                        </a:rPr>
                        <a:t>Dispersed / checkerboard (rare for disease)</a:t>
                      </a:r>
                      <a:endParaRPr lang="en-US" sz="125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r>
            </a:tbl>
          </a:graphicData>
        </a:graphic>
      </p:graphicFrame>
      <p:sp>
        <p:nvSpPr>
          <p:cNvPr id="8" name="Shape 5"/>
          <p:cNvSpPr/>
          <p:nvPr/>
        </p:nvSpPr>
        <p:spPr>
          <a:xfrm>
            <a:off x="7315200" y="1325880"/>
            <a:ext cx="4416552" cy="4434840"/>
          </a:xfrm>
          <a:prstGeom prst="roundRect">
            <a:avLst>
              <a:gd name="adj" fmla="val 1656"/>
            </a:avLst>
          </a:prstGeom>
          <a:solidFill>
            <a:schemeClr val="bg2"/>
          </a:solidFill>
          <a:ln/>
        </p:spPr>
      </p:sp>
      <p:sp>
        <p:nvSpPr>
          <p:cNvPr id="9" name="Shape 6"/>
          <p:cNvSpPr/>
          <p:nvPr/>
        </p:nvSpPr>
        <p:spPr>
          <a:xfrm>
            <a:off x="7315200" y="1453896"/>
            <a:ext cx="64008" cy="384048"/>
          </a:xfrm>
          <a:prstGeom prst="rect">
            <a:avLst/>
          </a:prstGeom>
          <a:solidFill>
            <a:schemeClr val="accent1"/>
          </a:solidFill>
          <a:ln/>
        </p:spPr>
      </p:sp>
      <p:sp>
        <p:nvSpPr>
          <p:cNvPr id="10" name="Text 7"/>
          <p:cNvSpPr txBox="1"/>
          <p:nvPr/>
        </p:nvSpPr>
        <p:spPr>
          <a:xfrm>
            <a:off x="7516368" y="1435608"/>
            <a:ext cx="4096512" cy="420624"/>
          </a:xfrm>
          <a:prstGeom prst="rect">
            <a:avLst/>
          </a:prstGeom>
          <a:noFill/>
          <a:ln/>
        </p:spPr>
        <p:txBody>
          <a:bodyPr wrap="square" lIns="0" tIns="0" rIns="0" bIns="0" rtlCol="0" anchor="ctr"/>
          <a:lstStyle/>
          <a:p>
            <a:pPr indent="0" marL="0">
              <a:buNone/>
            </a:pPr>
            <a:r>
              <a:rPr lang="en-US" sz="1500" b="1" dirty="0">
                <a:solidFill>
                  <a:schemeClr val="tx1"/>
                </a:solidFill>
              </a:rPr>
              <a:t>Testing procedure</a:t>
            </a:r>
            <a:endParaRPr lang="en-US" sz="1500" dirty="0"/>
          </a:p>
        </p:txBody>
      </p:sp>
      <p:sp>
        <p:nvSpPr>
          <p:cNvPr id="11" name="Text 8"/>
          <p:cNvSpPr txBox="1"/>
          <p:nvPr/>
        </p:nvSpPr>
        <p:spPr>
          <a:xfrm>
            <a:off x="7516368" y="1929384"/>
            <a:ext cx="4050792" cy="3703320"/>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chemeClr val="tx1"/>
                </a:solidFill>
              </a:rPr>
              <a:t>Permutation test: shuffle cell values 999× → pseudo-p = (k + 1)/(999 + 1)</a:t>
            </a:r>
            <a:endParaRPr lang="en-US" sz="1250" dirty="0"/>
          </a:p>
          <a:p>
            <a:pPr marL="177800" indent="-177800">
              <a:spcAft>
                <a:spcPts val="500"/>
              </a:spcAft>
              <a:buSzPct val="100000"/>
              <a:buChar char="•"/>
            </a:pPr>
            <a:r>
              <a:rPr lang="en-US" sz="1250" dirty="0">
                <a:solidFill>
                  <a:schemeClr val="tx1"/>
                </a:solidFill>
              </a:rPr>
              <a:t>Run for every plot × date (48 × 4)</a:t>
            </a:r>
            <a:endParaRPr lang="en-US" sz="1250" dirty="0"/>
          </a:p>
          <a:p>
            <a:pPr marL="177800" indent="-177800">
              <a:spcAft>
                <a:spcPts val="500"/>
              </a:spcAft>
              <a:buSzPct val="100000"/>
              <a:buChar char="•"/>
            </a:pPr>
            <a:r>
              <a:rPr lang="en-US" sz="1250" dirty="0">
                <a:solidFill>
                  <a:schemeClr val="tx1"/>
                </a:solidFill>
              </a:rPr>
              <a:t>Null reference: distribution of I in healthy control plots of the same date (soil, irrigation, edge structure)</a:t>
            </a:r>
            <a:endParaRPr lang="en-US" sz="1250" dirty="0"/>
          </a:p>
          <a:p>
            <a:pPr marL="177800" indent="-177800">
              <a:spcAft>
                <a:spcPts val="500"/>
              </a:spcAft>
              <a:buSzPct val="100000"/>
              <a:buChar char="•"/>
            </a:pPr>
            <a:r>
              <a:rPr lang="en-US" sz="1250" dirty="0">
                <a:solidFill>
                  <a:schemeClr val="tx1"/>
                </a:solidFill>
              </a:rPr>
              <a:t>Call a plot 'clustered' only if I exceeds the 95th percentile of control plots</a:t>
            </a:r>
            <a:endParaRPr lang="en-US" sz="1250" dirty="0"/>
          </a:p>
          <a:p>
            <a:pPr marL="177800" indent="-177800">
              <a:spcAft>
                <a:spcPts val="500"/>
              </a:spcAft>
              <a:buSzPct val="100000"/>
              <a:buChar char="•"/>
            </a:pPr>
            <a:r>
              <a:rPr lang="en-US" sz="1250" dirty="0">
                <a:solidFill>
                  <a:schemeClr val="tx1"/>
                </a:solidFill>
              </a:rPr>
              <a:t>Compare I between inoculated vs control (Mann–Whitney) and across dates</a:t>
            </a:r>
            <a:endParaRPr lang="en-US" sz="1250" dirty="0"/>
          </a:p>
        </p:txBody>
      </p:sp>
      <p:sp>
        <p:nvSpPr>
          <p:cNvPr id="12" name="Shape 9"/>
          <p:cNvSpPr/>
          <p:nvPr/>
        </p:nvSpPr>
        <p:spPr>
          <a:xfrm>
            <a:off x="457200" y="4343400"/>
            <a:ext cx="6583680" cy="1417320"/>
          </a:xfrm>
          <a:prstGeom prst="roundRect">
            <a:avLst>
              <a:gd name="adj" fmla="val 5161"/>
            </a:avLst>
          </a:prstGeom>
          <a:solidFill>
            <a:schemeClr val="bg2"/>
          </a:solidFill>
          <a:ln/>
        </p:spPr>
      </p:sp>
      <p:sp>
        <p:nvSpPr>
          <p:cNvPr id="13" name="Text 10"/>
          <p:cNvSpPr txBox="1"/>
          <p:nvPr/>
        </p:nvSpPr>
        <p:spPr>
          <a:xfrm>
            <a:off x="640080" y="4434840"/>
            <a:ext cx="6217920" cy="1234440"/>
          </a:xfrm>
          <a:prstGeom prst="rect">
            <a:avLst/>
          </a:prstGeom>
          <a:noFill/>
          <a:ln/>
        </p:spPr>
        <p:txBody>
          <a:bodyPr wrap="square" lIns="0" tIns="0" rIns="0" bIns="0" rtlCol="0" anchor="ctr"/>
          <a:lstStyle/>
          <a:p>
            <a:pPr indent="0" marL="0">
              <a:buNone/>
            </a:pPr>
            <a:r>
              <a:rPr lang="en-US" sz="1250" b="1" dirty="0">
                <a:solidFill>
                  <a:schemeClr val="tx1"/>
                </a:solidFill>
              </a:rPr>
              <a:t>Illustrative example (not data): </a:t>
            </a:r>
            <a:pPr indent="0" marL="0">
              <a:buNone/>
            </a:pPr>
            <a:r>
              <a:rPr lang="en-US" sz="1250" dirty="0">
                <a:solidFill>
                  <a:schemeClr val="tx1"/>
                </a:solidFill>
              </a:rPr>
              <a:t>healthy control plots on D3 give I = 0.02–0.18 (95th percentile 0.20). Inoculated plot P17 on D3: I = 0.46, pseudo-p = 0.002 → clustered; P22: I = 0.09 → evenly diseased.</a:t>
            </a:r>
            <a:endParaRPr lang="en-US" sz="1250" dirty="0"/>
          </a:p>
        </p:txBody>
      </p:sp>
      <p:sp>
        <p:nvSpPr>
          <p:cNvPr id="14" name="Text 11"/>
          <p:cNvSpPr txBox="1"/>
          <p:nvPr/>
        </p:nvSpPr>
        <p:spPr>
          <a:xfrm>
            <a:off x="457200" y="6035040"/>
            <a:ext cx="11247120" cy="310896"/>
          </a:xfrm>
          <a:prstGeom prst="rect">
            <a:avLst/>
          </a:prstGeom>
          <a:noFill/>
          <a:ln/>
        </p:spPr>
        <p:txBody>
          <a:bodyPr wrap="square" lIns="0" tIns="0" rIns="0" bIns="0" rtlCol="0" anchor="b"/>
          <a:lstStyle/>
          <a:p>
            <a:pPr indent="0" marL="0">
              <a:buNone/>
            </a:pPr>
            <a:r>
              <a:rPr lang="en-US" sz="1000" i="1" dirty="0">
                <a:solidFill>
                  <a:schemeClr val="tx2"/>
                </a:solidFill>
              </a:rPr>
              <a:t>Moran (1950) Biometrika 37:17–23; Anselin (1995) Geogr. Anal. 27:93–115; esda.Moran (Rey et al., 2022).</a:t>
            </a:r>
            <a:endParaRPr lang="en-US" sz="1000" dirty="0"/>
          </a:p>
        </p:txBody>
      </p:sp>
      <p:sp>
        <p:nvSpPr>
          <p:cNvPr id="25" name="Slide Number Placeholder 0"/>
          <p:cNvSpPr>
            <a:spLocks noGrp="1"/>
          </p:cNvSpPr>
          <p:nvPr>
            <p:ph type="sldNum" sz="quarter" idx="4294967295"/>
          </p:nvPr>
        </p:nvSpPr>
        <p:spPr>
          <a:xfrm>
            <a:off x="11247120" y="644652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384048"/>
            <a:ext cx="11247120" cy="640080"/>
          </a:xfrm>
          <a:prstGeom prst="rect">
            <a:avLst/>
          </a:prstGeom>
          <a:noFill/>
          <a:ln/>
        </p:spPr>
        <p:txBody>
          <a:bodyPr wrap="square" lIns="0" tIns="0" rIns="0" bIns="0" rtlCol="0" anchor="ctr"/>
          <a:lstStyle/>
          <a:p>
            <a:pPr algn="l" indent="0" marL="0">
              <a:buNone/>
            </a:pPr>
            <a:r>
              <a:rPr lang="en-US" sz="2600" b="1" dirty="0">
                <a:solidFill>
                  <a:schemeClr val="tx1"/>
                </a:solidFill>
              </a:rPr>
              <a:t>A4 · Local Getis–Ord Gi* and LISA: where are the hotspots?</a:t>
            </a:r>
            <a:endParaRPr lang="en-US" sz="2600" dirty="0"/>
          </a:p>
        </p:txBody>
      </p:sp>
      <p:sp>
        <p:nvSpPr>
          <p:cNvPr id="3" name="Text 1"/>
          <p:cNvSpPr txBox="1"/>
          <p:nvPr/>
        </p:nvSpPr>
        <p:spPr>
          <a:xfrm>
            <a:off x="457200" y="164592"/>
            <a:ext cx="7315200" cy="237744"/>
          </a:xfrm>
          <a:prstGeom prst="rect">
            <a:avLst/>
          </a:prstGeom>
          <a:noFill/>
          <a:ln/>
        </p:spPr>
        <p:txBody>
          <a:bodyPr wrap="square" lIns="0" tIns="0" rIns="0" bIns="0" rtlCol="0" anchor="t"/>
          <a:lstStyle/>
          <a:p>
            <a:pPr indent="0" marL="0">
              <a:buNone/>
            </a:pPr>
            <a:r>
              <a:rPr lang="en-US" sz="1100" b="1" spc="200" kern="0" dirty="0">
                <a:solidFill>
                  <a:schemeClr val="accent1"/>
                </a:solidFill>
              </a:rPr>
              <a:t>PART A · STEP A4</a:t>
            </a:r>
            <a:endParaRPr lang="en-US" sz="1100" dirty="0"/>
          </a:p>
        </p:txBody>
      </p:sp>
      <p:sp>
        <p:nvSpPr>
          <p:cNvPr id="4" name="Shape 2"/>
          <p:cNvSpPr/>
          <p:nvPr/>
        </p:nvSpPr>
        <p:spPr>
          <a:xfrm>
            <a:off x="457200" y="1325880"/>
            <a:ext cx="6949440" cy="1143000"/>
          </a:xfrm>
          <a:prstGeom prst="roundRect">
            <a:avLst>
              <a:gd name="adj" fmla="val 6400"/>
            </a:avLst>
          </a:prstGeom>
          <a:solidFill>
            <a:schemeClr val="bg1"/>
          </a:solidFill>
          <a:ln w="15875">
            <a:solidFill>
              <a:schemeClr val="accent1"/>
            </a:solidFill>
            <a:prstDash val="solid"/>
          </a:ln>
        </p:spPr>
      </p:sp>
      <p:sp>
        <p:nvSpPr>
          <p:cNvPr id="5" name="Text 3"/>
          <p:cNvSpPr txBox="1"/>
          <p:nvPr/>
        </p:nvSpPr>
        <p:spPr>
          <a:xfrm>
            <a:off x="640080" y="1325880"/>
            <a:ext cx="6583680" cy="1143000"/>
          </a:xfrm>
          <a:prstGeom prst="rect">
            <a:avLst/>
          </a:prstGeom>
          <a:noFill/>
          <a:ln/>
        </p:spPr>
        <p:txBody>
          <a:bodyPr wrap="square" lIns="0" tIns="0" rIns="0" bIns="0" rtlCol="0" anchor="ctr"/>
          <a:lstStyle/>
          <a:p>
            <a:pPr algn="ctr" indent="0" marL="0">
              <a:buNone/>
            </a:pPr>
            <a:r>
              <a:rPr lang="en-US" sz="1500" dirty="0">
                <a:solidFill>
                  <a:schemeClr val="tx1"/>
                </a:solidFill>
                <a:latin typeface="Cambria Math" pitchFamily="34" charset="0"/>
                <a:ea typeface="Cambria Math" pitchFamily="34" charset="-122"/>
                <a:cs typeface="Cambria Math" pitchFamily="34" charset="-120"/>
              </a:rPr>
              <a:t>Gᵢ* = [ Σⱼ wᵢⱼ xⱼ − x̄ Σⱼ wᵢⱼ ]  /  ( S · √{ [ n Σⱼ wᵢⱼ² − (Σⱼ wᵢⱼ)² ] / (n − 1) } )</a:t>
            </a:r>
            <a:endParaRPr lang="en-US" sz="1500" dirty="0"/>
          </a:p>
        </p:txBody>
      </p:sp>
      <p:sp>
        <p:nvSpPr>
          <p:cNvPr id="6" name="Text 4"/>
          <p:cNvSpPr txBox="1"/>
          <p:nvPr/>
        </p:nvSpPr>
        <p:spPr>
          <a:xfrm>
            <a:off x="457200" y="2542032"/>
            <a:ext cx="6949440" cy="502920"/>
          </a:xfrm>
          <a:prstGeom prst="rect">
            <a:avLst/>
          </a:prstGeom>
          <a:noFill/>
          <a:ln/>
        </p:spPr>
        <p:txBody>
          <a:bodyPr wrap="square" lIns="0" tIns="0" rIns="0" bIns="0" rtlCol="0" anchor="t"/>
          <a:lstStyle/>
          <a:p>
            <a:pPr indent="0" marL="0">
              <a:buNone/>
            </a:pPr>
            <a:r>
              <a:rPr lang="en-US" sz="1200" dirty="0">
                <a:solidFill>
                  <a:schemeClr val="tx2"/>
                </a:solidFill>
              </a:rPr>
              <a:t>j includes i itself; S = √(Σⱼ xⱼ²/n − x̄²). Gᵢ* is a z-score: high positive = hotspot, high negative = coldspot.</a:t>
            </a:r>
            <a:endParaRPr lang="en-US" sz="1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3154680"/>
          <a:ext cx="6949440" cy="914400"/>
        </p:xfrm>
        <a:graphic>
          <a:graphicData uri="http://schemas.openxmlformats.org/drawingml/2006/table">
            <a:tbl>
              <a:tblPr/>
              <a:tblGrid>
                <a:gridCol w="2560320"/>
                <a:gridCol w="4389120"/>
              </a:tblGrid>
              <a:tr h="0">
                <a:tc>
                  <a:txBody>
                    <a:bodyPr/>
                    <a:lstStyle/>
                    <a:p>
                      <a:pPr indent="0" marL="0">
                        <a:buNone/>
                      </a:pPr>
                      <a:r>
                        <a:rPr lang="en-US" sz="1250" b="1" dirty="0">
                          <a:solidFill>
                            <a:schemeClr val="bg1"/>
                          </a:solidFill>
                        </a:rPr>
                        <a:t>LISA class (local Moran)</a:t>
                      </a:r>
                      <a:endParaRPr lang="en-US" sz="125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solidFill>
                      <a:schemeClr val="tx2"/>
                    </a:solidFill>
                  </a:tcPr>
                </a:tc>
                <a:tc>
                  <a:txBody>
                    <a:bodyPr/>
                    <a:lstStyle/>
                    <a:p>
                      <a:pPr indent="0" marL="0">
                        <a:buNone/>
                      </a:pPr>
                      <a:r>
                        <a:rPr lang="en-US" sz="1250" b="1" dirty="0">
                          <a:solidFill>
                            <a:schemeClr val="bg1"/>
                          </a:solidFill>
                        </a:rPr>
                        <a:t>Meaning in a plot</a:t>
                      </a:r>
                      <a:endParaRPr lang="en-US" sz="125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solidFill>
                      <a:schemeClr val="tx2"/>
                    </a:solidFill>
                  </a:tcPr>
                </a:tc>
              </a:tr>
              <a:tr h="0">
                <a:tc>
                  <a:txBody>
                    <a:bodyPr/>
                    <a:lstStyle/>
                    <a:p>
                      <a:pPr indent="0" marL="0">
                        <a:buNone/>
                      </a:pPr>
                      <a:r>
                        <a:rPr lang="en-US" sz="1250" dirty="0">
                          <a:solidFill>
                            <a:schemeClr val="tx1"/>
                          </a:solidFill>
                        </a:rPr>
                        <a:t>High–High</a:t>
                      </a:r>
                      <a:endParaRPr lang="en-US" sz="125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250" dirty="0">
                          <a:solidFill>
                            <a:schemeClr val="tx1"/>
                          </a:solidFill>
                        </a:rPr>
                        <a:t>Hotspot core: diseased cell among diseased cells</a:t>
                      </a:r>
                      <a:endParaRPr lang="en-US" sz="125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r>
              <a:tr h="0">
                <a:tc>
                  <a:txBody>
                    <a:bodyPr/>
                    <a:lstStyle/>
                    <a:p>
                      <a:pPr indent="0" marL="0">
                        <a:buNone/>
                      </a:pPr>
                      <a:r>
                        <a:rPr lang="en-US" sz="1250" dirty="0">
                          <a:solidFill>
                            <a:schemeClr val="tx1"/>
                          </a:solidFill>
                        </a:rPr>
                        <a:t>Low–Low</a:t>
                      </a:r>
                      <a:endParaRPr lang="en-US" sz="125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250" dirty="0">
                          <a:solidFill>
                            <a:schemeClr val="tx1"/>
                          </a:solidFill>
                        </a:rPr>
                        <a:t>Healthy patch</a:t>
                      </a:r>
                      <a:endParaRPr lang="en-US" sz="125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r>
              <a:tr h="0">
                <a:tc>
                  <a:txBody>
                    <a:bodyPr/>
                    <a:lstStyle/>
                    <a:p>
                      <a:pPr indent="0" marL="0">
                        <a:buNone/>
                      </a:pPr>
                      <a:r>
                        <a:rPr lang="en-US" sz="1250" dirty="0">
                          <a:solidFill>
                            <a:schemeClr val="tx1"/>
                          </a:solidFill>
                        </a:rPr>
                        <a:t>High–Low</a:t>
                      </a:r>
                      <a:endParaRPr lang="en-US" sz="125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250" dirty="0">
                          <a:solidFill>
                            <a:schemeClr val="tx1"/>
                          </a:solidFill>
                        </a:rPr>
                        <a:t>Isolated diseased cell — possible new infection focus</a:t>
                      </a:r>
                      <a:endParaRPr lang="en-US" sz="125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r>
              <a:tr h="0">
                <a:tc>
                  <a:txBody>
                    <a:bodyPr/>
                    <a:lstStyle/>
                    <a:p>
                      <a:pPr indent="0" marL="0">
                        <a:buNone/>
                      </a:pPr>
                      <a:r>
                        <a:rPr lang="en-US" sz="1250" dirty="0">
                          <a:solidFill>
                            <a:schemeClr val="tx1"/>
                          </a:solidFill>
                        </a:rPr>
                        <a:t>Low–High</a:t>
                      </a:r>
                      <a:endParaRPr lang="en-US" sz="125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250" dirty="0">
                          <a:solidFill>
                            <a:schemeClr val="tx1"/>
                          </a:solidFill>
                        </a:rPr>
                        <a:t>Healthy cell inside a diseased patch</a:t>
                      </a:r>
                      <a:endParaRPr lang="en-US" sz="125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r>
            </a:tbl>
          </a:graphicData>
        </a:graphic>
      </p:graphicFrame>
      <p:sp>
        <p:nvSpPr>
          <p:cNvPr id="8" name="Shape 5"/>
          <p:cNvSpPr/>
          <p:nvPr/>
        </p:nvSpPr>
        <p:spPr>
          <a:xfrm>
            <a:off x="7863840" y="1417320"/>
            <a:ext cx="457200" cy="457200"/>
          </a:xfrm>
          <a:prstGeom prst="rect">
            <a:avLst/>
          </a:prstGeom>
          <a:solidFill>
            <a:srgbClr val="E3F1EF"/>
          </a:solidFill>
          <a:ln w="12700">
            <a:solidFill>
              <a:srgbClr val="FFFFFF"/>
            </a:solidFill>
            <a:prstDash val="solid"/>
          </a:ln>
        </p:spPr>
      </p:sp>
      <p:sp>
        <p:nvSpPr>
          <p:cNvPr id="9" name="Shape 6"/>
          <p:cNvSpPr/>
          <p:nvPr/>
        </p:nvSpPr>
        <p:spPr>
          <a:xfrm>
            <a:off x="8321040" y="1417320"/>
            <a:ext cx="457200" cy="457200"/>
          </a:xfrm>
          <a:prstGeom prst="rect">
            <a:avLst/>
          </a:prstGeom>
          <a:solidFill>
            <a:srgbClr val="E3F1EF"/>
          </a:solidFill>
          <a:ln w="12700">
            <a:solidFill>
              <a:srgbClr val="FFFFFF"/>
            </a:solidFill>
            <a:prstDash val="solid"/>
          </a:ln>
        </p:spPr>
      </p:sp>
      <p:sp>
        <p:nvSpPr>
          <p:cNvPr id="10" name="Shape 7"/>
          <p:cNvSpPr/>
          <p:nvPr/>
        </p:nvSpPr>
        <p:spPr>
          <a:xfrm>
            <a:off x="8778240" y="1417320"/>
            <a:ext cx="457200" cy="457200"/>
          </a:xfrm>
          <a:prstGeom prst="rect">
            <a:avLst/>
          </a:prstGeom>
          <a:solidFill>
            <a:srgbClr val="E3F1EF"/>
          </a:solidFill>
          <a:ln w="12700">
            <a:solidFill>
              <a:srgbClr val="FFFFFF"/>
            </a:solidFill>
            <a:prstDash val="solid"/>
          </a:ln>
        </p:spPr>
      </p:sp>
      <p:sp>
        <p:nvSpPr>
          <p:cNvPr id="11" name="Shape 8"/>
          <p:cNvSpPr/>
          <p:nvPr/>
        </p:nvSpPr>
        <p:spPr>
          <a:xfrm>
            <a:off x="9235440" y="1417320"/>
            <a:ext cx="457200" cy="457200"/>
          </a:xfrm>
          <a:prstGeom prst="rect">
            <a:avLst/>
          </a:prstGeom>
          <a:solidFill>
            <a:srgbClr val="E3F1EF"/>
          </a:solidFill>
          <a:ln w="12700">
            <a:solidFill>
              <a:srgbClr val="FFFFFF"/>
            </a:solidFill>
            <a:prstDash val="solid"/>
          </a:ln>
        </p:spPr>
      </p:sp>
      <p:sp>
        <p:nvSpPr>
          <p:cNvPr id="12" name="Shape 9"/>
          <p:cNvSpPr/>
          <p:nvPr/>
        </p:nvSpPr>
        <p:spPr>
          <a:xfrm>
            <a:off x="9692640" y="1417320"/>
            <a:ext cx="457200" cy="457200"/>
          </a:xfrm>
          <a:prstGeom prst="rect">
            <a:avLst/>
          </a:prstGeom>
          <a:solidFill>
            <a:srgbClr val="E3F1EF"/>
          </a:solidFill>
          <a:ln w="12700">
            <a:solidFill>
              <a:srgbClr val="FFFFFF"/>
            </a:solidFill>
            <a:prstDash val="solid"/>
          </a:ln>
        </p:spPr>
      </p:sp>
      <p:sp>
        <p:nvSpPr>
          <p:cNvPr id="13" name="Shape 10"/>
          <p:cNvSpPr/>
          <p:nvPr/>
        </p:nvSpPr>
        <p:spPr>
          <a:xfrm>
            <a:off x="10149840" y="1417320"/>
            <a:ext cx="457200" cy="457200"/>
          </a:xfrm>
          <a:prstGeom prst="rect">
            <a:avLst/>
          </a:prstGeom>
          <a:solidFill>
            <a:srgbClr val="E3F1EF"/>
          </a:solidFill>
          <a:ln w="12700">
            <a:solidFill>
              <a:srgbClr val="FFFFFF"/>
            </a:solidFill>
            <a:prstDash val="solid"/>
          </a:ln>
        </p:spPr>
      </p:sp>
      <p:sp>
        <p:nvSpPr>
          <p:cNvPr id="14" name="Shape 11"/>
          <p:cNvSpPr/>
          <p:nvPr/>
        </p:nvSpPr>
        <p:spPr>
          <a:xfrm>
            <a:off x="10607040" y="1417320"/>
            <a:ext cx="457200" cy="457200"/>
          </a:xfrm>
          <a:prstGeom prst="rect">
            <a:avLst/>
          </a:prstGeom>
          <a:solidFill>
            <a:srgbClr val="E3F1EF"/>
          </a:solidFill>
          <a:ln w="12700">
            <a:solidFill>
              <a:srgbClr val="FFFFFF"/>
            </a:solidFill>
            <a:prstDash val="solid"/>
          </a:ln>
        </p:spPr>
      </p:sp>
      <p:sp>
        <p:nvSpPr>
          <p:cNvPr id="15" name="Shape 12"/>
          <p:cNvSpPr/>
          <p:nvPr/>
        </p:nvSpPr>
        <p:spPr>
          <a:xfrm>
            <a:off x="11064240" y="1417320"/>
            <a:ext cx="457200" cy="457200"/>
          </a:xfrm>
          <a:prstGeom prst="rect">
            <a:avLst/>
          </a:prstGeom>
          <a:solidFill>
            <a:srgbClr val="E3F1EF"/>
          </a:solidFill>
          <a:ln w="12700">
            <a:solidFill>
              <a:srgbClr val="FFFFFF"/>
            </a:solidFill>
            <a:prstDash val="solid"/>
          </a:ln>
        </p:spPr>
      </p:sp>
      <p:sp>
        <p:nvSpPr>
          <p:cNvPr id="16" name="Shape 13"/>
          <p:cNvSpPr/>
          <p:nvPr/>
        </p:nvSpPr>
        <p:spPr>
          <a:xfrm>
            <a:off x="7863840" y="1874520"/>
            <a:ext cx="457200" cy="457200"/>
          </a:xfrm>
          <a:prstGeom prst="rect">
            <a:avLst/>
          </a:prstGeom>
          <a:solidFill>
            <a:srgbClr val="E3F1EF"/>
          </a:solidFill>
          <a:ln w="12700">
            <a:solidFill>
              <a:srgbClr val="FFFFFF"/>
            </a:solidFill>
            <a:prstDash val="solid"/>
          </a:ln>
        </p:spPr>
      </p:sp>
      <p:sp>
        <p:nvSpPr>
          <p:cNvPr id="17" name="Shape 14"/>
          <p:cNvSpPr/>
          <p:nvPr/>
        </p:nvSpPr>
        <p:spPr>
          <a:xfrm>
            <a:off x="8321040" y="1874520"/>
            <a:ext cx="457200" cy="457200"/>
          </a:xfrm>
          <a:prstGeom prst="rect">
            <a:avLst/>
          </a:prstGeom>
          <a:solidFill>
            <a:srgbClr val="E3F1EF"/>
          </a:solidFill>
          <a:ln w="12700">
            <a:solidFill>
              <a:srgbClr val="FFFFFF"/>
            </a:solidFill>
            <a:prstDash val="solid"/>
          </a:ln>
        </p:spPr>
      </p:sp>
      <p:sp>
        <p:nvSpPr>
          <p:cNvPr id="18" name="Shape 15"/>
          <p:cNvSpPr/>
          <p:nvPr/>
        </p:nvSpPr>
        <p:spPr>
          <a:xfrm>
            <a:off x="8778240" y="1874520"/>
            <a:ext cx="457200" cy="457200"/>
          </a:xfrm>
          <a:prstGeom prst="rect">
            <a:avLst/>
          </a:prstGeom>
          <a:solidFill>
            <a:srgbClr val="E3F1EF"/>
          </a:solidFill>
          <a:ln w="12700">
            <a:solidFill>
              <a:srgbClr val="FFFFFF"/>
            </a:solidFill>
            <a:prstDash val="solid"/>
          </a:ln>
        </p:spPr>
      </p:sp>
      <p:sp>
        <p:nvSpPr>
          <p:cNvPr id="19" name="Shape 16"/>
          <p:cNvSpPr/>
          <p:nvPr/>
        </p:nvSpPr>
        <p:spPr>
          <a:xfrm>
            <a:off x="9235440" y="1874520"/>
            <a:ext cx="457200" cy="457200"/>
          </a:xfrm>
          <a:prstGeom prst="rect">
            <a:avLst/>
          </a:prstGeom>
          <a:solidFill>
            <a:srgbClr val="E3F1EF"/>
          </a:solidFill>
          <a:ln w="12700">
            <a:solidFill>
              <a:srgbClr val="FFFFFF"/>
            </a:solidFill>
            <a:prstDash val="solid"/>
          </a:ln>
        </p:spPr>
      </p:sp>
      <p:sp>
        <p:nvSpPr>
          <p:cNvPr id="20" name="Shape 17"/>
          <p:cNvSpPr/>
          <p:nvPr/>
        </p:nvSpPr>
        <p:spPr>
          <a:xfrm>
            <a:off x="9692640" y="1874520"/>
            <a:ext cx="457200" cy="457200"/>
          </a:xfrm>
          <a:prstGeom prst="rect">
            <a:avLst/>
          </a:prstGeom>
          <a:solidFill>
            <a:srgbClr val="E3F1EF"/>
          </a:solidFill>
          <a:ln w="12700">
            <a:solidFill>
              <a:srgbClr val="FFFFFF"/>
            </a:solidFill>
            <a:prstDash val="solid"/>
          </a:ln>
        </p:spPr>
      </p:sp>
      <p:sp>
        <p:nvSpPr>
          <p:cNvPr id="21" name="Shape 18"/>
          <p:cNvSpPr/>
          <p:nvPr/>
        </p:nvSpPr>
        <p:spPr>
          <a:xfrm>
            <a:off x="10149840" y="1874520"/>
            <a:ext cx="457200" cy="457200"/>
          </a:xfrm>
          <a:prstGeom prst="rect">
            <a:avLst/>
          </a:prstGeom>
          <a:solidFill>
            <a:srgbClr val="C0503A"/>
          </a:solidFill>
          <a:ln w="12700">
            <a:solidFill>
              <a:srgbClr val="FFFFFF"/>
            </a:solidFill>
            <a:prstDash val="solid"/>
          </a:ln>
        </p:spPr>
      </p:sp>
      <p:sp>
        <p:nvSpPr>
          <p:cNvPr id="22" name="Shape 19"/>
          <p:cNvSpPr/>
          <p:nvPr/>
        </p:nvSpPr>
        <p:spPr>
          <a:xfrm>
            <a:off x="10607040" y="1874520"/>
            <a:ext cx="457200" cy="457200"/>
          </a:xfrm>
          <a:prstGeom prst="rect">
            <a:avLst/>
          </a:prstGeom>
          <a:solidFill>
            <a:srgbClr val="C0503A"/>
          </a:solidFill>
          <a:ln w="12700">
            <a:solidFill>
              <a:srgbClr val="FFFFFF"/>
            </a:solidFill>
            <a:prstDash val="solid"/>
          </a:ln>
        </p:spPr>
      </p:sp>
      <p:sp>
        <p:nvSpPr>
          <p:cNvPr id="23" name="Shape 20"/>
          <p:cNvSpPr/>
          <p:nvPr/>
        </p:nvSpPr>
        <p:spPr>
          <a:xfrm>
            <a:off x="11064240" y="1874520"/>
            <a:ext cx="457200" cy="457200"/>
          </a:xfrm>
          <a:prstGeom prst="rect">
            <a:avLst/>
          </a:prstGeom>
          <a:solidFill>
            <a:srgbClr val="E3F1EF"/>
          </a:solidFill>
          <a:ln w="12700">
            <a:solidFill>
              <a:srgbClr val="FFFFFF"/>
            </a:solidFill>
            <a:prstDash val="solid"/>
          </a:ln>
        </p:spPr>
      </p:sp>
      <p:sp>
        <p:nvSpPr>
          <p:cNvPr id="24" name="Shape 21"/>
          <p:cNvSpPr/>
          <p:nvPr/>
        </p:nvSpPr>
        <p:spPr>
          <a:xfrm>
            <a:off x="7863840" y="2331720"/>
            <a:ext cx="457200" cy="457200"/>
          </a:xfrm>
          <a:prstGeom prst="rect">
            <a:avLst/>
          </a:prstGeom>
          <a:solidFill>
            <a:srgbClr val="E3F1EF"/>
          </a:solidFill>
          <a:ln w="12700">
            <a:solidFill>
              <a:srgbClr val="FFFFFF"/>
            </a:solidFill>
            <a:prstDash val="solid"/>
          </a:ln>
        </p:spPr>
      </p:sp>
      <p:sp>
        <p:nvSpPr>
          <p:cNvPr id="25" name="Shape 22"/>
          <p:cNvSpPr/>
          <p:nvPr/>
        </p:nvSpPr>
        <p:spPr>
          <a:xfrm>
            <a:off x="8321040" y="2331720"/>
            <a:ext cx="457200" cy="457200"/>
          </a:xfrm>
          <a:prstGeom prst="rect">
            <a:avLst/>
          </a:prstGeom>
          <a:solidFill>
            <a:srgbClr val="E3F1EF"/>
          </a:solidFill>
          <a:ln w="12700">
            <a:solidFill>
              <a:srgbClr val="FFFFFF"/>
            </a:solidFill>
            <a:prstDash val="solid"/>
          </a:ln>
        </p:spPr>
      </p:sp>
      <p:sp>
        <p:nvSpPr>
          <p:cNvPr id="26" name="Shape 23"/>
          <p:cNvSpPr/>
          <p:nvPr/>
        </p:nvSpPr>
        <p:spPr>
          <a:xfrm>
            <a:off x="8778240" y="2331720"/>
            <a:ext cx="457200" cy="457200"/>
          </a:xfrm>
          <a:prstGeom prst="rect">
            <a:avLst/>
          </a:prstGeom>
          <a:solidFill>
            <a:srgbClr val="E3F1EF"/>
          </a:solidFill>
          <a:ln w="12700">
            <a:solidFill>
              <a:srgbClr val="FFFFFF"/>
            </a:solidFill>
            <a:prstDash val="solid"/>
          </a:ln>
        </p:spPr>
      </p:sp>
      <p:sp>
        <p:nvSpPr>
          <p:cNvPr id="27" name="Shape 24"/>
          <p:cNvSpPr/>
          <p:nvPr/>
        </p:nvSpPr>
        <p:spPr>
          <a:xfrm>
            <a:off x="9235440" y="2331720"/>
            <a:ext cx="457200" cy="457200"/>
          </a:xfrm>
          <a:prstGeom prst="rect">
            <a:avLst/>
          </a:prstGeom>
          <a:solidFill>
            <a:srgbClr val="E3F1EF"/>
          </a:solidFill>
          <a:ln w="12700">
            <a:solidFill>
              <a:srgbClr val="FFFFFF"/>
            </a:solidFill>
            <a:prstDash val="solid"/>
          </a:ln>
        </p:spPr>
      </p:sp>
      <p:sp>
        <p:nvSpPr>
          <p:cNvPr id="28" name="Shape 25"/>
          <p:cNvSpPr/>
          <p:nvPr/>
        </p:nvSpPr>
        <p:spPr>
          <a:xfrm>
            <a:off x="9692640" y="2331720"/>
            <a:ext cx="457200" cy="457200"/>
          </a:xfrm>
          <a:prstGeom prst="rect">
            <a:avLst/>
          </a:prstGeom>
          <a:solidFill>
            <a:srgbClr val="C0503A"/>
          </a:solidFill>
          <a:ln w="12700">
            <a:solidFill>
              <a:srgbClr val="FFFFFF"/>
            </a:solidFill>
            <a:prstDash val="solid"/>
          </a:ln>
        </p:spPr>
      </p:sp>
      <p:sp>
        <p:nvSpPr>
          <p:cNvPr id="29" name="Shape 26"/>
          <p:cNvSpPr/>
          <p:nvPr/>
        </p:nvSpPr>
        <p:spPr>
          <a:xfrm>
            <a:off x="10149840" y="2331720"/>
            <a:ext cx="457200" cy="457200"/>
          </a:xfrm>
          <a:prstGeom prst="rect">
            <a:avLst/>
          </a:prstGeom>
          <a:solidFill>
            <a:srgbClr val="C0503A"/>
          </a:solidFill>
          <a:ln w="12700">
            <a:solidFill>
              <a:srgbClr val="FFFFFF"/>
            </a:solidFill>
            <a:prstDash val="solid"/>
          </a:ln>
        </p:spPr>
      </p:sp>
      <p:sp>
        <p:nvSpPr>
          <p:cNvPr id="30" name="Shape 27"/>
          <p:cNvSpPr/>
          <p:nvPr/>
        </p:nvSpPr>
        <p:spPr>
          <a:xfrm>
            <a:off x="10607040" y="2331720"/>
            <a:ext cx="457200" cy="457200"/>
          </a:xfrm>
          <a:prstGeom prst="rect">
            <a:avLst/>
          </a:prstGeom>
          <a:solidFill>
            <a:srgbClr val="C0503A"/>
          </a:solidFill>
          <a:ln w="12700">
            <a:solidFill>
              <a:srgbClr val="FFFFFF"/>
            </a:solidFill>
            <a:prstDash val="solid"/>
          </a:ln>
        </p:spPr>
      </p:sp>
      <p:sp>
        <p:nvSpPr>
          <p:cNvPr id="31" name="Shape 28"/>
          <p:cNvSpPr/>
          <p:nvPr/>
        </p:nvSpPr>
        <p:spPr>
          <a:xfrm>
            <a:off x="11064240" y="2331720"/>
            <a:ext cx="457200" cy="457200"/>
          </a:xfrm>
          <a:prstGeom prst="rect">
            <a:avLst/>
          </a:prstGeom>
          <a:solidFill>
            <a:srgbClr val="E3F1EF"/>
          </a:solidFill>
          <a:ln w="12700">
            <a:solidFill>
              <a:srgbClr val="FFFFFF"/>
            </a:solidFill>
            <a:prstDash val="solid"/>
          </a:ln>
        </p:spPr>
      </p:sp>
      <p:sp>
        <p:nvSpPr>
          <p:cNvPr id="32" name="Shape 29"/>
          <p:cNvSpPr/>
          <p:nvPr/>
        </p:nvSpPr>
        <p:spPr>
          <a:xfrm>
            <a:off x="7863840" y="2788920"/>
            <a:ext cx="457200" cy="457200"/>
          </a:xfrm>
          <a:prstGeom prst="rect">
            <a:avLst/>
          </a:prstGeom>
          <a:solidFill>
            <a:srgbClr val="E3F1EF"/>
          </a:solidFill>
          <a:ln w="12700">
            <a:solidFill>
              <a:srgbClr val="FFFFFF"/>
            </a:solidFill>
            <a:prstDash val="solid"/>
          </a:ln>
        </p:spPr>
      </p:sp>
      <p:sp>
        <p:nvSpPr>
          <p:cNvPr id="33" name="Shape 30"/>
          <p:cNvSpPr/>
          <p:nvPr/>
        </p:nvSpPr>
        <p:spPr>
          <a:xfrm>
            <a:off x="8321040" y="2788920"/>
            <a:ext cx="457200" cy="457200"/>
          </a:xfrm>
          <a:prstGeom prst="rect">
            <a:avLst/>
          </a:prstGeom>
          <a:solidFill>
            <a:srgbClr val="E3F1EF"/>
          </a:solidFill>
          <a:ln w="12700">
            <a:solidFill>
              <a:srgbClr val="FFFFFF"/>
            </a:solidFill>
            <a:prstDash val="solid"/>
          </a:ln>
        </p:spPr>
      </p:sp>
      <p:sp>
        <p:nvSpPr>
          <p:cNvPr id="34" name="Shape 31"/>
          <p:cNvSpPr/>
          <p:nvPr/>
        </p:nvSpPr>
        <p:spPr>
          <a:xfrm>
            <a:off x="8778240" y="2788920"/>
            <a:ext cx="457200" cy="457200"/>
          </a:xfrm>
          <a:prstGeom prst="rect">
            <a:avLst/>
          </a:prstGeom>
          <a:solidFill>
            <a:srgbClr val="E3F1EF"/>
          </a:solidFill>
          <a:ln w="12700">
            <a:solidFill>
              <a:srgbClr val="FFFFFF"/>
            </a:solidFill>
            <a:prstDash val="solid"/>
          </a:ln>
        </p:spPr>
      </p:sp>
      <p:sp>
        <p:nvSpPr>
          <p:cNvPr id="35" name="Shape 32"/>
          <p:cNvSpPr/>
          <p:nvPr/>
        </p:nvSpPr>
        <p:spPr>
          <a:xfrm>
            <a:off x="9235440" y="2788920"/>
            <a:ext cx="457200" cy="457200"/>
          </a:xfrm>
          <a:prstGeom prst="rect">
            <a:avLst/>
          </a:prstGeom>
          <a:solidFill>
            <a:srgbClr val="E3F1EF"/>
          </a:solidFill>
          <a:ln w="12700">
            <a:solidFill>
              <a:srgbClr val="FFFFFF"/>
            </a:solidFill>
            <a:prstDash val="solid"/>
          </a:ln>
        </p:spPr>
      </p:sp>
      <p:sp>
        <p:nvSpPr>
          <p:cNvPr id="36" name="Shape 33"/>
          <p:cNvSpPr/>
          <p:nvPr/>
        </p:nvSpPr>
        <p:spPr>
          <a:xfrm>
            <a:off x="9692640" y="2788920"/>
            <a:ext cx="457200" cy="457200"/>
          </a:xfrm>
          <a:prstGeom prst="rect">
            <a:avLst/>
          </a:prstGeom>
          <a:solidFill>
            <a:srgbClr val="E3F1EF"/>
          </a:solidFill>
          <a:ln w="12700">
            <a:solidFill>
              <a:srgbClr val="FFFFFF"/>
            </a:solidFill>
            <a:prstDash val="solid"/>
          </a:ln>
        </p:spPr>
      </p:sp>
      <p:sp>
        <p:nvSpPr>
          <p:cNvPr id="37" name="Shape 34"/>
          <p:cNvSpPr/>
          <p:nvPr/>
        </p:nvSpPr>
        <p:spPr>
          <a:xfrm>
            <a:off x="10149840" y="2788920"/>
            <a:ext cx="457200" cy="457200"/>
          </a:xfrm>
          <a:prstGeom prst="rect">
            <a:avLst/>
          </a:prstGeom>
          <a:solidFill>
            <a:srgbClr val="C0503A"/>
          </a:solidFill>
          <a:ln w="12700">
            <a:solidFill>
              <a:srgbClr val="FFFFFF"/>
            </a:solidFill>
            <a:prstDash val="solid"/>
          </a:ln>
        </p:spPr>
      </p:sp>
      <p:sp>
        <p:nvSpPr>
          <p:cNvPr id="38" name="Shape 35"/>
          <p:cNvSpPr/>
          <p:nvPr/>
        </p:nvSpPr>
        <p:spPr>
          <a:xfrm>
            <a:off x="10607040" y="2788920"/>
            <a:ext cx="457200" cy="457200"/>
          </a:xfrm>
          <a:prstGeom prst="rect">
            <a:avLst/>
          </a:prstGeom>
          <a:solidFill>
            <a:srgbClr val="E3F1EF"/>
          </a:solidFill>
          <a:ln w="12700">
            <a:solidFill>
              <a:srgbClr val="FFFFFF"/>
            </a:solidFill>
            <a:prstDash val="solid"/>
          </a:ln>
        </p:spPr>
      </p:sp>
      <p:sp>
        <p:nvSpPr>
          <p:cNvPr id="39" name="Shape 36"/>
          <p:cNvSpPr/>
          <p:nvPr/>
        </p:nvSpPr>
        <p:spPr>
          <a:xfrm>
            <a:off x="11064240" y="2788920"/>
            <a:ext cx="457200" cy="457200"/>
          </a:xfrm>
          <a:prstGeom prst="rect">
            <a:avLst/>
          </a:prstGeom>
          <a:solidFill>
            <a:srgbClr val="E3F1EF"/>
          </a:solidFill>
          <a:ln w="12700">
            <a:solidFill>
              <a:srgbClr val="FFFFFF"/>
            </a:solidFill>
            <a:prstDash val="solid"/>
          </a:ln>
        </p:spPr>
      </p:sp>
      <p:sp>
        <p:nvSpPr>
          <p:cNvPr id="40" name="Shape 37"/>
          <p:cNvSpPr/>
          <p:nvPr/>
        </p:nvSpPr>
        <p:spPr>
          <a:xfrm>
            <a:off x="7863840" y="3246120"/>
            <a:ext cx="457200" cy="457200"/>
          </a:xfrm>
          <a:prstGeom prst="rect">
            <a:avLst/>
          </a:prstGeom>
          <a:solidFill>
            <a:srgbClr val="E3F1EF"/>
          </a:solidFill>
          <a:ln w="12700">
            <a:solidFill>
              <a:srgbClr val="FFFFFF"/>
            </a:solidFill>
            <a:prstDash val="solid"/>
          </a:ln>
        </p:spPr>
      </p:sp>
      <p:sp>
        <p:nvSpPr>
          <p:cNvPr id="41" name="Shape 38"/>
          <p:cNvSpPr/>
          <p:nvPr/>
        </p:nvSpPr>
        <p:spPr>
          <a:xfrm>
            <a:off x="8321040" y="3246120"/>
            <a:ext cx="457200" cy="457200"/>
          </a:xfrm>
          <a:prstGeom prst="rect">
            <a:avLst/>
          </a:prstGeom>
          <a:solidFill>
            <a:srgbClr val="E3F1EF"/>
          </a:solidFill>
          <a:ln w="12700">
            <a:solidFill>
              <a:srgbClr val="FFFFFF"/>
            </a:solidFill>
            <a:prstDash val="solid"/>
          </a:ln>
        </p:spPr>
      </p:sp>
      <p:sp>
        <p:nvSpPr>
          <p:cNvPr id="42" name="Shape 39"/>
          <p:cNvSpPr/>
          <p:nvPr/>
        </p:nvSpPr>
        <p:spPr>
          <a:xfrm>
            <a:off x="8778240" y="3246120"/>
            <a:ext cx="457200" cy="457200"/>
          </a:xfrm>
          <a:prstGeom prst="rect">
            <a:avLst/>
          </a:prstGeom>
          <a:solidFill>
            <a:srgbClr val="E3F1EF"/>
          </a:solidFill>
          <a:ln w="12700">
            <a:solidFill>
              <a:srgbClr val="FFFFFF"/>
            </a:solidFill>
            <a:prstDash val="solid"/>
          </a:ln>
        </p:spPr>
      </p:sp>
      <p:sp>
        <p:nvSpPr>
          <p:cNvPr id="43" name="Shape 40"/>
          <p:cNvSpPr/>
          <p:nvPr/>
        </p:nvSpPr>
        <p:spPr>
          <a:xfrm>
            <a:off x="9235440" y="3246120"/>
            <a:ext cx="457200" cy="457200"/>
          </a:xfrm>
          <a:prstGeom prst="rect">
            <a:avLst/>
          </a:prstGeom>
          <a:solidFill>
            <a:srgbClr val="E3F1EF"/>
          </a:solidFill>
          <a:ln w="12700">
            <a:solidFill>
              <a:srgbClr val="FFFFFF"/>
            </a:solidFill>
            <a:prstDash val="solid"/>
          </a:ln>
        </p:spPr>
      </p:sp>
      <p:sp>
        <p:nvSpPr>
          <p:cNvPr id="44" name="Shape 41"/>
          <p:cNvSpPr/>
          <p:nvPr/>
        </p:nvSpPr>
        <p:spPr>
          <a:xfrm>
            <a:off x="9692640" y="3246120"/>
            <a:ext cx="457200" cy="457200"/>
          </a:xfrm>
          <a:prstGeom prst="rect">
            <a:avLst/>
          </a:prstGeom>
          <a:solidFill>
            <a:srgbClr val="E3F1EF"/>
          </a:solidFill>
          <a:ln w="12700">
            <a:solidFill>
              <a:srgbClr val="FFFFFF"/>
            </a:solidFill>
            <a:prstDash val="solid"/>
          </a:ln>
        </p:spPr>
      </p:sp>
      <p:sp>
        <p:nvSpPr>
          <p:cNvPr id="45" name="Shape 42"/>
          <p:cNvSpPr/>
          <p:nvPr/>
        </p:nvSpPr>
        <p:spPr>
          <a:xfrm>
            <a:off x="10149840" y="3246120"/>
            <a:ext cx="457200" cy="457200"/>
          </a:xfrm>
          <a:prstGeom prst="rect">
            <a:avLst/>
          </a:prstGeom>
          <a:solidFill>
            <a:srgbClr val="E3F1EF"/>
          </a:solidFill>
          <a:ln w="12700">
            <a:solidFill>
              <a:srgbClr val="FFFFFF"/>
            </a:solidFill>
            <a:prstDash val="solid"/>
          </a:ln>
        </p:spPr>
      </p:sp>
      <p:sp>
        <p:nvSpPr>
          <p:cNvPr id="46" name="Shape 43"/>
          <p:cNvSpPr/>
          <p:nvPr/>
        </p:nvSpPr>
        <p:spPr>
          <a:xfrm>
            <a:off x="10607040" y="3246120"/>
            <a:ext cx="457200" cy="457200"/>
          </a:xfrm>
          <a:prstGeom prst="rect">
            <a:avLst/>
          </a:prstGeom>
          <a:solidFill>
            <a:srgbClr val="E3F1EF"/>
          </a:solidFill>
          <a:ln w="12700">
            <a:solidFill>
              <a:srgbClr val="FFFFFF"/>
            </a:solidFill>
            <a:prstDash val="solid"/>
          </a:ln>
        </p:spPr>
      </p:sp>
      <p:sp>
        <p:nvSpPr>
          <p:cNvPr id="47" name="Shape 44"/>
          <p:cNvSpPr/>
          <p:nvPr/>
        </p:nvSpPr>
        <p:spPr>
          <a:xfrm>
            <a:off x="11064240" y="3246120"/>
            <a:ext cx="457200" cy="457200"/>
          </a:xfrm>
          <a:prstGeom prst="rect">
            <a:avLst/>
          </a:prstGeom>
          <a:solidFill>
            <a:srgbClr val="E3F1EF"/>
          </a:solidFill>
          <a:ln w="12700">
            <a:solidFill>
              <a:srgbClr val="FFFFFF"/>
            </a:solidFill>
            <a:prstDash val="solid"/>
          </a:ln>
        </p:spPr>
      </p:sp>
      <p:sp>
        <p:nvSpPr>
          <p:cNvPr id="48" name="Text 45"/>
          <p:cNvSpPr txBox="1"/>
          <p:nvPr/>
        </p:nvSpPr>
        <p:spPr>
          <a:xfrm>
            <a:off x="7863840" y="3749040"/>
            <a:ext cx="3657600" cy="320040"/>
          </a:xfrm>
          <a:prstGeom prst="rect">
            <a:avLst/>
          </a:prstGeom>
          <a:noFill/>
          <a:ln/>
        </p:spPr>
        <p:txBody>
          <a:bodyPr wrap="square" lIns="0" tIns="0" rIns="0" bIns="0" rtlCol="0" anchor="t"/>
          <a:lstStyle/>
          <a:p>
            <a:pPr indent="0" marL="0">
              <a:buNone/>
            </a:pPr>
            <a:r>
              <a:rPr lang="en-US" sz="1150" dirty="0">
                <a:solidFill>
                  <a:schemeClr val="tx2"/>
                </a:solidFill>
              </a:rPr>
              <a:t>Example: Gi* hotspot cells (FDR q &lt; 0.05) in red</a:t>
            </a:r>
            <a:endParaRPr lang="en-US" sz="1150" dirty="0"/>
          </a:p>
        </p:txBody>
      </p:sp>
      <p:sp>
        <p:nvSpPr>
          <p:cNvPr id="49" name="Shape 46"/>
          <p:cNvSpPr/>
          <p:nvPr/>
        </p:nvSpPr>
        <p:spPr>
          <a:xfrm>
            <a:off x="7863840" y="4160520"/>
            <a:ext cx="3867912" cy="1737360"/>
          </a:xfrm>
          <a:prstGeom prst="roundRect">
            <a:avLst>
              <a:gd name="adj" fmla="val 4211"/>
            </a:avLst>
          </a:prstGeom>
          <a:solidFill>
            <a:schemeClr val="bg2"/>
          </a:solidFill>
          <a:ln/>
        </p:spPr>
      </p:sp>
      <p:sp>
        <p:nvSpPr>
          <p:cNvPr id="50" name="Shape 47"/>
          <p:cNvSpPr/>
          <p:nvPr/>
        </p:nvSpPr>
        <p:spPr>
          <a:xfrm>
            <a:off x="7863840" y="4288536"/>
            <a:ext cx="64008" cy="384048"/>
          </a:xfrm>
          <a:prstGeom prst="rect">
            <a:avLst/>
          </a:prstGeom>
          <a:solidFill>
            <a:schemeClr val="accent4"/>
          </a:solidFill>
          <a:ln/>
        </p:spPr>
      </p:sp>
      <p:sp>
        <p:nvSpPr>
          <p:cNvPr id="51" name="Text 48"/>
          <p:cNvSpPr txBox="1"/>
          <p:nvPr/>
        </p:nvSpPr>
        <p:spPr>
          <a:xfrm>
            <a:off x="8065008" y="4270248"/>
            <a:ext cx="3547872" cy="420624"/>
          </a:xfrm>
          <a:prstGeom prst="rect">
            <a:avLst/>
          </a:prstGeom>
          <a:noFill/>
          <a:ln/>
        </p:spPr>
        <p:txBody>
          <a:bodyPr wrap="square" lIns="0" tIns="0" rIns="0" bIns="0" rtlCol="0" anchor="ctr"/>
          <a:lstStyle/>
          <a:p>
            <a:pPr indent="0" marL="0">
              <a:buNone/>
            </a:pPr>
            <a:r>
              <a:rPr lang="en-US" sz="1500" b="1" dirty="0">
                <a:solidFill>
                  <a:schemeClr val="tx1"/>
                </a:solidFill>
              </a:rPr>
              <a:t>Multiple testing</a:t>
            </a:r>
            <a:endParaRPr lang="en-US" sz="1500" dirty="0"/>
          </a:p>
        </p:txBody>
      </p:sp>
      <p:sp>
        <p:nvSpPr>
          <p:cNvPr id="52" name="Text 49"/>
          <p:cNvSpPr txBox="1"/>
          <p:nvPr/>
        </p:nvSpPr>
        <p:spPr>
          <a:xfrm>
            <a:off x="8065008" y="4764024"/>
            <a:ext cx="3502152" cy="1005840"/>
          </a:xfrm>
          <a:prstGeom prst="rect">
            <a:avLst/>
          </a:prstGeom>
          <a:noFill/>
          <a:ln/>
        </p:spPr>
        <p:txBody>
          <a:bodyPr wrap="square" lIns="0" tIns="0" rIns="0" bIns="0" rtlCol="0" anchor="t"/>
          <a:lstStyle/>
          <a:p>
            <a:pPr indent="0" marL="0">
              <a:buNone/>
            </a:pPr>
            <a:r>
              <a:rPr lang="en-US" sz="1200" dirty="0">
                <a:solidFill>
                  <a:schemeClr val="tx1"/>
                </a:solidFill>
              </a:rPr>
              <a:t>40–170 local tests per plot → control with Benjamini–Hochberg FDR (q &lt; 0.05); permutation pseudo-p from 999 conditional randomisations.</a:t>
            </a:r>
            <a:endParaRPr lang="en-US" sz="1200" dirty="0"/>
          </a:p>
        </p:txBody>
      </p:sp>
      <p:sp>
        <p:nvSpPr>
          <p:cNvPr id="53" name="Text 50"/>
          <p:cNvSpPr txBox="1"/>
          <p:nvPr/>
        </p:nvSpPr>
        <p:spPr>
          <a:xfrm>
            <a:off x="457200" y="6035040"/>
            <a:ext cx="11247120" cy="310896"/>
          </a:xfrm>
          <a:prstGeom prst="rect">
            <a:avLst/>
          </a:prstGeom>
          <a:noFill/>
          <a:ln/>
        </p:spPr>
        <p:txBody>
          <a:bodyPr wrap="square" lIns="0" tIns="0" rIns="0" bIns="0" rtlCol="0" anchor="b"/>
          <a:lstStyle/>
          <a:p>
            <a:pPr indent="0" marL="0">
              <a:buNone/>
            </a:pPr>
            <a:r>
              <a:rPr lang="en-US" sz="1000" i="1" dirty="0">
                <a:solidFill>
                  <a:schemeClr val="tx2"/>
                </a:solidFill>
              </a:rPr>
              <a:t>Getis &amp; Ord (1992); Ord &amp; Getis (1995); Anselin (1995); Benjamini &amp; Hochberg (1995); Caldas de Castro &amp; Singer (2006) FDR for local spatial statistics.</a:t>
            </a:r>
            <a:endParaRPr lang="en-US" sz="1000" dirty="0"/>
          </a:p>
        </p:txBody>
      </p:sp>
      <p:sp>
        <p:nvSpPr>
          <p:cNvPr id="25" name="Slide Number Placeholder 0"/>
          <p:cNvSpPr>
            <a:spLocks noGrp="1"/>
          </p:cNvSpPr>
          <p:nvPr>
            <p:ph type="sldNum" sz="quarter" idx="4294967295"/>
          </p:nvPr>
        </p:nvSpPr>
        <p:spPr>
          <a:xfrm>
            <a:off x="11247120" y="644652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384048"/>
            <a:ext cx="11247120" cy="640080"/>
          </a:xfrm>
          <a:prstGeom prst="rect">
            <a:avLst/>
          </a:prstGeom>
          <a:noFill/>
          <a:ln/>
        </p:spPr>
        <p:txBody>
          <a:bodyPr wrap="square" lIns="0" tIns="0" rIns="0" bIns="0" rtlCol="0" anchor="ctr"/>
          <a:lstStyle/>
          <a:p>
            <a:pPr algn="l" indent="0" marL="0">
              <a:buNone/>
            </a:pPr>
            <a:r>
              <a:rPr lang="en-US" sz="2600" b="1" dirty="0">
                <a:solidFill>
                  <a:schemeClr val="tx1"/>
                </a:solidFill>
              </a:rPr>
              <a:t>A5 · Hotspot metrics, patch size and temporal spread</a:t>
            </a:r>
            <a:endParaRPr lang="en-US" sz="2600" dirty="0"/>
          </a:p>
        </p:txBody>
      </p:sp>
      <p:sp>
        <p:nvSpPr>
          <p:cNvPr id="3" name="Text 1"/>
          <p:cNvSpPr txBox="1"/>
          <p:nvPr/>
        </p:nvSpPr>
        <p:spPr>
          <a:xfrm>
            <a:off x="457200" y="164592"/>
            <a:ext cx="7315200" cy="237744"/>
          </a:xfrm>
          <a:prstGeom prst="rect">
            <a:avLst/>
          </a:prstGeom>
          <a:noFill/>
          <a:ln/>
        </p:spPr>
        <p:txBody>
          <a:bodyPr wrap="square" lIns="0" tIns="0" rIns="0" bIns="0" rtlCol="0" anchor="t"/>
          <a:lstStyle/>
          <a:p>
            <a:pPr indent="0" marL="0">
              <a:buNone/>
            </a:pPr>
            <a:r>
              <a:rPr lang="en-US" sz="1100" b="1" spc="200" kern="0" dirty="0">
                <a:solidFill>
                  <a:schemeClr val="accent1"/>
                </a:solidFill>
              </a:rPr>
              <a:t>PART A · STEP A5</a:t>
            </a:r>
            <a:endParaRPr lang="en-US" sz="11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6949440" cy="914400"/>
        </p:xfrm>
        <a:graphic>
          <a:graphicData uri="http://schemas.openxmlformats.org/drawingml/2006/table">
            <a:tbl>
              <a:tblPr/>
              <a:tblGrid>
                <a:gridCol w="1920240"/>
                <a:gridCol w="2743200"/>
                <a:gridCol w="2286000"/>
              </a:tblGrid>
              <a:tr h="0">
                <a:tc>
                  <a:txBody>
                    <a:bodyPr/>
                    <a:lstStyle/>
                    <a:p>
                      <a:pPr indent="0" marL="0">
                        <a:buNone/>
                      </a:pPr>
                      <a:r>
                        <a:rPr lang="en-US" sz="1200" b="1" dirty="0">
                          <a:solidFill>
                            <a:schemeClr val="bg1"/>
                          </a:solidFill>
                        </a:rPr>
                        <a:t>Metric</a:t>
                      </a:r>
                      <a:endParaRPr lang="en-US" sz="120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Definition</a:t>
                      </a:r>
                      <a:endParaRPr lang="en-US" sz="120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Why</a:t>
                      </a:r>
                      <a:endParaRPr lang="en-US" sz="120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solidFill>
                      <a:schemeClr val="tx2"/>
                    </a:solidFill>
                  </a:tcPr>
                </a:tc>
              </a:tr>
              <a:tr h="0">
                <a:tc>
                  <a:txBody>
                    <a:bodyPr/>
                    <a:lstStyle/>
                    <a:p>
                      <a:pPr indent="0" marL="0">
                        <a:buNone/>
                      </a:pPr>
                      <a:r>
                        <a:rPr lang="en-US" sz="1200" dirty="0">
                          <a:solidFill>
                            <a:schemeClr val="tx1"/>
                          </a:solidFill>
                        </a:rPr>
                        <a:t>Hotspot area (%)</a:t>
                      </a:r>
                      <a:endParaRPr lang="en-US" sz="120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200" dirty="0">
                          <a:solidFill>
                            <a:schemeClr val="tx1"/>
                          </a:solidFill>
                        </a:rPr>
                        <a:t>Hotspot cells ÷ canopy cells × 100</a:t>
                      </a:r>
                      <a:endParaRPr lang="en-US" sz="120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200" dirty="0">
                          <a:solidFill>
                            <a:schemeClr val="tx1"/>
                          </a:solidFill>
                        </a:rPr>
                        <a:t>Extent of concentrated disease</a:t>
                      </a:r>
                      <a:endParaRPr lang="en-US" sz="120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r>
              <a:tr h="0">
                <a:tc>
                  <a:txBody>
                    <a:bodyPr/>
                    <a:lstStyle/>
                    <a:p>
                      <a:pPr indent="0" marL="0">
                        <a:buNone/>
                      </a:pPr>
                      <a:r>
                        <a:rPr lang="en-US" sz="1200" dirty="0">
                          <a:solidFill>
                            <a:schemeClr val="tx1"/>
                          </a:solidFill>
                        </a:rPr>
                        <a:t>Number of hotspots</a:t>
                      </a:r>
                      <a:endParaRPr lang="en-US" sz="120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200" dirty="0">
                          <a:solidFill>
                            <a:schemeClr val="tx1"/>
                          </a:solidFill>
                        </a:rPr>
                        <a:t>Connected groups of hotspot cells</a:t>
                      </a:r>
                      <a:endParaRPr lang="en-US" sz="120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200" dirty="0">
                          <a:solidFill>
                            <a:schemeClr val="tx1"/>
                          </a:solidFill>
                        </a:rPr>
                        <a:t>Single focus vs many foci</a:t>
                      </a:r>
                      <a:endParaRPr lang="en-US" sz="120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r>
              <a:tr h="0">
                <a:tc>
                  <a:txBody>
                    <a:bodyPr/>
                    <a:lstStyle/>
                    <a:p>
                      <a:pPr indent="0" marL="0">
                        <a:buNone/>
                      </a:pPr>
                      <a:r>
                        <a:rPr lang="en-US" sz="1200" dirty="0">
                          <a:solidFill>
                            <a:schemeClr val="tx1"/>
                          </a:solidFill>
                        </a:rPr>
                        <a:t>Centroid &amp; distance</a:t>
                      </a:r>
                      <a:endParaRPr lang="en-US" sz="120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200" dirty="0">
                          <a:solidFill>
                            <a:schemeClr val="tx1"/>
                          </a:solidFill>
                        </a:rPr>
                        <a:t>Distance to inoculation point, edge, channel</a:t>
                      </a:r>
                      <a:endParaRPr lang="en-US" sz="120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200" dirty="0">
                          <a:solidFill>
                            <a:schemeClr val="tx1"/>
                          </a:solidFill>
                        </a:rPr>
                        <a:t>Link to inoculum, wind, moisture</a:t>
                      </a:r>
                      <a:endParaRPr lang="en-US" sz="120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r>
              <a:tr h="0">
                <a:tc>
                  <a:txBody>
                    <a:bodyPr/>
                    <a:lstStyle/>
                    <a:p>
                      <a:pPr indent="0" marL="0">
                        <a:buNone/>
                      </a:pPr>
                      <a:r>
                        <a:rPr lang="en-US" sz="1200" dirty="0">
                          <a:solidFill>
                            <a:schemeClr val="tx1"/>
                          </a:solidFill>
                        </a:rPr>
                        <a:t>Semivariogram range</a:t>
                      </a:r>
                      <a:endParaRPr lang="en-US" sz="120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200" dirty="0">
                          <a:solidFill>
                            <a:schemeClr val="tx1"/>
                          </a:solidFill>
                        </a:rPr>
                        <a:t>Lag where γ(h) levels off</a:t>
                      </a:r>
                      <a:endParaRPr lang="en-US" sz="120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200" dirty="0">
                          <a:solidFill>
                            <a:schemeClr val="tx1"/>
                          </a:solidFill>
                        </a:rPr>
                        <a:t>Typical patch size of disease</a:t>
                      </a:r>
                      <a:endParaRPr lang="en-US" sz="120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r>
              <a:tr h="0">
                <a:tc>
                  <a:txBody>
                    <a:bodyPr/>
                    <a:lstStyle/>
                    <a:p>
                      <a:pPr indent="0" marL="0">
                        <a:buNone/>
                      </a:pPr>
                      <a:r>
                        <a:rPr lang="en-US" sz="1200" dirty="0">
                          <a:solidFill>
                            <a:schemeClr val="tx1"/>
                          </a:solidFill>
                        </a:rPr>
                        <a:t>Change over dates</a:t>
                      </a:r>
                      <a:endParaRPr lang="en-US" sz="120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200" dirty="0">
                          <a:solidFill>
                            <a:schemeClr val="tx1"/>
                          </a:solidFill>
                        </a:rPr>
                        <a:t>Δ area, centroid shift D1→D4</a:t>
                      </a:r>
                      <a:endParaRPr lang="en-US" sz="120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200" dirty="0">
                          <a:solidFill>
                            <a:schemeClr val="tx1"/>
                          </a:solidFill>
                        </a:rPr>
                        <a:t>Focal expansion vs uniform infection</a:t>
                      </a:r>
                      <a:endParaRPr lang="en-US" sz="120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r>
            </a:tbl>
          </a:graphicData>
        </a:graphic>
      </p:graphicFrame>
      <p:sp>
        <p:nvSpPr>
          <p:cNvPr id="5" name="Shape 2"/>
          <p:cNvSpPr/>
          <p:nvPr/>
        </p:nvSpPr>
        <p:spPr>
          <a:xfrm>
            <a:off x="7680960" y="1325880"/>
            <a:ext cx="4050792" cy="914400"/>
          </a:xfrm>
          <a:prstGeom prst="roundRect">
            <a:avLst>
              <a:gd name="adj" fmla="val 8000"/>
            </a:avLst>
          </a:prstGeom>
          <a:solidFill>
            <a:schemeClr val="bg1"/>
          </a:solidFill>
          <a:ln w="15875">
            <a:solidFill>
              <a:schemeClr val="accent1"/>
            </a:solidFill>
            <a:prstDash val="solid"/>
          </a:ln>
        </p:spPr>
      </p:sp>
      <p:sp>
        <p:nvSpPr>
          <p:cNvPr id="6" name="Text 3"/>
          <p:cNvSpPr txBox="1"/>
          <p:nvPr/>
        </p:nvSpPr>
        <p:spPr>
          <a:xfrm>
            <a:off x="7863840" y="1325880"/>
            <a:ext cx="3685032" cy="914400"/>
          </a:xfrm>
          <a:prstGeom prst="rect">
            <a:avLst/>
          </a:prstGeom>
          <a:noFill/>
          <a:ln/>
        </p:spPr>
        <p:txBody>
          <a:bodyPr wrap="square" lIns="0" tIns="0" rIns="0" bIns="0" rtlCol="0" anchor="ctr"/>
          <a:lstStyle/>
          <a:p>
            <a:pPr algn="ctr" indent="0" marL="0">
              <a:buNone/>
            </a:pPr>
            <a:r>
              <a:rPr lang="en-US" sz="1500" dirty="0">
                <a:solidFill>
                  <a:schemeClr val="tx1"/>
                </a:solidFill>
                <a:latin typeface="Cambria Math" pitchFamily="34" charset="0"/>
                <a:ea typeface="Cambria Math" pitchFamily="34" charset="-122"/>
                <a:cs typeface="Cambria Math" pitchFamily="34" charset="-120"/>
              </a:rPr>
              <a:t>γ(h) = 1 / [2N(h)] · Σ [z(xᵢ) − z(xᵢ + h)]²</a:t>
            </a:r>
            <a:endParaRPr lang="en-US" sz="1500" dirty="0"/>
          </a:p>
        </p:txBody>
      </p:sp>
      <p:sp>
        <p:nvSpPr>
          <p:cNvPr id="7" name="Shape 4"/>
          <p:cNvSpPr/>
          <p:nvPr/>
        </p:nvSpPr>
        <p:spPr>
          <a:xfrm>
            <a:off x="7680960" y="2423160"/>
            <a:ext cx="4050792" cy="3474720"/>
          </a:xfrm>
          <a:prstGeom prst="roundRect">
            <a:avLst>
              <a:gd name="adj" fmla="val 2105"/>
            </a:avLst>
          </a:prstGeom>
          <a:solidFill>
            <a:schemeClr val="bg2"/>
          </a:solidFill>
          <a:ln/>
        </p:spPr>
      </p:sp>
      <p:sp>
        <p:nvSpPr>
          <p:cNvPr id="8" name="Shape 5"/>
          <p:cNvSpPr/>
          <p:nvPr/>
        </p:nvSpPr>
        <p:spPr>
          <a:xfrm>
            <a:off x="7680960" y="2551176"/>
            <a:ext cx="64008" cy="384048"/>
          </a:xfrm>
          <a:prstGeom prst="rect">
            <a:avLst/>
          </a:prstGeom>
          <a:solidFill>
            <a:schemeClr val="accent2"/>
          </a:solidFill>
          <a:ln/>
        </p:spPr>
      </p:sp>
      <p:sp>
        <p:nvSpPr>
          <p:cNvPr id="9" name="Text 6"/>
          <p:cNvSpPr txBox="1"/>
          <p:nvPr/>
        </p:nvSpPr>
        <p:spPr>
          <a:xfrm>
            <a:off x="7882128" y="2532888"/>
            <a:ext cx="3730752" cy="420624"/>
          </a:xfrm>
          <a:prstGeom prst="rect">
            <a:avLst/>
          </a:prstGeom>
          <a:noFill/>
          <a:ln/>
        </p:spPr>
        <p:txBody>
          <a:bodyPr wrap="square" lIns="0" tIns="0" rIns="0" bIns="0" rtlCol="0" anchor="ctr"/>
          <a:lstStyle/>
          <a:p>
            <a:pPr indent="0" marL="0">
              <a:buNone/>
            </a:pPr>
            <a:r>
              <a:rPr lang="en-US" sz="1500" b="1" dirty="0">
                <a:solidFill>
                  <a:schemeClr val="tx1"/>
                </a:solidFill>
              </a:rPr>
              <a:t>Field scale too</a:t>
            </a:r>
            <a:endParaRPr lang="en-US" sz="1500" dirty="0"/>
          </a:p>
        </p:txBody>
      </p:sp>
      <p:sp>
        <p:nvSpPr>
          <p:cNvPr id="10" name="Text 7"/>
          <p:cNvSpPr txBox="1"/>
          <p:nvPr/>
        </p:nvSpPr>
        <p:spPr>
          <a:xfrm>
            <a:off x="7882128" y="3026664"/>
            <a:ext cx="3685032" cy="2743200"/>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chemeClr val="tx1"/>
                </a:solidFill>
              </a:rPr>
              <a:t>Moran's I of plot-level DI across the 48 plots (12 × 4 layout)</a:t>
            </a:r>
            <a:endParaRPr lang="en-US" sz="1250" dirty="0"/>
          </a:p>
          <a:p>
            <a:pPr marL="177800" indent="-177800">
              <a:spcAft>
                <a:spcPts val="500"/>
              </a:spcAft>
              <a:buSzPct val="100000"/>
              <a:buChar char="•"/>
            </a:pPr>
            <a:r>
              <a:rPr lang="en-US" sz="1200" dirty="0">
                <a:solidFill>
                  <a:schemeClr val="tx1"/>
                </a:solidFill>
              </a:rPr>
              <a:t>Shows whether neighbouring plots are infected together (spread between plots)</a:t>
            </a:r>
            <a:endParaRPr lang="en-US" sz="1250" dirty="0"/>
          </a:p>
          <a:p>
            <a:pPr marL="177800" indent="-177800">
              <a:spcAft>
                <a:spcPts val="500"/>
              </a:spcAft>
              <a:buSzPct val="100000"/>
              <a:buChar char="•"/>
            </a:pPr>
            <a:r>
              <a:rPr lang="en-US" sz="1200" dirty="0">
                <a:solidFill>
                  <a:schemeClr val="tx1"/>
                </a:solidFill>
              </a:rPr>
              <a:t>Interpret with wind direction, inoculum position and buffer strips</a:t>
            </a:r>
            <a:endParaRPr lang="en-US" sz="1250" dirty="0"/>
          </a:p>
          <a:p>
            <a:pPr marL="177800" indent="-177800">
              <a:spcAft>
                <a:spcPts val="500"/>
              </a:spcAft>
              <a:buSzPct val="100000"/>
              <a:buChar char="•"/>
            </a:pPr>
            <a:r>
              <a:rPr lang="en-US" sz="1200" dirty="0">
                <a:solidFill>
                  <a:schemeClr val="tx1"/>
                </a:solidFill>
              </a:rPr>
              <a:t>Same statistic on model residuals checks spatial bias of predictions</a:t>
            </a:r>
            <a:endParaRPr lang="en-US" sz="1250" dirty="0"/>
          </a:p>
        </p:txBody>
      </p:sp>
      <p:sp>
        <p:nvSpPr>
          <p:cNvPr id="11" name="Text 8"/>
          <p:cNvSpPr txBox="1"/>
          <p:nvPr/>
        </p:nvSpPr>
        <p:spPr>
          <a:xfrm>
            <a:off x="457200" y="6035040"/>
            <a:ext cx="11247120" cy="310896"/>
          </a:xfrm>
          <a:prstGeom prst="rect">
            <a:avLst/>
          </a:prstGeom>
          <a:noFill/>
          <a:ln/>
        </p:spPr>
        <p:txBody>
          <a:bodyPr wrap="square" lIns="0" tIns="0" rIns="0" bIns="0" rtlCol="0" anchor="b"/>
          <a:lstStyle/>
          <a:p>
            <a:pPr indent="0" marL="0">
              <a:buNone/>
            </a:pPr>
            <a:r>
              <a:rPr lang="en-US" sz="1000" i="1" dirty="0">
                <a:solidFill>
                  <a:schemeClr val="tx2"/>
                </a:solidFill>
              </a:rPr>
              <a:t>Webster &amp; Oliver (2007) geostatistics; Madden, Hughes &amp; van den Bosch (2007) spatial pattern of plant disease epidemics; Maimaitijiang et al. (2020) Moran's I of residuals.</a:t>
            </a:r>
            <a:endParaRPr lang="en-US" sz="1000" dirty="0"/>
          </a:p>
        </p:txBody>
      </p:sp>
      <p:sp>
        <p:nvSpPr>
          <p:cNvPr id="25" name="Slide Number Placeholder 0"/>
          <p:cNvSpPr>
            <a:spLocks noGrp="1"/>
          </p:cNvSpPr>
          <p:nvPr>
            <p:ph type="sldNum" sz="quarter" idx="4294967295"/>
          </p:nvPr>
        </p:nvSpPr>
        <p:spPr>
          <a:xfrm>
            <a:off x="11247120" y="644652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384048"/>
            <a:ext cx="11247120" cy="640080"/>
          </a:xfrm>
          <a:prstGeom prst="rect">
            <a:avLst/>
          </a:prstGeom>
          <a:noFill/>
          <a:ln/>
        </p:spPr>
        <p:txBody>
          <a:bodyPr wrap="square" lIns="0" tIns="0" rIns="0" bIns="0" rtlCol="0" anchor="ctr"/>
          <a:lstStyle/>
          <a:p>
            <a:pPr algn="l" indent="0" marL="0">
              <a:buNone/>
            </a:pPr>
            <a:r>
              <a:rPr lang="en-US" sz="2600" b="1" dirty="0">
                <a:solidFill>
                  <a:schemeClr val="tx1"/>
                </a:solidFill>
              </a:rPr>
              <a:t>A6 · Validating hotspots against field observations</a:t>
            </a:r>
            <a:endParaRPr lang="en-US" sz="2600" dirty="0"/>
          </a:p>
        </p:txBody>
      </p:sp>
      <p:sp>
        <p:nvSpPr>
          <p:cNvPr id="3" name="Text 1"/>
          <p:cNvSpPr txBox="1"/>
          <p:nvPr/>
        </p:nvSpPr>
        <p:spPr>
          <a:xfrm>
            <a:off x="457200" y="164592"/>
            <a:ext cx="7315200" cy="237744"/>
          </a:xfrm>
          <a:prstGeom prst="rect">
            <a:avLst/>
          </a:prstGeom>
          <a:noFill/>
          <a:ln/>
        </p:spPr>
        <p:txBody>
          <a:bodyPr wrap="square" lIns="0" tIns="0" rIns="0" bIns="0" rtlCol="0" anchor="t"/>
          <a:lstStyle/>
          <a:p>
            <a:pPr indent="0" marL="0">
              <a:buNone/>
            </a:pPr>
            <a:r>
              <a:rPr lang="en-US" sz="1100" b="1" spc="200" kern="0" dirty="0">
                <a:solidFill>
                  <a:schemeClr val="accent1"/>
                </a:solidFill>
              </a:rPr>
              <a:t>PART A · STEP A6</a:t>
            </a:r>
            <a:endParaRPr lang="en-US" sz="1100" dirty="0"/>
          </a:p>
        </p:txBody>
      </p:sp>
      <p:sp>
        <p:nvSpPr>
          <p:cNvPr id="4" name="Shape 2"/>
          <p:cNvSpPr/>
          <p:nvPr/>
        </p:nvSpPr>
        <p:spPr>
          <a:xfrm>
            <a:off x="457200" y="1325880"/>
            <a:ext cx="5486400" cy="4480560"/>
          </a:xfrm>
          <a:prstGeom prst="roundRect">
            <a:avLst>
              <a:gd name="adj" fmla="val 1633"/>
            </a:avLst>
          </a:prstGeom>
          <a:solidFill>
            <a:schemeClr val="bg2"/>
          </a:solidFill>
          <a:ln/>
        </p:spPr>
      </p:sp>
      <p:sp>
        <p:nvSpPr>
          <p:cNvPr id="5" name="Shape 3"/>
          <p:cNvSpPr/>
          <p:nvPr/>
        </p:nvSpPr>
        <p:spPr>
          <a:xfrm>
            <a:off x="457200" y="1453896"/>
            <a:ext cx="64008" cy="384048"/>
          </a:xfrm>
          <a:prstGeom prst="rect">
            <a:avLst/>
          </a:prstGeom>
          <a:solidFill>
            <a:schemeClr val="accent3"/>
          </a:solidFill>
          <a:ln/>
        </p:spPr>
      </p:sp>
      <p:sp>
        <p:nvSpPr>
          <p:cNvPr id="6" name="Text 4"/>
          <p:cNvSpPr txBox="1"/>
          <p:nvPr/>
        </p:nvSpPr>
        <p:spPr>
          <a:xfrm>
            <a:off x="658368" y="1435608"/>
            <a:ext cx="5166360" cy="420624"/>
          </a:xfrm>
          <a:prstGeom prst="rect">
            <a:avLst/>
          </a:prstGeom>
          <a:noFill/>
          <a:ln/>
        </p:spPr>
        <p:txBody>
          <a:bodyPr wrap="square" lIns="0" tIns="0" rIns="0" bIns="0" rtlCol="0" anchor="ctr"/>
          <a:lstStyle/>
          <a:p>
            <a:pPr indent="0" marL="0">
              <a:buNone/>
            </a:pPr>
            <a:r>
              <a:rPr lang="en-US" sz="1500" b="1" dirty="0">
                <a:solidFill>
                  <a:schemeClr val="tx1"/>
                </a:solidFill>
              </a:rPr>
              <a:t>Field protocol (each flight date)</a:t>
            </a:r>
            <a:endParaRPr lang="en-US" sz="1500" dirty="0"/>
          </a:p>
        </p:txBody>
      </p:sp>
      <p:sp>
        <p:nvSpPr>
          <p:cNvPr id="7" name="Text 5"/>
          <p:cNvSpPr txBox="1"/>
          <p:nvPr/>
        </p:nvSpPr>
        <p:spPr>
          <a:xfrm>
            <a:off x="658368" y="1929384"/>
            <a:ext cx="5120640" cy="3749040"/>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chemeClr val="tx1"/>
                </a:solidFill>
              </a:rPr>
              <a:t>Select ~12 plots spanning low → high DI, plus controls</a:t>
            </a:r>
            <a:endParaRPr lang="en-US" sz="1250" dirty="0"/>
          </a:p>
          <a:p>
            <a:pPr marL="177800" indent="-177800">
              <a:spcAft>
                <a:spcPts val="500"/>
              </a:spcAft>
              <a:buSzPct val="100000"/>
              <a:buChar char="•"/>
            </a:pPr>
            <a:r>
              <a:rPr lang="en-US" sz="1250" dirty="0">
                <a:solidFill>
                  <a:schemeClr val="tx1"/>
                </a:solidFill>
              </a:rPr>
              <a:t>Score DI separately in 4 quadrants (or centre + 4 corners) of each plot</a:t>
            </a:r>
            <a:endParaRPr lang="en-US" sz="1250" dirty="0"/>
          </a:p>
          <a:p>
            <a:pPr marL="177800" indent="-177800">
              <a:spcAft>
                <a:spcPts val="500"/>
              </a:spcAft>
              <a:buSzPct val="100000"/>
              <a:buChar char="•"/>
            </a:pPr>
            <a:r>
              <a:rPr lang="en-US" sz="1250" dirty="0">
                <a:solidFill>
                  <a:schemeClr val="tx1"/>
                </a:solidFill>
              </a:rPr>
              <a:t>Place 0.5 × 0.5 m quadrats: half inside predicted hotspots, half outside</a:t>
            </a:r>
            <a:endParaRPr lang="en-US" sz="1250" dirty="0"/>
          </a:p>
          <a:p>
            <a:pPr marL="177800" indent="-177800">
              <a:spcAft>
                <a:spcPts val="500"/>
              </a:spcAft>
              <a:buSzPct val="100000"/>
              <a:buChar char="•"/>
            </a:pPr>
            <a:r>
              <a:rPr lang="en-US" sz="1250" dirty="0">
                <a:solidFill>
                  <a:schemeClr val="tx1"/>
                </a:solidFill>
              </a:rPr>
              <a:t>RTK-GPS quadrat centres; ground markers visible in the UAV image</a:t>
            </a:r>
            <a:endParaRPr lang="en-US" sz="1250" dirty="0"/>
          </a:p>
          <a:p>
            <a:pPr marL="177800" indent="-177800">
              <a:spcAft>
                <a:spcPts val="500"/>
              </a:spcAft>
              <a:buSzPct val="100000"/>
              <a:buChar char="•"/>
            </a:pPr>
            <a:r>
              <a:rPr lang="en-US" sz="1250" dirty="0">
                <a:solidFill>
                  <a:schemeClr val="tx1"/>
                </a:solidFill>
              </a:rPr>
              <a:t>Blind scoring: scorer does not know hotspot status</a:t>
            </a:r>
            <a:endParaRPr lang="en-US" sz="1250" dirty="0"/>
          </a:p>
          <a:p>
            <a:pPr marL="177800" indent="-177800">
              <a:spcAft>
                <a:spcPts val="500"/>
              </a:spcAft>
              <a:buSzPct val="100000"/>
              <a:buChar char="•"/>
            </a:pPr>
            <a:r>
              <a:rPr lang="en-US" sz="1250" dirty="0">
                <a:solidFill>
                  <a:schemeClr val="tx1"/>
                </a:solidFill>
              </a:rPr>
              <a:t>Score all leaf layers incl. the leaf underside (white rust pustules)</a:t>
            </a:r>
            <a:endParaRPr lang="en-US" sz="1250" dirty="0"/>
          </a:p>
        </p:txBody>
      </p:sp>
      <p:sp>
        <p:nvSpPr>
          <p:cNvPr id="8" name="Shape 6"/>
          <p:cNvSpPr/>
          <p:nvPr/>
        </p:nvSpPr>
        <p:spPr>
          <a:xfrm>
            <a:off x="6245352" y="1325880"/>
            <a:ext cx="5486400" cy="2331720"/>
          </a:xfrm>
          <a:prstGeom prst="roundRect">
            <a:avLst>
              <a:gd name="adj" fmla="val 3137"/>
            </a:avLst>
          </a:prstGeom>
          <a:solidFill>
            <a:schemeClr val="bg2"/>
          </a:solidFill>
          <a:ln/>
        </p:spPr>
      </p:sp>
      <p:sp>
        <p:nvSpPr>
          <p:cNvPr id="9" name="Shape 7"/>
          <p:cNvSpPr/>
          <p:nvPr/>
        </p:nvSpPr>
        <p:spPr>
          <a:xfrm>
            <a:off x="6245352" y="1453896"/>
            <a:ext cx="64008" cy="384048"/>
          </a:xfrm>
          <a:prstGeom prst="rect">
            <a:avLst/>
          </a:prstGeom>
          <a:solidFill>
            <a:schemeClr val="accent1"/>
          </a:solidFill>
          <a:ln/>
        </p:spPr>
      </p:sp>
      <p:sp>
        <p:nvSpPr>
          <p:cNvPr id="10" name="Text 8"/>
          <p:cNvSpPr txBox="1"/>
          <p:nvPr/>
        </p:nvSpPr>
        <p:spPr>
          <a:xfrm>
            <a:off x="6446520" y="1435608"/>
            <a:ext cx="5166360" cy="420624"/>
          </a:xfrm>
          <a:prstGeom prst="rect">
            <a:avLst/>
          </a:prstGeom>
          <a:noFill/>
          <a:ln/>
        </p:spPr>
        <p:txBody>
          <a:bodyPr wrap="square" lIns="0" tIns="0" rIns="0" bIns="0" rtlCol="0" anchor="ctr"/>
          <a:lstStyle/>
          <a:p>
            <a:pPr indent="0" marL="0">
              <a:buNone/>
            </a:pPr>
            <a:r>
              <a:rPr lang="en-US" sz="1500" b="1" dirty="0">
                <a:solidFill>
                  <a:schemeClr val="tx1"/>
                </a:solidFill>
              </a:rPr>
              <a:t>Statistics</a:t>
            </a:r>
            <a:endParaRPr lang="en-US" sz="1500" dirty="0"/>
          </a:p>
        </p:txBody>
      </p:sp>
      <p:sp>
        <p:nvSpPr>
          <p:cNvPr id="11" name="Text 9"/>
          <p:cNvSpPr txBox="1"/>
          <p:nvPr/>
        </p:nvSpPr>
        <p:spPr>
          <a:xfrm>
            <a:off x="6446520" y="1929384"/>
            <a:ext cx="5120640" cy="1600200"/>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chemeClr val="tx1"/>
                </a:solidFill>
              </a:rPr>
              <a:t>Hotspot vs non-hotspot quadrat DI: Mann–Whitney U, effect size</a:t>
            </a:r>
            <a:endParaRPr lang="en-US" sz="1250" dirty="0"/>
          </a:p>
          <a:p>
            <a:pPr marL="177800" indent="-177800">
              <a:spcAft>
                <a:spcPts val="500"/>
              </a:spcAft>
              <a:buSzPct val="100000"/>
              <a:buChar char="•"/>
            </a:pPr>
            <a:r>
              <a:rPr lang="en-US" sz="1250" dirty="0">
                <a:solidFill>
                  <a:schemeClr val="tx1"/>
                </a:solidFill>
              </a:rPr>
              <a:t>Quadrant DI vs quadrant mean surface value: Spearman ρ</a:t>
            </a:r>
            <a:endParaRPr lang="en-US" sz="1250" dirty="0"/>
          </a:p>
          <a:p>
            <a:pPr marL="177800" indent="-177800">
              <a:spcAft>
                <a:spcPts val="500"/>
              </a:spcAft>
              <a:buSzPct val="100000"/>
              <a:buChar char="•"/>
            </a:pPr>
            <a:r>
              <a:rPr lang="en-US" sz="1250" dirty="0">
                <a:solidFill>
                  <a:schemeClr val="tx1"/>
                </a:solidFill>
              </a:rPr>
              <a:t>False-positive rate: hotspot cells flagged in healthy controls</a:t>
            </a:r>
            <a:endParaRPr lang="en-US" sz="1250" dirty="0"/>
          </a:p>
        </p:txBody>
      </p:sp>
      <p:sp>
        <p:nvSpPr>
          <p:cNvPr id="12" name="Shape 10"/>
          <p:cNvSpPr/>
          <p:nvPr/>
        </p:nvSpPr>
        <p:spPr>
          <a:xfrm>
            <a:off x="6245352" y="3794760"/>
            <a:ext cx="5486400" cy="2011680"/>
          </a:xfrm>
          <a:prstGeom prst="roundRect">
            <a:avLst>
              <a:gd name="adj" fmla="val 3636"/>
            </a:avLst>
          </a:prstGeom>
          <a:solidFill>
            <a:schemeClr val="bg2"/>
          </a:solidFill>
          <a:ln/>
        </p:spPr>
      </p:sp>
      <p:sp>
        <p:nvSpPr>
          <p:cNvPr id="13" name="Shape 11"/>
          <p:cNvSpPr/>
          <p:nvPr/>
        </p:nvSpPr>
        <p:spPr>
          <a:xfrm>
            <a:off x="6245352" y="3922776"/>
            <a:ext cx="64008" cy="384048"/>
          </a:xfrm>
          <a:prstGeom prst="rect">
            <a:avLst/>
          </a:prstGeom>
          <a:solidFill>
            <a:schemeClr val="accent4"/>
          </a:solidFill>
          <a:ln/>
        </p:spPr>
      </p:sp>
      <p:sp>
        <p:nvSpPr>
          <p:cNvPr id="14" name="Text 12"/>
          <p:cNvSpPr txBox="1"/>
          <p:nvPr/>
        </p:nvSpPr>
        <p:spPr>
          <a:xfrm>
            <a:off x="6446520" y="3904488"/>
            <a:ext cx="5166360" cy="420624"/>
          </a:xfrm>
          <a:prstGeom prst="rect">
            <a:avLst/>
          </a:prstGeom>
          <a:noFill/>
          <a:ln/>
        </p:spPr>
        <p:txBody>
          <a:bodyPr wrap="square" lIns="0" tIns="0" rIns="0" bIns="0" rtlCol="0" anchor="ctr"/>
          <a:lstStyle/>
          <a:p>
            <a:pPr indent="0" marL="0">
              <a:buNone/>
            </a:pPr>
            <a:r>
              <a:rPr lang="en-US" sz="1500" b="1" dirty="0">
                <a:solidFill>
                  <a:schemeClr val="tx1"/>
                </a:solidFill>
              </a:rPr>
              <a:t>Caveats</a:t>
            </a:r>
            <a:endParaRPr lang="en-US" sz="1500" dirty="0"/>
          </a:p>
        </p:txBody>
      </p:sp>
      <p:sp>
        <p:nvSpPr>
          <p:cNvPr id="15" name="Text 13"/>
          <p:cNvSpPr txBox="1"/>
          <p:nvPr/>
        </p:nvSpPr>
        <p:spPr>
          <a:xfrm>
            <a:off x="6446520" y="4398264"/>
            <a:ext cx="5120640" cy="1280160"/>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chemeClr val="tx1"/>
                </a:solidFill>
              </a:rPr>
              <a:t>UAV sees upper canopy; underside pustules are hidden</a:t>
            </a:r>
            <a:endParaRPr lang="en-US" sz="1250" dirty="0"/>
          </a:p>
          <a:p>
            <a:pPr marL="177800" indent="-177800">
              <a:spcAft>
                <a:spcPts val="500"/>
              </a:spcAft>
              <a:buSzPct val="100000"/>
              <a:buChar char="•"/>
            </a:pPr>
            <a:r>
              <a:rPr lang="en-US" sz="1250" dirty="0">
                <a:solidFill>
                  <a:schemeClr val="tx1"/>
                </a:solidFill>
              </a:rPr>
              <a:t>Hotspots reflect chlorosis, stagheads, transpiration change</a:t>
            </a:r>
            <a:endParaRPr lang="en-US" sz="1250" dirty="0"/>
          </a:p>
          <a:p>
            <a:pPr marL="177800" indent="-177800">
              <a:spcAft>
                <a:spcPts val="500"/>
              </a:spcAft>
              <a:buSzPct val="100000"/>
              <a:buChar char="•"/>
            </a:pPr>
            <a:r>
              <a:rPr lang="en-US" sz="1250" dirty="0">
                <a:solidFill>
                  <a:schemeClr val="tx1"/>
                </a:solidFill>
              </a:rPr>
              <a:t>Yellow flowers and pods can mimic patterns — mask them</a:t>
            </a:r>
            <a:endParaRPr lang="en-US" sz="1250" dirty="0"/>
          </a:p>
        </p:txBody>
      </p:sp>
      <p:sp>
        <p:nvSpPr>
          <p:cNvPr id="16" name="Text 14"/>
          <p:cNvSpPr txBox="1"/>
          <p:nvPr/>
        </p:nvSpPr>
        <p:spPr>
          <a:xfrm>
            <a:off x="457200" y="6035040"/>
            <a:ext cx="11247120" cy="310896"/>
          </a:xfrm>
          <a:prstGeom prst="rect">
            <a:avLst/>
          </a:prstGeom>
          <a:noFill/>
          <a:ln/>
        </p:spPr>
        <p:txBody>
          <a:bodyPr wrap="square" lIns="0" tIns="0" rIns="0" bIns="0" rtlCol="0" anchor="b"/>
          <a:lstStyle/>
          <a:p>
            <a:pPr indent="0" marL="0">
              <a:buNone/>
            </a:pPr>
            <a:r>
              <a:rPr lang="en-US" sz="1000" i="1" dirty="0">
                <a:solidFill>
                  <a:schemeClr val="tx2"/>
                </a:solidFill>
              </a:rPr>
              <a:t>Olofsson et al. (2014) good practice for map accuracy assessment; Bohnenkamp et al. (2019) top-view vs leaf-level rating; Whetton et al. (2018) reference methods for rust.</a:t>
            </a:r>
            <a:endParaRPr lang="en-US" sz="1000" dirty="0"/>
          </a:p>
        </p:txBody>
      </p:sp>
      <p:sp>
        <p:nvSpPr>
          <p:cNvPr id="25" name="Slide Number Placeholder 0"/>
          <p:cNvSpPr>
            <a:spLocks noGrp="1"/>
          </p:cNvSpPr>
          <p:nvPr>
            <p:ph type="sldNum" sz="quarter" idx="4294967295"/>
          </p:nvPr>
        </p:nvSpPr>
        <p:spPr>
          <a:xfrm>
            <a:off x="11247120" y="644652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868680" y="2651760"/>
            <a:ext cx="10789920" cy="914400"/>
          </a:xfrm>
          <a:prstGeom prst="rect">
            <a:avLst/>
          </a:prstGeom>
          <a:noFill/>
          <a:ln/>
        </p:spPr>
        <p:txBody>
          <a:bodyPr wrap="square" lIns="0" tIns="0" rIns="0" bIns="0" rtlCol="0" anchor="ctr"/>
          <a:lstStyle/>
          <a:p>
            <a:pPr algn="l" indent="0" marL="0">
              <a:buNone/>
            </a:pPr>
            <a:r>
              <a:rPr lang="en-US" sz="3600" b="1" dirty="0">
                <a:solidFill>
                  <a:schemeClr val="bg1"/>
                </a:solidFill>
              </a:rPr>
              <a:t>B · Sentinel-2 band simulation</a:t>
            </a:r>
            <a:endParaRPr lang="en-US" sz="3600" dirty="0"/>
          </a:p>
        </p:txBody>
      </p:sp>
      <p:sp>
        <p:nvSpPr>
          <p:cNvPr id="3" name="Text 1"/>
          <p:cNvSpPr/>
          <p:nvPr>
            <p:ph idx="102" type="body" hasCustomPrompt="1"/>
          </p:nvPr>
        </p:nvSpPr>
        <p:spPr>
          <a:xfrm>
            <a:off x="868680" y="3566160"/>
            <a:ext cx="10789920" cy="731520"/>
          </a:xfrm>
          <a:prstGeom prst="rect">
            <a:avLst/>
          </a:prstGeom>
          <a:noFill/>
          <a:ln/>
        </p:spPr>
        <p:txBody>
          <a:bodyPr wrap="square" lIns="0" tIns="0" rIns="0" bIns="0" rtlCol="0" anchor="t"/>
          <a:lstStyle/>
          <a:p>
            <a:pPr algn="l" indent="0" marL="0">
              <a:buNone/>
            </a:pPr>
            <a:r>
              <a:rPr lang="en-US" sz="1800" dirty="0">
                <a:solidFill>
                  <a:schemeClr val="accent1"/>
                </a:solidFill>
              </a:rPr>
              <a:t>UAV hyperspectral plot spectra → Sentinel-2 spectral response → same Phase 1–3 analysis</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384048"/>
            <a:ext cx="11247120" cy="640080"/>
          </a:xfrm>
          <a:prstGeom prst="rect">
            <a:avLst/>
          </a:prstGeom>
          <a:noFill/>
          <a:ln/>
        </p:spPr>
        <p:txBody>
          <a:bodyPr wrap="square" lIns="0" tIns="0" rIns="0" bIns="0" rtlCol="0" anchor="ctr"/>
          <a:lstStyle/>
          <a:p>
            <a:pPr algn="l" indent="0" marL="0">
              <a:buNone/>
            </a:pPr>
            <a:r>
              <a:rPr lang="en-US" sz="2600" b="1" dirty="0">
                <a:solidFill>
                  <a:schemeClr val="tx1"/>
                </a:solidFill>
              </a:rPr>
              <a:t>Why simulate Sentinel-2 bands from UAV data</a:t>
            </a:r>
            <a:endParaRPr lang="en-US" sz="2600" dirty="0"/>
          </a:p>
        </p:txBody>
      </p:sp>
      <p:sp>
        <p:nvSpPr>
          <p:cNvPr id="3" name="Text 1"/>
          <p:cNvSpPr txBox="1"/>
          <p:nvPr/>
        </p:nvSpPr>
        <p:spPr>
          <a:xfrm>
            <a:off x="457200" y="164592"/>
            <a:ext cx="7315200" cy="237744"/>
          </a:xfrm>
          <a:prstGeom prst="rect">
            <a:avLst/>
          </a:prstGeom>
          <a:noFill/>
          <a:ln/>
        </p:spPr>
        <p:txBody>
          <a:bodyPr wrap="square" lIns="0" tIns="0" rIns="0" bIns="0" rtlCol="0" anchor="t"/>
          <a:lstStyle/>
          <a:p>
            <a:pPr indent="0" marL="0">
              <a:buNone/>
            </a:pPr>
            <a:r>
              <a:rPr lang="en-US" sz="1100" b="1" spc="200" kern="0" dirty="0">
                <a:solidFill>
                  <a:schemeClr val="accent1"/>
                </a:solidFill>
              </a:rPr>
              <a:t>PART B · RATIONALE</a:t>
            </a:r>
            <a:endParaRPr lang="en-US" sz="1100" dirty="0"/>
          </a:p>
        </p:txBody>
      </p:sp>
      <p:sp>
        <p:nvSpPr>
          <p:cNvPr id="4" name="Shape 2"/>
          <p:cNvSpPr/>
          <p:nvPr/>
        </p:nvSpPr>
        <p:spPr>
          <a:xfrm>
            <a:off x="457200" y="1325880"/>
            <a:ext cx="5486400" cy="2377440"/>
          </a:xfrm>
          <a:prstGeom prst="roundRect">
            <a:avLst>
              <a:gd name="adj" fmla="val 3077"/>
            </a:avLst>
          </a:prstGeom>
          <a:solidFill>
            <a:schemeClr val="bg2"/>
          </a:solidFill>
          <a:ln/>
        </p:spPr>
      </p:sp>
      <p:sp>
        <p:nvSpPr>
          <p:cNvPr id="5" name="Shape 3"/>
          <p:cNvSpPr/>
          <p:nvPr/>
        </p:nvSpPr>
        <p:spPr>
          <a:xfrm>
            <a:off x="457200" y="1453896"/>
            <a:ext cx="64008" cy="384048"/>
          </a:xfrm>
          <a:prstGeom prst="rect">
            <a:avLst/>
          </a:prstGeom>
          <a:solidFill>
            <a:schemeClr val="accent4"/>
          </a:solidFill>
          <a:ln/>
        </p:spPr>
      </p:sp>
      <p:sp>
        <p:nvSpPr>
          <p:cNvPr id="6" name="Text 4"/>
          <p:cNvSpPr txBox="1"/>
          <p:nvPr/>
        </p:nvSpPr>
        <p:spPr>
          <a:xfrm>
            <a:off x="658368" y="1435608"/>
            <a:ext cx="5166360" cy="420624"/>
          </a:xfrm>
          <a:prstGeom prst="rect">
            <a:avLst/>
          </a:prstGeom>
          <a:noFill/>
          <a:ln/>
        </p:spPr>
        <p:txBody>
          <a:bodyPr wrap="square" lIns="0" tIns="0" rIns="0" bIns="0" rtlCol="0" anchor="ctr"/>
          <a:lstStyle/>
          <a:p>
            <a:pPr indent="0" marL="0">
              <a:buNone/>
            </a:pPr>
            <a:r>
              <a:rPr lang="en-US" sz="1500" b="1" dirty="0">
                <a:solidFill>
                  <a:schemeClr val="tx1"/>
                </a:solidFill>
              </a:rPr>
              <a:t>The scale problem</a:t>
            </a:r>
            <a:endParaRPr lang="en-US" sz="1500" dirty="0"/>
          </a:p>
        </p:txBody>
      </p:sp>
      <p:sp>
        <p:nvSpPr>
          <p:cNvPr id="7" name="Text 5"/>
          <p:cNvSpPr txBox="1"/>
          <p:nvPr/>
        </p:nvSpPr>
        <p:spPr>
          <a:xfrm>
            <a:off x="658368" y="1929384"/>
            <a:ext cx="5120640" cy="1645920"/>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chemeClr val="tx1"/>
                </a:solidFill>
              </a:rPr>
              <a:t>Trial plot 5 × 3.5 m (17.5 m²) &lt; one Sentinel-2 pixel (10 m = 100 m²; red-edge 20 m = 400 m²)</a:t>
            </a:r>
            <a:endParaRPr lang="en-US" sz="1250" dirty="0"/>
          </a:p>
          <a:p>
            <a:pPr marL="177800" indent="-177800">
              <a:spcAft>
                <a:spcPts val="500"/>
              </a:spcAft>
              <a:buSzPct val="100000"/>
              <a:buChar char="•"/>
            </a:pPr>
            <a:r>
              <a:rPr lang="en-US" sz="1250" dirty="0">
                <a:solidFill>
                  <a:schemeClr val="tx1"/>
                </a:solidFill>
              </a:rPr>
              <a:t>Real Sentinel-2 images cannot resolve the trial plots</a:t>
            </a:r>
            <a:endParaRPr lang="en-US" sz="1250" dirty="0"/>
          </a:p>
          <a:p>
            <a:pPr marL="177800" indent="-177800">
              <a:spcAft>
                <a:spcPts val="500"/>
              </a:spcAft>
              <a:buSzPct val="100000"/>
              <a:buChar char="•"/>
            </a:pPr>
            <a:r>
              <a:rPr lang="en-US" sz="1250" dirty="0">
                <a:solidFill>
                  <a:schemeClr val="tx1"/>
                </a:solidFill>
              </a:rPr>
              <a:t>But the spectral question can be answered now</a:t>
            </a:r>
            <a:endParaRPr lang="en-US" sz="1250" dirty="0"/>
          </a:p>
        </p:txBody>
      </p:sp>
      <p:sp>
        <p:nvSpPr>
          <p:cNvPr id="8" name="Shape 6"/>
          <p:cNvSpPr/>
          <p:nvPr/>
        </p:nvSpPr>
        <p:spPr>
          <a:xfrm>
            <a:off x="6245352" y="1325880"/>
            <a:ext cx="5486400" cy="2377440"/>
          </a:xfrm>
          <a:prstGeom prst="roundRect">
            <a:avLst>
              <a:gd name="adj" fmla="val 3077"/>
            </a:avLst>
          </a:prstGeom>
          <a:solidFill>
            <a:schemeClr val="bg2"/>
          </a:solidFill>
          <a:ln/>
        </p:spPr>
      </p:sp>
      <p:sp>
        <p:nvSpPr>
          <p:cNvPr id="9" name="Shape 7"/>
          <p:cNvSpPr/>
          <p:nvPr/>
        </p:nvSpPr>
        <p:spPr>
          <a:xfrm>
            <a:off x="6245352" y="1453896"/>
            <a:ext cx="64008" cy="384048"/>
          </a:xfrm>
          <a:prstGeom prst="rect">
            <a:avLst/>
          </a:prstGeom>
          <a:solidFill>
            <a:schemeClr val="accent2"/>
          </a:solidFill>
          <a:ln/>
        </p:spPr>
      </p:sp>
      <p:sp>
        <p:nvSpPr>
          <p:cNvPr id="10" name="Text 8"/>
          <p:cNvSpPr txBox="1"/>
          <p:nvPr/>
        </p:nvSpPr>
        <p:spPr>
          <a:xfrm>
            <a:off x="6446520" y="1435608"/>
            <a:ext cx="5166360" cy="420624"/>
          </a:xfrm>
          <a:prstGeom prst="rect">
            <a:avLst/>
          </a:prstGeom>
          <a:noFill/>
          <a:ln/>
        </p:spPr>
        <p:txBody>
          <a:bodyPr wrap="square" lIns="0" tIns="0" rIns="0" bIns="0" rtlCol="0" anchor="ctr"/>
          <a:lstStyle/>
          <a:p>
            <a:pPr indent="0" marL="0">
              <a:buNone/>
            </a:pPr>
            <a:r>
              <a:rPr lang="en-US" sz="1500" b="1" dirty="0">
                <a:solidFill>
                  <a:schemeClr val="tx1"/>
                </a:solidFill>
              </a:rPr>
              <a:t>What simulation tests</a:t>
            </a:r>
            <a:endParaRPr lang="en-US" sz="1500" dirty="0"/>
          </a:p>
        </p:txBody>
      </p:sp>
      <p:sp>
        <p:nvSpPr>
          <p:cNvPr id="11" name="Text 9"/>
          <p:cNvSpPr txBox="1"/>
          <p:nvPr/>
        </p:nvSpPr>
        <p:spPr>
          <a:xfrm>
            <a:off x="6446520" y="1929384"/>
            <a:ext cx="5120640" cy="1645920"/>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chemeClr val="tx1"/>
                </a:solidFill>
              </a:rPr>
              <a:t>Spectral feasibility: do Sentinel-2's band positions &amp; widths keep the white rust signal?</a:t>
            </a:r>
            <a:endParaRPr lang="en-US" sz="1250" dirty="0"/>
          </a:p>
          <a:p>
            <a:pPr marL="177800" indent="-177800">
              <a:spcAft>
                <a:spcPts val="500"/>
              </a:spcAft>
              <a:buSzPct val="100000"/>
              <a:buChar char="•"/>
            </a:pPr>
            <a:r>
              <a:rPr lang="en-US" sz="1250" dirty="0">
                <a:solidFill>
                  <a:schemeClr val="tx1"/>
                </a:solidFill>
              </a:rPr>
              <a:t>Same plots, same labels, same CV → a fair comparison</a:t>
            </a:r>
            <a:endParaRPr lang="en-US" sz="1250" dirty="0"/>
          </a:p>
          <a:p>
            <a:pPr marL="177800" indent="-177800">
              <a:spcAft>
                <a:spcPts val="500"/>
              </a:spcAft>
              <a:buSzPct val="100000"/>
              <a:buChar char="•"/>
            </a:pPr>
            <a:r>
              <a:rPr lang="en-US" sz="1250" dirty="0">
                <a:solidFill>
                  <a:schemeClr val="tx1"/>
                </a:solidFill>
              </a:rPr>
              <a:t>Not tested: 10–20 m mixing, atmosphere, revisit, cloud</a:t>
            </a:r>
            <a:endParaRPr lang="en-US" sz="1250" dirty="0"/>
          </a:p>
        </p:txBody>
      </p:sp>
      <p:sp>
        <p:nvSpPr>
          <p:cNvPr id="12" name="Text 10"/>
          <p:cNvSpPr/>
          <p:nvPr/>
        </p:nvSpPr>
        <p:spPr>
          <a:xfrm>
            <a:off x="457200" y="3977640"/>
            <a:ext cx="2736342" cy="822960"/>
          </a:xfrm>
          <a:prstGeom prst="homePlate">
            <a:avLst/>
          </a:prstGeom>
          <a:solidFill>
            <a:schemeClr val="accent6"/>
          </a:solidFill>
          <a:ln/>
        </p:spPr>
        <p:txBody>
          <a:bodyPr wrap="square" lIns="0" tIns="50800" rIns="76200" bIns="0" rtlCol="0" anchor="ctr"/>
          <a:lstStyle/>
          <a:p>
            <a:pPr algn="ctr" indent="0" marL="0">
              <a:buNone/>
            </a:pPr>
            <a:r>
              <a:rPr lang="en-US" sz="1200" b="1" dirty="0">
                <a:solidFill>
                  <a:schemeClr val="bg1"/>
                </a:solidFill>
              </a:rPr>
              <a:t>Hyperspectral (≈100+ bands)</a:t>
            </a:r>
            <a:endParaRPr lang="en-US" sz="1200" dirty="0"/>
          </a:p>
        </p:txBody>
      </p:sp>
      <p:sp>
        <p:nvSpPr>
          <p:cNvPr id="13" name="Text 11"/>
          <p:cNvSpPr/>
          <p:nvPr/>
        </p:nvSpPr>
        <p:spPr>
          <a:xfrm>
            <a:off x="3303270" y="3977640"/>
            <a:ext cx="2736342" cy="822960"/>
          </a:xfrm>
          <a:prstGeom prst="chevron">
            <a:avLst/>
          </a:prstGeom>
          <a:solidFill>
            <a:schemeClr val="accent1"/>
          </a:solidFill>
          <a:ln/>
        </p:spPr>
        <p:txBody>
          <a:bodyPr wrap="square" lIns="0" tIns="152400" rIns="76200" bIns="0" rtlCol="0" anchor="ctr"/>
          <a:lstStyle/>
          <a:p>
            <a:pPr algn="ctr" indent="0" marL="0">
              <a:buNone/>
            </a:pPr>
            <a:r>
              <a:rPr lang="en-US" sz="1200" b="1" dirty="0">
                <a:solidFill>
                  <a:schemeClr val="bg1"/>
                </a:solidFill>
              </a:rPr>
              <a:t>MicaSense (5 bands, real)</a:t>
            </a:r>
            <a:endParaRPr lang="en-US" sz="1200" dirty="0"/>
          </a:p>
        </p:txBody>
      </p:sp>
      <p:sp>
        <p:nvSpPr>
          <p:cNvPr id="14" name="Text 12"/>
          <p:cNvSpPr/>
          <p:nvPr/>
        </p:nvSpPr>
        <p:spPr>
          <a:xfrm>
            <a:off x="6149340" y="3977640"/>
            <a:ext cx="2736342" cy="822960"/>
          </a:xfrm>
          <a:prstGeom prst="chevron">
            <a:avLst/>
          </a:prstGeom>
          <a:solidFill>
            <a:schemeClr val="accent1"/>
          </a:solidFill>
          <a:ln/>
        </p:spPr>
        <p:txBody>
          <a:bodyPr wrap="square" lIns="0" tIns="152400" rIns="76200" bIns="0" rtlCol="0" anchor="ctr"/>
          <a:lstStyle/>
          <a:p>
            <a:pPr algn="ctr" indent="0" marL="0">
              <a:buNone/>
            </a:pPr>
            <a:r>
              <a:rPr lang="en-US" sz="1200" b="1" dirty="0">
                <a:solidFill>
                  <a:schemeClr val="bg1"/>
                </a:solidFill>
              </a:rPr>
              <a:t>MicaSense (simulated)</a:t>
            </a:r>
            <a:endParaRPr lang="en-US" sz="1200" dirty="0"/>
          </a:p>
        </p:txBody>
      </p:sp>
      <p:sp>
        <p:nvSpPr>
          <p:cNvPr id="15" name="Text 13"/>
          <p:cNvSpPr/>
          <p:nvPr/>
        </p:nvSpPr>
        <p:spPr>
          <a:xfrm>
            <a:off x="8995410" y="3977640"/>
            <a:ext cx="2736342" cy="822960"/>
          </a:xfrm>
          <a:prstGeom prst="chevron">
            <a:avLst/>
          </a:prstGeom>
          <a:solidFill>
            <a:schemeClr val="accent2"/>
          </a:solidFill>
          <a:ln/>
        </p:spPr>
        <p:txBody>
          <a:bodyPr wrap="square" lIns="0" tIns="152400" rIns="76200" bIns="0" rtlCol="0" anchor="ctr"/>
          <a:lstStyle/>
          <a:p>
            <a:pPr algn="ctr" indent="0" marL="0">
              <a:buNone/>
            </a:pPr>
            <a:r>
              <a:rPr lang="en-US" sz="1200" b="1" dirty="0">
                <a:solidFill>
                  <a:schemeClr val="bg1"/>
                </a:solidFill>
              </a:rPr>
              <a:t>Sentinel-2 (simulated)</a:t>
            </a:r>
            <a:endParaRPr lang="en-US" sz="1200" dirty="0"/>
          </a:p>
        </p:txBody>
      </p:sp>
      <p:sp>
        <p:nvSpPr>
          <p:cNvPr id="16" name="Text 14"/>
          <p:cNvSpPr txBox="1"/>
          <p:nvPr/>
        </p:nvSpPr>
        <p:spPr>
          <a:xfrm>
            <a:off x="457200" y="4937760"/>
            <a:ext cx="11274552" cy="548640"/>
          </a:xfrm>
          <a:prstGeom prst="rect">
            <a:avLst/>
          </a:prstGeom>
          <a:noFill/>
          <a:ln/>
        </p:spPr>
        <p:txBody>
          <a:bodyPr wrap="square" lIns="0" tIns="0" rIns="0" bIns="0" rtlCol="0" anchor="t"/>
          <a:lstStyle/>
          <a:p>
            <a:pPr indent="0" marL="0">
              <a:buNone/>
            </a:pPr>
            <a:r>
              <a:rPr lang="en-US" sz="1300" dirty="0">
                <a:solidFill>
                  <a:schemeClr val="tx1"/>
                </a:solidFill>
              </a:rPr>
              <a:t>Information-loss ladder: identical nested plot-grouped CV for each spectral configuration. MicaSense real vs simulated validates the simulation itself.</a:t>
            </a:r>
            <a:endParaRPr lang="en-US" sz="1300" dirty="0"/>
          </a:p>
        </p:txBody>
      </p:sp>
      <p:sp>
        <p:nvSpPr>
          <p:cNvPr id="17" name="Text 15"/>
          <p:cNvSpPr txBox="1"/>
          <p:nvPr/>
        </p:nvSpPr>
        <p:spPr>
          <a:xfrm>
            <a:off x="457200" y="6035040"/>
            <a:ext cx="11247120" cy="310896"/>
          </a:xfrm>
          <a:prstGeom prst="rect">
            <a:avLst/>
          </a:prstGeom>
          <a:noFill/>
          <a:ln/>
        </p:spPr>
        <p:txBody>
          <a:bodyPr wrap="square" lIns="0" tIns="0" rIns="0" bIns="0" rtlCol="0" anchor="b"/>
          <a:lstStyle/>
          <a:p>
            <a:pPr indent="0" marL="0">
              <a:buNone/>
            </a:pPr>
            <a:r>
              <a:rPr lang="en-US" sz="1000" i="1" dirty="0">
                <a:solidFill>
                  <a:schemeClr val="tx2"/>
                </a:solidFill>
              </a:rPr>
              <a:t>Band simulation with relative spectral response: Zhang et al. (2012); S2 disease index from simulated bands: Zheng et al. (2018); Sentinel-2 mission: Drusch et al. (2012).</a:t>
            </a:r>
            <a:endParaRPr lang="en-US" sz="1000" dirty="0"/>
          </a:p>
        </p:txBody>
      </p:sp>
      <p:sp>
        <p:nvSpPr>
          <p:cNvPr id="25" name="Slide Number Placeholder 0"/>
          <p:cNvSpPr>
            <a:spLocks noGrp="1"/>
          </p:cNvSpPr>
          <p:nvPr>
            <p:ph type="sldNum" sz="quarter" idx="4294967295"/>
          </p:nvPr>
        </p:nvSpPr>
        <p:spPr>
          <a:xfrm>
            <a:off x="11247120" y="644652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384048"/>
            <a:ext cx="11247120" cy="640080"/>
          </a:xfrm>
          <a:prstGeom prst="rect">
            <a:avLst/>
          </a:prstGeom>
          <a:noFill/>
          <a:ln/>
        </p:spPr>
        <p:txBody>
          <a:bodyPr wrap="square" lIns="0" tIns="0" rIns="0" bIns="0" rtlCol="0" anchor="ctr"/>
          <a:lstStyle/>
          <a:p>
            <a:pPr algn="l" indent="0" marL="0">
              <a:buNone/>
            </a:pPr>
            <a:r>
              <a:rPr lang="en-US" sz="2600" b="1" dirty="0">
                <a:solidFill>
                  <a:schemeClr val="tx1"/>
                </a:solidFill>
              </a:rPr>
              <a:t>B1 · Sentinel-2 MSI bands that can be simulated</a:t>
            </a:r>
            <a:endParaRPr lang="en-US" sz="2600" dirty="0"/>
          </a:p>
        </p:txBody>
      </p:sp>
      <p:sp>
        <p:nvSpPr>
          <p:cNvPr id="3" name="Text 1"/>
          <p:cNvSpPr txBox="1"/>
          <p:nvPr/>
        </p:nvSpPr>
        <p:spPr>
          <a:xfrm>
            <a:off x="457200" y="164592"/>
            <a:ext cx="7315200" cy="237744"/>
          </a:xfrm>
          <a:prstGeom prst="rect">
            <a:avLst/>
          </a:prstGeom>
          <a:noFill/>
          <a:ln/>
        </p:spPr>
        <p:txBody>
          <a:bodyPr wrap="square" lIns="0" tIns="0" rIns="0" bIns="0" rtlCol="0" anchor="t"/>
          <a:lstStyle/>
          <a:p>
            <a:pPr indent="0" marL="0">
              <a:buNone/>
            </a:pPr>
            <a:r>
              <a:rPr lang="en-US" sz="1100" b="1" spc="200" kern="0" dirty="0">
                <a:solidFill>
                  <a:schemeClr val="accent1"/>
                </a:solidFill>
              </a:rPr>
              <a:t>PART B · STEP B1</a:t>
            </a:r>
            <a:endParaRPr lang="en-US" sz="11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7589520" cy="914400"/>
        </p:xfrm>
        <a:graphic>
          <a:graphicData uri="http://schemas.openxmlformats.org/drawingml/2006/table">
            <a:tbl>
              <a:tblPr/>
              <a:tblGrid>
                <a:gridCol w="1554480"/>
                <a:gridCol w="1234440"/>
                <a:gridCol w="1143000"/>
                <a:gridCol w="822960"/>
                <a:gridCol w="2834640"/>
              </a:tblGrid>
              <a:tr h="0">
                <a:tc>
                  <a:txBody>
                    <a:bodyPr/>
                    <a:lstStyle/>
                    <a:p>
                      <a:pPr indent="0" marL="0">
                        <a:buNone/>
                      </a:pPr>
                      <a:r>
                        <a:rPr lang="en-US" sz="1150" b="1" dirty="0">
                          <a:solidFill>
                            <a:schemeClr val="bg1"/>
                          </a:solidFill>
                        </a:rPr>
                        <a:t>Band</a:t>
                      </a:r>
                      <a:endParaRPr lang="en-US" sz="115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solidFill>
                      <a:schemeClr val="tx2"/>
                    </a:solidFill>
                  </a:tcPr>
                </a:tc>
                <a:tc>
                  <a:txBody>
                    <a:bodyPr/>
                    <a:lstStyle/>
                    <a:p>
                      <a:pPr indent="0" marL="0">
                        <a:buNone/>
                      </a:pPr>
                      <a:r>
                        <a:rPr lang="en-US" sz="1150" b="1" dirty="0">
                          <a:solidFill>
                            <a:schemeClr val="bg1"/>
                          </a:solidFill>
                        </a:rPr>
                        <a:t>Centre (nm)</a:t>
                      </a:r>
                      <a:endParaRPr lang="en-US" sz="115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solidFill>
                      <a:schemeClr val="tx2"/>
                    </a:solidFill>
                  </a:tcPr>
                </a:tc>
                <a:tc>
                  <a:txBody>
                    <a:bodyPr/>
                    <a:lstStyle/>
                    <a:p>
                      <a:pPr indent="0" marL="0">
                        <a:buNone/>
                      </a:pPr>
                      <a:r>
                        <a:rPr lang="en-US" sz="1150" b="1" dirty="0">
                          <a:solidFill>
                            <a:schemeClr val="bg1"/>
                          </a:solidFill>
                        </a:rPr>
                        <a:t>Width (nm)</a:t>
                      </a:r>
                      <a:endParaRPr lang="en-US" sz="115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solidFill>
                      <a:schemeClr val="tx2"/>
                    </a:solidFill>
                  </a:tcPr>
                </a:tc>
                <a:tc>
                  <a:txBody>
                    <a:bodyPr/>
                    <a:lstStyle/>
                    <a:p>
                      <a:pPr indent="0" marL="0">
                        <a:buNone/>
                      </a:pPr>
                      <a:r>
                        <a:rPr lang="en-US" sz="1150" b="1" dirty="0">
                          <a:solidFill>
                            <a:schemeClr val="bg1"/>
                          </a:solidFill>
                        </a:rPr>
                        <a:t>Pixel</a:t>
                      </a:r>
                      <a:endParaRPr lang="en-US" sz="115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solidFill>
                      <a:schemeClr val="tx2"/>
                    </a:solidFill>
                  </a:tcPr>
                </a:tc>
                <a:tc>
                  <a:txBody>
                    <a:bodyPr/>
                    <a:lstStyle/>
                    <a:p>
                      <a:pPr indent="0" marL="0">
                        <a:buNone/>
                      </a:pPr>
                      <a:r>
                        <a:rPr lang="en-US" sz="1150" b="1" dirty="0">
                          <a:solidFill>
                            <a:schemeClr val="bg1"/>
                          </a:solidFill>
                        </a:rPr>
                        <a:t>Simulate from UAV VNIR?</a:t>
                      </a:r>
                      <a:endParaRPr lang="en-US" sz="115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solidFill>
                      <a:schemeClr val="tx2"/>
                    </a:solidFill>
                  </a:tcPr>
                </a:tc>
              </a:tr>
              <a:tr h="0">
                <a:tc>
                  <a:txBody>
                    <a:bodyPr/>
                    <a:lstStyle/>
                    <a:p>
                      <a:pPr indent="0" marL="0">
                        <a:buNone/>
                      </a:pPr>
                      <a:r>
                        <a:rPr lang="en-US" sz="1150" dirty="0">
                          <a:solidFill>
                            <a:schemeClr val="tx1"/>
                          </a:solidFill>
                        </a:rPr>
                        <a:t>B2 Blue</a:t>
                      </a:r>
                      <a:endParaRPr lang="en-US" sz="115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150" dirty="0">
                          <a:solidFill>
                            <a:schemeClr val="tx1"/>
                          </a:solidFill>
                        </a:rPr>
                        <a:t>≈ 490</a:t>
                      </a:r>
                      <a:endParaRPr lang="en-US" sz="115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150" dirty="0">
                          <a:solidFill>
                            <a:schemeClr val="tx1"/>
                          </a:solidFill>
                        </a:rPr>
                        <a:t>≈ 65</a:t>
                      </a:r>
                      <a:endParaRPr lang="en-US" sz="115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150" dirty="0">
                          <a:solidFill>
                            <a:schemeClr val="tx1"/>
                          </a:solidFill>
                        </a:rPr>
                        <a:t>10 m</a:t>
                      </a:r>
                      <a:endParaRPr lang="en-US" sz="115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150" dirty="0">
                          <a:solidFill>
                            <a:schemeClr val="tx1"/>
                          </a:solidFill>
                        </a:rPr>
                        <a:t>Yes, if camera starts ≤ 450 nm</a:t>
                      </a:r>
                      <a:endParaRPr lang="en-US" sz="115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r>
              <a:tr h="0">
                <a:tc>
                  <a:txBody>
                    <a:bodyPr/>
                    <a:lstStyle/>
                    <a:p>
                      <a:pPr indent="0" marL="0">
                        <a:buNone/>
                      </a:pPr>
                      <a:r>
                        <a:rPr lang="en-US" sz="1150" dirty="0">
                          <a:solidFill>
                            <a:schemeClr val="tx1"/>
                          </a:solidFill>
                        </a:rPr>
                        <a:t>B3 Green</a:t>
                      </a:r>
                      <a:endParaRPr lang="en-US" sz="115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150" dirty="0">
                          <a:solidFill>
                            <a:schemeClr val="tx1"/>
                          </a:solidFill>
                        </a:rPr>
                        <a:t>≈ 560</a:t>
                      </a:r>
                      <a:endParaRPr lang="en-US" sz="115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150" dirty="0">
                          <a:solidFill>
                            <a:schemeClr val="tx1"/>
                          </a:solidFill>
                        </a:rPr>
                        <a:t>≈ 35</a:t>
                      </a:r>
                      <a:endParaRPr lang="en-US" sz="115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150" dirty="0">
                          <a:solidFill>
                            <a:schemeClr val="tx1"/>
                          </a:solidFill>
                        </a:rPr>
                        <a:t>10 m</a:t>
                      </a:r>
                      <a:endParaRPr lang="en-US" sz="115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150" dirty="0">
                          <a:solidFill>
                            <a:schemeClr val="tx1"/>
                          </a:solidFill>
                        </a:rPr>
                        <a:t>Yes</a:t>
                      </a:r>
                      <a:endParaRPr lang="en-US" sz="115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r>
              <a:tr h="0">
                <a:tc>
                  <a:txBody>
                    <a:bodyPr/>
                    <a:lstStyle/>
                    <a:p>
                      <a:pPr indent="0" marL="0">
                        <a:buNone/>
                      </a:pPr>
                      <a:r>
                        <a:rPr lang="en-US" sz="1150" dirty="0">
                          <a:solidFill>
                            <a:schemeClr val="tx1"/>
                          </a:solidFill>
                        </a:rPr>
                        <a:t>B4 Red</a:t>
                      </a:r>
                      <a:endParaRPr lang="en-US" sz="115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150" dirty="0">
                          <a:solidFill>
                            <a:schemeClr val="tx1"/>
                          </a:solidFill>
                        </a:rPr>
                        <a:t>≈ 665</a:t>
                      </a:r>
                      <a:endParaRPr lang="en-US" sz="115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150" dirty="0">
                          <a:solidFill>
                            <a:schemeClr val="tx1"/>
                          </a:solidFill>
                        </a:rPr>
                        <a:t>≈ 30</a:t>
                      </a:r>
                      <a:endParaRPr lang="en-US" sz="115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150" dirty="0">
                          <a:solidFill>
                            <a:schemeClr val="tx1"/>
                          </a:solidFill>
                        </a:rPr>
                        <a:t>10 m</a:t>
                      </a:r>
                      <a:endParaRPr lang="en-US" sz="115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150" dirty="0">
                          <a:solidFill>
                            <a:schemeClr val="tx1"/>
                          </a:solidFill>
                        </a:rPr>
                        <a:t>Yes</a:t>
                      </a:r>
                      <a:endParaRPr lang="en-US" sz="115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r>
              <a:tr h="0">
                <a:tc>
                  <a:txBody>
                    <a:bodyPr/>
                    <a:lstStyle/>
                    <a:p>
                      <a:pPr indent="0" marL="0">
                        <a:buNone/>
                      </a:pPr>
                      <a:r>
                        <a:rPr lang="en-US" sz="1150" dirty="0">
                          <a:solidFill>
                            <a:schemeClr val="tx1"/>
                          </a:solidFill>
                        </a:rPr>
                        <a:t>B5 Red edge 1</a:t>
                      </a:r>
                      <a:endParaRPr lang="en-US" sz="115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150" dirty="0">
                          <a:solidFill>
                            <a:schemeClr val="tx1"/>
                          </a:solidFill>
                        </a:rPr>
                        <a:t>≈ 705</a:t>
                      </a:r>
                      <a:endParaRPr lang="en-US" sz="115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150" dirty="0">
                          <a:solidFill>
                            <a:schemeClr val="tx1"/>
                          </a:solidFill>
                        </a:rPr>
                        <a:t>≈ 15</a:t>
                      </a:r>
                      <a:endParaRPr lang="en-US" sz="115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150" dirty="0">
                          <a:solidFill>
                            <a:schemeClr val="tx1"/>
                          </a:solidFill>
                        </a:rPr>
                        <a:t>20 m</a:t>
                      </a:r>
                      <a:endParaRPr lang="en-US" sz="115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150" dirty="0">
                          <a:solidFill>
                            <a:schemeClr val="tx1"/>
                          </a:solidFill>
                        </a:rPr>
                        <a:t>Yes</a:t>
                      </a:r>
                      <a:endParaRPr lang="en-US" sz="115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r>
              <a:tr h="0">
                <a:tc>
                  <a:txBody>
                    <a:bodyPr/>
                    <a:lstStyle/>
                    <a:p>
                      <a:pPr indent="0" marL="0">
                        <a:buNone/>
                      </a:pPr>
                      <a:r>
                        <a:rPr lang="en-US" sz="1150" dirty="0">
                          <a:solidFill>
                            <a:schemeClr val="tx1"/>
                          </a:solidFill>
                        </a:rPr>
                        <a:t>B6 Red edge 2</a:t>
                      </a:r>
                      <a:endParaRPr lang="en-US" sz="115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150" dirty="0">
                          <a:solidFill>
                            <a:schemeClr val="tx1"/>
                          </a:solidFill>
                        </a:rPr>
                        <a:t>≈ 740</a:t>
                      </a:r>
                      <a:endParaRPr lang="en-US" sz="115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150" dirty="0">
                          <a:solidFill>
                            <a:schemeClr val="tx1"/>
                          </a:solidFill>
                        </a:rPr>
                        <a:t>≈ 15</a:t>
                      </a:r>
                      <a:endParaRPr lang="en-US" sz="115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150" dirty="0">
                          <a:solidFill>
                            <a:schemeClr val="tx1"/>
                          </a:solidFill>
                        </a:rPr>
                        <a:t>20 m</a:t>
                      </a:r>
                      <a:endParaRPr lang="en-US" sz="115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150" dirty="0">
                          <a:solidFill>
                            <a:schemeClr val="tx1"/>
                          </a:solidFill>
                        </a:rPr>
                        <a:t>Yes</a:t>
                      </a:r>
                      <a:endParaRPr lang="en-US" sz="115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r>
              <a:tr h="0">
                <a:tc>
                  <a:txBody>
                    <a:bodyPr/>
                    <a:lstStyle/>
                    <a:p>
                      <a:pPr indent="0" marL="0">
                        <a:buNone/>
                      </a:pPr>
                      <a:r>
                        <a:rPr lang="en-US" sz="1150" dirty="0">
                          <a:solidFill>
                            <a:schemeClr val="tx1"/>
                          </a:solidFill>
                        </a:rPr>
                        <a:t>B7 Red edge 3</a:t>
                      </a:r>
                      <a:endParaRPr lang="en-US" sz="115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150" dirty="0">
                          <a:solidFill>
                            <a:schemeClr val="tx1"/>
                          </a:solidFill>
                        </a:rPr>
                        <a:t>≈ 783</a:t>
                      </a:r>
                      <a:endParaRPr lang="en-US" sz="115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150" dirty="0">
                          <a:solidFill>
                            <a:schemeClr val="tx1"/>
                          </a:solidFill>
                        </a:rPr>
                        <a:t>≈ 20</a:t>
                      </a:r>
                      <a:endParaRPr lang="en-US" sz="115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150" dirty="0">
                          <a:solidFill>
                            <a:schemeClr val="tx1"/>
                          </a:solidFill>
                        </a:rPr>
                        <a:t>20 m</a:t>
                      </a:r>
                      <a:endParaRPr lang="en-US" sz="115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150" dirty="0">
                          <a:solidFill>
                            <a:schemeClr val="tx1"/>
                          </a:solidFill>
                        </a:rPr>
                        <a:t>Yes</a:t>
                      </a:r>
                      <a:endParaRPr lang="en-US" sz="115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r>
              <a:tr h="0">
                <a:tc>
                  <a:txBody>
                    <a:bodyPr/>
                    <a:lstStyle/>
                    <a:p>
                      <a:pPr indent="0" marL="0">
                        <a:buNone/>
                      </a:pPr>
                      <a:r>
                        <a:rPr lang="en-US" sz="1150" dirty="0">
                          <a:solidFill>
                            <a:schemeClr val="tx1"/>
                          </a:solidFill>
                        </a:rPr>
                        <a:t>B8 NIR (broad)</a:t>
                      </a:r>
                      <a:endParaRPr lang="en-US" sz="115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150" dirty="0">
                          <a:solidFill>
                            <a:schemeClr val="tx1"/>
                          </a:solidFill>
                        </a:rPr>
                        <a:t>≈ 842</a:t>
                      </a:r>
                      <a:endParaRPr lang="en-US" sz="115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150" dirty="0">
                          <a:solidFill>
                            <a:schemeClr val="tx1"/>
                          </a:solidFill>
                        </a:rPr>
                        <a:t>≈ 105</a:t>
                      </a:r>
                      <a:endParaRPr lang="en-US" sz="115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150" dirty="0">
                          <a:solidFill>
                            <a:schemeClr val="tx1"/>
                          </a:solidFill>
                        </a:rPr>
                        <a:t>10 m</a:t>
                      </a:r>
                      <a:endParaRPr lang="en-US" sz="115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150" dirty="0">
                          <a:solidFill>
                            <a:schemeClr val="tx1"/>
                          </a:solidFill>
                        </a:rPr>
                        <a:t>Yes, if camera reaches ≥ 900 nm</a:t>
                      </a:r>
                      <a:endParaRPr lang="en-US" sz="115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r>
              <a:tr h="0">
                <a:tc>
                  <a:txBody>
                    <a:bodyPr/>
                    <a:lstStyle/>
                    <a:p>
                      <a:pPr indent="0" marL="0">
                        <a:buNone/>
                      </a:pPr>
                      <a:r>
                        <a:rPr lang="en-US" sz="1150" dirty="0">
                          <a:solidFill>
                            <a:schemeClr val="tx1"/>
                          </a:solidFill>
                        </a:rPr>
                        <a:t>B8A NIR narrow</a:t>
                      </a:r>
                      <a:endParaRPr lang="en-US" sz="115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150" dirty="0">
                          <a:solidFill>
                            <a:schemeClr val="tx1"/>
                          </a:solidFill>
                        </a:rPr>
                        <a:t>≈ 865</a:t>
                      </a:r>
                      <a:endParaRPr lang="en-US" sz="115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150" dirty="0">
                          <a:solidFill>
                            <a:schemeClr val="tx1"/>
                          </a:solidFill>
                        </a:rPr>
                        <a:t>≈ 20</a:t>
                      </a:r>
                      <a:endParaRPr lang="en-US" sz="115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150" dirty="0">
                          <a:solidFill>
                            <a:schemeClr val="tx1"/>
                          </a:solidFill>
                        </a:rPr>
                        <a:t>20 m</a:t>
                      </a:r>
                      <a:endParaRPr lang="en-US" sz="115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150" dirty="0">
                          <a:solidFill>
                            <a:schemeClr val="tx1"/>
                          </a:solidFill>
                        </a:rPr>
                        <a:t>Yes</a:t>
                      </a:r>
                      <a:endParaRPr lang="en-US" sz="115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r>
              <a:tr h="0">
                <a:tc>
                  <a:txBody>
                    <a:bodyPr/>
                    <a:lstStyle/>
                    <a:p>
                      <a:pPr indent="0" marL="0">
                        <a:buNone/>
                      </a:pPr>
                      <a:r>
                        <a:rPr lang="en-US" sz="1150" dirty="0">
                          <a:solidFill>
                            <a:schemeClr val="tx1"/>
                          </a:solidFill>
                        </a:rPr>
                        <a:t>B1, B9, B10</a:t>
                      </a:r>
                      <a:endParaRPr lang="en-US" sz="115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150" dirty="0">
                          <a:solidFill>
                            <a:schemeClr val="tx1"/>
                          </a:solidFill>
                        </a:rPr>
                        <a:t>443, 945, 1375</a:t>
                      </a:r>
                      <a:endParaRPr lang="en-US" sz="115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150" dirty="0">
                          <a:solidFill>
                            <a:schemeClr val="tx1"/>
                          </a:solidFill>
                        </a:rPr>
                        <a:t>—</a:t>
                      </a:r>
                      <a:endParaRPr lang="en-US" sz="115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150" dirty="0">
                          <a:solidFill>
                            <a:schemeClr val="tx1"/>
                          </a:solidFill>
                        </a:rPr>
                        <a:t>60 m</a:t>
                      </a:r>
                      <a:endParaRPr lang="en-US" sz="115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150" dirty="0">
                          <a:solidFill>
                            <a:schemeClr val="tx1"/>
                          </a:solidFill>
                        </a:rPr>
                        <a:t>No (aerosol, water vapour, cirrus)</a:t>
                      </a:r>
                      <a:endParaRPr lang="en-US" sz="115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r>
              <a:tr h="0">
                <a:tc>
                  <a:txBody>
                    <a:bodyPr/>
                    <a:lstStyle/>
                    <a:p>
                      <a:pPr indent="0" marL="0">
                        <a:buNone/>
                      </a:pPr>
                      <a:r>
                        <a:rPr lang="en-US" sz="1150" dirty="0">
                          <a:solidFill>
                            <a:schemeClr val="tx1"/>
                          </a:solidFill>
                        </a:rPr>
                        <a:t>B11, B12 SWIR</a:t>
                      </a:r>
                      <a:endParaRPr lang="en-US" sz="115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150" dirty="0">
                          <a:solidFill>
                            <a:schemeClr val="tx1"/>
                          </a:solidFill>
                        </a:rPr>
                        <a:t>≈ 1610, 2190</a:t>
                      </a:r>
                      <a:endParaRPr lang="en-US" sz="115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150" dirty="0">
                          <a:solidFill>
                            <a:schemeClr val="tx1"/>
                          </a:solidFill>
                        </a:rPr>
                        <a:t>90–180</a:t>
                      </a:r>
                      <a:endParaRPr lang="en-US" sz="115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150" dirty="0">
                          <a:solidFill>
                            <a:schemeClr val="tx1"/>
                          </a:solidFill>
                        </a:rPr>
                        <a:t>20 m</a:t>
                      </a:r>
                      <a:endParaRPr lang="en-US" sz="115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150" dirty="0">
                          <a:solidFill>
                            <a:schemeClr val="tx1"/>
                          </a:solidFill>
                        </a:rPr>
                        <a:t>Only with a SWIR camera</a:t>
                      </a:r>
                      <a:endParaRPr lang="en-US" sz="115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r>
            </a:tbl>
          </a:graphicData>
        </a:graphic>
      </p:graphicFrame>
      <p:sp>
        <p:nvSpPr>
          <p:cNvPr id="5" name="Shape 2"/>
          <p:cNvSpPr/>
          <p:nvPr/>
        </p:nvSpPr>
        <p:spPr>
          <a:xfrm>
            <a:off x="8321040" y="1325880"/>
            <a:ext cx="3410712" cy="4526280"/>
          </a:xfrm>
          <a:prstGeom prst="roundRect">
            <a:avLst>
              <a:gd name="adj" fmla="val 2145"/>
            </a:avLst>
          </a:prstGeom>
          <a:solidFill>
            <a:schemeClr val="bg2"/>
          </a:solidFill>
          <a:ln/>
        </p:spPr>
      </p:sp>
      <p:sp>
        <p:nvSpPr>
          <p:cNvPr id="6" name="Shape 3"/>
          <p:cNvSpPr/>
          <p:nvPr/>
        </p:nvSpPr>
        <p:spPr>
          <a:xfrm>
            <a:off x="8321040" y="1453896"/>
            <a:ext cx="64008" cy="384048"/>
          </a:xfrm>
          <a:prstGeom prst="rect">
            <a:avLst/>
          </a:prstGeom>
          <a:solidFill>
            <a:schemeClr val="accent2"/>
          </a:solidFill>
          <a:ln/>
        </p:spPr>
      </p:sp>
      <p:sp>
        <p:nvSpPr>
          <p:cNvPr id="7" name="Text 4"/>
          <p:cNvSpPr txBox="1"/>
          <p:nvPr/>
        </p:nvSpPr>
        <p:spPr>
          <a:xfrm>
            <a:off x="8522208" y="1435608"/>
            <a:ext cx="3090672" cy="420624"/>
          </a:xfrm>
          <a:prstGeom prst="rect">
            <a:avLst/>
          </a:prstGeom>
          <a:noFill/>
          <a:ln/>
        </p:spPr>
        <p:txBody>
          <a:bodyPr wrap="square" lIns="0" tIns="0" rIns="0" bIns="0" rtlCol="0" anchor="ctr"/>
          <a:lstStyle/>
          <a:p>
            <a:pPr indent="0" marL="0">
              <a:buNone/>
            </a:pPr>
            <a:r>
              <a:rPr lang="en-US" sz="1500" b="1" dirty="0">
                <a:solidFill>
                  <a:schemeClr val="tx1"/>
                </a:solidFill>
              </a:rPr>
              <a:t>Rules</a:t>
            </a:r>
            <a:endParaRPr lang="en-US" sz="1500" dirty="0"/>
          </a:p>
        </p:txBody>
      </p:sp>
      <p:sp>
        <p:nvSpPr>
          <p:cNvPr id="8" name="Text 5"/>
          <p:cNvSpPr txBox="1"/>
          <p:nvPr/>
        </p:nvSpPr>
        <p:spPr>
          <a:xfrm>
            <a:off x="8522208" y="1929384"/>
            <a:ext cx="3044952" cy="3794760"/>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chemeClr val="tx1"/>
                </a:solidFill>
              </a:rPr>
              <a:t>Use the official ESA spectral response functions (S2A and S2B separately)</a:t>
            </a:r>
            <a:endParaRPr lang="en-US" sz="1250" dirty="0"/>
          </a:p>
          <a:p>
            <a:pPr marL="177800" indent="-177800">
              <a:spcAft>
                <a:spcPts val="500"/>
              </a:spcAft>
              <a:buSzPct val="100000"/>
              <a:buChar char="•"/>
            </a:pPr>
            <a:r>
              <a:rPr lang="en-US" sz="1200" dirty="0">
                <a:solidFill>
                  <a:schemeClr val="tx1"/>
                </a:solidFill>
              </a:rPr>
              <a:t>A band is simulated only if the camera covers ≥ 95 % of its SRF area</a:t>
            </a:r>
            <a:endParaRPr lang="en-US" sz="1250" dirty="0"/>
          </a:p>
          <a:p>
            <a:pPr marL="177800" indent="-177800">
              <a:spcAft>
                <a:spcPts val="500"/>
              </a:spcAft>
              <a:buSzPct val="100000"/>
              <a:buChar char="•"/>
            </a:pPr>
            <a:r>
              <a:rPr lang="en-US" sz="1200" dirty="0">
                <a:solidFill>
                  <a:schemeClr val="tx1"/>
                </a:solidFill>
              </a:rPr>
              <a:t>Values in the table are approximate; take exact SRFs from the ESA file</a:t>
            </a:r>
            <a:endParaRPr lang="en-US" sz="1250" dirty="0"/>
          </a:p>
          <a:p>
            <a:pPr marL="177800" indent="-177800">
              <a:spcAft>
                <a:spcPts val="500"/>
              </a:spcAft>
              <a:buSzPct val="100000"/>
              <a:buChar char="•"/>
            </a:pPr>
            <a:r>
              <a:rPr lang="en-US" sz="1200" dirty="0">
                <a:solidFill>
                  <a:schemeClr val="tx1"/>
                </a:solidFill>
              </a:rPr>
              <a:t>Record which bands were not simulable</a:t>
            </a:r>
            <a:endParaRPr lang="en-US" sz="1250" dirty="0"/>
          </a:p>
        </p:txBody>
      </p:sp>
      <p:sp>
        <p:nvSpPr>
          <p:cNvPr id="9" name="Text 6"/>
          <p:cNvSpPr txBox="1"/>
          <p:nvPr/>
        </p:nvSpPr>
        <p:spPr>
          <a:xfrm>
            <a:off x="457200" y="6035040"/>
            <a:ext cx="11247120" cy="310896"/>
          </a:xfrm>
          <a:prstGeom prst="rect">
            <a:avLst/>
          </a:prstGeom>
          <a:noFill/>
          <a:ln/>
        </p:spPr>
        <p:txBody>
          <a:bodyPr wrap="square" lIns="0" tIns="0" rIns="0" bIns="0" rtlCol="0" anchor="b"/>
          <a:lstStyle/>
          <a:p>
            <a:pPr indent="0" marL="0">
              <a:buNone/>
            </a:pPr>
            <a:r>
              <a:rPr lang="en-US" sz="1000" i="1" dirty="0">
                <a:solidFill>
                  <a:schemeClr val="tx2"/>
                </a:solidFill>
              </a:rPr>
              <a:t>Drusch et al. (2012) RSE 120:25–36; ESA Sentinel-2 Spectral Response Functions (COPE-GSEG-EOPG-TN-15-0007).</a:t>
            </a:r>
            <a:endParaRPr lang="en-US" sz="1000" dirty="0"/>
          </a:p>
        </p:txBody>
      </p:sp>
      <p:sp>
        <p:nvSpPr>
          <p:cNvPr id="25" name="Slide Number Placeholder 0"/>
          <p:cNvSpPr>
            <a:spLocks noGrp="1"/>
          </p:cNvSpPr>
          <p:nvPr>
            <p:ph type="sldNum" sz="quarter" idx="4294967295"/>
          </p:nvPr>
        </p:nvSpPr>
        <p:spPr>
          <a:xfrm>
            <a:off x="11247120" y="644652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384048"/>
            <a:ext cx="11247120" cy="640080"/>
          </a:xfrm>
          <a:prstGeom prst="rect">
            <a:avLst/>
          </a:prstGeom>
          <a:noFill/>
          <a:ln/>
        </p:spPr>
        <p:txBody>
          <a:bodyPr wrap="square" lIns="0" tIns="0" rIns="0" bIns="0" rtlCol="0" anchor="ctr"/>
          <a:lstStyle/>
          <a:p>
            <a:pPr algn="l" indent="0" marL="0">
              <a:buNone/>
            </a:pPr>
            <a:r>
              <a:rPr lang="en-US" sz="2600" b="1" dirty="0">
                <a:solidFill>
                  <a:schemeClr val="tx1"/>
                </a:solidFill>
              </a:rPr>
              <a:t>B2 · Convolving spectra with Sentinel-2 response functions</a:t>
            </a:r>
            <a:endParaRPr lang="en-US" sz="2600" dirty="0"/>
          </a:p>
        </p:txBody>
      </p:sp>
      <p:sp>
        <p:nvSpPr>
          <p:cNvPr id="3" name="Text 1"/>
          <p:cNvSpPr txBox="1"/>
          <p:nvPr/>
        </p:nvSpPr>
        <p:spPr>
          <a:xfrm>
            <a:off x="457200" y="164592"/>
            <a:ext cx="7315200" cy="237744"/>
          </a:xfrm>
          <a:prstGeom prst="rect">
            <a:avLst/>
          </a:prstGeom>
          <a:noFill/>
          <a:ln/>
        </p:spPr>
        <p:txBody>
          <a:bodyPr wrap="square" lIns="0" tIns="0" rIns="0" bIns="0" rtlCol="0" anchor="t"/>
          <a:lstStyle/>
          <a:p>
            <a:pPr indent="0" marL="0">
              <a:buNone/>
            </a:pPr>
            <a:r>
              <a:rPr lang="en-US" sz="1100" b="1" spc="200" kern="0" dirty="0">
                <a:solidFill>
                  <a:schemeClr val="accent1"/>
                </a:solidFill>
              </a:rPr>
              <a:t>PART B · STEP B2</a:t>
            </a:r>
            <a:endParaRPr lang="en-US" sz="1100" dirty="0"/>
          </a:p>
        </p:txBody>
      </p:sp>
      <p:sp>
        <p:nvSpPr>
          <p:cNvPr id="4" name="Shape 2"/>
          <p:cNvSpPr/>
          <p:nvPr/>
        </p:nvSpPr>
        <p:spPr>
          <a:xfrm>
            <a:off x="457200" y="1325880"/>
            <a:ext cx="11274552" cy="914400"/>
          </a:xfrm>
          <a:prstGeom prst="roundRect">
            <a:avLst>
              <a:gd name="adj" fmla="val 8000"/>
            </a:avLst>
          </a:prstGeom>
          <a:solidFill>
            <a:schemeClr val="bg1"/>
          </a:solidFill>
          <a:ln w="15875">
            <a:solidFill>
              <a:schemeClr val="accent1"/>
            </a:solidFill>
            <a:prstDash val="solid"/>
          </a:ln>
        </p:spPr>
      </p:sp>
      <p:sp>
        <p:nvSpPr>
          <p:cNvPr id="5" name="Text 3"/>
          <p:cNvSpPr txBox="1"/>
          <p:nvPr/>
        </p:nvSpPr>
        <p:spPr>
          <a:xfrm>
            <a:off x="640080" y="1325880"/>
            <a:ext cx="10908792" cy="914400"/>
          </a:xfrm>
          <a:prstGeom prst="rect">
            <a:avLst/>
          </a:prstGeom>
          <a:noFill/>
          <a:ln/>
        </p:spPr>
        <p:txBody>
          <a:bodyPr wrap="square" lIns="0" tIns="0" rIns="0" bIns="0" rtlCol="0" anchor="ctr"/>
          <a:lstStyle/>
          <a:p>
            <a:pPr algn="ctr" indent="0" marL="0">
              <a:buNone/>
            </a:pPr>
            <a:r>
              <a:rPr lang="en-US" sz="1900" dirty="0">
                <a:solidFill>
                  <a:schemeClr val="tx1"/>
                </a:solidFill>
                <a:latin typeface="Cambria Math" pitchFamily="34" charset="0"/>
                <a:ea typeface="Cambria Math" pitchFamily="34" charset="-122"/>
                <a:cs typeface="Cambria Math" pitchFamily="34" charset="-120"/>
              </a:rPr>
              <a:t>ρ_band = Σλ ρ(λ) · SRF_band(λ) · Δλ  /  Σλ SRF_band(λ) · Δλ</a:t>
            </a:r>
            <a:endParaRPr lang="en-US" sz="1900" dirty="0"/>
          </a:p>
        </p:txBody>
      </p:sp>
      <p:sp>
        <p:nvSpPr>
          <p:cNvPr id="6" name="Shape 4"/>
          <p:cNvSpPr/>
          <p:nvPr/>
        </p:nvSpPr>
        <p:spPr>
          <a:xfrm>
            <a:off x="457200" y="2468880"/>
            <a:ext cx="5486400" cy="3429000"/>
          </a:xfrm>
          <a:prstGeom prst="roundRect">
            <a:avLst>
              <a:gd name="adj" fmla="val 2133"/>
            </a:avLst>
          </a:prstGeom>
          <a:solidFill>
            <a:schemeClr val="bg2"/>
          </a:solidFill>
          <a:ln/>
        </p:spPr>
      </p:sp>
      <p:sp>
        <p:nvSpPr>
          <p:cNvPr id="7" name="Shape 5"/>
          <p:cNvSpPr/>
          <p:nvPr/>
        </p:nvSpPr>
        <p:spPr>
          <a:xfrm>
            <a:off x="457200" y="2596896"/>
            <a:ext cx="64008" cy="384048"/>
          </a:xfrm>
          <a:prstGeom prst="rect">
            <a:avLst/>
          </a:prstGeom>
          <a:solidFill>
            <a:schemeClr val="accent1"/>
          </a:solidFill>
          <a:ln/>
        </p:spPr>
      </p:sp>
      <p:sp>
        <p:nvSpPr>
          <p:cNvPr id="8" name="Text 6"/>
          <p:cNvSpPr txBox="1"/>
          <p:nvPr/>
        </p:nvSpPr>
        <p:spPr>
          <a:xfrm>
            <a:off x="658368" y="2578608"/>
            <a:ext cx="5166360" cy="420624"/>
          </a:xfrm>
          <a:prstGeom prst="rect">
            <a:avLst/>
          </a:prstGeom>
          <a:noFill/>
          <a:ln/>
        </p:spPr>
        <p:txBody>
          <a:bodyPr wrap="square" lIns="0" tIns="0" rIns="0" bIns="0" rtlCol="0" anchor="ctr"/>
          <a:lstStyle/>
          <a:p>
            <a:pPr indent="0" marL="0">
              <a:buNone/>
            </a:pPr>
            <a:r>
              <a:rPr lang="en-US" sz="1500" b="1" dirty="0">
                <a:solidFill>
                  <a:schemeClr val="tx1"/>
                </a:solidFill>
              </a:rPr>
              <a:t>Procedure</a:t>
            </a:r>
            <a:endParaRPr lang="en-US" sz="1500" dirty="0"/>
          </a:p>
        </p:txBody>
      </p:sp>
      <p:sp>
        <p:nvSpPr>
          <p:cNvPr id="9" name="Text 7"/>
          <p:cNvSpPr txBox="1"/>
          <p:nvPr/>
        </p:nvSpPr>
        <p:spPr>
          <a:xfrm>
            <a:off x="658368" y="3072384"/>
            <a:ext cx="5120640" cy="2697480"/>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chemeClr val="tx1"/>
                </a:solidFill>
              </a:rPr>
              <a:t>Input: plot-mean reflectance spectrum ρ(λ) per plot × date (s05, canopy pixels, before SNV)</a:t>
            </a:r>
            <a:endParaRPr lang="en-US" sz="1250" dirty="0"/>
          </a:p>
          <a:p>
            <a:pPr marL="177800" indent="-177800">
              <a:spcAft>
                <a:spcPts val="500"/>
              </a:spcAft>
              <a:buSzPct val="100000"/>
              <a:buChar char="•"/>
            </a:pPr>
            <a:r>
              <a:rPr lang="en-US" sz="1250" dirty="0">
                <a:solidFill>
                  <a:schemeClr val="tx1"/>
                </a:solidFill>
              </a:rPr>
              <a:t>Interpolate each band's SRF onto the camera wavelengths</a:t>
            </a:r>
            <a:endParaRPr lang="en-US" sz="1250" dirty="0"/>
          </a:p>
          <a:p>
            <a:pPr marL="177800" indent="-177800">
              <a:spcAft>
                <a:spcPts val="500"/>
              </a:spcAft>
              <a:buSzPct val="100000"/>
              <a:buChar char="•"/>
            </a:pPr>
            <a:r>
              <a:rPr lang="en-US" sz="1250" dirty="0">
                <a:solidFill>
                  <a:schemeClr val="tx1"/>
                </a:solidFill>
              </a:rPr>
              <a:t>Weighted average of reflectance under the SRF (formula above)</a:t>
            </a:r>
            <a:endParaRPr lang="en-US" sz="1250" dirty="0"/>
          </a:p>
          <a:p>
            <a:pPr marL="177800" indent="-177800">
              <a:spcAft>
                <a:spcPts val="500"/>
              </a:spcAft>
              <a:buSzPct val="100000"/>
              <a:buChar char="•"/>
            </a:pPr>
            <a:r>
              <a:rPr lang="en-US" sz="1250" dirty="0">
                <a:solidFill>
                  <a:schemeClr val="tx1"/>
                </a:solidFill>
              </a:rPr>
              <a:t>Repeat for B2–B8A; S2A and S2B SRFs give two simulated sets</a:t>
            </a:r>
            <a:endParaRPr lang="en-US" sz="1250" dirty="0"/>
          </a:p>
          <a:p>
            <a:pPr marL="177800" indent="-177800">
              <a:spcAft>
                <a:spcPts val="500"/>
              </a:spcAft>
              <a:buSzPct val="100000"/>
              <a:buChar char="•"/>
            </a:pPr>
            <a:r>
              <a:rPr lang="en-US" sz="1250" dirty="0">
                <a:solidFill>
                  <a:schemeClr val="tx1"/>
                </a:solidFill>
              </a:rPr>
              <a:t>Same operation with MicaSense SRFs → simulated MicaSense</a:t>
            </a:r>
            <a:endParaRPr lang="en-US" sz="1250" dirty="0"/>
          </a:p>
        </p:txBody>
      </p:sp>
      <p:sp>
        <p:nvSpPr>
          <p:cNvPr id="10" name="Shape 8"/>
          <p:cNvSpPr/>
          <p:nvPr/>
        </p:nvSpPr>
        <p:spPr>
          <a:xfrm>
            <a:off x="6245352" y="2468880"/>
            <a:ext cx="5486400" cy="3429000"/>
          </a:xfrm>
          <a:prstGeom prst="roundRect">
            <a:avLst>
              <a:gd name="adj" fmla="val 2133"/>
            </a:avLst>
          </a:prstGeom>
          <a:solidFill>
            <a:schemeClr val="bg2"/>
          </a:solidFill>
          <a:ln/>
        </p:spPr>
      </p:sp>
      <p:sp>
        <p:nvSpPr>
          <p:cNvPr id="11" name="Shape 9"/>
          <p:cNvSpPr/>
          <p:nvPr/>
        </p:nvSpPr>
        <p:spPr>
          <a:xfrm>
            <a:off x="6245352" y="2596896"/>
            <a:ext cx="64008" cy="384048"/>
          </a:xfrm>
          <a:prstGeom prst="rect">
            <a:avLst/>
          </a:prstGeom>
          <a:solidFill>
            <a:schemeClr val="accent3"/>
          </a:solidFill>
          <a:ln/>
        </p:spPr>
      </p:sp>
      <p:sp>
        <p:nvSpPr>
          <p:cNvPr id="12" name="Text 10"/>
          <p:cNvSpPr txBox="1"/>
          <p:nvPr/>
        </p:nvSpPr>
        <p:spPr>
          <a:xfrm>
            <a:off x="6446520" y="2578608"/>
            <a:ext cx="5166360" cy="420624"/>
          </a:xfrm>
          <a:prstGeom prst="rect">
            <a:avLst/>
          </a:prstGeom>
          <a:noFill/>
          <a:ln/>
        </p:spPr>
        <p:txBody>
          <a:bodyPr wrap="square" lIns="0" tIns="0" rIns="0" bIns="0" rtlCol="0" anchor="ctr"/>
          <a:lstStyle/>
          <a:p>
            <a:pPr indent="0" marL="0">
              <a:buNone/>
            </a:pPr>
            <a:r>
              <a:rPr lang="en-US" sz="1500" b="1" dirty="0">
                <a:solidFill>
                  <a:schemeClr val="tx1"/>
                </a:solidFill>
              </a:rPr>
              <a:t>Checks</a:t>
            </a:r>
            <a:endParaRPr lang="en-US" sz="1500" dirty="0"/>
          </a:p>
        </p:txBody>
      </p:sp>
      <p:sp>
        <p:nvSpPr>
          <p:cNvPr id="13" name="Text 11"/>
          <p:cNvSpPr txBox="1"/>
          <p:nvPr/>
        </p:nvSpPr>
        <p:spPr>
          <a:xfrm>
            <a:off x="6446520" y="3072384"/>
            <a:ext cx="5120640" cy="2697480"/>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chemeClr val="tx1"/>
                </a:solidFill>
              </a:rPr>
              <a:t>Simulation validity: simulated vs real MicaSense plot reflectance — per band R², RMSE, bias</a:t>
            </a:r>
            <a:endParaRPr lang="en-US" sz="1250" dirty="0"/>
          </a:p>
          <a:p>
            <a:pPr marL="177800" indent="-177800">
              <a:spcAft>
                <a:spcPts val="500"/>
              </a:spcAft>
              <a:buSzPct val="100000"/>
              <a:buChar char="•"/>
            </a:pPr>
            <a:r>
              <a:rPr lang="en-US" sz="1250" dirty="0">
                <a:solidFill>
                  <a:schemeClr val="tx1"/>
                </a:solidFill>
              </a:rPr>
              <a:t>Optional: add Gaussian noise matching Sentinel-2 SNR to test robustness</a:t>
            </a:r>
            <a:endParaRPr lang="en-US" sz="1250" dirty="0"/>
          </a:p>
          <a:p>
            <a:pPr marL="177800" indent="-177800">
              <a:spcAft>
                <a:spcPts val="500"/>
              </a:spcAft>
              <a:buSzPct val="100000"/>
              <a:buChar char="•"/>
            </a:pPr>
            <a:r>
              <a:rPr lang="en-US" sz="1250" dirty="0">
                <a:solidFill>
                  <a:schemeClr val="tx1"/>
                </a:solidFill>
              </a:rPr>
              <a:t>Smoothed spectra (Savitzky–Golay) are fine; do not convolve SNV values</a:t>
            </a:r>
            <a:endParaRPr lang="en-US" sz="1250" dirty="0"/>
          </a:p>
          <a:p>
            <a:pPr marL="177800" indent="-177800">
              <a:spcAft>
                <a:spcPts val="500"/>
              </a:spcAft>
              <a:buSzPct val="100000"/>
              <a:buChar char="•"/>
            </a:pPr>
            <a:r>
              <a:rPr lang="en-US" sz="1250" dirty="0">
                <a:solidFill>
                  <a:schemeClr val="tx1"/>
                </a:solidFill>
              </a:rPr>
              <a:t>No labels used → done once before CV (no leakage)</a:t>
            </a:r>
            <a:endParaRPr lang="en-US" sz="1250" dirty="0"/>
          </a:p>
        </p:txBody>
      </p:sp>
      <p:sp>
        <p:nvSpPr>
          <p:cNvPr id="14" name="Text 12"/>
          <p:cNvSpPr txBox="1"/>
          <p:nvPr/>
        </p:nvSpPr>
        <p:spPr>
          <a:xfrm>
            <a:off x="457200" y="6035040"/>
            <a:ext cx="11247120" cy="310896"/>
          </a:xfrm>
          <a:prstGeom prst="rect">
            <a:avLst/>
          </a:prstGeom>
          <a:noFill/>
          <a:ln/>
        </p:spPr>
        <p:txBody>
          <a:bodyPr wrap="square" lIns="0" tIns="0" rIns="0" bIns="0" rtlCol="0" anchor="b"/>
          <a:lstStyle/>
          <a:p>
            <a:pPr indent="0" marL="0">
              <a:buNone/>
            </a:pPr>
            <a:r>
              <a:rPr lang="en-US" sz="1000" i="1" dirty="0">
                <a:solidFill>
                  <a:schemeClr val="tx2"/>
                </a:solidFill>
              </a:rPr>
              <a:t>Zhang et al. (2012) Comput. Electron. Agric. 85:13–23 (RSR-weighted band simulation); ESA S2 SRF document.</a:t>
            </a:r>
            <a:endParaRPr lang="en-US" sz="1000" dirty="0"/>
          </a:p>
        </p:txBody>
      </p:sp>
      <p:sp>
        <p:nvSpPr>
          <p:cNvPr id="25" name="Slide Number Placeholder 0"/>
          <p:cNvSpPr>
            <a:spLocks noGrp="1"/>
          </p:cNvSpPr>
          <p:nvPr>
            <p:ph type="sldNum" sz="quarter" idx="4294967295"/>
          </p:nvPr>
        </p:nvSpPr>
        <p:spPr>
          <a:xfrm>
            <a:off x="11247120" y="644652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384048"/>
            <a:ext cx="11247120" cy="640080"/>
          </a:xfrm>
          <a:prstGeom prst="rect">
            <a:avLst/>
          </a:prstGeom>
          <a:noFill/>
          <a:ln/>
        </p:spPr>
        <p:txBody>
          <a:bodyPr wrap="square" lIns="0" tIns="0" rIns="0" bIns="0" rtlCol="0" anchor="ctr"/>
          <a:lstStyle/>
          <a:p>
            <a:pPr algn="l" indent="0" marL="0">
              <a:buNone/>
            </a:pPr>
            <a:r>
              <a:rPr lang="en-US" sz="2600" b="1" dirty="0">
                <a:solidFill>
                  <a:schemeClr val="tx1"/>
                </a:solidFill>
              </a:rPr>
              <a:t>B3 · Sentinel-2 indices computed from the simulated bands</a:t>
            </a:r>
            <a:endParaRPr lang="en-US" sz="2600" dirty="0"/>
          </a:p>
        </p:txBody>
      </p:sp>
      <p:sp>
        <p:nvSpPr>
          <p:cNvPr id="3" name="Text 1"/>
          <p:cNvSpPr txBox="1"/>
          <p:nvPr/>
        </p:nvSpPr>
        <p:spPr>
          <a:xfrm>
            <a:off x="457200" y="164592"/>
            <a:ext cx="7315200" cy="237744"/>
          </a:xfrm>
          <a:prstGeom prst="rect">
            <a:avLst/>
          </a:prstGeom>
          <a:noFill/>
          <a:ln/>
        </p:spPr>
        <p:txBody>
          <a:bodyPr wrap="square" lIns="0" tIns="0" rIns="0" bIns="0" rtlCol="0" anchor="t"/>
          <a:lstStyle/>
          <a:p>
            <a:pPr indent="0" marL="0">
              <a:buNone/>
            </a:pPr>
            <a:r>
              <a:rPr lang="en-US" sz="1100" b="1" spc="200" kern="0" dirty="0">
                <a:solidFill>
                  <a:schemeClr val="accent1"/>
                </a:solidFill>
              </a:rPr>
              <a:t>PART B · STEP B3</a:t>
            </a:r>
            <a:endParaRPr lang="en-US" sz="11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11274552" cy="914400"/>
        </p:xfrm>
        <a:graphic>
          <a:graphicData uri="http://schemas.openxmlformats.org/drawingml/2006/table">
            <a:tbl>
              <a:tblPr/>
              <a:tblGrid>
                <a:gridCol w="1188720"/>
                <a:gridCol w="4480560"/>
                <a:gridCol w="2560320"/>
                <a:gridCol w="3044952"/>
              </a:tblGrid>
              <a:tr h="0">
                <a:tc>
                  <a:txBody>
                    <a:bodyPr/>
                    <a:lstStyle/>
                    <a:p>
                      <a:pPr indent="0" marL="0">
                        <a:buNone/>
                      </a:pPr>
                      <a:r>
                        <a:rPr lang="en-US" sz="1200" b="1" dirty="0">
                          <a:solidFill>
                            <a:schemeClr val="bg1"/>
                          </a:solidFill>
                        </a:rPr>
                        <a:t>Index</a:t>
                      </a:r>
                      <a:endParaRPr lang="en-US" sz="120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Formula (Sentinel-2 bands)</a:t>
                      </a:r>
                      <a:endParaRPr lang="en-US" sz="120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Sensitive to</a:t>
                      </a:r>
                      <a:endParaRPr lang="en-US" sz="120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Reference</a:t>
                      </a:r>
                      <a:endParaRPr lang="en-US" sz="120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solidFill>
                      <a:schemeClr val="tx2"/>
                    </a:solidFill>
                  </a:tcPr>
                </a:tc>
              </a:tr>
              <a:tr h="0">
                <a:tc>
                  <a:txBody>
                    <a:bodyPr/>
                    <a:lstStyle/>
                    <a:p>
                      <a:pPr indent="0" marL="0">
                        <a:buNone/>
                      </a:pPr>
                      <a:r>
                        <a:rPr lang="en-US" sz="1200" dirty="0">
                          <a:solidFill>
                            <a:schemeClr val="tx1"/>
                          </a:solidFill>
                        </a:rPr>
                        <a:t>NDVI</a:t>
                      </a:r>
                      <a:endParaRPr lang="en-US" sz="120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200" dirty="0">
                          <a:solidFill>
                            <a:schemeClr val="tx1"/>
                          </a:solidFill>
                        </a:rPr>
                        <a:t>(B8 − B4) / (B8 + B4)</a:t>
                      </a:r>
                      <a:endParaRPr lang="en-US" sz="120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200" dirty="0">
                          <a:solidFill>
                            <a:schemeClr val="tx1"/>
                          </a:solidFill>
                        </a:rPr>
                        <a:t>Vigour, biomass</a:t>
                      </a:r>
                      <a:endParaRPr lang="en-US" sz="120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200" dirty="0">
                          <a:solidFill>
                            <a:schemeClr val="tx1"/>
                          </a:solidFill>
                        </a:rPr>
                        <a:t>Rouse et al. (1974)</a:t>
                      </a:r>
                      <a:endParaRPr lang="en-US" sz="120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r>
              <a:tr h="0">
                <a:tc>
                  <a:txBody>
                    <a:bodyPr/>
                    <a:lstStyle/>
                    <a:p>
                      <a:pPr indent="0" marL="0">
                        <a:buNone/>
                      </a:pPr>
                      <a:r>
                        <a:rPr lang="en-US" sz="1200" dirty="0">
                          <a:solidFill>
                            <a:schemeClr val="tx1"/>
                          </a:solidFill>
                        </a:rPr>
                        <a:t>NDRE</a:t>
                      </a:r>
                      <a:endParaRPr lang="en-US" sz="120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200" dirty="0">
                          <a:solidFill>
                            <a:schemeClr val="tx1"/>
                          </a:solidFill>
                        </a:rPr>
                        <a:t>(B8A − B5) / (B8A + B5)</a:t>
                      </a:r>
                      <a:endParaRPr lang="en-US" sz="120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200" dirty="0">
                          <a:solidFill>
                            <a:schemeClr val="tx1"/>
                          </a:solidFill>
                        </a:rPr>
                        <a:t>Chlorophyll (red edge)</a:t>
                      </a:r>
                      <a:endParaRPr lang="en-US" sz="120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200" dirty="0">
                          <a:solidFill>
                            <a:schemeClr val="tx1"/>
                          </a:solidFill>
                        </a:rPr>
                        <a:t>Gitelson &amp; Merzlyak (1994)</a:t>
                      </a:r>
                      <a:endParaRPr lang="en-US" sz="120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r>
              <a:tr h="0">
                <a:tc>
                  <a:txBody>
                    <a:bodyPr/>
                    <a:lstStyle/>
                    <a:p>
                      <a:pPr indent="0" marL="0">
                        <a:buNone/>
                      </a:pPr>
                      <a:r>
                        <a:rPr lang="en-US" sz="1200" dirty="0">
                          <a:solidFill>
                            <a:schemeClr val="tx1"/>
                          </a:solidFill>
                        </a:rPr>
                        <a:t>CIre</a:t>
                      </a:r>
                      <a:endParaRPr lang="en-US" sz="120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200" dirty="0">
                          <a:solidFill>
                            <a:schemeClr val="tx1"/>
                          </a:solidFill>
                        </a:rPr>
                        <a:t>B7 / B5 − 1</a:t>
                      </a:r>
                      <a:endParaRPr lang="en-US" sz="120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200" dirty="0">
                          <a:solidFill>
                            <a:schemeClr val="tx1"/>
                          </a:solidFill>
                        </a:rPr>
                        <a:t>Canopy chlorophyll</a:t>
                      </a:r>
                      <a:endParaRPr lang="en-US" sz="120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200" dirty="0">
                          <a:solidFill>
                            <a:schemeClr val="tx1"/>
                          </a:solidFill>
                        </a:rPr>
                        <a:t>Clevers &amp; Gitelson (2013)</a:t>
                      </a:r>
                      <a:endParaRPr lang="en-US" sz="120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r>
              <a:tr h="0">
                <a:tc>
                  <a:txBody>
                    <a:bodyPr/>
                    <a:lstStyle/>
                    <a:p>
                      <a:pPr indent="0" marL="0">
                        <a:buNone/>
                      </a:pPr>
                      <a:r>
                        <a:rPr lang="en-US" sz="1200" dirty="0">
                          <a:solidFill>
                            <a:schemeClr val="tx1"/>
                          </a:solidFill>
                        </a:rPr>
                        <a:t>MTCI</a:t>
                      </a:r>
                      <a:endParaRPr lang="en-US" sz="120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200" dirty="0">
                          <a:solidFill>
                            <a:schemeClr val="tx1"/>
                          </a:solidFill>
                        </a:rPr>
                        <a:t>(B6 − B5) / (B5 − B4)</a:t>
                      </a:r>
                      <a:endParaRPr lang="en-US" sz="120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200" dirty="0">
                          <a:solidFill>
                            <a:schemeClr val="tx1"/>
                          </a:solidFill>
                        </a:rPr>
                        <a:t>Chlorophyll content</a:t>
                      </a:r>
                      <a:endParaRPr lang="en-US" sz="120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200" dirty="0">
                          <a:solidFill>
                            <a:schemeClr val="tx1"/>
                          </a:solidFill>
                        </a:rPr>
                        <a:t>Dash &amp; Curran (2004)</a:t>
                      </a:r>
                      <a:endParaRPr lang="en-US" sz="120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r>
              <a:tr h="0">
                <a:tc>
                  <a:txBody>
                    <a:bodyPr/>
                    <a:lstStyle/>
                    <a:p>
                      <a:pPr indent="0" marL="0">
                        <a:buNone/>
                      </a:pPr>
                      <a:r>
                        <a:rPr lang="en-US" sz="1200" dirty="0">
                          <a:solidFill>
                            <a:schemeClr val="tx1"/>
                          </a:solidFill>
                        </a:rPr>
                        <a:t>IRECI</a:t>
                      </a:r>
                      <a:endParaRPr lang="en-US" sz="120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200" dirty="0">
                          <a:solidFill>
                            <a:schemeClr val="tx1"/>
                          </a:solidFill>
                        </a:rPr>
                        <a:t>(B7 − B4) / (B5 / B6)</a:t>
                      </a:r>
                      <a:endParaRPr lang="en-US" sz="120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200" dirty="0">
                          <a:solidFill>
                            <a:schemeClr val="tx1"/>
                          </a:solidFill>
                        </a:rPr>
                        <a:t>Canopy chlorophyll</a:t>
                      </a:r>
                      <a:endParaRPr lang="en-US" sz="120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200" dirty="0">
                          <a:solidFill>
                            <a:schemeClr val="tx1"/>
                          </a:solidFill>
                        </a:rPr>
                        <a:t>Frampton et al. (2013)</a:t>
                      </a:r>
                      <a:endParaRPr lang="en-US" sz="120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r>
              <a:tr h="0">
                <a:tc>
                  <a:txBody>
                    <a:bodyPr/>
                    <a:lstStyle/>
                    <a:p>
                      <a:pPr indent="0" marL="0">
                        <a:buNone/>
                      </a:pPr>
                      <a:r>
                        <a:rPr lang="en-US" sz="1200" dirty="0">
                          <a:solidFill>
                            <a:schemeClr val="tx1"/>
                          </a:solidFill>
                        </a:rPr>
                        <a:t>S2REP</a:t>
                      </a:r>
                      <a:endParaRPr lang="en-US" sz="120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200" dirty="0">
                          <a:solidFill>
                            <a:schemeClr val="tx1"/>
                          </a:solidFill>
                        </a:rPr>
                        <a:t>705 + 35 · [((B4 + B7)/2 − B5) / (B6 − B5)]</a:t>
                      </a:r>
                      <a:endParaRPr lang="en-US" sz="120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200" dirty="0">
                          <a:solidFill>
                            <a:schemeClr val="tx1"/>
                          </a:solidFill>
                        </a:rPr>
                        <a:t>Red-edge position</a:t>
                      </a:r>
                      <a:endParaRPr lang="en-US" sz="120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200" dirty="0">
                          <a:solidFill>
                            <a:schemeClr val="tx1"/>
                          </a:solidFill>
                        </a:rPr>
                        <a:t>Frampton et al. (2013)</a:t>
                      </a:r>
                      <a:endParaRPr lang="en-US" sz="120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r>
              <a:tr h="0">
                <a:tc>
                  <a:txBody>
                    <a:bodyPr/>
                    <a:lstStyle/>
                    <a:p>
                      <a:pPr indent="0" marL="0">
                        <a:buNone/>
                      </a:pPr>
                      <a:r>
                        <a:rPr lang="en-US" sz="1200" dirty="0">
                          <a:solidFill>
                            <a:schemeClr val="tx1"/>
                          </a:solidFill>
                        </a:rPr>
                        <a:t>PSRI</a:t>
                      </a:r>
                      <a:endParaRPr lang="en-US" sz="120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200" dirty="0">
                          <a:solidFill>
                            <a:schemeClr val="tx1"/>
                          </a:solidFill>
                        </a:rPr>
                        <a:t>(B4 − B2) / B6</a:t>
                      </a:r>
                      <a:endParaRPr lang="en-US" sz="120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200" dirty="0">
                          <a:solidFill>
                            <a:schemeClr val="tx1"/>
                          </a:solidFill>
                        </a:rPr>
                        <a:t>Senescence, carotenoids</a:t>
                      </a:r>
                      <a:endParaRPr lang="en-US" sz="120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200" dirty="0">
                          <a:solidFill>
                            <a:schemeClr val="tx1"/>
                          </a:solidFill>
                        </a:rPr>
                        <a:t>Merzlyak et al. (1999)</a:t>
                      </a:r>
                      <a:endParaRPr lang="en-US" sz="120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r>
              <a:tr h="0">
                <a:tc>
                  <a:txBody>
                    <a:bodyPr/>
                    <a:lstStyle/>
                    <a:p>
                      <a:pPr indent="0" marL="0">
                        <a:buNone/>
                      </a:pPr>
                      <a:r>
                        <a:rPr lang="en-US" sz="1200" dirty="0">
                          <a:solidFill>
                            <a:schemeClr val="tx1"/>
                          </a:solidFill>
                        </a:rPr>
                        <a:t>REDSI</a:t>
                      </a:r>
                      <a:endParaRPr lang="en-US" sz="120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200" dirty="0">
                          <a:solidFill>
                            <a:schemeClr val="tx1"/>
                          </a:solidFill>
                        </a:rPr>
                        <a:t>From B4, B5, B7 (see paper)</a:t>
                      </a:r>
                      <a:endParaRPr lang="en-US" sz="120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200" dirty="0">
                          <a:solidFill>
                            <a:schemeClr val="tx1"/>
                          </a:solidFill>
                        </a:rPr>
                        <a:t>Rust stress (yellow rust)</a:t>
                      </a:r>
                      <a:endParaRPr lang="en-US" sz="120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200" dirty="0">
                          <a:solidFill>
                            <a:schemeClr val="tx1"/>
                          </a:solidFill>
                        </a:rPr>
                        <a:t>Zheng et al. (2018)</a:t>
                      </a:r>
                      <a:endParaRPr lang="en-US" sz="120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r>
            </a:tbl>
          </a:graphicData>
        </a:graphic>
      </p:graphicFrame>
      <p:sp>
        <p:nvSpPr>
          <p:cNvPr id="5" name="Text 2"/>
          <p:cNvSpPr txBox="1"/>
          <p:nvPr/>
        </p:nvSpPr>
        <p:spPr>
          <a:xfrm>
            <a:off x="457200" y="4251960"/>
            <a:ext cx="11274552" cy="548640"/>
          </a:xfrm>
          <a:prstGeom prst="rect">
            <a:avLst/>
          </a:prstGeom>
          <a:noFill/>
          <a:ln/>
        </p:spPr>
        <p:txBody>
          <a:bodyPr wrap="square" lIns="0" tIns="0" rIns="0" bIns="0" rtlCol="0" anchor="t"/>
          <a:lstStyle/>
          <a:p>
            <a:pPr indent="0" marL="0">
              <a:buNone/>
            </a:pPr>
            <a:r>
              <a:rPr lang="en-US" sz="1300" dirty="0">
                <a:solidFill>
                  <a:schemeClr val="tx1"/>
                </a:solidFill>
              </a:rPr>
              <a:t>Feature set for analysis: 8 simulated bands + these indices (+ simple ratios). Then Phase 1 (KW+FDR, JM, ReliefF, Boruta) decides which are disease-specific.</a:t>
            </a:r>
            <a:endParaRPr lang="en-US" sz="1300" dirty="0"/>
          </a:p>
        </p:txBody>
      </p:sp>
      <p:sp>
        <p:nvSpPr>
          <p:cNvPr id="6" name="Text 3"/>
          <p:cNvSpPr txBox="1"/>
          <p:nvPr/>
        </p:nvSpPr>
        <p:spPr>
          <a:xfrm>
            <a:off x="457200" y="6035040"/>
            <a:ext cx="11247120" cy="310896"/>
          </a:xfrm>
          <a:prstGeom prst="rect">
            <a:avLst/>
          </a:prstGeom>
          <a:noFill/>
          <a:ln/>
        </p:spPr>
        <p:txBody>
          <a:bodyPr wrap="square" lIns="0" tIns="0" rIns="0" bIns="0" rtlCol="0" anchor="b"/>
          <a:lstStyle/>
          <a:p>
            <a:pPr indent="0" marL="0">
              <a:buNone/>
            </a:pPr>
            <a:r>
              <a:rPr lang="en-US" sz="1000" i="1" dirty="0">
                <a:solidFill>
                  <a:schemeClr val="tx2"/>
                </a:solidFill>
              </a:rPr>
              <a:t>Index formulas as adapted to Sentinel-2 bands in Frampton et al. (2013) and Clevers &amp; Gitelson (2013); verify exact forms against the cited papers before use.</a:t>
            </a:r>
            <a:endParaRPr lang="en-US" sz="1000" dirty="0"/>
          </a:p>
        </p:txBody>
      </p:sp>
      <p:sp>
        <p:nvSpPr>
          <p:cNvPr id="25" name="Slide Number Placeholder 0"/>
          <p:cNvSpPr>
            <a:spLocks noGrp="1"/>
          </p:cNvSpPr>
          <p:nvPr>
            <p:ph type="sldNum" sz="quarter" idx="4294967295"/>
          </p:nvPr>
        </p:nvSpPr>
        <p:spPr>
          <a:xfrm>
            <a:off x="11247120" y="644652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384048"/>
            <a:ext cx="11247120" cy="640080"/>
          </a:xfrm>
          <a:prstGeom prst="rect">
            <a:avLst/>
          </a:prstGeom>
          <a:noFill/>
          <a:ln/>
        </p:spPr>
        <p:txBody>
          <a:bodyPr wrap="square" lIns="0" tIns="0" rIns="0" bIns="0" rtlCol="0" anchor="ctr"/>
          <a:lstStyle/>
          <a:p>
            <a:pPr algn="l" indent="0" marL="0">
              <a:buNone/>
            </a:pPr>
            <a:r>
              <a:rPr lang="en-US" sz="2600" b="1" dirty="0">
                <a:solidFill>
                  <a:schemeClr val="tx1"/>
                </a:solidFill>
              </a:rPr>
              <a:t>B4 · Analysis design: comparing spectral configurations</a:t>
            </a:r>
            <a:endParaRPr lang="en-US" sz="2600" dirty="0"/>
          </a:p>
        </p:txBody>
      </p:sp>
      <p:sp>
        <p:nvSpPr>
          <p:cNvPr id="3" name="Text 1"/>
          <p:cNvSpPr txBox="1"/>
          <p:nvPr/>
        </p:nvSpPr>
        <p:spPr>
          <a:xfrm>
            <a:off x="457200" y="164592"/>
            <a:ext cx="7315200" cy="237744"/>
          </a:xfrm>
          <a:prstGeom prst="rect">
            <a:avLst/>
          </a:prstGeom>
          <a:noFill/>
          <a:ln/>
        </p:spPr>
        <p:txBody>
          <a:bodyPr wrap="square" lIns="0" tIns="0" rIns="0" bIns="0" rtlCol="0" anchor="t"/>
          <a:lstStyle/>
          <a:p>
            <a:pPr indent="0" marL="0">
              <a:buNone/>
            </a:pPr>
            <a:r>
              <a:rPr lang="en-US" sz="1100" b="1" spc="200" kern="0" dirty="0">
                <a:solidFill>
                  <a:schemeClr val="accent1"/>
                </a:solidFill>
              </a:rPr>
              <a:t>PART B · STEP B4</a:t>
            </a:r>
            <a:endParaRPr lang="en-US" sz="11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7315200" cy="914400"/>
        </p:xfrm>
        <a:graphic>
          <a:graphicData uri="http://schemas.openxmlformats.org/drawingml/2006/table">
            <a:tbl>
              <a:tblPr/>
              <a:tblGrid>
                <a:gridCol w="1645920"/>
                <a:gridCol w="3749040"/>
                <a:gridCol w="1920240"/>
              </a:tblGrid>
              <a:tr h="0">
                <a:tc>
                  <a:txBody>
                    <a:bodyPr/>
                    <a:lstStyle/>
                    <a:p>
                      <a:pPr indent="0" marL="0">
                        <a:buNone/>
                      </a:pPr>
                      <a:r>
                        <a:rPr lang="en-US" sz="1200" b="1" dirty="0">
                          <a:solidFill>
                            <a:schemeClr val="bg1"/>
                          </a:solidFill>
                        </a:rPr>
                        <a:t>Configuration</a:t>
                      </a:r>
                      <a:endParaRPr lang="en-US" sz="120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Input features</a:t>
                      </a:r>
                      <a:endParaRPr lang="en-US" sz="120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Same for all</a:t>
                      </a:r>
                      <a:endParaRPr lang="en-US" sz="120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solidFill>
                      <a:schemeClr val="tx2"/>
                    </a:solidFill>
                  </a:tcPr>
                </a:tc>
              </a:tr>
              <a:tr h="0">
                <a:tc>
                  <a:txBody>
                    <a:bodyPr/>
                    <a:lstStyle/>
                    <a:p>
                      <a:pPr indent="0" marL="0">
                        <a:buNone/>
                      </a:pPr>
                      <a:r>
                        <a:rPr lang="en-US" sz="1200" dirty="0">
                          <a:solidFill>
                            <a:schemeClr val="tx1"/>
                          </a:solidFill>
                        </a:rPr>
                        <a:t>HS-full</a:t>
                      </a:r>
                      <a:endParaRPr lang="en-US" sz="120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200" dirty="0">
                          <a:solidFill>
                            <a:schemeClr val="tx1"/>
                          </a:solidFill>
                        </a:rPr>
                        <a:t>All hyperspectral features (bands, indices, derivatives, CR)</a:t>
                      </a:r>
                      <a:endParaRPr lang="en-US" sz="120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200" dirty="0">
                          <a:solidFill>
                            <a:schemeClr val="tx1"/>
                          </a:solidFill>
                        </a:rPr>
                        <a:t>48 plots × 4 dates</a:t>
                      </a:r>
                      <a:endParaRPr lang="en-US" sz="120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r>
              <a:tr h="0">
                <a:tc>
                  <a:txBody>
                    <a:bodyPr/>
                    <a:lstStyle/>
                    <a:p>
                      <a:pPr indent="0" marL="0">
                        <a:buNone/>
                      </a:pPr>
                      <a:r>
                        <a:rPr lang="en-US" sz="1200" dirty="0">
                          <a:solidFill>
                            <a:schemeClr val="tx1"/>
                          </a:solidFill>
                        </a:rPr>
                        <a:t>MS-real</a:t>
                      </a:r>
                      <a:endParaRPr lang="en-US" sz="120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200" dirty="0">
                          <a:solidFill>
                            <a:schemeClr val="tx1"/>
                          </a:solidFill>
                        </a:rPr>
                        <a:t>MicaSense bands + indices (measured)</a:t>
                      </a:r>
                      <a:endParaRPr lang="en-US" sz="120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200" dirty="0">
                          <a:solidFill>
                            <a:schemeClr val="tx1"/>
                          </a:solidFill>
                        </a:rPr>
                        <a:t>Nested plot-grouped CV</a:t>
                      </a:r>
                      <a:endParaRPr lang="en-US" sz="120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r>
              <a:tr h="0">
                <a:tc>
                  <a:txBody>
                    <a:bodyPr/>
                    <a:lstStyle/>
                    <a:p>
                      <a:pPr indent="0" marL="0">
                        <a:buNone/>
                      </a:pPr>
                      <a:r>
                        <a:rPr lang="en-US" sz="1200" dirty="0">
                          <a:solidFill>
                            <a:schemeClr val="tx1"/>
                          </a:solidFill>
                        </a:rPr>
                        <a:t>MS-sim</a:t>
                      </a:r>
                      <a:endParaRPr lang="en-US" sz="120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200" dirty="0">
                          <a:solidFill>
                            <a:schemeClr val="tx1"/>
                          </a:solidFill>
                        </a:rPr>
                        <a:t>MicaSense simulated from HS</a:t>
                      </a:r>
                      <a:endParaRPr lang="en-US" sz="120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200" dirty="0">
                          <a:solidFill>
                            <a:schemeClr val="tx1"/>
                          </a:solidFill>
                        </a:rPr>
                        <a:t>Phase 1 → VIF → SFFS</a:t>
                      </a:r>
                      <a:endParaRPr lang="en-US" sz="120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r>
              <a:tr h="0">
                <a:tc>
                  <a:txBody>
                    <a:bodyPr/>
                    <a:lstStyle/>
                    <a:p>
                      <a:pPr indent="0" marL="0">
                        <a:buNone/>
                      </a:pPr>
                      <a:r>
                        <a:rPr lang="en-US" sz="1200" dirty="0">
                          <a:solidFill>
                            <a:schemeClr val="tx1"/>
                          </a:solidFill>
                        </a:rPr>
                        <a:t>S2-sim</a:t>
                      </a:r>
                      <a:endParaRPr lang="en-US" sz="120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200" dirty="0">
                          <a:solidFill>
                            <a:schemeClr val="tx1"/>
                          </a:solidFill>
                        </a:rPr>
                        <a:t>Sentinel-2 simulated bands + S2 indices</a:t>
                      </a:r>
                      <a:endParaRPr lang="en-US" sz="120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200" dirty="0">
                          <a:solidFill>
                            <a:schemeClr val="tx1"/>
                          </a:solidFill>
                        </a:rPr>
                        <a:t>RF / SVM / KNN</a:t>
                      </a:r>
                      <a:endParaRPr lang="en-US" sz="120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r>
              <a:tr h="0">
                <a:tc>
                  <a:txBody>
                    <a:bodyPr/>
                    <a:lstStyle/>
                    <a:p>
                      <a:pPr indent="0" marL="0">
                        <a:buNone/>
                      </a:pPr>
                      <a:r>
                        <a:rPr lang="en-US" sz="1200" dirty="0">
                          <a:solidFill>
                            <a:schemeClr val="tx1"/>
                          </a:solidFill>
                        </a:rPr>
                        <a:t>S2-sim + TIR</a:t>
                      </a:r>
                      <a:endParaRPr lang="en-US" sz="120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200" dirty="0">
                          <a:solidFill>
                            <a:schemeClr val="tx1"/>
                          </a:solidFill>
                        </a:rPr>
                        <a:t>S2-sim + thermal CTD/NRCT</a:t>
                      </a:r>
                      <a:endParaRPr lang="en-US" sz="120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c>
                  <a:txBody>
                    <a:bodyPr/>
                    <a:lstStyle/>
                    <a:p>
                      <a:pPr indent="0" marL="0">
                        <a:buNone/>
                      </a:pPr>
                      <a:r>
                        <a:rPr lang="en-US" sz="1200" dirty="0">
                          <a:solidFill>
                            <a:schemeClr val="tx1"/>
                          </a:solidFill>
                        </a:rPr>
                        <a:t>Macro-F1, OA, κ, R²</a:t>
                      </a:r>
                      <a:endParaRPr lang="en-US" sz="1200" dirty="0"/>
                    </a:p>
                  </a:txBody>
                  <a:tcPr marL="76200" marR="76200" marT="38100" marB="38100" anchor="ctr">
                    <a:lnL w="9525" cap="flat" cmpd="sng" algn="ctr">
                      <a:solidFill>
                        <a:srgbClr val="C9D6D8"/>
                      </a:solidFill>
                      <a:prstDash val="solid"/>
                      <a:round/>
                      <a:headEnd type="none" w="med" len="med"/>
                      <a:tailEnd type="none" w="med" len="med"/>
                    </a:lnL>
                    <a:lnR w="9525" cap="flat" cmpd="sng" algn="ctr">
                      <a:solidFill>
                        <a:srgbClr val="C9D6D8"/>
                      </a:solidFill>
                      <a:prstDash val="solid"/>
                      <a:round/>
                      <a:headEnd type="none" w="med" len="med"/>
                      <a:tailEnd type="none" w="med" len="med"/>
                    </a:lnR>
                    <a:lnT w="9525" cap="flat" cmpd="sng" algn="ctr">
                      <a:solidFill>
                        <a:srgbClr val="C9D6D8"/>
                      </a:solidFill>
                      <a:prstDash val="solid"/>
                      <a:round/>
                      <a:headEnd type="none" w="med" len="med"/>
                      <a:tailEnd type="none" w="med" len="med"/>
                    </a:lnT>
                    <a:lnB w="9525" cap="flat" cmpd="sng" algn="ctr">
                      <a:solidFill>
                        <a:srgbClr val="C9D6D8"/>
                      </a:solidFill>
                      <a:prstDash val="solid"/>
                      <a:round/>
                      <a:headEnd type="none" w="med" len="med"/>
                      <a:tailEnd type="none" w="med" len="med"/>
                    </a:lnB>
                  </a:tcPr>
                </a:tc>
              </a:tr>
            </a:tbl>
          </a:graphicData>
        </a:graphic>
      </p:graphicFrame>
      <p:sp>
        <p:nvSpPr>
          <p:cNvPr id="5" name="Shape 2"/>
          <p:cNvSpPr/>
          <p:nvPr/>
        </p:nvSpPr>
        <p:spPr>
          <a:xfrm>
            <a:off x="8046720" y="1325880"/>
            <a:ext cx="3685032" cy="4526280"/>
          </a:xfrm>
          <a:prstGeom prst="roundRect">
            <a:avLst>
              <a:gd name="adj" fmla="val 1985"/>
            </a:avLst>
          </a:prstGeom>
          <a:solidFill>
            <a:schemeClr val="bg2"/>
          </a:solidFill>
          <a:ln/>
        </p:spPr>
      </p:sp>
      <p:sp>
        <p:nvSpPr>
          <p:cNvPr id="6" name="Shape 3"/>
          <p:cNvSpPr/>
          <p:nvPr/>
        </p:nvSpPr>
        <p:spPr>
          <a:xfrm>
            <a:off x="8046720" y="1453896"/>
            <a:ext cx="64008" cy="384048"/>
          </a:xfrm>
          <a:prstGeom prst="rect">
            <a:avLst/>
          </a:prstGeom>
          <a:solidFill>
            <a:schemeClr val="accent2"/>
          </a:solidFill>
          <a:ln/>
        </p:spPr>
      </p:sp>
      <p:sp>
        <p:nvSpPr>
          <p:cNvPr id="7" name="Text 4"/>
          <p:cNvSpPr txBox="1"/>
          <p:nvPr/>
        </p:nvSpPr>
        <p:spPr>
          <a:xfrm>
            <a:off x="8247888" y="1435608"/>
            <a:ext cx="3364992" cy="420624"/>
          </a:xfrm>
          <a:prstGeom prst="rect">
            <a:avLst/>
          </a:prstGeom>
          <a:noFill/>
          <a:ln/>
        </p:spPr>
        <p:txBody>
          <a:bodyPr wrap="square" lIns="0" tIns="0" rIns="0" bIns="0" rtlCol="0" anchor="ctr"/>
          <a:lstStyle/>
          <a:p>
            <a:pPr indent="0" marL="0">
              <a:buNone/>
            </a:pPr>
            <a:r>
              <a:rPr lang="en-US" sz="1500" b="1" dirty="0">
                <a:solidFill>
                  <a:schemeClr val="tx1"/>
                </a:solidFill>
              </a:rPr>
              <a:t>Outputs</a:t>
            </a:r>
            <a:endParaRPr lang="en-US" sz="1500" dirty="0"/>
          </a:p>
        </p:txBody>
      </p:sp>
      <p:sp>
        <p:nvSpPr>
          <p:cNvPr id="8" name="Text 5"/>
          <p:cNvSpPr txBox="1"/>
          <p:nvPr/>
        </p:nvSpPr>
        <p:spPr>
          <a:xfrm>
            <a:off x="8247888" y="1929384"/>
            <a:ext cx="3319272" cy="3794760"/>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chemeClr val="tx1"/>
                </a:solidFill>
              </a:rPr>
              <a:t>Information-loss table: macro-F1 / κ per configuration</a:t>
            </a:r>
            <a:endParaRPr lang="en-US" sz="1250" dirty="0"/>
          </a:p>
          <a:p>
            <a:pPr marL="177800" indent="-177800">
              <a:spcAft>
                <a:spcPts val="500"/>
              </a:spcAft>
              <a:buSzPct val="100000"/>
              <a:buChar char="•"/>
            </a:pPr>
            <a:r>
              <a:rPr lang="en-US" sz="1200" dirty="0">
                <a:solidFill>
                  <a:schemeClr val="tx1"/>
                </a:solidFill>
              </a:rPr>
              <a:t>McNemar: HS-full vs S2-sim on paired predictions</a:t>
            </a:r>
            <a:endParaRPr lang="en-US" sz="1250" dirty="0"/>
          </a:p>
          <a:p>
            <a:pPr marL="177800" indent="-177800">
              <a:spcAft>
                <a:spcPts val="500"/>
              </a:spcAft>
              <a:buSzPct val="100000"/>
              <a:buChar char="•"/>
            </a:pPr>
            <a:r>
              <a:rPr lang="en-US" sz="1200" dirty="0">
                <a:solidFill>
                  <a:schemeClr val="tx1"/>
                </a:solidFill>
              </a:rPr>
              <a:t>Earliest flight date at which S2-sim detects disease (control vs inoculated)</a:t>
            </a:r>
            <a:endParaRPr lang="en-US" sz="1250" dirty="0"/>
          </a:p>
          <a:p>
            <a:pPr marL="177800" indent="-177800">
              <a:spcAft>
                <a:spcPts val="500"/>
              </a:spcAft>
              <a:buSzPct val="100000"/>
              <a:buChar char="•"/>
            </a:pPr>
            <a:r>
              <a:rPr lang="en-US" sz="1200" dirty="0">
                <a:solidFill>
                  <a:schemeClr val="tx1"/>
                </a:solidFill>
              </a:rPr>
              <a:t>Selected S2 bands / indices across folds (selection frequency)</a:t>
            </a:r>
            <a:endParaRPr lang="en-US" sz="1250" dirty="0"/>
          </a:p>
        </p:txBody>
      </p:sp>
      <p:sp>
        <p:nvSpPr>
          <p:cNvPr id="9" name="Text 6"/>
          <p:cNvSpPr txBox="1"/>
          <p:nvPr/>
        </p:nvSpPr>
        <p:spPr>
          <a:xfrm>
            <a:off x="457200" y="3429000"/>
            <a:ext cx="7315200" cy="914400"/>
          </a:xfrm>
          <a:prstGeom prst="rect">
            <a:avLst/>
          </a:prstGeom>
          <a:noFill/>
          <a:ln/>
        </p:spPr>
        <p:txBody>
          <a:bodyPr wrap="square" lIns="0" tIns="0" rIns="0" bIns="0" rtlCol="0" anchor="t"/>
          <a:lstStyle/>
          <a:p>
            <a:pPr indent="0" marL="0">
              <a:buNone/>
            </a:pPr>
            <a:r>
              <a:rPr lang="en-US" sz="1300" b="1" dirty="0">
                <a:solidFill>
                  <a:schemeClr val="tx1"/>
                </a:solidFill>
              </a:rPr>
              <a:t>Interpretation: </a:t>
            </a:r>
            <a:pPr indent="0" marL="0">
              <a:buNone/>
            </a:pPr>
            <a:r>
              <a:rPr lang="en-US" sz="1300" dirty="0">
                <a:solidFill>
                  <a:schemeClr val="tx1"/>
                </a:solidFill>
              </a:rPr>
              <a:t>if S2-sim ≈ MS-real, Sentinel-2's bands are spectrally adequate; the remaining question is spatial (mixed 10–20 m pixels), tested in farmer fields (next slide).</a:t>
            </a:r>
            <a:endParaRPr lang="en-US" sz="1300" dirty="0"/>
          </a:p>
        </p:txBody>
      </p:sp>
      <p:sp>
        <p:nvSpPr>
          <p:cNvPr id="10" name="Text 7"/>
          <p:cNvSpPr txBox="1"/>
          <p:nvPr/>
        </p:nvSpPr>
        <p:spPr>
          <a:xfrm>
            <a:off x="457200" y="6035040"/>
            <a:ext cx="11247120" cy="310896"/>
          </a:xfrm>
          <a:prstGeom prst="rect">
            <a:avLst/>
          </a:prstGeom>
          <a:noFill/>
          <a:ln/>
        </p:spPr>
        <p:txBody>
          <a:bodyPr wrap="square" lIns="0" tIns="0" rIns="0" bIns="0" rtlCol="0" anchor="b"/>
          <a:lstStyle/>
          <a:p>
            <a:pPr indent="0" marL="0">
              <a:buNone/>
            </a:pPr>
            <a:r>
              <a:rPr lang="en-US" sz="1000" i="1" dirty="0">
                <a:solidFill>
                  <a:schemeClr val="tx2"/>
                </a:solidFill>
              </a:rPr>
              <a:t>Validation design: Roberts et al. (2017) structured cross-validation; McNemar test as in earlier pipeline steps.</a:t>
            </a:r>
            <a:endParaRPr lang="en-US" sz="1000" dirty="0"/>
          </a:p>
        </p:txBody>
      </p:sp>
      <p:sp>
        <p:nvSpPr>
          <p:cNvPr id="25" name="Slide Number Placeholder 0"/>
          <p:cNvSpPr>
            <a:spLocks noGrp="1"/>
          </p:cNvSpPr>
          <p:nvPr>
            <p:ph type="sldNum" sz="quarter" idx="4294967295"/>
          </p:nvPr>
        </p:nvSpPr>
        <p:spPr>
          <a:xfrm>
            <a:off x="11247120" y="644652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384048"/>
            <a:ext cx="11247120" cy="640080"/>
          </a:xfrm>
          <a:prstGeom prst="rect">
            <a:avLst/>
          </a:prstGeom>
          <a:noFill/>
          <a:ln/>
        </p:spPr>
        <p:txBody>
          <a:bodyPr wrap="square" lIns="0" tIns="0" rIns="0" bIns="0" rtlCol="0" anchor="ctr"/>
          <a:lstStyle/>
          <a:p>
            <a:pPr algn="l" indent="0" marL="0">
              <a:buNone/>
            </a:pPr>
            <a:r>
              <a:rPr lang="en-US" sz="2600" b="1" dirty="0">
                <a:solidFill>
                  <a:schemeClr val="tx1"/>
                </a:solidFill>
              </a:rPr>
              <a:t>B5 · Next step: real Sentinel-2 in farmers' fields</a:t>
            </a:r>
            <a:endParaRPr lang="en-US" sz="2600" dirty="0"/>
          </a:p>
        </p:txBody>
      </p:sp>
      <p:sp>
        <p:nvSpPr>
          <p:cNvPr id="3" name="Text 1"/>
          <p:cNvSpPr txBox="1"/>
          <p:nvPr/>
        </p:nvSpPr>
        <p:spPr>
          <a:xfrm>
            <a:off x="457200" y="164592"/>
            <a:ext cx="7315200" cy="237744"/>
          </a:xfrm>
          <a:prstGeom prst="rect">
            <a:avLst/>
          </a:prstGeom>
          <a:noFill/>
          <a:ln/>
        </p:spPr>
        <p:txBody>
          <a:bodyPr wrap="square" lIns="0" tIns="0" rIns="0" bIns="0" rtlCol="0" anchor="t"/>
          <a:lstStyle/>
          <a:p>
            <a:pPr indent="0" marL="0">
              <a:buNone/>
            </a:pPr>
            <a:r>
              <a:rPr lang="en-US" sz="1100" b="1" spc="200" kern="0" dirty="0">
                <a:solidFill>
                  <a:schemeClr val="accent1"/>
                </a:solidFill>
              </a:rPr>
              <a:t>PART B · STEP B5</a:t>
            </a:r>
            <a:endParaRPr lang="en-US" sz="1100" dirty="0"/>
          </a:p>
        </p:txBody>
      </p:sp>
      <p:sp>
        <p:nvSpPr>
          <p:cNvPr id="4" name="Text 2"/>
          <p:cNvSpPr/>
          <p:nvPr/>
        </p:nvSpPr>
        <p:spPr>
          <a:xfrm>
            <a:off x="457200" y="1325880"/>
            <a:ext cx="2167128" cy="822960"/>
          </a:xfrm>
          <a:prstGeom prst="homePlate">
            <a:avLst/>
          </a:prstGeom>
          <a:solidFill>
            <a:schemeClr val="accent1"/>
          </a:solidFill>
          <a:ln/>
        </p:spPr>
        <p:txBody>
          <a:bodyPr wrap="square" lIns="0" tIns="50800" rIns="76200" bIns="0" rtlCol="0" anchor="ctr"/>
          <a:lstStyle/>
          <a:p>
            <a:pPr algn="ctr" indent="0" marL="0">
              <a:buNone/>
            </a:pPr>
            <a:r>
              <a:rPr lang="en-US" sz="1200" b="1" dirty="0">
                <a:solidFill>
                  <a:schemeClr val="bg1"/>
                </a:solidFill>
              </a:rPr>
              <a:t>UAV map of farmer field</a:t>
            </a:r>
            <a:endParaRPr lang="en-US" sz="1200" dirty="0"/>
          </a:p>
        </p:txBody>
      </p:sp>
      <p:sp>
        <p:nvSpPr>
          <p:cNvPr id="5" name="Text 3"/>
          <p:cNvSpPr/>
          <p:nvPr/>
        </p:nvSpPr>
        <p:spPr>
          <a:xfrm>
            <a:off x="2734056" y="1325880"/>
            <a:ext cx="2167128" cy="822960"/>
          </a:xfrm>
          <a:prstGeom prst="chevron">
            <a:avLst/>
          </a:prstGeom>
          <a:solidFill>
            <a:schemeClr val="accent1"/>
          </a:solidFill>
          <a:ln/>
        </p:spPr>
        <p:txBody>
          <a:bodyPr wrap="square" lIns="0" tIns="152400" rIns="76200" bIns="0" rtlCol="0" anchor="ctr"/>
          <a:lstStyle/>
          <a:p>
            <a:pPr algn="ctr" indent="0" marL="0">
              <a:buNone/>
            </a:pPr>
            <a:r>
              <a:rPr lang="en-US" sz="1200" b="1" dirty="0">
                <a:solidFill>
                  <a:schemeClr val="bg1"/>
                </a:solidFill>
              </a:rPr>
              <a:t>Aggregate to S2 grid</a:t>
            </a:r>
            <a:endParaRPr lang="en-US" sz="1200" dirty="0"/>
          </a:p>
        </p:txBody>
      </p:sp>
      <p:sp>
        <p:nvSpPr>
          <p:cNvPr id="6" name="Text 4"/>
          <p:cNvSpPr/>
          <p:nvPr/>
        </p:nvSpPr>
        <p:spPr>
          <a:xfrm>
            <a:off x="5010912" y="1325880"/>
            <a:ext cx="2167128" cy="822960"/>
          </a:xfrm>
          <a:prstGeom prst="chevron">
            <a:avLst/>
          </a:prstGeom>
          <a:solidFill>
            <a:schemeClr val="accent2"/>
          </a:solidFill>
          <a:ln/>
        </p:spPr>
        <p:txBody>
          <a:bodyPr wrap="square" lIns="0" tIns="152400" rIns="76200" bIns="0" rtlCol="0" anchor="ctr"/>
          <a:lstStyle/>
          <a:p>
            <a:pPr algn="ctr" indent="0" marL="0">
              <a:buNone/>
            </a:pPr>
            <a:r>
              <a:rPr lang="en-US" sz="1200" b="1" dirty="0">
                <a:solidFill>
                  <a:schemeClr val="bg1"/>
                </a:solidFill>
              </a:rPr>
              <a:t>Real S2 L2A features</a:t>
            </a:r>
            <a:endParaRPr lang="en-US" sz="1200" dirty="0"/>
          </a:p>
        </p:txBody>
      </p:sp>
      <p:sp>
        <p:nvSpPr>
          <p:cNvPr id="7" name="Text 5"/>
          <p:cNvSpPr/>
          <p:nvPr/>
        </p:nvSpPr>
        <p:spPr>
          <a:xfrm>
            <a:off x="7287768" y="1325880"/>
            <a:ext cx="2167128" cy="822960"/>
          </a:xfrm>
          <a:prstGeom prst="chevron">
            <a:avLst/>
          </a:prstGeom>
          <a:solidFill>
            <a:schemeClr val="tx2"/>
          </a:solidFill>
          <a:ln/>
        </p:spPr>
        <p:txBody>
          <a:bodyPr wrap="square" lIns="0" tIns="152400" rIns="76200" bIns="0" rtlCol="0" anchor="ctr"/>
          <a:lstStyle/>
          <a:p>
            <a:pPr algn="ctr" indent="0" marL="0">
              <a:buNone/>
            </a:pPr>
            <a:r>
              <a:rPr lang="en-US" sz="1200" b="1" dirty="0">
                <a:solidFill>
                  <a:schemeClr val="bg1"/>
                </a:solidFill>
              </a:rPr>
              <a:t>Model + grouped CV</a:t>
            </a:r>
            <a:endParaRPr lang="en-US" sz="1200" dirty="0"/>
          </a:p>
        </p:txBody>
      </p:sp>
      <p:sp>
        <p:nvSpPr>
          <p:cNvPr id="8" name="Text 6"/>
          <p:cNvSpPr/>
          <p:nvPr/>
        </p:nvSpPr>
        <p:spPr>
          <a:xfrm>
            <a:off x="9564624" y="1325880"/>
            <a:ext cx="2167128" cy="822960"/>
          </a:xfrm>
          <a:prstGeom prst="chevron">
            <a:avLst/>
          </a:prstGeom>
          <a:solidFill>
            <a:schemeClr val="accent3"/>
          </a:solidFill>
          <a:ln/>
        </p:spPr>
        <p:txBody>
          <a:bodyPr wrap="square" lIns="0" tIns="152400" rIns="76200" bIns="0" rtlCol="0" anchor="ctr"/>
          <a:lstStyle/>
          <a:p>
            <a:pPr algn="ctr" indent="0" marL="0">
              <a:buNone/>
            </a:pPr>
            <a:r>
              <a:rPr lang="en-US" sz="1200" b="1" dirty="0">
                <a:solidFill>
                  <a:schemeClr val="bg1"/>
                </a:solidFill>
              </a:rPr>
              <a:t>District risk map</a:t>
            </a:r>
            <a:endParaRPr lang="en-US" sz="1200" dirty="0"/>
          </a:p>
        </p:txBody>
      </p:sp>
      <p:sp>
        <p:nvSpPr>
          <p:cNvPr id="9" name="Shape 7"/>
          <p:cNvSpPr/>
          <p:nvPr/>
        </p:nvSpPr>
        <p:spPr>
          <a:xfrm>
            <a:off x="457200" y="2423160"/>
            <a:ext cx="5486400" cy="3474720"/>
          </a:xfrm>
          <a:prstGeom prst="roundRect">
            <a:avLst>
              <a:gd name="adj" fmla="val 2105"/>
            </a:avLst>
          </a:prstGeom>
          <a:solidFill>
            <a:schemeClr val="bg2"/>
          </a:solidFill>
          <a:ln/>
        </p:spPr>
      </p:sp>
      <p:sp>
        <p:nvSpPr>
          <p:cNvPr id="10" name="Shape 8"/>
          <p:cNvSpPr/>
          <p:nvPr/>
        </p:nvSpPr>
        <p:spPr>
          <a:xfrm>
            <a:off x="457200" y="2551176"/>
            <a:ext cx="64008" cy="384048"/>
          </a:xfrm>
          <a:prstGeom prst="rect">
            <a:avLst/>
          </a:prstGeom>
          <a:solidFill>
            <a:schemeClr val="accent2"/>
          </a:solidFill>
          <a:ln/>
        </p:spPr>
      </p:sp>
      <p:sp>
        <p:nvSpPr>
          <p:cNvPr id="11" name="Text 9"/>
          <p:cNvSpPr txBox="1"/>
          <p:nvPr/>
        </p:nvSpPr>
        <p:spPr>
          <a:xfrm>
            <a:off x="658368" y="2532888"/>
            <a:ext cx="5166360" cy="420624"/>
          </a:xfrm>
          <a:prstGeom prst="rect">
            <a:avLst/>
          </a:prstGeom>
          <a:noFill/>
          <a:ln/>
        </p:spPr>
        <p:txBody>
          <a:bodyPr wrap="square" lIns="0" tIns="0" rIns="0" bIns="0" rtlCol="0" anchor="ctr"/>
          <a:lstStyle/>
          <a:p>
            <a:pPr indent="0" marL="0">
              <a:buNone/>
            </a:pPr>
            <a:r>
              <a:rPr lang="en-US" sz="1500" b="1" dirty="0">
                <a:solidFill>
                  <a:schemeClr val="tx1"/>
                </a:solidFill>
              </a:rPr>
              <a:t>Upscaling protocol</a:t>
            </a:r>
            <a:endParaRPr lang="en-US" sz="1500" dirty="0"/>
          </a:p>
        </p:txBody>
      </p:sp>
      <p:sp>
        <p:nvSpPr>
          <p:cNvPr id="12" name="Text 10"/>
          <p:cNvSpPr txBox="1"/>
          <p:nvPr/>
        </p:nvSpPr>
        <p:spPr>
          <a:xfrm>
            <a:off x="658368" y="3026664"/>
            <a:ext cx="5120640" cy="2743200"/>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chemeClr val="tx1"/>
                </a:solidFill>
              </a:rPr>
              <a:t>Fly UAV within ±1–2 days of a clear Sentinel-2 overpass</a:t>
            </a:r>
            <a:endParaRPr lang="en-US" sz="1250" dirty="0"/>
          </a:p>
          <a:p>
            <a:pPr marL="177800" indent="-177800">
              <a:spcAft>
                <a:spcPts val="500"/>
              </a:spcAft>
              <a:buSzPct val="100000"/>
              <a:buChar char="•"/>
            </a:pPr>
            <a:r>
              <a:rPr lang="en-US" sz="1250" dirty="0">
                <a:solidFill>
                  <a:schemeClr val="tx1"/>
                </a:solidFill>
              </a:rPr>
              <a:t>Aggregate UAV severity to each 10/20 m pixel (mean DI or % diseased area); keep interior pixels only</a:t>
            </a:r>
            <a:endParaRPr lang="en-US" sz="1250" dirty="0"/>
          </a:p>
          <a:p>
            <a:pPr marL="177800" indent="-177800">
              <a:spcAft>
                <a:spcPts val="500"/>
              </a:spcAft>
              <a:buSzPct val="100000"/>
              <a:buChar char="•"/>
            </a:pPr>
            <a:r>
              <a:rPr lang="en-US" sz="1250" dirty="0">
                <a:solidFill>
                  <a:schemeClr val="tx1"/>
                </a:solidFill>
              </a:rPr>
              <a:t>Features: L2A reflectance, red-edge indices, time-series drop vs baseline</a:t>
            </a:r>
            <a:endParaRPr lang="en-US" sz="1250" dirty="0"/>
          </a:p>
          <a:p>
            <a:pPr marL="177800" indent="-177800">
              <a:spcAft>
                <a:spcPts val="500"/>
              </a:spcAft>
              <a:buSzPct val="100000"/>
              <a:buChar char="•"/>
            </a:pPr>
            <a:r>
              <a:rPr lang="en-US" sz="1250" dirty="0">
                <a:solidFill>
                  <a:schemeClr val="tx1"/>
                </a:solidFill>
              </a:rPr>
              <a:t>Cross-validate grouped by field (spatial blocks), not by pixel</a:t>
            </a:r>
            <a:endParaRPr lang="en-US" sz="1250" dirty="0"/>
          </a:p>
          <a:p>
            <a:pPr marL="177800" indent="-177800">
              <a:spcAft>
                <a:spcPts val="500"/>
              </a:spcAft>
              <a:buSzPct val="100000"/>
              <a:buChar char="•"/>
            </a:pPr>
            <a:r>
              <a:rPr lang="en-US" sz="1250" dirty="0">
                <a:solidFill>
                  <a:schemeClr val="tx1"/>
                </a:solidFill>
              </a:rPr>
              <a:t>Validate with ground DI in homogeneous ≥ 30 × 30 m areas (3 × 3 pixel window)</a:t>
            </a:r>
            <a:endParaRPr lang="en-US" sz="1250" dirty="0"/>
          </a:p>
        </p:txBody>
      </p:sp>
      <p:sp>
        <p:nvSpPr>
          <p:cNvPr id="13" name="Shape 11"/>
          <p:cNvSpPr/>
          <p:nvPr/>
        </p:nvSpPr>
        <p:spPr>
          <a:xfrm>
            <a:off x="6245352" y="2423160"/>
            <a:ext cx="5486400" cy="3474720"/>
          </a:xfrm>
          <a:prstGeom prst="roundRect">
            <a:avLst>
              <a:gd name="adj" fmla="val 2105"/>
            </a:avLst>
          </a:prstGeom>
          <a:solidFill>
            <a:schemeClr val="bg2"/>
          </a:solidFill>
          <a:ln/>
        </p:spPr>
      </p:sp>
      <p:sp>
        <p:nvSpPr>
          <p:cNvPr id="14" name="Shape 12"/>
          <p:cNvSpPr/>
          <p:nvPr/>
        </p:nvSpPr>
        <p:spPr>
          <a:xfrm>
            <a:off x="6245352" y="2551176"/>
            <a:ext cx="64008" cy="384048"/>
          </a:xfrm>
          <a:prstGeom prst="rect">
            <a:avLst/>
          </a:prstGeom>
          <a:solidFill>
            <a:schemeClr val="accent4"/>
          </a:solidFill>
          <a:ln/>
        </p:spPr>
      </p:sp>
      <p:sp>
        <p:nvSpPr>
          <p:cNvPr id="15" name="Text 13"/>
          <p:cNvSpPr txBox="1"/>
          <p:nvPr/>
        </p:nvSpPr>
        <p:spPr>
          <a:xfrm>
            <a:off x="6446520" y="2532888"/>
            <a:ext cx="5166360" cy="420624"/>
          </a:xfrm>
          <a:prstGeom prst="rect">
            <a:avLst/>
          </a:prstGeom>
          <a:noFill/>
          <a:ln/>
        </p:spPr>
        <p:txBody>
          <a:bodyPr wrap="square" lIns="0" tIns="0" rIns="0" bIns="0" rtlCol="0" anchor="ctr"/>
          <a:lstStyle/>
          <a:p>
            <a:pPr indent="0" marL="0">
              <a:buNone/>
            </a:pPr>
            <a:r>
              <a:rPr lang="en-US" sz="1500" b="1" dirty="0">
                <a:solidFill>
                  <a:schemeClr val="tx1"/>
                </a:solidFill>
              </a:rPr>
              <a:t>Mustard-specific challenges</a:t>
            </a:r>
            <a:endParaRPr lang="en-US" sz="1500" dirty="0"/>
          </a:p>
        </p:txBody>
      </p:sp>
      <p:sp>
        <p:nvSpPr>
          <p:cNvPr id="16" name="Text 14"/>
          <p:cNvSpPr txBox="1"/>
          <p:nvPr/>
        </p:nvSpPr>
        <p:spPr>
          <a:xfrm>
            <a:off x="6446520" y="3026664"/>
            <a:ext cx="5120640" cy="2743200"/>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chemeClr val="tx1"/>
                </a:solidFill>
              </a:rPr>
              <a:t>Small fields (&lt; 1 ha): mixed pixels; prefer fields &gt; 60 m wide for 20 m bands</a:t>
            </a:r>
            <a:endParaRPr lang="en-US" sz="1250" dirty="0"/>
          </a:p>
          <a:p>
            <a:pPr marL="177800" indent="-177800">
              <a:spcAft>
                <a:spcPts val="500"/>
              </a:spcAft>
              <a:buSzPct val="100000"/>
              <a:buChar char="•"/>
            </a:pPr>
            <a:r>
              <a:rPr lang="en-US" sz="1250" dirty="0">
                <a:solidFill>
                  <a:schemeClr val="tx1"/>
                </a:solidFill>
              </a:rPr>
              <a:t>Yellow flowering dominates reflectance in Jan–Feb</a:t>
            </a:r>
            <a:endParaRPr lang="en-US" sz="1250" dirty="0"/>
          </a:p>
          <a:p>
            <a:pPr marL="177800" indent="-177800">
              <a:spcAft>
                <a:spcPts val="500"/>
              </a:spcAft>
              <a:buSzPct val="100000"/>
              <a:buChar char="•"/>
            </a:pPr>
            <a:r>
              <a:rPr lang="en-US" sz="1250" dirty="0">
                <a:solidFill>
                  <a:schemeClr val="tx1"/>
                </a:solidFill>
              </a:rPr>
              <a:t>Similar signals: Alternaria blight, aphids, frost, N or water stress</a:t>
            </a:r>
            <a:endParaRPr lang="en-US" sz="1250" dirty="0"/>
          </a:p>
          <a:p>
            <a:pPr marL="177800" indent="-177800">
              <a:spcAft>
                <a:spcPts val="500"/>
              </a:spcAft>
              <a:buSzPct val="100000"/>
              <a:buChar char="•"/>
            </a:pPr>
            <a:r>
              <a:rPr lang="en-US" sz="1250" dirty="0">
                <a:solidFill>
                  <a:schemeClr val="tx1"/>
                </a:solidFill>
              </a:rPr>
              <a:t>Fog / cloud in Dec–Jan; leaf-underside symptoms not visible</a:t>
            </a:r>
            <a:endParaRPr lang="en-US" sz="1250" dirty="0"/>
          </a:p>
          <a:p>
            <a:pPr marL="177800" indent="-177800">
              <a:spcAft>
                <a:spcPts val="500"/>
              </a:spcAft>
              <a:buSzPct val="100000"/>
              <a:buChar char="•"/>
            </a:pPr>
            <a:r>
              <a:rPr lang="en-US" sz="1250" dirty="0">
                <a:solidFill>
                  <a:schemeClr val="tx1"/>
                </a:solidFill>
              </a:rPr>
              <a:t>Expect field-level detection of moderate–severe infection, not early detection</a:t>
            </a:r>
            <a:endParaRPr lang="en-US" sz="1250" dirty="0"/>
          </a:p>
        </p:txBody>
      </p:sp>
      <p:sp>
        <p:nvSpPr>
          <p:cNvPr id="17" name="Text 15"/>
          <p:cNvSpPr txBox="1"/>
          <p:nvPr/>
        </p:nvSpPr>
        <p:spPr>
          <a:xfrm>
            <a:off x="457200" y="6035040"/>
            <a:ext cx="11247120" cy="310896"/>
          </a:xfrm>
          <a:prstGeom prst="rect">
            <a:avLst/>
          </a:prstGeom>
          <a:noFill/>
          <a:ln/>
        </p:spPr>
        <p:txBody>
          <a:bodyPr wrap="square" lIns="0" tIns="0" rIns="0" bIns="0" rtlCol="0" anchor="b"/>
          <a:lstStyle/>
          <a:p>
            <a:pPr indent="0" marL="0">
              <a:buNone/>
            </a:pPr>
            <a:r>
              <a:rPr lang="en-US" sz="1000" i="1" dirty="0">
                <a:solidFill>
                  <a:schemeClr val="tx2"/>
                </a:solidFill>
              </a:rPr>
              <a:t>UAV-to-satellite upscaling: Riihimäki et al. (2019); spatial validation: Roberts et al. (2017), Ploton et al. (2020); S2 yellow rust mapping: Zheng et al. (2018).</a:t>
            </a:r>
            <a:endParaRPr lang="en-US" sz="1000" dirty="0"/>
          </a:p>
        </p:txBody>
      </p:sp>
      <p:sp>
        <p:nvSpPr>
          <p:cNvPr id="25" name="Slide Number Placeholder 0"/>
          <p:cNvSpPr>
            <a:spLocks noGrp="1"/>
          </p:cNvSpPr>
          <p:nvPr>
            <p:ph type="sldNum" sz="quarter" idx="4294967295"/>
          </p:nvPr>
        </p:nvSpPr>
        <p:spPr>
          <a:xfrm>
            <a:off x="11247120" y="644652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384048"/>
            <a:ext cx="11247120" cy="640080"/>
          </a:xfrm>
          <a:prstGeom prst="rect">
            <a:avLst/>
          </a:prstGeom>
          <a:noFill/>
          <a:ln/>
        </p:spPr>
        <p:txBody>
          <a:bodyPr wrap="square" lIns="0" tIns="0" rIns="0" bIns="0" rtlCol="0" anchor="ctr"/>
          <a:lstStyle/>
          <a:p>
            <a:pPr algn="l" indent="0" marL="0">
              <a:buNone/>
            </a:pPr>
            <a:r>
              <a:rPr lang="en-US" sz="2600" b="1" dirty="0">
                <a:solidFill>
                  <a:schemeClr val="tx1"/>
                </a:solidFill>
              </a:rPr>
              <a:t>Implementation in the RustWatch pipeline (proposed steps)</a:t>
            </a:r>
            <a:endParaRPr lang="en-US" sz="2600" dirty="0"/>
          </a:p>
        </p:txBody>
      </p:sp>
      <p:sp>
        <p:nvSpPr>
          <p:cNvPr id="3" name="Text 1"/>
          <p:cNvSpPr txBox="1"/>
          <p:nvPr/>
        </p:nvSpPr>
        <p:spPr>
          <a:xfrm>
            <a:off x="457200" y="164592"/>
            <a:ext cx="7315200" cy="237744"/>
          </a:xfrm>
          <a:prstGeom prst="rect">
            <a:avLst/>
          </a:prstGeom>
          <a:noFill/>
          <a:ln/>
        </p:spPr>
        <p:txBody>
          <a:bodyPr wrap="square" lIns="0" tIns="0" rIns="0" bIns="0" rtlCol="0" anchor="t"/>
          <a:lstStyle/>
          <a:p>
            <a:pPr indent="0" marL="0">
              <a:buNone/>
            </a:pPr>
            <a:r>
              <a:rPr lang="en-US" sz="1100" b="1" spc="200" kern="0" dirty="0">
                <a:solidFill>
                  <a:schemeClr val="accent1"/>
                </a:solidFill>
              </a:rPr>
              <a:t>IMPLEMENTATION</a:t>
            </a:r>
            <a:endParaRPr lang="en-US" sz="1100" dirty="0"/>
          </a:p>
        </p:txBody>
      </p:sp>
      <p:sp>
        <p:nvSpPr>
          <p:cNvPr id="4" name="Shape 2"/>
          <p:cNvSpPr/>
          <p:nvPr/>
        </p:nvSpPr>
        <p:spPr>
          <a:xfrm>
            <a:off x="457200" y="1325880"/>
            <a:ext cx="5486400" cy="4526280"/>
          </a:xfrm>
          <a:prstGeom prst="roundRect">
            <a:avLst>
              <a:gd name="adj" fmla="val 1616"/>
            </a:avLst>
          </a:prstGeom>
          <a:solidFill>
            <a:schemeClr val="bg2"/>
          </a:solidFill>
          <a:ln/>
        </p:spPr>
      </p:sp>
      <p:sp>
        <p:nvSpPr>
          <p:cNvPr id="5" name="Shape 3"/>
          <p:cNvSpPr/>
          <p:nvPr/>
        </p:nvSpPr>
        <p:spPr>
          <a:xfrm>
            <a:off x="457200" y="1453896"/>
            <a:ext cx="64008" cy="384048"/>
          </a:xfrm>
          <a:prstGeom prst="rect">
            <a:avLst/>
          </a:prstGeom>
          <a:solidFill>
            <a:schemeClr val="accent1"/>
          </a:solidFill>
          <a:ln/>
        </p:spPr>
      </p:sp>
      <p:sp>
        <p:nvSpPr>
          <p:cNvPr id="6" name="Text 4"/>
          <p:cNvSpPr txBox="1"/>
          <p:nvPr/>
        </p:nvSpPr>
        <p:spPr>
          <a:xfrm>
            <a:off x="658368" y="1435608"/>
            <a:ext cx="5166360" cy="420624"/>
          </a:xfrm>
          <a:prstGeom prst="rect">
            <a:avLst/>
          </a:prstGeom>
          <a:noFill/>
          <a:ln/>
        </p:spPr>
        <p:txBody>
          <a:bodyPr wrap="square" lIns="0" tIns="0" rIns="0" bIns="0" rtlCol="0" anchor="ctr"/>
          <a:lstStyle/>
          <a:p>
            <a:pPr indent="0" marL="0">
              <a:buNone/>
            </a:pPr>
            <a:r>
              <a:rPr lang="en-US" sz="1500" b="1" dirty="0">
                <a:solidFill>
                  <a:schemeClr val="tx1"/>
                </a:solidFill>
              </a:rPr>
              <a:t>s09_hotspots.py</a:t>
            </a:r>
            <a:endParaRPr lang="en-US" sz="1500" dirty="0"/>
          </a:p>
        </p:txBody>
      </p:sp>
      <p:sp>
        <p:nvSpPr>
          <p:cNvPr id="7" name="Text 5"/>
          <p:cNvSpPr txBox="1"/>
          <p:nvPr/>
        </p:nvSpPr>
        <p:spPr>
          <a:xfrm>
            <a:off x="658368" y="1929384"/>
            <a:ext cx="5120640" cy="3794760"/>
          </a:xfrm>
          <a:prstGeom prst="rect">
            <a:avLst/>
          </a:prstGeom>
          <a:noFill/>
          <a:ln/>
        </p:spPr>
        <p:txBody>
          <a:bodyPr wrap="square" lIns="0" tIns="0" rIns="0" bIns="0" rtlCol="0" anchor="t"/>
          <a:lstStyle/>
          <a:p>
            <a:pPr marL="177800" indent="-177800">
              <a:spcAft>
                <a:spcPts val="500"/>
              </a:spcAft>
              <a:buSzPct val="100000"/>
              <a:buChar char="•"/>
            </a:pPr>
            <a:r>
              <a:rPr lang="en-US" sz="1400" b="1" dirty="0">
                <a:solidFill>
                  <a:schemeClr val="tx1"/>
                </a:solidFill>
              </a:rPr>
              <a:t>Inputs: </a:t>
            </a:r>
            <a:pPr indent="0" marL="0">
              <a:spcAft>
                <a:spcPts val="500"/>
              </a:spcAft>
              <a:buNone/>
            </a:pPr>
            <a:r>
              <a:rPr lang="en-US" sz="1400" dirty="0">
                <a:solidFill>
                  <a:schemeClr val="tx1"/>
                </a:solidFill>
              </a:rPr>
              <a:t>04_unmixing/HS_&lt;date&gt;_abundance.tif, 03_masks, plots.gpkg</a:t>
            </a:r>
            <a:endParaRPr lang="en-US" sz="1250" dirty="0"/>
          </a:p>
          <a:p>
            <a:pPr marL="177800" indent="-177800">
              <a:spcAft>
                <a:spcPts val="500"/>
              </a:spcAft>
              <a:buSzPct val="100000"/>
              <a:buChar char="•"/>
            </a:pPr>
            <a:r>
              <a:rPr lang="en-US" sz="1400" b="1" dirty="0">
                <a:solidFill>
                  <a:schemeClr val="tx1"/>
                </a:solidFill>
              </a:rPr>
              <a:t>Steps: </a:t>
            </a:r>
            <a:pPr indent="0" marL="0">
              <a:spcAft>
                <a:spcPts val="500"/>
              </a:spcAft>
              <a:buNone/>
            </a:pPr>
            <a:r>
              <a:rPr lang="en-US" sz="1400" dirty="0">
                <a:solidFill>
                  <a:schemeClr val="tx1"/>
                </a:solidFill>
              </a:rPr>
              <a:t>cells per plot (rasterio windows) → W (libpysal lat2W, queen) → esda.Moran, G_Local(star=True), Moran_Local, 999 permutations → FDR</a:t>
            </a:r>
            <a:endParaRPr lang="en-US" sz="1250" dirty="0"/>
          </a:p>
          <a:p>
            <a:pPr marL="177800" indent="-177800">
              <a:spcAft>
                <a:spcPts val="500"/>
              </a:spcAft>
              <a:buSzPct val="100000"/>
              <a:buChar char="•"/>
            </a:pPr>
            <a:r>
              <a:rPr lang="en-US" sz="1400" b="1" dirty="0">
                <a:solidFill>
                  <a:schemeClr val="tx1"/>
                </a:solidFill>
              </a:rPr>
              <a:t>Outputs: </a:t>
            </a:r>
            <a:pPr indent="0" marL="0">
              <a:spcAft>
                <a:spcPts val="500"/>
              </a:spcAft>
              <a:buNone/>
            </a:pPr>
            <a:r>
              <a:rPr lang="en-US" sz="1400" dirty="0">
                <a:solidFill>
                  <a:schemeClr val="tx1"/>
                </a:solidFill>
              </a:rPr>
              <a:t>09_hotspots/plot_moran.csv, hotspot_cells.gpkg, hotspot_metrics.csv, maps per date</a:t>
            </a:r>
            <a:endParaRPr lang="en-US" sz="1250" dirty="0"/>
          </a:p>
          <a:p>
            <a:pPr marL="177800" indent="-177800">
              <a:spcAft>
                <a:spcPts val="500"/>
              </a:spcAft>
              <a:buSzPct val="100000"/>
              <a:buChar char="•"/>
            </a:pPr>
            <a:r>
              <a:rPr lang="en-US" sz="1400" b="1" dirty="0">
                <a:solidFill>
                  <a:schemeClr val="tx1"/>
                </a:solidFill>
              </a:rPr>
              <a:t>Libraries: </a:t>
            </a:r>
            <a:pPr indent="0" marL="0">
              <a:spcAft>
                <a:spcPts val="500"/>
              </a:spcAft>
              <a:buNone/>
            </a:pPr>
            <a:r>
              <a:rPr lang="en-US" sz="1400" dirty="0">
                <a:solidFill>
                  <a:schemeClr val="tx1"/>
                </a:solidFill>
              </a:rPr>
              <a:t>rasterio, numpy, geopandas, libpysal, esda, scipy</a:t>
            </a:r>
            <a:endParaRPr lang="en-US" sz="1250" dirty="0"/>
          </a:p>
        </p:txBody>
      </p:sp>
      <p:sp>
        <p:nvSpPr>
          <p:cNvPr id="8" name="Shape 6"/>
          <p:cNvSpPr/>
          <p:nvPr/>
        </p:nvSpPr>
        <p:spPr>
          <a:xfrm>
            <a:off x="6245352" y="1325880"/>
            <a:ext cx="5486400" cy="4526280"/>
          </a:xfrm>
          <a:prstGeom prst="roundRect">
            <a:avLst>
              <a:gd name="adj" fmla="val 1616"/>
            </a:avLst>
          </a:prstGeom>
          <a:solidFill>
            <a:schemeClr val="bg2"/>
          </a:solidFill>
          <a:ln/>
        </p:spPr>
      </p:sp>
      <p:sp>
        <p:nvSpPr>
          <p:cNvPr id="9" name="Shape 7"/>
          <p:cNvSpPr/>
          <p:nvPr/>
        </p:nvSpPr>
        <p:spPr>
          <a:xfrm>
            <a:off x="6245352" y="1453896"/>
            <a:ext cx="64008" cy="384048"/>
          </a:xfrm>
          <a:prstGeom prst="rect">
            <a:avLst/>
          </a:prstGeom>
          <a:solidFill>
            <a:schemeClr val="accent2"/>
          </a:solidFill>
          <a:ln/>
        </p:spPr>
      </p:sp>
      <p:sp>
        <p:nvSpPr>
          <p:cNvPr id="10" name="Text 8"/>
          <p:cNvSpPr txBox="1"/>
          <p:nvPr/>
        </p:nvSpPr>
        <p:spPr>
          <a:xfrm>
            <a:off x="6446520" y="1435608"/>
            <a:ext cx="5166360" cy="420624"/>
          </a:xfrm>
          <a:prstGeom prst="rect">
            <a:avLst/>
          </a:prstGeom>
          <a:noFill/>
          <a:ln/>
        </p:spPr>
        <p:txBody>
          <a:bodyPr wrap="square" lIns="0" tIns="0" rIns="0" bIns="0" rtlCol="0" anchor="ctr"/>
          <a:lstStyle/>
          <a:p>
            <a:pPr indent="0" marL="0">
              <a:buNone/>
            </a:pPr>
            <a:r>
              <a:rPr lang="en-US" sz="1500" b="1" dirty="0">
                <a:solidFill>
                  <a:schemeClr val="tx1"/>
                </a:solidFill>
              </a:rPr>
              <a:t>s10_s2_simulation.py</a:t>
            </a:r>
            <a:endParaRPr lang="en-US" sz="1500" dirty="0"/>
          </a:p>
        </p:txBody>
      </p:sp>
      <p:sp>
        <p:nvSpPr>
          <p:cNvPr id="11" name="Text 9"/>
          <p:cNvSpPr txBox="1"/>
          <p:nvPr/>
        </p:nvSpPr>
        <p:spPr>
          <a:xfrm>
            <a:off x="6446520" y="1929384"/>
            <a:ext cx="5120640" cy="3794760"/>
          </a:xfrm>
          <a:prstGeom prst="rect">
            <a:avLst/>
          </a:prstGeom>
          <a:noFill/>
          <a:ln/>
        </p:spPr>
        <p:txBody>
          <a:bodyPr wrap="square" lIns="0" tIns="0" rIns="0" bIns="0" rtlCol="0" anchor="t"/>
          <a:lstStyle/>
          <a:p>
            <a:pPr marL="177800" indent="-177800">
              <a:spcAft>
                <a:spcPts val="500"/>
              </a:spcAft>
              <a:buSzPct val="100000"/>
              <a:buChar char="•"/>
            </a:pPr>
            <a:r>
              <a:rPr lang="en-US" sz="1400" b="1" dirty="0">
                <a:solidFill>
                  <a:schemeClr val="tx1"/>
                </a:solidFill>
              </a:rPr>
              <a:t>Inputs: </a:t>
            </a:r>
            <a:pPr indent="0" marL="0">
              <a:spcAft>
                <a:spcPts val="500"/>
              </a:spcAft>
              <a:buNone/>
            </a:pPr>
            <a:r>
              <a:rPr lang="en-US" sz="1400" dirty="0">
                <a:solidFill>
                  <a:schemeClr val="tx1"/>
                </a:solidFill>
              </a:rPr>
              <a:t>05_features HS plot spectra (reflectance), hs_wavelengths, ESA S2 SRF table, MicaSense SRFs</a:t>
            </a:r>
            <a:endParaRPr lang="en-US" sz="1250" dirty="0"/>
          </a:p>
          <a:p>
            <a:pPr marL="177800" indent="-177800">
              <a:spcAft>
                <a:spcPts val="500"/>
              </a:spcAft>
              <a:buSzPct val="100000"/>
              <a:buChar char="•"/>
            </a:pPr>
            <a:r>
              <a:rPr lang="en-US" sz="1400" b="1" dirty="0">
                <a:solidFill>
                  <a:schemeClr val="tx1"/>
                </a:solidFill>
              </a:rPr>
              <a:t>Steps: </a:t>
            </a:r>
            <a:pPr indent="0" marL="0">
              <a:spcAft>
                <a:spcPts val="500"/>
              </a:spcAft>
              <a:buNone/>
            </a:pPr>
            <a:r>
              <a:rPr lang="en-US" sz="1400" dirty="0">
                <a:solidFill>
                  <a:schemeClr val="tx1"/>
                </a:solidFill>
              </a:rPr>
              <a:t>SRF interpolation → weighted band averages → S2 indices → feature table → run_nested() for each configuration → McNemar</a:t>
            </a:r>
            <a:endParaRPr lang="en-US" sz="1250" dirty="0"/>
          </a:p>
          <a:p>
            <a:pPr marL="177800" indent="-177800">
              <a:spcAft>
                <a:spcPts val="500"/>
              </a:spcAft>
              <a:buSzPct val="100000"/>
              <a:buChar char="•"/>
            </a:pPr>
            <a:r>
              <a:rPr lang="en-US" sz="1400" b="1" dirty="0">
                <a:solidFill>
                  <a:schemeClr val="tx1"/>
                </a:solidFill>
              </a:rPr>
              <a:t>Outputs: </a:t>
            </a:r>
            <a:pPr indent="0" marL="0">
              <a:spcAft>
                <a:spcPts val="500"/>
              </a:spcAft>
              <a:buNone/>
            </a:pPr>
            <a:r>
              <a:rPr lang="en-US" sz="1400" dirty="0">
                <a:solidFill>
                  <a:schemeClr val="tx1"/>
                </a:solidFill>
              </a:rPr>
              <a:t>10_s2sim/S2sim_features.csv, sim_vs_real_MS.csv, information_loss.csv</a:t>
            </a:r>
            <a:endParaRPr lang="en-US" sz="1250" dirty="0"/>
          </a:p>
          <a:p>
            <a:pPr marL="177800" indent="-177800">
              <a:spcAft>
                <a:spcPts val="500"/>
              </a:spcAft>
              <a:buSzPct val="100000"/>
              <a:buChar char="•"/>
            </a:pPr>
            <a:r>
              <a:rPr lang="en-US" sz="1400" b="1" dirty="0">
                <a:solidFill>
                  <a:schemeClr val="tx1"/>
                </a:solidFill>
              </a:rPr>
              <a:t>Libraries: </a:t>
            </a:r>
            <a:pPr indent="0" marL="0">
              <a:spcAft>
                <a:spcPts val="500"/>
              </a:spcAft>
              <a:buNone/>
            </a:pPr>
            <a:r>
              <a:rPr lang="en-US" sz="1400" dirty="0">
                <a:solidFill>
                  <a:schemeClr val="tx1"/>
                </a:solidFill>
              </a:rPr>
              <a:t>numpy, pandas, scikit-learn, mlxtend (existing)</a:t>
            </a:r>
            <a:endParaRPr lang="en-US" sz="1250" dirty="0"/>
          </a:p>
        </p:txBody>
      </p:sp>
      <p:sp>
        <p:nvSpPr>
          <p:cNvPr id="12" name="Text 10"/>
          <p:cNvSpPr txBox="1"/>
          <p:nvPr/>
        </p:nvSpPr>
        <p:spPr>
          <a:xfrm>
            <a:off x="457200" y="6035040"/>
            <a:ext cx="11247120" cy="310896"/>
          </a:xfrm>
          <a:prstGeom prst="rect">
            <a:avLst/>
          </a:prstGeom>
          <a:noFill/>
          <a:ln/>
        </p:spPr>
        <p:txBody>
          <a:bodyPr wrap="square" lIns="0" tIns="0" rIns="0" bIns="0" rtlCol="0" anchor="b"/>
          <a:lstStyle/>
          <a:p>
            <a:pPr indent="0" marL="0">
              <a:buNone/>
            </a:pPr>
            <a:r>
              <a:rPr lang="en-US" sz="1000" i="1" dirty="0">
                <a:solidFill>
                  <a:schemeClr val="tx2"/>
                </a:solidFill>
              </a:rPr>
              <a:t>PySAL: Rey &amp; Anselin (2007); Rey et al. (2022). Both steps reuse existing outputs; neither changes Phases 1–3.</a:t>
            </a:r>
            <a:endParaRPr lang="en-US" sz="1000" dirty="0"/>
          </a:p>
        </p:txBody>
      </p:sp>
      <p:sp>
        <p:nvSpPr>
          <p:cNvPr id="25" name="Slide Number Placeholder 0"/>
          <p:cNvSpPr>
            <a:spLocks noGrp="1"/>
          </p:cNvSpPr>
          <p:nvPr>
            <p:ph type="sldNum" sz="quarter" idx="4294967295"/>
          </p:nvPr>
        </p:nvSpPr>
        <p:spPr>
          <a:xfrm>
            <a:off x="11247120" y="644652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457200" y="384048"/>
            <a:ext cx="11247120" cy="640080"/>
          </a:xfrm>
          <a:prstGeom prst="rect">
            <a:avLst/>
          </a:prstGeom>
          <a:noFill/>
          <a:ln/>
        </p:spPr>
        <p:txBody>
          <a:bodyPr wrap="square" lIns="0" tIns="0" rIns="0" bIns="0" rtlCol="0" anchor="ctr"/>
          <a:lstStyle/>
          <a:p>
            <a:pPr algn="l" indent="0" marL="0">
              <a:buNone/>
            </a:pPr>
            <a:r>
              <a:rPr lang="en-US" sz="2600" b="1" dirty="0">
                <a:solidFill>
                  <a:schemeClr val="tx1"/>
                </a:solidFill>
              </a:rPr>
              <a:t>References (1/4)</a:t>
            </a:r>
            <a:endParaRPr lang="en-US" sz="2600" dirty="0"/>
          </a:p>
        </p:txBody>
      </p:sp>
      <p:sp>
        <p:nvSpPr>
          <p:cNvPr id="3" name="Text 1"/>
          <p:cNvSpPr txBox="1"/>
          <p:nvPr/>
        </p:nvSpPr>
        <p:spPr>
          <a:xfrm>
            <a:off x="457200" y="164592"/>
            <a:ext cx="7315200" cy="237744"/>
          </a:xfrm>
          <a:prstGeom prst="rect">
            <a:avLst/>
          </a:prstGeom>
          <a:noFill/>
          <a:ln/>
        </p:spPr>
        <p:txBody>
          <a:bodyPr wrap="square" lIns="0" tIns="0" rIns="0" bIns="0" rtlCol="0" anchor="t"/>
          <a:lstStyle/>
          <a:p>
            <a:pPr indent="0" marL="0">
              <a:buNone/>
            </a:pPr>
            <a:r>
              <a:rPr lang="en-US" sz="1100" b="1" spc="200" kern="0" dirty="0">
                <a:solidFill>
                  <a:schemeClr val="accent1"/>
                </a:solidFill>
              </a:rPr>
              <a:t>REFERENCES</a:t>
            </a:r>
            <a:endParaRPr lang="en-US" sz="1100" dirty="0"/>
          </a:p>
        </p:txBody>
      </p:sp>
      <p:sp>
        <p:nvSpPr>
          <p:cNvPr id="4" name="Text 2"/>
          <p:cNvSpPr txBox="1"/>
          <p:nvPr/>
        </p:nvSpPr>
        <p:spPr>
          <a:xfrm>
            <a:off x="457200" y="1234440"/>
            <a:ext cx="11274552" cy="5074920"/>
          </a:xfrm>
          <a:prstGeom prst="rect">
            <a:avLst/>
          </a:prstGeom>
          <a:noFill/>
          <a:ln/>
        </p:spPr>
        <p:txBody>
          <a:bodyPr wrap="square" lIns="0" tIns="0" rIns="0" bIns="0" rtlCol="0" anchor="t"/>
          <a:lstStyle/>
          <a:p>
            <a:pPr indent="0" marL="0">
              <a:spcAft>
                <a:spcPts val="800"/>
              </a:spcAft>
              <a:buNone/>
            </a:pPr>
            <a:r>
              <a:rPr lang="en-US" sz="1300" dirty="0">
                <a:solidFill>
                  <a:schemeClr val="tx1"/>
                </a:solidFill>
              </a:rPr>
              <a:t>Anselin, L. (1995). Local indicators of spatial association—LISA. Geographical Analysis, 27(2), 93–115. https://doi.org/10.1111/j.1538-4632.1995.tb00338.x</a:t>
            </a:r>
            <a:endParaRPr lang="en-US" sz="1300" dirty="0"/>
          </a:p>
          <a:p>
            <a:pPr indent="0" marL="0">
              <a:spcAft>
                <a:spcPts val="800"/>
              </a:spcAft>
              <a:buNone/>
            </a:pPr>
            <a:r>
              <a:rPr lang="en-US" sz="1300" dirty="0">
                <a:solidFill>
                  <a:schemeClr val="tx1"/>
                </a:solidFill>
              </a:rPr>
              <a:t>Benjamini, Y., &amp; Hochberg, Y. (1995). Controlling the false discovery rate. J. Royal Statistical Society B, 57(1), 289–300. https://doi.org/10.1111/j.2517-6161.1995.tb02031.x</a:t>
            </a:r>
            <a:endParaRPr lang="en-US" sz="1300" dirty="0"/>
          </a:p>
          <a:p>
            <a:pPr indent="0" marL="0">
              <a:spcAft>
                <a:spcPts val="800"/>
              </a:spcAft>
              <a:buNone/>
            </a:pPr>
            <a:r>
              <a:rPr lang="en-US" sz="1300" dirty="0">
                <a:solidFill>
                  <a:schemeClr val="tx1"/>
                </a:solidFill>
              </a:rPr>
              <a:t>Bohnenkamp, D., Behmann, J., &amp; Mahlein, A.-K. (2019). In-field detection of yellow rust in wheat on the ground canopy and UAV scale. Remote Sensing, 11(21), 2495. https://doi.org/10.3390/rs11212495</a:t>
            </a:r>
            <a:endParaRPr lang="en-US" sz="1300" dirty="0"/>
          </a:p>
          <a:p>
            <a:pPr indent="0" marL="0">
              <a:spcAft>
                <a:spcPts val="800"/>
              </a:spcAft>
              <a:buNone/>
            </a:pPr>
            <a:r>
              <a:rPr lang="en-US" sz="1300" dirty="0">
                <a:solidFill>
                  <a:schemeClr val="tx1"/>
                </a:solidFill>
              </a:rPr>
              <a:t>Caldas de Castro, M., &amp; Singer, B. H. (2006). Controlling the false discovery rate: a new application to account for multiple and dependent tests in local statistics of spatial association. Geographical Analysis, 38(2), 180–208. https://doi.org/10.1111/j.0016-7363.2006.00682.x</a:t>
            </a:r>
            <a:endParaRPr lang="en-US" sz="1300" dirty="0"/>
          </a:p>
          <a:p>
            <a:pPr indent="0" marL="0">
              <a:spcAft>
                <a:spcPts val="800"/>
              </a:spcAft>
              <a:buNone/>
            </a:pPr>
            <a:r>
              <a:rPr lang="en-US" sz="1300" dirty="0">
                <a:solidFill>
                  <a:schemeClr val="tx1"/>
                </a:solidFill>
              </a:rPr>
              <a:t>Clevers, J. G. P. W., &amp; Gitelson, A. A. (2013). Remote estimation of crop and grass chlorophyll and nitrogen content using red-edge bands on Sentinel-2 and -3. Int. J. Applied Earth Obs. Geoinf., 23, 344–351. https://doi.org/10.1016/j.jag.2012.10.008</a:t>
            </a:r>
            <a:endParaRPr lang="en-US" sz="1300" dirty="0"/>
          </a:p>
          <a:p>
            <a:pPr indent="0" marL="0">
              <a:spcAft>
                <a:spcPts val="800"/>
              </a:spcAft>
              <a:buNone/>
            </a:pPr>
            <a:r>
              <a:rPr lang="en-US" sz="1300" dirty="0">
                <a:solidFill>
                  <a:schemeClr val="tx1"/>
                </a:solidFill>
              </a:rPr>
              <a:t>Dash, J., &amp; Curran, P. J. (2004). The MERIS terrestrial chlorophyll index. Int. J. Remote Sensing, 25(23), 5403–5413. https://doi.org/10.1080/0143116042000274015</a:t>
            </a:r>
            <a:endParaRPr lang="en-US" sz="1300" dirty="0"/>
          </a:p>
          <a:p>
            <a:pPr indent="0" marL="0">
              <a:spcAft>
                <a:spcPts val="800"/>
              </a:spcAft>
              <a:buNone/>
            </a:pPr>
            <a:r>
              <a:rPr lang="en-US" sz="1300" dirty="0">
                <a:solidFill>
                  <a:schemeClr val="tx1"/>
                </a:solidFill>
              </a:rPr>
              <a:t>Drusch, M., et al. (2012). Sentinel-2: ESA's optical high-resolution mission for GMES operational services. Remote Sensing of Environment, 120, 25–36. https://doi.org/10.1016/j.rse.2011.11.026</a:t>
            </a:r>
            <a:endParaRPr lang="en-US" sz="1300" dirty="0"/>
          </a:p>
          <a:p>
            <a:pPr indent="0" marL="0">
              <a:spcAft>
                <a:spcPts val="800"/>
              </a:spcAft>
              <a:buNone/>
            </a:pPr>
            <a:r>
              <a:rPr lang="en-US" sz="1300" dirty="0">
                <a:solidFill>
                  <a:schemeClr val="tx1"/>
                </a:solidFill>
              </a:rPr>
              <a:t>ESA. Sentinel-2 Spectral Response Functions (S2-SRF), document COPE-GSEG-EOPG-TN-15-0007. European Space Agency (Sentinel Online).</a:t>
            </a:r>
            <a:endParaRPr lang="en-US" sz="1300" dirty="0"/>
          </a:p>
        </p:txBody>
      </p:sp>
      <p:sp>
        <p:nvSpPr>
          <p:cNvPr id="25" name="Slide Number Placeholder 0"/>
          <p:cNvSpPr>
            <a:spLocks noGrp="1"/>
          </p:cNvSpPr>
          <p:nvPr>
            <p:ph type="sldNum" sz="quarter" idx="4294967295"/>
          </p:nvPr>
        </p:nvSpPr>
        <p:spPr>
          <a:xfrm>
            <a:off x="11247120" y="644652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457200" y="384048"/>
            <a:ext cx="11247120" cy="640080"/>
          </a:xfrm>
          <a:prstGeom prst="rect">
            <a:avLst/>
          </a:prstGeom>
          <a:noFill/>
          <a:ln/>
        </p:spPr>
        <p:txBody>
          <a:bodyPr wrap="square" lIns="0" tIns="0" rIns="0" bIns="0" rtlCol="0" anchor="ctr"/>
          <a:lstStyle/>
          <a:p>
            <a:pPr algn="l" indent="0" marL="0">
              <a:buNone/>
            </a:pPr>
            <a:r>
              <a:rPr lang="en-US" sz="2600" b="1" dirty="0">
                <a:solidFill>
                  <a:schemeClr val="tx1"/>
                </a:solidFill>
              </a:rPr>
              <a:t>References (2/4)</a:t>
            </a:r>
            <a:endParaRPr lang="en-US" sz="2600" dirty="0"/>
          </a:p>
        </p:txBody>
      </p:sp>
      <p:sp>
        <p:nvSpPr>
          <p:cNvPr id="3" name="Text 1"/>
          <p:cNvSpPr txBox="1"/>
          <p:nvPr/>
        </p:nvSpPr>
        <p:spPr>
          <a:xfrm>
            <a:off x="457200" y="164592"/>
            <a:ext cx="7315200" cy="237744"/>
          </a:xfrm>
          <a:prstGeom prst="rect">
            <a:avLst/>
          </a:prstGeom>
          <a:noFill/>
          <a:ln/>
        </p:spPr>
        <p:txBody>
          <a:bodyPr wrap="square" lIns="0" tIns="0" rIns="0" bIns="0" rtlCol="0" anchor="t"/>
          <a:lstStyle/>
          <a:p>
            <a:pPr indent="0" marL="0">
              <a:buNone/>
            </a:pPr>
            <a:r>
              <a:rPr lang="en-US" sz="1100" b="1" spc="200" kern="0" dirty="0">
                <a:solidFill>
                  <a:schemeClr val="accent1"/>
                </a:solidFill>
              </a:rPr>
              <a:t>REFERENCES</a:t>
            </a:r>
            <a:endParaRPr lang="en-US" sz="1100" dirty="0"/>
          </a:p>
        </p:txBody>
      </p:sp>
      <p:sp>
        <p:nvSpPr>
          <p:cNvPr id="4" name="Text 2"/>
          <p:cNvSpPr txBox="1"/>
          <p:nvPr/>
        </p:nvSpPr>
        <p:spPr>
          <a:xfrm>
            <a:off x="457200" y="1234440"/>
            <a:ext cx="11274552" cy="5074920"/>
          </a:xfrm>
          <a:prstGeom prst="rect">
            <a:avLst/>
          </a:prstGeom>
          <a:noFill/>
          <a:ln/>
        </p:spPr>
        <p:txBody>
          <a:bodyPr wrap="square" lIns="0" tIns="0" rIns="0" bIns="0" rtlCol="0" anchor="t"/>
          <a:lstStyle/>
          <a:p>
            <a:pPr indent="0" marL="0">
              <a:spcAft>
                <a:spcPts val="800"/>
              </a:spcAft>
              <a:buNone/>
            </a:pPr>
            <a:r>
              <a:rPr lang="en-US" sz="1300" dirty="0">
                <a:solidFill>
                  <a:schemeClr val="tx1"/>
                </a:solidFill>
              </a:rPr>
              <a:t>Frampton, W. J., Dash, J., Watmough, G., &amp; Milton, E. J. (2013). Evaluating the capabilities of Sentinel-2 for quantitative estimation of biophysical variables in vegetation. ISPRS J. Photogramm. Remote Sens., 82, 83–92. https://doi.org/10.1016/j.isprsjprs.2013.04.007</a:t>
            </a:r>
            <a:endParaRPr lang="en-US" sz="1300" dirty="0"/>
          </a:p>
          <a:p>
            <a:pPr indent="0" marL="0">
              <a:spcAft>
                <a:spcPts val="800"/>
              </a:spcAft>
              <a:buNone/>
            </a:pPr>
            <a:r>
              <a:rPr lang="en-US" sz="1300" dirty="0">
                <a:solidFill>
                  <a:schemeClr val="tx1"/>
                </a:solidFill>
              </a:rPr>
              <a:t>Getis, A., &amp; Ord, J. K. (1992). The analysis of spatial association by use of distance statistics. Geographical Analysis, 24(3), 189–206. https://doi.org/10.1111/j.1538-4632.1992.tb00261.x</a:t>
            </a:r>
            <a:endParaRPr lang="en-US" sz="1300" dirty="0"/>
          </a:p>
          <a:p>
            <a:pPr indent="0" marL="0">
              <a:spcAft>
                <a:spcPts val="800"/>
              </a:spcAft>
              <a:buNone/>
            </a:pPr>
            <a:r>
              <a:rPr lang="en-US" sz="1300" dirty="0">
                <a:solidFill>
                  <a:schemeClr val="tx1"/>
                </a:solidFill>
              </a:rPr>
              <a:t>Gitelson, A., &amp; Merzlyak, M. N. (1994). Spectral reflectance changes associated with autumn senescence of Aesculus hippocastanum L. and Acer platanoides L. leaves. J. Plant Physiology, 143(3), 286–292. https://doi.org/10.1016/S0176-1617(11)81633-0</a:t>
            </a:r>
            <a:endParaRPr lang="en-US" sz="1300" dirty="0"/>
          </a:p>
          <a:p>
            <a:pPr indent="0" marL="0">
              <a:spcAft>
                <a:spcPts val="800"/>
              </a:spcAft>
              <a:buNone/>
            </a:pPr>
            <a:r>
              <a:rPr lang="en-US" sz="1300" dirty="0">
                <a:solidFill>
                  <a:schemeClr val="tx1"/>
                </a:solidFill>
              </a:rPr>
              <a:t>Heinz, D. C., &amp; Chang, C.-I. (2001). Fully constrained least squares linear spectral mixture analysis. IEEE TGRS, 39(3), 529–545. https://doi.org/10.1109/36.911111</a:t>
            </a:r>
            <a:endParaRPr lang="en-US" sz="1300" dirty="0"/>
          </a:p>
          <a:p>
            <a:pPr indent="0" marL="0">
              <a:spcAft>
                <a:spcPts val="800"/>
              </a:spcAft>
              <a:buNone/>
            </a:pPr>
            <a:r>
              <a:rPr lang="en-US" sz="1300" dirty="0">
                <a:solidFill>
                  <a:schemeClr val="tx1"/>
                </a:solidFill>
              </a:rPr>
              <a:t>Madden, L. V., Hughes, G., &amp; van den Bosch, F. (2007). The Study of Plant Disease Epidemics. APS Press, St. Paul.</a:t>
            </a:r>
            <a:endParaRPr lang="en-US" sz="1300" dirty="0"/>
          </a:p>
          <a:p>
            <a:pPr indent="0" marL="0">
              <a:spcAft>
                <a:spcPts val="800"/>
              </a:spcAft>
              <a:buNone/>
            </a:pPr>
            <a:r>
              <a:rPr lang="en-US" sz="1300" dirty="0">
                <a:solidFill>
                  <a:schemeClr val="tx1"/>
                </a:solidFill>
              </a:rPr>
              <a:t>Mahlein, A.-K. (2016). Plant disease detection by imaging sensors. Plant Disease, 100(2), 241–251. https://doi.org/10.1094/PDIS-03-15-0340-FE</a:t>
            </a:r>
            <a:endParaRPr lang="en-US" sz="1300" dirty="0"/>
          </a:p>
          <a:p>
            <a:pPr indent="0" marL="0">
              <a:spcAft>
                <a:spcPts val="800"/>
              </a:spcAft>
              <a:buNone/>
            </a:pPr>
            <a:r>
              <a:rPr lang="en-US" sz="1300" dirty="0">
                <a:solidFill>
                  <a:schemeClr val="tx1"/>
                </a:solidFill>
              </a:rPr>
              <a:t>Maimaitijiang, M., et al. (2020). Soybean yield prediction from UAV using multimodal data fusion and deep learning. Remote Sensing of Environment, 237, 111599. https://doi.org/10.1016/j.rse.2019.111599</a:t>
            </a:r>
            <a:endParaRPr lang="en-US" sz="1300" dirty="0"/>
          </a:p>
          <a:p>
            <a:pPr indent="0" marL="0">
              <a:spcAft>
                <a:spcPts val="800"/>
              </a:spcAft>
              <a:buNone/>
            </a:pPr>
            <a:r>
              <a:rPr lang="en-US" sz="1300" dirty="0">
                <a:solidFill>
                  <a:schemeClr val="tx1"/>
                </a:solidFill>
              </a:rPr>
              <a:t>Merzlyak, M. N., Gitelson, A. A., Chivkunova, O. B., &amp; Rakitin, V. Y. (1999). Non-destructive optical detection of pigment changes during leaf senescence and fruit ripening. Physiologia Plantarum, 106(1), 135–141. https://doi.org/10.1034/j.1399-3054.1999.106119.x</a:t>
            </a:r>
            <a:endParaRPr lang="en-US" sz="1300" dirty="0"/>
          </a:p>
        </p:txBody>
      </p:sp>
      <p:sp>
        <p:nvSpPr>
          <p:cNvPr id="25" name="Slide Number Placeholder 0"/>
          <p:cNvSpPr>
            <a:spLocks noGrp="1"/>
          </p:cNvSpPr>
          <p:nvPr>
            <p:ph type="sldNum" sz="quarter" idx="4294967295"/>
          </p:nvPr>
        </p:nvSpPr>
        <p:spPr>
          <a:xfrm>
            <a:off x="11247120" y="644652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457200" y="384048"/>
            <a:ext cx="11247120" cy="640080"/>
          </a:xfrm>
          <a:prstGeom prst="rect">
            <a:avLst/>
          </a:prstGeom>
          <a:noFill/>
          <a:ln/>
        </p:spPr>
        <p:txBody>
          <a:bodyPr wrap="square" lIns="0" tIns="0" rIns="0" bIns="0" rtlCol="0" anchor="ctr"/>
          <a:lstStyle/>
          <a:p>
            <a:pPr algn="l" indent="0" marL="0">
              <a:buNone/>
            </a:pPr>
            <a:r>
              <a:rPr lang="en-US" sz="2600" b="1" dirty="0">
                <a:solidFill>
                  <a:schemeClr val="tx1"/>
                </a:solidFill>
              </a:rPr>
              <a:t>References (3/4)</a:t>
            </a:r>
            <a:endParaRPr lang="en-US" sz="2600" dirty="0"/>
          </a:p>
        </p:txBody>
      </p:sp>
      <p:sp>
        <p:nvSpPr>
          <p:cNvPr id="3" name="Text 1"/>
          <p:cNvSpPr txBox="1"/>
          <p:nvPr/>
        </p:nvSpPr>
        <p:spPr>
          <a:xfrm>
            <a:off x="457200" y="164592"/>
            <a:ext cx="7315200" cy="237744"/>
          </a:xfrm>
          <a:prstGeom prst="rect">
            <a:avLst/>
          </a:prstGeom>
          <a:noFill/>
          <a:ln/>
        </p:spPr>
        <p:txBody>
          <a:bodyPr wrap="square" lIns="0" tIns="0" rIns="0" bIns="0" rtlCol="0" anchor="t"/>
          <a:lstStyle/>
          <a:p>
            <a:pPr indent="0" marL="0">
              <a:buNone/>
            </a:pPr>
            <a:r>
              <a:rPr lang="en-US" sz="1100" b="1" spc="200" kern="0" dirty="0">
                <a:solidFill>
                  <a:schemeClr val="accent1"/>
                </a:solidFill>
              </a:rPr>
              <a:t>REFERENCES</a:t>
            </a:r>
            <a:endParaRPr lang="en-US" sz="1100" dirty="0"/>
          </a:p>
        </p:txBody>
      </p:sp>
      <p:sp>
        <p:nvSpPr>
          <p:cNvPr id="4" name="Text 2"/>
          <p:cNvSpPr txBox="1"/>
          <p:nvPr/>
        </p:nvSpPr>
        <p:spPr>
          <a:xfrm>
            <a:off x="457200" y="1234440"/>
            <a:ext cx="11274552" cy="5074920"/>
          </a:xfrm>
          <a:prstGeom prst="rect">
            <a:avLst/>
          </a:prstGeom>
          <a:noFill/>
          <a:ln/>
        </p:spPr>
        <p:txBody>
          <a:bodyPr wrap="square" lIns="0" tIns="0" rIns="0" bIns="0" rtlCol="0" anchor="t"/>
          <a:lstStyle/>
          <a:p>
            <a:pPr indent="0" marL="0">
              <a:spcAft>
                <a:spcPts val="800"/>
              </a:spcAft>
              <a:buNone/>
            </a:pPr>
            <a:r>
              <a:rPr lang="en-US" sz="1300" dirty="0">
                <a:solidFill>
                  <a:schemeClr val="tx1"/>
                </a:solidFill>
              </a:rPr>
              <a:t>Moran, P. A. P. (1950). Notes on continuous stochastic phenomena. Biometrika, 37(1/2), 17–23. https://doi.org/10.2307/2332142</a:t>
            </a:r>
            <a:endParaRPr lang="en-US" sz="1300" dirty="0"/>
          </a:p>
          <a:p>
            <a:pPr indent="0" marL="0">
              <a:spcAft>
                <a:spcPts val="800"/>
              </a:spcAft>
              <a:buNone/>
            </a:pPr>
            <a:r>
              <a:rPr lang="en-US" sz="1300" dirty="0">
                <a:solidFill>
                  <a:schemeClr val="tx1"/>
                </a:solidFill>
              </a:rPr>
              <a:t>Nascimento, J. M. P., &amp; Bioucas-Dias, J. M. (2005). Vertex component analysis. IEEE TGRS, 43(4), 898–910. https://doi.org/10.1109/TGRS.2005.844293</a:t>
            </a:r>
            <a:endParaRPr lang="en-US" sz="1300" dirty="0"/>
          </a:p>
          <a:p>
            <a:pPr indent="0" marL="0">
              <a:spcAft>
                <a:spcPts val="800"/>
              </a:spcAft>
              <a:buNone/>
            </a:pPr>
            <a:r>
              <a:rPr lang="en-US" sz="1300" dirty="0">
                <a:solidFill>
                  <a:schemeClr val="tx1"/>
                </a:solidFill>
              </a:rPr>
              <a:t>Olofsson, P., et al. (2014). Good practices for estimating area and assessing accuracy of land change. Remote Sensing of Environment, 148, 42–57. https://doi.org/10.1016/j.rse.2014.02.015</a:t>
            </a:r>
            <a:endParaRPr lang="en-US" sz="1300" dirty="0"/>
          </a:p>
          <a:p>
            <a:pPr indent="0" marL="0">
              <a:spcAft>
                <a:spcPts val="800"/>
              </a:spcAft>
              <a:buNone/>
            </a:pPr>
            <a:r>
              <a:rPr lang="en-US" sz="1300" dirty="0">
                <a:solidFill>
                  <a:schemeClr val="tx1"/>
                </a:solidFill>
              </a:rPr>
              <a:t>Ord, J. K., &amp; Getis, A. (1995). Local spatial autocorrelation statistics. Geographical Analysis, 27(4), 286–306. https://doi.org/10.1111/j.1538-4632.1995.tb00912.x</a:t>
            </a:r>
            <a:endParaRPr lang="en-US" sz="1300" dirty="0"/>
          </a:p>
          <a:p>
            <a:pPr indent="0" marL="0">
              <a:spcAft>
                <a:spcPts val="800"/>
              </a:spcAft>
              <a:buNone/>
            </a:pPr>
            <a:r>
              <a:rPr lang="en-US" sz="1300" dirty="0">
                <a:solidFill>
                  <a:schemeClr val="tx1"/>
                </a:solidFill>
              </a:rPr>
              <a:t>Ploton, P., et al. (2020). Spatial validation reveals poor predictive performance of large-scale ecological mapping models. Nature Communications, 11, 4540. https://doi.org/10.1038/s41467-020-18321-y</a:t>
            </a:r>
            <a:endParaRPr lang="en-US" sz="1300" dirty="0"/>
          </a:p>
          <a:p>
            <a:pPr indent="0" marL="0">
              <a:spcAft>
                <a:spcPts val="800"/>
              </a:spcAft>
              <a:buNone/>
            </a:pPr>
            <a:r>
              <a:rPr lang="en-US" sz="1300" dirty="0">
                <a:solidFill>
                  <a:schemeClr val="tx1"/>
                </a:solidFill>
              </a:rPr>
              <a:t>Rey, S. J., &amp; Anselin, L. (2007). PySAL: A Python library of spatial analytical methods. Review of Regional Studies, 37(1), 5–27.</a:t>
            </a:r>
            <a:endParaRPr lang="en-US" sz="1300" dirty="0"/>
          </a:p>
          <a:p>
            <a:pPr indent="0" marL="0">
              <a:spcAft>
                <a:spcPts val="800"/>
              </a:spcAft>
              <a:buNone/>
            </a:pPr>
            <a:r>
              <a:rPr lang="en-US" sz="1300" dirty="0">
                <a:solidFill>
                  <a:schemeClr val="tx1"/>
                </a:solidFill>
              </a:rPr>
              <a:t>Rey, S. J., et al. (2022). The PySAL ecosystem: philosophy and implementation. Geographical Analysis, 54(3), 467–487. https://doi.org/10.1111/gean.12276</a:t>
            </a:r>
            <a:endParaRPr lang="en-US" sz="1300" dirty="0"/>
          </a:p>
          <a:p>
            <a:pPr indent="0" marL="0">
              <a:spcAft>
                <a:spcPts val="800"/>
              </a:spcAft>
              <a:buNone/>
            </a:pPr>
            <a:r>
              <a:rPr lang="en-US" sz="1300" dirty="0">
                <a:solidFill>
                  <a:schemeClr val="tx1"/>
                </a:solidFill>
              </a:rPr>
              <a:t>Riihimäki, H., Luoto, M., &amp; Heiskanen, J. (2019). Estimating fractional cover of tundra vegetation at multiple scales using unmanned aerial systems and optical satellite data. Remote Sensing of Environment, 224, 119–132. https://doi.org/10.1016/j.rse.2019.01.030</a:t>
            </a:r>
            <a:endParaRPr lang="en-US" sz="1300" dirty="0"/>
          </a:p>
        </p:txBody>
      </p:sp>
      <p:sp>
        <p:nvSpPr>
          <p:cNvPr id="25" name="Slide Number Placeholder 0"/>
          <p:cNvSpPr>
            <a:spLocks noGrp="1"/>
          </p:cNvSpPr>
          <p:nvPr>
            <p:ph type="sldNum" sz="quarter" idx="4294967295"/>
          </p:nvPr>
        </p:nvSpPr>
        <p:spPr>
          <a:xfrm>
            <a:off x="11247120" y="644652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457200" y="384048"/>
            <a:ext cx="11247120" cy="640080"/>
          </a:xfrm>
          <a:prstGeom prst="rect">
            <a:avLst/>
          </a:prstGeom>
          <a:noFill/>
          <a:ln/>
        </p:spPr>
        <p:txBody>
          <a:bodyPr wrap="square" lIns="0" tIns="0" rIns="0" bIns="0" rtlCol="0" anchor="ctr"/>
          <a:lstStyle/>
          <a:p>
            <a:pPr algn="l" indent="0" marL="0">
              <a:buNone/>
            </a:pPr>
            <a:r>
              <a:rPr lang="en-US" sz="2600" b="1" dirty="0">
                <a:solidFill>
                  <a:schemeClr val="tx1"/>
                </a:solidFill>
              </a:rPr>
              <a:t>References (4/4)</a:t>
            </a:r>
            <a:endParaRPr lang="en-US" sz="2600" dirty="0"/>
          </a:p>
        </p:txBody>
      </p:sp>
      <p:sp>
        <p:nvSpPr>
          <p:cNvPr id="3" name="Text 1"/>
          <p:cNvSpPr txBox="1"/>
          <p:nvPr/>
        </p:nvSpPr>
        <p:spPr>
          <a:xfrm>
            <a:off x="457200" y="164592"/>
            <a:ext cx="7315200" cy="237744"/>
          </a:xfrm>
          <a:prstGeom prst="rect">
            <a:avLst/>
          </a:prstGeom>
          <a:noFill/>
          <a:ln/>
        </p:spPr>
        <p:txBody>
          <a:bodyPr wrap="square" lIns="0" tIns="0" rIns="0" bIns="0" rtlCol="0" anchor="t"/>
          <a:lstStyle/>
          <a:p>
            <a:pPr indent="0" marL="0">
              <a:buNone/>
            </a:pPr>
            <a:r>
              <a:rPr lang="en-US" sz="1100" b="1" spc="200" kern="0" dirty="0">
                <a:solidFill>
                  <a:schemeClr val="accent1"/>
                </a:solidFill>
              </a:rPr>
              <a:t>REFERENCES</a:t>
            </a:r>
            <a:endParaRPr lang="en-US" sz="1100" dirty="0"/>
          </a:p>
        </p:txBody>
      </p:sp>
      <p:sp>
        <p:nvSpPr>
          <p:cNvPr id="4" name="Text 2"/>
          <p:cNvSpPr txBox="1"/>
          <p:nvPr/>
        </p:nvSpPr>
        <p:spPr>
          <a:xfrm>
            <a:off x="457200" y="1234440"/>
            <a:ext cx="11274552" cy="5074920"/>
          </a:xfrm>
          <a:prstGeom prst="rect">
            <a:avLst/>
          </a:prstGeom>
          <a:noFill/>
          <a:ln/>
        </p:spPr>
        <p:txBody>
          <a:bodyPr wrap="square" lIns="0" tIns="0" rIns="0" bIns="0" rtlCol="0" anchor="t"/>
          <a:lstStyle/>
          <a:p>
            <a:pPr indent="0" marL="0">
              <a:spcAft>
                <a:spcPts val="800"/>
              </a:spcAft>
              <a:buNone/>
            </a:pPr>
            <a:r>
              <a:rPr lang="en-US" sz="1300" dirty="0">
                <a:solidFill>
                  <a:schemeClr val="tx1"/>
                </a:solidFill>
              </a:rPr>
              <a:t>Roberts, D. R., et al. (2017). Cross-validation strategies for data with temporal, spatial, hierarchical, or phylogenetic structure. Ecography, 40(8), 913–929. https://doi.org/10.1111/ecog.02881</a:t>
            </a:r>
            <a:endParaRPr lang="en-US" sz="1300" dirty="0"/>
          </a:p>
          <a:p>
            <a:pPr indent="0" marL="0">
              <a:spcAft>
                <a:spcPts val="800"/>
              </a:spcAft>
              <a:buNone/>
            </a:pPr>
            <a:r>
              <a:rPr lang="en-US" sz="1300" dirty="0">
                <a:solidFill>
                  <a:schemeClr val="tx1"/>
                </a:solidFill>
              </a:rPr>
              <a:t>Rouse, J. W., Haas, R. H., Schell, J. A., &amp; Deering, D. W. (1974). Monitoring vegetation systems in the Great Plains with ERTS. Proc. 3rd ERTS Symposium, NASA SP-351, 309–317.</a:t>
            </a:r>
            <a:endParaRPr lang="en-US" sz="1300" dirty="0"/>
          </a:p>
          <a:p>
            <a:pPr indent="0" marL="0">
              <a:spcAft>
                <a:spcPts val="800"/>
              </a:spcAft>
              <a:buNone/>
            </a:pPr>
            <a:r>
              <a:rPr lang="en-US" sz="1300" dirty="0">
                <a:solidFill>
                  <a:schemeClr val="tx1"/>
                </a:solidFill>
              </a:rPr>
              <a:t>Webster, R., &amp; Oliver, M. A. (2007). Geostatistics for Environmental Scientists (2nd ed.). Wiley, Chichester.</a:t>
            </a:r>
            <a:endParaRPr lang="en-US" sz="1300" dirty="0"/>
          </a:p>
          <a:p>
            <a:pPr indent="0" marL="0">
              <a:spcAft>
                <a:spcPts val="800"/>
              </a:spcAft>
              <a:buNone/>
            </a:pPr>
            <a:r>
              <a:rPr lang="en-US" sz="1300" dirty="0">
                <a:solidFill>
                  <a:schemeClr val="tx1"/>
                </a:solidFill>
              </a:rPr>
              <a:t>Whetton, R. L., Waine, T. W., &amp; Mouazen, A. M. (2018). Hyperspectral measurements of yellow rust and fusarium head blight in cereal crops: Part 2: On-line field measurement. Biosystems Engineering, 167, 144–158. https://doi.org/10.1016/j.biosystemseng.2018.01.004</a:t>
            </a:r>
            <a:endParaRPr lang="en-US" sz="1300" dirty="0"/>
          </a:p>
          <a:p>
            <a:pPr indent="0" marL="0">
              <a:spcAft>
                <a:spcPts val="800"/>
              </a:spcAft>
              <a:buNone/>
            </a:pPr>
            <a:r>
              <a:rPr lang="en-US" sz="1300" dirty="0">
                <a:solidFill>
                  <a:schemeClr val="tx1"/>
                </a:solidFill>
              </a:rPr>
              <a:t>Zhang, J.-C., Pu, R., Wang, J., Huang, W., Yuan, L., &amp; Luo, J. (2012). Detecting powdery mildew of winter wheat using leaf level hyperspectral measurements. Comput. Electron. Agric., 85, 13–23. https://doi.org/10.1016/j.compag.2012.03.006</a:t>
            </a:r>
            <a:endParaRPr lang="en-US" sz="1300" dirty="0"/>
          </a:p>
          <a:p>
            <a:pPr indent="0" marL="0">
              <a:spcAft>
                <a:spcPts val="800"/>
              </a:spcAft>
              <a:buNone/>
            </a:pPr>
            <a:r>
              <a:rPr lang="en-US" sz="1300" dirty="0">
                <a:solidFill>
                  <a:schemeClr val="tx1"/>
                </a:solidFill>
              </a:rPr>
              <a:t>Zheng, Q., Huang, W., Cui, X., Shi, Y., &amp; Liu, L. (2018). New spectral index for detecting wheat yellow rust using Sentinel-2 multispectral imagery. Sensors, 18(3), 868. https://doi.org/10.3390/s18030868</a:t>
            </a:r>
            <a:endParaRPr lang="en-US" sz="1300" dirty="0"/>
          </a:p>
        </p:txBody>
      </p:sp>
      <p:sp>
        <p:nvSpPr>
          <p:cNvPr id="25" name="Slide Number Placeholder 0"/>
          <p:cNvSpPr>
            <a:spLocks noGrp="1"/>
          </p:cNvSpPr>
          <p:nvPr>
            <p:ph type="sldNum" sz="quarter" idx="4294967295"/>
          </p:nvPr>
        </p:nvSpPr>
        <p:spPr>
          <a:xfrm>
            <a:off x="11247120" y="644652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22</a:t>
            </a:fld>
            <a:endParaRPr lang="en-US"/>
          </a:p>
        </p:txBody>
      </p:sp>
    </p:spTree>
  </p:cSld>
  <p:clrMapOvr>
    <a:masterClrMapping/>
  </p:clrMapOvr>
</p:sld>
</file>

<file path=ppt/theme/theme1.xml><?xml version="1.0" encoding="utf-8"?>
<a:theme xmlns:a="http://schemas.openxmlformats.org/drawingml/2006/main" name="MuDAS-AI">
  <a:themeElements>
    <a:clrScheme name="MuDAS-AI">
      <a:dk1>
        <a:srgbClr val="0D1B1F"/>
      </a:dk1>
      <a:lt1>
        <a:srgbClr val="FFFFFF"/>
      </a:lt1>
      <a:dk2>
        <a:srgbClr val="1F3A40"/>
      </a:dk2>
      <a:lt2>
        <a:srgbClr val="EEF6F5"/>
      </a:lt2>
      <a:accent1>
        <a:srgbClr val="1CB8B2"/>
      </a:accent1>
      <a:accent2>
        <a:srgbClr val="7DBE4B"/>
      </a:accent2>
      <a:accent3>
        <a:srgbClr val="E0A526"/>
      </a:accent3>
      <a:accent4>
        <a:srgbClr val="C0503A"/>
      </a:accent4>
      <a:accent5>
        <a:srgbClr val="3B82F6"/>
      </a:accent5>
      <a:accent6>
        <a:srgbClr val="8E5BD6"/>
      </a:accent6>
      <a:hlink>
        <a:srgbClr val="1C7C78"/>
      </a:hlink>
      <a:folHlink>
        <a:srgbClr val="5E7A7E"/>
      </a:folHlink>
    </a:clrScheme>
    <a:fontScheme name="MuDAS-AI">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Within-plot hotspot analysis and Sentinel-2 band simulation</dc:title>
  <dc:subject>PptxGenJS Presentation</dc:subject>
  <dc:creator>Animesh Panda</dc:creator>
  <cp:lastModifiedBy>Animesh Panda</cp:lastModifiedBy>
  <cp:revision>1</cp:revision>
  <dcterms:created xsi:type="dcterms:W3CDTF">2026-10-07T22:46:20Z</dcterms:created>
  <dcterms:modified xsi:type="dcterms:W3CDTF">2026-10-07T22:46:20Z</dcterms:modified>
</cp:coreProperties>
</file>