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Conceptual framework, in five steps. 1 Problem: white rust pustules hide under the leaf, so it is spotted too late to spray. 2 UAV imaging: one drone flight over the mustard plots. 3 Multimodal data: RGB, multispectral, hyperspectral and thermal images from our trial, plus field disease scores for training. 4 AI engine: select disease-specific features, fuse the four sensors, classify severity. 5 Severity map: every plot in six classes, from healthy (DI 0) to very high (DI above 50%). Impact: early detection, targeted spraying, less fungicide, protected yield, cleaner soil and water.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MuDAS-AI · Conceptual Framework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32688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drone images to a white rust severity map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21792" y="1371600"/>
            <a:ext cx="1143000" cy="36576"/>
          </a:xfrm>
          <a:prstGeom prst="rect">
            <a:avLst/>
          </a:prstGeom>
          <a:solidFill>
            <a:srgbClr val="1CB8B2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37360"/>
            <a:ext cx="1856232" cy="3154680"/>
          </a:xfrm>
          <a:prstGeom prst="roundRect">
            <a:avLst>
              <a:gd name="adj" fmla="val 6897"/>
            </a:avLst>
          </a:prstGeom>
          <a:solidFill>
            <a:srgbClr val="F4F9F9"/>
          </a:solidFill>
          <a:ln/>
        </p:spPr>
      </p:sp>
      <p:sp>
        <p:nvSpPr>
          <p:cNvPr id="6" name="Shape 4"/>
          <p:cNvSpPr/>
          <p:nvPr/>
        </p:nvSpPr>
        <p:spPr>
          <a:xfrm>
            <a:off x="2903220" y="1737360"/>
            <a:ext cx="1856232" cy="3154680"/>
          </a:xfrm>
          <a:prstGeom prst="roundRect">
            <a:avLst>
              <a:gd name="adj" fmla="val 6897"/>
            </a:avLst>
          </a:prstGeom>
          <a:solidFill>
            <a:srgbClr val="DFF0EE"/>
          </a:solidFill>
          <a:ln/>
        </p:spPr>
      </p:sp>
      <p:sp>
        <p:nvSpPr>
          <p:cNvPr id="7" name="Shape 5"/>
          <p:cNvSpPr/>
          <p:nvPr/>
        </p:nvSpPr>
        <p:spPr>
          <a:xfrm>
            <a:off x="2903220" y="3895344"/>
            <a:ext cx="1856232" cy="996696"/>
          </a:xfrm>
          <a:custGeom>
            <a:avLst/>
            <a:gdLst/>
            <a:ahLst/>
            <a:cxnLst/>
            <a:rect l="l" t="t" r="r" b="b"/>
            <a:pathLst>
              <a:path w="1856232" h="996696">
                <a:moveTo>
                  <a:pt x="0" y="0"/>
                </a:moveTo>
                <a:lnTo>
                  <a:pt x="1856232" y="0"/>
                </a:lnTo>
                <a:lnTo>
                  <a:pt x="1856232" y="868680"/>
                </a:lnTo>
                <a:cubicBezTo>
                  <a:pt x="1856232" y="939089"/>
                  <a:pt x="1798625" y="996696"/>
                  <a:pt x="1728216" y="996696"/>
                </a:cubicBezTo>
                <a:lnTo>
                  <a:pt x="128016" y="996696"/>
                </a:lnTo>
                <a:cubicBezTo>
                  <a:pt x="57607" y="996696"/>
                  <a:pt x="0" y="939089"/>
                  <a:pt x="0" y="868680"/>
                </a:cubicBezTo>
                <a:close/>
              </a:path>
            </a:pathLst>
          </a:custGeom>
          <a:solidFill>
            <a:srgbClr val="A4C963"/>
          </a:solidFill>
          <a:ln/>
        </p:spPr>
      </p:sp>
      <p:sp>
        <p:nvSpPr>
          <p:cNvPr id="8" name="Shape 6"/>
          <p:cNvSpPr/>
          <p:nvPr/>
        </p:nvSpPr>
        <p:spPr>
          <a:xfrm>
            <a:off x="5166360" y="1737360"/>
            <a:ext cx="1856232" cy="3154680"/>
          </a:xfrm>
          <a:prstGeom prst="roundRect">
            <a:avLst>
              <a:gd name="adj" fmla="val 6897"/>
            </a:avLst>
          </a:prstGeom>
          <a:solidFill>
            <a:srgbClr val="F4F9F9"/>
          </a:solidFill>
          <a:ln/>
        </p:spPr>
      </p:sp>
      <p:sp>
        <p:nvSpPr>
          <p:cNvPr id="9" name="Shape 7"/>
          <p:cNvSpPr/>
          <p:nvPr/>
        </p:nvSpPr>
        <p:spPr>
          <a:xfrm>
            <a:off x="7429500" y="1737360"/>
            <a:ext cx="1856232" cy="3154680"/>
          </a:xfrm>
          <a:prstGeom prst="roundRect">
            <a:avLst>
              <a:gd name="adj" fmla="val 6897"/>
            </a:avLst>
          </a:prstGeom>
          <a:solidFill>
            <a:srgbClr val="F4F9F9"/>
          </a:solidFill>
          <a:ln/>
        </p:spPr>
      </p:sp>
      <p:sp>
        <p:nvSpPr>
          <p:cNvPr id="10" name="Shape 8"/>
          <p:cNvSpPr/>
          <p:nvPr/>
        </p:nvSpPr>
        <p:spPr>
          <a:xfrm>
            <a:off x="9683496" y="1737360"/>
            <a:ext cx="1856232" cy="3154680"/>
          </a:xfrm>
          <a:prstGeom prst="roundRect">
            <a:avLst>
              <a:gd name="adj" fmla="val 6897"/>
            </a:avLst>
          </a:prstGeom>
          <a:solidFill>
            <a:srgbClr val="F4F9F9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2194560"/>
            <a:ext cx="502920" cy="868680"/>
          </a:xfrm>
          <a:custGeom>
            <a:avLst/>
            <a:gdLst/>
            <a:ahLst/>
            <a:cxnLst/>
            <a:rect l="l" t="t" r="r" b="b"/>
            <a:pathLst>
              <a:path w="502920" h="868680">
                <a:moveTo>
                  <a:pt x="251460" y="0"/>
                </a:moveTo>
                <a:cubicBezTo>
                  <a:pt x="528066" y="130302"/>
                  <a:pt x="502920" y="538582"/>
                  <a:pt x="251460" y="868680"/>
                </a:cubicBezTo>
                <a:cubicBezTo>
                  <a:pt x="0" y="538582"/>
                  <a:pt x="-25146" y="130302"/>
                  <a:pt x="251460" y="0"/>
                </a:cubicBezTo>
                <a:close/>
              </a:path>
            </a:pathLst>
          </a:custGeom>
          <a:solidFill>
            <a:srgbClr val="5FA83A"/>
          </a:solidFill>
          <a:ln/>
        </p:spPr>
      </p:sp>
      <p:sp>
        <p:nvSpPr>
          <p:cNvPr id="12" name="Shape 10"/>
          <p:cNvSpPr/>
          <p:nvPr/>
        </p:nvSpPr>
        <p:spPr>
          <a:xfrm>
            <a:off x="1211580" y="2240280"/>
            <a:ext cx="914" cy="777240"/>
          </a:xfrm>
          <a:prstGeom prst="line">
            <a:avLst/>
          </a:prstGeom>
          <a:noFill/>
          <a:ln w="15875">
            <a:solidFill>
              <a:srgbClr val="3D7A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9848" y="2377440"/>
            <a:ext cx="137160" cy="91440"/>
          </a:xfrm>
          <a:prstGeom prst="line">
            <a:avLst/>
          </a:prstGeom>
          <a:noFill/>
          <a:ln w="9525">
            <a:solidFill>
              <a:srgbClr val="3D7A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2416" y="2578608"/>
            <a:ext cx="164592" cy="73152"/>
          </a:xfrm>
          <a:prstGeom prst="line">
            <a:avLst/>
          </a:prstGeom>
          <a:noFill/>
          <a:ln w="9525">
            <a:solidFill>
              <a:srgbClr val="3D7A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207008" y="2377440"/>
            <a:ext cx="137160" cy="91440"/>
          </a:xfrm>
          <a:prstGeom prst="line">
            <a:avLst/>
          </a:prstGeom>
          <a:noFill/>
          <a:ln w="9525">
            <a:solidFill>
              <a:srgbClr val="3D7A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1207008" y="2578608"/>
            <a:ext cx="173736" cy="73152"/>
          </a:xfrm>
          <a:prstGeom prst="line">
            <a:avLst/>
          </a:prstGeom>
          <a:noFill/>
          <a:ln w="9525">
            <a:solidFill>
              <a:srgbClr val="3D7A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0704" y="2542032"/>
            <a:ext cx="91440" cy="91440"/>
          </a:xfrm>
          <a:prstGeom prst="ellipse">
            <a:avLst/>
          </a:prstGeom>
          <a:solidFill>
            <a:srgbClr val="D4DC5C"/>
          </a:solidFill>
          <a:ln/>
        </p:spPr>
      </p:sp>
      <p:sp>
        <p:nvSpPr>
          <p:cNvPr id="18" name="Shape 16"/>
          <p:cNvSpPr/>
          <p:nvPr/>
        </p:nvSpPr>
        <p:spPr>
          <a:xfrm>
            <a:off x="1261872" y="2743200"/>
            <a:ext cx="73152" cy="73152"/>
          </a:xfrm>
          <a:prstGeom prst="ellipse">
            <a:avLst/>
          </a:prstGeom>
          <a:solidFill>
            <a:srgbClr val="D4DC5C"/>
          </a:solidFill>
          <a:ln/>
        </p:spPr>
      </p:sp>
      <p:sp>
        <p:nvSpPr>
          <p:cNvPr id="19" name="Shape 17"/>
          <p:cNvSpPr/>
          <p:nvPr/>
        </p:nvSpPr>
        <p:spPr>
          <a:xfrm>
            <a:off x="1673352" y="2194560"/>
            <a:ext cx="502920" cy="868680"/>
          </a:xfrm>
          <a:custGeom>
            <a:avLst/>
            <a:gdLst/>
            <a:ahLst/>
            <a:cxnLst/>
            <a:rect l="l" t="t" r="r" b="b"/>
            <a:pathLst>
              <a:path w="502920" h="868680">
                <a:moveTo>
                  <a:pt x="251460" y="0"/>
                </a:moveTo>
                <a:cubicBezTo>
                  <a:pt x="528066" y="130302"/>
                  <a:pt x="502920" y="538582"/>
                  <a:pt x="251460" y="868680"/>
                </a:cubicBezTo>
                <a:cubicBezTo>
                  <a:pt x="0" y="538582"/>
                  <a:pt x="-25146" y="130302"/>
                  <a:pt x="251460" y="0"/>
                </a:cubicBezTo>
                <a:close/>
              </a:path>
            </a:pathLst>
          </a:custGeom>
          <a:solidFill>
            <a:srgbClr val="8FBF6A"/>
          </a:solidFill>
          <a:ln/>
        </p:spPr>
      </p:sp>
      <p:sp>
        <p:nvSpPr>
          <p:cNvPr id="20" name="Shape 18"/>
          <p:cNvSpPr/>
          <p:nvPr/>
        </p:nvSpPr>
        <p:spPr>
          <a:xfrm>
            <a:off x="1924812" y="2240280"/>
            <a:ext cx="914" cy="777240"/>
          </a:xfrm>
          <a:prstGeom prst="line">
            <a:avLst/>
          </a:prstGeom>
          <a:noFill/>
          <a:ln w="15875">
            <a:solidFill>
              <a:srgbClr val="6E9C4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2450592"/>
            <a:ext cx="64008" cy="640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837944" y="2523744"/>
            <a:ext cx="50292" cy="502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773936" y="2606040"/>
            <a:ext cx="64008" cy="640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1993392" y="2423160"/>
            <a:ext cx="50292" cy="502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975104" y="2523744"/>
            <a:ext cx="64008" cy="640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2020824" y="2615184"/>
            <a:ext cx="50292" cy="502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1810512" y="2724912"/>
            <a:ext cx="64008" cy="640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1984248" y="2743200"/>
            <a:ext cx="50292" cy="502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1901952" y="2852928"/>
            <a:ext cx="64008" cy="640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1865376" y="2368296"/>
            <a:ext cx="50292" cy="502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1929384" y="2651760"/>
            <a:ext cx="64008" cy="640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2960" y="309067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536192" y="309067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Underside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749808" y="3383280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Pustules </a:t>
            </a:r>
            <a:pPr algn="ctr" indent="0" marL="0">
              <a:buNone/>
            </a:pPr>
            <a:r>
              <a:rPr lang="en-US" sz="10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hide under the leaf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41248" y="3931920"/>
            <a:ext cx="365760" cy="365760"/>
          </a:xfrm>
          <a:prstGeom prst="ellipse">
            <a:avLst/>
          </a:prstGeom>
          <a:ln w="31750">
            <a:solidFill>
              <a:srgbClr val="E0A52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24128" y="4005072"/>
            <a:ext cx="914" cy="109728"/>
          </a:xfrm>
          <a:prstGeom prst="line">
            <a:avLst/>
          </a:prstGeom>
          <a:noFill/>
          <a:ln w="31750">
            <a:solidFill>
              <a:srgbClr val="E0A52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24128" y="4114800"/>
            <a:ext cx="82296" cy="54864"/>
          </a:xfrm>
          <a:prstGeom prst="line">
            <a:avLst/>
          </a:prstGeom>
          <a:noFill/>
          <a:ln w="31750">
            <a:solidFill>
              <a:srgbClr val="E0A52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280160" y="3913632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Spotted </a:t>
            </a:r>
            <a:pPr indent="0" marL="0">
              <a:buNone/>
            </a:pPr>
            <a:r>
              <a:rPr lang="en-US" sz="10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late</a:t>
            </a:r>
            <a:pPr indent="0" marL="0">
              <a:buNone/>
            </a:pPr>
            <a:r>
              <a:rPr lang="en-US" sz="1050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to spray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274820" y="1965960"/>
            <a:ext cx="292608" cy="292608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40" name="Shape 38"/>
          <p:cNvSpPr/>
          <p:nvPr/>
        </p:nvSpPr>
        <p:spPr>
          <a:xfrm>
            <a:off x="3287268" y="2066544"/>
            <a:ext cx="274320" cy="1188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3433572" y="2011680"/>
            <a:ext cx="237744" cy="1554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3579876" y="2084832"/>
            <a:ext cx="201168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3099816" y="2587752"/>
            <a:ext cx="1463040" cy="1307592"/>
          </a:xfrm>
          <a:prstGeom prst="triangle">
            <a:avLst/>
          </a:prstGeom>
          <a:solidFill>
            <a:srgbClr val="9FD8D3">
              <a:alpha val="5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 flipV="1">
            <a:off x="3264408" y="2615184"/>
            <a:ext cx="566928" cy="1280160"/>
          </a:xfrm>
          <a:prstGeom prst="line">
            <a:avLst/>
          </a:prstGeom>
          <a:noFill/>
          <a:ln w="22225">
            <a:solidFill>
              <a:srgbClr val="3B82F6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 flipV="1">
            <a:off x="3611880" y="2615184"/>
            <a:ext cx="219456" cy="1280160"/>
          </a:xfrm>
          <a:prstGeom prst="line">
            <a:avLst/>
          </a:prstGeom>
          <a:noFill/>
          <a:ln w="22225">
            <a:solidFill>
              <a:srgbClr val="22B455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3831336" y="2615184"/>
            <a:ext cx="128016" cy="1280160"/>
          </a:xfrm>
          <a:prstGeom prst="line">
            <a:avLst/>
          </a:prstGeom>
          <a:noFill/>
          <a:ln w="22225">
            <a:solidFill>
              <a:srgbClr val="E5484D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3831336" y="2615184"/>
            <a:ext cx="512064" cy="1280160"/>
          </a:xfrm>
          <a:prstGeom prst="line">
            <a:avLst/>
          </a:prstGeom>
          <a:noFill/>
          <a:ln w="22225">
            <a:solidFill>
              <a:srgbClr val="9B2C3B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3502152" y="2404872"/>
            <a:ext cx="219456" cy="64008"/>
          </a:xfrm>
          <a:prstGeom prst="line">
            <a:avLst/>
          </a:prstGeom>
          <a:noFill/>
          <a:ln w="31750">
            <a:solidFill>
              <a:srgbClr val="1F2D3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3941064" y="2404872"/>
            <a:ext cx="219456" cy="64008"/>
          </a:xfrm>
          <a:prstGeom prst="line">
            <a:avLst/>
          </a:prstGeom>
          <a:noFill/>
          <a:ln w="31750">
            <a:solidFill>
              <a:srgbClr val="1F2D3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483864" y="2350008"/>
            <a:ext cx="27432" cy="73152"/>
          </a:xfrm>
          <a:prstGeom prst="rect">
            <a:avLst/>
          </a:prstGeom>
          <a:solidFill>
            <a:srgbClr val="1F2D30"/>
          </a:solidFill>
          <a:ln/>
        </p:spPr>
      </p:sp>
      <p:sp>
        <p:nvSpPr>
          <p:cNvPr id="51" name="Shape 49"/>
          <p:cNvSpPr/>
          <p:nvPr/>
        </p:nvSpPr>
        <p:spPr>
          <a:xfrm>
            <a:off x="4151376" y="2350008"/>
            <a:ext cx="27432" cy="73152"/>
          </a:xfrm>
          <a:prstGeom prst="rect">
            <a:avLst/>
          </a:prstGeom>
          <a:solidFill>
            <a:srgbClr val="1F2D30"/>
          </a:solidFill>
          <a:ln/>
        </p:spPr>
      </p:sp>
      <p:sp>
        <p:nvSpPr>
          <p:cNvPr id="52" name="Shape 50"/>
          <p:cNvSpPr/>
          <p:nvPr/>
        </p:nvSpPr>
        <p:spPr>
          <a:xfrm>
            <a:off x="3319272" y="2327148"/>
            <a:ext cx="365760" cy="45720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53" name="Shape 51"/>
          <p:cNvSpPr/>
          <p:nvPr/>
        </p:nvSpPr>
        <p:spPr>
          <a:xfrm>
            <a:off x="3977640" y="2327148"/>
            <a:ext cx="365760" cy="45720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54" name="Shape 52"/>
          <p:cNvSpPr/>
          <p:nvPr/>
        </p:nvSpPr>
        <p:spPr>
          <a:xfrm>
            <a:off x="3657600" y="2423160"/>
            <a:ext cx="347472" cy="109728"/>
          </a:xfrm>
          <a:prstGeom prst="roundRect">
            <a:avLst>
              <a:gd name="adj" fmla="val 33333"/>
            </a:avLst>
          </a:prstGeom>
          <a:solidFill>
            <a:srgbClr val="1F2D30"/>
          </a:solidFill>
          <a:ln/>
        </p:spPr>
      </p:sp>
      <p:sp>
        <p:nvSpPr>
          <p:cNvPr id="55" name="Shape 53"/>
          <p:cNvSpPr/>
          <p:nvPr/>
        </p:nvSpPr>
        <p:spPr>
          <a:xfrm>
            <a:off x="3785616" y="2523744"/>
            <a:ext cx="91440" cy="91440"/>
          </a:xfrm>
          <a:prstGeom prst="ellipse">
            <a:avLst/>
          </a:prstGeom>
          <a:solidFill>
            <a:srgbClr val="1CB8B2"/>
          </a:solidFill>
          <a:ln w="19050">
            <a:solidFill>
              <a:srgbClr val="1F2D3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031236" y="4041648"/>
            <a:ext cx="914" cy="164592"/>
          </a:xfrm>
          <a:prstGeom prst="line">
            <a:avLst/>
          </a:prstGeom>
          <a:noFill/>
          <a:ln w="12700">
            <a:solidFill>
              <a:srgbClr val="5E8C2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994660" y="3986784"/>
            <a:ext cx="73152" cy="64008"/>
          </a:xfrm>
          <a:prstGeom prst="ellipse">
            <a:avLst/>
          </a:prstGeom>
          <a:solidFill>
            <a:srgbClr val="F2C230"/>
          </a:solidFill>
          <a:ln/>
        </p:spPr>
      </p:sp>
      <p:sp>
        <p:nvSpPr>
          <p:cNvPr id="58" name="Shape 56"/>
          <p:cNvSpPr/>
          <p:nvPr/>
        </p:nvSpPr>
        <p:spPr>
          <a:xfrm>
            <a:off x="3022092" y="3954780"/>
            <a:ext cx="54864" cy="54864"/>
          </a:xfrm>
          <a:prstGeom prst="ellipse">
            <a:avLst/>
          </a:prstGeom>
          <a:solidFill>
            <a:srgbClr val="F7D54A"/>
          </a:solidFill>
          <a:ln/>
        </p:spPr>
      </p:sp>
      <p:sp>
        <p:nvSpPr>
          <p:cNvPr id="59" name="Shape 57"/>
          <p:cNvSpPr/>
          <p:nvPr/>
        </p:nvSpPr>
        <p:spPr>
          <a:xfrm>
            <a:off x="3191256" y="4041648"/>
            <a:ext cx="914" cy="164592"/>
          </a:xfrm>
          <a:prstGeom prst="line">
            <a:avLst/>
          </a:prstGeom>
          <a:noFill/>
          <a:ln w="12700">
            <a:solidFill>
              <a:srgbClr val="5E8C2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154680" y="3986784"/>
            <a:ext cx="73152" cy="64008"/>
          </a:xfrm>
          <a:prstGeom prst="ellipse">
            <a:avLst/>
          </a:prstGeom>
          <a:solidFill>
            <a:srgbClr val="F2C230"/>
          </a:solidFill>
          <a:ln/>
        </p:spPr>
      </p:sp>
      <p:sp>
        <p:nvSpPr>
          <p:cNvPr id="61" name="Shape 59"/>
          <p:cNvSpPr/>
          <p:nvPr/>
        </p:nvSpPr>
        <p:spPr>
          <a:xfrm>
            <a:off x="3182112" y="3954780"/>
            <a:ext cx="54864" cy="54864"/>
          </a:xfrm>
          <a:prstGeom prst="ellipse">
            <a:avLst/>
          </a:prstGeom>
          <a:solidFill>
            <a:srgbClr val="F7D54A"/>
          </a:solidFill>
          <a:ln/>
        </p:spPr>
      </p:sp>
      <p:sp>
        <p:nvSpPr>
          <p:cNvPr id="62" name="Shape 60"/>
          <p:cNvSpPr/>
          <p:nvPr/>
        </p:nvSpPr>
        <p:spPr>
          <a:xfrm>
            <a:off x="3351276" y="4041648"/>
            <a:ext cx="914" cy="164592"/>
          </a:xfrm>
          <a:prstGeom prst="line">
            <a:avLst/>
          </a:prstGeom>
          <a:noFill/>
          <a:ln w="12700">
            <a:solidFill>
              <a:srgbClr val="5E8C2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314700" y="3986784"/>
            <a:ext cx="73152" cy="64008"/>
          </a:xfrm>
          <a:prstGeom prst="ellipse">
            <a:avLst/>
          </a:prstGeom>
          <a:solidFill>
            <a:srgbClr val="F2C230"/>
          </a:solidFill>
          <a:ln/>
        </p:spPr>
      </p:sp>
      <p:sp>
        <p:nvSpPr>
          <p:cNvPr id="64" name="Shape 62"/>
          <p:cNvSpPr/>
          <p:nvPr/>
        </p:nvSpPr>
        <p:spPr>
          <a:xfrm>
            <a:off x="3342132" y="3954780"/>
            <a:ext cx="54864" cy="54864"/>
          </a:xfrm>
          <a:prstGeom prst="ellipse">
            <a:avLst/>
          </a:prstGeom>
          <a:solidFill>
            <a:srgbClr val="F7D54A"/>
          </a:solidFill>
          <a:ln/>
        </p:spPr>
      </p:sp>
      <p:sp>
        <p:nvSpPr>
          <p:cNvPr id="65" name="Shape 63"/>
          <p:cNvSpPr/>
          <p:nvPr/>
        </p:nvSpPr>
        <p:spPr>
          <a:xfrm>
            <a:off x="3511296" y="4041648"/>
            <a:ext cx="914" cy="164592"/>
          </a:xfrm>
          <a:prstGeom prst="line">
            <a:avLst/>
          </a:prstGeom>
          <a:noFill/>
          <a:ln w="12700">
            <a:solidFill>
              <a:srgbClr val="5E8C2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474720" y="3986784"/>
            <a:ext cx="73152" cy="64008"/>
          </a:xfrm>
          <a:prstGeom prst="ellipse">
            <a:avLst/>
          </a:prstGeom>
          <a:solidFill>
            <a:srgbClr val="F2C230"/>
          </a:solidFill>
          <a:ln/>
        </p:spPr>
      </p:sp>
      <p:sp>
        <p:nvSpPr>
          <p:cNvPr id="67" name="Shape 65"/>
          <p:cNvSpPr/>
          <p:nvPr/>
        </p:nvSpPr>
        <p:spPr>
          <a:xfrm>
            <a:off x="3502152" y="3954780"/>
            <a:ext cx="54864" cy="54864"/>
          </a:xfrm>
          <a:prstGeom prst="ellipse">
            <a:avLst/>
          </a:prstGeom>
          <a:solidFill>
            <a:srgbClr val="F7D54A"/>
          </a:solidFill>
          <a:ln/>
        </p:spPr>
      </p:sp>
      <p:sp>
        <p:nvSpPr>
          <p:cNvPr id="68" name="Shape 66"/>
          <p:cNvSpPr/>
          <p:nvPr/>
        </p:nvSpPr>
        <p:spPr>
          <a:xfrm>
            <a:off x="3671316" y="4041648"/>
            <a:ext cx="914" cy="164592"/>
          </a:xfrm>
          <a:prstGeom prst="line">
            <a:avLst/>
          </a:prstGeom>
          <a:noFill/>
          <a:ln w="12700">
            <a:solidFill>
              <a:srgbClr val="5E8C2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634740" y="3986784"/>
            <a:ext cx="73152" cy="64008"/>
          </a:xfrm>
          <a:prstGeom prst="ellipse">
            <a:avLst/>
          </a:prstGeom>
          <a:solidFill>
            <a:srgbClr val="F2C230"/>
          </a:solidFill>
          <a:ln/>
        </p:spPr>
      </p:sp>
      <p:sp>
        <p:nvSpPr>
          <p:cNvPr id="70" name="Shape 68"/>
          <p:cNvSpPr/>
          <p:nvPr/>
        </p:nvSpPr>
        <p:spPr>
          <a:xfrm>
            <a:off x="3662172" y="3954780"/>
            <a:ext cx="54864" cy="54864"/>
          </a:xfrm>
          <a:prstGeom prst="ellipse">
            <a:avLst/>
          </a:prstGeom>
          <a:solidFill>
            <a:srgbClr val="F7D54A"/>
          </a:solidFill>
          <a:ln/>
        </p:spPr>
      </p:sp>
      <p:sp>
        <p:nvSpPr>
          <p:cNvPr id="71" name="Shape 69"/>
          <p:cNvSpPr/>
          <p:nvPr/>
        </p:nvSpPr>
        <p:spPr>
          <a:xfrm>
            <a:off x="3831336" y="4041648"/>
            <a:ext cx="914" cy="164592"/>
          </a:xfrm>
          <a:prstGeom prst="line">
            <a:avLst/>
          </a:prstGeom>
          <a:noFill/>
          <a:ln w="12700">
            <a:solidFill>
              <a:srgbClr val="5E8C2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794760" y="3986784"/>
            <a:ext cx="73152" cy="64008"/>
          </a:xfrm>
          <a:prstGeom prst="ellipse">
            <a:avLst/>
          </a:prstGeom>
          <a:solidFill>
            <a:srgbClr val="F2C230"/>
          </a:solidFill>
          <a:ln/>
        </p:spPr>
      </p:sp>
      <p:sp>
        <p:nvSpPr>
          <p:cNvPr id="73" name="Shape 71"/>
          <p:cNvSpPr/>
          <p:nvPr/>
        </p:nvSpPr>
        <p:spPr>
          <a:xfrm>
            <a:off x="3822192" y="3954780"/>
            <a:ext cx="54864" cy="54864"/>
          </a:xfrm>
          <a:prstGeom prst="ellipse">
            <a:avLst/>
          </a:prstGeom>
          <a:solidFill>
            <a:srgbClr val="F7D54A"/>
          </a:solidFill>
          <a:ln/>
        </p:spPr>
      </p:sp>
      <p:sp>
        <p:nvSpPr>
          <p:cNvPr id="74" name="Shape 72"/>
          <p:cNvSpPr/>
          <p:nvPr/>
        </p:nvSpPr>
        <p:spPr>
          <a:xfrm>
            <a:off x="3991356" y="4041648"/>
            <a:ext cx="914" cy="164592"/>
          </a:xfrm>
          <a:prstGeom prst="line">
            <a:avLst/>
          </a:prstGeom>
          <a:noFill/>
          <a:ln w="12700">
            <a:solidFill>
              <a:srgbClr val="5E8C2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954780" y="3986784"/>
            <a:ext cx="73152" cy="64008"/>
          </a:xfrm>
          <a:prstGeom prst="ellipse">
            <a:avLst/>
          </a:prstGeom>
          <a:solidFill>
            <a:srgbClr val="F2C230"/>
          </a:solidFill>
          <a:ln/>
        </p:spPr>
      </p:sp>
      <p:sp>
        <p:nvSpPr>
          <p:cNvPr id="76" name="Shape 74"/>
          <p:cNvSpPr/>
          <p:nvPr/>
        </p:nvSpPr>
        <p:spPr>
          <a:xfrm>
            <a:off x="3982212" y="3954780"/>
            <a:ext cx="54864" cy="54864"/>
          </a:xfrm>
          <a:prstGeom prst="ellipse">
            <a:avLst/>
          </a:prstGeom>
          <a:solidFill>
            <a:srgbClr val="F7D54A"/>
          </a:solidFill>
          <a:ln/>
        </p:spPr>
      </p:sp>
      <p:sp>
        <p:nvSpPr>
          <p:cNvPr id="77" name="Shape 75"/>
          <p:cNvSpPr/>
          <p:nvPr/>
        </p:nvSpPr>
        <p:spPr>
          <a:xfrm>
            <a:off x="4151376" y="4041648"/>
            <a:ext cx="914" cy="164592"/>
          </a:xfrm>
          <a:prstGeom prst="line">
            <a:avLst/>
          </a:prstGeom>
          <a:noFill/>
          <a:ln w="12700">
            <a:solidFill>
              <a:srgbClr val="5E8C2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114800" y="3986784"/>
            <a:ext cx="73152" cy="64008"/>
          </a:xfrm>
          <a:prstGeom prst="ellipse">
            <a:avLst/>
          </a:prstGeom>
          <a:solidFill>
            <a:srgbClr val="F2C230"/>
          </a:solidFill>
          <a:ln/>
        </p:spPr>
      </p:sp>
      <p:sp>
        <p:nvSpPr>
          <p:cNvPr id="79" name="Shape 77"/>
          <p:cNvSpPr/>
          <p:nvPr/>
        </p:nvSpPr>
        <p:spPr>
          <a:xfrm>
            <a:off x="4142232" y="3954780"/>
            <a:ext cx="54864" cy="54864"/>
          </a:xfrm>
          <a:prstGeom prst="ellipse">
            <a:avLst/>
          </a:prstGeom>
          <a:solidFill>
            <a:srgbClr val="F7D54A"/>
          </a:solidFill>
          <a:ln/>
        </p:spPr>
      </p:sp>
      <p:sp>
        <p:nvSpPr>
          <p:cNvPr id="80" name="Shape 78"/>
          <p:cNvSpPr/>
          <p:nvPr/>
        </p:nvSpPr>
        <p:spPr>
          <a:xfrm>
            <a:off x="4311396" y="4041648"/>
            <a:ext cx="914" cy="164592"/>
          </a:xfrm>
          <a:prstGeom prst="line">
            <a:avLst/>
          </a:prstGeom>
          <a:noFill/>
          <a:ln w="12700">
            <a:solidFill>
              <a:srgbClr val="5E8C2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274820" y="3986784"/>
            <a:ext cx="73152" cy="64008"/>
          </a:xfrm>
          <a:prstGeom prst="ellipse">
            <a:avLst/>
          </a:prstGeom>
          <a:solidFill>
            <a:srgbClr val="F2C230"/>
          </a:solidFill>
          <a:ln/>
        </p:spPr>
      </p:sp>
      <p:sp>
        <p:nvSpPr>
          <p:cNvPr id="82" name="Shape 80"/>
          <p:cNvSpPr/>
          <p:nvPr/>
        </p:nvSpPr>
        <p:spPr>
          <a:xfrm>
            <a:off x="4302252" y="3954780"/>
            <a:ext cx="54864" cy="54864"/>
          </a:xfrm>
          <a:prstGeom prst="ellipse">
            <a:avLst/>
          </a:prstGeom>
          <a:solidFill>
            <a:srgbClr val="F7D54A"/>
          </a:solidFill>
          <a:ln/>
        </p:spPr>
      </p:sp>
      <p:sp>
        <p:nvSpPr>
          <p:cNvPr id="83" name="Shape 81"/>
          <p:cNvSpPr/>
          <p:nvPr/>
        </p:nvSpPr>
        <p:spPr>
          <a:xfrm>
            <a:off x="4471416" y="4041648"/>
            <a:ext cx="914" cy="164592"/>
          </a:xfrm>
          <a:prstGeom prst="line">
            <a:avLst/>
          </a:prstGeom>
          <a:noFill/>
          <a:ln w="12700">
            <a:solidFill>
              <a:srgbClr val="5E8C2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434840" y="3986784"/>
            <a:ext cx="73152" cy="64008"/>
          </a:xfrm>
          <a:prstGeom prst="ellipse">
            <a:avLst/>
          </a:prstGeom>
          <a:solidFill>
            <a:srgbClr val="F2C230"/>
          </a:solidFill>
          <a:ln/>
        </p:spPr>
      </p:sp>
      <p:sp>
        <p:nvSpPr>
          <p:cNvPr id="85" name="Shape 83"/>
          <p:cNvSpPr/>
          <p:nvPr/>
        </p:nvSpPr>
        <p:spPr>
          <a:xfrm>
            <a:off x="4462272" y="3954780"/>
            <a:ext cx="54864" cy="54864"/>
          </a:xfrm>
          <a:prstGeom prst="ellipse">
            <a:avLst/>
          </a:prstGeom>
          <a:solidFill>
            <a:srgbClr val="F7D54A"/>
          </a:solidFill>
          <a:ln/>
        </p:spPr>
      </p:sp>
      <p:sp>
        <p:nvSpPr>
          <p:cNvPr id="86" name="Shape 84"/>
          <p:cNvSpPr/>
          <p:nvPr/>
        </p:nvSpPr>
        <p:spPr>
          <a:xfrm>
            <a:off x="4631436" y="4041648"/>
            <a:ext cx="914" cy="164592"/>
          </a:xfrm>
          <a:prstGeom prst="line">
            <a:avLst/>
          </a:prstGeom>
          <a:noFill/>
          <a:ln w="12700">
            <a:solidFill>
              <a:srgbClr val="5E8C2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594860" y="3986784"/>
            <a:ext cx="73152" cy="64008"/>
          </a:xfrm>
          <a:prstGeom prst="ellipse">
            <a:avLst/>
          </a:prstGeom>
          <a:solidFill>
            <a:srgbClr val="F2C230"/>
          </a:solidFill>
          <a:ln/>
        </p:spPr>
      </p:sp>
      <p:sp>
        <p:nvSpPr>
          <p:cNvPr id="88" name="Shape 86"/>
          <p:cNvSpPr/>
          <p:nvPr/>
        </p:nvSpPr>
        <p:spPr>
          <a:xfrm>
            <a:off x="4622292" y="3954780"/>
            <a:ext cx="54864" cy="54864"/>
          </a:xfrm>
          <a:prstGeom prst="ellipse">
            <a:avLst/>
          </a:prstGeom>
          <a:solidFill>
            <a:srgbClr val="F7D54A"/>
          </a:solidFill>
          <a:ln/>
        </p:spPr>
      </p:sp>
      <p:sp>
        <p:nvSpPr>
          <p:cNvPr id="89" name="Shape 87"/>
          <p:cNvSpPr/>
          <p:nvPr/>
        </p:nvSpPr>
        <p:spPr>
          <a:xfrm>
            <a:off x="3110789" y="4288536"/>
            <a:ext cx="914" cy="164592"/>
          </a:xfrm>
          <a:prstGeom prst="line">
            <a:avLst/>
          </a:prstGeom>
          <a:noFill/>
          <a:ln w="12700">
            <a:solidFill>
              <a:srgbClr val="5E8C2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074213" y="4233672"/>
            <a:ext cx="73152" cy="64008"/>
          </a:xfrm>
          <a:prstGeom prst="ellipse">
            <a:avLst/>
          </a:prstGeom>
          <a:solidFill>
            <a:srgbClr val="F2C230"/>
          </a:solidFill>
          <a:ln/>
        </p:spPr>
      </p:sp>
      <p:sp>
        <p:nvSpPr>
          <p:cNvPr id="91" name="Shape 89"/>
          <p:cNvSpPr/>
          <p:nvPr/>
        </p:nvSpPr>
        <p:spPr>
          <a:xfrm>
            <a:off x="3101645" y="4201668"/>
            <a:ext cx="54864" cy="54864"/>
          </a:xfrm>
          <a:prstGeom prst="ellipse">
            <a:avLst/>
          </a:prstGeom>
          <a:solidFill>
            <a:srgbClr val="F7D54A"/>
          </a:solidFill>
          <a:ln/>
        </p:spPr>
      </p:sp>
      <p:sp>
        <p:nvSpPr>
          <p:cNvPr id="92" name="Shape 90"/>
          <p:cNvSpPr/>
          <p:nvPr/>
        </p:nvSpPr>
        <p:spPr>
          <a:xfrm>
            <a:off x="3270809" y="4288536"/>
            <a:ext cx="914" cy="164592"/>
          </a:xfrm>
          <a:prstGeom prst="line">
            <a:avLst/>
          </a:prstGeom>
          <a:noFill/>
          <a:ln w="12700">
            <a:solidFill>
              <a:srgbClr val="5E8C2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234233" y="4233672"/>
            <a:ext cx="73152" cy="64008"/>
          </a:xfrm>
          <a:prstGeom prst="ellipse">
            <a:avLst/>
          </a:prstGeom>
          <a:solidFill>
            <a:srgbClr val="F2C230"/>
          </a:solidFill>
          <a:ln/>
        </p:spPr>
      </p:sp>
      <p:sp>
        <p:nvSpPr>
          <p:cNvPr id="94" name="Shape 92"/>
          <p:cNvSpPr/>
          <p:nvPr/>
        </p:nvSpPr>
        <p:spPr>
          <a:xfrm>
            <a:off x="3261665" y="4201668"/>
            <a:ext cx="54864" cy="54864"/>
          </a:xfrm>
          <a:prstGeom prst="ellipse">
            <a:avLst/>
          </a:prstGeom>
          <a:solidFill>
            <a:srgbClr val="F7D54A"/>
          </a:solidFill>
          <a:ln/>
        </p:spPr>
      </p:sp>
      <p:sp>
        <p:nvSpPr>
          <p:cNvPr id="95" name="Shape 93"/>
          <p:cNvSpPr/>
          <p:nvPr/>
        </p:nvSpPr>
        <p:spPr>
          <a:xfrm>
            <a:off x="3430829" y="4288536"/>
            <a:ext cx="914" cy="164592"/>
          </a:xfrm>
          <a:prstGeom prst="line">
            <a:avLst/>
          </a:prstGeom>
          <a:noFill/>
          <a:ln w="12700">
            <a:solidFill>
              <a:srgbClr val="5E8C2E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394253" y="4233672"/>
            <a:ext cx="73152" cy="64008"/>
          </a:xfrm>
          <a:prstGeom prst="ellipse">
            <a:avLst/>
          </a:prstGeom>
          <a:solidFill>
            <a:srgbClr val="F2C230"/>
          </a:solidFill>
          <a:ln/>
        </p:spPr>
      </p:sp>
      <p:sp>
        <p:nvSpPr>
          <p:cNvPr id="97" name="Shape 95"/>
          <p:cNvSpPr/>
          <p:nvPr/>
        </p:nvSpPr>
        <p:spPr>
          <a:xfrm>
            <a:off x="3421685" y="4201668"/>
            <a:ext cx="54864" cy="54864"/>
          </a:xfrm>
          <a:prstGeom prst="ellipse">
            <a:avLst/>
          </a:prstGeom>
          <a:solidFill>
            <a:srgbClr val="F7D54A"/>
          </a:solidFill>
          <a:ln/>
        </p:spPr>
      </p:sp>
      <p:sp>
        <p:nvSpPr>
          <p:cNvPr id="98" name="Shape 96"/>
          <p:cNvSpPr/>
          <p:nvPr/>
        </p:nvSpPr>
        <p:spPr>
          <a:xfrm>
            <a:off x="3590849" y="4288536"/>
            <a:ext cx="914" cy="164592"/>
          </a:xfrm>
          <a:prstGeom prst="line">
            <a:avLst/>
          </a:prstGeom>
          <a:noFill/>
          <a:ln w="12700">
            <a:solidFill>
              <a:srgbClr val="5E8C2E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554273" y="4233672"/>
            <a:ext cx="73152" cy="64008"/>
          </a:xfrm>
          <a:prstGeom prst="ellipse">
            <a:avLst/>
          </a:prstGeom>
          <a:solidFill>
            <a:srgbClr val="F2C230"/>
          </a:solidFill>
          <a:ln/>
        </p:spPr>
      </p:sp>
      <p:sp>
        <p:nvSpPr>
          <p:cNvPr id="100" name="Shape 98"/>
          <p:cNvSpPr/>
          <p:nvPr/>
        </p:nvSpPr>
        <p:spPr>
          <a:xfrm>
            <a:off x="3581705" y="4201668"/>
            <a:ext cx="54864" cy="54864"/>
          </a:xfrm>
          <a:prstGeom prst="ellipse">
            <a:avLst/>
          </a:prstGeom>
          <a:solidFill>
            <a:srgbClr val="F7D54A"/>
          </a:solidFill>
          <a:ln/>
        </p:spPr>
      </p:sp>
      <p:sp>
        <p:nvSpPr>
          <p:cNvPr id="101" name="Shape 99"/>
          <p:cNvSpPr/>
          <p:nvPr/>
        </p:nvSpPr>
        <p:spPr>
          <a:xfrm>
            <a:off x="3750869" y="4288536"/>
            <a:ext cx="914" cy="164592"/>
          </a:xfrm>
          <a:prstGeom prst="line">
            <a:avLst/>
          </a:prstGeom>
          <a:noFill/>
          <a:ln w="12700">
            <a:solidFill>
              <a:srgbClr val="5E8C2E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714293" y="4233672"/>
            <a:ext cx="73152" cy="64008"/>
          </a:xfrm>
          <a:prstGeom prst="ellipse">
            <a:avLst/>
          </a:prstGeom>
          <a:solidFill>
            <a:srgbClr val="F2C23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3741725" y="4201668"/>
            <a:ext cx="54864" cy="54864"/>
          </a:xfrm>
          <a:prstGeom prst="ellipse">
            <a:avLst/>
          </a:prstGeom>
          <a:solidFill>
            <a:srgbClr val="F7D54A"/>
          </a:solidFill>
          <a:ln/>
        </p:spPr>
      </p:sp>
      <p:sp>
        <p:nvSpPr>
          <p:cNvPr id="104" name="Shape 102"/>
          <p:cNvSpPr/>
          <p:nvPr/>
        </p:nvSpPr>
        <p:spPr>
          <a:xfrm>
            <a:off x="3910889" y="4288536"/>
            <a:ext cx="914" cy="164592"/>
          </a:xfrm>
          <a:prstGeom prst="line">
            <a:avLst/>
          </a:prstGeom>
          <a:noFill/>
          <a:ln w="12700">
            <a:solidFill>
              <a:srgbClr val="5E8C2E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874313" y="4233672"/>
            <a:ext cx="73152" cy="64008"/>
          </a:xfrm>
          <a:prstGeom prst="ellipse">
            <a:avLst/>
          </a:prstGeom>
          <a:solidFill>
            <a:srgbClr val="F2C23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3901745" y="4201668"/>
            <a:ext cx="54864" cy="54864"/>
          </a:xfrm>
          <a:prstGeom prst="ellipse">
            <a:avLst/>
          </a:prstGeom>
          <a:solidFill>
            <a:srgbClr val="F7D54A"/>
          </a:solidFill>
          <a:ln/>
        </p:spPr>
      </p:sp>
      <p:sp>
        <p:nvSpPr>
          <p:cNvPr id="107" name="Shape 105"/>
          <p:cNvSpPr/>
          <p:nvPr/>
        </p:nvSpPr>
        <p:spPr>
          <a:xfrm>
            <a:off x="4070909" y="4288536"/>
            <a:ext cx="914" cy="164592"/>
          </a:xfrm>
          <a:prstGeom prst="line">
            <a:avLst/>
          </a:prstGeom>
          <a:noFill/>
          <a:ln w="12700">
            <a:solidFill>
              <a:srgbClr val="5E8C2E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034333" y="4233672"/>
            <a:ext cx="73152" cy="64008"/>
          </a:xfrm>
          <a:prstGeom prst="ellipse">
            <a:avLst/>
          </a:prstGeom>
          <a:solidFill>
            <a:srgbClr val="F2C23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4061765" y="4201668"/>
            <a:ext cx="54864" cy="54864"/>
          </a:xfrm>
          <a:prstGeom prst="ellipse">
            <a:avLst/>
          </a:prstGeom>
          <a:solidFill>
            <a:srgbClr val="F7D54A"/>
          </a:solidFill>
          <a:ln/>
        </p:spPr>
      </p:sp>
      <p:sp>
        <p:nvSpPr>
          <p:cNvPr id="110" name="Shape 108"/>
          <p:cNvSpPr/>
          <p:nvPr/>
        </p:nvSpPr>
        <p:spPr>
          <a:xfrm>
            <a:off x="4230929" y="4288536"/>
            <a:ext cx="914" cy="164592"/>
          </a:xfrm>
          <a:prstGeom prst="line">
            <a:avLst/>
          </a:prstGeom>
          <a:noFill/>
          <a:ln w="12700">
            <a:solidFill>
              <a:srgbClr val="5E8C2E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194353" y="4233672"/>
            <a:ext cx="73152" cy="64008"/>
          </a:xfrm>
          <a:prstGeom prst="ellipse">
            <a:avLst/>
          </a:prstGeom>
          <a:solidFill>
            <a:srgbClr val="F2C23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4221785" y="4201668"/>
            <a:ext cx="54864" cy="54864"/>
          </a:xfrm>
          <a:prstGeom prst="ellipse">
            <a:avLst/>
          </a:prstGeom>
          <a:solidFill>
            <a:srgbClr val="F7D54A"/>
          </a:solidFill>
          <a:ln/>
        </p:spPr>
      </p:sp>
      <p:sp>
        <p:nvSpPr>
          <p:cNvPr id="113" name="Shape 111"/>
          <p:cNvSpPr/>
          <p:nvPr/>
        </p:nvSpPr>
        <p:spPr>
          <a:xfrm>
            <a:off x="4390949" y="4288536"/>
            <a:ext cx="914" cy="164592"/>
          </a:xfrm>
          <a:prstGeom prst="line">
            <a:avLst/>
          </a:prstGeom>
          <a:noFill/>
          <a:ln w="12700">
            <a:solidFill>
              <a:srgbClr val="5E8C2E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354373" y="4233672"/>
            <a:ext cx="73152" cy="64008"/>
          </a:xfrm>
          <a:prstGeom prst="ellipse">
            <a:avLst/>
          </a:prstGeom>
          <a:solidFill>
            <a:srgbClr val="F2C23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4381805" y="4201668"/>
            <a:ext cx="54864" cy="54864"/>
          </a:xfrm>
          <a:prstGeom prst="ellipse">
            <a:avLst/>
          </a:prstGeom>
          <a:solidFill>
            <a:srgbClr val="F7D54A"/>
          </a:solidFill>
          <a:ln/>
        </p:spPr>
      </p:sp>
      <p:sp>
        <p:nvSpPr>
          <p:cNvPr id="116" name="Shape 114"/>
          <p:cNvSpPr/>
          <p:nvPr/>
        </p:nvSpPr>
        <p:spPr>
          <a:xfrm>
            <a:off x="4550969" y="4288536"/>
            <a:ext cx="914" cy="164592"/>
          </a:xfrm>
          <a:prstGeom prst="line">
            <a:avLst/>
          </a:prstGeom>
          <a:noFill/>
          <a:ln w="12700">
            <a:solidFill>
              <a:srgbClr val="5E8C2E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514393" y="4233672"/>
            <a:ext cx="73152" cy="64008"/>
          </a:xfrm>
          <a:prstGeom prst="ellipse">
            <a:avLst/>
          </a:prstGeom>
          <a:solidFill>
            <a:srgbClr val="F2C23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4541825" y="4201668"/>
            <a:ext cx="54864" cy="54864"/>
          </a:xfrm>
          <a:prstGeom prst="ellipse">
            <a:avLst/>
          </a:prstGeom>
          <a:solidFill>
            <a:srgbClr val="F7D54A"/>
          </a:solidFill>
          <a:ln/>
        </p:spPr>
      </p:sp>
      <p:pic>
        <p:nvPicPr>
          <p:cNvPr id="119" name="Image 0" descr="RGB drone image of the mustard trial plo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4376" y="2194560"/>
            <a:ext cx="768096" cy="768096"/>
          </a:xfrm>
          <a:prstGeom prst="rect">
            <a:avLst/>
          </a:prstGeom>
        </p:spPr>
      </p:pic>
      <p:sp>
        <p:nvSpPr>
          <p:cNvPr id="120" name="Shape 117"/>
          <p:cNvSpPr/>
          <p:nvPr/>
        </p:nvSpPr>
        <p:spPr>
          <a:xfrm>
            <a:off x="5294376" y="2779776"/>
            <a:ext cx="768096" cy="182880"/>
          </a:xfrm>
          <a:prstGeom prst="rect">
            <a:avLst/>
          </a:prstGeom>
          <a:solidFill>
            <a:srgbClr val="0D1B1F">
              <a:alpha val="70000"/>
            </a:srgbClr>
          </a:solidFill>
          <a:ln/>
        </p:spPr>
      </p:sp>
      <p:sp>
        <p:nvSpPr>
          <p:cNvPr id="121" name="Text 118"/>
          <p:cNvSpPr txBox="1"/>
          <p:nvPr/>
        </p:nvSpPr>
        <p:spPr>
          <a:xfrm>
            <a:off x="5294376" y="2779776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RGB</a:t>
            </a:r>
            <a:endParaRPr lang="en-US" sz="750" dirty="0"/>
          </a:p>
        </p:txBody>
      </p:sp>
      <p:pic>
        <p:nvPicPr>
          <p:cNvPr id="122" name="Image 1" descr="Multispectral drone image of the mustard trial plo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194560"/>
            <a:ext cx="768096" cy="768096"/>
          </a:xfrm>
          <a:prstGeom prst="rect">
            <a:avLst/>
          </a:prstGeom>
        </p:spPr>
      </p:pic>
      <p:sp>
        <p:nvSpPr>
          <p:cNvPr id="123" name="Shape 119"/>
          <p:cNvSpPr/>
          <p:nvPr/>
        </p:nvSpPr>
        <p:spPr>
          <a:xfrm>
            <a:off x="6126480" y="2779776"/>
            <a:ext cx="768096" cy="182880"/>
          </a:xfrm>
          <a:prstGeom prst="rect">
            <a:avLst/>
          </a:prstGeom>
          <a:solidFill>
            <a:srgbClr val="0D1B1F">
              <a:alpha val="70000"/>
            </a:srgbClr>
          </a:solidFill>
          <a:ln/>
        </p:spPr>
      </p:sp>
      <p:sp>
        <p:nvSpPr>
          <p:cNvPr id="124" name="Text 120"/>
          <p:cNvSpPr txBox="1"/>
          <p:nvPr/>
        </p:nvSpPr>
        <p:spPr>
          <a:xfrm>
            <a:off x="6126480" y="2779776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Multispectral</a:t>
            </a:r>
            <a:endParaRPr lang="en-US" sz="750" dirty="0"/>
          </a:p>
        </p:txBody>
      </p:sp>
      <p:pic>
        <p:nvPicPr>
          <p:cNvPr id="125" name="Image 2" descr="Hyperspectral drone image of the mustard trial plo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4376" y="3026664"/>
            <a:ext cx="768096" cy="768096"/>
          </a:xfrm>
          <a:prstGeom prst="rect">
            <a:avLst/>
          </a:prstGeom>
        </p:spPr>
      </p:pic>
      <p:sp>
        <p:nvSpPr>
          <p:cNvPr id="126" name="Shape 121"/>
          <p:cNvSpPr/>
          <p:nvPr/>
        </p:nvSpPr>
        <p:spPr>
          <a:xfrm>
            <a:off x="5294376" y="3611880"/>
            <a:ext cx="768096" cy="182880"/>
          </a:xfrm>
          <a:prstGeom prst="rect">
            <a:avLst/>
          </a:prstGeom>
          <a:solidFill>
            <a:srgbClr val="0D1B1F">
              <a:alpha val="70000"/>
            </a:srgbClr>
          </a:solidFill>
          <a:ln/>
        </p:spPr>
      </p:sp>
      <p:sp>
        <p:nvSpPr>
          <p:cNvPr id="127" name="Text 122"/>
          <p:cNvSpPr txBox="1"/>
          <p:nvPr/>
        </p:nvSpPr>
        <p:spPr>
          <a:xfrm>
            <a:off x="5294376" y="3611880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Hyperspectral</a:t>
            </a:r>
            <a:endParaRPr lang="en-US" sz="750" dirty="0"/>
          </a:p>
        </p:txBody>
      </p:sp>
      <p:pic>
        <p:nvPicPr>
          <p:cNvPr id="128" name="Image 3" descr="Thermal drone image of the mustard trial plo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3026664"/>
            <a:ext cx="768096" cy="768096"/>
          </a:xfrm>
          <a:prstGeom prst="rect">
            <a:avLst/>
          </a:prstGeom>
        </p:spPr>
      </p:pic>
      <p:sp>
        <p:nvSpPr>
          <p:cNvPr id="129" name="Shape 123"/>
          <p:cNvSpPr/>
          <p:nvPr/>
        </p:nvSpPr>
        <p:spPr>
          <a:xfrm>
            <a:off x="6126480" y="3611880"/>
            <a:ext cx="768096" cy="182880"/>
          </a:xfrm>
          <a:prstGeom prst="rect">
            <a:avLst/>
          </a:prstGeom>
          <a:solidFill>
            <a:srgbClr val="0D1B1F">
              <a:alpha val="70000"/>
            </a:srgbClr>
          </a:solidFill>
          <a:ln/>
        </p:spPr>
      </p:sp>
      <p:sp>
        <p:nvSpPr>
          <p:cNvPr id="130" name="Text 124"/>
          <p:cNvSpPr txBox="1"/>
          <p:nvPr/>
        </p:nvSpPr>
        <p:spPr>
          <a:xfrm>
            <a:off x="6126480" y="3611880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Thermal</a:t>
            </a:r>
            <a:endParaRPr lang="en-US" sz="750" dirty="0"/>
          </a:p>
        </p:txBody>
      </p:sp>
      <p:sp>
        <p:nvSpPr>
          <p:cNvPr id="131" name="Text 125"/>
          <p:cNvSpPr txBox="1"/>
          <p:nvPr/>
        </p:nvSpPr>
        <p:spPr>
          <a:xfrm>
            <a:off x="5221224" y="3977640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field disease scores for training</a:t>
            </a:r>
            <a:endParaRPr lang="en-US" sz="900" dirty="0"/>
          </a:p>
        </p:txBody>
      </p:sp>
      <p:sp>
        <p:nvSpPr>
          <p:cNvPr id="132" name="Shape 126"/>
          <p:cNvSpPr/>
          <p:nvPr/>
        </p:nvSpPr>
        <p:spPr>
          <a:xfrm>
            <a:off x="7548372" y="2194560"/>
            <a:ext cx="1618488" cy="566928"/>
          </a:xfrm>
          <a:prstGeom prst="roundRect">
            <a:avLst>
              <a:gd name="adj" fmla="val 11290"/>
            </a:avLst>
          </a:prstGeom>
          <a:solidFill>
            <a:srgbClr val="E3F1EF"/>
          </a:solidFill>
          <a:ln/>
        </p:spPr>
      </p:sp>
      <p:sp>
        <p:nvSpPr>
          <p:cNvPr id="133" name="Text 127"/>
          <p:cNvSpPr txBox="1"/>
          <p:nvPr/>
        </p:nvSpPr>
        <p:spPr>
          <a:xfrm>
            <a:off x="7548372" y="2569464"/>
            <a:ext cx="1618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8A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disease features</a:t>
            </a:r>
            <a:endParaRPr lang="en-US" sz="850" dirty="0"/>
          </a:p>
        </p:txBody>
      </p:sp>
      <p:sp>
        <p:nvSpPr>
          <p:cNvPr id="134" name="Shape 128"/>
          <p:cNvSpPr/>
          <p:nvPr/>
        </p:nvSpPr>
        <p:spPr>
          <a:xfrm>
            <a:off x="7685532" y="2249424"/>
            <a:ext cx="411480" cy="2377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5" name="Shape 129"/>
          <p:cNvSpPr/>
          <p:nvPr/>
        </p:nvSpPr>
        <p:spPr>
          <a:xfrm>
            <a:off x="7685532" y="2296973"/>
            <a:ext cx="411480" cy="2377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36" name="Shape 130"/>
          <p:cNvSpPr/>
          <p:nvPr/>
        </p:nvSpPr>
        <p:spPr>
          <a:xfrm>
            <a:off x="7685532" y="2344522"/>
            <a:ext cx="411480" cy="23774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137" name="Shape 131"/>
          <p:cNvSpPr/>
          <p:nvPr/>
        </p:nvSpPr>
        <p:spPr>
          <a:xfrm>
            <a:off x="7685532" y="2392070"/>
            <a:ext cx="411480" cy="23774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38" name="Shape 132"/>
          <p:cNvSpPr/>
          <p:nvPr/>
        </p:nvSpPr>
        <p:spPr>
          <a:xfrm>
            <a:off x="7685532" y="2439619"/>
            <a:ext cx="411480" cy="23774"/>
          </a:xfrm>
          <a:prstGeom prst="rect">
            <a:avLst/>
          </a:prstGeom>
          <a:solidFill>
            <a:srgbClr val="8E8EA8"/>
          </a:solidFill>
          <a:ln/>
        </p:spPr>
      </p:sp>
      <p:sp>
        <p:nvSpPr>
          <p:cNvPr id="139" name="Shape 133"/>
          <p:cNvSpPr/>
          <p:nvPr/>
        </p:nvSpPr>
        <p:spPr>
          <a:xfrm>
            <a:off x="7685532" y="2487168"/>
            <a:ext cx="411480" cy="2377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0" name="Shape 134"/>
          <p:cNvSpPr/>
          <p:nvPr/>
        </p:nvSpPr>
        <p:spPr>
          <a:xfrm>
            <a:off x="8170164" y="2240280"/>
            <a:ext cx="347472" cy="292608"/>
          </a:xfrm>
          <a:custGeom>
            <a:avLst/>
            <a:gdLst/>
            <a:ahLst/>
            <a:cxnLst/>
            <a:rect l="l" t="t" r="r" b="b"/>
            <a:pathLst>
              <a:path w="347472" h="292608">
                <a:moveTo>
                  <a:pt x="0" y="0"/>
                </a:moveTo>
                <a:lnTo>
                  <a:pt x="347472" y="91440"/>
                </a:lnTo>
                <a:lnTo>
                  <a:pt x="347472" y="201168"/>
                </a:lnTo>
                <a:lnTo>
                  <a:pt x="0" y="292608"/>
                </a:lnTo>
                <a:close/>
              </a:path>
            </a:pathLst>
          </a:custGeom>
          <a:solidFill>
            <a:srgbClr val="1CB8B2"/>
          </a:solidFill>
          <a:ln/>
        </p:spPr>
      </p:sp>
      <p:sp>
        <p:nvSpPr>
          <p:cNvPr id="141" name="Shape 135"/>
          <p:cNvSpPr/>
          <p:nvPr/>
        </p:nvSpPr>
        <p:spPr>
          <a:xfrm>
            <a:off x="8590788" y="2331720"/>
            <a:ext cx="411480" cy="3200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42" name="Shape 136"/>
          <p:cNvSpPr/>
          <p:nvPr/>
        </p:nvSpPr>
        <p:spPr>
          <a:xfrm>
            <a:off x="8590788" y="2404872"/>
            <a:ext cx="411480" cy="32004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43" name="Shape 137"/>
          <p:cNvSpPr/>
          <p:nvPr/>
        </p:nvSpPr>
        <p:spPr>
          <a:xfrm rot="10800000">
            <a:off x="8293608" y="2816352"/>
            <a:ext cx="128016" cy="82296"/>
          </a:xfrm>
          <a:prstGeom prst="triangle">
            <a:avLst/>
          </a:prstGeom>
          <a:solidFill>
            <a:srgbClr val="1CB8B2"/>
          </a:solidFill>
          <a:ln/>
        </p:spPr>
      </p:sp>
      <p:sp>
        <p:nvSpPr>
          <p:cNvPr id="144" name="Shape 138"/>
          <p:cNvSpPr/>
          <p:nvPr/>
        </p:nvSpPr>
        <p:spPr>
          <a:xfrm>
            <a:off x="7548372" y="2944368"/>
            <a:ext cx="1618488" cy="566928"/>
          </a:xfrm>
          <a:prstGeom prst="roundRect">
            <a:avLst>
              <a:gd name="adj" fmla="val 11290"/>
            </a:avLst>
          </a:prstGeom>
          <a:solidFill>
            <a:srgbClr val="E3F1EF"/>
          </a:solidFill>
          <a:ln/>
        </p:spPr>
      </p:sp>
      <p:sp>
        <p:nvSpPr>
          <p:cNvPr id="145" name="Text 139"/>
          <p:cNvSpPr txBox="1"/>
          <p:nvPr/>
        </p:nvSpPr>
        <p:spPr>
          <a:xfrm>
            <a:off x="7548372" y="3319272"/>
            <a:ext cx="1618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8A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Fuse four sensors</a:t>
            </a:r>
            <a:endParaRPr lang="en-US" sz="850" dirty="0"/>
          </a:p>
        </p:txBody>
      </p:sp>
      <p:sp>
        <p:nvSpPr>
          <p:cNvPr id="146" name="Shape 140"/>
          <p:cNvSpPr/>
          <p:nvPr/>
        </p:nvSpPr>
        <p:spPr>
          <a:xfrm>
            <a:off x="7685532" y="2990088"/>
            <a:ext cx="777240" cy="292608"/>
          </a:xfrm>
          <a:custGeom>
            <a:avLst/>
            <a:gdLst/>
            <a:ahLst/>
            <a:cxnLst/>
            <a:rect l="l" t="t" r="r" b="b"/>
            <a:pathLst>
              <a:path w="777240" h="292608">
                <a:moveTo>
                  <a:pt x="0" y="18288"/>
                </a:moveTo>
                <a:cubicBezTo>
                  <a:pt x="411480" y="18288"/>
                  <a:pt x="457200" y="146304"/>
                  <a:pt x="777240" y="146304"/>
                </a:cubicBezTo>
              </a:path>
            </a:pathLst>
          </a:custGeom>
          <a:ln w="25400">
            <a:solidFill>
              <a:srgbClr val="3B82F6"/>
            </a:solidFill>
            <a:prstDash val="solid"/>
          </a:ln>
        </p:spPr>
      </p:sp>
      <p:sp>
        <p:nvSpPr>
          <p:cNvPr id="147" name="Shape 141"/>
          <p:cNvSpPr/>
          <p:nvPr/>
        </p:nvSpPr>
        <p:spPr>
          <a:xfrm>
            <a:off x="7685532" y="2990088"/>
            <a:ext cx="777240" cy="292608"/>
          </a:xfrm>
          <a:custGeom>
            <a:avLst/>
            <a:gdLst/>
            <a:ahLst/>
            <a:cxnLst/>
            <a:rect l="l" t="t" r="r" b="b"/>
            <a:pathLst>
              <a:path w="777240" h="292608">
                <a:moveTo>
                  <a:pt x="0" y="100584"/>
                </a:moveTo>
                <a:cubicBezTo>
                  <a:pt x="411480" y="100584"/>
                  <a:pt x="457200" y="146304"/>
                  <a:pt x="777240" y="146304"/>
                </a:cubicBezTo>
              </a:path>
            </a:pathLst>
          </a:custGeom>
          <a:ln w="25400">
            <a:solidFill>
              <a:srgbClr val="3FB950"/>
            </a:solidFill>
            <a:prstDash val="solid"/>
          </a:ln>
        </p:spPr>
      </p:sp>
      <p:sp>
        <p:nvSpPr>
          <p:cNvPr id="148" name="Shape 142"/>
          <p:cNvSpPr/>
          <p:nvPr/>
        </p:nvSpPr>
        <p:spPr>
          <a:xfrm>
            <a:off x="7685532" y="2990088"/>
            <a:ext cx="777240" cy="292608"/>
          </a:xfrm>
          <a:custGeom>
            <a:avLst/>
            <a:gdLst/>
            <a:ahLst/>
            <a:cxnLst/>
            <a:rect l="l" t="t" r="r" b="b"/>
            <a:pathLst>
              <a:path w="777240" h="292608">
                <a:moveTo>
                  <a:pt x="0" y="182880"/>
                </a:moveTo>
                <a:cubicBezTo>
                  <a:pt x="411480" y="182880"/>
                  <a:pt x="457200" y="146304"/>
                  <a:pt x="777240" y="146304"/>
                </a:cubicBezTo>
              </a:path>
            </a:pathLst>
          </a:custGeom>
          <a:ln w="25400">
            <a:solidFill>
              <a:srgbClr val="8E5BD6"/>
            </a:solidFill>
            <a:prstDash val="solid"/>
          </a:ln>
        </p:spPr>
      </p:sp>
      <p:sp>
        <p:nvSpPr>
          <p:cNvPr id="149" name="Shape 143"/>
          <p:cNvSpPr/>
          <p:nvPr/>
        </p:nvSpPr>
        <p:spPr>
          <a:xfrm>
            <a:off x="7685532" y="2990088"/>
            <a:ext cx="777240" cy="292608"/>
          </a:xfrm>
          <a:custGeom>
            <a:avLst/>
            <a:gdLst/>
            <a:ahLst/>
            <a:cxnLst/>
            <a:rect l="l" t="t" r="r" b="b"/>
            <a:pathLst>
              <a:path w="777240" h="292608">
                <a:moveTo>
                  <a:pt x="0" y="265176"/>
                </a:moveTo>
                <a:cubicBezTo>
                  <a:pt x="411480" y="265176"/>
                  <a:pt x="457200" y="146304"/>
                  <a:pt x="777240" y="146304"/>
                </a:cubicBezTo>
              </a:path>
            </a:pathLst>
          </a:custGeom>
          <a:ln w="25400">
            <a:solidFill>
              <a:srgbClr val="E5484D"/>
            </a:solidFill>
            <a:prstDash val="solid"/>
          </a:ln>
        </p:spPr>
      </p:sp>
      <p:sp>
        <p:nvSpPr>
          <p:cNvPr id="150" name="Shape 144"/>
          <p:cNvSpPr/>
          <p:nvPr/>
        </p:nvSpPr>
        <p:spPr>
          <a:xfrm>
            <a:off x="8444484" y="3108960"/>
            <a:ext cx="384048" cy="54864"/>
          </a:xfrm>
          <a:prstGeom prst="roundRect">
            <a:avLst>
              <a:gd name="adj" fmla="val 50000"/>
            </a:avLst>
          </a:prstGeom>
          <a:solidFill>
            <a:srgbClr val="1F2D30"/>
          </a:solidFill>
          <a:ln/>
        </p:spPr>
      </p:sp>
      <p:sp>
        <p:nvSpPr>
          <p:cNvPr id="151" name="Shape 145"/>
          <p:cNvSpPr/>
          <p:nvPr/>
        </p:nvSpPr>
        <p:spPr>
          <a:xfrm>
            <a:off x="8810244" y="3035808"/>
            <a:ext cx="201168" cy="201168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152" name="Shape 146"/>
          <p:cNvSpPr/>
          <p:nvPr/>
        </p:nvSpPr>
        <p:spPr>
          <a:xfrm rot="10800000">
            <a:off x="8293608" y="3566160"/>
            <a:ext cx="128016" cy="82296"/>
          </a:xfrm>
          <a:prstGeom prst="triangle">
            <a:avLst/>
          </a:prstGeom>
          <a:solidFill>
            <a:srgbClr val="1CB8B2"/>
          </a:solidFill>
          <a:ln/>
        </p:spPr>
      </p:sp>
      <p:sp>
        <p:nvSpPr>
          <p:cNvPr id="153" name="Shape 147"/>
          <p:cNvSpPr/>
          <p:nvPr/>
        </p:nvSpPr>
        <p:spPr>
          <a:xfrm>
            <a:off x="7548372" y="3694176"/>
            <a:ext cx="1618488" cy="566928"/>
          </a:xfrm>
          <a:prstGeom prst="roundRect">
            <a:avLst>
              <a:gd name="adj" fmla="val 11290"/>
            </a:avLst>
          </a:prstGeom>
          <a:solidFill>
            <a:srgbClr val="E3F1EF"/>
          </a:solidFill>
          <a:ln/>
        </p:spPr>
      </p:sp>
      <p:sp>
        <p:nvSpPr>
          <p:cNvPr id="154" name="Text 148"/>
          <p:cNvSpPr txBox="1"/>
          <p:nvPr/>
        </p:nvSpPr>
        <p:spPr>
          <a:xfrm>
            <a:off x="7548372" y="4069080"/>
            <a:ext cx="1618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8A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 severity</a:t>
            </a:r>
            <a:endParaRPr lang="en-US" sz="850" dirty="0"/>
          </a:p>
        </p:txBody>
      </p:sp>
      <p:sp>
        <p:nvSpPr>
          <p:cNvPr id="155" name="Shape 149"/>
          <p:cNvSpPr/>
          <p:nvPr/>
        </p:nvSpPr>
        <p:spPr>
          <a:xfrm flipV="1">
            <a:off x="7776972" y="3767328"/>
            <a:ext cx="182880" cy="109728"/>
          </a:xfrm>
          <a:prstGeom prst="line">
            <a:avLst/>
          </a:prstGeom>
          <a:noFill/>
          <a:ln w="15875">
            <a:solidFill>
              <a:srgbClr val="8FA3A6"/>
            </a:solidFill>
            <a:prstDash val="solid"/>
          </a:ln>
        </p:spPr>
      </p:sp>
      <p:sp>
        <p:nvSpPr>
          <p:cNvPr id="156" name="Shape 150"/>
          <p:cNvSpPr/>
          <p:nvPr/>
        </p:nvSpPr>
        <p:spPr>
          <a:xfrm>
            <a:off x="7959852" y="3767328"/>
            <a:ext cx="182880" cy="109728"/>
          </a:xfrm>
          <a:prstGeom prst="line">
            <a:avLst/>
          </a:prstGeom>
          <a:noFill/>
          <a:ln w="15875">
            <a:solidFill>
              <a:srgbClr val="8FA3A6"/>
            </a:solidFill>
            <a:prstDash val="solid"/>
          </a:ln>
        </p:spPr>
      </p:sp>
      <p:sp>
        <p:nvSpPr>
          <p:cNvPr id="157" name="Shape 151"/>
          <p:cNvSpPr/>
          <p:nvPr/>
        </p:nvSpPr>
        <p:spPr>
          <a:xfrm flipV="1">
            <a:off x="7685532" y="3877056"/>
            <a:ext cx="91440" cy="118872"/>
          </a:xfrm>
          <a:prstGeom prst="line">
            <a:avLst/>
          </a:prstGeom>
          <a:noFill/>
          <a:ln w="15875">
            <a:solidFill>
              <a:srgbClr val="8FA3A6"/>
            </a:solidFill>
            <a:prstDash val="solid"/>
          </a:ln>
        </p:spPr>
      </p:sp>
      <p:sp>
        <p:nvSpPr>
          <p:cNvPr id="158" name="Shape 152"/>
          <p:cNvSpPr/>
          <p:nvPr/>
        </p:nvSpPr>
        <p:spPr>
          <a:xfrm>
            <a:off x="7776972" y="3877056"/>
            <a:ext cx="91440" cy="118872"/>
          </a:xfrm>
          <a:prstGeom prst="line">
            <a:avLst/>
          </a:prstGeom>
          <a:noFill/>
          <a:ln w="15875">
            <a:solidFill>
              <a:srgbClr val="8FA3A6"/>
            </a:solidFill>
            <a:prstDash val="solid"/>
          </a:ln>
        </p:spPr>
      </p:sp>
      <p:sp>
        <p:nvSpPr>
          <p:cNvPr id="159" name="Shape 153"/>
          <p:cNvSpPr/>
          <p:nvPr/>
        </p:nvSpPr>
        <p:spPr>
          <a:xfrm flipV="1">
            <a:off x="8051292" y="3877056"/>
            <a:ext cx="91440" cy="118872"/>
          </a:xfrm>
          <a:prstGeom prst="line">
            <a:avLst/>
          </a:prstGeom>
          <a:noFill/>
          <a:ln w="15875">
            <a:solidFill>
              <a:srgbClr val="8FA3A6"/>
            </a:solidFill>
            <a:prstDash val="solid"/>
          </a:ln>
        </p:spPr>
      </p:sp>
      <p:sp>
        <p:nvSpPr>
          <p:cNvPr id="160" name="Shape 154"/>
          <p:cNvSpPr/>
          <p:nvPr/>
        </p:nvSpPr>
        <p:spPr>
          <a:xfrm>
            <a:off x="8142732" y="3877056"/>
            <a:ext cx="91440" cy="118872"/>
          </a:xfrm>
          <a:prstGeom prst="line">
            <a:avLst/>
          </a:prstGeom>
          <a:noFill/>
          <a:ln w="15875">
            <a:solidFill>
              <a:srgbClr val="8FA3A6"/>
            </a:solidFill>
            <a:prstDash val="solid"/>
          </a:ln>
        </p:spPr>
      </p:sp>
      <p:sp>
        <p:nvSpPr>
          <p:cNvPr id="161" name="Shape 155"/>
          <p:cNvSpPr/>
          <p:nvPr/>
        </p:nvSpPr>
        <p:spPr>
          <a:xfrm>
            <a:off x="7914132" y="3721608"/>
            <a:ext cx="91440" cy="91440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162" name="Shape 156"/>
          <p:cNvSpPr/>
          <p:nvPr/>
        </p:nvSpPr>
        <p:spPr>
          <a:xfrm>
            <a:off x="7740396" y="3840480"/>
            <a:ext cx="73152" cy="73152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163" name="Shape 157"/>
          <p:cNvSpPr/>
          <p:nvPr/>
        </p:nvSpPr>
        <p:spPr>
          <a:xfrm>
            <a:off x="8106156" y="3840480"/>
            <a:ext cx="73152" cy="73152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164" name="Shape 158"/>
          <p:cNvSpPr/>
          <p:nvPr/>
        </p:nvSpPr>
        <p:spPr>
          <a:xfrm>
            <a:off x="7656271" y="3966667"/>
            <a:ext cx="58522" cy="58522"/>
          </a:xfrm>
          <a:prstGeom prst="ellipse">
            <a:avLst/>
          </a:prstGeom>
          <a:solidFill>
            <a:srgbClr val="1F2D30"/>
          </a:solidFill>
          <a:ln/>
        </p:spPr>
      </p:sp>
      <p:sp>
        <p:nvSpPr>
          <p:cNvPr id="165" name="Shape 159"/>
          <p:cNvSpPr/>
          <p:nvPr/>
        </p:nvSpPr>
        <p:spPr>
          <a:xfrm>
            <a:off x="7839151" y="3966667"/>
            <a:ext cx="58522" cy="58522"/>
          </a:xfrm>
          <a:prstGeom prst="ellipse">
            <a:avLst/>
          </a:prstGeom>
          <a:solidFill>
            <a:srgbClr val="1F2D30"/>
          </a:solidFill>
          <a:ln/>
        </p:spPr>
      </p:sp>
      <p:sp>
        <p:nvSpPr>
          <p:cNvPr id="166" name="Shape 160"/>
          <p:cNvSpPr/>
          <p:nvPr/>
        </p:nvSpPr>
        <p:spPr>
          <a:xfrm>
            <a:off x="8022031" y="3966667"/>
            <a:ext cx="58522" cy="58522"/>
          </a:xfrm>
          <a:prstGeom prst="ellipse">
            <a:avLst/>
          </a:prstGeom>
          <a:solidFill>
            <a:srgbClr val="1F2D30"/>
          </a:solidFill>
          <a:ln/>
        </p:spPr>
      </p:sp>
      <p:sp>
        <p:nvSpPr>
          <p:cNvPr id="167" name="Shape 161"/>
          <p:cNvSpPr/>
          <p:nvPr/>
        </p:nvSpPr>
        <p:spPr>
          <a:xfrm>
            <a:off x="8204911" y="3966667"/>
            <a:ext cx="58522" cy="58522"/>
          </a:xfrm>
          <a:prstGeom prst="ellipse">
            <a:avLst/>
          </a:prstGeom>
          <a:solidFill>
            <a:srgbClr val="1F2D30"/>
          </a:solidFill>
          <a:ln/>
        </p:spPr>
      </p:sp>
      <p:sp>
        <p:nvSpPr>
          <p:cNvPr id="168" name="Shape 162"/>
          <p:cNvSpPr/>
          <p:nvPr/>
        </p:nvSpPr>
        <p:spPr>
          <a:xfrm>
            <a:off x="8325612" y="3831336"/>
            <a:ext cx="164592" cy="109728"/>
          </a:xfrm>
          <a:prstGeom prst="rightArrow">
            <a:avLst/>
          </a:prstGeom>
          <a:solidFill>
            <a:srgbClr val="1CB8B2"/>
          </a:solidFill>
          <a:ln/>
        </p:spPr>
      </p:sp>
      <p:sp>
        <p:nvSpPr>
          <p:cNvPr id="169" name="Shape 163"/>
          <p:cNvSpPr/>
          <p:nvPr/>
        </p:nvSpPr>
        <p:spPr>
          <a:xfrm>
            <a:off x="8554212" y="3739896"/>
            <a:ext cx="118872" cy="12801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70" name="Shape 164"/>
          <p:cNvSpPr/>
          <p:nvPr/>
        </p:nvSpPr>
        <p:spPr>
          <a:xfrm>
            <a:off x="8700516" y="3739896"/>
            <a:ext cx="118872" cy="128016"/>
          </a:xfrm>
          <a:prstGeom prst="rect">
            <a:avLst/>
          </a:prstGeom>
          <a:solidFill>
            <a:srgbClr val="7CB342"/>
          </a:solidFill>
          <a:ln/>
        </p:spPr>
      </p:sp>
      <p:sp>
        <p:nvSpPr>
          <p:cNvPr id="171" name="Shape 165"/>
          <p:cNvSpPr/>
          <p:nvPr/>
        </p:nvSpPr>
        <p:spPr>
          <a:xfrm>
            <a:off x="8846820" y="3739896"/>
            <a:ext cx="118872" cy="128016"/>
          </a:xfrm>
          <a:prstGeom prst="rect">
            <a:avLst/>
          </a:prstGeom>
          <a:solidFill>
            <a:srgbClr val="C0CA33"/>
          </a:solidFill>
          <a:ln/>
        </p:spPr>
      </p:sp>
      <p:sp>
        <p:nvSpPr>
          <p:cNvPr id="172" name="Shape 166"/>
          <p:cNvSpPr/>
          <p:nvPr/>
        </p:nvSpPr>
        <p:spPr>
          <a:xfrm>
            <a:off x="8554212" y="3895344"/>
            <a:ext cx="118872" cy="128016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73" name="Shape 167"/>
          <p:cNvSpPr/>
          <p:nvPr/>
        </p:nvSpPr>
        <p:spPr>
          <a:xfrm>
            <a:off x="8700516" y="3895344"/>
            <a:ext cx="118872" cy="128016"/>
          </a:xfrm>
          <a:prstGeom prst="rect">
            <a:avLst/>
          </a:prstGeom>
          <a:solidFill>
            <a:srgbClr val="F4511E"/>
          </a:solidFill>
          <a:ln/>
        </p:spPr>
      </p:sp>
      <p:sp>
        <p:nvSpPr>
          <p:cNvPr id="174" name="Shape 168"/>
          <p:cNvSpPr/>
          <p:nvPr/>
        </p:nvSpPr>
        <p:spPr>
          <a:xfrm>
            <a:off x="8846820" y="3895344"/>
            <a:ext cx="118872" cy="128016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75" name="Shape 169"/>
          <p:cNvSpPr/>
          <p:nvPr/>
        </p:nvSpPr>
        <p:spPr>
          <a:xfrm>
            <a:off x="9971532" y="2157984"/>
            <a:ext cx="1280160" cy="1078992"/>
          </a:xfrm>
          <a:prstGeom prst="rect">
            <a:avLst/>
          </a:prstGeom>
          <a:solidFill>
            <a:srgbClr val="1F2D30"/>
          </a:solidFill>
          <a:ln/>
        </p:spPr>
      </p:sp>
      <p:sp>
        <p:nvSpPr>
          <p:cNvPr id="176" name="Shape 170"/>
          <p:cNvSpPr/>
          <p:nvPr/>
        </p:nvSpPr>
        <p:spPr>
          <a:xfrm>
            <a:off x="10008108" y="2194560"/>
            <a:ext cx="201168" cy="201168"/>
          </a:xfrm>
          <a:prstGeom prst="rect">
            <a:avLst/>
          </a:prstGeom>
          <a:solidFill>
            <a:srgbClr val="2E7D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7" name="Shape 171"/>
          <p:cNvSpPr/>
          <p:nvPr/>
        </p:nvSpPr>
        <p:spPr>
          <a:xfrm>
            <a:off x="10209276" y="2194560"/>
            <a:ext cx="201168" cy="201168"/>
          </a:xfrm>
          <a:prstGeom prst="rect">
            <a:avLst/>
          </a:prstGeom>
          <a:solidFill>
            <a:srgbClr val="2E7D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8" name="Shape 172"/>
          <p:cNvSpPr/>
          <p:nvPr/>
        </p:nvSpPr>
        <p:spPr>
          <a:xfrm>
            <a:off x="10410444" y="2194560"/>
            <a:ext cx="201168" cy="201168"/>
          </a:xfrm>
          <a:prstGeom prst="rect">
            <a:avLst/>
          </a:prstGeom>
          <a:solidFill>
            <a:srgbClr val="7CB34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9" name="Shape 173"/>
          <p:cNvSpPr/>
          <p:nvPr/>
        </p:nvSpPr>
        <p:spPr>
          <a:xfrm>
            <a:off x="10611612" y="2194560"/>
            <a:ext cx="201168" cy="201168"/>
          </a:xfrm>
          <a:prstGeom prst="rect">
            <a:avLst/>
          </a:prstGeom>
          <a:solidFill>
            <a:srgbClr val="C0CA3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0" name="Shape 174"/>
          <p:cNvSpPr/>
          <p:nvPr/>
        </p:nvSpPr>
        <p:spPr>
          <a:xfrm>
            <a:off x="10812780" y="2194560"/>
            <a:ext cx="201168" cy="201168"/>
          </a:xfrm>
          <a:prstGeom prst="rect">
            <a:avLst/>
          </a:prstGeom>
          <a:solidFill>
            <a:srgbClr val="FFB02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1" name="Shape 175"/>
          <p:cNvSpPr/>
          <p:nvPr/>
        </p:nvSpPr>
        <p:spPr>
          <a:xfrm>
            <a:off x="11013948" y="2194560"/>
            <a:ext cx="201168" cy="201168"/>
          </a:xfrm>
          <a:prstGeom prst="rect">
            <a:avLst/>
          </a:prstGeom>
          <a:solidFill>
            <a:srgbClr val="C0CA3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2" name="Shape 176"/>
          <p:cNvSpPr/>
          <p:nvPr/>
        </p:nvSpPr>
        <p:spPr>
          <a:xfrm>
            <a:off x="10008108" y="2395728"/>
            <a:ext cx="201168" cy="201168"/>
          </a:xfrm>
          <a:prstGeom prst="rect">
            <a:avLst/>
          </a:prstGeom>
          <a:solidFill>
            <a:srgbClr val="2E7D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3" name="Shape 177"/>
          <p:cNvSpPr/>
          <p:nvPr/>
        </p:nvSpPr>
        <p:spPr>
          <a:xfrm>
            <a:off x="10209276" y="2395728"/>
            <a:ext cx="201168" cy="201168"/>
          </a:xfrm>
          <a:prstGeom prst="rect">
            <a:avLst/>
          </a:prstGeom>
          <a:solidFill>
            <a:srgbClr val="7CB34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4" name="Shape 178"/>
          <p:cNvSpPr/>
          <p:nvPr/>
        </p:nvSpPr>
        <p:spPr>
          <a:xfrm>
            <a:off x="10410444" y="2395728"/>
            <a:ext cx="201168" cy="201168"/>
          </a:xfrm>
          <a:prstGeom prst="rect">
            <a:avLst/>
          </a:prstGeom>
          <a:solidFill>
            <a:srgbClr val="C0CA3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5" name="Shape 179"/>
          <p:cNvSpPr/>
          <p:nvPr/>
        </p:nvSpPr>
        <p:spPr>
          <a:xfrm>
            <a:off x="10611612" y="2395728"/>
            <a:ext cx="201168" cy="201168"/>
          </a:xfrm>
          <a:prstGeom prst="rect">
            <a:avLst/>
          </a:prstGeom>
          <a:solidFill>
            <a:srgbClr val="F4511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6" name="Shape 180"/>
          <p:cNvSpPr/>
          <p:nvPr/>
        </p:nvSpPr>
        <p:spPr>
          <a:xfrm>
            <a:off x="10812780" y="2395728"/>
            <a:ext cx="201168" cy="201168"/>
          </a:xfrm>
          <a:prstGeom prst="rect">
            <a:avLst/>
          </a:prstGeom>
          <a:solidFill>
            <a:srgbClr val="B71C1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7" name="Shape 181"/>
          <p:cNvSpPr/>
          <p:nvPr/>
        </p:nvSpPr>
        <p:spPr>
          <a:xfrm>
            <a:off x="11013948" y="2395728"/>
            <a:ext cx="201168" cy="201168"/>
          </a:xfrm>
          <a:prstGeom prst="rect">
            <a:avLst/>
          </a:prstGeom>
          <a:solidFill>
            <a:srgbClr val="FFB02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8" name="Shape 182"/>
          <p:cNvSpPr/>
          <p:nvPr/>
        </p:nvSpPr>
        <p:spPr>
          <a:xfrm>
            <a:off x="10008108" y="2596896"/>
            <a:ext cx="201168" cy="201168"/>
          </a:xfrm>
          <a:prstGeom prst="rect">
            <a:avLst/>
          </a:prstGeom>
          <a:solidFill>
            <a:srgbClr val="2E7D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9" name="Shape 183"/>
          <p:cNvSpPr/>
          <p:nvPr/>
        </p:nvSpPr>
        <p:spPr>
          <a:xfrm>
            <a:off x="10209276" y="2596896"/>
            <a:ext cx="201168" cy="201168"/>
          </a:xfrm>
          <a:prstGeom prst="rect">
            <a:avLst/>
          </a:prstGeom>
          <a:solidFill>
            <a:srgbClr val="2E7D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0" name="Shape 184"/>
          <p:cNvSpPr/>
          <p:nvPr/>
        </p:nvSpPr>
        <p:spPr>
          <a:xfrm>
            <a:off x="10410444" y="2596896"/>
            <a:ext cx="201168" cy="201168"/>
          </a:xfrm>
          <a:prstGeom prst="rect">
            <a:avLst/>
          </a:prstGeom>
          <a:solidFill>
            <a:srgbClr val="C0CA3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1" name="Shape 185"/>
          <p:cNvSpPr/>
          <p:nvPr/>
        </p:nvSpPr>
        <p:spPr>
          <a:xfrm>
            <a:off x="10611612" y="2596896"/>
            <a:ext cx="201168" cy="201168"/>
          </a:xfrm>
          <a:prstGeom prst="rect">
            <a:avLst/>
          </a:prstGeom>
          <a:solidFill>
            <a:srgbClr val="FFB02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2" name="Shape 186"/>
          <p:cNvSpPr/>
          <p:nvPr/>
        </p:nvSpPr>
        <p:spPr>
          <a:xfrm>
            <a:off x="10812780" y="2596896"/>
            <a:ext cx="201168" cy="201168"/>
          </a:xfrm>
          <a:prstGeom prst="rect">
            <a:avLst/>
          </a:prstGeom>
          <a:solidFill>
            <a:srgbClr val="F4511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3" name="Shape 187"/>
          <p:cNvSpPr/>
          <p:nvPr/>
        </p:nvSpPr>
        <p:spPr>
          <a:xfrm>
            <a:off x="11013948" y="2596896"/>
            <a:ext cx="201168" cy="201168"/>
          </a:xfrm>
          <a:prstGeom prst="rect">
            <a:avLst/>
          </a:prstGeom>
          <a:solidFill>
            <a:srgbClr val="C0CA3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4" name="Shape 188"/>
          <p:cNvSpPr/>
          <p:nvPr/>
        </p:nvSpPr>
        <p:spPr>
          <a:xfrm>
            <a:off x="10008108" y="2798064"/>
            <a:ext cx="201168" cy="201168"/>
          </a:xfrm>
          <a:prstGeom prst="rect">
            <a:avLst/>
          </a:prstGeom>
          <a:solidFill>
            <a:srgbClr val="7CB34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5" name="Shape 189"/>
          <p:cNvSpPr/>
          <p:nvPr/>
        </p:nvSpPr>
        <p:spPr>
          <a:xfrm>
            <a:off x="10209276" y="2798064"/>
            <a:ext cx="201168" cy="201168"/>
          </a:xfrm>
          <a:prstGeom prst="rect">
            <a:avLst/>
          </a:prstGeom>
          <a:solidFill>
            <a:srgbClr val="C0CA3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6" name="Shape 190"/>
          <p:cNvSpPr/>
          <p:nvPr/>
        </p:nvSpPr>
        <p:spPr>
          <a:xfrm>
            <a:off x="10410444" y="2798064"/>
            <a:ext cx="201168" cy="201168"/>
          </a:xfrm>
          <a:prstGeom prst="rect">
            <a:avLst/>
          </a:prstGeom>
          <a:solidFill>
            <a:srgbClr val="2E7D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7" name="Shape 191"/>
          <p:cNvSpPr/>
          <p:nvPr/>
        </p:nvSpPr>
        <p:spPr>
          <a:xfrm>
            <a:off x="10611612" y="2798064"/>
            <a:ext cx="201168" cy="201168"/>
          </a:xfrm>
          <a:prstGeom prst="rect">
            <a:avLst/>
          </a:prstGeom>
          <a:solidFill>
            <a:srgbClr val="7CB34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8" name="Shape 192"/>
          <p:cNvSpPr/>
          <p:nvPr/>
        </p:nvSpPr>
        <p:spPr>
          <a:xfrm>
            <a:off x="10812780" y="2798064"/>
            <a:ext cx="201168" cy="201168"/>
          </a:xfrm>
          <a:prstGeom prst="rect">
            <a:avLst/>
          </a:prstGeom>
          <a:solidFill>
            <a:srgbClr val="C0CA3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9" name="Shape 193"/>
          <p:cNvSpPr/>
          <p:nvPr/>
        </p:nvSpPr>
        <p:spPr>
          <a:xfrm>
            <a:off x="11013948" y="2798064"/>
            <a:ext cx="201168" cy="201168"/>
          </a:xfrm>
          <a:prstGeom prst="rect">
            <a:avLst/>
          </a:prstGeom>
          <a:solidFill>
            <a:srgbClr val="7CB34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0" name="Shape 194"/>
          <p:cNvSpPr/>
          <p:nvPr/>
        </p:nvSpPr>
        <p:spPr>
          <a:xfrm>
            <a:off x="10008108" y="2999232"/>
            <a:ext cx="201168" cy="201168"/>
          </a:xfrm>
          <a:prstGeom prst="rect">
            <a:avLst/>
          </a:prstGeom>
          <a:solidFill>
            <a:srgbClr val="2E7D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1" name="Shape 195"/>
          <p:cNvSpPr/>
          <p:nvPr/>
        </p:nvSpPr>
        <p:spPr>
          <a:xfrm>
            <a:off x="10209276" y="2999232"/>
            <a:ext cx="201168" cy="201168"/>
          </a:xfrm>
          <a:prstGeom prst="rect">
            <a:avLst/>
          </a:prstGeom>
          <a:solidFill>
            <a:srgbClr val="2E7D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2" name="Shape 196"/>
          <p:cNvSpPr/>
          <p:nvPr/>
        </p:nvSpPr>
        <p:spPr>
          <a:xfrm>
            <a:off x="10410444" y="2999232"/>
            <a:ext cx="201168" cy="201168"/>
          </a:xfrm>
          <a:prstGeom prst="rect">
            <a:avLst/>
          </a:prstGeom>
          <a:solidFill>
            <a:srgbClr val="7CB34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3" name="Shape 197"/>
          <p:cNvSpPr/>
          <p:nvPr/>
        </p:nvSpPr>
        <p:spPr>
          <a:xfrm>
            <a:off x="10611612" y="2999232"/>
            <a:ext cx="201168" cy="201168"/>
          </a:xfrm>
          <a:prstGeom prst="rect">
            <a:avLst/>
          </a:prstGeom>
          <a:solidFill>
            <a:srgbClr val="7CB34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4" name="Shape 198"/>
          <p:cNvSpPr/>
          <p:nvPr/>
        </p:nvSpPr>
        <p:spPr>
          <a:xfrm>
            <a:off x="10812780" y="2999232"/>
            <a:ext cx="201168" cy="201168"/>
          </a:xfrm>
          <a:prstGeom prst="rect">
            <a:avLst/>
          </a:prstGeom>
          <a:solidFill>
            <a:srgbClr val="2E7D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5" name="Shape 199"/>
          <p:cNvSpPr/>
          <p:nvPr/>
        </p:nvSpPr>
        <p:spPr>
          <a:xfrm>
            <a:off x="11013948" y="2999232"/>
            <a:ext cx="201168" cy="201168"/>
          </a:xfrm>
          <a:prstGeom prst="rect">
            <a:avLst/>
          </a:prstGeom>
          <a:solidFill>
            <a:srgbClr val="2E7D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6" name="Shape 200"/>
          <p:cNvSpPr/>
          <p:nvPr/>
        </p:nvSpPr>
        <p:spPr>
          <a:xfrm>
            <a:off x="9884664" y="3419856"/>
            <a:ext cx="118872" cy="11887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07" name="Text 201"/>
          <p:cNvSpPr txBox="1"/>
          <p:nvPr/>
        </p:nvSpPr>
        <p:spPr>
          <a:xfrm>
            <a:off x="10076688" y="3401568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 Healthy</a:t>
            </a:r>
            <a:pPr indent="0" marL="0">
              <a:buNone/>
            </a:pPr>
            <a:r>
              <a:rPr lang="en-US" sz="850" dirty="0">
                <a:solidFill>
                  <a:srgbClr val="5A6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DI 0</a:t>
            </a:r>
            <a:endParaRPr lang="en-US" sz="850" dirty="0"/>
          </a:p>
        </p:txBody>
      </p:sp>
      <p:sp>
        <p:nvSpPr>
          <p:cNvPr id="208" name="Shape 202"/>
          <p:cNvSpPr/>
          <p:nvPr/>
        </p:nvSpPr>
        <p:spPr>
          <a:xfrm>
            <a:off x="9884664" y="3602736"/>
            <a:ext cx="118872" cy="118872"/>
          </a:xfrm>
          <a:prstGeom prst="rect">
            <a:avLst/>
          </a:prstGeom>
          <a:solidFill>
            <a:srgbClr val="7CB342"/>
          </a:solidFill>
          <a:ln/>
        </p:spPr>
      </p:sp>
      <p:sp>
        <p:nvSpPr>
          <p:cNvPr id="209" name="Text 203"/>
          <p:cNvSpPr txBox="1"/>
          <p:nvPr/>
        </p:nvSpPr>
        <p:spPr>
          <a:xfrm>
            <a:off x="10076688" y="3584448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Very low</a:t>
            </a:r>
            <a:pPr indent="0" marL="0">
              <a:buNone/>
            </a:pPr>
            <a:r>
              <a:rPr lang="en-US" sz="850" dirty="0">
                <a:solidFill>
                  <a:srgbClr val="5A6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DI 1–5%</a:t>
            </a:r>
            <a:endParaRPr lang="en-US" sz="850" dirty="0"/>
          </a:p>
        </p:txBody>
      </p:sp>
      <p:sp>
        <p:nvSpPr>
          <p:cNvPr id="210" name="Shape 204"/>
          <p:cNvSpPr/>
          <p:nvPr/>
        </p:nvSpPr>
        <p:spPr>
          <a:xfrm>
            <a:off x="9884664" y="3785616"/>
            <a:ext cx="118872" cy="118872"/>
          </a:xfrm>
          <a:prstGeom prst="rect">
            <a:avLst/>
          </a:prstGeom>
          <a:solidFill>
            <a:srgbClr val="C0CA33"/>
          </a:solidFill>
          <a:ln/>
        </p:spPr>
      </p:sp>
      <p:sp>
        <p:nvSpPr>
          <p:cNvPr id="211" name="Text 205"/>
          <p:cNvSpPr txBox="1"/>
          <p:nvPr/>
        </p:nvSpPr>
        <p:spPr>
          <a:xfrm>
            <a:off x="10076688" y="3767328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Low</a:t>
            </a:r>
            <a:pPr indent="0" marL="0">
              <a:buNone/>
            </a:pPr>
            <a:r>
              <a:rPr lang="en-US" sz="850" dirty="0">
                <a:solidFill>
                  <a:srgbClr val="5A6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DI 6–10%</a:t>
            </a:r>
            <a:endParaRPr lang="en-US" sz="850" dirty="0"/>
          </a:p>
        </p:txBody>
      </p:sp>
      <p:sp>
        <p:nvSpPr>
          <p:cNvPr id="212" name="Shape 206"/>
          <p:cNvSpPr/>
          <p:nvPr/>
        </p:nvSpPr>
        <p:spPr>
          <a:xfrm>
            <a:off x="9884664" y="3968496"/>
            <a:ext cx="118872" cy="118872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13" name="Text 207"/>
          <p:cNvSpPr txBox="1"/>
          <p:nvPr/>
        </p:nvSpPr>
        <p:spPr>
          <a:xfrm>
            <a:off x="10076688" y="3950208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Moderate</a:t>
            </a:r>
            <a:pPr indent="0" marL="0">
              <a:buNone/>
            </a:pPr>
            <a:r>
              <a:rPr lang="en-US" sz="850" dirty="0">
                <a:solidFill>
                  <a:srgbClr val="5A6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DI 11–25%</a:t>
            </a:r>
            <a:endParaRPr lang="en-US" sz="850" dirty="0"/>
          </a:p>
        </p:txBody>
      </p:sp>
      <p:sp>
        <p:nvSpPr>
          <p:cNvPr id="214" name="Shape 208"/>
          <p:cNvSpPr/>
          <p:nvPr/>
        </p:nvSpPr>
        <p:spPr>
          <a:xfrm>
            <a:off x="9884664" y="4151376"/>
            <a:ext cx="118872" cy="118872"/>
          </a:xfrm>
          <a:prstGeom prst="rect">
            <a:avLst/>
          </a:prstGeom>
          <a:solidFill>
            <a:srgbClr val="F4511E"/>
          </a:solidFill>
          <a:ln/>
        </p:spPr>
      </p:sp>
      <p:sp>
        <p:nvSpPr>
          <p:cNvPr id="215" name="Text 209"/>
          <p:cNvSpPr txBox="1"/>
          <p:nvPr/>
        </p:nvSpPr>
        <p:spPr>
          <a:xfrm>
            <a:off x="10076688" y="4133088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 High</a:t>
            </a:r>
            <a:pPr indent="0" marL="0">
              <a:buNone/>
            </a:pPr>
            <a:r>
              <a:rPr lang="en-US" sz="850" dirty="0">
                <a:solidFill>
                  <a:srgbClr val="5A6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DI 26–50%</a:t>
            </a:r>
            <a:endParaRPr lang="en-US" sz="850" dirty="0"/>
          </a:p>
        </p:txBody>
      </p:sp>
      <p:sp>
        <p:nvSpPr>
          <p:cNvPr id="216" name="Shape 210"/>
          <p:cNvSpPr/>
          <p:nvPr/>
        </p:nvSpPr>
        <p:spPr>
          <a:xfrm>
            <a:off x="9884664" y="4334256"/>
            <a:ext cx="118872" cy="118872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217" name="Text 211"/>
          <p:cNvSpPr txBox="1"/>
          <p:nvPr/>
        </p:nvSpPr>
        <p:spPr>
          <a:xfrm>
            <a:off x="10076688" y="4315968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 Very high</a:t>
            </a:r>
            <a:pPr indent="0" marL="0">
              <a:buNone/>
            </a:pPr>
            <a:r>
              <a:rPr lang="en-US" sz="850" dirty="0">
                <a:solidFill>
                  <a:srgbClr val="5A6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DI &gt;50%</a:t>
            </a:r>
            <a:endParaRPr lang="en-US" sz="850" dirty="0"/>
          </a:p>
        </p:txBody>
      </p:sp>
      <p:sp>
        <p:nvSpPr>
          <p:cNvPr id="218" name="Shape 212"/>
          <p:cNvSpPr/>
          <p:nvPr/>
        </p:nvSpPr>
        <p:spPr>
          <a:xfrm>
            <a:off x="640080" y="1737360"/>
            <a:ext cx="1856232" cy="3154680"/>
          </a:xfrm>
          <a:prstGeom prst="roundRect">
            <a:avLst>
              <a:gd name="adj" fmla="val 6897"/>
            </a:avLst>
          </a:prstGeom>
          <a:ln w="25400">
            <a:solidFill>
              <a:srgbClr val="1CB8B2"/>
            </a:solidFill>
            <a:prstDash val="solid"/>
          </a:ln>
        </p:spPr>
      </p:sp>
      <p:sp>
        <p:nvSpPr>
          <p:cNvPr id="219" name="Shape 213"/>
          <p:cNvSpPr/>
          <p:nvPr/>
        </p:nvSpPr>
        <p:spPr>
          <a:xfrm>
            <a:off x="731520" y="1828800"/>
            <a:ext cx="246888" cy="246888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220" name="Text 214"/>
          <p:cNvSpPr txBox="1"/>
          <p:nvPr/>
        </p:nvSpPr>
        <p:spPr>
          <a:xfrm>
            <a:off x="731520" y="18288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221" name="Text 215"/>
          <p:cNvSpPr txBox="1"/>
          <p:nvPr/>
        </p:nvSpPr>
        <p:spPr>
          <a:xfrm>
            <a:off x="640080" y="4526280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White rust problem</a:t>
            </a:r>
            <a:endParaRPr lang="en-US" sz="1250" dirty="0"/>
          </a:p>
        </p:txBody>
      </p:sp>
      <p:sp>
        <p:nvSpPr>
          <p:cNvPr id="222" name="Shape 216"/>
          <p:cNvSpPr/>
          <p:nvPr/>
        </p:nvSpPr>
        <p:spPr>
          <a:xfrm>
            <a:off x="2560320" y="3159252"/>
            <a:ext cx="274320" cy="310896"/>
          </a:xfrm>
          <a:prstGeom prst="rightArrow">
            <a:avLst/>
          </a:prstGeom>
          <a:solidFill>
            <a:srgbClr val="1CB8B2"/>
          </a:solidFill>
          <a:ln/>
        </p:spPr>
      </p:sp>
      <p:sp>
        <p:nvSpPr>
          <p:cNvPr id="223" name="Shape 217"/>
          <p:cNvSpPr/>
          <p:nvPr/>
        </p:nvSpPr>
        <p:spPr>
          <a:xfrm>
            <a:off x="2903220" y="1737360"/>
            <a:ext cx="1856232" cy="3154680"/>
          </a:xfrm>
          <a:prstGeom prst="roundRect">
            <a:avLst>
              <a:gd name="adj" fmla="val 6897"/>
            </a:avLst>
          </a:prstGeom>
          <a:ln w="25400">
            <a:solidFill>
              <a:srgbClr val="7DBE4B"/>
            </a:solidFill>
            <a:prstDash val="solid"/>
          </a:ln>
        </p:spPr>
      </p:sp>
      <p:sp>
        <p:nvSpPr>
          <p:cNvPr id="224" name="Shape 218"/>
          <p:cNvSpPr/>
          <p:nvPr/>
        </p:nvSpPr>
        <p:spPr>
          <a:xfrm>
            <a:off x="2994660" y="1828800"/>
            <a:ext cx="246888" cy="246888"/>
          </a:xfrm>
          <a:prstGeom prst="ellipse">
            <a:avLst/>
          </a:prstGeom>
          <a:solidFill>
            <a:srgbClr val="7DBE4B"/>
          </a:solidFill>
          <a:ln/>
        </p:spPr>
      </p:sp>
      <p:sp>
        <p:nvSpPr>
          <p:cNvPr id="225" name="Text 219"/>
          <p:cNvSpPr txBox="1"/>
          <p:nvPr/>
        </p:nvSpPr>
        <p:spPr>
          <a:xfrm>
            <a:off x="2994660" y="18288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226" name="Text 220"/>
          <p:cNvSpPr txBox="1"/>
          <p:nvPr/>
        </p:nvSpPr>
        <p:spPr>
          <a:xfrm>
            <a:off x="2903220" y="4526280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UAV imaging</a:t>
            </a:r>
            <a:endParaRPr lang="en-US" sz="1250" dirty="0"/>
          </a:p>
        </p:txBody>
      </p:sp>
      <p:sp>
        <p:nvSpPr>
          <p:cNvPr id="227" name="Shape 221"/>
          <p:cNvSpPr/>
          <p:nvPr/>
        </p:nvSpPr>
        <p:spPr>
          <a:xfrm>
            <a:off x="4823460" y="3159252"/>
            <a:ext cx="274320" cy="310896"/>
          </a:xfrm>
          <a:prstGeom prst="rightArrow">
            <a:avLst/>
          </a:prstGeom>
          <a:solidFill>
            <a:srgbClr val="1CB8B2"/>
          </a:solidFill>
          <a:ln/>
        </p:spPr>
      </p:sp>
      <p:sp>
        <p:nvSpPr>
          <p:cNvPr id="228" name="Shape 222"/>
          <p:cNvSpPr/>
          <p:nvPr/>
        </p:nvSpPr>
        <p:spPr>
          <a:xfrm>
            <a:off x="5166360" y="1737360"/>
            <a:ext cx="1856232" cy="3154680"/>
          </a:xfrm>
          <a:prstGeom prst="roundRect">
            <a:avLst>
              <a:gd name="adj" fmla="val 6897"/>
            </a:avLst>
          </a:prstGeom>
          <a:ln w="25400">
            <a:solidFill>
              <a:srgbClr val="1CB8B2"/>
            </a:solidFill>
            <a:prstDash val="solid"/>
          </a:ln>
        </p:spPr>
      </p:sp>
      <p:sp>
        <p:nvSpPr>
          <p:cNvPr id="229" name="Shape 223"/>
          <p:cNvSpPr/>
          <p:nvPr/>
        </p:nvSpPr>
        <p:spPr>
          <a:xfrm>
            <a:off x="5257800" y="1828800"/>
            <a:ext cx="246888" cy="246888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230" name="Text 224"/>
          <p:cNvSpPr txBox="1"/>
          <p:nvPr/>
        </p:nvSpPr>
        <p:spPr>
          <a:xfrm>
            <a:off x="5257800" y="18288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231" name="Text 225"/>
          <p:cNvSpPr txBox="1"/>
          <p:nvPr/>
        </p:nvSpPr>
        <p:spPr>
          <a:xfrm>
            <a:off x="5166360" y="4526280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Multimodal data</a:t>
            </a:r>
            <a:endParaRPr lang="en-US" sz="1250" dirty="0"/>
          </a:p>
        </p:txBody>
      </p:sp>
      <p:sp>
        <p:nvSpPr>
          <p:cNvPr id="232" name="Shape 226"/>
          <p:cNvSpPr/>
          <p:nvPr/>
        </p:nvSpPr>
        <p:spPr>
          <a:xfrm>
            <a:off x="7086600" y="3159252"/>
            <a:ext cx="274320" cy="310896"/>
          </a:xfrm>
          <a:prstGeom prst="rightArrow">
            <a:avLst/>
          </a:prstGeom>
          <a:solidFill>
            <a:srgbClr val="1CB8B2"/>
          </a:solidFill>
          <a:ln/>
        </p:spPr>
      </p:sp>
      <p:sp>
        <p:nvSpPr>
          <p:cNvPr id="233" name="Shape 227"/>
          <p:cNvSpPr/>
          <p:nvPr/>
        </p:nvSpPr>
        <p:spPr>
          <a:xfrm>
            <a:off x="7429500" y="1737360"/>
            <a:ext cx="1856232" cy="3154680"/>
          </a:xfrm>
          <a:prstGeom prst="roundRect">
            <a:avLst>
              <a:gd name="adj" fmla="val 6897"/>
            </a:avLst>
          </a:prstGeom>
          <a:ln w="25400">
            <a:solidFill>
              <a:srgbClr val="7DBE4B"/>
            </a:solidFill>
            <a:prstDash val="solid"/>
          </a:ln>
        </p:spPr>
      </p:sp>
      <p:sp>
        <p:nvSpPr>
          <p:cNvPr id="234" name="Shape 228"/>
          <p:cNvSpPr/>
          <p:nvPr/>
        </p:nvSpPr>
        <p:spPr>
          <a:xfrm>
            <a:off x="7520940" y="1828800"/>
            <a:ext cx="246888" cy="246888"/>
          </a:xfrm>
          <a:prstGeom prst="ellipse">
            <a:avLst/>
          </a:prstGeom>
          <a:solidFill>
            <a:srgbClr val="7DBE4B"/>
          </a:solidFill>
          <a:ln/>
        </p:spPr>
      </p:sp>
      <p:sp>
        <p:nvSpPr>
          <p:cNvPr id="235" name="Text 229"/>
          <p:cNvSpPr txBox="1"/>
          <p:nvPr/>
        </p:nvSpPr>
        <p:spPr>
          <a:xfrm>
            <a:off x="7520940" y="18288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36" name="Text 230"/>
          <p:cNvSpPr txBox="1"/>
          <p:nvPr/>
        </p:nvSpPr>
        <p:spPr>
          <a:xfrm>
            <a:off x="7429500" y="4526280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engine</a:t>
            </a:r>
            <a:endParaRPr lang="en-US" sz="1250" dirty="0"/>
          </a:p>
        </p:txBody>
      </p:sp>
      <p:sp>
        <p:nvSpPr>
          <p:cNvPr id="237" name="Shape 231"/>
          <p:cNvSpPr/>
          <p:nvPr/>
        </p:nvSpPr>
        <p:spPr>
          <a:xfrm>
            <a:off x="9349740" y="3159252"/>
            <a:ext cx="274320" cy="310896"/>
          </a:xfrm>
          <a:prstGeom prst="rightArrow">
            <a:avLst/>
          </a:prstGeom>
          <a:solidFill>
            <a:srgbClr val="1CB8B2"/>
          </a:solidFill>
          <a:ln/>
        </p:spPr>
      </p:sp>
      <p:sp>
        <p:nvSpPr>
          <p:cNvPr id="238" name="Shape 232"/>
          <p:cNvSpPr/>
          <p:nvPr/>
        </p:nvSpPr>
        <p:spPr>
          <a:xfrm>
            <a:off x="9683496" y="1737360"/>
            <a:ext cx="1856232" cy="3154680"/>
          </a:xfrm>
          <a:prstGeom prst="roundRect">
            <a:avLst>
              <a:gd name="adj" fmla="val 6897"/>
            </a:avLst>
          </a:prstGeom>
          <a:ln w="25400">
            <a:solidFill>
              <a:srgbClr val="1CB8B2"/>
            </a:solidFill>
            <a:prstDash val="solid"/>
          </a:ln>
        </p:spPr>
      </p:sp>
      <p:sp>
        <p:nvSpPr>
          <p:cNvPr id="239" name="Shape 233"/>
          <p:cNvSpPr/>
          <p:nvPr/>
        </p:nvSpPr>
        <p:spPr>
          <a:xfrm>
            <a:off x="9774936" y="1828800"/>
            <a:ext cx="246888" cy="246888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240" name="Text 234"/>
          <p:cNvSpPr txBox="1"/>
          <p:nvPr/>
        </p:nvSpPr>
        <p:spPr>
          <a:xfrm>
            <a:off x="9774936" y="18288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241" name="Text 235"/>
          <p:cNvSpPr txBox="1"/>
          <p:nvPr/>
        </p:nvSpPr>
        <p:spPr>
          <a:xfrm>
            <a:off x="9683496" y="4526280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Severity map</a:t>
            </a:r>
            <a:endParaRPr lang="en-US" sz="1250" dirty="0"/>
          </a:p>
        </p:txBody>
      </p:sp>
      <p:sp>
        <p:nvSpPr>
          <p:cNvPr id="242" name="Shape 236"/>
          <p:cNvSpPr/>
          <p:nvPr/>
        </p:nvSpPr>
        <p:spPr>
          <a:xfrm>
            <a:off x="676656" y="5394960"/>
            <a:ext cx="566928" cy="566928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243" name="Shape 237"/>
          <p:cNvSpPr/>
          <p:nvPr/>
        </p:nvSpPr>
        <p:spPr>
          <a:xfrm>
            <a:off x="822960" y="5541264"/>
            <a:ext cx="201168" cy="201168"/>
          </a:xfrm>
          <a:prstGeom prst="ellipse">
            <a:avLst/>
          </a:prstGeom>
          <a:ln w="38100">
            <a:solidFill>
              <a:srgbClr val="FFFFFF"/>
            </a:solidFill>
            <a:prstDash val="solid"/>
          </a:ln>
        </p:spPr>
      </p:sp>
      <p:sp>
        <p:nvSpPr>
          <p:cNvPr id="244" name="Shape 238"/>
          <p:cNvSpPr/>
          <p:nvPr/>
        </p:nvSpPr>
        <p:spPr>
          <a:xfrm>
            <a:off x="996696" y="5715000"/>
            <a:ext cx="100584" cy="100584"/>
          </a:xfrm>
          <a:prstGeom prst="line">
            <a:avLst/>
          </a:prstGeom>
          <a:noFill/>
          <a:ln w="50800">
            <a:solidFill>
              <a:srgbClr val="FFFFFF"/>
            </a:solidFill>
            <a:prstDash val="solid"/>
          </a:ln>
        </p:spPr>
      </p:sp>
      <p:sp>
        <p:nvSpPr>
          <p:cNvPr id="245" name="Text 239"/>
          <p:cNvSpPr txBox="1"/>
          <p:nvPr/>
        </p:nvSpPr>
        <p:spPr>
          <a:xfrm>
            <a:off x="1371600" y="53949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detection</a:t>
            </a:r>
            <a:endParaRPr lang="en-US" sz="1400" dirty="0"/>
          </a:p>
        </p:txBody>
      </p:sp>
      <p:sp>
        <p:nvSpPr>
          <p:cNvPr id="246" name="Shape 240"/>
          <p:cNvSpPr/>
          <p:nvPr/>
        </p:nvSpPr>
        <p:spPr>
          <a:xfrm>
            <a:off x="2939796" y="5394960"/>
            <a:ext cx="566928" cy="566928"/>
          </a:xfrm>
          <a:prstGeom prst="ellipse">
            <a:avLst/>
          </a:prstGeom>
          <a:solidFill>
            <a:srgbClr val="7DBE4B"/>
          </a:solidFill>
          <a:ln/>
        </p:spPr>
      </p:sp>
      <p:sp>
        <p:nvSpPr>
          <p:cNvPr id="247" name="Shape 241"/>
          <p:cNvSpPr/>
          <p:nvPr/>
        </p:nvSpPr>
        <p:spPr>
          <a:xfrm>
            <a:off x="3067812" y="5522976"/>
            <a:ext cx="310896" cy="310896"/>
          </a:xfrm>
          <a:prstGeom prst="ellipse">
            <a:avLst/>
          </a:prstGeom>
          <a:ln w="31750">
            <a:solidFill>
              <a:srgbClr val="FFFFFF"/>
            </a:solidFill>
            <a:prstDash val="solid"/>
          </a:ln>
        </p:spPr>
      </p:sp>
      <p:sp>
        <p:nvSpPr>
          <p:cNvPr id="248" name="Shape 242"/>
          <p:cNvSpPr/>
          <p:nvPr/>
        </p:nvSpPr>
        <p:spPr>
          <a:xfrm>
            <a:off x="3140964" y="5596128"/>
            <a:ext cx="164592" cy="164592"/>
          </a:xfrm>
          <a:prstGeom prst="ellipse">
            <a:avLst/>
          </a:prstGeom>
          <a:ln w="31750">
            <a:solidFill>
              <a:srgbClr val="FFFFFF"/>
            </a:solidFill>
            <a:prstDash val="solid"/>
          </a:ln>
        </p:spPr>
      </p:sp>
      <p:sp>
        <p:nvSpPr>
          <p:cNvPr id="249" name="Shape 243"/>
          <p:cNvSpPr/>
          <p:nvPr/>
        </p:nvSpPr>
        <p:spPr>
          <a:xfrm>
            <a:off x="3195828" y="5650992"/>
            <a:ext cx="54864" cy="548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0" name="Text 244"/>
          <p:cNvSpPr txBox="1"/>
          <p:nvPr/>
        </p:nvSpPr>
        <p:spPr>
          <a:xfrm>
            <a:off x="3634740" y="53949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Targeted spraying</a:t>
            </a:r>
            <a:endParaRPr lang="en-US" sz="1400" dirty="0"/>
          </a:p>
        </p:txBody>
      </p:sp>
      <p:sp>
        <p:nvSpPr>
          <p:cNvPr id="251" name="Shape 245"/>
          <p:cNvSpPr/>
          <p:nvPr/>
        </p:nvSpPr>
        <p:spPr>
          <a:xfrm>
            <a:off x="5202936" y="5394960"/>
            <a:ext cx="566928" cy="566928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252" name="Shape 246"/>
          <p:cNvSpPr/>
          <p:nvPr/>
        </p:nvSpPr>
        <p:spPr>
          <a:xfrm>
            <a:off x="5376672" y="5522976"/>
            <a:ext cx="219456" cy="301752"/>
          </a:xfrm>
          <a:custGeom>
            <a:avLst/>
            <a:gdLst/>
            <a:ahLst/>
            <a:cxnLst/>
            <a:rect l="l" t="t" r="r" b="b"/>
            <a:pathLst>
              <a:path w="219456" h="301752">
                <a:moveTo>
                  <a:pt x="109728" y="0"/>
                </a:moveTo>
                <a:cubicBezTo>
                  <a:pt x="131674" y="54315"/>
                  <a:pt x="219456" y="120701"/>
                  <a:pt x="219456" y="196139"/>
                </a:cubicBezTo>
                <a:cubicBezTo>
                  <a:pt x="219456" y="265542"/>
                  <a:pt x="171176" y="301752"/>
                  <a:pt x="109728" y="301752"/>
                </a:cubicBezTo>
                <a:cubicBezTo>
                  <a:pt x="48280" y="301752"/>
                  <a:pt x="0" y="265542"/>
                  <a:pt x="0" y="196139"/>
                </a:cubicBezTo>
                <a:cubicBezTo>
                  <a:pt x="0" y="120701"/>
                  <a:pt x="87782" y="54315"/>
                  <a:pt x="10972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3" name="Shape 247"/>
          <p:cNvSpPr/>
          <p:nvPr/>
        </p:nvSpPr>
        <p:spPr>
          <a:xfrm>
            <a:off x="5422392" y="5715000"/>
            <a:ext cx="128016" cy="32004"/>
          </a:xfrm>
          <a:prstGeom prst="rect">
            <a:avLst/>
          </a:prstGeom>
          <a:solidFill>
            <a:srgbClr val="1CB8B2"/>
          </a:solidFill>
          <a:ln/>
        </p:spPr>
      </p:sp>
      <p:sp>
        <p:nvSpPr>
          <p:cNvPr id="254" name="Text 248"/>
          <p:cNvSpPr txBox="1"/>
          <p:nvPr/>
        </p:nvSpPr>
        <p:spPr>
          <a:xfrm>
            <a:off x="5897880" y="53949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fungicide</a:t>
            </a:r>
            <a:endParaRPr lang="en-US" sz="1400" dirty="0"/>
          </a:p>
        </p:txBody>
      </p:sp>
      <p:sp>
        <p:nvSpPr>
          <p:cNvPr id="255" name="Shape 249"/>
          <p:cNvSpPr/>
          <p:nvPr/>
        </p:nvSpPr>
        <p:spPr>
          <a:xfrm>
            <a:off x="7466076" y="5394960"/>
            <a:ext cx="566928" cy="566928"/>
          </a:xfrm>
          <a:prstGeom prst="ellipse">
            <a:avLst/>
          </a:prstGeom>
          <a:solidFill>
            <a:srgbClr val="7DBE4B"/>
          </a:solidFill>
          <a:ln/>
        </p:spPr>
      </p:sp>
      <p:sp>
        <p:nvSpPr>
          <p:cNvPr id="256" name="Shape 250"/>
          <p:cNvSpPr/>
          <p:nvPr/>
        </p:nvSpPr>
        <p:spPr>
          <a:xfrm>
            <a:off x="7621524" y="5522976"/>
            <a:ext cx="256032" cy="310896"/>
          </a:xfrm>
          <a:custGeom>
            <a:avLst/>
            <a:gdLst/>
            <a:ahLst/>
            <a:cxnLst/>
            <a:rect l="l" t="t" r="r" b="b"/>
            <a:pathLst>
              <a:path w="256032" h="310896">
                <a:moveTo>
                  <a:pt x="128016" y="0"/>
                </a:moveTo>
                <a:lnTo>
                  <a:pt x="256032" y="49743"/>
                </a:lnTo>
                <a:lnTo>
                  <a:pt x="256032" y="155448"/>
                </a:lnTo>
                <a:cubicBezTo>
                  <a:pt x="256032" y="242499"/>
                  <a:pt x="192024" y="289133"/>
                  <a:pt x="128016" y="310896"/>
                </a:cubicBezTo>
                <a:cubicBezTo>
                  <a:pt x="64008" y="289133"/>
                  <a:pt x="0" y="242499"/>
                  <a:pt x="0" y="155448"/>
                </a:cubicBezTo>
                <a:lnTo>
                  <a:pt x="0" y="4974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7" name="Shape 251"/>
          <p:cNvSpPr/>
          <p:nvPr/>
        </p:nvSpPr>
        <p:spPr>
          <a:xfrm>
            <a:off x="7685532" y="5678424"/>
            <a:ext cx="45720" cy="54864"/>
          </a:xfrm>
          <a:prstGeom prst="line">
            <a:avLst/>
          </a:prstGeom>
          <a:noFill/>
          <a:ln w="31750">
            <a:solidFill>
              <a:srgbClr val="7DBE4B"/>
            </a:solidFill>
            <a:prstDash val="solid"/>
          </a:ln>
        </p:spPr>
      </p:sp>
      <p:sp>
        <p:nvSpPr>
          <p:cNvPr id="258" name="Shape 252"/>
          <p:cNvSpPr/>
          <p:nvPr/>
        </p:nvSpPr>
        <p:spPr>
          <a:xfrm flipV="1">
            <a:off x="7731252" y="5623560"/>
            <a:ext cx="82296" cy="109728"/>
          </a:xfrm>
          <a:prstGeom prst="line">
            <a:avLst/>
          </a:prstGeom>
          <a:noFill/>
          <a:ln w="31750">
            <a:solidFill>
              <a:srgbClr val="7DBE4B"/>
            </a:solidFill>
            <a:prstDash val="solid"/>
          </a:ln>
        </p:spPr>
      </p:sp>
      <p:sp>
        <p:nvSpPr>
          <p:cNvPr id="259" name="Text 253"/>
          <p:cNvSpPr txBox="1"/>
          <p:nvPr/>
        </p:nvSpPr>
        <p:spPr>
          <a:xfrm>
            <a:off x="8161020" y="53949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Protected yield</a:t>
            </a:r>
            <a:endParaRPr lang="en-US" sz="1400" dirty="0"/>
          </a:p>
        </p:txBody>
      </p:sp>
      <p:sp>
        <p:nvSpPr>
          <p:cNvPr id="260" name="Shape 254"/>
          <p:cNvSpPr/>
          <p:nvPr/>
        </p:nvSpPr>
        <p:spPr>
          <a:xfrm>
            <a:off x="9720072" y="5394960"/>
            <a:ext cx="566928" cy="566928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261" name="Shape 255"/>
          <p:cNvSpPr/>
          <p:nvPr/>
        </p:nvSpPr>
        <p:spPr>
          <a:xfrm>
            <a:off x="9893808" y="5522976"/>
            <a:ext cx="219456" cy="301752"/>
          </a:xfrm>
          <a:custGeom>
            <a:avLst/>
            <a:gdLst/>
            <a:ahLst/>
            <a:cxnLst/>
            <a:rect l="l" t="t" r="r" b="b"/>
            <a:pathLst>
              <a:path w="219456" h="301752">
                <a:moveTo>
                  <a:pt x="109728" y="0"/>
                </a:moveTo>
                <a:cubicBezTo>
                  <a:pt x="131674" y="54315"/>
                  <a:pt x="219456" y="120701"/>
                  <a:pt x="219456" y="196139"/>
                </a:cubicBezTo>
                <a:cubicBezTo>
                  <a:pt x="219456" y="265542"/>
                  <a:pt x="171176" y="301752"/>
                  <a:pt x="109728" y="301752"/>
                </a:cubicBezTo>
                <a:cubicBezTo>
                  <a:pt x="48280" y="301752"/>
                  <a:pt x="0" y="265542"/>
                  <a:pt x="0" y="196139"/>
                </a:cubicBezTo>
                <a:cubicBezTo>
                  <a:pt x="0" y="120701"/>
                  <a:pt x="87782" y="54315"/>
                  <a:pt x="10972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2" name="Text 256"/>
          <p:cNvSpPr txBox="1"/>
          <p:nvPr/>
        </p:nvSpPr>
        <p:spPr>
          <a:xfrm>
            <a:off x="10415016" y="53949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Cleaner soil &amp; water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MuDAS-AI Conceptual Framework</dc:title>
  <dc:subject>PptxGenJS Presentation</dc:subject>
  <dc:creator>PptxGenJS</dc:creator>
  <cp:lastModifiedBy>PptxGenJS</cp:lastModifiedBy>
  <cp:revision>1</cp:revision>
  <dcterms:created xsi:type="dcterms:W3CDTF">2026-10-07T14:05:36Z</dcterms:created>
  <dcterms:modified xsi:type="dcterms:W3CDTF">2026-10-07T14:05:36Z</dcterms:modified>
</cp:coreProperties>
</file>