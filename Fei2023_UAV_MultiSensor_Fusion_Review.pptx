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per" id="{991ff6c8-a895-4d57-7657-15c08eccbe80}">
          <p14:sldIdLst>
            <p14:sldId id="256"/>
            <p14:sldId id="257"/>
            <p14:sldId id="258"/>
            <p14:sldId id="259"/>
          </p14:sldIdLst>
        </p14:section>
        <p14:section name="Methods" id="{6b20229c-3461-4388-3b8f-cdc110221df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" id="{47d6b15e-bf08-ae40-0a01-a57b6c5309cd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Discussion" id="{b5837993-69dc-c1db-7937-dfee0fe0dd32}">
          <p14:sldIdLst>
            <p14:sldId id="277"/>
            <p14:sldId id="278"/>
          </p14:sldIdLst>
        </p14:section>
        <p14:section name="Use in MuDAS-AI" id="{f01e0044-7570-7f0c-cccc-13df68d6a3fa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in this deck are screenshots from the paper (Fei et al., 2023). Numbers are quoted from the paper's text and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60520"/>
            <a:ext cx="12801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110642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389120"/>
            <a:ext cx="110642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3" name="Shape 0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Fei et al. (2023) Precision Agriculture 24:187–212 · reviewed for MuDAS-AI (white rust, mustard)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UAV-based multi-sensor data fusion and machine learning algorithm for yield prediction in wheat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3891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Fei, S., Hassan, M.A., Xiao, Y., Su, X., Chen, Z., Cheng, Q., Duan, F., Chen, R., Ma, Y. (2023). Precision Agriculture 24, 187–212. doi:10.1007/s11119-022-09938-8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Paper review and its use in MuDAS-AI · Animesh Panda, ICAR-IARI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The paper at a glance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180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plots (30 cultivars × 3 irrigation × 2 reps)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2152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UAV sensors: RGB, multispectral, thermal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64224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5 + 1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ML base learners + stacking (ridge)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0.692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best test R² (all sensors, stacking)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5321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272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1089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Question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6616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Does fusing UAV </a:t>
            </a:r>
            <a:r>
              <a:rPr lang="en-US" sz="1400" b="1" dirty="0">
                <a:solidFill>
                  <a:schemeClr val="tx1"/>
                </a:solidFill>
              </a:rPr>
              <a:t>RGB + multispectral + thermal</a:t>
            </a:r>
            <a:r>
              <a:rPr lang="en-US" sz="1400" dirty="0">
                <a:solidFill>
                  <a:schemeClr val="tx1"/>
                </a:solidFill>
              </a:rPr>
              <a:t> features improve wheat grain-yield prediction?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Does </a:t>
            </a:r>
            <a:r>
              <a:rPr lang="en-US" sz="1400" b="1" dirty="0">
                <a:solidFill>
                  <a:schemeClr val="tx1"/>
                </a:solidFill>
              </a:rPr>
              <a:t>stacking ensemble learning</a:t>
            </a:r>
            <a:r>
              <a:rPr lang="en-US" sz="1400" dirty="0">
                <a:solidFill>
                  <a:schemeClr val="tx1"/>
                </a:solidFill>
              </a:rPr>
              <a:t> beat the best single ML model?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3017520"/>
            <a:ext cx="55321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9632" y="31272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2512" y="31089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56616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Fusion raised R² by </a:t>
            </a:r>
            <a:r>
              <a:rPr lang="en-US" sz="1400" b="1" dirty="0">
                <a:solidFill>
                  <a:schemeClr val="tx1"/>
                </a:solidFill>
              </a:rPr>
              <a:t>up to 31%</a:t>
            </a:r>
            <a:r>
              <a:rPr lang="en-US" sz="1400" dirty="0">
                <a:solidFill>
                  <a:schemeClr val="tx1"/>
                </a:solidFill>
              </a:rPr>
              <a:t> over single sensors; stacking by </a:t>
            </a:r>
            <a:r>
              <a:rPr lang="en-US" sz="1400" b="1" dirty="0">
                <a:solidFill>
                  <a:schemeClr val="tx1"/>
                </a:solidFill>
              </a:rPr>
              <a:t>up to 5%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Sensors were </a:t>
            </a:r>
            <a:r>
              <a:rPr lang="en-US" sz="1400" b="1" dirty="0">
                <a:solidFill>
                  <a:schemeClr val="tx1"/>
                </a:solidFill>
              </a:rPr>
              <a:t>complementary</a:t>
            </a:r>
            <a:r>
              <a:rPr lang="en-US" sz="1400" dirty="0">
                <a:solidFill>
                  <a:schemeClr val="tx1"/>
                </a:solidFill>
              </a:rPr>
              <a:t> (VIF &lt; 5 between sensor predictions); ML models were </a:t>
            </a:r>
            <a:r>
              <a:rPr lang="en-US" sz="1400" b="1" dirty="0">
                <a:solidFill>
                  <a:schemeClr val="tx1"/>
                </a:solidFill>
              </a:rPr>
              <a:t>redundant</a:t>
            </a:r>
            <a:r>
              <a:rPr lang="en-US" sz="1400" dirty="0">
                <a:solidFill>
                  <a:schemeClr val="tx1"/>
                </a:solidFill>
              </a:rPr>
              <a:t> (VIF &gt; 10)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RGB + thermal</a:t>
            </a:r>
            <a:r>
              <a:rPr lang="en-US" sz="1400" dirty="0">
                <a:solidFill>
                  <a:schemeClr val="tx1"/>
                </a:solidFill>
              </a:rPr>
              <a:t> alone was almost as good as all three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same three sensor types as MuDAS-AI (MicaSense RedEdge-MX is the identical MS camera), same plot-level feature fusion, and texture computed on thermal and height maps.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Background and research gap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42976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UAV phenotyping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337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Yield estimation from secondary traits is destructive, slow and costly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UAV sensors give low-cost, high-throughput phenotyping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</a:t>
            </a:r>
            <a:r>
              <a:rPr lang="en-US" sz="1400" b="1" dirty="0">
                <a:solidFill>
                  <a:schemeClr val="tx1"/>
                </a:solidFill>
              </a:rPr>
              <a:t>single sensor</a:t>
            </a:r>
            <a:r>
              <a:rPr lang="en-US" sz="1400" dirty="0">
                <a:solidFill>
                  <a:schemeClr val="tx1"/>
                </a:solidFill>
              </a:rPr>
              <a:t> has limits for complex traits such as yield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70248" y="1188720"/>
            <a:ext cx="3657600" cy="42976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270248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fusion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737360"/>
            <a:ext cx="3337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RGB, MS and thermal carry </a:t>
            </a:r>
            <a:r>
              <a:rPr lang="en-US" sz="1400" b="1" dirty="0">
                <a:solidFill>
                  <a:schemeClr val="tx1"/>
                </a:solidFill>
              </a:rPr>
              <a:t>spectral, structural, textural and temperature</a:t>
            </a:r>
            <a:r>
              <a:rPr lang="en-US" sz="1400" dirty="0">
                <a:solidFill>
                  <a:schemeClr val="tx1"/>
                </a:solidFill>
              </a:rPr>
              <a:t> information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Fusion improved chlorophyll, biomass, LAI, N and yield estimates in earlier work (e.g. Maimaitijiang et al., 2017, 2020)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74152" y="1188720"/>
            <a:ext cx="3657600" cy="42976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4152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57032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ensemble learning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1737360"/>
            <a:ext cx="3337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best ML model changes with crop, trait and site (RF best for wheat biomass, poor for alfalfa yield)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models overfit with small training sets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Stacking</a:t>
            </a:r>
            <a:r>
              <a:rPr lang="en-US" sz="1400" dirty="0">
                <a:solidFill>
                  <a:schemeClr val="tx1"/>
                </a:solidFill>
              </a:rPr>
              <a:t> (Wolpert, 1992) combines diverse learners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Gap:</a:t>
            </a:r>
            <a:r>
              <a:rPr lang="en-US" sz="1400" dirty="0">
                <a:solidFill>
                  <a:schemeClr val="tx1"/>
                </a:solidFill>
              </a:rPr>
              <a:t> no wheat-yield study had combined multiple sensors </a:t>
            </a:r>
            <a:r>
              <a:rPr lang="en-US" sz="1400" b="1" dirty="0">
                <a:solidFill>
                  <a:schemeClr val="tx1"/>
                </a:solidFill>
              </a:rPr>
              <a:t>with</a:t>
            </a:r>
            <a:r>
              <a:rPr lang="en-US" sz="1400" dirty="0">
                <a:solidFill>
                  <a:schemeClr val="tx1"/>
                </a:solidFill>
              </a:rPr>
              <a:t> stacking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the same argument holds for white rust: one sensor sees one symptom; fusion and a fair comparison of models is the thesis contribution.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Objectives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920240" y="1371600"/>
            <a:ext cx="97840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37160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UAV-based </a:t>
            </a:r>
            <a:r>
              <a:rPr lang="en-US" sz="2000" b="1" dirty="0">
                <a:solidFill>
                  <a:schemeClr val="tx1"/>
                </a:solidFill>
              </a:rPr>
              <a:t>multi-sensor data fusion</a:t>
            </a:r>
            <a:r>
              <a:rPr lang="en-US" sz="2000" dirty="0">
                <a:solidFill>
                  <a:schemeClr val="tx1"/>
                </a:solidFill>
              </a:rPr>
              <a:t> (RGB, MS, TIR) for wheat yield prediction at the </a:t>
            </a:r>
            <a:r>
              <a:rPr lang="en-US" sz="2000" b="1" dirty="0">
                <a:solidFill>
                  <a:schemeClr val="tx1"/>
                </a:solidFill>
              </a:rPr>
              <a:t>grain-filling stage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920240" y="3154680"/>
            <a:ext cx="97840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48840" y="315468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Develop an </a:t>
            </a:r>
            <a:r>
              <a:rPr lang="en-US" sz="2000" b="1" dirty="0">
                <a:solidFill>
                  <a:schemeClr val="tx1"/>
                </a:solidFill>
              </a:rPr>
              <a:t>ensemble (stacking) learning framework</a:t>
            </a:r>
            <a:r>
              <a:rPr lang="en-US" sz="2000" dirty="0">
                <a:solidFill>
                  <a:schemeClr val="tx1"/>
                </a:solidFill>
              </a:rPr>
              <a:t> to improve the yield-prediction accuracy of individual ML models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512064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512064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your Objective O3 (fusion) and the decision-level comparison (E3) map onto these two objectives one-to-one.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Experimental design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FIELD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7022592" cy="2554745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1 – Experimental layout: three irrigation blocks, two replicates (Fei et al., 202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949440" cy="24815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743465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1 – Experimental layout: three irrigation blocks, two replicates (Fei et al., 2023)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80960" y="1188720"/>
            <a:ext cx="4050792" cy="4343400"/>
          </a:xfrm>
          <a:prstGeom prst="roundRect">
            <a:avLst>
              <a:gd name="adj" fmla="val 1806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128016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Design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737360"/>
            <a:ext cx="37307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CAAS research station, </a:t>
            </a:r>
            <a:r>
              <a:rPr lang="en-US" sz="1350" b="1" dirty="0">
                <a:solidFill>
                  <a:schemeClr val="tx1"/>
                </a:solidFill>
              </a:rPr>
              <a:t>Xinxiang, Henan, China</a:t>
            </a:r>
            <a:r>
              <a:rPr lang="en-US" sz="1350" dirty="0">
                <a:solidFill>
                  <a:schemeClr val="tx1"/>
                </a:solidFill>
              </a:rPr>
              <a:t>; season 2019–2020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30 cultivars</a:t>
            </a:r>
            <a:r>
              <a:rPr lang="en-US" sz="1350" dirty="0">
                <a:solidFill>
                  <a:schemeClr val="tx1"/>
                </a:solidFill>
              </a:rPr>
              <a:t> of the Yellow and Huai Valleys winter wheat zone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3 irrigation treatments</a:t>
            </a:r>
            <a:r>
              <a:rPr lang="en-US" sz="1350" dirty="0">
                <a:solidFill>
                  <a:schemeClr val="tx1"/>
                </a:solidFill>
              </a:rPr>
              <a:t>: light, moderate, high (sprinkler)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Randomised blocks, 2 replicates → </a:t>
            </a:r>
            <a:r>
              <a:rPr lang="en-US" sz="1350" b="1" dirty="0">
                <a:solidFill>
                  <a:schemeClr val="tx1"/>
                </a:solidFill>
              </a:rPr>
              <a:t>180 plots</a:t>
            </a:r>
            <a:r>
              <a:rPr lang="en-US" sz="1350" dirty="0">
                <a:solidFill>
                  <a:schemeClr val="tx1"/>
                </a:solidFill>
              </a:rPr>
              <a:t> of 8 m × 1.4 m (11.2 m²), 6 rows at 0.20 m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Fertiliser, pests and diseases managed optimally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4348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Irrigation creates a wide yield range, which helps the models; it also means part of the signal is the treatment itself (see limitations).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your 48 plots (12 control, 36 inoculated) are the same plot-level design; inoculation plays the role that irrigation plays 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Growing conditions and measured yield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FIELD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925312" cy="3399556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2 – Sunshine, max temperature, precipitation and irrigation volume by st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852160" cy="33264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8827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2 – Sunshine, max temperature, precipitation and irrigation volume by stage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55664" y="1152144"/>
            <a:ext cx="5312664" cy="2713245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8" name="Image 1" descr="Fig. 3 – Measured yield by irrigation (t-test, P &lt; 0.001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239512" cy="26400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3901965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3 – Measured yield by irrigation (t-test, P &lt; 0.001)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4343400"/>
            <a:ext cx="5239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Plots harvested by plot combine in early June; grain weighed at ~12.5% moisture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Yield differed significantly between all three irrigation levels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record weather on every flight date (thermal features depend on it) and test treatment effects on the label first, as in Fig. 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UAV platform and sensors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ACQUISITION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4291" y="1152144"/>
            <a:ext cx="5492218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4 – DJI M210 with Red-Edge MX and Zenmuse XT2; crop at acquisi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67" y="1188720"/>
            <a:ext cx="541906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4 – DJI M210 with Red-Edge MX and Zenmuse XT2; crop at acquisition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88720"/>
          <a:ext cx="55138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1993392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Camera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Band / range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Red-Edge MX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Multispectral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 475, G 560, R 668, RE 717, NIR 842 nm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1280 × 960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Zenmuse XT2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Thermal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7.5–13.5 µm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640 × 512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Zenmuse XT2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RGB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visible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4000 × 3000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17920" y="3017520"/>
            <a:ext cx="55138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MS bandwidths: 10 nm (red, red edge), 20 nm (blue, green), 40 nm (NIR)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Sunlight sensor (DLS) on the MS camera corrects ambient light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Flights only at </a:t>
            </a:r>
            <a:r>
              <a:rPr lang="en-US" sz="1350" b="1" dirty="0">
                <a:solidFill>
                  <a:schemeClr val="tx1"/>
                </a:solidFill>
              </a:rPr>
              <a:t>grain filling</a:t>
            </a:r>
            <a:r>
              <a:rPr lang="en-US" sz="1350" dirty="0">
                <a:solidFill>
                  <a:schemeClr val="tx1"/>
                </a:solidFill>
              </a:rPr>
              <a:t>: a stage known to give good yield predictions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the MS camera and bands are identical to your MicaSense RedEdge-MX, so their MS indices can be copied directly.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Flight settings and radiometric calibration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ACQUISITION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Flights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11:00–13:00, clear sky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30 m</a:t>
            </a:r>
            <a:r>
              <a:rPr lang="en-US" sz="1350" dirty="0">
                <a:solidFill>
                  <a:schemeClr val="tx1"/>
                </a:solidFill>
              </a:rPr>
              <a:t> altitude, </a:t>
            </a:r>
            <a:r>
              <a:rPr lang="en-US" sz="1350" b="1" dirty="0">
                <a:solidFill>
                  <a:schemeClr val="tx1"/>
                </a:solidFill>
              </a:rPr>
              <a:t>85% front / 80% side</a:t>
            </a:r>
            <a:r>
              <a:rPr lang="en-US" sz="1350" dirty="0">
                <a:solidFill>
                  <a:schemeClr val="tx1"/>
                </a:solidFill>
              </a:rPr>
              <a:t> overlap, all cameras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Built-in GNSS + </a:t>
            </a:r>
            <a:r>
              <a:rPr lang="en-US" sz="1350" b="1" dirty="0">
                <a:solidFill>
                  <a:schemeClr val="tx1"/>
                </a:solidFill>
              </a:rPr>
              <a:t>GCPs</a:t>
            </a:r>
            <a:r>
              <a:rPr lang="en-US" sz="1350" dirty="0">
                <a:solidFill>
                  <a:schemeClr val="tx1"/>
                </a:solidFill>
              </a:rPr>
              <a:t> surveyed with differential GNSS (mm precision)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Mission planning: DJI Ground Station Pro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0248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270248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Multispectral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Calibration board imaged </a:t>
            </a:r>
            <a:r>
              <a:rPr lang="en-US" sz="1350" b="1" dirty="0">
                <a:solidFill>
                  <a:schemeClr val="tx1"/>
                </a:solidFill>
              </a:rPr>
              <a:t>before and after each flight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DN → reflectance with known panel reflectance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DLS corrects irradiance changes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4152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4152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57032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Thermal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Blackboard targets; surface temperature measured with a </a:t>
            </a:r>
            <a:r>
              <a:rPr lang="en-US" sz="1350" b="1" dirty="0">
                <a:solidFill>
                  <a:schemeClr val="tx1"/>
                </a:solidFill>
              </a:rPr>
              <a:t>portable thermometer</a:t>
            </a:r>
            <a:r>
              <a:rPr lang="en-US" sz="1350" dirty="0">
                <a:solidFill>
                  <a:schemeClr val="tx1"/>
                </a:solidFill>
              </a:rPr>
              <a:t> during flights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Linear DN → temperature: </a:t>
            </a:r>
            <a:r>
              <a:rPr lang="en-US" sz="1350" b="1" dirty="0">
                <a:solidFill>
                  <a:schemeClr val="tx1"/>
                </a:solidFill>
              </a:rPr>
              <a:t>T = 0.2813·DN − 295.98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Check: R² = 0.94, RMSE = 1.73 °C (Fig. 6a)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Canopy temperature differed between irrigation levels (Fig. 6b)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copy the thermal procedure: reference boards in every flight, handheld IR thermometer readings, a per-flight linear calibration, and report its R²/RMSE.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Image processing and feature extraction workflow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PROCESSING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0366" y="1152144"/>
            <a:ext cx="5405828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5 – Data acquisition, processing and feature extraction 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942" y="1188720"/>
            <a:ext cx="533267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5 – Data acquisition, processing and feature extraction workflow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92240" y="1188720"/>
            <a:ext cx="523951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649224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0" y="128016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Steps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737360"/>
            <a:ext cx="491947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Pix4Dmapper:</a:t>
            </a:r>
            <a:r>
              <a:rPr lang="en-US" sz="1350" dirty="0">
                <a:solidFill>
                  <a:schemeClr val="tx1"/>
                </a:solidFill>
              </a:rPr>
              <a:t> geolocation, GCP import, alignment, dense point cloud (SfM), DSM and orthomosaics, radiometric calibration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ArcMap 10.5:</a:t>
            </a:r>
            <a:r>
              <a:rPr lang="en-US" sz="1350" dirty="0">
                <a:solidFill>
                  <a:schemeClr val="tx1"/>
                </a:solidFill>
              </a:rPr>
              <a:t> 180 plot polygons; plot </a:t>
            </a:r>
            <a:r>
              <a:rPr lang="en-US" sz="1350" b="1" dirty="0">
                <a:solidFill>
                  <a:schemeClr val="tx1"/>
                </a:solidFill>
              </a:rPr>
              <a:t>edges omitted</a:t>
            </a:r>
            <a:r>
              <a:rPr lang="en-US" sz="1350" dirty="0">
                <a:solidFill>
                  <a:schemeClr val="tx1"/>
                </a:solidFill>
              </a:rPr>
              <a:t> to avoid border effects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ENVI 5.3:</a:t>
            </a:r>
            <a:r>
              <a:rPr lang="en-US" sz="1350" dirty="0">
                <a:solidFill>
                  <a:schemeClr val="tx1"/>
                </a:solidFill>
              </a:rPr>
              <a:t> vegetation indices and GLCM texture from the rasters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Plot feature = mean of all pixel values</a:t>
            </a:r>
            <a:r>
              <a:rPr lang="en-US" sz="1350" dirty="0">
                <a:solidFill>
                  <a:schemeClr val="tx1"/>
                </a:solidFill>
              </a:rPr>
              <a:t> inside the polygon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R:</a:t>
            </a:r>
            <a:r>
              <a:rPr lang="en-US" sz="1350" dirty="0">
                <a:solidFill>
                  <a:schemeClr val="tx1"/>
                </a:solidFill>
              </a:rPr>
              <a:t> models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same structure as your s01–s05 pipeline: orthomosaics → plot polygons with inset → per-plot features from every sensor.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Validating canopy temperature and crop height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QUALITY CHECKS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25782" y="1152144"/>
            <a:ext cx="4514996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6 – (a) thermal calibration; (b) canopy temperature by treatment; (c) UAV vs measured height; (d) height by treat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358" y="1188720"/>
            <a:ext cx="4441844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6 – (a) thermal calibration; (b) canopy temperature by treatment; (c) UAV vs measured height; (d) height by treatment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92240" y="1188720"/>
            <a:ext cx="523951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6492240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0" y="128016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Crop height model (CHM)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737360"/>
            <a:ext cx="491947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Bare-soil DEM</a:t>
            </a:r>
            <a:r>
              <a:rPr lang="en-US" sz="1350" dirty="0">
                <a:solidFill>
                  <a:schemeClr val="tx1"/>
                </a:solidFill>
              </a:rPr>
              <a:t> from RGB flight before emergence (24 Oct 2019)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DSM</a:t>
            </a:r>
            <a:r>
              <a:rPr lang="en-US" sz="1350" dirty="0">
                <a:solidFill>
                  <a:schemeClr val="tx1"/>
                </a:solidFill>
              </a:rPr>
              <a:t> from RGB flight on 20 Apr 2020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CHM = DSM − DEM</a:t>
            </a:r>
            <a:r>
              <a:rPr lang="en-US" sz="1350" dirty="0">
                <a:solidFill>
                  <a:schemeClr val="tx1"/>
                </a:solidFill>
              </a:rPr>
              <a:t> (pixel by pixel)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Validation: 10 plants per plot measured; </a:t>
            </a:r>
            <a:r>
              <a:rPr lang="en-US" sz="1350" b="1" dirty="0">
                <a:solidFill>
                  <a:schemeClr val="tx1"/>
                </a:solidFill>
              </a:rPr>
              <a:t>R² = 0.84, RMSE = 0.06 m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Height and canopy temperature both differed significantly between irrigation levels (P &lt; 0.001)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fly an RGB bare-soil flight after sowing to get the DEM; then canopy height (stunting, stagheads) becomes a structure feature, validated against measured height.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Features extracted from each sensor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FEATURES (TABLE 2)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3410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Sensor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Vegetation indices / variables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Texture (GLCM, 8 measures each)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RGB (DN values)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INT, IKAW, IPCA, ExR, ExG, ExGR, MGRVI, RGBVI; crop height (DSM − DEM)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 crop height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Multispectral (reflectance)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NDVI, GNDVI, RVI, NDREI, EVI, OSAVI, MCARI, TCARI, NRI, TVI, MSR, SIPI, PSRI, CIRE, MCARI/OSAVI, TCARI/OSAVI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 blue, green, red, red-edge and NIR bands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Thermal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Canopy temperature (CT)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 canopy temperature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11880"/>
            <a:ext cx="112745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GLCM measures:</a:t>
            </a:r>
            <a:r>
              <a:rPr lang="en-US" sz="1350" dirty="0">
                <a:solidFill>
                  <a:schemeClr val="tx1"/>
                </a:solidFill>
              </a:rPr>
              <a:t> mean (ME), variance (VA), homogeneity (HO), contrast (CO), dissimilarity (DI), entropy (EN), second moment (SE), correlation (COR) (Haralick et al., 1973)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8 RGB indices + 16 MS indices (24 VIs), height, CT, and 8 texture measures × 7 layers (height, 5 MS bands, CT)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PSRI is adapted to the camera bands: (R − B)/NIR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most of these features are already in your candidate list; what is new is GLCM texture on canopy temperature and on crop height.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Focus: texture of canopy temperature (thermal GLCM)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KEY IDEA FOR YOUR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4800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thermal orthomosaic (°C) is quantised into grey levels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 </a:t>
            </a:r>
            <a:r>
              <a:rPr lang="en-US" sz="1350" b="1" dirty="0">
                <a:solidFill>
                  <a:schemeClr val="tx1"/>
                </a:solidFill>
              </a:rPr>
              <a:t>grey-level co-occurrence matrix</a:t>
            </a:r>
            <a:r>
              <a:rPr lang="en-US" sz="1350" dirty="0">
                <a:solidFill>
                  <a:schemeClr val="tx1"/>
                </a:solidFill>
              </a:rPr>
              <a:t> P(i, j) counts how often level i sits next to level j (set distance and direction) inside a moving window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8 measures summarise that matrix; ENVI writes one texture raster per measure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</a:t>
            </a:r>
            <a:r>
              <a:rPr lang="en-US" sz="1350" b="1" dirty="0">
                <a:solidFill>
                  <a:schemeClr val="tx1"/>
                </a:solidFill>
              </a:rPr>
              <a:t>plot mean</a:t>
            </a:r>
            <a:r>
              <a:rPr lang="en-US" sz="1350" dirty="0">
                <a:solidFill>
                  <a:schemeClr val="tx1"/>
                </a:solidFill>
              </a:rPr>
              <a:t> of each texture raster is the feature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It describes the </a:t>
            </a:r>
            <a:r>
              <a:rPr lang="en-US" sz="1350" b="1" dirty="0">
                <a:solidFill>
                  <a:schemeClr val="tx1"/>
                </a:solidFill>
              </a:rPr>
              <a:t>spatial heterogeneity of temperature</a:t>
            </a:r>
            <a:r>
              <a:rPr lang="en-US" sz="1350" dirty="0">
                <a:solidFill>
                  <a:schemeClr val="tx1"/>
                </a:solidFill>
              </a:rPr>
              <a:t>, not its level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88720"/>
          <a:ext cx="59253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730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Formula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Mean (ME)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Σ i·P(i,j)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Variance (VA)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Σ (i − µ)²·P(i,j)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Homogeneity (HO)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Σ P(i,j) / (1 + (i − j)²)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Contrast (CO)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Σ (i − j)²·P(i,j)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Dissimilarity (DI)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Σ |i − j|·P(i,j)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Entropy (EN)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−Σ P(i,j)·ln P(i,j)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Second moment (SE)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Σ P(i,j)²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Correlation (COR)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Σ (i − µᵢ)(j − µⱼ)P(i,j) / (σᵢσⱼ)</a:t>
                      </a:r>
                      <a:endParaRPr lang="en-US" sz="13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806440" y="4709160"/>
            <a:ext cx="5925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The paper does not report window size, number of grey levels, distance or direction: fix and report these in your study.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patchy white rust should make canopy temperature more uneven inside a plot: expect higher VA, CO, DI and EN and lower HO and SE in infected plots.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Machine-learning models and hyper-parameters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MODELLING (TABLE 3)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  <a:gridCol w="7251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Hyper-parameters searched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Cubist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Rule-based model trees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Committees 1–25; neighbours 1–9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SVM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Kernel regression (RBF)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Sigma 0.01–0.02 (step 0.0001); C 0.5–0.7 (step 0.01)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DNN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Deep neural network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Units 10–100; epochs 2–120; 1–4 hidden layers; dropout; ReLU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Ridge regression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K (penalty) 0–0.02 (step 0.001)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RF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ntree 1000–10,000 (step 500); mtry 1–100 (step 2)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StRR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Stacking with ridge as level-2 learner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Inputs: out-of-fold predictions of the 5 base learners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11274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diverse learners: rules (Cubist), kernels (SVM), neural networks (DNN), linear (RR) and trees (RF)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Diversity between base learners is what lets stacking add information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use RF, SVM and KNN (your base learners) and add stacking as the decision-level fusion experiment E3; for classes, use a logistic-regression level-2 learner.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Stacking ensemble and nested cross-validation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VALIDATION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87324" y="1152144"/>
            <a:ext cx="5174793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7 – (a) fusion and stacking workflow; (b) outer and inner cross-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00" y="1188720"/>
            <a:ext cx="5101641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7 – (a) fusion and stacking workflow; (b) outer and inner cross-validation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75120" y="1188720"/>
            <a:ext cx="50566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667512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0" y="128016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737360"/>
            <a:ext cx="47365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 split </a:t>
            </a:r>
            <a:r>
              <a:rPr lang="en-US" sz="1300" b="1" dirty="0">
                <a:solidFill>
                  <a:schemeClr val="tx1"/>
                </a:solidFill>
              </a:rPr>
              <a:t>4:1</a:t>
            </a:r>
            <a:r>
              <a:rPr lang="en-US" sz="1300" dirty="0">
                <a:solidFill>
                  <a:schemeClr val="tx1"/>
                </a:solidFill>
              </a:rPr>
              <a:t> into training and test sets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Outer 5-fold CV</a:t>
            </a:r>
            <a:r>
              <a:rPr lang="en-US" sz="1300" dirty="0">
                <a:solidFill>
                  <a:schemeClr val="tx1"/>
                </a:solidFill>
              </a:rPr>
              <a:t> on the training set → out-of-fold predictions of each base learner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Inner 10-fold CV</a:t>
            </a:r>
            <a:r>
              <a:rPr lang="en-US" sz="1300" dirty="0">
                <a:solidFill>
                  <a:schemeClr val="tx1"/>
                </a:solidFill>
              </a:rPr>
              <a:t> inside each outer fold → hyper-parameter tuning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Level 2: ridge regression trained on the out-of-fold prediction matrix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 predictions averaged over the 5 outer models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Whole procedure repeated for </a:t>
            </a:r>
            <a:r>
              <a:rPr lang="en-US" sz="1300" b="1" dirty="0">
                <a:solidFill>
                  <a:schemeClr val="tx1"/>
                </a:solidFill>
              </a:rPr>
              <a:t>80 random splits</a:t>
            </a:r>
            <a:r>
              <a:rPr lang="en-US" sz="1300" dirty="0">
                <a:solidFill>
                  <a:schemeClr val="tx1"/>
                </a:solidFill>
              </a:rPr>
              <a:t> → 400 tests; same splits for every model and sensor set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same nested logic as your plan, but split by plot group so that related plots never sit on both sides (see limitations).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Accuracy metrics and collinearity analysis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METHODS · EVALUATION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Accuracy metrics (mean of 400 tests)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R²</a:t>
            </a:r>
            <a:r>
              <a:rPr lang="en-US" sz="1400" dirty="0">
                <a:solidFill>
                  <a:schemeClr val="tx1"/>
                </a:solidFill>
              </a:rPr>
              <a:t> = 1 − Σ(ŷ − y)² / Σ(y − ȳ)²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RMSE</a:t>
            </a:r>
            <a:r>
              <a:rPr lang="en-US" sz="1400" dirty="0">
                <a:solidFill>
                  <a:schemeClr val="tx1"/>
                </a:solidFill>
              </a:rPr>
              <a:t> = √[Σ(ŷ − y)² / n]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RPD</a:t>
            </a:r>
            <a:r>
              <a:rPr lang="en-US" sz="1400" dirty="0">
                <a:solidFill>
                  <a:schemeClr val="tx1"/>
                </a:solidFill>
              </a:rPr>
              <a:t> = SD / RMSE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RPIQ</a:t>
            </a:r>
            <a:r>
              <a:rPr lang="en-US" sz="1400" dirty="0">
                <a:solidFill>
                  <a:schemeClr val="tx1"/>
                </a:solidFill>
              </a:rPr>
              <a:t> = IQ / RMSE (interquartile range of measured yield)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Lower RMSE and higher R², RPD, RPIQ = better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199632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82512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Variance inflation factor (VIF)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VIF = 1 / (1 − R²ᵢ), regressing one predictor on the others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to </a:t>
            </a:r>
            <a:r>
              <a:rPr lang="en-US" sz="1400" b="1" dirty="0">
                <a:solidFill>
                  <a:schemeClr val="tx1"/>
                </a:solidFill>
              </a:rPr>
              <a:t>model outputs</a:t>
            </a:r>
            <a:r>
              <a:rPr lang="en-US" sz="1400" dirty="0">
                <a:solidFill>
                  <a:schemeClr val="tx1"/>
                </a:solidFill>
              </a:rPr>
              <a:t>, not raw features: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(a) VIF between predictions made from each </a:t>
            </a:r>
            <a:r>
              <a:rPr lang="en-US" sz="1400" b="1" dirty="0">
                <a:solidFill>
                  <a:schemeClr val="tx1"/>
                </a:solidFill>
              </a:rPr>
              <a:t>sensor</a:t>
            </a:r>
            <a:r>
              <a:rPr lang="en-US" sz="1400" dirty="0">
                <a:solidFill>
                  <a:schemeClr val="tx1"/>
                </a:solidFill>
              </a:rPr>
              <a:t> → are the sensors redundant?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(b) VIF between predictions of each </a:t>
            </a:r>
            <a:r>
              <a:rPr lang="en-US" sz="1400" b="1" dirty="0">
                <a:solidFill>
                  <a:schemeClr val="tx1"/>
                </a:solidFill>
              </a:rPr>
              <a:t>ML model</a:t>
            </a:r>
            <a:r>
              <a:rPr lang="en-US" sz="1400" dirty="0">
                <a:solidFill>
                  <a:schemeClr val="tx1"/>
                </a:solidFill>
              </a:rPr>
              <a:t> → are the models redundant?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VIF &gt; 10 = strong collinearity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computing VIF between single-sensor predictions is a simple, quantitative way to show examiners that your sensors are complementary (the multimodality argument).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Results: test accuracy of every sensor set and model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TABLE 4 (R², MEAN OF 400 TESTS)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223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868680"/>
                <a:gridCol w="868680"/>
                <a:gridCol w="868680"/>
                <a:gridCol w="868680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Sensor set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Cubist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SVM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DNN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RF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StRR (stacking)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RGB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0.514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0.597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0.606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0.556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0.605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0.624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MS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0.498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0.502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0.489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0.477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0.509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0.532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TIR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0.529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0.553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0.578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0.563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0.599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0.617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RGB + MS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0.541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0.638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0.648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0.605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0.622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0.662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RGB + TIR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0.527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0.615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0.631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0.603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0.670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0.671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MS + TIR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0.543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0.591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0.596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0.592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0.629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0.640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RGB + MS + TIR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0.563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0.666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0.670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0.630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0.665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0.692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188720"/>
            <a:ext cx="3822192" cy="4343400"/>
          </a:xfrm>
          <a:prstGeom prst="roundRect">
            <a:avLst>
              <a:gd name="adj" fmla="val 1914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909560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92440" y="128016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numbers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737360"/>
            <a:ext cx="35021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Best single sensor: </a:t>
            </a:r>
            <a:r>
              <a:rPr lang="en-US" sz="1300" b="1" dirty="0">
                <a:solidFill>
                  <a:schemeClr val="tx1"/>
                </a:solidFill>
              </a:rPr>
              <a:t>RGB</a:t>
            </a:r>
            <a:r>
              <a:rPr lang="en-US" sz="1300" dirty="0">
                <a:solidFill>
                  <a:schemeClr val="tx1"/>
                </a:solidFill>
              </a:rPr>
              <a:t> (DNN 0.606); MS weakest (≤ 0.532)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Best fusion, single model: DNN 0.670 (all three); RF 0.670 (RGB + TIR)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Best overall: </a:t>
            </a:r>
            <a:r>
              <a:rPr lang="en-US" sz="1300" b="1" dirty="0">
                <a:solidFill>
                  <a:schemeClr val="tx1"/>
                </a:solidFill>
              </a:rPr>
              <a:t>StRR on all sensors</a:t>
            </a:r>
            <a:r>
              <a:rPr lang="en-US" sz="1300" dirty="0">
                <a:solidFill>
                  <a:schemeClr val="tx1"/>
                </a:solidFill>
              </a:rPr>
              <a:t>: R² 0.692, RMSE 0.916 t/ha, RPD 1.771, RPIQ 2.602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Stacking was best in every row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348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Highlighted: best overall (stacking, all sensors) and RGB + TIR with RF, which nearly matches it with one sensor fewer.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build the same table for your 15 sensor combinations × RF/SVM/KNN/stacking, with macro-F1 and weighted kappa instead of R².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Distribution of accuracy over 400 tests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FIGS. 8 AND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6697" y="1152144"/>
            <a:ext cx="3441486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8 – Single sensors: R² and RM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273" y="1188720"/>
            <a:ext cx="3368334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8 – Single sensors: R² and RMSE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24598" y="1152144"/>
            <a:ext cx="2940923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8" name="Image 1" descr="Fig. 9 – Sensor fusion: R² and RM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174" y="1188720"/>
            <a:ext cx="2867771" cy="4069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80560" y="53309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9 – Sensor fusion: R² and RMSE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092440" y="1188720"/>
            <a:ext cx="3639312" cy="4343400"/>
          </a:xfrm>
          <a:prstGeom prst="roundRect">
            <a:avLst>
              <a:gd name="adj" fmla="val 2010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809244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275320" y="12801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Reading the boxplots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1737360"/>
            <a:ext cx="331927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Individual models fluctuate widely between the 400 tests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Stacking narrows the spread</a:t>
            </a:r>
            <a:r>
              <a:rPr lang="en-US" sz="1300" dirty="0">
                <a:solidFill>
                  <a:schemeClr val="tx1"/>
                </a:solidFill>
              </a:rPr>
              <a:t>: more stable predictions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Fusion also narrows the spread</a:t>
            </a:r>
            <a:r>
              <a:rPr lang="en-US" sz="1300" dirty="0">
                <a:solidFill>
                  <a:schemeClr val="tx1"/>
                </a:solidFill>
              </a:rPr>
              <a:t> for every model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Reporting the distribution, not one split, is good practice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repeat your outer CV with several seeds and show boxplots of macro-F1 per sensor set and model, as 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Which base learners does stacking trust?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FIG.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74735" y="1152144"/>
            <a:ext cx="2971171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10 – Ridge coefficients of each base learner in the level-2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311" y="1188720"/>
            <a:ext cx="2898019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10 – Ridge coefficients of each base learner in the level-2 model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37760" y="1188720"/>
            <a:ext cx="679399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937760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20640" y="1280160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Findings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1737360"/>
            <a:ext cx="647395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Larger ridge coefficient = larger weight of that base learner in the ensemble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Learners that were accurate on their own received </a:t>
            </a:r>
            <a:r>
              <a:rPr lang="en-US" sz="1400" b="1" dirty="0">
                <a:solidFill>
                  <a:schemeClr val="tx1"/>
                </a:solidFill>
              </a:rPr>
              <a:t>larger weights</a:t>
            </a:r>
            <a:r>
              <a:rPr lang="en-US" sz="1400" dirty="0">
                <a:solidFill>
                  <a:schemeClr val="tx1"/>
                </a:solidFill>
              </a:rPr>
              <a:t> (e.g. DNN for RGB; RF for TIR, RGB + TIR and MS + TIR)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 the ensemble's performance depends on having at least one strong base learner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Interpretation tool: the level-2 weights show </a:t>
            </a:r>
            <a:r>
              <a:rPr lang="en-US" sz="1400" b="1" dirty="0">
                <a:solidFill>
                  <a:schemeClr val="tx1"/>
                </a:solidFill>
              </a:rPr>
              <a:t>which model</a:t>
            </a:r>
            <a:r>
              <a:rPr lang="en-US" sz="1400" dirty="0">
                <a:solidFill>
                  <a:schemeClr val="tx1"/>
                </a:solidFill>
              </a:rPr>
              <a:t> the ensemble relies on, just as gating weights would show which sensor a DL fusion network relies 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report the level-2 weights of your stacking model per date; a stable pattern supports the robustness of the decision-level fusion.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Fusion helps more than ensembling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FIG. 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33467" y="1152144"/>
            <a:ext cx="9722018" cy="263347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11 – R² gains of ensemble learning (horizontal) and data fusion (vertical) over the best single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43" y="1188720"/>
            <a:ext cx="9648866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822192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11 – R² gains of ensemble learning (horizontal) and data fusion (vertical) over the best single model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5532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422452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20624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Ensemble learning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6634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R² gain </a:t>
            </a:r>
            <a:r>
              <a:rPr lang="en-US" sz="1500" b="1" dirty="0">
                <a:solidFill>
                  <a:schemeClr val="tx1"/>
                </a:solidFill>
              </a:rPr>
              <a:t>up to 5%</a:t>
            </a:r>
            <a:r>
              <a:rPr lang="en-US" sz="1500" dirty="0">
                <a:solidFill>
                  <a:schemeClr val="tx1"/>
                </a:solidFill>
              </a:rPr>
              <a:t> over the best individual model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9632" y="4114800"/>
            <a:ext cx="55321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422452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82512" y="420624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Multi-sensor fusion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82512" y="46634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R² gain </a:t>
            </a:r>
            <a:r>
              <a:rPr lang="en-US" sz="1500" b="1" dirty="0">
                <a:solidFill>
                  <a:schemeClr val="tx1"/>
                </a:solidFill>
              </a:rPr>
              <a:t>up to 31%</a:t>
            </a:r>
            <a:r>
              <a:rPr lang="en-US" sz="1500" dirty="0">
                <a:solidFill>
                  <a:schemeClr val="tx1"/>
                </a:solidFill>
              </a:rPr>
              <a:t> over the single sensor (MS → RGB + MS + TIR)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expect the sensor choice (fusion) to matter more than the algorithm choice; put more effort into features and sensors than into tuning many models.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Sensors are complementary, models are redundant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FIG.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6382512" cy="3761769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12 – VIF of predictions from (a) each sensor and (b) each ML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309360" cy="36886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950489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12 – VIF of predictions from (a) each sensor and (b) each ML model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49440" y="1188720"/>
            <a:ext cx="478231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0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0" y="128016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1737360"/>
            <a:ext cx="446227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(a) Predictions from RGB, MS and TIR: </a:t>
            </a:r>
            <a:r>
              <a:rPr lang="en-US" sz="1400" b="1" dirty="0">
                <a:solidFill>
                  <a:schemeClr val="tx1"/>
                </a:solidFill>
              </a:rPr>
              <a:t>VIF &lt; 5</a:t>
            </a:r>
            <a:r>
              <a:rPr lang="en-US" sz="1400" dirty="0">
                <a:solidFill>
                  <a:schemeClr val="tx1"/>
                </a:solidFill>
              </a:rPr>
              <a:t> → modest collinearity → each sensor adds new information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(b) Predictions from the five ML models: </a:t>
            </a:r>
            <a:r>
              <a:rPr lang="en-US" sz="1400" b="1" dirty="0">
                <a:solidFill>
                  <a:schemeClr val="tx1"/>
                </a:solidFill>
              </a:rPr>
              <a:t>VIF &gt; 10</a:t>
            </a:r>
            <a:r>
              <a:rPr lang="en-US" sz="1400" dirty="0">
                <a:solidFill>
                  <a:schemeClr val="tx1"/>
                </a:solidFill>
              </a:rPr>
              <a:t> for several models → they largely say the same thing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Hence fusion of sensors improved accuracy far more than fusion of models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repeat analysis (a) with your four sensors on white rust: low VIF between sensor-wise predictions is direct evidence for multimodal complementarity.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Mapping predicted yield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RESULTS · FIG. 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4689" y="1152144"/>
            <a:ext cx="4331422" cy="4142232"/>
          </a:xfrm>
          <a:prstGeom prst="rect">
            <a:avLst/>
          </a:prstGeom>
          <a:solidFill>
            <a:schemeClr val="bg1"/>
          </a:solidFill>
          <a:ln w="9525">
            <a:solidFill>
              <a:srgbClr val="C9D6D8"/>
            </a:solidFill>
            <a:prstDash val="solid"/>
          </a:ln>
        </p:spPr>
      </p:sp>
      <p:pic>
        <p:nvPicPr>
          <p:cNvPr id="5" name="Image 0" descr="Fig. 13 – Plot-level yield maps from stacking with each fusion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65" y="1188720"/>
            <a:ext cx="4258270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330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Fig. 13 – Plot-level yield maps from stacking with each fusion set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17920" y="118872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128016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 maps show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737360"/>
            <a:ext cx="51937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2,800 test predictions from 80 splits; the final value per plot is their average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Yield rises clearly from light to high irrigation in all fusion sets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Predicted yields differ significantly between irrigation treatments, as do the measured yields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Maps are at </a:t>
            </a:r>
            <a:r>
              <a:rPr lang="en-US" sz="1400" b="1" dirty="0">
                <a:solidFill>
                  <a:schemeClr val="tx1"/>
                </a:solidFill>
              </a:rPr>
              <a:t>plot scale</a:t>
            </a:r>
            <a:r>
              <a:rPr lang="en-US" sz="1400" dirty="0">
                <a:solidFill>
                  <a:schemeClr val="tx1"/>
                </a:solidFill>
              </a:rPr>
              <a:t> (one value per plot), not pixel scale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the same plot-scale map is your first severity map: one predicted class per plot per date, averaged over repeated CV runs.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Discussion: why the sensors behaved as they did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DISCUSSION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MS was weakest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MS indices </a:t>
            </a:r>
            <a:r>
              <a:rPr lang="en-US" sz="1350" b="1" dirty="0">
                <a:solidFill>
                  <a:schemeClr val="tx1"/>
                </a:solidFill>
              </a:rPr>
              <a:t>saturate</a:t>
            </a:r>
            <a:r>
              <a:rPr lang="en-US" sz="1350" dirty="0">
                <a:solidFill>
                  <a:schemeClr val="tx1"/>
                </a:solidFill>
              </a:rPr>
              <a:t> in dense green canopies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Coarser pixels → more </a:t>
            </a:r>
            <a:r>
              <a:rPr lang="en-US" sz="1350" b="1" dirty="0">
                <a:solidFill>
                  <a:schemeClr val="tx1"/>
                </a:solidFill>
              </a:rPr>
              <a:t>mixed pixels</a:t>
            </a:r>
            <a:r>
              <a:rPr lang="en-US" sz="1350" dirty="0">
                <a:solidFill>
                  <a:schemeClr val="tx1"/>
                </a:solidFill>
              </a:rPr>
              <a:t> of wheat and soil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MS texture added little beyond MS indices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0248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270248" y="1298448"/>
            <a:ext cx="64008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RGB was strongest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Highest spatial resolution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Crop height</a:t>
            </a:r>
            <a:r>
              <a:rPr lang="en-US" sz="1350" dirty="0">
                <a:solidFill>
                  <a:schemeClr val="tx1"/>
                </a:solidFill>
              </a:rPr>
              <a:t> from the RGB DSM is closely linked to biomass and yield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Removing RGB features hurt accuracy most (Table S1)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74152" y="1188720"/>
            <a:ext cx="3657600" cy="43434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4152" y="1298448"/>
            <a:ext cx="64008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57032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Thermal was strong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1737360"/>
            <a:ext cx="33375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Canopy temperature tracks </a:t>
            </a:r>
            <a:r>
              <a:rPr lang="en-US" sz="1350" b="1" dirty="0">
                <a:solidFill>
                  <a:schemeClr val="tx1"/>
                </a:solidFill>
              </a:rPr>
              <a:t>plant water status</a:t>
            </a:r>
            <a:r>
              <a:rPr lang="en-US" sz="1350" dirty="0">
                <a:solidFill>
                  <a:schemeClr val="tx1"/>
                </a:solidFill>
              </a:rPr>
              <a:t>, which drove yield under the irrigation treatments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Thermal features do </a:t>
            </a:r>
            <a:r>
              <a:rPr lang="en-US" sz="1350" b="1" dirty="0">
                <a:solidFill>
                  <a:schemeClr val="tx1"/>
                </a:solidFill>
              </a:rPr>
              <a:t>not saturate</a:t>
            </a:r>
            <a:r>
              <a:rPr lang="en-US" sz="1350" dirty="0">
                <a:solidFill>
                  <a:schemeClr val="tx1"/>
                </a:solidFill>
              </a:rPr>
              <a:t> like VIs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Removing TIR was the second-largest loss; </a:t>
            </a:r>
            <a:r>
              <a:rPr lang="en-US" sz="1350" b="1" dirty="0">
                <a:solidFill>
                  <a:schemeClr val="tx1"/>
                </a:solidFill>
              </a:rPr>
              <a:t>RGB + TIR</a:t>
            </a:r>
            <a:r>
              <a:rPr lang="en-US" sz="1350" dirty="0">
                <a:solidFill>
                  <a:schemeClr val="tx1"/>
                </a:solidFill>
              </a:rPr>
              <a:t> was almost as good as all three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for white rust the ranking may differ (pustules and chlorosis are spectral and textural); test it, and use the cost argument (RGB + TIR) for Objective O4.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Critical appraisal: limitations to keep in mind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DISCUSSION · LIMITATIONS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98448"/>
            <a:ext cx="64008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Stated by the authors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One site, one season, one growth stage (grain filling)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Cultivars mostly from one region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Ensembles cost more training time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Raw images with deep learning could add information (future work)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99632" y="1188720"/>
            <a:ext cx="553212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199632" y="1298448"/>
            <a:ext cx="64008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82512" y="12801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Additional points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1737360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Random 4:1 splits of plots:</a:t>
            </a:r>
            <a:r>
              <a:rPr lang="en-US" sz="1300" dirty="0">
                <a:solidFill>
                  <a:schemeClr val="tx1"/>
                </a:solidFill>
              </a:rPr>
              <a:t> the other plots of the same cultivar (other replicate, other irrigation levels) can sit in training, which may make test accuracy optimistic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Treatment-driven range:</a:t>
            </a:r>
            <a:r>
              <a:rPr lang="en-US" sz="1300" dirty="0">
                <a:solidFill>
                  <a:schemeClr val="tx1"/>
                </a:solidFill>
              </a:rPr>
              <a:t> much of the yield variance is between irrigation levels, which also change temperature and height; within-treatment accuracy is not reported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GLCM settings</a:t>
            </a:r>
            <a:r>
              <a:rPr lang="en-US" sz="1300" dirty="0">
                <a:solidFill>
                  <a:schemeClr val="tx1"/>
                </a:solidFill>
              </a:rPr>
              <a:t> (window, grey levels, distance, direction) are not reported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Many features, </a:t>
            </a:r>
            <a:r>
              <a:rPr lang="en-US" sz="1300" b="1" dirty="0">
                <a:solidFill>
                  <a:schemeClr val="tx1"/>
                </a:solidFill>
              </a:rPr>
              <a:t>no feature selection</a:t>
            </a:r>
            <a:r>
              <a:rPr lang="en-US" sz="1300" dirty="0">
                <a:solidFill>
                  <a:schemeClr val="tx1"/>
                </a:solidFill>
              </a:rPr>
              <a:t>; relies on RR/RF regularisation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E8F3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566928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group your CV folds by plot, report accuracy within inoculated plots as well as overall, and state all texture parameters.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How this paper maps onto MuDAS-AI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APPLICATION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5486400"/>
                <a:gridCol w="1764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Element in Fei et al. (2023)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Use in MuDAS-AI (white rust, mustard)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Where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RGB + MicaSense RedEdge-MX + thermal on one UAV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Same sensors; add hyperspectral as the 4th modality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Acquisition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Blackboard + handheld thermometer, linear DN → °C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Thermal calibration per flight; report R², RMSE; convert to CTD / NRCT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Step 2–3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Bare-soil DEM + DSM → CHM, validated (R² 0.84)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Canopy height, stunting and staghead structure; measure 10 plants/plot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24 VIs + GLCM on 5 MS bands, CHM and CT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Add GLCM on CT/CTD and on CHM to Phase 1 candidates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Phase 1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Plot polygons with edges omitted; plot-mean features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Plot inset (≈ 0.4 m); add percentiles to plot means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 sensor combinations × 5 models + stacking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15 combinations × RF/SVM/KNN + stacking (E2, E3)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Phase 3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VIF between sensor-wise predictions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Quantitative proof of sensor complementarity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Results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80 repeated splits, boxplots of accuracy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Repeated, plot-grouped nested CV; boxplots of macro-F1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Validation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Plot-scale yield maps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Plot-scale severity maps per date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Objective O5</a:t>
                      </a:r>
                      <a:endParaRPr lang="en-US" sz="12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150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8F3D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57150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most of the paper's workflow can be reused directly; the main changes are a classification target, grouped CV and multiple dates.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Recipe: texture of canopy temperature for white rust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APPLICATION · STEP BY STEP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Calibrate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DN → °C with reference boards (per flight); CTD = Tc − Tair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0248" y="118872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312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Mask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0574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Keep canopy pixels (NDVI/ExG mask from RGB or MS); remove soil and flowers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18872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951976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Quantise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20574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Fixed range across dates (e.g. CTD −8 to +8 °C) into 32 or 64 grey levels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GLCM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Window 5 × 5 (or 7 × 7), distance 1, average of 4 directions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270248" y="329184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3128" y="3474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53128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Plot features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Plot mean (and SD) of ME, VA, HO, CO, DI, EN, SE, COR inside the inset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83296" y="3291840"/>
            <a:ext cx="36576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8266176" y="3474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66176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951976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Select &amp; fuse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11896" y="41605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Phase 1 screening, VIF, ML-SFFS; fuse with spectral and RGB features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" y="5486400"/>
            <a:ext cx="11274552" cy="786384"/>
          </a:xfrm>
          <a:prstGeom prst="roundRect">
            <a:avLst>
              <a:gd name="adj" fmla="val 9302"/>
            </a:avLst>
          </a:prstGeom>
          <a:solidFill>
            <a:srgbClr val="E8F3D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" y="5486400"/>
            <a:ext cx="10972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E1E"/>
                </a:solidFill>
              </a:rPr>
              <a:t>For MuDAS-AI: </a:t>
            </a:r>
            <a:r>
              <a:rPr lang="en-US" sz="1300" dirty="0">
                <a:solidFill>
                  <a:schemeClr val="tx1"/>
                </a:solidFill>
              </a:rPr>
              <a:t>use the same fixed range and grey levels on every date; otherwise texture changes with the weather instead of the disease.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Take-home messages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7498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Fusion &gt; single sensor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18872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R² rose by up to 31% when RGB, MS and thermal features were combined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109728" cy="7498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08483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Stacking adds a little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84832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Up to 5% R² gain and more stable predictions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09728" cy="7498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8094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Sensors complement each other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980944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VIF &lt; 5 between sensor predictions; models were redundant (VIF &gt; 10)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877056"/>
            <a:ext cx="109728" cy="74980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7705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Texture on non-optical layers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877056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GLCM on canopy temperature and crop height is a cheap, new feature type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773168"/>
            <a:ext cx="109728" cy="7498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77316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 carefully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773168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Group splits by plot or cultivar; report within-treatment accuracy and texture settings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Reference: Fei, S., et al. (2023). UAV-based multi-sensor data fusion and machine learning algorithm for yield prediction in wheat. Precision Agriculture 24, 187–212. https://doi.org/10.1007/s11119-022-09938-8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i2023 Review">
  <a:themeElements>
    <a:clrScheme name="Fei2023 Review">
      <a:dk1>
        <a:srgbClr val="0D1B1F"/>
      </a:dk1>
      <a:lt1>
        <a:srgbClr val="FFFFFF"/>
      </a:lt1>
      <a:dk2>
        <a:srgbClr val="1F3A40"/>
      </a:dk2>
      <a:lt2>
        <a:srgbClr val="EEF6F5"/>
      </a:lt2>
      <a:accent1>
        <a:srgbClr val="1CB8B2"/>
      </a:accent1>
      <a:accent2>
        <a:srgbClr val="7DBE4B"/>
      </a:accent2>
      <a:accent3>
        <a:srgbClr val="E0A526"/>
      </a:accent3>
      <a:accent4>
        <a:srgbClr val="C0503A"/>
      </a:accent4>
      <a:accent5>
        <a:srgbClr val="3B82F6"/>
      </a:accent5>
      <a:accent6>
        <a:srgbClr val="8E5BD6"/>
      </a:accent6>
      <a:hlink>
        <a:srgbClr val="1C7C78"/>
      </a:hlink>
      <a:folHlink>
        <a:srgbClr val="5E7A7E"/>
      </a:folHlink>
    </a:clrScheme>
    <a:fontScheme name="Fei2023 Revie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Fei et al. (2023) - UAV multi-sensor fusion and ensemble learning</dc:title>
  <dc:subject>PptxGenJS Presentation</dc:subject>
  <dc:creator>Animesh Panda</dc:creator>
  <cp:lastModifiedBy>Animesh Panda</cp:lastModifiedBy>
  <cp:revision>1</cp:revision>
  <dcterms:created xsi:type="dcterms:W3CDTF">2026-10-29T17:17:56Z</dcterms:created>
  <dcterms:modified xsi:type="dcterms:W3CDTF">2026-10-29T17:17:56Z</dcterms:modified>
</cp:coreProperties>
</file>