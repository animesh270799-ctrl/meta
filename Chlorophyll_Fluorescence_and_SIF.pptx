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charts/chart2.xml" ContentType="application/vnd.openxmlformats-officedocument.drawingml.chart+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6332e60-92ce-ed37-369d-4805ac62d18a}">
          <p14:sldIdLst>
            <p14:sldId id="256"/>
            <p14:sldId id="257"/>
          </p14:sldIdLst>
        </p14:section>
        <p14:section name="Foundations" id="{745f6f77-239e-b809-91a0-33ec23dd2274}">
          <p14:sldIdLst>
            <p14:sldId id="258"/>
            <p14:sldId id="259"/>
            <p14:sldId id="260"/>
            <p14:sldId id="261"/>
            <p14:sldId id="262"/>
            <p14:sldId id="263"/>
          </p14:sldIdLst>
        </p14:section>
        <p14:section name="Measuring fluorescence" id="{d7a9f5c6-3216-636c-c54e-dfc559b620b6}">
          <p14:sldIdLst>
            <p14:sldId id="264"/>
            <p14:sldId id="265"/>
            <p14:sldId id="266"/>
          </p14:sldIdLst>
        </p14:section>
        <p14:section name="Induction kinetics" id="{65c7389d-4273-e81b-b354-1896b6b30714}">
          <p14:sldIdLst>
            <p14:sldId id="267"/>
            <p14:sldId id="268"/>
            <p14:sldId id="269"/>
            <p14:sldId id="270"/>
          </p14:sldIdLst>
        </p14:section>
        <p14:section name="PSII redox state &amp; quenching" id="{d01e36c0-7612-c750-92f7-bc50de325582}">
          <p14:sldIdLst>
            <p14:sldId id="271"/>
            <p14:sldId id="272"/>
            <p14:sldId id="273"/>
            <p14:sldId id="274"/>
            <p14:sldId id="275"/>
            <p14:sldId id="276"/>
            <p14:sldId id="277"/>
          </p14:sldIdLst>
        </p14:section>
        <p14:section name="PAM protocol &amp; parameters" id="{8e99f13a-4fa9-ea02-a121-d632df0d7334}">
          <p14:sldIdLst>
            <p14:sldId id="278"/>
            <p14:sldId id="279"/>
            <p14:sldId id="280"/>
            <p14:sldId id="281"/>
            <p14:sldId id="282"/>
            <p14:sldId id="283"/>
            <p14:sldId id="284"/>
            <p14:sldId id="285"/>
            <p14:sldId id="286"/>
          </p14:sldIdLst>
        </p14:section>
        <p14:section name="Good practice &amp; pitfalls" id="{7cda0ec5-acd7-771a-401a-263774e718ef}">
          <p14:sldIdLst>
            <p14:sldId id="287"/>
            <p14:sldId id="288"/>
            <p14:sldId id="289"/>
            <p14:sldId id="290"/>
            <p14:sldId id="291"/>
            <p14:sldId id="292"/>
            <p14:sldId id="293"/>
          </p14:sldIdLst>
        </p14:section>
        <p14:section name="Imaging, applications &amp; monitoring" id="{f98ac989-4505-a53e-dc0e-90143411b8cd}">
          <p14:sldIdLst>
            <p14:sldId id="294"/>
            <p14:sldId id="295"/>
            <p14:sldId id="296"/>
            <p14:sldId id="297"/>
            <p14:sldId id="298"/>
            <p14:sldId id="299"/>
          </p14:sldIdLst>
        </p14:section>
        <p14:section name="Sun-induced fluorescence (SIF)" id="{5b64ce24-15e1-1119-2e81-1913637d6864}">
          <p14:sldIdLst>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Lst>
        </p14:section>
        <p14:section name="Synthesis &amp; self-check" id="{7afad8fa-fc25-9574-7f95-a748714c5161}">
          <p14:sldIdLst>
            <p14:sldId id="321"/>
            <p14:sldId id="322"/>
            <p14:sldId id="323"/>
            <p14:sldId id="324"/>
            <p14:sldId id="325"/>
            <p14:sldId id="32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3D2E"/>
                </a:solidFill>
                <a:latin typeface="+mn-lt"/>
              </a:defRPr>
            </a:pPr>
            <a:r>
              <a:rPr sz="1300" b="0" i="0" u="none" strike="noStrike">
                <a:solidFill>
                  <a:srgbClr val="123D2E"/>
                </a:solidFill>
                <a:latin typeface="+mn-lt"/>
              </a:rPr>
              <a:t>Idealised OJIP transient (log-spaced time axis; O, J, I, P marked on the axis)</a:t>
            </a:r>
          </a:p>
        </c:rich>
      </c:tx>
      <c:layout/>
      <c:overlay val="0"/>
    </c:title>
    <c:autoTitleDeleted val="0"/>
    <c:plotArea>
      <c:layout/>
      <c:lineChart>
        <c:varyColors val="0"/>
        <c:ser>
          <c:idx val="0"/>
          <c:order val="0"/>
          <c:tx>
            <c:strRef>
              <c:f>Sheet1!$B$1</c:f>
              <c:strCache>
                <c:ptCount val="1"/>
                <c:pt idx="0">
                  <c:v>Fluorescence (relative)</c:v>
                </c:pt>
              </c:strCache>
            </c:strRef>
          </c:tx>
          <c:spPr>
            <a:solidFill>
              <a:srgbClr val="D62839"/>
            </a:solidFill>
            <a:ln w="38100" cap="flat">
              <a:solidFill>
                <a:srgbClr val="D6283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62839"/>
              </a:solidFill>
              <a:ln w="9525" cap="flat">
                <a:solidFill>
                  <a:srgbClr val="D62839"/>
                </a:solidFill>
                <a:prstDash val="solid"/>
                <a:round/>
              </a:ln>
              <a:effectLst/>
            </c:spPr>
          </c:marker>
          <c:cat>
            <c:multiLvlStrRef>
              <c:f>Sheet1!$A$2:$A$15</c:f>
              <c:multiLvlStrCache>
                <c:ptCount val="14"/>
                <c:lvl>
                  <c:pt idx="0">
                    <c:v>O 0.01</c:v>
                  </c:pt>
                  <c:pt idx="1">
                    <c:v>0.02</c:v>
                  </c:pt>
                  <c:pt idx="2">
                    <c:v>0.05</c:v>
                  </c:pt>
                  <c:pt idx="3">
                    <c:v>0.1</c:v>
                  </c:pt>
                  <c:pt idx="4">
                    <c:v>0.2</c:v>
                  </c:pt>
                  <c:pt idx="5">
                    <c:v>0.5</c:v>
                  </c:pt>
                  <c:pt idx="6">
                    <c:v>1</c:v>
                  </c:pt>
                  <c:pt idx="7">
                    <c:v>J 2</c:v>
                  </c:pt>
                  <c:pt idx="8">
                    <c:v>5</c:v>
                  </c:pt>
                  <c:pt idx="9">
                    <c:v>10</c:v>
                  </c:pt>
                  <c:pt idx="10">
                    <c:v>I 30</c:v>
                  </c:pt>
                  <c:pt idx="11">
                    <c:v>100</c:v>
                  </c:pt>
                  <c:pt idx="12">
                    <c:v>P 300</c:v>
                  </c:pt>
                  <c:pt idx="13">
                    <c:v>1000</c:v>
                  </c:pt>
                </c:lvl>
              </c:multiLvlStrCache>
            </c:multiLvlStrRef>
          </c:cat>
          <c:val>
            <c:numRef>
              <c:f>Sheet1!$B$2:$B$15</c:f>
              <c:numCache>
                <c:formatCode>General</c:formatCode>
                <c:ptCount val="14"/>
                <c:pt idx="0">
                  <c:v>500</c:v>
                </c:pt>
                <c:pt idx="1">
                  <c:v>505</c:v>
                </c:pt>
                <c:pt idx="2">
                  <c:v>520</c:v>
                </c:pt>
                <c:pt idx="3">
                  <c:v>570</c:v>
                </c:pt>
                <c:pt idx="4">
                  <c:v>680</c:v>
                </c:pt>
                <c:pt idx="5">
                  <c:v>900</c:v>
                </c:pt>
                <c:pt idx="6">
                  <c:v>1150</c:v>
                </c:pt>
                <c:pt idx="7">
                  <c:v>1300</c:v>
                </c:pt>
                <c:pt idx="8">
                  <c:v>1380</c:v>
                </c:pt>
                <c:pt idx="9">
                  <c:v>1480</c:v>
                </c:pt>
                <c:pt idx="10">
                  <c:v>1700</c:v>
                </c:pt>
                <c:pt idx="11">
                  <c:v>2150</c:v>
                </c:pt>
                <c:pt idx="12">
                  <c:v>2400</c:v>
                </c:pt>
                <c:pt idx="13">
                  <c:v>2380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E7268"/>
                    </a:solidFill>
                    <a:latin typeface="Arial"/>
                  </a:defRPr>
                </a:pPr>
                <a:r>
                  <a:rPr sz="1100" b="0" i="0" u="none" strike="noStrike">
                    <a:solidFill>
                      <a:srgbClr val="5E7268"/>
                    </a:solidFill>
                    <a:latin typeface="Arial"/>
                  </a:rPr>
                  <a:t>Time after light on (ms)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E7268"/>
                </a:solidFill>
                <a:latin typeface="+mn-lt"/>
              </a:defRPr>
            </a:pPr>
            <a:endParaRPr lang="en-US"/>
          </a:p>
        </c:txPr>
        <c:crossAx val="2094734552"/>
        <c:crosses val="autoZero"/>
        <c:auto val="1"/>
        <c:lblAlgn val="ctr"/>
        <c:noMultiLvlLbl val="1"/>
      </c:catAx>
      <c:valAx>
        <c:axId val="2094734552"/>
        <c:scaling>
          <c:orientation val="minMax"/>
          <c:max val="2600"/>
          <c:min val="0"/>
        </c:scaling>
        <c:delete val="0"/>
        <c:axPos val="l"/>
        <c:majorGridlines>
          <c:spPr>
            <a:ln w="9525" cap="flat">
              <a:solidFill>
                <a:srgbClr val="E3E8E5"/>
              </a:solidFill>
              <a:prstDash val="solid"/>
              <a:round/>
            </a:ln>
          </c:spPr>
        </c:majorGridlines>
        <c:title>
          <c:tx>
            <c:rich>
              <a:bodyPr/>
              <a:lstStyle/>
              <a:p>
                <a:pPr>
                  <a:defRPr sz="1100" b="0" i="0" u="none" strike="noStrike">
                    <a:solidFill>
                      <a:srgbClr val="5E7268"/>
                    </a:solidFill>
                    <a:latin typeface="Arial"/>
                  </a:defRPr>
                </a:pPr>
                <a:r>
                  <a:rPr sz="1100" b="0" i="0" u="none" strike="noStrike">
                    <a:solidFill>
                      <a:srgbClr val="5E7268"/>
                    </a:solidFill>
                    <a:latin typeface="Arial"/>
                  </a:rPr>
                  <a:t>Fluorescence (a.u.)</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726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3D2E"/>
                </a:solidFill>
                <a:latin typeface="+mn-lt"/>
              </a:defRPr>
            </a:pPr>
            <a:r>
              <a:rPr sz="1300" b="0" i="0" u="none" strike="noStrike">
                <a:solidFill>
                  <a:srgbClr val="123D2E"/>
                </a:solidFill>
                <a:latin typeface="+mn-lt"/>
              </a:rPr>
              <a:t>In-filling of the O₂-A band by fluorescence (schematic)</a:t>
            </a:r>
          </a:p>
        </c:rich>
      </c:tx>
      <c:layout/>
      <c:overlay val="0"/>
    </c:title>
    <c:autoTitleDeleted val="0"/>
    <c:plotArea>
      <c:layout/>
      <c:lineChart>
        <c:varyColors val="0"/>
        <c:ser>
          <c:idx val="0"/>
          <c:order val="0"/>
          <c:tx>
            <c:strRef>
              <c:f>Sheet1!$B$1</c:f>
              <c:strCache>
                <c:ptCount val="1"/>
                <c:pt idx="0">
                  <c:v>Irradiance E (normalised)</c:v>
                </c:pt>
              </c:strCache>
            </c:strRef>
          </c:tx>
          <c:spPr>
            <a:solidFill>
              <a:srgbClr val="5E7268"/>
            </a:solidFill>
            <a:ln w="38100" cap="flat">
              <a:solidFill>
                <a:srgbClr val="5E726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E7268"/>
              </a:solidFill>
              <a:ln w="9525" cap="flat">
                <a:solidFill>
                  <a:srgbClr val="5E7268"/>
                </a:solidFill>
                <a:prstDash val="solid"/>
                <a:round/>
              </a:ln>
              <a:effectLst/>
            </c:spPr>
          </c:marker>
          <c:cat>
            <c:multiLvlStrRef>
              <c:f>Sheet1!$A$2:$A$22</c:f>
              <c:multiLvlStrCache>
                <c:ptCount val="21"/>
                <c:lvl>
                  <c:pt idx="0">
                    <c:v>755.0</c:v>
                  </c:pt>
                  <c:pt idx="1">
                    <c:v>755.5</c:v>
                  </c:pt>
                  <c:pt idx="2">
                    <c:v>756.0</c:v>
                  </c:pt>
                  <c:pt idx="3">
                    <c:v>756.5</c:v>
                  </c:pt>
                  <c:pt idx="4">
                    <c:v>757.0</c:v>
                  </c:pt>
                  <c:pt idx="5">
                    <c:v>757.5</c:v>
                  </c:pt>
                  <c:pt idx="6">
                    <c:v>758.0</c:v>
                  </c:pt>
                  <c:pt idx="7">
                    <c:v>758.5</c:v>
                  </c:pt>
                  <c:pt idx="8">
                    <c:v>759.0</c:v>
                  </c:pt>
                  <c:pt idx="9">
                    <c:v>759.5</c:v>
                  </c:pt>
                  <c:pt idx="10">
                    <c:v>760.0</c:v>
                  </c:pt>
                  <c:pt idx="11">
                    <c:v>760.5</c:v>
                  </c:pt>
                  <c:pt idx="12">
                    <c:v>761.0</c:v>
                  </c:pt>
                  <c:pt idx="13">
                    <c:v>761.5</c:v>
                  </c:pt>
                  <c:pt idx="14">
                    <c:v>762.0</c:v>
                  </c:pt>
                  <c:pt idx="15">
                    <c:v>762.5</c:v>
                  </c:pt>
                  <c:pt idx="16">
                    <c:v>763.0</c:v>
                  </c:pt>
                  <c:pt idx="17">
                    <c:v>763.5</c:v>
                  </c:pt>
                  <c:pt idx="18">
                    <c:v>764.0</c:v>
                  </c:pt>
                  <c:pt idx="19">
                    <c:v>764.5</c:v>
                  </c:pt>
                  <c:pt idx="20">
                    <c:v>765.0</c:v>
                  </c:pt>
                </c:lvl>
              </c:multiLvlStrCache>
            </c:multiLvlStrRef>
          </c:cat>
          <c:val>
            <c:numRef>
              <c:f>Sheet1!$B$2:$B$22</c:f>
              <c:numCache>
                <c:formatCode>General</c:formatCode>
                <c:ptCount val="21"/>
                <c:pt idx="0">
                  <c:v>1</c:v>
                </c:pt>
                <c:pt idx="1">
                  <c:v>1</c:v>
                </c:pt>
                <c:pt idx="2">
                  <c:v>1</c:v>
                </c:pt>
                <c:pt idx="3">
                  <c:v>1</c:v>
                </c:pt>
                <c:pt idx="4">
                  <c:v>1</c:v>
                </c:pt>
                <c:pt idx="5">
                  <c:v>0.998</c:v>
                </c:pt>
                <c:pt idx="6">
                  <c:v>0.989</c:v>
                </c:pt>
                <c:pt idx="7">
                  <c:v>0.947</c:v>
                </c:pt>
                <c:pt idx="8">
                  <c:v>0.822</c:v>
                </c:pt>
                <c:pt idx="9">
                  <c:v>0.576</c:v>
                </c:pt>
                <c:pt idx="10">
                  <c:v>0.285</c:v>
                </c:pt>
                <c:pt idx="11">
                  <c:v>0.15</c:v>
                </c:pt>
                <c:pt idx="12">
                  <c:v>0.285</c:v>
                </c:pt>
                <c:pt idx="13">
                  <c:v>0.576</c:v>
                </c:pt>
                <c:pt idx="14">
                  <c:v>0.822</c:v>
                </c:pt>
                <c:pt idx="15">
                  <c:v>0.947</c:v>
                </c:pt>
                <c:pt idx="16">
                  <c:v>0.989</c:v>
                </c:pt>
                <c:pt idx="17">
                  <c:v>0.998</c:v>
                </c:pt>
                <c:pt idx="18">
                  <c:v>1</c:v>
                </c:pt>
                <c:pt idx="19">
                  <c:v>1</c:v>
                </c:pt>
                <c:pt idx="20">
                  <c:v>1</c:v>
                </c:pt>
              </c:numCache>
            </c:numRef>
          </c:val>
          <c:smooth val="0"/>
        </c:ser>
        <c:ser>
          <c:idx val="1"/>
          <c:order val="1"/>
          <c:tx>
            <c:strRef>
              <c:f>Sheet1!$C$1</c:f>
              <c:strCache>
                <c:ptCount val="1"/>
                <c:pt idx="0">
                  <c:v>Canopy radiance L (normalised)</c:v>
                </c:pt>
              </c:strCache>
            </c:strRef>
          </c:tx>
          <c:spPr>
            <a:solidFill>
              <a:srgbClr val="D62839"/>
            </a:solidFill>
            <a:ln w="38100" cap="flat">
              <a:solidFill>
                <a:srgbClr val="D6283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62839"/>
              </a:solidFill>
              <a:ln w="9525" cap="flat">
                <a:solidFill>
                  <a:srgbClr val="D62839"/>
                </a:solidFill>
                <a:prstDash val="solid"/>
                <a:round/>
              </a:ln>
              <a:effectLst/>
            </c:spPr>
          </c:marker>
          <c:cat>
            <c:multiLvlStrRef>
              <c:f>Sheet1!$A$2:$A$22</c:f>
              <c:multiLvlStrCache>
                <c:ptCount val="21"/>
                <c:lvl>
                  <c:pt idx="0">
                    <c:v>755.0</c:v>
                  </c:pt>
                  <c:pt idx="1">
                    <c:v>755.5</c:v>
                  </c:pt>
                  <c:pt idx="2">
                    <c:v>756.0</c:v>
                  </c:pt>
                  <c:pt idx="3">
                    <c:v>756.5</c:v>
                  </c:pt>
                  <c:pt idx="4">
                    <c:v>757.0</c:v>
                  </c:pt>
                  <c:pt idx="5">
                    <c:v>757.5</c:v>
                  </c:pt>
                  <c:pt idx="6">
                    <c:v>758.0</c:v>
                  </c:pt>
                  <c:pt idx="7">
                    <c:v>758.5</c:v>
                  </c:pt>
                  <c:pt idx="8">
                    <c:v>759.0</c:v>
                  </c:pt>
                  <c:pt idx="9">
                    <c:v>759.5</c:v>
                  </c:pt>
                  <c:pt idx="10">
                    <c:v>760.0</c:v>
                  </c:pt>
                  <c:pt idx="11">
                    <c:v>760.5</c:v>
                  </c:pt>
                  <c:pt idx="12">
                    <c:v>761.0</c:v>
                  </c:pt>
                  <c:pt idx="13">
                    <c:v>761.5</c:v>
                  </c:pt>
                  <c:pt idx="14">
                    <c:v>762.0</c:v>
                  </c:pt>
                  <c:pt idx="15">
                    <c:v>762.5</c:v>
                  </c:pt>
                  <c:pt idx="16">
                    <c:v>763.0</c:v>
                  </c:pt>
                  <c:pt idx="17">
                    <c:v>763.5</c:v>
                  </c:pt>
                  <c:pt idx="18">
                    <c:v>764.0</c:v>
                  </c:pt>
                  <c:pt idx="19">
                    <c:v>764.5</c:v>
                  </c:pt>
                  <c:pt idx="20">
                    <c:v>765.0</c:v>
                  </c:pt>
                </c:lvl>
              </c:multiLvlStrCache>
            </c:multiLvlStrRef>
          </c:cat>
          <c:val>
            <c:numRef>
              <c:f>Sheet1!$C$2:$C$22</c:f>
              <c:numCache>
                <c:formatCode>General</c:formatCode>
                <c:ptCount val="21"/>
                <c:pt idx="0">
                  <c:v>1</c:v>
                </c:pt>
                <c:pt idx="1">
                  <c:v>1</c:v>
                </c:pt>
                <c:pt idx="2">
                  <c:v>1</c:v>
                </c:pt>
                <c:pt idx="3">
                  <c:v>1</c:v>
                </c:pt>
                <c:pt idx="4">
                  <c:v>1</c:v>
                </c:pt>
                <c:pt idx="5">
                  <c:v>0.999</c:v>
                </c:pt>
                <c:pt idx="6">
                  <c:v>0.99</c:v>
                </c:pt>
                <c:pt idx="7">
                  <c:v>0.952</c:v>
                </c:pt>
                <c:pt idx="8">
                  <c:v>0.838</c:v>
                </c:pt>
                <c:pt idx="9">
                  <c:v>0.614</c:v>
                </c:pt>
                <c:pt idx="10">
                  <c:v>0.35</c:v>
                </c:pt>
                <c:pt idx="11">
                  <c:v>0.227</c:v>
                </c:pt>
                <c:pt idx="12">
                  <c:v>0.35</c:v>
                </c:pt>
                <c:pt idx="13">
                  <c:v>0.614</c:v>
                </c:pt>
                <c:pt idx="14">
                  <c:v>0.838</c:v>
                </c:pt>
                <c:pt idx="15">
                  <c:v>0.952</c:v>
                </c:pt>
                <c:pt idx="16">
                  <c:v>0.99</c:v>
                </c:pt>
                <c:pt idx="17">
                  <c:v>0.999</c:v>
                </c:pt>
                <c:pt idx="18">
                  <c:v>1</c:v>
                </c:pt>
                <c:pt idx="19">
                  <c:v>1</c:v>
                </c:pt>
                <c:pt idx="20">
                  <c:v>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E7268"/>
                    </a:solidFill>
                    <a:latin typeface="Arial"/>
                  </a:defRPr>
                </a:pPr>
                <a:r>
                  <a:rPr sz="1100" b="0" i="0" u="none" strike="noStrike">
                    <a:solidFill>
                      <a:srgbClr val="5E7268"/>
                    </a:solidFill>
                    <a:latin typeface="Arial"/>
                  </a:rPr>
                  <a:t>Wavelength (nm)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E7268"/>
                </a:solidFill>
                <a:latin typeface="+mn-lt"/>
              </a:defRPr>
            </a:pPr>
            <a:endParaRPr lang="en-US"/>
          </a:p>
        </c:txPr>
        <c:crossAx val="2094734552"/>
        <c:crosses val="autoZero"/>
        <c:auto val="1"/>
        <c:lblAlgn val="ctr"/>
        <c:noMultiLvlLbl val="1"/>
        <c:tickLblSkip val="4"/>
      </c:catAx>
      <c:valAx>
        <c:axId val="2094734552"/>
        <c:scaling>
          <c:orientation val="minMax"/>
          <c:max val="1.1"/>
          <c:min val="0"/>
        </c:scaling>
        <c:delete val="0"/>
        <c:axPos val="l"/>
        <c:majorGridlines>
          <c:spPr>
            <a:ln w="9525" cap="flat">
              <a:solidFill>
                <a:srgbClr val="E3E8E5"/>
              </a:solidFill>
              <a:prstDash val="solid"/>
              <a:round/>
            </a:ln>
          </c:spPr>
        </c:majorGridlines>
        <c:title>
          <c:tx>
            <c:rich>
              <a:bodyPr/>
              <a:lstStyle/>
              <a:p>
                <a:pPr>
                  <a:defRPr sz="1100" b="0" i="0" u="none" strike="noStrike">
                    <a:solidFill>
                      <a:srgbClr val="5E7268"/>
                    </a:solidFill>
                    <a:latin typeface="Arial"/>
                  </a:defRPr>
                </a:pPr>
                <a:r>
                  <a:rPr sz="1100" b="0" i="0" u="none" strike="noStrike">
                    <a:solidFill>
                      <a:srgbClr val="5E7268"/>
                    </a:solidFill>
                    <a:latin typeface="Arial"/>
                  </a:rPr>
                  <a:t>Relative to band shoulder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72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C2B2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builds the topic from the ground up: the physics of how chlorophyll re-emits light, how we measure it actively with PAM fluorometers, how each parameter is derived, the pitfalls, and then how the same signal is measured passively under sunlight (SIF) from towers, drones, aircraft and satellites.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module builds on the previous one. If a later slide is confusing, go back to the module it depends on: parameters (05) depend on the open/closed reaction-centre idea (04), and SIF (08) depends on the energy-partitioning idea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of this module: absorbed light energy has three possible fates that compete. Fluorescence is the one we can see, so it reports on the other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first. Chlorophyll absorbs light, becomes excited, and a small fraction of that energy is re-emitted as red/far-red light as the molecule returns to its ground state. Because PSII is very sensitive to stress, this re-emission is a cheap, fast, non-invasive window into how the photosynthetic machinery is coping.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Chlorophyll is not free in the leaf; it is bound to proteins in the thylakoid membrane. The light-harvesting complexes (LHCII, LHCI) act as antennae and funnel excitation energy to the reaction centres P680 (PSII) and P700 (PSI). Fluorescence comes mainly from the PSII antenna and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blue light make red fluorescence? Blue photons lift chlorophyll to the higher excited state S2, which relaxes within femtoseconds to S1 by internal conversion (heat). All useful work and all fluorescence start from the lowest excited singlet S1, so emission is always red, whatever the excitation colour, and it is shifted to longer wavelengths than the red absorption band (Stokes shift). From S1 the energy can go to photochemistry, heat, fluorescence, or into the triplet state, which can form harmful singlet oxygen unless carotenoids quench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concept. Because the three routes compete for the same excitation, their yields add up to one. If photochemistry slows (reaction centres closed) or heat dissipation is low, fluorescence rises. If photochemistry or NPQ increases, fluorescence is 'quenched'. Measuring fluorescence under controlled conditions therefore lets us infer the other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room temperature the variable part of the fluorescence signal comes from PSII. PSI fluorescence is weak, emitted mostly above 700 nm and does not vary much with the redox state, so with detectors that read below ~700 nm we can ignore it. This becomes important again for SIF because far-red SIF at 740–760 nm includes a PSI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fluorescence is weak and red, and ambient light also contains red. Solution: modulate the excitation and detect only the modulated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Pulse-amplitude modulation: the measuring beam is switched on and off at a known frequency. A lock-in detector only amplifies signal at that frequency, so steady sunlight or actinic light (which is not modulated) is ignored. That is why modern PAM measurements can be done in daylight without darkening the leaf. The three other light sources are used to manipulate the photosynthetic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these use the same principles. Hand-held PAM or OJIP meters measure a small spot; leaf clips allow dark adaptation in the field; imaging fluorometers measure whole leaves or plants with LEDs; multiparametric fluorometers combine chlorophyll and flavonol signals, for example to detect nitrogen deficiency.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Historical and conceptual bridge: the induction curve was the first evidence that fluorescence tracks photosynthesis.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Kautsky and Hirsch (1931) watched dark-adapted leaves suddenly illuminated: fluorescence rose to a peak within about a second, then declined over minutes to a steady state. They noticed that the decline mirrored the start of CO2 assimilation. The fast rise reflects the filling up (reduction) of the electron acceptors of PSII; the slow decline reflects quenching as photosynthesis and NPQ switch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Plotting the first second on a logarithmic time axis reveals steps O, J, I and P. The common interpretation (JIP-test, Strasser et al. 2004): O is Fo with all QA oxidised; O to J is the photochemical phase where QA is reduced; J to I and I to P reflect progressive reduction of the plastoquinone pool and the PSI acceptor side. Many parameters are derived from these points, but the paper warns that the more complex ones lack strong empirical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fast phase OJIP (under a second) is about filling the electron acceptors of PSII. The slow phase PSMT (minutes) is about the rest of the plant metabolism catching up: ATP synthesis and energy transduction, Calvin cycle activation and CO2 fixation, state transitions and non-photochemical quenching. These slow changes are what quenching analysis with saturating pulses separates.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explains the mechanism behind every PAM parameter.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P680 ejects an electron (from water splitting) to pheophytin and then to QA, a bound quinone. QA can hold only one electron. Until QA passes it to QB, that reaction centre cannot do photochemistry: it is 'closed'. Closed centres cannot use excitation energy, so more of it leaves as fluorescence or heat. The fraction of closed centres depends on light intensity and on how fast downstream metabolism takes electrons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A shows the PSII complex: LHCII antenna feeding CP43/CP47, the D1/D2 core with P680, pheophytin, QA and QB, and the oxygen-evolving complex. Panel B shows a dark-adapted trace: the measuring beam gives Fo (centres open), a saturating pulse gives Fm (centres closed), and their difference is Fv. Panel C shows the sequence that turns an open centre into a closed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initial rise under actinic light, fluorescence declines over minutes. Anything that lowers fluorescence is called quenching. Two families exist. Photochemical quenching: photosynthesis itself switches on (Calvin cycle enzymes activated, metabolite pools build up, stomata open) so electrons are drained and centres re-open. Non-photochemical quenching: the rate constant for heat dissipation increases.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chain: excess light drives linear and cyclic electron flow, which pumps protons into the thylakoid lumen. The resulting ΔpH (acid lumen) does two things: it protonates the PsbS protein and it activates violaxanthin de-epoxidase, which converts violaxanthin to zeaxanthin. Both cause conformational changes in the PSII antenna that let it dump excitation energy as heat. This energy-dependent quenching is called qE.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excess light the lumen becomes acidic and violaxanthin de-epoxidase (VDE) removes epoxide groups: violaxanthin to antheraxanthin to zeaxanthin. Zeaxanthin promotes heat dissipation in the antenna. In low light or darkness zeaxanthin epoxidase (ZE) reverses the reactions. Retained zeaxanthin causes long-lived (sustained) quenching. A second cycle, the lutein-epoxide cycle, occurs in some shade-tolerant or woody species.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Herbicides that block QB were once used to remove photochemical quenching, which is impractical. Instead, a brief (&lt;1 s), very bright flash temporarily closes every PSII centre. During the flash photochemical quenching is effectively zero and only non-photochemical processes remain. So the fluorescence measured during the pulse (Fm or Fm′) is the level the leaf would have with no photochemistry; the gap between that and the level just before the pulse is the photochemical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comes from comparing fluorescence levels in darkness, under actinic light, and during saturating pulses.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numbers on the right with the trace. Steps 1 to 2 are the dark-adapted measurement, 3 to 4 the light-adapted measurement, and 5 to 6 the dark relaxation used to study NPQ components. This stylised trace corresponds to an induction at high irradiance (≥500 µmol m-2 s-1).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symbols are the building blocks for every ratio. Keep one rule in mind: a prime (′) means the leaf is light-adapted; no prime means dark-adapted.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Fv/Fm is the fraction of absorbed light that PSII could use for photochemistry if every centre were open and there were no NPQ. It is measured on fully dark-adapted leaves. In unstressed leaves it is remarkably constant, around 0.83. A drop means PSII damage (photoinhibition) or sustained quenching. Because it is so easy, it is the most common 'stress' measurement, but see the pitfalls in Module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PhiPSII is the fraction of absorbed light actually used by PSII photochemistry right now, under the current light. It needs no dark adaptation, which is why it is the most used light parameter. It factorises into two terms: how many centres are open (qP) times how efficient an open centre is given the current NPQ (Fv′/Fm′). Multiply by absorbed light to get the electron transport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qP compares the photochemical part of the light-adapted variable fluorescence to its maximum, so it approximates the fraction of open centres. 1 − qP approximates the closed fraction and has been used as an indicator of excitation pressure and photoinhibition onset. The relation with open centres is not linear because PSII units share antennae (connectivity), so qL, which adds the correction Fo′/F′, is considered a better indicator of the redox state of QA.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NPQ (Stern–Volmer form) estimates the rate constant of heat loss from PSII relative to the dark-adapted state. It compares Fm in the dark with Fm′ in the light, so it is the only parameter that needs dark-adapted values. Danger: if a leaf is already photoinhibited, its Fm is lower, so NPQ appears lower even when heat dissipation is high. Do not compare NPQ between leaves whose Fv/Fm values differ. Older literature used qN = 1 − Fv′/Fv.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Table 1 of Murchie &amp; Lawson (2013). Notice which parameters need a dark-adapted measurement (Fv/Fm, NPQ) and which need Fo′ (Fv′/Fm′, qP, qL). PhiPSII needs neither, which explains its popularity.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made-up but realistic readings to check you can compute everything by hand. Notice the internal consistency: PhiPSII equals qP times Fv′/Fm′, and the calculated Fo′ (Oxborough &amp; Baker) is close to the measured one. Interpretation: PSII is healthy (0.80), one third of absorbed light is used photochemically at this light, about half the centres are open by qP, and NPQ is moderate.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mistakes in fluorescence work are interpretation mistakes, not instrument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NPQ is not one process. qE, energy-dependent quenching, relaxes within seconds to minutes once ΔpH collapses. qT, state transitions, moves LHCII between PSII and PSI over minutes and matters mostly in low light. qI, photoinhibitory or sustained quenching, relaxes slowly over hours or longer; it includes D1 damage and repair and long-lived zeaxanthin. So the dark adaptation time decides which components you have removed. For a plant adapted to its environment, 20-30 min usually removes qE and qT; whatever remains is qI.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 can be falsely high if the measuring beam is too strong or modulated too fast, because it then drives some charge separation; check that switching on the beam causes no rise. QA can also be partly reduced in the dark by chlororespiration; a far-red pulse before Fo oxidises it. For Fm the pulse must be truly saturating: about 2000 µmol m-2 s-1 is probably enough for dark-adapted Fm but often not for Fm′ under high actinic light; most instruments give 4000-8000, and C4 plants may need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points from the review prevent the classic over-interpretation that any drop in Fv/Fm means the plant is photosynthesising less, or that fluorescence is a generic plant stress detector.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PhiPSII depends strongly on the current light, so PAR at the leaf surface must be measured. Converting PhiPSII to ETR assumes absorptance 0.84 and equal light sharing between PSII and PSI; these break down for drought-stressed leaves, leaves with different pigment content or acclimation state. Fo′ can be wrong if the far-red light does not fully oxidise QA or if NPQ relaxes quickly after actinic off; then calculate Fo′ instead with the Oxborough &amp; Baker equation. PSI contributes to fluorescence above 700 nm and multiple turnovers during the pulse add small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ATP and NADPH from linear electron transport are used in carbon fixation in fixed ratios, so PhiPSII and the quantum yield of CO2 fixation correlate. In C3 plants the link is cleanest when photorespiration is suppressed (2% O2): then about 4 electrons are needed per CO2. Photorespiration, the Mehler reaction and cyclic electron flow are alternative electron sinks that change the ratio, for example during stomatal closure, temperature change or stress. In C4 plants the CO2-concentrating mechanism suppresses photorespiration, so the relation is more linear. PSI redox (P700 absorbance at 810–840 nm) can be measured alongside.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protocols given at the end of the review. Most devices calculate the values automatically; the careful user should check these steps and compare results with the stylised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Imaging uses the same principles but over an area, which reveals heterogeneity a point measurement would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Imaging systems use banks of LEDs for measuring, actinic and saturating light and a camera instead of a fibre-optic probe. Each pixel gets its own Fv/Fm, PhiPSII or NPQ. This reveals spatial heterogeneity (e.g. patchy stomatal closure, infection sites), lets many plants be screened at once under identical conditions, and can be combined with gas exchange, thermography or hyperspectral sensors.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 steady-state fluorescence and PhiPSII showing patchy stomatal closure after a humidity drop; (c) herbicide screening of Arabidopsis in a 96-well plate; (d) heterogeneity in PhiPSII of two Arabidopsis plants; (e) guard-cell chloroplasts in Tradescantia epidermis at high resolution; (f) transgenic plants with reduced SBPase; (g) wheat varieties with different rust susceptibility; (h) DCMU uptake via the petiole; (i) cadmium effects in the aquatic plant Lemna.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examples from the original slides show how Fm and other images reveal damage before it is visible: post-harvest damage and green mould infection of lemons appear in fluorescence images, young and old leaves differ in their kinetics, and heterocysts in cyanobacteria (which do not have PSII activity) appear dark in Fm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Images of Fv/Fm, Y(II) (= PhiPSII) and NPQ of leaves under control, cadmium, NaCl and combined stress after 2 and 3 weeks, with the corresponding time courses below. Note that each parameter responds differently and with a different time course, which is why measuring several parameters is more informative than Fv/Fm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 physiologists need to link second-scale measurements to growth over weeks and months. Monitoring PAM systems leave measuring heads clipped on leaves for weeks, powered by solar panels; at night Fm′ and Fo′ become Fm and Fo. LIFT uses a laser to excite canopies from 5–50 m and measures PSII yield remotely. Beyond that, no artificial light can saturate a canopy, so we switch to passive sensing of sunlight-induced fluorescence in Fraunhofer lines and oxygen bands: this is SIF.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SIF uses the sun as the excitation source and exploits dark absorption lines in the solar spectrum to separate a tiny fluorescence signal from reflected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physics is the same, but the measurement is completely different. PAM controls the light and uses saturating pulses to obtain yields. SIF cannot control the light: it measures the absolute fluorescence flux emitted under ambient sunlight, which depends on how much light is absorbed (APAR), the fluorescence yield, and how much escapes the canopy.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Fluorescence was first seen in 1834 by Brewster in a laurel extract. Stokes coined the word in 1852; Müller in 1874 suggested a link with assimilation; Kautsky and Hirsch in 1931 established it. McAlister and Myers showed both inverse and direct relationships with CO2 uptake; Duysens and Sweers pioneered modulated light and described what we now call NPQ. Plascyk's Fraunhofer Line Discriminator (1975) and Schreiber's PAM (1986) followed. Around 2000 Zarco-Tejada demonstrated fluorescence in canopy reflectance; in 2011 GOSAT gave the first global SIF maps; FLEX was selected by ESA in 2015, and TROPOMI launched in 2017.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 intact leaf, fluorescence spans about 650–800 nm with two peaks: red near 685–690 nm (F685) and far-red near 730–740 nm (F740). PSII emits in both regions; PSI mainly in the far-red. In healthy green leaves the red peak is lower than the far-red peak because chlorophyll re-absorbs red fluorescence on its way out of the leaf. The same figure also restates the three fates of absorbed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Chlorophyll absorbs between ~400 and 720 nm, overlapping the red emission, so red fluorescence is re-absorbed inside the leaf and canopy, and saturates quickly as chlorophyll increases. Far-red escapes much more. Therefore the red/far-red ratio falls as chlorophyll content rises (Gitelson's F735/F700 index). In the canopy, scattering and re-absorption shape the observed SIF: the fluorescence escape probability fesc looks very similar to reflectance. The SCOPE simulation shows this for four leaf chlorophyll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Plotted at 0.1 nm resolution for dense summer vegetation, top-of-canopy radiance (grey) is dominated by reflected sunlight; SIF (red) is only a few per cent of it overall. But inside narrow absorption bands where incoming sunlight is very dim, the relative contribution of SIF jumps: more than 10% in the O2-A (760 nm) and O2-B (687 nm) bands. That is the trick every retrieval method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dark lines exist in the sunlight reaching vegetation. Fraunhofer lines are produced by gases in the sun's own atmosphere; they are narrow and fairly shallow, but the Earth's atmosphere hardly affects their relative depth, so atmospheric modelling is easier, which is why satellites use them. Telluric oxygen bands are produced by O2 in Earth's atmosphere; they are wide and deep, giving a strong in-filling signal, but they require accurate atmospheric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Top-of-canopy radiance is the sum of reflected sunlight and fluorescence. With two unknowns (r and SIF) at each wavelength we need two measurements: one inside the absorption band and one just outside. If r and SIF are assumed equal at both, we can solve for SIF. The chart shows the idea: normalised to the shoulder, the radiance dip is shallower than the irradiance dip, because fluorescence fills it in. 3FLD, iFLD and cFLD improve on the constant-r/F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2 of the review groups methods into two classes. Class one retrieves SIF only at selected absorption bands: either O2 bands (FLD and variants, spectral fitting methods SFM) or Fraunhofer lines (simple physically based fitting, or data-driven PCA/SVD approaches using non-vegetated reference pixels). Class two retrieves the full SIF spectrum: spectrum fitting with basis spectra (FSR, F-SFM, SpecFit) or inversion of a canopy radiative transfer model, which also returns parameters like chlorophyll, LAI and fAPAR.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with a good algorithm, several effects can mimic or hide SIF. For O2 bands, the atmosphere must be modelled very accurately (path length, pressure, aerosols) either in two steps (TOA to TOC, then retrieval) or in one step. The direct-to-diffuse ratio changes band depth (up to ~20% error at O2-A). Canopy anisotropy and sun–sensor geometry change what fraction of sunlit and shaded leaves is seen. Satellites also suffer zero-level offsets, cloud and aerosol contamination and sensor degradation.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are essential to interpret SIF. Leaf physiological models describe how absorbed energy is partitioned (Genty equation, Rosema NPQ model, van der Tol &amp; Berry). Leaf radiative transfer models describe absorption, emission and re-absorption inside the leaf (PROSPECT, FluorMODleaf, Fluspect). Canopy models add structure (FluorSAIL, SCOPE in 1D; DART, FluorFLIGHT, FluorWPS in 3D). Finally SIF is assimilated into global land surface models (CLM, BETHY, ORCHIDEE).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DART represents every plant element in 3D, computes sunlit and shaded leaves through the day, and simulates reflectance and PSII/PSI fluorescence images. The hourly curve shows that canopy SIF follows the daily course of sunlight, with PSII and PSI contributions at 742.5 nm.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GPP and SIF are proportional to absorbed PAR. GPP = APAR × light-use efficiency; SIF = APAR × fluorescence yield × escape probability. Much of the observed SIF–GPP correlation therefore comes from APAR (shared absorption by chlorophyll). The yield terms add physiological information, but their relationship is not fixed: it depends on NPQ, stress, structure and scale. Under stress-free days the relationship can be hyperbolic, under stress more linear; aggregation over space and time tends to linearise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platform trades autonomy, cost and spatial coverage against physiological detail. Hand-held leaf devices (FluoWat leaf clip with short-pass filter) give the full SIF spectrum of single leaves. Top-of-canopy spectrometers on towers (FloX, FluoSpec, PhotoSpec, AutoSIF, FUSION) run automatically to capture diurnal and seasonal dynamics. UAVs give very high spatial resolution. Airborne imagers (AIRFLEX, HyPlant, CFIS) map fields and validate satellites.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 fixed-wing UAV with a micro-hyperspectral imager retrieved SIF (3FLD, O2-A) from 30–40 cm pixels over an olive orchard and a water-stressed citrus field, isolating pure tree crowns from shadow and soil. Right: HyPlant maps over Klein Altendorf, Germany. Fields A and B look almost identical in reflectance but have very different SIF, showing that fluorescence carries information not visible in reflectance.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 early satellites were designed for SIF; they were built for atmospheric chemistry (CO2, methane, ozone), but their high spectral resolution near the O2-A band allowed far-red SIF retrieval from Fraunhofer lines. FLEX will be the first mission designed specifically for SIF. Note the trade-offs: GOSAT and OCO-2 have very high spectral resolution but sparse sampling; GOME-2 large footprints; TROPOMI daily global coverage at 7 km.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annual 2009 map from GOME-2 shows where photosynthesis is most active: tropical forests, the US Corn Belt in summer, eastern China and northern India croplands. GOME-2 has about 0.5 nm resolution and SNR above 1000 near 740 nm, allowing monthly 0.5° maps. TROPOMI now gives daily data at 7 × 7 km, enough to see biome-scale patterns in much finer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ESA's FLuorescence EXplorer, the 8th Earth Explorer, flies in tandem with Sentinel-3. Its single payload, FLORIS, is a dual imaging spectrometer covering 500–780 nm with high spectral resolution in the red and far-red, giving the full fluorescence spectrum, the red and far-red peaks, O2-B and O2-A features, and reflectance indices such as PRI. Sentinel-3's OLCI and SLSTR provide atmospheric, thermal and land-cover information. The review gave a projected launch of 2022; the launch has since moved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4 of the review lists applications. In photosynthesis: APAR, diurnal and seasonal dynamics, GPP (empirical and modelled), light-use efficiency, phenology, vegetation type. In stress detection: bacterial infection (Xylella fastidiosa in olive, detected with &gt;80% accuracy combined with thermal and other indices), fungal infection, heat, herbicide, nitrogen deficit, transpiration and drought. SIF is often combined with ancillary indices like NDVI, PRI, MTCI and canopy-minus-air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factor in this table can change SIF through one or more processes: absorption of incident light (A), re-absorption (R), scattering (S), photochemical quenching (PQ), NPQ, or other photoprotection (OP). The right-hand columns show at which ecological scale (leaf, canopy, ecosystem, biome) and timescale each matters. Use it as a checklist before interpreting a SIF change as 'photosynthesis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review's main messages: understand confounding factors, validate satellite retrievals with ground and airborne data, quantify NPQ (with PRI or temperature differences), deliver user-friendly products, and combine spatial and temporal scales. Practical farming needs ~20 m spatial resolution and frequent revisits; forests need high spatial detail; high latitudes need very high SNR. Geostationary missions, FLEX and machine-learning emulators are expected to move SIF from research to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slides for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approaches start from the same partitioning of absorbed energy into photochemistry, heat and fluorescence. PAM manipulates light to measure yields and separate photochemical from non-photochemical quenching. SIF measures the fluorescence flux under natural light, which combines how much light is absorbed with the yield and escape of fluorescence, and is related to GPP mainly through APAR.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formulas in one place for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students most often ask. Try answering each before reading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students most often ask. Try answering each before reading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sources for this deck. The two review papers are the backbone; the others are classics cited within them for deeper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694944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794760"/>
            <a:ext cx="6766560" cy="118872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Chlorophyll fluorescence &amp; SIF  ·  a systematic guide</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e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4.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4.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4.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4.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4.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gif"/><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4.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slideLayout" Target="../slideLayouts/slideLayout4.xml"/><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image" Target="../media/image-35-2.png"/><Relationship Id="rId3" Type="http://schemas.openxmlformats.org/officeDocument/2006/relationships/slideLayout" Target="../slideLayouts/slideLayout4.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4.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4.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4.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4.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slideLayout" Target="../slideLayouts/slideLayout4.xml"/><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4.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slideLayout" Target="../slideLayouts/slideLayout4.xml"/><Relationship Id="rId7"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4.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slideLayout" Target="../slideLayouts/slideLayout4.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4.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slideLayout" Target="../slideLayouts/slideLayout4.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52-1.png"/><Relationship Id="rId3" Type="http://schemas.openxmlformats.org/officeDocument/2006/relationships/image" Target="../media/image-52-2.png"/><Relationship Id="rId4" Type="http://schemas.openxmlformats.org/officeDocument/2006/relationships/slideLayout" Target="../slideLayouts/slideLayout4.xml"/><Relationship Id="rId5"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image" Target="../media/image-54-6.png"/><Relationship Id="rId7" Type="http://schemas.openxmlformats.org/officeDocument/2006/relationships/slideLayout" Target="../slideLayouts/slideLayout4.xml"/><Relationship Id="rId8"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4.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slideLayout" Target="../slideLayouts/slideLayout4.xml"/><Relationship Id="rId6"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slideLayout" Target="../slideLayouts/slideLayout4.xml"/><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image" Target="../media/image-58-5.png"/><Relationship Id="rId6" Type="http://schemas.openxmlformats.org/officeDocument/2006/relationships/slideLayout" Target="../slideLayouts/slideLayout4.xml"/><Relationship Id="rId7"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image" Target="../media/image-59-4.png"/><Relationship Id="rId5" Type="http://schemas.openxmlformats.org/officeDocument/2006/relationships/slideLayout" Target="../slideLayouts/slideLayout4.xml"/><Relationship Id="rId6"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slideLayout" Target="../slideLayouts/slideLayout4.xml"/><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4.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5" Type="http://schemas.openxmlformats.org/officeDocument/2006/relationships/image" Target="../media/image-63-5.png"/><Relationship Id="rId6" Type="http://schemas.openxmlformats.org/officeDocument/2006/relationships/image" Target="../media/image-63-6.png"/><Relationship Id="rId7" Type="http://schemas.openxmlformats.org/officeDocument/2006/relationships/image" Target="../media/image-63-7.png"/><Relationship Id="rId8" Type="http://schemas.openxmlformats.org/officeDocument/2006/relationships/image" Target="../media/image-63-8.png"/><Relationship Id="rId9" Type="http://schemas.openxmlformats.org/officeDocument/2006/relationships/slideLayout" Target="../slideLayouts/slideLayout4.xml"/><Relationship Id="rId10"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slideLayout" Target="../slideLayouts/slideLayout4.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image" Target="../media/image-65-4.png"/><Relationship Id="rId5" Type="http://schemas.openxmlformats.org/officeDocument/2006/relationships/image" Target="../media/image-65-5.png"/><Relationship Id="rId6" Type="http://schemas.openxmlformats.org/officeDocument/2006/relationships/image" Target="../media/image-65-6.png"/><Relationship Id="rId7" Type="http://schemas.openxmlformats.org/officeDocument/2006/relationships/slideLayout" Target="../slideLayouts/slideLayout4.xml"/><Relationship Id="rId8"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slideLayout" Target="../slideLayouts/slideLayout4.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image" Target="../media/image-69-4.png"/><Relationship Id="rId5" Type="http://schemas.openxmlformats.org/officeDocument/2006/relationships/slideLayout" Target="../slideLayouts/slideLayout4.xml"/><Relationship Id="rId6"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image" Target="../media/image-70-3.png"/><Relationship Id="rId4" Type="http://schemas.openxmlformats.org/officeDocument/2006/relationships/image" Target="../media/image-70-4.png"/><Relationship Id="rId5" Type="http://schemas.openxmlformats.org/officeDocument/2006/relationships/slideLayout" Target="../slideLayouts/slideLayout4.xml"/><Relationship Id="rId6"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6949440" cy="2011680"/>
          </a:xfrm>
          <a:prstGeom prst="rect">
            <a:avLst/>
          </a:prstGeom>
          <a:noFill/>
          <a:ln/>
        </p:spPr>
        <p:txBody>
          <a:bodyPr wrap="square" lIns="0" tIns="0" rIns="0" bIns="0" rtlCol="0" anchor="b"/>
          <a:lstStyle/>
          <a:p>
            <a:pPr algn="l" indent="0" marL="0">
              <a:buNone/>
            </a:pPr>
            <a:r>
              <a:rPr lang="en-US" sz="4400" b="1" dirty="0">
                <a:solidFill>
                  <a:schemeClr val="bg1"/>
                </a:solidFill>
              </a:rPr>
              <a:t>Chlorophyll Fluorescence &amp; Sun-Induced Fluorescence</a:t>
            </a:r>
            <a:endParaRPr lang="en-US" sz="4400" dirty="0"/>
          </a:p>
        </p:txBody>
      </p:sp>
      <p:sp>
        <p:nvSpPr>
          <p:cNvPr id="3" name="Text 0"/>
          <p:cNvSpPr/>
          <p:nvPr>
            <p:ph idx="101" type="body" hasCustomPrompt="1"/>
          </p:nvPr>
        </p:nvSpPr>
        <p:spPr>
          <a:xfrm>
            <a:off x="731520" y="3794760"/>
            <a:ext cx="6766560" cy="1188720"/>
          </a:xfrm>
          <a:prstGeom prst="rect">
            <a:avLst/>
          </a:prstGeom>
          <a:noFill/>
          <a:ln/>
        </p:spPr>
        <p:txBody>
          <a:bodyPr wrap="square" lIns="0" tIns="0" rIns="0" bIns="0" rtlCol="0" anchor="t"/>
          <a:lstStyle/>
          <a:p>
            <a:pPr indent="0" marL="0">
              <a:buNone/>
            </a:pPr>
            <a:r>
              <a:rPr lang="en-US" sz="1800" dirty="0">
                <a:solidFill>
                  <a:schemeClr val="bg2"/>
                </a:solidFill>
              </a:rPr>
              <a:t>From PSII photophysics and PAM fluorometry to remote sensing of SIF from space — a systematic, diagram-led guide</a:t>
            </a:r>
            <a:endParaRPr lang="en-US" sz="1800" dirty="0"/>
          </a:p>
        </p:txBody>
      </p:sp>
      <p:sp>
        <p:nvSpPr>
          <p:cNvPr id="4" name="glow"/>
          <p:cNvSpPr/>
          <p:nvPr/>
        </p:nvSpPr>
        <p:spPr>
          <a:xfrm>
            <a:off x="8229600" y="1005840"/>
            <a:ext cx="3383280" cy="3383280"/>
          </a:xfrm>
          <a:prstGeom prst="ellipse">
            <a:avLst/>
          </a:prstGeom>
          <a:solidFill>
            <a:schemeClr val="accent1">
              <a:alpha val="30000"/>
            </a:schemeClr>
          </a:solidFill>
          <a:ln/>
        </p:spPr>
      </p:sp>
      <p:pic>
        <p:nvPicPr>
          <p:cNvPr id="5" name="Image 0" descr="Chlorophyll extract under white light (green) and UV light (red fluorescence)">    </p:cNvPr>
          <p:cNvPicPr>
            <a:picLocks noChangeAspect="1"/>
          </p:cNvPicPr>
          <p:nvPr/>
        </p:nvPicPr>
        <p:blipFill>
          <a:blip r:embed="rId1"/>
          <a:stretch>
            <a:fillRect/>
          </a:stretch>
        </p:blipFill>
        <p:spPr>
          <a:xfrm>
            <a:off x="9006840" y="1234440"/>
            <a:ext cx="1828800" cy="2443942"/>
          </a:xfrm>
          <a:prstGeom prst="rect">
            <a:avLst/>
          </a:prstGeom>
        </p:spPr>
      </p:pic>
      <p:sp>
        <p:nvSpPr>
          <p:cNvPr id="6" name="Text 3"/>
          <p:cNvSpPr txBox="1"/>
          <p:nvPr/>
        </p:nvSpPr>
        <p:spPr>
          <a:xfrm>
            <a:off x="8138160" y="3794760"/>
            <a:ext cx="3566160" cy="457200"/>
          </a:xfrm>
          <a:prstGeom prst="rect">
            <a:avLst/>
          </a:prstGeom>
          <a:noFill/>
          <a:ln/>
        </p:spPr>
        <p:txBody>
          <a:bodyPr wrap="square" lIns="0" tIns="0" rIns="0" bIns="0" rtlCol="0" anchor="ctr"/>
          <a:lstStyle/>
          <a:p>
            <a:pPr algn="ctr" indent="0" marL="0">
              <a:buNone/>
            </a:pPr>
            <a:r>
              <a:rPr lang="en-US" sz="1100" i="1" dirty="0">
                <a:solidFill>
                  <a:schemeClr val="bg2"/>
                </a:solidFill>
              </a:rPr>
              <a:t>Chlorophyll extract: green in white light, glowing red under UV</a:t>
            </a:r>
            <a:endParaRPr lang="en-US" sz="1100" dirty="0"/>
          </a:p>
        </p:txBody>
      </p:sp>
      <p:sp>
        <p:nvSpPr>
          <p:cNvPr id="7" name="Text 4"/>
          <p:cNvSpPr txBox="1"/>
          <p:nvPr/>
        </p:nvSpPr>
        <p:spPr>
          <a:xfrm>
            <a:off x="731520" y="5943600"/>
            <a:ext cx="10515600" cy="457200"/>
          </a:xfrm>
          <a:prstGeom prst="rect">
            <a:avLst/>
          </a:prstGeom>
          <a:noFill/>
          <a:ln/>
        </p:spPr>
        <p:txBody>
          <a:bodyPr wrap="square" lIns="0" tIns="0" rIns="0" bIns="0" rtlCol="0" anchor="ctr"/>
          <a:lstStyle/>
          <a:p>
            <a:pPr indent="0" marL="0">
              <a:buNone/>
            </a:pPr>
            <a:r>
              <a:rPr lang="en-US" sz="1100" dirty="0">
                <a:solidFill>
                  <a:schemeClr val="bg2"/>
                </a:solidFill>
              </a:rPr>
              <a:t>Based on Murchie &amp; Lawson (2013) J. Exp. Bot. 64: 3983–3998 · Mohammed et al. (2019) Remote Sens. Environ. 231: 111177 · course slides on Chl a fluorescence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Roadmap of this deck</a:t>
            </a:r>
            <a:endParaRPr lang="en-US" sz="3200" dirty="0"/>
          </a:p>
        </p:txBody>
      </p:sp>
      <p:sp>
        <p:nvSpPr>
          <p:cNvPr id="4" name="card"/>
          <p:cNvSpPr/>
          <p:nvPr/>
        </p:nvSpPr>
        <p:spPr>
          <a:xfrm>
            <a:off x="548640" y="1371600"/>
            <a:ext cx="3520440"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5" name="Text 2"/>
          <p:cNvSpPr txBox="1"/>
          <p:nvPr/>
        </p:nvSpPr>
        <p:spPr>
          <a:xfrm>
            <a:off x="731520" y="1554480"/>
            <a:ext cx="822960" cy="64008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01</a:t>
            </a:r>
            <a:endParaRPr lang="en-US" sz="3000" dirty="0"/>
          </a:p>
        </p:txBody>
      </p:sp>
      <p:sp>
        <p:nvSpPr>
          <p:cNvPr id="6" name="Text 3"/>
          <p:cNvSpPr txBox="1"/>
          <p:nvPr/>
        </p:nvSpPr>
        <p:spPr>
          <a:xfrm>
            <a:off x="1600200" y="1554480"/>
            <a:ext cx="2331720" cy="411480"/>
          </a:xfrm>
          <a:prstGeom prst="rect">
            <a:avLst/>
          </a:prstGeom>
          <a:noFill/>
          <a:ln/>
        </p:spPr>
        <p:txBody>
          <a:bodyPr wrap="square" lIns="0" tIns="0" rIns="0" bIns="0" rtlCol="0" anchor="ctr"/>
          <a:lstStyle/>
          <a:p>
            <a:pPr indent="0" marL="0">
              <a:buNone/>
            </a:pPr>
            <a:r>
              <a:rPr lang="en-US" sz="1700" b="1" dirty="0">
                <a:solidFill>
                  <a:schemeClr val="tx2"/>
                </a:solidFill>
              </a:rPr>
              <a:t>Foundations</a:t>
            </a:r>
            <a:endParaRPr lang="en-US" sz="1700" dirty="0"/>
          </a:p>
        </p:txBody>
      </p:sp>
      <p:sp>
        <p:nvSpPr>
          <p:cNvPr id="7" name="Text 4"/>
          <p:cNvSpPr txBox="1"/>
          <p:nvPr/>
        </p:nvSpPr>
        <p:spPr>
          <a:xfrm>
            <a:off x="1600200" y="1993392"/>
            <a:ext cx="2331720" cy="685800"/>
          </a:xfrm>
          <a:prstGeom prst="rect">
            <a:avLst/>
          </a:prstGeom>
          <a:noFill/>
          <a:ln/>
        </p:spPr>
        <p:txBody>
          <a:bodyPr wrap="square" lIns="0" tIns="0" rIns="0" bIns="0" rtlCol="0" anchor="t"/>
          <a:lstStyle/>
          <a:p>
            <a:pPr indent="0" marL="0">
              <a:buNone/>
            </a:pPr>
            <a:r>
              <a:rPr lang="en-US" sz="1300" dirty="0">
                <a:solidFill>
                  <a:schemeClr val="tx1"/>
                </a:solidFill>
              </a:rPr>
              <a:t>What fluorescence is and where it comes from</a:t>
            </a:r>
            <a:endParaRPr lang="en-US" sz="1300" dirty="0"/>
          </a:p>
        </p:txBody>
      </p:sp>
      <p:sp>
        <p:nvSpPr>
          <p:cNvPr id="8" name="card"/>
          <p:cNvSpPr/>
          <p:nvPr/>
        </p:nvSpPr>
        <p:spPr>
          <a:xfrm>
            <a:off x="4297680" y="1371600"/>
            <a:ext cx="3520440"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9" name="Text 6"/>
          <p:cNvSpPr txBox="1"/>
          <p:nvPr/>
        </p:nvSpPr>
        <p:spPr>
          <a:xfrm>
            <a:off x="4480560" y="1554480"/>
            <a:ext cx="822960" cy="64008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02</a:t>
            </a:r>
            <a:endParaRPr lang="en-US" sz="3000" dirty="0"/>
          </a:p>
        </p:txBody>
      </p:sp>
      <p:sp>
        <p:nvSpPr>
          <p:cNvPr id="10" name="Text 7"/>
          <p:cNvSpPr txBox="1"/>
          <p:nvPr/>
        </p:nvSpPr>
        <p:spPr>
          <a:xfrm>
            <a:off x="5349240" y="1554480"/>
            <a:ext cx="2331720" cy="411480"/>
          </a:xfrm>
          <a:prstGeom prst="rect">
            <a:avLst/>
          </a:prstGeom>
          <a:noFill/>
          <a:ln/>
        </p:spPr>
        <p:txBody>
          <a:bodyPr wrap="square" lIns="0" tIns="0" rIns="0" bIns="0" rtlCol="0" anchor="ctr"/>
          <a:lstStyle/>
          <a:p>
            <a:pPr indent="0" marL="0">
              <a:buNone/>
            </a:pPr>
            <a:r>
              <a:rPr lang="en-US" sz="1700" b="1" dirty="0">
                <a:solidFill>
                  <a:schemeClr val="tx2"/>
                </a:solidFill>
              </a:rPr>
              <a:t>Measuring it</a:t>
            </a:r>
            <a:endParaRPr lang="en-US" sz="1700" dirty="0"/>
          </a:p>
        </p:txBody>
      </p:sp>
      <p:sp>
        <p:nvSpPr>
          <p:cNvPr id="11" name="Text 8"/>
          <p:cNvSpPr txBox="1"/>
          <p:nvPr/>
        </p:nvSpPr>
        <p:spPr>
          <a:xfrm>
            <a:off x="5349240" y="1993392"/>
            <a:ext cx="2331720" cy="685800"/>
          </a:xfrm>
          <a:prstGeom prst="rect">
            <a:avLst/>
          </a:prstGeom>
          <a:noFill/>
          <a:ln/>
        </p:spPr>
        <p:txBody>
          <a:bodyPr wrap="square" lIns="0" tIns="0" rIns="0" bIns="0" rtlCol="0" anchor="t"/>
          <a:lstStyle/>
          <a:p>
            <a:pPr indent="0" marL="0">
              <a:buNone/>
            </a:pPr>
            <a:r>
              <a:rPr lang="en-US" sz="1300" dirty="0">
                <a:solidFill>
                  <a:schemeClr val="tx1"/>
                </a:solidFill>
              </a:rPr>
              <a:t>Ambient light problem, PAM modulation, instruments</a:t>
            </a:r>
            <a:endParaRPr lang="en-US" sz="1300" dirty="0"/>
          </a:p>
        </p:txBody>
      </p:sp>
      <p:sp>
        <p:nvSpPr>
          <p:cNvPr id="12" name="card"/>
          <p:cNvSpPr/>
          <p:nvPr/>
        </p:nvSpPr>
        <p:spPr>
          <a:xfrm>
            <a:off x="8046720" y="1371600"/>
            <a:ext cx="3520440"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13" name="Text 10"/>
          <p:cNvSpPr txBox="1"/>
          <p:nvPr/>
        </p:nvSpPr>
        <p:spPr>
          <a:xfrm>
            <a:off x="8229600" y="1554480"/>
            <a:ext cx="822960" cy="64008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03</a:t>
            </a:r>
            <a:endParaRPr lang="en-US" sz="3000" dirty="0"/>
          </a:p>
        </p:txBody>
      </p:sp>
      <p:sp>
        <p:nvSpPr>
          <p:cNvPr id="14" name="Text 11"/>
          <p:cNvSpPr txBox="1"/>
          <p:nvPr/>
        </p:nvSpPr>
        <p:spPr>
          <a:xfrm>
            <a:off x="9098280" y="1554480"/>
            <a:ext cx="2331720" cy="411480"/>
          </a:xfrm>
          <a:prstGeom prst="rect">
            <a:avLst/>
          </a:prstGeom>
          <a:noFill/>
          <a:ln/>
        </p:spPr>
        <p:txBody>
          <a:bodyPr wrap="square" lIns="0" tIns="0" rIns="0" bIns="0" rtlCol="0" anchor="ctr"/>
          <a:lstStyle/>
          <a:p>
            <a:pPr indent="0" marL="0">
              <a:buNone/>
            </a:pPr>
            <a:r>
              <a:rPr lang="en-US" sz="1700" b="1" dirty="0">
                <a:solidFill>
                  <a:schemeClr val="tx2"/>
                </a:solidFill>
              </a:rPr>
              <a:t>Induction kinetics</a:t>
            </a:r>
            <a:endParaRPr lang="en-US" sz="1700" dirty="0"/>
          </a:p>
        </p:txBody>
      </p:sp>
      <p:sp>
        <p:nvSpPr>
          <p:cNvPr id="15" name="Text 12"/>
          <p:cNvSpPr txBox="1"/>
          <p:nvPr/>
        </p:nvSpPr>
        <p:spPr>
          <a:xfrm>
            <a:off x="9098280" y="1993392"/>
            <a:ext cx="2331720" cy="685800"/>
          </a:xfrm>
          <a:prstGeom prst="rect">
            <a:avLst/>
          </a:prstGeom>
          <a:noFill/>
          <a:ln/>
        </p:spPr>
        <p:txBody>
          <a:bodyPr wrap="square" lIns="0" tIns="0" rIns="0" bIns="0" rtlCol="0" anchor="t"/>
          <a:lstStyle/>
          <a:p>
            <a:pPr indent="0" marL="0">
              <a:buNone/>
            </a:pPr>
            <a:r>
              <a:rPr lang="en-US" sz="1300" dirty="0">
                <a:solidFill>
                  <a:schemeClr val="tx1"/>
                </a:solidFill>
              </a:rPr>
              <a:t>Kautsky effect, OJIP and the slow PSMT phase</a:t>
            </a:r>
            <a:endParaRPr lang="en-US" sz="1300" dirty="0"/>
          </a:p>
        </p:txBody>
      </p:sp>
      <p:sp>
        <p:nvSpPr>
          <p:cNvPr id="16" name="card"/>
          <p:cNvSpPr/>
          <p:nvPr/>
        </p:nvSpPr>
        <p:spPr>
          <a:xfrm>
            <a:off x="548640" y="2999232"/>
            <a:ext cx="3520440"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17" name="Text 14"/>
          <p:cNvSpPr txBox="1"/>
          <p:nvPr/>
        </p:nvSpPr>
        <p:spPr>
          <a:xfrm>
            <a:off x="731520" y="3182112"/>
            <a:ext cx="822960" cy="640080"/>
          </a:xfrm>
          <a:prstGeom prst="rect">
            <a:avLst/>
          </a:prstGeom>
          <a:noFill/>
          <a:ln/>
        </p:spPr>
        <p:txBody>
          <a:bodyPr wrap="square" lIns="0" tIns="0" rIns="0" bIns="0" rtlCol="0" anchor="ctr"/>
          <a:lstStyle/>
          <a:p>
            <a:pPr indent="0" marL="0">
              <a:buNone/>
            </a:pPr>
            <a:r>
              <a:rPr lang="en-US" sz="3000" b="1" dirty="0">
                <a:solidFill>
                  <a:schemeClr val="accent5"/>
                </a:solidFill>
                <a:latin typeface="Cambria" pitchFamily="34" charset="0"/>
                <a:ea typeface="Cambria" pitchFamily="34" charset="-122"/>
                <a:cs typeface="Cambria" pitchFamily="34" charset="-120"/>
              </a:rPr>
              <a:t>04</a:t>
            </a:r>
            <a:endParaRPr lang="en-US" sz="3000" dirty="0"/>
          </a:p>
        </p:txBody>
      </p:sp>
      <p:sp>
        <p:nvSpPr>
          <p:cNvPr id="18" name="Text 15"/>
          <p:cNvSpPr txBox="1"/>
          <p:nvPr/>
        </p:nvSpPr>
        <p:spPr>
          <a:xfrm>
            <a:off x="1600200" y="3182112"/>
            <a:ext cx="2331720" cy="411480"/>
          </a:xfrm>
          <a:prstGeom prst="rect">
            <a:avLst/>
          </a:prstGeom>
          <a:noFill/>
          <a:ln/>
        </p:spPr>
        <p:txBody>
          <a:bodyPr wrap="square" lIns="0" tIns="0" rIns="0" bIns="0" rtlCol="0" anchor="ctr"/>
          <a:lstStyle/>
          <a:p>
            <a:pPr indent="0" marL="0">
              <a:buNone/>
            </a:pPr>
            <a:r>
              <a:rPr lang="en-US" sz="1700" b="1" dirty="0">
                <a:solidFill>
                  <a:schemeClr val="tx2"/>
                </a:solidFill>
              </a:rPr>
              <a:t>PSII redox &amp; quenching</a:t>
            </a:r>
            <a:endParaRPr lang="en-US" sz="1700" dirty="0"/>
          </a:p>
        </p:txBody>
      </p:sp>
      <p:sp>
        <p:nvSpPr>
          <p:cNvPr id="19" name="Text 16"/>
          <p:cNvSpPr txBox="1"/>
          <p:nvPr/>
        </p:nvSpPr>
        <p:spPr>
          <a:xfrm>
            <a:off x="1600200" y="3621024"/>
            <a:ext cx="2331720" cy="685800"/>
          </a:xfrm>
          <a:prstGeom prst="rect">
            <a:avLst/>
          </a:prstGeom>
          <a:noFill/>
          <a:ln/>
        </p:spPr>
        <p:txBody>
          <a:bodyPr wrap="square" lIns="0" tIns="0" rIns="0" bIns="0" rtlCol="0" anchor="t"/>
          <a:lstStyle/>
          <a:p>
            <a:pPr indent="0" marL="0">
              <a:buNone/>
            </a:pPr>
            <a:r>
              <a:rPr lang="en-US" sz="1300" dirty="0">
                <a:solidFill>
                  <a:schemeClr val="tx1"/>
                </a:solidFill>
              </a:rPr>
              <a:t>Open/closed centres, qP, NPQ, saturating pulse</a:t>
            </a:r>
            <a:endParaRPr lang="en-US" sz="1300" dirty="0"/>
          </a:p>
        </p:txBody>
      </p:sp>
      <p:sp>
        <p:nvSpPr>
          <p:cNvPr id="20" name="card"/>
          <p:cNvSpPr/>
          <p:nvPr/>
        </p:nvSpPr>
        <p:spPr>
          <a:xfrm>
            <a:off x="4297680" y="2999232"/>
            <a:ext cx="3520440"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21" name="Text 18"/>
          <p:cNvSpPr txBox="1"/>
          <p:nvPr/>
        </p:nvSpPr>
        <p:spPr>
          <a:xfrm>
            <a:off x="4480560" y="3182112"/>
            <a:ext cx="822960" cy="640080"/>
          </a:xfrm>
          <a:prstGeom prst="rect">
            <a:avLst/>
          </a:prstGeom>
          <a:noFill/>
          <a:ln/>
        </p:spPr>
        <p:txBody>
          <a:bodyPr wrap="square" lIns="0" tIns="0" rIns="0" bIns="0" rtlCol="0" anchor="ctr"/>
          <a:lstStyle/>
          <a:p>
            <a:pPr indent="0" marL="0">
              <a:buNone/>
            </a:pPr>
            <a:r>
              <a:rPr lang="en-US" sz="3000" b="1" dirty="0">
                <a:solidFill>
                  <a:schemeClr val="accent5"/>
                </a:solidFill>
                <a:latin typeface="Cambria" pitchFamily="34" charset="0"/>
                <a:ea typeface="Cambria" pitchFamily="34" charset="-122"/>
                <a:cs typeface="Cambria" pitchFamily="34" charset="-120"/>
              </a:rPr>
              <a:t>05</a:t>
            </a:r>
            <a:endParaRPr lang="en-US" sz="3000" dirty="0"/>
          </a:p>
        </p:txBody>
      </p:sp>
      <p:sp>
        <p:nvSpPr>
          <p:cNvPr id="22" name="Text 19"/>
          <p:cNvSpPr txBox="1"/>
          <p:nvPr/>
        </p:nvSpPr>
        <p:spPr>
          <a:xfrm>
            <a:off x="5349240" y="3182112"/>
            <a:ext cx="2331720" cy="411480"/>
          </a:xfrm>
          <a:prstGeom prst="rect">
            <a:avLst/>
          </a:prstGeom>
          <a:noFill/>
          <a:ln/>
        </p:spPr>
        <p:txBody>
          <a:bodyPr wrap="square" lIns="0" tIns="0" rIns="0" bIns="0" rtlCol="0" anchor="ctr"/>
          <a:lstStyle/>
          <a:p>
            <a:pPr indent="0" marL="0">
              <a:buNone/>
            </a:pPr>
            <a:r>
              <a:rPr lang="en-US" sz="1700" b="1" dirty="0">
                <a:solidFill>
                  <a:schemeClr val="tx2"/>
                </a:solidFill>
              </a:rPr>
              <a:t>PAM parameters</a:t>
            </a:r>
            <a:endParaRPr lang="en-US" sz="1700" dirty="0"/>
          </a:p>
        </p:txBody>
      </p:sp>
      <p:sp>
        <p:nvSpPr>
          <p:cNvPr id="23" name="Text 20"/>
          <p:cNvSpPr txBox="1"/>
          <p:nvPr/>
        </p:nvSpPr>
        <p:spPr>
          <a:xfrm>
            <a:off x="5349240" y="3621024"/>
            <a:ext cx="2331720" cy="685800"/>
          </a:xfrm>
          <a:prstGeom prst="rect">
            <a:avLst/>
          </a:prstGeom>
          <a:noFill/>
          <a:ln/>
        </p:spPr>
        <p:txBody>
          <a:bodyPr wrap="square" lIns="0" tIns="0" rIns="0" bIns="0" rtlCol="0" anchor="t"/>
          <a:lstStyle/>
          <a:p>
            <a:pPr indent="0" marL="0">
              <a:buNone/>
            </a:pPr>
            <a:r>
              <a:rPr lang="en-US" sz="1300" dirty="0">
                <a:solidFill>
                  <a:schemeClr val="tx1"/>
                </a:solidFill>
              </a:rPr>
              <a:t>Fo, Fm, Fv/Fm, ΦPSII, qP, qL, NPQ, worked example</a:t>
            </a:r>
            <a:endParaRPr lang="en-US" sz="1300" dirty="0"/>
          </a:p>
        </p:txBody>
      </p:sp>
      <p:sp>
        <p:nvSpPr>
          <p:cNvPr id="24" name="card"/>
          <p:cNvSpPr/>
          <p:nvPr/>
        </p:nvSpPr>
        <p:spPr>
          <a:xfrm>
            <a:off x="8046720" y="2999232"/>
            <a:ext cx="3520440"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25" name="Text 22"/>
          <p:cNvSpPr txBox="1"/>
          <p:nvPr/>
        </p:nvSpPr>
        <p:spPr>
          <a:xfrm>
            <a:off x="8229600" y="3182112"/>
            <a:ext cx="822960" cy="640080"/>
          </a:xfrm>
          <a:prstGeom prst="rect">
            <a:avLst/>
          </a:prstGeom>
          <a:noFill/>
          <a:ln/>
        </p:spPr>
        <p:txBody>
          <a:bodyPr wrap="square" lIns="0" tIns="0" rIns="0" bIns="0" rtlCol="0" anchor="ctr"/>
          <a:lstStyle/>
          <a:p>
            <a:pPr indent="0" marL="0">
              <a:buNone/>
            </a:pPr>
            <a:r>
              <a:rPr lang="en-US" sz="3000" b="1" dirty="0">
                <a:solidFill>
                  <a:schemeClr val="accent5"/>
                </a:solidFill>
                <a:latin typeface="Cambria" pitchFamily="34" charset="0"/>
                <a:ea typeface="Cambria" pitchFamily="34" charset="-122"/>
                <a:cs typeface="Cambria" pitchFamily="34" charset="-120"/>
              </a:rPr>
              <a:t>06</a:t>
            </a:r>
            <a:endParaRPr lang="en-US" sz="3000" dirty="0"/>
          </a:p>
        </p:txBody>
      </p:sp>
      <p:sp>
        <p:nvSpPr>
          <p:cNvPr id="26" name="Text 23"/>
          <p:cNvSpPr txBox="1"/>
          <p:nvPr/>
        </p:nvSpPr>
        <p:spPr>
          <a:xfrm>
            <a:off x="9098280" y="3182112"/>
            <a:ext cx="2331720" cy="411480"/>
          </a:xfrm>
          <a:prstGeom prst="rect">
            <a:avLst/>
          </a:prstGeom>
          <a:noFill/>
          <a:ln/>
        </p:spPr>
        <p:txBody>
          <a:bodyPr wrap="square" lIns="0" tIns="0" rIns="0" bIns="0" rtlCol="0" anchor="ctr"/>
          <a:lstStyle/>
          <a:p>
            <a:pPr indent="0" marL="0">
              <a:buNone/>
            </a:pPr>
            <a:r>
              <a:rPr lang="en-US" sz="1700" b="1" dirty="0">
                <a:solidFill>
                  <a:schemeClr val="tx2"/>
                </a:solidFill>
              </a:rPr>
              <a:t>Good practice</a:t>
            </a:r>
            <a:endParaRPr lang="en-US" sz="1700" dirty="0"/>
          </a:p>
        </p:txBody>
      </p:sp>
      <p:sp>
        <p:nvSpPr>
          <p:cNvPr id="27" name="Text 24"/>
          <p:cNvSpPr txBox="1"/>
          <p:nvPr/>
        </p:nvSpPr>
        <p:spPr>
          <a:xfrm>
            <a:off x="9098280" y="3621024"/>
            <a:ext cx="2331720" cy="685800"/>
          </a:xfrm>
          <a:prstGeom prst="rect">
            <a:avLst/>
          </a:prstGeom>
          <a:noFill/>
          <a:ln/>
        </p:spPr>
        <p:txBody>
          <a:bodyPr wrap="square" lIns="0" tIns="0" rIns="0" bIns="0" rtlCol="0" anchor="t"/>
          <a:lstStyle/>
          <a:p>
            <a:pPr indent="0" marL="0">
              <a:buNone/>
            </a:pPr>
            <a:r>
              <a:rPr lang="en-US" sz="1300" dirty="0">
                <a:solidFill>
                  <a:schemeClr val="tx1"/>
                </a:solidFill>
              </a:rPr>
              <a:t>Dark adaptation, pitfalls, CO₂ link, protocols</a:t>
            </a:r>
            <a:endParaRPr lang="en-US" sz="1300" dirty="0"/>
          </a:p>
        </p:txBody>
      </p:sp>
      <p:sp>
        <p:nvSpPr>
          <p:cNvPr id="28" name="card"/>
          <p:cNvSpPr/>
          <p:nvPr/>
        </p:nvSpPr>
        <p:spPr>
          <a:xfrm>
            <a:off x="548640" y="4626864"/>
            <a:ext cx="3520440"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29" name="Text 26"/>
          <p:cNvSpPr txBox="1"/>
          <p:nvPr/>
        </p:nvSpPr>
        <p:spPr>
          <a:xfrm>
            <a:off x="731520" y="4809744"/>
            <a:ext cx="822960" cy="64008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07</a:t>
            </a:r>
            <a:endParaRPr lang="en-US" sz="3000" dirty="0"/>
          </a:p>
        </p:txBody>
      </p:sp>
      <p:sp>
        <p:nvSpPr>
          <p:cNvPr id="30" name="Text 27"/>
          <p:cNvSpPr txBox="1"/>
          <p:nvPr/>
        </p:nvSpPr>
        <p:spPr>
          <a:xfrm>
            <a:off x="1600200" y="4809744"/>
            <a:ext cx="2331720" cy="411480"/>
          </a:xfrm>
          <a:prstGeom prst="rect">
            <a:avLst/>
          </a:prstGeom>
          <a:noFill/>
          <a:ln/>
        </p:spPr>
        <p:txBody>
          <a:bodyPr wrap="square" lIns="0" tIns="0" rIns="0" bIns="0" rtlCol="0" anchor="ctr"/>
          <a:lstStyle/>
          <a:p>
            <a:pPr indent="0" marL="0">
              <a:buNone/>
            </a:pPr>
            <a:r>
              <a:rPr lang="en-US" sz="1700" b="1" dirty="0">
                <a:solidFill>
                  <a:schemeClr val="tx2"/>
                </a:solidFill>
              </a:rPr>
              <a:t>Imaging &amp; monitoring</a:t>
            </a:r>
            <a:endParaRPr lang="en-US" sz="1700" dirty="0"/>
          </a:p>
        </p:txBody>
      </p:sp>
      <p:sp>
        <p:nvSpPr>
          <p:cNvPr id="31" name="Text 28"/>
          <p:cNvSpPr txBox="1"/>
          <p:nvPr/>
        </p:nvSpPr>
        <p:spPr>
          <a:xfrm>
            <a:off x="1600200" y="5248656"/>
            <a:ext cx="2331720" cy="685800"/>
          </a:xfrm>
          <a:prstGeom prst="rect">
            <a:avLst/>
          </a:prstGeom>
          <a:noFill/>
          <a:ln/>
        </p:spPr>
        <p:txBody>
          <a:bodyPr wrap="square" lIns="0" tIns="0" rIns="0" bIns="0" rtlCol="0" anchor="t"/>
          <a:lstStyle/>
          <a:p>
            <a:pPr indent="0" marL="0">
              <a:buNone/>
            </a:pPr>
            <a:r>
              <a:rPr lang="en-US" sz="1300" dirty="0">
                <a:solidFill>
                  <a:schemeClr val="tx1"/>
                </a:solidFill>
              </a:rPr>
              <a:t>Fluorescence imaging, applications, LIFT</a:t>
            </a:r>
            <a:endParaRPr lang="en-US" sz="1300" dirty="0"/>
          </a:p>
        </p:txBody>
      </p:sp>
      <p:sp>
        <p:nvSpPr>
          <p:cNvPr id="32" name="card"/>
          <p:cNvSpPr/>
          <p:nvPr/>
        </p:nvSpPr>
        <p:spPr>
          <a:xfrm>
            <a:off x="4297680" y="4626864"/>
            <a:ext cx="3520440"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33" name="Text 30"/>
          <p:cNvSpPr txBox="1"/>
          <p:nvPr/>
        </p:nvSpPr>
        <p:spPr>
          <a:xfrm>
            <a:off x="4480560" y="4809744"/>
            <a:ext cx="822960" cy="64008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08</a:t>
            </a:r>
            <a:endParaRPr lang="en-US" sz="3000" dirty="0"/>
          </a:p>
        </p:txBody>
      </p:sp>
      <p:sp>
        <p:nvSpPr>
          <p:cNvPr id="34" name="Text 31"/>
          <p:cNvSpPr txBox="1"/>
          <p:nvPr/>
        </p:nvSpPr>
        <p:spPr>
          <a:xfrm>
            <a:off x="5349240" y="4809744"/>
            <a:ext cx="2331720" cy="411480"/>
          </a:xfrm>
          <a:prstGeom prst="rect">
            <a:avLst/>
          </a:prstGeom>
          <a:noFill/>
          <a:ln/>
        </p:spPr>
        <p:txBody>
          <a:bodyPr wrap="square" lIns="0" tIns="0" rIns="0" bIns="0" rtlCol="0" anchor="ctr"/>
          <a:lstStyle/>
          <a:p>
            <a:pPr indent="0" marL="0">
              <a:buNone/>
            </a:pPr>
            <a:r>
              <a:rPr lang="en-US" sz="1700" b="1" dirty="0">
                <a:solidFill>
                  <a:schemeClr val="tx2"/>
                </a:solidFill>
              </a:rPr>
              <a:t>Sun-induced fluorescence</a:t>
            </a:r>
            <a:endParaRPr lang="en-US" sz="1700" dirty="0"/>
          </a:p>
        </p:txBody>
      </p:sp>
      <p:sp>
        <p:nvSpPr>
          <p:cNvPr id="35" name="Text 32"/>
          <p:cNvSpPr txBox="1"/>
          <p:nvPr/>
        </p:nvSpPr>
        <p:spPr>
          <a:xfrm>
            <a:off x="5349240" y="5248656"/>
            <a:ext cx="2331720" cy="685800"/>
          </a:xfrm>
          <a:prstGeom prst="rect">
            <a:avLst/>
          </a:prstGeom>
          <a:noFill/>
          <a:ln/>
        </p:spPr>
        <p:txBody>
          <a:bodyPr wrap="square" lIns="0" tIns="0" rIns="0" bIns="0" rtlCol="0" anchor="t"/>
          <a:lstStyle/>
          <a:p>
            <a:pPr indent="0" marL="0">
              <a:buNone/>
            </a:pPr>
            <a:r>
              <a:rPr lang="en-US" sz="1300" dirty="0">
                <a:solidFill>
                  <a:schemeClr val="tx1"/>
                </a:solidFill>
              </a:rPr>
              <a:t>Spectra, retrieval, models, platforms, satellites</a:t>
            </a:r>
            <a:endParaRPr lang="en-US" sz="1300" dirty="0"/>
          </a:p>
        </p:txBody>
      </p:sp>
      <p:sp>
        <p:nvSpPr>
          <p:cNvPr id="36" name="card"/>
          <p:cNvSpPr/>
          <p:nvPr/>
        </p:nvSpPr>
        <p:spPr>
          <a:xfrm>
            <a:off x="8046720" y="4626864"/>
            <a:ext cx="3520440"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37" name="Text 34"/>
          <p:cNvSpPr txBox="1"/>
          <p:nvPr/>
        </p:nvSpPr>
        <p:spPr>
          <a:xfrm>
            <a:off x="8229600" y="4809744"/>
            <a:ext cx="822960" cy="64008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09</a:t>
            </a:r>
            <a:endParaRPr lang="en-US" sz="3000" dirty="0"/>
          </a:p>
        </p:txBody>
      </p:sp>
      <p:sp>
        <p:nvSpPr>
          <p:cNvPr id="38" name="Text 35"/>
          <p:cNvSpPr txBox="1"/>
          <p:nvPr/>
        </p:nvSpPr>
        <p:spPr>
          <a:xfrm>
            <a:off x="9098280" y="4809744"/>
            <a:ext cx="2331720" cy="411480"/>
          </a:xfrm>
          <a:prstGeom prst="rect">
            <a:avLst/>
          </a:prstGeom>
          <a:noFill/>
          <a:ln/>
        </p:spPr>
        <p:txBody>
          <a:bodyPr wrap="square" lIns="0" tIns="0" rIns="0" bIns="0" rtlCol="0" anchor="ctr"/>
          <a:lstStyle/>
          <a:p>
            <a:pPr indent="0" marL="0">
              <a:buNone/>
            </a:pPr>
            <a:r>
              <a:rPr lang="en-US" sz="1700" b="1" dirty="0">
                <a:solidFill>
                  <a:schemeClr val="tx2"/>
                </a:solidFill>
              </a:rPr>
              <a:t>Synthesis</a:t>
            </a:r>
            <a:endParaRPr lang="en-US" sz="1700" dirty="0"/>
          </a:p>
        </p:txBody>
      </p:sp>
      <p:sp>
        <p:nvSpPr>
          <p:cNvPr id="39" name="Text 36"/>
          <p:cNvSpPr txBox="1"/>
          <p:nvPr/>
        </p:nvSpPr>
        <p:spPr>
          <a:xfrm>
            <a:off x="9098280" y="5248656"/>
            <a:ext cx="2331720" cy="685800"/>
          </a:xfrm>
          <a:prstGeom prst="rect">
            <a:avLst/>
          </a:prstGeom>
          <a:noFill/>
          <a:ln/>
        </p:spPr>
        <p:txBody>
          <a:bodyPr wrap="square" lIns="0" tIns="0" rIns="0" bIns="0" rtlCol="0" anchor="t"/>
          <a:lstStyle/>
          <a:p>
            <a:pPr indent="0" marL="0">
              <a:buNone/>
            </a:pPr>
            <a:r>
              <a:rPr lang="en-US" sz="1300" dirty="0">
                <a:solidFill>
                  <a:schemeClr val="tx1"/>
                </a:solidFill>
              </a:rPr>
              <a:t>Concept map, formula sheet, FAQs, references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Foundations</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What chlorophyll fluorescence is, where it comes from, and why a tiny glow tells us so much about photosynthesis</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01</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What is chlorophyll fluorescence?</a:t>
            </a:r>
            <a:endParaRPr lang="en-US" sz="3200" dirty="0"/>
          </a:p>
        </p:txBody>
      </p:sp>
      <p:sp>
        <p:nvSpPr>
          <p:cNvPr id="4" name="Text 1"/>
          <p:cNvSpPr txBox="1"/>
          <p:nvPr/>
        </p:nvSpPr>
        <p:spPr>
          <a:xfrm>
            <a:off x="548640" y="1325880"/>
            <a:ext cx="6583680" cy="4846320"/>
          </a:xfrm>
          <a:prstGeom prst="rect">
            <a:avLst/>
          </a:prstGeom>
          <a:noFill/>
          <a:ln/>
        </p:spPr>
        <p:txBody>
          <a:bodyPr wrap="square" lIns="508" tIns="508" rIns="508" bIns="508" rtlCol="0" anchor="t"/>
          <a:lstStyle/>
          <a:p>
            <a:pPr indent="0" marL="0">
              <a:spcAft>
                <a:spcPts val="1000"/>
              </a:spcAft>
              <a:buNone/>
            </a:pPr>
            <a:r>
              <a:rPr lang="en-US" sz="1600" b="1" dirty="0">
                <a:solidFill>
                  <a:schemeClr val="tx1"/>
                </a:solidFill>
              </a:rPr>
              <a:t>Definition:</a:t>
            </a:r>
            <a:r>
              <a:rPr lang="en-US" sz="1600" dirty="0">
                <a:solidFill>
                  <a:schemeClr val="tx1"/>
                </a:solidFill>
              </a:rPr>
              <a:t> light re-emitted by chlorophyll molecules as they return from the excited to the ground (non-excited) state.</a:t>
            </a:r>
            <a:endParaRPr lang="en-US" sz="1600" dirty="0"/>
          </a:p>
          <a:p>
            <a:pPr indent="0" marL="0">
              <a:spcAft>
                <a:spcPts val="400"/>
              </a:spcAft>
              <a:buNone/>
            </a:pPr>
            <a:r>
              <a:rPr lang="en-US" sz="1600" b="1" dirty="0">
                <a:solidFill>
                  <a:schemeClr val="accent1"/>
                </a:solidFill>
              </a:rPr>
              <a:t>Why it matters</a:t>
            </a:r>
            <a:endParaRPr lang="en-US" sz="1600" dirty="0"/>
          </a:p>
          <a:p>
            <a:pPr marL="177800" indent="-177800">
              <a:spcAft>
                <a:spcPts val="600"/>
              </a:spcAft>
              <a:buSzPct val="100000"/>
              <a:buChar char="•"/>
            </a:pPr>
            <a:r>
              <a:rPr lang="en-US" sz="1600" dirty="0">
                <a:solidFill>
                  <a:schemeClr val="tx1"/>
                </a:solidFill>
              </a:rPr>
              <a:t>Non-invasive measure of </a:t>
            </a:r>
            <a:r>
              <a:rPr lang="en-US" sz="1600" b="1" dirty="0">
                <a:solidFill>
                  <a:schemeClr val="tx1"/>
                </a:solidFill>
              </a:rPr>
              <a:t>photosystem II (PSII)</a:t>
            </a:r>
            <a:r>
              <a:rPr lang="en-US" sz="1600" dirty="0">
                <a:solidFill>
                  <a:schemeClr val="tx1"/>
                </a:solidFill>
              </a:rPr>
              <a:t> activity — no harvesting, no chemicals</a:t>
            </a:r>
            <a:endParaRPr lang="en-US" sz="1600" dirty="0"/>
          </a:p>
          <a:p>
            <a:pPr marL="177800" indent="-177800">
              <a:spcAft>
                <a:spcPts val="600"/>
              </a:spcAft>
              <a:buSzPct val="100000"/>
              <a:buChar char="•"/>
            </a:pPr>
            <a:r>
              <a:rPr lang="en-US" sz="1600" dirty="0">
                <a:solidFill>
                  <a:schemeClr val="tx1"/>
                </a:solidFill>
              </a:rPr>
              <a:t>PSII is highly sensitive to abiotic and biotic factors → a broad indicator of how plants respond to environmental change</a:t>
            </a:r>
            <a:endParaRPr lang="en-US" sz="1600" dirty="0"/>
          </a:p>
          <a:p>
            <a:pPr marL="177800" indent="-177800">
              <a:spcAft>
                <a:spcPts val="600"/>
              </a:spcAft>
              <a:buSzPct val="100000"/>
              <a:buChar char="•"/>
            </a:pPr>
            <a:r>
              <a:rPr lang="en-US" sz="1600" dirty="0">
                <a:solidFill>
                  <a:schemeClr val="tx1"/>
                </a:solidFill>
              </a:rPr>
              <a:t>Indicator of photosynthetic energy conversion in higher plants, algae and bacteria</a:t>
            </a:r>
            <a:endParaRPr lang="en-US" sz="1600" dirty="0"/>
          </a:p>
          <a:p>
            <a:pPr marL="177800" indent="-177800">
              <a:spcAft>
                <a:spcPts val="1000"/>
              </a:spcAft>
              <a:buSzPct val="100000"/>
              <a:buChar char="•"/>
            </a:pPr>
            <a:r>
              <a:rPr lang="en-US" sz="1600" dirty="0">
                <a:solidFill>
                  <a:schemeClr val="tx1"/>
                </a:solidFill>
              </a:rPr>
              <a:t>Cheap, fast and portable → widely used in plant physiology, breeding and phenotyping</a:t>
            </a:r>
            <a:endParaRPr lang="en-US" sz="1600" dirty="0"/>
          </a:p>
          <a:p>
            <a:pPr indent="0" marL="0">
              <a:spcAft>
                <a:spcPts val="400"/>
              </a:spcAft>
              <a:buNone/>
            </a:pPr>
            <a:r>
              <a:rPr lang="en-US" sz="1600" b="1" dirty="0">
                <a:solidFill>
                  <a:schemeClr val="tx1"/>
                </a:solidFill>
              </a:rPr>
              <a:t>Spectral signature:</a:t>
            </a:r>
            <a:r>
              <a:rPr lang="en-US" sz="1600" dirty="0">
                <a:solidFill>
                  <a:schemeClr val="tx1"/>
                </a:solidFill>
              </a:rPr>
              <a:t> emission between ~650 and 800 nm with two peaks, ~685 nm (red) and ~740 nm (far-red)</a:t>
            </a:r>
            <a:endParaRPr lang="en-US" sz="1600" dirty="0"/>
          </a:p>
        </p:txBody>
      </p:sp>
      <p:pic>
        <p:nvPicPr>
          <p:cNvPr id="5" name="Image 0" descr="image29.jpeg">    </p:cNvPr>
          <p:cNvPicPr>
            <a:picLocks noChangeAspect="1"/>
          </p:cNvPicPr>
          <p:nvPr/>
        </p:nvPicPr>
        <p:blipFill>
          <a:blip r:embed="rId1"/>
          <a:stretch>
            <a:fillRect/>
          </a:stretch>
        </p:blipFill>
        <p:spPr>
          <a:xfrm>
            <a:off x="7635240" y="1551571"/>
            <a:ext cx="1920240" cy="2566139"/>
          </a:xfrm>
          <a:prstGeom prst="rect">
            <a:avLst/>
          </a:prstGeom>
        </p:spPr>
      </p:pic>
      <p:pic>
        <p:nvPicPr>
          <p:cNvPr id="6" name="Image 1" descr="o_leaf.png">    </p:cNvPr>
          <p:cNvPicPr>
            <a:picLocks noChangeAspect="1"/>
          </p:cNvPicPr>
          <p:nvPr/>
        </p:nvPicPr>
        <p:blipFill>
          <a:blip r:embed="rId2"/>
          <a:stretch>
            <a:fillRect/>
          </a:stretch>
        </p:blipFill>
        <p:spPr>
          <a:xfrm>
            <a:off x="9646920" y="2035126"/>
            <a:ext cx="2011680" cy="1599028"/>
          </a:xfrm>
          <a:prstGeom prst="rect">
            <a:avLst/>
          </a:prstGeom>
        </p:spPr>
      </p:pic>
      <p:sp>
        <p:nvSpPr>
          <p:cNvPr id="7" name="Text 2"/>
          <p:cNvSpPr txBox="1"/>
          <p:nvPr/>
        </p:nvSpPr>
        <p:spPr>
          <a:xfrm>
            <a:off x="7635240" y="4480560"/>
            <a:ext cx="4023360" cy="1097280"/>
          </a:xfrm>
          <a:prstGeom prst="rect">
            <a:avLst/>
          </a:prstGeom>
          <a:noFill/>
          <a:ln/>
        </p:spPr>
        <p:txBody>
          <a:bodyPr wrap="square" lIns="508" tIns="508" rIns="508" bIns="508" rtlCol="0" anchor="t"/>
          <a:lstStyle/>
          <a:p>
            <a:pPr indent="0" marL="0">
              <a:spcAft>
                <a:spcPts val="600"/>
              </a:spcAft>
              <a:buNone/>
            </a:pPr>
            <a:r>
              <a:rPr lang="en-US" sz="1200" i="1" dirty="0">
                <a:solidFill>
                  <a:schemeClr val="accent6"/>
                </a:solidFill>
              </a:rPr>
              <a:t>Left: chlorophyll extract in alcohol — green under white light (top), red fluorescence under UV (bottom). Right: absorbed solar energy is dissipated by photochemistry or by non-photochemical routes (heat, fluorescence).</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Where does it come from? The pigment–protein complexes</a:t>
            </a:r>
            <a:endParaRPr lang="en-US" sz="3200" dirty="0"/>
          </a:p>
        </p:txBody>
      </p:sp>
      <p:sp>
        <p:nvSpPr>
          <p:cNvPr id="4" name="figure frame"/>
          <p:cNvSpPr/>
          <p:nvPr/>
        </p:nvSpPr>
        <p:spPr>
          <a:xfrm>
            <a:off x="548640" y="1325880"/>
            <a:ext cx="5120640" cy="3749040"/>
          </a:xfrm>
          <a:prstGeom prst="roundRect">
            <a:avLst>
              <a:gd name="adj" fmla="val 1463"/>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Thylakoid membrane: PSII, cytochrome b₆f, PSI and ATP synthase, with water splitting on the lumen side">    </p:cNvPr>
          <p:cNvPicPr>
            <a:picLocks noChangeAspect="1"/>
          </p:cNvPicPr>
          <p:nvPr/>
        </p:nvPicPr>
        <p:blipFill>
          <a:blip r:embed="rId1"/>
          <a:stretch>
            <a:fillRect/>
          </a:stretch>
        </p:blipFill>
        <p:spPr>
          <a:xfrm>
            <a:off x="731520" y="1417320"/>
            <a:ext cx="4754880" cy="3566160"/>
          </a:xfrm>
          <a:prstGeom prst="rect">
            <a:avLst/>
          </a:prstGeom>
        </p:spPr>
      </p:pic>
      <p:sp>
        <p:nvSpPr>
          <p:cNvPr id="6" name="Text 2"/>
          <p:cNvSpPr txBox="1"/>
          <p:nvPr/>
        </p:nvSpPr>
        <p:spPr>
          <a:xfrm>
            <a:off x="548640" y="5120640"/>
            <a:ext cx="5120640" cy="411480"/>
          </a:xfrm>
          <a:prstGeom prst="rect">
            <a:avLst/>
          </a:prstGeom>
          <a:noFill/>
          <a:ln/>
        </p:spPr>
        <p:txBody>
          <a:bodyPr wrap="square" lIns="0" tIns="0" rIns="0" bIns="0" rtlCol="0" anchor="t"/>
          <a:lstStyle/>
          <a:p>
            <a:pPr indent="0" marL="0">
              <a:buNone/>
            </a:pPr>
            <a:r>
              <a:rPr lang="en-US" sz="1100" i="1" dirty="0">
                <a:solidFill>
                  <a:schemeClr val="accent6"/>
                </a:solidFill>
              </a:rPr>
              <a:t>Thylakoid membrane: PSII, cytochrome b₆f, PSI and ATP synthase, with water splitting on the lumen side</a:t>
            </a:r>
            <a:endParaRPr lang="en-US" sz="1100" dirty="0"/>
          </a:p>
        </p:txBody>
      </p:sp>
      <p:sp>
        <p:nvSpPr>
          <p:cNvPr id="7" name="card"/>
          <p:cNvSpPr/>
          <p:nvPr/>
        </p:nvSpPr>
        <p:spPr>
          <a:xfrm>
            <a:off x="5943600" y="1325880"/>
            <a:ext cx="5696712"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8" name="icon circle"/>
          <p:cNvSpPr/>
          <p:nvPr/>
        </p:nvSpPr>
        <p:spPr>
          <a:xfrm>
            <a:off x="6126480" y="1481328"/>
            <a:ext cx="420624" cy="420624"/>
          </a:xfrm>
          <a:prstGeom prst="ellipse">
            <a:avLst/>
          </a:prstGeom>
          <a:solidFill>
            <a:schemeClr val="accent3"/>
          </a:solidFill>
          <a:ln/>
        </p:spPr>
      </p:sp>
      <p:pic>
        <p:nvPicPr>
          <p:cNvPr id="9" name="Image 1" descr="Sun icon">    </p:cNvPr>
          <p:cNvPicPr>
            <a:picLocks noChangeAspect="1"/>
          </p:cNvPicPr>
          <p:nvPr/>
        </p:nvPicPr>
        <p:blipFill>
          <a:blip r:embed="rId2"/>
          <a:stretch>
            <a:fillRect/>
          </a:stretch>
        </p:blipFill>
        <p:spPr>
          <a:xfrm>
            <a:off x="6235842" y="1590690"/>
            <a:ext cx="201900" cy="201900"/>
          </a:xfrm>
          <a:prstGeom prst="rect">
            <a:avLst/>
          </a:prstGeom>
        </p:spPr>
      </p:pic>
      <p:sp>
        <p:nvSpPr>
          <p:cNvPr id="10" name="Text 5"/>
          <p:cNvSpPr txBox="1"/>
          <p:nvPr/>
        </p:nvSpPr>
        <p:spPr>
          <a:xfrm>
            <a:off x="6656832" y="1463040"/>
            <a:ext cx="4846320" cy="457200"/>
          </a:xfrm>
          <a:prstGeom prst="rect">
            <a:avLst/>
          </a:prstGeom>
          <a:noFill/>
          <a:ln/>
        </p:spPr>
        <p:txBody>
          <a:bodyPr wrap="square" lIns="0" tIns="0" rIns="0" bIns="0" rtlCol="0" anchor="ctr"/>
          <a:lstStyle/>
          <a:p>
            <a:pPr indent="0" marL="0">
              <a:buNone/>
            </a:pPr>
            <a:r>
              <a:rPr lang="en-US" sz="1600" b="1" dirty="0">
                <a:solidFill>
                  <a:schemeClr val="tx2"/>
                </a:solidFill>
              </a:rPr>
              <a:t>Light-harvesting complexes (LHC)</a:t>
            </a:r>
            <a:endParaRPr lang="en-US" sz="1600" dirty="0"/>
          </a:p>
        </p:txBody>
      </p:sp>
      <p:sp>
        <p:nvSpPr>
          <p:cNvPr id="11" name="Text 6"/>
          <p:cNvSpPr txBox="1"/>
          <p:nvPr/>
        </p:nvSpPr>
        <p:spPr>
          <a:xfrm>
            <a:off x="6126480" y="2011680"/>
            <a:ext cx="5330952" cy="640080"/>
          </a:xfrm>
          <a:prstGeom prst="rect">
            <a:avLst/>
          </a:prstGeom>
          <a:noFill/>
          <a:ln/>
        </p:spPr>
        <p:txBody>
          <a:bodyPr wrap="square" lIns="508" tIns="508" rIns="508" bIns="508" rtlCol="0" anchor="t"/>
          <a:lstStyle/>
          <a:p>
            <a:pPr indent="0" marL="0">
              <a:spcAft>
                <a:spcPts val="400"/>
              </a:spcAft>
              <a:buNone/>
            </a:pPr>
            <a:r>
              <a:rPr lang="en-US" sz="1400" dirty="0">
                <a:solidFill>
                  <a:schemeClr val="tx1"/>
                </a:solidFill>
              </a:rPr>
              <a:t>Antenna pigment–protein complexes (Chl a, Chl b, carotenoids) that capture photons and transfer excitation energy to a reaction centre.</a:t>
            </a:r>
            <a:endParaRPr lang="en-US" sz="1400" dirty="0"/>
          </a:p>
        </p:txBody>
      </p:sp>
      <p:sp>
        <p:nvSpPr>
          <p:cNvPr id="12" name="card"/>
          <p:cNvSpPr/>
          <p:nvPr/>
        </p:nvSpPr>
        <p:spPr>
          <a:xfrm>
            <a:off x="5943600" y="2880360"/>
            <a:ext cx="5696712"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13" name="icon circle"/>
          <p:cNvSpPr/>
          <p:nvPr/>
        </p:nvSpPr>
        <p:spPr>
          <a:xfrm>
            <a:off x="6126480" y="3035808"/>
            <a:ext cx="420624" cy="420624"/>
          </a:xfrm>
          <a:prstGeom prst="ellipse">
            <a:avLst/>
          </a:prstGeom>
          <a:solidFill>
            <a:schemeClr val="accent1"/>
          </a:solidFill>
          <a:ln/>
        </p:spPr>
      </p:sp>
      <p:pic>
        <p:nvPicPr>
          <p:cNvPr id="14" name="Image 2" descr="Leaf icon">    </p:cNvPr>
          <p:cNvPicPr>
            <a:picLocks noChangeAspect="1"/>
          </p:cNvPicPr>
          <p:nvPr/>
        </p:nvPicPr>
        <p:blipFill>
          <a:blip r:embed="rId3"/>
          <a:stretch>
            <a:fillRect/>
          </a:stretch>
        </p:blipFill>
        <p:spPr>
          <a:xfrm>
            <a:off x="6235842" y="3145170"/>
            <a:ext cx="201900" cy="201900"/>
          </a:xfrm>
          <a:prstGeom prst="rect">
            <a:avLst/>
          </a:prstGeom>
        </p:spPr>
      </p:pic>
      <p:sp>
        <p:nvSpPr>
          <p:cNvPr id="15" name="Text 9"/>
          <p:cNvSpPr txBox="1"/>
          <p:nvPr/>
        </p:nvSpPr>
        <p:spPr>
          <a:xfrm>
            <a:off x="6656832" y="3017520"/>
            <a:ext cx="4846320" cy="457200"/>
          </a:xfrm>
          <a:prstGeom prst="rect">
            <a:avLst/>
          </a:prstGeom>
          <a:noFill/>
          <a:ln/>
        </p:spPr>
        <p:txBody>
          <a:bodyPr wrap="square" lIns="0" tIns="0" rIns="0" bIns="0" rtlCol="0" anchor="ctr"/>
          <a:lstStyle/>
          <a:p>
            <a:pPr indent="0" marL="0">
              <a:buNone/>
            </a:pPr>
            <a:r>
              <a:rPr lang="en-US" sz="1600" b="1" dirty="0">
                <a:solidFill>
                  <a:schemeClr val="tx2"/>
                </a:solidFill>
              </a:rPr>
              <a:t>Photosystem II (P680)</a:t>
            </a:r>
            <a:endParaRPr lang="en-US" sz="1600" dirty="0"/>
          </a:p>
        </p:txBody>
      </p:sp>
      <p:sp>
        <p:nvSpPr>
          <p:cNvPr id="16" name="Text 10"/>
          <p:cNvSpPr txBox="1"/>
          <p:nvPr/>
        </p:nvSpPr>
        <p:spPr>
          <a:xfrm>
            <a:off x="6126480" y="3566160"/>
            <a:ext cx="5330952" cy="640080"/>
          </a:xfrm>
          <a:prstGeom prst="rect">
            <a:avLst/>
          </a:prstGeom>
          <a:noFill/>
          <a:ln/>
        </p:spPr>
        <p:txBody>
          <a:bodyPr wrap="square" lIns="508" tIns="508" rIns="508" bIns="508" rtlCol="0" anchor="t"/>
          <a:lstStyle/>
          <a:p>
            <a:pPr indent="0" marL="0">
              <a:spcAft>
                <a:spcPts val="400"/>
              </a:spcAft>
              <a:buNone/>
            </a:pPr>
            <a:r>
              <a:rPr lang="en-US" sz="1400" dirty="0">
                <a:solidFill>
                  <a:schemeClr val="tx1"/>
                </a:solidFill>
              </a:rPr>
              <a:t>Core proteins D1, D2, CP43, CP47; splits water (OEC), passes electrons via pheophytin → Q</a:t>
            </a:r>
            <a:r>
              <a:rPr lang="en-US" sz="1400" baseline="-40000" dirty="0">
                <a:solidFill>
                  <a:schemeClr val="tx1"/>
                </a:solidFill>
              </a:rPr>
              <a:t>A</a:t>
            </a:r>
            <a:r>
              <a:rPr lang="en-US" sz="1400" dirty="0">
                <a:solidFill>
                  <a:schemeClr val="tx1"/>
                </a:solidFill>
              </a:rPr>
              <a:t> → Q</a:t>
            </a:r>
            <a:r>
              <a:rPr lang="en-US" sz="1400" baseline="-40000" dirty="0">
                <a:solidFill>
                  <a:schemeClr val="tx1"/>
                </a:solidFill>
              </a:rPr>
              <a:t>B</a:t>
            </a:r>
            <a:r>
              <a:rPr lang="en-US" sz="1400" dirty="0">
                <a:solidFill>
                  <a:schemeClr val="tx1"/>
                </a:solidFill>
              </a:rPr>
              <a:t>. </a:t>
            </a:r>
            <a:r>
              <a:rPr lang="en-US" sz="1400" b="1" dirty="0">
                <a:solidFill>
                  <a:schemeClr val="tx1"/>
                </a:solidFill>
              </a:rPr>
              <a:t>Main source of variable fluorescence.</a:t>
            </a:r>
            <a:endParaRPr lang="en-US" sz="1400" dirty="0"/>
          </a:p>
        </p:txBody>
      </p:sp>
      <p:sp>
        <p:nvSpPr>
          <p:cNvPr id="17" name="card"/>
          <p:cNvSpPr/>
          <p:nvPr/>
        </p:nvSpPr>
        <p:spPr>
          <a:xfrm>
            <a:off x="5943600" y="4434840"/>
            <a:ext cx="5696712"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18" name="icon circle"/>
          <p:cNvSpPr/>
          <p:nvPr/>
        </p:nvSpPr>
        <p:spPr>
          <a:xfrm>
            <a:off x="6126480" y="4590288"/>
            <a:ext cx="420624" cy="420624"/>
          </a:xfrm>
          <a:prstGeom prst="ellipse">
            <a:avLst/>
          </a:prstGeom>
          <a:solidFill>
            <a:schemeClr val="accent5"/>
          </a:solidFill>
          <a:ln/>
        </p:spPr>
      </p:sp>
      <p:pic>
        <p:nvPicPr>
          <p:cNvPr id="19" name="Image 3" descr="Bolt icon">    </p:cNvPr>
          <p:cNvPicPr>
            <a:picLocks noChangeAspect="1"/>
          </p:cNvPicPr>
          <p:nvPr/>
        </p:nvPicPr>
        <p:blipFill>
          <a:blip r:embed="rId4"/>
          <a:stretch>
            <a:fillRect/>
          </a:stretch>
        </p:blipFill>
        <p:spPr>
          <a:xfrm>
            <a:off x="6235842" y="4699650"/>
            <a:ext cx="201900" cy="201900"/>
          </a:xfrm>
          <a:prstGeom prst="rect">
            <a:avLst/>
          </a:prstGeom>
        </p:spPr>
      </p:pic>
      <p:sp>
        <p:nvSpPr>
          <p:cNvPr id="20" name="Text 13"/>
          <p:cNvSpPr txBox="1"/>
          <p:nvPr/>
        </p:nvSpPr>
        <p:spPr>
          <a:xfrm>
            <a:off x="6656832" y="4572000"/>
            <a:ext cx="4846320" cy="457200"/>
          </a:xfrm>
          <a:prstGeom prst="rect">
            <a:avLst/>
          </a:prstGeom>
          <a:noFill/>
          <a:ln/>
        </p:spPr>
        <p:txBody>
          <a:bodyPr wrap="square" lIns="0" tIns="0" rIns="0" bIns="0" rtlCol="0" anchor="ctr"/>
          <a:lstStyle/>
          <a:p>
            <a:pPr indent="0" marL="0">
              <a:buNone/>
            </a:pPr>
            <a:r>
              <a:rPr lang="en-US" sz="1600" b="1" dirty="0">
                <a:solidFill>
                  <a:schemeClr val="tx2"/>
                </a:solidFill>
              </a:rPr>
              <a:t>Photosystem I (P700)</a:t>
            </a:r>
            <a:endParaRPr lang="en-US" sz="1600" dirty="0"/>
          </a:p>
        </p:txBody>
      </p:sp>
      <p:sp>
        <p:nvSpPr>
          <p:cNvPr id="21" name="Text 14"/>
          <p:cNvSpPr txBox="1"/>
          <p:nvPr/>
        </p:nvSpPr>
        <p:spPr>
          <a:xfrm>
            <a:off x="6126480" y="5120640"/>
            <a:ext cx="5330952" cy="640080"/>
          </a:xfrm>
          <a:prstGeom prst="rect">
            <a:avLst/>
          </a:prstGeom>
          <a:noFill/>
          <a:ln/>
        </p:spPr>
        <p:txBody>
          <a:bodyPr wrap="square" lIns="508" tIns="508" rIns="508" bIns="508" rtlCol="0" anchor="t"/>
          <a:lstStyle/>
          <a:p>
            <a:pPr indent="0" marL="0">
              <a:spcAft>
                <a:spcPts val="400"/>
              </a:spcAft>
              <a:buNone/>
            </a:pPr>
            <a:r>
              <a:rPr lang="en-US" sz="1400" dirty="0">
                <a:solidFill>
                  <a:schemeClr val="tx1"/>
                </a:solidFill>
              </a:rPr>
              <a:t>Receives electrons from plastocyanin and reduces NADP⁺ via ferredoxin. Emits weakly, mostly in the far-red (&gt;700 nm).</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photophysics: excitation and emission</a:t>
            </a:r>
            <a:endParaRPr lang="en-US" sz="3200" dirty="0"/>
          </a:p>
        </p:txBody>
      </p:sp>
      <p:sp>
        <p:nvSpPr>
          <p:cNvPr id="4" name="energy level"/>
          <p:cNvSpPr/>
          <p:nvPr/>
        </p:nvSpPr>
        <p:spPr>
          <a:xfrm>
            <a:off x="2103120" y="5715000"/>
            <a:ext cx="4572000" cy="0"/>
          </a:xfrm>
          <a:prstGeom prst="line">
            <a:avLst/>
          </a:prstGeom>
          <a:noFill/>
          <a:ln w="38100">
            <a:solidFill>
              <a:srgbClr val="123D2E"/>
            </a:solidFill>
            <a:prstDash val="solid"/>
          </a:ln>
        </p:spPr>
      </p:sp>
      <p:sp>
        <p:nvSpPr>
          <p:cNvPr id="5" name="vibrational level"/>
          <p:cNvSpPr/>
          <p:nvPr/>
        </p:nvSpPr>
        <p:spPr>
          <a:xfrm>
            <a:off x="2103120" y="5605272"/>
            <a:ext cx="4572000" cy="0"/>
          </a:xfrm>
          <a:prstGeom prst="line">
            <a:avLst/>
          </a:prstGeom>
          <a:noFill/>
          <a:ln w="9525">
            <a:solidFill>
              <a:srgbClr val="5E7268"/>
            </a:solidFill>
            <a:prstDash val="dash"/>
          </a:ln>
        </p:spPr>
      </p:sp>
      <p:sp>
        <p:nvSpPr>
          <p:cNvPr id="6" name="vibrational level"/>
          <p:cNvSpPr/>
          <p:nvPr/>
        </p:nvSpPr>
        <p:spPr>
          <a:xfrm>
            <a:off x="2103120" y="5495544"/>
            <a:ext cx="4572000" cy="0"/>
          </a:xfrm>
          <a:prstGeom prst="line">
            <a:avLst/>
          </a:prstGeom>
          <a:noFill/>
          <a:ln w="9525">
            <a:solidFill>
              <a:srgbClr val="5E7268"/>
            </a:solidFill>
            <a:prstDash val="dash"/>
          </a:ln>
        </p:spPr>
      </p:sp>
      <p:sp>
        <p:nvSpPr>
          <p:cNvPr id="7" name="Text 4"/>
          <p:cNvSpPr txBox="1"/>
          <p:nvPr/>
        </p:nvSpPr>
        <p:spPr>
          <a:xfrm>
            <a:off x="548640" y="5303520"/>
            <a:ext cx="1463040" cy="685800"/>
          </a:xfrm>
          <a:prstGeom prst="rect">
            <a:avLst/>
          </a:prstGeom>
          <a:noFill/>
          <a:ln/>
        </p:spPr>
        <p:txBody>
          <a:bodyPr wrap="square" lIns="0" tIns="0" rIns="0" bIns="0" rtlCol="0" anchor="ctr"/>
          <a:lstStyle/>
          <a:p>
            <a:pPr algn="r" indent="0" marL="0">
              <a:buNone/>
            </a:pPr>
            <a:r>
              <a:rPr lang="en-US" sz="1800" b="1" dirty="0">
                <a:solidFill>
                  <a:schemeClr val="tx2"/>
                </a:solidFill>
              </a:rPr>
              <a:t>S₀</a:t>
            </a:r>
            <a:endParaRPr lang="en-US" sz="1800" dirty="0"/>
          </a:p>
          <a:p>
            <a:pPr algn="r" indent="0" marL="0">
              <a:buNone/>
            </a:pPr>
            <a:r>
              <a:rPr lang="en-US" sz="1100" dirty="0">
                <a:solidFill>
                  <a:schemeClr val="tx1"/>
                </a:solidFill>
              </a:rPr>
              <a:t>ground state</a:t>
            </a:r>
            <a:endParaRPr lang="en-US" sz="1800" dirty="0"/>
          </a:p>
        </p:txBody>
      </p:sp>
      <p:sp>
        <p:nvSpPr>
          <p:cNvPr id="8" name="energy level"/>
          <p:cNvSpPr/>
          <p:nvPr/>
        </p:nvSpPr>
        <p:spPr>
          <a:xfrm>
            <a:off x="2103120" y="3794760"/>
            <a:ext cx="4572000" cy="0"/>
          </a:xfrm>
          <a:prstGeom prst="line">
            <a:avLst/>
          </a:prstGeom>
          <a:noFill/>
          <a:ln w="38100">
            <a:solidFill>
              <a:srgbClr val="123D2E"/>
            </a:solidFill>
            <a:prstDash val="solid"/>
          </a:ln>
        </p:spPr>
      </p:sp>
      <p:sp>
        <p:nvSpPr>
          <p:cNvPr id="9" name="vibrational level"/>
          <p:cNvSpPr/>
          <p:nvPr/>
        </p:nvSpPr>
        <p:spPr>
          <a:xfrm>
            <a:off x="2103120" y="3685032"/>
            <a:ext cx="4572000" cy="0"/>
          </a:xfrm>
          <a:prstGeom prst="line">
            <a:avLst/>
          </a:prstGeom>
          <a:noFill/>
          <a:ln w="9525">
            <a:solidFill>
              <a:srgbClr val="5E7268"/>
            </a:solidFill>
            <a:prstDash val="dash"/>
          </a:ln>
        </p:spPr>
      </p:sp>
      <p:sp>
        <p:nvSpPr>
          <p:cNvPr id="10" name="vibrational level"/>
          <p:cNvSpPr/>
          <p:nvPr/>
        </p:nvSpPr>
        <p:spPr>
          <a:xfrm>
            <a:off x="2103120" y="3575304"/>
            <a:ext cx="4572000" cy="0"/>
          </a:xfrm>
          <a:prstGeom prst="line">
            <a:avLst/>
          </a:prstGeom>
          <a:noFill/>
          <a:ln w="9525">
            <a:solidFill>
              <a:srgbClr val="5E7268"/>
            </a:solidFill>
            <a:prstDash val="dash"/>
          </a:ln>
        </p:spPr>
      </p:sp>
      <p:sp>
        <p:nvSpPr>
          <p:cNvPr id="11" name="Text 8"/>
          <p:cNvSpPr txBox="1"/>
          <p:nvPr/>
        </p:nvSpPr>
        <p:spPr>
          <a:xfrm>
            <a:off x="548640" y="3383280"/>
            <a:ext cx="1463040" cy="685800"/>
          </a:xfrm>
          <a:prstGeom prst="rect">
            <a:avLst/>
          </a:prstGeom>
          <a:noFill/>
          <a:ln/>
        </p:spPr>
        <p:txBody>
          <a:bodyPr wrap="square" lIns="0" tIns="0" rIns="0" bIns="0" rtlCol="0" anchor="ctr"/>
          <a:lstStyle/>
          <a:p>
            <a:pPr algn="r" indent="0" marL="0">
              <a:buNone/>
            </a:pPr>
            <a:r>
              <a:rPr lang="en-US" sz="1800" b="1" dirty="0">
                <a:solidFill>
                  <a:schemeClr val="tx2"/>
                </a:solidFill>
              </a:rPr>
              <a:t>S₁</a:t>
            </a:r>
            <a:endParaRPr lang="en-US" sz="1800" dirty="0"/>
          </a:p>
          <a:p>
            <a:pPr algn="r" indent="0" marL="0">
              <a:buNone/>
            </a:pPr>
            <a:r>
              <a:rPr lang="en-US" sz="1100" dirty="0">
                <a:solidFill>
                  <a:schemeClr val="tx1"/>
                </a:solidFill>
              </a:rPr>
              <a:t>lowest excited singlet</a:t>
            </a:r>
            <a:endParaRPr lang="en-US" sz="1800" dirty="0"/>
          </a:p>
        </p:txBody>
      </p:sp>
      <p:sp>
        <p:nvSpPr>
          <p:cNvPr id="12" name="energy level"/>
          <p:cNvSpPr/>
          <p:nvPr/>
        </p:nvSpPr>
        <p:spPr>
          <a:xfrm>
            <a:off x="2103120" y="2057400"/>
            <a:ext cx="4572000" cy="0"/>
          </a:xfrm>
          <a:prstGeom prst="line">
            <a:avLst/>
          </a:prstGeom>
          <a:noFill/>
          <a:ln w="38100">
            <a:solidFill>
              <a:srgbClr val="123D2E"/>
            </a:solidFill>
            <a:prstDash val="solid"/>
          </a:ln>
        </p:spPr>
      </p:sp>
      <p:sp>
        <p:nvSpPr>
          <p:cNvPr id="13" name="vibrational level"/>
          <p:cNvSpPr/>
          <p:nvPr/>
        </p:nvSpPr>
        <p:spPr>
          <a:xfrm>
            <a:off x="2103120" y="1947672"/>
            <a:ext cx="4572000" cy="0"/>
          </a:xfrm>
          <a:prstGeom prst="line">
            <a:avLst/>
          </a:prstGeom>
          <a:noFill/>
          <a:ln w="9525">
            <a:solidFill>
              <a:srgbClr val="5E7268"/>
            </a:solidFill>
            <a:prstDash val="dash"/>
          </a:ln>
        </p:spPr>
      </p:sp>
      <p:sp>
        <p:nvSpPr>
          <p:cNvPr id="14" name="vibrational level"/>
          <p:cNvSpPr/>
          <p:nvPr/>
        </p:nvSpPr>
        <p:spPr>
          <a:xfrm>
            <a:off x="2103120" y="1837944"/>
            <a:ext cx="4572000" cy="0"/>
          </a:xfrm>
          <a:prstGeom prst="line">
            <a:avLst/>
          </a:prstGeom>
          <a:noFill/>
          <a:ln w="9525">
            <a:solidFill>
              <a:srgbClr val="5E7268"/>
            </a:solidFill>
            <a:prstDash val="dash"/>
          </a:ln>
        </p:spPr>
      </p:sp>
      <p:sp>
        <p:nvSpPr>
          <p:cNvPr id="15" name="Text 12"/>
          <p:cNvSpPr txBox="1"/>
          <p:nvPr/>
        </p:nvSpPr>
        <p:spPr>
          <a:xfrm>
            <a:off x="548640" y="1645920"/>
            <a:ext cx="1463040" cy="685800"/>
          </a:xfrm>
          <a:prstGeom prst="rect">
            <a:avLst/>
          </a:prstGeom>
          <a:noFill/>
          <a:ln/>
        </p:spPr>
        <p:txBody>
          <a:bodyPr wrap="square" lIns="0" tIns="0" rIns="0" bIns="0" rtlCol="0" anchor="ctr"/>
          <a:lstStyle/>
          <a:p>
            <a:pPr algn="r" indent="0" marL="0">
              <a:buNone/>
            </a:pPr>
            <a:r>
              <a:rPr lang="en-US" sz="1800" b="1" dirty="0">
                <a:solidFill>
                  <a:schemeClr val="tx2"/>
                </a:solidFill>
              </a:rPr>
              <a:t>S₂</a:t>
            </a:r>
            <a:endParaRPr lang="en-US" sz="1800" dirty="0"/>
          </a:p>
          <a:p>
            <a:pPr algn="r" indent="0" marL="0">
              <a:buNone/>
            </a:pPr>
            <a:r>
              <a:rPr lang="en-US" sz="1100" dirty="0">
                <a:solidFill>
                  <a:schemeClr val="tx1"/>
                </a:solidFill>
              </a:rPr>
              <a:t>higher excited singlet</a:t>
            </a:r>
            <a:endParaRPr lang="en-US" sz="1800" dirty="0"/>
          </a:p>
        </p:txBody>
      </p:sp>
      <p:sp>
        <p:nvSpPr>
          <p:cNvPr id="16" name="triplet level"/>
          <p:cNvSpPr/>
          <p:nvPr/>
        </p:nvSpPr>
        <p:spPr>
          <a:xfrm>
            <a:off x="6035040" y="4526280"/>
            <a:ext cx="640080" cy="0"/>
          </a:xfrm>
          <a:prstGeom prst="line">
            <a:avLst/>
          </a:prstGeom>
          <a:noFill/>
          <a:ln w="38100">
            <a:solidFill>
              <a:srgbClr val="7B2D43"/>
            </a:solidFill>
            <a:prstDash val="solid"/>
          </a:ln>
        </p:spPr>
      </p:sp>
      <p:sp>
        <p:nvSpPr>
          <p:cNvPr id="17" name="Text 14"/>
          <p:cNvSpPr txBox="1"/>
          <p:nvPr/>
        </p:nvSpPr>
        <p:spPr>
          <a:xfrm>
            <a:off x="5989320" y="4553712"/>
            <a:ext cx="914400" cy="274320"/>
          </a:xfrm>
          <a:prstGeom prst="rect">
            <a:avLst/>
          </a:prstGeom>
          <a:noFill/>
          <a:ln/>
        </p:spPr>
        <p:txBody>
          <a:bodyPr wrap="square" lIns="0" tIns="0" rIns="0" bIns="0" rtlCol="0" anchor="ctr"/>
          <a:lstStyle/>
          <a:p>
            <a:pPr algn="l" indent="0" marL="0">
              <a:buNone/>
            </a:pPr>
            <a:r>
              <a:rPr lang="en-US" sz="1200" b="1" dirty="0">
                <a:solidFill>
                  <a:schemeClr val="accent4"/>
                </a:solidFill>
              </a:rPr>
              <a:t>T₁ triplet</a:t>
            </a:r>
            <a:endParaRPr lang="en-US" sz="1200" dirty="0"/>
          </a:p>
        </p:txBody>
      </p:sp>
      <p:sp>
        <p:nvSpPr>
          <p:cNvPr id="18" name="arrow"/>
          <p:cNvSpPr/>
          <p:nvPr/>
        </p:nvSpPr>
        <p:spPr>
          <a:xfrm flipV="1">
            <a:off x="2331720" y="1828800"/>
            <a:ext cx="0" cy="3886200"/>
          </a:xfrm>
          <a:prstGeom prst="line">
            <a:avLst/>
          </a:prstGeom>
          <a:noFill/>
          <a:ln w="38100">
            <a:solidFill>
              <a:srgbClr val="2B6A94"/>
            </a:solidFill>
            <a:prstDash val="solid"/>
            <a:tailEnd type="triangle"/>
          </a:ln>
        </p:spPr>
      </p:sp>
      <p:sp>
        <p:nvSpPr>
          <p:cNvPr id="19" name="Text 16"/>
          <p:cNvSpPr txBox="1"/>
          <p:nvPr/>
        </p:nvSpPr>
        <p:spPr>
          <a:xfrm>
            <a:off x="2423160" y="2377440"/>
            <a:ext cx="1188720" cy="548640"/>
          </a:xfrm>
          <a:prstGeom prst="rect">
            <a:avLst/>
          </a:prstGeom>
          <a:noFill/>
          <a:ln/>
        </p:spPr>
        <p:txBody>
          <a:bodyPr wrap="square" lIns="0" tIns="0" rIns="0" bIns="0" rtlCol="0" anchor="ctr"/>
          <a:lstStyle/>
          <a:p>
            <a:pPr algn="l" indent="0" marL="0">
              <a:buNone/>
            </a:pPr>
            <a:r>
              <a:rPr lang="en-US" sz="1100" b="1" dirty="0">
                <a:solidFill>
                  <a:schemeClr val="accent5"/>
                </a:solidFill>
              </a:rPr>
              <a:t>Blue absorption</a:t>
            </a:r>
            <a:endParaRPr lang="en-US" sz="1100" dirty="0"/>
          </a:p>
          <a:p>
            <a:pPr algn="l" indent="0" marL="0">
              <a:buNone/>
            </a:pPr>
            <a:r>
              <a:rPr lang="en-US" sz="1100" b="1" dirty="0">
                <a:solidFill>
                  <a:schemeClr val="accent5"/>
                </a:solidFill>
              </a:rPr>
              <a:t>~430–450 nm</a:t>
            </a:r>
            <a:endParaRPr lang="en-US" sz="1100" dirty="0"/>
          </a:p>
        </p:txBody>
      </p:sp>
      <p:sp>
        <p:nvSpPr>
          <p:cNvPr id="20" name="arrow"/>
          <p:cNvSpPr/>
          <p:nvPr/>
        </p:nvSpPr>
        <p:spPr>
          <a:xfrm flipV="1">
            <a:off x="3063240" y="3566160"/>
            <a:ext cx="0" cy="2148840"/>
          </a:xfrm>
          <a:prstGeom prst="line">
            <a:avLst/>
          </a:prstGeom>
          <a:noFill/>
          <a:ln w="38100">
            <a:solidFill>
              <a:srgbClr val="D62839"/>
            </a:solidFill>
            <a:prstDash val="solid"/>
            <a:tailEnd type="triangle"/>
          </a:ln>
        </p:spPr>
      </p:sp>
      <p:sp>
        <p:nvSpPr>
          <p:cNvPr id="21" name="Text 18"/>
          <p:cNvSpPr txBox="1"/>
          <p:nvPr/>
        </p:nvSpPr>
        <p:spPr>
          <a:xfrm>
            <a:off x="3154680" y="4206240"/>
            <a:ext cx="1097280" cy="548640"/>
          </a:xfrm>
          <a:prstGeom prst="rect">
            <a:avLst/>
          </a:prstGeom>
          <a:noFill/>
          <a:ln/>
        </p:spPr>
        <p:txBody>
          <a:bodyPr wrap="square" lIns="0" tIns="0" rIns="0" bIns="0" rtlCol="0" anchor="ctr"/>
          <a:lstStyle/>
          <a:p>
            <a:pPr algn="l" indent="0" marL="0">
              <a:buNone/>
            </a:pPr>
            <a:r>
              <a:rPr lang="en-US" sz="1100" b="1" dirty="0">
                <a:solidFill>
                  <a:schemeClr val="accent2"/>
                </a:solidFill>
              </a:rPr>
              <a:t>Red absorption</a:t>
            </a:r>
            <a:endParaRPr lang="en-US" sz="1100" dirty="0"/>
          </a:p>
          <a:p>
            <a:pPr algn="l" indent="0" marL="0">
              <a:buNone/>
            </a:pPr>
            <a:r>
              <a:rPr lang="en-US" sz="1100" b="1" dirty="0">
                <a:solidFill>
                  <a:schemeClr val="accent2"/>
                </a:solidFill>
              </a:rPr>
              <a:t>~660–680 nm</a:t>
            </a:r>
            <a:endParaRPr lang="en-US" sz="1100" dirty="0"/>
          </a:p>
        </p:txBody>
      </p:sp>
      <p:sp>
        <p:nvSpPr>
          <p:cNvPr id="22" name="arrow"/>
          <p:cNvSpPr/>
          <p:nvPr/>
        </p:nvSpPr>
        <p:spPr>
          <a:xfrm>
            <a:off x="3703320" y="2057400"/>
            <a:ext cx="0" cy="1719072"/>
          </a:xfrm>
          <a:prstGeom prst="line">
            <a:avLst/>
          </a:prstGeom>
          <a:noFill/>
          <a:ln w="25400">
            <a:solidFill>
              <a:srgbClr val="F2A900"/>
            </a:solidFill>
            <a:prstDash val="dash"/>
            <a:tailEnd type="triangle"/>
          </a:ln>
        </p:spPr>
      </p:sp>
      <p:sp>
        <p:nvSpPr>
          <p:cNvPr id="23" name="Text 20"/>
          <p:cNvSpPr txBox="1"/>
          <p:nvPr/>
        </p:nvSpPr>
        <p:spPr>
          <a:xfrm>
            <a:off x="3794760" y="2697480"/>
            <a:ext cx="1463040" cy="548640"/>
          </a:xfrm>
          <a:prstGeom prst="rect">
            <a:avLst/>
          </a:prstGeom>
          <a:noFill/>
          <a:ln/>
        </p:spPr>
        <p:txBody>
          <a:bodyPr wrap="square" lIns="0" tIns="0" rIns="0" bIns="0" rtlCol="0" anchor="ctr"/>
          <a:lstStyle/>
          <a:p>
            <a:pPr algn="l" indent="0" marL="0">
              <a:buNone/>
            </a:pPr>
            <a:r>
              <a:rPr lang="en-US" sz="1100" dirty="0">
                <a:solidFill>
                  <a:schemeClr val="tx1"/>
                </a:solidFill>
              </a:rPr>
              <a:t>Internal conversion</a:t>
            </a:r>
            <a:endParaRPr lang="en-US" sz="1100" dirty="0"/>
          </a:p>
          <a:p>
            <a:pPr algn="l" indent="0" marL="0">
              <a:buNone/>
            </a:pPr>
            <a:r>
              <a:rPr lang="en-US" sz="1100" dirty="0">
                <a:solidFill>
                  <a:schemeClr val="tx1"/>
                </a:solidFill>
              </a:rPr>
              <a:t>(heat, femtoseconds)</a:t>
            </a:r>
            <a:endParaRPr lang="en-US" sz="1100" dirty="0"/>
          </a:p>
        </p:txBody>
      </p:sp>
      <p:sp>
        <p:nvSpPr>
          <p:cNvPr id="24" name="arrow"/>
          <p:cNvSpPr/>
          <p:nvPr/>
        </p:nvSpPr>
        <p:spPr>
          <a:xfrm>
            <a:off x="4343400" y="3794760"/>
            <a:ext cx="0" cy="1920240"/>
          </a:xfrm>
          <a:prstGeom prst="line">
            <a:avLst/>
          </a:prstGeom>
          <a:noFill/>
          <a:ln w="38100">
            <a:solidFill>
              <a:srgbClr val="D62839"/>
            </a:solidFill>
            <a:prstDash val="solid"/>
            <a:tailEnd type="triangle"/>
          </a:ln>
        </p:spPr>
      </p:sp>
      <p:sp>
        <p:nvSpPr>
          <p:cNvPr id="25" name="Text 22"/>
          <p:cNvSpPr txBox="1"/>
          <p:nvPr/>
        </p:nvSpPr>
        <p:spPr>
          <a:xfrm>
            <a:off x="4434840" y="4754880"/>
            <a:ext cx="868680" cy="548640"/>
          </a:xfrm>
          <a:prstGeom prst="rect">
            <a:avLst/>
          </a:prstGeom>
          <a:noFill/>
          <a:ln/>
        </p:spPr>
        <p:txBody>
          <a:bodyPr wrap="square" lIns="0" tIns="0" rIns="0" bIns="0" rtlCol="0" anchor="ctr"/>
          <a:lstStyle/>
          <a:p>
            <a:pPr algn="l" indent="0" marL="0">
              <a:buNone/>
            </a:pPr>
            <a:r>
              <a:rPr lang="en-US" sz="1100" b="1" dirty="0">
                <a:solidFill>
                  <a:schemeClr val="accent2"/>
                </a:solidFill>
              </a:rPr>
              <a:t>Fluorescence</a:t>
            </a:r>
            <a:endParaRPr lang="en-US" sz="1100" dirty="0"/>
          </a:p>
          <a:p>
            <a:pPr algn="l" indent="0" marL="0">
              <a:buNone/>
            </a:pPr>
            <a:r>
              <a:rPr lang="en-US" sz="1100" b="1" dirty="0">
                <a:solidFill>
                  <a:schemeClr val="accent2"/>
                </a:solidFill>
              </a:rPr>
              <a:t>650–800 nm</a:t>
            </a:r>
            <a:endParaRPr lang="en-US" sz="1100" dirty="0"/>
          </a:p>
        </p:txBody>
      </p:sp>
      <p:sp>
        <p:nvSpPr>
          <p:cNvPr id="26" name="arrow"/>
          <p:cNvSpPr/>
          <p:nvPr/>
        </p:nvSpPr>
        <p:spPr>
          <a:xfrm>
            <a:off x="5394960" y="3794760"/>
            <a:ext cx="0" cy="1920240"/>
          </a:xfrm>
          <a:prstGeom prst="line">
            <a:avLst/>
          </a:prstGeom>
          <a:noFill/>
          <a:ln w="25400">
            <a:solidFill>
              <a:srgbClr val="F2A900"/>
            </a:solidFill>
            <a:prstDash val="dash"/>
            <a:tailEnd type="triangle"/>
          </a:ln>
        </p:spPr>
      </p:sp>
      <p:sp>
        <p:nvSpPr>
          <p:cNvPr id="27" name="Text 24"/>
          <p:cNvSpPr txBox="1"/>
          <p:nvPr/>
        </p:nvSpPr>
        <p:spPr>
          <a:xfrm>
            <a:off x="5486400" y="4937760"/>
            <a:ext cx="548640" cy="457200"/>
          </a:xfrm>
          <a:prstGeom prst="rect">
            <a:avLst/>
          </a:prstGeom>
          <a:noFill/>
          <a:ln/>
        </p:spPr>
        <p:txBody>
          <a:bodyPr wrap="square" lIns="0" tIns="0" rIns="0" bIns="0" rtlCol="0" anchor="ctr"/>
          <a:lstStyle/>
          <a:p>
            <a:pPr algn="l" indent="0" marL="0">
              <a:buNone/>
            </a:pPr>
            <a:r>
              <a:rPr lang="en-US" sz="1100" b="1" dirty="0">
                <a:solidFill>
                  <a:schemeClr val="tx1"/>
                </a:solidFill>
              </a:rPr>
              <a:t>Heat</a:t>
            </a:r>
            <a:endParaRPr lang="en-US" sz="1100" dirty="0"/>
          </a:p>
          <a:p>
            <a:pPr algn="l" indent="0" marL="0">
              <a:buNone/>
            </a:pPr>
            <a:r>
              <a:rPr lang="en-US" sz="1100" b="1" dirty="0">
                <a:solidFill>
                  <a:schemeClr val="tx1"/>
                </a:solidFill>
              </a:rPr>
              <a:t>(NPQ)</a:t>
            </a:r>
            <a:endParaRPr lang="en-US" sz="1100" dirty="0"/>
          </a:p>
        </p:txBody>
      </p:sp>
      <p:sp>
        <p:nvSpPr>
          <p:cNvPr id="28" name="arrow"/>
          <p:cNvSpPr/>
          <p:nvPr/>
        </p:nvSpPr>
        <p:spPr>
          <a:xfrm>
            <a:off x="5852160" y="3794760"/>
            <a:ext cx="320040" cy="713232"/>
          </a:xfrm>
          <a:prstGeom prst="line">
            <a:avLst/>
          </a:prstGeom>
          <a:noFill/>
          <a:ln w="25400">
            <a:solidFill>
              <a:srgbClr val="7B2D43"/>
            </a:solidFill>
            <a:prstDash val="solid"/>
            <a:tailEnd type="triangle"/>
          </a:ln>
        </p:spPr>
      </p:sp>
      <p:sp>
        <p:nvSpPr>
          <p:cNvPr id="29" name="Text 26"/>
          <p:cNvSpPr txBox="1"/>
          <p:nvPr/>
        </p:nvSpPr>
        <p:spPr>
          <a:xfrm>
            <a:off x="6080760" y="4846320"/>
            <a:ext cx="822960" cy="502920"/>
          </a:xfrm>
          <a:prstGeom prst="rect">
            <a:avLst/>
          </a:prstGeom>
          <a:noFill/>
          <a:ln/>
        </p:spPr>
        <p:txBody>
          <a:bodyPr wrap="square" lIns="0" tIns="0" rIns="0" bIns="0" rtlCol="0" anchor="t"/>
          <a:lstStyle/>
          <a:p>
            <a:pPr algn="l" indent="0" marL="0">
              <a:buNone/>
            </a:pPr>
            <a:r>
              <a:rPr lang="en-US" sz="900" i="1" dirty="0">
                <a:solidFill>
                  <a:schemeClr val="accent4"/>
                </a:solidFill>
              </a:rPr>
              <a:t>¹O₂ risk; quenched by carotenoids</a:t>
            </a:r>
            <a:endParaRPr lang="en-US" sz="900" dirty="0"/>
          </a:p>
        </p:txBody>
      </p:sp>
      <p:sp>
        <p:nvSpPr>
          <p:cNvPr id="30" name="arrow"/>
          <p:cNvSpPr/>
          <p:nvPr/>
        </p:nvSpPr>
        <p:spPr>
          <a:xfrm flipV="1">
            <a:off x="5760720" y="3154680"/>
            <a:ext cx="0" cy="594360"/>
          </a:xfrm>
          <a:prstGeom prst="line">
            <a:avLst/>
          </a:prstGeom>
          <a:noFill/>
          <a:ln w="38100">
            <a:solidFill>
              <a:srgbClr val="2E8B57"/>
            </a:solidFill>
            <a:prstDash val="solid"/>
            <a:tailEnd type="triangle"/>
          </a:ln>
        </p:spPr>
      </p:sp>
      <p:sp>
        <p:nvSpPr>
          <p:cNvPr id="31" name="diagram box"/>
          <p:cNvSpPr/>
          <p:nvPr/>
        </p:nvSpPr>
        <p:spPr>
          <a:xfrm>
            <a:off x="5212080" y="2651760"/>
            <a:ext cx="1463040" cy="475488"/>
          </a:xfrm>
          <a:prstGeom prst="roundRect">
            <a:avLst>
              <a:gd name="adj" fmla="val 15385"/>
            </a:avLst>
          </a:prstGeom>
          <a:solidFill>
            <a:schemeClr val="accent1"/>
          </a:solidFill>
          <a:ln/>
        </p:spPr>
      </p:sp>
      <p:sp>
        <p:nvSpPr>
          <p:cNvPr id="32" name="Text 29"/>
          <p:cNvSpPr txBox="1"/>
          <p:nvPr/>
        </p:nvSpPr>
        <p:spPr>
          <a:xfrm>
            <a:off x="5212080" y="2651760"/>
            <a:ext cx="1463040" cy="475488"/>
          </a:xfrm>
          <a:prstGeom prst="rect">
            <a:avLst/>
          </a:prstGeom>
          <a:noFill/>
          <a:ln/>
        </p:spPr>
        <p:txBody>
          <a:bodyPr wrap="square" lIns="508" tIns="508" rIns="508" bIns="508" rtlCol="0" anchor="ctr"/>
          <a:lstStyle/>
          <a:p>
            <a:pPr algn="ctr" indent="0" marL="0">
              <a:buNone/>
            </a:pPr>
            <a:r>
              <a:rPr lang="en-US" sz="1200" b="1" dirty="0">
                <a:solidFill>
                  <a:schemeClr val="bg1"/>
                </a:solidFill>
              </a:rPr>
              <a:t>Photochemistry</a:t>
            </a:r>
            <a:endParaRPr lang="en-US" sz="1200" dirty="0"/>
          </a:p>
        </p:txBody>
      </p:sp>
      <p:sp>
        <p:nvSpPr>
          <p:cNvPr id="33" name="card"/>
          <p:cNvSpPr/>
          <p:nvPr/>
        </p:nvSpPr>
        <p:spPr>
          <a:xfrm>
            <a:off x="6949440" y="1325880"/>
            <a:ext cx="4690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34" name="Text 31"/>
          <p:cNvSpPr txBox="1"/>
          <p:nvPr/>
        </p:nvSpPr>
        <p:spPr>
          <a:xfrm>
            <a:off x="7132320" y="1463040"/>
            <a:ext cx="4370832" cy="365760"/>
          </a:xfrm>
          <a:prstGeom prst="rect">
            <a:avLst/>
          </a:prstGeom>
          <a:noFill/>
          <a:ln/>
        </p:spPr>
        <p:txBody>
          <a:bodyPr wrap="square" lIns="0" tIns="0" rIns="0" bIns="0" rtlCol="0" anchor="ctr"/>
          <a:lstStyle/>
          <a:p>
            <a:pPr indent="0" marL="0">
              <a:buNone/>
            </a:pPr>
            <a:r>
              <a:rPr lang="en-US" sz="1600" b="1" dirty="0">
                <a:solidFill>
                  <a:schemeClr val="tx2"/>
                </a:solidFill>
              </a:rPr>
              <a:t>Three rules that clear most doubts</a:t>
            </a:r>
            <a:endParaRPr lang="en-US" sz="1600" dirty="0"/>
          </a:p>
        </p:txBody>
      </p:sp>
      <p:sp>
        <p:nvSpPr>
          <p:cNvPr id="35" name="Text 32"/>
          <p:cNvSpPr txBox="1"/>
          <p:nvPr/>
        </p:nvSpPr>
        <p:spPr>
          <a:xfrm>
            <a:off x="7132320" y="1874520"/>
            <a:ext cx="4325112"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Excitation colour does not matter: everything relaxes to </a:t>
            </a:r>
            <a:r>
              <a:rPr lang="en-US" sz="1300" b="1" dirty="0">
                <a:solidFill>
                  <a:schemeClr val="tx1"/>
                </a:solidFill>
              </a:rPr>
              <a:t>S₁</a:t>
            </a:r>
            <a:r>
              <a:rPr lang="en-US" sz="1300" dirty="0">
                <a:solidFill>
                  <a:schemeClr val="tx1"/>
                </a:solidFill>
              </a:rPr>
              <a:t> first, so emission is always red/far-red (Kasha's rule)</a:t>
            </a:r>
            <a:endParaRPr lang="en-US" sz="1300" dirty="0"/>
          </a:p>
          <a:p>
            <a:pPr marL="177800" indent="-177800">
              <a:spcAft>
                <a:spcPts val="400"/>
              </a:spcAft>
              <a:buSzPct val="100000"/>
              <a:buChar char="•"/>
            </a:pPr>
            <a:r>
              <a:rPr lang="en-US" sz="1300" dirty="0">
                <a:solidFill>
                  <a:schemeClr val="tx1"/>
                </a:solidFill>
              </a:rPr>
              <a:t>Emission is at longer wavelength than absorption (</a:t>
            </a:r>
            <a:r>
              <a:rPr lang="en-US" sz="1300" b="1" dirty="0">
                <a:solidFill>
                  <a:schemeClr val="tx1"/>
                </a:solidFill>
              </a:rPr>
              <a:t>Stokes shift</a:t>
            </a:r>
            <a:r>
              <a:rPr lang="en-US" sz="1300" dirty="0">
                <a:solidFill>
                  <a:schemeClr val="tx1"/>
                </a:solidFill>
              </a:rPr>
              <a:t>)</a:t>
            </a:r>
            <a:endParaRPr lang="en-US" sz="1300" dirty="0"/>
          </a:p>
          <a:p>
            <a:pPr marL="177800" indent="-177800">
              <a:spcAft>
                <a:spcPts val="400"/>
              </a:spcAft>
              <a:buSzPct val="100000"/>
              <a:buChar char="•"/>
            </a:pPr>
            <a:r>
              <a:rPr lang="en-US" sz="1300" dirty="0">
                <a:solidFill>
                  <a:schemeClr val="tx1"/>
                </a:solidFill>
              </a:rPr>
              <a:t>Processes from S₁ </a:t>
            </a:r>
            <a:r>
              <a:rPr lang="en-US" sz="1300" b="1" dirty="0">
                <a:solidFill>
                  <a:schemeClr val="tx1"/>
                </a:solidFill>
              </a:rPr>
              <a:t>compete</a:t>
            </a:r>
            <a:r>
              <a:rPr lang="en-US" sz="1300" dirty="0">
                <a:solidFill>
                  <a:schemeClr val="tx1"/>
                </a:solidFill>
              </a:rPr>
              <a:t>: the faster one route is, the less goes to the others</a:t>
            </a:r>
            <a:endParaRPr lang="en-US" sz="1300" dirty="0"/>
          </a:p>
        </p:txBody>
      </p:sp>
      <p:sp>
        <p:nvSpPr>
          <p:cNvPr id="36" name="card"/>
          <p:cNvSpPr/>
          <p:nvPr/>
        </p:nvSpPr>
        <p:spPr>
          <a:xfrm>
            <a:off x="6949440" y="3703320"/>
            <a:ext cx="4690872" cy="2468880"/>
          </a:xfrm>
          <a:prstGeom prst="roundRect">
            <a:avLst>
              <a:gd name="adj" fmla="val 2963"/>
            </a:avLst>
          </a:prstGeom>
          <a:solidFill>
            <a:schemeClr val="bg2"/>
          </a:solidFill>
          <a:ln/>
          <a:effectLst>
            <a:outerShdw sx="100000" sy="100000" kx="0" ky="0" algn="bl" rotWithShape="0" blurRad="76200" dist="25400" dir="5400000">
              <a:srgbClr val="000000">
                <a:alpha val="14000"/>
              </a:srgbClr>
            </a:outerShdw>
          </a:effectLst>
        </p:spPr>
      </p:sp>
      <p:sp>
        <p:nvSpPr>
          <p:cNvPr id="37" name="Text 34"/>
          <p:cNvSpPr txBox="1"/>
          <p:nvPr/>
        </p:nvSpPr>
        <p:spPr>
          <a:xfrm>
            <a:off x="7132320" y="3840480"/>
            <a:ext cx="4370832" cy="365760"/>
          </a:xfrm>
          <a:prstGeom prst="rect">
            <a:avLst/>
          </a:prstGeom>
          <a:noFill/>
          <a:ln/>
        </p:spPr>
        <p:txBody>
          <a:bodyPr wrap="square" lIns="0" tIns="0" rIns="0" bIns="0" rtlCol="0" anchor="ctr"/>
          <a:lstStyle/>
          <a:p>
            <a:pPr indent="0" marL="0">
              <a:buNone/>
            </a:pPr>
            <a:r>
              <a:rPr lang="en-US" sz="1600" b="1" dirty="0">
                <a:solidFill>
                  <a:schemeClr val="tx2"/>
                </a:solidFill>
              </a:rPr>
              <a:t>Numbers worth remembering</a:t>
            </a:r>
            <a:endParaRPr lang="en-US" sz="1600" dirty="0"/>
          </a:p>
        </p:txBody>
      </p:sp>
      <p:sp>
        <p:nvSpPr>
          <p:cNvPr id="38" name="Text 35"/>
          <p:cNvSpPr txBox="1"/>
          <p:nvPr/>
        </p:nvSpPr>
        <p:spPr>
          <a:xfrm>
            <a:off x="7132320" y="4251960"/>
            <a:ext cx="4325112" cy="18288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Fluorescence quantum yield in vivo: typically </a:t>
            </a:r>
            <a:r>
              <a:rPr lang="en-US" sz="1300" b="1" dirty="0">
                <a:solidFill>
                  <a:schemeClr val="tx1"/>
                </a:solidFill>
              </a:rPr>
              <a:t>0.5–3 %</a:t>
            </a:r>
            <a:r>
              <a:rPr lang="en-US" sz="1300" dirty="0">
                <a:solidFill>
                  <a:schemeClr val="tx1"/>
                </a:solidFill>
              </a:rPr>
              <a:t> (always &lt;10 %)</a:t>
            </a:r>
            <a:endParaRPr lang="en-US" sz="1300" dirty="0"/>
          </a:p>
          <a:p>
            <a:pPr marL="177800" indent="-177800">
              <a:spcAft>
                <a:spcPts val="400"/>
              </a:spcAft>
              <a:buSzPct val="100000"/>
              <a:buChar char="•"/>
            </a:pPr>
            <a:r>
              <a:rPr lang="en-US" sz="1300" dirty="0">
                <a:solidFill>
                  <a:schemeClr val="tx1"/>
                </a:solidFill>
              </a:rPr>
              <a:t>Fluorescence lifetime: </a:t>
            </a:r>
            <a:r>
              <a:rPr lang="en-US" sz="1300" b="1" dirty="0">
                <a:solidFill>
                  <a:schemeClr val="tx1"/>
                </a:solidFill>
              </a:rPr>
              <a:t>tens to hundreds of picoseconds</a:t>
            </a:r>
            <a:endParaRPr lang="en-US" sz="1300" dirty="0"/>
          </a:p>
          <a:p>
            <a:pPr marL="177800" indent="-177800">
              <a:spcAft>
                <a:spcPts val="400"/>
              </a:spcAft>
              <a:buSzPct val="100000"/>
              <a:buChar char="•"/>
            </a:pPr>
            <a:r>
              <a:rPr lang="en-US" sz="1300" dirty="0">
                <a:solidFill>
                  <a:schemeClr val="tx1"/>
                </a:solidFill>
              </a:rPr>
              <a:t>Emission peaks: </a:t>
            </a:r>
            <a:r>
              <a:rPr lang="en-US" sz="1300" b="1" dirty="0">
                <a:solidFill>
                  <a:schemeClr val="tx1"/>
                </a:solidFill>
              </a:rPr>
              <a:t>F</a:t>
            </a:r>
            <a:r>
              <a:rPr lang="en-US" sz="1300" b="1" baseline="-40000" dirty="0">
                <a:solidFill>
                  <a:schemeClr val="tx1"/>
                </a:solidFill>
              </a:rPr>
              <a:t>685</a:t>
            </a:r>
            <a:r>
              <a:rPr lang="en-US" sz="1300" dirty="0">
                <a:solidFill>
                  <a:schemeClr val="tx1"/>
                </a:solidFill>
              </a:rPr>
              <a:t> (PSII) and </a:t>
            </a:r>
            <a:r>
              <a:rPr lang="en-US" sz="1300" b="1" dirty="0">
                <a:solidFill>
                  <a:schemeClr val="tx1"/>
                </a:solidFill>
              </a:rPr>
              <a:t>F</a:t>
            </a:r>
            <a:r>
              <a:rPr lang="en-US" sz="1300" b="1" baseline="-40000" dirty="0">
                <a:solidFill>
                  <a:schemeClr val="tx1"/>
                </a:solidFill>
              </a:rPr>
              <a:t>740</a:t>
            </a:r>
            <a:r>
              <a:rPr lang="en-US" sz="1300" dirty="0">
                <a:solidFill>
                  <a:schemeClr val="tx1"/>
                </a:solidFill>
              </a:rPr>
              <a:t> (PSII + PSI)</a:t>
            </a:r>
            <a:endParaRPr lang="en-US" sz="1300" dirty="0"/>
          </a:p>
          <a:p>
            <a:pPr marL="177800" indent="-177800">
              <a:spcAft>
                <a:spcPts val="400"/>
              </a:spcAft>
              <a:buSzPct val="100000"/>
              <a:buChar char="•"/>
            </a:pPr>
            <a:r>
              <a:rPr lang="en-US" sz="1300" dirty="0">
                <a:solidFill>
                  <a:schemeClr val="tx1"/>
                </a:solidFill>
              </a:rPr>
              <a:t>Charge separation in an open PSII centre is very fast, so photochemistry normally wins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Three competing fates of absorbed light energy</a:t>
            </a:r>
            <a:endParaRPr lang="en-US" sz="3200" dirty="0"/>
          </a:p>
        </p:txBody>
      </p:sp>
      <p:sp>
        <p:nvSpPr>
          <p:cNvPr id="4" name="icon circle"/>
          <p:cNvSpPr/>
          <p:nvPr/>
        </p:nvSpPr>
        <p:spPr>
          <a:xfrm>
            <a:off x="731520" y="2514600"/>
            <a:ext cx="1005840" cy="1005840"/>
          </a:xfrm>
          <a:prstGeom prst="ellipse">
            <a:avLst/>
          </a:prstGeom>
          <a:solidFill>
            <a:schemeClr val="accent3"/>
          </a:solidFill>
          <a:ln/>
        </p:spPr>
      </p:sp>
      <p:pic>
        <p:nvPicPr>
          <p:cNvPr id="5" name="Image 0" descr="Sun icon">    </p:cNvPr>
          <p:cNvPicPr>
            <a:picLocks noChangeAspect="1"/>
          </p:cNvPicPr>
          <p:nvPr/>
        </p:nvPicPr>
        <p:blipFill>
          <a:blip r:embed="rId1"/>
          <a:stretch>
            <a:fillRect/>
          </a:stretch>
        </p:blipFill>
        <p:spPr>
          <a:xfrm>
            <a:off x="993038" y="2776118"/>
            <a:ext cx="482803" cy="482803"/>
          </a:xfrm>
          <a:prstGeom prst="rect">
            <a:avLst/>
          </a:prstGeom>
        </p:spPr>
      </p:pic>
      <p:sp>
        <p:nvSpPr>
          <p:cNvPr id="6" name="Text 2"/>
          <p:cNvSpPr txBox="1"/>
          <p:nvPr/>
        </p:nvSpPr>
        <p:spPr>
          <a:xfrm>
            <a:off x="502920" y="3611880"/>
            <a:ext cx="1463040" cy="320040"/>
          </a:xfrm>
          <a:prstGeom prst="rect">
            <a:avLst/>
          </a:prstGeom>
          <a:noFill/>
          <a:ln/>
        </p:spPr>
        <p:txBody>
          <a:bodyPr wrap="square" lIns="0" tIns="0" rIns="0" bIns="0" rtlCol="0" anchor="ctr"/>
          <a:lstStyle/>
          <a:p>
            <a:pPr algn="ctr" indent="0" marL="0">
              <a:buNone/>
            </a:pPr>
            <a:r>
              <a:rPr lang="en-US" sz="1300" b="1" dirty="0">
                <a:solidFill>
                  <a:schemeClr val="tx1"/>
                </a:solidFill>
              </a:rPr>
              <a:t>Absorbed photon</a:t>
            </a:r>
            <a:endParaRPr lang="en-US" sz="1300" dirty="0"/>
          </a:p>
        </p:txBody>
      </p:sp>
      <p:sp>
        <p:nvSpPr>
          <p:cNvPr id="7" name="arrow"/>
          <p:cNvSpPr/>
          <p:nvPr/>
        </p:nvSpPr>
        <p:spPr>
          <a:xfrm>
            <a:off x="1828800" y="3017520"/>
            <a:ext cx="868680" cy="0"/>
          </a:xfrm>
          <a:prstGeom prst="line">
            <a:avLst/>
          </a:prstGeom>
          <a:noFill/>
          <a:ln w="38100">
            <a:solidFill>
              <a:srgbClr val="5E7268"/>
            </a:solidFill>
            <a:prstDash val="solid"/>
            <a:tailEnd type="triangle"/>
          </a:ln>
        </p:spPr>
      </p:sp>
      <p:sp>
        <p:nvSpPr>
          <p:cNvPr id="8" name="excited chlorophyll"/>
          <p:cNvSpPr/>
          <p:nvPr/>
        </p:nvSpPr>
        <p:spPr>
          <a:xfrm>
            <a:off x="2743200" y="2331720"/>
            <a:ext cx="1371600" cy="1371600"/>
          </a:xfrm>
          <a:prstGeom prst="ellipse">
            <a:avLst/>
          </a:prstGeom>
          <a:solidFill>
            <a:schemeClr val="tx2"/>
          </a:solidFill>
          <a:ln/>
        </p:spPr>
      </p:sp>
      <p:sp>
        <p:nvSpPr>
          <p:cNvPr id="9" name="Text 5"/>
          <p:cNvSpPr txBox="1"/>
          <p:nvPr/>
        </p:nvSpPr>
        <p:spPr>
          <a:xfrm>
            <a:off x="2743200" y="2514600"/>
            <a:ext cx="1371600" cy="640080"/>
          </a:xfrm>
          <a:prstGeom prst="rect">
            <a:avLst/>
          </a:prstGeom>
          <a:noFill/>
          <a:ln/>
        </p:spPr>
        <p:txBody>
          <a:bodyPr wrap="square" lIns="0" tIns="0" rIns="0" bIns="0" rtlCol="0" anchor="ctr"/>
          <a:lstStyle/>
          <a:p>
            <a:pPr algn="ctr" indent="0" marL="0">
              <a:buNone/>
            </a:pPr>
            <a:r>
              <a:rPr lang="en-US" sz="2600" b="1" dirty="0">
                <a:solidFill>
                  <a:schemeClr val="bg1"/>
                </a:solidFill>
              </a:rPr>
              <a:t>Chl∗</a:t>
            </a:r>
            <a:endParaRPr lang="en-US" sz="2600" dirty="0"/>
          </a:p>
        </p:txBody>
      </p:sp>
      <p:sp>
        <p:nvSpPr>
          <p:cNvPr id="10" name="Text 6"/>
          <p:cNvSpPr txBox="1"/>
          <p:nvPr/>
        </p:nvSpPr>
        <p:spPr>
          <a:xfrm>
            <a:off x="2743200" y="3108960"/>
            <a:ext cx="1371600" cy="320040"/>
          </a:xfrm>
          <a:prstGeom prst="rect">
            <a:avLst/>
          </a:prstGeom>
          <a:noFill/>
          <a:ln/>
        </p:spPr>
        <p:txBody>
          <a:bodyPr wrap="square" lIns="0" tIns="0" rIns="0" bIns="0" rtlCol="0" anchor="ctr"/>
          <a:lstStyle/>
          <a:p>
            <a:pPr algn="ctr" indent="0" marL="0">
              <a:buNone/>
            </a:pPr>
            <a:r>
              <a:rPr lang="en-US" sz="1200" dirty="0">
                <a:solidFill>
                  <a:schemeClr val="bg2"/>
                </a:solidFill>
              </a:rPr>
              <a:t>excited</a:t>
            </a:r>
            <a:endParaRPr lang="en-US" sz="1200" dirty="0"/>
          </a:p>
        </p:txBody>
      </p:sp>
      <p:sp>
        <p:nvSpPr>
          <p:cNvPr id="11" name="arrow"/>
          <p:cNvSpPr/>
          <p:nvPr/>
        </p:nvSpPr>
        <p:spPr>
          <a:xfrm flipV="1">
            <a:off x="4114800" y="1874520"/>
            <a:ext cx="777240" cy="1143000"/>
          </a:xfrm>
          <a:prstGeom prst="line">
            <a:avLst/>
          </a:prstGeom>
          <a:noFill/>
          <a:ln w="38100">
            <a:solidFill>
              <a:srgbClr val="2E8B57"/>
            </a:solidFill>
            <a:prstDash val="solid"/>
            <a:tailEnd type="triangle"/>
          </a:ln>
        </p:spPr>
      </p:sp>
      <p:sp>
        <p:nvSpPr>
          <p:cNvPr id="12" name="fate box"/>
          <p:cNvSpPr/>
          <p:nvPr/>
        </p:nvSpPr>
        <p:spPr>
          <a:xfrm>
            <a:off x="4937760" y="1371600"/>
            <a:ext cx="3291840" cy="1051560"/>
          </a:xfrm>
          <a:prstGeom prst="roundRect">
            <a:avLst>
              <a:gd name="adj" fmla="val 6957"/>
            </a:avLst>
          </a:prstGeom>
          <a:solidFill>
            <a:schemeClr val="accent1"/>
          </a:solidFill>
          <a:ln/>
        </p:spPr>
      </p:sp>
      <p:sp>
        <p:nvSpPr>
          <p:cNvPr id="13" name="Text 9"/>
          <p:cNvSpPr txBox="1"/>
          <p:nvPr/>
        </p:nvSpPr>
        <p:spPr>
          <a:xfrm>
            <a:off x="5029200" y="1417320"/>
            <a:ext cx="3108960" cy="960120"/>
          </a:xfrm>
          <a:prstGeom prst="rect">
            <a:avLst/>
          </a:prstGeom>
          <a:noFill/>
          <a:ln/>
        </p:spPr>
        <p:txBody>
          <a:bodyPr wrap="square" lIns="0" tIns="0" rIns="0" bIns="0" rtlCol="0" anchor="ctr"/>
          <a:lstStyle/>
          <a:p>
            <a:pPr indent="0" marL="0">
              <a:buNone/>
            </a:pPr>
            <a:r>
              <a:rPr lang="en-US" sz="1500" b="1" dirty="0">
                <a:solidFill>
                  <a:schemeClr val="bg1"/>
                </a:solidFill>
              </a:rPr>
              <a:t>① Photochemistry  </a:t>
            </a:r>
            <a:r>
              <a:rPr lang="en-US" sz="1200" i="1" dirty="0">
                <a:solidFill>
                  <a:schemeClr val="bg1"/>
                </a:solidFill>
              </a:rPr>
              <a:t>rate k</a:t>
            </a:r>
            <a:r>
              <a:rPr lang="en-US" sz="1200" i="1" baseline="-40000" dirty="0">
                <a:solidFill>
                  <a:schemeClr val="bg1"/>
                </a:solidFill>
              </a:rPr>
              <a:t>P</a:t>
            </a:r>
            <a:endParaRPr lang="en-US" sz="1500" dirty="0"/>
          </a:p>
          <a:p>
            <a:pPr indent="0" marL="0">
              <a:buNone/>
            </a:pPr>
            <a:r>
              <a:rPr lang="en-US" sz="1200" dirty="0">
                <a:solidFill>
                  <a:schemeClr val="bg1"/>
                </a:solidFill>
              </a:rPr>
              <a:t>Drives charge separation in PSII → electron transport → ATP + NADPH → CO₂ assimilation</a:t>
            </a:r>
            <a:endParaRPr lang="en-US" sz="1500" dirty="0"/>
          </a:p>
        </p:txBody>
      </p:sp>
      <p:sp>
        <p:nvSpPr>
          <p:cNvPr id="14" name="arrow"/>
          <p:cNvSpPr/>
          <p:nvPr/>
        </p:nvSpPr>
        <p:spPr>
          <a:xfrm>
            <a:off x="4114800" y="3017520"/>
            <a:ext cx="777240" cy="228600"/>
          </a:xfrm>
          <a:prstGeom prst="line">
            <a:avLst/>
          </a:prstGeom>
          <a:noFill/>
          <a:ln w="38100">
            <a:solidFill>
              <a:srgbClr val="F2A900"/>
            </a:solidFill>
            <a:prstDash val="solid"/>
            <a:tailEnd type="triangle"/>
          </a:ln>
        </p:spPr>
      </p:sp>
      <p:sp>
        <p:nvSpPr>
          <p:cNvPr id="15" name="fate box"/>
          <p:cNvSpPr/>
          <p:nvPr/>
        </p:nvSpPr>
        <p:spPr>
          <a:xfrm>
            <a:off x="4937760" y="2743200"/>
            <a:ext cx="3291840" cy="1051560"/>
          </a:xfrm>
          <a:prstGeom prst="roundRect">
            <a:avLst>
              <a:gd name="adj" fmla="val 6957"/>
            </a:avLst>
          </a:prstGeom>
          <a:solidFill>
            <a:schemeClr val="accent3"/>
          </a:solidFill>
          <a:ln/>
        </p:spPr>
      </p:sp>
      <p:sp>
        <p:nvSpPr>
          <p:cNvPr id="16" name="Text 12"/>
          <p:cNvSpPr txBox="1"/>
          <p:nvPr/>
        </p:nvSpPr>
        <p:spPr>
          <a:xfrm>
            <a:off x="5029200" y="2788920"/>
            <a:ext cx="3108960" cy="960120"/>
          </a:xfrm>
          <a:prstGeom prst="rect">
            <a:avLst/>
          </a:prstGeom>
          <a:noFill/>
          <a:ln/>
        </p:spPr>
        <p:txBody>
          <a:bodyPr wrap="square" lIns="0" tIns="0" rIns="0" bIns="0" rtlCol="0" anchor="ctr"/>
          <a:lstStyle/>
          <a:p>
            <a:pPr indent="0" marL="0">
              <a:buNone/>
            </a:pPr>
            <a:r>
              <a:rPr lang="en-US" sz="1500" b="1" dirty="0">
                <a:solidFill>
                  <a:schemeClr val="bg1"/>
                </a:solidFill>
              </a:rPr>
              <a:t>② Heat (NPQ)  </a:t>
            </a:r>
            <a:r>
              <a:rPr lang="en-US" sz="1200" i="1" dirty="0">
                <a:solidFill>
                  <a:schemeClr val="bg1"/>
                </a:solidFill>
              </a:rPr>
              <a:t>rate k</a:t>
            </a:r>
            <a:r>
              <a:rPr lang="en-US" sz="1200" i="1" baseline="-40000" dirty="0">
                <a:solidFill>
                  <a:schemeClr val="bg1"/>
                </a:solidFill>
              </a:rPr>
              <a:t>N</a:t>
            </a:r>
            <a:endParaRPr lang="en-US" sz="1500" dirty="0"/>
          </a:p>
          <a:p>
            <a:pPr indent="0" marL="0">
              <a:buNone/>
            </a:pPr>
            <a:r>
              <a:rPr lang="en-US" sz="1200" dirty="0">
                <a:solidFill>
                  <a:schemeClr val="bg1"/>
                </a:solidFill>
              </a:rPr>
              <a:t>Safe dissipation of excess energy; photoprotective (ΔpH, PsbS, zeaxanthin)</a:t>
            </a:r>
            <a:endParaRPr lang="en-US" sz="1500" dirty="0"/>
          </a:p>
        </p:txBody>
      </p:sp>
      <p:sp>
        <p:nvSpPr>
          <p:cNvPr id="17" name="arrow"/>
          <p:cNvSpPr/>
          <p:nvPr/>
        </p:nvSpPr>
        <p:spPr>
          <a:xfrm>
            <a:off x="4114800" y="3017520"/>
            <a:ext cx="777240" cy="1600200"/>
          </a:xfrm>
          <a:prstGeom prst="line">
            <a:avLst/>
          </a:prstGeom>
          <a:noFill/>
          <a:ln w="38100">
            <a:solidFill>
              <a:srgbClr val="D62839"/>
            </a:solidFill>
            <a:prstDash val="solid"/>
            <a:tailEnd type="triangle"/>
          </a:ln>
        </p:spPr>
      </p:sp>
      <p:sp>
        <p:nvSpPr>
          <p:cNvPr id="18" name="fate box"/>
          <p:cNvSpPr/>
          <p:nvPr/>
        </p:nvSpPr>
        <p:spPr>
          <a:xfrm>
            <a:off x="4937760" y="4114800"/>
            <a:ext cx="3291840" cy="1051560"/>
          </a:xfrm>
          <a:prstGeom prst="roundRect">
            <a:avLst>
              <a:gd name="adj" fmla="val 6957"/>
            </a:avLst>
          </a:prstGeom>
          <a:solidFill>
            <a:schemeClr val="accent2"/>
          </a:solidFill>
          <a:ln/>
        </p:spPr>
      </p:sp>
      <p:sp>
        <p:nvSpPr>
          <p:cNvPr id="19" name="Text 15"/>
          <p:cNvSpPr txBox="1"/>
          <p:nvPr/>
        </p:nvSpPr>
        <p:spPr>
          <a:xfrm>
            <a:off x="5029200" y="4160520"/>
            <a:ext cx="3108960" cy="960120"/>
          </a:xfrm>
          <a:prstGeom prst="rect">
            <a:avLst/>
          </a:prstGeom>
          <a:noFill/>
          <a:ln/>
        </p:spPr>
        <p:txBody>
          <a:bodyPr wrap="square" lIns="0" tIns="0" rIns="0" bIns="0" rtlCol="0" anchor="ctr"/>
          <a:lstStyle/>
          <a:p>
            <a:pPr indent="0" marL="0">
              <a:buNone/>
            </a:pPr>
            <a:r>
              <a:rPr lang="en-US" sz="1500" b="1" dirty="0">
                <a:solidFill>
                  <a:schemeClr val="bg1"/>
                </a:solidFill>
              </a:rPr>
              <a:t>③ Fluorescence  </a:t>
            </a:r>
            <a:r>
              <a:rPr lang="en-US" sz="1200" i="1" dirty="0">
                <a:solidFill>
                  <a:schemeClr val="bg1"/>
                </a:solidFill>
              </a:rPr>
              <a:t>rate k</a:t>
            </a:r>
            <a:r>
              <a:rPr lang="en-US" sz="1200" i="1" baseline="-40000" dirty="0">
                <a:solidFill>
                  <a:schemeClr val="bg1"/>
                </a:solidFill>
              </a:rPr>
              <a:t>F</a:t>
            </a:r>
            <a:endParaRPr lang="en-US" sz="1500" dirty="0"/>
          </a:p>
          <a:p>
            <a:pPr indent="0" marL="0">
              <a:buNone/>
            </a:pPr>
            <a:r>
              <a:rPr lang="en-US" sz="1200" dirty="0">
                <a:solidFill>
                  <a:schemeClr val="bg1"/>
                </a:solidFill>
              </a:rPr>
              <a:t>Re-emitted as red / far-red light (650–800 nm); the part we measure</a:t>
            </a:r>
            <a:endParaRPr lang="en-US" sz="1500" dirty="0"/>
          </a:p>
        </p:txBody>
      </p:sp>
      <p:sp>
        <p:nvSpPr>
          <p:cNvPr id="20" name="card"/>
          <p:cNvSpPr/>
          <p:nvPr/>
        </p:nvSpPr>
        <p:spPr>
          <a:xfrm>
            <a:off x="8549640" y="1371600"/>
            <a:ext cx="3090672" cy="3794760"/>
          </a:xfrm>
          <a:prstGeom prst="roundRect">
            <a:avLst>
              <a:gd name="adj" fmla="val 2367"/>
            </a:avLst>
          </a:prstGeom>
          <a:solidFill>
            <a:schemeClr val="bg2"/>
          </a:solidFill>
          <a:ln/>
          <a:effectLst>
            <a:outerShdw sx="100000" sy="100000" kx="0" ky="0" algn="bl" rotWithShape="0" blurRad="76200" dist="25400" dir="5400000">
              <a:srgbClr val="000000">
                <a:alpha val="14000"/>
              </a:srgbClr>
            </a:outerShdw>
          </a:effectLst>
        </p:spPr>
      </p:sp>
      <p:sp>
        <p:nvSpPr>
          <p:cNvPr id="21" name="Text 17"/>
          <p:cNvSpPr txBox="1"/>
          <p:nvPr/>
        </p:nvSpPr>
        <p:spPr>
          <a:xfrm>
            <a:off x="8732520" y="1508760"/>
            <a:ext cx="2770632" cy="365760"/>
          </a:xfrm>
          <a:prstGeom prst="rect">
            <a:avLst/>
          </a:prstGeom>
          <a:noFill/>
          <a:ln/>
        </p:spPr>
        <p:txBody>
          <a:bodyPr wrap="square" lIns="0" tIns="0" rIns="0" bIns="0" rtlCol="0" anchor="ctr"/>
          <a:lstStyle/>
          <a:p>
            <a:pPr indent="0" marL="0">
              <a:buNone/>
            </a:pPr>
            <a:r>
              <a:rPr lang="en-US" sz="1600" b="1" dirty="0">
                <a:solidFill>
                  <a:schemeClr val="tx2"/>
                </a:solidFill>
              </a:rPr>
              <a:t>The competition rule</a:t>
            </a:r>
            <a:endParaRPr lang="en-US" sz="1600" dirty="0"/>
          </a:p>
        </p:txBody>
      </p:sp>
      <p:sp>
        <p:nvSpPr>
          <p:cNvPr id="22" name="Text 18"/>
          <p:cNvSpPr txBox="1"/>
          <p:nvPr/>
        </p:nvSpPr>
        <p:spPr>
          <a:xfrm>
            <a:off x="8732520" y="1920240"/>
            <a:ext cx="2724912" cy="3154680"/>
          </a:xfrm>
          <a:prstGeom prst="rect">
            <a:avLst/>
          </a:prstGeom>
          <a:noFill/>
          <a:ln/>
        </p:spPr>
        <p:txBody>
          <a:bodyPr wrap="square" lIns="508" tIns="508" rIns="508" bIns="508" rtlCol="0" anchor="t"/>
          <a:lstStyle/>
          <a:p>
            <a:pPr algn="ctr" indent="0" marL="0">
              <a:spcAft>
                <a:spcPts val="800"/>
              </a:spcAft>
              <a:buNone/>
            </a:pPr>
            <a:r>
              <a:rPr lang="en-US" sz="1800" b="1" dirty="0">
                <a:solidFill>
                  <a:schemeClr val="tx2"/>
                </a:solidFill>
              </a:rPr>
              <a:t>Φ</a:t>
            </a:r>
            <a:r>
              <a:rPr lang="en-US" sz="1800" b="1" baseline="-40000" dirty="0">
                <a:solidFill>
                  <a:schemeClr val="tx2"/>
                </a:solidFill>
              </a:rPr>
              <a:t>P</a:t>
            </a:r>
            <a:r>
              <a:rPr lang="en-US" sz="1800" b="1" dirty="0">
                <a:solidFill>
                  <a:schemeClr val="tx2"/>
                </a:solidFill>
              </a:rPr>
              <a:t> + Φ</a:t>
            </a:r>
            <a:r>
              <a:rPr lang="en-US" sz="1800" b="1" baseline="-40000" dirty="0">
                <a:solidFill>
                  <a:schemeClr val="tx2"/>
                </a:solidFill>
              </a:rPr>
              <a:t>N</a:t>
            </a:r>
            <a:r>
              <a:rPr lang="en-US" sz="1800" b="1" dirty="0">
                <a:solidFill>
                  <a:schemeClr val="tx2"/>
                </a:solidFill>
              </a:rPr>
              <a:t> + Φ</a:t>
            </a:r>
            <a:r>
              <a:rPr lang="en-US" sz="1800" b="1" baseline="-40000" dirty="0">
                <a:solidFill>
                  <a:schemeClr val="tx2"/>
                </a:solidFill>
              </a:rPr>
              <a:t>F</a:t>
            </a:r>
            <a:r>
              <a:rPr lang="en-US" sz="1800" b="1" dirty="0">
                <a:solidFill>
                  <a:schemeClr val="tx2"/>
                </a:solidFill>
              </a:rPr>
              <a:t> = 1</a:t>
            </a:r>
            <a:endParaRPr lang="en-US" sz="1800" dirty="0"/>
          </a:p>
          <a:p>
            <a:pPr algn="ctr" indent="0" marL="0">
              <a:spcAft>
                <a:spcPts val="1000"/>
              </a:spcAft>
              <a:buNone/>
            </a:pPr>
            <a:r>
              <a:rPr lang="en-US" sz="1400" dirty="0">
                <a:solidFill>
                  <a:schemeClr val="tx2"/>
                </a:solidFill>
              </a:rPr>
              <a:t>Φ</a:t>
            </a:r>
            <a:r>
              <a:rPr lang="en-US" sz="1400" baseline="-40000" dirty="0">
                <a:solidFill>
                  <a:schemeClr val="tx2"/>
                </a:solidFill>
              </a:rPr>
              <a:t>F</a:t>
            </a:r>
            <a:r>
              <a:rPr lang="en-US" sz="1400" dirty="0">
                <a:solidFill>
                  <a:schemeClr val="tx2"/>
                </a:solidFill>
              </a:rPr>
              <a:t> = k</a:t>
            </a:r>
            <a:r>
              <a:rPr lang="en-US" sz="1400" baseline="-40000" dirty="0">
                <a:solidFill>
                  <a:schemeClr val="tx2"/>
                </a:solidFill>
              </a:rPr>
              <a:t>F</a:t>
            </a:r>
            <a:r>
              <a:rPr lang="en-US" sz="1400" dirty="0">
                <a:solidFill>
                  <a:schemeClr val="tx2"/>
                </a:solidFill>
              </a:rPr>
              <a:t> / (k</a:t>
            </a:r>
            <a:r>
              <a:rPr lang="en-US" sz="1400" baseline="-40000" dirty="0">
                <a:solidFill>
                  <a:schemeClr val="tx2"/>
                </a:solidFill>
              </a:rPr>
              <a:t>F</a:t>
            </a:r>
            <a:r>
              <a:rPr lang="en-US" sz="1400" dirty="0">
                <a:solidFill>
                  <a:schemeClr val="tx2"/>
                </a:solidFill>
              </a:rPr>
              <a:t> + k</a:t>
            </a:r>
            <a:r>
              <a:rPr lang="en-US" sz="1400" baseline="-40000" dirty="0">
                <a:solidFill>
                  <a:schemeClr val="tx2"/>
                </a:solidFill>
              </a:rPr>
              <a:t>P</a:t>
            </a:r>
            <a:r>
              <a:rPr lang="en-US" sz="1400" dirty="0">
                <a:solidFill>
                  <a:schemeClr val="tx2"/>
                </a:solidFill>
              </a:rPr>
              <a:t> + k</a:t>
            </a:r>
            <a:r>
              <a:rPr lang="en-US" sz="1400" baseline="-40000" dirty="0">
                <a:solidFill>
                  <a:schemeClr val="tx2"/>
                </a:solidFill>
              </a:rPr>
              <a:t>N</a:t>
            </a:r>
            <a:r>
              <a:rPr lang="en-US" sz="1400" dirty="0">
                <a:solidFill>
                  <a:schemeClr val="tx2"/>
                </a:solidFill>
              </a:rPr>
              <a:t>)</a:t>
            </a:r>
            <a:endParaRPr lang="en-US" sz="1800" dirty="0"/>
          </a:p>
          <a:p>
            <a:pPr marL="177800" indent="-177800">
              <a:spcAft>
                <a:spcPts val="400"/>
              </a:spcAft>
              <a:buSzPct val="100000"/>
              <a:buChar char="•"/>
            </a:pPr>
            <a:r>
              <a:rPr lang="en-US" sz="1300" dirty="0">
                <a:solidFill>
                  <a:schemeClr val="tx1"/>
                </a:solidFill>
              </a:rPr>
              <a:t>Centres </a:t>
            </a:r>
            <a:r>
              <a:rPr lang="en-US" sz="1300" b="1" dirty="0">
                <a:solidFill>
                  <a:schemeClr val="tx1"/>
                </a:solidFill>
              </a:rPr>
              <a:t>closed</a:t>
            </a:r>
            <a:r>
              <a:rPr lang="en-US" sz="1300" dirty="0">
                <a:solidFill>
                  <a:schemeClr val="tx1"/>
                </a:solidFill>
              </a:rPr>
              <a:t> → k</a:t>
            </a:r>
            <a:r>
              <a:rPr lang="en-US" sz="1300" baseline="-40000" dirty="0">
                <a:solidFill>
                  <a:schemeClr val="tx1"/>
                </a:solidFill>
              </a:rPr>
              <a:t>P</a:t>
            </a:r>
            <a:r>
              <a:rPr lang="en-US" sz="1300" dirty="0">
                <a:solidFill>
                  <a:schemeClr val="tx1"/>
                </a:solidFill>
              </a:rPr>
              <a:t> ≈ 0 → fluorescence </a:t>
            </a:r>
            <a:r>
              <a:rPr lang="en-US" sz="1300" b="1" dirty="0">
                <a:solidFill>
                  <a:schemeClr val="tx1"/>
                </a:solidFill>
              </a:rPr>
              <a:t>rises</a:t>
            </a:r>
            <a:endParaRPr lang="en-US" sz="1800" dirty="0"/>
          </a:p>
          <a:p>
            <a:pPr marL="177800" indent="-177800">
              <a:spcAft>
                <a:spcPts val="400"/>
              </a:spcAft>
              <a:buSzPct val="100000"/>
              <a:buChar char="•"/>
            </a:pPr>
            <a:r>
              <a:rPr lang="en-US" sz="1300" dirty="0">
                <a:solidFill>
                  <a:schemeClr val="tx1"/>
                </a:solidFill>
              </a:rPr>
              <a:t>NPQ </a:t>
            </a:r>
            <a:r>
              <a:rPr lang="en-US" sz="1300" b="1" dirty="0">
                <a:solidFill>
                  <a:schemeClr val="tx1"/>
                </a:solidFill>
              </a:rPr>
              <a:t>switched on</a:t>
            </a:r>
            <a:r>
              <a:rPr lang="en-US" sz="1300" dirty="0">
                <a:solidFill>
                  <a:schemeClr val="tx1"/>
                </a:solidFill>
              </a:rPr>
              <a:t> → k</a:t>
            </a:r>
            <a:r>
              <a:rPr lang="en-US" sz="1300" baseline="-40000" dirty="0">
                <a:solidFill>
                  <a:schemeClr val="tx1"/>
                </a:solidFill>
              </a:rPr>
              <a:t>N</a:t>
            </a:r>
            <a:r>
              <a:rPr lang="en-US" sz="1300" dirty="0">
                <a:solidFill>
                  <a:schemeClr val="tx1"/>
                </a:solidFill>
              </a:rPr>
              <a:t> ↑ → fluorescence </a:t>
            </a:r>
            <a:r>
              <a:rPr lang="en-US" sz="1300" b="1" dirty="0">
                <a:solidFill>
                  <a:schemeClr val="tx1"/>
                </a:solidFill>
              </a:rPr>
              <a:t>falls</a:t>
            </a:r>
            <a:endParaRPr lang="en-US" sz="1800" dirty="0"/>
          </a:p>
          <a:p>
            <a:pPr marL="177800" indent="-177800">
              <a:spcAft>
                <a:spcPts val="400"/>
              </a:spcAft>
              <a:buSzPct val="100000"/>
              <a:buChar char="•"/>
            </a:pPr>
            <a:r>
              <a:rPr lang="en-US" sz="1300" dirty="0">
                <a:solidFill>
                  <a:schemeClr val="tx1"/>
                </a:solidFill>
              </a:rPr>
              <a:t>So fluorescence reports photochemistry and heat loss indirectly</a:t>
            </a:r>
            <a:endParaRPr lang="en-US" sz="1800" dirty="0"/>
          </a:p>
        </p:txBody>
      </p:sp>
      <p:sp>
        <p:nvSpPr>
          <p:cNvPr id="23" name="insight"/>
          <p:cNvSpPr/>
          <p:nvPr/>
        </p:nvSpPr>
        <p:spPr>
          <a:xfrm>
            <a:off x="548640" y="5440680"/>
            <a:ext cx="11091672" cy="731520"/>
          </a:xfrm>
          <a:prstGeom prst="roundRect">
            <a:avLst>
              <a:gd name="adj" fmla="val 10000"/>
            </a:avLst>
          </a:prstGeom>
          <a:solidFill>
            <a:schemeClr val="bg2"/>
          </a:solidFill>
          <a:ln/>
        </p:spPr>
      </p:sp>
      <p:sp>
        <p:nvSpPr>
          <p:cNvPr id="24" name="icon circle"/>
          <p:cNvSpPr/>
          <p:nvPr/>
        </p:nvSpPr>
        <p:spPr>
          <a:xfrm>
            <a:off x="685800" y="5559552"/>
            <a:ext cx="493776" cy="493776"/>
          </a:xfrm>
          <a:prstGeom prst="ellipse">
            <a:avLst/>
          </a:prstGeom>
          <a:solidFill>
            <a:schemeClr val="accent3"/>
          </a:solidFill>
          <a:ln/>
        </p:spPr>
      </p:sp>
      <p:pic>
        <p:nvPicPr>
          <p:cNvPr id="25" name="Image 1" descr="Lightbulb icon">    </p:cNvPr>
          <p:cNvPicPr>
            <a:picLocks noChangeAspect="1"/>
          </p:cNvPicPr>
          <p:nvPr/>
        </p:nvPicPr>
        <p:blipFill>
          <a:blip r:embed="rId2"/>
          <a:stretch>
            <a:fillRect/>
          </a:stretch>
        </p:blipFill>
        <p:spPr>
          <a:xfrm>
            <a:off x="814182" y="5687934"/>
            <a:ext cx="237012" cy="237012"/>
          </a:xfrm>
          <a:prstGeom prst="rect">
            <a:avLst/>
          </a:prstGeom>
        </p:spPr>
      </p:pic>
      <p:sp>
        <p:nvSpPr>
          <p:cNvPr id="26" name="Text 21"/>
          <p:cNvSpPr txBox="1"/>
          <p:nvPr/>
        </p:nvSpPr>
        <p:spPr>
          <a:xfrm>
            <a:off x="1325880" y="5504688"/>
            <a:ext cx="10149840" cy="640080"/>
          </a:xfrm>
          <a:prstGeom prst="rect">
            <a:avLst/>
          </a:prstGeom>
          <a:noFill/>
          <a:ln/>
        </p:spPr>
        <p:txBody>
          <a:bodyPr wrap="square" lIns="508" tIns="508" rIns="508" bIns="508" rtlCol="0" anchor="ctr"/>
          <a:lstStyle/>
          <a:p>
            <a:pPr indent="0" marL="0">
              <a:spcAft>
                <a:spcPts val="600"/>
              </a:spcAft>
              <a:buNone/>
            </a:pPr>
            <a:r>
              <a:rPr lang="en-US" sz="1400" b="1" dirty="0">
                <a:solidFill>
                  <a:schemeClr val="tx1"/>
                </a:solidFill>
              </a:rPr>
              <a:t>Analogy:</a:t>
            </a:r>
            <a:r>
              <a:rPr lang="en-US" sz="1400" dirty="0">
                <a:solidFill>
                  <a:schemeClr val="tx1"/>
                </a:solidFill>
              </a:rPr>
              <a:t> three taps fed by one water tank. Close the photochemistry tap (saturating pulse) and the level in the fluorescence tap jumps — that jump is what PAM fluorometry measures.</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Why we treat the signal as coming from PSII</a:t>
            </a:r>
            <a:endParaRPr lang="en-US" sz="3200" dirty="0"/>
          </a:p>
        </p:txBody>
      </p:sp>
      <p:sp>
        <p:nvSpPr>
          <p:cNvPr id="4" name="figure frame"/>
          <p:cNvSpPr/>
          <p:nvPr/>
        </p:nvSpPr>
        <p:spPr>
          <a:xfrm>
            <a:off x="548640" y="1325880"/>
            <a:ext cx="5577840" cy="3840480"/>
          </a:xfrm>
          <a:prstGeom prst="roundRect">
            <a:avLst>
              <a:gd name="adj" fmla="val 1429"/>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Z-scheme: electrons flow from water through PSII (P680) and PSI (P700) to NADP⁺; herbicides DCMU and paraquat block specific steps">    </p:cNvPr>
          <p:cNvPicPr>
            <a:picLocks noChangeAspect="1"/>
          </p:cNvPicPr>
          <p:nvPr/>
        </p:nvPicPr>
        <p:blipFill>
          <a:blip r:embed="rId1"/>
          <a:stretch>
            <a:fillRect/>
          </a:stretch>
        </p:blipFill>
        <p:spPr>
          <a:xfrm>
            <a:off x="899160" y="1417320"/>
            <a:ext cx="4876800" cy="3657600"/>
          </a:xfrm>
          <a:prstGeom prst="rect">
            <a:avLst/>
          </a:prstGeom>
        </p:spPr>
      </p:pic>
      <p:sp>
        <p:nvSpPr>
          <p:cNvPr id="6" name="Text 2"/>
          <p:cNvSpPr txBox="1"/>
          <p:nvPr/>
        </p:nvSpPr>
        <p:spPr>
          <a:xfrm>
            <a:off x="548640" y="5212080"/>
            <a:ext cx="5577840" cy="457200"/>
          </a:xfrm>
          <a:prstGeom prst="rect">
            <a:avLst/>
          </a:prstGeom>
          <a:noFill/>
          <a:ln/>
        </p:spPr>
        <p:txBody>
          <a:bodyPr wrap="square" lIns="0" tIns="0" rIns="0" bIns="0" rtlCol="0" anchor="t"/>
          <a:lstStyle/>
          <a:p>
            <a:pPr indent="0" marL="0">
              <a:buNone/>
            </a:pPr>
            <a:r>
              <a:rPr lang="en-US" sz="1100" i="1" dirty="0">
                <a:solidFill>
                  <a:schemeClr val="accent6"/>
                </a:solidFill>
              </a:rPr>
              <a:t>Z-scheme: electrons flow from water through PSII (P680) and PSI (P700) to NADP⁺; herbicides DCMU and paraquat block specific steps</a:t>
            </a:r>
            <a:endParaRPr lang="en-US" sz="1100" dirty="0"/>
          </a:p>
        </p:txBody>
      </p:sp>
      <p:sp>
        <p:nvSpPr>
          <p:cNvPr id="7" name="card"/>
          <p:cNvSpPr/>
          <p:nvPr/>
        </p:nvSpPr>
        <p:spPr>
          <a:xfrm>
            <a:off x="6446520" y="1325880"/>
            <a:ext cx="5193792" cy="2057400"/>
          </a:xfrm>
          <a:prstGeom prst="roundRect">
            <a:avLst>
              <a:gd name="adj" fmla="val 3556"/>
            </a:avLst>
          </a:prstGeom>
          <a:solidFill>
            <a:schemeClr val="bg2"/>
          </a:solidFill>
          <a:ln/>
          <a:effectLst>
            <a:outerShdw sx="100000" sy="100000" kx="0" ky="0" algn="bl" rotWithShape="0" blurRad="76200" dist="25400" dir="5400000">
              <a:srgbClr val="000000">
                <a:alpha val="14000"/>
              </a:srgbClr>
            </a:outerShdw>
          </a:effectLst>
        </p:spPr>
      </p:sp>
      <p:sp>
        <p:nvSpPr>
          <p:cNvPr id="8" name="icon circle"/>
          <p:cNvSpPr/>
          <p:nvPr/>
        </p:nvSpPr>
        <p:spPr>
          <a:xfrm>
            <a:off x="6629400" y="1481328"/>
            <a:ext cx="420624" cy="420624"/>
          </a:xfrm>
          <a:prstGeom prst="ellipse">
            <a:avLst/>
          </a:prstGeom>
          <a:solidFill>
            <a:schemeClr val="accent1"/>
          </a:solidFill>
          <a:ln/>
        </p:spPr>
      </p:sp>
      <p:pic>
        <p:nvPicPr>
          <p:cNvPr id="9" name="Image 1" descr="Leaf icon">    </p:cNvPr>
          <p:cNvPicPr>
            <a:picLocks noChangeAspect="1"/>
          </p:cNvPicPr>
          <p:nvPr/>
        </p:nvPicPr>
        <p:blipFill>
          <a:blip r:embed="rId2"/>
          <a:stretch>
            <a:fillRect/>
          </a:stretch>
        </p:blipFill>
        <p:spPr>
          <a:xfrm>
            <a:off x="6738762" y="1590690"/>
            <a:ext cx="201900" cy="201900"/>
          </a:xfrm>
          <a:prstGeom prst="rect">
            <a:avLst/>
          </a:prstGeom>
        </p:spPr>
      </p:pic>
      <p:sp>
        <p:nvSpPr>
          <p:cNvPr id="10" name="Text 5"/>
          <p:cNvSpPr txBox="1"/>
          <p:nvPr/>
        </p:nvSpPr>
        <p:spPr>
          <a:xfrm>
            <a:off x="7159752" y="1463040"/>
            <a:ext cx="4343400" cy="457200"/>
          </a:xfrm>
          <a:prstGeom prst="rect">
            <a:avLst/>
          </a:prstGeom>
          <a:noFill/>
          <a:ln/>
        </p:spPr>
        <p:txBody>
          <a:bodyPr wrap="square" lIns="0" tIns="0" rIns="0" bIns="0" rtlCol="0" anchor="ctr"/>
          <a:lstStyle/>
          <a:p>
            <a:pPr indent="0" marL="0">
              <a:buNone/>
            </a:pPr>
            <a:r>
              <a:rPr lang="en-US" sz="1600" b="1" dirty="0">
                <a:solidFill>
                  <a:schemeClr val="tx2"/>
                </a:solidFill>
              </a:rPr>
              <a:t>PSII dominates the variable signal</a:t>
            </a:r>
            <a:endParaRPr lang="en-US" sz="1600" dirty="0"/>
          </a:p>
        </p:txBody>
      </p:sp>
      <p:sp>
        <p:nvSpPr>
          <p:cNvPr id="11" name="Text 6"/>
          <p:cNvSpPr txBox="1"/>
          <p:nvPr/>
        </p:nvSpPr>
        <p:spPr>
          <a:xfrm>
            <a:off x="6629400" y="2011680"/>
            <a:ext cx="4828032" cy="1280160"/>
          </a:xfrm>
          <a:prstGeom prst="rect">
            <a:avLst/>
          </a:prstGeom>
          <a:noFill/>
          <a:ln/>
        </p:spPr>
        <p:txBody>
          <a:bodyPr wrap="square" lIns="508" tIns="508" rIns="508" bIns="508" rtlCol="0" anchor="t"/>
          <a:lstStyle/>
          <a:p>
            <a:pPr marL="177800" indent="-177800">
              <a:spcAft>
                <a:spcPts val="400"/>
              </a:spcAft>
              <a:buSzPct val="100000"/>
              <a:buChar char="•"/>
            </a:pPr>
            <a:r>
              <a:rPr lang="en-US" sz="1400" dirty="0">
                <a:solidFill>
                  <a:schemeClr val="tx1"/>
                </a:solidFill>
              </a:rPr>
              <a:t>At room temperature, changes in fluorescence are attributed to </a:t>
            </a:r>
            <a:r>
              <a:rPr lang="en-US" sz="1400" b="1" dirty="0">
                <a:solidFill>
                  <a:schemeClr val="tx1"/>
                </a:solidFill>
              </a:rPr>
              <a:t>PSII only</a:t>
            </a:r>
            <a:endParaRPr lang="en-US" sz="1400" dirty="0"/>
          </a:p>
          <a:p>
            <a:pPr marL="177800" indent="-177800">
              <a:spcAft>
                <a:spcPts val="400"/>
              </a:spcAft>
              <a:buSzPct val="100000"/>
              <a:buChar char="•"/>
            </a:pPr>
            <a:r>
              <a:rPr lang="en-US" sz="1400" dirty="0">
                <a:solidFill>
                  <a:schemeClr val="tx1"/>
                </a:solidFill>
              </a:rPr>
              <a:t>PSI contributes little below </a:t>
            </a:r>
            <a:r>
              <a:rPr lang="en-US" sz="1400" b="1" dirty="0">
                <a:solidFill>
                  <a:schemeClr val="tx1"/>
                </a:solidFill>
              </a:rPr>
              <a:t>700 nm</a:t>
            </a:r>
            <a:r>
              <a:rPr lang="en-US" sz="1400" dirty="0">
                <a:solidFill>
                  <a:schemeClr val="tx1"/>
                </a:solidFill>
              </a:rPr>
              <a:t> → ignored in most PAM work</a:t>
            </a:r>
            <a:endParaRPr lang="en-US" sz="1400" dirty="0"/>
          </a:p>
          <a:p>
            <a:pPr marL="177800" indent="-177800">
              <a:spcAft>
                <a:spcPts val="400"/>
              </a:spcAft>
              <a:buSzPct val="100000"/>
              <a:buChar char="•"/>
            </a:pPr>
            <a:r>
              <a:rPr lang="en-US" sz="1400" dirty="0">
                <a:solidFill>
                  <a:schemeClr val="tx1"/>
                </a:solidFill>
              </a:rPr>
              <a:t>PSII emits at both 685 and 740 nm; PSI mostly at ~740 nm</a:t>
            </a:r>
            <a:endParaRPr lang="en-US" sz="1400" dirty="0"/>
          </a:p>
        </p:txBody>
      </p:sp>
      <p:sp>
        <p:nvSpPr>
          <p:cNvPr id="12" name="card"/>
          <p:cNvSpPr/>
          <p:nvPr/>
        </p:nvSpPr>
        <p:spPr>
          <a:xfrm>
            <a:off x="6446520" y="3520440"/>
            <a:ext cx="5193792" cy="2651760"/>
          </a:xfrm>
          <a:prstGeom prst="roundRect">
            <a:avLst>
              <a:gd name="adj" fmla="val 2759"/>
            </a:avLst>
          </a:prstGeom>
          <a:solidFill>
            <a:schemeClr val="bg2"/>
          </a:solidFill>
          <a:ln/>
          <a:effectLst>
            <a:outerShdw sx="100000" sy="100000" kx="0" ky="0" algn="bl" rotWithShape="0" blurRad="76200" dist="25400" dir="5400000">
              <a:srgbClr val="000000">
                <a:alpha val="14000"/>
              </a:srgbClr>
            </a:outerShdw>
          </a:effectLst>
        </p:spPr>
      </p:sp>
      <p:sp>
        <p:nvSpPr>
          <p:cNvPr id="13" name="icon circle"/>
          <p:cNvSpPr/>
          <p:nvPr/>
        </p:nvSpPr>
        <p:spPr>
          <a:xfrm>
            <a:off x="6629400" y="3675888"/>
            <a:ext cx="420624" cy="420624"/>
          </a:xfrm>
          <a:prstGeom prst="ellipse">
            <a:avLst/>
          </a:prstGeom>
          <a:solidFill>
            <a:schemeClr val="accent3"/>
          </a:solidFill>
          <a:ln/>
        </p:spPr>
      </p:sp>
      <p:pic>
        <p:nvPicPr>
          <p:cNvPr id="14" name="Image 2" descr="Lightbulb icon">    </p:cNvPr>
          <p:cNvPicPr>
            <a:picLocks noChangeAspect="1"/>
          </p:cNvPicPr>
          <p:nvPr/>
        </p:nvPicPr>
        <p:blipFill>
          <a:blip r:embed="rId3"/>
          <a:stretch>
            <a:fillRect/>
          </a:stretch>
        </p:blipFill>
        <p:spPr>
          <a:xfrm>
            <a:off x="6738762" y="3785250"/>
            <a:ext cx="201900" cy="201900"/>
          </a:xfrm>
          <a:prstGeom prst="rect">
            <a:avLst/>
          </a:prstGeom>
        </p:spPr>
      </p:pic>
      <p:sp>
        <p:nvSpPr>
          <p:cNvPr id="15" name="Text 9"/>
          <p:cNvSpPr txBox="1"/>
          <p:nvPr/>
        </p:nvSpPr>
        <p:spPr>
          <a:xfrm>
            <a:off x="7159752" y="3657600"/>
            <a:ext cx="4343400" cy="457200"/>
          </a:xfrm>
          <a:prstGeom prst="rect">
            <a:avLst/>
          </a:prstGeom>
          <a:noFill/>
          <a:ln/>
        </p:spPr>
        <p:txBody>
          <a:bodyPr wrap="square" lIns="0" tIns="0" rIns="0" bIns="0" rtlCol="0" anchor="ctr"/>
          <a:lstStyle/>
          <a:p>
            <a:pPr indent="0" marL="0">
              <a:buNone/>
            </a:pPr>
            <a:r>
              <a:rPr lang="en-US" sz="1600" b="1" dirty="0">
                <a:solidFill>
                  <a:schemeClr val="tx2"/>
                </a:solidFill>
              </a:rPr>
              <a:t>Why this is useful</a:t>
            </a:r>
            <a:endParaRPr lang="en-US" sz="1600" dirty="0"/>
          </a:p>
        </p:txBody>
      </p:sp>
      <p:sp>
        <p:nvSpPr>
          <p:cNvPr id="16" name="Text 10"/>
          <p:cNvSpPr txBox="1"/>
          <p:nvPr/>
        </p:nvSpPr>
        <p:spPr>
          <a:xfrm>
            <a:off x="6629400" y="4206240"/>
            <a:ext cx="4828032" cy="1874520"/>
          </a:xfrm>
          <a:prstGeom prst="rect">
            <a:avLst/>
          </a:prstGeom>
          <a:noFill/>
          <a:ln/>
        </p:spPr>
        <p:txBody>
          <a:bodyPr wrap="square" lIns="508" tIns="508" rIns="508" bIns="508" rtlCol="0" anchor="t"/>
          <a:lstStyle/>
          <a:p>
            <a:pPr marL="177800" indent="-177800">
              <a:spcAft>
                <a:spcPts val="400"/>
              </a:spcAft>
              <a:buSzPct val="100000"/>
              <a:buChar char="•"/>
            </a:pPr>
            <a:r>
              <a:rPr lang="en-US" sz="1400" dirty="0">
                <a:solidFill>
                  <a:schemeClr val="tx1"/>
                </a:solidFill>
              </a:rPr>
              <a:t>Photochemistry supplies the </a:t>
            </a:r>
            <a:r>
              <a:rPr lang="en-US" sz="1400" b="1" dirty="0">
                <a:solidFill>
                  <a:schemeClr val="tx1"/>
                </a:solidFill>
              </a:rPr>
              <a:t>energy (ATP)</a:t>
            </a:r>
            <a:r>
              <a:rPr lang="en-US" sz="1400" dirty="0">
                <a:solidFill>
                  <a:schemeClr val="tx1"/>
                </a:solidFill>
              </a:rPr>
              <a:t> and </a:t>
            </a:r>
            <a:r>
              <a:rPr lang="en-US" sz="1400" b="1" dirty="0">
                <a:solidFill>
                  <a:schemeClr val="tx1"/>
                </a:solidFill>
              </a:rPr>
              <a:t>reducing power (NADPH)</a:t>
            </a:r>
            <a:r>
              <a:rPr lang="en-US" sz="1400" dirty="0">
                <a:solidFill>
                  <a:schemeClr val="tx1"/>
                </a:solidFill>
              </a:rPr>
              <a:t> for CO₂ assimilation</a:t>
            </a:r>
            <a:endParaRPr lang="en-US" sz="1400" dirty="0"/>
          </a:p>
          <a:p>
            <a:pPr marL="177800" indent="-177800">
              <a:spcAft>
                <a:spcPts val="400"/>
              </a:spcAft>
              <a:buSzPct val="100000"/>
              <a:buChar char="•"/>
            </a:pPr>
            <a:r>
              <a:rPr lang="en-US" sz="1400" dirty="0">
                <a:solidFill>
                  <a:schemeClr val="tx1"/>
                </a:solidFill>
              </a:rPr>
              <a:t>Fluorescence yield ⇒ quantum efficiency of PSII photochemistry and heat dissipation</a:t>
            </a:r>
            <a:endParaRPr lang="en-US" sz="1400" dirty="0"/>
          </a:p>
          <a:p>
            <a:pPr marL="177800" indent="-177800">
              <a:spcAft>
                <a:spcPts val="400"/>
              </a:spcAft>
              <a:buSzPct val="100000"/>
              <a:buChar char="•"/>
            </a:pPr>
            <a:r>
              <a:rPr lang="en-US" sz="1400" dirty="0">
                <a:solidFill>
                  <a:schemeClr val="tx1"/>
                </a:solidFill>
              </a:rPr>
              <a:t>PSII is the most stress-sensitive part of the chain → early warning of stress</a:t>
            </a:r>
            <a:endParaRPr lang="en-US" sz="1400" dirty="0"/>
          </a:p>
          <a:p>
            <a:pPr marL="177800" indent="-177800">
              <a:spcAft>
                <a:spcPts val="400"/>
              </a:spcAft>
              <a:buSzPct val="100000"/>
              <a:buChar char="•"/>
            </a:pPr>
            <a:r>
              <a:rPr lang="en-US" sz="1400" dirty="0">
                <a:solidFill>
                  <a:schemeClr val="accent2"/>
                </a:solidFill>
              </a:rPr>
              <a:t>Caveat for SIF: far-red SIF also contains PSI emission</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Measuring fluorescence</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How to see a weak red glow against bright light: modulated (PAM) fluorometry and the instruments used</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02</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ambient-light problem and the PAM solution</a:t>
            </a:r>
            <a:endParaRPr lang="en-US" sz="3200" dirty="0"/>
          </a:p>
        </p:txBody>
      </p:sp>
      <p:sp>
        <p:nvSpPr>
          <p:cNvPr id="4" name="Text 1"/>
          <p:cNvSpPr txBox="1"/>
          <p:nvPr/>
        </p:nvSpPr>
        <p:spPr>
          <a:xfrm>
            <a:off x="548640" y="1463040"/>
            <a:ext cx="1691640" cy="365760"/>
          </a:xfrm>
          <a:prstGeom prst="rect">
            <a:avLst/>
          </a:prstGeom>
          <a:noFill/>
          <a:ln/>
        </p:spPr>
        <p:txBody>
          <a:bodyPr wrap="square" lIns="0" tIns="0" rIns="0" bIns="0" rtlCol="0" anchor="ctr"/>
          <a:lstStyle/>
          <a:p>
            <a:pPr algn="l" indent="0" marL="0">
              <a:buNone/>
            </a:pPr>
            <a:r>
              <a:rPr lang="en-US" sz="1300" b="1" dirty="0">
                <a:solidFill>
                  <a:schemeClr val="tx2"/>
                </a:solidFill>
              </a:rPr>
              <a:t>Measuring beam</a:t>
            </a:r>
            <a:endParaRPr lang="en-US" sz="1300" dirty="0"/>
          </a:p>
        </p:txBody>
      </p:sp>
      <p:sp>
        <p:nvSpPr>
          <p:cNvPr id="5" name="Text 2"/>
          <p:cNvSpPr txBox="1"/>
          <p:nvPr/>
        </p:nvSpPr>
        <p:spPr>
          <a:xfrm>
            <a:off x="548640" y="1810512"/>
            <a:ext cx="1691640" cy="548640"/>
          </a:xfrm>
          <a:prstGeom prst="rect">
            <a:avLst/>
          </a:prstGeom>
          <a:noFill/>
          <a:ln/>
        </p:spPr>
        <p:txBody>
          <a:bodyPr wrap="square" lIns="0" tIns="0" rIns="0" bIns="0" rtlCol="0" anchor="t"/>
          <a:lstStyle/>
          <a:p>
            <a:pPr algn="l" indent="0" marL="0">
              <a:buNone/>
            </a:pPr>
            <a:r>
              <a:rPr lang="en-US" sz="1000" dirty="0">
                <a:solidFill>
                  <a:schemeClr val="accent6"/>
                </a:solidFill>
              </a:rPr>
              <a:t>weak, modulated (µs pulses at a fixed frequency)</a:t>
            </a:r>
            <a:endParaRPr lang="en-US" sz="1000" dirty="0"/>
          </a:p>
        </p:txBody>
      </p:sp>
      <p:sp>
        <p:nvSpPr>
          <p:cNvPr id="6" name="time axis"/>
          <p:cNvSpPr/>
          <p:nvPr/>
        </p:nvSpPr>
        <p:spPr>
          <a:xfrm>
            <a:off x="2286000" y="2240280"/>
            <a:ext cx="4572000" cy="0"/>
          </a:xfrm>
          <a:prstGeom prst="line">
            <a:avLst/>
          </a:prstGeom>
          <a:noFill/>
          <a:ln w="12700">
            <a:solidFill>
              <a:srgbClr val="5E7268"/>
            </a:solidFill>
            <a:prstDash val="solid"/>
          </a:ln>
        </p:spPr>
      </p:sp>
      <p:sp>
        <p:nvSpPr>
          <p:cNvPr id="7" name="Text 4"/>
          <p:cNvSpPr txBox="1"/>
          <p:nvPr/>
        </p:nvSpPr>
        <p:spPr>
          <a:xfrm>
            <a:off x="548640" y="2606040"/>
            <a:ext cx="1691640" cy="365760"/>
          </a:xfrm>
          <a:prstGeom prst="rect">
            <a:avLst/>
          </a:prstGeom>
          <a:noFill/>
          <a:ln/>
        </p:spPr>
        <p:txBody>
          <a:bodyPr wrap="square" lIns="0" tIns="0" rIns="0" bIns="0" rtlCol="0" anchor="ctr"/>
          <a:lstStyle/>
          <a:p>
            <a:pPr algn="l" indent="0" marL="0">
              <a:buNone/>
            </a:pPr>
            <a:r>
              <a:rPr lang="en-US" sz="1300" b="1" dirty="0">
                <a:solidFill>
                  <a:schemeClr val="tx2"/>
                </a:solidFill>
              </a:rPr>
              <a:t>Ambient / actinic light</a:t>
            </a:r>
            <a:endParaRPr lang="en-US" sz="1300" dirty="0"/>
          </a:p>
        </p:txBody>
      </p:sp>
      <p:sp>
        <p:nvSpPr>
          <p:cNvPr id="8" name="Text 5"/>
          <p:cNvSpPr txBox="1"/>
          <p:nvPr/>
        </p:nvSpPr>
        <p:spPr>
          <a:xfrm>
            <a:off x="548640" y="2953512"/>
            <a:ext cx="1691640" cy="548640"/>
          </a:xfrm>
          <a:prstGeom prst="rect">
            <a:avLst/>
          </a:prstGeom>
          <a:noFill/>
          <a:ln/>
        </p:spPr>
        <p:txBody>
          <a:bodyPr wrap="square" lIns="0" tIns="0" rIns="0" bIns="0" rtlCol="0" anchor="t"/>
          <a:lstStyle/>
          <a:p>
            <a:pPr algn="l" indent="0" marL="0">
              <a:buNone/>
            </a:pPr>
            <a:r>
              <a:rPr lang="en-US" sz="1000" dirty="0">
                <a:solidFill>
                  <a:schemeClr val="accent6"/>
                </a:solidFill>
              </a:rPr>
              <a:t>strong but un-modulated (constant)</a:t>
            </a:r>
            <a:endParaRPr lang="en-US" sz="1000" dirty="0"/>
          </a:p>
        </p:txBody>
      </p:sp>
      <p:sp>
        <p:nvSpPr>
          <p:cNvPr id="9" name="time axis"/>
          <p:cNvSpPr/>
          <p:nvPr/>
        </p:nvSpPr>
        <p:spPr>
          <a:xfrm>
            <a:off x="2286000" y="3383280"/>
            <a:ext cx="4572000" cy="0"/>
          </a:xfrm>
          <a:prstGeom prst="line">
            <a:avLst/>
          </a:prstGeom>
          <a:noFill/>
          <a:ln w="12700">
            <a:solidFill>
              <a:srgbClr val="5E7268"/>
            </a:solidFill>
            <a:prstDash val="solid"/>
          </a:ln>
        </p:spPr>
      </p:sp>
      <p:sp>
        <p:nvSpPr>
          <p:cNvPr id="10" name="Text 7"/>
          <p:cNvSpPr txBox="1"/>
          <p:nvPr/>
        </p:nvSpPr>
        <p:spPr>
          <a:xfrm>
            <a:off x="548640" y="3749040"/>
            <a:ext cx="1691640" cy="365760"/>
          </a:xfrm>
          <a:prstGeom prst="rect">
            <a:avLst/>
          </a:prstGeom>
          <a:noFill/>
          <a:ln/>
        </p:spPr>
        <p:txBody>
          <a:bodyPr wrap="square" lIns="0" tIns="0" rIns="0" bIns="0" rtlCol="0" anchor="ctr"/>
          <a:lstStyle/>
          <a:p>
            <a:pPr algn="l" indent="0" marL="0">
              <a:buNone/>
            </a:pPr>
            <a:r>
              <a:rPr lang="en-US" sz="1300" b="1" dirty="0">
                <a:solidFill>
                  <a:schemeClr val="tx2"/>
                </a:solidFill>
              </a:rPr>
              <a:t>Detector after lock-in</a:t>
            </a:r>
            <a:endParaRPr lang="en-US" sz="1300" dirty="0"/>
          </a:p>
        </p:txBody>
      </p:sp>
      <p:sp>
        <p:nvSpPr>
          <p:cNvPr id="11" name="Text 8"/>
          <p:cNvSpPr txBox="1"/>
          <p:nvPr/>
        </p:nvSpPr>
        <p:spPr>
          <a:xfrm>
            <a:off x="548640" y="4096512"/>
            <a:ext cx="1691640" cy="548640"/>
          </a:xfrm>
          <a:prstGeom prst="rect">
            <a:avLst/>
          </a:prstGeom>
          <a:noFill/>
          <a:ln/>
        </p:spPr>
        <p:txBody>
          <a:bodyPr wrap="square" lIns="0" tIns="0" rIns="0" bIns="0" rtlCol="0" anchor="t"/>
          <a:lstStyle/>
          <a:p>
            <a:pPr algn="l" indent="0" marL="0">
              <a:buNone/>
            </a:pPr>
            <a:r>
              <a:rPr lang="en-US" sz="1000" dirty="0">
                <a:solidFill>
                  <a:schemeClr val="accent6"/>
                </a:solidFill>
              </a:rPr>
              <a:t>only fluorescence excited by the beam is kept</a:t>
            </a:r>
            <a:endParaRPr lang="en-US" sz="1000" dirty="0"/>
          </a:p>
        </p:txBody>
      </p:sp>
      <p:sp>
        <p:nvSpPr>
          <p:cNvPr id="12" name="time axis"/>
          <p:cNvSpPr/>
          <p:nvPr/>
        </p:nvSpPr>
        <p:spPr>
          <a:xfrm>
            <a:off x="2286000" y="4526280"/>
            <a:ext cx="4572000" cy="0"/>
          </a:xfrm>
          <a:prstGeom prst="line">
            <a:avLst/>
          </a:prstGeom>
          <a:noFill/>
          <a:ln w="12700">
            <a:solidFill>
              <a:srgbClr val="5E7268"/>
            </a:solidFill>
            <a:prstDash val="solid"/>
          </a:ln>
        </p:spPr>
      </p:sp>
      <p:sp>
        <p:nvSpPr>
          <p:cNvPr id="13" name="pulse"/>
          <p:cNvSpPr/>
          <p:nvPr/>
        </p:nvSpPr>
        <p:spPr>
          <a:xfrm>
            <a:off x="2423160" y="1783080"/>
            <a:ext cx="109728" cy="457200"/>
          </a:xfrm>
          <a:prstGeom prst="rect">
            <a:avLst/>
          </a:prstGeom>
          <a:solidFill>
            <a:schemeClr val="accent1"/>
          </a:solidFill>
          <a:ln/>
        </p:spPr>
      </p:sp>
      <p:sp>
        <p:nvSpPr>
          <p:cNvPr id="14" name="detected pulse"/>
          <p:cNvSpPr/>
          <p:nvPr/>
        </p:nvSpPr>
        <p:spPr>
          <a:xfrm>
            <a:off x="2423160" y="4251960"/>
            <a:ext cx="109728" cy="274320"/>
          </a:xfrm>
          <a:prstGeom prst="rect">
            <a:avLst/>
          </a:prstGeom>
          <a:solidFill>
            <a:schemeClr val="accent2"/>
          </a:solidFill>
          <a:ln/>
        </p:spPr>
      </p:sp>
      <p:sp>
        <p:nvSpPr>
          <p:cNvPr id="15" name="pulse"/>
          <p:cNvSpPr/>
          <p:nvPr/>
        </p:nvSpPr>
        <p:spPr>
          <a:xfrm>
            <a:off x="2788920" y="1783080"/>
            <a:ext cx="109728" cy="457200"/>
          </a:xfrm>
          <a:prstGeom prst="rect">
            <a:avLst/>
          </a:prstGeom>
          <a:solidFill>
            <a:schemeClr val="accent1"/>
          </a:solidFill>
          <a:ln/>
        </p:spPr>
      </p:sp>
      <p:sp>
        <p:nvSpPr>
          <p:cNvPr id="16" name="detected pulse"/>
          <p:cNvSpPr/>
          <p:nvPr/>
        </p:nvSpPr>
        <p:spPr>
          <a:xfrm>
            <a:off x="2788920" y="4251960"/>
            <a:ext cx="109728" cy="274320"/>
          </a:xfrm>
          <a:prstGeom prst="rect">
            <a:avLst/>
          </a:prstGeom>
          <a:solidFill>
            <a:schemeClr val="accent2"/>
          </a:solidFill>
          <a:ln/>
        </p:spPr>
      </p:sp>
      <p:sp>
        <p:nvSpPr>
          <p:cNvPr id="17" name="pulse"/>
          <p:cNvSpPr/>
          <p:nvPr/>
        </p:nvSpPr>
        <p:spPr>
          <a:xfrm>
            <a:off x="3154680" y="1783080"/>
            <a:ext cx="109728" cy="457200"/>
          </a:xfrm>
          <a:prstGeom prst="rect">
            <a:avLst/>
          </a:prstGeom>
          <a:solidFill>
            <a:schemeClr val="accent1"/>
          </a:solidFill>
          <a:ln/>
        </p:spPr>
      </p:sp>
      <p:sp>
        <p:nvSpPr>
          <p:cNvPr id="18" name="detected pulse"/>
          <p:cNvSpPr/>
          <p:nvPr/>
        </p:nvSpPr>
        <p:spPr>
          <a:xfrm>
            <a:off x="3154680" y="4251960"/>
            <a:ext cx="109728" cy="274320"/>
          </a:xfrm>
          <a:prstGeom prst="rect">
            <a:avLst/>
          </a:prstGeom>
          <a:solidFill>
            <a:schemeClr val="accent2"/>
          </a:solidFill>
          <a:ln/>
        </p:spPr>
      </p:sp>
      <p:sp>
        <p:nvSpPr>
          <p:cNvPr id="19" name="pulse"/>
          <p:cNvSpPr/>
          <p:nvPr/>
        </p:nvSpPr>
        <p:spPr>
          <a:xfrm>
            <a:off x="3520440" y="1783080"/>
            <a:ext cx="109728" cy="457200"/>
          </a:xfrm>
          <a:prstGeom prst="rect">
            <a:avLst/>
          </a:prstGeom>
          <a:solidFill>
            <a:schemeClr val="accent1"/>
          </a:solidFill>
          <a:ln/>
        </p:spPr>
      </p:sp>
      <p:sp>
        <p:nvSpPr>
          <p:cNvPr id="20" name="detected pulse"/>
          <p:cNvSpPr/>
          <p:nvPr/>
        </p:nvSpPr>
        <p:spPr>
          <a:xfrm>
            <a:off x="3520440" y="4251960"/>
            <a:ext cx="109728" cy="274320"/>
          </a:xfrm>
          <a:prstGeom prst="rect">
            <a:avLst/>
          </a:prstGeom>
          <a:solidFill>
            <a:schemeClr val="accent2"/>
          </a:solidFill>
          <a:ln/>
        </p:spPr>
      </p:sp>
      <p:sp>
        <p:nvSpPr>
          <p:cNvPr id="21" name="pulse"/>
          <p:cNvSpPr/>
          <p:nvPr/>
        </p:nvSpPr>
        <p:spPr>
          <a:xfrm>
            <a:off x="3886200" y="1783080"/>
            <a:ext cx="109728" cy="457200"/>
          </a:xfrm>
          <a:prstGeom prst="rect">
            <a:avLst/>
          </a:prstGeom>
          <a:solidFill>
            <a:schemeClr val="accent1"/>
          </a:solidFill>
          <a:ln/>
        </p:spPr>
      </p:sp>
      <p:sp>
        <p:nvSpPr>
          <p:cNvPr id="22" name="detected pulse"/>
          <p:cNvSpPr/>
          <p:nvPr/>
        </p:nvSpPr>
        <p:spPr>
          <a:xfrm>
            <a:off x="3886200" y="4251960"/>
            <a:ext cx="109728" cy="274320"/>
          </a:xfrm>
          <a:prstGeom prst="rect">
            <a:avLst/>
          </a:prstGeom>
          <a:solidFill>
            <a:schemeClr val="accent2"/>
          </a:solidFill>
          <a:ln/>
        </p:spPr>
      </p:sp>
      <p:sp>
        <p:nvSpPr>
          <p:cNvPr id="23" name="pulse"/>
          <p:cNvSpPr/>
          <p:nvPr/>
        </p:nvSpPr>
        <p:spPr>
          <a:xfrm>
            <a:off x="4251960" y="1783080"/>
            <a:ext cx="109728" cy="457200"/>
          </a:xfrm>
          <a:prstGeom prst="rect">
            <a:avLst/>
          </a:prstGeom>
          <a:solidFill>
            <a:schemeClr val="accent1"/>
          </a:solidFill>
          <a:ln/>
        </p:spPr>
      </p:sp>
      <p:sp>
        <p:nvSpPr>
          <p:cNvPr id="24" name="detected pulse"/>
          <p:cNvSpPr/>
          <p:nvPr/>
        </p:nvSpPr>
        <p:spPr>
          <a:xfrm>
            <a:off x="4251960" y="4251960"/>
            <a:ext cx="109728" cy="274320"/>
          </a:xfrm>
          <a:prstGeom prst="rect">
            <a:avLst/>
          </a:prstGeom>
          <a:solidFill>
            <a:schemeClr val="accent2"/>
          </a:solidFill>
          <a:ln/>
        </p:spPr>
      </p:sp>
      <p:sp>
        <p:nvSpPr>
          <p:cNvPr id="25" name="pulse"/>
          <p:cNvSpPr/>
          <p:nvPr/>
        </p:nvSpPr>
        <p:spPr>
          <a:xfrm>
            <a:off x="4617720" y="1783080"/>
            <a:ext cx="109728" cy="457200"/>
          </a:xfrm>
          <a:prstGeom prst="rect">
            <a:avLst/>
          </a:prstGeom>
          <a:solidFill>
            <a:schemeClr val="accent1"/>
          </a:solidFill>
          <a:ln/>
        </p:spPr>
      </p:sp>
      <p:sp>
        <p:nvSpPr>
          <p:cNvPr id="26" name="detected pulse"/>
          <p:cNvSpPr/>
          <p:nvPr/>
        </p:nvSpPr>
        <p:spPr>
          <a:xfrm>
            <a:off x="4617720" y="4251960"/>
            <a:ext cx="109728" cy="274320"/>
          </a:xfrm>
          <a:prstGeom prst="rect">
            <a:avLst/>
          </a:prstGeom>
          <a:solidFill>
            <a:schemeClr val="accent2"/>
          </a:solidFill>
          <a:ln/>
        </p:spPr>
      </p:sp>
      <p:sp>
        <p:nvSpPr>
          <p:cNvPr id="27" name="pulse"/>
          <p:cNvSpPr/>
          <p:nvPr/>
        </p:nvSpPr>
        <p:spPr>
          <a:xfrm>
            <a:off x="4983480" y="1783080"/>
            <a:ext cx="109728" cy="457200"/>
          </a:xfrm>
          <a:prstGeom prst="rect">
            <a:avLst/>
          </a:prstGeom>
          <a:solidFill>
            <a:schemeClr val="accent1"/>
          </a:solidFill>
          <a:ln/>
        </p:spPr>
      </p:sp>
      <p:sp>
        <p:nvSpPr>
          <p:cNvPr id="28" name="detected pulse"/>
          <p:cNvSpPr/>
          <p:nvPr/>
        </p:nvSpPr>
        <p:spPr>
          <a:xfrm>
            <a:off x="4983480" y="4251960"/>
            <a:ext cx="109728" cy="274320"/>
          </a:xfrm>
          <a:prstGeom prst="rect">
            <a:avLst/>
          </a:prstGeom>
          <a:solidFill>
            <a:schemeClr val="accent2"/>
          </a:solidFill>
          <a:ln/>
        </p:spPr>
      </p:sp>
      <p:sp>
        <p:nvSpPr>
          <p:cNvPr id="29" name="pulse"/>
          <p:cNvSpPr/>
          <p:nvPr/>
        </p:nvSpPr>
        <p:spPr>
          <a:xfrm>
            <a:off x="5349240" y="1783080"/>
            <a:ext cx="109728" cy="457200"/>
          </a:xfrm>
          <a:prstGeom prst="rect">
            <a:avLst/>
          </a:prstGeom>
          <a:solidFill>
            <a:schemeClr val="accent1"/>
          </a:solidFill>
          <a:ln/>
        </p:spPr>
      </p:sp>
      <p:sp>
        <p:nvSpPr>
          <p:cNvPr id="30" name="detected pulse"/>
          <p:cNvSpPr/>
          <p:nvPr/>
        </p:nvSpPr>
        <p:spPr>
          <a:xfrm>
            <a:off x="5349240" y="4251960"/>
            <a:ext cx="109728" cy="274320"/>
          </a:xfrm>
          <a:prstGeom prst="rect">
            <a:avLst/>
          </a:prstGeom>
          <a:solidFill>
            <a:schemeClr val="accent2"/>
          </a:solidFill>
          <a:ln/>
        </p:spPr>
      </p:sp>
      <p:sp>
        <p:nvSpPr>
          <p:cNvPr id="31" name="pulse"/>
          <p:cNvSpPr/>
          <p:nvPr/>
        </p:nvSpPr>
        <p:spPr>
          <a:xfrm>
            <a:off x="5715000" y="1783080"/>
            <a:ext cx="109728" cy="457200"/>
          </a:xfrm>
          <a:prstGeom prst="rect">
            <a:avLst/>
          </a:prstGeom>
          <a:solidFill>
            <a:schemeClr val="accent1"/>
          </a:solidFill>
          <a:ln/>
        </p:spPr>
      </p:sp>
      <p:sp>
        <p:nvSpPr>
          <p:cNvPr id="32" name="detected pulse"/>
          <p:cNvSpPr/>
          <p:nvPr/>
        </p:nvSpPr>
        <p:spPr>
          <a:xfrm>
            <a:off x="5715000" y="4251960"/>
            <a:ext cx="109728" cy="274320"/>
          </a:xfrm>
          <a:prstGeom prst="rect">
            <a:avLst/>
          </a:prstGeom>
          <a:solidFill>
            <a:schemeClr val="accent2"/>
          </a:solidFill>
          <a:ln/>
        </p:spPr>
      </p:sp>
      <p:sp>
        <p:nvSpPr>
          <p:cNvPr id="33" name="pulse"/>
          <p:cNvSpPr/>
          <p:nvPr/>
        </p:nvSpPr>
        <p:spPr>
          <a:xfrm>
            <a:off x="6080760" y="1783080"/>
            <a:ext cx="109728" cy="457200"/>
          </a:xfrm>
          <a:prstGeom prst="rect">
            <a:avLst/>
          </a:prstGeom>
          <a:solidFill>
            <a:schemeClr val="accent1"/>
          </a:solidFill>
          <a:ln/>
        </p:spPr>
      </p:sp>
      <p:sp>
        <p:nvSpPr>
          <p:cNvPr id="34" name="detected pulse"/>
          <p:cNvSpPr/>
          <p:nvPr/>
        </p:nvSpPr>
        <p:spPr>
          <a:xfrm>
            <a:off x="6080760" y="4251960"/>
            <a:ext cx="109728" cy="274320"/>
          </a:xfrm>
          <a:prstGeom prst="rect">
            <a:avLst/>
          </a:prstGeom>
          <a:solidFill>
            <a:schemeClr val="accent2"/>
          </a:solidFill>
          <a:ln/>
        </p:spPr>
      </p:sp>
      <p:sp>
        <p:nvSpPr>
          <p:cNvPr id="35" name="pulse"/>
          <p:cNvSpPr/>
          <p:nvPr/>
        </p:nvSpPr>
        <p:spPr>
          <a:xfrm>
            <a:off x="6446520" y="1783080"/>
            <a:ext cx="109728" cy="457200"/>
          </a:xfrm>
          <a:prstGeom prst="rect">
            <a:avLst/>
          </a:prstGeom>
          <a:solidFill>
            <a:schemeClr val="accent1"/>
          </a:solidFill>
          <a:ln/>
        </p:spPr>
      </p:sp>
      <p:sp>
        <p:nvSpPr>
          <p:cNvPr id="36" name="detected pulse"/>
          <p:cNvSpPr/>
          <p:nvPr/>
        </p:nvSpPr>
        <p:spPr>
          <a:xfrm>
            <a:off x="6446520" y="4251960"/>
            <a:ext cx="109728" cy="274320"/>
          </a:xfrm>
          <a:prstGeom prst="rect">
            <a:avLst/>
          </a:prstGeom>
          <a:solidFill>
            <a:schemeClr val="accent2"/>
          </a:solidFill>
          <a:ln/>
        </p:spPr>
      </p:sp>
      <p:sp>
        <p:nvSpPr>
          <p:cNvPr id="37" name="ambient light"/>
          <p:cNvSpPr/>
          <p:nvPr/>
        </p:nvSpPr>
        <p:spPr>
          <a:xfrm>
            <a:off x="2286000" y="2697480"/>
            <a:ext cx="4572000" cy="685800"/>
          </a:xfrm>
          <a:prstGeom prst="rect">
            <a:avLst/>
          </a:prstGeom>
          <a:solidFill>
            <a:schemeClr val="accent3">
              <a:alpha val="75000"/>
            </a:schemeClr>
          </a:solidFill>
          <a:ln/>
        </p:spPr>
      </p:sp>
      <p:sp>
        <p:nvSpPr>
          <p:cNvPr id="38" name="Text 35"/>
          <p:cNvSpPr txBox="1"/>
          <p:nvPr/>
        </p:nvSpPr>
        <p:spPr>
          <a:xfrm>
            <a:off x="6126480" y="4572000"/>
            <a:ext cx="731520" cy="274320"/>
          </a:xfrm>
          <a:prstGeom prst="rect">
            <a:avLst/>
          </a:prstGeom>
          <a:noFill/>
          <a:ln/>
        </p:spPr>
        <p:txBody>
          <a:bodyPr wrap="square" lIns="0" tIns="0" rIns="0" bIns="0" rtlCol="0" anchor="ctr"/>
          <a:lstStyle/>
          <a:p>
            <a:pPr algn="r" indent="0" marL="0">
              <a:buNone/>
            </a:pPr>
            <a:r>
              <a:rPr lang="en-US" sz="1100" i="1" dirty="0">
                <a:solidFill>
                  <a:schemeClr val="accent6"/>
                </a:solidFill>
              </a:rPr>
              <a:t>Time →</a:t>
            </a:r>
            <a:endParaRPr lang="en-US" sz="1100" dirty="0"/>
          </a:p>
        </p:txBody>
      </p:sp>
      <p:sp>
        <p:nvSpPr>
          <p:cNvPr id="39" name="insight"/>
          <p:cNvSpPr/>
          <p:nvPr/>
        </p:nvSpPr>
        <p:spPr>
          <a:xfrm>
            <a:off x="548640" y="4983480"/>
            <a:ext cx="6309360" cy="1188720"/>
          </a:xfrm>
          <a:prstGeom prst="roundRect">
            <a:avLst>
              <a:gd name="adj" fmla="val 6154"/>
            </a:avLst>
          </a:prstGeom>
          <a:solidFill>
            <a:schemeClr val="bg2"/>
          </a:solidFill>
          <a:ln/>
        </p:spPr>
      </p:sp>
      <p:sp>
        <p:nvSpPr>
          <p:cNvPr id="40" name="Text 37"/>
          <p:cNvSpPr txBox="1"/>
          <p:nvPr/>
        </p:nvSpPr>
        <p:spPr>
          <a:xfrm>
            <a:off x="731520" y="5047488"/>
            <a:ext cx="5943600" cy="1051560"/>
          </a:xfrm>
          <a:prstGeom prst="rect">
            <a:avLst/>
          </a:prstGeom>
          <a:noFill/>
          <a:ln/>
        </p:spPr>
        <p:txBody>
          <a:bodyPr wrap="square" lIns="508" tIns="508" rIns="508" bIns="508" rtlCol="0" anchor="ctr"/>
          <a:lstStyle/>
          <a:p>
            <a:pPr indent="0" marL="0">
              <a:spcAft>
                <a:spcPts val="600"/>
              </a:spcAft>
              <a:buNone/>
            </a:pPr>
            <a:r>
              <a:rPr lang="en-US" sz="1300" b="1" dirty="0">
                <a:solidFill>
                  <a:schemeClr val="tx1"/>
                </a:solidFill>
              </a:rPr>
              <a:t>Result:</a:t>
            </a:r>
            <a:r>
              <a:rPr lang="en-US" sz="1300" dirty="0">
                <a:solidFill>
                  <a:schemeClr val="tx1"/>
                </a:solidFill>
              </a:rPr>
              <a:t> measurements can be made </a:t>
            </a:r>
            <a:r>
              <a:rPr lang="en-US" sz="1300" b="1" dirty="0">
                <a:solidFill>
                  <a:schemeClr val="tx1"/>
                </a:solidFill>
              </a:rPr>
              <a:t>without darkening the leaf</a:t>
            </a:r>
            <a:r>
              <a:rPr lang="en-US" sz="1300" dirty="0">
                <a:solidFill>
                  <a:schemeClr val="tx1"/>
                </a:solidFill>
              </a:rPr>
              <a:t>. Older non-modulated systems needed darkness or tightly controlled light. Non-modulated devices are returning for fast </a:t>
            </a:r>
            <a:r>
              <a:rPr lang="en-US" sz="1300" b="1" dirty="0">
                <a:solidFill>
                  <a:schemeClr val="tx1"/>
                </a:solidFill>
              </a:rPr>
              <a:t>OJIP</a:t>
            </a:r>
            <a:r>
              <a:rPr lang="en-US" sz="1300" dirty="0">
                <a:solidFill>
                  <a:schemeClr val="tx1"/>
                </a:solidFill>
              </a:rPr>
              <a:t> transients from a 1 s pulse on dark-adapted leaves.</a:t>
            </a:r>
            <a:endParaRPr lang="en-US" sz="1300" dirty="0"/>
          </a:p>
        </p:txBody>
      </p:sp>
      <p:sp>
        <p:nvSpPr>
          <p:cNvPr id="41" name="card"/>
          <p:cNvSpPr/>
          <p:nvPr/>
        </p:nvSpPr>
        <p:spPr>
          <a:xfrm>
            <a:off x="7178040" y="1325880"/>
            <a:ext cx="4462272" cy="1115568"/>
          </a:xfrm>
          <a:prstGeom prst="roundRect">
            <a:avLst>
              <a:gd name="adj" fmla="val 6557"/>
            </a:avLst>
          </a:prstGeom>
          <a:solidFill>
            <a:schemeClr val="bg2"/>
          </a:solidFill>
          <a:ln/>
          <a:effectLst>
            <a:outerShdw sx="100000" sy="100000" kx="0" ky="0" algn="bl" rotWithShape="0" blurRad="76200" dist="25400" dir="5400000">
              <a:srgbClr val="000000">
                <a:alpha val="14000"/>
              </a:srgbClr>
            </a:outerShdw>
          </a:effectLst>
        </p:spPr>
      </p:sp>
      <p:sp>
        <p:nvSpPr>
          <p:cNvPr id="42" name="icon circle"/>
          <p:cNvSpPr/>
          <p:nvPr/>
        </p:nvSpPr>
        <p:spPr>
          <a:xfrm>
            <a:off x="7360920" y="1481328"/>
            <a:ext cx="420624" cy="420624"/>
          </a:xfrm>
          <a:prstGeom prst="ellipse">
            <a:avLst/>
          </a:prstGeom>
          <a:solidFill>
            <a:schemeClr val="accent1"/>
          </a:solidFill>
          <a:ln/>
        </p:spPr>
      </p:sp>
      <p:pic>
        <p:nvPicPr>
          <p:cNvPr id="43" name="Image 0" descr="Eye icon">    </p:cNvPr>
          <p:cNvPicPr>
            <a:picLocks noChangeAspect="1"/>
          </p:cNvPicPr>
          <p:nvPr/>
        </p:nvPicPr>
        <p:blipFill>
          <a:blip r:embed="rId1"/>
          <a:stretch>
            <a:fillRect/>
          </a:stretch>
        </p:blipFill>
        <p:spPr>
          <a:xfrm>
            <a:off x="7470282" y="1590690"/>
            <a:ext cx="201900" cy="201900"/>
          </a:xfrm>
          <a:prstGeom prst="rect">
            <a:avLst/>
          </a:prstGeom>
        </p:spPr>
      </p:pic>
      <p:sp>
        <p:nvSpPr>
          <p:cNvPr id="44" name="Text 40"/>
          <p:cNvSpPr txBox="1"/>
          <p:nvPr/>
        </p:nvSpPr>
        <p:spPr>
          <a:xfrm>
            <a:off x="7891272" y="1463040"/>
            <a:ext cx="3611880" cy="457200"/>
          </a:xfrm>
          <a:prstGeom prst="rect">
            <a:avLst/>
          </a:prstGeom>
          <a:noFill/>
          <a:ln/>
        </p:spPr>
        <p:txBody>
          <a:bodyPr wrap="square" lIns="0" tIns="0" rIns="0" bIns="0" rtlCol="0" anchor="ctr"/>
          <a:lstStyle/>
          <a:p>
            <a:pPr indent="0" marL="0">
              <a:buNone/>
            </a:pPr>
            <a:r>
              <a:rPr lang="en-US" sz="1500" b="1" dirty="0">
                <a:solidFill>
                  <a:schemeClr val="tx2"/>
                </a:solidFill>
              </a:rPr>
              <a:t>Measuring light (ML)</a:t>
            </a:r>
            <a:endParaRPr lang="en-US" sz="1500" dirty="0"/>
          </a:p>
        </p:txBody>
      </p:sp>
      <p:sp>
        <p:nvSpPr>
          <p:cNvPr id="45" name="Text 41"/>
          <p:cNvSpPr txBox="1"/>
          <p:nvPr/>
        </p:nvSpPr>
        <p:spPr>
          <a:xfrm>
            <a:off x="7360920" y="2011680"/>
            <a:ext cx="4096512" cy="338328"/>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Too weak to drive electron transport, but enough to excite </a:t>
            </a:r>
            <a:r>
              <a:rPr lang="en-US" sz="1300" b="1" dirty="0">
                <a:solidFill>
                  <a:schemeClr val="tx1"/>
                </a:solidFill>
              </a:rPr>
              <a:t>F</a:t>
            </a:r>
            <a:r>
              <a:rPr lang="en-US" sz="1300" b="1" baseline="-40000" dirty="0">
                <a:solidFill>
                  <a:schemeClr val="tx1"/>
                </a:solidFill>
              </a:rPr>
              <a:t>o</a:t>
            </a:r>
            <a:endParaRPr lang="en-US" sz="1300" dirty="0"/>
          </a:p>
        </p:txBody>
      </p:sp>
      <p:sp>
        <p:nvSpPr>
          <p:cNvPr id="46" name="card"/>
          <p:cNvSpPr/>
          <p:nvPr/>
        </p:nvSpPr>
        <p:spPr>
          <a:xfrm>
            <a:off x="7178040" y="2551176"/>
            <a:ext cx="4462272" cy="1115568"/>
          </a:xfrm>
          <a:prstGeom prst="roundRect">
            <a:avLst>
              <a:gd name="adj" fmla="val 6557"/>
            </a:avLst>
          </a:prstGeom>
          <a:solidFill>
            <a:schemeClr val="bg2"/>
          </a:solidFill>
          <a:ln/>
          <a:effectLst>
            <a:outerShdw sx="100000" sy="100000" kx="0" ky="0" algn="bl" rotWithShape="0" blurRad="76200" dist="25400" dir="5400000">
              <a:srgbClr val="000000">
                <a:alpha val="14000"/>
              </a:srgbClr>
            </a:outerShdw>
          </a:effectLst>
        </p:spPr>
      </p:sp>
      <p:sp>
        <p:nvSpPr>
          <p:cNvPr id="47" name="icon circle"/>
          <p:cNvSpPr/>
          <p:nvPr/>
        </p:nvSpPr>
        <p:spPr>
          <a:xfrm>
            <a:off x="7360920" y="2706624"/>
            <a:ext cx="420624" cy="420624"/>
          </a:xfrm>
          <a:prstGeom prst="ellipse">
            <a:avLst/>
          </a:prstGeom>
          <a:solidFill>
            <a:schemeClr val="accent3"/>
          </a:solidFill>
          <a:ln/>
        </p:spPr>
      </p:sp>
      <p:pic>
        <p:nvPicPr>
          <p:cNvPr id="48" name="Image 1" descr="Sun icon">    </p:cNvPr>
          <p:cNvPicPr>
            <a:picLocks noChangeAspect="1"/>
          </p:cNvPicPr>
          <p:nvPr/>
        </p:nvPicPr>
        <p:blipFill>
          <a:blip r:embed="rId2"/>
          <a:stretch>
            <a:fillRect/>
          </a:stretch>
        </p:blipFill>
        <p:spPr>
          <a:xfrm>
            <a:off x="7470282" y="2815986"/>
            <a:ext cx="201900" cy="201900"/>
          </a:xfrm>
          <a:prstGeom prst="rect">
            <a:avLst/>
          </a:prstGeom>
        </p:spPr>
      </p:pic>
      <p:sp>
        <p:nvSpPr>
          <p:cNvPr id="49" name="Text 44"/>
          <p:cNvSpPr txBox="1"/>
          <p:nvPr/>
        </p:nvSpPr>
        <p:spPr>
          <a:xfrm>
            <a:off x="7891272" y="2688336"/>
            <a:ext cx="3611880" cy="457200"/>
          </a:xfrm>
          <a:prstGeom prst="rect">
            <a:avLst/>
          </a:prstGeom>
          <a:noFill/>
          <a:ln/>
        </p:spPr>
        <p:txBody>
          <a:bodyPr wrap="square" lIns="0" tIns="0" rIns="0" bIns="0" rtlCol="0" anchor="ctr"/>
          <a:lstStyle/>
          <a:p>
            <a:pPr indent="0" marL="0">
              <a:buNone/>
            </a:pPr>
            <a:r>
              <a:rPr lang="en-US" sz="1500" b="1" dirty="0">
                <a:solidFill>
                  <a:schemeClr val="tx2"/>
                </a:solidFill>
              </a:rPr>
              <a:t>Actinic light (AL)</a:t>
            </a:r>
            <a:endParaRPr lang="en-US" sz="1500" dirty="0"/>
          </a:p>
        </p:txBody>
      </p:sp>
      <p:sp>
        <p:nvSpPr>
          <p:cNvPr id="50" name="Text 45"/>
          <p:cNvSpPr txBox="1"/>
          <p:nvPr/>
        </p:nvSpPr>
        <p:spPr>
          <a:xfrm>
            <a:off x="7360920" y="3236976"/>
            <a:ext cx="4096512" cy="338328"/>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Drives photosynthesis (photochemistry); the leaf's 'working' light</a:t>
            </a:r>
            <a:endParaRPr lang="en-US" sz="1300" dirty="0"/>
          </a:p>
        </p:txBody>
      </p:sp>
      <p:sp>
        <p:nvSpPr>
          <p:cNvPr id="51" name="card"/>
          <p:cNvSpPr/>
          <p:nvPr/>
        </p:nvSpPr>
        <p:spPr>
          <a:xfrm>
            <a:off x="7178040" y="3776472"/>
            <a:ext cx="4462272" cy="1115568"/>
          </a:xfrm>
          <a:prstGeom prst="roundRect">
            <a:avLst>
              <a:gd name="adj" fmla="val 6557"/>
            </a:avLst>
          </a:prstGeom>
          <a:solidFill>
            <a:schemeClr val="bg2"/>
          </a:solidFill>
          <a:ln/>
          <a:effectLst>
            <a:outerShdw sx="100000" sy="100000" kx="0" ky="0" algn="bl" rotWithShape="0" blurRad="76200" dist="25400" dir="5400000">
              <a:srgbClr val="000000">
                <a:alpha val="14000"/>
              </a:srgbClr>
            </a:outerShdw>
          </a:effectLst>
        </p:spPr>
      </p:sp>
      <p:sp>
        <p:nvSpPr>
          <p:cNvPr id="52" name="icon circle"/>
          <p:cNvSpPr/>
          <p:nvPr/>
        </p:nvSpPr>
        <p:spPr>
          <a:xfrm>
            <a:off x="7360920" y="3931920"/>
            <a:ext cx="420624" cy="420624"/>
          </a:xfrm>
          <a:prstGeom prst="ellipse">
            <a:avLst/>
          </a:prstGeom>
          <a:solidFill>
            <a:schemeClr val="accent2"/>
          </a:solidFill>
          <a:ln/>
        </p:spPr>
      </p:sp>
      <p:pic>
        <p:nvPicPr>
          <p:cNvPr id="53" name="Image 2" descr="Bolt icon">    </p:cNvPr>
          <p:cNvPicPr>
            <a:picLocks noChangeAspect="1"/>
          </p:cNvPicPr>
          <p:nvPr/>
        </p:nvPicPr>
        <p:blipFill>
          <a:blip r:embed="rId3"/>
          <a:stretch>
            <a:fillRect/>
          </a:stretch>
        </p:blipFill>
        <p:spPr>
          <a:xfrm>
            <a:off x="7470282" y="4041282"/>
            <a:ext cx="201900" cy="201900"/>
          </a:xfrm>
          <a:prstGeom prst="rect">
            <a:avLst/>
          </a:prstGeom>
        </p:spPr>
      </p:pic>
      <p:sp>
        <p:nvSpPr>
          <p:cNvPr id="54" name="Text 48"/>
          <p:cNvSpPr txBox="1"/>
          <p:nvPr/>
        </p:nvSpPr>
        <p:spPr>
          <a:xfrm>
            <a:off x="7891272" y="3913632"/>
            <a:ext cx="3611880" cy="457200"/>
          </a:xfrm>
          <a:prstGeom prst="rect">
            <a:avLst/>
          </a:prstGeom>
          <a:noFill/>
          <a:ln/>
        </p:spPr>
        <p:txBody>
          <a:bodyPr wrap="square" lIns="0" tIns="0" rIns="0" bIns="0" rtlCol="0" anchor="ctr"/>
          <a:lstStyle/>
          <a:p>
            <a:pPr indent="0" marL="0">
              <a:buNone/>
            </a:pPr>
            <a:r>
              <a:rPr lang="en-US" sz="1500" b="1" dirty="0">
                <a:solidFill>
                  <a:schemeClr val="tx2"/>
                </a:solidFill>
              </a:rPr>
              <a:t>Saturating pulse (SP)</a:t>
            </a:r>
            <a:endParaRPr lang="en-US" sz="1500" dirty="0"/>
          </a:p>
        </p:txBody>
      </p:sp>
      <p:sp>
        <p:nvSpPr>
          <p:cNvPr id="55" name="Text 49"/>
          <p:cNvSpPr txBox="1"/>
          <p:nvPr/>
        </p:nvSpPr>
        <p:spPr>
          <a:xfrm>
            <a:off x="7360920" y="4462272"/>
            <a:ext cx="4096512" cy="338328"/>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Very bright (≥4000 µmol m⁻² s⁻¹), &lt;1 s; closes all PSII centres → </a:t>
            </a:r>
            <a:r>
              <a:rPr lang="en-US" sz="1300" b="1" dirty="0">
                <a:solidFill>
                  <a:schemeClr val="tx1"/>
                </a:solidFill>
              </a:rPr>
              <a:t>F</a:t>
            </a:r>
            <a:r>
              <a:rPr lang="en-US" sz="1300" b="1" baseline="-40000" dirty="0">
                <a:solidFill>
                  <a:schemeClr val="tx1"/>
                </a:solidFill>
              </a:rPr>
              <a:t>m</a:t>
            </a:r>
            <a:r>
              <a:rPr lang="en-US" sz="1300" dirty="0">
                <a:solidFill>
                  <a:schemeClr val="tx1"/>
                </a:solidFill>
              </a:rPr>
              <a:t>, </a:t>
            </a:r>
            <a:r>
              <a:rPr lang="en-US" sz="1300" b="1" dirty="0">
                <a:solidFill>
                  <a:schemeClr val="tx1"/>
                </a:solidFill>
              </a:rPr>
              <a:t>F</a:t>
            </a:r>
            <a:r>
              <a:rPr lang="en-US" sz="1300" b="1" baseline="-40000" dirty="0">
                <a:solidFill>
                  <a:schemeClr val="tx1"/>
                </a:solidFill>
              </a:rPr>
              <a:t>m</a:t>
            </a:r>
            <a:r>
              <a:rPr lang="en-US" sz="1300" b="1" dirty="0">
                <a:solidFill>
                  <a:schemeClr val="tx1"/>
                </a:solidFill>
              </a:rPr>
              <a:t>′</a:t>
            </a:r>
            <a:endParaRPr lang="en-US" sz="1300" dirty="0"/>
          </a:p>
        </p:txBody>
      </p:sp>
      <p:sp>
        <p:nvSpPr>
          <p:cNvPr id="56" name="card"/>
          <p:cNvSpPr/>
          <p:nvPr/>
        </p:nvSpPr>
        <p:spPr>
          <a:xfrm>
            <a:off x="7178040" y="5001768"/>
            <a:ext cx="4462272" cy="1115568"/>
          </a:xfrm>
          <a:prstGeom prst="roundRect">
            <a:avLst>
              <a:gd name="adj" fmla="val 6557"/>
            </a:avLst>
          </a:prstGeom>
          <a:solidFill>
            <a:schemeClr val="bg2"/>
          </a:solidFill>
          <a:ln/>
          <a:effectLst>
            <a:outerShdw sx="100000" sy="100000" kx="0" ky="0" algn="bl" rotWithShape="0" blurRad="76200" dist="25400" dir="5400000">
              <a:srgbClr val="000000">
                <a:alpha val="14000"/>
              </a:srgbClr>
            </a:outerShdw>
          </a:effectLst>
        </p:spPr>
      </p:sp>
      <p:sp>
        <p:nvSpPr>
          <p:cNvPr id="57" name="icon circle"/>
          <p:cNvSpPr/>
          <p:nvPr/>
        </p:nvSpPr>
        <p:spPr>
          <a:xfrm>
            <a:off x="7360920" y="5157216"/>
            <a:ext cx="420624" cy="420624"/>
          </a:xfrm>
          <a:prstGeom prst="ellipse">
            <a:avLst/>
          </a:prstGeom>
          <a:solidFill>
            <a:schemeClr val="accent4"/>
          </a:solidFill>
          <a:ln/>
        </p:spPr>
      </p:sp>
      <p:pic>
        <p:nvPicPr>
          <p:cNvPr id="58" name="Image 3" descr="WaveSquare icon">    </p:cNvPr>
          <p:cNvPicPr>
            <a:picLocks noChangeAspect="1"/>
          </p:cNvPicPr>
          <p:nvPr/>
        </p:nvPicPr>
        <p:blipFill>
          <a:blip r:embed="rId4"/>
          <a:stretch>
            <a:fillRect/>
          </a:stretch>
        </p:blipFill>
        <p:spPr>
          <a:xfrm>
            <a:off x="7470282" y="5266578"/>
            <a:ext cx="201900" cy="201900"/>
          </a:xfrm>
          <a:prstGeom prst="rect">
            <a:avLst/>
          </a:prstGeom>
        </p:spPr>
      </p:pic>
      <p:sp>
        <p:nvSpPr>
          <p:cNvPr id="59" name="Text 52"/>
          <p:cNvSpPr txBox="1"/>
          <p:nvPr/>
        </p:nvSpPr>
        <p:spPr>
          <a:xfrm>
            <a:off x="7891272" y="5138928"/>
            <a:ext cx="3611880" cy="457200"/>
          </a:xfrm>
          <a:prstGeom prst="rect">
            <a:avLst/>
          </a:prstGeom>
          <a:noFill/>
          <a:ln/>
        </p:spPr>
        <p:txBody>
          <a:bodyPr wrap="square" lIns="0" tIns="0" rIns="0" bIns="0" rtlCol="0" anchor="ctr"/>
          <a:lstStyle/>
          <a:p>
            <a:pPr indent="0" marL="0">
              <a:buNone/>
            </a:pPr>
            <a:r>
              <a:rPr lang="en-US" sz="1500" b="1" dirty="0">
                <a:solidFill>
                  <a:schemeClr val="tx2"/>
                </a:solidFill>
              </a:rPr>
              <a:t>Far-red light (FR)</a:t>
            </a:r>
            <a:endParaRPr lang="en-US" sz="1500" dirty="0"/>
          </a:p>
        </p:txBody>
      </p:sp>
      <p:sp>
        <p:nvSpPr>
          <p:cNvPr id="60" name="Text 53"/>
          <p:cNvSpPr txBox="1"/>
          <p:nvPr/>
        </p:nvSpPr>
        <p:spPr>
          <a:xfrm>
            <a:off x="7360920" y="5687568"/>
            <a:ext cx="4096512" cy="338328"/>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Excites PSI preferentially, drains electrons from Q</a:t>
            </a:r>
            <a:r>
              <a:rPr lang="en-US" sz="1300" baseline="-40000" dirty="0">
                <a:solidFill>
                  <a:schemeClr val="tx1"/>
                </a:solidFill>
              </a:rPr>
              <a:t>A</a:t>
            </a:r>
            <a:r>
              <a:rPr lang="en-US" sz="1300" dirty="0">
                <a:solidFill>
                  <a:schemeClr val="tx1"/>
                </a:solidFill>
              </a:rPr>
              <a:t>/PQ → accurate </a:t>
            </a:r>
            <a:r>
              <a:rPr lang="en-US" sz="1300" b="1" dirty="0">
                <a:solidFill>
                  <a:schemeClr val="tx1"/>
                </a:solidFill>
              </a:rPr>
              <a:t>F</a:t>
            </a:r>
            <a:r>
              <a:rPr lang="en-US" sz="1300" b="1" baseline="-40000" dirty="0">
                <a:solidFill>
                  <a:schemeClr val="tx1"/>
                </a:solidFill>
              </a:rPr>
              <a:t>o</a:t>
            </a:r>
            <a:r>
              <a:rPr lang="en-US" sz="1300" b="1" dirty="0">
                <a:solidFill>
                  <a:schemeClr val="tx1"/>
                </a:solidFill>
              </a:rPr>
              <a:t>′</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Instruments: from leaf clips to imaging systems</a:t>
            </a:r>
            <a:endParaRPr lang="en-US" sz="3200" dirty="0"/>
          </a:p>
        </p:txBody>
      </p:sp>
      <p:sp>
        <p:nvSpPr>
          <p:cNvPr id="4" name="figure frame"/>
          <p:cNvSpPr/>
          <p:nvPr/>
        </p:nvSpPr>
        <p:spPr>
          <a:xfrm>
            <a:off x="548640" y="1325880"/>
            <a:ext cx="2651760" cy="2331720"/>
          </a:xfrm>
          <a:prstGeom prst="roundRect">
            <a:avLst>
              <a:gd name="adj" fmla="val 2353"/>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Dark-adaptation leaf clips">    </p:cNvPr>
          <p:cNvPicPr>
            <a:picLocks noChangeAspect="1"/>
          </p:cNvPicPr>
          <p:nvPr/>
        </p:nvPicPr>
        <p:blipFill>
          <a:blip r:embed="rId1"/>
          <a:stretch>
            <a:fillRect/>
          </a:stretch>
        </p:blipFill>
        <p:spPr>
          <a:xfrm>
            <a:off x="640080" y="1711234"/>
            <a:ext cx="2468880" cy="1561011"/>
          </a:xfrm>
          <a:prstGeom prst="rect">
            <a:avLst/>
          </a:prstGeom>
        </p:spPr>
      </p:pic>
      <p:sp>
        <p:nvSpPr>
          <p:cNvPr id="6" name="Text 2"/>
          <p:cNvSpPr txBox="1"/>
          <p:nvPr/>
        </p:nvSpPr>
        <p:spPr>
          <a:xfrm>
            <a:off x="548640" y="3703320"/>
            <a:ext cx="2651760" cy="365760"/>
          </a:xfrm>
          <a:prstGeom prst="rect">
            <a:avLst/>
          </a:prstGeom>
          <a:noFill/>
          <a:ln/>
        </p:spPr>
        <p:txBody>
          <a:bodyPr wrap="square" lIns="0" tIns="0" rIns="0" bIns="0" rtlCol="0" anchor="t"/>
          <a:lstStyle/>
          <a:p>
            <a:pPr indent="0" marL="0">
              <a:buNone/>
            </a:pPr>
            <a:r>
              <a:rPr lang="en-US" sz="1100" i="1" dirty="0">
                <a:solidFill>
                  <a:schemeClr val="accent6"/>
                </a:solidFill>
              </a:rPr>
              <a:t>Dark-adaptation leaf clips</a:t>
            </a:r>
            <a:endParaRPr lang="en-US" sz="1100" dirty="0"/>
          </a:p>
        </p:txBody>
      </p:sp>
      <p:sp>
        <p:nvSpPr>
          <p:cNvPr id="7" name="figure frame"/>
          <p:cNvSpPr/>
          <p:nvPr/>
        </p:nvSpPr>
        <p:spPr>
          <a:xfrm>
            <a:off x="3364992" y="1325880"/>
            <a:ext cx="2651760" cy="2331720"/>
          </a:xfrm>
          <a:prstGeom prst="roundRect">
            <a:avLst>
              <a:gd name="adj" fmla="val 2353"/>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8" name="Image 1" descr="Hand-held fluorometer on a leaf">    </p:cNvPr>
          <p:cNvPicPr>
            <a:picLocks noChangeAspect="1"/>
          </p:cNvPicPr>
          <p:nvPr/>
        </p:nvPicPr>
        <p:blipFill>
          <a:blip r:embed="rId2"/>
          <a:stretch>
            <a:fillRect/>
          </a:stretch>
        </p:blipFill>
        <p:spPr>
          <a:xfrm>
            <a:off x="3456432" y="1515291"/>
            <a:ext cx="2468880" cy="1952897"/>
          </a:xfrm>
          <a:prstGeom prst="rect">
            <a:avLst/>
          </a:prstGeom>
        </p:spPr>
      </p:pic>
      <p:sp>
        <p:nvSpPr>
          <p:cNvPr id="9" name="Text 4"/>
          <p:cNvSpPr txBox="1"/>
          <p:nvPr/>
        </p:nvSpPr>
        <p:spPr>
          <a:xfrm>
            <a:off x="3364992" y="3703320"/>
            <a:ext cx="2651760" cy="365760"/>
          </a:xfrm>
          <a:prstGeom prst="rect">
            <a:avLst/>
          </a:prstGeom>
          <a:noFill/>
          <a:ln/>
        </p:spPr>
        <p:txBody>
          <a:bodyPr wrap="square" lIns="0" tIns="0" rIns="0" bIns="0" rtlCol="0" anchor="t"/>
          <a:lstStyle/>
          <a:p>
            <a:pPr indent="0" marL="0">
              <a:buNone/>
            </a:pPr>
            <a:r>
              <a:rPr lang="en-US" sz="1100" i="1" dirty="0">
                <a:solidFill>
                  <a:schemeClr val="accent6"/>
                </a:solidFill>
              </a:rPr>
              <a:t>Hand-held fluorometer on a leaf</a:t>
            </a:r>
            <a:endParaRPr lang="en-US" sz="1100" dirty="0"/>
          </a:p>
        </p:txBody>
      </p:sp>
      <p:sp>
        <p:nvSpPr>
          <p:cNvPr id="10" name="figure frame"/>
          <p:cNvSpPr/>
          <p:nvPr/>
        </p:nvSpPr>
        <p:spPr>
          <a:xfrm>
            <a:off x="6181344" y="1325880"/>
            <a:ext cx="2651760" cy="2331720"/>
          </a:xfrm>
          <a:prstGeom prst="roundRect">
            <a:avLst>
              <a:gd name="adj" fmla="val 2353"/>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11" name="Image 2" descr="Laboratory chlorophyll fluorescence imaging system">    </p:cNvPr>
          <p:cNvPicPr>
            <a:picLocks noChangeAspect="1"/>
          </p:cNvPicPr>
          <p:nvPr/>
        </p:nvPicPr>
        <p:blipFill>
          <a:blip r:embed="rId3"/>
          <a:stretch>
            <a:fillRect/>
          </a:stretch>
        </p:blipFill>
        <p:spPr>
          <a:xfrm>
            <a:off x="6272784" y="2088035"/>
            <a:ext cx="2468880" cy="807410"/>
          </a:xfrm>
          <a:prstGeom prst="rect">
            <a:avLst/>
          </a:prstGeom>
        </p:spPr>
      </p:pic>
      <p:sp>
        <p:nvSpPr>
          <p:cNvPr id="12" name="Text 6"/>
          <p:cNvSpPr txBox="1"/>
          <p:nvPr/>
        </p:nvSpPr>
        <p:spPr>
          <a:xfrm>
            <a:off x="6181344" y="3703320"/>
            <a:ext cx="2651760" cy="365760"/>
          </a:xfrm>
          <a:prstGeom prst="rect">
            <a:avLst/>
          </a:prstGeom>
          <a:noFill/>
          <a:ln/>
        </p:spPr>
        <p:txBody>
          <a:bodyPr wrap="square" lIns="0" tIns="0" rIns="0" bIns="0" rtlCol="0" anchor="t"/>
          <a:lstStyle/>
          <a:p>
            <a:pPr indent="0" marL="0">
              <a:buNone/>
            </a:pPr>
            <a:r>
              <a:rPr lang="en-US" sz="1100" i="1" dirty="0">
                <a:solidFill>
                  <a:schemeClr val="accent6"/>
                </a:solidFill>
              </a:rPr>
              <a:t>Laboratory chlorophyll fluorescence imaging system</a:t>
            </a:r>
            <a:endParaRPr lang="en-US" sz="1100" dirty="0"/>
          </a:p>
        </p:txBody>
      </p:sp>
      <p:sp>
        <p:nvSpPr>
          <p:cNvPr id="13" name="figure frame"/>
          <p:cNvSpPr/>
          <p:nvPr/>
        </p:nvSpPr>
        <p:spPr>
          <a:xfrm>
            <a:off x="8997696" y="1325880"/>
            <a:ext cx="2651760" cy="2331720"/>
          </a:xfrm>
          <a:prstGeom prst="roundRect">
            <a:avLst>
              <a:gd name="adj" fmla="val 2353"/>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14" name="Image 3" descr="Imaging head and Ft image of a leaf surface">    </p:cNvPr>
          <p:cNvPicPr>
            <a:picLocks noChangeAspect="1"/>
          </p:cNvPicPr>
          <p:nvPr/>
        </p:nvPicPr>
        <p:blipFill>
          <a:blip r:embed="rId4"/>
          <a:stretch>
            <a:fillRect/>
          </a:stretch>
        </p:blipFill>
        <p:spPr>
          <a:xfrm>
            <a:off x="9226733" y="1417320"/>
            <a:ext cx="2193685" cy="2148840"/>
          </a:xfrm>
          <a:prstGeom prst="rect">
            <a:avLst/>
          </a:prstGeom>
        </p:spPr>
      </p:pic>
      <p:sp>
        <p:nvSpPr>
          <p:cNvPr id="15" name="Text 8"/>
          <p:cNvSpPr txBox="1"/>
          <p:nvPr/>
        </p:nvSpPr>
        <p:spPr>
          <a:xfrm>
            <a:off x="8997696" y="3703320"/>
            <a:ext cx="2651760" cy="365760"/>
          </a:xfrm>
          <a:prstGeom prst="rect">
            <a:avLst/>
          </a:prstGeom>
          <a:noFill/>
          <a:ln/>
        </p:spPr>
        <p:txBody>
          <a:bodyPr wrap="square" lIns="0" tIns="0" rIns="0" bIns="0" rtlCol="0" anchor="t"/>
          <a:lstStyle/>
          <a:p>
            <a:pPr indent="0" marL="0">
              <a:buNone/>
            </a:pPr>
            <a:r>
              <a:rPr lang="en-US" sz="1100" i="1" dirty="0">
                <a:solidFill>
                  <a:schemeClr val="accent6"/>
                </a:solidFill>
              </a:rPr>
              <a:t>Imaging head and Ft image of a leaf surface</a:t>
            </a:r>
            <a:endParaRPr lang="en-US" sz="1100" dirty="0"/>
          </a:p>
        </p:txBody>
      </p:sp>
      <p:sp>
        <p:nvSpPr>
          <p:cNvPr id="16" name="card"/>
          <p:cNvSpPr/>
          <p:nvPr/>
        </p:nvSpPr>
        <p:spPr>
          <a:xfrm>
            <a:off x="548640" y="4343400"/>
            <a:ext cx="5440680" cy="1828800"/>
          </a:xfrm>
          <a:prstGeom prst="roundRect">
            <a:avLst>
              <a:gd name="adj" fmla="val 4000"/>
            </a:avLst>
          </a:prstGeom>
          <a:solidFill>
            <a:schemeClr val="bg2"/>
          </a:solidFill>
          <a:ln/>
          <a:effectLst>
            <a:outerShdw sx="100000" sy="100000" kx="0" ky="0" algn="bl" rotWithShape="0" blurRad="76200" dist="25400" dir="5400000">
              <a:srgbClr val="000000">
                <a:alpha val="14000"/>
              </a:srgbClr>
            </a:outerShdw>
          </a:effectLst>
        </p:spPr>
      </p:sp>
      <p:sp>
        <p:nvSpPr>
          <p:cNvPr id="17" name="icon circle"/>
          <p:cNvSpPr/>
          <p:nvPr/>
        </p:nvSpPr>
        <p:spPr>
          <a:xfrm>
            <a:off x="731520" y="4498848"/>
            <a:ext cx="420624" cy="420624"/>
          </a:xfrm>
          <a:prstGeom prst="ellipse">
            <a:avLst/>
          </a:prstGeom>
          <a:solidFill>
            <a:schemeClr val="accent1"/>
          </a:solidFill>
          <a:ln/>
        </p:spPr>
      </p:sp>
      <p:pic>
        <p:nvPicPr>
          <p:cNvPr id="18" name="Image 4" descr="WaveSquare icon">    </p:cNvPr>
          <p:cNvPicPr>
            <a:picLocks noChangeAspect="1"/>
          </p:cNvPicPr>
          <p:nvPr/>
        </p:nvPicPr>
        <p:blipFill>
          <a:blip r:embed="rId5"/>
          <a:stretch>
            <a:fillRect/>
          </a:stretch>
        </p:blipFill>
        <p:spPr>
          <a:xfrm>
            <a:off x="840882" y="4608210"/>
            <a:ext cx="201900" cy="201900"/>
          </a:xfrm>
          <a:prstGeom prst="rect">
            <a:avLst/>
          </a:prstGeom>
        </p:spPr>
      </p:pic>
      <p:sp>
        <p:nvSpPr>
          <p:cNvPr id="19" name="Text 11"/>
          <p:cNvSpPr txBox="1"/>
          <p:nvPr/>
        </p:nvSpPr>
        <p:spPr>
          <a:xfrm>
            <a:off x="1261872" y="448056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Modulated (PAM) fluorometers</a:t>
            </a:r>
            <a:endParaRPr lang="en-US" sz="1600" dirty="0"/>
          </a:p>
        </p:txBody>
      </p:sp>
      <p:sp>
        <p:nvSpPr>
          <p:cNvPr id="20" name="Text 12"/>
          <p:cNvSpPr txBox="1"/>
          <p:nvPr/>
        </p:nvSpPr>
        <p:spPr>
          <a:xfrm>
            <a:off x="731520" y="5029200"/>
            <a:ext cx="5074920" cy="1051560"/>
          </a:xfrm>
          <a:prstGeom prst="rect">
            <a:avLst/>
          </a:prstGeom>
          <a:noFill/>
          <a:ln/>
        </p:spPr>
        <p:txBody>
          <a:bodyPr wrap="square" lIns="508" tIns="508" rIns="508" bIns="508" rtlCol="0" anchor="t"/>
          <a:lstStyle/>
          <a:p>
            <a:pPr marL="177800" indent="-177800">
              <a:spcAft>
                <a:spcPts val="400"/>
              </a:spcAft>
              <a:buSzPct val="100000"/>
              <a:buChar char="•"/>
            </a:pPr>
            <a:r>
              <a:rPr lang="en-US" sz="1400" dirty="0">
                <a:solidFill>
                  <a:schemeClr val="tx1"/>
                </a:solidFill>
              </a:rPr>
              <a:t>Work in light or dark; full quenching analysis (Fv/Fm, ΦPSII, NPQ, qP)</a:t>
            </a:r>
            <a:endParaRPr lang="en-US" sz="1400" dirty="0"/>
          </a:p>
          <a:p>
            <a:pPr marL="177800" indent="-177800">
              <a:spcAft>
                <a:spcPts val="400"/>
              </a:spcAft>
              <a:buSzPct val="100000"/>
              <a:buChar char="•"/>
            </a:pPr>
            <a:r>
              <a:rPr lang="en-US" sz="1400" dirty="0">
                <a:solidFill>
                  <a:schemeClr val="tx1"/>
                </a:solidFill>
              </a:rPr>
              <a:t>Large, well-tested physiological framework</a:t>
            </a:r>
            <a:endParaRPr lang="en-US" sz="1400" dirty="0"/>
          </a:p>
        </p:txBody>
      </p:sp>
      <p:sp>
        <p:nvSpPr>
          <p:cNvPr id="21" name="card"/>
          <p:cNvSpPr/>
          <p:nvPr/>
        </p:nvSpPr>
        <p:spPr>
          <a:xfrm>
            <a:off x="6199632" y="4343400"/>
            <a:ext cx="5440680" cy="1828800"/>
          </a:xfrm>
          <a:prstGeom prst="roundRect">
            <a:avLst>
              <a:gd name="adj" fmla="val 4000"/>
            </a:avLst>
          </a:prstGeom>
          <a:solidFill>
            <a:schemeClr val="bg2"/>
          </a:solidFill>
          <a:ln/>
          <a:effectLst>
            <a:outerShdw sx="100000" sy="100000" kx="0" ky="0" algn="bl" rotWithShape="0" blurRad="76200" dist="25400" dir="5400000">
              <a:srgbClr val="000000">
                <a:alpha val="14000"/>
              </a:srgbClr>
            </a:outerShdw>
          </a:effectLst>
        </p:spPr>
      </p:sp>
      <p:sp>
        <p:nvSpPr>
          <p:cNvPr id="22" name="icon circle"/>
          <p:cNvSpPr/>
          <p:nvPr/>
        </p:nvSpPr>
        <p:spPr>
          <a:xfrm>
            <a:off x="6382512" y="4498848"/>
            <a:ext cx="420624" cy="420624"/>
          </a:xfrm>
          <a:prstGeom prst="ellipse">
            <a:avLst/>
          </a:prstGeom>
          <a:solidFill>
            <a:schemeClr val="accent5"/>
          </a:solidFill>
          <a:ln/>
        </p:spPr>
      </p:sp>
      <p:pic>
        <p:nvPicPr>
          <p:cNvPr id="23" name="Image 5" descr="Clock icon">    </p:cNvPr>
          <p:cNvPicPr>
            <a:picLocks noChangeAspect="1"/>
          </p:cNvPicPr>
          <p:nvPr/>
        </p:nvPicPr>
        <p:blipFill>
          <a:blip r:embed="rId6"/>
          <a:stretch>
            <a:fillRect/>
          </a:stretch>
        </p:blipFill>
        <p:spPr>
          <a:xfrm>
            <a:off x="6491874" y="4608210"/>
            <a:ext cx="201900" cy="201900"/>
          </a:xfrm>
          <a:prstGeom prst="rect">
            <a:avLst/>
          </a:prstGeom>
        </p:spPr>
      </p:pic>
      <p:sp>
        <p:nvSpPr>
          <p:cNvPr id="24" name="Text 15"/>
          <p:cNvSpPr txBox="1"/>
          <p:nvPr/>
        </p:nvSpPr>
        <p:spPr>
          <a:xfrm>
            <a:off x="6912864" y="448056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Continuous-excitation (OJIP) meters</a:t>
            </a:r>
            <a:endParaRPr lang="en-US" sz="1600" dirty="0"/>
          </a:p>
        </p:txBody>
      </p:sp>
      <p:sp>
        <p:nvSpPr>
          <p:cNvPr id="25" name="Text 16"/>
          <p:cNvSpPr txBox="1"/>
          <p:nvPr/>
        </p:nvSpPr>
        <p:spPr>
          <a:xfrm>
            <a:off x="6382512" y="5029200"/>
            <a:ext cx="5074920" cy="1051560"/>
          </a:xfrm>
          <a:prstGeom prst="rect">
            <a:avLst/>
          </a:prstGeom>
          <a:noFill/>
          <a:ln/>
        </p:spPr>
        <p:txBody>
          <a:bodyPr wrap="square" lIns="508" tIns="508" rIns="508" bIns="508" rtlCol="0" anchor="t"/>
          <a:lstStyle/>
          <a:p>
            <a:pPr marL="177800" indent="-177800">
              <a:spcAft>
                <a:spcPts val="400"/>
              </a:spcAft>
              <a:buSzPct val="100000"/>
              <a:buChar char="•"/>
            </a:pPr>
            <a:r>
              <a:rPr lang="en-US" sz="1400" dirty="0">
                <a:solidFill>
                  <a:schemeClr val="tx1"/>
                </a:solidFill>
              </a:rPr>
              <a:t>Fast induction transient during a 1 s pulse on dark-adapted leaves</a:t>
            </a:r>
            <a:endParaRPr lang="en-US" sz="1400" dirty="0"/>
          </a:p>
          <a:p>
            <a:pPr marL="177800" indent="-177800">
              <a:spcAft>
                <a:spcPts val="400"/>
              </a:spcAft>
              <a:buSzPct val="100000"/>
              <a:buChar char="•"/>
            </a:pPr>
            <a:r>
              <a:rPr lang="en-US" sz="1400" dirty="0">
                <a:solidFill>
                  <a:schemeClr val="tx1"/>
                </a:solidFill>
              </a:rPr>
              <a:t>Popular for screening; complex derived parameters need caution</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Induction kinetics</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What happens when a dark-adapted leaf is suddenly illuminated: the Kautsky effect, the OJIP rise and the slow PSMT phase</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03</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Kautsky effect (fluorescence induction)</a:t>
            </a:r>
            <a:endParaRPr lang="en-US" sz="3200" dirty="0"/>
          </a:p>
        </p:txBody>
      </p:sp>
      <p:sp>
        <p:nvSpPr>
          <p:cNvPr id="4" name="figure frame"/>
          <p:cNvSpPr/>
          <p:nvPr/>
        </p:nvSpPr>
        <p:spPr>
          <a:xfrm>
            <a:off x="548640" y="1325880"/>
            <a:ext cx="6400800" cy="3108960"/>
          </a:xfrm>
          <a:prstGeom prst="roundRect">
            <a:avLst>
              <a:gd name="adj" fmla="val 1765"/>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Kautsky curve of a healthy green leaf: fast rise O → P (&lt;1 s), then slow decay P → S → M → T over minutes">    </p:cNvPr>
          <p:cNvPicPr>
            <a:picLocks noChangeAspect="1"/>
          </p:cNvPicPr>
          <p:nvPr/>
        </p:nvPicPr>
        <p:blipFill>
          <a:blip r:embed="rId1"/>
          <a:stretch>
            <a:fillRect/>
          </a:stretch>
        </p:blipFill>
        <p:spPr>
          <a:xfrm>
            <a:off x="683971" y="1417320"/>
            <a:ext cx="6130138" cy="2926080"/>
          </a:xfrm>
          <a:prstGeom prst="rect">
            <a:avLst/>
          </a:prstGeom>
        </p:spPr>
      </p:pic>
      <p:sp>
        <p:nvSpPr>
          <p:cNvPr id="6" name="Text 2"/>
          <p:cNvSpPr txBox="1"/>
          <p:nvPr/>
        </p:nvSpPr>
        <p:spPr>
          <a:xfrm>
            <a:off x="548640" y="4480560"/>
            <a:ext cx="6400800" cy="365760"/>
          </a:xfrm>
          <a:prstGeom prst="rect">
            <a:avLst/>
          </a:prstGeom>
          <a:noFill/>
          <a:ln/>
        </p:spPr>
        <p:txBody>
          <a:bodyPr wrap="square" lIns="0" tIns="0" rIns="0" bIns="0" rtlCol="0" anchor="t"/>
          <a:lstStyle/>
          <a:p>
            <a:pPr indent="0" marL="0">
              <a:buNone/>
            </a:pPr>
            <a:r>
              <a:rPr lang="en-US" sz="1100" i="1" dirty="0">
                <a:solidFill>
                  <a:schemeClr val="accent6"/>
                </a:solidFill>
              </a:rPr>
              <a:t>Kautsky curve of a healthy green leaf: fast rise O → P (&lt;1 s), then slow decay P → S → M → T over minutes</a:t>
            </a:r>
            <a:endParaRPr lang="en-US" sz="1100" dirty="0"/>
          </a:p>
        </p:txBody>
      </p:sp>
      <p:sp>
        <p:nvSpPr>
          <p:cNvPr id="7" name="card"/>
          <p:cNvSpPr/>
          <p:nvPr/>
        </p:nvSpPr>
        <p:spPr>
          <a:xfrm>
            <a:off x="7223760" y="1325880"/>
            <a:ext cx="441655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8" name="icon circle"/>
          <p:cNvSpPr/>
          <p:nvPr/>
        </p:nvSpPr>
        <p:spPr>
          <a:xfrm>
            <a:off x="7406640" y="1481328"/>
            <a:ext cx="420624" cy="420624"/>
          </a:xfrm>
          <a:prstGeom prst="ellipse">
            <a:avLst/>
          </a:prstGeom>
          <a:solidFill>
            <a:schemeClr val="accent1"/>
          </a:solidFill>
          <a:ln/>
        </p:spPr>
      </p:sp>
      <p:pic>
        <p:nvPicPr>
          <p:cNvPr id="9" name="Image 1" descr="Eye icon">    </p:cNvPr>
          <p:cNvPicPr>
            <a:picLocks noChangeAspect="1"/>
          </p:cNvPicPr>
          <p:nvPr/>
        </p:nvPicPr>
        <p:blipFill>
          <a:blip r:embed="rId2"/>
          <a:stretch>
            <a:fillRect/>
          </a:stretch>
        </p:blipFill>
        <p:spPr>
          <a:xfrm>
            <a:off x="7516002" y="1590690"/>
            <a:ext cx="201900" cy="201900"/>
          </a:xfrm>
          <a:prstGeom prst="rect">
            <a:avLst/>
          </a:prstGeom>
        </p:spPr>
      </p:pic>
      <p:sp>
        <p:nvSpPr>
          <p:cNvPr id="10" name="Text 5"/>
          <p:cNvSpPr txBox="1"/>
          <p:nvPr/>
        </p:nvSpPr>
        <p:spPr>
          <a:xfrm>
            <a:off x="7936992" y="1463040"/>
            <a:ext cx="3566160" cy="457200"/>
          </a:xfrm>
          <a:prstGeom prst="rect">
            <a:avLst/>
          </a:prstGeom>
          <a:noFill/>
          <a:ln/>
        </p:spPr>
        <p:txBody>
          <a:bodyPr wrap="square" lIns="0" tIns="0" rIns="0" bIns="0" rtlCol="0" anchor="ctr"/>
          <a:lstStyle/>
          <a:p>
            <a:pPr indent="0" marL="0">
              <a:buNone/>
            </a:pPr>
            <a:r>
              <a:rPr lang="en-US" sz="1600" b="1" dirty="0">
                <a:solidFill>
                  <a:schemeClr val="tx2"/>
                </a:solidFill>
              </a:rPr>
              <a:t>What you see</a:t>
            </a:r>
            <a:endParaRPr lang="en-US" sz="1600" dirty="0"/>
          </a:p>
        </p:txBody>
      </p:sp>
      <p:sp>
        <p:nvSpPr>
          <p:cNvPr id="11" name="Text 6"/>
          <p:cNvSpPr txBox="1"/>
          <p:nvPr/>
        </p:nvSpPr>
        <p:spPr>
          <a:xfrm>
            <a:off x="7406640" y="2011680"/>
            <a:ext cx="4050792" cy="1463040"/>
          </a:xfrm>
          <a:prstGeom prst="rect">
            <a:avLst/>
          </a:prstGeom>
          <a:noFill/>
          <a:ln/>
        </p:spPr>
        <p:txBody>
          <a:bodyPr wrap="square" lIns="508" tIns="508" rIns="508" bIns="508" rtlCol="0" anchor="t"/>
          <a:lstStyle/>
          <a:p>
            <a:pPr marL="177800" indent="-177800">
              <a:spcAft>
                <a:spcPts val="400"/>
              </a:spcAft>
              <a:buSzPct val="100000"/>
              <a:buChar char="•"/>
            </a:pPr>
            <a:r>
              <a:rPr lang="en-US" sz="1400" dirty="0">
                <a:solidFill>
                  <a:schemeClr val="tx1"/>
                </a:solidFill>
              </a:rPr>
              <a:t>Dark-adapted leaf + continuous light</a:t>
            </a:r>
            <a:endParaRPr lang="en-US" sz="1400" dirty="0"/>
          </a:p>
          <a:p>
            <a:pPr marL="177800" indent="-177800">
              <a:spcAft>
                <a:spcPts val="400"/>
              </a:spcAft>
              <a:buSzPct val="100000"/>
              <a:buChar char="•"/>
            </a:pPr>
            <a:r>
              <a:rPr lang="en-US" sz="1400" b="1" dirty="0">
                <a:solidFill>
                  <a:schemeClr val="tx1"/>
                </a:solidFill>
              </a:rPr>
              <a:t>Fast phase</a:t>
            </a:r>
            <a:r>
              <a:rPr lang="en-US" sz="1400" dirty="0">
                <a:solidFill>
                  <a:schemeClr val="tx1"/>
                </a:solidFill>
              </a:rPr>
              <a:t> (&lt;1 s): exponential rise O → J → I → P</a:t>
            </a:r>
            <a:endParaRPr lang="en-US" sz="1400" dirty="0"/>
          </a:p>
          <a:p>
            <a:pPr marL="177800" indent="-177800">
              <a:spcAft>
                <a:spcPts val="400"/>
              </a:spcAft>
              <a:buSzPct val="100000"/>
              <a:buChar char="•"/>
            </a:pPr>
            <a:r>
              <a:rPr lang="en-US" sz="1400" b="1" dirty="0">
                <a:solidFill>
                  <a:schemeClr val="tx1"/>
                </a:solidFill>
              </a:rPr>
              <a:t>Slow phase</a:t>
            </a:r>
            <a:r>
              <a:rPr lang="en-US" sz="1400" dirty="0">
                <a:solidFill>
                  <a:schemeClr val="tx1"/>
                </a:solidFill>
              </a:rPr>
              <a:t> (minutes): decline P → S → M → T to a steady state</a:t>
            </a:r>
            <a:endParaRPr lang="en-US" sz="1400" dirty="0"/>
          </a:p>
        </p:txBody>
      </p:sp>
      <p:sp>
        <p:nvSpPr>
          <p:cNvPr id="12" name="card"/>
          <p:cNvSpPr/>
          <p:nvPr/>
        </p:nvSpPr>
        <p:spPr>
          <a:xfrm>
            <a:off x="7223760" y="3703320"/>
            <a:ext cx="4416552" cy="2468880"/>
          </a:xfrm>
          <a:prstGeom prst="roundRect">
            <a:avLst>
              <a:gd name="adj" fmla="val 2963"/>
            </a:avLst>
          </a:prstGeom>
          <a:solidFill>
            <a:schemeClr val="bg2"/>
          </a:solidFill>
          <a:ln/>
          <a:effectLst>
            <a:outerShdw sx="100000" sy="100000" kx="0" ky="0" algn="bl" rotWithShape="0" blurRad="76200" dist="25400" dir="5400000">
              <a:srgbClr val="000000">
                <a:alpha val="14000"/>
              </a:srgbClr>
            </a:outerShdw>
          </a:effectLst>
        </p:spPr>
      </p:sp>
      <p:sp>
        <p:nvSpPr>
          <p:cNvPr id="13" name="icon circle"/>
          <p:cNvSpPr/>
          <p:nvPr/>
        </p:nvSpPr>
        <p:spPr>
          <a:xfrm>
            <a:off x="7406640" y="3858768"/>
            <a:ext cx="420624" cy="420624"/>
          </a:xfrm>
          <a:prstGeom prst="ellipse">
            <a:avLst/>
          </a:prstGeom>
          <a:solidFill>
            <a:schemeClr val="accent3"/>
          </a:solidFill>
          <a:ln/>
        </p:spPr>
      </p:sp>
      <p:pic>
        <p:nvPicPr>
          <p:cNvPr id="14" name="Image 2" descr="Lightbulb icon">    </p:cNvPr>
          <p:cNvPicPr>
            <a:picLocks noChangeAspect="1"/>
          </p:cNvPicPr>
          <p:nvPr/>
        </p:nvPicPr>
        <p:blipFill>
          <a:blip r:embed="rId3"/>
          <a:stretch>
            <a:fillRect/>
          </a:stretch>
        </p:blipFill>
        <p:spPr>
          <a:xfrm>
            <a:off x="7516002" y="3968130"/>
            <a:ext cx="201900" cy="201900"/>
          </a:xfrm>
          <a:prstGeom prst="rect">
            <a:avLst/>
          </a:prstGeom>
        </p:spPr>
      </p:pic>
      <p:sp>
        <p:nvSpPr>
          <p:cNvPr id="15" name="Text 9"/>
          <p:cNvSpPr txBox="1"/>
          <p:nvPr/>
        </p:nvSpPr>
        <p:spPr>
          <a:xfrm>
            <a:off x="7936992" y="3840480"/>
            <a:ext cx="3566160" cy="457200"/>
          </a:xfrm>
          <a:prstGeom prst="rect">
            <a:avLst/>
          </a:prstGeom>
          <a:noFill/>
          <a:ln/>
        </p:spPr>
        <p:txBody>
          <a:bodyPr wrap="square" lIns="0" tIns="0" rIns="0" bIns="0" rtlCol="0" anchor="ctr"/>
          <a:lstStyle/>
          <a:p>
            <a:pPr indent="0" marL="0">
              <a:buNone/>
            </a:pPr>
            <a:r>
              <a:rPr lang="en-US" sz="1600" b="1" dirty="0">
                <a:solidFill>
                  <a:schemeClr val="tx2"/>
                </a:solidFill>
              </a:rPr>
              <a:t>What it means</a:t>
            </a:r>
            <a:endParaRPr lang="en-US" sz="1600" dirty="0"/>
          </a:p>
        </p:txBody>
      </p:sp>
      <p:sp>
        <p:nvSpPr>
          <p:cNvPr id="16" name="Text 10"/>
          <p:cNvSpPr txBox="1"/>
          <p:nvPr/>
        </p:nvSpPr>
        <p:spPr>
          <a:xfrm>
            <a:off x="7406640" y="4389120"/>
            <a:ext cx="4050792" cy="1691640"/>
          </a:xfrm>
          <a:prstGeom prst="rect">
            <a:avLst/>
          </a:prstGeom>
          <a:noFill/>
          <a:ln/>
        </p:spPr>
        <p:txBody>
          <a:bodyPr wrap="square" lIns="508" tIns="508" rIns="508" bIns="508" rtlCol="0" anchor="t"/>
          <a:lstStyle/>
          <a:p>
            <a:pPr marL="177800" indent="-177800">
              <a:spcAft>
                <a:spcPts val="400"/>
              </a:spcAft>
              <a:buSzPct val="100000"/>
              <a:buChar char="•"/>
            </a:pPr>
            <a:r>
              <a:rPr lang="en-US" sz="1400" dirty="0">
                <a:solidFill>
                  <a:schemeClr val="tx1"/>
                </a:solidFill>
              </a:rPr>
              <a:t>Rise = PSII acceptors (Q</a:t>
            </a:r>
            <a:r>
              <a:rPr lang="en-US" sz="1400" baseline="-40000" dirty="0">
                <a:solidFill>
                  <a:schemeClr val="tx1"/>
                </a:solidFill>
              </a:rPr>
              <a:t>A</a:t>
            </a:r>
            <a:r>
              <a:rPr lang="en-US" sz="1400" dirty="0">
                <a:solidFill>
                  <a:schemeClr val="tx1"/>
                </a:solidFill>
              </a:rPr>
              <a:t>, PQ pool) become </a:t>
            </a:r>
            <a:r>
              <a:rPr lang="en-US" sz="1400" b="1" dirty="0">
                <a:solidFill>
                  <a:schemeClr val="tx1"/>
                </a:solidFill>
              </a:rPr>
              <a:t>reduced</a:t>
            </a:r>
            <a:r>
              <a:rPr lang="en-US" sz="1400" dirty="0">
                <a:solidFill>
                  <a:schemeClr val="tx1"/>
                </a:solidFill>
              </a:rPr>
              <a:t> → centres close</a:t>
            </a:r>
            <a:endParaRPr lang="en-US" sz="1400" dirty="0"/>
          </a:p>
          <a:p>
            <a:pPr marL="177800" indent="-177800">
              <a:spcAft>
                <a:spcPts val="400"/>
              </a:spcAft>
              <a:buSzPct val="100000"/>
              <a:buChar char="•"/>
            </a:pPr>
            <a:r>
              <a:rPr lang="en-US" sz="1400" dirty="0">
                <a:solidFill>
                  <a:schemeClr val="tx1"/>
                </a:solidFill>
              </a:rPr>
              <a:t>Decline = </a:t>
            </a:r>
            <a:r>
              <a:rPr lang="en-US" sz="1400" b="1" dirty="0">
                <a:solidFill>
                  <a:schemeClr val="tx1"/>
                </a:solidFill>
              </a:rPr>
              <a:t>quenching</a:t>
            </a:r>
            <a:r>
              <a:rPr lang="en-US" sz="1400" dirty="0">
                <a:solidFill>
                  <a:schemeClr val="tx1"/>
                </a:solidFill>
              </a:rPr>
              <a:t>: Calvin cycle activation, stomatal opening and NPQ</a:t>
            </a:r>
            <a:endParaRPr lang="en-US" sz="1400" dirty="0"/>
          </a:p>
          <a:p>
            <a:pPr marL="177800" indent="-177800">
              <a:spcAft>
                <a:spcPts val="400"/>
              </a:spcAft>
              <a:buSzPct val="100000"/>
              <a:buChar char="•"/>
            </a:pPr>
            <a:r>
              <a:rPr lang="en-US" sz="1400" dirty="0">
                <a:solidFill>
                  <a:schemeClr val="tx1"/>
                </a:solidFill>
              </a:rPr>
              <a:t>Kautsky &amp; Hirsch (1931) linked the decline to the onset of CO₂ assimilation</a:t>
            </a:r>
            <a:endParaRPr lang="en-US" sz="1400" dirty="0"/>
          </a:p>
        </p:txBody>
      </p:sp>
      <p:sp>
        <p:nvSpPr>
          <p:cNvPr id="17" name="insight"/>
          <p:cNvSpPr/>
          <p:nvPr/>
        </p:nvSpPr>
        <p:spPr>
          <a:xfrm>
            <a:off x="548640" y="5120640"/>
            <a:ext cx="6400800" cy="1051560"/>
          </a:xfrm>
          <a:prstGeom prst="roundRect">
            <a:avLst>
              <a:gd name="adj" fmla="val 6957"/>
            </a:avLst>
          </a:prstGeom>
          <a:solidFill>
            <a:schemeClr val="bg2"/>
          </a:solidFill>
          <a:ln/>
        </p:spPr>
      </p:sp>
      <p:sp>
        <p:nvSpPr>
          <p:cNvPr id="18" name="Text 12"/>
          <p:cNvSpPr txBox="1"/>
          <p:nvPr/>
        </p:nvSpPr>
        <p:spPr>
          <a:xfrm>
            <a:off x="731520" y="5166360"/>
            <a:ext cx="6035040" cy="960120"/>
          </a:xfrm>
          <a:prstGeom prst="rect">
            <a:avLst/>
          </a:prstGeom>
          <a:noFill/>
          <a:ln/>
        </p:spPr>
        <p:txBody>
          <a:bodyPr wrap="square" lIns="508" tIns="508" rIns="508" bIns="508" rtlCol="0" anchor="ctr"/>
          <a:lstStyle/>
          <a:p>
            <a:pPr indent="0" marL="0">
              <a:spcAft>
                <a:spcPts val="600"/>
              </a:spcAft>
              <a:buNone/>
            </a:pPr>
            <a:r>
              <a:rPr lang="en-US" sz="1300" dirty="0">
                <a:solidFill>
                  <a:schemeClr val="tx1"/>
                </a:solidFill>
              </a:rPr>
              <a:t>A true Kautsky effect is seen at </a:t>
            </a:r>
            <a:r>
              <a:rPr lang="en-US" sz="1300" b="1" dirty="0">
                <a:solidFill>
                  <a:schemeClr val="tx1"/>
                </a:solidFill>
              </a:rPr>
              <a:t>moderate light (&lt;200 µmol m⁻² s⁻¹)</a:t>
            </a:r>
            <a:r>
              <a:rPr lang="en-US" sz="1300" dirty="0">
                <a:solidFill>
                  <a:schemeClr val="tx1"/>
                </a:solidFill>
              </a:rPr>
              <a:t>; at high irradiance (≥500 µmol m⁻² s⁻¹) the trace looks like the stylised PAM trace in Module 05.</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Zooming into the fast rise: the OJIP transient</a:t>
            </a:r>
            <a:endParaRPr lang="en-US" sz="3200" dirty="0"/>
          </a:p>
        </p:txBody>
      </p:sp>
      <p:graphicFrame>
        <p:nvGraphicFramePr>
          <p:cNvPr id="4" name="Chart 0" descr=""/>
          <p:cNvGraphicFramePr/>
          <p:nvPr/>
        </p:nvGraphicFramePr>
        <p:xfrm>
          <a:off x="548640" y="1325880"/>
          <a:ext cx="6583680" cy="388620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7406640" y="1325880"/>
            <a:ext cx="4233672" cy="868680"/>
          </a:xfrm>
          <a:prstGeom prst="roundRect">
            <a:avLst>
              <a:gd name="adj" fmla="val 8421"/>
            </a:avLst>
          </a:prstGeom>
          <a:solidFill>
            <a:schemeClr val="bg2"/>
          </a:solidFill>
          <a:ln/>
          <a:effectLst>
            <a:outerShdw sx="100000" sy="100000" kx="0" ky="0" algn="bl" rotWithShape="0" blurRad="76200" dist="25400" dir="5400000">
              <a:srgbClr val="000000">
                <a:alpha val="14000"/>
              </a:srgbClr>
            </a:outerShdw>
          </a:effectLst>
        </p:spPr>
      </p:sp>
      <p:sp>
        <p:nvSpPr>
          <p:cNvPr id="6" name="step marker"/>
          <p:cNvSpPr/>
          <p:nvPr/>
        </p:nvSpPr>
        <p:spPr>
          <a:xfrm>
            <a:off x="7543800" y="1508760"/>
            <a:ext cx="502920" cy="502920"/>
          </a:xfrm>
          <a:prstGeom prst="ellipse">
            <a:avLst/>
          </a:prstGeom>
          <a:solidFill>
            <a:schemeClr val="accent2"/>
          </a:solidFill>
          <a:ln/>
        </p:spPr>
      </p:sp>
      <p:sp>
        <p:nvSpPr>
          <p:cNvPr id="7" name="Text 3"/>
          <p:cNvSpPr txBox="1"/>
          <p:nvPr/>
        </p:nvSpPr>
        <p:spPr>
          <a:xfrm>
            <a:off x="7543800" y="15087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O</a:t>
            </a:r>
            <a:endParaRPr lang="en-US" sz="1800" dirty="0"/>
          </a:p>
        </p:txBody>
      </p:sp>
      <p:sp>
        <p:nvSpPr>
          <p:cNvPr id="8" name="Text 4"/>
          <p:cNvSpPr txBox="1"/>
          <p:nvPr/>
        </p:nvSpPr>
        <p:spPr>
          <a:xfrm>
            <a:off x="8183880" y="1417320"/>
            <a:ext cx="1097280" cy="320040"/>
          </a:xfrm>
          <a:prstGeom prst="rect">
            <a:avLst/>
          </a:prstGeom>
          <a:noFill/>
          <a:ln/>
        </p:spPr>
        <p:txBody>
          <a:bodyPr wrap="square" lIns="0" tIns="0" rIns="0" bIns="0" rtlCol="0" anchor="ctr"/>
          <a:lstStyle/>
          <a:p>
            <a:pPr algn="l" indent="0" marL="0">
              <a:buNone/>
            </a:pPr>
            <a:r>
              <a:rPr lang="en-US" sz="1300" b="1" dirty="0">
                <a:solidFill>
                  <a:schemeClr val="accent2"/>
                </a:solidFill>
              </a:rPr>
              <a:t>20–50 µs</a:t>
            </a:r>
            <a:endParaRPr lang="en-US" sz="1300" dirty="0"/>
          </a:p>
        </p:txBody>
      </p:sp>
      <p:sp>
        <p:nvSpPr>
          <p:cNvPr id="9" name="Text 5"/>
          <p:cNvSpPr txBox="1"/>
          <p:nvPr/>
        </p:nvSpPr>
        <p:spPr>
          <a:xfrm>
            <a:off x="8183880" y="1709928"/>
            <a:ext cx="3383280" cy="411480"/>
          </a:xfrm>
          <a:prstGeom prst="rect">
            <a:avLst/>
          </a:prstGeom>
          <a:noFill/>
          <a:ln/>
        </p:spPr>
        <p:txBody>
          <a:bodyPr wrap="square" lIns="0" tIns="0" rIns="0" bIns="0" rtlCol="0" anchor="t"/>
          <a:lstStyle/>
          <a:p>
            <a:pPr indent="0" marL="0">
              <a:buNone/>
            </a:pPr>
            <a:r>
              <a:rPr lang="en-US" sz="1300" b="1" dirty="0">
                <a:solidFill>
                  <a:schemeClr val="tx1"/>
                </a:solidFill>
              </a:rPr>
              <a:t>F</a:t>
            </a:r>
            <a:r>
              <a:rPr lang="en-US" sz="1300" b="1" baseline="-40000" dirty="0">
                <a:solidFill>
                  <a:schemeClr val="tx1"/>
                </a:solidFill>
              </a:rPr>
              <a:t>o</a:t>
            </a:r>
            <a:r>
              <a:rPr lang="en-US" sz="1300" dirty="0">
                <a:solidFill>
                  <a:schemeClr val="tx1"/>
                </a:solidFill>
              </a:rPr>
              <a:t>: all Q</a:t>
            </a:r>
            <a:r>
              <a:rPr lang="en-US" sz="1300" baseline="-40000" dirty="0">
                <a:solidFill>
                  <a:schemeClr val="tx1"/>
                </a:solidFill>
              </a:rPr>
              <a:t>A</a:t>
            </a:r>
            <a:r>
              <a:rPr lang="en-US" sz="1300" dirty="0">
                <a:solidFill>
                  <a:schemeClr val="tx1"/>
                </a:solidFill>
              </a:rPr>
              <a:t> oxidised, centres open</a:t>
            </a:r>
            <a:endParaRPr lang="en-US" sz="1300" dirty="0"/>
          </a:p>
        </p:txBody>
      </p:sp>
      <p:sp>
        <p:nvSpPr>
          <p:cNvPr id="10" name="card"/>
          <p:cNvSpPr/>
          <p:nvPr/>
        </p:nvSpPr>
        <p:spPr>
          <a:xfrm>
            <a:off x="7406640" y="2313432"/>
            <a:ext cx="4233672" cy="868680"/>
          </a:xfrm>
          <a:prstGeom prst="roundRect">
            <a:avLst>
              <a:gd name="adj" fmla="val 8421"/>
            </a:avLst>
          </a:prstGeom>
          <a:solidFill>
            <a:schemeClr val="bg2"/>
          </a:solidFill>
          <a:ln/>
          <a:effectLst>
            <a:outerShdw sx="100000" sy="100000" kx="0" ky="0" algn="bl" rotWithShape="0" blurRad="76200" dist="25400" dir="5400000">
              <a:srgbClr val="000000">
                <a:alpha val="14000"/>
              </a:srgbClr>
            </a:outerShdw>
          </a:effectLst>
        </p:spPr>
      </p:sp>
      <p:sp>
        <p:nvSpPr>
          <p:cNvPr id="11" name="step marker"/>
          <p:cNvSpPr/>
          <p:nvPr/>
        </p:nvSpPr>
        <p:spPr>
          <a:xfrm>
            <a:off x="7543800" y="2496312"/>
            <a:ext cx="502920" cy="502920"/>
          </a:xfrm>
          <a:prstGeom prst="ellipse">
            <a:avLst/>
          </a:prstGeom>
          <a:solidFill>
            <a:schemeClr val="accent2"/>
          </a:solidFill>
          <a:ln/>
        </p:spPr>
      </p:sp>
      <p:sp>
        <p:nvSpPr>
          <p:cNvPr id="12" name="Text 8"/>
          <p:cNvSpPr txBox="1"/>
          <p:nvPr/>
        </p:nvSpPr>
        <p:spPr>
          <a:xfrm>
            <a:off x="7543800" y="249631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J</a:t>
            </a:r>
            <a:endParaRPr lang="en-US" sz="1800" dirty="0"/>
          </a:p>
        </p:txBody>
      </p:sp>
      <p:sp>
        <p:nvSpPr>
          <p:cNvPr id="13" name="Text 9"/>
          <p:cNvSpPr txBox="1"/>
          <p:nvPr/>
        </p:nvSpPr>
        <p:spPr>
          <a:xfrm>
            <a:off x="8183880" y="2404872"/>
            <a:ext cx="1097280" cy="320040"/>
          </a:xfrm>
          <a:prstGeom prst="rect">
            <a:avLst/>
          </a:prstGeom>
          <a:noFill/>
          <a:ln/>
        </p:spPr>
        <p:txBody>
          <a:bodyPr wrap="square" lIns="0" tIns="0" rIns="0" bIns="0" rtlCol="0" anchor="ctr"/>
          <a:lstStyle/>
          <a:p>
            <a:pPr algn="l" indent="0" marL="0">
              <a:buNone/>
            </a:pPr>
            <a:r>
              <a:rPr lang="en-US" sz="1300" b="1" dirty="0">
                <a:solidFill>
                  <a:schemeClr val="accent2"/>
                </a:solidFill>
              </a:rPr>
              <a:t>~2 ms</a:t>
            </a:r>
            <a:endParaRPr lang="en-US" sz="1300" dirty="0"/>
          </a:p>
        </p:txBody>
      </p:sp>
      <p:sp>
        <p:nvSpPr>
          <p:cNvPr id="14" name="Text 10"/>
          <p:cNvSpPr txBox="1"/>
          <p:nvPr/>
        </p:nvSpPr>
        <p:spPr>
          <a:xfrm>
            <a:off x="8183880" y="2697480"/>
            <a:ext cx="3383280" cy="411480"/>
          </a:xfrm>
          <a:prstGeom prst="rect">
            <a:avLst/>
          </a:prstGeom>
          <a:noFill/>
          <a:ln/>
        </p:spPr>
        <p:txBody>
          <a:bodyPr wrap="square" lIns="0" tIns="0" rIns="0" bIns="0" rtlCol="0" anchor="t"/>
          <a:lstStyle/>
          <a:p>
            <a:pPr indent="0" marL="0">
              <a:buNone/>
            </a:pPr>
            <a:r>
              <a:rPr lang="en-US" sz="1300" dirty="0">
                <a:solidFill>
                  <a:schemeClr val="tx1"/>
                </a:solidFill>
              </a:rPr>
              <a:t>Q</a:t>
            </a:r>
            <a:r>
              <a:rPr lang="en-US" sz="1300" baseline="-40000" dirty="0">
                <a:solidFill>
                  <a:schemeClr val="tx1"/>
                </a:solidFill>
              </a:rPr>
              <a:t>A</a:t>
            </a:r>
            <a:r>
              <a:rPr lang="en-US" sz="1300" dirty="0">
                <a:solidFill>
                  <a:schemeClr val="tx1"/>
                </a:solidFill>
              </a:rPr>
              <a:t>⁻ accumulates (photochemical phase)</a:t>
            </a:r>
            <a:endParaRPr lang="en-US" sz="1300" dirty="0"/>
          </a:p>
        </p:txBody>
      </p:sp>
      <p:sp>
        <p:nvSpPr>
          <p:cNvPr id="15" name="card"/>
          <p:cNvSpPr/>
          <p:nvPr/>
        </p:nvSpPr>
        <p:spPr>
          <a:xfrm>
            <a:off x="7406640" y="3300984"/>
            <a:ext cx="4233672" cy="868680"/>
          </a:xfrm>
          <a:prstGeom prst="roundRect">
            <a:avLst>
              <a:gd name="adj" fmla="val 8421"/>
            </a:avLst>
          </a:prstGeom>
          <a:solidFill>
            <a:schemeClr val="bg2"/>
          </a:solidFill>
          <a:ln/>
          <a:effectLst>
            <a:outerShdw sx="100000" sy="100000" kx="0" ky="0" algn="bl" rotWithShape="0" blurRad="76200" dist="25400" dir="5400000">
              <a:srgbClr val="000000">
                <a:alpha val="14000"/>
              </a:srgbClr>
            </a:outerShdw>
          </a:effectLst>
        </p:spPr>
      </p:sp>
      <p:sp>
        <p:nvSpPr>
          <p:cNvPr id="16" name="step marker"/>
          <p:cNvSpPr/>
          <p:nvPr/>
        </p:nvSpPr>
        <p:spPr>
          <a:xfrm>
            <a:off x="7543800" y="3483864"/>
            <a:ext cx="502920" cy="502920"/>
          </a:xfrm>
          <a:prstGeom prst="ellipse">
            <a:avLst/>
          </a:prstGeom>
          <a:solidFill>
            <a:schemeClr val="accent2"/>
          </a:solidFill>
          <a:ln/>
        </p:spPr>
      </p:sp>
      <p:sp>
        <p:nvSpPr>
          <p:cNvPr id="17" name="Text 13"/>
          <p:cNvSpPr txBox="1"/>
          <p:nvPr/>
        </p:nvSpPr>
        <p:spPr>
          <a:xfrm>
            <a:off x="7543800" y="348386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I</a:t>
            </a:r>
            <a:endParaRPr lang="en-US" sz="1800" dirty="0"/>
          </a:p>
        </p:txBody>
      </p:sp>
      <p:sp>
        <p:nvSpPr>
          <p:cNvPr id="18" name="Text 14"/>
          <p:cNvSpPr txBox="1"/>
          <p:nvPr/>
        </p:nvSpPr>
        <p:spPr>
          <a:xfrm>
            <a:off x="8183880" y="3392424"/>
            <a:ext cx="1097280" cy="320040"/>
          </a:xfrm>
          <a:prstGeom prst="rect">
            <a:avLst/>
          </a:prstGeom>
          <a:noFill/>
          <a:ln/>
        </p:spPr>
        <p:txBody>
          <a:bodyPr wrap="square" lIns="0" tIns="0" rIns="0" bIns="0" rtlCol="0" anchor="ctr"/>
          <a:lstStyle/>
          <a:p>
            <a:pPr algn="l" indent="0" marL="0">
              <a:buNone/>
            </a:pPr>
            <a:r>
              <a:rPr lang="en-US" sz="1300" b="1" dirty="0">
                <a:solidFill>
                  <a:schemeClr val="accent2"/>
                </a:solidFill>
              </a:rPr>
              <a:t>~30 ms</a:t>
            </a:r>
            <a:endParaRPr lang="en-US" sz="1300" dirty="0"/>
          </a:p>
        </p:txBody>
      </p:sp>
      <p:sp>
        <p:nvSpPr>
          <p:cNvPr id="19" name="Text 15"/>
          <p:cNvSpPr txBox="1"/>
          <p:nvPr/>
        </p:nvSpPr>
        <p:spPr>
          <a:xfrm>
            <a:off x="8183880" y="3685032"/>
            <a:ext cx="3383280" cy="411480"/>
          </a:xfrm>
          <a:prstGeom prst="rect">
            <a:avLst/>
          </a:prstGeom>
          <a:noFill/>
          <a:ln/>
        </p:spPr>
        <p:txBody>
          <a:bodyPr wrap="square" lIns="0" tIns="0" rIns="0" bIns="0" rtlCol="0" anchor="t"/>
          <a:lstStyle/>
          <a:p>
            <a:pPr indent="0" marL="0">
              <a:buNone/>
            </a:pPr>
            <a:r>
              <a:rPr lang="en-US" sz="1300" dirty="0">
                <a:solidFill>
                  <a:schemeClr val="tx1"/>
                </a:solidFill>
              </a:rPr>
              <a:t>Plastoquinone pool partly reduced</a:t>
            </a:r>
            <a:endParaRPr lang="en-US" sz="1300" dirty="0"/>
          </a:p>
        </p:txBody>
      </p:sp>
      <p:sp>
        <p:nvSpPr>
          <p:cNvPr id="20" name="card"/>
          <p:cNvSpPr/>
          <p:nvPr/>
        </p:nvSpPr>
        <p:spPr>
          <a:xfrm>
            <a:off x="7406640" y="4288536"/>
            <a:ext cx="4233672" cy="868680"/>
          </a:xfrm>
          <a:prstGeom prst="roundRect">
            <a:avLst>
              <a:gd name="adj" fmla="val 8421"/>
            </a:avLst>
          </a:prstGeom>
          <a:solidFill>
            <a:schemeClr val="bg2"/>
          </a:solidFill>
          <a:ln/>
          <a:effectLst>
            <a:outerShdw sx="100000" sy="100000" kx="0" ky="0" algn="bl" rotWithShape="0" blurRad="76200" dist="25400" dir="5400000">
              <a:srgbClr val="000000">
                <a:alpha val="14000"/>
              </a:srgbClr>
            </a:outerShdw>
          </a:effectLst>
        </p:spPr>
      </p:sp>
      <p:sp>
        <p:nvSpPr>
          <p:cNvPr id="21" name="step marker"/>
          <p:cNvSpPr/>
          <p:nvPr/>
        </p:nvSpPr>
        <p:spPr>
          <a:xfrm>
            <a:off x="7543800" y="4471416"/>
            <a:ext cx="502920" cy="502920"/>
          </a:xfrm>
          <a:prstGeom prst="ellipse">
            <a:avLst/>
          </a:prstGeom>
          <a:solidFill>
            <a:schemeClr val="accent2"/>
          </a:solidFill>
          <a:ln/>
        </p:spPr>
      </p:sp>
      <p:sp>
        <p:nvSpPr>
          <p:cNvPr id="22" name="Text 18"/>
          <p:cNvSpPr txBox="1"/>
          <p:nvPr/>
        </p:nvSpPr>
        <p:spPr>
          <a:xfrm>
            <a:off x="7543800" y="4471416"/>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P</a:t>
            </a:r>
            <a:endParaRPr lang="en-US" sz="1800" dirty="0"/>
          </a:p>
        </p:txBody>
      </p:sp>
      <p:sp>
        <p:nvSpPr>
          <p:cNvPr id="23" name="Text 19"/>
          <p:cNvSpPr txBox="1"/>
          <p:nvPr/>
        </p:nvSpPr>
        <p:spPr>
          <a:xfrm>
            <a:off x="8183880" y="4379976"/>
            <a:ext cx="1097280" cy="320040"/>
          </a:xfrm>
          <a:prstGeom prst="rect">
            <a:avLst/>
          </a:prstGeom>
          <a:noFill/>
          <a:ln/>
        </p:spPr>
        <p:txBody>
          <a:bodyPr wrap="square" lIns="0" tIns="0" rIns="0" bIns="0" rtlCol="0" anchor="ctr"/>
          <a:lstStyle/>
          <a:p>
            <a:pPr algn="l" indent="0" marL="0">
              <a:buNone/>
            </a:pPr>
            <a:r>
              <a:rPr lang="en-US" sz="1300" b="1" dirty="0">
                <a:solidFill>
                  <a:schemeClr val="accent2"/>
                </a:solidFill>
              </a:rPr>
              <a:t>~300 ms+</a:t>
            </a:r>
            <a:endParaRPr lang="en-US" sz="1300" dirty="0"/>
          </a:p>
        </p:txBody>
      </p:sp>
      <p:sp>
        <p:nvSpPr>
          <p:cNvPr id="24" name="Text 20"/>
          <p:cNvSpPr txBox="1"/>
          <p:nvPr/>
        </p:nvSpPr>
        <p:spPr>
          <a:xfrm>
            <a:off x="8183880" y="4672584"/>
            <a:ext cx="3383280" cy="411480"/>
          </a:xfrm>
          <a:prstGeom prst="rect">
            <a:avLst/>
          </a:prstGeom>
          <a:noFill/>
          <a:ln/>
        </p:spPr>
        <p:txBody>
          <a:bodyPr wrap="square" lIns="0" tIns="0" rIns="0" bIns="0" rtlCol="0" anchor="t"/>
          <a:lstStyle/>
          <a:p>
            <a:pPr indent="0" marL="0">
              <a:buNone/>
            </a:pPr>
            <a:r>
              <a:rPr lang="en-US" sz="1300" b="1" dirty="0">
                <a:solidFill>
                  <a:schemeClr val="tx1"/>
                </a:solidFill>
              </a:rPr>
              <a:t>F</a:t>
            </a:r>
            <a:r>
              <a:rPr lang="en-US" sz="1300" b="1" baseline="-40000" dirty="0">
                <a:solidFill>
                  <a:schemeClr val="tx1"/>
                </a:solidFill>
              </a:rPr>
              <a:t>m</a:t>
            </a:r>
            <a:r>
              <a:rPr lang="en-US" sz="1300" dirty="0">
                <a:solidFill>
                  <a:schemeClr val="tx1"/>
                </a:solidFill>
              </a:rPr>
              <a:t>: all Q</a:t>
            </a:r>
            <a:r>
              <a:rPr lang="en-US" sz="1300" baseline="-40000" dirty="0">
                <a:solidFill>
                  <a:schemeClr val="tx1"/>
                </a:solidFill>
              </a:rPr>
              <a:t>A</a:t>
            </a:r>
            <a:r>
              <a:rPr lang="en-US" sz="1300" dirty="0">
                <a:solidFill>
                  <a:schemeClr val="tx1"/>
                </a:solidFill>
              </a:rPr>
              <a:t> reduced, centres closed</a:t>
            </a:r>
            <a:endParaRPr lang="en-US" sz="1300" dirty="0"/>
          </a:p>
        </p:txBody>
      </p:sp>
      <p:sp>
        <p:nvSpPr>
          <p:cNvPr id="25" name="Text 21"/>
          <p:cNvSpPr txBox="1"/>
          <p:nvPr/>
        </p:nvSpPr>
        <p:spPr>
          <a:xfrm>
            <a:off x="548640" y="5349240"/>
            <a:ext cx="11064240" cy="731520"/>
          </a:xfrm>
          <a:prstGeom prst="rect">
            <a:avLst/>
          </a:prstGeom>
          <a:noFill/>
          <a:ln/>
        </p:spPr>
        <p:txBody>
          <a:bodyPr wrap="square" lIns="508" tIns="508" rIns="508" bIns="508" rtlCol="0" anchor="t"/>
          <a:lstStyle/>
          <a:p>
            <a:pPr indent="0" marL="0">
              <a:spcAft>
                <a:spcPts val="600"/>
              </a:spcAft>
              <a:buNone/>
            </a:pPr>
            <a:r>
              <a:rPr lang="en-US" sz="1200" i="1" dirty="0">
                <a:solidFill>
                  <a:schemeClr val="accent6"/>
                </a:solidFill>
              </a:rPr>
              <a:t>Interpretation follows the JIP-test convention (Strasser et al. 2004). Murchie &amp; Lawson caution that complex OJIP-derived parameters still lack broad empirical support.</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Fast phase vs slow phase (OJIP vs PSMT)</a:t>
            </a:r>
            <a:endParaRPr lang="en-US" sz="3200" dirty="0"/>
          </a:p>
        </p:txBody>
      </p:sp>
      <p:sp>
        <p:nvSpPr>
          <p:cNvPr id="4" name="figure frame"/>
          <p:cNvSpPr/>
          <p:nvPr/>
        </p:nvSpPr>
        <p:spPr>
          <a:xfrm>
            <a:off x="548640" y="1325880"/>
            <a:ext cx="5440680" cy="2971800"/>
          </a:xfrm>
          <a:prstGeom prst="roundRect">
            <a:avLst>
              <a:gd name="adj" fmla="val 1846"/>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Measured OJIP rise on a log time axis (inset: the whole Kautsky curve)">    </p:cNvPr>
          <p:cNvPicPr>
            <a:picLocks noChangeAspect="1"/>
          </p:cNvPicPr>
          <p:nvPr/>
        </p:nvPicPr>
        <p:blipFill>
          <a:blip r:embed="rId1"/>
          <a:stretch>
            <a:fillRect/>
          </a:stretch>
        </p:blipFill>
        <p:spPr>
          <a:xfrm>
            <a:off x="1141113" y="1417320"/>
            <a:ext cx="4255734" cy="2788920"/>
          </a:xfrm>
          <a:prstGeom prst="rect">
            <a:avLst/>
          </a:prstGeom>
        </p:spPr>
      </p:pic>
      <p:sp>
        <p:nvSpPr>
          <p:cNvPr id="6" name="Text 2"/>
          <p:cNvSpPr txBox="1"/>
          <p:nvPr/>
        </p:nvSpPr>
        <p:spPr>
          <a:xfrm>
            <a:off x="548640" y="4343400"/>
            <a:ext cx="5440680" cy="365760"/>
          </a:xfrm>
          <a:prstGeom prst="rect">
            <a:avLst/>
          </a:prstGeom>
          <a:noFill/>
          <a:ln/>
        </p:spPr>
        <p:txBody>
          <a:bodyPr wrap="square" lIns="0" tIns="0" rIns="0" bIns="0" rtlCol="0" anchor="t"/>
          <a:lstStyle/>
          <a:p>
            <a:pPr indent="0" marL="0">
              <a:buNone/>
            </a:pPr>
            <a:r>
              <a:rPr lang="en-US" sz="1100" i="1" dirty="0">
                <a:solidFill>
                  <a:schemeClr val="accent6"/>
                </a:solidFill>
              </a:rPr>
              <a:t>Measured OJIP rise on a log time axis (inset: the whole Kautsky curve)</a:t>
            </a:r>
            <a:endParaRPr lang="en-US" sz="1100" dirty="0"/>
          </a:p>
        </p:txBody>
      </p:sp>
      <p:sp>
        <p:nvSpPr>
          <p:cNvPr id="7" name="figure frame"/>
          <p:cNvSpPr/>
          <p:nvPr/>
        </p:nvSpPr>
        <p:spPr>
          <a:xfrm>
            <a:off x="6199632" y="1325880"/>
            <a:ext cx="5440680" cy="2971800"/>
          </a:xfrm>
          <a:prstGeom prst="roundRect">
            <a:avLst>
              <a:gd name="adj" fmla="val 1846"/>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8" name="Image 1" descr="Full induction: fast phase O-J-I-P (~1 s) then slow phase P-S-M-T (minutes)">    </p:cNvPr>
          <p:cNvPicPr>
            <a:picLocks noChangeAspect="1"/>
          </p:cNvPicPr>
          <p:nvPr/>
        </p:nvPicPr>
        <p:blipFill>
          <a:blip r:embed="rId2"/>
          <a:stretch>
            <a:fillRect/>
          </a:stretch>
        </p:blipFill>
        <p:spPr>
          <a:xfrm>
            <a:off x="6763627" y="1417320"/>
            <a:ext cx="4312691" cy="2788920"/>
          </a:xfrm>
          <a:prstGeom prst="rect">
            <a:avLst/>
          </a:prstGeom>
        </p:spPr>
      </p:pic>
      <p:sp>
        <p:nvSpPr>
          <p:cNvPr id="9" name="Text 4"/>
          <p:cNvSpPr txBox="1"/>
          <p:nvPr/>
        </p:nvSpPr>
        <p:spPr>
          <a:xfrm>
            <a:off x="6199632" y="4343400"/>
            <a:ext cx="5440680" cy="365760"/>
          </a:xfrm>
          <a:prstGeom prst="rect">
            <a:avLst/>
          </a:prstGeom>
          <a:noFill/>
          <a:ln/>
        </p:spPr>
        <p:txBody>
          <a:bodyPr wrap="square" lIns="0" tIns="0" rIns="0" bIns="0" rtlCol="0" anchor="t"/>
          <a:lstStyle/>
          <a:p>
            <a:pPr indent="0" marL="0">
              <a:buNone/>
            </a:pPr>
            <a:r>
              <a:rPr lang="en-US" sz="1100" i="1" dirty="0">
                <a:solidFill>
                  <a:schemeClr val="accent6"/>
                </a:solidFill>
              </a:rPr>
              <a:t>Full induction: fast phase O-J-I-P (~1 s) then slow phase P-S-M-T (minutes)</a:t>
            </a:r>
            <a:endParaRPr lang="en-US" sz="1100" dirty="0"/>
          </a:p>
        </p:txBody>
      </p:sp>
      <p:sp>
        <p:nvSpPr>
          <p:cNvPr id="10" name="card"/>
          <p:cNvSpPr/>
          <p:nvPr/>
        </p:nvSpPr>
        <p:spPr>
          <a:xfrm>
            <a:off x="548640" y="4892040"/>
            <a:ext cx="5440680" cy="1280160"/>
          </a:xfrm>
          <a:prstGeom prst="roundRect">
            <a:avLst>
              <a:gd name="adj" fmla="val 5714"/>
            </a:avLst>
          </a:prstGeom>
          <a:solidFill>
            <a:schemeClr val="bg2"/>
          </a:solidFill>
          <a:ln/>
          <a:effectLst>
            <a:outerShdw sx="100000" sy="100000" kx="0" ky="0" algn="bl" rotWithShape="0" blurRad="76200" dist="25400" dir="5400000">
              <a:srgbClr val="000000">
                <a:alpha val="14000"/>
              </a:srgbClr>
            </a:outerShdw>
          </a:effectLst>
        </p:spPr>
      </p:sp>
      <p:sp>
        <p:nvSpPr>
          <p:cNvPr id="11" name="Text 6"/>
          <p:cNvSpPr txBox="1"/>
          <p:nvPr/>
        </p:nvSpPr>
        <p:spPr>
          <a:xfrm>
            <a:off x="731520" y="5029200"/>
            <a:ext cx="5120640" cy="365760"/>
          </a:xfrm>
          <a:prstGeom prst="rect">
            <a:avLst/>
          </a:prstGeom>
          <a:noFill/>
          <a:ln/>
        </p:spPr>
        <p:txBody>
          <a:bodyPr wrap="square" lIns="0" tIns="0" rIns="0" bIns="0" rtlCol="0" anchor="ctr"/>
          <a:lstStyle/>
          <a:p>
            <a:pPr indent="0" marL="0">
              <a:buNone/>
            </a:pPr>
            <a:r>
              <a:rPr lang="en-US" sz="1500" b="1" dirty="0">
                <a:solidFill>
                  <a:schemeClr val="tx2"/>
                </a:solidFill>
              </a:rPr>
              <a:t>Fast phase OJIP (&lt;1 s)</a:t>
            </a:r>
            <a:endParaRPr lang="en-US" sz="1500" dirty="0"/>
          </a:p>
        </p:txBody>
      </p:sp>
      <p:sp>
        <p:nvSpPr>
          <p:cNvPr id="12" name="Text 7"/>
          <p:cNvSpPr txBox="1"/>
          <p:nvPr/>
        </p:nvSpPr>
        <p:spPr>
          <a:xfrm>
            <a:off x="731520" y="5440680"/>
            <a:ext cx="5074920" cy="64008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Reduction of PSII acceptors; used for dark-adapted parameters such as F</a:t>
            </a:r>
            <a:r>
              <a:rPr lang="en-US" sz="1300" baseline="-40000" dirty="0">
                <a:solidFill>
                  <a:schemeClr val="tx1"/>
                </a:solidFill>
              </a:rPr>
              <a:t>o</a:t>
            </a:r>
            <a:r>
              <a:rPr lang="en-US" sz="1300" dirty="0">
                <a:solidFill>
                  <a:schemeClr val="tx1"/>
                </a:solidFill>
              </a:rPr>
              <a:t>, F</a:t>
            </a:r>
            <a:r>
              <a:rPr lang="en-US" sz="1300" baseline="-40000" dirty="0">
                <a:solidFill>
                  <a:schemeClr val="tx1"/>
                </a:solidFill>
              </a:rPr>
              <a:t>m</a:t>
            </a:r>
            <a:r>
              <a:rPr lang="en-US" sz="1300" dirty="0">
                <a:solidFill>
                  <a:schemeClr val="tx1"/>
                </a:solidFill>
              </a:rPr>
              <a:t>,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a:t>
            </a:r>
            <a:endParaRPr lang="en-US" sz="1300" dirty="0"/>
          </a:p>
        </p:txBody>
      </p:sp>
      <p:sp>
        <p:nvSpPr>
          <p:cNvPr id="13" name="card"/>
          <p:cNvSpPr/>
          <p:nvPr/>
        </p:nvSpPr>
        <p:spPr>
          <a:xfrm>
            <a:off x="6199632" y="4892040"/>
            <a:ext cx="5440680" cy="1280160"/>
          </a:xfrm>
          <a:prstGeom prst="roundRect">
            <a:avLst>
              <a:gd name="adj" fmla="val 5714"/>
            </a:avLst>
          </a:prstGeom>
          <a:solidFill>
            <a:schemeClr val="bg2"/>
          </a:solidFill>
          <a:ln/>
          <a:effectLst>
            <a:outerShdw sx="100000" sy="100000" kx="0" ky="0" algn="bl" rotWithShape="0" blurRad="76200" dist="25400" dir="5400000">
              <a:srgbClr val="000000">
                <a:alpha val="14000"/>
              </a:srgbClr>
            </a:outerShdw>
          </a:effectLst>
        </p:spPr>
      </p:sp>
      <p:sp>
        <p:nvSpPr>
          <p:cNvPr id="14" name="Text 9"/>
          <p:cNvSpPr txBox="1"/>
          <p:nvPr/>
        </p:nvSpPr>
        <p:spPr>
          <a:xfrm>
            <a:off x="6382512" y="5029200"/>
            <a:ext cx="5120640" cy="365760"/>
          </a:xfrm>
          <a:prstGeom prst="rect">
            <a:avLst/>
          </a:prstGeom>
          <a:noFill/>
          <a:ln/>
        </p:spPr>
        <p:txBody>
          <a:bodyPr wrap="square" lIns="0" tIns="0" rIns="0" bIns="0" rtlCol="0" anchor="ctr"/>
          <a:lstStyle/>
          <a:p>
            <a:pPr indent="0" marL="0">
              <a:buNone/>
            </a:pPr>
            <a:r>
              <a:rPr lang="en-US" sz="1500" b="1" dirty="0">
                <a:solidFill>
                  <a:schemeClr val="tx2"/>
                </a:solidFill>
              </a:rPr>
              <a:t>Slow phase PSMT (minutes)</a:t>
            </a:r>
            <a:endParaRPr lang="en-US" sz="1500" dirty="0"/>
          </a:p>
        </p:txBody>
      </p:sp>
      <p:sp>
        <p:nvSpPr>
          <p:cNvPr id="15" name="Text 10"/>
          <p:cNvSpPr txBox="1"/>
          <p:nvPr/>
        </p:nvSpPr>
        <p:spPr>
          <a:xfrm>
            <a:off x="6382512" y="5440680"/>
            <a:ext cx="5074920" cy="64008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Energy transduction, ATP synthesis, CO₂ fixation, state transitions, NPQ.</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PSII redox state &amp; quenching</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Open vs closed reaction centres, photochemical and non-photochemical quenching, and the saturating-pulse trick</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04</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Open and closed PSII reaction centres</a:t>
            </a:r>
            <a:endParaRPr lang="en-US" sz="3200" dirty="0"/>
          </a:p>
        </p:txBody>
      </p:sp>
      <p:sp>
        <p:nvSpPr>
          <p:cNvPr id="4" name="diagram box"/>
          <p:cNvSpPr/>
          <p:nvPr/>
        </p:nvSpPr>
        <p:spPr>
          <a:xfrm>
            <a:off x="548640" y="1417320"/>
            <a:ext cx="1170432" cy="685800"/>
          </a:xfrm>
          <a:prstGeom prst="roundRect">
            <a:avLst>
              <a:gd name="adj" fmla="val 10667"/>
            </a:avLst>
          </a:prstGeom>
          <a:solidFill>
            <a:schemeClr val="accent5"/>
          </a:solidFill>
          <a:ln/>
        </p:spPr>
      </p:sp>
      <p:sp>
        <p:nvSpPr>
          <p:cNvPr id="5" name="Text 2"/>
          <p:cNvSpPr txBox="1"/>
          <p:nvPr/>
        </p:nvSpPr>
        <p:spPr>
          <a:xfrm>
            <a:off x="548640" y="1417320"/>
            <a:ext cx="1170432" cy="685800"/>
          </a:xfrm>
          <a:prstGeom prst="rect">
            <a:avLst/>
          </a:prstGeom>
          <a:noFill/>
          <a:ln/>
        </p:spPr>
        <p:txBody>
          <a:bodyPr wrap="square" lIns="508" tIns="508" rIns="508" bIns="508" rtlCol="0" anchor="ctr"/>
          <a:lstStyle/>
          <a:p>
            <a:pPr algn="ctr" indent="0" marL="0">
              <a:buNone/>
            </a:pPr>
            <a:r>
              <a:rPr lang="en-US" sz="1400" b="1" dirty="0">
                <a:solidFill>
                  <a:schemeClr val="bg1"/>
                </a:solidFill>
              </a:rPr>
              <a:t>H₂O → OEC</a:t>
            </a:r>
            <a:endParaRPr lang="en-US" sz="1400" dirty="0"/>
          </a:p>
        </p:txBody>
      </p:sp>
      <p:sp>
        <p:nvSpPr>
          <p:cNvPr id="6" name="arrow"/>
          <p:cNvSpPr/>
          <p:nvPr/>
        </p:nvSpPr>
        <p:spPr>
          <a:xfrm>
            <a:off x="1737360" y="1760220"/>
            <a:ext cx="210312" cy="0"/>
          </a:xfrm>
          <a:prstGeom prst="line">
            <a:avLst/>
          </a:prstGeom>
          <a:noFill/>
          <a:ln w="25400">
            <a:solidFill>
              <a:srgbClr val="123D2E"/>
            </a:solidFill>
            <a:prstDash val="solid"/>
            <a:tailEnd type="triangle"/>
          </a:ln>
        </p:spPr>
      </p:sp>
      <p:sp>
        <p:nvSpPr>
          <p:cNvPr id="7" name="diagram box"/>
          <p:cNvSpPr/>
          <p:nvPr/>
        </p:nvSpPr>
        <p:spPr>
          <a:xfrm>
            <a:off x="1965960" y="1417320"/>
            <a:ext cx="1170432" cy="685800"/>
          </a:xfrm>
          <a:prstGeom prst="roundRect">
            <a:avLst>
              <a:gd name="adj" fmla="val 10667"/>
            </a:avLst>
          </a:prstGeom>
          <a:solidFill>
            <a:schemeClr val="accent1"/>
          </a:solidFill>
          <a:ln/>
        </p:spPr>
      </p:sp>
      <p:sp>
        <p:nvSpPr>
          <p:cNvPr id="8" name="Text 5"/>
          <p:cNvSpPr txBox="1"/>
          <p:nvPr/>
        </p:nvSpPr>
        <p:spPr>
          <a:xfrm>
            <a:off x="1965960" y="1417320"/>
            <a:ext cx="1170432" cy="685800"/>
          </a:xfrm>
          <a:prstGeom prst="rect">
            <a:avLst/>
          </a:prstGeom>
          <a:noFill/>
          <a:ln/>
        </p:spPr>
        <p:txBody>
          <a:bodyPr wrap="square" lIns="508" tIns="508" rIns="508" bIns="508" rtlCol="0" anchor="ctr"/>
          <a:lstStyle/>
          <a:p>
            <a:pPr algn="ctr" indent="0" marL="0">
              <a:buNone/>
            </a:pPr>
            <a:r>
              <a:rPr lang="en-US" sz="1400" b="1" dirty="0">
                <a:solidFill>
                  <a:schemeClr val="bg1"/>
                </a:solidFill>
              </a:rPr>
              <a:t>P680</a:t>
            </a:r>
            <a:endParaRPr lang="en-US" sz="1400" dirty="0"/>
          </a:p>
        </p:txBody>
      </p:sp>
      <p:sp>
        <p:nvSpPr>
          <p:cNvPr id="9" name="arrow"/>
          <p:cNvSpPr/>
          <p:nvPr/>
        </p:nvSpPr>
        <p:spPr>
          <a:xfrm>
            <a:off x="3154680" y="1760220"/>
            <a:ext cx="210312" cy="0"/>
          </a:xfrm>
          <a:prstGeom prst="line">
            <a:avLst/>
          </a:prstGeom>
          <a:noFill/>
          <a:ln w="25400">
            <a:solidFill>
              <a:srgbClr val="123D2E"/>
            </a:solidFill>
            <a:prstDash val="solid"/>
            <a:tailEnd type="triangle"/>
          </a:ln>
        </p:spPr>
      </p:sp>
      <p:sp>
        <p:nvSpPr>
          <p:cNvPr id="10" name="diagram box"/>
          <p:cNvSpPr/>
          <p:nvPr/>
        </p:nvSpPr>
        <p:spPr>
          <a:xfrm>
            <a:off x="3383280" y="1417320"/>
            <a:ext cx="1170432" cy="685800"/>
          </a:xfrm>
          <a:prstGeom prst="roundRect">
            <a:avLst>
              <a:gd name="adj" fmla="val 10667"/>
            </a:avLst>
          </a:prstGeom>
          <a:solidFill>
            <a:schemeClr val="accent1"/>
          </a:solidFill>
          <a:ln/>
        </p:spPr>
      </p:sp>
      <p:sp>
        <p:nvSpPr>
          <p:cNvPr id="11" name="Text 8"/>
          <p:cNvSpPr txBox="1"/>
          <p:nvPr/>
        </p:nvSpPr>
        <p:spPr>
          <a:xfrm>
            <a:off x="3383280" y="1417320"/>
            <a:ext cx="1170432" cy="685800"/>
          </a:xfrm>
          <a:prstGeom prst="rect">
            <a:avLst/>
          </a:prstGeom>
          <a:noFill/>
          <a:ln/>
        </p:spPr>
        <p:txBody>
          <a:bodyPr wrap="square" lIns="508" tIns="508" rIns="508" bIns="508" rtlCol="0" anchor="ctr"/>
          <a:lstStyle/>
          <a:p>
            <a:pPr algn="ctr" indent="0" marL="0">
              <a:buNone/>
            </a:pPr>
            <a:r>
              <a:rPr lang="en-US" sz="1400" b="1" dirty="0">
                <a:solidFill>
                  <a:schemeClr val="bg1"/>
                </a:solidFill>
              </a:rPr>
              <a:t>Pheo</a:t>
            </a:r>
            <a:endParaRPr lang="en-US" sz="1400" dirty="0"/>
          </a:p>
        </p:txBody>
      </p:sp>
      <p:sp>
        <p:nvSpPr>
          <p:cNvPr id="12" name="arrow"/>
          <p:cNvSpPr/>
          <p:nvPr/>
        </p:nvSpPr>
        <p:spPr>
          <a:xfrm>
            <a:off x="4572000" y="1760220"/>
            <a:ext cx="210312" cy="0"/>
          </a:xfrm>
          <a:prstGeom prst="line">
            <a:avLst/>
          </a:prstGeom>
          <a:noFill/>
          <a:ln w="25400">
            <a:solidFill>
              <a:srgbClr val="123D2E"/>
            </a:solidFill>
            <a:prstDash val="solid"/>
            <a:tailEnd type="triangle"/>
          </a:ln>
        </p:spPr>
      </p:sp>
      <p:sp>
        <p:nvSpPr>
          <p:cNvPr id="13" name="diagram box"/>
          <p:cNvSpPr/>
          <p:nvPr/>
        </p:nvSpPr>
        <p:spPr>
          <a:xfrm>
            <a:off x="4800600" y="1417320"/>
            <a:ext cx="1170432" cy="685800"/>
          </a:xfrm>
          <a:prstGeom prst="roundRect">
            <a:avLst>
              <a:gd name="adj" fmla="val 10667"/>
            </a:avLst>
          </a:prstGeom>
          <a:solidFill>
            <a:schemeClr val="accent2"/>
          </a:solidFill>
          <a:ln/>
        </p:spPr>
      </p:sp>
      <p:sp>
        <p:nvSpPr>
          <p:cNvPr id="14" name="Text 11"/>
          <p:cNvSpPr txBox="1"/>
          <p:nvPr/>
        </p:nvSpPr>
        <p:spPr>
          <a:xfrm>
            <a:off x="4800600" y="1417320"/>
            <a:ext cx="1170432" cy="685800"/>
          </a:xfrm>
          <a:prstGeom prst="rect">
            <a:avLst/>
          </a:prstGeom>
          <a:noFill/>
          <a:ln/>
        </p:spPr>
        <p:txBody>
          <a:bodyPr wrap="square" lIns="508" tIns="508" rIns="508" bIns="508" rtlCol="0" anchor="ctr"/>
          <a:lstStyle/>
          <a:p>
            <a:pPr algn="ctr" indent="0" marL="0">
              <a:buNone/>
            </a:pPr>
            <a:r>
              <a:rPr lang="en-US" sz="1400" b="1" dirty="0">
                <a:solidFill>
                  <a:schemeClr val="bg1"/>
                </a:solidFill>
              </a:rPr>
              <a:t>Q</a:t>
            </a:r>
            <a:r>
              <a:rPr lang="en-US" sz="1400" b="1" baseline="-40000" dirty="0">
                <a:solidFill>
                  <a:schemeClr val="bg1"/>
                </a:solidFill>
              </a:rPr>
              <a:t>A</a:t>
            </a:r>
            <a:endParaRPr lang="en-US" sz="1400" dirty="0"/>
          </a:p>
        </p:txBody>
      </p:sp>
      <p:sp>
        <p:nvSpPr>
          <p:cNvPr id="15" name="arrow"/>
          <p:cNvSpPr/>
          <p:nvPr/>
        </p:nvSpPr>
        <p:spPr>
          <a:xfrm>
            <a:off x="5989320" y="1760220"/>
            <a:ext cx="210312" cy="0"/>
          </a:xfrm>
          <a:prstGeom prst="line">
            <a:avLst/>
          </a:prstGeom>
          <a:noFill/>
          <a:ln w="25400">
            <a:solidFill>
              <a:srgbClr val="123D2E"/>
            </a:solidFill>
            <a:prstDash val="solid"/>
            <a:tailEnd type="triangle"/>
          </a:ln>
        </p:spPr>
      </p:sp>
      <p:sp>
        <p:nvSpPr>
          <p:cNvPr id="16" name="diagram box"/>
          <p:cNvSpPr/>
          <p:nvPr/>
        </p:nvSpPr>
        <p:spPr>
          <a:xfrm>
            <a:off x="6217920" y="1417320"/>
            <a:ext cx="1170432" cy="685800"/>
          </a:xfrm>
          <a:prstGeom prst="roundRect">
            <a:avLst>
              <a:gd name="adj" fmla="val 10667"/>
            </a:avLst>
          </a:prstGeom>
          <a:solidFill>
            <a:schemeClr val="accent1"/>
          </a:solidFill>
          <a:ln/>
        </p:spPr>
      </p:sp>
      <p:sp>
        <p:nvSpPr>
          <p:cNvPr id="17" name="Text 14"/>
          <p:cNvSpPr txBox="1"/>
          <p:nvPr/>
        </p:nvSpPr>
        <p:spPr>
          <a:xfrm>
            <a:off x="6217920" y="1417320"/>
            <a:ext cx="1170432" cy="685800"/>
          </a:xfrm>
          <a:prstGeom prst="rect">
            <a:avLst/>
          </a:prstGeom>
          <a:noFill/>
          <a:ln/>
        </p:spPr>
        <p:txBody>
          <a:bodyPr wrap="square" lIns="508" tIns="508" rIns="508" bIns="508" rtlCol="0" anchor="ctr"/>
          <a:lstStyle/>
          <a:p>
            <a:pPr algn="ctr" indent="0" marL="0">
              <a:buNone/>
            </a:pPr>
            <a:r>
              <a:rPr lang="en-US" sz="1400" b="1" dirty="0">
                <a:solidFill>
                  <a:schemeClr val="bg1"/>
                </a:solidFill>
              </a:rPr>
              <a:t>Q</a:t>
            </a:r>
            <a:r>
              <a:rPr lang="en-US" sz="1400" b="1" baseline="-40000" dirty="0">
                <a:solidFill>
                  <a:schemeClr val="bg1"/>
                </a:solidFill>
              </a:rPr>
              <a:t>B</a:t>
            </a:r>
            <a:endParaRPr lang="en-US" sz="1400" dirty="0"/>
          </a:p>
        </p:txBody>
      </p:sp>
      <p:sp>
        <p:nvSpPr>
          <p:cNvPr id="18" name="arrow"/>
          <p:cNvSpPr/>
          <p:nvPr/>
        </p:nvSpPr>
        <p:spPr>
          <a:xfrm>
            <a:off x="7406640" y="1760220"/>
            <a:ext cx="210312" cy="0"/>
          </a:xfrm>
          <a:prstGeom prst="line">
            <a:avLst/>
          </a:prstGeom>
          <a:noFill/>
          <a:ln w="25400">
            <a:solidFill>
              <a:srgbClr val="123D2E"/>
            </a:solidFill>
            <a:prstDash val="solid"/>
            <a:tailEnd type="triangle"/>
          </a:ln>
        </p:spPr>
      </p:sp>
      <p:sp>
        <p:nvSpPr>
          <p:cNvPr id="19" name="diagram box"/>
          <p:cNvSpPr/>
          <p:nvPr/>
        </p:nvSpPr>
        <p:spPr>
          <a:xfrm>
            <a:off x="7635240" y="1417320"/>
            <a:ext cx="1170432" cy="685800"/>
          </a:xfrm>
          <a:prstGeom prst="roundRect">
            <a:avLst>
              <a:gd name="adj" fmla="val 10667"/>
            </a:avLst>
          </a:prstGeom>
          <a:solidFill>
            <a:schemeClr val="accent1"/>
          </a:solidFill>
          <a:ln/>
        </p:spPr>
      </p:sp>
      <p:sp>
        <p:nvSpPr>
          <p:cNvPr id="20" name="Text 17"/>
          <p:cNvSpPr txBox="1"/>
          <p:nvPr/>
        </p:nvSpPr>
        <p:spPr>
          <a:xfrm>
            <a:off x="7635240" y="1417320"/>
            <a:ext cx="1170432" cy="685800"/>
          </a:xfrm>
          <a:prstGeom prst="rect">
            <a:avLst/>
          </a:prstGeom>
          <a:noFill/>
          <a:ln/>
        </p:spPr>
        <p:txBody>
          <a:bodyPr wrap="square" lIns="508" tIns="508" rIns="508" bIns="508" rtlCol="0" anchor="ctr"/>
          <a:lstStyle/>
          <a:p>
            <a:pPr algn="ctr" indent="0" marL="0">
              <a:buNone/>
            </a:pPr>
            <a:r>
              <a:rPr lang="en-US" sz="1400" b="1" dirty="0">
                <a:solidFill>
                  <a:schemeClr val="bg1"/>
                </a:solidFill>
              </a:rPr>
              <a:t>PQ pool</a:t>
            </a:r>
            <a:endParaRPr lang="en-US" sz="1400" dirty="0"/>
          </a:p>
        </p:txBody>
      </p:sp>
      <p:sp>
        <p:nvSpPr>
          <p:cNvPr id="21" name="arrow"/>
          <p:cNvSpPr/>
          <p:nvPr/>
        </p:nvSpPr>
        <p:spPr>
          <a:xfrm>
            <a:off x="8823960" y="1760220"/>
            <a:ext cx="210312" cy="0"/>
          </a:xfrm>
          <a:prstGeom prst="line">
            <a:avLst/>
          </a:prstGeom>
          <a:noFill/>
          <a:ln w="25400">
            <a:solidFill>
              <a:srgbClr val="123D2E"/>
            </a:solidFill>
            <a:prstDash val="solid"/>
            <a:tailEnd type="triangle"/>
          </a:ln>
        </p:spPr>
      </p:sp>
      <p:sp>
        <p:nvSpPr>
          <p:cNvPr id="22" name="diagram box"/>
          <p:cNvSpPr/>
          <p:nvPr/>
        </p:nvSpPr>
        <p:spPr>
          <a:xfrm>
            <a:off x="9052560" y="1417320"/>
            <a:ext cx="1170432" cy="685800"/>
          </a:xfrm>
          <a:prstGeom prst="roundRect">
            <a:avLst>
              <a:gd name="adj" fmla="val 10667"/>
            </a:avLst>
          </a:prstGeom>
          <a:solidFill>
            <a:schemeClr val="accent6"/>
          </a:solidFill>
          <a:ln/>
        </p:spPr>
      </p:sp>
      <p:sp>
        <p:nvSpPr>
          <p:cNvPr id="23" name="Text 20"/>
          <p:cNvSpPr txBox="1"/>
          <p:nvPr/>
        </p:nvSpPr>
        <p:spPr>
          <a:xfrm>
            <a:off x="9052560" y="1417320"/>
            <a:ext cx="1170432" cy="685800"/>
          </a:xfrm>
          <a:prstGeom prst="rect">
            <a:avLst/>
          </a:prstGeom>
          <a:noFill/>
          <a:ln/>
        </p:spPr>
        <p:txBody>
          <a:bodyPr wrap="square" lIns="508" tIns="508" rIns="508" bIns="508" rtlCol="0" anchor="ctr"/>
          <a:lstStyle/>
          <a:p>
            <a:pPr algn="ctr" indent="0" marL="0">
              <a:buNone/>
            </a:pPr>
            <a:r>
              <a:rPr lang="en-US" sz="1400" b="1" dirty="0">
                <a:solidFill>
                  <a:schemeClr val="bg1"/>
                </a:solidFill>
              </a:rPr>
              <a:t>Cyt b₆f</a:t>
            </a:r>
            <a:endParaRPr lang="en-US" sz="1400" dirty="0"/>
          </a:p>
        </p:txBody>
      </p:sp>
      <p:sp>
        <p:nvSpPr>
          <p:cNvPr id="24" name="arrow"/>
          <p:cNvSpPr/>
          <p:nvPr/>
        </p:nvSpPr>
        <p:spPr>
          <a:xfrm>
            <a:off x="10241280" y="1760220"/>
            <a:ext cx="210312" cy="0"/>
          </a:xfrm>
          <a:prstGeom prst="line">
            <a:avLst/>
          </a:prstGeom>
          <a:noFill/>
          <a:ln w="25400">
            <a:solidFill>
              <a:srgbClr val="123D2E"/>
            </a:solidFill>
            <a:prstDash val="solid"/>
            <a:tailEnd type="triangle"/>
          </a:ln>
        </p:spPr>
      </p:sp>
      <p:sp>
        <p:nvSpPr>
          <p:cNvPr id="25" name="diagram box"/>
          <p:cNvSpPr/>
          <p:nvPr/>
        </p:nvSpPr>
        <p:spPr>
          <a:xfrm>
            <a:off x="10469880" y="1417320"/>
            <a:ext cx="1170432" cy="685800"/>
          </a:xfrm>
          <a:prstGeom prst="roundRect">
            <a:avLst>
              <a:gd name="adj" fmla="val 10667"/>
            </a:avLst>
          </a:prstGeom>
          <a:solidFill>
            <a:schemeClr val="accent5"/>
          </a:solidFill>
          <a:ln/>
        </p:spPr>
      </p:sp>
      <p:sp>
        <p:nvSpPr>
          <p:cNvPr id="26" name="Text 23"/>
          <p:cNvSpPr txBox="1"/>
          <p:nvPr/>
        </p:nvSpPr>
        <p:spPr>
          <a:xfrm>
            <a:off x="10469880" y="1417320"/>
            <a:ext cx="1170432" cy="685800"/>
          </a:xfrm>
          <a:prstGeom prst="rect">
            <a:avLst/>
          </a:prstGeom>
          <a:noFill/>
          <a:ln/>
        </p:spPr>
        <p:txBody>
          <a:bodyPr wrap="square" lIns="508" tIns="508" rIns="508" bIns="508" rtlCol="0" anchor="ctr"/>
          <a:lstStyle/>
          <a:p>
            <a:pPr algn="ctr" indent="0" marL="0">
              <a:buNone/>
            </a:pPr>
            <a:r>
              <a:rPr lang="en-US" sz="1400" b="1" dirty="0">
                <a:solidFill>
                  <a:schemeClr val="bg1"/>
                </a:solidFill>
              </a:rPr>
              <a:t>PSI → NADPH</a:t>
            </a:r>
            <a:endParaRPr lang="en-US" sz="1400" dirty="0"/>
          </a:p>
        </p:txBody>
      </p:sp>
      <p:sp>
        <p:nvSpPr>
          <p:cNvPr id="27" name="Text 24"/>
          <p:cNvSpPr txBox="1"/>
          <p:nvPr/>
        </p:nvSpPr>
        <p:spPr>
          <a:xfrm>
            <a:off x="548640" y="2148840"/>
            <a:ext cx="2743200" cy="274320"/>
          </a:xfrm>
          <a:prstGeom prst="rect">
            <a:avLst/>
          </a:prstGeom>
          <a:noFill/>
          <a:ln/>
        </p:spPr>
        <p:txBody>
          <a:bodyPr wrap="square" lIns="0" tIns="0" rIns="0" bIns="0" rtlCol="0" anchor="ctr"/>
          <a:lstStyle/>
          <a:p>
            <a:pPr algn="l" indent="0" marL="0">
              <a:buNone/>
            </a:pPr>
            <a:r>
              <a:rPr lang="en-US" sz="1200" i="1" dirty="0">
                <a:solidFill>
                  <a:schemeClr val="accent6"/>
                </a:solidFill>
              </a:rPr>
              <a:t>e⁻ flow →</a:t>
            </a:r>
            <a:endParaRPr lang="en-US" sz="1200" dirty="0"/>
          </a:p>
        </p:txBody>
      </p:sp>
      <p:sp>
        <p:nvSpPr>
          <p:cNvPr id="28" name="Text 25"/>
          <p:cNvSpPr txBox="1"/>
          <p:nvPr/>
        </p:nvSpPr>
        <p:spPr>
          <a:xfrm>
            <a:off x="4251960" y="2148840"/>
            <a:ext cx="2377440" cy="274320"/>
          </a:xfrm>
          <a:prstGeom prst="rect">
            <a:avLst/>
          </a:prstGeom>
          <a:noFill/>
          <a:ln/>
        </p:spPr>
        <p:txBody>
          <a:bodyPr wrap="square" lIns="0" tIns="0" rIns="0" bIns="0" rtlCol="0" anchor="ctr"/>
          <a:lstStyle/>
          <a:p>
            <a:pPr algn="ctr" indent="0" marL="0">
              <a:buNone/>
            </a:pPr>
            <a:r>
              <a:rPr lang="en-US" sz="1200" b="1" dirty="0">
                <a:solidFill>
                  <a:schemeClr val="accent2"/>
                </a:solidFill>
              </a:rPr>
              <a:t>Q</a:t>
            </a:r>
            <a:r>
              <a:rPr lang="en-US" sz="1200" b="1" baseline="-40000" dirty="0">
                <a:solidFill>
                  <a:schemeClr val="accent2"/>
                </a:solidFill>
              </a:rPr>
              <a:t>A</a:t>
            </a:r>
            <a:r>
              <a:rPr lang="en-US" sz="1200" b="1" dirty="0">
                <a:solidFill>
                  <a:schemeClr val="accent2"/>
                </a:solidFill>
              </a:rPr>
              <a:t> accepts only ONE electron at a time</a:t>
            </a:r>
            <a:endParaRPr lang="en-US" sz="1200" dirty="0"/>
          </a:p>
        </p:txBody>
      </p:sp>
      <p:sp>
        <p:nvSpPr>
          <p:cNvPr id="29" name="card"/>
          <p:cNvSpPr/>
          <p:nvPr/>
        </p:nvSpPr>
        <p:spPr>
          <a:xfrm>
            <a:off x="548640" y="2606040"/>
            <a:ext cx="5440680" cy="2423160"/>
          </a:xfrm>
          <a:prstGeom prst="roundRect">
            <a:avLst>
              <a:gd name="adj" fmla="val 3019"/>
            </a:avLst>
          </a:prstGeom>
          <a:solidFill>
            <a:schemeClr val="bg2"/>
          </a:solidFill>
          <a:ln/>
          <a:effectLst>
            <a:outerShdw sx="100000" sy="100000" kx="0" ky="0" algn="bl" rotWithShape="0" blurRad="76200" dist="25400" dir="5400000">
              <a:srgbClr val="000000">
                <a:alpha val="14000"/>
              </a:srgbClr>
            </a:outerShdw>
          </a:effectLst>
        </p:spPr>
      </p:sp>
      <p:sp>
        <p:nvSpPr>
          <p:cNvPr id="30" name="reaction centre"/>
          <p:cNvSpPr/>
          <p:nvPr/>
        </p:nvSpPr>
        <p:spPr>
          <a:xfrm>
            <a:off x="777240" y="2788920"/>
            <a:ext cx="914400" cy="914400"/>
          </a:xfrm>
          <a:prstGeom prst="ellipse">
            <a:avLst/>
          </a:prstGeom>
          <a:solidFill>
            <a:schemeClr val="accent1"/>
          </a:solidFill>
          <a:ln/>
        </p:spPr>
      </p:sp>
      <p:sp>
        <p:nvSpPr>
          <p:cNvPr id="31" name="Text 28"/>
          <p:cNvSpPr txBox="1"/>
          <p:nvPr/>
        </p:nvSpPr>
        <p:spPr>
          <a:xfrm>
            <a:off x="777240" y="2788920"/>
            <a:ext cx="914400" cy="914400"/>
          </a:xfrm>
          <a:prstGeom prst="rect">
            <a:avLst/>
          </a:prstGeom>
          <a:noFill/>
          <a:ln/>
        </p:spPr>
        <p:txBody>
          <a:bodyPr wrap="square" lIns="0" tIns="0" rIns="0" bIns="0" rtlCol="0" anchor="ctr"/>
          <a:lstStyle/>
          <a:p>
            <a:pPr algn="ctr" indent="0" marL="0">
              <a:buNone/>
            </a:pPr>
            <a:r>
              <a:rPr lang="en-US" sz="1800" b="1" dirty="0">
                <a:solidFill>
                  <a:schemeClr val="bg1"/>
                </a:solidFill>
              </a:rPr>
              <a:t>Q</a:t>
            </a:r>
            <a:r>
              <a:rPr lang="en-US" sz="1800" b="1" baseline="-40000" dirty="0">
                <a:solidFill>
                  <a:schemeClr val="bg1"/>
                </a:solidFill>
              </a:rPr>
              <a:t>A</a:t>
            </a:r>
            <a:endParaRPr lang="en-US" sz="1800" dirty="0"/>
          </a:p>
        </p:txBody>
      </p:sp>
      <p:sp>
        <p:nvSpPr>
          <p:cNvPr id="32" name="Text 29"/>
          <p:cNvSpPr txBox="1"/>
          <p:nvPr/>
        </p:nvSpPr>
        <p:spPr>
          <a:xfrm>
            <a:off x="1874520" y="2788920"/>
            <a:ext cx="3931920" cy="384048"/>
          </a:xfrm>
          <a:prstGeom prst="rect">
            <a:avLst/>
          </a:prstGeom>
          <a:noFill/>
          <a:ln/>
        </p:spPr>
        <p:txBody>
          <a:bodyPr wrap="square" lIns="0" tIns="0" rIns="0" bIns="0" rtlCol="0" anchor="ctr"/>
          <a:lstStyle/>
          <a:p>
            <a:pPr algn="l" indent="0" marL="0">
              <a:buNone/>
            </a:pPr>
            <a:r>
              <a:rPr lang="en-US" sz="1800" b="1" dirty="0">
                <a:solidFill>
                  <a:schemeClr val="accent1"/>
                </a:solidFill>
              </a:rPr>
              <a:t>OPEN centre</a:t>
            </a:r>
            <a:endParaRPr lang="en-US" sz="1800" dirty="0"/>
          </a:p>
        </p:txBody>
      </p:sp>
      <p:sp>
        <p:nvSpPr>
          <p:cNvPr id="33" name="Text 30"/>
          <p:cNvSpPr txBox="1"/>
          <p:nvPr/>
        </p:nvSpPr>
        <p:spPr>
          <a:xfrm>
            <a:off x="1874520" y="3172968"/>
            <a:ext cx="3931920" cy="502920"/>
          </a:xfrm>
          <a:prstGeom prst="rect">
            <a:avLst/>
          </a:prstGeom>
          <a:noFill/>
          <a:ln/>
        </p:spPr>
        <p:txBody>
          <a:bodyPr wrap="square" lIns="0" tIns="0" rIns="0" bIns="0" rtlCol="0" anchor="t"/>
          <a:lstStyle/>
          <a:p>
            <a:pPr algn="l" indent="0" marL="0">
              <a:buNone/>
            </a:pPr>
            <a:r>
              <a:rPr lang="en-US" sz="1300" dirty="0">
                <a:solidFill>
                  <a:schemeClr val="tx1"/>
                </a:solidFill>
              </a:rPr>
              <a:t>Q</a:t>
            </a:r>
            <a:r>
              <a:rPr lang="en-US" sz="1300" baseline="-40000" dirty="0">
                <a:solidFill>
                  <a:schemeClr val="tx1"/>
                </a:solidFill>
              </a:rPr>
              <a:t>A</a:t>
            </a:r>
            <a:r>
              <a:rPr lang="en-US" sz="1300" dirty="0">
                <a:solidFill>
                  <a:schemeClr val="tx1"/>
                </a:solidFill>
              </a:rPr>
              <a:t> oxidised — ready to accept an electron</a:t>
            </a:r>
            <a:endParaRPr lang="en-US" sz="1300" dirty="0"/>
          </a:p>
        </p:txBody>
      </p:sp>
      <p:sp>
        <p:nvSpPr>
          <p:cNvPr id="34" name="Text 31"/>
          <p:cNvSpPr txBox="1"/>
          <p:nvPr/>
        </p:nvSpPr>
        <p:spPr>
          <a:xfrm>
            <a:off x="822960" y="3840480"/>
            <a:ext cx="4937760" cy="1143000"/>
          </a:xfrm>
          <a:prstGeom prst="rect">
            <a:avLst/>
          </a:prstGeom>
          <a:noFill/>
          <a:ln/>
        </p:spPr>
        <p:txBody>
          <a:bodyPr wrap="square" lIns="508" tIns="508" rIns="508" bIns="508" rtlCol="0" anchor="t"/>
          <a:lstStyle/>
          <a:p>
            <a:pPr marL="177800" indent="-177800">
              <a:spcAft>
                <a:spcPts val="300"/>
              </a:spcAft>
              <a:buSzPct val="100000"/>
              <a:buChar char="•"/>
            </a:pPr>
            <a:r>
              <a:rPr lang="en-US" sz="1400" dirty="0">
                <a:solidFill>
                  <a:schemeClr val="tx1"/>
                </a:solidFill>
              </a:rPr>
              <a:t>Photochemistry possible</a:t>
            </a:r>
            <a:endParaRPr lang="en-US" sz="1400" dirty="0"/>
          </a:p>
          <a:p>
            <a:pPr marL="177800" indent="-177800">
              <a:spcAft>
                <a:spcPts val="300"/>
              </a:spcAft>
              <a:buSzPct val="100000"/>
              <a:buChar char="•"/>
            </a:pPr>
            <a:r>
              <a:rPr lang="en-US" sz="1400" dirty="0">
                <a:solidFill>
                  <a:schemeClr val="tx1"/>
                </a:solidFill>
              </a:rPr>
              <a:t>Fluorescence </a:t>
            </a:r>
            <a:r>
              <a:rPr lang="en-US" sz="1400" b="1" dirty="0">
                <a:solidFill>
                  <a:schemeClr val="tx1"/>
                </a:solidFill>
              </a:rPr>
              <a:t>low</a:t>
            </a:r>
            <a:r>
              <a:rPr lang="en-US" sz="1400" dirty="0">
                <a:solidFill>
                  <a:schemeClr val="tx1"/>
                </a:solidFill>
              </a:rPr>
              <a:t> (e.g. F</a:t>
            </a:r>
            <a:r>
              <a:rPr lang="en-US" sz="1400" baseline="-40000" dirty="0">
                <a:solidFill>
                  <a:schemeClr val="tx1"/>
                </a:solidFill>
              </a:rPr>
              <a:t>o</a:t>
            </a:r>
            <a:r>
              <a:rPr lang="en-US" sz="1400" dirty="0">
                <a:solidFill>
                  <a:schemeClr val="tx1"/>
                </a:solidFill>
              </a:rPr>
              <a:t> in the dark)</a:t>
            </a:r>
            <a:endParaRPr lang="en-US" sz="1400" dirty="0"/>
          </a:p>
          <a:p>
            <a:pPr marL="177800" indent="-177800">
              <a:spcAft>
                <a:spcPts val="300"/>
              </a:spcAft>
              <a:buSzPct val="100000"/>
              <a:buChar char="•"/>
            </a:pPr>
            <a:r>
              <a:rPr lang="en-US" sz="1400" dirty="0">
                <a:solidFill>
                  <a:schemeClr val="tx1"/>
                </a:solidFill>
              </a:rPr>
              <a:t>Excitation energy is used</a:t>
            </a:r>
            <a:endParaRPr lang="en-US" sz="1400" dirty="0"/>
          </a:p>
        </p:txBody>
      </p:sp>
      <p:sp>
        <p:nvSpPr>
          <p:cNvPr id="35" name="card"/>
          <p:cNvSpPr/>
          <p:nvPr/>
        </p:nvSpPr>
        <p:spPr>
          <a:xfrm>
            <a:off x="6199632" y="2606040"/>
            <a:ext cx="5440680" cy="2423160"/>
          </a:xfrm>
          <a:prstGeom prst="roundRect">
            <a:avLst>
              <a:gd name="adj" fmla="val 3019"/>
            </a:avLst>
          </a:prstGeom>
          <a:solidFill>
            <a:schemeClr val="bg2"/>
          </a:solidFill>
          <a:ln/>
          <a:effectLst>
            <a:outerShdw sx="100000" sy="100000" kx="0" ky="0" algn="bl" rotWithShape="0" blurRad="76200" dist="25400" dir="5400000">
              <a:srgbClr val="000000">
                <a:alpha val="14000"/>
              </a:srgbClr>
            </a:outerShdw>
          </a:effectLst>
        </p:spPr>
      </p:sp>
      <p:sp>
        <p:nvSpPr>
          <p:cNvPr id="36" name="reaction centre"/>
          <p:cNvSpPr/>
          <p:nvPr/>
        </p:nvSpPr>
        <p:spPr>
          <a:xfrm>
            <a:off x="6428232" y="2788920"/>
            <a:ext cx="914400" cy="914400"/>
          </a:xfrm>
          <a:prstGeom prst="ellipse">
            <a:avLst/>
          </a:prstGeom>
          <a:solidFill>
            <a:schemeClr val="accent2"/>
          </a:solidFill>
          <a:ln/>
        </p:spPr>
      </p:sp>
      <p:sp>
        <p:nvSpPr>
          <p:cNvPr id="37" name="Text 34"/>
          <p:cNvSpPr txBox="1"/>
          <p:nvPr/>
        </p:nvSpPr>
        <p:spPr>
          <a:xfrm>
            <a:off x="6428232" y="2788920"/>
            <a:ext cx="914400" cy="914400"/>
          </a:xfrm>
          <a:prstGeom prst="rect">
            <a:avLst/>
          </a:prstGeom>
          <a:noFill/>
          <a:ln/>
        </p:spPr>
        <p:txBody>
          <a:bodyPr wrap="square" lIns="0" tIns="0" rIns="0" bIns="0" rtlCol="0" anchor="ctr"/>
          <a:lstStyle/>
          <a:p>
            <a:pPr algn="ctr" indent="0" marL="0">
              <a:buNone/>
            </a:pPr>
            <a:r>
              <a:rPr lang="en-US" sz="1800" b="1" dirty="0">
                <a:solidFill>
                  <a:schemeClr val="bg1"/>
                </a:solidFill>
              </a:rPr>
              <a:t>Q</a:t>
            </a:r>
            <a:r>
              <a:rPr lang="en-US" sz="1800" b="1" baseline="-40000" dirty="0">
                <a:solidFill>
                  <a:schemeClr val="bg1"/>
                </a:solidFill>
              </a:rPr>
              <a:t>A</a:t>
            </a:r>
            <a:r>
              <a:rPr lang="en-US" sz="1800" b="1" dirty="0">
                <a:solidFill>
                  <a:schemeClr val="bg1"/>
                </a:solidFill>
              </a:rPr>
              <a:t>⁻</a:t>
            </a:r>
            <a:endParaRPr lang="en-US" sz="1800" dirty="0"/>
          </a:p>
        </p:txBody>
      </p:sp>
      <p:sp>
        <p:nvSpPr>
          <p:cNvPr id="38" name="Text 35"/>
          <p:cNvSpPr txBox="1"/>
          <p:nvPr/>
        </p:nvSpPr>
        <p:spPr>
          <a:xfrm>
            <a:off x="7525512" y="2788920"/>
            <a:ext cx="3931920" cy="384048"/>
          </a:xfrm>
          <a:prstGeom prst="rect">
            <a:avLst/>
          </a:prstGeom>
          <a:noFill/>
          <a:ln/>
        </p:spPr>
        <p:txBody>
          <a:bodyPr wrap="square" lIns="0" tIns="0" rIns="0" bIns="0" rtlCol="0" anchor="ctr"/>
          <a:lstStyle/>
          <a:p>
            <a:pPr algn="l" indent="0" marL="0">
              <a:buNone/>
            </a:pPr>
            <a:r>
              <a:rPr lang="en-US" sz="1800" b="1" dirty="0">
                <a:solidFill>
                  <a:schemeClr val="accent2"/>
                </a:solidFill>
              </a:rPr>
              <a:t>CLOSED centre</a:t>
            </a:r>
            <a:endParaRPr lang="en-US" sz="1800" dirty="0"/>
          </a:p>
        </p:txBody>
      </p:sp>
      <p:sp>
        <p:nvSpPr>
          <p:cNvPr id="39" name="Text 36"/>
          <p:cNvSpPr txBox="1"/>
          <p:nvPr/>
        </p:nvSpPr>
        <p:spPr>
          <a:xfrm>
            <a:off x="7525512" y="3172968"/>
            <a:ext cx="3931920" cy="502920"/>
          </a:xfrm>
          <a:prstGeom prst="rect">
            <a:avLst/>
          </a:prstGeom>
          <a:noFill/>
          <a:ln/>
        </p:spPr>
        <p:txBody>
          <a:bodyPr wrap="square" lIns="0" tIns="0" rIns="0" bIns="0" rtlCol="0" anchor="t"/>
          <a:lstStyle/>
          <a:p>
            <a:pPr algn="l" indent="0" marL="0">
              <a:buNone/>
            </a:pPr>
            <a:r>
              <a:rPr lang="en-US" sz="1300" dirty="0">
                <a:solidFill>
                  <a:schemeClr val="tx1"/>
                </a:solidFill>
              </a:rPr>
              <a:t>Q</a:t>
            </a:r>
            <a:r>
              <a:rPr lang="en-US" sz="1300" baseline="-40000" dirty="0">
                <a:solidFill>
                  <a:schemeClr val="tx1"/>
                </a:solidFill>
              </a:rPr>
              <a:t>A</a:t>
            </a:r>
            <a:r>
              <a:rPr lang="en-US" sz="1300" dirty="0">
                <a:solidFill>
                  <a:schemeClr val="tx1"/>
                </a:solidFill>
              </a:rPr>
              <a:t>⁻ reduced — waiting to pass its electron to Q</a:t>
            </a:r>
            <a:r>
              <a:rPr lang="en-US" sz="1300" baseline="-40000" dirty="0">
                <a:solidFill>
                  <a:schemeClr val="tx1"/>
                </a:solidFill>
              </a:rPr>
              <a:t>B</a:t>
            </a:r>
            <a:endParaRPr lang="en-US" sz="1300" dirty="0"/>
          </a:p>
        </p:txBody>
      </p:sp>
      <p:sp>
        <p:nvSpPr>
          <p:cNvPr id="40" name="Text 37"/>
          <p:cNvSpPr txBox="1"/>
          <p:nvPr/>
        </p:nvSpPr>
        <p:spPr>
          <a:xfrm>
            <a:off x="6473952" y="3840480"/>
            <a:ext cx="4937760" cy="1143000"/>
          </a:xfrm>
          <a:prstGeom prst="rect">
            <a:avLst/>
          </a:prstGeom>
          <a:noFill/>
          <a:ln/>
        </p:spPr>
        <p:txBody>
          <a:bodyPr wrap="square" lIns="508" tIns="508" rIns="508" bIns="508" rtlCol="0" anchor="t"/>
          <a:lstStyle/>
          <a:p>
            <a:pPr marL="177800" indent="-177800">
              <a:spcAft>
                <a:spcPts val="300"/>
              </a:spcAft>
              <a:buSzPct val="100000"/>
              <a:buChar char="•"/>
            </a:pPr>
            <a:r>
              <a:rPr lang="en-US" sz="1400" dirty="0">
                <a:solidFill>
                  <a:schemeClr val="tx1"/>
                </a:solidFill>
              </a:rPr>
              <a:t>No photochemistry until Q</a:t>
            </a:r>
            <a:r>
              <a:rPr lang="en-US" sz="1400" baseline="-40000" dirty="0">
                <a:solidFill>
                  <a:schemeClr val="tx1"/>
                </a:solidFill>
              </a:rPr>
              <a:t>A</a:t>
            </a:r>
            <a:r>
              <a:rPr lang="en-US" sz="1400" dirty="0">
                <a:solidFill>
                  <a:schemeClr val="tx1"/>
                </a:solidFill>
              </a:rPr>
              <a:t> re-oxidises</a:t>
            </a:r>
            <a:endParaRPr lang="en-US" sz="1400" dirty="0"/>
          </a:p>
          <a:p>
            <a:pPr marL="177800" indent="-177800">
              <a:spcAft>
                <a:spcPts val="300"/>
              </a:spcAft>
              <a:buSzPct val="100000"/>
              <a:buChar char="•"/>
            </a:pPr>
            <a:r>
              <a:rPr lang="en-US" sz="1400" dirty="0">
                <a:solidFill>
                  <a:schemeClr val="tx1"/>
                </a:solidFill>
              </a:rPr>
              <a:t>Fluorescence </a:t>
            </a:r>
            <a:r>
              <a:rPr lang="en-US" sz="1400" b="1" dirty="0">
                <a:solidFill>
                  <a:schemeClr val="tx1"/>
                </a:solidFill>
              </a:rPr>
              <a:t>high</a:t>
            </a:r>
            <a:r>
              <a:rPr lang="en-US" sz="1400" dirty="0">
                <a:solidFill>
                  <a:schemeClr val="tx1"/>
                </a:solidFill>
              </a:rPr>
              <a:t> (e.g. F</a:t>
            </a:r>
            <a:r>
              <a:rPr lang="en-US" sz="1400" baseline="-40000" dirty="0">
                <a:solidFill>
                  <a:schemeClr val="tx1"/>
                </a:solidFill>
              </a:rPr>
              <a:t>m</a:t>
            </a:r>
            <a:r>
              <a:rPr lang="en-US" sz="1400" dirty="0">
                <a:solidFill>
                  <a:schemeClr val="tx1"/>
                </a:solidFill>
              </a:rPr>
              <a:t> in a pulse)</a:t>
            </a:r>
            <a:endParaRPr lang="en-US" sz="1400" dirty="0"/>
          </a:p>
          <a:p>
            <a:pPr marL="177800" indent="-177800">
              <a:spcAft>
                <a:spcPts val="300"/>
              </a:spcAft>
              <a:buSzPct val="100000"/>
              <a:buChar char="•"/>
            </a:pPr>
            <a:r>
              <a:rPr lang="en-US" sz="1400" dirty="0">
                <a:solidFill>
                  <a:schemeClr val="tx1"/>
                </a:solidFill>
              </a:rPr>
              <a:t>Quantum efficiency of PSII declines</a:t>
            </a:r>
            <a:endParaRPr lang="en-US" sz="1400" dirty="0"/>
          </a:p>
        </p:txBody>
      </p:sp>
      <p:sp>
        <p:nvSpPr>
          <p:cNvPr id="41" name="insight"/>
          <p:cNvSpPr/>
          <p:nvPr/>
        </p:nvSpPr>
        <p:spPr>
          <a:xfrm>
            <a:off x="548640" y="5212080"/>
            <a:ext cx="11091672" cy="960120"/>
          </a:xfrm>
          <a:prstGeom prst="roundRect">
            <a:avLst>
              <a:gd name="adj" fmla="val 7619"/>
            </a:avLst>
          </a:prstGeom>
          <a:solidFill>
            <a:schemeClr val="bg2"/>
          </a:solidFill>
          <a:ln/>
        </p:spPr>
      </p:sp>
      <p:sp>
        <p:nvSpPr>
          <p:cNvPr id="42" name="icon circle"/>
          <p:cNvSpPr/>
          <p:nvPr/>
        </p:nvSpPr>
        <p:spPr>
          <a:xfrm>
            <a:off x="685800" y="5440680"/>
            <a:ext cx="493776" cy="493776"/>
          </a:xfrm>
          <a:prstGeom prst="ellipse">
            <a:avLst/>
          </a:prstGeom>
          <a:solidFill>
            <a:schemeClr val="accent3"/>
          </a:solidFill>
          <a:ln/>
        </p:spPr>
      </p:sp>
      <p:pic>
        <p:nvPicPr>
          <p:cNvPr id="43" name="Image 0" descr="Lightbulb icon">    </p:cNvPr>
          <p:cNvPicPr>
            <a:picLocks noChangeAspect="1"/>
          </p:cNvPicPr>
          <p:nvPr/>
        </p:nvPicPr>
        <p:blipFill>
          <a:blip r:embed="rId1"/>
          <a:stretch>
            <a:fillRect/>
          </a:stretch>
        </p:blipFill>
        <p:spPr>
          <a:xfrm>
            <a:off x="814182" y="5569062"/>
            <a:ext cx="237012" cy="237012"/>
          </a:xfrm>
          <a:prstGeom prst="rect">
            <a:avLst/>
          </a:prstGeom>
        </p:spPr>
      </p:pic>
      <p:sp>
        <p:nvSpPr>
          <p:cNvPr id="44" name="Text 40"/>
          <p:cNvSpPr txBox="1"/>
          <p:nvPr/>
        </p:nvSpPr>
        <p:spPr>
          <a:xfrm>
            <a:off x="1325880" y="5257800"/>
            <a:ext cx="10149840" cy="868680"/>
          </a:xfrm>
          <a:prstGeom prst="rect">
            <a:avLst/>
          </a:prstGeom>
          <a:noFill/>
          <a:ln/>
        </p:spPr>
        <p:txBody>
          <a:bodyPr wrap="square" lIns="508" tIns="508" rIns="508" bIns="508" rtlCol="0" anchor="ctr"/>
          <a:lstStyle/>
          <a:p>
            <a:pPr indent="0" marL="0">
              <a:spcAft>
                <a:spcPts val="600"/>
              </a:spcAft>
              <a:buNone/>
            </a:pPr>
            <a:r>
              <a:rPr lang="en-US" sz="1400" dirty="0">
                <a:solidFill>
                  <a:schemeClr val="tx1"/>
                </a:solidFill>
              </a:rPr>
              <a:t>Light intensity and temperature (via metabolic state) set how many centres are closed at any moment. </a:t>
            </a:r>
            <a:r>
              <a:rPr lang="en-US" sz="1400" b="1" dirty="0">
                <a:solidFill>
                  <a:schemeClr val="tx1"/>
                </a:solidFill>
              </a:rPr>
              <a:t>More closure → lower PSII quantum efficiency → higher fluorescence (unless NPQ rises too).</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Paper Figure 1: events in PSII behind the parameters</a:t>
            </a:r>
            <a:endParaRPr lang="en-US" sz="3200" dirty="0"/>
          </a:p>
        </p:txBody>
      </p:sp>
      <p:sp>
        <p:nvSpPr>
          <p:cNvPr id="4" name="figure frame"/>
          <p:cNvSpPr/>
          <p:nvPr/>
        </p:nvSpPr>
        <p:spPr>
          <a:xfrm>
            <a:off x="548640" y="1325880"/>
            <a:ext cx="6949440" cy="4434840"/>
          </a:xfrm>
          <a:prstGeom prst="roundRect">
            <a:avLst>
              <a:gd name="adj" fmla="val 1237"/>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Murchie &amp; Lawson (2013), Fig. 1 — (A) PSII electron transport, (B) Fo and Fm in a dark-adapted leaf, (C) open → closed centre">    </p:cNvPr>
          <p:cNvPicPr>
            <a:picLocks noChangeAspect="1"/>
          </p:cNvPicPr>
          <p:nvPr/>
        </p:nvPicPr>
        <p:blipFill>
          <a:blip r:embed="rId1"/>
          <a:stretch>
            <a:fillRect/>
          </a:stretch>
        </p:blipFill>
        <p:spPr>
          <a:xfrm>
            <a:off x="815366" y="1417320"/>
            <a:ext cx="6415989" cy="4251960"/>
          </a:xfrm>
          <a:prstGeom prst="rect">
            <a:avLst/>
          </a:prstGeom>
        </p:spPr>
      </p:pic>
      <p:sp>
        <p:nvSpPr>
          <p:cNvPr id="6" name="Text 2"/>
          <p:cNvSpPr txBox="1"/>
          <p:nvPr/>
        </p:nvSpPr>
        <p:spPr>
          <a:xfrm>
            <a:off x="548640" y="5806440"/>
            <a:ext cx="6949440" cy="365760"/>
          </a:xfrm>
          <a:prstGeom prst="rect">
            <a:avLst/>
          </a:prstGeom>
          <a:noFill/>
          <a:ln/>
        </p:spPr>
        <p:txBody>
          <a:bodyPr wrap="square" lIns="0" tIns="0" rIns="0" bIns="0" rtlCol="0" anchor="t"/>
          <a:lstStyle/>
          <a:p>
            <a:pPr indent="0" marL="0">
              <a:buNone/>
            </a:pPr>
            <a:r>
              <a:rPr lang="en-US" sz="1100" i="1" dirty="0">
                <a:solidFill>
                  <a:schemeClr val="accent6"/>
                </a:solidFill>
              </a:rPr>
              <a:t>Murchie &amp; Lawson (2013), Fig. 1 — (A) PSII electron transport, (B) Fo and Fm in a dark-adapted leaf, (C) open → closed centre</a:t>
            </a:r>
            <a:endParaRPr lang="en-US" sz="1100" dirty="0"/>
          </a:p>
        </p:txBody>
      </p:sp>
      <p:sp>
        <p:nvSpPr>
          <p:cNvPr id="7" name="card"/>
          <p:cNvSpPr/>
          <p:nvPr/>
        </p:nvSpPr>
        <p:spPr>
          <a:xfrm>
            <a:off x="7726680" y="1325880"/>
            <a:ext cx="3913632" cy="1463040"/>
          </a:xfrm>
          <a:prstGeom prst="roundRect">
            <a:avLst>
              <a:gd name="adj" fmla="val 5000"/>
            </a:avLst>
          </a:prstGeom>
          <a:solidFill>
            <a:schemeClr val="bg2"/>
          </a:solidFill>
          <a:ln/>
          <a:effectLst>
            <a:outerShdw sx="100000" sy="100000" kx="0" ky="0" algn="bl" rotWithShape="0" blurRad="76200" dist="25400" dir="5400000">
              <a:srgbClr val="000000">
                <a:alpha val="14000"/>
              </a:srgbClr>
            </a:outerShdw>
          </a:effectLst>
        </p:spPr>
      </p:sp>
      <p:sp>
        <p:nvSpPr>
          <p:cNvPr id="8" name="panel marker"/>
          <p:cNvSpPr/>
          <p:nvPr/>
        </p:nvSpPr>
        <p:spPr>
          <a:xfrm>
            <a:off x="7863840" y="1490472"/>
            <a:ext cx="457200" cy="457200"/>
          </a:xfrm>
          <a:prstGeom prst="ellipse">
            <a:avLst/>
          </a:prstGeom>
          <a:solidFill>
            <a:schemeClr val="tx2"/>
          </a:solidFill>
          <a:ln/>
        </p:spPr>
      </p:sp>
      <p:sp>
        <p:nvSpPr>
          <p:cNvPr id="9" name="Text 5"/>
          <p:cNvSpPr txBox="1"/>
          <p:nvPr/>
        </p:nvSpPr>
        <p:spPr>
          <a:xfrm>
            <a:off x="7863840" y="149047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10" name="Text 6"/>
          <p:cNvSpPr txBox="1"/>
          <p:nvPr/>
        </p:nvSpPr>
        <p:spPr>
          <a:xfrm>
            <a:off x="8458200" y="1435608"/>
            <a:ext cx="3063240" cy="1280160"/>
          </a:xfrm>
          <a:prstGeom prst="rect">
            <a:avLst/>
          </a:prstGeom>
          <a:noFill/>
          <a:ln/>
        </p:spPr>
        <p:txBody>
          <a:bodyPr wrap="square" lIns="0" tIns="0" rIns="0" bIns="0" rtlCol="0" anchor="t"/>
          <a:lstStyle/>
          <a:p>
            <a:pPr indent="0" marL="0">
              <a:buNone/>
            </a:pPr>
            <a:r>
              <a:rPr lang="en-US" sz="1300" dirty="0">
                <a:solidFill>
                  <a:schemeClr val="tx1"/>
                </a:solidFill>
              </a:rPr>
              <a:t>Excitation energy in LHCII goes to photochemistry, heat (NPQ) or fluorescence. Electrons: H₂O → OEC → P680 → Pheo → Q</a:t>
            </a:r>
            <a:r>
              <a:rPr lang="en-US" sz="1300" baseline="-40000" dirty="0">
                <a:solidFill>
                  <a:schemeClr val="tx1"/>
                </a:solidFill>
              </a:rPr>
              <a:t>A</a:t>
            </a:r>
            <a:r>
              <a:rPr lang="en-US" sz="1300" dirty="0">
                <a:solidFill>
                  <a:schemeClr val="tx1"/>
                </a:solidFill>
              </a:rPr>
              <a:t> → Q</a:t>
            </a:r>
            <a:r>
              <a:rPr lang="en-US" sz="1300" baseline="-40000" dirty="0">
                <a:solidFill>
                  <a:schemeClr val="tx1"/>
                </a:solidFill>
              </a:rPr>
              <a:t>B</a:t>
            </a:r>
            <a:r>
              <a:rPr lang="en-US" sz="1300" dirty="0">
                <a:solidFill>
                  <a:schemeClr val="tx1"/>
                </a:solidFill>
              </a:rPr>
              <a:t> → PQ.</a:t>
            </a:r>
            <a:endParaRPr lang="en-US" sz="1300" dirty="0"/>
          </a:p>
        </p:txBody>
      </p:sp>
      <p:sp>
        <p:nvSpPr>
          <p:cNvPr id="11" name="card"/>
          <p:cNvSpPr/>
          <p:nvPr/>
        </p:nvSpPr>
        <p:spPr>
          <a:xfrm>
            <a:off x="7726680" y="2926080"/>
            <a:ext cx="3913632" cy="1463040"/>
          </a:xfrm>
          <a:prstGeom prst="roundRect">
            <a:avLst>
              <a:gd name="adj" fmla="val 5000"/>
            </a:avLst>
          </a:prstGeom>
          <a:solidFill>
            <a:schemeClr val="bg2"/>
          </a:solidFill>
          <a:ln/>
          <a:effectLst>
            <a:outerShdw sx="100000" sy="100000" kx="0" ky="0" algn="bl" rotWithShape="0" blurRad="76200" dist="25400" dir="5400000">
              <a:srgbClr val="000000">
                <a:alpha val="14000"/>
              </a:srgbClr>
            </a:outerShdw>
          </a:effectLst>
        </p:spPr>
      </p:sp>
      <p:sp>
        <p:nvSpPr>
          <p:cNvPr id="12" name="panel marker"/>
          <p:cNvSpPr/>
          <p:nvPr/>
        </p:nvSpPr>
        <p:spPr>
          <a:xfrm>
            <a:off x="7863840" y="3090672"/>
            <a:ext cx="457200" cy="457200"/>
          </a:xfrm>
          <a:prstGeom prst="ellipse">
            <a:avLst/>
          </a:prstGeom>
          <a:solidFill>
            <a:schemeClr val="tx2"/>
          </a:solidFill>
          <a:ln/>
        </p:spPr>
      </p:sp>
      <p:sp>
        <p:nvSpPr>
          <p:cNvPr id="13" name="Text 9"/>
          <p:cNvSpPr txBox="1"/>
          <p:nvPr/>
        </p:nvSpPr>
        <p:spPr>
          <a:xfrm>
            <a:off x="7863840" y="309067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4" name="Text 10"/>
          <p:cNvSpPr txBox="1"/>
          <p:nvPr/>
        </p:nvSpPr>
        <p:spPr>
          <a:xfrm>
            <a:off x="8458200" y="3035808"/>
            <a:ext cx="3063240" cy="1280160"/>
          </a:xfrm>
          <a:prstGeom prst="rect">
            <a:avLst/>
          </a:prstGeom>
          <a:noFill/>
          <a:ln/>
        </p:spPr>
        <p:txBody>
          <a:bodyPr wrap="square" lIns="0" tIns="0" rIns="0" bIns="0" rtlCol="0" anchor="t"/>
          <a:lstStyle/>
          <a:p>
            <a:pPr indent="0" marL="0">
              <a:buNone/>
            </a:pPr>
            <a:r>
              <a:rPr lang="en-US" sz="1300" dirty="0">
                <a:solidFill>
                  <a:schemeClr val="tx1"/>
                </a:solidFill>
              </a:rPr>
              <a:t>Measuring beam on → </a:t>
            </a:r>
            <a:r>
              <a:rPr lang="en-US" sz="1300" b="1" dirty="0">
                <a:solidFill>
                  <a:schemeClr val="tx1"/>
                </a:solidFill>
              </a:rPr>
              <a:t>F</a:t>
            </a:r>
            <a:r>
              <a:rPr lang="en-US" sz="1300" b="1" baseline="-40000" dirty="0">
                <a:solidFill>
                  <a:schemeClr val="tx1"/>
                </a:solidFill>
              </a:rPr>
              <a:t>o</a:t>
            </a:r>
            <a:r>
              <a:rPr lang="en-US" sz="1300" dirty="0">
                <a:solidFill>
                  <a:schemeClr val="tx1"/>
                </a:solidFill>
              </a:rPr>
              <a:t> (centres open). Saturating pulse → </a:t>
            </a:r>
            <a:r>
              <a:rPr lang="en-US" sz="1300" b="1" dirty="0">
                <a:solidFill>
                  <a:schemeClr val="tx1"/>
                </a:solidFill>
              </a:rPr>
              <a:t>F</a:t>
            </a:r>
            <a:r>
              <a:rPr lang="en-US" sz="1300" b="1" baseline="-40000" dirty="0">
                <a:solidFill>
                  <a:schemeClr val="tx1"/>
                </a:solidFill>
              </a:rPr>
              <a:t>m</a:t>
            </a:r>
            <a:r>
              <a:rPr lang="en-US" sz="1300" dirty="0">
                <a:solidFill>
                  <a:schemeClr val="tx1"/>
                </a:solidFill>
              </a:rPr>
              <a:t> (centres closed). </a:t>
            </a:r>
            <a:r>
              <a:rPr lang="en-US" sz="1300" b="1" dirty="0">
                <a:solidFill>
                  <a:schemeClr val="tx1"/>
                </a:solidFill>
              </a:rPr>
              <a:t>F</a:t>
            </a:r>
            <a:r>
              <a:rPr lang="en-US" sz="1300" b="1" baseline="-40000" dirty="0">
                <a:solidFill>
                  <a:schemeClr val="tx1"/>
                </a:solidFill>
              </a:rPr>
              <a:t>v</a:t>
            </a:r>
            <a:r>
              <a:rPr lang="en-US" sz="1300" b="1" dirty="0">
                <a:solidFill>
                  <a:schemeClr val="tx1"/>
                </a:solidFill>
              </a:rPr>
              <a:t> = F</a:t>
            </a:r>
            <a:r>
              <a:rPr lang="en-US" sz="1300" b="1" baseline="-40000" dirty="0">
                <a:solidFill>
                  <a:schemeClr val="tx1"/>
                </a:solidFill>
              </a:rPr>
              <a:t>m</a:t>
            </a:r>
            <a:r>
              <a:rPr lang="en-US" sz="1300" b="1" dirty="0">
                <a:solidFill>
                  <a:schemeClr val="tx1"/>
                </a:solidFill>
              </a:rPr>
              <a:t> − F</a:t>
            </a:r>
            <a:r>
              <a:rPr lang="en-US" sz="1300" b="1" baseline="-40000" dirty="0">
                <a:solidFill>
                  <a:schemeClr val="tx1"/>
                </a:solidFill>
              </a:rPr>
              <a:t>o</a:t>
            </a:r>
            <a:r>
              <a:rPr lang="en-US" sz="1300" dirty="0">
                <a:solidFill>
                  <a:schemeClr val="tx1"/>
                </a:solidFill>
              </a:rPr>
              <a:t>.</a:t>
            </a:r>
            <a:endParaRPr lang="en-US" sz="1300" dirty="0"/>
          </a:p>
        </p:txBody>
      </p:sp>
      <p:sp>
        <p:nvSpPr>
          <p:cNvPr id="15" name="card"/>
          <p:cNvSpPr/>
          <p:nvPr/>
        </p:nvSpPr>
        <p:spPr>
          <a:xfrm>
            <a:off x="7726680" y="4526280"/>
            <a:ext cx="3913632" cy="1463040"/>
          </a:xfrm>
          <a:prstGeom prst="roundRect">
            <a:avLst>
              <a:gd name="adj" fmla="val 5000"/>
            </a:avLst>
          </a:prstGeom>
          <a:solidFill>
            <a:schemeClr val="bg2"/>
          </a:solidFill>
          <a:ln/>
          <a:effectLst>
            <a:outerShdw sx="100000" sy="100000" kx="0" ky="0" algn="bl" rotWithShape="0" blurRad="76200" dist="25400" dir="5400000">
              <a:srgbClr val="000000">
                <a:alpha val="14000"/>
              </a:srgbClr>
            </a:outerShdw>
          </a:effectLst>
        </p:spPr>
      </p:sp>
      <p:sp>
        <p:nvSpPr>
          <p:cNvPr id="16" name="panel marker"/>
          <p:cNvSpPr/>
          <p:nvPr/>
        </p:nvSpPr>
        <p:spPr>
          <a:xfrm>
            <a:off x="7863840" y="4690872"/>
            <a:ext cx="457200" cy="457200"/>
          </a:xfrm>
          <a:prstGeom prst="ellipse">
            <a:avLst/>
          </a:prstGeom>
          <a:solidFill>
            <a:schemeClr val="tx2"/>
          </a:solidFill>
          <a:ln/>
        </p:spPr>
      </p:sp>
      <p:sp>
        <p:nvSpPr>
          <p:cNvPr id="17" name="Text 13"/>
          <p:cNvSpPr txBox="1"/>
          <p:nvPr/>
        </p:nvSpPr>
        <p:spPr>
          <a:xfrm>
            <a:off x="7863840" y="469087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8" name="Text 14"/>
          <p:cNvSpPr txBox="1"/>
          <p:nvPr/>
        </p:nvSpPr>
        <p:spPr>
          <a:xfrm>
            <a:off x="8458200" y="4636008"/>
            <a:ext cx="3063240" cy="1280160"/>
          </a:xfrm>
          <a:prstGeom prst="rect">
            <a:avLst/>
          </a:prstGeom>
          <a:noFill/>
          <a:ln/>
        </p:spPr>
        <p:txBody>
          <a:bodyPr wrap="square" lIns="0" tIns="0" rIns="0" bIns="0" rtlCol="0" anchor="t"/>
          <a:lstStyle/>
          <a:p>
            <a:pPr indent="0" marL="0">
              <a:buNone/>
            </a:pPr>
            <a:r>
              <a:rPr lang="en-US" sz="1300" dirty="0">
                <a:solidFill>
                  <a:schemeClr val="tx1"/>
                </a:solidFill>
              </a:rPr>
              <a:t>P680 → P680∗ (excited) → P680⁺Q</a:t>
            </a:r>
            <a:r>
              <a:rPr lang="en-US" sz="1300" baseline="-40000" dirty="0">
                <a:solidFill>
                  <a:schemeClr val="tx1"/>
                </a:solidFill>
              </a:rPr>
              <a:t>A</a:t>
            </a:r>
            <a:r>
              <a:rPr lang="en-US" sz="1300" dirty="0">
                <a:solidFill>
                  <a:schemeClr val="tx1"/>
                </a:solidFill>
              </a:rPr>
              <a:t>⁻ after charge separation. Q</a:t>
            </a:r>
            <a:r>
              <a:rPr lang="en-US" sz="1300" baseline="-40000" dirty="0">
                <a:solidFill>
                  <a:schemeClr val="tx1"/>
                </a:solidFill>
              </a:rPr>
              <a:t>A</a:t>
            </a:r>
            <a:r>
              <a:rPr lang="en-US" sz="1300" dirty="0">
                <a:solidFill>
                  <a:schemeClr val="tx1"/>
                </a:solidFill>
              </a:rPr>
              <a:t>⁻ cannot accept another electron → </a:t>
            </a:r>
            <a:r>
              <a:rPr lang="en-US" sz="1300" b="1" dirty="0">
                <a:solidFill>
                  <a:schemeClr val="tx1"/>
                </a:solidFill>
              </a:rPr>
              <a:t>closed centre</a:t>
            </a:r>
            <a:r>
              <a:rPr lang="en-US" sz="1300" dirty="0">
                <a:solidFill>
                  <a:schemeClr val="tx1"/>
                </a:solidFill>
              </a:rPr>
              <a:t>.</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What is 'quenching'?</a:t>
            </a:r>
            <a:endParaRPr lang="en-US" sz="3200" dirty="0"/>
          </a:p>
        </p:txBody>
      </p:sp>
      <p:sp>
        <p:nvSpPr>
          <p:cNvPr id="4" name="figure frame"/>
          <p:cNvSpPr/>
          <p:nvPr/>
        </p:nvSpPr>
        <p:spPr>
          <a:xfrm>
            <a:off x="548640" y="1325880"/>
            <a:ext cx="5669280" cy="3429000"/>
          </a:xfrm>
          <a:prstGeom prst="roundRect">
            <a:avLst>
              <a:gd name="adj" fmla="val 1600"/>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Dark-adapted vs light-adapted traces: Fm′ &lt; Fm because of non-photochemical quenching; Ft (F′) &lt; Fm′ because of photochemical quenching">    </p:cNvPr>
          <p:cNvPicPr>
            <a:picLocks noChangeAspect="1"/>
          </p:cNvPicPr>
          <p:nvPr/>
        </p:nvPicPr>
        <p:blipFill>
          <a:blip r:embed="rId1"/>
          <a:stretch>
            <a:fillRect/>
          </a:stretch>
        </p:blipFill>
        <p:spPr>
          <a:xfrm>
            <a:off x="1026722" y="1417320"/>
            <a:ext cx="4713117" cy="3246120"/>
          </a:xfrm>
          <a:prstGeom prst="rect">
            <a:avLst/>
          </a:prstGeom>
        </p:spPr>
      </p:pic>
      <p:sp>
        <p:nvSpPr>
          <p:cNvPr id="6" name="Text 2"/>
          <p:cNvSpPr txBox="1"/>
          <p:nvPr/>
        </p:nvSpPr>
        <p:spPr>
          <a:xfrm>
            <a:off x="548640" y="4800600"/>
            <a:ext cx="5669280" cy="457200"/>
          </a:xfrm>
          <a:prstGeom prst="rect">
            <a:avLst/>
          </a:prstGeom>
          <a:noFill/>
          <a:ln/>
        </p:spPr>
        <p:txBody>
          <a:bodyPr wrap="square" lIns="0" tIns="0" rIns="0" bIns="0" rtlCol="0" anchor="t"/>
          <a:lstStyle/>
          <a:p>
            <a:pPr indent="0" marL="0">
              <a:buNone/>
            </a:pPr>
            <a:r>
              <a:rPr lang="en-US" sz="1100" i="1" dirty="0">
                <a:solidFill>
                  <a:schemeClr val="accent6"/>
                </a:solidFill>
              </a:rPr>
              <a:t>Dark-adapted vs light-adapted traces: Fm′ &lt; Fm because of non-photochemical quenching; Ft (F′) &lt; Fm′ because of photochemical quenching</a:t>
            </a:r>
            <a:endParaRPr lang="en-US" sz="1100" dirty="0"/>
          </a:p>
        </p:txBody>
      </p:sp>
      <p:sp>
        <p:nvSpPr>
          <p:cNvPr id="7" name="card"/>
          <p:cNvSpPr/>
          <p:nvPr/>
        </p:nvSpPr>
        <p:spPr>
          <a:xfrm>
            <a:off x="6446520" y="1325880"/>
            <a:ext cx="5193792"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8" name="icon circle"/>
          <p:cNvSpPr/>
          <p:nvPr/>
        </p:nvSpPr>
        <p:spPr>
          <a:xfrm>
            <a:off x="6629400" y="1481328"/>
            <a:ext cx="420624" cy="420624"/>
          </a:xfrm>
          <a:prstGeom prst="ellipse">
            <a:avLst/>
          </a:prstGeom>
          <a:solidFill>
            <a:schemeClr val="accent1"/>
          </a:solidFill>
          <a:ln/>
        </p:spPr>
      </p:sp>
      <p:pic>
        <p:nvPicPr>
          <p:cNvPr id="9" name="Image 1" descr="Leaf icon">    </p:cNvPr>
          <p:cNvPicPr>
            <a:picLocks noChangeAspect="1"/>
          </p:cNvPicPr>
          <p:nvPr/>
        </p:nvPicPr>
        <p:blipFill>
          <a:blip r:embed="rId2"/>
          <a:stretch>
            <a:fillRect/>
          </a:stretch>
        </p:blipFill>
        <p:spPr>
          <a:xfrm>
            <a:off x="6738762" y="1590690"/>
            <a:ext cx="201900" cy="201900"/>
          </a:xfrm>
          <a:prstGeom prst="rect">
            <a:avLst/>
          </a:prstGeom>
        </p:spPr>
      </p:pic>
      <p:sp>
        <p:nvSpPr>
          <p:cNvPr id="10" name="Text 5"/>
          <p:cNvSpPr txBox="1"/>
          <p:nvPr/>
        </p:nvSpPr>
        <p:spPr>
          <a:xfrm>
            <a:off x="7159752" y="1463040"/>
            <a:ext cx="4343400" cy="457200"/>
          </a:xfrm>
          <a:prstGeom prst="rect">
            <a:avLst/>
          </a:prstGeom>
          <a:noFill/>
          <a:ln/>
        </p:spPr>
        <p:txBody>
          <a:bodyPr wrap="square" lIns="0" tIns="0" rIns="0" bIns="0" rtlCol="0" anchor="ctr"/>
          <a:lstStyle/>
          <a:p>
            <a:pPr indent="0" marL="0">
              <a:buNone/>
            </a:pPr>
            <a:r>
              <a:rPr lang="en-US" sz="1600" b="1" dirty="0">
                <a:solidFill>
                  <a:schemeClr val="tx2"/>
                </a:solidFill>
              </a:rPr>
              <a:t>① Photochemical quenching (qP)</a:t>
            </a:r>
            <a:endParaRPr lang="en-US" sz="1600" dirty="0"/>
          </a:p>
        </p:txBody>
      </p:sp>
      <p:sp>
        <p:nvSpPr>
          <p:cNvPr id="11" name="Text 6"/>
          <p:cNvSpPr txBox="1"/>
          <p:nvPr/>
        </p:nvSpPr>
        <p:spPr>
          <a:xfrm>
            <a:off x="6629400" y="2011680"/>
            <a:ext cx="4828032" cy="155448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Light </a:t>
            </a:r>
            <a:r>
              <a:rPr lang="en-US" sz="1300" b="1" dirty="0">
                <a:solidFill>
                  <a:schemeClr val="tx1"/>
                </a:solidFill>
              </a:rPr>
              <a:t>activates Calvin-cycle enzymes</a:t>
            </a:r>
            <a:r>
              <a:rPr lang="en-US" sz="1300" dirty="0">
                <a:solidFill>
                  <a:schemeClr val="tx1"/>
                </a:solidFill>
              </a:rPr>
              <a:t>; metabolite pools in stroma and cytosol increase</a:t>
            </a:r>
            <a:endParaRPr lang="en-US" sz="1300" dirty="0"/>
          </a:p>
          <a:p>
            <a:pPr marL="177800" indent="-177800">
              <a:spcAft>
                <a:spcPts val="400"/>
              </a:spcAft>
              <a:buSzPct val="100000"/>
              <a:buChar char="•"/>
            </a:pPr>
            <a:r>
              <a:rPr lang="en-US" sz="1300" b="1" dirty="0">
                <a:solidFill>
                  <a:schemeClr val="tx1"/>
                </a:solidFill>
              </a:rPr>
              <a:t>Stomata open</a:t>
            </a:r>
            <a:r>
              <a:rPr lang="en-US" sz="1300" dirty="0">
                <a:solidFill>
                  <a:schemeClr val="tx1"/>
                </a:solidFill>
              </a:rPr>
              <a:t> → more CO₂ for Rubisco (stomata respond ~10× slower than photosynthesis)</a:t>
            </a:r>
            <a:endParaRPr lang="en-US" sz="1300" dirty="0"/>
          </a:p>
          <a:p>
            <a:pPr marL="177800" indent="-177800">
              <a:spcAft>
                <a:spcPts val="400"/>
              </a:spcAft>
              <a:buSzPct val="100000"/>
              <a:buChar char="•"/>
            </a:pPr>
            <a:r>
              <a:rPr lang="en-US" sz="1300" dirty="0">
                <a:solidFill>
                  <a:schemeClr val="tx1"/>
                </a:solidFill>
              </a:rPr>
              <a:t>More electron sinks → Q</a:t>
            </a:r>
            <a:r>
              <a:rPr lang="en-US" sz="1300" baseline="-40000" dirty="0">
                <a:solidFill>
                  <a:schemeClr val="tx1"/>
                </a:solidFill>
              </a:rPr>
              <a:t>A</a:t>
            </a:r>
            <a:r>
              <a:rPr lang="en-US" sz="1300" dirty="0">
                <a:solidFill>
                  <a:schemeClr val="tx1"/>
                </a:solidFill>
              </a:rPr>
              <a:t> re-oxidised → centres re-open</a:t>
            </a:r>
            <a:endParaRPr lang="en-US" sz="1300" dirty="0"/>
          </a:p>
        </p:txBody>
      </p:sp>
      <p:sp>
        <p:nvSpPr>
          <p:cNvPr id="12" name="card"/>
          <p:cNvSpPr/>
          <p:nvPr/>
        </p:nvSpPr>
        <p:spPr>
          <a:xfrm>
            <a:off x="6446520" y="3794760"/>
            <a:ext cx="5193792"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13" name="icon circle"/>
          <p:cNvSpPr/>
          <p:nvPr/>
        </p:nvSpPr>
        <p:spPr>
          <a:xfrm>
            <a:off x="6629400" y="3950208"/>
            <a:ext cx="420624" cy="420624"/>
          </a:xfrm>
          <a:prstGeom prst="ellipse">
            <a:avLst/>
          </a:prstGeom>
          <a:solidFill>
            <a:schemeClr val="accent3"/>
          </a:solidFill>
          <a:ln/>
        </p:spPr>
      </p:sp>
      <p:pic>
        <p:nvPicPr>
          <p:cNvPr id="14" name="Image 2" descr="Fire icon">    </p:cNvPr>
          <p:cNvPicPr>
            <a:picLocks noChangeAspect="1"/>
          </p:cNvPicPr>
          <p:nvPr/>
        </p:nvPicPr>
        <p:blipFill>
          <a:blip r:embed="rId3"/>
          <a:stretch>
            <a:fillRect/>
          </a:stretch>
        </p:blipFill>
        <p:spPr>
          <a:xfrm>
            <a:off x="6738762" y="4059570"/>
            <a:ext cx="201900" cy="201900"/>
          </a:xfrm>
          <a:prstGeom prst="rect">
            <a:avLst/>
          </a:prstGeom>
        </p:spPr>
      </p:pic>
      <p:sp>
        <p:nvSpPr>
          <p:cNvPr id="15" name="Text 9"/>
          <p:cNvSpPr txBox="1"/>
          <p:nvPr/>
        </p:nvSpPr>
        <p:spPr>
          <a:xfrm>
            <a:off x="7159752" y="3931920"/>
            <a:ext cx="4343400" cy="457200"/>
          </a:xfrm>
          <a:prstGeom prst="rect">
            <a:avLst/>
          </a:prstGeom>
          <a:noFill/>
          <a:ln/>
        </p:spPr>
        <p:txBody>
          <a:bodyPr wrap="square" lIns="0" tIns="0" rIns="0" bIns="0" rtlCol="0" anchor="ctr"/>
          <a:lstStyle/>
          <a:p>
            <a:pPr indent="0" marL="0">
              <a:buNone/>
            </a:pPr>
            <a:r>
              <a:rPr lang="en-US" sz="1600" b="1" dirty="0">
                <a:solidFill>
                  <a:schemeClr val="tx2"/>
                </a:solidFill>
              </a:rPr>
              <a:t>② Non-photochemical quenching (NPQ)</a:t>
            </a:r>
            <a:endParaRPr lang="en-US" sz="1600" dirty="0"/>
          </a:p>
        </p:txBody>
      </p:sp>
      <p:sp>
        <p:nvSpPr>
          <p:cNvPr id="16" name="Text 10"/>
          <p:cNvSpPr txBox="1"/>
          <p:nvPr/>
        </p:nvSpPr>
        <p:spPr>
          <a:xfrm>
            <a:off x="6629400" y="4480560"/>
            <a:ext cx="4828032"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Rapid rise in the </a:t>
            </a:r>
            <a:r>
              <a:rPr lang="en-US" sz="1300" b="1" dirty="0">
                <a:solidFill>
                  <a:schemeClr val="tx1"/>
                </a:solidFill>
              </a:rPr>
              <a:t>rate constant of heat dissipation</a:t>
            </a:r>
            <a:r>
              <a:rPr lang="en-US" sz="1300" dirty="0">
                <a:solidFill>
                  <a:schemeClr val="tx1"/>
                </a:solidFill>
              </a:rPr>
              <a:t> on illumination</a:t>
            </a:r>
            <a:endParaRPr lang="en-US" sz="1300" dirty="0"/>
          </a:p>
          <a:p>
            <a:pPr marL="177800" indent="-177800">
              <a:spcAft>
                <a:spcPts val="400"/>
              </a:spcAft>
              <a:buSzPct val="100000"/>
              <a:buChar char="•"/>
            </a:pPr>
            <a:r>
              <a:rPr lang="en-US" sz="1300" dirty="0">
                <a:solidFill>
                  <a:schemeClr val="tx1"/>
                </a:solidFill>
              </a:rPr>
              <a:t>Photoprotective: removes excess excitation, prevents damaging free radicals</a:t>
            </a:r>
            <a:endParaRPr lang="en-US" sz="1300" dirty="0"/>
          </a:p>
          <a:p>
            <a:pPr marL="177800" indent="-177800">
              <a:spcAft>
                <a:spcPts val="400"/>
              </a:spcAft>
              <a:buSzPct val="100000"/>
              <a:buChar char="•"/>
            </a:pPr>
            <a:r>
              <a:rPr lang="en-US" sz="1300" dirty="0">
                <a:solidFill>
                  <a:schemeClr val="tx1"/>
                </a:solidFill>
              </a:rPr>
              <a:t>Competes with both fluorescence and photochemistry</a:t>
            </a:r>
            <a:endParaRPr lang="en-US" sz="1300" dirty="0"/>
          </a:p>
        </p:txBody>
      </p:sp>
      <p:sp>
        <p:nvSpPr>
          <p:cNvPr id="17" name="Text 11"/>
          <p:cNvSpPr txBox="1"/>
          <p:nvPr/>
        </p:nvSpPr>
        <p:spPr>
          <a:xfrm>
            <a:off x="548640" y="5623560"/>
            <a:ext cx="5669280" cy="548640"/>
          </a:xfrm>
          <a:prstGeom prst="rect">
            <a:avLst/>
          </a:prstGeom>
          <a:noFill/>
          <a:ln/>
        </p:spPr>
        <p:txBody>
          <a:bodyPr wrap="square" lIns="508" tIns="508" rIns="508" bIns="508" rtlCol="0" anchor="t"/>
          <a:lstStyle/>
          <a:p>
            <a:pPr indent="0" marL="0">
              <a:spcAft>
                <a:spcPts val="600"/>
              </a:spcAft>
              <a:buNone/>
            </a:pPr>
            <a:r>
              <a:rPr lang="en-US" sz="1200" i="1" dirty="0">
                <a:solidFill>
                  <a:schemeClr val="accent6"/>
                </a:solidFill>
              </a:rPr>
              <a:t>Takes several minutes or longer from darkness; varies with species and environment.</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How NPQ is switched on: the molecular mechanism</a:t>
            </a:r>
            <a:endParaRPr lang="en-US" sz="3200" dirty="0"/>
          </a:p>
        </p:txBody>
      </p:sp>
      <p:sp>
        <p:nvSpPr>
          <p:cNvPr id="4" name="diagram box"/>
          <p:cNvSpPr/>
          <p:nvPr/>
        </p:nvSpPr>
        <p:spPr>
          <a:xfrm>
            <a:off x="548640" y="1463040"/>
            <a:ext cx="2011680" cy="1097280"/>
          </a:xfrm>
          <a:prstGeom prst="roundRect">
            <a:avLst>
              <a:gd name="adj" fmla="val 6667"/>
            </a:avLst>
          </a:prstGeom>
          <a:solidFill>
            <a:schemeClr val="accent3"/>
          </a:solidFill>
          <a:ln/>
        </p:spPr>
      </p:sp>
      <p:sp>
        <p:nvSpPr>
          <p:cNvPr id="5" name="Text 2"/>
          <p:cNvSpPr txBox="1"/>
          <p:nvPr/>
        </p:nvSpPr>
        <p:spPr>
          <a:xfrm>
            <a:off x="548640" y="1463040"/>
            <a:ext cx="2011680" cy="1097280"/>
          </a:xfrm>
          <a:prstGeom prst="rect">
            <a:avLst/>
          </a:prstGeom>
          <a:noFill/>
          <a:ln/>
        </p:spPr>
        <p:txBody>
          <a:bodyPr wrap="square" lIns="508" tIns="508" rIns="508" bIns="508" rtlCol="0" anchor="ctr"/>
          <a:lstStyle/>
          <a:p>
            <a:pPr algn="ctr" indent="0" marL="0">
              <a:buNone/>
            </a:pPr>
            <a:r>
              <a:rPr lang="en-US" sz="1400" b="1" dirty="0">
                <a:solidFill>
                  <a:schemeClr val="bg1"/>
                </a:solidFill>
              </a:rPr>
              <a:t>Excess light</a:t>
            </a:r>
            <a:endParaRPr lang="en-US" sz="1400" dirty="0"/>
          </a:p>
        </p:txBody>
      </p:sp>
      <p:sp>
        <p:nvSpPr>
          <p:cNvPr id="6" name="arrow"/>
          <p:cNvSpPr/>
          <p:nvPr/>
        </p:nvSpPr>
        <p:spPr>
          <a:xfrm>
            <a:off x="2578608" y="2011680"/>
            <a:ext cx="283464" cy="0"/>
          </a:xfrm>
          <a:prstGeom prst="line">
            <a:avLst/>
          </a:prstGeom>
          <a:noFill/>
          <a:ln w="31750">
            <a:solidFill>
              <a:srgbClr val="123D2E"/>
            </a:solidFill>
            <a:prstDash val="solid"/>
            <a:tailEnd type="triangle"/>
          </a:ln>
        </p:spPr>
      </p:sp>
      <p:sp>
        <p:nvSpPr>
          <p:cNvPr id="7" name="diagram box"/>
          <p:cNvSpPr/>
          <p:nvPr/>
        </p:nvSpPr>
        <p:spPr>
          <a:xfrm>
            <a:off x="2880360" y="1463040"/>
            <a:ext cx="2011680" cy="1097280"/>
          </a:xfrm>
          <a:prstGeom prst="roundRect">
            <a:avLst>
              <a:gd name="adj" fmla="val 6667"/>
            </a:avLst>
          </a:prstGeom>
          <a:solidFill>
            <a:schemeClr val="accent5"/>
          </a:solidFill>
          <a:ln/>
        </p:spPr>
      </p:sp>
      <p:sp>
        <p:nvSpPr>
          <p:cNvPr id="8" name="Text 5"/>
          <p:cNvSpPr txBox="1"/>
          <p:nvPr/>
        </p:nvSpPr>
        <p:spPr>
          <a:xfrm>
            <a:off x="2880360" y="1463040"/>
            <a:ext cx="2011680" cy="1097280"/>
          </a:xfrm>
          <a:prstGeom prst="rect">
            <a:avLst/>
          </a:prstGeom>
          <a:noFill/>
          <a:ln/>
        </p:spPr>
        <p:txBody>
          <a:bodyPr wrap="square" lIns="508" tIns="508" rIns="508" bIns="508" rtlCol="0" anchor="ctr"/>
          <a:lstStyle/>
          <a:p>
            <a:pPr algn="ctr" indent="0" marL="0">
              <a:buNone/>
            </a:pPr>
            <a:r>
              <a:rPr lang="en-US" sz="1400" b="1" dirty="0">
                <a:solidFill>
                  <a:schemeClr val="bg1"/>
                </a:solidFill>
              </a:rPr>
              <a:t>Linear + cyclic e⁻ flow pump H⁺ into lumen</a:t>
            </a:r>
            <a:endParaRPr lang="en-US" sz="1400" dirty="0"/>
          </a:p>
        </p:txBody>
      </p:sp>
      <p:sp>
        <p:nvSpPr>
          <p:cNvPr id="9" name="arrow"/>
          <p:cNvSpPr/>
          <p:nvPr/>
        </p:nvSpPr>
        <p:spPr>
          <a:xfrm>
            <a:off x="4910328" y="2011680"/>
            <a:ext cx="283464" cy="0"/>
          </a:xfrm>
          <a:prstGeom prst="line">
            <a:avLst/>
          </a:prstGeom>
          <a:noFill/>
          <a:ln w="31750">
            <a:solidFill>
              <a:srgbClr val="123D2E"/>
            </a:solidFill>
            <a:prstDash val="solid"/>
            <a:tailEnd type="triangle"/>
          </a:ln>
        </p:spPr>
      </p:sp>
      <p:sp>
        <p:nvSpPr>
          <p:cNvPr id="10" name="diagram box"/>
          <p:cNvSpPr/>
          <p:nvPr/>
        </p:nvSpPr>
        <p:spPr>
          <a:xfrm>
            <a:off x="5212080" y="1463040"/>
            <a:ext cx="2011680" cy="1097280"/>
          </a:xfrm>
          <a:prstGeom prst="roundRect">
            <a:avLst>
              <a:gd name="adj" fmla="val 6667"/>
            </a:avLst>
          </a:prstGeom>
          <a:solidFill>
            <a:schemeClr val="accent5"/>
          </a:solidFill>
          <a:ln/>
        </p:spPr>
      </p:sp>
      <p:sp>
        <p:nvSpPr>
          <p:cNvPr id="11" name="Text 8"/>
          <p:cNvSpPr txBox="1"/>
          <p:nvPr/>
        </p:nvSpPr>
        <p:spPr>
          <a:xfrm>
            <a:off x="5212080" y="1463040"/>
            <a:ext cx="2011680" cy="1097280"/>
          </a:xfrm>
          <a:prstGeom prst="rect">
            <a:avLst/>
          </a:prstGeom>
          <a:noFill/>
          <a:ln/>
        </p:spPr>
        <p:txBody>
          <a:bodyPr wrap="square" lIns="508" tIns="508" rIns="508" bIns="508" rtlCol="0" anchor="ctr"/>
          <a:lstStyle/>
          <a:p>
            <a:pPr algn="ctr" indent="0" marL="0">
              <a:buNone/>
            </a:pPr>
            <a:r>
              <a:rPr lang="en-US" sz="1400" b="1" dirty="0">
                <a:solidFill>
                  <a:schemeClr val="bg1"/>
                </a:solidFill>
              </a:rPr>
              <a:t>Lumen acidifies: </a:t>
            </a:r>
            <a:r>
              <a:rPr lang="en-US" sz="1400" b="1" dirty="0">
                <a:solidFill>
                  <a:schemeClr val="bg1"/>
                </a:solidFill>
              </a:rPr>
              <a:t>ΔpH</a:t>
            </a:r>
            <a:r>
              <a:rPr lang="en-US" sz="1400" b="1" dirty="0">
                <a:solidFill>
                  <a:schemeClr val="bg1"/>
                </a:solidFill>
              </a:rPr>
              <a:t> builds up</a:t>
            </a:r>
            <a:endParaRPr lang="en-US" sz="1400" dirty="0"/>
          </a:p>
        </p:txBody>
      </p:sp>
      <p:sp>
        <p:nvSpPr>
          <p:cNvPr id="12" name="arrow"/>
          <p:cNvSpPr/>
          <p:nvPr/>
        </p:nvSpPr>
        <p:spPr>
          <a:xfrm flipH="1">
            <a:off x="2377440" y="2560320"/>
            <a:ext cx="3840480" cy="594360"/>
          </a:xfrm>
          <a:prstGeom prst="line">
            <a:avLst/>
          </a:prstGeom>
          <a:noFill/>
          <a:ln w="31750">
            <a:solidFill>
              <a:srgbClr val="123D2E"/>
            </a:solidFill>
            <a:prstDash val="solid"/>
            <a:tailEnd type="triangle"/>
          </a:ln>
        </p:spPr>
      </p:sp>
      <p:sp>
        <p:nvSpPr>
          <p:cNvPr id="13" name="arrow"/>
          <p:cNvSpPr/>
          <p:nvPr/>
        </p:nvSpPr>
        <p:spPr>
          <a:xfrm>
            <a:off x="6217920" y="2560320"/>
            <a:ext cx="548640" cy="594360"/>
          </a:xfrm>
          <a:prstGeom prst="line">
            <a:avLst/>
          </a:prstGeom>
          <a:noFill/>
          <a:ln w="31750">
            <a:solidFill>
              <a:srgbClr val="123D2E"/>
            </a:solidFill>
            <a:prstDash val="solid"/>
            <a:tailEnd type="triangle"/>
          </a:ln>
        </p:spPr>
      </p:sp>
      <p:sp>
        <p:nvSpPr>
          <p:cNvPr id="14" name="diagram box"/>
          <p:cNvSpPr/>
          <p:nvPr/>
        </p:nvSpPr>
        <p:spPr>
          <a:xfrm>
            <a:off x="1188720" y="3200400"/>
            <a:ext cx="2743200" cy="1005840"/>
          </a:xfrm>
          <a:prstGeom prst="roundRect">
            <a:avLst>
              <a:gd name="adj" fmla="val 7273"/>
            </a:avLst>
          </a:prstGeom>
          <a:solidFill>
            <a:schemeClr val="accent1"/>
          </a:solidFill>
          <a:ln/>
        </p:spPr>
      </p:sp>
      <p:sp>
        <p:nvSpPr>
          <p:cNvPr id="15" name="Text 12"/>
          <p:cNvSpPr txBox="1"/>
          <p:nvPr/>
        </p:nvSpPr>
        <p:spPr>
          <a:xfrm>
            <a:off x="1188720" y="3200400"/>
            <a:ext cx="2743200" cy="1005840"/>
          </a:xfrm>
          <a:prstGeom prst="rect">
            <a:avLst/>
          </a:prstGeom>
          <a:noFill/>
          <a:ln/>
        </p:spPr>
        <p:txBody>
          <a:bodyPr wrap="square" lIns="508" tIns="508" rIns="508" bIns="508" rtlCol="0" anchor="ctr"/>
          <a:lstStyle/>
          <a:p>
            <a:pPr algn="ctr" indent="0" marL="0">
              <a:buNone/>
            </a:pPr>
            <a:r>
              <a:rPr lang="en-US" sz="1400" b="1" dirty="0">
                <a:solidFill>
                  <a:schemeClr val="bg1"/>
                </a:solidFill>
              </a:rPr>
              <a:t>PsbS</a:t>
            </a:r>
            <a:r>
              <a:rPr lang="en-US" sz="1400" dirty="0">
                <a:solidFill>
                  <a:schemeClr val="bg1"/>
                </a:solidFill>
              </a:rPr>
              <a:t> protein</a:t>
            </a:r>
            <a:endParaRPr lang="en-US" sz="1400" dirty="0"/>
          </a:p>
          <a:p>
            <a:pPr algn="ctr" indent="0" marL="0">
              <a:buNone/>
            </a:pPr>
            <a:r>
              <a:rPr lang="en-US" sz="1400" dirty="0">
                <a:solidFill>
                  <a:schemeClr val="bg1"/>
                </a:solidFill>
              </a:rPr>
              <a:t>becomes protonated</a:t>
            </a:r>
            <a:endParaRPr lang="en-US" sz="1400" dirty="0"/>
          </a:p>
        </p:txBody>
      </p:sp>
      <p:sp>
        <p:nvSpPr>
          <p:cNvPr id="16" name="diagram box"/>
          <p:cNvSpPr/>
          <p:nvPr/>
        </p:nvSpPr>
        <p:spPr>
          <a:xfrm>
            <a:off x="5394960" y="3200400"/>
            <a:ext cx="3108960" cy="1005840"/>
          </a:xfrm>
          <a:prstGeom prst="roundRect">
            <a:avLst>
              <a:gd name="adj" fmla="val 7273"/>
            </a:avLst>
          </a:prstGeom>
          <a:solidFill>
            <a:schemeClr val="accent1"/>
          </a:solidFill>
          <a:ln/>
        </p:spPr>
      </p:sp>
      <p:sp>
        <p:nvSpPr>
          <p:cNvPr id="17" name="Text 14"/>
          <p:cNvSpPr txBox="1"/>
          <p:nvPr/>
        </p:nvSpPr>
        <p:spPr>
          <a:xfrm>
            <a:off x="5394960" y="3200400"/>
            <a:ext cx="3108960" cy="1005840"/>
          </a:xfrm>
          <a:prstGeom prst="rect">
            <a:avLst/>
          </a:prstGeom>
          <a:noFill/>
          <a:ln/>
        </p:spPr>
        <p:txBody>
          <a:bodyPr wrap="square" lIns="508" tIns="508" rIns="508" bIns="508" rtlCol="0" anchor="ctr"/>
          <a:lstStyle/>
          <a:p>
            <a:pPr algn="ctr" indent="0" marL="0">
              <a:buNone/>
            </a:pPr>
            <a:r>
              <a:rPr lang="en-US" sz="1400" b="1" dirty="0">
                <a:solidFill>
                  <a:schemeClr val="bg1"/>
                </a:solidFill>
              </a:rPr>
              <a:t>VDE</a:t>
            </a:r>
            <a:r>
              <a:rPr lang="en-US" sz="1400" dirty="0">
                <a:solidFill>
                  <a:schemeClr val="bg1"/>
                </a:solidFill>
              </a:rPr>
              <a:t> activated:</a:t>
            </a:r>
            <a:endParaRPr lang="en-US" sz="1400" dirty="0"/>
          </a:p>
          <a:p>
            <a:pPr algn="ctr" indent="0" marL="0">
              <a:buNone/>
            </a:pPr>
            <a:r>
              <a:rPr lang="en-US" sz="1400" dirty="0">
                <a:solidFill>
                  <a:schemeClr val="bg1"/>
                </a:solidFill>
              </a:rPr>
              <a:t>violaxanthin → zeaxanthin</a:t>
            </a:r>
            <a:endParaRPr lang="en-US" sz="1400" dirty="0"/>
          </a:p>
        </p:txBody>
      </p:sp>
      <p:sp>
        <p:nvSpPr>
          <p:cNvPr id="18" name="arrow"/>
          <p:cNvSpPr/>
          <p:nvPr/>
        </p:nvSpPr>
        <p:spPr>
          <a:xfrm>
            <a:off x="2560320" y="4206240"/>
            <a:ext cx="1645920" cy="502920"/>
          </a:xfrm>
          <a:prstGeom prst="line">
            <a:avLst/>
          </a:prstGeom>
          <a:noFill/>
          <a:ln w="31750">
            <a:solidFill>
              <a:srgbClr val="123D2E"/>
            </a:solidFill>
            <a:prstDash val="solid"/>
            <a:tailEnd type="triangle"/>
          </a:ln>
        </p:spPr>
      </p:sp>
      <p:sp>
        <p:nvSpPr>
          <p:cNvPr id="19" name="arrow"/>
          <p:cNvSpPr/>
          <p:nvPr/>
        </p:nvSpPr>
        <p:spPr>
          <a:xfrm flipH="1">
            <a:off x="5303520" y="4206240"/>
            <a:ext cx="1645920" cy="502920"/>
          </a:xfrm>
          <a:prstGeom prst="line">
            <a:avLst/>
          </a:prstGeom>
          <a:noFill/>
          <a:ln w="31750">
            <a:solidFill>
              <a:srgbClr val="123D2E"/>
            </a:solidFill>
            <a:prstDash val="solid"/>
            <a:tailEnd type="triangle"/>
          </a:ln>
        </p:spPr>
      </p:sp>
      <p:sp>
        <p:nvSpPr>
          <p:cNvPr id="20" name="diagram box"/>
          <p:cNvSpPr/>
          <p:nvPr/>
        </p:nvSpPr>
        <p:spPr>
          <a:xfrm>
            <a:off x="3017520" y="4754880"/>
            <a:ext cx="3566160" cy="1188720"/>
          </a:xfrm>
          <a:prstGeom prst="roundRect">
            <a:avLst>
              <a:gd name="adj" fmla="val 6154"/>
            </a:avLst>
          </a:prstGeom>
          <a:solidFill>
            <a:schemeClr val="accent2"/>
          </a:solidFill>
          <a:ln/>
        </p:spPr>
      </p:sp>
      <p:sp>
        <p:nvSpPr>
          <p:cNvPr id="21" name="Text 18"/>
          <p:cNvSpPr txBox="1"/>
          <p:nvPr/>
        </p:nvSpPr>
        <p:spPr>
          <a:xfrm>
            <a:off x="3017520" y="4754880"/>
            <a:ext cx="3566160" cy="1188720"/>
          </a:xfrm>
          <a:prstGeom prst="rect">
            <a:avLst/>
          </a:prstGeom>
          <a:noFill/>
          <a:ln/>
        </p:spPr>
        <p:txBody>
          <a:bodyPr wrap="square" lIns="508" tIns="508" rIns="508" bIns="508" rtlCol="0" anchor="ctr"/>
          <a:lstStyle/>
          <a:p>
            <a:pPr algn="ctr" indent="0" marL="0">
              <a:buNone/>
            </a:pPr>
            <a:r>
              <a:rPr lang="en-US" sz="1400" dirty="0">
                <a:solidFill>
                  <a:schemeClr val="bg1"/>
                </a:solidFill>
              </a:rPr>
              <a:t>Conformational change in PSII antenna →</a:t>
            </a:r>
            <a:endParaRPr lang="en-US" sz="1400" dirty="0"/>
          </a:p>
          <a:p>
            <a:pPr algn="ctr" indent="0" marL="0">
              <a:buNone/>
            </a:pPr>
            <a:r>
              <a:rPr lang="en-US" sz="1400" b="1" dirty="0">
                <a:solidFill>
                  <a:schemeClr val="bg1"/>
                </a:solidFill>
              </a:rPr>
              <a:t>excitation dissipated as heat (qE)</a:t>
            </a:r>
            <a:endParaRPr lang="en-US" sz="1400" dirty="0"/>
          </a:p>
        </p:txBody>
      </p:sp>
      <p:sp>
        <p:nvSpPr>
          <p:cNvPr id="22" name="card"/>
          <p:cNvSpPr/>
          <p:nvPr/>
        </p:nvSpPr>
        <p:spPr>
          <a:xfrm>
            <a:off x="8915400" y="1325880"/>
            <a:ext cx="2724912" cy="4846320"/>
          </a:xfrm>
          <a:prstGeom prst="roundRect">
            <a:avLst>
              <a:gd name="adj" fmla="val 2685"/>
            </a:avLst>
          </a:prstGeom>
          <a:solidFill>
            <a:schemeClr val="bg2"/>
          </a:solidFill>
          <a:ln/>
          <a:effectLst>
            <a:outerShdw sx="100000" sy="100000" kx="0" ky="0" algn="bl" rotWithShape="0" blurRad="76200" dist="25400" dir="5400000">
              <a:srgbClr val="000000">
                <a:alpha val="14000"/>
              </a:srgbClr>
            </a:outerShdw>
          </a:effectLst>
        </p:spPr>
      </p:sp>
      <p:sp>
        <p:nvSpPr>
          <p:cNvPr id="23" name="Text 20"/>
          <p:cNvSpPr txBox="1"/>
          <p:nvPr/>
        </p:nvSpPr>
        <p:spPr>
          <a:xfrm>
            <a:off x="9098280" y="1463040"/>
            <a:ext cx="2404872" cy="365760"/>
          </a:xfrm>
          <a:prstGeom prst="rect">
            <a:avLst/>
          </a:prstGeom>
          <a:noFill/>
          <a:ln/>
        </p:spPr>
        <p:txBody>
          <a:bodyPr wrap="square" lIns="0" tIns="0" rIns="0" bIns="0" rtlCol="0" anchor="ctr"/>
          <a:lstStyle/>
          <a:p>
            <a:pPr indent="0" marL="0">
              <a:buNone/>
            </a:pPr>
            <a:r>
              <a:rPr lang="en-US" sz="1600" b="1" dirty="0">
                <a:solidFill>
                  <a:schemeClr val="tx2"/>
                </a:solidFill>
              </a:rPr>
              <a:t>Key facts</a:t>
            </a:r>
            <a:endParaRPr lang="en-US" sz="1600" dirty="0"/>
          </a:p>
        </p:txBody>
      </p:sp>
      <p:sp>
        <p:nvSpPr>
          <p:cNvPr id="24" name="Text 21"/>
          <p:cNvSpPr txBox="1"/>
          <p:nvPr/>
        </p:nvSpPr>
        <p:spPr>
          <a:xfrm>
            <a:off x="9098280" y="1874520"/>
            <a:ext cx="2359152" cy="420624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Regulated by </a:t>
            </a:r>
            <a:r>
              <a:rPr lang="en-US" sz="1300" b="1" dirty="0">
                <a:solidFill>
                  <a:schemeClr val="tx1"/>
                </a:solidFill>
              </a:rPr>
              <a:t>acidification of the lumen</a:t>
            </a:r>
            <a:r>
              <a:rPr lang="en-US" sz="1300" dirty="0">
                <a:solidFill>
                  <a:schemeClr val="tx1"/>
                </a:solidFill>
              </a:rPr>
              <a:t> (ΔpH)</a:t>
            </a:r>
            <a:endParaRPr lang="en-US" sz="1300" dirty="0"/>
          </a:p>
          <a:p>
            <a:pPr marL="177800" indent="-177800">
              <a:spcAft>
                <a:spcPts val="400"/>
              </a:spcAft>
              <a:buSzPct val="100000"/>
              <a:buChar char="•"/>
            </a:pPr>
            <a:r>
              <a:rPr lang="en-US" sz="1300" dirty="0">
                <a:solidFill>
                  <a:schemeClr val="tx1"/>
                </a:solidFill>
              </a:rPr>
              <a:t>Needs </a:t>
            </a:r>
            <a:r>
              <a:rPr lang="en-US" sz="1300" b="1" dirty="0">
                <a:solidFill>
                  <a:schemeClr val="tx1"/>
                </a:solidFill>
              </a:rPr>
              <a:t>PsbS</a:t>
            </a:r>
            <a:r>
              <a:rPr lang="en-US" sz="1300" dirty="0">
                <a:solidFill>
                  <a:schemeClr val="tx1"/>
                </a:solidFill>
              </a:rPr>
              <a:t> and the </a:t>
            </a:r>
            <a:r>
              <a:rPr lang="en-US" sz="1300" b="1" dirty="0">
                <a:solidFill>
                  <a:schemeClr val="tx1"/>
                </a:solidFill>
              </a:rPr>
              <a:t>xanthophyll cycle</a:t>
            </a:r>
            <a:endParaRPr lang="en-US" sz="1300" dirty="0"/>
          </a:p>
          <a:p>
            <a:pPr marL="177800" indent="-177800">
              <a:spcAft>
                <a:spcPts val="400"/>
              </a:spcAft>
              <a:buSzPct val="100000"/>
              <a:buChar char="•"/>
            </a:pPr>
            <a:r>
              <a:rPr lang="en-US" sz="1300" dirty="0">
                <a:solidFill>
                  <a:schemeClr val="tx1"/>
                </a:solidFill>
              </a:rPr>
              <a:t>Xanthophylls are carotenoids</a:t>
            </a:r>
            <a:endParaRPr lang="en-US" sz="1300" dirty="0"/>
          </a:p>
          <a:p>
            <a:pPr marL="177800" indent="-177800">
              <a:spcAft>
                <a:spcPts val="400"/>
              </a:spcAft>
              <a:buSzPct val="100000"/>
              <a:buChar char="•"/>
            </a:pPr>
            <a:r>
              <a:rPr lang="en-US" sz="1300" dirty="0">
                <a:solidFill>
                  <a:schemeClr val="tx1"/>
                </a:solidFill>
              </a:rPr>
              <a:t>A 'safe' valve: competes with photochemistry and fluorescence</a:t>
            </a:r>
            <a:endParaRPr lang="en-US" sz="1300" dirty="0"/>
          </a:p>
          <a:p>
            <a:pPr marL="177800" indent="-177800">
              <a:spcAft>
                <a:spcPts val="400"/>
              </a:spcAft>
              <a:buSzPct val="100000"/>
              <a:buChar char="•"/>
            </a:pPr>
            <a:r>
              <a:rPr lang="en-US" sz="1300" dirty="0">
                <a:solidFill>
                  <a:schemeClr val="tx1"/>
                </a:solidFill>
              </a:rPr>
              <a:t>Lowers F</a:t>
            </a:r>
            <a:r>
              <a:rPr lang="en-US" sz="1300" baseline="-40000" dirty="0">
                <a:solidFill>
                  <a:schemeClr val="tx1"/>
                </a:solidFill>
              </a:rPr>
              <a:t>m</a:t>
            </a:r>
            <a:r>
              <a:rPr lang="en-US" sz="1300" dirty="0">
                <a:solidFill>
                  <a:schemeClr val="tx1"/>
                </a:solidFill>
              </a:rPr>
              <a:t>′ below F</a:t>
            </a:r>
            <a:r>
              <a:rPr lang="en-US" sz="1300" baseline="-40000" dirty="0">
                <a:solidFill>
                  <a:schemeClr val="tx1"/>
                </a:solidFill>
              </a:rPr>
              <a:t>m</a:t>
            </a:r>
            <a:r>
              <a:rPr lang="en-US" sz="1300" dirty="0">
                <a:solidFill>
                  <a:schemeClr val="tx1"/>
                </a:solidFill>
              </a:rPr>
              <a:t> — the basis of the NPQ parameter</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xanthophyll cycle in detail</a:t>
            </a:r>
            <a:endParaRPr lang="en-US" sz="3200" dirty="0"/>
          </a:p>
        </p:txBody>
      </p:sp>
      <p:sp>
        <p:nvSpPr>
          <p:cNvPr id="4" name="pigment"/>
          <p:cNvSpPr/>
          <p:nvPr/>
        </p:nvSpPr>
        <p:spPr>
          <a:xfrm>
            <a:off x="731520" y="2103120"/>
            <a:ext cx="2926080" cy="1463040"/>
          </a:xfrm>
          <a:prstGeom prst="ellipse">
            <a:avLst/>
          </a:prstGeom>
          <a:solidFill>
            <a:schemeClr val="accent1"/>
          </a:solidFill>
          <a:ln/>
        </p:spPr>
      </p:sp>
      <p:sp>
        <p:nvSpPr>
          <p:cNvPr id="5" name="Text 2"/>
          <p:cNvSpPr txBox="1"/>
          <p:nvPr/>
        </p:nvSpPr>
        <p:spPr>
          <a:xfrm>
            <a:off x="731520" y="2103120"/>
            <a:ext cx="2926080" cy="1463040"/>
          </a:xfrm>
          <a:prstGeom prst="rect">
            <a:avLst/>
          </a:prstGeom>
          <a:noFill/>
          <a:ln/>
        </p:spPr>
        <p:txBody>
          <a:bodyPr wrap="square" lIns="0" tIns="0" rIns="0" bIns="0" rtlCol="0" anchor="ctr"/>
          <a:lstStyle/>
          <a:p>
            <a:pPr algn="ctr" indent="0" marL="0">
              <a:buNone/>
            </a:pPr>
            <a:r>
              <a:rPr lang="en-US" sz="1800" b="1" dirty="0">
                <a:solidFill>
                  <a:schemeClr val="bg1"/>
                </a:solidFill>
              </a:rPr>
              <a:t>Violaxanthin</a:t>
            </a:r>
            <a:endParaRPr lang="en-US" sz="1800" dirty="0"/>
          </a:p>
          <a:p>
            <a:pPr algn="ctr" indent="0" marL="0">
              <a:buNone/>
            </a:pPr>
            <a:r>
              <a:rPr lang="en-US" sz="1300" dirty="0">
                <a:solidFill>
                  <a:schemeClr val="bg1"/>
                </a:solidFill>
              </a:rPr>
              <a:t>2 epoxides</a:t>
            </a:r>
            <a:endParaRPr lang="en-US" sz="1800" dirty="0"/>
          </a:p>
        </p:txBody>
      </p:sp>
      <p:sp>
        <p:nvSpPr>
          <p:cNvPr id="6" name="arrow"/>
          <p:cNvSpPr/>
          <p:nvPr/>
        </p:nvSpPr>
        <p:spPr>
          <a:xfrm>
            <a:off x="3703320" y="2514600"/>
            <a:ext cx="777240" cy="0"/>
          </a:xfrm>
          <a:prstGeom prst="line">
            <a:avLst/>
          </a:prstGeom>
          <a:noFill/>
          <a:ln w="38100">
            <a:solidFill>
              <a:srgbClr val="D62839"/>
            </a:solidFill>
            <a:prstDash val="solid"/>
            <a:tailEnd type="triangle"/>
          </a:ln>
        </p:spPr>
      </p:sp>
      <p:sp>
        <p:nvSpPr>
          <p:cNvPr id="7" name="arrow"/>
          <p:cNvSpPr/>
          <p:nvPr/>
        </p:nvSpPr>
        <p:spPr>
          <a:xfrm flipH="1">
            <a:off x="3703320" y="3154680"/>
            <a:ext cx="777240" cy="0"/>
          </a:xfrm>
          <a:prstGeom prst="line">
            <a:avLst/>
          </a:prstGeom>
          <a:noFill/>
          <a:ln w="38100">
            <a:solidFill>
              <a:srgbClr val="2B6A94"/>
            </a:solidFill>
            <a:prstDash val="solid"/>
            <a:tailEnd type="triangle"/>
          </a:ln>
        </p:spPr>
      </p:sp>
      <p:sp>
        <p:nvSpPr>
          <p:cNvPr id="8" name="pigment"/>
          <p:cNvSpPr/>
          <p:nvPr/>
        </p:nvSpPr>
        <p:spPr>
          <a:xfrm>
            <a:off x="4526280" y="2103120"/>
            <a:ext cx="2926080" cy="1463040"/>
          </a:xfrm>
          <a:prstGeom prst="ellipse">
            <a:avLst/>
          </a:prstGeom>
          <a:solidFill>
            <a:schemeClr val="accent1"/>
          </a:solidFill>
          <a:ln/>
        </p:spPr>
      </p:sp>
      <p:sp>
        <p:nvSpPr>
          <p:cNvPr id="9" name="Text 6"/>
          <p:cNvSpPr txBox="1"/>
          <p:nvPr/>
        </p:nvSpPr>
        <p:spPr>
          <a:xfrm>
            <a:off x="4526280" y="2103120"/>
            <a:ext cx="2926080" cy="1463040"/>
          </a:xfrm>
          <a:prstGeom prst="rect">
            <a:avLst/>
          </a:prstGeom>
          <a:noFill/>
          <a:ln/>
        </p:spPr>
        <p:txBody>
          <a:bodyPr wrap="square" lIns="0" tIns="0" rIns="0" bIns="0" rtlCol="0" anchor="ctr"/>
          <a:lstStyle/>
          <a:p>
            <a:pPr algn="ctr" indent="0" marL="0">
              <a:buNone/>
            </a:pPr>
            <a:r>
              <a:rPr lang="en-US" sz="1800" b="1" dirty="0">
                <a:solidFill>
                  <a:schemeClr val="bg1"/>
                </a:solidFill>
              </a:rPr>
              <a:t>Antheraxanthin</a:t>
            </a:r>
            <a:endParaRPr lang="en-US" sz="1800" dirty="0"/>
          </a:p>
          <a:p>
            <a:pPr algn="ctr" indent="0" marL="0">
              <a:buNone/>
            </a:pPr>
            <a:r>
              <a:rPr lang="en-US" sz="1300" dirty="0">
                <a:solidFill>
                  <a:schemeClr val="bg1"/>
                </a:solidFill>
              </a:rPr>
              <a:t>1 epoxide</a:t>
            </a:r>
            <a:endParaRPr lang="en-US" sz="1800" dirty="0"/>
          </a:p>
        </p:txBody>
      </p:sp>
      <p:sp>
        <p:nvSpPr>
          <p:cNvPr id="10" name="arrow"/>
          <p:cNvSpPr/>
          <p:nvPr/>
        </p:nvSpPr>
        <p:spPr>
          <a:xfrm>
            <a:off x="7498080" y="2514600"/>
            <a:ext cx="777240" cy="0"/>
          </a:xfrm>
          <a:prstGeom prst="line">
            <a:avLst/>
          </a:prstGeom>
          <a:noFill/>
          <a:ln w="38100">
            <a:solidFill>
              <a:srgbClr val="D62839"/>
            </a:solidFill>
            <a:prstDash val="solid"/>
            <a:tailEnd type="triangle"/>
          </a:ln>
        </p:spPr>
      </p:sp>
      <p:sp>
        <p:nvSpPr>
          <p:cNvPr id="11" name="arrow"/>
          <p:cNvSpPr/>
          <p:nvPr/>
        </p:nvSpPr>
        <p:spPr>
          <a:xfrm flipH="1">
            <a:off x="7498080" y="3154680"/>
            <a:ext cx="777240" cy="0"/>
          </a:xfrm>
          <a:prstGeom prst="line">
            <a:avLst/>
          </a:prstGeom>
          <a:noFill/>
          <a:ln w="38100">
            <a:solidFill>
              <a:srgbClr val="2B6A94"/>
            </a:solidFill>
            <a:prstDash val="solid"/>
            <a:tailEnd type="triangle"/>
          </a:ln>
        </p:spPr>
      </p:sp>
      <p:sp>
        <p:nvSpPr>
          <p:cNvPr id="12" name="pigment"/>
          <p:cNvSpPr/>
          <p:nvPr/>
        </p:nvSpPr>
        <p:spPr>
          <a:xfrm>
            <a:off x="8321040" y="2103120"/>
            <a:ext cx="2926080" cy="1463040"/>
          </a:xfrm>
          <a:prstGeom prst="ellipse">
            <a:avLst/>
          </a:prstGeom>
          <a:solidFill>
            <a:schemeClr val="accent3"/>
          </a:solidFill>
          <a:ln/>
        </p:spPr>
      </p:sp>
      <p:sp>
        <p:nvSpPr>
          <p:cNvPr id="13" name="Text 10"/>
          <p:cNvSpPr txBox="1"/>
          <p:nvPr/>
        </p:nvSpPr>
        <p:spPr>
          <a:xfrm>
            <a:off x="8321040" y="2103120"/>
            <a:ext cx="2926080" cy="1463040"/>
          </a:xfrm>
          <a:prstGeom prst="rect">
            <a:avLst/>
          </a:prstGeom>
          <a:noFill/>
          <a:ln/>
        </p:spPr>
        <p:txBody>
          <a:bodyPr wrap="square" lIns="0" tIns="0" rIns="0" bIns="0" rtlCol="0" anchor="ctr"/>
          <a:lstStyle/>
          <a:p>
            <a:pPr algn="ctr" indent="0" marL="0">
              <a:buNone/>
            </a:pPr>
            <a:r>
              <a:rPr lang="en-US" sz="1800" b="1" dirty="0">
                <a:solidFill>
                  <a:schemeClr val="tx1"/>
                </a:solidFill>
              </a:rPr>
              <a:t>Zeaxanthin</a:t>
            </a:r>
            <a:endParaRPr lang="en-US" sz="1800" dirty="0"/>
          </a:p>
          <a:p>
            <a:pPr algn="ctr" indent="0" marL="0">
              <a:buNone/>
            </a:pPr>
            <a:r>
              <a:rPr lang="en-US" sz="1300" dirty="0">
                <a:solidFill>
                  <a:schemeClr val="tx1"/>
                </a:solidFill>
              </a:rPr>
              <a:t>0 epoxides · quencher</a:t>
            </a:r>
            <a:endParaRPr lang="en-US" sz="1800" dirty="0"/>
          </a:p>
        </p:txBody>
      </p:sp>
      <p:sp>
        <p:nvSpPr>
          <p:cNvPr id="14" name="Text 11"/>
          <p:cNvSpPr txBox="1"/>
          <p:nvPr/>
        </p:nvSpPr>
        <p:spPr>
          <a:xfrm>
            <a:off x="3291840" y="1508760"/>
            <a:ext cx="6858000" cy="411480"/>
          </a:xfrm>
          <a:prstGeom prst="rect">
            <a:avLst/>
          </a:prstGeom>
          <a:noFill/>
          <a:ln/>
        </p:spPr>
        <p:txBody>
          <a:bodyPr wrap="square" lIns="0" tIns="0" rIns="0" bIns="0" rtlCol="0" anchor="ctr"/>
          <a:lstStyle/>
          <a:p>
            <a:pPr algn="ctr" indent="0" marL="0">
              <a:buNone/>
            </a:pPr>
            <a:r>
              <a:rPr lang="en-US" sz="1500" b="1" dirty="0">
                <a:solidFill>
                  <a:schemeClr val="accent2"/>
                </a:solidFill>
              </a:rPr>
              <a:t>VDE: high light · acidic lumen (low pH) · ascorbate  →</a:t>
            </a:r>
            <a:endParaRPr lang="en-US" sz="1500" dirty="0"/>
          </a:p>
        </p:txBody>
      </p:sp>
      <p:sp>
        <p:nvSpPr>
          <p:cNvPr id="15" name="Text 12"/>
          <p:cNvSpPr txBox="1"/>
          <p:nvPr/>
        </p:nvSpPr>
        <p:spPr>
          <a:xfrm>
            <a:off x="3291840" y="3703320"/>
            <a:ext cx="6858000" cy="411480"/>
          </a:xfrm>
          <a:prstGeom prst="rect">
            <a:avLst/>
          </a:prstGeom>
          <a:noFill/>
          <a:ln/>
        </p:spPr>
        <p:txBody>
          <a:bodyPr wrap="square" lIns="0" tIns="0" rIns="0" bIns="0" rtlCol="0" anchor="ctr"/>
          <a:lstStyle/>
          <a:p>
            <a:pPr algn="ctr" indent="0" marL="0">
              <a:buNone/>
            </a:pPr>
            <a:r>
              <a:rPr lang="en-US" sz="1500" b="1" dirty="0">
                <a:solidFill>
                  <a:schemeClr val="accent5"/>
                </a:solidFill>
              </a:rPr>
              <a:t>←  ZE: low light / darkness</a:t>
            </a:r>
            <a:endParaRPr lang="en-US" sz="1500" dirty="0"/>
          </a:p>
        </p:txBody>
      </p:sp>
      <p:sp>
        <p:nvSpPr>
          <p:cNvPr id="16" name="card"/>
          <p:cNvSpPr/>
          <p:nvPr/>
        </p:nvSpPr>
        <p:spPr>
          <a:xfrm>
            <a:off x="548640" y="4389120"/>
            <a:ext cx="3566160" cy="1783080"/>
          </a:xfrm>
          <a:prstGeom prst="roundRect">
            <a:avLst>
              <a:gd name="adj" fmla="val 4103"/>
            </a:avLst>
          </a:prstGeom>
          <a:solidFill>
            <a:schemeClr val="bg2"/>
          </a:solidFill>
          <a:ln/>
          <a:effectLst>
            <a:outerShdw sx="100000" sy="100000" kx="0" ky="0" algn="bl" rotWithShape="0" blurRad="76200" dist="25400" dir="5400000">
              <a:srgbClr val="000000">
                <a:alpha val="14000"/>
              </a:srgbClr>
            </a:outerShdw>
          </a:effectLst>
        </p:spPr>
      </p:sp>
      <p:sp>
        <p:nvSpPr>
          <p:cNvPr id="17" name="icon circle"/>
          <p:cNvSpPr/>
          <p:nvPr/>
        </p:nvSpPr>
        <p:spPr>
          <a:xfrm>
            <a:off x="731520" y="4544568"/>
            <a:ext cx="420624" cy="420624"/>
          </a:xfrm>
          <a:prstGeom prst="ellipse">
            <a:avLst/>
          </a:prstGeom>
          <a:solidFill>
            <a:schemeClr val="accent1"/>
          </a:solidFill>
          <a:ln/>
        </p:spPr>
      </p:sp>
      <p:pic>
        <p:nvPicPr>
          <p:cNvPr id="18" name="Image 0" descr="Sync icon">    </p:cNvPr>
          <p:cNvPicPr>
            <a:picLocks noChangeAspect="1"/>
          </p:cNvPicPr>
          <p:nvPr/>
        </p:nvPicPr>
        <p:blipFill>
          <a:blip r:embed="rId1"/>
          <a:stretch>
            <a:fillRect/>
          </a:stretch>
        </p:blipFill>
        <p:spPr>
          <a:xfrm>
            <a:off x="840882" y="4653930"/>
            <a:ext cx="201900" cy="201900"/>
          </a:xfrm>
          <a:prstGeom prst="rect">
            <a:avLst/>
          </a:prstGeom>
        </p:spPr>
      </p:pic>
      <p:sp>
        <p:nvSpPr>
          <p:cNvPr id="19" name="Text 15"/>
          <p:cNvSpPr txBox="1"/>
          <p:nvPr/>
        </p:nvSpPr>
        <p:spPr>
          <a:xfrm>
            <a:off x="1261872" y="4526280"/>
            <a:ext cx="2715768" cy="457200"/>
          </a:xfrm>
          <a:prstGeom prst="rect">
            <a:avLst/>
          </a:prstGeom>
          <a:noFill/>
          <a:ln/>
        </p:spPr>
        <p:txBody>
          <a:bodyPr wrap="square" lIns="0" tIns="0" rIns="0" bIns="0" rtlCol="0" anchor="ctr"/>
          <a:lstStyle/>
          <a:p>
            <a:pPr indent="0" marL="0">
              <a:buNone/>
            </a:pPr>
            <a:r>
              <a:rPr lang="en-US" sz="1600" b="1" dirty="0">
                <a:solidFill>
                  <a:schemeClr val="tx2"/>
                </a:solidFill>
              </a:rPr>
              <a:t>Fast &amp; reversible</a:t>
            </a:r>
            <a:endParaRPr lang="en-US" sz="1600" dirty="0"/>
          </a:p>
        </p:txBody>
      </p:sp>
      <p:sp>
        <p:nvSpPr>
          <p:cNvPr id="20" name="Text 16"/>
          <p:cNvSpPr txBox="1"/>
          <p:nvPr/>
        </p:nvSpPr>
        <p:spPr>
          <a:xfrm>
            <a:off x="731520" y="5074920"/>
            <a:ext cx="3200400" cy="10058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Zeaxanthin + protonated PsbS give rapid qE that relaxes in seconds–minutes in the dark.</a:t>
            </a:r>
            <a:endParaRPr lang="en-US" sz="1300" dirty="0"/>
          </a:p>
        </p:txBody>
      </p:sp>
      <p:sp>
        <p:nvSpPr>
          <p:cNvPr id="21" name="card"/>
          <p:cNvSpPr/>
          <p:nvPr/>
        </p:nvSpPr>
        <p:spPr>
          <a:xfrm>
            <a:off x="4315968" y="4389120"/>
            <a:ext cx="3566160" cy="1783080"/>
          </a:xfrm>
          <a:prstGeom prst="roundRect">
            <a:avLst>
              <a:gd name="adj" fmla="val 4103"/>
            </a:avLst>
          </a:prstGeom>
          <a:solidFill>
            <a:schemeClr val="bg2"/>
          </a:solidFill>
          <a:ln/>
          <a:effectLst>
            <a:outerShdw sx="100000" sy="100000" kx="0" ky="0" algn="bl" rotWithShape="0" blurRad="76200" dist="25400" dir="5400000">
              <a:srgbClr val="000000">
                <a:alpha val="14000"/>
              </a:srgbClr>
            </a:outerShdw>
          </a:effectLst>
        </p:spPr>
      </p:sp>
      <p:sp>
        <p:nvSpPr>
          <p:cNvPr id="22" name="icon circle"/>
          <p:cNvSpPr/>
          <p:nvPr/>
        </p:nvSpPr>
        <p:spPr>
          <a:xfrm>
            <a:off x="4498848" y="4544568"/>
            <a:ext cx="420624" cy="420624"/>
          </a:xfrm>
          <a:prstGeom prst="ellipse">
            <a:avLst/>
          </a:prstGeom>
          <a:solidFill>
            <a:schemeClr val="accent3"/>
          </a:solidFill>
          <a:ln/>
        </p:spPr>
      </p:sp>
      <p:pic>
        <p:nvPicPr>
          <p:cNvPr id="23" name="Image 1" descr="Clock icon">    </p:cNvPr>
          <p:cNvPicPr>
            <a:picLocks noChangeAspect="1"/>
          </p:cNvPicPr>
          <p:nvPr/>
        </p:nvPicPr>
        <p:blipFill>
          <a:blip r:embed="rId2"/>
          <a:stretch>
            <a:fillRect/>
          </a:stretch>
        </p:blipFill>
        <p:spPr>
          <a:xfrm>
            <a:off x="4608210" y="4653930"/>
            <a:ext cx="201900" cy="201900"/>
          </a:xfrm>
          <a:prstGeom prst="rect">
            <a:avLst/>
          </a:prstGeom>
        </p:spPr>
      </p:pic>
      <p:sp>
        <p:nvSpPr>
          <p:cNvPr id="24" name="Text 19"/>
          <p:cNvSpPr txBox="1"/>
          <p:nvPr/>
        </p:nvSpPr>
        <p:spPr>
          <a:xfrm>
            <a:off x="5029200" y="4526280"/>
            <a:ext cx="2715768" cy="457200"/>
          </a:xfrm>
          <a:prstGeom prst="rect">
            <a:avLst/>
          </a:prstGeom>
          <a:noFill/>
          <a:ln/>
        </p:spPr>
        <p:txBody>
          <a:bodyPr wrap="square" lIns="0" tIns="0" rIns="0" bIns="0" rtlCol="0" anchor="ctr"/>
          <a:lstStyle/>
          <a:p>
            <a:pPr indent="0" marL="0">
              <a:buNone/>
            </a:pPr>
            <a:r>
              <a:rPr lang="en-US" sz="1600" b="1" dirty="0">
                <a:solidFill>
                  <a:schemeClr val="tx2"/>
                </a:solidFill>
              </a:rPr>
              <a:t>Sustained</a:t>
            </a:r>
            <a:endParaRPr lang="en-US" sz="1600" dirty="0"/>
          </a:p>
        </p:txBody>
      </p:sp>
      <p:sp>
        <p:nvSpPr>
          <p:cNvPr id="25" name="Text 20"/>
          <p:cNvSpPr txBox="1"/>
          <p:nvPr/>
        </p:nvSpPr>
        <p:spPr>
          <a:xfrm>
            <a:off x="4498848" y="5074920"/>
            <a:ext cx="3200400" cy="10058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Retained zeaxanthin (e.g. over-wintering evergreens) keeps quenching on and lowers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a:t>
            </a:r>
            <a:endParaRPr lang="en-US" sz="1300" dirty="0"/>
          </a:p>
        </p:txBody>
      </p:sp>
      <p:sp>
        <p:nvSpPr>
          <p:cNvPr id="26" name="card"/>
          <p:cNvSpPr/>
          <p:nvPr/>
        </p:nvSpPr>
        <p:spPr>
          <a:xfrm>
            <a:off x="8083296" y="4389120"/>
            <a:ext cx="3557016" cy="1783080"/>
          </a:xfrm>
          <a:prstGeom prst="roundRect">
            <a:avLst>
              <a:gd name="adj" fmla="val 4103"/>
            </a:avLst>
          </a:prstGeom>
          <a:solidFill>
            <a:schemeClr val="bg2"/>
          </a:solidFill>
          <a:ln/>
          <a:effectLst>
            <a:outerShdw sx="100000" sy="100000" kx="0" ky="0" algn="bl" rotWithShape="0" blurRad="76200" dist="25400" dir="5400000">
              <a:srgbClr val="000000">
                <a:alpha val="14000"/>
              </a:srgbClr>
            </a:outerShdw>
          </a:effectLst>
        </p:spPr>
      </p:sp>
      <p:sp>
        <p:nvSpPr>
          <p:cNvPr id="27" name="icon circle"/>
          <p:cNvSpPr/>
          <p:nvPr/>
        </p:nvSpPr>
        <p:spPr>
          <a:xfrm>
            <a:off x="8266176" y="4544568"/>
            <a:ext cx="420624" cy="420624"/>
          </a:xfrm>
          <a:prstGeom prst="ellipse">
            <a:avLst/>
          </a:prstGeom>
          <a:solidFill>
            <a:schemeClr val="accent5"/>
          </a:solidFill>
          <a:ln/>
        </p:spPr>
      </p:sp>
      <p:pic>
        <p:nvPicPr>
          <p:cNvPr id="28" name="Image 2" descr="Eye icon">    </p:cNvPr>
          <p:cNvPicPr>
            <a:picLocks noChangeAspect="1"/>
          </p:cNvPicPr>
          <p:nvPr/>
        </p:nvPicPr>
        <p:blipFill>
          <a:blip r:embed="rId3"/>
          <a:stretch>
            <a:fillRect/>
          </a:stretch>
        </p:blipFill>
        <p:spPr>
          <a:xfrm>
            <a:off x="8375538" y="4653930"/>
            <a:ext cx="201900" cy="201900"/>
          </a:xfrm>
          <a:prstGeom prst="rect">
            <a:avLst/>
          </a:prstGeom>
        </p:spPr>
      </p:pic>
      <p:sp>
        <p:nvSpPr>
          <p:cNvPr id="29" name="Text 23"/>
          <p:cNvSpPr txBox="1"/>
          <p:nvPr/>
        </p:nvSpPr>
        <p:spPr>
          <a:xfrm>
            <a:off x="8796528" y="4526280"/>
            <a:ext cx="2706624" cy="457200"/>
          </a:xfrm>
          <a:prstGeom prst="rect">
            <a:avLst/>
          </a:prstGeom>
          <a:noFill/>
          <a:ln/>
        </p:spPr>
        <p:txBody>
          <a:bodyPr wrap="square" lIns="0" tIns="0" rIns="0" bIns="0" rtlCol="0" anchor="ctr"/>
          <a:lstStyle/>
          <a:p>
            <a:pPr indent="0" marL="0">
              <a:buNone/>
            </a:pPr>
            <a:r>
              <a:rPr lang="en-US" sz="1600" b="1" dirty="0">
                <a:solidFill>
                  <a:schemeClr val="tx2"/>
                </a:solidFill>
              </a:rPr>
              <a:t>Optical signature</a:t>
            </a:r>
            <a:endParaRPr lang="en-US" sz="1600" dirty="0"/>
          </a:p>
        </p:txBody>
      </p:sp>
      <p:sp>
        <p:nvSpPr>
          <p:cNvPr id="30" name="Text 24"/>
          <p:cNvSpPr txBox="1"/>
          <p:nvPr/>
        </p:nvSpPr>
        <p:spPr>
          <a:xfrm>
            <a:off x="8266176" y="5074920"/>
            <a:ext cx="3191256" cy="10058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De-epoxidation changes reflectance at ~531 nm — the basis of the </a:t>
            </a:r>
            <a:r>
              <a:rPr lang="en-US" sz="1300" b="1" dirty="0">
                <a:solidFill>
                  <a:schemeClr val="tx1"/>
                </a:solidFill>
              </a:rPr>
              <a:t>PRI</a:t>
            </a:r>
            <a:r>
              <a:rPr lang="en-US" sz="1300" dirty="0">
                <a:solidFill>
                  <a:schemeClr val="tx1"/>
                </a:solidFill>
              </a:rPr>
              <a:t> index used with SIF.</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saturating-pulse principle</a:t>
            </a:r>
            <a:endParaRPr lang="en-US" sz="3200" dirty="0"/>
          </a:p>
        </p:txBody>
      </p:sp>
      <p:sp>
        <p:nvSpPr>
          <p:cNvPr id="4" name="card"/>
          <p:cNvSpPr/>
          <p:nvPr/>
        </p:nvSpPr>
        <p:spPr>
          <a:xfrm>
            <a:off x="548640" y="1325880"/>
            <a:ext cx="5440680" cy="2926080"/>
          </a:xfrm>
          <a:prstGeom prst="roundRect">
            <a:avLst>
              <a:gd name="adj" fmla="val 2500"/>
            </a:avLst>
          </a:prstGeom>
          <a:solidFill>
            <a:schemeClr val="bg2"/>
          </a:solidFill>
          <a:ln/>
          <a:effectLst>
            <a:outerShdw sx="100000" sy="100000" kx="0" ky="0" algn="bl" rotWithShape="0" blurRad="76200" dist="25400" dir="5400000">
              <a:srgbClr val="000000">
                <a:alpha val="14000"/>
              </a:srgbClr>
            </a:outerShdw>
          </a:effectLst>
        </p:spPr>
      </p:sp>
      <p:sp>
        <p:nvSpPr>
          <p:cNvPr id="5" name="Text 2"/>
          <p:cNvSpPr txBox="1"/>
          <p:nvPr/>
        </p:nvSpPr>
        <p:spPr>
          <a:xfrm>
            <a:off x="777240" y="1417320"/>
            <a:ext cx="5029200" cy="411480"/>
          </a:xfrm>
          <a:prstGeom prst="rect">
            <a:avLst/>
          </a:prstGeom>
          <a:noFill/>
          <a:ln/>
        </p:spPr>
        <p:txBody>
          <a:bodyPr wrap="square" lIns="0" tIns="0" rIns="0" bIns="0" rtlCol="0" anchor="ctr"/>
          <a:lstStyle/>
          <a:p>
            <a:pPr algn="l" indent="0" marL="0">
              <a:buNone/>
            </a:pPr>
            <a:r>
              <a:rPr lang="en-US" sz="1700" b="1" dirty="0">
                <a:solidFill>
                  <a:schemeClr val="tx2"/>
                </a:solidFill>
              </a:rPr>
              <a:t>Before the pulse (steady light)</a:t>
            </a:r>
            <a:endParaRPr lang="en-US" sz="1700" dirty="0"/>
          </a:p>
        </p:txBody>
      </p:sp>
      <p:sp>
        <p:nvSpPr>
          <p:cNvPr id="6" name="open centre"/>
          <p:cNvSpPr/>
          <p:nvPr/>
        </p:nvSpPr>
        <p:spPr>
          <a:xfrm>
            <a:off x="1051560" y="1965960"/>
            <a:ext cx="594360" cy="594360"/>
          </a:xfrm>
          <a:prstGeom prst="ellipse">
            <a:avLst/>
          </a:prstGeom>
          <a:solidFill>
            <a:schemeClr val="accent1"/>
          </a:solidFill>
          <a:ln/>
        </p:spPr>
      </p:sp>
      <p:sp>
        <p:nvSpPr>
          <p:cNvPr id="7" name="Text 4"/>
          <p:cNvSpPr txBox="1"/>
          <p:nvPr/>
        </p:nvSpPr>
        <p:spPr>
          <a:xfrm>
            <a:off x="960120" y="1965960"/>
            <a:ext cx="777240" cy="594360"/>
          </a:xfrm>
          <a:prstGeom prst="rect">
            <a:avLst/>
          </a:prstGeom>
          <a:noFill/>
          <a:ln/>
        </p:spPr>
        <p:txBody>
          <a:bodyPr wrap="square" lIns="0" tIns="0" rIns="0" bIns="0" rtlCol="0" anchor="ctr"/>
          <a:lstStyle/>
          <a:p>
            <a:pPr algn="ctr" indent="0" marL="0">
              <a:buNone/>
            </a:pPr>
            <a:r>
              <a:rPr lang="en-US" sz="900" b="1" dirty="0">
                <a:solidFill>
                  <a:schemeClr val="bg1"/>
                </a:solidFill>
              </a:rPr>
              <a:t>open</a:t>
            </a:r>
            <a:endParaRPr lang="en-US" sz="900" dirty="0"/>
          </a:p>
        </p:txBody>
      </p:sp>
      <p:sp>
        <p:nvSpPr>
          <p:cNvPr id="8" name="closed centre"/>
          <p:cNvSpPr/>
          <p:nvPr/>
        </p:nvSpPr>
        <p:spPr>
          <a:xfrm>
            <a:off x="1828800" y="1965960"/>
            <a:ext cx="594360" cy="594360"/>
          </a:xfrm>
          <a:prstGeom prst="ellipse">
            <a:avLst/>
          </a:prstGeom>
          <a:solidFill>
            <a:schemeClr val="accent2"/>
          </a:solidFill>
          <a:ln/>
        </p:spPr>
      </p:sp>
      <p:sp>
        <p:nvSpPr>
          <p:cNvPr id="9" name="Text 6"/>
          <p:cNvSpPr txBox="1"/>
          <p:nvPr/>
        </p:nvSpPr>
        <p:spPr>
          <a:xfrm>
            <a:off x="1737360" y="1965960"/>
            <a:ext cx="777240" cy="594360"/>
          </a:xfrm>
          <a:prstGeom prst="rect">
            <a:avLst/>
          </a:prstGeom>
          <a:noFill/>
          <a:ln/>
        </p:spPr>
        <p:txBody>
          <a:bodyPr wrap="square" lIns="0" tIns="0" rIns="0" bIns="0" rtlCol="0" anchor="ctr"/>
          <a:lstStyle/>
          <a:p>
            <a:pPr algn="ctr" indent="0" marL="0">
              <a:buNone/>
            </a:pPr>
            <a:r>
              <a:rPr lang="en-US" sz="900" b="1" dirty="0">
                <a:solidFill>
                  <a:schemeClr val="bg1"/>
                </a:solidFill>
              </a:rPr>
              <a:t>closed</a:t>
            </a:r>
            <a:endParaRPr lang="en-US" sz="900" dirty="0"/>
          </a:p>
        </p:txBody>
      </p:sp>
      <p:sp>
        <p:nvSpPr>
          <p:cNvPr id="10" name="open centre"/>
          <p:cNvSpPr/>
          <p:nvPr/>
        </p:nvSpPr>
        <p:spPr>
          <a:xfrm>
            <a:off x="2606040" y="1965960"/>
            <a:ext cx="594360" cy="594360"/>
          </a:xfrm>
          <a:prstGeom prst="ellipse">
            <a:avLst/>
          </a:prstGeom>
          <a:solidFill>
            <a:schemeClr val="accent1"/>
          </a:solidFill>
          <a:ln/>
        </p:spPr>
      </p:sp>
      <p:sp>
        <p:nvSpPr>
          <p:cNvPr id="11" name="Text 8"/>
          <p:cNvSpPr txBox="1"/>
          <p:nvPr/>
        </p:nvSpPr>
        <p:spPr>
          <a:xfrm>
            <a:off x="2514600" y="1965960"/>
            <a:ext cx="777240" cy="594360"/>
          </a:xfrm>
          <a:prstGeom prst="rect">
            <a:avLst/>
          </a:prstGeom>
          <a:noFill/>
          <a:ln/>
        </p:spPr>
        <p:txBody>
          <a:bodyPr wrap="square" lIns="0" tIns="0" rIns="0" bIns="0" rtlCol="0" anchor="ctr"/>
          <a:lstStyle/>
          <a:p>
            <a:pPr algn="ctr" indent="0" marL="0">
              <a:buNone/>
            </a:pPr>
            <a:r>
              <a:rPr lang="en-US" sz="900" b="1" dirty="0">
                <a:solidFill>
                  <a:schemeClr val="bg1"/>
                </a:solidFill>
              </a:rPr>
              <a:t>open</a:t>
            </a:r>
            <a:endParaRPr lang="en-US" sz="900" dirty="0"/>
          </a:p>
        </p:txBody>
      </p:sp>
      <p:sp>
        <p:nvSpPr>
          <p:cNvPr id="12" name="open centre"/>
          <p:cNvSpPr/>
          <p:nvPr/>
        </p:nvSpPr>
        <p:spPr>
          <a:xfrm>
            <a:off x="3383280" y="1965960"/>
            <a:ext cx="594360" cy="594360"/>
          </a:xfrm>
          <a:prstGeom prst="ellipse">
            <a:avLst/>
          </a:prstGeom>
          <a:solidFill>
            <a:schemeClr val="accent1"/>
          </a:solidFill>
          <a:ln/>
        </p:spPr>
      </p:sp>
      <p:sp>
        <p:nvSpPr>
          <p:cNvPr id="13" name="Text 10"/>
          <p:cNvSpPr txBox="1"/>
          <p:nvPr/>
        </p:nvSpPr>
        <p:spPr>
          <a:xfrm>
            <a:off x="3291840" y="1965960"/>
            <a:ext cx="777240" cy="594360"/>
          </a:xfrm>
          <a:prstGeom prst="rect">
            <a:avLst/>
          </a:prstGeom>
          <a:noFill/>
          <a:ln/>
        </p:spPr>
        <p:txBody>
          <a:bodyPr wrap="square" lIns="0" tIns="0" rIns="0" bIns="0" rtlCol="0" anchor="ctr"/>
          <a:lstStyle/>
          <a:p>
            <a:pPr algn="ctr" indent="0" marL="0">
              <a:buNone/>
            </a:pPr>
            <a:r>
              <a:rPr lang="en-US" sz="900" b="1" dirty="0">
                <a:solidFill>
                  <a:schemeClr val="bg1"/>
                </a:solidFill>
              </a:rPr>
              <a:t>open</a:t>
            </a:r>
            <a:endParaRPr lang="en-US" sz="900" dirty="0"/>
          </a:p>
        </p:txBody>
      </p:sp>
      <p:sp>
        <p:nvSpPr>
          <p:cNvPr id="14" name="closed centre"/>
          <p:cNvSpPr/>
          <p:nvPr/>
        </p:nvSpPr>
        <p:spPr>
          <a:xfrm>
            <a:off x="4160520" y="1965960"/>
            <a:ext cx="594360" cy="594360"/>
          </a:xfrm>
          <a:prstGeom prst="ellipse">
            <a:avLst/>
          </a:prstGeom>
          <a:solidFill>
            <a:schemeClr val="accent2"/>
          </a:solidFill>
          <a:ln/>
        </p:spPr>
      </p:sp>
      <p:sp>
        <p:nvSpPr>
          <p:cNvPr id="15" name="Text 12"/>
          <p:cNvSpPr txBox="1"/>
          <p:nvPr/>
        </p:nvSpPr>
        <p:spPr>
          <a:xfrm>
            <a:off x="4069080" y="1965960"/>
            <a:ext cx="777240" cy="594360"/>
          </a:xfrm>
          <a:prstGeom prst="rect">
            <a:avLst/>
          </a:prstGeom>
          <a:noFill/>
          <a:ln/>
        </p:spPr>
        <p:txBody>
          <a:bodyPr wrap="square" lIns="0" tIns="0" rIns="0" bIns="0" rtlCol="0" anchor="ctr"/>
          <a:lstStyle/>
          <a:p>
            <a:pPr algn="ctr" indent="0" marL="0">
              <a:buNone/>
            </a:pPr>
            <a:r>
              <a:rPr lang="en-US" sz="900" b="1" dirty="0">
                <a:solidFill>
                  <a:schemeClr val="bg1"/>
                </a:solidFill>
              </a:rPr>
              <a:t>closed</a:t>
            </a:r>
            <a:endParaRPr lang="en-US" sz="900" dirty="0"/>
          </a:p>
        </p:txBody>
      </p:sp>
      <p:sp>
        <p:nvSpPr>
          <p:cNvPr id="16" name="open centre"/>
          <p:cNvSpPr/>
          <p:nvPr/>
        </p:nvSpPr>
        <p:spPr>
          <a:xfrm>
            <a:off x="4937760" y="1965960"/>
            <a:ext cx="594360" cy="594360"/>
          </a:xfrm>
          <a:prstGeom prst="ellipse">
            <a:avLst/>
          </a:prstGeom>
          <a:solidFill>
            <a:schemeClr val="accent1"/>
          </a:solidFill>
          <a:ln/>
        </p:spPr>
      </p:sp>
      <p:sp>
        <p:nvSpPr>
          <p:cNvPr id="17" name="Text 14"/>
          <p:cNvSpPr txBox="1"/>
          <p:nvPr/>
        </p:nvSpPr>
        <p:spPr>
          <a:xfrm>
            <a:off x="4846320" y="1965960"/>
            <a:ext cx="777240" cy="594360"/>
          </a:xfrm>
          <a:prstGeom prst="rect">
            <a:avLst/>
          </a:prstGeom>
          <a:noFill/>
          <a:ln/>
        </p:spPr>
        <p:txBody>
          <a:bodyPr wrap="square" lIns="0" tIns="0" rIns="0" bIns="0" rtlCol="0" anchor="ctr"/>
          <a:lstStyle/>
          <a:p>
            <a:pPr algn="ctr" indent="0" marL="0">
              <a:buNone/>
            </a:pPr>
            <a:r>
              <a:rPr lang="en-US" sz="900" b="1" dirty="0">
                <a:solidFill>
                  <a:schemeClr val="bg1"/>
                </a:solidFill>
              </a:rPr>
              <a:t>open</a:t>
            </a:r>
            <a:endParaRPr lang="en-US" sz="900" dirty="0"/>
          </a:p>
        </p:txBody>
      </p:sp>
      <p:sp>
        <p:nvSpPr>
          <p:cNvPr id="18" name="closed centre"/>
          <p:cNvSpPr/>
          <p:nvPr/>
        </p:nvSpPr>
        <p:spPr>
          <a:xfrm>
            <a:off x="1051560" y="2743200"/>
            <a:ext cx="594360" cy="594360"/>
          </a:xfrm>
          <a:prstGeom prst="ellipse">
            <a:avLst/>
          </a:prstGeom>
          <a:solidFill>
            <a:schemeClr val="accent2"/>
          </a:solidFill>
          <a:ln/>
        </p:spPr>
      </p:sp>
      <p:sp>
        <p:nvSpPr>
          <p:cNvPr id="19" name="Text 16"/>
          <p:cNvSpPr txBox="1"/>
          <p:nvPr/>
        </p:nvSpPr>
        <p:spPr>
          <a:xfrm>
            <a:off x="960120" y="2743200"/>
            <a:ext cx="777240" cy="594360"/>
          </a:xfrm>
          <a:prstGeom prst="rect">
            <a:avLst/>
          </a:prstGeom>
          <a:noFill/>
          <a:ln/>
        </p:spPr>
        <p:txBody>
          <a:bodyPr wrap="square" lIns="0" tIns="0" rIns="0" bIns="0" rtlCol="0" anchor="ctr"/>
          <a:lstStyle/>
          <a:p>
            <a:pPr algn="ctr" indent="0" marL="0">
              <a:buNone/>
            </a:pPr>
            <a:r>
              <a:rPr lang="en-US" sz="900" b="1" dirty="0">
                <a:solidFill>
                  <a:schemeClr val="bg1"/>
                </a:solidFill>
              </a:rPr>
              <a:t>closed</a:t>
            </a:r>
            <a:endParaRPr lang="en-US" sz="900" dirty="0"/>
          </a:p>
        </p:txBody>
      </p:sp>
      <p:sp>
        <p:nvSpPr>
          <p:cNvPr id="20" name="open centre"/>
          <p:cNvSpPr/>
          <p:nvPr/>
        </p:nvSpPr>
        <p:spPr>
          <a:xfrm>
            <a:off x="1828800" y="2743200"/>
            <a:ext cx="594360" cy="594360"/>
          </a:xfrm>
          <a:prstGeom prst="ellipse">
            <a:avLst/>
          </a:prstGeom>
          <a:solidFill>
            <a:schemeClr val="accent1"/>
          </a:solidFill>
          <a:ln/>
        </p:spPr>
      </p:sp>
      <p:sp>
        <p:nvSpPr>
          <p:cNvPr id="21" name="Text 18"/>
          <p:cNvSpPr txBox="1"/>
          <p:nvPr/>
        </p:nvSpPr>
        <p:spPr>
          <a:xfrm>
            <a:off x="1737360" y="2743200"/>
            <a:ext cx="777240" cy="594360"/>
          </a:xfrm>
          <a:prstGeom prst="rect">
            <a:avLst/>
          </a:prstGeom>
          <a:noFill/>
          <a:ln/>
        </p:spPr>
        <p:txBody>
          <a:bodyPr wrap="square" lIns="0" tIns="0" rIns="0" bIns="0" rtlCol="0" anchor="ctr"/>
          <a:lstStyle/>
          <a:p>
            <a:pPr algn="ctr" indent="0" marL="0">
              <a:buNone/>
            </a:pPr>
            <a:r>
              <a:rPr lang="en-US" sz="900" b="1" dirty="0">
                <a:solidFill>
                  <a:schemeClr val="bg1"/>
                </a:solidFill>
              </a:rPr>
              <a:t>open</a:t>
            </a:r>
            <a:endParaRPr lang="en-US" sz="900" dirty="0"/>
          </a:p>
        </p:txBody>
      </p:sp>
      <p:sp>
        <p:nvSpPr>
          <p:cNvPr id="22" name="open centre"/>
          <p:cNvSpPr/>
          <p:nvPr/>
        </p:nvSpPr>
        <p:spPr>
          <a:xfrm>
            <a:off x="2606040" y="2743200"/>
            <a:ext cx="594360" cy="594360"/>
          </a:xfrm>
          <a:prstGeom prst="ellipse">
            <a:avLst/>
          </a:prstGeom>
          <a:solidFill>
            <a:schemeClr val="accent1"/>
          </a:solidFill>
          <a:ln/>
        </p:spPr>
      </p:sp>
      <p:sp>
        <p:nvSpPr>
          <p:cNvPr id="23" name="Text 20"/>
          <p:cNvSpPr txBox="1"/>
          <p:nvPr/>
        </p:nvSpPr>
        <p:spPr>
          <a:xfrm>
            <a:off x="2514600" y="2743200"/>
            <a:ext cx="777240" cy="594360"/>
          </a:xfrm>
          <a:prstGeom prst="rect">
            <a:avLst/>
          </a:prstGeom>
          <a:noFill/>
          <a:ln/>
        </p:spPr>
        <p:txBody>
          <a:bodyPr wrap="square" lIns="0" tIns="0" rIns="0" bIns="0" rtlCol="0" anchor="ctr"/>
          <a:lstStyle/>
          <a:p>
            <a:pPr algn="ctr" indent="0" marL="0">
              <a:buNone/>
            </a:pPr>
            <a:r>
              <a:rPr lang="en-US" sz="900" b="1" dirty="0">
                <a:solidFill>
                  <a:schemeClr val="bg1"/>
                </a:solidFill>
              </a:rPr>
              <a:t>open</a:t>
            </a:r>
            <a:endParaRPr lang="en-US" sz="900" dirty="0"/>
          </a:p>
        </p:txBody>
      </p:sp>
      <p:sp>
        <p:nvSpPr>
          <p:cNvPr id="24" name="closed centre"/>
          <p:cNvSpPr/>
          <p:nvPr/>
        </p:nvSpPr>
        <p:spPr>
          <a:xfrm>
            <a:off x="3383280" y="2743200"/>
            <a:ext cx="594360" cy="594360"/>
          </a:xfrm>
          <a:prstGeom prst="ellipse">
            <a:avLst/>
          </a:prstGeom>
          <a:solidFill>
            <a:schemeClr val="accent2"/>
          </a:solidFill>
          <a:ln/>
        </p:spPr>
      </p:sp>
      <p:sp>
        <p:nvSpPr>
          <p:cNvPr id="25" name="Text 22"/>
          <p:cNvSpPr txBox="1"/>
          <p:nvPr/>
        </p:nvSpPr>
        <p:spPr>
          <a:xfrm>
            <a:off x="3291840" y="2743200"/>
            <a:ext cx="777240" cy="594360"/>
          </a:xfrm>
          <a:prstGeom prst="rect">
            <a:avLst/>
          </a:prstGeom>
          <a:noFill/>
          <a:ln/>
        </p:spPr>
        <p:txBody>
          <a:bodyPr wrap="square" lIns="0" tIns="0" rIns="0" bIns="0" rtlCol="0" anchor="ctr"/>
          <a:lstStyle/>
          <a:p>
            <a:pPr algn="ctr" indent="0" marL="0">
              <a:buNone/>
            </a:pPr>
            <a:r>
              <a:rPr lang="en-US" sz="900" b="1" dirty="0">
                <a:solidFill>
                  <a:schemeClr val="bg1"/>
                </a:solidFill>
              </a:rPr>
              <a:t>closed</a:t>
            </a:r>
            <a:endParaRPr lang="en-US" sz="900" dirty="0"/>
          </a:p>
        </p:txBody>
      </p:sp>
      <p:sp>
        <p:nvSpPr>
          <p:cNvPr id="26" name="open centre"/>
          <p:cNvSpPr/>
          <p:nvPr/>
        </p:nvSpPr>
        <p:spPr>
          <a:xfrm>
            <a:off x="4160520" y="2743200"/>
            <a:ext cx="594360" cy="594360"/>
          </a:xfrm>
          <a:prstGeom prst="ellipse">
            <a:avLst/>
          </a:prstGeom>
          <a:solidFill>
            <a:schemeClr val="accent1"/>
          </a:solidFill>
          <a:ln/>
        </p:spPr>
      </p:sp>
      <p:sp>
        <p:nvSpPr>
          <p:cNvPr id="27" name="Text 24"/>
          <p:cNvSpPr txBox="1"/>
          <p:nvPr/>
        </p:nvSpPr>
        <p:spPr>
          <a:xfrm>
            <a:off x="4069080" y="2743200"/>
            <a:ext cx="777240" cy="594360"/>
          </a:xfrm>
          <a:prstGeom prst="rect">
            <a:avLst/>
          </a:prstGeom>
          <a:noFill/>
          <a:ln/>
        </p:spPr>
        <p:txBody>
          <a:bodyPr wrap="square" lIns="0" tIns="0" rIns="0" bIns="0" rtlCol="0" anchor="ctr"/>
          <a:lstStyle/>
          <a:p>
            <a:pPr algn="ctr" indent="0" marL="0">
              <a:buNone/>
            </a:pPr>
            <a:r>
              <a:rPr lang="en-US" sz="900" b="1" dirty="0">
                <a:solidFill>
                  <a:schemeClr val="bg1"/>
                </a:solidFill>
              </a:rPr>
              <a:t>open</a:t>
            </a:r>
            <a:endParaRPr lang="en-US" sz="900" dirty="0"/>
          </a:p>
        </p:txBody>
      </p:sp>
      <p:sp>
        <p:nvSpPr>
          <p:cNvPr id="28" name="closed centre"/>
          <p:cNvSpPr/>
          <p:nvPr/>
        </p:nvSpPr>
        <p:spPr>
          <a:xfrm>
            <a:off x="4937760" y="2743200"/>
            <a:ext cx="594360" cy="594360"/>
          </a:xfrm>
          <a:prstGeom prst="ellipse">
            <a:avLst/>
          </a:prstGeom>
          <a:solidFill>
            <a:schemeClr val="accent2"/>
          </a:solidFill>
          <a:ln/>
        </p:spPr>
      </p:sp>
      <p:sp>
        <p:nvSpPr>
          <p:cNvPr id="29" name="Text 26"/>
          <p:cNvSpPr txBox="1"/>
          <p:nvPr/>
        </p:nvSpPr>
        <p:spPr>
          <a:xfrm>
            <a:off x="4846320" y="2743200"/>
            <a:ext cx="777240" cy="594360"/>
          </a:xfrm>
          <a:prstGeom prst="rect">
            <a:avLst/>
          </a:prstGeom>
          <a:noFill/>
          <a:ln/>
        </p:spPr>
        <p:txBody>
          <a:bodyPr wrap="square" lIns="0" tIns="0" rIns="0" bIns="0" rtlCol="0" anchor="ctr"/>
          <a:lstStyle/>
          <a:p>
            <a:pPr algn="ctr" indent="0" marL="0">
              <a:buNone/>
            </a:pPr>
            <a:r>
              <a:rPr lang="en-US" sz="900" b="1" dirty="0">
                <a:solidFill>
                  <a:schemeClr val="bg1"/>
                </a:solidFill>
              </a:rPr>
              <a:t>closed</a:t>
            </a:r>
            <a:endParaRPr lang="en-US" sz="900" dirty="0"/>
          </a:p>
        </p:txBody>
      </p:sp>
      <p:sp>
        <p:nvSpPr>
          <p:cNvPr id="30" name="Text 27"/>
          <p:cNvSpPr txBox="1"/>
          <p:nvPr/>
        </p:nvSpPr>
        <p:spPr>
          <a:xfrm>
            <a:off x="777240" y="3611880"/>
            <a:ext cx="5029200" cy="548640"/>
          </a:xfrm>
          <a:prstGeom prst="rect">
            <a:avLst/>
          </a:prstGeom>
          <a:noFill/>
          <a:ln/>
        </p:spPr>
        <p:txBody>
          <a:bodyPr wrap="square" lIns="0" tIns="0" rIns="0" bIns="0" rtlCol="0" anchor="t"/>
          <a:lstStyle/>
          <a:p>
            <a:pPr indent="0" marL="0">
              <a:buNone/>
            </a:pPr>
            <a:r>
              <a:rPr lang="en-US" sz="1400" dirty="0">
                <a:solidFill>
                  <a:schemeClr val="tx1"/>
                </a:solidFill>
              </a:rPr>
              <a:t>Some centres open, some closed → level </a:t>
            </a:r>
            <a:r>
              <a:rPr lang="en-US" sz="1400" b="1" dirty="0">
                <a:solidFill>
                  <a:schemeClr val="tx1"/>
                </a:solidFill>
              </a:rPr>
              <a:t>F′</a:t>
            </a:r>
            <a:endParaRPr lang="en-US" sz="1400" dirty="0"/>
          </a:p>
        </p:txBody>
      </p:sp>
      <p:sp>
        <p:nvSpPr>
          <p:cNvPr id="31" name="card"/>
          <p:cNvSpPr/>
          <p:nvPr/>
        </p:nvSpPr>
        <p:spPr>
          <a:xfrm>
            <a:off x="6199632" y="1325880"/>
            <a:ext cx="5440680" cy="2926080"/>
          </a:xfrm>
          <a:prstGeom prst="roundRect">
            <a:avLst>
              <a:gd name="adj" fmla="val 2500"/>
            </a:avLst>
          </a:prstGeom>
          <a:solidFill>
            <a:schemeClr val="bg2"/>
          </a:solidFill>
          <a:ln/>
          <a:effectLst>
            <a:outerShdw sx="100000" sy="100000" kx="0" ky="0" algn="bl" rotWithShape="0" blurRad="76200" dist="25400" dir="5400000">
              <a:srgbClr val="000000">
                <a:alpha val="14000"/>
              </a:srgbClr>
            </a:outerShdw>
          </a:effectLst>
        </p:spPr>
      </p:sp>
      <p:sp>
        <p:nvSpPr>
          <p:cNvPr id="32" name="Text 29"/>
          <p:cNvSpPr txBox="1"/>
          <p:nvPr/>
        </p:nvSpPr>
        <p:spPr>
          <a:xfrm>
            <a:off x="6428232" y="1417320"/>
            <a:ext cx="5029200" cy="411480"/>
          </a:xfrm>
          <a:prstGeom prst="rect">
            <a:avLst/>
          </a:prstGeom>
          <a:noFill/>
          <a:ln/>
        </p:spPr>
        <p:txBody>
          <a:bodyPr wrap="square" lIns="0" tIns="0" rIns="0" bIns="0" rtlCol="0" anchor="ctr"/>
          <a:lstStyle/>
          <a:p>
            <a:pPr algn="l" indent="0" marL="0">
              <a:buNone/>
            </a:pPr>
            <a:r>
              <a:rPr lang="en-US" sz="1700" b="1" dirty="0">
                <a:solidFill>
                  <a:schemeClr val="tx2"/>
                </a:solidFill>
              </a:rPr>
              <a:t>During the saturating pulse</a:t>
            </a:r>
            <a:endParaRPr lang="en-US" sz="1700" dirty="0"/>
          </a:p>
        </p:txBody>
      </p:sp>
      <p:sp>
        <p:nvSpPr>
          <p:cNvPr id="33" name="closed centre"/>
          <p:cNvSpPr/>
          <p:nvPr/>
        </p:nvSpPr>
        <p:spPr>
          <a:xfrm>
            <a:off x="6702552" y="1965960"/>
            <a:ext cx="594360" cy="594360"/>
          </a:xfrm>
          <a:prstGeom prst="ellipse">
            <a:avLst/>
          </a:prstGeom>
          <a:solidFill>
            <a:schemeClr val="accent2"/>
          </a:solidFill>
          <a:ln/>
        </p:spPr>
      </p:sp>
      <p:sp>
        <p:nvSpPr>
          <p:cNvPr id="34" name="Text 31"/>
          <p:cNvSpPr txBox="1"/>
          <p:nvPr/>
        </p:nvSpPr>
        <p:spPr>
          <a:xfrm>
            <a:off x="6611112" y="1965960"/>
            <a:ext cx="777240" cy="594360"/>
          </a:xfrm>
          <a:prstGeom prst="rect">
            <a:avLst/>
          </a:prstGeom>
          <a:noFill/>
          <a:ln/>
        </p:spPr>
        <p:txBody>
          <a:bodyPr wrap="square" lIns="0" tIns="0" rIns="0" bIns="0" rtlCol="0" anchor="ctr"/>
          <a:lstStyle/>
          <a:p>
            <a:pPr algn="ctr" indent="0" marL="0">
              <a:buNone/>
            </a:pPr>
            <a:r>
              <a:rPr lang="en-US" sz="900" b="1" dirty="0">
                <a:solidFill>
                  <a:schemeClr val="bg1"/>
                </a:solidFill>
              </a:rPr>
              <a:t>closed</a:t>
            </a:r>
            <a:endParaRPr lang="en-US" sz="900" dirty="0"/>
          </a:p>
        </p:txBody>
      </p:sp>
      <p:sp>
        <p:nvSpPr>
          <p:cNvPr id="35" name="closed centre"/>
          <p:cNvSpPr/>
          <p:nvPr/>
        </p:nvSpPr>
        <p:spPr>
          <a:xfrm>
            <a:off x="7479792" y="1965960"/>
            <a:ext cx="594360" cy="594360"/>
          </a:xfrm>
          <a:prstGeom prst="ellipse">
            <a:avLst/>
          </a:prstGeom>
          <a:solidFill>
            <a:schemeClr val="accent2"/>
          </a:solidFill>
          <a:ln/>
        </p:spPr>
      </p:sp>
      <p:sp>
        <p:nvSpPr>
          <p:cNvPr id="36" name="Text 33"/>
          <p:cNvSpPr txBox="1"/>
          <p:nvPr/>
        </p:nvSpPr>
        <p:spPr>
          <a:xfrm>
            <a:off x="7388352" y="1965960"/>
            <a:ext cx="777240" cy="594360"/>
          </a:xfrm>
          <a:prstGeom prst="rect">
            <a:avLst/>
          </a:prstGeom>
          <a:noFill/>
          <a:ln/>
        </p:spPr>
        <p:txBody>
          <a:bodyPr wrap="square" lIns="0" tIns="0" rIns="0" bIns="0" rtlCol="0" anchor="ctr"/>
          <a:lstStyle/>
          <a:p>
            <a:pPr algn="ctr" indent="0" marL="0">
              <a:buNone/>
            </a:pPr>
            <a:r>
              <a:rPr lang="en-US" sz="900" b="1" dirty="0">
                <a:solidFill>
                  <a:schemeClr val="bg1"/>
                </a:solidFill>
              </a:rPr>
              <a:t>closed</a:t>
            </a:r>
            <a:endParaRPr lang="en-US" sz="900" dirty="0"/>
          </a:p>
        </p:txBody>
      </p:sp>
      <p:sp>
        <p:nvSpPr>
          <p:cNvPr id="37" name="closed centre"/>
          <p:cNvSpPr/>
          <p:nvPr/>
        </p:nvSpPr>
        <p:spPr>
          <a:xfrm>
            <a:off x="8257032" y="1965960"/>
            <a:ext cx="594360" cy="594360"/>
          </a:xfrm>
          <a:prstGeom prst="ellipse">
            <a:avLst/>
          </a:prstGeom>
          <a:solidFill>
            <a:schemeClr val="accent2"/>
          </a:solidFill>
          <a:ln/>
        </p:spPr>
      </p:sp>
      <p:sp>
        <p:nvSpPr>
          <p:cNvPr id="38" name="Text 35"/>
          <p:cNvSpPr txBox="1"/>
          <p:nvPr/>
        </p:nvSpPr>
        <p:spPr>
          <a:xfrm>
            <a:off x="8165592" y="1965960"/>
            <a:ext cx="777240" cy="594360"/>
          </a:xfrm>
          <a:prstGeom prst="rect">
            <a:avLst/>
          </a:prstGeom>
          <a:noFill/>
          <a:ln/>
        </p:spPr>
        <p:txBody>
          <a:bodyPr wrap="square" lIns="0" tIns="0" rIns="0" bIns="0" rtlCol="0" anchor="ctr"/>
          <a:lstStyle/>
          <a:p>
            <a:pPr algn="ctr" indent="0" marL="0">
              <a:buNone/>
            </a:pPr>
            <a:r>
              <a:rPr lang="en-US" sz="900" b="1" dirty="0">
                <a:solidFill>
                  <a:schemeClr val="bg1"/>
                </a:solidFill>
              </a:rPr>
              <a:t>closed</a:t>
            </a:r>
            <a:endParaRPr lang="en-US" sz="900" dirty="0"/>
          </a:p>
        </p:txBody>
      </p:sp>
      <p:sp>
        <p:nvSpPr>
          <p:cNvPr id="39" name="closed centre"/>
          <p:cNvSpPr/>
          <p:nvPr/>
        </p:nvSpPr>
        <p:spPr>
          <a:xfrm>
            <a:off x="9034272" y="1965960"/>
            <a:ext cx="594360" cy="594360"/>
          </a:xfrm>
          <a:prstGeom prst="ellipse">
            <a:avLst/>
          </a:prstGeom>
          <a:solidFill>
            <a:schemeClr val="accent2"/>
          </a:solidFill>
          <a:ln/>
        </p:spPr>
      </p:sp>
      <p:sp>
        <p:nvSpPr>
          <p:cNvPr id="40" name="Text 37"/>
          <p:cNvSpPr txBox="1"/>
          <p:nvPr/>
        </p:nvSpPr>
        <p:spPr>
          <a:xfrm>
            <a:off x="8942832" y="1965960"/>
            <a:ext cx="777240" cy="594360"/>
          </a:xfrm>
          <a:prstGeom prst="rect">
            <a:avLst/>
          </a:prstGeom>
          <a:noFill/>
          <a:ln/>
        </p:spPr>
        <p:txBody>
          <a:bodyPr wrap="square" lIns="0" tIns="0" rIns="0" bIns="0" rtlCol="0" anchor="ctr"/>
          <a:lstStyle/>
          <a:p>
            <a:pPr algn="ctr" indent="0" marL="0">
              <a:buNone/>
            </a:pPr>
            <a:r>
              <a:rPr lang="en-US" sz="900" b="1" dirty="0">
                <a:solidFill>
                  <a:schemeClr val="bg1"/>
                </a:solidFill>
              </a:rPr>
              <a:t>closed</a:t>
            </a:r>
            <a:endParaRPr lang="en-US" sz="900" dirty="0"/>
          </a:p>
        </p:txBody>
      </p:sp>
      <p:sp>
        <p:nvSpPr>
          <p:cNvPr id="41" name="closed centre"/>
          <p:cNvSpPr/>
          <p:nvPr/>
        </p:nvSpPr>
        <p:spPr>
          <a:xfrm>
            <a:off x="9811512" y="1965960"/>
            <a:ext cx="594360" cy="594360"/>
          </a:xfrm>
          <a:prstGeom prst="ellipse">
            <a:avLst/>
          </a:prstGeom>
          <a:solidFill>
            <a:schemeClr val="accent2"/>
          </a:solidFill>
          <a:ln/>
        </p:spPr>
      </p:sp>
      <p:sp>
        <p:nvSpPr>
          <p:cNvPr id="42" name="Text 39"/>
          <p:cNvSpPr txBox="1"/>
          <p:nvPr/>
        </p:nvSpPr>
        <p:spPr>
          <a:xfrm>
            <a:off x="9720072" y="1965960"/>
            <a:ext cx="777240" cy="594360"/>
          </a:xfrm>
          <a:prstGeom prst="rect">
            <a:avLst/>
          </a:prstGeom>
          <a:noFill/>
          <a:ln/>
        </p:spPr>
        <p:txBody>
          <a:bodyPr wrap="square" lIns="0" tIns="0" rIns="0" bIns="0" rtlCol="0" anchor="ctr"/>
          <a:lstStyle/>
          <a:p>
            <a:pPr algn="ctr" indent="0" marL="0">
              <a:buNone/>
            </a:pPr>
            <a:r>
              <a:rPr lang="en-US" sz="900" b="1" dirty="0">
                <a:solidFill>
                  <a:schemeClr val="bg1"/>
                </a:solidFill>
              </a:rPr>
              <a:t>closed</a:t>
            </a:r>
            <a:endParaRPr lang="en-US" sz="900" dirty="0"/>
          </a:p>
        </p:txBody>
      </p:sp>
      <p:sp>
        <p:nvSpPr>
          <p:cNvPr id="43" name="closed centre"/>
          <p:cNvSpPr/>
          <p:nvPr/>
        </p:nvSpPr>
        <p:spPr>
          <a:xfrm>
            <a:off x="10588752" y="1965960"/>
            <a:ext cx="594360" cy="594360"/>
          </a:xfrm>
          <a:prstGeom prst="ellipse">
            <a:avLst/>
          </a:prstGeom>
          <a:solidFill>
            <a:schemeClr val="accent2"/>
          </a:solidFill>
          <a:ln/>
        </p:spPr>
      </p:sp>
      <p:sp>
        <p:nvSpPr>
          <p:cNvPr id="44" name="Text 41"/>
          <p:cNvSpPr txBox="1"/>
          <p:nvPr/>
        </p:nvSpPr>
        <p:spPr>
          <a:xfrm>
            <a:off x="10497312" y="1965960"/>
            <a:ext cx="777240" cy="594360"/>
          </a:xfrm>
          <a:prstGeom prst="rect">
            <a:avLst/>
          </a:prstGeom>
          <a:noFill/>
          <a:ln/>
        </p:spPr>
        <p:txBody>
          <a:bodyPr wrap="square" lIns="0" tIns="0" rIns="0" bIns="0" rtlCol="0" anchor="ctr"/>
          <a:lstStyle/>
          <a:p>
            <a:pPr algn="ctr" indent="0" marL="0">
              <a:buNone/>
            </a:pPr>
            <a:r>
              <a:rPr lang="en-US" sz="900" b="1" dirty="0">
                <a:solidFill>
                  <a:schemeClr val="bg1"/>
                </a:solidFill>
              </a:rPr>
              <a:t>closed</a:t>
            </a:r>
            <a:endParaRPr lang="en-US" sz="900" dirty="0"/>
          </a:p>
        </p:txBody>
      </p:sp>
      <p:sp>
        <p:nvSpPr>
          <p:cNvPr id="45" name="closed centre"/>
          <p:cNvSpPr/>
          <p:nvPr/>
        </p:nvSpPr>
        <p:spPr>
          <a:xfrm>
            <a:off x="6702552" y="2743200"/>
            <a:ext cx="594360" cy="594360"/>
          </a:xfrm>
          <a:prstGeom prst="ellipse">
            <a:avLst/>
          </a:prstGeom>
          <a:solidFill>
            <a:schemeClr val="accent2"/>
          </a:solidFill>
          <a:ln/>
        </p:spPr>
      </p:sp>
      <p:sp>
        <p:nvSpPr>
          <p:cNvPr id="46" name="Text 43"/>
          <p:cNvSpPr txBox="1"/>
          <p:nvPr/>
        </p:nvSpPr>
        <p:spPr>
          <a:xfrm>
            <a:off x="6611112" y="2743200"/>
            <a:ext cx="777240" cy="594360"/>
          </a:xfrm>
          <a:prstGeom prst="rect">
            <a:avLst/>
          </a:prstGeom>
          <a:noFill/>
          <a:ln/>
        </p:spPr>
        <p:txBody>
          <a:bodyPr wrap="square" lIns="0" tIns="0" rIns="0" bIns="0" rtlCol="0" anchor="ctr"/>
          <a:lstStyle/>
          <a:p>
            <a:pPr algn="ctr" indent="0" marL="0">
              <a:buNone/>
            </a:pPr>
            <a:r>
              <a:rPr lang="en-US" sz="900" b="1" dirty="0">
                <a:solidFill>
                  <a:schemeClr val="bg1"/>
                </a:solidFill>
              </a:rPr>
              <a:t>closed</a:t>
            </a:r>
            <a:endParaRPr lang="en-US" sz="900" dirty="0"/>
          </a:p>
        </p:txBody>
      </p:sp>
      <p:sp>
        <p:nvSpPr>
          <p:cNvPr id="47" name="closed centre"/>
          <p:cNvSpPr/>
          <p:nvPr/>
        </p:nvSpPr>
        <p:spPr>
          <a:xfrm>
            <a:off x="7479792" y="2743200"/>
            <a:ext cx="594360" cy="594360"/>
          </a:xfrm>
          <a:prstGeom prst="ellipse">
            <a:avLst/>
          </a:prstGeom>
          <a:solidFill>
            <a:schemeClr val="accent2"/>
          </a:solidFill>
          <a:ln/>
        </p:spPr>
      </p:sp>
      <p:sp>
        <p:nvSpPr>
          <p:cNvPr id="48" name="Text 45"/>
          <p:cNvSpPr txBox="1"/>
          <p:nvPr/>
        </p:nvSpPr>
        <p:spPr>
          <a:xfrm>
            <a:off x="7388352" y="2743200"/>
            <a:ext cx="777240" cy="594360"/>
          </a:xfrm>
          <a:prstGeom prst="rect">
            <a:avLst/>
          </a:prstGeom>
          <a:noFill/>
          <a:ln/>
        </p:spPr>
        <p:txBody>
          <a:bodyPr wrap="square" lIns="0" tIns="0" rIns="0" bIns="0" rtlCol="0" anchor="ctr"/>
          <a:lstStyle/>
          <a:p>
            <a:pPr algn="ctr" indent="0" marL="0">
              <a:buNone/>
            </a:pPr>
            <a:r>
              <a:rPr lang="en-US" sz="900" b="1" dirty="0">
                <a:solidFill>
                  <a:schemeClr val="bg1"/>
                </a:solidFill>
              </a:rPr>
              <a:t>closed</a:t>
            </a:r>
            <a:endParaRPr lang="en-US" sz="900" dirty="0"/>
          </a:p>
        </p:txBody>
      </p:sp>
      <p:sp>
        <p:nvSpPr>
          <p:cNvPr id="49" name="closed centre"/>
          <p:cNvSpPr/>
          <p:nvPr/>
        </p:nvSpPr>
        <p:spPr>
          <a:xfrm>
            <a:off x="8257032" y="2743200"/>
            <a:ext cx="594360" cy="594360"/>
          </a:xfrm>
          <a:prstGeom prst="ellipse">
            <a:avLst/>
          </a:prstGeom>
          <a:solidFill>
            <a:schemeClr val="accent2"/>
          </a:solidFill>
          <a:ln/>
        </p:spPr>
      </p:sp>
      <p:sp>
        <p:nvSpPr>
          <p:cNvPr id="50" name="Text 47"/>
          <p:cNvSpPr txBox="1"/>
          <p:nvPr/>
        </p:nvSpPr>
        <p:spPr>
          <a:xfrm>
            <a:off x="8165592" y="2743200"/>
            <a:ext cx="777240" cy="594360"/>
          </a:xfrm>
          <a:prstGeom prst="rect">
            <a:avLst/>
          </a:prstGeom>
          <a:noFill/>
          <a:ln/>
        </p:spPr>
        <p:txBody>
          <a:bodyPr wrap="square" lIns="0" tIns="0" rIns="0" bIns="0" rtlCol="0" anchor="ctr"/>
          <a:lstStyle/>
          <a:p>
            <a:pPr algn="ctr" indent="0" marL="0">
              <a:buNone/>
            </a:pPr>
            <a:r>
              <a:rPr lang="en-US" sz="900" b="1" dirty="0">
                <a:solidFill>
                  <a:schemeClr val="bg1"/>
                </a:solidFill>
              </a:rPr>
              <a:t>closed</a:t>
            </a:r>
            <a:endParaRPr lang="en-US" sz="900" dirty="0"/>
          </a:p>
        </p:txBody>
      </p:sp>
      <p:sp>
        <p:nvSpPr>
          <p:cNvPr id="51" name="closed centre"/>
          <p:cNvSpPr/>
          <p:nvPr/>
        </p:nvSpPr>
        <p:spPr>
          <a:xfrm>
            <a:off x="9034272" y="2743200"/>
            <a:ext cx="594360" cy="594360"/>
          </a:xfrm>
          <a:prstGeom prst="ellipse">
            <a:avLst/>
          </a:prstGeom>
          <a:solidFill>
            <a:schemeClr val="accent2"/>
          </a:solidFill>
          <a:ln/>
        </p:spPr>
      </p:sp>
      <p:sp>
        <p:nvSpPr>
          <p:cNvPr id="52" name="Text 49"/>
          <p:cNvSpPr txBox="1"/>
          <p:nvPr/>
        </p:nvSpPr>
        <p:spPr>
          <a:xfrm>
            <a:off x="8942832" y="2743200"/>
            <a:ext cx="777240" cy="594360"/>
          </a:xfrm>
          <a:prstGeom prst="rect">
            <a:avLst/>
          </a:prstGeom>
          <a:noFill/>
          <a:ln/>
        </p:spPr>
        <p:txBody>
          <a:bodyPr wrap="square" lIns="0" tIns="0" rIns="0" bIns="0" rtlCol="0" anchor="ctr"/>
          <a:lstStyle/>
          <a:p>
            <a:pPr algn="ctr" indent="0" marL="0">
              <a:buNone/>
            </a:pPr>
            <a:r>
              <a:rPr lang="en-US" sz="900" b="1" dirty="0">
                <a:solidFill>
                  <a:schemeClr val="bg1"/>
                </a:solidFill>
              </a:rPr>
              <a:t>closed</a:t>
            </a:r>
            <a:endParaRPr lang="en-US" sz="900" dirty="0"/>
          </a:p>
        </p:txBody>
      </p:sp>
      <p:sp>
        <p:nvSpPr>
          <p:cNvPr id="53" name="closed centre"/>
          <p:cNvSpPr/>
          <p:nvPr/>
        </p:nvSpPr>
        <p:spPr>
          <a:xfrm>
            <a:off x="9811512" y="2743200"/>
            <a:ext cx="594360" cy="594360"/>
          </a:xfrm>
          <a:prstGeom prst="ellipse">
            <a:avLst/>
          </a:prstGeom>
          <a:solidFill>
            <a:schemeClr val="accent2"/>
          </a:solidFill>
          <a:ln/>
        </p:spPr>
      </p:sp>
      <p:sp>
        <p:nvSpPr>
          <p:cNvPr id="54" name="Text 51"/>
          <p:cNvSpPr txBox="1"/>
          <p:nvPr/>
        </p:nvSpPr>
        <p:spPr>
          <a:xfrm>
            <a:off x="9720072" y="2743200"/>
            <a:ext cx="777240" cy="594360"/>
          </a:xfrm>
          <a:prstGeom prst="rect">
            <a:avLst/>
          </a:prstGeom>
          <a:noFill/>
          <a:ln/>
        </p:spPr>
        <p:txBody>
          <a:bodyPr wrap="square" lIns="0" tIns="0" rIns="0" bIns="0" rtlCol="0" anchor="ctr"/>
          <a:lstStyle/>
          <a:p>
            <a:pPr algn="ctr" indent="0" marL="0">
              <a:buNone/>
            </a:pPr>
            <a:r>
              <a:rPr lang="en-US" sz="900" b="1" dirty="0">
                <a:solidFill>
                  <a:schemeClr val="bg1"/>
                </a:solidFill>
              </a:rPr>
              <a:t>closed</a:t>
            </a:r>
            <a:endParaRPr lang="en-US" sz="900" dirty="0"/>
          </a:p>
        </p:txBody>
      </p:sp>
      <p:sp>
        <p:nvSpPr>
          <p:cNvPr id="55" name="closed centre"/>
          <p:cNvSpPr/>
          <p:nvPr/>
        </p:nvSpPr>
        <p:spPr>
          <a:xfrm>
            <a:off x="10588752" y="2743200"/>
            <a:ext cx="594360" cy="594360"/>
          </a:xfrm>
          <a:prstGeom prst="ellipse">
            <a:avLst/>
          </a:prstGeom>
          <a:solidFill>
            <a:schemeClr val="accent2"/>
          </a:solidFill>
          <a:ln/>
        </p:spPr>
      </p:sp>
      <p:sp>
        <p:nvSpPr>
          <p:cNvPr id="56" name="Text 53"/>
          <p:cNvSpPr txBox="1"/>
          <p:nvPr/>
        </p:nvSpPr>
        <p:spPr>
          <a:xfrm>
            <a:off x="10497312" y="2743200"/>
            <a:ext cx="777240" cy="594360"/>
          </a:xfrm>
          <a:prstGeom prst="rect">
            <a:avLst/>
          </a:prstGeom>
          <a:noFill/>
          <a:ln/>
        </p:spPr>
        <p:txBody>
          <a:bodyPr wrap="square" lIns="0" tIns="0" rIns="0" bIns="0" rtlCol="0" anchor="ctr"/>
          <a:lstStyle/>
          <a:p>
            <a:pPr algn="ctr" indent="0" marL="0">
              <a:buNone/>
            </a:pPr>
            <a:r>
              <a:rPr lang="en-US" sz="900" b="1" dirty="0">
                <a:solidFill>
                  <a:schemeClr val="bg1"/>
                </a:solidFill>
              </a:rPr>
              <a:t>closed</a:t>
            </a:r>
            <a:endParaRPr lang="en-US" sz="900" dirty="0"/>
          </a:p>
        </p:txBody>
      </p:sp>
      <p:sp>
        <p:nvSpPr>
          <p:cNvPr id="57" name="Text 54"/>
          <p:cNvSpPr txBox="1"/>
          <p:nvPr/>
        </p:nvSpPr>
        <p:spPr>
          <a:xfrm>
            <a:off x="6428232" y="3611880"/>
            <a:ext cx="5029200" cy="548640"/>
          </a:xfrm>
          <a:prstGeom prst="rect">
            <a:avLst/>
          </a:prstGeom>
          <a:noFill/>
          <a:ln/>
        </p:spPr>
        <p:txBody>
          <a:bodyPr wrap="square" lIns="0" tIns="0" rIns="0" bIns="0" rtlCol="0" anchor="t"/>
          <a:lstStyle/>
          <a:p>
            <a:pPr indent="0" marL="0">
              <a:buNone/>
            </a:pPr>
            <a:r>
              <a:rPr lang="en-US" sz="1400" dirty="0">
                <a:solidFill>
                  <a:schemeClr val="tx1"/>
                </a:solidFill>
              </a:rPr>
              <a:t>All centres closed → q</a:t>
            </a:r>
            <a:r>
              <a:rPr lang="en-US" sz="1400" baseline="-40000" dirty="0">
                <a:solidFill>
                  <a:schemeClr val="tx1"/>
                </a:solidFill>
              </a:rPr>
              <a:t>P</a:t>
            </a:r>
            <a:r>
              <a:rPr lang="en-US" sz="1400" dirty="0">
                <a:solidFill>
                  <a:schemeClr val="tx1"/>
                </a:solidFill>
              </a:rPr>
              <a:t> = 0 → level </a:t>
            </a:r>
            <a:r>
              <a:rPr lang="en-US" sz="1400" b="1" dirty="0">
                <a:solidFill>
                  <a:schemeClr val="tx1"/>
                </a:solidFill>
              </a:rPr>
              <a:t>F</a:t>
            </a:r>
            <a:r>
              <a:rPr lang="en-US" sz="1400" b="1" baseline="-40000" dirty="0">
                <a:solidFill>
                  <a:schemeClr val="tx1"/>
                </a:solidFill>
              </a:rPr>
              <a:t>m</a:t>
            </a:r>
            <a:r>
              <a:rPr lang="en-US" sz="1400" b="1" dirty="0">
                <a:solidFill>
                  <a:schemeClr val="tx1"/>
                </a:solidFill>
              </a:rPr>
              <a:t>′</a:t>
            </a:r>
            <a:r>
              <a:rPr lang="en-US" sz="1400" dirty="0">
                <a:solidFill>
                  <a:schemeClr val="tx1"/>
                </a:solidFill>
              </a:rPr>
              <a:t> (or </a:t>
            </a:r>
            <a:r>
              <a:rPr lang="en-US" sz="1400" b="1" dirty="0">
                <a:solidFill>
                  <a:schemeClr val="tx1"/>
                </a:solidFill>
              </a:rPr>
              <a:t>F</a:t>
            </a:r>
            <a:r>
              <a:rPr lang="en-US" sz="1400" b="1" baseline="-40000" dirty="0">
                <a:solidFill>
                  <a:schemeClr val="tx1"/>
                </a:solidFill>
              </a:rPr>
              <a:t>m</a:t>
            </a:r>
            <a:r>
              <a:rPr lang="en-US" sz="1400" dirty="0">
                <a:solidFill>
                  <a:schemeClr val="tx1"/>
                </a:solidFill>
              </a:rPr>
              <a:t> if dark-adapted)</a:t>
            </a:r>
            <a:endParaRPr lang="en-US" sz="1400" dirty="0"/>
          </a:p>
        </p:txBody>
      </p:sp>
      <p:sp>
        <p:nvSpPr>
          <p:cNvPr id="58" name="card"/>
          <p:cNvSpPr/>
          <p:nvPr/>
        </p:nvSpPr>
        <p:spPr>
          <a:xfrm>
            <a:off x="548640" y="4434840"/>
            <a:ext cx="3566160" cy="1737360"/>
          </a:xfrm>
          <a:prstGeom prst="roundRect">
            <a:avLst>
              <a:gd name="adj" fmla="val 4211"/>
            </a:avLst>
          </a:prstGeom>
          <a:solidFill>
            <a:schemeClr val="bg2"/>
          </a:solidFill>
          <a:ln/>
          <a:effectLst>
            <a:outerShdw sx="100000" sy="100000" kx="0" ky="0" algn="bl" rotWithShape="0" blurRad="76200" dist="25400" dir="5400000">
              <a:srgbClr val="000000">
                <a:alpha val="14000"/>
              </a:srgbClr>
            </a:outerShdw>
          </a:effectLst>
        </p:spPr>
      </p:sp>
      <p:sp>
        <p:nvSpPr>
          <p:cNvPr id="59" name="icon circle"/>
          <p:cNvSpPr/>
          <p:nvPr/>
        </p:nvSpPr>
        <p:spPr>
          <a:xfrm>
            <a:off x="731520" y="4590288"/>
            <a:ext cx="420624" cy="420624"/>
          </a:xfrm>
          <a:prstGeom prst="ellipse">
            <a:avLst/>
          </a:prstGeom>
          <a:solidFill>
            <a:schemeClr val="accent2"/>
          </a:solidFill>
          <a:ln/>
        </p:spPr>
      </p:sp>
      <p:pic>
        <p:nvPicPr>
          <p:cNvPr id="60" name="Image 0" descr="Bolt icon">    </p:cNvPr>
          <p:cNvPicPr>
            <a:picLocks noChangeAspect="1"/>
          </p:cNvPicPr>
          <p:nvPr/>
        </p:nvPicPr>
        <p:blipFill>
          <a:blip r:embed="rId1"/>
          <a:stretch>
            <a:fillRect/>
          </a:stretch>
        </p:blipFill>
        <p:spPr>
          <a:xfrm>
            <a:off x="840882" y="4699650"/>
            <a:ext cx="201900" cy="201900"/>
          </a:xfrm>
          <a:prstGeom prst="rect">
            <a:avLst/>
          </a:prstGeom>
        </p:spPr>
      </p:pic>
      <p:sp>
        <p:nvSpPr>
          <p:cNvPr id="61" name="Text 57"/>
          <p:cNvSpPr txBox="1"/>
          <p:nvPr/>
        </p:nvSpPr>
        <p:spPr>
          <a:xfrm>
            <a:off x="1261872" y="4572000"/>
            <a:ext cx="2715768" cy="457200"/>
          </a:xfrm>
          <a:prstGeom prst="rect">
            <a:avLst/>
          </a:prstGeom>
          <a:noFill/>
          <a:ln/>
        </p:spPr>
        <p:txBody>
          <a:bodyPr wrap="square" lIns="0" tIns="0" rIns="0" bIns="0" rtlCol="0" anchor="ctr"/>
          <a:lstStyle/>
          <a:p>
            <a:pPr indent="0" marL="0">
              <a:buNone/>
            </a:pPr>
            <a:r>
              <a:rPr lang="en-US" sz="1600" b="1" dirty="0">
                <a:solidFill>
                  <a:schemeClr val="tx2"/>
                </a:solidFill>
              </a:rPr>
              <a:t>Pulse properties</a:t>
            </a:r>
            <a:endParaRPr lang="en-US" sz="1600" dirty="0"/>
          </a:p>
        </p:txBody>
      </p:sp>
      <p:sp>
        <p:nvSpPr>
          <p:cNvPr id="62" name="Text 58"/>
          <p:cNvSpPr txBox="1"/>
          <p:nvPr/>
        </p:nvSpPr>
        <p:spPr>
          <a:xfrm>
            <a:off x="731520" y="5120640"/>
            <a:ext cx="3200400" cy="96012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Very bright (typically ~0.8 s at ≥4000 µmol m⁻² s⁻¹), shorter than 1 s so it does not change the leaf's state.</a:t>
            </a:r>
            <a:endParaRPr lang="en-US" sz="1300" dirty="0"/>
          </a:p>
        </p:txBody>
      </p:sp>
      <p:sp>
        <p:nvSpPr>
          <p:cNvPr id="63" name="card"/>
          <p:cNvSpPr/>
          <p:nvPr/>
        </p:nvSpPr>
        <p:spPr>
          <a:xfrm>
            <a:off x="4315968" y="4434840"/>
            <a:ext cx="3566160" cy="1737360"/>
          </a:xfrm>
          <a:prstGeom prst="roundRect">
            <a:avLst>
              <a:gd name="adj" fmla="val 4211"/>
            </a:avLst>
          </a:prstGeom>
          <a:solidFill>
            <a:schemeClr val="bg2"/>
          </a:solidFill>
          <a:ln/>
          <a:effectLst>
            <a:outerShdw sx="100000" sy="100000" kx="0" ky="0" algn="bl" rotWithShape="0" blurRad="76200" dist="25400" dir="5400000">
              <a:srgbClr val="000000">
                <a:alpha val="14000"/>
              </a:srgbClr>
            </a:outerShdw>
          </a:effectLst>
        </p:spPr>
      </p:sp>
      <p:sp>
        <p:nvSpPr>
          <p:cNvPr id="64" name="icon circle"/>
          <p:cNvSpPr/>
          <p:nvPr/>
        </p:nvSpPr>
        <p:spPr>
          <a:xfrm>
            <a:off x="4498848" y="4590288"/>
            <a:ext cx="420624" cy="420624"/>
          </a:xfrm>
          <a:prstGeom prst="ellipse">
            <a:avLst/>
          </a:prstGeom>
          <a:solidFill>
            <a:schemeClr val="accent1"/>
          </a:solidFill>
          <a:ln/>
        </p:spPr>
      </p:sp>
      <p:pic>
        <p:nvPicPr>
          <p:cNvPr id="65" name="Image 1" descr="Calculator icon">    </p:cNvPr>
          <p:cNvPicPr>
            <a:picLocks noChangeAspect="1"/>
          </p:cNvPicPr>
          <p:nvPr/>
        </p:nvPicPr>
        <p:blipFill>
          <a:blip r:embed="rId2"/>
          <a:stretch>
            <a:fillRect/>
          </a:stretch>
        </p:blipFill>
        <p:spPr>
          <a:xfrm>
            <a:off x="4608210" y="4699650"/>
            <a:ext cx="201900" cy="201900"/>
          </a:xfrm>
          <a:prstGeom prst="rect">
            <a:avLst/>
          </a:prstGeom>
        </p:spPr>
      </p:pic>
      <p:sp>
        <p:nvSpPr>
          <p:cNvPr id="66" name="Text 61"/>
          <p:cNvSpPr txBox="1"/>
          <p:nvPr/>
        </p:nvSpPr>
        <p:spPr>
          <a:xfrm>
            <a:off x="5029200" y="4572000"/>
            <a:ext cx="2715768" cy="457200"/>
          </a:xfrm>
          <a:prstGeom prst="rect">
            <a:avLst/>
          </a:prstGeom>
          <a:noFill/>
          <a:ln/>
        </p:spPr>
        <p:txBody>
          <a:bodyPr wrap="square" lIns="0" tIns="0" rIns="0" bIns="0" rtlCol="0" anchor="ctr"/>
          <a:lstStyle/>
          <a:p>
            <a:pPr indent="0" marL="0">
              <a:buNone/>
            </a:pPr>
            <a:r>
              <a:rPr lang="en-US" sz="1600" b="1" dirty="0">
                <a:solidFill>
                  <a:schemeClr val="tx2"/>
                </a:solidFill>
              </a:rPr>
              <a:t>What it separates</a:t>
            </a:r>
            <a:endParaRPr lang="en-US" sz="1600" dirty="0"/>
          </a:p>
        </p:txBody>
      </p:sp>
      <p:sp>
        <p:nvSpPr>
          <p:cNvPr id="67" name="Text 62"/>
          <p:cNvSpPr txBox="1"/>
          <p:nvPr/>
        </p:nvSpPr>
        <p:spPr>
          <a:xfrm>
            <a:off x="4498848" y="5120640"/>
            <a:ext cx="3200400" cy="960120"/>
          </a:xfrm>
          <a:prstGeom prst="rect">
            <a:avLst/>
          </a:prstGeom>
          <a:noFill/>
          <a:ln/>
        </p:spPr>
        <p:txBody>
          <a:bodyPr wrap="square" lIns="508" tIns="508" rIns="508" bIns="508" rtlCol="0" anchor="t"/>
          <a:lstStyle/>
          <a:p>
            <a:pPr indent="0" marL="0">
              <a:spcAft>
                <a:spcPts val="400"/>
              </a:spcAft>
              <a:buNone/>
            </a:pPr>
            <a:r>
              <a:rPr lang="en-US" sz="1300" b="1" dirty="0">
                <a:solidFill>
                  <a:schemeClr val="tx1"/>
                </a:solidFill>
              </a:rPr>
              <a:t>F</a:t>
            </a:r>
            <a:r>
              <a:rPr lang="en-US" sz="1300" b="1" baseline="-40000" dirty="0">
                <a:solidFill>
                  <a:schemeClr val="tx1"/>
                </a:solidFill>
              </a:rPr>
              <a:t>q</a:t>
            </a:r>
            <a:r>
              <a:rPr lang="en-US" sz="1300" b="1" dirty="0">
                <a:solidFill>
                  <a:schemeClr val="tx1"/>
                </a:solidFill>
              </a:rPr>
              <a:t>′ = F</a:t>
            </a:r>
            <a:r>
              <a:rPr lang="en-US" sz="1300" b="1" baseline="-40000" dirty="0">
                <a:solidFill>
                  <a:schemeClr val="tx1"/>
                </a:solidFill>
              </a:rPr>
              <a:t>m</a:t>
            </a:r>
            <a:r>
              <a:rPr lang="en-US" sz="1300" b="1" dirty="0">
                <a:solidFill>
                  <a:schemeClr val="tx1"/>
                </a:solidFill>
              </a:rPr>
              <a:t>′ − F′</a:t>
            </a:r>
            <a:r>
              <a:rPr lang="en-US" sz="1300" dirty="0">
                <a:solidFill>
                  <a:schemeClr val="tx1"/>
                </a:solidFill>
              </a:rPr>
              <a:t> is the photochemical part; </a:t>
            </a:r>
            <a:r>
              <a:rPr lang="en-US" sz="1300" b="1" dirty="0">
                <a:solidFill>
                  <a:schemeClr val="tx1"/>
                </a:solidFill>
              </a:rPr>
              <a:t>F</a:t>
            </a:r>
            <a:r>
              <a:rPr lang="en-US" sz="1300" b="1" baseline="-40000" dirty="0">
                <a:solidFill>
                  <a:schemeClr val="tx1"/>
                </a:solidFill>
              </a:rPr>
              <a:t>m</a:t>
            </a:r>
            <a:r>
              <a:rPr lang="en-US" sz="1300" b="1" dirty="0">
                <a:solidFill>
                  <a:schemeClr val="tx1"/>
                </a:solidFill>
              </a:rPr>
              <a:t> − F</a:t>
            </a:r>
            <a:r>
              <a:rPr lang="en-US" sz="1300" b="1" baseline="-40000" dirty="0">
                <a:solidFill>
                  <a:schemeClr val="tx1"/>
                </a:solidFill>
              </a:rPr>
              <a:t>m</a:t>
            </a:r>
            <a:r>
              <a:rPr lang="en-US" sz="1300" b="1" dirty="0">
                <a:solidFill>
                  <a:schemeClr val="tx1"/>
                </a:solidFill>
              </a:rPr>
              <a:t>′</a:t>
            </a:r>
            <a:r>
              <a:rPr lang="en-US" sz="1300" dirty="0">
                <a:solidFill>
                  <a:schemeClr val="tx1"/>
                </a:solidFill>
              </a:rPr>
              <a:t> reflects NPQ.</a:t>
            </a:r>
            <a:endParaRPr lang="en-US" sz="1300" dirty="0"/>
          </a:p>
        </p:txBody>
      </p:sp>
      <p:sp>
        <p:nvSpPr>
          <p:cNvPr id="68" name="card"/>
          <p:cNvSpPr/>
          <p:nvPr/>
        </p:nvSpPr>
        <p:spPr>
          <a:xfrm>
            <a:off x="8083296" y="4434840"/>
            <a:ext cx="3557016" cy="1737360"/>
          </a:xfrm>
          <a:prstGeom prst="roundRect">
            <a:avLst>
              <a:gd name="adj" fmla="val 4211"/>
            </a:avLst>
          </a:prstGeom>
          <a:solidFill>
            <a:schemeClr val="bg2"/>
          </a:solidFill>
          <a:ln/>
          <a:effectLst>
            <a:outerShdw sx="100000" sy="100000" kx="0" ky="0" algn="bl" rotWithShape="0" blurRad="76200" dist="25400" dir="5400000">
              <a:srgbClr val="000000">
                <a:alpha val="14000"/>
              </a:srgbClr>
            </a:outerShdw>
          </a:effectLst>
        </p:spPr>
      </p:sp>
      <p:sp>
        <p:nvSpPr>
          <p:cNvPr id="69" name="icon circle"/>
          <p:cNvSpPr/>
          <p:nvPr/>
        </p:nvSpPr>
        <p:spPr>
          <a:xfrm>
            <a:off x="8266176" y="4590288"/>
            <a:ext cx="420624" cy="420624"/>
          </a:xfrm>
          <a:prstGeom prst="ellipse">
            <a:avLst/>
          </a:prstGeom>
          <a:solidFill>
            <a:schemeClr val="accent6"/>
          </a:solidFill>
          <a:ln/>
        </p:spPr>
      </p:sp>
      <p:pic>
        <p:nvPicPr>
          <p:cNvPr id="70" name="Image 2" descr="Flask icon">    </p:cNvPr>
          <p:cNvPicPr>
            <a:picLocks noChangeAspect="1"/>
          </p:cNvPicPr>
          <p:nvPr/>
        </p:nvPicPr>
        <p:blipFill>
          <a:blip r:embed="rId3"/>
          <a:stretch>
            <a:fillRect/>
          </a:stretch>
        </p:blipFill>
        <p:spPr>
          <a:xfrm>
            <a:off x="8375538" y="4699650"/>
            <a:ext cx="201900" cy="201900"/>
          </a:xfrm>
          <a:prstGeom prst="rect">
            <a:avLst/>
          </a:prstGeom>
        </p:spPr>
      </p:pic>
      <p:sp>
        <p:nvSpPr>
          <p:cNvPr id="71" name="Text 65"/>
          <p:cNvSpPr txBox="1"/>
          <p:nvPr/>
        </p:nvSpPr>
        <p:spPr>
          <a:xfrm>
            <a:off x="8796528" y="4572000"/>
            <a:ext cx="2706624" cy="457200"/>
          </a:xfrm>
          <a:prstGeom prst="rect">
            <a:avLst/>
          </a:prstGeom>
          <a:noFill/>
          <a:ln/>
        </p:spPr>
        <p:txBody>
          <a:bodyPr wrap="square" lIns="0" tIns="0" rIns="0" bIns="0" rtlCol="0" anchor="ctr"/>
          <a:lstStyle/>
          <a:p>
            <a:pPr indent="0" marL="0">
              <a:buNone/>
            </a:pPr>
            <a:r>
              <a:rPr lang="en-US" sz="1600" b="1" dirty="0">
                <a:solidFill>
                  <a:schemeClr val="tx2"/>
                </a:solidFill>
              </a:rPr>
              <a:t>Old method</a:t>
            </a:r>
            <a:endParaRPr lang="en-US" sz="1600" dirty="0"/>
          </a:p>
        </p:txBody>
      </p:sp>
      <p:sp>
        <p:nvSpPr>
          <p:cNvPr id="72" name="Text 66"/>
          <p:cNvSpPr txBox="1"/>
          <p:nvPr/>
        </p:nvSpPr>
        <p:spPr>
          <a:xfrm>
            <a:off x="8266176" y="5120640"/>
            <a:ext cx="3191256" cy="96012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Herbicides (e.g. DCMU) blocking Q</a:t>
            </a:r>
            <a:r>
              <a:rPr lang="en-US" sz="1300" baseline="-40000" dirty="0">
                <a:solidFill>
                  <a:schemeClr val="tx1"/>
                </a:solidFill>
              </a:rPr>
              <a:t>B</a:t>
            </a:r>
            <a:r>
              <a:rPr lang="en-US" sz="1300" dirty="0">
                <a:solidFill>
                  <a:schemeClr val="tx1"/>
                </a:solidFill>
              </a:rPr>
              <a:t> removed photochemistry — not practical routinely.</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PAM protocol &amp; parameters</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Reading a fluorescence trace: every level, every ratio, and a fully worked numerical example</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05</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typical PAM trace, step by step</a:t>
            </a:r>
            <a:endParaRPr lang="en-US" sz="3200" dirty="0"/>
          </a:p>
        </p:txBody>
      </p:sp>
      <p:sp>
        <p:nvSpPr>
          <p:cNvPr id="4" name="figure frame"/>
          <p:cNvSpPr/>
          <p:nvPr/>
        </p:nvSpPr>
        <p:spPr>
          <a:xfrm>
            <a:off x="548640" y="1325880"/>
            <a:ext cx="6766560" cy="4434840"/>
          </a:xfrm>
          <a:prstGeom prst="roundRect">
            <a:avLst>
              <a:gd name="adj" fmla="val 1237"/>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Murchie &amp; Lawson (2013), Fig. 2 — stylised trace of a dark-adapted leaf exposed to actinic light, darkness and saturating pulses">    </p:cNvPr>
          <p:cNvPicPr>
            <a:picLocks noChangeAspect="1"/>
          </p:cNvPicPr>
          <p:nvPr/>
        </p:nvPicPr>
        <p:blipFill>
          <a:blip r:embed="rId1"/>
          <a:stretch>
            <a:fillRect/>
          </a:stretch>
        </p:blipFill>
        <p:spPr>
          <a:xfrm>
            <a:off x="773966" y="1417320"/>
            <a:ext cx="6315909" cy="4251960"/>
          </a:xfrm>
          <a:prstGeom prst="rect">
            <a:avLst/>
          </a:prstGeom>
        </p:spPr>
      </p:pic>
      <p:sp>
        <p:nvSpPr>
          <p:cNvPr id="6" name="Text 2"/>
          <p:cNvSpPr txBox="1"/>
          <p:nvPr/>
        </p:nvSpPr>
        <p:spPr>
          <a:xfrm>
            <a:off x="548640" y="5806440"/>
            <a:ext cx="6766560" cy="365760"/>
          </a:xfrm>
          <a:prstGeom prst="rect">
            <a:avLst/>
          </a:prstGeom>
          <a:noFill/>
          <a:ln/>
        </p:spPr>
        <p:txBody>
          <a:bodyPr wrap="square" lIns="0" tIns="0" rIns="0" bIns="0" rtlCol="0" anchor="t"/>
          <a:lstStyle/>
          <a:p>
            <a:pPr indent="0" marL="0">
              <a:buNone/>
            </a:pPr>
            <a:r>
              <a:rPr lang="en-US" sz="1100" i="1" dirty="0">
                <a:solidFill>
                  <a:schemeClr val="accent6"/>
                </a:solidFill>
              </a:rPr>
              <a:t>Murchie &amp; Lawson (2013), Fig. 2 — stylised trace of a dark-adapted leaf exposed to actinic light, darkness and saturating pulses</a:t>
            </a:r>
            <a:endParaRPr lang="en-US" sz="1100" dirty="0"/>
          </a:p>
        </p:txBody>
      </p:sp>
      <p:sp>
        <p:nvSpPr>
          <p:cNvPr id="7" name="step marker"/>
          <p:cNvSpPr/>
          <p:nvPr/>
        </p:nvSpPr>
        <p:spPr>
          <a:xfrm>
            <a:off x="7498080" y="1417320"/>
            <a:ext cx="457200" cy="457200"/>
          </a:xfrm>
          <a:prstGeom prst="ellipse">
            <a:avLst/>
          </a:prstGeom>
          <a:solidFill>
            <a:schemeClr val="tx2"/>
          </a:solidFill>
          <a:ln/>
        </p:spPr>
      </p:sp>
      <p:sp>
        <p:nvSpPr>
          <p:cNvPr id="8" name="Text 4"/>
          <p:cNvSpPr txBox="1"/>
          <p:nvPr/>
        </p:nvSpPr>
        <p:spPr>
          <a:xfrm>
            <a:off x="7498080" y="14173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9" name="Text 5"/>
          <p:cNvSpPr txBox="1"/>
          <p:nvPr/>
        </p:nvSpPr>
        <p:spPr>
          <a:xfrm>
            <a:off x="8092440" y="1325880"/>
            <a:ext cx="3566160" cy="301752"/>
          </a:xfrm>
          <a:prstGeom prst="rect">
            <a:avLst/>
          </a:prstGeom>
          <a:noFill/>
          <a:ln/>
        </p:spPr>
        <p:txBody>
          <a:bodyPr wrap="square" lIns="0" tIns="0" rIns="0" bIns="0" rtlCol="0" anchor="ctr"/>
          <a:lstStyle/>
          <a:p>
            <a:pPr algn="l" indent="0" marL="0">
              <a:buNone/>
            </a:pPr>
            <a:r>
              <a:rPr lang="en-US" sz="1400" b="1" dirty="0">
                <a:solidFill>
                  <a:schemeClr val="tx2"/>
                </a:solidFill>
              </a:rPr>
              <a:t>Measuring beam on (dark)</a:t>
            </a:r>
            <a:endParaRPr lang="en-US" sz="1400" dirty="0"/>
          </a:p>
        </p:txBody>
      </p:sp>
      <p:sp>
        <p:nvSpPr>
          <p:cNvPr id="10" name="Text 6"/>
          <p:cNvSpPr txBox="1"/>
          <p:nvPr/>
        </p:nvSpPr>
        <p:spPr>
          <a:xfrm>
            <a:off x="8092440" y="1627632"/>
            <a:ext cx="3566160" cy="475488"/>
          </a:xfrm>
          <a:prstGeom prst="rect">
            <a:avLst/>
          </a:prstGeom>
          <a:noFill/>
          <a:ln/>
        </p:spPr>
        <p:txBody>
          <a:bodyPr wrap="square" lIns="0" tIns="0" rIns="0" bIns="0" rtlCol="0" anchor="t"/>
          <a:lstStyle/>
          <a:p>
            <a:pPr indent="0" marL="0">
              <a:buNone/>
            </a:pPr>
            <a:r>
              <a:rPr lang="en-US" sz="1200" dirty="0">
                <a:solidFill>
                  <a:schemeClr val="tx1"/>
                </a:solidFill>
              </a:rPr>
              <a:t>Minimum fluorescence </a:t>
            </a:r>
            <a:r>
              <a:rPr lang="en-US" sz="1200" b="1" dirty="0">
                <a:solidFill>
                  <a:schemeClr val="tx1"/>
                </a:solidFill>
              </a:rPr>
              <a:t>F</a:t>
            </a:r>
            <a:r>
              <a:rPr lang="en-US" sz="1200" b="1" baseline="-40000" dirty="0">
                <a:solidFill>
                  <a:schemeClr val="tx1"/>
                </a:solidFill>
              </a:rPr>
              <a:t>o</a:t>
            </a:r>
            <a:r>
              <a:rPr lang="en-US" sz="1200" dirty="0">
                <a:solidFill>
                  <a:schemeClr val="tx1"/>
                </a:solidFill>
              </a:rPr>
              <a:t> — all centres open, no NPQ</a:t>
            </a:r>
            <a:endParaRPr lang="en-US" sz="1200" dirty="0"/>
          </a:p>
        </p:txBody>
      </p:sp>
      <p:sp>
        <p:nvSpPr>
          <p:cNvPr id="11" name="step marker"/>
          <p:cNvSpPr/>
          <p:nvPr/>
        </p:nvSpPr>
        <p:spPr>
          <a:xfrm>
            <a:off x="7498080" y="2226564"/>
            <a:ext cx="457200" cy="457200"/>
          </a:xfrm>
          <a:prstGeom prst="ellipse">
            <a:avLst/>
          </a:prstGeom>
          <a:solidFill>
            <a:schemeClr val="tx2"/>
          </a:solidFill>
          <a:ln/>
        </p:spPr>
      </p:sp>
      <p:sp>
        <p:nvSpPr>
          <p:cNvPr id="12" name="Text 8"/>
          <p:cNvSpPr txBox="1"/>
          <p:nvPr/>
        </p:nvSpPr>
        <p:spPr>
          <a:xfrm>
            <a:off x="7498080" y="222656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3" name="Text 9"/>
          <p:cNvSpPr txBox="1"/>
          <p:nvPr/>
        </p:nvSpPr>
        <p:spPr>
          <a:xfrm>
            <a:off x="8092440" y="2135124"/>
            <a:ext cx="3566160" cy="301752"/>
          </a:xfrm>
          <a:prstGeom prst="rect">
            <a:avLst/>
          </a:prstGeom>
          <a:noFill/>
          <a:ln/>
        </p:spPr>
        <p:txBody>
          <a:bodyPr wrap="square" lIns="0" tIns="0" rIns="0" bIns="0" rtlCol="0" anchor="ctr"/>
          <a:lstStyle/>
          <a:p>
            <a:pPr algn="l" indent="0" marL="0">
              <a:buNone/>
            </a:pPr>
            <a:r>
              <a:rPr lang="en-US" sz="1400" b="1" dirty="0">
                <a:solidFill>
                  <a:schemeClr val="tx2"/>
                </a:solidFill>
              </a:rPr>
              <a:t>Saturating pulse (dark)</a:t>
            </a:r>
            <a:endParaRPr lang="en-US" sz="1400" dirty="0"/>
          </a:p>
        </p:txBody>
      </p:sp>
      <p:sp>
        <p:nvSpPr>
          <p:cNvPr id="14" name="Text 10"/>
          <p:cNvSpPr txBox="1"/>
          <p:nvPr/>
        </p:nvSpPr>
        <p:spPr>
          <a:xfrm>
            <a:off x="8092440" y="2436876"/>
            <a:ext cx="3566160" cy="475488"/>
          </a:xfrm>
          <a:prstGeom prst="rect">
            <a:avLst/>
          </a:prstGeom>
          <a:noFill/>
          <a:ln/>
        </p:spPr>
        <p:txBody>
          <a:bodyPr wrap="square" lIns="0" tIns="0" rIns="0" bIns="0" rtlCol="0" anchor="t"/>
          <a:lstStyle/>
          <a:p>
            <a:pPr indent="0" marL="0">
              <a:buNone/>
            </a:pPr>
            <a:r>
              <a:rPr lang="en-US" sz="1200" dirty="0">
                <a:solidFill>
                  <a:schemeClr val="tx1"/>
                </a:solidFill>
              </a:rPr>
              <a:t>Maximum </a:t>
            </a:r>
            <a:r>
              <a:rPr lang="en-US" sz="1200" b="1" dirty="0">
                <a:solidFill>
                  <a:schemeClr val="tx1"/>
                </a:solidFill>
              </a:rPr>
              <a:t>F</a:t>
            </a:r>
            <a:r>
              <a:rPr lang="en-US" sz="1200" b="1" baseline="-40000" dirty="0">
                <a:solidFill>
                  <a:schemeClr val="tx1"/>
                </a:solidFill>
              </a:rPr>
              <a:t>m</a:t>
            </a:r>
            <a:r>
              <a:rPr lang="en-US" sz="1200" dirty="0">
                <a:solidFill>
                  <a:schemeClr val="tx1"/>
                </a:solidFill>
              </a:rPr>
              <a:t> — all centres closed; </a:t>
            </a:r>
            <a:r>
              <a:rPr lang="en-US" sz="1200" b="1" dirty="0">
                <a:solidFill>
                  <a:schemeClr val="tx1"/>
                </a:solidFill>
              </a:rPr>
              <a:t>F</a:t>
            </a:r>
            <a:r>
              <a:rPr lang="en-US" sz="1200" b="1" baseline="-40000" dirty="0">
                <a:solidFill>
                  <a:schemeClr val="tx1"/>
                </a:solidFill>
              </a:rPr>
              <a:t>v</a:t>
            </a:r>
            <a:r>
              <a:rPr lang="en-US" sz="1200" b="1" dirty="0">
                <a:solidFill>
                  <a:schemeClr val="tx1"/>
                </a:solidFill>
              </a:rPr>
              <a:t> = F</a:t>
            </a:r>
            <a:r>
              <a:rPr lang="en-US" sz="1200" b="1" baseline="-40000" dirty="0">
                <a:solidFill>
                  <a:schemeClr val="tx1"/>
                </a:solidFill>
              </a:rPr>
              <a:t>m</a:t>
            </a:r>
            <a:r>
              <a:rPr lang="en-US" sz="1200" b="1" dirty="0">
                <a:solidFill>
                  <a:schemeClr val="tx1"/>
                </a:solidFill>
              </a:rPr>
              <a:t> − F</a:t>
            </a:r>
            <a:r>
              <a:rPr lang="en-US" sz="1200" b="1" baseline="-40000" dirty="0">
                <a:solidFill>
                  <a:schemeClr val="tx1"/>
                </a:solidFill>
              </a:rPr>
              <a:t>o</a:t>
            </a:r>
            <a:endParaRPr lang="en-US" sz="1200" dirty="0"/>
          </a:p>
        </p:txBody>
      </p:sp>
      <p:sp>
        <p:nvSpPr>
          <p:cNvPr id="15" name="step marker"/>
          <p:cNvSpPr/>
          <p:nvPr/>
        </p:nvSpPr>
        <p:spPr>
          <a:xfrm>
            <a:off x="7498080" y="3035808"/>
            <a:ext cx="457200" cy="457200"/>
          </a:xfrm>
          <a:prstGeom prst="ellipse">
            <a:avLst/>
          </a:prstGeom>
          <a:solidFill>
            <a:schemeClr val="accent3"/>
          </a:solidFill>
          <a:ln/>
        </p:spPr>
      </p:sp>
      <p:sp>
        <p:nvSpPr>
          <p:cNvPr id="16" name="Text 12"/>
          <p:cNvSpPr txBox="1"/>
          <p:nvPr/>
        </p:nvSpPr>
        <p:spPr>
          <a:xfrm>
            <a:off x="7498080" y="3035808"/>
            <a:ext cx="457200" cy="457200"/>
          </a:xfrm>
          <a:prstGeom prst="rect">
            <a:avLst/>
          </a:prstGeom>
          <a:noFill/>
          <a:ln/>
        </p:spPr>
        <p:txBody>
          <a:bodyPr wrap="square" lIns="0" tIns="0" rIns="0" bIns="0" rtlCol="0" anchor="ctr"/>
          <a:lstStyle/>
          <a:p>
            <a:pPr algn="ctr" indent="0" marL="0">
              <a:buNone/>
            </a:pPr>
            <a:r>
              <a:rPr lang="en-US" sz="1500" b="1" dirty="0">
                <a:solidFill>
                  <a:schemeClr val="tx1"/>
                </a:solidFill>
              </a:rPr>
              <a:t>3</a:t>
            </a:r>
            <a:endParaRPr lang="en-US" sz="1500" dirty="0"/>
          </a:p>
        </p:txBody>
      </p:sp>
      <p:sp>
        <p:nvSpPr>
          <p:cNvPr id="17" name="Text 13"/>
          <p:cNvSpPr txBox="1"/>
          <p:nvPr/>
        </p:nvSpPr>
        <p:spPr>
          <a:xfrm>
            <a:off x="8092440" y="2944368"/>
            <a:ext cx="3566160" cy="301752"/>
          </a:xfrm>
          <a:prstGeom prst="rect">
            <a:avLst/>
          </a:prstGeom>
          <a:noFill/>
          <a:ln/>
        </p:spPr>
        <p:txBody>
          <a:bodyPr wrap="square" lIns="0" tIns="0" rIns="0" bIns="0" rtlCol="0" anchor="ctr"/>
          <a:lstStyle/>
          <a:p>
            <a:pPr algn="l" indent="0" marL="0">
              <a:buNone/>
            </a:pPr>
            <a:r>
              <a:rPr lang="en-US" sz="1400" b="1" dirty="0">
                <a:solidFill>
                  <a:schemeClr val="tx2"/>
                </a:solidFill>
              </a:rPr>
              <a:t>Actinic light on</a:t>
            </a:r>
            <a:endParaRPr lang="en-US" sz="1400" dirty="0"/>
          </a:p>
        </p:txBody>
      </p:sp>
      <p:sp>
        <p:nvSpPr>
          <p:cNvPr id="18" name="Text 14"/>
          <p:cNvSpPr txBox="1"/>
          <p:nvPr/>
        </p:nvSpPr>
        <p:spPr>
          <a:xfrm>
            <a:off x="8092440" y="3246120"/>
            <a:ext cx="3566160" cy="475488"/>
          </a:xfrm>
          <a:prstGeom prst="rect">
            <a:avLst/>
          </a:prstGeom>
          <a:noFill/>
          <a:ln/>
        </p:spPr>
        <p:txBody>
          <a:bodyPr wrap="square" lIns="0" tIns="0" rIns="0" bIns="0" rtlCol="0" anchor="t"/>
          <a:lstStyle/>
          <a:p>
            <a:pPr indent="0" marL="0">
              <a:buNone/>
            </a:pPr>
            <a:r>
              <a:rPr lang="en-US" sz="1200" dirty="0">
                <a:solidFill>
                  <a:schemeClr val="tx1"/>
                </a:solidFill>
              </a:rPr>
              <a:t>Rise, then quenching to steady state </a:t>
            </a:r>
            <a:r>
              <a:rPr lang="en-US" sz="1200" b="1" dirty="0">
                <a:solidFill>
                  <a:schemeClr val="tx1"/>
                </a:solidFill>
              </a:rPr>
              <a:t>F′</a:t>
            </a:r>
            <a:r>
              <a:rPr lang="en-US" sz="1200" dirty="0">
                <a:solidFill>
                  <a:schemeClr val="tx1"/>
                </a:solidFill>
              </a:rPr>
              <a:t> (minutes to &gt;20 min)</a:t>
            </a:r>
            <a:endParaRPr lang="en-US" sz="1200" dirty="0"/>
          </a:p>
        </p:txBody>
      </p:sp>
      <p:sp>
        <p:nvSpPr>
          <p:cNvPr id="19" name="step marker"/>
          <p:cNvSpPr/>
          <p:nvPr/>
        </p:nvSpPr>
        <p:spPr>
          <a:xfrm>
            <a:off x="7498080" y="3845052"/>
            <a:ext cx="457200" cy="457200"/>
          </a:xfrm>
          <a:prstGeom prst="ellipse">
            <a:avLst/>
          </a:prstGeom>
          <a:solidFill>
            <a:schemeClr val="accent3"/>
          </a:solidFill>
          <a:ln/>
        </p:spPr>
      </p:sp>
      <p:sp>
        <p:nvSpPr>
          <p:cNvPr id="20" name="Text 16"/>
          <p:cNvSpPr txBox="1"/>
          <p:nvPr/>
        </p:nvSpPr>
        <p:spPr>
          <a:xfrm>
            <a:off x="7498080" y="3845052"/>
            <a:ext cx="457200" cy="457200"/>
          </a:xfrm>
          <a:prstGeom prst="rect">
            <a:avLst/>
          </a:prstGeom>
          <a:noFill/>
          <a:ln/>
        </p:spPr>
        <p:txBody>
          <a:bodyPr wrap="square" lIns="0" tIns="0" rIns="0" bIns="0" rtlCol="0" anchor="ctr"/>
          <a:lstStyle/>
          <a:p>
            <a:pPr algn="ctr" indent="0" marL="0">
              <a:buNone/>
            </a:pPr>
            <a:r>
              <a:rPr lang="en-US" sz="1500" b="1" dirty="0">
                <a:solidFill>
                  <a:schemeClr val="tx1"/>
                </a:solidFill>
              </a:rPr>
              <a:t>4</a:t>
            </a:r>
            <a:endParaRPr lang="en-US" sz="1500" dirty="0"/>
          </a:p>
        </p:txBody>
      </p:sp>
      <p:sp>
        <p:nvSpPr>
          <p:cNvPr id="21" name="Text 17"/>
          <p:cNvSpPr txBox="1"/>
          <p:nvPr/>
        </p:nvSpPr>
        <p:spPr>
          <a:xfrm>
            <a:off x="8092440" y="3753612"/>
            <a:ext cx="3566160" cy="301752"/>
          </a:xfrm>
          <a:prstGeom prst="rect">
            <a:avLst/>
          </a:prstGeom>
          <a:noFill/>
          <a:ln/>
        </p:spPr>
        <p:txBody>
          <a:bodyPr wrap="square" lIns="0" tIns="0" rIns="0" bIns="0" rtlCol="0" anchor="ctr"/>
          <a:lstStyle/>
          <a:p>
            <a:pPr algn="l" indent="0" marL="0">
              <a:buNone/>
            </a:pPr>
            <a:r>
              <a:rPr lang="en-US" sz="1400" b="1" dirty="0">
                <a:solidFill>
                  <a:schemeClr val="tx2"/>
                </a:solidFill>
              </a:rPr>
              <a:t>Pulses in the light</a:t>
            </a:r>
            <a:endParaRPr lang="en-US" sz="1400" dirty="0"/>
          </a:p>
        </p:txBody>
      </p:sp>
      <p:sp>
        <p:nvSpPr>
          <p:cNvPr id="22" name="Text 18"/>
          <p:cNvSpPr txBox="1"/>
          <p:nvPr/>
        </p:nvSpPr>
        <p:spPr>
          <a:xfrm>
            <a:off x="8092440" y="4055364"/>
            <a:ext cx="3566160" cy="475488"/>
          </a:xfrm>
          <a:prstGeom prst="rect">
            <a:avLst/>
          </a:prstGeom>
          <a:noFill/>
          <a:ln/>
        </p:spPr>
        <p:txBody>
          <a:bodyPr wrap="square" lIns="0" tIns="0" rIns="0" bIns="0" rtlCol="0" anchor="t"/>
          <a:lstStyle/>
          <a:p>
            <a:pPr indent="0" marL="0">
              <a:buNone/>
            </a:pPr>
            <a:r>
              <a:rPr lang="en-US" sz="1200" b="1" dirty="0">
                <a:solidFill>
                  <a:schemeClr val="tx1"/>
                </a:solidFill>
              </a:rPr>
              <a:t>F</a:t>
            </a:r>
            <a:r>
              <a:rPr lang="en-US" sz="1200" b="1" baseline="-40000" dirty="0">
                <a:solidFill>
                  <a:schemeClr val="tx1"/>
                </a:solidFill>
              </a:rPr>
              <a:t>m</a:t>
            </a:r>
            <a:r>
              <a:rPr lang="en-US" sz="1200" b="1" dirty="0">
                <a:solidFill>
                  <a:schemeClr val="tx1"/>
                </a:solidFill>
              </a:rPr>
              <a:t>′</a:t>
            </a:r>
            <a:r>
              <a:rPr lang="en-US" sz="1200" dirty="0">
                <a:solidFill>
                  <a:schemeClr val="tx1"/>
                </a:solidFill>
              </a:rPr>
              <a:t> &lt; F</a:t>
            </a:r>
            <a:r>
              <a:rPr lang="en-US" sz="1200" baseline="-40000" dirty="0">
                <a:solidFill>
                  <a:schemeClr val="tx1"/>
                </a:solidFill>
              </a:rPr>
              <a:t>m</a:t>
            </a:r>
            <a:r>
              <a:rPr lang="en-US" sz="1200" dirty="0">
                <a:solidFill>
                  <a:schemeClr val="tx1"/>
                </a:solidFill>
              </a:rPr>
              <a:t> because of NPQ; </a:t>
            </a:r>
            <a:r>
              <a:rPr lang="en-US" sz="1200" b="1" dirty="0">
                <a:solidFill>
                  <a:schemeClr val="tx1"/>
                </a:solidFill>
              </a:rPr>
              <a:t>F</a:t>
            </a:r>
            <a:r>
              <a:rPr lang="en-US" sz="1200" b="1" baseline="-40000" dirty="0">
                <a:solidFill>
                  <a:schemeClr val="tx1"/>
                </a:solidFill>
              </a:rPr>
              <a:t>q</a:t>
            </a:r>
            <a:r>
              <a:rPr lang="en-US" sz="1200" b="1" dirty="0">
                <a:solidFill>
                  <a:schemeClr val="tx1"/>
                </a:solidFill>
              </a:rPr>
              <a:t>′ = F</a:t>
            </a:r>
            <a:r>
              <a:rPr lang="en-US" sz="1200" b="1" baseline="-40000" dirty="0">
                <a:solidFill>
                  <a:schemeClr val="tx1"/>
                </a:solidFill>
              </a:rPr>
              <a:t>m</a:t>
            </a:r>
            <a:r>
              <a:rPr lang="en-US" sz="1200" b="1" dirty="0">
                <a:solidFill>
                  <a:schemeClr val="tx1"/>
                </a:solidFill>
              </a:rPr>
              <a:t>′ − F′</a:t>
            </a:r>
            <a:endParaRPr lang="en-US" sz="1200" dirty="0"/>
          </a:p>
        </p:txBody>
      </p:sp>
      <p:sp>
        <p:nvSpPr>
          <p:cNvPr id="23" name="step marker"/>
          <p:cNvSpPr/>
          <p:nvPr/>
        </p:nvSpPr>
        <p:spPr>
          <a:xfrm>
            <a:off x="7498080" y="4654296"/>
            <a:ext cx="457200" cy="457200"/>
          </a:xfrm>
          <a:prstGeom prst="ellipse">
            <a:avLst/>
          </a:prstGeom>
          <a:solidFill>
            <a:schemeClr val="accent5"/>
          </a:solidFill>
          <a:ln/>
        </p:spPr>
      </p:sp>
      <p:sp>
        <p:nvSpPr>
          <p:cNvPr id="24" name="Text 20"/>
          <p:cNvSpPr txBox="1"/>
          <p:nvPr/>
        </p:nvSpPr>
        <p:spPr>
          <a:xfrm>
            <a:off x="7498080" y="465429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5" name="Text 21"/>
          <p:cNvSpPr txBox="1"/>
          <p:nvPr/>
        </p:nvSpPr>
        <p:spPr>
          <a:xfrm>
            <a:off x="8092440" y="4562856"/>
            <a:ext cx="3566160" cy="301752"/>
          </a:xfrm>
          <a:prstGeom prst="rect">
            <a:avLst/>
          </a:prstGeom>
          <a:noFill/>
          <a:ln/>
        </p:spPr>
        <p:txBody>
          <a:bodyPr wrap="square" lIns="0" tIns="0" rIns="0" bIns="0" rtlCol="0" anchor="ctr"/>
          <a:lstStyle/>
          <a:p>
            <a:pPr algn="l" indent="0" marL="0">
              <a:buNone/>
            </a:pPr>
            <a:r>
              <a:rPr lang="en-US" sz="1400" b="1" dirty="0">
                <a:solidFill>
                  <a:schemeClr val="tx2"/>
                </a:solidFill>
              </a:rPr>
              <a:t>Actinic off (+ far-red)</a:t>
            </a:r>
            <a:endParaRPr lang="en-US" sz="1400" dirty="0"/>
          </a:p>
        </p:txBody>
      </p:sp>
      <p:sp>
        <p:nvSpPr>
          <p:cNvPr id="26" name="Text 22"/>
          <p:cNvSpPr txBox="1"/>
          <p:nvPr/>
        </p:nvSpPr>
        <p:spPr>
          <a:xfrm>
            <a:off x="8092440" y="4864608"/>
            <a:ext cx="3566160" cy="475488"/>
          </a:xfrm>
          <a:prstGeom prst="rect">
            <a:avLst/>
          </a:prstGeom>
          <a:noFill/>
          <a:ln/>
        </p:spPr>
        <p:txBody>
          <a:bodyPr wrap="square" lIns="0" tIns="0" rIns="0" bIns="0" rtlCol="0" anchor="t"/>
          <a:lstStyle/>
          <a:p>
            <a:pPr indent="0" marL="0">
              <a:buNone/>
            </a:pPr>
            <a:r>
              <a:rPr lang="en-US" sz="1200" dirty="0">
                <a:solidFill>
                  <a:schemeClr val="tx1"/>
                </a:solidFill>
              </a:rPr>
              <a:t>Minimal level in light-adapted state </a:t>
            </a:r>
            <a:r>
              <a:rPr lang="en-US" sz="1200" b="1" dirty="0">
                <a:solidFill>
                  <a:schemeClr val="tx1"/>
                </a:solidFill>
              </a:rPr>
              <a:t>F</a:t>
            </a:r>
            <a:r>
              <a:rPr lang="en-US" sz="1200" b="1" baseline="-40000" dirty="0">
                <a:solidFill>
                  <a:schemeClr val="tx1"/>
                </a:solidFill>
              </a:rPr>
              <a:t>o</a:t>
            </a:r>
            <a:r>
              <a:rPr lang="en-US" sz="1200" b="1" dirty="0">
                <a:solidFill>
                  <a:schemeClr val="tx1"/>
                </a:solidFill>
              </a:rPr>
              <a:t>′</a:t>
            </a:r>
            <a:r>
              <a:rPr lang="en-US" sz="1200" dirty="0">
                <a:solidFill>
                  <a:schemeClr val="tx1"/>
                </a:solidFill>
              </a:rPr>
              <a:t>; </a:t>
            </a:r>
            <a:r>
              <a:rPr lang="en-US" sz="1200" b="1" dirty="0">
                <a:solidFill>
                  <a:schemeClr val="tx1"/>
                </a:solidFill>
              </a:rPr>
              <a:t>F</a:t>
            </a:r>
            <a:r>
              <a:rPr lang="en-US" sz="1200" b="1" baseline="-40000" dirty="0">
                <a:solidFill>
                  <a:schemeClr val="tx1"/>
                </a:solidFill>
              </a:rPr>
              <a:t>v</a:t>
            </a:r>
            <a:r>
              <a:rPr lang="en-US" sz="1200" b="1" dirty="0">
                <a:solidFill>
                  <a:schemeClr val="tx1"/>
                </a:solidFill>
              </a:rPr>
              <a:t>′ = F</a:t>
            </a:r>
            <a:r>
              <a:rPr lang="en-US" sz="1200" b="1" baseline="-40000" dirty="0">
                <a:solidFill>
                  <a:schemeClr val="tx1"/>
                </a:solidFill>
              </a:rPr>
              <a:t>m</a:t>
            </a:r>
            <a:r>
              <a:rPr lang="en-US" sz="1200" b="1" dirty="0">
                <a:solidFill>
                  <a:schemeClr val="tx1"/>
                </a:solidFill>
              </a:rPr>
              <a:t>′ − F</a:t>
            </a:r>
            <a:r>
              <a:rPr lang="en-US" sz="1200" b="1" baseline="-40000" dirty="0">
                <a:solidFill>
                  <a:schemeClr val="tx1"/>
                </a:solidFill>
              </a:rPr>
              <a:t>o</a:t>
            </a:r>
            <a:r>
              <a:rPr lang="en-US" sz="1200" b="1" dirty="0">
                <a:solidFill>
                  <a:schemeClr val="tx1"/>
                </a:solidFill>
              </a:rPr>
              <a:t>′</a:t>
            </a:r>
            <a:endParaRPr lang="en-US" sz="1200" dirty="0"/>
          </a:p>
        </p:txBody>
      </p:sp>
      <p:sp>
        <p:nvSpPr>
          <p:cNvPr id="27" name="step marker"/>
          <p:cNvSpPr/>
          <p:nvPr/>
        </p:nvSpPr>
        <p:spPr>
          <a:xfrm>
            <a:off x="7498080" y="5463540"/>
            <a:ext cx="457200" cy="457200"/>
          </a:xfrm>
          <a:prstGeom prst="ellipse">
            <a:avLst/>
          </a:prstGeom>
          <a:solidFill>
            <a:schemeClr val="accent5"/>
          </a:solidFill>
          <a:ln/>
        </p:spPr>
      </p:sp>
      <p:sp>
        <p:nvSpPr>
          <p:cNvPr id="28" name="Text 24"/>
          <p:cNvSpPr txBox="1"/>
          <p:nvPr/>
        </p:nvSpPr>
        <p:spPr>
          <a:xfrm>
            <a:off x="7498080" y="54635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29" name="Text 25"/>
          <p:cNvSpPr txBox="1"/>
          <p:nvPr/>
        </p:nvSpPr>
        <p:spPr>
          <a:xfrm>
            <a:off x="8092440" y="5372100"/>
            <a:ext cx="3566160" cy="301752"/>
          </a:xfrm>
          <a:prstGeom prst="rect">
            <a:avLst/>
          </a:prstGeom>
          <a:noFill/>
          <a:ln/>
        </p:spPr>
        <p:txBody>
          <a:bodyPr wrap="square" lIns="0" tIns="0" rIns="0" bIns="0" rtlCol="0" anchor="ctr"/>
          <a:lstStyle/>
          <a:p>
            <a:pPr algn="l" indent="0" marL="0">
              <a:buNone/>
            </a:pPr>
            <a:r>
              <a:rPr lang="en-US" sz="1400" b="1" dirty="0">
                <a:solidFill>
                  <a:schemeClr val="tx2"/>
                </a:solidFill>
              </a:rPr>
              <a:t>Pulses in the dark</a:t>
            </a:r>
            <a:endParaRPr lang="en-US" sz="1400" dirty="0"/>
          </a:p>
        </p:txBody>
      </p:sp>
      <p:sp>
        <p:nvSpPr>
          <p:cNvPr id="30" name="Text 26"/>
          <p:cNvSpPr txBox="1"/>
          <p:nvPr/>
        </p:nvSpPr>
        <p:spPr>
          <a:xfrm>
            <a:off x="8092440" y="5673852"/>
            <a:ext cx="3566160" cy="475488"/>
          </a:xfrm>
          <a:prstGeom prst="rect">
            <a:avLst/>
          </a:prstGeom>
          <a:noFill/>
          <a:ln/>
        </p:spPr>
        <p:txBody>
          <a:bodyPr wrap="square" lIns="0" tIns="0" rIns="0" bIns="0" rtlCol="0" anchor="t"/>
          <a:lstStyle/>
          <a:p>
            <a:pPr indent="0" marL="0">
              <a:buNone/>
            </a:pPr>
            <a:r>
              <a:rPr lang="en-US" sz="1200" dirty="0">
                <a:solidFill>
                  <a:schemeClr val="tx1"/>
                </a:solidFill>
              </a:rPr>
              <a:t>F</a:t>
            </a:r>
            <a:r>
              <a:rPr lang="en-US" sz="1200" baseline="-40000" dirty="0">
                <a:solidFill>
                  <a:schemeClr val="tx1"/>
                </a:solidFill>
              </a:rPr>
              <a:t>m</a:t>
            </a:r>
            <a:r>
              <a:rPr lang="en-US" sz="1200" dirty="0">
                <a:solidFill>
                  <a:schemeClr val="tx1"/>
                </a:solidFill>
              </a:rPr>
              <a:t>′ recovers towards F</a:t>
            </a:r>
            <a:r>
              <a:rPr lang="en-US" sz="1200" baseline="-40000" dirty="0">
                <a:solidFill>
                  <a:schemeClr val="tx1"/>
                </a:solidFill>
              </a:rPr>
              <a:t>m</a:t>
            </a:r>
            <a:r>
              <a:rPr lang="en-US" sz="1200" dirty="0">
                <a:solidFill>
                  <a:schemeClr val="tx1"/>
                </a:solidFill>
              </a:rPr>
              <a:t> as NPQ relaxes (20–30 min)</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Glossary of fluorescence levels</a:t>
            </a:r>
            <a:endParaRPr lang="en-US" sz="3200" dirty="0"/>
          </a:p>
        </p:txBody>
      </p:sp>
      <p:sp>
        <p:nvSpPr>
          <p:cNvPr id="4" name="card"/>
          <p:cNvSpPr/>
          <p:nvPr/>
        </p:nvSpPr>
        <p:spPr>
          <a:xfrm>
            <a:off x="548640" y="1371600"/>
            <a:ext cx="2651760" cy="2194560"/>
          </a:xfrm>
          <a:prstGeom prst="roundRect">
            <a:avLst>
              <a:gd name="adj" fmla="val 3333"/>
            </a:avLst>
          </a:prstGeom>
          <a:solidFill>
            <a:schemeClr val="bg2"/>
          </a:solidFill>
          <a:ln/>
          <a:effectLst>
            <a:outerShdw sx="100000" sy="100000" kx="0" ky="0" algn="bl" rotWithShape="0" blurRad="76200" dist="25400" dir="5400000">
              <a:srgbClr val="000000">
                <a:alpha val="14000"/>
              </a:srgbClr>
            </a:outerShdw>
          </a:effectLst>
        </p:spPr>
      </p:sp>
      <p:sp>
        <p:nvSpPr>
          <p:cNvPr id="5" name="Text 2"/>
          <p:cNvSpPr txBox="1"/>
          <p:nvPr/>
        </p:nvSpPr>
        <p:spPr>
          <a:xfrm>
            <a:off x="731520" y="1508760"/>
            <a:ext cx="2286000" cy="59436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F</a:t>
            </a:r>
            <a:r>
              <a:rPr lang="en-US" sz="2800" b="1" baseline="-40000" dirty="0">
                <a:solidFill>
                  <a:schemeClr val="tx2"/>
                </a:solidFill>
                <a:latin typeface="Cambria" pitchFamily="34" charset="0"/>
                <a:ea typeface="Cambria" pitchFamily="34" charset="-122"/>
                <a:cs typeface="Cambria" pitchFamily="34" charset="-120"/>
              </a:rPr>
              <a:t>o</a:t>
            </a:r>
            <a:endParaRPr lang="en-US" sz="2800" dirty="0"/>
          </a:p>
        </p:txBody>
      </p:sp>
      <p:sp>
        <p:nvSpPr>
          <p:cNvPr id="6" name="tag"/>
          <p:cNvSpPr/>
          <p:nvPr/>
        </p:nvSpPr>
        <p:spPr>
          <a:xfrm>
            <a:off x="2286000" y="1572768"/>
            <a:ext cx="731520" cy="292608"/>
          </a:xfrm>
          <a:prstGeom prst="roundRect">
            <a:avLst>
              <a:gd name="adj" fmla="val 50000"/>
            </a:avLst>
          </a:prstGeom>
          <a:solidFill>
            <a:schemeClr val="tx2"/>
          </a:solidFill>
          <a:ln/>
        </p:spPr>
      </p:sp>
      <p:sp>
        <p:nvSpPr>
          <p:cNvPr id="7" name="Text 4"/>
          <p:cNvSpPr txBox="1"/>
          <p:nvPr/>
        </p:nvSpPr>
        <p:spPr>
          <a:xfrm>
            <a:off x="2286000" y="1572768"/>
            <a:ext cx="731520" cy="292608"/>
          </a:xfrm>
          <a:prstGeom prst="rect">
            <a:avLst/>
          </a:prstGeom>
          <a:noFill/>
          <a:ln/>
        </p:spPr>
        <p:txBody>
          <a:bodyPr wrap="square" lIns="0" tIns="0" rIns="0" bIns="0" rtlCol="0" anchor="ctr"/>
          <a:lstStyle/>
          <a:p>
            <a:pPr algn="ctr" indent="0" marL="0">
              <a:buNone/>
            </a:pPr>
            <a:r>
              <a:rPr lang="en-US" sz="1100" b="1" dirty="0">
                <a:solidFill>
                  <a:schemeClr val="bg1"/>
                </a:solidFill>
              </a:rPr>
              <a:t>DARK</a:t>
            </a:r>
            <a:endParaRPr lang="en-US" sz="1100" dirty="0"/>
          </a:p>
        </p:txBody>
      </p:sp>
      <p:sp>
        <p:nvSpPr>
          <p:cNvPr id="8" name="Text 5"/>
          <p:cNvSpPr txBox="1"/>
          <p:nvPr/>
        </p:nvSpPr>
        <p:spPr>
          <a:xfrm>
            <a:off x="731520" y="2148840"/>
            <a:ext cx="2286000" cy="594360"/>
          </a:xfrm>
          <a:prstGeom prst="rect">
            <a:avLst/>
          </a:prstGeom>
          <a:noFill/>
          <a:ln/>
        </p:spPr>
        <p:txBody>
          <a:bodyPr wrap="square" lIns="0" tIns="0" rIns="0" bIns="0" rtlCol="0" anchor="t"/>
          <a:lstStyle/>
          <a:p>
            <a:pPr indent="0" marL="0">
              <a:buNone/>
            </a:pPr>
            <a:r>
              <a:rPr lang="en-US" sz="1400" b="1" dirty="0">
                <a:solidFill>
                  <a:schemeClr val="tx1"/>
                </a:solidFill>
              </a:rPr>
              <a:t>Minimal fluorescence, dark-adapted</a:t>
            </a:r>
            <a:endParaRPr lang="en-US" sz="1400" dirty="0"/>
          </a:p>
        </p:txBody>
      </p:sp>
      <p:sp>
        <p:nvSpPr>
          <p:cNvPr id="9" name="Text 6"/>
          <p:cNvSpPr txBox="1"/>
          <p:nvPr/>
        </p:nvSpPr>
        <p:spPr>
          <a:xfrm>
            <a:off x="731520" y="2743200"/>
            <a:ext cx="2286000" cy="731520"/>
          </a:xfrm>
          <a:prstGeom prst="rect">
            <a:avLst/>
          </a:prstGeom>
          <a:noFill/>
          <a:ln/>
        </p:spPr>
        <p:txBody>
          <a:bodyPr wrap="square" lIns="0" tIns="0" rIns="0" bIns="0" rtlCol="0" anchor="t"/>
          <a:lstStyle/>
          <a:p>
            <a:pPr indent="0" marL="0">
              <a:buNone/>
            </a:pPr>
            <a:r>
              <a:rPr lang="en-US" sz="1300" dirty="0">
                <a:solidFill>
                  <a:schemeClr val="tx1"/>
                </a:solidFill>
              </a:rPr>
              <a:t>All PSII centres open, no NPQ</a:t>
            </a:r>
            <a:endParaRPr lang="en-US" sz="1300" dirty="0"/>
          </a:p>
        </p:txBody>
      </p:sp>
      <p:sp>
        <p:nvSpPr>
          <p:cNvPr id="10" name="card"/>
          <p:cNvSpPr/>
          <p:nvPr/>
        </p:nvSpPr>
        <p:spPr>
          <a:xfrm>
            <a:off x="3364992" y="1371600"/>
            <a:ext cx="2651760" cy="2194560"/>
          </a:xfrm>
          <a:prstGeom prst="roundRect">
            <a:avLst>
              <a:gd name="adj" fmla="val 3333"/>
            </a:avLst>
          </a:prstGeom>
          <a:solidFill>
            <a:schemeClr val="bg2"/>
          </a:solidFill>
          <a:ln/>
          <a:effectLst>
            <a:outerShdw sx="100000" sy="100000" kx="0" ky="0" algn="bl" rotWithShape="0" blurRad="76200" dist="25400" dir="5400000">
              <a:srgbClr val="000000">
                <a:alpha val="14000"/>
              </a:srgbClr>
            </a:outerShdw>
          </a:effectLst>
        </p:spPr>
      </p:sp>
      <p:sp>
        <p:nvSpPr>
          <p:cNvPr id="11" name="Text 8"/>
          <p:cNvSpPr txBox="1"/>
          <p:nvPr/>
        </p:nvSpPr>
        <p:spPr>
          <a:xfrm>
            <a:off x="3547872" y="1508760"/>
            <a:ext cx="2286000" cy="59436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F</a:t>
            </a:r>
            <a:r>
              <a:rPr lang="en-US" sz="2800" b="1" baseline="-40000" dirty="0">
                <a:solidFill>
                  <a:schemeClr val="tx2"/>
                </a:solidFill>
                <a:latin typeface="Cambria" pitchFamily="34" charset="0"/>
                <a:ea typeface="Cambria" pitchFamily="34" charset="-122"/>
                <a:cs typeface="Cambria" pitchFamily="34" charset="-120"/>
              </a:rPr>
              <a:t>m</a:t>
            </a:r>
            <a:endParaRPr lang="en-US" sz="2800" dirty="0"/>
          </a:p>
        </p:txBody>
      </p:sp>
      <p:sp>
        <p:nvSpPr>
          <p:cNvPr id="12" name="tag"/>
          <p:cNvSpPr/>
          <p:nvPr/>
        </p:nvSpPr>
        <p:spPr>
          <a:xfrm>
            <a:off x="5102352" y="1572768"/>
            <a:ext cx="731520" cy="292608"/>
          </a:xfrm>
          <a:prstGeom prst="roundRect">
            <a:avLst>
              <a:gd name="adj" fmla="val 50000"/>
            </a:avLst>
          </a:prstGeom>
          <a:solidFill>
            <a:schemeClr val="tx2"/>
          </a:solidFill>
          <a:ln/>
        </p:spPr>
      </p:sp>
      <p:sp>
        <p:nvSpPr>
          <p:cNvPr id="13" name="Text 10"/>
          <p:cNvSpPr txBox="1"/>
          <p:nvPr/>
        </p:nvSpPr>
        <p:spPr>
          <a:xfrm>
            <a:off x="5102352" y="1572768"/>
            <a:ext cx="731520" cy="292608"/>
          </a:xfrm>
          <a:prstGeom prst="rect">
            <a:avLst/>
          </a:prstGeom>
          <a:noFill/>
          <a:ln/>
        </p:spPr>
        <p:txBody>
          <a:bodyPr wrap="square" lIns="0" tIns="0" rIns="0" bIns="0" rtlCol="0" anchor="ctr"/>
          <a:lstStyle/>
          <a:p>
            <a:pPr algn="ctr" indent="0" marL="0">
              <a:buNone/>
            </a:pPr>
            <a:r>
              <a:rPr lang="en-US" sz="1100" b="1" dirty="0">
                <a:solidFill>
                  <a:schemeClr val="bg1"/>
                </a:solidFill>
              </a:rPr>
              <a:t>DARK</a:t>
            </a:r>
            <a:endParaRPr lang="en-US" sz="1100" dirty="0"/>
          </a:p>
        </p:txBody>
      </p:sp>
      <p:sp>
        <p:nvSpPr>
          <p:cNvPr id="14" name="Text 11"/>
          <p:cNvSpPr txBox="1"/>
          <p:nvPr/>
        </p:nvSpPr>
        <p:spPr>
          <a:xfrm>
            <a:off x="3547872" y="2148840"/>
            <a:ext cx="2286000" cy="594360"/>
          </a:xfrm>
          <a:prstGeom prst="rect">
            <a:avLst/>
          </a:prstGeom>
          <a:noFill/>
          <a:ln/>
        </p:spPr>
        <p:txBody>
          <a:bodyPr wrap="square" lIns="0" tIns="0" rIns="0" bIns="0" rtlCol="0" anchor="t"/>
          <a:lstStyle/>
          <a:p>
            <a:pPr indent="0" marL="0">
              <a:buNone/>
            </a:pPr>
            <a:r>
              <a:rPr lang="en-US" sz="1400" b="1" dirty="0">
                <a:solidFill>
                  <a:schemeClr val="tx1"/>
                </a:solidFill>
              </a:rPr>
              <a:t>Maximal fluorescence, dark-adapted</a:t>
            </a:r>
            <a:endParaRPr lang="en-US" sz="1400" dirty="0"/>
          </a:p>
        </p:txBody>
      </p:sp>
      <p:sp>
        <p:nvSpPr>
          <p:cNvPr id="15" name="Text 12"/>
          <p:cNvSpPr txBox="1"/>
          <p:nvPr/>
        </p:nvSpPr>
        <p:spPr>
          <a:xfrm>
            <a:off x="3547872" y="2743200"/>
            <a:ext cx="2286000" cy="731520"/>
          </a:xfrm>
          <a:prstGeom prst="rect">
            <a:avLst/>
          </a:prstGeom>
          <a:noFill/>
          <a:ln/>
        </p:spPr>
        <p:txBody>
          <a:bodyPr wrap="square" lIns="0" tIns="0" rIns="0" bIns="0" rtlCol="0" anchor="t"/>
          <a:lstStyle/>
          <a:p>
            <a:pPr indent="0" marL="0">
              <a:buNone/>
            </a:pPr>
            <a:r>
              <a:rPr lang="en-US" sz="1300" dirty="0">
                <a:solidFill>
                  <a:schemeClr val="tx1"/>
                </a:solidFill>
              </a:rPr>
              <a:t>Saturating pulse closes all centres; no NPQ</a:t>
            </a:r>
            <a:endParaRPr lang="en-US" sz="1300" dirty="0"/>
          </a:p>
        </p:txBody>
      </p:sp>
      <p:sp>
        <p:nvSpPr>
          <p:cNvPr id="16" name="card"/>
          <p:cNvSpPr/>
          <p:nvPr/>
        </p:nvSpPr>
        <p:spPr>
          <a:xfrm>
            <a:off x="6181344" y="1371600"/>
            <a:ext cx="2651760" cy="2194560"/>
          </a:xfrm>
          <a:prstGeom prst="roundRect">
            <a:avLst>
              <a:gd name="adj" fmla="val 3333"/>
            </a:avLst>
          </a:prstGeom>
          <a:solidFill>
            <a:schemeClr val="bg2"/>
          </a:solidFill>
          <a:ln/>
          <a:effectLst>
            <a:outerShdw sx="100000" sy="100000" kx="0" ky="0" algn="bl" rotWithShape="0" blurRad="76200" dist="25400" dir="5400000">
              <a:srgbClr val="000000">
                <a:alpha val="14000"/>
              </a:srgbClr>
            </a:outerShdw>
          </a:effectLst>
        </p:spPr>
      </p:sp>
      <p:sp>
        <p:nvSpPr>
          <p:cNvPr id="17" name="Text 14"/>
          <p:cNvSpPr txBox="1"/>
          <p:nvPr/>
        </p:nvSpPr>
        <p:spPr>
          <a:xfrm>
            <a:off x="6364224" y="1508760"/>
            <a:ext cx="2286000" cy="59436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F</a:t>
            </a:r>
            <a:r>
              <a:rPr lang="en-US" sz="2800" b="1" baseline="-40000" dirty="0">
                <a:solidFill>
                  <a:schemeClr val="tx2"/>
                </a:solidFill>
                <a:latin typeface="Cambria" pitchFamily="34" charset="0"/>
                <a:ea typeface="Cambria" pitchFamily="34" charset="-122"/>
                <a:cs typeface="Cambria" pitchFamily="34" charset="-120"/>
              </a:rPr>
              <a:t>v</a:t>
            </a:r>
            <a:endParaRPr lang="en-US" sz="2800" dirty="0"/>
          </a:p>
        </p:txBody>
      </p:sp>
      <p:sp>
        <p:nvSpPr>
          <p:cNvPr id="18" name="tag"/>
          <p:cNvSpPr/>
          <p:nvPr/>
        </p:nvSpPr>
        <p:spPr>
          <a:xfrm>
            <a:off x="7918704" y="1572768"/>
            <a:ext cx="731520" cy="292608"/>
          </a:xfrm>
          <a:prstGeom prst="roundRect">
            <a:avLst>
              <a:gd name="adj" fmla="val 50000"/>
            </a:avLst>
          </a:prstGeom>
          <a:solidFill>
            <a:schemeClr val="tx2"/>
          </a:solidFill>
          <a:ln/>
        </p:spPr>
      </p:sp>
      <p:sp>
        <p:nvSpPr>
          <p:cNvPr id="19" name="Text 16"/>
          <p:cNvSpPr txBox="1"/>
          <p:nvPr/>
        </p:nvSpPr>
        <p:spPr>
          <a:xfrm>
            <a:off x="7918704" y="1572768"/>
            <a:ext cx="731520" cy="292608"/>
          </a:xfrm>
          <a:prstGeom prst="rect">
            <a:avLst/>
          </a:prstGeom>
          <a:noFill/>
          <a:ln/>
        </p:spPr>
        <p:txBody>
          <a:bodyPr wrap="square" lIns="0" tIns="0" rIns="0" bIns="0" rtlCol="0" anchor="ctr"/>
          <a:lstStyle/>
          <a:p>
            <a:pPr algn="ctr" indent="0" marL="0">
              <a:buNone/>
            </a:pPr>
            <a:r>
              <a:rPr lang="en-US" sz="1100" b="1" dirty="0">
                <a:solidFill>
                  <a:schemeClr val="bg1"/>
                </a:solidFill>
              </a:rPr>
              <a:t>DARK</a:t>
            </a:r>
            <a:endParaRPr lang="en-US" sz="1100" dirty="0"/>
          </a:p>
        </p:txBody>
      </p:sp>
      <p:sp>
        <p:nvSpPr>
          <p:cNvPr id="20" name="Text 17"/>
          <p:cNvSpPr txBox="1"/>
          <p:nvPr/>
        </p:nvSpPr>
        <p:spPr>
          <a:xfrm>
            <a:off x="6364224" y="2148840"/>
            <a:ext cx="2286000" cy="594360"/>
          </a:xfrm>
          <a:prstGeom prst="rect">
            <a:avLst/>
          </a:prstGeom>
          <a:noFill/>
          <a:ln/>
        </p:spPr>
        <p:txBody>
          <a:bodyPr wrap="square" lIns="0" tIns="0" rIns="0" bIns="0" rtlCol="0" anchor="t"/>
          <a:lstStyle/>
          <a:p>
            <a:pPr indent="0" marL="0">
              <a:buNone/>
            </a:pPr>
            <a:r>
              <a:rPr lang="en-US" sz="1400" b="1" dirty="0">
                <a:solidFill>
                  <a:schemeClr val="tx1"/>
                </a:solidFill>
              </a:rPr>
              <a:t>Variable fluorescence</a:t>
            </a:r>
            <a:endParaRPr lang="en-US" sz="1400" dirty="0"/>
          </a:p>
        </p:txBody>
      </p:sp>
      <p:sp>
        <p:nvSpPr>
          <p:cNvPr id="21" name="Text 18"/>
          <p:cNvSpPr txBox="1"/>
          <p:nvPr/>
        </p:nvSpPr>
        <p:spPr>
          <a:xfrm>
            <a:off x="6364224" y="2743200"/>
            <a:ext cx="2286000" cy="731520"/>
          </a:xfrm>
          <a:prstGeom prst="rect">
            <a:avLst/>
          </a:prstGeom>
          <a:noFill/>
          <a:ln/>
        </p:spPr>
        <p:txBody>
          <a:bodyPr wrap="square" lIns="0" tIns="0" rIns="0" bIns="0" rtlCol="0" anchor="t"/>
          <a:lstStyle/>
          <a:p>
            <a:pPr indent="0" marL="0">
              <a:buNone/>
            </a:pPr>
            <a:r>
              <a:rPr lang="en-US" sz="1300" dirty="0">
                <a:solidFill>
                  <a:schemeClr val="tx1"/>
                </a:solidFill>
              </a:rPr>
              <a:t>F</a:t>
            </a:r>
            <a:r>
              <a:rPr lang="en-US" sz="1300" baseline="-40000" dirty="0">
                <a:solidFill>
                  <a:schemeClr val="tx1"/>
                </a:solidFill>
              </a:rPr>
              <a:t>v</a:t>
            </a:r>
            <a:r>
              <a:rPr lang="en-US" sz="1300" dirty="0">
                <a:solidFill>
                  <a:schemeClr val="tx1"/>
                </a:solidFill>
              </a:rPr>
              <a:t> = F</a:t>
            </a:r>
            <a:r>
              <a:rPr lang="en-US" sz="1300" baseline="-40000" dirty="0">
                <a:solidFill>
                  <a:schemeClr val="tx1"/>
                </a:solidFill>
              </a:rPr>
              <a:t>m</a:t>
            </a:r>
            <a:r>
              <a:rPr lang="en-US" sz="1300" dirty="0">
                <a:solidFill>
                  <a:schemeClr val="tx1"/>
                </a:solidFill>
              </a:rPr>
              <a:t> − F</a:t>
            </a:r>
            <a:r>
              <a:rPr lang="en-US" sz="1300" baseline="-40000" dirty="0">
                <a:solidFill>
                  <a:schemeClr val="tx1"/>
                </a:solidFill>
              </a:rPr>
              <a:t>o</a:t>
            </a:r>
            <a:endParaRPr lang="en-US" sz="1300" dirty="0"/>
          </a:p>
        </p:txBody>
      </p:sp>
      <p:sp>
        <p:nvSpPr>
          <p:cNvPr id="22" name="card"/>
          <p:cNvSpPr/>
          <p:nvPr/>
        </p:nvSpPr>
        <p:spPr>
          <a:xfrm>
            <a:off x="8997696" y="1371600"/>
            <a:ext cx="2651760" cy="2194560"/>
          </a:xfrm>
          <a:prstGeom prst="roundRect">
            <a:avLst>
              <a:gd name="adj" fmla="val 3333"/>
            </a:avLst>
          </a:prstGeom>
          <a:solidFill>
            <a:schemeClr val="bg2"/>
          </a:solidFill>
          <a:ln/>
          <a:effectLst>
            <a:outerShdw sx="100000" sy="100000" kx="0" ky="0" algn="bl" rotWithShape="0" blurRad="76200" dist="25400" dir="5400000">
              <a:srgbClr val="000000">
                <a:alpha val="14000"/>
              </a:srgbClr>
            </a:outerShdw>
          </a:effectLst>
        </p:spPr>
      </p:sp>
      <p:sp>
        <p:nvSpPr>
          <p:cNvPr id="23" name="Text 20"/>
          <p:cNvSpPr txBox="1"/>
          <p:nvPr/>
        </p:nvSpPr>
        <p:spPr>
          <a:xfrm>
            <a:off x="9180576" y="1508760"/>
            <a:ext cx="2286000" cy="594360"/>
          </a:xfrm>
          <a:prstGeom prst="rect">
            <a:avLst/>
          </a:prstGeom>
          <a:noFill/>
          <a:ln/>
        </p:spPr>
        <p:txBody>
          <a:bodyPr wrap="square" lIns="0" tIns="0" rIns="0" bIns="0" rtlCol="0" anchor="ctr"/>
          <a:lstStyle/>
          <a:p>
            <a:pPr indent="0" marL="0">
              <a:buNone/>
            </a:pPr>
            <a:r>
              <a:rPr lang="en-US" sz="2800" b="1" dirty="0">
                <a:solidFill>
                  <a:schemeClr val="accent4"/>
                </a:solidFill>
                <a:latin typeface="Cambria" pitchFamily="34" charset="0"/>
                <a:ea typeface="Cambria" pitchFamily="34" charset="-122"/>
                <a:cs typeface="Cambria" pitchFamily="34" charset="-120"/>
              </a:rPr>
              <a:t>F′ (F</a:t>
            </a:r>
            <a:r>
              <a:rPr lang="en-US" sz="2800" b="1" baseline="-40000" dirty="0">
                <a:solidFill>
                  <a:schemeClr val="accent4"/>
                </a:solidFill>
                <a:latin typeface="Cambria" pitchFamily="34" charset="0"/>
                <a:ea typeface="Cambria" pitchFamily="34" charset="-122"/>
                <a:cs typeface="Cambria" pitchFamily="34" charset="-120"/>
              </a:rPr>
              <a:t>s</a:t>
            </a:r>
            <a:r>
              <a:rPr lang="en-US" sz="2800" b="1" dirty="0">
                <a:solidFill>
                  <a:schemeClr val="accent4"/>
                </a:solidFill>
                <a:latin typeface="Cambria" pitchFamily="34" charset="0"/>
                <a:ea typeface="Cambria" pitchFamily="34" charset="-122"/>
                <a:cs typeface="Cambria" pitchFamily="34" charset="-120"/>
              </a:rPr>
              <a:t>, F</a:t>
            </a:r>
            <a:r>
              <a:rPr lang="en-US" sz="2800" b="1" baseline="-40000" dirty="0">
                <a:solidFill>
                  <a:schemeClr val="accent4"/>
                </a:solidFill>
                <a:latin typeface="Cambria" pitchFamily="34" charset="0"/>
                <a:ea typeface="Cambria" pitchFamily="34" charset="-122"/>
                <a:cs typeface="Cambria" pitchFamily="34" charset="-120"/>
              </a:rPr>
              <a:t>t</a:t>
            </a:r>
            <a:r>
              <a:rPr lang="en-US" sz="2800" b="1" dirty="0">
                <a:solidFill>
                  <a:schemeClr val="accent4"/>
                </a:solidFill>
                <a:latin typeface="Cambria" pitchFamily="34" charset="0"/>
                <a:ea typeface="Cambria" pitchFamily="34" charset="-122"/>
                <a:cs typeface="Cambria" pitchFamily="34" charset="-120"/>
              </a:rPr>
              <a:t>)</a:t>
            </a:r>
            <a:endParaRPr lang="en-US" sz="2800" dirty="0"/>
          </a:p>
        </p:txBody>
      </p:sp>
      <p:sp>
        <p:nvSpPr>
          <p:cNvPr id="24" name="tag"/>
          <p:cNvSpPr/>
          <p:nvPr/>
        </p:nvSpPr>
        <p:spPr>
          <a:xfrm>
            <a:off x="10735056" y="1572768"/>
            <a:ext cx="731520" cy="292608"/>
          </a:xfrm>
          <a:prstGeom prst="roundRect">
            <a:avLst>
              <a:gd name="adj" fmla="val 50000"/>
            </a:avLst>
          </a:prstGeom>
          <a:solidFill>
            <a:schemeClr val="accent3"/>
          </a:solidFill>
          <a:ln/>
        </p:spPr>
      </p:sp>
      <p:sp>
        <p:nvSpPr>
          <p:cNvPr id="25" name="Text 22"/>
          <p:cNvSpPr txBox="1"/>
          <p:nvPr/>
        </p:nvSpPr>
        <p:spPr>
          <a:xfrm>
            <a:off x="10735056" y="1572768"/>
            <a:ext cx="731520" cy="292608"/>
          </a:xfrm>
          <a:prstGeom prst="rect">
            <a:avLst/>
          </a:prstGeom>
          <a:noFill/>
          <a:ln/>
        </p:spPr>
        <p:txBody>
          <a:bodyPr wrap="square" lIns="0" tIns="0" rIns="0" bIns="0" rtlCol="0" anchor="ctr"/>
          <a:lstStyle/>
          <a:p>
            <a:pPr algn="ctr" indent="0" marL="0">
              <a:buNone/>
            </a:pPr>
            <a:r>
              <a:rPr lang="en-US" sz="1100" b="1" dirty="0">
                <a:solidFill>
                  <a:schemeClr val="bg1"/>
                </a:solidFill>
              </a:rPr>
              <a:t>LIGHT</a:t>
            </a:r>
            <a:endParaRPr lang="en-US" sz="1100" dirty="0"/>
          </a:p>
        </p:txBody>
      </p:sp>
      <p:sp>
        <p:nvSpPr>
          <p:cNvPr id="26" name="Text 23"/>
          <p:cNvSpPr txBox="1"/>
          <p:nvPr/>
        </p:nvSpPr>
        <p:spPr>
          <a:xfrm>
            <a:off x="9180576" y="2148840"/>
            <a:ext cx="2286000" cy="594360"/>
          </a:xfrm>
          <a:prstGeom prst="rect">
            <a:avLst/>
          </a:prstGeom>
          <a:noFill/>
          <a:ln/>
        </p:spPr>
        <p:txBody>
          <a:bodyPr wrap="square" lIns="0" tIns="0" rIns="0" bIns="0" rtlCol="0" anchor="t"/>
          <a:lstStyle/>
          <a:p>
            <a:pPr indent="0" marL="0">
              <a:buNone/>
            </a:pPr>
            <a:r>
              <a:rPr lang="en-US" sz="1400" b="1" dirty="0">
                <a:solidFill>
                  <a:schemeClr val="tx1"/>
                </a:solidFill>
              </a:rPr>
              <a:t>Steady-state fluorescence in light</a:t>
            </a:r>
            <a:endParaRPr lang="en-US" sz="1400" dirty="0"/>
          </a:p>
        </p:txBody>
      </p:sp>
      <p:sp>
        <p:nvSpPr>
          <p:cNvPr id="27" name="Text 24"/>
          <p:cNvSpPr txBox="1"/>
          <p:nvPr/>
        </p:nvSpPr>
        <p:spPr>
          <a:xfrm>
            <a:off x="9180576" y="2743200"/>
            <a:ext cx="2286000" cy="731520"/>
          </a:xfrm>
          <a:prstGeom prst="rect">
            <a:avLst/>
          </a:prstGeom>
          <a:noFill/>
          <a:ln/>
        </p:spPr>
        <p:txBody>
          <a:bodyPr wrap="square" lIns="0" tIns="0" rIns="0" bIns="0" rtlCol="0" anchor="t"/>
          <a:lstStyle/>
          <a:p>
            <a:pPr indent="0" marL="0">
              <a:buNone/>
            </a:pPr>
            <a:r>
              <a:rPr lang="en-US" sz="1300" dirty="0">
                <a:solidFill>
                  <a:schemeClr val="tx1"/>
                </a:solidFill>
              </a:rPr>
              <a:t>Some centres closed, NPQ present</a:t>
            </a:r>
            <a:endParaRPr lang="en-US" sz="1300" dirty="0"/>
          </a:p>
        </p:txBody>
      </p:sp>
      <p:sp>
        <p:nvSpPr>
          <p:cNvPr id="28" name="card"/>
          <p:cNvSpPr/>
          <p:nvPr/>
        </p:nvSpPr>
        <p:spPr>
          <a:xfrm>
            <a:off x="548640" y="3749040"/>
            <a:ext cx="2651760" cy="2194560"/>
          </a:xfrm>
          <a:prstGeom prst="roundRect">
            <a:avLst>
              <a:gd name="adj" fmla="val 3333"/>
            </a:avLst>
          </a:prstGeom>
          <a:solidFill>
            <a:schemeClr val="bg2"/>
          </a:solidFill>
          <a:ln/>
          <a:effectLst>
            <a:outerShdw sx="100000" sy="100000" kx="0" ky="0" algn="bl" rotWithShape="0" blurRad="76200" dist="25400" dir="5400000">
              <a:srgbClr val="000000">
                <a:alpha val="14000"/>
              </a:srgbClr>
            </a:outerShdw>
          </a:effectLst>
        </p:spPr>
      </p:sp>
      <p:sp>
        <p:nvSpPr>
          <p:cNvPr id="29" name="Text 26"/>
          <p:cNvSpPr txBox="1"/>
          <p:nvPr/>
        </p:nvSpPr>
        <p:spPr>
          <a:xfrm>
            <a:off x="731520" y="3886200"/>
            <a:ext cx="2286000" cy="594360"/>
          </a:xfrm>
          <a:prstGeom prst="rect">
            <a:avLst/>
          </a:prstGeom>
          <a:noFill/>
          <a:ln/>
        </p:spPr>
        <p:txBody>
          <a:bodyPr wrap="square" lIns="0" tIns="0" rIns="0" bIns="0" rtlCol="0" anchor="ctr"/>
          <a:lstStyle/>
          <a:p>
            <a:pPr indent="0" marL="0">
              <a:buNone/>
            </a:pPr>
            <a:r>
              <a:rPr lang="en-US" sz="2800" b="1" dirty="0">
                <a:solidFill>
                  <a:schemeClr val="accent4"/>
                </a:solidFill>
                <a:latin typeface="Cambria" pitchFamily="34" charset="0"/>
                <a:ea typeface="Cambria" pitchFamily="34" charset="-122"/>
                <a:cs typeface="Cambria" pitchFamily="34" charset="-120"/>
              </a:rPr>
              <a:t>F</a:t>
            </a:r>
            <a:r>
              <a:rPr lang="en-US" sz="2800" b="1" baseline="-40000" dirty="0">
                <a:solidFill>
                  <a:schemeClr val="accent4"/>
                </a:solidFill>
                <a:latin typeface="Cambria" pitchFamily="34" charset="0"/>
                <a:ea typeface="Cambria" pitchFamily="34" charset="-122"/>
                <a:cs typeface="Cambria" pitchFamily="34" charset="-120"/>
              </a:rPr>
              <a:t>m</a:t>
            </a:r>
            <a:r>
              <a:rPr lang="en-US" sz="2800" b="1" dirty="0">
                <a:solidFill>
                  <a:schemeClr val="accent4"/>
                </a:solidFill>
                <a:latin typeface="Cambria" pitchFamily="34" charset="0"/>
                <a:ea typeface="Cambria" pitchFamily="34" charset="-122"/>
                <a:cs typeface="Cambria" pitchFamily="34" charset="-120"/>
              </a:rPr>
              <a:t>′</a:t>
            </a:r>
            <a:endParaRPr lang="en-US" sz="2800" dirty="0"/>
          </a:p>
        </p:txBody>
      </p:sp>
      <p:sp>
        <p:nvSpPr>
          <p:cNvPr id="30" name="tag"/>
          <p:cNvSpPr/>
          <p:nvPr/>
        </p:nvSpPr>
        <p:spPr>
          <a:xfrm>
            <a:off x="2286000" y="3950208"/>
            <a:ext cx="731520" cy="292608"/>
          </a:xfrm>
          <a:prstGeom prst="roundRect">
            <a:avLst>
              <a:gd name="adj" fmla="val 50000"/>
            </a:avLst>
          </a:prstGeom>
          <a:solidFill>
            <a:schemeClr val="accent3"/>
          </a:solidFill>
          <a:ln/>
        </p:spPr>
      </p:sp>
      <p:sp>
        <p:nvSpPr>
          <p:cNvPr id="31" name="Text 28"/>
          <p:cNvSpPr txBox="1"/>
          <p:nvPr/>
        </p:nvSpPr>
        <p:spPr>
          <a:xfrm>
            <a:off x="2286000" y="3950208"/>
            <a:ext cx="731520" cy="292608"/>
          </a:xfrm>
          <a:prstGeom prst="rect">
            <a:avLst/>
          </a:prstGeom>
          <a:noFill/>
          <a:ln/>
        </p:spPr>
        <p:txBody>
          <a:bodyPr wrap="square" lIns="0" tIns="0" rIns="0" bIns="0" rtlCol="0" anchor="ctr"/>
          <a:lstStyle/>
          <a:p>
            <a:pPr algn="ctr" indent="0" marL="0">
              <a:buNone/>
            </a:pPr>
            <a:r>
              <a:rPr lang="en-US" sz="1100" b="1" dirty="0">
                <a:solidFill>
                  <a:schemeClr val="bg1"/>
                </a:solidFill>
              </a:rPr>
              <a:t>LIGHT</a:t>
            </a:r>
            <a:endParaRPr lang="en-US" sz="1100" dirty="0"/>
          </a:p>
        </p:txBody>
      </p:sp>
      <p:sp>
        <p:nvSpPr>
          <p:cNvPr id="32" name="Text 29"/>
          <p:cNvSpPr txBox="1"/>
          <p:nvPr/>
        </p:nvSpPr>
        <p:spPr>
          <a:xfrm>
            <a:off x="731520" y="4526280"/>
            <a:ext cx="2286000" cy="594360"/>
          </a:xfrm>
          <a:prstGeom prst="rect">
            <a:avLst/>
          </a:prstGeom>
          <a:noFill/>
          <a:ln/>
        </p:spPr>
        <p:txBody>
          <a:bodyPr wrap="square" lIns="0" tIns="0" rIns="0" bIns="0" rtlCol="0" anchor="t"/>
          <a:lstStyle/>
          <a:p>
            <a:pPr indent="0" marL="0">
              <a:buNone/>
            </a:pPr>
            <a:r>
              <a:rPr lang="en-US" sz="1400" b="1" dirty="0">
                <a:solidFill>
                  <a:schemeClr val="tx1"/>
                </a:solidFill>
              </a:rPr>
              <a:t>Maximal fluorescence in light</a:t>
            </a:r>
            <a:endParaRPr lang="en-US" sz="1400" dirty="0"/>
          </a:p>
        </p:txBody>
      </p:sp>
      <p:sp>
        <p:nvSpPr>
          <p:cNvPr id="33" name="Text 30"/>
          <p:cNvSpPr txBox="1"/>
          <p:nvPr/>
        </p:nvSpPr>
        <p:spPr>
          <a:xfrm>
            <a:off x="731520" y="5120640"/>
            <a:ext cx="2286000" cy="731520"/>
          </a:xfrm>
          <a:prstGeom prst="rect">
            <a:avLst/>
          </a:prstGeom>
          <a:noFill/>
          <a:ln/>
        </p:spPr>
        <p:txBody>
          <a:bodyPr wrap="square" lIns="0" tIns="0" rIns="0" bIns="0" rtlCol="0" anchor="t"/>
          <a:lstStyle/>
          <a:p>
            <a:pPr indent="0" marL="0">
              <a:buNone/>
            </a:pPr>
            <a:r>
              <a:rPr lang="en-US" sz="1300" dirty="0">
                <a:solidFill>
                  <a:schemeClr val="tx1"/>
                </a:solidFill>
              </a:rPr>
              <a:t>Pulse under actinic light; lowered by NPQ</a:t>
            </a:r>
            <a:endParaRPr lang="en-US" sz="1300" dirty="0"/>
          </a:p>
        </p:txBody>
      </p:sp>
      <p:sp>
        <p:nvSpPr>
          <p:cNvPr id="34" name="card"/>
          <p:cNvSpPr/>
          <p:nvPr/>
        </p:nvSpPr>
        <p:spPr>
          <a:xfrm>
            <a:off x="3364992" y="3749040"/>
            <a:ext cx="2651760" cy="2194560"/>
          </a:xfrm>
          <a:prstGeom prst="roundRect">
            <a:avLst>
              <a:gd name="adj" fmla="val 3333"/>
            </a:avLst>
          </a:prstGeom>
          <a:solidFill>
            <a:schemeClr val="bg2"/>
          </a:solidFill>
          <a:ln/>
          <a:effectLst>
            <a:outerShdw sx="100000" sy="100000" kx="0" ky="0" algn="bl" rotWithShape="0" blurRad="76200" dist="25400" dir="5400000">
              <a:srgbClr val="000000">
                <a:alpha val="14000"/>
              </a:srgbClr>
            </a:outerShdw>
          </a:effectLst>
        </p:spPr>
      </p:sp>
      <p:sp>
        <p:nvSpPr>
          <p:cNvPr id="35" name="Text 32"/>
          <p:cNvSpPr txBox="1"/>
          <p:nvPr/>
        </p:nvSpPr>
        <p:spPr>
          <a:xfrm>
            <a:off x="3547872" y="3886200"/>
            <a:ext cx="2286000" cy="594360"/>
          </a:xfrm>
          <a:prstGeom prst="rect">
            <a:avLst/>
          </a:prstGeom>
          <a:noFill/>
          <a:ln/>
        </p:spPr>
        <p:txBody>
          <a:bodyPr wrap="square" lIns="0" tIns="0" rIns="0" bIns="0" rtlCol="0" anchor="ctr"/>
          <a:lstStyle/>
          <a:p>
            <a:pPr indent="0" marL="0">
              <a:buNone/>
            </a:pPr>
            <a:r>
              <a:rPr lang="en-US" sz="2800" b="1" dirty="0">
                <a:solidFill>
                  <a:schemeClr val="accent4"/>
                </a:solidFill>
                <a:latin typeface="Cambria" pitchFamily="34" charset="0"/>
                <a:ea typeface="Cambria" pitchFamily="34" charset="-122"/>
                <a:cs typeface="Cambria" pitchFamily="34" charset="-120"/>
              </a:rPr>
              <a:t>F</a:t>
            </a:r>
            <a:r>
              <a:rPr lang="en-US" sz="2800" b="1" baseline="-40000" dirty="0">
                <a:solidFill>
                  <a:schemeClr val="accent4"/>
                </a:solidFill>
                <a:latin typeface="Cambria" pitchFamily="34" charset="0"/>
                <a:ea typeface="Cambria" pitchFamily="34" charset="-122"/>
                <a:cs typeface="Cambria" pitchFamily="34" charset="-120"/>
              </a:rPr>
              <a:t>o</a:t>
            </a:r>
            <a:r>
              <a:rPr lang="en-US" sz="2800" b="1" dirty="0">
                <a:solidFill>
                  <a:schemeClr val="accent4"/>
                </a:solidFill>
                <a:latin typeface="Cambria" pitchFamily="34" charset="0"/>
                <a:ea typeface="Cambria" pitchFamily="34" charset="-122"/>
                <a:cs typeface="Cambria" pitchFamily="34" charset="-120"/>
              </a:rPr>
              <a:t>′</a:t>
            </a:r>
            <a:endParaRPr lang="en-US" sz="2800" dirty="0"/>
          </a:p>
        </p:txBody>
      </p:sp>
      <p:sp>
        <p:nvSpPr>
          <p:cNvPr id="36" name="tag"/>
          <p:cNvSpPr/>
          <p:nvPr/>
        </p:nvSpPr>
        <p:spPr>
          <a:xfrm>
            <a:off x="5102352" y="3950208"/>
            <a:ext cx="731520" cy="292608"/>
          </a:xfrm>
          <a:prstGeom prst="roundRect">
            <a:avLst>
              <a:gd name="adj" fmla="val 50000"/>
            </a:avLst>
          </a:prstGeom>
          <a:solidFill>
            <a:schemeClr val="accent3"/>
          </a:solidFill>
          <a:ln/>
        </p:spPr>
      </p:sp>
      <p:sp>
        <p:nvSpPr>
          <p:cNvPr id="37" name="Text 34"/>
          <p:cNvSpPr txBox="1"/>
          <p:nvPr/>
        </p:nvSpPr>
        <p:spPr>
          <a:xfrm>
            <a:off x="5102352" y="3950208"/>
            <a:ext cx="731520" cy="292608"/>
          </a:xfrm>
          <a:prstGeom prst="rect">
            <a:avLst/>
          </a:prstGeom>
          <a:noFill/>
          <a:ln/>
        </p:spPr>
        <p:txBody>
          <a:bodyPr wrap="square" lIns="0" tIns="0" rIns="0" bIns="0" rtlCol="0" anchor="ctr"/>
          <a:lstStyle/>
          <a:p>
            <a:pPr algn="ctr" indent="0" marL="0">
              <a:buNone/>
            </a:pPr>
            <a:r>
              <a:rPr lang="en-US" sz="1100" b="1" dirty="0">
                <a:solidFill>
                  <a:schemeClr val="bg1"/>
                </a:solidFill>
              </a:rPr>
              <a:t>LIGHT</a:t>
            </a:r>
            <a:endParaRPr lang="en-US" sz="1100" dirty="0"/>
          </a:p>
        </p:txBody>
      </p:sp>
      <p:sp>
        <p:nvSpPr>
          <p:cNvPr id="38" name="Text 35"/>
          <p:cNvSpPr txBox="1"/>
          <p:nvPr/>
        </p:nvSpPr>
        <p:spPr>
          <a:xfrm>
            <a:off x="3547872" y="4526280"/>
            <a:ext cx="2286000" cy="594360"/>
          </a:xfrm>
          <a:prstGeom prst="rect">
            <a:avLst/>
          </a:prstGeom>
          <a:noFill/>
          <a:ln/>
        </p:spPr>
        <p:txBody>
          <a:bodyPr wrap="square" lIns="0" tIns="0" rIns="0" bIns="0" rtlCol="0" anchor="t"/>
          <a:lstStyle/>
          <a:p>
            <a:pPr indent="0" marL="0">
              <a:buNone/>
            </a:pPr>
            <a:r>
              <a:rPr lang="en-US" sz="1400" b="1" dirty="0">
                <a:solidFill>
                  <a:schemeClr val="tx1"/>
                </a:solidFill>
              </a:rPr>
              <a:t>Minimal fluorescence in light</a:t>
            </a:r>
            <a:endParaRPr lang="en-US" sz="1400" dirty="0"/>
          </a:p>
        </p:txBody>
      </p:sp>
      <p:sp>
        <p:nvSpPr>
          <p:cNvPr id="39" name="Text 36"/>
          <p:cNvSpPr txBox="1"/>
          <p:nvPr/>
        </p:nvSpPr>
        <p:spPr>
          <a:xfrm>
            <a:off x="3547872" y="5120640"/>
            <a:ext cx="2286000" cy="731520"/>
          </a:xfrm>
          <a:prstGeom prst="rect">
            <a:avLst/>
          </a:prstGeom>
          <a:noFill/>
          <a:ln/>
        </p:spPr>
        <p:txBody>
          <a:bodyPr wrap="square" lIns="0" tIns="0" rIns="0" bIns="0" rtlCol="0" anchor="t"/>
          <a:lstStyle/>
          <a:p>
            <a:pPr indent="0" marL="0">
              <a:buNone/>
            </a:pPr>
            <a:r>
              <a:rPr lang="en-US" sz="1300" dirty="0">
                <a:solidFill>
                  <a:schemeClr val="tx1"/>
                </a:solidFill>
              </a:rPr>
              <a:t>Just after actinic off (+FR) or calculated</a:t>
            </a:r>
            <a:endParaRPr lang="en-US" sz="1300" dirty="0"/>
          </a:p>
        </p:txBody>
      </p:sp>
      <p:sp>
        <p:nvSpPr>
          <p:cNvPr id="40" name="card"/>
          <p:cNvSpPr/>
          <p:nvPr/>
        </p:nvSpPr>
        <p:spPr>
          <a:xfrm>
            <a:off x="6181344" y="3749040"/>
            <a:ext cx="2651760" cy="2194560"/>
          </a:xfrm>
          <a:prstGeom prst="roundRect">
            <a:avLst>
              <a:gd name="adj" fmla="val 3333"/>
            </a:avLst>
          </a:prstGeom>
          <a:solidFill>
            <a:schemeClr val="bg2"/>
          </a:solidFill>
          <a:ln/>
          <a:effectLst>
            <a:outerShdw sx="100000" sy="100000" kx="0" ky="0" algn="bl" rotWithShape="0" blurRad="76200" dist="25400" dir="5400000">
              <a:srgbClr val="000000">
                <a:alpha val="14000"/>
              </a:srgbClr>
            </a:outerShdw>
          </a:effectLst>
        </p:spPr>
      </p:sp>
      <p:sp>
        <p:nvSpPr>
          <p:cNvPr id="41" name="Text 38"/>
          <p:cNvSpPr txBox="1"/>
          <p:nvPr/>
        </p:nvSpPr>
        <p:spPr>
          <a:xfrm>
            <a:off x="6364224" y="3886200"/>
            <a:ext cx="2286000" cy="594360"/>
          </a:xfrm>
          <a:prstGeom prst="rect">
            <a:avLst/>
          </a:prstGeom>
          <a:noFill/>
          <a:ln/>
        </p:spPr>
        <p:txBody>
          <a:bodyPr wrap="square" lIns="0" tIns="0" rIns="0" bIns="0" rtlCol="0" anchor="ctr"/>
          <a:lstStyle/>
          <a:p>
            <a:pPr indent="0" marL="0">
              <a:buNone/>
            </a:pPr>
            <a:r>
              <a:rPr lang="en-US" sz="2800" b="1" dirty="0">
                <a:solidFill>
                  <a:schemeClr val="accent4"/>
                </a:solidFill>
                <a:latin typeface="Cambria" pitchFamily="34" charset="0"/>
                <a:ea typeface="Cambria" pitchFamily="34" charset="-122"/>
                <a:cs typeface="Cambria" pitchFamily="34" charset="-120"/>
              </a:rPr>
              <a:t>F</a:t>
            </a:r>
            <a:r>
              <a:rPr lang="en-US" sz="2800" b="1" baseline="-40000" dirty="0">
                <a:solidFill>
                  <a:schemeClr val="accent4"/>
                </a:solidFill>
                <a:latin typeface="Cambria" pitchFamily="34" charset="0"/>
                <a:ea typeface="Cambria" pitchFamily="34" charset="-122"/>
                <a:cs typeface="Cambria" pitchFamily="34" charset="-120"/>
              </a:rPr>
              <a:t>q</a:t>
            </a:r>
            <a:r>
              <a:rPr lang="en-US" sz="2800" b="1" dirty="0">
                <a:solidFill>
                  <a:schemeClr val="accent4"/>
                </a:solidFill>
                <a:latin typeface="Cambria" pitchFamily="34" charset="0"/>
                <a:ea typeface="Cambria" pitchFamily="34" charset="-122"/>
                <a:cs typeface="Cambria" pitchFamily="34" charset="-120"/>
              </a:rPr>
              <a:t>′</a:t>
            </a:r>
            <a:endParaRPr lang="en-US" sz="2800" dirty="0"/>
          </a:p>
        </p:txBody>
      </p:sp>
      <p:sp>
        <p:nvSpPr>
          <p:cNvPr id="42" name="tag"/>
          <p:cNvSpPr/>
          <p:nvPr/>
        </p:nvSpPr>
        <p:spPr>
          <a:xfrm>
            <a:off x="7918704" y="3950208"/>
            <a:ext cx="731520" cy="292608"/>
          </a:xfrm>
          <a:prstGeom prst="roundRect">
            <a:avLst>
              <a:gd name="adj" fmla="val 50000"/>
            </a:avLst>
          </a:prstGeom>
          <a:solidFill>
            <a:schemeClr val="accent3"/>
          </a:solidFill>
          <a:ln/>
        </p:spPr>
      </p:sp>
      <p:sp>
        <p:nvSpPr>
          <p:cNvPr id="43" name="Text 40"/>
          <p:cNvSpPr txBox="1"/>
          <p:nvPr/>
        </p:nvSpPr>
        <p:spPr>
          <a:xfrm>
            <a:off x="7918704" y="3950208"/>
            <a:ext cx="731520" cy="292608"/>
          </a:xfrm>
          <a:prstGeom prst="rect">
            <a:avLst/>
          </a:prstGeom>
          <a:noFill/>
          <a:ln/>
        </p:spPr>
        <p:txBody>
          <a:bodyPr wrap="square" lIns="0" tIns="0" rIns="0" bIns="0" rtlCol="0" anchor="ctr"/>
          <a:lstStyle/>
          <a:p>
            <a:pPr algn="ctr" indent="0" marL="0">
              <a:buNone/>
            </a:pPr>
            <a:r>
              <a:rPr lang="en-US" sz="1100" b="1" dirty="0">
                <a:solidFill>
                  <a:schemeClr val="bg1"/>
                </a:solidFill>
              </a:rPr>
              <a:t>LIGHT</a:t>
            </a:r>
            <a:endParaRPr lang="en-US" sz="1100" dirty="0"/>
          </a:p>
        </p:txBody>
      </p:sp>
      <p:sp>
        <p:nvSpPr>
          <p:cNvPr id="44" name="Text 41"/>
          <p:cNvSpPr txBox="1"/>
          <p:nvPr/>
        </p:nvSpPr>
        <p:spPr>
          <a:xfrm>
            <a:off x="6364224" y="4526280"/>
            <a:ext cx="2286000" cy="594360"/>
          </a:xfrm>
          <a:prstGeom prst="rect">
            <a:avLst/>
          </a:prstGeom>
          <a:noFill/>
          <a:ln/>
        </p:spPr>
        <p:txBody>
          <a:bodyPr wrap="square" lIns="0" tIns="0" rIns="0" bIns="0" rtlCol="0" anchor="t"/>
          <a:lstStyle/>
          <a:p>
            <a:pPr indent="0" marL="0">
              <a:buNone/>
            </a:pPr>
            <a:r>
              <a:rPr lang="en-US" sz="1400" b="1" dirty="0">
                <a:solidFill>
                  <a:schemeClr val="tx1"/>
                </a:solidFill>
              </a:rPr>
              <a:t>Photochemical quenching by open centres</a:t>
            </a:r>
            <a:endParaRPr lang="en-US" sz="1400" dirty="0"/>
          </a:p>
        </p:txBody>
      </p:sp>
      <p:sp>
        <p:nvSpPr>
          <p:cNvPr id="45" name="Text 42"/>
          <p:cNvSpPr txBox="1"/>
          <p:nvPr/>
        </p:nvSpPr>
        <p:spPr>
          <a:xfrm>
            <a:off x="6364224" y="5120640"/>
            <a:ext cx="2286000" cy="731520"/>
          </a:xfrm>
          <a:prstGeom prst="rect">
            <a:avLst/>
          </a:prstGeom>
          <a:noFill/>
          <a:ln/>
        </p:spPr>
        <p:txBody>
          <a:bodyPr wrap="square" lIns="0" tIns="0" rIns="0" bIns="0" rtlCol="0" anchor="t"/>
          <a:lstStyle/>
          <a:p>
            <a:pPr indent="0" marL="0">
              <a:buNone/>
            </a:pPr>
            <a:r>
              <a:rPr lang="en-US" sz="1300" dirty="0">
                <a:solidFill>
                  <a:schemeClr val="tx1"/>
                </a:solidFill>
              </a:rPr>
              <a:t>F</a:t>
            </a:r>
            <a:r>
              <a:rPr lang="en-US" sz="1300" baseline="-40000" dirty="0">
                <a:solidFill>
                  <a:schemeClr val="tx1"/>
                </a:solidFill>
              </a:rPr>
              <a:t>q</a:t>
            </a:r>
            <a:r>
              <a:rPr lang="en-US" sz="1300" dirty="0">
                <a:solidFill>
                  <a:schemeClr val="tx1"/>
                </a:solidFill>
              </a:rPr>
              <a:t>′ = F</a:t>
            </a:r>
            <a:r>
              <a:rPr lang="en-US" sz="1300" baseline="-40000" dirty="0">
                <a:solidFill>
                  <a:schemeClr val="tx1"/>
                </a:solidFill>
              </a:rPr>
              <a:t>m</a:t>
            </a:r>
            <a:r>
              <a:rPr lang="en-US" sz="1300" dirty="0">
                <a:solidFill>
                  <a:schemeClr val="tx1"/>
                </a:solidFill>
              </a:rPr>
              <a:t>′ − F′</a:t>
            </a:r>
            <a:endParaRPr lang="en-US" sz="1300" dirty="0"/>
          </a:p>
        </p:txBody>
      </p:sp>
      <p:sp>
        <p:nvSpPr>
          <p:cNvPr id="46" name="card"/>
          <p:cNvSpPr/>
          <p:nvPr/>
        </p:nvSpPr>
        <p:spPr>
          <a:xfrm>
            <a:off x="8997696" y="3749040"/>
            <a:ext cx="2651760" cy="2194560"/>
          </a:xfrm>
          <a:prstGeom prst="roundRect">
            <a:avLst>
              <a:gd name="adj" fmla="val 3333"/>
            </a:avLst>
          </a:prstGeom>
          <a:solidFill>
            <a:schemeClr val="bg2"/>
          </a:solidFill>
          <a:ln/>
          <a:effectLst>
            <a:outerShdw sx="100000" sy="100000" kx="0" ky="0" algn="bl" rotWithShape="0" blurRad="76200" dist="25400" dir="5400000">
              <a:srgbClr val="000000">
                <a:alpha val="14000"/>
              </a:srgbClr>
            </a:outerShdw>
          </a:effectLst>
        </p:spPr>
      </p:sp>
      <p:sp>
        <p:nvSpPr>
          <p:cNvPr id="47" name="Text 44"/>
          <p:cNvSpPr txBox="1"/>
          <p:nvPr/>
        </p:nvSpPr>
        <p:spPr>
          <a:xfrm>
            <a:off x="9180576" y="3886200"/>
            <a:ext cx="2286000" cy="594360"/>
          </a:xfrm>
          <a:prstGeom prst="rect">
            <a:avLst/>
          </a:prstGeom>
          <a:noFill/>
          <a:ln/>
        </p:spPr>
        <p:txBody>
          <a:bodyPr wrap="square" lIns="0" tIns="0" rIns="0" bIns="0" rtlCol="0" anchor="ctr"/>
          <a:lstStyle/>
          <a:p>
            <a:pPr indent="0" marL="0">
              <a:buNone/>
            </a:pPr>
            <a:r>
              <a:rPr lang="en-US" sz="2800" b="1" dirty="0">
                <a:solidFill>
                  <a:schemeClr val="accent4"/>
                </a:solidFill>
                <a:latin typeface="Cambria" pitchFamily="34" charset="0"/>
                <a:ea typeface="Cambria" pitchFamily="34" charset="-122"/>
                <a:cs typeface="Cambria" pitchFamily="34" charset="-120"/>
              </a:rPr>
              <a:t>F</a:t>
            </a:r>
            <a:r>
              <a:rPr lang="en-US" sz="2800" b="1" baseline="-40000" dirty="0">
                <a:solidFill>
                  <a:schemeClr val="accent4"/>
                </a:solidFill>
                <a:latin typeface="Cambria" pitchFamily="34" charset="0"/>
                <a:ea typeface="Cambria" pitchFamily="34" charset="-122"/>
                <a:cs typeface="Cambria" pitchFamily="34" charset="-120"/>
              </a:rPr>
              <a:t>v</a:t>
            </a:r>
            <a:r>
              <a:rPr lang="en-US" sz="2800" b="1" dirty="0">
                <a:solidFill>
                  <a:schemeClr val="accent4"/>
                </a:solidFill>
                <a:latin typeface="Cambria" pitchFamily="34" charset="0"/>
                <a:ea typeface="Cambria" pitchFamily="34" charset="-122"/>
                <a:cs typeface="Cambria" pitchFamily="34" charset="-120"/>
              </a:rPr>
              <a:t>′</a:t>
            </a:r>
            <a:endParaRPr lang="en-US" sz="2800" dirty="0"/>
          </a:p>
        </p:txBody>
      </p:sp>
      <p:sp>
        <p:nvSpPr>
          <p:cNvPr id="48" name="tag"/>
          <p:cNvSpPr/>
          <p:nvPr/>
        </p:nvSpPr>
        <p:spPr>
          <a:xfrm>
            <a:off x="10735056" y="3950208"/>
            <a:ext cx="731520" cy="292608"/>
          </a:xfrm>
          <a:prstGeom prst="roundRect">
            <a:avLst>
              <a:gd name="adj" fmla="val 50000"/>
            </a:avLst>
          </a:prstGeom>
          <a:solidFill>
            <a:schemeClr val="accent3"/>
          </a:solidFill>
          <a:ln/>
        </p:spPr>
      </p:sp>
      <p:sp>
        <p:nvSpPr>
          <p:cNvPr id="49" name="Text 46"/>
          <p:cNvSpPr txBox="1"/>
          <p:nvPr/>
        </p:nvSpPr>
        <p:spPr>
          <a:xfrm>
            <a:off x="10735056" y="3950208"/>
            <a:ext cx="731520" cy="292608"/>
          </a:xfrm>
          <a:prstGeom prst="rect">
            <a:avLst/>
          </a:prstGeom>
          <a:noFill/>
          <a:ln/>
        </p:spPr>
        <p:txBody>
          <a:bodyPr wrap="square" lIns="0" tIns="0" rIns="0" bIns="0" rtlCol="0" anchor="ctr"/>
          <a:lstStyle/>
          <a:p>
            <a:pPr algn="ctr" indent="0" marL="0">
              <a:buNone/>
            </a:pPr>
            <a:r>
              <a:rPr lang="en-US" sz="1100" b="1" dirty="0">
                <a:solidFill>
                  <a:schemeClr val="bg1"/>
                </a:solidFill>
              </a:rPr>
              <a:t>LIGHT</a:t>
            </a:r>
            <a:endParaRPr lang="en-US" sz="1100" dirty="0"/>
          </a:p>
        </p:txBody>
      </p:sp>
      <p:sp>
        <p:nvSpPr>
          <p:cNvPr id="50" name="Text 47"/>
          <p:cNvSpPr txBox="1"/>
          <p:nvPr/>
        </p:nvSpPr>
        <p:spPr>
          <a:xfrm>
            <a:off x="9180576" y="4526280"/>
            <a:ext cx="2286000" cy="594360"/>
          </a:xfrm>
          <a:prstGeom prst="rect">
            <a:avLst/>
          </a:prstGeom>
          <a:noFill/>
          <a:ln/>
        </p:spPr>
        <p:txBody>
          <a:bodyPr wrap="square" lIns="0" tIns="0" rIns="0" bIns="0" rtlCol="0" anchor="t"/>
          <a:lstStyle/>
          <a:p>
            <a:pPr indent="0" marL="0">
              <a:buNone/>
            </a:pPr>
            <a:r>
              <a:rPr lang="en-US" sz="1400" b="1" dirty="0">
                <a:solidFill>
                  <a:schemeClr val="tx1"/>
                </a:solidFill>
              </a:rPr>
              <a:t>Variable fluorescence in light</a:t>
            </a:r>
            <a:endParaRPr lang="en-US" sz="1400" dirty="0"/>
          </a:p>
        </p:txBody>
      </p:sp>
      <p:sp>
        <p:nvSpPr>
          <p:cNvPr id="51" name="Text 48"/>
          <p:cNvSpPr txBox="1"/>
          <p:nvPr/>
        </p:nvSpPr>
        <p:spPr>
          <a:xfrm>
            <a:off x="9180576" y="5120640"/>
            <a:ext cx="2286000" cy="731520"/>
          </a:xfrm>
          <a:prstGeom prst="rect">
            <a:avLst/>
          </a:prstGeom>
          <a:noFill/>
          <a:ln/>
        </p:spPr>
        <p:txBody>
          <a:bodyPr wrap="square" lIns="0" tIns="0" rIns="0" bIns="0" rtlCol="0" anchor="t"/>
          <a:lstStyle/>
          <a:p>
            <a:pPr indent="0" marL="0">
              <a:buNone/>
            </a:pPr>
            <a:r>
              <a:rPr lang="en-US" sz="1300" dirty="0">
                <a:solidFill>
                  <a:schemeClr val="tx1"/>
                </a:solidFill>
              </a:rPr>
              <a:t>F</a:t>
            </a:r>
            <a:r>
              <a:rPr lang="en-US" sz="1300" baseline="-40000" dirty="0">
                <a:solidFill>
                  <a:schemeClr val="tx1"/>
                </a:solidFill>
              </a:rPr>
              <a:t>v</a:t>
            </a:r>
            <a:r>
              <a:rPr lang="en-US" sz="1300" dirty="0">
                <a:solidFill>
                  <a:schemeClr val="tx1"/>
                </a:solidFill>
              </a:rPr>
              <a:t>′ = F</a:t>
            </a:r>
            <a:r>
              <a:rPr lang="en-US" sz="1300" baseline="-40000" dirty="0">
                <a:solidFill>
                  <a:schemeClr val="tx1"/>
                </a:solidFill>
              </a:rPr>
              <a:t>m</a:t>
            </a:r>
            <a:r>
              <a:rPr lang="en-US" sz="1300" dirty="0">
                <a:solidFill>
                  <a:schemeClr val="tx1"/>
                </a:solidFill>
              </a:rPr>
              <a:t>′ − F</a:t>
            </a:r>
            <a:r>
              <a:rPr lang="en-US" sz="1300" baseline="-40000" dirty="0">
                <a:solidFill>
                  <a:schemeClr val="tx1"/>
                </a:solidFill>
              </a:rPr>
              <a:t>o</a:t>
            </a:r>
            <a:r>
              <a:rPr lang="en-US" sz="1300" dirty="0">
                <a:solidFill>
                  <a:schemeClr val="tx1"/>
                </a:solidFill>
              </a:rPr>
              <a:t>′</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a:t>
            </a:r>
            <a:r>
              <a:rPr lang="en-US" sz="3200" b="1" baseline="-40000" dirty="0">
                <a:solidFill>
                  <a:schemeClr val="tx2"/>
                </a:solidFill>
              </a:rPr>
              <a:t>v</a:t>
            </a:r>
            <a:r>
              <a:rPr lang="en-US" sz="3200" b="1" dirty="0">
                <a:solidFill>
                  <a:schemeClr val="tx2"/>
                </a:solidFill>
              </a:rPr>
              <a:t>/F</a:t>
            </a:r>
            <a:r>
              <a:rPr lang="en-US" sz="3200" b="1" baseline="-40000" dirty="0">
                <a:solidFill>
                  <a:schemeClr val="tx2"/>
                </a:solidFill>
              </a:rPr>
              <a:t>m</a:t>
            </a:r>
            <a:r>
              <a:rPr lang="en-US" sz="3200" b="1" dirty="0">
                <a:solidFill>
                  <a:schemeClr val="tx2"/>
                </a:solidFill>
              </a:rPr>
              <a:t>: maximum quantum efficiency of PSII</a:t>
            </a:r>
            <a:endParaRPr lang="en-US" sz="3200" dirty="0"/>
          </a:p>
        </p:txBody>
      </p:sp>
      <p:sp>
        <p:nvSpPr>
          <p:cNvPr id="4" name="card"/>
          <p:cNvSpPr/>
          <p:nvPr/>
        </p:nvSpPr>
        <p:spPr>
          <a:xfrm>
            <a:off x="548640" y="1325880"/>
            <a:ext cx="3931920" cy="2743200"/>
          </a:xfrm>
          <a:prstGeom prst="roundRect">
            <a:avLst>
              <a:gd name="adj" fmla="val 2667"/>
            </a:avLst>
          </a:prstGeom>
          <a:solidFill>
            <a:schemeClr val="tx2"/>
          </a:solidFill>
          <a:ln/>
          <a:effectLst>
            <a:outerShdw sx="100000" sy="100000" kx="0" ky="0" algn="bl" rotWithShape="0" blurRad="76200" dist="25400" dir="5400000">
              <a:srgbClr val="000000">
                <a:alpha val="14000"/>
              </a:srgbClr>
            </a:outerShdw>
          </a:effectLst>
        </p:spPr>
      </p:sp>
      <p:sp>
        <p:nvSpPr>
          <p:cNvPr id="5" name="Text 2"/>
          <p:cNvSpPr txBox="1"/>
          <p:nvPr/>
        </p:nvSpPr>
        <p:spPr>
          <a:xfrm>
            <a:off x="548640" y="1463040"/>
            <a:ext cx="3931920" cy="1188720"/>
          </a:xfrm>
          <a:prstGeom prst="rect">
            <a:avLst/>
          </a:prstGeom>
          <a:noFill/>
          <a:ln/>
        </p:spPr>
        <p:txBody>
          <a:bodyPr wrap="square" lIns="0" tIns="0" rIns="0" bIns="0" rtlCol="0" anchor="ctr"/>
          <a:lstStyle/>
          <a:p>
            <a:pPr algn="ctr" indent="0" marL="0">
              <a:buNone/>
            </a:pPr>
            <a:r>
              <a:rPr lang="en-US" sz="6600" b="1" dirty="0">
                <a:solidFill>
                  <a:schemeClr val="bg1"/>
                </a:solidFill>
              </a:rPr>
              <a:t>~0.83</a:t>
            </a:r>
            <a:endParaRPr lang="en-US" sz="6600" dirty="0"/>
          </a:p>
        </p:txBody>
      </p:sp>
      <p:sp>
        <p:nvSpPr>
          <p:cNvPr id="6" name="Text 3"/>
          <p:cNvSpPr txBox="1"/>
          <p:nvPr/>
        </p:nvSpPr>
        <p:spPr>
          <a:xfrm>
            <a:off x="731520" y="2697480"/>
            <a:ext cx="3566160" cy="411480"/>
          </a:xfrm>
          <a:prstGeom prst="rect">
            <a:avLst/>
          </a:prstGeom>
          <a:noFill/>
          <a:ln/>
        </p:spPr>
        <p:txBody>
          <a:bodyPr wrap="square" lIns="0" tIns="0" rIns="0" bIns="0" rtlCol="0" anchor="ctr"/>
          <a:lstStyle/>
          <a:p>
            <a:pPr algn="ctr" indent="0" marL="0">
              <a:buNone/>
            </a:pPr>
            <a:r>
              <a:rPr lang="en-US" sz="1400" dirty="0">
                <a:solidFill>
                  <a:schemeClr val="bg2"/>
                </a:solidFill>
              </a:rPr>
              <a:t>typical F</a:t>
            </a:r>
            <a:r>
              <a:rPr lang="en-US" sz="1400" baseline="-40000" dirty="0">
                <a:solidFill>
                  <a:schemeClr val="bg2"/>
                </a:solidFill>
              </a:rPr>
              <a:t>v</a:t>
            </a:r>
            <a:r>
              <a:rPr lang="en-US" sz="1400" dirty="0">
                <a:solidFill>
                  <a:schemeClr val="bg2"/>
                </a:solidFill>
              </a:rPr>
              <a:t>/F</a:t>
            </a:r>
            <a:r>
              <a:rPr lang="en-US" sz="1400" baseline="-40000" dirty="0">
                <a:solidFill>
                  <a:schemeClr val="bg2"/>
                </a:solidFill>
              </a:rPr>
              <a:t>m</a:t>
            </a:r>
            <a:r>
              <a:rPr lang="en-US" sz="1400" dirty="0">
                <a:solidFill>
                  <a:schemeClr val="bg2"/>
                </a:solidFill>
              </a:rPr>
              <a:t> of an unstressed leaf</a:t>
            </a:r>
            <a:endParaRPr lang="en-US" sz="1400" dirty="0"/>
          </a:p>
        </p:txBody>
      </p:sp>
      <p:sp>
        <p:nvSpPr>
          <p:cNvPr id="7" name="Text 4"/>
          <p:cNvSpPr txBox="1"/>
          <p:nvPr/>
        </p:nvSpPr>
        <p:spPr>
          <a:xfrm>
            <a:off x="731520" y="3246120"/>
            <a:ext cx="3566160" cy="548640"/>
          </a:xfrm>
          <a:prstGeom prst="rect">
            <a:avLst/>
          </a:prstGeom>
          <a:noFill/>
          <a:ln/>
        </p:spPr>
        <p:txBody>
          <a:bodyPr wrap="square" lIns="0" tIns="0" rIns="0" bIns="0" rtlCol="0" anchor="ctr"/>
          <a:lstStyle/>
          <a:p>
            <a:pPr algn="ctr" indent="0" marL="0">
              <a:buNone/>
            </a:pPr>
            <a:r>
              <a:rPr lang="en-US" sz="2000" b="1" dirty="0">
                <a:solidFill>
                  <a:schemeClr val="accent3"/>
                </a:solidFill>
              </a:rPr>
              <a:t>F</a:t>
            </a:r>
            <a:r>
              <a:rPr lang="en-US" sz="2000" b="1" baseline="-40000" dirty="0">
                <a:solidFill>
                  <a:schemeClr val="accent3"/>
                </a:solidFill>
              </a:rPr>
              <a:t>v</a:t>
            </a:r>
            <a:r>
              <a:rPr lang="en-US" sz="2000" b="1" dirty="0">
                <a:solidFill>
                  <a:schemeClr val="accent3"/>
                </a:solidFill>
              </a:rPr>
              <a:t>/F</a:t>
            </a:r>
            <a:r>
              <a:rPr lang="en-US" sz="2000" b="1" baseline="-40000" dirty="0">
                <a:solidFill>
                  <a:schemeClr val="accent3"/>
                </a:solidFill>
              </a:rPr>
              <a:t>m</a:t>
            </a:r>
            <a:r>
              <a:rPr lang="en-US" sz="2000" b="1" dirty="0">
                <a:solidFill>
                  <a:schemeClr val="accent3"/>
                </a:solidFill>
              </a:rPr>
              <a:t> = (F</a:t>
            </a:r>
            <a:r>
              <a:rPr lang="en-US" sz="2000" b="1" baseline="-40000" dirty="0">
                <a:solidFill>
                  <a:schemeClr val="accent3"/>
                </a:solidFill>
              </a:rPr>
              <a:t>m</a:t>
            </a:r>
            <a:r>
              <a:rPr lang="en-US" sz="2000" b="1" dirty="0">
                <a:solidFill>
                  <a:schemeClr val="accent3"/>
                </a:solidFill>
              </a:rPr>
              <a:t> − F</a:t>
            </a:r>
            <a:r>
              <a:rPr lang="en-US" sz="2000" b="1" baseline="-40000" dirty="0">
                <a:solidFill>
                  <a:schemeClr val="accent3"/>
                </a:solidFill>
              </a:rPr>
              <a:t>o</a:t>
            </a:r>
            <a:r>
              <a:rPr lang="en-US" sz="2000" b="1" dirty="0">
                <a:solidFill>
                  <a:schemeClr val="accent3"/>
                </a:solidFill>
              </a:rPr>
              <a:t>) / F</a:t>
            </a:r>
            <a:r>
              <a:rPr lang="en-US" sz="2000" b="1" baseline="-40000" dirty="0">
                <a:solidFill>
                  <a:schemeClr val="accent3"/>
                </a:solidFill>
              </a:rPr>
              <a:t>m</a:t>
            </a:r>
            <a:endParaRPr lang="en-US" sz="2000" dirty="0"/>
          </a:p>
        </p:txBody>
      </p:sp>
      <p:sp>
        <p:nvSpPr>
          <p:cNvPr id="8" name="Text 5"/>
          <p:cNvSpPr txBox="1"/>
          <p:nvPr/>
        </p:nvSpPr>
        <p:spPr>
          <a:xfrm>
            <a:off x="4846320" y="1280160"/>
            <a:ext cx="6766560" cy="274320"/>
          </a:xfrm>
          <a:prstGeom prst="rect">
            <a:avLst/>
          </a:prstGeom>
          <a:noFill/>
          <a:ln/>
        </p:spPr>
        <p:txBody>
          <a:bodyPr wrap="square" lIns="0" tIns="0" rIns="0" bIns="0" rtlCol="0" anchor="ctr"/>
          <a:lstStyle/>
          <a:p>
            <a:pPr algn="l" indent="0" marL="0">
              <a:buNone/>
            </a:pPr>
            <a:r>
              <a:rPr lang="en-US" sz="1400" b="1" dirty="0">
                <a:solidFill>
                  <a:schemeClr val="tx2"/>
                </a:solidFill>
              </a:rPr>
              <a:t>Reading the value (dark-adapted leaf)</a:t>
            </a:r>
            <a:endParaRPr lang="en-US" sz="1400" dirty="0"/>
          </a:p>
        </p:txBody>
      </p:sp>
      <p:sp>
        <p:nvSpPr>
          <p:cNvPr id="9" name="gauge segment"/>
          <p:cNvSpPr/>
          <p:nvPr/>
        </p:nvSpPr>
        <p:spPr>
          <a:xfrm>
            <a:off x="4846320" y="1874520"/>
            <a:ext cx="1933303" cy="411480"/>
          </a:xfrm>
          <a:prstGeom prst="rect">
            <a:avLst/>
          </a:prstGeom>
          <a:solidFill>
            <a:schemeClr val="accent2"/>
          </a:solidFill>
          <a:ln w="12700">
            <a:solidFill>
              <a:srgbClr val="FFFFFF"/>
            </a:solidFill>
            <a:prstDash val="solid"/>
          </a:ln>
        </p:spPr>
      </p:sp>
      <p:sp>
        <p:nvSpPr>
          <p:cNvPr id="10" name="Text 7"/>
          <p:cNvSpPr txBox="1"/>
          <p:nvPr/>
        </p:nvSpPr>
        <p:spPr>
          <a:xfrm>
            <a:off x="4892040" y="2331720"/>
            <a:ext cx="1841863" cy="457200"/>
          </a:xfrm>
          <a:prstGeom prst="rect">
            <a:avLst/>
          </a:prstGeom>
          <a:noFill/>
          <a:ln/>
        </p:spPr>
        <p:txBody>
          <a:bodyPr wrap="square" lIns="0" tIns="0" rIns="0" bIns="0" rtlCol="0" anchor="t"/>
          <a:lstStyle/>
          <a:p>
            <a:pPr algn="l" indent="0" marL="0">
              <a:buNone/>
            </a:pPr>
            <a:r>
              <a:rPr lang="en-US" sz="1100" dirty="0">
                <a:solidFill>
                  <a:schemeClr val="tx1"/>
                </a:solidFill>
              </a:rPr>
              <a:t>&lt; 0.6: severe PSII damage</a:t>
            </a:r>
            <a:endParaRPr lang="en-US" sz="1100" dirty="0"/>
          </a:p>
        </p:txBody>
      </p:sp>
      <p:sp>
        <p:nvSpPr>
          <p:cNvPr id="11" name="gauge segment"/>
          <p:cNvSpPr/>
          <p:nvPr/>
        </p:nvSpPr>
        <p:spPr>
          <a:xfrm>
            <a:off x="6779623" y="1874520"/>
            <a:ext cx="3479945" cy="411480"/>
          </a:xfrm>
          <a:prstGeom prst="rect">
            <a:avLst/>
          </a:prstGeom>
          <a:solidFill>
            <a:schemeClr val="accent3"/>
          </a:solidFill>
          <a:ln w="12700">
            <a:solidFill>
              <a:srgbClr val="FFFFFF"/>
            </a:solidFill>
            <a:prstDash val="solid"/>
          </a:ln>
        </p:spPr>
      </p:sp>
      <p:sp>
        <p:nvSpPr>
          <p:cNvPr id="12" name="Text 9"/>
          <p:cNvSpPr txBox="1"/>
          <p:nvPr/>
        </p:nvSpPr>
        <p:spPr>
          <a:xfrm>
            <a:off x="6825343" y="2331720"/>
            <a:ext cx="3388505" cy="457200"/>
          </a:xfrm>
          <a:prstGeom prst="rect">
            <a:avLst/>
          </a:prstGeom>
          <a:noFill/>
          <a:ln/>
        </p:spPr>
        <p:txBody>
          <a:bodyPr wrap="square" lIns="0" tIns="0" rIns="0" bIns="0" rtlCol="0" anchor="t"/>
          <a:lstStyle/>
          <a:p>
            <a:pPr algn="l" indent="0" marL="0">
              <a:buNone/>
            </a:pPr>
            <a:r>
              <a:rPr lang="en-US" sz="1100" dirty="0">
                <a:solidFill>
                  <a:schemeClr val="tx1"/>
                </a:solidFill>
              </a:rPr>
              <a:t>0.6–0.78: photoinhibition / sustained quenching</a:t>
            </a:r>
            <a:endParaRPr lang="en-US" sz="1100" dirty="0"/>
          </a:p>
        </p:txBody>
      </p:sp>
      <p:sp>
        <p:nvSpPr>
          <p:cNvPr id="13" name="gauge segment"/>
          <p:cNvSpPr/>
          <p:nvPr/>
        </p:nvSpPr>
        <p:spPr>
          <a:xfrm>
            <a:off x="10259568" y="1874520"/>
            <a:ext cx="1353312" cy="411480"/>
          </a:xfrm>
          <a:prstGeom prst="rect">
            <a:avLst/>
          </a:prstGeom>
          <a:solidFill>
            <a:schemeClr val="accent1"/>
          </a:solidFill>
          <a:ln w="12700">
            <a:solidFill>
              <a:srgbClr val="FFFFFF"/>
            </a:solidFill>
            <a:prstDash val="solid"/>
          </a:ln>
        </p:spPr>
      </p:sp>
      <p:sp>
        <p:nvSpPr>
          <p:cNvPr id="14" name="Text 11"/>
          <p:cNvSpPr txBox="1"/>
          <p:nvPr/>
        </p:nvSpPr>
        <p:spPr>
          <a:xfrm>
            <a:off x="10305288" y="2331720"/>
            <a:ext cx="1261872" cy="457200"/>
          </a:xfrm>
          <a:prstGeom prst="rect">
            <a:avLst/>
          </a:prstGeom>
          <a:noFill/>
          <a:ln/>
        </p:spPr>
        <p:txBody>
          <a:bodyPr wrap="square" lIns="0" tIns="0" rIns="0" bIns="0" rtlCol="0" anchor="t"/>
          <a:lstStyle/>
          <a:p>
            <a:pPr algn="l" indent="0" marL="0">
              <a:buNone/>
            </a:pPr>
            <a:r>
              <a:rPr lang="en-US" sz="1100" dirty="0">
                <a:solidFill>
                  <a:schemeClr val="tx1"/>
                </a:solidFill>
              </a:rPr>
              <a:t>≈ 0.8–0.83: healthy</a:t>
            </a:r>
            <a:endParaRPr lang="en-US" sz="1100" dirty="0"/>
          </a:p>
        </p:txBody>
      </p:sp>
      <p:sp>
        <p:nvSpPr>
          <p:cNvPr id="15" name="Text 12"/>
          <p:cNvSpPr txBox="1"/>
          <p:nvPr/>
        </p:nvSpPr>
        <p:spPr>
          <a:xfrm>
            <a:off x="4617720" y="1600200"/>
            <a:ext cx="457200" cy="256032"/>
          </a:xfrm>
          <a:prstGeom prst="rect">
            <a:avLst/>
          </a:prstGeom>
          <a:noFill/>
          <a:ln/>
        </p:spPr>
        <p:txBody>
          <a:bodyPr wrap="square" lIns="0" tIns="0" rIns="0" bIns="0" rtlCol="0" anchor="ctr"/>
          <a:lstStyle/>
          <a:p>
            <a:pPr algn="ctr" indent="0" marL="0">
              <a:buNone/>
            </a:pPr>
            <a:r>
              <a:rPr lang="en-US" sz="1000" dirty="0">
                <a:solidFill>
                  <a:schemeClr val="accent6"/>
                </a:solidFill>
              </a:rPr>
              <a:t>0.5</a:t>
            </a:r>
            <a:endParaRPr lang="en-US" sz="1000" dirty="0"/>
          </a:p>
        </p:txBody>
      </p:sp>
      <p:sp>
        <p:nvSpPr>
          <p:cNvPr id="16" name="Text 13"/>
          <p:cNvSpPr txBox="1"/>
          <p:nvPr/>
        </p:nvSpPr>
        <p:spPr>
          <a:xfrm>
            <a:off x="6551023" y="1600200"/>
            <a:ext cx="457200" cy="256032"/>
          </a:xfrm>
          <a:prstGeom prst="rect">
            <a:avLst/>
          </a:prstGeom>
          <a:noFill/>
          <a:ln/>
        </p:spPr>
        <p:txBody>
          <a:bodyPr wrap="square" lIns="0" tIns="0" rIns="0" bIns="0" rtlCol="0" anchor="ctr"/>
          <a:lstStyle/>
          <a:p>
            <a:pPr algn="ctr" indent="0" marL="0">
              <a:buNone/>
            </a:pPr>
            <a:r>
              <a:rPr lang="en-US" sz="1000" dirty="0">
                <a:solidFill>
                  <a:schemeClr val="accent6"/>
                </a:solidFill>
              </a:rPr>
              <a:t>0.6</a:t>
            </a:r>
            <a:endParaRPr lang="en-US" sz="1000" dirty="0"/>
          </a:p>
        </p:txBody>
      </p:sp>
      <p:sp>
        <p:nvSpPr>
          <p:cNvPr id="17" name="Text 14"/>
          <p:cNvSpPr txBox="1"/>
          <p:nvPr/>
        </p:nvSpPr>
        <p:spPr>
          <a:xfrm>
            <a:off x="8484326" y="1600200"/>
            <a:ext cx="457200" cy="256032"/>
          </a:xfrm>
          <a:prstGeom prst="rect">
            <a:avLst/>
          </a:prstGeom>
          <a:noFill/>
          <a:ln/>
        </p:spPr>
        <p:txBody>
          <a:bodyPr wrap="square" lIns="0" tIns="0" rIns="0" bIns="0" rtlCol="0" anchor="ctr"/>
          <a:lstStyle/>
          <a:p>
            <a:pPr algn="ctr" indent="0" marL="0">
              <a:buNone/>
            </a:pPr>
            <a:r>
              <a:rPr lang="en-US" sz="1000" dirty="0">
                <a:solidFill>
                  <a:schemeClr val="accent6"/>
                </a:solidFill>
              </a:rPr>
              <a:t>0.7</a:t>
            </a:r>
            <a:endParaRPr lang="en-US" sz="1000" dirty="0"/>
          </a:p>
        </p:txBody>
      </p:sp>
      <p:sp>
        <p:nvSpPr>
          <p:cNvPr id="18" name="Text 15"/>
          <p:cNvSpPr txBox="1"/>
          <p:nvPr/>
        </p:nvSpPr>
        <p:spPr>
          <a:xfrm>
            <a:off x="10417629" y="1600200"/>
            <a:ext cx="457200" cy="256032"/>
          </a:xfrm>
          <a:prstGeom prst="rect">
            <a:avLst/>
          </a:prstGeom>
          <a:noFill/>
          <a:ln/>
        </p:spPr>
        <p:txBody>
          <a:bodyPr wrap="square" lIns="0" tIns="0" rIns="0" bIns="0" rtlCol="0" anchor="ctr"/>
          <a:lstStyle/>
          <a:p>
            <a:pPr algn="ctr" indent="0" marL="0">
              <a:buNone/>
            </a:pPr>
            <a:r>
              <a:rPr lang="en-US" sz="1000" dirty="0">
                <a:solidFill>
                  <a:schemeClr val="accent6"/>
                </a:solidFill>
              </a:rPr>
              <a:t>0.8</a:t>
            </a:r>
            <a:endParaRPr lang="en-US" sz="1000" dirty="0"/>
          </a:p>
        </p:txBody>
      </p:sp>
      <p:sp>
        <p:nvSpPr>
          <p:cNvPr id="19" name="Text 16"/>
          <p:cNvSpPr txBox="1"/>
          <p:nvPr/>
        </p:nvSpPr>
        <p:spPr>
          <a:xfrm>
            <a:off x="4846320" y="2816352"/>
            <a:ext cx="6766560" cy="274320"/>
          </a:xfrm>
          <a:prstGeom prst="rect">
            <a:avLst/>
          </a:prstGeom>
          <a:noFill/>
          <a:ln/>
        </p:spPr>
        <p:txBody>
          <a:bodyPr wrap="square" lIns="508" tIns="508" rIns="508" bIns="508" rtlCol="0" anchor="t"/>
          <a:lstStyle/>
          <a:p>
            <a:pPr indent="0" marL="0">
              <a:spcAft>
                <a:spcPts val="600"/>
              </a:spcAft>
              <a:buNone/>
            </a:pPr>
            <a:r>
              <a:rPr lang="en-US" sz="1100" i="1" dirty="0">
                <a:solidFill>
                  <a:schemeClr val="accent6"/>
                </a:solidFill>
              </a:rPr>
              <a:t>Scale starts at 0.5. Zone limits are approximate; compare with non-stressed controls of the same species.</a:t>
            </a:r>
            <a:endParaRPr lang="en-US" sz="1100" dirty="0"/>
          </a:p>
        </p:txBody>
      </p:sp>
      <p:sp>
        <p:nvSpPr>
          <p:cNvPr id="20" name="card"/>
          <p:cNvSpPr/>
          <p:nvPr/>
        </p:nvSpPr>
        <p:spPr>
          <a:xfrm>
            <a:off x="4846320" y="3154680"/>
            <a:ext cx="3291840" cy="3017520"/>
          </a:xfrm>
          <a:prstGeom prst="roundRect">
            <a:avLst>
              <a:gd name="adj" fmla="val 2424"/>
            </a:avLst>
          </a:prstGeom>
          <a:solidFill>
            <a:schemeClr val="bg2"/>
          </a:solidFill>
          <a:ln/>
          <a:effectLst>
            <a:outerShdw sx="100000" sy="100000" kx="0" ky="0" algn="bl" rotWithShape="0" blurRad="76200" dist="25400" dir="5400000">
              <a:srgbClr val="000000">
                <a:alpha val="14000"/>
              </a:srgbClr>
            </a:outerShdw>
          </a:effectLst>
        </p:spPr>
      </p:sp>
      <p:sp>
        <p:nvSpPr>
          <p:cNvPr id="21" name="Text 18"/>
          <p:cNvSpPr txBox="1"/>
          <p:nvPr/>
        </p:nvSpPr>
        <p:spPr>
          <a:xfrm>
            <a:off x="5029200" y="3291840"/>
            <a:ext cx="2971800" cy="365760"/>
          </a:xfrm>
          <a:prstGeom prst="rect">
            <a:avLst/>
          </a:prstGeom>
          <a:noFill/>
          <a:ln/>
        </p:spPr>
        <p:txBody>
          <a:bodyPr wrap="square" lIns="0" tIns="0" rIns="0" bIns="0" rtlCol="0" anchor="ctr"/>
          <a:lstStyle/>
          <a:p>
            <a:pPr indent="0" marL="0">
              <a:buNone/>
            </a:pPr>
            <a:r>
              <a:rPr lang="en-US" sz="1600" b="1" dirty="0">
                <a:solidFill>
                  <a:schemeClr val="tx2"/>
                </a:solidFill>
              </a:rPr>
              <a:t>How to measure</a:t>
            </a:r>
            <a:endParaRPr lang="en-US" sz="1600" dirty="0"/>
          </a:p>
        </p:txBody>
      </p:sp>
      <p:sp>
        <p:nvSpPr>
          <p:cNvPr id="22" name="Text 19"/>
          <p:cNvSpPr txBox="1"/>
          <p:nvPr/>
        </p:nvSpPr>
        <p:spPr>
          <a:xfrm>
            <a:off x="5029200" y="3703320"/>
            <a:ext cx="2926080" cy="237744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Dark-adapt ≥20 min (leaf clip)</a:t>
            </a:r>
            <a:endParaRPr lang="en-US" sz="1300" dirty="0"/>
          </a:p>
          <a:p>
            <a:pPr marL="177800" indent="-177800">
              <a:spcAft>
                <a:spcPts val="400"/>
              </a:spcAft>
              <a:buSzPct val="100000"/>
              <a:buChar char="•"/>
            </a:pPr>
            <a:r>
              <a:rPr lang="en-US" sz="1300" dirty="0">
                <a:solidFill>
                  <a:schemeClr val="tx1"/>
                </a:solidFill>
              </a:rPr>
              <a:t>Check zero; set measuring beam so it causes no rise</a:t>
            </a:r>
            <a:endParaRPr lang="en-US" sz="1300" dirty="0"/>
          </a:p>
          <a:p>
            <a:pPr marL="177800" indent="-177800">
              <a:spcAft>
                <a:spcPts val="400"/>
              </a:spcAft>
              <a:buSzPct val="100000"/>
              <a:buChar char="•"/>
            </a:pPr>
            <a:r>
              <a:rPr lang="en-US" sz="1300" dirty="0">
                <a:solidFill>
                  <a:schemeClr val="tx1"/>
                </a:solidFill>
              </a:rPr>
              <a:t>Measure </a:t>
            </a:r>
            <a:r>
              <a:rPr lang="en-US" sz="1300" b="1" dirty="0">
                <a:solidFill>
                  <a:schemeClr val="tx1"/>
                </a:solidFill>
              </a:rPr>
              <a:t>F</a:t>
            </a:r>
            <a:r>
              <a:rPr lang="en-US" sz="1300" b="1" baseline="-40000" dirty="0">
                <a:solidFill>
                  <a:schemeClr val="tx1"/>
                </a:solidFill>
              </a:rPr>
              <a:t>o</a:t>
            </a:r>
            <a:r>
              <a:rPr lang="en-US" sz="1300" dirty="0">
                <a:solidFill>
                  <a:schemeClr val="tx1"/>
                </a:solidFill>
              </a:rPr>
              <a:t>, then a saturating pulse → </a:t>
            </a:r>
            <a:r>
              <a:rPr lang="en-US" sz="1300" b="1" dirty="0">
                <a:solidFill>
                  <a:schemeClr val="tx1"/>
                </a:solidFill>
              </a:rPr>
              <a:t>F</a:t>
            </a:r>
            <a:r>
              <a:rPr lang="en-US" sz="1300" b="1" baseline="-40000" dirty="0">
                <a:solidFill>
                  <a:schemeClr val="tx1"/>
                </a:solidFill>
              </a:rPr>
              <a:t>m</a:t>
            </a:r>
            <a:endParaRPr lang="en-US" sz="1300" dirty="0"/>
          </a:p>
          <a:p>
            <a:pPr marL="177800" indent="-177800">
              <a:spcAft>
                <a:spcPts val="400"/>
              </a:spcAft>
              <a:buSzPct val="100000"/>
              <a:buChar char="•"/>
            </a:pPr>
            <a:r>
              <a:rPr lang="en-US" sz="1300" dirty="0">
                <a:solidFill>
                  <a:schemeClr val="tx1"/>
                </a:solidFill>
              </a:rPr>
              <a:t>Pre-dawn values for long-term stress</a:t>
            </a:r>
            <a:endParaRPr lang="en-US" sz="1300" dirty="0"/>
          </a:p>
        </p:txBody>
      </p:sp>
      <p:sp>
        <p:nvSpPr>
          <p:cNvPr id="23" name="card"/>
          <p:cNvSpPr/>
          <p:nvPr/>
        </p:nvSpPr>
        <p:spPr>
          <a:xfrm>
            <a:off x="8348472" y="3154680"/>
            <a:ext cx="3291840" cy="3017520"/>
          </a:xfrm>
          <a:prstGeom prst="roundRect">
            <a:avLst>
              <a:gd name="adj" fmla="val 2424"/>
            </a:avLst>
          </a:prstGeom>
          <a:solidFill>
            <a:schemeClr val="bg2"/>
          </a:solidFill>
          <a:ln/>
          <a:effectLst>
            <a:outerShdw sx="100000" sy="100000" kx="0" ky="0" algn="bl" rotWithShape="0" blurRad="76200" dist="25400" dir="5400000">
              <a:srgbClr val="000000">
                <a:alpha val="14000"/>
              </a:srgbClr>
            </a:outerShdw>
          </a:effectLst>
        </p:spPr>
      </p:sp>
      <p:sp>
        <p:nvSpPr>
          <p:cNvPr id="24" name="Text 21"/>
          <p:cNvSpPr txBox="1"/>
          <p:nvPr/>
        </p:nvSpPr>
        <p:spPr>
          <a:xfrm>
            <a:off x="8531352" y="3291840"/>
            <a:ext cx="2971800" cy="365760"/>
          </a:xfrm>
          <a:prstGeom prst="rect">
            <a:avLst/>
          </a:prstGeom>
          <a:noFill/>
          <a:ln/>
        </p:spPr>
        <p:txBody>
          <a:bodyPr wrap="square" lIns="0" tIns="0" rIns="0" bIns="0" rtlCol="0" anchor="ctr"/>
          <a:lstStyle/>
          <a:p>
            <a:pPr indent="0" marL="0">
              <a:buNone/>
            </a:pPr>
            <a:r>
              <a:rPr lang="en-US" sz="1600" b="1" dirty="0">
                <a:solidFill>
                  <a:schemeClr val="accent2"/>
                </a:solidFill>
              </a:rPr>
              <a:t>What lowers it</a:t>
            </a:r>
            <a:endParaRPr lang="en-US" sz="1600" dirty="0"/>
          </a:p>
        </p:txBody>
      </p:sp>
      <p:sp>
        <p:nvSpPr>
          <p:cNvPr id="25" name="Text 22"/>
          <p:cNvSpPr txBox="1"/>
          <p:nvPr/>
        </p:nvSpPr>
        <p:spPr>
          <a:xfrm>
            <a:off x="8531352" y="3703320"/>
            <a:ext cx="2926080" cy="2377440"/>
          </a:xfrm>
          <a:prstGeom prst="rect">
            <a:avLst/>
          </a:prstGeom>
          <a:noFill/>
          <a:ln/>
        </p:spPr>
        <p:txBody>
          <a:bodyPr wrap="square" lIns="508" tIns="508" rIns="508" bIns="508" rtlCol="0" anchor="t"/>
          <a:lstStyle/>
          <a:p>
            <a:pPr marL="177800" indent="-177800">
              <a:spcAft>
                <a:spcPts val="400"/>
              </a:spcAft>
              <a:buSzPct val="100000"/>
              <a:buChar char="•"/>
            </a:pPr>
            <a:r>
              <a:rPr lang="en-US" sz="1300" b="1" dirty="0">
                <a:solidFill>
                  <a:schemeClr val="tx1"/>
                </a:solidFill>
              </a:rPr>
              <a:t>Photoinhibition</a:t>
            </a:r>
            <a:r>
              <a:rPr lang="en-US" sz="1300" dirty="0">
                <a:solidFill>
                  <a:schemeClr val="tx1"/>
                </a:solidFill>
              </a:rPr>
              <a:t>: inactivation/damage of PSII (D1 protein)</a:t>
            </a:r>
            <a:endParaRPr lang="en-US" sz="1300" dirty="0"/>
          </a:p>
          <a:p>
            <a:pPr marL="177800" indent="-177800">
              <a:spcAft>
                <a:spcPts val="400"/>
              </a:spcAft>
              <a:buSzPct val="100000"/>
              <a:buChar char="•"/>
            </a:pPr>
            <a:r>
              <a:rPr lang="en-US" sz="1300" b="1" dirty="0">
                <a:solidFill>
                  <a:schemeClr val="tx1"/>
                </a:solidFill>
              </a:rPr>
              <a:t>Sustained quenching</a:t>
            </a:r>
            <a:r>
              <a:rPr lang="en-US" sz="1300" dirty="0">
                <a:solidFill>
                  <a:schemeClr val="tx1"/>
                </a:solidFill>
              </a:rPr>
              <a:t> (e.g. retained zeaxanthin, drought, winter)</a:t>
            </a:r>
            <a:endParaRPr lang="en-US" sz="1300" dirty="0"/>
          </a:p>
          <a:p>
            <a:pPr marL="177800" indent="-177800">
              <a:spcAft>
                <a:spcPts val="400"/>
              </a:spcAft>
              <a:buSzPct val="100000"/>
              <a:buChar char="•"/>
            </a:pPr>
            <a:r>
              <a:rPr lang="en-US" sz="1300" dirty="0">
                <a:solidFill>
                  <a:schemeClr val="tx1"/>
                </a:solidFill>
              </a:rPr>
              <a:t>Rise in F</a:t>
            </a:r>
            <a:r>
              <a:rPr lang="en-US" sz="1300" baseline="-40000" dirty="0">
                <a:solidFill>
                  <a:schemeClr val="tx1"/>
                </a:solidFill>
              </a:rPr>
              <a:t>o</a:t>
            </a:r>
            <a:r>
              <a:rPr lang="en-US" sz="1300" dirty="0">
                <a:solidFill>
                  <a:schemeClr val="tx1"/>
                </a:solidFill>
              </a:rPr>
              <a:t> → damage; fall in F</a:t>
            </a:r>
            <a:r>
              <a:rPr lang="en-US" sz="1300" baseline="-40000" dirty="0">
                <a:solidFill>
                  <a:schemeClr val="tx1"/>
                </a:solidFill>
              </a:rPr>
              <a:t>m</a:t>
            </a:r>
            <a:r>
              <a:rPr lang="en-US" sz="1300" dirty="0">
                <a:solidFill>
                  <a:schemeClr val="tx1"/>
                </a:solidFill>
              </a:rPr>
              <a:t> → quenching</a:t>
            </a:r>
            <a:endParaRPr lang="en-US" sz="1300" dirty="0"/>
          </a:p>
        </p:txBody>
      </p:sp>
      <p:sp>
        <p:nvSpPr>
          <p:cNvPr id="26" name="card"/>
          <p:cNvSpPr/>
          <p:nvPr/>
        </p:nvSpPr>
        <p:spPr>
          <a:xfrm>
            <a:off x="548640" y="4206240"/>
            <a:ext cx="3931920" cy="1965960"/>
          </a:xfrm>
          <a:prstGeom prst="roundRect">
            <a:avLst>
              <a:gd name="adj" fmla="val 3721"/>
            </a:avLst>
          </a:prstGeom>
          <a:solidFill>
            <a:schemeClr val="bg2"/>
          </a:solidFill>
          <a:ln/>
          <a:effectLst>
            <a:outerShdw sx="100000" sy="100000" kx="0" ky="0" algn="bl" rotWithShape="0" blurRad="76200" dist="25400" dir="5400000">
              <a:srgbClr val="000000">
                <a:alpha val="14000"/>
              </a:srgbClr>
            </a:outerShdw>
          </a:effectLst>
        </p:spPr>
      </p:sp>
      <p:sp>
        <p:nvSpPr>
          <p:cNvPr id="27" name="Text 24"/>
          <p:cNvSpPr txBox="1"/>
          <p:nvPr/>
        </p:nvSpPr>
        <p:spPr>
          <a:xfrm>
            <a:off x="731520" y="4343400"/>
            <a:ext cx="3611880" cy="365760"/>
          </a:xfrm>
          <a:prstGeom prst="rect">
            <a:avLst/>
          </a:prstGeom>
          <a:noFill/>
          <a:ln/>
        </p:spPr>
        <p:txBody>
          <a:bodyPr wrap="square" lIns="0" tIns="0" rIns="0" bIns="0" rtlCol="0" anchor="ctr"/>
          <a:lstStyle/>
          <a:p>
            <a:pPr indent="0" marL="0">
              <a:buNone/>
            </a:pPr>
            <a:r>
              <a:rPr lang="en-US" sz="1600" b="1" dirty="0">
                <a:solidFill>
                  <a:schemeClr val="tx2"/>
                </a:solidFill>
              </a:rPr>
              <a:t>Meaning</a:t>
            </a:r>
            <a:endParaRPr lang="en-US" sz="1600" dirty="0"/>
          </a:p>
        </p:txBody>
      </p:sp>
      <p:sp>
        <p:nvSpPr>
          <p:cNvPr id="28" name="Text 25"/>
          <p:cNvSpPr txBox="1"/>
          <p:nvPr/>
        </p:nvSpPr>
        <p:spPr>
          <a:xfrm>
            <a:off x="731520" y="4754880"/>
            <a:ext cx="3566160" cy="132588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Correlates with the maximum quantum yield of photosynthesis (O₂ or CO₂ per photon) at limiting light.</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Φ</a:t>
            </a:r>
            <a:r>
              <a:rPr lang="en-US" sz="3200" b="1" baseline="-40000" dirty="0">
                <a:solidFill>
                  <a:schemeClr val="tx2"/>
                </a:solidFill>
              </a:rPr>
              <a:t>PSII</a:t>
            </a:r>
            <a:r>
              <a:rPr lang="en-US" sz="3200" b="1" dirty="0">
                <a:solidFill>
                  <a:schemeClr val="tx2"/>
                </a:solidFill>
              </a:rPr>
              <a:t> = F</a:t>
            </a:r>
            <a:r>
              <a:rPr lang="en-US" sz="3200" b="1" baseline="-40000" dirty="0">
                <a:solidFill>
                  <a:schemeClr val="tx2"/>
                </a:solidFill>
              </a:rPr>
              <a:t>q</a:t>
            </a:r>
            <a:r>
              <a:rPr lang="en-US" sz="3200" b="1" dirty="0">
                <a:solidFill>
                  <a:schemeClr val="tx2"/>
                </a:solidFill>
              </a:rPr>
              <a:t>′/F</a:t>
            </a:r>
            <a:r>
              <a:rPr lang="en-US" sz="3200" b="1" baseline="-40000" dirty="0">
                <a:solidFill>
                  <a:schemeClr val="tx2"/>
                </a:solidFill>
              </a:rPr>
              <a:t>m</a:t>
            </a:r>
            <a:r>
              <a:rPr lang="en-US" sz="3200" b="1" dirty="0">
                <a:solidFill>
                  <a:schemeClr val="tx2"/>
                </a:solidFill>
              </a:rPr>
              <a:t>′: PSII operating efficiency</a:t>
            </a:r>
            <a:endParaRPr lang="en-US" sz="3200" dirty="0"/>
          </a:p>
        </p:txBody>
      </p:sp>
      <p:sp>
        <p:nvSpPr>
          <p:cNvPr id="4" name="card"/>
          <p:cNvSpPr/>
          <p:nvPr/>
        </p:nvSpPr>
        <p:spPr>
          <a:xfrm>
            <a:off x="548640" y="1325880"/>
            <a:ext cx="11091672" cy="1325880"/>
          </a:xfrm>
          <a:prstGeom prst="roundRect">
            <a:avLst>
              <a:gd name="adj" fmla="val 5517"/>
            </a:avLst>
          </a:prstGeom>
          <a:solidFill>
            <a:schemeClr val="tx2"/>
          </a:solidFill>
          <a:ln/>
          <a:effectLst>
            <a:outerShdw sx="100000" sy="100000" kx="0" ky="0" algn="bl" rotWithShape="0" blurRad="76200" dist="25400" dir="5400000">
              <a:srgbClr val="000000">
                <a:alpha val="14000"/>
              </a:srgbClr>
            </a:outerShdw>
          </a:effectLst>
        </p:spPr>
      </p:sp>
      <p:sp>
        <p:nvSpPr>
          <p:cNvPr id="5" name="Text 2"/>
          <p:cNvSpPr txBox="1"/>
          <p:nvPr/>
        </p:nvSpPr>
        <p:spPr>
          <a:xfrm>
            <a:off x="822960" y="1417320"/>
            <a:ext cx="5943600" cy="1143000"/>
          </a:xfrm>
          <a:prstGeom prst="rect">
            <a:avLst/>
          </a:prstGeom>
          <a:noFill/>
          <a:ln/>
        </p:spPr>
        <p:txBody>
          <a:bodyPr wrap="square" lIns="0" tIns="0" rIns="0" bIns="0" rtlCol="0" anchor="ctr"/>
          <a:lstStyle/>
          <a:p>
            <a:pPr algn="l" indent="0" marL="0">
              <a:buNone/>
            </a:pPr>
            <a:r>
              <a:rPr lang="en-US" sz="2400" b="1" dirty="0">
                <a:solidFill>
                  <a:schemeClr val="bg1"/>
                </a:solidFill>
              </a:rPr>
              <a:t>Φ</a:t>
            </a:r>
            <a:r>
              <a:rPr lang="en-US" sz="2400" b="1" baseline="-40000" dirty="0">
                <a:solidFill>
                  <a:schemeClr val="bg1"/>
                </a:solidFill>
              </a:rPr>
              <a:t>PSII</a:t>
            </a:r>
            <a:r>
              <a:rPr lang="en-US" sz="2400" b="1" dirty="0">
                <a:solidFill>
                  <a:schemeClr val="bg1"/>
                </a:solidFill>
              </a:rPr>
              <a:t> = F</a:t>
            </a:r>
            <a:r>
              <a:rPr lang="en-US" sz="2400" b="1" baseline="-40000" dirty="0">
                <a:solidFill>
                  <a:schemeClr val="bg1"/>
                </a:solidFill>
              </a:rPr>
              <a:t>q</a:t>
            </a:r>
            <a:r>
              <a:rPr lang="en-US" sz="2400" b="1" dirty="0">
                <a:solidFill>
                  <a:schemeClr val="bg1"/>
                </a:solidFill>
              </a:rPr>
              <a:t>′ / F</a:t>
            </a:r>
            <a:r>
              <a:rPr lang="en-US" sz="2400" b="1" baseline="-40000" dirty="0">
                <a:solidFill>
                  <a:schemeClr val="bg1"/>
                </a:solidFill>
              </a:rPr>
              <a:t>m</a:t>
            </a:r>
            <a:r>
              <a:rPr lang="en-US" sz="2400" b="1" dirty="0">
                <a:solidFill>
                  <a:schemeClr val="bg1"/>
                </a:solidFill>
              </a:rPr>
              <a:t>′ = (F</a:t>
            </a:r>
            <a:r>
              <a:rPr lang="en-US" sz="2400" b="1" baseline="-40000" dirty="0">
                <a:solidFill>
                  <a:schemeClr val="bg1"/>
                </a:solidFill>
              </a:rPr>
              <a:t>m</a:t>
            </a:r>
            <a:r>
              <a:rPr lang="en-US" sz="2400" b="1" dirty="0">
                <a:solidFill>
                  <a:schemeClr val="bg1"/>
                </a:solidFill>
              </a:rPr>
              <a:t>′ − F′) / F</a:t>
            </a:r>
            <a:r>
              <a:rPr lang="en-US" sz="2400" b="1" baseline="-40000" dirty="0">
                <a:solidFill>
                  <a:schemeClr val="bg1"/>
                </a:solidFill>
              </a:rPr>
              <a:t>m</a:t>
            </a:r>
            <a:r>
              <a:rPr lang="en-US" sz="2400" b="1" dirty="0">
                <a:solidFill>
                  <a:schemeClr val="bg1"/>
                </a:solidFill>
              </a:rPr>
              <a:t>′</a:t>
            </a:r>
            <a:endParaRPr lang="en-US" sz="2400" dirty="0"/>
          </a:p>
        </p:txBody>
      </p:sp>
      <p:sp>
        <p:nvSpPr>
          <p:cNvPr id="6" name="Text 3"/>
          <p:cNvSpPr txBox="1"/>
          <p:nvPr/>
        </p:nvSpPr>
        <p:spPr>
          <a:xfrm>
            <a:off x="6675120" y="1417320"/>
            <a:ext cx="4754880" cy="1143000"/>
          </a:xfrm>
          <a:prstGeom prst="rect">
            <a:avLst/>
          </a:prstGeom>
          <a:noFill/>
          <a:ln/>
        </p:spPr>
        <p:txBody>
          <a:bodyPr wrap="square" lIns="0" tIns="0" rIns="0" bIns="0" rtlCol="0" anchor="ctr"/>
          <a:lstStyle/>
          <a:p>
            <a:pPr algn="r" indent="0" marL="0">
              <a:buNone/>
            </a:pPr>
            <a:r>
              <a:rPr lang="en-US" sz="1600" dirty="0">
                <a:solidFill>
                  <a:schemeClr val="bg2"/>
                </a:solidFill>
              </a:rPr>
              <a:t>also written ΔF/F</a:t>
            </a:r>
            <a:r>
              <a:rPr lang="en-US" sz="1600" baseline="-40000" dirty="0">
                <a:solidFill>
                  <a:schemeClr val="bg2"/>
                </a:solidFill>
              </a:rPr>
              <a:t>m</a:t>
            </a:r>
            <a:r>
              <a:rPr lang="en-US" sz="1600" dirty="0">
                <a:solidFill>
                  <a:schemeClr val="bg2"/>
                </a:solidFill>
              </a:rPr>
              <a:t>′ · Y(II) · 'yield'</a:t>
            </a:r>
            <a:endParaRPr lang="en-US" sz="1600" dirty="0"/>
          </a:p>
        </p:txBody>
      </p:sp>
      <p:sp>
        <p:nvSpPr>
          <p:cNvPr id="7" name="Text 4"/>
          <p:cNvSpPr txBox="1"/>
          <p:nvPr/>
        </p:nvSpPr>
        <p:spPr>
          <a:xfrm>
            <a:off x="548640" y="2834640"/>
            <a:ext cx="4572000" cy="320040"/>
          </a:xfrm>
          <a:prstGeom prst="rect">
            <a:avLst/>
          </a:prstGeom>
          <a:noFill/>
          <a:ln/>
        </p:spPr>
        <p:txBody>
          <a:bodyPr wrap="square" lIns="0" tIns="0" rIns="0" bIns="0" rtlCol="0" anchor="ctr"/>
          <a:lstStyle/>
          <a:p>
            <a:pPr algn="l" indent="0" marL="0">
              <a:buNone/>
            </a:pPr>
            <a:r>
              <a:rPr lang="en-US" sz="1500" b="1" dirty="0">
                <a:solidFill>
                  <a:schemeClr val="tx2"/>
                </a:solidFill>
              </a:rPr>
              <a:t>Decomposition</a:t>
            </a:r>
            <a:endParaRPr lang="en-US" sz="1500" dirty="0"/>
          </a:p>
        </p:txBody>
      </p:sp>
      <p:sp>
        <p:nvSpPr>
          <p:cNvPr id="8" name="diagram box"/>
          <p:cNvSpPr/>
          <p:nvPr/>
        </p:nvSpPr>
        <p:spPr>
          <a:xfrm>
            <a:off x="548640" y="3200400"/>
            <a:ext cx="2743200" cy="1005840"/>
          </a:xfrm>
          <a:prstGeom prst="roundRect">
            <a:avLst>
              <a:gd name="adj" fmla="val 7273"/>
            </a:avLst>
          </a:prstGeom>
          <a:solidFill>
            <a:schemeClr val="accent1"/>
          </a:solidFill>
          <a:ln/>
        </p:spPr>
      </p:sp>
      <p:sp>
        <p:nvSpPr>
          <p:cNvPr id="9" name="Text 6"/>
          <p:cNvSpPr txBox="1"/>
          <p:nvPr/>
        </p:nvSpPr>
        <p:spPr>
          <a:xfrm>
            <a:off x="548640" y="3200400"/>
            <a:ext cx="2743200" cy="1005840"/>
          </a:xfrm>
          <a:prstGeom prst="rect">
            <a:avLst/>
          </a:prstGeom>
          <a:noFill/>
          <a:ln/>
        </p:spPr>
        <p:txBody>
          <a:bodyPr wrap="square" lIns="508" tIns="508" rIns="508" bIns="508" rtlCol="0" anchor="ctr"/>
          <a:lstStyle/>
          <a:p>
            <a:pPr algn="ctr" indent="0" marL="0">
              <a:buNone/>
            </a:pPr>
            <a:r>
              <a:rPr lang="en-US" sz="1400" b="1" dirty="0">
                <a:solidFill>
                  <a:schemeClr val="bg1"/>
                </a:solidFill>
              </a:rPr>
              <a:t>F</a:t>
            </a:r>
            <a:r>
              <a:rPr lang="en-US" sz="1400" b="1" baseline="-40000" dirty="0">
                <a:solidFill>
                  <a:schemeClr val="bg1"/>
                </a:solidFill>
              </a:rPr>
              <a:t>q</a:t>
            </a:r>
            <a:r>
              <a:rPr lang="en-US" sz="1400" b="1" dirty="0">
                <a:solidFill>
                  <a:schemeClr val="bg1"/>
                </a:solidFill>
              </a:rPr>
              <a:t>′/F</a:t>
            </a:r>
            <a:r>
              <a:rPr lang="en-US" sz="1400" b="1" baseline="-40000" dirty="0">
                <a:solidFill>
                  <a:schemeClr val="bg1"/>
                </a:solidFill>
              </a:rPr>
              <a:t>m</a:t>
            </a:r>
            <a:r>
              <a:rPr lang="en-US" sz="1400" b="1" dirty="0">
                <a:solidFill>
                  <a:schemeClr val="bg1"/>
                </a:solidFill>
              </a:rPr>
              <a:t>′</a:t>
            </a:r>
            <a:endParaRPr lang="en-US" sz="1400" dirty="0"/>
          </a:p>
          <a:p>
            <a:pPr algn="ctr" indent="0" marL="0">
              <a:buNone/>
            </a:pPr>
            <a:r>
              <a:rPr lang="en-US" sz="1400" dirty="0">
                <a:solidFill>
                  <a:schemeClr val="bg1"/>
                </a:solidFill>
              </a:rPr>
              <a:t>operating efficiency</a:t>
            </a:r>
            <a:endParaRPr lang="en-US" sz="1400" dirty="0"/>
          </a:p>
        </p:txBody>
      </p:sp>
      <p:sp>
        <p:nvSpPr>
          <p:cNvPr id="10" name="Text 7"/>
          <p:cNvSpPr txBox="1"/>
          <p:nvPr/>
        </p:nvSpPr>
        <p:spPr>
          <a:xfrm>
            <a:off x="3291840" y="3200400"/>
            <a:ext cx="548640" cy="1005840"/>
          </a:xfrm>
          <a:prstGeom prst="rect">
            <a:avLst/>
          </a:prstGeom>
          <a:noFill/>
          <a:ln/>
        </p:spPr>
        <p:txBody>
          <a:bodyPr wrap="square" lIns="0" tIns="0" rIns="0" bIns="0" rtlCol="0" anchor="ctr"/>
          <a:lstStyle/>
          <a:p>
            <a:pPr algn="ctr" indent="0" marL="0">
              <a:buNone/>
            </a:pPr>
            <a:r>
              <a:rPr lang="en-US" sz="3000" b="1" dirty="0">
                <a:solidFill>
                  <a:schemeClr val="tx2"/>
                </a:solidFill>
              </a:rPr>
              <a:t>=</a:t>
            </a:r>
            <a:endParaRPr lang="en-US" sz="3000" dirty="0"/>
          </a:p>
        </p:txBody>
      </p:sp>
      <p:sp>
        <p:nvSpPr>
          <p:cNvPr id="11" name="diagram box"/>
          <p:cNvSpPr/>
          <p:nvPr/>
        </p:nvSpPr>
        <p:spPr>
          <a:xfrm>
            <a:off x="3840480" y="3200400"/>
            <a:ext cx="2743200" cy="1005840"/>
          </a:xfrm>
          <a:prstGeom prst="roundRect">
            <a:avLst>
              <a:gd name="adj" fmla="val 7273"/>
            </a:avLst>
          </a:prstGeom>
          <a:solidFill>
            <a:schemeClr val="accent5"/>
          </a:solidFill>
          <a:ln/>
        </p:spPr>
      </p:sp>
      <p:sp>
        <p:nvSpPr>
          <p:cNvPr id="12" name="Text 9"/>
          <p:cNvSpPr txBox="1"/>
          <p:nvPr/>
        </p:nvSpPr>
        <p:spPr>
          <a:xfrm>
            <a:off x="3840480" y="3200400"/>
            <a:ext cx="2743200" cy="1005840"/>
          </a:xfrm>
          <a:prstGeom prst="rect">
            <a:avLst/>
          </a:prstGeom>
          <a:noFill/>
          <a:ln/>
        </p:spPr>
        <p:txBody>
          <a:bodyPr wrap="square" lIns="508" tIns="508" rIns="508" bIns="508" rtlCol="0" anchor="ctr"/>
          <a:lstStyle/>
          <a:p>
            <a:pPr algn="ctr" indent="0" marL="0">
              <a:buNone/>
            </a:pPr>
            <a:r>
              <a:rPr lang="en-US" sz="1400" b="1" dirty="0">
                <a:solidFill>
                  <a:schemeClr val="bg1"/>
                </a:solidFill>
              </a:rPr>
              <a:t>F</a:t>
            </a:r>
            <a:r>
              <a:rPr lang="en-US" sz="1400" b="1" baseline="-40000" dirty="0">
                <a:solidFill>
                  <a:schemeClr val="bg1"/>
                </a:solidFill>
              </a:rPr>
              <a:t>q</a:t>
            </a:r>
            <a:r>
              <a:rPr lang="en-US" sz="1400" b="1" dirty="0">
                <a:solidFill>
                  <a:schemeClr val="bg1"/>
                </a:solidFill>
              </a:rPr>
              <a:t>′/F</a:t>
            </a:r>
            <a:r>
              <a:rPr lang="en-US" sz="1400" b="1" baseline="-40000" dirty="0">
                <a:solidFill>
                  <a:schemeClr val="bg1"/>
                </a:solidFill>
              </a:rPr>
              <a:t>v</a:t>
            </a:r>
            <a:r>
              <a:rPr lang="en-US" sz="1400" b="1" dirty="0">
                <a:solidFill>
                  <a:schemeClr val="bg1"/>
                </a:solidFill>
              </a:rPr>
              <a:t>′ (qP)</a:t>
            </a:r>
            <a:endParaRPr lang="en-US" sz="1400" dirty="0"/>
          </a:p>
          <a:p>
            <a:pPr algn="ctr" indent="0" marL="0">
              <a:buNone/>
            </a:pPr>
            <a:r>
              <a:rPr lang="en-US" sz="1400" dirty="0">
                <a:solidFill>
                  <a:schemeClr val="bg1"/>
                </a:solidFill>
              </a:rPr>
              <a:t>fraction of centres open</a:t>
            </a:r>
            <a:endParaRPr lang="en-US" sz="1400" dirty="0"/>
          </a:p>
        </p:txBody>
      </p:sp>
      <p:sp>
        <p:nvSpPr>
          <p:cNvPr id="13" name="Text 10"/>
          <p:cNvSpPr txBox="1"/>
          <p:nvPr/>
        </p:nvSpPr>
        <p:spPr>
          <a:xfrm>
            <a:off x="6583680" y="3200400"/>
            <a:ext cx="548640" cy="1005840"/>
          </a:xfrm>
          <a:prstGeom prst="rect">
            <a:avLst/>
          </a:prstGeom>
          <a:noFill/>
          <a:ln/>
        </p:spPr>
        <p:txBody>
          <a:bodyPr wrap="square" lIns="0" tIns="0" rIns="0" bIns="0" rtlCol="0" anchor="ctr"/>
          <a:lstStyle/>
          <a:p>
            <a:pPr algn="ctr" indent="0" marL="0">
              <a:buNone/>
            </a:pPr>
            <a:r>
              <a:rPr lang="en-US" sz="3000" b="1" dirty="0">
                <a:solidFill>
                  <a:schemeClr val="tx2"/>
                </a:solidFill>
              </a:rPr>
              <a:t>×</a:t>
            </a:r>
            <a:endParaRPr lang="en-US" sz="3000" dirty="0"/>
          </a:p>
        </p:txBody>
      </p:sp>
      <p:sp>
        <p:nvSpPr>
          <p:cNvPr id="14" name="diagram box"/>
          <p:cNvSpPr/>
          <p:nvPr/>
        </p:nvSpPr>
        <p:spPr>
          <a:xfrm>
            <a:off x="7132320" y="3200400"/>
            <a:ext cx="2743200" cy="1005840"/>
          </a:xfrm>
          <a:prstGeom prst="roundRect">
            <a:avLst>
              <a:gd name="adj" fmla="val 7273"/>
            </a:avLst>
          </a:prstGeom>
          <a:solidFill>
            <a:schemeClr val="accent3"/>
          </a:solidFill>
          <a:ln/>
        </p:spPr>
      </p:sp>
      <p:sp>
        <p:nvSpPr>
          <p:cNvPr id="15" name="Text 12"/>
          <p:cNvSpPr txBox="1"/>
          <p:nvPr/>
        </p:nvSpPr>
        <p:spPr>
          <a:xfrm>
            <a:off x="7132320" y="3200400"/>
            <a:ext cx="2743200" cy="1005840"/>
          </a:xfrm>
          <a:prstGeom prst="rect">
            <a:avLst/>
          </a:prstGeom>
          <a:noFill/>
          <a:ln/>
        </p:spPr>
        <p:txBody>
          <a:bodyPr wrap="square" lIns="508" tIns="508" rIns="508" bIns="508" rtlCol="0" anchor="ctr"/>
          <a:lstStyle/>
          <a:p>
            <a:pPr algn="ctr" indent="0" marL="0">
              <a:buNone/>
            </a:pPr>
            <a:r>
              <a:rPr lang="en-US" sz="1400" b="1" dirty="0">
                <a:solidFill>
                  <a:schemeClr val="tx1"/>
                </a:solidFill>
              </a:rPr>
              <a:t>F</a:t>
            </a:r>
            <a:r>
              <a:rPr lang="en-US" sz="1400" b="1" baseline="-40000" dirty="0">
                <a:solidFill>
                  <a:schemeClr val="tx1"/>
                </a:solidFill>
              </a:rPr>
              <a:t>v</a:t>
            </a:r>
            <a:r>
              <a:rPr lang="en-US" sz="1400" b="1" dirty="0">
                <a:solidFill>
                  <a:schemeClr val="tx1"/>
                </a:solidFill>
              </a:rPr>
              <a:t>′/F</a:t>
            </a:r>
            <a:r>
              <a:rPr lang="en-US" sz="1400" b="1" baseline="-40000" dirty="0">
                <a:solidFill>
                  <a:schemeClr val="tx1"/>
                </a:solidFill>
              </a:rPr>
              <a:t>m</a:t>
            </a:r>
            <a:r>
              <a:rPr lang="en-US" sz="1400" b="1" dirty="0">
                <a:solidFill>
                  <a:schemeClr val="tx1"/>
                </a:solidFill>
              </a:rPr>
              <a:t>′</a:t>
            </a:r>
            <a:endParaRPr lang="en-US" sz="1400" dirty="0"/>
          </a:p>
          <a:p>
            <a:pPr algn="ctr" indent="0" marL="0">
              <a:buNone/>
            </a:pPr>
            <a:r>
              <a:rPr lang="en-US" sz="1400" dirty="0">
                <a:solidFill>
                  <a:schemeClr val="tx1"/>
                </a:solidFill>
              </a:rPr>
              <a:t>max efficiency in light</a:t>
            </a:r>
            <a:endParaRPr lang="en-US" sz="1400" dirty="0"/>
          </a:p>
        </p:txBody>
      </p:sp>
      <p:sp>
        <p:nvSpPr>
          <p:cNvPr id="16" name="Text 13"/>
          <p:cNvSpPr txBox="1"/>
          <p:nvPr/>
        </p:nvSpPr>
        <p:spPr>
          <a:xfrm>
            <a:off x="10012680" y="3337560"/>
            <a:ext cx="1645920" cy="822960"/>
          </a:xfrm>
          <a:prstGeom prst="rect">
            <a:avLst/>
          </a:prstGeom>
          <a:noFill/>
          <a:ln/>
        </p:spPr>
        <p:txBody>
          <a:bodyPr wrap="square" lIns="508" tIns="508" rIns="508" bIns="508" rtlCol="0" anchor="t"/>
          <a:lstStyle/>
          <a:p>
            <a:pPr indent="0" marL="0">
              <a:spcAft>
                <a:spcPts val="600"/>
              </a:spcAft>
              <a:buNone/>
            </a:pPr>
            <a:r>
              <a:rPr lang="en-US" sz="1300" i="1" dirty="0">
                <a:solidFill>
                  <a:schemeClr val="accent6"/>
                </a:solidFill>
              </a:rPr>
              <a:t>↓ F</a:t>
            </a:r>
            <a:r>
              <a:rPr lang="en-US" sz="1300" i="1" baseline="-40000" dirty="0">
                <a:solidFill>
                  <a:schemeClr val="accent6"/>
                </a:solidFill>
              </a:rPr>
              <a:t>v</a:t>
            </a:r>
            <a:r>
              <a:rPr lang="en-US" sz="1300" i="1" dirty="0">
                <a:solidFill>
                  <a:schemeClr val="accent6"/>
                </a:solidFill>
              </a:rPr>
              <a:t>′/F</a:t>
            </a:r>
            <a:r>
              <a:rPr lang="en-US" sz="1300" i="1" baseline="-40000" dirty="0">
                <a:solidFill>
                  <a:schemeClr val="accent6"/>
                </a:solidFill>
              </a:rPr>
              <a:t>m</a:t>
            </a:r>
            <a:r>
              <a:rPr lang="en-US" sz="1300" i="1" dirty="0">
                <a:solidFill>
                  <a:schemeClr val="accent6"/>
                </a:solidFill>
              </a:rPr>
              <a:t>′ means NPQ ↑</a:t>
            </a:r>
            <a:endParaRPr lang="en-US" sz="1300" dirty="0"/>
          </a:p>
        </p:txBody>
      </p:sp>
      <p:sp>
        <p:nvSpPr>
          <p:cNvPr id="17" name="card"/>
          <p:cNvSpPr/>
          <p:nvPr/>
        </p:nvSpPr>
        <p:spPr>
          <a:xfrm>
            <a:off x="548640" y="4434840"/>
            <a:ext cx="5440680" cy="1737360"/>
          </a:xfrm>
          <a:prstGeom prst="roundRect">
            <a:avLst>
              <a:gd name="adj" fmla="val 4211"/>
            </a:avLst>
          </a:prstGeom>
          <a:solidFill>
            <a:schemeClr val="bg2"/>
          </a:solidFill>
          <a:ln/>
          <a:effectLst>
            <a:outerShdw sx="100000" sy="100000" kx="0" ky="0" algn="bl" rotWithShape="0" blurRad="76200" dist="25400" dir="5400000">
              <a:srgbClr val="000000">
                <a:alpha val="14000"/>
              </a:srgbClr>
            </a:outerShdw>
          </a:effectLst>
        </p:spPr>
      </p:sp>
      <p:sp>
        <p:nvSpPr>
          <p:cNvPr id="18" name="icon circle"/>
          <p:cNvSpPr/>
          <p:nvPr/>
        </p:nvSpPr>
        <p:spPr>
          <a:xfrm>
            <a:off x="731520" y="4590288"/>
            <a:ext cx="420624" cy="420624"/>
          </a:xfrm>
          <a:prstGeom prst="ellipse">
            <a:avLst/>
          </a:prstGeom>
          <a:solidFill>
            <a:schemeClr val="accent1"/>
          </a:solidFill>
          <a:ln/>
        </p:spPr>
      </p:sp>
      <p:pic>
        <p:nvPicPr>
          <p:cNvPr id="19" name="Image 0" descr="Calculator icon">    </p:cNvPr>
          <p:cNvPicPr>
            <a:picLocks noChangeAspect="1"/>
          </p:cNvPicPr>
          <p:nvPr/>
        </p:nvPicPr>
        <p:blipFill>
          <a:blip r:embed="rId1"/>
          <a:stretch>
            <a:fillRect/>
          </a:stretch>
        </p:blipFill>
        <p:spPr>
          <a:xfrm>
            <a:off x="840882" y="4699650"/>
            <a:ext cx="201900" cy="201900"/>
          </a:xfrm>
          <a:prstGeom prst="rect">
            <a:avLst/>
          </a:prstGeom>
        </p:spPr>
      </p:pic>
      <p:sp>
        <p:nvSpPr>
          <p:cNvPr id="20" name="Text 16"/>
          <p:cNvSpPr txBox="1"/>
          <p:nvPr/>
        </p:nvSpPr>
        <p:spPr>
          <a:xfrm>
            <a:off x="1261872" y="457200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Electron transport rate (ETR)</a:t>
            </a:r>
            <a:endParaRPr lang="en-US" sz="1600" dirty="0"/>
          </a:p>
        </p:txBody>
      </p:sp>
      <p:sp>
        <p:nvSpPr>
          <p:cNvPr id="21" name="Text 17"/>
          <p:cNvSpPr txBox="1"/>
          <p:nvPr/>
        </p:nvSpPr>
        <p:spPr>
          <a:xfrm>
            <a:off x="731520" y="5120640"/>
            <a:ext cx="5074920" cy="960120"/>
          </a:xfrm>
          <a:prstGeom prst="rect">
            <a:avLst/>
          </a:prstGeom>
          <a:noFill/>
          <a:ln/>
        </p:spPr>
        <p:txBody>
          <a:bodyPr wrap="square" lIns="508" tIns="508" rIns="508" bIns="508" rtlCol="0" anchor="t"/>
          <a:lstStyle/>
          <a:p>
            <a:pPr indent="0" marL="0">
              <a:spcAft>
                <a:spcPts val="400"/>
              </a:spcAft>
              <a:buNone/>
            </a:pPr>
            <a:r>
              <a:rPr lang="en-US" sz="1400" b="1" dirty="0">
                <a:solidFill>
                  <a:schemeClr val="tx1"/>
                </a:solidFill>
              </a:rPr>
              <a:t>ETR = Φ</a:t>
            </a:r>
            <a:r>
              <a:rPr lang="en-US" sz="1400" b="1" baseline="-40000" dirty="0">
                <a:solidFill>
                  <a:schemeClr val="tx1"/>
                </a:solidFill>
              </a:rPr>
              <a:t>PSII</a:t>
            </a:r>
            <a:r>
              <a:rPr lang="en-US" sz="1400" b="1" dirty="0">
                <a:solidFill>
                  <a:schemeClr val="tx1"/>
                </a:solidFill>
              </a:rPr>
              <a:t> × PAR × 0.84 × 0.5</a:t>
            </a:r>
            <a:endParaRPr lang="en-US" sz="1400" dirty="0"/>
          </a:p>
          <a:p>
            <a:pPr indent="0" marL="0">
              <a:spcAft>
                <a:spcPts val="400"/>
              </a:spcAft>
              <a:buNone/>
            </a:pPr>
            <a:r>
              <a:rPr lang="en-US" sz="1200" dirty="0">
                <a:solidFill>
                  <a:schemeClr val="tx1"/>
                </a:solidFill>
              </a:rPr>
              <a:t>0.84 = typical leaf absorptance; 0.5 = share of light to PSII (both are assumptions)</a:t>
            </a:r>
            <a:endParaRPr lang="en-US" sz="1400" dirty="0"/>
          </a:p>
        </p:txBody>
      </p:sp>
      <p:sp>
        <p:nvSpPr>
          <p:cNvPr id="22" name="card"/>
          <p:cNvSpPr/>
          <p:nvPr/>
        </p:nvSpPr>
        <p:spPr>
          <a:xfrm>
            <a:off x="6199632" y="4434840"/>
            <a:ext cx="5440680" cy="1737360"/>
          </a:xfrm>
          <a:prstGeom prst="roundRect">
            <a:avLst>
              <a:gd name="adj" fmla="val 4211"/>
            </a:avLst>
          </a:prstGeom>
          <a:solidFill>
            <a:schemeClr val="bg2"/>
          </a:solidFill>
          <a:ln/>
          <a:effectLst>
            <a:outerShdw sx="100000" sy="100000" kx="0" ky="0" algn="bl" rotWithShape="0" blurRad="76200" dist="25400" dir="5400000">
              <a:srgbClr val="000000">
                <a:alpha val="14000"/>
              </a:srgbClr>
            </a:outerShdw>
          </a:effectLst>
        </p:spPr>
      </p:sp>
      <p:sp>
        <p:nvSpPr>
          <p:cNvPr id="23" name="icon circle"/>
          <p:cNvSpPr/>
          <p:nvPr/>
        </p:nvSpPr>
        <p:spPr>
          <a:xfrm>
            <a:off x="6382512" y="4590288"/>
            <a:ext cx="420624" cy="420624"/>
          </a:xfrm>
          <a:prstGeom prst="ellipse">
            <a:avLst/>
          </a:prstGeom>
          <a:solidFill>
            <a:schemeClr val="accent2"/>
          </a:solidFill>
          <a:ln/>
        </p:spPr>
      </p:sp>
      <p:pic>
        <p:nvPicPr>
          <p:cNvPr id="24" name="Image 1" descr="ExclamationTriangle icon">    </p:cNvPr>
          <p:cNvPicPr>
            <a:picLocks noChangeAspect="1"/>
          </p:cNvPicPr>
          <p:nvPr/>
        </p:nvPicPr>
        <p:blipFill>
          <a:blip r:embed="rId2"/>
          <a:stretch>
            <a:fillRect/>
          </a:stretch>
        </p:blipFill>
        <p:spPr>
          <a:xfrm>
            <a:off x="6491874" y="4699650"/>
            <a:ext cx="201900" cy="201900"/>
          </a:xfrm>
          <a:prstGeom prst="rect">
            <a:avLst/>
          </a:prstGeom>
        </p:spPr>
      </p:pic>
      <p:sp>
        <p:nvSpPr>
          <p:cNvPr id="25" name="Text 20"/>
          <p:cNvSpPr txBox="1"/>
          <p:nvPr/>
        </p:nvSpPr>
        <p:spPr>
          <a:xfrm>
            <a:off x="6912864" y="457200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Why it is popular — and the catch</a:t>
            </a:r>
            <a:endParaRPr lang="en-US" sz="1600" dirty="0"/>
          </a:p>
        </p:txBody>
      </p:sp>
      <p:sp>
        <p:nvSpPr>
          <p:cNvPr id="26" name="Text 21"/>
          <p:cNvSpPr txBox="1"/>
          <p:nvPr/>
        </p:nvSpPr>
        <p:spPr>
          <a:xfrm>
            <a:off x="6382512" y="5120640"/>
            <a:ext cx="5074920" cy="96012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No dark adaptation needed; quick in the field</a:t>
            </a:r>
            <a:endParaRPr lang="en-US" sz="1300" dirty="0"/>
          </a:p>
          <a:p>
            <a:pPr marL="177800" indent="-177800">
              <a:spcAft>
                <a:spcPts val="400"/>
              </a:spcAft>
              <a:buSzPct val="100000"/>
              <a:buChar char="•"/>
            </a:pPr>
            <a:r>
              <a:rPr lang="en-US" sz="1300" dirty="0">
                <a:solidFill>
                  <a:schemeClr val="tx1"/>
                </a:solidFill>
              </a:rPr>
              <a:t>Strongly depends on </a:t>
            </a:r>
            <a:r>
              <a:rPr lang="en-US" sz="1300" b="1" dirty="0">
                <a:solidFill>
                  <a:schemeClr val="tx1"/>
                </a:solidFill>
              </a:rPr>
              <a:t>current PAR</a:t>
            </a:r>
            <a:r>
              <a:rPr lang="en-US" sz="1300" dirty="0">
                <a:solidFill>
                  <a:schemeClr val="tx1"/>
                </a:solidFill>
              </a:rPr>
              <a:t> — always record light at the leaf surface</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qP and qL: how many PSII centres are open?</a:t>
            </a:r>
            <a:endParaRPr lang="en-US" sz="3200" dirty="0"/>
          </a:p>
        </p:txBody>
      </p:sp>
      <p:sp>
        <p:nvSpPr>
          <p:cNvPr id="4" name="card"/>
          <p:cNvSpPr/>
          <p:nvPr/>
        </p:nvSpPr>
        <p:spPr>
          <a:xfrm>
            <a:off x="548640" y="1325880"/>
            <a:ext cx="5440680"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481328"/>
            <a:ext cx="420624" cy="420624"/>
          </a:xfrm>
          <a:prstGeom prst="ellipse">
            <a:avLst/>
          </a:prstGeom>
          <a:solidFill>
            <a:schemeClr val="accent5"/>
          </a:solidFill>
          <a:ln/>
        </p:spPr>
      </p:sp>
      <p:pic>
        <p:nvPicPr>
          <p:cNvPr id="6" name="Image 0" descr="ChartLine icon">    </p:cNvPr>
          <p:cNvPicPr>
            <a:picLocks noChangeAspect="1"/>
          </p:cNvPicPr>
          <p:nvPr/>
        </p:nvPicPr>
        <p:blipFill>
          <a:blip r:embed="rId1"/>
          <a:stretch>
            <a:fillRect/>
          </a:stretch>
        </p:blipFill>
        <p:spPr>
          <a:xfrm>
            <a:off x="840882" y="1590690"/>
            <a:ext cx="201900" cy="201900"/>
          </a:xfrm>
          <a:prstGeom prst="rect">
            <a:avLst/>
          </a:prstGeom>
        </p:spPr>
      </p:pic>
      <p:sp>
        <p:nvSpPr>
          <p:cNvPr id="7" name="Text 3"/>
          <p:cNvSpPr txBox="1"/>
          <p:nvPr/>
        </p:nvSpPr>
        <p:spPr>
          <a:xfrm>
            <a:off x="1261872" y="146304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qP — photochemical quenching</a:t>
            </a:r>
            <a:endParaRPr lang="en-US" sz="1600" dirty="0"/>
          </a:p>
        </p:txBody>
      </p:sp>
      <p:sp>
        <p:nvSpPr>
          <p:cNvPr id="8" name="Text 4"/>
          <p:cNvSpPr txBox="1"/>
          <p:nvPr/>
        </p:nvSpPr>
        <p:spPr>
          <a:xfrm>
            <a:off x="731520" y="2011680"/>
            <a:ext cx="5074920" cy="1600200"/>
          </a:xfrm>
          <a:prstGeom prst="rect">
            <a:avLst/>
          </a:prstGeom>
          <a:noFill/>
          <a:ln/>
        </p:spPr>
        <p:txBody>
          <a:bodyPr wrap="square" lIns="508" tIns="508" rIns="508" bIns="508" rtlCol="0" anchor="t"/>
          <a:lstStyle/>
          <a:p>
            <a:pPr indent="0" marL="0">
              <a:spcAft>
                <a:spcPts val="800"/>
              </a:spcAft>
              <a:buNone/>
            </a:pPr>
            <a:r>
              <a:rPr lang="en-US" sz="1600" b="1" dirty="0">
                <a:solidFill>
                  <a:schemeClr val="tx1"/>
                </a:solidFill>
              </a:rPr>
              <a:t>qP = F</a:t>
            </a:r>
            <a:r>
              <a:rPr lang="en-US" sz="1600" b="1" baseline="-40000" dirty="0">
                <a:solidFill>
                  <a:schemeClr val="tx1"/>
                </a:solidFill>
              </a:rPr>
              <a:t>q</a:t>
            </a:r>
            <a:r>
              <a:rPr lang="en-US" sz="1600" b="1" dirty="0">
                <a:solidFill>
                  <a:schemeClr val="tx1"/>
                </a:solidFill>
              </a:rPr>
              <a:t>′/F</a:t>
            </a:r>
            <a:r>
              <a:rPr lang="en-US" sz="1600" b="1" baseline="-40000" dirty="0">
                <a:solidFill>
                  <a:schemeClr val="tx1"/>
                </a:solidFill>
              </a:rPr>
              <a:t>v</a:t>
            </a:r>
            <a:r>
              <a:rPr lang="en-US" sz="1600" b="1" dirty="0">
                <a:solidFill>
                  <a:schemeClr val="tx1"/>
                </a:solidFill>
              </a:rPr>
              <a:t>′ = (F</a:t>
            </a:r>
            <a:r>
              <a:rPr lang="en-US" sz="1600" b="1" baseline="-40000" dirty="0">
                <a:solidFill>
                  <a:schemeClr val="tx1"/>
                </a:solidFill>
              </a:rPr>
              <a:t>m</a:t>
            </a:r>
            <a:r>
              <a:rPr lang="en-US" sz="1600" b="1" dirty="0">
                <a:solidFill>
                  <a:schemeClr val="tx1"/>
                </a:solidFill>
              </a:rPr>
              <a:t>′ − F′)/(F</a:t>
            </a:r>
            <a:r>
              <a:rPr lang="en-US" sz="1600" b="1" baseline="-40000" dirty="0">
                <a:solidFill>
                  <a:schemeClr val="tx1"/>
                </a:solidFill>
              </a:rPr>
              <a:t>m</a:t>
            </a:r>
            <a:r>
              <a:rPr lang="en-US" sz="1600" b="1" dirty="0">
                <a:solidFill>
                  <a:schemeClr val="tx1"/>
                </a:solidFill>
              </a:rPr>
              <a:t>′ − F</a:t>
            </a:r>
            <a:r>
              <a:rPr lang="en-US" sz="1600" b="1" baseline="-40000" dirty="0">
                <a:solidFill>
                  <a:schemeClr val="tx1"/>
                </a:solidFill>
              </a:rPr>
              <a:t>o</a:t>
            </a:r>
            <a:r>
              <a:rPr lang="en-US" sz="1600" b="1" dirty="0">
                <a:solidFill>
                  <a:schemeClr val="tx1"/>
                </a:solidFill>
              </a:rPr>
              <a:t>′)</a:t>
            </a:r>
            <a:endParaRPr lang="en-US" sz="1600" dirty="0"/>
          </a:p>
          <a:p>
            <a:pPr marL="177800" indent="-177800">
              <a:spcAft>
                <a:spcPts val="400"/>
              </a:spcAft>
              <a:buSzPct val="100000"/>
              <a:buChar char="•"/>
            </a:pPr>
            <a:r>
              <a:rPr lang="en-US" sz="1400" dirty="0">
                <a:solidFill>
                  <a:schemeClr val="tx1"/>
                </a:solidFill>
              </a:rPr>
              <a:t>Proportion of PSII centres that are open (approx.)</a:t>
            </a:r>
            <a:endParaRPr lang="en-US" sz="1600" dirty="0"/>
          </a:p>
          <a:p>
            <a:pPr marL="177800" indent="-177800">
              <a:spcAft>
                <a:spcPts val="400"/>
              </a:spcAft>
              <a:buSzPct val="100000"/>
              <a:buChar char="•"/>
            </a:pPr>
            <a:r>
              <a:rPr lang="en-US" sz="1400" b="1" dirty="0">
                <a:solidFill>
                  <a:schemeClr val="tx1"/>
                </a:solidFill>
              </a:rPr>
              <a:t>1 − qP</a:t>
            </a:r>
            <a:r>
              <a:rPr lang="en-US" sz="1400" dirty="0">
                <a:solidFill>
                  <a:schemeClr val="tx1"/>
                </a:solidFill>
              </a:rPr>
              <a:t> ≈ closed centres (excitation pressure)</a:t>
            </a:r>
            <a:endParaRPr lang="en-US" sz="1600" dirty="0"/>
          </a:p>
          <a:p>
            <a:pPr marL="177800" indent="-177800">
              <a:spcAft>
                <a:spcPts val="400"/>
              </a:spcAft>
              <a:buSzPct val="100000"/>
              <a:buChar char="•"/>
            </a:pPr>
            <a:r>
              <a:rPr lang="en-US" sz="1400" dirty="0">
                <a:solidFill>
                  <a:schemeClr val="tx1"/>
                </a:solidFill>
              </a:rPr>
              <a:t>Non-linear with true open fraction — use with care</a:t>
            </a:r>
            <a:endParaRPr lang="en-US" sz="1600" dirty="0"/>
          </a:p>
        </p:txBody>
      </p:sp>
      <p:sp>
        <p:nvSpPr>
          <p:cNvPr id="9" name="card"/>
          <p:cNvSpPr/>
          <p:nvPr/>
        </p:nvSpPr>
        <p:spPr>
          <a:xfrm>
            <a:off x="6199632" y="1325880"/>
            <a:ext cx="5440680"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6382512" y="1481328"/>
            <a:ext cx="420624" cy="420624"/>
          </a:xfrm>
          <a:prstGeom prst="ellipse">
            <a:avLst/>
          </a:prstGeom>
          <a:solidFill>
            <a:schemeClr val="accent1"/>
          </a:solidFill>
          <a:ln/>
        </p:spPr>
      </p:sp>
      <p:pic>
        <p:nvPicPr>
          <p:cNvPr id="11" name="Image 1" descr="LayerGroup icon">    </p:cNvPr>
          <p:cNvPicPr>
            <a:picLocks noChangeAspect="1"/>
          </p:cNvPicPr>
          <p:nvPr/>
        </p:nvPicPr>
        <p:blipFill>
          <a:blip r:embed="rId2"/>
          <a:stretch>
            <a:fillRect/>
          </a:stretch>
        </p:blipFill>
        <p:spPr>
          <a:xfrm>
            <a:off x="6491874" y="1590690"/>
            <a:ext cx="201900" cy="201900"/>
          </a:xfrm>
          <a:prstGeom prst="rect">
            <a:avLst/>
          </a:prstGeom>
        </p:spPr>
      </p:pic>
      <p:sp>
        <p:nvSpPr>
          <p:cNvPr id="12" name="Text 7"/>
          <p:cNvSpPr txBox="1"/>
          <p:nvPr/>
        </p:nvSpPr>
        <p:spPr>
          <a:xfrm>
            <a:off x="6912864" y="146304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qL — the 'lake model' version</a:t>
            </a:r>
            <a:endParaRPr lang="en-US" sz="1600" dirty="0"/>
          </a:p>
        </p:txBody>
      </p:sp>
      <p:sp>
        <p:nvSpPr>
          <p:cNvPr id="13" name="Text 8"/>
          <p:cNvSpPr txBox="1"/>
          <p:nvPr/>
        </p:nvSpPr>
        <p:spPr>
          <a:xfrm>
            <a:off x="6382512" y="2011680"/>
            <a:ext cx="5074920" cy="1600200"/>
          </a:xfrm>
          <a:prstGeom prst="rect">
            <a:avLst/>
          </a:prstGeom>
          <a:noFill/>
          <a:ln/>
        </p:spPr>
        <p:txBody>
          <a:bodyPr wrap="square" lIns="508" tIns="508" rIns="508" bIns="508" rtlCol="0" anchor="t"/>
          <a:lstStyle/>
          <a:p>
            <a:pPr indent="0" marL="0">
              <a:spcAft>
                <a:spcPts val="800"/>
              </a:spcAft>
              <a:buNone/>
            </a:pPr>
            <a:r>
              <a:rPr lang="en-US" sz="1600" b="1" dirty="0">
                <a:solidFill>
                  <a:schemeClr val="tx1"/>
                </a:solidFill>
              </a:rPr>
              <a:t>qL = (F</a:t>
            </a:r>
            <a:r>
              <a:rPr lang="en-US" sz="1600" b="1" baseline="-40000" dirty="0">
                <a:solidFill>
                  <a:schemeClr val="tx1"/>
                </a:solidFill>
              </a:rPr>
              <a:t>q</a:t>
            </a:r>
            <a:r>
              <a:rPr lang="en-US" sz="1600" b="1" dirty="0">
                <a:solidFill>
                  <a:schemeClr val="tx1"/>
                </a:solidFill>
              </a:rPr>
              <a:t>′/F</a:t>
            </a:r>
            <a:r>
              <a:rPr lang="en-US" sz="1600" b="1" baseline="-40000" dirty="0">
                <a:solidFill>
                  <a:schemeClr val="tx1"/>
                </a:solidFill>
              </a:rPr>
              <a:t>v</a:t>
            </a:r>
            <a:r>
              <a:rPr lang="en-US" sz="1600" b="1" dirty="0">
                <a:solidFill>
                  <a:schemeClr val="tx1"/>
                </a:solidFill>
              </a:rPr>
              <a:t>′) × (F</a:t>
            </a:r>
            <a:r>
              <a:rPr lang="en-US" sz="1600" b="1" baseline="-40000" dirty="0">
                <a:solidFill>
                  <a:schemeClr val="tx1"/>
                </a:solidFill>
              </a:rPr>
              <a:t>o</a:t>
            </a:r>
            <a:r>
              <a:rPr lang="en-US" sz="1600" b="1" dirty="0">
                <a:solidFill>
                  <a:schemeClr val="tx1"/>
                </a:solidFill>
              </a:rPr>
              <a:t>′/F′) = qP × F</a:t>
            </a:r>
            <a:r>
              <a:rPr lang="en-US" sz="1600" b="1" baseline="-40000" dirty="0">
                <a:solidFill>
                  <a:schemeClr val="tx1"/>
                </a:solidFill>
              </a:rPr>
              <a:t>o</a:t>
            </a:r>
            <a:r>
              <a:rPr lang="en-US" sz="1600" b="1" dirty="0">
                <a:solidFill>
                  <a:schemeClr val="tx1"/>
                </a:solidFill>
              </a:rPr>
              <a:t>′/F′</a:t>
            </a:r>
            <a:endParaRPr lang="en-US" sz="1600" dirty="0"/>
          </a:p>
          <a:p>
            <a:pPr marL="177800" indent="-177800">
              <a:spcAft>
                <a:spcPts val="400"/>
              </a:spcAft>
              <a:buSzPct val="100000"/>
              <a:buChar char="•"/>
            </a:pPr>
            <a:r>
              <a:rPr lang="en-US" sz="1400" dirty="0">
                <a:solidFill>
                  <a:schemeClr val="tx1"/>
                </a:solidFill>
              </a:rPr>
              <a:t>Estimates the fraction of open PSII centres</a:t>
            </a:r>
            <a:endParaRPr lang="en-US" sz="1600" dirty="0"/>
          </a:p>
          <a:p>
            <a:pPr marL="177800" indent="-177800">
              <a:spcAft>
                <a:spcPts val="400"/>
              </a:spcAft>
              <a:buSzPct val="100000"/>
              <a:buChar char="•"/>
            </a:pPr>
            <a:r>
              <a:rPr lang="en-US" sz="1400" dirty="0">
                <a:solidFill>
                  <a:schemeClr val="tx1"/>
                </a:solidFill>
              </a:rPr>
              <a:t>Accounts for energy sharing between connected PSII units</a:t>
            </a:r>
            <a:endParaRPr lang="en-US" sz="1600" dirty="0"/>
          </a:p>
          <a:p>
            <a:pPr marL="177800" indent="-177800">
              <a:spcAft>
                <a:spcPts val="400"/>
              </a:spcAft>
              <a:buSzPct val="100000"/>
              <a:buChar char="•"/>
            </a:pPr>
            <a:r>
              <a:rPr lang="en-US" sz="1400" dirty="0">
                <a:solidFill>
                  <a:schemeClr val="tx1"/>
                </a:solidFill>
              </a:rPr>
              <a:t>Considered a more accurate redox-state indicator</a:t>
            </a:r>
            <a:endParaRPr lang="en-US" sz="1600" dirty="0"/>
          </a:p>
        </p:txBody>
      </p:sp>
      <p:sp>
        <p:nvSpPr>
          <p:cNvPr id="14" name="Text 9"/>
          <p:cNvSpPr txBox="1"/>
          <p:nvPr/>
        </p:nvSpPr>
        <p:spPr>
          <a:xfrm>
            <a:off x="548640" y="3931920"/>
            <a:ext cx="7315200" cy="320040"/>
          </a:xfrm>
          <a:prstGeom prst="rect">
            <a:avLst/>
          </a:prstGeom>
          <a:noFill/>
          <a:ln/>
        </p:spPr>
        <p:txBody>
          <a:bodyPr wrap="square" lIns="0" tIns="0" rIns="0" bIns="0" rtlCol="0" anchor="ctr"/>
          <a:lstStyle/>
          <a:p>
            <a:pPr algn="l" indent="0" marL="0">
              <a:buNone/>
            </a:pPr>
            <a:r>
              <a:rPr lang="en-US" sz="1500" b="1" dirty="0">
                <a:solidFill>
                  <a:schemeClr val="tx2"/>
                </a:solidFill>
              </a:rPr>
              <a:t>Picture it: 10 PSII centres under actinic light</a:t>
            </a:r>
            <a:endParaRPr lang="en-US" sz="1500" dirty="0"/>
          </a:p>
        </p:txBody>
      </p:sp>
      <p:sp>
        <p:nvSpPr>
          <p:cNvPr id="15" name="open centre"/>
          <p:cNvSpPr/>
          <p:nvPr/>
        </p:nvSpPr>
        <p:spPr>
          <a:xfrm>
            <a:off x="548640" y="4389120"/>
            <a:ext cx="548640" cy="548640"/>
          </a:xfrm>
          <a:prstGeom prst="ellipse">
            <a:avLst/>
          </a:prstGeom>
          <a:solidFill>
            <a:schemeClr val="accent1"/>
          </a:solidFill>
          <a:ln/>
        </p:spPr>
      </p:sp>
      <p:sp>
        <p:nvSpPr>
          <p:cNvPr id="16" name="open centre"/>
          <p:cNvSpPr/>
          <p:nvPr/>
        </p:nvSpPr>
        <p:spPr>
          <a:xfrm>
            <a:off x="1234440" y="4389120"/>
            <a:ext cx="548640" cy="548640"/>
          </a:xfrm>
          <a:prstGeom prst="ellipse">
            <a:avLst/>
          </a:prstGeom>
          <a:solidFill>
            <a:schemeClr val="accent1"/>
          </a:solidFill>
          <a:ln/>
        </p:spPr>
      </p:sp>
      <p:sp>
        <p:nvSpPr>
          <p:cNvPr id="17" name="open centre"/>
          <p:cNvSpPr/>
          <p:nvPr/>
        </p:nvSpPr>
        <p:spPr>
          <a:xfrm>
            <a:off x="1920240" y="4389120"/>
            <a:ext cx="548640" cy="548640"/>
          </a:xfrm>
          <a:prstGeom prst="ellipse">
            <a:avLst/>
          </a:prstGeom>
          <a:solidFill>
            <a:schemeClr val="accent1"/>
          </a:solidFill>
          <a:ln/>
        </p:spPr>
      </p:sp>
      <p:sp>
        <p:nvSpPr>
          <p:cNvPr id="18" name="open centre"/>
          <p:cNvSpPr/>
          <p:nvPr/>
        </p:nvSpPr>
        <p:spPr>
          <a:xfrm>
            <a:off x="2606040" y="4389120"/>
            <a:ext cx="548640" cy="548640"/>
          </a:xfrm>
          <a:prstGeom prst="ellipse">
            <a:avLst/>
          </a:prstGeom>
          <a:solidFill>
            <a:schemeClr val="accent1"/>
          </a:solidFill>
          <a:ln/>
        </p:spPr>
      </p:sp>
      <p:sp>
        <p:nvSpPr>
          <p:cNvPr id="19" name="open centre"/>
          <p:cNvSpPr/>
          <p:nvPr/>
        </p:nvSpPr>
        <p:spPr>
          <a:xfrm>
            <a:off x="3291840" y="4389120"/>
            <a:ext cx="548640" cy="548640"/>
          </a:xfrm>
          <a:prstGeom prst="ellipse">
            <a:avLst/>
          </a:prstGeom>
          <a:solidFill>
            <a:schemeClr val="accent1"/>
          </a:solidFill>
          <a:ln/>
        </p:spPr>
      </p:sp>
      <p:sp>
        <p:nvSpPr>
          <p:cNvPr id="20" name="open centre"/>
          <p:cNvSpPr/>
          <p:nvPr/>
        </p:nvSpPr>
        <p:spPr>
          <a:xfrm>
            <a:off x="3977640" y="4389120"/>
            <a:ext cx="548640" cy="548640"/>
          </a:xfrm>
          <a:prstGeom prst="ellipse">
            <a:avLst/>
          </a:prstGeom>
          <a:solidFill>
            <a:schemeClr val="accent1"/>
          </a:solidFill>
          <a:ln/>
        </p:spPr>
      </p:sp>
      <p:sp>
        <p:nvSpPr>
          <p:cNvPr id="21" name="closed centre"/>
          <p:cNvSpPr/>
          <p:nvPr/>
        </p:nvSpPr>
        <p:spPr>
          <a:xfrm>
            <a:off x="4663440" y="4389120"/>
            <a:ext cx="548640" cy="548640"/>
          </a:xfrm>
          <a:prstGeom prst="ellipse">
            <a:avLst/>
          </a:prstGeom>
          <a:solidFill>
            <a:schemeClr val="accent2"/>
          </a:solidFill>
          <a:ln/>
        </p:spPr>
      </p:sp>
      <p:sp>
        <p:nvSpPr>
          <p:cNvPr id="22" name="closed centre"/>
          <p:cNvSpPr/>
          <p:nvPr/>
        </p:nvSpPr>
        <p:spPr>
          <a:xfrm>
            <a:off x="5349240" y="4389120"/>
            <a:ext cx="548640" cy="548640"/>
          </a:xfrm>
          <a:prstGeom prst="ellipse">
            <a:avLst/>
          </a:prstGeom>
          <a:solidFill>
            <a:schemeClr val="accent2"/>
          </a:solidFill>
          <a:ln/>
        </p:spPr>
      </p:sp>
      <p:sp>
        <p:nvSpPr>
          <p:cNvPr id="23" name="closed centre"/>
          <p:cNvSpPr/>
          <p:nvPr/>
        </p:nvSpPr>
        <p:spPr>
          <a:xfrm>
            <a:off x="6035040" y="4389120"/>
            <a:ext cx="548640" cy="548640"/>
          </a:xfrm>
          <a:prstGeom prst="ellipse">
            <a:avLst/>
          </a:prstGeom>
          <a:solidFill>
            <a:schemeClr val="accent2"/>
          </a:solidFill>
          <a:ln/>
        </p:spPr>
      </p:sp>
      <p:sp>
        <p:nvSpPr>
          <p:cNvPr id="24" name="closed centre"/>
          <p:cNvSpPr/>
          <p:nvPr/>
        </p:nvSpPr>
        <p:spPr>
          <a:xfrm>
            <a:off x="6720840" y="4389120"/>
            <a:ext cx="548640" cy="548640"/>
          </a:xfrm>
          <a:prstGeom prst="ellipse">
            <a:avLst/>
          </a:prstGeom>
          <a:solidFill>
            <a:schemeClr val="accent2"/>
          </a:solidFill>
          <a:ln/>
        </p:spPr>
      </p:sp>
      <p:sp>
        <p:nvSpPr>
          <p:cNvPr id="25" name="Text 20"/>
          <p:cNvSpPr txBox="1"/>
          <p:nvPr/>
        </p:nvSpPr>
        <p:spPr>
          <a:xfrm>
            <a:off x="548640" y="5029200"/>
            <a:ext cx="6949440" cy="365760"/>
          </a:xfrm>
          <a:prstGeom prst="rect">
            <a:avLst/>
          </a:prstGeom>
          <a:noFill/>
          <a:ln/>
        </p:spPr>
        <p:txBody>
          <a:bodyPr wrap="square" lIns="0" tIns="0" rIns="0" bIns="0" rtlCol="0" anchor="ctr"/>
          <a:lstStyle/>
          <a:p>
            <a:pPr algn="l" indent="0" marL="0">
              <a:buNone/>
            </a:pPr>
            <a:r>
              <a:rPr lang="en-US" sz="1400" dirty="0">
                <a:solidFill>
                  <a:schemeClr val="tx1"/>
                </a:solidFill>
              </a:rPr>
              <a:t>6 open (green) · 4 closed (red) → q</a:t>
            </a:r>
            <a:r>
              <a:rPr lang="en-US" sz="1400" baseline="-40000" dirty="0">
                <a:solidFill>
                  <a:schemeClr val="tx1"/>
                </a:solidFill>
              </a:rPr>
              <a:t>L</a:t>
            </a:r>
            <a:r>
              <a:rPr lang="en-US" sz="1400" dirty="0">
                <a:solidFill>
                  <a:schemeClr val="tx1"/>
                </a:solidFill>
              </a:rPr>
              <a:t> ≈ 0.6 ; 1 − q</a:t>
            </a:r>
            <a:r>
              <a:rPr lang="en-US" sz="1400" baseline="-40000" dirty="0">
                <a:solidFill>
                  <a:schemeClr val="tx1"/>
                </a:solidFill>
              </a:rPr>
              <a:t>L</a:t>
            </a:r>
            <a:r>
              <a:rPr lang="en-US" sz="1400" dirty="0">
                <a:solidFill>
                  <a:schemeClr val="tx1"/>
                </a:solidFill>
              </a:rPr>
              <a:t> ≈ 0.4</a:t>
            </a:r>
            <a:endParaRPr lang="en-US" sz="1400" dirty="0"/>
          </a:p>
        </p:txBody>
      </p:sp>
      <p:sp>
        <p:nvSpPr>
          <p:cNvPr id="26" name="card"/>
          <p:cNvSpPr/>
          <p:nvPr/>
        </p:nvSpPr>
        <p:spPr>
          <a:xfrm>
            <a:off x="7589520" y="3931920"/>
            <a:ext cx="405079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27" name="Text 22"/>
          <p:cNvSpPr txBox="1"/>
          <p:nvPr/>
        </p:nvSpPr>
        <p:spPr>
          <a:xfrm>
            <a:off x="7772400" y="4069080"/>
            <a:ext cx="3730752" cy="365760"/>
          </a:xfrm>
          <a:prstGeom prst="rect">
            <a:avLst/>
          </a:prstGeom>
          <a:noFill/>
          <a:ln/>
        </p:spPr>
        <p:txBody>
          <a:bodyPr wrap="square" lIns="0" tIns="0" rIns="0" bIns="0" rtlCol="0" anchor="ctr"/>
          <a:lstStyle/>
          <a:p>
            <a:pPr indent="0" marL="0">
              <a:buNone/>
            </a:pPr>
            <a:r>
              <a:rPr lang="en-US" sz="1600" b="1" dirty="0">
                <a:solidFill>
                  <a:schemeClr val="tx2"/>
                </a:solidFill>
              </a:rPr>
              <a:t>Use cases</a:t>
            </a:r>
            <a:endParaRPr lang="en-US" sz="1600" dirty="0"/>
          </a:p>
        </p:txBody>
      </p:sp>
      <p:sp>
        <p:nvSpPr>
          <p:cNvPr id="28" name="Text 23"/>
          <p:cNvSpPr txBox="1"/>
          <p:nvPr/>
        </p:nvSpPr>
        <p:spPr>
          <a:xfrm>
            <a:off x="7772400" y="4480560"/>
            <a:ext cx="3685032"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Onset of photoinhibition</a:t>
            </a:r>
            <a:endParaRPr lang="en-US" sz="1300" dirty="0"/>
          </a:p>
          <a:p>
            <a:pPr marL="177800" indent="-177800">
              <a:spcAft>
                <a:spcPts val="400"/>
              </a:spcAft>
              <a:buSzPct val="100000"/>
              <a:buChar char="•"/>
            </a:pPr>
            <a:r>
              <a:rPr lang="en-US" sz="1300" dirty="0">
                <a:solidFill>
                  <a:schemeClr val="tx1"/>
                </a:solidFill>
              </a:rPr>
              <a:t>Level of photoprotective quenching</a:t>
            </a:r>
            <a:endParaRPr lang="en-US" sz="1300" dirty="0"/>
          </a:p>
          <a:p>
            <a:pPr marL="177800" indent="-177800">
              <a:spcAft>
                <a:spcPts val="400"/>
              </a:spcAft>
              <a:buSzPct val="100000"/>
              <a:buChar char="•"/>
            </a:pPr>
            <a:r>
              <a:rPr lang="en-US" sz="1300" dirty="0">
                <a:solidFill>
                  <a:schemeClr val="tx1"/>
                </a:solidFill>
              </a:rPr>
              <a:t>Requires F</a:t>
            </a:r>
            <a:r>
              <a:rPr lang="en-US" sz="1300" baseline="-40000" dirty="0">
                <a:solidFill>
                  <a:schemeClr val="tx1"/>
                </a:solidFill>
              </a:rPr>
              <a:t>o</a:t>
            </a:r>
            <a:r>
              <a:rPr lang="en-US" sz="1300" dirty="0">
                <a:solidFill>
                  <a:schemeClr val="tx1"/>
                </a:solidFill>
              </a:rPr>
              <a:t>′ (measured with FR or calculated)</a:t>
            </a:r>
            <a:endParaRPr lang="en-US" sz="1300" dirty="0"/>
          </a:p>
        </p:txBody>
      </p:sp>
      <p:sp>
        <p:nvSpPr>
          <p:cNvPr id="29" name="Text 24"/>
          <p:cNvSpPr txBox="1"/>
          <p:nvPr/>
        </p:nvSpPr>
        <p:spPr>
          <a:xfrm>
            <a:off x="548640" y="5486400"/>
            <a:ext cx="6858000" cy="640080"/>
          </a:xfrm>
          <a:prstGeom prst="rect">
            <a:avLst/>
          </a:prstGeom>
          <a:noFill/>
          <a:ln/>
        </p:spPr>
        <p:txBody>
          <a:bodyPr wrap="square" lIns="508" tIns="508" rIns="508" bIns="508" rtlCol="0" anchor="t"/>
          <a:lstStyle/>
          <a:p>
            <a:pPr indent="0" marL="0">
              <a:spcAft>
                <a:spcPts val="600"/>
              </a:spcAft>
              <a:buNone/>
            </a:pPr>
            <a:r>
              <a:rPr lang="en-US" sz="1200" i="1" dirty="0">
                <a:solidFill>
                  <a:schemeClr val="accent6"/>
                </a:solidFill>
              </a:rPr>
              <a:t>qP and qL are both 1 when all centres are open; they differ in between because of antenna connectivity.</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NPQ: non-photochemical quenching</a:t>
            </a:r>
            <a:endParaRPr lang="en-US" sz="3200" dirty="0"/>
          </a:p>
        </p:txBody>
      </p:sp>
      <p:sp>
        <p:nvSpPr>
          <p:cNvPr id="4" name="card"/>
          <p:cNvSpPr/>
          <p:nvPr/>
        </p:nvSpPr>
        <p:spPr>
          <a:xfrm>
            <a:off x="548640" y="1325880"/>
            <a:ext cx="6035040" cy="1371600"/>
          </a:xfrm>
          <a:prstGeom prst="roundRect">
            <a:avLst>
              <a:gd name="adj" fmla="val 5333"/>
            </a:avLst>
          </a:prstGeom>
          <a:solidFill>
            <a:schemeClr val="tx2"/>
          </a:solidFill>
          <a:ln/>
          <a:effectLst>
            <a:outerShdw sx="100000" sy="100000" kx="0" ky="0" algn="bl" rotWithShape="0" blurRad="76200" dist="25400" dir="5400000">
              <a:srgbClr val="000000">
                <a:alpha val="14000"/>
              </a:srgbClr>
            </a:outerShdw>
          </a:effectLst>
        </p:spPr>
      </p:sp>
      <p:sp>
        <p:nvSpPr>
          <p:cNvPr id="5" name="Text 2"/>
          <p:cNvSpPr txBox="1"/>
          <p:nvPr/>
        </p:nvSpPr>
        <p:spPr>
          <a:xfrm>
            <a:off x="822960" y="1417320"/>
            <a:ext cx="5486400" cy="1188720"/>
          </a:xfrm>
          <a:prstGeom prst="rect">
            <a:avLst/>
          </a:prstGeom>
          <a:noFill/>
          <a:ln/>
        </p:spPr>
        <p:txBody>
          <a:bodyPr wrap="square" lIns="0" tIns="0" rIns="0" bIns="0" rtlCol="0" anchor="ctr"/>
          <a:lstStyle/>
          <a:p>
            <a:pPr algn="ctr" indent="0" marL="0">
              <a:buNone/>
            </a:pPr>
            <a:r>
              <a:rPr lang="en-US" sz="2800" b="1" dirty="0">
                <a:solidFill>
                  <a:schemeClr val="bg1"/>
                </a:solidFill>
              </a:rPr>
              <a:t>NPQ = (F</a:t>
            </a:r>
            <a:r>
              <a:rPr lang="en-US" sz="2800" b="1" baseline="-40000" dirty="0">
                <a:solidFill>
                  <a:schemeClr val="bg1"/>
                </a:solidFill>
              </a:rPr>
              <a:t>m</a:t>
            </a:r>
            <a:r>
              <a:rPr lang="en-US" sz="2800" b="1" dirty="0">
                <a:solidFill>
                  <a:schemeClr val="bg1"/>
                </a:solidFill>
              </a:rPr>
              <a:t> − F</a:t>
            </a:r>
            <a:r>
              <a:rPr lang="en-US" sz="2800" b="1" baseline="-40000" dirty="0">
                <a:solidFill>
                  <a:schemeClr val="bg1"/>
                </a:solidFill>
              </a:rPr>
              <a:t>m</a:t>
            </a:r>
            <a:r>
              <a:rPr lang="en-US" sz="2800" b="1" dirty="0">
                <a:solidFill>
                  <a:schemeClr val="bg1"/>
                </a:solidFill>
              </a:rPr>
              <a:t>′) / F</a:t>
            </a:r>
            <a:r>
              <a:rPr lang="en-US" sz="2800" b="1" baseline="-40000" dirty="0">
                <a:solidFill>
                  <a:schemeClr val="bg1"/>
                </a:solidFill>
              </a:rPr>
              <a:t>m</a:t>
            </a:r>
            <a:r>
              <a:rPr lang="en-US" sz="2800" b="1" dirty="0">
                <a:solidFill>
                  <a:schemeClr val="bg1"/>
                </a:solidFill>
              </a:rPr>
              <a:t>′</a:t>
            </a:r>
            <a:endParaRPr lang="en-US" sz="2800" dirty="0"/>
          </a:p>
        </p:txBody>
      </p:sp>
      <p:sp>
        <p:nvSpPr>
          <p:cNvPr id="6" name="card"/>
          <p:cNvSpPr/>
          <p:nvPr/>
        </p:nvSpPr>
        <p:spPr>
          <a:xfrm>
            <a:off x="548640" y="2880360"/>
            <a:ext cx="6035040" cy="1600200"/>
          </a:xfrm>
          <a:prstGeom prst="roundRect">
            <a:avLst>
              <a:gd name="adj" fmla="val 4571"/>
            </a:avLst>
          </a:prstGeom>
          <a:solidFill>
            <a:schemeClr val="bg2"/>
          </a:solidFill>
          <a:ln/>
          <a:effectLst>
            <a:outerShdw sx="100000" sy="100000" kx="0" ky="0" algn="bl" rotWithShape="0" blurRad="76200" dist="25400" dir="5400000">
              <a:srgbClr val="000000">
                <a:alpha val="14000"/>
              </a:srgbClr>
            </a:outerShdw>
          </a:effectLst>
        </p:spPr>
      </p:sp>
      <p:sp>
        <p:nvSpPr>
          <p:cNvPr id="7" name="icon circle"/>
          <p:cNvSpPr/>
          <p:nvPr/>
        </p:nvSpPr>
        <p:spPr>
          <a:xfrm>
            <a:off x="731520" y="3035808"/>
            <a:ext cx="420624" cy="420624"/>
          </a:xfrm>
          <a:prstGeom prst="ellipse">
            <a:avLst/>
          </a:prstGeom>
          <a:solidFill>
            <a:schemeClr val="accent3"/>
          </a:solidFill>
          <a:ln/>
        </p:spPr>
      </p:sp>
      <p:pic>
        <p:nvPicPr>
          <p:cNvPr id="8" name="Image 0" descr="Fire icon">    </p:cNvPr>
          <p:cNvPicPr>
            <a:picLocks noChangeAspect="1"/>
          </p:cNvPicPr>
          <p:nvPr/>
        </p:nvPicPr>
        <p:blipFill>
          <a:blip r:embed="rId1"/>
          <a:stretch>
            <a:fillRect/>
          </a:stretch>
        </p:blipFill>
        <p:spPr>
          <a:xfrm>
            <a:off x="840882" y="3145170"/>
            <a:ext cx="201900" cy="201900"/>
          </a:xfrm>
          <a:prstGeom prst="rect">
            <a:avLst/>
          </a:prstGeom>
        </p:spPr>
      </p:pic>
      <p:sp>
        <p:nvSpPr>
          <p:cNvPr id="9" name="Text 5"/>
          <p:cNvSpPr txBox="1"/>
          <p:nvPr/>
        </p:nvSpPr>
        <p:spPr>
          <a:xfrm>
            <a:off x="1261872" y="3017520"/>
            <a:ext cx="5184648" cy="457200"/>
          </a:xfrm>
          <a:prstGeom prst="rect">
            <a:avLst/>
          </a:prstGeom>
          <a:noFill/>
          <a:ln/>
        </p:spPr>
        <p:txBody>
          <a:bodyPr wrap="square" lIns="0" tIns="0" rIns="0" bIns="0" rtlCol="0" anchor="ctr"/>
          <a:lstStyle/>
          <a:p>
            <a:pPr indent="0" marL="0">
              <a:buNone/>
            </a:pPr>
            <a:r>
              <a:rPr lang="en-US" sz="1600" b="1" dirty="0">
                <a:solidFill>
                  <a:schemeClr val="tx2"/>
                </a:solidFill>
              </a:rPr>
              <a:t>Meaning</a:t>
            </a:r>
            <a:endParaRPr lang="en-US" sz="1600" dirty="0"/>
          </a:p>
        </p:txBody>
      </p:sp>
      <p:sp>
        <p:nvSpPr>
          <p:cNvPr id="10" name="Text 6"/>
          <p:cNvSpPr txBox="1"/>
          <p:nvPr/>
        </p:nvSpPr>
        <p:spPr>
          <a:xfrm>
            <a:off x="731520" y="3566160"/>
            <a:ext cx="5669280" cy="82296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Estimates the </a:t>
            </a:r>
            <a:r>
              <a:rPr lang="en-US" sz="1300" b="1" dirty="0">
                <a:solidFill>
                  <a:schemeClr val="tx1"/>
                </a:solidFill>
              </a:rPr>
              <a:t>rate constant for heat loss</a:t>
            </a:r>
            <a:r>
              <a:rPr lang="en-US" sz="1300" dirty="0">
                <a:solidFill>
                  <a:schemeClr val="tx1"/>
                </a:solidFill>
              </a:rPr>
              <a:t> from PSII</a:t>
            </a:r>
            <a:endParaRPr lang="en-US" sz="1300" dirty="0"/>
          </a:p>
          <a:p>
            <a:pPr marL="177800" indent="-177800">
              <a:spcAft>
                <a:spcPts val="400"/>
              </a:spcAft>
              <a:buSzPct val="100000"/>
              <a:buChar char="•"/>
            </a:pPr>
            <a:r>
              <a:rPr lang="en-US" sz="1300" dirty="0">
                <a:solidFill>
                  <a:schemeClr val="tx1"/>
                </a:solidFill>
              </a:rPr>
              <a:t>0 in a fully dark-adapted leaf; typically rises to ~1–3+ in high light</a:t>
            </a:r>
            <a:endParaRPr lang="en-US" sz="1300" dirty="0"/>
          </a:p>
        </p:txBody>
      </p:sp>
      <p:sp>
        <p:nvSpPr>
          <p:cNvPr id="11" name="card"/>
          <p:cNvSpPr/>
          <p:nvPr/>
        </p:nvSpPr>
        <p:spPr>
          <a:xfrm>
            <a:off x="548640" y="4617720"/>
            <a:ext cx="6035040" cy="1554480"/>
          </a:xfrm>
          <a:prstGeom prst="roundRect">
            <a:avLst>
              <a:gd name="adj" fmla="val 4706"/>
            </a:avLst>
          </a:prstGeom>
          <a:solidFill>
            <a:schemeClr val="bg2"/>
          </a:solidFill>
          <a:ln/>
          <a:effectLst>
            <a:outerShdw sx="100000" sy="100000" kx="0" ky="0" algn="bl" rotWithShape="0" blurRad="76200" dist="25400" dir="5400000">
              <a:srgbClr val="000000">
                <a:alpha val="14000"/>
              </a:srgbClr>
            </a:outerShdw>
          </a:effectLst>
        </p:spPr>
      </p:sp>
      <p:sp>
        <p:nvSpPr>
          <p:cNvPr id="12" name="icon circle"/>
          <p:cNvSpPr/>
          <p:nvPr/>
        </p:nvSpPr>
        <p:spPr>
          <a:xfrm>
            <a:off x="731520" y="4773168"/>
            <a:ext cx="420624" cy="420624"/>
          </a:xfrm>
          <a:prstGeom prst="ellipse">
            <a:avLst/>
          </a:prstGeom>
          <a:solidFill>
            <a:schemeClr val="accent2"/>
          </a:solidFill>
          <a:ln/>
        </p:spPr>
      </p:sp>
      <p:pic>
        <p:nvPicPr>
          <p:cNvPr id="13" name="Image 1" descr="ExclamationTriangle icon">    </p:cNvPr>
          <p:cNvPicPr>
            <a:picLocks noChangeAspect="1"/>
          </p:cNvPicPr>
          <p:nvPr/>
        </p:nvPicPr>
        <p:blipFill>
          <a:blip r:embed="rId2"/>
          <a:stretch>
            <a:fillRect/>
          </a:stretch>
        </p:blipFill>
        <p:spPr>
          <a:xfrm>
            <a:off x="840882" y="4882530"/>
            <a:ext cx="201900" cy="201900"/>
          </a:xfrm>
          <a:prstGeom prst="rect">
            <a:avLst/>
          </a:prstGeom>
        </p:spPr>
      </p:pic>
      <p:sp>
        <p:nvSpPr>
          <p:cNvPr id="14" name="Text 9"/>
          <p:cNvSpPr txBox="1"/>
          <p:nvPr/>
        </p:nvSpPr>
        <p:spPr>
          <a:xfrm>
            <a:off x="1261872" y="4754880"/>
            <a:ext cx="5184648" cy="457200"/>
          </a:xfrm>
          <a:prstGeom prst="rect">
            <a:avLst/>
          </a:prstGeom>
          <a:noFill/>
          <a:ln/>
        </p:spPr>
        <p:txBody>
          <a:bodyPr wrap="square" lIns="0" tIns="0" rIns="0" bIns="0" rtlCol="0" anchor="ctr"/>
          <a:lstStyle/>
          <a:p>
            <a:pPr indent="0" marL="0">
              <a:buNone/>
            </a:pPr>
            <a:r>
              <a:rPr lang="en-US" sz="1600" b="1" dirty="0">
                <a:solidFill>
                  <a:schemeClr val="tx2"/>
                </a:solidFill>
              </a:rPr>
              <a:t>Caution</a:t>
            </a:r>
            <a:endParaRPr lang="en-US" sz="1600" dirty="0"/>
          </a:p>
        </p:txBody>
      </p:sp>
      <p:sp>
        <p:nvSpPr>
          <p:cNvPr id="15" name="Text 10"/>
          <p:cNvSpPr txBox="1"/>
          <p:nvPr/>
        </p:nvSpPr>
        <p:spPr>
          <a:xfrm>
            <a:off x="731520" y="5303520"/>
            <a:ext cx="5669280" cy="77724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Needs a true F</a:t>
            </a:r>
            <a:r>
              <a:rPr lang="en-US" sz="1300" baseline="-40000" dirty="0">
                <a:solidFill>
                  <a:schemeClr val="tx1"/>
                </a:solidFill>
              </a:rPr>
              <a:t>m</a:t>
            </a:r>
            <a:r>
              <a:rPr lang="en-US" sz="1300" dirty="0">
                <a:solidFill>
                  <a:schemeClr val="tx1"/>
                </a:solidFill>
              </a:rPr>
              <a:t>: if dark-adapted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 is well below 0.83, treat NPQ with caution</a:t>
            </a:r>
            <a:endParaRPr lang="en-US" sz="1300" dirty="0"/>
          </a:p>
          <a:p>
            <a:pPr marL="177800" indent="-177800">
              <a:spcAft>
                <a:spcPts val="400"/>
              </a:spcAft>
              <a:buSzPct val="100000"/>
              <a:buChar char="•"/>
            </a:pPr>
            <a:r>
              <a:rPr lang="en-US" sz="1300" dirty="0">
                <a:solidFill>
                  <a:schemeClr val="tx1"/>
                </a:solidFill>
              </a:rPr>
              <a:t>Photoinhibited leaves have lower F</a:t>
            </a:r>
            <a:r>
              <a:rPr lang="en-US" sz="1300" baseline="-40000" dirty="0">
                <a:solidFill>
                  <a:schemeClr val="tx1"/>
                </a:solidFill>
              </a:rPr>
              <a:t>m</a:t>
            </a:r>
            <a:r>
              <a:rPr lang="en-US" sz="1300" dirty="0">
                <a:solidFill>
                  <a:schemeClr val="tx1"/>
                </a:solidFill>
              </a:rPr>
              <a:t> → NPQ underestimated → don't compare across different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endParaRPr lang="en-US" sz="1300" dirty="0"/>
          </a:p>
        </p:txBody>
      </p:sp>
      <p:sp>
        <p:nvSpPr>
          <p:cNvPr id="16" name="figure frame"/>
          <p:cNvSpPr/>
          <p:nvPr/>
        </p:nvSpPr>
        <p:spPr>
          <a:xfrm>
            <a:off x="6812280" y="1325880"/>
            <a:ext cx="4828032" cy="4343400"/>
          </a:xfrm>
          <a:prstGeom prst="roundRect">
            <a:avLst>
              <a:gd name="adj" fmla="val 1263"/>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17" name="Image 2" descr="Classic notation: Y = (Fm′−F)/Fm′, qP = (Fm′−F)/(Fm′−Fo′), qN = 1 − (Fm′−Fo′)/(Fm−Fo); ML, SP, AL, FR markers">    </p:cNvPr>
          <p:cNvPicPr>
            <a:picLocks noChangeAspect="1"/>
          </p:cNvPicPr>
          <p:nvPr/>
        </p:nvPicPr>
        <p:blipFill>
          <a:blip r:embed="rId3"/>
          <a:stretch>
            <a:fillRect/>
          </a:stretch>
        </p:blipFill>
        <p:spPr>
          <a:xfrm>
            <a:off x="7066282" y="1417320"/>
            <a:ext cx="4320029" cy="4160520"/>
          </a:xfrm>
          <a:prstGeom prst="rect">
            <a:avLst/>
          </a:prstGeom>
        </p:spPr>
      </p:pic>
      <p:sp>
        <p:nvSpPr>
          <p:cNvPr id="18" name="Text 12"/>
          <p:cNvSpPr txBox="1"/>
          <p:nvPr/>
        </p:nvSpPr>
        <p:spPr>
          <a:xfrm>
            <a:off x="6812280" y="5715000"/>
            <a:ext cx="4828032" cy="457200"/>
          </a:xfrm>
          <a:prstGeom prst="rect">
            <a:avLst/>
          </a:prstGeom>
          <a:noFill/>
          <a:ln/>
        </p:spPr>
        <p:txBody>
          <a:bodyPr wrap="square" lIns="0" tIns="0" rIns="0" bIns="0" rtlCol="0" anchor="t"/>
          <a:lstStyle/>
          <a:p>
            <a:pPr indent="0" marL="0">
              <a:buNone/>
            </a:pPr>
            <a:r>
              <a:rPr lang="en-US" sz="1100" i="1" dirty="0">
                <a:solidFill>
                  <a:schemeClr val="accent6"/>
                </a:solidFill>
              </a:rPr>
              <a:t>Classic notation: Y = (Fm′−F)/Fm′, qP = (Fm′−F)/(Fm′−Fo′), qN = 1 − (Fm′−Fo′)/(Fm−Fo); ML, SP, AL, FR markers</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Summary table of commonly used parameters</a:t>
            </a:r>
            <a:endParaRPr lang="en-US" sz="3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554480"/>
                <a:gridCol w="2011680"/>
                <a:gridCol w="2743200"/>
                <a:gridCol w="3867912"/>
                <a:gridCol w="914400"/>
              </a:tblGrid>
              <a:tr h="621792">
                <a:tc>
                  <a:txBody>
                    <a:bodyPr/>
                    <a:lstStyle/>
                    <a:p>
                      <a:pPr indent="0" marL="0">
                        <a:buNone/>
                      </a:pPr>
                      <a:r>
                        <a:rPr lang="en-US" sz="1400" b="1" dirty="0">
                          <a:solidFill>
                            <a:schemeClr val="bg1"/>
                          </a:solidFill>
                        </a:rPr>
                        <a:t>Parameter</a:t>
                      </a:r>
                      <a:endParaRPr lang="en-US" sz="14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Also known as</a:t>
                      </a:r>
                      <a:endParaRPr lang="en-US" sz="14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Formula</a:t>
                      </a:r>
                      <a:endParaRPr lang="en-US" sz="14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Description</a:t>
                      </a:r>
                      <a:endParaRPr lang="en-US" sz="14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Needs</a:t>
                      </a:r>
                      <a:endParaRPr lang="en-US" sz="14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r>
              <a:tr h="621792">
                <a:tc>
                  <a:txBody>
                    <a:bodyPr/>
                    <a:lstStyle/>
                    <a:p>
                      <a:pPr indent="0" marL="0">
                        <a:buNone/>
                      </a:pPr>
                      <a:r>
                        <a:rPr lang="en-US" sz="1300" b="1" dirty="0">
                          <a:solidFill>
                            <a:schemeClr val="tx2"/>
                          </a:solidFill>
                        </a:rPr>
                        <a:t>F</a:t>
                      </a:r>
                      <a:r>
                        <a:rPr lang="en-US" sz="1300" b="1" baseline="-40000" dirty="0">
                          <a:solidFill>
                            <a:schemeClr val="tx2"/>
                          </a:solidFill>
                        </a:rPr>
                        <a:t>v</a:t>
                      </a:r>
                      <a:r>
                        <a:rPr lang="en-US" sz="1300" b="1" dirty="0">
                          <a:solidFill>
                            <a:schemeClr val="tx2"/>
                          </a:solidFill>
                        </a:rPr>
                        <a:t>/F</a:t>
                      </a:r>
                      <a:r>
                        <a:rPr lang="en-US" sz="1300" b="1" baseline="-40000" dirty="0">
                          <a:solidFill>
                            <a:schemeClr val="tx2"/>
                          </a:solidFill>
                        </a:rPr>
                        <a:t>m</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a:t>
                      </a:r>
                      <a:r>
                        <a:rPr lang="en-US" sz="1300" baseline="-40000" dirty="0">
                          <a:solidFill>
                            <a:schemeClr val="tx1"/>
                          </a:solidFill>
                        </a:rPr>
                        <a:t>m</a:t>
                      </a:r>
                      <a:r>
                        <a:rPr lang="en-US" sz="1300" dirty="0">
                          <a:solidFill>
                            <a:schemeClr val="tx1"/>
                          </a:solidFill>
                        </a:rPr>
                        <a:t> − F</a:t>
                      </a:r>
                      <a:r>
                        <a:rPr lang="en-US" sz="1300" baseline="-40000" dirty="0">
                          <a:solidFill>
                            <a:schemeClr val="tx1"/>
                          </a:solidFill>
                        </a:rPr>
                        <a:t>o</a:t>
                      </a:r>
                      <a:r>
                        <a:rPr lang="en-US" sz="1300" dirty="0">
                          <a:solidFill>
                            <a:schemeClr val="tx1"/>
                          </a:solidFill>
                        </a:rPr>
                        <a:t>)/F</a:t>
                      </a:r>
                      <a:r>
                        <a:rPr lang="en-US" sz="1300" baseline="-40000" dirty="0">
                          <a:solidFill>
                            <a:schemeClr val="tx1"/>
                          </a:solidFill>
                        </a:rPr>
                        <a:t>m</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Maximum quantum efficiency of PSII photochemistry</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dark</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r>
              <a:tr h="621792">
                <a:tc>
                  <a:txBody>
                    <a:bodyPr/>
                    <a:lstStyle/>
                    <a:p>
                      <a:pPr indent="0" marL="0">
                        <a:buNone/>
                      </a:pPr>
                      <a:r>
                        <a:rPr lang="en-US" sz="1300" b="1" dirty="0">
                          <a:solidFill>
                            <a:schemeClr val="tx2"/>
                          </a:solidFill>
                        </a:rPr>
                        <a:t>F</a:t>
                      </a:r>
                      <a:r>
                        <a:rPr lang="en-US" sz="1300" b="1" baseline="-40000" dirty="0">
                          <a:solidFill>
                            <a:schemeClr val="tx2"/>
                          </a:solidFill>
                        </a:rPr>
                        <a:t>v</a:t>
                      </a:r>
                      <a:r>
                        <a:rPr lang="en-US" sz="1300" b="1" dirty="0">
                          <a:solidFill>
                            <a:schemeClr val="tx2"/>
                          </a:solidFill>
                        </a:rPr>
                        <a:t>′/F</a:t>
                      </a:r>
                      <a:r>
                        <a:rPr lang="en-US" sz="1300" b="1" baseline="-40000" dirty="0">
                          <a:solidFill>
                            <a:schemeClr val="tx2"/>
                          </a:solidFill>
                        </a:rPr>
                        <a:t>m</a:t>
                      </a:r>
                      <a:r>
                        <a:rPr lang="en-US" sz="1300" b="1" dirty="0">
                          <a:solidFill>
                            <a:schemeClr val="tx2"/>
                          </a:solidFill>
                        </a:rPr>
                        <a:t>′</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a:t>
                      </a:r>
                      <a:r>
                        <a:rPr lang="en-US" sz="1300" baseline="-40000" dirty="0">
                          <a:solidFill>
                            <a:schemeClr val="tx1"/>
                          </a:solidFill>
                        </a:rPr>
                        <a:t>m</a:t>
                      </a:r>
                      <a:r>
                        <a:rPr lang="en-US" sz="1300" dirty="0">
                          <a:solidFill>
                            <a:schemeClr val="tx1"/>
                          </a:solidFill>
                        </a:rPr>
                        <a:t>′ − F</a:t>
                      </a:r>
                      <a:r>
                        <a:rPr lang="en-US" sz="1300" baseline="-40000" dirty="0">
                          <a:solidFill>
                            <a:schemeClr val="tx1"/>
                          </a:solidFill>
                        </a:rPr>
                        <a:t>o</a:t>
                      </a:r>
                      <a:r>
                        <a:rPr lang="en-US" sz="1300" dirty="0">
                          <a:solidFill>
                            <a:schemeClr val="tx1"/>
                          </a:solidFill>
                        </a:rPr>
                        <a:t>′)/F</a:t>
                      </a:r>
                      <a:r>
                        <a:rPr lang="en-US" sz="1300" baseline="-40000" dirty="0">
                          <a:solidFill>
                            <a:schemeClr val="tx1"/>
                          </a:solidFill>
                        </a:rPr>
                        <a:t>m</a:t>
                      </a:r>
                      <a:r>
                        <a:rPr lang="en-US" sz="1300" dirty="0">
                          <a:solidFill>
                            <a:schemeClr val="tx1"/>
                          </a:solidFill>
                        </a:rPr>
                        <a:t>′</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Maximum efficiency of PSII in the light, if all centres were open</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5"/>
                          </a:solidFill>
                        </a:rPr>
                        <a:t>F</a:t>
                      </a:r>
                      <a:r>
                        <a:rPr lang="en-US" sz="1300" b="1" baseline="-40000" dirty="0">
                          <a:solidFill>
                            <a:schemeClr val="accent5"/>
                          </a:solidFill>
                        </a:rPr>
                        <a:t>o</a:t>
                      </a:r>
                      <a:r>
                        <a:rPr lang="en-US" sz="1300" b="1" dirty="0">
                          <a:solidFill>
                            <a:schemeClr val="accent5"/>
                          </a:solidFill>
                        </a:rPr>
                        <a:t>′</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r>
              <a:tr h="621792">
                <a:tc>
                  <a:txBody>
                    <a:bodyPr/>
                    <a:lstStyle/>
                    <a:p>
                      <a:pPr indent="0" marL="0">
                        <a:buNone/>
                      </a:pPr>
                      <a:r>
                        <a:rPr lang="en-US" sz="1300" b="1" dirty="0">
                          <a:solidFill>
                            <a:schemeClr val="tx2"/>
                          </a:solidFill>
                        </a:rPr>
                        <a:t>F</a:t>
                      </a:r>
                      <a:r>
                        <a:rPr lang="en-US" sz="1300" b="1" baseline="-40000" dirty="0">
                          <a:solidFill>
                            <a:schemeClr val="tx2"/>
                          </a:solidFill>
                        </a:rPr>
                        <a:t>q</a:t>
                      </a:r>
                      <a:r>
                        <a:rPr lang="en-US" sz="1300" b="1" dirty="0">
                          <a:solidFill>
                            <a:schemeClr val="tx2"/>
                          </a:solidFill>
                        </a:rPr>
                        <a:t>′/F</a:t>
                      </a:r>
                      <a:r>
                        <a:rPr lang="en-US" sz="1300" b="1" baseline="-40000" dirty="0">
                          <a:solidFill>
                            <a:schemeClr val="tx2"/>
                          </a:solidFill>
                        </a:rPr>
                        <a:t>m</a:t>
                      </a:r>
                      <a:r>
                        <a:rPr lang="en-US" sz="1300" b="1" dirty="0">
                          <a:solidFill>
                            <a:schemeClr val="tx2"/>
                          </a:solidFill>
                        </a:rPr>
                        <a:t>′</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Φ</a:t>
                      </a:r>
                      <a:r>
                        <a:rPr lang="en-US" sz="1300" baseline="-40000" dirty="0">
                          <a:solidFill>
                            <a:schemeClr val="tx1"/>
                          </a:solidFill>
                        </a:rPr>
                        <a:t>PSII</a:t>
                      </a:r>
                      <a:r>
                        <a:rPr lang="en-US" sz="1300" dirty="0">
                          <a:solidFill>
                            <a:schemeClr val="tx1"/>
                          </a:solidFill>
                        </a:rPr>
                        <a:t>, ΔF/F</a:t>
                      </a:r>
                      <a:r>
                        <a:rPr lang="en-US" sz="1300" baseline="-40000" dirty="0">
                          <a:solidFill>
                            <a:schemeClr val="tx1"/>
                          </a:solidFill>
                        </a:rPr>
                        <a:t>m</a:t>
                      </a:r>
                      <a:r>
                        <a:rPr lang="en-US" sz="1300" dirty="0">
                          <a:solidFill>
                            <a:schemeClr val="tx1"/>
                          </a:solidFill>
                        </a:rPr>
                        <a:t>′, Y(II)</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a:t>
                      </a:r>
                      <a:r>
                        <a:rPr lang="en-US" sz="1300" baseline="-40000" dirty="0">
                          <a:solidFill>
                            <a:schemeClr val="tx1"/>
                          </a:solidFill>
                        </a:rPr>
                        <a:t>m</a:t>
                      </a:r>
                      <a:r>
                        <a:rPr lang="en-US" sz="1300" dirty="0">
                          <a:solidFill>
                            <a:schemeClr val="tx1"/>
                          </a:solidFill>
                        </a:rPr>
                        <a:t>′ − F′)/F</a:t>
                      </a:r>
                      <a:r>
                        <a:rPr lang="en-US" sz="1300" baseline="-40000" dirty="0">
                          <a:solidFill>
                            <a:schemeClr val="tx1"/>
                          </a:solidFill>
                        </a:rPr>
                        <a:t>m</a:t>
                      </a:r>
                      <a:r>
                        <a:rPr lang="en-US" sz="1300" dirty="0">
                          <a:solidFill>
                            <a:schemeClr val="tx1"/>
                          </a:solidFill>
                        </a:rPr>
                        <a:t>′</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PSII operating efficiency: quantum efficiency of PSII electron transport in the light</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5"/>
                          </a:solidFill>
                        </a:rPr>
                        <a:t>—</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r>
              <a:tr h="621792">
                <a:tc>
                  <a:txBody>
                    <a:bodyPr/>
                    <a:lstStyle/>
                    <a:p>
                      <a:pPr indent="0" marL="0">
                        <a:buNone/>
                      </a:pPr>
                      <a:r>
                        <a:rPr lang="en-US" sz="1300" b="1" dirty="0">
                          <a:solidFill>
                            <a:schemeClr val="tx2"/>
                          </a:solidFill>
                        </a:rPr>
                        <a:t>F</a:t>
                      </a:r>
                      <a:r>
                        <a:rPr lang="en-US" sz="1300" b="1" baseline="-40000" dirty="0">
                          <a:solidFill>
                            <a:schemeClr val="tx2"/>
                          </a:solidFill>
                        </a:rPr>
                        <a:t>q</a:t>
                      </a:r>
                      <a:r>
                        <a:rPr lang="en-US" sz="1300" b="1" dirty="0">
                          <a:solidFill>
                            <a:schemeClr val="tx2"/>
                          </a:solidFill>
                        </a:rPr>
                        <a:t>′/F</a:t>
                      </a:r>
                      <a:r>
                        <a:rPr lang="en-US" sz="1300" b="1" baseline="-40000" dirty="0">
                          <a:solidFill>
                            <a:schemeClr val="tx2"/>
                          </a:solidFill>
                        </a:rPr>
                        <a:t>v</a:t>
                      </a:r>
                      <a:r>
                        <a:rPr lang="en-US" sz="1300" b="1" dirty="0">
                          <a:solidFill>
                            <a:schemeClr val="tx2"/>
                          </a:solidFill>
                        </a:rPr>
                        <a:t>′</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qP</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a:t>
                      </a:r>
                      <a:r>
                        <a:rPr lang="en-US" sz="1300" baseline="-40000" dirty="0">
                          <a:solidFill>
                            <a:schemeClr val="tx1"/>
                          </a:solidFill>
                        </a:rPr>
                        <a:t>m</a:t>
                      </a:r>
                      <a:r>
                        <a:rPr lang="en-US" sz="1300" dirty="0">
                          <a:solidFill>
                            <a:schemeClr val="tx1"/>
                          </a:solidFill>
                        </a:rPr>
                        <a:t>′ − F′)/(F</a:t>
                      </a:r>
                      <a:r>
                        <a:rPr lang="en-US" sz="1300" baseline="-40000" dirty="0">
                          <a:solidFill>
                            <a:schemeClr val="tx1"/>
                          </a:solidFill>
                        </a:rPr>
                        <a:t>m</a:t>
                      </a:r>
                      <a:r>
                        <a:rPr lang="en-US" sz="1300" dirty="0">
                          <a:solidFill>
                            <a:schemeClr val="tx1"/>
                          </a:solidFill>
                        </a:rPr>
                        <a:t>′ − F</a:t>
                      </a:r>
                      <a:r>
                        <a:rPr lang="en-US" sz="1300" baseline="-40000" dirty="0">
                          <a:solidFill>
                            <a:schemeClr val="tx1"/>
                          </a:solidFill>
                        </a:rPr>
                        <a:t>o</a:t>
                      </a:r>
                      <a:r>
                        <a:rPr lang="en-US" sz="1300" dirty="0">
                          <a:solidFill>
                            <a:schemeClr val="tx1"/>
                          </a:solidFill>
                        </a:rPr>
                        <a:t>′)</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Photochemical quenching; non-linear with fraction of open centres (see qL)</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5"/>
                          </a:solidFill>
                        </a:rPr>
                        <a:t>F</a:t>
                      </a:r>
                      <a:r>
                        <a:rPr lang="en-US" sz="1300" b="1" baseline="-40000" dirty="0">
                          <a:solidFill>
                            <a:schemeClr val="accent5"/>
                          </a:solidFill>
                        </a:rPr>
                        <a:t>o</a:t>
                      </a:r>
                      <a:r>
                        <a:rPr lang="en-US" sz="1300" b="1" dirty="0">
                          <a:solidFill>
                            <a:schemeClr val="accent5"/>
                          </a:solidFill>
                        </a:rPr>
                        <a:t>′</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r>
              <a:tr h="621792">
                <a:tc>
                  <a:txBody>
                    <a:bodyPr/>
                    <a:lstStyle/>
                    <a:p>
                      <a:pPr indent="0" marL="0">
                        <a:buNone/>
                      </a:pPr>
                      <a:r>
                        <a:rPr lang="en-US" sz="1300" b="1" dirty="0">
                          <a:solidFill>
                            <a:schemeClr val="tx2"/>
                          </a:solidFill>
                        </a:rPr>
                        <a:t>NPQ</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a:t>
                      </a:r>
                      <a:r>
                        <a:rPr lang="en-US" sz="1300" baseline="-40000" dirty="0">
                          <a:solidFill>
                            <a:schemeClr val="tx1"/>
                          </a:solidFill>
                        </a:rPr>
                        <a:t>m</a:t>
                      </a:r>
                      <a:r>
                        <a:rPr lang="en-US" sz="1300" dirty="0">
                          <a:solidFill>
                            <a:schemeClr val="tx1"/>
                          </a:solidFill>
                        </a:rPr>
                        <a:t> − F</a:t>
                      </a:r>
                      <a:r>
                        <a:rPr lang="en-US" sz="1300" baseline="-40000" dirty="0">
                          <a:solidFill>
                            <a:schemeClr val="tx1"/>
                          </a:solidFill>
                        </a:rPr>
                        <a:t>m</a:t>
                      </a:r>
                      <a:r>
                        <a:rPr lang="en-US" sz="1300" dirty="0">
                          <a:solidFill>
                            <a:schemeClr val="tx1"/>
                          </a:solidFill>
                        </a:rPr>
                        <a:t>′)/F</a:t>
                      </a:r>
                      <a:r>
                        <a:rPr lang="en-US" sz="1300" baseline="-40000" dirty="0">
                          <a:solidFill>
                            <a:schemeClr val="tx1"/>
                          </a:solidFill>
                        </a:rPr>
                        <a:t>m</a:t>
                      </a:r>
                      <a:r>
                        <a:rPr lang="en-US" sz="1300" dirty="0">
                          <a:solidFill>
                            <a:schemeClr val="tx1"/>
                          </a:solidFill>
                        </a:rPr>
                        <a:t>′</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Non-photochemical quenching: rate constant for heat loss from PSII</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dark</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r>
              <a:tr h="621792">
                <a:tc>
                  <a:txBody>
                    <a:bodyPr/>
                    <a:lstStyle/>
                    <a:p>
                      <a:pPr indent="0" marL="0">
                        <a:buNone/>
                      </a:pPr>
                      <a:r>
                        <a:rPr lang="en-US" sz="1300" b="1" dirty="0">
                          <a:solidFill>
                            <a:schemeClr val="tx2"/>
                          </a:solidFill>
                        </a:rPr>
                        <a:t>qL</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a:t>
                      </a:r>
                      <a:r>
                        <a:rPr lang="en-US" sz="1300" baseline="-40000" dirty="0">
                          <a:solidFill>
                            <a:schemeClr val="tx1"/>
                          </a:solidFill>
                        </a:rPr>
                        <a:t>q</a:t>
                      </a:r>
                      <a:r>
                        <a:rPr lang="en-US" sz="1300" dirty="0">
                          <a:solidFill>
                            <a:schemeClr val="tx1"/>
                          </a:solidFill>
                        </a:rPr>
                        <a:t>′/F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o</a:t>
                      </a:r>
                      <a:r>
                        <a:rPr lang="en-US" sz="1300" dirty="0">
                          <a:solidFill>
                            <a:schemeClr val="tx1"/>
                          </a:solidFill>
                        </a:rPr>
                        <a:t>′/F′)</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Estimates the fraction of open PSII centres</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5"/>
                          </a:solidFill>
                        </a:rPr>
                        <a:t>F</a:t>
                      </a:r>
                      <a:r>
                        <a:rPr lang="en-US" sz="1300" b="1" baseline="-40000" dirty="0">
                          <a:solidFill>
                            <a:schemeClr val="accent5"/>
                          </a:solidFill>
                        </a:rPr>
                        <a:t>o</a:t>
                      </a:r>
                      <a:r>
                        <a:rPr lang="en-US" sz="1300" b="1" dirty="0">
                          <a:solidFill>
                            <a:schemeClr val="accent5"/>
                          </a:solidFill>
                        </a:rPr>
                        <a:t>′</a:t>
                      </a:r>
                      <a:endParaRPr lang="en-US" sz="1200" dirty="0"/>
                    </a:p>
                  </a:txBody>
                  <a:tcPr marL="91440" marR="91440" marT="45720" marB="4572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548640" y="5852160"/>
            <a:ext cx="10972800" cy="365760"/>
          </a:xfrm>
          <a:prstGeom prst="rect">
            <a:avLst/>
          </a:prstGeom>
          <a:noFill/>
          <a:ln/>
        </p:spPr>
        <p:txBody>
          <a:bodyPr wrap="square" lIns="508" tIns="508" rIns="508" bIns="508" rtlCol="0" anchor="t"/>
          <a:lstStyle/>
          <a:p>
            <a:pPr indent="0" marL="0">
              <a:spcAft>
                <a:spcPts val="600"/>
              </a:spcAft>
              <a:buNone/>
            </a:pPr>
            <a:r>
              <a:rPr lang="en-US" sz="1300" dirty="0">
                <a:solidFill>
                  <a:schemeClr val="accent6"/>
                </a:solidFill>
              </a:rPr>
              <a:t>'Needs': </a:t>
            </a:r>
            <a:r>
              <a:rPr lang="en-US" sz="1300" b="1" dirty="0">
                <a:solidFill>
                  <a:schemeClr val="accent6"/>
                </a:solidFill>
              </a:rPr>
              <a:t>dark</a:t>
            </a:r>
            <a:r>
              <a:rPr lang="en-US" sz="1300" dirty="0">
                <a:solidFill>
                  <a:schemeClr val="accent6"/>
                </a:solidFill>
              </a:rPr>
              <a:t> = requires dark-adapted F</a:t>
            </a:r>
            <a:r>
              <a:rPr lang="en-US" sz="1300" baseline="-40000" dirty="0">
                <a:solidFill>
                  <a:schemeClr val="accent6"/>
                </a:solidFill>
              </a:rPr>
              <a:t>o</a:t>
            </a:r>
            <a:r>
              <a:rPr lang="en-US" sz="1300" dirty="0">
                <a:solidFill>
                  <a:schemeClr val="accent6"/>
                </a:solidFill>
              </a:rPr>
              <a:t>/F</a:t>
            </a:r>
            <a:r>
              <a:rPr lang="en-US" sz="1300" baseline="-40000" dirty="0">
                <a:solidFill>
                  <a:schemeClr val="accent6"/>
                </a:solidFill>
              </a:rPr>
              <a:t>m</a:t>
            </a:r>
            <a:r>
              <a:rPr lang="en-US" sz="1300" dirty="0">
                <a:solidFill>
                  <a:schemeClr val="accent6"/>
                </a:solidFill>
              </a:rPr>
              <a:t>;  </a:t>
            </a:r>
            <a:r>
              <a:rPr lang="en-US" sz="1300" b="1" dirty="0">
                <a:solidFill>
                  <a:schemeClr val="accent6"/>
                </a:solidFill>
              </a:rPr>
              <a:t>F</a:t>
            </a:r>
            <a:r>
              <a:rPr lang="en-US" sz="1300" b="1" baseline="-40000" dirty="0">
                <a:solidFill>
                  <a:schemeClr val="accent6"/>
                </a:solidFill>
              </a:rPr>
              <a:t>o</a:t>
            </a:r>
            <a:r>
              <a:rPr lang="en-US" sz="1300" b="1" dirty="0">
                <a:solidFill>
                  <a:schemeClr val="accent6"/>
                </a:solidFill>
              </a:rPr>
              <a:t>′</a:t>
            </a:r>
            <a:r>
              <a:rPr lang="en-US" sz="1300" dirty="0">
                <a:solidFill>
                  <a:schemeClr val="accent6"/>
                </a:solidFill>
              </a:rPr>
              <a:t> = requires measured (far-red) or calculated F</a:t>
            </a:r>
            <a:r>
              <a:rPr lang="en-US" sz="1300" baseline="-40000" dirty="0">
                <a:solidFill>
                  <a:schemeClr val="accent6"/>
                </a:solidFill>
              </a:rPr>
              <a:t>o</a:t>
            </a:r>
            <a:r>
              <a:rPr lang="en-US" sz="1300" dirty="0">
                <a:solidFill>
                  <a:schemeClr val="accent6"/>
                </a:solidFill>
              </a:rPr>
              <a:t>′.</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Worked example: calculate every parameter</a:t>
            </a:r>
            <a:endParaRPr lang="en-US" sz="3200" dirty="0"/>
          </a:p>
        </p:txBody>
      </p:sp>
      <p:sp>
        <p:nvSpPr>
          <p:cNvPr id="4" name="Text 1"/>
          <p:cNvSpPr txBox="1"/>
          <p:nvPr/>
        </p:nvSpPr>
        <p:spPr>
          <a:xfrm>
            <a:off x="548640" y="1325880"/>
            <a:ext cx="3657600" cy="320040"/>
          </a:xfrm>
          <a:prstGeom prst="rect">
            <a:avLst/>
          </a:prstGeom>
          <a:noFill/>
          <a:ln/>
        </p:spPr>
        <p:txBody>
          <a:bodyPr wrap="square" lIns="0" tIns="0" rIns="0" bIns="0" rtlCol="0" anchor="ctr"/>
          <a:lstStyle/>
          <a:p>
            <a:pPr algn="l" indent="0" marL="0">
              <a:buNone/>
            </a:pPr>
            <a:r>
              <a:rPr lang="en-US" sz="1500" b="1" dirty="0">
                <a:solidFill>
                  <a:schemeClr val="tx2"/>
                </a:solidFill>
              </a:rPr>
              <a:t>Readings from one leaf (arbitrary units)</a:t>
            </a:r>
            <a:endParaRPr lang="en-US" sz="1500" dirty="0"/>
          </a:p>
        </p:txBody>
      </p:sp>
      <p:sp>
        <p:nvSpPr>
          <p:cNvPr id="5" name="card"/>
          <p:cNvSpPr/>
          <p:nvPr/>
        </p:nvSpPr>
        <p:spPr>
          <a:xfrm>
            <a:off x="548640" y="1737360"/>
            <a:ext cx="1645920" cy="960120"/>
          </a:xfrm>
          <a:prstGeom prst="roundRect">
            <a:avLst>
              <a:gd name="adj" fmla="val 7619"/>
            </a:avLst>
          </a:prstGeom>
          <a:solidFill>
            <a:schemeClr val="tx2"/>
          </a:solidFill>
          <a:ln/>
          <a:effectLst>
            <a:outerShdw sx="100000" sy="100000" kx="0" ky="0" algn="bl" rotWithShape="0" blurRad="76200" dist="25400" dir="5400000">
              <a:srgbClr val="000000">
                <a:alpha val="14000"/>
              </a:srgbClr>
            </a:outerShdw>
          </a:effectLst>
        </p:spPr>
      </p:sp>
      <p:sp>
        <p:nvSpPr>
          <p:cNvPr id="6" name="Text 3"/>
          <p:cNvSpPr txBox="1"/>
          <p:nvPr/>
        </p:nvSpPr>
        <p:spPr>
          <a:xfrm>
            <a:off x="548640" y="1810512"/>
            <a:ext cx="1645920" cy="365760"/>
          </a:xfrm>
          <a:prstGeom prst="rect">
            <a:avLst/>
          </a:prstGeom>
          <a:noFill/>
          <a:ln/>
        </p:spPr>
        <p:txBody>
          <a:bodyPr wrap="square" lIns="0" tIns="0" rIns="0" bIns="0" rtlCol="0" anchor="ctr"/>
          <a:lstStyle/>
          <a:p>
            <a:pPr algn="ctr" indent="0" marL="0">
              <a:buNone/>
            </a:pPr>
            <a:r>
              <a:rPr lang="en-US" sz="1600" b="1" dirty="0">
                <a:solidFill>
                  <a:schemeClr val="bg1"/>
                </a:solidFill>
              </a:rPr>
              <a:t>F</a:t>
            </a:r>
            <a:r>
              <a:rPr lang="en-US" sz="1600" b="1" baseline="-40000" dirty="0">
                <a:solidFill>
                  <a:schemeClr val="bg1"/>
                </a:solidFill>
              </a:rPr>
              <a:t>o</a:t>
            </a:r>
            <a:endParaRPr lang="en-US" sz="1600" dirty="0"/>
          </a:p>
        </p:txBody>
      </p:sp>
      <p:sp>
        <p:nvSpPr>
          <p:cNvPr id="7" name="Text 4"/>
          <p:cNvSpPr txBox="1"/>
          <p:nvPr/>
        </p:nvSpPr>
        <p:spPr>
          <a:xfrm>
            <a:off x="548640" y="2148840"/>
            <a:ext cx="1645920" cy="457200"/>
          </a:xfrm>
          <a:prstGeom prst="rect">
            <a:avLst/>
          </a:prstGeom>
          <a:noFill/>
          <a:ln/>
        </p:spPr>
        <p:txBody>
          <a:bodyPr wrap="square" lIns="0" tIns="0" rIns="0" bIns="0" rtlCol="0" anchor="ctr"/>
          <a:lstStyle/>
          <a:p>
            <a:pPr algn="ctr" indent="0" marL="0">
              <a:buNone/>
            </a:pPr>
            <a:r>
              <a:rPr lang="en-US" sz="2200" b="1" dirty="0">
                <a:solidFill>
                  <a:schemeClr val="bg1"/>
                </a:solidFill>
              </a:rPr>
              <a:t>200</a:t>
            </a:r>
            <a:endParaRPr lang="en-US" sz="2200" dirty="0"/>
          </a:p>
        </p:txBody>
      </p:sp>
      <p:sp>
        <p:nvSpPr>
          <p:cNvPr id="8" name="card"/>
          <p:cNvSpPr/>
          <p:nvPr/>
        </p:nvSpPr>
        <p:spPr>
          <a:xfrm>
            <a:off x="2331720" y="1737360"/>
            <a:ext cx="1645920" cy="960120"/>
          </a:xfrm>
          <a:prstGeom prst="roundRect">
            <a:avLst>
              <a:gd name="adj" fmla="val 7619"/>
            </a:avLst>
          </a:prstGeom>
          <a:solidFill>
            <a:schemeClr val="tx2"/>
          </a:solidFill>
          <a:ln/>
          <a:effectLst>
            <a:outerShdw sx="100000" sy="100000" kx="0" ky="0" algn="bl" rotWithShape="0" blurRad="76200" dist="25400" dir="5400000">
              <a:srgbClr val="000000">
                <a:alpha val="14000"/>
              </a:srgbClr>
            </a:outerShdw>
          </a:effectLst>
        </p:spPr>
      </p:sp>
      <p:sp>
        <p:nvSpPr>
          <p:cNvPr id="9" name="Text 6"/>
          <p:cNvSpPr txBox="1"/>
          <p:nvPr/>
        </p:nvSpPr>
        <p:spPr>
          <a:xfrm>
            <a:off x="2331720" y="1810512"/>
            <a:ext cx="1645920" cy="365760"/>
          </a:xfrm>
          <a:prstGeom prst="rect">
            <a:avLst/>
          </a:prstGeom>
          <a:noFill/>
          <a:ln/>
        </p:spPr>
        <p:txBody>
          <a:bodyPr wrap="square" lIns="0" tIns="0" rIns="0" bIns="0" rtlCol="0" anchor="ctr"/>
          <a:lstStyle/>
          <a:p>
            <a:pPr algn="ctr" indent="0" marL="0">
              <a:buNone/>
            </a:pPr>
            <a:r>
              <a:rPr lang="en-US" sz="1600" b="1" dirty="0">
                <a:solidFill>
                  <a:schemeClr val="bg1"/>
                </a:solidFill>
              </a:rPr>
              <a:t>F</a:t>
            </a:r>
            <a:r>
              <a:rPr lang="en-US" sz="1600" b="1" baseline="-40000" dirty="0">
                <a:solidFill>
                  <a:schemeClr val="bg1"/>
                </a:solidFill>
              </a:rPr>
              <a:t>m</a:t>
            </a:r>
            <a:endParaRPr lang="en-US" sz="1600" dirty="0"/>
          </a:p>
        </p:txBody>
      </p:sp>
      <p:sp>
        <p:nvSpPr>
          <p:cNvPr id="10" name="Text 7"/>
          <p:cNvSpPr txBox="1"/>
          <p:nvPr/>
        </p:nvSpPr>
        <p:spPr>
          <a:xfrm>
            <a:off x="2331720" y="2148840"/>
            <a:ext cx="1645920" cy="457200"/>
          </a:xfrm>
          <a:prstGeom prst="rect">
            <a:avLst/>
          </a:prstGeom>
          <a:noFill/>
          <a:ln/>
        </p:spPr>
        <p:txBody>
          <a:bodyPr wrap="square" lIns="0" tIns="0" rIns="0" bIns="0" rtlCol="0" anchor="ctr"/>
          <a:lstStyle/>
          <a:p>
            <a:pPr algn="ctr" indent="0" marL="0">
              <a:buNone/>
            </a:pPr>
            <a:r>
              <a:rPr lang="en-US" sz="2200" b="1" dirty="0">
                <a:solidFill>
                  <a:schemeClr val="bg1"/>
                </a:solidFill>
              </a:rPr>
              <a:t>1000</a:t>
            </a:r>
            <a:endParaRPr lang="en-US" sz="2200" dirty="0"/>
          </a:p>
        </p:txBody>
      </p:sp>
      <p:sp>
        <p:nvSpPr>
          <p:cNvPr id="11" name="card"/>
          <p:cNvSpPr/>
          <p:nvPr/>
        </p:nvSpPr>
        <p:spPr>
          <a:xfrm>
            <a:off x="548640" y="2834640"/>
            <a:ext cx="1645920" cy="960120"/>
          </a:xfrm>
          <a:prstGeom prst="roundRect">
            <a:avLst>
              <a:gd name="adj" fmla="val 7619"/>
            </a:avLst>
          </a:prstGeom>
          <a:solidFill>
            <a:schemeClr val="accent3"/>
          </a:solidFill>
          <a:ln/>
          <a:effectLst>
            <a:outerShdw sx="100000" sy="100000" kx="0" ky="0" algn="bl" rotWithShape="0" blurRad="76200" dist="25400" dir="5400000">
              <a:srgbClr val="000000">
                <a:alpha val="14000"/>
              </a:srgbClr>
            </a:outerShdw>
          </a:effectLst>
        </p:spPr>
      </p:sp>
      <p:sp>
        <p:nvSpPr>
          <p:cNvPr id="12" name="Text 9"/>
          <p:cNvSpPr txBox="1"/>
          <p:nvPr/>
        </p:nvSpPr>
        <p:spPr>
          <a:xfrm>
            <a:off x="548640" y="2907792"/>
            <a:ext cx="1645920" cy="365760"/>
          </a:xfrm>
          <a:prstGeom prst="rect">
            <a:avLst/>
          </a:prstGeom>
          <a:noFill/>
          <a:ln/>
        </p:spPr>
        <p:txBody>
          <a:bodyPr wrap="square" lIns="0" tIns="0" rIns="0" bIns="0" rtlCol="0" anchor="ctr"/>
          <a:lstStyle/>
          <a:p>
            <a:pPr algn="ctr" indent="0" marL="0">
              <a:buNone/>
            </a:pPr>
            <a:r>
              <a:rPr lang="en-US" sz="1600" b="1" dirty="0">
                <a:solidFill>
                  <a:schemeClr val="tx1"/>
                </a:solidFill>
              </a:rPr>
              <a:t>F′</a:t>
            </a:r>
            <a:endParaRPr lang="en-US" sz="1600" dirty="0"/>
          </a:p>
        </p:txBody>
      </p:sp>
      <p:sp>
        <p:nvSpPr>
          <p:cNvPr id="13" name="Text 10"/>
          <p:cNvSpPr txBox="1"/>
          <p:nvPr/>
        </p:nvSpPr>
        <p:spPr>
          <a:xfrm>
            <a:off x="548640" y="3246120"/>
            <a:ext cx="1645920" cy="457200"/>
          </a:xfrm>
          <a:prstGeom prst="rect">
            <a:avLst/>
          </a:prstGeom>
          <a:noFill/>
          <a:ln/>
        </p:spPr>
        <p:txBody>
          <a:bodyPr wrap="square" lIns="0" tIns="0" rIns="0" bIns="0" rtlCol="0" anchor="ctr"/>
          <a:lstStyle/>
          <a:p>
            <a:pPr algn="ctr" indent="0" marL="0">
              <a:buNone/>
            </a:pPr>
            <a:r>
              <a:rPr lang="en-US" sz="2200" b="1" dirty="0">
                <a:solidFill>
                  <a:schemeClr val="tx1"/>
                </a:solidFill>
              </a:rPr>
              <a:t>400</a:t>
            </a:r>
            <a:endParaRPr lang="en-US" sz="2200" dirty="0"/>
          </a:p>
        </p:txBody>
      </p:sp>
      <p:sp>
        <p:nvSpPr>
          <p:cNvPr id="14" name="card"/>
          <p:cNvSpPr/>
          <p:nvPr/>
        </p:nvSpPr>
        <p:spPr>
          <a:xfrm>
            <a:off x="2331720" y="2834640"/>
            <a:ext cx="1645920" cy="960120"/>
          </a:xfrm>
          <a:prstGeom prst="roundRect">
            <a:avLst>
              <a:gd name="adj" fmla="val 7619"/>
            </a:avLst>
          </a:prstGeom>
          <a:solidFill>
            <a:schemeClr val="accent3"/>
          </a:solidFill>
          <a:ln/>
          <a:effectLst>
            <a:outerShdw sx="100000" sy="100000" kx="0" ky="0" algn="bl" rotWithShape="0" blurRad="76200" dist="25400" dir="5400000">
              <a:srgbClr val="000000">
                <a:alpha val="14000"/>
              </a:srgbClr>
            </a:outerShdw>
          </a:effectLst>
        </p:spPr>
      </p:sp>
      <p:sp>
        <p:nvSpPr>
          <p:cNvPr id="15" name="Text 12"/>
          <p:cNvSpPr txBox="1"/>
          <p:nvPr/>
        </p:nvSpPr>
        <p:spPr>
          <a:xfrm>
            <a:off x="2331720" y="2907792"/>
            <a:ext cx="1645920" cy="365760"/>
          </a:xfrm>
          <a:prstGeom prst="rect">
            <a:avLst/>
          </a:prstGeom>
          <a:noFill/>
          <a:ln/>
        </p:spPr>
        <p:txBody>
          <a:bodyPr wrap="square" lIns="0" tIns="0" rIns="0" bIns="0" rtlCol="0" anchor="ctr"/>
          <a:lstStyle/>
          <a:p>
            <a:pPr algn="ctr" indent="0" marL="0">
              <a:buNone/>
            </a:pPr>
            <a:r>
              <a:rPr lang="en-US" sz="1600" b="1" dirty="0">
                <a:solidFill>
                  <a:schemeClr val="tx1"/>
                </a:solidFill>
              </a:rPr>
              <a:t>F</a:t>
            </a:r>
            <a:r>
              <a:rPr lang="en-US" sz="1600" b="1" baseline="-40000" dirty="0">
                <a:solidFill>
                  <a:schemeClr val="tx1"/>
                </a:solidFill>
              </a:rPr>
              <a:t>m</a:t>
            </a:r>
            <a:r>
              <a:rPr lang="en-US" sz="1600" b="1" dirty="0">
                <a:solidFill>
                  <a:schemeClr val="tx1"/>
                </a:solidFill>
              </a:rPr>
              <a:t>′</a:t>
            </a:r>
            <a:endParaRPr lang="en-US" sz="1600" dirty="0"/>
          </a:p>
        </p:txBody>
      </p:sp>
      <p:sp>
        <p:nvSpPr>
          <p:cNvPr id="16" name="Text 13"/>
          <p:cNvSpPr txBox="1"/>
          <p:nvPr/>
        </p:nvSpPr>
        <p:spPr>
          <a:xfrm>
            <a:off x="2331720" y="3246120"/>
            <a:ext cx="1645920" cy="457200"/>
          </a:xfrm>
          <a:prstGeom prst="rect">
            <a:avLst/>
          </a:prstGeom>
          <a:noFill/>
          <a:ln/>
        </p:spPr>
        <p:txBody>
          <a:bodyPr wrap="square" lIns="0" tIns="0" rIns="0" bIns="0" rtlCol="0" anchor="ctr"/>
          <a:lstStyle/>
          <a:p>
            <a:pPr algn="ctr" indent="0" marL="0">
              <a:buNone/>
            </a:pPr>
            <a:r>
              <a:rPr lang="en-US" sz="2200" b="1" dirty="0">
                <a:solidFill>
                  <a:schemeClr val="tx1"/>
                </a:solidFill>
              </a:rPr>
              <a:t>600</a:t>
            </a:r>
            <a:endParaRPr lang="en-US" sz="2200" dirty="0"/>
          </a:p>
        </p:txBody>
      </p:sp>
      <p:sp>
        <p:nvSpPr>
          <p:cNvPr id="17" name="card"/>
          <p:cNvSpPr/>
          <p:nvPr/>
        </p:nvSpPr>
        <p:spPr>
          <a:xfrm>
            <a:off x="548640" y="3931920"/>
            <a:ext cx="1645920" cy="960120"/>
          </a:xfrm>
          <a:prstGeom prst="roundRect">
            <a:avLst>
              <a:gd name="adj" fmla="val 7619"/>
            </a:avLst>
          </a:prstGeom>
          <a:solidFill>
            <a:schemeClr val="accent3"/>
          </a:solidFill>
          <a:ln/>
          <a:effectLst>
            <a:outerShdw sx="100000" sy="100000" kx="0" ky="0" algn="bl" rotWithShape="0" blurRad="76200" dist="25400" dir="5400000">
              <a:srgbClr val="000000">
                <a:alpha val="14000"/>
              </a:srgbClr>
            </a:outerShdw>
          </a:effectLst>
        </p:spPr>
      </p:sp>
      <p:sp>
        <p:nvSpPr>
          <p:cNvPr id="18" name="Text 15"/>
          <p:cNvSpPr txBox="1"/>
          <p:nvPr/>
        </p:nvSpPr>
        <p:spPr>
          <a:xfrm>
            <a:off x="548640" y="4005072"/>
            <a:ext cx="1645920" cy="365760"/>
          </a:xfrm>
          <a:prstGeom prst="rect">
            <a:avLst/>
          </a:prstGeom>
          <a:noFill/>
          <a:ln/>
        </p:spPr>
        <p:txBody>
          <a:bodyPr wrap="square" lIns="0" tIns="0" rIns="0" bIns="0" rtlCol="0" anchor="ctr"/>
          <a:lstStyle/>
          <a:p>
            <a:pPr algn="ctr" indent="0" marL="0">
              <a:buNone/>
            </a:pPr>
            <a:r>
              <a:rPr lang="en-US" sz="1600" b="1" dirty="0">
                <a:solidFill>
                  <a:schemeClr val="tx1"/>
                </a:solidFill>
              </a:rPr>
              <a:t>F</a:t>
            </a:r>
            <a:r>
              <a:rPr lang="en-US" sz="1600" b="1" baseline="-40000" dirty="0">
                <a:solidFill>
                  <a:schemeClr val="tx1"/>
                </a:solidFill>
              </a:rPr>
              <a:t>o</a:t>
            </a:r>
            <a:r>
              <a:rPr lang="en-US" sz="1600" b="1" dirty="0">
                <a:solidFill>
                  <a:schemeClr val="tx1"/>
                </a:solidFill>
              </a:rPr>
              <a:t>′</a:t>
            </a:r>
            <a:endParaRPr lang="en-US" sz="1600" dirty="0"/>
          </a:p>
        </p:txBody>
      </p:sp>
      <p:sp>
        <p:nvSpPr>
          <p:cNvPr id="19" name="Text 16"/>
          <p:cNvSpPr txBox="1"/>
          <p:nvPr/>
        </p:nvSpPr>
        <p:spPr>
          <a:xfrm>
            <a:off x="548640" y="4343400"/>
            <a:ext cx="1645920" cy="457200"/>
          </a:xfrm>
          <a:prstGeom prst="rect">
            <a:avLst/>
          </a:prstGeom>
          <a:noFill/>
          <a:ln/>
        </p:spPr>
        <p:txBody>
          <a:bodyPr wrap="square" lIns="0" tIns="0" rIns="0" bIns="0" rtlCol="0" anchor="ctr"/>
          <a:lstStyle/>
          <a:p>
            <a:pPr algn="ctr" indent="0" marL="0">
              <a:buNone/>
            </a:pPr>
            <a:r>
              <a:rPr lang="en-US" sz="2200" b="1" dirty="0">
                <a:solidFill>
                  <a:schemeClr val="tx1"/>
                </a:solidFill>
              </a:rPr>
              <a:t>180</a:t>
            </a:r>
            <a:endParaRPr lang="en-US" sz="2200" dirty="0"/>
          </a:p>
        </p:txBody>
      </p:sp>
      <p:sp>
        <p:nvSpPr>
          <p:cNvPr id="20" name="card"/>
          <p:cNvSpPr/>
          <p:nvPr/>
        </p:nvSpPr>
        <p:spPr>
          <a:xfrm>
            <a:off x="2331720" y="3931920"/>
            <a:ext cx="1645920" cy="960120"/>
          </a:xfrm>
          <a:prstGeom prst="roundRect">
            <a:avLst>
              <a:gd name="adj" fmla="val 7619"/>
            </a:avLst>
          </a:prstGeom>
          <a:solidFill>
            <a:schemeClr val="accent3"/>
          </a:solidFill>
          <a:ln/>
          <a:effectLst>
            <a:outerShdw sx="100000" sy="100000" kx="0" ky="0" algn="bl" rotWithShape="0" blurRad="76200" dist="25400" dir="5400000">
              <a:srgbClr val="000000">
                <a:alpha val="14000"/>
              </a:srgbClr>
            </a:outerShdw>
          </a:effectLst>
        </p:spPr>
      </p:sp>
      <p:sp>
        <p:nvSpPr>
          <p:cNvPr id="21" name="Text 18"/>
          <p:cNvSpPr txBox="1"/>
          <p:nvPr/>
        </p:nvSpPr>
        <p:spPr>
          <a:xfrm>
            <a:off x="2331720" y="4005072"/>
            <a:ext cx="1645920" cy="365760"/>
          </a:xfrm>
          <a:prstGeom prst="rect">
            <a:avLst/>
          </a:prstGeom>
          <a:noFill/>
          <a:ln/>
        </p:spPr>
        <p:txBody>
          <a:bodyPr wrap="square" lIns="0" tIns="0" rIns="0" bIns="0" rtlCol="0" anchor="ctr"/>
          <a:lstStyle/>
          <a:p>
            <a:pPr algn="ctr" indent="0" marL="0">
              <a:buNone/>
            </a:pPr>
            <a:r>
              <a:rPr lang="en-US" sz="1600" b="1" dirty="0">
                <a:solidFill>
                  <a:schemeClr val="tx1"/>
                </a:solidFill>
              </a:rPr>
              <a:t>PAR</a:t>
            </a:r>
            <a:endParaRPr lang="en-US" sz="1600" dirty="0"/>
          </a:p>
        </p:txBody>
      </p:sp>
      <p:sp>
        <p:nvSpPr>
          <p:cNvPr id="22" name="Text 19"/>
          <p:cNvSpPr txBox="1"/>
          <p:nvPr/>
        </p:nvSpPr>
        <p:spPr>
          <a:xfrm>
            <a:off x="2331720" y="4343400"/>
            <a:ext cx="1645920" cy="457200"/>
          </a:xfrm>
          <a:prstGeom prst="rect">
            <a:avLst/>
          </a:prstGeom>
          <a:noFill/>
          <a:ln/>
        </p:spPr>
        <p:txBody>
          <a:bodyPr wrap="square" lIns="0" tIns="0" rIns="0" bIns="0" rtlCol="0" anchor="ctr"/>
          <a:lstStyle/>
          <a:p>
            <a:pPr algn="ctr" indent="0" marL="0">
              <a:buNone/>
            </a:pPr>
            <a:r>
              <a:rPr lang="en-US" sz="2200" b="1" dirty="0">
                <a:solidFill>
                  <a:schemeClr val="tx1"/>
                </a:solidFill>
              </a:rPr>
              <a:t>1000</a:t>
            </a:r>
            <a:endParaRPr lang="en-US" sz="2200" dirty="0"/>
          </a:p>
        </p:txBody>
      </p:sp>
      <p:sp>
        <p:nvSpPr>
          <p:cNvPr id="23" name="Text 20"/>
          <p:cNvSpPr txBox="1"/>
          <p:nvPr/>
        </p:nvSpPr>
        <p:spPr>
          <a:xfrm>
            <a:off x="548640" y="5029200"/>
            <a:ext cx="3566160" cy="365760"/>
          </a:xfrm>
          <a:prstGeom prst="rect">
            <a:avLst/>
          </a:prstGeom>
          <a:noFill/>
          <a:ln/>
        </p:spPr>
        <p:txBody>
          <a:bodyPr wrap="square" lIns="508" tIns="508" rIns="508" bIns="508" rtlCol="0" anchor="t"/>
          <a:lstStyle/>
          <a:p>
            <a:pPr indent="0" marL="0">
              <a:spcAft>
                <a:spcPts val="600"/>
              </a:spcAft>
              <a:buNone/>
            </a:pPr>
            <a:r>
              <a:rPr lang="en-US" sz="1100" i="1" dirty="0">
                <a:solidFill>
                  <a:schemeClr val="accent6"/>
                </a:solidFill>
              </a:rPr>
              <a:t>Dark (navy) · light-adapted (amber). PAR in µmol m⁻² s⁻¹.</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297680" y="1325880"/>
          <a:ext cx="7342632" cy="914400"/>
        </p:xfrm>
        <a:graphic>
          <a:graphicData uri="http://schemas.openxmlformats.org/drawingml/2006/table">
            <a:tbl>
              <a:tblPr/>
              <a:tblGrid>
                <a:gridCol w="1325880"/>
                <a:gridCol w="2743200"/>
                <a:gridCol w="868680"/>
                <a:gridCol w="2404872"/>
              </a:tblGrid>
              <a:tr h="475488">
                <a:tc>
                  <a:txBody>
                    <a:bodyPr/>
                    <a:lstStyle/>
                    <a:p>
                      <a:pPr indent="0" marL="0">
                        <a:buNone/>
                      </a:pPr>
                      <a:r>
                        <a:rPr lang="en-US" sz="1400" b="1" dirty="0">
                          <a:solidFill>
                            <a:schemeClr val="bg1"/>
                          </a:solidFill>
                        </a:rPr>
                        <a:t>Parameter</a:t>
                      </a:r>
                      <a:endParaRPr lang="en-US" sz="14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Calculation</a:t>
                      </a:r>
                      <a:endParaRPr lang="en-US" sz="14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Result</a:t>
                      </a:r>
                      <a:endParaRPr lang="en-US" sz="14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Meaning</a:t>
                      </a:r>
                      <a:endParaRPr lang="en-US" sz="14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r>
              <a:tr h="475488">
                <a:tc>
                  <a:txBody>
                    <a:bodyPr/>
                    <a:lstStyle/>
                    <a:p>
                      <a:pPr indent="0" marL="0">
                        <a:buNone/>
                      </a:pPr>
                      <a:r>
                        <a:rPr lang="en-US" sz="1300" b="1" dirty="0">
                          <a:solidFill>
                            <a:schemeClr val="tx2"/>
                          </a:solidFill>
                        </a:rPr>
                        <a:t>F</a:t>
                      </a:r>
                      <a:r>
                        <a:rPr lang="en-US" sz="1300" b="1" baseline="-40000" dirty="0">
                          <a:solidFill>
                            <a:schemeClr val="tx2"/>
                          </a:solidFill>
                        </a:rPr>
                        <a:t>v</a:t>
                      </a:r>
                      <a:r>
                        <a:rPr lang="en-US" sz="1300" b="1" dirty="0">
                          <a:solidFill>
                            <a:schemeClr val="tx2"/>
                          </a:solidFill>
                        </a:rPr>
                        <a:t>/F</a:t>
                      </a:r>
                      <a:r>
                        <a:rPr lang="en-US" sz="1300" b="1" baseline="-40000" dirty="0">
                          <a:solidFill>
                            <a:schemeClr val="tx2"/>
                          </a:solidFill>
                        </a:rPr>
                        <a:t>m</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(1000 − 200)/1000</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0.80</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Healthy PSII</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F</a:t>
                      </a:r>
                      <a:r>
                        <a:rPr lang="en-US" sz="1300" b="1" baseline="-40000" dirty="0">
                          <a:solidFill>
                            <a:schemeClr val="tx2"/>
                          </a:solidFill>
                        </a:rPr>
                        <a:t>v</a:t>
                      </a:r>
                      <a:r>
                        <a:rPr lang="en-US" sz="1300" b="1" dirty="0">
                          <a:solidFill>
                            <a:schemeClr val="tx2"/>
                          </a:solidFill>
                        </a:rPr>
                        <a:t>′/F</a:t>
                      </a:r>
                      <a:r>
                        <a:rPr lang="en-US" sz="1300" b="1" baseline="-40000" dirty="0">
                          <a:solidFill>
                            <a:schemeClr val="tx2"/>
                          </a:solidFill>
                        </a:rPr>
                        <a:t>m</a:t>
                      </a:r>
                      <a:r>
                        <a:rPr lang="en-US" sz="1300" b="1" dirty="0">
                          <a:solidFill>
                            <a:schemeClr val="tx2"/>
                          </a:solidFill>
                        </a:rPr>
                        <a:t>′</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(600 − 180)/600</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0.70</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Max efficiency in light (NPQ lowers it)</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Φ</a:t>
                      </a:r>
                      <a:r>
                        <a:rPr lang="en-US" sz="1300" b="1" baseline="-40000" dirty="0">
                          <a:solidFill>
                            <a:schemeClr val="tx2"/>
                          </a:solidFill>
                        </a:rPr>
                        <a:t>PSII</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(600 − 400)/600</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0.33</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⅓ of absorbed light used by PSII</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qP</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(600 − 400)/(600 − 180)</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0.48</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 half of centres open</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Check</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qP ×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 = 0.476 × 0.70</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0.33</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 Φ</a:t>
                      </a:r>
                      <a:r>
                        <a:rPr lang="en-US" sz="1300" baseline="-40000" dirty="0">
                          <a:solidFill>
                            <a:schemeClr val="tx1"/>
                          </a:solidFill>
                        </a:rPr>
                        <a:t>PSII</a:t>
                      </a:r>
                      <a:r>
                        <a:rPr lang="en-US" sz="1300" dirty="0">
                          <a:solidFill>
                            <a:schemeClr val="tx1"/>
                          </a:solidFill>
                        </a:rPr>
                        <a:t> ✓</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qL</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0.476 × 180/400</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0.21</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Lake-model open fraction</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NPQ</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(1000 − 600)/600</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0.67</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Moderate heat dissipation</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ETR</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0.333 × 1000 × 0.84 × 0.5</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140</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µmol e⁻ m⁻² s⁻¹</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F</a:t>
                      </a:r>
                      <a:r>
                        <a:rPr lang="en-US" sz="1300" b="1" baseline="-40000" dirty="0">
                          <a:solidFill>
                            <a:schemeClr val="tx2"/>
                          </a:solidFill>
                        </a:rPr>
                        <a:t>o</a:t>
                      </a:r>
                      <a:r>
                        <a:rPr lang="en-US" sz="1300" b="1" dirty="0">
                          <a:solidFill>
                            <a:schemeClr val="tx2"/>
                          </a:solidFill>
                        </a:rPr>
                        <a:t>′ calc.</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200/(0.80 + 200/600)</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176</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vs 180 measured ✓</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Good practice &amp; pitfalls</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How long to dark-adapt, what Fv/Fm can and cannot tell you, problems in the light, and the link to CO₂ assimilation</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06</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To dark-adapt or not? The components of NPQ</a:t>
            </a:r>
            <a:endParaRPr lang="en-US" sz="3200" dirty="0"/>
          </a:p>
        </p:txBody>
      </p:sp>
      <p:sp>
        <p:nvSpPr>
          <p:cNvPr id="4" name="time axis"/>
          <p:cNvSpPr/>
          <p:nvPr/>
        </p:nvSpPr>
        <p:spPr>
          <a:xfrm>
            <a:off x="731520" y="3931920"/>
            <a:ext cx="6035040" cy="0"/>
          </a:xfrm>
          <a:prstGeom prst="line">
            <a:avLst/>
          </a:prstGeom>
          <a:noFill/>
          <a:ln w="25400">
            <a:solidFill>
              <a:srgbClr val="123D2E"/>
            </a:solidFill>
            <a:prstDash val="solid"/>
            <a:tailEnd type="triangle"/>
          </a:ln>
        </p:spPr>
      </p:sp>
      <p:sp>
        <p:nvSpPr>
          <p:cNvPr id="5" name="tick"/>
          <p:cNvSpPr/>
          <p:nvPr/>
        </p:nvSpPr>
        <p:spPr>
          <a:xfrm>
            <a:off x="731520" y="3858768"/>
            <a:ext cx="0" cy="146304"/>
          </a:xfrm>
          <a:prstGeom prst="line">
            <a:avLst/>
          </a:prstGeom>
          <a:noFill/>
          <a:ln w="19050">
            <a:solidFill>
              <a:srgbClr val="123D2E"/>
            </a:solidFill>
            <a:prstDash val="solid"/>
          </a:ln>
        </p:spPr>
      </p:sp>
      <p:sp>
        <p:nvSpPr>
          <p:cNvPr id="6" name="Text 3"/>
          <p:cNvSpPr txBox="1"/>
          <p:nvPr/>
        </p:nvSpPr>
        <p:spPr>
          <a:xfrm>
            <a:off x="182880" y="4041648"/>
            <a:ext cx="1097280" cy="274320"/>
          </a:xfrm>
          <a:prstGeom prst="rect">
            <a:avLst/>
          </a:prstGeom>
          <a:noFill/>
          <a:ln/>
        </p:spPr>
        <p:txBody>
          <a:bodyPr wrap="square" lIns="0" tIns="0" rIns="0" bIns="0" rtlCol="0" anchor="ctr"/>
          <a:lstStyle/>
          <a:p>
            <a:pPr algn="ctr" indent="0" marL="0">
              <a:buNone/>
            </a:pPr>
            <a:r>
              <a:rPr lang="en-US" sz="1200" dirty="0">
                <a:solidFill>
                  <a:schemeClr val="tx1"/>
                </a:solidFill>
              </a:rPr>
              <a:t>seconds</a:t>
            </a:r>
            <a:endParaRPr lang="en-US" sz="1200" dirty="0"/>
          </a:p>
        </p:txBody>
      </p:sp>
      <p:sp>
        <p:nvSpPr>
          <p:cNvPr id="7" name="tick"/>
          <p:cNvSpPr/>
          <p:nvPr/>
        </p:nvSpPr>
        <p:spPr>
          <a:xfrm>
            <a:off x="2148840" y="3858768"/>
            <a:ext cx="0" cy="146304"/>
          </a:xfrm>
          <a:prstGeom prst="line">
            <a:avLst/>
          </a:prstGeom>
          <a:noFill/>
          <a:ln w="19050">
            <a:solidFill>
              <a:srgbClr val="123D2E"/>
            </a:solidFill>
            <a:prstDash val="solid"/>
          </a:ln>
        </p:spPr>
      </p:sp>
      <p:sp>
        <p:nvSpPr>
          <p:cNvPr id="8" name="Text 5"/>
          <p:cNvSpPr txBox="1"/>
          <p:nvPr/>
        </p:nvSpPr>
        <p:spPr>
          <a:xfrm>
            <a:off x="1600200" y="4041648"/>
            <a:ext cx="1097280" cy="274320"/>
          </a:xfrm>
          <a:prstGeom prst="rect">
            <a:avLst/>
          </a:prstGeom>
          <a:noFill/>
          <a:ln/>
        </p:spPr>
        <p:txBody>
          <a:bodyPr wrap="square" lIns="0" tIns="0" rIns="0" bIns="0" rtlCol="0" anchor="ctr"/>
          <a:lstStyle/>
          <a:p>
            <a:pPr algn="ctr" indent="0" marL="0">
              <a:buNone/>
            </a:pPr>
            <a:r>
              <a:rPr lang="en-US" sz="1200" dirty="0">
                <a:solidFill>
                  <a:schemeClr val="tx1"/>
                </a:solidFill>
              </a:rPr>
              <a:t>minutes</a:t>
            </a:r>
            <a:endParaRPr lang="en-US" sz="1200" dirty="0"/>
          </a:p>
        </p:txBody>
      </p:sp>
      <p:sp>
        <p:nvSpPr>
          <p:cNvPr id="9" name="tick"/>
          <p:cNvSpPr/>
          <p:nvPr/>
        </p:nvSpPr>
        <p:spPr>
          <a:xfrm>
            <a:off x="3566160" y="3858768"/>
            <a:ext cx="0" cy="146304"/>
          </a:xfrm>
          <a:prstGeom prst="line">
            <a:avLst/>
          </a:prstGeom>
          <a:noFill/>
          <a:ln w="19050">
            <a:solidFill>
              <a:srgbClr val="123D2E"/>
            </a:solidFill>
            <a:prstDash val="solid"/>
          </a:ln>
        </p:spPr>
      </p:sp>
      <p:sp>
        <p:nvSpPr>
          <p:cNvPr id="10" name="Text 7"/>
          <p:cNvSpPr txBox="1"/>
          <p:nvPr/>
        </p:nvSpPr>
        <p:spPr>
          <a:xfrm>
            <a:off x="3017520" y="4041648"/>
            <a:ext cx="1097280" cy="274320"/>
          </a:xfrm>
          <a:prstGeom prst="rect">
            <a:avLst/>
          </a:prstGeom>
          <a:noFill/>
          <a:ln/>
        </p:spPr>
        <p:txBody>
          <a:bodyPr wrap="square" lIns="0" tIns="0" rIns="0" bIns="0" rtlCol="0" anchor="ctr"/>
          <a:lstStyle/>
          <a:p>
            <a:pPr algn="ctr" indent="0" marL="0">
              <a:buNone/>
            </a:pPr>
            <a:r>
              <a:rPr lang="en-US" sz="1200" dirty="0">
                <a:solidFill>
                  <a:schemeClr val="tx1"/>
                </a:solidFill>
              </a:rPr>
              <a:t>~30 min</a:t>
            </a:r>
            <a:endParaRPr lang="en-US" sz="1200" dirty="0"/>
          </a:p>
        </p:txBody>
      </p:sp>
      <p:sp>
        <p:nvSpPr>
          <p:cNvPr id="11" name="tick"/>
          <p:cNvSpPr/>
          <p:nvPr/>
        </p:nvSpPr>
        <p:spPr>
          <a:xfrm>
            <a:off x="4983480" y="3858768"/>
            <a:ext cx="0" cy="146304"/>
          </a:xfrm>
          <a:prstGeom prst="line">
            <a:avLst/>
          </a:prstGeom>
          <a:noFill/>
          <a:ln w="19050">
            <a:solidFill>
              <a:srgbClr val="123D2E"/>
            </a:solidFill>
            <a:prstDash val="solid"/>
          </a:ln>
        </p:spPr>
      </p:sp>
      <p:sp>
        <p:nvSpPr>
          <p:cNvPr id="12" name="Text 9"/>
          <p:cNvSpPr txBox="1"/>
          <p:nvPr/>
        </p:nvSpPr>
        <p:spPr>
          <a:xfrm>
            <a:off x="4434840" y="4041648"/>
            <a:ext cx="1097280" cy="274320"/>
          </a:xfrm>
          <a:prstGeom prst="rect">
            <a:avLst/>
          </a:prstGeom>
          <a:noFill/>
          <a:ln/>
        </p:spPr>
        <p:txBody>
          <a:bodyPr wrap="square" lIns="0" tIns="0" rIns="0" bIns="0" rtlCol="0" anchor="ctr"/>
          <a:lstStyle/>
          <a:p>
            <a:pPr algn="ctr" indent="0" marL="0">
              <a:buNone/>
            </a:pPr>
            <a:r>
              <a:rPr lang="en-US" sz="1200" dirty="0">
                <a:solidFill>
                  <a:schemeClr val="tx1"/>
                </a:solidFill>
              </a:rPr>
              <a:t>hours</a:t>
            </a:r>
            <a:endParaRPr lang="en-US" sz="1200" dirty="0"/>
          </a:p>
        </p:txBody>
      </p:sp>
      <p:sp>
        <p:nvSpPr>
          <p:cNvPr id="13" name="tick"/>
          <p:cNvSpPr/>
          <p:nvPr/>
        </p:nvSpPr>
        <p:spPr>
          <a:xfrm>
            <a:off x="6400800" y="3858768"/>
            <a:ext cx="0" cy="146304"/>
          </a:xfrm>
          <a:prstGeom prst="line">
            <a:avLst/>
          </a:prstGeom>
          <a:noFill/>
          <a:ln w="19050">
            <a:solidFill>
              <a:srgbClr val="123D2E"/>
            </a:solidFill>
            <a:prstDash val="solid"/>
          </a:ln>
        </p:spPr>
      </p:sp>
      <p:sp>
        <p:nvSpPr>
          <p:cNvPr id="14" name="Text 11"/>
          <p:cNvSpPr txBox="1"/>
          <p:nvPr/>
        </p:nvSpPr>
        <p:spPr>
          <a:xfrm>
            <a:off x="5852160" y="4041648"/>
            <a:ext cx="1097280" cy="274320"/>
          </a:xfrm>
          <a:prstGeom prst="rect">
            <a:avLst/>
          </a:prstGeom>
          <a:noFill/>
          <a:ln/>
        </p:spPr>
        <p:txBody>
          <a:bodyPr wrap="square" lIns="0" tIns="0" rIns="0" bIns="0" rtlCol="0" anchor="ctr"/>
          <a:lstStyle/>
          <a:p>
            <a:pPr algn="ctr" indent="0" marL="0">
              <a:buNone/>
            </a:pPr>
            <a:r>
              <a:rPr lang="en-US" sz="1200" dirty="0">
                <a:solidFill>
                  <a:schemeClr val="tx1"/>
                </a:solidFill>
              </a:rPr>
              <a:t>days</a:t>
            </a:r>
            <a:endParaRPr lang="en-US" sz="1200" dirty="0"/>
          </a:p>
        </p:txBody>
      </p:sp>
      <p:sp>
        <p:nvSpPr>
          <p:cNvPr id="15" name="relaxation bar"/>
          <p:cNvSpPr/>
          <p:nvPr/>
        </p:nvSpPr>
        <p:spPr>
          <a:xfrm>
            <a:off x="731520" y="1828800"/>
            <a:ext cx="2338578" cy="502920"/>
          </a:xfrm>
          <a:prstGeom prst="roundRect">
            <a:avLst>
              <a:gd name="adj" fmla="val 18182"/>
            </a:avLst>
          </a:prstGeom>
          <a:solidFill>
            <a:schemeClr val="accent1"/>
          </a:solidFill>
          <a:ln/>
        </p:spPr>
      </p:sp>
      <p:sp>
        <p:nvSpPr>
          <p:cNvPr id="16" name="Text 13"/>
          <p:cNvSpPr txBox="1"/>
          <p:nvPr/>
        </p:nvSpPr>
        <p:spPr>
          <a:xfrm>
            <a:off x="822960" y="1828800"/>
            <a:ext cx="2201418" cy="502920"/>
          </a:xfrm>
          <a:prstGeom prst="rect">
            <a:avLst/>
          </a:prstGeom>
          <a:noFill/>
          <a:ln/>
        </p:spPr>
        <p:txBody>
          <a:bodyPr wrap="square" lIns="0" tIns="0" rIns="0" bIns="0" rtlCol="0" anchor="ctr"/>
          <a:lstStyle/>
          <a:p>
            <a:pPr algn="l" indent="0" marL="0">
              <a:buNone/>
            </a:pPr>
            <a:r>
              <a:rPr lang="en-US" sz="1200" b="1" dirty="0">
                <a:solidFill>
                  <a:schemeClr val="bg1"/>
                </a:solidFill>
              </a:rPr>
              <a:t>qE · ΔpH, PsbS, zeaxanthin</a:t>
            </a:r>
            <a:endParaRPr lang="en-US" sz="1200" dirty="0"/>
          </a:p>
        </p:txBody>
      </p:sp>
      <p:sp>
        <p:nvSpPr>
          <p:cNvPr id="17" name="relaxation bar"/>
          <p:cNvSpPr/>
          <p:nvPr/>
        </p:nvSpPr>
        <p:spPr>
          <a:xfrm>
            <a:off x="1865376" y="2468880"/>
            <a:ext cx="2055114" cy="502920"/>
          </a:xfrm>
          <a:prstGeom prst="roundRect">
            <a:avLst>
              <a:gd name="adj" fmla="val 18182"/>
            </a:avLst>
          </a:prstGeom>
          <a:solidFill>
            <a:schemeClr val="accent5"/>
          </a:solidFill>
          <a:ln/>
        </p:spPr>
      </p:sp>
      <p:sp>
        <p:nvSpPr>
          <p:cNvPr id="18" name="Text 15"/>
          <p:cNvSpPr txBox="1"/>
          <p:nvPr/>
        </p:nvSpPr>
        <p:spPr>
          <a:xfrm>
            <a:off x="1956816" y="2468880"/>
            <a:ext cx="1917954" cy="502920"/>
          </a:xfrm>
          <a:prstGeom prst="rect">
            <a:avLst/>
          </a:prstGeom>
          <a:noFill/>
          <a:ln/>
        </p:spPr>
        <p:txBody>
          <a:bodyPr wrap="square" lIns="0" tIns="0" rIns="0" bIns="0" rtlCol="0" anchor="ctr"/>
          <a:lstStyle/>
          <a:p>
            <a:pPr algn="l" indent="0" marL="0">
              <a:buNone/>
            </a:pPr>
            <a:r>
              <a:rPr lang="en-US" sz="1200" b="1" dirty="0">
                <a:solidFill>
                  <a:schemeClr val="bg1"/>
                </a:solidFill>
              </a:rPr>
              <a:t>qT · state transitions</a:t>
            </a:r>
            <a:endParaRPr lang="en-US" sz="1200" dirty="0"/>
          </a:p>
        </p:txBody>
      </p:sp>
      <p:sp>
        <p:nvSpPr>
          <p:cNvPr id="19" name="relaxation bar"/>
          <p:cNvSpPr/>
          <p:nvPr/>
        </p:nvSpPr>
        <p:spPr>
          <a:xfrm>
            <a:off x="3566160" y="3108960"/>
            <a:ext cx="2834640" cy="502920"/>
          </a:xfrm>
          <a:prstGeom prst="roundRect">
            <a:avLst>
              <a:gd name="adj" fmla="val 18182"/>
            </a:avLst>
          </a:prstGeom>
          <a:solidFill>
            <a:schemeClr val="accent2"/>
          </a:solidFill>
          <a:ln/>
        </p:spPr>
      </p:sp>
      <p:sp>
        <p:nvSpPr>
          <p:cNvPr id="20" name="Text 17"/>
          <p:cNvSpPr txBox="1"/>
          <p:nvPr/>
        </p:nvSpPr>
        <p:spPr>
          <a:xfrm>
            <a:off x="3657600" y="3108960"/>
            <a:ext cx="2697480" cy="502920"/>
          </a:xfrm>
          <a:prstGeom prst="rect">
            <a:avLst/>
          </a:prstGeom>
          <a:noFill/>
          <a:ln/>
        </p:spPr>
        <p:txBody>
          <a:bodyPr wrap="square" lIns="0" tIns="0" rIns="0" bIns="0" rtlCol="0" anchor="ctr"/>
          <a:lstStyle/>
          <a:p>
            <a:pPr algn="l" indent="0" marL="0">
              <a:buNone/>
            </a:pPr>
            <a:r>
              <a:rPr lang="en-US" sz="1200" b="1" dirty="0">
                <a:solidFill>
                  <a:schemeClr val="bg1"/>
                </a:solidFill>
              </a:rPr>
              <a:t>qI · photoinhibition, D1 repair, retained zeaxanthin</a:t>
            </a:r>
            <a:endParaRPr lang="en-US" sz="1200" dirty="0"/>
          </a:p>
        </p:txBody>
      </p:sp>
      <p:sp>
        <p:nvSpPr>
          <p:cNvPr id="21" name="Text 18"/>
          <p:cNvSpPr txBox="1"/>
          <p:nvPr/>
        </p:nvSpPr>
        <p:spPr>
          <a:xfrm>
            <a:off x="731520" y="1325880"/>
            <a:ext cx="4572000" cy="320040"/>
          </a:xfrm>
          <a:prstGeom prst="rect">
            <a:avLst/>
          </a:prstGeom>
          <a:noFill/>
          <a:ln/>
        </p:spPr>
        <p:txBody>
          <a:bodyPr wrap="square" lIns="0" tIns="0" rIns="0" bIns="0" rtlCol="0" anchor="ctr"/>
          <a:lstStyle/>
          <a:p>
            <a:pPr algn="l" indent="0" marL="0">
              <a:buNone/>
            </a:pPr>
            <a:r>
              <a:rPr lang="en-US" sz="1500" b="1" dirty="0">
                <a:solidFill>
                  <a:schemeClr val="tx2"/>
                </a:solidFill>
              </a:rPr>
              <a:t>Relaxation time in darkness</a:t>
            </a:r>
            <a:endParaRPr lang="en-US" sz="1500" dirty="0"/>
          </a:p>
        </p:txBody>
      </p:sp>
      <p:sp>
        <p:nvSpPr>
          <p:cNvPr id="22" name="figure frame"/>
          <p:cNvSpPr/>
          <p:nvPr/>
        </p:nvSpPr>
        <p:spPr>
          <a:xfrm>
            <a:off x="7132320" y="1325880"/>
            <a:ext cx="4507992" cy="2651760"/>
          </a:xfrm>
          <a:prstGeom prst="roundRect">
            <a:avLst>
              <a:gd name="adj" fmla="val 2069"/>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23" name="Image 0" descr="NPQ relaxation after actinic light off: qE (fast), qT and qI (slow) separate">    </p:cNvPr>
          <p:cNvPicPr>
            <a:picLocks noChangeAspect="1"/>
          </p:cNvPicPr>
          <p:nvPr/>
        </p:nvPicPr>
        <p:blipFill>
          <a:blip r:embed="rId1"/>
          <a:stretch>
            <a:fillRect/>
          </a:stretch>
        </p:blipFill>
        <p:spPr>
          <a:xfrm>
            <a:off x="7714906" y="1417320"/>
            <a:ext cx="3342820" cy="2468880"/>
          </a:xfrm>
          <a:prstGeom prst="rect">
            <a:avLst/>
          </a:prstGeom>
        </p:spPr>
      </p:pic>
      <p:sp>
        <p:nvSpPr>
          <p:cNvPr id="24" name="Text 20"/>
          <p:cNvSpPr txBox="1"/>
          <p:nvPr/>
        </p:nvSpPr>
        <p:spPr>
          <a:xfrm>
            <a:off x="7132320" y="4023360"/>
            <a:ext cx="4507992" cy="365760"/>
          </a:xfrm>
          <a:prstGeom prst="rect">
            <a:avLst/>
          </a:prstGeom>
          <a:noFill/>
          <a:ln/>
        </p:spPr>
        <p:txBody>
          <a:bodyPr wrap="square" lIns="0" tIns="0" rIns="0" bIns="0" rtlCol="0" anchor="t"/>
          <a:lstStyle/>
          <a:p>
            <a:pPr indent="0" marL="0">
              <a:buNone/>
            </a:pPr>
            <a:r>
              <a:rPr lang="en-US" sz="1100" i="1" dirty="0">
                <a:solidFill>
                  <a:schemeClr val="accent6"/>
                </a:solidFill>
              </a:rPr>
              <a:t>NPQ relaxation after actinic light off: qE (fast), qT and qI (slow) separate</a:t>
            </a:r>
            <a:endParaRPr lang="en-US" sz="1100" dirty="0"/>
          </a:p>
        </p:txBody>
      </p:sp>
      <p:sp>
        <p:nvSpPr>
          <p:cNvPr id="25" name="card"/>
          <p:cNvSpPr/>
          <p:nvPr/>
        </p:nvSpPr>
        <p:spPr>
          <a:xfrm>
            <a:off x="548640" y="4526280"/>
            <a:ext cx="3566160" cy="1645920"/>
          </a:xfrm>
          <a:prstGeom prst="roundRect">
            <a:avLst>
              <a:gd name="adj" fmla="val 4444"/>
            </a:avLst>
          </a:prstGeom>
          <a:solidFill>
            <a:schemeClr val="bg2"/>
          </a:solidFill>
          <a:ln/>
          <a:effectLst>
            <a:outerShdw sx="100000" sy="100000" kx="0" ky="0" algn="bl" rotWithShape="0" blurRad="76200" dist="25400" dir="5400000">
              <a:srgbClr val="000000">
                <a:alpha val="14000"/>
              </a:srgbClr>
            </a:outerShdw>
          </a:effectLst>
        </p:spPr>
      </p:sp>
      <p:sp>
        <p:nvSpPr>
          <p:cNvPr id="26" name="icon circle"/>
          <p:cNvSpPr/>
          <p:nvPr/>
        </p:nvSpPr>
        <p:spPr>
          <a:xfrm>
            <a:off x="731520" y="4681728"/>
            <a:ext cx="420624" cy="420624"/>
          </a:xfrm>
          <a:prstGeom prst="ellipse">
            <a:avLst/>
          </a:prstGeom>
          <a:solidFill>
            <a:schemeClr val="accent1"/>
          </a:solidFill>
          <a:ln/>
        </p:spPr>
      </p:sp>
      <p:pic>
        <p:nvPicPr>
          <p:cNvPr id="27" name="Image 1" descr="Clock icon">    </p:cNvPr>
          <p:cNvPicPr>
            <a:picLocks noChangeAspect="1"/>
          </p:cNvPicPr>
          <p:nvPr/>
        </p:nvPicPr>
        <p:blipFill>
          <a:blip r:embed="rId2"/>
          <a:stretch>
            <a:fillRect/>
          </a:stretch>
        </p:blipFill>
        <p:spPr>
          <a:xfrm>
            <a:off x="840882" y="4791090"/>
            <a:ext cx="201900" cy="201900"/>
          </a:xfrm>
          <a:prstGeom prst="rect">
            <a:avLst/>
          </a:prstGeom>
        </p:spPr>
      </p:pic>
      <p:sp>
        <p:nvSpPr>
          <p:cNvPr id="28" name="Text 23"/>
          <p:cNvSpPr txBox="1"/>
          <p:nvPr/>
        </p:nvSpPr>
        <p:spPr>
          <a:xfrm>
            <a:off x="1261872" y="4663440"/>
            <a:ext cx="2715768" cy="457200"/>
          </a:xfrm>
          <a:prstGeom prst="rect">
            <a:avLst/>
          </a:prstGeom>
          <a:noFill/>
          <a:ln/>
        </p:spPr>
        <p:txBody>
          <a:bodyPr wrap="square" lIns="0" tIns="0" rIns="0" bIns="0" rtlCol="0" anchor="ctr"/>
          <a:lstStyle/>
          <a:p>
            <a:pPr indent="0" marL="0">
              <a:buNone/>
            </a:pPr>
            <a:r>
              <a:rPr lang="en-US" sz="1600" b="1" dirty="0">
                <a:solidFill>
                  <a:schemeClr val="tx2"/>
                </a:solidFill>
              </a:rPr>
              <a:t>Practical rule</a:t>
            </a:r>
            <a:endParaRPr lang="en-US" sz="1600" dirty="0"/>
          </a:p>
        </p:txBody>
      </p:sp>
      <p:sp>
        <p:nvSpPr>
          <p:cNvPr id="29" name="Text 24"/>
          <p:cNvSpPr txBox="1"/>
          <p:nvPr/>
        </p:nvSpPr>
        <p:spPr>
          <a:xfrm>
            <a:off x="731520" y="5212080"/>
            <a:ext cx="3200400" cy="86868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20–30 min dark usually removes qE and qT for a plant in a moderate environment.</a:t>
            </a:r>
            <a:endParaRPr lang="en-US" sz="1300" dirty="0"/>
          </a:p>
        </p:txBody>
      </p:sp>
      <p:sp>
        <p:nvSpPr>
          <p:cNvPr id="30" name="card"/>
          <p:cNvSpPr/>
          <p:nvPr/>
        </p:nvSpPr>
        <p:spPr>
          <a:xfrm>
            <a:off x="4315968" y="4526280"/>
            <a:ext cx="3566160" cy="1645920"/>
          </a:xfrm>
          <a:prstGeom prst="roundRect">
            <a:avLst>
              <a:gd name="adj" fmla="val 4444"/>
            </a:avLst>
          </a:prstGeom>
          <a:solidFill>
            <a:schemeClr val="bg2"/>
          </a:solidFill>
          <a:ln/>
          <a:effectLst>
            <a:outerShdw sx="100000" sy="100000" kx="0" ky="0" algn="bl" rotWithShape="0" blurRad="76200" dist="25400" dir="5400000">
              <a:srgbClr val="000000">
                <a:alpha val="14000"/>
              </a:srgbClr>
            </a:outerShdw>
          </a:effectLst>
        </p:spPr>
      </p:sp>
      <p:sp>
        <p:nvSpPr>
          <p:cNvPr id="31" name="icon circle"/>
          <p:cNvSpPr/>
          <p:nvPr/>
        </p:nvSpPr>
        <p:spPr>
          <a:xfrm>
            <a:off x="4498848" y="4681728"/>
            <a:ext cx="420624" cy="420624"/>
          </a:xfrm>
          <a:prstGeom prst="ellipse">
            <a:avLst/>
          </a:prstGeom>
          <a:solidFill>
            <a:schemeClr val="accent5"/>
          </a:solidFill>
          <a:ln/>
        </p:spPr>
      </p:sp>
      <p:pic>
        <p:nvPicPr>
          <p:cNvPr id="32" name="Image 2" descr="Check icon">    </p:cNvPr>
          <p:cNvPicPr>
            <a:picLocks noChangeAspect="1"/>
          </p:cNvPicPr>
          <p:nvPr/>
        </p:nvPicPr>
        <p:blipFill>
          <a:blip r:embed="rId3"/>
          <a:stretch>
            <a:fillRect/>
          </a:stretch>
        </p:blipFill>
        <p:spPr>
          <a:xfrm>
            <a:off x="4608210" y="4791090"/>
            <a:ext cx="201900" cy="201900"/>
          </a:xfrm>
          <a:prstGeom prst="rect">
            <a:avLst/>
          </a:prstGeom>
        </p:spPr>
      </p:pic>
      <p:sp>
        <p:nvSpPr>
          <p:cNvPr id="33" name="Text 27"/>
          <p:cNvSpPr txBox="1"/>
          <p:nvPr/>
        </p:nvSpPr>
        <p:spPr>
          <a:xfrm>
            <a:off x="5029200" y="4663440"/>
            <a:ext cx="2715768" cy="457200"/>
          </a:xfrm>
          <a:prstGeom prst="rect">
            <a:avLst/>
          </a:prstGeom>
          <a:noFill/>
          <a:ln/>
        </p:spPr>
        <p:txBody>
          <a:bodyPr wrap="square" lIns="0" tIns="0" rIns="0" bIns="0" rtlCol="0" anchor="ctr"/>
          <a:lstStyle/>
          <a:p>
            <a:pPr indent="0" marL="0">
              <a:buNone/>
            </a:pPr>
            <a:r>
              <a:rPr lang="en-US" sz="1600" b="1" dirty="0">
                <a:solidFill>
                  <a:schemeClr val="tx2"/>
                </a:solidFill>
              </a:rPr>
              <a:t>Best answer</a:t>
            </a:r>
            <a:endParaRPr lang="en-US" sz="1600" dirty="0"/>
          </a:p>
        </p:txBody>
      </p:sp>
      <p:sp>
        <p:nvSpPr>
          <p:cNvPr id="34" name="Text 28"/>
          <p:cNvSpPr txBox="1"/>
          <p:nvPr/>
        </p:nvSpPr>
        <p:spPr>
          <a:xfrm>
            <a:off x="4498848" y="5212080"/>
            <a:ext cx="3200400" cy="86868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Test it: dark-adapt non-stressed controls and measure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 every 5–10 min until stable.</a:t>
            </a:r>
            <a:endParaRPr lang="en-US" sz="1300" dirty="0"/>
          </a:p>
        </p:txBody>
      </p:sp>
      <p:sp>
        <p:nvSpPr>
          <p:cNvPr id="35" name="card"/>
          <p:cNvSpPr/>
          <p:nvPr/>
        </p:nvSpPr>
        <p:spPr>
          <a:xfrm>
            <a:off x="8083296" y="4526280"/>
            <a:ext cx="3557016" cy="1645920"/>
          </a:xfrm>
          <a:prstGeom prst="roundRect">
            <a:avLst>
              <a:gd name="adj" fmla="val 4444"/>
            </a:avLst>
          </a:prstGeom>
          <a:solidFill>
            <a:schemeClr val="bg2"/>
          </a:solidFill>
          <a:ln/>
          <a:effectLst>
            <a:outerShdw sx="100000" sy="100000" kx="0" ky="0" algn="bl" rotWithShape="0" blurRad="76200" dist="25400" dir="5400000">
              <a:srgbClr val="000000">
                <a:alpha val="14000"/>
              </a:srgbClr>
            </a:outerShdw>
          </a:effectLst>
        </p:spPr>
      </p:sp>
      <p:sp>
        <p:nvSpPr>
          <p:cNvPr id="36" name="icon circle"/>
          <p:cNvSpPr/>
          <p:nvPr/>
        </p:nvSpPr>
        <p:spPr>
          <a:xfrm>
            <a:off x="8266176" y="4681728"/>
            <a:ext cx="420624" cy="420624"/>
          </a:xfrm>
          <a:prstGeom prst="ellipse">
            <a:avLst/>
          </a:prstGeom>
          <a:solidFill>
            <a:schemeClr val="accent4"/>
          </a:solidFill>
          <a:ln/>
        </p:spPr>
      </p:sp>
      <p:pic>
        <p:nvPicPr>
          <p:cNvPr id="37" name="Image 3" descr="Moon icon">    </p:cNvPr>
          <p:cNvPicPr>
            <a:picLocks noChangeAspect="1"/>
          </p:cNvPicPr>
          <p:nvPr/>
        </p:nvPicPr>
        <p:blipFill>
          <a:blip r:embed="rId4"/>
          <a:stretch>
            <a:fillRect/>
          </a:stretch>
        </p:blipFill>
        <p:spPr>
          <a:xfrm>
            <a:off x="8375538" y="4791090"/>
            <a:ext cx="201900" cy="201900"/>
          </a:xfrm>
          <a:prstGeom prst="rect">
            <a:avLst/>
          </a:prstGeom>
        </p:spPr>
      </p:pic>
      <p:sp>
        <p:nvSpPr>
          <p:cNvPr id="38" name="Text 31"/>
          <p:cNvSpPr txBox="1"/>
          <p:nvPr/>
        </p:nvSpPr>
        <p:spPr>
          <a:xfrm>
            <a:off x="8796528" y="4663440"/>
            <a:ext cx="2706624" cy="457200"/>
          </a:xfrm>
          <a:prstGeom prst="rect">
            <a:avLst/>
          </a:prstGeom>
          <a:noFill/>
          <a:ln/>
        </p:spPr>
        <p:txBody>
          <a:bodyPr wrap="square" lIns="0" tIns="0" rIns="0" bIns="0" rtlCol="0" anchor="ctr"/>
          <a:lstStyle/>
          <a:p>
            <a:pPr indent="0" marL="0">
              <a:buNone/>
            </a:pPr>
            <a:r>
              <a:rPr lang="en-US" sz="1600" b="1" dirty="0">
                <a:solidFill>
                  <a:schemeClr val="tx2"/>
                </a:solidFill>
              </a:rPr>
              <a:t>Long-term stress</a:t>
            </a:r>
            <a:endParaRPr lang="en-US" sz="1600" dirty="0"/>
          </a:p>
        </p:txBody>
      </p:sp>
      <p:sp>
        <p:nvSpPr>
          <p:cNvPr id="39" name="Text 32"/>
          <p:cNvSpPr txBox="1"/>
          <p:nvPr/>
        </p:nvSpPr>
        <p:spPr>
          <a:xfrm>
            <a:off x="8266176" y="5212080"/>
            <a:ext cx="3191256" cy="86868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Use </a:t>
            </a:r>
            <a:r>
              <a:rPr lang="en-US" sz="1300" b="1" dirty="0">
                <a:solidFill>
                  <a:schemeClr val="tx1"/>
                </a:solidFill>
              </a:rPr>
              <a:t>pre-dawn F</a:t>
            </a:r>
            <a:r>
              <a:rPr lang="en-US" sz="1300" b="1" baseline="-40000" dirty="0">
                <a:solidFill>
                  <a:schemeClr val="tx1"/>
                </a:solidFill>
              </a:rPr>
              <a:t>v</a:t>
            </a:r>
            <a:r>
              <a:rPr lang="en-US" sz="1300" b="1" dirty="0">
                <a:solidFill>
                  <a:schemeClr val="tx1"/>
                </a:solidFill>
              </a:rPr>
              <a:t>/F</a:t>
            </a:r>
            <a:r>
              <a:rPr lang="en-US" sz="1300" b="1" baseline="-40000" dirty="0">
                <a:solidFill>
                  <a:schemeClr val="tx1"/>
                </a:solidFill>
              </a:rPr>
              <a:t>m</a:t>
            </a:r>
            <a:r>
              <a:rPr lang="en-US" sz="1300" dirty="0">
                <a:solidFill>
                  <a:schemeClr val="tx1"/>
                </a:solidFill>
              </a:rPr>
              <a:t> (e.g. drought, over-wintering evergreens).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Pitfalls in measuring F</a:t>
            </a:r>
            <a:r>
              <a:rPr lang="en-US" sz="3200" b="1" baseline="-40000" dirty="0">
                <a:solidFill>
                  <a:schemeClr val="tx2"/>
                </a:solidFill>
              </a:rPr>
              <a:t>o</a:t>
            </a:r>
            <a:r>
              <a:rPr lang="en-US" sz="3200" b="1" dirty="0">
                <a:solidFill>
                  <a:schemeClr val="tx2"/>
                </a:solidFill>
              </a:rPr>
              <a:t> and F</a:t>
            </a:r>
            <a:r>
              <a:rPr lang="en-US" sz="3200" b="1" baseline="-40000" dirty="0">
                <a:solidFill>
                  <a:schemeClr val="tx2"/>
                </a:solidFill>
              </a:rPr>
              <a:t>m</a:t>
            </a:r>
            <a:endParaRPr lang="en-US" sz="3200" dirty="0"/>
          </a:p>
        </p:txBody>
      </p:sp>
      <p:sp>
        <p:nvSpPr>
          <p:cNvPr id="4" name="card"/>
          <p:cNvSpPr/>
          <p:nvPr/>
        </p:nvSpPr>
        <p:spPr>
          <a:xfrm>
            <a:off x="548640" y="137160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527048"/>
            <a:ext cx="420624" cy="420624"/>
          </a:xfrm>
          <a:prstGeom prst="ellipse">
            <a:avLst/>
          </a:prstGeom>
          <a:solidFill>
            <a:schemeClr val="accent2"/>
          </a:solidFill>
          <a:ln/>
        </p:spPr>
      </p:sp>
      <p:pic>
        <p:nvPicPr>
          <p:cNvPr id="6" name="Image 0" descr="Eye icon">    </p:cNvPr>
          <p:cNvPicPr>
            <a:picLocks noChangeAspect="1"/>
          </p:cNvPicPr>
          <p:nvPr/>
        </p:nvPicPr>
        <p:blipFill>
          <a:blip r:embed="rId1"/>
          <a:stretch>
            <a:fillRect/>
          </a:stretch>
        </p:blipFill>
        <p:spPr>
          <a:xfrm>
            <a:off x="840882" y="1636410"/>
            <a:ext cx="201900" cy="201900"/>
          </a:xfrm>
          <a:prstGeom prst="rect">
            <a:avLst/>
          </a:prstGeom>
        </p:spPr>
      </p:pic>
      <p:sp>
        <p:nvSpPr>
          <p:cNvPr id="7" name="Text 3"/>
          <p:cNvSpPr txBox="1"/>
          <p:nvPr/>
        </p:nvSpPr>
        <p:spPr>
          <a:xfrm>
            <a:off x="1261872"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Measuring beam too strong</a:t>
            </a:r>
            <a:endParaRPr lang="en-US" sz="1500" dirty="0"/>
          </a:p>
        </p:txBody>
      </p:sp>
      <p:sp>
        <p:nvSpPr>
          <p:cNvPr id="8" name="Text 4"/>
          <p:cNvSpPr txBox="1"/>
          <p:nvPr/>
        </p:nvSpPr>
        <p:spPr>
          <a:xfrm>
            <a:off x="731520" y="205740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Induces electron transport → false (high) F</a:t>
            </a:r>
            <a:r>
              <a:rPr lang="en-US" sz="1300" baseline="-40000" dirty="0">
                <a:solidFill>
                  <a:schemeClr val="tx1"/>
                </a:solidFill>
              </a:rPr>
              <a:t>o</a:t>
            </a:r>
            <a:r>
              <a:rPr lang="en-US" sz="1300" dirty="0">
                <a:solidFill>
                  <a:schemeClr val="tx1"/>
                </a:solidFill>
              </a:rPr>
              <a:t>. Lower intensity / frequency if F</a:t>
            </a:r>
            <a:r>
              <a:rPr lang="en-US" sz="1300" baseline="-40000" dirty="0">
                <a:solidFill>
                  <a:schemeClr val="tx1"/>
                </a:solidFill>
              </a:rPr>
              <a:t>o</a:t>
            </a:r>
            <a:r>
              <a:rPr lang="en-US" sz="1300" dirty="0">
                <a:solidFill>
                  <a:schemeClr val="tx1"/>
                </a:solidFill>
              </a:rPr>
              <a:t> drifts up.</a:t>
            </a:r>
            <a:endParaRPr lang="en-US" sz="1300" dirty="0"/>
          </a:p>
        </p:txBody>
      </p:sp>
      <p:sp>
        <p:nvSpPr>
          <p:cNvPr id="9" name="card"/>
          <p:cNvSpPr/>
          <p:nvPr/>
        </p:nvSpPr>
        <p:spPr>
          <a:xfrm>
            <a:off x="4297680" y="137160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4480560" y="1527048"/>
            <a:ext cx="420624" cy="420624"/>
          </a:xfrm>
          <a:prstGeom prst="ellipse">
            <a:avLst/>
          </a:prstGeom>
          <a:solidFill>
            <a:schemeClr val="accent4"/>
          </a:solidFill>
          <a:ln/>
        </p:spPr>
      </p:sp>
      <p:pic>
        <p:nvPicPr>
          <p:cNvPr id="11" name="Image 1" descr="WaveSquare icon">    </p:cNvPr>
          <p:cNvPicPr>
            <a:picLocks noChangeAspect="1"/>
          </p:cNvPicPr>
          <p:nvPr/>
        </p:nvPicPr>
        <p:blipFill>
          <a:blip r:embed="rId2"/>
          <a:stretch>
            <a:fillRect/>
          </a:stretch>
        </p:blipFill>
        <p:spPr>
          <a:xfrm>
            <a:off x="4589922" y="1636410"/>
            <a:ext cx="201900" cy="201900"/>
          </a:xfrm>
          <a:prstGeom prst="rect">
            <a:avLst/>
          </a:prstGeom>
        </p:spPr>
      </p:pic>
      <p:sp>
        <p:nvSpPr>
          <p:cNvPr id="12" name="Text 7"/>
          <p:cNvSpPr txBox="1"/>
          <p:nvPr/>
        </p:nvSpPr>
        <p:spPr>
          <a:xfrm>
            <a:off x="5010912"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Q</a:t>
            </a:r>
            <a:r>
              <a:rPr lang="en-US" sz="1500" b="1" baseline="-40000" dirty="0">
                <a:solidFill>
                  <a:schemeClr val="tx2"/>
                </a:solidFill>
              </a:rPr>
              <a:t>A</a:t>
            </a:r>
            <a:r>
              <a:rPr lang="en-US" sz="1500" b="1" dirty="0">
                <a:solidFill>
                  <a:schemeClr val="tx2"/>
                </a:solidFill>
              </a:rPr>
              <a:t> partly reduced in the dark</a:t>
            </a:r>
            <a:endParaRPr lang="en-US" sz="1500" dirty="0"/>
          </a:p>
        </p:txBody>
      </p:sp>
      <p:sp>
        <p:nvSpPr>
          <p:cNvPr id="13" name="Text 8"/>
          <p:cNvSpPr txBox="1"/>
          <p:nvPr/>
        </p:nvSpPr>
        <p:spPr>
          <a:xfrm>
            <a:off x="4480560" y="205740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Chlororespiration reduces PQ. Use a </a:t>
            </a:r>
            <a:r>
              <a:rPr lang="en-US" sz="1300" b="1" dirty="0">
                <a:solidFill>
                  <a:schemeClr val="tx1"/>
                </a:solidFill>
              </a:rPr>
              <a:t>far-red</a:t>
            </a:r>
            <a:r>
              <a:rPr lang="en-US" sz="1300" dirty="0">
                <a:solidFill>
                  <a:schemeClr val="tx1"/>
                </a:solidFill>
              </a:rPr>
              <a:t> pulse to oxidise Q</a:t>
            </a:r>
            <a:r>
              <a:rPr lang="en-US" sz="1300" baseline="-40000" dirty="0">
                <a:solidFill>
                  <a:schemeClr val="tx1"/>
                </a:solidFill>
              </a:rPr>
              <a:t>A</a:t>
            </a:r>
            <a:r>
              <a:rPr lang="en-US" sz="1300" dirty="0">
                <a:solidFill>
                  <a:schemeClr val="tx1"/>
                </a:solidFill>
              </a:rPr>
              <a:t> before F</a:t>
            </a:r>
            <a:r>
              <a:rPr lang="en-US" sz="1300" baseline="-40000" dirty="0">
                <a:solidFill>
                  <a:schemeClr val="tx1"/>
                </a:solidFill>
              </a:rPr>
              <a:t>o</a:t>
            </a:r>
            <a:r>
              <a:rPr lang="en-US" sz="1300" dirty="0">
                <a:solidFill>
                  <a:schemeClr val="tx1"/>
                </a:solidFill>
              </a:rPr>
              <a:t>.</a:t>
            </a:r>
            <a:endParaRPr lang="en-US" sz="1300" dirty="0"/>
          </a:p>
        </p:txBody>
      </p:sp>
      <p:sp>
        <p:nvSpPr>
          <p:cNvPr id="14" name="card"/>
          <p:cNvSpPr/>
          <p:nvPr/>
        </p:nvSpPr>
        <p:spPr>
          <a:xfrm>
            <a:off x="8046720" y="137160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5" name="icon circle"/>
          <p:cNvSpPr/>
          <p:nvPr/>
        </p:nvSpPr>
        <p:spPr>
          <a:xfrm>
            <a:off x="8229600" y="1527048"/>
            <a:ext cx="420624" cy="420624"/>
          </a:xfrm>
          <a:prstGeom prst="ellipse">
            <a:avLst/>
          </a:prstGeom>
          <a:solidFill>
            <a:schemeClr val="accent3"/>
          </a:solidFill>
          <a:ln/>
        </p:spPr>
      </p:sp>
      <p:pic>
        <p:nvPicPr>
          <p:cNvPr id="16" name="Image 2" descr="Clock icon">    </p:cNvPr>
          <p:cNvPicPr>
            <a:picLocks noChangeAspect="1"/>
          </p:cNvPicPr>
          <p:nvPr/>
        </p:nvPicPr>
        <p:blipFill>
          <a:blip r:embed="rId3"/>
          <a:stretch>
            <a:fillRect/>
          </a:stretch>
        </p:blipFill>
        <p:spPr>
          <a:xfrm>
            <a:off x="8338962" y="1636410"/>
            <a:ext cx="201900" cy="201900"/>
          </a:xfrm>
          <a:prstGeom prst="rect">
            <a:avLst/>
          </a:prstGeom>
        </p:spPr>
      </p:pic>
      <p:sp>
        <p:nvSpPr>
          <p:cNvPr id="17" name="Text 11"/>
          <p:cNvSpPr txBox="1"/>
          <p:nvPr/>
        </p:nvSpPr>
        <p:spPr>
          <a:xfrm>
            <a:off x="8759952"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NPQ not fully relaxed</a:t>
            </a:r>
            <a:endParaRPr lang="en-US" sz="1500" dirty="0"/>
          </a:p>
        </p:txBody>
      </p:sp>
      <p:sp>
        <p:nvSpPr>
          <p:cNvPr id="18" name="Text 12"/>
          <p:cNvSpPr txBox="1"/>
          <p:nvPr/>
        </p:nvSpPr>
        <p:spPr>
          <a:xfrm>
            <a:off x="8229600" y="205740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Zeaxanthin quenching relaxes slowly → F</a:t>
            </a:r>
            <a:r>
              <a:rPr lang="en-US" sz="1300" baseline="-40000" dirty="0">
                <a:solidFill>
                  <a:schemeClr val="tx1"/>
                </a:solidFill>
              </a:rPr>
              <a:t>m</a:t>
            </a:r>
            <a:r>
              <a:rPr lang="en-US" sz="1300" dirty="0">
                <a:solidFill>
                  <a:schemeClr val="tx1"/>
                </a:solidFill>
              </a:rPr>
              <a:t> underestimated. Dark-adapt long enough.</a:t>
            </a:r>
            <a:endParaRPr lang="en-US" sz="1300" dirty="0"/>
          </a:p>
        </p:txBody>
      </p:sp>
      <p:sp>
        <p:nvSpPr>
          <p:cNvPr id="19" name="card"/>
          <p:cNvSpPr/>
          <p:nvPr/>
        </p:nvSpPr>
        <p:spPr>
          <a:xfrm>
            <a:off x="548640" y="379476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20" name="icon circle"/>
          <p:cNvSpPr/>
          <p:nvPr/>
        </p:nvSpPr>
        <p:spPr>
          <a:xfrm>
            <a:off x="731520" y="3950208"/>
            <a:ext cx="420624" cy="420624"/>
          </a:xfrm>
          <a:prstGeom prst="ellipse">
            <a:avLst/>
          </a:prstGeom>
          <a:solidFill>
            <a:schemeClr val="accent5"/>
          </a:solidFill>
          <a:ln/>
        </p:spPr>
      </p:sp>
      <p:pic>
        <p:nvPicPr>
          <p:cNvPr id="21" name="Image 3" descr="Bolt icon">    </p:cNvPr>
          <p:cNvPicPr>
            <a:picLocks noChangeAspect="1"/>
          </p:cNvPicPr>
          <p:nvPr/>
        </p:nvPicPr>
        <p:blipFill>
          <a:blip r:embed="rId4"/>
          <a:stretch>
            <a:fillRect/>
          </a:stretch>
        </p:blipFill>
        <p:spPr>
          <a:xfrm>
            <a:off x="840882" y="4059570"/>
            <a:ext cx="201900" cy="201900"/>
          </a:xfrm>
          <a:prstGeom prst="rect">
            <a:avLst/>
          </a:prstGeom>
        </p:spPr>
      </p:pic>
      <p:sp>
        <p:nvSpPr>
          <p:cNvPr id="22" name="Text 15"/>
          <p:cNvSpPr txBox="1"/>
          <p:nvPr/>
        </p:nvSpPr>
        <p:spPr>
          <a:xfrm>
            <a:off x="1261872" y="393192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Pulse not saturating</a:t>
            </a:r>
            <a:endParaRPr lang="en-US" sz="1500" dirty="0"/>
          </a:p>
        </p:txBody>
      </p:sp>
      <p:sp>
        <p:nvSpPr>
          <p:cNvPr id="23" name="Text 16"/>
          <p:cNvSpPr txBox="1"/>
          <p:nvPr/>
        </p:nvSpPr>
        <p:spPr>
          <a:xfrm>
            <a:off x="731520" y="448056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~2000 µmol m⁻² s⁻¹ may miss true F</a:t>
            </a:r>
            <a:r>
              <a:rPr lang="en-US" sz="1300" baseline="-40000" dirty="0">
                <a:solidFill>
                  <a:schemeClr val="tx1"/>
                </a:solidFill>
              </a:rPr>
              <a:t>m</a:t>
            </a:r>
            <a:r>
              <a:rPr lang="en-US" sz="1300" dirty="0">
                <a:solidFill>
                  <a:schemeClr val="tx1"/>
                </a:solidFill>
              </a:rPr>
              <a:t>′ in high light; aim 4000–8000 (more for C₄).</a:t>
            </a:r>
            <a:endParaRPr lang="en-US" sz="1300" dirty="0"/>
          </a:p>
        </p:txBody>
      </p:sp>
      <p:sp>
        <p:nvSpPr>
          <p:cNvPr id="24" name="card"/>
          <p:cNvSpPr/>
          <p:nvPr/>
        </p:nvSpPr>
        <p:spPr>
          <a:xfrm>
            <a:off x="4297680" y="379476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25" name="icon circle"/>
          <p:cNvSpPr/>
          <p:nvPr/>
        </p:nvSpPr>
        <p:spPr>
          <a:xfrm>
            <a:off x="4480560" y="3950208"/>
            <a:ext cx="420624" cy="420624"/>
          </a:xfrm>
          <a:prstGeom prst="ellipse">
            <a:avLst/>
          </a:prstGeom>
          <a:solidFill>
            <a:schemeClr val="accent6"/>
          </a:solidFill>
          <a:ln/>
        </p:spPr>
      </p:sp>
      <p:pic>
        <p:nvPicPr>
          <p:cNvPr id="26" name="Image 4" descr="Sync icon">    </p:cNvPr>
          <p:cNvPicPr>
            <a:picLocks noChangeAspect="1"/>
          </p:cNvPicPr>
          <p:nvPr/>
        </p:nvPicPr>
        <p:blipFill>
          <a:blip r:embed="rId5"/>
          <a:stretch>
            <a:fillRect/>
          </a:stretch>
        </p:blipFill>
        <p:spPr>
          <a:xfrm>
            <a:off x="4589922" y="4059570"/>
            <a:ext cx="201900" cy="201900"/>
          </a:xfrm>
          <a:prstGeom prst="rect">
            <a:avLst/>
          </a:prstGeom>
        </p:spPr>
      </p:pic>
      <p:sp>
        <p:nvSpPr>
          <p:cNvPr id="27" name="Text 19"/>
          <p:cNvSpPr txBox="1"/>
          <p:nvPr/>
        </p:nvSpPr>
        <p:spPr>
          <a:xfrm>
            <a:off x="5010912" y="393192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High modulation frequency in the dark</a:t>
            </a:r>
            <a:endParaRPr lang="en-US" sz="1500" dirty="0"/>
          </a:p>
        </p:txBody>
      </p:sp>
      <p:sp>
        <p:nvSpPr>
          <p:cNvPr id="28" name="Text 20"/>
          <p:cNvSpPr txBox="1"/>
          <p:nvPr/>
        </p:nvSpPr>
        <p:spPr>
          <a:xfrm>
            <a:off x="4480560" y="448056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Useful during pulses but not for F</a:t>
            </a:r>
            <a:r>
              <a:rPr lang="en-US" sz="1300" baseline="-40000" dirty="0">
                <a:solidFill>
                  <a:schemeClr val="tx1"/>
                </a:solidFill>
              </a:rPr>
              <a:t>o</a:t>
            </a:r>
            <a:r>
              <a:rPr lang="en-US" sz="1300" dirty="0">
                <a:solidFill>
                  <a:schemeClr val="tx1"/>
                </a:solidFill>
              </a:rPr>
              <a:t>; most devices switch automatically.</a:t>
            </a:r>
            <a:endParaRPr lang="en-US" sz="1300" dirty="0"/>
          </a:p>
        </p:txBody>
      </p:sp>
      <p:sp>
        <p:nvSpPr>
          <p:cNvPr id="29" name="card"/>
          <p:cNvSpPr/>
          <p:nvPr/>
        </p:nvSpPr>
        <p:spPr>
          <a:xfrm>
            <a:off x="8046720" y="379476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30" name="icon circle"/>
          <p:cNvSpPr/>
          <p:nvPr/>
        </p:nvSpPr>
        <p:spPr>
          <a:xfrm>
            <a:off x="8229600" y="3950208"/>
            <a:ext cx="420624" cy="420624"/>
          </a:xfrm>
          <a:prstGeom prst="ellipse">
            <a:avLst/>
          </a:prstGeom>
          <a:solidFill>
            <a:schemeClr val="accent2"/>
          </a:solidFill>
          <a:ln/>
        </p:spPr>
      </p:sp>
      <p:pic>
        <p:nvPicPr>
          <p:cNvPr id="31" name="Image 5" descr="ExclamationTriangle icon">    </p:cNvPr>
          <p:cNvPicPr>
            <a:picLocks noChangeAspect="1"/>
          </p:cNvPicPr>
          <p:nvPr/>
        </p:nvPicPr>
        <p:blipFill>
          <a:blip r:embed="rId6"/>
          <a:stretch>
            <a:fillRect/>
          </a:stretch>
        </p:blipFill>
        <p:spPr>
          <a:xfrm>
            <a:off x="8338962" y="4059570"/>
            <a:ext cx="201900" cy="201900"/>
          </a:xfrm>
          <a:prstGeom prst="rect">
            <a:avLst/>
          </a:prstGeom>
        </p:spPr>
      </p:pic>
      <p:sp>
        <p:nvSpPr>
          <p:cNvPr id="32" name="Text 23"/>
          <p:cNvSpPr txBox="1"/>
          <p:nvPr/>
        </p:nvSpPr>
        <p:spPr>
          <a:xfrm>
            <a:off x="8759952" y="393192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Quenching during the pulse</a:t>
            </a:r>
            <a:endParaRPr lang="en-US" sz="1500" dirty="0"/>
          </a:p>
        </p:txBody>
      </p:sp>
      <p:sp>
        <p:nvSpPr>
          <p:cNvPr id="33" name="Text 24"/>
          <p:cNvSpPr txBox="1"/>
          <p:nvPr/>
        </p:nvSpPr>
        <p:spPr>
          <a:xfrm>
            <a:off x="8229600" y="448056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Check there is no decline during the pulse (pulse too long).</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Interpreting F</a:t>
            </a:r>
            <a:r>
              <a:rPr lang="en-US" sz="3200" b="1" baseline="-40000" dirty="0">
                <a:solidFill>
                  <a:schemeClr val="tx2"/>
                </a:solidFill>
              </a:rPr>
              <a:t>v</a:t>
            </a:r>
            <a:r>
              <a:rPr lang="en-US" sz="3200" b="1" dirty="0">
                <a:solidFill>
                  <a:schemeClr val="tx2"/>
                </a:solidFill>
              </a:rPr>
              <a:t>/F</a:t>
            </a:r>
            <a:r>
              <a:rPr lang="en-US" sz="3200" b="1" baseline="-40000" dirty="0">
                <a:solidFill>
                  <a:schemeClr val="tx2"/>
                </a:solidFill>
              </a:rPr>
              <a:t>m</a:t>
            </a:r>
            <a:r>
              <a:rPr lang="en-US" sz="3200" b="1" dirty="0">
                <a:solidFill>
                  <a:schemeClr val="tx2"/>
                </a:solidFill>
              </a:rPr>
              <a:t>: four common misconceptions</a:t>
            </a:r>
            <a:endParaRPr lang="en-US" sz="3200" dirty="0"/>
          </a:p>
        </p:txBody>
      </p:sp>
      <p:sp>
        <p:nvSpPr>
          <p:cNvPr id="4" name="card"/>
          <p:cNvSpPr/>
          <p:nvPr/>
        </p:nvSpPr>
        <p:spPr>
          <a:xfrm>
            <a:off x="548640" y="1371600"/>
            <a:ext cx="397764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5" name="Text 2"/>
          <p:cNvSpPr txBox="1"/>
          <p:nvPr/>
        </p:nvSpPr>
        <p:spPr>
          <a:xfrm>
            <a:off x="731520" y="1508760"/>
            <a:ext cx="3657600" cy="365760"/>
          </a:xfrm>
          <a:prstGeom prst="rect">
            <a:avLst/>
          </a:prstGeom>
          <a:noFill/>
          <a:ln/>
        </p:spPr>
        <p:txBody>
          <a:bodyPr wrap="square" lIns="0" tIns="0" rIns="0" bIns="0" rtlCol="0" anchor="ctr"/>
          <a:lstStyle/>
          <a:p>
            <a:pPr indent="0" marL="0">
              <a:buNone/>
            </a:pPr>
            <a:r>
              <a:rPr lang="en-US" sz="1500" b="1" dirty="0">
                <a:solidFill>
                  <a:schemeClr val="accent2"/>
                </a:solidFill>
              </a:rPr>
              <a:t>(i) Cause is hard to assign</a:t>
            </a:r>
            <a:endParaRPr lang="en-US" sz="1500" dirty="0"/>
          </a:p>
        </p:txBody>
      </p:sp>
      <p:sp>
        <p:nvSpPr>
          <p:cNvPr id="6" name="Text 3"/>
          <p:cNvSpPr txBox="1"/>
          <p:nvPr/>
        </p:nvSpPr>
        <p:spPr>
          <a:xfrm>
            <a:off x="731520" y="1920240"/>
            <a:ext cx="3611880" cy="160020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Leaf optical properties change under stress (e.g. drought) → F</a:t>
            </a:r>
            <a:r>
              <a:rPr lang="en-US" sz="1300" baseline="-40000" dirty="0">
                <a:solidFill>
                  <a:schemeClr val="tx1"/>
                </a:solidFill>
              </a:rPr>
              <a:t>m</a:t>
            </a:r>
            <a:r>
              <a:rPr lang="en-US" sz="1300" dirty="0">
                <a:solidFill>
                  <a:schemeClr val="tx1"/>
                </a:solidFill>
              </a:rPr>
              <a:t> and F</a:t>
            </a:r>
            <a:r>
              <a:rPr lang="en-US" sz="1300" baseline="-40000" dirty="0">
                <a:solidFill>
                  <a:schemeClr val="tx1"/>
                </a:solidFill>
              </a:rPr>
              <a:t>o</a:t>
            </a:r>
            <a:r>
              <a:rPr lang="en-US" sz="1300" dirty="0">
                <a:solidFill>
                  <a:schemeClr val="tx1"/>
                </a:solidFill>
              </a:rPr>
              <a:t> change via absorptance. The </a:t>
            </a:r>
            <a:r>
              <a:rPr lang="en-US" sz="1300" b="1" dirty="0">
                <a:solidFill>
                  <a:schemeClr val="tx1"/>
                </a:solidFill>
              </a:rPr>
              <a:t>ratio</a:t>
            </a:r>
            <a:r>
              <a:rPr lang="en-US" sz="1300" dirty="0">
                <a:solidFill>
                  <a:schemeClr val="tx1"/>
                </a:solidFill>
              </a:rPr>
              <a:t> removes this, but its cause still needs other data.</a:t>
            </a:r>
            <a:endParaRPr lang="en-US" sz="1300" dirty="0"/>
          </a:p>
        </p:txBody>
      </p:sp>
      <p:sp>
        <p:nvSpPr>
          <p:cNvPr id="7" name="card"/>
          <p:cNvSpPr/>
          <p:nvPr/>
        </p:nvSpPr>
        <p:spPr>
          <a:xfrm>
            <a:off x="4709160" y="1371600"/>
            <a:ext cx="397764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8" name="Text 5"/>
          <p:cNvSpPr txBox="1"/>
          <p:nvPr/>
        </p:nvSpPr>
        <p:spPr>
          <a:xfrm>
            <a:off x="4892040" y="1508760"/>
            <a:ext cx="3657600" cy="365760"/>
          </a:xfrm>
          <a:prstGeom prst="rect">
            <a:avLst/>
          </a:prstGeom>
          <a:noFill/>
          <a:ln/>
        </p:spPr>
        <p:txBody>
          <a:bodyPr wrap="square" lIns="0" tIns="0" rIns="0" bIns="0" rtlCol="0" anchor="ctr"/>
          <a:lstStyle/>
          <a:p>
            <a:pPr indent="0" marL="0">
              <a:buNone/>
            </a:pPr>
            <a:r>
              <a:rPr lang="en-US" sz="1500" b="1" dirty="0">
                <a:solidFill>
                  <a:schemeClr val="accent2"/>
                </a:solidFill>
              </a:rPr>
              <a:t>(ii) Lower F</a:t>
            </a:r>
            <a:r>
              <a:rPr lang="en-US" sz="1500" b="1" baseline="-40000" dirty="0">
                <a:solidFill>
                  <a:schemeClr val="accent2"/>
                </a:solidFill>
              </a:rPr>
              <a:t>v</a:t>
            </a:r>
            <a:r>
              <a:rPr lang="en-US" sz="1500" b="1" dirty="0">
                <a:solidFill>
                  <a:schemeClr val="accent2"/>
                </a:solidFill>
              </a:rPr>
              <a:t>/F</a:t>
            </a:r>
            <a:r>
              <a:rPr lang="en-US" sz="1500" b="1" baseline="-40000" dirty="0">
                <a:solidFill>
                  <a:schemeClr val="accent2"/>
                </a:solidFill>
              </a:rPr>
              <a:t>m</a:t>
            </a:r>
            <a:r>
              <a:rPr lang="en-US" sz="1500" b="1" dirty="0">
                <a:solidFill>
                  <a:schemeClr val="accent2"/>
                </a:solidFill>
              </a:rPr>
              <a:t> ≠ lower photosynthesis</a:t>
            </a:r>
            <a:endParaRPr lang="en-US" sz="1500" dirty="0"/>
          </a:p>
        </p:txBody>
      </p:sp>
      <p:sp>
        <p:nvSpPr>
          <p:cNvPr id="9" name="Text 6"/>
          <p:cNvSpPr txBox="1"/>
          <p:nvPr/>
        </p:nvSpPr>
        <p:spPr>
          <a:xfrm>
            <a:off x="4892040" y="1920240"/>
            <a:ext cx="3611880" cy="160020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 relates to the </a:t>
            </a:r>
            <a:r>
              <a:rPr lang="en-US" sz="1300" b="1" dirty="0">
                <a:solidFill>
                  <a:schemeClr val="tx1"/>
                </a:solidFill>
              </a:rPr>
              <a:t>light-limited</a:t>
            </a:r>
            <a:r>
              <a:rPr lang="en-US" sz="1300" dirty="0">
                <a:solidFill>
                  <a:schemeClr val="tx1"/>
                </a:solidFill>
              </a:rPr>
              <a:t> quantum yield. A leaf can have reduced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 with </a:t>
            </a:r>
            <a:r>
              <a:rPr lang="en-US" sz="1300" b="1" dirty="0">
                <a:solidFill>
                  <a:schemeClr val="tx1"/>
                </a:solidFill>
              </a:rPr>
              <a:t>no penalty</a:t>
            </a:r>
            <a:r>
              <a:rPr lang="en-US" sz="1300" dirty="0">
                <a:solidFill>
                  <a:schemeClr val="tx1"/>
                </a:solidFill>
              </a:rPr>
              <a:t> at high, saturating light.</a:t>
            </a:r>
            <a:endParaRPr lang="en-US" sz="1300" dirty="0"/>
          </a:p>
        </p:txBody>
      </p:sp>
      <p:sp>
        <p:nvSpPr>
          <p:cNvPr id="10" name="card"/>
          <p:cNvSpPr/>
          <p:nvPr/>
        </p:nvSpPr>
        <p:spPr>
          <a:xfrm>
            <a:off x="548640" y="3794760"/>
            <a:ext cx="397764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1" name="Text 8"/>
          <p:cNvSpPr txBox="1"/>
          <p:nvPr/>
        </p:nvSpPr>
        <p:spPr>
          <a:xfrm>
            <a:off x="731520" y="3931920"/>
            <a:ext cx="3657600" cy="365760"/>
          </a:xfrm>
          <a:prstGeom prst="rect">
            <a:avLst/>
          </a:prstGeom>
          <a:noFill/>
          <a:ln/>
        </p:spPr>
        <p:txBody>
          <a:bodyPr wrap="square" lIns="0" tIns="0" rIns="0" bIns="0" rtlCol="0" anchor="ctr"/>
          <a:lstStyle/>
          <a:p>
            <a:pPr indent="0" marL="0">
              <a:buNone/>
            </a:pPr>
            <a:r>
              <a:rPr lang="en-US" sz="1500" b="1" dirty="0">
                <a:solidFill>
                  <a:schemeClr val="accent2"/>
                </a:solidFill>
              </a:rPr>
              <a:t>(iii) Stress may need high light to show</a:t>
            </a:r>
            <a:endParaRPr lang="en-US" sz="1500" dirty="0"/>
          </a:p>
        </p:txBody>
      </p:sp>
      <p:sp>
        <p:nvSpPr>
          <p:cNvPr id="12" name="Text 9"/>
          <p:cNvSpPr txBox="1"/>
          <p:nvPr/>
        </p:nvSpPr>
        <p:spPr>
          <a:xfrm>
            <a:off x="731520" y="4343400"/>
            <a:ext cx="3611880" cy="160020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Inactivation of PSII may only appear when light is high enough; otherwise no difference between treatments.</a:t>
            </a:r>
            <a:endParaRPr lang="en-US" sz="1300" dirty="0"/>
          </a:p>
        </p:txBody>
      </p:sp>
      <p:sp>
        <p:nvSpPr>
          <p:cNvPr id="13" name="card"/>
          <p:cNvSpPr/>
          <p:nvPr/>
        </p:nvSpPr>
        <p:spPr>
          <a:xfrm>
            <a:off x="4709160" y="3794760"/>
            <a:ext cx="397764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4" name="Text 11"/>
          <p:cNvSpPr txBox="1"/>
          <p:nvPr/>
        </p:nvSpPr>
        <p:spPr>
          <a:xfrm>
            <a:off x="4892040" y="3931920"/>
            <a:ext cx="3657600" cy="365760"/>
          </a:xfrm>
          <a:prstGeom prst="rect">
            <a:avLst/>
          </a:prstGeom>
          <a:noFill/>
          <a:ln/>
        </p:spPr>
        <p:txBody>
          <a:bodyPr wrap="square" lIns="0" tIns="0" rIns="0" bIns="0" rtlCol="0" anchor="ctr"/>
          <a:lstStyle/>
          <a:p>
            <a:pPr indent="0" marL="0">
              <a:buNone/>
            </a:pPr>
            <a:r>
              <a:rPr lang="en-US" sz="1500" b="1" dirty="0">
                <a:solidFill>
                  <a:schemeClr val="accent2"/>
                </a:solidFill>
              </a:rPr>
              <a:t>(iv) It only sees PSII</a:t>
            </a:r>
            <a:endParaRPr lang="en-US" sz="1500" dirty="0"/>
          </a:p>
        </p:txBody>
      </p:sp>
      <p:sp>
        <p:nvSpPr>
          <p:cNvPr id="15" name="Text 12"/>
          <p:cNvSpPr txBox="1"/>
          <p:nvPr/>
        </p:nvSpPr>
        <p:spPr>
          <a:xfrm>
            <a:off x="4892040" y="4343400"/>
            <a:ext cx="3611880" cy="160020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Stress elsewhere (e.g. roots) may not change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 Fluorescence is </a:t>
            </a:r>
            <a:r>
              <a:rPr lang="en-US" sz="1300" b="1" dirty="0">
                <a:solidFill>
                  <a:schemeClr val="tx1"/>
                </a:solidFill>
              </a:rPr>
              <a:t>not a generic stress detector</a:t>
            </a:r>
            <a:r>
              <a:rPr lang="en-US" sz="1300" dirty="0">
                <a:solidFill>
                  <a:schemeClr val="tx1"/>
                </a:solidFill>
              </a:rPr>
              <a:t>.</a:t>
            </a:r>
            <a:endParaRPr lang="en-US" sz="1300" dirty="0"/>
          </a:p>
        </p:txBody>
      </p:sp>
      <p:sp>
        <p:nvSpPr>
          <p:cNvPr id="16" name="figure frame"/>
          <p:cNvSpPr/>
          <p:nvPr/>
        </p:nvSpPr>
        <p:spPr>
          <a:xfrm>
            <a:off x="9006840" y="1371600"/>
            <a:ext cx="2633472" cy="1874520"/>
          </a:xfrm>
          <a:prstGeom prst="roundRect">
            <a:avLst>
              <a:gd name="adj" fmla="val 2927"/>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17" name="Image 0" descr="Imaging F_{v}/F_{m} of plants">    </p:cNvPr>
          <p:cNvPicPr>
            <a:picLocks noChangeAspect="1"/>
          </p:cNvPicPr>
          <p:nvPr/>
        </p:nvPicPr>
        <p:blipFill>
          <a:blip r:embed="rId1"/>
          <a:stretch>
            <a:fillRect/>
          </a:stretch>
        </p:blipFill>
        <p:spPr>
          <a:xfrm>
            <a:off x="9098280" y="1908145"/>
            <a:ext cx="2450592" cy="801429"/>
          </a:xfrm>
          <a:prstGeom prst="rect">
            <a:avLst/>
          </a:prstGeom>
        </p:spPr>
      </p:pic>
      <p:sp>
        <p:nvSpPr>
          <p:cNvPr id="18" name="Text 14"/>
          <p:cNvSpPr txBox="1"/>
          <p:nvPr/>
        </p:nvSpPr>
        <p:spPr>
          <a:xfrm>
            <a:off x="9006840" y="3291840"/>
            <a:ext cx="2633472" cy="320040"/>
          </a:xfrm>
          <a:prstGeom prst="rect">
            <a:avLst/>
          </a:prstGeom>
          <a:noFill/>
          <a:ln/>
        </p:spPr>
        <p:txBody>
          <a:bodyPr wrap="square" lIns="0" tIns="0" rIns="0" bIns="0" rtlCol="0" anchor="t"/>
          <a:lstStyle/>
          <a:p>
            <a:pPr indent="0" marL="0">
              <a:buNone/>
            </a:pPr>
            <a:r>
              <a:rPr lang="en-US" sz="1100" i="1" dirty="0">
                <a:solidFill>
                  <a:schemeClr val="accent6"/>
                </a:solidFill>
              </a:rPr>
              <a:t>Imaging F</a:t>
            </a:r>
            <a:r>
              <a:rPr lang="en-US" sz="1100" i="1" baseline="-40000" dirty="0">
                <a:solidFill>
                  <a:schemeClr val="accent6"/>
                </a:solidFill>
              </a:rPr>
              <a:t>v</a:t>
            </a:r>
            <a:r>
              <a:rPr lang="en-US" sz="1100" i="1" dirty="0">
                <a:solidFill>
                  <a:schemeClr val="accent6"/>
                </a:solidFill>
              </a:rPr>
              <a:t>/F</a:t>
            </a:r>
            <a:r>
              <a:rPr lang="en-US" sz="1100" i="1" baseline="-40000" dirty="0">
                <a:solidFill>
                  <a:schemeClr val="accent6"/>
                </a:solidFill>
              </a:rPr>
              <a:t>m</a:t>
            </a:r>
            <a:r>
              <a:rPr lang="en-US" sz="1100" i="1" dirty="0">
                <a:solidFill>
                  <a:schemeClr val="accent6"/>
                </a:solidFill>
              </a:rPr>
              <a:t> of plants</a:t>
            </a:r>
            <a:endParaRPr lang="en-US" sz="1100" dirty="0"/>
          </a:p>
        </p:txBody>
      </p:sp>
      <p:sp>
        <p:nvSpPr>
          <p:cNvPr id="19" name="card"/>
          <p:cNvSpPr/>
          <p:nvPr/>
        </p:nvSpPr>
        <p:spPr>
          <a:xfrm>
            <a:off x="9006840" y="3794760"/>
            <a:ext cx="26334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20" name="icon circle"/>
          <p:cNvSpPr/>
          <p:nvPr/>
        </p:nvSpPr>
        <p:spPr>
          <a:xfrm>
            <a:off x="9189720" y="3950208"/>
            <a:ext cx="420624" cy="420624"/>
          </a:xfrm>
          <a:prstGeom prst="ellipse">
            <a:avLst/>
          </a:prstGeom>
          <a:solidFill>
            <a:schemeClr val="accent3"/>
          </a:solidFill>
          <a:ln/>
        </p:spPr>
      </p:sp>
      <p:pic>
        <p:nvPicPr>
          <p:cNvPr id="21" name="Image 1" descr="Lightbulb icon">    </p:cNvPr>
          <p:cNvPicPr>
            <a:picLocks noChangeAspect="1"/>
          </p:cNvPicPr>
          <p:nvPr/>
        </p:nvPicPr>
        <p:blipFill>
          <a:blip r:embed="rId2"/>
          <a:stretch>
            <a:fillRect/>
          </a:stretch>
        </p:blipFill>
        <p:spPr>
          <a:xfrm>
            <a:off x="9299082" y="4059570"/>
            <a:ext cx="201900" cy="201900"/>
          </a:xfrm>
          <a:prstGeom prst="rect">
            <a:avLst/>
          </a:prstGeom>
        </p:spPr>
      </p:pic>
      <p:sp>
        <p:nvSpPr>
          <p:cNvPr id="22" name="Text 17"/>
          <p:cNvSpPr txBox="1"/>
          <p:nvPr/>
        </p:nvSpPr>
        <p:spPr>
          <a:xfrm>
            <a:off x="9720072" y="3931920"/>
            <a:ext cx="1783080" cy="457200"/>
          </a:xfrm>
          <a:prstGeom prst="rect">
            <a:avLst/>
          </a:prstGeom>
          <a:noFill/>
          <a:ln/>
        </p:spPr>
        <p:txBody>
          <a:bodyPr wrap="square" lIns="0" tIns="0" rIns="0" bIns="0" rtlCol="0" anchor="ctr"/>
          <a:lstStyle/>
          <a:p>
            <a:pPr indent="0" marL="0">
              <a:buNone/>
            </a:pPr>
            <a:r>
              <a:rPr lang="en-US" sz="1600" b="1" dirty="0">
                <a:solidFill>
                  <a:schemeClr val="tx2"/>
                </a:solidFill>
              </a:rPr>
              <a:t>Takeaway</a:t>
            </a:r>
            <a:endParaRPr lang="en-US" sz="1600" dirty="0"/>
          </a:p>
        </p:txBody>
      </p:sp>
      <p:sp>
        <p:nvSpPr>
          <p:cNvPr id="23" name="Text 18"/>
          <p:cNvSpPr txBox="1"/>
          <p:nvPr/>
        </p:nvSpPr>
        <p:spPr>
          <a:xfrm>
            <a:off x="9189720" y="4480560"/>
            <a:ext cx="22677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Use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 with light-adapted data, controls and other measurements.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Problems with measurements in the light</a:t>
            </a:r>
            <a:endParaRPr lang="en-US" sz="3200" dirty="0"/>
          </a:p>
        </p:txBody>
      </p:sp>
      <p:sp>
        <p:nvSpPr>
          <p:cNvPr id="4" name="card"/>
          <p:cNvSpPr/>
          <p:nvPr/>
        </p:nvSpPr>
        <p:spPr>
          <a:xfrm>
            <a:off x="548640" y="1325880"/>
            <a:ext cx="5440680"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481328"/>
            <a:ext cx="420624" cy="420624"/>
          </a:xfrm>
          <a:prstGeom prst="ellipse">
            <a:avLst/>
          </a:prstGeom>
          <a:solidFill>
            <a:schemeClr val="accent3"/>
          </a:solidFill>
          <a:ln/>
        </p:spPr>
      </p:sp>
      <p:pic>
        <p:nvPicPr>
          <p:cNvPr id="6" name="Image 0" descr="Sun icon">    </p:cNvPr>
          <p:cNvPicPr>
            <a:picLocks noChangeAspect="1"/>
          </p:cNvPicPr>
          <p:nvPr/>
        </p:nvPicPr>
        <p:blipFill>
          <a:blip r:embed="rId1"/>
          <a:stretch>
            <a:fillRect/>
          </a:stretch>
        </p:blipFill>
        <p:spPr>
          <a:xfrm>
            <a:off x="840882" y="1590690"/>
            <a:ext cx="201900" cy="201900"/>
          </a:xfrm>
          <a:prstGeom prst="rect">
            <a:avLst/>
          </a:prstGeom>
        </p:spPr>
      </p:pic>
      <p:sp>
        <p:nvSpPr>
          <p:cNvPr id="7" name="Text 3"/>
          <p:cNvSpPr txBox="1"/>
          <p:nvPr/>
        </p:nvSpPr>
        <p:spPr>
          <a:xfrm>
            <a:off x="1261872" y="146304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Φ</a:t>
            </a:r>
            <a:r>
              <a:rPr lang="en-US" sz="1600" b="1" baseline="-40000" dirty="0">
                <a:solidFill>
                  <a:schemeClr val="tx2"/>
                </a:solidFill>
              </a:rPr>
              <a:t>PSII</a:t>
            </a:r>
            <a:r>
              <a:rPr lang="en-US" sz="1600" b="1" dirty="0">
                <a:solidFill>
                  <a:schemeClr val="tx2"/>
                </a:solidFill>
              </a:rPr>
              <a:t> depends on light</a:t>
            </a:r>
            <a:endParaRPr lang="en-US" sz="1600" dirty="0"/>
          </a:p>
        </p:txBody>
      </p:sp>
      <p:sp>
        <p:nvSpPr>
          <p:cNvPr id="8" name="Text 4"/>
          <p:cNvSpPr txBox="1"/>
          <p:nvPr/>
        </p:nvSpPr>
        <p:spPr>
          <a:xfrm>
            <a:off x="731520" y="2011680"/>
            <a:ext cx="5074920"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Varies substantially with even small PAR changes</a:t>
            </a:r>
            <a:endParaRPr lang="en-US" sz="1300" dirty="0"/>
          </a:p>
          <a:p>
            <a:pPr marL="177800" indent="-177800">
              <a:spcAft>
                <a:spcPts val="400"/>
              </a:spcAft>
              <a:buSzPct val="100000"/>
              <a:buChar char="•"/>
            </a:pPr>
            <a:r>
              <a:rPr lang="en-US" sz="1300" dirty="0">
                <a:solidFill>
                  <a:schemeClr val="tx1"/>
                </a:solidFill>
              </a:rPr>
              <a:t>Record </a:t>
            </a:r>
            <a:r>
              <a:rPr lang="en-US" sz="1300" b="1" dirty="0">
                <a:solidFill>
                  <a:schemeClr val="tx1"/>
                </a:solidFill>
              </a:rPr>
              <a:t>PAR at the leaf surface</a:t>
            </a:r>
            <a:r>
              <a:rPr lang="en-US" sz="1300" dirty="0">
                <a:solidFill>
                  <a:schemeClr val="tx1"/>
                </a:solidFill>
              </a:rPr>
              <a:t>, or measure when PAR is saturating</a:t>
            </a:r>
            <a:endParaRPr lang="en-US" sz="1300" dirty="0"/>
          </a:p>
          <a:p>
            <a:pPr marL="177800" indent="-177800">
              <a:spcAft>
                <a:spcPts val="400"/>
              </a:spcAft>
              <a:buSzPct val="100000"/>
              <a:buChar char="•"/>
            </a:pPr>
            <a:r>
              <a:rPr lang="en-US" sz="1300" dirty="0">
                <a:solidFill>
                  <a:schemeClr val="tx1"/>
                </a:solidFill>
              </a:rPr>
              <a:t>Ensure steady state (F′ stable) before the pulse</a:t>
            </a:r>
            <a:endParaRPr lang="en-US" sz="1300" dirty="0"/>
          </a:p>
        </p:txBody>
      </p:sp>
      <p:sp>
        <p:nvSpPr>
          <p:cNvPr id="9" name="card"/>
          <p:cNvSpPr/>
          <p:nvPr/>
        </p:nvSpPr>
        <p:spPr>
          <a:xfrm>
            <a:off x="548640" y="3840480"/>
            <a:ext cx="5440680"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731520" y="3995928"/>
            <a:ext cx="420624" cy="420624"/>
          </a:xfrm>
          <a:prstGeom prst="ellipse">
            <a:avLst/>
          </a:prstGeom>
          <a:solidFill>
            <a:schemeClr val="accent1"/>
          </a:solidFill>
          <a:ln/>
        </p:spPr>
      </p:sp>
      <p:pic>
        <p:nvPicPr>
          <p:cNvPr id="11" name="Image 1" descr="Calculator icon">    </p:cNvPr>
          <p:cNvPicPr>
            <a:picLocks noChangeAspect="1"/>
          </p:cNvPicPr>
          <p:nvPr/>
        </p:nvPicPr>
        <p:blipFill>
          <a:blip r:embed="rId2"/>
          <a:stretch>
            <a:fillRect/>
          </a:stretch>
        </p:blipFill>
        <p:spPr>
          <a:xfrm>
            <a:off x="840882" y="4105290"/>
            <a:ext cx="201900" cy="201900"/>
          </a:xfrm>
          <a:prstGeom prst="rect">
            <a:avLst/>
          </a:prstGeom>
        </p:spPr>
      </p:pic>
      <p:sp>
        <p:nvSpPr>
          <p:cNvPr id="12" name="Text 7"/>
          <p:cNvSpPr txBox="1"/>
          <p:nvPr/>
        </p:nvSpPr>
        <p:spPr>
          <a:xfrm>
            <a:off x="1261872" y="397764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ETR assumptions</a:t>
            </a:r>
            <a:endParaRPr lang="en-US" sz="1600" dirty="0"/>
          </a:p>
        </p:txBody>
      </p:sp>
      <p:sp>
        <p:nvSpPr>
          <p:cNvPr id="13" name="Text 8"/>
          <p:cNvSpPr txBox="1"/>
          <p:nvPr/>
        </p:nvSpPr>
        <p:spPr>
          <a:xfrm>
            <a:off x="731520" y="4526280"/>
            <a:ext cx="5074920" cy="155448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Absorptance </a:t>
            </a:r>
            <a:r>
              <a:rPr lang="en-US" sz="1300" b="1" dirty="0">
                <a:solidFill>
                  <a:schemeClr val="tx1"/>
                </a:solidFill>
              </a:rPr>
              <a:t>0.84</a:t>
            </a:r>
            <a:r>
              <a:rPr lang="en-US" sz="1300" dirty="0">
                <a:solidFill>
                  <a:schemeClr val="tx1"/>
                </a:solidFill>
              </a:rPr>
              <a:t> and PSII share </a:t>
            </a:r>
            <a:r>
              <a:rPr lang="en-US" sz="1300" b="1" dirty="0">
                <a:solidFill>
                  <a:schemeClr val="tx1"/>
                </a:solidFill>
              </a:rPr>
              <a:t>0.5</a:t>
            </a:r>
            <a:r>
              <a:rPr lang="en-US" sz="1300" dirty="0">
                <a:solidFill>
                  <a:schemeClr val="tx1"/>
                </a:solidFill>
              </a:rPr>
              <a:t> are averages, not constants</a:t>
            </a:r>
            <a:endParaRPr lang="en-US" sz="1300" dirty="0"/>
          </a:p>
          <a:p>
            <a:pPr marL="177800" indent="-177800">
              <a:spcAft>
                <a:spcPts val="400"/>
              </a:spcAft>
              <a:buSzPct val="100000"/>
              <a:buChar char="•"/>
            </a:pPr>
            <a:r>
              <a:rPr lang="en-US" sz="1300" dirty="0">
                <a:solidFill>
                  <a:schemeClr val="tx1"/>
                </a:solidFill>
              </a:rPr>
              <a:t>Don't compare ETR of drought-stressed (low turgor) vs hydrated leaves</a:t>
            </a:r>
            <a:endParaRPr lang="en-US" sz="1300" dirty="0"/>
          </a:p>
          <a:p>
            <a:pPr marL="177800" indent="-177800">
              <a:spcAft>
                <a:spcPts val="400"/>
              </a:spcAft>
              <a:buSzPct val="100000"/>
              <a:buChar char="•"/>
            </a:pPr>
            <a:r>
              <a:rPr lang="en-US" sz="1300" dirty="0">
                <a:solidFill>
                  <a:schemeClr val="tx1"/>
                </a:solidFill>
              </a:rPr>
              <a:t>Pigment content and PSII:PSI stoichiometry change these values</a:t>
            </a:r>
            <a:endParaRPr lang="en-US" sz="1300" dirty="0"/>
          </a:p>
        </p:txBody>
      </p:sp>
      <p:sp>
        <p:nvSpPr>
          <p:cNvPr id="14" name="card"/>
          <p:cNvSpPr/>
          <p:nvPr/>
        </p:nvSpPr>
        <p:spPr>
          <a:xfrm>
            <a:off x="6199632" y="1325880"/>
            <a:ext cx="5440680" cy="2377440"/>
          </a:xfrm>
          <a:prstGeom prst="roundRect">
            <a:avLst>
              <a:gd name="adj" fmla="val 3077"/>
            </a:avLst>
          </a:prstGeom>
          <a:solidFill>
            <a:schemeClr val="tx2"/>
          </a:solidFill>
          <a:ln/>
          <a:effectLst>
            <a:outerShdw sx="100000" sy="100000" kx="0" ky="0" algn="bl" rotWithShape="0" blurRad="76200" dist="25400" dir="5400000">
              <a:srgbClr val="000000">
                <a:alpha val="14000"/>
              </a:srgbClr>
            </a:outerShdw>
          </a:effectLst>
        </p:spPr>
      </p:sp>
      <p:sp>
        <p:nvSpPr>
          <p:cNvPr id="15" name="Text 10"/>
          <p:cNvSpPr txBox="1"/>
          <p:nvPr/>
        </p:nvSpPr>
        <p:spPr>
          <a:xfrm>
            <a:off x="6400800" y="1417320"/>
            <a:ext cx="5029200" cy="411480"/>
          </a:xfrm>
          <a:prstGeom prst="rect">
            <a:avLst/>
          </a:prstGeom>
          <a:noFill/>
          <a:ln/>
        </p:spPr>
        <p:txBody>
          <a:bodyPr wrap="square" lIns="0" tIns="0" rIns="0" bIns="0" rtlCol="0" anchor="ctr"/>
          <a:lstStyle/>
          <a:p>
            <a:pPr algn="l" indent="0" marL="0">
              <a:buNone/>
            </a:pPr>
            <a:r>
              <a:rPr lang="en-US" sz="1600" b="1" dirty="0">
                <a:solidFill>
                  <a:schemeClr val="bg1"/>
                </a:solidFill>
              </a:rPr>
              <a:t>Errors in F</a:t>
            </a:r>
            <a:r>
              <a:rPr lang="en-US" sz="1600" b="1" baseline="-40000" dirty="0">
                <a:solidFill>
                  <a:schemeClr val="bg1"/>
                </a:solidFill>
              </a:rPr>
              <a:t>o</a:t>
            </a:r>
            <a:r>
              <a:rPr lang="en-US" sz="1600" b="1" dirty="0">
                <a:solidFill>
                  <a:schemeClr val="bg1"/>
                </a:solidFill>
              </a:rPr>
              <a:t>′ → calculate it</a:t>
            </a:r>
            <a:endParaRPr lang="en-US" sz="1600" dirty="0"/>
          </a:p>
        </p:txBody>
      </p:sp>
      <p:sp>
        <p:nvSpPr>
          <p:cNvPr id="16" name="Text 11"/>
          <p:cNvSpPr txBox="1"/>
          <p:nvPr/>
        </p:nvSpPr>
        <p:spPr>
          <a:xfrm>
            <a:off x="6400800" y="1874520"/>
            <a:ext cx="5029200" cy="640080"/>
          </a:xfrm>
          <a:prstGeom prst="rect">
            <a:avLst/>
          </a:prstGeom>
          <a:noFill/>
          <a:ln/>
        </p:spPr>
        <p:txBody>
          <a:bodyPr wrap="square" lIns="0" tIns="0" rIns="0" bIns="0" rtlCol="0" anchor="ctr"/>
          <a:lstStyle/>
          <a:p>
            <a:pPr algn="ctr" indent="0" marL="0">
              <a:buNone/>
            </a:pPr>
            <a:r>
              <a:rPr lang="en-US" sz="2200" b="1" dirty="0">
                <a:solidFill>
                  <a:schemeClr val="accent3"/>
                </a:solidFill>
              </a:rPr>
              <a:t>F</a:t>
            </a:r>
            <a:r>
              <a:rPr lang="en-US" sz="2200" b="1" baseline="-40000" dirty="0">
                <a:solidFill>
                  <a:schemeClr val="accent3"/>
                </a:solidFill>
              </a:rPr>
              <a:t>o</a:t>
            </a:r>
            <a:r>
              <a:rPr lang="en-US" sz="2200" b="1" dirty="0">
                <a:solidFill>
                  <a:schemeClr val="accent3"/>
                </a:solidFill>
              </a:rPr>
              <a:t>′ = F</a:t>
            </a:r>
            <a:r>
              <a:rPr lang="en-US" sz="2200" b="1" baseline="-40000" dirty="0">
                <a:solidFill>
                  <a:schemeClr val="accent3"/>
                </a:solidFill>
              </a:rPr>
              <a:t>o</a:t>
            </a:r>
            <a:r>
              <a:rPr lang="en-US" sz="2200" b="1" dirty="0">
                <a:solidFill>
                  <a:schemeClr val="accent3"/>
                </a:solidFill>
              </a:rPr>
              <a:t> / [ (F</a:t>
            </a:r>
            <a:r>
              <a:rPr lang="en-US" sz="2200" b="1" baseline="-40000" dirty="0">
                <a:solidFill>
                  <a:schemeClr val="accent3"/>
                </a:solidFill>
              </a:rPr>
              <a:t>v</a:t>
            </a:r>
            <a:r>
              <a:rPr lang="en-US" sz="2200" b="1" dirty="0">
                <a:solidFill>
                  <a:schemeClr val="accent3"/>
                </a:solidFill>
              </a:rPr>
              <a:t>/F</a:t>
            </a:r>
            <a:r>
              <a:rPr lang="en-US" sz="2200" b="1" baseline="-40000" dirty="0">
                <a:solidFill>
                  <a:schemeClr val="accent3"/>
                </a:solidFill>
              </a:rPr>
              <a:t>m</a:t>
            </a:r>
            <a:r>
              <a:rPr lang="en-US" sz="2200" b="1" dirty="0">
                <a:solidFill>
                  <a:schemeClr val="accent3"/>
                </a:solidFill>
              </a:rPr>
              <a:t>) + (F</a:t>
            </a:r>
            <a:r>
              <a:rPr lang="en-US" sz="2200" b="1" baseline="-40000" dirty="0">
                <a:solidFill>
                  <a:schemeClr val="accent3"/>
                </a:solidFill>
              </a:rPr>
              <a:t>o</a:t>
            </a:r>
            <a:r>
              <a:rPr lang="en-US" sz="2200" b="1" dirty="0">
                <a:solidFill>
                  <a:schemeClr val="accent3"/>
                </a:solidFill>
              </a:rPr>
              <a:t>/F</a:t>
            </a:r>
            <a:r>
              <a:rPr lang="en-US" sz="2200" b="1" baseline="-40000" dirty="0">
                <a:solidFill>
                  <a:schemeClr val="accent3"/>
                </a:solidFill>
              </a:rPr>
              <a:t>m</a:t>
            </a:r>
            <a:r>
              <a:rPr lang="en-US" sz="2200" b="1" dirty="0">
                <a:solidFill>
                  <a:schemeClr val="accent3"/>
                </a:solidFill>
              </a:rPr>
              <a:t>′) ]</a:t>
            </a:r>
            <a:endParaRPr lang="en-US" sz="2200" dirty="0"/>
          </a:p>
        </p:txBody>
      </p:sp>
      <p:sp>
        <p:nvSpPr>
          <p:cNvPr id="17" name="Text 12"/>
          <p:cNvSpPr txBox="1"/>
          <p:nvPr/>
        </p:nvSpPr>
        <p:spPr>
          <a:xfrm>
            <a:off x="6400800" y="2560320"/>
            <a:ext cx="5029200" cy="1097280"/>
          </a:xfrm>
          <a:prstGeom prst="rect">
            <a:avLst/>
          </a:prstGeom>
          <a:noFill/>
          <a:ln/>
        </p:spPr>
        <p:txBody>
          <a:bodyPr wrap="square" lIns="508" tIns="508" rIns="508" bIns="508" rtlCol="0" anchor="t"/>
          <a:lstStyle/>
          <a:p>
            <a:pPr indent="0" marL="0">
              <a:spcAft>
                <a:spcPts val="600"/>
              </a:spcAft>
              <a:buNone/>
            </a:pPr>
            <a:r>
              <a:rPr lang="en-US" sz="1200" dirty="0">
                <a:solidFill>
                  <a:schemeClr val="bg2"/>
                </a:solidFill>
              </a:rPr>
              <a:t>Oxborough &amp; Baker (1997). Valid if: PSII centres open at F</a:t>
            </a:r>
            <a:r>
              <a:rPr lang="en-US" sz="1200" baseline="-40000" dirty="0">
                <a:solidFill>
                  <a:schemeClr val="bg2"/>
                </a:solidFill>
              </a:rPr>
              <a:t>o</a:t>
            </a:r>
            <a:r>
              <a:rPr lang="en-US" sz="1200" dirty="0">
                <a:solidFill>
                  <a:schemeClr val="bg2"/>
                </a:solidFill>
              </a:rPr>
              <a:t>; no change in down-regulation between F</a:t>
            </a:r>
            <a:r>
              <a:rPr lang="en-US" sz="1200" baseline="-40000" dirty="0">
                <a:solidFill>
                  <a:schemeClr val="bg2"/>
                </a:solidFill>
              </a:rPr>
              <a:t>o</a:t>
            </a:r>
            <a:r>
              <a:rPr lang="en-US" sz="1200" dirty="0">
                <a:solidFill>
                  <a:schemeClr val="bg2"/>
                </a:solidFill>
              </a:rPr>
              <a:t>/F</a:t>
            </a:r>
            <a:r>
              <a:rPr lang="en-US" sz="1200" baseline="-40000" dirty="0">
                <a:solidFill>
                  <a:schemeClr val="bg2"/>
                </a:solidFill>
              </a:rPr>
              <a:t>m</a:t>
            </a:r>
            <a:r>
              <a:rPr lang="en-US" sz="1200" dirty="0">
                <a:solidFill>
                  <a:schemeClr val="bg2"/>
                </a:solidFill>
              </a:rPr>
              <a:t>; no change in photoinhibition between F</a:t>
            </a:r>
            <a:r>
              <a:rPr lang="en-US" sz="1200" baseline="-40000" dirty="0">
                <a:solidFill>
                  <a:schemeClr val="bg2"/>
                </a:solidFill>
              </a:rPr>
              <a:t>m</a:t>
            </a:r>
            <a:r>
              <a:rPr lang="en-US" sz="1200" dirty="0">
                <a:solidFill>
                  <a:schemeClr val="bg2"/>
                </a:solidFill>
              </a:rPr>
              <a:t>′ and F</a:t>
            </a:r>
            <a:r>
              <a:rPr lang="en-US" sz="1200" baseline="-40000" dirty="0">
                <a:solidFill>
                  <a:schemeClr val="bg2"/>
                </a:solidFill>
              </a:rPr>
              <a:t>m</a:t>
            </a:r>
            <a:r>
              <a:rPr lang="en-US" sz="1200" dirty="0">
                <a:solidFill>
                  <a:schemeClr val="bg2"/>
                </a:solidFill>
              </a:rPr>
              <a:t>.</a:t>
            </a:r>
            <a:endParaRPr lang="en-US" sz="1200" dirty="0"/>
          </a:p>
        </p:txBody>
      </p:sp>
      <p:sp>
        <p:nvSpPr>
          <p:cNvPr id="18" name="card"/>
          <p:cNvSpPr/>
          <p:nvPr/>
        </p:nvSpPr>
        <p:spPr>
          <a:xfrm>
            <a:off x="6199632" y="3840480"/>
            <a:ext cx="5440680"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19" name="icon circle"/>
          <p:cNvSpPr/>
          <p:nvPr/>
        </p:nvSpPr>
        <p:spPr>
          <a:xfrm>
            <a:off x="6382512" y="3995928"/>
            <a:ext cx="420624" cy="420624"/>
          </a:xfrm>
          <a:prstGeom prst="ellipse">
            <a:avLst/>
          </a:prstGeom>
          <a:solidFill>
            <a:schemeClr val="accent2"/>
          </a:solidFill>
          <a:ln/>
        </p:spPr>
      </p:sp>
      <p:pic>
        <p:nvPicPr>
          <p:cNvPr id="20" name="Image 2" descr="ExclamationTriangle icon">    </p:cNvPr>
          <p:cNvPicPr>
            <a:picLocks noChangeAspect="1"/>
          </p:cNvPicPr>
          <p:nvPr/>
        </p:nvPicPr>
        <p:blipFill>
          <a:blip r:embed="rId3"/>
          <a:stretch>
            <a:fillRect/>
          </a:stretch>
        </p:blipFill>
        <p:spPr>
          <a:xfrm>
            <a:off x="6491874" y="4105290"/>
            <a:ext cx="201900" cy="201900"/>
          </a:xfrm>
          <a:prstGeom prst="rect">
            <a:avLst/>
          </a:prstGeom>
        </p:spPr>
      </p:pic>
      <p:sp>
        <p:nvSpPr>
          <p:cNvPr id="21" name="Text 15"/>
          <p:cNvSpPr txBox="1"/>
          <p:nvPr/>
        </p:nvSpPr>
        <p:spPr>
          <a:xfrm>
            <a:off x="6912864" y="397764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Other small errors</a:t>
            </a:r>
            <a:endParaRPr lang="en-US" sz="1600" dirty="0"/>
          </a:p>
        </p:txBody>
      </p:sp>
      <p:sp>
        <p:nvSpPr>
          <p:cNvPr id="22" name="Text 16"/>
          <p:cNvSpPr txBox="1"/>
          <p:nvPr/>
        </p:nvSpPr>
        <p:spPr>
          <a:xfrm>
            <a:off x="6382512" y="4526280"/>
            <a:ext cx="5074920" cy="155448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PSI fluorescence above </a:t>
            </a:r>
            <a:r>
              <a:rPr lang="en-US" sz="1300" b="1" dirty="0">
                <a:solidFill>
                  <a:schemeClr val="tx1"/>
                </a:solidFill>
              </a:rPr>
              <a:t>700 nm</a:t>
            </a:r>
            <a:r>
              <a:rPr lang="en-US" sz="1300" dirty="0">
                <a:solidFill>
                  <a:schemeClr val="tx1"/>
                </a:solidFill>
              </a:rPr>
              <a:t> adds to the signal</a:t>
            </a:r>
            <a:endParaRPr lang="en-US" sz="1300" dirty="0"/>
          </a:p>
          <a:p>
            <a:pPr marL="177800" indent="-177800">
              <a:spcAft>
                <a:spcPts val="400"/>
              </a:spcAft>
              <a:buSzPct val="100000"/>
              <a:buChar char="•"/>
            </a:pPr>
            <a:r>
              <a:rPr lang="en-US" sz="1300" dirty="0">
                <a:solidFill>
                  <a:schemeClr val="tx1"/>
                </a:solidFill>
              </a:rPr>
              <a:t>Multiple turnovers of PSII during the pulse</a:t>
            </a:r>
            <a:endParaRPr lang="en-US" sz="1300" dirty="0"/>
          </a:p>
          <a:p>
            <a:pPr marL="177800" indent="-177800">
              <a:spcAft>
                <a:spcPts val="400"/>
              </a:spcAft>
              <a:buSzPct val="100000"/>
              <a:buChar char="•"/>
            </a:pPr>
            <a:r>
              <a:rPr lang="en-US" sz="1300" dirty="0">
                <a:solidFill>
                  <a:schemeClr val="tx1"/>
                </a:solidFill>
              </a:rPr>
              <a:t>Mostly minor: Φ</a:t>
            </a:r>
            <a:r>
              <a:rPr lang="en-US" sz="1300" baseline="-40000" dirty="0">
                <a:solidFill>
                  <a:schemeClr val="tx1"/>
                </a:solidFill>
              </a:rPr>
              <a:t>PSII</a:t>
            </a:r>
            <a:r>
              <a:rPr lang="en-US" sz="1300" dirty="0">
                <a:solidFill>
                  <a:schemeClr val="tx1"/>
                </a:solidFill>
              </a:rPr>
              <a:t> agrees well with quantum yield of CO₂ assimilation</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Linking fluorescence to CO₂ assimilation</a:t>
            </a:r>
            <a:endParaRPr lang="en-US" sz="3200" dirty="0"/>
          </a:p>
        </p:txBody>
      </p:sp>
      <p:sp>
        <p:nvSpPr>
          <p:cNvPr id="4" name="diagram box"/>
          <p:cNvSpPr/>
          <p:nvPr/>
        </p:nvSpPr>
        <p:spPr>
          <a:xfrm>
            <a:off x="548640" y="2377440"/>
            <a:ext cx="2194560" cy="1188720"/>
          </a:xfrm>
          <a:prstGeom prst="roundRect">
            <a:avLst>
              <a:gd name="adj" fmla="val 6154"/>
            </a:avLst>
          </a:prstGeom>
          <a:solidFill>
            <a:schemeClr val="accent1"/>
          </a:solidFill>
          <a:ln/>
        </p:spPr>
      </p:sp>
      <p:sp>
        <p:nvSpPr>
          <p:cNvPr id="5" name="Text 2"/>
          <p:cNvSpPr txBox="1"/>
          <p:nvPr/>
        </p:nvSpPr>
        <p:spPr>
          <a:xfrm>
            <a:off x="548640" y="2377440"/>
            <a:ext cx="2194560" cy="1188720"/>
          </a:xfrm>
          <a:prstGeom prst="rect">
            <a:avLst/>
          </a:prstGeom>
          <a:noFill/>
          <a:ln/>
        </p:spPr>
        <p:txBody>
          <a:bodyPr wrap="square" lIns="508" tIns="508" rIns="508" bIns="508" rtlCol="0" anchor="ctr"/>
          <a:lstStyle/>
          <a:p>
            <a:pPr algn="ctr" indent="0" marL="0">
              <a:buNone/>
            </a:pPr>
            <a:r>
              <a:rPr lang="en-US" sz="1500" b="1" dirty="0">
                <a:solidFill>
                  <a:schemeClr val="bg1"/>
                </a:solidFill>
              </a:rPr>
              <a:t>PSII electron</a:t>
            </a:r>
            <a:endParaRPr lang="en-US" sz="1500" dirty="0"/>
          </a:p>
          <a:p>
            <a:pPr algn="ctr" indent="0" marL="0">
              <a:buNone/>
            </a:pPr>
            <a:r>
              <a:rPr lang="en-US" sz="1500" b="1" dirty="0">
                <a:solidFill>
                  <a:schemeClr val="bg1"/>
                </a:solidFill>
              </a:rPr>
              <a:t>transport (ETR)</a:t>
            </a:r>
            <a:endParaRPr lang="en-US" sz="1500" dirty="0"/>
          </a:p>
        </p:txBody>
      </p:sp>
      <p:sp>
        <p:nvSpPr>
          <p:cNvPr id="6" name="arrow"/>
          <p:cNvSpPr/>
          <p:nvPr/>
        </p:nvSpPr>
        <p:spPr>
          <a:xfrm flipV="1">
            <a:off x="2788920" y="1828800"/>
            <a:ext cx="548640" cy="1143000"/>
          </a:xfrm>
          <a:prstGeom prst="line">
            <a:avLst/>
          </a:prstGeom>
          <a:noFill/>
          <a:ln w="31750">
            <a:solidFill>
              <a:srgbClr val="2E8B57"/>
            </a:solidFill>
            <a:prstDash val="solid"/>
            <a:tailEnd type="triangle"/>
          </a:ln>
        </p:spPr>
      </p:sp>
      <p:sp>
        <p:nvSpPr>
          <p:cNvPr id="7" name="card"/>
          <p:cNvSpPr/>
          <p:nvPr/>
        </p:nvSpPr>
        <p:spPr>
          <a:xfrm>
            <a:off x="3383280" y="1371600"/>
            <a:ext cx="3474720" cy="960120"/>
          </a:xfrm>
          <a:prstGeom prst="roundRect">
            <a:avLst>
              <a:gd name="adj" fmla="val 7619"/>
            </a:avLst>
          </a:prstGeom>
          <a:solidFill>
            <a:schemeClr val="accent1"/>
          </a:solidFill>
          <a:ln/>
          <a:effectLst>
            <a:outerShdw sx="100000" sy="100000" kx="0" ky="0" algn="bl" rotWithShape="0" blurRad="76200" dist="25400" dir="5400000">
              <a:srgbClr val="000000">
                <a:alpha val="14000"/>
              </a:srgbClr>
            </a:outerShdw>
          </a:effectLst>
        </p:spPr>
      </p:sp>
      <p:sp>
        <p:nvSpPr>
          <p:cNvPr id="8" name="Text 5"/>
          <p:cNvSpPr txBox="1"/>
          <p:nvPr/>
        </p:nvSpPr>
        <p:spPr>
          <a:xfrm>
            <a:off x="3520440" y="1417320"/>
            <a:ext cx="3246120" cy="868680"/>
          </a:xfrm>
          <a:prstGeom prst="rect">
            <a:avLst/>
          </a:prstGeom>
          <a:noFill/>
          <a:ln/>
        </p:spPr>
        <p:txBody>
          <a:bodyPr wrap="square" lIns="0" tIns="0" rIns="0" bIns="0" rtlCol="0" anchor="ctr"/>
          <a:lstStyle/>
          <a:p>
            <a:pPr indent="0" marL="0">
              <a:buNone/>
            </a:pPr>
            <a:r>
              <a:rPr lang="en-US" sz="1400" b="1" dirty="0">
                <a:solidFill>
                  <a:schemeClr val="bg1"/>
                </a:solidFill>
              </a:rPr>
              <a:t>CO₂ assimilation (Calvin cycle)</a:t>
            </a:r>
            <a:endParaRPr lang="en-US" sz="1400" dirty="0"/>
          </a:p>
          <a:p>
            <a:pPr indent="0" marL="0">
              <a:buNone/>
            </a:pPr>
            <a:r>
              <a:rPr lang="en-US" sz="1200" dirty="0">
                <a:solidFill>
                  <a:schemeClr val="bg1"/>
                </a:solidFill>
              </a:rPr>
              <a:t>~4 e⁻ per CO₂ when photorespiration is blocked</a:t>
            </a:r>
            <a:endParaRPr lang="en-US" sz="1400" dirty="0"/>
          </a:p>
        </p:txBody>
      </p:sp>
      <p:sp>
        <p:nvSpPr>
          <p:cNvPr id="9" name="arrow"/>
          <p:cNvSpPr/>
          <p:nvPr/>
        </p:nvSpPr>
        <p:spPr>
          <a:xfrm>
            <a:off x="2788920" y="2971800"/>
            <a:ext cx="548640" cy="0"/>
          </a:xfrm>
          <a:prstGeom prst="line">
            <a:avLst/>
          </a:prstGeom>
          <a:noFill/>
          <a:ln w="31750">
            <a:solidFill>
              <a:srgbClr val="F2A900"/>
            </a:solidFill>
            <a:prstDash val="solid"/>
            <a:tailEnd type="triangle"/>
          </a:ln>
        </p:spPr>
      </p:sp>
      <p:sp>
        <p:nvSpPr>
          <p:cNvPr id="10" name="card"/>
          <p:cNvSpPr/>
          <p:nvPr/>
        </p:nvSpPr>
        <p:spPr>
          <a:xfrm>
            <a:off x="3383280" y="2514600"/>
            <a:ext cx="3474720" cy="960120"/>
          </a:xfrm>
          <a:prstGeom prst="roundRect">
            <a:avLst>
              <a:gd name="adj" fmla="val 7619"/>
            </a:avLst>
          </a:prstGeom>
          <a:solidFill>
            <a:schemeClr val="accent3"/>
          </a:solidFill>
          <a:ln/>
          <a:effectLst>
            <a:outerShdw sx="100000" sy="100000" kx="0" ky="0" algn="bl" rotWithShape="0" blurRad="76200" dist="25400" dir="5400000">
              <a:srgbClr val="000000">
                <a:alpha val="14000"/>
              </a:srgbClr>
            </a:outerShdw>
          </a:effectLst>
        </p:spPr>
      </p:sp>
      <p:sp>
        <p:nvSpPr>
          <p:cNvPr id="11" name="Text 8"/>
          <p:cNvSpPr txBox="1"/>
          <p:nvPr/>
        </p:nvSpPr>
        <p:spPr>
          <a:xfrm>
            <a:off x="3520440" y="2560320"/>
            <a:ext cx="3246120" cy="868680"/>
          </a:xfrm>
          <a:prstGeom prst="rect">
            <a:avLst/>
          </a:prstGeom>
          <a:noFill/>
          <a:ln/>
        </p:spPr>
        <p:txBody>
          <a:bodyPr wrap="square" lIns="0" tIns="0" rIns="0" bIns="0" rtlCol="0" anchor="ctr"/>
          <a:lstStyle/>
          <a:p>
            <a:pPr indent="0" marL="0">
              <a:buNone/>
            </a:pPr>
            <a:r>
              <a:rPr lang="en-US" sz="1400" b="1" dirty="0">
                <a:solidFill>
                  <a:schemeClr val="tx1"/>
                </a:solidFill>
              </a:rPr>
              <a:t>Photorespiration (C₃)</a:t>
            </a:r>
            <a:endParaRPr lang="en-US" sz="1400" dirty="0"/>
          </a:p>
          <a:p>
            <a:pPr indent="0" marL="0">
              <a:buNone/>
            </a:pPr>
            <a:r>
              <a:rPr lang="en-US" sz="1200" dirty="0">
                <a:solidFill>
                  <a:schemeClr val="tx1"/>
                </a:solidFill>
              </a:rPr>
              <a:t>Rises with stomatal closure, heat</a:t>
            </a:r>
            <a:endParaRPr lang="en-US" sz="1400" dirty="0"/>
          </a:p>
        </p:txBody>
      </p:sp>
      <p:sp>
        <p:nvSpPr>
          <p:cNvPr id="12" name="arrow"/>
          <p:cNvSpPr/>
          <p:nvPr/>
        </p:nvSpPr>
        <p:spPr>
          <a:xfrm>
            <a:off x="2788920" y="2971800"/>
            <a:ext cx="548640" cy="1143000"/>
          </a:xfrm>
          <a:prstGeom prst="line">
            <a:avLst/>
          </a:prstGeom>
          <a:noFill/>
          <a:ln w="31750">
            <a:solidFill>
              <a:srgbClr val="2B6A94"/>
            </a:solidFill>
            <a:prstDash val="solid"/>
            <a:tailEnd type="triangle"/>
          </a:ln>
        </p:spPr>
      </p:sp>
      <p:sp>
        <p:nvSpPr>
          <p:cNvPr id="13" name="card"/>
          <p:cNvSpPr/>
          <p:nvPr/>
        </p:nvSpPr>
        <p:spPr>
          <a:xfrm>
            <a:off x="3383280" y="3657600"/>
            <a:ext cx="3474720" cy="960120"/>
          </a:xfrm>
          <a:prstGeom prst="roundRect">
            <a:avLst>
              <a:gd name="adj" fmla="val 7619"/>
            </a:avLst>
          </a:prstGeom>
          <a:solidFill>
            <a:schemeClr val="accent5"/>
          </a:solidFill>
          <a:ln/>
          <a:effectLst>
            <a:outerShdw sx="100000" sy="100000" kx="0" ky="0" algn="bl" rotWithShape="0" blurRad="76200" dist="25400" dir="5400000">
              <a:srgbClr val="000000">
                <a:alpha val="14000"/>
              </a:srgbClr>
            </a:outerShdw>
          </a:effectLst>
        </p:spPr>
      </p:sp>
      <p:sp>
        <p:nvSpPr>
          <p:cNvPr id="14" name="Text 11"/>
          <p:cNvSpPr txBox="1"/>
          <p:nvPr/>
        </p:nvSpPr>
        <p:spPr>
          <a:xfrm>
            <a:off x="3520440" y="3703320"/>
            <a:ext cx="3246120" cy="868680"/>
          </a:xfrm>
          <a:prstGeom prst="rect">
            <a:avLst/>
          </a:prstGeom>
          <a:noFill/>
          <a:ln/>
        </p:spPr>
        <p:txBody>
          <a:bodyPr wrap="square" lIns="0" tIns="0" rIns="0" bIns="0" rtlCol="0" anchor="ctr"/>
          <a:lstStyle/>
          <a:p>
            <a:pPr indent="0" marL="0">
              <a:buNone/>
            </a:pPr>
            <a:r>
              <a:rPr lang="en-US" sz="1400" b="1" dirty="0">
                <a:solidFill>
                  <a:schemeClr val="bg1"/>
                </a:solidFill>
              </a:rPr>
              <a:t>Mehler reaction / cyclic flow</a:t>
            </a:r>
            <a:endParaRPr lang="en-US" sz="1400" dirty="0"/>
          </a:p>
          <a:p>
            <a:pPr indent="0" marL="0">
              <a:buNone/>
            </a:pPr>
            <a:r>
              <a:rPr lang="en-US" sz="1200" dirty="0">
                <a:solidFill>
                  <a:schemeClr val="bg1"/>
                </a:solidFill>
              </a:rPr>
              <a:t>Alternative sinks under stress</a:t>
            </a:r>
            <a:endParaRPr lang="en-US" sz="1400" dirty="0"/>
          </a:p>
        </p:txBody>
      </p:sp>
      <p:sp>
        <p:nvSpPr>
          <p:cNvPr id="15" name="card"/>
          <p:cNvSpPr/>
          <p:nvPr/>
        </p:nvSpPr>
        <p:spPr>
          <a:xfrm>
            <a:off x="548640" y="4846320"/>
            <a:ext cx="6309360" cy="1325880"/>
          </a:xfrm>
          <a:prstGeom prst="roundRect">
            <a:avLst>
              <a:gd name="adj" fmla="val 5517"/>
            </a:avLst>
          </a:prstGeom>
          <a:solidFill>
            <a:schemeClr val="bg2"/>
          </a:solidFill>
          <a:ln/>
          <a:effectLst>
            <a:outerShdw sx="100000" sy="100000" kx="0" ky="0" algn="bl" rotWithShape="0" blurRad="76200" dist="25400" dir="5400000">
              <a:srgbClr val="000000">
                <a:alpha val="14000"/>
              </a:srgbClr>
            </a:outerShdw>
          </a:effectLst>
        </p:spPr>
      </p:sp>
      <p:sp>
        <p:nvSpPr>
          <p:cNvPr id="16" name="icon circle"/>
          <p:cNvSpPr/>
          <p:nvPr/>
        </p:nvSpPr>
        <p:spPr>
          <a:xfrm>
            <a:off x="731520" y="5001768"/>
            <a:ext cx="420624" cy="420624"/>
          </a:xfrm>
          <a:prstGeom prst="ellipse">
            <a:avLst/>
          </a:prstGeom>
          <a:solidFill>
            <a:schemeClr val="accent3"/>
          </a:solidFill>
          <a:ln/>
        </p:spPr>
      </p:sp>
      <p:pic>
        <p:nvPicPr>
          <p:cNvPr id="17" name="Image 0" descr="Lightbulb icon">    </p:cNvPr>
          <p:cNvPicPr>
            <a:picLocks noChangeAspect="1"/>
          </p:cNvPicPr>
          <p:nvPr/>
        </p:nvPicPr>
        <p:blipFill>
          <a:blip r:embed="rId1"/>
          <a:stretch>
            <a:fillRect/>
          </a:stretch>
        </p:blipFill>
        <p:spPr>
          <a:xfrm>
            <a:off x="840882" y="5111130"/>
            <a:ext cx="201900" cy="201900"/>
          </a:xfrm>
          <a:prstGeom prst="rect">
            <a:avLst/>
          </a:prstGeom>
        </p:spPr>
      </p:pic>
      <p:sp>
        <p:nvSpPr>
          <p:cNvPr id="18" name="Text 14"/>
          <p:cNvSpPr txBox="1"/>
          <p:nvPr/>
        </p:nvSpPr>
        <p:spPr>
          <a:xfrm>
            <a:off x="1261872" y="4983480"/>
            <a:ext cx="5458968" cy="457200"/>
          </a:xfrm>
          <a:prstGeom prst="rect">
            <a:avLst/>
          </a:prstGeom>
          <a:noFill/>
          <a:ln/>
        </p:spPr>
        <p:txBody>
          <a:bodyPr wrap="square" lIns="0" tIns="0" rIns="0" bIns="0" rtlCol="0" anchor="ctr"/>
          <a:lstStyle/>
          <a:p>
            <a:pPr indent="0" marL="0">
              <a:buNone/>
            </a:pPr>
            <a:r>
              <a:rPr lang="en-US" sz="1600" b="1" dirty="0">
                <a:solidFill>
                  <a:schemeClr val="tx2"/>
                </a:solidFill>
              </a:rPr>
              <a:t>Implication</a:t>
            </a:r>
            <a:endParaRPr lang="en-US" sz="1600" dirty="0"/>
          </a:p>
        </p:txBody>
      </p:sp>
      <p:sp>
        <p:nvSpPr>
          <p:cNvPr id="19" name="Text 15"/>
          <p:cNvSpPr txBox="1"/>
          <p:nvPr/>
        </p:nvSpPr>
        <p:spPr>
          <a:xfrm>
            <a:off x="731520" y="5532120"/>
            <a:ext cx="5943600" cy="5486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Linear F</a:t>
            </a:r>
            <a:r>
              <a:rPr lang="en-US" sz="1300" baseline="-40000" dirty="0">
                <a:solidFill>
                  <a:schemeClr val="tx1"/>
                </a:solidFill>
              </a:rPr>
              <a:t>q</a:t>
            </a:r>
            <a:r>
              <a:rPr lang="en-US" sz="1300" dirty="0">
                <a:solidFill>
                  <a:schemeClr val="tx1"/>
                </a:solidFill>
              </a:rPr>
              <a:t>′/F</a:t>
            </a:r>
            <a:r>
              <a:rPr lang="en-US" sz="1300" baseline="-40000" dirty="0">
                <a:solidFill>
                  <a:schemeClr val="tx1"/>
                </a:solidFill>
              </a:rPr>
              <a:t>m</a:t>
            </a:r>
            <a:r>
              <a:rPr lang="en-US" sz="1300" dirty="0">
                <a:solidFill>
                  <a:schemeClr val="tx1"/>
                </a:solidFill>
              </a:rPr>
              <a:t>′ ↔ CO₂ uptake only holds when the allocation of electrons is constant — hard to guarantee in the field.</a:t>
            </a:r>
            <a:endParaRPr lang="en-US" sz="1300" dirty="0"/>
          </a:p>
        </p:txBody>
      </p:sp>
      <p:sp>
        <p:nvSpPr>
          <p:cNvPr id="20" name="card"/>
          <p:cNvSpPr/>
          <p:nvPr/>
        </p:nvSpPr>
        <p:spPr>
          <a:xfrm>
            <a:off x="7178040" y="1325880"/>
            <a:ext cx="4462272"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21" name="icon circle"/>
          <p:cNvSpPr/>
          <p:nvPr/>
        </p:nvSpPr>
        <p:spPr>
          <a:xfrm>
            <a:off x="7360920" y="1481328"/>
            <a:ext cx="420624" cy="420624"/>
          </a:xfrm>
          <a:prstGeom prst="ellipse">
            <a:avLst/>
          </a:prstGeom>
          <a:solidFill>
            <a:schemeClr val="accent1"/>
          </a:solidFill>
          <a:ln/>
        </p:spPr>
      </p:sp>
      <p:pic>
        <p:nvPicPr>
          <p:cNvPr id="22" name="Image 1" descr="Seedling icon">    </p:cNvPr>
          <p:cNvPicPr>
            <a:picLocks noChangeAspect="1"/>
          </p:cNvPicPr>
          <p:nvPr/>
        </p:nvPicPr>
        <p:blipFill>
          <a:blip r:embed="rId2"/>
          <a:stretch>
            <a:fillRect/>
          </a:stretch>
        </p:blipFill>
        <p:spPr>
          <a:xfrm>
            <a:off x="7470282" y="1590690"/>
            <a:ext cx="201900" cy="201900"/>
          </a:xfrm>
          <a:prstGeom prst="rect">
            <a:avLst/>
          </a:prstGeom>
        </p:spPr>
      </p:pic>
      <p:sp>
        <p:nvSpPr>
          <p:cNvPr id="23" name="Text 18"/>
          <p:cNvSpPr txBox="1"/>
          <p:nvPr/>
        </p:nvSpPr>
        <p:spPr>
          <a:xfrm>
            <a:off x="7891272" y="1463040"/>
            <a:ext cx="3611880" cy="457200"/>
          </a:xfrm>
          <a:prstGeom prst="rect">
            <a:avLst/>
          </a:prstGeom>
          <a:noFill/>
          <a:ln/>
        </p:spPr>
        <p:txBody>
          <a:bodyPr wrap="square" lIns="0" tIns="0" rIns="0" bIns="0" rtlCol="0" anchor="ctr"/>
          <a:lstStyle/>
          <a:p>
            <a:pPr indent="0" marL="0">
              <a:buNone/>
            </a:pPr>
            <a:r>
              <a:rPr lang="en-US" sz="1600" b="1" dirty="0">
                <a:solidFill>
                  <a:schemeClr val="tx2"/>
                </a:solidFill>
              </a:rPr>
              <a:t>C₃ vs C₄</a:t>
            </a:r>
            <a:endParaRPr lang="en-US" sz="1600" dirty="0"/>
          </a:p>
        </p:txBody>
      </p:sp>
      <p:sp>
        <p:nvSpPr>
          <p:cNvPr id="24" name="Text 19"/>
          <p:cNvSpPr txBox="1"/>
          <p:nvPr/>
        </p:nvSpPr>
        <p:spPr>
          <a:xfrm>
            <a:off x="7360920" y="2011680"/>
            <a:ext cx="4096512" cy="1554480"/>
          </a:xfrm>
          <a:prstGeom prst="rect">
            <a:avLst/>
          </a:prstGeom>
          <a:noFill/>
          <a:ln/>
        </p:spPr>
        <p:txBody>
          <a:bodyPr wrap="square" lIns="508" tIns="508" rIns="508" bIns="508" rtlCol="0" anchor="t"/>
          <a:lstStyle/>
          <a:p>
            <a:pPr marL="177800" indent="-177800">
              <a:spcAft>
                <a:spcPts val="400"/>
              </a:spcAft>
              <a:buSzPct val="100000"/>
              <a:buChar char="•"/>
            </a:pPr>
            <a:r>
              <a:rPr lang="en-US" sz="1300" b="1" dirty="0">
                <a:solidFill>
                  <a:schemeClr val="tx1"/>
                </a:solidFill>
              </a:rPr>
              <a:t>C₃:</a:t>
            </a:r>
            <a:r>
              <a:rPr lang="en-US" sz="1300" dirty="0">
                <a:solidFill>
                  <a:schemeClr val="tx1"/>
                </a:solidFill>
              </a:rPr>
              <a:t> close correlation at 2 % O₂; photorespiration breaks linearity</a:t>
            </a:r>
            <a:endParaRPr lang="en-US" sz="1300" dirty="0"/>
          </a:p>
          <a:p>
            <a:pPr marL="177800" indent="-177800">
              <a:spcAft>
                <a:spcPts val="400"/>
              </a:spcAft>
              <a:buSzPct val="100000"/>
              <a:buChar char="•"/>
            </a:pPr>
            <a:r>
              <a:rPr lang="en-US" sz="1300" b="1" dirty="0">
                <a:solidFill>
                  <a:schemeClr val="tx1"/>
                </a:solidFill>
              </a:rPr>
              <a:t>C₄:</a:t>
            </a:r>
            <a:r>
              <a:rPr lang="en-US" sz="1300" dirty="0">
                <a:solidFill>
                  <a:schemeClr val="tx1"/>
                </a:solidFill>
              </a:rPr>
              <a:t> CO₂-concentrating mechanism suppresses photorespiration → more linear</a:t>
            </a:r>
            <a:endParaRPr lang="en-US" sz="1300" dirty="0"/>
          </a:p>
        </p:txBody>
      </p:sp>
      <p:sp>
        <p:nvSpPr>
          <p:cNvPr id="25" name="card"/>
          <p:cNvSpPr/>
          <p:nvPr/>
        </p:nvSpPr>
        <p:spPr>
          <a:xfrm>
            <a:off x="7178040" y="3794760"/>
            <a:ext cx="4462272"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26" name="icon circle"/>
          <p:cNvSpPr/>
          <p:nvPr/>
        </p:nvSpPr>
        <p:spPr>
          <a:xfrm>
            <a:off x="7360920" y="3950208"/>
            <a:ext cx="420624" cy="420624"/>
          </a:xfrm>
          <a:prstGeom prst="ellipse">
            <a:avLst/>
          </a:prstGeom>
          <a:solidFill>
            <a:schemeClr val="accent5"/>
          </a:solidFill>
          <a:ln/>
        </p:spPr>
      </p:sp>
      <p:pic>
        <p:nvPicPr>
          <p:cNvPr id="27" name="Image 2" descr="Bolt icon">    </p:cNvPr>
          <p:cNvPicPr>
            <a:picLocks noChangeAspect="1"/>
          </p:cNvPicPr>
          <p:nvPr/>
        </p:nvPicPr>
        <p:blipFill>
          <a:blip r:embed="rId3"/>
          <a:stretch>
            <a:fillRect/>
          </a:stretch>
        </p:blipFill>
        <p:spPr>
          <a:xfrm>
            <a:off x="7470282" y="4059570"/>
            <a:ext cx="201900" cy="201900"/>
          </a:xfrm>
          <a:prstGeom prst="rect">
            <a:avLst/>
          </a:prstGeom>
        </p:spPr>
      </p:pic>
      <p:sp>
        <p:nvSpPr>
          <p:cNvPr id="28" name="Text 22"/>
          <p:cNvSpPr txBox="1"/>
          <p:nvPr/>
        </p:nvSpPr>
        <p:spPr>
          <a:xfrm>
            <a:off x="7891272" y="3931920"/>
            <a:ext cx="3611880" cy="457200"/>
          </a:xfrm>
          <a:prstGeom prst="rect">
            <a:avLst/>
          </a:prstGeom>
          <a:noFill/>
          <a:ln/>
        </p:spPr>
        <p:txBody>
          <a:bodyPr wrap="square" lIns="0" tIns="0" rIns="0" bIns="0" rtlCol="0" anchor="ctr"/>
          <a:lstStyle/>
          <a:p>
            <a:pPr indent="0" marL="0">
              <a:buNone/>
            </a:pPr>
            <a:r>
              <a:rPr lang="en-US" sz="1600" b="1" dirty="0">
                <a:solidFill>
                  <a:schemeClr val="tx2"/>
                </a:solidFill>
              </a:rPr>
              <a:t>Measuring PSI too</a:t>
            </a:r>
            <a:endParaRPr lang="en-US" sz="1600" dirty="0"/>
          </a:p>
        </p:txBody>
      </p:sp>
      <p:sp>
        <p:nvSpPr>
          <p:cNvPr id="29" name="Text 23"/>
          <p:cNvSpPr txBox="1"/>
          <p:nvPr/>
        </p:nvSpPr>
        <p:spPr>
          <a:xfrm>
            <a:off x="7360920" y="4480560"/>
            <a:ext cx="4096512"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P700 redox via near-infrared absorbance (</a:t>
            </a:r>
            <a:r>
              <a:rPr lang="en-US" sz="1300" b="1" dirty="0">
                <a:solidFill>
                  <a:schemeClr val="tx1"/>
                </a:solidFill>
              </a:rPr>
              <a:t>810–840 nm</a:t>
            </a:r>
            <a:r>
              <a:rPr lang="en-US" sz="1300" dirty="0">
                <a:solidFill>
                  <a:schemeClr val="tx1"/>
                </a:solidFill>
              </a:rPr>
              <a:t>)</a:t>
            </a:r>
            <a:endParaRPr lang="en-US" sz="1300" dirty="0"/>
          </a:p>
          <a:p>
            <a:pPr marL="177800" indent="-177800">
              <a:spcAft>
                <a:spcPts val="400"/>
              </a:spcAft>
              <a:buSzPct val="100000"/>
              <a:buChar char="•"/>
            </a:pPr>
            <a:r>
              <a:rPr lang="en-US" sz="1300" dirty="0">
                <a:solidFill>
                  <a:schemeClr val="tx1"/>
                </a:solidFill>
              </a:rPr>
              <a:t>Combine Φ</a:t>
            </a:r>
            <a:r>
              <a:rPr lang="en-US" sz="1300" baseline="-40000" dirty="0">
                <a:solidFill>
                  <a:schemeClr val="tx1"/>
                </a:solidFill>
              </a:rPr>
              <a:t>PSI</a:t>
            </a:r>
            <a:r>
              <a:rPr lang="en-US" sz="1300" dirty="0">
                <a:solidFill>
                  <a:schemeClr val="tx1"/>
                </a:solidFill>
              </a:rPr>
              <a:t> with Φ</a:t>
            </a:r>
            <a:r>
              <a:rPr lang="en-US" sz="1300" baseline="-40000" dirty="0">
                <a:solidFill>
                  <a:schemeClr val="tx1"/>
                </a:solidFill>
              </a:rPr>
              <a:t>PSII</a:t>
            </a:r>
            <a:r>
              <a:rPr lang="en-US" sz="1300" dirty="0">
                <a:solidFill>
                  <a:schemeClr val="tx1"/>
                </a:solidFill>
              </a:rPr>
              <a:t>; cyclic flow affects ΔpH and NPQ</a:t>
            </a:r>
            <a:endParaRPr lang="en-US" sz="1300" dirty="0"/>
          </a:p>
          <a:p>
            <a:pPr marL="177800" indent="-177800">
              <a:spcAft>
                <a:spcPts val="400"/>
              </a:spcAft>
              <a:buSzPct val="100000"/>
              <a:buChar char="•"/>
            </a:pPr>
            <a:r>
              <a:rPr lang="en-US" sz="1300" dirty="0">
                <a:solidFill>
                  <a:schemeClr val="tx1"/>
                </a:solidFill>
              </a:rPr>
              <a:t>PSII:PSI ETR ratios need stoichiometry corrections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Standard measurement protocols (A, B, C)</a:t>
            </a:r>
            <a:endParaRPr lang="en-US" sz="3200" dirty="0"/>
          </a:p>
        </p:txBody>
      </p:sp>
      <p:sp>
        <p:nvSpPr>
          <p:cNvPr id="4" name="card"/>
          <p:cNvSpPr/>
          <p:nvPr/>
        </p:nvSpPr>
        <p:spPr>
          <a:xfrm>
            <a:off x="548640" y="1325880"/>
            <a:ext cx="3566160" cy="4846320"/>
          </a:xfrm>
          <a:prstGeom prst="roundRect">
            <a:avLst>
              <a:gd name="adj" fmla="val 2051"/>
            </a:avLst>
          </a:prstGeom>
          <a:solidFill>
            <a:schemeClr val="bg2"/>
          </a:solidFill>
          <a:ln/>
          <a:effectLst>
            <a:outerShdw sx="100000" sy="100000" kx="0" ky="0" algn="bl" rotWithShape="0" blurRad="76200" dist="25400" dir="5400000">
              <a:srgbClr val="000000">
                <a:alpha val="14000"/>
              </a:srgbClr>
            </a:outerShdw>
          </a:effectLst>
        </p:spPr>
      </p:sp>
      <p:sp>
        <p:nvSpPr>
          <p:cNvPr id="5" name="protocol header"/>
          <p:cNvSpPr/>
          <p:nvPr/>
        </p:nvSpPr>
        <p:spPr>
          <a:xfrm>
            <a:off x="685800" y="1463040"/>
            <a:ext cx="3291840" cy="548640"/>
          </a:xfrm>
          <a:prstGeom prst="roundRect">
            <a:avLst>
              <a:gd name="adj" fmla="val 13333"/>
            </a:avLst>
          </a:prstGeom>
          <a:solidFill>
            <a:schemeClr val="tx2"/>
          </a:solidFill>
          <a:ln/>
        </p:spPr>
      </p:sp>
      <p:sp>
        <p:nvSpPr>
          <p:cNvPr id="6" name="Text 3"/>
          <p:cNvSpPr txBox="1"/>
          <p:nvPr/>
        </p:nvSpPr>
        <p:spPr>
          <a:xfrm>
            <a:off x="685800" y="1463040"/>
            <a:ext cx="3291840" cy="548640"/>
          </a:xfrm>
          <a:prstGeom prst="rect">
            <a:avLst/>
          </a:prstGeom>
          <a:noFill/>
          <a:ln/>
        </p:spPr>
        <p:txBody>
          <a:bodyPr wrap="square" lIns="0" tIns="0" rIns="0" bIns="0" rtlCol="0" anchor="ctr"/>
          <a:lstStyle/>
          <a:p>
            <a:pPr algn="ctr" indent="0" marL="0">
              <a:buNone/>
            </a:pPr>
            <a:r>
              <a:rPr lang="en-US" sz="1800" b="1" dirty="0">
                <a:solidFill>
                  <a:schemeClr val="bg1"/>
                </a:solidFill>
              </a:rPr>
              <a:t>A · F</a:t>
            </a:r>
            <a:r>
              <a:rPr lang="en-US" sz="1800" b="1" baseline="-40000" dirty="0">
                <a:solidFill>
                  <a:schemeClr val="bg1"/>
                </a:solidFill>
              </a:rPr>
              <a:t>v</a:t>
            </a:r>
            <a:r>
              <a:rPr lang="en-US" sz="1800" b="1" dirty="0">
                <a:solidFill>
                  <a:schemeClr val="bg1"/>
                </a:solidFill>
              </a:rPr>
              <a:t>/F</a:t>
            </a:r>
            <a:r>
              <a:rPr lang="en-US" sz="1800" b="1" baseline="-40000" dirty="0">
                <a:solidFill>
                  <a:schemeClr val="bg1"/>
                </a:solidFill>
              </a:rPr>
              <a:t>m</a:t>
            </a:r>
            <a:endParaRPr lang="en-US" sz="1800" dirty="0"/>
          </a:p>
        </p:txBody>
      </p:sp>
      <p:sp>
        <p:nvSpPr>
          <p:cNvPr id="7" name="step"/>
          <p:cNvSpPr/>
          <p:nvPr/>
        </p:nvSpPr>
        <p:spPr>
          <a:xfrm>
            <a:off x="731520" y="2240280"/>
            <a:ext cx="347472" cy="347472"/>
          </a:xfrm>
          <a:prstGeom prst="ellipse">
            <a:avLst/>
          </a:prstGeom>
          <a:solidFill>
            <a:schemeClr val="tx2"/>
          </a:solidFill>
          <a:ln/>
        </p:spPr>
      </p:sp>
      <p:sp>
        <p:nvSpPr>
          <p:cNvPr id="8" name="Text 5"/>
          <p:cNvSpPr txBox="1"/>
          <p:nvPr/>
        </p:nvSpPr>
        <p:spPr>
          <a:xfrm>
            <a:off x="731520" y="2240280"/>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9" name="Text 6"/>
          <p:cNvSpPr txBox="1"/>
          <p:nvPr/>
        </p:nvSpPr>
        <p:spPr>
          <a:xfrm>
            <a:off x="1188720" y="2194560"/>
            <a:ext cx="2788920" cy="502920"/>
          </a:xfrm>
          <a:prstGeom prst="rect">
            <a:avLst/>
          </a:prstGeom>
          <a:noFill/>
          <a:ln/>
        </p:spPr>
        <p:txBody>
          <a:bodyPr wrap="square" lIns="0" tIns="0" rIns="0" bIns="0" rtlCol="0" anchor="ctr"/>
          <a:lstStyle/>
          <a:p>
            <a:pPr indent="0" marL="0">
              <a:buNone/>
            </a:pPr>
            <a:r>
              <a:rPr lang="en-US" sz="1200" dirty="0">
                <a:solidFill>
                  <a:schemeClr val="tx1"/>
                </a:solidFill>
              </a:rPr>
              <a:t>Dark-adapt ≥20 min (leaf clip); keep dark throughout</a:t>
            </a:r>
            <a:endParaRPr lang="en-US" sz="1200" dirty="0"/>
          </a:p>
        </p:txBody>
      </p:sp>
      <p:sp>
        <p:nvSpPr>
          <p:cNvPr id="10" name="step"/>
          <p:cNvSpPr/>
          <p:nvPr/>
        </p:nvSpPr>
        <p:spPr>
          <a:xfrm>
            <a:off x="731520" y="2788920"/>
            <a:ext cx="347472" cy="347472"/>
          </a:xfrm>
          <a:prstGeom prst="ellipse">
            <a:avLst/>
          </a:prstGeom>
          <a:solidFill>
            <a:schemeClr val="tx2"/>
          </a:solidFill>
          <a:ln/>
        </p:spPr>
      </p:sp>
      <p:sp>
        <p:nvSpPr>
          <p:cNvPr id="11" name="Text 8"/>
          <p:cNvSpPr txBox="1"/>
          <p:nvPr/>
        </p:nvSpPr>
        <p:spPr>
          <a:xfrm>
            <a:off x="731520" y="2788920"/>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1188720" y="2743200"/>
            <a:ext cx="2788920" cy="502920"/>
          </a:xfrm>
          <a:prstGeom prst="rect">
            <a:avLst/>
          </a:prstGeom>
          <a:noFill/>
          <a:ln/>
        </p:spPr>
        <p:txBody>
          <a:bodyPr wrap="square" lIns="0" tIns="0" rIns="0" bIns="0" rtlCol="0" anchor="ctr"/>
          <a:lstStyle/>
          <a:p>
            <a:pPr indent="0" marL="0">
              <a:buNone/>
            </a:pPr>
            <a:r>
              <a:rPr lang="en-US" sz="1200" dirty="0">
                <a:solidFill>
                  <a:schemeClr val="tx1"/>
                </a:solidFill>
              </a:rPr>
              <a:t>Detector on, measuring beam off: check zero</a:t>
            </a:r>
            <a:endParaRPr lang="en-US" sz="1200" dirty="0"/>
          </a:p>
        </p:txBody>
      </p:sp>
      <p:sp>
        <p:nvSpPr>
          <p:cNvPr id="13" name="step"/>
          <p:cNvSpPr/>
          <p:nvPr/>
        </p:nvSpPr>
        <p:spPr>
          <a:xfrm>
            <a:off x="731520" y="3337560"/>
            <a:ext cx="347472" cy="347472"/>
          </a:xfrm>
          <a:prstGeom prst="ellipse">
            <a:avLst/>
          </a:prstGeom>
          <a:solidFill>
            <a:schemeClr val="tx2"/>
          </a:solidFill>
          <a:ln/>
        </p:spPr>
      </p:sp>
      <p:sp>
        <p:nvSpPr>
          <p:cNvPr id="14" name="Text 11"/>
          <p:cNvSpPr txBox="1"/>
          <p:nvPr/>
        </p:nvSpPr>
        <p:spPr>
          <a:xfrm>
            <a:off x="731520" y="3337560"/>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5" name="Text 12"/>
          <p:cNvSpPr txBox="1"/>
          <p:nvPr/>
        </p:nvSpPr>
        <p:spPr>
          <a:xfrm>
            <a:off x="1188720" y="3291840"/>
            <a:ext cx="2788920" cy="502920"/>
          </a:xfrm>
          <a:prstGeom prst="rect">
            <a:avLst/>
          </a:prstGeom>
          <a:noFill/>
          <a:ln/>
        </p:spPr>
        <p:txBody>
          <a:bodyPr wrap="square" lIns="0" tIns="0" rIns="0" bIns="0" rtlCol="0" anchor="ctr"/>
          <a:lstStyle/>
          <a:p>
            <a:pPr indent="0" marL="0">
              <a:buNone/>
            </a:pPr>
            <a:r>
              <a:rPr lang="en-US" sz="1200" dirty="0">
                <a:solidFill>
                  <a:schemeClr val="tx1"/>
                </a:solidFill>
              </a:rPr>
              <a:t>Beam on: check it causes no rise; adjust</a:t>
            </a:r>
            <a:endParaRPr lang="en-US" sz="1200" dirty="0"/>
          </a:p>
        </p:txBody>
      </p:sp>
      <p:sp>
        <p:nvSpPr>
          <p:cNvPr id="16" name="step"/>
          <p:cNvSpPr/>
          <p:nvPr/>
        </p:nvSpPr>
        <p:spPr>
          <a:xfrm>
            <a:off x="731520" y="3886200"/>
            <a:ext cx="347472" cy="347472"/>
          </a:xfrm>
          <a:prstGeom prst="ellipse">
            <a:avLst/>
          </a:prstGeom>
          <a:solidFill>
            <a:schemeClr val="tx2"/>
          </a:solidFill>
          <a:ln/>
        </p:spPr>
      </p:sp>
      <p:sp>
        <p:nvSpPr>
          <p:cNvPr id="17" name="Text 14"/>
          <p:cNvSpPr txBox="1"/>
          <p:nvPr/>
        </p:nvSpPr>
        <p:spPr>
          <a:xfrm>
            <a:off x="731520" y="3886200"/>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8" name="Text 15"/>
          <p:cNvSpPr txBox="1"/>
          <p:nvPr/>
        </p:nvSpPr>
        <p:spPr>
          <a:xfrm>
            <a:off x="1188720" y="3840480"/>
            <a:ext cx="2788920" cy="502920"/>
          </a:xfrm>
          <a:prstGeom prst="rect">
            <a:avLst/>
          </a:prstGeom>
          <a:noFill/>
          <a:ln/>
        </p:spPr>
        <p:txBody>
          <a:bodyPr wrap="square" lIns="0" tIns="0" rIns="0" bIns="0" rtlCol="0" anchor="ctr"/>
          <a:lstStyle/>
          <a:p>
            <a:pPr indent="0" marL="0">
              <a:buNone/>
            </a:pPr>
            <a:r>
              <a:rPr lang="en-US" sz="1200" dirty="0">
                <a:solidFill>
                  <a:schemeClr val="tx1"/>
                </a:solidFill>
              </a:rPr>
              <a:t>Measure </a:t>
            </a:r>
            <a:r>
              <a:rPr lang="en-US" sz="1200" b="1" dirty="0">
                <a:solidFill>
                  <a:schemeClr val="tx1"/>
                </a:solidFill>
              </a:rPr>
              <a:t>F</a:t>
            </a:r>
            <a:r>
              <a:rPr lang="en-US" sz="1200" b="1" baseline="-40000" dirty="0">
                <a:solidFill>
                  <a:schemeClr val="tx1"/>
                </a:solidFill>
              </a:rPr>
              <a:t>o</a:t>
            </a:r>
            <a:endParaRPr lang="en-US" sz="1200" dirty="0"/>
          </a:p>
        </p:txBody>
      </p:sp>
      <p:sp>
        <p:nvSpPr>
          <p:cNvPr id="19" name="step"/>
          <p:cNvSpPr/>
          <p:nvPr/>
        </p:nvSpPr>
        <p:spPr>
          <a:xfrm>
            <a:off x="731520" y="4434840"/>
            <a:ext cx="347472" cy="347472"/>
          </a:xfrm>
          <a:prstGeom prst="ellipse">
            <a:avLst/>
          </a:prstGeom>
          <a:solidFill>
            <a:schemeClr val="tx2"/>
          </a:solidFill>
          <a:ln/>
        </p:spPr>
      </p:sp>
      <p:sp>
        <p:nvSpPr>
          <p:cNvPr id="20" name="Text 17"/>
          <p:cNvSpPr txBox="1"/>
          <p:nvPr/>
        </p:nvSpPr>
        <p:spPr>
          <a:xfrm>
            <a:off x="731520" y="4434840"/>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1" name="Text 18"/>
          <p:cNvSpPr txBox="1"/>
          <p:nvPr/>
        </p:nvSpPr>
        <p:spPr>
          <a:xfrm>
            <a:off x="1188720" y="4389120"/>
            <a:ext cx="2788920" cy="502920"/>
          </a:xfrm>
          <a:prstGeom prst="rect">
            <a:avLst/>
          </a:prstGeom>
          <a:noFill/>
          <a:ln/>
        </p:spPr>
        <p:txBody>
          <a:bodyPr wrap="square" lIns="0" tIns="0" rIns="0" bIns="0" rtlCol="0" anchor="ctr"/>
          <a:lstStyle/>
          <a:p>
            <a:pPr indent="0" marL="0">
              <a:buNone/>
            </a:pPr>
            <a:r>
              <a:rPr lang="en-US" sz="1200" dirty="0">
                <a:solidFill>
                  <a:schemeClr val="tx1"/>
                </a:solidFill>
              </a:rPr>
              <a:t>Saturating pulse ~0.8 s at ≥4000 µmol m⁻² s⁻¹ → </a:t>
            </a:r>
            <a:r>
              <a:rPr lang="en-US" sz="1200" b="1" dirty="0">
                <a:solidFill>
                  <a:schemeClr val="tx1"/>
                </a:solidFill>
              </a:rPr>
              <a:t>F</a:t>
            </a:r>
            <a:r>
              <a:rPr lang="en-US" sz="1200" b="1" baseline="-40000" dirty="0">
                <a:solidFill>
                  <a:schemeClr val="tx1"/>
                </a:solidFill>
              </a:rPr>
              <a:t>m</a:t>
            </a:r>
            <a:endParaRPr lang="en-US" sz="1200" dirty="0"/>
          </a:p>
        </p:txBody>
      </p:sp>
      <p:sp>
        <p:nvSpPr>
          <p:cNvPr id="22" name="step"/>
          <p:cNvSpPr/>
          <p:nvPr/>
        </p:nvSpPr>
        <p:spPr>
          <a:xfrm>
            <a:off x="731520" y="4983480"/>
            <a:ext cx="347472" cy="347472"/>
          </a:xfrm>
          <a:prstGeom prst="ellipse">
            <a:avLst/>
          </a:prstGeom>
          <a:solidFill>
            <a:schemeClr val="tx2"/>
          </a:solidFill>
          <a:ln/>
        </p:spPr>
      </p:sp>
      <p:sp>
        <p:nvSpPr>
          <p:cNvPr id="23" name="Text 20"/>
          <p:cNvSpPr txBox="1"/>
          <p:nvPr/>
        </p:nvSpPr>
        <p:spPr>
          <a:xfrm>
            <a:off x="731520" y="4983480"/>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24" name="Text 21"/>
          <p:cNvSpPr txBox="1"/>
          <p:nvPr/>
        </p:nvSpPr>
        <p:spPr>
          <a:xfrm>
            <a:off x="1188720" y="4937760"/>
            <a:ext cx="2788920" cy="502920"/>
          </a:xfrm>
          <a:prstGeom prst="rect">
            <a:avLst/>
          </a:prstGeom>
          <a:noFill/>
          <a:ln/>
        </p:spPr>
        <p:txBody>
          <a:bodyPr wrap="square" lIns="0" tIns="0" rIns="0" bIns="0" rtlCol="0" anchor="ctr"/>
          <a:lstStyle/>
          <a:p>
            <a:pPr indent="0" marL="0">
              <a:buNone/>
            </a:pPr>
            <a:r>
              <a:rPr lang="en-US" sz="1200" dirty="0">
                <a:solidFill>
                  <a:schemeClr val="tx1"/>
                </a:solidFill>
              </a:rPr>
              <a:t>Check no quenching during pulse</a:t>
            </a:r>
            <a:endParaRPr lang="en-US" sz="1200" dirty="0"/>
          </a:p>
        </p:txBody>
      </p:sp>
      <p:sp>
        <p:nvSpPr>
          <p:cNvPr id="25" name="step"/>
          <p:cNvSpPr/>
          <p:nvPr/>
        </p:nvSpPr>
        <p:spPr>
          <a:xfrm>
            <a:off x="731520" y="5532120"/>
            <a:ext cx="347472" cy="347472"/>
          </a:xfrm>
          <a:prstGeom prst="ellipse">
            <a:avLst/>
          </a:prstGeom>
          <a:solidFill>
            <a:schemeClr val="tx2"/>
          </a:solidFill>
          <a:ln/>
        </p:spPr>
      </p:sp>
      <p:sp>
        <p:nvSpPr>
          <p:cNvPr id="26" name="Text 23"/>
          <p:cNvSpPr txBox="1"/>
          <p:nvPr/>
        </p:nvSpPr>
        <p:spPr>
          <a:xfrm>
            <a:off x="731520" y="5532120"/>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27" name="Text 24"/>
          <p:cNvSpPr txBox="1"/>
          <p:nvPr/>
        </p:nvSpPr>
        <p:spPr>
          <a:xfrm>
            <a:off x="1188720" y="5486400"/>
            <a:ext cx="2788920" cy="502920"/>
          </a:xfrm>
          <a:prstGeom prst="rect">
            <a:avLst/>
          </a:prstGeom>
          <a:noFill/>
          <a:ln/>
        </p:spPr>
        <p:txBody>
          <a:bodyPr wrap="square" lIns="0" tIns="0" rIns="0" bIns="0" rtlCol="0" anchor="ctr"/>
          <a:lstStyle/>
          <a:p>
            <a:pPr indent="0" marL="0">
              <a:buNone/>
            </a:pPr>
            <a:r>
              <a:rPr lang="en-US" sz="1200" dirty="0">
                <a:solidFill>
                  <a:schemeClr val="tx1"/>
                </a:solidFill>
              </a:rPr>
              <a:t>Non-stressed control should give 0.81–0.83</a:t>
            </a:r>
            <a:endParaRPr lang="en-US" sz="1200" dirty="0"/>
          </a:p>
        </p:txBody>
      </p:sp>
      <p:sp>
        <p:nvSpPr>
          <p:cNvPr id="28" name="card"/>
          <p:cNvSpPr/>
          <p:nvPr/>
        </p:nvSpPr>
        <p:spPr>
          <a:xfrm>
            <a:off x="4297680" y="1325880"/>
            <a:ext cx="3566160" cy="4846320"/>
          </a:xfrm>
          <a:prstGeom prst="roundRect">
            <a:avLst>
              <a:gd name="adj" fmla="val 2051"/>
            </a:avLst>
          </a:prstGeom>
          <a:solidFill>
            <a:schemeClr val="bg2"/>
          </a:solidFill>
          <a:ln/>
          <a:effectLst>
            <a:outerShdw sx="100000" sy="100000" kx="0" ky="0" algn="bl" rotWithShape="0" blurRad="76200" dist="25400" dir="5400000">
              <a:srgbClr val="000000">
                <a:alpha val="14000"/>
              </a:srgbClr>
            </a:outerShdw>
          </a:effectLst>
        </p:spPr>
      </p:sp>
      <p:sp>
        <p:nvSpPr>
          <p:cNvPr id="29" name="protocol header"/>
          <p:cNvSpPr/>
          <p:nvPr/>
        </p:nvSpPr>
        <p:spPr>
          <a:xfrm>
            <a:off x="4434840" y="1463040"/>
            <a:ext cx="3291840" cy="548640"/>
          </a:xfrm>
          <a:prstGeom prst="roundRect">
            <a:avLst>
              <a:gd name="adj" fmla="val 13333"/>
            </a:avLst>
          </a:prstGeom>
          <a:solidFill>
            <a:schemeClr val="accent3"/>
          </a:solidFill>
          <a:ln/>
        </p:spPr>
      </p:sp>
      <p:sp>
        <p:nvSpPr>
          <p:cNvPr id="30" name="Text 27"/>
          <p:cNvSpPr txBox="1"/>
          <p:nvPr/>
        </p:nvSpPr>
        <p:spPr>
          <a:xfrm>
            <a:off x="4434840" y="1463040"/>
            <a:ext cx="3291840" cy="548640"/>
          </a:xfrm>
          <a:prstGeom prst="rect">
            <a:avLst/>
          </a:prstGeom>
          <a:noFill/>
          <a:ln/>
        </p:spPr>
        <p:txBody>
          <a:bodyPr wrap="square" lIns="0" tIns="0" rIns="0" bIns="0" rtlCol="0" anchor="ctr"/>
          <a:lstStyle/>
          <a:p>
            <a:pPr algn="ctr" indent="0" marL="0">
              <a:buNone/>
            </a:pPr>
            <a:r>
              <a:rPr lang="en-US" sz="1800" b="1" dirty="0">
                <a:solidFill>
                  <a:schemeClr val="tx1"/>
                </a:solidFill>
              </a:rPr>
              <a:t>B · Φ</a:t>
            </a:r>
            <a:r>
              <a:rPr lang="en-US" sz="1800" b="1" baseline="-40000" dirty="0">
                <a:solidFill>
                  <a:schemeClr val="tx1"/>
                </a:solidFill>
              </a:rPr>
              <a:t>PSII</a:t>
            </a:r>
            <a:r>
              <a:rPr lang="en-US" sz="1800" b="1" dirty="0">
                <a:solidFill>
                  <a:schemeClr val="tx1"/>
                </a:solidFill>
              </a:rPr>
              <a:t> and NPQ</a:t>
            </a:r>
            <a:endParaRPr lang="en-US" sz="1800" dirty="0"/>
          </a:p>
        </p:txBody>
      </p:sp>
      <p:sp>
        <p:nvSpPr>
          <p:cNvPr id="31" name="step"/>
          <p:cNvSpPr/>
          <p:nvPr/>
        </p:nvSpPr>
        <p:spPr>
          <a:xfrm>
            <a:off x="4480560" y="2240280"/>
            <a:ext cx="347472" cy="347472"/>
          </a:xfrm>
          <a:prstGeom prst="ellipse">
            <a:avLst/>
          </a:prstGeom>
          <a:solidFill>
            <a:schemeClr val="accent3"/>
          </a:solidFill>
          <a:ln/>
        </p:spPr>
      </p:sp>
      <p:sp>
        <p:nvSpPr>
          <p:cNvPr id="32" name="Text 29"/>
          <p:cNvSpPr txBox="1"/>
          <p:nvPr/>
        </p:nvSpPr>
        <p:spPr>
          <a:xfrm>
            <a:off x="4480560" y="2240280"/>
            <a:ext cx="347472" cy="347472"/>
          </a:xfrm>
          <a:prstGeom prst="rect">
            <a:avLst/>
          </a:prstGeom>
          <a:no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33" name="Text 30"/>
          <p:cNvSpPr txBox="1"/>
          <p:nvPr/>
        </p:nvSpPr>
        <p:spPr>
          <a:xfrm>
            <a:off x="4937760" y="2194560"/>
            <a:ext cx="2788920" cy="502920"/>
          </a:xfrm>
          <a:prstGeom prst="rect">
            <a:avLst/>
          </a:prstGeom>
          <a:noFill/>
          <a:ln/>
        </p:spPr>
        <p:txBody>
          <a:bodyPr wrap="square" lIns="0" tIns="0" rIns="0" bIns="0" rtlCol="0" anchor="ctr"/>
          <a:lstStyle/>
          <a:p>
            <a:pPr indent="0" marL="0">
              <a:buNone/>
            </a:pPr>
            <a:r>
              <a:rPr lang="en-US" sz="1200" dirty="0">
                <a:solidFill>
                  <a:schemeClr val="tx1"/>
                </a:solidFill>
              </a:rPr>
              <a:t>Follow A, then switch on actinic light</a:t>
            </a:r>
            <a:endParaRPr lang="en-US" sz="1200" dirty="0"/>
          </a:p>
        </p:txBody>
      </p:sp>
      <p:sp>
        <p:nvSpPr>
          <p:cNvPr id="34" name="step"/>
          <p:cNvSpPr/>
          <p:nvPr/>
        </p:nvSpPr>
        <p:spPr>
          <a:xfrm>
            <a:off x="4480560" y="2788920"/>
            <a:ext cx="347472" cy="347472"/>
          </a:xfrm>
          <a:prstGeom prst="ellipse">
            <a:avLst/>
          </a:prstGeom>
          <a:solidFill>
            <a:schemeClr val="accent3"/>
          </a:solidFill>
          <a:ln/>
        </p:spPr>
      </p:sp>
      <p:sp>
        <p:nvSpPr>
          <p:cNvPr id="35" name="Text 32"/>
          <p:cNvSpPr txBox="1"/>
          <p:nvPr/>
        </p:nvSpPr>
        <p:spPr>
          <a:xfrm>
            <a:off x="4480560" y="2788920"/>
            <a:ext cx="347472" cy="347472"/>
          </a:xfrm>
          <a:prstGeom prst="rect">
            <a:avLst/>
          </a:prstGeom>
          <a:no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36" name="Text 33"/>
          <p:cNvSpPr txBox="1"/>
          <p:nvPr/>
        </p:nvSpPr>
        <p:spPr>
          <a:xfrm>
            <a:off x="4937760" y="2743200"/>
            <a:ext cx="2788920" cy="502920"/>
          </a:xfrm>
          <a:prstGeom prst="rect">
            <a:avLst/>
          </a:prstGeom>
          <a:noFill/>
          <a:ln/>
        </p:spPr>
        <p:txBody>
          <a:bodyPr wrap="square" lIns="0" tIns="0" rIns="0" bIns="0" rtlCol="0" anchor="ctr"/>
          <a:lstStyle/>
          <a:p>
            <a:pPr indent="0" marL="0">
              <a:buNone/>
            </a:pPr>
            <a:r>
              <a:rPr lang="en-US" sz="1200" dirty="0">
                <a:solidFill>
                  <a:schemeClr val="tx1"/>
                </a:solidFill>
              </a:rPr>
              <a:t>Wait for steady state (minutes); record PAR</a:t>
            </a:r>
            <a:endParaRPr lang="en-US" sz="1200" dirty="0"/>
          </a:p>
        </p:txBody>
      </p:sp>
      <p:sp>
        <p:nvSpPr>
          <p:cNvPr id="37" name="step"/>
          <p:cNvSpPr/>
          <p:nvPr/>
        </p:nvSpPr>
        <p:spPr>
          <a:xfrm>
            <a:off x="4480560" y="3337560"/>
            <a:ext cx="347472" cy="347472"/>
          </a:xfrm>
          <a:prstGeom prst="ellipse">
            <a:avLst/>
          </a:prstGeom>
          <a:solidFill>
            <a:schemeClr val="accent3"/>
          </a:solidFill>
          <a:ln/>
        </p:spPr>
      </p:sp>
      <p:sp>
        <p:nvSpPr>
          <p:cNvPr id="38" name="Text 35"/>
          <p:cNvSpPr txBox="1"/>
          <p:nvPr/>
        </p:nvSpPr>
        <p:spPr>
          <a:xfrm>
            <a:off x="4480560" y="3337560"/>
            <a:ext cx="347472" cy="347472"/>
          </a:xfrm>
          <a:prstGeom prst="rect">
            <a:avLst/>
          </a:prstGeom>
          <a:no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39" name="Text 36"/>
          <p:cNvSpPr txBox="1"/>
          <p:nvPr/>
        </p:nvSpPr>
        <p:spPr>
          <a:xfrm>
            <a:off x="4937760" y="3291840"/>
            <a:ext cx="2788920" cy="502920"/>
          </a:xfrm>
          <a:prstGeom prst="rect">
            <a:avLst/>
          </a:prstGeom>
          <a:noFill/>
          <a:ln/>
        </p:spPr>
        <p:txBody>
          <a:bodyPr wrap="square" lIns="0" tIns="0" rIns="0" bIns="0" rtlCol="0" anchor="ctr"/>
          <a:lstStyle/>
          <a:p>
            <a:pPr indent="0" marL="0">
              <a:buNone/>
            </a:pPr>
            <a:r>
              <a:rPr lang="en-US" sz="1200" dirty="0">
                <a:solidFill>
                  <a:schemeClr val="tx1"/>
                </a:solidFill>
              </a:rPr>
              <a:t>If ambient light: wait until F′ is stable</a:t>
            </a:r>
            <a:endParaRPr lang="en-US" sz="1200" dirty="0"/>
          </a:p>
        </p:txBody>
      </p:sp>
      <p:sp>
        <p:nvSpPr>
          <p:cNvPr id="40" name="step"/>
          <p:cNvSpPr/>
          <p:nvPr/>
        </p:nvSpPr>
        <p:spPr>
          <a:xfrm>
            <a:off x="4480560" y="3886200"/>
            <a:ext cx="347472" cy="347472"/>
          </a:xfrm>
          <a:prstGeom prst="ellipse">
            <a:avLst/>
          </a:prstGeom>
          <a:solidFill>
            <a:schemeClr val="accent3"/>
          </a:solidFill>
          <a:ln/>
        </p:spPr>
      </p:sp>
      <p:sp>
        <p:nvSpPr>
          <p:cNvPr id="41" name="Text 38"/>
          <p:cNvSpPr txBox="1"/>
          <p:nvPr/>
        </p:nvSpPr>
        <p:spPr>
          <a:xfrm>
            <a:off x="4480560" y="3886200"/>
            <a:ext cx="347472" cy="347472"/>
          </a:xfrm>
          <a:prstGeom prst="rect">
            <a:avLst/>
          </a:prstGeom>
          <a:no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42" name="Text 39"/>
          <p:cNvSpPr txBox="1"/>
          <p:nvPr/>
        </p:nvSpPr>
        <p:spPr>
          <a:xfrm>
            <a:off x="4937760" y="3840480"/>
            <a:ext cx="2788920" cy="502920"/>
          </a:xfrm>
          <a:prstGeom prst="rect">
            <a:avLst/>
          </a:prstGeom>
          <a:noFill/>
          <a:ln/>
        </p:spPr>
        <p:txBody>
          <a:bodyPr wrap="square" lIns="0" tIns="0" rIns="0" bIns="0" rtlCol="0" anchor="ctr"/>
          <a:lstStyle/>
          <a:p>
            <a:pPr indent="0" marL="0">
              <a:buNone/>
            </a:pPr>
            <a:r>
              <a:rPr lang="en-US" sz="1200" dirty="0">
                <a:solidFill>
                  <a:schemeClr val="tx1"/>
                </a:solidFill>
              </a:rPr>
              <a:t>Apply saturating pulse → </a:t>
            </a:r>
            <a:r>
              <a:rPr lang="en-US" sz="1200" b="1" dirty="0">
                <a:solidFill>
                  <a:schemeClr val="tx1"/>
                </a:solidFill>
              </a:rPr>
              <a:t>F</a:t>
            </a:r>
            <a:r>
              <a:rPr lang="en-US" sz="1200" b="1" baseline="-40000" dirty="0">
                <a:solidFill>
                  <a:schemeClr val="tx1"/>
                </a:solidFill>
              </a:rPr>
              <a:t>m</a:t>
            </a:r>
            <a:r>
              <a:rPr lang="en-US" sz="1200" b="1" dirty="0">
                <a:solidFill>
                  <a:schemeClr val="tx1"/>
                </a:solidFill>
              </a:rPr>
              <a:t>′</a:t>
            </a:r>
            <a:endParaRPr lang="en-US" sz="1200" dirty="0"/>
          </a:p>
        </p:txBody>
      </p:sp>
      <p:sp>
        <p:nvSpPr>
          <p:cNvPr id="43" name="step"/>
          <p:cNvSpPr/>
          <p:nvPr/>
        </p:nvSpPr>
        <p:spPr>
          <a:xfrm>
            <a:off x="4480560" y="4434840"/>
            <a:ext cx="347472" cy="347472"/>
          </a:xfrm>
          <a:prstGeom prst="ellipse">
            <a:avLst/>
          </a:prstGeom>
          <a:solidFill>
            <a:schemeClr val="accent3"/>
          </a:solidFill>
          <a:ln/>
        </p:spPr>
      </p:sp>
      <p:sp>
        <p:nvSpPr>
          <p:cNvPr id="44" name="Text 41"/>
          <p:cNvSpPr txBox="1"/>
          <p:nvPr/>
        </p:nvSpPr>
        <p:spPr>
          <a:xfrm>
            <a:off x="4480560" y="4434840"/>
            <a:ext cx="347472" cy="347472"/>
          </a:xfrm>
          <a:prstGeom prst="rect">
            <a:avLst/>
          </a:prstGeom>
          <a:noFill/>
          <a:ln/>
        </p:spPr>
        <p:txBody>
          <a:bodyPr wrap="square" lIns="0" tIns="0" rIns="0" bIns="0" rtlCol="0" anchor="ctr"/>
          <a:lstStyle/>
          <a:p>
            <a:pPr algn="ctr" indent="0" marL="0">
              <a:buNone/>
            </a:pPr>
            <a:r>
              <a:rPr lang="en-US" sz="1100" b="1" dirty="0">
                <a:solidFill>
                  <a:schemeClr val="tx1"/>
                </a:solidFill>
              </a:rPr>
              <a:t>5</a:t>
            </a:r>
            <a:endParaRPr lang="en-US" sz="1100" dirty="0"/>
          </a:p>
        </p:txBody>
      </p:sp>
      <p:sp>
        <p:nvSpPr>
          <p:cNvPr id="45" name="Text 42"/>
          <p:cNvSpPr txBox="1"/>
          <p:nvPr/>
        </p:nvSpPr>
        <p:spPr>
          <a:xfrm>
            <a:off x="4937760" y="4389120"/>
            <a:ext cx="2788920" cy="502920"/>
          </a:xfrm>
          <a:prstGeom prst="rect">
            <a:avLst/>
          </a:prstGeom>
          <a:noFill/>
          <a:ln/>
        </p:spPr>
        <p:txBody>
          <a:bodyPr wrap="square" lIns="0" tIns="0" rIns="0" bIns="0" rtlCol="0" anchor="ctr"/>
          <a:lstStyle/>
          <a:p>
            <a:pPr indent="0" marL="0">
              <a:buNone/>
            </a:pPr>
            <a:r>
              <a:rPr lang="en-US" sz="1200" dirty="0">
                <a:solidFill>
                  <a:schemeClr val="tx1"/>
                </a:solidFill>
              </a:rPr>
              <a:t>NPQ needs dark-adapted F</a:t>
            </a:r>
            <a:r>
              <a:rPr lang="en-US" sz="1200" baseline="-40000" dirty="0">
                <a:solidFill>
                  <a:schemeClr val="tx1"/>
                </a:solidFill>
              </a:rPr>
              <a:t>m</a:t>
            </a:r>
            <a:r>
              <a:rPr lang="en-US" sz="1200" dirty="0">
                <a:solidFill>
                  <a:schemeClr val="tx1"/>
                </a:solidFill>
              </a:rPr>
              <a:t> from A</a:t>
            </a:r>
            <a:endParaRPr lang="en-US" sz="1200" dirty="0"/>
          </a:p>
        </p:txBody>
      </p:sp>
      <p:sp>
        <p:nvSpPr>
          <p:cNvPr id="46" name="step"/>
          <p:cNvSpPr/>
          <p:nvPr/>
        </p:nvSpPr>
        <p:spPr>
          <a:xfrm>
            <a:off x="4480560" y="4983480"/>
            <a:ext cx="347472" cy="347472"/>
          </a:xfrm>
          <a:prstGeom prst="ellipse">
            <a:avLst/>
          </a:prstGeom>
          <a:solidFill>
            <a:schemeClr val="accent3"/>
          </a:solidFill>
          <a:ln/>
        </p:spPr>
      </p:sp>
      <p:sp>
        <p:nvSpPr>
          <p:cNvPr id="47" name="Text 44"/>
          <p:cNvSpPr txBox="1"/>
          <p:nvPr/>
        </p:nvSpPr>
        <p:spPr>
          <a:xfrm>
            <a:off x="4480560" y="4983480"/>
            <a:ext cx="347472" cy="347472"/>
          </a:xfrm>
          <a:prstGeom prst="rect">
            <a:avLst/>
          </a:prstGeom>
          <a:noFill/>
          <a:ln/>
        </p:spPr>
        <p:txBody>
          <a:bodyPr wrap="square" lIns="0" tIns="0" rIns="0" bIns="0" rtlCol="0" anchor="ctr"/>
          <a:lstStyle/>
          <a:p>
            <a:pPr algn="ctr" indent="0" marL="0">
              <a:buNone/>
            </a:pPr>
            <a:r>
              <a:rPr lang="en-US" sz="1100" b="1" dirty="0">
                <a:solidFill>
                  <a:schemeClr val="tx1"/>
                </a:solidFill>
              </a:rPr>
              <a:t>6</a:t>
            </a:r>
            <a:endParaRPr lang="en-US" sz="1100" dirty="0"/>
          </a:p>
        </p:txBody>
      </p:sp>
      <p:sp>
        <p:nvSpPr>
          <p:cNvPr id="48" name="Text 45"/>
          <p:cNvSpPr txBox="1"/>
          <p:nvPr/>
        </p:nvSpPr>
        <p:spPr>
          <a:xfrm>
            <a:off x="4937760" y="4937760"/>
            <a:ext cx="2788920" cy="502920"/>
          </a:xfrm>
          <a:prstGeom prst="rect">
            <a:avLst/>
          </a:prstGeom>
          <a:noFill/>
          <a:ln/>
        </p:spPr>
        <p:txBody>
          <a:bodyPr wrap="square" lIns="0" tIns="0" rIns="0" bIns="0" rtlCol="0" anchor="ctr"/>
          <a:lstStyle/>
          <a:p>
            <a:pPr indent="0" marL="0">
              <a:buNone/>
            </a:pPr>
            <a:r>
              <a:rPr lang="en-US" sz="1200" dirty="0">
                <a:solidFill>
                  <a:schemeClr val="tx1"/>
                </a:solidFill>
              </a:rPr>
              <a:t>Calculate using Table 1</a:t>
            </a:r>
            <a:endParaRPr lang="en-US" sz="1200" dirty="0"/>
          </a:p>
        </p:txBody>
      </p:sp>
      <p:sp>
        <p:nvSpPr>
          <p:cNvPr id="49" name="card"/>
          <p:cNvSpPr/>
          <p:nvPr/>
        </p:nvSpPr>
        <p:spPr>
          <a:xfrm>
            <a:off x="8046720" y="1325880"/>
            <a:ext cx="3566160" cy="4846320"/>
          </a:xfrm>
          <a:prstGeom prst="roundRect">
            <a:avLst>
              <a:gd name="adj" fmla="val 2051"/>
            </a:avLst>
          </a:prstGeom>
          <a:solidFill>
            <a:schemeClr val="bg2"/>
          </a:solidFill>
          <a:ln/>
          <a:effectLst>
            <a:outerShdw sx="100000" sy="100000" kx="0" ky="0" algn="bl" rotWithShape="0" blurRad="76200" dist="25400" dir="5400000">
              <a:srgbClr val="000000">
                <a:alpha val="14000"/>
              </a:srgbClr>
            </a:outerShdw>
          </a:effectLst>
        </p:spPr>
      </p:sp>
      <p:sp>
        <p:nvSpPr>
          <p:cNvPr id="50" name="protocol header"/>
          <p:cNvSpPr/>
          <p:nvPr/>
        </p:nvSpPr>
        <p:spPr>
          <a:xfrm>
            <a:off x="8183880" y="1463040"/>
            <a:ext cx="3291840" cy="548640"/>
          </a:xfrm>
          <a:prstGeom prst="roundRect">
            <a:avLst>
              <a:gd name="adj" fmla="val 13333"/>
            </a:avLst>
          </a:prstGeom>
          <a:solidFill>
            <a:schemeClr val="accent5"/>
          </a:solidFill>
          <a:ln/>
        </p:spPr>
      </p:sp>
      <p:sp>
        <p:nvSpPr>
          <p:cNvPr id="51" name="Text 48"/>
          <p:cNvSpPr txBox="1"/>
          <p:nvPr/>
        </p:nvSpPr>
        <p:spPr>
          <a:xfrm>
            <a:off x="8183880" y="1463040"/>
            <a:ext cx="3291840" cy="548640"/>
          </a:xfrm>
          <a:prstGeom prst="rect">
            <a:avLst/>
          </a:prstGeom>
          <a:noFill/>
          <a:ln/>
        </p:spPr>
        <p:txBody>
          <a:bodyPr wrap="square" lIns="0" tIns="0" rIns="0" bIns="0" rtlCol="0" anchor="ctr"/>
          <a:lstStyle/>
          <a:p>
            <a:pPr algn="ctr" indent="0" marL="0">
              <a:buNone/>
            </a:pPr>
            <a:r>
              <a:rPr lang="en-US" sz="1800" b="1" dirty="0">
                <a:solidFill>
                  <a:schemeClr val="bg1"/>
                </a:solidFill>
              </a:rPr>
              <a:t>C · qP (F</a:t>
            </a:r>
            <a:r>
              <a:rPr lang="en-US" sz="1800" b="1" baseline="-40000" dirty="0">
                <a:solidFill>
                  <a:schemeClr val="bg1"/>
                </a:solidFill>
              </a:rPr>
              <a:t>q</a:t>
            </a:r>
            <a:r>
              <a:rPr lang="en-US" sz="1800" b="1" dirty="0">
                <a:solidFill>
                  <a:schemeClr val="bg1"/>
                </a:solidFill>
              </a:rPr>
              <a:t>′/F</a:t>
            </a:r>
            <a:r>
              <a:rPr lang="en-US" sz="1800" b="1" baseline="-40000" dirty="0">
                <a:solidFill>
                  <a:schemeClr val="bg1"/>
                </a:solidFill>
              </a:rPr>
              <a:t>v</a:t>
            </a:r>
            <a:r>
              <a:rPr lang="en-US" sz="1800" b="1" dirty="0">
                <a:solidFill>
                  <a:schemeClr val="bg1"/>
                </a:solidFill>
              </a:rPr>
              <a:t>′)</a:t>
            </a:r>
            <a:endParaRPr lang="en-US" sz="1800" dirty="0"/>
          </a:p>
        </p:txBody>
      </p:sp>
      <p:sp>
        <p:nvSpPr>
          <p:cNvPr id="52" name="step"/>
          <p:cNvSpPr/>
          <p:nvPr/>
        </p:nvSpPr>
        <p:spPr>
          <a:xfrm>
            <a:off x="8229600" y="2240280"/>
            <a:ext cx="347472" cy="347472"/>
          </a:xfrm>
          <a:prstGeom prst="ellipse">
            <a:avLst/>
          </a:prstGeom>
          <a:solidFill>
            <a:schemeClr val="accent5"/>
          </a:solidFill>
          <a:ln/>
        </p:spPr>
      </p:sp>
      <p:sp>
        <p:nvSpPr>
          <p:cNvPr id="53" name="Text 50"/>
          <p:cNvSpPr txBox="1"/>
          <p:nvPr/>
        </p:nvSpPr>
        <p:spPr>
          <a:xfrm>
            <a:off x="8229600" y="2240280"/>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54" name="Text 51"/>
          <p:cNvSpPr txBox="1"/>
          <p:nvPr/>
        </p:nvSpPr>
        <p:spPr>
          <a:xfrm>
            <a:off x="8686800" y="2194560"/>
            <a:ext cx="2788920" cy="502920"/>
          </a:xfrm>
          <a:prstGeom prst="rect">
            <a:avLst/>
          </a:prstGeom>
          <a:noFill/>
          <a:ln/>
        </p:spPr>
        <p:txBody>
          <a:bodyPr wrap="square" lIns="0" tIns="0" rIns="0" bIns="0" rtlCol="0" anchor="ctr"/>
          <a:lstStyle/>
          <a:p>
            <a:pPr indent="0" marL="0">
              <a:buNone/>
            </a:pPr>
            <a:r>
              <a:rPr lang="en-US" sz="1200" dirty="0">
                <a:solidFill>
                  <a:schemeClr val="tx1"/>
                </a:solidFill>
              </a:rPr>
              <a:t>As B, but F</a:t>
            </a:r>
            <a:r>
              <a:rPr lang="en-US" sz="1200" baseline="-40000" dirty="0">
                <a:solidFill>
                  <a:schemeClr val="tx1"/>
                </a:solidFill>
              </a:rPr>
              <a:t>o</a:t>
            </a:r>
            <a:r>
              <a:rPr lang="en-US" sz="1200" dirty="0">
                <a:solidFill>
                  <a:schemeClr val="tx1"/>
                </a:solidFill>
              </a:rPr>
              <a:t>′ is also needed</a:t>
            </a:r>
            <a:endParaRPr lang="en-US" sz="1200" dirty="0"/>
          </a:p>
        </p:txBody>
      </p:sp>
      <p:sp>
        <p:nvSpPr>
          <p:cNvPr id="55" name="step"/>
          <p:cNvSpPr/>
          <p:nvPr/>
        </p:nvSpPr>
        <p:spPr>
          <a:xfrm>
            <a:off x="8229600" y="2788920"/>
            <a:ext cx="347472" cy="347472"/>
          </a:xfrm>
          <a:prstGeom prst="ellipse">
            <a:avLst/>
          </a:prstGeom>
          <a:solidFill>
            <a:schemeClr val="accent5"/>
          </a:solidFill>
          <a:ln/>
        </p:spPr>
      </p:sp>
      <p:sp>
        <p:nvSpPr>
          <p:cNvPr id="56" name="Text 53"/>
          <p:cNvSpPr txBox="1"/>
          <p:nvPr/>
        </p:nvSpPr>
        <p:spPr>
          <a:xfrm>
            <a:off x="8229600" y="2788920"/>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57" name="Text 54"/>
          <p:cNvSpPr txBox="1"/>
          <p:nvPr/>
        </p:nvSpPr>
        <p:spPr>
          <a:xfrm>
            <a:off x="8686800" y="2743200"/>
            <a:ext cx="2788920" cy="502920"/>
          </a:xfrm>
          <a:prstGeom prst="rect">
            <a:avLst/>
          </a:prstGeom>
          <a:noFill/>
          <a:ln/>
        </p:spPr>
        <p:txBody>
          <a:bodyPr wrap="square" lIns="0" tIns="0" rIns="0" bIns="0" rtlCol="0" anchor="ctr"/>
          <a:lstStyle/>
          <a:p>
            <a:pPr indent="0" marL="0">
              <a:buNone/>
            </a:pPr>
            <a:r>
              <a:rPr lang="en-US" sz="1200" dirty="0">
                <a:solidFill>
                  <a:schemeClr val="tx1"/>
                </a:solidFill>
              </a:rPr>
              <a:t>After the pulse switch actinic off</a:t>
            </a:r>
            <a:endParaRPr lang="en-US" sz="1200" dirty="0"/>
          </a:p>
        </p:txBody>
      </p:sp>
      <p:sp>
        <p:nvSpPr>
          <p:cNvPr id="58" name="step"/>
          <p:cNvSpPr/>
          <p:nvPr/>
        </p:nvSpPr>
        <p:spPr>
          <a:xfrm>
            <a:off x="8229600" y="3337560"/>
            <a:ext cx="347472" cy="347472"/>
          </a:xfrm>
          <a:prstGeom prst="ellipse">
            <a:avLst/>
          </a:prstGeom>
          <a:solidFill>
            <a:schemeClr val="accent5"/>
          </a:solidFill>
          <a:ln/>
        </p:spPr>
      </p:sp>
      <p:sp>
        <p:nvSpPr>
          <p:cNvPr id="59" name="Text 56"/>
          <p:cNvSpPr txBox="1"/>
          <p:nvPr/>
        </p:nvSpPr>
        <p:spPr>
          <a:xfrm>
            <a:off x="8229600" y="3337560"/>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60" name="Text 57"/>
          <p:cNvSpPr txBox="1"/>
          <p:nvPr/>
        </p:nvSpPr>
        <p:spPr>
          <a:xfrm>
            <a:off x="8686800" y="3291840"/>
            <a:ext cx="2788920" cy="502920"/>
          </a:xfrm>
          <a:prstGeom prst="rect">
            <a:avLst/>
          </a:prstGeom>
          <a:noFill/>
          <a:ln/>
        </p:spPr>
        <p:txBody>
          <a:bodyPr wrap="square" lIns="0" tIns="0" rIns="0" bIns="0" rtlCol="0" anchor="ctr"/>
          <a:lstStyle/>
          <a:p>
            <a:pPr indent="0" marL="0">
              <a:buNone/>
            </a:pPr>
            <a:r>
              <a:rPr lang="en-US" sz="1200" dirty="0">
                <a:solidFill>
                  <a:schemeClr val="tx1"/>
                </a:solidFill>
              </a:rPr>
              <a:t>Measure </a:t>
            </a:r>
            <a:r>
              <a:rPr lang="en-US" sz="1200" b="1" dirty="0">
                <a:solidFill>
                  <a:schemeClr val="tx1"/>
                </a:solidFill>
              </a:rPr>
              <a:t>F</a:t>
            </a:r>
            <a:r>
              <a:rPr lang="en-US" sz="1200" b="1" baseline="-40000" dirty="0">
                <a:solidFill>
                  <a:schemeClr val="tx1"/>
                </a:solidFill>
              </a:rPr>
              <a:t>o</a:t>
            </a:r>
            <a:r>
              <a:rPr lang="en-US" sz="1200" b="1" dirty="0">
                <a:solidFill>
                  <a:schemeClr val="tx1"/>
                </a:solidFill>
              </a:rPr>
              <a:t>′</a:t>
            </a:r>
            <a:r>
              <a:rPr lang="en-US" sz="1200" dirty="0">
                <a:solidFill>
                  <a:schemeClr val="tx1"/>
                </a:solidFill>
              </a:rPr>
              <a:t> after a few seconds</a:t>
            </a:r>
            <a:endParaRPr lang="en-US" sz="1200" dirty="0"/>
          </a:p>
        </p:txBody>
      </p:sp>
      <p:sp>
        <p:nvSpPr>
          <p:cNvPr id="61" name="step"/>
          <p:cNvSpPr/>
          <p:nvPr/>
        </p:nvSpPr>
        <p:spPr>
          <a:xfrm>
            <a:off x="8229600" y="3886200"/>
            <a:ext cx="347472" cy="347472"/>
          </a:xfrm>
          <a:prstGeom prst="ellipse">
            <a:avLst/>
          </a:prstGeom>
          <a:solidFill>
            <a:schemeClr val="accent5"/>
          </a:solidFill>
          <a:ln/>
        </p:spPr>
      </p:sp>
      <p:sp>
        <p:nvSpPr>
          <p:cNvPr id="62" name="Text 59"/>
          <p:cNvSpPr txBox="1"/>
          <p:nvPr/>
        </p:nvSpPr>
        <p:spPr>
          <a:xfrm>
            <a:off x="8229600" y="3886200"/>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63" name="Text 60"/>
          <p:cNvSpPr txBox="1"/>
          <p:nvPr/>
        </p:nvSpPr>
        <p:spPr>
          <a:xfrm>
            <a:off x="8686800" y="3840480"/>
            <a:ext cx="2788920" cy="502920"/>
          </a:xfrm>
          <a:prstGeom prst="rect">
            <a:avLst/>
          </a:prstGeom>
          <a:noFill/>
          <a:ln/>
        </p:spPr>
        <p:txBody>
          <a:bodyPr wrap="square" lIns="0" tIns="0" rIns="0" bIns="0" rtlCol="0" anchor="ctr"/>
          <a:lstStyle/>
          <a:p>
            <a:pPr indent="0" marL="0">
              <a:buNone/>
            </a:pPr>
            <a:r>
              <a:rPr lang="en-US" sz="1200" dirty="0">
                <a:solidFill>
                  <a:schemeClr val="tx1"/>
                </a:solidFill>
              </a:rPr>
              <a:t>Use far-red to oxidise PSI, Q</a:t>
            </a:r>
            <a:r>
              <a:rPr lang="en-US" sz="1200" baseline="-40000" dirty="0">
                <a:solidFill>
                  <a:schemeClr val="tx1"/>
                </a:solidFill>
              </a:rPr>
              <a:t>A</a:t>
            </a:r>
            <a:r>
              <a:rPr lang="en-US" sz="1200" dirty="0">
                <a:solidFill>
                  <a:schemeClr val="tx1"/>
                </a:solidFill>
              </a:rPr>
              <a:t> and carriers</a:t>
            </a:r>
            <a:endParaRPr lang="en-US" sz="1200" dirty="0"/>
          </a:p>
        </p:txBody>
      </p:sp>
      <p:sp>
        <p:nvSpPr>
          <p:cNvPr id="64" name="step"/>
          <p:cNvSpPr/>
          <p:nvPr/>
        </p:nvSpPr>
        <p:spPr>
          <a:xfrm>
            <a:off x="8229600" y="4434840"/>
            <a:ext cx="347472" cy="347472"/>
          </a:xfrm>
          <a:prstGeom prst="ellipse">
            <a:avLst/>
          </a:prstGeom>
          <a:solidFill>
            <a:schemeClr val="accent5"/>
          </a:solidFill>
          <a:ln/>
        </p:spPr>
      </p:sp>
      <p:sp>
        <p:nvSpPr>
          <p:cNvPr id="65" name="Text 62"/>
          <p:cNvSpPr txBox="1"/>
          <p:nvPr/>
        </p:nvSpPr>
        <p:spPr>
          <a:xfrm>
            <a:off x="8229600" y="4434840"/>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66" name="Text 63"/>
          <p:cNvSpPr txBox="1"/>
          <p:nvPr/>
        </p:nvSpPr>
        <p:spPr>
          <a:xfrm>
            <a:off x="8686800" y="4389120"/>
            <a:ext cx="2788920" cy="502920"/>
          </a:xfrm>
          <a:prstGeom prst="rect">
            <a:avLst/>
          </a:prstGeom>
          <a:noFill/>
          <a:ln/>
        </p:spPr>
        <p:txBody>
          <a:bodyPr wrap="square" lIns="0" tIns="0" rIns="0" bIns="0" rtlCol="0" anchor="ctr"/>
          <a:lstStyle/>
          <a:p>
            <a:pPr indent="0" marL="0">
              <a:buNone/>
            </a:pPr>
            <a:r>
              <a:rPr lang="en-US" sz="1200" dirty="0">
                <a:solidFill>
                  <a:schemeClr val="tx1"/>
                </a:solidFill>
              </a:rPr>
              <a:t>Or calculate F</a:t>
            </a:r>
            <a:r>
              <a:rPr lang="en-US" sz="1200" baseline="-40000" dirty="0">
                <a:solidFill>
                  <a:schemeClr val="tx1"/>
                </a:solidFill>
              </a:rPr>
              <a:t>o</a:t>
            </a:r>
            <a:r>
              <a:rPr lang="en-US" sz="1200" dirty="0">
                <a:solidFill>
                  <a:schemeClr val="tx1"/>
                </a:solidFill>
              </a:rPr>
              <a:t>′ from F</a:t>
            </a:r>
            <a:r>
              <a:rPr lang="en-US" sz="1200" baseline="-40000" dirty="0">
                <a:solidFill>
                  <a:schemeClr val="tx1"/>
                </a:solidFill>
              </a:rPr>
              <a:t>o</a:t>
            </a:r>
            <a:r>
              <a:rPr lang="en-US" sz="1200" dirty="0">
                <a:solidFill>
                  <a:schemeClr val="tx1"/>
                </a:solidFill>
              </a:rPr>
              <a:t> (Oxborough &amp; Baker)</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Imaging, applications &amp; monitoring</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From single-spot measurements to images, screening platforms and remote, long-term monitoring</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07</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Chlorophyll fluorescence imaging</a:t>
            </a:r>
            <a:endParaRPr lang="en-US" sz="3200" dirty="0"/>
          </a:p>
        </p:txBody>
      </p:sp>
      <p:sp>
        <p:nvSpPr>
          <p:cNvPr id="4" name="card"/>
          <p:cNvSpPr/>
          <p:nvPr/>
        </p:nvSpPr>
        <p:spPr>
          <a:xfrm>
            <a:off x="548640" y="1325880"/>
            <a:ext cx="3657600"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481328"/>
            <a:ext cx="420624" cy="420624"/>
          </a:xfrm>
          <a:prstGeom prst="ellipse">
            <a:avLst/>
          </a:prstGeom>
          <a:solidFill>
            <a:schemeClr val="accent1"/>
          </a:solidFill>
          <a:ln/>
        </p:spPr>
      </p:sp>
      <p:pic>
        <p:nvPicPr>
          <p:cNvPr id="6" name="Image 0" descr="Eye icon">    </p:cNvPr>
          <p:cNvPicPr>
            <a:picLocks noChangeAspect="1"/>
          </p:cNvPicPr>
          <p:nvPr/>
        </p:nvPicPr>
        <p:blipFill>
          <a:blip r:embed="rId1"/>
          <a:stretch>
            <a:fillRect/>
          </a:stretch>
        </p:blipFill>
        <p:spPr>
          <a:xfrm>
            <a:off x="840882" y="1590690"/>
            <a:ext cx="201900" cy="201900"/>
          </a:xfrm>
          <a:prstGeom prst="rect">
            <a:avLst/>
          </a:prstGeom>
        </p:spPr>
      </p:pic>
      <p:sp>
        <p:nvSpPr>
          <p:cNvPr id="7" name="Text 3"/>
          <p:cNvSpPr txBox="1"/>
          <p:nvPr/>
        </p:nvSpPr>
        <p:spPr>
          <a:xfrm>
            <a:off x="1261872" y="1463040"/>
            <a:ext cx="2807208" cy="457200"/>
          </a:xfrm>
          <a:prstGeom prst="rect">
            <a:avLst/>
          </a:prstGeom>
          <a:noFill/>
          <a:ln/>
        </p:spPr>
        <p:txBody>
          <a:bodyPr wrap="square" lIns="0" tIns="0" rIns="0" bIns="0" rtlCol="0" anchor="ctr"/>
          <a:lstStyle/>
          <a:p>
            <a:pPr indent="0" marL="0">
              <a:buNone/>
            </a:pPr>
            <a:r>
              <a:rPr lang="en-US" sz="1600" b="1" dirty="0">
                <a:solidFill>
                  <a:schemeClr val="tx2"/>
                </a:solidFill>
              </a:rPr>
              <a:t>Advantages</a:t>
            </a:r>
            <a:endParaRPr lang="en-US" sz="1600" dirty="0"/>
          </a:p>
        </p:txBody>
      </p:sp>
      <p:sp>
        <p:nvSpPr>
          <p:cNvPr id="8" name="Text 4"/>
          <p:cNvSpPr txBox="1"/>
          <p:nvPr/>
        </p:nvSpPr>
        <p:spPr>
          <a:xfrm>
            <a:off x="731520" y="2011680"/>
            <a:ext cx="3291840"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Spatial </a:t>
            </a:r>
            <a:r>
              <a:rPr lang="en-US" sz="1300" b="1" dirty="0">
                <a:solidFill>
                  <a:schemeClr val="tx1"/>
                </a:solidFill>
              </a:rPr>
              <a:t>heterogeneity</a:t>
            </a:r>
            <a:r>
              <a:rPr lang="en-US" sz="1300" dirty="0">
                <a:solidFill>
                  <a:schemeClr val="tx1"/>
                </a:solidFill>
              </a:rPr>
              <a:t> within leaves/plants</a:t>
            </a:r>
            <a:endParaRPr lang="en-US" sz="1300" dirty="0"/>
          </a:p>
          <a:p>
            <a:pPr marL="177800" indent="-177800">
              <a:spcAft>
                <a:spcPts val="400"/>
              </a:spcAft>
              <a:buSzPct val="100000"/>
              <a:buChar char="•"/>
            </a:pPr>
            <a:r>
              <a:rPr lang="en-US" sz="1300" dirty="0">
                <a:solidFill>
                  <a:schemeClr val="tx1"/>
                </a:solidFill>
              </a:rPr>
              <a:t>Screening many plants under identical conditions</a:t>
            </a:r>
            <a:endParaRPr lang="en-US" sz="1300" dirty="0"/>
          </a:p>
          <a:p>
            <a:pPr marL="177800" indent="-177800">
              <a:spcAft>
                <a:spcPts val="400"/>
              </a:spcAft>
              <a:buSzPct val="100000"/>
              <a:buChar char="•"/>
            </a:pPr>
            <a:r>
              <a:rPr lang="en-US" sz="1300" dirty="0">
                <a:solidFill>
                  <a:schemeClr val="tx1"/>
                </a:solidFill>
              </a:rPr>
              <a:t>Resolution from chloroplasts and guard cells to whole plants</a:t>
            </a:r>
            <a:endParaRPr lang="en-US" sz="1300" dirty="0"/>
          </a:p>
        </p:txBody>
      </p:sp>
      <p:sp>
        <p:nvSpPr>
          <p:cNvPr id="9" name="card"/>
          <p:cNvSpPr/>
          <p:nvPr/>
        </p:nvSpPr>
        <p:spPr>
          <a:xfrm>
            <a:off x="548640" y="3840480"/>
            <a:ext cx="3657600"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731520" y="3995928"/>
            <a:ext cx="420624" cy="420624"/>
          </a:xfrm>
          <a:prstGeom prst="ellipse">
            <a:avLst/>
          </a:prstGeom>
          <a:solidFill>
            <a:schemeClr val="accent5"/>
          </a:solidFill>
          <a:ln/>
        </p:spPr>
      </p:sp>
      <p:pic>
        <p:nvPicPr>
          <p:cNvPr id="11" name="Image 1" descr="LayerGroup icon">    </p:cNvPr>
          <p:cNvPicPr>
            <a:picLocks noChangeAspect="1"/>
          </p:cNvPicPr>
          <p:nvPr/>
        </p:nvPicPr>
        <p:blipFill>
          <a:blip r:embed="rId2"/>
          <a:stretch>
            <a:fillRect/>
          </a:stretch>
        </p:blipFill>
        <p:spPr>
          <a:xfrm>
            <a:off x="840882" y="4105290"/>
            <a:ext cx="201900" cy="201900"/>
          </a:xfrm>
          <a:prstGeom prst="rect">
            <a:avLst/>
          </a:prstGeom>
        </p:spPr>
      </p:pic>
      <p:sp>
        <p:nvSpPr>
          <p:cNvPr id="12" name="Text 7"/>
          <p:cNvSpPr txBox="1"/>
          <p:nvPr/>
        </p:nvSpPr>
        <p:spPr>
          <a:xfrm>
            <a:off x="1261872" y="3977640"/>
            <a:ext cx="2807208" cy="457200"/>
          </a:xfrm>
          <a:prstGeom prst="rect">
            <a:avLst/>
          </a:prstGeom>
          <a:noFill/>
          <a:ln/>
        </p:spPr>
        <p:txBody>
          <a:bodyPr wrap="square" lIns="0" tIns="0" rIns="0" bIns="0" rtlCol="0" anchor="ctr"/>
          <a:lstStyle/>
          <a:p>
            <a:pPr indent="0" marL="0">
              <a:buNone/>
            </a:pPr>
            <a:r>
              <a:rPr lang="en-US" sz="1600" b="1" dirty="0">
                <a:solidFill>
                  <a:schemeClr val="tx2"/>
                </a:solidFill>
              </a:rPr>
              <a:t>Combined techniques</a:t>
            </a:r>
            <a:endParaRPr lang="en-US" sz="1600" dirty="0"/>
          </a:p>
        </p:txBody>
      </p:sp>
      <p:sp>
        <p:nvSpPr>
          <p:cNvPr id="13" name="Text 8"/>
          <p:cNvSpPr txBox="1"/>
          <p:nvPr/>
        </p:nvSpPr>
        <p:spPr>
          <a:xfrm>
            <a:off x="731520" y="4526280"/>
            <a:ext cx="3291840" cy="155448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 IRGA gas exchange: CO₂ diffusion, guard-cell photosynthesis</a:t>
            </a:r>
            <a:endParaRPr lang="en-US" sz="1300" dirty="0"/>
          </a:p>
          <a:p>
            <a:pPr marL="177800" indent="-177800">
              <a:spcAft>
                <a:spcPts val="400"/>
              </a:spcAft>
              <a:buSzPct val="100000"/>
              <a:buChar char="•"/>
            </a:pPr>
            <a:r>
              <a:rPr lang="en-US" sz="1300" dirty="0">
                <a:solidFill>
                  <a:schemeClr val="tx1"/>
                </a:solidFill>
              </a:rPr>
              <a:t>+ thermography: stomatal behaviour, water-use efficiency</a:t>
            </a:r>
            <a:endParaRPr lang="en-US" sz="1300" dirty="0"/>
          </a:p>
          <a:p>
            <a:pPr marL="177800" indent="-177800">
              <a:spcAft>
                <a:spcPts val="400"/>
              </a:spcAft>
              <a:buSzPct val="100000"/>
              <a:buChar char="•"/>
            </a:pPr>
            <a:r>
              <a:rPr lang="en-US" sz="1300" dirty="0">
                <a:solidFill>
                  <a:schemeClr val="tx1"/>
                </a:solidFill>
              </a:rPr>
              <a:t>+ hyperspectral: disease detection (e.g. head blight)</a:t>
            </a:r>
            <a:endParaRPr lang="en-US" sz="1300" dirty="0"/>
          </a:p>
        </p:txBody>
      </p:sp>
      <p:sp>
        <p:nvSpPr>
          <p:cNvPr id="14" name="card"/>
          <p:cNvSpPr/>
          <p:nvPr/>
        </p:nvSpPr>
        <p:spPr>
          <a:xfrm>
            <a:off x="4416552" y="1325880"/>
            <a:ext cx="3566160"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15" name="icon circle"/>
          <p:cNvSpPr/>
          <p:nvPr/>
        </p:nvSpPr>
        <p:spPr>
          <a:xfrm>
            <a:off x="4599432" y="1481328"/>
            <a:ext cx="420624" cy="420624"/>
          </a:xfrm>
          <a:prstGeom prst="ellipse">
            <a:avLst/>
          </a:prstGeom>
          <a:solidFill>
            <a:schemeClr val="accent1"/>
          </a:solidFill>
          <a:ln/>
        </p:spPr>
      </p:sp>
      <p:pic>
        <p:nvPicPr>
          <p:cNvPr id="16" name="Image 2" descr="Check icon">    </p:cNvPr>
          <p:cNvPicPr>
            <a:picLocks noChangeAspect="1"/>
          </p:cNvPicPr>
          <p:nvPr/>
        </p:nvPicPr>
        <p:blipFill>
          <a:blip r:embed="rId3"/>
          <a:stretch>
            <a:fillRect/>
          </a:stretch>
        </p:blipFill>
        <p:spPr>
          <a:xfrm>
            <a:off x="4708794" y="1590690"/>
            <a:ext cx="201900" cy="201900"/>
          </a:xfrm>
          <a:prstGeom prst="rect">
            <a:avLst/>
          </a:prstGeom>
        </p:spPr>
      </p:pic>
      <p:sp>
        <p:nvSpPr>
          <p:cNvPr id="17" name="Text 11"/>
          <p:cNvSpPr txBox="1"/>
          <p:nvPr/>
        </p:nvSpPr>
        <p:spPr>
          <a:xfrm>
            <a:off x="5129784" y="1463040"/>
            <a:ext cx="2715768" cy="457200"/>
          </a:xfrm>
          <a:prstGeom prst="rect">
            <a:avLst/>
          </a:prstGeom>
          <a:noFill/>
          <a:ln/>
        </p:spPr>
        <p:txBody>
          <a:bodyPr wrap="square" lIns="0" tIns="0" rIns="0" bIns="0" rtlCol="0" anchor="ctr"/>
          <a:lstStyle/>
          <a:p>
            <a:pPr indent="0" marL="0">
              <a:buNone/>
            </a:pPr>
            <a:r>
              <a:rPr lang="en-US" sz="1600" b="1" dirty="0">
                <a:solidFill>
                  <a:schemeClr val="tx2"/>
                </a:solidFill>
              </a:rPr>
              <a:t>Requirements</a:t>
            </a:r>
            <a:endParaRPr lang="en-US" sz="1600" dirty="0"/>
          </a:p>
        </p:txBody>
      </p:sp>
      <p:sp>
        <p:nvSpPr>
          <p:cNvPr id="18" name="Text 12"/>
          <p:cNvSpPr txBox="1"/>
          <p:nvPr/>
        </p:nvSpPr>
        <p:spPr>
          <a:xfrm>
            <a:off x="4599432" y="2011680"/>
            <a:ext cx="3200400"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Leaf flat, horizontal, at correct height</a:t>
            </a:r>
            <a:endParaRPr lang="en-US" sz="1300" dirty="0"/>
          </a:p>
          <a:p>
            <a:pPr marL="177800" indent="-177800">
              <a:spcAft>
                <a:spcPts val="400"/>
              </a:spcAft>
              <a:buSzPct val="100000"/>
              <a:buChar char="•"/>
            </a:pPr>
            <a:r>
              <a:rPr lang="en-US" sz="1300" dirty="0">
                <a:solidFill>
                  <a:schemeClr val="tx1"/>
                </a:solidFill>
              </a:rPr>
              <a:t>Even actinic illumination over the area</a:t>
            </a:r>
            <a:endParaRPr lang="en-US" sz="1300" dirty="0"/>
          </a:p>
          <a:p>
            <a:pPr marL="177800" indent="-177800">
              <a:spcAft>
                <a:spcPts val="400"/>
              </a:spcAft>
              <a:buSzPct val="100000"/>
              <a:buChar char="•"/>
            </a:pPr>
            <a:r>
              <a:rPr lang="en-US" sz="1300" dirty="0">
                <a:solidFill>
                  <a:schemeClr val="tx1"/>
                </a:solidFill>
              </a:rPr>
              <a:t>Pulse saturating everywhere (4000–8000 µmol m⁻² s⁻¹)</a:t>
            </a:r>
            <a:endParaRPr lang="en-US" sz="1300" dirty="0"/>
          </a:p>
        </p:txBody>
      </p:sp>
      <p:sp>
        <p:nvSpPr>
          <p:cNvPr id="19" name="card"/>
          <p:cNvSpPr/>
          <p:nvPr/>
        </p:nvSpPr>
        <p:spPr>
          <a:xfrm>
            <a:off x="4416552" y="3840480"/>
            <a:ext cx="3566160"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20" name="icon circle"/>
          <p:cNvSpPr/>
          <p:nvPr/>
        </p:nvSpPr>
        <p:spPr>
          <a:xfrm>
            <a:off x="4599432" y="3995928"/>
            <a:ext cx="420624" cy="420624"/>
          </a:xfrm>
          <a:prstGeom prst="ellipse">
            <a:avLst/>
          </a:prstGeom>
          <a:solidFill>
            <a:schemeClr val="accent2"/>
          </a:solidFill>
          <a:ln/>
        </p:spPr>
      </p:sp>
      <p:pic>
        <p:nvPicPr>
          <p:cNvPr id="21" name="Image 3" descr="ExclamationTriangle icon">    </p:cNvPr>
          <p:cNvPicPr>
            <a:picLocks noChangeAspect="1"/>
          </p:cNvPicPr>
          <p:nvPr/>
        </p:nvPicPr>
        <p:blipFill>
          <a:blip r:embed="rId4"/>
          <a:stretch>
            <a:fillRect/>
          </a:stretch>
        </p:blipFill>
        <p:spPr>
          <a:xfrm>
            <a:off x="4708794" y="4105290"/>
            <a:ext cx="201900" cy="201900"/>
          </a:xfrm>
          <a:prstGeom prst="rect">
            <a:avLst/>
          </a:prstGeom>
        </p:spPr>
      </p:pic>
      <p:sp>
        <p:nvSpPr>
          <p:cNvPr id="22" name="Text 15"/>
          <p:cNvSpPr txBox="1"/>
          <p:nvPr/>
        </p:nvSpPr>
        <p:spPr>
          <a:xfrm>
            <a:off x="5129784" y="3977640"/>
            <a:ext cx="2715768" cy="457200"/>
          </a:xfrm>
          <a:prstGeom prst="rect">
            <a:avLst/>
          </a:prstGeom>
          <a:noFill/>
          <a:ln/>
        </p:spPr>
        <p:txBody>
          <a:bodyPr wrap="square" lIns="0" tIns="0" rIns="0" bIns="0" rtlCol="0" anchor="ctr"/>
          <a:lstStyle/>
          <a:p>
            <a:pPr indent="0" marL="0">
              <a:buNone/>
            </a:pPr>
            <a:r>
              <a:rPr lang="en-US" sz="1600" b="1" dirty="0">
                <a:solidFill>
                  <a:schemeClr val="tx2"/>
                </a:solidFill>
              </a:rPr>
              <a:t>Limitations</a:t>
            </a:r>
            <a:endParaRPr lang="en-US" sz="1600" dirty="0"/>
          </a:p>
        </p:txBody>
      </p:sp>
      <p:sp>
        <p:nvSpPr>
          <p:cNvPr id="23" name="Text 16"/>
          <p:cNvSpPr txBox="1"/>
          <p:nvPr/>
        </p:nvSpPr>
        <p:spPr>
          <a:xfrm>
            <a:off x="4599432" y="4526280"/>
            <a:ext cx="3200400" cy="155448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Costlier; large LED banks; mostly lab-based</a:t>
            </a:r>
            <a:endParaRPr lang="en-US" sz="1300" dirty="0"/>
          </a:p>
          <a:p>
            <a:pPr marL="177800" indent="-177800">
              <a:spcAft>
                <a:spcPts val="400"/>
              </a:spcAft>
              <a:buSzPct val="100000"/>
              <a:buChar char="•"/>
            </a:pPr>
            <a:r>
              <a:rPr lang="en-US" sz="1300" dirty="0">
                <a:solidFill>
                  <a:schemeClr val="tx1"/>
                </a:solidFill>
              </a:rPr>
              <a:t>Often no FR source → F</a:t>
            </a:r>
            <a:r>
              <a:rPr lang="en-US" sz="1300" baseline="-40000" dirty="0">
                <a:solidFill>
                  <a:schemeClr val="tx1"/>
                </a:solidFill>
              </a:rPr>
              <a:t>o</a:t>
            </a:r>
            <a:r>
              <a:rPr lang="en-US" sz="1300" dirty="0">
                <a:solidFill>
                  <a:schemeClr val="tx1"/>
                </a:solidFill>
              </a:rPr>
              <a:t>′ is </a:t>
            </a:r>
            <a:r>
              <a:rPr lang="en-US" sz="1300" b="1" dirty="0">
                <a:solidFill>
                  <a:schemeClr val="tx1"/>
                </a:solidFill>
              </a:rPr>
              <a:t>calculated</a:t>
            </a:r>
            <a:endParaRPr lang="en-US" sz="1300" dirty="0"/>
          </a:p>
          <a:p>
            <a:pPr marL="177800" indent="-177800">
              <a:spcAft>
                <a:spcPts val="400"/>
              </a:spcAft>
              <a:buSzPct val="100000"/>
              <a:buChar char="•"/>
            </a:pPr>
            <a:r>
              <a:rPr lang="en-US" sz="1300" dirty="0">
                <a:solidFill>
                  <a:schemeClr val="tx1"/>
                </a:solidFill>
              </a:rPr>
              <a:t>Field versions: e.g. Imaging-PAM MINI, FluorCam, rover systems</a:t>
            </a:r>
            <a:endParaRPr lang="en-US" sz="1300" dirty="0"/>
          </a:p>
        </p:txBody>
      </p:sp>
      <p:sp>
        <p:nvSpPr>
          <p:cNvPr id="24" name="figure frame"/>
          <p:cNvSpPr/>
          <p:nvPr/>
        </p:nvSpPr>
        <p:spPr>
          <a:xfrm>
            <a:off x="8183880" y="1325880"/>
            <a:ext cx="3456432" cy="4297680"/>
          </a:xfrm>
          <a:prstGeom prst="roundRect">
            <a:avLst>
              <a:gd name="adj" fmla="val 1587"/>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25" name="Image 4" descr="Pixel-to-pixel image arithmetic: measured F₀, Fm, Fs, Fm′ → calculated Fv/Fm, ΦPSII, NPQ maps">    </p:cNvPr>
          <p:cNvPicPr>
            <a:picLocks noChangeAspect="1"/>
          </p:cNvPicPr>
          <p:nvPr/>
        </p:nvPicPr>
        <p:blipFill>
          <a:blip r:embed="rId5"/>
          <a:stretch>
            <a:fillRect/>
          </a:stretch>
        </p:blipFill>
        <p:spPr>
          <a:xfrm>
            <a:off x="8275320" y="2279371"/>
            <a:ext cx="3273552" cy="2390698"/>
          </a:xfrm>
          <a:prstGeom prst="rect">
            <a:avLst/>
          </a:prstGeom>
        </p:spPr>
      </p:pic>
      <p:sp>
        <p:nvSpPr>
          <p:cNvPr id="26" name="Text 18"/>
          <p:cNvSpPr txBox="1"/>
          <p:nvPr/>
        </p:nvSpPr>
        <p:spPr>
          <a:xfrm>
            <a:off x="8183880" y="5669280"/>
            <a:ext cx="3456432" cy="502920"/>
          </a:xfrm>
          <a:prstGeom prst="rect">
            <a:avLst/>
          </a:prstGeom>
          <a:noFill/>
          <a:ln/>
        </p:spPr>
        <p:txBody>
          <a:bodyPr wrap="square" lIns="0" tIns="0" rIns="0" bIns="0" rtlCol="0" anchor="t"/>
          <a:lstStyle/>
          <a:p>
            <a:pPr indent="0" marL="0">
              <a:buNone/>
            </a:pPr>
            <a:r>
              <a:rPr lang="en-US" sz="1100" i="1" dirty="0">
                <a:solidFill>
                  <a:schemeClr val="accent6"/>
                </a:solidFill>
              </a:rPr>
              <a:t>Pixel-to-pixel image arithmetic: measured F₀, Fm, Fs, Fm′ → calculated Fv/Fm, ΦPSII, NPQ maps</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Paper Figure 3: what imaging can reveal</a:t>
            </a:r>
            <a:endParaRPr lang="en-US" sz="3200" dirty="0"/>
          </a:p>
        </p:txBody>
      </p:sp>
      <p:sp>
        <p:nvSpPr>
          <p:cNvPr id="4" name="figure frame"/>
          <p:cNvSpPr/>
          <p:nvPr/>
        </p:nvSpPr>
        <p:spPr>
          <a:xfrm>
            <a:off x="548640" y="1325880"/>
            <a:ext cx="4846320" cy="4846320"/>
          </a:xfrm>
          <a:prstGeom prst="roundRect">
            <a:avLst>
              <a:gd name="adj" fmla="val 1132"/>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clfu_fig3.png">    </p:cNvPr>
          <p:cNvPicPr>
            <a:picLocks noChangeAspect="1"/>
          </p:cNvPicPr>
          <p:nvPr/>
        </p:nvPicPr>
        <p:blipFill>
          <a:blip r:embed="rId1"/>
          <a:stretch>
            <a:fillRect/>
          </a:stretch>
        </p:blipFill>
        <p:spPr>
          <a:xfrm>
            <a:off x="1060554" y="1417320"/>
            <a:ext cx="3822492" cy="4663440"/>
          </a:xfrm>
          <a:prstGeom prst="rect">
            <a:avLst/>
          </a:prstGeom>
        </p:spPr>
      </p:pic>
      <p:sp>
        <p:nvSpPr>
          <p:cNvPr id="6" name="tag"/>
          <p:cNvSpPr/>
          <p:nvPr/>
        </p:nvSpPr>
        <p:spPr>
          <a:xfrm>
            <a:off x="5669280" y="1435608"/>
            <a:ext cx="777240" cy="292608"/>
          </a:xfrm>
          <a:prstGeom prst="roundRect">
            <a:avLst>
              <a:gd name="adj" fmla="val 50000"/>
            </a:avLst>
          </a:prstGeom>
          <a:solidFill>
            <a:schemeClr val="accent2"/>
          </a:solidFill>
          <a:ln/>
        </p:spPr>
      </p:sp>
      <p:sp>
        <p:nvSpPr>
          <p:cNvPr id="7" name="Text 3"/>
          <p:cNvSpPr txBox="1"/>
          <p:nvPr/>
        </p:nvSpPr>
        <p:spPr>
          <a:xfrm>
            <a:off x="5669280" y="1435608"/>
            <a:ext cx="777240" cy="292608"/>
          </a:xfrm>
          <a:prstGeom prst="rect">
            <a:avLst/>
          </a:prstGeom>
          <a:noFill/>
          <a:ln/>
        </p:spPr>
        <p:txBody>
          <a:bodyPr wrap="square" lIns="0" tIns="0" rIns="0" bIns="0" rtlCol="0" anchor="ctr"/>
          <a:lstStyle/>
          <a:p>
            <a:pPr algn="ctr" indent="0" marL="0">
              <a:buNone/>
            </a:pPr>
            <a:r>
              <a:rPr lang="en-US" sz="1100" b="1" dirty="0">
                <a:solidFill>
                  <a:schemeClr val="bg1"/>
                </a:solidFill>
              </a:rPr>
              <a:t>a · b</a:t>
            </a:r>
            <a:endParaRPr lang="en-US" sz="1100" dirty="0"/>
          </a:p>
        </p:txBody>
      </p:sp>
      <p:sp>
        <p:nvSpPr>
          <p:cNvPr id="8" name="Text 4"/>
          <p:cNvSpPr txBox="1"/>
          <p:nvPr/>
        </p:nvSpPr>
        <p:spPr>
          <a:xfrm>
            <a:off x="6583680" y="1325880"/>
            <a:ext cx="5074920" cy="548640"/>
          </a:xfrm>
          <a:prstGeom prst="rect">
            <a:avLst/>
          </a:prstGeom>
          <a:noFill/>
          <a:ln/>
        </p:spPr>
        <p:txBody>
          <a:bodyPr wrap="square" lIns="0" tIns="0" rIns="0" bIns="0" rtlCol="0" anchor="ctr"/>
          <a:lstStyle/>
          <a:p>
            <a:pPr indent="0" marL="0">
              <a:buNone/>
            </a:pPr>
            <a:r>
              <a:rPr lang="en-US" sz="1300" dirty="0">
                <a:solidFill>
                  <a:schemeClr val="tx1"/>
                </a:solidFill>
              </a:rPr>
              <a:t>Steady-state F′ and Φ</a:t>
            </a:r>
            <a:r>
              <a:rPr lang="en-US" sz="1300" baseline="-40000" dirty="0">
                <a:solidFill>
                  <a:schemeClr val="tx1"/>
                </a:solidFill>
              </a:rPr>
              <a:t>PSII</a:t>
            </a:r>
            <a:r>
              <a:rPr lang="en-US" sz="1300" dirty="0">
                <a:solidFill>
                  <a:schemeClr val="tx1"/>
                </a:solidFill>
              </a:rPr>
              <a:t> of a leaf in a chamber: </a:t>
            </a:r>
            <a:r>
              <a:rPr lang="en-US" sz="1300" b="1" dirty="0">
                <a:solidFill>
                  <a:schemeClr val="tx1"/>
                </a:solidFill>
              </a:rPr>
              <a:t>patchy stomatal closure</a:t>
            </a:r>
            <a:r>
              <a:rPr lang="en-US" sz="1300" dirty="0">
                <a:solidFill>
                  <a:schemeClr val="tx1"/>
                </a:solidFill>
              </a:rPr>
              <a:t> after humidity drop</a:t>
            </a:r>
            <a:endParaRPr lang="en-US" sz="1300" dirty="0"/>
          </a:p>
        </p:txBody>
      </p:sp>
      <p:sp>
        <p:nvSpPr>
          <p:cNvPr id="9" name="tag"/>
          <p:cNvSpPr/>
          <p:nvPr/>
        </p:nvSpPr>
        <p:spPr>
          <a:xfrm>
            <a:off x="5669280" y="2043684"/>
            <a:ext cx="777240" cy="292608"/>
          </a:xfrm>
          <a:prstGeom prst="roundRect">
            <a:avLst>
              <a:gd name="adj" fmla="val 50000"/>
            </a:avLst>
          </a:prstGeom>
          <a:solidFill>
            <a:schemeClr val="accent2"/>
          </a:solidFill>
          <a:ln/>
        </p:spPr>
      </p:sp>
      <p:sp>
        <p:nvSpPr>
          <p:cNvPr id="10" name="Text 6"/>
          <p:cNvSpPr txBox="1"/>
          <p:nvPr/>
        </p:nvSpPr>
        <p:spPr>
          <a:xfrm>
            <a:off x="5669280" y="2043684"/>
            <a:ext cx="777240" cy="292608"/>
          </a:xfrm>
          <a:prstGeom prst="rect">
            <a:avLst/>
          </a:prstGeom>
          <a:noFill/>
          <a:ln/>
        </p:spPr>
        <p:txBody>
          <a:bodyPr wrap="square" lIns="0" tIns="0" rIns="0" bIns="0" rtlCol="0" anchor="ctr"/>
          <a:lstStyle/>
          <a:p>
            <a:pPr algn="ctr" indent="0" marL="0">
              <a:buNone/>
            </a:pPr>
            <a:r>
              <a:rPr lang="en-US" sz="1100" b="1" dirty="0">
                <a:solidFill>
                  <a:schemeClr val="bg1"/>
                </a:solidFill>
              </a:rPr>
              <a:t>c</a:t>
            </a:r>
            <a:endParaRPr lang="en-US" sz="1100" dirty="0"/>
          </a:p>
        </p:txBody>
      </p:sp>
      <p:sp>
        <p:nvSpPr>
          <p:cNvPr id="11" name="Text 7"/>
          <p:cNvSpPr txBox="1"/>
          <p:nvPr/>
        </p:nvSpPr>
        <p:spPr>
          <a:xfrm>
            <a:off x="6583680" y="1933956"/>
            <a:ext cx="5074920" cy="548640"/>
          </a:xfrm>
          <a:prstGeom prst="rect">
            <a:avLst/>
          </a:prstGeom>
          <a:noFill/>
          <a:ln/>
        </p:spPr>
        <p:txBody>
          <a:bodyPr wrap="square" lIns="0" tIns="0" rIns="0" bIns="0" rtlCol="0" anchor="ctr"/>
          <a:lstStyle/>
          <a:p>
            <a:pPr indent="0" marL="0">
              <a:buNone/>
            </a:pPr>
            <a:r>
              <a:rPr lang="en-US" sz="1300" b="1" dirty="0">
                <a:solidFill>
                  <a:schemeClr val="tx1"/>
                </a:solidFill>
              </a:rPr>
              <a:t>Herbicide screening</a:t>
            </a:r>
            <a:r>
              <a:rPr lang="en-US" sz="1300" dirty="0">
                <a:solidFill>
                  <a:schemeClr val="tx1"/>
                </a:solidFill>
              </a:rPr>
              <a:t> of Arabidopsis seedlings in a 96-well plate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a:t>
            </a:r>
            <a:endParaRPr lang="en-US" sz="1300" dirty="0"/>
          </a:p>
        </p:txBody>
      </p:sp>
      <p:sp>
        <p:nvSpPr>
          <p:cNvPr id="12" name="tag"/>
          <p:cNvSpPr/>
          <p:nvPr/>
        </p:nvSpPr>
        <p:spPr>
          <a:xfrm>
            <a:off x="5669280" y="2651760"/>
            <a:ext cx="777240" cy="292608"/>
          </a:xfrm>
          <a:prstGeom prst="roundRect">
            <a:avLst>
              <a:gd name="adj" fmla="val 50000"/>
            </a:avLst>
          </a:prstGeom>
          <a:solidFill>
            <a:schemeClr val="accent2"/>
          </a:solidFill>
          <a:ln/>
        </p:spPr>
      </p:sp>
      <p:sp>
        <p:nvSpPr>
          <p:cNvPr id="13" name="Text 9"/>
          <p:cNvSpPr txBox="1"/>
          <p:nvPr/>
        </p:nvSpPr>
        <p:spPr>
          <a:xfrm>
            <a:off x="5669280" y="2651760"/>
            <a:ext cx="777240" cy="292608"/>
          </a:xfrm>
          <a:prstGeom prst="rect">
            <a:avLst/>
          </a:prstGeom>
          <a:noFill/>
          <a:ln/>
        </p:spPr>
        <p:txBody>
          <a:bodyPr wrap="square" lIns="0" tIns="0" rIns="0" bIns="0" rtlCol="0" anchor="ctr"/>
          <a:lstStyle/>
          <a:p>
            <a:pPr algn="ctr" indent="0" marL="0">
              <a:buNone/>
            </a:pPr>
            <a:r>
              <a:rPr lang="en-US" sz="1100" b="1" dirty="0">
                <a:solidFill>
                  <a:schemeClr val="bg1"/>
                </a:solidFill>
              </a:rPr>
              <a:t>d</a:t>
            </a:r>
            <a:endParaRPr lang="en-US" sz="1100" dirty="0"/>
          </a:p>
        </p:txBody>
      </p:sp>
      <p:sp>
        <p:nvSpPr>
          <p:cNvPr id="14" name="Text 10"/>
          <p:cNvSpPr txBox="1"/>
          <p:nvPr/>
        </p:nvSpPr>
        <p:spPr>
          <a:xfrm>
            <a:off x="6583680" y="2542032"/>
            <a:ext cx="5074920" cy="548640"/>
          </a:xfrm>
          <a:prstGeom prst="rect">
            <a:avLst/>
          </a:prstGeom>
          <a:noFill/>
          <a:ln/>
        </p:spPr>
        <p:txBody>
          <a:bodyPr wrap="square" lIns="0" tIns="0" rIns="0" bIns="0" rtlCol="0" anchor="ctr"/>
          <a:lstStyle/>
          <a:p>
            <a:pPr indent="0" marL="0">
              <a:buNone/>
            </a:pPr>
            <a:r>
              <a:rPr lang="en-US" sz="1300" dirty="0">
                <a:solidFill>
                  <a:schemeClr val="tx1"/>
                </a:solidFill>
              </a:rPr>
              <a:t>Φ</a:t>
            </a:r>
            <a:r>
              <a:rPr lang="en-US" sz="1300" baseline="-40000" dirty="0">
                <a:solidFill>
                  <a:schemeClr val="tx1"/>
                </a:solidFill>
              </a:rPr>
              <a:t>PSII</a:t>
            </a:r>
            <a:r>
              <a:rPr lang="en-US" sz="1300" dirty="0">
                <a:solidFill>
                  <a:schemeClr val="tx1"/>
                </a:solidFill>
              </a:rPr>
              <a:t> </a:t>
            </a:r>
            <a:r>
              <a:rPr lang="en-US" sz="1300" b="1" dirty="0">
                <a:solidFill>
                  <a:schemeClr val="tx1"/>
                </a:solidFill>
              </a:rPr>
              <a:t>heterogeneity</a:t>
            </a:r>
            <a:r>
              <a:rPr lang="en-US" sz="1300" dirty="0">
                <a:solidFill>
                  <a:schemeClr val="tx1"/>
                </a:solidFill>
              </a:rPr>
              <a:t> of Arabidopsis after high light</a:t>
            </a:r>
            <a:endParaRPr lang="en-US" sz="1300" dirty="0"/>
          </a:p>
        </p:txBody>
      </p:sp>
      <p:sp>
        <p:nvSpPr>
          <p:cNvPr id="15" name="tag"/>
          <p:cNvSpPr/>
          <p:nvPr/>
        </p:nvSpPr>
        <p:spPr>
          <a:xfrm>
            <a:off x="5669280" y="3259836"/>
            <a:ext cx="777240" cy="292608"/>
          </a:xfrm>
          <a:prstGeom prst="roundRect">
            <a:avLst>
              <a:gd name="adj" fmla="val 50000"/>
            </a:avLst>
          </a:prstGeom>
          <a:solidFill>
            <a:schemeClr val="accent2"/>
          </a:solidFill>
          <a:ln/>
        </p:spPr>
      </p:sp>
      <p:sp>
        <p:nvSpPr>
          <p:cNvPr id="16" name="Text 12"/>
          <p:cNvSpPr txBox="1"/>
          <p:nvPr/>
        </p:nvSpPr>
        <p:spPr>
          <a:xfrm>
            <a:off x="5669280" y="3259836"/>
            <a:ext cx="777240" cy="292608"/>
          </a:xfrm>
          <a:prstGeom prst="rect">
            <a:avLst/>
          </a:prstGeom>
          <a:noFill/>
          <a:ln/>
        </p:spPr>
        <p:txBody>
          <a:bodyPr wrap="square" lIns="0" tIns="0" rIns="0" bIns="0" rtlCol="0" anchor="ctr"/>
          <a:lstStyle/>
          <a:p>
            <a:pPr algn="ctr" indent="0" marL="0">
              <a:buNone/>
            </a:pPr>
            <a:r>
              <a:rPr lang="en-US" sz="1100" b="1" dirty="0">
                <a:solidFill>
                  <a:schemeClr val="bg1"/>
                </a:solidFill>
              </a:rPr>
              <a:t>e</a:t>
            </a:r>
            <a:endParaRPr lang="en-US" sz="1100" dirty="0"/>
          </a:p>
        </p:txBody>
      </p:sp>
      <p:sp>
        <p:nvSpPr>
          <p:cNvPr id="17" name="Text 13"/>
          <p:cNvSpPr txBox="1"/>
          <p:nvPr/>
        </p:nvSpPr>
        <p:spPr>
          <a:xfrm>
            <a:off x="6583680" y="3150108"/>
            <a:ext cx="5074920" cy="548640"/>
          </a:xfrm>
          <a:prstGeom prst="rect">
            <a:avLst/>
          </a:prstGeom>
          <a:noFill/>
          <a:ln/>
        </p:spPr>
        <p:txBody>
          <a:bodyPr wrap="square" lIns="0" tIns="0" rIns="0" bIns="0" rtlCol="0" anchor="ctr"/>
          <a:lstStyle/>
          <a:p>
            <a:pPr indent="0" marL="0">
              <a:buNone/>
            </a:pPr>
            <a:r>
              <a:rPr lang="en-US" sz="1300" dirty="0">
                <a:solidFill>
                  <a:schemeClr val="tx1"/>
                </a:solidFill>
              </a:rPr>
              <a:t>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 of </a:t>
            </a:r>
            <a:r>
              <a:rPr lang="en-US" sz="1300" b="1" dirty="0">
                <a:solidFill>
                  <a:schemeClr val="tx1"/>
                </a:solidFill>
              </a:rPr>
              <a:t>guard-cell chloroplasts</a:t>
            </a:r>
            <a:r>
              <a:rPr lang="en-US" sz="1300" dirty="0">
                <a:solidFill>
                  <a:schemeClr val="tx1"/>
                </a:solidFill>
              </a:rPr>
              <a:t> (high-resolution microscope)</a:t>
            </a:r>
            <a:endParaRPr lang="en-US" sz="1300" dirty="0"/>
          </a:p>
        </p:txBody>
      </p:sp>
      <p:sp>
        <p:nvSpPr>
          <p:cNvPr id="18" name="tag"/>
          <p:cNvSpPr/>
          <p:nvPr/>
        </p:nvSpPr>
        <p:spPr>
          <a:xfrm>
            <a:off x="5669280" y="3867912"/>
            <a:ext cx="777240" cy="292608"/>
          </a:xfrm>
          <a:prstGeom prst="roundRect">
            <a:avLst>
              <a:gd name="adj" fmla="val 50000"/>
            </a:avLst>
          </a:prstGeom>
          <a:solidFill>
            <a:schemeClr val="accent2"/>
          </a:solidFill>
          <a:ln/>
        </p:spPr>
      </p:sp>
      <p:sp>
        <p:nvSpPr>
          <p:cNvPr id="19" name="Text 15"/>
          <p:cNvSpPr txBox="1"/>
          <p:nvPr/>
        </p:nvSpPr>
        <p:spPr>
          <a:xfrm>
            <a:off x="5669280" y="3867912"/>
            <a:ext cx="777240" cy="292608"/>
          </a:xfrm>
          <a:prstGeom prst="rect">
            <a:avLst/>
          </a:prstGeom>
          <a:noFill/>
          <a:ln/>
        </p:spPr>
        <p:txBody>
          <a:bodyPr wrap="square" lIns="0" tIns="0" rIns="0" bIns="0" rtlCol="0" anchor="ctr"/>
          <a:lstStyle/>
          <a:p>
            <a:pPr algn="ctr" indent="0" marL="0">
              <a:buNone/>
            </a:pPr>
            <a:r>
              <a:rPr lang="en-US" sz="1100" b="1" dirty="0">
                <a:solidFill>
                  <a:schemeClr val="bg1"/>
                </a:solidFill>
              </a:rPr>
              <a:t>f</a:t>
            </a:r>
            <a:endParaRPr lang="en-US" sz="1100" dirty="0"/>
          </a:p>
        </p:txBody>
      </p:sp>
      <p:sp>
        <p:nvSpPr>
          <p:cNvPr id="20" name="Text 16"/>
          <p:cNvSpPr txBox="1"/>
          <p:nvPr/>
        </p:nvSpPr>
        <p:spPr>
          <a:xfrm>
            <a:off x="6583680" y="3758184"/>
            <a:ext cx="5074920" cy="548640"/>
          </a:xfrm>
          <a:prstGeom prst="rect">
            <a:avLst/>
          </a:prstGeom>
          <a:noFill/>
          <a:ln/>
        </p:spPr>
        <p:txBody>
          <a:bodyPr wrap="square" lIns="0" tIns="0" rIns="0" bIns="0" rtlCol="0" anchor="ctr"/>
          <a:lstStyle/>
          <a:p>
            <a:pPr indent="0" marL="0">
              <a:buNone/>
            </a:pPr>
            <a:r>
              <a:rPr lang="en-US" sz="1300" dirty="0">
                <a:solidFill>
                  <a:schemeClr val="tx1"/>
                </a:solidFill>
              </a:rPr>
              <a:t>Screening </a:t>
            </a:r>
            <a:r>
              <a:rPr lang="en-US" sz="1300" b="1" dirty="0">
                <a:solidFill>
                  <a:schemeClr val="tx1"/>
                </a:solidFill>
              </a:rPr>
              <a:t>transgenic</a:t>
            </a:r>
            <a:r>
              <a:rPr lang="en-US" sz="1300" dirty="0">
                <a:solidFill>
                  <a:schemeClr val="tx1"/>
                </a:solidFill>
              </a:rPr>
              <a:t> plants with reduced SBPase</a:t>
            </a:r>
            <a:endParaRPr lang="en-US" sz="1300" dirty="0"/>
          </a:p>
        </p:txBody>
      </p:sp>
      <p:sp>
        <p:nvSpPr>
          <p:cNvPr id="21" name="tag"/>
          <p:cNvSpPr/>
          <p:nvPr/>
        </p:nvSpPr>
        <p:spPr>
          <a:xfrm>
            <a:off x="5669280" y="4475988"/>
            <a:ext cx="777240" cy="292608"/>
          </a:xfrm>
          <a:prstGeom prst="roundRect">
            <a:avLst>
              <a:gd name="adj" fmla="val 50000"/>
            </a:avLst>
          </a:prstGeom>
          <a:solidFill>
            <a:schemeClr val="accent2"/>
          </a:solidFill>
          <a:ln/>
        </p:spPr>
      </p:sp>
      <p:sp>
        <p:nvSpPr>
          <p:cNvPr id="22" name="Text 18"/>
          <p:cNvSpPr txBox="1"/>
          <p:nvPr/>
        </p:nvSpPr>
        <p:spPr>
          <a:xfrm>
            <a:off x="5669280" y="4475988"/>
            <a:ext cx="777240" cy="292608"/>
          </a:xfrm>
          <a:prstGeom prst="rect">
            <a:avLst/>
          </a:prstGeom>
          <a:noFill/>
          <a:ln/>
        </p:spPr>
        <p:txBody>
          <a:bodyPr wrap="square" lIns="0" tIns="0" rIns="0" bIns="0" rtlCol="0" anchor="ctr"/>
          <a:lstStyle/>
          <a:p>
            <a:pPr algn="ctr" indent="0" marL="0">
              <a:buNone/>
            </a:pPr>
            <a:r>
              <a:rPr lang="en-US" sz="1100" b="1" dirty="0">
                <a:solidFill>
                  <a:schemeClr val="bg1"/>
                </a:solidFill>
              </a:rPr>
              <a:t>g</a:t>
            </a:r>
            <a:endParaRPr lang="en-US" sz="1100" dirty="0"/>
          </a:p>
        </p:txBody>
      </p:sp>
      <p:sp>
        <p:nvSpPr>
          <p:cNvPr id="23" name="Text 19"/>
          <p:cNvSpPr txBox="1"/>
          <p:nvPr/>
        </p:nvSpPr>
        <p:spPr>
          <a:xfrm>
            <a:off x="6583680" y="4366260"/>
            <a:ext cx="5074920" cy="548640"/>
          </a:xfrm>
          <a:prstGeom prst="rect">
            <a:avLst/>
          </a:prstGeom>
          <a:noFill/>
          <a:ln/>
        </p:spPr>
        <p:txBody>
          <a:bodyPr wrap="square" lIns="0" tIns="0" rIns="0" bIns="0" rtlCol="0" anchor="ctr"/>
          <a:lstStyle/>
          <a:p>
            <a:pPr indent="0" marL="0">
              <a:buNone/>
            </a:pPr>
            <a:r>
              <a:rPr lang="en-US" sz="1300" dirty="0">
                <a:solidFill>
                  <a:schemeClr val="tx1"/>
                </a:solidFill>
              </a:rPr>
              <a:t>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 of wheat varieties: </a:t>
            </a:r>
            <a:r>
              <a:rPr lang="en-US" sz="1300" b="1" dirty="0">
                <a:solidFill>
                  <a:schemeClr val="tx1"/>
                </a:solidFill>
              </a:rPr>
              <a:t>rust susceptibility</a:t>
            </a:r>
            <a:endParaRPr lang="en-US" sz="1300" dirty="0"/>
          </a:p>
        </p:txBody>
      </p:sp>
      <p:sp>
        <p:nvSpPr>
          <p:cNvPr id="24" name="tag"/>
          <p:cNvSpPr/>
          <p:nvPr/>
        </p:nvSpPr>
        <p:spPr>
          <a:xfrm>
            <a:off x="5669280" y="5084064"/>
            <a:ext cx="777240" cy="292608"/>
          </a:xfrm>
          <a:prstGeom prst="roundRect">
            <a:avLst>
              <a:gd name="adj" fmla="val 50000"/>
            </a:avLst>
          </a:prstGeom>
          <a:solidFill>
            <a:schemeClr val="accent2"/>
          </a:solidFill>
          <a:ln/>
        </p:spPr>
      </p:sp>
      <p:sp>
        <p:nvSpPr>
          <p:cNvPr id="25" name="Text 21"/>
          <p:cNvSpPr txBox="1"/>
          <p:nvPr/>
        </p:nvSpPr>
        <p:spPr>
          <a:xfrm>
            <a:off x="5669280" y="5084064"/>
            <a:ext cx="777240" cy="292608"/>
          </a:xfrm>
          <a:prstGeom prst="rect">
            <a:avLst/>
          </a:prstGeom>
          <a:noFill/>
          <a:ln/>
        </p:spPr>
        <p:txBody>
          <a:bodyPr wrap="square" lIns="0" tIns="0" rIns="0" bIns="0" rtlCol="0" anchor="ctr"/>
          <a:lstStyle/>
          <a:p>
            <a:pPr algn="ctr" indent="0" marL="0">
              <a:buNone/>
            </a:pPr>
            <a:r>
              <a:rPr lang="en-US" sz="1100" b="1" dirty="0">
                <a:solidFill>
                  <a:schemeClr val="bg1"/>
                </a:solidFill>
              </a:rPr>
              <a:t>h</a:t>
            </a:r>
            <a:endParaRPr lang="en-US" sz="1100" dirty="0"/>
          </a:p>
        </p:txBody>
      </p:sp>
      <p:sp>
        <p:nvSpPr>
          <p:cNvPr id="26" name="Text 22"/>
          <p:cNvSpPr txBox="1"/>
          <p:nvPr/>
        </p:nvSpPr>
        <p:spPr>
          <a:xfrm>
            <a:off x="6583680" y="4974336"/>
            <a:ext cx="5074920" cy="548640"/>
          </a:xfrm>
          <a:prstGeom prst="rect">
            <a:avLst/>
          </a:prstGeom>
          <a:noFill/>
          <a:ln/>
        </p:spPr>
        <p:txBody>
          <a:bodyPr wrap="square" lIns="0" tIns="0" rIns="0" bIns="0" rtlCol="0" anchor="ctr"/>
          <a:lstStyle/>
          <a:p>
            <a:pPr indent="0" marL="0">
              <a:buNone/>
            </a:pPr>
            <a:r>
              <a:rPr lang="en-US" sz="1300" dirty="0">
                <a:solidFill>
                  <a:schemeClr val="tx1"/>
                </a:solidFill>
              </a:rPr>
              <a:t>Φ</a:t>
            </a:r>
            <a:r>
              <a:rPr lang="en-US" sz="1300" baseline="-40000" dirty="0">
                <a:solidFill>
                  <a:schemeClr val="tx1"/>
                </a:solidFill>
              </a:rPr>
              <a:t>PSII</a:t>
            </a:r>
            <a:r>
              <a:rPr lang="en-US" sz="1300" dirty="0">
                <a:solidFill>
                  <a:schemeClr val="tx1"/>
                </a:solidFill>
              </a:rPr>
              <a:t> decline as </a:t>
            </a:r>
            <a:r>
              <a:rPr lang="en-US" sz="1300" b="1" dirty="0">
                <a:solidFill>
                  <a:schemeClr val="tx1"/>
                </a:solidFill>
              </a:rPr>
              <a:t>DCMU</a:t>
            </a:r>
            <a:r>
              <a:rPr lang="en-US" sz="1300" dirty="0">
                <a:solidFill>
                  <a:schemeClr val="tx1"/>
                </a:solidFill>
              </a:rPr>
              <a:t> travels in via the petiole</a:t>
            </a:r>
            <a:endParaRPr lang="en-US" sz="1300" dirty="0"/>
          </a:p>
        </p:txBody>
      </p:sp>
      <p:sp>
        <p:nvSpPr>
          <p:cNvPr id="27" name="tag"/>
          <p:cNvSpPr/>
          <p:nvPr/>
        </p:nvSpPr>
        <p:spPr>
          <a:xfrm>
            <a:off x="5669280" y="5692140"/>
            <a:ext cx="777240" cy="292608"/>
          </a:xfrm>
          <a:prstGeom prst="roundRect">
            <a:avLst>
              <a:gd name="adj" fmla="val 50000"/>
            </a:avLst>
          </a:prstGeom>
          <a:solidFill>
            <a:schemeClr val="accent2"/>
          </a:solidFill>
          <a:ln/>
        </p:spPr>
      </p:sp>
      <p:sp>
        <p:nvSpPr>
          <p:cNvPr id="28" name="Text 24"/>
          <p:cNvSpPr txBox="1"/>
          <p:nvPr/>
        </p:nvSpPr>
        <p:spPr>
          <a:xfrm>
            <a:off x="5669280" y="5692140"/>
            <a:ext cx="777240" cy="292608"/>
          </a:xfrm>
          <a:prstGeom prst="rect">
            <a:avLst/>
          </a:prstGeom>
          <a:noFill/>
          <a:ln/>
        </p:spPr>
        <p:txBody>
          <a:bodyPr wrap="square" lIns="0" tIns="0" rIns="0" bIns="0" rtlCol="0" anchor="ctr"/>
          <a:lstStyle/>
          <a:p>
            <a:pPr algn="ctr" indent="0" marL="0">
              <a:buNone/>
            </a:pPr>
            <a:r>
              <a:rPr lang="en-US" sz="1100" b="1" dirty="0">
                <a:solidFill>
                  <a:schemeClr val="bg1"/>
                </a:solidFill>
              </a:rPr>
              <a:t>i</a:t>
            </a:r>
            <a:endParaRPr lang="en-US" sz="1100" dirty="0"/>
          </a:p>
        </p:txBody>
      </p:sp>
      <p:sp>
        <p:nvSpPr>
          <p:cNvPr id="29" name="Text 25"/>
          <p:cNvSpPr txBox="1"/>
          <p:nvPr/>
        </p:nvSpPr>
        <p:spPr>
          <a:xfrm>
            <a:off x="6583680" y="5582412"/>
            <a:ext cx="5074920" cy="548640"/>
          </a:xfrm>
          <a:prstGeom prst="rect">
            <a:avLst/>
          </a:prstGeom>
          <a:noFill/>
          <a:ln/>
        </p:spPr>
        <p:txBody>
          <a:bodyPr wrap="square" lIns="0" tIns="0" rIns="0" bIns="0" rtlCol="0" anchor="ctr"/>
          <a:lstStyle/>
          <a:p>
            <a:pPr indent="0" marL="0">
              <a:buNone/>
            </a:pPr>
            <a:r>
              <a:rPr lang="en-US" sz="1300" b="1" dirty="0">
                <a:solidFill>
                  <a:schemeClr val="tx1"/>
                </a:solidFill>
              </a:rPr>
              <a:t>Cadmium</a:t>
            </a:r>
            <a:r>
              <a:rPr lang="en-US" sz="1300" dirty="0">
                <a:solidFill>
                  <a:schemeClr val="tx1"/>
                </a:solidFill>
              </a:rPr>
              <a:t> effect on Φ</a:t>
            </a:r>
            <a:r>
              <a:rPr lang="en-US" sz="1300" baseline="-40000" dirty="0">
                <a:solidFill>
                  <a:schemeClr val="tx1"/>
                </a:solidFill>
              </a:rPr>
              <a:t>PSII</a:t>
            </a:r>
            <a:r>
              <a:rPr lang="en-US" sz="1300" dirty="0">
                <a:solidFill>
                  <a:schemeClr val="tx1"/>
                </a:solidFill>
              </a:rPr>
              <a:t> in </a:t>
            </a:r>
            <a:r>
              <a:rPr lang="en-US" sz="1300" i="1" dirty="0">
                <a:solidFill>
                  <a:schemeClr val="tx1"/>
                </a:solidFill>
              </a:rPr>
              <a:t>Lemna</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Imaging applications: fruit, development and cyanobacteria</a:t>
            </a:r>
            <a:endParaRPr lang="en-US" sz="3200" dirty="0"/>
          </a:p>
        </p:txBody>
      </p:sp>
      <p:sp>
        <p:nvSpPr>
          <p:cNvPr id="4" name="figure frame"/>
          <p:cNvSpPr/>
          <p:nvPr/>
        </p:nvSpPr>
        <p:spPr>
          <a:xfrm>
            <a:off x="548640" y="1325880"/>
            <a:ext cx="5440680" cy="1965960"/>
          </a:xfrm>
          <a:prstGeom prst="roundRect">
            <a:avLst>
              <a:gd name="adj" fmla="val 2791"/>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Post-harvest lemon damage: F₀, Fs, Fm and Fv/Fm images reveal damaged areas">    </p:cNvPr>
          <p:cNvPicPr>
            <a:picLocks noChangeAspect="1"/>
          </p:cNvPicPr>
          <p:nvPr/>
        </p:nvPicPr>
        <p:blipFill>
          <a:blip r:embed="rId1"/>
          <a:stretch>
            <a:fillRect/>
          </a:stretch>
        </p:blipFill>
        <p:spPr>
          <a:xfrm>
            <a:off x="1960457" y="1417320"/>
            <a:ext cx="2617045" cy="1783080"/>
          </a:xfrm>
          <a:prstGeom prst="rect">
            <a:avLst/>
          </a:prstGeom>
        </p:spPr>
      </p:pic>
      <p:sp>
        <p:nvSpPr>
          <p:cNvPr id="6" name="Text 2"/>
          <p:cNvSpPr txBox="1"/>
          <p:nvPr/>
        </p:nvSpPr>
        <p:spPr>
          <a:xfrm>
            <a:off x="548640" y="3337560"/>
            <a:ext cx="5440680" cy="365760"/>
          </a:xfrm>
          <a:prstGeom prst="rect">
            <a:avLst/>
          </a:prstGeom>
          <a:noFill/>
          <a:ln/>
        </p:spPr>
        <p:txBody>
          <a:bodyPr wrap="square" lIns="0" tIns="0" rIns="0" bIns="0" rtlCol="0" anchor="t"/>
          <a:lstStyle/>
          <a:p>
            <a:pPr indent="0" marL="0">
              <a:buNone/>
            </a:pPr>
            <a:r>
              <a:rPr lang="en-US" sz="1100" i="1" dirty="0">
                <a:solidFill>
                  <a:schemeClr val="accent6"/>
                </a:solidFill>
              </a:rPr>
              <a:t>Post-harvest lemon damage: F₀, Fs, Fm and Fv/Fm images reveal damaged areas</a:t>
            </a:r>
            <a:endParaRPr lang="en-US" sz="1100" dirty="0"/>
          </a:p>
        </p:txBody>
      </p:sp>
      <p:sp>
        <p:nvSpPr>
          <p:cNvPr id="7" name="figure frame"/>
          <p:cNvSpPr/>
          <p:nvPr/>
        </p:nvSpPr>
        <p:spPr>
          <a:xfrm>
            <a:off x="6199632" y="1325880"/>
            <a:ext cx="5440680" cy="1965960"/>
          </a:xfrm>
          <a:prstGeom prst="roundRect">
            <a:avLst>
              <a:gd name="adj" fmla="val 2791"/>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8" name="Image 1" descr="Green mould infection of lemons over 0–84 h">    </p:cNvPr>
          <p:cNvPicPr>
            <a:picLocks noChangeAspect="1"/>
          </p:cNvPicPr>
          <p:nvPr/>
        </p:nvPicPr>
        <p:blipFill>
          <a:blip r:embed="rId2"/>
          <a:stretch>
            <a:fillRect/>
          </a:stretch>
        </p:blipFill>
        <p:spPr>
          <a:xfrm>
            <a:off x="7731252" y="1417320"/>
            <a:ext cx="2377440" cy="1783080"/>
          </a:xfrm>
          <a:prstGeom prst="rect">
            <a:avLst/>
          </a:prstGeom>
        </p:spPr>
      </p:pic>
      <p:sp>
        <p:nvSpPr>
          <p:cNvPr id="9" name="Text 4"/>
          <p:cNvSpPr txBox="1"/>
          <p:nvPr/>
        </p:nvSpPr>
        <p:spPr>
          <a:xfrm>
            <a:off x="6199632" y="3337560"/>
            <a:ext cx="5440680" cy="365760"/>
          </a:xfrm>
          <a:prstGeom prst="rect">
            <a:avLst/>
          </a:prstGeom>
          <a:noFill/>
          <a:ln/>
        </p:spPr>
        <p:txBody>
          <a:bodyPr wrap="square" lIns="0" tIns="0" rIns="0" bIns="0" rtlCol="0" anchor="t"/>
          <a:lstStyle/>
          <a:p>
            <a:pPr indent="0" marL="0">
              <a:buNone/>
            </a:pPr>
            <a:r>
              <a:rPr lang="en-US" sz="1100" i="1" dirty="0">
                <a:solidFill>
                  <a:schemeClr val="accent6"/>
                </a:solidFill>
              </a:rPr>
              <a:t>Green mould infection of lemons over 0–84 h</a:t>
            </a:r>
            <a:endParaRPr lang="en-US" sz="1100" dirty="0"/>
          </a:p>
        </p:txBody>
      </p:sp>
      <p:sp>
        <p:nvSpPr>
          <p:cNvPr id="10" name="figure frame"/>
          <p:cNvSpPr/>
          <p:nvPr/>
        </p:nvSpPr>
        <p:spPr>
          <a:xfrm>
            <a:off x="548640" y="3840480"/>
            <a:ext cx="5440680" cy="1920240"/>
          </a:xfrm>
          <a:prstGeom prst="roundRect">
            <a:avLst>
              <a:gd name="adj" fmla="val 2857"/>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11" name="Image 2" descr="Leaf development: young vs old leaf images and kinetics">    </p:cNvPr>
          <p:cNvPicPr>
            <a:picLocks noChangeAspect="1"/>
          </p:cNvPicPr>
          <p:nvPr/>
        </p:nvPicPr>
        <p:blipFill>
          <a:blip r:embed="rId3"/>
          <a:stretch>
            <a:fillRect/>
          </a:stretch>
        </p:blipFill>
        <p:spPr>
          <a:xfrm>
            <a:off x="2110740" y="3931920"/>
            <a:ext cx="2316480" cy="1737360"/>
          </a:xfrm>
          <a:prstGeom prst="rect">
            <a:avLst/>
          </a:prstGeom>
        </p:spPr>
      </p:pic>
      <p:sp>
        <p:nvSpPr>
          <p:cNvPr id="12" name="Text 6"/>
          <p:cNvSpPr txBox="1"/>
          <p:nvPr/>
        </p:nvSpPr>
        <p:spPr>
          <a:xfrm>
            <a:off x="548640" y="5806440"/>
            <a:ext cx="5440680" cy="365760"/>
          </a:xfrm>
          <a:prstGeom prst="rect">
            <a:avLst/>
          </a:prstGeom>
          <a:noFill/>
          <a:ln/>
        </p:spPr>
        <p:txBody>
          <a:bodyPr wrap="square" lIns="0" tIns="0" rIns="0" bIns="0" rtlCol="0" anchor="t"/>
          <a:lstStyle/>
          <a:p>
            <a:pPr indent="0" marL="0">
              <a:buNone/>
            </a:pPr>
            <a:r>
              <a:rPr lang="en-US" sz="1100" i="1" dirty="0">
                <a:solidFill>
                  <a:schemeClr val="accent6"/>
                </a:solidFill>
              </a:rPr>
              <a:t>Leaf development: young vs old leaf images and kinetics</a:t>
            </a:r>
            <a:endParaRPr lang="en-US" sz="1100" dirty="0"/>
          </a:p>
        </p:txBody>
      </p:sp>
      <p:sp>
        <p:nvSpPr>
          <p:cNvPr id="13" name="figure frame"/>
          <p:cNvSpPr/>
          <p:nvPr/>
        </p:nvSpPr>
        <p:spPr>
          <a:xfrm>
            <a:off x="6199632" y="3840480"/>
            <a:ext cx="5440680" cy="1920240"/>
          </a:xfrm>
          <a:prstGeom prst="roundRect">
            <a:avLst>
              <a:gd name="adj" fmla="val 2857"/>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14" name="Image 3" descr="Heterocysts (arrows) in cyanobacteria are dark in Fm fluorescence">    </p:cNvPr>
          <p:cNvPicPr>
            <a:picLocks noChangeAspect="1"/>
          </p:cNvPicPr>
          <p:nvPr/>
        </p:nvPicPr>
        <p:blipFill>
          <a:blip r:embed="rId4"/>
          <a:stretch>
            <a:fillRect/>
          </a:stretch>
        </p:blipFill>
        <p:spPr>
          <a:xfrm>
            <a:off x="7761732" y="3931920"/>
            <a:ext cx="2316480" cy="1737360"/>
          </a:xfrm>
          <a:prstGeom prst="rect">
            <a:avLst/>
          </a:prstGeom>
        </p:spPr>
      </p:pic>
      <p:sp>
        <p:nvSpPr>
          <p:cNvPr id="15" name="Text 8"/>
          <p:cNvSpPr txBox="1"/>
          <p:nvPr/>
        </p:nvSpPr>
        <p:spPr>
          <a:xfrm>
            <a:off x="6199632" y="5806440"/>
            <a:ext cx="5440680" cy="365760"/>
          </a:xfrm>
          <a:prstGeom prst="rect">
            <a:avLst/>
          </a:prstGeom>
          <a:noFill/>
          <a:ln/>
        </p:spPr>
        <p:txBody>
          <a:bodyPr wrap="square" lIns="0" tIns="0" rIns="0" bIns="0" rtlCol="0" anchor="t"/>
          <a:lstStyle/>
          <a:p>
            <a:pPr indent="0" marL="0">
              <a:buNone/>
            </a:pPr>
            <a:r>
              <a:rPr lang="en-US" sz="1100" i="1" dirty="0">
                <a:solidFill>
                  <a:schemeClr val="accent6"/>
                </a:solidFill>
              </a:rPr>
              <a:t>Heterocysts (arrows) in cyanobacteria are dark in Fm fluorescence</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Stress phenotyping example: cadmium and salt</a:t>
            </a:r>
            <a:endParaRPr lang="en-US" sz="3200" dirty="0"/>
          </a:p>
        </p:txBody>
      </p:sp>
      <p:sp>
        <p:nvSpPr>
          <p:cNvPr id="4" name="figure frame"/>
          <p:cNvSpPr/>
          <p:nvPr/>
        </p:nvSpPr>
        <p:spPr>
          <a:xfrm>
            <a:off x="548640" y="1325880"/>
            <a:ext cx="6949440" cy="4480560"/>
          </a:xfrm>
          <a:prstGeom prst="roundRect">
            <a:avLst>
              <a:gd name="adj" fmla="val 1224"/>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Fv/Fm, YII and NPQ images and time courses under Cd, NaCl and Cd+NaCl stress">    </p:cNvPr>
          <p:cNvPicPr>
            <a:picLocks noChangeAspect="1"/>
          </p:cNvPicPr>
          <p:nvPr/>
        </p:nvPicPr>
        <p:blipFill>
          <a:blip r:embed="rId1"/>
          <a:stretch>
            <a:fillRect/>
          </a:stretch>
        </p:blipFill>
        <p:spPr>
          <a:xfrm>
            <a:off x="1244722" y="1417320"/>
            <a:ext cx="5557277" cy="4297680"/>
          </a:xfrm>
          <a:prstGeom prst="rect">
            <a:avLst/>
          </a:prstGeom>
        </p:spPr>
      </p:pic>
      <p:sp>
        <p:nvSpPr>
          <p:cNvPr id="6" name="Text 2"/>
          <p:cNvSpPr txBox="1"/>
          <p:nvPr/>
        </p:nvSpPr>
        <p:spPr>
          <a:xfrm>
            <a:off x="548640" y="5852160"/>
            <a:ext cx="6949440" cy="320040"/>
          </a:xfrm>
          <a:prstGeom prst="rect">
            <a:avLst/>
          </a:prstGeom>
          <a:noFill/>
          <a:ln/>
        </p:spPr>
        <p:txBody>
          <a:bodyPr wrap="square" lIns="0" tIns="0" rIns="0" bIns="0" rtlCol="0" anchor="t"/>
          <a:lstStyle/>
          <a:p>
            <a:pPr indent="0" marL="0">
              <a:buNone/>
            </a:pPr>
            <a:r>
              <a:rPr lang="en-US" sz="1100" i="1" dirty="0">
                <a:solidFill>
                  <a:schemeClr val="accent6"/>
                </a:solidFill>
              </a:rPr>
              <a:t>Fv/Fm, YII and NPQ images and time courses under Cd, NaCl and Cd+NaCl stress</a:t>
            </a:r>
            <a:endParaRPr lang="en-US" sz="1100" dirty="0"/>
          </a:p>
        </p:txBody>
      </p:sp>
      <p:sp>
        <p:nvSpPr>
          <p:cNvPr id="7" name="card"/>
          <p:cNvSpPr/>
          <p:nvPr/>
        </p:nvSpPr>
        <p:spPr>
          <a:xfrm>
            <a:off x="7726680" y="1325880"/>
            <a:ext cx="3913632"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8" name="Text 4"/>
          <p:cNvSpPr txBox="1"/>
          <p:nvPr/>
        </p:nvSpPr>
        <p:spPr>
          <a:xfrm>
            <a:off x="7909560" y="1463040"/>
            <a:ext cx="3593592" cy="365760"/>
          </a:xfrm>
          <a:prstGeom prst="rect">
            <a:avLst/>
          </a:prstGeom>
          <a:noFill/>
          <a:ln/>
        </p:spPr>
        <p:txBody>
          <a:bodyPr wrap="square" lIns="0" tIns="0" rIns="0" bIns="0" rtlCol="0" anchor="ctr"/>
          <a:lstStyle/>
          <a:p>
            <a:pPr indent="0" marL="0">
              <a:buNone/>
            </a:pPr>
            <a:r>
              <a:rPr lang="en-US" sz="1600" b="1" dirty="0">
                <a:solidFill>
                  <a:schemeClr val="tx2"/>
                </a:solidFill>
              </a:rPr>
              <a:t>How to read it</a:t>
            </a:r>
            <a:endParaRPr lang="en-US" sz="1600" dirty="0"/>
          </a:p>
        </p:txBody>
      </p:sp>
      <p:sp>
        <p:nvSpPr>
          <p:cNvPr id="9" name="Text 5"/>
          <p:cNvSpPr txBox="1"/>
          <p:nvPr/>
        </p:nvSpPr>
        <p:spPr>
          <a:xfrm>
            <a:off x="7909560" y="1874520"/>
            <a:ext cx="3547872" cy="169164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Rows: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 Y(II), NPQ</a:t>
            </a:r>
            <a:endParaRPr lang="en-US" sz="1300" dirty="0"/>
          </a:p>
          <a:p>
            <a:pPr marL="177800" indent="-177800">
              <a:spcAft>
                <a:spcPts val="400"/>
              </a:spcAft>
              <a:buSzPct val="100000"/>
              <a:buChar char="•"/>
            </a:pPr>
            <a:r>
              <a:rPr lang="en-US" sz="1300" dirty="0">
                <a:solidFill>
                  <a:schemeClr val="tx1"/>
                </a:solidFill>
              </a:rPr>
              <a:t>Columns: Control, Cd, Na, Cd+Na at 2 and 3 weeks</a:t>
            </a:r>
            <a:endParaRPr lang="en-US" sz="1300" dirty="0"/>
          </a:p>
          <a:p>
            <a:pPr marL="177800" indent="-177800">
              <a:spcAft>
                <a:spcPts val="400"/>
              </a:spcAft>
              <a:buSzPct val="100000"/>
              <a:buChar char="•"/>
            </a:pPr>
            <a:r>
              <a:rPr lang="en-US" sz="1300" dirty="0">
                <a:solidFill>
                  <a:schemeClr val="tx1"/>
                </a:solidFill>
              </a:rPr>
              <a:t>Colour scale: blue/purple = high, yellow/red = low</a:t>
            </a:r>
            <a:endParaRPr lang="en-US" sz="1300" dirty="0"/>
          </a:p>
        </p:txBody>
      </p:sp>
      <p:sp>
        <p:nvSpPr>
          <p:cNvPr id="10" name="card"/>
          <p:cNvSpPr/>
          <p:nvPr/>
        </p:nvSpPr>
        <p:spPr>
          <a:xfrm>
            <a:off x="7726680" y="3794760"/>
            <a:ext cx="3913632"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11" name="icon circle"/>
          <p:cNvSpPr/>
          <p:nvPr/>
        </p:nvSpPr>
        <p:spPr>
          <a:xfrm>
            <a:off x="7909560" y="3950208"/>
            <a:ext cx="420624" cy="420624"/>
          </a:xfrm>
          <a:prstGeom prst="ellipse">
            <a:avLst/>
          </a:prstGeom>
          <a:solidFill>
            <a:schemeClr val="accent3"/>
          </a:solidFill>
          <a:ln/>
        </p:spPr>
      </p:sp>
      <p:pic>
        <p:nvPicPr>
          <p:cNvPr id="12" name="Image 1" descr="Lightbulb icon">    </p:cNvPr>
          <p:cNvPicPr>
            <a:picLocks noChangeAspect="1"/>
          </p:cNvPicPr>
          <p:nvPr/>
        </p:nvPicPr>
        <p:blipFill>
          <a:blip r:embed="rId2"/>
          <a:stretch>
            <a:fillRect/>
          </a:stretch>
        </p:blipFill>
        <p:spPr>
          <a:xfrm>
            <a:off x="8018922" y="4059570"/>
            <a:ext cx="201900" cy="201900"/>
          </a:xfrm>
          <a:prstGeom prst="rect">
            <a:avLst/>
          </a:prstGeom>
        </p:spPr>
      </p:pic>
      <p:sp>
        <p:nvSpPr>
          <p:cNvPr id="13" name="Text 8"/>
          <p:cNvSpPr txBox="1"/>
          <p:nvPr/>
        </p:nvSpPr>
        <p:spPr>
          <a:xfrm>
            <a:off x="8439912" y="3931920"/>
            <a:ext cx="3063240" cy="457200"/>
          </a:xfrm>
          <a:prstGeom prst="rect">
            <a:avLst/>
          </a:prstGeom>
          <a:noFill/>
          <a:ln/>
        </p:spPr>
        <p:txBody>
          <a:bodyPr wrap="square" lIns="0" tIns="0" rIns="0" bIns="0" rtlCol="0" anchor="ctr"/>
          <a:lstStyle/>
          <a:p>
            <a:pPr indent="0" marL="0">
              <a:buNone/>
            </a:pPr>
            <a:r>
              <a:rPr lang="en-US" sz="1600" b="1" dirty="0">
                <a:solidFill>
                  <a:schemeClr val="tx2"/>
                </a:solidFill>
              </a:rPr>
              <a:t>Lessons</a:t>
            </a:r>
            <a:endParaRPr lang="en-US" sz="1600" dirty="0"/>
          </a:p>
        </p:txBody>
      </p:sp>
      <p:sp>
        <p:nvSpPr>
          <p:cNvPr id="14" name="Text 9"/>
          <p:cNvSpPr txBox="1"/>
          <p:nvPr/>
        </p:nvSpPr>
        <p:spPr>
          <a:xfrm>
            <a:off x="7909560" y="4480560"/>
            <a:ext cx="3547872"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Parameters respond differently and over different times</a:t>
            </a:r>
            <a:endParaRPr lang="en-US" sz="1300" dirty="0"/>
          </a:p>
          <a:p>
            <a:pPr marL="177800" indent="-177800">
              <a:spcAft>
                <a:spcPts val="400"/>
              </a:spcAft>
              <a:buSzPct val="100000"/>
              <a:buChar char="•"/>
            </a:pPr>
            <a:r>
              <a:rPr lang="en-US" sz="1300" dirty="0">
                <a:solidFill>
                  <a:schemeClr val="tx1"/>
                </a:solidFill>
              </a:rPr>
              <a:t>Images show where in the leaf damage starts</a:t>
            </a:r>
            <a:endParaRPr lang="en-US" sz="1300" dirty="0"/>
          </a:p>
          <a:p>
            <a:pPr marL="177800" indent="-177800">
              <a:spcAft>
                <a:spcPts val="400"/>
              </a:spcAft>
              <a:buSzPct val="100000"/>
              <a:buChar char="•"/>
            </a:pPr>
            <a:r>
              <a:rPr lang="en-US" sz="1300" dirty="0">
                <a:solidFill>
                  <a:schemeClr val="tx1"/>
                </a:solidFill>
              </a:rPr>
              <a:t>Combine dark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 and light (Y(II), NPQ) parameters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Towards long-term and remote monitoring</a:t>
            </a:r>
            <a:endParaRPr lang="en-US" sz="3200" dirty="0"/>
          </a:p>
        </p:txBody>
      </p:sp>
      <p:sp>
        <p:nvSpPr>
          <p:cNvPr id="4" name="icon circle"/>
          <p:cNvSpPr/>
          <p:nvPr/>
        </p:nvSpPr>
        <p:spPr>
          <a:xfrm>
            <a:off x="1143000" y="1463040"/>
            <a:ext cx="914400" cy="914400"/>
          </a:xfrm>
          <a:prstGeom prst="ellipse">
            <a:avLst/>
          </a:prstGeom>
          <a:solidFill>
            <a:schemeClr val="accent1"/>
          </a:solidFill>
          <a:ln/>
        </p:spPr>
      </p:sp>
      <p:pic>
        <p:nvPicPr>
          <p:cNvPr id="5" name="Image 0" descr="HandPaper icon">    </p:cNvPr>
          <p:cNvPicPr>
            <a:picLocks noChangeAspect="1"/>
          </p:cNvPicPr>
          <p:nvPr/>
        </p:nvPicPr>
        <p:blipFill>
          <a:blip r:embed="rId1"/>
          <a:stretch>
            <a:fillRect/>
          </a:stretch>
        </p:blipFill>
        <p:spPr>
          <a:xfrm>
            <a:off x="1380744" y="1700784"/>
            <a:ext cx="438912" cy="438912"/>
          </a:xfrm>
          <a:prstGeom prst="rect">
            <a:avLst/>
          </a:prstGeom>
        </p:spPr>
      </p:pic>
      <p:sp>
        <p:nvSpPr>
          <p:cNvPr id="6" name="Text 2"/>
          <p:cNvSpPr txBox="1"/>
          <p:nvPr/>
        </p:nvSpPr>
        <p:spPr>
          <a:xfrm>
            <a:off x="548640" y="2468880"/>
            <a:ext cx="2103120" cy="365760"/>
          </a:xfrm>
          <a:prstGeom prst="rect">
            <a:avLst/>
          </a:prstGeom>
          <a:noFill/>
          <a:ln/>
        </p:spPr>
        <p:txBody>
          <a:bodyPr wrap="square" lIns="0" tIns="0" rIns="0" bIns="0" rtlCol="0" anchor="ctr"/>
          <a:lstStyle/>
          <a:p>
            <a:pPr algn="ctr" indent="0" marL="0">
              <a:buNone/>
            </a:pPr>
            <a:r>
              <a:rPr lang="en-US" sz="1500" b="1" dirty="0">
                <a:solidFill>
                  <a:schemeClr val="tx2"/>
                </a:solidFill>
              </a:rPr>
              <a:t>Leaf clip PAM</a:t>
            </a:r>
            <a:endParaRPr lang="en-US" sz="1500" dirty="0"/>
          </a:p>
        </p:txBody>
      </p:sp>
      <p:sp>
        <p:nvSpPr>
          <p:cNvPr id="7" name="Text 3"/>
          <p:cNvSpPr txBox="1"/>
          <p:nvPr/>
        </p:nvSpPr>
        <p:spPr>
          <a:xfrm>
            <a:off x="548640" y="2834640"/>
            <a:ext cx="2103120" cy="365760"/>
          </a:xfrm>
          <a:prstGeom prst="rect">
            <a:avLst/>
          </a:prstGeom>
          <a:noFill/>
          <a:ln/>
        </p:spPr>
        <p:txBody>
          <a:bodyPr wrap="square" lIns="0" tIns="0" rIns="0" bIns="0" rtlCol="0" anchor="ctr"/>
          <a:lstStyle/>
          <a:p>
            <a:pPr algn="ctr" indent="0" marL="0">
              <a:buNone/>
            </a:pPr>
            <a:r>
              <a:rPr lang="en-US" sz="1200" dirty="0">
                <a:solidFill>
                  <a:schemeClr val="tx1"/>
                </a:solidFill>
              </a:rPr>
              <a:t>mm–cm · seconds</a:t>
            </a:r>
            <a:endParaRPr lang="en-US" sz="1200" dirty="0"/>
          </a:p>
        </p:txBody>
      </p:sp>
      <p:sp>
        <p:nvSpPr>
          <p:cNvPr id="8" name="arrow"/>
          <p:cNvSpPr/>
          <p:nvPr/>
        </p:nvSpPr>
        <p:spPr>
          <a:xfrm>
            <a:off x="2148840" y="1920240"/>
            <a:ext cx="1188720" cy="0"/>
          </a:xfrm>
          <a:prstGeom prst="line">
            <a:avLst/>
          </a:prstGeom>
          <a:noFill/>
          <a:ln w="25400">
            <a:solidFill>
              <a:srgbClr val="5E7268"/>
            </a:solidFill>
            <a:prstDash val="solid"/>
            <a:tailEnd type="triangle"/>
          </a:ln>
        </p:spPr>
      </p:sp>
      <p:sp>
        <p:nvSpPr>
          <p:cNvPr id="9" name="icon circle"/>
          <p:cNvSpPr/>
          <p:nvPr/>
        </p:nvSpPr>
        <p:spPr>
          <a:xfrm>
            <a:off x="3429000" y="1463040"/>
            <a:ext cx="914400" cy="914400"/>
          </a:xfrm>
          <a:prstGeom prst="ellipse">
            <a:avLst/>
          </a:prstGeom>
          <a:solidFill>
            <a:schemeClr val="accent1"/>
          </a:solidFill>
          <a:ln/>
        </p:spPr>
      </p:sp>
      <p:pic>
        <p:nvPicPr>
          <p:cNvPr id="10" name="Image 1" descr="Clock icon">    </p:cNvPr>
          <p:cNvPicPr>
            <a:picLocks noChangeAspect="1"/>
          </p:cNvPicPr>
          <p:nvPr/>
        </p:nvPicPr>
        <p:blipFill>
          <a:blip r:embed="rId2"/>
          <a:stretch>
            <a:fillRect/>
          </a:stretch>
        </p:blipFill>
        <p:spPr>
          <a:xfrm>
            <a:off x="3666744" y="1700784"/>
            <a:ext cx="438912" cy="438912"/>
          </a:xfrm>
          <a:prstGeom prst="rect">
            <a:avLst/>
          </a:prstGeom>
        </p:spPr>
      </p:pic>
      <p:sp>
        <p:nvSpPr>
          <p:cNvPr id="11" name="Text 6"/>
          <p:cNvSpPr txBox="1"/>
          <p:nvPr/>
        </p:nvSpPr>
        <p:spPr>
          <a:xfrm>
            <a:off x="2834640" y="2468880"/>
            <a:ext cx="2103120" cy="365760"/>
          </a:xfrm>
          <a:prstGeom prst="rect">
            <a:avLst/>
          </a:prstGeom>
          <a:noFill/>
          <a:ln/>
        </p:spPr>
        <p:txBody>
          <a:bodyPr wrap="square" lIns="0" tIns="0" rIns="0" bIns="0" rtlCol="0" anchor="ctr"/>
          <a:lstStyle/>
          <a:p>
            <a:pPr algn="ctr" indent="0" marL="0">
              <a:buNone/>
            </a:pPr>
            <a:r>
              <a:rPr lang="en-US" sz="1500" b="1" dirty="0">
                <a:solidFill>
                  <a:schemeClr val="tx2"/>
                </a:solidFill>
              </a:rPr>
              <a:t>Monitoring PAM</a:t>
            </a:r>
            <a:endParaRPr lang="en-US" sz="1500" dirty="0"/>
          </a:p>
        </p:txBody>
      </p:sp>
      <p:sp>
        <p:nvSpPr>
          <p:cNvPr id="12" name="Text 7"/>
          <p:cNvSpPr txBox="1"/>
          <p:nvPr/>
        </p:nvSpPr>
        <p:spPr>
          <a:xfrm>
            <a:off x="2834640" y="2834640"/>
            <a:ext cx="2103120" cy="365760"/>
          </a:xfrm>
          <a:prstGeom prst="rect">
            <a:avLst/>
          </a:prstGeom>
          <a:noFill/>
          <a:ln/>
        </p:spPr>
        <p:txBody>
          <a:bodyPr wrap="square" lIns="0" tIns="0" rIns="0" bIns="0" rtlCol="0" anchor="ctr"/>
          <a:lstStyle/>
          <a:p>
            <a:pPr algn="ctr" indent="0" marL="0">
              <a:buNone/>
            </a:pPr>
            <a:r>
              <a:rPr lang="en-US" sz="1200" dirty="0">
                <a:solidFill>
                  <a:schemeClr val="tx1"/>
                </a:solidFill>
              </a:rPr>
              <a:t>fixed heads · weeks–seasons</a:t>
            </a:r>
            <a:endParaRPr lang="en-US" sz="1200" dirty="0"/>
          </a:p>
        </p:txBody>
      </p:sp>
      <p:sp>
        <p:nvSpPr>
          <p:cNvPr id="13" name="arrow"/>
          <p:cNvSpPr/>
          <p:nvPr/>
        </p:nvSpPr>
        <p:spPr>
          <a:xfrm>
            <a:off x="4434840" y="1920240"/>
            <a:ext cx="1188720" cy="0"/>
          </a:xfrm>
          <a:prstGeom prst="line">
            <a:avLst/>
          </a:prstGeom>
          <a:noFill/>
          <a:ln w="25400">
            <a:solidFill>
              <a:srgbClr val="5E7268"/>
            </a:solidFill>
            <a:prstDash val="solid"/>
            <a:tailEnd type="triangle"/>
          </a:ln>
        </p:spPr>
      </p:sp>
      <p:sp>
        <p:nvSpPr>
          <p:cNvPr id="14" name="icon circle"/>
          <p:cNvSpPr/>
          <p:nvPr/>
        </p:nvSpPr>
        <p:spPr>
          <a:xfrm>
            <a:off x="5715000" y="1463040"/>
            <a:ext cx="914400" cy="914400"/>
          </a:xfrm>
          <a:prstGeom prst="ellipse">
            <a:avLst/>
          </a:prstGeom>
          <a:solidFill>
            <a:schemeClr val="accent5"/>
          </a:solidFill>
          <a:ln/>
        </p:spPr>
      </p:sp>
      <p:pic>
        <p:nvPicPr>
          <p:cNvPr id="15" name="Image 2" descr="BroadcastTower icon">    </p:cNvPr>
          <p:cNvPicPr>
            <a:picLocks noChangeAspect="1"/>
          </p:cNvPicPr>
          <p:nvPr/>
        </p:nvPicPr>
        <p:blipFill>
          <a:blip r:embed="rId3"/>
          <a:stretch>
            <a:fillRect/>
          </a:stretch>
        </p:blipFill>
        <p:spPr>
          <a:xfrm>
            <a:off x="5952744" y="1700784"/>
            <a:ext cx="438912" cy="438912"/>
          </a:xfrm>
          <a:prstGeom prst="rect">
            <a:avLst/>
          </a:prstGeom>
        </p:spPr>
      </p:pic>
      <p:sp>
        <p:nvSpPr>
          <p:cNvPr id="16" name="Text 10"/>
          <p:cNvSpPr txBox="1"/>
          <p:nvPr/>
        </p:nvSpPr>
        <p:spPr>
          <a:xfrm>
            <a:off x="5120640" y="2468880"/>
            <a:ext cx="2103120" cy="365760"/>
          </a:xfrm>
          <a:prstGeom prst="rect">
            <a:avLst/>
          </a:prstGeom>
          <a:noFill/>
          <a:ln/>
        </p:spPr>
        <p:txBody>
          <a:bodyPr wrap="square" lIns="0" tIns="0" rIns="0" bIns="0" rtlCol="0" anchor="ctr"/>
          <a:lstStyle/>
          <a:p>
            <a:pPr algn="ctr" indent="0" marL="0">
              <a:buNone/>
            </a:pPr>
            <a:r>
              <a:rPr lang="en-US" sz="1500" b="1" dirty="0">
                <a:solidFill>
                  <a:schemeClr val="tx2"/>
                </a:solidFill>
              </a:rPr>
              <a:t>LIFT (laser)</a:t>
            </a:r>
            <a:endParaRPr lang="en-US" sz="1500" dirty="0"/>
          </a:p>
        </p:txBody>
      </p:sp>
      <p:sp>
        <p:nvSpPr>
          <p:cNvPr id="17" name="Text 11"/>
          <p:cNvSpPr txBox="1"/>
          <p:nvPr/>
        </p:nvSpPr>
        <p:spPr>
          <a:xfrm>
            <a:off x="5120640" y="2834640"/>
            <a:ext cx="2103120" cy="365760"/>
          </a:xfrm>
          <a:prstGeom prst="rect">
            <a:avLst/>
          </a:prstGeom>
          <a:noFill/>
          <a:ln/>
        </p:spPr>
        <p:txBody>
          <a:bodyPr wrap="square" lIns="0" tIns="0" rIns="0" bIns="0" rtlCol="0" anchor="ctr"/>
          <a:lstStyle/>
          <a:p>
            <a:pPr algn="ctr" indent="0" marL="0">
              <a:buNone/>
            </a:pPr>
            <a:r>
              <a:rPr lang="en-US" sz="1200" dirty="0">
                <a:solidFill>
                  <a:schemeClr val="tx1"/>
                </a:solidFill>
              </a:rPr>
              <a:t>5–50 m · canopy, active</a:t>
            </a:r>
            <a:endParaRPr lang="en-US" sz="1200" dirty="0"/>
          </a:p>
        </p:txBody>
      </p:sp>
      <p:sp>
        <p:nvSpPr>
          <p:cNvPr id="18" name="arrow"/>
          <p:cNvSpPr/>
          <p:nvPr/>
        </p:nvSpPr>
        <p:spPr>
          <a:xfrm>
            <a:off x="6720840" y="1920240"/>
            <a:ext cx="1188720" cy="0"/>
          </a:xfrm>
          <a:prstGeom prst="line">
            <a:avLst/>
          </a:prstGeom>
          <a:noFill/>
          <a:ln w="25400">
            <a:solidFill>
              <a:srgbClr val="5E7268"/>
            </a:solidFill>
            <a:prstDash val="solid"/>
            <a:tailEnd type="triangle"/>
          </a:ln>
        </p:spPr>
      </p:sp>
      <p:sp>
        <p:nvSpPr>
          <p:cNvPr id="19" name="icon circle"/>
          <p:cNvSpPr/>
          <p:nvPr/>
        </p:nvSpPr>
        <p:spPr>
          <a:xfrm>
            <a:off x="8001000" y="1463040"/>
            <a:ext cx="914400" cy="914400"/>
          </a:xfrm>
          <a:prstGeom prst="ellipse">
            <a:avLst/>
          </a:prstGeom>
          <a:solidFill>
            <a:schemeClr val="accent2"/>
          </a:solidFill>
          <a:ln/>
        </p:spPr>
      </p:sp>
      <p:pic>
        <p:nvPicPr>
          <p:cNvPr id="20" name="Image 3" descr="Plane icon">    </p:cNvPr>
          <p:cNvPicPr>
            <a:picLocks noChangeAspect="1"/>
          </p:cNvPicPr>
          <p:nvPr/>
        </p:nvPicPr>
        <p:blipFill>
          <a:blip r:embed="rId4"/>
          <a:stretch>
            <a:fillRect/>
          </a:stretch>
        </p:blipFill>
        <p:spPr>
          <a:xfrm>
            <a:off x="8238744" y="1700784"/>
            <a:ext cx="438912" cy="438912"/>
          </a:xfrm>
          <a:prstGeom prst="rect">
            <a:avLst/>
          </a:prstGeom>
        </p:spPr>
      </p:pic>
      <p:sp>
        <p:nvSpPr>
          <p:cNvPr id="21" name="Text 14"/>
          <p:cNvSpPr txBox="1"/>
          <p:nvPr/>
        </p:nvSpPr>
        <p:spPr>
          <a:xfrm>
            <a:off x="7406640" y="2468880"/>
            <a:ext cx="2103120" cy="365760"/>
          </a:xfrm>
          <a:prstGeom prst="rect">
            <a:avLst/>
          </a:prstGeom>
          <a:noFill/>
          <a:ln/>
        </p:spPr>
        <p:txBody>
          <a:bodyPr wrap="square" lIns="0" tIns="0" rIns="0" bIns="0" rtlCol="0" anchor="ctr"/>
          <a:lstStyle/>
          <a:p>
            <a:pPr algn="ctr" indent="0" marL="0">
              <a:buNone/>
            </a:pPr>
            <a:r>
              <a:rPr lang="en-US" sz="1500" b="1" dirty="0">
                <a:solidFill>
                  <a:schemeClr val="tx2"/>
                </a:solidFill>
              </a:rPr>
              <a:t>UAV / airborne</a:t>
            </a:r>
            <a:endParaRPr lang="en-US" sz="1500" dirty="0"/>
          </a:p>
        </p:txBody>
      </p:sp>
      <p:sp>
        <p:nvSpPr>
          <p:cNvPr id="22" name="Text 15"/>
          <p:cNvSpPr txBox="1"/>
          <p:nvPr/>
        </p:nvSpPr>
        <p:spPr>
          <a:xfrm>
            <a:off x="7406640" y="2834640"/>
            <a:ext cx="2103120" cy="365760"/>
          </a:xfrm>
          <a:prstGeom prst="rect">
            <a:avLst/>
          </a:prstGeom>
          <a:noFill/>
          <a:ln/>
        </p:spPr>
        <p:txBody>
          <a:bodyPr wrap="square" lIns="0" tIns="0" rIns="0" bIns="0" rtlCol="0" anchor="ctr"/>
          <a:lstStyle/>
          <a:p>
            <a:pPr algn="ctr" indent="0" marL="0">
              <a:buNone/>
            </a:pPr>
            <a:r>
              <a:rPr lang="en-US" sz="1200" dirty="0">
                <a:solidFill>
                  <a:schemeClr val="tx1"/>
                </a:solidFill>
              </a:rPr>
              <a:t>m · passive SIF</a:t>
            </a:r>
            <a:endParaRPr lang="en-US" sz="1200" dirty="0"/>
          </a:p>
        </p:txBody>
      </p:sp>
      <p:sp>
        <p:nvSpPr>
          <p:cNvPr id="23" name="arrow"/>
          <p:cNvSpPr/>
          <p:nvPr/>
        </p:nvSpPr>
        <p:spPr>
          <a:xfrm>
            <a:off x="9006840" y="1920240"/>
            <a:ext cx="1188720" cy="0"/>
          </a:xfrm>
          <a:prstGeom prst="line">
            <a:avLst/>
          </a:prstGeom>
          <a:noFill/>
          <a:ln w="25400">
            <a:solidFill>
              <a:srgbClr val="5E7268"/>
            </a:solidFill>
            <a:prstDash val="solid"/>
            <a:tailEnd type="triangle"/>
          </a:ln>
        </p:spPr>
      </p:sp>
      <p:sp>
        <p:nvSpPr>
          <p:cNvPr id="24" name="icon circle"/>
          <p:cNvSpPr/>
          <p:nvPr/>
        </p:nvSpPr>
        <p:spPr>
          <a:xfrm>
            <a:off x="10287000" y="1463040"/>
            <a:ext cx="914400" cy="914400"/>
          </a:xfrm>
          <a:prstGeom prst="ellipse">
            <a:avLst/>
          </a:prstGeom>
          <a:solidFill>
            <a:schemeClr val="accent2"/>
          </a:solidFill>
          <a:ln/>
        </p:spPr>
      </p:sp>
      <p:pic>
        <p:nvPicPr>
          <p:cNvPr id="25" name="Image 4" descr="Satellite icon">    </p:cNvPr>
          <p:cNvPicPr>
            <a:picLocks noChangeAspect="1"/>
          </p:cNvPicPr>
          <p:nvPr/>
        </p:nvPicPr>
        <p:blipFill>
          <a:blip r:embed="rId5"/>
          <a:stretch>
            <a:fillRect/>
          </a:stretch>
        </p:blipFill>
        <p:spPr>
          <a:xfrm>
            <a:off x="10524744" y="1700784"/>
            <a:ext cx="438912" cy="438912"/>
          </a:xfrm>
          <a:prstGeom prst="rect">
            <a:avLst/>
          </a:prstGeom>
        </p:spPr>
      </p:pic>
      <p:sp>
        <p:nvSpPr>
          <p:cNvPr id="26" name="Text 18"/>
          <p:cNvSpPr txBox="1"/>
          <p:nvPr/>
        </p:nvSpPr>
        <p:spPr>
          <a:xfrm>
            <a:off x="9692640" y="2468880"/>
            <a:ext cx="2103120" cy="365760"/>
          </a:xfrm>
          <a:prstGeom prst="rect">
            <a:avLst/>
          </a:prstGeom>
          <a:noFill/>
          <a:ln/>
        </p:spPr>
        <p:txBody>
          <a:bodyPr wrap="square" lIns="0" tIns="0" rIns="0" bIns="0" rtlCol="0" anchor="ctr"/>
          <a:lstStyle/>
          <a:p>
            <a:pPr algn="ctr" indent="0" marL="0">
              <a:buNone/>
            </a:pPr>
            <a:r>
              <a:rPr lang="en-US" sz="1500" b="1" dirty="0">
                <a:solidFill>
                  <a:schemeClr val="tx2"/>
                </a:solidFill>
              </a:rPr>
              <a:t>Satellite</a:t>
            </a:r>
            <a:endParaRPr lang="en-US" sz="1500" dirty="0"/>
          </a:p>
        </p:txBody>
      </p:sp>
      <p:sp>
        <p:nvSpPr>
          <p:cNvPr id="27" name="Text 19"/>
          <p:cNvSpPr txBox="1"/>
          <p:nvPr/>
        </p:nvSpPr>
        <p:spPr>
          <a:xfrm>
            <a:off x="9692640" y="2834640"/>
            <a:ext cx="2103120" cy="365760"/>
          </a:xfrm>
          <a:prstGeom prst="rect">
            <a:avLst/>
          </a:prstGeom>
          <a:noFill/>
          <a:ln/>
        </p:spPr>
        <p:txBody>
          <a:bodyPr wrap="square" lIns="0" tIns="0" rIns="0" bIns="0" rtlCol="0" anchor="ctr"/>
          <a:lstStyle/>
          <a:p>
            <a:pPr algn="ctr" indent="0" marL="0">
              <a:buNone/>
            </a:pPr>
            <a:r>
              <a:rPr lang="en-US" sz="1200" dirty="0">
                <a:solidFill>
                  <a:schemeClr val="tx1"/>
                </a:solidFill>
              </a:rPr>
              <a:t>300 m–km · passive SIF</a:t>
            </a:r>
            <a:endParaRPr lang="en-US" sz="1200" dirty="0"/>
          </a:p>
        </p:txBody>
      </p:sp>
      <p:sp>
        <p:nvSpPr>
          <p:cNvPr id="28" name="Text 20"/>
          <p:cNvSpPr txBox="1"/>
          <p:nvPr/>
        </p:nvSpPr>
        <p:spPr>
          <a:xfrm>
            <a:off x="548640" y="3291840"/>
            <a:ext cx="6675120" cy="365760"/>
          </a:xfrm>
          <a:prstGeom prst="rect">
            <a:avLst/>
          </a:prstGeom>
          <a:noFill/>
          <a:ln/>
        </p:spPr>
        <p:txBody>
          <a:bodyPr wrap="square" lIns="0" tIns="0" rIns="0" bIns="0" rtlCol="0" anchor="ctr"/>
          <a:lstStyle/>
          <a:p>
            <a:pPr algn="l" indent="0" marL="0">
              <a:buNone/>
            </a:pPr>
            <a:r>
              <a:rPr lang="en-US" sz="1300" b="1" dirty="0">
                <a:solidFill>
                  <a:schemeClr val="accent1"/>
                </a:solidFill>
              </a:rPr>
              <a:t>ACTIVE (instrument supplies the light)</a:t>
            </a:r>
            <a:endParaRPr lang="en-US" sz="1300" dirty="0"/>
          </a:p>
        </p:txBody>
      </p:sp>
      <p:sp>
        <p:nvSpPr>
          <p:cNvPr id="29" name="Text 21"/>
          <p:cNvSpPr txBox="1"/>
          <p:nvPr/>
        </p:nvSpPr>
        <p:spPr>
          <a:xfrm>
            <a:off x="7498080" y="3291840"/>
            <a:ext cx="4114800" cy="365760"/>
          </a:xfrm>
          <a:prstGeom prst="rect">
            <a:avLst/>
          </a:prstGeom>
          <a:noFill/>
          <a:ln/>
        </p:spPr>
        <p:txBody>
          <a:bodyPr wrap="square" lIns="0" tIns="0" rIns="0" bIns="0" rtlCol="0" anchor="ctr"/>
          <a:lstStyle/>
          <a:p>
            <a:pPr algn="r" indent="0" marL="0">
              <a:buNone/>
            </a:pPr>
            <a:r>
              <a:rPr lang="en-US" sz="1300" b="1" dirty="0">
                <a:solidFill>
                  <a:schemeClr val="accent2"/>
                </a:solidFill>
              </a:rPr>
              <a:t>PASSIVE (sunlight only) →</a:t>
            </a:r>
            <a:endParaRPr lang="en-US" sz="1300" dirty="0"/>
          </a:p>
        </p:txBody>
      </p:sp>
      <p:sp>
        <p:nvSpPr>
          <p:cNvPr id="30" name="card"/>
          <p:cNvSpPr/>
          <p:nvPr/>
        </p:nvSpPr>
        <p:spPr>
          <a:xfrm>
            <a:off x="548640" y="3840480"/>
            <a:ext cx="3566160"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31" name="Text 23"/>
          <p:cNvSpPr txBox="1"/>
          <p:nvPr/>
        </p:nvSpPr>
        <p:spPr>
          <a:xfrm>
            <a:off x="731520" y="3977640"/>
            <a:ext cx="3246120" cy="365760"/>
          </a:xfrm>
          <a:prstGeom prst="rect">
            <a:avLst/>
          </a:prstGeom>
          <a:noFill/>
          <a:ln/>
        </p:spPr>
        <p:txBody>
          <a:bodyPr wrap="square" lIns="0" tIns="0" rIns="0" bIns="0" rtlCol="0" anchor="ctr"/>
          <a:lstStyle/>
          <a:p>
            <a:pPr indent="0" marL="0">
              <a:buNone/>
            </a:pPr>
            <a:r>
              <a:rPr lang="en-US" sz="1600" b="1" dirty="0">
                <a:solidFill>
                  <a:schemeClr val="tx2"/>
                </a:solidFill>
              </a:rPr>
              <a:t>Monitoring PAM</a:t>
            </a:r>
            <a:endParaRPr lang="en-US" sz="1600" dirty="0"/>
          </a:p>
        </p:txBody>
      </p:sp>
      <p:sp>
        <p:nvSpPr>
          <p:cNvPr id="32" name="Text 24"/>
          <p:cNvSpPr txBox="1"/>
          <p:nvPr/>
        </p:nvSpPr>
        <p:spPr>
          <a:xfrm>
            <a:off x="731520" y="4389120"/>
            <a:ext cx="3200400" cy="16916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Modular heads measure F′ and, with pulses, F</a:t>
            </a:r>
            <a:r>
              <a:rPr lang="en-US" sz="1300" baseline="-40000" dirty="0">
                <a:solidFill>
                  <a:schemeClr val="tx1"/>
                </a:solidFill>
              </a:rPr>
              <a:t>m</a:t>
            </a:r>
            <a:r>
              <a:rPr lang="en-US" sz="1300" dirty="0">
                <a:solidFill>
                  <a:schemeClr val="tx1"/>
                </a:solidFill>
              </a:rPr>
              <a:t>′; used for annual NPQ in boreal forest and rice canopies.</a:t>
            </a:r>
            <a:endParaRPr lang="en-US" sz="1300" dirty="0"/>
          </a:p>
        </p:txBody>
      </p:sp>
      <p:sp>
        <p:nvSpPr>
          <p:cNvPr id="33" name="card"/>
          <p:cNvSpPr/>
          <p:nvPr/>
        </p:nvSpPr>
        <p:spPr>
          <a:xfrm>
            <a:off x="4315968" y="3840480"/>
            <a:ext cx="3566160"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34" name="Text 26"/>
          <p:cNvSpPr txBox="1"/>
          <p:nvPr/>
        </p:nvSpPr>
        <p:spPr>
          <a:xfrm>
            <a:off x="4498848" y="3977640"/>
            <a:ext cx="3246120" cy="365760"/>
          </a:xfrm>
          <a:prstGeom prst="rect">
            <a:avLst/>
          </a:prstGeom>
          <a:noFill/>
          <a:ln/>
        </p:spPr>
        <p:txBody>
          <a:bodyPr wrap="square" lIns="0" tIns="0" rIns="0" bIns="0" rtlCol="0" anchor="ctr"/>
          <a:lstStyle/>
          <a:p>
            <a:pPr indent="0" marL="0">
              <a:buNone/>
            </a:pPr>
            <a:r>
              <a:rPr lang="en-US" sz="1600" b="1" dirty="0">
                <a:solidFill>
                  <a:schemeClr val="tx2"/>
                </a:solidFill>
              </a:rPr>
              <a:t>LIFT</a:t>
            </a:r>
            <a:endParaRPr lang="en-US" sz="1600" dirty="0"/>
          </a:p>
        </p:txBody>
      </p:sp>
      <p:sp>
        <p:nvSpPr>
          <p:cNvPr id="35" name="Text 27"/>
          <p:cNvSpPr txBox="1"/>
          <p:nvPr/>
        </p:nvSpPr>
        <p:spPr>
          <a:xfrm>
            <a:off x="4498848" y="4389120"/>
            <a:ext cx="3200400" cy="16916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Laser projects a ~100 mm spot onto the canopy; telescope + photodiode give PSII yield and electron transport at 5–50 m.</a:t>
            </a:r>
            <a:endParaRPr lang="en-US" sz="1300" dirty="0"/>
          </a:p>
        </p:txBody>
      </p:sp>
      <p:sp>
        <p:nvSpPr>
          <p:cNvPr id="36" name="card"/>
          <p:cNvSpPr/>
          <p:nvPr/>
        </p:nvSpPr>
        <p:spPr>
          <a:xfrm>
            <a:off x="8083296" y="3840480"/>
            <a:ext cx="3557016"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37" name="Text 29"/>
          <p:cNvSpPr txBox="1"/>
          <p:nvPr/>
        </p:nvSpPr>
        <p:spPr>
          <a:xfrm>
            <a:off x="8266176" y="3977640"/>
            <a:ext cx="3236976" cy="365760"/>
          </a:xfrm>
          <a:prstGeom prst="rect">
            <a:avLst/>
          </a:prstGeom>
          <a:noFill/>
          <a:ln/>
        </p:spPr>
        <p:txBody>
          <a:bodyPr wrap="square" lIns="0" tIns="0" rIns="0" bIns="0" rtlCol="0" anchor="ctr"/>
          <a:lstStyle/>
          <a:p>
            <a:pPr indent="0" marL="0">
              <a:buNone/>
            </a:pPr>
            <a:r>
              <a:rPr lang="en-US" sz="1600" b="1" dirty="0">
                <a:solidFill>
                  <a:schemeClr val="accent2"/>
                </a:solidFill>
              </a:rPr>
              <a:t>Passive sensing</a:t>
            </a:r>
            <a:endParaRPr lang="en-US" sz="1600" dirty="0"/>
          </a:p>
        </p:txBody>
      </p:sp>
      <p:sp>
        <p:nvSpPr>
          <p:cNvPr id="38" name="Text 30"/>
          <p:cNvSpPr txBox="1"/>
          <p:nvPr/>
        </p:nvSpPr>
        <p:spPr>
          <a:xfrm>
            <a:off x="8266176" y="4389120"/>
            <a:ext cx="3191256" cy="16916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No saturating pulse and uneven illumination, but continuous, large-area coverage → </a:t>
            </a:r>
            <a:r>
              <a:rPr lang="en-US" sz="1300" b="1" dirty="0">
                <a:solidFill>
                  <a:schemeClr val="tx1"/>
                </a:solidFill>
              </a:rPr>
              <a:t>SIF</a:t>
            </a:r>
            <a:r>
              <a:rPr lang="en-US" sz="1300" dirty="0">
                <a:solidFill>
                  <a:schemeClr val="tx1"/>
                </a:solidFill>
              </a:rPr>
              <a:t>.</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Sun-induced fluorescence (SIF)</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Measuring the same red glow passively under sunlight — from leaf to satellite. Based on Mohammed et al. (2019), '50 years of progress'</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08</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Active (PAM) vs passive (SIF) fluorescence</a:t>
            </a:r>
            <a:endParaRPr lang="en-US" sz="32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103120"/>
                <a:gridCol w="4480560"/>
                <a:gridCol w="4507992"/>
              </a:tblGrid>
              <a:tr h="566928">
                <a:tc>
                  <a:txBody>
                    <a:bodyPr/>
                    <a:lstStyle/>
                    <a:p>
                      <a:pPr indent="0" marL="0">
                        <a:buNone/>
                      </a:pPr>
                      <a:endParaRPr lang="en-US" sz="15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Active — PAM fluorometry</a:t>
                      </a:r>
                      <a:endParaRPr lang="en-US" sz="15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Passive — SIF</a:t>
                      </a:r>
                      <a:endParaRPr lang="en-US" sz="15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accent2"/>
                    </a:solidFill>
                  </a:tcPr>
                </a:tc>
              </a:tr>
              <a:tr h="566928">
                <a:tc>
                  <a:txBody>
                    <a:bodyPr/>
                    <a:lstStyle/>
                    <a:p>
                      <a:pPr indent="0" marL="0">
                        <a:buNone/>
                      </a:pPr>
                      <a:r>
                        <a:rPr lang="en-US" sz="1300" b="1" dirty="0">
                          <a:solidFill>
                            <a:schemeClr val="tx2"/>
                          </a:solidFill>
                        </a:rPr>
                        <a:t>Light source</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Instrument (ML, AL, SP, FR)</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The sun</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tx2"/>
                          </a:solidFill>
                        </a:rPr>
                        <a:t>Saturating pulse</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Yes → F</a:t>
                      </a:r>
                      <a:r>
                        <a:rPr lang="en-US" sz="1300" baseline="-40000" dirty="0">
                          <a:solidFill>
                            <a:schemeClr val="tx1"/>
                          </a:solidFill>
                        </a:rPr>
                        <a:t>m</a:t>
                      </a:r>
                      <a:r>
                        <a:rPr lang="en-US" sz="1300" dirty="0">
                          <a:solidFill>
                            <a:schemeClr val="tx1"/>
                          </a:solidFill>
                        </a:rPr>
                        <a:t>, F</a:t>
                      </a:r>
                      <a:r>
                        <a:rPr lang="en-US" sz="1300" baseline="-40000" dirty="0">
                          <a:solidFill>
                            <a:schemeClr val="tx1"/>
                          </a:solidFill>
                        </a:rPr>
                        <a:t>m</a:t>
                      </a:r>
                      <a:r>
                        <a:rPr lang="en-US" sz="1300" dirty="0">
                          <a:solidFill>
                            <a:schemeClr val="tx1"/>
                          </a:solidFill>
                        </a:rPr>
                        <a:t>′</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2"/>
                          </a:solidFill>
                        </a:rPr>
                        <a:t>What it gives</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Yields and ratios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 Φ</a:t>
                      </a:r>
                      <a:r>
                        <a:rPr lang="en-US" sz="1300" baseline="-40000" dirty="0">
                          <a:solidFill>
                            <a:schemeClr val="tx1"/>
                          </a:solidFill>
                        </a:rPr>
                        <a:t>PSII</a:t>
                      </a:r>
                      <a:r>
                        <a:rPr lang="en-US" sz="1300" dirty="0">
                          <a:solidFill>
                            <a:schemeClr val="tx1"/>
                          </a:solidFill>
                        </a:rPr>
                        <a:t>, NPQ)</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Absolute flux (mW m⁻² sr⁻¹ nm⁻¹)</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tx2"/>
                          </a:solidFill>
                        </a:rPr>
                        <a:t>Scale</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Leaf, single plants (cm–m)</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Leaf to globe (m–km)</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2"/>
                          </a:solidFill>
                        </a:rPr>
                        <a:t>Spectral bands</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Usually one broad band &gt;700 nm</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Red (~687) and far-red (~760) bands or full 650–800 nm</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tx2"/>
                          </a:solidFill>
                        </a:rPr>
                        <a:t>Main challenge</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Protocol, dark adaptation</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Signal is ~1–5 % of reflected radiance; atmosphere; canopy structure</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2"/>
                          </a:solidFill>
                        </a:rPr>
                        <a:t>Typical use</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Plant physiology, phenotyping</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GPP, stress mapping, ecosystem monitoring</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A short history of SIF</a:t>
            </a:r>
            <a:endParaRPr lang="en-US" sz="3200" dirty="0"/>
          </a:p>
        </p:txBody>
      </p:sp>
      <p:sp>
        <p:nvSpPr>
          <p:cNvPr id="4" name="timeline"/>
          <p:cNvSpPr/>
          <p:nvPr/>
        </p:nvSpPr>
        <p:spPr>
          <a:xfrm>
            <a:off x="731520" y="3657600"/>
            <a:ext cx="10728655" cy="0"/>
          </a:xfrm>
          <a:prstGeom prst="line">
            <a:avLst/>
          </a:prstGeom>
          <a:noFill/>
          <a:ln w="38100">
            <a:solidFill>
              <a:srgbClr val="123D2E"/>
            </a:solidFill>
            <a:prstDash val="solid"/>
          </a:ln>
        </p:spPr>
      </p:sp>
      <p:sp>
        <p:nvSpPr>
          <p:cNvPr id="5" name="milestone"/>
          <p:cNvSpPr/>
          <p:nvPr/>
        </p:nvSpPr>
        <p:spPr>
          <a:xfrm>
            <a:off x="603504" y="3529584"/>
            <a:ext cx="256032" cy="256032"/>
          </a:xfrm>
          <a:prstGeom prst="ellipse">
            <a:avLst/>
          </a:prstGeom>
          <a:solidFill>
            <a:schemeClr val="accent1"/>
          </a:solidFill>
          <a:ln w="25400">
            <a:solidFill>
              <a:srgbClr val="FFFFFF"/>
            </a:solidFill>
            <a:prstDash val="solid"/>
          </a:ln>
        </p:spPr>
      </p:sp>
      <p:sp>
        <p:nvSpPr>
          <p:cNvPr id="6" name="connector"/>
          <p:cNvSpPr/>
          <p:nvPr/>
        </p:nvSpPr>
        <p:spPr>
          <a:xfrm>
            <a:off x="731520" y="2834640"/>
            <a:ext cx="0" cy="694944"/>
          </a:xfrm>
          <a:prstGeom prst="line">
            <a:avLst/>
          </a:prstGeom>
          <a:noFill/>
          <a:ln w="12700">
            <a:solidFill>
              <a:srgbClr val="5E7268"/>
            </a:solidFill>
            <a:prstDash val="solid"/>
          </a:ln>
        </p:spPr>
      </p:sp>
      <p:sp>
        <p:nvSpPr>
          <p:cNvPr id="7" name="Text 4"/>
          <p:cNvSpPr txBox="1"/>
          <p:nvPr/>
        </p:nvSpPr>
        <p:spPr>
          <a:xfrm>
            <a:off x="594360" y="2468880"/>
            <a:ext cx="1371600" cy="365760"/>
          </a:xfrm>
          <a:prstGeom prst="rect">
            <a:avLst/>
          </a:prstGeom>
          <a:noFill/>
          <a:ln/>
        </p:spPr>
        <p:txBody>
          <a:bodyPr wrap="square" lIns="0" tIns="0" rIns="0" bIns="0" rtlCol="0" anchor="ctr"/>
          <a:lstStyle/>
          <a:p>
            <a:pPr algn="l" indent="0" marL="0">
              <a:buNone/>
            </a:pPr>
            <a:r>
              <a:rPr lang="en-US" sz="1600" b="1" dirty="0">
                <a:solidFill>
                  <a:schemeClr val="accent1"/>
                </a:solidFill>
              </a:rPr>
              <a:t>1834</a:t>
            </a:r>
            <a:endParaRPr lang="en-US" sz="1600" dirty="0"/>
          </a:p>
        </p:txBody>
      </p:sp>
      <p:sp>
        <p:nvSpPr>
          <p:cNvPr id="8" name="Text 5"/>
          <p:cNvSpPr txBox="1"/>
          <p:nvPr/>
        </p:nvSpPr>
        <p:spPr>
          <a:xfrm>
            <a:off x="594360" y="1508760"/>
            <a:ext cx="1371600" cy="914400"/>
          </a:xfrm>
          <a:prstGeom prst="rect">
            <a:avLst/>
          </a:prstGeom>
          <a:noFill/>
          <a:ln/>
        </p:spPr>
        <p:txBody>
          <a:bodyPr wrap="square" lIns="0" tIns="0" rIns="0" bIns="0" rtlCol="0" anchor="b"/>
          <a:lstStyle/>
          <a:p>
            <a:pPr algn="l" indent="0" marL="0">
              <a:buNone/>
            </a:pPr>
            <a:r>
              <a:rPr lang="en-US" sz="1100" dirty="0">
                <a:solidFill>
                  <a:schemeClr val="tx1"/>
                </a:solidFill>
              </a:rPr>
              <a:t>Brewster: red light from laurel leaf extract</a:t>
            </a:r>
            <a:endParaRPr lang="en-US" sz="1100" dirty="0"/>
          </a:p>
        </p:txBody>
      </p:sp>
      <p:sp>
        <p:nvSpPr>
          <p:cNvPr id="9" name="milestone"/>
          <p:cNvSpPr/>
          <p:nvPr/>
        </p:nvSpPr>
        <p:spPr>
          <a:xfrm>
            <a:off x="1578836" y="3529584"/>
            <a:ext cx="256032" cy="256032"/>
          </a:xfrm>
          <a:prstGeom prst="ellipse">
            <a:avLst/>
          </a:prstGeom>
          <a:solidFill>
            <a:schemeClr val="accent1"/>
          </a:solidFill>
          <a:ln w="25400">
            <a:solidFill>
              <a:srgbClr val="FFFFFF"/>
            </a:solidFill>
            <a:prstDash val="solid"/>
          </a:ln>
        </p:spPr>
      </p:sp>
      <p:sp>
        <p:nvSpPr>
          <p:cNvPr id="10" name="connector"/>
          <p:cNvSpPr/>
          <p:nvPr/>
        </p:nvSpPr>
        <p:spPr>
          <a:xfrm>
            <a:off x="1706852" y="3785616"/>
            <a:ext cx="0" cy="694944"/>
          </a:xfrm>
          <a:prstGeom prst="line">
            <a:avLst/>
          </a:prstGeom>
          <a:noFill/>
          <a:ln w="12700">
            <a:solidFill>
              <a:srgbClr val="5E7268"/>
            </a:solidFill>
            <a:prstDash val="solid"/>
          </a:ln>
        </p:spPr>
      </p:sp>
      <p:sp>
        <p:nvSpPr>
          <p:cNvPr id="11" name="Text 8"/>
          <p:cNvSpPr txBox="1"/>
          <p:nvPr/>
        </p:nvSpPr>
        <p:spPr>
          <a:xfrm>
            <a:off x="1021052" y="4526280"/>
            <a:ext cx="1371600" cy="365760"/>
          </a:xfrm>
          <a:prstGeom prst="rect">
            <a:avLst/>
          </a:prstGeom>
          <a:noFill/>
          <a:ln/>
        </p:spPr>
        <p:txBody>
          <a:bodyPr wrap="square" lIns="0" tIns="0" rIns="0" bIns="0" rtlCol="0" anchor="ctr"/>
          <a:lstStyle/>
          <a:p>
            <a:pPr algn="ctr" indent="0" marL="0">
              <a:buNone/>
            </a:pPr>
            <a:r>
              <a:rPr lang="en-US" sz="1600" b="1" dirty="0">
                <a:solidFill>
                  <a:schemeClr val="accent1"/>
                </a:solidFill>
              </a:rPr>
              <a:t>1852</a:t>
            </a:r>
            <a:endParaRPr lang="en-US" sz="1600" dirty="0"/>
          </a:p>
        </p:txBody>
      </p:sp>
      <p:sp>
        <p:nvSpPr>
          <p:cNvPr id="12" name="Text 9"/>
          <p:cNvSpPr txBox="1"/>
          <p:nvPr/>
        </p:nvSpPr>
        <p:spPr>
          <a:xfrm>
            <a:off x="1021052" y="4892040"/>
            <a:ext cx="1371600" cy="914400"/>
          </a:xfrm>
          <a:prstGeom prst="rect">
            <a:avLst/>
          </a:prstGeom>
          <a:noFill/>
          <a:ln/>
        </p:spPr>
        <p:txBody>
          <a:bodyPr wrap="square" lIns="0" tIns="0" rIns="0" bIns="0" rtlCol="0" anchor="t"/>
          <a:lstStyle/>
          <a:p>
            <a:pPr algn="ctr" indent="0" marL="0">
              <a:buNone/>
            </a:pPr>
            <a:r>
              <a:rPr lang="en-US" sz="1100" dirty="0">
                <a:solidFill>
                  <a:schemeClr val="tx1"/>
                </a:solidFill>
              </a:rPr>
              <a:t>Stokes coins 'fluorescence'</a:t>
            </a:r>
            <a:endParaRPr lang="en-US" sz="1100" dirty="0"/>
          </a:p>
        </p:txBody>
      </p:sp>
      <p:sp>
        <p:nvSpPr>
          <p:cNvPr id="13" name="milestone"/>
          <p:cNvSpPr/>
          <p:nvPr/>
        </p:nvSpPr>
        <p:spPr>
          <a:xfrm>
            <a:off x="2554169" y="3529584"/>
            <a:ext cx="256032" cy="256032"/>
          </a:xfrm>
          <a:prstGeom prst="ellipse">
            <a:avLst/>
          </a:prstGeom>
          <a:solidFill>
            <a:schemeClr val="accent1"/>
          </a:solidFill>
          <a:ln w="25400">
            <a:solidFill>
              <a:srgbClr val="FFFFFF"/>
            </a:solidFill>
            <a:prstDash val="solid"/>
          </a:ln>
        </p:spPr>
      </p:sp>
      <p:sp>
        <p:nvSpPr>
          <p:cNvPr id="14" name="connector"/>
          <p:cNvSpPr/>
          <p:nvPr/>
        </p:nvSpPr>
        <p:spPr>
          <a:xfrm>
            <a:off x="2682185" y="2834640"/>
            <a:ext cx="0" cy="694944"/>
          </a:xfrm>
          <a:prstGeom prst="line">
            <a:avLst/>
          </a:prstGeom>
          <a:noFill/>
          <a:ln w="12700">
            <a:solidFill>
              <a:srgbClr val="5E7268"/>
            </a:solidFill>
            <a:prstDash val="solid"/>
          </a:ln>
        </p:spPr>
      </p:sp>
      <p:sp>
        <p:nvSpPr>
          <p:cNvPr id="15" name="Text 12"/>
          <p:cNvSpPr txBox="1"/>
          <p:nvPr/>
        </p:nvSpPr>
        <p:spPr>
          <a:xfrm>
            <a:off x="1996385" y="2468880"/>
            <a:ext cx="1371600" cy="365760"/>
          </a:xfrm>
          <a:prstGeom prst="rect">
            <a:avLst/>
          </a:prstGeom>
          <a:noFill/>
          <a:ln/>
        </p:spPr>
        <p:txBody>
          <a:bodyPr wrap="square" lIns="0" tIns="0" rIns="0" bIns="0" rtlCol="0" anchor="ctr"/>
          <a:lstStyle/>
          <a:p>
            <a:pPr algn="ctr" indent="0" marL="0">
              <a:buNone/>
            </a:pPr>
            <a:r>
              <a:rPr lang="en-US" sz="1600" b="1" dirty="0">
                <a:solidFill>
                  <a:schemeClr val="accent1"/>
                </a:solidFill>
              </a:rPr>
              <a:t>1874</a:t>
            </a:r>
            <a:endParaRPr lang="en-US" sz="1600" dirty="0"/>
          </a:p>
        </p:txBody>
      </p:sp>
      <p:sp>
        <p:nvSpPr>
          <p:cNvPr id="16" name="Text 13"/>
          <p:cNvSpPr txBox="1"/>
          <p:nvPr/>
        </p:nvSpPr>
        <p:spPr>
          <a:xfrm>
            <a:off x="1996385" y="1508760"/>
            <a:ext cx="1371600" cy="914400"/>
          </a:xfrm>
          <a:prstGeom prst="rect">
            <a:avLst/>
          </a:prstGeom>
          <a:noFill/>
          <a:ln/>
        </p:spPr>
        <p:txBody>
          <a:bodyPr wrap="square" lIns="0" tIns="0" rIns="0" bIns="0" rtlCol="0" anchor="b"/>
          <a:lstStyle/>
          <a:p>
            <a:pPr algn="ctr" indent="0" marL="0">
              <a:buNone/>
            </a:pPr>
            <a:r>
              <a:rPr lang="en-US" sz="1100" dirty="0">
                <a:solidFill>
                  <a:schemeClr val="tx1"/>
                </a:solidFill>
              </a:rPr>
              <a:t>Müller: link to assimilation</a:t>
            </a:r>
            <a:endParaRPr lang="en-US" sz="1100" dirty="0"/>
          </a:p>
        </p:txBody>
      </p:sp>
      <p:sp>
        <p:nvSpPr>
          <p:cNvPr id="17" name="milestone"/>
          <p:cNvSpPr/>
          <p:nvPr/>
        </p:nvSpPr>
        <p:spPr>
          <a:xfrm>
            <a:off x="3529501" y="3529584"/>
            <a:ext cx="256032" cy="256032"/>
          </a:xfrm>
          <a:prstGeom prst="ellipse">
            <a:avLst/>
          </a:prstGeom>
          <a:solidFill>
            <a:schemeClr val="accent1"/>
          </a:solidFill>
          <a:ln w="25400">
            <a:solidFill>
              <a:srgbClr val="FFFFFF"/>
            </a:solidFill>
            <a:prstDash val="solid"/>
          </a:ln>
        </p:spPr>
      </p:sp>
      <p:sp>
        <p:nvSpPr>
          <p:cNvPr id="18" name="connector"/>
          <p:cNvSpPr/>
          <p:nvPr/>
        </p:nvSpPr>
        <p:spPr>
          <a:xfrm>
            <a:off x="3657517" y="3785616"/>
            <a:ext cx="0" cy="694944"/>
          </a:xfrm>
          <a:prstGeom prst="line">
            <a:avLst/>
          </a:prstGeom>
          <a:noFill/>
          <a:ln w="12700">
            <a:solidFill>
              <a:srgbClr val="5E7268"/>
            </a:solidFill>
            <a:prstDash val="solid"/>
          </a:ln>
        </p:spPr>
      </p:sp>
      <p:sp>
        <p:nvSpPr>
          <p:cNvPr id="19" name="Text 16"/>
          <p:cNvSpPr txBox="1"/>
          <p:nvPr/>
        </p:nvSpPr>
        <p:spPr>
          <a:xfrm>
            <a:off x="2971717" y="4526280"/>
            <a:ext cx="1371600" cy="365760"/>
          </a:xfrm>
          <a:prstGeom prst="rect">
            <a:avLst/>
          </a:prstGeom>
          <a:noFill/>
          <a:ln/>
        </p:spPr>
        <p:txBody>
          <a:bodyPr wrap="square" lIns="0" tIns="0" rIns="0" bIns="0" rtlCol="0" anchor="ctr"/>
          <a:lstStyle/>
          <a:p>
            <a:pPr algn="ctr" indent="0" marL="0">
              <a:buNone/>
            </a:pPr>
            <a:r>
              <a:rPr lang="en-US" sz="1600" b="1" dirty="0">
                <a:solidFill>
                  <a:schemeClr val="accent1"/>
                </a:solidFill>
              </a:rPr>
              <a:t>1931</a:t>
            </a:r>
            <a:endParaRPr lang="en-US" sz="1600" dirty="0"/>
          </a:p>
        </p:txBody>
      </p:sp>
      <p:sp>
        <p:nvSpPr>
          <p:cNvPr id="20" name="Text 17"/>
          <p:cNvSpPr txBox="1"/>
          <p:nvPr/>
        </p:nvSpPr>
        <p:spPr>
          <a:xfrm>
            <a:off x="2971717" y="4892040"/>
            <a:ext cx="1371600" cy="914400"/>
          </a:xfrm>
          <a:prstGeom prst="rect">
            <a:avLst/>
          </a:prstGeom>
          <a:noFill/>
          <a:ln/>
        </p:spPr>
        <p:txBody>
          <a:bodyPr wrap="square" lIns="0" tIns="0" rIns="0" bIns="0" rtlCol="0" anchor="t"/>
          <a:lstStyle/>
          <a:p>
            <a:pPr algn="ctr" indent="0" marL="0">
              <a:buNone/>
            </a:pPr>
            <a:r>
              <a:rPr lang="en-US" sz="1100" dirty="0">
                <a:solidFill>
                  <a:schemeClr val="tx1"/>
                </a:solidFill>
              </a:rPr>
              <a:t>Kautsky &amp; Hirsch: induction kinetics</a:t>
            </a:r>
            <a:endParaRPr lang="en-US" sz="1100" dirty="0"/>
          </a:p>
        </p:txBody>
      </p:sp>
      <p:sp>
        <p:nvSpPr>
          <p:cNvPr id="21" name="milestone"/>
          <p:cNvSpPr/>
          <p:nvPr/>
        </p:nvSpPr>
        <p:spPr>
          <a:xfrm>
            <a:off x="4504833" y="3529584"/>
            <a:ext cx="256032" cy="256032"/>
          </a:xfrm>
          <a:prstGeom prst="ellipse">
            <a:avLst/>
          </a:prstGeom>
          <a:solidFill>
            <a:schemeClr val="accent1"/>
          </a:solidFill>
          <a:ln w="25400">
            <a:solidFill>
              <a:srgbClr val="FFFFFF"/>
            </a:solidFill>
            <a:prstDash val="solid"/>
          </a:ln>
        </p:spPr>
      </p:sp>
      <p:sp>
        <p:nvSpPr>
          <p:cNvPr id="22" name="connector"/>
          <p:cNvSpPr/>
          <p:nvPr/>
        </p:nvSpPr>
        <p:spPr>
          <a:xfrm>
            <a:off x="4632849" y="2834640"/>
            <a:ext cx="0" cy="694944"/>
          </a:xfrm>
          <a:prstGeom prst="line">
            <a:avLst/>
          </a:prstGeom>
          <a:noFill/>
          <a:ln w="12700">
            <a:solidFill>
              <a:srgbClr val="5E7268"/>
            </a:solidFill>
            <a:prstDash val="solid"/>
          </a:ln>
        </p:spPr>
      </p:sp>
      <p:sp>
        <p:nvSpPr>
          <p:cNvPr id="23" name="Text 20"/>
          <p:cNvSpPr txBox="1"/>
          <p:nvPr/>
        </p:nvSpPr>
        <p:spPr>
          <a:xfrm>
            <a:off x="3947049" y="2468880"/>
            <a:ext cx="1371600" cy="365760"/>
          </a:xfrm>
          <a:prstGeom prst="rect">
            <a:avLst/>
          </a:prstGeom>
          <a:noFill/>
          <a:ln/>
        </p:spPr>
        <p:txBody>
          <a:bodyPr wrap="square" lIns="0" tIns="0" rIns="0" bIns="0" rtlCol="0" anchor="ctr"/>
          <a:lstStyle/>
          <a:p>
            <a:pPr algn="ctr" indent="0" marL="0">
              <a:buNone/>
            </a:pPr>
            <a:r>
              <a:rPr lang="en-US" sz="1600" b="1" dirty="0">
                <a:solidFill>
                  <a:schemeClr val="accent1"/>
                </a:solidFill>
              </a:rPr>
              <a:t>1940</a:t>
            </a:r>
            <a:endParaRPr lang="en-US" sz="1600" dirty="0"/>
          </a:p>
        </p:txBody>
      </p:sp>
      <p:sp>
        <p:nvSpPr>
          <p:cNvPr id="24" name="Text 21"/>
          <p:cNvSpPr txBox="1"/>
          <p:nvPr/>
        </p:nvSpPr>
        <p:spPr>
          <a:xfrm>
            <a:off x="3947049" y="1508760"/>
            <a:ext cx="1371600" cy="914400"/>
          </a:xfrm>
          <a:prstGeom prst="rect">
            <a:avLst/>
          </a:prstGeom>
          <a:noFill/>
          <a:ln/>
        </p:spPr>
        <p:txBody>
          <a:bodyPr wrap="square" lIns="0" tIns="0" rIns="0" bIns="0" rtlCol="0" anchor="b"/>
          <a:lstStyle/>
          <a:p>
            <a:pPr algn="ctr" indent="0" marL="0">
              <a:buNone/>
            </a:pPr>
            <a:r>
              <a:rPr lang="en-US" sz="1100" dirty="0">
                <a:solidFill>
                  <a:schemeClr val="tx1"/>
                </a:solidFill>
              </a:rPr>
              <a:t>McAlister &amp; Myers: two processes vs CO₂</a:t>
            </a:r>
            <a:endParaRPr lang="en-US" sz="1100" dirty="0"/>
          </a:p>
        </p:txBody>
      </p:sp>
      <p:sp>
        <p:nvSpPr>
          <p:cNvPr id="25" name="milestone"/>
          <p:cNvSpPr/>
          <p:nvPr/>
        </p:nvSpPr>
        <p:spPr>
          <a:xfrm>
            <a:off x="5480165" y="3529584"/>
            <a:ext cx="256032" cy="256032"/>
          </a:xfrm>
          <a:prstGeom prst="ellipse">
            <a:avLst/>
          </a:prstGeom>
          <a:solidFill>
            <a:schemeClr val="accent1"/>
          </a:solidFill>
          <a:ln w="25400">
            <a:solidFill>
              <a:srgbClr val="FFFFFF"/>
            </a:solidFill>
            <a:prstDash val="solid"/>
          </a:ln>
        </p:spPr>
      </p:sp>
      <p:sp>
        <p:nvSpPr>
          <p:cNvPr id="26" name="connector"/>
          <p:cNvSpPr/>
          <p:nvPr/>
        </p:nvSpPr>
        <p:spPr>
          <a:xfrm>
            <a:off x="5608181" y="3785616"/>
            <a:ext cx="0" cy="694944"/>
          </a:xfrm>
          <a:prstGeom prst="line">
            <a:avLst/>
          </a:prstGeom>
          <a:noFill/>
          <a:ln w="12700">
            <a:solidFill>
              <a:srgbClr val="5E7268"/>
            </a:solidFill>
            <a:prstDash val="solid"/>
          </a:ln>
        </p:spPr>
      </p:sp>
      <p:sp>
        <p:nvSpPr>
          <p:cNvPr id="27" name="Text 24"/>
          <p:cNvSpPr txBox="1"/>
          <p:nvPr/>
        </p:nvSpPr>
        <p:spPr>
          <a:xfrm>
            <a:off x="4922381" y="4526280"/>
            <a:ext cx="1371600" cy="365760"/>
          </a:xfrm>
          <a:prstGeom prst="rect">
            <a:avLst/>
          </a:prstGeom>
          <a:noFill/>
          <a:ln/>
        </p:spPr>
        <p:txBody>
          <a:bodyPr wrap="square" lIns="0" tIns="0" rIns="0" bIns="0" rtlCol="0" anchor="ctr"/>
          <a:lstStyle/>
          <a:p>
            <a:pPr algn="ctr" indent="0" marL="0">
              <a:buNone/>
            </a:pPr>
            <a:r>
              <a:rPr lang="en-US" sz="1600" b="1" dirty="0">
                <a:solidFill>
                  <a:schemeClr val="accent1"/>
                </a:solidFill>
              </a:rPr>
              <a:t>1963</a:t>
            </a:r>
            <a:endParaRPr lang="en-US" sz="1600" dirty="0"/>
          </a:p>
        </p:txBody>
      </p:sp>
      <p:sp>
        <p:nvSpPr>
          <p:cNvPr id="28" name="Text 25"/>
          <p:cNvSpPr txBox="1"/>
          <p:nvPr/>
        </p:nvSpPr>
        <p:spPr>
          <a:xfrm>
            <a:off x="4922381" y="4892040"/>
            <a:ext cx="1371600" cy="914400"/>
          </a:xfrm>
          <a:prstGeom prst="rect">
            <a:avLst/>
          </a:prstGeom>
          <a:noFill/>
          <a:ln/>
        </p:spPr>
        <p:txBody>
          <a:bodyPr wrap="square" lIns="0" tIns="0" rIns="0" bIns="0" rtlCol="0" anchor="t"/>
          <a:lstStyle/>
          <a:p>
            <a:pPr algn="ctr" indent="0" marL="0">
              <a:buNone/>
            </a:pPr>
            <a:r>
              <a:rPr lang="en-US" sz="1100" dirty="0">
                <a:solidFill>
                  <a:schemeClr val="tx1"/>
                </a:solidFill>
              </a:rPr>
              <a:t>Duysens &amp; Sweers: modulated light, NPQ concept</a:t>
            </a:r>
            <a:endParaRPr lang="en-US" sz="1100" dirty="0"/>
          </a:p>
        </p:txBody>
      </p:sp>
      <p:sp>
        <p:nvSpPr>
          <p:cNvPr id="29" name="milestone"/>
          <p:cNvSpPr/>
          <p:nvPr/>
        </p:nvSpPr>
        <p:spPr>
          <a:xfrm>
            <a:off x="6455498" y="3529584"/>
            <a:ext cx="256032" cy="256032"/>
          </a:xfrm>
          <a:prstGeom prst="ellipse">
            <a:avLst/>
          </a:prstGeom>
          <a:solidFill>
            <a:schemeClr val="accent1"/>
          </a:solidFill>
          <a:ln w="25400">
            <a:solidFill>
              <a:srgbClr val="FFFFFF"/>
            </a:solidFill>
            <a:prstDash val="solid"/>
          </a:ln>
        </p:spPr>
      </p:sp>
      <p:sp>
        <p:nvSpPr>
          <p:cNvPr id="30" name="connector"/>
          <p:cNvSpPr/>
          <p:nvPr/>
        </p:nvSpPr>
        <p:spPr>
          <a:xfrm>
            <a:off x="6583514" y="2834640"/>
            <a:ext cx="0" cy="694944"/>
          </a:xfrm>
          <a:prstGeom prst="line">
            <a:avLst/>
          </a:prstGeom>
          <a:noFill/>
          <a:ln w="12700">
            <a:solidFill>
              <a:srgbClr val="5E7268"/>
            </a:solidFill>
            <a:prstDash val="solid"/>
          </a:ln>
        </p:spPr>
      </p:sp>
      <p:sp>
        <p:nvSpPr>
          <p:cNvPr id="31" name="Text 28"/>
          <p:cNvSpPr txBox="1"/>
          <p:nvPr/>
        </p:nvSpPr>
        <p:spPr>
          <a:xfrm>
            <a:off x="5897714" y="2468880"/>
            <a:ext cx="1371600" cy="365760"/>
          </a:xfrm>
          <a:prstGeom prst="rect">
            <a:avLst/>
          </a:prstGeom>
          <a:noFill/>
          <a:ln/>
        </p:spPr>
        <p:txBody>
          <a:bodyPr wrap="square" lIns="0" tIns="0" rIns="0" bIns="0" rtlCol="0" anchor="ctr"/>
          <a:lstStyle/>
          <a:p>
            <a:pPr algn="ctr" indent="0" marL="0">
              <a:buNone/>
            </a:pPr>
            <a:r>
              <a:rPr lang="en-US" sz="1600" b="1" dirty="0">
                <a:solidFill>
                  <a:schemeClr val="accent1"/>
                </a:solidFill>
              </a:rPr>
              <a:t>1975</a:t>
            </a:r>
            <a:endParaRPr lang="en-US" sz="1600" dirty="0"/>
          </a:p>
        </p:txBody>
      </p:sp>
      <p:sp>
        <p:nvSpPr>
          <p:cNvPr id="32" name="Text 29"/>
          <p:cNvSpPr txBox="1"/>
          <p:nvPr/>
        </p:nvSpPr>
        <p:spPr>
          <a:xfrm>
            <a:off x="5897714" y="1508760"/>
            <a:ext cx="1371600" cy="914400"/>
          </a:xfrm>
          <a:prstGeom prst="rect">
            <a:avLst/>
          </a:prstGeom>
          <a:noFill/>
          <a:ln/>
        </p:spPr>
        <p:txBody>
          <a:bodyPr wrap="square" lIns="0" tIns="0" rIns="0" bIns="0" rtlCol="0" anchor="b"/>
          <a:lstStyle/>
          <a:p>
            <a:pPr algn="ctr" indent="0" marL="0">
              <a:buNone/>
            </a:pPr>
            <a:r>
              <a:rPr lang="en-US" sz="1100" dirty="0">
                <a:solidFill>
                  <a:schemeClr val="tx1"/>
                </a:solidFill>
              </a:rPr>
              <a:t>Plascyk: Fraunhofer Line Discriminator (FLD)</a:t>
            </a:r>
            <a:endParaRPr lang="en-US" sz="1100" dirty="0"/>
          </a:p>
        </p:txBody>
      </p:sp>
      <p:sp>
        <p:nvSpPr>
          <p:cNvPr id="33" name="milestone"/>
          <p:cNvSpPr/>
          <p:nvPr/>
        </p:nvSpPr>
        <p:spPr>
          <a:xfrm>
            <a:off x="7430830" y="3529584"/>
            <a:ext cx="256032" cy="256032"/>
          </a:xfrm>
          <a:prstGeom prst="ellipse">
            <a:avLst/>
          </a:prstGeom>
          <a:solidFill>
            <a:schemeClr val="accent1"/>
          </a:solidFill>
          <a:ln w="25400">
            <a:solidFill>
              <a:srgbClr val="FFFFFF"/>
            </a:solidFill>
            <a:prstDash val="solid"/>
          </a:ln>
        </p:spPr>
      </p:sp>
      <p:sp>
        <p:nvSpPr>
          <p:cNvPr id="34" name="connector"/>
          <p:cNvSpPr/>
          <p:nvPr/>
        </p:nvSpPr>
        <p:spPr>
          <a:xfrm>
            <a:off x="7558846" y="3785616"/>
            <a:ext cx="0" cy="694944"/>
          </a:xfrm>
          <a:prstGeom prst="line">
            <a:avLst/>
          </a:prstGeom>
          <a:noFill/>
          <a:ln w="12700">
            <a:solidFill>
              <a:srgbClr val="5E7268"/>
            </a:solidFill>
            <a:prstDash val="solid"/>
          </a:ln>
        </p:spPr>
      </p:sp>
      <p:sp>
        <p:nvSpPr>
          <p:cNvPr id="35" name="Text 32"/>
          <p:cNvSpPr txBox="1"/>
          <p:nvPr/>
        </p:nvSpPr>
        <p:spPr>
          <a:xfrm>
            <a:off x="6873046" y="4526280"/>
            <a:ext cx="1371600" cy="365760"/>
          </a:xfrm>
          <a:prstGeom prst="rect">
            <a:avLst/>
          </a:prstGeom>
          <a:noFill/>
          <a:ln/>
        </p:spPr>
        <p:txBody>
          <a:bodyPr wrap="square" lIns="0" tIns="0" rIns="0" bIns="0" rtlCol="0" anchor="ctr"/>
          <a:lstStyle/>
          <a:p>
            <a:pPr algn="ctr" indent="0" marL="0">
              <a:buNone/>
            </a:pPr>
            <a:r>
              <a:rPr lang="en-US" sz="1600" b="1" dirty="0">
                <a:solidFill>
                  <a:schemeClr val="accent1"/>
                </a:solidFill>
              </a:rPr>
              <a:t>1986</a:t>
            </a:r>
            <a:endParaRPr lang="en-US" sz="1600" dirty="0"/>
          </a:p>
        </p:txBody>
      </p:sp>
      <p:sp>
        <p:nvSpPr>
          <p:cNvPr id="36" name="Text 33"/>
          <p:cNvSpPr txBox="1"/>
          <p:nvPr/>
        </p:nvSpPr>
        <p:spPr>
          <a:xfrm>
            <a:off x="6873046" y="4892040"/>
            <a:ext cx="1371600" cy="914400"/>
          </a:xfrm>
          <a:prstGeom prst="rect">
            <a:avLst/>
          </a:prstGeom>
          <a:noFill/>
          <a:ln/>
        </p:spPr>
        <p:txBody>
          <a:bodyPr wrap="square" lIns="0" tIns="0" rIns="0" bIns="0" rtlCol="0" anchor="t"/>
          <a:lstStyle/>
          <a:p>
            <a:pPr algn="ctr" indent="0" marL="0">
              <a:buNone/>
            </a:pPr>
            <a:r>
              <a:rPr lang="en-US" sz="1100" dirty="0">
                <a:solidFill>
                  <a:schemeClr val="tx1"/>
                </a:solidFill>
              </a:rPr>
              <a:t>Schreiber: PAM fluorometer</a:t>
            </a:r>
            <a:endParaRPr lang="en-US" sz="1100" dirty="0"/>
          </a:p>
        </p:txBody>
      </p:sp>
      <p:sp>
        <p:nvSpPr>
          <p:cNvPr id="37" name="milestone"/>
          <p:cNvSpPr/>
          <p:nvPr/>
        </p:nvSpPr>
        <p:spPr>
          <a:xfrm>
            <a:off x="8406162" y="3529584"/>
            <a:ext cx="256032" cy="256032"/>
          </a:xfrm>
          <a:prstGeom prst="ellipse">
            <a:avLst/>
          </a:prstGeom>
          <a:solidFill>
            <a:schemeClr val="accent2"/>
          </a:solidFill>
          <a:ln w="25400">
            <a:solidFill>
              <a:srgbClr val="FFFFFF"/>
            </a:solidFill>
            <a:prstDash val="solid"/>
          </a:ln>
        </p:spPr>
      </p:sp>
      <p:sp>
        <p:nvSpPr>
          <p:cNvPr id="38" name="connector"/>
          <p:cNvSpPr/>
          <p:nvPr/>
        </p:nvSpPr>
        <p:spPr>
          <a:xfrm>
            <a:off x="8534178" y="2834640"/>
            <a:ext cx="0" cy="694944"/>
          </a:xfrm>
          <a:prstGeom prst="line">
            <a:avLst/>
          </a:prstGeom>
          <a:noFill/>
          <a:ln w="12700">
            <a:solidFill>
              <a:srgbClr val="5E7268"/>
            </a:solidFill>
            <a:prstDash val="solid"/>
          </a:ln>
        </p:spPr>
      </p:sp>
      <p:sp>
        <p:nvSpPr>
          <p:cNvPr id="39" name="Text 36"/>
          <p:cNvSpPr txBox="1"/>
          <p:nvPr/>
        </p:nvSpPr>
        <p:spPr>
          <a:xfrm>
            <a:off x="7848378" y="2468880"/>
            <a:ext cx="1371600" cy="365760"/>
          </a:xfrm>
          <a:prstGeom prst="rect">
            <a:avLst/>
          </a:prstGeom>
          <a:noFill/>
          <a:ln/>
        </p:spPr>
        <p:txBody>
          <a:bodyPr wrap="square" lIns="0" tIns="0" rIns="0" bIns="0" rtlCol="0" anchor="ctr"/>
          <a:lstStyle/>
          <a:p>
            <a:pPr algn="ctr" indent="0" marL="0">
              <a:buNone/>
            </a:pPr>
            <a:r>
              <a:rPr lang="en-US" sz="1600" b="1" dirty="0">
                <a:solidFill>
                  <a:schemeClr val="accent2"/>
                </a:solidFill>
              </a:rPr>
              <a:t>2000</a:t>
            </a:r>
            <a:endParaRPr lang="en-US" sz="1600" dirty="0"/>
          </a:p>
        </p:txBody>
      </p:sp>
      <p:sp>
        <p:nvSpPr>
          <p:cNvPr id="40" name="Text 37"/>
          <p:cNvSpPr txBox="1"/>
          <p:nvPr/>
        </p:nvSpPr>
        <p:spPr>
          <a:xfrm>
            <a:off x="7848378" y="1508760"/>
            <a:ext cx="1371600" cy="914400"/>
          </a:xfrm>
          <a:prstGeom prst="rect">
            <a:avLst/>
          </a:prstGeom>
          <a:noFill/>
          <a:ln/>
        </p:spPr>
        <p:txBody>
          <a:bodyPr wrap="square" lIns="0" tIns="0" rIns="0" bIns="0" rtlCol="0" anchor="b"/>
          <a:lstStyle/>
          <a:p>
            <a:pPr algn="ctr" indent="0" marL="0">
              <a:buNone/>
            </a:pPr>
            <a:r>
              <a:rPr lang="en-US" sz="1100" dirty="0">
                <a:solidFill>
                  <a:schemeClr val="tx1"/>
                </a:solidFill>
              </a:rPr>
              <a:t>Zarco-Tejada: SIF in canopy reflectance</a:t>
            </a:r>
            <a:endParaRPr lang="en-US" sz="1100" dirty="0"/>
          </a:p>
        </p:txBody>
      </p:sp>
      <p:sp>
        <p:nvSpPr>
          <p:cNvPr id="41" name="milestone"/>
          <p:cNvSpPr/>
          <p:nvPr/>
        </p:nvSpPr>
        <p:spPr>
          <a:xfrm>
            <a:off x="9381495" y="3529584"/>
            <a:ext cx="256032" cy="256032"/>
          </a:xfrm>
          <a:prstGeom prst="ellipse">
            <a:avLst/>
          </a:prstGeom>
          <a:solidFill>
            <a:schemeClr val="accent2"/>
          </a:solidFill>
          <a:ln w="25400">
            <a:solidFill>
              <a:srgbClr val="FFFFFF"/>
            </a:solidFill>
            <a:prstDash val="solid"/>
          </a:ln>
        </p:spPr>
      </p:sp>
      <p:sp>
        <p:nvSpPr>
          <p:cNvPr id="42" name="connector"/>
          <p:cNvSpPr/>
          <p:nvPr/>
        </p:nvSpPr>
        <p:spPr>
          <a:xfrm>
            <a:off x="9509511" y="3785616"/>
            <a:ext cx="0" cy="694944"/>
          </a:xfrm>
          <a:prstGeom prst="line">
            <a:avLst/>
          </a:prstGeom>
          <a:noFill/>
          <a:ln w="12700">
            <a:solidFill>
              <a:srgbClr val="5E7268"/>
            </a:solidFill>
            <a:prstDash val="solid"/>
          </a:ln>
        </p:spPr>
      </p:sp>
      <p:sp>
        <p:nvSpPr>
          <p:cNvPr id="43" name="Text 40"/>
          <p:cNvSpPr txBox="1"/>
          <p:nvPr/>
        </p:nvSpPr>
        <p:spPr>
          <a:xfrm>
            <a:off x="8823711" y="4526280"/>
            <a:ext cx="1371600" cy="365760"/>
          </a:xfrm>
          <a:prstGeom prst="rect">
            <a:avLst/>
          </a:prstGeom>
          <a:noFill/>
          <a:ln/>
        </p:spPr>
        <p:txBody>
          <a:bodyPr wrap="square" lIns="0" tIns="0" rIns="0" bIns="0" rtlCol="0" anchor="ctr"/>
          <a:lstStyle/>
          <a:p>
            <a:pPr algn="ctr" indent="0" marL="0">
              <a:buNone/>
            </a:pPr>
            <a:r>
              <a:rPr lang="en-US" sz="1600" b="1" dirty="0">
                <a:solidFill>
                  <a:schemeClr val="accent2"/>
                </a:solidFill>
              </a:rPr>
              <a:t>2011</a:t>
            </a:r>
            <a:endParaRPr lang="en-US" sz="1600" dirty="0"/>
          </a:p>
        </p:txBody>
      </p:sp>
      <p:sp>
        <p:nvSpPr>
          <p:cNvPr id="44" name="Text 41"/>
          <p:cNvSpPr txBox="1"/>
          <p:nvPr/>
        </p:nvSpPr>
        <p:spPr>
          <a:xfrm>
            <a:off x="8823711" y="4892040"/>
            <a:ext cx="1371600" cy="914400"/>
          </a:xfrm>
          <a:prstGeom prst="rect">
            <a:avLst/>
          </a:prstGeom>
          <a:noFill/>
          <a:ln/>
        </p:spPr>
        <p:txBody>
          <a:bodyPr wrap="square" lIns="0" tIns="0" rIns="0" bIns="0" rtlCol="0" anchor="t"/>
          <a:lstStyle/>
          <a:p>
            <a:pPr algn="ctr" indent="0" marL="0">
              <a:buNone/>
            </a:pPr>
            <a:r>
              <a:rPr lang="en-US" sz="1100" dirty="0">
                <a:solidFill>
                  <a:schemeClr val="tx1"/>
                </a:solidFill>
              </a:rPr>
              <a:t>GOSAT: first global SIF maps</a:t>
            </a:r>
            <a:endParaRPr lang="en-US" sz="1100" dirty="0"/>
          </a:p>
        </p:txBody>
      </p:sp>
      <p:sp>
        <p:nvSpPr>
          <p:cNvPr id="45" name="milestone"/>
          <p:cNvSpPr/>
          <p:nvPr/>
        </p:nvSpPr>
        <p:spPr>
          <a:xfrm>
            <a:off x="10356827" y="3529584"/>
            <a:ext cx="256032" cy="256032"/>
          </a:xfrm>
          <a:prstGeom prst="ellipse">
            <a:avLst/>
          </a:prstGeom>
          <a:solidFill>
            <a:schemeClr val="accent2"/>
          </a:solidFill>
          <a:ln w="25400">
            <a:solidFill>
              <a:srgbClr val="FFFFFF"/>
            </a:solidFill>
            <a:prstDash val="solid"/>
          </a:ln>
        </p:spPr>
      </p:sp>
      <p:sp>
        <p:nvSpPr>
          <p:cNvPr id="46" name="connector"/>
          <p:cNvSpPr/>
          <p:nvPr/>
        </p:nvSpPr>
        <p:spPr>
          <a:xfrm>
            <a:off x="10484843" y="2834640"/>
            <a:ext cx="0" cy="694944"/>
          </a:xfrm>
          <a:prstGeom prst="line">
            <a:avLst/>
          </a:prstGeom>
          <a:noFill/>
          <a:ln w="12700">
            <a:solidFill>
              <a:srgbClr val="5E7268"/>
            </a:solidFill>
            <a:prstDash val="solid"/>
          </a:ln>
        </p:spPr>
      </p:sp>
      <p:sp>
        <p:nvSpPr>
          <p:cNvPr id="47" name="Text 44"/>
          <p:cNvSpPr txBox="1"/>
          <p:nvPr/>
        </p:nvSpPr>
        <p:spPr>
          <a:xfrm>
            <a:off x="9799043" y="2468880"/>
            <a:ext cx="1371600" cy="365760"/>
          </a:xfrm>
          <a:prstGeom prst="rect">
            <a:avLst/>
          </a:prstGeom>
          <a:noFill/>
          <a:ln/>
        </p:spPr>
        <p:txBody>
          <a:bodyPr wrap="square" lIns="0" tIns="0" rIns="0" bIns="0" rtlCol="0" anchor="ctr"/>
          <a:lstStyle/>
          <a:p>
            <a:pPr algn="ctr" indent="0" marL="0">
              <a:buNone/>
            </a:pPr>
            <a:r>
              <a:rPr lang="en-US" sz="1600" b="1" dirty="0">
                <a:solidFill>
                  <a:schemeClr val="accent2"/>
                </a:solidFill>
              </a:rPr>
              <a:t>2015</a:t>
            </a:r>
            <a:endParaRPr lang="en-US" sz="1600" dirty="0"/>
          </a:p>
        </p:txBody>
      </p:sp>
      <p:sp>
        <p:nvSpPr>
          <p:cNvPr id="48" name="Text 45"/>
          <p:cNvSpPr txBox="1"/>
          <p:nvPr/>
        </p:nvSpPr>
        <p:spPr>
          <a:xfrm>
            <a:off x="9799043" y="1508760"/>
            <a:ext cx="1371600" cy="914400"/>
          </a:xfrm>
          <a:prstGeom prst="rect">
            <a:avLst/>
          </a:prstGeom>
          <a:noFill/>
          <a:ln/>
        </p:spPr>
        <p:txBody>
          <a:bodyPr wrap="square" lIns="0" tIns="0" rIns="0" bIns="0" rtlCol="0" anchor="b"/>
          <a:lstStyle/>
          <a:p>
            <a:pPr algn="ctr" indent="0" marL="0">
              <a:buNone/>
            </a:pPr>
            <a:r>
              <a:rPr lang="en-US" sz="1100" dirty="0">
                <a:solidFill>
                  <a:schemeClr val="tx1"/>
                </a:solidFill>
              </a:rPr>
              <a:t>ESA selects FLEX (8th Earth Explorer)</a:t>
            </a:r>
            <a:endParaRPr lang="en-US" sz="1100" dirty="0"/>
          </a:p>
        </p:txBody>
      </p:sp>
      <p:sp>
        <p:nvSpPr>
          <p:cNvPr id="49" name="milestone"/>
          <p:cNvSpPr/>
          <p:nvPr/>
        </p:nvSpPr>
        <p:spPr>
          <a:xfrm>
            <a:off x="11332159" y="3529584"/>
            <a:ext cx="256032" cy="256032"/>
          </a:xfrm>
          <a:prstGeom prst="ellipse">
            <a:avLst/>
          </a:prstGeom>
          <a:solidFill>
            <a:schemeClr val="accent2"/>
          </a:solidFill>
          <a:ln w="25400">
            <a:solidFill>
              <a:srgbClr val="FFFFFF"/>
            </a:solidFill>
            <a:prstDash val="solid"/>
          </a:ln>
        </p:spPr>
      </p:sp>
      <p:sp>
        <p:nvSpPr>
          <p:cNvPr id="50" name="connector"/>
          <p:cNvSpPr/>
          <p:nvPr/>
        </p:nvSpPr>
        <p:spPr>
          <a:xfrm>
            <a:off x="11460175" y="3785616"/>
            <a:ext cx="0" cy="694944"/>
          </a:xfrm>
          <a:prstGeom prst="line">
            <a:avLst/>
          </a:prstGeom>
          <a:noFill/>
          <a:ln w="12700">
            <a:solidFill>
              <a:srgbClr val="5E7268"/>
            </a:solidFill>
            <a:prstDash val="solid"/>
          </a:ln>
        </p:spPr>
      </p:sp>
      <p:sp>
        <p:nvSpPr>
          <p:cNvPr id="51" name="Text 48"/>
          <p:cNvSpPr txBox="1"/>
          <p:nvPr/>
        </p:nvSpPr>
        <p:spPr>
          <a:xfrm>
            <a:off x="10225735" y="4526280"/>
            <a:ext cx="1371600" cy="365760"/>
          </a:xfrm>
          <a:prstGeom prst="rect">
            <a:avLst/>
          </a:prstGeom>
          <a:noFill/>
          <a:ln/>
        </p:spPr>
        <p:txBody>
          <a:bodyPr wrap="square" lIns="0" tIns="0" rIns="0" bIns="0" rtlCol="0" anchor="ctr"/>
          <a:lstStyle/>
          <a:p>
            <a:pPr algn="r" indent="0" marL="0">
              <a:buNone/>
            </a:pPr>
            <a:r>
              <a:rPr lang="en-US" sz="1600" b="1" dirty="0">
                <a:solidFill>
                  <a:schemeClr val="accent2"/>
                </a:solidFill>
              </a:rPr>
              <a:t>2017</a:t>
            </a:r>
            <a:endParaRPr lang="en-US" sz="1600" dirty="0"/>
          </a:p>
        </p:txBody>
      </p:sp>
      <p:sp>
        <p:nvSpPr>
          <p:cNvPr id="52" name="Text 49"/>
          <p:cNvSpPr txBox="1"/>
          <p:nvPr/>
        </p:nvSpPr>
        <p:spPr>
          <a:xfrm>
            <a:off x="10225735" y="4892040"/>
            <a:ext cx="1371600" cy="914400"/>
          </a:xfrm>
          <a:prstGeom prst="rect">
            <a:avLst/>
          </a:prstGeom>
          <a:noFill/>
          <a:ln/>
        </p:spPr>
        <p:txBody>
          <a:bodyPr wrap="square" lIns="0" tIns="0" rIns="0" bIns="0" rtlCol="0" anchor="t"/>
          <a:lstStyle/>
          <a:p>
            <a:pPr algn="r" indent="0" marL="0">
              <a:buNone/>
            </a:pPr>
            <a:r>
              <a:rPr lang="en-US" sz="1100" dirty="0">
                <a:solidFill>
                  <a:schemeClr val="tx1"/>
                </a:solidFill>
              </a:rPr>
              <a:t>TROPOMI (Sentinel-5P) launched</a:t>
            </a:r>
            <a:endParaRPr lang="en-US" sz="1100" dirty="0"/>
          </a:p>
        </p:txBody>
      </p:sp>
      <p:sp>
        <p:nvSpPr>
          <p:cNvPr id="53" name="tag"/>
          <p:cNvSpPr/>
          <p:nvPr/>
        </p:nvSpPr>
        <p:spPr>
          <a:xfrm>
            <a:off x="548640" y="5806440"/>
            <a:ext cx="2377440" cy="292608"/>
          </a:xfrm>
          <a:prstGeom prst="roundRect">
            <a:avLst>
              <a:gd name="adj" fmla="val 50000"/>
            </a:avLst>
          </a:prstGeom>
          <a:solidFill>
            <a:schemeClr val="accent1"/>
          </a:solidFill>
          <a:ln/>
        </p:spPr>
      </p:sp>
      <p:sp>
        <p:nvSpPr>
          <p:cNvPr id="54" name="Text 51"/>
          <p:cNvSpPr txBox="1"/>
          <p:nvPr/>
        </p:nvSpPr>
        <p:spPr>
          <a:xfrm>
            <a:off x="548640" y="5806440"/>
            <a:ext cx="2377440" cy="292608"/>
          </a:xfrm>
          <a:prstGeom prst="rect">
            <a:avLst/>
          </a:prstGeom>
          <a:noFill/>
          <a:ln/>
        </p:spPr>
        <p:txBody>
          <a:bodyPr wrap="square" lIns="0" tIns="0" rIns="0" bIns="0" rtlCol="0" anchor="ctr"/>
          <a:lstStyle/>
          <a:p>
            <a:pPr algn="ctr" indent="0" marL="0">
              <a:buNone/>
            </a:pPr>
            <a:r>
              <a:rPr lang="en-US" sz="1100" b="1" dirty="0">
                <a:solidFill>
                  <a:schemeClr val="bg1"/>
                </a:solidFill>
              </a:rPr>
              <a:t>Active, leaf-level science</a:t>
            </a:r>
            <a:endParaRPr lang="en-US" sz="1100" dirty="0"/>
          </a:p>
        </p:txBody>
      </p:sp>
      <p:sp>
        <p:nvSpPr>
          <p:cNvPr id="55" name="tag"/>
          <p:cNvSpPr/>
          <p:nvPr/>
        </p:nvSpPr>
        <p:spPr>
          <a:xfrm>
            <a:off x="3108960" y="5806440"/>
            <a:ext cx="2194560" cy="292608"/>
          </a:xfrm>
          <a:prstGeom prst="roundRect">
            <a:avLst>
              <a:gd name="adj" fmla="val 50000"/>
            </a:avLst>
          </a:prstGeom>
          <a:solidFill>
            <a:schemeClr val="accent2"/>
          </a:solidFill>
          <a:ln/>
        </p:spPr>
      </p:sp>
      <p:sp>
        <p:nvSpPr>
          <p:cNvPr id="56" name="Text 53"/>
          <p:cNvSpPr txBox="1"/>
          <p:nvPr/>
        </p:nvSpPr>
        <p:spPr>
          <a:xfrm>
            <a:off x="3108960" y="5806440"/>
            <a:ext cx="2194560" cy="292608"/>
          </a:xfrm>
          <a:prstGeom prst="rect">
            <a:avLst/>
          </a:prstGeom>
          <a:noFill/>
          <a:ln/>
        </p:spPr>
        <p:txBody>
          <a:bodyPr wrap="square" lIns="0" tIns="0" rIns="0" bIns="0" rtlCol="0" anchor="ctr"/>
          <a:lstStyle/>
          <a:p>
            <a:pPr algn="ctr" indent="0" marL="0">
              <a:buNone/>
            </a:pPr>
            <a:r>
              <a:rPr lang="en-US" sz="1100" b="1" dirty="0">
                <a:solidFill>
                  <a:schemeClr val="bg1"/>
                </a:solidFill>
              </a:rPr>
              <a:t>Passive, remote sensing</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SIF emission spectrum</a:t>
            </a:r>
            <a:endParaRPr lang="en-US" sz="3200" dirty="0"/>
          </a:p>
        </p:txBody>
      </p:sp>
      <p:sp>
        <p:nvSpPr>
          <p:cNvPr id="4" name="figure frame"/>
          <p:cNvSpPr/>
          <p:nvPr/>
        </p:nvSpPr>
        <p:spPr>
          <a:xfrm>
            <a:off x="548640" y="1325880"/>
            <a:ext cx="5120640" cy="4434840"/>
          </a:xfrm>
          <a:prstGeom prst="roundRect">
            <a:avLst>
              <a:gd name="adj" fmla="val 1237"/>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Mohammed et al. (2019), Fig. 1 — energy partitioning and the leaf fluorescence spectrum (PSII + PSI contributions)">    </p:cNvPr>
          <p:cNvPicPr>
            <a:picLocks noChangeAspect="1"/>
          </p:cNvPicPr>
          <p:nvPr/>
        </p:nvPicPr>
        <p:blipFill>
          <a:blip r:embed="rId1"/>
          <a:stretch>
            <a:fillRect/>
          </a:stretch>
        </p:blipFill>
        <p:spPr>
          <a:xfrm>
            <a:off x="1062562" y="1417320"/>
            <a:ext cx="4092796" cy="4251960"/>
          </a:xfrm>
          <a:prstGeom prst="rect">
            <a:avLst/>
          </a:prstGeom>
        </p:spPr>
      </p:pic>
      <p:sp>
        <p:nvSpPr>
          <p:cNvPr id="6" name="Text 2"/>
          <p:cNvSpPr txBox="1"/>
          <p:nvPr/>
        </p:nvSpPr>
        <p:spPr>
          <a:xfrm>
            <a:off x="548640" y="5806440"/>
            <a:ext cx="5120640" cy="365760"/>
          </a:xfrm>
          <a:prstGeom prst="rect">
            <a:avLst/>
          </a:prstGeom>
          <a:noFill/>
          <a:ln/>
        </p:spPr>
        <p:txBody>
          <a:bodyPr wrap="square" lIns="0" tIns="0" rIns="0" bIns="0" rtlCol="0" anchor="t"/>
          <a:lstStyle/>
          <a:p>
            <a:pPr indent="0" marL="0">
              <a:buNone/>
            </a:pPr>
            <a:r>
              <a:rPr lang="en-US" sz="1100" i="1" dirty="0">
                <a:solidFill>
                  <a:schemeClr val="accent6"/>
                </a:solidFill>
              </a:rPr>
              <a:t>Mohammed et al. (2019), Fig. 1 — energy partitioning and the leaf fluorescence spectrum (PSII + PSI contributions)</a:t>
            </a:r>
            <a:endParaRPr lang="en-US" sz="1100" dirty="0"/>
          </a:p>
        </p:txBody>
      </p:sp>
      <p:sp>
        <p:nvSpPr>
          <p:cNvPr id="7" name="card"/>
          <p:cNvSpPr/>
          <p:nvPr/>
        </p:nvSpPr>
        <p:spPr>
          <a:xfrm>
            <a:off x="5897880" y="1325880"/>
            <a:ext cx="2788920"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8" name="Text 4"/>
          <p:cNvSpPr txBox="1"/>
          <p:nvPr/>
        </p:nvSpPr>
        <p:spPr>
          <a:xfrm>
            <a:off x="6080760" y="1463040"/>
            <a:ext cx="2468880" cy="365760"/>
          </a:xfrm>
          <a:prstGeom prst="rect">
            <a:avLst/>
          </a:prstGeom>
          <a:noFill/>
          <a:ln/>
        </p:spPr>
        <p:txBody>
          <a:bodyPr wrap="square" lIns="0" tIns="0" rIns="0" bIns="0" rtlCol="0" anchor="ctr"/>
          <a:lstStyle/>
          <a:p>
            <a:pPr indent="0" marL="0">
              <a:buNone/>
            </a:pPr>
            <a:r>
              <a:rPr lang="en-US" sz="1600" b="1" dirty="0">
                <a:solidFill>
                  <a:schemeClr val="accent2"/>
                </a:solidFill>
              </a:rPr>
              <a:t>Red peak F</a:t>
            </a:r>
            <a:r>
              <a:rPr lang="en-US" sz="1600" b="1" baseline="-40000" dirty="0">
                <a:solidFill>
                  <a:schemeClr val="accent2"/>
                </a:solidFill>
              </a:rPr>
              <a:t>685</a:t>
            </a:r>
            <a:endParaRPr lang="en-US" sz="1600" dirty="0"/>
          </a:p>
        </p:txBody>
      </p:sp>
      <p:sp>
        <p:nvSpPr>
          <p:cNvPr id="9" name="Text 5"/>
          <p:cNvSpPr txBox="1"/>
          <p:nvPr/>
        </p:nvSpPr>
        <p:spPr>
          <a:xfrm>
            <a:off x="6080760" y="1874520"/>
            <a:ext cx="2423160" cy="173736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~685–690 nm</a:t>
            </a:r>
            <a:endParaRPr lang="en-US" sz="1300" dirty="0"/>
          </a:p>
          <a:p>
            <a:pPr marL="177800" indent="-177800">
              <a:spcAft>
                <a:spcPts val="400"/>
              </a:spcAft>
              <a:buSzPct val="100000"/>
              <a:buChar char="•"/>
            </a:pPr>
            <a:r>
              <a:rPr lang="en-US" sz="1300" dirty="0">
                <a:solidFill>
                  <a:schemeClr val="tx1"/>
                </a:solidFill>
              </a:rPr>
              <a:t>Mostly </a:t>
            </a:r>
            <a:r>
              <a:rPr lang="en-US" sz="1300" b="1" dirty="0">
                <a:solidFill>
                  <a:schemeClr val="tx1"/>
                </a:solidFill>
              </a:rPr>
              <a:t>PSII</a:t>
            </a:r>
            <a:endParaRPr lang="en-US" sz="1300" dirty="0"/>
          </a:p>
          <a:p>
            <a:pPr marL="177800" indent="-177800">
              <a:spcAft>
                <a:spcPts val="400"/>
              </a:spcAft>
              <a:buSzPct val="100000"/>
              <a:buChar char="•"/>
            </a:pPr>
            <a:r>
              <a:rPr lang="en-US" sz="1300" dirty="0">
                <a:solidFill>
                  <a:schemeClr val="tx1"/>
                </a:solidFill>
              </a:rPr>
              <a:t>Strongly re-absorbed by chlorophyll</a:t>
            </a:r>
            <a:endParaRPr lang="en-US" sz="1300" dirty="0"/>
          </a:p>
        </p:txBody>
      </p:sp>
      <p:sp>
        <p:nvSpPr>
          <p:cNvPr id="10" name="card"/>
          <p:cNvSpPr/>
          <p:nvPr/>
        </p:nvSpPr>
        <p:spPr>
          <a:xfrm>
            <a:off x="8851392" y="1325880"/>
            <a:ext cx="2788920"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11" name="Text 7"/>
          <p:cNvSpPr txBox="1"/>
          <p:nvPr/>
        </p:nvSpPr>
        <p:spPr>
          <a:xfrm>
            <a:off x="9034272" y="1463040"/>
            <a:ext cx="2468880" cy="365760"/>
          </a:xfrm>
          <a:prstGeom prst="rect">
            <a:avLst/>
          </a:prstGeom>
          <a:noFill/>
          <a:ln/>
        </p:spPr>
        <p:txBody>
          <a:bodyPr wrap="square" lIns="0" tIns="0" rIns="0" bIns="0" rtlCol="0" anchor="ctr"/>
          <a:lstStyle/>
          <a:p>
            <a:pPr indent="0" marL="0">
              <a:buNone/>
            </a:pPr>
            <a:r>
              <a:rPr lang="en-US" sz="1600" b="1" dirty="0">
                <a:solidFill>
                  <a:schemeClr val="accent4"/>
                </a:solidFill>
              </a:rPr>
              <a:t>Far-red peak F</a:t>
            </a:r>
            <a:r>
              <a:rPr lang="en-US" sz="1600" b="1" baseline="-40000" dirty="0">
                <a:solidFill>
                  <a:schemeClr val="accent4"/>
                </a:solidFill>
              </a:rPr>
              <a:t>740</a:t>
            </a:r>
            <a:endParaRPr lang="en-US" sz="1600" dirty="0"/>
          </a:p>
        </p:txBody>
      </p:sp>
      <p:sp>
        <p:nvSpPr>
          <p:cNvPr id="12" name="Text 8"/>
          <p:cNvSpPr txBox="1"/>
          <p:nvPr/>
        </p:nvSpPr>
        <p:spPr>
          <a:xfrm>
            <a:off x="9034272" y="1874520"/>
            <a:ext cx="2423160" cy="173736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~730–740 nm</a:t>
            </a:r>
            <a:endParaRPr lang="en-US" sz="1300" dirty="0"/>
          </a:p>
          <a:p>
            <a:pPr marL="177800" indent="-177800">
              <a:spcAft>
                <a:spcPts val="400"/>
              </a:spcAft>
              <a:buSzPct val="100000"/>
              <a:buChar char="•"/>
            </a:pPr>
            <a:r>
              <a:rPr lang="en-US" sz="1300" b="1" dirty="0">
                <a:solidFill>
                  <a:schemeClr val="tx1"/>
                </a:solidFill>
              </a:rPr>
              <a:t>PSII + PSI</a:t>
            </a:r>
            <a:endParaRPr lang="en-US" sz="1300" dirty="0"/>
          </a:p>
          <a:p>
            <a:pPr marL="177800" indent="-177800">
              <a:spcAft>
                <a:spcPts val="400"/>
              </a:spcAft>
              <a:buSzPct val="100000"/>
              <a:buChar char="•"/>
            </a:pPr>
            <a:r>
              <a:rPr lang="en-US" sz="1300" dirty="0">
                <a:solidFill>
                  <a:schemeClr val="tx1"/>
                </a:solidFill>
              </a:rPr>
              <a:t>Escapes the canopy more easily</a:t>
            </a:r>
            <a:endParaRPr lang="en-US" sz="1300" dirty="0"/>
          </a:p>
        </p:txBody>
      </p:sp>
      <p:sp>
        <p:nvSpPr>
          <p:cNvPr id="13" name="card"/>
          <p:cNvSpPr/>
          <p:nvPr/>
        </p:nvSpPr>
        <p:spPr>
          <a:xfrm>
            <a:off x="5897880" y="3840480"/>
            <a:ext cx="5742432"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14" name="icon circle"/>
          <p:cNvSpPr/>
          <p:nvPr/>
        </p:nvSpPr>
        <p:spPr>
          <a:xfrm>
            <a:off x="6080760" y="3995928"/>
            <a:ext cx="420624" cy="420624"/>
          </a:xfrm>
          <a:prstGeom prst="ellipse">
            <a:avLst/>
          </a:prstGeom>
          <a:solidFill>
            <a:schemeClr val="accent1"/>
          </a:solidFill>
          <a:ln/>
        </p:spPr>
      </p:sp>
      <p:pic>
        <p:nvPicPr>
          <p:cNvPr id="15" name="Image 1" descr="ChartLine icon">    </p:cNvPr>
          <p:cNvPicPr>
            <a:picLocks noChangeAspect="1"/>
          </p:cNvPicPr>
          <p:nvPr/>
        </p:nvPicPr>
        <p:blipFill>
          <a:blip r:embed="rId2"/>
          <a:stretch>
            <a:fillRect/>
          </a:stretch>
        </p:blipFill>
        <p:spPr>
          <a:xfrm>
            <a:off x="6190122" y="4105290"/>
            <a:ext cx="201900" cy="201900"/>
          </a:xfrm>
          <a:prstGeom prst="rect">
            <a:avLst/>
          </a:prstGeom>
        </p:spPr>
      </p:pic>
      <p:sp>
        <p:nvSpPr>
          <p:cNvPr id="16" name="Text 11"/>
          <p:cNvSpPr txBox="1"/>
          <p:nvPr/>
        </p:nvSpPr>
        <p:spPr>
          <a:xfrm>
            <a:off x="6611112" y="3977640"/>
            <a:ext cx="4892040" cy="457200"/>
          </a:xfrm>
          <a:prstGeom prst="rect">
            <a:avLst/>
          </a:prstGeom>
          <a:noFill/>
          <a:ln/>
        </p:spPr>
        <p:txBody>
          <a:bodyPr wrap="square" lIns="0" tIns="0" rIns="0" bIns="0" rtlCol="0" anchor="ctr"/>
          <a:lstStyle/>
          <a:p>
            <a:pPr indent="0" marL="0">
              <a:buNone/>
            </a:pPr>
            <a:r>
              <a:rPr lang="en-US" sz="1600" b="1" dirty="0">
                <a:solidFill>
                  <a:schemeClr val="tx2"/>
                </a:solidFill>
              </a:rPr>
              <a:t>Key numbers &amp; terms</a:t>
            </a:r>
            <a:endParaRPr lang="en-US" sz="1600" dirty="0"/>
          </a:p>
        </p:txBody>
      </p:sp>
      <p:sp>
        <p:nvSpPr>
          <p:cNvPr id="17" name="Text 12"/>
          <p:cNvSpPr txBox="1"/>
          <p:nvPr/>
        </p:nvSpPr>
        <p:spPr>
          <a:xfrm>
            <a:off x="6080760" y="4526280"/>
            <a:ext cx="5376672" cy="155448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Fluorescence quantum yield in vivo </a:t>
            </a:r>
            <a:r>
              <a:rPr lang="en-US" sz="1300" b="1" dirty="0">
                <a:solidFill>
                  <a:schemeClr val="tx1"/>
                </a:solidFill>
              </a:rPr>
              <a:t>&lt;10 %</a:t>
            </a:r>
            <a:r>
              <a:rPr lang="en-US" sz="1300" dirty="0">
                <a:solidFill>
                  <a:schemeClr val="tx1"/>
                </a:solidFill>
              </a:rPr>
              <a:t>, typically </a:t>
            </a:r>
            <a:r>
              <a:rPr lang="en-US" sz="1300" b="1" dirty="0">
                <a:solidFill>
                  <a:schemeClr val="tx1"/>
                </a:solidFill>
              </a:rPr>
              <a:t>0.5–3 %</a:t>
            </a:r>
            <a:endParaRPr lang="en-US" sz="1300" dirty="0"/>
          </a:p>
          <a:p>
            <a:pPr marL="177800" indent="-177800">
              <a:spcAft>
                <a:spcPts val="400"/>
              </a:spcAft>
              <a:buSzPct val="100000"/>
              <a:buChar char="•"/>
            </a:pPr>
            <a:r>
              <a:rPr lang="en-US" sz="1300" dirty="0">
                <a:solidFill>
                  <a:schemeClr val="tx1"/>
                </a:solidFill>
              </a:rPr>
              <a:t>Steady-state fluorescence (F</a:t>
            </a:r>
            <a:r>
              <a:rPr lang="en-US" sz="1300" baseline="-40000" dirty="0">
                <a:solidFill>
                  <a:schemeClr val="tx1"/>
                </a:solidFill>
              </a:rPr>
              <a:t>s</a:t>
            </a:r>
            <a:r>
              <a:rPr lang="en-US" sz="1300" dirty="0">
                <a:solidFill>
                  <a:schemeClr val="tx1"/>
                </a:solidFill>
              </a:rPr>
              <a:t>, F</a:t>
            </a:r>
            <a:r>
              <a:rPr lang="en-US" sz="1300" baseline="-40000" dirty="0">
                <a:solidFill>
                  <a:schemeClr val="tx1"/>
                </a:solidFill>
              </a:rPr>
              <a:t>t</a:t>
            </a:r>
            <a:r>
              <a:rPr lang="en-US" sz="1300" dirty="0">
                <a:solidFill>
                  <a:schemeClr val="tx1"/>
                </a:solidFill>
              </a:rPr>
              <a:t>) is what SIF measures under sunlight</a:t>
            </a:r>
            <a:endParaRPr lang="en-US" sz="1300" dirty="0"/>
          </a:p>
          <a:p>
            <a:pPr marL="177800" indent="-177800">
              <a:spcAft>
                <a:spcPts val="400"/>
              </a:spcAft>
              <a:buSzPct val="100000"/>
              <a:buChar char="•"/>
            </a:pPr>
            <a:r>
              <a:rPr lang="en-US" sz="1300" dirty="0">
                <a:solidFill>
                  <a:schemeClr val="tx1"/>
                </a:solidFill>
              </a:rPr>
              <a:t>Thermal dissipation: </a:t>
            </a:r>
            <a:r>
              <a:rPr lang="en-US" sz="1300" b="1" dirty="0">
                <a:solidFill>
                  <a:schemeClr val="tx1"/>
                </a:solidFill>
              </a:rPr>
              <a:t>constitutive</a:t>
            </a:r>
            <a:r>
              <a:rPr lang="en-US" sz="1300" dirty="0">
                <a:solidFill>
                  <a:schemeClr val="tx1"/>
                </a:solidFill>
              </a:rPr>
              <a:t> (basal) + </a:t>
            </a:r>
            <a:r>
              <a:rPr lang="en-US" sz="1300" b="1" dirty="0">
                <a:solidFill>
                  <a:schemeClr val="tx1"/>
                </a:solidFill>
              </a:rPr>
              <a:t>regulated</a:t>
            </a:r>
            <a:r>
              <a:rPr lang="en-US" sz="1300" dirty="0">
                <a:solidFill>
                  <a:schemeClr val="tx1"/>
                </a:solidFill>
              </a:rPr>
              <a:t> (NPQ, xanthophyll cycle)</a:t>
            </a:r>
            <a:endParaRPr lang="en-US" sz="1300" dirty="0"/>
          </a:p>
          <a:p>
            <a:pPr marL="177800" indent="-177800">
              <a:spcAft>
                <a:spcPts val="400"/>
              </a:spcAft>
              <a:buSzPct val="100000"/>
              <a:buChar char="•"/>
            </a:pPr>
            <a:r>
              <a:rPr lang="en-US" sz="1300" dirty="0">
                <a:solidFill>
                  <a:schemeClr val="tx1"/>
                </a:solidFill>
              </a:rPr>
              <a:t>Units: mW m⁻² sr⁻¹ nm⁻¹ (radiance)</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Re-absorption and scattering: leaf to canopy</a:t>
            </a:r>
            <a:endParaRPr lang="en-US" sz="3200" dirty="0"/>
          </a:p>
        </p:txBody>
      </p:sp>
      <p:sp>
        <p:nvSpPr>
          <p:cNvPr id="4" name="figure frame"/>
          <p:cNvSpPr/>
          <p:nvPr/>
        </p:nvSpPr>
        <p:spPr>
          <a:xfrm>
            <a:off x="548640" y="1325880"/>
            <a:ext cx="6309360" cy="3474720"/>
          </a:xfrm>
          <a:prstGeom prst="roundRect">
            <a:avLst>
              <a:gd name="adj" fmla="val 1579"/>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Mohammed et al. (2019), Fig. 7 — SCOPE: (a) reflectance, (b) escape probability f_esc, (c) emitted fluorescence, (d) top-of-canopy SIF for Cab 5–80 µg cm⁻²">    </p:cNvPr>
          <p:cNvPicPr>
            <a:picLocks noChangeAspect="1"/>
          </p:cNvPicPr>
          <p:nvPr/>
        </p:nvPicPr>
        <p:blipFill>
          <a:blip r:embed="rId1"/>
          <a:stretch>
            <a:fillRect/>
          </a:stretch>
        </p:blipFill>
        <p:spPr>
          <a:xfrm>
            <a:off x="974816" y="1417320"/>
            <a:ext cx="5457009" cy="3291840"/>
          </a:xfrm>
          <a:prstGeom prst="rect">
            <a:avLst/>
          </a:prstGeom>
        </p:spPr>
      </p:pic>
      <p:sp>
        <p:nvSpPr>
          <p:cNvPr id="6" name="Text 2"/>
          <p:cNvSpPr txBox="1"/>
          <p:nvPr/>
        </p:nvSpPr>
        <p:spPr>
          <a:xfrm>
            <a:off x="548640" y="4846320"/>
            <a:ext cx="6309360" cy="502920"/>
          </a:xfrm>
          <a:prstGeom prst="rect">
            <a:avLst/>
          </a:prstGeom>
          <a:noFill/>
          <a:ln/>
        </p:spPr>
        <p:txBody>
          <a:bodyPr wrap="square" lIns="0" tIns="0" rIns="0" bIns="0" rtlCol="0" anchor="t"/>
          <a:lstStyle/>
          <a:p>
            <a:pPr indent="0" marL="0">
              <a:buNone/>
            </a:pPr>
            <a:r>
              <a:rPr lang="en-US" sz="1100" i="1" dirty="0">
                <a:solidFill>
                  <a:schemeClr val="accent6"/>
                </a:solidFill>
              </a:rPr>
              <a:t>Mohammed et al. (2019), Fig. 7 — SCOPE: (a) reflectance, (b) escape probability f_esc, (c) emitted fluorescence, (d) top-of-canopy SIF for Cab 5–80 µg cm⁻²</a:t>
            </a:r>
            <a:endParaRPr lang="en-US" sz="1100" dirty="0"/>
          </a:p>
        </p:txBody>
      </p:sp>
      <p:sp>
        <p:nvSpPr>
          <p:cNvPr id="7" name="card"/>
          <p:cNvSpPr/>
          <p:nvPr/>
        </p:nvSpPr>
        <p:spPr>
          <a:xfrm>
            <a:off x="7086600" y="1325880"/>
            <a:ext cx="4553712" cy="1828800"/>
          </a:xfrm>
          <a:prstGeom prst="roundRect">
            <a:avLst>
              <a:gd name="adj" fmla="val 4000"/>
            </a:avLst>
          </a:prstGeom>
          <a:solidFill>
            <a:schemeClr val="bg2"/>
          </a:solidFill>
          <a:ln/>
          <a:effectLst>
            <a:outerShdw sx="100000" sy="100000" kx="0" ky="0" algn="bl" rotWithShape="0" blurRad="76200" dist="25400" dir="5400000">
              <a:srgbClr val="000000">
                <a:alpha val="14000"/>
              </a:srgbClr>
            </a:outerShdw>
          </a:effectLst>
        </p:spPr>
      </p:sp>
      <p:sp>
        <p:nvSpPr>
          <p:cNvPr id="8" name="icon circle"/>
          <p:cNvSpPr/>
          <p:nvPr/>
        </p:nvSpPr>
        <p:spPr>
          <a:xfrm>
            <a:off x="7269480" y="1481328"/>
            <a:ext cx="420624" cy="420624"/>
          </a:xfrm>
          <a:prstGeom prst="ellipse">
            <a:avLst/>
          </a:prstGeom>
          <a:solidFill>
            <a:schemeClr val="accent1"/>
          </a:solidFill>
          <a:ln/>
        </p:spPr>
      </p:sp>
      <p:pic>
        <p:nvPicPr>
          <p:cNvPr id="9" name="Image 1" descr="Leaf icon">    </p:cNvPr>
          <p:cNvPicPr>
            <a:picLocks noChangeAspect="1"/>
          </p:cNvPicPr>
          <p:nvPr/>
        </p:nvPicPr>
        <p:blipFill>
          <a:blip r:embed="rId2"/>
          <a:stretch>
            <a:fillRect/>
          </a:stretch>
        </p:blipFill>
        <p:spPr>
          <a:xfrm>
            <a:off x="7378842" y="1590690"/>
            <a:ext cx="201900" cy="201900"/>
          </a:xfrm>
          <a:prstGeom prst="rect">
            <a:avLst/>
          </a:prstGeom>
        </p:spPr>
      </p:pic>
      <p:sp>
        <p:nvSpPr>
          <p:cNvPr id="10" name="Text 5"/>
          <p:cNvSpPr txBox="1"/>
          <p:nvPr/>
        </p:nvSpPr>
        <p:spPr>
          <a:xfrm>
            <a:off x="7799832" y="1463040"/>
            <a:ext cx="3703320" cy="457200"/>
          </a:xfrm>
          <a:prstGeom prst="rect">
            <a:avLst/>
          </a:prstGeom>
          <a:noFill/>
          <a:ln/>
        </p:spPr>
        <p:txBody>
          <a:bodyPr wrap="square" lIns="0" tIns="0" rIns="0" bIns="0" rtlCol="0" anchor="ctr"/>
          <a:lstStyle/>
          <a:p>
            <a:pPr indent="0" marL="0">
              <a:buNone/>
            </a:pPr>
            <a:r>
              <a:rPr lang="en-US" sz="1600" b="1" dirty="0">
                <a:solidFill>
                  <a:schemeClr val="tx2"/>
                </a:solidFill>
              </a:rPr>
              <a:t>Leaf level</a:t>
            </a:r>
            <a:endParaRPr lang="en-US" sz="1600" dirty="0"/>
          </a:p>
        </p:txBody>
      </p:sp>
      <p:sp>
        <p:nvSpPr>
          <p:cNvPr id="11" name="Text 6"/>
          <p:cNvSpPr txBox="1"/>
          <p:nvPr/>
        </p:nvSpPr>
        <p:spPr>
          <a:xfrm>
            <a:off x="7269480" y="2011680"/>
            <a:ext cx="4187952" cy="105156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Red emission overlaps chlorophyll absorption → re-absorbed</a:t>
            </a:r>
            <a:endParaRPr lang="en-US" sz="1300" dirty="0"/>
          </a:p>
          <a:p>
            <a:pPr marL="177800" indent="-177800">
              <a:spcAft>
                <a:spcPts val="400"/>
              </a:spcAft>
              <a:buSzPct val="100000"/>
              <a:buChar char="•"/>
            </a:pPr>
            <a:r>
              <a:rPr lang="en-US" sz="1300" dirty="0">
                <a:solidFill>
                  <a:schemeClr val="tx1"/>
                </a:solidFill>
              </a:rPr>
              <a:t>Red/far-red ratio ↓ as chlorophyll ↑</a:t>
            </a:r>
            <a:endParaRPr lang="en-US" sz="1300" dirty="0"/>
          </a:p>
        </p:txBody>
      </p:sp>
      <p:sp>
        <p:nvSpPr>
          <p:cNvPr id="12" name="card"/>
          <p:cNvSpPr/>
          <p:nvPr/>
        </p:nvSpPr>
        <p:spPr>
          <a:xfrm>
            <a:off x="7086600" y="3291840"/>
            <a:ext cx="4553712" cy="2057400"/>
          </a:xfrm>
          <a:prstGeom prst="roundRect">
            <a:avLst>
              <a:gd name="adj" fmla="val 3556"/>
            </a:avLst>
          </a:prstGeom>
          <a:solidFill>
            <a:schemeClr val="bg2"/>
          </a:solidFill>
          <a:ln/>
          <a:effectLst>
            <a:outerShdw sx="100000" sy="100000" kx="0" ky="0" algn="bl" rotWithShape="0" blurRad="76200" dist="25400" dir="5400000">
              <a:srgbClr val="000000">
                <a:alpha val="14000"/>
              </a:srgbClr>
            </a:outerShdw>
          </a:effectLst>
        </p:spPr>
      </p:sp>
      <p:sp>
        <p:nvSpPr>
          <p:cNvPr id="13" name="icon circle"/>
          <p:cNvSpPr/>
          <p:nvPr/>
        </p:nvSpPr>
        <p:spPr>
          <a:xfrm>
            <a:off x="7269480" y="3447288"/>
            <a:ext cx="420624" cy="420624"/>
          </a:xfrm>
          <a:prstGeom prst="ellipse">
            <a:avLst/>
          </a:prstGeom>
          <a:solidFill>
            <a:schemeClr val="accent5"/>
          </a:solidFill>
          <a:ln/>
        </p:spPr>
      </p:sp>
      <p:pic>
        <p:nvPicPr>
          <p:cNvPr id="14" name="Image 2" descr="Tree icon">    </p:cNvPr>
          <p:cNvPicPr>
            <a:picLocks noChangeAspect="1"/>
          </p:cNvPicPr>
          <p:nvPr/>
        </p:nvPicPr>
        <p:blipFill>
          <a:blip r:embed="rId3"/>
          <a:stretch>
            <a:fillRect/>
          </a:stretch>
        </p:blipFill>
        <p:spPr>
          <a:xfrm>
            <a:off x="7378842" y="3556650"/>
            <a:ext cx="201900" cy="201900"/>
          </a:xfrm>
          <a:prstGeom prst="rect">
            <a:avLst/>
          </a:prstGeom>
        </p:spPr>
      </p:pic>
      <p:sp>
        <p:nvSpPr>
          <p:cNvPr id="15" name="Text 9"/>
          <p:cNvSpPr txBox="1"/>
          <p:nvPr/>
        </p:nvSpPr>
        <p:spPr>
          <a:xfrm>
            <a:off x="7799832" y="3429000"/>
            <a:ext cx="3703320" cy="457200"/>
          </a:xfrm>
          <a:prstGeom prst="rect">
            <a:avLst/>
          </a:prstGeom>
          <a:noFill/>
          <a:ln/>
        </p:spPr>
        <p:txBody>
          <a:bodyPr wrap="square" lIns="0" tIns="0" rIns="0" bIns="0" rtlCol="0" anchor="ctr"/>
          <a:lstStyle/>
          <a:p>
            <a:pPr indent="0" marL="0">
              <a:buNone/>
            </a:pPr>
            <a:r>
              <a:rPr lang="en-US" sz="1600" b="1" dirty="0">
                <a:solidFill>
                  <a:schemeClr val="tx2"/>
                </a:solidFill>
              </a:rPr>
              <a:t>Canopy level</a:t>
            </a:r>
            <a:endParaRPr lang="en-US" sz="1600" dirty="0"/>
          </a:p>
        </p:txBody>
      </p:sp>
      <p:sp>
        <p:nvSpPr>
          <p:cNvPr id="16" name="Text 10"/>
          <p:cNvSpPr txBox="1"/>
          <p:nvPr/>
        </p:nvSpPr>
        <p:spPr>
          <a:xfrm>
            <a:off x="7269480" y="3977640"/>
            <a:ext cx="4187952" cy="128016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Escape probability </a:t>
            </a:r>
            <a:r>
              <a:rPr lang="en-US" sz="1300" b="1" dirty="0">
                <a:solidFill>
                  <a:schemeClr val="tx1"/>
                </a:solidFill>
              </a:rPr>
              <a:t>f</a:t>
            </a:r>
            <a:r>
              <a:rPr lang="en-US" sz="1300" b="1" baseline="-40000" dirty="0">
                <a:solidFill>
                  <a:schemeClr val="tx1"/>
                </a:solidFill>
              </a:rPr>
              <a:t>esc</a:t>
            </a:r>
            <a:r>
              <a:rPr lang="en-US" sz="1300" dirty="0">
                <a:solidFill>
                  <a:schemeClr val="tx1"/>
                </a:solidFill>
              </a:rPr>
              <a:t> ≈ shape of reflectance</a:t>
            </a:r>
            <a:endParaRPr lang="en-US" sz="1300" dirty="0"/>
          </a:p>
          <a:p>
            <a:pPr marL="177800" indent="-177800">
              <a:spcAft>
                <a:spcPts val="400"/>
              </a:spcAft>
              <a:buSzPct val="100000"/>
              <a:buChar char="•"/>
            </a:pPr>
            <a:r>
              <a:rPr lang="en-US" sz="1300" dirty="0">
                <a:solidFill>
                  <a:schemeClr val="tx1"/>
                </a:solidFill>
              </a:rPr>
              <a:t>LAI, leaf angle, clumping, sun/shade leaves change SIF</a:t>
            </a:r>
            <a:endParaRPr lang="en-US" sz="1300" dirty="0"/>
          </a:p>
          <a:p>
            <a:pPr marL="177800" indent="-177800">
              <a:spcAft>
                <a:spcPts val="400"/>
              </a:spcAft>
              <a:buSzPct val="100000"/>
              <a:buChar char="•"/>
            </a:pPr>
            <a:r>
              <a:rPr lang="en-US" sz="1300" dirty="0">
                <a:solidFill>
                  <a:schemeClr val="tx1"/>
                </a:solidFill>
              </a:rPr>
              <a:t>Only a little red SIF leaves the shaded side of leaves</a:t>
            </a:r>
            <a:endParaRPr lang="en-US" sz="1300" dirty="0"/>
          </a:p>
        </p:txBody>
      </p:sp>
      <p:sp>
        <p:nvSpPr>
          <p:cNvPr id="17" name="insight"/>
          <p:cNvSpPr/>
          <p:nvPr/>
        </p:nvSpPr>
        <p:spPr>
          <a:xfrm>
            <a:off x="548640" y="5486400"/>
            <a:ext cx="11091672" cy="685800"/>
          </a:xfrm>
          <a:prstGeom prst="roundRect">
            <a:avLst>
              <a:gd name="adj" fmla="val 10667"/>
            </a:avLst>
          </a:prstGeom>
          <a:solidFill>
            <a:schemeClr val="bg2"/>
          </a:solidFill>
          <a:ln/>
        </p:spPr>
      </p:sp>
      <p:sp>
        <p:nvSpPr>
          <p:cNvPr id="18" name="Text 12"/>
          <p:cNvSpPr txBox="1"/>
          <p:nvPr/>
        </p:nvSpPr>
        <p:spPr>
          <a:xfrm>
            <a:off x="731520" y="5513832"/>
            <a:ext cx="10698480" cy="640080"/>
          </a:xfrm>
          <a:prstGeom prst="rect">
            <a:avLst/>
          </a:prstGeom>
          <a:noFill/>
          <a:ln/>
        </p:spPr>
        <p:txBody>
          <a:bodyPr wrap="square" lIns="508" tIns="508" rIns="508" bIns="508" rtlCol="0" anchor="ctr"/>
          <a:lstStyle/>
          <a:p>
            <a:pPr indent="0" marL="0">
              <a:spcAft>
                <a:spcPts val="600"/>
              </a:spcAft>
              <a:buNone/>
            </a:pPr>
            <a:r>
              <a:rPr lang="en-US" sz="1400" b="1" dirty="0">
                <a:solidFill>
                  <a:schemeClr val="tx1"/>
                </a:solidFill>
              </a:rPr>
              <a:t>Consequence:</a:t>
            </a:r>
            <a:r>
              <a:rPr lang="en-US" sz="1400" dirty="0">
                <a:solidFill>
                  <a:schemeClr val="tx1"/>
                </a:solidFill>
              </a:rPr>
              <a:t> a change in SIF may come from physiology </a:t>
            </a:r>
            <a:r>
              <a:rPr lang="en-US" sz="1400" b="1" dirty="0">
                <a:solidFill>
                  <a:schemeClr val="tx1"/>
                </a:solidFill>
              </a:rPr>
              <a:t>or</a:t>
            </a:r>
            <a:r>
              <a:rPr lang="en-US" sz="1400" dirty="0">
                <a:solidFill>
                  <a:schemeClr val="tx1"/>
                </a:solidFill>
              </a:rPr>
              <a:t> from structure and pigments — models are needed to tell them apart.</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core difficulty: SIF is tiny compared with reflected light</a:t>
            </a:r>
            <a:endParaRPr lang="en-US" sz="3200" dirty="0"/>
          </a:p>
        </p:txBody>
      </p:sp>
      <p:sp>
        <p:nvSpPr>
          <p:cNvPr id="4" name="figure frame"/>
          <p:cNvSpPr/>
          <p:nvPr/>
        </p:nvSpPr>
        <p:spPr>
          <a:xfrm>
            <a:off x="548640" y="1325880"/>
            <a:ext cx="5943600" cy="4297680"/>
          </a:xfrm>
          <a:prstGeom prst="roundRect">
            <a:avLst>
              <a:gd name="adj" fmla="val 1277"/>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Mohammed et al. (2019), Fig. 8 — SIF (red, right axis %) vs total radiance (grey) at 0.1 nm; insets: O₂-B (left) and O₂-A (right)">    </p:cNvPr>
          <p:cNvPicPr>
            <a:picLocks noChangeAspect="1"/>
          </p:cNvPicPr>
          <p:nvPr/>
        </p:nvPicPr>
        <p:blipFill>
          <a:blip r:embed="rId1"/>
          <a:stretch>
            <a:fillRect/>
          </a:stretch>
        </p:blipFill>
        <p:spPr>
          <a:xfrm>
            <a:off x="1280926" y="1417320"/>
            <a:ext cx="4479029" cy="4114800"/>
          </a:xfrm>
          <a:prstGeom prst="rect">
            <a:avLst/>
          </a:prstGeom>
        </p:spPr>
      </p:pic>
      <p:sp>
        <p:nvSpPr>
          <p:cNvPr id="6" name="Text 2"/>
          <p:cNvSpPr txBox="1"/>
          <p:nvPr/>
        </p:nvSpPr>
        <p:spPr>
          <a:xfrm>
            <a:off x="548640" y="5669280"/>
            <a:ext cx="5943600" cy="502920"/>
          </a:xfrm>
          <a:prstGeom prst="rect">
            <a:avLst/>
          </a:prstGeom>
          <a:noFill/>
          <a:ln/>
        </p:spPr>
        <p:txBody>
          <a:bodyPr wrap="square" lIns="0" tIns="0" rIns="0" bIns="0" rtlCol="0" anchor="t"/>
          <a:lstStyle/>
          <a:p>
            <a:pPr indent="0" marL="0">
              <a:buNone/>
            </a:pPr>
            <a:r>
              <a:rPr lang="en-US" sz="1100" i="1" dirty="0">
                <a:solidFill>
                  <a:schemeClr val="accent6"/>
                </a:solidFill>
              </a:rPr>
              <a:t>Mohammed et al. (2019), Fig. 8 — SIF (red, right axis %) vs total radiance (grey) at 0.1 nm; insets: O₂-B (left) and O₂-A (right)</a:t>
            </a:r>
            <a:endParaRPr lang="en-US" sz="1100" dirty="0"/>
          </a:p>
        </p:txBody>
      </p:sp>
      <p:sp>
        <p:nvSpPr>
          <p:cNvPr id="7" name="card"/>
          <p:cNvSpPr/>
          <p:nvPr/>
        </p:nvSpPr>
        <p:spPr>
          <a:xfrm>
            <a:off x="6720840" y="1325880"/>
            <a:ext cx="2377440" cy="2011680"/>
          </a:xfrm>
          <a:prstGeom prst="roundRect">
            <a:avLst>
              <a:gd name="adj" fmla="val 3636"/>
            </a:avLst>
          </a:prstGeom>
          <a:solidFill>
            <a:schemeClr val="tx2"/>
          </a:solidFill>
          <a:ln/>
          <a:effectLst>
            <a:outerShdw sx="100000" sy="100000" kx="0" ky="0" algn="bl" rotWithShape="0" blurRad="76200" dist="25400" dir="5400000">
              <a:srgbClr val="000000">
                <a:alpha val="14000"/>
              </a:srgbClr>
            </a:outerShdw>
          </a:effectLst>
        </p:spPr>
      </p:sp>
      <p:sp>
        <p:nvSpPr>
          <p:cNvPr id="8" name="Text 4"/>
          <p:cNvSpPr txBox="1"/>
          <p:nvPr/>
        </p:nvSpPr>
        <p:spPr>
          <a:xfrm>
            <a:off x="6720840" y="1417320"/>
            <a:ext cx="2377440" cy="914400"/>
          </a:xfrm>
          <a:prstGeom prst="rect">
            <a:avLst/>
          </a:prstGeom>
          <a:noFill/>
          <a:ln/>
        </p:spPr>
        <p:txBody>
          <a:bodyPr wrap="square" lIns="0" tIns="0" rIns="0" bIns="0" rtlCol="0" anchor="ctr"/>
          <a:lstStyle/>
          <a:p>
            <a:pPr algn="ctr" indent="0" marL="0">
              <a:buNone/>
            </a:pPr>
            <a:r>
              <a:rPr lang="en-US" sz="3600" b="1" dirty="0">
                <a:solidFill>
                  <a:schemeClr val="bg1"/>
                </a:solidFill>
              </a:rPr>
              <a:t>~1–5 %</a:t>
            </a:r>
            <a:endParaRPr lang="en-US" sz="3600" dirty="0"/>
          </a:p>
        </p:txBody>
      </p:sp>
      <p:sp>
        <p:nvSpPr>
          <p:cNvPr id="9" name="Text 5"/>
          <p:cNvSpPr txBox="1"/>
          <p:nvPr/>
        </p:nvSpPr>
        <p:spPr>
          <a:xfrm>
            <a:off x="6858000" y="2331720"/>
            <a:ext cx="2103120" cy="868680"/>
          </a:xfrm>
          <a:prstGeom prst="rect">
            <a:avLst/>
          </a:prstGeom>
          <a:noFill/>
          <a:ln/>
        </p:spPr>
        <p:txBody>
          <a:bodyPr wrap="square" lIns="0" tIns="0" rIns="0" bIns="0" rtlCol="0" anchor="t"/>
          <a:lstStyle/>
          <a:p>
            <a:pPr algn="ctr" indent="0" marL="0">
              <a:buNone/>
            </a:pPr>
            <a:r>
              <a:rPr lang="en-US" sz="1200" dirty="0">
                <a:solidFill>
                  <a:schemeClr val="bg2"/>
                </a:solidFill>
              </a:rPr>
              <a:t>of total radiance outside absorption bands</a:t>
            </a:r>
            <a:endParaRPr lang="en-US" sz="1200" dirty="0"/>
          </a:p>
        </p:txBody>
      </p:sp>
      <p:sp>
        <p:nvSpPr>
          <p:cNvPr id="10" name="card"/>
          <p:cNvSpPr/>
          <p:nvPr/>
        </p:nvSpPr>
        <p:spPr>
          <a:xfrm>
            <a:off x="9262872" y="1325880"/>
            <a:ext cx="2377440" cy="2011680"/>
          </a:xfrm>
          <a:prstGeom prst="roundRect">
            <a:avLst>
              <a:gd name="adj" fmla="val 3636"/>
            </a:avLst>
          </a:prstGeom>
          <a:solidFill>
            <a:schemeClr val="accent2"/>
          </a:solidFill>
          <a:ln/>
          <a:effectLst>
            <a:outerShdw sx="100000" sy="100000" kx="0" ky="0" algn="bl" rotWithShape="0" blurRad="76200" dist="25400" dir="5400000">
              <a:srgbClr val="000000">
                <a:alpha val="14000"/>
              </a:srgbClr>
            </a:outerShdw>
          </a:effectLst>
        </p:spPr>
      </p:sp>
      <p:sp>
        <p:nvSpPr>
          <p:cNvPr id="11" name="Text 7"/>
          <p:cNvSpPr txBox="1"/>
          <p:nvPr/>
        </p:nvSpPr>
        <p:spPr>
          <a:xfrm>
            <a:off x="9262872" y="1417320"/>
            <a:ext cx="2377440" cy="914400"/>
          </a:xfrm>
          <a:prstGeom prst="rect">
            <a:avLst/>
          </a:prstGeom>
          <a:noFill/>
          <a:ln/>
        </p:spPr>
        <p:txBody>
          <a:bodyPr wrap="square" lIns="0" tIns="0" rIns="0" bIns="0" rtlCol="0" anchor="ctr"/>
          <a:lstStyle/>
          <a:p>
            <a:pPr algn="ctr" indent="0" marL="0">
              <a:buNone/>
            </a:pPr>
            <a:r>
              <a:rPr lang="en-US" sz="3600" b="1" dirty="0">
                <a:solidFill>
                  <a:schemeClr val="bg1"/>
                </a:solidFill>
              </a:rPr>
              <a:t>&gt;10 %</a:t>
            </a:r>
            <a:endParaRPr lang="en-US" sz="3600" dirty="0"/>
          </a:p>
        </p:txBody>
      </p:sp>
      <p:sp>
        <p:nvSpPr>
          <p:cNvPr id="12" name="Text 8"/>
          <p:cNvSpPr txBox="1"/>
          <p:nvPr/>
        </p:nvSpPr>
        <p:spPr>
          <a:xfrm>
            <a:off x="9400032" y="2331720"/>
            <a:ext cx="2103120" cy="868680"/>
          </a:xfrm>
          <a:prstGeom prst="rect">
            <a:avLst/>
          </a:prstGeom>
          <a:noFill/>
          <a:ln/>
        </p:spPr>
        <p:txBody>
          <a:bodyPr wrap="square" lIns="0" tIns="0" rIns="0" bIns="0" rtlCol="0" anchor="t"/>
          <a:lstStyle/>
          <a:p>
            <a:pPr algn="ctr" indent="0" marL="0">
              <a:buNone/>
            </a:pPr>
            <a:r>
              <a:rPr lang="en-US" sz="1200" dirty="0">
                <a:solidFill>
                  <a:schemeClr val="bg1"/>
                </a:solidFill>
              </a:rPr>
              <a:t>inside the O₂-A and O₂-B bands</a:t>
            </a:r>
            <a:endParaRPr lang="en-US" sz="1200" dirty="0"/>
          </a:p>
        </p:txBody>
      </p:sp>
      <p:sp>
        <p:nvSpPr>
          <p:cNvPr id="13" name="card"/>
          <p:cNvSpPr/>
          <p:nvPr/>
        </p:nvSpPr>
        <p:spPr>
          <a:xfrm>
            <a:off x="6720840" y="3520440"/>
            <a:ext cx="4919472" cy="2651760"/>
          </a:xfrm>
          <a:prstGeom prst="roundRect">
            <a:avLst>
              <a:gd name="adj" fmla="val 2759"/>
            </a:avLst>
          </a:prstGeom>
          <a:solidFill>
            <a:schemeClr val="bg2"/>
          </a:solidFill>
          <a:ln/>
          <a:effectLst>
            <a:outerShdw sx="100000" sy="100000" kx="0" ky="0" algn="bl" rotWithShape="0" blurRad="76200" dist="25400" dir="5400000">
              <a:srgbClr val="000000">
                <a:alpha val="14000"/>
              </a:srgbClr>
            </a:outerShdw>
          </a:effectLst>
        </p:spPr>
      </p:sp>
      <p:sp>
        <p:nvSpPr>
          <p:cNvPr id="14" name="icon circle"/>
          <p:cNvSpPr/>
          <p:nvPr/>
        </p:nvSpPr>
        <p:spPr>
          <a:xfrm>
            <a:off x="6903720" y="3675888"/>
            <a:ext cx="420624" cy="420624"/>
          </a:xfrm>
          <a:prstGeom prst="ellipse">
            <a:avLst/>
          </a:prstGeom>
          <a:solidFill>
            <a:schemeClr val="accent3"/>
          </a:solidFill>
          <a:ln/>
        </p:spPr>
      </p:sp>
      <p:pic>
        <p:nvPicPr>
          <p:cNvPr id="15" name="Image 1" descr="Lightbulb icon">    </p:cNvPr>
          <p:cNvPicPr>
            <a:picLocks noChangeAspect="1"/>
          </p:cNvPicPr>
          <p:nvPr/>
        </p:nvPicPr>
        <p:blipFill>
          <a:blip r:embed="rId2"/>
          <a:stretch>
            <a:fillRect/>
          </a:stretch>
        </p:blipFill>
        <p:spPr>
          <a:xfrm>
            <a:off x="7013082" y="3785250"/>
            <a:ext cx="201900" cy="201900"/>
          </a:xfrm>
          <a:prstGeom prst="rect">
            <a:avLst/>
          </a:prstGeom>
        </p:spPr>
      </p:pic>
      <p:sp>
        <p:nvSpPr>
          <p:cNvPr id="16" name="Text 11"/>
          <p:cNvSpPr txBox="1"/>
          <p:nvPr/>
        </p:nvSpPr>
        <p:spPr>
          <a:xfrm>
            <a:off x="7434072" y="3657600"/>
            <a:ext cx="4069080" cy="457200"/>
          </a:xfrm>
          <a:prstGeom prst="rect">
            <a:avLst/>
          </a:prstGeom>
          <a:noFill/>
          <a:ln/>
        </p:spPr>
        <p:txBody>
          <a:bodyPr wrap="square" lIns="0" tIns="0" rIns="0" bIns="0" rtlCol="0" anchor="ctr"/>
          <a:lstStyle/>
          <a:p>
            <a:pPr indent="0" marL="0">
              <a:buNone/>
            </a:pPr>
            <a:r>
              <a:rPr lang="en-US" sz="1600" b="1" dirty="0">
                <a:solidFill>
                  <a:schemeClr val="tx2"/>
                </a:solidFill>
              </a:rPr>
              <a:t>Why the bands help</a:t>
            </a:r>
            <a:endParaRPr lang="en-US" sz="1600" dirty="0"/>
          </a:p>
        </p:txBody>
      </p:sp>
      <p:sp>
        <p:nvSpPr>
          <p:cNvPr id="17" name="Text 12"/>
          <p:cNvSpPr txBox="1"/>
          <p:nvPr/>
        </p:nvSpPr>
        <p:spPr>
          <a:xfrm>
            <a:off x="6903720" y="4206240"/>
            <a:ext cx="4553712" cy="187452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Inside a band the sun's light is strongly attenuated → reflected radiance is low</a:t>
            </a:r>
            <a:endParaRPr lang="en-US" sz="1300" dirty="0"/>
          </a:p>
          <a:p>
            <a:pPr marL="177800" indent="-177800">
              <a:spcAft>
                <a:spcPts val="400"/>
              </a:spcAft>
              <a:buSzPct val="100000"/>
              <a:buChar char="•"/>
            </a:pPr>
            <a:r>
              <a:rPr lang="en-US" sz="1300" dirty="0">
                <a:solidFill>
                  <a:schemeClr val="tx1"/>
                </a:solidFill>
              </a:rPr>
              <a:t>Fluorescence is emitted at all wavelengths → it </a:t>
            </a:r>
            <a:r>
              <a:rPr lang="en-US" sz="1300" b="1" dirty="0">
                <a:solidFill>
                  <a:schemeClr val="tx1"/>
                </a:solidFill>
              </a:rPr>
              <a:t>fills in</a:t>
            </a:r>
            <a:r>
              <a:rPr lang="en-US" sz="1300" dirty="0">
                <a:solidFill>
                  <a:schemeClr val="tx1"/>
                </a:solidFill>
              </a:rPr>
              <a:t> the band</a:t>
            </a:r>
            <a:endParaRPr lang="en-US" sz="1300" dirty="0"/>
          </a:p>
          <a:p>
            <a:pPr marL="177800" indent="-177800">
              <a:spcAft>
                <a:spcPts val="400"/>
              </a:spcAft>
              <a:buSzPct val="100000"/>
              <a:buChar char="•"/>
            </a:pPr>
            <a:r>
              <a:rPr lang="en-US" sz="1300" dirty="0">
                <a:solidFill>
                  <a:schemeClr val="tx1"/>
                </a:solidFill>
              </a:rPr>
              <a:t>Red: SIF fraction high (reflectance is low) despite re-absorption</a:t>
            </a:r>
            <a:endParaRPr lang="en-US" sz="1300" dirty="0"/>
          </a:p>
          <a:p>
            <a:pPr marL="177800" indent="-177800">
              <a:spcAft>
                <a:spcPts val="400"/>
              </a:spcAft>
              <a:buSzPct val="100000"/>
              <a:buChar char="•"/>
            </a:pPr>
            <a:r>
              <a:rPr lang="en-US" sz="1300" dirty="0">
                <a:solidFill>
                  <a:schemeClr val="tx1"/>
                </a:solidFill>
              </a:rPr>
              <a:t>Needs high spectral resolution (sub-nm) and high SNR</a:t>
            </a:r>
            <a:endParaRPr lang="en-US" sz="1300" dirty="0"/>
          </a:p>
        </p:txBody>
      </p:sp>
      <p:sp>
        <p:nvSpPr>
          <p:cNvPr id="18" name="Text 13"/>
          <p:cNvSpPr txBox="1"/>
          <p:nvPr/>
        </p:nvSpPr>
        <p:spPr>
          <a:xfrm>
            <a:off x="6720840" y="3337560"/>
            <a:ext cx="4937760" cy="228600"/>
          </a:xfrm>
          <a:prstGeom prst="rect">
            <a:avLst/>
          </a:prstGeom>
          <a:noFill/>
          <a:ln/>
        </p:spPr>
        <p:txBody>
          <a:bodyPr wrap="square" lIns="508" tIns="508" rIns="508" bIns="508" rtlCol="0" anchor="t"/>
          <a:lstStyle/>
          <a:p>
            <a:pPr indent="0" marL="0">
              <a:spcAft>
                <a:spcPts val="600"/>
              </a:spcAft>
              <a:buNone/>
            </a:pPr>
            <a:r>
              <a:rPr lang="en-US" sz="1100" i="1" dirty="0">
                <a:solidFill>
                  <a:schemeClr val="accent6"/>
                </a:solidFill>
              </a:rPr>
              <a:t>1–5 % is an approximate range for the overall contribution.</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Where to look: Fraunhofer lines and oxygen bands</a:t>
            </a:r>
            <a:endParaRPr lang="en-US" sz="3200" dirty="0"/>
          </a:p>
        </p:txBody>
      </p:sp>
      <p:sp>
        <p:nvSpPr>
          <p:cNvPr id="4" name="figure frame"/>
          <p:cNvSpPr/>
          <p:nvPr/>
        </p:nvSpPr>
        <p:spPr>
          <a:xfrm>
            <a:off x="548640" y="1325880"/>
            <a:ext cx="6583680" cy="2286000"/>
          </a:xfrm>
          <a:prstGeom prst="roundRect">
            <a:avLst>
              <a:gd name="adj" fmla="val 2400"/>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Mohammed et al. (2019), Fig. 4 — olive canopy radiance showing O₂-B and O₂-A (left) and the O₂-A band in detail (right)">    </p:cNvPr>
          <p:cNvPicPr>
            <a:picLocks noChangeAspect="1"/>
          </p:cNvPicPr>
          <p:nvPr/>
        </p:nvPicPr>
        <p:blipFill>
          <a:blip r:embed="rId1"/>
          <a:stretch>
            <a:fillRect/>
          </a:stretch>
        </p:blipFill>
        <p:spPr>
          <a:xfrm>
            <a:off x="1091520" y="1417320"/>
            <a:ext cx="5497920" cy="2103120"/>
          </a:xfrm>
          <a:prstGeom prst="rect">
            <a:avLst/>
          </a:prstGeom>
        </p:spPr>
      </p:pic>
      <p:sp>
        <p:nvSpPr>
          <p:cNvPr id="6" name="Text 2"/>
          <p:cNvSpPr txBox="1"/>
          <p:nvPr/>
        </p:nvSpPr>
        <p:spPr>
          <a:xfrm>
            <a:off x="548640" y="3657600"/>
            <a:ext cx="6583680" cy="411480"/>
          </a:xfrm>
          <a:prstGeom prst="rect">
            <a:avLst/>
          </a:prstGeom>
          <a:noFill/>
          <a:ln/>
        </p:spPr>
        <p:txBody>
          <a:bodyPr wrap="square" lIns="0" tIns="0" rIns="0" bIns="0" rtlCol="0" anchor="t"/>
          <a:lstStyle/>
          <a:p>
            <a:pPr indent="0" marL="0">
              <a:buNone/>
            </a:pPr>
            <a:r>
              <a:rPr lang="en-US" sz="1100" i="1" dirty="0">
                <a:solidFill>
                  <a:schemeClr val="accent6"/>
                </a:solidFill>
              </a:rPr>
              <a:t>Mohammed et al. (2019), Fig. 4 — olive canopy radiance showing O₂-B and O₂-A (left) and the O₂-A band in detail (right)</a:t>
            </a:r>
            <a:endParaRPr lang="en-US" sz="11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4251960"/>
          <a:ext cx="6583680" cy="914400"/>
        </p:xfrm>
        <a:graphic>
          <a:graphicData uri="http://schemas.openxmlformats.org/drawingml/2006/table">
            <a:tbl>
              <a:tblPr/>
              <a:tblGrid>
                <a:gridCol w="1463040"/>
                <a:gridCol w="1828800"/>
                <a:gridCol w="1600200"/>
                <a:gridCol w="1691640"/>
              </a:tblGrid>
              <a:tr h="384048">
                <a:tc>
                  <a:txBody>
                    <a:bodyPr/>
                    <a:lstStyle/>
                    <a:p>
                      <a:pPr indent="0" marL="0">
                        <a:buNone/>
                      </a:pPr>
                      <a:r>
                        <a:rPr lang="en-US" sz="1400" b="1" dirty="0">
                          <a:solidFill>
                            <a:schemeClr val="bg1"/>
                          </a:solidFill>
                        </a:rPr>
                        <a:t>Feature</a:t>
                      </a:r>
                      <a:endParaRPr lang="en-US" sz="14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Wavelength</a:t>
                      </a:r>
                      <a:endParaRPr lang="en-US" sz="14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Origin</a:t>
                      </a:r>
                      <a:endParaRPr lang="en-US" sz="14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Used for</a:t>
                      </a:r>
                      <a:endParaRPr lang="en-US" sz="14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r>
              <a:tr h="384048">
                <a:tc>
                  <a:txBody>
                    <a:bodyPr/>
                    <a:lstStyle/>
                    <a:p>
                      <a:pPr indent="0" marL="0">
                        <a:buNone/>
                      </a:pPr>
                      <a:r>
                        <a:rPr lang="en-US" sz="1300" b="1" dirty="0">
                          <a:solidFill>
                            <a:schemeClr val="tx2"/>
                          </a:solidFill>
                        </a:rPr>
                        <a:t>Hα</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656.3 nm</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Fraunhofer line</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Early FLD work (narrow, ~0.1 nm)</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r>
              <a:tr h="384048">
                <a:tc>
                  <a:txBody>
                    <a:bodyPr/>
                    <a:lstStyle/>
                    <a:p>
                      <a:pPr indent="0" marL="0">
                        <a:buNone/>
                      </a:pPr>
                      <a:r>
                        <a:rPr lang="en-US" sz="1300" b="1" dirty="0">
                          <a:solidFill>
                            <a:schemeClr val="tx2"/>
                          </a:solidFill>
                        </a:rPr>
                        <a:t>O₂-B</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~687 nm</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Telluric (Earth O₂)</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Red SIF</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tx2"/>
                          </a:solidFill>
                        </a:rPr>
                        <a:t>Fraunhofer lines</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745–758 nm, K I 770 nm</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Solar atmosphere</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Far-red SIF from satellites</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r>
              <a:tr h="384048">
                <a:tc>
                  <a:txBody>
                    <a:bodyPr/>
                    <a:lstStyle/>
                    <a:p>
                      <a:pPr indent="0" marL="0">
                        <a:buNone/>
                      </a:pPr>
                      <a:r>
                        <a:rPr lang="en-US" sz="1300" b="1" dirty="0">
                          <a:solidFill>
                            <a:schemeClr val="tx2"/>
                          </a:solidFill>
                        </a:rPr>
                        <a:t>O₂-A</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~760 nm</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Telluric (Earth O₂)</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Far-red SIF; deepest band</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r>
            </a:tbl>
          </a:graphicData>
        </a:graphic>
      </p:graphicFrame>
      <p:sp>
        <p:nvSpPr>
          <p:cNvPr id="8" name="card"/>
          <p:cNvSpPr/>
          <p:nvPr/>
        </p:nvSpPr>
        <p:spPr>
          <a:xfrm>
            <a:off x="7360920" y="1325880"/>
            <a:ext cx="4279392"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9" name="icon circle"/>
          <p:cNvSpPr/>
          <p:nvPr/>
        </p:nvSpPr>
        <p:spPr>
          <a:xfrm>
            <a:off x="7543800" y="1481328"/>
            <a:ext cx="420624" cy="420624"/>
          </a:xfrm>
          <a:prstGeom prst="ellipse">
            <a:avLst/>
          </a:prstGeom>
          <a:solidFill>
            <a:schemeClr val="accent3"/>
          </a:solidFill>
          <a:ln/>
        </p:spPr>
      </p:sp>
      <p:pic>
        <p:nvPicPr>
          <p:cNvPr id="10" name="Image 1" descr="Sun icon">    </p:cNvPr>
          <p:cNvPicPr>
            <a:picLocks noChangeAspect="1"/>
          </p:cNvPicPr>
          <p:nvPr/>
        </p:nvPicPr>
        <p:blipFill>
          <a:blip r:embed="rId2"/>
          <a:stretch>
            <a:fillRect/>
          </a:stretch>
        </p:blipFill>
        <p:spPr>
          <a:xfrm>
            <a:off x="7653162" y="1590690"/>
            <a:ext cx="201900" cy="201900"/>
          </a:xfrm>
          <a:prstGeom prst="rect">
            <a:avLst/>
          </a:prstGeom>
        </p:spPr>
      </p:pic>
      <p:sp>
        <p:nvSpPr>
          <p:cNvPr id="11" name="Text 5"/>
          <p:cNvSpPr txBox="1"/>
          <p:nvPr/>
        </p:nvSpPr>
        <p:spPr>
          <a:xfrm>
            <a:off x="8074152" y="1463040"/>
            <a:ext cx="3429000" cy="457200"/>
          </a:xfrm>
          <a:prstGeom prst="rect">
            <a:avLst/>
          </a:prstGeom>
          <a:noFill/>
          <a:ln/>
        </p:spPr>
        <p:txBody>
          <a:bodyPr wrap="square" lIns="0" tIns="0" rIns="0" bIns="0" rtlCol="0" anchor="ctr"/>
          <a:lstStyle/>
          <a:p>
            <a:pPr indent="0" marL="0">
              <a:buNone/>
            </a:pPr>
            <a:r>
              <a:rPr lang="en-US" sz="1600" b="1" dirty="0">
                <a:solidFill>
                  <a:schemeClr val="tx2"/>
                </a:solidFill>
              </a:rPr>
              <a:t>Fraunhofer lines (solar)</a:t>
            </a:r>
            <a:endParaRPr lang="en-US" sz="1600" dirty="0"/>
          </a:p>
        </p:txBody>
      </p:sp>
      <p:sp>
        <p:nvSpPr>
          <p:cNvPr id="12" name="Text 6"/>
          <p:cNvSpPr txBox="1"/>
          <p:nvPr/>
        </p:nvSpPr>
        <p:spPr>
          <a:xfrm>
            <a:off x="7543800" y="2011680"/>
            <a:ext cx="3913632" cy="155448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Narrow; small in-filling signal</a:t>
            </a:r>
            <a:endParaRPr lang="en-US" sz="1300" dirty="0"/>
          </a:p>
          <a:p>
            <a:pPr marL="177800" indent="-177800">
              <a:spcAft>
                <a:spcPts val="400"/>
              </a:spcAft>
              <a:buSzPct val="100000"/>
              <a:buChar char="•"/>
            </a:pPr>
            <a:r>
              <a:rPr lang="en-US" sz="1300" dirty="0">
                <a:solidFill>
                  <a:schemeClr val="tx1"/>
                </a:solidFill>
              </a:rPr>
              <a:t>Earth's atmosphere does not change relative depth → simpler correction</a:t>
            </a:r>
            <a:endParaRPr lang="en-US" sz="1300" dirty="0"/>
          </a:p>
          <a:p>
            <a:pPr marL="177800" indent="-177800">
              <a:spcAft>
                <a:spcPts val="400"/>
              </a:spcAft>
              <a:buSzPct val="100000"/>
              <a:buChar char="•"/>
            </a:pPr>
            <a:r>
              <a:rPr lang="en-US" sz="1300" dirty="0">
                <a:solidFill>
                  <a:schemeClr val="tx1"/>
                </a:solidFill>
              </a:rPr>
              <a:t>Used by GOSAT, GOME-2, OCO-2, TROPOMI</a:t>
            </a:r>
            <a:endParaRPr lang="en-US" sz="1300" dirty="0"/>
          </a:p>
        </p:txBody>
      </p:sp>
      <p:sp>
        <p:nvSpPr>
          <p:cNvPr id="13" name="card"/>
          <p:cNvSpPr/>
          <p:nvPr/>
        </p:nvSpPr>
        <p:spPr>
          <a:xfrm>
            <a:off x="7360920" y="3794760"/>
            <a:ext cx="4279392"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14" name="icon circle"/>
          <p:cNvSpPr/>
          <p:nvPr/>
        </p:nvSpPr>
        <p:spPr>
          <a:xfrm>
            <a:off x="7543800" y="3950208"/>
            <a:ext cx="420624" cy="420624"/>
          </a:xfrm>
          <a:prstGeom prst="ellipse">
            <a:avLst/>
          </a:prstGeom>
          <a:solidFill>
            <a:schemeClr val="accent5"/>
          </a:solidFill>
          <a:ln/>
        </p:spPr>
      </p:sp>
      <p:pic>
        <p:nvPicPr>
          <p:cNvPr id="15" name="Image 2" descr="Cloud icon">    </p:cNvPr>
          <p:cNvPicPr>
            <a:picLocks noChangeAspect="1"/>
          </p:cNvPicPr>
          <p:nvPr/>
        </p:nvPicPr>
        <p:blipFill>
          <a:blip r:embed="rId3"/>
          <a:stretch>
            <a:fillRect/>
          </a:stretch>
        </p:blipFill>
        <p:spPr>
          <a:xfrm>
            <a:off x="7653162" y="4059570"/>
            <a:ext cx="201900" cy="201900"/>
          </a:xfrm>
          <a:prstGeom prst="rect">
            <a:avLst/>
          </a:prstGeom>
        </p:spPr>
      </p:pic>
      <p:sp>
        <p:nvSpPr>
          <p:cNvPr id="16" name="Text 9"/>
          <p:cNvSpPr txBox="1"/>
          <p:nvPr/>
        </p:nvSpPr>
        <p:spPr>
          <a:xfrm>
            <a:off x="8074152" y="3931920"/>
            <a:ext cx="3429000" cy="457200"/>
          </a:xfrm>
          <a:prstGeom prst="rect">
            <a:avLst/>
          </a:prstGeom>
          <a:noFill/>
          <a:ln/>
        </p:spPr>
        <p:txBody>
          <a:bodyPr wrap="square" lIns="0" tIns="0" rIns="0" bIns="0" rtlCol="0" anchor="ctr"/>
          <a:lstStyle/>
          <a:p>
            <a:pPr indent="0" marL="0">
              <a:buNone/>
            </a:pPr>
            <a:r>
              <a:rPr lang="en-US" sz="1600" b="1" dirty="0">
                <a:solidFill>
                  <a:schemeClr val="tx2"/>
                </a:solidFill>
              </a:rPr>
              <a:t>O₂ bands (telluric)</a:t>
            </a:r>
            <a:endParaRPr lang="en-US" sz="1600" dirty="0"/>
          </a:p>
        </p:txBody>
      </p:sp>
      <p:sp>
        <p:nvSpPr>
          <p:cNvPr id="17" name="Text 10"/>
          <p:cNvSpPr txBox="1"/>
          <p:nvPr/>
        </p:nvSpPr>
        <p:spPr>
          <a:xfrm>
            <a:off x="7543800" y="4480560"/>
            <a:ext cx="3913632"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Wide and deep → strong in-filling</a:t>
            </a:r>
            <a:endParaRPr lang="en-US" sz="1300" dirty="0"/>
          </a:p>
          <a:p>
            <a:pPr marL="177800" indent="-177800">
              <a:spcAft>
                <a:spcPts val="400"/>
              </a:spcAft>
              <a:buSzPct val="100000"/>
              <a:buChar char="•"/>
            </a:pPr>
            <a:r>
              <a:rPr lang="en-US" sz="1300" dirty="0">
                <a:solidFill>
                  <a:schemeClr val="tx1"/>
                </a:solidFill>
              </a:rPr>
              <a:t>Depth depends on path length, pressure, aerosols, direct/diffuse light</a:t>
            </a:r>
            <a:endParaRPr lang="en-US" sz="1300" dirty="0"/>
          </a:p>
          <a:p>
            <a:pPr marL="177800" indent="-177800">
              <a:spcAft>
                <a:spcPts val="400"/>
              </a:spcAft>
              <a:buSzPct val="100000"/>
              <a:buChar char="•"/>
            </a:pPr>
            <a:r>
              <a:rPr lang="en-US" sz="1300" dirty="0">
                <a:solidFill>
                  <a:schemeClr val="tx1"/>
                </a:solidFill>
              </a:rPr>
              <a:t>Needs accurate atmospheric modelling (FLEX design)</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retrieval equation and the FLD principle</a:t>
            </a:r>
            <a:endParaRPr lang="en-US" sz="3200" dirty="0"/>
          </a:p>
        </p:txBody>
      </p:sp>
      <p:sp>
        <p:nvSpPr>
          <p:cNvPr id="4" name="card"/>
          <p:cNvSpPr/>
          <p:nvPr/>
        </p:nvSpPr>
        <p:spPr>
          <a:xfrm>
            <a:off x="548640" y="1325880"/>
            <a:ext cx="11091672" cy="868680"/>
          </a:xfrm>
          <a:prstGeom prst="roundRect">
            <a:avLst>
              <a:gd name="adj" fmla="val 8421"/>
            </a:avLst>
          </a:prstGeom>
          <a:solidFill>
            <a:schemeClr val="tx2"/>
          </a:solidFill>
          <a:ln/>
          <a:effectLst>
            <a:outerShdw sx="100000" sy="100000" kx="0" ky="0" algn="bl" rotWithShape="0" blurRad="76200" dist="25400" dir="5400000">
              <a:srgbClr val="000000">
                <a:alpha val="14000"/>
              </a:srgbClr>
            </a:outerShdw>
          </a:effectLst>
        </p:spPr>
      </p:sp>
      <p:sp>
        <p:nvSpPr>
          <p:cNvPr id="5" name="Text 2"/>
          <p:cNvSpPr txBox="1"/>
          <p:nvPr/>
        </p:nvSpPr>
        <p:spPr>
          <a:xfrm>
            <a:off x="822960" y="1371600"/>
            <a:ext cx="5486400" cy="777240"/>
          </a:xfrm>
          <a:prstGeom prst="rect">
            <a:avLst/>
          </a:prstGeom>
          <a:noFill/>
          <a:ln/>
        </p:spPr>
        <p:txBody>
          <a:bodyPr wrap="square" lIns="0" tIns="0" rIns="0" bIns="0" rtlCol="0" anchor="ctr"/>
          <a:lstStyle/>
          <a:p>
            <a:pPr algn="l" indent="0" marL="0">
              <a:buNone/>
            </a:pPr>
            <a:r>
              <a:rPr lang="en-US" sz="2600" b="1" dirty="0">
                <a:solidFill>
                  <a:schemeClr val="bg1"/>
                </a:solidFill>
              </a:rPr>
              <a:t>L(λ) = r(λ)·E(λ)/π + SIF(λ)</a:t>
            </a:r>
            <a:endParaRPr lang="en-US" sz="2600" dirty="0"/>
          </a:p>
        </p:txBody>
      </p:sp>
      <p:sp>
        <p:nvSpPr>
          <p:cNvPr id="6" name="Text 3"/>
          <p:cNvSpPr txBox="1"/>
          <p:nvPr/>
        </p:nvSpPr>
        <p:spPr>
          <a:xfrm>
            <a:off x="6035040" y="1371600"/>
            <a:ext cx="5486400" cy="777240"/>
          </a:xfrm>
          <a:prstGeom prst="rect">
            <a:avLst/>
          </a:prstGeom>
          <a:noFill/>
          <a:ln/>
        </p:spPr>
        <p:txBody>
          <a:bodyPr wrap="square" lIns="0" tIns="0" rIns="0" bIns="0" rtlCol="0" anchor="ctr"/>
          <a:lstStyle/>
          <a:p>
            <a:pPr algn="r" indent="0" marL="0">
              <a:buNone/>
            </a:pPr>
            <a:r>
              <a:rPr lang="en-US" sz="1400" dirty="0">
                <a:solidFill>
                  <a:schemeClr val="bg2"/>
                </a:solidFill>
              </a:rPr>
              <a:t>L = radiance at sensor · E = incident irradiance · r = reflectance</a:t>
            </a:r>
            <a:endParaRPr lang="en-US" sz="1400" dirty="0"/>
          </a:p>
        </p:txBody>
      </p:sp>
      <p:graphicFrame>
        <p:nvGraphicFramePr>
          <p:cNvPr id="7" name="Chart 0" descr=""/>
          <p:cNvGraphicFramePr/>
          <p:nvPr/>
        </p:nvGraphicFramePr>
        <p:xfrm>
          <a:off x="548640" y="2377440"/>
          <a:ext cx="6309360" cy="3794760"/>
        </p:xfrm>
        <a:graphic xmlns:a="http://schemas.openxmlformats.org/drawingml/2006/main">
          <a:graphicData uri="http://schemas.openxmlformats.org/drawingml/2006/chart">
            <c:chart xmlns:c="http://schemas.openxmlformats.org/drawingml/2006/chart" r:id="rId1"/>
          </a:graphicData>
        </a:graphic>
      </p:graphicFrame>
      <p:sp>
        <p:nvSpPr>
          <p:cNvPr id="8" name="card"/>
          <p:cNvSpPr/>
          <p:nvPr/>
        </p:nvSpPr>
        <p:spPr>
          <a:xfrm>
            <a:off x="7086600" y="2377440"/>
            <a:ext cx="4553712" cy="2286000"/>
          </a:xfrm>
          <a:prstGeom prst="roundRect">
            <a:avLst>
              <a:gd name="adj" fmla="val 3200"/>
            </a:avLst>
          </a:prstGeom>
          <a:solidFill>
            <a:schemeClr val="bg2"/>
          </a:solidFill>
          <a:ln/>
          <a:effectLst>
            <a:outerShdw sx="100000" sy="100000" kx="0" ky="0" algn="bl" rotWithShape="0" blurRad="76200" dist="25400" dir="5400000">
              <a:srgbClr val="000000">
                <a:alpha val="14000"/>
              </a:srgbClr>
            </a:outerShdw>
          </a:effectLst>
        </p:spPr>
      </p:sp>
      <p:sp>
        <p:nvSpPr>
          <p:cNvPr id="9" name="icon circle"/>
          <p:cNvSpPr/>
          <p:nvPr/>
        </p:nvSpPr>
        <p:spPr>
          <a:xfrm>
            <a:off x="7269480" y="2532888"/>
            <a:ext cx="420624" cy="420624"/>
          </a:xfrm>
          <a:prstGeom prst="ellipse">
            <a:avLst/>
          </a:prstGeom>
          <a:solidFill>
            <a:schemeClr val="accent1"/>
          </a:solidFill>
          <a:ln/>
        </p:spPr>
      </p:sp>
      <p:pic>
        <p:nvPicPr>
          <p:cNvPr id="10" name="Image 0" descr="Calculator icon">    </p:cNvPr>
          <p:cNvPicPr>
            <a:picLocks noChangeAspect="1"/>
          </p:cNvPicPr>
          <p:nvPr/>
        </p:nvPicPr>
        <p:blipFill>
          <a:blip r:embed="rId2"/>
          <a:stretch>
            <a:fillRect/>
          </a:stretch>
        </p:blipFill>
        <p:spPr>
          <a:xfrm>
            <a:off x="7378842" y="2642250"/>
            <a:ext cx="201900" cy="201900"/>
          </a:xfrm>
          <a:prstGeom prst="rect">
            <a:avLst/>
          </a:prstGeom>
        </p:spPr>
      </p:pic>
      <p:sp>
        <p:nvSpPr>
          <p:cNvPr id="11" name="Text 6"/>
          <p:cNvSpPr txBox="1"/>
          <p:nvPr/>
        </p:nvSpPr>
        <p:spPr>
          <a:xfrm>
            <a:off x="7799832" y="2514600"/>
            <a:ext cx="3703320" cy="457200"/>
          </a:xfrm>
          <a:prstGeom prst="rect">
            <a:avLst/>
          </a:prstGeom>
          <a:noFill/>
          <a:ln/>
        </p:spPr>
        <p:txBody>
          <a:bodyPr wrap="square" lIns="0" tIns="0" rIns="0" bIns="0" rtlCol="0" anchor="ctr"/>
          <a:lstStyle/>
          <a:p>
            <a:pPr indent="0" marL="0">
              <a:buNone/>
            </a:pPr>
            <a:r>
              <a:rPr lang="en-US" sz="1600" b="1" dirty="0">
                <a:solidFill>
                  <a:schemeClr val="tx2"/>
                </a:solidFill>
              </a:rPr>
              <a:t>Two-band FLD solution</a:t>
            </a:r>
            <a:endParaRPr lang="en-US" sz="1600" dirty="0"/>
          </a:p>
        </p:txBody>
      </p:sp>
      <p:sp>
        <p:nvSpPr>
          <p:cNvPr id="12" name="Text 7"/>
          <p:cNvSpPr txBox="1"/>
          <p:nvPr/>
        </p:nvSpPr>
        <p:spPr>
          <a:xfrm>
            <a:off x="7269480" y="3063240"/>
            <a:ext cx="4187952" cy="1508760"/>
          </a:xfrm>
          <a:prstGeom prst="rect">
            <a:avLst/>
          </a:prstGeom>
          <a:noFill/>
          <a:ln/>
        </p:spPr>
        <p:txBody>
          <a:bodyPr wrap="square" lIns="508" tIns="508" rIns="508" bIns="508" rtlCol="0" anchor="t"/>
          <a:lstStyle/>
          <a:p>
            <a:pPr indent="0" marL="0">
              <a:spcAft>
                <a:spcPts val="400"/>
              </a:spcAft>
              <a:buNone/>
            </a:pPr>
            <a:r>
              <a:rPr lang="en-US" sz="1400" dirty="0">
                <a:solidFill>
                  <a:schemeClr val="tx1"/>
                </a:solidFill>
              </a:rPr>
              <a:t>Inside band: L</a:t>
            </a:r>
            <a:r>
              <a:rPr lang="en-US" sz="1400" baseline="-40000" dirty="0">
                <a:solidFill>
                  <a:schemeClr val="tx1"/>
                </a:solidFill>
              </a:rPr>
              <a:t>in</a:t>
            </a:r>
            <a:r>
              <a:rPr lang="en-US" sz="1400" dirty="0">
                <a:solidFill>
                  <a:schemeClr val="tx1"/>
                </a:solidFill>
              </a:rPr>
              <a:t> = r·E</a:t>
            </a:r>
            <a:r>
              <a:rPr lang="en-US" sz="1400" baseline="-40000" dirty="0">
                <a:solidFill>
                  <a:schemeClr val="tx1"/>
                </a:solidFill>
              </a:rPr>
              <a:t>in</a:t>
            </a:r>
            <a:r>
              <a:rPr lang="en-US" sz="1400" dirty="0">
                <a:solidFill>
                  <a:schemeClr val="tx1"/>
                </a:solidFill>
              </a:rPr>
              <a:t>/π + F</a:t>
            </a:r>
            <a:endParaRPr lang="en-US" sz="1400" dirty="0"/>
          </a:p>
          <a:p>
            <a:pPr indent="0" marL="0">
              <a:spcAft>
                <a:spcPts val="600"/>
              </a:spcAft>
              <a:buNone/>
            </a:pPr>
            <a:r>
              <a:rPr lang="en-US" sz="1400" dirty="0">
                <a:solidFill>
                  <a:schemeClr val="tx1"/>
                </a:solidFill>
              </a:rPr>
              <a:t>Outside band: L</a:t>
            </a:r>
            <a:r>
              <a:rPr lang="en-US" sz="1400" baseline="-40000" dirty="0">
                <a:solidFill>
                  <a:schemeClr val="tx1"/>
                </a:solidFill>
              </a:rPr>
              <a:t>out</a:t>
            </a:r>
            <a:r>
              <a:rPr lang="en-US" sz="1400" dirty="0">
                <a:solidFill>
                  <a:schemeClr val="tx1"/>
                </a:solidFill>
              </a:rPr>
              <a:t> = r·E</a:t>
            </a:r>
            <a:r>
              <a:rPr lang="en-US" sz="1400" baseline="-40000" dirty="0">
                <a:solidFill>
                  <a:schemeClr val="tx1"/>
                </a:solidFill>
              </a:rPr>
              <a:t>out</a:t>
            </a:r>
            <a:r>
              <a:rPr lang="en-US" sz="1400" dirty="0">
                <a:solidFill>
                  <a:schemeClr val="tx1"/>
                </a:solidFill>
              </a:rPr>
              <a:t>/π + F</a:t>
            </a:r>
            <a:endParaRPr lang="en-US" sz="1400" dirty="0"/>
          </a:p>
          <a:p>
            <a:pPr indent="0" marL="0">
              <a:spcAft>
                <a:spcPts val="400"/>
              </a:spcAft>
              <a:buNone/>
            </a:pPr>
            <a:r>
              <a:rPr lang="en-US" sz="1400" b="1" dirty="0">
                <a:solidFill>
                  <a:schemeClr val="accent2"/>
                </a:solidFill>
              </a:rPr>
              <a:t>F = (E</a:t>
            </a:r>
            <a:r>
              <a:rPr lang="en-US" sz="1400" b="1" baseline="-40000" dirty="0">
                <a:solidFill>
                  <a:schemeClr val="accent2"/>
                </a:solidFill>
              </a:rPr>
              <a:t>out</a:t>
            </a:r>
            <a:r>
              <a:rPr lang="en-US" sz="1400" b="1" dirty="0">
                <a:solidFill>
                  <a:schemeClr val="accent2"/>
                </a:solidFill>
              </a:rPr>
              <a:t>·L</a:t>
            </a:r>
            <a:r>
              <a:rPr lang="en-US" sz="1400" b="1" baseline="-40000" dirty="0">
                <a:solidFill>
                  <a:schemeClr val="accent2"/>
                </a:solidFill>
              </a:rPr>
              <a:t>in</a:t>
            </a:r>
            <a:r>
              <a:rPr lang="en-US" sz="1400" b="1" dirty="0">
                <a:solidFill>
                  <a:schemeClr val="accent2"/>
                </a:solidFill>
              </a:rPr>
              <a:t> − E</a:t>
            </a:r>
            <a:r>
              <a:rPr lang="en-US" sz="1400" b="1" baseline="-40000" dirty="0">
                <a:solidFill>
                  <a:schemeClr val="accent2"/>
                </a:solidFill>
              </a:rPr>
              <a:t>in</a:t>
            </a:r>
            <a:r>
              <a:rPr lang="en-US" sz="1400" b="1" dirty="0">
                <a:solidFill>
                  <a:schemeClr val="accent2"/>
                </a:solidFill>
              </a:rPr>
              <a:t>·L</a:t>
            </a:r>
            <a:r>
              <a:rPr lang="en-US" sz="1400" b="1" baseline="-40000" dirty="0">
                <a:solidFill>
                  <a:schemeClr val="accent2"/>
                </a:solidFill>
              </a:rPr>
              <a:t>out</a:t>
            </a:r>
            <a:r>
              <a:rPr lang="en-US" sz="1400" b="1" dirty="0">
                <a:solidFill>
                  <a:schemeClr val="accent2"/>
                </a:solidFill>
              </a:rPr>
              <a:t>) / (E</a:t>
            </a:r>
            <a:r>
              <a:rPr lang="en-US" sz="1400" b="1" baseline="-40000" dirty="0">
                <a:solidFill>
                  <a:schemeClr val="accent2"/>
                </a:solidFill>
              </a:rPr>
              <a:t>out</a:t>
            </a:r>
            <a:r>
              <a:rPr lang="en-US" sz="1400" b="1" dirty="0">
                <a:solidFill>
                  <a:schemeClr val="accent2"/>
                </a:solidFill>
              </a:rPr>
              <a:t> − E</a:t>
            </a:r>
            <a:r>
              <a:rPr lang="en-US" sz="1400" b="1" baseline="-40000" dirty="0">
                <a:solidFill>
                  <a:schemeClr val="accent2"/>
                </a:solidFill>
              </a:rPr>
              <a:t>in</a:t>
            </a:r>
            <a:r>
              <a:rPr lang="en-US" sz="1400" b="1" dirty="0">
                <a:solidFill>
                  <a:schemeClr val="accent2"/>
                </a:solidFill>
              </a:rPr>
              <a:t>)</a:t>
            </a:r>
            <a:endParaRPr lang="en-US" sz="1400" dirty="0"/>
          </a:p>
        </p:txBody>
      </p:sp>
      <p:sp>
        <p:nvSpPr>
          <p:cNvPr id="13" name="card"/>
          <p:cNvSpPr/>
          <p:nvPr/>
        </p:nvSpPr>
        <p:spPr>
          <a:xfrm>
            <a:off x="7086600" y="4800600"/>
            <a:ext cx="4553712" cy="1371600"/>
          </a:xfrm>
          <a:prstGeom prst="roundRect">
            <a:avLst>
              <a:gd name="adj" fmla="val 5333"/>
            </a:avLst>
          </a:prstGeom>
          <a:solidFill>
            <a:schemeClr val="bg2"/>
          </a:solidFill>
          <a:ln/>
          <a:effectLst>
            <a:outerShdw sx="100000" sy="100000" kx="0" ky="0" algn="bl" rotWithShape="0" blurRad="76200" dist="25400" dir="5400000">
              <a:srgbClr val="000000">
                <a:alpha val="14000"/>
              </a:srgbClr>
            </a:outerShdw>
          </a:effectLst>
        </p:spPr>
      </p:sp>
      <p:sp>
        <p:nvSpPr>
          <p:cNvPr id="14" name="icon circle"/>
          <p:cNvSpPr/>
          <p:nvPr/>
        </p:nvSpPr>
        <p:spPr>
          <a:xfrm>
            <a:off x="7269480" y="4956048"/>
            <a:ext cx="420624" cy="420624"/>
          </a:xfrm>
          <a:prstGeom prst="ellipse">
            <a:avLst/>
          </a:prstGeom>
          <a:solidFill>
            <a:schemeClr val="accent2"/>
          </a:solidFill>
          <a:ln/>
        </p:spPr>
      </p:sp>
      <p:pic>
        <p:nvPicPr>
          <p:cNvPr id="15" name="Image 1" descr="ExclamationTriangle icon">    </p:cNvPr>
          <p:cNvPicPr>
            <a:picLocks noChangeAspect="1"/>
          </p:cNvPicPr>
          <p:nvPr/>
        </p:nvPicPr>
        <p:blipFill>
          <a:blip r:embed="rId3"/>
          <a:stretch>
            <a:fillRect/>
          </a:stretch>
        </p:blipFill>
        <p:spPr>
          <a:xfrm>
            <a:off x="7378842" y="5065410"/>
            <a:ext cx="201900" cy="201900"/>
          </a:xfrm>
          <a:prstGeom prst="rect">
            <a:avLst/>
          </a:prstGeom>
        </p:spPr>
      </p:pic>
      <p:sp>
        <p:nvSpPr>
          <p:cNvPr id="16" name="Text 10"/>
          <p:cNvSpPr txBox="1"/>
          <p:nvPr/>
        </p:nvSpPr>
        <p:spPr>
          <a:xfrm>
            <a:off x="7799832" y="4937760"/>
            <a:ext cx="3703320" cy="457200"/>
          </a:xfrm>
          <a:prstGeom prst="rect">
            <a:avLst/>
          </a:prstGeom>
          <a:noFill/>
          <a:ln/>
        </p:spPr>
        <p:txBody>
          <a:bodyPr wrap="square" lIns="0" tIns="0" rIns="0" bIns="0" rtlCol="0" anchor="ctr"/>
          <a:lstStyle/>
          <a:p>
            <a:pPr indent="0" marL="0">
              <a:buNone/>
            </a:pPr>
            <a:r>
              <a:rPr lang="en-US" sz="1600" b="1" dirty="0">
                <a:solidFill>
                  <a:schemeClr val="tx2"/>
                </a:solidFill>
              </a:rPr>
              <a:t>Assumption to remember</a:t>
            </a:r>
            <a:endParaRPr lang="en-US" sz="1600" dirty="0"/>
          </a:p>
        </p:txBody>
      </p:sp>
      <p:sp>
        <p:nvSpPr>
          <p:cNvPr id="17" name="Text 11"/>
          <p:cNvSpPr txBox="1"/>
          <p:nvPr/>
        </p:nvSpPr>
        <p:spPr>
          <a:xfrm>
            <a:off x="7269480" y="5486400"/>
            <a:ext cx="4187952" cy="59436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r and F are constant across the narrow window — refined by 3FLD, iFLD, cFLD and spectral fitting.</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Families of SIF retrieval methods</a:t>
            </a:r>
            <a:endParaRPr lang="en-US" sz="3200" dirty="0"/>
          </a:p>
        </p:txBody>
      </p:sp>
      <p:sp>
        <p:nvSpPr>
          <p:cNvPr id="4" name="diagram box"/>
          <p:cNvSpPr/>
          <p:nvPr/>
        </p:nvSpPr>
        <p:spPr>
          <a:xfrm>
            <a:off x="4270248" y="1325880"/>
            <a:ext cx="3657600" cy="640080"/>
          </a:xfrm>
          <a:prstGeom prst="roundRect">
            <a:avLst>
              <a:gd name="adj" fmla="val 11429"/>
            </a:avLst>
          </a:prstGeom>
          <a:solidFill>
            <a:schemeClr val="tx2"/>
          </a:solidFill>
          <a:ln/>
        </p:spPr>
      </p:sp>
      <p:sp>
        <p:nvSpPr>
          <p:cNvPr id="5" name="Text 2"/>
          <p:cNvSpPr txBox="1"/>
          <p:nvPr/>
        </p:nvSpPr>
        <p:spPr>
          <a:xfrm>
            <a:off x="4270248" y="1325880"/>
            <a:ext cx="3657600" cy="640080"/>
          </a:xfrm>
          <a:prstGeom prst="rect">
            <a:avLst/>
          </a:prstGeom>
          <a:noFill/>
          <a:ln/>
        </p:spPr>
        <p:txBody>
          <a:bodyPr wrap="square" lIns="508" tIns="508" rIns="508" bIns="508" rtlCol="0" anchor="ctr"/>
          <a:lstStyle/>
          <a:p>
            <a:pPr algn="ctr" indent="0" marL="0">
              <a:buNone/>
            </a:pPr>
            <a:r>
              <a:rPr lang="en-US" sz="1800" b="1" dirty="0">
                <a:solidFill>
                  <a:schemeClr val="bg1"/>
                </a:solidFill>
              </a:rPr>
              <a:t>SIF retrieval methods</a:t>
            </a:r>
            <a:endParaRPr lang="en-US" sz="1800" dirty="0"/>
          </a:p>
        </p:txBody>
      </p:sp>
      <p:sp>
        <p:nvSpPr>
          <p:cNvPr id="6" name="diagram box"/>
          <p:cNvSpPr/>
          <p:nvPr/>
        </p:nvSpPr>
        <p:spPr>
          <a:xfrm>
            <a:off x="1188720" y="2331720"/>
            <a:ext cx="4023360" cy="640080"/>
          </a:xfrm>
          <a:prstGeom prst="roundRect">
            <a:avLst>
              <a:gd name="adj" fmla="val 11429"/>
            </a:avLst>
          </a:prstGeom>
          <a:solidFill>
            <a:schemeClr val="accent1"/>
          </a:solidFill>
          <a:ln/>
        </p:spPr>
      </p:sp>
      <p:sp>
        <p:nvSpPr>
          <p:cNvPr id="7" name="Text 4"/>
          <p:cNvSpPr txBox="1"/>
          <p:nvPr/>
        </p:nvSpPr>
        <p:spPr>
          <a:xfrm>
            <a:off x="1188720" y="2331720"/>
            <a:ext cx="4023360" cy="640080"/>
          </a:xfrm>
          <a:prstGeom prst="rect">
            <a:avLst/>
          </a:prstGeom>
          <a:noFill/>
          <a:ln/>
        </p:spPr>
        <p:txBody>
          <a:bodyPr wrap="square" lIns="508" tIns="508" rIns="508" bIns="508" rtlCol="0" anchor="ctr"/>
          <a:lstStyle/>
          <a:p>
            <a:pPr algn="ctr" indent="0" marL="0">
              <a:buNone/>
            </a:pPr>
            <a:r>
              <a:rPr lang="en-US" sz="1600" b="1" dirty="0">
                <a:solidFill>
                  <a:schemeClr val="bg1"/>
                </a:solidFill>
              </a:rPr>
              <a:t>① Selected absorption bands</a:t>
            </a:r>
            <a:endParaRPr lang="en-US" sz="1600" dirty="0"/>
          </a:p>
        </p:txBody>
      </p:sp>
      <p:sp>
        <p:nvSpPr>
          <p:cNvPr id="8" name="diagram box"/>
          <p:cNvSpPr/>
          <p:nvPr/>
        </p:nvSpPr>
        <p:spPr>
          <a:xfrm>
            <a:off x="6995160" y="2331720"/>
            <a:ext cx="4023360" cy="640080"/>
          </a:xfrm>
          <a:prstGeom prst="roundRect">
            <a:avLst>
              <a:gd name="adj" fmla="val 11429"/>
            </a:avLst>
          </a:prstGeom>
          <a:solidFill>
            <a:schemeClr val="accent2"/>
          </a:solidFill>
          <a:ln/>
        </p:spPr>
      </p:sp>
      <p:sp>
        <p:nvSpPr>
          <p:cNvPr id="9" name="Text 6"/>
          <p:cNvSpPr txBox="1"/>
          <p:nvPr/>
        </p:nvSpPr>
        <p:spPr>
          <a:xfrm>
            <a:off x="6995160" y="2331720"/>
            <a:ext cx="4023360" cy="640080"/>
          </a:xfrm>
          <a:prstGeom prst="rect">
            <a:avLst/>
          </a:prstGeom>
          <a:noFill/>
          <a:ln/>
        </p:spPr>
        <p:txBody>
          <a:bodyPr wrap="square" lIns="508" tIns="508" rIns="508" bIns="508" rtlCol="0" anchor="ctr"/>
          <a:lstStyle/>
          <a:p>
            <a:pPr algn="ctr" indent="0" marL="0">
              <a:buNone/>
            </a:pPr>
            <a:r>
              <a:rPr lang="en-US" sz="1600" b="1" dirty="0">
                <a:solidFill>
                  <a:schemeClr val="bg1"/>
                </a:solidFill>
              </a:rPr>
              <a:t>② Full SIF spectrum (650–800 nm)</a:t>
            </a:r>
            <a:endParaRPr lang="en-US" sz="1600" dirty="0"/>
          </a:p>
        </p:txBody>
      </p:sp>
      <p:sp>
        <p:nvSpPr>
          <p:cNvPr id="10" name="arrow"/>
          <p:cNvSpPr/>
          <p:nvPr/>
        </p:nvSpPr>
        <p:spPr>
          <a:xfrm flipH="1">
            <a:off x="3200400" y="1965960"/>
            <a:ext cx="2898648" cy="365760"/>
          </a:xfrm>
          <a:prstGeom prst="line">
            <a:avLst/>
          </a:prstGeom>
          <a:noFill/>
          <a:ln w="25400">
            <a:solidFill>
              <a:srgbClr val="123D2E"/>
            </a:solidFill>
            <a:prstDash val="solid"/>
            <a:tailEnd type="triangle"/>
          </a:ln>
        </p:spPr>
      </p:sp>
      <p:sp>
        <p:nvSpPr>
          <p:cNvPr id="11" name="arrow"/>
          <p:cNvSpPr/>
          <p:nvPr/>
        </p:nvSpPr>
        <p:spPr>
          <a:xfrm>
            <a:off x="6099048" y="1965960"/>
            <a:ext cx="2907792" cy="365760"/>
          </a:xfrm>
          <a:prstGeom prst="line">
            <a:avLst/>
          </a:prstGeom>
          <a:noFill/>
          <a:ln w="25400">
            <a:solidFill>
              <a:srgbClr val="123D2E"/>
            </a:solidFill>
            <a:prstDash val="solid"/>
            <a:tailEnd type="triangle"/>
          </a:ln>
        </p:spPr>
      </p:sp>
      <p:sp>
        <p:nvSpPr>
          <p:cNvPr id="12" name="arrow"/>
          <p:cNvSpPr/>
          <p:nvPr/>
        </p:nvSpPr>
        <p:spPr>
          <a:xfrm flipH="1">
            <a:off x="1828800" y="2971800"/>
            <a:ext cx="1371600" cy="320040"/>
          </a:xfrm>
          <a:prstGeom prst="line">
            <a:avLst/>
          </a:prstGeom>
          <a:noFill/>
          <a:ln w="19050">
            <a:solidFill>
              <a:srgbClr val="2E8B57"/>
            </a:solidFill>
            <a:prstDash val="solid"/>
            <a:tailEnd type="triangle"/>
          </a:ln>
        </p:spPr>
      </p:sp>
      <p:sp>
        <p:nvSpPr>
          <p:cNvPr id="13" name="card"/>
          <p:cNvSpPr/>
          <p:nvPr/>
        </p:nvSpPr>
        <p:spPr>
          <a:xfrm>
            <a:off x="548640" y="3291840"/>
            <a:ext cx="2587752" cy="2880360"/>
          </a:xfrm>
          <a:prstGeom prst="roundRect">
            <a:avLst>
              <a:gd name="adj" fmla="val 2827"/>
            </a:avLst>
          </a:prstGeom>
          <a:solidFill>
            <a:schemeClr val="bg2"/>
          </a:solidFill>
          <a:ln/>
          <a:effectLst>
            <a:outerShdw sx="100000" sy="100000" kx="0" ky="0" algn="bl" rotWithShape="0" blurRad="76200" dist="25400" dir="5400000">
              <a:srgbClr val="000000">
                <a:alpha val="14000"/>
              </a:srgbClr>
            </a:outerShdw>
          </a:effectLst>
        </p:spPr>
      </p:sp>
      <p:sp>
        <p:nvSpPr>
          <p:cNvPr id="14" name="Text 11"/>
          <p:cNvSpPr txBox="1"/>
          <p:nvPr/>
        </p:nvSpPr>
        <p:spPr>
          <a:xfrm>
            <a:off x="685800" y="3383280"/>
            <a:ext cx="2331720" cy="384048"/>
          </a:xfrm>
          <a:prstGeom prst="rect">
            <a:avLst/>
          </a:prstGeom>
          <a:noFill/>
          <a:ln/>
        </p:spPr>
        <p:txBody>
          <a:bodyPr wrap="square" lIns="0" tIns="0" rIns="0" bIns="0" rtlCol="0" anchor="ctr"/>
          <a:lstStyle/>
          <a:p>
            <a:pPr algn="l" indent="0" marL="0">
              <a:buNone/>
            </a:pPr>
            <a:r>
              <a:rPr lang="en-US" sz="1600" b="1" dirty="0">
                <a:solidFill>
                  <a:schemeClr val="accent1"/>
                </a:solidFill>
              </a:rPr>
              <a:t>O₂ bands</a:t>
            </a:r>
            <a:endParaRPr lang="en-US" sz="1600" dirty="0"/>
          </a:p>
        </p:txBody>
      </p:sp>
      <p:sp>
        <p:nvSpPr>
          <p:cNvPr id="15" name="Text 12"/>
          <p:cNvSpPr txBox="1"/>
          <p:nvPr/>
        </p:nvSpPr>
        <p:spPr>
          <a:xfrm>
            <a:off x="658368" y="3794760"/>
            <a:ext cx="2395728" cy="2331720"/>
          </a:xfrm>
          <a:prstGeom prst="rect">
            <a:avLst/>
          </a:prstGeom>
          <a:noFill/>
          <a:ln/>
        </p:spPr>
        <p:txBody>
          <a:bodyPr wrap="square" lIns="508" tIns="508" rIns="508" bIns="508" rtlCol="0" anchor="t"/>
          <a:lstStyle/>
          <a:p>
            <a:pPr marL="177800" indent="-177800">
              <a:spcAft>
                <a:spcPts val="400"/>
              </a:spcAft>
              <a:buSzPct val="100000"/>
              <a:buChar char="•"/>
            </a:pPr>
            <a:r>
              <a:rPr lang="en-US" sz="1300" b="1" dirty="0">
                <a:solidFill>
                  <a:schemeClr val="tx1"/>
                </a:solidFill>
              </a:rPr>
              <a:t>FLD</a:t>
            </a:r>
            <a:r>
              <a:rPr lang="en-US" sz="1300" dirty="0">
                <a:solidFill>
                  <a:schemeClr val="tx1"/>
                </a:solidFill>
              </a:rPr>
              <a:t> (Plascyk 1975)</a:t>
            </a:r>
            <a:endParaRPr lang="en-US" sz="1300" dirty="0"/>
          </a:p>
          <a:p>
            <a:pPr marL="177800" indent="-177800">
              <a:spcAft>
                <a:spcPts val="400"/>
              </a:spcAft>
              <a:buSzPct val="100000"/>
              <a:buChar char="•"/>
            </a:pPr>
            <a:r>
              <a:rPr lang="en-US" sz="1300" b="1" dirty="0">
                <a:solidFill>
                  <a:schemeClr val="tx1"/>
                </a:solidFill>
              </a:rPr>
              <a:t>3FLD, iFLD, cFLD</a:t>
            </a:r>
            <a:r>
              <a:rPr lang="en-US" sz="1300" dirty="0">
                <a:solidFill>
                  <a:schemeClr val="tx1"/>
                </a:solidFill>
              </a:rPr>
              <a:t> (refined r, F shapes)</a:t>
            </a:r>
            <a:endParaRPr lang="en-US" sz="1300" dirty="0"/>
          </a:p>
          <a:p>
            <a:pPr marL="177800" indent="-177800">
              <a:spcAft>
                <a:spcPts val="400"/>
              </a:spcAft>
              <a:buSzPct val="100000"/>
              <a:buChar char="•"/>
            </a:pPr>
            <a:r>
              <a:rPr lang="en-US" sz="1300" b="1" dirty="0">
                <a:solidFill>
                  <a:schemeClr val="tx1"/>
                </a:solidFill>
              </a:rPr>
              <a:t>SFM</a:t>
            </a:r>
            <a:r>
              <a:rPr lang="en-US" sz="1300" dirty="0">
                <a:solidFill>
                  <a:schemeClr val="tx1"/>
                </a:solidFill>
              </a:rPr>
              <a:t> spectral fitting over tens of nm</a:t>
            </a:r>
            <a:endParaRPr lang="en-US" sz="1300" dirty="0"/>
          </a:p>
        </p:txBody>
      </p:sp>
      <p:sp>
        <p:nvSpPr>
          <p:cNvPr id="16" name="arrow"/>
          <p:cNvSpPr/>
          <p:nvPr/>
        </p:nvSpPr>
        <p:spPr>
          <a:xfrm>
            <a:off x="3200400" y="2971800"/>
            <a:ext cx="1463040" cy="320040"/>
          </a:xfrm>
          <a:prstGeom prst="line">
            <a:avLst/>
          </a:prstGeom>
          <a:noFill/>
          <a:ln w="19050">
            <a:solidFill>
              <a:srgbClr val="2E8B57"/>
            </a:solidFill>
            <a:prstDash val="solid"/>
            <a:tailEnd type="triangle"/>
          </a:ln>
        </p:spPr>
      </p:sp>
      <p:sp>
        <p:nvSpPr>
          <p:cNvPr id="17" name="card"/>
          <p:cNvSpPr/>
          <p:nvPr/>
        </p:nvSpPr>
        <p:spPr>
          <a:xfrm>
            <a:off x="3383280" y="3291840"/>
            <a:ext cx="2587752" cy="2880360"/>
          </a:xfrm>
          <a:prstGeom prst="roundRect">
            <a:avLst>
              <a:gd name="adj" fmla="val 2827"/>
            </a:avLst>
          </a:prstGeom>
          <a:solidFill>
            <a:schemeClr val="bg2"/>
          </a:solidFill>
          <a:ln/>
          <a:effectLst>
            <a:outerShdw sx="100000" sy="100000" kx="0" ky="0" algn="bl" rotWithShape="0" blurRad="76200" dist="25400" dir="5400000">
              <a:srgbClr val="000000">
                <a:alpha val="14000"/>
              </a:srgbClr>
            </a:outerShdw>
          </a:effectLst>
        </p:spPr>
      </p:sp>
      <p:sp>
        <p:nvSpPr>
          <p:cNvPr id="18" name="Text 15"/>
          <p:cNvSpPr txBox="1"/>
          <p:nvPr/>
        </p:nvSpPr>
        <p:spPr>
          <a:xfrm>
            <a:off x="3520440" y="3383280"/>
            <a:ext cx="2331720" cy="384048"/>
          </a:xfrm>
          <a:prstGeom prst="rect">
            <a:avLst/>
          </a:prstGeom>
          <a:noFill/>
          <a:ln/>
        </p:spPr>
        <p:txBody>
          <a:bodyPr wrap="square" lIns="0" tIns="0" rIns="0" bIns="0" rtlCol="0" anchor="ctr"/>
          <a:lstStyle/>
          <a:p>
            <a:pPr algn="l" indent="0" marL="0">
              <a:buNone/>
            </a:pPr>
            <a:r>
              <a:rPr lang="en-US" sz="1600" b="1" dirty="0">
                <a:solidFill>
                  <a:schemeClr val="accent1"/>
                </a:solidFill>
              </a:rPr>
              <a:t>Fraunhofer lines</a:t>
            </a:r>
            <a:endParaRPr lang="en-US" sz="1600" dirty="0"/>
          </a:p>
        </p:txBody>
      </p:sp>
      <p:sp>
        <p:nvSpPr>
          <p:cNvPr id="19" name="Text 16"/>
          <p:cNvSpPr txBox="1"/>
          <p:nvPr/>
        </p:nvSpPr>
        <p:spPr>
          <a:xfrm>
            <a:off x="3493008" y="3794760"/>
            <a:ext cx="2395728" cy="233172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Physically based (Frankenberg 2011)</a:t>
            </a:r>
            <a:endParaRPr lang="en-US" sz="1300" dirty="0"/>
          </a:p>
          <a:p>
            <a:pPr marL="177800" indent="-177800">
              <a:spcAft>
                <a:spcPts val="400"/>
              </a:spcAft>
              <a:buSzPct val="100000"/>
              <a:buChar char="•"/>
            </a:pPr>
            <a:r>
              <a:rPr lang="en-US" sz="1300" dirty="0">
                <a:solidFill>
                  <a:schemeClr val="tx1"/>
                </a:solidFill>
              </a:rPr>
              <a:t>Data-driven </a:t>
            </a:r>
            <a:r>
              <a:rPr lang="en-US" sz="1300" b="1" dirty="0">
                <a:solidFill>
                  <a:schemeClr val="tx1"/>
                </a:solidFill>
              </a:rPr>
              <a:t>PCA / SVD</a:t>
            </a:r>
            <a:r>
              <a:rPr lang="en-US" sz="1300" dirty="0">
                <a:solidFill>
                  <a:schemeClr val="tx1"/>
                </a:solidFill>
              </a:rPr>
              <a:t> (Guanter, Joiner, Köhler)</a:t>
            </a:r>
            <a:endParaRPr lang="en-US" sz="1300" dirty="0"/>
          </a:p>
          <a:p>
            <a:pPr marL="177800" indent="-177800">
              <a:spcAft>
                <a:spcPts val="400"/>
              </a:spcAft>
              <a:buSzPct val="100000"/>
              <a:buChar char="•"/>
            </a:pPr>
            <a:r>
              <a:rPr lang="en-US" sz="1300" dirty="0">
                <a:solidFill>
                  <a:schemeClr val="tx1"/>
                </a:solidFill>
              </a:rPr>
              <a:t>Used by satellites (GOSAT, GOME-2, OCO-2, TROPOMI)</a:t>
            </a:r>
            <a:endParaRPr lang="en-US" sz="1300" dirty="0"/>
          </a:p>
        </p:txBody>
      </p:sp>
      <p:sp>
        <p:nvSpPr>
          <p:cNvPr id="20" name="arrow"/>
          <p:cNvSpPr/>
          <p:nvPr/>
        </p:nvSpPr>
        <p:spPr>
          <a:xfrm flipH="1">
            <a:off x="7498080" y="2971800"/>
            <a:ext cx="1508760" cy="320040"/>
          </a:xfrm>
          <a:prstGeom prst="line">
            <a:avLst/>
          </a:prstGeom>
          <a:noFill/>
          <a:ln w="19050">
            <a:solidFill>
              <a:srgbClr val="D62839"/>
            </a:solidFill>
            <a:prstDash val="solid"/>
            <a:tailEnd type="triangle"/>
          </a:ln>
        </p:spPr>
      </p:sp>
      <p:sp>
        <p:nvSpPr>
          <p:cNvPr id="21" name="card"/>
          <p:cNvSpPr/>
          <p:nvPr/>
        </p:nvSpPr>
        <p:spPr>
          <a:xfrm>
            <a:off x="6217920" y="3291840"/>
            <a:ext cx="2587752" cy="2880360"/>
          </a:xfrm>
          <a:prstGeom prst="roundRect">
            <a:avLst>
              <a:gd name="adj" fmla="val 2827"/>
            </a:avLst>
          </a:prstGeom>
          <a:solidFill>
            <a:schemeClr val="bg2"/>
          </a:solidFill>
          <a:ln/>
          <a:effectLst>
            <a:outerShdw sx="100000" sy="100000" kx="0" ky="0" algn="bl" rotWithShape="0" blurRad="76200" dist="25400" dir="5400000">
              <a:srgbClr val="000000">
                <a:alpha val="14000"/>
              </a:srgbClr>
            </a:outerShdw>
          </a:effectLst>
        </p:spPr>
      </p:sp>
      <p:sp>
        <p:nvSpPr>
          <p:cNvPr id="22" name="Text 19"/>
          <p:cNvSpPr txBox="1"/>
          <p:nvPr/>
        </p:nvSpPr>
        <p:spPr>
          <a:xfrm>
            <a:off x="6355080" y="3383280"/>
            <a:ext cx="2331720" cy="384048"/>
          </a:xfrm>
          <a:prstGeom prst="rect">
            <a:avLst/>
          </a:prstGeom>
          <a:noFill/>
          <a:ln/>
        </p:spPr>
        <p:txBody>
          <a:bodyPr wrap="square" lIns="0" tIns="0" rIns="0" bIns="0" rtlCol="0" anchor="ctr"/>
          <a:lstStyle/>
          <a:p>
            <a:pPr algn="l" indent="0" marL="0">
              <a:buNone/>
            </a:pPr>
            <a:r>
              <a:rPr lang="en-US" sz="1600" b="1" dirty="0">
                <a:solidFill>
                  <a:schemeClr val="accent2"/>
                </a:solidFill>
              </a:rPr>
              <a:t>Spectrum fitting</a:t>
            </a:r>
            <a:endParaRPr lang="en-US" sz="1600" dirty="0"/>
          </a:p>
        </p:txBody>
      </p:sp>
      <p:sp>
        <p:nvSpPr>
          <p:cNvPr id="23" name="Text 20"/>
          <p:cNvSpPr txBox="1"/>
          <p:nvPr/>
        </p:nvSpPr>
        <p:spPr>
          <a:xfrm>
            <a:off x="6327648" y="3794760"/>
            <a:ext cx="2395728" cy="2331720"/>
          </a:xfrm>
          <a:prstGeom prst="rect">
            <a:avLst/>
          </a:prstGeom>
          <a:noFill/>
          <a:ln/>
        </p:spPr>
        <p:txBody>
          <a:bodyPr wrap="square" lIns="508" tIns="508" rIns="508" bIns="508" rtlCol="0" anchor="t"/>
          <a:lstStyle/>
          <a:p>
            <a:pPr marL="177800" indent="-177800">
              <a:spcAft>
                <a:spcPts val="400"/>
              </a:spcAft>
              <a:buSzPct val="100000"/>
              <a:buChar char="•"/>
            </a:pPr>
            <a:r>
              <a:rPr lang="en-US" sz="1300" b="1" dirty="0">
                <a:solidFill>
                  <a:schemeClr val="tx1"/>
                </a:solidFill>
              </a:rPr>
              <a:t>FSR, aFSR</a:t>
            </a:r>
            <a:r>
              <a:rPr lang="en-US" sz="1300" dirty="0">
                <a:solidFill>
                  <a:schemeClr val="tx1"/>
                </a:solidFill>
              </a:rPr>
              <a:t> (basis spectra from SCOPE)</a:t>
            </a:r>
            <a:endParaRPr lang="en-US" sz="1300" dirty="0"/>
          </a:p>
          <a:p>
            <a:pPr marL="177800" indent="-177800">
              <a:spcAft>
                <a:spcPts val="400"/>
              </a:spcAft>
              <a:buSzPct val="100000"/>
              <a:buChar char="•"/>
            </a:pPr>
            <a:r>
              <a:rPr lang="en-US" sz="1300" b="1" dirty="0">
                <a:solidFill>
                  <a:schemeClr val="tx1"/>
                </a:solidFill>
              </a:rPr>
              <a:t>F-SFM</a:t>
            </a:r>
            <a:r>
              <a:rPr lang="en-US" sz="1300" dirty="0">
                <a:solidFill>
                  <a:schemeClr val="tx1"/>
                </a:solidFill>
              </a:rPr>
              <a:t> full-spectrum fitting</a:t>
            </a:r>
            <a:endParaRPr lang="en-US" sz="1300" dirty="0"/>
          </a:p>
          <a:p>
            <a:pPr marL="177800" indent="-177800">
              <a:spcAft>
                <a:spcPts val="400"/>
              </a:spcAft>
              <a:buSzPct val="100000"/>
              <a:buChar char="•"/>
            </a:pPr>
            <a:r>
              <a:rPr lang="en-US" sz="1300" b="1" dirty="0">
                <a:solidFill>
                  <a:schemeClr val="tx1"/>
                </a:solidFill>
              </a:rPr>
              <a:t>SpecFit</a:t>
            </a:r>
            <a:r>
              <a:rPr lang="en-US" sz="1300" dirty="0">
                <a:solidFill>
                  <a:schemeClr val="tx1"/>
                </a:solidFill>
              </a:rPr>
              <a:t> (piecewise cubic spline)</a:t>
            </a:r>
            <a:endParaRPr lang="en-US" sz="1300" dirty="0"/>
          </a:p>
        </p:txBody>
      </p:sp>
      <p:sp>
        <p:nvSpPr>
          <p:cNvPr id="24" name="arrow"/>
          <p:cNvSpPr/>
          <p:nvPr/>
        </p:nvSpPr>
        <p:spPr>
          <a:xfrm>
            <a:off x="9006840" y="2971800"/>
            <a:ext cx="1325880" cy="320040"/>
          </a:xfrm>
          <a:prstGeom prst="line">
            <a:avLst/>
          </a:prstGeom>
          <a:noFill/>
          <a:ln w="19050">
            <a:solidFill>
              <a:srgbClr val="D62839"/>
            </a:solidFill>
            <a:prstDash val="solid"/>
            <a:tailEnd type="triangle"/>
          </a:ln>
        </p:spPr>
      </p:sp>
      <p:sp>
        <p:nvSpPr>
          <p:cNvPr id="25" name="card"/>
          <p:cNvSpPr/>
          <p:nvPr/>
        </p:nvSpPr>
        <p:spPr>
          <a:xfrm>
            <a:off x="9052560" y="3291840"/>
            <a:ext cx="2587752" cy="2880360"/>
          </a:xfrm>
          <a:prstGeom prst="roundRect">
            <a:avLst>
              <a:gd name="adj" fmla="val 2827"/>
            </a:avLst>
          </a:prstGeom>
          <a:solidFill>
            <a:schemeClr val="bg2"/>
          </a:solidFill>
          <a:ln/>
          <a:effectLst>
            <a:outerShdw sx="100000" sy="100000" kx="0" ky="0" algn="bl" rotWithShape="0" blurRad="76200" dist="25400" dir="5400000">
              <a:srgbClr val="000000">
                <a:alpha val="14000"/>
              </a:srgbClr>
            </a:outerShdw>
          </a:effectLst>
        </p:spPr>
      </p:sp>
      <p:sp>
        <p:nvSpPr>
          <p:cNvPr id="26" name="Text 23"/>
          <p:cNvSpPr txBox="1"/>
          <p:nvPr/>
        </p:nvSpPr>
        <p:spPr>
          <a:xfrm>
            <a:off x="9189720" y="3383280"/>
            <a:ext cx="2331720" cy="384048"/>
          </a:xfrm>
          <a:prstGeom prst="rect">
            <a:avLst/>
          </a:prstGeom>
          <a:noFill/>
          <a:ln/>
        </p:spPr>
        <p:txBody>
          <a:bodyPr wrap="square" lIns="0" tIns="0" rIns="0" bIns="0" rtlCol="0" anchor="ctr"/>
          <a:lstStyle/>
          <a:p>
            <a:pPr algn="l" indent="0" marL="0">
              <a:buNone/>
            </a:pPr>
            <a:r>
              <a:rPr lang="en-US" sz="1600" b="1" dirty="0">
                <a:solidFill>
                  <a:schemeClr val="accent2"/>
                </a:solidFill>
              </a:rPr>
              <a:t>Model inversion</a:t>
            </a:r>
            <a:endParaRPr lang="en-US" sz="1600" dirty="0"/>
          </a:p>
        </p:txBody>
      </p:sp>
      <p:sp>
        <p:nvSpPr>
          <p:cNvPr id="27" name="Text 24"/>
          <p:cNvSpPr txBox="1"/>
          <p:nvPr/>
        </p:nvSpPr>
        <p:spPr>
          <a:xfrm>
            <a:off x="9162288" y="3794760"/>
            <a:ext cx="2395728" cy="233172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Invert canopy RTM (SCOPE) at TOA/TOC</a:t>
            </a:r>
            <a:endParaRPr lang="en-US" sz="1300" dirty="0"/>
          </a:p>
          <a:p>
            <a:pPr marL="177800" indent="-177800">
              <a:spcAft>
                <a:spcPts val="400"/>
              </a:spcAft>
              <a:buSzPct val="100000"/>
              <a:buChar char="•"/>
            </a:pPr>
            <a:r>
              <a:rPr lang="en-US" sz="1300" dirty="0">
                <a:solidFill>
                  <a:schemeClr val="tx1"/>
                </a:solidFill>
              </a:rPr>
              <a:t>Verhoef 2018 (FLEX + Sentinel-3)</a:t>
            </a:r>
            <a:endParaRPr lang="en-US" sz="1300" dirty="0"/>
          </a:p>
          <a:p>
            <a:pPr marL="177800" indent="-177800">
              <a:spcAft>
                <a:spcPts val="400"/>
              </a:spcAft>
              <a:buSzPct val="100000"/>
              <a:buChar char="•"/>
            </a:pPr>
            <a:r>
              <a:rPr lang="en-US" sz="1300" dirty="0">
                <a:solidFill>
                  <a:schemeClr val="tx1"/>
                </a:solidFill>
              </a:rPr>
              <a:t>Celesti 2018 · also gives Cab, LAI, fAPAR</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Atmosphere, illumination and observation: the confounders</a:t>
            </a:r>
            <a:endParaRPr lang="en-US" sz="3200" dirty="0"/>
          </a:p>
        </p:txBody>
      </p:sp>
      <p:sp>
        <p:nvSpPr>
          <p:cNvPr id="4" name="card"/>
          <p:cNvSpPr/>
          <p:nvPr/>
        </p:nvSpPr>
        <p:spPr>
          <a:xfrm>
            <a:off x="548640" y="137160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527048"/>
            <a:ext cx="420624" cy="420624"/>
          </a:xfrm>
          <a:prstGeom prst="ellipse">
            <a:avLst/>
          </a:prstGeom>
          <a:solidFill>
            <a:schemeClr val="accent5"/>
          </a:solidFill>
          <a:ln/>
        </p:spPr>
      </p:sp>
      <p:pic>
        <p:nvPicPr>
          <p:cNvPr id="6" name="Image 0" descr="Cloud icon">    </p:cNvPr>
          <p:cNvPicPr>
            <a:picLocks noChangeAspect="1"/>
          </p:cNvPicPr>
          <p:nvPr/>
        </p:nvPicPr>
        <p:blipFill>
          <a:blip r:embed="rId1"/>
          <a:stretch>
            <a:fillRect/>
          </a:stretch>
        </p:blipFill>
        <p:spPr>
          <a:xfrm>
            <a:off x="840882" y="1636410"/>
            <a:ext cx="201900" cy="201900"/>
          </a:xfrm>
          <a:prstGeom prst="rect">
            <a:avLst/>
          </a:prstGeom>
        </p:spPr>
      </p:pic>
      <p:sp>
        <p:nvSpPr>
          <p:cNvPr id="7" name="Text 3"/>
          <p:cNvSpPr txBox="1"/>
          <p:nvPr/>
        </p:nvSpPr>
        <p:spPr>
          <a:xfrm>
            <a:off x="1261872"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Atmospheric correction</a:t>
            </a:r>
            <a:endParaRPr lang="en-US" sz="1500" dirty="0"/>
          </a:p>
        </p:txBody>
      </p:sp>
      <p:sp>
        <p:nvSpPr>
          <p:cNvPr id="8" name="Text 4"/>
          <p:cNvSpPr txBox="1"/>
          <p:nvPr/>
        </p:nvSpPr>
        <p:spPr>
          <a:xfrm>
            <a:off x="731520" y="205740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O₂ bands need accurate RT (MODTRAN, T-18 system); one-step vs two-step schemes</a:t>
            </a:r>
            <a:endParaRPr lang="en-US" sz="1300" dirty="0"/>
          </a:p>
        </p:txBody>
      </p:sp>
      <p:sp>
        <p:nvSpPr>
          <p:cNvPr id="9" name="card"/>
          <p:cNvSpPr/>
          <p:nvPr/>
        </p:nvSpPr>
        <p:spPr>
          <a:xfrm>
            <a:off x="4297680" y="137160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4480560" y="1527048"/>
            <a:ext cx="420624" cy="420624"/>
          </a:xfrm>
          <a:prstGeom prst="ellipse">
            <a:avLst/>
          </a:prstGeom>
          <a:solidFill>
            <a:schemeClr val="accent3"/>
          </a:solidFill>
          <a:ln/>
        </p:spPr>
      </p:sp>
      <p:pic>
        <p:nvPicPr>
          <p:cNvPr id="11" name="Image 1" descr="Sun icon">    </p:cNvPr>
          <p:cNvPicPr>
            <a:picLocks noChangeAspect="1"/>
          </p:cNvPicPr>
          <p:nvPr/>
        </p:nvPicPr>
        <p:blipFill>
          <a:blip r:embed="rId2"/>
          <a:stretch>
            <a:fillRect/>
          </a:stretch>
        </p:blipFill>
        <p:spPr>
          <a:xfrm>
            <a:off x="4589922" y="1636410"/>
            <a:ext cx="201900" cy="201900"/>
          </a:xfrm>
          <a:prstGeom prst="rect">
            <a:avLst/>
          </a:prstGeom>
        </p:spPr>
      </p:pic>
      <p:sp>
        <p:nvSpPr>
          <p:cNvPr id="12" name="Text 7"/>
          <p:cNvSpPr txBox="1"/>
          <p:nvPr/>
        </p:nvSpPr>
        <p:spPr>
          <a:xfrm>
            <a:off x="5010912"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Direct vs diffuse light</a:t>
            </a:r>
            <a:endParaRPr lang="en-US" sz="1500" dirty="0"/>
          </a:p>
        </p:txBody>
      </p:sp>
      <p:sp>
        <p:nvSpPr>
          <p:cNvPr id="13" name="Text 8"/>
          <p:cNvSpPr txBox="1"/>
          <p:nvPr/>
        </p:nvSpPr>
        <p:spPr>
          <a:xfrm>
            <a:off x="4480560" y="205740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Diffuse light travels a longer path → deeper band → SIF over/under-estimated (up to 20 % at O₂-A)</a:t>
            </a:r>
            <a:endParaRPr lang="en-US" sz="1300" dirty="0"/>
          </a:p>
        </p:txBody>
      </p:sp>
      <p:sp>
        <p:nvSpPr>
          <p:cNvPr id="14" name="card"/>
          <p:cNvSpPr/>
          <p:nvPr/>
        </p:nvSpPr>
        <p:spPr>
          <a:xfrm>
            <a:off x="8046720" y="137160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5" name="icon circle"/>
          <p:cNvSpPr/>
          <p:nvPr/>
        </p:nvSpPr>
        <p:spPr>
          <a:xfrm>
            <a:off x="8229600" y="1527048"/>
            <a:ext cx="420624" cy="420624"/>
          </a:xfrm>
          <a:prstGeom prst="ellipse">
            <a:avLst/>
          </a:prstGeom>
          <a:solidFill>
            <a:schemeClr val="accent1"/>
          </a:solidFill>
          <a:ln/>
        </p:spPr>
      </p:sp>
      <p:pic>
        <p:nvPicPr>
          <p:cNvPr id="16" name="Image 2" descr="Compass icon">    </p:cNvPr>
          <p:cNvPicPr>
            <a:picLocks noChangeAspect="1"/>
          </p:cNvPicPr>
          <p:nvPr/>
        </p:nvPicPr>
        <p:blipFill>
          <a:blip r:embed="rId3"/>
          <a:stretch>
            <a:fillRect/>
          </a:stretch>
        </p:blipFill>
        <p:spPr>
          <a:xfrm>
            <a:off x="8338962" y="1636410"/>
            <a:ext cx="201900" cy="201900"/>
          </a:xfrm>
          <a:prstGeom prst="rect">
            <a:avLst/>
          </a:prstGeom>
        </p:spPr>
      </p:pic>
      <p:sp>
        <p:nvSpPr>
          <p:cNvPr id="17" name="Text 11"/>
          <p:cNvSpPr txBox="1"/>
          <p:nvPr/>
        </p:nvSpPr>
        <p:spPr>
          <a:xfrm>
            <a:off x="8759952"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Anisotropy &amp; geometry</a:t>
            </a:r>
            <a:endParaRPr lang="en-US" sz="1500" dirty="0"/>
          </a:p>
        </p:txBody>
      </p:sp>
      <p:sp>
        <p:nvSpPr>
          <p:cNvPr id="18" name="Text 12"/>
          <p:cNvSpPr txBox="1"/>
          <p:nvPr/>
        </p:nvSpPr>
        <p:spPr>
          <a:xfrm>
            <a:off x="8229600" y="205740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Sun/view angles change sunlit vs shaded fraction seen by the sensor</a:t>
            </a:r>
            <a:endParaRPr lang="en-US" sz="1300" dirty="0"/>
          </a:p>
        </p:txBody>
      </p:sp>
      <p:sp>
        <p:nvSpPr>
          <p:cNvPr id="19" name="card"/>
          <p:cNvSpPr/>
          <p:nvPr/>
        </p:nvSpPr>
        <p:spPr>
          <a:xfrm>
            <a:off x="548640" y="379476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20" name="icon circle"/>
          <p:cNvSpPr/>
          <p:nvPr/>
        </p:nvSpPr>
        <p:spPr>
          <a:xfrm>
            <a:off x="731520" y="3950208"/>
            <a:ext cx="420624" cy="420624"/>
          </a:xfrm>
          <a:prstGeom prst="ellipse">
            <a:avLst/>
          </a:prstGeom>
          <a:solidFill>
            <a:schemeClr val="accent6"/>
          </a:solidFill>
          <a:ln/>
        </p:spPr>
      </p:sp>
      <p:pic>
        <p:nvPicPr>
          <p:cNvPr id="21" name="Image 3" descr="Wind icon">    </p:cNvPr>
          <p:cNvPicPr>
            <a:picLocks noChangeAspect="1"/>
          </p:cNvPicPr>
          <p:nvPr/>
        </p:nvPicPr>
        <p:blipFill>
          <a:blip r:embed="rId4"/>
          <a:stretch>
            <a:fillRect/>
          </a:stretch>
        </p:blipFill>
        <p:spPr>
          <a:xfrm>
            <a:off x="840882" y="4059570"/>
            <a:ext cx="201900" cy="201900"/>
          </a:xfrm>
          <a:prstGeom prst="rect">
            <a:avLst/>
          </a:prstGeom>
        </p:spPr>
      </p:pic>
      <p:sp>
        <p:nvSpPr>
          <p:cNvPr id="22" name="Text 15"/>
          <p:cNvSpPr txBox="1"/>
          <p:nvPr/>
        </p:nvSpPr>
        <p:spPr>
          <a:xfrm>
            <a:off x="1261872" y="393192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Clouds &amp; aerosols</a:t>
            </a:r>
            <a:endParaRPr lang="en-US" sz="1500" dirty="0"/>
          </a:p>
        </p:txBody>
      </p:sp>
      <p:sp>
        <p:nvSpPr>
          <p:cNvPr id="23" name="Text 16"/>
          <p:cNvSpPr txBox="1"/>
          <p:nvPr/>
        </p:nvSpPr>
        <p:spPr>
          <a:xfrm>
            <a:off x="731520" y="448056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Contaminate large footprints; moderate broken clouds tolerated for Fraunhofer lines</a:t>
            </a:r>
            <a:endParaRPr lang="en-US" sz="1300" dirty="0"/>
          </a:p>
        </p:txBody>
      </p:sp>
      <p:sp>
        <p:nvSpPr>
          <p:cNvPr id="24" name="card"/>
          <p:cNvSpPr/>
          <p:nvPr/>
        </p:nvSpPr>
        <p:spPr>
          <a:xfrm>
            <a:off x="4297680" y="379476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25" name="icon circle"/>
          <p:cNvSpPr/>
          <p:nvPr/>
        </p:nvSpPr>
        <p:spPr>
          <a:xfrm>
            <a:off x="4480560" y="3950208"/>
            <a:ext cx="420624" cy="420624"/>
          </a:xfrm>
          <a:prstGeom prst="ellipse">
            <a:avLst/>
          </a:prstGeom>
          <a:solidFill>
            <a:schemeClr val="accent2"/>
          </a:solidFill>
          <a:ln/>
        </p:spPr>
      </p:sp>
      <p:pic>
        <p:nvPicPr>
          <p:cNvPr id="26" name="Image 4" descr="ExclamationTriangle icon">    </p:cNvPr>
          <p:cNvPicPr>
            <a:picLocks noChangeAspect="1"/>
          </p:cNvPicPr>
          <p:nvPr/>
        </p:nvPicPr>
        <p:blipFill>
          <a:blip r:embed="rId5"/>
          <a:stretch>
            <a:fillRect/>
          </a:stretch>
        </p:blipFill>
        <p:spPr>
          <a:xfrm>
            <a:off x="4589922" y="4059570"/>
            <a:ext cx="201900" cy="201900"/>
          </a:xfrm>
          <a:prstGeom prst="rect">
            <a:avLst/>
          </a:prstGeom>
        </p:spPr>
      </p:pic>
      <p:sp>
        <p:nvSpPr>
          <p:cNvPr id="27" name="Text 19"/>
          <p:cNvSpPr txBox="1"/>
          <p:nvPr/>
        </p:nvSpPr>
        <p:spPr>
          <a:xfrm>
            <a:off x="5010912" y="393192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Zero-level offset</a:t>
            </a:r>
            <a:endParaRPr lang="en-US" sz="1500" dirty="0"/>
          </a:p>
        </p:txBody>
      </p:sp>
      <p:sp>
        <p:nvSpPr>
          <p:cNvPr id="28" name="Text 20"/>
          <p:cNvSpPr txBox="1"/>
          <p:nvPr/>
        </p:nvSpPr>
        <p:spPr>
          <a:xfrm>
            <a:off x="4480560" y="448056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Non-zero SIF retrieved where none exists (e.g. Sahara) — found first in GOSAT</a:t>
            </a:r>
            <a:endParaRPr lang="en-US" sz="1300" dirty="0"/>
          </a:p>
        </p:txBody>
      </p:sp>
      <p:sp>
        <p:nvSpPr>
          <p:cNvPr id="29" name="card"/>
          <p:cNvSpPr/>
          <p:nvPr/>
        </p:nvSpPr>
        <p:spPr>
          <a:xfrm>
            <a:off x="8046720" y="379476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30" name="icon circle"/>
          <p:cNvSpPr/>
          <p:nvPr/>
        </p:nvSpPr>
        <p:spPr>
          <a:xfrm>
            <a:off x="8229600" y="3950208"/>
            <a:ext cx="420624" cy="420624"/>
          </a:xfrm>
          <a:prstGeom prst="ellipse">
            <a:avLst/>
          </a:prstGeom>
          <a:solidFill>
            <a:schemeClr val="accent4"/>
          </a:solidFill>
          <a:ln/>
        </p:spPr>
      </p:sp>
      <p:pic>
        <p:nvPicPr>
          <p:cNvPr id="31" name="Image 5" descr="Cogs icon">    </p:cNvPr>
          <p:cNvPicPr>
            <a:picLocks noChangeAspect="1"/>
          </p:cNvPicPr>
          <p:nvPr/>
        </p:nvPicPr>
        <p:blipFill>
          <a:blip r:embed="rId6"/>
          <a:stretch>
            <a:fillRect/>
          </a:stretch>
        </p:blipFill>
        <p:spPr>
          <a:xfrm>
            <a:off x="8338962" y="4059570"/>
            <a:ext cx="201900" cy="201900"/>
          </a:xfrm>
          <a:prstGeom prst="rect">
            <a:avLst/>
          </a:prstGeom>
        </p:spPr>
      </p:pic>
      <p:sp>
        <p:nvSpPr>
          <p:cNvPr id="32" name="Text 23"/>
          <p:cNvSpPr txBox="1"/>
          <p:nvPr/>
        </p:nvSpPr>
        <p:spPr>
          <a:xfrm>
            <a:off x="8759952" y="393192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Sensor performance</a:t>
            </a:r>
            <a:endParaRPr lang="en-US" sz="1500" dirty="0"/>
          </a:p>
        </p:txBody>
      </p:sp>
      <p:sp>
        <p:nvSpPr>
          <p:cNvPr id="33" name="Text 24"/>
          <p:cNvSpPr txBox="1"/>
          <p:nvPr/>
        </p:nvSpPr>
        <p:spPr>
          <a:xfrm>
            <a:off x="8229600" y="448056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Spectral resolution, SNR, stray light, calibration drift and degradation</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Modelling SIF: from photosystem to globe</a:t>
            </a:r>
            <a:endParaRPr lang="en-US" sz="3200" dirty="0"/>
          </a:p>
        </p:txBody>
      </p:sp>
      <p:sp>
        <p:nvSpPr>
          <p:cNvPr id="4" name="figure frame"/>
          <p:cNvSpPr/>
          <p:nvPr/>
        </p:nvSpPr>
        <p:spPr>
          <a:xfrm>
            <a:off x="548640" y="1325880"/>
            <a:ext cx="6766560" cy="3749040"/>
          </a:xfrm>
          <a:prstGeom prst="roundRect">
            <a:avLst>
              <a:gd name="adj" fmla="val 1463"/>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Mohammed et al. (2019), Fig. 5 — history of leaf and canopy models; blue = models without fluorescence">    </p:cNvPr>
          <p:cNvPicPr>
            <a:picLocks noChangeAspect="1"/>
          </p:cNvPicPr>
          <p:nvPr/>
        </p:nvPicPr>
        <p:blipFill>
          <a:blip r:embed="rId1"/>
          <a:stretch>
            <a:fillRect/>
          </a:stretch>
        </p:blipFill>
        <p:spPr>
          <a:xfrm>
            <a:off x="997811" y="1417320"/>
            <a:ext cx="5868218" cy="3566160"/>
          </a:xfrm>
          <a:prstGeom prst="rect">
            <a:avLst/>
          </a:prstGeom>
        </p:spPr>
      </p:pic>
      <p:sp>
        <p:nvSpPr>
          <p:cNvPr id="6" name="Text 2"/>
          <p:cNvSpPr txBox="1"/>
          <p:nvPr/>
        </p:nvSpPr>
        <p:spPr>
          <a:xfrm>
            <a:off x="548640" y="5120640"/>
            <a:ext cx="6766560" cy="365760"/>
          </a:xfrm>
          <a:prstGeom prst="rect">
            <a:avLst/>
          </a:prstGeom>
          <a:noFill/>
          <a:ln/>
        </p:spPr>
        <p:txBody>
          <a:bodyPr wrap="square" lIns="0" tIns="0" rIns="0" bIns="0" rtlCol="0" anchor="t"/>
          <a:lstStyle/>
          <a:p>
            <a:pPr indent="0" marL="0">
              <a:buNone/>
            </a:pPr>
            <a:r>
              <a:rPr lang="en-US" sz="1100" i="1" dirty="0">
                <a:solidFill>
                  <a:schemeClr val="accent6"/>
                </a:solidFill>
              </a:rPr>
              <a:t>Mohammed et al. (2019), Fig. 5 — history of leaf and canopy models; blue = models without fluorescence</a:t>
            </a:r>
            <a:endParaRPr lang="en-US" sz="1100" dirty="0"/>
          </a:p>
        </p:txBody>
      </p:sp>
      <p:sp>
        <p:nvSpPr>
          <p:cNvPr id="7" name="diagram box"/>
          <p:cNvSpPr/>
          <p:nvPr/>
        </p:nvSpPr>
        <p:spPr>
          <a:xfrm>
            <a:off x="7589520" y="1325880"/>
            <a:ext cx="1463040" cy="713232"/>
          </a:xfrm>
          <a:prstGeom prst="roundRect">
            <a:avLst>
              <a:gd name="adj" fmla="val 10256"/>
            </a:avLst>
          </a:prstGeom>
          <a:solidFill>
            <a:schemeClr val="accent1"/>
          </a:solidFill>
          <a:ln/>
        </p:spPr>
      </p:sp>
      <p:sp>
        <p:nvSpPr>
          <p:cNvPr id="8" name="Text 4"/>
          <p:cNvSpPr txBox="1"/>
          <p:nvPr/>
        </p:nvSpPr>
        <p:spPr>
          <a:xfrm>
            <a:off x="7589520" y="1325880"/>
            <a:ext cx="1463040" cy="713232"/>
          </a:xfrm>
          <a:prstGeom prst="rect">
            <a:avLst/>
          </a:prstGeom>
          <a:noFill/>
          <a:ln/>
        </p:spPr>
        <p:txBody>
          <a:bodyPr wrap="square" lIns="508" tIns="508" rIns="508" bIns="508" rtlCol="0" anchor="ctr"/>
          <a:lstStyle/>
          <a:p>
            <a:pPr algn="ctr" indent="0" marL="0">
              <a:buNone/>
            </a:pPr>
            <a:r>
              <a:rPr lang="en-US" sz="1300" b="1" dirty="0">
                <a:solidFill>
                  <a:schemeClr val="bg1"/>
                </a:solidFill>
              </a:rPr>
              <a:t>Photosystem</a:t>
            </a:r>
            <a:endParaRPr lang="en-US" sz="1300" dirty="0"/>
          </a:p>
        </p:txBody>
      </p:sp>
      <p:sp>
        <p:nvSpPr>
          <p:cNvPr id="9" name="Text 5"/>
          <p:cNvSpPr txBox="1"/>
          <p:nvPr/>
        </p:nvSpPr>
        <p:spPr>
          <a:xfrm>
            <a:off x="9189720" y="1325880"/>
            <a:ext cx="2450592" cy="713232"/>
          </a:xfrm>
          <a:prstGeom prst="rect">
            <a:avLst/>
          </a:prstGeom>
          <a:noFill/>
          <a:ln/>
        </p:spPr>
        <p:txBody>
          <a:bodyPr wrap="square" lIns="0" tIns="0" rIns="0" bIns="0" rtlCol="0" anchor="ctr"/>
          <a:lstStyle/>
          <a:p>
            <a:pPr indent="0" marL="0">
              <a:buNone/>
            </a:pPr>
            <a:r>
              <a:rPr lang="en-US" sz="1300" dirty="0">
                <a:solidFill>
                  <a:schemeClr val="tx1"/>
                </a:solidFill>
              </a:rPr>
              <a:t>Kautsky, Genty, Rosema NPQ, van der Tol &amp; Berry</a:t>
            </a:r>
            <a:endParaRPr lang="en-US" sz="1300" dirty="0"/>
          </a:p>
        </p:txBody>
      </p:sp>
      <p:sp>
        <p:nvSpPr>
          <p:cNvPr id="10" name="diagram box"/>
          <p:cNvSpPr/>
          <p:nvPr/>
        </p:nvSpPr>
        <p:spPr>
          <a:xfrm>
            <a:off x="7589520" y="2167128"/>
            <a:ext cx="1463040" cy="713232"/>
          </a:xfrm>
          <a:prstGeom prst="roundRect">
            <a:avLst>
              <a:gd name="adj" fmla="val 10256"/>
            </a:avLst>
          </a:prstGeom>
          <a:solidFill>
            <a:schemeClr val="accent1"/>
          </a:solidFill>
          <a:ln/>
        </p:spPr>
      </p:sp>
      <p:sp>
        <p:nvSpPr>
          <p:cNvPr id="11" name="Text 7"/>
          <p:cNvSpPr txBox="1"/>
          <p:nvPr/>
        </p:nvSpPr>
        <p:spPr>
          <a:xfrm>
            <a:off x="7589520" y="2167128"/>
            <a:ext cx="1463040" cy="713232"/>
          </a:xfrm>
          <a:prstGeom prst="rect">
            <a:avLst/>
          </a:prstGeom>
          <a:noFill/>
          <a:ln/>
        </p:spPr>
        <p:txBody>
          <a:bodyPr wrap="square" lIns="508" tIns="508" rIns="508" bIns="508" rtlCol="0" anchor="ctr"/>
          <a:lstStyle/>
          <a:p>
            <a:pPr algn="ctr" indent="0" marL="0">
              <a:buNone/>
            </a:pPr>
            <a:r>
              <a:rPr lang="en-US" sz="1300" b="1" dirty="0">
                <a:solidFill>
                  <a:schemeClr val="bg1"/>
                </a:solidFill>
              </a:rPr>
              <a:t>Leaf RTM</a:t>
            </a:r>
            <a:endParaRPr lang="en-US" sz="1300" dirty="0"/>
          </a:p>
        </p:txBody>
      </p:sp>
      <p:sp>
        <p:nvSpPr>
          <p:cNvPr id="12" name="Text 8"/>
          <p:cNvSpPr txBox="1"/>
          <p:nvPr/>
        </p:nvSpPr>
        <p:spPr>
          <a:xfrm>
            <a:off x="9189720" y="2167128"/>
            <a:ext cx="2450592" cy="713232"/>
          </a:xfrm>
          <a:prstGeom prst="rect">
            <a:avLst/>
          </a:prstGeom>
          <a:noFill/>
          <a:ln/>
        </p:spPr>
        <p:txBody>
          <a:bodyPr wrap="square" lIns="0" tIns="0" rIns="0" bIns="0" rtlCol="0" anchor="ctr"/>
          <a:lstStyle/>
          <a:p>
            <a:pPr indent="0" marL="0">
              <a:buNone/>
            </a:pPr>
            <a:r>
              <a:rPr lang="en-US" sz="1300" dirty="0">
                <a:solidFill>
                  <a:schemeClr val="tx1"/>
                </a:solidFill>
              </a:rPr>
              <a:t>PROSPECT → FluorMODleaf → Fluspect</a:t>
            </a:r>
            <a:endParaRPr lang="en-US" sz="1300" dirty="0"/>
          </a:p>
        </p:txBody>
      </p:sp>
      <p:sp>
        <p:nvSpPr>
          <p:cNvPr id="13" name="diagram box"/>
          <p:cNvSpPr/>
          <p:nvPr/>
        </p:nvSpPr>
        <p:spPr>
          <a:xfrm>
            <a:off x="7589520" y="3008376"/>
            <a:ext cx="1463040" cy="713232"/>
          </a:xfrm>
          <a:prstGeom prst="roundRect">
            <a:avLst>
              <a:gd name="adj" fmla="val 10256"/>
            </a:avLst>
          </a:prstGeom>
          <a:solidFill>
            <a:schemeClr val="accent5"/>
          </a:solidFill>
          <a:ln/>
        </p:spPr>
      </p:sp>
      <p:sp>
        <p:nvSpPr>
          <p:cNvPr id="14" name="Text 10"/>
          <p:cNvSpPr txBox="1"/>
          <p:nvPr/>
        </p:nvSpPr>
        <p:spPr>
          <a:xfrm>
            <a:off x="7589520" y="3008376"/>
            <a:ext cx="1463040" cy="713232"/>
          </a:xfrm>
          <a:prstGeom prst="rect">
            <a:avLst/>
          </a:prstGeom>
          <a:noFill/>
          <a:ln/>
        </p:spPr>
        <p:txBody>
          <a:bodyPr wrap="square" lIns="508" tIns="508" rIns="508" bIns="508" rtlCol="0" anchor="ctr"/>
          <a:lstStyle/>
          <a:p>
            <a:pPr algn="ctr" indent="0" marL="0">
              <a:buNone/>
            </a:pPr>
            <a:r>
              <a:rPr lang="en-US" sz="1300" b="1" dirty="0">
                <a:solidFill>
                  <a:schemeClr val="bg1"/>
                </a:solidFill>
              </a:rPr>
              <a:t>Canopy 1D</a:t>
            </a:r>
            <a:endParaRPr lang="en-US" sz="1300" dirty="0"/>
          </a:p>
        </p:txBody>
      </p:sp>
      <p:sp>
        <p:nvSpPr>
          <p:cNvPr id="15" name="Text 11"/>
          <p:cNvSpPr txBox="1"/>
          <p:nvPr/>
        </p:nvSpPr>
        <p:spPr>
          <a:xfrm>
            <a:off x="9189720" y="3008376"/>
            <a:ext cx="2450592" cy="713232"/>
          </a:xfrm>
          <a:prstGeom prst="rect">
            <a:avLst/>
          </a:prstGeom>
          <a:noFill/>
          <a:ln/>
        </p:spPr>
        <p:txBody>
          <a:bodyPr wrap="square" lIns="0" tIns="0" rIns="0" bIns="0" rtlCol="0" anchor="ctr"/>
          <a:lstStyle/>
          <a:p>
            <a:pPr indent="0" marL="0">
              <a:buNone/>
            </a:pPr>
            <a:r>
              <a:rPr lang="en-US" sz="1300" dirty="0">
                <a:solidFill>
                  <a:schemeClr val="tx1"/>
                </a:solidFill>
              </a:rPr>
              <a:t>SAIL → FluorSAIL → </a:t>
            </a:r>
            <a:r>
              <a:rPr lang="en-US" sz="1300" b="1" dirty="0">
                <a:solidFill>
                  <a:schemeClr val="tx1"/>
                </a:solidFill>
              </a:rPr>
              <a:t>SCOPE</a:t>
            </a:r>
            <a:r>
              <a:rPr lang="en-US" sz="1300" dirty="0">
                <a:solidFill>
                  <a:schemeClr val="tx1"/>
                </a:solidFill>
              </a:rPr>
              <a:t> (with energy balance)</a:t>
            </a:r>
            <a:endParaRPr lang="en-US" sz="1300" dirty="0"/>
          </a:p>
        </p:txBody>
      </p:sp>
      <p:sp>
        <p:nvSpPr>
          <p:cNvPr id="16" name="diagram box"/>
          <p:cNvSpPr/>
          <p:nvPr/>
        </p:nvSpPr>
        <p:spPr>
          <a:xfrm>
            <a:off x="7589520" y="3849624"/>
            <a:ext cx="1463040" cy="713232"/>
          </a:xfrm>
          <a:prstGeom prst="roundRect">
            <a:avLst>
              <a:gd name="adj" fmla="val 10256"/>
            </a:avLst>
          </a:prstGeom>
          <a:solidFill>
            <a:schemeClr val="accent5"/>
          </a:solidFill>
          <a:ln/>
        </p:spPr>
      </p:sp>
      <p:sp>
        <p:nvSpPr>
          <p:cNvPr id="17" name="Text 13"/>
          <p:cNvSpPr txBox="1"/>
          <p:nvPr/>
        </p:nvSpPr>
        <p:spPr>
          <a:xfrm>
            <a:off x="7589520" y="3849624"/>
            <a:ext cx="1463040" cy="713232"/>
          </a:xfrm>
          <a:prstGeom prst="rect">
            <a:avLst/>
          </a:prstGeom>
          <a:noFill/>
          <a:ln/>
        </p:spPr>
        <p:txBody>
          <a:bodyPr wrap="square" lIns="508" tIns="508" rIns="508" bIns="508" rtlCol="0" anchor="ctr"/>
          <a:lstStyle/>
          <a:p>
            <a:pPr algn="ctr" indent="0" marL="0">
              <a:buNone/>
            </a:pPr>
            <a:r>
              <a:rPr lang="en-US" sz="1300" b="1" dirty="0">
                <a:solidFill>
                  <a:schemeClr val="bg1"/>
                </a:solidFill>
              </a:rPr>
              <a:t>Canopy 3D</a:t>
            </a:r>
            <a:endParaRPr lang="en-US" sz="1300" dirty="0"/>
          </a:p>
        </p:txBody>
      </p:sp>
      <p:sp>
        <p:nvSpPr>
          <p:cNvPr id="18" name="Text 14"/>
          <p:cNvSpPr txBox="1"/>
          <p:nvPr/>
        </p:nvSpPr>
        <p:spPr>
          <a:xfrm>
            <a:off x="9189720" y="3849624"/>
            <a:ext cx="2450592" cy="713232"/>
          </a:xfrm>
          <a:prstGeom prst="rect">
            <a:avLst/>
          </a:prstGeom>
          <a:noFill/>
          <a:ln/>
        </p:spPr>
        <p:txBody>
          <a:bodyPr wrap="square" lIns="0" tIns="0" rIns="0" bIns="0" rtlCol="0" anchor="ctr"/>
          <a:lstStyle/>
          <a:p>
            <a:pPr indent="0" marL="0">
              <a:buNone/>
            </a:pPr>
            <a:r>
              <a:rPr lang="en-US" sz="1300" b="1" dirty="0">
                <a:solidFill>
                  <a:schemeClr val="tx1"/>
                </a:solidFill>
              </a:rPr>
              <a:t>DART</a:t>
            </a:r>
            <a:r>
              <a:rPr lang="en-US" sz="1300" dirty="0">
                <a:solidFill>
                  <a:schemeClr val="tx1"/>
                </a:solidFill>
              </a:rPr>
              <a:t>, FluorFLIGHT, FluorWPS</a:t>
            </a:r>
            <a:endParaRPr lang="en-US" sz="1300" dirty="0"/>
          </a:p>
        </p:txBody>
      </p:sp>
      <p:sp>
        <p:nvSpPr>
          <p:cNvPr id="19" name="diagram box"/>
          <p:cNvSpPr/>
          <p:nvPr/>
        </p:nvSpPr>
        <p:spPr>
          <a:xfrm>
            <a:off x="7589520" y="4690872"/>
            <a:ext cx="1463040" cy="713232"/>
          </a:xfrm>
          <a:prstGeom prst="roundRect">
            <a:avLst>
              <a:gd name="adj" fmla="val 10256"/>
            </a:avLst>
          </a:prstGeom>
          <a:solidFill>
            <a:schemeClr val="accent2"/>
          </a:solidFill>
          <a:ln/>
        </p:spPr>
      </p:sp>
      <p:sp>
        <p:nvSpPr>
          <p:cNvPr id="20" name="Text 16"/>
          <p:cNvSpPr txBox="1"/>
          <p:nvPr/>
        </p:nvSpPr>
        <p:spPr>
          <a:xfrm>
            <a:off x="7589520" y="4690872"/>
            <a:ext cx="1463040" cy="713232"/>
          </a:xfrm>
          <a:prstGeom prst="rect">
            <a:avLst/>
          </a:prstGeom>
          <a:noFill/>
          <a:ln/>
        </p:spPr>
        <p:txBody>
          <a:bodyPr wrap="square" lIns="508" tIns="508" rIns="508" bIns="508" rtlCol="0" anchor="ctr"/>
          <a:lstStyle/>
          <a:p>
            <a:pPr algn="ctr" indent="0" marL="0">
              <a:buNone/>
            </a:pPr>
            <a:r>
              <a:rPr lang="en-US" sz="1300" b="1" dirty="0">
                <a:solidFill>
                  <a:schemeClr val="bg1"/>
                </a:solidFill>
              </a:rPr>
              <a:t>Global LSM</a:t>
            </a:r>
            <a:endParaRPr lang="en-US" sz="1300" dirty="0"/>
          </a:p>
        </p:txBody>
      </p:sp>
      <p:sp>
        <p:nvSpPr>
          <p:cNvPr id="21" name="Text 17"/>
          <p:cNvSpPr txBox="1"/>
          <p:nvPr/>
        </p:nvSpPr>
        <p:spPr>
          <a:xfrm>
            <a:off x="9189720" y="4690872"/>
            <a:ext cx="2450592" cy="713232"/>
          </a:xfrm>
          <a:prstGeom prst="rect">
            <a:avLst/>
          </a:prstGeom>
          <a:noFill/>
          <a:ln/>
        </p:spPr>
        <p:txBody>
          <a:bodyPr wrap="square" lIns="0" tIns="0" rIns="0" bIns="0" rtlCol="0" anchor="ctr"/>
          <a:lstStyle/>
          <a:p>
            <a:pPr indent="0" marL="0">
              <a:buNone/>
            </a:pPr>
            <a:r>
              <a:rPr lang="en-US" sz="1300" dirty="0">
                <a:solidFill>
                  <a:schemeClr val="tx1"/>
                </a:solidFill>
              </a:rPr>
              <a:t>CLM, BETHY, ORCHIDEE assimilate SIF</a:t>
            </a:r>
            <a:endParaRPr lang="en-US" sz="1300" dirty="0"/>
          </a:p>
        </p:txBody>
      </p:sp>
      <p:sp>
        <p:nvSpPr>
          <p:cNvPr id="22" name="card"/>
          <p:cNvSpPr/>
          <p:nvPr/>
        </p:nvSpPr>
        <p:spPr>
          <a:xfrm>
            <a:off x="548640" y="5577840"/>
            <a:ext cx="11091672" cy="594360"/>
          </a:xfrm>
          <a:prstGeom prst="roundRect">
            <a:avLst>
              <a:gd name="adj" fmla="val 12308"/>
            </a:avLst>
          </a:prstGeom>
          <a:solidFill>
            <a:schemeClr val="bg2"/>
          </a:solidFill>
          <a:ln/>
        </p:spPr>
      </p:sp>
      <p:sp>
        <p:nvSpPr>
          <p:cNvPr id="23" name="Text 19"/>
          <p:cNvSpPr txBox="1"/>
          <p:nvPr/>
        </p:nvSpPr>
        <p:spPr>
          <a:xfrm>
            <a:off x="731520" y="5715000"/>
            <a:ext cx="10771632" cy="365760"/>
          </a:xfrm>
          <a:prstGeom prst="rect">
            <a:avLst/>
          </a:prstGeom>
          <a:noFill/>
          <a:ln/>
        </p:spPr>
        <p:txBody>
          <a:bodyPr wrap="square" lIns="0" tIns="0" rIns="0" bIns="0" rtlCol="0" anchor="ctr"/>
          <a:lstStyle/>
          <a:p>
            <a:pPr indent="0" marL="0">
              <a:buNone/>
            </a:pPr>
            <a:r>
              <a:rPr lang="en-US" sz="1300" b="1" dirty="0">
                <a:solidFill>
                  <a:schemeClr val="tx2"/>
                </a:solidFill>
              </a:rPr>
              <a:t>SCOPE = Soil–Canopy Observation of Photosynthesis and Energy fluxes; DART = Discrete Anisotropic Radiative Transfer</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3D modelling example: DART simulation of a maize canopy</a:t>
            </a:r>
            <a:endParaRPr lang="en-US" sz="3200" dirty="0"/>
          </a:p>
        </p:txBody>
      </p:sp>
      <p:sp>
        <p:nvSpPr>
          <p:cNvPr id="4" name="figure frame"/>
          <p:cNvSpPr/>
          <p:nvPr/>
        </p:nvSpPr>
        <p:spPr>
          <a:xfrm>
            <a:off x="548640" y="1325880"/>
            <a:ext cx="11091672" cy="2240280"/>
          </a:xfrm>
          <a:prstGeom prst="roundRect">
            <a:avLst>
              <a:gd name="adj" fmla="val 2449"/>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Mohammed et al. (2019), Fig. 6 — (a) irradiance, (b) sunlit (red) and shaded (blue) leaves, (c) true-colour reflectance, (d) PSII SIF image, (e) hourly PSII and PSI SIF at 742.5 nm">    </p:cNvPr>
          <p:cNvPicPr>
            <a:picLocks noChangeAspect="1"/>
          </p:cNvPicPr>
          <p:nvPr/>
        </p:nvPicPr>
        <p:blipFill>
          <a:blip r:embed="rId1"/>
          <a:stretch>
            <a:fillRect/>
          </a:stretch>
        </p:blipFill>
        <p:spPr>
          <a:xfrm>
            <a:off x="981232" y="1417320"/>
            <a:ext cx="10226488" cy="2057400"/>
          </a:xfrm>
          <a:prstGeom prst="rect">
            <a:avLst/>
          </a:prstGeom>
        </p:spPr>
      </p:pic>
      <p:sp>
        <p:nvSpPr>
          <p:cNvPr id="6" name="Text 2"/>
          <p:cNvSpPr txBox="1"/>
          <p:nvPr/>
        </p:nvSpPr>
        <p:spPr>
          <a:xfrm>
            <a:off x="548640" y="3611880"/>
            <a:ext cx="11091672" cy="411480"/>
          </a:xfrm>
          <a:prstGeom prst="rect">
            <a:avLst/>
          </a:prstGeom>
          <a:noFill/>
          <a:ln/>
        </p:spPr>
        <p:txBody>
          <a:bodyPr wrap="square" lIns="0" tIns="0" rIns="0" bIns="0" rtlCol="0" anchor="t"/>
          <a:lstStyle/>
          <a:p>
            <a:pPr indent="0" marL="0">
              <a:buNone/>
            </a:pPr>
            <a:r>
              <a:rPr lang="en-US" sz="1100" i="1" dirty="0">
                <a:solidFill>
                  <a:schemeClr val="accent6"/>
                </a:solidFill>
              </a:rPr>
              <a:t>Mohammed et al. (2019), Fig. 6 — (a) irradiance, (b) sunlit (red) and shaded (blue) leaves, (c) true-colour reflectance, (d) PSII SIF image, (e) hourly PSII and PSI SIF at 742.5 nm</a:t>
            </a:r>
            <a:endParaRPr lang="en-US" sz="1100" dirty="0"/>
          </a:p>
        </p:txBody>
      </p:sp>
      <p:sp>
        <p:nvSpPr>
          <p:cNvPr id="7" name="card"/>
          <p:cNvSpPr/>
          <p:nvPr/>
        </p:nvSpPr>
        <p:spPr>
          <a:xfrm>
            <a:off x="548640" y="4206240"/>
            <a:ext cx="3566160" cy="1965960"/>
          </a:xfrm>
          <a:prstGeom prst="roundRect">
            <a:avLst>
              <a:gd name="adj" fmla="val 3721"/>
            </a:avLst>
          </a:prstGeom>
          <a:solidFill>
            <a:schemeClr val="bg2"/>
          </a:solidFill>
          <a:ln/>
          <a:effectLst>
            <a:outerShdw sx="100000" sy="100000" kx="0" ky="0" algn="bl" rotWithShape="0" blurRad="76200" dist="25400" dir="5400000">
              <a:srgbClr val="000000">
                <a:alpha val="14000"/>
              </a:srgbClr>
            </a:outerShdw>
          </a:effectLst>
        </p:spPr>
      </p:sp>
      <p:sp>
        <p:nvSpPr>
          <p:cNvPr id="8" name="icon circle"/>
          <p:cNvSpPr/>
          <p:nvPr/>
        </p:nvSpPr>
        <p:spPr>
          <a:xfrm>
            <a:off x="731520" y="4361688"/>
            <a:ext cx="420624" cy="420624"/>
          </a:xfrm>
          <a:prstGeom prst="ellipse">
            <a:avLst/>
          </a:prstGeom>
          <a:solidFill>
            <a:schemeClr val="accent1"/>
          </a:solidFill>
          <a:ln/>
        </p:spPr>
      </p:sp>
      <p:pic>
        <p:nvPicPr>
          <p:cNvPr id="9" name="Image 1" descr="LayerGroup icon">    </p:cNvPr>
          <p:cNvPicPr>
            <a:picLocks noChangeAspect="1"/>
          </p:cNvPicPr>
          <p:nvPr/>
        </p:nvPicPr>
        <p:blipFill>
          <a:blip r:embed="rId2"/>
          <a:stretch>
            <a:fillRect/>
          </a:stretch>
        </p:blipFill>
        <p:spPr>
          <a:xfrm>
            <a:off x="840882" y="4471050"/>
            <a:ext cx="201900" cy="201900"/>
          </a:xfrm>
          <a:prstGeom prst="rect">
            <a:avLst/>
          </a:prstGeom>
        </p:spPr>
      </p:pic>
      <p:sp>
        <p:nvSpPr>
          <p:cNvPr id="10" name="Text 5"/>
          <p:cNvSpPr txBox="1"/>
          <p:nvPr/>
        </p:nvSpPr>
        <p:spPr>
          <a:xfrm>
            <a:off x="1261872" y="4343400"/>
            <a:ext cx="2715768" cy="457200"/>
          </a:xfrm>
          <a:prstGeom prst="rect">
            <a:avLst/>
          </a:prstGeom>
          <a:noFill/>
          <a:ln/>
        </p:spPr>
        <p:txBody>
          <a:bodyPr wrap="square" lIns="0" tIns="0" rIns="0" bIns="0" rtlCol="0" anchor="ctr"/>
          <a:lstStyle/>
          <a:p>
            <a:pPr indent="0" marL="0">
              <a:buNone/>
            </a:pPr>
            <a:r>
              <a:rPr lang="en-US" sz="1600" b="1" dirty="0">
                <a:solidFill>
                  <a:schemeClr val="tx2"/>
                </a:solidFill>
              </a:rPr>
              <a:t>What 3D models add</a:t>
            </a:r>
            <a:endParaRPr lang="en-US" sz="1600" dirty="0"/>
          </a:p>
        </p:txBody>
      </p:sp>
      <p:sp>
        <p:nvSpPr>
          <p:cNvPr id="11" name="Text 6"/>
          <p:cNvSpPr txBox="1"/>
          <p:nvPr/>
        </p:nvSpPr>
        <p:spPr>
          <a:xfrm>
            <a:off x="731520" y="4892040"/>
            <a:ext cx="3200400" cy="118872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Shadows, clumping, row structure, leaf angles — effects 1D models cannot represent.</a:t>
            </a:r>
            <a:endParaRPr lang="en-US" sz="1300" dirty="0"/>
          </a:p>
        </p:txBody>
      </p:sp>
      <p:sp>
        <p:nvSpPr>
          <p:cNvPr id="12" name="card"/>
          <p:cNvSpPr/>
          <p:nvPr/>
        </p:nvSpPr>
        <p:spPr>
          <a:xfrm>
            <a:off x="4315968" y="4206240"/>
            <a:ext cx="3566160" cy="1965960"/>
          </a:xfrm>
          <a:prstGeom prst="roundRect">
            <a:avLst>
              <a:gd name="adj" fmla="val 3721"/>
            </a:avLst>
          </a:prstGeom>
          <a:solidFill>
            <a:schemeClr val="bg2"/>
          </a:solidFill>
          <a:ln/>
          <a:effectLst>
            <a:outerShdw sx="100000" sy="100000" kx="0" ky="0" algn="bl" rotWithShape="0" blurRad="76200" dist="25400" dir="5400000">
              <a:srgbClr val="000000">
                <a:alpha val="14000"/>
              </a:srgbClr>
            </a:outerShdw>
          </a:effectLst>
        </p:spPr>
      </p:sp>
      <p:sp>
        <p:nvSpPr>
          <p:cNvPr id="13" name="icon circle"/>
          <p:cNvSpPr/>
          <p:nvPr/>
        </p:nvSpPr>
        <p:spPr>
          <a:xfrm>
            <a:off x="4498848" y="4361688"/>
            <a:ext cx="420624" cy="420624"/>
          </a:xfrm>
          <a:prstGeom prst="ellipse">
            <a:avLst/>
          </a:prstGeom>
          <a:solidFill>
            <a:schemeClr val="accent5"/>
          </a:solidFill>
          <a:ln/>
        </p:spPr>
      </p:sp>
      <p:pic>
        <p:nvPicPr>
          <p:cNvPr id="14" name="Image 2" descr="Cogs icon">    </p:cNvPr>
          <p:cNvPicPr>
            <a:picLocks noChangeAspect="1"/>
          </p:cNvPicPr>
          <p:nvPr/>
        </p:nvPicPr>
        <p:blipFill>
          <a:blip r:embed="rId3"/>
          <a:stretch>
            <a:fillRect/>
          </a:stretch>
        </p:blipFill>
        <p:spPr>
          <a:xfrm>
            <a:off x="4608210" y="4471050"/>
            <a:ext cx="201900" cy="201900"/>
          </a:xfrm>
          <a:prstGeom prst="rect">
            <a:avLst/>
          </a:prstGeom>
        </p:spPr>
      </p:pic>
      <p:sp>
        <p:nvSpPr>
          <p:cNvPr id="15" name="Text 9"/>
          <p:cNvSpPr txBox="1"/>
          <p:nvPr/>
        </p:nvSpPr>
        <p:spPr>
          <a:xfrm>
            <a:off x="5029200" y="4343400"/>
            <a:ext cx="2715768" cy="457200"/>
          </a:xfrm>
          <a:prstGeom prst="rect">
            <a:avLst/>
          </a:prstGeom>
          <a:noFill/>
          <a:ln/>
        </p:spPr>
        <p:txBody>
          <a:bodyPr wrap="square" lIns="0" tIns="0" rIns="0" bIns="0" rtlCol="0" anchor="ctr"/>
          <a:lstStyle/>
          <a:p>
            <a:pPr indent="0" marL="0">
              <a:buNone/>
            </a:pPr>
            <a:r>
              <a:rPr lang="en-US" sz="1600" b="1" dirty="0">
                <a:solidFill>
                  <a:schemeClr val="tx2"/>
                </a:solidFill>
              </a:rPr>
              <a:t>SCOPE's niche</a:t>
            </a:r>
            <a:endParaRPr lang="en-US" sz="1600" dirty="0"/>
          </a:p>
        </p:txBody>
      </p:sp>
      <p:sp>
        <p:nvSpPr>
          <p:cNvPr id="16" name="Text 10"/>
          <p:cNvSpPr txBox="1"/>
          <p:nvPr/>
        </p:nvSpPr>
        <p:spPr>
          <a:xfrm>
            <a:off x="4498848" y="4892040"/>
            <a:ext cx="3200400" cy="118872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The only canopy model with leaf energy balance → links SIF, photosynthesis and temperature.</a:t>
            </a:r>
            <a:endParaRPr lang="en-US" sz="1300" dirty="0"/>
          </a:p>
        </p:txBody>
      </p:sp>
      <p:sp>
        <p:nvSpPr>
          <p:cNvPr id="17" name="card"/>
          <p:cNvSpPr/>
          <p:nvPr/>
        </p:nvSpPr>
        <p:spPr>
          <a:xfrm>
            <a:off x="8083296" y="4206240"/>
            <a:ext cx="3557016" cy="1965960"/>
          </a:xfrm>
          <a:prstGeom prst="roundRect">
            <a:avLst>
              <a:gd name="adj" fmla="val 3721"/>
            </a:avLst>
          </a:prstGeom>
          <a:solidFill>
            <a:schemeClr val="bg2"/>
          </a:solidFill>
          <a:ln/>
          <a:effectLst>
            <a:outerShdw sx="100000" sy="100000" kx="0" ky="0" algn="bl" rotWithShape="0" blurRad="76200" dist="25400" dir="5400000">
              <a:srgbClr val="000000">
                <a:alpha val="14000"/>
              </a:srgbClr>
            </a:outerShdw>
          </a:effectLst>
        </p:spPr>
      </p:sp>
      <p:sp>
        <p:nvSpPr>
          <p:cNvPr id="18" name="icon circle"/>
          <p:cNvSpPr/>
          <p:nvPr/>
        </p:nvSpPr>
        <p:spPr>
          <a:xfrm>
            <a:off x="8266176" y="4361688"/>
            <a:ext cx="420624" cy="420624"/>
          </a:xfrm>
          <a:prstGeom prst="ellipse">
            <a:avLst/>
          </a:prstGeom>
          <a:solidFill>
            <a:schemeClr val="accent2"/>
          </a:solidFill>
          <a:ln/>
        </p:spPr>
      </p:sp>
      <p:pic>
        <p:nvPicPr>
          <p:cNvPr id="19" name="Image 3" descr="Route icon">    </p:cNvPr>
          <p:cNvPicPr>
            <a:picLocks noChangeAspect="1"/>
          </p:cNvPicPr>
          <p:nvPr/>
        </p:nvPicPr>
        <p:blipFill>
          <a:blip r:embed="rId4"/>
          <a:stretch>
            <a:fillRect/>
          </a:stretch>
        </p:blipFill>
        <p:spPr>
          <a:xfrm>
            <a:off x="8375538" y="4471050"/>
            <a:ext cx="201900" cy="201900"/>
          </a:xfrm>
          <a:prstGeom prst="rect">
            <a:avLst/>
          </a:prstGeom>
        </p:spPr>
      </p:pic>
      <p:sp>
        <p:nvSpPr>
          <p:cNvPr id="20" name="Text 13"/>
          <p:cNvSpPr txBox="1"/>
          <p:nvPr/>
        </p:nvSpPr>
        <p:spPr>
          <a:xfrm>
            <a:off x="8796528" y="4343400"/>
            <a:ext cx="2706624" cy="457200"/>
          </a:xfrm>
          <a:prstGeom prst="rect">
            <a:avLst/>
          </a:prstGeom>
          <a:noFill/>
          <a:ln/>
        </p:spPr>
        <p:txBody>
          <a:bodyPr wrap="square" lIns="0" tIns="0" rIns="0" bIns="0" rtlCol="0" anchor="ctr"/>
          <a:lstStyle/>
          <a:p>
            <a:pPr indent="0" marL="0">
              <a:buNone/>
            </a:pPr>
            <a:r>
              <a:rPr lang="en-US" sz="1600" b="1" dirty="0">
                <a:solidFill>
                  <a:schemeClr val="tx2"/>
                </a:solidFill>
              </a:rPr>
              <a:t>Uses</a:t>
            </a:r>
            <a:endParaRPr lang="en-US" sz="1600" dirty="0"/>
          </a:p>
        </p:txBody>
      </p:sp>
      <p:sp>
        <p:nvSpPr>
          <p:cNvPr id="21" name="Text 14"/>
          <p:cNvSpPr txBox="1"/>
          <p:nvPr/>
        </p:nvSpPr>
        <p:spPr>
          <a:xfrm>
            <a:off x="8266176" y="4892040"/>
            <a:ext cx="3191256" cy="118872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Interpret signals, design sensors, correct scattering/re-absorption, downscale SIF to photosystems.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Why SIF tracks photosynthesis (GPP)</a:t>
            </a:r>
            <a:endParaRPr lang="en-US" sz="3200" dirty="0"/>
          </a:p>
        </p:txBody>
      </p:sp>
      <p:sp>
        <p:nvSpPr>
          <p:cNvPr id="4" name="card"/>
          <p:cNvSpPr/>
          <p:nvPr/>
        </p:nvSpPr>
        <p:spPr>
          <a:xfrm>
            <a:off x="548640" y="1325880"/>
            <a:ext cx="5440680" cy="1188720"/>
          </a:xfrm>
          <a:prstGeom prst="roundRect">
            <a:avLst>
              <a:gd name="adj" fmla="val 6154"/>
            </a:avLst>
          </a:prstGeom>
          <a:solidFill>
            <a:schemeClr val="accent1"/>
          </a:solidFill>
          <a:ln/>
          <a:effectLst>
            <a:outerShdw sx="100000" sy="100000" kx="0" ky="0" algn="bl" rotWithShape="0" blurRad="76200" dist="25400" dir="5400000">
              <a:srgbClr val="000000">
                <a:alpha val="14000"/>
              </a:srgbClr>
            </a:outerShdw>
          </a:effectLst>
        </p:spPr>
      </p:sp>
      <p:sp>
        <p:nvSpPr>
          <p:cNvPr id="5" name="Text 2"/>
          <p:cNvSpPr txBox="1"/>
          <p:nvPr/>
        </p:nvSpPr>
        <p:spPr>
          <a:xfrm>
            <a:off x="548640" y="1325880"/>
            <a:ext cx="5440680" cy="1188720"/>
          </a:xfrm>
          <a:prstGeom prst="rect">
            <a:avLst/>
          </a:prstGeom>
          <a:noFill/>
          <a:ln/>
        </p:spPr>
        <p:txBody>
          <a:bodyPr wrap="square" lIns="0" tIns="0" rIns="0" bIns="0" rtlCol="0" anchor="ctr"/>
          <a:lstStyle/>
          <a:p>
            <a:pPr algn="ctr" indent="0" marL="0">
              <a:buNone/>
            </a:pPr>
            <a:r>
              <a:rPr lang="en-US" sz="2600" b="1" dirty="0">
                <a:solidFill>
                  <a:schemeClr val="bg1"/>
                </a:solidFill>
              </a:rPr>
              <a:t>GPP = </a:t>
            </a:r>
            <a:r>
              <a:rPr lang="en-US" sz="2600" b="1" dirty="0">
                <a:solidFill>
                  <a:schemeClr val="accent3"/>
                </a:solidFill>
              </a:rPr>
              <a:t>APAR</a:t>
            </a:r>
            <a:r>
              <a:rPr lang="en-US" sz="2600" b="1" dirty="0">
                <a:solidFill>
                  <a:schemeClr val="bg1"/>
                </a:solidFill>
              </a:rPr>
              <a:t> × LUE</a:t>
            </a:r>
            <a:endParaRPr lang="en-US" sz="2600" dirty="0"/>
          </a:p>
        </p:txBody>
      </p:sp>
      <p:sp>
        <p:nvSpPr>
          <p:cNvPr id="6" name="card"/>
          <p:cNvSpPr/>
          <p:nvPr/>
        </p:nvSpPr>
        <p:spPr>
          <a:xfrm>
            <a:off x="6199632" y="1325880"/>
            <a:ext cx="5440680" cy="1188720"/>
          </a:xfrm>
          <a:prstGeom prst="roundRect">
            <a:avLst>
              <a:gd name="adj" fmla="val 6154"/>
            </a:avLst>
          </a:prstGeom>
          <a:solidFill>
            <a:schemeClr val="accent2"/>
          </a:solidFill>
          <a:ln/>
          <a:effectLst>
            <a:outerShdw sx="100000" sy="100000" kx="0" ky="0" algn="bl" rotWithShape="0" blurRad="76200" dist="25400" dir="5400000">
              <a:srgbClr val="000000">
                <a:alpha val="14000"/>
              </a:srgbClr>
            </a:outerShdw>
          </a:effectLst>
        </p:spPr>
      </p:sp>
      <p:sp>
        <p:nvSpPr>
          <p:cNvPr id="7" name="Text 4"/>
          <p:cNvSpPr txBox="1"/>
          <p:nvPr/>
        </p:nvSpPr>
        <p:spPr>
          <a:xfrm>
            <a:off x="6199632" y="1325880"/>
            <a:ext cx="5440680" cy="1188720"/>
          </a:xfrm>
          <a:prstGeom prst="rect">
            <a:avLst/>
          </a:prstGeom>
          <a:noFill/>
          <a:ln/>
        </p:spPr>
        <p:txBody>
          <a:bodyPr wrap="square" lIns="0" tIns="0" rIns="0" bIns="0" rtlCol="0" anchor="ctr"/>
          <a:lstStyle/>
          <a:p>
            <a:pPr algn="ctr" indent="0" marL="0">
              <a:buNone/>
            </a:pPr>
            <a:r>
              <a:rPr lang="en-US" sz="2600" b="1" dirty="0">
                <a:solidFill>
                  <a:schemeClr val="bg1"/>
                </a:solidFill>
              </a:rPr>
              <a:t>SIF = </a:t>
            </a:r>
            <a:r>
              <a:rPr lang="en-US" sz="2600" b="1" dirty="0">
                <a:solidFill>
                  <a:schemeClr val="accent3"/>
                </a:solidFill>
              </a:rPr>
              <a:t>APAR</a:t>
            </a:r>
            <a:r>
              <a:rPr lang="en-US" sz="2600" b="1" dirty="0">
                <a:solidFill>
                  <a:schemeClr val="bg1"/>
                </a:solidFill>
              </a:rPr>
              <a:t> × Φ</a:t>
            </a:r>
            <a:r>
              <a:rPr lang="en-US" sz="2600" b="1" baseline="-40000" dirty="0">
                <a:solidFill>
                  <a:schemeClr val="bg1"/>
                </a:solidFill>
              </a:rPr>
              <a:t>F</a:t>
            </a:r>
            <a:r>
              <a:rPr lang="en-US" sz="2600" b="1" dirty="0">
                <a:solidFill>
                  <a:schemeClr val="bg1"/>
                </a:solidFill>
              </a:rPr>
              <a:t> × f</a:t>
            </a:r>
            <a:r>
              <a:rPr lang="en-US" sz="2600" b="1" baseline="-40000" dirty="0">
                <a:solidFill>
                  <a:schemeClr val="bg1"/>
                </a:solidFill>
              </a:rPr>
              <a:t>esc</a:t>
            </a:r>
            <a:endParaRPr lang="en-US" sz="2600" dirty="0"/>
          </a:p>
        </p:txBody>
      </p:sp>
      <p:sp>
        <p:nvSpPr>
          <p:cNvPr id="8" name="Text 5"/>
          <p:cNvSpPr txBox="1"/>
          <p:nvPr/>
        </p:nvSpPr>
        <p:spPr>
          <a:xfrm>
            <a:off x="548640" y="2606040"/>
            <a:ext cx="11091672" cy="548640"/>
          </a:xfrm>
          <a:prstGeom prst="rect">
            <a:avLst/>
          </a:prstGeom>
          <a:noFill/>
          <a:ln/>
        </p:spPr>
        <p:txBody>
          <a:bodyPr wrap="square" lIns="508" tIns="508" rIns="508" bIns="508" rtlCol="0" anchor="t"/>
          <a:lstStyle/>
          <a:p>
            <a:pPr indent="0" marL="0">
              <a:spcAft>
                <a:spcPts val="600"/>
              </a:spcAft>
              <a:buNone/>
            </a:pPr>
            <a:r>
              <a:rPr lang="en-US" sz="1300" dirty="0">
                <a:solidFill>
                  <a:schemeClr val="accent6"/>
                </a:solidFill>
              </a:rPr>
              <a:t>Shared term </a:t>
            </a:r>
            <a:r>
              <a:rPr lang="en-US" sz="1300" b="1" dirty="0">
                <a:solidFill>
                  <a:schemeClr val="accent6"/>
                </a:solidFill>
              </a:rPr>
              <a:t>APAR</a:t>
            </a:r>
            <a:r>
              <a:rPr lang="en-US" sz="1300" dirty="0">
                <a:solidFill>
                  <a:schemeClr val="accent6"/>
                </a:solidFill>
              </a:rPr>
              <a:t> (absorbed photosynthetically active radiation) explains much of the correlation. LUE = light-use efficiency; Φ</a:t>
            </a:r>
            <a:r>
              <a:rPr lang="en-US" sz="1300" baseline="-40000" dirty="0">
                <a:solidFill>
                  <a:schemeClr val="accent6"/>
                </a:solidFill>
              </a:rPr>
              <a:t>F</a:t>
            </a:r>
            <a:r>
              <a:rPr lang="en-US" sz="1300" dirty="0">
                <a:solidFill>
                  <a:schemeClr val="accent6"/>
                </a:solidFill>
              </a:rPr>
              <a:t> = fluorescence yield; f</a:t>
            </a:r>
            <a:r>
              <a:rPr lang="en-US" sz="1300" baseline="-40000" dirty="0">
                <a:solidFill>
                  <a:schemeClr val="accent6"/>
                </a:solidFill>
              </a:rPr>
              <a:t>esc</a:t>
            </a:r>
            <a:r>
              <a:rPr lang="en-US" sz="1300" dirty="0">
                <a:solidFill>
                  <a:schemeClr val="accent6"/>
                </a:solidFill>
              </a:rPr>
              <a:t> = escape probability.</a:t>
            </a:r>
            <a:endParaRPr lang="en-US" sz="1300" dirty="0"/>
          </a:p>
        </p:txBody>
      </p:sp>
      <p:sp>
        <p:nvSpPr>
          <p:cNvPr id="9" name="card"/>
          <p:cNvSpPr/>
          <p:nvPr/>
        </p:nvSpPr>
        <p:spPr>
          <a:xfrm>
            <a:off x="548640" y="3291840"/>
            <a:ext cx="3566160" cy="2880360"/>
          </a:xfrm>
          <a:prstGeom prst="roundRect">
            <a:avLst>
              <a:gd name="adj" fmla="val 2540"/>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731520" y="3447288"/>
            <a:ext cx="420624" cy="420624"/>
          </a:xfrm>
          <a:prstGeom prst="ellipse">
            <a:avLst/>
          </a:prstGeom>
          <a:solidFill>
            <a:schemeClr val="accent1"/>
          </a:solidFill>
          <a:ln/>
        </p:spPr>
      </p:sp>
      <p:pic>
        <p:nvPicPr>
          <p:cNvPr id="11" name="Image 0" descr="ChartLine icon">    </p:cNvPr>
          <p:cNvPicPr>
            <a:picLocks noChangeAspect="1"/>
          </p:cNvPicPr>
          <p:nvPr/>
        </p:nvPicPr>
        <p:blipFill>
          <a:blip r:embed="rId1"/>
          <a:stretch>
            <a:fillRect/>
          </a:stretch>
        </p:blipFill>
        <p:spPr>
          <a:xfrm>
            <a:off x="840882" y="3556650"/>
            <a:ext cx="201900" cy="201900"/>
          </a:xfrm>
          <a:prstGeom prst="rect">
            <a:avLst/>
          </a:prstGeom>
        </p:spPr>
      </p:pic>
      <p:sp>
        <p:nvSpPr>
          <p:cNvPr id="12" name="Text 8"/>
          <p:cNvSpPr txBox="1"/>
          <p:nvPr/>
        </p:nvSpPr>
        <p:spPr>
          <a:xfrm>
            <a:off x="1261872" y="3429000"/>
            <a:ext cx="2715768" cy="457200"/>
          </a:xfrm>
          <a:prstGeom prst="rect">
            <a:avLst/>
          </a:prstGeom>
          <a:noFill/>
          <a:ln/>
        </p:spPr>
        <p:txBody>
          <a:bodyPr wrap="square" lIns="0" tIns="0" rIns="0" bIns="0" rtlCol="0" anchor="ctr"/>
          <a:lstStyle/>
          <a:p>
            <a:pPr indent="0" marL="0">
              <a:buNone/>
            </a:pPr>
            <a:r>
              <a:rPr lang="en-US" sz="1600" b="1" dirty="0">
                <a:solidFill>
                  <a:schemeClr val="tx2"/>
                </a:solidFill>
              </a:rPr>
              <a:t>What studies show</a:t>
            </a:r>
            <a:endParaRPr lang="en-US" sz="1600" dirty="0"/>
          </a:p>
        </p:txBody>
      </p:sp>
      <p:sp>
        <p:nvSpPr>
          <p:cNvPr id="13" name="Text 9"/>
          <p:cNvSpPr txBox="1"/>
          <p:nvPr/>
        </p:nvSpPr>
        <p:spPr>
          <a:xfrm>
            <a:off x="731520" y="3977640"/>
            <a:ext cx="3200400" cy="210312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Strong far-red SIF–GPP correlation from tower to satellite</a:t>
            </a:r>
            <a:endParaRPr lang="en-US" sz="1300" dirty="0"/>
          </a:p>
          <a:p>
            <a:pPr marL="177800" indent="-177800">
              <a:spcAft>
                <a:spcPts val="400"/>
              </a:spcAft>
              <a:buSzPct val="100000"/>
              <a:buChar char="•"/>
            </a:pPr>
            <a:r>
              <a:rPr lang="en-US" sz="1300" dirty="0">
                <a:solidFill>
                  <a:schemeClr val="tx1"/>
                </a:solidFill>
              </a:rPr>
              <a:t>Mostly driven by APAR &amp; chlorophyll</a:t>
            </a:r>
            <a:endParaRPr lang="en-US" sz="1300" dirty="0"/>
          </a:p>
          <a:p>
            <a:pPr marL="177800" indent="-177800">
              <a:spcAft>
                <a:spcPts val="400"/>
              </a:spcAft>
              <a:buSzPct val="100000"/>
              <a:buChar char="•"/>
            </a:pPr>
            <a:r>
              <a:rPr lang="en-US" sz="1300" dirty="0">
                <a:solidFill>
                  <a:schemeClr val="tx1"/>
                </a:solidFill>
              </a:rPr>
              <a:t>At constant APAR, SIF explained </a:t>
            </a:r>
            <a:r>
              <a:rPr lang="en-US" sz="1300" b="1" dirty="0">
                <a:solidFill>
                  <a:schemeClr val="tx1"/>
                </a:solidFill>
              </a:rPr>
              <a:t>&lt;35 %</a:t>
            </a:r>
            <a:r>
              <a:rPr lang="en-US" sz="1300" dirty="0">
                <a:solidFill>
                  <a:schemeClr val="tx1"/>
                </a:solidFill>
              </a:rPr>
              <a:t> of GPP variability (Wohlfahrt 2018)</a:t>
            </a:r>
            <a:endParaRPr lang="en-US" sz="1300" dirty="0"/>
          </a:p>
        </p:txBody>
      </p:sp>
      <p:sp>
        <p:nvSpPr>
          <p:cNvPr id="14" name="card"/>
          <p:cNvSpPr/>
          <p:nvPr/>
        </p:nvSpPr>
        <p:spPr>
          <a:xfrm>
            <a:off x="4315968" y="3291840"/>
            <a:ext cx="3566160" cy="2880360"/>
          </a:xfrm>
          <a:prstGeom prst="roundRect">
            <a:avLst>
              <a:gd name="adj" fmla="val 2540"/>
            </a:avLst>
          </a:prstGeom>
          <a:solidFill>
            <a:schemeClr val="bg2"/>
          </a:solidFill>
          <a:ln/>
          <a:effectLst>
            <a:outerShdw sx="100000" sy="100000" kx="0" ky="0" algn="bl" rotWithShape="0" blurRad="76200" dist="25400" dir="5400000">
              <a:srgbClr val="000000">
                <a:alpha val="14000"/>
              </a:srgbClr>
            </a:outerShdw>
          </a:effectLst>
        </p:spPr>
      </p:sp>
      <p:sp>
        <p:nvSpPr>
          <p:cNvPr id="15" name="icon circle"/>
          <p:cNvSpPr/>
          <p:nvPr/>
        </p:nvSpPr>
        <p:spPr>
          <a:xfrm>
            <a:off x="4498848" y="3447288"/>
            <a:ext cx="420624" cy="420624"/>
          </a:xfrm>
          <a:prstGeom prst="ellipse">
            <a:avLst/>
          </a:prstGeom>
          <a:solidFill>
            <a:schemeClr val="accent5"/>
          </a:solidFill>
          <a:ln/>
        </p:spPr>
      </p:sp>
      <p:pic>
        <p:nvPicPr>
          <p:cNvPr id="16" name="Image 1" descr="Seedling icon">    </p:cNvPr>
          <p:cNvPicPr>
            <a:picLocks noChangeAspect="1"/>
          </p:cNvPicPr>
          <p:nvPr/>
        </p:nvPicPr>
        <p:blipFill>
          <a:blip r:embed="rId2"/>
          <a:stretch>
            <a:fillRect/>
          </a:stretch>
        </p:blipFill>
        <p:spPr>
          <a:xfrm>
            <a:off x="4608210" y="3556650"/>
            <a:ext cx="201900" cy="201900"/>
          </a:xfrm>
          <a:prstGeom prst="rect">
            <a:avLst/>
          </a:prstGeom>
        </p:spPr>
      </p:pic>
      <p:sp>
        <p:nvSpPr>
          <p:cNvPr id="17" name="Text 12"/>
          <p:cNvSpPr txBox="1"/>
          <p:nvPr/>
        </p:nvSpPr>
        <p:spPr>
          <a:xfrm>
            <a:off x="5029200" y="3429000"/>
            <a:ext cx="2715768" cy="457200"/>
          </a:xfrm>
          <a:prstGeom prst="rect">
            <a:avLst/>
          </a:prstGeom>
          <a:noFill/>
          <a:ln/>
        </p:spPr>
        <p:txBody>
          <a:bodyPr wrap="square" lIns="0" tIns="0" rIns="0" bIns="0" rtlCol="0" anchor="ctr"/>
          <a:lstStyle/>
          <a:p>
            <a:pPr indent="0" marL="0">
              <a:buNone/>
            </a:pPr>
            <a:r>
              <a:rPr lang="en-US" sz="1600" b="1" dirty="0">
                <a:solidFill>
                  <a:schemeClr val="tx2"/>
                </a:solidFill>
              </a:rPr>
              <a:t>Shape of the relation</a:t>
            </a:r>
            <a:endParaRPr lang="en-US" sz="1600" dirty="0"/>
          </a:p>
        </p:txBody>
      </p:sp>
      <p:sp>
        <p:nvSpPr>
          <p:cNvPr id="18" name="Text 13"/>
          <p:cNvSpPr txBox="1"/>
          <p:nvPr/>
        </p:nvSpPr>
        <p:spPr>
          <a:xfrm>
            <a:off x="4498848" y="3977640"/>
            <a:ext cx="3200400" cy="210312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Hyperbolic on stress-free days, linear under stress</a:t>
            </a:r>
            <a:endParaRPr lang="en-US" sz="1300" dirty="0"/>
          </a:p>
          <a:p>
            <a:pPr marL="177800" indent="-177800">
              <a:spcAft>
                <a:spcPts val="400"/>
              </a:spcAft>
              <a:buSzPct val="100000"/>
              <a:buChar char="•"/>
            </a:pPr>
            <a:r>
              <a:rPr lang="en-US" sz="1300" dirty="0">
                <a:solidFill>
                  <a:schemeClr val="tx1"/>
                </a:solidFill>
              </a:rPr>
              <a:t>Becomes linear when aggregated over space/time</a:t>
            </a:r>
            <a:endParaRPr lang="en-US" sz="1300" dirty="0"/>
          </a:p>
          <a:p>
            <a:pPr marL="177800" indent="-177800">
              <a:spcAft>
                <a:spcPts val="400"/>
              </a:spcAft>
              <a:buSzPct val="100000"/>
              <a:buChar char="•"/>
            </a:pPr>
            <a:r>
              <a:rPr lang="en-US" sz="1300" dirty="0">
                <a:solidFill>
                  <a:schemeClr val="tx1"/>
                </a:solidFill>
              </a:rPr>
              <a:t>Differs for C₃ vs C₄ (e.g. Indo-Gangetic Plains)</a:t>
            </a:r>
            <a:endParaRPr lang="en-US" sz="1300" dirty="0"/>
          </a:p>
        </p:txBody>
      </p:sp>
      <p:sp>
        <p:nvSpPr>
          <p:cNvPr id="19" name="card"/>
          <p:cNvSpPr/>
          <p:nvPr/>
        </p:nvSpPr>
        <p:spPr>
          <a:xfrm>
            <a:off x="8083296" y="3291840"/>
            <a:ext cx="3557016" cy="2880360"/>
          </a:xfrm>
          <a:prstGeom prst="roundRect">
            <a:avLst>
              <a:gd name="adj" fmla="val 2540"/>
            </a:avLst>
          </a:prstGeom>
          <a:solidFill>
            <a:schemeClr val="bg2"/>
          </a:solidFill>
          <a:ln/>
          <a:effectLst>
            <a:outerShdw sx="100000" sy="100000" kx="0" ky="0" algn="bl" rotWithShape="0" blurRad="76200" dist="25400" dir="5400000">
              <a:srgbClr val="000000">
                <a:alpha val="14000"/>
              </a:srgbClr>
            </a:outerShdw>
          </a:effectLst>
        </p:spPr>
      </p:sp>
      <p:sp>
        <p:nvSpPr>
          <p:cNvPr id="20" name="icon circle"/>
          <p:cNvSpPr/>
          <p:nvPr/>
        </p:nvSpPr>
        <p:spPr>
          <a:xfrm>
            <a:off x="8266176" y="3447288"/>
            <a:ext cx="420624" cy="420624"/>
          </a:xfrm>
          <a:prstGeom prst="ellipse">
            <a:avLst/>
          </a:prstGeom>
          <a:solidFill>
            <a:schemeClr val="accent3"/>
          </a:solidFill>
          <a:ln/>
        </p:spPr>
      </p:sp>
      <p:pic>
        <p:nvPicPr>
          <p:cNvPr id="21" name="Image 2" descr="Fire icon">    </p:cNvPr>
          <p:cNvPicPr>
            <a:picLocks noChangeAspect="1"/>
          </p:cNvPicPr>
          <p:nvPr/>
        </p:nvPicPr>
        <p:blipFill>
          <a:blip r:embed="rId3"/>
          <a:stretch>
            <a:fillRect/>
          </a:stretch>
        </p:blipFill>
        <p:spPr>
          <a:xfrm>
            <a:off x="8375538" y="3556650"/>
            <a:ext cx="201900" cy="201900"/>
          </a:xfrm>
          <a:prstGeom prst="rect">
            <a:avLst/>
          </a:prstGeom>
        </p:spPr>
      </p:pic>
      <p:sp>
        <p:nvSpPr>
          <p:cNvPr id="22" name="Text 16"/>
          <p:cNvSpPr txBox="1"/>
          <p:nvPr/>
        </p:nvSpPr>
        <p:spPr>
          <a:xfrm>
            <a:off x="8796528" y="3429000"/>
            <a:ext cx="2706624" cy="457200"/>
          </a:xfrm>
          <a:prstGeom prst="rect">
            <a:avLst/>
          </a:prstGeom>
          <a:noFill/>
          <a:ln/>
        </p:spPr>
        <p:txBody>
          <a:bodyPr wrap="square" lIns="0" tIns="0" rIns="0" bIns="0" rtlCol="0" anchor="ctr"/>
          <a:lstStyle/>
          <a:p>
            <a:pPr indent="0" marL="0">
              <a:buNone/>
            </a:pPr>
            <a:r>
              <a:rPr lang="en-US" sz="1600" b="1" dirty="0">
                <a:solidFill>
                  <a:schemeClr val="tx2"/>
                </a:solidFill>
              </a:rPr>
              <a:t>Why NPQ matters</a:t>
            </a:r>
            <a:endParaRPr lang="en-US" sz="1600" dirty="0"/>
          </a:p>
        </p:txBody>
      </p:sp>
      <p:sp>
        <p:nvSpPr>
          <p:cNvPr id="23" name="Text 17"/>
          <p:cNvSpPr txBox="1"/>
          <p:nvPr/>
        </p:nvSpPr>
        <p:spPr>
          <a:xfrm>
            <a:off x="8266176" y="3977640"/>
            <a:ext cx="3191256" cy="210312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In high light NPQ diverts energy from both P and F</a:t>
            </a:r>
            <a:endParaRPr lang="en-US" sz="1300" dirty="0"/>
          </a:p>
          <a:p>
            <a:pPr marL="177800" indent="-177800">
              <a:spcAft>
                <a:spcPts val="400"/>
              </a:spcAft>
              <a:buSzPct val="100000"/>
              <a:buChar char="•"/>
            </a:pPr>
            <a:r>
              <a:rPr lang="en-US" sz="1300" dirty="0">
                <a:solidFill>
                  <a:schemeClr val="tx1"/>
                </a:solidFill>
              </a:rPr>
              <a:t>Midday depression of far-red SIF linked to NPQ</a:t>
            </a:r>
            <a:endParaRPr lang="en-US" sz="1300" dirty="0"/>
          </a:p>
          <a:p>
            <a:pPr marL="177800" indent="-177800">
              <a:spcAft>
                <a:spcPts val="400"/>
              </a:spcAft>
              <a:buSzPct val="100000"/>
              <a:buChar char="•"/>
            </a:pPr>
            <a:r>
              <a:rPr lang="en-US" sz="1300" dirty="0">
                <a:solidFill>
                  <a:schemeClr val="tx1"/>
                </a:solidFill>
              </a:rPr>
              <a:t>PRI (531 nm) helps track NPQ alongside SIF</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Measurement platforms: leaf to aircraft</a:t>
            </a:r>
            <a:endParaRPr lang="en-US" sz="3200" dirty="0"/>
          </a:p>
        </p:txBody>
      </p:sp>
      <p:sp>
        <p:nvSpPr>
          <p:cNvPr id="4" name="figure frame"/>
          <p:cNvSpPr/>
          <p:nvPr/>
        </p:nvSpPr>
        <p:spPr>
          <a:xfrm>
            <a:off x="548640" y="1325880"/>
            <a:ext cx="6035040" cy="3154680"/>
          </a:xfrm>
          <a:prstGeom prst="roundRect">
            <a:avLst>
              <a:gd name="adj" fmla="val 1739"/>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Mohammed et al. (2019), Fig. 9 — trade-offs of hand-held, top-of-canopy and airborne instruments">    </p:cNvPr>
          <p:cNvPicPr>
            <a:picLocks noChangeAspect="1"/>
          </p:cNvPicPr>
          <p:nvPr/>
        </p:nvPicPr>
        <p:blipFill>
          <a:blip r:embed="rId1"/>
          <a:stretch>
            <a:fillRect/>
          </a:stretch>
        </p:blipFill>
        <p:spPr>
          <a:xfrm>
            <a:off x="901019" y="1417320"/>
            <a:ext cx="5330283" cy="2971800"/>
          </a:xfrm>
          <a:prstGeom prst="rect">
            <a:avLst/>
          </a:prstGeom>
        </p:spPr>
      </p:pic>
      <p:sp>
        <p:nvSpPr>
          <p:cNvPr id="6" name="Text 2"/>
          <p:cNvSpPr txBox="1"/>
          <p:nvPr/>
        </p:nvSpPr>
        <p:spPr>
          <a:xfrm>
            <a:off x="548640" y="4526280"/>
            <a:ext cx="6035040" cy="365760"/>
          </a:xfrm>
          <a:prstGeom prst="rect">
            <a:avLst/>
          </a:prstGeom>
          <a:noFill/>
          <a:ln/>
        </p:spPr>
        <p:txBody>
          <a:bodyPr wrap="square" lIns="0" tIns="0" rIns="0" bIns="0" rtlCol="0" anchor="t"/>
          <a:lstStyle/>
          <a:p>
            <a:pPr indent="0" marL="0">
              <a:buNone/>
            </a:pPr>
            <a:r>
              <a:rPr lang="en-US" sz="1100" i="1" dirty="0">
                <a:solidFill>
                  <a:schemeClr val="accent6"/>
                </a:solidFill>
              </a:rPr>
              <a:t>Mohammed et al. (2019), Fig. 9 — trade-offs of hand-held, top-of-canopy and airborne instruments</a:t>
            </a:r>
            <a:endParaRPr lang="en-US" sz="1100" dirty="0"/>
          </a:p>
        </p:txBody>
      </p:sp>
      <p:sp>
        <p:nvSpPr>
          <p:cNvPr id="7" name="card"/>
          <p:cNvSpPr/>
          <p:nvPr/>
        </p:nvSpPr>
        <p:spPr>
          <a:xfrm>
            <a:off x="6812280" y="1325880"/>
            <a:ext cx="4828032" cy="1115568"/>
          </a:xfrm>
          <a:prstGeom prst="roundRect">
            <a:avLst>
              <a:gd name="adj" fmla="val 6557"/>
            </a:avLst>
          </a:prstGeom>
          <a:solidFill>
            <a:schemeClr val="bg2"/>
          </a:solidFill>
          <a:ln/>
          <a:effectLst>
            <a:outerShdw sx="100000" sy="100000" kx="0" ky="0" algn="bl" rotWithShape="0" blurRad="76200" dist="25400" dir="5400000">
              <a:srgbClr val="000000">
                <a:alpha val="14000"/>
              </a:srgbClr>
            </a:outerShdw>
          </a:effectLst>
        </p:spPr>
      </p:sp>
      <p:sp>
        <p:nvSpPr>
          <p:cNvPr id="8" name="icon circle"/>
          <p:cNvSpPr/>
          <p:nvPr/>
        </p:nvSpPr>
        <p:spPr>
          <a:xfrm>
            <a:off x="6995160" y="1481328"/>
            <a:ext cx="420624" cy="420624"/>
          </a:xfrm>
          <a:prstGeom prst="ellipse">
            <a:avLst/>
          </a:prstGeom>
          <a:solidFill>
            <a:schemeClr val="accent1"/>
          </a:solidFill>
          <a:ln/>
        </p:spPr>
      </p:sp>
      <p:pic>
        <p:nvPicPr>
          <p:cNvPr id="9" name="Image 1" descr="HandPaper icon">    </p:cNvPr>
          <p:cNvPicPr>
            <a:picLocks noChangeAspect="1"/>
          </p:cNvPicPr>
          <p:nvPr/>
        </p:nvPicPr>
        <p:blipFill>
          <a:blip r:embed="rId2"/>
          <a:stretch>
            <a:fillRect/>
          </a:stretch>
        </p:blipFill>
        <p:spPr>
          <a:xfrm>
            <a:off x="7104522" y="1590690"/>
            <a:ext cx="201900" cy="201900"/>
          </a:xfrm>
          <a:prstGeom prst="rect">
            <a:avLst/>
          </a:prstGeom>
        </p:spPr>
      </p:pic>
      <p:sp>
        <p:nvSpPr>
          <p:cNvPr id="10" name="Text 5"/>
          <p:cNvSpPr txBox="1"/>
          <p:nvPr/>
        </p:nvSpPr>
        <p:spPr>
          <a:xfrm>
            <a:off x="7525512" y="1463040"/>
            <a:ext cx="3977640" cy="457200"/>
          </a:xfrm>
          <a:prstGeom prst="rect">
            <a:avLst/>
          </a:prstGeom>
          <a:noFill/>
          <a:ln/>
        </p:spPr>
        <p:txBody>
          <a:bodyPr wrap="square" lIns="0" tIns="0" rIns="0" bIns="0" rtlCol="0" anchor="ctr"/>
          <a:lstStyle/>
          <a:p>
            <a:pPr indent="0" marL="0">
              <a:buNone/>
            </a:pPr>
            <a:r>
              <a:rPr lang="en-US" sz="1400" b="1" dirty="0">
                <a:solidFill>
                  <a:schemeClr val="tx2"/>
                </a:solidFill>
              </a:rPr>
              <a:t>Hand-held leaf</a:t>
            </a:r>
            <a:endParaRPr lang="en-US" sz="1400" dirty="0"/>
          </a:p>
        </p:txBody>
      </p:sp>
      <p:sp>
        <p:nvSpPr>
          <p:cNvPr id="11" name="Text 6"/>
          <p:cNvSpPr txBox="1"/>
          <p:nvPr/>
        </p:nvSpPr>
        <p:spPr>
          <a:xfrm>
            <a:off x="6995160" y="2011680"/>
            <a:ext cx="4462272" cy="338328"/>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FluoWat clip + spectrometer; full spectrum; up- or downward SIF</a:t>
            </a:r>
            <a:endParaRPr lang="en-US" sz="1200" dirty="0"/>
          </a:p>
        </p:txBody>
      </p:sp>
      <p:sp>
        <p:nvSpPr>
          <p:cNvPr id="12" name="card"/>
          <p:cNvSpPr/>
          <p:nvPr/>
        </p:nvSpPr>
        <p:spPr>
          <a:xfrm>
            <a:off x="6812280" y="2551176"/>
            <a:ext cx="4828032" cy="1115568"/>
          </a:xfrm>
          <a:prstGeom prst="roundRect">
            <a:avLst>
              <a:gd name="adj" fmla="val 6557"/>
            </a:avLst>
          </a:prstGeom>
          <a:solidFill>
            <a:schemeClr val="bg2"/>
          </a:solidFill>
          <a:ln/>
          <a:effectLst>
            <a:outerShdw sx="100000" sy="100000" kx="0" ky="0" algn="bl" rotWithShape="0" blurRad="76200" dist="25400" dir="5400000">
              <a:srgbClr val="000000">
                <a:alpha val="14000"/>
              </a:srgbClr>
            </a:outerShdw>
          </a:effectLst>
        </p:spPr>
      </p:sp>
      <p:sp>
        <p:nvSpPr>
          <p:cNvPr id="13" name="icon circle"/>
          <p:cNvSpPr/>
          <p:nvPr/>
        </p:nvSpPr>
        <p:spPr>
          <a:xfrm>
            <a:off x="6995160" y="2706624"/>
            <a:ext cx="420624" cy="420624"/>
          </a:xfrm>
          <a:prstGeom prst="ellipse">
            <a:avLst/>
          </a:prstGeom>
          <a:solidFill>
            <a:schemeClr val="accent1"/>
          </a:solidFill>
          <a:ln/>
        </p:spPr>
      </p:sp>
      <p:pic>
        <p:nvPicPr>
          <p:cNvPr id="14" name="Image 2" descr="BroadcastTower icon">    </p:cNvPr>
          <p:cNvPicPr>
            <a:picLocks noChangeAspect="1"/>
          </p:cNvPicPr>
          <p:nvPr/>
        </p:nvPicPr>
        <p:blipFill>
          <a:blip r:embed="rId3"/>
          <a:stretch>
            <a:fillRect/>
          </a:stretch>
        </p:blipFill>
        <p:spPr>
          <a:xfrm>
            <a:off x="7104522" y="2815986"/>
            <a:ext cx="201900" cy="201900"/>
          </a:xfrm>
          <a:prstGeom prst="rect">
            <a:avLst/>
          </a:prstGeom>
        </p:spPr>
      </p:pic>
      <p:sp>
        <p:nvSpPr>
          <p:cNvPr id="15" name="Text 9"/>
          <p:cNvSpPr txBox="1"/>
          <p:nvPr/>
        </p:nvSpPr>
        <p:spPr>
          <a:xfrm>
            <a:off x="7525512" y="2688336"/>
            <a:ext cx="3977640" cy="457200"/>
          </a:xfrm>
          <a:prstGeom prst="rect">
            <a:avLst/>
          </a:prstGeom>
          <a:noFill/>
          <a:ln/>
        </p:spPr>
        <p:txBody>
          <a:bodyPr wrap="square" lIns="0" tIns="0" rIns="0" bIns="0" rtlCol="0" anchor="ctr"/>
          <a:lstStyle/>
          <a:p>
            <a:pPr indent="0" marL="0">
              <a:buNone/>
            </a:pPr>
            <a:r>
              <a:rPr lang="en-US" sz="1400" b="1" dirty="0">
                <a:solidFill>
                  <a:schemeClr val="tx2"/>
                </a:solidFill>
              </a:rPr>
              <a:t>Top-of-canopy</a:t>
            </a:r>
            <a:endParaRPr lang="en-US" sz="1400" dirty="0"/>
          </a:p>
        </p:txBody>
      </p:sp>
      <p:sp>
        <p:nvSpPr>
          <p:cNvPr id="16" name="Text 10"/>
          <p:cNvSpPr txBox="1"/>
          <p:nvPr/>
        </p:nvSpPr>
        <p:spPr>
          <a:xfrm>
            <a:off x="6995160" y="3236976"/>
            <a:ext cx="4462272" cy="338328"/>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FloX, FluoSpec (0.13 nm), PhotoSpec, AutoSIF, NASA FUSION; diurnal &amp; seasonal</a:t>
            </a:r>
            <a:endParaRPr lang="en-US" sz="1200" dirty="0"/>
          </a:p>
        </p:txBody>
      </p:sp>
      <p:sp>
        <p:nvSpPr>
          <p:cNvPr id="17" name="card"/>
          <p:cNvSpPr/>
          <p:nvPr/>
        </p:nvSpPr>
        <p:spPr>
          <a:xfrm>
            <a:off x="6812280" y="3776472"/>
            <a:ext cx="4828032" cy="1115568"/>
          </a:xfrm>
          <a:prstGeom prst="roundRect">
            <a:avLst>
              <a:gd name="adj" fmla="val 6557"/>
            </a:avLst>
          </a:prstGeom>
          <a:solidFill>
            <a:schemeClr val="bg2"/>
          </a:solidFill>
          <a:ln/>
          <a:effectLst>
            <a:outerShdw sx="100000" sy="100000" kx="0" ky="0" algn="bl" rotWithShape="0" blurRad="76200" dist="25400" dir="5400000">
              <a:srgbClr val="000000">
                <a:alpha val="14000"/>
              </a:srgbClr>
            </a:outerShdw>
          </a:effectLst>
        </p:spPr>
      </p:sp>
      <p:sp>
        <p:nvSpPr>
          <p:cNvPr id="18" name="icon circle"/>
          <p:cNvSpPr/>
          <p:nvPr/>
        </p:nvSpPr>
        <p:spPr>
          <a:xfrm>
            <a:off x="6995160" y="3931920"/>
            <a:ext cx="420624" cy="420624"/>
          </a:xfrm>
          <a:prstGeom prst="ellipse">
            <a:avLst/>
          </a:prstGeom>
          <a:solidFill>
            <a:schemeClr val="accent5"/>
          </a:solidFill>
          <a:ln/>
        </p:spPr>
      </p:sp>
      <p:pic>
        <p:nvPicPr>
          <p:cNvPr id="19" name="Image 3" descr="Plane icon">    </p:cNvPr>
          <p:cNvPicPr>
            <a:picLocks noChangeAspect="1"/>
          </p:cNvPicPr>
          <p:nvPr/>
        </p:nvPicPr>
        <p:blipFill>
          <a:blip r:embed="rId4"/>
          <a:stretch>
            <a:fillRect/>
          </a:stretch>
        </p:blipFill>
        <p:spPr>
          <a:xfrm>
            <a:off x="7104522" y="4041282"/>
            <a:ext cx="201900" cy="201900"/>
          </a:xfrm>
          <a:prstGeom prst="rect">
            <a:avLst/>
          </a:prstGeom>
        </p:spPr>
      </p:pic>
      <p:sp>
        <p:nvSpPr>
          <p:cNvPr id="20" name="Text 13"/>
          <p:cNvSpPr txBox="1"/>
          <p:nvPr/>
        </p:nvSpPr>
        <p:spPr>
          <a:xfrm>
            <a:off x="7525512" y="3913632"/>
            <a:ext cx="3977640" cy="457200"/>
          </a:xfrm>
          <a:prstGeom prst="rect">
            <a:avLst/>
          </a:prstGeom>
          <a:noFill/>
          <a:ln/>
        </p:spPr>
        <p:txBody>
          <a:bodyPr wrap="square" lIns="0" tIns="0" rIns="0" bIns="0" rtlCol="0" anchor="ctr"/>
          <a:lstStyle/>
          <a:p>
            <a:pPr indent="0" marL="0">
              <a:buNone/>
            </a:pPr>
            <a:r>
              <a:rPr lang="en-US" sz="1400" b="1" dirty="0">
                <a:solidFill>
                  <a:schemeClr val="tx2"/>
                </a:solidFill>
              </a:rPr>
              <a:t>UAV</a:t>
            </a:r>
            <a:endParaRPr lang="en-US" sz="1400" dirty="0"/>
          </a:p>
        </p:txBody>
      </p:sp>
      <p:sp>
        <p:nvSpPr>
          <p:cNvPr id="21" name="Text 14"/>
          <p:cNvSpPr txBox="1"/>
          <p:nvPr/>
        </p:nvSpPr>
        <p:spPr>
          <a:xfrm>
            <a:off x="6995160" y="4462272"/>
            <a:ext cx="4462272" cy="338328"/>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AirSIF, HyUAS, Piccolo doppio; 30–40 cm pixels over tree crowns</a:t>
            </a:r>
            <a:endParaRPr lang="en-US" sz="1200" dirty="0"/>
          </a:p>
        </p:txBody>
      </p:sp>
      <p:sp>
        <p:nvSpPr>
          <p:cNvPr id="22" name="card"/>
          <p:cNvSpPr/>
          <p:nvPr/>
        </p:nvSpPr>
        <p:spPr>
          <a:xfrm>
            <a:off x="6812280" y="5001768"/>
            <a:ext cx="4828032" cy="1115568"/>
          </a:xfrm>
          <a:prstGeom prst="roundRect">
            <a:avLst>
              <a:gd name="adj" fmla="val 6557"/>
            </a:avLst>
          </a:prstGeom>
          <a:solidFill>
            <a:schemeClr val="bg2"/>
          </a:solidFill>
          <a:ln/>
          <a:effectLst>
            <a:outerShdw sx="100000" sy="100000" kx="0" ky="0" algn="bl" rotWithShape="0" blurRad="76200" dist="25400" dir="5400000">
              <a:srgbClr val="000000">
                <a:alpha val="14000"/>
              </a:srgbClr>
            </a:outerShdw>
          </a:effectLst>
        </p:spPr>
      </p:sp>
      <p:sp>
        <p:nvSpPr>
          <p:cNvPr id="23" name="icon circle"/>
          <p:cNvSpPr/>
          <p:nvPr/>
        </p:nvSpPr>
        <p:spPr>
          <a:xfrm>
            <a:off x="6995160" y="5157216"/>
            <a:ext cx="420624" cy="420624"/>
          </a:xfrm>
          <a:prstGeom prst="ellipse">
            <a:avLst/>
          </a:prstGeom>
          <a:solidFill>
            <a:schemeClr val="accent2"/>
          </a:solidFill>
          <a:ln/>
        </p:spPr>
      </p:sp>
      <p:pic>
        <p:nvPicPr>
          <p:cNvPr id="24" name="Image 4" descr="Plane icon">    </p:cNvPr>
          <p:cNvPicPr>
            <a:picLocks noChangeAspect="1"/>
          </p:cNvPicPr>
          <p:nvPr/>
        </p:nvPicPr>
        <p:blipFill>
          <a:blip r:embed="rId5"/>
          <a:stretch>
            <a:fillRect/>
          </a:stretch>
        </p:blipFill>
        <p:spPr>
          <a:xfrm>
            <a:off x="7104522" y="5266578"/>
            <a:ext cx="201900" cy="201900"/>
          </a:xfrm>
          <a:prstGeom prst="rect">
            <a:avLst/>
          </a:prstGeom>
        </p:spPr>
      </p:pic>
      <p:sp>
        <p:nvSpPr>
          <p:cNvPr id="25" name="Text 17"/>
          <p:cNvSpPr txBox="1"/>
          <p:nvPr/>
        </p:nvSpPr>
        <p:spPr>
          <a:xfrm>
            <a:off x="7525512" y="5138928"/>
            <a:ext cx="3977640" cy="457200"/>
          </a:xfrm>
          <a:prstGeom prst="rect">
            <a:avLst/>
          </a:prstGeom>
          <a:noFill/>
          <a:ln/>
        </p:spPr>
        <p:txBody>
          <a:bodyPr wrap="square" lIns="0" tIns="0" rIns="0" bIns="0" rtlCol="0" anchor="ctr"/>
          <a:lstStyle/>
          <a:p>
            <a:pPr indent="0" marL="0">
              <a:buNone/>
            </a:pPr>
            <a:r>
              <a:rPr lang="en-US" sz="1400" b="1" dirty="0">
                <a:solidFill>
                  <a:schemeClr val="tx2"/>
                </a:solidFill>
              </a:rPr>
              <a:t>Airborne</a:t>
            </a:r>
            <a:endParaRPr lang="en-US" sz="1400" dirty="0"/>
          </a:p>
        </p:txBody>
      </p:sp>
      <p:sp>
        <p:nvSpPr>
          <p:cNvPr id="26" name="Text 18"/>
          <p:cNvSpPr txBox="1"/>
          <p:nvPr/>
        </p:nvSpPr>
        <p:spPr>
          <a:xfrm>
            <a:off x="6995160" y="5687568"/>
            <a:ext cx="4462272" cy="338328"/>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AIRFLEX, </a:t>
            </a:r>
            <a:r>
              <a:rPr lang="en-US" sz="1200" b="1" dirty="0">
                <a:solidFill>
                  <a:schemeClr val="tx1"/>
                </a:solidFill>
              </a:rPr>
              <a:t>HyPlant</a:t>
            </a:r>
            <a:r>
              <a:rPr lang="en-US" sz="1200" dirty="0">
                <a:solidFill>
                  <a:schemeClr val="tx1"/>
                </a:solidFill>
              </a:rPr>
              <a:t> (FLEX demonstrator), </a:t>
            </a:r>
            <a:r>
              <a:rPr lang="en-US" sz="1200" b="1" dirty="0">
                <a:solidFill>
                  <a:schemeClr val="tx1"/>
                </a:solidFill>
              </a:rPr>
              <a:t>CFIS</a:t>
            </a:r>
            <a:r>
              <a:rPr lang="en-US" sz="1200" dirty="0">
                <a:solidFill>
                  <a:schemeClr val="tx1"/>
                </a:solidFill>
              </a:rPr>
              <a:t> (OCO-2 validation)</a:t>
            </a:r>
            <a:endParaRPr lang="en-US" sz="1200" dirty="0"/>
          </a:p>
        </p:txBody>
      </p:sp>
      <p:sp>
        <p:nvSpPr>
          <p:cNvPr id="27" name="card"/>
          <p:cNvSpPr/>
          <p:nvPr/>
        </p:nvSpPr>
        <p:spPr>
          <a:xfrm>
            <a:off x="548640" y="5029200"/>
            <a:ext cx="6035040" cy="1143000"/>
          </a:xfrm>
          <a:prstGeom prst="roundRect">
            <a:avLst>
              <a:gd name="adj" fmla="val 6400"/>
            </a:avLst>
          </a:prstGeom>
          <a:solidFill>
            <a:schemeClr val="bg2"/>
          </a:solidFill>
          <a:ln/>
        </p:spPr>
      </p:sp>
      <p:sp>
        <p:nvSpPr>
          <p:cNvPr id="28" name="Text 20"/>
          <p:cNvSpPr txBox="1"/>
          <p:nvPr/>
        </p:nvSpPr>
        <p:spPr>
          <a:xfrm>
            <a:off x="731520" y="5166360"/>
            <a:ext cx="5715000" cy="365760"/>
          </a:xfrm>
          <a:prstGeom prst="rect">
            <a:avLst/>
          </a:prstGeom>
          <a:noFill/>
          <a:ln/>
        </p:spPr>
        <p:txBody>
          <a:bodyPr wrap="square" lIns="0" tIns="0" rIns="0" bIns="0" rtlCol="0" anchor="ctr"/>
          <a:lstStyle/>
          <a:p>
            <a:pPr indent="0" marL="0">
              <a:buNone/>
            </a:pPr>
            <a:r>
              <a:rPr lang="en-US" sz="1600" b="1" dirty="0">
                <a:solidFill>
                  <a:schemeClr val="tx2"/>
                </a:solidFill>
              </a:rPr>
              <a:t>Trade-off</a:t>
            </a:r>
            <a:endParaRPr lang="en-US" sz="1600" dirty="0"/>
          </a:p>
        </p:txBody>
      </p:sp>
      <p:sp>
        <p:nvSpPr>
          <p:cNvPr id="29" name="Text 21"/>
          <p:cNvSpPr txBox="1"/>
          <p:nvPr/>
        </p:nvSpPr>
        <p:spPr>
          <a:xfrm>
            <a:off x="731520" y="5577840"/>
            <a:ext cx="5669280" cy="50292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Higher platforms → larger area and lower cost per area, but less physiological detail per pixel.</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UAV and airborne SIF maps</a:t>
            </a:r>
            <a:endParaRPr lang="en-US" sz="3200" dirty="0"/>
          </a:p>
        </p:txBody>
      </p:sp>
      <p:sp>
        <p:nvSpPr>
          <p:cNvPr id="4" name="figure frame"/>
          <p:cNvSpPr/>
          <p:nvPr/>
        </p:nvSpPr>
        <p:spPr>
          <a:xfrm>
            <a:off x="548640" y="1325880"/>
            <a:ext cx="5440680" cy="3108960"/>
          </a:xfrm>
          <a:prstGeom prst="roundRect">
            <a:avLst>
              <a:gd name="adj" fmla="val 1765"/>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Fig. 10 — UAV SIF (O₂-A, 3FLD) over an olive orchard (left) and water-stressed citrus (right)">    </p:cNvPr>
          <p:cNvPicPr>
            <a:picLocks noChangeAspect="1"/>
          </p:cNvPicPr>
          <p:nvPr/>
        </p:nvPicPr>
        <p:blipFill>
          <a:blip r:embed="rId1"/>
          <a:stretch>
            <a:fillRect/>
          </a:stretch>
        </p:blipFill>
        <p:spPr>
          <a:xfrm>
            <a:off x="640080" y="1457161"/>
            <a:ext cx="5257800" cy="2846399"/>
          </a:xfrm>
          <a:prstGeom prst="rect">
            <a:avLst/>
          </a:prstGeom>
        </p:spPr>
      </p:pic>
      <p:sp>
        <p:nvSpPr>
          <p:cNvPr id="6" name="Text 2"/>
          <p:cNvSpPr txBox="1"/>
          <p:nvPr/>
        </p:nvSpPr>
        <p:spPr>
          <a:xfrm>
            <a:off x="548640" y="4480560"/>
            <a:ext cx="5440680" cy="365760"/>
          </a:xfrm>
          <a:prstGeom prst="rect">
            <a:avLst/>
          </a:prstGeom>
          <a:noFill/>
          <a:ln/>
        </p:spPr>
        <p:txBody>
          <a:bodyPr wrap="square" lIns="0" tIns="0" rIns="0" bIns="0" rtlCol="0" anchor="t"/>
          <a:lstStyle/>
          <a:p>
            <a:pPr indent="0" marL="0">
              <a:buNone/>
            </a:pPr>
            <a:r>
              <a:rPr lang="en-US" sz="1100" i="1" dirty="0">
                <a:solidFill>
                  <a:schemeClr val="accent6"/>
                </a:solidFill>
              </a:rPr>
              <a:t>Fig. 10 — UAV SIF (O₂-A, 3FLD) over an olive orchard (left) and water-stressed citrus (right)</a:t>
            </a:r>
            <a:endParaRPr lang="en-US" sz="1100" dirty="0"/>
          </a:p>
        </p:txBody>
      </p:sp>
      <p:sp>
        <p:nvSpPr>
          <p:cNvPr id="7" name="figure frame"/>
          <p:cNvSpPr/>
          <p:nvPr/>
        </p:nvSpPr>
        <p:spPr>
          <a:xfrm>
            <a:off x="6199632" y="1325880"/>
            <a:ext cx="5440680" cy="3108960"/>
          </a:xfrm>
          <a:prstGeom prst="roundRect">
            <a:avLst>
              <a:gd name="adj" fmla="val 1765"/>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8" name="Image 1" descr="Fig. 11 — HyPlant reflectance (top) vs F₇₆₀ SIF (bottom); fields A and B differ only in SIF">    </p:cNvPr>
          <p:cNvPicPr>
            <a:picLocks noChangeAspect="1"/>
          </p:cNvPicPr>
          <p:nvPr/>
        </p:nvPicPr>
        <p:blipFill>
          <a:blip r:embed="rId2"/>
          <a:stretch>
            <a:fillRect/>
          </a:stretch>
        </p:blipFill>
        <p:spPr>
          <a:xfrm>
            <a:off x="6291072" y="1555262"/>
            <a:ext cx="5257800" cy="2650196"/>
          </a:xfrm>
          <a:prstGeom prst="rect">
            <a:avLst/>
          </a:prstGeom>
        </p:spPr>
      </p:pic>
      <p:sp>
        <p:nvSpPr>
          <p:cNvPr id="9" name="Text 4"/>
          <p:cNvSpPr txBox="1"/>
          <p:nvPr/>
        </p:nvSpPr>
        <p:spPr>
          <a:xfrm>
            <a:off x="6199632" y="4480560"/>
            <a:ext cx="5440680" cy="365760"/>
          </a:xfrm>
          <a:prstGeom prst="rect">
            <a:avLst/>
          </a:prstGeom>
          <a:noFill/>
          <a:ln/>
        </p:spPr>
        <p:txBody>
          <a:bodyPr wrap="square" lIns="0" tIns="0" rIns="0" bIns="0" rtlCol="0" anchor="t"/>
          <a:lstStyle/>
          <a:p>
            <a:pPr indent="0" marL="0">
              <a:buNone/>
            </a:pPr>
            <a:r>
              <a:rPr lang="en-US" sz="1100" i="1" dirty="0">
                <a:solidFill>
                  <a:schemeClr val="accent6"/>
                </a:solidFill>
              </a:rPr>
              <a:t>Fig. 11 — HyPlant reflectance (top) vs F₇₆₀ SIF (bottom); fields A and B differ only in SIF</a:t>
            </a:r>
            <a:endParaRPr lang="en-US" sz="1100" dirty="0"/>
          </a:p>
        </p:txBody>
      </p:sp>
      <p:sp>
        <p:nvSpPr>
          <p:cNvPr id="10" name="card"/>
          <p:cNvSpPr/>
          <p:nvPr/>
        </p:nvSpPr>
        <p:spPr>
          <a:xfrm>
            <a:off x="548640" y="5029200"/>
            <a:ext cx="5440680" cy="1143000"/>
          </a:xfrm>
          <a:prstGeom prst="roundRect">
            <a:avLst>
              <a:gd name="adj" fmla="val 6400"/>
            </a:avLst>
          </a:prstGeom>
          <a:solidFill>
            <a:schemeClr val="bg2"/>
          </a:solidFill>
          <a:ln/>
          <a:effectLst>
            <a:outerShdw sx="100000" sy="100000" kx="0" ky="0" algn="bl" rotWithShape="0" blurRad="76200" dist="25400" dir="5400000">
              <a:srgbClr val="000000">
                <a:alpha val="14000"/>
              </a:srgbClr>
            </a:outerShdw>
          </a:effectLst>
        </p:spPr>
      </p:sp>
      <p:sp>
        <p:nvSpPr>
          <p:cNvPr id="11" name="icon circle"/>
          <p:cNvSpPr/>
          <p:nvPr/>
        </p:nvSpPr>
        <p:spPr>
          <a:xfrm>
            <a:off x="731520" y="5184648"/>
            <a:ext cx="420624" cy="420624"/>
          </a:xfrm>
          <a:prstGeom prst="ellipse">
            <a:avLst/>
          </a:prstGeom>
          <a:solidFill>
            <a:schemeClr val="accent5"/>
          </a:solidFill>
          <a:ln/>
        </p:spPr>
      </p:sp>
      <p:pic>
        <p:nvPicPr>
          <p:cNvPr id="12" name="Image 2" descr="Plane icon">    </p:cNvPr>
          <p:cNvPicPr>
            <a:picLocks noChangeAspect="1"/>
          </p:cNvPicPr>
          <p:nvPr/>
        </p:nvPicPr>
        <p:blipFill>
          <a:blip r:embed="rId3"/>
          <a:stretch>
            <a:fillRect/>
          </a:stretch>
        </p:blipFill>
        <p:spPr>
          <a:xfrm>
            <a:off x="840882" y="5294010"/>
            <a:ext cx="201900" cy="201900"/>
          </a:xfrm>
          <a:prstGeom prst="rect">
            <a:avLst/>
          </a:prstGeom>
        </p:spPr>
      </p:pic>
      <p:sp>
        <p:nvSpPr>
          <p:cNvPr id="13" name="Text 7"/>
          <p:cNvSpPr txBox="1"/>
          <p:nvPr/>
        </p:nvSpPr>
        <p:spPr>
          <a:xfrm>
            <a:off x="1261872" y="516636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UAV strength</a:t>
            </a:r>
            <a:endParaRPr lang="en-US" sz="1600" dirty="0"/>
          </a:p>
        </p:txBody>
      </p:sp>
      <p:sp>
        <p:nvSpPr>
          <p:cNvPr id="14" name="Text 8"/>
          <p:cNvSpPr txBox="1"/>
          <p:nvPr/>
        </p:nvSpPr>
        <p:spPr>
          <a:xfrm>
            <a:off x="731520" y="5715000"/>
            <a:ext cx="5074920" cy="36576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Very high spatial resolution, flexible on-demand flights; must stay light yet keep SNR.</a:t>
            </a:r>
            <a:endParaRPr lang="en-US" sz="1300" dirty="0"/>
          </a:p>
        </p:txBody>
      </p:sp>
      <p:sp>
        <p:nvSpPr>
          <p:cNvPr id="15" name="card"/>
          <p:cNvSpPr/>
          <p:nvPr/>
        </p:nvSpPr>
        <p:spPr>
          <a:xfrm>
            <a:off x="6199632" y="5029200"/>
            <a:ext cx="5440680" cy="1143000"/>
          </a:xfrm>
          <a:prstGeom prst="roundRect">
            <a:avLst>
              <a:gd name="adj" fmla="val 6400"/>
            </a:avLst>
          </a:prstGeom>
          <a:solidFill>
            <a:schemeClr val="bg2"/>
          </a:solidFill>
          <a:ln/>
          <a:effectLst>
            <a:outerShdw sx="100000" sy="100000" kx="0" ky="0" algn="bl" rotWithShape="0" blurRad="76200" dist="25400" dir="5400000">
              <a:srgbClr val="000000">
                <a:alpha val="14000"/>
              </a:srgbClr>
            </a:outerShdw>
          </a:effectLst>
        </p:spPr>
      </p:sp>
      <p:sp>
        <p:nvSpPr>
          <p:cNvPr id="16" name="icon circle"/>
          <p:cNvSpPr/>
          <p:nvPr/>
        </p:nvSpPr>
        <p:spPr>
          <a:xfrm>
            <a:off x="6382512" y="5184648"/>
            <a:ext cx="420624" cy="420624"/>
          </a:xfrm>
          <a:prstGeom prst="ellipse">
            <a:avLst/>
          </a:prstGeom>
          <a:solidFill>
            <a:schemeClr val="accent2"/>
          </a:solidFill>
          <a:ln/>
        </p:spPr>
      </p:sp>
      <p:pic>
        <p:nvPicPr>
          <p:cNvPr id="17" name="Image 3" descr="Eye icon">    </p:cNvPr>
          <p:cNvPicPr>
            <a:picLocks noChangeAspect="1"/>
          </p:cNvPicPr>
          <p:nvPr/>
        </p:nvPicPr>
        <p:blipFill>
          <a:blip r:embed="rId4"/>
          <a:stretch>
            <a:fillRect/>
          </a:stretch>
        </p:blipFill>
        <p:spPr>
          <a:xfrm>
            <a:off x="6491874" y="5294010"/>
            <a:ext cx="201900" cy="201900"/>
          </a:xfrm>
          <a:prstGeom prst="rect">
            <a:avLst/>
          </a:prstGeom>
        </p:spPr>
      </p:pic>
      <p:sp>
        <p:nvSpPr>
          <p:cNvPr id="18" name="Text 11"/>
          <p:cNvSpPr txBox="1"/>
          <p:nvPr/>
        </p:nvSpPr>
        <p:spPr>
          <a:xfrm>
            <a:off x="6912864" y="516636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Airborne strength</a:t>
            </a:r>
            <a:endParaRPr lang="en-US" sz="1600" dirty="0"/>
          </a:p>
        </p:txBody>
      </p:sp>
      <p:sp>
        <p:nvSpPr>
          <p:cNvPr id="19" name="Text 12"/>
          <p:cNvSpPr txBox="1"/>
          <p:nvPr/>
        </p:nvSpPr>
        <p:spPr>
          <a:xfrm>
            <a:off x="6382512" y="5715000"/>
            <a:ext cx="5074920" cy="36576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HyPlant: 0.25 nm resolution, 670–780 nm; maps both red and far-red SIF.</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Satellites that measure SIF</a:t>
            </a:r>
            <a:endParaRPr lang="en-US" sz="32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331720"/>
                <a:gridCol w="1234440"/>
                <a:gridCol w="1463040"/>
                <a:gridCol w="914400"/>
                <a:gridCol w="914400"/>
                <a:gridCol w="1234440"/>
                <a:gridCol w="1005840"/>
                <a:gridCol w="1993392"/>
              </a:tblGrid>
              <a:tr h="475488">
                <a:tc>
                  <a:txBody>
                    <a:bodyPr/>
                    <a:lstStyle/>
                    <a:p>
                      <a:pPr indent="0" marL="0">
                        <a:buNone/>
                      </a:pPr>
                      <a:r>
                        <a:rPr lang="en-US" sz="1300" b="1" dirty="0">
                          <a:solidFill>
                            <a:schemeClr val="bg1"/>
                          </a:solidFill>
                        </a:rPr>
                        <a:t>Mission / sensor</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Status (2019)</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Footprint (km²)</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Overpass</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Repeat</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Range (nm)</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FWHM (nm)</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SIF</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r>
              <a:tr h="475488">
                <a:tc>
                  <a:txBody>
                    <a:bodyPr/>
                    <a:lstStyle/>
                    <a:p>
                      <a:pPr indent="0" marL="0">
                        <a:buNone/>
                      </a:pPr>
                      <a:r>
                        <a:rPr lang="en-US" sz="1200" b="1" dirty="0">
                          <a:solidFill>
                            <a:schemeClr val="accent2"/>
                          </a:solidFill>
                        </a:rPr>
                        <a:t>FLEX / FLORIS</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2"/>
                          </a:solidFill>
                        </a:rPr>
                        <a:t>Selected</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2"/>
                          </a:solidFill>
                        </a:rPr>
                        <a:t>0.3 × 0.3</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2"/>
                          </a:solidFill>
                        </a:rPr>
                        <a:t>10:00</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2"/>
                          </a:solidFill>
                        </a:rPr>
                        <a:t>27 day</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2"/>
                          </a:solidFill>
                        </a:rPr>
                        <a:t>500–780</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2"/>
                          </a:solidFill>
                        </a:rPr>
                        <a:t>0.3–2.0</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2"/>
                          </a:solidFill>
                        </a:rPr>
                        <a:t>Red, far-red, full, PRI</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r>
              <a:tr h="475488">
                <a:tc>
                  <a:txBody>
                    <a:bodyPr/>
                    <a:lstStyle/>
                    <a:p>
                      <a:pPr indent="0" marL="0">
                        <a:buNone/>
                      </a:pPr>
                      <a:r>
                        <a:rPr lang="en-US" sz="1200" b="1" dirty="0">
                          <a:solidFill>
                            <a:schemeClr val="tx2"/>
                          </a:solidFill>
                        </a:rPr>
                        <a:t>Sentinel-5P / TROPOMI</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 orbit</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7 × 7</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13:30</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16 day†</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675–775 +</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0.5</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Far-red, full, (red)</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tx2"/>
                          </a:solidFill>
                        </a:rPr>
                        <a:t>MetOp / GOME-2</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In orbit</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40 × 40 / 40 × 80</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09:30</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29 day†</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270–790</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0.5</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Far-red, full, (red)</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r>
              <a:tr h="475488">
                <a:tc>
                  <a:txBody>
                    <a:bodyPr/>
                    <a:lstStyle/>
                    <a:p>
                      <a:pPr indent="0" marL="0">
                        <a:buNone/>
                      </a:pPr>
                      <a:r>
                        <a:rPr lang="en-US" sz="1200" b="1" dirty="0">
                          <a:solidFill>
                            <a:schemeClr val="tx2"/>
                          </a:solidFill>
                        </a:rPr>
                        <a:t>OCO-2</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 orbit</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1.3 × 2.25</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13:30</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16 day</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757–775</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0.04</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Far-red</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tx2"/>
                          </a:solidFill>
                        </a:rPr>
                        <a:t>GOSAT / TANSO-FTS</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In orbit</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10 × 10</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13:00</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3 day</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758–775 +</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0.025</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Far-red</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r>
              <a:tr h="475488">
                <a:tc>
                  <a:txBody>
                    <a:bodyPr/>
                    <a:lstStyle/>
                    <a:p>
                      <a:pPr indent="0" marL="0">
                        <a:buNone/>
                      </a:pPr>
                      <a:r>
                        <a:rPr lang="en-US" sz="1200" b="1" dirty="0">
                          <a:solidFill>
                            <a:schemeClr val="tx2"/>
                          </a:solidFill>
                        </a:rPr>
                        <a:t>TanSat / ACGS</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 orbit</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 × 2</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13:30</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16 day</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758–778 +</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0.04</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Far-red</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tx2"/>
                          </a:solidFill>
                        </a:rPr>
                        <a:t>TEMPO · Sentinel-4 · GeoCARB</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Selected (GEO)</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~3–8 km</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GEO</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hourly</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various</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0.05–0.6</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Far-red (± red)</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548640" y="5257800"/>
            <a:ext cx="11091672" cy="457200"/>
          </a:xfrm>
          <a:prstGeom prst="rect">
            <a:avLst/>
          </a:prstGeom>
          <a:noFill/>
          <a:ln/>
        </p:spPr>
        <p:txBody>
          <a:bodyPr wrap="square" lIns="508" tIns="508" rIns="508" bIns="508" rtlCol="0" anchor="t"/>
          <a:lstStyle/>
          <a:p>
            <a:pPr indent="0" marL="0">
              <a:spcAft>
                <a:spcPts val="600"/>
              </a:spcAft>
              <a:buNone/>
            </a:pPr>
            <a:r>
              <a:rPr lang="en-US" sz="1100" i="1" dirty="0">
                <a:solidFill>
                  <a:schemeClr val="accent6"/>
                </a:solidFill>
              </a:rPr>
              <a:t>Simplified from Table 3 of Mohammed et al. (2019). †Daily near-global coverage thanks to wide swaths; repeat cycle refers to identical orbit tracks. '+' = additional bands at longer wavelengths.</a:t>
            </a:r>
            <a:endParaRPr lang="en-US" sz="1100" dirty="0"/>
          </a:p>
        </p:txBody>
      </p:sp>
      <p:sp>
        <p:nvSpPr>
          <p:cNvPr id="6" name="card"/>
          <p:cNvSpPr/>
          <p:nvPr/>
        </p:nvSpPr>
        <p:spPr>
          <a:xfrm>
            <a:off x="548640" y="5623560"/>
            <a:ext cx="11091672" cy="548640"/>
          </a:xfrm>
          <a:prstGeom prst="roundRect">
            <a:avLst>
              <a:gd name="adj" fmla="val 13333"/>
            </a:avLst>
          </a:prstGeom>
          <a:solidFill>
            <a:schemeClr val="bg2"/>
          </a:solidFill>
          <a:ln/>
        </p:spPr>
      </p:sp>
      <p:sp>
        <p:nvSpPr>
          <p:cNvPr id="7" name="Text 3"/>
          <p:cNvSpPr txBox="1"/>
          <p:nvPr/>
        </p:nvSpPr>
        <p:spPr>
          <a:xfrm>
            <a:off x="731520" y="5760720"/>
            <a:ext cx="10771632" cy="365760"/>
          </a:xfrm>
          <a:prstGeom prst="rect">
            <a:avLst/>
          </a:prstGeom>
          <a:noFill/>
          <a:ln/>
        </p:spPr>
        <p:txBody>
          <a:bodyPr wrap="square" lIns="0" tIns="0" rIns="0" bIns="0" rtlCol="0" anchor="ctr"/>
          <a:lstStyle/>
          <a:p>
            <a:pPr indent="0" marL="0">
              <a:buNone/>
            </a:pPr>
            <a:r>
              <a:rPr lang="en-US" sz="1300" b="1" dirty="0">
                <a:solidFill>
                  <a:schemeClr val="tx2"/>
                </a:solidFill>
              </a:rPr>
              <a:t>Rule of thumb: high spectral resolution, high SNR, small footprint and frequent revisit cannot all be maximised at once.</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Global far-red SIF from space</a:t>
            </a:r>
            <a:endParaRPr lang="en-US" sz="3200" dirty="0"/>
          </a:p>
        </p:txBody>
      </p:sp>
      <p:sp>
        <p:nvSpPr>
          <p:cNvPr id="4" name="figure frame"/>
          <p:cNvSpPr/>
          <p:nvPr/>
        </p:nvSpPr>
        <p:spPr>
          <a:xfrm>
            <a:off x="548640" y="1325880"/>
            <a:ext cx="7315200" cy="4434840"/>
          </a:xfrm>
          <a:prstGeom prst="roundRect">
            <a:avLst>
              <a:gd name="adj" fmla="val 1237"/>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Mohammed et al. (2019), Fig. 13 — 2009 annual average far-red SIF from GOME-2 (Joiner et al. 2013)">    </p:cNvPr>
          <p:cNvPicPr>
            <a:picLocks noChangeAspect="1"/>
          </p:cNvPicPr>
          <p:nvPr/>
        </p:nvPicPr>
        <p:blipFill>
          <a:blip r:embed="rId1"/>
          <a:stretch>
            <a:fillRect/>
          </a:stretch>
        </p:blipFill>
        <p:spPr>
          <a:xfrm>
            <a:off x="640080" y="1550082"/>
            <a:ext cx="7132320" cy="3986435"/>
          </a:xfrm>
          <a:prstGeom prst="rect">
            <a:avLst/>
          </a:prstGeom>
        </p:spPr>
      </p:pic>
      <p:sp>
        <p:nvSpPr>
          <p:cNvPr id="6" name="Text 2"/>
          <p:cNvSpPr txBox="1"/>
          <p:nvPr/>
        </p:nvSpPr>
        <p:spPr>
          <a:xfrm>
            <a:off x="548640" y="5806440"/>
            <a:ext cx="7315200" cy="365760"/>
          </a:xfrm>
          <a:prstGeom prst="rect">
            <a:avLst/>
          </a:prstGeom>
          <a:noFill/>
          <a:ln/>
        </p:spPr>
        <p:txBody>
          <a:bodyPr wrap="square" lIns="0" tIns="0" rIns="0" bIns="0" rtlCol="0" anchor="t"/>
          <a:lstStyle/>
          <a:p>
            <a:pPr indent="0" marL="0">
              <a:buNone/>
            </a:pPr>
            <a:r>
              <a:rPr lang="en-US" sz="1100" i="1" dirty="0">
                <a:solidFill>
                  <a:schemeClr val="accent6"/>
                </a:solidFill>
              </a:rPr>
              <a:t>Mohammed et al. (2019), Fig. 13 — 2009 annual average far-red SIF from GOME-2 (Joiner et al. 2013)</a:t>
            </a:r>
            <a:endParaRPr lang="en-US" sz="1100" dirty="0"/>
          </a:p>
        </p:txBody>
      </p:sp>
      <p:sp>
        <p:nvSpPr>
          <p:cNvPr id="7" name="card"/>
          <p:cNvSpPr/>
          <p:nvPr/>
        </p:nvSpPr>
        <p:spPr>
          <a:xfrm>
            <a:off x="8092440" y="1325880"/>
            <a:ext cx="3547872"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8" name="icon circle"/>
          <p:cNvSpPr/>
          <p:nvPr/>
        </p:nvSpPr>
        <p:spPr>
          <a:xfrm>
            <a:off x="8275320" y="1481328"/>
            <a:ext cx="420624" cy="420624"/>
          </a:xfrm>
          <a:prstGeom prst="ellipse">
            <a:avLst/>
          </a:prstGeom>
          <a:solidFill>
            <a:schemeClr val="accent1"/>
          </a:solidFill>
          <a:ln/>
        </p:spPr>
      </p:sp>
      <p:pic>
        <p:nvPicPr>
          <p:cNvPr id="9" name="Image 1" descr="GlobeAmericas icon">    </p:cNvPr>
          <p:cNvPicPr>
            <a:picLocks noChangeAspect="1"/>
          </p:cNvPicPr>
          <p:nvPr/>
        </p:nvPicPr>
        <p:blipFill>
          <a:blip r:embed="rId2"/>
          <a:stretch>
            <a:fillRect/>
          </a:stretch>
        </p:blipFill>
        <p:spPr>
          <a:xfrm>
            <a:off x="8384682" y="1590690"/>
            <a:ext cx="201900" cy="201900"/>
          </a:xfrm>
          <a:prstGeom prst="rect">
            <a:avLst/>
          </a:prstGeom>
        </p:spPr>
      </p:pic>
      <p:sp>
        <p:nvSpPr>
          <p:cNvPr id="10" name="Text 5"/>
          <p:cNvSpPr txBox="1"/>
          <p:nvPr/>
        </p:nvSpPr>
        <p:spPr>
          <a:xfrm>
            <a:off x="8805672" y="1463040"/>
            <a:ext cx="2697480" cy="457200"/>
          </a:xfrm>
          <a:prstGeom prst="rect">
            <a:avLst/>
          </a:prstGeom>
          <a:noFill/>
          <a:ln/>
        </p:spPr>
        <p:txBody>
          <a:bodyPr wrap="square" lIns="0" tIns="0" rIns="0" bIns="0" rtlCol="0" anchor="ctr"/>
          <a:lstStyle/>
          <a:p>
            <a:pPr indent="0" marL="0">
              <a:buNone/>
            </a:pPr>
            <a:r>
              <a:rPr lang="en-US" sz="1600" b="1" dirty="0">
                <a:solidFill>
                  <a:schemeClr val="tx2"/>
                </a:solidFill>
              </a:rPr>
              <a:t>Reading the map</a:t>
            </a:r>
            <a:endParaRPr lang="en-US" sz="1600" dirty="0"/>
          </a:p>
        </p:txBody>
      </p:sp>
      <p:sp>
        <p:nvSpPr>
          <p:cNvPr id="11" name="Text 6"/>
          <p:cNvSpPr txBox="1"/>
          <p:nvPr/>
        </p:nvSpPr>
        <p:spPr>
          <a:xfrm>
            <a:off x="8275320" y="2011680"/>
            <a:ext cx="3182112" cy="155448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Red/yellow: highest SIF (tropics, intensive cropland)</a:t>
            </a:r>
            <a:endParaRPr lang="en-US" sz="1300" dirty="0"/>
          </a:p>
          <a:p>
            <a:pPr marL="177800" indent="-177800">
              <a:spcAft>
                <a:spcPts val="400"/>
              </a:spcAft>
              <a:buSzPct val="100000"/>
              <a:buChar char="•"/>
            </a:pPr>
            <a:r>
              <a:rPr lang="en-US" sz="1300" dirty="0">
                <a:solidFill>
                  <a:schemeClr val="tx1"/>
                </a:solidFill>
              </a:rPr>
              <a:t>Black: deserts, ice — no vegetation</a:t>
            </a:r>
            <a:endParaRPr lang="en-US" sz="1300" dirty="0"/>
          </a:p>
          <a:p>
            <a:pPr marL="177800" indent="-177800">
              <a:spcAft>
                <a:spcPts val="400"/>
              </a:spcAft>
              <a:buSzPct val="100000"/>
              <a:buChar char="•"/>
            </a:pPr>
            <a:r>
              <a:rPr lang="en-US" sz="1300" dirty="0">
                <a:solidFill>
                  <a:schemeClr val="tx1"/>
                </a:solidFill>
              </a:rPr>
              <a:t>Seasonal maps reveal phenology and drought</a:t>
            </a:r>
            <a:endParaRPr lang="en-US" sz="1300" dirty="0"/>
          </a:p>
        </p:txBody>
      </p:sp>
      <p:sp>
        <p:nvSpPr>
          <p:cNvPr id="12" name="card"/>
          <p:cNvSpPr/>
          <p:nvPr/>
        </p:nvSpPr>
        <p:spPr>
          <a:xfrm>
            <a:off x="8092440" y="3794760"/>
            <a:ext cx="3547872"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13" name="icon circle"/>
          <p:cNvSpPr/>
          <p:nvPr/>
        </p:nvSpPr>
        <p:spPr>
          <a:xfrm>
            <a:off x="8275320" y="3950208"/>
            <a:ext cx="420624" cy="420624"/>
          </a:xfrm>
          <a:prstGeom prst="ellipse">
            <a:avLst/>
          </a:prstGeom>
          <a:solidFill>
            <a:schemeClr val="accent2"/>
          </a:solidFill>
          <a:ln/>
        </p:spPr>
      </p:sp>
      <p:pic>
        <p:nvPicPr>
          <p:cNvPr id="14" name="Image 2" descr="Satellite icon">    </p:cNvPr>
          <p:cNvPicPr>
            <a:picLocks noChangeAspect="1"/>
          </p:cNvPicPr>
          <p:nvPr/>
        </p:nvPicPr>
        <p:blipFill>
          <a:blip r:embed="rId3"/>
          <a:stretch>
            <a:fillRect/>
          </a:stretch>
        </p:blipFill>
        <p:spPr>
          <a:xfrm>
            <a:off x="8384682" y="4059570"/>
            <a:ext cx="201900" cy="201900"/>
          </a:xfrm>
          <a:prstGeom prst="rect">
            <a:avLst/>
          </a:prstGeom>
        </p:spPr>
      </p:pic>
      <p:sp>
        <p:nvSpPr>
          <p:cNvPr id="15" name="Text 9"/>
          <p:cNvSpPr txBox="1"/>
          <p:nvPr/>
        </p:nvSpPr>
        <p:spPr>
          <a:xfrm>
            <a:off x="8805672" y="3931920"/>
            <a:ext cx="2697480" cy="457200"/>
          </a:xfrm>
          <a:prstGeom prst="rect">
            <a:avLst/>
          </a:prstGeom>
          <a:noFill/>
          <a:ln/>
        </p:spPr>
        <p:txBody>
          <a:bodyPr wrap="square" lIns="0" tIns="0" rIns="0" bIns="0" rtlCol="0" anchor="ctr"/>
          <a:lstStyle/>
          <a:p>
            <a:pPr indent="0" marL="0">
              <a:buNone/>
            </a:pPr>
            <a:r>
              <a:rPr lang="en-US" sz="1600" b="1" dirty="0">
                <a:solidFill>
                  <a:schemeClr val="tx2"/>
                </a:solidFill>
              </a:rPr>
              <a:t>Satellite findings</a:t>
            </a:r>
            <a:endParaRPr lang="en-US" sz="1600" dirty="0"/>
          </a:p>
        </p:txBody>
      </p:sp>
      <p:sp>
        <p:nvSpPr>
          <p:cNvPr id="16" name="Text 10"/>
          <p:cNvSpPr txBox="1"/>
          <p:nvPr/>
        </p:nvSpPr>
        <p:spPr>
          <a:xfrm>
            <a:off x="8275320" y="4480560"/>
            <a:ext cx="3182112"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GOME-2 SIF captured high US Corn Belt GPP that vegetation indices missed</a:t>
            </a:r>
            <a:endParaRPr lang="en-US" sz="1300" dirty="0"/>
          </a:p>
          <a:p>
            <a:pPr marL="177800" indent="-177800">
              <a:spcAft>
                <a:spcPts val="400"/>
              </a:spcAft>
              <a:buSzPct val="100000"/>
              <a:buChar char="•"/>
            </a:pPr>
            <a:r>
              <a:rPr lang="en-US" sz="1300" dirty="0">
                <a:solidFill>
                  <a:schemeClr val="tx1"/>
                </a:solidFill>
              </a:rPr>
              <a:t>Drought &amp; heat stress signals at ecosystem scale</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FLEX: the first satellite designed for SIF</a:t>
            </a:r>
            <a:endParaRPr lang="en-US" sz="3200" dirty="0"/>
          </a:p>
        </p:txBody>
      </p:sp>
      <p:sp>
        <p:nvSpPr>
          <p:cNvPr id="4" name="figure frame"/>
          <p:cNvSpPr/>
          <p:nvPr/>
        </p:nvSpPr>
        <p:spPr>
          <a:xfrm>
            <a:off x="548640" y="1325880"/>
            <a:ext cx="5669280" cy="4297680"/>
          </a:xfrm>
          <a:prstGeom prst="roundRect">
            <a:avLst>
              <a:gd name="adj" fmla="val 1277"/>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Mohammed et al. (2019), Fig. 12 — FLEX (FLORIS, 150 km swath) in tandem with Sentinel-3 (OLCI 1270 km; SLSTR nadir 1400 km, backward 740 km)">    </p:cNvPr>
          <p:cNvPicPr>
            <a:picLocks noChangeAspect="1"/>
          </p:cNvPicPr>
          <p:nvPr/>
        </p:nvPicPr>
        <p:blipFill>
          <a:blip r:embed="rId1"/>
          <a:stretch>
            <a:fillRect/>
          </a:stretch>
        </p:blipFill>
        <p:spPr>
          <a:xfrm>
            <a:off x="1000191" y="1417320"/>
            <a:ext cx="4766178" cy="4114800"/>
          </a:xfrm>
          <a:prstGeom prst="rect">
            <a:avLst/>
          </a:prstGeom>
        </p:spPr>
      </p:pic>
      <p:sp>
        <p:nvSpPr>
          <p:cNvPr id="6" name="Text 2"/>
          <p:cNvSpPr txBox="1"/>
          <p:nvPr/>
        </p:nvSpPr>
        <p:spPr>
          <a:xfrm>
            <a:off x="548640" y="5669280"/>
            <a:ext cx="5669280" cy="502920"/>
          </a:xfrm>
          <a:prstGeom prst="rect">
            <a:avLst/>
          </a:prstGeom>
          <a:noFill/>
          <a:ln/>
        </p:spPr>
        <p:txBody>
          <a:bodyPr wrap="square" lIns="0" tIns="0" rIns="0" bIns="0" rtlCol="0" anchor="t"/>
          <a:lstStyle/>
          <a:p>
            <a:pPr indent="0" marL="0">
              <a:buNone/>
            </a:pPr>
            <a:r>
              <a:rPr lang="en-US" sz="1100" i="1" dirty="0">
                <a:solidFill>
                  <a:schemeClr val="accent6"/>
                </a:solidFill>
              </a:rPr>
              <a:t>Mohammed et al. (2019), Fig. 12 — FLEX (FLORIS, 150 km swath) in tandem with Sentinel-3 (OLCI 1270 km; SLSTR nadir 1400 km, backward 740 km)</a:t>
            </a:r>
            <a:endParaRPr lang="en-US" sz="1100" dirty="0"/>
          </a:p>
        </p:txBody>
      </p:sp>
      <p:sp>
        <p:nvSpPr>
          <p:cNvPr id="7" name="card"/>
          <p:cNvSpPr/>
          <p:nvPr/>
        </p:nvSpPr>
        <p:spPr>
          <a:xfrm>
            <a:off x="6446520" y="1325880"/>
            <a:ext cx="2514600" cy="1188720"/>
          </a:xfrm>
          <a:prstGeom prst="roundRect">
            <a:avLst>
              <a:gd name="adj" fmla="val 6154"/>
            </a:avLst>
          </a:prstGeom>
          <a:solidFill>
            <a:schemeClr val="tx2"/>
          </a:solidFill>
          <a:ln/>
          <a:effectLst>
            <a:outerShdw sx="100000" sy="100000" kx="0" ky="0" algn="bl" rotWithShape="0" blurRad="76200" dist="25400" dir="5400000">
              <a:srgbClr val="000000">
                <a:alpha val="14000"/>
              </a:srgbClr>
            </a:outerShdw>
          </a:effectLst>
        </p:spPr>
      </p:sp>
      <p:sp>
        <p:nvSpPr>
          <p:cNvPr id="8" name="Text 4"/>
          <p:cNvSpPr txBox="1"/>
          <p:nvPr/>
        </p:nvSpPr>
        <p:spPr>
          <a:xfrm>
            <a:off x="6446520" y="1417320"/>
            <a:ext cx="2514600" cy="640080"/>
          </a:xfrm>
          <a:prstGeom prst="rect">
            <a:avLst/>
          </a:prstGeom>
          <a:noFill/>
          <a:ln/>
        </p:spPr>
        <p:txBody>
          <a:bodyPr wrap="square" lIns="0" tIns="0" rIns="0" bIns="0" rtlCol="0" anchor="ctr"/>
          <a:lstStyle/>
          <a:p>
            <a:pPr algn="ctr" indent="0" marL="0">
              <a:buNone/>
            </a:pPr>
            <a:r>
              <a:rPr lang="en-US" sz="2800" b="1" dirty="0">
                <a:solidFill>
                  <a:schemeClr val="bg1"/>
                </a:solidFill>
              </a:rPr>
              <a:t>300 m</a:t>
            </a:r>
            <a:endParaRPr lang="en-US" sz="2800" dirty="0"/>
          </a:p>
        </p:txBody>
      </p:sp>
      <p:sp>
        <p:nvSpPr>
          <p:cNvPr id="9" name="Text 5"/>
          <p:cNvSpPr txBox="1"/>
          <p:nvPr/>
        </p:nvSpPr>
        <p:spPr>
          <a:xfrm>
            <a:off x="6446520" y="2057400"/>
            <a:ext cx="2514600" cy="365760"/>
          </a:xfrm>
          <a:prstGeom prst="rect">
            <a:avLst/>
          </a:prstGeom>
          <a:noFill/>
          <a:ln/>
        </p:spPr>
        <p:txBody>
          <a:bodyPr wrap="square" lIns="0" tIns="0" rIns="0" bIns="0" rtlCol="0" anchor="ctr"/>
          <a:lstStyle/>
          <a:p>
            <a:pPr algn="ctr" indent="0" marL="0">
              <a:buNone/>
            </a:pPr>
            <a:r>
              <a:rPr lang="en-US" sz="1300" dirty="0">
                <a:solidFill>
                  <a:schemeClr val="bg2"/>
                </a:solidFill>
              </a:rPr>
              <a:t>pixel size</a:t>
            </a:r>
            <a:endParaRPr lang="en-US" sz="1300" dirty="0"/>
          </a:p>
        </p:txBody>
      </p:sp>
      <p:sp>
        <p:nvSpPr>
          <p:cNvPr id="10" name="card"/>
          <p:cNvSpPr/>
          <p:nvPr/>
        </p:nvSpPr>
        <p:spPr>
          <a:xfrm>
            <a:off x="9098280" y="1325880"/>
            <a:ext cx="2514600" cy="1188720"/>
          </a:xfrm>
          <a:prstGeom prst="roundRect">
            <a:avLst>
              <a:gd name="adj" fmla="val 6154"/>
            </a:avLst>
          </a:prstGeom>
          <a:solidFill>
            <a:schemeClr val="accent1"/>
          </a:solidFill>
          <a:ln/>
          <a:effectLst>
            <a:outerShdw sx="100000" sy="100000" kx="0" ky="0" algn="bl" rotWithShape="0" blurRad="76200" dist="25400" dir="5400000">
              <a:srgbClr val="000000">
                <a:alpha val="14000"/>
              </a:srgbClr>
            </a:outerShdw>
          </a:effectLst>
        </p:spPr>
      </p:sp>
      <p:sp>
        <p:nvSpPr>
          <p:cNvPr id="11" name="Text 7"/>
          <p:cNvSpPr txBox="1"/>
          <p:nvPr/>
        </p:nvSpPr>
        <p:spPr>
          <a:xfrm>
            <a:off x="9098280" y="1417320"/>
            <a:ext cx="2514600" cy="640080"/>
          </a:xfrm>
          <a:prstGeom prst="rect">
            <a:avLst/>
          </a:prstGeom>
          <a:noFill/>
          <a:ln/>
        </p:spPr>
        <p:txBody>
          <a:bodyPr wrap="square" lIns="0" tIns="0" rIns="0" bIns="0" rtlCol="0" anchor="ctr"/>
          <a:lstStyle/>
          <a:p>
            <a:pPr algn="ctr" indent="0" marL="0">
              <a:buNone/>
            </a:pPr>
            <a:r>
              <a:rPr lang="en-US" sz="2800" b="1" dirty="0">
                <a:solidFill>
                  <a:schemeClr val="bg1"/>
                </a:solidFill>
              </a:rPr>
              <a:t>500–780</a:t>
            </a:r>
            <a:endParaRPr lang="en-US" sz="2800" dirty="0"/>
          </a:p>
        </p:txBody>
      </p:sp>
      <p:sp>
        <p:nvSpPr>
          <p:cNvPr id="12" name="Text 8"/>
          <p:cNvSpPr txBox="1"/>
          <p:nvPr/>
        </p:nvSpPr>
        <p:spPr>
          <a:xfrm>
            <a:off x="9098280" y="2057400"/>
            <a:ext cx="2514600" cy="365760"/>
          </a:xfrm>
          <a:prstGeom prst="rect">
            <a:avLst/>
          </a:prstGeom>
          <a:noFill/>
          <a:ln/>
        </p:spPr>
        <p:txBody>
          <a:bodyPr wrap="square" lIns="0" tIns="0" rIns="0" bIns="0" rtlCol="0" anchor="ctr"/>
          <a:lstStyle/>
          <a:p>
            <a:pPr algn="ctr" indent="0" marL="0">
              <a:buNone/>
            </a:pPr>
            <a:r>
              <a:rPr lang="en-US" sz="1300" dirty="0">
                <a:solidFill>
                  <a:schemeClr val="bg2"/>
                </a:solidFill>
              </a:rPr>
              <a:t>nm spectral range</a:t>
            </a:r>
            <a:endParaRPr lang="en-US" sz="1300" dirty="0"/>
          </a:p>
        </p:txBody>
      </p:sp>
      <p:sp>
        <p:nvSpPr>
          <p:cNvPr id="13" name="card"/>
          <p:cNvSpPr/>
          <p:nvPr/>
        </p:nvSpPr>
        <p:spPr>
          <a:xfrm>
            <a:off x="6446520" y="2651760"/>
            <a:ext cx="2514600" cy="1188720"/>
          </a:xfrm>
          <a:prstGeom prst="roundRect">
            <a:avLst>
              <a:gd name="adj" fmla="val 6154"/>
            </a:avLst>
          </a:prstGeom>
          <a:solidFill>
            <a:schemeClr val="accent1"/>
          </a:solidFill>
          <a:ln/>
          <a:effectLst>
            <a:outerShdw sx="100000" sy="100000" kx="0" ky="0" algn="bl" rotWithShape="0" blurRad="76200" dist="25400" dir="5400000">
              <a:srgbClr val="000000">
                <a:alpha val="14000"/>
              </a:srgbClr>
            </a:outerShdw>
          </a:effectLst>
        </p:spPr>
      </p:sp>
      <p:sp>
        <p:nvSpPr>
          <p:cNvPr id="14" name="Text 10"/>
          <p:cNvSpPr txBox="1"/>
          <p:nvPr/>
        </p:nvSpPr>
        <p:spPr>
          <a:xfrm>
            <a:off x="6446520" y="2743200"/>
            <a:ext cx="2514600" cy="640080"/>
          </a:xfrm>
          <a:prstGeom prst="rect">
            <a:avLst/>
          </a:prstGeom>
          <a:noFill/>
          <a:ln/>
        </p:spPr>
        <p:txBody>
          <a:bodyPr wrap="square" lIns="0" tIns="0" rIns="0" bIns="0" rtlCol="0" anchor="ctr"/>
          <a:lstStyle/>
          <a:p>
            <a:pPr algn="ctr" indent="0" marL="0">
              <a:buNone/>
            </a:pPr>
            <a:r>
              <a:rPr lang="en-US" sz="2800" b="1" dirty="0">
                <a:solidFill>
                  <a:schemeClr val="bg1"/>
                </a:solidFill>
              </a:rPr>
              <a:t>10:00</a:t>
            </a:r>
            <a:endParaRPr lang="en-US" sz="2800" dirty="0"/>
          </a:p>
        </p:txBody>
      </p:sp>
      <p:sp>
        <p:nvSpPr>
          <p:cNvPr id="15" name="Text 11"/>
          <p:cNvSpPr txBox="1"/>
          <p:nvPr/>
        </p:nvSpPr>
        <p:spPr>
          <a:xfrm>
            <a:off x="6446520" y="3383280"/>
            <a:ext cx="2514600" cy="365760"/>
          </a:xfrm>
          <a:prstGeom prst="rect">
            <a:avLst/>
          </a:prstGeom>
          <a:noFill/>
          <a:ln/>
        </p:spPr>
        <p:txBody>
          <a:bodyPr wrap="square" lIns="0" tIns="0" rIns="0" bIns="0" rtlCol="0" anchor="ctr"/>
          <a:lstStyle/>
          <a:p>
            <a:pPr algn="ctr" indent="0" marL="0">
              <a:buNone/>
            </a:pPr>
            <a:r>
              <a:rPr lang="en-US" sz="1300" dirty="0">
                <a:solidFill>
                  <a:schemeClr val="bg2"/>
                </a:solidFill>
              </a:rPr>
              <a:t>equatorial overpass</a:t>
            </a:r>
            <a:endParaRPr lang="en-US" sz="1300" dirty="0"/>
          </a:p>
        </p:txBody>
      </p:sp>
      <p:sp>
        <p:nvSpPr>
          <p:cNvPr id="16" name="card"/>
          <p:cNvSpPr/>
          <p:nvPr/>
        </p:nvSpPr>
        <p:spPr>
          <a:xfrm>
            <a:off x="9098280" y="2651760"/>
            <a:ext cx="2514600" cy="1188720"/>
          </a:xfrm>
          <a:prstGeom prst="roundRect">
            <a:avLst>
              <a:gd name="adj" fmla="val 6154"/>
            </a:avLst>
          </a:prstGeom>
          <a:solidFill>
            <a:schemeClr val="tx2"/>
          </a:solidFill>
          <a:ln/>
          <a:effectLst>
            <a:outerShdw sx="100000" sy="100000" kx="0" ky="0" algn="bl" rotWithShape="0" blurRad="76200" dist="25400" dir="5400000">
              <a:srgbClr val="000000">
                <a:alpha val="14000"/>
              </a:srgbClr>
            </a:outerShdw>
          </a:effectLst>
        </p:spPr>
      </p:sp>
      <p:sp>
        <p:nvSpPr>
          <p:cNvPr id="17" name="Text 13"/>
          <p:cNvSpPr txBox="1"/>
          <p:nvPr/>
        </p:nvSpPr>
        <p:spPr>
          <a:xfrm>
            <a:off x="9098280" y="2743200"/>
            <a:ext cx="2514600" cy="640080"/>
          </a:xfrm>
          <a:prstGeom prst="rect">
            <a:avLst/>
          </a:prstGeom>
          <a:noFill/>
          <a:ln/>
        </p:spPr>
        <p:txBody>
          <a:bodyPr wrap="square" lIns="0" tIns="0" rIns="0" bIns="0" rtlCol="0" anchor="ctr"/>
          <a:lstStyle/>
          <a:p>
            <a:pPr algn="ctr" indent="0" marL="0">
              <a:buNone/>
            </a:pPr>
            <a:r>
              <a:rPr lang="en-US" sz="2800" b="1" dirty="0">
                <a:solidFill>
                  <a:schemeClr val="bg1"/>
                </a:solidFill>
              </a:rPr>
              <a:t>150 km</a:t>
            </a:r>
            <a:endParaRPr lang="en-US" sz="2800" dirty="0"/>
          </a:p>
        </p:txBody>
      </p:sp>
      <p:sp>
        <p:nvSpPr>
          <p:cNvPr id="18" name="Text 14"/>
          <p:cNvSpPr txBox="1"/>
          <p:nvPr/>
        </p:nvSpPr>
        <p:spPr>
          <a:xfrm>
            <a:off x="9098280" y="3383280"/>
            <a:ext cx="2514600" cy="365760"/>
          </a:xfrm>
          <a:prstGeom prst="rect">
            <a:avLst/>
          </a:prstGeom>
          <a:noFill/>
          <a:ln/>
        </p:spPr>
        <p:txBody>
          <a:bodyPr wrap="square" lIns="0" tIns="0" rIns="0" bIns="0" rtlCol="0" anchor="ctr"/>
          <a:lstStyle/>
          <a:p>
            <a:pPr algn="ctr" indent="0" marL="0">
              <a:buNone/>
            </a:pPr>
            <a:r>
              <a:rPr lang="en-US" sz="1300" dirty="0">
                <a:solidFill>
                  <a:schemeClr val="bg2"/>
                </a:solidFill>
              </a:rPr>
              <a:t>FLORIS swath</a:t>
            </a:r>
            <a:endParaRPr lang="en-US" sz="1300" dirty="0"/>
          </a:p>
        </p:txBody>
      </p:sp>
      <p:sp>
        <p:nvSpPr>
          <p:cNvPr id="19" name="card"/>
          <p:cNvSpPr/>
          <p:nvPr/>
        </p:nvSpPr>
        <p:spPr>
          <a:xfrm>
            <a:off x="6446520" y="4023360"/>
            <a:ext cx="5193792" cy="2148840"/>
          </a:xfrm>
          <a:prstGeom prst="roundRect">
            <a:avLst>
              <a:gd name="adj" fmla="val 3404"/>
            </a:avLst>
          </a:prstGeom>
          <a:solidFill>
            <a:schemeClr val="bg2"/>
          </a:solidFill>
          <a:ln/>
          <a:effectLst>
            <a:outerShdw sx="100000" sy="100000" kx="0" ky="0" algn="bl" rotWithShape="0" blurRad="76200" dist="25400" dir="5400000">
              <a:srgbClr val="000000">
                <a:alpha val="14000"/>
              </a:srgbClr>
            </a:outerShdw>
          </a:effectLst>
        </p:spPr>
      </p:sp>
      <p:sp>
        <p:nvSpPr>
          <p:cNvPr id="20" name="icon circle"/>
          <p:cNvSpPr/>
          <p:nvPr/>
        </p:nvSpPr>
        <p:spPr>
          <a:xfrm>
            <a:off x="6629400" y="4178808"/>
            <a:ext cx="420624" cy="420624"/>
          </a:xfrm>
          <a:prstGeom prst="ellipse">
            <a:avLst/>
          </a:prstGeom>
          <a:solidFill>
            <a:schemeClr val="accent2"/>
          </a:solidFill>
          <a:ln/>
        </p:spPr>
      </p:sp>
      <p:pic>
        <p:nvPicPr>
          <p:cNvPr id="21" name="Image 1" descr="SatelliteDish icon">    </p:cNvPr>
          <p:cNvPicPr>
            <a:picLocks noChangeAspect="1"/>
          </p:cNvPicPr>
          <p:nvPr/>
        </p:nvPicPr>
        <p:blipFill>
          <a:blip r:embed="rId2"/>
          <a:stretch>
            <a:fillRect/>
          </a:stretch>
        </p:blipFill>
        <p:spPr>
          <a:xfrm>
            <a:off x="6738762" y="4288170"/>
            <a:ext cx="201900" cy="201900"/>
          </a:xfrm>
          <a:prstGeom prst="rect">
            <a:avLst/>
          </a:prstGeom>
        </p:spPr>
      </p:pic>
      <p:sp>
        <p:nvSpPr>
          <p:cNvPr id="22" name="Text 17"/>
          <p:cNvSpPr txBox="1"/>
          <p:nvPr/>
        </p:nvSpPr>
        <p:spPr>
          <a:xfrm>
            <a:off x="7159752" y="4160520"/>
            <a:ext cx="4343400" cy="457200"/>
          </a:xfrm>
          <a:prstGeom prst="rect">
            <a:avLst/>
          </a:prstGeom>
          <a:noFill/>
          <a:ln/>
        </p:spPr>
        <p:txBody>
          <a:bodyPr wrap="square" lIns="0" tIns="0" rIns="0" bIns="0" rtlCol="0" anchor="ctr"/>
          <a:lstStyle/>
          <a:p>
            <a:pPr indent="0" marL="0">
              <a:buNone/>
            </a:pPr>
            <a:r>
              <a:rPr lang="en-US" sz="1600" b="1" dirty="0">
                <a:solidFill>
                  <a:schemeClr val="tx2"/>
                </a:solidFill>
              </a:rPr>
              <a:t>Planned products</a:t>
            </a:r>
            <a:endParaRPr lang="en-US" sz="1600" dirty="0"/>
          </a:p>
        </p:txBody>
      </p:sp>
      <p:sp>
        <p:nvSpPr>
          <p:cNvPr id="23" name="Text 18"/>
          <p:cNvSpPr txBox="1"/>
          <p:nvPr/>
        </p:nvSpPr>
        <p:spPr>
          <a:xfrm>
            <a:off x="6629400" y="4709160"/>
            <a:ext cx="4828032" cy="13716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Total fluorescence F</a:t>
            </a:r>
            <a:r>
              <a:rPr lang="en-US" sz="1300" baseline="-40000" dirty="0">
                <a:solidFill>
                  <a:schemeClr val="tx1"/>
                </a:solidFill>
              </a:rPr>
              <a:t>tot</a:t>
            </a:r>
            <a:r>
              <a:rPr lang="en-US" sz="1300" dirty="0">
                <a:solidFill>
                  <a:schemeClr val="tx1"/>
                </a:solidFill>
              </a:rPr>
              <a:t> (650–780 nm); F</a:t>
            </a:r>
            <a:r>
              <a:rPr lang="en-US" sz="1300" baseline="-40000" dirty="0">
                <a:solidFill>
                  <a:schemeClr val="tx1"/>
                </a:solidFill>
              </a:rPr>
              <a:t>685</a:t>
            </a:r>
            <a:r>
              <a:rPr lang="en-US" sz="1300" dirty="0">
                <a:solidFill>
                  <a:schemeClr val="tx1"/>
                </a:solidFill>
              </a:rPr>
              <a:t>, F</a:t>
            </a:r>
            <a:r>
              <a:rPr lang="en-US" sz="1300" baseline="-40000" dirty="0">
                <a:solidFill>
                  <a:schemeClr val="tx1"/>
                </a:solidFill>
              </a:rPr>
              <a:t>740</a:t>
            </a:r>
            <a:r>
              <a:rPr lang="en-US" sz="1300" dirty="0">
                <a:solidFill>
                  <a:schemeClr val="tx1"/>
                </a:solidFill>
              </a:rPr>
              <a:t>; F</a:t>
            </a:r>
            <a:r>
              <a:rPr lang="en-US" sz="1300" baseline="-40000" dirty="0">
                <a:solidFill>
                  <a:schemeClr val="tx1"/>
                </a:solidFill>
              </a:rPr>
              <a:t>687</a:t>
            </a:r>
            <a:r>
              <a:rPr lang="en-US" sz="1300" dirty="0">
                <a:solidFill>
                  <a:schemeClr val="tx1"/>
                </a:solidFill>
              </a:rPr>
              <a:t>, F</a:t>
            </a:r>
            <a:r>
              <a:rPr lang="en-US" sz="1300" baseline="-40000" dirty="0">
                <a:solidFill>
                  <a:schemeClr val="tx1"/>
                </a:solidFill>
              </a:rPr>
              <a:t>760</a:t>
            </a:r>
            <a:endParaRPr lang="en-US" sz="1300" dirty="0"/>
          </a:p>
          <a:p>
            <a:pPr marL="177800" indent="-177800">
              <a:spcAft>
                <a:spcPts val="400"/>
              </a:spcAft>
              <a:buSzPct val="100000"/>
              <a:buChar char="•"/>
            </a:pPr>
            <a:r>
              <a:rPr lang="en-US" sz="1300" dirty="0">
                <a:solidFill>
                  <a:schemeClr val="tx1"/>
                </a:solidFill>
              </a:rPr>
              <a:t>Photosynthetic activity, NPQ indicators (PRI), fAPAR</a:t>
            </a:r>
            <a:r>
              <a:rPr lang="en-US" sz="1300" baseline="-40000" dirty="0">
                <a:solidFill>
                  <a:schemeClr val="tx1"/>
                </a:solidFill>
              </a:rPr>
              <a:t>chl</a:t>
            </a:r>
            <a:r>
              <a:rPr lang="en-US" sz="1300" dirty="0">
                <a:solidFill>
                  <a:schemeClr val="tx1"/>
                </a:solidFill>
              </a:rPr>
              <a:t>, LAI, chlorophyll</a:t>
            </a:r>
            <a:endParaRPr lang="en-US" sz="1300" dirty="0"/>
          </a:p>
          <a:p>
            <a:pPr marL="177800" indent="-177800">
              <a:spcAft>
                <a:spcPts val="400"/>
              </a:spcAft>
              <a:buSzPct val="100000"/>
              <a:buChar char="•"/>
            </a:pPr>
            <a:r>
              <a:rPr lang="en-US" sz="1300" dirty="0">
                <a:solidFill>
                  <a:schemeClr val="tx1"/>
                </a:solidFill>
              </a:rPr>
              <a:t>5-year mission, 56°S–75°N land and coastal zones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What SIF is used for</a:t>
            </a:r>
            <a:endParaRPr lang="en-US" sz="3200" dirty="0"/>
          </a:p>
        </p:txBody>
      </p:sp>
      <p:sp>
        <p:nvSpPr>
          <p:cNvPr id="4" name="card"/>
          <p:cNvSpPr/>
          <p:nvPr/>
        </p:nvSpPr>
        <p:spPr>
          <a:xfrm>
            <a:off x="548640" y="1371600"/>
            <a:ext cx="265176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527048"/>
            <a:ext cx="420624" cy="420624"/>
          </a:xfrm>
          <a:prstGeom prst="ellipse">
            <a:avLst/>
          </a:prstGeom>
          <a:solidFill>
            <a:schemeClr val="accent1"/>
          </a:solidFill>
          <a:ln/>
        </p:spPr>
      </p:sp>
      <p:pic>
        <p:nvPicPr>
          <p:cNvPr id="6" name="Image 0" descr="Leaf icon">    </p:cNvPr>
          <p:cNvPicPr>
            <a:picLocks noChangeAspect="1"/>
          </p:cNvPicPr>
          <p:nvPr/>
        </p:nvPicPr>
        <p:blipFill>
          <a:blip r:embed="rId1"/>
          <a:stretch>
            <a:fillRect/>
          </a:stretch>
        </p:blipFill>
        <p:spPr>
          <a:xfrm>
            <a:off x="840882" y="1636410"/>
            <a:ext cx="201900" cy="201900"/>
          </a:xfrm>
          <a:prstGeom prst="rect">
            <a:avLst/>
          </a:prstGeom>
        </p:spPr>
      </p:pic>
      <p:sp>
        <p:nvSpPr>
          <p:cNvPr id="7" name="Text 3"/>
          <p:cNvSpPr txBox="1"/>
          <p:nvPr/>
        </p:nvSpPr>
        <p:spPr>
          <a:xfrm>
            <a:off x="1261872" y="1508760"/>
            <a:ext cx="1801368" cy="457200"/>
          </a:xfrm>
          <a:prstGeom prst="rect">
            <a:avLst/>
          </a:prstGeom>
          <a:noFill/>
          <a:ln/>
        </p:spPr>
        <p:txBody>
          <a:bodyPr wrap="square" lIns="0" tIns="0" rIns="0" bIns="0" rtlCol="0" anchor="ctr"/>
          <a:lstStyle/>
          <a:p>
            <a:pPr indent="0" marL="0">
              <a:buNone/>
            </a:pPr>
            <a:r>
              <a:rPr lang="en-US" sz="1500" b="1" dirty="0">
                <a:solidFill>
                  <a:schemeClr val="tx2"/>
                </a:solidFill>
              </a:rPr>
              <a:t>GPP &amp; carbon uptake</a:t>
            </a:r>
            <a:endParaRPr lang="en-US" sz="1500" dirty="0"/>
          </a:p>
        </p:txBody>
      </p:sp>
      <p:sp>
        <p:nvSpPr>
          <p:cNvPr id="8" name="Text 4"/>
          <p:cNvSpPr txBox="1"/>
          <p:nvPr/>
        </p:nvSpPr>
        <p:spPr>
          <a:xfrm>
            <a:off x="731520" y="2057400"/>
            <a:ext cx="2286000"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Empirical and model-based GPP from tower to globe</a:t>
            </a:r>
            <a:endParaRPr lang="en-US" sz="1300" dirty="0"/>
          </a:p>
        </p:txBody>
      </p:sp>
      <p:sp>
        <p:nvSpPr>
          <p:cNvPr id="9" name="card"/>
          <p:cNvSpPr/>
          <p:nvPr/>
        </p:nvSpPr>
        <p:spPr>
          <a:xfrm>
            <a:off x="3364992" y="1371600"/>
            <a:ext cx="265176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3547872" y="1527048"/>
            <a:ext cx="420624" cy="420624"/>
          </a:xfrm>
          <a:prstGeom prst="ellipse">
            <a:avLst/>
          </a:prstGeom>
          <a:solidFill>
            <a:schemeClr val="accent1"/>
          </a:solidFill>
          <a:ln/>
        </p:spPr>
      </p:sp>
      <p:pic>
        <p:nvPicPr>
          <p:cNvPr id="11" name="Image 1" descr="Sync icon">    </p:cNvPr>
          <p:cNvPicPr>
            <a:picLocks noChangeAspect="1"/>
          </p:cNvPicPr>
          <p:nvPr/>
        </p:nvPicPr>
        <p:blipFill>
          <a:blip r:embed="rId2"/>
          <a:stretch>
            <a:fillRect/>
          </a:stretch>
        </p:blipFill>
        <p:spPr>
          <a:xfrm>
            <a:off x="3657234" y="1636410"/>
            <a:ext cx="201900" cy="201900"/>
          </a:xfrm>
          <a:prstGeom prst="rect">
            <a:avLst/>
          </a:prstGeom>
        </p:spPr>
      </p:pic>
      <p:sp>
        <p:nvSpPr>
          <p:cNvPr id="12" name="Text 7"/>
          <p:cNvSpPr txBox="1"/>
          <p:nvPr/>
        </p:nvSpPr>
        <p:spPr>
          <a:xfrm>
            <a:off x="4078224" y="1508760"/>
            <a:ext cx="1801368" cy="457200"/>
          </a:xfrm>
          <a:prstGeom prst="rect">
            <a:avLst/>
          </a:prstGeom>
          <a:noFill/>
          <a:ln/>
        </p:spPr>
        <p:txBody>
          <a:bodyPr wrap="square" lIns="0" tIns="0" rIns="0" bIns="0" rtlCol="0" anchor="ctr"/>
          <a:lstStyle/>
          <a:p>
            <a:pPr indent="0" marL="0">
              <a:buNone/>
            </a:pPr>
            <a:r>
              <a:rPr lang="en-US" sz="1500" b="1" dirty="0">
                <a:solidFill>
                  <a:schemeClr val="tx2"/>
                </a:solidFill>
              </a:rPr>
              <a:t>Phenology &amp; seasons</a:t>
            </a:r>
            <a:endParaRPr lang="en-US" sz="1500" dirty="0"/>
          </a:p>
        </p:txBody>
      </p:sp>
      <p:sp>
        <p:nvSpPr>
          <p:cNvPr id="13" name="Text 8"/>
          <p:cNvSpPr txBox="1"/>
          <p:nvPr/>
        </p:nvSpPr>
        <p:spPr>
          <a:xfrm>
            <a:off x="3547872" y="2057400"/>
            <a:ext cx="2286000"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Green-up, peak, senescence; seasonal dynamics</a:t>
            </a:r>
            <a:endParaRPr lang="en-US" sz="1300" dirty="0"/>
          </a:p>
        </p:txBody>
      </p:sp>
      <p:sp>
        <p:nvSpPr>
          <p:cNvPr id="14" name="card"/>
          <p:cNvSpPr/>
          <p:nvPr/>
        </p:nvSpPr>
        <p:spPr>
          <a:xfrm>
            <a:off x="6181344" y="1371600"/>
            <a:ext cx="265176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5" name="icon circle"/>
          <p:cNvSpPr/>
          <p:nvPr/>
        </p:nvSpPr>
        <p:spPr>
          <a:xfrm>
            <a:off x="6364224" y="1527048"/>
            <a:ext cx="420624" cy="420624"/>
          </a:xfrm>
          <a:prstGeom prst="ellipse">
            <a:avLst/>
          </a:prstGeom>
          <a:solidFill>
            <a:schemeClr val="accent5"/>
          </a:solidFill>
          <a:ln/>
        </p:spPr>
      </p:sp>
      <p:pic>
        <p:nvPicPr>
          <p:cNvPr id="16" name="Image 2" descr="Tint icon">    </p:cNvPr>
          <p:cNvPicPr>
            <a:picLocks noChangeAspect="1"/>
          </p:cNvPicPr>
          <p:nvPr/>
        </p:nvPicPr>
        <p:blipFill>
          <a:blip r:embed="rId3"/>
          <a:stretch>
            <a:fillRect/>
          </a:stretch>
        </p:blipFill>
        <p:spPr>
          <a:xfrm>
            <a:off x="6473586" y="1636410"/>
            <a:ext cx="201900" cy="201900"/>
          </a:xfrm>
          <a:prstGeom prst="rect">
            <a:avLst/>
          </a:prstGeom>
        </p:spPr>
      </p:pic>
      <p:sp>
        <p:nvSpPr>
          <p:cNvPr id="17" name="Text 11"/>
          <p:cNvSpPr txBox="1"/>
          <p:nvPr/>
        </p:nvSpPr>
        <p:spPr>
          <a:xfrm>
            <a:off x="6894576" y="1508760"/>
            <a:ext cx="1801368" cy="457200"/>
          </a:xfrm>
          <a:prstGeom prst="rect">
            <a:avLst/>
          </a:prstGeom>
          <a:noFill/>
          <a:ln/>
        </p:spPr>
        <p:txBody>
          <a:bodyPr wrap="square" lIns="0" tIns="0" rIns="0" bIns="0" rtlCol="0" anchor="ctr"/>
          <a:lstStyle/>
          <a:p>
            <a:pPr indent="0" marL="0">
              <a:buNone/>
            </a:pPr>
            <a:r>
              <a:rPr lang="en-US" sz="1500" b="1" dirty="0">
                <a:solidFill>
                  <a:schemeClr val="tx2"/>
                </a:solidFill>
              </a:rPr>
              <a:t>Drought &amp; water stress</a:t>
            </a:r>
            <a:endParaRPr lang="en-US" sz="1500" dirty="0"/>
          </a:p>
        </p:txBody>
      </p:sp>
      <p:sp>
        <p:nvSpPr>
          <p:cNvPr id="18" name="Text 12"/>
          <p:cNvSpPr txBox="1"/>
          <p:nvPr/>
        </p:nvSpPr>
        <p:spPr>
          <a:xfrm>
            <a:off x="6364224" y="2057400"/>
            <a:ext cx="2286000"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SIF ↓ with water deficit; pair with canopy–air temperature</a:t>
            </a:r>
            <a:endParaRPr lang="en-US" sz="1300" dirty="0"/>
          </a:p>
        </p:txBody>
      </p:sp>
      <p:sp>
        <p:nvSpPr>
          <p:cNvPr id="19" name="card"/>
          <p:cNvSpPr/>
          <p:nvPr/>
        </p:nvSpPr>
        <p:spPr>
          <a:xfrm>
            <a:off x="8997696" y="1371600"/>
            <a:ext cx="265176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20" name="icon circle"/>
          <p:cNvSpPr/>
          <p:nvPr/>
        </p:nvSpPr>
        <p:spPr>
          <a:xfrm>
            <a:off x="9180576" y="1527048"/>
            <a:ext cx="420624" cy="420624"/>
          </a:xfrm>
          <a:prstGeom prst="ellipse">
            <a:avLst/>
          </a:prstGeom>
          <a:solidFill>
            <a:schemeClr val="accent2"/>
          </a:solidFill>
          <a:ln/>
        </p:spPr>
      </p:sp>
      <p:pic>
        <p:nvPicPr>
          <p:cNvPr id="21" name="Image 3" descr="ThermometerHalf icon">    </p:cNvPr>
          <p:cNvPicPr>
            <a:picLocks noChangeAspect="1"/>
          </p:cNvPicPr>
          <p:nvPr/>
        </p:nvPicPr>
        <p:blipFill>
          <a:blip r:embed="rId4"/>
          <a:stretch>
            <a:fillRect/>
          </a:stretch>
        </p:blipFill>
        <p:spPr>
          <a:xfrm>
            <a:off x="9289938" y="1636410"/>
            <a:ext cx="201900" cy="201900"/>
          </a:xfrm>
          <a:prstGeom prst="rect">
            <a:avLst/>
          </a:prstGeom>
        </p:spPr>
      </p:pic>
      <p:sp>
        <p:nvSpPr>
          <p:cNvPr id="22" name="Text 15"/>
          <p:cNvSpPr txBox="1"/>
          <p:nvPr/>
        </p:nvSpPr>
        <p:spPr>
          <a:xfrm>
            <a:off x="9710928" y="1508760"/>
            <a:ext cx="1801368" cy="457200"/>
          </a:xfrm>
          <a:prstGeom prst="rect">
            <a:avLst/>
          </a:prstGeom>
          <a:noFill/>
          <a:ln/>
        </p:spPr>
        <p:txBody>
          <a:bodyPr wrap="square" lIns="0" tIns="0" rIns="0" bIns="0" rtlCol="0" anchor="ctr"/>
          <a:lstStyle/>
          <a:p>
            <a:pPr indent="0" marL="0">
              <a:buNone/>
            </a:pPr>
            <a:r>
              <a:rPr lang="en-US" sz="1500" b="1" dirty="0">
                <a:solidFill>
                  <a:schemeClr val="tx2"/>
                </a:solidFill>
              </a:rPr>
              <a:t>Heat stress</a:t>
            </a:r>
            <a:endParaRPr lang="en-US" sz="1500" dirty="0"/>
          </a:p>
        </p:txBody>
      </p:sp>
      <p:sp>
        <p:nvSpPr>
          <p:cNvPr id="23" name="Text 16"/>
          <p:cNvSpPr txBox="1"/>
          <p:nvPr/>
        </p:nvSpPr>
        <p:spPr>
          <a:xfrm>
            <a:off x="9180576" y="2057400"/>
            <a:ext cx="2286000"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Detected from satellite during heat waves</a:t>
            </a:r>
            <a:endParaRPr lang="en-US" sz="1300" dirty="0"/>
          </a:p>
        </p:txBody>
      </p:sp>
      <p:sp>
        <p:nvSpPr>
          <p:cNvPr id="24" name="card"/>
          <p:cNvSpPr/>
          <p:nvPr/>
        </p:nvSpPr>
        <p:spPr>
          <a:xfrm>
            <a:off x="548640" y="3794760"/>
            <a:ext cx="265176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25" name="icon circle"/>
          <p:cNvSpPr/>
          <p:nvPr/>
        </p:nvSpPr>
        <p:spPr>
          <a:xfrm>
            <a:off x="731520" y="3950208"/>
            <a:ext cx="420624" cy="420624"/>
          </a:xfrm>
          <a:prstGeom prst="ellipse">
            <a:avLst/>
          </a:prstGeom>
          <a:solidFill>
            <a:schemeClr val="accent3"/>
          </a:solidFill>
          <a:ln/>
        </p:spPr>
      </p:sp>
      <p:pic>
        <p:nvPicPr>
          <p:cNvPr id="26" name="Image 4" descr="Vial icon">    </p:cNvPr>
          <p:cNvPicPr>
            <a:picLocks noChangeAspect="1"/>
          </p:cNvPicPr>
          <p:nvPr/>
        </p:nvPicPr>
        <p:blipFill>
          <a:blip r:embed="rId5"/>
          <a:stretch>
            <a:fillRect/>
          </a:stretch>
        </p:blipFill>
        <p:spPr>
          <a:xfrm>
            <a:off x="840882" y="4059570"/>
            <a:ext cx="201900" cy="201900"/>
          </a:xfrm>
          <a:prstGeom prst="rect">
            <a:avLst/>
          </a:prstGeom>
        </p:spPr>
      </p:pic>
      <p:sp>
        <p:nvSpPr>
          <p:cNvPr id="27" name="Text 19"/>
          <p:cNvSpPr txBox="1"/>
          <p:nvPr/>
        </p:nvSpPr>
        <p:spPr>
          <a:xfrm>
            <a:off x="1261872" y="3931920"/>
            <a:ext cx="1801368" cy="457200"/>
          </a:xfrm>
          <a:prstGeom prst="rect">
            <a:avLst/>
          </a:prstGeom>
          <a:noFill/>
          <a:ln/>
        </p:spPr>
        <p:txBody>
          <a:bodyPr wrap="square" lIns="0" tIns="0" rIns="0" bIns="0" rtlCol="0" anchor="ctr"/>
          <a:lstStyle/>
          <a:p>
            <a:pPr indent="0" marL="0">
              <a:buNone/>
            </a:pPr>
            <a:r>
              <a:rPr lang="en-US" sz="1500" b="1" dirty="0">
                <a:solidFill>
                  <a:schemeClr val="tx2"/>
                </a:solidFill>
              </a:rPr>
              <a:t>Nitrogen deficit</a:t>
            </a:r>
            <a:endParaRPr lang="en-US" sz="1500" dirty="0"/>
          </a:p>
        </p:txBody>
      </p:sp>
      <p:sp>
        <p:nvSpPr>
          <p:cNvPr id="28" name="Text 20"/>
          <p:cNvSpPr txBox="1"/>
          <p:nvPr/>
        </p:nvSpPr>
        <p:spPr>
          <a:xfrm>
            <a:off x="731520" y="4480560"/>
            <a:ext cx="2286000"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Red/far-red SIF ratio ↑ with N deficiency</a:t>
            </a:r>
            <a:endParaRPr lang="en-US" sz="1300" dirty="0"/>
          </a:p>
        </p:txBody>
      </p:sp>
      <p:sp>
        <p:nvSpPr>
          <p:cNvPr id="29" name="card"/>
          <p:cNvSpPr/>
          <p:nvPr/>
        </p:nvSpPr>
        <p:spPr>
          <a:xfrm>
            <a:off x="3364992" y="3794760"/>
            <a:ext cx="265176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30" name="icon circle"/>
          <p:cNvSpPr/>
          <p:nvPr/>
        </p:nvSpPr>
        <p:spPr>
          <a:xfrm>
            <a:off x="3547872" y="3950208"/>
            <a:ext cx="420624" cy="420624"/>
          </a:xfrm>
          <a:prstGeom prst="ellipse">
            <a:avLst/>
          </a:prstGeom>
          <a:solidFill>
            <a:schemeClr val="accent4"/>
          </a:solidFill>
          <a:ln/>
        </p:spPr>
      </p:sp>
      <p:pic>
        <p:nvPicPr>
          <p:cNvPr id="31" name="Image 5" descr="Bug icon">    </p:cNvPr>
          <p:cNvPicPr>
            <a:picLocks noChangeAspect="1"/>
          </p:cNvPicPr>
          <p:nvPr/>
        </p:nvPicPr>
        <p:blipFill>
          <a:blip r:embed="rId6"/>
          <a:stretch>
            <a:fillRect/>
          </a:stretch>
        </p:blipFill>
        <p:spPr>
          <a:xfrm>
            <a:off x="3657234" y="4059570"/>
            <a:ext cx="201900" cy="201900"/>
          </a:xfrm>
          <a:prstGeom prst="rect">
            <a:avLst/>
          </a:prstGeom>
        </p:spPr>
      </p:pic>
      <p:sp>
        <p:nvSpPr>
          <p:cNvPr id="32" name="Text 23"/>
          <p:cNvSpPr txBox="1"/>
          <p:nvPr/>
        </p:nvSpPr>
        <p:spPr>
          <a:xfrm>
            <a:off x="4078224" y="3931920"/>
            <a:ext cx="1801368" cy="457200"/>
          </a:xfrm>
          <a:prstGeom prst="rect">
            <a:avLst/>
          </a:prstGeom>
          <a:noFill/>
          <a:ln/>
        </p:spPr>
        <p:txBody>
          <a:bodyPr wrap="square" lIns="0" tIns="0" rIns="0" bIns="0" rtlCol="0" anchor="ctr"/>
          <a:lstStyle/>
          <a:p>
            <a:pPr indent="0" marL="0">
              <a:buNone/>
            </a:pPr>
            <a:r>
              <a:rPr lang="en-US" sz="1500" b="1" dirty="0">
                <a:solidFill>
                  <a:schemeClr val="tx2"/>
                </a:solidFill>
              </a:rPr>
              <a:t>Plant disease</a:t>
            </a:r>
            <a:endParaRPr lang="en-US" sz="1500" dirty="0"/>
          </a:p>
        </p:txBody>
      </p:sp>
      <p:sp>
        <p:nvSpPr>
          <p:cNvPr id="33" name="Text 24"/>
          <p:cNvSpPr txBox="1"/>
          <p:nvPr/>
        </p:nvSpPr>
        <p:spPr>
          <a:xfrm>
            <a:off x="3547872" y="4480560"/>
            <a:ext cx="2286000"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Xylella in olive (&gt;80 %), Verticillium, Phytophthora</a:t>
            </a:r>
            <a:endParaRPr lang="en-US" sz="1300" dirty="0"/>
          </a:p>
        </p:txBody>
      </p:sp>
      <p:sp>
        <p:nvSpPr>
          <p:cNvPr id="34" name="card"/>
          <p:cNvSpPr/>
          <p:nvPr/>
        </p:nvSpPr>
        <p:spPr>
          <a:xfrm>
            <a:off x="6181344" y="3794760"/>
            <a:ext cx="265176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35" name="icon circle"/>
          <p:cNvSpPr/>
          <p:nvPr/>
        </p:nvSpPr>
        <p:spPr>
          <a:xfrm>
            <a:off x="6364224" y="3950208"/>
            <a:ext cx="420624" cy="420624"/>
          </a:xfrm>
          <a:prstGeom prst="ellipse">
            <a:avLst/>
          </a:prstGeom>
          <a:solidFill>
            <a:schemeClr val="accent6"/>
          </a:solidFill>
          <a:ln/>
        </p:spPr>
      </p:sp>
      <p:pic>
        <p:nvPicPr>
          <p:cNvPr id="36" name="Image 6" descr="Flask icon">    </p:cNvPr>
          <p:cNvPicPr>
            <a:picLocks noChangeAspect="1"/>
          </p:cNvPicPr>
          <p:nvPr/>
        </p:nvPicPr>
        <p:blipFill>
          <a:blip r:embed="rId7"/>
          <a:stretch>
            <a:fillRect/>
          </a:stretch>
        </p:blipFill>
        <p:spPr>
          <a:xfrm>
            <a:off x="6473586" y="4059570"/>
            <a:ext cx="201900" cy="201900"/>
          </a:xfrm>
          <a:prstGeom prst="rect">
            <a:avLst/>
          </a:prstGeom>
        </p:spPr>
      </p:pic>
      <p:sp>
        <p:nvSpPr>
          <p:cNvPr id="37" name="Text 27"/>
          <p:cNvSpPr txBox="1"/>
          <p:nvPr/>
        </p:nvSpPr>
        <p:spPr>
          <a:xfrm>
            <a:off x="6894576" y="3931920"/>
            <a:ext cx="1801368" cy="457200"/>
          </a:xfrm>
          <a:prstGeom prst="rect">
            <a:avLst/>
          </a:prstGeom>
          <a:noFill/>
          <a:ln/>
        </p:spPr>
        <p:txBody>
          <a:bodyPr wrap="square" lIns="0" tIns="0" rIns="0" bIns="0" rtlCol="0" anchor="ctr"/>
          <a:lstStyle/>
          <a:p>
            <a:pPr indent="0" marL="0">
              <a:buNone/>
            </a:pPr>
            <a:r>
              <a:rPr lang="en-US" sz="1500" b="1" dirty="0">
                <a:solidFill>
                  <a:schemeClr val="tx2"/>
                </a:solidFill>
              </a:rPr>
              <a:t>Herbicide damage</a:t>
            </a:r>
            <a:endParaRPr lang="en-US" sz="1500" dirty="0"/>
          </a:p>
        </p:txBody>
      </p:sp>
      <p:sp>
        <p:nvSpPr>
          <p:cNvPr id="38" name="Text 28"/>
          <p:cNvSpPr txBox="1"/>
          <p:nvPr/>
        </p:nvSpPr>
        <p:spPr>
          <a:xfrm>
            <a:off x="6364224" y="4480560"/>
            <a:ext cx="2286000"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Detected before visible symptoms; reflectance unchanged</a:t>
            </a:r>
            <a:endParaRPr lang="en-US" sz="1300" dirty="0"/>
          </a:p>
        </p:txBody>
      </p:sp>
      <p:sp>
        <p:nvSpPr>
          <p:cNvPr id="39" name="card"/>
          <p:cNvSpPr/>
          <p:nvPr/>
        </p:nvSpPr>
        <p:spPr>
          <a:xfrm>
            <a:off x="8997696" y="3794760"/>
            <a:ext cx="265176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40" name="icon circle"/>
          <p:cNvSpPr/>
          <p:nvPr/>
        </p:nvSpPr>
        <p:spPr>
          <a:xfrm>
            <a:off x="9180576" y="3950208"/>
            <a:ext cx="420624" cy="420624"/>
          </a:xfrm>
          <a:prstGeom prst="ellipse">
            <a:avLst/>
          </a:prstGeom>
          <a:solidFill>
            <a:schemeClr val="accent5"/>
          </a:solidFill>
          <a:ln/>
        </p:spPr>
      </p:sp>
      <p:pic>
        <p:nvPicPr>
          <p:cNvPr id="41" name="Image 7" descr="Cloud icon">    </p:cNvPr>
          <p:cNvPicPr>
            <a:picLocks noChangeAspect="1"/>
          </p:cNvPicPr>
          <p:nvPr/>
        </p:nvPicPr>
        <p:blipFill>
          <a:blip r:embed="rId8"/>
          <a:stretch>
            <a:fillRect/>
          </a:stretch>
        </p:blipFill>
        <p:spPr>
          <a:xfrm>
            <a:off x="9289938" y="4059570"/>
            <a:ext cx="201900" cy="201900"/>
          </a:xfrm>
          <a:prstGeom prst="rect">
            <a:avLst/>
          </a:prstGeom>
        </p:spPr>
      </p:pic>
      <p:sp>
        <p:nvSpPr>
          <p:cNvPr id="42" name="Text 31"/>
          <p:cNvSpPr txBox="1"/>
          <p:nvPr/>
        </p:nvSpPr>
        <p:spPr>
          <a:xfrm>
            <a:off x="9710928" y="3931920"/>
            <a:ext cx="1801368" cy="457200"/>
          </a:xfrm>
          <a:prstGeom prst="rect">
            <a:avLst/>
          </a:prstGeom>
          <a:noFill/>
          <a:ln/>
        </p:spPr>
        <p:txBody>
          <a:bodyPr wrap="square" lIns="0" tIns="0" rIns="0" bIns="0" rtlCol="0" anchor="ctr"/>
          <a:lstStyle/>
          <a:p>
            <a:pPr indent="0" marL="0">
              <a:buNone/>
            </a:pPr>
            <a:r>
              <a:rPr lang="en-US" sz="1500" b="1" dirty="0">
                <a:solidFill>
                  <a:schemeClr val="tx2"/>
                </a:solidFill>
              </a:rPr>
              <a:t>Transpiration</a:t>
            </a:r>
            <a:endParaRPr lang="en-US" sz="1500" dirty="0"/>
          </a:p>
        </p:txBody>
      </p:sp>
      <p:sp>
        <p:nvSpPr>
          <p:cNvPr id="43" name="Text 32"/>
          <p:cNvSpPr txBox="1"/>
          <p:nvPr/>
        </p:nvSpPr>
        <p:spPr>
          <a:xfrm>
            <a:off x="9180576" y="4480560"/>
            <a:ext cx="2286000"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Linked to stomatal behaviour in unstressed crops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What drives SIF? (Table 5 of the review)</a:t>
            </a:r>
            <a:endParaRPr lang="en-US" sz="3200" dirty="0"/>
          </a:p>
        </p:txBody>
      </p:sp>
      <p:sp>
        <p:nvSpPr>
          <p:cNvPr id="4" name="figure frame"/>
          <p:cNvSpPr/>
          <p:nvPr/>
        </p:nvSpPr>
        <p:spPr>
          <a:xfrm>
            <a:off x="548640" y="1325880"/>
            <a:ext cx="5440680" cy="3840480"/>
          </a:xfrm>
          <a:prstGeom prst="roundRect">
            <a:avLst>
              <a:gd name="adj" fmla="val 1429"/>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Table 5 (part 1): vegetation traits and processes">    </p:cNvPr>
          <p:cNvPicPr>
            <a:picLocks noChangeAspect="1"/>
          </p:cNvPicPr>
          <p:nvPr/>
        </p:nvPicPr>
        <p:blipFill>
          <a:blip r:embed="rId1"/>
          <a:stretch>
            <a:fillRect/>
          </a:stretch>
        </p:blipFill>
        <p:spPr>
          <a:xfrm>
            <a:off x="702243" y="1417320"/>
            <a:ext cx="5133474" cy="3657600"/>
          </a:xfrm>
          <a:prstGeom prst="rect">
            <a:avLst/>
          </a:prstGeom>
        </p:spPr>
      </p:pic>
      <p:sp>
        <p:nvSpPr>
          <p:cNvPr id="6" name="Text 2"/>
          <p:cNvSpPr txBox="1"/>
          <p:nvPr/>
        </p:nvSpPr>
        <p:spPr>
          <a:xfrm>
            <a:off x="548640" y="5212080"/>
            <a:ext cx="5440680" cy="274320"/>
          </a:xfrm>
          <a:prstGeom prst="rect">
            <a:avLst/>
          </a:prstGeom>
          <a:noFill/>
          <a:ln/>
        </p:spPr>
        <p:txBody>
          <a:bodyPr wrap="square" lIns="0" tIns="0" rIns="0" bIns="0" rtlCol="0" anchor="t"/>
          <a:lstStyle/>
          <a:p>
            <a:pPr indent="0" marL="0">
              <a:buNone/>
            </a:pPr>
            <a:r>
              <a:rPr lang="en-US" sz="1100" i="1" dirty="0">
                <a:solidFill>
                  <a:schemeClr val="accent6"/>
                </a:solidFill>
              </a:rPr>
              <a:t>Table 5 (part 1): vegetation traits and processes</a:t>
            </a:r>
            <a:endParaRPr lang="en-US" sz="1100" dirty="0"/>
          </a:p>
        </p:txBody>
      </p:sp>
      <p:sp>
        <p:nvSpPr>
          <p:cNvPr id="7" name="figure frame"/>
          <p:cNvSpPr/>
          <p:nvPr/>
        </p:nvSpPr>
        <p:spPr>
          <a:xfrm>
            <a:off x="6199632" y="1325880"/>
            <a:ext cx="5440680" cy="3840480"/>
          </a:xfrm>
          <a:prstGeom prst="roundRect">
            <a:avLst>
              <a:gd name="adj" fmla="val 1429"/>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8" name="Image 1" descr="Table 5 (part 2): environmental, atmospheric and stress factors">    </p:cNvPr>
          <p:cNvPicPr>
            <a:picLocks noChangeAspect="1"/>
          </p:cNvPicPr>
          <p:nvPr/>
        </p:nvPicPr>
        <p:blipFill>
          <a:blip r:embed="rId2"/>
          <a:stretch>
            <a:fillRect/>
          </a:stretch>
        </p:blipFill>
        <p:spPr>
          <a:xfrm>
            <a:off x="6291072" y="1438751"/>
            <a:ext cx="5257800" cy="3614738"/>
          </a:xfrm>
          <a:prstGeom prst="rect">
            <a:avLst/>
          </a:prstGeom>
        </p:spPr>
      </p:pic>
      <p:sp>
        <p:nvSpPr>
          <p:cNvPr id="9" name="Text 4"/>
          <p:cNvSpPr txBox="1"/>
          <p:nvPr/>
        </p:nvSpPr>
        <p:spPr>
          <a:xfrm>
            <a:off x="6199632" y="5212080"/>
            <a:ext cx="5440680" cy="274320"/>
          </a:xfrm>
          <a:prstGeom prst="rect">
            <a:avLst/>
          </a:prstGeom>
          <a:noFill/>
          <a:ln/>
        </p:spPr>
        <p:txBody>
          <a:bodyPr wrap="square" lIns="0" tIns="0" rIns="0" bIns="0" rtlCol="0" anchor="t"/>
          <a:lstStyle/>
          <a:p>
            <a:pPr indent="0" marL="0">
              <a:buNone/>
            </a:pPr>
            <a:r>
              <a:rPr lang="en-US" sz="1100" i="1" dirty="0">
                <a:solidFill>
                  <a:schemeClr val="accent6"/>
                </a:solidFill>
              </a:rPr>
              <a:t>Table 5 (part 2): environmental, atmospheric and stress factors</a:t>
            </a:r>
            <a:endParaRPr lang="en-US" sz="1100" dirty="0"/>
          </a:p>
        </p:txBody>
      </p:sp>
      <p:sp>
        <p:nvSpPr>
          <p:cNvPr id="10" name="legend"/>
          <p:cNvSpPr/>
          <p:nvPr/>
        </p:nvSpPr>
        <p:spPr>
          <a:xfrm>
            <a:off x="548640" y="5577840"/>
            <a:ext cx="11091672" cy="594360"/>
          </a:xfrm>
          <a:prstGeom prst="roundRect">
            <a:avLst>
              <a:gd name="adj" fmla="val 12308"/>
            </a:avLst>
          </a:prstGeom>
          <a:solidFill>
            <a:schemeClr val="bg2"/>
          </a:solidFill>
          <a:ln/>
        </p:spPr>
      </p:sp>
      <p:sp>
        <p:nvSpPr>
          <p:cNvPr id="11" name="Text 6"/>
          <p:cNvSpPr txBox="1"/>
          <p:nvPr/>
        </p:nvSpPr>
        <p:spPr>
          <a:xfrm>
            <a:off x="685800" y="5596128"/>
            <a:ext cx="10835640" cy="548640"/>
          </a:xfrm>
          <a:prstGeom prst="rect">
            <a:avLst/>
          </a:prstGeom>
          <a:noFill/>
          <a:ln/>
        </p:spPr>
        <p:txBody>
          <a:bodyPr wrap="square" lIns="508" tIns="508" rIns="508" bIns="508" rtlCol="0" anchor="ctr"/>
          <a:lstStyle/>
          <a:p>
            <a:pPr indent="0" marL="0">
              <a:spcAft>
                <a:spcPts val="600"/>
              </a:spcAft>
              <a:buNone/>
            </a:pPr>
            <a:r>
              <a:rPr lang="en-US" sz="1200" b="1" dirty="0">
                <a:solidFill>
                  <a:schemeClr val="tx1"/>
                </a:solidFill>
              </a:rPr>
              <a:t>Process:</a:t>
            </a:r>
            <a:r>
              <a:rPr lang="en-US" sz="1200" dirty="0">
                <a:solidFill>
                  <a:schemeClr val="tx1"/>
                </a:solidFill>
              </a:rPr>
              <a:t> A absorption · R re-absorption · S scattering · PQ photochemical quenching · NPQ · OP other photoprotection   </a:t>
            </a:r>
            <a:r>
              <a:rPr lang="en-US" sz="1200" b="1" dirty="0">
                <a:solidFill>
                  <a:schemeClr val="tx1"/>
                </a:solidFill>
              </a:rPr>
              <a:t>Scale:</a:t>
            </a:r>
            <a:r>
              <a:rPr lang="en-US" sz="1200" dirty="0">
                <a:solidFill>
                  <a:schemeClr val="tx1"/>
                </a:solidFill>
              </a:rPr>
              <a:t> L leaf · C canopy · E ecosystem · B biome   </a:t>
            </a:r>
            <a:r>
              <a:rPr lang="en-US" sz="1200" b="1" dirty="0">
                <a:solidFill>
                  <a:schemeClr val="tx1"/>
                </a:solidFill>
              </a:rPr>
              <a:t>Time:</a:t>
            </a:r>
            <a:r>
              <a:rPr lang="en-US" sz="1200" dirty="0">
                <a:solidFill>
                  <a:schemeClr val="tx1"/>
                </a:solidFill>
              </a:rPr>
              <a:t> ST short · MT medium · LT long-term · SV seasonal</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Challenges and future directions</a:t>
            </a:r>
            <a:endParaRPr lang="en-US" sz="3200" dirty="0"/>
          </a:p>
        </p:txBody>
      </p:sp>
      <p:sp>
        <p:nvSpPr>
          <p:cNvPr id="4" name="card"/>
          <p:cNvSpPr/>
          <p:nvPr/>
        </p:nvSpPr>
        <p:spPr>
          <a:xfrm>
            <a:off x="548640" y="137160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527048"/>
            <a:ext cx="420624" cy="420624"/>
          </a:xfrm>
          <a:prstGeom prst="ellipse">
            <a:avLst/>
          </a:prstGeom>
          <a:solidFill>
            <a:schemeClr val="accent1"/>
          </a:solidFill>
          <a:ln/>
        </p:spPr>
      </p:sp>
      <p:pic>
        <p:nvPicPr>
          <p:cNvPr id="6" name="Image 0" descr="LayerGroup icon">    </p:cNvPr>
          <p:cNvPicPr>
            <a:picLocks noChangeAspect="1"/>
          </p:cNvPicPr>
          <p:nvPr/>
        </p:nvPicPr>
        <p:blipFill>
          <a:blip r:embed="rId1"/>
          <a:stretch>
            <a:fillRect/>
          </a:stretch>
        </p:blipFill>
        <p:spPr>
          <a:xfrm>
            <a:off x="840882" y="1636410"/>
            <a:ext cx="201900" cy="201900"/>
          </a:xfrm>
          <a:prstGeom prst="rect">
            <a:avLst/>
          </a:prstGeom>
        </p:spPr>
      </p:pic>
      <p:sp>
        <p:nvSpPr>
          <p:cNvPr id="7" name="Text 3"/>
          <p:cNvSpPr txBox="1"/>
          <p:nvPr/>
        </p:nvSpPr>
        <p:spPr>
          <a:xfrm>
            <a:off x="1261872"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Disentangle drivers</a:t>
            </a:r>
            <a:endParaRPr lang="en-US" sz="1500" dirty="0"/>
          </a:p>
        </p:txBody>
      </p:sp>
      <p:sp>
        <p:nvSpPr>
          <p:cNvPr id="8" name="Text 4"/>
          <p:cNvSpPr txBox="1"/>
          <p:nvPr/>
        </p:nvSpPr>
        <p:spPr>
          <a:xfrm>
            <a:off x="731520" y="205740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Separate physiology from structure, pigments and illumination using models + ancillary data</a:t>
            </a:r>
            <a:endParaRPr lang="en-US" sz="1300" dirty="0"/>
          </a:p>
        </p:txBody>
      </p:sp>
      <p:sp>
        <p:nvSpPr>
          <p:cNvPr id="9" name="card"/>
          <p:cNvSpPr/>
          <p:nvPr/>
        </p:nvSpPr>
        <p:spPr>
          <a:xfrm>
            <a:off x="4297680" y="137160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4480560" y="1527048"/>
            <a:ext cx="420624" cy="420624"/>
          </a:xfrm>
          <a:prstGeom prst="ellipse">
            <a:avLst/>
          </a:prstGeom>
          <a:solidFill>
            <a:schemeClr val="accent3"/>
          </a:solidFill>
          <a:ln/>
        </p:spPr>
      </p:sp>
      <p:pic>
        <p:nvPicPr>
          <p:cNvPr id="11" name="Image 1" descr="Fire icon">    </p:cNvPr>
          <p:cNvPicPr>
            <a:picLocks noChangeAspect="1"/>
          </p:cNvPicPr>
          <p:nvPr/>
        </p:nvPicPr>
        <p:blipFill>
          <a:blip r:embed="rId2"/>
          <a:stretch>
            <a:fillRect/>
          </a:stretch>
        </p:blipFill>
        <p:spPr>
          <a:xfrm>
            <a:off x="4589922" y="1636410"/>
            <a:ext cx="201900" cy="201900"/>
          </a:xfrm>
          <a:prstGeom prst="rect">
            <a:avLst/>
          </a:prstGeom>
        </p:spPr>
      </p:pic>
      <p:sp>
        <p:nvSpPr>
          <p:cNvPr id="12" name="Text 7"/>
          <p:cNvSpPr txBox="1"/>
          <p:nvPr/>
        </p:nvSpPr>
        <p:spPr>
          <a:xfrm>
            <a:off x="5010912"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Quantify NPQ</a:t>
            </a:r>
            <a:endParaRPr lang="en-US" sz="1500" dirty="0"/>
          </a:p>
        </p:txBody>
      </p:sp>
      <p:sp>
        <p:nvSpPr>
          <p:cNvPr id="13" name="Text 8"/>
          <p:cNvSpPr txBox="1"/>
          <p:nvPr/>
        </p:nvSpPr>
        <p:spPr>
          <a:xfrm>
            <a:off x="4480560" y="205740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PRI, reflectance 500–600 nm, canopy–air temperature to constrain the SIF–photosynthesis link</a:t>
            </a:r>
            <a:endParaRPr lang="en-US" sz="1300" dirty="0"/>
          </a:p>
        </p:txBody>
      </p:sp>
      <p:sp>
        <p:nvSpPr>
          <p:cNvPr id="14" name="card"/>
          <p:cNvSpPr/>
          <p:nvPr/>
        </p:nvSpPr>
        <p:spPr>
          <a:xfrm>
            <a:off x="8046720" y="137160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5" name="icon circle"/>
          <p:cNvSpPr/>
          <p:nvPr/>
        </p:nvSpPr>
        <p:spPr>
          <a:xfrm>
            <a:off x="8229600" y="1527048"/>
            <a:ext cx="420624" cy="420624"/>
          </a:xfrm>
          <a:prstGeom prst="ellipse">
            <a:avLst/>
          </a:prstGeom>
          <a:solidFill>
            <a:schemeClr val="accent5"/>
          </a:solidFill>
          <a:ln/>
        </p:spPr>
      </p:sp>
      <p:pic>
        <p:nvPicPr>
          <p:cNvPr id="16" name="Image 2" descr="Check icon">    </p:cNvPr>
          <p:cNvPicPr>
            <a:picLocks noChangeAspect="1"/>
          </p:cNvPicPr>
          <p:nvPr/>
        </p:nvPicPr>
        <p:blipFill>
          <a:blip r:embed="rId3"/>
          <a:stretch>
            <a:fillRect/>
          </a:stretch>
        </p:blipFill>
        <p:spPr>
          <a:xfrm>
            <a:off x="8338962" y="1636410"/>
            <a:ext cx="201900" cy="201900"/>
          </a:xfrm>
          <a:prstGeom prst="rect">
            <a:avLst/>
          </a:prstGeom>
        </p:spPr>
      </p:pic>
      <p:sp>
        <p:nvSpPr>
          <p:cNvPr id="17" name="Text 11"/>
          <p:cNvSpPr txBox="1"/>
          <p:nvPr/>
        </p:nvSpPr>
        <p:spPr>
          <a:xfrm>
            <a:off x="8759952"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Validate retrievals</a:t>
            </a:r>
            <a:endParaRPr lang="en-US" sz="1500" dirty="0"/>
          </a:p>
        </p:txBody>
      </p:sp>
      <p:sp>
        <p:nvSpPr>
          <p:cNvPr id="18" name="Text 12"/>
          <p:cNvSpPr txBox="1"/>
          <p:nvPr/>
        </p:nvSpPr>
        <p:spPr>
          <a:xfrm>
            <a:off x="8229600" y="205740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Ground towers, UAVs and airborne demonstrators (HyPlant, CFIS) under satellite tracks</a:t>
            </a:r>
            <a:endParaRPr lang="en-US" sz="1300" dirty="0"/>
          </a:p>
        </p:txBody>
      </p:sp>
      <p:sp>
        <p:nvSpPr>
          <p:cNvPr id="19" name="card"/>
          <p:cNvSpPr/>
          <p:nvPr/>
        </p:nvSpPr>
        <p:spPr>
          <a:xfrm>
            <a:off x="548640" y="379476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20" name="icon circle"/>
          <p:cNvSpPr/>
          <p:nvPr/>
        </p:nvSpPr>
        <p:spPr>
          <a:xfrm>
            <a:off x="731520" y="3950208"/>
            <a:ext cx="420624" cy="420624"/>
          </a:xfrm>
          <a:prstGeom prst="ellipse">
            <a:avLst/>
          </a:prstGeom>
          <a:solidFill>
            <a:schemeClr val="accent2"/>
          </a:solidFill>
          <a:ln/>
        </p:spPr>
      </p:sp>
      <p:pic>
        <p:nvPicPr>
          <p:cNvPr id="21" name="Image 3" descr="Ruler icon">    </p:cNvPr>
          <p:cNvPicPr>
            <a:picLocks noChangeAspect="1"/>
          </p:cNvPicPr>
          <p:nvPr/>
        </p:nvPicPr>
        <p:blipFill>
          <a:blip r:embed="rId4"/>
          <a:stretch>
            <a:fillRect/>
          </a:stretch>
        </p:blipFill>
        <p:spPr>
          <a:xfrm>
            <a:off x="840882" y="4059570"/>
            <a:ext cx="201900" cy="201900"/>
          </a:xfrm>
          <a:prstGeom prst="rect">
            <a:avLst/>
          </a:prstGeom>
        </p:spPr>
      </p:pic>
      <p:sp>
        <p:nvSpPr>
          <p:cNvPr id="22" name="Text 15"/>
          <p:cNvSpPr txBox="1"/>
          <p:nvPr/>
        </p:nvSpPr>
        <p:spPr>
          <a:xfrm>
            <a:off x="1261872" y="393192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Scale bridging</a:t>
            </a:r>
            <a:endParaRPr lang="en-US" sz="1500" dirty="0"/>
          </a:p>
        </p:txBody>
      </p:sp>
      <p:sp>
        <p:nvSpPr>
          <p:cNvPr id="23" name="Text 16"/>
          <p:cNvSpPr txBox="1"/>
          <p:nvPr/>
        </p:nvSpPr>
        <p:spPr>
          <a:xfrm>
            <a:off x="731520" y="448056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Downscale coarse satellite SIF; correct directional effects; combine sensors</a:t>
            </a:r>
            <a:endParaRPr lang="en-US" sz="1300" dirty="0"/>
          </a:p>
        </p:txBody>
      </p:sp>
      <p:sp>
        <p:nvSpPr>
          <p:cNvPr id="24" name="card"/>
          <p:cNvSpPr/>
          <p:nvPr/>
        </p:nvSpPr>
        <p:spPr>
          <a:xfrm>
            <a:off x="4297680" y="379476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25" name="icon circle"/>
          <p:cNvSpPr/>
          <p:nvPr/>
        </p:nvSpPr>
        <p:spPr>
          <a:xfrm>
            <a:off x="4480560" y="3950208"/>
            <a:ext cx="420624" cy="420624"/>
          </a:xfrm>
          <a:prstGeom prst="ellipse">
            <a:avLst/>
          </a:prstGeom>
          <a:solidFill>
            <a:schemeClr val="accent4"/>
          </a:solidFill>
          <a:ln/>
        </p:spPr>
      </p:sp>
      <p:pic>
        <p:nvPicPr>
          <p:cNvPr id="26" name="Image 4" descr="Satellite icon">    </p:cNvPr>
          <p:cNvPicPr>
            <a:picLocks noChangeAspect="1"/>
          </p:cNvPicPr>
          <p:nvPr/>
        </p:nvPicPr>
        <p:blipFill>
          <a:blip r:embed="rId5"/>
          <a:stretch>
            <a:fillRect/>
          </a:stretch>
        </p:blipFill>
        <p:spPr>
          <a:xfrm>
            <a:off x="4589922" y="4059570"/>
            <a:ext cx="201900" cy="201900"/>
          </a:xfrm>
          <a:prstGeom prst="rect">
            <a:avLst/>
          </a:prstGeom>
        </p:spPr>
      </p:pic>
      <p:sp>
        <p:nvSpPr>
          <p:cNvPr id="27" name="Text 19"/>
          <p:cNvSpPr txBox="1"/>
          <p:nvPr/>
        </p:nvSpPr>
        <p:spPr>
          <a:xfrm>
            <a:off x="5010912" y="393192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Better sensors</a:t>
            </a:r>
            <a:endParaRPr lang="en-US" sz="1500" dirty="0"/>
          </a:p>
        </p:txBody>
      </p:sp>
      <p:sp>
        <p:nvSpPr>
          <p:cNvPr id="28" name="Text 20"/>
          <p:cNvSpPr txBox="1"/>
          <p:nvPr/>
        </p:nvSpPr>
        <p:spPr>
          <a:xfrm>
            <a:off x="4480560" y="448056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Red + far-red + full spectrum; high spectral resolution and SNR; VNIR for inversion</a:t>
            </a:r>
            <a:endParaRPr lang="en-US" sz="1300" dirty="0"/>
          </a:p>
        </p:txBody>
      </p:sp>
      <p:sp>
        <p:nvSpPr>
          <p:cNvPr id="29" name="card"/>
          <p:cNvSpPr/>
          <p:nvPr/>
        </p:nvSpPr>
        <p:spPr>
          <a:xfrm>
            <a:off x="8046720" y="379476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30" name="icon circle"/>
          <p:cNvSpPr/>
          <p:nvPr/>
        </p:nvSpPr>
        <p:spPr>
          <a:xfrm>
            <a:off x="8229600" y="3950208"/>
            <a:ext cx="420624" cy="420624"/>
          </a:xfrm>
          <a:prstGeom prst="ellipse">
            <a:avLst/>
          </a:prstGeom>
          <a:solidFill>
            <a:schemeClr val="accent6"/>
          </a:solidFill>
          <a:ln/>
        </p:spPr>
      </p:sp>
      <p:pic>
        <p:nvPicPr>
          <p:cNvPr id="31" name="Image 5" descr="Cogs icon">    </p:cNvPr>
          <p:cNvPicPr>
            <a:picLocks noChangeAspect="1"/>
          </p:cNvPicPr>
          <p:nvPr/>
        </p:nvPicPr>
        <p:blipFill>
          <a:blip r:embed="rId6"/>
          <a:stretch>
            <a:fillRect/>
          </a:stretch>
        </p:blipFill>
        <p:spPr>
          <a:xfrm>
            <a:off x="8338962" y="4059570"/>
            <a:ext cx="201900" cy="201900"/>
          </a:xfrm>
          <a:prstGeom prst="rect">
            <a:avLst/>
          </a:prstGeom>
        </p:spPr>
      </p:pic>
      <p:sp>
        <p:nvSpPr>
          <p:cNvPr id="32" name="Text 23"/>
          <p:cNvSpPr txBox="1"/>
          <p:nvPr/>
        </p:nvSpPr>
        <p:spPr>
          <a:xfrm>
            <a:off x="8759952" y="393192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Operational products</a:t>
            </a:r>
            <a:endParaRPr lang="en-US" sz="1500" dirty="0"/>
          </a:p>
        </p:txBody>
      </p:sp>
      <p:sp>
        <p:nvSpPr>
          <p:cNvPr id="33" name="Text 24"/>
          <p:cNvSpPr txBox="1"/>
          <p:nvPr/>
        </p:nvSpPr>
        <p:spPr>
          <a:xfrm>
            <a:off x="8229600" y="448056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Assimilation in land surface models; ML emulators; tools for non-experts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Synthesis &amp; self-check</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Bringing PAM and SIF together, a one-page formula sheet, and answers to the most common doubts</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09</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One concept, two ways of measuring it</a:t>
            </a:r>
            <a:endParaRPr lang="en-US" sz="3200" dirty="0"/>
          </a:p>
        </p:txBody>
      </p:sp>
      <p:sp>
        <p:nvSpPr>
          <p:cNvPr id="4" name="diagram box"/>
          <p:cNvSpPr/>
          <p:nvPr/>
        </p:nvSpPr>
        <p:spPr>
          <a:xfrm>
            <a:off x="4270248" y="1371600"/>
            <a:ext cx="3657600" cy="1188720"/>
          </a:xfrm>
          <a:prstGeom prst="roundRect">
            <a:avLst>
              <a:gd name="adj" fmla="val 6154"/>
            </a:avLst>
          </a:prstGeom>
          <a:solidFill>
            <a:schemeClr val="tx2"/>
          </a:solidFill>
          <a:ln/>
        </p:spPr>
      </p:sp>
      <p:sp>
        <p:nvSpPr>
          <p:cNvPr id="5" name="Text 2"/>
          <p:cNvSpPr txBox="1"/>
          <p:nvPr/>
        </p:nvSpPr>
        <p:spPr>
          <a:xfrm>
            <a:off x="4270248" y="1371600"/>
            <a:ext cx="3657600" cy="1188720"/>
          </a:xfrm>
          <a:prstGeom prst="rect">
            <a:avLst/>
          </a:prstGeom>
          <a:noFill/>
          <a:ln/>
        </p:spPr>
        <p:txBody>
          <a:bodyPr wrap="square" lIns="508" tIns="508" rIns="508" bIns="508" rtlCol="0" anchor="ctr"/>
          <a:lstStyle/>
          <a:p>
            <a:pPr algn="ctr" indent="0" marL="0">
              <a:buNone/>
            </a:pPr>
            <a:r>
              <a:rPr lang="en-US" sz="1600" b="1" dirty="0">
                <a:solidFill>
                  <a:schemeClr val="bg1"/>
                </a:solidFill>
              </a:rPr>
              <a:t>Absorbed light energy</a:t>
            </a:r>
            <a:endParaRPr lang="en-US" sz="1600" dirty="0"/>
          </a:p>
          <a:p>
            <a:pPr algn="ctr" indent="0" marL="0">
              <a:buNone/>
            </a:pPr>
            <a:r>
              <a:rPr lang="en-US" sz="1600" b="1" dirty="0">
                <a:solidFill>
                  <a:schemeClr val="bg1"/>
                </a:solidFill>
              </a:rPr>
              <a:t>Φ</a:t>
            </a:r>
            <a:r>
              <a:rPr lang="en-US" sz="1600" b="1" baseline="-40000" dirty="0">
                <a:solidFill>
                  <a:schemeClr val="bg1"/>
                </a:solidFill>
              </a:rPr>
              <a:t>P</a:t>
            </a:r>
            <a:r>
              <a:rPr lang="en-US" sz="1600" b="1" dirty="0">
                <a:solidFill>
                  <a:schemeClr val="bg1"/>
                </a:solidFill>
              </a:rPr>
              <a:t> + Φ</a:t>
            </a:r>
            <a:r>
              <a:rPr lang="en-US" sz="1600" b="1" baseline="-40000" dirty="0">
                <a:solidFill>
                  <a:schemeClr val="bg1"/>
                </a:solidFill>
              </a:rPr>
              <a:t>N</a:t>
            </a:r>
            <a:r>
              <a:rPr lang="en-US" sz="1600" b="1" dirty="0">
                <a:solidFill>
                  <a:schemeClr val="bg1"/>
                </a:solidFill>
              </a:rPr>
              <a:t> + Φ</a:t>
            </a:r>
            <a:r>
              <a:rPr lang="en-US" sz="1600" b="1" baseline="-40000" dirty="0">
                <a:solidFill>
                  <a:schemeClr val="bg1"/>
                </a:solidFill>
              </a:rPr>
              <a:t>F</a:t>
            </a:r>
            <a:r>
              <a:rPr lang="en-US" sz="1600" b="1" dirty="0">
                <a:solidFill>
                  <a:schemeClr val="bg1"/>
                </a:solidFill>
              </a:rPr>
              <a:t> = 1</a:t>
            </a:r>
            <a:endParaRPr lang="en-US" sz="1600" dirty="0"/>
          </a:p>
        </p:txBody>
      </p:sp>
      <p:sp>
        <p:nvSpPr>
          <p:cNvPr id="6" name="arrow"/>
          <p:cNvSpPr/>
          <p:nvPr/>
        </p:nvSpPr>
        <p:spPr>
          <a:xfrm flipH="1">
            <a:off x="3108960" y="2560320"/>
            <a:ext cx="1645920" cy="548640"/>
          </a:xfrm>
          <a:prstGeom prst="line">
            <a:avLst/>
          </a:prstGeom>
          <a:noFill/>
          <a:ln w="31750">
            <a:solidFill>
              <a:srgbClr val="2E8B57"/>
            </a:solidFill>
            <a:prstDash val="solid"/>
            <a:tailEnd type="triangle"/>
          </a:ln>
        </p:spPr>
      </p:sp>
      <p:sp>
        <p:nvSpPr>
          <p:cNvPr id="7" name="arrow"/>
          <p:cNvSpPr/>
          <p:nvPr/>
        </p:nvSpPr>
        <p:spPr>
          <a:xfrm>
            <a:off x="7406640" y="2560320"/>
            <a:ext cx="1645920" cy="548640"/>
          </a:xfrm>
          <a:prstGeom prst="line">
            <a:avLst/>
          </a:prstGeom>
          <a:noFill/>
          <a:ln w="31750">
            <a:solidFill>
              <a:srgbClr val="D62839"/>
            </a:solidFill>
            <a:prstDash val="solid"/>
            <a:tailEnd type="triangle"/>
          </a:ln>
        </p:spPr>
      </p:sp>
      <p:sp>
        <p:nvSpPr>
          <p:cNvPr id="8" name="card"/>
          <p:cNvSpPr/>
          <p:nvPr/>
        </p:nvSpPr>
        <p:spPr>
          <a:xfrm>
            <a:off x="548640" y="3154680"/>
            <a:ext cx="5440680" cy="3017520"/>
          </a:xfrm>
          <a:prstGeom prst="roundRect">
            <a:avLst>
              <a:gd name="adj" fmla="val 2424"/>
            </a:avLst>
          </a:prstGeom>
          <a:solidFill>
            <a:schemeClr val="bg2"/>
          </a:solidFill>
          <a:ln/>
          <a:effectLst>
            <a:outerShdw sx="100000" sy="100000" kx="0" ky="0" algn="bl" rotWithShape="0" blurRad="76200" dist="25400" dir="5400000">
              <a:srgbClr val="000000">
                <a:alpha val="14000"/>
              </a:srgbClr>
            </a:outerShdw>
          </a:effectLst>
        </p:spPr>
      </p:sp>
      <p:sp>
        <p:nvSpPr>
          <p:cNvPr id="9" name="icon circle"/>
          <p:cNvSpPr/>
          <p:nvPr/>
        </p:nvSpPr>
        <p:spPr>
          <a:xfrm>
            <a:off x="731520" y="3310128"/>
            <a:ext cx="420624" cy="420624"/>
          </a:xfrm>
          <a:prstGeom prst="ellipse">
            <a:avLst/>
          </a:prstGeom>
          <a:solidFill>
            <a:schemeClr val="accent1"/>
          </a:solidFill>
          <a:ln/>
        </p:spPr>
      </p:sp>
      <p:pic>
        <p:nvPicPr>
          <p:cNvPr id="10" name="Image 0" descr="Bolt icon">    </p:cNvPr>
          <p:cNvPicPr>
            <a:picLocks noChangeAspect="1"/>
          </p:cNvPicPr>
          <p:nvPr/>
        </p:nvPicPr>
        <p:blipFill>
          <a:blip r:embed="rId1"/>
          <a:stretch>
            <a:fillRect/>
          </a:stretch>
        </p:blipFill>
        <p:spPr>
          <a:xfrm>
            <a:off x="840882" y="3419490"/>
            <a:ext cx="201900" cy="201900"/>
          </a:xfrm>
          <a:prstGeom prst="rect">
            <a:avLst/>
          </a:prstGeom>
        </p:spPr>
      </p:pic>
      <p:sp>
        <p:nvSpPr>
          <p:cNvPr id="11" name="Text 7"/>
          <p:cNvSpPr txBox="1"/>
          <p:nvPr/>
        </p:nvSpPr>
        <p:spPr>
          <a:xfrm>
            <a:off x="1261872" y="3291840"/>
            <a:ext cx="4590288" cy="457200"/>
          </a:xfrm>
          <a:prstGeom prst="rect">
            <a:avLst/>
          </a:prstGeom>
          <a:noFill/>
          <a:ln/>
        </p:spPr>
        <p:txBody>
          <a:bodyPr wrap="square" lIns="0" tIns="0" rIns="0" bIns="0" rtlCol="0" anchor="ctr"/>
          <a:lstStyle/>
          <a:p>
            <a:pPr indent="0" marL="0">
              <a:buNone/>
            </a:pPr>
            <a:r>
              <a:rPr lang="en-US" sz="1600" b="1" dirty="0">
                <a:solidFill>
                  <a:schemeClr val="accent1"/>
                </a:solidFill>
              </a:rPr>
              <a:t>ACTIVE · PAM fluorometry</a:t>
            </a:r>
            <a:endParaRPr lang="en-US" sz="1600" dirty="0"/>
          </a:p>
        </p:txBody>
      </p:sp>
      <p:sp>
        <p:nvSpPr>
          <p:cNvPr id="12" name="Text 8"/>
          <p:cNvSpPr txBox="1"/>
          <p:nvPr/>
        </p:nvSpPr>
        <p:spPr>
          <a:xfrm>
            <a:off x="731520" y="3840480"/>
            <a:ext cx="5074920" cy="2240280"/>
          </a:xfrm>
          <a:prstGeom prst="rect">
            <a:avLst/>
          </a:prstGeom>
          <a:noFill/>
          <a:ln/>
        </p:spPr>
        <p:txBody>
          <a:bodyPr wrap="square" lIns="508" tIns="508" rIns="508" bIns="508" rtlCol="0" anchor="t"/>
          <a:lstStyle/>
          <a:p>
            <a:pPr marL="177800" indent="-177800">
              <a:spcAft>
                <a:spcPts val="400"/>
              </a:spcAft>
              <a:buSzPct val="100000"/>
              <a:buChar char="•"/>
            </a:pPr>
            <a:r>
              <a:rPr lang="en-US" sz="1400" dirty="0">
                <a:solidFill>
                  <a:schemeClr val="tx1"/>
                </a:solidFill>
              </a:rPr>
              <a:t>Controls light: ML, AL, saturating pulse, FR</a:t>
            </a:r>
            <a:endParaRPr lang="en-US" sz="1400" dirty="0"/>
          </a:p>
          <a:p>
            <a:pPr marL="177800" indent="-177800">
              <a:spcAft>
                <a:spcPts val="400"/>
              </a:spcAft>
              <a:buSzPct val="100000"/>
              <a:buChar char="•"/>
            </a:pPr>
            <a:r>
              <a:rPr lang="en-US" sz="1400" dirty="0">
                <a:solidFill>
                  <a:schemeClr val="tx1"/>
                </a:solidFill>
              </a:rPr>
              <a:t>Measures </a:t>
            </a:r>
            <a:r>
              <a:rPr lang="en-US" sz="1400" b="1" dirty="0">
                <a:solidFill>
                  <a:schemeClr val="tx1"/>
                </a:solidFill>
              </a:rPr>
              <a:t>yields</a:t>
            </a:r>
            <a:r>
              <a:rPr lang="en-US" sz="1400" dirty="0">
                <a:solidFill>
                  <a:schemeClr val="tx1"/>
                </a:solidFill>
              </a:rPr>
              <a:t>: F</a:t>
            </a:r>
            <a:r>
              <a:rPr lang="en-US" sz="1400" baseline="-40000" dirty="0">
                <a:solidFill>
                  <a:schemeClr val="tx1"/>
                </a:solidFill>
              </a:rPr>
              <a:t>v</a:t>
            </a:r>
            <a:r>
              <a:rPr lang="en-US" sz="1400" dirty="0">
                <a:solidFill>
                  <a:schemeClr val="tx1"/>
                </a:solidFill>
              </a:rPr>
              <a:t>/F</a:t>
            </a:r>
            <a:r>
              <a:rPr lang="en-US" sz="1400" baseline="-40000" dirty="0">
                <a:solidFill>
                  <a:schemeClr val="tx1"/>
                </a:solidFill>
              </a:rPr>
              <a:t>m</a:t>
            </a:r>
            <a:r>
              <a:rPr lang="en-US" sz="1400" dirty="0">
                <a:solidFill>
                  <a:schemeClr val="tx1"/>
                </a:solidFill>
              </a:rPr>
              <a:t>, Φ</a:t>
            </a:r>
            <a:r>
              <a:rPr lang="en-US" sz="1400" baseline="-40000" dirty="0">
                <a:solidFill>
                  <a:schemeClr val="tx1"/>
                </a:solidFill>
              </a:rPr>
              <a:t>PSII</a:t>
            </a:r>
            <a:r>
              <a:rPr lang="en-US" sz="1400" dirty="0">
                <a:solidFill>
                  <a:schemeClr val="tx1"/>
                </a:solidFill>
              </a:rPr>
              <a:t>, qP, qL, NPQ</a:t>
            </a:r>
            <a:endParaRPr lang="en-US" sz="1400" dirty="0"/>
          </a:p>
          <a:p>
            <a:pPr marL="177800" indent="-177800">
              <a:spcAft>
                <a:spcPts val="400"/>
              </a:spcAft>
              <a:buSzPct val="100000"/>
              <a:buChar char="•"/>
            </a:pPr>
            <a:r>
              <a:rPr lang="en-US" sz="1400" dirty="0">
                <a:solidFill>
                  <a:schemeClr val="tx1"/>
                </a:solidFill>
              </a:rPr>
              <a:t>Separates photochemical vs non-photochemical quenching</a:t>
            </a:r>
            <a:endParaRPr lang="en-US" sz="1400" dirty="0"/>
          </a:p>
          <a:p>
            <a:pPr marL="177800" indent="-177800">
              <a:spcAft>
                <a:spcPts val="400"/>
              </a:spcAft>
              <a:buSzPct val="100000"/>
              <a:buChar char="•"/>
            </a:pPr>
            <a:r>
              <a:rPr lang="en-US" sz="1400" dirty="0">
                <a:solidFill>
                  <a:schemeClr val="tx1"/>
                </a:solidFill>
              </a:rPr>
              <a:t>Leaf / plant scale; mechanistic understanding</a:t>
            </a:r>
            <a:endParaRPr lang="en-US" sz="1400" dirty="0"/>
          </a:p>
        </p:txBody>
      </p:sp>
      <p:sp>
        <p:nvSpPr>
          <p:cNvPr id="13" name="card"/>
          <p:cNvSpPr/>
          <p:nvPr/>
        </p:nvSpPr>
        <p:spPr>
          <a:xfrm>
            <a:off x="6199632" y="3154680"/>
            <a:ext cx="5440680" cy="3017520"/>
          </a:xfrm>
          <a:prstGeom prst="roundRect">
            <a:avLst>
              <a:gd name="adj" fmla="val 2424"/>
            </a:avLst>
          </a:prstGeom>
          <a:solidFill>
            <a:schemeClr val="bg2"/>
          </a:solidFill>
          <a:ln/>
          <a:effectLst>
            <a:outerShdw sx="100000" sy="100000" kx="0" ky="0" algn="bl" rotWithShape="0" blurRad="76200" dist="25400" dir="5400000">
              <a:srgbClr val="000000">
                <a:alpha val="14000"/>
              </a:srgbClr>
            </a:outerShdw>
          </a:effectLst>
        </p:spPr>
      </p:sp>
      <p:sp>
        <p:nvSpPr>
          <p:cNvPr id="14" name="icon circle"/>
          <p:cNvSpPr/>
          <p:nvPr/>
        </p:nvSpPr>
        <p:spPr>
          <a:xfrm>
            <a:off x="6382512" y="3310128"/>
            <a:ext cx="420624" cy="420624"/>
          </a:xfrm>
          <a:prstGeom prst="ellipse">
            <a:avLst/>
          </a:prstGeom>
          <a:solidFill>
            <a:schemeClr val="accent2"/>
          </a:solidFill>
          <a:ln/>
        </p:spPr>
      </p:sp>
      <p:pic>
        <p:nvPicPr>
          <p:cNvPr id="15" name="Image 1" descr="Satellite icon">    </p:cNvPr>
          <p:cNvPicPr>
            <a:picLocks noChangeAspect="1"/>
          </p:cNvPicPr>
          <p:nvPr/>
        </p:nvPicPr>
        <p:blipFill>
          <a:blip r:embed="rId2"/>
          <a:stretch>
            <a:fillRect/>
          </a:stretch>
        </p:blipFill>
        <p:spPr>
          <a:xfrm>
            <a:off x="6491874" y="3419490"/>
            <a:ext cx="201900" cy="201900"/>
          </a:xfrm>
          <a:prstGeom prst="rect">
            <a:avLst/>
          </a:prstGeom>
        </p:spPr>
      </p:pic>
      <p:sp>
        <p:nvSpPr>
          <p:cNvPr id="16" name="Text 11"/>
          <p:cNvSpPr txBox="1"/>
          <p:nvPr/>
        </p:nvSpPr>
        <p:spPr>
          <a:xfrm>
            <a:off x="6912864" y="3291840"/>
            <a:ext cx="4590288" cy="457200"/>
          </a:xfrm>
          <a:prstGeom prst="rect">
            <a:avLst/>
          </a:prstGeom>
          <a:noFill/>
          <a:ln/>
        </p:spPr>
        <p:txBody>
          <a:bodyPr wrap="square" lIns="0" tIns="0" rIns="0" bIns="0" rtlCol="0" anchor="ctr"/>
          <a:lstStyle/>
          <a:p>
            <a:pPr indent="0" marL="0">
              <a:buNone/>
            </a:pPr>
            <a:r>
              <a:rPr lang="en-US" sz="1600" b="1" dirty="0">
                <a:solidFill>
                  <a:schemeClr val="accent2"/>
                </a:solidFill>
              </a:rPr>
              <a:t>PASSIVE · Sun-induced fluorescence</a:t>
            </a:r>
            <a:endParaRPr lang="en-US" sz="1600" dirty="0"/>
          </a:p>
        </p:txBody>
      </p:sp>
      <p:sp>
        <p:nvSpPr>
          <p:cNvPr id="17" name="Text 12"/>
          <p:cNvSpPr txBox="1"/>
          <p:nvPr/>
        </p:nvSpPr>
        <p:spPr>
          <a:xfrm>
            <a:off x="6382512" y="3840480"/>
            <a:ext cx="5074920" cy="2240280"/>
          </a:xfrm>
          <a:prstGeom prst="rect">
            <a:avLst/>
          </a:prstGeom>
          <a:noFill/>
          <a:ln/>
        </p:spPr>
        <p:txBody>
          <a:bodyPr wrap="square" lIns="508" tIns="508" rIns="508" bIns="508" rtlCol="0" anchor="t"/>
          <a:lstStyle/>
          <a:p>
            <a:pPr marL="177800" indent="-177800">
              <a:spcAft>
                <a:spcPts val="400"/>
              </a:spcAft>
              <a:buSzPct val="100000"/>
              <a:buChar char="•"/>
            </a:pPr>
            <a:r>
              <a:rPr lang="en-US" sz="1400" dirty="0">
                <a:solidFill>
                  <a:schemeClr val="tx1"/>
                </a:solidFill>
              </a:rPr>
              <a:t>Sunlight as source; in-filling of O₂ bands / Fraunhofer lines</a:t>
            </a:r>
            <a:endParaRPr lang="en-US" sz="1400" dirty="0"/>
          </a:p>
          <a:p>
            <a:pPr marL="177800" indent="-177800">
              <a:spcAft>
                <a:spcPts val="400"/>
              </a:spcAft>
              <a:buSzPct val="100000"/>
              <a:buChar char="•"/>
            </a:pPr>
            <a:r>
              <a:rPr lang="en-US" sz="1400" dirty="0">
                <a:solidFill>
                  <a:schemeClr val="tx1"/>
                </a:solidFill>
              </a:rPr>
              <a:t>Measures </a:t>
            </a:r>
            <a:r>
              <a:rPr lang="en-US" sz="1400" b="1" dirty="0">
                <a:solidFill>
                  <a:schemeClr val="tx1"/>
                </a:solidFill>
              </a:rPr>
              <a:t>flux</a:t>
            </a:r>
            <a:r>
              <a:rPr lang="en-US" sz="1400" dirty="0">
                <a:solidFill>
                  <a:schemeClr val="tx1"/>
                </a:solidFill>
              </a:rPr>
              <a:t>: SIF = APAR × Φ</a:t>
            </a:r>
            <a:r>
              <a:rPr lang="en-US" sz="1400" baseline="-40000" dirty="0">
                <a:solidFill>
                  <a:schemeClr val="tx1"/>
                </a:solidFill>
              </a:rPr>
              <a:t>F</a:t>
            </a:r>
            <a:r>
              <a:rPr lang="en-US" sz="1400" dirty="0">
                <a:solidFill>
                  <a:schemeClr val="tx1"/>
                </a:solidFill>
              </a:rPr>
              <a:t> × f</a:t>
            </a:r>
            <a:r>
              <a:rPr lang="en-US" sz="1400" baseline="-40000" dirty="0">
                <a:solidFill>
                  <a:schemeClr val="tx1"/>
                </a:solidFill>
              </a:rPr>
              <a:t>esc</a:t>
            </a:r>
            <a:endParaRPr lang="en-US" sz="1400" dirty="0"/>
          </a:p>
          <a:p>
            <a:pPr marL="177800" indent="-177800">
              <a:spcAft>
                <a:spcPts val="400"/>
              </a:spcAft>
              <a:buSzPct val="100000"/>
              <a:buChar char="•"/>
            </a:pPr>
            <a:r>
              <a:rPr lang="en-US" sz="1400" dirty="0">
                <a:solidFill>
                  <a:schemeClr val="tx1"/>
                </a:solidFill>
              </a:rPr>
              <a:t>Linked to GPP mainly via APAR; NPQ and structure confound</a:t>
            </a:r>
            <a:endParaRPr lang="en-US" sz="1400" dirty="0"/>
          </a:p>
          <a:p>
            <a:pPr marL="177800" indent="-177800">
              <a:spcAft>
                <a:spcPts val="400"/>
              </a:spcAft>
              <a:buSzPct val="100000"/>
              <a:buChar char="•"/>
            </a:pPr>
            <a:r>
              <a:rPr lang="en-US" sz="1400" dirty="0">
                <a:solidFill>
                  <a:schemeClr val="tx1"/>
                </a:solidFill>
              </a:rPr>
              <a:t>Canopy to global scale; ecosystem monitoring</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Formula sheet</a:t>
            </a:r>
            <a:endParaRPr lang="en-US" sz="3200" dirty="0"/>
          </a:p>
        </p:txBody>
      </p:sp>
      <p:sp>
        <p:nvSpPr>
          <p:cNvPr id="4" name="formula row"/>
          <p:cNvSpPr/>
          <p:nvPr/>
        </p:nvSpPr>
        <p:spPr>
          <a:xfrm>
            <a:off x="548640" y="1325880"/>
            <a:ext cx="5440680" cy="566928"/>
          </a:xfrm>
          <a:prstGeom prst="roundRect">
            <a:avLst>
              <a:gd name="adj" fmla="val 9677"/>
            </a:avLst>
          </a:prstGeom>
          <a:solidFill>
            <a:schemeClr val="bg2"/>
          </a:solidFill>
          <a:ln w="9525">
            <a:solidFill>
              <a:srgbClr val="D5DED8"/>
            </a:solidFill>
            <a:prstDash val="solid"/>
          </a:ln>
        </p:spPr>
      </p:sp>
      <p:sp>
        <p:nvSpPr>
          <p:cNvPr id="5" name="Text 2"/>
          <p:cNvSpPr txBox="1"/>
          <p:nvPr/>
        </p:nvSpPr>
        <p:spPr>
          <a:xfrm>
            <a:off x="685800" y="1325880"/>
            <a:ext cx="1508760" cy="566928"/>
          </a:xfrm>
          <a:prstGeom prst="rect">
            <a:avLst/>
          </a:prstGeom>
          <a:noFill/>
          <a:ln/>
        </p:spPr>
        <p:txBody>
          <a:bodyPr wrap="square" lIns="0" tIns="0" rIns="0" bIns="0" rtlCol="0" anchor="ctr"/>
          <a:lstStyle/>
          <a:p>
            <a:pPr indent="0" marL="0">
              <a:buNone/>
            </a:pPr>
            <a:r>
              <a:rPr lang="en-US" sz="1500" b="1" dirty="0">
                <a:solidFill>
                  <a:schemeClr val="accent1"/>
                </a:solidFill>
              </a:rPr>
              <a:t>F</a:t>
            </a:r>
            <a:r>
              <a:rPr lang="en-US" sz="1500" b="1" baseline="-40000" dirty="0">
                <a:solidFill>
                  <a:schemeClr val="accent1"/>
                </a:solidFill>
              </a:rPr>
              <a:t>v</a:t>
            </a:r>
            <a:endParaRPr lang="en-US" sz="1500" dirty="0"/>
          </a:p>
        </p:txBody>
      </p:sp>
      <p:sp>
        <p:nvSpPr>
          <p:cNvPr id="6" name="Text 3"/>
          <p:cNvSpPr txBox="1"/>
          <p:nvPr/>
        </p:nvSpPr>
        <p:spPr>
          <a:xfrm>
            <a:off x="2240280" y="1325880"/>
            <a:ext cx="3657600" cy="566928"/>
          </a:xfrm>
          <a:prstGeom prst="rect">
            <a:avLst/>
          </a:prstGeom>
          <a:noFill/>
          <a:ln/>
        </p:spPr>
        <p:txBody>
          <a:bodyPr wrap="square" lIns="0" tIns="0" rIns="0" bIns="0" rtlCol="0" anchor="ctr"/>
          <a:lstStyle/>
          <a:p>
            <a:pPr indent="0" marL="0">
              <a:buNone/>
            </a:pPr>
            <a:r>
              <a:rPr lang="en-US" sz="1500" dirty="0">
                <a:solidFill>
                  <a:schemeClr val="tx1"/>
                </a:solidFill>
              </a:rPr>
              <a:t>F</a:t>
            </a:r>
            <a:r>
              <a:rPr lang="en-US" sz="1500" baseline="-40000" dirty="0">
                <a:solidFill>
                  <a:schemeClr val="tx1"/>
                </a:solidFill>
              </a:rPr>
              <a:t>m</a:t>
            </a:r>
            <a:r>
              <a:rPr lang="en-US" sz="1500" dirty="0">
                <a:solidFill>
                  <a:schemeClr val="tx1"/>
                </a:solidFill>
              </a:rPr>
              <a:t> − F</a:t>
            </a:r>
            <a:r>
              <a:rPr lang="en-US" sz="1500" baseline="-40000" dirty="0">
                <a:solidFill>
                  <a:schemeClr val="tx1"/>
                </a:solidFill>
              </a:rPr>
              <a:t>o</a:t>
            </a:r>
            <a:endParaRPr lang="en-US" sz="1500" dirty="0"/>
          </a:p>
        </p:txBody>
      </p:sp>
      <p:sp>
        <p:nvSpPr>
          <p:cNvPr id="7" name="formula row"/>
          <p:cNvSpPr/>
          <p:nvPr/>
        </p:nvSpPr>
        <p:spPr>
          <a:xfrm>
            <a:off x="548640" y="1984248"/>
            <a:ext cx="5440680" cy="566928"/>
          </a:xfrm>
          <a:prstGeom prst="roundRect">
            <a:avLst>
              <a:gd name="adj" fmla="val 9677"/>
            </a:avLst>
          </a:prstGeom>
          <a:solidFill>
            <a:schemeClr val="bg1"/>
          </a:solidFill>
          <a:ln w="9525">
            <a:solidFill>
              <a:srgbClr val="D5DED8"/>
            </a:solidFill>
            <a:prstDash val="solid"/>
          </a:ln>
        </p:spPr>
      </p:sp>
      <p:sp>
        <p:nvSpPr>
          <p:cNvPr id="8" name="Text 5"/>
          <p:cNvSpPr txBox="1"/>
          <p:nvPr/>
        </p:nvSpPr>
        <p:spPr>
          <a:xfrm>
            <a:off x="685800" y="1984248"/>
            <a:ext cx="1508760" cy="566928"/>
          </a:xfrm>
          <a:prstGeom prst="rect">
            <a:avLst/>
          </a:prstGeom>
          <a:noFill/>
          <a:ln/>
        </p:spPr>
        <p:txBody>
          <a:bodyPr wrap="square" lIns="0" tIns="0" rIns="0" bIns="0" rtlCol="0" anchor="ctr"/>
          <a:lstStyle/>
          <a:p>
            <a:pPr indent="0" marL="0">
              <a:buNone/>
            </a:pPr>
            <a:r>
              <a:rPr lang="en-US" sz="1500" b="1" dirty="0">
                <a:solidFill>
                  <a:schemeClr val="accent1"/>
                </a:solidFill>
              </a:rPr>
              <a:t>F</a:t>
            </a:r>
            <a:r>
              <a:rPr lang="en-US" sz="1500" b="1" baseline="-40000" dirty="0">
                <a:solidFill>
                  <a:schemeClr val="accent1"/>
                </a:solidFill>
              </a:rPr>
              <a:t>v</a:t>
            </a:r>
            <a:r>
              <a:rPr lang="en-US" sz="1500" b="1" dirty="0">
                <a:solidFill>
                  <a:schemeClr val="accent1"/>
                </a:solidFill>
              </a:rPr>
              <a:t>/F</a:t>
            </a:r>
            <a:r>
              <a:rPr lang="en-US" sz="1500" b="1" baseline="-40000" dirty="0">
                <a:solidFill>
                  <a:schemeClr val="accent1"/>
                </a:solidFill>
              </a:rPr>
              <a:t>m</a:t>
            </a:r>
            <a:endParaRPr lang="en-US" sz="1500" dirty="0"/>
          </a:p>
        </p:txBody>
      </p:sp>
      <p:sp>
        <p:nvSpPr>
          <p:cNvPr id="9" name="Text 6"/>
          <p:cNvSpPr txBox="1"/>
          <p:nvPr/>
        </p:nvSpPr>
        <p:spPr>
          <a:xfrm>
            <a:off x="2240280" y="1984248"/>
            <a:ext cx="3657600" cy="566928"/>
          </a:xfrm>
          <a:prstGeom prst="rect">
            <a:avLst/>
          </a:prstGeom>
          <a:noFill/>
          <a:ln/>
        </p:spPr>
        <p:txBody>
          <a:bodyPr wrap="square" lIns="0" tIns="0" rIns="0" bIns="0" rtlCol="0" anchor="ctr"/>
          <a:lstStyle/>
          <a:p>
            <a:pPr indent="0" marL="0">
              <a:buNone/>
            </a:pPr>
            <a:r>
              <a:rPr lang="en-US" sz="1500" dirty="0">
                <a:solidFill>
                  <a:schemeClr val="tx1"/>
                </a:solidFill>
              </a:rPr>
              <a:t>(F</a:t>
            </a:r>
            <a:r>
              <a:rPr lang="en-US" sz="1500" baseline="-40000" dirty="0">
                <a:solidFill>
                  <a:schemeClr val="tx1"/>
                </a:solidFill>
              </a:rPr>
              <a:t>m</a:t>
            </a:r>
            <a:r>
              <a:rPr lang="en-US" sz="1500" dirty="0">
                <a:solidFill>
                  <a:schemeClr val="tx1"/>
                </a:solidFill>
              </a:rPr>
              <a:t> − F</a:t>
            </a:r>
            <a:r>
              <a:rPr lang="en-US" sz="1500" baseline="-40000" dirty="0">
                <a:solidFill>
                  <a:schemeClr val="tx1"/>
                </a:solidFill>
              </a:rPr>
              <a:t>o</a:t>
            </a:r>
            <a:r>
              <a:rPr lang="en-US" sz="1500" dirty="0">
                <a:solidFill>
                  <a:schemeClr val="tx1"/>
                </a:solidFill>
              </a:rPr>
              <a:t>)/F</a:t>
            </a:r>
            <a:r>
              <a:rPr lang="en-US" sz="1500" baseline="-40000" dirty="0">
                <a:solidFill>
                  <a:schemeClr val="tx1"/>
                </a:solidFill>
              </a:rPr>
              <a:t>m</a:t>
            </a:r>
            <a:r>
              <a:rPr lang="en-US" sz="1500" dirty="0">
                <a:solidFill>
                  <a:schemeClr val="tx1"/>
                </a:solidFill>
              </a:rPr>
              <a:t>  ≈ 0.83 healthy</a:t>
            </a:r>
            <a:endParaRPr lang="en-US" sz="1500" dirty="0"/>
          </a:p>
        </p:txBody>
      </p:sp>
      <p:sp>
        <p:nvSpPr>
          <p:cNvPr id="10" name="formula row"/>
          <p:cNvSpPr/>
          <p:nvPr/>
        </p:nvSpPr>
        <p:spPr>
          <a:xfrm>
            <a:off x="548640" y="2642616"/>
            <a:ext cx="5440680" cy="566928"/>
          </a:xfrm>
          <a:prstGeom prst="roundRect">
            <a:avLst>
              <a:gd name="adj" fmla="val 9677"/>
            </a:avLst>
          </a:prstGeom>
          <a:solidFill>
            <a:schemeClr val="bg2"/>
          </a:solidFill>
          <a:ln w="9525">
            <a:solidFill>
              <a:srgbClr val="D5DED8"/>
            </a:solidFill>
            <a:prstDash val="solid"/>
          </a:ln>
        </p:spPr>
      </p:sp>
      <p:sp>
        <p:nvSpPr>
          <p:cNvPr id="11" name="Text 8"/>
          <p:cNvSpPr txBox="1"/>
          <p:nvPr/>
        </p:nvSpPr>
        <p:spPr>
          <a:xfrm>
            <a:off x="685800" y="2642616"/>
            <a:ext cx="1508760" cy="566928"/>
          </a:xfrm>
          <a:prstGeom prst="rect">
            <a:avLst/>
          </a:prstGeom>
          <a:noFill/>
          <a:ln/>
        </p:spPr>
        <p:txBody>
          <a:bodyPr wrap="square" lIns="0" tIns="0" rIns="0" bIns="0" rtlCol="0" anchor="ctr"/>
          <a:lstStyle/>
          <a:p>
            <a:pPr indent="0" marL="0">
              <a:buNone/>
            </a:pPr>
            <a:r>
              <a:rPr lang="en-US" sz="1500" b="1" dirty="0">
                <a:solidFill>
                  <a:schemeClr val="accent1"/>
                </a:solidFill>
              </a:rPr>
              <a:t>F</a:t>
            </a:r>
            <a:r>
              <a:rPr lang="en-US" sz="1500" b="1" baseline="-40000" dirty="0">
                <a:solidFill>
                  <a:schemeClr val="accent1"/>
                </a:solidFill>
              </a:rPr>
              <a:t>q</a:t>
            </a:r>
            <a:r>
              <a:rPr lang="en-US" sz="1500" b="1" dirty="0">
                <a:solidFill>
                  <a:schemeClr val="accent1"/>
                </a:solidFill>
              </a:rPr>
              <a:t>′</a:t>
            </a:r>
            <a:endParaRPr lang="en-US" sz="1500" dirty="0"/>
          </a:p>
        </p:txBody>
      </p:sp>
      <p:sp>
        <p:nvSpPr>
          <p:cNvPr id="12" name="Text 9"/>
          <p:cNvSpPr txBox="1"/>
          <p:nvPr/>
        </p:nvSpPr>
        <p:spPr>
          <a:xfrm>
            <a:off x="2240280" y="2642616"/>
            <a:ext cx="3657600" cy="566928"/>
          </a:xfrm>
          <a:prstGeom prst="rect">
            <a:avLst/>
          </a:prstGeom>
          <a:noFill/>
          <a:ln/>
        </p:spPr>
        <p:txBody>
          <a:bodyPr wrap="square" lIns="0" tIns="0" rIns="0" bIns="0" rtlCol="0" anchor="ctr"/>
          <a:lstStyle/>
          <a:p>
            <a:pPr indent="0" marL="0">
              <a:buNone/>
            </a:pPr>
            <a:r>
              <a:rPr lang="en-US" sz="1500" dirty="0">
                <a:solidFill>
                  <a:schemeClr val="tx1"/>
                </a:solidFill>
              </a:rPr>
              <a:t>F</a:t>
            </a:r>
            <a:r>
              <a:rPr lang="en-US" sz="1500" baseline="-40000" dirty="0">
                <a:solidFill>
                  <a:schemeClr val="tx1"/>
                </a:solidFill>
              </a:rPr>
              <a:t>m</a:t>
            </a:r>
            <a:r>
              <a:rPr lang="en-US" sz="1500" dirty="0">
                <a:solidFill>
                  <a:schemeClr val="tx1"/>
                </a:solidFill>
              </a:rPr>
              <a:t>′ − F′</a:t>
            </a:r>
            <a:endParaRPr lang="en-US" sz="1500" dirty="0"/>
          </a:p>
        </p:txBody>
      </p:sp>
      <p:sp>
        <p:nvSpPr>
          <p:cNvPr id="13" name="formula row"/>
          <p:cNvSpPr/>
          <p:nvPr/>
        </p:nvSpPr>
        <p:spPr>
          <a:xfrm>
            <a:off x="548640" y="3300984"/>
            <a:ext cx="5440680" cy="566928"/>
          </a:xfrm>
          <a:prstGeom prst="roundRect">
            <a:avLst>
              <a:gd name="adj" fmla="val 9677"/>
            </a:avLst>
          </a:prstGeom>
          <a:solidFill>
            <a:schemeClr val="bg1"/>
          </a:solidFill>
          <a:ln w="9525">
            <a:solidFill>
              <a:srgbClr val="D5DED8"/>
            </a:solidFill>
            <a:prstDash val="solid"/>
          </a:ln>
        </p:spPr>
      </p:sp>
      <p:sp>
        <p:nvSpPr>
          <p:cNvPr id="14" name="Text 11"/>
          <p:cNvSpPr txBox="1"/>
          <p:nvPr/>
        </p:nvSpPr>
        <p:spPr>
          <a:xfrm>
            <a:off x="685800" y="3300984"/>
            <a:ext cx="1508760" cy="566928"/>
          </a:xfrm>
          <a:prstGeom prst="rect">
            <a:avLst/>
          </a:prstGeom>
          <a:noFill/>
          <a:ln/>
        </p:spPr>
        <p:txBody>
          <a:bodyPr wrap="square" lIns="0" tIns="0" rIns="0" bIns="0" rtlCol="0" anchor="ctr"/>
          <a:lstStyle/>
          <a:p>
            <a:pPr indent="0" marL="0">
              <a:buNone/>
            </a:pPr>
            <a:r>
              <a:rPr lang="en-US" sz="1500" b="1" dirty="0">
                <a:solidFill>
                  <a:schemeClr val="accent1"/>
                </a:solidFill>
              </a:rPr>
              <a:t>F</a:t>
            </a:r>
            <a:r>
              <a:rPr lang="en-US" sz="1500" b="1" baseline="-40000" dirty="0">
                <a:solidFill>
                  <a:schemeClr val="accent1"/>
                </a:solidFill>
              </a:rPr>
              <a:t>v</a:t>
            </a:r>
            <a:r>
              <a:rPr lang="en-US" sz="1500" b="1" dirty="0">
                <a:solidFill>
                  <a:schemeClr val="accent1"/>
                </a:solidFill>
              </a:rPr>
              <a:t>′</a:t>
            </a:r>
            <a:endParaRPr lang="en-US" sz="1500" dirty="0"/>
          </a:p>
        </p:txBody>
      </p:sp>
      <p:sp>
        <p:nvSpPr>
          <p:cNvPr id="15" name="Text 12"/>
          <p:cNvSpPr txBox="1"/>
          <p:nvPr/>
        </p:nvSpPr>
        <p:spPr>
          <a:xfrm>
            <a:off x="2240280" y="3300984"/>
            <a:ext cx="3657600" cy="566928"/>
          </a:xfrm>
          <a:prstGeom prst="rect">
            <a:avLst/>
          </a:prstGeom>
          <a:noFill/>
          <a:ln/>
        </p:spPr>
        <p:txBody>
          <a:bodyPr wrap="square" lIns="0" tIns="0" rIns="0" bIns="0" rtlCol="0" anchor="ctr"/>
          <a:lstStyle/>
          <a:p>
            <a:pPr indent="0" marL="0">
              <a:buNone/>
            </a:pPr>
            <a:r>
              <a:rPr lang="en-US" sz="1500" dirty="0">
                <a:solidFill>
                  <a:schemeClr val="tx1"/>
                </a:solidFill>
              </a:rPr>
              <a:t>F</a:t>
            </a:r>
            <a:r>
              <a:rPr lang="en-US" sz="1500" baseline="-40000" dirty="0">
                <a:solidFill>
                  <a:schemeClr val="tx1"/>
                </a:solidFill>
              </a:rPr>
              <a:t>m</a:t>
            </a:r>
            <a:r>
              <a:rPr lang="en-US" sz="1500" dirty="0">
                <a:solidFill>
                  <a:schemeClr val="tx1"/>
                </a:solidFill>
              </a:rPr>
              <a:t>′ − F</a:t>
            </a:r>
            <a:r>
              <a:rPr lang="en-US" sz="1500" baseline="-40000" dirty="0">
                <a:solidFill>
                  <a:schemeClr val="tx1"/>
                </a:solidFill>
              </a:rPr>
              <a:t>o</a:t>
            </a:r>
            <a:r>
              <a:rPr lang="en-US" sz="1500" dirty="0">
                <a:solidFill>
                  <a:schemeClr val="tx1"/>
                </a:solidFill>
              </a:rPr>
              <a:t>′</a:t>
            </a:r>
            <a:endParaRPr lang="en-US" sz="1500" dirty="0"/>
          </a:p>
        </p:txBody>
      </p:sp>
      <p:sp>
        <p:nvSpPr>
          <p:cNvPr id="16" name="formula row"/>
          <p:cNvSpPr/>
          <p:nvPr/>
        </p:nvSpPr>
        <p:spPr>
          <a:xfrm>
            <a:off x="548640" y="3959352"/>
            <a:ext cx="5440680" cy="566928"/>
          </a:xfrm>
          <a:prstGeom prst="roundRect">
            <a:avLst>
              <a:gd name="adj" fmla="val 9677"/>
            </a:avLst>
          </a:prstGeom>
          <a:solidFill>
            <a:schemeClr val="bg2"/>
          </a:solidFill>
          <a:ln w="9525">
            <a:solidFill>
              <a:srgbClr val="D5DED8"/>
            </a:solidFill>
            <a:prstDash val="solid"/>
          </a:ln>
        </p:spPr>
      </p:sp>
      <p:sp>
        <p:nvSpPr>
          <p:cNvPr id="17" name="Text 14"/>
          <p:cNvSpPr txBox="1"/>
          <p:nvPr/>
        </p:nvSpPr>
        <p:spPr>
          <a:xfrm>
            <a:off x="685800" y="3959352"/>
            <a:ext cx="1508760" cy="566928"/>
          </a:xfrm>
          <a:prstGeom prst="rect">
            <a:avLst/>
          </a:prstGeom>
          <a:noFill/>
          <a:ln/>
        </p:spPr>
        <p:txBody>
          <a:bodyPr wrap="square" lIns="0" tIns="0" rIns="0" bIns="0" rtlCol="0" anchor="ctr"/>
          <a:lstStyle/>
          <a:p>
            <a:pPr indent="0" marL="0">
              <a:buNone/>
            </a:pPr>
            <a:r>
              <a:rPr lang="en-US" sz="1500" b="1" dirty="0">
                <a:solidFill>
                  <a:schemeClr val="accent1"/>
                </a:solidFill>
              </a:rPr>
              <a:t>Φ</a:t>
            </a:r>
            <a:r>
              <a:rPr lang="en-US" sz="1500" b="1" baseline="-40000" dirty="0">
                <a:solidFill>
                  <a:schemeClr val="accent1"/>
                </a:solidFill>
              </a:rPr>
              <a:t>PSII</a:t>
            </a:r>
            <a:endParaRPr lang="en-US" sz="1500" dirty="0"/>
          </a:p>
        </p:txBody>
      </p:sp>
      <p:sp>
        <p:nvSpPr>
          <p:cNvPr id="18" name="Text 15"/>
          <p:cNvSpPr txBox="1"/>
          <p:nvPr/>
        </p:nvSpPr>
        <p:spPr>
          <a:xfrm>
            <a:off x="2240280" y="3959352"/>
            <a:ext cx="3657600" cy="566928"/>
          </a:xfrm>
          <a:prstGeom prst="rect">
            <a:avLst/>
          </a:prstGeom>
          <a:noFill/>
          <a:ln/>
        </p:spPr>
        <p:txBody>
          <a:bodyPr wrap="square" lIns="0" tIns="0" rIns="0" bIns="0" rtlCol="0" anchor="ctr"/>
          <a:lstStyle/>
          <a:p>
            <a:pPr indent="0" marL="0">
              <a:buNone/>
            </a:pPr>
            <a:r>
              <a:rPr lang="en-US" sz="1500" dirty="0">
                <a:solidFill>
                  <a:schemeClr val="tx1"/>
                </a:solidFill>
              </a:rPr>
              <a:t>(F</a:t>
            </a:r>
            <a:r>
              <a:rPr lang="en-US" sz="1500" baseline="-40000" dirty="0">
                <a:solidFill>
                  <a:schemeClr val="tx1"/>
                </a:solidFill>
              </a:rPr>
              <a:t>m</a:t>
            </a:r>
            <a:r>
              <a:rPr lang="en-US" sz="1500" dirty="0">
                <a:solidFill>
                  <a:schemeClr val="tx1"/>
                </a:solidFill>
              </a:rPr>
              <a:t>′ − F′)/F</a:t>
            </a:r>
            <a:r>
              <a:rPr lang="en-US" sz="1500" baseline="-40000" dirty="0">
                <a:solidFill>
                  <a:schemeClr val="tx1"/>
                </a:solidFill>
              </a:rPr>
              <a:t>m</a:t>
            </a:r>
            <a:r>
              <a:rPr lang="en-US" sz="1500" dirty="0">
                <a:solidFill>
                  <a:schemeClr val="tx1"/>
                </a:solidFill>
              </a:rPr>
              <a:t>′ = qP × F</a:t>
            </a:r>
            <a:r>
              <a:rPr lang="en-US" sz="1500" baseline="-40000" dirty="0">
                <a:solidFill>
                  <a:schemeClr val="tx1"/>
                </a:solidFill>
              </a:rPr>
              <a:t>v</a:t>
            </a:r>
            <a:r>
              <a:rPr lang="en-US" sz="1500" dirty="0">
                <a:solidFill>
                  <a:schemeClr val="tx1"/>
                </a:solidFill>
              </a:rPr>
              <a:t>′/F</a:t>
            </a:r>
            <a:r>
              <a:rPr lang="en-US" sz="1500" baseline="-40000" dirty="0">
                <a:solidFill>
                  <a:schemeClr val="tx1"/>
                </a:solidFill>
              </a:rPr>
              <a:t>m</a:t>
            </a:r>
            <a:r>
              <a:rPr lang="en-US" sz="1500" dirty="0">
                <a:solidFill>
                  <a:schemeClr val="tx1"/>
                </a:solidFill>
              </a:rPr>
              <a:t>′</a:t>
            </a:r>
            <a:endParaRPr lang="en-US" sz="1500" dirty="0"/>
          </a:p>
        </p:txBody>
      </p:sp>
      <p:sp>
        <p:nvSpPr>
          <p:cNvPr id="19" name="formula row"/>
          <p:cNvSpPr/>
          <p:nvPr/>
        </p:nvSpPr>
        <p:spPr>
          <a:xfrm>
            <a:off x="548640" y="4617720"/>
            <a:ext cx="5440680" cy="566928"/>
          </a:xfrm>
          <a:prstGeom prst="roundRect">
            <a:avLst>
              <a:gd name="adj" fmla="val 9677"/>
            </a:avLst>
          </a:prstGeom>
          <a:solidFill>
            <a:schemeClr val="bg1"/>
          </a:solidFill>
          <a:ln w="9525">
            <a:solidFill>
              <a:srgbClr val="D5DED8"/>
            </a:solidFill>
            <a:prstDash val="solid"/>
          </a:ln>
        </p:spPr>
      </p:sp>
      <p:sp>
        <p:nvSpPr>
          <p:cNvPr id="20" name="Text 17"/>
          <p:cNvSpPr txBox="1"/>
          <p:nvPr/>
        </p:nvSpPr>
        <p:spPr>
          <a:xfrm>
            <a:off x="685800" y="4617720"/>
            <a:ext cx="1508760" cy="566928"/>
          </a:xfrm>
          <a:prstGeom prst="rect">
            <a:avLst/>
          </a:prstGeom>
          <a:noFill/>
          <a:ln/>
        </p:spPr>
        <p:txBody>
          <a:bodyPr wrap="square" lIns="0" tIns="0" rIns="0" bIns="0" rtlCol="0" anchor="ctr"/>
          <a:lstStyle/>
          <a:p>
            <a:pPr indent="0" marL="0">
              <a:buNone/>
            </a:pPr>
            <a:r>
              <a:rPr lang="en-US" sz="1500" b="1" dirty="0">
                <a:solidFill>
                  <a:schemeClr val="accent1"/>
                </a:solidFill>
              </a:rPr>
              <a:t>qP</a:t>
            </a:r>
            <a:endParaRPr lang="en-US" sz="1500" dirty="0"/>
          </a:p>
        </p:txBody>
      </p:sp>
      <p:sp>
        <p:nvSpPr>
          <p:cNvPr id="21" name="Text 18"/>
          <p:cNvSpPr txBox="1"/>
          <p:nvPr/>
        </p:nvSpPr>
        <p:spPr>
          <a:xfrm>
            <a:off x="2240280" y="4617720"/>
            <a:ext cx="3657600" cy="566928"/>
          </a:xfrm>
          <a:prstGeom prst="rect">
            <a:avLst/>
          </a:prstGeom>
          <a:noFill/>
          <a:ln/>
        </p:spPr>
        <p:txBody>
          <a:bodyPr wrap="square" lIns="0" tIns="0" rIns="0" bIns="0" rtlCol="0" anchor="ctr"/>
          <a:lstStyle/>
          <a:p>
            <a:pPr indent="0" marL="0">
              <a:buNone/>
            </a:pPr>
            <a:r>
              <a:rPr lang="en-US" sz="1500" dirty="0">
                <a:solidFill>
                  <a:schemeClr val="tx1"/>
                </a:solidFill>
              </a:rPr>
              <a:t>(F</a:t>
            </a:r>
            <a:r>
              <a:rPr lang="en-US" sz="1500" baseline="-40000" dirty="0">
                <a:solidFill>
                  <a:schemeClr val="tx1"/>
                </a:solidFill>
              </a:rPr>
              <a:t>m</a:t>
            </a:r>
            <a:r>
              <a:rPr lang="en-US" sz="1500" dirty="0">
                <a:solidFill>
                  <a:schemeClr val="tx1"/>
                </a:solidFill>
              </a:rPr>
              <a:t>′ − F′)/(F</a:t>
            </a:r>
            <a:r>
              <a:rPr lang="en-US" sz="1500" baseline="-40000" dirty="0">
                <a:solidFill>
                  <a:schemeClr val="tx1"/>
                </a:solidFill>
              </a:rPr>
              <a:t>m</a:t>
            </a:r>
            <a:r>
              <a:rPr lang="en-US" sz="1500" dirty="0">
                <a:solidFill>
                  <a:schemeClr val="tx1"/>
                </a:solidFill>
              </a:rPr>
              <a:t>′ − F</a:t>
            </a:r>
            <a:r>
              <a:rPr lang="en-US" sz="1500" baseline="-40000" dirty="0">
                <a:solidFill>
                  <a:schemeClr val="tx1"/>
                </a:solidFill>
              </a:rPr>
              <a:t>o</a:t>
            </a:r>
            <a:r>
              <a:rPr lang="en-US" sz="1500" dirty="0">
                <a:solidFill>
                  <a:schemeClr val="tx1"/>
                </a:solidFill>
              </a:rPr>
              <a:t>′)</a:t>
            </a:r>
            <a:endParaRPr lang="en-US" sz="1500" dirty="0"/>
          </a:p>
        </p:txBody>
      </p:sp>
      <p:sp>
        <p:nvSpPr>
          <p:cNvPr id="22" name="formula row"/>
          <p:cNvSpPr/>
          <p:nvPr/>
        </p:nvSpPr>
        <p:spPr>
          <a:xfrm>
            <a:off x="548640" y="5276088"/>
            <a:ext cx="5440680" cy="566928"/>
          </a:xfrm>
          <a:prstGeom prst="roundRect">
            <a:avLst>
              <a:gd name="adj" fmla="val 9677"/>
            </a:avLst>
          </a:prstGeom>
          <a:solidFill>
            <a:schemeClr val="bg2"/>
          </a:solidFill>
          <a:ln w="9525">
            <a:solidFill>
              <a:srgbClr val="D5DED8"/>
            </a:solidFill>
            <a:prstDash val="solid"/>
          </a:ln>
        </p:spPr>
      </p:sp>
      <p:sp>
        <p:nvSpPr>
          <p:cNvPr id="23" name="Text 20"/>
          <p:cNvSpPr txBox="1"/>
          <p:nvPr/>
        </p:nvSpPr>
        <p:spPr>
          <a:xfrm>
            <a:off x="685800" y="5276088"/>
            <a:ext cx="1508760" cy="566928"/>
          </a:xfrm>
          <a:prstGeom prst="rect">
            <a:avLst/>
          </a:prstGeom>
          <a:noFill/>
          <a:ln/>
        </p:spPr>
        <p:txBody>
          <a:bodyPr wrap="square" lIns="0" tIns="0" rIns="0" bIns="0" rtlCol="0" anchor="ctr"/>
          <a:lstStyle/>
          <a:p>
            <a:pPr indent="0" marL="0">
              <a:buNone/>
            </a:pPr>
            <a:r>
              <a:rPr lang="en-US" sz="1500" b="1" dirty="0">
                <a:solidFill>
                  <a:schemeClr val="accent1"/>
                </a:solidFill>
              </a:rPr>
              <a:t>qL</a:t>
            </a:r>
            <a:endParaRPr lang="en-US" sz="1500" dirty="0"/>
          </a:p>
        </p:txBody>
      </p:sp>
      <p:sp>
        <p:nvSpPr>
          <p:cNvPr id="24" name="Text 21"/>
          <p:cNvSpPr txBox="1"/>
          <p:nvPr/>
        </p:nvSpPr>
        <p:spPr>
          <a:xfrm>
            <a:off x="2240280" y="5276088"/>
            <a:ext cx="3657600" cy="566928"/>
          </a:xfrm>
          <a:prstGeom prst="rect">
            <a:avLst/>
          </a:prstGeom>
          <a:noFill/>
          <a:ln/>
        </p:spPr>
        <p:txBody>
          <a:bodyPr wrap="square" lIns="0" tIns="0" rIns="0" bIns="0" rtlCol="0" anchor="ctr"/>
          <a:lstStyle/>
          <a:p>
            <a:pPr indent="0" marL="0">
              <a:buNone/>
            </a:pPr>
            <a:r>
              <a:rPr lang="en-US" sz="1500" dirty="0">
                <a:solidFill>
                  <a:schemeClr val="tx1"/>
                </a:solidFill>
              </a:rPr>
              <a:t>qP × F</a:t>
            </a:r>
            <a:r>
              <a:rPr lang="en-US" sz="1500" baseline="-40000" dirty="0">
                <a:solidFill>
                  <a:schemeClr val="tx1"/>
                </a:solidFill>
              </a:rPr>
              <a:t>o</a:t>
            </a:r>
            <a:r>
              <a:rPr lang="en-US" sz="1500" dirty="0">
                <a:solidFill>
                  <a:schemeClr val="tx1"/>
                </a:solidFill>
              </a:rPr>
              <a:t>′/F′</a:t>
            </a:r>
            <a:endParaRPr lang="en-US" sz="1500" dirty="0"/>
          </a:p>
        </p:txBody>
      </p:sp>
      <p:sp>
        <p:nvSpPr>
          <p:cNvPr id="25" name="formula row"/>
          <p:cNvSpPr/>
          <p:nvPr/>
        </p:nvSpPr>
        <p:spPr>
          <a:xfrm>
            <a:off x="6199632" y="1325880"/>
            <a:ext cx="5440680" cy="566928"/>
          </a:xfrm>
          <a:prstGeom prst="roundRect">
            <a:avLst>
              <a:gd name="adj" fmla="val 9677"/>
            </a:avLst>
          </a:prstGeom>
          <a:solidFill>
            <a:schemeClr val="bg2"/>
          </a:solidFill>
          <a:ln w="9525">
            <a:solidFill>
              <a:srgbClr val="D5DED8"/>
            </a:solidFill>
            <a:prstDash val="solid"/>
          </a:ln>
        </p:spPr>
      </p:sp>
      <p:sp>
        <p:nvSpPr>
          <p:cNvPr id="26" name="Text 23"/>
          <p:cNvSpPr txBox="1"/>
          <p:nvPr/>
        </p:nvSpPr>
        <p:spPr>
          <a:xfrm>
            <a:off x="6336792" y="1325880"/>
            <a:ext cx="1508760" cy="566928"/>
          </a:xfrm>
          <a:prstGeom prst="rect">
            <a:avLst/>
          </a:prstGeom>
          <a:noFill/>
          <a:ln/>
        </p:spPr>
        <p:txBody>
          <a:bodyPr wrap="square" lIns="0" tIns="0" rIns="0" bIns="0" rtlCol="0" anchor="ctr"/>
          <a:lstStyle/>
          <a:p>
            <a:pPr indent="0" marL="0">
              <a:buNone/>
            </a:pPr>
            <a:r>
              <a:rPr lang="en-US" sz="1500" b="1" dirty="0">
                <a:solidFill>
                  <a:schemeClr val="accent2"/>
                </a:solidFill>
              </a:rPr>
              <a:t>NPQ</a:t>
            </a:r>
            <a:endParaRPr lang="en-US" sz="1500" dirty="0"/>
          </a:p>
        </p:txBody>
      </p:sp>
      <p:sp>
        <p:nvSpPr>
          <p:cNvPr id="27" name="Text 24"/>
          <p:cNvSpPr txBox="1"/>
          <p:nvPr/>
        </p:nvSpPr>
        <p:spPr>
          <a:xfrm>
            <a:off x="7891272" y="1325880"/>
            <a:ext cx="3657600" cy="566928"/>
          </a:xfrm>
          <a:prstGeom prst="rect">
            <a:avLst/>
          </a:prstGeom>
          <a:noFill/>
          <a:ln/>
        </p:spPr>
        <p:txBody>
          <a:bodyPr wrap="square" lIns="0" tIns="0" rIns="0" bIns="0" rtlCol="0" anchor="ctr"/>
          <a:lstStyle/>
          <a:p>
            <a:pPr indent="0" marL="0">
              <a:buNone/>
            </a:pPr>
            <a:r>
              <a:rPr lang="en-US" sz="1500" dirty="0">
                <a:solidFill>
                  <a:schemeClr val="tx1"/>
                </a:solidFill>
              </a:rPr>
              <a:t>(F</a:t>
            </a:r>
            <a:r>
              <a:rPr lang="en-US" sz="1500" baseline="-40000" dirty="0">
                <a:solidFill>
                  <a:schemeClr val="tx1"/>
                </a:solidFill>
              </a:rPr>
              <a:t>m</a:t>
            </a:r>
            <a:r>
              <a:rPr lang="en-US" sz="1500" dirty="0">
                <a:solidFill>
                  <a:schemeClr val="tx1"/>
                </a:solidFill>
              </a:rPr>
              <a:t> − F</a:t>
            </a:r>
            <a:r>
              <a:rPr lang="en-US" sz="1500" baseline="-40000" dirty="0">
                <a:solidFill>
                  <a:schemeClr val="tx1"/>
                </a:solidFill>
              </a:rPr>
              <a:t>m</a:t>
            </a:r>
            <a:r>
              <a:rPr lang="en-US" sz="1500" dirty="0">
                <a:solidFill>
                  <a:schemeClr val="tx1"/>
                </a:solidFill>
              </a:rPr>
              <a:t>′)/F</a:t>
            </a:r>
            <a:r>
              <a:rPr lang="en-US" sz="1500" baseline="-40000" dirty="0">
                <a:solidFill>
                  <a:schemeClr val="tx1"/>
                </a:solidFill>
              </a:rPr>
              <a:t>m</a:t>
            </a:r>
            <a:r>
              <a:rPr lang="en-US" sz="1500" dirty="0">
                <a:solidFill>
                  <a:schemeClr val="tx1"/>
                </a:solidFill>
              </a:rPr>
              <a:t>′</a:t>
            </a:r>
            <a:endParaRPr lang="en-US" sz="1500" dirty="0"/>
          </a:p>
        </p:txBody>
      </p:sp>
      <p:sp>
        <p:nvSpPr>
          <p:cNvPr id="28" name="formula row"/>
          <p:cNvSpPr/>
          <p:nvPr/>
        </p:nvSpPr>
        <p:spPr>
          <a:xfrm>
            <a:off x="6199632" y="1984248"/>
            <a:ext cx="5440680" cy="566928"/>
          </a:xfrm>
          <a:prstGeom prst="roundRect">
            <a:avLst>
              <a:gd name="adj" fmla="val 9677"/>
            </a:avLst>
          </a:prstGeom>
          <a:solidFill>
            <a:schemeClr val="bg1"/>
          </a:solidFill>
          <a:ln w="9525">
            <a:solidFill>
              <a:srgbClr val="D5DED8"/>
            </a:solidFill>
            <a:prstDash val="solid"/>
          </a:ln>
        </p:spPr>
      </p:sp>
      <p:sp>
        <p:nvSpPr>
          <p:cNvPr id="29" name="Text 26"/>
          <p:cNvSpPr txBox="1"/>
          <p:nvPr/>
        </p:nvSpPr>
        <p:spPr>
          <a:xfrm>
            <a:off x="6336792" y="1984248"/>
            <a:ext cx="1508760" cy="566928"/>
          </a:xfrm>
          <a:prstGeom prst="rect">
            <a:avLst/>
          </a:prstGeom>
          <a:noFill/>
          <a:ln/>
        </p:spPr>
        <p:txBody>
          <a:bodyPr wrap="square" lIns="0" tIns="0" rIns="0" bIns="0" rtlCol="0" anchor="ctr"/>
          <a:lstStyle/>
          <a:p>
            <a:pPr indent="0" marL="0">
              <a:buNone/>
            </a:pPr>
            <a:r>
              <a:rPr lang="en-US" sz="1500" b="1" dirty="0">
                <a:solidFill>
                  <a:schemeClr val="accent2"/>
                </a:solidFill>
              </a:rPr>
              <a:t>qN (old)</a:t>
            </a:r>
            <a:endParaRPr lang="en-US" sz="1500" dirty="0"/>
          </a:p>
        </p:txBody>
      </p:sp>
      <p:sp>
        <p:nvSpPr>
          <p:cNvPr id="30" name="Text 27"/>
          <p:cNvSpPr txBox="1"/>
          <p:nvPr/>
        </p:nvSpPr>
        <p:spPr>
          <a:xfrm>
            <a:off x="7891272" y="1984248"/>
            <a:ext cx="3657600" cy="566928"/>
          </a:xfrm>
          <a:prstGeom prst="rect">
            <a:avLst/>
          </a:prstGeom>
          <a:noFill/>
          <a:ln/>
        </p:spPr>
        <p:txBody>
          <a:bodyPr wrap="square" lIns="0" tIns="0" rIns="0" bIns="0" rtlCol="0" anchor="ctr"/>
          <a:lstStyle/>
          <a:p>
            <a:pPr indent="0" marL="0">
              <a:buNone/>
            </a:pPr>
            <a:r>
              <a:rPr lang="en-US" sz="1500" dirty="0">
                <a:solidFill>
                  <a:schemeClr val="tx1"/>
                </a:solidFill>
              </a:rPr>
              <a:t>1 − (F</a:t>
            </a:r>
            <a:r>
              <a:rPr lang="en-US" sz="1500" baseline="-40000" dirty="0">
                <a:solidFill>
                  <a:schemeClr val="tx1"/>
                </a:solidFill>
              </a:rPr>
              <a:t>m</a:t>
            </a:r>
            <a:r>
              <a:rPr lang="en-US" sz="1500" dirty="0">
                <a:solidFill>
                  <a:schemeClr val="tx1"/>
                </a:solidFill>
              </a:rPr>
              <a:t>′ − F</a:t>
            </a:r>
            <a:r>
              <a:rPr lang="en-US" sz="1500" baseline="-40000" dirty="0">
                <a:solidFill>
                  <a:schemeClr val="tx1"/>
                </a:solidFill>
              </a:rPr>
              <a:t>o</a:t>
            </a:r>
            <a:r>
              <a:rPr lang="en-US" sz="1500" dirty="0">
                <a:solidFill>
                  <a:schemeClr val="tx1"/>
                </a:solidFill>
              </a:rPr>
              <a:t>′)/(F</a:t>
            </a:r>
            <a:r>
              <a:rPr lang="en-US" sz="1500" baseline="-40000" dirty="0">
                <a:solidFill>
                  <a:schemeClr val="tx1"/>
                </a:solidFill>
              </a:rPr>
              <a:t>m</a:t>
            </a:r>
            <a:r>
              <a:rPr lang="en-US" sz="1500" dirty="0">
                <a:solidFill>
                  <a:schemeClr val="tx1"/>
                </a:solidFill>
              </a:rPr>
              <a:t> − F</a:t>
            </a:r>
            <a:r>
              <a:rPr lang="en-US" sz="1500" baseline="-40000" dirty="0">
                <a:solidFill>
                  <a:schemeClr val="tx1"/>
                </a:solidFill>
              </a:rPr>
              <a:t>o</a:t>
            </a:r>
            <a:r>
              <a:rPr lang="en-US" sz="1500" dirty="0">
                <a:solidFill>
                  <a:schemeClr val="tx1"/>
                </a:solidFill>
              </a:rPr>
              <a:t>)</a:t>
            </a:r>
            <a:endParaRPr lang="en-US" sz="1500" dirty="0"/>
          </a:p>
        </p:txBody>
      </p:sp>
      <p:sp>
        <p:nvSpPr>
          <p:cNvPr id="31" name="formula row"/>
          <p:cNvSpPr/>
          <p:nvPr/>
        </p:nvSpPr>
        <p:spPr>
          <a:xfrm>
            <a:off x="6199632" y="2642616"/>
            <a:ext cx="5440680" cy="566928"/>
          </a:xfrm>
          <a:prstGeom prst="roundRect">
            <a:avLst>
              <a:gd name="adj" fmla="val 9677"/>
            </a:avLst>
          </a:prstGeom>
          <a:solidFill>
            <a:schemeClr val="bg2"/>
          </a:solidFill>
          <a:ln w="9525">
            <a:solidFill>
              <a:srgbClr val="D5DED8"/>
            </a:solidFill>
            <a:prstDash val="solid"/>
          </a:ln>
        </p:spPr>
      </p:sp>
      <p:sp>
        <p:nvSpPr>
          <p:cNvPr id="32" name="Text 29"/>
          <p:cNvSpPr txBox="1"/>
          <p:nvPr/>
        </p:nvSpPr>
        <p:spPr>
          <a:xfrm>
            <a:off x="6336792" y="2642616"/>
            <a:ext cx="1508760" cy="566928"/>
          </a:xfrm>
          <a:prstGeom prst="rect">
            <a:avLst/>
          </a:prstGeom>
          <a:noFill/>
          <a:ln/>
        </p:spPr>
        <p:txBody>
          <a:bodyPr wrap="square" lIns="0" tIns="0" rIns="0" bIns="0" rtlCol="0" anchor="ctr"/>
          <a:lstStyle/>
          <a:p>
            <a:pPr indent="0" marL="0">
              <a:buNone/>
            </a:pPr>
            <a:r>
              <a:rPr lang="en-US" sz="1500" b="1" dirty="0">
                <a:solidFill>
                  <a:schemeClr val="accent2"/>
                </a:solidFill>
              </a:rPr>
              <a:t>ETR</a:t>
            </a:r>
            <a:endParaRPr lang="en-US" sz="1500" dirty="0"/>
          </a:p>
        </p:txBody>
      </p:sp>
      <p:sp>
        <p:nvSpPr>
          <p:cNvPr id="33" name="Text 30"/>
          <p:cNvSpPr txBox="1"/>
          <p:nvPr/>
        </p:nvSpPr>
        <p:spPr>
          <a:xfrm>
            <a:off x="7891272" y="2642616"/>
            <a:ext cx="3657600" cy="566928"/>
          </a:xfrm>
          <a:prstGeom prst="rect">
            <a:avLst/>
          </a:prstGeom>
          <a:noFill/>
          <a:ln/>
        </p:spPr>
        <p:txBody>
          <a:bodyPr wrap="square" lIns="0" tIns="0" rIns="0" bIns="0" rtlCol="0" anchor="ctr"/>
          <a:lstStyle/>
          <a:p>
            <a:pPr indent="0" marL="0">
              <a:buNone/>
            </a:pPr>
            <a:r>
              <a:rPr lang="en-US" sz="1500" dirty="0">
                <a:solidFill>
                  <a:schemeClr val="tx1"/>
                </a:solidFill>
              </a:rPr>
              <a:t>Φ</a:t>
            </a:r>
            <a:r>
              <a:rPr lang="en-US" sz="1500" baseline="-40000" dirty="0">
                <a:solidFill>
                  <a:schemeClr val="tx1"/>
                </a:solidFill>
              </a:rPr>
              <a:t>PSII</a:t>
            </a:r>
            <a:r>
              <a:rPr lang="en-US" sz="1500" dirty="0">
                <a:solidFill>
                  <a:schemeClr val="tx1"/>
                </a:solidFill>
              </a:rPr>
              <a:t> × PAR × 0.84 × 0.5</a:t>
            </a:r>
            <a:endParaRPr lang="en-US" sz="1500" dirty="0"/>
          </a:p>
        </p:txBody>
      </p:sp>
      <p:sp>
        <p:nvSpPr>
          <p:cNvPr id="34" name="formula row"/>
          <p:cNvSpPr/>
          <p:nvPr/>
        </p:nvSpPr>
        <p:spPr>
          <a:xfrm>
            <a:off x="6199632" y="3300984"/>
            <a:ext cx="5440680" cy="566928"/>
          </a:xfrm>
          <a:prstGeom prst="roundRect">
            <a:avLst>
              <a:gd name="adj" fmla="val 9677"/>
            </a:avLst>
          </a:prstGeom>
          <a:solidFill>
            <a:schemeClr val="bg1"/>
          </a:solidFill>
          <a:ln w="9525">
            <a:solidFill>
              <a:srgbClr val="D5DED8"/>
            </a:solidFill>
            <a:prstDash val="solid"/>
          </a:ln>
        </p:spPr>
      </p:sp>
      <p:sp>
        <p:nvSpPr>
          <p:cNvPr id="35" name="Text 32"/>
          <p:cNvSpPr txBox="1"/>
          <p:nvPr/>
        </p:nvSpPr>
        <p:spPr>
          <a:xfrm>
            <a:off x="6336792" y="3300984"/>
            <a:ext cx="1508760" cy="566928"/>
          </a:xfrm>
          <a:prstGeom prst="rect">
            <a:avLst/>
          </a:prstGeom>
          <a:noFill/>
          <a:ln/>
        </p:spPr>
        <p:txBody>
          <a:bodyPr wrap="square" lIns="0" tIns="0" rIns="0" bIns="0" rtlCol="0" anchor="ctr"/>
          <a:lstStyle/>
          <a:p>
            <a:pPr indent="0" marL="0">
              <a:buNone/>
            </a:pPr>
            <a:r>
              <a:rPr lang="en-US" sz="1500" b="1" dirty="0">
                <a:solidFill>
                  <a:schemeClr val="accent2"/>
                </a:solidFill>
              </a:rPr>
              <a:t>F</a:t>
            </a:r>
            <a:r>
              <a:rPr lang="en-US" sz="1500" b="1" baseline="-40000" dirty="0">
                <a:solidFill>
                  <a:schemeClr val="accent2"/>
                </a:solidFill>
              </a:rPr>
              <a:t>o</a:t>
            </a:r>
            <a:r>
              <a:rPr lang="en-US" sz="1500" b="1" dirty="0">
                <a:solidFill>
                  <a:schemeClr val="accent2"/>
                </a:solidFill>
              </a:rPr>
              <a:t>′ (calc.)</a:t>
            </a:r>
            <a:endParaRPr lang="en-US" sz="1500" dirty="0"/>
          </a:p>
        </p:txBody>
      </p:sp>
      <p:sp>
        <p:nvSpPr>
          <p:cNvPr id="36" name="Text 33"/>
          <p:cNvSpPr txBox="1"/>
          <p:nvPr/>
        </p:nvSpPr>
        <p:spPr>
          <a:xfrm>
            <a:off x="7891272" y="3300984"/>
            <a:ext cx="3657600" cy="566928"/>
          </a:xfrm>
          <a:prstGeom prst="rect">
            <a:avLst/>
          </a:prstGeom>
          <a:noFill/>
          <a:ln/>
        </p:spPr>
        <p:txBody>
          <a:bodyPr wrap="square" lIns="0" tIns="0" rIns="0" bIns="0" rtlCol="0" anchor="ctr"/>
          <a:lstStyle/>
          <a:p>
            <a:pPr indent="0" marL="0">
              <a:buNone/>
            </a:pPr>
            <a:r>
              <a:rPr lang="en-US" sz="1500" dirty="0">
                <a:solidFill>
                  <a:schemeClr val="tx1"/>
                </a:solidFill>
              </a:rPr>
              <a:t>F</a:t>
            </a:r>
            <a:r>
              <a:rPr lang="en-US" sz="1500" baseline="-40000" dirty="0">
                <a:solidFill>
                  <a:schemeClr val="tx1"/>
                </a:solidFill>
              </a:rPr>
              <a:t>o</a:t>
            </a:r>
            <a:r>
              <a:rPr lang="en-US" sz="1500" dirty="0">
                <a:solidFill>
                  <a:schemeClr val="tx1"/>
                </a:solidFill>
              </a:rPr>
              <a:t>/[(F</a:t>
            </a:r>
            <a:r>
              <a:rPr lang="en-US" sz="1500" baseline="-40000" dirty="0">
                <a:solidFill>
                  <a:schemeClr val="tx1"/>
                </a:solidFill>
              </a:rPr>
              <a:t>v</a:t>
            </a:r>
            <a:r>
              <a:rPr lang="en-US" sz="1500" dirty="0">
                <a:solidFill>
                  <a:schemeClr val="tx1"/>
                </a:solidFill>
              </a:rPr>
              <a:t>/F</a:t>
            </a:r>
            <a:r>
              <a:rPr lang="en-US" sz="1500" baseline="-40000" dirty="0">
                <a:solidFill>
                  <a:schemeClr val="tx1"/>
                </a:solidFill>
              </a:rPr>
              <a:t>m</a:t>
            </a:r>
            <a:r>
              <a:rPr lang="en-US" sz="1500" dirty="0">
                <a:solidFill>
                  <a:schemeClr val="tx1"/>
                </a:solidFill>
              </a:rPr>
              <a:t>) + (F</a:t>
            </a:r>
            <a:r>
              <a:rPr lang="en-US" sz="1500" baseline="-40000" dirty="0">
                <a:solidFill>
                  <a:schemeClr val="tx1"/>
                </a:solidFill>
              </a:rPr>
              <a:t>o</a:t>
            </a:r>
            <a:r>
              <a:rPr lang="en-US" sz="1500" dirty="0">
                <a:solidFill>
                  <a:schemeClr val="tx1"/>
                </a:solidFill>
              </a:rPr>
              <a:t>/F</a:t>
            </a:r>
            <a:r>
              <a:rPr lang="en-US" sz="1500" baseline="-40000" dirty="0">
                <a:solidFill>
                  <a:schemeClr val="tx1"/>
                </a:solidFill>
              </a:rPr>
              <a:t>m</a:t>
            </a:r>
            <a:r>
              <a:rPr lang="en-US" sz="1500" dirty="0">
                <a:solidFill>
                  <a:schemeClr val="tx1"/>
                </a:solidFill>
              </a:rPr>
              <a:t>′)]</a:t>
            </a:r>
            <a:endParaRPr lang="en-US" sz="1500" dirty="0"/>
          </a:p>
        </p:txBody>
      </p:sp>
      <p:sp>
        <p:nvSpPr>
          <p:cNvPr id="37" name="formula row"/>
          <p:cNvSpPr/>
          <p:nvPr/>
        </p:nvSpPr>
        <p:spPr>
          <a:xfrm>
            <a:off x="6199632" y="3959352"/>
            <a:ext cx="5440680" cy="566928"/>
          </a:xfrm>
          <a:prstGeom prst="roundRect">
            <a:avLst>
              <a:gd name="adj" fmla="val 9677"/>
            </a:avLst>
          </a:prstGeom>
          <a:solidFill>
            <a:schemeClr val="bg2"/>
          </a:solidFill>
          <a:ln w="9525">
            <a:solidFill>
              <a:srgbClr val="D5DED8"/>
            </a:solidFill>
            <a:prstDash val="solid"/>
          </a:ln>
        </p:spPr>
      </p:sp>
      <p:sp>
        <p:nvSpPr>
          <p:cNvPr id="38" name="Text 35"/>
          <p:cNvSpPr txBox="1"/>
          <p:nvPr/>
        </p:nvSpPr>
        <p:spPr>
          <a:xfrm>
            <a:off x="6336792" y="3959352"/>
            <a:ext cx="1508760" cy="566928"/>
          </a:xfrm>
          <a:prstGeom prst="rect">
            <a:avLst/>
          </a:prstGeom>
          <a:noFill/>
          <a:ln/>
        </p:spPr>
        <p:txBody>
          <a:bodyPr wrap="square" lIns="0" tIns="0" rIns="0" bIns="0" rtlCol="0" anchor="ctr"/>
          <a:lstStyle/>
          <a:p>
            <a:pPr indent="0" marL="0">
              <a:buNone/>
            </a:pPr>
            <a:r>
              <a:rPr lang="en-US" sz="1500" b="1" dirty="0">
                <a:solidFill>
                  <a:schemeClr val="accent2"/>
                </a:solidFill>
              </a:rPr>
              <a:t>TOC radiance</a:t>
            </a:r>
            <a:endParaRPr lang="en-US" sz="1500" dirty="0"/>
          </a:p>
        </p:txBody>
      </p:sp>
      <p:sp>
        <p:nvSpPr>
          <p:cNvPr id="39" name="Text 36"/>
          <p:cNvSpPr txBox="1"/>
          <p:nvPr/>
        </p:nvSpPr>
        <p:spPr>
          <a:xfrm>
            <a:off x="7891272" y="3959352"/>
            <a:ext cx="3657600" cy="566928"/>
          </a:xfrm>
          <a:prstGeom prst="rect">
            <a:avLst/>
          </a:prstGeom>
          <a:noFill/>
          <a:ln/>
        </p:spPr>
        <p:txBody>
          <a:bodyPr wrap="square" lIns="0" tIns="0" rIns="0" bIns="0" rtlCol="0" anchor="ctr"/>
          <a:lstStyle/>
          <a:p>
            <a:pPr indent="0" marL="0">
              <a:buNone/>
            </a:pPr>
            <a:r>
              <a:rPr lang="en-US" sz="1500" dirty="0">
                <a:solidFill>
                  <a:schemeClr val="tx1"/>
                </a:solidFill>
              </a:rPr>
              <a:t>L = r·E/π + SIF</a:t>
            </a:r>
            <a:endParaRPr lang="en-US" sz="1500" dirty="0"/>
          </a:p>
        </p:txBody>
      </p:sp>
      <p:sp>
        <p:nvSpPr>
          <p:cNvPr id="40" name="formula row"/>
          <p:cNvSpPr/>
          <p:nvPr/>
        </p:nvSpPr>
        <p:spPr>
          <a:xfrm>
            <a:off x="6199632" y="4617720"/>
            <a:ext cx="5440680" cy="566928"/>
          </a:xfrm>
          <a:prstGeom prst="roundRect">
            <a:avLst>
              <a:gd name="adj" fmla="val 9677"/>
            </a:avLst>
          </a:prstGeom>
          <a:solidFill>
            <a:schemeClr val="bg1"/>
          </a:solidFill>
          <a:ln w="9525">
            <a:solidFill>
              <a:srgbClr val="D5DED8"/>
            </a:solidFill>
            <a:prstDash val="solid"/>
          </a:ln>
        </p:spPr>
      </p:sp>
      <p:sp>
        <p:nvSpPr>
          <p:cNvPr id="41" name="Text 38"/>
          <p:cNvSpPr txBox="1"/>
          <p:nvPr/>
        </p:nvSpPr>
        <p:spPr>
          <a:xfrm>
            <a:off x="6336792" y="4617720"/>
            <a:ext cx="1508760" cy="566928"/>
          </a:xfrm>
          <a:prstGeom prst="rect">
            <a:avLst/>
          </a:prstGeom>
          <a:noFill/>
          <a:ln/>
        </p:spPr>
        <p:txBody>
          <a:bodyPr wrap="square" lIns="0" tIns="0" rIns="0" bIns="0" rtlCol="0" anchor="ctr"/>
          <a:lstStyle/>
          <a:p>
            <a:pPr indent="0" marL="0">
              <a:buNone/>
            </a:pPr>
            <a:r>
              <a:rPr lang="en-US" sz="1500" b="1" dirty="0">
                <a:solidFill>
                  <a:schemeClr val="accent2"/>
                </a:solidFill>
              </a:rPr>
              <a:t>FLD</a:t>
            </a:r>
            <a:endParaRPr lang="en-US" sz="1500" dirty="0"/>
          </a:p>
        </p:txBody>
      </p:sp>
      <p:sp>
        <p:nvSpPr>
          <p:cNvPr id="42" name="Text 39"/>
          <p:cNvSpPr txBox="1"/>
          <p:nvPr/>
        </p:nvSpPr>
        <p:spPr>
          <a:xfrm>
            <a:off x="7891272" y="4617720"/>
            <a:ext cx="3657600" cy="566928"/>
          </a:xfrm>
          <a:prstGeom prst="rect">
            <a:avLst/>
          </a:prstGeom>
          <a:noFill/>
          <a:ln/>
        </p:spPr>
        <p:txBody>
          <a:bodyPr wrap="square" lIns="0" tIns="0" rIns="0" bIns="0" rtlCol="0" anchor="ctr"/>
          <a:lstStyle/>
          <a:p>
            <a:pPr indent="0" marL="0">
              <a:buNone/>
            </a:pPr>
            <a:r>
              <a:rPr lang="en-US" sz="1500" dirty="0">
                <a:solidFill>
                  <a:schemeClr val="tx1"/>
                </a:solidFill>
              </a:rPr>
              <a:t>F = (E</a:t>
            </a:r>
            <a:r>
              <a:rPr lang="en-US" sz="1500" baseline="-40000" dirty="0">
                <a:solidFill>
                  <a:schemeClr val="tx1"/>
                </a:solidFill>
              </a:rPr>
              <a:t>out</a:t>
            </a:r>
            <a:r>
              <a:rPr lang="en-US" sz="1500" dirty="0">
                <a:solidFill>
                  <a:schemeClr val="tx1"/>
                </a:solidFill>
              </a:rPr>
              <a:t>L</a:t>
            </a:r>
            <a:r>
              <a:rPr lang="en-US" sz="1500" baseline="-40000" dirty="0">
                <a:solidFill>
                  <a:schemeClr val="tx1"/>
                </a:solidFill>
              </a:rPr>
              <a:t>in</a:t>
            </a:r>
            <a:r>
              <a:rPr lang="en-US" sz="1500" dirty="0">
                <a:solidFill>
                  <a:schemeClr val="tx1"/>
                </a:solidFill>
              </a:rPr>
              <a:t> − E</a:t>
            </a:r>
            <a:r>
              <a:rPr lang="en-US" sz="1500" baseline="-40000" dirty="0">
                <a:solidFill>
                  <a:schemeClr val="tx1"/>
                </a:solidFill>
              </a:rPr>
              <a:t>in</a:t>
            </a:r>
            <a:r>
              <a:rPr lang="en-US" sz="1500" dirty="0">
                <a:solidFill>
                  <a:schemeClr val="tx1"/>
                </a:solidFill>
              </a:rPr>
              <a:t>L</a:t>
            </a:r>
            <a:r>
              <a:rPr lang="en-US" sz="1500" baseline="-40000" dirty="0">
                <a:solidFill>
                  <a:schemeClr val="tx1"/>
                </a:solidFill>
              </a:rPr>
              <a:t>out</a:t>
            </a:r>
            <a:r>
              <a:rPr lang="en-US" sz="1500" dirty="0">
                <a:solidFill>
                  <a:schemeClr val="tx1"/>
                </a:solidFill>
              </a:rPr>
              <a:t>)/(E</a:t>
            </a:r>
            <a:r>
              <a:rPr lang="en-US" sz="1500" baseline="-40000" dirty="0">
                <a:solidFill>
                  <a:schemeClr val="tx1"/>
                </a:solidFill>
              </a:rPr>
              <a:t>out</a:t>
            </a:r>
            <a:r>
              <a:rPr lang="en-US" sz="1500" dirty="0">
                <a:solidFill>
                  <a:schemeClr val="tx1"/>
                </a:solidFill>
              </a:rPr>
              <a:t> − E</a:t>
            </a:r>
            <a:r>
              <a:rPr lang="en-US" sz="1500" baseline="-40000" dirty="0">
                <a:solidFill>
                  <a:schemeClr val="tx1"/>
                </a:solidFill>
              </a:rPr>
              <a:t>in</a:t>
            </a:r>
            <a:r>
              <a:rPr lang="en-US" sz="1500" dirty="0">
                <a:solidFill>
                  <a:schemeClr val="tx1"/>
                </a:solidFill>
              </a:rPr>
              <a:t>)</a:t>
            </a:r>
            <a:endParaRPr lang="en-US" sz="1500" dirty="0"/>
          </a:p>
        </p:txBody>
      </p:sp>
      <p:sp>
        <p:nvSpPr>
          <p:cNvPr id="43" name="formula row"/>
          <p:cNvSpPr/>
          <p:nvPr/>
        </p:nvSpPr>
        <p:spPr>
          <a:xfrm>
            <a:off x="6199632" y="5276088"/>
            <a:ext cx="5440680" cy="566928"/>
          </a:xfrm>
          <a:prstGeom prst="roundRect">
            <a:avLst>
              <a:gd name="adj" fmla="val 9677"/>
            </a:avLst>
          </a:prstGeom>
          <a:solidFill>
            <a:schemeClr val="bg2"/>
          </a:solidFill>
          <a:ln w="9525">
            <a:solidFill>
              <a:srgbClr val="D5DED8"/>
            </a:solidFill>
            <a:prstDash val="solid"/>
          </a:ln>
        </p:spPr>
      </p:sp>
      <p:sp>
        <p:nvSpPr>
          <p:cNvPr id="44" name="Text 41"/>
          <p:cNvSpPr txBox="1"/>
          <p:nvPr/>
        </p:nvSpPr>
        <p:spPr>
          <a:xfrm>
            <a:off x="6336792" y="5276088"/>
            <a:ext cx="1508760" cy="566928"/>
          </a:xfrm>
          <a:prstGeom prst="rect">
            <a:avLst/>
          </a:prstGeom>
          <a:noFill/>
          <a:ln/>
        </p:spPr>
        <p:txBody>
          <a:bodyPr wrap="square" lIns="0" tIns="0" rIns="0" bIns="0" rtlCol="0" anchor="ctr"/>
          <a:lstStyle/>
          <a:p>
            <a:pPr indent="0" marL="0">
              <a:buNone/>
            </a:pPr>
            <a:r>
              <a:rPr lang="en-US" sz="1500" b="1" dirty="0">
                <a:solidFill>
                  <a:schemeClr val="accent2"/>
                </a:solidFill>
              </a:rPr>
              <a:t>SIF / GPP</a:t>
            </a:r>
            <a:endParaRPr lang="en-US" sz="1500" dirty="0"/>
          </a:p>
        </p:txBody>
      </p:sp>
      <p:sp>
        <p:nvSpPr>
          <p:cNvPr id="45" name="Text 42"/>
          <p:cNvSpPr txBox="1"/>
          <p:nvPr/>
        </p:nvSpPr>
        <p:spPr>
          <a:xfrm>
            <a:off x="7891272" y="5276088"/>
            <a:ext cx="3657600" cy="566928"/>
          </a:xfrm>
          <a:prstGeom prst="rect">
            <a:avLst/>
          </a:prstGeom>
          <a:noFill/>
          <a:ln/>
        </p:spPr>
        <p:txBody>
          <a:bodyPr wrap="square" lIns="0" tIns="0" rIns="0" bIns="0" rtlCol="0" anchor="ctr"/>
          <a:lstStyle/>
          <a:p>
            <a:pPr indent="0" marL="0">
              <a:buNone/>
            </a:pPr>
            <a:r>
              <a:rPr lang="en-US" sz="1500" dirty="0">
                <a:solidFill>
                  <a:schemeClr val="tx1"/>
                </a:solidFill>
              </a:rPr>
              <a:t>SIF = APAR·Φ</a:t>
            </a:r>
            <a:r>
              <a:rPr lang="en-US" sz="1500" baseline="-40000" dirty="0">
                <a:solidFill>
                  <a:schemeClr val="tx1"/>
                </a:solidFill>
              </a:rPr>
              <a:t>F</a:t>
            </a:r>
            <a:r>
              <a:rPr lang="en-US" sz="1500" dirty="0">
                <a:solidFill>
                  <a:schemeClr val="tx1"/>
                </a:solidFill>
              </a:rPr>
              <a:t>·f</a:t>
            </a:r>
            <a:r>
              <a:rPr lang="en-US" sz="1500" baseline="-40000" dirty="0">
                <a:solidFill>
                  <a:schemeClr val="tx1"/>
                </a:solidFill>
              </a:rPr>
              <a:t>esc</a:t>
            </a:r>
            <a:r>
              <a:rPr lang="en-US" sz="1500" dirty="0">
                <a:solidFill>
                  <a:schemeClr val="tx1"/>
                </a:solidFill>
              </a:rPr>
              <a:t> ; GPP = APAR·LUE</a:t>
            </a:r>
            <a:endParaRPr lang="en-US" sz="1500" dirty="0"/>
          </a:p>
        </p:txBody>
      </p:sp>
      <p:sp>
        <p:nvSpPr>
          <p:cNvPr id="46" name="Text 43"/>
          <p:cNvSpPr txBox="1"/>
          <p:nvPr/>
        </p:nvSpPr>
        <p:spPr>
          <a:xfrm>
            <a:off x="548640" y="5943600"/>
            <a:ext cx="10972800" cy="320040"/>
          </a:xfrm>
          <a:prstGeom prst="rect">
            <a:avLst/>
          </a:prstGeom>
          <a:noFill/>
          <a:ln/>
        </p:spPr>
        <p:txBody>
          <a:bodyPr wrap="square" lIns="508" tIns="508" rIns="508" bIns="508" rtlCol="0" anchor="t"/>
          <a:lstStyle/>
          <a:p>
            <a:pPr indent="0" marL="0">
              <a:spcAft>
                <a:spcPts val="600"/>
              </a:spcAft>
              <a:buNone/>
            </a:pPr>
            <a:r>
              <a:rPr lang="en-US" sz="1200" i="1" dirty="0">
                <a:solidFill>
                  <a:schemeClr val="accent6"/>
                </a:solidFill>
              </a:rPr>
              <a:t>Prime (′) = light-adapted. No prime = dark-adapted. Green = PAM parameters; red = PAM extras and SIF.</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Clearing common doubts (1/2): PAM</a:t>
            </a:r>
            <a:endParaRPr lang="en-US" sz="3200" dirty="0"/>
          </a:p>
        </p:txBody>
      </p:sp>
      <p:sp>
        <p:nvSpPr>
          <p:cNvPr id="4" name="card"/>
          <p:cNvSpPr/>
          <p:nvPr/>
        </p:nvSpPr>
        <p:spPr>
          <a:xfrm>
            <a:off x="548640" y="1371600"/>
            <a:ext cx="544068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554480"/>
            <a:ext cx="457200" cy="457200"/>
          </a:xfrm>
          <a:prstGeom prst="ellipse">
            <a:avLst/>
          </a:prstGeom>
          <a:solidFill>
            <a:schemeClr val="accent1"/>
          </a:solidFill>
          <a:ln/>
        </p:spPr>
      </p:sp>
      <p:pic>
        <p:nvPicPr>
          <p:cNvPr id="6" name="Image 0" descr="Question icon">    </p:cNvPr>
          <p:cNvPicPr>
            <a:picLocks noChangeAspect="1"/>
          </p:cNvPicPr>
          <p:nvPr/>
        </p:nvPicPr>
        <p:blipFill>
          <a:blip r:embed="rId1"/>
          <a:stretch>
            <a:fillRect/>
          </a:stretch>
        </p:blipFill>
        <p:spPr>
          <a:xfrm>
            <a:off x="850392" y="1673352"/>
            <a:ext cx="219456" cy="219456"/>
          </a:xfrm>
          <a:prstGeom prst="rect">
            <a:avLst/>
          </a:prstGeom>
        </p:spPr>
      </p:pic>
      <p:sp>
        <p:nvSpPr>
          <p:cNvPr id="7" name="Text 3"/>
          <p:cNvSpPr txBox="1"/>
          <p:nvPr/>
        </p:nvSpPr>
        <p:spPr>
          <a:xfrm>
            <a:off x="1325880" y="1481328"/>
            <a:ext cx="4526280" cy="731520"/>
          </a:xfrm>
          <a:prstGeom prst="rect">
            <a:avLst/>
          </a:prstGeom>
          <a:noFill/>
          <a:ln/>
        </p:spPr>
        <p:txBody>
          <a:bodyPr wrap="square" lIns="0" tIns="0" rIns="0" bIns="0" rtlCol="0" anchor="ctr"/>
          <a:lstStyle/>
          <a:p>
            <a:pPr indent="0" marL="0">
              <a:buNone/>
            </a:pPr>
            <a:r>
              <a:rPr lang="en-US" sz="1500" b="1" dirty="0">
                <a:solidFill>
                  <a:schemeClr val="tx2"/>
                </a:solidFill>
              </a:rPr>
              <a:t>Why does fluorescence rise when reaction centres close?</a:t>
            </a:r>
            <a:endParaRPr lang="en-US" sz="1500" dirty="0"/>
          </a:p>
        </p:txBody>
      </p:sp>
      <p:sp>
        <p:nvSpPr>
          <p:cNvPr id="8" name="Text 4"/>
          <p:cNvSpPr txBox="1"/>
          <p:nvPr/>
        </p:nvSpPr>
        <p:spPr>
          <a:xfrm>
            <a:off x="777240" y="2286000"/>
            <a:ext cx="5029200" cy="1234440"/>
          </a:xfrm>
          <a:prstGeom prst="rect">
            <a:avLst/>
          </a:prstGeom>
          <a:noFill/>
          <a:ln/>
        </p:spPr>
        <p:txBody>
          <a:bodyPr wrap="square" lIns="0" tIns="0" rIns="0" bIns="0" rtlCol="0" anchor="t"/>
          <a:lstStyle/>
          <a:p>
            <a:pPr indent="0" marL="0">
              <a:buNone/>
            </a:pPr>
            <a:r>
              <a:rPr lang="en-US" sz="1400" dirty="0">
                <a:solidFill>
                  <a:schemeClr val="tx1"/>
                </a:solidFill>
              </a:rPr>
              <a:t>Photochemistry stops (k</a:t>
            </a:r>
            <a:r>
              <a:rPr lang="en-US" sz="1400" baseline="-40000" dirty="0">
                <a:solidFill>
                  <a:schemeClr val="tx1"/>
                </a:solidFill>
              </a:rPr>
              <a:t>P</a:t>
            </a:r>
            <a:r>
              <a:rPr lang="en-US" sz="1400" dirty="0">
                <a:solidFill>
                  <a:schemeClr val="tx1"/>
                </a:solidFill>
              </a:rPr>
              <a:t> ≈ 0), so the same excitation must leave by heat or fluorescence. Competition → fluorescence yield rises to F</a:t>
            </a:r>
            <a:r>
              <a:rPr lang="en-US" sz="1400" baseline="-40000" dirty="0">
                <a:solidFill>
                  <a:schemeClr val="tx1"/>
                </a:solidFill>
              </a:rPr>
              <a:t>m</a:t>
            </a:r>
            <a:r>
              <a:rPr lang="en-US" sz="1400" dirty="0">
                <a:solidFill>
                  <a:schemeClr val="tx1"/>
                </a:solidFill>
              </a:rPr>
              <a:t>.</a:t>
            </a:r>
            <a:endParaRPr lang="en-US" sz="1400" dirty="0"/>
          </a:p>
        </p:txBody>
      </p:sp>
      <p:sp>
        <p:nvSpPr>
          <p:cNvPr id="9" name="card"/>
          <p:cNvSpPr/>
          <p:nvPr/>
        </p:nvSpPr>
        <p:spPr>
          <a:xfrm>
            <a:off x="6199632" y="1371600"/>
            <a:ext cx="544068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6382512" y="1554480"/>
            <a:ext cx="457200" cy="457200"/>
          </a:xfrm>
          <a:prstGeom prst="ellipse">
            <a:avLst/>
          </a:prstGeom>
          <a:solidFill>
            <a:schemeClr val="accent2"/>
          </a:solidFill>
          <a:ln/>
        </p:spPr>
      </p:sp>
      <p:pic>
        <p:nvPicPr>
          <p:cNvPr id="11" name="Image 1" descr="Question icon">    </p:cNvPr>
          <p:cNvPicPr>
            <a:picLocks noChangeAspect="1"/>
          </p:cNvPicPr>
          <p:nvPr/>
        </p:nvPicPr>
        <p:blipFill>
          <a:blip r:embed="rId2"/>
          <a:stretch>
            <a:fillRect/>
          </a:stretch>
        </p:blipFill>
        <p:spPr>
          <a:xfrm>
            <a:off x="6501384" y="1673352"/>
            <a:ext cx="219456" cy="219456"/>
          </a:xfrm>
          <a:prstGeom prst="rect">
            <a:avLst/>
          </a:prstGeom>
        </p:spPr>
      </p:pic>
      <p:sp>
        <p:nvSpPr>
          <p:cNvPr id="12" name="Text 7"/>
          <p:cNvSpPr txBox="1"/>
          <p:nvPr/>
        </p:nvSpPr>
        <p:spPr>
          <a:xfrm>
            <a:off x="6976872" y="1481328"/>
            <a:ext cx="4526280" cy="731520"/>
          </a:xfrm>
          <a:prstGeom prst="rect">
            <a:avLst/>
          </a:prstGeom>
          <a:noFill/>
          <a:ln/>
        </p:spPr>
        <p:txBody>
          <a:bodyPr wrap="square" lIns="0" tIns="0" rIns="0" bIns="0" rtlCol="0" anchor="ctr"/>
          <a:lstStyle/>
          <a:p>
            <a:pPr indent="0" marL="0">
              <a:buNone/>
            </a:pPr>
            <a:r>
              <a:rPr lang="en-US" sz="1500" b="1" dirty="0">
                <a:solidFill>
                  <a:schemeClr val="tx2"/>
                </a:solidFill>
              </a:rPr>
              <a:t>Why is F</a:t>
            </a:r>
            <a:r>
              <a:rPr lang="en-US" sz="1500" b="1" baseline="-40000" dirty="0">
                <a:solidFill>
                  <a:schemeClr val="tx2"/>
                </a:solidFill>
              </a:rPr>
              <a:t>m</a:t>
            </a:r>
            <a:r>
              <a:rPr lang="en-US" sz="1500" b="1" dirty="0">
                <a:solidFill>
                  <a:schemeClr val="tx2"/>
                </a:solidFill>
              </a:rPr>
              <a:t>′ lower than F</a:t>
            </a:r>
            <a:r>
              <a:rPr lang="en-US" sz="1500" b="1" baseline="-40000" dirty="0">
                <a:solidFill>
                  <a:schemeClr val="tx2"/>
                </a:solidFill>
              </a:rPr>
              <a:t>m</a:t>
            </a:r>
            <a:r>
              <a:rPr lang="en-US" sz="1500" b="1" dirty="0">
                <a:solidFill>
                  <a:schemeClr val="tx2"/>
                </a:solidFill>
              </a:rPr>
              <a:t>?</a:t>
            </a:r>
            <a:endParaRPr lang="en-US" sz="1500" dirty="0"/>
          </a:p>
        </p:txBody>
      </p:sp>
      <p:sp>
        <p:nvSpPr>
          <p:cNvPr id="13" name="Text 8"/>
          <p:cNvSpPr txBox="1"/>
          <p:nvPr/>
        </p:nvSpPr>
        <p:spPr>
          <a:xfrm>
            <a:off x="6428232" y="2286000"/>
            <a:ext cx="5029200" cy="1234440"/>
          </a:xfrm>
          <a:prstGeom prst="rect">
            <a:avLst/>
          </a:prstGeom>
          <a:noFill/>
          <a:ln/>
        </p:spPr>
        <p:txBody>
          <a:bodyPr wrap="square" lIns="0" tIns="0" rIns="0" bIns="0" rtlCol="0" anchor="t"/>
          <a:lstStyle/>
          <a:p>
            <a:pPr indent="0" marL="0">
              <a:buNone/>
            </a:pPr>
            <a:r>
              <a:rPr lang="en-US" sz="1400" dirty="0">
                <a:solidFill>
                  <a:schemeClr val="tx1"/>
                </a:solidFill>
              </a:rPr>
              <a:t>In the light NPQ is active. Even with all centres closed by the pulse, extra heat dissipation competes with fluorescence.</a:t>
            </a:r>
            <a:endParaRPr lang="en-US" sz="1400" dirty="0"/>
          </a:p>
        </p:txBody>
      </p:sp>
      <p:sp>
        <p:nvSpPr>
          <p:cNvPr id="14" name="card"/>
          <p:cNvSpPr/>
          <p:nvPr/>
        </p:nvSpPr>
        <p:spPr>
          <a:xfrm>
            <a:off x="548640" y="3794760"/>
            <a:ext cx="544068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5" name="icon circle"/>
          <p:cNvSpPr/>
          <p:nvPr/>
        </p:nvSpPr>
        <p:spPr>
          <a:xfrm>
            <a:off x="731520" y="3977640"/>
            <a:ext cx="457200" cy="457200"/>
          </a:xfrm>
          <a:prstGeom prst="ellipse">
            <a:avLst/>
          </a:prstGeom>
          <a:solidFill>
            <a:schemeClr val="accent1"/>
          </a:solidFill>
          <a:ln/>
        </p:spPr>
      </p:sp>
      <p:pic>
        <p:nvPicPr>
          <p:cNvPr id="16" name="Image 2" descr="Question icon">    </p:cNvPr>
          <p:cNvPicPr>
            <a:picLocks noChangeAspect="1"/>
          </p:cNvPicPr>
          <p:nvPr/>
        </p:nvPicPr>
        <p:blipFill>
          <a:blip r:embed="rId3"/>
          <a:stretch>
            <a:fillRect/>
          </a:stretch>
        </p:blipFill>
        <p:spPr>
          <a:xfrm>
            <a:off x="850392" y="4096512"/>
            <a:ext cx="219456" cy="219456"/>
          </a:xfrm>
          <a:prstGeom prst="rect">
            <a:avLst/>
          </a:prstGeom>
        </p:spPr>
      </p:pic>
      <p:sp>
        <p:nvSpPr>
          <p:cNvPr id="17" name="Text 11"/>
          <p:cNvSpPr txBox="1"/>
          <p:nvPr/>
        </p:nvSpPr>
        <p:spPr>
          <a:xfrm>
            <a:off x="1325880" y="3904488"/>
            <a:ext cx="4526280" cy="731520"/>
          </a:xfrm>
          <a:prstGeom prst="rect">
            <a:avLst/>
          </a:prstGeom>
          <a:noFill/>
          <a:ln/>
        </p:spPr>
        <p:txBody>
          <a:bodyPr wrap="square" lIns="0" tIns="0" rIns="0" bIns="0" rtlCol="0" anchor="ctr"/>
          <a:lstStyle/>
          <a:p>
            <a:pPr indent="0" marL="0">
              <a:buNone/>
            </a:pPr>
            <a:r>
              <a:rPr lang="en-US" sz="1500" b="1" dirty="0">
                <a:solidFill>
                  <a:schemeClr val="tx2"/>
                </a:solidFill>
              </a:rPr>
              <a:t>Why measure F</a:t>
            </a:r>
            <a:r>
              <a:rPr lang="en-US" sz="1500" b="1" baseline="-40000" dirty="0">
                <a:solidFill>
                  <a:schemeClr val="tx2"/>
                </a:solidFill>
              </a:rPr>
              <a:t>v</a:t>
            </a:r>
            <a:r>
              <a:rPr lang="en-US" sz="1500" b="1" dirty="0">
                <a:solidFill>
                  <a:schemeClr val="tx2"/>
                </a:solidFill>
              </a:rPr>
              <a:t>/F</a:t>
            </a:r>
            <a:r>
              <a:rPr lang="en-US" sz="1500" b="1" baseline="-40000" dirty="0">
                <a:solidFill>
                  <a:schemeClr val="tx2"/>
                </a:solidFill>
              </a:rPr>
              <a:t>m</a:t>
            </a:r>
            <a:r>
              <a:rPr lang="en-US" sz="1500" b="1" dirty="0">
                <a:solidFill>
                  <a:schemeClr val="tx2"/>
                </a:solidFill>
              </a:rPr>
              <a:t> in the dark but Φ</a:t>
            </a:r>
            <a:r>
              <a:rPr lang="en-US" sz="1500" b="1" baseline="-40000" dirty="0">
                <a:solidFill>
                  <a:schemeClr val="tx2"/>
                </a:solidFill>
              </a:rPr>
              <a:t>PSII</a:t>
            </a:r>
            <a:r>
              <a:rPr lang="en-US" sz="1500" b="1" dirty="0">
                <a:solidFill>
                  <a:schemeClr val="tx2"/>
                </a:solidFill>
              </a:rPr>
              <a:t> in the light?</a:t>
            </a:r>
            <a:endParaRPr lang="en-US" sz="1500" dirty="0"/>
          </a:p>
        </p:txBody>
      </p:sp>
      <p:sp>
        <p:nvSpPr>
          <p:cNvPr id="18" name="Text 12"/>
          <p:cNvSpPr txBox="1"/>
          <p:nvPr/>
        </p:nvSpPr>
        <p:spPr>
          <a:xfrm>
            <a:off x="777240" y="4709160"/>
            <a:ext cx="5029200" cy="1234440"/>
          </a:xfrm>
          <a:prstGeom prst="rect">
            <a:avLst/>
          </a:prstGeom>
          <a:noFill/>
          <a:ln/>
        </p:spPr>
        <p:txBody>
          <a:bodyPr wrap="square" lIns="0" tIns="0" rIns="0" bIns="0" rtlCol="0" anchor="t"/>
          <a:lstStyle/>
          <a:p>
            <a:pPr indent="0" marL="0">
              <a:buNone/>
            </a:pPr>
            <a:r>
              <a:rPr lang="en-US" sz="1400" dirty="0">
                <a:solidFill>
                  <a:schemeClr val="tx1"/>
                </a:solidFill>
              </a:rPr>
              <a:t>F</a:t>
            </a:r>
            <a:r>
              <a:rPr lang="en-US" sz="1400" baseline="-40000" dirty="0">
                <a:solidFill>
                  <a:schemeClr val="tx1"/>
                </a:solidFill>
              </a:rPr>
              <a:t>v</a:t>
            </a:r>
            <a:r>
              <a:rPr lang="en-US" sz="1400" dirty="0">
                <a:solidFill>
                  <a:schemeClr val="tx1"/>
                </a:solidFill>
              </a:rPr>
              <a:t>/F</a:t>
            </a:r>
            <a:r>
              <a:rPr lang="en-US" sz="1400" baseline="-40000" dirty="0">
                <a:solidFill>
                  <a:schemeClr val="tx1"/>
                </a:solidFill>
              </a:rPr>
              <a:t>m</a:t>
            </a:r>
            <a:r>
              <a:rPr lang="en-US" sz="1400" dirty="0">
                <a:solidFill>
                  <a:schemeClr val="tx1"/>
                </a:solidFill>
              </a:rPr>
              <a:t> needs all centres open and NPQ = 0 (maximum potential). Φ</a:t>
            </a:r>
            <a:r>
              <a:rPr lang="en-US" sz="1400" baseline="-40000" dirty="0">
                <a:solidFill>
                  <a:schemeClr val="tx1"/>
                </a:solidFill>
              </a:rPr>
              <a:t>PSII</a:t>
            </a:r>
            <a:r>
              <a:rPr lang="en-US" sz="1400" dirty="0">
                <a:solidFill>
                  <a:schemeClr val="tx1"/>
                </a:solidFill>
              </a:rPr>
              <a:t> describes actual efficiency under the current light.</a:t>
            </a:r>
            <a:endParaRPr lang="en-US" sz="1400" dirty="0"/>
          </a:p>
        </p:txBody>
      </p:sp>
      <p:sp>
        <p:nvSpPr>
          <p:cNvPr id="19" name="card"/>
          <p:cNvSpPr/>
          <p:nvPr/>
        </p:nvSpPr>
        <p:spPr>
          <a:xfrm>
            <a:off x="6199632" y="3794760"/>
            <a:ext cx="544068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20" name="icon circle"/>
          <p:cNvSpPr/>
          <p:nvPr/>
        </p:nvSpPr>
        <p:spPr>
          <a:xfrm>
            <a:off x="6382512" y="3977640"/>
            <a:ext cx="457200" cy="457200"/>
          </a:xfrm>
          <a:prstGeom prst="ellipse">
            <a:avLst/>
          </a:prstGeom>
          <a:solidFill>
            <a:schemeClr val="accent2"/>
          </a:solidFill>
          <a:ln/>
        </p:spPr>
      </p:sp>
      <p:pic>
        <p:nvPicPr>
          <p:cNvPr id="21" name="Image 3" descr="Question icon">    </p:cNvPr>
          <p:cNvPicPr>
            <a:picLocks noChangeAspect="1"/>
          </p:cNvPicPr>
          <p:nvPr/>
        </p:nvPicPr>
        <p:blipFill>
          <a:blip r:embed="rId4"/>
          <a:stretch>
            <a:fillRect/>
          </a:stretch>
        </p:blipFill>
        <p:spPr>
          <a:xfrm>
            <a:off x="6501384" y="4096512"/>
            <a:ext cx="219456" cy="219456"/>
          </a:xfrm>
          <a:prstGeom prst="rect">
            <a:avLst/>
          </a:prstGeom>
        </p:spPr>
      </p:pic>
      <p:sp>
        <p:nvSpPr>
          <p:cNvPr id="22" name="Text 15"/>
          <p:cNvSpPr txBox="1"/>
          <p:nvPr/>
        </p:nvSpPr>
        <p:spPr>
          <a:xfrm>
            <a:off x="6976872" y="3904488"/>
            <a:ext cx="4526280" cy="731520"/>
          </a:xfrm>
          <a:prstGeom prst="rect">
            <a:avLst/>
          </a:prstGeom>
          <a:noFill/>
          <a:ln/>
        </p:spPr>
        <p:txBody>
          <a:bodyPr wrap="square" lIns="0" tIns="0" rIns="0" bIns="0" rtlCol="0" anchor="ctr"/>
          <a:lstStyle/>
          <a:p>
            <a:pPr indent="0" marL="0">
              <a:buNone/>
            </a:pPr>
            <a:r>
              <a:rPr lang="en-US" sz="1500" b="1" dirty="0">
                <a:solidFill>
                  <a:schemeClr val="tx2"/>
                </a:solidFill>
              </a:rPr>
              <a:t>Does a drop in F</a:t>
            </a:r>
            <a:r>
              <a:rPr lang="en-US" sz="1500" b="1" baseline="-40000" dirty="0">
                <a:solidFill>
                  <a:schemeClr val="tx2"/>
                </a:solidFill>
              </a:rPr>
              <a:t>v</a:t>
            </a:r>
            <a:r>
              <a:rPr lang="en-US" sz="1500" b="1" dirty="0">
                <a:solidFill>
                  <a:schemeClr val="tx2"/>
                </a:solidFill>
              </a:rPr>
              <a:t>/F</a:t>
            </a:r>
            <a:r>
              <a:rPr lang="en-US" sz="1500" b="1" baseline="-40000" dirty="0">
                <a:solidFill>
                  <a:schemeClr val="tx2"/>
                </a:solidFill>
              </a:rPr>
              <a:t>m</a:t>
            </a:r>
            <a:r>
              <a:rPr lang="en-US" sz="1500" b="1" dirty="0">
                <a:solidFill>
                  <a:schemeClr val="tx2"/>
                </a:solidFill>
              </a:rPr>
              <a:t> mean lower photosynthesis?</a:t>
            </a:r>
            <a:endParaRPr lang="en-US" sz="1500" dirty="0"/>
          </a:p>
        </p:txBody>
      </p:sp>
      <p:sp>
        <p:nvSpPr>
          <p:cNvPr id="23" name="Text 16"/>
          <p:cNvSpPr txBox="1"/>
          <p:nvPr/>
        </p:nvSpPr>
        <p:spPr>
          <a:xfrm>
            <a:off x="6428232" y="4709160"/>
            <a:ext cx="5029200" cy="1234440"/>
          </a:xfrm>
          <a:prstGeom prst="rect">
            <a:avLst/>
          </a:prstGeom>
          <a:noFill/>
          <a:ln/>
        </p:spPr>
        <p:txBody>
          <a:bodyPr wrap="square" lIns="0" tIns="0" rIns="0" bIns="0" rtlCol="0" anchor="t"/>
          <a:lstStyle/>
          <a:p>
            <a:pPr indent="0" marL="0">
              <a:buNone/>
            </a:pPr>
            <a:r>
              <a:rPr lang="en-US" sz="1400" dirty="0">
                <a:solidFill>
                  <a:schemeClr val="tx1"/>
                </a:solidFill>
              </a:rPr>
              <a:t>Not necessarily: it reflects light-limited yield; light-saturated photosynthesis may be unchanged, and stress elsewhere may not show.</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Clearing common doubts (2/2): SIF</a:t>
            </a:r>
            <a:endParaRPr lang="en-US" sz="3200" dirty="0"/>
          </a:p>
        </p:txBody>
      </p:sp>
      <p:sp>
        <p:nvSpPr>
          <p:cNvPr id="4" name="card"/>
          <p:cNvSpPr/>
          <p:nvPr/>
        </p:nvSpPr>
        <p:spPr>
          <a:xfrm>
            <a:off x="548640" y="1371600"/>
            <a:ext cx="544068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554480"/>
            <a:ext cx="457200" cy="457200"/>
          </a:xfrm>
          <a:prstGeom prst="ellipse">
            <a:avLst/>
          </a:prstGeom>
          <a:solidFill>
            <a:schemeClr val="accent1"/>
          </a:solidFill>
          <a:ln/>
        </p:spPr>
      </p:sp>
      <p:pic>
        <p:nvPicPr>
          <p:cNvPr id="6" name="Image 0" descr="Question icon">    </p:cNvPr>
          <p:cNvPicPr>
            <a:picLocks noChangeAspect="1"/>
          </p:cNvPicPr>
          <p:nvPr/>
        </p:nvPicPr>
        <p:blipFill>
          <a:blip r:embed="rId1"/>
          <a:stretch>
            <a:fillRect/>
          </a:stretch>
        </p:blipFill>
        <p:spPr>
          <a:xfrm>
            <a:off x="850392" y="1673352"/>
            <a:ext cx="219456" cy="219456"/>
          </a:xfrm>
          <a:prstGeom prst="rect">
            <a:avLst/>
          </a:prstGeom>
        </p:spPr>
      </p:pic>
      <p:sp>
        <p:nvSpPr>
          <p:cNvPr id="7" name="Text 3"/>
          <p:cNvSpPr txBox="1"/>
          <p:nvPr/>
        </p:nvSpPr>
        <p:spPr>
          <a:xfrm>
            <a:off x="1325880" y="1481328"/>
            <a:ext cx="4526280" cy="731520"/>
          </a:xfrm>
          <a:prstGeom prst="rect">
            <a:avLst/>
          </a:prstGeom>
          <a:noFill/>
          <a:ln/>
        </p:spPr>
        <p:txBody>
          <a:bodyPr wrap="square" lIns="0" tIns="0" rIns="0" bIns="0" rtlCol="0" anchor="ctr"/>
          <a:lstStyle/>
          <a:p>
            <a:pPr indent="0" marL="0">
              <a:buNone/>
            </a:pPr>
            <a:r>
              <a:rPr lang="en-US" sz="1500" b="1" dirty="0">
                <a:solidFill>
                  <a:schemeClr val="tx2"/>
                </a:solidFill>
              </a:rPr>
              <a:t>If fluorescence competes with photosynthesis, why does SIF correlate positively with GPP?</a:t>
            </a:r>
            <a:endParaRPr lang="en-US" sz="1500" dirty="0"/>
          </a:p>
        </p:txBody>
      </p:sp>
      <p:sp>
        <p:nvSpPr>
          <p:cNvPr id="8" name="Text 4"/>
          <p:cNvSpPr txBox="1"/>
          <p:nvPr/>
        </p:nvSpPr>
        <p:spPr>
          <a:xfrm>
            <a:off x="777240" y="2286000"/>
            <a:ext cx="5029200" cy="1234440"/>
          </a:xfrm>
          <a:prstGeom prst="rect">
            <a:avLst/>
          </a:prstGeom>
          <a:noFill/>
          <a:ln/>
        </p:spPr>
        <p:txBody>
          <a:bodyPr wrap="square" lIns="0" tIns="0" rIns="0" bIns="0" rtlCol="0" anchor="t"/>
          <a:lstStyle/>
          <a:p>
            <a:pPr indent="0" marL="0">
              <a:buNone/>
            </a:pPr>
            <a:r>
              <a:rPr lang="en-US" sz="1400" dirty="0">
                <a:solidFill>
                  <a:schemeClr val="tx1"/>
                </a:solidFill>
              </a:rPr>
              <a:t>Both scale with absorbed light (APAR). Across space and seasons, APAR variation dominates; yield changes are smaller and partly co-vary.</a:t>
            </a:r>
            <a:endParaRPr lang="en-US" sz="1400" dirty="0"/>
          </a:p>
        </p:txBody>
      </p:sp>
      <p:sp>
        <p:nvSpPr>
          <p:cNvPr id="9" name="card"/>
          <p:cNvSpPr/>
          <p:nvPr/>
        </p:nvSpPr>
        <p:spPr>
          <a:xfrm>
            <a:off x="6199632" y="1371600"/>
            <a:ext cx="544068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6382512" y="1554480"/>
            <a:ext cx="457200" cy="457200"/>
          </a:xfrm>
          <a:prstGeom prst="ellipse">
            <a:avLst/>
          </a:prstGeom>
          <a:solidFill>
            <a:schemeClr val="accent2"/>
          </a:solidFill>
          <a:ln/>
        </p:spPr>
      </p:sp>
      <p:pic>
        <p:nvPicPr>
          <p:cNvPr id="11" name="Image 1" descr="Question icon">    </p:cNvPr>
          <p:cNvPicPr>
            <a:picLocks noChangeAspect="1"/>
          </p:cNvPicPr>
          <p:nvPr/>
        </p:nvPicPr>
        <p:blipFill>
          <a:blip r:embed="rId2"/>
          <a:stretch>
            <a:fillRect/>
          </a:stretch>
        </p:blipFill>
        <p:spPr>
          <a:xfrm>
            <a:off x="6501384" y="1673352"/>
            <a:ext cx="219456" cy="219456"/>
          </a:xfrm>
          <a:prstGeom prst="rect">
            <a:avLst/>
          </a:prstGeom>
        </p:spPr>
      </p:pic>
      <p:sp>
        <p:nvSpPr>
          <p:cNvPr id="12" name="Text 7"/>
          <p:cNvSpPr txBox="1"/>
          <p:nvPr/>
        </p:nvSpPr>
        <p:spPr>
          <a:xfrm>
            <a:off x="6976872" y="1481328"/>
            <a:ext cx="4526280" cy="731520"/>
          </a:xfrm>
          <a:prstGeom prst="rect">
            <a:avLst/>
          </a:prstGeom>
          <a:noFill/>
          <a:ln/>
        </p:spPr>
        <p:txBody>
          <a:bodyPr wrap="square" lIns="0" tIns="0" rIns="0" bIns="0" rtlCol="0" anchor="ctr"/>
          <a:lstStyle/>
          <a:p>
            <a:pPr indent="0" marL="0">
              <a:buNone/>
            </a:pPr>
            <a:r>
              <a:rPr lang="en-US" sz="1500" b="1" dirty="0">
                <a:solidFill>
                  <a:schemeClr val="tx2"/>
                </a:solidFill>
              </a:rPr>
              <a:t>Why is red SIF lower than far-red SIF?</a:t>
            </a:r>
            <a:endParaRPr lang="en-US" sz="1500" dirty="0"/>
          </a:p>
        </p:txBody>
      </p:sp>
      <p:sp>
        <p:nvSpPr>
          <p:cNvPr id="13" name="Text 8"/>
          <p:cNvSpPr txBox="1"/>
          <p:nvPr/>
        </p:nvSpPr>
        <p:spPr>
          <a:xfrm>
            <a:off x="6428232" y="2286000"/>
            <a:ext cx="5029200" cy="1234440"/>
          </a:xfrm>
          <a:prstGeom prst="rect">
            <a:avLst/>
          </a:prstGeom>
          <a:noFill/>
          <a:ln/>
        </p:spPr>
        <p:txBody>
          <a:bodyPr wrap="square" lIns="0" tIns="0" rIns="0" bIns="0" rtlCol="0" anchor="t"/>
          <a:lstStyle/>
          <a:p>
            <a:pPr indent="0" marL="0">
              <a:buNone/>
            </a:pPr>
            <a:r>
              <a:rPr lang="en-US" sz="1400" dirty="0">
                <a:solidFill>
                  <a:schemeClr val="tx1"/>
                </a:solidFill>
              </a:rPr>
              <a:t>Chlorophyll re-absorbs red light (absorption up to ~720 nm); far-red mostly escapes. PSI also adds far-red.</a:t>
            </a:r>
            <a:endParaRPr lang="en-US" sz="1400" dirty="0"/>
          </a:p>
        </p:txBody>
      </p:sp>
      <p:sp>
        <p:nvSpPr>
          <p:cNvPr id="14" name="card"/>
          <p:cNvSpPr/>
          <p:nvPr/>
        </p:nvSpPr>
        <p:spPr>
          <a:xfrm>
            <a:off x="548640" y="3794760"/>
            <a:ext cx="544068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5" name="icon circle"/>
          <p:cNvSpPr/>
          <p:nvPr/>
        </p:nvSpPr>
        <p:spPr>
          <a:xfrm>
            <a:off x="731520" y="3977640"/>
            <a:ext cx="457200" cy="457200"/>
          </a:xfrm>
          <a:prstGeom prst="ellipse">
            <a:avLst/>
          </a:prstGeom>
          <a:solidFill>
            <a:schemeClr val="accent1"/>
          </a:solidFill>
          <a:ln/>
        </p:spPr>
      </p:sp>
      <p:pic>
        <p:nvPicPr>
          <p:cNvPr id="16" name="Image 2" descr="Question icon">    </p:cNvPr>
          <p:cNvPicPr>
            <a:picLocks noChangeAspect="1"/>
          </p:cNvPicPr>
          <p:nvPr/>
        </p:nvPicPr>
        <p:blipFill>
          <a:blip r:embed="rId3"/>
          <a:stretch>
            <a:fillRect/>
          </a:stretch>
        </p:blipFill>
        <p:spPr>
          <a:xfrm>
            <a:off x="850392" y="4096512"/>
            <a:ext cx="219456" cy="219456"/>
          </a:xfrm>
          <a:prstGeom prst="rect">
            <a:avLst/>
          </a:prstGeom>
        </p:spPr>
      </p:pic>
      <p:sp>
        <p:nvSpPr>
          <p:cNvPr id="17" name="Text 11"/>
          <p:cNvSpPr txBox="1"/>
          <p:nvPr/>
        </p:nvSpPr>
        <p:spPr>
          <a:xfrm>
            <a:off x="1325880" y="3904488"/>
            <a:ext cx="4526280" cy="731520"/>
          </a:xfrm>
          <a:prstGeom prst="rect">
            <a:avLst/>
          </a:prstGeom>
          <a:noFill/>
          <a:ln/>
        </p:spPr>
        <p:txBody>
          <a:bodyPr wrap="square" lIns="0" tIns="0" rIns="0" bIns="0" rtlCol="0" anchor="ctr"/>
          <a:lstStyle/>
          <a:p>
            <a:pPr indent="0" marL="0">
              <a:buNone/>
            </a:pPr>
            <a:r>
              <a:rPr lang="en-US" sz="1500" b="1" dirty="0">
                <a:solidFill>
                  <a:schemeClr val="tx2"/>
                </a:solidFill>
              </a:rPr>
              <a:t>Why use absorption bands at all?</a:t>
            </a:r>
            <a:endParaRPr lang="en-US" sz="1500" dirty="0"/>
          </a:p>
        </p:txBody>
      </p:sp>
      <p:sp>
        <p:nvSpPr>
          <p:cNvPr id="18" name="Text 12"/>
          <p:cNvSpPr txBox="1"/>
          <p:nvPr/>
        </p:nvSpPr>
        <p:spPr>
          <a:xfrm>
            <a:off x="777240" y="4709160"/>
            <a:ext cx="5029200" cy="1234440"/>
          </a:xfrm>
          <a:prstGeom prst="rect">
            <a:avLst/>
          </a:prstGeom>
          <a:noFill/>
          <a:ln/>
        </p:spPr>
        <p:txBody>
          <a:bodyPr wrap="square" lIns="0" tIns="0" rIns="0" bIns="0" rtlCol="0" anchor="t"/>
          <a:lstStyle/>
          <a:p>
            <a:pPr indent="0" marL="0">
              <a:buNone/>
            </a:pPr>
            <a:r>
              <a:rPr lang="en-US" sz="1400" dirty="0">
                <a:solidFill>
                  <a:schemeClr val="tx1"/>
                </a:solidFill>
              </a:rPr>
              <a:t>Outside the bands SIF is ~1–5 % of reflected radiance; inside O₂ bands sunlight is dim and in-filling by SIF can exceed 10 %.</a:t>
            </a:r>
            <a:endParaRPr lang="en-US" sz="1400" dirty="0"/>
          </a:p>
        </p:txBody>
      </p:sp>
      <p:sp>
        <p:nvSpPr>
          <p:cNvPr id="19" name="card"/>
          <p:cNvSpPr/>
          <p:nvPr/>
        </p:nvSpPr>
        <p:spPr>
          <a:xfrm>
            <a:off x="6199632" y="3794760"/>
            <a:ext cx="544068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20" name="icon circle"/>
          <p:cNvSpPr/>
          <p:nvPr/>
        </p:nvSpPr>
        <p:spPr>
          <a:xfrm>
            <a:off x="6382512" y="3977640"/>
            <a:ext cx="457200" cy="457200"/>
          </a:xfrm>
          <a:prstGeom prst="ellipse">
            <a:avLst/>
          </a:prstGeom>
          <a:solidFill>
            <a:schemeClr val="accent2"/>
          </a:solidFill>
          <a:ln/>
        </p:spPr>
      </p:sp>
      <p:pic>
        <p:nvPicPr>
          <p:cNvPr id="21" name="Image 3" descr="Question icon">    </p:cNvPr>
          <p:cNvPicPr>
            <a:picLocks noChangeAspect="1"/>
          </p:cNvPicPr>
          <p:nvPr/>
        </p:nvPicPr>
        <p:blipFill>
          <a:blip r:embed="rId4"/>
          <a:stretch>
            <a:fillRect/>
          </a:stretch>
        </p:blipFill>
        <p:spPr>
          <a:xfrm>
            <a:off x="6501384" y="4096512"/>
            <a:ext cx="219456" cy="219456"/>
          </a:xfrm>
          <a:prstGeom prst="rect">
            <a:avLst/>
          </a:prstGeom>
        </p:spPr>
      </p:pic>
      <p:sp>
        <p:nvSpPr>
          <p:cNvPr id="22" name="Text 15"/>
          <p:cNvSpPr txBox="1"/>
          <p:nvPr/>
        </p:nvSpPr>
        <p:spPr>
          <a:xfrm>
            <a:off x="6976872" y="3904488"/>
            <a:ext cx="4526280" cy="731520"/>
          </a:xfrm>
          <a:prstGeom prst="rect">
            <a:avLst/>
          </a:prstGeom>
          <a:noFill/>
          <a:ln/>
        </p:spPr>
        <p:txBody>
          <a:bodyPr wrap="square" lIns="0" tIns="0" rIns="0" bIns="0" rtlCol="0" anchor="ctr"/>
          <a:lstStyle/>
          <a:p>
            <a:pPr indent="0" marL="0">
              <a:buNone/>
            </a:pPr>
            <a:r>
              <a:rPr lang="en-US" sz="1500" b="1" dirty="0">
                <a:solidFill>
                  <a:schemeClr val="tx2"/>
                </a:solidFill>
              </a:rPr>
              <a:t>Why can't satellites measure NPQ like PAM?</a:t>
            </a:r>
            <a:endParaRPr lang="en-US" sz="1500" dirty="0"/>
          </a:p>
        </p:txBody>
      </p:sp>
      <p:sp>
        <p:nvSpPr>
          <p:cNvPr id="23" name="Text 16"/>
          <p:cNvSpPr txBox="1"/>
          <p:nvPr/>
        </p:nvSpPr>
        <p:spPr>
          <a:xfrm>
            <a:off x="6428232" y="4709160"/>
            <a:ext cx="5029200" cy="1234440"/>
          </a:xfrm>
          <a:prstGeom prst="rect">
            <a:avLst/>
          </a:prstGeom>
          <a:noFill/>
          <a:ln/>
        </p:spPr>
        <p:txBody>
          <a:bodyPr wrap="square" lIns="0" tIns="0" rIns="0" bIns="0" rtlCol="0" anchor="t"/>
          <a:lstStyle/>
          <a:p>
            <a:pPr indent="0" marL="0">
              <a:buNone/>
            </a:pPr>
            <a:r>
              <a:rPr lang="en-US" sz="1400" dirty="0">
                <a:solidFill>
                  <a:schemeClr val="tx1"/>
                </a:solidFill>
              </a:rPr>
              <a:t>No saturating pulse can be applied from space. NPQ is approached indirectly, e.g. with PRI or temperature.</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Key references</a:t>
            </a:r>
            <a:endParaRPr lang="en-US" sz="3200" dirty="0"/>
          </a:p>
        </p:txBody>
      </p:sp>
      <p:sp>
        <p:nvSpPr>
          <p:cNvPr id="4" name="Text 1"/>
          <p:cNvSpPr txBox="1"/>
          <p:nvPr/>
        </p:nvSpPr>
        <p:spPr>
          <a:xfrm>
            <a:off x="548640" y="1325880"/>
            <a:ext cx="11091672" cy="4937760"/>
          </a:xfrm>
          <a:prstGeom prst="rect">
            <a:avLst/>
          </a:prstGeom>
          <a:noFill/>
          <a:ln/>
        </p:spPr>
        <p:txBody>
          <a:bodyPr wrap="square" lIns="508" tIns="508" rIns="508" bIns="508" rtlCol="0" anchor="t"/>
          <a:lstStyle/>
          <a:p>
            <a:pPr indent="0" marL="0">
              <a:spcAft>
                <a:spcPts val="1000"/>
              </a:spcAft>
              <a:buNone/>
            </a:pPr>
            <a:r>
              <a:rPr lang="en-US" sz="1300" b="1" dirty="0">
                <a:solidFill>
                  <a:schemeClr val="tx1"/>
                </a:solidFill>
              </a:rPr>
              <a:t>Murchie E.H., Lawson T. (2013).</a:t>
            </a:r>
            <a:r>
              <a:rPr lang="en-US" sz="1300" dirty="0">
                <a:solidFill>
                  <a:schemeClr val="tx1"/>
                </a:solidFill>
              </a:rPr>
              <a:t> Chlorophyll fluorescence analysis: a guide to good practice and understanding some new applications. </a:t>
            </a:r>
            <a:r>
              <a:rPr lang="en-US" sz="1300" i="1" dirty="0">
                <a:solidFill>
                  <a:schemeClr val="tx1"/>
                </a:solidFill>
              </a:rPr>
              <a:t>J. Exp. Bot.</a:t>
            </a:r>
            <a:r>
              <a:rPr lang="en-US" sz="1300" dirty="0">
                <a:solidFill>
                  <a:schemeClr val="tx1"/>
                </a:solidFill>
              </a:rPr>
              <a:t> 64(13): 3983–3998. doi:10.1093/jxb/ert208</a:t>
            </a:r>
            <a:endParaRPr lang="en-US" sz="1300" dirty="0"/>
          </a:p>
          <a:p>
            <a:pPr indent="0" marL="0">
              <a:spcAft>
                <a:spcPts val="1000"/>
              </a:spcAft>
              <a:buNone/>
            </a:pPr>
            <a:r>
              <a:rPr lang="en-US" sz="1300" b="1" dirty="0">
                <a:solidFill>
                  <a:schemeClr val="tx1"/>
                </a:solidFill>
              </a:rPr>
              <a:t>Mohammed G.H. et al. (2019).</a:t>
            </a:r>
            <a:r>
              <a:rPr lang="en-US" sz="1300" dirty="0">
                <a:solidFill>
                  <a:schemeClr val="tx1"/>
                </a:solidFill>
              </a:rPr>
              <a:t> Remote sensing of solar-induced chlorophyll fluorescence (SIF) in vegetation: 50 years of progress. </a:t>
            </a:r>
            <a:r>
              <a:rPr lang="en-US" sz="1300" i="1" dirty="0">
                <a:solidFill>
                  <a:schemeClr val="tx1"/>
                </a:solidFill>
              </a:rPr>
              <a:t>Remote Sens. Environ.</a:t>
            </a:r>
            <a:r>
              <a:rPr lang="en-US" sz="1300" dirty="0">
                <a:solidFill>
                  <a:schemeClr val="tx1"/>
                </a:solidFill>
              </a:rPr>
              <a:t> 231: 111177. doi:10.1016/j.rse.2019.04.030</a:t>
            </a:r>
            <a:endParaRPr lang="en-US" sz="1300" dirty="0"/>
          </a:p>
          <a:p>
            <a:pPr indent="0" marL="0">
              <a:spcAft>
                <a:spcPts val="600"/>
              </a:spcAft>
              <a:buNone/>
            </a:pPr>
            <a:r>
              <a:rPr lang="en-US" sz="1300" dirty="0">
                <a:solidFill>
                  <a:schemeClr val="tx1"/>
                </a:solidFill>
              </a:rPr>
              <a:t>Baker N.R. (2008). Chlorophyll fluorescence: a probe of photosynthesis in vivo. </a:t>
            </a:r>
            <a:r>
              <a:rPr lang="en-US" sz="1300" i="1" dirty="0">
                <a:solidFill>
                  <a:schemeClr val="tx1"/>
                </a:solidFill>
              </a:rPr>
              <a:t>Annu. Rev. Plant Biol.</a:t>
            </a:r>
            <a:r>
              <a:rPr lang="en-US" sz="1300" dirty="0">
                <a:solidFill>
                  <a:schemeClr val="tx1"/>
                </a:solidFill>
              </a:rPr>
              <a:t> 59: 89–113.</a:t>
            </a:r>
            <a:endParaRPr lang="en-US" sz="1300" dirty="0"/>
          </a:p>
          <a:p>
            <a:pPr indent="0" marL="0">
              <a:spcAft>
                <a:spcPts val="600"/>
              </a:spcAft>
              <a:buNone/>
            </a:pPr>
            <a:r>
              <a:rPr lang="en-US" sz="1300" dirty="0">
                <a:solidFill>
                  <a:schemeClr val="tx1"/>
                </a:solidFill>
              </a:rPr>
              <a:t>Maxwell K., Johnson G.N. (2000). Chlorophyll fluorescence — a practical guide. </a:t>
            </a:r>
            <a:r>
              <a:rPr lang="en-US" sz="1300" i="1" dirty="0">
                <a:solidFill>
                  <a:schemeClr val="tx1"/>
                </a:solidFill>
              </a:rPr>
              <a:t>J. Exp. Bot.</a:t>
            </a:r>
            <a:r>
              <a:rPr lang="en-US" sz="1300" dirty="0">
                <a:solidFill>
                  <a:schemeClr val="tx1"/>
                </a:solidFill>
              </a:rPr>
              <a:t> 51: 659–668.</a:t>
            </a:r>
            <a:endParaRPr lang="en-US" sz="1300" dirty="0"/>
          </a:p>
          <a:p>
            <a:pPr indent="0" marL="0">
              <a:spcAft>
                <a:spcPts val="600"/>
              </a:spcAft>
              <a:buNone/>
            </a:pPr>
            <a:r>
              <a:rPr lang="en-US" sz="1300" dirty="0">
                <a:solidFill>
                  <a:schemeClr val="tx1"/>
                </a:solidFill>
              </a:rPr>
              <a:t>Genty B., Briantais J.M., Baker N.R. (1989). Quantum yield of photosynthetic electron transport and quenching of chlorophyll fluorescence. </a:t>
            </a:r>
            <a:r>
              <a:rPr lang="en-US" sz="1300" i="1" dirty="0">
                <a:solidFill>
                  <a:schemeClr val="tx1"/>
                </a:solidFill>
              </a:rPr>
              <a:t>BBA</a:t>
            </a:r>
            <a:r>
              <a:rPr lang="en-US" sz="1300" dirty="0">
                <a:solidFill>
                  <a:schemeClr val="tx1"/>
                </a:solidFill>
              </a:rPr>
              <a:t> 990: 87–92.</a:t>
            </a:r>
            <a:endParaRPr lang="en-US" sz="1300" dirty="0"/>
          </a:p>
          <a:p>
            <a:pPr indent="0" marL="0">
              <a:spcAft>
                <a:spcPts val="600"/>
              </a:spcAft>
              <a:buNone/>
            </a:pPr>
            <a:r>
              <a:rPr lang="en-US" sz="1300" dirty="0">
                <a:solidFill>
                  <a:schemeClr val="tx1"/>
                </a:solidFill>
              </a:rPr>
              <a:t>Kramer D.M. et al. (2004). New fluorescence parameters for the determination of Q</a:t>
            </a:r>
            <a:r>
              <a:rPr lang="en-US" sz="1300" baseline="-40000" dirty="0">
                <a:solidFill>
                  <a:schemeClr val="tx1"/>
                </a:solidFill>
              </a:rPr>
              <a:t>A</a:t>
            </a:r>
            <a:r>
              <a:rPr lang="en-US" sz="1300" dirty="0">
                <a:solidFill>
                  <a:schemeClr val="tx1"/>
                </a:solidFill>
              </a:rPr>
              <a:t> redox state. </a:t>
            </a:r>
            <a:r>
              <a:rPr lang="en-US" sz="1300" i="1" dirty="0">
                <a:solidFill>
                  <a:schemeClr val="tx1"/>
                </a:solidFill>
              </a:rPr>
              <a:t>Photosynth. Res.</a:t>
            </a:r>
            <a:r>
              <a:rPr lang="en-US" sz="1300" dirty="0">
                <a:solidFill>
                  <a:schemeClr val="tx1"/>
                </a:solidFill>
              </a:rPr>
              <a:t> 79: 209–218.</a:t>
            </a:r>
            <a:endParaRPr lang="en-US" sz="1300" dirty="0"/>
          </a:p>
          <a:p>
            <a:pPr indent="0" marL="0">
              <a:spcAft>
                <a:spcPts val="600"/>
              </a:spcAft>
              <a:buNone/>
            </a:pPr>
            <a:r>
              <a:rPr lang="en-US" sz="1300" dirty="0">
                <a:solidFill>
                  <a:schemeClr val="tx1"/>
                </a:solidFill>
              </a:rPr>
              <a:t>Oxborough K., Baker N.R. (1997). Resolving chlorophyll a fluorescence images… calculation of qP and Fv′/Fm′ without measuring Fo′. </a:t>
            </a:r>
            <a:r>
              <a:rPr lang="en-US" sz="1300" i="1" dirty="0">
                <a:solidFill>
                  <a:schemeClr val="tx1"/>
                </a:solidFill>
              </a:rPr>
              <a:t>Photosynth. Res.</a:t>
            </a:r>
            <a:r>
              <a:rPr lang="en-US" sz="1300" dirty="0">
                <a:solidFill>
                  <a:schemeClr val="tx1"/>
                </a:solidFill>
              </a:rPr>
              <a:t> 54: 135–142.</a:t>
            </a:r>
            <a:endParaRPr lang="en-US" sz="1300" dirty="0"/>
          </a:p>
          <a:p>
            <a:pPr indent="0" marL="0">
              <a:spcAft>
                <a:spcPts val="600"/>
              </a:spcAft>
              <a:buNone/>
            </a:pPr>
            <a:r>
              <a:rPr lang="en-US" sz="1300" dirty="0">
                <a:solidFill>
                  <a:schemeClr val="tx1"/>
                </a:solidFill>
              </a:rPr>
              <a:t>Strasser R.J. et al. (2004). Analysis of the chlorophyll a fluorescence transient. In: </a:t>
            </a:r>
            <a:r>
              <a:rPr lang="en-US" sz="1300" i="1" dirty="0">
                <a:solidFill>
                  <a:schemeClr val="tx1"/>
                </a:solidFill>
              </a:rPr>
              <a:t>Advances in Photosynthesis and Respiration</a:t>
            </a:r>
            <a:r>
              <a:rPr lang="en-US" sz="1300" dirty="0">
                <a:solidFill>
                  <a:schemeClr val="tx1"/>
                </a:solidFill>
              </a:rPr>
              <a:t> 19: 321–362.</a:t>
            </a:r>
            <a:endParaRPr lang="en-US" sz="1300" dirty="0"/>
          </a:p>
          <a:p>
            <a:pPr indent="0" marL="0">
              <a:spcAft>
                <a:spcPts val="600"/>
              </a:spcAft>
              <a:buNone/>
            </a:pPr>
            <a:r>
              <a:rPr lang="en-US" sz="1300" dirty="0">
                <a:solidFill>
                  <a:schemeClr val="tx1"/>
                </a:solidFill>
              </a:rPr>
              <a:t>Meroni M. et al. (2009). Remote sensing of solar-induced chlorophyll fluorescence: review of methods and applications. </a:t>
            </a:r>
            <a:r>
              <a:rPr lang="en-US" sz="1300" i="1" dirty="0">
                <a:solidFill>
                  <a:schemeClr val="tx1"/>
                </a:solidFill>
              </a:rPr>
              <a:t>Remote Sens. Environ.</a:t>
            </a:r>
            <a:r>
              <a:rPr lang="en-US" sz="1300" dirty="0">
                <a:solidFill>
                  <a:schemeClr val="tx1"/>
                </a:solidFill>
              </a:rPr>
              <a:t> 113: 2037–2051.</a:t>
            </a:r>
            <a:endParaRPr lang="en-US" sz="1300" dirty="0"/>
          </a:p>
          <a:p>
            <a:pPr indent="0" marL="0">
              <a:spcAft>
                <a:spcPts val="600"/>
              </a:spcAft>
              <a:buNone/>
            </a:pPr>
            <a:r>
              <a:rPr lang="en-US" sz="1300" dirty="0">
                <a:solidFill>
                  <a:schemeClr val="tx1"/>
                </a:solidFill>
              </a:rPr>
              <a:t>Drusch M. et al. (2017). The FLuorescence EXplorer mission concept — ESA's Earth Explorer 8. </a:t>
            </a:r>
            <a:r>
              <a:rPr lang="en-US" sz="1300" i="1" dirty="0">
                <a:solidFill>
                  <a:schemeClr val="tx1"/>
                </a:solidFill>
              </a:rPr>
              <a:t>IEEE TGRS</a:t>
            </a:r>
            <a:r>
              <a:rPr lang="en-US" sz="1300" dirty="0">
                <a:solidFill>
                  <a:schemeClr val="tx1"/>
                </a:solidFill>
              </a:rPr>
              <a:t> 55: 1273–1284.</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71</a:t>
            </a:fld>
            <a:endParaRPr lang="en-US"/>
          </a:p>
        </p:txBody>
      </p:sp>
    </p:spTree>
  </p:cSld>
  <p:clrMapOvr>
    <a:masterClrMapping/>
  </p:clrMapOvr>
</p:sld>
</file>

<file path=ppt/theme/theme1.xml><?xml version="1.0" encoding="utf-8"?>
<a:theme xmlns:a="http://schemas.openxmlformats.org/drawingml/2006/main" name="Chlorophyll Glow">
  <a:themeElements>
    <a:clrScheme name="Chlorophyll Glow">
      <a:dk1>
        <a:srgbClr val="1C2B24"/>
      </a:dk1>
      <a:lt1>
        <a:srgbClr val="FFFFFF"/>
      </a:lt1>
      <a:dk2>
        <a:srgbClr val="123D2E"/>
      </a:dk2>
      <a:lt2>
        <a:srgbClr val="EDF4EE"/>
      </a:lt2>
      <a:accent1>
        <a:srgbClr val="2E8B57"/>
      </a:accent1>
      <a:accent2>
        <a:srgbClr val="D62839"/>
      </a:accent2>
      <a:accent3>
        <a:srgbClr val="F2A900"/>
      </a:accent3>
      <a:accent4>
        <a:srgbClr val="7B2D43"/>
      </a:accent4>
      <a:accent5>
        <a:srgbClr val="2B6A94"/>
      </a:accent5>
      <a:accent6>
        <a:srgbClr val="5E7268"/>
      </a:accent6>
      <a:hlink>
        <a:srgbClr val="2B6A94"/>
      </a:hlink>
      <a:folHlink>
        <a:srgbClr val="7B2D43"/>
      </a:folHlink>
    </a:clrScheme>
    <a:fontScheme name="Chlorophyll Glo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Chlorophyll Fluorescence and Sun-Induced Fluorescence</dc:title>
  <dc:subject>Chlorophyll fluorescence analysis and remote sensing of SIF</dc:subject>
  <dc:creator>Animesh</dc:creator>
  <cp:lastModifiedBy>Animesh</cp:lastModifiedBy>
  <cp:revision>1</cp:revision>
  <dcterms:created xsi:type="dcterms:W3CDTF">2026-10-29T04:18:49Z</dcterms:created>
  <dcterms:modified xsi:type="dcterms:W3CDTF">2026-10-29T04:18:49Z</dcterms:modified>
</cp:coreProperties>
</file>